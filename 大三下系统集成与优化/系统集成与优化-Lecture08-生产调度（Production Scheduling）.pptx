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x-wav"/>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7" r:id="rId1"/>
    <p:sldMasterId id="2147484307" r:id="rId2"/>
  </p:sldMasterIdLst>
  <p:notesMasterIdLst>
    <p:notesMasterId r:id="rId142"/>
  </p:notesMasterIdLst>
  <p:handoutMasterIdLst>
    <p:handoutMasterId r:id="rId143"/>
  </p:handoutMasterIdLst>
  <p:sldIdLst>
    <p:sldId id="512" r:id="rId3"/>
    <p:sldId id="350" r:id="rId4"/>
    <p:sldId id="511" r:id="rId5"/>
    <p:sldId id="351" r:id="rId6"/>
    <p:sldId id="352" r:id="rId7"/>
    <p:sldId id="353" r:id="rId8"/>
    <p:sldId id="508" r:id="rId9"/>
    <p:sldId id="507" r:id="rId10"/>
    <p:sldId id="355" r:id="rId11"/>
    <p:sldId id="356" r:id="rId12"/>
    <p:sldId id="357" r:id="rId13"/>
    <p:sldId id="358" r:id="rId14"/>
    <p:sldId id="359" r:id="rId15"/>
    <p:sldId id="360" r:id="rId16"/>
    <p:sldId id="361" r:id="rId17"/>
    <p:sldId id="362" r:id="rId18"/>
    <p:sldId id="363" r:id="rId19"/>
    <p:sldId id="364" r:id="rId20"/>
    <p:sldId id="365" r:id="rId21"/>
    <p:sldId id="366" r:id="rId22"/>
    <p:sldId id="367" r:id="rId23"/>
    <p:sldId id="368" r:id="rId24"/>
    <p:sldId id="369" r:id="rId25"/>
    <p:sldId id="370" r:id="rId26"/>
    <p:sldId id="371" r:id="rId27"/>
    <p:sldId id="374" r:id="rId28"/>
    <p:sldId id="375" r:id="rId29"/>
    <p:sldId id="376" r:id="rId30"/>
    <p:sldId id="500" r:id="rId31"/>
    <p:sldId id="383" r:id="rId32"/>
    <p:sldId id="384" r:id="rId33"/>
    <p:sldId id="385" r:id="rId34"/>
    <p:sldId id="386" r:id="rId35"/>
    <p:sldId id="387" r:id="rId36"/>
    <p:sldId id="388" r:id="rId37"/>
    <p:sldId id="389" r:id="rId38"/>
    <p:sldId id="390" r:id="rId39"/>
    <p:sldId id="509" r:id="rId40"/>
    <p:sldId id="398" r:id="rId41"/>
    <p:sldId id="399" r:id="rId42"/>
    <p:sldId id="400" r:id="rId43"/>
    <p:sldId id="401" r:id="rId44"/>
    <p:sldId id="402" r:id="rId45"/>
    <p:sldId id="403" r:id="rId46"/>
    <p:sldId id="404" r:id="rId47"/>
    <p:sldId id="405" r:id="rId48"/>
    <p:sldId id="406" r:id="rId49"/>
    <p:sldId id="407" r:id="rId50"/>
    <p:sldId id="408" r:id="rId51"/>
    <p:sldId id="409" r:id="rId52"/>
    <p:sldId id="410" r:id="rId53"/>
    <p:sldId id="411" r:id="rId54"/>
    <p:sldId id="412" r:id="rId55"/>
    <p:sldId id="413" r:id="rId56"/>
    <p:sldId id="414" r:id="rId57"/>
    <p:sldId id="415" r:id="rId58"/>
    <p:sldId id="416" r:id="rId59"/>
    <p:sldId id="417" r:id="rId60"/>
    <p:sldId id="418" r:id="rId61"/>
    <p:sldId id="419" r:id="rId62"/>
    <p:sldId id="420" r:id="rId63"/>
    <p:sldId id="421" r:id="rId64"/>
    <p:sldId id="422" r:id="rId65"/>
    <p:sldId id="423" r:id="rId66"/>
    <p:sldId id="424" r:id="rId67"/>
    <p:sldId id="425" r:id="rId68"/>
    <p:sldId id="426" r:id="rId69"/>
    <p:sldId id="427" r:id="rId70"/>
    <p:sldId id="428" r:id="rId71"/>
    <p:sldId id="429" r:id="rId72"/>
    <p:sldId id="430" r:id="rId73"/>
    <p:sldId id="431" r:id="rId74"/>
    <p:sldId id="432" r:id="rId75"/>
    <p:sldId id="433" r:id="rId76"/>
    <p:sldId id="434" r:id="rId77"/>
    <p:sldId id="501" r:id="rId78"/>
    <p:sldId id="502" r:id="rId79"/>
    <p:sldId id="503" r:id="rId80"/>
    <p:sldId id="438" r:id="rId81"/>
    <p:sldId id="439" r:id="rId82"/>
    <p:sldId id="440" r:id="rId83"/>
    <p:sldId id="441" r:id="rId84"/>
    <p:sldId id="442" r:id="rId85"/>
    <p:sldId id="443" r:id="rId86"/>
    <p:sldId id="444" r:id="rId87"/>
    <p:sldId id="445" r:id="rId88"/>
    <p:sldId id="446" r:id="rId89"/>
    <p:sldId id="447" r:id="rId90"/>
    <p:sldId id="448" r:id="rId91"/>
    <p:sldId id="449" r:id="rId92"/>
    <p:sldId id="450" r:id="rId93"/>
    <p:sldId id="451" r:id="rId94"/>
    <p:sldId id="452" r:id="rId95"/>
    <p:sldId id="453" r:id="rId96"/>
    <p:sldId id="454" r:id="rId97"/>
    <p:sldId id="455" r:id="rId98"/>
    <p:sldId id="456" r:id="rId99"/>
    <p:sldId id="457" r:id="rId100"/>
    <p:sldId id="458" r:id="rId101"/>
    <p:sldId id="459" r:id="rId102"/>
    <p:sldId id="460" r:id="rId103"/>
    <p:sldId id="461" r:id="rId104"/>
    <p:sldId id="462" r:id="rId105"/>
    <p:sldId id="463" r:id="rId106"/>
    <p:sldId id="464" r:id="rId107"/>
    <p:sldId id="465" r:id="rId108"/>
    <p:sldId id="466" r:id="rId109"/>
    <p:sldId id="467" r:id="rId110"/>
    <p:sldId id="468" r:id="rId111"/>
    <p:sldId id="469" r:id="rId112"/>
    <p:sldId id="470" r:id="rId113"/>
    <p:sldId id="471" r:id="rId114"/>
    <p:sldId id="472" r:id="rId115"/>
    <p:sldId id="473" r:id="rId116"/>
    <p:sldId id="474" r:id="rId117"/>
    <p:sldId id="476" r:id="rId118"/>
    <p:sldId id="477" r:id="rId119"/>
    <p:sldId id="478" r:id="rId120"/>
    <p:sldId id="479" r:id="rId121"/>
    <p:sldId id="480" r:id="rId122"/>
    <p:sldId id="481" r:id="rId123"/>
    <p:sldId id="482" r:id="rId124"/>
    <p:sldId id="483" r:id="rId125"/>
    <p:sldId id="484" r:id="rId126"/>
    <p:sldId id="485" r:id="rId127"/>
    <p:sldId id="486" r:id="rId128"/>
    <p:sldId id="487" r:id="rId129"/>
    <p:sldId id="488" r:id="rId130"/>
    <p:sldId id="489" r:id="rId131"/>
    <p:sldId id="490" r:id="rId132"/>
    <p:sldId id="491" r:id="rId133"/>
    <p:sldId id="492" r:id="rId134"/>
    <p:sldId id="493" r:id="rId135"/>
    <p:sldId id="494" r:id="rId136"/>
    <p:sldId id="495" r:id="rId137"/>
    <p:sldId id="496" r:id="rId138"/>
    <p:sldId id="497" r:id="rId139"/>
    <p:sldId id="498" r:id="rId140"/>
    <p:sldId id="510" r:id="rId14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FF0000"/>
    <a:srgbClr val="F14C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942" y="3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6.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4" Type="http://schemas.openxmlformats.org/officeDocument/2006/relationships/image" Target="../media/image81.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85.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98.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0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kumimoji="1" sz="1200">
                <a:latin typeface="Arial" charset="0"/>
                <a:ea typeface="宋体" charset="0"/>
                <a:cs typeface="宋体" charset="0"/>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kumimoji="1" sz="1200">
                <a:latin typeface="Arial" pitchFamily="34" charset="0"/>
              </a:defRPr>
            </a:lvl1pPr>
          </a:lstStyle>
          <a:p>
            <a:pPr>
              <a:defRPr/>
            </a:pPr>
            <a:fld id="{56193AA3-90C5-451D-B006-B3AD78E0B351}" type="datetimeFigureOut">
              <a:rPr lang="zh-CN" altLang="en-US"/>
              <a:pPr>
                <a:defRPr/>
              </a:pPr>
              <a:t>2025/5/5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kumimoji="1" sz="1200">
                <a:latin typeface="Arial" charset="0"/>
                <a:ea typeface="宋体" charset="0"/>
                <a:cs typeface="宋体" charset="0"/>
              </a:defRPr>
            </a:lvl1pPr>
          </a:lstStyle>
          <a:p>
            <a:pPr>
              <a:defRPr/>
            </a:pPr>
            <a:endParaRPr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kumimoji="1" sz="1200"/>
            </a:lvl1pPr>
          </a:lstStyle>
          <a:p>
            <a:pPr>
              <a:defRPr/>
            </a:pPr>
            <a:fld id="{4560D671-0FBC-4EE0-9D07-3DCCC60DA9D5}"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宋体" pitchFamily="2" charset="-122"/>
                <a:cs typeface="+mn-cs"/>
              </a:defRPr>
            </a:lvl1pPr>
          </a:lstStyle>
          <a:p>
            <a:pPr>
              <a:defRPr/>
            </a:pPr>
            <a:endParaRPr lang="en-US" altLang="zh-CN"/>
          </a:p>
        </p:txBody>
      </p:sp>
      <p:sp>
        <p:nvSpPr>
          <p:cNvPr id="7782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宋体" pitchFamily="2" charset="-122"/>
                <a:cs typeface="+mn-cs"/>
              </a:defRPr>
            </a:lvl1pPr>
          </a:lstStyle>
          <a:p>
            <a:pPr>
              <a:defRPr/>
            </a:pPr>
            <a:endParaRPr lang="en-US" altLang="zh-CN"/>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783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itchFamily="2" charset="-122"/>
                <a:cs typeface="+mn-cs"/>
              </a:defRPr>
            </a:lvl1pPr>
          </a:lstStyle>
          <a:p>
            <a:pPr>
              <a:defRPr/>
            </a:pPr>
            <a:endParaRPr lang="en-US" altLang="zh-CN"/>
          </a:p>
        </p:txBody>
      </p:sp>
      <p:sp>
        <p:nvSpPr>
          <p:cNvPr id="7783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023F7A7-8DDC-434E-A38D-17357F0F1CD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9"/>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6" name="Date Placeholder 3"/>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7" name="Footer Placeholder 4"/>
          <p:cNvSpPr>
            <a:spLocks noGrp="1"/>
          </p:cNvSpPr>
          <p:nvPr>
            <p:ph type="ftr" sz="quarter" idx="11"/>
          </p:nvPr>
        </p:nvSpPr>
        <p:spPr/>
        <p:txBody>
          <a:bodyPr/>
          <a:lstStyle>
            <a:lvl1pPr>
              <a:defRPr/>
            </a:lvl1pPr>
          </a:lstStyle>
          <a:p>
            <a:pPr>
              <a:defRPr/>
            </a:pPr>
            <a:endParaRPr lang="en-US" altLang="zh-CN" dirty="0">
              <a:cs typeface="Arial" pitchFamily="34" charset="0"/>
            </a:endParaRPr>
          </a:p>
        </p:txBody>
      </p:sp>
      <p:sp>
        <p:nvSpPr>
          <p:cNvPr id="8" name="Slide Number Placeholder 5"/>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B224637-3967-402D-80DB-577318828C24}" type="slidenum">
              <a:rPr lang="zh-CN" altLang="en-US"/>
              <a:pPr>
                <a:defRPr/>
              </a:pPr>
              <a:t>‹#›</a:t>
            </a:fld>
            <a:endParaRPr lang="zh-CN" altLang="en-US"/>
          </a:p>
        </p:txBody>
      </p:sp>
    </p:spTree>
    <p:extLst>
      <p:ext uri="{BB962C8B-B14F-4D97-AF65-F5344CB8AC3E}">
        <p14:creationId xmlns:p14="http://schemas.microsoft.com/office/powerpoint/2010/main" val="2502834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4" name="直接连接符 3"/>
          <p:cNvCxnSpPr/>
          <p:nvPr userDrawn="1"/>
        </p:nvCxnSpPr>
        <p:spPr>
          <a:xfrm>
            <a:off x="0" y="685800"/>
            <a:ext cx="556260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Footer Placeholder 4"/>
          <p:cNvSpPr>
            <a:spLocks noGrp="1"/>
          </p:cNvSpPr>
          <p:nvPr>
            <p:ph type="ftr" sz="quarter" idx="10"/>
          </p:nvPr>
        </p:nvSpPr>
        <p:spPr/>
        <p:txBody>
          <a:bodyPr/>
          <a:lstStyle>
            <a:lvl1pPr>
              <a:defRPr/>
            </a:lvl1pPr>
          </a:lstStyle>
          <a:p>
            <a:pPr>
              <a:defRPr/>
            </a:pPr>
            <a:endParaRPr lang="en-US" altLang="zh-CN" dirty="0"/>
          </a:p>
        </p:txBody>
      </p:sp>
    </p:spTree>
    <p:extLst>
      <p:ext uri="{BB962C8B-B14F-4D97-AF65-F5344CB8AC3E}">
        <p14:creationId xmlns:p14="http://schemas.microsoft.com/office/powerpoint/2010/main" val="3900013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6"/>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5" name="Slide Number Placeholder 7"/>
          <p:cNvSpPr>
            <a:spLocks noGrp="1"/>
          </p:cNvSpPr>
          <p:nvPr>
            <p:ph type="sldNum" sz="quarter" idx="11"/>
          </p:nvPr>
        </p:nvSpPr>
        <p:spPr>
          <a:xfrm>
            <a:off x="7696200" y="6492875"/>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DBBCE2F-9C74-4953-A9C8-CB40CE10FE5D}" type="slidenum">
              <a:rPr lang="en-US" altLang="zh-CN"/>
              <a:pPr>
                <a:defRPr/>
              </a:pPr>
              <a:t>‹#›</a:t>
            </a:fld>
            <a:endParaRPr lang="en-US" altLang="zh-CN"/>
          </a:p>
        </p:txBody>
      </p:sp>
      <p:sp>
        <p:nvSpPr>
          <p:cNvPr id="6" name="Footer Placeholder 8"/>
          <p:cNvSpPr>
            <a:spLocks noGrp="1"/>
          </p:cNvSpPr>
          <p:nvPr>
            <p:ph type="ftr" sz="quarter" idx="12"/>
          </p:nvPr>
        </p:nvSpPr>
        <p:spPr/>
        <p:txBody>
          <a:bodyPr/>
          <a:lstStyle>
            <a:lvl1pPr>
              <a:defRPr/>
            </a:lvl1pPr>
          </a:lstStyle>
          <a:p>
            <a:pPr>
              <a:defRPr/>
            </a:pPr>
            <a:endParaRPr lang="en-US" altLang="zh-CN" dirty="0"/>
          </a:p>
        </p:txBody>
      </p:sp>
    </p:spTree>
    <p:extLst>
      <p:ext uri="{BB962C8B-B14F-4D97-AF65-F5344CB8AC3E}">
        <p14:creationId xmlns:p14="http://schemas.microsoft.com/office/powerpoint/2010/main" val="2878179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457200" y="6172200"/>
            <a:ext cx="3429000" cy="304800"/>
          </a:xfrm>
          <a:prstGeom prst="rect">
            <a:avLst/>
          </a:prstGeom>
        </p:spPr>
        <p:txBody>
          <a:bodyPr/>
          <a:lstStyle>
            <a:lvl1pPr eaLnBrk="1" hangingPunct="1">
              <a:defRPr sz="1000">
                <a:latin typeface="Arial" charset="0"/>
                <a:ea typeface="宋体" charset="-122"/>
                <a:cs typeface="+mn-cs"/>
              </a:defRPr>
            </a:lvl1pPr>
          </a:lstStyle>
          <a:p>
            <a:pPr>
              <a:defRPr/>
            </a:pPr>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en-US" altLang="zh-CN" dirty="0"/>
          </a:p>
        </p:txBody>
      </p:sp>
      <p:sp>
        <p:nvSpPr>
          <p:cNvPr id="7" name="Slide Number Placeholder 6"/>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696281B-0F27-433D-B116-31E0F5C2AE82}" type="slidenum">
              <a:rPr lang="en-US" altLang="zh-CN"/>
              <a:pPr>
                <a:defRPr/>
              </a:pPr>
              <a:t>‹#›</a:t>
            </a:fld>
            <a:endParaRPr lang="en-US" altLang="zh-CN"/>
          </a:p>
        </p:txBody>
      </p:sp>
    </p:spTree>
    <p:extLst>
      <p:ext uri="{BB962C8B-B14F-4D97-AF65-F5344CB8AC3E}">
        <p14:creationId xmlns:p14="http://schemas.microsoft.com/office/powerpoint/2010/main" val="17765783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8" name="Footer Placeholder 7"/>
          <p:cNvSpPr>
            <a:spLocks noGrp="1"/>
          </p:cNvSpPr>
          <p:nvPr>
            <p:ph type="ftr" sz="quarter" idx="11"/>
          </p:nvPr>
        </p:nvSpPr>
        <p:spPr/>
        <p:txBody>
          <a:bodyPr/>
          <a:lstStyle>
            <a:lvl1pPr>
              <a:defRPr/>
            </a:lvl1pPr>
          </a:lstStyle>
          <a:p>
            <a:pPr>
              <a:defRPr/>
            </a:pPr>
            <a:endParaRPr lang="en-US" altLang="zh-CN" dirty="0"/>
          </a:p>
        </p:txBody>
      </p:sp>
      <p:sp>
        <p:nvSpPr>
          <p:cNvPr id="9" name="Slide Number Placeholder 8"/>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7590E54-9929-444B-A598-2DD7314B1017}" type="slidenum">
              <a:rPr lang="en-US" altLang="zh-CN"/>
              <a:pPr>
                <a:defRPr/>
              </a:pPr>
              <a:t>‹#›</a:t>
            </a:fld>
            <a:endParaRPr lang="en-US" altLang="zh-CN"/>
          </a:p>
        </p:txBody>
      </p:sp>
    </p:spTree>
    <p:extLst>
      <p:ext uri="{BB962C8B-B14F-4D97-AF65-F5344CB8AC3E}">
        <p14:creationId xmlns:p14="http://schemas.microsoft.com/office/powerpoint/2010/main" val="1674093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4" name="Footer Placeholder 3"/>
          <p:cNvSpPr>
            <a:spLocks noGrp="1"/>
          </p:cNvSpPr>
          <p:nvPr>
            <p:ph type="ftr" sz="quarter" idx="11"/>
          </p:nvPr>
        </p:nvSpPr>
        <p:spPr/>
        <p:txBody>
          <a:bodyPr/>
          <a:lstStyle>
            <a:lvl1pPr>
              <a:defRPr/>
            </a:lvl1pPr>
          </a:lstStyle>
          <a:p>
            <a:pPr>
              <a:defRPr/>
            </a:pPr>
            <a:endParaRPr lang="en-US" altLang="zh-CN" dirty="0"/>
          </a:p>
        </p:txBody>
      </p:sp>
      <p:sp>
        <p:nvSpPr>
          <p:cNvPr id="5" name="Slide Number Placeholder 4"/>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8B07DB5-FAB2-439C-9A6D-FFE2B41A14C8}" type="slidenum">
              <a:rPr lang="en-US" altLang="zh-CN"/>
              <a:pPr>
                <a:defRPr/>
              </a:pPr>
              <a:t>‹#›</a:t>
            </a:fld>
            <a:endParaRPr lang="en-US" altLang="zh-CN"/>
          </a:p>
        </p:txBody>
      </p:sp>
    </p:spTree>
    <p:extLst>
      <p:ext uri="{BB962C8B-B14F-4D97-AF65-F5344CB8AC3E}">
        <p14:creationId xmlns:p14="http://schemas.microsoft.com/office/powerpoint/2010/main" val="3878636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3" name="Footer Placeholder 2"/>
          <p:cNvSpPr>
            <a:spLocks noGrp="1"/>
          </p:cNvSpPr>
          <p:nvPr>
            <p:ph type="ftr" sz="quarter" idx="11"/>
          </p:nvPr>
        </p:nvSpPr>
        <p:spPr/>
        <p:txBody>
          <a:bodyPr/>
          <a:lstStyle>
            <a:lvl1pPr>
              <a:defRPr/>
            </a:lvl1pPr>
          </a:lstStyle>
          <a:p>
            <a:pPr>
              <a:defRPr/>
            </a:pPr>
            <a:endParaRPr lang="en-US" altLang="zh-CN" dirty="0"/>
          </a:p>
        </p:txBody>
      </p:sp>
      <p:sp>
        <p:nvSpPr>
          <p:cNvPr id="4" name="Slide Number Placeholder 3"/>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FEFD18A3-3B4E-4CAA-B74F-DB22E90D2611}" type="slidenum">
              <a:rPr lang="en-US" altLang="zh-CN"/>
              <a:pPr>
                <a:defRPr/>
              </a:pPr>
              <a:t>‹#›</a:t>
            </a:fld>
            <a:endParaRPr lang="en-US" altLang="zh-CN"/>
          </a:p>
        </p:txBody>
      </p:sp>
    </p:spTree>
    <p:extLst>
      <p:ext uri="{BB962C8B-B14F-4D97-AF65-F5344CB8AC3E}">
        <p14:creationId xmlns:p14="http://schemas.microsoft.com/office/powerpoint/2010/main" val="555081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Title 7"/>
          <p:cNvSpPr>
            <a:spLocks noGrp="1"/>
          </p:cNvSpPr>
          <p:nvPr>
            <p:ph type="title"/>
          </p:nvPr>
        </p:nvSpPr>
        <p:spPr/>
        <p:txBody>
          <a:bodyPr/>
          <a:lstStyle/>
          <a:p>
            <a:r>
              <a:rPr lang="zh-CN" altLang="en-US"/>
              <a:t>单击此处编辑母版标题样式</a:t>
            </a:r>
            <a:endParaRPr lang="en-US"/>
          </a:p>
        </p:txBody>
      </p:sp>
      <p:sp>
        <p:nvSpPr>
          <p:cNvPr id="5" name="Date Placeholder 4"/>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6" name="Footer Placeholder 5"/>
          <p:cNvSpPr>
            <a:spLocks noGrp="1"/>
          </p:cNvSpPr>
          <p:nvPr>
            <p:ph type="ftr" sz="quarter" idx="11"/>
          </p:nvPr>
        </p:nvSpPr>
        <p:spPr/>
        <p:txBody>
          <a:bodyPr/>
          <a:lstStyle>
            <a:lvl1pPr>
              <a:defRPr/>
            </a:lvl1pPr>
          </a:lstStyle>
          <a:p>
            <a:pPr>
              <a:defRPr/>
            </a:pPr>
            <a:endParaRPr lang="en-US" altLang="zh-CN" dirty="0"/>
          </a:p>
        </p:txBody>
      </p:sp>
      <p:sp>
        <p:nvSpPr>
          <p:cNvPr id="7" name="Slide Number Placeholder 6"/>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85D3E76-6515-4D55-8262-EED761A2A2F2}" type="slidenum">
              <a:rPr lang="en-US" altLang="zh-CN"/>
              <a:pPr>
                <a:defRPr/>
              </a:pPr>
              <a:t>‹#›</a:t>
            </a:fld>
            <a:endParaRPr lang="en-US" altLang="zh-CN"/>
          </a:p>
        </p:txBody>
      </p:sp>
    </p:spTree>
    <p:extLst>
      <p:ext uri="{BB962C8B-B14F-4D97-AF65-F5344CB8AC3E}">
        <p14:creationId xmlns:p14="http://schemas.microsoft.com/office/powerpoint/2010/main" val="3727839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Rectangle 8"/>
          <p:cNvSpPr/>
          <p:nvPr/>
        </p:nvSpPr>
        <p:spPr>
          <a:xfrm>
            <a:off x="9001125" y="4846638"/>
            <a:ext cx="142875" cy="20113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9"/>
          <p:cNvSpPr/>
          <p:nvPr/>
        </p:nvSpPr>
        <p:spPr>
          <a:xfrm>
            <a:off x="9001125" y="0"/>
            <a:ext cx="142875" cy="48466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8" name="Title 7"/>
          <p:cNvSpPr>
            <a:spLocks noGrp="1"/>
          </p:cNvSpPr>
          <p:nvPr>
            <p:ph type="title"/>
          </p:nvPr>
        </p:nvSpPr>
        <p:spPr>
          <a:xfrm>
            <a:off x="457200" y="4953000"/>
            <a:ext cx="8153400" cy="762000"/>
          </a:xfrm>
        </p:spPr>
        <p:txBody>
          <a:bodyPr anchor="t"/>
          <a:lstStyle>
            <a:lvl1pPr>
              <a:defRPr sz="3200"/>
            </a:lvl1pPr>
          </a:lstStyle>
          <a:p>
            <a:r>
              <a:rPr lang="zh-CN" altLang="en-US"/>
              <a:t>单击此处编辑母版标题样式</a:t>
            </a:r>
            <a:endParaRPr lang="en-US" dirty="0"/>
          </a:p>
        </p:txBody>
      </p:sp>
      <p:sp>
        <p:nvSpPr>
          <p:cNvPr id="7" name="Date Placeholder 4"/>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9" name="Footer Placeholder 5"/>
          <p:cNvSpPr>
            <a:spLocks noGrp="1"/>
          </p:cNvSpPr>
          <p:nvPr>
            <p:ph type="ftr" sz="quarter" idx="11"/>
          </p:nvPr>
        </p:nvSpPr>
        <p:spPr/>
        <p:txBody>
          <a:bodyPr/>
          <a:lstStyle>
            <a:lvl1pPr>
              <a:defRPr/>
            </a:lvl1pPr>
          </a:lstStyle>
          <a:p>
            <a:pPr>
              <a:defRPr/>
            </a:pPr>
            <a:endParaRPr lang="en-US" altLang="zh-CN" dirty="0"/>
          </a:p>
        </p:txBody>
      </p:sp>
      <p:sp>
        <p:nvSpPr>
          <p:cNvPr id="10" name="Slide Number Placeholder 6"/>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200A92A-6F55-491C-A1CE-01C174A639A5}" type="slidenum">
              <a:rPr lang="en-US" altLang="zh-CN"/>
              <a:pPr>
                <a:defRPr/>
              </a:pPr>
              <a:t>‹#›</a:t>
            </a:fld>
            <a:endParaRPr lang="en-US" altLang="zh-CN"/>
          </a:p>
        </p:txBody>
      </p:sp>
    </p:spTree>
    <p:extLst>
      <p:ext uri="{BB962C8B-B14F-4D97-AF65-F5344CB8AC3E}">
        <p14:creationId xmlns:p14="http://schemas.microsoft.com/office/powerpoint/2010/main" val="148659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en-US" altLang="zh-CN" dirty="0"/>
          </a:p>
        </p:txBody>
      </p:sp>
      <p:sp>
        <p:nvSpPr>
          <p:cNvPr id="6" name="Slide Number Placeholder 5"/>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924B770-9F13-4CE5-8291-6CAAB75A0039}" type="slidenum">
              <a:rPr lang="en-US" altLang="zh-CN"/>
              <a:pPr>
                <a:defRPr/>
              </a:pPr>
              <a:t>‹#›</a:t>
            </a:fld>
            <a:endParaRPr lang="en-US" altLang="zh-CN"/>
          </a:p>
        </p:txBody>
      </p:sp>
    </p:spTree>
    <p:extLst>
      <p:ext uri="{BB962C8B-B14F-4D97-AF65-F5344CB8AC3E}">
        <p14:creationId xmlns:p14="http://schemas.microsoft.com/office/powerpoint/2010/main" val="1251294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nvPr>
        </p:nvSpPr>
        <p:spPr>
          <a:xfrm>
            <a:off x="457200" y="6172200"/>
            <a:ext cx="3429000" cy="304800"/>
          </a:xfrm>
          <a:prstGeom prst="rect">
            <a:avLst/>
          </a:prstGeom>
        </p:spPr>
        <p:txBody>
          <a:bodyPr/>
          <a:lstStyle>
            <a:lvl1pPr eaLnBrk="1" hangingPunct="1">
              <a:defRPr>
                <a:latin typeface="Arial" charset="0"/>
                <a:ea typeface="宋体" charset="-122"/>
                <a:cs typeface="+mn-cs"/>
              </a:defRPr>
            </a:lvl1pPr>
          </a:lstStyle>
          <a:p>
            <a:pPr>
              <a:defRPr/>
            </a:pPr>
            <a:endParaRPr lang="zh-CN" altLang="en-US"/>
          </a:p>
        </p:txBody>
      </p:sp>
      <p:sp>
        <p:nvSpPr>
          <p:cNvPr id="5" name="Footer Placeholder 4"/>
          <p:cNvSpPr>
            <a:spLocks noGrp="1"/>
          </p:cNvSpPr>
          <p:nvPr>
            <p:ph type="ftr" sz="quarter" idx="11"/>
          </p:nvPr>
        </p:nvSpPr>
        <p:spPr/>
        <p:txBody>
          <a:bodyPr/>
          <a:lstStyle>
            <a:lvl1pPr>
              <a:defRPr/>
            </a:lvl1pPr>
          </a:lstStyle>
          <a:p>
            <a:pPr>
              <a:defRPr/>
            </a:pPr>
            <a:endParaRPr lang="en-US" altLang="zh-CN" dirty="0"/>
          </a:p>
        </p:txBody>
      </p:sp>
      <p:sp>
        <p:nvSpPr>
          <p:cNvPr id="6" name="Slide Number Placeholder 5"/>
          <p:cNvSpPr>
            <a:spLocks noGrp="1"/>
          </p:cNvSpPr>
          <p:nvPr>
            <p:ph type="sldNum" sz="quarter" idx="12"/>
          </p:nvPr>
        </p:nvSpPr>
        <p:spPr>
          <a:xfrm rot="16200000">
            <a:off x="8227219" y="5885656"/>
            <a:ext cx="1316038"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70DDC2A-5E68-467C-A36B-0F502B30ABD7}" type="slidenum">
              <a:rPr lang="en-US" altLang="zh-CN"/>
              <a:pPr>
                <a:defRPr/>
              </a:pPr>
              <a:t>‹#›</a:t>
            </a:fld>
            <a:endParaRPr lang="en-US" altLang="zh-CN"/>
          </a:p>
        </p:txBody>
      </p:sp>
    </p:spTree>
    <p:extLst>
      <p:ext uri="{BB962C8B-B14F-4D97-AF65-F5344CB8AC3E}">
        <p14:creationId xmlns:p14="http://schemas.microsoft.com/office/powerpoint/2010/main" val="29051498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990600"/>
            <a:ext cx="4038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90600"/>
            <a:ext cx="4038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xfrm>
            <a:off x="7010400" y="6604000"/>
            <a:ext cx="2133600" cy="2540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E556162-A1CC-4791-91EF-AFCF738346A7}" type="slidenum">
              <a:rPr lang="en-US" altLang="zh-CN"/>
              <a:pPr>
                <a:defRPr/>
              </a:pPr>
              <a:t>‹#›</a:t>
            </a:fld>
            <a:endParaRPr lang="en-US" altLang="zh-CN"/>
          </a:p>
        </p:txBody>
      </p:sp>
    </p:spTree>
    <p:extLst>
      <p:ext uri="{BB962C8B-B14F-4D97-AF65-F5344CB8AC3E}">
        <p14:creationId xmlns:p14="http://schemas.microsoft.com/office/powerpoint/2010/main" val="1335882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3914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990600"/>
            <a:ext cx="8229600" cy="5410200"/>
          </a:xfrm>
        </p:spPr>
        <p:txBody>
          <a:bodyPr/>
          <a:lstStyle/>
          <a:p>
            <a:pPr lvl="0"/>
            <a:endParaRPr lang="zh-CN" altLang="en-US" noProof="0"/>
          </a:p>
        </p:txBody>
      </p:sp>
      <p:sp>
        <p:nvSpPr>
          <p:cNvPr id="4"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5" name="Rectangle 7"/>
          <p:cNvSpPr>
            <a:spLocks noGrp="1" noChangeArrowheads="1"/>
          </p:cNvSpPr>
          <p:nvPr>
            <p:ph type="sldNum" sz="quarter" idx="11"/>
          </p:nvPr>
        </p:nvSpPr>
        <p:spPr>
          <a:xfrm>
            <a:off x="7010400" y="6604000"/>
            <a:ext cx="2133600" cy="2540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5C19C5F0-9FF6-44AA-B7C4-99E2760177D9}" type="slidenum">
              <a:rPr lang="en-US" altLang="zh-CN"/>
              <a:pPr>
                <a:defRPr/>
              </a:pPr>
              <a:t>‹#›</a:t>
            </a:fld>
            <a:endParaRPr lang="en-US" altLang="zh-CN"/>
          </a:p>
        </p:txBody>
      </p:sp>
    </p:spTree>
    <p:extLst>
      <p:ext uri="{BB962C8B-B14F-4D97-AF65-F5344CB8AC3E}">
        <p14:creationId xmlns:p14="http://schemas.microsoft.com/office/powerpoint/2010/main" val="435446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990600"/>
            <a:ext cx="4038600" cy="5410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990600"/>
            <a:ext cx="4038600" cy="2628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771900"/>
            <a:ext cx="4038600" cy="2628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7" name="Rectangle 7"/>
          <p:cNvSpPr>
            <a:spLocks noGrp="1" noChangeArrowheads="1"/>
          </p:cNvSpPr>
          <p:nvPr>
            <p:ph type="sldNum" sz="quarter" idx="11"/>
          </p:nvPr>
        </p:nvSpPr>
        <p:spPr>
          <a:xfrm>
            <a:off x="7010400" y="6604000"/>
            <a:ext cx="2133600" cy="2540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94800A3A-AFB5-4841-BE2E-DAB6BB22B827}" type="slidenum">
              <a:rPr lang="en-US" altLang="zh-CN"/>
              <a:pPr>
                <a:defRPr/>
              </a:pPr>
              <a:t>‹#›</a:t>
            </a:fld>
            <a:endParaRPr lang="en-US" altLang="zh-CN"/>
          </a:p>
        </p:txBody>
      </p:sp>
    </p:spTree>
    <p:extLst>
      <p:ext uri="{BB962C8B-B14F-4D97-AF65-F5344CB8AC3E}">
        <p14:creationId xmlns:p14="http://schemas.microsoft.com/office/powerpoint/2010/main" val="1192563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391400" cy="563563"/>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990600"/>
            <a:ext cx="8229600" cy="2628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7200" y="3771900"/>
            <a:ext cx="8229600" cy="2628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ftr" sz="quarter" idx="10"/>
          </p:nvPr>
        </p:nvSpPr>
        <p:spPr/>
        <p:txBody>
          <a:bodyPr/>
          <a:lstStyle>
            <a:lvl1pPr>
              <a:defRPr/>
            </a:lvl1pPr>
          </a:lstStyle>
          <a:p>
            <a:pPr>
              <a:defRPr/>
            </a:pPr>
            <a:endParaRPr lang="en-US" altLang="zh-CN" dirty="0"/>
          </a:p>
        </p:txBody>
      </p:sp>
      <p:sp>
        <p:nvSpPr>
          <p:cNvPr id="6" name="Rectangle 7"/>
          <p:cNvSpPr>
            <a:spLocks noGrp="1" noChangeArrowheads="1"/>
          </p:cNvSpPr>
          <p:nvPr>
            <p:ph type="sldNum" sz="quarter" idx="11"/>
          </p:nvPr>
        </p:nvSpPr>
        <p:spPr>
          <a:xfrm>
            <a:off x="7010400" y="6604000"/>
            <a:ext cx="2133600" cy="2540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15F7E6A-F924-45F2-9447-8DDD4B6059D8}" type="slidenum">
              <a:rPr lang="en-US" altLang="zh-CN"/>
              <a:pPr>
                <a:defRPr/>
              </a:pPr>
              <a:t>‹#›</a:t>
            </a:fld>
            <a:endParaRPr lang="en-US" altLang="zh-CN"/>
          </a:p>
        </p:txBody>
      </p:sp>
    </p:spTree>
    <p:extLst>
      <p:ext uri="{BB962C8B-B14F-4D97-AF65-F5344CB8AC3E}">
        <p14:creationId xmlns:p14="http://schemas.microsoft.com/office/powerpoint/2010/main" val="36474296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3BFF0345-B619-46C3-8EBF-BED6AE4656C7}" type="slidenum">
              <a:rPr lang="en-US" altLang="zh-CN"/>
              <a:pPr>
                <a:defRPr/>
              </a:pPr>
              <a:t>‹#›</a:t>
            </a:fld>
            <a:endParaRPr lang="en-US" altLang="zh-CN"/>
          </a:p>
        </p:txBody>
      </p:sp>
    </p:spTree>
    <p:extLst>
      <p:ext uri="{BB962C8B-B14F-4D97-AF65-F5344CB8AC3E}">
        <p14:creationId xmlns:p14="http://schemas.microsoft.com/office/powerpoint/2010/main" val="1927428592"/>
      </p:ext>
    </p:extLst>
  </p:cSld>
  <p:clrMapOvr>
    <a:masterClrMapping/>
  </p:clrMapOvr>
  <p:transition spd="slow">
    <p:randomBar dir="vert"/>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3BB254DB-5CDE-4936-B561-23B9A54E40C2}"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57671381"/>
      </p:ext>
    </p:extLst>
  </p:cSld>
  <p:clrMapOvr>
    <a:masterClrMapping/>
  </p:clrMapOvr>
  <p:transition spd="slow">
    <p:randomBar dir="vert"/>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2A8CB03D-648D-4306-BAFC-1067AC59FC8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831297227"/>
      </p:ext>
    </p:extLst>
  </p:cSld>
  <p:clrMapOvr>
    <a:masterClrMapping/>
  </p:clrMapOvr>
  <p:transition spd="slow">
    <p:randomBar dir="vert"/>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57D66E51-B905-4762-B806-8C7465CA969A}"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93990435"/>
      </p:ext>
    </p:extLst>
  </p:cSld>
  <p:clrMapOvr>
    <a:masterClrMapping/>
  </p:clrMapOvr>
  <p:transition spd="slow">
    <p:randomBar dir="vert"/>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DFC4383A-F186-4B3F-881E-ED20FB78DA02}"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24647629"/>
      </p:ext>
    </p:extLst>
  </p:cSld>
  <p:clrMapOvr>
    <a:masterClrMapping/>
  </p:clrMapOvr>
  <p:transition spd="slow">
    <p:randomBar dir="vert"/>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3ADF2802-8C2E-4912-80CB-E481CF9214A3}"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17307516"/>
      </p:ext>
    </p:extLst>
  </p:cSld>
  <p:clrMapOvr>
    <a:masterClrMapping/>
  </p:clrMapOvr>
  <p:transition spd="slow">
    <p:randomBar dir="ver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6DE59884-EF41-4D28-8E4B-A92515077AF8}"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276682481"/>
      </p:ext>
    </p:extLst>
  </p:cSld>
  <p:clrMapOvr>
    <a:masterClrMapping/>
  </p:clrMapOvr>
  <p:transition spd="slow">
    <p:randomBar dir="ver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635A0197-7919-4AEC-81AC-D59CF3140198}"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936789247"/>
      </p:ext>
    </p:extLst>
  </p:cSld>
  <p:clrMapOvr>
    <a:masterClrMapping/>
  </p:clrMapOvr>
  <p:transition spd="slow">
    <p:randomBar dir="vert"/>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DFB7EEE4-B47B-4834-8686-67F1D52FDCFE}"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670739029"/>
      </p:ext>
    </p:extLst>
  </p:cSld>
  <p:clrMapOvr>
    <a:masterClrMapping/>
  </p:clrMapOvr>
  <p:transition spd="slow">
    <p:randomBar dir="vert"/>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F27C180B-C4E1-486F-88B6-13910C5D1D1A}"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80435423"/>
      </p:ext>
    </p:extLst>
  </p:cSld>
  <p:clrMapOvr>
    <a:masterClrMapping/>
  </p:clrMapOvr>
  <p:transition spd="slow">
    <p:randomBar dir="vert"/>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880B18EE-9169-41C1-A043-7DF8D18895B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375550870"/>
      </p:ext>
    </p:extLst>
  </p:cSld>
  <p:clrMapOvr>
    <a:masterClrMapping/>
  </p:clrMapOvr>
  <p:transition spd="slow">
    <p:randomBar dir="vert"/>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11C5C964-216E-4FD0-8096-316840874C4F}"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839892660"/>
      </p:ext>
    </p:extLst>
  </p:cSld>
  <p:clrMapOvr>
    <a:masterClrMapping/>
  </p:clrMapOvr>
  <p:transition spd="slow">
    <p:randomBar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533400"/>
          </a:xfrm>
          <a:prstGeom prst="rect">
            <a:avLst/>
          </a:prstGeom>
        </p:spPr>
        <p:txBody>
          <a:bodyPr vert="horz" wrap="square" lIns="91440" tIns="45720" rIns="91440" bIns="45720" numCol="1" anchor="b" anchorCtr="0" compatLnSpc="1">
            <a:prstTxWarp prst="textNoShape">
              <a:avLst/>
            </a:prstTxWarp>
            <a:normAutofit/>
          </a:bodyPr>
          <a:lstStyle/>
          <a:p>
            <a:pPr lvl="0"/>
            <a:r>
              <a:rPr lang="zh-CN" altLang="en-US"/>
              <a:t>单击此处编辑母版标题样式</a:t>
            </a:r>
            <a:endParaRPr lang="en-US" altLang="en-US"/>
          </a:p>
        </p:txBody>
      </p:sp>
      <p:sp>
        <p:nvSpPr>
          <p:cNvPr id="1027" name="Text Placeholder 2"/>
          <p:cNvSpPr>
            <a:spLocks noGrp="1"/>
          </p:cNvSpPr>
          <p:nvPr>
            <p:ph type="body" idx="1"/>
          </p:nvPr>
        </p:nvSpPr>
        <p:spPr bwMode="auto">
          <a:xfrm>
            <a:off x="457200" y="914400"/>
            <a:ext cx="8305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5" name="Footer Placeholder 4"/>
          <p:cNvSpPr>
            <a:spLocks noGrp="1"/>
          </p:cNvSpPr>
          <p:nvPr>
            <p:ph type="ftr" sz="quarter" idx="3"/>
          </p:nvPr>
        </p:nvSpPr>
        <p:spPr>
          <a:xfrm>
            <a:off x="457200" y="6492875"/>
            <a:ext cx="3429000" cy="284163"/>
          </a:xfrm>
          <a:prstGeom prst="rect">
            <a:avLst/>
          </a:prstGeom>
        </p:spPr>
        <p:txBody>
          <a:bodyPr vert="horz" wrap="square" lIns="91440" tIns="45720" rIns="91440" bIns="45720" numCol="1" anchor="t" anchorCtr="0" compatLnSpc="1">
            <a:prstTxWarp prst="textNoShape">
              <a:avLst/>
            </a:prstTxWarp>
          </a:bodyPr>
          <a:lstStyle>
            <a:lvl1pPr eaLnBrk="1" hangingPunct="1">
              <a:defRPr sz="1000">
                <a:latin typeface="Arial" pitchFamily="34" charset="0"/>
              </a:defRPr>
            </a:lvl1pPr>
          </a:lstStyle>
          <a:p>
            <a:pPr>
              <a:defRPr/>
            </a:pPr>
            <a:endParaRPr lang="en-US" altLang="zh-CN" dirty="0"/>
          </a:p>
        </p:txBody>
      </p:sp>
      <p:sp>
        <p:nvSpPr>
          <p:cNvPr id="7" name="Rectangle 6"/>
          <p:cNvSpPr/>
          <p:nvPr/>
        </p:nvSpPr>
        <p:spPr>
          <a:xfrm>
            <a:off x="9001125" y="0"/>
            <a:ext cx="142875"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9001125" y="1371600"/>
            <a:ext cx="142875"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4292" r:id="rId1"/>
    <p:sldLayoutId id="2147484293" r:id="rId2"/>
    <p:sldLayoutId id="2147484294" r:id="rId3"/>
    <p:sldLayoutId id="2147484295" r:id="rId4"/>
    <p:sldLayoutId id="2147484296" r:id="rId5"/>
    <p:sldLayoutId id="2147484297" r:id="rId6"/>
    <p:sldLayoutId id="2147484298" r:id="rId7"/>
    <p:sldLayoutId id="2147484299" r:id="rId8"/>
    <p:sldLayoutId id="2147484300" r:id="rId9"/>
    <p:sldLayoutId id="2147484301" r:id="rId10"/>
    <p:sldLayoutId id="2147484302" r:id="rId11"/>
    <p:sldLayoutId id="2147484303" r:id="rId12"/>
    <p:sldLayoutId id="2147484304" r:id="rId13"/>
    <p:sldLayoutId id="2147484305" r:id="rId14"/>
    <p:sldLayoutId id="2147484306" r:id="rId15"/>
  </p:sldLayoutIdLst>
  <p:hf sldNum="0" hdr="0" dt="0"/>
  <p:txStyles>
    <p:titleStyle>
      <a:lvl1pPr algn="l" rtl="0" eaLnBrk="0" fontAlgn="base" hangingPunct="0">
        <a:spcBef>
          <a:spcPct val="0"/>
        </a:spcBef>
        <a:spcAft>
          <a:spcPct val="0"/>
        </a:spcAft>
        <a:defRPr kumimoji="1" sz="3600" kern="1200" cap="all" spc="-60">
          <a:solidFill>
            <a:schemeClr val="tx2"/>
          </a:solidFill>
          <a:latin typeface="+mj-lt"/>
          <a:ea typeface="+mj-ea"/>
          <a:cs typeface="微软雅黑" charset="0"/>
        </a:defRPr>
      </a:lvl1pPr>
      <a:lvl2pPr algn="l" rtl="0" eaLnBrk="0" fontAlgn="base" hangingPunct="0">
        <a:spcBef>
          <a:spcPct val="0"/>
        </a:spcBef>
        <a:spcAft>
          <a:spcPct val="0"/>
        </a:spcAft>
        <a:defRPr kumimoji="1" sz="3600">
          <a:solidFill>
            <a:schemeClr val="tx2"/>
          </a:solidFill>
          <a:latin typeface="Arial Black" pitchFamily="34" charset="0"/>
          <a:ea typeface="微软雅黑" pitchFamily="34" charset="-122"/>
          <a:cs typeface="微软雅黑" charset="0"/>
        </a:defRPr>
      </a:lvl2pPr>
      <a:lvl3pPr algn="l" rtl="0" eaLnBrk="0" fontAlgn="base" hangingPunct="0">
        <a:spcBef>
          <a:spcPct val="0"/>
        </a:spcBef>
        <a:spcAft>
          <a:spcPct val="0"/>
        </a:spcAft>
        <a:defRPr kumimoji="1" sz="3600">
          <a:solidFill>
            <a:schemeClr val="tx2"/>
          </a:solidFill>
          <a:latin typeface="Arial Black" pitchFamily="34" charset="0"/>
          <a:ea typeface="微软雅黑" pitchFamily="34" charset="-122"/>
          <a:cs typeface="微软雅黑" charset="0"/>
        </a:defRPr>
      </a:lvl3pPr>
      <a:lvl4pPr algn="l" rtl="0" eaLnBrk="0" fontAlgn="base" hangingPunct="0">
        <a:spcBef>
          <a:spcPct val="0"/>
        </a:spcBef>
        <a:spcAft>
          <a:spcPct val="0"/>
        </a:spcAft>
        <a:defRPr kumimoji="1" sz="3600">
          <a:solidFill>
            <a:schemeClr val="tx2"/>
          </a:solidFill>
          <a:latin typeface="Arial Black" pitchFamily="34" charset="0"/>
          <a:ea typeface="微软雅黑" pitchFamily="34" charset="-122"/>
          <a:cs typeface="微软雅黑" charset="0"/>
        </a:defRPr>
      </a:lvl4pPr>
      <a:lvl5pPr algn="l" rtl="0" eaLnBrk="0" fontAlgn="base" hangingPunct="0">
        <a:spcBef>
          <a:spcPct val="0"/>
        </a:spcBef>
        <a:spcAft>
          <a:spcPct val="0"/>
        </a:spcAft>
        <a:defRPr kumimoji="1" sz="3600">
          <a:solidFill>
            <a:schemeClr val="tx2"/>
          </a:solidFill>
          <a:latin typeface="Arial Black" pitchFamily="34" charset="0"/>
          <a:ea typeface="微软雅黑" pitchFamily="34" charset="-122"/>
          <a:cs typeface="微软雅黑" charset="0"/>
        </a:defRPr>
      </a:lvl5pPr>
      <a:lvl6pPr marL="457200" algn="l" rtl="0" fontAlgn="base">
        <a:spcBef>
          <a:spcPct val="0"/>
        </a:spcBef>
        <a:spcAft>
          <a:spcPct val="0"/>
        </a:spcAft>
        <a:defRPr sz="3600">
          <a:solidFill>
            <a:schemeClr val="tx2"/>
          </a:solidFill>
          <a:latin typeface="Arial Black" pitchFamily="34" charset="0"/>
          <a:ea typeface="微软雅黑" pitchFamily="34" charset="-122"/>
        </a:defRPr>
      </a:lvl6pPr>
      <a:lvl7pPr marL="914400" algn="l" rtl="0" fontAlgn="base">
        <a:spcBef>
          <a:spcPct val="0"/>
        </a:spcBef>
        <a:spcAft>
          <a:spcPct val="0"/>
        </a:spcAft>
        <a:defRPr sz="3600">
          <a:solidFill>
            <a:schemeClr val="tx2"/>
          </a:solidFill>
          <a:latin typeface="Arial Black" pitchFamily="34" charset="0"/>
          <a:ea typeface="微软雅黑" pitchFamily="34" charset="-122"/>
        </a:defRPr>
      </a:lvl7pPr>
      <a:lvl8pPr marL="1371600" algn="l" rtl="0" fontAlgn="base">
        <a:spcBef>
          <a:spcPct val="0"/>
        </a:spcBef>
        <a:spcAft>
          <a:spcPct val="0"/>
        </a:spcAft>
        <a:defRPr sz="3600">
          <a:solidFill>
            <a:schemeClr val="tx2"/>
          </a:solidFill>
          <a:latin typeface="Arial Black" pitchFamily="34" charset="0"/>
          <a:ea typeface="微软雅黑" pitchFamily="34" charset="-122"/>
        </a:defRPr>
      </a:lvl8pPr>
      <a:lvl9pPr marL="1828800" algn="l" rtl="0" fontAlgn="base">
        <a:spcBef>
          <a:spcPct val="0"/>
        </a:spcBef>
        <a:spcAft>
          <a:spcPct val="0"/>
        </a:spcAft>
        <a:defRPr sz="3600">
          <a:solidFill>
            <a:schemeClr val="tx2"/>
          </a:solidFill>
          <a:latin typeface="Arial Black" pitchFamily="34" charset="0"/>
          <a:ea typeface="微软雅黑" pitchFamily="34" charset="-122"/>
        </a:defRPr>
      </a:lvl9pPr>
    </p:titleStyle>
    <p:bodyStyle>
      <a:lvl1pPr marL="342900" indent="-342900"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黑体" charset="0"/>
        </a:defRPr>
      </a:lvl1pPr>
      <a:lvl2pPr marL="457200" indent="-182563" algn="l" rtl="0" eaLnBrk="0" fontAlgn="base" hangingPunct="0">
        <a:spcBef>
          <a:spcPct val="20000"/>
        </a:spcBef>
        <a:spcAft>
          <a:spcPct val="0"/>
        </a:spcAft>
        <a:buClr>
          <a:schemeClr val="tx2"/>
        </a:buClr>
        <a:buFont typeface="Arial" panose="020B0604020202020204" pitchFamily="34" charset="0"/>
        <a:buChar char="•"/>
        <a:defRPr kumimoji="1" sz="2000" kern="1200">
          <a:solidFill>
            <a:schemeClr val="tx1"/>
          </a:solidFill>
          <a:latin typeface="+mn-lt"/>
          <a:ea typeface="+mn-ea"/>
          <a:cs typeface="黑体" charset="0"/>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umimoji="1" kern="1200">
          <a:solidFill>
            <a:schemeClr val="tx1"/>
          </a:solidFill>
          <a:latin typeface="+mn-lt"/>
          <a:ea typeface="+mn-ea"/>
          <a:cs typeface="黑体" charset="0"/>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umimoji="1" kern="1200">
          <a:solidFill>
            <a:schemeClr val="tx1"/>
          </a:solidFill>
          <a:latin typeface="+mn-lt"/>
          <a:ea typeface="+mn-ea"/>
          <a:cs typeface="黑体" charset="0"/>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umimoji="1" kern="1200">
          <a:solidFill>
            <a:schemeClr val="tx1"/>
          </a:solidFill>
          <a:latin typeface="+mn-lt"/>
          <a:ea typeface="+mn-ea"/>
          <a:cs typeface="黑体" charset="0"/>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03B94EC9-5CF6-472D-9E93-D2643A38A91C}"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defRPr>
                  <a:solidFill>
                    <a:schemeClr val="tx1"/>
                  </a:solidFill>
                  <a:latin typeface="Arial" charset="0"/>
                  <a:ea typeface="宋体" pitchFamily="2" charset="-122"/>
                </a:defRPr>
              </a:lvl6pPr>
              <a:lvl7pPr marL="2971800" indent="-228600" algn="ctr" eaLnBrk="0" fontAlgn="base" hangingPunct="0">
                <a:spcBef>
                  <a:spcPct val="0"/>
                </a:spcBef>
                <a:spcAft>
                  <a:spcPct val="0"/>
                </a:spcAft>
                <a:defRPr>
                  <a:solidFill>
                    <a:schemeClr val="tx1"/>
                  </a:solidFill>
                  <a:latin typeface="Arial" charset="0"/>
                  <a:ea typeface="宋体" pitchFamily="2" charset="-122"/>
                </a:defRPr>
              </a:lvl7pPr>
              <a:lvl8pPr marL="3429000" indent="-228600" algn="ctr" eaLnBrk="0" fontAlgn="base" hangingPunct="0">
                <a:spcBef>
                  <a:spcPct val="0"/>
                </a:spcBef>
                <a:spcAft>
                  <a:spcPct val="0"/>
                </a:spcAft>
                <a:defRPr>
                  <a:solidFill>
                    <a:schemeClr val="tx1"/>
                  </a:solidFill>
                  <a:latin typeface="Arial" charset="0"/>
                  <a:ea typeface="宋体" pitchFamily="2" charset="-122"/>
                </a:defRPr>
              </a:lvl8pPr>
              <a:lvl9pPr marL="3886200" indent="-228600" algn="ctr"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pPr>
              <a:defRPr/>
            </a:pPr>
            <a:endParaRPr lang="en-US" altLang="zh-CN"/>
          </a:p>
        </p:txBody>
      </p:sp>
    </p:spTree>
    <p:extLst>
      <p:ext uri="{BB962C8B-B14F-4D97-AF65-F5344CB8AC3E}">
        <p14:creationId xmlns:p14="http://schemas.microsoft.com/office/powerpoint/2010/main" val="4280687134"/>
      </p:ext>
    </p:extLst>
  </p:cSld>
  <p:clrMap bg1="lt1" tx1="dk1" bg2="lt2" tx2="dk2" accent1="accent1" accent2="accent2" accent3="accent3" accent4="accent4" accent5="accent5" accent6="accent6" hlink="hlink" folHlink="folHlink"/>
  <p:sldLayoutIdLst>
    <p:sldLayoutId id="2147484308" r:id="rId1"/>
    <p:sldLayoutId id="2147484309" r:id="rId2"/>
    <p:sldLayoutId id="2147484310" r:id="rId3"/>
    <p:sldLayoutId id="2147484311" r:id="rId4"/>
    <p:sldLayoutId id="2147484312" r:id="rId5"/>
    <p:sldLayoutId id="2147484313" r:id="rId6"/>
    <p:sldLayoutId id="2147484314" r:id="rId7"/>
    <p:sldLayoutId id="2147484315" r:id="rId8"/>
    <p:sldLayoutId id="2147484316" r:id="rId9"/>
    <p:sldLayoutId id="2147484317" r:id="rId10"/>
    <p:sldLayoutId id="2147484318" r:id="rId11"/>
    <p:sldLayoutId id="2147484319" r:id="rId12"/>
  </p:sldLayoutIdLst>
  <p:transition spd="slow">
    <p:randomBar dir="ver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jpg"/><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24.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8.bin"/><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0.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12.wmf"/><Relationship Id="rId4" Type="http://schemas.openxmlformats.org/officeDocument/2006/relationships/image" Target="../media/image9.wmf"/><Relationship Id="rId9" Type="http://schemas.openxmlformats.org/officeDocument/2006/relationships/oleObject" Target="../embeddings/oleObject6.bin"/><Relationship Id="rId14" Type="http://schemas.openxmlformats.org/officeDocument/2006/relationships/image" Target="../media/image14.wmf"/></Relationships>
</file>

<file path=ppt/slides/_rels/slide25.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5.bin"/><Relationship Id="rId18" Type="http://schemas.openxmlformats.org/officeDocument/2006/relationships/image" Target="../media/image20.wmf"/><Relationship Id="rId3" Type="http://schemas.openxmlformats.org/officeDocument/2006/relationships/oleObject" Target="../embeddings/oleObject9.bin"/><Relationship Id="rId7" Type="http://schemas.openxmlformats.org/officeDocument/2006/relationships/oleObject" Target="../embeddings/oleObject11.bin"/><Relationship Id="rId12" Type="http://schemas.openxmlformats.org/officeDocument/2006/relationships/image" Target="../media/image18.wmf"/><Relationship Id="rId17" Type="http://schemas.openxmlformats.org/officeDocument/2006/relationships/oleObject" Target="../embeddings/oleObject18.bin"/><Relationship Id="rId2" Type="http://schemas.openxmlformats.org/officeDocument/2006/relationships/slideLayout" Target="../slideLayouts/slideLayout6.xml"/><Relationship Id="rId16" Type="http://schemas.openxmlformats.org/officeDocument/2006/relationships/image" Target="../media/image19.wmf"/><Relationship Id="rId20" Type="http://schemas.openxmlformats.org/officeDocument/2006/relationships/oleObject" Target="../embeddings/oleObject20.bin"/><Relationship Id="rId1" Type="http://schemas.openxmlformats.org/officeDocument/2006/relationships/vmlDrawing" Target="../drawings/vmlDrawing4.vml"/><Relationship Id="rId6" Type="http://schemas.openxmlformats.org/officeDocument/2006/relationships/image" Target="../media/image16.wmf"/><Relationship Id="rId11" Type="http://schemas.openxmlformats.org/officeDocument/2006/relationships/oleObject" Target="../embeddings/oleObject14.bin"/><Relationship Id="rId5" Type="http://schemas.openxmlformats.org/officeDocument/2006/relationships/oleObject" Target="../embeddings/oleObject10.bin"/><Relationship Id="rId15" Type="http://schemas.openxmlformats.org/officeDocument/2006/relationships/oleObject" Target="../embeddings/oleObject17.bin"/><Relationship Id="rId10" Type="http://schemas.openxmlformats.org/officeDocument/2006/relationships/oleObject" Target="../embeddings/oleObject13.bin"/><Relationship Id="rId19" Type="http://schemas.openxmlformats.org/officeDocument/2006/relationships/oleObject" Target="../embeddings/oleObject19.bin"/><Relationship Id="rId4" Type="http://schemas.openxmlformats.org/officeDocument/2006/relationships/image" Target="../media/image15.wmf"/><Relationship Id="rId9" Type="http://schemas.openxmlformats.org/officeDocument/2006/relationships/oleObject" Target="../embeddings/oleObject12.bin"/><Relationship Id="rId14"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image" Target="../media/image23.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6.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7.emf"/></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2.xml"/><Relationship Id="rId1" Type="http://schemas.openxmlformats.org/officeDocument/2006/relationships/vmlDrawing" Target="../drawings/vmlDrawing8.vml"/><Relationship Id="rId4" Type="http://schemas.openxmlformats.org/officeDocument/2006/relationships/image" Target="../media/image35.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36.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7.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38.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0.wmf"/><Relationship Id="rId5" Type="http://schemas.openxmlformats.org/officeDocument/2006/relationships/oleObject" Target="../embeddings/oleObject29.bin"/><Relationship Id="rId4" Type="http://schemas.openxmlformats.org/officeDocument/2006/relationships/image" Target="../media/image39.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2.wmf"/><Relationship Id="rId5" Type="http://schemas.openxmlformats.org/officeDocument/2006/relationships/oleObject" Target="../embeddings/oleObject31.bin"/><Relationship Id="rId4" Type="http://schemas.openxmlformats.org/officeDocument/2006/relationships/image" Target="../media/image41.wmf"/></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oleObject" Target="../embeddings/oleObject32.bin"/><Relationship Id="rId7"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4.bin"/><Relationship Id="rId5" Type="http://schemas.openxmlformats.org/officeDocument/2006/relationships/oleObject" Target="../embeddings/oleObject33.bin"/><Relationship Id="rId10" Type="http://schemas.openxmlformats.org/officeDocument/2006/relationships/image" Target="../media/image45.wmf"/><Relationship Id="rId4" Type="http://schemas.openxmlformats.org/officeDocument/2006/relationships/image" Target="../media/image43.wmf"/><Relationship Id="rId9" Type="http://schemas.openxmlformats.org/officeDocument/2006/relationships/oleObject" Target="../embeddings/oleObject36.bin"/></Relationships>
</file>

<file path=ppt/slides/_rels/slide61.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7.wmf"/><Relationship Id="rId5" Type="http://schemas.openxmlformats.org/officeDocument/2006/relationships/oleObject" Target="../embeddings/oleObject38.bin"/><Relationship Id="rId4" Type="http://schemas.openxmlformats.org/officeDocument/2006/relationships/image" Target="../media/image46.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14.xml"/><Relationship Id="rId1" Type="http://schemas.openxmlformats.org/officeDocument/2006/relationships/vmlDrawing" Target="../drawings/vmlDrawing16.vml"/><Relationship Id="rId6" Type="http://schemas.openxmlformats.org/officeDocument/2006/relationships/image" Target="../media/image50.wmf"/><Relationship Id="rId5" Type="http://schemas.openxmlformats.org/officeDocument/2006/relationships/oleObject" Target="../embeddings/oleObject41.bin"/><Relationship Id="rId4" Type="http://schemas.openxmlformats.org/officeDocument/2006/relationships/image" Target="../media/image49.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image" Target="../media/image53.wmf"/><Relationship Id="rId5" Type="http://schemas.openxmlformats.org/officeDocument/2006/relationships/oleObject" Target="../embeddings/oleObject44.bin"/><Relationship Id="rId4" Type="http://schemas.openxmlformats.org/officeDocument/2006/relationships/image" Target="../media/image52.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image" Target="../media/image52.wmf"/><Relationship Id="rId5" Type="http://schemas.openxmlformats.org/officeDocument/2006/relationships/oleObject" Target="../embeddings/oleObject46.bin"/><Relationship Id="rId4" Type="http://schemas.openxmlformats.org/officeDocument/2006/relationships/image" Target="../media/image54.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55.w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4.xml"/><Relationship Id="rId1" Type="http://schemas.openxmlformats.org/officeDocument/2006/relationships/vmlDrawing" Target="../drawings/vmlDrawing20.vml"/><Relationship Id="rId6" Type="http://schemas.openxmlformats.org/officeDocument/2006/relationships/image" Target="../media/image60.wmf"/><Relationship Id="rId5" Type="http://schemas.openxmlformats.org/officeDocument/2006/relationships/oleObject" Target="../embeddings/oleObject49.bin"/><Relationship Id="rId4" Type="http://schemas.openxmlformats.org/officeDocument/2006/relationships/image" Target="../media/image59.w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61.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15.xml"/><Relationship Id="rId1" Type="http://schemas.openxmlformats.org/officeDocument/2006/relationships/vmlDrawing" Target="../drawings/vmlDrawing22.vml"/><Relationship Id="rId4" Type="http://schemas.openxmlformats.org/officeDocument/2006/relationships/image" Target="../media/image62.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4.xml"/><Relationship Id="rId1" Type="http://schemas.openxmlformats.org/officeDocument/2006/relationships/vmlDrawing" Target="../drawings/vmlDrawing23.vml"/><Relationship Id="rId4" Type="http://schemas.openxmlformats.org/officeDocument/2006/relationships/image" Target="../media/image62.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63.wm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6.xml"/><Relationship Id="rId1" Type="http://schemas.openxmlformats.org/officeDocument/2006/relationships/vmlDrawing" Target="../drawings/vmlDrawing25.vml"/><Relationship Id="rId6" Type="http://schemas.openxmlformats.org/officeDocument/2006/relationships/image" Target="../media/image65.wmf"/><Relationship Id="rId5" Type="http://schemas.openxmlformats.org/officeDocument/2006/relationships/oleObject" Target="../embeddings/oleObject55.bin"/><Relationship Id="rId4" Type="http://schemas.openxmlformats.org/officeDocument/2006/relationships/image" Target="../media/image64.wmf"/></Relationships>
</file>

<file path=ppt/slides/_rels/slide99.xml.rels><?xml version="1.0" encoding="UTF-8" standalone="yes"?>
<Relationships xmlns="http://schemas.openxmlformats.org/package/2006/relationships"><Relationship Id="rId2" Type="http://schemas.openxmlformats.org/officeDocument/2006/relationships/slide" Target="slide10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slide" Target="slide7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6.xml"/><Relationship Id="rId1" Type="http://schemas.openxmlformats.org/officeDocument/2006/relationships/vmlDrawing" Target="../drawings/vmlDrawing26.vml"/><Relationship Id="rId4" Type="http://schemas.openxmlformats.org/officeDocument/2006/relationships/image" Target="../media/image66.w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6.xml"/><Relationship Id="rId1" Type="http://schemas.openxmlformats.org/officeDocument/2006/relationships/vmlDrawing" Target="../drawings/vmlDrawing27.vml"/><Relationship Id="rId6" Type="http://schemas.openxmlformats.org/officeDocument/2006/relationships/image" Target="../media/image68.wmf"/><Relationship Id="rId5" Type="http://schemas.openxmlformats.org/officeDocument/2006/relationships/oleObject" Target="../embeddings/oleObject58.bin"/><Relationship Id="rId4" Type="http://schemas.openxmlformats.org/officeDocument/2006/relationships/image" Target="../media/image67.w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6.xml"/><Relationship Id="rId1" Type="http://schemas.openxmlformats.org/officeDocument/2006/relationships/vmlDrawing" Target="../drawings/vmlDrawing28.vml"/><Relationship Id="rId4" Type="http://schemas.openxmlformats.org/officeDocument/2006/relationships/image" Target="../media/image69.wmf"/></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29.vml"/><Relationship Id="rId4" Type="http://schemas.openxmlformats.org/officeDocument/2006/relationships/image" Target="../media/image70.emf"/></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71.wmf"/></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73.wmf"/><Relationship Id="rId5" Type="http://schemas.openxmlformats.org/officeDocument/2006/relationships/oleObject" Target="../embeddings/oleObject63.bin"/><Relationship Id="rId4" Type="http://schemas.openxmlformats.org/officeDocument/2006/relationships/image" Target="../media/image72.wmf"/></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74.wmf"/></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33.vml"/><Relationship Id="rId4" Type="http://schemas.openxmlformats.org/officeDocument/2006/relationships/image" Target="../media/image75.wmf"/></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77.wmf"/><Relationship Id="rId5" Type="http://schemas.openxmlformats.org/officeDocument/2006/relationships/oleObject" Target="../embeddings/oleObject67.bin"/><Relationship Id="rId4" Type="http://schemas.openxmlformats.org/officeDocument/2006/relationships/image" Target="../media/image76.wm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6.xml"/><Relationship Id="rId1" Type="http://schemas.openxmlformats.org/officeDocument/2006/relationships/vmlDrawing" Target="../drawings/vmlDrawing35.vml"/><Relationship Id="rId6" Type="http://schemas.openxmlformats.org/officeDocument/2006/relationships/image" Target="../media/image79.wmf"/><Relationship Id="rId5" Type="http://schemas.openxmlformats.org/officeDocument/2006/relationships/oleObject" Target="../embeddings/oleObject69.bin"/><Relationship Id="rId10" Type="http://schemas.openxmlformats.org/officeDocument/2006/relationships/image" Target="../media/image81.wmf"/><Relationship Id="rId4" Type="http://schemas.openxmlformats.org/officeDocument/2006/relationships/image" Target="../media/image78.wmf"/><Relationship Id="rId9" Type="http://schemas.openxmlformats.org/officeDocument/2006/relationships/oleObject" Target="../embeddings/oleObject71.bin"/></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6.xml"/><Relationship Id="rId1" Type="http://schemas.openxmlformats.org/officeDocument/2006/relationships/vmlDrawing" Target="../drawings/vmlDrawing36.vml"/><Relationship Id="rId4" Type="http://schemas.openxmlformats.org/officeDocument/2006/relationships/image" Target="../media/image82.wmf"/></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84.wmf"/><Relationship Id="rId5" Type="http://schemas.openxmlformats.org/officeDocument/2006/relationships/oleObject" Target="../embeddings/oleObject74.bin"/><Relationship Id="rId4" Type="http://schemas.openxmlformats.org/officeDocument/2006/relationships/image" Target="../media/image83.wmf"/></Relationships>
</file>

<file path=ppt/slides/_rels/slide124.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75.bin"/><Relationship Id="rId7" Type="http://schemas.openxmlformats.org/officeDocument/2006/relationships/oleObject" Target="../embeddings/oleObject77.bin"/><Relationship Id="rId2" Type="http://schemas.openxmlformats.org/officeDocument/2006/relationships/slideLayout" Target="../slideLayouts/slideLayout6.xml"/><Relationship Id="rId1" Type="http://schemas.openxmlformats.org/officeDocument/2006/relationships/vmlDrawing" Target="../drawings/vmlDrawing38.vml"/><Relationship Id="rId6" Type="http://schemas.openxmlformats.org/officeDocument/2006/relationships/image" Target="../media/image86.wmf"/><Relationship Id="rId5" Type="http://schemas.openxmlformats.org/officeDocument/2006/relationships/oleObject" Target="../embeddings/oleObject76.bin"/><Relationship Id="rId4" Type="http://schemas.openxmlformats.org/officeDocument/2006/relationships/image" Target="../media/image85.wmf"/></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6.xml"/><Relationship Id="rId1" Type="http://schemas.openxmlformats.org/officeDocument/2006/relationships/vmlDrawing" Target="../drawings/vmlDrawing39.vml"/><Relationship Id="rId4" Type="http://schemas.openxmlformats.org/officeDocument/2006/relationships/image" Target="../media/image88.wmf"/></Relationships>
</file>

<file path=ppt/slides/_rels/slide126.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40.vml"/><Relationship Id="rId4" Type="http://schemas.openxmlformats.org/officeDocument/2006/relationships/image" Target="../media/image89.wmf"/></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Layout" Target="../slideLayouts/slideLayout7.xml"/><Relationship Id="rId1" Type="http://schemas.openxmlformats.org/officeDocument/2006/relationships/vmlDrawing" Target="../drawings/vmlDrawing41.vml"/><Relationship Id="rId4" Type="http://schemas.openxmlformats.org/officeDocument/2006/relationships/image" Target="../media/image90.wmf"/></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92.wmf"/><Relationship Id="rId5" Type="http://schemas.openxmlformats.org/officeDocument/2006/relationships/oleObject" Target="../embeddings/oleObject82.bin"/><Relationship Id="rId4" Type="http://schemas.openxmlformats.org/officeDocument/2006/relationships/image" Target="../media/image91.wmf"/></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6.xml"/><Relationship Id="rId1" Type="http://schemas.openxmlformats.org/officeDocument/2006/relationships/vmlDrawing" Target="../drawings/vmlDrawing43.vml"/><Relationship Id="rId4" Type="http://schemas.openxmlformats.org/officeDocument/2006/relationships/image" Target="../media/image93.wmf"/></Relationships>
</file>

<file path=ppt/slides/_rels/slide130.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oleObject" Target="../embeddings/oleObject84.bin"/><Relationship Id="rId7" Type="http://schemas.openxmlformats.org/officeDocument/2006/relationships/oleObject" Target="../embeddings/oleObject86.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94.wmf"/><Relationship Id="rId5" Type="http://schemas.openxmlformats.org/officeDocument/2006/relationships/oleObject" Target="../embeddings/oleObject85.bin"/><Relationship Id="rId4" Type="http://schemas.openxmlformats.org/officeDocument/2006/relationships/image" Target="../media/image85.wmf"/></Relationships>
</file>

<file path=ppt/slides/_rels/slide131.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45.vml"/><Relationship Id="rId4" Type="http://schemas.openxmlformats.org/officeDocument/2006/relationships/image" Target="../media/image96.wmf"/></Relationships>
</file>

<file path=ppt/slides/_rels/slide13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46.vml"/><Relationship Id="rId4" Type="http://schemas.openxmlformats.org/officeDocument/2006/relationships/image" Target="../media/image97.wmf"/></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47.vml"/><Relationship Id="rId4" Type="http://schemas.openxmlformats.org/officeDocument/2006/relationships/image" Target="../media/image98.wmf"/></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48.vml"/><Relationship Id="rId4" Type="http://schemas.openxmlformats.org/officeDocument/2006/relationships/image" Target="../media/image99.wmf"/></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8" Type="http://schemas.openxmlformats.org/officeDocument/2006/relationships/image" Target="../media/image102.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6.xml"/><Relationship Id="rId1" Type="http://schemas.openxmlformats.org/officeDocument/2006/relationships/vmlDrawing" Target="../drawings/vmlDrawing49.vml"/><Relationship Id="rId6" Type="http://schemas.openxmlformats.org/officeDocument/2006/relationships/image" Target="../media/image101.wmf"/><Relationship Id="rId5" Type="http://schemas.openxmlformats.org/officeDocument/2006/relationships/oleObject" Target="../embeddings/oleObject92.bin"/><Relationship Id="rId4" Type="http://schemas.openxmlformats.org/officeDocument/2006/relationships/image" Target="../media/image100.wmf"/></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50.vml"/><Relationship Id="rId4" Type="http://schemas.openxmlformats.org/officeDocument/2006/relationships/image" Target="../media/image103.wmf"/></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normAutofit fontScale="90000"/>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课程内容体系</a:t>
            </a:r>
          </a:p>
        </p:txBody>
      </p:sp>
      <p:sp>
        <p:nvSpPr>
          <p:cNvPr id="18435" name="文本框 1"/>
          <p:cNvSpPr txBox="1">
            <a:spLocks noChangeArrowheads="1"/>
          </p:cNvSpPr>
          <p:nvPr/>
        </p:nvSpPr>
        <p:spPr bwMode="auto">
          <a:xfrm>
            <a:off x="3005944" y="1778348"/>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企业生产与运作系统</a:t>
            </a: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0000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solidFill>
                  <a:srgbClr val="FFFF00"/>
                </a:solidFill>
                <a:latin typeface="Calibri" panose="020F0502020204030204" pitchFamily="34" charset="0"/>
              </a:rPr>
              <a:t>生产调度</a:t>
            </a: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b="1" dirty="0">
                <a:latin typeface="宋体" panose="02010600030101010101" pitchFamily="2" charset="-122"/>
              </a:rPr>
              <a:t>系统集成体系框架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集散控制系统</a:t>
            </a: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a:solidFill>
                  <a:srgbClr val="0000FF"/>
                </a:solidFill>
                <a:effectLst>
                  <a:outerShdw blurRad="38100" dist="38100" dir="2700000" algn="tl">
                    <a:srgbClr val="000000">
                      <a:alpha val="43137"/>
                    </a:srgbClr>
                  </a:outerShdw>
                </a:effectLst>
              </a:rPr>
              <a:t>生产计划与控制</a:t>
            </a:r>
          </a:p>
        </p:txBody>
      </p:sp>
    </p:spTree>
    <p:extLst>
      <p:ext uri="{BB962C8B-B14F-4D97-AF65-F5344CB8AC3E}">
        <p14:creationId xmlns:p14="http://schemas.microsoft.com/office/powerpoint/2010/main" val="27563651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ea typeface="宋体" panose="02010600030101010101" pitchFamily="2" charset="-122"/>
            </a:endParaRPr>
          </a:p>
        </p:txBody>
      </p:sp>
      <p:sp>
        <p:nvSpPr>
          <p:cNvPr id="9219" name="Rectangle 2"/>
          <p:cNvSpPr>
            <a:spLocks noGrp="1" noChangeArrowheads="1"/>
          </p:cNvSpPr>
          <p:nvPr>
            <p:ph type="title"/>
          </p:nvPr>
        </p:nvSpPr>
        <p:spPr>
          <a:xfrm>
            <a:off x="0" y="122238"/>
            <a:ext cx="9144000" cy="563562"/>
          </a:xfrm>
        </p:spPr>
        <p:txBody>
          <a:bodyPr rtlCol="0">
            <a:normAutofit fontScale="90000"/>
          </a:bodyPr>
          <a:lstStyle/>
          <a:p>
            <a:pPr eaLnBrk="1" hangingPunct="1">
              <a:defRPr/>
            </a:pPr>
            <a:r>
              <a:rPr kumimoji="0" lang="en-US" altLang="zh-CN" sz="2400" dirty="0">
                <a:ea typeface="宋体" charset="-122"/>
                <a:cs typeface="+mj-cs"/>
              </a:rPr>
              <a:t>Contents for Production Planning and Scheduling</a:t>
            </a:r>
          </a:p>
        </p:txBody>
      </p:sp>
      <p:sp>
        <p:nvSpPr>
          <p:cNvPr id="20484" name="矩形 20"/>
          <p:cNvSpPr>
            <a:spLocks noChangeArrowheads="1"/>
          </p:cNvSpPr>
          <p:nvPr/>
        </p:nvSpPr>
        <p:spPr bwMode="auto">
          <a:xfrm>
            <a:off x="3505200" y="1219200"/>
            <a:ext cx="4419600" cy="609600"/>
          </a:xfrm>
          <a:prstGeom prst="rect">
            <a:avLst/>
          </a:prstGeom>
          <a:solidFill>
            <a:srgbClr val="FFF4CA"/>
          </a:solidFill>
          <a:ln w="28575">
            <a:solidFill>
              <a:srgbClr val="585858"/>
            </a:solidFill>
            <a:miter lim="800000"/>
            <a:headEnd/>
            <a:tailEnd/>
          </a:ln>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pPr>
            <a:r>
              <a:rPr lang="en-US" altLang="zh-CN" sz="1800"/>
              <a:t>Aggregate Planning</a:t>
            </a:r>
            <a:endParaRPr lang="zh-CN" altLang="en-US" sz="1800"/>
          </a:p>
        </p:txBody>
      </p:sp>
      <p:sp>
        <p:nvSpPr>
          <p:cNvPr id="20485" name="矩形 21"/>
          <p:cNvSpPr>
            <a:spLocks noChangeArrowheads="1"/>
          </p:cNvSpPr>
          <p:nvPr/>
        </p:nvSpPr>
        <p:spPr bwMode="auto">
          <a:xfrm>
            <a:off x="3505200" y="2362200"/>
            <a:ext cx="4419600" cy="1295400"/>
          </a:xfrm>
          <a:prstGeom prst="rect">
            <a:avLst/>
          </a:prstGeom>
          <a:solidFill>
            <a:srgbClr val="FFF4CA"/>
          </a:solidFill>
          <a:ln w="28575">
            <a:solidFill>
              <a:srgbClr val="585858"/>
            </a:solidFill>
            <a:miter lim="800000"/>
            <a:headEnd/>
            <a:tailEnd/>
          </a:ln>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pPr>
            <a:r>
              <a:rPr lang="en-US" altLang="zh-CN" sz="1800"/>
              <a:t>Master Production Schedule</a:t>
            </a:r>
          </a:p>
          <a:p>
            <a:pPr algn="ctr" eaLnBrk="1" hangingPunct="1">
              <a:spcBef>
                <a:spcPct val="0"/>
              </a:spcBef>
              <a:spcAft>
                <a:spcPct val="0"/>
              </a:spcAft>
            </a:pPr>
            <a:r>
              <a:rPr lang="en-US" altLang="zh-CN" sz="1800"/>
              <a:t>Material Requirement Planning</a:t>
            </a:r>
          </a:p>
          <a:p>
            <a:pPr algn="ctr" eaLnBrk="1" hangingPunct="1">
              <a:spcBef>
                <a:spcPct val="0"/>
              </a:spcBef>
              <a:spcAft>
                <a:spcPct val="0"/>
              </a:spcAft>
            </a:pPr>
            <a:r>
              <a:rPr lang="en-US" altLang="zh-CN" sz="1800"/>
              <a:t>Capacity Requirement Planning</a:t>
            </a:r>
          </a:p>
          <a:p>
            <a:pPr algn="ctr" eaLnBrk="1" hangingPunct="1">
              <a:spcBef>
                <a:spcPct val="0"/>
              </a:spcBef>
              <a:spcAft>
                <a:spcPct val="0"/>
              </a:spcAft>
            </a:pPr>
            <a:r>
              <a:rPr lang="en-US" altLang="zh-CN" sz="1800"/>
              <a:t>Purchasing Planning &amp; Shop Planning</a:t>
            </a:r>
            <a:endParaRPr lang="zh-CN" altLang="en-US" sz="1800"/>
          </a:p>
        </p:txBody>
      </p:sp>
      <p:sp>
        <p:nvSpPr>
          <p:cNvPr id="20486" name="矩形 25"/>
          <p:cNvSpPr>
            <a:spLocks noChangeArrowheads="1"/>
          </p:cNvSpPr>
          <p:nvPr/>
        </p:nvSpPr>
        <p:spPr bwMode="auto">
          <a:xfrm>
            <a:off x="3505200" y="4191000"/>
            <a:ext cx="4419600" cy="609600"/>
          </a:xfrm>
          <a:prstGeom prst="rect">
            <a:avLst/>
          </a:prstGeom>
          <a:solidFill>
            <a:srgbClr val="FFF4CA"/>
          </a:solidFill>
          <a:ln w="28575">
            <a:solidFill>
              <a:srgbClr val="585858"/>
            </a:solidFill>
            <a:miter lim="800000"/>
            <a:headEnd/>
            <a:tailEnd/>
          </a:ln>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pPr>
            <a:r>
              <a:rPr lang="en-US" altLang="zh-CN" sz="1800" dirty="0"/>
              <a:t>Operations scheduling</a:t>
            </a:r>
            <a:r>
              <a:rPr lang="zh-CN" altLang="en-US" sz="1800" dirty="0"/>
              <a:t>（运作</a:t>
            </a:r>
            <a:r>
              <a:rPr lang="en-US" altLang="zh-CN" sz="1800" dirty="0"/>
              <a:t>/</a:t>
            </a:r>
            <a:r>
              <a:rPr lang="zh-CN" altLang="en-US" sz="1800" dirty="0"/>
              <a:t>作业调度）</a:t>
            </a:r>
          </a:p>
        </p:txBody>
      </p:sp>
      <p:sp>
        <p:nvSpPr>
          <p:cNvPr id="20487" name="矩形 26"/>
          <p:cNvSpPr>
            <a:spLocks noChangeArrowheads="1"/>
          </p:cNvSpPr>
          <p:nvPr/>
        </p:nvSpPr>
        <p:spPr bwMode="auto">
          <a:xfrm>
            <a:off x="3505200" y="5105400"/>
            <a:ext cx="4419600" cy="609600"/>
          </a:xfrm>
          <a:prstGeom prst="rect">
            <a:avLst/>
          </a:prstGeom>
          <a:solidFill>
            <a:srgbClr val="FFF4CA"/>
          </a:solidFill>
          <a:ln w="28575">
            <a:solidFill>
              <a:srgbClr val="585858"/>
            </a:solidFill>
            <a:miter lim="800000"/>
            <a:headEnd/>
            <a:tailEnd/>
          </a:ln>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pPr>
            <a:r>
              <a:rPr lang="en-US" altLang="zh-CN" sz="1800" dirty="0"/>
              <a:t>Project scheduling</a:t>
            </a:r>
            <a:r>
              <a:rPr lang="zh-CN" altLang="en-US" sz="1800" dirty="0"/>
              <a:t>（项目调度）</a:t>
            </a:r>
          </a:p>
        </p:txBody>
      </p:sp>
      <p:cxnSp>
        <p:nvCxnSpPr>
          <p:cNvPr id="20488" name="直接连接符 28"/>
          <p:cNvCxnSpPr>
            <a:cxnSpLocks noChangeShapeType="1"/>
          </p:cNvCxnSpPr>
          <p:nvPr/>
        </p:nvCxnSpPr>
        <p:spPr bwMode="auto">
          <a:xfrm>
            <a:off x="5715000" y="1828800"/>
            <a:ext cx="0" cy="53340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cxnSp>
      <p:cxnSp>
        <p:nvCxnSpPr>
          <p:cNvPr id="20489" name="直接连接符 30"/>
          <p:cNvCxnSpPr>
            <a:cxnSpLocks noChangeShapeType="1"/>
          </p:cNvCxnSpPr>
          <p:nvPr/>
        </p:nvCxnSpPr>
        <p:spPr bwMode="auto">
          <a:xfrm>
            <a:off x="5715000" y="3657600"/>
            <a:ext cx="0" cy="53340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cxnSp>
      <p:cxnSp>
        <p:nvCxnSpPr>
          <p:cNvPr id="20490" name="直接连接符 32"/>
          <p:cNvCxnSpPr>
            <a:cxnSpLocks noChangeShapeType="1"/>
          </p:cNvCxnSpPr>
          <p:nvPr/>
        </p:nvCxnSpPr>
        <p:spPr bwMode="auto">
          <a:xfrm>
            <a:off x="5715000" y="4800600"/>
            <a:ext cx="0" cy="30480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cxnSp>
      <p:cxnSp>
        <p:nvCxnSpPr>
          <p:cNvPr id="20491" name="直接连接符 34"/>
          <p:cNvCxnSpPr>
            <a:cxnSpLocks noChangeShapeType="1"/>
          </p:cNvCxnSpPr>
          <p:nvPr/>
        </p:nvCxnSpPr>
        <p:spPr bwMode="auto">
          <a:xfrm>
            <a:off x="685800" y="2209800"/>
            <a:ext cx="7391400" cy="1588"/>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cxnSp>
      <p:cxnSp>
        <p:nvCxnSpPr>
          <p:cNvPr id="20492" name="直接连接符 35"/>
          <p:cNvCxnSpPr>
            <a:cxnSpLocks noChangeShapeType="1"/>
          </p:cNvCxnSpPr>
          <p:nvPr/>
        </p:nvCxnSpPr>
        <p:spPr bwMode="auto">
          <a:xfrm>
            <a:off x="685800" y="3886200"/>
            <a:ext cx="7391400" cy="1588"/>
          </a:xfrm>
          <a:prstGeom prst="line">
            <a:avLst/>
          </a:prstGeom>
          <a:noFill/>
          <a:ln w="12700">
            <a:solidFill>
              <a:srgbClr val="777777"/>
            </a:solidFill>
            <a:prstDash val="dash"/>
            <a:round/>
            <a:headEnd/>
            <a:tailEnd/>
          </a:ln>
          <a:extLst>
            <a:ext uri="{909E8E84-426E-40DD-AFC4-6F175D3DCCD1}">
              <a14:hiddenFill xmlns:a14="http://schemas.microsoft.com/office/drawing/2010/main">
                <a:noFill/>
              </a14:hiddenFill>
            </a:ext>
          </a:extLst>
        </p:spPr>
      </p:cxnSp>
      <p:sp>
        <p:nvSpPr>
          <p:cNvPr id="20493" name="TextBox 37"/>
          <p:cNvSpPr txBox="1">
            <a:spLocks noChangeArrowheads="1"/>
          </p:cNvSpPr>
          <p:nvPr/>
        </p:nvSpPr>
        <p:spPr bwMode="auto">
          <a:xfrm>
            <a:off x="685800" y="13716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pPr>
            <a:r>
              <a:rPr lang="en-US" altLang="zh-CN" sz="1800">
                <a:solidFill>
                  <a:srgbClr val="0000FF"/>
                </a:solidFill>
                <a:ea typeface="宋体" panose="02010600030101010101" pitchFamily="2" charset="-122"/>
              </a:rPr>
              <a:t>Aggregate Planning</a:t>
            </a:r>
            <a:endParaRPr lang="zh-CN" altLang="en-US" sz="1800">
              <a:solidFill>
                <a:srgbClr val="0000FF"/>
              </a:solidFill>
              <a:ea typeface="宋体" panose="02010600030101010101" pitchFamily="2" charset="-122"/>
            </a:endParaRPr>
          </a:p>
        </p:txBody>
      </p:sp>
      <p:sp>
        <p:nvSpPr>
          <p:cNvPr id="20494" name="TextBox 38"/>
          <p:cNvSpPr txBox="1">
            <a:spLocks noChangeArrowheads="1"/>
          </p:cNvSpPr>
          <p:nvPr/>
        </p:nvSpPr>
        <p:spPr bwMode="auto">
          <a:xfrm>
            <a:off x="685800" y="2667000"/>
            <a:ext cx="2590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pPr>
            <a:r>
              <a:rPr lang="en-US" altLang="zh-CN" sz="1800">
                <a:solidFill>
                  <a:srgbClr val="0000FF"/>
                </a:solidFill>
                <a:ea typeface="宋体" panose="02010600030101010101" pitchFamily="2" charset="-122"/>
              </a:rPr>
              <a:t>Production Planning and Control</a:t>
            </a:r>
            <a:endParaRPr lang="zh-CN" altLang="en-US" sz="1800">
              <a:solidFill>
                <a:srgbClr val="0000FF"/>
              </a:solidFill>
              <a:ea typeface="宋体" panose="02010600030101010101" pitchFamily="2" charset="-122"/>
            </a:endParaRPr>
          </a:p>
        </p:txBody>
      </p:sp>
      <p:sp>
        <p:nvSpPr>
          <p:cNvPr id="20495" name="TextBox 39"/>
          <p:cNvSpPr txBox="1">
            <a:spLocks noChangeArrowheads="1"/>
          </p:cNvSpPr>
          <p:nvPr/>
        </p:nvSpPr>
        <p:spPr bwMode="auto">
          <a:xfrm>
            <a:off x="762000" y="4800600"/>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pPr>
            <a:r>
              <a:rPr lang="en-US" altLang="zh-CN" sz="1800" dirty="0">
                <a:solidFill>
                  <a:srgbClr val="0000FF"/>
                </a:solidFill>
                <a:ea typeface="宋体" panose="02010600030101010101" pitchFamily="2" charset="-122"/>
              </a:rPr>
              <a:t>Scheduling</a:t>
            </a:r>
            <a:endParaRPr lang="zh-CN" altLang="en-US" sz="1800" dirty="0">
              <a:solidFill>
                <a:srgbClr val="0000FF"/>
              </a:solidFill>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9"/>
          <p:cNvSpPr txBox="1">
            <a:spLocks noChangeArrowheads="1"/>
          </p:cNvSpPr>
          <p:nvPr/>
        </p:nvSpPr>
        <p:spPr bwMode="auto">
          <a:xfrm>
            <a:off x="1143000" y="5311347"/>
            <a:ext cx="71628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pPr>
            <a:r>
              <a:rPr lang="en-US" altLang="zh-CN" sz="2400" dirty="0">
                <a:solidFill>
                  <a:srgbClr val="0000FF"/>
                </a:solidFill>
                <a:ea typeface="宋体" panose="02010600030101010101" pitchFamily="2" charset="-122"/>
              </a:rPr>
              <a:t>Scheduling</a:t>
            </a:r>
            <a:r>
              <a:rPr lang="zh-CN" altLang="en-US" sz="2400" dirty="0">
                <a:solidFill>
                  <a:srgbClr val="0000FF"/>
                </a:solidFill>
                <a:ea typeface="宋体" panose="02010600030101010101" pitchFamily="2" charset="-122"/>
              </a:rPr>
              <a:t>：排序，调度，安排时间表，编排进度，编制作业计划</a:t>
            </a: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76600" y="914400"/>
            <a:ext cx="2895600" cy="4046416"/>
          </a:xfrm>
          <a:prstGeom prst="rect">
            <a:avLst/>
          </a:prstGeom>
          <a:solidFill>
            <a:schemeClr val="accent3">
              <a:lumMod val="20000"/>
              <a:lumOff val="80000"/>
            </a:schemeClr>
          </a:solidFill>
          <a:ln>
            <a:solidFill>
              <a:srgbClr val="0070C0"/>
            </a:solidFill>
          </a:ln>
        </p:spPr>
      </p:pic>
    </p:spTree>
    <p:extLst>
      <p:ext uri="{BB962C8B-B14F-4D97-AF65-F5344CB8AC3E}">
        <p14:creationId xmlns:p14="http://schemas.microsoft.com/office/powerpoint/2010/main" val="1001096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56323"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Scheduling problems</a:t>
            </a:r>
          </a:p>
        </p:txBody>
      </p:sp>
      <p:sp>
        <p:nvSpPr>
          <p:cNvPr id="21508"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Production scheduling</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Personnel scheduling</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Facilities scheduling</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Vehicle scheduling</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Vendor scheduling</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Project scheduling</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Timetabling </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Dynamic vs. static scheduling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xfrm>
            <a:off x="457200" y="152400"/>
            <a:ext cx="7467600" cy="533400"/>
          </a:xfrm>
        </p:spPr>
        <p:txBody>
          <a:bodyPr>
            <a:normAutofit fontScale="90000"/>
          </a:bodyPr>
          <a:lstStyle/>
          <a:p>
            <a:pPr algn="ctr">
              <a:defRPr/>
            </a:pPr>
            <a:r>
              <a:rPr kumimoji="0" lang="en-US" altLang="zh-CN" sz="3200" b="1" cap="none" dirty="0">
                <a:latin typeface="Verdana" pitchFamily="34" charset="0"/>
                <a:ea typeface="宋体" pitchFamily="2" charset="-122"/>
              </a:rPr>
              <a:t>Scheduling Decisions</a:t>
            </a:r>
            <a:r>
              <a:rPr kumimoji="0" lang="zh-CN" altLang="en-US" sz="3200" b="1" cap="none" dirty="0">
                <a:latin typeface="Verdana" pitchFamily="34" charset="0"/>
                <a:ea typeface="宋体" pitchFamily="2" charset="-122"/>
              </a:rPr>
              <a:t>（调度决策）</a:t>
            </a:r>
          </a:p>
        </p:txBody>
      </p:sp>
      <p:sp>
        <p:nvSpPr>
          <p:cNvPr id="22531"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graphicFrame>
        <p:nvGraphicFramePr>
          <p:cNvPr id="6" name="Group 93"/>
          <p:cNvGraphicFramePr>
            <a:graphicFrameLocks noGrp="1"/>
          </p:cNvGraphicFramePr>
          <p:nvPr/>
        </p:nvGraphicFramePr>
        <p:xfrm>
          <a:off x="609600" y="1143000"/>
          <a:ext cx="7772400" cy="5060952"/>
        </p:xfrm>
        <a:graphic>
          <a:graphicData uri="http://schemas.openxmlformats.org/drawingml/2006/table">
            <a:tbl>
              <a:tblPr/>
              <a:tblGrid>
                <a:gridCol w="2298700">
                  <a:extLst>
                    <a:ext uri="{9D8B030D-6E8A-4147-A177-3AD203B41FA5}">
                      <a16:colId xmlns:a16="http://schemas.microsoft.com/office/drawing/2014/main" val="20000"/>
                    </a:ext>
                  </a:extLst>
                </a:gridCol>
                <a:gridCol w="5473700">
                  <a:extLst>
                    <a:ext uri="{9D8B030D-6E8A-4147-A177-3AD203B41FA5}">
                      <a16:colId xmlns:a16="http://schemas.microsoft.com/office/drawing/2014/main" val="20001"/>
                    </a:ext>
                  </a:extLst>
                </a:gridCol>
              </a:tblGrid>
              <a:tr h="406296">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outerShdw blurRad="38100" dist="38100" dir="2700000" algn="tl">
                              <a:srgbClr val="C0C0C0"/>
                            </a:outerShdw>
                          </a:effectLst>
                          <a:latin typeface="Arial" pitchFamily="34" charset="0"/>
                          <a:ea typeface="宋体" pitchFamily="2" charset="-122"/>
                        </a:rPr>
                        <a:t>Organization</a:t>
                      </a:r>
                    </a:p>
                  </a:txBody>
                  <a:tcPr marT="45703" marB="45703"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Managers Must Schedule the Following</a:t>
                      </a:r>
                    </a:p>
                  </a:txBody>
                  <a:tcPr marT="45703" marB="45703" anchor="ctr" horzOverflow="overflow">
                    <a:lnL>
                      <a:noFill/>
                    </a:lnL>
                    <a:lnR>
                      <a:noFill/>
                    </a:lnR>
                    <a:lnT w="381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7922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Arnold Palmer Hospital</a:t>
                      </a:r>
                    </a:p>
                  </a:txBody>
                  <a:tcPr marT="45703" marB="4570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Operating room use</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Patient admissions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Nursing, security, maintenance staffs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Outpatient treatments</a:t>
                      </a:r>
                    </a:p>
                  </a:txBody>
                  <a:tcPr marT="45703" marB="45703"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832070">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outerShdw blurRad="38100" dist="38100" dir="2700000" algn="tl">
                              <a:srgbClr val="C0C0C0"/>
                            </a:outerShdw>
                          </a:effectLst>
                          <a:latin typeface="Arial" pitchFamily="34" charset="0"/>
                          <a:ea typeface="宋体" pitchFamily="2" charset="-122"/>
                        </a:rPr>
                        <a:t>HUST</a:t>
                      </a:r>
                    </a:p>
                  </a:txBody>
                  <a:tcPr marT="45703" marB="45703"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Classrooms and audiovisual equipment</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Student and instructor schedules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Graduate and undergraduate courses</a:t>
                      </a:r>
                    </a:p>
                  </a:txBody>
                  <a:tcPr marT="45703" marB="4570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832070">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dirty="0">
                          <a:ln>
                            <a:noFill/>
                          </a:ln>
                          <a:solidFill>
                            <a:schemeClr val="tx1"/>
                          </a:solidFill>
                          <a:effectLst>
                            <a:outerShdw blurRad="38100" dist="38100" dir="2700000" algn="tl">
                              <a:srgbClr val="C0C0C0"/>
                            </a:outerShdw>
                          </a:effectLst>
                          <a:latin typeface="Arial" pitchFamily="34" charset="0"/>
                          <a:ea typeface="宋体" pitchFamily="2" charset="-122"/>
                        </a:rPr>
                        <a:t>Lockheed-Martin factory</a:t>
                      </a:r>
                    </a:p>
                  </a:txBody>
                  <a:tcPr marT="45703" marB="45703"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Production of goods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Purchases of materials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Workers</a:t>
                      </a:r>
                    </a:p>
                  </a:txBody>
                  <a:tcPr marT="45703" marB="4570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1079223">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Hard Rock Cafe</a:t>
                      </a:r>
                    </a:p>
                  </a:txBody>
                  <a:tcPr marT="45703" marB="45703"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Chef, waiters, bartenders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Delivery of fresh foods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Entertainers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Opening of dining areas</a:t>
                      </a:r>
                    </a:p>
                  </a:txBody>
                  <a:tcPr marT="45703" marB="45703"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832070">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Delta Airlines</a:t>
                      </a:r>
                    </a:p>
                  </a:txBody>
                  <a:tcPr marT="45703" marB="45703"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Maintenance of aircraft</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Departure timetables</a:t>
                      </a:r>
                    </a:p>
                    <a:p>
                      <a:pPr marL="0" marR="0" lvl="0" indent="0" algn="l" defTabSz="914400" rtl="0" eaLnBrk="1" fontAlgn="base" latinLnBrk="0" hangingPunct="1">
                        <a:lnSpc>
                          <a:spcPct val="9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outerShdw blurRad="38100" dist="38100" dir="2700000" algn="tl">
                              <a:srgbClr val="C0C0C0"/>
                            </a:outerShdw>
                          </a:effectLst>
                          <a:latin typeface="Arial" pitchFamily="34" charset="0"/>
                          <a:ea typeface="宋体" pitchFamily="2" charset="-122"/>
                        </a:rPr>
                        <a:t>Flight crews, catering, gate, ticketing personnel</a:t>
                      </a:r>
                    </a:p>
                  </a:txBody>
                  <a:tcPr marT="45703" marB="45703" horzOverflow="overflow">
                    <a:lnL>
                      <a:noFill/>
                    </a:lnL>
                    <a:lnR>
                      <a:noFill/>
                    </a:lnR>
                    <a:ln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6" fill="hold" nodeType="after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3"/>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58371" name="Rectangle 2"/>
          <p:cNvSpPr>
            <a:spLocks noGrp="1" noChangeArrowheads="1"/>
          </p:cNvSpPr>
          <p:nvPr>
            <p:ph type="title"/>
          </p:nvPr>
        </p:nvSpPr>
        <p:spPr>
          <a:xfrm>
            <a:off x="457200" y="152400"/>
            <a:ext cx="8229600" cy="533400"/>
          </a:xfrm>
        </p:spPr>
        <p:txBody>
          <a:bodyPr>
            <a:normAutofit fontScale="90000"/>
          </a:bodyPr>
          <a:lstStyle/>
          <a:p>
            <a:pPr algn="ctr" eaLnBrk="1" hangingPunct="1">
              <a:defRPr/>
            </a:pPr>
            <a:r>
              <a:rPr kumimoji="0" lang="en-US" altLang="zh-CN" b="1" dirty="0">
                <a:latin typeface="Verdana" charset="0"/>
                <a:cs typeface="宋体" charset="0"/>
              </a:rPr>
              <a:t>Scheduling Problem</a:t>
            </a:r>
          </a:p>
        </p:txBody>
      </p:sp>
      <p:sp>
        <p:nvSpPr>
          <p:cNvPr id="23556" name="Rectangle 3"/>
          <p:cNvSpPr>
            <a:spLocks noGrp="1" noChangeArrowheads="1"/>
          </p:cNvSpPr>
          <p:nvPr>
            <p:ph type="body" idx="1"/>
          </p:nvPr>
        </p:nvSpPr>
        <p:spPr/>
        <p:txBody>
          <a:bodyPr/>
          <a:lstStyle/>
          <a:p>
            <a:pPr marL="0" indent="0" eaLnBrk="1" hangingPunct="1"/>
            <a:r>
              <a:rPr lang="en-US" altLang="zh-CN" dirty="0">
                <a:latin typeface="Verdana" panose="020B0604030504040204" pitchFamily="34" charset="0"/>
                <a:ea typeface="宋体" panose="02010600030101010101" pitchFamily="2" charset="-122"/>
              </a:rPr>
              <a:t>Scheduling concerns optimal allocation or assignment of resources, over time, to a set of jobs, tasks or activities.</a:t>
            </a:r>
          </a:p>
          <a:p>
            <a:pPr marL="0" indent="0" eaLnBrk="1" hangingPunct="1"/>
            <a:r>
              <a:rPr lang="en-US" altLang="zh-CN" dirty="0">
                <a:latin typeface="Verdana" panose="020B0604030504040204" pitchFamily="34" charset="0"/>
                <a:ea typeface="宋体" panose="02010600030101010101" pitchFamily="2" charset="-122"/>
              </a:rPr>
              <a:t>Combinatorial optimization problem</a:t>
            </a:r>
          </a:p>
          <a:p>
            <a:pPr marL="0" indent="0" eaLnBrk="1" hangingPunct="1">
              <a:buFont typeface="Wingdings" panose="05000000000000000000" pitchFamily="2" charset="2"/>
              <a:buNone/>
            </a:pPr>
            <a:endParaRPr lang="en-US" altLang="zh-CN" dirty="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dirty="0">
                <a:latin typeface="Verdana" panose="020B0604030504040204" pitchFamily="34" charset="0"/>
                <a:ea typeface="宋体" panose="02010600030101010101" pitchFamily="2" charset="-122"/>
              </a:rPr>
              <a:t>			Maximize profit</a:t>
            </a:r>
          </a:p>
          <a:p>
            <a:pPr marL="0" indent="0" eaLnBrk="1" hangingPunct="1">
              <a:buFont typeface="Wingdings" panose="05000000000000000000" pitchFamily="2" charset="2"/>
              <a:buNone/>
            </a:pPr>
            <a:r>
              <a:rPr lang="en-US" altLang="zh-CN" dirty="0">
                <a:latin typeface="Verdana" panose="020B0604030504040204" pitchFamily="34" charset="0"/>
                <a:ea typeface="宋体" panose="02010600030101010101" pitchFamily="2" charset="-122"/>
              </a:rPr>
              <a:t>			Subject to constraints</a:t>
            </a:r>
          </a:p>
          <a:p>
            <a:pPr marL="0" indent="0" eaLnBrk="1" hangingPunct="1">
              <a:buFont typeface="Wingdings" panose="05000000000000000000" pitchFamily="2" charset="2"/>
              <a:buNone/>
            </a:pPr>
            <a:endParaRPr lang="en-US" altLang="zh-CN" dirty="0">
              <a:latin typeface="Verdana" panose="020B0604030504040204" pitchFamily="34" charset="0"/>
              <a:ea typeface="宋体" panose="02010600030101010101" pitchFamily="2" charset="-122"/>
            </a:endParaRPr>
          </a:p>
          <a:p>
            <a:pPr marL="0" indent="0" eaLnBrk="1" hangingPunct="1"/>
            <a:r>
              <a:rPr lang="en-US" altLang="zh-CN" dirty="0">
                <a:latin typeface="Verdana" panose="020B0604030504040204" pitchFamily="34" charset="0"/>
                <a:ea typeface="宋体" panose="02010600030101010101" pitchFamily="2" charset="-122"/>
              </a:rPr>
              <a:t>Mathematical techniques and heuristics</a:t>
            </a:r>
          </a:p>
          <a:p>
            <a:pPr marL="0" indent="0" eaLnBrk="1" hangingPunct="1"/>
            <a:endParaRPr lang="en-US" altLang="zh-CN" dirty="0">
              <a:latin typeface="Verdana" panose="020B0604030504040204" pitchFamily="34" charset="0"/>
              <a:ea typeface="宋体" panose="02010600030101010101" pitchFamily="2" charset="-122"/>
            </a:endParaRPr>
          </a:p>
          <a:p>
            <a:pPr marL="0" indent="0" eaLnBrk="1" hangingPunct="1">
              <a:lnSpc>
                <a:spcPct val="150000"/>
              </a:lnSpc>
            </a:pPr>
            <a:r>
              <a:rPr lang="en-US" altLang="zh-CN" dirty="0">
                <a:latin typeface="Verdana" panose="020B0604030504040204" pitchFamily="34" charset="0"/>
                <a:ea typeface="宋体" panose="02010600030101010101" pitchFamily="2" charset="-122"/>
              </a:rPr>
              <a:t>Job</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		</a:t>
            </a:r>
            <a:r>
              <a:rPr lang="zh-CN" altLang="en-US" dirty="0">
                <a:latin typeface="Verdana" panose="020B0604030504040204" pitchFamily="34" charset="0"/>
                <a:ea typeface="宋体" panose="02010600030101010101" pitchFamily="2" charset="-122"/>
              </a:rPr>
              <a:t>工件</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任务，被加工的对象，需要完成的任务</a:t>
            </a:r>
            <a:endParaRPr lang="en-US" altLang="zh-CN" dirty="0">
              <a:latin typeface="Verdana" panose="020B0604030504040204" pitchFamily="34" charset="0"/>
              <a:ea typeface="宋体" panose="02010600030101010101" pitchFamily="2" charset="-122"/>
            </a:endParaRPr>
          </a:p>
          <a:p>
            <a:pPr marL="0" indent="0" eaLnBrk="1" hangingPunct="1">
              <a:lnSpc>
                <a:spcPct val="150000"/>
              </a:lnSpc>
            </a:pPr>
            <a:r>
              <a:rPr lang="en-US" altLang="zh-CN" dirty="0">
                <a:latin typeface="Verdana" panose="020B0604030504040204" pitchFamily="34" charset="0"/>
                <a:ea typeface="宋体" panose="02010600030101010101" pitchFamily="2" charset="-122"/>
              </a:rPr>
              <a:t>Resources</a:t>
            </a:r>
            <a:r>
              <a:rPr lang="zh-CN" altLang="en-US" dirty="0">
                <a:latin typeface="Verdana" panose="020B0604030504040204" pitchFamily="34" charset="0"/>
                <a:ea typeface="宋体" panose="02010600030101010101" pitchFamily="2" charset="-122"/>
              </a:rPr>
              <a:t>：</a:t>
            </a:r>
            <a:r>
              <a:rPr lang="en-US" altLang="zh-CN" dirty="0">
                <a:latin typeface="Verdana" panose="020B0604030504040204" pitchFamily="34" charset="0"/>
                <a:ea typeface="宋体" panose="02010600030101010101" pitchFamily="2" charset="-122"/>
              </a:rPr>
              <a:t>	</a:t>
            </a:r>
            <a:r>
              <a:rPr lang="zh-CN" altLang="en-US" dirty="0">
                <a:latin typeface="Verdana" panose="020B0604030504040204" pitchFamily="34" charset="0"/>
                <a:ea typeface="宋体" panose="02010600030101010101" pitchFamily="2" charset="-122"/>
              </a:rPr>
              <a:t>资源 </a:t>
            </a:r>
            <a:r>
              <a:rPr lang="en-US" altLang="zh-CN" dirty="0">
                <a:latin typeface="Verdana" panose="020B0604030504040204" pitchFamily="34" charset="0"/>
                <a:ea typeface="宋体" panose="02010600030101010101" pitchFamily="2" charset="-122"/>
              </a:rPr>
              <a:t>/ </a:t>
            </a:r>
            <a:r>
              <a:rPr lang="zh-CN" altLang="en-US" dirty="0">
                <a:latin typeface="Verdana" panose="020B0604030504040204" pitchFamily="34" charset="0"/>
                <a:ea typeface="宋体" panose="02010600030101010101" pitchFamily="2" charset="-122"/>
              </a:rPr>
              <a:t>机器 </a:t>
            </a:r>
            <a:r>
              <a:rPr lang="en-US" altLang="zh-CN" dirty="0">
                <a:latin typeface="Verdana" panose="020B0604030504040204" pitchFamily="34" charset="0"/>
                <a:ea typeface="宋体" panose="02010600030101010101" pitchFamily="2" charset="-122"/>
              </a:rPr>
              <a:t>(machine)</a:t>
            </a:r>
            <a:r>
              <a:rPr lang="zh-CN" altLang="en-US" dirty="0">
                <a:latin typeface="Verdana" panose="020B0604030504040204" pitchFamily="34" charset="0"/>
                <a:ea typeface="宋体" panose="02010600030101010101" pitchFamily="2" charset="-122"/>
              </a:rPr>
              <a:t>，对工件进行加工的主体，完</a:t>
            </a:r>
            <a:r>
              <a:rPr lang="en-US" altLang="zh-CN" dirty="0">
                <a:latin typeface="Verdana" panose="020B0604030504040204" pitchFamily="34" charset="0"/>
                <a:ea typeface="宋体" panose="02010600030101010101" pitchFamily="2" charset="-122"/>
              </a:rPr>
              <a:t>		</a:t>
            </a:r>
            <a:r>
              <a:rPr lang="zh-CN" altLang="en-US" dirty="0">
                <a:latin typeface="Verdana" panose="020B0604030504040204" pitchFamily="34" charset="0"/>
                <a:ea typeface="宋体" panose="02010600030101010101" pitchFamily="2" charset="-122"/>
              </a:rPr>
              <a:t>成任务所需要的资源</a:t>
            </a:r>
            <a:endParaRPr lang="en-US" altLang="zh-CN" dirty="0">
              <a:latin typeface="Verdana" panose="020B0604030504040204" pitchFamily="34"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8"/>
          <p:cNvSpPr txBox="1">
            <a:spLocks noChangeArrowheads="1"/>
          </p:cNvSpPr>
          <p:nvPr/>
        </p:nvSpPr>
        <p:spPr bwMode="auto">
          <a:xfrm>
            <a:off x="304800" y="4605337"/>
            <a:ext cx="8458200" cy="208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0000"/>
              </a:lnSpc>
              <a:buFontTx/>
              <a:buChar char="•"/>
              <a:defRPr/>
            </a:pPr>
            <a:r>
              <a:rPr lang="en-US" altLang="zh-CN" dirty="0" err="1">
                <a:effectLst>
                  <a:outerShdw blurRad="38100" dist="38100" dir="2700000" algn="tl">
                    <a:srgbClr val="C0C0C0"/>
                  </a:outerShdw>
                </a:effectLst>
                <a:latin typeface="Arial" charset="0"/>
              </a:rPr>
              <a:t>Nahmias</a:t>
            </a:r>
            <a:r>
              <a:rPr lang="en-US" altLang="zh-CN" dirty="0">
                <a:effectLst>
                  <a:outerShdw blurRad="38100" dist="38100" dir="2700000" algn="tl">
                    <a:srgbClr val="C0C0C0"/>
                  </a:outerShdw>
                </a:effectLst>
                <a:latin typeface="Arial" charset="0"/>
              </a:rPr>
              <a:t> S. Production and Operations Analysis</a:t>
            </a:r>
            <a:r>
              <a:rPr lang="zh-CN" altLang="en-US" dirty="0">
                <a:effectLst>
                  <a:outerShdw blurRad="38100" dist="38100" dir="2700000" algn="tl">
                    <a:srgbClr val="C0C0C0"/>
                  </a:outerShdw>
                </a:effectLst>
                <a:latin typeface="Arial" charset="0"/>
              </a:rPr>
              <a:t> </a:t>
            </a:r>
            <a:r>
              <a:rPr lang="en-US" altLang="zh-CN" dirty="0">
                <a:effectLst>
                  <a:outerShdw blurRad="38100" dist="38100" dir="2700000" algn="tl">
                    <a:srgbClr val="C0C0C0"/>
                  </a:outerShdw>
                </a:effectLst>
                <a:latin typeface="Arial" charset="0"/>
              </a:rPr>
              <a:t>(7</a:t>
            </a:r>
            <a:r>
              <a:rPr lang="en-US" altLang="zh-CN" baseline="30000" dirty="0">
                <a:effectLst>
                  <a:outerShdw blurRad="38100" dist="38100" dir="2700000" algn="tl">
                    <a:srgbClr val="C0C0C0"/>
                  </a:outerShdw>
                </a:effectLst>
                <a:latin typeface="Arial" charset="0"/>
              </a:rPr>
              <a:t>th</a:t>
            </a:r>
            <a:r>
              <a:rPr lang="en-US" altLang="zh-CN" dirty="0">
                <a:effectLst>
                  <a:outerShdw blurRad="38100" dist="38100" dir="2700000" algn="tl">
                    <a:srgbClr val="C0C0C0"/>
                  </a:outerShdw>
                </a:effectLst>
                <a:latin typeface="Arial" charset="0"/>
              </a:rPr>
              <a:t> Edition). </a:t>
            </a:r>
            <a:r>
              <a:rPr lang="zh-CN" altLang="en-US" dirty="0">
                <a:effectLst>
                  <a:outerShdw blurRad="38100" dist="38100" dir="2700000" algn="tl">
                    <a:srgbClr val="C0C0C0"/>
                  </a:outerShdw>
                </a:effectLst>
                <a:latin typeface="Arial" charset="0"/>
              </a:rPr>
              <a:t>北京</a:t>
            </a:r>
            <a:r>
              <a:rPr lang="en-US" altLang="zh-CN" dirty="0">
                <a:effectLst>
                  <a:outerShdw blurRad="38100" dist="38100" dir="2700000" algn="tl">
                    <a:srgbClr val="C0C0C0"/>
                  </a:outerShdw>
                </a:effectLst>
                <a:latin typeface="Arial" charset="0"/>
              </a:rPr>
              <a:t>: </a:t>
            </a:r>
            <a:r>
              <a:rPr lang="zh-CN" altLang="en-US" dirty="0">
                <a:effectLst>
                  <a:outerShdw blurRad="38100" dist="38100" dir="2700000" algn="tl">
                    <a:srgbClr val="C0C0C0"/>
                  </a:outerShdw>
                </a:effectLst>
                <a:latin typeface="Arial" charset="0"/>
              </a:rPr>
              <a:t>清华大学出版社</a:t>
            </a:r>
            <a:r>
              <a:rPr lang="en-US" altLang="zh-CN" dirty="0">
                <a:effectLst>
                  <a:outerShdw blurRad="38100" dist="38100" dir="2700000" algn="tl">
                    <a:srgbClr val="C0C0C0"/>
                  </a:outerShdw>
                </a:effectLst>
                <a:latin typeface="Arial" charset="0"/>
              </a:rPr>
              <a:t>, 2018</a:t>
            </a:r>
          </a:p>
          <a:p>
            <a:pPr eaLnBrk="1" hangingPunct="1">
              <a:lnSpc>
                <a:spcPct val="120000"/>
              </a:lnSpc>
              <a:buFontTx/>
              <a:buChar char="•"/>
              <a:defRPr/>
            </a:pPr>
            <a:r>
              <a:rPr lang="zh-CN" altLang="en-US" dirty="0">
                <a:effectLst>
                  <a:outerShdw blurRad="38100" dist="38100" dir="2700000" algn="tl">
                    <a:srgbClr val="C0C0C0"/>
                  </a:outerShdw>
                </a:effectLst>
                <a:latin typeface="Arial" charset="0"/>
              </a:rPr>
              <a:t>万国华</a:t>
            </a:r>
            <a:r>
              <a:rPr lang="en-US" altLang="zh-CN" dirty="0">
                <a:effectLst>
                  <a:outerShdw blurRad="38100" dist="38100" dir="2700000" algn="tl">
                    <a:srgbClr val="C0C0C0"/>
                  </a:outerShdw>
                </a:effectLst>
                <a:latin typeface="Arial" charset="0"/>
              </a:rPr>
              <a:t>. </a:t>
            </a:r>
            <a:r>
              <a:rPr lang="zh-CN" altLang="en-US" dirty="0">
                <a:effectLst>
                  <a:outerShdw blurRad="38100" dist="38100" dir="2700000" algn="tl">
                    <a:srgbClr val="C0C0C0"/>
                  </a:outerShdw>
                </a:effectLst>
                <a:latin typeface="Arial" charset="0"/>
              </a:rPr>
              <a:t>排序与调度的理论、模型和算法</a:t>
            </a:r>
            <a:r>
              <a:rPr lang="en-US" altLang="zh-CN" dirty="0">
                <a:effectLst>
                  <a:outerShdw blurRad="38100" dist="38100" dir="2700000" algn="tl">
                    <a:srgbClr val="C0C0C0"/>
                  </a:outerShdw>
                </a:effectLst>
                <a:latin typeface="Arial" charset="0"/>
              </a:rPr>
              <a:t>. </a:t>
            </a:r>
            <a:r>
              <a:rPr lang="zh-CN" altLang="en-US" dirty="0">
                <a:effectLst>
                  <a:outerShdw blurRad="38100" dist="38100" dir="2700000" algn="tl">
                    <a:srgbClr val="C0C0C0"/>
                  </a:outerShdw>
                </a:effectLst>
                <a:latin typeface="Arial" charset="0"/>
              </a:rPr>
              <a:t>北京</a:t>
            </a:r>
            <a:r>
              <a:rPr lang="en-US" altLang="zh-CN" dirty="0">
                <a:effectLst>
                  <a:outerShdw blurRad="38100" dist="38100" dir="2700000" algn="tl">
                    <a:srgbClr val="C0C0C0"/>
                  </a:outerShdw>
                </a:effectLst>
                <a:latin typeface="Arial" charset="0"/>
              </a:rPr>
              <a:t>: </a:t>
            </a:r>
            <a:r>
              <a:rPr lang="zh-CN" altLang="en-US" dirty="0">
                <a:effectLst>
                  <a:outerShdw blurRad="38100" dist="38100" dir="2700000" algn="tl">
                    <a:srgbClr val="C0C0C0"/>
                  </a:outerShdw>
                </a:effectLst>
                <a:latin typeface="Arial" charset="0"/>
              </a:rPr>
              <a:t>清华大学出版社</a:t>
            </a:r>
            <a:r>
              <a:rPr lang="en-US" altLang="zh-CN" dirty="0">
                <a:effectLst>
                  <a:outerShdw blurRad="38100" dist="38100" dir="2700000" algn="tl">
                    <a:srgbClr val="C0C0C0"/>
                  </a:outerShdw>
                </a:effectLst>
                <a:latin typeface="Arial" charset="0"/>
              </a:rPr>
              <a:t>, 2019</a:t>
            </a:r>
          </a:p>
          <a:p>
            <a:pPr eaLnBrk="1" hangingPunct="1">
              <a:lnSpc>
                <a:spcPct val="120000"/>
              </a:lnSpc>
              <a:buFontTx/>
              <a:buChar char="•"/>
              <a:defRPr/>
            </a:pPr>
            <a:r>
              <a:rPr lang="en-US" altLang="zh-CN" dirty="0" err="1">
                <a:effectLst>
                  <a:outerShdw blurRad="38100" dist="38100" dir="2700000" algn="tl">
                    <a:srgbClr val="C0C0C0"/>
                  </a:outerShdw>
                </a:effectLst>
                <a:latin typeface="Arial" charset="0"/>
              </a:rPr>
              <a:t>Pinedo</a:t>
            </a:r>
            <a:r>
              <a:rPr lang="en-US" altLang="zh-CN" dirty="0">
                <a:effectLst>
                  <a:outerShdw blurRad="38100" dist="38100" dir="2700000" algn="tl">
                    <a:srgbClr val="C0C0C0"/>
                  </a:outerShdw>
                </a:effectLst>
                <a:latin typeface="Arial" charset="0"/>
              </a:rPr>
              <a:t> M. Scheduling Theory, Algorithms and Systems (5</a:t>
            </a:r>
            <a:r>
              <a:rPr lang="en-US" altLang="zh-CN" baseline="30000" dirty="0">
                <a:effectLst>
                  <a:outerShdw blurRad="38100" dist="38100" dir="2700000" algn="tl">
                    <a:srgbClr val="C0C0C0"/>
                  </a:outerShdw>
                </a:effectLst>
                <a:latin typeface="Arial" charset="0"/>
              </a:rPr>
              <a:t>th</a:t>
            </a:r>
            <a:r>
              <a:rPr lang="en-US" altLang="zh-CN" dirty="0">
                <a:effectLst>
                  <a:outerShdw blurRad="38100" dist="38100" dir="2700000" algn="tl">
                    <a:srgbClr val="C0C0C0"/>
                  </a:outerShdw>
                </a:effectLst>
                <a:latin typeface="Arial" charset="0"/>
              </a:rPr>
              <a:t> Edition). New York: Springer-</a:t>
            </a:r>
            <a:r>
              <a:rPr lang="en-US" altLang="zh-CN" dirty="0" err="1">
                <a:effectLst>
                  <a:outerShdw blurRad="38100" dist="38100" dir="2700000" algn="tl">
                    <a:srgbClr val="C0C0C0"/>
                  </a:outerShdw>
                </a:effectLst>
                <a:latin typeface="Arial" charset="0"/>
              </a:rPr>
              <a:t>Verlag</a:t>
            </a:r>
            <a:r>
              <a:rPr lang="en-US" altLang="zh-CN" dirty="0">
                <a:effectLst>
                  <a:outerShdw blurRad="38100" dist="38100" dir="2700000" algn="tl">
                    <a:srgbClr val="C0C0C0"/>
                  </a:outerShdw>
                </a:effectLst>
                <a:latin typeface="Arial" charset="0"/>
              </a:rPr>
              <a:t>, 2016</a:t>
            </a:r>
          </a:p>
          <a:p>
            <a:pPr eaLnBrk="1" hangingPunct="1">
              <a:lnSpc>
                <a:spcPct val="120000"/>
              </a:lnSpc>
              <a:buFontTx/>
              <a:buChar char="•"/>
              <a:defRPr/>
            </a:pPr>
            <a:r>
              <a:rPr lang="zh-CN" altLang="en-US" dirty="0">
                <a:effectLst>
                  <a:outerShdw blurRad="38100" dist="38100" dir="2700000" algn="tl">
                    <a:srgbClr val="C0C0C0"/>
                  </a:outerShdw>
                </a:effectLst>
                <a:latin typeface="Arial" charset="0"/>
              </a:rPr>
              <a:t>刘振元</a:t>
            </a:r>
            <a:r>
              <a:rPr lang="en-US" altLang="zh-CN" dirty="0">
                <a:effectLst>
                  <a:outerShdw blurRad="38100" dist="38100" dir="2700000" algn="tl">
                    <a:srgbClr val="C0C0C0"/>
                  </a:outerShdw>
                </a:effectLst>
                <a:latin typeface="Arial" charset="0"/>
              </a:rPr>
              <a:t>. </a:t>
            </a:r>
            <a:r>
              <a:rPr lang="zh-CN" altLang="en-US" dirty="0">
                <a:effectLst>
                  <a:outerShdw blurRad="38100" dist="38100" dir="2700000" algn="tl">
                    <a:srgbClr val="C0C0C0"/>
                  </a:outerShdw>
                </a:effectLst>
                <a:latin typeface="Arial" charset="0"/>
              </a:rPr>
              <a:t>服务系统中的多技能人员调度</a:t>
            </a:r>
            <a:r>
              <a:rPr lang="en-US" altLang="zh-CN" dirty="0">
                <a:effectLst>
                  <a:outerShdw blurRad="38100" dist="38100" dir="2700000" algn="tl">
                    <a:srgbClr val="C0C0C0"/>
                  </a:outerShdw>
                </a:effectLst>
                <a:latin typeface="Arial" charset="0"/>
              </a:rPr>
              <a:t>. </a:t>
            </a:r>
            <a:r>
              <a:rPr lang="zh-CN" altLang="en-US" dirty="0">
                <a:effectLst>
                  <a:outerShdw blurRad="38100" dist="38100" dir="2700000" algn="tl">
                    <a:srgbClr val="C0C0C0"/>
                  </a:outerShdw>
                </a:effectLst>
                <a:latin typeface="Arial" charset="0"/>
              </a:rPr>
              <a:t>北京</a:t>
            </a:r>
            <a:r>
              <a:rPr lang="en-US" altLang="zh-CN" dirty="0">
                <a:effectLst>
                  <a:outerShdw blurRad="38100" dist="38100" dir="2700000" algn="tl">
                    <a:srgbClr val="C0C0C0"/>
                  </a:outerShdw>
                </a:effectLst>
                <a:latin typeface="Arial" charset="0"/>
              </a:rPr>
              <a:t>: </a:t>
            </a:r>
            <a:r>
              <a:rPr lang="zh-CN" altLang="en-US" dirty="0">
                <a:effectLst>
                  <a:outerShdw blurRad="38100" dist="38100" dir="2700000" algn="tl">
                    <a:srgbClr val="C0C0C0"/>
                  </a:outerShdw>
                </a:effectLst>
                <a:latin typeface="Arial" charset="0"/>
              </a:rPr>
              <a:t>清华大学出版社</a:t>
            </a:r>
            <a:r>
              <a:rPr lang="en-US" altLang="zh-CN" dirty="0">
                <a:effectLst>
                  <a:outerShdw blurRad="38100" dist="38100" dir="2700000" algn="tl">
                    <a:srgbClr val="C0C0C0"/>
                  </a:outerShdw>
                </a:effectLst>
                <a:latin typeface="Arial" charset="0"/>
              </a:rPr>
              <a:t>, 2019</a:t>
            </a:r>
          </a:p>
        </p:txBody>
      </p:sp>
      <p:sp>
        <p:nvSpPr>
          <p:cNvPr id="8" name="Rectangle 7"/>
          <p:cNvSpPr txBox="1">
            <a:spLocks noChangeArrowheads="1"/>
          </p:cNvSpPr>
          <p:nvPr/>
        </p:nvSpPr>
        <p:spPr>
          <a:xfrm>
            <a:off x="457200" y="609600"/>
            <a:ext cx="8229600" cy="660400"/>
          </a:xfrm>
          <a:prstGeom prst="rect">
            <a:avLst/>
          </a:prstGeom>
        </p:spPr>
        <p:txBody>
          <a:bodyP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C0C0C0"/>
                  </a:outerShdw>
                </a:effectLst>
              </a:rPr>
              <a:t>参考书</a:t>
            </a:r>
          </a:p>
        </p:txBody>
      </p:sp>
      <p:pic>
        <p:nvPicPr>
          <p:cNvPr id="20486" name="图片 8"/>
          <p:cNvPicPr>
            <a:picLocks noChangeAspect="1"/>
          </p:cNvPicPr>
          <p:nvPr/>
        </p:nvPicPr>
        <p:blipFill>
          <a:blip r:embed="rId2">
            <a:extLst>
              <a:ext uri="{28A0092B-C50C-407E-A947-70E740481C1C}">
                <a14:useLocalDpi xmlns:a14="http://schemas.microsoft.com/office/drawing/2010/main" val="0"/>
              </a:ext>
            </a:extLst>
          </a:blip>
          <a:srcRect l="15999" t="2458" r="12354"/>
          <a:stretch>
            <a:fillRect/>
          </a:stretch>
        </p:blipFill>
        <p:spPr bwMode="auto">
          <a:xfrm>
            <a:off x="314512" y="1508918"/>
            <a:ext cx="2087562"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030" y="1637987"/>
            <a:ext cx="1905000" cy="2662116"/>
          </a:xfrm>
          <a:prstGeom prst="rect">
            <a:avLst/>
          </a:prstGeom>
          <a:solidFill>
            <a:schemeClr val="accent3">
              <a:lumMod val="20000"/>
              <a:lumOff val="80000"/>
            </a:schemeClr>
          </a:solidFill>
          <a:ln>
            <a:solidFill>
              <a:srgbClr val="0070C0"/>
            </a:solidFill>
          </a:ln>
        </p:spPr>
      </p:pic>
      <p:pic>
        <p:nvPicPr>
          <p:cNvPr id="4" name="图片 3"/>
          <p:cNvPicPr>
            <a:picLocks noChangeAspect="1"/>
          </p:cNvPicPr>
          <p:nvPr/>
        </p:nvPicPr>
        <p:blipFill>
          <a:blip r:embed="rId4"/>
          <a:stretch>
            <a:fillRect/>
          </a:stretch>
        </p:blipFill>
        <p:spPr>
          <a:xfrm>
            <a:off x="4532986" y="1644663"/>
            <a:ext cx="1957574" cy="2662116"/>
          </a:xfrm>
          <a:prstGeom prst="rect">
            <a:avLst/>
          </a:prstGeom>
          <a:ln>
            <a:solidFill>
              <a:srgbClr val="0070C0"/>
            </a:solidFill>
          </a:ln>
        </p:spPr>
      </p:pic>
      <p:pic>
        <p:nvPicPr>
          <p:cNvPr id="5" name="图片 4"/>
          <p:cNvPicPr>
            <a:picLocks noChangeAspect="1"/>
          </p:cNvPicPr>
          <p:nvPr/>
        </p:nvPicPr>
        <p:blipFill rotWithShape="1">
          <a:blip r:embed="rId5" cstate="print">
            <a:extLst>
              <a:ext uri="{28A0092B-C50C-407E-A947-70E740481C1C}">
                <a14:useLocalDpi xmlns:a14="http://schemas.microsoft.com/office/drawing/2010/main" val="0"/>
              </a:ext>
            </a:extLst>
          </a:blip>
          <a:srcRect l="17778" t="3333" r="13333" b="3333"/>
          <a:stretch/>
        </p:blipFill>
        <p:spPr>
          <a:xfrm>
            <a:off x="6603516" y="1543904"/>
            <a:ext cx="2083284" cy="2822514"/>
          </a:xfrm>
          <a:prstGeom prst="rect">
            <a:avLst/>
          </a:prstGeom>
        </p:spPr>
      </p:pic>
    </p:spTree>
    <p:extLst>
      <p:ext uri="{BB962C8B-B14F-4D97-AF65-F5344CB8AC3E}">
        <p14:creationId xmlns:p14="http://schemas.microsoft.com/office/powerpoint/2010/main" val="1643468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8. </a:t>
            </a:r>
            <a:r>
              <a:rPr lang="zh-CN" altLang="en-US" sz="3600" b="1" dirty="0">
                <a:solidFill>
                  <a:srgbClr val="FF0000"/>
                </a:solidFill>
                <a:effectLst>
                  <a:outerShdw blurRad="38100" dist="38100" dir="2700000" algn="tl">
                    <a:srgbClr val="C0C0C0"/>
                  </a:outerShdw>
                </a:effectLst>
                <a:latin typeface="Times New Roman" pitchFamily="18" charset="0"/>
              </a:rPr>
              <a:t>生产调度</a:t>
            </a:r>
            <a:r>
              <a:rPr lang="en-US" altLang="zh-CN" sz="3600" b="1" dirty="0">
                <a:solidFill>
                  <a:srgbClr val="FF0000"/>
                </a:solidFill>
                <a:effectLst>
                  <a:outerShdw blurRad="38100" dist="38100" dir="2700000" algn="tl">
                    <a:srgbClr val="C0C0C0"/>
                  </a:outerShdw>
                </a:effectLst>
                <a:latin typeface="Times New Roman" pitchFamily="18" charset="0"/>
              </a:rPr>
              <a:t>(Production Scheduling)</a:t>
            </a:r>
            <a:endParaRPr lang="zh-CN" altLang="en-US" sz="3600" b="1" dirty="0">
              <a:solidFill>
                <a:srgbClr val="FF0000"/>
              </a:solidFill>
              <a:effectLst>
                <a:outerShdw blurRad="38100" dist="38100" dir="2700000" algn="tl">
                  <a:srgbClr val="C0C0C0"/>
                </a:outerShdw>
              </a:effectLst>
              <a:latin typeface="Times New Roman" pitchFamily="18" charset="0"/>
            </a:endParaRPr>
          </a:p>
        </p:txBody>
      </p:sp>
      <p:sp>
        <p:nvSpPr>
          <p:cNvPr id="104451" name="Rectangle 3"/>
          <p:cNvSpPr>
            <a:spLocks noGrp="1" noChangeArrowheads="1"/>
          </p:cNvSpPr>
          <p:nvPr>
            <p:ph type="body" idx="1"/>
          </p:nvPr>
        </p:nvSpPr>
        <p:spPr>
          <a:xfrm>
            <a:off x="1638300" y="1752600"/>
            <a:ext cx="5867400" cy="4648200"/>
          </a:xfrm>
        </p:spPr>
        <p:txBody>
          <a:bodyPr/>
          <a:lstStyle/>
          <a:p>
            <a:pPr eaLnBrk="1" hangingPunct="1">
              <a:lnSpc>
                <a:spcPct val="25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8.1 </a:t>
            </a:r>
            <a:r>
              <a:rPr lang="zh-CN" altLang="en-US" sz="2400" b="1" dirty="0">
                <a:effectLst>
                  <a:outerShdw blurRad="38100" dist="38100" dir="2700000" algn="tl">
                    <a:srgbClr val="C0C0C0"/>
                  </a:outerShdw>
                </a:effectLst>
                <a:latin typeface="Times New Roman" pitchFamily="18" charset="0"/>
              </a:rPr>
              <a:t>预备知识（</a:t>
            </a:r>
            <a:r>
              <a:rPr lang="en-GB" altLang="zh-CN" sz="2400" b="1" dirty="0">
                <a:effectLst>
                  <a:outerShdw blurRad="38100" dist="38100" dir="2700000" algn="tl">
                    <a:srgbClr val="C0C0C0"/>
                  </a:outerShdw>
                </a:effectLst>
                <a:latin typeface="Times New Roman" pitchFamily="18" charset="0"/>
              </a:rPr>
              <a:t>Preliminaries</a:t>
            </a:r>
            <a:r>
              <a:rPr lang="zh-CN" altLang="en-US" sz="2400" b="1" dirty="0">
                <a:effectLst>
                  <a:outerShdw blurRad="38100" dist="38100" dir="2700000" algn="tl">
                    <a:srgbClr val="C0C0C0"/>
                  </a:outerShdw>
                </a:effectLst>
                <a:latin typeface="Times New Roman" pitchFamily="18" charset="0"/>
              </a:rPr>
              <a:t>）</a:t>
            </a:r>
            <a:endParaRPr lang="en-US" altLang="zh-CN" sz="2400" b="1" dirty="0">
              <a:effectLst>
                <a:outerShdw blurRad="38100" dist="38100" dir="2700000" algn="tl">
                  <a:srgbClr val="C0C0C0"/>
                </a:outerShdw>
              </a:effectLst>
              <a:latin typeface="Times New Roman" pitchFamily="18" charset="0"/>
            </a:endParaRPr>
          </a:p>
          <a:p>
            <a:pPr eaLnBrk="1" hangingPunct="1">
              <a:lnSpc>
                <a:spcPct val="25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8.2 </a:t>
            </a:r>
            <a:r>
              <a:rPr lang="zh-CN" altLang="en-US" sz="2400" b="1" dirty="0">
                <a:effectLst>
                  <a:outerShdw blurRad="38100" dist="38100" dir="2700000" algn="tl">
                    <a:srgbClr val="C0C0C0"/>
                  </a:outerShdw>
                </a:effectLst>
                <a:latin typeface="Times New Roman" pitchFamily="18" charset="0"/>
              </a:rPr>
              <a:t>机器调度（</a:t>
            </a:r>
            <a:r>
              <a:rPr lang="en-US" altLang="zh-CN" sz="2400" b="1" dirty="0">
                <a:effectLst>
                  <a:outerShdw blurRad="38100" dist="38100" dir="2700000" algn="tl">
                    <a:srgbClr val="C0C0C0"/>
                  </a:outerShdw>
                </a:effectLst>
                <a:latin typeface="Times New Roman" pitchFamily="18" charset="0"/>
              </a:rPr>
              <a:t>Machine Scheduling</a:t>
            </a:r>
            <a:r>
              <a:rPr lang="zh-CN" altLang="en-US" sz="2400" b="1" dirty="0">
                <a:effectLst>
                  <a:outerShdw blurRad="38100" dist="38100" dir="2700000" algn="tl">
                    <a:srgbClr val="C0C0C0"/>
                  </a:outerShdw>
                </a:effectLst>
                <a:latin typeface="Times New Roman" pitchFamily="18" charset="0"/>
              </a:rPr>
              <a:t>）</a:t>
            </a:r>
          </a:p>
          <a:p>
            <a:pPr eaLnBrk="1" hangingPunct="1">
              <a:lnSpc>
                <a:spcPct val="25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8.3 </a:t>
            </a:r>
            <a:r>
              <a:rPr lang="zh-CN" altLang="en-US" sz="2400" b="1" dirty="0">
                <a:effectLst>
                  <a:outerShdw blurRad="38100" dist="38100" dir="2700000" algn="tl">
                    <a:srgbClr val="C0C0C0"/>
                  </a:outerShdw>
                </a:effectLst>
                <a:latin typeface="Times New Roman" pitchFamily="18" charset="0"/>
              </a:rPr>
              <a:t>异序作业调度（</a:t>
            </a:r>
            <a:r>
              <a:rPr lang="en-US" altLang="zh-CN" sz="2400" b="1" dirty="0">
                <a:effectLst>
                  <a:outerShdw blurRad="38100" dist="38100" dir="2700000" algn="tl">
                    <a:srgbClr val="C0C0C0"/>
                  </a:outerShdw>
                </a:effectLst>
                <a:latin typeface="Times New Roman" pitchFamily="18" charset="0"/>
              </a:rPr>
              <a:t>Job Shop Scheduling</a:t>
            </a:r>
            <a:r>
              <a:rPr lang="zh-CN" altLang="en-US" sz="2400" b="1" dirty="0">
                <a:effectLst>
                  <a:outerShdw blurRad="38100" dist="38100" dir="2700000" algn="tl">
                    <a:srgbClr val="C0C0C0"/>
                  </a:outerShdw>
                </a:effectLst>
                <a:latin typeface="Times New Roman" pitchFamily="18" charset="0"/>
              </a:rPr>
              <a:t>）</a:t>
            </a:r>
          </a:p>
        </p:txBody>
      </p:sp>
      <p:sp>
        <p:nvSpPr>
          <p:cNvPr id="5124" name="Rectangle 4"/>
          <p:cNvSpPr>
            <a:spLocks noChangeArrowheads="1"/>
          </p:cNvSpPr>
          <p:nvPr/>
        </p:nvSpPr>
        <p:spPr bwMode="auto">
          <a:xfrm>
            <a:off x="685800" y="0"/>
            <a:ext cx="807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600" b="1" i="0" u="none" strike="noStrike" kern="1200" cap="none" spc="0" normalizeH="0" baseline="0" noProof="0" dirty="0">
                <a:ln>
                  <a:noFill/>
                </a:ln>
                <a:solidFill>
                  <a:srgbClr val="FFFF00"/>
                </a:solidFill>
                <a:effectLst/>
                <a:uLnTx/>
                <a:uFillTx/>
                <a:latin typeface="Arial" panose="020B0604020202020204" pitchFamily="34" charset="0"/>
                <a:ea typeface="宋体" panose="02010600030101010101" pitchFamily="2" charset="-122"/>
                <a:cs typeface="+mn-cs"/>
              </a:rPr>
              <a:t>生产调度</a:t>
            </a:r>
          </a:p>
        </p:txBody>
      </p:sp>
    </p:spTree>
    <p:extLst>
      <p:ext uri="{BB962C8B-B14F-4D97-AF65-F5344CB8AC3E}">
        <p14:creationId xmlns:p14="http://schemas.microsoft.com/office/powerpoint/2010/main" val="11455568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14400" y="2743200"/>
            <a:ext cx="7391400" cy="563563"/>
          </a:xfrm>
        </p:spPr>
        <p:txBody>
          <a:bodyPr/>
          <a:lstStyle/>
          <a:p>
            <a:pPr eaLnBrk="1" hangingPunct="1">
              <a:defRPr/>
            </a:pPr>
            <a:r>
              <a:rPr kumimoji="0" lang="en-US" altLang="zh-CN" sz="2800" b="1" dirty="0">
                <a:solidFill>
                  <a:srgbClr val="3366FF"/>
                </a:solidFill>
                <a:effectLst>
                  <a:outerShdw blurRad="38100" dist="38100" dir="2700000" algn="tl">
                    <a:srgbClr val="000000">
                      <a:alpha val="43137"/>
                    </a:srgbClr>
                  </a:outerShdw>
                </a:effectLst>
                <a:latin typeface="Verdana" charset="0"/>
                <a:cs typeface="宋体" charset="0"/>
              </a:rPr>
              <a:t>8.1 </a:t>
            </a:r>
            <a:r>
              <a:rPr kumimoji="0" lang="zh-CN" altLang="en-US" sz="2800" b="1" dirty="0">
                <a:solidFill>
                  <a:srgbClr val="3366FF"/>
                </a:solidFill>
                <a:effectLst>
                  <a:outerShdw blurRad="38100" dist="38100" dir="2700000" algn="tl">
                    <a:srgbClr val="000000">
                      <a:alpha val="43137"/>
                    </a:srgbClr>
                  </a:outerShdw>
                </a:effectLst>
                <a:latin typeface="Verdana" charset="0"/>
                <a:cs typeface="宋体" charset="0"/>
              </a:rPr>
              <a:t>预备知识</a:t>
            </a:r>
            <a:r>
              <a:rPr kumimoji="0" lang="en-US" altLang="zh-CN" sz="2800" b="1" dirty="0">
                <a:solidFill>
                  <a:srgbClr val="3366FF"/>
                </a:solidFill>
                <a:effectLst>
                  <a:outerShdw blurRad="38100" dist="38100" dir="2700000" algn="tl">
                    <a:srgbClr val="000000">
                      <a:alpha val="43137"/>
                    </a:srgbClr>
                  </a:outerShdw>
                </a:effectLst>
                <a:latin typeface="Verdana" charset="0"/>
                <a:cs typeface="宋体" charset="0"/>
              </a:rPr>
              <a:t>(Preliminaries)</a:t>
            </a:r>
          </a:p>
        </p:txBody>
      </p:sp>
      <p:sp>
        <p:nvSpPr>
          <p:cNvPr id="2560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57200" y="152400"/>
            <a:ext cx="8534400" cy="533400"/>
          </a:xfrm>
        </p:spPr>
        <p:txBody>
          <a:bodyPr>
            <a:normAutofit fontScale="90000"/>
          </a:bodyPr>
          <a:lstStyle/>
          <a:p>
            <a:pPr eaLnBrk="1" hangingPunct="1">
              <a:defRPr/>
            </a:pPr>
            <a:r>
              <a:rPr kumimoji="0" lang="en-US" altLang="zh-CN" sz="2800" b="1" dirty="0">
                <a:latin typeface="Verdana" charset="0"/>
                <a:cs typeface="宋体" charset="0"/>
              </a:rPr>
              <a:t>Objectives of production scheduling</a:t>
            </a:r>
          </a:p>
        </p:txBody>
      </p:sp>
      <p:sp>
        <p:nvSpPr>
          <p:cNvPr id="26627"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dirty="0">
                <a:solidFill>
                  <a:srgbClr val="0000FF"/>
                </a:solidFill>
                <a:latin typeface="Verdana" panose="020B0604030504040204" pitchFamily="34" charset="0"/>
                <a:ea typeface="宋体" panose="02010600030101010101" pitchFamily="2" charset="-122"/>
              </a:rPr>
              <a:t>Meet due dates</a:t>
            </a:r>
            <a:r>
              <a:rPr lang="zh-CN" altLang="en-US" sz="2400" dirty="0">
                <a:latin typeface="Verdana" panose="020B0604030504040204" pitchFamily="34" charset="0"/>
                <a:ea typeface="宋体" panose="02010600030101010101" pitchFamily="2" charset="-122"/>
              </a:rPr>
              <a:t>：满足交货期</a:t>
            </a:r>
            <a:r>
              <a:rPr lang="en-US" altLang="zh-CN" sz="2400" dirty="0">
                <a:latin typeface="Verdana" panose="020B0604030504040204" pitchFamily="34" charset="0"/>
                <a:ea typeface="宋体" panose="02010600030101010101" pitchFamily="2" charset="-122"/>
              </a:rPr>
              <a:t>/</a:t>
            </a:r>
            <a:r>
              <a:rPr lang="zh-CN" altLang="en-US" sz="2400" dirty="0">
                <a:latin typeface="Verdana" panose="020B0604030504040204" pitchFamily="34" charset="0"/>
                <a:ea typeface="宋体" panose="02010600030101010101" pitchFamily="2" charset="-122"/>
              </a:rPr>
              <a:t>截止期</a:t>
            </a: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solidFill>
                  <a:srgbClr val="0000FF"/>
                </a:solidFill>
                <a:latin typeface="Verdana" panose="020B0604030504040204" pitchFamily="34" charset="0"/>
                <a:ea typeface="宋体" panose="02010600030101010101" pitchFamily="2" charset="-122"/>
              </a:rPr>
              <a:t>Minimize Work-in-process inventory</a:t>
            </a:r>
            <a:r>
              <a:rPr lang="zh-CN" altLang="en-US" sz="2400" dirty="0">
                <a:latin typeface="Verdana" panose="020B0604030504040204" pitchFamily="34" charset="0"/>
                <a:ea typeface="宋体" panose="02010600030101010101" pitchFamily="2" charset="-122"/>
              </a:rPr>
              <a:t>：最小化在</a:t>
            </a:r>
            <a:r>
              <a:rPr lang="en-US" altLang="zh-CN" sz="2400" dirty="0">
                <a:latin typeface="Verdana" panose="020B0604030504040204" pitchFamily="34" charset="0"/>
                <a:ea typeface="宋体" panose="02010600030101010101" pitchFamily="2" charset="-122"/>
              </a:rPr>
              <a:t>	</a:t>
            </a:r>
            <a:r>
              <a:rPr lang="zh-CN" altLang="en-US" sz="2400" dirty="0">
                <a:latin typeface="Verdana" panose="020B0604030504040204" pitchFamily="34" charset="0"/>
                <a:ea typeface="宋体" panose="02010600030101010101" pitchFamily="2" charset="-122"/>
              </a:rPr>
              <a:t>制品库存</a:t>
            </a: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solidFill>
                  <a:srgbClr val="0000FF"/>
                </a:solidFill>
                <a:latin typeface="Verdana" panose="020B0604030504040204" pitchFamily="34" charset="0"/>
                <a:ea typeface="宋体" panose="02010600030101010101" pitchFamily="2" charset="-122"/>
              </a:rPr>
              <a:t>Minimize the average flow time through the 	system</a:t>
            </a:r>
            <a:r>
              <a:rPr lang="zh-CN" altLang="en-US" sz="2400" dirty="0">
                <a:latin typeface="Verdana" panose="020B0604030504040204" pitchFamily="34" charset="0"/>
                <a:ea typeface="宋体" panose="02010600030101010101" pitchFamily="2" charset="-122"/>
              </a:rPr>
              <a:t>：最小化系统中的平均流时间</a:t>
            </a: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solidFill>
                  <a:srgbClr val="0000FF"/>
                </a:solidFill>
                <a:latin typeface="Verdana" panose="020B0604030504040204" pitchFamily="34" charset="0"/>
                <a:ea typeface="宋体" panose="02010600030101010101" pitchFamily="2" charset="-122"/>
              </a:rPr>
              <a:t>Provide for high machine/worker time 	utilization</a:t>
            </a:r>
            <a:r>
              <a:rPr lang="zh-CN" altLang="en-US" sz="2400" dirty="0">
                <a:latin typeface="Verdana" panose="020B0604030504040204" pitchFamily="34" charset="0"/>
                <a:ea typeface="宋体" panose="02010600030101010101" pitchFamily="2" charset="-122"/>
              </a:rPr>
              <a:t>：提供机器或人员的高利用率</a:t>
            </a: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solidFill>
                  <a:srgbClr val="0000FF"/>
                </a:solidFill>
                <a:latin typeface="Verdana" panose="020B0604030504040204" pitchFamily="34" charset="0"/>
                <a:ea typeface="宋体" panose="02010600030101010101" pitchFamily="2" charset="-122"/>
              </a:rPr>
              <a:t>Provide for accurate job status information</a:t>
            </a:r>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	</a:t>
            </a:r>
            <a:r>
              <a:rPr lang="zh-CN" altLang="en-US" sz="2400" dirty="0">
                <a:latin typeface="Verdana" panose="020B0604030504040204" pitchFamily="34" charset="0"/>
                <a:ea typeface="宋体" panose="02010600030101010101" pitchFamily="2" charset="-122"/>
              </a:rPr>
              <a:t>提供精确的工件</a:t>
            </a:r>
            <a:r>
              <a:rPr lang="en-US" altLang="zh-CN" sz="2400" dirty="0">
                <a:latin typeface="Verdana" panose="020B0604030504040204" pitchFamily="34" charset="0"/>
                <a:ea typeface="宋体" panose="02010600030101010101" pitchFamily="2" charset="-122"/>
              </a:rPr>
              <a:t>/</a:t>
            </a:r>
            <a:r>
              <a:rPr lang="zh-CN" altLang="en-US" sz="2400" dirty="0">
                <a:latin typeface="Verdana" panose="020B0604030504040204" pitchFamily="34" charset="0"/>
                <a:ea typeface="宋体" panose="02010600030101010101" pitchFamily="2" charset="-122"/>
              </a:rPr>
              <a:t>任务状态信息</a:t>
            </a: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solidFill>
                  <a:srgbClr val="0000FF"/>
                </a:solidFill>
                <a:latin typeface="Verdana" panose="020B0604030504040204" pitchFamily="34" charset="0"/>
                <a:ea typeface="宋体" panose="02010600030101010101" pitchFamily="2" charset="-122"/>
              </a:rPr>
              <a:t>Reduce setup times</a:t>
            </a:r>
            <a:r>
              <a:rPr lang="zh-CN" altLang="en-US" sz="2400" dirty="0">
                <a:latin typeface="Verdana" panose="020B0604030504040204" pitchFamily="34" charset="0"/>
                <a:ea typeface="宋体" panose="02010600030101010101" pitchFamily="2" charset="-122"/>
              </a:rPr>
              <a:t>：减少准备时间</a:t>
            </a: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solidFill>
                  <a:srgbClr val="0000FF"/>
                </a:solidFill>
                <a:latin typeface="Verdana" panose="020B0604030504040204" pitchFamily="34" charset="0"/>
                <a:ea typeface="宋体" panose="02010600030101010101" pitchFamily="2" charset="-122"/>
              </a:rPr>
              <a:t>Minimize production and worker costs</a:t>
            </a:r>
            <a:r>
              <a:rPr lang="zh-CN" altLang="en-US" sz="2400" dirty="0">
                <a:latin typeface="Verdana" panose="020B0604030504040204" pitchFamily="34" charset="0"/>
                <a:ea typeface="宋体" panose="02010600030101010101" pitchFamily="2" charset="-122"/>
              </a:rPr>
              <a:t>：最小化</a:t>
            </a:r>
            <a:r>
              <a:rPr lang="en-US" altLang="zh-CN" sz="2400" dirty="0">
                <a:latin typeface="Verdana" panose="020B0604030504040204" pitchFamily="34" charset="0"/>
                <a:ea typeface="宋体" panose="02010600030101010101" pitchFamily="2" charset="-122"/>
              </a:rPr>
              <a:t>	</a:t>
            </a:r>
            <a:r>
              <a:rPr lang="zh-CN" altLang="en-US" sz="2400" dirty="0">
                <a:latin typeface="Verdana" panose="020B0604030504040204" pitchFamily="34" charset="0"/>
                <a:ea typeface="宋体" panose="02010600030101010101" pitchFamily="2" charset="-122"/>
              </a:rPr>
              <a:t>生产和人工成本</a:t>
            </a:r>
            <a:endParaRPr lang="en-US" altLang="zh-CN" sz="2400" dirty="0">
              <a:latin typeface="Verdana" panose="020B0604030504040204" pitchFamily="34" charset="0"/>
              <a:ea typeface="宋体" panose="02010600030101010101" pitchFamily="2" charset="-122"/>
            </a:endParaRPr>
          </a:p>
        </p:txBody>
      </p:sp>
      <p:sp>
        <p:nvSpPr>
          <p:cNvPr id="2662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Approach</a:t>
            </a:r>
            <a:r>
              <a:rPr kumimoji="0" lang="zh-CN" altLang="en-US" b="1" dirty="0">
                <a:latin typeface="Verdana" charset="0"/>
                <a:cs typeface="宋体" charset="0"/>
              </a:rPr>
              <a:t>：</a:t>
            </a:r>
            <a:endParaRPr kumimoji="0" lang="en-US" altLang="zh-CN" b="1" dirty="0">
              <a:latin typeface="Verdana" charset="0"/>
              <a:cs typeface="宋体" charset="0"/>
            </a:endParaRPr>
          </a:p>
        </p:txBody>
      </p:sp>
      <p:sp>
        <p:nvSpPr>
          <p:cNvPr id="27651" name="Text Box 3"/>
          <p:cNvSpPr txBox="1">
            <a:spLocks noChangeArrowheads="1"/>
          </p:cNvSpPr>
          <p:nvPr/>
        </p:nvSpPr>
        <p:spPr bwMode="auto">
          <a:xfrm>
            <a:off x="3200400" y="1905000"/>
            <a:ext cx="2819400" cy="495300"/>
          </a:xfrm>
          <a:prstGeom prst="rect">
            <a:avLst/>
          </a:prstGeom>
          <a:solidFill>
            <a:schemeClr val="accent2"/>
          </a:solidFill>
          <a:ln w="38100">
            <a:solidFill>
              <a:schemeClr val="tx1"/>
            </a:solidFill>
            <a:miter lim="800000"/>
            <a:headEnd/>
            <a:tailEnd/>
          </a:ln>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50000"/>
              </a:spcBef>
              <a:spcAft>
                <a:spcPct val="0"/>
              </a:spcAft>
              <a:buFontTx/>
              <a:buNone/>
            </a:pPr>
            <a:r>
              <a:rPr lang="en-US" altLang="zh-CN" sz="2400" b="0">
                <a:latin typeface="Times New Roman" panose="02020603050405020304" pitchFamily="18" charset="0"/>
                <a:ea typeface="宋体" panose="02010600030101010101" pitchFamily="2" charset="-122"/>
              </a:rPr>
              <a:t>Scheduling Problem</a:t>
            </a:r>
          </a:p>
        </p:txBody>
      </p:sp>
      <p:sp>
        <p:nvSpPr>
          <p:cNvPr id="27652" name="Text Box 4"/>
          <p:cNvSpPr txBox="1">
            <a:spLocks noChangeArrowheads="1"/>
          </p:cNvSpPr>
          <p:nvPr/>
        </p:nvSpPr>
        <p:spPr bwMode="auto">
          <a:xfrm>
            <a:off x="3200400" y="3352800"/>
            <a:ext cx="2819400" cy="495300"/>
          </a:xfrm>
          <a:prstGeom prst="rect">
            <a:avLst/>
          </a:prstGeom>
          <a:solidFill>
            <a:schemeClr val="accent2"/>
          </a:solidFill>
          <a:ln w="38100">
            <a:solidFill>
              <a:schemeClr val="tx1"/>
            </a:solidFill>
            <a:miter lim="800000"/>
            <a:headEnd/>
            <a:tailEnd/>
          </a:ln>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50000"/>
              </a:spcBef>
              <a:spcAft>
                <a:spcPct val="0"/>
              </a:spcAft>
              <a:buFontTx/>
              <a:buNone/>
            </a:pPr>
            <a:r>
              <a:rPr lang="en-US" altLang="zh-CN" sz="2400" b="0">
                <a:latin typeface="Times New Roman" panose="02020603050405020304" pitchFamily="18" charset="0"/>
                <a:ea typeface="宋体" panose="02010600030101010101" pitchFamily="2" charset="-122"/>
              </a:rPr>
              <a:t>Model</a:t>
            </a:r>
          </a:p>
        </p:txBody>
      </p:sp>
      <p:sp>
        <p:nvSpPr>
          <p:cNvPr id="27653" name="Text Box 5"/>
          <p:cNvSpPr txBox="1">
            <a:spLocks noChangeArrowheads="1"/>
          </p:cNvSpPr>
          <p:nvPr/>
        </p:nvSpPr>
        <p:spPr bwMode="auto">
          <a:xfrm>
            <a:off x="3200400" y="4857750"/>
            <a:ext cx="2819400" cy="495300"/>
          </a:xfrm>
          <a:prstGeom prst="rect">
            <a:avLst/>
          </a:prstGeom>
          <a:solidFill>
            <a:schemeClr val="accent2"/>
          </a:solidFill>
          <a:ln w="38100">
            <a:solidFill>
              <a:schemeClr val="tx1"/>
            </a:solidFill>
            <a:miter lim="800000"/>
            <a:headEnd/>
            <a:tailEnd/>
          </a:ln>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50000"/>
              </a:spcBef>
              <a:spcAft>
                <a:spcPct val="0"/>
              </a:spcAft>
              <a:buFontTx/>
              <a:buNone/>
            </a:pPr>
            <a:r>
              <a:rPr lang="en-US" altLang="zh-CN" sz="2400" b="0">
                <a:latin typeface="Times New Roman" panose="02020603050405020304" pitchFamily="18" charset="0"/>
                <a:ea typeface="宋体" panose="02010600030101010101" pitchFamily="2" charset="-122"/>
              </a:rPr>
              <a:t>Conclusions</a:t>
            </a:r>
          </a:p>
        </p:txBody>
      </p:sp>
      <p:sp>
        <p:nvSpPr>
          <p:cNvPr id="27654" name="Line 6"/>
          <p:cNvSpPr>
            <a:spLocks noChangeShapeType="1"/>
          </p:cNvSpPr>
          <p:nvPr/>
        </p:nvSpPr>
        <p:spPr bwMode="auto">
          <a:xfrm>
            <a:off x="4572000" y="2362200"/>
            <a:ext cx="0" cy="990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5" name="Line 7"/>
          <p:cNvSpPr>
            <a:spLocks noChangeShapeType="1"/>
          </p:cNvSpPr>
          <p:nvPr/>
        </p:nvSpPr>
        <p:spPr bwMode="auto">
          <a:xfrm>
            <a:off x="4572000" y="3810000"/>
            <a:ext cx="0" cy="1066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6" name="Text Box 8"/>
          <p:cNvSpPr txBox="1">
            <a:spLocks noChangeArrowheads="1"/>
          </p:cNvSpPr>
          <p:nvPr/>
        </p:nvSpPr>
        <p:spPr bwMode="auto">
          <a:xfrm>
            <a:off x="4708525" y="2628900"/>
            <a:ext cx="218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1800" b="0" i="1" dirty="0">
                <a:latin typeface="Times New Roman" panose="02020603050405020304" pitchFamily="18" charset="0"/>
                <a:ea typeface="宋体" panose="02010600030101010101" pitchFamily="2" charset="-122"/>
              </a:rPr>
              <a:t>Problem Formulation</a:t>
            </a:r>
            <a:endParaRPr lang="en-US" altLang="zh-CN" sz="2400" b="0" dirty="0">
              <a:latin typeface="Times New Roman" panose="02020603050405020304" pitchFamily="18" charset="0"/>
              <a:ea typeface="宋体" panose="02010600030101010101" pitchFamily="2" charset="-122"/>
            </a:endParaRPr>
          </a:p>
        </p:txBody>
      </p:sp>
      <p:sp>
        <p:nvSpPr>
          <p:cNvPr id="27657" name="Text Box 9"/>
          <p:cNvSpPr txBox="1">
            <a:spLocks noChangeArrowheads="1"/>
          </p:cNvSpPr>
          <p:nvPr/>
        </p:nvSpPr>
        <p:spPr bwMode="auto">
          <a:xfrm>
            <a:off x="4724400" y="4129088"/>
            <a:ext cx="3175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1800" b="0" i="1">
                <a:latin typeface="Times New Roman" panose="02020603050405020304" pitchFamily="18" charset="0"/>
                <a:ea typeface="宋体" panose="02010600030101010101" pitchFamily="2" charset="-122"/>
              </a:rPr>
              <a:t>Solve with Computer Algorithms</a:t>
            </a:r>
            <a:endParaRPr lang="en-US" altLang="zh-CN" sz="2400" b="0">
              <a:latin typeface="Times New Roman" panose="02020603050405020304" pitchFamily="18" charset="0"/>
              <a:ea typeface="宋体" panose="02010600030101010101" pitchFamily="2" charset="-122"/>
            </a:endParaRPr>
          </a:p>
        </p:txBody>
      </p:sp>
      <p:sp>
        <p:nvSpPr>
          <p:cNvPr id="27658" name="Line 10"/>
          <p:cNvSpPr>
            <a:spLocks noChangeShapeType="1"/>
          </p:cNvSpPr>
          <p:nvPr/>
        </p:nvSpPr>
        <p:spPr bwMode="auto">
          <a:xfrm>
            <a:off x="1676400" y="2057400"/>
            <a:ext cx="0" cy="3048000"/>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59" name="Line 11"/>
          <p:cNvSpPr>
            <a:spLocks noChangeShapeType="1"/>
          </p:cNvSpPr>
          <p:nvPr/>
        </p:nvSpPr>
        <p:spPr bwMode="auto">
          <a:xfrm>
            <a:off x="1676400" y="2057400"/>
            <a:ext cx="1524000" cy="0"/>
          </a:xfrm>
          <a:prstGeom prst="line">
            <a:avLst/>
          </a:prstGeom>
          <a:noFill/>
          <a:ln w="381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0" name="Line 12"/>
          <p:cNvSpPr>
            <a:spLocks noChangeShapeType="1"/>
          </p:cNvSpPr>
          <p:nvPr/>
        </p:nvSpPr>
        <p:spPr bwMode="auto">
          <a:xfrm>
            <a:off x="1676400" y="5105400"/>
            <a:ext cx="1524000" cy="0"/>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页脚占位符 1"/>
          <p:cNvSpPr>
            <a:spLocks noGrp="1"/>
          </p:cNvSpPr>
          <p:nvPr>
            <p:ph type="ftr" sz="quarter" idx="11"/>
          </p:nvPr>
        </p:nvSpPr>
        <p:spPr bwMode="auto">
          <a:xfrm>
            <a:off x="457200" y="64770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152400"/>
            <a:ext cx="8305800" cy="533400"/>
          </a:xfrm>
        </p:spPr>
        <p:txBody>
          <a:bodyPr>
            <a:normAutofit fontScale="90000"/>
          </a:bodyPr>
          <a:lstStyle/>
          <a:p>
            <a:pPr eaLnBrk="1" hangingPunct="1">
              <a:defRPr/>
            </a:pPr>
            <a:r>
              <a:rPr kumimoji="0" lang="en-US" altLang="zh-CN" b="1" dirty="0">
                <a:latin typeface="Verdana" charset="0"/>
                <a:cs typeface="宋体" charset="0"/>
              </a:rPr>
              <a:t>General Solution Techniques</a:t>
            </a:r>
          </a:p>
        </p:txBody>
      </p:sp>
      <p:sp>
        <p:nvSpPr>
          <p:cNvPr id="28675"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Mathematical programming (</a:t>
            </a:r>
            <a:r>
              <a:rPr lang="zh-CN" altLang="en-US" sz="2400" dirty="0">
                <a:latin typeface="Verdana" panose="020B0604030504040204" pitchFamily="34" charset="0"/>
                <a:ea typeface="宋体" panose="02010600030101010101" pitchFamily="2" charset="-122"/>
              </a:rPr>
              <a:t>数学规划</a:t>
            </a:r>
            <a:r>
              <a:rPr lang="en-US" altLang="zh-CN" sz="2400" dirty="0">
                <a:latin typeface="Verdana" panose="020B0604030504040204" pitchFamily="34" charset="0"/>
                <a:ea typeface="宋体" panose="02010600030101010101" pitchFamily="2" charset="-122"/>
              </a:rPr>
              <a:t>)</a:t>
            </a:r>
          </a:p>
          <a:p>
            <a:pPr lvl="1" eaLnBrk="1" hangingPunct="1"/>
            <a:r>
              <a:rPr kumimoji="0" lang="en-US" altLang="zh-CN" sz="2400" dirty="0">
                <a:ea typeface="宋体" panose="02010600030101010101" pitchFamily="2" charset="-122"/>
              </a:rPr>
              <a:t>Linear, non-linear, and integer programming</a:t>
            </a:r>
          </a:p>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Heuristics (</a:t>
            </a:r>
            <a:r>
              <a:rPr lang="zh-CN" altLang="en-US" sz="2400" dirty="0">
                <a:latin typeface="Verdana" panose="020B0604030504040204" pitchFamily="34" charset="0"/>
                <a:ea typeface="宋体" panose="02010600030101010101" pitchFamily="2" charset="-122"/>
              </a:rPr>
              <a:t>启发式方法</a:t>
            </a:r>
            <a:r>
              <a:rPr lang="en-US" altLang="zh-CN" sz="2400" dirty="0">
                <a:latin typeface="Verdana" panose="020B0604030504040204" pitchFamily="34" charset="0"/>
                <a:ea typeface="宋体" panose="02010600030101010101" pitchFamily="2" charset="-122"/>
              </a:rPr>
              <a:t>)</a:t>
            </a:r>
          </a:p>
          <a:p>
            <a:pPr lvl="1" eaLnBrk="1" hangingPunct="1"/>
            <a:r>
              <a:rPr kumimoji="0" lang="en-US" altLang="zh-CN" sz="2400" dirty="0">
                <a:ea typeface="宋体" panose="02010600030101010101" pitchFamily="2" charset="-122"/>
              </a:rPr>
              <a:t>Dispatching/prioritizing rules (</a:t>
            </a:r>
            <a:r>
              <a:rPr kumimoji="0" lang="zh-CN" altLang="en-US" sz="2400" dirty="0">
                <a:ea typeface="宋体" panose="02010600030101010101" pitchFamily="2" charset="-122"/>
              </a:rPr>
              <a:t>调度</a:t>
            </a:r>
            <a:r>
              <a:rPr kumimoji="0" lang="en-US" altLang="zh-CN" sz="2400" dirty="0">
                <a:ea typeface="宋体" panose="02010600030101010101" pitchFamily="2" charset="-122"/>
              </a:rPr>
              <a:t>/</a:t>
            </a:r>
            <a:r>
              <a:rPr kumimoji="0" lang="zh-CN" altLang="en-US" sz="2400" dirty="0">
                <a:ea typeface="宋体" panose="02010600030101010101" pitchFamily="2" charset="-122"/>
              </a:rPr>
              <a:t>优先规则</a:t>
            </a:r>
            <a:r>
              <a:rPr kumimoji="0" lang="en-US" altLang="zh-CN" sz="2400" dirty="0">
                <a:ea typeface="宋体" panose="02010600030101010101" pitchFamily="2" charset="-122"/>
              </a:rPr>
              <a:t>)</a:t>
            </a:r>
          </a:p>
          <a:p>
            <a:pPr lvl="1" eaLnBrk="1" hangingPunct="1"/>
            <a:r>
              <a:rPr kumimoji="0" lang="en-US" altLang="zh-CN" sz="2400" dirty="0">
                <a:ea typeface="宋体" panose="02010600030101010101" pitchFamily="2" charset="-122"/>
              </a:rPr>
              <a:t>Shifting bottleneck heuristic (</a:t>
            </a:r>
            <a:r>
              <a:rPr kumimoji="0" lang="zh-CN" altLang="en-US" sz="2400" dirty="0">
                <a:ea typeface="宋体" panose="02010600030101010101" pitchFamily="2" charset="-122"/>
              </a:rPr>
              <a:t>移动瓶颈法</a:t>
            </a:r>
            <a:r>
              <a:rPr kumimoji="0" lang="en-US" altLang="zh-CN" sz="2400" dirty="0">
                <a:ea typeface="宋体" panose="02010600030101010101" pitchFamily="2" charset="-122"/>
              </a:rPr>
              <a:t>)</a:t>
            </a:r>
          </a:p>
          <a:p>
            <a:pPr lvl="1" eaLnBrk="1" hangingPunct="1"/>
            <a:r>
              <a:rPr kumimoji="0" lang="en-US" altLang="zh-CN" sz="2400" dirty="0">
                <a:latin typeface="Tahoma" panose="020B0604030504040204" pitchFamily="34" charset="0"/>
                <a:ea typeface="宋体" panose="02010600030101010101" pitchFamily="2" charset="-122"/>
              </a:rPr>
              <a:t>…</a:t>
            </a:r>
            <a:r>
              <a:rPr kumimoji="0" lang="en-US" altLang="zh-CN" sz="2400" dirty="0">
                <a:ea typeface="宋体" panose="02010600030101010101" pitchFamily="2" charset="-122"/>
              </a:rPr>
              <a:t>..</a:t>
            </a:r>
          </a:p>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Meta-heuristic/ Local search (</a:t>
            </a:r>
            <a:r>
              <a:rPr lang="zh-CN" altLang="en-US" sz="2400" dirty="0">
                <a:latin typeface="Verdana" panose="020B0604030504040204" pitchFamily="34" charset="0"/>
                <a:ea typeface="宋体" panose="02010600030101010101" pitchFamily="2" charset="-122"/>
              </a:rPr>
              <a:t>元启发式方法</a:t>
            </a:r>
            <a:r>
              <a:rPr lang="en-US" altLang="zh-CN" sz="2400" dirty="0">
                <a:latin typeface="Verdana" panose="020B0604030504040204" pitchFamily="34" charset="0"/>
                <a:ea typeface="宋体" panose="02010600030101010101" pitchFamily="2" charset="-122"/>
              </a:rPr>
              <a:t>/</a:t>
            </a:r>
            <a:r>
              <a:rPr lang="zh-CN" altLang="en-US" sz="2400" dirty="0">
                <a:latin typeface="Verdana" panose="020B0604030504040204" pitchFamily="34" charset="0"/>
                <a:ea typeface="宋体" panose="02010600030101010101" pitchFamily="2" charset="-122"/>
              </a:rPr>
              <a:t>局部搜索</a:t>
            </a:r>
            <a:r>
              <a:rPr lang="en-US" altLang="zh-CN" sz="2400" dirty="0">
                <a:latin typeface="Verdana" panose="020B0604030504040204" pitchFamily="34" charset="0"/>
                <a:ea typeface="宋体" panose="02010600030101010101" pitchFamily="2" charset="-122"/>
              </a:rPr>
              <a:t>) </a:t>
            </a:r>
          </a:p>
          <a:p>
            <a:pPr lvl="1" eaLnBrk="1" hangingPunct="1"/>
            <a:r>
              <a:rPr lang="en-US" altLang="zh-CN" sz="2400" b="0" dirty="0">
                <a:ea typeface="宋体" panose="02010600030101010101" pitchFamily="2" charset="-122"/>
              </a:rPr>
              <a:t>Simulated annealing</a:t>
            </a:r>
            <a:r>
              <a:rPr kumimoji="0" lang="en-US" altLang="zh-CN" sz="2400" dirty="0">
                <a:ea typeface="宋体" panose="02010600030101010101" pitchFamily="2" charset="-122"/>
              </a:rPr>
              <a:t> (</a:t>
            </a:r>
            <a:r>
              <a:rPr kumimoji="0" lang="zh-CN" altLang="en-US" sz="2400" dirty="0">
                <a:ea typeface="宋体" panose="02010600030101010101" pitchFamily="2" charset="-122"/>
              </a:rPr>
              <a:t>模拟退火</a:t>
            </a:r>
            <a:r>
              <a:rPr kumimoji="0" lang="en-US" altLang="zh-CN" sz="2400" dirty="0">
                <a:ea typeface="宋体" panose="02010600030101010101" pitchFamily="2" charset="-122"/>
              </a:rPr>
              <a:t>)</a:t>
            </a:r>
            <a:endParaRPr lang="en-US" altLang="zh-CN" sz="2400" b="0" dirty="0">
              <a:ea typeface="宋体" panose="02010600030101010101" pitchFamily="2" charset="-122"/>
            </a:endParaRPr>
          </a:p>
          <a:p>
            <a:pPr lvl="1" eaLnBrk="1" hangingPunct="1"/>
            <a:r>
              <a:rPr kumimoji="0" lang="en-US" altLang="zh-CN" sz="2400" dirty="0">
                <a:ea typeface="宋体" panose="02010600030101010101" pitchFamily="2" charset="-122"/>
              </a:rPr>
              <a:t>Genetic algorithms (</a:t>
            </a:r>
            <a:r>
              <a:rPr kumimoji="0" lang="zh-CN" altLang="en-US" sz="2400" dirty="0">
                <a:ea typeface="宋体" panose="02010600030101010101" pitchFamily="2" charset="-122"/>
              </a:rPr>
              <a:t>遗传算法</a:t>
            </a:r>
            <a:r>
              <a:rPr kumimoji="0" lang="en-US" altLang="zh-CN" sz="2400" dirty="0">
                <a:ea typeface="宋体" panose="02010600030101010101" pitchFamily="2" charset="-122"/>
              </a:rPr>
              <a:t>)</a:t>
            </a:r>
          </a:p>
          <a:p>
            <a:pPr lvl="1" eaLnBrk="1" hangingPunct="1"/>
            <a:r>
              <a:rPr kumimoji="0" lang="en-US" altLang="zh-CN" sz="2400" dirty="0" err="1">
                <a:ea typeface="宋体" panose="02010600030101010101" pitchFamily="2" charset="-122"/>
              </a:rPr>
              <a:t>Tabu</a:t>
            </a:r>
            <a:r>
              <a:rPr kumimoji="0" lang="en-US" altLang="zh-CN" sz="2400" dirty="0">
                <a:ea typeface="宋体" panose="02010600030101010101" pitchFamily="2" charset="-122"/>
              </a:rPr>
              <a:t> search (</a:t>
            </a:r>
            <a:r>
              <a:rPr kumimoji="0" lang="zh-CN" altLang="en-US" sz="2400" dirty="0">
                <a:ea typeface="宋体" panose="02010600030101010101" pitchFamily="2" charset="-122"/>
              </a:rPr>
              <a:t>禁忌搜索</a:t>
            </a:r>
            <a:r>
              <a:rPr kumimoji="0" lang="en-US" altLang="zh-CN" sz="2400" dirty="0">
                <a:ea typeface="宋体" panose="02010600030101010101" pitchFamily="2" charset="-122"/>
              </a:rPr>
              <a:t>)</a:t>
            </a:r>
          </a:p>
          <a:p>
            <a:pPr lvl="1" eaLnBrk="1" hangingPunct="1"/>
            <a:r>
              <a:rPr kumimoji="0" lang="en-US" altLang="zh-CN" sz="2400" dirty="0">
                <a:ea typeface="宋体" panose="02010600030101010101" pitchFamily="2" charset="-122"/>
              </a:rPr>
              <a:t>Ant colony optimization (</a:t>
            </a:r>
            <a:r>
              <a:rPr kumimoji="0" lang="zh-CN" altLang="en-US" sz="2400" dirty="0">
                <a:ea typeface="宋体" panose="02010600030101010101" pitchFamily="2" charset="-122"/>
              </a:rPr>
              <a:t>蚁群优化算法</a:t>
            </a:r>
            <a:r>
              <a:rPr kumimoji="0" lang="en-US" altLang="zh-CN" sz="2400" dirty="0">
                <a:ea typeface="宋体" panose="02010600030101010101" pitchFamily="2" charset="-122"/>
              </a:rPr>
              <a:t>)</a:t>
            </a:r>
          </a:p>
          <a:p>
            <a:pPr lvl="1" eaLnBrk="1" hangingPunct="1"/>
            <a:r>
              <a:rPr kumimoji="0" lang="en-US" altLang="zh-CN" sz="2400" dirty="0">
                <a:ea typeface="宋体" panose="02010600030101010101" pitchFamily="2" charset="-122"/>
              </a:rPr>
              <a:t>……</a:t>
            </a:r>
          </a:p>
        </p:txBody>
      </p:sp>
      <p:sp>
        <p:nvSpPr>
          <p:cNvPr id="28676" name="页脚占位符 1"/>
          <p:cNvSpPr>
            <a:spLocks noGrp="1"/>
          </p:cNvSpPr>
          <p:nvPr>
            <p:ph type="ftr" sz="quarter" idx="10"/>
          </p:nvPr>
        </p:nvSpPr>
        <p:spPr bwMode="auto">
          <a:xfrm>
            <a:off x="457200" y="6650038"/>
            <a:ext cx="3429000" cy="284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Modeling</a:t>
            </a:r>
          </a:p>
        </p:txBody>
      </p:sp>
      <p:sp>
        <p:nvSpPr>
          <p:cNvPr id="29699" name="Rectangle 3"/>
          <p:cNvSpPr>
            <a:spLocks noGrp="1" noChangeArrowheads="1"/>
          </p:cNvSpPr>
          <p:nvPr>
            <p:ph type="body" idx="1"/>
          </p:nvPr>
        </p:nvSpPr>
        <p:spPr/>
        <p:txBody>
          <a:bodyPr/>
          <a:lstStyle/>
          <a:p>
            <a:pPr marL="0" indent="0" eaLnBrk="1" hangingPunct="1"/>
            <a:r>
              <a:rPr lang="en-US" altLang="zh-CN" sz="2400" dirty="0">
                <a:latin typeface="Verdana" panose="020B0604030504040204" pitchFamily="34" charset="0"/>
                <a:ea typeface="宋体" panose="02010600030101010101" pitchFamily="2" charset="-122"/>
              </a:rPr>
              <a:t>Three components to any model:</a:t>
            </a:r>
          </a:p>
          <a:p>
            <a:pPr lvl="1" eaLnBrk="1" hangingPunct="1">
              <a:spcBef>
                <a:spcPts val="1200"/>
              </a:spcBef>
            </a:pPr>
            <a:r>
              <a:rPr kumimoji="0" lang="en-US" altLang="zh-CN" sz="2400" dirty="0">
                <a:ea typeface="宋体" panose="02010600030101010101" pitchFamily="2" charset="-122"/>
              </a:rPr>
              <a:t>Decision variables (</a:t>
            </a:r>
            <a:r>
              <a:rPr kumimoji="0" lang="zh-CN" altLang="en-US" sz="2400" dirty="0">
                <a:ea typeface="宋体" panose="02010600030101010101" pitchFamily="2" charset="-122"/>
              </a:rPr>
              <a:t>决策变量</a:t>
            </a:r>
            <a:r>
              <a:rPr kumimoji="0" lang="en-US" altLang="zh-CN" sz="2400" dirty="0">
                <a:ea typeface="宋体" panose="02010600030101010101" pitchFamily="2" charset="-122"/>
              </a:rPr>
              <a:t>)</a:t>
            </a:r>
          </a:p>
          <a:p>
            <a:pPr lvl="2" eaLnBrk="1" hangingPunct="1"/>
            <a:r>
              <a:rPr kumimoji="0" lang="en-US" altLang="zh-CN" sz="2000" dirty="0">
                <a:ea typeface="宋体" panose="02010600030101010101" pitchFamily="2" charset="-122"/>
              </a:rPr>
              <a:t>This is what we can change to affect the system, that is, the variables we can decide upon</a:t>
            </a:r>
          </a:p>
          <a:p>
            <a:pPr lvl="1" eaLnBrk="1" hangingPunct="1">
              <a:spcBef>
                <a:spcPts val="3000"/>
              </a:spcBef>
            </a:pPr>
            <a:r>
              <a:rPr kumimoji="0" lang="en-US" altLang="zh-CN" sz="2400" dirty="0">
                <a:ea typeface="宋体" panose="02010600030101010101" pitchFamily="2" charset="-122"/>
              </a:rPr>
              <a:t>Objective function (</a:t>
            </a:r>
            <a:r>
              <a:rPr kumimoji="0" lang="zh-CN" altLang="en-US" sz="2400" dirty="0">
                <a:ea typeface="宋体" panose="02010600030101010101" pitchFamily="2" charset="-122"/>
              </a:rPr>
              <a:t>目标函数</a:t>
            </a:r>
            <a:r>
              <a:rPr kumimoji="0" lang="en-US" altLang="zh-CN" sz="2400" dirty="0">
                <a:ea typeface="宋体" panose="02010600030101010101" pitchFamily="2" charset="-122"/>
              </a:rPr>
              <a:t>)</a:t>
            </a:r>
          </a:p>
          <a:p>
            <a:pPr lvl="2" eaLnBrk="1" hangingPunct="1"/>
            <a:r>
              <a:rPr kumimoji="0" lang="en-US" altLang="zh-CN" sz="2000" dirty="0" err="1">
                <a:ea typeface="宋体" panose="02010600030101010101" pitchFamily="2" charset="-122"/>
              </a:rPr>
              <a:t>E.g</a:t>
            </a:r>
            <a:r>
              <a:rPr kumimoji="0" lang="en-US" altLang="zh-CN" sz="2000" dirty="0">
                <a:ea typeface="宋体" panose="02010600030101010101" pitchFamily="2" charset="-122"/>
              </a:rPr>
              <a:t>, cost to be minimized, quality measure to be maximized</a:t>
            </a:r>
          </a:p>
          <a:p>
            <a:pPr lvl="1" eaLnBrk="1" hangingPunct="1">
              <a:spcBef>
                <a:spcPts val="3000"/>
              </a:spcBef>
            </a:pPr>
            <a:r>
              <a:rPr kumimoji="0" lang="en-US" altLang="zh-CN" sz="2400" dirty="0">
                <a:ea typeface="宋体" panose="02010600030101010101" pitchFamily="2" charset="-122"/>
              </a:rPr>
              <a:t>Constraints (</a:t>
            </a:r>
            <a:r>
              <a:rPr kumimoji="0" lang="zh-CN" altLang="en-US" sz="2400" dirty="0">
                <a:ea typeface="宋体" panose="02010600030101010101" pitchFamily="2" charset="-122"/>
              </a:rPr>
              <a:t>约束</a:t>
            </a:r>
            <a:r>
              <a:rPr kumimoji="0" lang="en-US" altLang="zh-CN" sz="2400" dirty="0">
                <a:ea typeface="宋体" panose="02010600030101010101" pitchFamily="2" charset="-122"/>
              </a:rPr>
              <a:t>)</a:t>
            </a:r>
          </a:p>
          <a:p>
            <a:pPr lvl="2" eaLnBrk="1" hangingPunct="1"/>
            <a:r>
              <a:rPr kumimoji="0" lang="en-US" altLang="zh-CN" sz="2000" dirty="0">
                <a:ea typeface="宋体" panose="02010600030101010101" pitchFamily="2" charset="-122"/>
              </a:rPr>
              <a:t>Which values the decision variables can be set to</a:t>
            </a:r>
          </a:p>
        </p:txBody>
      </p:sp>
      <p:sp>
        <p:nvSpPr>
          <p:cNvPr id="2970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fontScale="90000"/>
          </a:bodyPr>
          <a:lstStyle/>
          <a:p>
            <a:pPr eaLnBrk="1" hangingPunct="1">
              <a:defRPr/>
            </a:pPr>
            <a:r>
              <a:rPr kumimoji="0" lang="en-US" altLang="zh-CN" sz="3200" b="1" cap="none">
                <a:latin typeface="Verdana" pitchFamily="34" charset="0"/>
                <a:ea typeface="宋体" pitchFamily="2" charset="-122"/>
              </a:rPr>
              <a:t>Decision </a:t>
            </a:r>
            <a:r>
              <a:rPr kumimoji="0" lang="en-US" altLang="zh-CN" sz="3200" b="1" cap="none">
                <a:latin typeface="Tahoma" pitchFamily="34" charset="0"/>
                <a:ea typeface="宋体" pitchFamily="2" charset="-122"/>
              </a:rPr>
              <a:t>“</a:t>
            </a:r>
            <a:r>
              <a:rPr kumimoji="0" lang="en-US" altLang="zh-CN" sz="3200" b="1" cap="none">
                <a:latin typeface="Verdana" pitchFamily="34" charset="0"/>
                <a:ea typeface="宋体" pitchFamily="2" charset="-122"/>
              </a:rPr>
              <a:t>Variables</a:t>
            </a:r>
            <a:r>
              <a:rPr kumimoji="0" lang="en-US" altLang="zh-CN" sz="3200" b="1" cap="none">
                <a:latin typeface="Tahoma" pitchFamily="34" charset="0"/>
                <a:ea typeface="宋体" pitchFamily="2" charset="-122"/>
              </a:rPr>
              <a:t>”</a:t>
            </a:r>
            <a:endParaRPr kumimoji="0" lang="en-US" altLang="zh-CN" sz="3200" b="1" cap="none">
              <a:latin typeface="Verdana" pitchFamily="34" charset="0"/>
              <a:ea typeface="宋体" pitchFamily="2" charset="-122"/>
            </a:endParaRPr>
          </a:p>
        </p:txBody>
      </p:sp>
      <p:sp>
        <p:nvSpPr>
          <p:cNvPr id="30723" name="Rectangle 3"/>
          <p:cNvSpPr>
            <a:spLocks noGrp="1" noChangeArrowheads="1"/>
          </p:cNvSpPr>
          <p:nvPr>
            <p:ph type="body" idx="1"/>
          </p:nvPr>
        </p:nvSpPr>
        <p:spPr/>
        <p:txBody>
          <a:bodyPr/>
          <a:lstStyle/>
          <a:p>
            <a:pPr marL="0" indent="0" eaLnBrk="1" hangingPunct="1">
              <a:lnSpc>
                <a:spcPct val="140000"/>
              </a:lnSpc>
            </a:pPr>
            <a:r>
              <a:rPr lang="en-US" altLang="zh-CN" sz="2400" dirty="0">
                <a:latin typeface="Verdana" panose="020B0604030504040204" pitchFamily="34" charset="0"/>
                <a:ea typeface="宋体" panose="02010600030101010101" pitchFamily="2" charset="-122"/>
              </a:rPr>
              <a:t>Three basic types of solutions:</a:t>
            </a:r>
          </a:p>
          <a:p>
            <a:pPr lvl="1" eaLnBrk="1" hangingPunct="1">
              <a:lnSpc>
                <a:spcPct val="140000"/>
              </a:lnSpc>
            </a:pPr>
            <a:r>
              <a:rPr kumimoji="0" lang="en-US" altLang="zh-CN" sz="2400" dirty="0">
                <a:ea typeface="宋体" panose="02010600030101010101" pitchFamily="2" charset="-122"/>
              </a:rPr>
              <a:t>A </a:t>
            </a:r>
            <a:r>
              <a:rPr kumimoji="0" lang="en-US" altLang="zh-CN" sz="2400" b="1" dirty="0">
                <a:solidFill>
                  <a:schemeClr val="tx2"/>
                </a:solidFill>
                <a:ea typeface="宋体" panose="02010600030101010101" pitchFamily="2" charset="-122"/>
              </a:rPr>
              <a:t>sequence(</a:t>
            </a:r>
            <a:r>
              <a:rPr kumimoji="0" lang="zh-CN" altLang="en-US" sz="2400" b="1" dirty="0">
                <a:solidFill>
                  <a:schemeClr val="tx2"/>
                </a:solidFill>
                <a:ea typeface="宋体" panose="02010600030101010101" pitchFamily="2" charset="-122"/>
              </a:rPr>
              <a:t>排序</a:t>
            </a:r>
            <a:r>
              <a:rPr kumimoji="0" lang="en-US" altLang="zh-CN" sz="2400" b="1" dirty="0">
                <a:solidFill>
                  <a:schemeClr val="tx2"/>
                </a:solidFill>
                <a:ea typeface="宋体" panose="02010600030101010101" pitchFamily="2" charset="-122"/>
              </a:rPr>
              <a:t>)</a:t>
            </a:r>
            <a:r>
              <a:rPr kumimoji="0" lang="en-US" altLang="zh-CN" sz="2400" dirty="0">
                <a:ea typeface="宋体" panose="02010600030101010101" pitchFamily="2" charset="-122"/>
              </a:rPr>
              <a:t>: a permutation of the jobs</a:t>
            </a:r>
          </a:p>
          <a:p>
            <a:pPr lvl="1" eaLnBrk="1" hangingPunct="1">
              <a:lnSpc>
                <a:spcPct val="140000"/>
              </a:lnSpc>
            </a:pPr>
            <a:r>
              <a:rPr kumimoji="0" lang="en-US" altLang="zh-CN" sz="2400" dirty="0">
                <a:ea typeface="宋体" panose="02010600030101010101" pitchFamily="2" charset="-122"/>
              </a:rPr>
              <a:t>A </a:t>
            </a:r>
            <a:r>
              <a:rPr kumimoji="0" lang="en-US" altLang="zh-CN" sz="2400" b="1" dirty="0">
                <a:solidFill>
                  <a:schemeClr val="tx2"/>
                </a:solidFill>
                <a:ea typeface="宋体" panose="02010600030101010101" pitchFamily="2" charset="-122"/>
              </a:rPr>
              <a:t>schedule(</a:t>
            </a:r>
            <a:r>
              <a:rPr kumimoji="0" lang="zh-CN" altLang="en-US" sz="2400" b="1" dirty="0">
                <a:solidFill>
                  <a:schemeClr val="tx2"/>
                </a:solidFill>
                <a:ea typeface="宋体" panose="02010600030101010101" pitchFamily="2" charset="-122"/>
              </a:rPr>
              <a:t>调度</a:t>
            </a:r>
            <a:r>
              <a:rPr kumimoji="0" lang="en-US" altLang="zh-CN" sz="2400" b="1" dirty="0">
                <a:solidFill>
                  <a:schemeClr val="tx2"/>
                </a:solidFill>
                <a:ea typeface="宋体" panose="02010600030101010101" pitchFamily="2" charset="-122"/>
              </a:rPr>
              <a:t>)</a:t>
            </a:r>
            <a:r>
              <a:rPr kumimoji="0" lang="en-US" altLang="zh-CN" sz="2400" dirty="0">
                <a:ea typeface="宋体" panose="02010600030101010101" pitchFamily="2" charset="-122"/>
              </a:rPr>
              <a:t>: allocation of the jobs in a more complicated setting of the environment</a:t>
            </a:r>
          </a:p>
          <a:p>
            <a:pPr lvl="1" eaLnBrk="1" hangingPunct="1">
              <a:lnSpc>
                <a:spcPct val="140000"/>
              </a:lnSpc>
            </a:pPr>
            <a:r>
              <a:rPr kumimoji="0" lang="en-US" altLang="zh-CN" sz="2400" dirty="0">
                <a:ea typeface="宋体" panose="02010600030101010101" pitchFamily="2" charset="-122"/>
              </a:rPr>
              <a:t>A </a:t>
            </a:r>
            <a:r>
              <a:rPr kumimoji="0" lang="en-US" altLang="zh-CN" sz="2400" b="1" dirty="0">
                <a:solidFill>
                  <a:schemeClr val="tx2"/>
                </a:solidFill>
                <a:ea typeface="宋体" panose="02010600030101010101" pitchFamily="2" charset="-122"/>
              </a:rPr>
              <a:t>scheduling policy(</a:t>
            </a:r>
            <a:r>
              <a:rPr kumimoji="0" lang="zh-CN" altLang="en-US" sz="2400" b="1" dirty="0">
                <a:solidFill>
                  <a:schemeClr val="tx2"/>
                </a:solidFill>
                <a:ea typeface="宋体" panose="02010600030101010101" pitchFamily="2" charset="-122"/>
              </a:rPr>
              <a:t>调度策略</a:t>
            </a:r>
            <a:r>
              <a:rPr kumimoji="0" lang="en-US" altLang="zh-CN" sz="2400" b="1" dirty="0">
                <a:solidFill>
                  <a:schemeClr val="tx2"/>
                </a:solidFill>
                <a:ea typeface="宋体" panose="02010600030101010101" pitchFamily="2" charset="-122"/>
              </a:rPr>
              <a:t>)</a:t>
            </a:r>
            <a:r>
              <a:rPr kumimoji="0" lang="en-US" altLang="zh-CN" sz="2400" dirty="0">
                <a:ea typeface="宋体" panose="02010600030101010101" pitchFamily="2" charset="-122"/>
              </a:rPr>
              <a:t>: determines the next job given the current state of the system</a:t>
            </a:r>
          </a:p>
        </p:txBody>
      </p:sp>
      <p:sp>
        <p:nvSpPr>
          <p:cNvPr id="3072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Production Scheduling</a:t>
            </a:r>
          </a:p>
        </p:txBody>
      </p:sp>
      <p:sp>
        <p:nvSpPr>
          <p:cNvPr id="31747" name="Rectangle 3"/>
          <p:cNvSpPr>
            <a:spLocks noGrp="1" noChangeArrowheads="1"/>
          </p:cNvSpPr>
          <p:nvPr>
            <p:ph type="body" idx="1"/>
          </p:nvPr>
        </p:nvSpPr>
        <p:spPr/>
        <p:txBody>
          <a:bodyPr/>
          <a:lstStyle/>
          <a:p>
            <a:pPr marL="0" indent="0" eaLnBrk="1" hangingPunct="1"/>
            <a:r>
              <a:rPr lang="en-US" altLang="zh-CN" dirty="0">
                <a:latin typeface="Verdana" panose="020B0604030504040204" pitchFamily="34" charset="0"/>
                <a:ea typeface="宋体" panose="02010600030101010101" pitchFamily="2" charset="-122"/>
              </a:rPr>
              <a:t>Production scheduling problems are classified based on machine environment, job characteristics, and optimality criteria.</a:t>
            </a:r>
          </a:p>
          <a:p>
            <a:pPr marL="0" indent="0" eaLnBrk="1" hangingPunct="1"/>
            <a:endParaRPr lang="en-US" altLang="zh-CN" dirty="0">
              <a:latin typeface="Verdana" panose="020B0604030504040204" pitchFamily="34" charset="0"/>
              <a:ea typeface="宋体" panose="02010600030101010101" pitchFamily="2" charset="-122"/>
            </a:endParaRPr>
          </a:p>
          <a:p>
            <a:pPr marL="0" indent="0" eaLnBrk="1" hangingPunct="1"/>
            <a:r>
              <a:rPr lang="zh-CN" altLang="en-US" dirty="0">
                <a:latin typeface="Verdana" panose="020B0604030504040204" pitchFamily="34" charset="0"/>
                <a:ea typeface="宋体" panose="02010600030101010101" pitchFamily="2" charset="-122"/>
                <a:sym typeface="Symbol" panose="05050102010706020507" pitchFamily="18" charset="2"/>
              </a:rPr>
              <a:t>三元组模型</a:t>
            </a:r>
            <a:r>
              <a:rPr lang="en-US" altLang="zh-CN" dirty="0">
                <a:latin typeface="Verdana" panose="020B0604030504040204" pitchFamily="34" charset="0"/>
                <a:ea typeface="宋体" panose="02010600030101010101" pitchFamily="2" charset="-122"/>
                <a:sym typeface="Symbol" panose="05050102010706020507" pitchFamily="18" charset="2"/>
              </a:rPr>
              <a:t>: 		</a:t>
            </a:r>
            <a:r>
              <a:rPr lang="en-US" altLang="zh-CN" i="1" dirty="0">
                <a:latin typeface="Verdana" panose="020B0604030504040204" pitchFamily="34" charset="0"/>
                <a:ea typeface="宋体" panose="02010600030101010101" pitchFamily="2" charset="-122"/>
                <a:sym typeface="Symbol" panose="05050102010706020507" pitchFamily="18" charset="2"/>
              </a:rPr>
              <a:t></a:t>
            </a:r>
            <a:r>
              <a:rPr lang="en-US" altLang="zh-CN" dirty="0">
                <a:latin typeface="Verdana" panose="020B0604030504040204" pitchFamily="34" charset="0"/>
                <a:ea typeface="宋体" panose="02010600030101010101" pitchFamily="2" charset="-122"/>
                <a:sym typeface="Symbol" panose="05050102010706020507" pitchFamily="18" charset="2"/>
              </a:rPr>
              <a:t> | </a:t>
            </a:r>
            <a:r>
              <a:rPr lang="en-US" altLang="zh-CN" i="1" dirty="0">
                <a:latin typeface="Verdana" panose="020B0604030504040204" pitchFamily="34" charset="0"/>
                <a:ea typeface="宋体" panose="02010600030101010101" pitchFamily="2" charset="-122"/>
                <a:sym typeface="Symbol" panose="05050102010706020507" pitchFamily="18" charset="2"/>
              </a:rPr>
              <a:t></a:t>
            </a:r>
            <a:r>
              <a:rPr lang="en-US" altLang="zh-CN" dirty="0">
                <a:latin typeface="Verdana" panose="020B0604030504040204" pitchFamily="34" charset="0"/>
                <a:ea typeface="宋体" panose="02010600030101010101" pitchFamily="2" charset="-122"/>
                <a:sym typeface="Symbol" panose="05050102010706020507" pitchFamily="18" charset="2"/>
              </a:rPr>
              <a:t> | </a:t>
            </a:r>
            <a:r>
              <a:rPr lang="en-US" altLang="zh-CN" i="1" dirty="0">
                <a:latin typeface="Verdana" panose="020B0604030504040204" pitchFamily="34" charset="0"/>
                <a:ea typeface="宋体" panose="02010600030101010101" pitchFamily="2" charset="-122"/>
                <a:sym typeface="Symbol" panose="05050102010706020507" pitchFamily="18" charset="2"/>
              </a:rPr>
              <a:t> </a:t>
            </a:r>
          </a:p>
          <a:p>
            <a:pPr marL="1440000" lvl="1" eaLnBrk="1" hangingPunct="1">
              <a:lnSpc>
                <a:spcPct val="150000"/>
              </a:lnSpc>
            </a:pPr>
            <a:r>
              <a:rPr kumimoji="0" lang="en-US" altLang="zh-CN" i="1" dirty="0">
                <a:ea typeface="宋体" panose="02010600030101010101" pitchFamily="2" charset="-122"/>
                <a:sym typeface="Symbol" panose="05050102010706020507" pitchFamily="18" charset="2"/>
              </a:rPr>
              <a:t></a:t>
            </a:r>
            <a:r>
              <a:rPr kumimoji="0" lang="en-US" altLang="zh-CN" dirty="0">
                <a:ea typeface="宋体" panose="02010600030101010101" pitchFamily="2" charset="-122"/>
                <a:sym typeface="Symbol" panose="05050102010706020507" pitchFamily="18" charset="2"/>
              </a:rPr>
              <a:t>	</a:t>
            </a:r>
            <a:r>
              <a:rPr kumimoji="0" lang="en-US" altLang="zh-CN" dirty="0">
                <a:ea typeface="宋体" panose="02010600030101010101" pitchFamily="2" charset="-122"/>
              </a:rPr>
              <a:t>machine environment (</a:t>
            </a:r>
            <a:r>
              <a:rPr kumimoji="0" lang="zh-CN" altLang="en-US" dirty="0">
                <a:ea typeface="宋体" panose="02010600030101010101" pitchFamily="2" charset="-122"/>
              </a:rPr>
              <a:t>机器环境</a:t>
            </a:r>
            <a:r>
              <a:rPr kumimoji="0" lang="en-US" altLang="zh-CN" dirty="0">
                <a:ea typeface="宋体" panose="02010600030101010101" pitchFamily="2" charset="-122"/>
              </a:rPr>
              <a:t>)</a:t>
            </a:r>
          </a:p>
          <a:p>
            <a:pPr marL="1440000" lvl="1" eaLnBrk="1" hangingPunct="1">
              <a:lnSpc>
                <a:spcPct val="150000"/>
              </a:lnSpc>
            </a:pPr>
            <a:r>
              <a:rPr kumimoji="0" lang="en-US" altLang="zh-CN" i="1" dirty="0">
                <a:ea typeface="宋体" panose="02010600030101010101" pitchFamily="2" charset="-122"/>
                <a:sym typeface="Symbol" panose="05050102010706020507" pitchFamily="18" charset="2"/>
              </a:rPr>
              <a:t></a:t>
            </a:r>
            <a:r>
              <a:rPr kumimoji="0" lang="en-US" altLang="zh-CN" dirty="0">
                <a:ea typeface="宋体" panose="02010600030101010101" pitchFamily="2" charset="-122"/>
                <a:sym typeface="Symbol" panose="05050102010706020507" pitchFamily="18" charset="2"/>
              </a:rPr>
              <a:t>	</a:t>
            </a:r>
            <a:r>
              <a:rPr kumimoji="0" lang="en-US" altLang="zh-CN" dirty="0">
                <a:ea typeface="宋体" panose="02010600030101010101" pitchFamily="2" charset="-122"/>
              </a:rPr>
              <a:t>job characteristics (</a:t>
            </a:r>
            <a:r>
              <a:rPr kumimoji="0" lang="zh-CN" altLang="en-US" dirty="0">
                <a:ea typeface="宋体" panose="02010600030101010101" pitchFamily="2" charset="-122"/>
              </a:rPr>
              <a:t>工件</a:t>
            </a:r>
            <a:r>
              <a:rPr kumimoji="0" lang="en-US" altLang="zh-CN" dirty="0">
                <a:ea typeface="宋体" panose="02010600030101010101" pitchFamily="2" charset="-122"/>
              </a:rPr>
              <a:t>/</a:t>
            </a:r>
            <a:r>
              <a:rPr kumimoji="0" lang="zh-CN" altLang="en-US" dirty="0">
                <a:ea typeface="宋体" panose="02010600030101010101" pitchFamily="2" charset="-122"/>
              </a:rPr>
              <a:t>任务特征</a:t>
            </a:r>
            <a:r>
              <a:rPr kumimoji="0" lang="en-US" altLang="zh-CN" dirty="0">
                <a:ea typeface="宋体" panose="02010600030101010101" pitchFamily="2" charset="-122"/>
              </a:rPr>
              <a:t>)</a:t>
            </a:r>
          </a:p>
          <a:p>
            <a:pPr marL="1440000" lvl="1" eaLnBrk="1" hangingPunct="1">
              <a:lnSpc>
                <a:spcPct val="150000"/>
              </a:lnSpc>
            </a:pPr>
            <a:r>
              <a:rPr kumimoji="0" lang="en-US" altLang="zh-CN" i="1" dirty="0">
                <a:ea typeface="宋体" panose="02010600030101010101" pitchFamily="2" charset="-122"/>
                <a:sym typeface="Symbol" panose="05050102010706020507" pitchFamily="18" charset="2"/>
              </a:rPr>
              <a:t></a:t>
            </a:r>
            <a:r>
              <a:rPr kumimoji="0" lang="en-US" altLang="zh-CN" dirty="0">
                <a:ea typeface="宋体" panose="02010600030101010101" pitchFamily="2" charset="-122"/>
              </a:rPr>
              <a:t> 	optimality criteria (</a:t>
            </a:r>
            <a:r>
              <a:rPr kumimoji="0" lang="zh-CN" altLang="en-US" dirty="0">
                <a:ea typeface="宋体" panose="02010600030101010101" pitchFamily="2" charset="-122"/>
              </a:rPr>
              <a:t>优化指标</a:t>
            </a:r>
            <a:r>
              <a:rPr kumimoji="0" lang="en-US" altLang="zh-CN" dirty="0">
                <a:ea typeface="宋体" panose="02010600030101010101" pitchFamily="2" charset="-122"/>
              </a:rPr>
              <a:t>)</a:t>
            </a:r>
          </a:p>
          <a:p>
            <a:pPr marL="0" indent="0" eaLnBrk="1" hangingPunct="1"/>
            <a:endParaRPr lang="en-US" altLang="zh-CN" dirty="0">
              <a:latin typeface="Verdana" panose="020B0604030504040204" pitchFamily="34" charset="0"/>
              <a:ea typeface="宋体" panose="02010600030101010101" pitchFamily="2" charset="-122"/>
            </a:endParaRPr>
          </a:p>
        </p:txBody>
      </p:sp>
      <p:sp>
        <p:nvSpPr>
          <p:cNvPr id="3174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457200" y="152400"/>
            <a:ext cx="7391400" cy="533400"/>
          </a:xfrm>
        </p:spPr>
        <p:txBody>
          <a:bodyPr>
            <a:normAutofit fontScale="90000"/>
          </a:bodyPr>
          <a:lstStyle/>
          <a:p>
            <a:pPr eaLnBrk="1" hangingPunct="1">
              <a:defRPr/>
            </a:pPr>
            <a:r>
              <a:rPr kumimoji="0" lang="en-US" altLang="zh-CN" b="1" dirty="0">
                <a:latin typeface="Verdana" charset="0"/>
                <a:cs typeface="宋体" charset="0"/>
              </a:rPr>
              <a:t>Machine Configuration</a:t>
            </a:r>
          </a:p>
        </p:txBody>
      </p:sp>
      <p:sp>
        <p:nvSpPr>
          <p:cNvPr id="32771" name="Rectangle 3"/>
          <p:cNvSpPr>
            <a:spLocks noGrp="1" noChangeArrowheads="1"/>
          </p:cNvSpPr>
          <p:nvPr>
            <p:ph type="body" idx="1"/>
          </p:nvPr>
        </p:nvSpPr>
        <p:spPr/>
        <p:txBody>
          <a:bodyPr/>
          <a:lstStyle/>
          <a:p>
            <a:pPr marL="0" indent="0" eaLnBrk="1" hangingPunct="1">
              <a:buFont typeface="Wingdings" panose="05000000000000000000" pitchFamily="2" charset="2"/>
              <a:buNone/>
            </a:pPr>
            <a:r>
              <a:rPr lang="en-US" altLang="zh-CN" dirty="0">
                <a:latin typeface="Verdana" panose="020B0604030504040204" pitchFamily="34" charset="0"/>
                <a:ea typeface="宋体" panose="02010600030101010101" pitchFamily="2" charset="-122"/>
              </a:rPr>
              <a:t>• Standard machine configurations:</a:t>
            </a:r>
          </a:p>
          <a:p>
            <a:pPr marL="0" indent="0" eaLnBrk="1" hangingPunct="1">
              <a:buFont typeface="Wingdings" panose="05000000000000000000" pitchFamily="2" charset="2"/>
              <a:buNone/>
            </a:pPr>
            <a:r>
              <a:rPr lang="en-US" altLang="zh-CN" dirty="0">
                <a:latin typeface="Verdana" panose="020B0604030504040204" pitchFamily="34" charset="0"/>
                <a:ea typeface="宋体" panose="02010600030101010101" pitchFamily="2" charset="-122"/>
              </a:rPr>
              <a:t>   – Single machine models (</a:t>
            </a:r>
            <a:r>
              <a:rPr lang="zh-CN" altLang="en-US" dirty="0">
                <a:latin typeface="Verdana" panose="020B0604030504040204" pitchFamily="34" charset="0"/>
                <a:ea typeface="宋体" panose="02010600030101010101" pitchFamily="2" charset="-122"/>
              </a:rPr>
              <a:t>单机模型</a:t>
            </a:r>
            <a:r>
              <a:rPr lang="en-US" altLang="zh-CN" dirty="0">
                <a:latin typeface="Verdana" panose="020B0604030504040204" pitchFamily="34" charset="0"/>
                <a:ea typeface="宋体" panose="02010600030101010101" pitchFamily="2" charset="-122"/>
              </a:rPr>
              <a:t>)</a:t>
            </a:r>
          </a:p>
          <a:p>
            <a:pPr marL="0" indent="0" eaLnBrk="1" hangingPunct="1"/>
            <a:r>
              <a:rPr lang="en-US" altLang="zh-CN" dirty="0">
                <a:latin typeface="Verdana" panose="020B0604030504040204" pitchFamily="34" charset="0"/>
                <a:ea typeface="宋体" panose="02010600030101010101" pitchFamily="2" charset="-122"/>
              </a:rPr>
              <a:t>   – Parallel machine models(</a:t>
            </a:r>
            <a:r>
              <a:rPr lang="zh-CN" altLang="en-US" dirty="0">
                <a:latin typeface="Verdana" panose="020B0604030504040204" pitchFamily="34" charset="0"/>
                <a:ea typeface="宋体" panose="02010600030101010101" pitchFamily="2" charset="-122"/>
              </a:rPr>
              <a:t>平行机</a:t>
            </a:r>
            <a:r>
              <a:rPr lang="en-US" altLang="zh-CN" dirty="0">
                <a:latin typeface="Verdana" panose="020B0604030504040204" pitchFamily="34" charset="0"/>
                <a:ea typeface="宋体" panose="02010600030101010101" pitchFamily="2" charset="-122"/>
              </a:rPr>
              <a:t>/</a:t>
            </a:r>
            <a:r>
              <a:rPr lang="zh-CN" altLang="en-US" dirty="0">
                <a:latin typeface="Verdana" panose="020B0604030504040204" pitchFamily="34" charset="0"/>
                <a:ea typeface="宋体" panose="02010600030101010101" pitchFamily="2" charset="-122"/>
              </a:rPr>
              <a:t>并行机模型</a:t>
            </a:r>
            <a:r>
              <a:rPr lang="en-US" altLang="zh-CN" dirty="0">
                <a:latin typeface="Verdana" panose="020B0604030504040204" pitchFamily="34" charset="0"/>
                <a:ea typeface="宋体" panose="02010600030101010101" pitchFamily="2" charset="-122"/>
              </a:rPr>
              <a:t>)</a:t>
            </a:r>
          </a:p>
          <a:p>
            <a:pPr marL="0" indent="0" eaLnBrk="1" hangingPunct="1">
              <a:buFont typeface="Wingdings" panose="05000000000000000000" pitchFamily="2" charset="2"/>
              <a:buNone/>
            </a:pPr>
            <a:r>
              <a:rPr lang="en-US" altLang="zh-CN" dirty="0">
                <a:latin typeface="Verdana" panose="020B0604030504040204" pitchFamily="34" charset="0"/>
                <a:ea typeface="宋体" panose="02010600030101010101" pitchFamily="2" charset="-122"/>
              </a:rPr>
              <a:t>   – Flow shop models (</a:t>
            </a:r>
            <a:r>
              <a:rPr lang="zh-CN" altLang="en-US" dirty="0">
                <a:latin typeface="Verdana" panose="020B0604030504040204" pitchFamily="34" charset="0"/>
                <a:ea typeface="宋体" panose="02010600030101010101" pitchFamily="2" charset="-122"/>
              </a:rPr>
              <a:t>流水作业模型</a:t>
            </a:r>
            <a:r>
              <a:rPr lang="en-US" altLang="zh-CN" dirty="0">
                <a:latin typeface="Verdana" panose="020B0604030504040204" pitchFamily="34" charset="0"/>
                <a:ea typeface="宋体" panose="02010600030101010101" pitchFamily="2" charset="-122"/>
              </a:rPr>
              <a:t>)</a:t>
            </a:r>
          </a:p>
          <a:p>
            <a:pPr marL="0" indent="0" eaLnBrk="1" hangingPunct="1">
              <a:buFont typeface="Wingdings" panose="05000000000000000000" pitchFamily="2" charset="2"/>
              <a:buNone/>
            </a:pPr>
            <a:r>
              <a:rPr lang="en-US" altLang="zh-CN" dirty="0">
                <a:latin typeface="Verdana" panose="020B0604030504040204" pitchFamily="34" charset="0"/>
                <a:ea typeface="宋体" panose="02010600030101010101" pitchFamily="2" charset="-122"/>
              </a:rPr>
              <a:t>   – Job shop models (</a:t>
            </a:r>
            <a:r>
              <a:rPr lang="zh-CN" altLang="en-US" dirty="0">
                <a:latin typeface="Verdana" panose="020B0604030504040204" pitchFamily="34" charset="0"/>
                <a:ea typeface="宋体" panose="02010600030101010101" pitchFamily="2" charset="-122"/>
              </a:rPr>
              <a:t>异序作业模型</a:t>
            </a:r>
            <a:r>
              <a:rPr lang="en-US" altLang="zh-CN" dirty="0">
                <a:latin typeface="Verdana" panose="020B0604030504040204" pitchFamily="34" charset="0"/>
                <a:ea typeface="宋体" panose="02010600030101010101" pitchFamily="2" charset="-122"/>
              </a:rPr>
              <a:t>)</a:t>
            </a:r>
          </a:p>
          <a:p>
            <a:pPr marL="0" indent="0" eaLnBrk="1" hangingPunct="1">
              <a:buFont typeface="Wingdings" panose="05000000000000000000" pitchFamily="2" charset="2"/>
              <a:buNone/>
            </a:pPr>
            <a:r>
              <a:rPr lang="en-US" altLang="zh-CN" dirty="0">
                <a:latin typeface="Verdana" panose="020B0604030504040204" pitchFamily="34" charset="0"/>
                <a:ea typeface="宋体" panose="02010600030101010101" pitchFamily="2" charset="-122"/>
              </a:rPr>
              <a:t>• Real world always more complicated.</a:t>
            </a:r>
          </a:p>
        </p:txBody>
      </p:sp>
      <p:sp>
        <p:nvSpPr>
          <p:cNvPr id="3277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Machine Configurations</a:t>
            </a:r>
          </a:p>
        </p:txBody>
      </p:sp>
      <p:grpSp>
        <p:nvGrpSpPr>
          <p:cNvPr id="33795" name="Group 3"/>
          <p:cNvGrpSpPr>
            <a:grpSpLocks/>
          </p:cNvGrpSpPr>
          <p:nvPr/>
        </p:nvGrpSpPr>
        <p:grpSpPr bwMode="auto">
          <a:xfrm>
            <a:off x="914400" y="1600200"/>
            <a:ext cx="1905000" cy="381000"/>
            <a:chOff x="576" y="1632"/>
            <a:chExt cx="1200" cy="240"/>
          </a:xfrm>
        </p:grpSpPr>
        <p:sp>
          <p:nvSpPr>
            <p:cNvPr id="33853" name="Rectangle 4"/>
            <p:cNvSpPr>
              <a:spLocks noChangeArrowheads="1"/>
            </p:cNvSpPr>
            <p:nvPr/>
          </p:nvSpPr>
          <p:spPr bwMode="auto">
            <a:xfrm>
              <a:off x="1536" y="1632"/>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54" name="Line 5"/>
            <p:cNvSpPr>
              <a:spLocks noChangeShapeType="1"/>
            </p:cNvSpPr>
            <p:nvPr/>
          </p:nvSpPr>
          <p:spPr bwMode="auto">
            <a:xfrm>
              <a:off x="912" y="1776"/>
              <a:ext cx="48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5" name="Oval 6"/>
            <p:cNvSpPr>
              <a:spLocks noChangeArrowheads="1"/>
            </p:cNvSpPr>
            <p:nvPr/>
          </p:nvSpPr>
          <p:spPr bwMode="auto">
            <a:xfrm>
              <a:off x="720" y="1728"/>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56" name="Oval 7"/>
            <p:cNvSpPr>
              <a:spLocks noChangeArrowheads="1"/>
            </p:cNvSpPr>
            <p:nvPr/>
          </p:nvSpPr>
          <p:spPr bwMode="auto">
            <a:xfrm>
              <a:off x="576" y="1728"/>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grpSp>
      <p:grpSp>
        <p:nvGrpSpPr>
          <p:cNvPr id="33796" name="Group 8"/>
          <p:cNvGrpSpPr>
            <a:grpSpLocks/>
          </p:cNvGrpSpPr>
          <p:nvPr/>
        </p:nvGrpSpPr>
        <p:grpSpPr bwMode="auto">
          <a:xfrm>
            <a:off x="5334000" y="914400"/>
            <a:ext cx="2743200" cy="1828800"/>
            <a:chOff x="2928" y="1248"/>
            <a:chExt cx="1728" cy="1152"/>
          </a:xfrm>
        </p:grpSpPr>
        <p:sp>
          <p:nvSpPr>
            <p:cNvPr id="33844" name="Rectangle 9"/>
            <p:cNvSpPr>
              <a:spLocks noChangeArrowheads="1"/>
            </p:cNvSpPr>
            <p:nvPr/>
          </p:nvSpPr>
          <p:spPr bwMode="auto">
            <a:xfrm>
              <a:off x="4416" y="1248"/>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5" name="Rectangle 10"/>
            <p:cNvSpPr>
              <a:spLocks noChangeArrowheads="1"/>
            </p:cNvSpPr>
            <p:nvPr/>
          </p:nvSpPr>
          <p:spPr bwMode="auto">
            <a:xfrm>
              <a:off x="4416" y="2160"/>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6" name="Rectangle 11"/>
            <p:cNvSpPr>
              <a:spLocks noChangeArrowheads="1"/>
            </p:cNvSpPr>
            <p:nvPr/>
          </p:nvSpPr>
          <p:spPr bwMode="auto">
            <a:xfrm>
              <a:off x="4416" y="1704"/>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7" name="Oval 12"/>
            <p:cNvSpPr>
              <a:spLocks noChangeArrowheads="1"/>
            </p:cNvSpPr>
            <p:nvPr/>
          </p:nvSpPr>
          <p:spPr bwMode="auto">
            <a:xfrm>
              <a:off x="3312" y="1776"/>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8" name="Oval 13"/>
            <p:cNvSpPr>
              <a:spLocks noChangeArrowheads="1"/>
            </p:cNvSpPr>
            <p:nvPr/>
          </p:nvSpPr>
          <p:spPr bwMode="auto">
            <a:xfrm>
              <a:off x="3120" y="1776"/>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9" name="Oval 14"/>
            <p:cNvSpPr>
              <a:spLocks noChangeArrowheads="1"/>
            </p:cNvSpPr>
            <p:nvPr/>
          </p:nvSpPr>
          <p:spPr bwMode="auto">
            <a:xfrm>
              <a:off x="2928" y="1776"/>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50" name="Line 15"/>
            <p:cNvSpPr>
              <a:spLocks noChangeShapeType="1"/>
            </p:cNvSpPr>
            <p:nvPr/>
          </p:nvSpPr>
          <p:spPr bwMode="auto">
            <a:xfrm flipV="1">
              <a:off x="3504" y="1392"/>
              <a:ext cx="768" cy="38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1" name="Line 16"/>
            <p:cNvSpPr>
              <a:spLocks noChangeShapeType="1"/>
            </p:cNvSpPr>
            <p:nvPr/>
          </p:nvSpPr>
          <p:spPr bwMode="auto">
            <a:xfrm>
              <a:off x="3504" y="1824"/>
              <a:ext cx="76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52" name="Line 17"/>
            <p:cNvSpPr>
              <a:spLocks noChangeShapeType="1"/>
            </p:cNvSpPr>
            <p:nvPr/>
          </p:nvSpPr>
          <p:spPr bwMode="auto">
            <a:xfrm>
              <a:off x="3504" y="1872"/>
              <a:ext cx="768" cy="31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3797" name="Group 18"/>
          <p:cNvGrpSpPr>
            <a:grpSpLocks/>
          </p:cNvGrpSpPr>
          <p:nvPr/>
        </p:nvGrpSpPr>
        <p:grpSpPr bwMode="auto">
          <a:xfrm>
            <a:off x="990600" y="2895600"/>
            <a:ext cx="4191000" cy="419100"/>
            <a:chOff x="336" y="960"/>
            <a:chExt cx="2640" cy="264"/>
          </a:xfrm>
        </p:grpSpPr>
        <p:sp>
          <p:nvSpPr>
            <p:cNvPr id="33836" name="Rectangle 19"/>
            <p:cNvSpPr>
              <a:spLocks noChangeArrowheads="1"/>
            </p:cNvSpPr>
            <p:nvPr/>
          </p:nvSpPr>
          <p:spPr bwMode="auto">
            <a:xfrm>
              <a:off x="2736" y="960"/>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37" name="Line 20"/>
            <p:cNvSpPr>
              <a:spLocks noChangeShapeType="1"/>
            </p:cNvSpPr>
            <p:nvPr/>
          </p:nvSpPr>
          <p:spPr bwMode="auto">
            <a:xfrm>
              <a:off x="720" y="1105"/>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8" name="Oval 21"/>
            <p:cNvSpPr>
              <a:spLocks noChangeArrowheads="1"/>
            </p:cNvSpPr>
            <p:nvPr/>
          </p:nvSpPr>
          <p:spPr bwMode="auto">
            <a:xfrm>
              <a:off x="528" y="1056"/>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39" name="Oval 22"/>
            <p:cNvSpPr>
              <a:spLocks noChangeArrowheads="1"/>
            </p:cNvSpPr>
            <p:nvPr/>
          </p:nvSpPr>
          <p:spPr bwMode="auto">
            <a:xfrm>
              <a:off x="336" y="1056"/>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0" name="Rectangle 23"/>
            <p:cNvSpPr>
              <a:spLocks noChangeArrowheads="1"/>
            </p:cNvSpPr>
            <p:nvPr/>
          </p:nvSpPr>
          <p:spPr bwMode="auto">
            <a:xfrm>
              <a:off x="1968" y="960"/>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1" name="Rectangle 24"/>
            <p:cNvSpPr>
              <a:spLocks noChangeArrowheads="1"/>
            </p:cNvSpPr>
            <p:nvPr/>
          </p:nvSpPr>
          <p:spPr bwMode="auto">
            <a:xfrm>
              <a:off x="1152" y="984"/>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42" name="Line 25"/>
            <p:cNvSpPr>
              <a:spLocks noChangeShapeType="1"/>
            </p:cNvSpPr>
            <p:nvPr/>
          </p:nvSpPr>
          <p:spPr bwMode="auto">
            <a:xfrm>
              <a:off x="2304" y="1105"/>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43" name="Line 26"/>
            <p:cNvSpPr>
              <a:spLocks noChangeShapeType="1"/>
            </p:cNvSpPr>
            <p:nvPr/>
          </p:nvSpPr>
          <p:spPr bwMode="auto">
            <a:xfrm>
              <a:off x="1536" y="1105"/>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3798" name="Group 27"/>
          <p:cNvGrpSpPr>
            <a:grpSpLocks/>
          </p:cNvGrpSpPr>
          <p:nvPr/>
        </p:nvGrpSpPr>
        <p:grpSpPr bwMode="auto">
          <a:xfrm>
            <a:off x="990600" y="4038600"/>
            <a:ext cx="6705600" cy="2286000"/>
            <a:chOff x="480" y="1752"/>
            <a:chExt cx="4224" cy="1440"/>
          </a:xfrm>
        </p:grpSpPr>
        <p:sp>
          <p:nvSpPr>
            <p:cNvPr id="33804" name="Rectangle 28"/>
            <p:cNvSpPr>
              <a:spLocks noChangeArrowheads="1"/>
            </p:cNvSpPr>
            <p:nvPr/>
          </p:nvSpPr>
          <p:spPr bwMode="auto">
            <a:xfrm>
              <a:off x="2208" y="2952"/>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05" name="Rectangle 29"/>
            <p:cNvSpPr>
              <a:spLocks noChangeArrowheads="1"/>
            </p:cNvSpPr>
            <p:nvPr/>
          </p:nvSpPr>
          <p:spPr bwMode="auto">
            <a:xfrm>
              <a:off x="2184" y="1776"/>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06" name="Rectangle 30"/>
            <p:cNvSpPr>
              <a:spLocks noChangeArrowheads="1"/>
            </p:cNvSpPr>
            <p:nvPr/>
          </p:nvSpPr>
          <p:spPr bwMode="auto">
            <a:xfrm>
              <a:off x="2208" y="2376"/>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07" name="Oval 31"/>
            <p:cNvSpPr>
              <a:spLocks noChangeArrowheads="1"/>
            </p:cNvSpPr>
            <p:nvPr/>
          </p:nvSpPr>
          <p:spPr bwMode="auto">
            <a:xfrm>
              <a:off x="672" y="2496"/>
              <a:ext cx="96" cy="96"/>
            </a:xfrm>
            <a:prstGeom prst="ellipse">
              <a:avLst/>
            </a:prstGeom>
            <a:solidFill>
              <a:srgbClr val="FFCC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08" name="Oval 32"/>
            <p:cNvSpPr>
              <a:spLocks noChangeArrowheads="1"/>
            </p:cNvSpPr>
            <p:nvPr/>
          </p:nvSpPr>
          <p:spPr bwMode="auto">
            <a:xfrm>
              <a:off x="720" y="1824"/>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09" name="Oval 33"/>
            <p:cNvSpPr>
              <a:spLocks noChangeArrowheads="1"/>
            </p:cNvSpPr>
            <p:nvPr/>
          </p:nvSpPr>
          <p:spPr bwMode="auto">
            <a:xfrm>
              <a:off x="528" y="1824"/>
              <a:ext cx="96" cy="96"/>
            </a:xfrm>
            <a:prstGeom prst="ellipse">
              <a:avLst/>
            </a:prstGeom>
            <a:solidFill>
              <a:srgbClr val="FF00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0" name="Line 34"/>
            <p:cNvSpPr>
              <a:spLocks noChangeShapeType="1"/>
            </p:cNvSpPr>
            <p:nvPr/>
          </p:nvSpPr>
          <p:spPr bwMode="auto">
            <a:xfrm>
              <a:off x="1536" y="2517"/>
              <a:ext cx="576"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11" name="Rectangle 35"/>
            <p:cNvSpPr>
              <a:spLocks noChangeArrowheads="1"/>
            </p:cNvSpPr>
            <p:nvPr/>
          </p:nvSpPr>
          <p:spPr bwMode="auto">
            <a:xfrm>
              <a:off x="1152" y="2376"/>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2" name="Rectangle 36"/>
            <p:cNvSpPr>
              <a:spLocks noChangeArrowheads="1"/>
            </p:cNvSpPr>
            <p:nvPr/>
          </p:nvSpPr>
          <p:spPr bwMode="auto">
            <a:xfrm>
              <a:off x="1152" y="1752"/>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3" name="Rectangle 37"/>
            <p:cNvSpPr>
              <a:spLocks noChangeArrowheads="1"/>
            </p:cNvSpPr>
            <p:nvPr/>
          </p:nvSpPr>
          <p:spPr bwMode="auto">
            <a:xfrm>
              <a:off x="3072" y="2952"/>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4" name="Rectangle 38"/>
            <p:cNvSpPr>
              <a:spLocks noChangeArrowheads="1"/>
            </p:cNvSpPr>
            <p:nvPr/>
          </p:nvSpPr>
          <p:spPr bwMode="auto">
            <a:xfrm>
              <a:off x="3048" y="2376"/>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5" name="Oval 39"/>
            <p:cNvSpPr>
              <a:spLocks noChangeArrowheads="1"/>
            </p:cNvSpPr>
            <p:nvPr/>
          </p:nvSpPr>
          <p:spPr bwMode="auto">
            <a:xfrm>
              <a:off x="1824" y="3096"/>
              <a:ext cx="96" cy="96"/>
            </a:xfrm>
            <a:prstGeom prst="ellipse">
              <a:avLst/>
            </a:prstGeom>
            <a:solidFill>
              <a:srgbClr val="3366FF"/>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6" name="Oval 40"/>
            <p:cNvSpPr>
              <a:spLocks noChangeArrowheads="1"/>
            </p:cNvSpPr>
            <p:nvPr/>
          </p:nvSpPr>
          <p:spPr bwMode="auto">
            <a:xfrm>
              <a:off x="1632" y="3096"/>
              <a:ext cx="96" cy="96"/>
            </a:xfrm>
            <a:prstGeom prst="ellipse">
              <a:avLst/>
            </a:prstGeom>
            <a:solidFill>
              <a:srgbClr val="3366FF"/>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7" name="Oval 41"/>
            <p:cNvSpPr>
              <a:spLocks noChangeArrowheads="1"/>
            </p:cNvSpPr>
            <p:nvPr/>
          </p:nvSpPr>
          <p:spPr bwMode="auto">
            <a:xfrm>
              <a:off x="480" y="2496"/>
              <a:ext cx="96" cy="96"/>
            </a:xfrm>
            <a:prstGeom prst="ellipse">
              <a:avLst/>
            </a:prstGeom>
            <a:solidFill>
              <a:srgbClr val="FFCC00"/>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8" name="Oval 42"/>
            <p:cNvSpPr>
              <a:spLocks noChangeArrowheads="1"/>
            </p:cNvSpPr>
            <p:nvPr/>
          </p:nvSpPr>
          <p:spPr bwMode="auto">
            <a:xfrm>
              <a:off x="864" y="2496"/>
              <a:ext cx="96" cy="96"/>
            </a:xfrm>
            <a:prstGeom prst="ellipse">
              <a:avLst/>
            </a:prstGeom>
            <a:solidFill>
              <a:schemeClr val="tx2"/>
            </a:solidFill>
            <a:ln w="38100">
              <a:solidFill>
                <a:schemeClr val="accent2"/>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19" name="Line 43"/>
            <p:cNvSpPr>
              <a:spLocks noChangeShapeType="1"/>
            </p:cNvSpPr>
            <p:nvPr/>
          </p:nvSpPr>
          <p:spPr bwMode="auto">
            <a:xfrm>
              <a:off x="2544" y="1920"/>
              <a:ext cx="384" cy="336"/>
            </a:xfrm>
            <a:prstGeom prst="line">
              <a:avLst/>
            </a:prstGeom>
            <a:noFill/>
            <a:ln w="38100">
              <a:solidFill>
                <a:srgbClr val="FFCC00"/>
              </a:solidFill>
              <a:prstDash val="dash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0" name="Line 44"/>
            <p:cNvSpPr>
              <a:spLocks noChangeShapeType="1"/>
            </p:cNvSpPr>
            <p:nvPr/>
          </p:nvSpPr>
          <p:spPr bwMode="auto">
            <a:xfrm flipV="1">
              <a:off x="1536" y="1920"/>
              <a:ext cx="576" cy="456"/>
            </a:xfrm>
            <a:prstGeom prst="line">
              <a:avLst/>
            </a:prstGeom>
            <a:noFill/>
            <a:ln w="38100">
              <a:solidFill>
                <a:srgbClr val="FFCC00"/>
              </a:solidFill>
              <a:prstDash val="dash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1" name="Rectangle 45"/>
            <p:cNvSpPr>
              <a:spLocks noChangeArrowheads="1"/>
            </p:cNvSpPr>
            <p:nvPr/>
          </p:nvSpPr>
          <p:spPr bwMode="auto">
            <a:xfrm>
              <a:off x="3912" y="2952"/>
              <a:ext cx="240" cy="240"/>
            </a:xfrm>
            <a:prstGeom prst="rect">
              <a:avLst/>
            </a:prstGeom>
            <a:solidFill>
              <a:schemeClr val="accent1"/>
            </a:solidFill>
            <a:ln w="38100">
              <a:solidFill>
                <a:schemeClr val="accent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3822" name="Line 46"/>
            <p:cNvSpPr>
              <a:spLocks noChangeShapeType="1"/>
            </p:cNvSpPr>
            <p:nvPr/>
          </p:nvSpPr>
          <p:spPr bwMode="auto">
            <a:xfrm>
              <a:off x="3072" y="2688"/>
              <a:ext cx="0" cy="192"/>
            </a:xfrm>
            <a:prstGeom prst="line">
              <a:avLst/>
            </a:prstGeom>
            <a:noFill/>
            <a:ln w="38100">
              <a:solidFill>
                <a:srgbClr val="FFCC00"/>
              </a:solidFill>
              <a:prstDash val="dash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3" name="Line 47"/>
            <p:cNvSpPr>
              <a:spLocks noChangeShapeType="1"/>
            </p:cNvSpPr>
            <p:nvPr/>
          </p:nvSpPr>
          <p:spPr bwMode="auto">
            <a:xfrm>
              <a:off x="3408" y="3139"/>
              <a:ext cx="384" cy="0"/>
            </a:xfrm>
            <a:prstGeom prst="line">
              <a:avLst/>
            </a:prstGeom>
            <a:noFill/>
            <a:ln w="38100">
              <a:solidFill>
                <a:srgbClr val="3366FF"/>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4" name="Line 48"/>
            <p:cNvSpPr>
              <a:spLocks noChangeShapeType="1"/>
            </p:cNvSpPr>
            <p:nvPr/>
          </p:nvSpPr>
          <p:spPr bwMode="auto">
            <a:xfrm>
              <a:off x="1536" y="1872"/>
              <a:ext cx="576" cy="0"/>
            </a:xfrm>
            <a:prstGeom prst="line">
              <a:avLst/>
            </a:prstGeom>
            <a:noFill/>
            <a:ln w="381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5" name="Line 49"/>
            <p:cNvSpPr>
              <a:spLocks noChangeShapeType="1"/>
            </p:cNvSpPr>
            <p:nvPr/>
          </p:nvSpPr>
          <p:spPr bwMode="auto">
            <a:xfrm>
              <a:off x="2610" y="2494"/>
              <a:ext cx="384" cy="0"/>
            </a:xfrm>
            <a:prstGeom prst="line">
              <a:avLst/>
            </a:prstGeom>
            <a:noFill/>
            <a:ln w="38100">
              <a:solidFill>
                <a:srgbClr val="3366FF"/>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6" name="Line 50"/>
            <p:cNvSpPr>
              <a:spLocks noChangeShapeType="1"/>
            </p:cNvSpPr>
            <p:nvPr/>
          </p:nvSpPr>
          <p:spPr bwMode="auto">
            <a:xfrm>
              <a:off x="2544" y="2517"/>
              <a:ext cx="432" cy="435"/>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7" name="Line 51"/>
            <p:cNvSpPr>
              <a:spLocks noChangeShapeType="1"/>
            </p:cNvSpPr>
            <p:nvPr/>
          </p:nvSpPr>
          <p:spPr bwMode="auto">
            <a:xfrm flipH="1" flipV="1">
              <a:off x="2448" y="2016"/>
              <a:ext cx="624" cy="936"/>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8" name="Line 52"/>
            <p:cNvSpPr>
              <a:spLocks noChangeShapeType="1"/>
            </p:cNvSpPr>
            <p:nvPr/>
          </p:nvSpPr>
          <p:spPr bwMode="auto">
            <a:xfrm>
              <a:off x="2640" y="1848"/>
              <a:ext cx="384" cy="336"/>
            </a:xfrm>
            <a:prstGeom prst="line">
              <a:avLst/>
            </a:prstGeom>
            <a:noFill/>
            <a:ln w="381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29" name="Line 53"/>
            <p:cNvSpPr>
              <a:spLocks noChangeShapeType="1"/>
            </p:cNvSpPr>
            <p:nvPr/>
          </p:nvSpPr>
          <p:spPr bwMode="auto">
            <a:xfrm>
              <a:off x="3408" y="2496"/>
              <a:ext cx="384" cy="0"/>
            </a:xfrm>
            <a:prstGeom prst="line">
              <a:avLst/>
            </a:prstGeom>
            <a:noFill/>
            <a:ln w="38100">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0" name="Line 54"/>
            <p:cNvSpPr>
              <a:spLocks noChangeShapeType="1"/>
            </p:cNvSpPr>
            <p:nvPr/>
          </p:nvSpPr>
          <p:spPr bwMode="auto">
            <a:xfrm>
              <a:off x="4320" y="3155"/>
              <a:ext cx="384" cy="0"/>
            </a:xfrm>
            <a:prstGeom prst="line">
              <a:avLst/>
            </a:prstGeom>
            <a:noFill/>
            <a:ln w="38100">
              <a:solidFill>
                <a:srgbClr val="3366FF"/>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1" name="Line 55"/>
            <p:cNvSpPr>
              <a:spLocks noChangeShapeType="1"/>
            </p:cNvSpPr>
            <p:nvPr/>
          </p:nvSpPr>
          <p:spPr bwMode="auto">
            <a:xfrm>
              <a:off x="4320" y="3033"/>
              <a:ext cx="384" cy="0"/>
            </a:xfrm>
            <a:prstGeom prst="line">
              <a:avLst/>
            </a:prstGeom>
            <a:noFill/>
            <a:ln w="38100">
              <a:solidFill>
                <a:srgbClr val="FFCC00"/>
              </a:solidFill>
              <a:prstDash val="dash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2" name="Line 56"/>
            <p:cNvSpPr>
              <a:spLocks noChangeShapeType="1"/>
            </p:cNvSpPr>
            <p:nvPr/>
          </p:nvSpPr>
          <p:spPr bwMode="auto">
            <a:xfrm>
              <a:off x="3408" y="3033"/>
              <a:ext cx="384" cy="0"/>
            </a:xfrm>
            <a:prstGeom prst="line">
              <a:avLst/>
            </a:prstGeom>
            <a:noFill/>
            <a:ln w="38100">
              <a:solidFill>
                <a:srgbClr val="FFCC00"/>
              </a:solidFill>
              <a:prstDash val="dash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3" name="Line 57"/>
            <p:cNvSpPr>
              <a:spLocks noChangeShapeType="1"/>
            </p:cNvSpPr>
            <p:nvPr/>
          </p:nvSpPr>
          <p:spPr bwMode="auto">
            <a:xfrm>
              <a:off x="2592" y="1785"/>
              <a:ext cx="384"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4" name="Line 58"/>
            <p:cNvSpPr>
              <a:spLocks noChangeShapeType="1"/>
            </p:cNvSpPr>
            <p:nvPr/>
          </p:nvSpPr>
          <p:spPr bwMode="auto">
            <a:xfrm flipV="1">
              <a:off x="2304" y="2688"/>
              <a:ext cx="0" cy="192"/>
            </a:xfrm>
            <a:prstGeom prst="line">
              <a:avLst/>
            </a:prstGeom>
            <a:noFill/>
            <a:ln w="38100">
              <a:solidFill>
                <a:srgbClr val="3366FF"/>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835" name="Line 59"/>
            <p:cNvSpPr>
              <a:spLocks noChangeShapeType="1"/>
            </p:cNvSpPr>
            <p:nvPr/>
          </p:nvSpPr>
          <p:spPr bwMode="auto">
            <a:xfrm>
              <a:off x="3216" y="2688"/>
              <a:ext cx="0" cy="192"/>
            </a:xfrm>
            <a:prstGeom prst="line">
              <a:avLst/>
            </a:prstGeom>
            <a:noFill/>
            <a:ln w="38100">
              <a:solidFill>
                <a:srgbClr val="3366FF"/>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3799" name="Text Box 60"/>
          <p:cNvSpPr txBox="1">
            <a:spLocks noChangeArrowheads="1"/>
          </p:cNvSpPr>
          <p:nvPr/>
        </p:nvSpPr>
        <p:spPr bwMode="auto">
          <a:xfrm>
            <a:off x="838200" y="10668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800" b="0">
                <a:latin typeface="Tahoma" panose="020B0604030504040204" pitchFamily="34" charset="0"/>
                <a:ea typeface="宋体" panose="02010600030101010101" pitchFamily="2" charset="-122"/>
              </a:rPr>
              <a:t>Single Machine</a:t>
            </a:r>
          </a:p>
        </p:txBody>
      </p:sp>
      <p:sp>
        <p:nvSpPr>
          <p:cNvPr id="33800" name="Text Box 61"/>
          <p:cNvSpPr txBox="1">
            <a:spLocks noChangeArrowheads="1"/>
          </p:cNvSpPr>
          <p:nvPr/>
        </p:nvSpPr>
        <p:spPr bwMode="auto">
          <a:xfrm>
            <a:off x="4038600" y="10668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800" b="0">
                <a:latin typeface="Tahoma" panose="020B0604030504040204" pitchFamily="34" charset="0"/>
                <a:ea typeface="宋体" panose="02010600030101010101" pitchFamily="2" charset="-122"/>
              </a:rPr>
              <a:t>Parallel-Machine</a:t>
            </a:r>
          </a:p>
        </p:txBody>
      </p:sp>
      <p:sp>
        <p:nvSpPr>
          <p:cNvPr id="33801" name="Text Box 62"/>
          <p:cNvSpPr txBox="1">
            <a:spLocks noChangeArrowheads="1"/>
          </p:cNvSpPr>
          <p:nvPr/>
        </p:nvSpPr>
        <p:spPr bwMode="auto">
          <a:xfrm>
            <a:off x="838200" y="22098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800" b="0">
                <a:latin typeface="Tahoma" panose="020B0604030504040204" pitchFamily="34" charset="0"/>
                <a:ea typeface="宋体" panose="02010600030101010101" pitchFamily="2" charset="-122"/>
              </a:rPr>
              <a:t>Flow Shop</a:t>
            </a:r>
          </a:p>
        </p:txBody>
      </p:sp>
      <p:sp>
        <p:nvSpPr>
          <p:cNvPr id="33802" name="Text Box 63"/>
          <p:cNvSpPr txBox="1">
            <a:spLocks noChangeArrowheads="1"/>
          </p:cNvSpPr>
          <p:nvPr/>
        </p:nvSpPr>
        <p:spPr bwMode="auto">
          <a:xfrm>
            <a:off x="914400" y="34290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800" b="0">
                <a:latin typeface="Tahoma" panose="020B0604030504040204" pitchFamily="34" charset="0"/>
                <a:ea typeface="宋体" panose="02010600030101010101" pitchFamily="2" charset="-122"/>
              </a:rPr>
              <a:t>Job Shop</a:t>
            </a:r>
          </a:p>
        </p:txBody>
      </p:sp>
      <p:sp>
        <p:nvSpPr>
          <p:cNvPr id="3380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Flow shop </a:t>
            </a:r>
            <a:r>
              <a:rPr kumimoji="0" lang="zh-CN" altLang="en-US" b="1" dirty="0">
                <a:latin typeface="Verdana" charset="0"/>
                <a:cs typeface="宋体" charset="0"/>
              </a:rPr>
              <a:t>（</a:t>
            </a:r>
            <a:r>
              <a:rPr lang="zh-CN" altLang="en-US" dirty="0">
                <a:latin typeface="Verdana" panose="020B0604030504040204" pitchFamily="34" charset="0"/>
                <a:ea typeface="宋体" panose="02010600030101010101" pitchFamily="2" charset="-122"/>
              </a:rPr>
              <a:t>流水作业</a:t>
            </a:r>
            <a:r>
              <a:rPr kumimoji="0" lang="zh-CN" altLang="en-US" b="1" dirty="0">
                <a:latin typeface="Verdana" charset="0"/>
                <a:cs typeface="宋体" charset="0"/>
              </a:rPr>
              <a:t>）</a:t>
            </a:r>
            <a:endParaRPr kumimoji="0" lang="en-US" altLang="zh-CN" b="1" dirty="0">
              <a:latin typeface="Verdana" charset="0"/>
              <a:cs typeface="宋体" charset="0"/>
            </a:endParaRPr>
          </a:p>
        </p:txBody>
      </p:sp>
      <p:sp>
        <p:nvSpPr>
          <p:cNvPr id="34819" name="Rectangle 3"/>
          <p:cNvSpPr>
            <a:spLocks noGrp="1" noChangeArrowheads="1"/>
          </p:cNvSpPr>
          <p:nvPr>
            <p:ph type="body" idx="1"/>
          </p:nvPr>
        </p:nvSpPr>
        <p:spPr/>
        <p:txBody>
          <a:bodyPr/>
          <a:lstStyle/>
          <a:p>
            <a:pPr marL="0" indent="0" eaLnBrk="1" hangingPunct="1">
              <a:lnSpc>
                <a:spcPct val="150000"/>
              </a:lnSpc>
            </a:pPr>
            <a:r>
              <a:rPr lang="en-US" altLang="zh-CN" sz="2400" dirty="0">
                <a:latin typeface="Verdana" panose="020B0604030504040204" pitchFamily="34" charset="0"/>
                <a:ea typeface="宋体" panose="02010600030101010101" pitchFamily="2" charset="-122"/>
              </a:rPr>
              <a:t>In a flow shop each of the n jobs must be processed through the m machines in the same order, and each job is processed exactly once on each machine. This is what we typically think of as an assembly line.</a:t>
            </a:r>
          </a:p>
        </p:txBody>
      </p:sp>
      <p:sp>
        <p:nvSpPr>
          <p:cNvPr id="3482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Job shop </a:t>
            </a:r>
            <a:r>
              <a:rPr kumimoji="0" lang="zh-CN" altLang="en-US" b="1" dirty="0">
                <a:latin typeface="Verdana" charset="0"/>
                <a:cs typeface="宋体" charset="0"/>
              </a:rPr>
              <a:t>（</a:t>
            </a:r>
            <a:r>
              <a:rPr lang="zh-CN" altLang="en-US" dirty="0">
                <a:latin typeface="Verdana" panose="020B0604030504040204" pitchFamily="34" charset="0"/>
                <a:ea typeface="宋体" panose="02010600030101010101" pitchFamily="2" charset="-122"/>
              </a:rPr>
              <a:t>异序作业</a:t>
            </a:r>
            <a:r>
              <a:rPr kumimoji="0" lang="zh-CN" altLang="en-US" b="1" dirty="0">
                <a:latin typeface="Verdana" charset="0"/>
                <a:cs typeface="宋体" charset="0"/>
              </a:rPr>
              <a:t>）</a:t>
            </a:r>
            <a:endParaRPr kumimoji="0" lang="en-US" altLang="zh-CN" b="1" dirty="0">
              <a:latin typeface="Verdana" charset="0"/>
              <a:cs typeface="宋体" charset="0"/>
            </a:endParaRPr>
          </a:p>
        </p:txBody>
      </p:sp>
      <p:sp>
        <p:nvSpPr>
          <p:cNvPr id="35843" name="Rectangle 3"/>
          <p:cNvSpPr>
            <a:spLocks noGrp="1" noChangeArrowheads="1"/>
          </p:cNvSpPr>
          <p:nvPr>
            <p:ph type="body" idx="1"/>
          </p:nvPr>
        </p:nvSpPr>
        <p:spPr/>
        <p:txBody>
          <a:bodyPr/>
          <a:lstStyle/>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A general job shop differs from a flow shop in that not all jobs are assumed to require exactly m operations, and some jobs my require multiple operations on a single machine. Furthermore, in a job shop each job may have a different required sequencing of operations. </a:t>
            </a:r>
          </a:p>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General job shop problems are extremely complex. All purpose solution algorithms for solving general job shop problems do not exist.</a:t>
            </a:r>
          </a:p>
        </p:txBody>
      </p:sp>
      <p:sp>
        <p:nvSpPr>
          <p:cNvPr id="3584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sym typeface="Symbol" charset="0"/>
              </a:rPr>
              <a:t>Machine Environment: </a:t>
            </a:r>
          </a:p>
        </p:txBody>
      </p:sp>
      <p:sp>
        <p:nvSpPr>
          <p:cNvPr id="36867" name="Rectangle 3"/>
          <p:cNvSpPr>
            <a:spLocks noGrp="1" noChangeArrowheads="1"/>
          </p:cNvSpPr>
          <p:nvPr>
            <p:ph type="body" idx="1"/>
          </p:nvPr>
        </p:nvSpPr>
        <p:spPr/>
        <p:txBody>
          <a:bodyPr/>
          <a:lstStyle/>
          <a:p>
            <a:pPr eaLnBrk="1" hangingPunct="1">
              <a:lnSpc>
                <a:spcPct val="90000"/>
              </a:lnSpc>
              <a:buFont typeface="Arial" panose="020B0604020202020204" pitchFamily="34" charset="0"/>
              <a:buChar char="•"/>
            </a:pPr>
            <a:r>
              <a:rPr lang="en-US" altLang="zh-CN" dirty="0">
                <a:latin typeface="Verdana" panose="020B0604030504040204" pitchFamily="34" charset="0"/>
                <a:ea typeface="宋体" panose="02010600030101010101" pitchFamily="2" charset="-122"/>
              </a:rPr>
              <a:t>Single machine 1</a:t>
            </a:r>
          </a:p>
          <a:p>
            <a:pPr eaLnBrk="1" hangingPunct="1">
              <a:lnSpc>
                <a:spcPct val="90000"/>
              </a:lnSpc>
              <a:buFont typeface="Arial" panose="020B0604020202020204" pitchFamily="34" charset="0"/>
              <a:buChar char="•"/>
            </a:pPr>
            <a:r>
              <a:rPr lang="en-US" altLang="zh-CN" dirty="0">
                <a:latin typeface="Verdana" panose="020B0604030504040204" pitchFamily="34" charset="0"/>
                <a:ea typeface="宋体" panose="02010600030101010101" pitchFamily="2" charset="-122"/>
              </a:rPr>
              <a:t>Identical machines in parallel </a:t>
            </a:r>
            <a:r>
              <a:rPr lang="en-US" altLang="zh-CN" i="1" dirty="0">
                <a:latin typeface="Verdana" panose="020B0604030504040204" pitchFamily="34" charset="0"/>
                <a:ea typeface="宋体" panose="02010600030101010101" pitchFamily="2" charset="-122"/>
              </a:rPr>
              <a:t>P</a:t>
            </a:r>
            <a:r>
              <a:rPr lang="en-US" altLang="zh-CN" i="1" baseline="-25000" dirty="0">
                <a:latin typeface="Verdana" panose="020B0604030504040204" pitchFamily="34" charset="0"/>
                <a:ea typeface="宋体" panose="02010600030101010101" pitchFamily="2" charset="-122"/>
              </a:rPr>
              <a:t>m</a:t>
            </a:r>
            <a:r>
              <a:rPr lang="en-US" altLang="zh-CN" dirty="0">
                <a:latin typeface="Verdana" panose="020B0604030504040204" pitchFamily="34" charset="0"/>
                <a:ea typeface="宋体" panose="02010600030101010101" pitchFamily="2" charset="-122"/>
              </a:rPr>
              <a:t> </a:t>
            </a:r>
          </a:p>
          <a:p>
            <a:pPr lvl="1" eaLnBrk="1" hangingPunct="1">
              <a:lnSpc>
                <a:spcPct val="90000"/>
              </a:lnSpc>
            </a:pPr>
            <a:r>
              <a:rPr kumimoji="0" lang="en-US" altLang="zh-CN" dirty="0">
                <a:ea typeface="宋体" panose="02010600030101010101" pitchFamily="2" charset="-122"/>
              </a:rPr>
              <a:t>If job </a:t>
            </a:r>
            <a:r>
              <a:rPr kumimoji="0" lang="en-US" altLang="zh-CN" i="1" dirty="0">
                <a:ea typeface="宋体" panose="02010600030101010101" pitchFamily="2" charset="-122"/>
              </a:rPr>
              <a:t>j</a:t>
            </a:r>
            <a:r>
              <a:rPr kumimoji="0" lang="en-US" altLang="zh-CN" dirty="0">
                <a:ea typeface="宋体" panose="02010600030101010101" pitchFamily="2" charset="-122"/>
              </a:rPr>
              <a:t> may be processed on any one machine belonging to a given subset </a:t>
            </a:r>
            <a:r>
              <a:rPr kumimoji="0" lang="en-US" altLang="zh-CN" i="1" dirty="0" err="1">
                <a:ea typeface="宋体" panose="02010600030101010101" pitchFamily="2" charset="-122"/>
              </a:rPr>
              <a:t>M</a:t>
            </a:r>
            <a:r>
              <a:rPr kumimoji="0" lang="en-US" altLang="zh-CN" i="1" baseline="-25000" dirty="0" err="1">
                <a:ea typeface="宋体" panose="02010600030101010101" pitchFamily="2" charset="-122"/>
              </a:rPr>
              <a:t>j</a:t>
            </a:r>
            <a:r>
              <a:rPr kumimoji="0" lang="en-US" altLang="zh-CN" i="1" dirty="0">
                <a:ea typeface="宋体" panose="02010600030101010101" pitchFamily="2" charset="-122"/>
              </a:rPr>
              <a:t/>
            </a:r>
            <a:br>
              <a:rPr kumimoji="0" lang="en-US" altLang="zh-CN" i="1" dirty="0">
                <a:ea typeface="宋体" panose="02010600030101010101" pitchFamily="2" charset="-122"/>
              </a:rPr>
            </a:br>
            <a:r>
              <a:rPr kumimoji="0" lang="en-US" altLang="zh-CN" i="1" dirty="0">
                <a:ea typeface="宋体" panose="02010600030101010101" pitchFamily="2" charset="-122"/>
              </a:rPr>
              <a:t>	P</a:t>
            </a:r>
            <a:r>
              <a:rPr kumimoji="0" lang="en-US" altLang="zh-CN" i="1" baseline="-25000" dirty="0">
                <a:ea typeface="宋体" panose="02010600030101010101" pitchFamily="2" charset="-122"/>
              </a:rPr>
              <a:t>m</a:t>
            </a:r>
            <a:r>
              <a:rPr kumimoji="0" lang="en-US" altLang="zh-CN" dirty="0">
                <a:ea typeface="宋体" panose="02010600030101010101" pitchFamily="2" charset="-122"/>
                <a:sym typeface="Symbol" panose="05050102010706020507" pitchFamily="18" charset="2"/>
              </a:rPr>
              <a:t> | </a:t>
            </a:r>
            <a:r>
              <a:rPr kumimoji="0" lang="en-US" altLang="zh-CN" i="1" dirty="0" err="1">
                <a:ea typeface="宋体" panose="02010600030101010101" pitchFamily="2" charset="-122"/>
              </a:rPr>
              <a:t>M</a:t>
            </a:r>
            <a:r>
              <a:rPr kumimoji="0" lang="en-US" altLang="zh-CN" i="1" baseline="-25000" dirty="0" err="1">
                <a:ea typeface="宋体" panose="02010600030101010101" pitchFamily="2" charset="-122"/>
              </a:rPr>
              <a:t>j</a:t>
            </a:r>
            <a:r>
              <a:rPr kumimoji="0" lang="en-US" altLang="zh-CN" dirty="0">
                <a:ea typeface="宋体" panose="02010600030101010101" pitchFamily="2" charset="-122"/>
              </a:rPr>
              <a:t> </a:t>
            </a:r>
            <a:r>
              <a:rPr kumimoji="0" lang="en-US" altLang="zh-CN" dirty="0">
                <a:ea typeface="宋体" panose="02010600030101010101" pitchFamily="2" charset="-122"/>
                <a:sym typeface="Symbol" panose="05050102010706020507" pitchFamily="18" charset="2"/>
              </a:rPr>
              <a:t>| ...</a:t>
            </a:r>
            <a:endParaRPr kumimoji="0" lang="en-US" altLang="zh-CN" dirty="0">
              <a:ea typeface="宋体" panose="02010600030101010101" pitchFamily="2" charset="-122"/>
            </a:endParaRPr>
          </a:p>
          <a:p>
            <a:pPr lvl="1" eaLnBrk="1" hangingPunct="1">
              <a:lnSpc>
                <a:spcPct val="90000"/>
              </a:lnSpc>
            </a:pPr>
            <a:r>
              <a:rPr kumimoji="0" lang="en-US" altLang="zh-CN" dirty="0">
                <a:ea typeface="宋体" panose="02010600030101010101" pitchFamily="2" charset="-122"/>
              </a:rPr>
              <a:t>Machines in parallel with different speeds </a:t>
            </a:r>
            <a:r>
              <a:rPr kumimoji="0" lang="en-US" altLang="zh-CN" i="1" dirty="0" err="1">
                <a:ea typeface="宋体" panose="02010600030101010101" pitchFamily="2" charset="-122"/>
              </a:rPr>
              <a:t>Q</a:t>
            </a:r>
            <a:r>
              <a:rPr kumimoji="0" lang="en-US" altLang="zh-CN" i="1" baseline="-25000" dirty="0" err="1">
                <a:ea typeface="宋体" panose="02010600030101010101" pitchFamily="2" charset="-122"/>
              </a:rPr>
              <a:t>m</a:t>
            </a:r>
            <a:r>
              <a:rPr kumimoji="0" lang="en-US" altLang="zh-CN" dirty="0">
                <a:ea typeface="宋体" panose="02010600030101010101" pitchFamily="2" charset="-122"/>
              </a:rPr>
              <a:t> </a:t>
            </a:r>
          </a:p>
          <a:p>
            <a:pPr lvl="1" eaLnBrk="1" hangingPunct="1">
              <a:lnSpc>
                <a:spcPct val="90000"/>
              </a:lnSpc>
            </a:pPr>
            <a:r>
              <a:rPr kumimoji="0" lang="en-US" altLang="zh-CN" dirty="0">
                <a:ea typeface="宋体" panose="02010600030101010101" pitchFamily="2" charset="-122"/>
              </a:rPr>
              <a:t>Unrelated machines in parallel </a:t>
            </a:r>
            <a:r>
              <a:rPr kumimoji="0" lang="en-US" altLang="zh-CN" i="1" dirty="0">
                <a:ea typeface="宋体" panose="02010600030101010101" pitchFamily="2" charset="-122"/>
              </a:rPr>
              <a:t>R</a:t>
            </a:r>
            <a:r>
              <a:rPr kumimoji="0" lang="en-US" altLang="zh-CN" i="1" baseline="-25000" dirty="0">
                <a:ea typeface="宋体" panose="02010600030101010101" pitchFamily="2" charset="-122"/>
              </a:rPr>
              <a:t>m</a:t>
            </a:r>
          </a:p>
          <a:p>
            <a:pPr eaLnBrk="1" hangingPunct="1">
              <a:lnSpc>
                <a:spcPct val="90000"/>
              </a:lnSpc>
              <a:buFont typeface="Arial" panose="020B0604020202020204" pitchFamily="34" charset="0"/>
              <a:buChar char="•"/>
            </a:pPr>
            <a:r>
              <a:rPr lang="en-US" altLang="zh-CN" dirty="0">
                <a:latin typeface="Verdana" panose="020B0604030504040204" pitchFamily="34" charset="0"/>
                <a:ea typeface="宋体" panose="02010600030101010101" pitchFamily="2" charset="-122"/>
              </a:rPr>
              <a:t>Flow shop </a:t>
            </a:r>
            <a:r>
              <a:rPr lang="en-US" altLang="zh-CN" i="1" dirty="0">
                <a:latin typeface="Verdana" panose="020B0604030504040204" pitchFamily="34" charset="0"/>
                <a:ea typeface="宋体" panose="02010600030101010101" pitchFamily="2" charset="-122"/>
              </a:rPr>
              <a:t>F</a:t>
            </a:r>
            <a:r>
              <a:rPr lang="en-US" altLang="zh-CN" i="1" baseline="-25000" dirty="0">
                <a:latin typeface="Verdana" panose="020B0604030504040204" pitchFamily="34" charset="0"/>
                <a:ea typeface="宋体" panose="02010600030101010101" pitchFamily="2" charset="-122"/>
              </a:rPr>
              <a:t>m</a:t>
            </a:r>
          </a:p>
          <a:p>
            <a:pPr eaLnBrk="1" hangingPunct="1">
              <a:lnSpc>
                <a:spcPct val="90000"/>
              </a:lnSpc>
              <a:buFont typeface="Arial" panose="020B0604020202020204" pitchFamily="34" charset="0"/>
              <a:buChar char="•"/>
            </a:pPr>
            <a:r>
              <a:rPr lang="en-US" altLang="zh-CN" dirty="0">
                <a:latin typeface="Verdana" panose="020B0604030504040204" pitchFamily="34" charset="0"/>
                <a:ea typeface="宋体" panose="02010600030101010101" pitchFamily="2" charset="-122"/>
              </a:rPr>
              <a:t>Flexible flow shop </a:t>
            </a:r>
            <a:r>
              <a:rPr lang="en-US" altLang="zh-CN" i="1" dirty="0">
                <a:latin typeface="Verdana" panose="020B0604030504040204" pitchFamily="34" charset="0"/>
                <a:ea typeface="宋体" panose="02010600030101010101" pitchFamily="2" charset="-122"/>
              </a:rPr>
              <a:t>FF</a:t>
            </a:r>
            <a:r>
              <a:rPr lang="en-US" altLang="zh-CN" i="1" baseline="-25000" dirty="0">
                <a:latin typeface="Verdana" panose="020B0604030504040204" pitchFamily="34" charset="0"/>
                <a:ea typeface="宋体" panose="02010600030101010101" pitchFamily="2" charset="-122"/>
              </a:rPr>
              <a:t>s</a:t>
            </a:r>
          </a:p>
          <a:p>
            <a:pPr eaLnBrk="1" hangingPunct="1">
              <a:lnSpc>
                <a:spcPct val="90000"/>
              </a:lnSpc>
              <a:buFont typeface="Arial" panose="020B0604020202020204" pitchFamily="34" charset="0"/>
              <a:buChar char="•"/>
            </a:pPr>
            <a:r>
              <a:rPr lang="en-US" altLang="zh-CN" dirty="0">
                <a:latin typeface="Verdana" panose="020B0604030504040204" pitchFamily="34" charset="0"/>
                <a:ea typeface="宋体" panose="02010600030101010101" pitchFamily="2" charset="-122"/>
              </a:rPr>
              <a:t>Open shop </a:t>
            </a:r>
            <a:r>
              <a:rPr lang="en-US" altLang="zh-CN" i="1" dirty="0">
                <a:latin typeface="Verdana" panose="020B0604030504040204" pitchFamily="34" charset="0"/>
                <a:ea typeface="宋体" panose="02010600030101010101" pitchFamily="2" charset="-122"/>
              </a:rPr>
              <a:t>O</a:t>
            </a:r>
            <a:r>
              <a:rPr lang="en-US" altLang="zh-CN" i="1" baseline="-25000" dirty="0">
                <a:latin typeface="Verdana" panose="020B0604030504040204" pitchFamily="34" charset="0"/>
                <a:ea typeface="宋体" panose="02010600030101010101" pitchFamily="2" charset="-122"/>
              </a:rPr>
              <a:t>m</a:t>
            </a:r>
          </a:p>
          <a:p>
            <a:pPr eaLnBrk="1" hangingPunct="1">
              <a:lnSpc>
                <a:spcPct val="90000"/>
              </a:lnSpc>
              <a:buFont typeface="Arial" panose="020B0604020202020204" pitchFamily="34" charset="0"/>
              <a:buChar char="•"/>
            </a:pPr>
            <a:r>
              <a:rPr lang="en-US" altLang="zh-CN" dirty="0">
                <a:latin typeface="Verdana" panose="020B0604030504040204" pitchFamily="34" charset="0"/>
                <a:ea typeface="宋体" panose="02010600030101010101" pitchFamily="2" charset="-122"/>
              </a:rPr>
              <a:t>Job shop </a:t>
            </a:r>
            <a:r>
              <a:rPr lang="en-US" altLang="zh-CN" i="1" dirty="0" err="1">
                <a:latin typeface="Verdana" panose="020B0604030504040204" pitchFamily="34" charset="0"/>
                <a:ea typeface="宋体" panose="02010600030101010101" pitchFamily="2" charset="-122"/>
              </a:rPr>
              <a:t>J</a:t>
            </a:r>
            <a:r>
              <a:rPr lang="en-US" altLang="zh-CN" i="1" baseline="-25000" dirty="0" err="1">
                <a:latin typeface="Verdana" panose="020B0604030504040204" pitchFamily="34" charset="0"/>
                <a:ea typeface="宋体" panose="02010600030101010101" pitchFamily="2" charset="-122"/>
              </a:rPr>
              <a:t>m</a:t>
            </a:r>
            <a:endParaRPr lang="en-US" altLang="zh-CN" i="1" baseline="-25000" dirty="0">
              <a:latin typeface="Verdana" panose="020B0604030504040204" pitchFamily="34" charset="0"/>
              <a:ea typeface="宋体" panose="02010600030101010101" pitchFamily="2" charset="-122"/>
            </a:endParaRPr>
          </a:p>
          <a:p>
            <a:pPr lvl="1" eaLnBrk="1" hangingPunct="1">
              <a:lnSpc>
                <a:spcPct val="90000"/>
              </a:lnSpc>
            </a:pPr>
            <a:r>
              <a:rPr kumimoji="0" lang="en-US" altLang="zh-CN" dirty="0">
                <a:ea typeface="宋体" panose="02010600030101010101" pitchFamily="2" charset="-122"/>
              </a:rPr>
              <a:t>Job may visit a machine more then once (recirculation) </a:t>
            </a:r>
            <a:br>
              <a:rPr kumimoji="0" lang="en-US" altLang="zh-CN" dirty="0">
                <a:ea typeface="宋体" panose="02010600030101010101" pitchFamily="2" charset="-122"/>
              </a:rPr>
            </a:br>
            <a:r>
              <a:rPr kumimoji="0" lang="en-US" altLang="zh-CN" dirty="0">
                <a:ea typeface="宋体" panose="02010600030101010101" pitchFamily="2" charset="-122"/>
              </a:rPr>
              <a:t>	</a:t>
            </a:r>
            <a:r>
              <a:rPr kumimoji="0" lang="en-US" altLang="zh-CN" i="1" dirty="0" err="1">
                <a:ea typeface="宋体" panose="02010600030101010101" pitchFamily="2" charset="-122"/>
              </a:rPr>
              <a:t>J</a:t>
            </a:r>
            <a:r>
              <a:rPr kumimoji="0" lang="en-US" altLang="zh-CN" i="1" baseline="-25000" dirty="0" err="1">
                <a:ea typeface="宋体" panose="02010600030101010101" pitchFamily="2" charset="-122"/>
              </a:rPr>
              <a:t>m</a:t>
            </a:r>
            <a:r>
              <a:rPr kumimoji="0" lang="en-US" altLang="zh-CN" dirty="0">
                <a:ea typeface="宋体" panose="02010600030101010101" pitchFamily="2" charset="-122"/>
                <a:sym typeface="Symbol" panose="05050102010706020507" pitchFamily="18" charset="2"/>
              </a:rPr>
              <a:t> | </a:t>
            </a:r>
            <a:r>
              <a:rPr kumimoji="0" lang="en-US" altLang="zh-CN" i="1" dirty="0" err="1">
                <a:ea typeface="宋体" panose="02010600030101010101" pitchFamily="2" charset="-122"/>
              </a:rPr>
              <a:t>recrc</a:t>
            </a:r>
            <a:r>
              <a:rPr kumimoji="0" lang="en-US" altLang="zh-CN" dirty="0">
                <a:ea typeface="宋体" panose="02010600030101010101" pitchFamily="2" charset="-122"/>
                <a:sym typeface="Symbol" panose="05050102010706020507" pitchFamily="18" charset="2"/>
              </a:rPr>
              <a:t> | ...</a:t>
            </a:r>
            <a:r>
              <a:rPr kumimoji="0" lang="en-US" altLang="zh-CN" dirty="0">
                <a:ea typeface="宋体" panose="02010600030101010101" pitchFamily="2" charset="-122"/>
              </a:rPr>
              <a:t> </a:t>
            </a:r>
          </a:p>
          <a:p>
            <a:pPr eaLnBrk="1" hangingPunct="1">
              <a:lnSpc>
                <a:spcPct val="90000"/>
              </a:lnSpc>
              <a:buFont typeface="Arial" panose="020B0604020202020204" pitchFamily="34" charset="0"/>
              <a:buChar char="•"/>
            </a:pPr>
            <a:endParaRPr lang="en-US" altLang="zh-CN" dirty="0">
              <a:latin typeface="Verdana" panose="020B0604030504040204" pitchFamily="34" charset="0"/>
              <a:ea typeface="宋体" panose="02010600030101010101" pitchFamily="2" charset="-122"/>
            </a:endParaRPr>
          </a:p>
        </p:txBody>
      </p:sp>
      <p:sp>
        <p:nvSpPr>
          <p:cNvPr id="3686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graphicFrame>
        <p:nvGraphicFramePr>
          <p:cNvPr id="36869" name="对象 2"/>
          <p:cNvGraphicFramePr>
            <a:graphicFrameLocks noChangeAspect="1"/>
          </p:cNvGraphicFramePr>
          <p:nvPr/>
        </p:nvGraphicFramePr>
        <p:xfrm>
          <a:off x="4514850" y="3346450"/>
          <a:ext cx="114300" cy="165100"/>
        </p:xfrm>
        <a:graphic>
          <a:graphicData uri="http://schemas.openxmlformats.org/presentationml/2006/ole">
            <mc:AlternateContent xmlns:mc="http://schemas.openxmlformats.org/markup-compatibility/2006">
              <mc:Choice xmlns:v="urn:schemas-microsoft-com:vml" Requires="v">
                <p:oleObj spid="_x0000_s36902" name="公式" r:id="rId3" imgW="114300" imgH="165100" progId="Equation.3">
                  <p:embed/>
                </p:oleObj>
              </mc:Choice>
              <mc:Fallback>
                <p:oleObj name="公式" r:id="rId3" imgW="114300" imgH="1651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3346450"/>
                        <a:ext cx="11430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Job Characteristics: </a:t>
            </a:r>
            <a:r>
              <a:rPr kumimoji="0" lang="en-US" altLang="zh-CN" sz="2800" b="1" dirty="0">
                <a:latin typeface="Verdana" charset="0"/>
                <a:cs typeface="宋体" charset="0"/>
                <a:sym typeface="Symbol" charset="0"/>
              </a:rPr>
              <a:t>	</a:t>
            </a:r>
          </a:p>
        </p:txBody>
      </p:sp>
      <p:sp>
        <p:nvSpPr>
          <p:cNvPr id="37891" name="Rectangle 3"/>
          <p:cNvSpPr>
            <a:spLocks noGrp="1" noChangeArrowheads="1"/>
          </p:cNvSpPr>
          <p:nvPr>
            <p:ph type="body" idx="1"/>
          </p:nvPr>
        </p:nvSpPr>
        <p:spPr>
          <a:xfrm>
            <a:off x="457200" y="914400"/>
            <a:ext cx="8305800" cy="5943600"/>
          </a:xfrm>
        </p:spPr>
        <p:txBody>
          <a:bodyPr/>
          <a:lstStyle/>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Release time </a:t>
            </a:r>
            <a:r>
              <a:rPr lang="en-US" altLang="zh-CN" sz="2400" i="1" dirty="0" err="1">
                <a:latin typeface="Verdana" panose="020B0604030504040204" pitchFamily="34" charset="0"/>
                <a:ea typeface="宋体" panose="02010600030101010101" pitchFamily="2" charset="-122"/>
              </a:rPr>
              <a:t>r</a:t>
            </a:r>
            <a:r>
              <a:rPr lang="en-US" altLang="zh-CN" sz="2400" i="1" baseline="-25000" dirty="0" err="1">
                <a:latin typeface="Verdana" panose="020B0604030504040204" pitchFamily="34" charset="0"/>
                <a:ea typeface="宋体" panose="02010600030101010101" pitchFamily="2" charset="-122"/>
              </a:rPr>
              <a:t>j</a:t>
            </a:r>
            <a:r>
              <a:rPr lang="zh-CN" altLang="en-US" sz="2400" dirty="0">
                <a:latin typeface="Verdana" panose="020B0604030504040204" pitchFamily="34" charset="0"/>
                <a:ea typeface="宋体" panose="02010600030101010101" pitchFamily="2" charset="-122"/>
              </a:rPr>
              <a:t>：就绪时间，释放时间</a:t>
            </a:r>
            <a:r>
              <a:rPr lang="en-US" altLang="zh-CN" sz="2400" i="1" baseline="-25000" dirty="0">
                <a:latin typeface="Verdana" panose="020B0604030504040204" pitchFamily="34" charset="0"/>
                <a:ea typeface="宋体" panose="02010600030101010101" pitchFamily="2" charset="-122"/>
              </a:rPr>
              <a:t> </a:t>
            </a: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Sequence dependent setup times </a:t>
            </a:r>
            <a:r>
              <a:rPr lang="en-US" altLang="zh-CN" sz="2400" i="1" dirty="0" err="1">
                <a:latin typeface="Verdana" panose="020B0604030504040204" pitchFamily="34" charset="0"/>
                <a:ea typeface="宋体" panose="02010600030101010101" pitchFamily="2" charset="-122"/>
              </a:rPr>
              <a:t>s</a:t>
            </a:r>
            <a:r>
              <a:rPr lang="en-US" altLang="zh-CN" sz="2400" i="1" baseline="-25000" dirty="0" err="1">
                <a:latin typeface="Verdana" panose="020B0604030504040204" pitchFamily="34" charset="0"/>
                <a:ea typeface="宋体" panose="02010600030101010101" pitchFamily="2" charset="-122"/>
              </a:rPr>
              <a:t>ijk</a:t>
            </a:r>
            <a:endParaRPr lang="en-US" altLang="zh-CN" sz="2400" i="1" baseline="-25000" dirty="0">
              <a:latin typeface="Verdana" panose="020B0604030504040204" pitchFamily="34" charset="0"/>
              <a:ea typeface="宋体" panose="02010600030101010101" pitchFamily="2" charset="-122"/>
            </a:endParaRP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Preemptions  </a:t>
            </a:r>
            <a:r>
              <a:rPr lang="en-US" altLang="zh-CN" sz="2400" i="1" dirty="0" err="1">
                <a:latin typeface="Verdana" panose="020B0604030504040204" pitchFamily="34" charset="0"/>
                <a:ea typeface="宋体" panose="02010600030101010101" pitchFamily="2" charset="-122"/>
              </a:rPr>
              <a:t>prmp</a:t>
            </a:r>
            <a:r>
              <a:rPr lang="zh-CN" altLang="en-US" sz="2400" dirty="0">
                <a:latin typeface="Verdana" panose="020B0604030504040204" pitchFamily="34" charset="0"/>
                <a:ea typeface="宋体" panose="02010600030101010101" pitchFamily="2" charset="-122"/>
              </a:rPr>
              <a:t>：允许中断</a:t>
            </a:r>
            <a:endParaRPr lang="en-US" altLang="zh-CN" sz="2400" i="1" dirty="0">
              <a:latin typeface="Verdana" panose="020B0604030504040204" pitchFamily="34" charset="0"/>
              <a:ea typeface="宋体" panose="02010600030101010101" pitchFamily="2" charset="-122"/>
            </a:endParaRPr>
          </a:p>
          <a:p>
            <a:pPr lvl="1" eaLnBrk="1" hangingPunct="1">
              <a:spcBef>
                <a:spcPts val="0"/>
              </a:spcBef>
            </a:pPr>
            <a:r>
              <a:rPr kumimoji="0" lang="en-US" altLang="zh-CN" sz="2400" i="1" dirty="0">
                <a:ea typeface="宋体" panose="02010600030101010101" pitchFamily="2" charset="-122"/>
              </a:rPr>
              <a:t>Preemptive resume</a:t>
            </a:r>
          </a:p>
          <a:p>
            <a:pPr lvl="1" eaLnBrk="1" hangingPunct="1">
              <a:spcBef>
                <a:spcPts val="0"/>
              </a:spcBef>
            </a:pPr>
            <a:r>
              <a:rPr kumimoji="0" lang="en-US" altLang="zh-CN" sz="2400" i="1" dirty="0">
                <a:ea typeface="宋体" panose="02010600030101010101" pitchFamily="2" charset="-122"/>
              </a:rPr>
              <a:t>Preemptive repeat</a:t>
            </a: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Precedence constraints </a:t>
            </a:r>
            <a:r>
              <a:rPr lang="en-US" altLang="zh-CN" sz="2400" i="1" dirty="0" err="1">
                <a:latin typeface="Verdana" panose="020B0604030504040204" pitchFamily="34" charset="0"/>
                <a:ea typeface="宋体" panose="02010600030101010101" pitchFamily="2" charset="-122"/>
              </a:rPr>
              <a:t>prec</a:t>
            </a:r>
            <a:r>
              <a:rPr lang="zh-CN" altLang="en-US" sz="2400" dirty="0">
                <a:latin typeface="Verdana" panose="020B0604030504040204" pitchFamily="34" charset="0"/>
                <a:ea typeface="宋体" panose="02010600030101010101" pitchFamily="2" charset="-122"/>
              </a:rPr>
              <a:t>：先后序关系</a:t>
            </a:r>
            <a:endParaRPr lang="en-US" altLang="zh-CN" sz="2400" i="1" dirty="0">
              <a:latin typeface="Verdana" panose="020B0604030504040204" pitchFamily="34" charset="0"/>
              <a:ea typeface="宋体" panose="02010600030101010101" pitchFamily="2" charset="-122"/>
            </a:endParaRP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Breakdowns </a:t>
            </a:r>
            <a:r>
              <a:rPr lang="en-US" altLang="zh-CN" sz="2400" i="1" dirty="0" err="1">
                <a:latin typeface="Verdana" panose="020B0604030504040204" pitchFamily="34" charset="0"/>
                <a:ea typeface="宋体" panose="02010600030101010101" pitchFamily="2" charset="-122"/>
              </a:rPr>
              <a:t>brkdwn</a:t>
            </a:r>
            <a:endParaRPr lang="en-US" altLang="zh-CN" sz="2400" i="1" dirty="0">
              <a:latin typeface="Verdana" panose="020B0604030504040204" pitchFamily="34" charset="0"/>
              <a:ea typeface="宋体" panose="02010600030101010101" pitchFamily="2" charset="-122"/>
            </a:endParaRP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Machine eligibility restrictions </a:t>
            </a:r>
            <a:r>
              <a:rPr lang="en-US" altLang="zh-CN" sz="2400" i="1" dirty="0" err="1">
                <a:latin typeface="Verdana" panose="020B0604030504040204" pitchFamily="34" charset="0"/>
                <a:ea typeface="宋体" panose="02010600030101010101" pitchFamily="2" charset="-122"/>
              </a:rPr>
              <a:t>M</a:t>
            </a:r>
            <a:r>
              <a:rPr lang="en-US" altLang="zh-CN" sz="2400" i="1" baseline="-25000" dirty="0" err="1">
                <a:latin typeface="Verdana" panose="020B0604030504040204" pitchFamily="34" charset="0"/>
                <a:ea typeface="宋体" panose="02010600030101010101" pitchFamily="2" charset="-122"/>
              </a:rPr>
              <a:t>j</a:t>
            </a:r>
            <a:endParaRPr lang="en-US" altLang="zh-CN" sz="2400" i="1" baseline="-25000" dirty="0">
              <a:latin typeface="Verdana" panose="020B0604030504040204" pitchFamily="34" charset="0"/>
              <a:ea typeface="宋体" panose="02010600030101010101" pitchFamily="2" charset="-122"/>
            </a:endParaRP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Blocking  </a:t>
            </a:r>
            <a:r>
              <a:rPr lang="en-US" altLang="zh-CN" sz="2400" i="1" dirty="0">
                <a:latin typeface="Verdana" panose="020B0604030504040204" pitchFamily="34" charset="0"/>
                <a:ea typeface="宋体" panose="02010600030101010101" pitchFamily="2" charset="-122"/>
              </a:rPr>
              <a:t>block</a:t>
            </a: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No wait  </a:t>
            </a:r>
            <a:r>
              <a:rPr lang="en-US" altLang="zh-CN" sz="2400" i="1" dirty="0">
                <a:latin typeface="Verdana" panose="020B0604030504040204" pitchFamily="34" charset="0"/>
                <a:ea typeface="宋体" panose="02010600030101010101" pitchFamily="2" charset="-122"/>
              </a:rPr>
              <a:t>no-wait</a:t>
            </a: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Recirculation  </a:t>
            </a:r>
            <a:r>
              <a:rPr lang="en-US" altLang="zh-CN" sz="2400" i="1" dirty="0" err="1">
                <a:latin typeface="Verdana" panose="020B0604030504040204" pitchFamily="34" charset="0"/>
                <a:ea typeface="宋体" panose="02010600030101010101" pitchFamily="2" charset="-122"/>
              </a:rPr>
              <a:t>recrc</a:t>
            </a:r>
            <a:r>
              <a:rPr lang="zh-CN" altLang="en-US" sz="2400" dirty="0">
                <a:latin typeface="Verdana" panose="020B0604030504040204" pitchFamily="34" charset="0"/>
                <a:ea typeface="宋体" panose="02010600030101010101" pitchFamily="2" charset="-122"/>
              </a:rPr>
              <a:t>：重复加工</a:t>
            </a:r>
            <a:endParaRPr lang="en-US" altLang="zh-CN" sz="2400" i="1" dirty="0">
              <a:latin typeface="Verdana" panose="020B0604030504040204" pitchFamily="34" charset="0"/>
              <a:ea typeface="宋体" panose="02010600030101010101" pitchFamily="2" charset="-122"/>
            </a:endParaRPr>
          </a:p>
          <a:p>
            <a:pPr eaLnBrk="1" hangingPunct="1">
              <a:spcBef>
                <a:spcPts val="0"/>
              </a:spcBef>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Permutation</a:t>
            </a:r>
            <a:r>
              <a:rPr lang="en-US" altLang="zh-CN" sz="2400" i="1" dirty="0">
                <a:latin typeface="Verdana" panose="020B0604030504040204" pitchFamily="34" charset="0"/>
                <a:ea typeface="宋体" panose="02010600030101010101" pitchFamily="2" charset="-122"/>
              </a:rPr>
              <a:t> </a:t>
            </a:r>
            <a:r>
              <a:rPr lang="en-US" altLang="zh-CN" sz="2400" i="1" dirty="0" err="1">
                <a:latin typeface="Verdana" panose="020B0604030504040204" pitchFamily="34" charset="0"/>
                <a:ea typeface="宋体" panose="02010600030101010101" pitchFamily="2" charset="-122"/>
              </a:rPr>
              <a:t>prmu</a:t>
            </a:r>
            <a:r>
              <a:rPr lang="zh-CN" altLang="en-US" sz="2400" dirty="0">
                <a:latin typeface="Verdana" panose="020B0604030504040204" pitchFamily="34" charset="0"/>
                <a:ea typeface="宋体" panose="02010600030101010101" pitchFamily="2" charset="-122"/>
              </a:rPr>
              <a:t>：同序作业</a:t>
            </a:r>
            <a:endParaRPr lang="en-US" altLang="zh-CN" sz="2400" i="1" dirty="0">
              <a:latin typeface="Verdana" panose="020B0604030504040204" pitchFamily="34" charset="0"/>
              <a:ea typeface="宋体" panose="02010600030101010101" pitchFamily="2" charset="-122"/>
            </a:endParaRPr>
          </a:p>
        </p:txBody>
      </p:sp>
      <p:sp>
        <p:nvSpPr>
          <p:cNvPr id="3789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1" name="Rectangle 5"/>
          <p:cNvSpPr>
            <a:spLocks noGrp="1" noChangeArrowheads="1"/>
          </p:cNvSpPr>
          <p:nvPr>
            <p:ph type="title"/>
          </p:nvPr>
        </p:nvSpPr>
        <p:spPr>
          <a:xfrm>
            <a:off x="457200" y="152400"/>
            <a:ext cx="8382000" cy="533400"/>
          </a:xfrm>
        </p:spPr>
        <p:txBody>
          <a:bodyPr>
            <a:normAutofit fontScale="90000"/>
          </a:bodyPr>
          <a:lstStyle/>
          <a:p>
            <a:pPr eaLnBrk="1" hangingPunct="1">
              <a:defRPr/>
            </a:pPr>
            <a:r>
              <a:rPr kumimoji="0" lang="en-US" altLang="zh-CN" sz="3200" b="1" cap="none">
                <a:latin typeface="Verdana" pitchFamily="34" charset="0"/>
                <a:ea typeface="宋体" pitchFamily="2" charset="-122"/>
              </a:rPr>
              <a:t>Objective/Optimality Criteria: </a:t>
            </a:r>
            <a:endParaRPr kumimoji="0" lang="en-US" altLang="zh-CN" sz="3200" b="1" cap="none">
              <a:latin typeface="Verdana" pitchFamily="34" charset="0"/>
              <a:ea typeface="宋体" pitchFamily="2" charset="-122"/>
              <a:sym typeface="Symbol" pitchFamily="18" charset="2"/>
            </a:endParaRPr>
          </a:p>
        </p:txBody>
      </p:sp>
      <p:sp>
        <p:nvSpPr>
          <p:cNvPr id="38914" name="Rectangle 3"/>
          <p:cNvSpPr>
            <a:spLocks noGrp="1" noChangeArrowheads="1"/>
          </p:cNvSpPr>
          <p:nvPr>
            <p:ph idx="1"/>
          </p:nvPr>
        </p:nvSpPr>
        <p:spPr/>
        <p:txBody>
          <a:bodyPr/>
          <a:lstStyle/>
          <a:p>
            <a:pPr eaLnBrk="1" hangingPunct="1">
              <a:lnSpc>
                <a:spcPct val="140000"/>
              </a:lnSpc>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Throughput (TP) </a:t>
            </a:r>
            <a:r>
              <a:rPr lang="zh-CN" altLang="en-US" sz="2400" dirty="0">
                <a:latin typeface="Verdana" panose="020B0604030504040204" pitchFamily="34" charset="0"/>
                <a:ea typeface="宋体" panose="02010600030101010101" pitchFamily="2" charset="-122"/>
              </a:rPr>
              <a:t>：产出</a:t>
            </a:r>
            <a:endParaRPr lang="en-US" altLang="zh-CN" sz="2400" dirty="0">
              <a:latin typeface="Verdana" panose="020B0604030504040204" pitchFamily="34" charset="0"/>
              <a:ea typeface="宋体" panose="02010600030101010101" pitchFamily="2" charset="-122"/>
            </a:endParaRPr>
          </a:p>
          <a:p>
            <a:pPr eaLnBrk="1" hangingPunct="1">
              <a:lnSpc>
                <a:spcPct val="140000"/>
              </a:lnSpc>
              <a:buFont typeface="Arial" panose="020B0604020202020204" pitchFamily="34" charset="0"/>
              <a:buChar char="•"/>
            </a:pPr>
            <a:r>
              <a:rPr lang="en-US" altLang="zh-CN" sz="2400" dirty="0" err="1">
                <a:latin typeface="Verdana" panose="020B0604030504040204" pitchFamily="34" charset="0"/>
                <a:ea typeface="宋体" panose="02010600030101010101" pitchFamily="2" charset="-122"/>
              </a:rPr>
              <a:t>Makespan</a:t>
            </a:r>
            <a:r>
              <a:rPr lang="en-US" altLang="zh-CN" sz="2400" dirty="0">
                <a:latin typeface="Verdana" panose="020B0604030504040204" pitchFamily="34" charset="0"/>
                <a:ea typeface="宋体" panose="02010600030101010101" pitchFamily="2" charset="-122"/>
              </a:rPr>
              <a:t> (</a:t>
            </a:r>
            <a:r>
              <a:rPr lang="en-US" altLang="zh-CN" sz="2400" i="1" dirty="0" err="1">
                <a:latin typeface="Verdana" panose="020B0604030504040204" pitchFamily="34" charset="0"/>
                <a:ea typeface="宋体" panose="02010600030101010101" pitchFamily="2" charset="-122"/>
              </a:rPr>
              <a:t>C</a:t>
            </a:r>
            <a:r>
              <a:rPr lang="en-US" altLang="zh-CN" sz="2400" i="1" baseline="-25000" dirty="0" err="1">
                <a:latin typeface="Verdana" panose="020B0604030504040204" pitchFamily="34" charset="0"/>
                <a:ea typeface="宋体" panose="02010600030101010101" pitchFamily="2" charset="-122"/>
              </a:rPr>
              <a:t>max</a:t>
            </a:r>
            <a:r>
              <a:rPr lang="en-US" altLang="zh-CN" sz="2400" dirty="0">
                <a:latin typeface="Verdana" panose="020B0604030504040204" pitchFamily="34" charset="0"/>
                <a:ea typeface="宋体" panose="02010600030101010101" pitchFamily="2" charset="-122"/>
              </a:rPr>
              <a:t>)</a:t>
            </a:r>
            <a:r>
              <a:rPr lang="zh-CN" altLang="en-US" sz="2400" dirty="0">
                <a:latin typeface="Verdana" panose="020B0604030504040204" pitchFamily="34" charset="0"/>
                <a:ea typeface="宋体" panose="02010600030101010101" pitchFamily="2" charset="-122"/>
              </a:rPr>
              <a:t>：工期</a:t>
            </a:r>
            <a:endParaRPr lang="en-US" altLang="zh-CN" sz="2400" dirty="0">
              <a:latin typeface="Verdana" panose="020B0604030504040204" pitchFamily="34" charset="0"/>
              <a:ea typeface="宋体" panose="02010600030101010101" pitchFamily="2" charset="-122"/>
            </a:endParaRPr>
          </a:p>
          <a:p>
            <a:pPr eaLnBrk="1" hangingPunct="1">
              <a:lnSpc>
                <a:spcPct val="140000"/>
              </a:lnSpc>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Due date related objectives</a:t>
            </a:r>
            <a:r>
              <a:rPr lang="zh-CN" altLang="en-US" sz="2400" dirty="0">
                <a:latin typeface="Verdana" panose="020B0604030504040204" pitchFamily="34" charset="0"/>
                <a:ea typeface="宋体" panose="02010600030101010101" pitchFamily="2" charset="-122"/>
              </a:rPr>
              <a:t>：交货期相关目标</a:t>
            </a:r>
            <a:endParaRPr lang="en-US" altLang="zh-CN" sz="2400" dirty="0">
              <a:latin typeface="Verdana" panose="020B0604030504040204" pitchFamily="34" charset="0"/>
              <a:ea typeface="宋体" panose="02010600030101010101" pitchFamily="2" charset="-122"/>
            </a:endParaRPr>
          </a:p>
          <a:p>
            <a:pPr eaLnBrk="1" hangingPunct="1">
              <a:lnSpc>
                <a:spcPct val="140000"/>
              </a:lnSpc>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Work-in-process (WIP), finished inventory</a:t>
            </a:r>
            <a:r>
              <a:rPr lang="zh-CN" altLang="en-US" sz="2400" dirty="0">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	</a:t>
            </a:r>
            <a:r>
              <a:rPr lang="zh-CN" altLang="en-US" sz="2400" dirty="0">
                <a:latin typeface="Verdana" panose="020B0604030504040204" pitchFamily="34" charset="0"/>
                <a:ea typeface="宋体" panose="02010600030101010101" pitchFamily="2" charset="-122"/>
              </a:rPr>
              <a:t>在制品，产成品</a:t>
            </a:r>
            <a:endParaRPr lang="en-US" altLang="zh-CN" sz="2400" dirty="0">
              <a:latin typeface="Verdana" panose="020B0604030504040204" pitchFamily="34" charset="0"/>
              <a:ea typeface="宋体" panose="02010600030101010101" pitchFamily="2" charset="-122"/>
            </a:endParaRPr>
          </a:p>
          <a:p>
            <a:pPr eaLnBrk="1" hangingPunct="1">
              <a:lnSpc>
                <a:spcPct val="140000"/>
              </a:lnSpc>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Lead time (cycle time, response time)</a:t>
            </a:r>
            <a:r>
              <a:rPr lang="zh-CN" altLang="en-US" sz="2400" dirty="0">
                <a:latin typeface="Verdana" panose="020B0604030504040204" pitchFamily="34" charset="0"/>
                <a:ea typeface="宋体" panose="02010600030101010101" pitchFamily="2" charset="-122"/>
              </a:rPr>
              <a:t>：提前期</a:t>
            </a:r>
            <a:endParaRPr lang="en-US" altLang="zh-CN" sz="2400" dirty="0">
              <a:latin typeface="Verdana" panose="020B0604030504040204" pitchFamily="34" charset="0"/>
              <a:ea typeface="宋体" panose="02010600030101010101" pitchFamily="2" charset="-122"/>
            </a:endParaRPr>
          </a:p>
          <a:p>
            <a:pPr eaLnBrk="1" hangingPunct="1">
              <a:lnSpc>
                <a:spcPct val="140000"/>
              </a:lnSpc>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Others</a:t>
            </a:r>
          </a:p>
        </p:txBody>
      </p:sp>
      <p:sp>
        <p:nvSpPr>
          <p:cNvPr id="3891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457200" y="152400"/>
            <a:ext cx="7239000" cy="533400"/>
          </a:xfrm>
        </p:spPr>
        <p:txBody>
          <a:bodyPr>
            <a:normAutofit fontScale="90000"/>
          </a:bodyPr>
          <a:lstStyle/>
          <a:p>
            <a:pPr eaLnBrk="1" hangingPunct="1">
              <a:defRPr/>
            </a:pPr>
            <a:r>
              <a:rPr kumimoji="0" lang="en-US" altLang="zh-CN" b="1" dirty="0">
                <a:latin typeface="Verdana" charset="0"/>
                <a:cs typeface="宋体" charset="0"/>
              </a:rPr>
              <a:t>Throughput &amp; </a:t>
            </a:r>
            <a:r>
              <a:rPr kumimoji="0" lang="en-US" altLang="zh-CN" b="1" dirty="0" err="1">
                <a:latin typeface="Verdana" charset="0"/>
                <a:cs typeface="宋体" charset="0"/>
              </a:rPr>
              <a:t>Makespan</a:t>
            </a:r>
            <a:endParaRPr kumimoji="0" lang="en-US" altLang="zh-CN" b="1" dirty="0">
              <a:latin typeface="Verdana" charset="0"/>
              <a:cs typeface="宋体" charset="0"/>
            </a:endParaRPr>
          </a:p>
        </p:txBody>
      </p:sp>
      <p:sp>
        <p:nvSpPr>
          <p:cNvPr id="39939" name="Rectangle 3"/>
          <p:cNvSpPr>
            <a:spLocks noGrp="1" noChangeArrowheads="1"/>
          </p:cNvSpPr>
          <p:nvPr>
            <p:ph type="body" idx="1"/>
          </p:nvPr>
        </p:nvSpPr>
        <p:spPr/>
        <p:txBody>
          <a:bodyPr/>
          <a:lstStyle/>
          <a:p>
            <a:pPr marL="0" indent="0" eaLnBrk="1" hangingPunct="1"/>
            <a:r>
              <a:rPr lang="en-US" altLang="zh-CN">
                <a:latin typeface="Verdana" panose="020B0604030504040204" pitchFamily="34" charset="0"/>
                <a:ea typeface="宋体" panose="02010600030101010101" pitchFamily="2" charset="-122"/>
              </a:rPr>
              <a:t>Throughput</a:t>
            </a:r>
          </a:p>
          <a:p>
            <a:pPr lvl="1" eaLnBrk="1" hangingPunct="1"/>
            <a:r>
              <a:rPr kumimoji="0" lang="en-US" altLang="zh-CN">
                <a:ea typeface="宋体" panose="02010600030101010101" pitchFamily="2" charset="-122"/>
              </a:rPr>
              <a:t>Production rate</a:t>
            </a:r>
          </a:p>
          <a:p>
            <a:pPr lvl="1" eaLnBrk="1" hangingPunct="1"/>
            <a:r>
              <a:rPr kumimoji="0" lang="en-US" altLang="zh-CN">
                <a:ea typeface="宋体" panose="02010600030101010101" pitchFamily="2" charset="-122"/>
              </a:rPr>
              <a:t>Number of parts produced per time unit</a:t>
            </a:r>
          </a:p>
          <a:p>
            <a:pPr lvl="1" eaLnBrk="1" hangingPunct="1"/>
            <a:r>
              <a:rPr kumimoji="0" lang="en-US" altLang="zh-CN">
                <a:ea typeface="宋体" panose="02010600030101010101" pitchFamily="2" charset="-122"/>
              </a:rPr>
              <a:t>Defined by bottleneck machines</a:t>
            </a:r>
          </a:p>
          <a:p>
            <a:pPr marL="0" indent="0" eaLnBrk="1" hangingPunct="1"/>
            <a:r>
              <a:rPr lang="en-US" altLang="zh-CN">
                <a:latin typeface="Verdana" panose="020B0604030504040204" pitchFamily="34" charset="0"/>
                <a:ea typeface="宋体" panose="02010600030101010101" pitchFamily="2" charset="-122"/>
              </a:rPr>
              <a:t>Makespan</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r>
              <a:rPr lang="en-US" altLang="zh-CN">
                <a:latin typeface="Verdana" panose="020B0604030504040204" pitchFamily="34" charset="0"/>
                <a:ea typeface="宋体" panose="02010600030101010101" pitchFamily="2" charset="-122"/>
              </a:rPr>
              <a:t>Minimizing makespan tends to maximize throughput</a:t>
            </a:r>
          </a:p>
        </p:txBody>
      </p:sp>
      <p:graphicFrame>
        <p:nvGraphicFramePr>
          <p:cNvPr id="39940" name="Object 4"/>
          <p:cNvGraphicFramePr>
            <a:graphicFrameLocks noChangeAspect="1"/>
          </p:cNvGraphicFramePr>
          <p:nvPr/>
        </p:nvGraphicFramePr>
        <p:xfrm>
          <a:off x="1447800" y="2971800"/>
          <a:ext cx="6804025" cy="1158875"/>
        </p:xfrm>
        <a:graphic>
          <a:graphicData uri="http://schemas.openxmlformats.org/presentationml/2006/ole">
            <mc:AlternateContent xmlns:mc="http://schemas.openxmlformats.org/markup-compatibility/2006">
              <mc:Choice xmlns:v="urn:schemas-microsoft-com:vml" Requires="v">
                <p:oleObj spid="_x0000_s39974" name="公式" r:id="rId3" imgW="2832100" imgH="482600" progId="Equation.3">
                  <p:embed/>
                </p:oleObj>
              </mc:Choice>
              <mc:Fallback>
                <p:oleObj name="公式" r:id="rId3" imgW="28321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971800"/>
                        <a:ext cx="6804025" cy="1158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9941"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2"/>
          <p:cNvSpPr>
            <a:spLocks noGrp="1" noChangeArrowheads="1"/>
          </p:cNvSpPr>
          <p:nvPr>
            <p:ph type="title"/>
          </p:nvPr>
        </p:nvSpPr>
        <p:spPr>
          <a:xfrm>
            <a:off x="457200" y="152400"/>
            <a:ext cx="7620000" cy="533400"/>
          </a:xfrm>
        </p:spPr>
        <p:txBody>
          <a:bodyPr>
            <a:noAutofit/>
          </a:bodyPr>
          <a:lstStyle/>
          <a:p>
            <a:pPr eaLnBrk="1" hangingPunct="1">
              <a:defRPr/>
            </a:pPr>
            <a:r>
              <a:rPr kumimoji="0" lang="en-US" altLang="zh-CN" sz="2800" b="1" dirty="0">
                <a:latin typeface="Verdana" charset="0"/>
                <a:cs typeface="宋体" charset="0"/>
              </a:rPr>
              <a:t>Due Date Related Objectives</a:t>
            </a:r>
          </a:p>
        </p:txBody>
      </p:sp>
      <p:sp>
        <p:nvSpPr>
          <p:cNvPr id="40963" name="Rectangle 3"/>
          <p:cNvSpPr>
            <a:spLocks noGrp="1" noChangeArrowheads="1"/>
          </p:cNvSpPr>
          <p:nvPr>
            <p:ph type="body" idx="1"/>
          </p:nvPr>
        </p:nvSpPr>
        <p:spPr>
          <a:xfrm>
            <a:off x="228600" y="1066800"/>
            <a:ext cx="8458200" cy="5410200"/>
          </a:xfrm>
        </p:spPr>
        <p:txBody>
          <a:bodyPr/>
          <a:lstStyle/>
          <a:p>
            <a:pPr marL="0" indent="0" eaLnBrk="1" hangingPunct="1"/>
            <a:r>
              <a:rPr lang="en-US" altLang="zh-CN" dirty="0">
                <a:latin typeface="Verdana" panose="020B0604030504040204" pitchFamily="34" charset="0"/>
                <a:ea typeface="宋体" panose="02010600030101010101" pitchFamily="2" charset="-122"/>
              </a:rPr>
              <a:t>Lateness(</a:t>
            </a:r>
            <a:r>
              <a:rPr lang="zh-CN" altLang="en-US" dirty="0">
                <a:latin typeface="Verdana" panose="020B0604030504040204" pitchFamily="34" charset="0"/>
                <a:ea typeface="宋体" panose="02010600030101010101" pitchFamily="2" charset="-122"/>
              </a:rPr>
              <a:t>延迟</a:t>
            </a:r>
            <a:r>
              <a:rPr lang="en-US" altLang="zh-CN" dirty="0">
                <a:latin typeface="Verdana" panose="020B0604030504040204" pitchFamily="34" charset="0"/>
                <a:ea typeface="宋体" panose="02010600030101010101" pitchFamily="2" charset="-122"/>
              </a:rPr>
              <a:t>)</a:t>
            </a:r>
          </a:p>
          <a:p>
            <a:pPr marL="360000" lvl="1" indent="0" eaLnBrk="1" hangingPunct="1">
              <a:lnSpc>
                <a:spcPct val="70000"/>
              </a:lnSpc>
              <a:buFont typeface="Wingdings" panose="05000000000000000000" pitchFamily="2" charset="2"/>
              <a:buNone/>
            </a:pPr>
            <a:r>
              <a:rPr kumimoji="0" lang="en-US" altLang="zh-CN" dirty="0">
                <a:ea typeface="宋体" panose="02010600030101010101" pitchFamily="2" charset="-122"/>
              </a:rPr>
              <a:t>			     </a:t>
            </a:r>
            <a:r>
              <a:rPr kumimoji="0" lang="en-US" altLang="zh-CN" sz="2400" dirty="0">
                <a:ea typeface="宋体" panose="02010600030101010101" pitchFamily="2" charset="-122"/>
              </a:rPr>
              <a:t>Minimize maximum lateness</a:t>
            </a:r>
          </a:p>
          <a:p>
            <a:pPr lvl="4" eaLnBrk="1" hangingPunct="1">
              <a:lnSpc>
                <a:spcPct val="70000"/>
              </a:lnSpc>
            </a:pPr>
            <a:endParaRPr kumimoji="0" lang="en-US" altLang="zh-CN" sz="2400" dirty="0">
              <a:ea typeface="宋体" panose="02010600030101010101" pitchFamily="2" charset="-122"/>
            </a:endParaRPr>
          </a:p>
          <a:p>
            <a:pPr lvl="4" eaLnBrk="1" hangingPunct="1">
              <a:lnSpc>
                <a:spcPct val="70000"/>
              </a:lnSpc>
            </a:pPr>
            <a:endParaRPr kumimoji="0" lang="en-US" altLang="zh-CN" dirty="0">
              <a:ea typeface="宋体" panose="02010600030101010101" pitchFamily="2" charset="-122"/>
            </a:endParaRPr>
          </a:p>
          <a:p>
            <a:pPr lvl="4" eaLnBrk="1" hangingPunct="1">
              <a:lnSpc>
                <a:spcPct val="70000"/>
              </a:lnSpc>
            </a:pPr>
            <a:endParaRPr kumimoji="0" lang="en-US" altLang="zh-CN" dirty="0">
              <a:ea typeface="宋体" panose="02010600030101010101" pitchFamily="2" charset="-122"/>
            </a:endParaRPr>
          </a:p>
          <a:p>
            <a:pPr marL="0" indent="0" eaLnBrk="1" hangingPunct="1">
              <a:lnSpc>
                <a:spcPct val="70000"/>
              </a:lnSpc>
            </a:pPr>
            <a:r>
              <a:rPr lang="en-US" altLang="zh-CN" dirty="0">
                <a:latin typeface="Verdana" panose="020B0604030504040204" pitchFamily="34" charset="0"/>
                <a:ea typeface="宋体" panose="02010600030101010101" pitchFamily="2" charset="-122"/>
              </a:rPr>
              <a:t>Tardiness(</a:t>
            </a:r>
            <a:r>
              <a:rPr lang="zh-CN" altLang="en-US" dirty="0">
                <a:latin typeface="Verdana" panose="020B0604030504040204" pitchFamily="34" charset="0"/>
                <a:ea typeface="宋体" panose="02010600030101010101" pitchFamily="2" charset="-122"/>
              </a:rPr>
              <a:t>拖期</a:t>
            </a:r>
            <a:r>
              <a:rPr lang="en-US" altLang="zh-CN" dirty="0">
                <a:latin typeface="Verdana" panose="020B0604030504040204" pitchFamily="34" charset="0"/>
                <a:ea typeface="宋体" panose="02010600030101010101" pitchFamily="2" charset="-122"/>
              </a:rPr>
              <a:t>)</a:t>
            </a:r>
          </a:p>
          <a:p>
            <a:pPr lvl="4" eaLnBrk="1" hangingPunct="1">
              <a:lnSpc>
                <a:spcPct val="70000"/>
              </a:lnSpc>
            </a:pPr>
            <a:endParaRPr kumimoji="0" lang="en-US" altLang="zh-CN" dirty="0">
              <a:ea typeface="宋体" panose="02010600030101010101" pitchFamily="2" charset="-122"/>
            </a:endParaRPr>
          </a:p>
          <a:p>
            <a:pPr lvl="1" eaLnBrk="1" hangingPunct="1">
              <a:lnSpc>
                <a:spcPct val="70000"/>
              </a:lnSpc>
              <a:buFont typeface="Wingdings" panose="05000000000000000000" pitchFamily="2" charset="2"/>
              <a:buNone/>
            </a:pPr>
            <a:r>
              <a:rPr kumimoji="0" lang="en-US" altLang="zh-CN" dirty="0">
                <a:ea typeface="宋体" panose="02010600030101010101" pitchFamily="2" charset="-122"/>
              </a:rPr>
              <a:t>				     </a:t>
            </a:r>
            <a:r>
              <a:rPr kumimoji="0" lang="en-US" altLang="zh-CN" sz="2400" dirty="0">
                <a:ea typeface="宋体" panose="02010600030101010101" pitchFamily="2" charset="-122"/>
              </a:rPr>
              <a:t>Minimize total weighted tardiness</a:t>
            </a:r>
          </a:p>
          <a:p>
            <a:pPr lvl="4" eaLnBrk="1" hangingPunct="1">
              <a:lnSpc>
                <a:spcPct val="70000"/>
              </a:lnSpc>
            </a:pPr>
            <a:endParaRPr kumimoji="0" lang="en-US" altLang="zh-CN" sz="2400" dirty="0">
              <a:ea typeface="宋体" panose="02010600030101010101" pitchFamily="2" charset="-122"/>
            </a:endParaRPr>
          </a:p>
          <a:p>
            <a:pPr lvl="4" eaLnBrk="1" hangingPunct="1">
              <a:lnSpc>
                <a:spcPct val="70000"/>
              </a:lnSpc>
            </a:pPr>
            <a:endParaRPr kumimoji="0" lang="en-US" altLang="zh-CN" dirty="0">
              <a:ea typeface="宋体" panose="02010600030101010101" pitchFamily="2" charset="-122"/>
            </a:endParaRPr>
          </a:p>
          <a:p>
            <a:pPr lvl="4" eaLnBrk="1" hangingPunct="1">
              <a:lnSpc>
                <a:spcPct val="70000"/>
              </a:lnSpc>
            </a:pPr>
            <a:endParaRPr kumimoji="0" lang="en-US" altLang="zh-CN" dirty="0">
              <a:ea typeface="宋体" panose="02010600030101010101" pitchFamily="2" charset="-122"/>
            </a:endParaRPr>
          </a:p>
          <a:p>
            <a:pPr marL="0" indent="0" eaLnBrk="1" hangingPunct="1">
              <a:lnSpc>
                <a:spcPct val="70000"/>
              </a:lnSpc>
            </a:pPr>
            <a:r>
              <a:rPr lang="en-US" altLang="zh-CN" dirty="0">
                <a:latin typeface="Verdana" panose="020B0604030504040204" pitchFamily="34" charset="0"/>
                <a:ea typeface="宋体" panose="02010600030101010101" pitchFamily="2" charset="-122"/>
              </a:rPr>
              <a:t>Tardy job(</a:t>
            </a:r>
            <a:r>
              <a:rPr lang="zh-CN" altLang="en-US" dirty="0">
                <a:latin typeface="Verdana" panose="020B0604030504040204" pitchFamily="34" charset="0"/>
                <a:ea typeface="宋体" panose="02010600030101010101" pitchFamily="2" charset="-122"/>
              </a:rPr>
              <a:t>拖期任务</a:t>
            </a:r>
            <a:r>
              <a:rPr lang="en-US" altLang="zh-CN" dirty="0">
                <a:latin typeface="Verdana" panose="020B0604030504040204" pitchFamily="34" charset="0"/>
                <a:ea typeface="宋体" panose="02010600030101010101" pitchFamily="2" charset="-122"/>
              </a:rPr>
              <a:t>)</a:t>
            </a:r>
          </a:p>
          <a:p>
            <a:pPr lvl="4" eaLnBrk="1" hangingPunct="1">
              <a:lnSpc>
                <a:spcPct val="70000"/>
              </a:lnSpc>
            </a:pPr>
            <a:endParaRPr kumimoji="0" lang="en-US" altLang="zh-CN" dirty="0">
              <a:ea typeface="宋体" panose="02010600030101010101" pitchFamily="2" charset="-122"/>
            </a:endParaRPr>
          </a:p>
          <a:p>
            <a:pPr lvl="1" eaLnBrk="1" hangingPunct="1">
              <a:lnSpc>
                <a:spcPct val="70000"/>
              </a:lnSpc>
              <a:buFont typeface="Wingdings" panose="05000000000000000000" pitchFamily="2" charset="2"/>
              <a:buNone/>
            </a:pPr>
            <a:r>
              <a:rPr kumimoji="0" lang="en-US" altLang="zh-CN" dirty="0">
                <a:ea typeface="宋体" panose="02010600030101010101" pitchFamily="2" charset="-122"/>
              </a:rPr>
              <a:t>				     </a:t>
            </a:r>
            <a:r>
              <a:rPr kumimoji="0" lang="en-US" altLang="zh-CN" sz="2400" dirty="0">
                <a:ea typeface="宋体" panose="02010600030101010101" pitchFamily="2" charset="-122"/>
              </a:rPr>
              <a:t>Minimize the number of tardy jobs</a:t>
            </a:r>
          </a:p>
          <a:p>
            <a:pPr marL="0" indent="0" eaLnBrk="1" hangingPunct="1"/>
            <a:endParaRPr lang="en-US" altLang="zh-CN" dirty="0">
              <a:latin typeface="Verdana" panose="020B0604030504040204" pitchFamily="34" charset="0"/>
              <a:ea typeface="宋体" panose="02010600030101010101" pitchFamily="2" charset="-122"/>
            </a:endParaRPr>
          </a:p>
        </p:txBody>
      </p:sp>
      <p:graphicFrame>
        <p:nvGraphicFramePr>
          <p:cNvPr id="40964" name="Object 4"/>
          <p:cNvGraphicFramePr>
            <a:graphicFrameLocks/>
          </p:cNvGraphicFramePr>
          <p:nvPr>
            <p:extLst>
              <p:ext uri="{D42A27DB-BD31-4B8C-83A1-F6EECF244321}">
                <p14:modId xmlns:p14="http://schemas.microsoft.com/office/powerpoint/2010/main" val="2984045992"/>
              </p:ext>
            </p:extLst>
          </p:nvPr>
        </p:nvGraphicFramePr>
        <p:xfrm>
          <a:off x="3376612" y="1066800"/>
          <a:ext cx="1430338" cy="482600"/>
        </p:xfrm>
        <a:graphic>
          <a:graphicData uri="http://schemas.openxmlformats.org/presentationml/2006/ole">
            <mc:AlternateContent xmlns:mc="http://schemas.openxmlformats.org/markup-compatibility/2006">
              <mc:Choice xmlns:v="urn:schemas-microsoft-com:vml" Requires="v">
                <p:oleObj spid="_x0000_s41169" name="Equation" r:id="rId3" imgW="774364" imgH="241195" progId="Equation.DSMT4">
                  <p:embed/>
                </p:oleObj>
              </mc:Choice>
              <mc:Fallback>
                <p:oleObj name="Equation" r:id="rId3" imgW="774364" imgH="241195"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6612" y="1066800"/>
                        <a:ext cx="1430338" cy="4826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0965" name="Object 5"/>
          <p:cNvGraphicFramePr>
            <a:graphicFrameLocks/>
          </p:cNvGraphicFramePr>
          <p:nvPr>
            <p:extLst>
              <p:ext uri="{D42A27DB-BD31-4B8C-83A1-F6EECF244321}">
                <p14:modId xmlns:p14="http://schemas.microsoft.com/office/powerpoint/2010/main" val="2698177957"/>
              </p:ext>
            </p:extLst>
          </p:nvPr>
        </p:nvGraphicFramePr>
        <p:xfrm>
          <a:off x="6338887" y="2590800"/>
          <a:ext cx="1052513" cy="558800"/>
        </p:xfrm>
        <a:graphic>
          <a:graphicData uri="http://schemas.openxmlformats.org/presentationml/2006/ole">
            <mc:AlternateContent xmlns:mc="http://schemas.openxmlformats.org/markup-compatibility/2006">
              <mc:Choice xmlns:v="urn:schemas-microsoft-com:vml" Requires="v">
                <p:oleObj spid="_x0000_s41170" name="Equation" r:id="rId5" imgW="571252" imgH="279279" progId="Equation.DSMT4">
                  <p:embed/>
                </p:oleObj>
              </mc:Choice>
              <mc:Fallback>
                <p:oleObj name="Equation" r:id="rId5" imgW="571252" imgH="279279" progId="Equation.DSMT4">
                  <p:embed/>
                  <p:pic>
                    <p:nvPicPr>
                      <p:cNvPr id="0" name="Object 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8887" y="2590800"/>
                        <a:ext cx="1052513" cy="558800"/>
                      </a:xfrm>
                      <a:prstGeom prst="rect">
                        <a:avLst/>
                      </a:prstGeom>
                      <a:solidFill>
                        <a:schemeClr val="bg1"/>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0966" name="Object 6"/>
          <p:cNvGraphicFramePr>
            <a:graphicFrameLocks/>
          </p:cNvGraphicFramePr>
          <p:nvPr>
            <p:extLst>
              <p:ext uri="{D42A27DB-BD31-4B8C-83A1-F6EECF244321}">
                <p14:modId xmlns:p14="http://schemas.microsoft.com/office/powerpoint/2010/main" val="523433595"/>
              </p:ext>
            </p:extLst>
          </p:nvPr>
        </p:nvGraphicFramePr>
        <p:xfrm>
          <a:off x="6338887" y="990600"/>
          <a:ext cx="539750" cy="457200"/>
        </p:xfrm>
        <a:graphic>
          <a:graphicData uri="http://schemas.openxmlformats.org/presentationml/2006/ole">
            <mc:AlternateContent xmlns:mc="http://schemas.openxmlformats.org/markup-compatibility/2006">
              <mc:Choice xmlns:v="urn:schemas-microsoft-com:vml" Requires="v">
                <p:oleObj spid="_x0000_s41171" name="Equation" r:id="rId7" imgW="291973" imgH="228501" progId="Equation.DSMT4">
                  <p:embed/>
                </p:oleObj>
              </mc:Choice>
              <mc:Fallback>
                <p:oleObj name="Equation" r:id="rId7" imgW="291973" imgH="228501" progId="Equation.DSMT4">
                  <p:embed/>
                  <p:pic>
                    <p:nvPicPr>
                      <p:cNvPr id="0" name="Object 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38887" y="990600"/>
                        <a:ext cx="539750" cy="457200"/>
                      </a:xfrm>
                      <a:prstGeom prst="rect">
                        <a:avLst/>
                      </a:prstGeom>
                      <a:solidFill>
                        <a:schemeClr val="bg1"/>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0967" name="Object 7"/>
          <p:cNvGraphicFramePr>
            <a:graphicFrameLocks/>
          </p:cNvGraphicFramePr>
          <p:nvPr>
            <p:extLst>
              <p:ext uri="{D42A27DB-BD31-4B8C-83A1-F6EECF244321}">
                <p14:modId xmlns:p14="http://schemas.microsoft.com/office/powerpoint/2010/main" val="42175659"/>
              </p:ext>
            </p:extLst>
          </p:nvPr>
        </p:nvGraphicFramePr>
        <p:xfrm>
          <a:off x="6338887" y="4419600"/>
          <a:ext cx="844550" cy="558800"/>
        </p:xfrm>
        <a:graphic>
          <a:graphicData uri="http://schemas.openxmlformats.org/presentationml/2006/ole">
            <mc:AlternateContent xmlns:mc="http://schemas.openxmlformats.org/markup-compatibility/2006">
              <mc:Choice xmlns:v="urn:schemas-microsoft-com:vml" Requires="v">
                <p:oleObj spid="_x0000_s41172" name="Equation" r:id="rId9" imgW="457200" imgH="279400" progId="Equation.DSMT4">
                  <p:embed/>
                </p:oleObj>
              </mc:Choice>
              <mc:Fallback>
                <p:oleObj name="Equation" r:id="rId9" imgW="457200" imgH="279400" progId="Equation.DSMT4">
                  <p:embed/>
                  <p:pic>
                    <p:nvPicPr>
                      <p:cNvPr id="0" name="Object 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38887" y="4419600"/>
                        <a:ext cx="844550" cy="558800"/>
                      </a:xfrm>
                      <a:prstGeom prst="rect">
                        <a:avLst/>
                      </a:prstGeom>
                      <a:solidFill>
                        <a:schemeClr val="bg1"/>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0968" name="Object 8"/>
          <p:cNvGraphicFramePr>
            <a:graphicFrameLocks/>
          </p:cNvGraphicFramePr>
          <p:nvPr>
            <p:extLst>
              <p:ext uri="{D42A27DB-BD31-4B8C-83A1-F6EECF244321}">
                <p14:modId xmlns:p14="http://schemas.microsoft.com/office/powerpoint/2010/main" val="604125180"/>
              </p:ext>
            </p:extLst>
          </p:nvPr>
        </p:nvGraphicFramePr>
        <p:xfrm>
          <a:off x="3376612" y="2667000"/>
          <a:ext cx="2414588" cy="482600"/>
        </p:xfrm>
        <a:graphic>
          <a:graphicData uri="http://schemas.openxmlformats.org/presentationml/2006/ole">
            <mc:AlternateContent xmlns:mc="http://schemas.openxmlformats.org/markup-compatibility/2006">
              <mc:Choice xmlns:v="urn:schemas-microsoft-com:vml" Requires="v">
                <p:oleObj spid="_x0000_s41173" name="Equation" r:id="rId11" imgW="1308100" imgH="241300" progId="Equation.DSMT4">
                  <p:embed/>
                </p:oleObj>
              </mc:Choice>
              <mc:Fallback>
                <p:oleObj name="Equation" r:id="rId11" imgW="1308100" imgH="241300" progId="Equation.DSMT4">
                  <p:embed/>
                  <p:pic>
                    <p:nvPicPr>
                      <p:cNvPr id="0" name="Object 8"/>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76612" y="2667000"/>
                        <a:ext cx="2414588" cy="4826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0969" name="Object 9"/>
          <p:cNvGraphicFramePr>
            <a:graphicFrameLocks/>
          </p:cNvGraphicFramePr>
          <p:nvPr>
            <p:extLst>
              <p:ext uri="{D42A27DB-BD31-4B8C-83A1-F6EECF244321}">
                <p14:modId xmlns:p14="http://schemas.microsoft.com/office/powerpoint/2010/main" val="1176877232"/>
              </p:ext>
            </p:extLst>
          </p:nvPr>
        </p:nvGraphicFramePr>
        <p:xfrm>
          <a:off x="3376612" y="4495800"/>
          <a:ext cx="2062163" cy="482600"/>
        </p:xfrm>
        <a:graphic>
          <a:graphicData uri="http://schemas.openxmlformats.org/presentationml/2006/ole">
            <mc:AlternateContent xmlns:mc="http://schemas.openxmlformats.org/markup-compatibility/2006">
              <mc:Choice xmlns:v="urn:schemas-microsoft-com:vml" Requires="v">
                <p:oleObj spid="_x0000_s41174" name="公式" r:id="rId13" imgW="1117600" imgH="241300" progId="Equation.3">
                  <p:embed/>
                </p:oleObj>
              </mc:Choice>
              <mc:Fallback>
                <p:oleObj name="公式" r:id="rId13" imgW="1117600" imgH="241300" progId="Equation.3">
                  <p:embed/>
                  <p:pic>
                    <p:nvPicPr>
                      <p:cNvPr id="0" name="Object 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76612" y="4495800"/>
                        <a:ext cx="2062163" cy="4826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097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6"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Due Date Penalties</a:t>
            </a:r>
          </a:p>
        </p:txBody>
      </p:sp>
      <p:grpSp>
        <p:nvGrpSpPr>
          <p:cNvPr id="41987" name="Group 38"/>
          <p:cNvGrpSpPr>
            <a:grpSpLocks/>
          </p:cNvGrpSpPr>
          <p:nvPr/>
        </p:nvGrpSpPr>
        <p:grpSpPr bwMode="auto">
          <a:xfrm>
            <a:off x="1676400" y="1524000"/>
            <a:ext cx="5883275" cy="4267200"/>
            <a:chOff x="1102" y="1200"/>
            <a:chExt cx="3706" cy="2688"/>
          </a:xfrm>
        </p:grpSpPr>
        <p:sp>
          <p:nvSpPr>
            <p:cNvPr id="41989" name="Line 3"/>
            <p:cNvSpPr>
              <a:spLocks noChangeShapeType="1"/>
            </p:cNvSpPr>
            <p:nvPr/>
          </p:nvSpPr>
          <p:spPr bwMode="auto">
            <a:xfrm flipV="1">
              <a:off x="1240" y="1248"/>
              <a:ext cx="0"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0" name="Line 4"/>
            <p:cNvSpPr>
              <a:spLocks noChangeShapeType="1"/>
            </p:cNvSpPr>
            <p:nvPr/>
          </p:nvSpPr>
          <p:spPr bwMode="auto">
            <a:xfrm>
              <a:off x="1240" y="2256"/>
              <a:ext cx="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1" name="Line 5"/>
            <p:cNvSpPr>
              <a:spLocks noChangeShapeType="1"/>
            </p:cNvSpPr>
            <p:nvPr/>
          </p:nvSpPr>
          <p:spPr bwMode="auto">
            <a:xfrm>
              <a:off x="1672" y="220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1992" name="Object 6"/>
            <p:cNvGraphicFramePr>
              <a:graphicFrameLocks noChangeAspect="1"/>
            </p:cNvGraphicFramePr>
            <p:nvPr/>
          </p:nvGraphicFramePr>
          <p:xfrm>
            <a:off x="1672" y="2228"/>
            <a:ext cx="197" cy="268"/>
          </p:xfrm>
          <a:graphic>
            <a:graphicData uri="http://schemas.openxmlformats.org/presentationml/2006/ole">
              <mc:AlternateContent xmlns:mc="http://schemas.openxmlformats.org/markup-compatibility/2006">
                <mc:Choice xmlns:v="urn:schemas-microsoft-com:vml" Requires="v">
                  <p:oleObj spid="_x0000_s42408" name="Equation" r:id="rId3" imgW="177646" imgH="241091" progId="Equation.3">
                    <p:embed/>
                  </p:oleObj>
                </mc:Choice>
                <mc:Fallback>
                  <p:oleObj name="Equation" r:id="rId3" imgW="177646" imgH="241091"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2" y="2228"/>
                          <a:ext cx="197"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993" name="Object 7"/>
            <p:cNvGraphicFramePr>
              <a:graphicFrameLocks noChangeAspect="1"/>
            </p:cNvGraphicFramePr>
            <p:nvPr/>
          </p:nvGraphicFramePr>
          <p:xfrm>
            <a:off x="2379" y="2036"/>
            <a:ext cx="213" cy="268"/>
          </p:xfrm>
          <a:graphic>
            <a:graphicData uri="http://schemas.openxmlformats.org/presentationml/2006/ole">
              <mc:AlternateContent xmlns:mc="http://schemas.openxmlformats.org/markup-compatibility/2006">
                <mc:Choice xmlns:v="urn:schemas-microsoft-com:vml" Requires="v">
                  <p:oleObj spid="_x0000_s42409" name="Equation" r:id="rId5" imgW="190417" imgH="241195" progId="Equation.3">
                    <p:embed/>
                  </p:oleObj>
                </mc:Choice>
                <mc:Fallback>
                  <p:oleObj name="Equation" r:id="rId5" imgW="190417" imgH="24119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9" y="2036"/>
                          <a:ext cx="213"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1994" name="Line 8"/>
            <p:cNvSpPr>
              <a:spLocks noChangeShapeType="1"/>
            </p:cNvSpPr>
            <p:nvPr/>
          </p:nvSpPr>
          <p:spPr bwMode="auto">
            <a:xfrm flipV="1">
              <a:off x="1480" y="1680"/>
              <a:ext cx="864" cy="72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1995" name="Object 9"/>
            <p:cNvGraphicFramePr>
              <a:graphicFrameLocks noChangeAspect="1"/>
            </p:cNvGraphicFramePr>
            <p:nvPr/>
          </p:nvGraphicFramePr>
          <p:xfrm>
            <a:off x="2064" y="1536"/>
            <a:ext cx="197" cy="268"/>
          </p:xfrm>
          <a:graphic>
            <a:graphicData uri="http://schemas.openxmlformats.org/presentationml/2006/ole">
              <mc:AlternateContent xmlns:mc="http://schemas.openxmlformats.org/markup-compatibility/2006">
                <mc:Choice xmlns:v="urn:schemas-microsoft-com:vml" Requires="v">
                  <p:oleObj spid="_x0000_s42410" name="Equation" r:id="rId7" imgW="177646" imgH="241091" progId="Equation.3">
                    <p:embed/>
                  </p:oleObj>
                </mc:Choice>
                <mc:Fallback>
                  <p:oleObj name="Equation" r:id="rId7" imgW="177646" imgH="241091"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4" y="1536"/>
                          <a:ext cx="197"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1996" name="Line 10"/>
            <p:cNvSpPr>
              <a:spLocks noChangeShapeType="1"/>
            </p:cNvSpPr>
            <p:nvPr/>
          </p:nvSpPr>
          <p:spPr bwMode="auto">
            <a:xfrm flipV="1">
              <a:off x="3448" y="1248"/>
              <a:ext cx="0"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7" name="Line 11"/>
            <p:cNvSpPr>
              <a:spLocks noChangeShapeType="1"/>
            </p:cNvSpPr>
            <p:nvPr/>
          </p:nvSpPr>
          <p:spPr bwMode="auto">
            <a:xfrm>
              <a:off x="3448" y="2256"/>
              <a:ext cx="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998" name="Line 12"/>
            <p:cNvSpPr>
              <a:spLocks noChangeShapeType="1"/>
            </p:cNvSpPr>
            <p:nvPr/>
          </p:nvSpPr>
          <p:spPr bwMode="auto">
            <a:xfrm>
              <a:off x="3880" y="220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1999" name="Object 13"/>
            <p:cNvGraphicFramePr>
              <a:graphicFrameLocks noChangeAspect="1"/>
            </p:cNvGraphicFramePr>
            <p:nvPr/>
          </p:nvGraphicFramePr>
          <p:xfrm>
            <a:off x="3880" y="2228"/>
            <a:ext cx="197" cy="268"/>
          </p:xfrm>
          <a:graphic>
            <a:graphicData uri="http://schemas.openxmlformats.org/presentationml/2006/ole">
              <mc:AlternateContent xmlns:mc="http://schemas.openxmlformats.org/markup-compatibility/2006">
                <mc:Choice xmlns:v="urn:schemas-microsoft-com:vml" Requires="v">
                  <p:oleObj spid="_x0000_s42411" name="Equation" r:id="rId9" imgW="177646" imgH="241091" progId="Equation.3">
                    <p:embed/>
                  </p:oleObj>
                </mc:Choice>
                <mc:Fallback>
                  <p:oleObj name="Equation" r:id="rId9" imgW="177646" imgH="241091"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0" y="2228"/>
                          <a:ext cx="197"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000" name="Object 14"/>
            <p:cNvGraphicFramePr>
              <a:graphicFrameLocks noChangeAspect="1"/>
            </p:cNvGraphicFramePr>
            <p:nvPr/>
          </p:nvGraphicFramePr>
          <p:xfrm>
            <a:off x="4587" y="2036"/>
            <a:ext cx="213" cy="268"/>
          </p:xfrm>
          <a:graphic>
            <a:graphicData uri="http://schemas.openxmlformats.org/presentationml/2006/ole">
              <mc:AlternateContent xmlns:mc="http://schemas.openxmlformats.org/markup-compatibility/2006">
                <mc:Choice xmlns:v="urn:schemas-microsoft-com:vml" Requires="v">
                  <p:oleObj spid="_x0000_s42412" name="Equation" r:id="rId10" imgW="190417" imgH="241195" progId="Equation.3">
                    <p:embed/>
                  </p:oleObj>
                </mc:Choice>
                <mc:Fallback>
                  <p:oleObj name="Equation" r:id="rId10" imgW="190417" imgH="241195"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7" y="2036"/>
                          <a:ext cx="213"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2001" name="Line 15"/>
            <p:cNvSpPr>
              <a:spLocks noChangeShapeType="1"/>
            </p:cNvSpPr>
            <p:nvPr/>
          </p:nvSpPr>
          <p:spPr bwMode="auto">
            <a:xfrm flipV="1">
              <a:off x="3888" y="1680"/>
              <a:ext cx="664" cy="57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2002" name="Object 16"/>
            <p:cNvGraphicFramePr>
              <a:graphicFrameLocks noChangeAspect="1"/>
            </p:cNvGraphicFramePr>
            <p:nvPr/>
          </p:nvGraphicFramePr>
          <p:xfrm>
            <a:off x="4279" y="1536"/>
            <a:ext cx="183" cy="268"/>
          </p:xfrm>
          <a:graphic>
            <a:graphicData uri="http://schemas.openxmlformats.org/presentationml/2006/ole">
              <mc:AlternateContent xmlns:mc="http://schemas.openxmlformats.org/markup-compatibility/2006">
                <mc:Choice xmlns:v="urn:schemas-microsoft-com:vml" Requires="v">
                  <p:oleObj spid="_x0000_s42413" name="Equation" r:id="rId11" imgW="164957" imgH="241091" progId="Equation.3">
                    <p:embed/>
                  </p:oleObj>
                </mc:Choice>
                <mc:Fallback>
                  <p:oleObj name="Equation" r:id="rId11" imgW="164957" imgH="241091"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79" y="1536"/>
                          <a:ext cx="183"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2003" name="Line 17"/>
            <p:cNvSpPr>
              <a:spLocks noChangeShapeType="1"/>
            </p:cNvSpPr>
            <p:nvPr/>
          </p:nvSpPr>
          <p:spPr bwMode="auto">
            <a:xfrm flipH="1">
              <a:off x="3456" y="2256"/>
              <a:ext cx="43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4" name="Line 18"/>
            <p:cNvSpPr>
              <a:spLocks noChangeShapeType="1"/>
            </p:cNvSpPr>
            <p:nvPr/>
          </p:nvSpPr>
          <p:spPr bwMode="auto">
            <a:xfrm flipV="1">
              <a:off x="1248" y="2640"/>
              <a:ext cx="0"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5" name="Line 19"/>
            <p:cNvSpPr>
              <a:spLocks noChangeShapeType="1"/>
            </p:cNvSpPr>
            <p:nvPr/>
          </p:nvSpPr>
          <p:spPr bwMode="auto">
            <a:xfrm>
              <a:off x="1248" y="3648"/>
              <a:ext cx="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6" name="Line 20"/>
            <p:cNvSpPr>
              <a:spLocks noChangeShapeType="1"/>
            </p:cNvSpPr>
            <p:nvPr/>
          </p:nvSpPr>
          <p:spPr bwMode="auto">
            <a:xfrm>
              <a:off x="1680" y="360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2007" name="Object 21"/>
            <p:cNvGraphicFramePr>
              <a:graphicFrameLocks noChangeAspect="1"/>
            </p:cNvGraphicFramePr>
            <p:nvPr/>
          </p:nvGraphicFramePr>
          <p:xfrm>
            <a:off x="1680" y="3620"/>
            <a:ext cx="197" cy="268"/>
          </p:xfrm>
          <a:graphic>
            <a:graphicData uri="http://schemas.openxmlformats.org/presentationml/2006/ole">
              <mc:AlternateContent xmlns:mc="http://schemas.openxmlformats.org/markup-compatibility/2006">
                <mc:Choice xmlns:v="urn:schemas-microsoft-com:vml" Requires="v">
                  <p:oleObj spid="_x0000_s42414" name="Equation" r:id="rId13" imgW="177646" imgH="241091" progId="Equation.3">
                    <p:embed/>
                  </p:oleObj>
                </mc:Choice>
                <mc:Fallback>
                  <p:oleObj name="Equation" r:id="rId13" imgW="177646" imgH="241091" progId="Equation.3">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0" y="3620"/>
                          <a:ext cx="197"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008" name="Object 22"/>
            <p:cNvGraphicFramePr>
              <a:graphicFrameLocks noChangeAspect="1"/>
            </p:cNvGraphicFramePr>
            <p:nvPr/>
          </p:nvGraphicFramePr>
          <p:xfrm>
            <a:off x="2387" y="3428"/>
            <a:ext cx="213" cy="268"/>
          </p:xfrm>
          <a:graphic>
            <a:graphicData uri="http://schemas.openxmlformats.org/presentationml/2006/ole">
              <mc:AlternateContent xmlns:mc="http://schemas.openxmlformats.org/markup-compatibility/2006">
                <mc:Choice xmlns:v="urn:schemas-microsoft-com:vml" Requires="v">
                  <p:oleObj spid="_x0000_s42415" name="Equation" r:id="rId14" imgW="190417" imgH="241195" progId="Equation.3">
                    <p:embed/>
                  </p:oleObj>
                </mc:Choice>
                <mc:Fallback>
                  <p:oleObj name="Equation" r:id="rId14" imgW="190417" imgH="241195"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7" y="3428"/>
                          <a:ext cx="213"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2009" name="Line 23"/>
            <p:cNvSpPr>
              <a:spLocks noChangeShapeType="1"/>
            </p:cNvSpPr>
            <p:nvPr/>
          </p:nvSpPr>
          <p:spPr bwMode="auto">
            <a:xfrm flipV="1">
              <a:off x="1680" y="3360"/>
              <a:ext cx="6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2010" name="Object 24"/>
            <p:cNvGraphicFramePr>
              <a:graphicFrameLocks noChangeAspect="1"/>
            </p:cNvGraphicFramePr>
            <p:nvPr/>
          </p:nvGraphicFramePr>
          <p:xfrm>
            <a:off x="1934" y="3092"/>
            <a:ext cx="226" cy="268"/>
          </p:xfrm>
          <a:graphic>
            <a:graphicData uri="http://schemas.openxmlformats.org/presentationml/2006/ole">
              <mc:AlternateContent xmlns:mc="http://schemas.openxmlformats.org/markup-compatibility/2006">
                <mc:Choice xmlns:v="urn:schemas-microsoft-com:vml" Requires="v">
                  <p:oleObj spid="_x0000_s42416" name="Equation" r:id="rId15" imgW="203112" imgH="241195" progId="Equation.3">
                    <p:embed/>
                  </p:oleObj>
                </mc:Choice>
                <mc:Fallback>
                  <p:oleObj name="Equation" r:id="rId15" imgW="203112" imgH="241195" progId="Equation.3">
                    <p:embed/>
                    <p:pic>
                      <p:nvPicPr>
                        <p:cNvPr id="0" name="Object 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34" y="3092"/>
                          <a:ext cx="226"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2011" name="Line 25"/>
            <p:cNvSpPr>
              <a:spLocks noChangeShapeType="1"/>
            </p:cNvSpPr>
            <p:nvPr/>
          </p:nvSpPr>
          <p:spPr bwMode="auto">
            <a:xfrm flipH="1">
              <a:off x="1256" y="3648"/>
              <a:ext cx="43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2" name="Line 26"/>
            <p:cNvSpPr>
              <a:spLocks noChangeShapeType="1"/>
            </p:cNvSpPr>
            <p:nvPr/>
          </p:nvSpPr>
          <p:spPr bwMode="auto">
            <a:xfrm>
              <a:off x="1200" y="336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2013" name="Object 27"/>
            <p:cNvGraphicFramePr>
              <a:graphicFrameLocks noChangeAspect="1"/>
            </p:cNvGraphicFramePr>
            <p:nvPr/>
          </p:nvGraphicFramePr>
          <p:xfrm>
            <a:off x="1102" y="3258"/>
            <a:ext cx="98" cy="183"/>
          </p:xfrm>
          <a:graphic>
            <a:graphicData uri="http://schemas.openxmlformats.org/presentationml/2006/ole">
              <mc:AlternateContent xmlns:mc="http://schemas.openxmlformats.org/markup-compatibility/2006">
                <mc:Choice xmlns:v="urn:schemas-microsoft-com:vml" Requires="v">
                  <p:oleObj spid="_x0000_s42417" name="Equation" r:id="rId17" imgW="88707" imgH="164742" progId="Equation.3">
                    <p:embed/>
                  </p:oleObj>
                </mc:Choice>
                <mc:Fallback>
                  <p:oleObj name="Equation" r:id="rId17" imgW="88707" imgH="164742" progId="Equation.3">
                    <p:embed/>
                    <p:pic>
                      <p:nvPicPr>
                        <p:cNvPr id="0" name="Object 2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02" y="3258"/>
                          <a:ext cx="98"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2014" name="Line 28"/>
            <p:cNvSpPr>
              <a:spLocks noChangeShapeType="1"/>
            </p:cNvSpPr>
            <p:nvPr/>
          </p:nvSpPr>
          <p:spPr bwMode="auto">
            <a:xfrm flipV="1">
              <a:off x="3456" y="2640"/>
              <a:ext cx="0"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5" name="Line 29"/>
            <p:cNvSpPr>
              <a:spLocks noChangeShapeType="1"/>
            </p:cNvSpPr>
            <p:nvPr/>
          </p:nvSpPr>
          <p:spPr bwMode="auto">
            <a:xfrm>
              <a:off x="3456" y="3648"/>
              <a:ext cx="1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6" name="Line 30"/>
            <p:cNvSpPr>
              <a:spLocks noChangeShapeType="1"/>
            </p:cNvSpPr>
            <p:nvPr/>
          </p:nvSpPr>
          <p:spPr bwMode="auto">
            <a:xfrm>
              <a:off x="3888" y="360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42017" name="Object 31"/>
            <p:cNvGraphicFramePr>
              <a:graphicFrameLocks noChangeAspect="1"/>
            </p:cNvGraphicFramePr>
            <p:nvPr/>
          </p:nvGraphicFramePr>
          <p:xfrm>
            <a:off x="3888" y="3620"/>
            <a:ext cx="197" cy="268"/>
          </p:xfrm>
          <a:graphic>
            <a:graphicData uri="http://schemas.openxmlformats.org/presentationml/2006/ole">
              <mc:AlternateContent xmlns:mc="http://schemas.openxmlformats.org/markup-compatibility/2006">
                <mc:Choice xmlns:v="urn:schemas-microsoft-com:vml" Requires="v">
                  <p:oleObj spid="_x0000_s42418" name="Equation" r:id="rId19" imgW="177646" imgH="241091" progId="Equation.3">
                    <p:embed/>
                  </p:oleObj>
                </mc:Choice>
                <mc:Fallback>
                  <p:oleObj name="Equation" r:id="rId19" imgW="177646" imgH="241091"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8" y="3620"/>
                          <a:ext cx="197"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018" name="Object 32"/>
            <p:cNvGraphicFramePr>
              <a:graphicFrameLocks noChangeAspect="1"/>
            </p:cNvGraphicFramePr>
            <p:nvPr/>
          </p:nvGraphicFramePr>
          <p:xfrm>
            <a:off x="4595" y="3428"/>
            <a:ext cx="213" cy="268"/>
          </p:xfrm>
          <a:graphic>
            <a:graphicData uri="http://schemas.openxmlformats.org/presentationml/2006/ole">
              <mc:AlternateContent xmlns:mc="http://schemas.openxmlformats.org/markup-compatibility/2006">
                <mc:Choice xmlns:v="urn:schemas-microsoft-com:vml" Requires="v">
                  <p:oleObj spid="_x0000_s42419" name="公式" r:id="rId20" imgW="190417" imgH="241195" progId="Equation.3">
                    <p:embed/>
                  </p:oleObj>
                </mc:Choice>
                <mc:Fallback>
                  <p:oleObj name="公式" r:id="rId20" imgW="190417" imgH="241195"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5" y="3428"/>
                          <a:ext cx="213" cy="2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2019" name="Freeform 33"/>
            <p:cNvSpPr>
              <a:spLocks/>
            </p:cNvSpPr>
            <p:nvPr/>
          </p:nvSpPr>
          <p:spPr bwMode="auto">
            <a:xfrm>
              <a:off x="3481" y="3155"/>
              <a:ext cx="1237" cy="497"/>
            </a:xfrm>
            <a:custGeom>
              <a:avLst/>
              <a:gdLst>
                <a:gd name="T0" fmla="*/ 0 w 1237"/>
                <a:gd name="T1" fmla="*/ 345 h 497"/>
                <a:gd name="T2" fmla="*/ 119 w 1237"/>
                <a:gd name="T3" fmla="*/ 352 h 497"/>
                <a:gd name="T4" fmla="*/ 310 w 1237"/>
                <a:gd name="T5" fmla="*/ 454 h 497"/>
                <a:gd name="T6" fmla="*/ 455 w 1237"/>
                <a:gd name="T7" fmla="*/ 467 h 497"/>
                <a:gd name="T8" fmla="*/ 743 w 1237"/>
                <a:gd name="T9" fmla="*/ 276 h 497"/>
                <a:gd name="T10" fmla="*/ 935 w 1237"/>
                <a:gd name="T11" fmla="*/ 46 h 497"/>
                <a:gd name="T12" fmla="*/ 1237 w 1237"/>
                <a:gd name="T13" fmla="*/ 0 h 497"/>
                <a:gd name="T14" fmla="*/ 0 60000 65536"/>
                <a:gd name="T15" fmla="*/ 0 60000 65536"/>
                <a:gd name="T16" fmla="*/ 0 60000 65536"/>
                <a:gd name="T17" fmla="*/ 0 60000 65536"/>
                <a:gd name="T18" fmla="*/ 0 60000 65536"/>
                <a:gd name="T19" fmla="*/ 0 60000 65536"/>
                <a:gd name="T20" fmla="*/ 0 60000 65536"/>
                <a:gd name="T21" fmla="*/ 0 w 1237"/>
                <a:gd name="T22" fmla="*/ 0 h 497"/>
                <a:gd name="T23" fmla="*/ 1237 w 1237"/>
                <a:gd name="T24" fmla="*/ 497 h 4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37" h="497">
                  <a:moveTo>
                    <a:pt x="0" y="345"/>
                  </a:moveTo>
                  <a:cubicBezTo>
                    <a:pt x="21" y="345"/>
                    <a:pt x="67" y="334"/>
                    <a:pt x="119" y="352"/>
                  </a:cubicBezTo>
                  <a:cubicBezTo>
                    <a:pt x="171" y="370"/>
                    <a:pt x="254" y="435"/>
                    <a:pt x="310" y="454"/>
                  </a:cubicBezTo>
                  <a:cubicBezTo>
                    <a:pt x="366" y="473"/>
                    <a:pt x="383" y="497"/>
                    <a:pt x="455" y="467"/>
                  </a:cubicBezTo>
                  <a:cubicBezTo>
                    <a:pt x="527" y="437"/>
                    <a:pt x="663" y="346"/>
                    <a:pt x="743" y="276"/>
                  </a:cubicBezTo>
                  <a:cubicBezTo>
                    <a:pt x="823" y="205"/>
                    <a:pt x="853" y="92"/>
                    <a:pt x="935" y="46"/>
                  </a:cubicBezTo>
                  <a:cubicBezTo>
                    <a:pt x="1017" y="0"/>
                    <a:pt x="1174" y="10"/>
                    <a:pt x="1237" y="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2020" name="Text Box 34"/>
            <p:cNvSpPr txBox="1">
              <a:spLocks noChangeArrowheads="1"/>
            </p:cNvSpPr>
            <p:nvPr/>
          </p:nvSpPr>
          <p:spPr bwMode="auto">
            <a:xfrm>
              <a:off x="3524" y="2592"/>
              <a:ext cx="8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a:solidFill>
                    <a:schemeClr val="tx2"/>
                  </a:solidFill>
                  <a:ea typeface="宋体" panose="02010600030101010101" pitchFamily="2" charset="-122"/>
                </a:rPr>
                <a:t>In practice</a:t>
              </a:r>
              <a:endParaRPr kumimoji="1" lang="en-US" altLang="zh-CN" sz="4000">
                <a:solidFill>
                  <a:schemeClr val="tx2"/>
                </a:solidFill>
                <a:latin typeface="Arial Black" panose="020B0A04020102020204" pitchFamily="34" charset="0"/>
                <a:ea typeface="宋体" panose="02010600030101010101" pitchFamily="2" charset="-122"/>
              </a:endParaRPr>
            </a:p>
          </p:txBody>
        </p:sp>
        <p:sp>
          <p:nvSpPr>
            <p:cNvPr id="42021" name="Text Box 35"/>
            <p:cNvSpPr txBox="1">
              <a:spLocks noChangeArrowheads="1"/>
            </p:cNvSpPr>
            <p:nvPr/>
          </p:nvSpPr>
          <p:spPr bwMode="auto">
            <a:xfrm>
              <a:off x="3544" y="1200"/>
              <a:ext cx="7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a:solidFill>
                    <a:schemeClr val="tx2"/>
                  </a:solidFill>
                  <a:ea typeface="宋体" panose="02010600030101010101" pitchFamily="2" charset="-122"/>
                </a:rPr>
                <a:t>Tardiness</a:t>
              </a:r>
              <a:endParaRPr kumimoji="1" lang="en-US" altLang="zh-CN" sz="4000">
                <a:solidFill>
                  <a:schemeClr val="tx2"/>
                </a:solidFill>
                <a:latin typeface="Arial Black" panose="020B0A04020102020204" pitchFamily="34" charset="0"/>
                <a:ea typeface="宋体" panose="02010600030101010101" pitchFamily="2" charset="-122"/>
              </a:endParaRPr>
            </a:p>
          </p:txBody>
        </p:sp>
        <p:sp>
          <p:nvSpPr>
            <p:cNvPr id="42022" name="Text Box 36"/>
            <p:cNvSpPr txBox="1">
              <a:spLocks noChangeArrowheads="1"/>
            </p:cNvSpPr>
            <p:nvPr/>
          </p:nvSpPr>
          <p:spPr bwMode="auto">
            <a:xfrm>
              <a:off x="1308" y="2592"/>
              <a:ext cx="8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a:solidFill>
                    <a:schemeClr val="tx2"/>
                  </a:solidFill>
                  <a:ea typeface="宋体" panose="02010600030101010101" pitchFamily="2" charset="-122"/>
                </a:rPr>
                <a:t>Late or Not</a:t>
              </a:r>
              <a:endParaRPr kumimoji="1" lang="en-US" altLang="zh-CN" sz="4000">
                <a:solidFill>
                  <a:schemeClr val="tx2"/>
                </a:solidFill>
                <a:latin typeface="Arial Black" panose="020B0A04020102020204" pitchFamily="34" charset="0"/>
                <a:ea typeface="宋体" panose="02010600030101010101" pitchFamily="2" charset="-122"/>
              </a:endParaRPr>
            </a:p>
          </p:txBody>
        </p:sp>
        <p:sp>
          <p:nvSpPr>
            <p:cNvPr id="42023" name="Text Box 37"/>
            <p:cNvSpPr txBox="1">
              <a:spLocks noChangeArrowheads="1"/>
            </p:cNvSpPr>
            <p:nvPr/>
          </p:nvSpPr>
          <p:spPr bwMode="auto">
            <a:xfrm>
              <a:off x="1324" y="1209"/>
              <a:ext cx="7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a:solidFill>
                    <a:schemeClr val="tx2"/>
                  </a:solidFill>
                  <a:ea typeface="宋体" panose="02010600030101010101" pitchFamily="2" charset="-122"/>
                </a:rPr>
                <a:t>Lateness</a:t>
              </a:r>
              <a:endParaRPr kumimoji="1" lang="en-US" altLang="zh-CN" sz="4000">
                <a:solidFill>
                  <a:schemeClr val="tx2"/>
                </a:solidFill>
                <a:latin typeface="Arial Black" panose="020B0A04020102020204" pitchFamily="34" charset="0"/>
                <a:ea typeface="宋体" panose="02010600030101010101" pitchFamily="2" charset="-122"/>
              </a:endParaRPr>
            </a:p>
          </p:txBody>
        </p:sp>
      </p:grpSp>
      <p:sp>
        <p:nvSpPr>
          <p:cNvPr id="41988"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Representation Methods</a:t>
            </a:r>
          </a:p>
        </p:txBody>
      </p:sp>
      <p:sp>
        <p:nvSpPr>
          <p:cNvPr id="45059"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Gantt Chart (</a:t>
            </a:r>
            <a:r>
              <a:rPr lang="zh-CN" altLang="en-US" sz="2400" dirty="0">
                <a:latin typeface="Verdana" panose="020B0604030504040204" pitchFamily="34" charset="0"/>
                <a:ea typeface="宋体" panose="02010600030101010101" pitchFamily="2" charset="-122"/>
              </a:rPr>
              <a:t>甘特图</a:t>
            </a:r>
            <a:r>
              <a:rPr lang="en-US" altLang="zh-CN" sz="2400" dirty="0">
                <a:latin typeface="Verdana" panose="020B0604030504040204" pitchFamily="34" charset="0"/>
                <a:ea typeface="宋体" panose="02010600030101010101" pitchFamily="2" charset="-122"/>
              </a:rPr>
              <a:t>)</a:t>
            </a:r>
          </a:p>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Graph (</a:t>
            </a:r>
            <a:r>
              <a:rPr lang="zh-CN" altLang="en-US" sz="2400" dirty="0">
                <a:latin typeface="Verdana" panose="020B0604030504040204" pitchFamily="34" charset="0"/>
                <a:ea typeface="宋体" panose="02010600030101010101" pitchFamily="2" charset="-122"/>
              </a:rPr>
              <a:t>图</a:t>
            </a:r>
            <a:r>
              <a:rPr lang="en-US" altLang="zh-CN" sz="2400" dirty="0">
                <a:latin typeface="Verdana" panose="020B0604030504040204" pitchFamily="34" charset="0"/>
                <a:ea typeface="宋体" panose="02010600030101010101" pitchFamily="2" charset="-122"/>
              </a:rPr>
              <a:t>)</a:t>
            </a:r>
          </a:p>
        </p:txBody>
      </p:sp>
      <p:sp>
        <p:nvSpPr>
          <p:cNvPr id="4506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228600" y="1066800"/>
            <a:ext cx="8513763"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tabLst>
                <a:tab pos="292100" algn="l"/>
              </a:tabLst>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tabLst>
                <a:tab pos="292100" algn="l"/>
              </a:tabLst>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tabLst>
                <a:tab pos="292100" algn="l"/>
              </a:tabLst>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tabLst>
                <a:tab pos="292100" algn="l"/>
              </a:tabLst>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tabLst>
                <a:tab pos="292100" algn="l"/>
              </a:tabLst>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tabLst>
                <a:tab pos="292100" algn="l"/>
              </a:tabLst>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tabLst>
                <a:tab pos="292100" algn="l"/>
              </a:tabLst>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tabLst>
                <a:tab pos="292100" algn="l"/>
              </a:tabLst>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tabLst>
                <a:tab pos="292100" algn="l"/>
              </a:tabLst>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2400" b="0" u="sng">
              <a:latin typeface="Times New Roman" panose="02020603050405020304" pitchFamily="18" charset="0"/>
              <a:ea typeface="宋体" panose="02010600030101010101" pitchFamily="2" charset="-122"/>
            </a:endParaRPr>
          </a:p>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Machines </a:t>
            </a:r>
            <a:r>
              <a:rPr lang="en-US" altLang="zh-CN" sz="2400" b="0" i="1">
                <a:latin typeface="Times New Roman" panose="02020603050405020304" pitchFamily="18" charset="0"/>
                <a:ea typeface="宋体" panose="02010600030101010101" pitchFamily="2" charset="-122"/>
              </a:rPr>
              <a:t>M</a:t>
            </a:r>
            <a:r>
              <a:rPr lang="en-US" altLang="zh-CN" sz="2400" b="0" i="1" baseline="-25000">
                <a:latin typeface="Times New Roman" panose="02020603050405020304" pitchFamily="18" charset="0"/>
                <a:ea typeface="宋体" panose="02010600030101010101" pitchFamily="2" charset="-122"/>
              </a:rPr>
              <a:t>i</a:t>
            </a:r>
            <a:r>
              <a:rPr lang="en-US" altLang="zh-CN" sz="2400" b="0">
                <a:latin typeface="Times New Roman" panose="02020603050405020304" pitchFamily="18" charset="0"/>
                <a:ea typeface="宋体" panose="02010600030101010101" pitchFamily="2" charset="-122"/>
              </a:rPr>
              <a:t>, </a:t>
            </a:r>
            <a:r>
              <a:rPr lang="en-US" altLang="zh-CN" sz="2400" b="0" i="1">
                <a:latin typeface="Times New Roman" panose="02020603050405020304" pitchFamily="18" charset="0"/>
                <a:ea typeface="宋体" panose="02010600030101010101" pitchFamily="2" charset="-122"/>
              </a:rPr>
              <a:t>i</a:t>
            </a:r>
            <a:r>
              <a:rPr lang="en-US" altLang="zh-CN" sz="2400" b="0">
                <a:latin typeface="Times New Roman" panose="02020603050405020304" pitchFamily="18" charset="0"/>
                <a:ea typeface="宋体" panose="02010600030101010101" pitchFamily="2" charset="-122"/>
              </a:rPr>
              <a:t>=1,...,</a:t>
            </a:r>
            <a:r>
              <a:rPr lang="en-US" altLang="zh-CN" sz="2400" b="0" i="1">
                <a:latin typeface="Times New Roman" panose="02020603050405020304" pitchFamily="18" charset="0"/>
                <a:ea typeface="宋体" panose="02010600030101010101" pitchFamily="2" charset="-122"/>
              </a:rPr>
              <a:t>m	</a:t>
            </a:r>
            <a:r>
              <a:rPr lang="en-US" altLang="zh-CN" sz="2400" b="0">
                <a:latin typeface="Times New Roman" panose="02020603050405020304" pitchFamily="18" charset="0"/>
                <a:ea typeface="宋体" panose="02010600030101010101" pitchFamily="2" charset="-122"/>
              </a:rPr>
              <a:t>(</a:t>
            </a:r>
            <a:r>
              <a:rPr lang="en-US" altLang="zh-CN" sz="2400" b="0" i="1">
                <a:latin typeface="Times New Roman" panose="02020603050405020304" pitchFamily="18" charset="0"/>
                <a:ea typeface="宋体" panose="02010600030101010101" pitchFamily="2" charset="-122"/>
              </a:rPr>
              <a:t>i</a:t>
            </a:r>
            <a:r>
              <a:rPr lang="en-US" altLang="zh-CN" sz="2400" b="0">
                <a:latin typeface="Times New Roman" panose="02020603050405020304" pitchFamily="18" charset="0"/>
                <a:ea typeface="宋体" panose="02010600030101010101" pitchFamily="2" charset="-122"/>
              </a:rPr>
              <a:t>th machine)	</a:t>
            </a:r>
          </a:p>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Jobs </a:t>
            </a:r>
            <a:r>
              <a:rPr lang="en-US" altLang="zh-CN" sz="2400" b="0" i="1">
                <a:latin typeface="Times New Roman" panose="02020603050405020304" pitchFamily="18" charset="0"/>
                <a:ea typeface="宋体" panose="02010600030101010101" pitchFamily="2" charset="-122"/>
              </a:rPr>
              <a:t>J</a:t>
            </a:r>
            <a:r>
              <a:rPr lang="en-US" altLang="zh-CN" sz="2400" b="0" i="1" baseline="-25000">
                <a:latin typeface="Times New Roman" panose="02020603050405020304" pitchFamily="18" charset="0"/>
                <a:ea typeface="宋体" panose="02010600030101010101" pitchFamily="2" charset="-122"/>
              </a:rPr>
              <a:t>j</a:t>
            </a:r>
            <a:r>
              <a:rPr lang="en-US" altLang="zh-CN" sz="2400" b="0">
                <a:latin typeface="Times New Roman" panose="02020603050405020304" pitchFamily="18" charset="0"/>
                <a:ea typeface="宋体" panose="02010600030101010101" pitchFamily="2" charset="-122"/>
              </a:rPr>
              <a:t>, </a:t>
            </a:r>
            <a:r>
              <a:rPr lang="en-US" altLang="zh-CN" sz="2400" b="0" i="1">
                <a:latin typeface="Times New Roman" panose="02020603050405020304" pitchFamily="18" charset="0"/>
                <a:ea typeface="宋体" panose="02010600030101010101" pitchFamily="2" charset="-122"/>
              </a:rPr>
              <a:t>j</a:t>
            </a:r>
            <a:r>
              <a:rPr lang="en-US" altLang="zh-CN" sz="2400" b="0">
                <a:latin typeface="Times New Roman" panose="02020603050405020304" pitchFamily="18" charset="0"/>
                <a:ea typeface="宋体" panose="02010600030101010101" pitchFamily="2" charset="-122"/>
              </a:rPr>
              <a:t>=1,...,</a:t>
            </a:r>
            <a:r>
              <a:rPr lang="en-US" altLang="zh-CN" sz="2400" b="0" i="1">
                <a:latin typeface="Times New Roman" panose="02020603050405020304" pitchFamily="18" charset="0"/>
                <a:ea typeface="宋体" panose="02010600030101010101" pitchFamily="2" charset="-122"/>
              </a:rPr>
              <a:t>n </a:t>
            </a:r>
            <a:r>
              <a:rPr lang="en-US" altLang="zh-CN" sz="2400" b="0">
                <a:latin typeface="Times New Roman" panose="02020603050405020304" pitchFamily="18" charset="0"/>
                <a:ea typeface="宋体" panose="02010600030101010101" pitchFamily="2" charset="-122"/>
              </a:rPr>
              <a:t>(</a:t>
            </a:r>
            <a:r>
              <a:rPr lang="en-US" altLang="zh-CN" sz="2400" b="0" i="1">
                <a:latin typeface="Times New Roman" panose="02020603050405020304" pitchFamily="18" charset="0"/>
                <a:ea typeface="宋体" panose="02010600030101010101" pitchFamily="2" charset="-122"/>
              </a:rPr>
              <a:t>j</a:t>
            </a:r>
            <a:r>
              <a:rPr lang="en-US" altLang="zh-CN" sz="2400" b="0">
                <a:latin typeface="Times New Roman" panose="02020603050405020304" pitchFamily="18" charset="0"/>
                <a:ea typeface="宋体" panose="02010600030101010101" pitchFamily="2" charset="-122"/>
              </a:rPr>
              <a:t>th job)</a:t>
            </a:r>
          </a:p>
          <a:p>
            <a:pPr>
              <a:spcBef>
                <a:spcPct val="0"/>
              </a:spcBef>
              <a:spcAft>
                <a:spcPct val="0"/>
              </a:spcAft>
              <a:buFontTx/>
              <a:buNone/>
            </a:pPr>
            <a:endParaRPr lang="en-US" altLang="zh-CN" sz="1600" b="0">
              <a:latin typeface="Times New Roman" panose="02020603050405020304" pitchFamily="18" charset="0"/>
              <a:ea typeface="宋体" panose="02010600030101010101" pitchFamily="2" charset="-122"/>
            </a:endParaRPr>
          </a:p>
          <a:p>
            <a:pPr>
              <a:spcBef>
                <a:spcPct val="0"/>
              </a:spcBef>
              <a:spcAft>
                <a:spcPct val="0"/>
              </a:spcAft>
              <a:buFontTx/>
              <a:buChar char="•"/>
            </a:pPr>
            <a:r>
              <a:rPr lang="en-US" altLang="zh-CN" sz="2400" b="0">
                <a:latin typeface="Times New Roman" panose="02020603050405020304" pitchFamily="18" charset="0"/>
                <a:ea typeface="宋体" panose="02010600030101010101" pitchFamily="2" charset="-122"/>
              </a:rPr>
              <a:t> Schedule may be represented by Gantt charts.</a:t>
            </a:r>
          </a:p>
        </p:txBody>
      </p:sp>
      <p:sp>
        <p:nvSpPr>
          <p:cNvPr id="46083" name="Rectangle 3"/>
          <p:cNvSpPr>
            <a:spLocks noChangeArrowheads="1"/>
          </p:cNvSpPr>
          <p:nvPr/>
        </p:nvSpPr>
        <p:spPr bwMode="auto">
          <a:xfrm>
            <a:off x="762000" y="4191000"/>
            <a:ext cx="6096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46084" name="Rectangle 4"/>
          <p:cNvSpPr>
            <a:spLocks noChangeArrowheads="1"/>
          </p:cNvSpPr>
          <p:nvPr/>
        </p:nvSpPr>
        <p:spPr bwMode="auto">
          <a:xfrm>
            <a:off x="1752600" y="4191000"/>
            <a:ext cx="13716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46085" name="Rectangle 5"/>
          <p:cNvSpPr>
            <a:spLocks noChangeArrowheads="1"/>
          </p:cNvSpPr>
          <p:nvPr/>
        </p:nvSpPr>
        <p:spPr bwMode="auto">
          <a:xfrm>
            <a:off x="762000" y="4800600"/>
            <a:ext cx="9906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46086" name="Rectangle 6"/>
          <p:cNvSpPr>
            <a:spLocks noChangeArrowheads="1"/>
          </p:cNvSpPr>
          <p:nvPr/>
        </p:nvSpPr>
        <p:spPr bwMode="auto">
          <a:xfrm>
            <a:off x="1524000" y="5410200"/>
            <a:ext cx="9144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46087" name="Rectangle 7"/>
          <p:cNvSpPr>
            <a:spLocks noChangeArrowheads="1"/>
          </p:cNvSpPr>
          <p:nvPr/>
        </p:nvSpPr>
        <p:spPr bwMode="auto">
          <a:xfrm>
            <a:off x="1752600" y="4800600"/>
            <a:ext cx="6858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088" name="Rectangle 8"/>
          <p:cNvSpPr>
            <a:spLocks noChangeArrowheads="1"/>
          </p:cNvSpPr>
          <p:nvPr/>
        </p:nvSpPr>
        <p:spPr bwMode="auto">
          <a:xfrm>
            <a:off x="2438400" y="5410200"/>
            <a:ext cx="6096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089" name="Rectangle 9"/>
          <p:cNvSpPr>
            <a:spLocks noChangeArrowheads="1"/>
          </p:cNvSpPr>
          <p:nvPr/>
        </p:nvSpPr>
        <p:spPr bwMode="auto">
          <a:xfrm>
            <a:off x="762000" y="5410200"/>
            <a:ext cx="762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090" name="Rectangle 10"/>
          <p:cNvSpPr>
            <a:spLocks noChangeArrowheads="1"/>
          </p:cNvSpPr>
          <p:nvPr/>
        </p:nvSpPr>
        <p:spPr bwMode="auto">
          <a:xfrm>
            <a:off x="2438400" y="4800600"/>
            <a:ext cx="1143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46091" name="Rectangle 11"/>
          <p:cNvSpPr>
            <a:spLocks noChangeArrowheads="1"/>
          </p:cNvSpPr>
          <p:nvPr/>
        </p:nvSpPr>
        <p:spPr bwMode="auto">
          <a:xfrm>
            <a:off x="3048000" y="5410200"/>
            <a:ext cx="9144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4</a:t>
            </a:r>
            <a:endParaRPr lang="en-US" altLang="zh-CN" sz="2400" b="0">
              <a:latin typeface="Times New Roman" panose="02020603050405020304" pitchFamily="18" charset="0"/>
              <a:ea typeface="宋体" panose="02010600030101010101" pitchFamily="2" charset="-122"/>
            </a:endParaRPr>
          </a:p>
        </p:txBody>
      </p:sp>
      <p:sp>
        <p:nvSpPr>
          <p:cNvPr id="46092" name="Text Box 12"/>
          <p:cNvSpPr txBox="1">
            <a:spLocks noChangeArrowheads="1"/>
          </p:cNvSpPr>
          <p:nvPr/>
        </p:nvSpPr>
        <p:spPr bwMode="auto">
          <a:xfrm>
            <a:off x="152400" y="4114800"/>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46093" name="Text Box 13"/>
          <p:cNvSpPr txBox="1">
            <a:spLocks noChangeArrowheads="1"/>
          </p:cNvSpPr>
          <p:nvPr/>
        </p:nvSpPr>
        <p:spPr bwMode="auto">
          <a:xfrm>
            <a:off x="152400" y="4724400"/>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46094" name="Text Box 14"/>
          <p:cNvSpPr txBox="1">
            <a:spLocks noChangeArrowheads="1"/>
          </p:cNvSpPr>
          <p:nvPr/>
        </p:nvSpPr>
        <p:spPr bwMode="auto">
          <a:xfrm>
            <a:off x="152400" y="5334000"/>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095" name="Text Box 15"/>
          <p:cNvSpPr txBox="1">
            <a:spLocks noChangeArrowheads="1"/>
          </p:cNvSpPr>
          <p:nvPr/>
        </p:nvSpPr>
        <p:spPr bwMode="auto">
          <a:xfrm>
            <a:off x="152400" y="3429000"/>
            <a:ext cx="375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u="sng">
                <a:latin typeface="Times New Roman" panose="02020603050405020304" pitchFamily="18" charset="0"/>
                <a:ea typeface="宋体" panose="02010600030101010101" pitchFamily="2" charset="-122"/>
              </a:rPr>
              <a:t>Machine oriented Gantt chart</a:t>
            </a:r>
            <a:endParaRPr lang="en-US" altLang="zh-CN" sz="2400" b="0">
              <a:latin typeface="Times New Roman" panose="02020603050405020304" pitchFamily="18" charset="0"/>
              <a:ea typeface="宋体" panose="02010600030101010101" pitchFamily="2" charset="-122"/>
            </a:endParaRPr>
          </a:p>
        </p:txBody>
      </p:sp>
      <p:sp>
        <p:nvSpPr>
          <p:cNvPr id="46096" name="Rectangle 16"/>
          <p:cNvSpPr>
            <a:spLocks noChangeArrowheads="1"/>
          </p:cNvSpPr>
          <p:nvPr/>
        </p:nvSpPr>
        <p:spPr bwMode="auto">
          <a:xfrm>
            <a:off x="5257800" y="4191000"/>
            <a:ext cx="8382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097" name="Rectangle 17"/>
          <p:cNvSpPr>
            <a:spLocks noChangeArrowheads="1"/>
          </p:cNvSpPr>
          <p:nvPr/>
        </p:nvSpPr>
        <p:spPr bwMode="auto">
          <a:xfrm>
            <a:off x="6400800" y="4191000"/>
            <a:ext cx="6096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46098" name="Rectangle 18"/>
          <p:cNvSpPr>
            <a:spLocks noChangeArrowheads="1"/>
          </p:cNvSpPr>
          <p:nvPr/>
        </p:nvSpPr>
        <p:spPr bwMode="auto">
          <a:xfrm>
            <a:off x="5257800" y="4800600"/>
            <a:ext cx="1143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46099" name="Rectangle 19"/>
          <p:cNvSpPr>
            <a:spLocks noChangeArrowheads="1"/>
          </p:cNvSpPr>
          <p:nvPr/>
        </p:nvSpPr>
        <p:spPr bwMode="auto">
          <a:xfrm>
            <a:off x="6248400" y="5410200"/>
            <a:ext cx="762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100" name="Rectangle 20"/>
          <p:cNvSpPr>
            <a:spLocks noChangeArrowheads="1"/>
          </p:cNvSpPr>
          <p:nvPr/>
        </p:nvSpPr>
        <p:spPr bwMode="auto">
          <a:xfrm>
            <a:off x="6400800" y="4800600"/>
            <a:ext cx="1524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46101" name="Rectangle 21"/>
          <p:cNvSpPr>
            <a:spLocks noChangeArrowheads="1"/>
          </p:cNvSpPr>
          <p:nvPr/>
        </p:nvSpPr>
        <p:spPr bwMode="auto">
          <a:xfrm>
            <a:off x="5257800" y="5410200"/>
            <a:ext cx="7620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46102" name="Rectangle 22"/>
          <p:cNvSpPr>
            <a:spLocks noChangeArrowheads="1"/>
          </p:cNvSpPr>
          <p:nvPr/>
        </p:nvSpPr>
        <p:spPr bwMode="auto">
          <a:xfrm>
            <a:off x="7010400" y="5410200"/>
            <a:ext cx="14478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46103" name="Text Box 23"/>
          <p:cNvSpPr txBox="1">
            <a:spLocks noChangeArrowheads="1"/>
          </p:cNvSpPr>
          <p:nvPr/>
        </p:nvSpPr>
        <p:spPr bwMode="auto">
          <a:xfrm>
            <a:off x="4648200" y="41148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104" name="Text Box 24"/>
          <p:cNvSpPr txBox="1">
            <a:spLocks noChangeArrowheads="1"/>
          </p:cNvSpPr>
          <p:nvPr/>
        </p:nvSpPr>
        <p:spPr bwMode="auto">
          <a:xfrm>
            <a:off x="4648200" y="47244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2</a:t>
            </a:r>
            <a:endParaRPr lang="en-US" altLang="zh-CN" sz="2400" b="0">
              <a:latin typeface="Times New Roman" panose="02020603050405020304" pitchFamily="18" charset="0"/>
              <a:ea typeface="宋体" panose="02010600030101010101" pitchFamily="2" charset="-122"/>
            </a:endParaRPr>
          </a:p>
        </p:txBody>
      </p:sp>
      <p:sp>
        <p:nvSpPr>
          <p:cNvPr id="46105" name="Text Box 25"/>
          <p:cNvSpPr txBox="1">
            <a:spLocks noChangeArrowheads="1"/>
          </p:cNvSpPr>
          <p:nvPr/>
        </p:nvSpPr>
        <p:spPr bwMode="auto">
          <a:xfrm>
            <a:off x="4648200" y="5334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3</a:t>
            </a:r>
            <a:endParaRPr lang="en-US" altLang="zh-CN" sz="2400" b="0">
              <a:latin typeface="Times New Roman" panose="02020603050405020304" pitchFamily="18" charset="0"/>
              <a:ea typeface="宋体" panose="02010600030101010101" pitchFamily="2" charset="-122"/>
            </a:endParaRPr>
          </a:p>
        </p:txBody>
      </p:sp>
      <p:sp>
        <p:nvSpPr>
          <p:cNvPr id="46106" name="Text Box 26"/>
          <p:cNvSpPr txBox="1">
            <a:spLocks noChangeArrowheads="1"/>
          </p:cNvSpPr>
          <p:nvPr/>
        </p:nvSpPr>
        <p:spPr bwMode="auto">
          <a:xfrm>
            <a:off x="4648200" y="3429000"/>
            <a:ext cx="311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u="sng">
                <a:latin typeface="Times New Roman" panose="02020603050405020304" pitchFamily="18" charset="0"/>
                <a:ea typeface="宋体" panose="02010600030101010101" pitchFamily="2" charset="-122"/>
              </a:rPr>
              <a:t>Job oriented Gantt chart</a:t>
            </a:r>
            <a:endParaRPr lang="en-US" altLang="zh-CN" sz="2400" b="0">
              <a:latin typeface="Times New Roman" panose="02020603050405020304" pitchFamily="18" charset="0"/>
              <a:ea typeface="宋体" panose="02010600030101010101" pitchFamily="2" charset="-122"/>
            </a:endParaRPr>
          </a:p>
        </p:txBody>
      </p:sp>
      <p:sp>
        <p:nvSpPr>
          <p:cNvPr id="46107" name="Rectangle 27"/>
          <p:cNvSpPr>
            <a:spLocks noChangeArrowheads="1"/>
          </p:cNvSpPr>
          <p:nvPr/>
        </p:nvSpPr>
        <p:spPr bwMode="auto">
          <a:xfrm>
            <a:off x="7010400" y="4191000"/>
            <a:ext cx="6096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108" name="Rectangle 28"/>
          <p:cNvSpPr>
            <a:spLocks noChangeArrowheads="1"/>
          </p:cNvSpPr>
          <p:nvPr/>
        </p:nvSpPr>
        <p:spPr bwMode="auto">
          <a:xfrm>
            <a:off x="7543800" y="5943600"/>
            <a:ext cx="1219200" cy="304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t>
            </a:r>
            <a:r>
              <a:rPr lang="en-US" altLang="zh-CN" sz="2400" b="0" baseline="-25000">
                <a:latin typeface="Times New Roman" panose="02020603050405020304" pitchFamily="18" charset="0"/>
                <a:ea typeface="宋体" panose="02010600030101010101" pitchFamily="2" charset="-122"/>
              </a:rPr>
              <a:t>1</a:t>
            </a:r>
            <a:endParaRPr lang="en-US" altLang="zh-CN" sz="2400" b="0">
              <a:latin typeface="Times New Roman" panose="02020603050405020304" pitchFamily="18" charset="0"/>
              <a:ea typeface="宋体" panose="02010600030101010101" pitchFamily="2" charset="-122"/>
            </a:endParaRPr>
          </a:p>
        </p:txBody>
      </p:sp>
      <p:sp>
        <p:nvSpPr>
          <p:cNvPr id="46109" name="Text Box 29"/>
          <p:cNvSpPr txBox="1">
            <a:spLocks noChangeArrowheads="1"/>
          </p:cNvSpPr>
          <p:nvPr/>
        </p:nvSpPr>
        <p:spPr bwMode="auto">
          <a:xfrm>
            <a:off x="4648200" y="58674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J</a:t>
            </a:r>
            <a:r>
              <a:rPr lang="en-US" altLang="zh-CN" sz="2400" b="0" baseline="-25000">
                <a:latin typeface="Times New Roman" panose="02020603050405020304" pitchFamily="18" charset="0"/>
                <a:ea typeface="宋体" panose="02010600030101010101" pitchFamily="2" charset="-122"/>
              </a:rPr>
              <a:t>4</a:t>
            </a:r>
            <a:endParaRPr lang="en-US" altLang="zh-CN" sz="2400" b="0">
              <a:latin typeface="Times New Roman" panose="02020603050405020304" pitchFamily="18" charset="0"/>
              <a:ea typeface="宋体" panose="02010600030101010101" pitchFamily="2" charset="-122"/>
            </a:endParaRPr>
          </a:p>
        </p:txBody>
      </p:sp>
      <p:sp>
        <p:nvSpPr>
          <p:cNvPr id="46110" name="Line 30"/>
          <p:cNvSpPr>
            <a:spLocks noChangeShapeType="1"/>
          </p:cNvSpPr>
          <p:nvPr/>
        </p:nvSpPr>
        <p:spPr bwMode="auto">
          <a:xfrm>
            <a:off x="762000" y="5715000"/>
            <a:ext cx="3657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1" name="Line 31"/>
          <p:cNvSpPr>
            <a:spLocks noChangeShapeType="1"/>
          </p:cNvSpPr>
          <p:nvPr/>
        </p:nvSpPr>
        <p:spPr bwMode="auto">
          <a:xfrm>
            <a:off x="5334000" y="6248400"/>
            <a:ext cx="3581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112" name="Text Box 32"/>
          <p:cNvSpPr txBox="1">
            <a:spLocks noChangeArrowheads="1"/>
          </p:cNvSpPr>
          <p:nvPr/>
        </p:nvSpPr>
        <p:spPr bwMode="auto">
          <a:xfrm>
            <a:off x="4175125" y="5756275"/>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t</a:t>
            </a:r>
          </a:p>
        </p:txBody>
      </p:sp>
      <p:sp>
        <p:nvSpPr>
          <p:cNvPr id="46113" name="Text Box 33"/>
          <p:cNvSpPr txBox="1">
            <a:spLocks noChangeArrowheads="1"/>
          </p:cNvSpPr>
          <p:nvPr/>
        </p:nvSpPr>
        <p:spPr bwMode="auto">
          <a:xfrm>
            <a:off x="8875713" y="6096000"/>
            <a:ext cx="268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t</a:t>
            </a:r>
          </a:p>
        </p:txBody>
      </p:sp>
      <p:sp>
        <p:nvSpPr>
          <p:cNvPr id="46114" name="Rectangle 34"/>
          <p:cNvSpPr>
            <a:spLocks noChangeArrowheads="1"/>
          </p:cNvSpPr>
          <p:nvPr/>
        </p:nvSpPr>
        <p:spPr bwMode="white">
          <a:xfrm>
            <a:off x="838200" y="228600"/>
            <a:ext cx="7391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3200">
                <a:solidFill>
                  <a:schemeClr val="bg1"/>
                </a:solidFill>
                <a:latin typeface="Verdana" panose="020B0604030504040204" pitchFamily="34" charset="0"/>
                <a:ea typeface="宋体" panose="02010600030101010101" pitchFamily="2" charset="-122"/>
              </a:rPr>
              <a:t>Gantt Chart</a:t>
            </a:r>
          </a:p>
        </p:txBody>
      </p:sp>
      <p:sp>
        <p:nvSpPr>
          <p:cNvPr id="46115"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838200" y="304800"/>
            <a:ext cx="7391400" cy="376238"/>
          </a:xfrm>
        </p:spPr>
        <p:txBody>
          <a:bodyPr>
            <a:normAutofit fontScale="90000"/>
          </a:bodyPr>
          <a:lstStyle/>
          <a:p>
            <a:pPr eaLnBrk="1" hangingPunct="1">
              <a:defRPr/>
            </a:pPr>
            <a:r>
              <a:rPr kumimoji="0" lang="en-US" altLang="zh-CN" b="1" dirty="0">
                <a:latin typeface="Verdana" charset="0"/>
                <a:cs typeface="宋体" charset="0"/>
              </a:rPr>
              <a:t>Example</a:t>
            </a:r>
          </a:p>
        </p:txBody>
      </p:sp>
      <p:sp>
        <p:nvSpPr>
          <p:cNvPr id="47107" name="Rectangle 3"/>
          <p:cNvSpPr>
            <a:spLocks noGrp="1" noChangeArrowheads="1"/>
          </p:cNvSpPr>
          <p:nvPr>
            <p:ph type="body" idx="1"/>
          </p:nvPr>
        </p:nvSpPr>
        <p:spPr>
          <a:xfrm>
            <a:off x="685800" y="1295400"/>
            <a:ext cx="7772400" cy="1600200"/>
          </a:xfrm>
        </p:spPr>
        <p:txBody>
          <a:bodyPr/>
          <a:lstStyle/>
          <a:p>
            <a:pPr marL="0" indent="0" eaLnBrk="1" hangingPunct="1">
              <a:lnSpc>
                <a:spcPct val="120000"/>
              </a:lnSpc>
            </a:pPr>
            <a:r>
              <a:rPr lang="en-US" altLang="zh-CN" sz="2400">
                <a:latin typeface="Verdana" panose="020B0604030504040204" pitchFamily="34" charset="0"/>
                <a:ea typeface="宋体" panose="02010600030101010101" pitchFamily="2" charset="-122"/>
              </a:rPr>
              <a:t>Constraints</a:t>
            </a:r>
          </a:p>
          <a:p>
            <a:pPr lvl="1" eaLnBrk="1" hangingPunct="1">
              <a:lnSpc>
                <a:spcPct val="120000"/>
              </a:lnSpc>
            </a:pPr>
            <a:r>
              <a:rPr kumimoji="0" lang="en-US" altLang="zh-CN" sz="2400">
                <a:ea typeface="宋体" panose="02010600030101010101" pitchFamily="2" charset="-122"/>
              </a:rPr>
              <a:t>Job follows a specific route</a:t>
            </a:r>
          </a:p>
          <a:p>
            <a:pPr lvl="1" eaLnBrk="1" hangingPunct="1">
              <a:lnSpc>
                <a:spcPct val="120000"/>
              </a:lnSpc>
            </a:pPr>
            <a:r>
              <a:rPr kumimoji="0" lang="en-US" altLang="zh-CN" sz="2400">
                <a:ea typeface="宋体" panose="02010600030101010101" pitchFamily="2" charset="-122"/>
              </a:rPr>
              <a:t>One job at a time on each machine</a:t>
            </a:r>
          </a:p>
        </p:txBody>
      </p:sp>
      <p:sp>
        <p:nvSpPr>
          <p:cNvPr id="47108" name="Line 4"/>
          <p:cNvSpPr>
            <a:spLocks noChangeShapeType="1"/>
          </p:cNvSpPr>
          <p:nvPr/>
        </p:nvSpPr>
        <p:spPr bwMode="auto">
          <a:xfrm>
            <a:off x="7086600" y="4038600"/>
            <a:ext cx="0" cy="914400"/>
          </a:xfrm>
          <a:prstGeom prst="line">
            <a:avLst/>
          </a:prstGeom>
          <a:noFill/>
          <a:ln w="254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09" name="Line 5"/>
          <p:cNvSpPr>
            <a:spLocks noChangeShapeType="1"/>
          </p:cNvSpPr>
          <p:nvPr/>
        </p:nvSpPr>
        <p:spPr bwMode="auto">
          <a:xfrm>
            <a:off x="5562600" y="3429000"/>
            <a:ext cx="0" cy="1524000"/>
          </a:xfrm>
          <a:prstGeom prst="line">
            <a:avLst/>
          </a:prstGeom>
          <a:noFill/>
          <a:ln w="254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0" name="Rectangle 6"/>
          <p:cNvSpPr>
            <a:spLocks noChangeArrowheads="1"/>
          </p:cNvSpPr>
          <p:nvPr/>
        </p:nvSpPr>
        <p:spPr bwMode="auto">
          <a:xfrm>
            <a:off x="2667000" y="3124200"/>
            <a:ext cx="1524000" cy="304800"/>
          </a:xfrm>
          <a:prstGeom prst="rect">
            <a:avLst/>
          </a:prstGeom>
          <a:solidFill>
            <a:schemeClr val="accent2"/>
          </a:solid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(1,1)</a:t>
            </a:r>
          </a:p>
        </p:txBody>
      </p:sp>
      <p:sp>
        <p:nvSpPr>
          <p:cNvPr id="47111" name="Rectangle 7" descr="Sphere"/>
          <p:cNvSpPr>
            <a:spLocks noChangeArrowheads="1"/>
          </p:cNvSpPr>
          <p:nvPr/>
        </p:nvSpPr>
        <p:spPr bwMode="auto">
          <a:xfrm>
            <a:off x="2667000" y="3733800"/>
            <a:ext cx="10668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(2,3)</a:t>
            </a:r>
            <a:endParaRPr lang="en-US" altLang="zh-CN" sz="2400" b="0">
              <a:latin typeface="Times New Roman" panose="02020603050405020304" pitchFamily="18" charset="0"/>
              <a:ea typeface="宋体" panose="02010600030101010101" pitchFamily="2" charset="-122"/>
            </a:endParaRPr>
          </a:p>
        </p:txBody>
      </p:sp>
      <p:sp>
        <p:nvSpPr>
          <p:cNvPr id="47112" name="Rectangle 8"/>
          <p:cNvSpPr>
            <a:spLocks noChangeArrowheads="1"/>
          </p:cNvSpPr>
          <p:nvPr/>
        </p:nvSpPr>
        <p:spPr bwMode="auto">
          <a:xfrm>
            <a:off x="5867400" y="4343400"/>
            <a:ext cx="609600" cy="304800"/>
          </a:xfrm>
          <a:prstGeom prst="rect">
            <a:avLst/>
          </a:prstGeom>
          <a:solidFill>
            <a:schemeClr val="accent2"/>
          </a:solid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(3,1)</a:t>
            </a:r>
            <a:endParaRPr lang="en-US" altLang="zh-CN" sz="2400" b="0">
              <a:latin typeface="Times New Roman" panose="02020603050405020304" pitchFamily="18" charset="0"/>
              <a:ea typeface="宋体" panose="02010600030101010101" pitchFamily="2" charset="-122"/>
            </a:endParaRPr>
          </a:p>
        </p:txBody>
      </p:sp>
      <p:sp>
        <p:nvSpPr>
          <p:cNvPr id="47113" name="Rectangle 9" descr="Sphere"/>
          <p:cNvSpPr>
            <a:spLocks noChangeArrowheads="1"/>
          </p:cNvSpPr>
          <p:nvPr/>
        </p:nvSpPr>
        <p:spPr bwMode="auto">
          <a:xfrm>
            <a:off x="5562600" y="4953000"/>
            <a:ext cx="9144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(4,3)</a:t>
            </a:r>
            <a:endParaRPr lang="en-US" altLang="zh-CN" sz="2400" b="0">
              <a:latin typeface="Times New Roman" panose="02020603050405020304" pitchFamily="18" charset="0"/>
              <a:ea typeface="宋体" panose="02010600030101010101" pitchFamily="2" charset="-122"/>
            </a:endParaRPr>
          </a:p>
        </p:txBody>
      </p:sp>
      <p:sp>
        <p:nvSpPr>
          <p:cNvPr id="47114" name="Rectangle 10" descr="Wide upward diagonal"/>
          <p:cNvSpPr>
            <a:spLocks noChangeArrowheads="1"/>
          </p:cNvSpPr>
          <p:nvPr/>
        </p:nvSpPr>
        <p:spPr bwMode="auto">
          <a:xfrm>
            <a:off x="4191000" y="3124200"/>
            <a:ext cx="762000" cy="304800"/>
          </a:xfrm>
          <a:prstGeom prst="rect">
            <a:avLst/>
          </a:prstGeom>
          <a:blipFill dpi="0" rotWithShape="0">
            <a:blip r:embed="rId3"/>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(1,2)</a:t>
            </a:r>
            <a:endParaRPr lang="en-US" altLang="zh-CN" sz="2400" b="0">
              <a:latin typeface="Times New Roman" panose="02020603050405020304" pitchFamily="18" charset="0"/>
              <a:ea typeface="宋体" panose="02010600030101010101" pitchFamily="2" charset="-122"/>
            </a:endParaRPr>
          </a:p>
        </p:txBody>
      </p:sp>
      <p:sp>
        <p:nvSpPr>
          <p:cNvPr id="47115" name="Rectangle 11" descr="Sphere"/>
          <p:cNvSpPr>
            <a:spLocks noChangeArrowheads="1"/>
          </p:cNvSpPr>
          <p:nvPr/>
        </p:nvSpPr>
        <p:spPr bwMode="auto">
          <a:xfrm>
            <a:off x="4953000" y="3124200"/>
            <a:ext cx="6096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(1,3)</a:t>
            </a:r>
            <a:endParaRPr lang="en-US" altLang="zh-CN" sz="2400" b="0">
              <a:latin typeface="Times New Roman" panose="02020603050405020304" pitchFamily="18" charset="0"/>
              <a:ea typeface="宋体" panose="02010600030101010101" pitchFamily="2" charset="-122"/>
            </a:endParaRPr>
          </a:p>
        </p:txBody>
      </p:sp>
      <p:sp>
        <p:nvSpPr>
          <p:cNvPr id="47116" name="Rectangle 12"/>
          <p:cNvSpPr>
            <a:spLocks noChangeArrowheads="1"/>
          </p:cNvSpPr>
          <p:nvPr/>
        </p:nvSpPr>
        <p:spPr bwMode="auto">
          <a:xfrm>
            <a:off x="4191000" y="3733800"/>
            <a:ext cx="1676400" cy="304800"/>
          </a:xfrm>
          <a:prstGeom prst="rect">
            <a:avLst/>
          </a:prstGeom>
          <a:solidFill>
            <a:schemeClr val="accent2"/>
          </a:solid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(2,1)</a:t>
            </a:r>
            <a:endParaRPr lang="en-US" altLang="zh-CN" sz="2400" b="0">
              <a:latin typeface="Times New Roman" panose="02020603050405020304" pitchFamily="18" charset="0"/>
              <a:ea typeface="宋体" panose="02010600030101010101" pitchFamily="2" charset="-122"/>
            </a:endParaRPr>
          </a:p>
        </p:txBody>
      </p:sp>
      <p:sp>
        <p:nvSpPr>
          <p:cNvPr id="47117" name="Rectangle 13" descr="Wide upward diagonal"/>
          <p:cNvSpPr>
            <a:spLocks noChangeArrowheads="1"/>
          </p:cNvSpPr>
          <p:nvPr/>
        </p:nvSpPr>
        <p:spPr bwMode="auto">
          <a:xfrm>
            <a:off x="5867400" y="3733800"/>
            <a:ext cx="1219200" cy="304800"/>
          </a:xfrm>
          <a:prstGeom prst="rect">
            <a:avLst/>
          </a:prstGeom>
          <a:blipFill dpi="0" rotWithShape="0">
            <a:blip r:embed="rId3"/>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(2,2)</a:t>
            </a:r>
            <a:endParaRPr lang="en-US" altLang="zh-CN" sz="2400" b="0">
              <a:latin typeface="Times New Roman" panose="02020603050405020304" pitchFamily="18" charset="0"/>
              <a:ea typeface="宋体" panose="02010600030101010101" pitchFamily="2" charset="-122"/>
            </a:endParaRPr>
          </a:p>
        </p:txBody>
      </p:sp>
      <p:sp>
        <p:nvSpPr>
          <p:cNvPr id="47118" name="Rectangle 14" descr="Wide upward diagonal"/>
          <p:cNvSpPr>
            <a:spLocks noChangeArrowheads="1"/>
          </p:cNvSpPr>
          <p:nvPr/>
        </p:nvSpPr>
        <p:spPr bwMode="auto">
          <a:xfrm>
            <a:off x="7086600" y="4953000"/>
            <a:ext cx="609600" cy="304800"/>
          </a:xfrm>
          <a:prstGeom prst="rect">
            <a:avLst/>
          </a:prstGeom>
          <a:blipFill dpi="0" rotWithShape="0">
            <a:blip r:embed="rId3"/>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(4,2)</a:t>
            </a:r>
            <a:endParaRPr lang="en-US" altLang="zh-CN" sz="2400" b="0">
              <a:latin typeface="Times New Roman" panose="02020603050405020304" pitchFamily="18" charset="0"/>
              <a:ea typeface="宋体" panose="02010600030101010101" pitchFamily="2" charset="-122"/>
            </a:endParaRPr>
          </a:p>
        </p:txBody>
      </p:sp>
      <p:sp>
        <p:nvSpPr>
          <p:cNvPr id="47119" name="Rectangle 15" descr="Sphere"/>
          <p:cNvSpPr>
            <a:spLocks noChangeArrowheads="1"/>
          </p:cNvSpPr>
          <p:nvPr/>
        </p:nvSpPr>
        <p:spPr bwMode="auto">
          <a:xfrm>
            <a:off x="6477000" y="4343400"/>
            <a:ext cx="12192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(3,3)</a:t>
            </a:r>
            <a:endParaRPr lang="en-US" altLang="zh-CN" sz="2400" b="0">
              <a:latin typeface="Times New Roman" panose="02020603050405020304" pitchFamily="18" charset="0"/>
              <a:ea typeface="宋体" panose="02010600030101010101" pitchFamily="2" charset="-122"/>
            </a:endParaRPr>
          </a:p>
        </p:txBody>
      </p:sp>
      <p:sp>
        <p:nvSpPr>
          <p:cNvPr id="47120" name="Line 16"/>
          <p:cNvSpPr>
            <a:spLocks noChangeShapeType="1"/>
          </p:cNvSpPr>
          <p:nvPr/>
        </p:nvSpPr>
        <p:spPr bwMode="auto">
          <a:xfrm flipV="1">
            <a:off x="6477000" y="4648200"/>
            <a:ext cx="0" cy="304800"/>
          </a:xfrm>
          <a:prstGeom prst="line">
            <a:avLst/>
          </a:prstGeom>
          <a:noFill/>
          <a:ln w="254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1" name="Line 17"/>
          <p:cNvSpPr>
            <a:spLocks noChangeShapeType="1"/>
          </p:cNvSpPr>
          <p:nvPr/>
        </p:nvSpPr>
        <p:spPr bwMode="auto">
          <a:xfrm>
            <a:off x="4191000" y="3429000"/>
            <a:ext cx="0" cy="304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2" name="Line 18"/>
          <p:cNvSpPr>
            <a:spLocks noChangeShapeType="1"/>
          </p:cNvSpPr>
          <p:nvPr/>
        </p:nvSpPr>
        <p:spPr bwMode="auto">
          <a:xfrm>
            <a:off x="5867400" y="4038600"/>
            <a:ext cx="0" cy="304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Line 19"/>
          <p:cNvSpPr>
            <a:spLocks noChangeShapeType="1"/>
          </p:cNvSpPr>
          <p:nvPr/>
        </p:nvSpPr>
        <p:spPr bwMode="auto">
          <a:xfrm>
            <a:off x="2667000" y="5410200"/>
            <a:ext cx="5410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4" name="Text Box 20"/>
          <p:cNvSpPr txBox="1">
            <a:spLocks noChangeArrowheads="1"/>
          </p:cNvSpPr>
          <p:nvPr/>
        </p:nvSpPr>
        <p:spPr bwMode="auto">
          <a:xfrm>
            <a:off x="1279525" y="3038475"/>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1</a:t>
            </a:r>
            <a:endParaRPr lang="en-US" altLang="zh-CN" sz="2800" b="0">
              <a:latin typeface="Times New Roman" panose="02020603050405020304" pitchFamily="18" charset="0"/>
              <a:ea typeface="宋体" panose="02010600030101010101" pitchFamily="2" charset="-122"/>
            </a:endParaRPr>
          </a:p>
        </p:txBody>
      </p:sp>
      <p:sp>
        <p:nvSpPr>
          <p:cNvPr id="47125" name="Text Box 21"/>
          <p:cNvSpPr txBox="1">
            <a:spLocks noChangeArrowheads="1"/>
          </p:cNvSpPr>
          <p:nvPr/>
        </p:nvSpPr>
        <p:spPr bwMode="auto">
          <a:xfrm>
            <a:off x="1295400" y="3648075"/>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2</a:t>
            </a:r>
            <a:endParaRPr lang="en-US" altLang="zh-CN" sz="2800" b="0">
              <a:latin typeface="Times New Roman" panose="02020603050405020304" pitchFamily="18" charset="0"/>
              <a:ea typeface="宋体" panose="02010600030101010101" pitchFamily="2" charset="-122"/>
            </a:endParaRPr>
          </a:p>
        </p:txBody>
      </p:sp>
      <p:sp>
        <p:nvSpPr>
          <p:cNvPr id="47126" name="Text Box 22"/>
          <p:cNvSpPr txBox="1">
            <a:spLocks noChangeArrowheads="1"/>
          </p:cNvSpPr>
          <p:nvPr/>
        </p:nvSpPr>
        <p:spPr bwMode="auto">
          <a:xfrm>
            <a:off x="1295400" y="4257675"/>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3</a:t>
            </a:r>
            <a:endParaRPr lang="en-US" altLang="zh-CN" sz="2800" b="0">
              <a:latin typeface="Times New Roman" panose="02020603050405020304" pitchFamily="18" charset="0"/>
              <a:ea typeface="宋体" panose="02010600030101010101" pitchFamily="2" charset="-122"/>
            </a:endParaRPr>
          </a:p>
        </p:txBody>
      </p:sp>
      <p:sp>
        <p:nvSpPr>
          <p:cNvPr id="47127" name="Text Box 23"/>
          <p:cNvSpPr txBox="1">
            <a:spLocks noChangeArrowheads="1"/>
          </p:cNvSpPr>
          <p:nvPr/>
        </p:nvSpPr>
        <p:spPr bwMode="auto">
          <a:xfrm>
            <a:off x="1282700" y="4929188"/>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4</a:t>
            </a:r>
            <a:endParaRPr lang="en-US" altLang="zh-CN" sz="2800" b="0">
              <a:latin typeface="Times New Roman" panose="02020603050405020304" pitchFamily="18" charset="0"/>
              <a:ea typeface="宋体" panose="02010600030101010101" pitchFamily="2" charset="-122"/>
            </a:endParaRPr>
          </a:p>
        </p:txBody>
      </p:sp>
      <p:sp>
        <p:nvSpPr>
          <p:cNvPr id="4712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609600" y="228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200">
                <a:solidFill>
                  <a:schemeClr val="bg1"/>
                </a:solidFill>
                <a:latin typeface="Tahoma" panose="020B0604030504040204" pitchFamily="34" charset="0"/>
                <a:ea typeface="宋体" panose="02010600030101010101" pitchFamily="2" charset="-122"/>
              </a:rPr>
              <a:t>Graph Representation</a:t>
            </a:r>
          </a:p>
        </p:txBody>
      </p:sp>
      <p:sp>
        <p:nvSpPr>
          <p:cNvPr id="48131" name="Text Box 3"/>
          <p:cNvSpPr txBox="1">
            <a:spLocks noChangeArrowheads="1"/>
          </p:cNvSpPr>
          <p:nvPr/>
        </p:nvSpPr>
        <p:spPr bwMode="auto">
          <a:xfrm>
            <a:off x="974725" y="1600200"/>
            <a:ext cx="3552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This is a possible schedule:</a:t>
            </a:r>
          </a:p>
        </p:txBody>
      </p:sp>
      <p:sp>
        <p:nvSpPr>
          <p:cNvPr id="48132" name="Text Box 4"/>
          <p:cNvSpPr txBox="1">
            <a:spLocks noChangeArrowheads="1"/>
          </p:cNvSpPr>
          <p:nvPr/>
        </p:nvSpPr>
        <p:spPr bwMode="auto">
          <a:xfrm>
            <a:off x="5257801" y="5786735"/>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dirty="0">
                <a:latin typeface="Times New Roman" panose="02020603050405020304" pitchFamily="18" charset="0"/>
                <a:ea typeface="宋体" panose="02010600030101010101" pitchFamily="2" charset="-122"/>
              </a:rPr>
              <a:t>(Disjunctive arcs</a:t>
            </a:r>
            <a:r>
              <a:rPr lang="zh-CN" altLang="en-US" sz="2400" b="0" dirty="0">
                <a:latin typeface="Times New Roman" panose="02020603050405020304" pitchFamily="18" charset="0"/>
                <a:ea typeface="宋体" panose="02010600030101010101" pitchFamily="2" charset="-122"/>
              </a:rPr>
              <a:t>，析取弧</a:t>
            </a:r>
            <a:r>
              <a:rPr lang="en-US" altLang="zh-CN" sz="2400" b="0" dirty="0">
                <a:latin typeface="Times New Roman" panose="02020603050405020304" pitchFamily="18" charset="0"/>
                <a:ea typeface="宋体" panose="02010600030101010101" pitchFamily="2" charset="-122"/>
              </a:rPr>
              <a:t>)</a:t>
            </a:r>
          </a:p>
        </p:txBody>
      </p:sp>
      <p:grpSp>
        <p:nvGrpSpPr>
          <p:cNvPr id="48133" name="Group 5"/>
          <p:cNvGrpSpPr>
            <a:grpSpLocks/>
          </p:cNvGrpSpPr>
          <p:nvPr/>
        </p:nvGrpSpPr>
        <p:grpSpPr bwMode="auto">
          <a:xfrm>
            <a:off x="762000" y="2473325"/>
            <a:ext cx="7543800" cy="2895600"/>
            <a:chOff x="480" y="1728"/>
            <a:chExt cx="4752" cy="1824"/>
          </a:xfrm>
        </p:grpSpPr>
        <p:sp>
          <p:nvSpPr>
            <p:cNvPr id="48137" name="Oval 6"/>
            <p:cNvSpPr>
              <a:spLocks noChangeArrowheads="1"/>
            </p:cNvSpPr>
            <p:nvPr/>
          </p:nvSpPr>
          <p:spPr bwMode="auto">
            <a:xfrm>
              <a:off x="1344" y="172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48138" name="Oval 7"/>
            <p:cNvSpPr>
              <a:spLocks noChangeArrowheads="1"/>
            </p:cNvSpPr>
            <p:nvPr/>
          </p:nvSpPr>
          <p:spPr bwMode="auto">
            <a:xfrm>
              <a:off x="2208" y="172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48139" name="Oval 8"/>
            <p:cNvSpPr>
              <a:spLocks noChangeArrowheads="1"/>
            </p:cNvSpPr>
            <p:nvPr/>
          </p:nvSpPr>
          <p:spPr bwMode="auto">
            <a:xfrm>
              <a:off x="3072" y="172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48140" name="Oval 9"/>
            <p:cNvSpPr>
              <a:spLocks noChangeArrowheads="1"/>
            </p:cNvSpPr>
            <p:nvPr/>
          </p:nvSpPr>
          <p:spPr bwMode="auto">
            <a:xfrm>
              <a:off x="1344"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48141" name="Oval 10"/>
            <p:cNvSpPr>
              <a:spLocks noChangeArrowheads="1"/>
            </p:cNvSpPr>
            <p:nvPr/>
          </p:nvSpPr>
          <p:spPr bwMode="auto">
            <a:xfrm>
              <a:off x="2208"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48142" name="Oval 11"/>
            <p:cNvSpPr>
              <a:spLocks noChangeArrowheads="1"/>
            </p:cNvSpPr>
            <p:nvPr/>
          </p:nvSpPr>
          <p:spPr bwMode="auto">
            <a:xfrm>
              <a:off x="3888"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48143" name="Oval 12"/>
            <p:cNvSpPr>
              <a:spLocks noChangeArrowheads="1"/>
            </p:cNvSpPr>
            <p:nvPr/>
          </p:nvSpPr>
          <p:spPr bwMode="auto">
            <a:xfrm>
              <a:off x="1344"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48144" name="Oval 13"/>
            <p:cNvSpPr>
              <a:spLocks noChangeArrowheads="1"/>
            </p:cNvSpPr>
            <p:nvPr/>
          </p:nvSpPr>
          <p:spPr bwMode="auto">
            <a:xfrm>
              <a:off x="2208"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48145" name="Oval 14"/>
            <p:cNvSpPr>
              <a:spLocks noChangeArrowheads="1"/>
            </p:cNvSpPr>
            <p:nvPr/>
          </p:nvSpPr>
          <p:spPr bwMode="auto">
            <a:xfrm>
              <a:off x="3072"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48146" name="Oval 15"/>
            <p:cNvSpPr>
              <a:spLocks noChangeArrowheads="1"/>
            </p:cNvSpPr>
            <p:nvPr/>
          </p:nvSpPr>
          <p:spPr bwMode="auto">
            <a:xfrm>
              <a:off x="3888"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48147" name="Line 16"/>
            <p:cNvSpPr>
              <a:spLocks noChangeShapeType="1"/>
            </p:cNvSpPr>
            <p:nvPr/>
          </p:nvSpPr>
          <p:spPr bwMode="auto">
            <a:xfrm>
              <a:off x="1872" y="1968"/>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8" name="Line 17"/>
            <p:cNvSpPr>
              <a:spLocks noChangeShapeType="1"/>
            </p:cNvSpPr>
            <p:nvPr/>
          </p:nvSpPr>
          <p:spPr bwMode="auto">
            <a:xfrm>
              <a:off x="2736" y="1968"/>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9" name="Line 18"/>
            <p:cNvSpPr>
              <a:spLocks noChangeShapeType="1"/>
            </p:cNvSpPr>
            <p:nvPr/>
          </p:nvSpPr>
          <p:spPr bwMode="auto">
            <a:xfrm>
              <a:off x="1872" y="2640"/>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0" name="Line 19"/>
            <p:cNvSpPr>
              <a:spLocks noChangeShapeType="1"/>
            </p:cNvSpPr>
            <p:nvPr/>
          </p:nvSpPr>
          <p:spPr bwMode="auto">
            <a:xfrm>
              <a:off x="2736" y="2640"/>
              <a:ext cx="115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1" name="Line 20"/>
            <p:cNvSpPr>
              <a:spLocks noChangeShapeType="1"/>
            </p:cNvSpPr>
            <p:nvPr/>
          </p:nvSpPr>
          <p:spPr bwMode="auto">
            <a:xfrm>
              <a:off x="1872" y="3312"/>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2" name="Line 21"/>
            <p:cNvSpPr>
              <a:spLocks noChangeShapeType="1"/>
            </p:cNvSpPr>
            <p:nvPr/>
          </p:nvSpPr>
          <p:spPr bwMode="auto">
            <a:xfrm>
              <a:off x="2736" y="3312"/>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3" name="Line 22"/>
            <p:cNvSpPr>
              <a:spLocks noChangeShapeType="1"/>
            </p:cNvSpPr>
            <p:nvPr/>
          </p:nvSpPr>
          <p:spPr bwMode="auto">
            <a:xfrm>
              <a:off x="3600" y="3312"/>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4" name="Oval 23"/>
            <p:cNvSpPr>
              <a:spLocks noChangeArrowheads="1"/>
            </p:cNvSpPr>
            <p:nvPr/>
          </p:nvSpPr>
          <p:spPr bwMode="auto">
            <a:xfrm>
              <a:off x="4704" y="196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48155" name="Oval 24"/>
            <p:cNvSpPr>
              <a:spLocks noChangeArrowheads="1"/>
            </p:cNvSpPr>
            <p:nvPr/>
          </p:nvSpPr>
          <p:spPr bwMode="auto">
            <a:xfrm>
              <a:off x="480"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48156" name="Line 25"/>
            <p:cNvSpPr>
              <a:spLocks noChangeShapeType="1"/>
            </p:cNvSpPr>
            <p:nvPr/>
          </p:nvSpPr>
          <p:spPr bwMode="auto">
            <a:xfrm flipV="1">
              <a:off x="1008" y="2064"/>
              <a:ext cx="336"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7" name="Line 26"/>
            <p:cNvSpPr>
              <a:spLocks noChangeShapeType="1"/>
            </p:cNvSpPr>
            <p:nvPr/>
          </p:nvSpPr>
          <p:spPr bwMode="auto">
            <a:xfrm>
              <a:off x="1008" y="2736"/>
              <a:ext cx="384"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8" name="Line 27"/>
            <p:cNvSpPr>
              <a:spLocks noChangeShapeType="1"/>
            </p:cNvSpPr>
            <p:nvPr/>
          </p:nvSpPr>
          <p:spPr bwMode="auto">
            <a:xfrm>
              <a:off x="1008" y="2640"/>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9" name="Line 28"/>
            <p:cNvSpPr>
              <a:spLocks noChangeShapeType="1"/>
            </p:cNvSpPr>
            <p:nvPr/>
          </p:nvSpPr>
          <p:spPr bwMode="auto">
            <a:xfrm>
              <a:off x="3600" y="1968"/>
              <a:ext cx="110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0" name="Line 29"/>
            <p:cNvSpPr>
              <a:spLocks noChangeShapeType="1"/>
            </p:cNvSpPr>
            <p:nvPr/>
          </p:nvSpPr>
          <p:spPr bwMode="auto">
            <a:xfrm flipV="1">
              <a:off x="4416" y="2304"/>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1" name="Line 30"/>
            <p:cNvSpPr>
              <a:spLocks noChangeShapeType="1"/>
            </p:cNvSpPr>
            <p:nvPr/>
          </p:nvSpPr>
          <p:spPr bwMode="auto">
            <a:xfrm flipV="1">
              <a:off x="4416" y="2400"/>
              <a:ext cx="384"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2" name="Line 31"/>
            <p:cNvSpPr>
              <a:spLocks noChangeShapeType="1"/>
            </p:cNvSpPr>
            <p:nvPr/>
          </p:nvSpPr>
          <p:spPr bwMode="auto">
            <a:xfrm>
              <a:off x="1536" y="2208"/>
              <a:ext cx="0" cy="19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3" name="Line 34"/>
            <p:cNvSpPr>
              <a:spLocks noChangeShapeType="1"/>
            </p:cNvSpPr>
            <p:nvPr/>
          </p:nvSpPr>
          <p:spPr bwMode="auto">
            <a:xfrm flipV="1">
              <a:off x="2544" y="2208"/>
              <a:ext cx="0" cy="19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4" name="Line 35"/>
            <p:cNvSpPr>
              <a:spLocks noChangeShapeType="1"/>
            </p:cNvSpPr>
            <p:nvPr/>
          </p:nvSpPr>
          <p:spPr bwMode="auto">
            <a:xfrm>
              <a:off x="1728" y="2880"/>
              <a:ext cx="528"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5" name="Line 37"/>
            <p:cNvSpPr>
              <a:spLocks noChangeShapeType="1"/>
            </p:cNvSpPr>
            <p:nvPr/>
          </p:nvSpPr>
          <p:spPr bwMode="auto">
            <a:xfrm flipV="1">
              <a:off x="1824" y="2832"/>
              <a:ext cx="480"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6" name="Line 40"/>
            <p:cNvSpPr>
              <a:spLocks noChangeShapeType="1"/>
            </p:cNvSpPr>
            <p:nvPr/>
          </p:nvSpPr>
          <p:spPr bwMode="auto">
            <a:xfrm flipH="1">
              <a:off x="3504" y="2784"/>
              <a:ext cx="432"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7" name="Line 42"/>
            <p:cNvSpPr>
              <a:spLocks noChangeShapeType="1"/>
            </p:cNvSpPr>
            <p:nvPr/>
          </p:nvSpPr>
          <p:spPr bwMode="auto">
            <a:xfrm>
              <a:off x="3408" y="2208"/>
              <a:ext cx="480" cy="105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8" name="Line 44"/>
            <p:cNvSpPr>
              <a:spLocks noChangeShapeType="1"/>
            </p:cNvSpPr>
            <p:nvPr/>
          </p:nvSpPr>
          <p:spPr bwMode="auto">
            <a:xfrm>
              <a:off x="1776" y="2160"/>
              <a:ext cx="576" cy="91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9" name="Line 45"/>
            <p:cNvSpPr>
              <a:spLocks noChangeShapeType="1"/>
            </p:cNvSpPr>
            <p:nvPr/>
          </p:nvSpPr>
          <p:spPr bwMode="auto">
            <a:xfrm flipV="1">
              <a:off x="1680" y="2160"/>
              <a:ext cx="624" cy="91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8134"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48" name="Rectangle 2"/>
          <p:cNvSpPr txBox="1">
            <a:spLocks noChangeArrowheads="1"/>
          </p:cNvSpPr>
          <p:nvPr/>
        </p:nvSpPr>
        <p:spPr>
          <a:xfrm>
            <a:off x="838200" y="341313"/>
            <a:ext cx="7391400" cy="376237"/>
          </a:xfrm>
          <a:prstGeom prst="rect">
            <a:avLst/>
          </a:prstGeom>
        </p:spPr>
        <p:txBody>
          <a:bodyPr/>
          <a:lstStyle>
            <a:lvl1pPr algn="l" rtl="0" eaLnBrk="0" fontAlgn="base" hangingPunct="0">
              <a:spcBef>
                <a:spcPct val="0"/>
              </a:spcBef>
              <a:spcAft>
                <a:spcPct val="0"/>
              </a:spcAft>
              <a:defRPr sz="3600" kern="1200" cap="all" spc="-60">
                <a:solidFill>
                  <a:schemeClr val="tx2"/>
                </a:solidFill>
                <a:latin typeface="+mj-lt"/>
                <a:ea typeface="+mj-ea"/>
                <a:cs typeface="微软雅黑" charset="0"/>
              </a:defRPr>
            </a:lvl1pPr>
            <a:lvl2pPr algn="l" rtl="0" eaLnBrk="0" fontAlgn="base" hangingPunct="0">
              <a:spcBef>
                <a:spcPct val="0"/>
              </a:spcBef>
              <a:spcAft>
                <a:spcPct val="0"/>
              </a:spcAft>
              <a:defRPr sz="3600">
                <a:solidFill>
                  <a:schemeClr val="tx2"/>
                </a:solidFill>
                <a:latin typeface="Arial Black" pitchFamily="34" charset="0"/>
                <a:ea typeface="微软雅黑" pitchFamily="34" charset="-122"/>
                <a:cs typeface="微软雅黑" charset="0"/>
              </a:defRPr>
            </a:lvl2pPr>
            <a:lvl3pPr algn="l" rtl="0" eaLnBrk="0" fontAlgn="base" hangingPunct="0">
              <a:spcBef>
                <a:spcPct val="0"/>
              </a:spcBef>
              <a:spcAft>
                <a:spcPct val="0"/>
              </a:spcAft>
              <a:defRPr sz="3600">
                <a:solidFill>
                  <a:schemeClr val="tx2"/>
                </a:solidFill>
                <a:latin typeface="Arial Black" pitchFamily="34" charset="0"/>
                <a:ea typeface="微软雅黑" pitchFamily="34" charset="-122"/>
                <a:cs typeface="微软雅黑" charset="0"/>
              </a:defRPr>
            </a:lvl3pPr>
            <a:lvl4pPr algn="l" rtl="0" eaLnBrk="0" fontAlgn="base" hangingPunct="0">
              <a:spcBef>
                <a:spcPct val="0"/>
              </a:spcBef>
              <a:spcAft>
                <a:spcPct val="0"/>
              </a:spcAft>
              <a:defRPr sz="3600">
                <a:solidFill>
                  <a:schemeClr val="tx2"/>
                </a:solidFill>
                <a:latin typeface="Arial Black" pitchFamily="34" charset="0"/>
                <a:ea typeface="微软雅黑" pitchFamily="34" charset="-122"/>
                <a:cs typeface="微软雅黑" charset="0"/>
              </a:defRPr>
            </a:lvl4pPr>
            <a:lvl5pPr algn="l" rtl="0" eaLnBrk="0" fontAlgn="base" hangingPunct="0">
              <a:spcBef>
                <a:spcPct val="0"/>
              </a:spcBef>
              <a:spcAft>
                <a:spcPct val="0"/>
              </a:spcAft>
              <a:defRPr sz="3600">
                <a:solidFill>
                  <a:schemeClr val="tx2"/>
                </a:solidFill>
                <a:latin typeface="Arial Black" pitchFamily="34" charset="0"/>
                <a:ea typeface="微软雅黑" pitchFamily="34" charset="-122"/>
                <a:cs typeface="微软雅黑" charset="0"/>
              </a:defRPr>
            </a:lvl5pPr>
            <a:lvl6pPr marL="457200" algn="l" rtl="0" fontAlgn="base">
              <a:spcBef>
                <a:spcPct val="0"/>
              </a:spcBef>
              <a:spcAft>
                <a:spcPct val="0"/>
              </a:spcAft>
              <a:defRPr sz="3600">
                <a:solidFill>
                  <a:schemeClr val="tx2"/>
                </a:solidFill>
                <a:latin typeface="Arial Black" pitchFamily="34" charset="0"/>
                <a:ea typeface="微软雅黑" pitchFamily="34" charset="-122"/>
              </a:defRPr>
            </a:lvl6pPr>
            <a:lvl7pPr marL="914400" algn="l" rtl="0" fontAlgn="base">
              <a:spcBef>
                <a:spcPct val="0"/>
              </a:spcBef>
              <a:spcAft>
                <a:spcPct val="0"/>
              </a:spcAft>
              <a:defRPr sz="3600">
                <a:solidFill>
                  <a:schemeClr val="tx2"/>
                </a:solidFill>
                <a:latin typeface="Arial Black" pitchFamily="34" charset="0"/>
                <a:ea typeface="微软雅黑" pitchFamily="34" charset="-122"/>
              </a:defRPr>
            </a:lvl7pPr>
            <a:lvl8pPr marL="1371600" algn="l" rtl="0" fontAlgn="base">
              <a:spcBef>
                <a:spcPct val="0"/>
              </a:spcBef>
              <a:spcAft>
                <a:spcPct val="0"/>
              </a:spcAft>
              <a:defRPr sz="3600">
                <a:solidFill>
                  <a:schemeClr val="tx2"/>
                </a:solidFill>
                <a:latin typeface="Arial Black" pitchFamily="34" charset="0"/>
                <a:ea typeface="微软雅黑" pitchFamily="34" charset="-122"/>
              </a:defRPr>
            </a:lvl8pPr>
            <a:lvl9pPr marL="1828800" algn="l" rtl="0" fontAlgn="base">
              <a:spcBef>
                <a:spcPct val="0"/>
              </a:spcBef>
              <a:spcAft>
                <a:spcPct val="0"/>
              </a:spcAft>
              <a:defRPr sz="3600">
                <a:solidFill>
                  <a:schemeClr val="tx2"/>
                </a:solidFill>
                <a:latin typeface="Arial Black" pitchFamily="34" charset="0"/>
                <a:ea typeface="微软雅黑" pitchFamily="34" charset="-122"/>
              </a:defRPr>
            </a:lvl9pPr>
          </a:lstStyle>
          <a:p>
            <a:pPr eaLnBrk="1" hangingPunct="1">
              <a:defRPr/>
            </a:pPr>
            <a:r>
              <a:rPr lang="en-US" altLang="zh-CN" sz="3200" b="1">
                <a:latin typeface="Verdana" charset="0"/>
                <a:cs typeface="宋体" charset="0"/>
              </a:rPr>
              <a:t>Graph Representation</a:t>
            </a:r>
            <a:endParaRPr lang="en-US" altLang="zh-CN" sz="3200" b="1" dirty="0">
              <a:latin typeface="Verdana" charset="0"/>
              <a:cs typeface="宋体" charset="0"/>
            </a:endParaRPr>
          </a:p>
        </p:txBody>
      </p:sp>
      <p:sp>
        <p:nvSpPr>
          <p:cNvPr id="48136" name="Text Box 3"/>
          <p:cNvSpPr txBox="1">
            <a:spLocks noChangeArrowheads="1"/>
          </p:cNvSpPr>
          <p:nvPr/>
        </p:nvSpPr>
        <p:spPr bwMode="auto">
          <a:xfrm>
            <a:off x="974725" y="1143000"/>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constraints must also be satisfied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04800" y="152400"/>
            <a:ext cx="8077200" cy="563563"/>
          </a:xfrm>
        </p:spPr>
        <p:txBody>
          <a:bodyPr>
            <a:normAutofit fontScale="90000"/>
          </a:bodyPr>
          <a:lstStyle/>
          <a:p>
            <a:pPr eaLnBrk="1" hangingPunct="1">
              <a:defRPr/>
            </a:pPr>
            <a:r>
              <a:rPr kumimoji="0" lang="en-US" altLang="zh-CN" sz="2800" b="1" dirty="0">
                <a:latin typeface="Verdana" charset="0"/>
                <a:cs typeface="宋体" charset="0"/>
              </a:rPr>
              <a:t>Complexities of Scheduling Problems</a:t>
            </a:r>
          </a:p>
        </p:txBody>
      </p:sp>
      <p:sp>
        <p:nvSpPr>
          <p:cNvPr id="53251"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Some scheduling problems are easy</a:t>
            </a:r>
          </a:p>
          <a:p>
            <a:pPr lvl="1" eaLnBrk="1" hangingPunct="1"/>
            <a:r>
              <a:rPr kumimoji="0" lang="en-US" altLang="zh-CN" sz="2400" dirty="0">
                <a:ea typeface="宋体" panose="02010600030101010101" pitchFamily="2" charset="-122"/>
              </a:rPr>
              <a:t>Simple priority rules</a:t>
            </a:r>
          </a:p>
          <a:p>
            <a:pPr lvl="1" eaLnBrk="1" hangingPunct="1"/>
            <a:r>
              <a:rPr kumimoji="0" lang="en-US" altLang="zh-CN" sz="2400" dirty="0">
                <a:ea typeface="宋体" panose="02010600030101010101" pitchFamily="2" charset="-122"/>
              </a:rPr>
              <a:t>Complexity: polynomial time</a:t>
            </a:r>
          </a:p>
          <a:p>
            <a:pPr eaLnBrk="1" hangingPunct="1">
              <a:buFont typeface="Arial" panose="020B0604020202020204" pitchFamily="34" charset="0"/>
              <a:buChar char="•"/>
            </a:pP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However, most scheduling problems are hard</a:t>
            </a:r>
          </a:p>
          <a:p>
            <a:pPr lvl="1" eaLnBrk="1" hangingPunct="1"/>
            <a:r>
              <a:rPr kumimoji="0" lang="en-US" altLang="zh-CN" sz="2400" dirty="0">
                <a:ea typeface="宋体" panose="02010600030101010101" pitchFamily="2" charset="-122"/>
              </a:rPr>
              <a:t>Complexity: NP-hard, strongly NP-hard</a:t>
            </a:r>
          </a:p>
          <a:p>
            <a:pPr lvl="1" eaLnBrk="1" hangingPunct="1"/>
            <a:r>
              <a:rPr kumimoji="0" lang="en-US" altLang="zh-CN" sz="2400" dirty="0">
                <a:ea typeface="宋体" panose="02010600030101010101" pitchFamily="2" charset="-122"/>
              </a:rPr>
              <a:t>Finding an optimal solution is infeasible in practice </a:t>
            </a:r>
            <a:r>
              <a:rPr kumimoji="0" lang="en-US" altLang="zh-CN" sz="2400" dirty="0">
                <a:ea typeface="宋体" panose="02010600030101010101" pitchFamily="2" charset="-122"/>
                <a:sym typeface="Symbol" panose="05050102010706020507" pitchFamily="18" charset="2"/>
              </a:rPr>
              <a:t> </a:t>
            </a:r>
            <a:r>
              <a:rPr kumimoji="0" lang="en-US" altLang="zh-CN" sz="2400" b="1" dirty="0">
                <a:ea typeface="宋体" panose="02010600030101010101" pitchFamily="2" charset="-122"/>
                <a:sym typeface="Symbol" panose="05050102010706020507" pitchFamily="18" charset="2"/>
              </a:rPr>
              <a:t>heuristic methods</a:t>
            </a:r>
            <a:endParaRPr kumimoji="0" lang="en-US" altLang="zh-CN" dirty="0">
              <a:ea typeface="宋体" panose="02010600030101010101" pitchFamily="2" charset="-122"/>
            </a:endParaRPr>
          </a:p>
        </p:txBody>
      </p:sp>
      <p:sp>
        <p:nvSpPr>
          <p:cNvPr id="5325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457200" y="152400"/>
            <a:ext cx="6553200" cy="533400"/>
          </a:xfrm>
        </p:spPr>
        <p:txBody>
          <a:bodyPr>
            <a:normAutofit fontScale="90000"/>
          </a:bodyPr>
          <a:lstStyle/>
          <a:p>
            <a:pPr eaLnBrk="1" hangingPunct="1">
              <a:defRPr/>
            </a:pPr>
            <a:r>
              <a:rPr kumimoji="0" lang="en-US" altLang="zh-CN" b="1">
                <a:latin typeface="Verdana" charset="0"/>
                <a:cs typeface="宋体" charset="0"/>
              </a:rPr>
              <a:t>Algorithm Complexity</a:t>
            </a:r>
          </a:p>
        </p:txBody>
      </p:sp>
      <p:sp>
        <p:nvSpPr>
          <p:cNvPr id="54275" name="Rectangle 3"/>
          <p:cNvSpPr>
            <a:spLocks noGrp="1" noChangeArrowheads="1"/>
          </p:cNvSpPr>
          <p:nvPr>
            <p:ph type="body" idx="1"/>
          </p:nvPr>
        </p:nvSpPr>
        <p:spPr>
          <a:xfrm>
            <a:off x="304800" y="1371600"/>
            <a:ext cx="8574088" cy="1905000"/>
          </a:xfrm>
          <a:solidFill>
            <a:srgbClr val="FFFF99"/>
          </a:solidFill>
          <a:ln w="28575">
            <a:solidFill>
              <a:schemeClr val="tx1"/>
            </a:solidFill>
            <a:miter lim="800000"/>
            <a:headEnd/>
            <a:tailEnd/>
          </a:ln>
        </p:spPr>
        <p:txBody>
          <a:bodyPr/>
          <a:lstStyle/>
          <a:p>
            <a:pPr marL="0" indent="0" eaLnBrk="1" hangingPunct="1">
              <a:lnSpc>
                <a:spcPct val="90000"/>
              </a:lnSpc>
              <a:buFont typeface="Wingdings" panose="05000000000000000000" pitchFamily="2" charset="2"/>
              <a:buNone/>
            </a:pPr>
            <a:r>
              <a:rPr lang="en-US" altLang="zh-CN">
                <a:latin typeface="Verdana" panose="020B0604030504040204" pitchFamily="34" charset="0"/>
                <a:ea typeface="宋体" panose="02010600030101010101" pitchFamily="2" charset="-122"/>
              </a:rPr>
              <a:t>Algorithm is bounded</a:t>
            </a:r>
          </a:p>
          <a:p>
            <a:pPr marL="0" indent="0" eaLnBrk="1" hangingPunct="1">
              <a:lnSpc>
                <a:spcPct val="9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polynomially   O(n</a:t>
            </a:r>
            <a:r>
              <a:rPr lang="en-US" altLang="zh-CN" baseline="30000">
                <a:latin typeface="Verdana" panose="020B0604030504040204" pitchFamily="34" charset="0"/>
                <a:ea typeface="宋体" panose="02010600030101010101" pitchFamily="2" charset="-122"/>
              </a:rPr>
              <a:t>2</a:t>
            </a:r>
            <a:r>
              <a:rPr lang="en-US" altLang="zh-CN">
                <a:latin typeface="Verdana" panose="020B0604030504040204" pitchFamily="34" charset="0"/>
                <a:ea typeface="宋体" panose="02010600030101010101" pitchFamily="2" charset="-122"/>
              </a:rPr>
              <a:t>)</a:t>
            </a:r>
          </a:p>
          <a:p>
            <a:pPr marL="0" indent="0" eaLnBrk="1" hangingPunct="1">
              <a:lnSpc>
                <a:spcPct val="9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exponentially  O(2</a:t>
            </a:r>
            <a:r>
              <a:rPr lang="en-US" altLang="zh-CN" baseline="30000">
                <a:latin typeface="Verdana" panose="020B0604030504040204" pitchFamily="34" charset="0"/>
                <a:ea typeface="宋体" panose="02010600030101010101" pitchFamily="2" charset="-122"/>
              </a:rPr>
              <a:t>n</a:t>
            </a:r>
            <a:r>
              <a:rPr lang="en-US" altLang="zh-CN">
                <a:latin typeface="Verdana" panose="020B0604030504040204" pitchFamily="34" charset="0"/>
                <a:ea typeface="宋体" panose="02010600030101010101" pitchFamily="2" charset="-122"/>
              </a:rPr>
              <a:t>)</a:t>
            </a:r>
          </a:p>
          <a:p>
            <a:pPr marL="0" indent="0" eaLnBrk="1" hangingPunct="1">
              <a:lnSpc>
                <a:spcPct val="90000"/>
              </a:lnSpc>
              <a:buFont typeface="Wingdings" panose="05000000000000000000" pitchFamily="2" charset="2"/>
              <a:buNone/>
            </a:pPr>
            <a:r>
              <a:rPr lang="en-US" altLang="zh-CN">
                <a:latin typeface="Verdana" panose="020B0604030504040204" pitchFamily="34" charset="0"/>
                <a:ea typeface="宋体" panose="02010600030101010101" pitchFamily="2" charset="-122"/>
              </a:rPr>
              <a:t>Where n is the size of the problem (i.e. number of variables)</a:t>
            </a:r>
          </a:p>
        </p:txBody>
      </p:sp>
      <p:sp>
        <p:nvSpPr>
          <p:cNvPr id="54276" name="Rectangle 4"/>
          <p:cNvSpPr>
            <a:spLocks noChangeArrowheads="1"/>
          </p:cNvSpPr>
          <p:nvPr/>
        </p:nvSpPr>
        <p:spPr bwMode="auto">
          <a:xfrm>
            <a:off x="304800" y="3505200"/>
            <a:ext cx="8574088" cy="2743200"/>
          </a:xfrm>
          <a:prstGeom prst="rect">
            <a:avLst/>
          </a:prstGeom>
          <a:solidFill>
            <a:srgbClr val="FFFF99"/>
          </a:solidFill>
          <a:ln w="28575">
            <a:solidFill>
              <a:schemeClr val="tx1"/>
            </a:solidFill>
            <a:miter lim="800000"/>
            <a:headEnd/>
            <a:tailEnd/>
          </a:ln>
        </p:spPr>
        <p:txBody>
          <a:bodyPr/>
          <a:lstStyle>
            <a:lvl1pPr marL="342900" indent="-34290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lnSpc>
                <a:spcPct val="90000"/>
              </a:lnSpc>
              <a:spcAft>
                <a:spcPct val="0"/>
              </a:spcAft>
              <a:buClr>
                <a:schemeClr val="hlink"/>
              </a:buClr>
              <a:buFont typeface="Wingdings" panose="05000000000000000000" pitchFamily="2" charset="2"/>
              <a:buNone/>
            </a:pPr>
            <a:r>
              <a:rPr lang="en-US" altLang="zh-CN" b="0">
                <a:latin typeface="Verdana" panose="020B0604030504040204" pitchFamily="34" charset="0"/>
                <a:ea typeface="宋体" panose="02010600030101010101" pitchFamily="2" charset="-122"/>
              </a:rPr>
              <a:t>NP</a:t>
            </a:r>
            <a:r>
              <a:rPr lang="en-US" altLang="zh-CN">
                <a:latin typeface="Verdana" panose="020B0604030504040204" pitchFamily="34" charset="0"/>
                <a:ea typeface="宋体" panose="02010600030101010101" pitchFamily="2" charset="-122"/>
              </a:rPr>
              <a:t>= set of all problems that can be solved by total enumeration</a:t>
            </a:r>
          </a:p>
          <a:p>
            <a:pPr eaLnBrk="1" hangingPunct="1">
              <a:lnSpc>
                <a:spcPct val="90000"/>
              </a:lnSpc>
              <a:spcAft>
                <a:spcPct val="0"/>
              </a:spcAft>
              <a:buClr>
                <a:schemeClr val="hlink"/>
              </a:buClr>
              <a:buFont typeface="Wingdings" panose="05000000000000000000" pitchFamily="2" charset="2"/>
              <a:buNone/>
            </a:pPr>
            <a:r>
              <a:rPr lang="en-US" altLang="zh-CN" b="0">
                <a:latin typeface="Verdana" panose="020B0604030504040204" pitchFamily="34" charset="0"/>
                <a:ea typeface="宋体" panose="02010600030101010101" pitchFamily="2" charset="-122"/>
              </a:rPr>
              <a:t>P</a:t>
            </a:r>
            <a:r>
              <a:rPr lang="en-US" altLang="zh-CN">
                <a:latin typeface="Verdana" panose="020B0604030504040204" pitchFamily="34" charset="0"/>
                <a:ea typeface="宋体" panose="02010600030101010101" pitchFamily="2" charset="-122"/>
              </a:rPr>
              <a:t>= subset of NP consisting of all problems having (known) efficient algorithms (bounded by a polynomial)</a:t>
            </a:r>
          </a:p>
          <a:p>
            <a:pPr eaLnBrk="1" hangingPunct="1">
              <a:lnSpc>
                <a:spcPct val="90000"/>
              </a:lnSpc>
              <a:spcAft>
                <a:spcPct val="0"/>
              </a:spcAft>
              <a:buClr>
                <a:schemeClr val="hlink"/>
              </a:buClr>
              <a:buFont typeface="Wingdings" panose="05000000000000000000" pitchFamily="2" charset="2"/>
              <a:buNone/>
            </a:pPr>
            <a:r>
              <a:rPr lang="en-US" altLang="zh-CN" b="0">
                <a:latin typeface="Verdana" panose="020B0604030504040204" pitchFamily="34" charset="0"/>
                <a:ea typeface="宋体" panose="02010600030101010101" pitchFamily="2" charset="-122"/>
              </a:rPr>
              <a:t>NP-hard</a:t>
            </a:r>
            <a:r>
              <a:rPr lang="en-US" altLang="zh-CN">
                <a:latin typeface="Verdana" panose="020B0604030504040204" pitchFamily="34" charset="0"/>
                <a:ea typeface="宋体" panose="02010600030101010101" pitchFamily="2" charset="-122"/>
              </a:rPr>
              <a:t>= subset of NP bounded exponentially</a:t>
            </a:r>
          </a:p>
          <a:p>
            <a:pPr eaLnBrk="1" hangingPunct="1">
              <a:lnSpc>
                <a:spcPct val="90000"/>
              </a:lnSpc>
              <a:spcAft>
                <a:spcPct val="0"/>
              </a:spcAft>
              <a:buClr>
                <a:schemeClr val="hlink"/>
              </a:buClr>
              <a:buFont typeface="Wingdings" panose="05000000000000000000" pitchFamily="2" charset="2"/>
              <a:buNone/>
            </a:pPr>
            <a:r>
              <a:rPr lang="en-US" altLang="zh-CN" b="0">
                <a:latin typeface="Verdana" panose="020B0604030504040204" pitchFamily="34" charset="0"/>
                <a:ea typeface="宋体" panose="02010600030101010101" pitchFamily="2" charset="-122"/>
              </a:rPr>
              <a:t>Open</a:t>
            </a:r>
            <a:r>
              <a:rPr lang="en-US" altLang="zh-CN">
                <a:latin typeface="Verdana" panose="020B0604030504040204" pitchFamily="34" charset="0"/>
                <a:ea typeface="宋体" panose="02010600030101010101" pitchFamily="2" charset="-122"/>
              </a:rPr>
              <a:t>= problems in NP but not in P or NP-hard (unknown complexity)</a:t>
            </a:r>
          </a:p>
        </p:txBody>
      </p:sp>
      <p:sp>
        <p:nvSpPr>
          <p:cNvPr id="5427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04800" y="990600"/>
            <a:ext cx="830580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tabLst>
                <a:tab pos="285750" algn="l"/>
              </a:tabLst>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tabLst>
                <a:tab pos="285750" algn="l"/>
              </a:tabLst>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Char char="•"/>
            </a:pPr>
            <a:r>
              <a:rPr lang="en-US" altLang="zh-CN" sz="2400" b="0">
                <a:latin typeface="Times New Roman" panose="02020603050405020304" pitchFamily="18" charset="0"/>
                <a:ea typeface="宋体" panose="02010600030101010101" pitchFamily="2" charset="-122"/>
              </a:rPr>
              <a:t> The efficiency of an algorithm for a given problem is measured by the maximum (worst-case) number of computational steps needed to obtain an optimal solution as a function of the size of the instance.</a:t>
            </a:r>
          </a:p>
          <a:p>
            <a:pPr>
              <a:spcBef>
                <a:spcPct val="0"/>
              </a:spcBef>
              <a:spcAft>
                <a:spcPct val="0"/>
              </a:spcAft>
              <a:buFontTx/>
              <a:buChar char="•"/>
            </a:pPr>
            <a:endParaRPr lang="en-US" altLang="zh-CN" sz="2400" b="0">
              <a:latin typeface="Times New Roman" panose="02020603050405020304" pitchFamily="18" charset="0"/>
              <a:ea typeface="宋体" panose="02010600030101010101" pitchFamily="2" charset="-122"/>
            </a:endParaRPr>
          </a:p>
          <a:p>
            <a:pPr>
              <a:spcBef>
                <a:spcPct val="0"/>
              </a:spcBef>
              <a:spcAft>
                <a:spcPct val="0"/>
              </a:spcAft>
              <a:buFontTx/>
              <a:buChar char="•"/>
            </a:pPr>
            <a:r>
              <a:rPr lang="en-US" altLang="zh-CN" sz="2400" b="0">
                <a:latin typeface="Times New Roman" panose="02020603050405020304" pitchFamily="18" charset="0"/>
                <a:ea typeface="宋体" panose="02010600030101010101" pitchFamily="2" charset="-122"/>
              </a:rPr>
              <a:t> Problems which have a known polynomial algorithm are said to be in class P. These are problems for which an algorithm is known to exist and it will stop on the correct output while effort is bounded by a polynomial function of the size of the problem.</a:t>
            </a:r>
          </a:p>
          <a:p>
            <a:pPr>
              <a:spcBef>
                <a:spcPct val="0"/>
              </a:spcBef>
              <a:spcAft>
                <a:spcPct val="0"/>
              </a:spcAft>
              <a:buFontTx/>
              <a:buChar char="•"/>
            </a:pPr>
            <a:endParaRPr lang="en-US" altLang="zh-CN" sz="2400" b="0">
              <a:latin typeface="Times New Roman" panose="02020603050405020304" pitchFamily="18" charset="0"/>
              <a:ea typeface="宋体" panose="02010600030101010101" pitchFamily="2" charset="-122"/>
            </a:endParaRPr>
          </a:p>
          <a:p>
            <a:pPr>
              <a:spcBef>
                <a:spcPct val="0"/>
              </a:spcBef>
              <a:spcAft>
                <a:spcPct val="0"/>
              </a:spcAft>
              <a:buFontTx/>
              <a:buChar char="•"/>
            </a:pPr>
            <a:r>
              <a:rPr lang="en-US" altLang="zh-CN" sz="2400" b="0">
                <a:latin typeface="Times New Roman" panose="02020603050405020304" pitchFamily="18" charset="0"/>
                <a:ea typeface="宋体" panose="02010600030101010101" pitchFamily="2" charset="-122"/>
              </a:rPr>
              <a:t> For NP-hard no simple algorithm yields optimal solutions in a limited amount of computer time.</a:t>
            </a:r>
          </a:p>
        </p:txBody>
      </p:sp>
      <p:sp>
        <p:nvSpPr>
          <p:cNvPr id="55299" name="Rectangle 3"/>
          <p:cNvSpPr>
            <a:spLocks noChangeArrowheads="1"/>
          </p:cNvSpPr>
          <p:nvPr/>
        </p:nvSpPr>
        <p:spPr bwMode="white">
          <a:xfrm>
            <a:off x="838200" y="228600"/>
            <a:ext cx="7391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3200">
                <a:solidFill>
                  <a:schemeClr val="bg1"/>
                </a:solidFill>
                <a:latin typeface="Verdana" panose="020B0604030504040204" pitchFamily="34" charset="0"/>
                <a:ea typeface="宋体" panose="02010600030101010101" pitchFamily="2" charset="-122"/>
              </a:rPr>
              <a:t>P &amp; NP-hard problems</a:t>
            </a:r>
          </a:p>
        </p:txBody>
      </p:sp>
      <p:sp>
        <p:nvSpPr>
          <p:cNvPr id="55300"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Solution Times</a:t>
            </a:r>
          </a:p>
        </p:txBody>
      </p:sp>
      <p:graphicFrame>
        <p:nvGraphicFramePr>
          <p:cNvPr id="585731" name="Group 3"/>
          <p:cNvGraphicFramePr>
            <a:graphicFrameLocks noGrp="1"/>
          </p:cNvGraphicFramePr>
          <p:nvPr>
            <p:ph sz="half" idx="1"/>
          </p:nvPr>
        </p:nvGraphicFramePr>
        <p:xfrm>
          <a:off x="755650" y="1484313"/>
          <a:ext cx="7786688" cy="1828800"/>
        </p:xfrm>
        <a:graphic>
          <a:graphicData uri="http://schemas.openxmlformats.org/drawingml/2006/table">
            <a:tbl>
              <a:tblPr/>
              <a:tblGrid>
                <a:gridCol w="2597150">
                  <a:extLst>
                    <a:ext uri="{9D8B030D-6E8A-4147-A177-3AD203B41FA5}">
                      <a16:colId xmlns:a16="http://schemas.microsoft.com/office/drawing/2014/main" val="20000"/>
                    </a:ext>
                  </a:extLst>
                </a:gridCol>
                <a:gridCol w="2592388">
                  <a:extLst>
                    <a:ext uri="{9D8B030D-6E8A-4147-A177-3AD203B41FA5}">
                      <a16:colId xmlns:a16="http://schemas.microsoft.com/office/drawing/2014/main" val="20001"/>
                    </a:ext>
                  </a:extLst>
                </a:gridCol>
                <a:gridCol w="2597150">
                  <a:extLst>
                    <a:ext uri="{9D8B030D-6E8A-4147-A177-3AD203B41FA5}">
                      <a16:colId xmlns:a16="http://schemas.microsoft.com/office/drawing/2014/main" val="20002"/>
                    </a:ext>
                  </a:extLst>
                </a:gridCol>
              </a:tblGrid>
              <a:tr h="403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endParaRPr kumimoji="0" lang="zh-CN" sz="2400" b="1" i="0" u="none" strike="noStrike" cap="none" normalizeH="0" baseline="0">
                        <a:ln>
                          <a:noFill/>
                        </a:ln>
                        <a:solidFill>
                          <a:schemeClr val="tx1"/>
                        </a:solidFill>
                        <a:effectLst/>
                        <a:latin typeface="Verdana" charset="0"/>
                        <a:ea typeface="宋体" charset="0"/>
                        <a:cs typeface="宋体" charset="0"/>
                      </a:endParaRPr>
                    </a:p>
                  </a:txBody>
                  <a:tcPr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a:noFill/>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n=10</a:t>
                      </a:r>
                    </a:p>
                  </a:txBody>
                  <a:tcPr horzOverflow="overflow">
                    <a:lnL>
                      <a:noFill/>
                    </a:lnL>
                    <a:lnR>
                      <a:noFill/>
                    </a:lnR>
                    <a:lnT w="28575" cap="flat" cmpd="sng" algn="ctr">
                      <a:solidFill>
                        <a:schemeClr val="tx1"/>
                      </a:solidFill>
                      <a:prstDash val="solid"/>
                      <a:round/>
                      <a:headEnd type="none" w="med" len="med"/>
                      <a:tailEnd type="none" w="med" len="med"/>
                    </a:lnT>
                    <a:lnB>
                      <a:noFill/>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n=100</a:t>
                      </a:r>
                    </a:p>
                  </a:txBody>
                  <a:tcPr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solidFill>
                      <a:srgbClr val="66FFFF"/>
                    </a:solidFill>
                  </a:tcPr>
                </a:tc>
                <a:extLst>
                  <a:ext uri="{0D108BD9-81ED-4DB2-BD59-A6C34878D82A}">
                    <a16:rowId xmlns:a16="http://schemas.microsoft.com/office/drawing/2014/main" val="10000"/>
                  </a:ext>
                </a:extLst>
              </a:tr>
              <a:tr h="403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O(log n)</a:t>
                      </a: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1hr</a:t>
                      </a:r>
                    </a:p>
                  </a:txBody>
                  <a:tcPr horzOverflow="overflow">
                    <a:lnL>
                      <a:noFill/>
                    </a:lnL>
                    <a:lnR>
                      <a:noFill/>
                    </a:lnR>
                    <a:lnT>
                      <a:noFill/>
                    </a:lnT>
                    <a:lnB>
                      <a:noFill/>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2hrs</a:t>
                      </a: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66FFFF"/>
                    </a:solidFill>
                  </a:tcPr>
                </a:tc>
                <a:extLst>
                  <a:ext uri="{0D108BD9-81ED-4DB2-BD59-A6C34878D82A}">
                    <a16:rowId xmlns:a16="http://schemas.microsoft.com/office/drawing/2014/main" val="10001"/>
                  </a:ext>
                </a:extLst>
              </a:tr>
              <a:tr h="403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O(n</a:t>
                      </a:r>
                      <a:r>
                        <a:rPr kumimoji="0" lang="en-US" altLang="zh-CN" sz="2400" b="1" i="0" u="none" strike="noStrike" cap="none" normalizeH="0" baseline="30000">
                          <a:ln>
                            <a:noFill/>
                          </a:ln>
                          <a:solidFill>
                            <a:schemeClr val="tx1"/>
                          </a:solidFill>
                          <a:effectLst/>
                          <a:latin typeface="Verdana" charset="0"/>
                          <a:ea typeface="宋体" charset="0"/>
                          <a:cs typeface="宋体" charset="0"/>
                        </a:rPr>
                        <a:t>5</a:t>
                      </a:r>
                      <a:r>
                        <a:rPr kumimoji="0" lang="en-US" altLang="zh-CN" sz="2400" b="1" i="0" u="none" strike="noStrike" cap="none" normalizeH="0" baseline="0">
                          <a:ln>
                            <a:noFill/>
                          </a:ln>
                          <a:solidFill>
                            <a:schemeClr val="tx1"/>
                          </a:solidFill>
                          <a:effectLst/>
                          <a:latin typeface="Verdana" charset="0"/>
                          <a:ea typeface="宋体" charset="0"/>
                          <a:cs typeface="宋体" charset="0"/>
                        </a:rPr>
                        <a:t>)</a:t>
                      </a:r>
                    </a:p>
                  </a:txBody>
                  <a:tcPr horzOverflow="overflow">
                    <a:lnL w="28575"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1min</a:t>
                      </a:r>
                    </a:p>
                  </a:txBody>
                  <a:tcPr horzOverflow="overflow">
                    <a:lnL>
                      <a:noFill/>
                    </a:lnL>
                    <a:lnR>
                      <a:noFill/>
                    </a:lnR>
                    <a:lnT>
                      <a:noFill/>
                    </a:lnT>
                    <a:lnB>
                      <a:noFill/>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69.4days</a:t>
                      </a:r>
                    </a:p>
                  </a:txBody>
                  <a:tcPr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solidFill>
                      <a:srgbClr val="66FFFF"/>
                    </a:solidFill>
                  </a:tcPr>
                </a:tc>
                <a:extLst>
                  <a:ext uri="{0D108BD9-81ED-4DB2-BD59-A6C34878D82A}">
                    <a16:rowId xmlns:a16="http://schemas.microsoft.com/office/drawing/2014/main" val="10002"/>
                  </a:ext>
                </a:extLst>
              </a:tr>
              <a:tr h="403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O(2</a:t>
                      </a:r>
                      <a:r>
                        <a:rPr kumimoji="0" lang="en-US" altLang="zh-CN" sz="2400" b="1" i="0" u="none" strike="noStrike" cap="none" normalizeH="0" baseline="30000">
                          <a:ln>
                            <a:noFill/>
                          </a:ln>
                          <a:solidFill>
                            <a:schemeClr val="tx1"/>
                          </a:solidFill>
                          <a:effectLst/>
                          <a:latin typeface="Verdana" charset="0"/>
                          <a:ea typeface="宋体" charset="0"/>
                          <a:cs typeface="宋体" charset="0"/>
                        </a:rPr>
                        <a:t>n</a:t>
                      </a:r>
                      <a:r>
                        <a:rPr kumimoji="0" lang="en-US" altLang="zh-CN" sz="2400" b="1" i="0" u="none" strike="noStrike" cap="none" normalizeH="0" baseline="0">
                          <a:ln>
                            <a:noFill/>
                          </a:ln>
                          <a:solidFill>
                            <a:schemeClr val="tx1"/>
                          </a:solidFill>
                          <a:effectLst/>
                          <a:latin typeface="Verdana" charset="0"/>
                          <a:ea typeface="宋体" charset="0"/>
                          <a:cs typeface="宋体" charset="0"/>
                        </a:rPr>
                        <a:t>)</a:t>
                      </a:r>
                    </a:p>
                  </a:txBody>
                  <a:tcPr horzOverflow="overflow">
                    <a:lnL w="28575" cap="flat" cmpd="sng" algn="ctr">
                      <a:solidFill>
                        <a:schemeClr val="tx1"/>
                      </a:solidFill>
                      <a:prstDash val="solid"/>
                      <a:round/>
                      <a:headEnd type="none" w="med" len="med"/>
                      <a:tailEnd type="none" w="med" len="med"/>
                    </a:lnL>
                    <a:lnR>
                      <a:noFill/>
                    </a:lnR>
                    <a:lnT>
                      <a:noFill/>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1sec</a:t>
                      </a:r>
                    </a:p>
                  </a:txBody>
                  <a:tcPr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a:t>
                      </a:r>
                    </a:p>
                  </a:txBody>
                  <a:tcPr horzOverflow="overflow">
                    <a:lnL>
                      <a:noFill/>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solidFill>
                      <a:srgbClr val="66FFFF"/>
                    </a:solidFill>
                  </a:tcPr>
                </a:tc>
                <a:extLst>
                  <a:ext uri="{0D108BD9-81ED-4DB2-BD59-A6C34878D82A}">
                    <a16:rowId xmlns:a16="http://schemas.microsoft.com/office/drawing/2014/main" val="10003"/>
                  </a:ext>
                </a:extLst>
              </a:tr>
            </a:tbl>
          </a:graphicData>
        </a:graphic>
      </p:graphicFrame>
      <p:sp>
        <p:nvSpPr>
          <p:cNvPr id="585748" name="Rectangle 20"/>
          <p:cNvSpPr>
            <a:spLocks noChangeArrowheads="1"/>
          </p:cNvSpPr>
          <p:nvPr/>
        </p:nvSpPr>
        <p:spPr bwMode="auto">
          <a:xfrm>
            <a:off x="323850" y="3789363"/>
            <a:ext cx="8574088" cy="1905000"/>
          </a:xfrm>
          <a:prstGeom prst="rect">
            <a:avLst/>
          </a:prstGeom>
          <a:solidFill>
            <a:srgbClr val="66FFFF"/>
          </a:solidFill>
          <a:ln w="28575">
            <a:solidFill>
              <a:schemeClr val="tx1"/>
            </a:solidFill>
            <a:miter lim="800000"/>
            <a:headEnd/>
            <a:tailEnd/>
          </a:ln>
        </p:spPr>
        <p:txBody>
          <a:bodyPr/>
          <a:lstStyle>
            <a:lvl1pPr marL="342900" indent="-342900">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lnSpc>
                <a:spcPct val="90000"/>
              </a:lnSpc>
              <a:spcAft>
                <a:spcPct val="0"/>
              </a:spcAft>
              <a:buClr>
                <a:schemeClr val="hlink"/>
              </a:buClr>
              <a:buFont typeface="Wingdings" panose="05000000000000000000" pitchFamily="2" charset="2"/>
              <a:buNone/>
            </a:pPr>
            <a:r>
              <a:rPr lang="en-US" altLang="zh-CN">
                <a:latin typeface="Verdana" panose="020B0604030504040204" pitchFamily="34" charset="0"/>
                <a:ea typeface="宋体" panose="02010600030101010101" pitchFamily="2" charset="-122"/>
              </a:rPr>
              <a:t>O(2</a:t>
            </a:r>
            <a:r>
              <a:rPr lang="en-US" altLang="zh-CN" baseline="30000">
                <a:latin typeface="Verdana" panose="020B0604030504040204" pitchFamily="34" charset="0"/>
                <a:ea typeface="宋体" panose="02010600030101010101" pitchFamily="2" charset="-122"/>
              </a:rPr>
              <a:t>10</a:t>
            </a:r>
            <a:r>
              <a:rPr lang="en-US" altLang="zh-CN">
                <a:latin typeface="Verdana" panose="020B0604030504040204" pitchFamily="34" charset="0"/>
                <a:ea typeface="宋体" panose="02010600030101010101" pitchFamily="2" charset="-122"/>
              </a:rPr>
              <a:t>)= 1 sec</a:t>
            </a:r>
          </a:p>
          <a:p>
            <a:pPr eaLnBrk="1" hangingPunct="1">
              <a:lnSpc>
                <a:spcPct val="90000"/>
              </a:lnSpc>
              <a:spcAft>
                <a:spcPct val="0"/>
              </a:spcAft>
              <a:buClr>
                <a:schemeClr val="hlink"/>
              </a:buClr>
              <a:buFont typeface="Wingdings" panose="05000000000000000000" pitchFamily="2" charset="2"/>
              <a:buNone/>
            </a:pPr>
            <a:r>
              <a:rPr lang="en-US" altLang="zh-CN">
                <a:latin typeface="Verdana" panose="020B0604030504040204" pitchFamily="34" charset="0"/>
                <a:ea typeface="宋体" panose="02010600030101010101" pitchFamily="2" charset="-122"/>
              </a:rPr>
              <a:t>O(2</a:t>
            </a:r>
            <a:r>
              <a:rPr lang="en-US" altLang="zh-CN" baseline="30000">
                <a:latin typeface="Verdana" panose="020B0604030504040204" pitchFamily="34" charset="0"/>
                <a:ea typeface="宋体" panose="02010600030101010101" pitchFamily="2" charset="-122"/>
              </a:rPr>
              <a:t>100</a:t>
            </a:r>
            <a:r>
              <a:rPr lang="en-US" altLang="zh-CN">
                <a:latin typeface="Verdana" panose="020B0604030504040204" pitchFamily="34" charset="0"/>
                <a:ea typeface="宋体" panose="02010600030101010101" pitchFamily="2" charset="-122"/>
              </a:rPr>
              <a:t>)= 2</a:t>
            </a:r>
            <a:r>
              <a:rPr lang="en-US" altLang="zh-CN" baseline="30000">
                <a:latin typeface="Verdana" panose="020B0604030504040204" pitchFamily="34" charset="0"/>
                <a:ea typeface="宋体" panose="02010600030101010101" pitchFamily="2" charset="-122"/>
              </a:rPr>
              <a:t>100 </a:t>
            </a:r>
            <a:r>
              <a:rPr lang="en-US" altLang="zh-CN">
                <a:latin typeface="Verdana" panose="020B0604030504040204" pitchFamily="34" charset="0"/>
                <a:ea typeface="宋体" panose="02010600030101010101" pitchFamily="2" charset="-122"/>
              </a:rPr>
              <a:t>/</a:t>
            </a:r>
            <a:r>
              <a:rPr lang="en-US" altLang="zh-CN" baseline="30000">
                <a:latin typeface="Verdana" panose="020B0604030504040204" pitchFamily="34" charset="0"/>
                <a:ea typeface="宋体" panose="02010600030101010101" pitchFamily="2" charset="-122"/>
              </a:rPr>
              <a:t> </a:t>
            </a:r>
            <a:r>
              <a:rPr lang="en-US" altLang="zh-CN">
                <a:latin typeface="Verdana" panose="020B0604030504040204" pitchFamily="34" charset="0"/>
                <a:ea typeface="宋体" panose="02010600030101010101" pitchFamily="2" charset="-122"/>
              </a:rPr>
              <a:t>2</a:t>
            </a:r>
            <a:r>
              <a:rPr lang="en-US" altLang="zh-CN" baseline="30000">
                <a:latin typeface="Verdana" panose="020B0604030504040204" pitchFamily="34" charset="0"/>
                <a:ea typeface="宋体" panose="02010600030101010101" pitchFamily="2" charset="-122"/>
              </a:rPr>
              <a:t>10</a:t>
            </a:r>
            <a:r>
              <a:rPr lang="en-US" altLang="zh-CN">
                <a:latin typeface="Verdana" panose="020B0604030504040204" pitchFamily="34" charset="0"/>
                <a:ea typeface="宋体" panose="02010600030101010101" pitchFamily="2" charset="-122"/>
              </a:rPr>
              <a:t> sec x 1 min/60sec x 1 hr/60min </a:t>
            </a:r>
          </a:p>
          <a:p>
            <a:pPr eaLnBrk="1" hangingPunct="1">
              <a:lnSpc>
                <a:spcPct val="90000"/>
              </a:lnSpc>
              <a:spcAft>
                <a:spcPct val="0"/>
              </a:spcAft>
              <a:buClr>
                <a:schemeClr val="hlink"/>
              </a:buClr>
              <a:buFont typeface="Wingdings" panose="05000000000000000000" pitchFamily="2" charset="2"/>
              <a:buNone/>
            </a:pPr>
            <a:r>
              <a:rPr lang="en-US" altLang="zh-CN">
                <a:latin typeface="Verdana" panose="020B0604030504040204" pitchFamily="34" charset="0"/>
                <a:ea typeface="宋体" panose="02010600030101010101" pitchFamily="2" charset="-122"/>
              </a:rPr>
              <a:t>             x 1 day/24hr x 1 yr/365day x 1 centry/100 yr</a:t>
            </a:r>
          </a:p>
          <a:p>
            <a:pPr eaLnBrk="1" hangingPunct="1">
              <a:lnSpc>
                <a:spcPct val="90000"/>
              </a:lnSpc>
              <a:spcAft>
                <a:spcPct val="0"/>
              </a:spcAft>
              <a:buClr>
                <a:schemeClr val="hlink"/>
              </a:buClr>
              <a:buFont typeface="Wingdings" panose="05000000000000000000" pitchFamily="2" charset="2"/>
              <a:buNone/>
            </a:pPr>
            <a:r>
              <a:rPr lang="en-US" altLang="zh-CN">
                <a:latin typeface="Verdana" panose="020B0604030504040204" pitchFamily="34" charset="0"/>
                <a:ea typeface="宋体" panose="02010600030101010101" pitchFamily="2" charset="-122"/>
              </a:rPr>
              <a:t>          = </a:t>
            </a:r>
            <a:r>
              <a:rPr lang="en-US" altLang="zh-CN">
                <a:solidFill>
                  <a:srgbClr val="FF0000"/>
                </a:solidFill>
                <a:latin typeface="Verdana" panose="020B0604030504040204" pitchFamily="34" charset="0"/>
                <a:ea typeface="宋体" panose="02010600030101010101" pitchFamily="2" charset="-122"/>
              </a:rPr>
              <a:t>3.925 x 10</a:t>
            </a:r>
            <a:r>
              <a:rPr lang="en-US" altLang="zh-CN" baseline="30000">
                <a:solidFill>
                  <a:srgbClr val="FF0000"/>
                </a:solidFill>
                <a:latin typeface="Verdana" panose="020B0604030504040204" pitchFamily="34" charset="0"/>
                <a:ea typeface="宋体" panose="02010600030101010101" pitchFamily="2" charset="-122"/>
              </a:rPr>
              <a:t>17</a:t>
            </a:r>
            <a:r>
              <a:rPr lang="en-US" altLang="zh-CN">
                <a:solidFill>
                  <a:srgbClr val="FF0000"/>
                </a:solidFill>
                <a:latin typeface="Verdana" panose="020B0604030504040204" pitchFamily="34" charset="0"/>
                <a:ea typeface="宋体" panose="02010600030101010101" pitchFamily="2" charset="-122"/>
              </a:rPr>
              <a:t> centuries</a:t>
            </a:r>
            <a:endParaRPr lang="en-US" altLang="zh-CN" baseline="30000">
              <a:solidFill>
                <a:srgbClr val="FF0000"/>
              </a:solidFill>
              <a:latin typeface="Verdana" panose="020B0604030504040204" pitchFamily="34" charset="0"/>
              <a:ea typeface="宋体" panose="02010600030101010101" pitchFamily="2" charset="-122"/>
            </a:endParaRPr>
          </a:p>
        </p:txBody>
      </p:sp>
      <p:sp>
        <p:nvSpPr>
          <p:cNvPr id="56341" name="Line 21"/>
          <p:cNvSpPr>
            <a:spLocks noChangeShapeType="1"/>
          </p:cNvSpPr>
          <p:nvPr/>
        </p:nvSpPr>
        <p:spPr bwMode="auto">
          <a:xfrm>
            <a:off x="3348038" y="2060575"/>
            <a:ext cx="3810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56342" name="Object 22"/>
          <p:cNvGraphicFramePr>
            <a:graphicFrameLocks noGrp="1" noChangeAspect="1"/>
          </p:cNvGraphicFramePr>
          <p:nvPr>
            <p:ph sz="half" idx="2"/>
          </p:nvPr>
        </p:nvGraphicFramePr>
        <p:xfrm>
          <a:off x="2411413" y="5876925"/>
          <a:ext cx="1584325" cy="598488"/>
        </p:xfrm>
        <a:graphic>
          <a:graphicData uri="http://schemas.openxmlformats.org/presentationml/2006/ole">
            <mc:AlternateContent xmlns:mc="http://schemas.openxmlformats.org/markup-compatibility/2006">
              <mc:Choice xmlns:v="urn:schemas-microsoft-com:vml" Requires="v">
                <p:oleObj spid="_x0000_s56377" name="公式" r:id="rId3" imgW="672808" imgH="253890" progId="Equation.3">
                  <p:embed/>
                </p:oleObj>
              </mc:Choice>
              <mc:Fallback>
                <p:oleObj name="公式" r:id="rId3" imgW="672808" imgH="25389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5876925"/>
                        <a:ext cx="1584325"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43" name="Text Box 23"/>
          <p:cNvSpPr txBox="1">
            <a:spLocks noChangeArrowheads="1"/>
          </p:cNvSpPr>
          <p:nvPr/>
        </p:nvSpPr>
        <p:spPr bwMode="auto">
          <a:xfrm>
            <a:off x="468313" y="5949950"/>
            <a:ext cx="8316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solidFill>
                  <a:srgbClr val="FF0000"/>
                </a:solidFill>
                <a:ea typeface="宋体" panose="02010600030101010101" pitchFamily="2" charset="-122"/>
              </a:rPr>
              <a:t>The problem                     is strongly NP-hard!</a:t>
            </a:r>
          </a:p>
        </p:txBody>
      </p:sp>
      <p:sp>
        <p:nvSpPr>
          <p:cNvPr id="56344"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85748"/>
                                        </p:tgtEl>
                                        <p:attrNameLst>
                                          <p:attrName>style.visibility</p:attrName>
                                        </p:attrNameLst>
                                      </p:cBhvr>
                                      <p:to>
                                        <p:strVal val="visible"/>
                                      </p:to>
                                    </p:set>
                                    <p:animEffect transition="in" filter="box(in)">
                                      <p:cBhvr>
                                        <p:cTn id="7" dur="500"/>
                                        <p:tgtEl>
                                          <p:spTgt spid="585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574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381000" y="76200"/>
            <a:ext cx="8382000" cy="563563"/>
          </a:xfrm>
        </p:spPr>
        <p:txBody>
          <a:bodyPr>
            <a:normAutofit fontScale="90000"/>
          </a:bodyPr>
          <a:lstStyle/>
          <a:p>
            <a:pPr eaLnBrk="1" hangingPunct="1">
              <a:defRPr/>
            </a:pPr>
            <a:r>
              <a:rPr kumimoji="0" lang="en-US" altLang="zh-CN" sz="2400" b="1">
                <a:latin typeface="Verdana" charset="0"/>
                <a:cs typeface="宋体" charset="0"/>
              </a:rPr>
              <a:t>Complexity of Job Shop Scheduling problems</a:t>
            </a:r>
          </a:p>
        </p:txBody>
      </p:sp>
      <p:sp>
        <p:nvSpPr>
          <p:cNvPr id="57347" name="Rectangle 3"/>
          <p:cNvSpPr>
            <a:spLocks noGrp="1" noChangeArrowheads="1"/>
          </p:cNvSpPr>
          <p:nvPr>
            <p:ph type="body" idx="1"/>
          </p:nvPr>
        </p:nvSpPr>
        <p:spPr/>
        <p:txBody>
          <a:bodyPr/>
          <a:lstStyle/>
          <a:p>
            <a:pPr marL="0" indent="0" eaLnBrk="1" hangingPunct="1">
              <a:buFont typeface="Wingdings" panose="05000000000000000000" pitchFamily="2" charset="2"/>
              <a:buNone/>
            </a:pPr>
            <a:r>
              <a:rPr lang="en-US" altLang="zh-CN" sz="2600" i="1" dirty="0">
                <a:solidFill>
                  <a:srgbClr val="FF9933"/>
                </a:solidFill>
                <a:latin typeface="Verdana" panose="020B0604030504040204" pitchFamily="34" charset="0"/>
                <a:ea typeface="宋体" panose="02010600030101010101" pitchFamily="2" charset="-122"/>
              </a:rPr>
              <a:t>n</a:t>
            </a:r>
            <a:r>
              <a:rPr lang="en-US" altLang="zh-CN" sz="2600" i="1" dirty="0">
                <a:latin typeface="Verdana" panose="020B0604030504040204" pitchFamily="34" charset="0"/>
                <a:ea typeface="宋体" panose="02010600030101010101" pitchFamily="2" charset="-122"/>
              </a:rPr>
              <a:t> </a:t>
            </a:r>
            <a:r>
              <a:rPr lang="en-US" altLang="zh-CN" sz="2600" dirty="0">
                <a:latin typeface="Verdana" panose="020B0604030504040204" pitchFamily="34" charset="0"/>
                <a:ea typeface="宋体" panose="02010600030101010101" pitchFamily="2" charset="-122"/>
              </a:rPr>
              <a:t>jobs &amp; </a:t>
            </a:r>
            <a:r>
              <a:rPr lang="en-US" altLang="zh-CN" sz="2600" i="1" dirty="0">
                <a:solidFill>
                  <a:srgbClr val="FF9933"/>
                </a:solidFill>
                <a:latin typeface="Verdana" panose="020B0604030504040204" pitchFamily="34" charset="0"/>
                <a:ea typeface="宋体" panose="02010600030101010101" pitchFamily="2" charset="-122"/>
              </a:rPr>
              <a:t>m</a:t>
            </a:r>
            <a:r>
              <a:rPr lang="en-US" altLang="zh-CN" sz="2600" i="1" dirty="0">
                <a:latin typeface="Verdana" panose="020B0604030504040204" pitchFamily="34" charset="0"/>
                <a:ea typeface="宋体" panose="02010600030101010101" pitchFamily="2" charset="-122"/>
              </a:rPr>
              <a:t> </a:t>
            </a:r>
            <a:r>
              <a:rPr lang="en-US" altLang="zh-CN" sz="2600" dirty="0">
                <a:latin typeface="Verdana" panose="020B0604030504040204" pitchFamily="34" charset="0"/>
                <a:ea typeface="宋体" panose="02010600030101010101" pitchFamily="2" charset="-122"/>
              </a:rPr>
              <a:t>machines = </a:t>
            </a:r>
            <a:r>
              <a:rPr lang="en-US" altLang="zh-CN" sz="2600" dirty="0">
                <a:solidFill>
                  <a:srgbClr val="FF9933"/>
                </a:solidFill>
                <a:latin typeface="Verdana" panose="020B0604030504040204" pitchFamily="34" charset="0"/>
                <a:ea typeface="宋体" panose="02010600030101010101" pitchFamily="2" charset="-122"/>
              </a:rPr>
              <a:t>(</a:t>
            </a:r>
            <a:r>
              <a:rPr lang="en-US" altLang="zh-CN" sz="2600" i="1" dirty="0">
                <a:solidFill>
                  <a:srgbClr val="FF9933"/>
                </a:solidFill>
                <a:latin typeface="Verdana" panose="020B0604030504040204" pitchFamily="34" charset="0"/>
                <a:ea typeface="宋体" panose="02010600030101010101" pitchFamily="2" charset="-122"/>
              </a:rPr>
              <a:t>n</a:t>
            </a:r>
            <a:r>
              <a:rPr lang="en-US" altLang="zh-CN" sz="2600" dirty="0">
                <a:solidFill>
                  <a:srgbClr val="FF9933"/>
                </a:solidFill>
                <a:latin typeface="Verdana" panose="020B0604030504040204" pitchFamily="34" charset="0"/>
                <a:ea typeface="宋体" panose="02010600030101010101" pitchFamily="2" charset="-122"/>
              </a:rPr>
              <a:t>!)</a:t>
            </a:r>
            <a:r>
              <a:rPr lang="en-US" altLang="zh-CN" sz="2600" i="1" baseline="30000" dirty="0">
                <a:solidFill>
                  <a:srgbClr val="FF9933"/>
                </a:solidFill>
                <a:latin typeface="Verdana" panose="020B0604030504040204" pitchFamily="34" charset="0"/>
                <a:ea typeface="宋体" panose="02010600030101010101" pitchFamily="2" charset="-122"/>
              </a:rPr>
              <a:t>m</a:t>
            </a:r>
            <a:r>
              <a:rPr lang="en-US" altLang="zh-CN" sz="2600" i="1" dirty="0">
                <a:latin typeface="Verdana" panose="020B0604030504040204" pitchFamily="34" charset="0"/>
                <a:ea typeface="宋体" panose="02010600030101010101" pitchFamily="2" charset="-122"/>
              </a:rPr>
              <a:t> </a:t>
            </a:r>
            <a:r>
              <a:rPr lang="en-US" altLang="zh-CN" sz="2600" dirty="0">
                <a:latin typeface="Verdana" panose="020B0604030504040204" pitchFamily="34" charset="0"/>
                <a:ea typeface="宋体" panose="02010600030101010101" pitchFamily="2" charset="-122"/>
              </a:rPr>
              <a:t>possible solutions</a:t>
            </a:r>
          </a:p>
          <a:p>
            <a:pPr marL="0" indent="0" eaLnBrk="1" hangingPunct="1">
              <a:buFont typeface="Wingdings" panose="05000000000000000000" pitchFamily="2" charset="2"/>
              <a:buNone/>
            </a:pPr>
            <a:r>
              <a:rPr lang="en-US" altLang="zh-CN" sz="2600" dirty="0">
                <a:latin typeface="Verdana" panose="020B0604030504040204" pitchFamily="34" charset="0"/>
                <a:ea typeface="宋体" panose="02010600030101010101" pitchFamily="2" charset="-122"/>
              </a:rPr>
              <a:t>e.g. 20 x 10 problem =&gt; </a:t>
            </a:r>
            <a:r>
              <a:rPr lang="en-US" altLang="zh-CN" sz="2600" dirty="0">
                <a:solidFill>
                  <a:srgbClr val="FF9933"/>
                </a:solidFill>
                <a:latin typeface="Verdana" panose="020B0604030504040204" pitchFamily="34" charset="0"/>
                <a:ea typeface="宋体" panose="02010600030101010101" pitchFamily="2" charset="-122"/>
              </a:rPr>
              <a:t>7.2651x10</a:t>
            </a:r>
            <a:r>
              <a:rPr lang="en-US" altLang="zh-CN" sz="2600" baseline="30000" dirty="0">
                <a:solidFill>
                  <a:srgbClr val="FF9933"/>
                </a:solidFill>
                <a:latin typeface="Verdana" panose="020B0604030504040204" pitchFamily="34" charset="0"/>
                <a:ea typeface="宋体" panose="02010600030101010101" pitchFamily="2" charset="-122"/>
              </a:rPr>
              <a:t>183 </a:t>
            </a:r>
            <a:r>
              <a:rPr lang="en-US" altLang="zh-CN" sz="2600" dirty="0">
                <a:latin typeface="Verdana" panose="020B0604030504040204" pitchFamily="34" charset="0"/>
                <a:ea typeface="宋体" panose="02010600030101010101" pitchFamily="2" charset="-122"/>
              </a:rPr>
              <a:t>solutions</a:t>
            </a:r>
          </a:p>
        </p:txBody>
      </p:sp>
      <p:sp>
        <p:nvSpPr>
          <p:cNvPr id="57348" name="Rectangle 4"/>
          <p:cNvSpPr>
            <a:spLocks noChangeArrowheads="1"/>
          </p:cNvSpPr>
          <p:nvPr/>
        </p:nvSpPr>
        <p:spPr bwMode="auto">
          <a:xfrm>
            <a:off x="2209800" y="2971800"/>
            <a:ext cx="4724400" cy="2590800"/>
          </a:xfrm>
          <a:prstGeom prst="rect">
            <a:avLst/>
          </a:prstGeom>
          <a:solidFill>
            <a:srgbClr val="0033CC"/>
          </a:solidFill>
          <a:ln w="25400">
            <a:solidFill>
              <a:srgbClr val="66FF33"/>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57349" name="Rectangle 5"/>
          <p:cNvSpPr>
            <a:spLocks noChangeArrowheads="1"/>
          </p:cNvSpPr>
          <p:nvPr/>
        </p:nvSpPr>
        <p:spPr bwMode="auto">
          <a:xfrm>
            <a:off x="2286000" y="3381375"/>
            <a:ext cx="4572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800" b="0">
                <a:solidFill>
                  <a:srgbClr val="FFFF00"/>
                </a:solidFill>
                <a:ea typeface="宋体" panose="02010600030101010101" pitchFamily="2" charset="-122"/>
              </a:rPr>
              <a:t>    feasible</a:t>
            </a:r>
          </a:p>
          <a:p>
            <a:pPr eaLnBrk="1" hangingPunct="1">
              <a:spcBef>
                <a:spcPct val="0"/>
              </a:spcBef>
              <a:spcAft>
                <a:spcPct val="0"/>
              </a:spcAft>
              <a:buFontTx/>
              <a:buNone/>
            </a:pPr>
            <a:r>
              <a:rPr lang="en-US" altLang="zh-CN" sz="2800" b="0">
                <a:solidFill>
                  <a:srgbClr val="FFFF00"/>
                </a:solidFill>
                <a:ea typeface="宋体" panose="02010600030101010101" pitchFamily="2" charset="-122"/>
              </a:rPr>
              <a:t>    solutions</a:t>
            </a:r>
          </a:p>
          <a:p>
            <a:pPr eaLnBrk="1" hangingPunct="1">
              <a:spcBef>
                <a:spcPct val="0"/>
              </a:spcBef>
              <a:spcAft>
                <a:spcPct val="0"/>
              </a:spcAft>
              <a:buFontTx/>
              <a:buNone/>
            </a:pPr>
            <a:r>
              <a:rPr lang="en-US" altLang="zh-CN" sz="2800" b="0">
                <a:solidFill>
                  <a:srgbClr val="FF0000"/>
                </a:solidFill>
                <a:ea typeface="宋体" panose="02010600030101010101" pitchFamily="2" charset="-122"/>
              </a:rPr>
              <a:t>                       infeasible</a:t>
            </a:r>
          </a:p>
          <a:p>
            <a:pPr eaLnBrk="1" hangingPunct="1">
              <a:spcBef>
                <a:spcPct val="0"/>
              </a:spcBef>
              <a:spcAft>
                <a:spcPct val="0"/>
              </a:spcAft>
              <a:buFontTx/>
              <a:buNone/>
            </a:pPr>
            <a:r>
              <a:rPr lang="en-US" altLang="zh-CN" sz="2800" b="0">
                <a:solidFill>
                  <a:srgbClr val="FF0000"/>
                </a:solidFill>
                <a:ea typeface="宋体" panose="02010600030101010101" pitchFamily="2" charset="-122"/>
              </a:rPr>
              <a:t>                       solutions</a:t>
            </a:r>
          </a:p>
        </p:txBody>
      </p:sp>
      <p:sp>
        <p:nvSpPr>
          <p:cNvPr id="57350" name="Oval 6"/>
          <p:cNvSpPr>
            <a:spLocks noChangeArrowheads="1"/>
          </p:cNvSpPr>
          <p:nvPr/>
        </p:nvSpPr>
        <p:spPr bwMode="auto">
          <a:xfrm>
            <a:off x="2514600" y="3276600"/>
            <a:ext cx="1828800" cy="1143000"/>
          </a:xfrm>
          <a:prstGeom prst="ellipse">
            <a:avLst/>
          </a:prstGeom>
          <a:solidFill>
            <a:schemeClr val="accent1">
              <a:alpha val="0"/>
            </a:schemeClr>
          </a:solidFill>
          <a:ln w="9525">
            <a:solidFill>
              <a:srgbClr val="FFFF00"/>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57351"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457200" y="152400"/>
            <a:ext cx="7924800" cy="533400"/>
          </a:xfrm>
        </p:spPr>
        <p:txBody>
          <a:bodyPr>
            <a:normAutofit fontScale="90000"/>
          </a:bodyPr>
          <a:lstStyle/>
          <a:p>
            <a:pPr eaLnBrk="1" hangingPunct="1">
              <a:defRPr/>
            </a:pPr>
            <a:r>
              <a:rPr kumimoji="0" lang="en-US" altLang="zh-CN" b="1" dirty="0">
                <a:latin typeface="Verdana" charset="0"/>
                <a:cs typeface="宋体" charset="0"/>
              </a:rPr>
              <a:t>Combinatorial Optimization</a:t>
            </a:r>
          </a:p>
        </p:txBody>
      </p:sp>
      <p:sp>
        <p:nvSpPr>
          <p:cNvPr id="58371"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Global Optimum: best solution(s) over the feasibility domain</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Local optimum: best solution over some neighborhood</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Objective: find a global optimum solution</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It may be expensive to find a global optimum</a:t>
            </a:r>
          </a:p>
        </p:txBody>
      </p:sp>
      <p:sp>
        <p:nvSpPr>
          <p:cNvPr id="5837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57200" y="152400"/>
            <a:ext cx="7162800" cy="533400"/>
          </a:xfrm>
        </p:spPr>
        <p:txBody>
          <a:bodyPr>
            <a:normAutofit fontScale="90000"/>
          </a:bodyPr>
          <a:lstStyle/>
          <a:p>
            <a:pPr eaLnBrk="1" hangingPunct="1">
              <a:defRPr/>
            </a:pPr>
            <a:r>
              <a:rPr kumimoji="0" lang="en-US" altLang="zh-CN" b="1" dirty="0">
                <a:latin typeface="Verdana" charset="0"/>
                <a:cs typeface="宋体" charset="0"/>
              </a:rPr>
              <a:t>Optimization algorithms</a:t>
            </a:r>
          </a:p>
        </p:txBody>
      </p:sp>
      <p:graphicFrame>
        <p:nvGraphicFramePr>
          <p:cNvPr id="535555" name="Group 3"/>
          <p:cNvGraphicFramePr>
            <a:graphicFrameLocks noGrp="1"/>
          </p:cNvGraphicFramePr>
          <p:nvPr>
            <p:ph sz="half" idx="1"/>
          </p:nvPr>
        </p:nvGraphicFramePr>
        <p:xfrm>
          <a:off x="228600" y="990600"/>
          <a:ext cx="4267200" cy="4464050"/>
        </p:xfrm>
        <a:graphic>
          <a:graphicData uri="http://schemas.openxmlformats.org/drawingml/2006/table">
            <a:tbl>
              <a:tblPr/>
              <a:tblGrid>
                <a:gridCol w="4267200">
                  <a:extLst>
                    <a:ext uri="{9D8B030D-6E8A-4147-A177-3AD203B41FA5}">
                      <a16:colId xmlns:a16="http://schemas.microsoft.com/office/drawing/2014/main" val="20000"/>
                    </a:ext>
                  </a:extLst>
                </a:gridCol>
              </a:tblGrid>
              <a:tr h="44640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0" i="1" u="none" strike="noStrike" cap="none" normalizeH="0" baseline="0">
                          <a:ln>
                            <a:noFill/>
                          </a:ln>
                          <a:solidFill>
                            <a:schemeClr val="tx1"/>
                          </a:solidFill>
                          <a:effectLst/>
                          <a:latin typeface="Verdana" pitchFamily="34" charset="0"/>
                          <a:ea typeface="宋体" pitchFamily="2" charset="-122"/>
                        </a:rPr>
                        <a:t>   Conventional </a:t>
                      </a:r>
                      <a:r>
                        <a:rPr kumimoji="0" lang="en-US" altLang="zh-CN" sz="1800" b="0" i="0" u="none" strike="noStrike" cap="none" normalizeH="0" baseline="0">
                          <a:ln>
                            <a:noFill/>
                          </a:ln>
                          <a:solidFill>
                            <a:schemeClr val="tx1"/>
                          </a:solidFill>
                          <a:effectLst/>
                          <a:latin typeface="Verdana" pitchFamily="34" charset="0"/>
                          <a:ea typeface="宋体" pitchFamily="2" charset="-122"/>
                        </a:rPr>
                        <a:t>optimization</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0" i="0" u="none" strike="noStrike" cap="none" normalizeH="0" baseline="0">
                          <a:ln>
                            <a:noFill/>
                          </a:ln>
                          <a:solidFill>
                            <a:schemeClr val="tx1"/>
                          </a:solidFill>
                          <a:effectLst/>
                          <a:latin typeface="Verdana" pitchFamily="34" charset="0"/>
                          <a:ea typeface="宋体" pitchFamily="2" charset="-122"/>
                        </a:rPr>
                        <a:t>   algorithms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Example Branch &amp; Bound,</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Integer Linear Programming</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and Dynamic Programming.</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n-US" altLang="zh-CN" sz="1800" b="1" i="0" u="none" strike="noStrike" cap="none" normalizeH="0" baseline="0">
                        <a:ln>
                          <a:noFill/>
                        </a:ln>
                        <a:solidFill>
                          <a:schemeClr val="tx1"/>
                        </a:solidFill>
                        <a:effectLst/>
                        <a:latin typeface="Verdana" pitchFamily="34" charset="0"/>
                        <a:ea typeface="宋体"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works well with small</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problems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slow</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can’t solve “big” problems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9401" name="Oval 9"/>
          <p:cNvSpPr>
            <a:spLocks noChangeArrowheads="1"/>
          </p:cNvSpPr>
          <p:nvPr/>
        </p:nvSpPr>
        <p:spPr bwMode="auto">
          <a:xfrm>
            <a:off x="304800" y="1752600"/>
            <a:ext cx="152400" cy="152400"/>
          </a:xfrm>
          <a:prstGeom prst="ellipse">
            <a:avLst/>
          </a:prstGeom>
          <a:solidFill>
            <a:srgbClr val="FFFF00"/>
          </a:solidFill>
          <a:ln w="9525">
            <a:solidFill>
              <a:schemeClr val="tx1"/>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pic>
        <p:nvPicPr>
          <p:cNvPr id="5940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3076575"/>
            <a:ext cx="2095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3733800"/>
            <a:ext cx="2095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4"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4067175"/>
            <a:ext cx="2095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35576" name="Group 24"/>
          <p:cNvGraphicFramePr>
            <a:graphicFrameLocks noGrp="1"/>
          </p:cNvGraphicFramePr>
          <p:nvPr>
            <p:ph sz="half" idx="2"/>
          </p:nvPr>
        </p:nvGraphicFramePr>
        <p:xfrm>
          <a:off x="4648200" y="990600"/>
          <a:ext cx="4038600" cy="4419600"/>
        </p:xfrm>
        <a:graphic>
          <a:graphicData uri="http://schemas.openxmlformats.org/drawingml/2006/table">
            <a:tbl>
              <a:tblPr/>
              <a:tblGrid>
                <a:gridCol w="4038600">
                  <a:extLst>
                    <a:ext uri="{9D8B030D-6E8A-4147-A177-3AD203B41FA5}">
                      <a16:colId xmlns:a16="http://schemas.microsoft.com/office/drawing/2014/main" val="20000"/>
                    </a:ext>
                  </a:extLst>
                </a:gridCol>
              </a:tblGrid>
              <a:tr h="44196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0" i="1" u="none" strike="noStrike" cap="none" normalizeH="0" baseline="0">
                          <a:ln>
                            <a:noFill/>
                          </a:ln>
                          <a:solidFill>
                            <a:schemeClr val="tx1"/>
                          </a:solidFill>
                          <a:effectLst/>
                          <a:latin typeface="Verdana" pitchFamily="34" charset="0"/>
                          <a:ea typeface="宋体" pitchFamily="2" charset="-122"/>
                        </a:rPr>
                        <a:t>   Approximation </a:t>
                      </a:r>
                      <a:r>
                        <a:rPr kumimoji="0" lang="en-US" altLang="zh-CN" sz="1800" b="0" i="0" u="none" strike="noStrike" cap="none" normalizeH="0" baseline="0">
                          <a:ln>
                            <a:noFill/>
                          </a:ln>
                          <a:solidFill>
                            <a:schemeClr val="tx1"/>
                          </a:solidFill>
                          <a:effectLst/>
                          <a:latin typeface="Verdana" pitchFamily="34" charset="0"/>
                          <a:ea typeface="宋体" pitchFamily="2" charset="-122"/>
                        </a:rPr>
                        <a:t>optimization</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0" i="0" u="none" strike="noStrike" cap="none" normalizeH="0" baseline="0">
                          <a:ln>
                            <a:noFill/>
                          </a:ln>
                          <a:solidFill>
                            <a:schemeClr val="tx1"/>
                          </a:solidFill>
                          <a:effectLst/>
                          <a:latin typeface="Verdana" pitchFamily="34" charset="0"/>
                          <a:ea typeface="宋体" pitchFamily="2" charset="-122"/>
                        </a:rPr>
                        <a:t>   algorithms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Example Dispatching rules,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Simulated Annealing, Taboo</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Search and Genetic</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Algorithms.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fast</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can be applied with big or</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small problems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   approximate “optimal” solutions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9411" name="Oval 19"/>
          <p:cNvSpPr>
            <a:spLocks noChangeArrowheads="1"/>
          </p:cNvSpPr>
          <p:nvPr/>
        </p:nvSpPr>
        <p:spPr bwMode="auto">
          <a:xfrm>
            <a:off x="4724400" y="1752600"/>
            <a:ext cx="152400" cy="152400"/>
          </a:xfrm>
          <a:prstGeom prst="ellipse">
            <a:avLst/>
          </a:prstGeom>
          <a:solidFill>
            <a:srgbClr val="FFFF00"/>
          </a:solidFill>
          <a:ln w="9525">
            <a:solidFill>
              <a:schemeClr val="tx1"/>
            </a:solidFill>
            <a:round/>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pic>
        <p:nvPicPr>
          <p:cNvPr id="59412"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381375"/>
            <a:ext cx="2095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13"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762375"/>
            <a:ext cx="2095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14"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4419600"/>
            <a:ext cx="2095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15" name="Rectangle 23"/>
          <p:cNvSpPr>
            <a:spLocks noChangeArrowheads="1"/>
          </p:cNvSpPr>
          <p:nvPr/>
        </p:nvSpPr>
        <p:spPr bwMode="auto">
          <a:xfrm>
            <a:off x="6781800" y="5715000"/>
            <a:ext cx="1949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800">
                <a:ea typeface="宋体" panose="02010600030101010101" pitchFamily="2" charset="-122"/>
              </a:rPr>
              <a:t>Jain et.al. (1999)</a:t>
            </a:r>
          </a:p>
        </p:txBody>
      </p:sp>
      <p:sp>
        <p:nvSpPr>
          <p:cNvPr id="59416" name="页脚占位符 1"/>
          <p:cNvSpPr>
            <a:spLocks noGrp="1"/>
          </p:cNvSpPr>
          <p:nvPr>
            <p:ph type="ftr" sz="quarter" idx="11"/>
          </p:nvPr>
        </p:nvSpPr>
        <p:spPr bwMode="auto">
          <a:xfrm>
            <a:off x="457200" y="6172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57200" y="152400"/>
            <a:ext cx="8229600" cy="533400"/>
          </a:xfrm>
        </p:spPr>
        <p:txBody>
          <a:bodyPr>
            <a:normAutofit fontScale="90000"/>
          </a:bodyPr>
          <a:lstStyle/>
          <a:p>
            <a:pPr eaLnBrk="1" hangingPunct="1">
              <a:defRPr/>
            </a:pPr>
            <a:r>
              <a:rPr kumimoji="0" lang="en-US" altLang="zh-CN" b="1" dirty="0">
                <a:latin typeface="Verdana" charset="0"/>
                <a:cs typeface="宋体" charset="0"/>
              </a:rPr>
              <a:t>General Solution Techniques</a:t>
            </a:r>
          </a:p>
        </p:txBody>
      </p:sp>
      <p:sp>
        <p:nvSpPr>
          <p:cNvPr id="60419" name="Rectangle 3"/>
          <p:cNvSpPr>
            <a:spLocks noGrp="1" noChangeArrowheads="1"/>
          </p:cNvSpPr>
          <p:nvPr>
            <p:ph type="body" idx="1"/>
          </p:nvPr>
        </p:nvSpPr>
        <p:spPr>
          <a:xfrm>
            <a:off x="457200" y="838200"/>
            <a:ext cx="8305800" cy="5562600"/>
          </a:xfrm>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Mathematical programming (not the focus of this course)</a:t>
            </a:r>
          </a:p>
          <a:p>
            <a:pPr lvl="1" eaLnBrk="1" hangingPunct="1"/>
            <a:r>
              <a:rPr kumimoji="0" lang="en-US" altLang="zh-CN" sz="2400">
                <a:ea typeface="宋体" panose="02010600030101010101" pitchFamily="2" charset="-122"/>
              </a:rPr>
              <a:t>Linear, non-linear, and integer programming</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Heuristics</a:t>
            </a:r>
          </a:p>
          <a:p>
            <a:pPr lvl="1" eaLnBrk="1" hangingPunct="1"/>
            <a:r>
              <a:rPr kumimoji="0" lang="en-US" altLang="zh-CN" sz="2400">
                <a:ea typeface="宋体" panose="02010600030101010101" pitchFamily="2" charset="-122"/>
              </a:rPr>
              <a:t>Dispatching/prioritizing rules</a:t>
            </a:r>
          </a:p>
          <a:p>
            <a:pPr lvl="1" eaLnBrk="1" hangingPunct="1"/>
            <a:r>
              <a:rPr kumimoji="0" lang="en-US" altLang="zh-CN" sz="2400">
                <a:ea typeface="宋体" panose="02010600030101010101" pitchFamily="2" charset="-122"/>
              </a:rPr>
              <a:t>Shifting bottleneck heuristic</a:t>
            </a:r>
          </a:p>
          <a:p>
            <a:pPr lvl="1" eaLnBrk="1" hangingPunct="1"/>
            <a:r>
              <a:rPr kumimoji="0" lang="en-US" altLang="zh-CN" sz="2400">
                <a:latin typeface="Tahoma" panose="020B0604030504040204" pitchFamily="34" charset="0"/>
                <a:ea typeface="宋体" panose="02010600030101010101" pitchFamily="2" charset="-122"/>
              </a:rPr>
              <a:t>…</a:t>
            </a:r>
            <a:r>
              <a:rPr kumimoji="0" lang="en-US" altLang="zh-CN" sz="2400">
                <a:ea typeface="宋体" panose="02010600030101010101" pitchFamily="2" charset="-122"/>
              </a:rPr>
              <a:t>..</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Meta-heuristic/ Local search (covered in </a:t>
            </a:r>
            <a:r>
              <a:rPr lang="en-US" altLang="zh-CN" sz="2400">
                <a:latin typeface="Tahoma" panose="020B0604030504040204" pitchFamily="34" charset="0"/>
                <a:ea typeface="宋体" panose="02010600030101010101" pitchFamily="2" charset="-122"/>
              </a:rPr>
              <a:t>“</a:t>
            </a:r>
            <a:r>
              <a:rPr lang="en-US" altLang="zh-CN" sz="2400">
                <a:latin typeface="Verdana" panose="020B0604030504040204" pitchFamily="34" charset="0"/>
                <a:ea typeface="宋体" panose="02010600030101010101" pitchFamily="2" charset="-122"/>
              </a:rPr>
              <a:t>Production Planning and Scheduling</a:t>
            </a:r>
            <a:r>
              <a:rPr lang="en-US" altLang="zh-CN" sz="2400">
                <a:latin typeface="Tahoma" panose="020B0604030504040204" pitchFamily="34" charset="0"/>
                <a:ea typeface="宋体" panose="02010600030101010101" pitchFamily="2" charset="-122"/>
              </a:rPr>
              <a:t>”</a:t>
            </a:r>
            <a:r>
              <a:rPr lang="en-US" altLang="zh-CN" sz="2400">
                <a:latin typeface="Verdana" panose="020B0604030504040204" pitchFamily="34" charset="0"/>
                <a:ea typeface="宋体" panose="02010600030101010101" pitchFamily="2" charset="-122"/>
              </a:rPr>
              <a:t>)</a:t>
            </a:r>
          </a:p>
          <a:p>
            <a:pPr lvl="1" eaLnBrk="1" hangingPunct="1"/>
            <a:r>
              <a:rPr kumimoji="0" lang="en-US" altLang="zh-CN" sz="2400">
                <a:ea typeface="宋体" panose="02010600030101010101" pitchFamily="2" charset="-122"/>
              </a:rPr>
              <a:t>Simulated annealing</a:t>
            </a:r>
          </a:p>
          <a:p>
            <a:pPr lvl="1" eaLnBrk="1" hangingPunct="1"/>
            <a:r>
              <a:rPr kumimoji="0" lang="en-US" altLang="zh-CN" sz="2400">
                <a:ea typeface="宋体" panose="02010600030101010101" pitchFamily="2" charset="-122"/>
              </a:rPr>
              <a:t>Genetic algorithms</a:t>
            </a:r>
          </a:p>
          <a:p>
            <a:pPr lvl="1" eaLnBrk="1" hangingPunct="1"/>
            <a:r>
              <a:rPr kumimoji="0" lang="en-US" altLang="zh-CN" sz="2400">
                <a:ea typeface="宋体" panose="02010600030101010101" pitchFamily="2" charset="-122"/>
              </a:rPr>
              <a:t>Tabu search</a:t>
            </a:r>
          </a:p>
          <a:p>
            <a:pPr lvl="1" eaLnBrk="1" hangingPunct="1"/>
            <a:r>
              <a:rPr kumimoji="0" lang="en-US" altLang="zh-CN" sz="2400">
                <a:ea typeface="宋体" panose="02010600030101010101" pitchFamily="2" charset="-122"/>
              </a:rPr>
              <a:t>Ant colony optimization</a:t>
            </a:r>
          </a:p>
        </p:txBody>
      </p:sp>
      <p:sp>
        <p:nvSpPr>
          <p:cNvPr id="60420" name="页脚占位符 1"/>
          <p:cNvSpPr>
            <a:spLocks noGrp="1"/>
          </p:cNvSpPr>
          <p:nvPr>
            <p:ph type="ftr" sz="quarter" idx="10"/>
          </p:nvPr>
        </p:nvSpPr>
        <p:spPr bwMode="auto">
          <a:xfrm>
            <a:off x="457200" y="6650038"/>
            <a:ext cx="3429000" cy="284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body" idx="1"/>
          </p:nvPr>
        </p:nvSpPr>
        <p:spPr>
          <a:xfrm>
            <a:off x="304800" y="838200"/>
            <a:ext cx="8305800" cy="5562600"/>
          </a:xfrm>
        </p:spPr>
        <p:txBody>
          <a:bodyPr/>
          <a:lstStyle/>
          <a:p>
            <a:pPr marL="0" indent="0" algn="ctr" eaLnBrk="1" hangingPunct="1">
              <a:buFont typeface="Wingdings" panose="05000000000000000000" pitchFamily="2" charset="2"/>
              <a:buNone/>
            </a:pPr>
            <a:endParaRPr lang="en-US" altLang="zh-CN" sz="3200" dirty="0">
              <a:solidFill>
                <a:schemeClr val="tx2"/>
              </a:solidFill>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endParaRPr lang="en-US" altLang="zh-CN" sz="3200" dirty="0">
              <a:solidFill>
                <a:schemeClr val="tx2"/>
              </a:solidFill>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endParaRPr lang="en-US" altLang="zh-CN" sz="3200" dirty="0">
              <a:solidFill>
                <a:schemeClr val="tx2"/>
              </a:solidFill>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r>
              <a:rPr lang="en-US" altLang="zh-CN" sz="3200" dirty="0">
                <a:solidFill>
                  <a:srgbClr val="3366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rPr>
              <a:t>8.2 </a:t>
            </a:r>
            <a:r>
              <a:rPr lang="zh-CN" altLang="en-US" sz="3200" dirty="0">
                <a:solidFill>
                  <a:srgbClr val="3366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rPr>
              <a:t>机器调度 </a:t>
            </a:r>
            <a:r>
              <a:rPr lang="en-US" altLang="zh-CN" sz="3200" dirty="0">
                <a:solidFill>
                  <a:srgbClr val="3366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rPr>
              <a:t>(Machine Scheduling)</a:t>
            </a:r>
          </a:p>
        </p:txBody>
      </p:sp>
      <p:sp>
        <p:nvSpPr>
          <p:cNvPr id="6144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26054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noChangeArrowheads="1"/>
          </p:cNvSpPr>
          <p:nvPr>
            <p:ph type="body" idx="1"/>
          </p:nvPr>
        </p:nvSpPr>
        <p:spPr>
          <a:xfrm>
            <a:off x="304800" y="838200"/>
            <a:ext cx="8305800" cy="5562600"/>
          </a:xfrm>
        </p:spPr>
        <p:txBody>
          <a:bodyPr/>
          <a:lstStyle/>
          <a:p>
            <a:pPr marL="0" indent="0" algn="ctr" eaLnBrk="1" hangingPunct="1">
              <a:buFont typeface="Wingdings" panose="05000000000000000000" pitchFamily="2" charset="2"/>
              <a:buNone/>
            </a:pPr>
            <a:endParaRPr lang="en-US" altLang="zh-CN" sz="3200" dirty="0">
              <a:solidFill>
                <a:schemeClr val="tx2"/>
              </a:solidFill>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endParaRPr lang="en-US" altLang="zh-CN" sz="3200" dirty="0">
              <a:solidFill>
                <a:schemeClr val="tx2"/>
              </a:solidFill>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endParaRPr lang="en-US" altLang="zh-CN" sz="3200" dirty="0">
              <a:solidFill>
                <a:schemeClr val="tx2"/>
              </a:solidFill>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r>
              <a:rPr lang="en-US" altLang="zh-CN" sz="3200" dirty="0">
                <a:solidFill>
                  <a:schemeClr val="tx2"/>
                </a:solidFill>
                <a:latin typeface="Verdana" panose="020B0604030504040204" pitchFamily="34" charset="0"/>
                <a:ea typeface="宋体" panose="02010600030101010101" pitchFamily="2" charset="-122"/>
              </a:rPr>
              <a:t>Machine Scheduling:</a:t>
            </a:r>
          </a:p>
          <a:p>
            <a:pPr marL="0" indent="0" algn="ctr" eaLnBrk="1" hangingPunct="1">
              <a:buFont typeface="Wingdings" panose="05000000000000000000" pitchFamily="2" charset="2"/>
              <a:buNone/>
            </a:pPr>
            <a:r>
              <a:rPr lang="en-US" altLang="zh-CN" sz="3200" dirty="0">
                <a:solidFill>
                  <a:schemeClr val="tx2"/>
                </a:solidFill>
                <a:latin typeface="Verdana" panose="020B0604030504040204" pitchFamily="34" charset="0"/>
                <a:ea typeface="宋体" panose="02010600030101010101" pitchFamily="2" charset="-122"/>
              </a:rPr>
              <a:t>Dispatching Rules</a:t>
            </a:r>
            <a:r>
              <a:rPr lang="zh-CN" altLang="en-US" sz="3200" dirty="0">
                <a:solidFill>
                  <a:schemeClr val="tx2"/>
                </a:solidFill>
                <a:latin typeface="Verdana" panose="020B0604030504040204" pitchFamily="34" charset="0"/>
                <a:ea typeface="宋体" panose="02010600030101010101" pitchFamily="2" charset="-122"/>
              </a:rPr>
              <a:t> </a:t>
            </a:r>
            <a:r>
              <a:rPr lang="en-US" altLang="zh-CN" sz="3200" dirty="0">
                <a:solidFill>
                  <a:schemeClr val="tx2"/>
                </a:solidFill>
                <a:latin typeface="Verdana" panose="020B0604030504040204" pitchFamily="34" charset="0"/>
                <a:ea typeface="宋体" panose="02010600030101010101" pitchFamily="2" charset="-122"/>
              </a:rPr>
              <a:t>(</a:t>
            </a:r>
            <a:r>
              <a:rPr lang="zh-CN" altLang="en-US" sz="3200" dirty="0">
                <a:solidFill>
                  <a:schemeClr val="tx2"/>
                </a:solidFill>
                <a:latin typeface="Verdana" panose="020B0604030504040204" pitchFamily="34" charset="0"/>
                <a:ea typeface="宋体" panose="02010600030101010101" pitchFamily="2" charset="-122"/>
              </a:rPr>
              <a:t>调度规则</a:t>
            </a:r>
            <a:r>
              <a:rPr lang="en-US" altLang="zh-CN" sz="3200" dirty="0">
                <a:solidFill>
                  <a:schemeClr val="tx2"/>
                </a:solidFill>
                <a:latin typeface="Verdana" panose="020B0604030504040204" pitchFamily="34" charset="0"/>
                <a:ea typeface="宋体" panose="02010600030101010101" pitchFamily="2" charset="-122"/>
              </a:rPr>
              <a:t>)</a:t>
            </a:r>
          </a:p>
        </p:txBody>
      </p:sp>
      <p:sp>
        <p:nvSpPr>
          <p:cNvPr id="6144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Dispatching Rules</a:t>
            </a:r>
          </a:p>
        </p:txBody>
      </p:sp>
      <p:sp>
        <p:nvSpPr>
          <p:cNvPr id="62467" name="Rectangle 3"/>
          <p:cNvSpPr>
            <a:spLocks noGrp="1" noChangeArrowheads="1"/>
          </p:cNvSpPr>
          <p:nvPr>
            <p:ph type="body" idx="1"/>
          </p:nvPr>
        </p:nvSpPr>
        <p:spPr/>
        <p:txBody>
          <a:bodyPr/>
          <a:lstStyle/>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Other names: list scheduling, priority rules</a:t>
            </a:r>
          </a:p>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Prioritize all waiting jobs</a:t>
            </a:r>
          </a:p>
          <a:p>
            <a:pPr lvl="1" eaLnBrk="1" hangingPunct="1">
              <a:lnSpc>
                <a:spcPct val="120000"/>
              </a:lnSpc>
            </a:pPr>
            <a:r>
              <a:rPr kumimoji="0" lang="en-US" altLang="zh-CN" sz="2400">
                <a:ea typeface="宋体" panose="02010600030101010101" pitchFamily="2" charset="-122"/>
              </a:rPr>
              <a:t>job attributes</a:t>
            </a:r>
          </a:p>
          <a:p>
            <a:pPr lvl="1" eaLnBrk="1" hangingPunct="1">
              <a:lnSpc>
                <a:spcPct val="120000"/>
              </a:lnSpc>
            </a:pPr>
            <a:r>
              <a:rPr kumimoji="0" lang="en-US" altLang="zh-CN" sz="2400">
                <a:ea typeface="宋体" panose="02010600030101010101" pitchFamily="2" charset="-122"/>
              </a:rPr>
              <a:t>machine attributes</a:t>
            </a:r>
          </a:p>
          <a:p>
            <a:pPr lvl="1" eaLnBrk="1" hangingPunct="1">
              <a:lnSpc>
                <a:spcPct val="120000"/>
              </a:lnSpc>
            </a:pPr>
            <a:r>
              <a:rPr kumimoji="0" lang="en-US" altLang="zh-CN" sz="2400">
                <a:ea typeface="宋体" panose="02010600030101010101" pitchFamily="2" charset="-122"/>
              </a:rPr>
              <a:t>current time</a:t>
            </a:r>
          </a:p>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Whenever a machine becomes free: select the job with the highest priority</a:t>
            </a:r>
          </a:p>
        </p:txBody>
      </p:sp>
      <p:sp>
        <p:nvSpPr>
          <p:cNvPr id="6246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p:cNvSpPr txBox="1">
            <a:spLocks noChangeArrowheads="1"/>
          </p:cNvSpPr>
          <p:nvPr/>
        </p:nvSpPr>
        <p:spPr bwMode="auto">
          <a:xfrm>
            <a:off x="2133600" y="228600"/>
            <a:ext cx="4724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200">
                <a:solidFill>
                  <a:schemeClr val="bg1"/>
                </a:solidFill>
                <a:latin typeface="Verdana" panose="020B0604030504040204" pitchFamily="34" charset="0"/>
                <a:ea typeface="宋体" panose="02010600030101010101" pitchFamily="2" charset="-122"/>
              </a:rPr>
              <a:t>Dispatching Rules</a:t>
            </a:r>
          </a:p>
        </p:txBody>
      </p:sp>
      <p:sp>
        <p:nvSpPr>
          <p:cNvPr id="63491" name="Text Box 3"/>
          <p:cNvSpPr txBox="1">
            <a:spLocks noChangeArrowheads="1"/>
          </p:cNvSpPr>
          <p:nvPr/>
        </p:nvSpPr>
        <p:spPr bwMode="auto">
          <a:xfrm>
            <a:off x="225425" y="981075"/>
            <a:ext cx="8461375"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tabLst>
                <a:tab pos="285750" algn="l"/>
              </a:tabLst>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tabLst>
                <a:tab pos="285750" algn="l"/>
              </a:tabLst>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tabLst>
                <a:tab pos="285750" algn="l"/>
              </a:tabLst>
              <a:defRPr kumimoji="1">
                <a:solidFill>
                  <a:schemeClr val="tx1"/>
                </a:solidFill>
                <a:latin typeface="Arial" panose="020B0604020202020204" pitchFamily="34" charset="0"/>
                <a:ea typeface="黑体" panose="02010609060101010101" pitchFamily="49" charset="-122"/>
              </a:defRPr>
            </a:lvl9pPr>
          </a:lstStyle>
          <a:p>
            <a:pPr>
              <a:lnSpc>
                <a:spcPct val="120000"/>
              </a:lnSpc>
              <a:spcBef>
                <a:spcPct val="0"/>
              </a:spcBef>
              <a:spcAft>
                <a:spcPct val="0"/>
              </a:spcAft>
              <a:buFontTx/>
              <a:buNone/>
            </a:pPr>
            <a:r>
              <a:rPr lang="en-US" altLang="zh-CN" sz="2400" u="sng">
                <a:ea typeface="宋体" panose="02010600030101010101" pitchFamily="2" charset="-122"/>
              </a:rPr>
              <a:t>Classification</a:t>
            </a:r>
            <a:endParaRPr lang="en-US" altLang="zh-CN" sz="2400" b="0">
              <a:ea typeface="宋体" panose="02010600030101010101" pitchFamily="2" charset="-122"/>
            </a:endParaRPr>
          </a:p>
          <a:p>
            <a:pPr>
              <a:lnSpc>
                <a:spcPct val="120000"/>
              </a:lnSpc>
              <a:spcBef>
                <a:spcPct val="0"/>
              </a:spcBef>
              <a:spcAft>
                <a:spcPct val="0"/>
              </a:spcAft>
              <a:buFontTx/>
              <a:buNone/>
            </a:pPr>
            <a:endParaRPr lang="en-US" altLang="zh-CN" sz="2400" b="0">
              <a:ea typeface="宋体" panose="02010600030101010101" pitchFamily="2" charset="-122"/>
            </a:endParaRPr>
          </a:p>
          <a:p>
            <a:pPr>
              <a:lnSpc>
                <a:spcPct val="120000"/>
              </a:lnSpc>
              <a:spcBef>
                <a:spcPct val="0"/>
              </a:spcBef>
              <a:spcAft>
                <a:spcPct val="0"/>
              </a:spcAft>
              <a:buFontTx/>
              <a:buChar char="•"/>
            </a:pPr>
            <a:r>
              <a:rPr lang="en-US" altLang="zh-CN" sz="2400" b="0">
                <a:ea typeface="宋体" panose="02010600030101010101" pitchFamily="2" charset="-122"/>
              </a:rPr>
              <a:t> 	</a:t>
            </a:r>
            <a:r>
              <a:rPr lang="en-US" altLang="zh-CN" sz="2400" b="0" u="sng">
                <a:ea typeface="宋体" panose="02010600030101010101" pitchFamily="2" charset="-122"/>
              </a:rPr>
              <a:t>Static</a:t>
            </a:r>
            <a:r>
              <a:rPr lang="en-US" altLang="zh-CN" sz="2400" b="0">
                <a:ea typeface="宋体" panose="02010600030101010101" pitchFamily="2" charset="-122"/>
              </a:rPr>
              <a:t>: not time-dependent</a:t>
            </a:r>
          </a:p>
          <a:p>
            <a:pPr>
              <a:lnSpc>
                <a:spcPct val="120000"/>
              </a:lnSpc>
              <a:spcBef>
                <a:spcPct val="0"/>
              </a:spcBef>
              <a:spcAft>
                <a:spcPct val="0"/>
              </a:spcAft>
              <a:buFontTx/>
              <a:buChar char="•"/>
            </a:pPr>
            <a:r>
              <a:rPr lang="en-US" altLang="zh-CN" sz="2400" b="0">
                <a:ea typeface="宋体" panose="02010600030101010101" pitchFamily="2" charset="-122"/>
              </a:rPr>
              <a:t> 	</a:t>
            </a:r>
            <a:r>
              <a:rPr lang="en-US" altLang="zh-CN" sz="2400" b="0" u="sng">
                <a:ea typeface="宋体" panose="02010600030101010101" pitchFamily="2" charset="-122"/>
              </a:rPr>
              <a:t>Dynamic</a:t>
            </a:r>
            <a:r>
              <a:rPr lang="en-US" altLang="zh-CN" sz="2400" b="0">
                <a:ea typeface="宋体" panose="02010600030101010101" pitchFamily="2" charset="-122"/>
              </a:rPr>
              <a:t>: time dependent</a:t>
            </a:r>
          </a:p>
          <a:p>
            <a:pPr>
              <a:lnSpc>
                <a:spcPct val="120000"/>
              </a:lnSpc>
              <a:spcBef>
                <a:spcPct val="0"/>
              </a:spcBef>
              <a:spcAft>
                <a:spcPct val="0"/>
              </a:spcAft>
              <a:buFontTx/>
              <a:buNone/>
            </a:pPr>
            <a:endParaRPr lang="en-US" altLang="zh-CN" sz="2400" b="0">
              <a:ea typeface="宋体" panose="02010600030101010101" pitchFamily="2" charset="-122"/>
            </a:endParaRPr>
          </a:p>
          <a:p>
            <a:pPr>
              <a:lnSpc>
                <a:spcPct val="120000"/>
              </a:lnSpc>
              <a:spcBef>
                <a:spcPct val="0"/>
              </a:spcBef>
              <a:spcAft>
                <a:spcPct val="0"/>
              </a:spcAft>
              <a:buFontTx/>
              <a:buChar char="•"/>
            </a:pPr>
            <a:r>
              <a:rPr lang="en-US" altLang="zh-CN" sz="2400" b="0">
                <a:ea typeface="宋体" panose="02010600030101010101" pitchFamily="2" charset="-122"/>
              </a:rPr>
              <a:t> 	</a:t>
            </a:r>
            <a:r>
              <a:rPr lang="en-US" altLang="zh-CN" sz="2400" b="0" u="sng">
                <a:ea typeface="宋体" panose="02010600030101010101" pitchFamily="2" charset="-122"/>
              </a:rPr>
              <a:t>Local</a:t>
            </a:r>
            <a:r>
              <a:rPr lang="en-US" altLang="zh-CN" sz="2400" b="0">
                <a:ea typeface="宋体" panose="02010600030101010101" pitchFamily="2" charset="-122"/>
              </a:rPr>
              <a:t>: uses information about the queue where the job is waiting or machine where the job is queued</a:t>
            </a:r>
          </a:p>
          <a:p>
            <a:pPr>
              <a:lnSpc>
                <a:spcPct val="120000"/>
              </a:lnSpc>
              <a:spcBef>
                <a:spcPct val="0"/>
              </a:spcBef>
              <a:spcAft>
                <a:spcPct val="0"/>
              </a:spcAft>
              <a:buFontTx/>
              <a:buChar char="•"/>
            </a:pPr>
            <a:r>
              <a:rPr lang="en-US" altLang="zh-CN" sz="2400" b="0">
                <a:ea typeface="宋体" panose="02010600030101010101" pitchFamily="2" charset="-122"/>
              </a:rPr>
              <a:t> 	</a:t>
            </a:r>
            <a:r>
              <a:rPr lang="en-US" altLang="zh-CN" sz="2400" b="0" u="sng">
                <a:ea typeface="宋体" panose="02010600030101010101" pitchFamily="2" charset="-122"/>
              </a:rPr>
              <a:t>Global</a:t>
            </a:r>
            <a:r>
              <a:rPr lang="en-US" altLang="zh-CN" sz="2400" b="0">
                <a:ea typeface="宋体" panose="02010600030101010101" pitchFamily="2" charset="-122"/>
              </a:rPr>
              <a:t>:  uses information about other machines</a:t>
            </a:r>
            <a:br>
              <a:rPr lang="en-US" altLang="zh-CN" sz="2400" b="0">
                <a:ea typeface="宋体" panose="02010600030101010101" pitchFamily="2" charset="-122"/>
              </a:rPr>
            </a:br>
            <a:r>
              <a:rPr lang="en-US" altLang="zh-CN" sz="2400" b="0">
                <a:ea typeface="宋体" panose="02010600030101010101" pitchFamily="2" charset="-122"/>
              </a:rPr>
              <a:t>	(e.g. processing time of the jobs on the next machine on its route, or the current queue length)</a:t>
            </a:r>
          </a:p>
        </p:txBody>
      </p:sp>
      <p:sp>
        <p:nvSpPr>
          <p:cNvPr id="63492"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57200" y="152400"/>
            <a:ext cx="8305800" cy="533400"/>
          </a:xfrm>
        </p:spPr>
        <p:txBody>
          <a:bodyPr>
            <a:normAutofit fontScale="90000"/>
          </a:bodyPr>
          <a:lstStyle/>
          <a:p>
            <a:pPr eaLnBrk="1" hangingPunct="1">
              <a:defRPr/>
            </a:pPr>
            <a:r>
              <a:rPr kumimoji="0" lang="en-US" altLang="zh-CN" b="1" dirty="0">
                <a:latin typeface="Verdana" charset="0"/>
                <a:cs typeface="宋体" charset="0"/>
              </a:rPr>
              <a:t>Release/Due Date Related</a:t>
            </a:r>
          </a:p>
        </p:txBody>
      </p:sp>
      <p:sp>
        <p:nvSpPr>
          <p:cNvPr id="64515" name="Rectangle 3"/>
          <p:cNvSpPr>
            <a:spLocks noGrp="1" noChangeArrowheads="1"/>
          </p:cNvSpPr>
          <p:nvPr>
            <p:ph type="body" idx="1"/>
          </p:nvPr>
        </p:nvSpPr>
        <p:spPr/>
        <p:txBody>
          <a:bodyPr/>
          <a:lstStyle/>
          <a:p>
            <a:pPr marL="0" indent="0" eaLnBrk="1" hangingPunct="1"/>
            <a:r>
              <a:rPr lang="en-US" altLang="zh-CN">
                <a:latin typeface="Verdana" panose="020B0604030504040204" pitchFamily="34" charset="0"/>
                <a:ea typeface="宋体" panose="02010600030101010101" pitchFamily="2" charset="-122"/>
              </a:rPr>
              <a:t>Earliest release date first (ERD) rule</a:t>
            </a:r>
          </a:p>
          <a:p>
            <a:pPr lvl="1" eaLnBrk="1" hangingPunct="1"/>
            <a:r>
              <a:rPr kumimoji="0" lang="en-US" altLang="zh-CN">
                <a:ea typeface="宋体" panose="02010600030101010101" pitchFamily="2" charset="-122"/>
              </a:rPr>
              <a:t>Variance in throughput times (flow times)</a:t>
            </a:r>
          </a:p>
          <a:p>
            <a:pPr marL="0" indent="0" eaLnBrk="1" hangingPunct="1"/>
            <a:r>
              <a:rPr lang="en-US" altLang="zh-CN">
                <a:latin typeface="Verdana" panose="020B0604030504040204" pitchFamily="34" charset="0"/>
                <a:ea typeface="宋体" panose="02010600030101010101" pitchFamily="2" charset="-122"/>
              </a:rPr>
              <a:t>Earliest due date first (EDD) rule</a:t>
            </a:r>
          </a:p>
          <a:p>
            <a:pPr lvl="1" eaLnBrk="1" hangingPunct="1"/>
            <a:r>
              <a:rPr kumimoji="0" lang="en-US" altLang="zh-CN">
                <a:ea typeface="宋体" panose="02010600030101010101" pitchFamily="2" charset="-122"/>
              </a:rPr>
              <a:t>Maximum lateness</a:t>
            </a:r>
          </a:p>
          <a:p>
            <a:pPr marL="0" indent="0" eaLnBrk="1" hangingPunct="1"/>
            <a:r>
              <a:rPr lang="en-US" altLang="zh-CN">
                <a:latin typeface="Verdana" panose="020B0604030504040204" pitchFamily="34" charset="0"/>
                <a:ea typeface="宋体" panose="02010600030101010101" pitchFamily="2" charset="-122"/>
              </a:rPr>
              <a:t>Critical Ratio (CR) rule</a:t>
            </a:r>
          </a:p>
          <a:p>
            <a:pPr lvl="1" eaLnBrk="1" hangingPunct="1"/>
            <a:r>
              <a:rPr kumimoji="0" lang="en-US" altLang="zh-CN">
                <a:ea typeface="宋体" panose="02010600030101010101" pitchFamily="2" charset="-122"/>
              </a:rPr>
              <a:t>Maximum lateness</a:t>
            </a:r>
          </a:p>
          <a:p>
            <a:pPr lvl="1" eaLnBrk="1" hangingPunct="1">
              <a:buFont typeface="Wingdings" panose="05000000000000000000" pitchFamily="2" charset="2"/>
              <a:buNone/>
            </a:pPr>
            <a:r>
              <a:rPr kumimoji="0" lang="en-US" altLang="zh-CN">
                <a:ea typeface="宋体" panose="02010600030101010101" pitchFamily="2" charset="-122"/>
              </a:rPr>
              <a:t>                          </a:t>
            </a:r>
            <a:r>
              <a:rPr kumimoji="0" lang="en-US" altLang="zh-CN" sz="2400">
                <a:latin typeface="Times New Roman" panose="02020603050405020304" pitchFamily="18" charset="0"/>
                <a:ea typeface="宋体" panose="02010600030101010101" pitchFamily="2" charset="-122"/>
              </a:rPr>
              <a:t>min{(d</a:t>
            </a:r>
            <a:r>
              <a:rPr kumimoji="0" lang="en-US" altLang="zh-CN" sz="2400" baseline="-25000">
                <a:latin typeface="Times New Roman" panose="02020603050405020304" pitchFamily="18" charset="0"/>
                <a:ea typeface="宋体" panose="02010600030101010101" pitchFamily="2" charset="-122"/>
              </a:rPr>
              <a:t>j</a:t>
            </a:r>
            <a:r>
              <a:rPr kumimoji="0" lang="en-US" altLang="zh-CN" sz="2400">
                <a:latin typeface="Times New Roman" panose="02020603050405020304" pitchFamily="18" charset="0"/>
                <a:ea typeface="宋体" panose="02010600030101010101" pitchFamily="2" charset="-122"/>
              </a:rPr>
              <a:t>-t)/rp</a:t>
            </a:r>
            <a:r>
              <a:rPr kumimoji="0" lang="en-US" altLang="zh-CN" sz="2400" baseline="-25000">
                <a:latin typeface="Times New Roman" panose="02020603050405020304" pitchFamily="18" charset="0"/>
                <a:ea typeface="宋体" panose="02010600030101010101" pitchFamily="2" charset="-122"/>
              </a:rPr>
              <a:t>j</a:t>
            </a:r>
            <a:r>
              <a:rPr kumimoji="0" lang="en-US" altLang="zh-CN" sz="2400">
                <a:latin typeface="Times New Roman" panose="02020603050405020304" pitchFamily="18" charset="0"/>
                <a:ea typeface="宋体" panose="02010600030101010101" pitchFamily="2" charset="-122"/>
              </a:rPr>
              <a:t>}</a:t>
            </a:r>
          </a:p>
          <a:p>
            <a:pPr marL="0" indent="0" eaLnBrk="1" hangingPunct="1"/>
            <a:r>
              <a:rPr lang="en-US" altLang="zh-CN">
                <a:latin typeface="Verdana" panose="020B0604030504040204" pitchFamily="34" charset="0"/>
                <a:ea typeface="宋体" panose="02010600030101010101" pitchFamily="2" charset="-122"/>
              </a:rPr>
              <a:t>Minimum slack first (MS) rule</a:t>
            </a:r>
          </a:p>
          <a:p>
            <a:pPr lvl="1" eaLnBrk="1" hangingPunct="1"/>
            <a:r>
              <a:rPr kumimoji="0" lang="en-US" altLang="zh-CN">
                <a:ea typeface="宋体" panose="02010600030101010101" pitchFamily="2" charset="-122"/>
              </a:rPr>
              <a:t>Maximum lateness</a:t>
            </a:r>
          </a:p>
        </p:txBody>
      </p:sp>
      <p:graphicFrame>
        <p:nvGraphicFramePr>
          <p:cNvPr id="64516" name="Object 4"/>
          <p:cNvGraphicFramePr>
            <a:graphicFrameLocks noChangeAspect="1"/>
          </p:cNvGraphicFramePr>
          <p:nvPr/>
        </p:nvGraphicFramePr>
        <p:xfrm>
          <a:off x="3444875" y="5046663"/>
          <a:ext cx="2738438" cy="636587"/>
        </p:xfrm>
        <a:graphic>
          <a:graphicData uri="http://schemas.openxmlformats.org/presentationml/2006/ole">
            <mc:AlternateContent xmlns:mc="http://schemas.openxmlformats.org/markup-compatibility/2006">
              <mc:Choice xmlns:v="urn:schemas-microsoft-com:vml" Requires="v">
                <p:oleObj spid="_x0000_s64562" name="公式" r:id="rId3" imgW="1193800" imgH="279400" progId="Equation.3">
                  <p:embed/>
                </p:oleObj>
              </mc:Choice>
              <mc:Fallback>
                <p:oleObj name="公式" r:id="rId3" imgW="1193800" imgH="279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875" y="5046663"/>
                        <a:ext cx="2738438" cy="6365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4517" name="Rectangle 5"/>
          <p:cNvSpPr>
            <a:spLocks noChangeArrowheads="1"/>
          </p:cNvSpPr>
          <p:nvPr/>
        </p:nvSpPr>
        <p:spPr bwMode="auto">
          <a:xfrm>
            <a:off x="7556500" y="4267200"/>
            <a:ext cx="914400" cy="914400"/>
          </a:xfrm>
          <a:prstGeom prst="rect">
            <a:avLst/>
          </a:prstGeom>
          <a:solidFill>
            <a:srgbClr val="FFFFCC"/>
          </a:solidFill>
          <a:ln w="25400">
            <a:solidFill>
              <a:schemeClr val="tx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Current</a:t>
            </a:r>
          </a:p>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Time</a:t>
            </a:r>
          </a:p>
        </p:txBody>
      </p:sp>
      <p:sp>
        <p:nvSpPr>
          <p:cNvPr id="64518" name="Rectangle 6"/>
          <p:cNvSpPr>
            <a:spLocks noChangeArrowheads="1"/>
          </p:cNvSpPr>
          <p:nvPr/>
        </p:nvSpPr>
        <p:spPr bwMode="auto">
          <a:xfrm>
            <a:off x="6567488" y="5715000"/>
            <a:ext cx="1065212" cy="914400"/>
          </a:xfrm>
          <a:prstGeom prst="rect">
            <a:avLst/>
          </a:prstGeom>
          <a:solidFill>
            <a:srgbClr val="FFFFCC"/>
          </a:solidFill>
          <a:ln w="25400">
            <a:solidFill>
              <a:schemeClr val="tx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Processing</a:t>
            </a:r>
          </a:p>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Time</a:t>
            </a:r>
          </a:p>
        </p:txBody>
      </p:sp>
      <p:sp>
        <p:nvSpPr>
          <p:cNvPr id="64519" name="Line 7"/>
          <p:cNvSpPr>
            <a:spLocks noChangeShapeType="1"/>
          </p:cNvSpPr>
          <p:nvPr/>
        </p:nvSpPr>
        <p:spPr bwMode="auto">
          <a:xfrm>
            <a:off x="5653088" y="4819650"/>
            <a:ext cx="0" cy="22860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0" name="Line 8"/>
          <p:cNvSpPr>
            <a:spLocks noChangeShapeType="1"/>
          </p:cNvSpPr>
          <p:nvPr/>
        </p:nvSpPr>
        <p:spPr bwMode="auto">
          <a:xfrm>
            <a:off x="5653088" y="4819650"/>
            <a:ext cx="1903412" cy="0"/>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1" name="Line 9"/>
          <p:cNvSpPr>
            <a:spLocks noChangeShapeType="1"/>
          </p:cNvSpPr>
          <p:nvPr/>
        </p:nvSpPr>
        <p:spPr bwMode="auto">
          <a:xfrm flipH="1" flipV="1">
            <a:off x="5135563" y="5715000"/>
            <a:ext cx="1431925" cy="53340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2" name="Rectangle 10"/>
          <p:cNvSpPr>
            <a:spLocks noChangeArrowheads="1"/>
          </p:cNvSpPr>
          <p:nvPr/>
        </p:nvSpPr>
        <p:spPr bwMode="auto">
          <a:xfrm>
            <a:off x="2603500" y="6172200"/>
            <a:ext cx="914400" cy="533400"/>
          </a:xfrm>
          <a:prstGeom prst="rect">
            <a:avLst/>
          </a:prstGeom>
          <a:solidFill>
            <a:srgbClr val="FFFFCC"/>
          </a:solidFill>
          <a:ln w="25400">
            <a:solidFill>
              <a:schemeClr val="tx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Due date</a:t>
            </a:r>
          </a:p>
        </p:txBody>
      </p:sp>
      <p:sp>
        <p:nvSpPr>
          <p:cNvPr id="64523" name="Line 11"/>
          <p:cNvSpPr>
            <a:spLocks noChangeShapeType="1"/>
          </p:cNvSpPr>
          <p:nvPr/>
        </p:nvSpPr>
        <p:spPr bwMode="auto">
          <a:xfrm flipV="1">
            <a:off x="4424363" y="5648325"/>
            <a:ext cx="0" cy="762000"/>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4" name="Line 12"/>
          <p:cNvSpPr>
            <a:spLocks noChangeShapeType="1"/>
          </p:cNvSpPr>
          <p:nvPr/>
        </p:nvSpPr>
        <p:spPr bwMode="auto">
          <a:xfrm flipH="1">
            <a:off x="3517900" y="6400800"/>
            <a:ext cx="914400" cy="0"/>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4525" name="Group 16"/>
          <p:cNvGrpSpPr>
            <a:grpSpLocks/>
          </p:cNvGrpSpPr>
          <p:nvPr/>
        </p:nvGrpSpPr>
        <p:grpSpPr bwMode="auto">
          <a:xfrm>
            <a:off x="4267200" y="2438400"/>
            <a:ext cx="1827213" cy="914400"/>
            <a:chOff x="3072" y="1776"/>
            <a:chExt cx="1151" cy="576"/>
          </a:xfrm>
        </p:grpSpPr>
        <p:sp>
          <p:nvSpPr>
            <p:cNvPr id="64527" name="Rectangle 13"/>
            <p:cNvSpPr>
              <a:spLocks noChangeArrowheads="1"/>
            </p:cNvSpPr>
            <p:nvPr/>
          </p:nvSpPr>
          <p:spPr bwMode="auto">
            <a:xfrm>
              <a:off x="3552" y="1776"/>
              <a:ext cx="671" cy="576"/>
            </a:xfrm>
            <a:prstGeom prst="rect">
              <a:avLst/>
            </a:prstGeom>
            <a:solidFill>
              <a:srgbClr val="FFFFCC"/>
            </a:solidFill>
            <a:ln w="25400">
              <a:solidFill>
                <a:schemeClr val="tx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Remaining</a:t>
              </a:r>
            </a:p>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Processing</a:t>
              </a:r>
            </a:p>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Time</a:t>
              </a:r>
            </a:p>
          </p:txBody>
        </p:sp>
        <p:sp>
          <p:nvSpPr>
            <p:cNvPr id="64528" name="Line 14"/>
            <p:cNvSpPr>
              <a:spLocks noChangeShapeType="1"/>
            </p:cNvSpPr>
            <p:nvPr/>
          </p:nvSpPr>
          <p:spPr bwMode="auto">
            <a:xfrm>
              <a:off x="3072" y="2064"/>
              <a:ext cx="479" cy="0"/>
            </a:xfrm>
            <a:prstGeom prst="line">
              <a:avLst/>
            </a:prstGeom>
            <a:noFill/>
            <a:ln w="254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529" name="Line 15"/>
            <p:cNvSpPr>
              <a:spLocks noChangeShapeType="1"/>
            </p:cNvSpPr>
            <p:nvPr/>
          </p:nvSpPr>
          <p:spPr bwMode="auto">
            <a:xfrm>
              <a:off x="3072" y="2064"/>
              <a:ext cx="0" cy="288"/>
            </a:xfrm>
            <a:prstGeom prst="line">
              <a:avLst/>
            </a:prstGeom>
            <a:noFill/>
            <a:ln w="254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452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457200" y="152400"/>
            <a:ext cx="8153400" cy="533400"/>
          </a:xfrm>
        </p:spPr>
        <p:txBody>
          <a:bodyPr>
            <a:normAutofit fontScale="90000"/>
          </a:bodyPr>
          <a:lstStyle/>
          <a:p>
            <a:pPr eaLnBrk="1" hangingPunct="1">
              <a:defRPr/>
            </a:pPr>
            <a:r>
              <a:rPr kumimoji="0" lang="en-US" altLang="zh-CN" b="1" dirty="0">
                <a:latin typeface="Verdana" charset="0"/>
                <a:cs typeface="宋体" charset="0"/>
              </a:rPr>
              <a:t>Processing Time Related</a:t>
            </a:r>
          </a:p>
        </p:txBody>
      </p:sp>
      <p:sp>
        <p:nvSpPr>
          <p:cNvPr id="65539" name="Rectangle 3"/>
          <p:cNvSpPr>
            <a:spLocks noGrp="1" noChangeArrowheads="1"/>
          </p:cNvSpPr>
          <p:nvPr>
            <p:ph type="body" idx="1"/>
          </p:nvPr>
        </p:nvSpPr>
        <p:spPr/>
        <p:txBody>
          <a:bodyPr/>
          <a:lstStyle/>
          <a:p>
            <a:pPr marL="0" indent="0" eaLnBrk="1" hangingPunct="1"/>
            <a:r>
              <a:rPr lang="en-US" altLang="zh-CN" sz="2400">
                <a:latin typeface="Verdana" panose="020B0604030504040204" pitchFamily="34" charset="0"/>
                <a:ea typeface="宋体" panose="02010600030101010101" pitchFamily="2" charset="-122"/>
              </a:rPr>
              <a:t>Longest Processing Time first (LPT) rule</a:t>
            </a:r>
          </a:p>
          <a:p>
            <a:pPr lvl="1" eaLnBrk="1" hangingPunct="1"/>
            <a:r>
              <a:rPr kumimoji="0" lang="en-US" altLang="zh-CN" sz="2400">
                <a:ea typeface="宋体" panose="02010600030101010101" pitchFamily="2" charset="-122"/>
              </a:rPr>
              <a:t>balance load on parallel machines</a:t>
            </a:r>
          </a:p>
          <a:p>
            <a:pPr lvl="1" eaLnBrk="1" hangingPunct="1"/>
            <a:r>
              <a:rPr kumimoji="0" lang="en-US" altLang="zh-CN" sz="2400">
                <a:ea typeface="宋体" panose="02010600030101010101" pitchFamily="2" charset="-122"/>
              </a:rPr>
              <a:t>makespan</a:t>
            </a:r>
          </a:p>
          <a:p>
            <a:pPr marL="0" indent="0" eaLnBrk="1" hangingPunct="1"/>
            <a:r>
              <a:rPr lang="en-US" altLang="zh-CN" sz="2400">
                <a:latin typeface="Verdana" panose="020B0604030504040204" pitchFamily="34" charset="0"/>
                <a:ea typeface="宋体" panose="02010600030101010101" pitchFamily="2" charset="-122"/>
              </a:rPr>
              <a:t>Shortest Processing Time first (SPT) rule</a:t>
            </a:r>
          </a:p>
          <a:p>
            <a:pPr lvl="1" eaLnBrk="1" hangingPunct="1"/>
            <a:r>
              <a:rPr kumimoji="0" lang="en-US" altLang="zh-CN" sz="2400">
                <a:ea typeface="宋体" panose="02010600030101010101" pitchFamily="2" charset="-122"/>
              </a:rPr>
              <a:t>sum of completion times</a:t>
            </a:r>
          </a:p>
          <a:p>
            <a:pPr lvl="1" eaLnBrk="1" hangingPunct="1"/>
            <a:r>
              <a:rPr kumimoji="0" lang="en-US" altLang="zh-CN" sz="2400">
                <a:ea typeface="宋体" panose="02010600030101010101" pitchFamily="2" charset="-122"/>
              </a:rPr>
              <a:t>WIP</a:t>
            </a:r>
          </a:p>
          <a:p>
            <a:pPr marL="0" indent="0" eaLnBrk="1" hangingPunct="1"/>
            <a:r>
              <a:rPr lang="en-US" altLang="zh-CN" sz="2400">
                <a:latin typeface="Verdana" panose="020B0604030504040204" pitchFamily="34" charset="0"/>
                <a:ea typeface="宋体" panose="02010600030101010101" pitchFamily="2" charset="-122"/>
              </a:rPr>
              <a:t>Weighted Shortest Processing Time first (WSPT) rule</a:t>
            </a:r>
          </a:p>
        </p:txBody>
      </p:sp>
      <p:sp>
        <p:nvSpPr>
          <p:cNvPr id="6554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457200" y="152400"/>
            <a:ext cx="8001000" cy="533400"/>
          </a:xfrm>
        </p:spPr>
        <p:txBody>
          <a:bodyPr>
            <a:normAutofit fontScale="90000"/>
          </a:bodyPr>
          <a:lstStyle/>
          <a:p>
            <a:pPr eaLnBrk="1" hangingPunct="1">
              <a:defRPr/>
            </a:pPr>
            <a:r>
              <a:rPr kumimoji="0" lang="en-US" altLang="zh-CN" b="1" dirty="0">
                <a:latin typeface="Verdana" charset="0"/>
                <a:cs typeface="宋体" charset="0"/>
              </a:rPr>
              <a:t>Other Dispatching Rules</a:t>
            </a:r>
          </a:p>
        </p:txBody>
      </p:sp>
      <p:sp>
        <p:nvSpPr>
          <p:cNvPr id="66563" name="Rectangle 3"/>
          <p:cNvSpPr>
            <a:spLocks noGrp="1" noChangeArrowheads="1"/>
          </p:cNvSpPr>
          <p:nvPr>
            <p:ph type="body" idx="1"/>
          </p:nvPr>
        </p:nvSpPr>
        <p:spPr/>
        <p:txBody>
          <a:bodyPr/>
          <a:lstStyle/>
          <a:p>
            <a:pPr marL="0" indent="0" eaLnBrk="1" hangingPunct="1"/>
            <a:r>
              <a:rPr lang="en-US" altLang="zh-CN" sz="2400">
                <a:latin typeface="Verdana" panose="020B0604030504040204" pitchFamily="34" charset="0"/>
                <a:ea typeface="宋体" panose="02010600030101010101" pitchFamily="2" charset="-122"/>
              </a:rPr>
              <a:t>Service in Random Order (SIRO) rule</a:t>
            </a:r>
          </a:p>
          <a:p>
            <a:pPr marL="0" indent="0" eaLnBrk="1" hangingPunct="1"/>
            <a:r>
              <a:rPr lang="en-US" altLang="zh-CN" sz="2400">
                <a:latin typeface="Verdana" panose="020B0604030504040204" pitchFamily="34" charset="0"/>
                <a:ea typeface="宋体" panose="02010600030101010101" pitchFamily="2" charset="-122"/>
              </a:rPr>
              <a:t>First In First Out (FIFO)</a:t>
            </a:r>
          </a:p>
          <a:p>
            <a:pPr marL="0" indent="0" eaLnBrk="1" hangingPunct="1"/>
            <a:r>
              <a:rPr lang="en-US" altLang="zh-CN" sz="2400">
                <a:latin typeface="Verdana" panose="020B0604030504040204" pitchFamily="34" charset="0"/>
                <a:ea typeface="宋体" panose="02010600030101010101" pitchFamily="2" charset="-122"/>
              </a:rPr>
              <a:t>Shortest Setup Time first (SST) rule</a:t>
            </a:r>
          </a:p>
          <a:p>
            <a:pPr lvl="1" eaLnBrk="1" hangingPunct="1"/>
            <a:r>
              <a:rPr kumimoji="0" lang="en-US" altLang="zh-CN" sz="2400">
                <a:ea typeface="宋体" panose="02010600030101010101" pitchFamily="2" charset="-122"/>
              </a:rPr>
              <a:t>makespan and throughput</a:t>
            </a:r>
          </a:p>
          <a:p>
            <a:pPr marL="0" indent="0" eaLnBrk="1" hangingPunct="1"/>
            <a:r>
              <a:rPr lang="en-US" altLang="zh-CN" sz="2400">
                <a:latin typeface="Verdana" panose="020B0604030504040204" pitchFamily="34" charset="0"/>
                <a:ea typeface="宋体" panose="02010600030101010101" pitchFamily="2" charset="-122"/>
              </a:rPr>
              <a:t>Least Flexible Job first (LFJ) rule</a:t>
            </a:r>
          </a:p>
          <a:p>
            <a:pPr lvl="1" eaLnBrk="1" hangingPunct="1"/>
            <a:r>
              <a:rPr kumimoji="0" lang="en-US" altLang="zh-CN" sz="2400">
                <a:ea typeface="宋体" panose="02010600030101010101" pitchFamily="2" charset="-122"/>
              </a:rPr>
              <a:t>makespan and throughput</a:t>
            </a:r>
          </a:p>
          <a:p>
            <a:pPr marL="0" indent="0" eaLnBrk="1" hangingPunct="1"/>
            <a:r>
              <a:rPr lang="en-US" altLang="zh-CN" sz="2400">
                <a:latin typeface="Verdana" panose="020B0604030504040204" pitchFamily="34" charset="0"/>
                <a:ea typeface="宋体" panose="02010600030101010101" pitchFamily="2" charset="-122"/>
              </a:rPr>
              <a:t>Shortest Queue at the Next Operation (SQNO) rule</a:t>
            </a:r>
          </a:p>
          <a:p>
            <a:pPr lvl="1" eaLnBrk="1" hangingPunct="1"/>
            <a:r>
              <a:rPr kumimoji="0" lang="en-US" altLang="zh-CN" sz="2400">
                <a:ea typeface="宋体" panose="02010600030101010101" pitchFamily="2" charset="-122"/>
              </a:rPr>
              <a:t>machine idleness</a:t>
            </a:r>
          </a:p>
        </p:txBody>
      </p:sp>
      <p:sp>
        <p:nvSpPr>
          <p:cNvPr id="6656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7586" name="Object 2"/>
          <p:cNvGraphicFramePr>
            <a:graphicFrameLocks noChangeAspect="1"/>
          </p:cNvGraphicFramePr>
          <p:nvPr/>
        </p:nvGraphicFramePr>
        <p:xfrm>
          <a:off x="465138" y="231775"/>
          <a:ext cx="12684125" cy="9623425"/>
        </p:xfrm>
        <a:graphic>
          <a:graphicData uri="http://schemas.openxmlformats.org/presentationml/2006/ole">
            <mc:AlternateContent xmlns:mc="http://schemas.openxmlformats.org/markup-compatibility/2006">
              <mc:Choice xmlns:v="urn:schemas-microsoft-com:vml" Requires="v">
                <p:oleObj spid="_x0000_s67620" name="文档" r:id="rId3" imgW="8369300" imgH="6311900" progId="Word.Document.8">
                  <p:embed/>
                </p:oleObj>
              </mc:Choice>
              <mc:Fallback>
                <p:oleObj name="文档" r:id="rId3" imgW="8369300" imgH="6311900" progId="Word.Documen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138" y="231775"/>
                        <a:ext cx="12684125" cy="962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7587" name="页脚占位符 1"/>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Single Machine Example</a:t>
            </a:r>
          </a:p>
        </p:txBody>
      </p:sp>
      <p:pic>
        <p:nvPicPr>
          <p:cNvPr id="6861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010400" cy="2503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733800"/>
            <a:ext cx="8001000" cy="290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152400" y="152400"/>
            <a:ext cx="8382000" cy="533400"/>
          </a:xfrm>
        </p:spPr>
        <p:txBody>
          <a:bodyPr>
            <a:normAutofit fontScale="90000"/>
          </a:bodyPr>
          <a:lstStyle/>
          <a:p>
            <a:pPr eaLnBrk="1" hangingPunct="1">
              <a:defRPr/>
            </a:pPr>
            <a:r>
              <a:rPr kumimoji="0" lang="en-US" altLang="zh-CN" b="1" dirty="0">
                <a:latin typeface="Verdana" charset="0"/>
                <a:cs typeface="宋体" charset="0"/>
              </a:rPr>
              <a:t>Rules using Local Information</a:t>
            </a:r>
          </a:p>
        </p:txBody>
      </p:sp>
      <p:sp>
        <p:nvSpPr>
          <p:cNvPr id="69635" name="Rectangle 3"/>
          <p:cNvSpPr>
            <a:spLocks noGrp="1" noChangeArrowheads="1"/>
          </p:cNvSpPr>
          <p:nvPr>
            <p:ph type="body" idx="1"/>
          </p:nvPr>
        </p:nvSpPr>
        <p:spPr/>
        <p:txBody>
          <a:bodyPr/>
          <a:lstStyle/>
          <a:p>
            <a:pPr marL="0" indent="0" eaLnBrk="1" hangingPunct="1">
              <a:buFont typeface="Wingdings" panose="05000000000000000000" pitchFamily="2" charset="2"/>
              <a:buNone/>
            </a:pPr>
            <a:r>
              <a:rPr lang="en-US" altLang="zh-CN" sz="1800">
                <a:latin typeface="Verdana" panose="020B0604030504040204" pitchFamily="34" charset="0"/>
                <a:ea typeface="宋体" panose="02010600030101010101" pitchFamily="2" charset="-122"/>
              </a:rPr>
              <a:t>Example: Single machine case</a:t>
            </a:r>
            <a:endParaRPr lang="en-US" altLang="zh-CN" b="0" i="1">
              <a:latin typeface="Verdana" panose="020B0604030504040204" pitchFamily="34" charset="0"/>
              <a:ea typeface="宋体" panose="02010600030101010101" pitchFamily="2" charset="-122"/>
            </a:endParaRPr>
          </a:p>
        </p:txBody>
      </p:sp>
      <p:pic>
        <p:nvPicPr>
          <p:cNvPr id="696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76400"/>
            <a:ext cx="32766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895600"/>
            <a:ext cx="45720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4573588"/>
            <a:ext cx="4648200"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5000" y="4495800"/>
            <a:ext cx="2743200" cy="173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2819400"/>
            <a:ext cx="2819400"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1"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457200" y="122238"/>
            <a:ext cx="8153400" cy="563562"/>
          </a:xfrm>
        </p:spPr>
        <p:txBody>
          <a:bodyPr>
            <a:normAutofit fontScale="90000"/>
          </a:bodyPr>
          <a:lstStyle/>
          <a:p>
            <a:pPr eaLnBrk="1" hangingPunct="1">
              <a:defRPr/>
            </a:pPr>
            <a:r>
              <a:rPr kumimoji="0" lang="en-US" altLang="zh-CN" sz="2800" b="1" dirty="0">
                <a:latin typeface="Verdana" charset="0"/>
                <a:cs typeface="宋体" charset="0"/>
              </a:rPr>
              <a:t>Pros and Cons of Dispatching Rules</a:t>
            </a:r>
          </a:p>
        </p:txBody>
      </p:sp>
      <p:sp>
        <p:nvSpPr>
          <p:cNvPr id="70659" name="Rectangle 3"/>
          <p:cNvSpPr>
            <a:spLocks noGrp="1" noChangeArrowheads="1"/>
          </p:cNvSpPr>
          <p:nvPr>
            <p:ph type="body" idx="1"/>
          </p:nvPr>
        </p:nvSpPr>
        <p:spPr>
          <a:xfrm>
            <a:off x="457200" y="1066800"/>
            <a:ext cx="8229600" cy="5181600"/>
          </a:xfrm>
        </p:spPr>
        <p:txBody>
          <a:bodyPr/>
          <a:lstStyle/>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Advantages</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 Simple to implement</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 Can easily handle changing requirements by</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updating priorities</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Disadvantages</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 When task is popped, it is assigned to first</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available resource</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 If none available, it just waits, and nothing further</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can be done</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Thus, susceptible to bottlenecks</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 Doesn’t really set schedule times</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Can’t guarantee when things will get done</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 No look-ahead, so no optimization</a:t>
            </a:r>
          </a:p>
          <a:p>
            <a:pPr marL="0" indent="0" eaLnBrk="1" hangingPunct="1">
              <a:lnSpc>
                <a:spcPct val="80000"/>
              </a:lnSpc>
              <a:buFont typeface="Wingdings" panose="05000000000000000000" pitchFamily="2" charset="2"/>
              <a:buNone/>
            </a:pPr>
            <a:r>
              <a:rPr lang="en-US" altLang="zh-CN">
                <a:latin typeface="Verdana" panose="020B0604030504040204" pitchFamily="34" charset="0"/>
                <a:ea typeface="宋体" panose="02010600030101010101" pitchFamily="2" charset="-122"/>
              </a:rPr>
              <a:t>    – No capability for JIT</a:t>
            </a:r>
          </a:p>
        </p:txBody>
      </p:sp>
      <p:sp>
        <p:nvSpPr>
          <p:cNvPr id="7066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normAutofit fontScale="90000"/>
          </a:bodyPr>
          <a:lstStyle/>
          <a:p>
            <a:pPr eaLnBrk="1" hangingPunct="1">
              <a:defRPr/>
            </a:pPr>
            <a:r>
              <a:rPr kumimoji="0" lang="en-US" altLang="zh-CN" sz="2800" b="1" dirty="0">
                <a:latin typeface="Verdana" charset="0"/>
                <a:cs typeface="宋体" charset="0"/>
              </a:rPr>
              <a:t>Dispatching Rules (cont.)</a:t>
            </a:r>
          </a:p>
        </p:txBody>
      </p:sp>
      <p:sp>
        <p:nvSpPr>
          <p:cNvPr id="71683" name="Rectangle 3"/>
          <p:cNvSpPr>
            <a:spLocks noGrp="1" noChangeArrowheads="1"/>
          </p:cNvSpPr>
          <p:nvPr>
            <p:ph type="body" idx="1"/>
          </p:nvPr>
        </p:nvSpPr>
        <p:spPr/>
        <p:txBody>
          <a:bodyPr/>
          <a:lstStyle/>
          <a:p>
            <a:pPr marL="0" indent="0" eaLnBrk="1" hangingPunct="1">
              <a:buFont typeface="Wingdings" panose="05000000000000000000" pitchFamily="2" charset="2"/>
              <a:buNone/>
            </a:pPr>
            <a:r>
              <a:rPr lang="en-US" altLang="zh-CN" sz="2600">
                <a:latin typeface="Verdana" panose="020B0604030504040204" pitchFamily="34" charset="0"/>
                <a:ea typeface="宋体" panose="02010600030101010101" pitchFamily="2" charset="-122"/>
              </a:rPr>
              <a:t>• However</a:t>
            </a:r>
          </a:p>
          <a:p>
            <a:pPr marL="0" indent="0" eaLnBrk="1" hangingPunct="1">
              <a:buFont typeface="Wingdings" panose="05000000000000000000" pitchFamily="2" charset="2"/>
              <a:buNone/>
            </a:pPr>
            <a:r>
              <a:rPr lang="en-US" altLang="zh-CN" sz="2600">
                <a:latin typeface="Verdana" panose="020B0604030504040204" pitchFamily="34" charset="0"/>
                <a:ea typeface="宋体" panose="02010600030101010101" pitchFamily="2" charset="-122"/>
              </a:rPr>
              <a:t>– Much, if not most, real-world scheduling is done in this way</a:t>
            </a:r>
          </a:p>
          <a:p>
            <a:pPr marL="0" indent="0" eaLnBrk="1" hangingPunct="1">
              <a:buFont typeface="Wingdings" panose="05000000000000000000" pitchFamily="2" charset="2"/>
              <a:buNone/>
            </a:pPr>
            <a:r>
              <a:rPr lang="en-US" altLang="zh-CN" sz="2600">
                <a:latin typeface="Verdana" panose="020B0604030504040204" pitchFamily="34" charset="0"/>
                <a:ea typeface="宋体" panose="02010600030101010101" pitchFamily="2" charset="-122"/>
              </a:rPr>
              <a:t>– Manual scheduling is often done in this</a:t>
            </a:r>
          </a:p>
          <a:p>
            <a:pPr marL="0" indent="0" eaLnBrk="1" hangingPunct="1">
              <a:buFont typeface="Wingdings" panose="05000000000000000000" pitchFamily="2" charset="2"/>
              <a:buNone/>
            </a:pPr>
            <a:r>
              <a:rPr lang="en-US" altLang="zh-CN" sz="2600">
                <a:latin typeface="Verdana" panose="020B0604030504040204" pitchFamily="34" charset="0"/>
                <a:ea typeface="宋体" panose="02010600030101010101" pitchFamily="2" charset="-122"/>
              </a:rPr>
              <a:t>   way</a:t>
            </a:r>
          </a:p>
        </p:txBody>
      </p:sp>
      <p:sp>
        <p:nvSpPr>
          <p:cNvPr id="7168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Composite Dispatching Rules</a:t>
            </a:r>
          </a:p>
        </p:txBody>
      </p:sp>
      <p:sp>
        <p:nvSpPr>
          <p:cNvPr id="72707" name="Rectangle 3"/>
          <p:cNvSpPr>
            <a:spLocks noGrp="1" noChangeArrowheads="1"/>
          </p:cNvSpPr>
          <p:nvPr>
            <p:ph type="body" sz="half" idx="1"/>
          </p:nvPr>
        </p:nvSpPr>
        <p:spPr>
          <a:xfrm>
            <a:off x="457200" y="990600"/>
            <a:ext cx="8189913" cy="5410200"/>
          </a:xfrm>
        </p:spPr>
        <p:txBody>
          <a:bodyPr/>
          <a:lstStyle/>
          <a:p>
            <a:pPr marL="0" indent="0" eaLnBrk="1" hangingPunct="1"/>
            <a:r>
              <a:rPr lang="en-US" altLang="zh-CN" sz="2400">
                <a:latin typeface="Verdana" panose="020B0604030504040204" pitchFamily="34" charset="0"/>
                <a:ea typeface="宋体" panose="02010600030101010101" pitchFamily="2" charset="-122"/>
              </a:rPr>
              <a:t>Example:</a:t>
            </a:r>
          </a:p>
          <a:p>
            <a:pPr lvl="1" eaLnBrk="1" hangingPunct="1"/>
            <a:r>
              <a:rPr kumimoji="0" lang="en-US" altLang="zh-CN" sz="2400">
                <a:ea typeface="宋体" panose="02010600030101010101" pitchFamily="2" charset="-122"/>
              </a:rPr>
              <a:t>Single Machine with Weighted Total Tardiness</a:t>
            </a:r>
          </a:p>
          <a:p>
            <a:pPr lvl="1" eaLnBrk="1" hangingPunct="1"/>
            <a:endParaRPr kumimoji="0" lang="en-US" altLang="zh-CN" sz="2400">
              <a:ea typeface="宋体" panose="02010600030101010101" pitchFamily="2" charset="-122"/>
            </a:endParaRPr>
          </a:p>
          <a:p>
            <a:pPr lvl="1" eaLnBrk="1" hangingPunct="1"/>
            <a:endParaRPr kumimoji="0" lang="en-US" altLang="zh-CN" sz="2400">
              <a:ea typeface="宋体" panose="02010600030101010101" pitchFamily="2" charset="-122"/>
            </a:endParaRPr>
          </a:p>
          <a:p>
            <a:pPr lvl="1" eaLnBrk="1" hangingPunct="1"/>
            <a:r>
              <a:rPr kumimoji="0" lang="en-US" altLang="zh-CN" sz="2400">
                <a:ea typeface="宋体" panose="02010600030101010101" pitchFamily="2" charset="-122"/>
              </a:rPr>
              <a:t>No efficient algorithm (NP-Hard)</a:t>
            </a:r>
          </a:p>
          <a:p>
            <a:pPr lvl="1" eaLnBrk="1" hangingPunct="1"/>
            <a:r>
              <a:rPr kumimoji="0" lang="en-US" altLang="zh-CN" sz="2400">
                <a:ea typeface="宋体" panose="02010600030101010101" pitchFamily="2" charset="-122"/>
              </a:rPr>
              <a:t>Branch and bound can only solve very small problems (&lt;30 jobs)</a:t>
            </a: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r>
              <a:rPr lang="en-US" altLang="zh-CN" sz="2400">
                <a:latin typeface="Verdana" panose="020B0604030504040204" pitchFamily="34" charset="0"/>
                <a:ea typeface="宋体" panose="02010600030101010101" pitchFamily="2" charset="-122"/>
              </a:rPr>
              <a:t>Are there any special cases we can solve?</a:t>
            </a:r>
          </a:p>
          <a:p>
            <a:pPr lvl="1" eaLnBrk="1" hangingPunct="1">
              <a:buFont typeface="Wingdings" panose="05000000000000000000" pitchFamily="2" charset="2"/>
              <a:buNone/>
            </a:pPr>
            <a:endParaRPr kumimoji="0" lang="en-US" altLang="zh-CN" sz="2400">
              <a:ea typeface="宋体" panose="02010600030101010101" pitchFamily="2" charset="-122"/>
            </a:endParaRPr>
          </a:p>
        </p:txBody>
      </p:sp>
      <p:graphicFrame>
        <p:nvGraphicFramePr>
          <p:cNvPr id="72708" name="Object 4"/>
          <p:cNvGraphicFramePr>
            <a:graphicFrameLocks noGrp="1" noChangeAspect="1"/>
          </p:cNvGraphicFramePr>
          <p:nvPr>
            <p:ph sz="half" idx="2"/>
          </p:nvPr>
        </p:nvGraphicFramePr>
        <p:xfrm>
          <a:off x="1447800" y="2057400"/>
          <a:ext cx="1468438" cy="576263"/>
        </p:xfrm>
        <a:graphic>
          <a:graphicData uri="http://schemas.openxmlformats.org/presentationml/2006/ole">
            <mc:AlternateContent xmlns:mc="http://schemas.openxmlformats.org/markup-compatibility/2006">
              <mc:Choice xmlns:v="urn:schemas-microsoft-com:vml" Requires="v">
                <p:oleObj spid="_x0000_s72742" name="公式" r:id="rId3" imgW="672808" imgH="253890" progId="Equation.3">
                  <p:embed/>
                </p:oleObj>
              </mc:Choice>
              <mc:Fallback>
                <p:oleObj name="公式" r:id="rId3" imgW="672808" imgH="25389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057400"/>
                        <a:ext cx="1468438" cy="576263"/>
                      </a:xfrm>
                      <a:prstGeom prst="rect">
                        <a:avLst/>
                      </a:prstGeom>
                      <a:gradFill rotWithShape="0">
                        <a:gsLst>
                          <a:gs pos="0">
                            <a:srgbClr val="FF0000"/>
                          </a:gs>
                          <a:gs pos="100000">
                            <a:srgbClr val="FFFFFF"/>
                          </a:gs>
                        </a:gsLst>
                        <a:lin ang="5400000" scaled="1"/>
                      </a:gra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09"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defRPr/>
            </a:pPr>
            <a:r>
              <a:rPr kumimoji="0" lang="en-US" altLang="zh-CN" sz="2800" b="1" cap="none">
                <a:latin typeface="Verdana" pitchFamily="34" charset="0"/>
                <a:ea typeface="宋体" pitchFamily="2" charset="-122"/>
              </a:rPr>
              <a:t>Case 1: </a:t>
            </a:r>
            <a:r>
              <a:rPr kumimoji="0" lang="en-US" altLang="zh-CN" sz="2800" b="1" i="1" cap="none">
                <a:latin typeface="Verdana" pitchFamily="34" charset="0"/>
                <a:ea typeface="宋体" pitchFamily="2" charset="-122"/>
              </a:rPr>
              <a:t>Tight Deadlines</a:t>
            </a:r>
            <a:endParaRPr kumimoji="0" lang="en-US" altLang="zh-CN" sz="2800" b="1" cap="none">
              <a:latin typeface="Verdana" pitchFamily="34" charset="0"/>
              <a:ea typeface="宋体" pitchFamily="2" charset="-122"/>
            </a:endParaRPr>
          </a:p>
        </p:txBody>
      </p:sp>
      <p:sp>
        <p:nvSpPr>
          <p:cNvPr id="73731" name="Rectangle 3"/>
          <p:cNvSpPr>
            <a:spLocks noGrp="1" noChangeArrowheads="1"/>
          </p:cNvSpPr>
          <p:nvPr>
            <p:ph type="body" idx="1"/>
          </p:nvPr>
        </p:nvSpPr>
        <p:spPr/>
        <p:txBody>
          <a:bodyPr/>
          <a:lstStyle/>
          <a:p>
            <a:pPr marL="0" indent="0" eaLnBrk="1" hangingPunct="1"/>
            <a:r>
              <a:rPr lang="en-US" altLang="zh-CN">
                <a:latin typeface="Verdana" panose="020B0604030504040204" pitchFamily="34" charset="0"/>
                <a:ea typeface="宋体" panose="02010600030101010101" pitchFamily="2" charset="-122"/>
              </a:rPr>
              <a:t>Assume </a:t>
            </a:r>
            <a:r>
              <a:rPr lang="en-US" altLang="zh-CN" i="1">
                <a:latin typeface="Verdana" panose="020B0604030504040204" pitchFamily="34" charset="0"/>
                <a:ea typeface="宋体" panose="02010600030101010101" pitchFamily="2" charset="-122"/>
              </a:rPr>
              <a:t>d</a:t>
            </a:r>
            <a:r>
              <a:rPr lang="en-US" altLang="zh-CN" i="1" baseline="-25000">
                <a:latin typeface="Verdana" panose="020B0604030504040204" pitchFamily="34" charset="0"/>
                <a:ea typeface="宋体" panose="02010600030101010101" pitchFamily="2" charset="-122"/>
              </a:rPr>
              <a:t>j</a:t>
            </a:r>
            <a:r>
              <a:rPr lang="en-US" altLang="zh-CN">
                <a:latin typeface="Verdana" panose="020B0604030504040204" pitchFamily="34" charset="0"/>
                <a:ea typeface="宋体" panose="02010600030101010101" pitchFamily="2" charset="-122"/>
              </a:rPr>
              <a:t>=0 </a:t>
            </a:r>
          </a:p>
          <a:p>
            <a:pPr lvl="1" eaLnBrk="1" hangingPunct="1">
              <a:buFont typeface="Wingdings" panose="05000000000000000000" pitchFamily="2" charset="2"/>
              <a:buNone/>
            </a:pPr>
            <a:r>
              <a:rPr kumimoji="0" lang="en-US" altLang="zh-CN">
                <a:ea typeface="宋体" panose="02010600030101010101" pitchFamily="2" charset="-122"/>
              </a:rPr>
              <a:t>	Then</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r>
              <a:rPr lang="en-US" altLang="zh-CN">
                <a:latin typeface="Verdana" panose="020B0604030504040204" pitchFamily="34" charset="0"/>
                <a:ea typeface="宋体" panose="02010600030101010101" pitchFamily="2" charset="-122"/>
              </a:rPr>
              <a:t>We know that WSPT is optimal for this problem!</a:t>
            </a:r>
          </a:p>
        </p:txBody>
      </p:sp>
      <p:graphicFrame>
        <p:nvGraphicFramePr>
          <p:cNvPr id="73732" name="Object 4"/>
          <p:cNvGraphicFramePr>
            <a:graphicFrameLocks noChangeAspect="1"/>
          </p:cNvGraphicFramePr>
          <p:nvPr/>
        </p:nvGraphicFramePr>
        <p:xfrm>
          <a:off x="2514600" y="1447800"/>
          <a:ext cx="3581400" cy="1939925"/>
        </p:xfrm>
        <a:graphic>
          <a:graphicData uri="http://schemas.openxmlformats.org/presentationml/2006/ole">
            <mc:AlternateContent xmlns:mc="http://schemas.openxmlformats.org/markup-compatibility/2006">
              <mc:Choice xmlns:v="urn:schemas-microsoft-com:vml" Requires="v">
                <p:oleObj spid="_x0000_s73766" name="公式" r:id="rId3" imgW="1651000" imgH="825500" progId="Equation.3">
                  <p:embed/>
                </p:oleObj>
              </mc:Choice>
              <mc:Fallback>
                <p:oleObj name="公式" r:id="rId3" imgW="1651000" imgH="825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447800"/>
                        <a:ext cx="3581400" cy="19399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373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Case 2: Loose Deadlines</a:t>
            </a:r>
          </a:p>
        </p:txBody>
      </p:sp>
      <p:sp>
        <p:nvSpPr>
          <p:cNvPr id="74755" name="Rectangle 3"/>
          <p:cNvSpPr>
            <a:spLocks noGrp="1" noChangeArrowheads="1"/>
          </p:cNvSpPr>
          <p:nvPr>
            <p:ph type="body" idx="1"/>
          </p:nvPr>
        </p:nvSpPr>
        <p:spPr/>
        <p:txBody>
          <a:bodyPr/>
          <a:lstStyle/>
          <a:p>
            <a:pPr marL="0" indent="0" eaLnBrk="1" hangingPunct="1"/>
            <a:r>
              <a:rPr lang="en-US" altLang="zh-CN">
                <a:solidFill>
                  <a:srgbClr val="FF0000"/>
                </a:solidFill>
                <a:latin typeface="Verdana" panose="020B0604030504040204" pitchFamily="34" charset="0"/>
                <a:ea typeface="宋体" panose="02010600030101010101" pitchFamily="2" charset="-122"/>
              </a:rPr>
              <a:t>Theorem:</a:t>
            </a:r>
            <a:r>
              <a:rPr lang="en-US" altLang="zh-CN">
                <a:latin typeface="Verdana" panose="020B0604030504040204" pitchFamily="34" charset="0"/>
                <a:ea typeface="宋体" panose="02010600030101010101" pitchFamily="2" charset="-122"/>
              </a:rPr>
              <a:t> If the deadlines are sufficiently spread out then the MS rule</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	is optimal (proof a bit harder)</a:t>
            </a:r>
          </a:p>
          <a:p>
            <a:pPr marL="0" indent="0" eaLnBrk="1" hangingPunct="1">
              <a:buFont typeface="Wingdings" panose="05000000000000000000" pitchFamily="2" charset="2"/>
              <a:buNone/>
            </a:pPr>
            <a:endParaRPr lang="en-US" altLang="zh-CN">
              <a:latin typeface="Verdana" panose="020B0604030504040204" pitchFamily="34" charset="0"/>
              <a:ea typeface="宋体" panose="02010600030101010101" pitchFamily="2" charset="-122"/>
            </a:endParaRPr>
          </a:p>
          <a:p>
            <a:pPr marL="0" indent="0" eaLnBrk="1" hangingPunct="1"/>
            <a:r>
              <a:rPr lang="en-US" altLang="zh-CN">
                <a:solidFill>
                  <a:srgbClr val="FF0000"/>
                </a:solidFill>
                <a:latin typeface="Verdana" panose="020B0604030504040204" pitchFamily="34" charset="0"/>
                <a:ea typeface="宋体" panose="02010600030101010101" pitchFamily="2" charset="-122"/>
              </a:rPr>
              <a:t>Conclusion</a:t>
            </a:r>
            <a:r>
              <a:rPr lang="en-US" altLang="zh-CN">
                <a:latin typeface="Verdana" panose="020B0604030504040204" pitchFamily="34" charset="0"/>
                <a:ea typeface="宋体" panose="02010600030101010101" pitchFamily="2" charset="-122"/>
              </a:rPr>
              <a:t>: The MS rule should be a good heuristic whenever deadlines are widely spread out</a:t>
            </a:r>
          </a:p>
        </p:txBody>
      </p:sp>
      <p:graphicFrame>
        <p:nvGraphicFramePr>
          <p:cNvPr id="74756" name="Object 4"/>
          <p:cNvGraphicFramePr>
            <a:graphicFrameLocks noChangeAspect="1"/>
          </p:cNvGraphicFramePr>
          <p:nvPr/>
        </p:nvGraphicFramePr>
        <p:xfrm>
          <a:off x="1676400" y="1676400"/>
          <a:ext cx="5486400" cy="714375"/>
        </p:xfrm>
        <a:graphic>
          <a:graphicData uri="http://schemas.openxmlformats.org/presentationml/2006/ole">
            <mc:AlternateContent xmlns:mc="http://schemas.openxmlformats.org/markup-compatibility/2006">
              <mc:Choice xmlns:v="urn:schemas-microsoft-com:vml" Requires="v">
                <p:oleObj spid="_x0000_s74790" name="公式" r:id="rId3" imgW="2120900" imgH="279400" progId="Equation.3">
                  <p:embed/>
                </p:oleObj>
              </mc:Choice>
              <mc:Fallback>
                <p:oleObj name="公式" r:id="rId3" imgW="2120900" imgH="279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676400"/>
                        <a:ext cx="5486400" cy="7143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475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Composite Rule</a:t>
            </a:r>
          </a:p>
        </p:txBody>
      </p:sp>
      <p:sp>
        <p:nvSpPr>
          <p:cNvPr id="75779" name="Rectangle 3"/>
          <p:cNvSpPr>
            <a:spLocks noGrp="1" noChangeArrowheads="1"/>
          </p:cNvSpPr>
          <p:nvPr>
            <p:ph type="body" idx="1"/>
          </p:nvPr>
        </p:nvSpPr>
        <p:spPr/>
        <p:txBody>
          <a:bodyPr/>
          <a:lstStyle/>
          <a:p>
            <a:pPr marL="0" indent="0" eaLnBrk="1" hangingPunct="1"/>
            <a:r>
              <a:rPr lang="en-US" altLang="zh-CN" sz="2400">
                <a:latin typeface="Verdana" panose="020B0604030504040204" pitchFamily="34" charset="0"/>
                <a:ea typeface="宋体" panose="02010600030101010101" pitchFamily="2" charset="-122"/>
              </a:rPr>
              <a:t>Two good heuristics</a:t>
            </a:r>
          </a:p>
          <a:p>
            <a:pPr lvl="1" eaLnBrk="1" hangingPunct="1"/>
            <a:r>
              <a:rPr kumimoji="0" lang="en-US" altLang="zh-CN" sz="2400">
                <a:ea typeface="宋体" panose="02010600030101010101" pitchFamily="2" charset="-122"/>
              </a:rPr>
              <a:t>Weighted Shorted Processing Time (WSPT )</a:t>
            </a:r>
          </a:p>
          <a:p>
            <a:pPr lvl="2" eaLnBrk="1" hangingPunct="1"/>
            <a:r>
              <a:rPr kumimoji="0" lang="en-US" altLang="zh-CN" sz="2000">
                <a:ea typeface="宋体" panose="02010600030101010101" pitchFamily="2" charset="-122"/>
              </a:rPr>
              <a:t>Optimal with due dates zero</a:t>
            </a:r>
          </a:p>
          <a:p>
            <a:pPr lvl="1" eaLnBrk="1" hangingPunct="1"/>
            <a:r>
              <a:rPr kumimoji="0" lang="en-US" altLang="zh-CN" sz="2400">
                <a:ea typeface="宋体" panose="02010600030101010101" pitchFamily="2" charset="-122"/>
              </a:rPr>
              <a:t>Minimum Slack (MS)</a:t>
            </a:r>
          </a:p>
          <a:p>
            <a:pPr lvl="2" eaLnBrk="1" hangingPunct="1"/>
            <a:r>
              <a:rPr kumimoji="0" lang="en-US" altLang="zh-CN" sz="2000">
                <a:ea typeface="宋体" panose="02010600030101010101" pitchFamily="2" charset="-122"/>
              </a:rPr>
              <a:t>Optimal when due dates are “spread out”</a:t>
            </a:r>
          </a:p>
          <a:p>
            <a:pPr lvl="1" eaLnBrk="1" hangingPunct="1"/>
            <a:r>
              <a:rPr kumimoji="0" lang="en-US" altLang="zh-CN" sz="2400">
                <a:ea typeface="宋体" panose="02010600030101010101" pitchFamily="2" charset="-122"/>
              </a:rPr>
              <a:t>Any real problem is somewhere in between</a:t>
            </a:r>
          </a:p>
          <a:p>
            <a:pPr lvl="1" eaLnBrk="1" hangingPunct="1">
              <a:buFont typeface="Wingdings" panose="05000000000000000000" pitchFamily="2" charset="2"/>
              <a:buNone/>
            </a:pPr>
            <a:endParaRPr kumimoji="0" lang="en-US" altLang="zh-CN" sz="2400">
              <a:ea typeface="宋体" panose="02010600030101010101" pitchFamily="2" charset="-122"/>
            </a:endParaRPr>
          </a:p>
          <a:p>
            <a:pPr marL="0" indent="0" eaLnBrk="1" hangingPunct="1"/>
            <a:r>
              <a:rPr lang="en-US" altLang="zh-CN" sz="2400">
                <a:latin typeface="Verdana" panose="020B0604030504040204" pitchFamily="34" charset="0"/>
                <a:ea typeface="宋体" panose="02010600030101010101" pitchFamily="2" charset="-122"/>
              </a:rPr>
              <a:t>Combine the characteristics of these rules into one composite dispatching rule</a:t>
            </a:r>
          </a:p>
        </p:txBody>
      </p:sp>
      <p:sp>
        <p:nvSpPr>
          <p:cNvPr id="7578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457200" y="152400"/>
            <a:ext cx="8229600" cy="533400"/>
          </a:xfrm>
        </p:spPr>
        <p:txBody>
          <a:bodyPr>
            <a:noAutofit/>
          </a:bodyPr>
          <a:lstStyle/>
          <a:p>
            <a:pPr eaLnBrk="1" hangingPunct="1">
              <a:defRPr/>
            </a:pPr>
            <a:r>
              <a:rPr kumimoji="0" lang="en-US" altLang="zh-CN" sz="3200" b="1" dirty="0">
                <a:latin typeface="Verdana" charset="0"/>
                <a:cs typeface="宋体" charset="0"/>
              </a:rPr>
              <a:t>Apparent Tardiness Cost (ATC)</a:t>
            </a:r>
          </a:p>
        </p:txBody>
      </p:sp>
      <p:sp>
        <p:nvSpPr>
          <p:cNvPr id="76803" name="Rectangle 3"/>
          <p:cNvSpPr>
            <a:spLocks noGrp="1" noChangeArrowheads="1"/>
          </p:cNvSpPr>
          <p:nvPr>
            <p:ph type="body" idx="1"/>
          </p:nvPr>
        </p:nvSpPr>
        <p:spPr/>
        <p:txBody>
          <a:bodyPr/>
          <a:lstStyle/>
          <a:p>
            <a:pPr marL="0" indent="0" eaLnBrk="1" hangingPunct="1"/>
            <a:r>
              <a:rPr lang="en-US" altLang="zh-CN">
                <a:latin typeface="Verdana" panose="020B0604030504040204" pitchFamily="34" charset="0"/>
                <a:ea typeface="宋体" panose="02010600030101010101" pitchFamily="2" charset="-122"/>
              </a:rPr>
              <a:t>New ranking index</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r>
              <a:rPr lang="en-US" altLang="zh-CN">
                <a:latin typeface="Verdana" panose="020B0604030504040204" pitchFamily="34" charset="0"/>
                <a:ea typeface="宋体" panose="02010600030101010101" pitchFamily="2" charset="-122"/>
              </a:rPr>
              <a:t>When machine becomes free:</a:t>
            </a:r>
          </a:p>
          <a:p>
            <a:pPr lvl="1" eaLnBrk="1" hangingPunct="1"/>
            <a:r>
              <a:rPr kumimoji="0" lang="en-US" altLang="zh-CN">
                <a:ea typeface="宋体" panose="02010600030101010101" pitchFamily="2" charset="-122"/>
              </a:rPr>
              <a:t>Compute index for all remaining jobs</a:t>
            </a:r>
          </a:p>
          <a:p>
            <a:pPr lvl="1" eaLnBrk="1" hangingPunct="1"/>
            <a:r>
              <a:rPr kumimoji="0" lang="en-US" altLang="zh-CN">
                <a:ea typeface="宋体" panose="02010600030101010101" pitchFamily="2" charset="-122"/>
              </a:rPr>
              <a:t>Select job with highest value</a:t>
            </a:r>
          </a:p>
        </p:txBody>
      </p:sp>
      <p:graphicFrame>
        <p:nvGraphicFramePr>
          <p:cNvPr id="76804" name="Object 4"/>
          <p:cNvGraphicFramePr>
            <a:graphicFrameLocks noChangeAspect="1"/>
          </p:cNvGraphicFramePr>
          <p:nvPr/>
        </p:nvGraphicFramePr>
        <p:xfrm>
          <a:off x="1336675" y="1905000"/>
          <a:ext cx="4851400" cy="1119188"/>
        </p:xfrm>
        <a:graphic>
          <a:graphicData uri="http://schemas.openxmlformats.org/presentationml/2006/ole">
            <mc:AlternateContent xmlns:mc="http://schemas.openxmlformats.org/markup-compatibility/2006">
              <mc:Choice xmlns:v="urn:schemas-microsoft-com:vml" Requires="v">
                <p:oleObj spid="_x0000_s76840" name="公式" r:id="rId3" imgW="2413000" imgH="558800" progId="Equation.3">
                  <p:embed/>
                </p:oleObj>
              </mc:Choice>
              <mc:Fallback>
                <p:oleObj name="公式" r:id="rId3" imgW="2413000" imgH="558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6675" y="1905000"/>
                        <a:ext cx="4851400" cy="111918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6805" name="Rectangle 5"/>
          <p:cNvSpPr>
            <a:spLocks noChangeArrowheads="1"/>
          </p:cNvSpPr>
          <p:nvPr/>
        </p:nvSpPr>
        <p:spPr bwMode="auto">
          <a:xfrm>
            <a:off x="4191000" y="3200400"/>
            <a:ext cx="1751013" cy="381000"/>
          </a:xfrm>
          <a:prstGeom prst="rect">
            <a:avLst/>
          </a:prstGeom>
          <a:solidFill>
            <a:srgbClr val="FFFFCC"/>
          </a:solidFill>
          <a:ln w="25400">
            <a:solidFill>
              <a:schemeClr val="tx2"/>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1800" b="0">
                <a:latin typeface="Times New Roman" panose="02020603050405020304" pitchFamily="18" charset="0"/>
                <a:ea typeface="宋体" panose="02010600030101010101" pitchFamily="2" charset="-122"/>
              </a:rPr>
              <a:t>Scaling constant</a:t>
            </a:r>
            <a:endParaRPr lang="nl-NL" altLang="zh-CN" sz="1800" b="0">
              <a:latin typeface="Times New Roman" panose="02020603050405020304" pitchFamily="18" charset="0"/>
              <a:ea typeface="宋体" panose="02010600030101010101" pitchFamily="2" charset="-122"/>
            </a:endParaRPr>
          </a:p>
        </p:txBody>
      </p:sp>
      <p:sp>
        <p:nvSpPr>
          <p:cNvPr id="76806" name="Line 6"/>
          <p:cNvSpPr>
            <a:spLocks noChangeShapeType="1"/>
          </p:cNvSpPr>
          <p:nvPr/>
        </p:nvSpPr>
        <p:spPr bwMode="auto">
          <a:xfrm flipH="1" flipV="1">
            <a:off x="4495800" y="2895600"/>
            <a:ext cx="76200" cy="304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80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Special Cases</a:t>
            </a:r>
          </a:p>
        </p:txBody>
      </p:sp>
      <p:sp>
        <p:nvSpPr>
          <p:cNvPr id="77827" name="Rectangle 3"/>
          <p:cNvSpPr>
            <a:spLocks noGrp="1" noChangeArrowheads="1"/>
          </p:cNvSpPr>
          <p:nvPr>
            <p:ph type="body" idx="1"/>
          </p:nvPr>
        </p:nvSpPr>
        <p:spPr/>
        <p:txBody>
          <a:bodyPr/>
          <a:lstStyle/>
          <a:p>
            <a:pPr marL="0" indent="0" eaLnBrk="1" hangingPunct="1"/>
            <a:r>
              <a:rPr lang="en-US" altLang="zh-CN">
                <a:latin typeface="Verdana" panose="020B0604030504040204" pitchFamily="34" charset="0"/>
                <a:ea typeface="宋体" panose="02010600030101010101" pitchFamily="2" charset="-122"/>
              </a:rPr>
              <a:t>If K is very large:</a:t>
            </a:r>
          </a:p>
          <a:p>
            <a:pPr lvl="1" eaLnBrk="1" hangingPunct="1"/>
            <a:r>
              <a:rPr kumimoji="0" lang="en-US" altLang="zh-CN">
                <a:ea typeface="宋体" panose="02010600030101010101" pitchFamily="2" charset="-122"/>
              </a:rPr>
              <a:t>ATC reduces to WSPT</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r>
              <a:rPr lang="en-US" altLang="zh-CN">
                <a:latin typeface="Verdana" panose="020B0604030504040204" pitchFamily="34" charset="0"/>
                <a:ea typeface="宋体" panose="02010600030101010101" pitchFamily="2" charset="-122"/>
              </a:rPr>
              <a:t>If K is very small and no overdue jobs:</a:t>
            </a:r>
          </a:p>
          <a:p>
            <a:pPr lvl="1" eaLnBrk="1" hangingPunct="1"/>
            <a:r>
              <a:rPr kumimoji="0" lang="en-US" altLang="zh-CN">
                <a:ea typeface="宋体" panose="02010600030101010101" pitchFamily="2" charset="-122"/>
              </a:rPr>
              <a:t>ATC reduces to MS</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r>
              <a:rPr lang="en-US" altLang="zh-CN">
                <a:latin typeface="Verdana" panose="020B0604030504040204" pitchFamily="34" charset="0"/>
                <a:ea typeface="宋体" panose="02010600030101010101" pitchFamily="2" charset="-122"/>
              </a:rPr>
              <a:t>If K is very small and overdue jobs:</a:t>
            </a:r>
          </a:p>
          <a:p>
            <a:pPr lvl="1" eaLnBrk="1" hangingPunct="1"/>
            <a:r>
              <a:rPr kumimoji="0" lang="en-US" altLang="zh-CN">
                <a:ea typeface="宋体" panose="02010600030101010101" pitchFamily="2" charset="-122"/>
              </a:rPr>
              <a:t>ATC reduces to WSPT applied to overdue jobs</a:t>
            </a:r>
          </a:p>
        </p:txBody>
      </p:sp>
      <p:sp>
        <p:nvSpPr>
          <p:cNvPr id="7782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Choosing K</a:t>
            </a:r>
          </a:p>
        </p:txBody>
      </p:sp>
      <p:sp>
        <p:nvSpPr>
          <p:cNvPr id="78851" name="Rectangle 3"/>
          <p:cNvSpPr>
            <a:spLocks noGrp="1" noChangeArrowheads="1"/>
          </p:cNvSpPr>
          <p:nvPr>
            <p:ph type="body" idx="1"/>
          </p:nvPr>
        </p:nvSpPr>
        <p:spPr/>
        <p:txBody>
          <a:bodyPr/>
          <a:lstStyle/>
          <a:p>
            <a:pPr marL="0" indent="0" eaLnBrk="1" hangingPunct="1"/>
            <a:r>
              <a:rPr lang="en-US" altLang="zh-CN">
                <a:latin typeface="Verdana" panose="020B0604030504040204" pitchFamily="34" charset="0"/>
                <a:ea typeface="宋体" panose="02010600030101010101" pitchFamily="2" charset="-122"/>
              </a:rPr>
              <a:t>Value of K determined empirically</a:t>
            </a:r>
          </a:p>
          <a:p>
            <a:pPr marL="0" indent="0" eaLnBrk="1" hangingPunct="1"/>
            <a:r>
              <a:rPr lang="en-US" altLang="zh-CN">
                <a:latin typeface="Verdana" panose="020B0604030504040204" pitchFamily="34" charset="0"/>
                <a:ea typeface="宋体" panose="02010600030101010101" pitchFamily="2" charset="-122"/>
              </a:rPr>
              <a:t>Related to the </a:t>
            </a:r>
            <a:r>
              <a:rPr lang="en-US" altLang="zh-CN">
                <a:solidFill>
                  <a:srgbClr val="FF0000"/>
                </a:solidFill>
                <a:latin typeface="Verdana" panose="020B0604030504040204" pitchFamily="34" charset="0"/>
                <a:ea typeface="宋体" panose="02010600030101010101" pitchFamily="2" charset="-122"/>
              </a:rPr>
              <a:t>due date tightness factor</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	</a:t>
            </a: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and the </a:t>
            </a:r>
            <a:r>
              <a:rPr lang="en-US" altLang="zh-CN">
                <a:solidFill>
                  <a:srgbClr val="FF0000"/>
                </a:solidFill>
                <a:latin typeface="Verdana" panose="020B0604030504040204" pitchFamily="34" charset="0"/>
                <a:ea typeface="宋体" panose="02010600030101010101" pitchFamily="2" charset="-122"/>
              </a:rPr>
              <a:t>due date range factor</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p:txBody>
      </p:sp>
      <p:graphicFrame>
        <p:nvGraphicFramePr>
          <p:cNvPr id="78852" name="Object 4"/>
          <p:cNvGraphicFramePr>
            <a:graphicFrameLocks noChangeAspect="1"/>
          </p:cNvGraphicFramePr>
          <p:nvPr/>
        </p:nvGraphicFramePr>
        <p:xfrm>
          <a:off x="3276600" y="1752600"/>
          <a:ext cx="1722438" cy="1069975"/>
        </p:xfrm>
        <a:graphic>
          <a:graphicData uri="http://schemas.openxmlformats.org/presentationml/2006/ole">
            <mc:AlternateContent xmlns:mc="http://schemas.openxmlformats.org/markup-compatibility/2006">
              <mc:Choice xmlns:v="urn:schemas-microsoft-com:vml" Requires="v">
                <p:oleObj spid="_x0000_s78919" name="Equation" r:id="rId3" imgW="685800" imgH="393700" progId="Equation.DSMT4">
                  <p:embed/>
                </p:oleObj>
              </mc:Choice>
              <mc:Fallback>
                <p:oleObj name="Equation" r:id="rId3" imgW="685800" imgH="3937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752600"/>
                        <a:ext cx="1722438" cy="106997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8853" name="Object 5"/>
          <p:cNvGraphicFramePr>
            <a:graphicFrameLocks noChangeAspect="1"/>
          </p:cNvGraphicFramePr>
          <p:nvPr/>
        </p:nvGraphicFramePr>
        <p:xfrm>
          <a:off x="3201988" y="4165600"/>
          <a:ext cx="2208212" cy="1071563"/>
        </p:xfrm>
        <a:graphic>
          <a:graphicData uri="http://schemas.openxmlformats.org/presentationml/2006/ole">
            <mc:AlternateContent xmlns:mc="http://schemas.openxmlformats.org/markup-compatibility/2006">
              <mc:Choice xmlns:v="urn:schemas-microsoft-com:vml" Requires="v">
                <p:oleObj spid="_x0000_s78920" name="公式" r:id="rId5" imgW="850531" imgH="380835" progId="Equation.3">
                  <p:embed/>
                </p:oleObj>
              </mc:Choice>
              <mc:Fallback>
                <p:oleObj name="公式" r:id="rId5" imgW="850531" imgH="380835"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1988" y="4165600"/>
                        <a:ext cx="2208212" cy="10715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885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Grp="1" noChangeArrowheads="1"/>
          </p:cNvSpPr>
          <p:nvPr>
            <p:ph type="body" idx="1"/>
          </p:nvPr>
        </p:nvSpPr>
        <p:spPr/>
        <p:txBody>
          <a:bodyPr/>
          <a:lstStyle/>
          <a:p>
            <a:pPr marL="0" indent="0" eaLnBrk="1" hangingPunct="1"/>
            <a:endParaRPr lang="en-US" altLang="zh-CN" sz="2400" dirty="0">
              <a:latin typeface="Verdana" panose="020B0604030504040204" pitchFamily="34" charset="0"/>
              <a:ea typeface="宋体" panose="02010600030101010101" pitchFamily="2" charset="-122"/>
            </a:endParaRPr>
          </a:p>
          <a:p>
            <a:pPr marL="0" indent="0" eaLnBrk="1" hangingPunct="1"/>
            <a:endParaRPr lang="en-US" altLang="zh-CN" sz="2400" dirty="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sz="2400" dirty="0">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r>
              <a:rPr lang="en-US" altLang="zh-CN" sz="2400" dirty="0">
                <a:solidFill>
                  <a:schemeClr val="tx2"/>
                </a:solidFill>
                <a:latin typeface="Verdana" panose="020B0604030504040204" pitchFamily="34" charset="0"/>
                <a:ea typeface="宋体" panose="02010600030101010101" pitchFamily="2" charset="-122"/>
              </a:rPr>
              <a:t>Machine Scheduling:</a:t>
            </a:r>
          </a:p>
          <a:p>
            <a:pPr marL="0" indent="0" algn="ctr" eaLnBrk="1" hangingPunct="1">
              <a:buFont typeface="Wingdings" panose="05000000000000000000" pitchFamily="2" charset="2"/>
              <a:buNone/>
            </a:pPr>
            <a:r>
              <a:rPr lang="en-US" altLang="zh-CN" sz="2400" dirty="0">
                <a:solidFill>
                  <a:schemeClr val="tx2"/>
                </a:solidFill>
                <a:latin typeface="Verdana" panose="020B0604030504040204" pitchFamily="34" charset="0"/>
                <a:ea typeface="宋体" panose="02010600030101010101" pitchFamily="2" charset="-122"/>
              </a:rPr>
              <a:t>Sequencing Theory for a Single Machine</a:t>
            </a:r>
          </a:p>
          <a:p>
            <a:pPr marL="0" indent="0" algn="ctr" eaLnBrk="1" hangingPunct="1">
              <a:buFont typeface="Wingdings" panose="05000000000000000000" pitchFamily="2" charset="2"/>
              <a:buNone/>
            </a:pPr>
            <a:r>
              <a:rPr lang="en-US" altLang="zh-CN" sz="2400" dirty="0">
                <a:solidFill>
                  <a:schemeClr val="tx2"/>
                </a:solidFill>
                <a:latin typeface="Verdana" panose="020B0604030504040204" pitchFamily="34" charset="0"/>
                <a:ea typeface="宋体" panose="02010600030101010101" pitchFamily="2" charset="-122"/>
              </a:rPr>
              <a:t>(</a:t>
            </a:r>
            <a:r>
              <a:rPr lang="zh-CN" altLang="en-US" sz="2400" dirty="0">
                <a:solidFill>
                  <a:schemeClr val="tx2"/>
                </a:solidFill>
                <a:latin typeface="Verdana" panose="020B0604030504040204" pitchFamily="34" charset="0"/>
                <a:ea typeface="宋体" panose="02010600030101010101" pitchFamily="2" charset="-122"/>
              </a:rPr>
              <a:t>单机排序理论</a:t>
            </a:r>
            <a:r>
              <a:rPr lang="en-US" altLang="zh-CN" sz="2400" dirty="0">
                <a:solidFill>
                  <a:schemeClr val="tx2"/>
                </a:solidFill>
                <a:latin typeface="Verdana" panose="020B0604030504040204" pitchFamily="34" charset="0"/>
                <a:ea typeface="宋体" panose="02010600030101010101" pitchFamily="2" charset="-122"/>
              </a:rPr>
              <a:t>)</a:t>
            </a:r>
          </a:p>
        </p:txBody>
      </p:sp>
      <p:sp>
        <p:nvSpPr>
          <p:cNvPr id="79875"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381000" y="122238"/>
            <a:ext cx="8305800" cy="563562"/>
          </a:xfrm>
        </p:spPr>
        <p:txBody>
          <a:bodyPr>
            <a:normAutofit fontScale="90000"/>
          </a:bodyPr>
          <a:lstStyle/>
          <a:p>
            <a:pPr eaLnBrk="1" hangingPunct="1">
              <a:defRPr/>
            </a:pPr>
            <a:r>
              <a:rPr kumimoji="0" lang="en-US" altLang="zh-CN" sz="2800" b="1" dirty="0">
                <a:latin typeface="Verdana" charset="0"/>
                <a:cs typeface="宋体" charset="0"/>
              </a:rPr>
              <a:t>Sequencing theory for </a:t>
            </a:r>
            <a:r>
              <a:rPr kumimoji="0" lang="en-US" altLang="zh-CN" sz="2800" b="1" i="1" u="sng" dirty="0">
                <a:latin typeface="Verdana" charset="0"/>
                <a:cs typeface="宋体" charset="0"/>
              </a:rPr>
              <a:t>a single machine</a:t>
            </a:r>
          </a:p>
        </p:txBody>
      </p:sp>
      <p:sp>
        <p:nvSpPr>
          <p:cNvPr id="80899" name="Rectangle 3"/>
          <p:cNvSpPr>
            <a:spLocks noGrp="1" noChangeArrowheads="1"/>
          </p:cNvSpPr>
          <p:nvPr>
            <p:ph type="body" idx="1"/>
          </p:nvPr>
        </p:nvSpPr>
        <p:spPr>
          <a:xfrm>
            <a:off x="323850" y="1143000"/>
            <a:ext cx="8362950" cy="5257800"/>
          </a:xfrm>
        </p:spPr>
        <p:txBody>
          <a:bodyPr/>
          <a:lstStyle/>
          <a:p>
            <a:pPr eaLnBrk="1" hangingPunct="1">
              <a:lnSpc>
                <a:spcPct val="80000"/>
              </a:lnSpc>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The scheduling rule that minimizes the </a:t>
            </a:r>
            <a:r>
              <a:rPr lang="en-US" altLang="zh-CN" sz="2400" dirty="0">
                <a:solidFill>
                  <a:srgbClr val="0000FF"/>
                </a:solidFill>
                <a:latin typeface="Verdana" panose="020B0604030504040204" pitchFamily="34" charset="0"/>
                <a:ea typeface="宋体" panose="02010600030101010101" pitchFamily="2" charset="-122"/>
              </a:rPr>
              <a:t>mean flow time (</a:t>
            </a:r>
            <a:r>
              <a:rPr lang="zh-CN" altLang="en-US" sz="2400" dirty="0">
                <a:solidFill>
                  <a:srgbClr val="0000FF"/>
                </a:solidFill>
                <a:latin typeface="Verdana" panose="020B0604030504040204" pitchFamily="34" charset="0"/>
                <a:ea typeface="宋体" panose="02010600030101010101" pitchFamily="2" charset="-122"/>
              </a:rPr>
              <a:t>最小化平均流程时间</a:t>
            </a:r>
            <a:r>
              <a:rPr lang="en-US" altLang="zh-CN" sz="2400" dirty="0">
                <a:solidFill>
                  <a:srgbClr val="0000FF"/>
                </a:solidFill>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 is </a:t>
            </a:r>
            <a:r>
              <a:rPr lang="en-US" altLang="zh-CN" sz="2400" dirty="0">
                <a:solidFill>
                  <a:schemeClr val="tx2"/>
                </a:solidFill>
                <a:latin typeface="Verdana" panose="020B0604030504040204" pitchFamily="34" charset="0"/>
                <a:ea typeface="宋体" panose="02010600030101010101" pitchFamily="2" charset="-122"/>
              </a:rPr>
              <a:t>Shortest Processing Time</a:t>
            </a:r>
          </a:p>
          <a:p>
            <a:pPr lvl="1" eaLnBrk="1" hangingPunct="1">
              <a:lnSpc>
                <a:spcPct val="80000"/>
              </a:lnSpc>
            </a:pPr>
            <a:r>
              <a:rPr kumimoji="0" lang="en-US" altLang="zh-CN" sz="2400" dirty="0">
                <a:ea typeface="宋体" panose="02010600030101010101" pitchFamily="2" charset="-122"/>
              </a:rPr>
              <a:t>The following measures are equivalent: mean flow time, mean waiting time, and mean lateness for single machine</a:t>
            </a:r>
          </a:p>
          <a:p>
            <a:pPr lvl="1" eaLnBrk="1" hangingPunct="1">
              <a:lnSpc>
                <a:spcPct val="80000"/>
              </a:lnSpc>
            </a:pPr>
            <a:r>
              <a:rPr kumimoji="0" lang="en-US" altLang="zh-CN" sz="2400" dirty="0">
                <a:ea typeface="宋体" panose="02010600030101010101" pitchFamily="2" charset="-122"/>
              </a:rPr>
              <a:t>SPT minimizes mean flow time, mean waiting time, and mean lateness for single-machine sequencing.</a:t>
            </a:r>
          </a:p>
          <a:p>
            <a:pPr eaLnBrk="1" hangingPunct="1">
              <a:lnSpc>
                <a:spcPct val="80000"/>
              </a:lnSpc>
              <a:buFont typeface="Arial" panose="020B0604020202020204" pitchFamily="34" charset="0"/>
              <a:buChar char="•"/>
            </a:pPr>
            <a:r>
              <a:rPr lang="en-US" altLang="zh-CN" sz="2400" dirty="0">
                <a:solidFill>
                  <a:schemeClr val="tx2"/>
                </a:solidFill>
                <a:latin typeface="Verdana" panose="020B0604030504040204" pitchFamily="34" charset="0"/>
                <a:ea typeface="宋体" panose="02010600030101010101" pitchFamily="2" charset="-122"/>
              </a:rPr>
              <a:t>Earliest due date</a:t>
            </a:r>
            <a:r>
              <a:rPr lang="en-US" altLang="zh-CN" sz="2400" dirty="0">
                <a:latin typeface="Verdana" panose="020B0604030504040204" pitchFamily="34" charset="0"/>
                <a:ea typeface="宋体" panose="02010600030101010101" pitchFamily="2" charset="-122"/>
              </a:rPr>
              <a:t> minimizes the </a:t>
            </a:r>
            <a:r>
              <a:rPr lang="en-US" altLang="zh-CN" sz="2400" dirty="0">
                <a:solidFill>
                  <a:srgbClr val="0000FF"/>
                </a:solidFill>
                <a:latin typeface="Verdana" panose="020B0604030504040204" pitchFamily="34" charset="0"/>
                <a:ea typeface="宋体" panose="02010600030101010101" pitchFamily="2" charset="-122"/>
              </a:rPr>
              <a:t>maximum lateness (</a:t>
            </a:r>
            <a:r>
              <a:rPr lang="zh-CN" altLang="en-US" sz="2400" dirty="0">
                <a:solidFill>
                  <a:srgbClr val="0000FF"/>
                </a:solidFill>
                <a:latin typeface="Verdana" panose="020B0604030504040204" pitchFamily="34" charset="0"/>
                <a:ea typeface="宋体" panose="02010600030101010101" pitchFamily="2" charset="-122"/>
              </a:rPr>
              <a:t>最小化最大延迟</a:t>
            </a:r>
            <a:r>
              <a:rPr lang="en-US" altLang="zh-CN" sz="2400" dirty="0">
                <a:solidFill>
                  <a:srgbClr val="0000FF"/>
                </a:solidFill>
                <a:latin typeface="Verdana" panose="020B0604030504040204" pitchFamily="34" charset="0"/>
                <a:ea typeface="宋体" panose="02010600030101010101" pitchFamily="2" charset="-122"/>
              </a:rPr>
              <a:t>)</a:t>
            </a:r>
            <a:r>
              <a:rPr lang="en-US" altLang="zh-CN" sz="2400" dirty="0">
                <a:latin typeface="Verdana" panose="020B0604030504040204" pitchFamily="34" charset="0"/>
                <a:ea typeface="宋体" panose="02010600030101010101" pitchFamily="2" charset="-122"/>
              </a:rPr>
              <a:t>.</a:t>
            </a:r>
          </a:p>
          <a:p>
            <a:pPr eaLnBrk="1" hangingPunct="1">
              <a:lnSpc>
                <a:spcPct val="80000"/>
              </a:lnSpc>
              <a:buFont typeface="Arial" panose="020B0604020202020204" pitchFamily="34" charset="0"/>
              <a:buChar char="•"/>
            </a:pPr>
            <a:r>
              <a:rPr lang="en-US" altLang="zh-CN" sz="2400" dirty="0">
                <a:solidFill>
                  <a:schemeClr val="tx2"/>
                </a:solidFill>
                <a:latin typeface="Verdana" panose="020B0604030504040204" pitchFamily="34" charset="0"/>
                <a:ea typeface="宋体" panose="02010600030101010101" pitchFamily="2" charset="-122"/>
              </a:rPr>
              <a:t>Moore’s algorithm</a:t>
            </a:r>
            <a:r>
              <a:rPr lang="en-US" altLang="zh-CN" sz="2400" dirty="0">
                <a:latin typeface="Verdana" panose="020B0604030504040204" pitchFamily="34" charset="0"/>
                <a:ea typeface="宋体" panose="02010600030101010101" pitchFamily="2" charset="-122"/>
              </a:rPr>
              <a:t> (1968) minimizes </a:t>
            </a:r>
            <a:r>
              <a:rPr lang="en-US" altLang="zh-CN" sz="2400" dirty="0">
                <a:solidFill>
                  <a:srgbClr val="0000FF"/>
                </a:solidFill>
                <a:latin typeface="Verdana" panose="020B0604030504040204" pitchFamily="34" charset="0"/>
                <a:ea typeface="宋体" panose="02010600030101010101" pitchFamily="2" charset="-122"/>
              </a:rPr>
              <a:t>the number of tardy jobs (</a:t>
            </a:r>
            <a:r>
              <a:rPr lang="zh-CN" altLang="en-US" sz="2400" dirty="0">
                <a:solidFill>
                  <a:srgbClr val="0000FF"/>
                </a:solidFill>
                <a:latin typeface="Verdana" panose="020B0604030504040204" pitchFamily="34" charset="0"/>
                <a:ea typeface="宋体" panose="02010600030101010101" pitchFamily="2" charset="-122"/>
              </a:rPr>
              <a:t>最小化拖期任务数</a:t>
            </a:r>
            <a:r>
              <a:rPr lang="en-US" altLang="zh-CN" sz="2400" dirty="0">
                <a:solidFill>
                  <a:srgbClr val="0000FF"/>
                </a:solidFill>
                <a:latin typeface="Verdana" panose="020B0604030504040204" pitchFamily="34" charset="0"/>
                <a:ea typeface="宋体" panose="02010600030101010101" pitchFamily="2" charset="-122"/>
              </a:rPr>
              <a:t>)</a:t>
            </a:r>
          </a:p>
          <a:p>
            <a:pPr eaLnBrk="1" hangingPunct="1">
              <a:lnSpc>
                <a:spcPct val="80000"/>
              </a:lnSpc>
              <a:buFont typeface="Arial" panose="020B0604020202020204" pitchFamily="34" charset="0"/>
              <a:buChar char="•"/>
            </a:pPr>
            <a:r>
              <a:rPr lang="en-US" altLang="zh-CN" sz="2400" dirty="0">
                <a:solidFill>
                  <a:schemeClr val="tx2"/>
                </a:solidFill>
                <a:latin typeface="Verdana" panose="020B0604030504040204" pitchFamily="34" charset="0"/>
                <a:ea typeface="宋体" panose="02010600030101010101" pitchFamily="2" charset="-122"/>
              </a:rPr>
              <a:t>Lawler’s algorithm</a:t>
            </a:r>
            <a:r>
              <a:rPr lang="en-US" altLang="zh-CN" sz="2400" dirty="0">
                <a:latin typeface="Verdana" panose="020B0604030504040204" pitchFamily="34" charset="0"/>
                <a:ea typeface="宋体" panose="02010600030101010101" pitchFamily="2" charset="-122"/>
              </a:rPr>
              <a:t> (1973) is a powerful technique for solving a variety of constrained scheduling problems </a:t>
            </a:r>
          </a:p>
        </p:txBody>
      </p:sp>
      <p:sp>
        <p:nvSpPr>
          <p:cNvPr id="8090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normAutofit fontScale="90000"/>
          </a:bodyPr>
          <a:lstStyle/>
          <a:p>
            <a:pPr eaLnBrk="1" hangingPunct="1">
              <a:defRPr/>
            </a:pPr>
            <a:r>
              <a:rPr kumimoji="0" lang="en-US" altLang="zh-CN" b="1">
                <a:latin typeface="Verdana" charset="0"/>
                <a:cs typeface="宋体" charset="0"/>
              </a:rPr>
              <a:t>WSPT</a:t>
            </a:r>
          </a:p>
        </p:txBody>
      </p:sp>
      <p:sp>
        <p:nvSpPr>
          <p:cNvPr id="81923" name="Rectangle 3"/>
          <p:cNvSpPr>
            <a:spLocks noGrp="1" noChangeArrowheads="1"/>
          </p:cNvSpPr>
          <p:nvPr>
            <p:ph type="body" idx="1"/>
          </p:nvPr>
        </p:nvSpPr>
        <p:spPr/>
        <p:txBody>
          <a:bodyPr/>
          <a:lstStyle/>
          <a:p>
            <a:pPr marL="0" indent="0" eaLnBrk="1" hangingPunct="1"/>
            <a:r>
              <a:rPr lang="en-US" altLang="zh-CN" sz="2400">
                <a:solidFill>
                  <a:srgbClr val="FF0000"/>
                </a:solidFill>
                <a:latin typeface="Verdana" panose="020B0604030504040204" pitchFamily="34" charset="0"/>
                <a:ea typeface="宋体" panose="02010600030101010101" pitchFamily="2" charset="-122"/>
              </a:rPr>
              <a:t>Theorem:</a:t>
            </a:r>
            <a:r>
              <a:rPr lang="en-US" altLang="zh-CN" sz="2400">
                <a:latin typeface="Verdana" panose="020B0604030504040204" pitchFamily="34" charset="0"/>
                <a:ea typeface="宋体" panose="02010600030101010101" pitchFamily="2" charset="-122"/>
              </a:rPr>
              <a:t> Weighted Shortest Processing Time first - called the WSPT rule - is optimal for</a:t>
            </a: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r>
              <a:rPr lang="en-US" altLang="zh-CN" sz="2400">
                <a:solidFill>
                  <a:srgbClr val="FF0000"/>
                </a:solidFill>
                <a:latin typeface="Verdana" panose="020B0604030504040204" pitchFamily="34" charset="0"/>
                <a:ea typeface="宋体" panose="02010600030101010101" pitchFamily="2" charset="-122"/>
              </a:rPr>
              <a:t>Note</a:t>
            </a:r>
            <a:r>
              <a:rPr lang="en-US" altLang="zh-CN" sz="2400">
                <a:latin typeface="Verdana" panose="020B0604030504040204" pitchFamily="34" charset="0"/>
                <a:ea typeface="宋体" panose="02010600030101010101" pitchFamily="2" charset="-122"/>
              </a:rPr>
              <a:t>: The </a:t>
            </a:r>
            <a:r>
              <a:rPr lang="en-US" altLang="zh-CN" sz="2400">
                <a:solidFill>
                  <a:srgbClr val="FF0000"/>
                </a:solidFill>
                <a:latin typeface="Verdana" panose="020B0604030504040204" pitchFamily="34" charset="0"/>
                <a:ea typeface="宋体" panose="02010600030101010101" pitchFamily="2" charset="-122"/>
              </a:rPr>
              <a:t>SPT</a:t>
            </a:r>
            <a:r>
              <a:rPr lang="en-US" altLang="zh-CN" sz="2400">
                <a:latin typeface="Verdana" panose="020B0604030504040204" pitchFamily="34" charset="0"/>
                <a:ea typeface="宋体" panose="02010600030101010101" pitchFamily="2" charset="-122"/>
              </a:rPr>
              <a:t> rule starts with the job that has the shortest processing time, moves on the job with the second shortest processing time, etc.</a:t>
            </a:r>
          </a:p>
          <a:p>
            <a:pPr marL="0" indent="0" eaLnBrk="1" hangingPunct="1"/>
            <a:r>
              <a:rPr lang="en-US" altLang="zh-CN" sz="2400">
                <a:solidFill>
                  <a:srgbClr val="FF0000"/>
                </a:solidFill>
                <a:latin typeface="Verdana" panose="020B0604030504040204" pitchFamily="34" charset="0"/>
                <a:ea typeface="宋体" panose="02010600030101010101" pitchFamily="2" charset="-122"/>
              </a:rPr>
              <a:t>WSPT</a:t>
            </a:r>
            <a:r>
              <a:rPr lang="en-US" altLang="zh-CN" sz="2400">
                <a:latin typeface="Verdana" panose="020B0604030504040204" pitchFamily="34" charset="0"/>
                <a:ea typeface="宋体" panose="02010600030101010101" pitchFamily="2" charset="-122"/>
              </a:rPr>
              <a:t> starts with job with largest  </a:t>
            </a:r>
          </a:p>
        </p:txBody>
      </p:sp>
      <p:graphicFrame>
        <p:nvGraphicFramePr>
          <p:cNvPr id="81924" name="Object 4"/>
          <p:cNvGraphicFramePr>
            <a:graphicFrameLocks noChangeAspect="1"/>
          </p:cNvGraphicFramePr>
          <p:nvPr/>
        </p:nvGraphicFramePr>
        <p:xfrm>
          <a:off x="6553200" y="4572000"/>
          <a:ext cx="422275" cy="939800"/>
        </p:xfrm>
        <a:graphic>
          <a:graphicData uri="http://schemas.openxmlformats.org/presentationml/2006/ole">
            <mc:AlternateContent xmlns:mc="http://schemas.openxmlformats.org/markup-compatibility/2006">
              <mc:Choice xmlns:v="urn:schemas-microsoft-com:vml" Requires="v">
                <p:oleObj spid="_x0000_s81991" name="Equation" r:id="rId3" imgW="228600" imgH="469900" progId="Equation.DSMT4">
                  <p:embed/>
                </p:oleObj>
              </mc:Choice>
              <mc:Fallback>
                <p:oleObj name="Equation" r:id="rId3" imgW="228600" imgH="4699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4572000"/>
                        <a:ext cx="422275" cy="939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1925" name="Object 5"/>
          <p:cNvGraphicFramePr>
            <a:graphicFrameLocks noChangeAspect="1"/>
          </p:cNvGraphicFramePr>
          <p:nvPr/>
        </p:nvGraphicFramePr>
        <p:xfrm>
          <a:off x="3870325" y="2514600"/>
          <a:ext cx="1397000" cy="504825"/>
        </p:xfrm>
        <a:graphic>
          <a:graphicData uri="http://schemas.openxmlformats.org/presentationml/2006/ole">
            <mc:AlternateContent xmlns:mc="http://schemas.openxmlformats.org/markup-compatibility/2006">
              <mc:Choice xmlns:v="urn:schemas-microsoft-com:vml" Requires="v">
                <p:oleObj spid="_x0000_s81992" name="公式" r:id="rId5" imgW="698197" imgH="253890" progId="Equation.3">
                  <p:embed/>
                </p:oleObj>
              </mc:Choice>
              <mc:Fallback>
                <p:oleObj name="公式" r:id="rId5" imgW="698197" imgH="25389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0325" y="2514600"/>
                        <a:ext cx="1397000" cy="504825"/>
                      </a:xfrm>
                      <a:prstGeom prst="rect">
                        <a:avLst/>
                      </a:prstGeom>
                      <a:gradFill rotWithShape="0">
                        <a:gsLst>
                          <a:gs pos="0">
                            <a:srgbClr val="66FF33"/>
                          </a:gs>
                          <a:gs pos="100000">
                            <a:srgbClr val="FFFFFF"/>
                          </a:gs>
                        </a:gsLst>
                        <a:lin ang="5400000" scaled="1"/>
                      </a:gra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192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Rectangle 2"/>
          <p:cNvSpPr>
            <a:spLocks noGrp="1" noChangeArrowheads="1"/>
          </p:cNvSpPr>
          <p:nvPr>
            <p:ph type="title"/>
          </p:nvPr>
        </p:nvSpPr>
        <p:spPr>
          <a:xfrm>
            <a:off x="457200" y="152400"/>
            <a:ext cx="7391400" cy="533400"/>
          </a:xfrm>
        </p:spPr>
        <p:txBody>
          <a:bodyPr>
            <a:normAutofit fontScale="90000"/>
          </a:bodyPr>
          <a:lstStyle/>
          <a:p>
            <a:pPr eaLnBrk="1" hangingPunct="1">
              <a:defRPr/>
            </a:pPr>
            <a:r>
              <a:rPr kumimoji="0" lang="en-US" altLang="zh-CN" b="1" dirty="0">
                <a:latin typeface="Verdana" charset="0"/>
                <a:cs typeface="宋体" charset="0"/>
              </a:rPr>
              <a:t>Proof (by contradiction)</a:t>
            </a:r>
          </a:p>
        </p:txBody>
      </p:sp>
      <p:sp>
        <p:nvSpPr>
          <p:cNvPr id="82947" name="Rectangle 3"/>
          <p:cNvSpPr>
            <a:spLocks noGrp="1" noChangeArrowheads="1"/>
          </p:cNvSpPr>
          <p:nvPr>
            <p:ph type="body" idx="1"/>
          </p:nvPr>
        </p:nvSpPr>
        <p:spPr/>
        <p:txBody>
          <a:bodyPr/>
          <a:lstStyle/>
          <a:p>
            <a:pPr marL="0" indent="0" eaLnBrk="1" hangingPunct="1">
              <a:buFont typeface="Wingdings" panose="05000000000000000000" pitchFamily="2" charset="2"/>
              <a:buNone/>
            </a:pPr>
            <a:r>
              <a:rPr lang="en-US" altLang="zh-CN" sz="2400">
                <a:latin typeface="Verdana" panose="020B0604030504040204" pitchFamily="34" charset="0"/>
                <a:ea typeface="宋体" panose="02010600030101010101" pitchFamily="2" charset="-122"/>
              </a:rPr>
              <a:t>Suppose it is not true and schedule S, that is not WSPT, is optimal.</a:t>
            </a:r>
          </a:p>
          <a:p>
            <a:pPr lvl="1" eaLnBrk="1" hangingPunct="1"/>
            <a:r>
              <a:rPr kumimoji="0" lang="en-US" altLang="zh-CN" sz="2400">
                <a:ea typeface="宋体" panose="02010600030101010101" pitchFamily="2" charset="-122"/>
              </a:rPr>
              <a:t>Then there are two adjacent jobs, say job j followed by job k such that</a:t>
            </a: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lnSpc>
                <a:spcPct val="80000"/>
              </a:lnSpc>
            </a:pPr>
            <a:endParaRPr lang="en-US" altLang="zh-CN" sz="2400">
              <a:latin typeface="Verdana" panose="020B0604030504040204" pitchFamily="34" charset="0"/>
              <a:ea typeface="宋体" panose="02010600030101010101" pitchFamily="2" charset="-122"/>
            </a:endParaRPr>
          </a:p>
          <a:p>
            <a:pPr marL="0" indent="0" eaLnBrk="1" hangingPunct="1">
              <a:lnSpc>
                <a:spcPct val="80000"/>
              </a:lnSpc>
              <a:buFont typeface="Wingdings" panose="05000000000000000000" pitchFamily="2" charset="2"/>
              <a:buNone/>
            </a:pPr>
            <a:endParaRPr lang="en-US" altLang="zh-CN" sz="240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sz="2400">
                <a:latin typeface="Verdana" panose="020B0604030504040204" pitchFamily="34" charset="0"/>
                <a:ea typeface="宋体" panose="02010600030101010101" pitchFamily="2" charset="-122"/>
              </a:rPr>
              <a:t>Do a pairwise interchange to get schedule S</a:t>
            </a:r>
            <a:r>
              <a:rPr lang="en-US" altLang="zh-CN" sz="2400">
                <a:ea typeface="宋体" panose="02010600030101010101" pitchFamily="2" charset="-122"/>
              </a:rPr>
              <a:t>’</a:t>
            </a:r>
            <a:endParaRPr lang="en-US" altLang="zh-CN" sz="2400">
              <a:latin typeface="Verdana" panose="020B0604030504040204" pitchFamily="34" charset="0"/>
              <a:ea typeface="宋体" panose="02010600030101010101" pitchFamily="2" charset="-122"/>
            </a:endParaRPr>
          </a:p>
        </p:txBody>
      </p:sp>
      <p:sp>
        <p:nvSpPr>
          <p:cNvPr id="82948" name="Freeform 5"/>
          <p:cNvSpPr>
            <a:spLocks/>
          </p:cNvSpPr>
          <p:nvPr/>
        </p:nvSpPr>
        <p:spPr bwMode="auto">
          <a:xfrm>
            <a:off x="1731963" y="4648200"/>
            <a:ext cx="1293812" cy="381000"/>
          </a:xfrm>
          <a:custGeom>
            <a:avLst/>
            <a:gdLst>
              <a:gd name="T0" fmla="*/ 0 w 816"/>
              <a:gd name="T1" fmla="*/ 0 h 192"/>
              <a:gd name="T2" fmla="*/ 2147483646 w 816"/>
              <a:gd name="T3" fmla="*/ 0 h 192"/>
              <a:gd name="T4" fmla="*/ 2147483646 w 816"/>
              <a:gd name="T5" fmla="*/ 2147483646 h 192"/>
              <a:gd name="T6" fmla="*/ 0 w 816"/>
              <a:gd name="T7" fmla="*/ 2147483646 h 192"/>
              <a:gd name="T8" fmla="*/ 2147483646 w 816"/>
              <a:gd name="T9" fmla="*/ 2147483646 h 192"/>
              <a:gd name="T10" fmla="*/ 0 w 816"/>
              <a:gd name="T11" fmla="*/ 2147483646 h 192"/>
              <a:gd name="T12" fmla="*/ 2147483646 w 816"/>
              <a:gd name="T13" fmla="*/ 2147483646 h 192"/>
              <a:gd name="T14" fmla="*/ 0 w 816"/>
              <a:gd name="T15" fmla="*/ 0 h 192"/>
              <a:gd name="T16" fmla="*/ 0 60000 65536"/>
              <a:gd name="T17" fmla="*/ 0 60000 65536"/>
              <a:gd name="T18" fmla="*/ 0 60000 65536"/>
              <a:gd name="T19" fmla="*/ 0 60000 65536"/>
              <a:gd name="T20" fmla="*/ 0 60000 65536"/>
              <a:gd name="T21" fmla="*/ 0 60000 65536"/>
              <a:gd name="T22" fmla="*/ 0 60000 65536"/>
              <a:gd name="T23" fmla="*/ 0 60000 65536"/>
              <a:gd name="T24" fmla="*/ 0 w 816"/>
              <a:gd name="T25" fmla="*/ 0 h 192"/>
              <a:gd name="T26" fmla="*/ 816 w 816"/>
              <a:gd name="T27" fmla="*/ 192 h 1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16" h="192">
                <a:moveTo>
                  <a:pt x="0" y="0"/>
                </a:moveTo>
                <a:lnTo>
                  <a:pt x="816" y="0"/>
                </a:lnTo>
                <a:lnTo>
                  <a:pt x="816" y="192"/>
                </a:lnTo>
                <a:lnTo>
                  <a:pt x="0" y="192"/>
                </a:lnTo>
                <a:lnTo>
                  <a:pt x="48" y="144"/>
                </a:lnTo>
                <a:lnTo>
                  <a:pt x="0" y="96"/>
                </a:lnTo>
                <a:lnTo>
                  <a:pt x="48" y="48"/>
                </a:lnTo>
                <a:lnTo>
                  <a:pt x="0" y="0"/>
                </a:lnTo>
                <a:close/>
              </a:path>
            </a:pathLst>
          </a:custGeom>
          <a:solidFill>
            <a:srgbClr val="FFFFFF"/>
          </a:solidFill>
          <a:ln w="9525">
            <a:solidFill>
              <a:schemeClr val="tx1"/>
            </a:solidFill>
            <a:round/>
            <a:headEnd/>
            <a:tailEnd/>
          </a:ln>
        </p:spPr>
        <p:txBody>
          <a:bodyPr wrap="none" anchor="ctr"/>
          <a:lstStyle/>
          <a:p>
            <a:endParaRPr lang="zh-CN" altLang="en-US"/>
          </a:p>
        </p:txBody>
      </p:sp>
      <p:sp>
        <p:nvSpPr>
          <p:cNvPr id="82949" name="Freeform 6"/>
          <p:cNvSpPr>
            <a:spLocks/>
          </p:cNvSpPr>
          <p:nvPr/>
        </p:nvSpPr>
        <p:spPr bwMode="auto">
          <a:xfrm>
            <a:off x="1731963" y="5486400"/>
            <a:ext cx="1293812" cy="381000"/>
          </a:xfrm>
          <a:custGeom>
            <a:avLst/>
            <a:gdLst>
              <a:gd name="T0" fmla="*/ 0 w 816"/>
              <a:gd name="T1" fmla="*/ 0 h 192"/>
              <a:gd name="T2" fmla="*/ 2147483646 w 816"/>
              <a:gd name="T3" fmla="*/ 0 h 192"/>
              <a:gd name="T4" fmla="*/ 2147483646 w 816"/>
              <a:gd name="T5" fmla="*/ 2147483646 h 192"/>
              <a:gd name="T6" fmla="*/ 0 w 816"/>
              <a:gd name="T7" fmla="*/ 2147483646 h 192"/>
              <a:gd name="T8" fmla="*/ 2147483646 w 816"/>
              <a:gd name="T9" fmla="*/ 2147483646 h 192"/>
              <a:gd name="T10" fmla="*/ 0 w 816"/>
              <a:gd name="T11" fmla="*/ 2147483646 h 192"/>
              <a:gd name="T12" fmla="*/ 2147483646 w 816"/>
              <a:gd name="T13" fmla="*/ 2147483646 h 192"/>
              <a:gd name="T14" fmla="*/ 0 w 816"/>
              <a:gd name="T15" fmla="*/ 0 h 192"/>
              <a:gd name="T16" fmla="*/ 0 60000 65536"/>
              <a:gd name="T17" fmla="*/ 0 60000 65536"/>
              <a:gd name="T18" fmla="*/ 0 60000 65536"/>
              <a:gd name="T19" fmla="*/ 0 60000 65536"/>
              <a:gd name="T20" fmla="*/ 0 60000 65536"/>
              <a:gd name="T21" fmla="*/ 0 60000 65536"/>
              <a:gd name="T22" fmla="*/ 0 60000 65536"/>
              <a:gd name="T23" fmla="*/ 0 60000 65536"/>
              <a:gd name="T24" fmla="*/ 0 w 816"/>
              <a:gd name="T25" fmla="*/ 0 h 192"/>
              <a:gd name="T26" fmla="*/ 816 w 816"/>
              <a:gd name="T27" fmla="*/ 192 h 19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16" h="192">
                <a:moveTo>
                  <a:pt x="0" y="0"/>
                </a:moveTo>
                <a:lnTo>
                  <a:pt x="816" y="0"/>
                </a:lnTo>
                <a:lnTo>
                  <a:pt x="816" y="192"/>
                </a:lnTo>
                <a:lnTo>
                  <a:pt x="0" y="192"/>
                </a:lnTo>
                <a:lnTo>
                  <a:pt x="48" y="144"/>
                </a:lnTo>
                <a:lnTo>
                  <a:pt x="0" y="96"/>
                </a:lnTo>
                <a:lnTo>
                  <a:pt x="48" y="48"/>
                </a:lnTo>
                <a:lnTo>
                  <a:pt x="0" y="0"/>
                </a:lnTo>
                <a:close/>
              </a:path>
            </a:pathLst>
          </a:custGeom>
          <a:solidFill>
            <a:srgbClr val="FFFFFF"/>
          </a:solidFill>
          <a:ln w="9525">
            <a:solidFill>
              <a:schemeClr val="tx1"/>
            </a:solidFill>
            <a:round/>
            <a:headEnd/>
            <a:tailEnd/>
          </a:ln>
        </p:spPr>
        <p:txBody>
          <a:bodyPr wrap="none" anchor="ctr"/>
          <a:lstStyle/>
          <a:p>
            <a:endParaRPr lang="zh-CN" altLang="en-US"/>
          </a:p>
        </p:txBody>
      </p:sp>
      <p:sp>
        <p:nvSpPr>
          <p:cNvPr id="82950" name="Rectangle 7"/>
          <p:cNvSpPr>
            <a:spLocks noChangeArrowheads="1"/>
          </p:cNvSpPr>
          <p:nvPr/>
        </p:nvSpPr>
        <p:spPr bwMode="auto">
          <a:xfrm>
            <a:off x="3025775" y="4648200"/>
            <a:ext cx="609600" cy="381000"/>
          </a:xfrm>
          <a:prstGeom prst="rect">
            <a:avLst/>
          </a:prstGeom>
          <a:solidFill>
            <a:srgbClr val="FFFFFF"/>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i="1">
                <a:solidFill>
                  <a:schemeClr val="tx2"/>
                </a:solidFill>
                <a:latin typeface="Times New Roman" panose="02020603050405020304" pitchFamily="18" charset="0"/>
                <a:ea typeface="宋体" panose="02010600030101010101" pitchFamily="2" charset="-122"/>
              </a:rPr>
              <a:t>j</a:t>
            </a:r>
            <a:endParaRPr kumimoji="1" lang="en-US" altLang="zh-CN" sz="4000" b="0">
              <a:solidFill>
                <a:schemeClr val="tx2"/>
              </a:solidFill>
              <a:latin typeface="Arial Black" panose="020B0A04020102020204" pitchFamily="34" charset="0"/>
              <a:ea typeface="宋体" panose="02010600030101010101" pitchFamily="2" charset="-122"/>
            </a:endParaRPr>
          </a:p>
        </p:txBody>
      </p:sp>
      <p:sp>
        <p:nvSpPr>
          <p:cNvPr id="82951" name="Rectangle 8"/>
          <p:cNvSpPr>
            <a:spLocks noChangeArrowheads="1"/>
          </p:cNvSpPr>
          <p:nvPr/>
        </p:nvSpPr>
        <p:spPr bwMode="auto">
          <a:xfrm>
            <a:off x="3635375" y="4648200"/>
            <a:ext cx="1752600" cy="381000"/>
          </a:xfrm>
          <a:prstGeom prst="rect">
            <a:avLst/>
          </a:prstGeom>
          <a:solidFill>
            <a:srgbClr val="FFFFFF"/>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i="1">
                <a:solidFill>
                  <a:schemeClr val="tx2"/>
                </a:solidFill>
                <a:latin typeface="Times New Roman" panose="02020603050405020304" pitchFamily="18" charset="0"/>
                <a:ea typeface="宋体" panose="02010600030101010101" pitchFamily="2" charset="-122"/>
              </a:rPr>
              <a:t>k</a:t>
            </a:r>
            <a:endParaRPr kumimoji="1" lang="en-US" altLang="zh-CN" sz="4000" b="0">
              <a:solidFill>
                <a:schemeClr val="tx2"/>
              </a:solidFill>
              <a:latin typeface="Arial Black" panose="020B0A04020102020204" pitchFamily="34" charset="0"/>
              <a:ea typeface="宋体" panose="02010600030101010101" pitchFamily="2" charset="-122"/>
            </a:endParaRPr>
          </a:p>
        </p:txBody>
      </p:sp>
      <p:sp>
        <p:nvSpPr>
          <p:cNvPr id="82952" name="Rectangle 9"/>
          <p:cNvSpPr>
            <a:spLocks noChangeArrowheads="1"/>
          </p:cNvSpPr>
          <p:nvPr/>
        </p:nvSpPr>
        <p:spPr bwMode="auto">
          <a:xfrm>
            <a:off x="3025775" y="5486400"/>
            <a:ext cx="1752600" cy="381000"/>
          </a:xfrm>
          <a:prstGeom prst="rect">
            <a:avLst/>
          </a:prstGeom>
          <a:solidFill>
            <a:srgbClr val="FFFFFF"/>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i="1">
                <a:solidFill>
                  <a:schemeClr val="tx2"/>
                </a:solidFill>
                <a:latin typeface="Times New Roman" panose="02020603050405020304" pitchFamily="18" charset="0"/>
                <a:ea typeface="宋体" panose="02010600030101010101" pitchFamily="2" charset="-122"/>
              </a:rPr>
              <a:t>k</a:t>
            </a:r>
            <a:endParaRPr kumimoji="1" lang="en-US" altLang="zh-CN" sz="4000" b="0">
              <a:solidFill>
                <a:schemeClr val="tx2"/>
              </a:solidFill>
              <a:latin typeface="Arial Black" panose="020B0A04020102020204" pitchFamily="34" charset="0"/>
              <a:ea typeface="宋体" panose="02010600030101010101" pitchFamily="2" charset="-122"/>
            </a:endParaRPr>
          </a:p>
        </p:txBody>
      </p:sp>
      <p:sp>
        <p:nvSpPr>
          <p:cNvPr id="82953" name="Rectangle 10"/>
          <p:cNvSpPr>
            <a:spLocks noChangeArrowheads="1"/>
          </p:cNvSpPr>
          <p:nvPr/>
        </p:nvSpPr>
        <p:spPr bwMode="auto">
          <a:xfrm>
            <a:off x="4778375" y="5486400"/>
            <a:ext cx="609600" cy="381000"/>
          </a:xfrm>
          <a:prstGeom prst="rect">
            <a:avLst/>
          </a:prstGeom>
          <a:solidFill>
            <a:srgbClr val="FFFFFF"/>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kumimoji="1" lang="en-US" altLang="zh-CN" sz="1800" i="1">
                <a:solidFill>
                  <a:schemeClr val="tx2"/>
                </a:solidFill>
                <a:latin typeface="Times New Roman" panose="02020603050405020304" pitchFamily="18" charset="0"/>
                <a:ea typeface="宋体" panose="02010600030101010101" pitchFamily="2" charset="-122"/>
              </a:rPr>
              <a:t>j</a:t>
            </a:r>
            <a:endParaRPr kumimoji="1" lang="en-US" altLang="zh-CN" sz="4000" b="0">
              <a:solidFill>
                <a:schemeClr val="tx2"/>
              </a:solidFill>
              <a:latin typeface="Arial Black" panose="020B0A04020102020204" pitchFamily="34" charset="0"/>
              <a:ea typeface="宋体" panose="02010600030101010101" pitchFamily="2" charset="-122"/>
            </a:endParaRPr>
          </a:p>
        </p:txBody>
      </p:sp>
      <p:sp>
        <p:nvSpPr>
          <p:cNvPr id="82954" name="Freeform 11"/>
          <p:cNvSpPr>
            <a:spLocks/>
          </p:cNvSpPr>
          <p:nvPr/>
        </p:nvSpPr>
        <p:spPr bwMode="auto">
          <a:xfrm>
            <a:off x="5378450" y="4648200"/>
            <a:ext cx="1676400" cy="381000"/>
          </a:xfrm>
          <a:custGeom>
            <a:avLst/>
            <a:gdLst>
              <a:gd name="T0" fmla="*/ 2147483646 w 1056"/>
              <a:gd name="T1" fmla="*/ 0 h 240"/>
              <a:gd name="T2" fmla="*/ 0 w 1056"/>
              <a:gd name="T3" fmla="*/ 0 h 240"/>
              <a:gd name="T4" fmla="*/ 0 w 1056"/>
              <a:gd name="T5" fmla="*/ 2147483646 h 240"/>
              <a:gd name="T6" fmla="*/ 2147483646 w 1056"/>
              <a:gd name="T7" fmla="*/ 2147483646 h 240"/>
              <a:gd name="T8" fmla="*/ 2147483646 w 1056"/>
              <a:gd name="T9" fmla="*/ 2147483646 h 240"/>
              <a:gd name="T10" fmla="*/ 2147483646 w 1056"/>
              <a:gd name="T11" fmla="*/ 2147483646 h 240"/>
              <a:gd name="T12" fmla="*/ 2147483646 w 1056"/>
              <a:gd name="T13" fmla="*/ 2147483646 h 240"/>
              <a:gd name="T14" fmla="*/ 2147483646 w 1056"/>
              <a:gd name="T15" fmla="*/ 0 h 240"/>
              <a:gd name="T16" fmla="*/ 0 60000 65536"/>
              <a:gd name="T17" fmla="*/ 0 60000 65536"/>
              <a:gd name="T18" fmla="*/ 0 60000 65536"/>
              <a:gd name="T19" fmla="*/ 0 60000 65536"/>
              <a:gd name="T20" fmla="*/ 0 60000 65536"/>
              <a:gd name="T21" fmla="*/ 0 60000 65536"/>
              <a:gd name="T22" fmla="*/ 0 60000 65536"/>
              <a:gd name="T23" fmla="*/ 0 60000 65536"/>
              <a:gd name="T24" fmla="*/ 0 w 1056"/>
              <a:gd name="T25" fmla="*/ 0 h 240"/>
              <a:gd name="T26" fmla="*/ 1056 w 1056"/>
              <a:gd name="T27" fmla="*/ 240 h 2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56" h="240">
                <a:moveTo>
                  <a:pt x="1056" y="0"/>
                </a:moveTo>
                <a:lnTo>
                  <a:pt x="0" y="0"/>
                </a:lnTo>
                <a:lnTo>
                  <a:pt x="0" y="240"/>
                </a:lnTo>
                <a:lnTo>
                  <a:pt x="1056" y="240"/>
                </a:lnTo>
                <a:lnTo>
                  <a:pt x="960" y="192"/>
                </a:lnTo>
                <a:lnTo>
                  <a:pt x="1056" y="144"/>
                </a:lnTo>
                <a:lnTo>
                  <a:pt x="960" y="96"/>
                </a:lnTo>
                <a:lnTo>
                  <a:pt x="1056" y="0"/>
                </a:lnTo>
                <a:close/>
              </a:path>
            </a:pathLst>
          </a:custGeom>
          <a:solidFill>
            <a:srgbClr val="FFFFFF"/>
          </a:solidFill>
          <a:ln w="9525">
            <a:solidFill>
              <a:schemeClr val="tx1"/>
            </a:solidFill>
            <a:round/>
            <a:headEnd/>
            <a:tailEnd/>
          </a:ln>
        </p:spPr>
        <p:txBody>
          <a:bodyPr wrap="none" anchor="ctr"/>
          <a:lstStyle/>
          <a:p>
            <a:endParaRPr lang="zh-CN" altLang="en-US"/>
          </a:p>
        </p:txBody>
      </p:sp>
      <p:sp>
        <p:nvSpPr>
          <p:cNvPr id="82955" name="Freeform 12"/>
          <p:cNvSpPr>
            <a:spLocks/>
          </p:cNvSpPr>
          <p:nvPr/>
        </p:nvSpPr>
        <p:spPr bwMode="auto">
          <a:xfrm>
            <a:off x="5387975" y="5486400"/>
            <a:ext cx="1676400" cy="381000"/>
          </a:xfrm>
          <a:custGeom>
            <a:avLst/>
            <a:gdLst>
              <a:gd name="T0" fmla="*/ 2147483646 w 1056"/>
              <a:gd name="T1" fmla="*/ 0 h 240"/>
              <a:gd name="T2" fmla="*/ 0 w 1056"/>
              <a:gd name="T3" fmla="*/ 0 h 240"/>
              <a:gd name="T4" fmla="*/ 0 w 1056"/>
              <a:gd name="T5" fmla="*/ 2147483646 h 240"/>
              <a:gd name="T6" fmla="*/ 2147483646 w 1056"/>
              <a:gd name="T7" fmla="*/ 2147483646 h 240"/>
              <a:gd name="T8" fmla="*/ 2147483646 w 1056"/>
              <a:gd name="T9" fmla="*/ 2147483646 h 240"/>
              <a:gd name="T10" fmla="*/ 2147483646 w 1056"/>
              <a:gd name="T11" fmla="*/ 2147483646 h 240"/>
              <a:gd name="T12" fmla="*/ 2147483646 w 1056"/>
              <a:gd name="T13" fmla="*/ 2147483646 h 240"/>
              <a:gd name="T14" fmla="*/ 2147483646 w 1056"/>
              <a:gd name="T15" fmla="*/ 0 h 240"/>
              <a:gd name="T16" fmla="*/ 0 60000 65536"/>
              <a:gd name="T17" fmla="*/ 0 60000 65536"/>
              <a:gd name="T18" fmla="*/ 0 60000 65536"/>
              <a:gd name="T19" fmla="*/ 0 60000 65536"/>
              <a:gd name="T20" fmla="*/ 0 60000 65536"/>
              <a:gd name="T21" fmla="*/ 0 60000 65536"/>
              <a:gd name="T22" fmla="*/ 0 60000 65536"/>
              <a:gd name="T23" fmla="*/ 0 60000 65536"/>
              <a:gd name="T24" fmla="*/ 0 w 1056"/>
              <a:gd name="T25" fmla="*/ 0 h 240"/>
              <a:gd name="T26" fmla="*/ 1056 w 1056"/>
              <a:gd name="T27" fmla="*/ 240 h 2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56" h="240">
                <a:moveTo>
                  <a:pt x="1056" y="0"/>
                </a:moveTo>
                <a:lnTo>
                  <a:pt x="0" y="0"/>
                </a:lnTo>
                <a:lnTo>
                  <a:pt x="0" y="240"/>
                </a:lnTo>
                <a:lnTo>
                  <a:pt x="1056" y="240"/>
                </a:lnTo>
                <a:lnTo>
                  <a:pt x="960" y="192"/>
                </a:lnTo>
                <a:lnTo>
                  <a:pt x="1056" y="144"/>
                </a:lnTo>
                <a:lnTo>
                  <a:pt x="960" y="96"/>
                </a:lnTo>
                <a:lnTo>
                  <a:pt x="1056" y="0"/>
                </a:lnTo>
                <a:close/>
              </a:path>
            </a:pathLst>
          </a:custGeom>
          <a:solidFill>
            <a:srgbClr val="FFFFFF"/>
          </a:solidFill>
          <a:ln w="9525">
            <a:solidFill>
              <a:schemeClr val="tx1"/>
            </a:solidFill>
            <a:round/>
            <a:headEnd/>
            <a:tailEnd/>
          </a:ln>
        </p:spPr>
        <p:txBody>
          <a:bodyPr wrap="none" anchor="ctr"/>
          <a:lstStyle/>
          <a:p>
            <a:endParaRPr lang="zh-CN" altLang="en-US"/>
          </a:p>
        </p:txBody>
      </p:sp>
      <p:sp>
        <p:nvSpPr>
          <p:cNvPr id="82956" name="Line 13"/>
          <p:cNvSpPr>
            <a:spLocks noChangeShapeType="1"/>
          </p:cNvSpPr>
          <p:nvPr/>
        </p:nvSpPr>
        <p:spPr bwMode="auto">
          <a:xfrm flipH="1">
            <a:off x="4016375" y="5105400"/>
            <a:ext cx="3048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957" name="Line 14"/>
          <p:cNvSpPr>
            <a:spLocks noChangeShapeType="1"/>
          </p:cNvSpPr>
          <p:nvPr/>
        </p:nvSpPr>
        <p:spPr bwMode="auto">
          <a:xfrm>
            <a:off x="3406775" y="5105400"/>
            <a:ext cx="16002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2958" name="Object 15"/>
          <p:cNvGraphicFramePr>
            <a:graphicFrameLocks noChangeAspect="1"/>
          </p:cNvGraphicFramePr>
          <p:nvPr/>
        </p:nvGraphicFramePr>
        <p:xfrm>
          <a:off x="5311775" y="5018088"/>
          <a:ext cx="992188" cy="352425"/>
        </p:xfrm>
        <a:graphic>
          <a:graphicData uri="http://schemas.openxmlformats.org/presentationml/2006/ole">
            <mc:AlternateContent xmlns:mc="http://schemas.openxmlformats.org/markup-compatibility/2006">
              <mc:Choice xmlns:v="urn:schemas-microsoft-com:vml" Requires="v">
                <p:oleObj spid="_x0000_s83124" name="Equation" r:id="rId3" imgW="672808" imgH="241195" progId="Equation.DSMT4">
                  <p:embed/>
                </p:oleObj>
              </mc:Choice>
              <mc:Fallback>
                <p:oleObj name="Equation" r:id="rId3" imgW="672808" imgH="241195" progId="Equation.DSMT4">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1775" y="5018088"/>
                        <a:ext cx="992188"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2959" name="Object 16"/>
          <p:cNvGraphicFramePr>
            <a:graphicFrameLocks noChangeAspect="1"/>
          </p:cNvGraphicFramePr>
          <p:nvPr/>
        </p:nvGraphicFramePr>
        <p:xfrm>
          <a:off x="5311775" y="5895975"/>
          <a:ext cx="992188" cy="352425"/>
        </p:xfrm>
        <a:graphic>
          <a:graphicData uri="http://schemas.openxmlformats.org/presentationml/2006/ole">
            <mc:AlternateContent xmlns:mc="http://schemas.openxmlformats.org/markup-compatibility/2006">
              <mc:Choice xmlns:v="urn:schemas-microsoft-com:vml" Requires="v">
                <p:oleObj spid="_x0000_s83125" name="Equation" r:id="rId5" imgW="672808" imgH="241195" progId="Equation.3">
                  <p:embed/>
                </p:oleObj>
              </mc:Choice>
              <mc:Fallback>
                <p:oleObj name="Equation" r:id="rId5" imgW="672808" imgH="241195"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1775" y="5895975"/>
                        <a:ext cx="992188"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2960" name="Object 17"/>
          <p:cNvGraphicFramePr>
            <a:graphicFrameLocks noChangeAspect="1"/>
          </p:cNvGraphicFramePr>
          <p:nvPr/>
        </p:nvGraphicFramePr>
        <p:xfrm>
          <a:off x="2954338" y="5105400"/>
          <a:ext cx="119062" cy="222250"/>
        </p:xfrm>
        <a:graphic>
          <a:graphicData uri="http://schemas.openxmlformats.org/presentationml/2006/ole">
            <mc:AlternateContent xmlns:mc="http://schemas.openxmlformats.org/markup-compatibility/2006">
              <mc:Choice xmlns:v="urn:schemas-microsoft-com:vml" Requires="v">
                <p:oleObj spid="_x0000_s83126" name="Equation" r:id="rId6" imgW="88746" imgH="152136" progId="Equation.3">
                  <p:embed/>
                </p:oleObj>
              </mc:Choice>
              <mc:Fallback>
                <p:oleObj name="Equation" r:id="rId6" imgW="88746" imgH="152136"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54338" y="5105400"/>
                        <a:ext cx="119062"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2961" name="Object 18"/>
          <p:cNvGraphicFramePr>
            <a:graphicFrameLocks noChangeAspect="1"/>
          </p:cNvGraphicFramePr>
          <p:nvPr/>
        </p:nvGraphicFramePr>
        <p:xfrm>
          <a:off x="2954338" y="5949950"/>
          <a:ext cx="119062" cy="222250"/>
        </p:xfrm>
        <a:graphic>
          <a:graphicData uri="http://schemas.openxmlformats.org/presentationml/2006/ole">
            <mc:AlternateContent xmlns:mc="http://schemas.openxmlformats.org/markup-compatibility/2006">
              <mc:Choice xmlns:v="urn:schemas-microsoft-com:vml" Requires="v">
                <p:oleObj spid="_x0000_s83127" name="Equation" r:id="rId8" imgW="88746" imgH="152136" progId="Equation.3">
                  <p:embed/>
                </p:oleObj>
              </mc:Choice>
              <mc:Fallback>
                <p:oleObj name="Equation" r:id="rId8" imgW="88746" imgH="152136"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54338" y="5949950"/>
                        <a:ext cx="119062"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2962" name="Object 20"/>
          <p:cNvGraphicFramePr>
            <a:graphicFrameLocks noChangeAspect="1"/>
          </p:cNvGraphicFramePr>
          <p:nvPr/>
        </p:nvGraphicFramePr>
        <p:xfrm>
          <a:off x="3200400" y="2438400"/>
          <a:ext cx="1600200" cy="1316038"/>
        </p:xfrm>
        <a:graphic>
          <a:graphicData uri="http://schemas.openxmlformats.org/presentationml/2006/ole">
            <mc:AlternateContent xmlns:mc="http://schemas.openxmlformats.org/markup-compatibility/2006">
              <mc:Choice xmlns:v="urn:schemas-microsoft-com:vml" Requires="v">
                <p:oleObj spid="_x0000_s83128" name="公式" r:id="rId9" imgW="571252" imgH="469696" progId="Equation.3">
                  <p:embed/>
                </p:oleObj>
              </mc:Choice>
              <mc:Fallback>
                <p:oleObj name="公式" r:id="rId9" imgW="571252" imgH="469696"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0400" y="2438400"/>
                        <a:ext cx="1600200" cy="1316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296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Proof (continued)</a:t>
            </a:r>
          </a:p>
        </p:txBody>
      </p:sp>
      <p:sp>
        <p:nvSpPr>
          <p:cNvPr id="83971" name="Rectangle 3"/>
          <p:cNvSpPr>
            <a:spLocks noGrp="1" noChangeArrowheads="1"/>
          </p:cNvSpPr>
          <p:nvPr>
            <p:ph type="body" idx="1"/>
          </p:nvPr>
        </p:nvSpPr>
        <p:spPr/>
        <p:txBody>
          <a:bodyPr/>
          <a:lstStyle/>
          <a:p>
            <a:pPr marL="0" indent="0" eaLnBrk="1" hangingPunct="1">
              <a:lnSpc>
                <a:spcPct val="90000"/>
              </a:lnSpc>
            </a:pPr>
            <a:r>
              <a:rPr lang="en-US" altLang="zh-CN" sz="2400">
                <a:latin typeface="Verdana" panose="020B0604030504040204" pitchFamily="34" charset="0"/>
                <a:ea typeface="宋体" panose="02010600030101010101" pitchFamily="2" charset="-122"/>
              </a:rPr>
              <a:t>The weighted completion time of the two jobs under S is</a:t>
            </a:r>
          </a:p>
          <a:p>
            <a:pPr marL="0" indent="0" eaLnBrk="1" hangingPunct="1">
              <a:lnSpc>
                <a:spcPct val="90000"/>
              </a:lnSpc>
            </a:pPr>
            <a:endParaRPr lang="en-US" altLang="zh-CN" sz="2400">
              <a:latin typeface="Verdana" panose="020B0604030504040204" pitchFamily="34" charset="0"/>
              <a:ea typeface="宋体" panose="02010600030101010101" pitchFamily="2" charset="-122"/>
            </a:endParaRPr>
          </a:p>
          <a:p>
            <a:pPr marL="0" indent="0" eaLnBrk="1" hangingPunct="1">
              <a:lnSpc>
                <a:spcPct val="90000"/>
              </a:lnSpc>
            </a:pPr>
            <a:r>
              <a:rPr lang="en-US" altLang="zh-CN" sz="2400">
                <a:latin typeface="Verdana" panose="020B0604030504040204" pitchFamily="34" charset="0"/>
                <a:ea typeface="宋体" panose="02010600030101010101" pitchFamily="2" charset="-122"/>
              </a:rPr>
              <a:t>The weighted completion time of the two jobs under S</a:t>
            </a:r>
            <a:r>
              <a:rPr lang="en-US" altLang="zh-CN" sz="2400">
                <a:ea typeface="宋体" panose="02010600030101010101" pitchFamily="2" charset="-122"/>
              </a:rPr>
              <a:t>’</a:t>
            </a:r>
            <a:r>
              <a:rPr lang="en-US" altLang="zh-CN" sz="2400">
                <a:latin typeface="Verdana" panose="020B0604030504040204" pitchFamily="34" charset="0"/>
                <a:ea typeface="宋体" panose="02010600030101010101" pitchFamily="2" charset="-122"/>
              </a:rPr>
              <a:t> is</a:t>
            </a:r>
          </a:p>
          <a:p>
            <a:pPr marL="0" indent="0" eaLnBrk="1" hangingPunct="1">
              <a:lnSpc>
                <a:spcPct val="90000"/>
              </a:lnSpc>
            </a:pPr>
            <a:endParaRPr lang="en-US" altLang="zh-CN" sz="2400">
              <a:latin typeface="Verdana" panose="020B0604030504040204" pitchFamily="34" charset="0"/>
              <a:ea typeface="宋体" panose="02010600030101010101" pitchFamily="2" charset="-122"/>
            </a:endParaRPr>
          </a:p>
          <a:p>
            <a:pPr marL="0" indent="0" eaLnBrk="1" hangingPunct="1">
              <a:lnSpc>
                <a:spcPct val="90000"/>
              </a:lnSpc>
            </a:pPr>
            <a:endParaRPr lang="en-US" altLang="zh-CN" sz="2400">
              <a:latin typeface="Verdana" panose="020B0604030504040204" pitchFamily="34" charset="0"/>
              <a:ea typeface="宋体" panose="02010600030101010101" pitchFamily="2" charset="-122"/>
            </a:endParaRPr>
          </a:p>
          <a:p>
            <a:pPr marL="0" indent="0" eaLnBrk="1" hangingPunct="1">
              <a:lnSpc>
                <a:spcPct val="90000"/>
              </a:lnSpc>
            </a:pPr>
            <a:r>
              <a:rPr lang="en-US" altLang="zh-CN" sz="2400">
                <a:latin typeface="Verdana" panose="020B0604030504040204" pitchFamily="34" charset="0"/>
                <a:ea typeface="宋体" panose="02010600030101010101" pitchFamily="2" charset="-122"/>
              </a:rPr>
              <a:t>Now:</a:t>
            </a:r>
          </a:p>
          <a:p>
            <a:pPr marL="0" indent="0" eaLnBrk="1" hangingPunct="1">
              <a:lnSpc>
                <a:spcPct val="90000"/>
              </a:lnSpc>
            </a:pPr>
            <a:endParaRPr lang="en-US" altLang="zh-CN" sz="2400">
              <a:latin typeface="Verdana" panose="020B0604030504040204" pitchFamily="34" charset="0"/>
              <a:ea typeface="宋体" panose="02010600030101010101" pitchFamily="2" charset="-122"/>
            </a:endParaRPr>
          </a:p>
          <a:p>
            <a:pPr marL="0" indent="0" eaLnBrk="1" hangingPunct="1">
              <a:lnSpc>
                <a:spcPct val="90000"/>
              </a:lnSpc>
            </a:pPr>
            <a:endParaRPr lang="en-US" altLang="zh-CN" sz="2400">
              <a:latin typeface="Verdana" panose="020B0604030504040204" pitchFamily="34" charset="0"/>
              <a:ea typeface="宋体" panose="02010600030101010101" pitchFamily="2" charset="-122"/>
            </a:endParaRPr>
          </a:p>
          <a:p>
            <a:pPr marL="0" indent="0" eaLnBrk="1" hangingPunct="1">
              <a:lnSpc>
                <a:spcPct val="90000"/>
              </a:lnSpc>
            </a:pPr>
            <a:endParaRPr lang="en-US" altLang="zh-CN" sz="2400">
              <a:latin typeface="Verdana" panose="020B0604030504040204" pitchFamily="34" charset="0"/>
              <a:ea typeface="宋体" panose="02010600030101010101" pitchFamily="2" charset="-122"/>
            </a:endParaRPr>
          </a:p>
          <a:p>
            <a:pPr marL="0" indent="0" eaLnBrk="1" hangingPunct="1">
              <a:lnSpc>
                <a:spcPct val="90000"/>
              </a:lnSpc>
            </a:pPr>
            <a:endParaRPr lang="en-US" altLang="zh-CN" sz="2400">
              <a:latin typeface="Verdana" panose="020B0604030504040204" pitchFamily="34" charset="0"/>
              <a:ea typeface="宋体" panose="02010600030101010101" pitchFamily="2" charset="-122"/>
            </a:endParaRPr>
          </a:p>
          <a:p>
            <a:pPr marL="0" indent="0" eaLnBrk="1" hangingPunct="1">
              <a:lnSpc>
                <a:spcPct val="90000"/>
              </a:lnSpc>
            </a:pPr>
            <a:r>
              <a:rPr lang="en-US" altLang="zh-CN" sz="2400">
                <a:latin typeface="Verdana" panose="020B0604030504040204" pitchFamily="34" charset="0"/>
                <a:ea typeface="宋体" panose="02010600030101010101" pitchFamily="2" charset="-122"/>
              </a:rPr>
              <a:t>Contradicting that S is optimal.</a:t>
            </a:r>
          </a:p>
        </p:txBody>
      </p:sp>
      <p:graphicFrame>
        <p:nvGraphicFramePr>
          <p:cNvPr id="83972" name="Object 4"/>
          <p:cNvGraphicFramePr>
            <a:graphicFrameLocks noChangeAspect="1"/>
          </p:cNvGraphicFramePr>
          <p:nvPr/>
        </p:nvGraphicFramePr>
        <p:xfrm>
          <a:off x="1752600" y="2971800"/>
          <a:ext cx="4943475" cy="482600"/>
        </p:xfrm>
        <a:graphic>
          <a:graphicData uri="http://schemas.openxmlformats.org/presentationml/2006/ole">
            <mc:AlternateContent xmlns:mc="http://schemas.openxmlformats.org/markup-compatibility/2006">
              <mc:Choice xmlns:v="urn:schemas-microsoft-com:vml" Requires="v">
                <p:oleObj spid="_x0000_s84072" name="Equation" r:id="rId3" imgW="2679700" imgH="241300" progId="Equation.DSMT4">
                  <p:embed/>
                </p:oleObj>
              </mc:Choice>
              <mc:Fallback>
                <p:oleObj name="Equation" r:id="rId3" imgW="2679700" imgH="241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971800"/>
                        <a:ext cx="4943475" cy="4826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3973" name="Object 5"/>
          <p:cNvGraphicFramePr>
            <a:graphicFrameLocks noChangeAspect="1"/>
          </p:cNvGraphicFramePr>
          <p:nvPr/>
        </p:nvGraphicFramePr>
        <p:xfrm>
          <a:off x="1752600" y="1676400"/>
          <a:ext cx="4875213" cy="482600"/>
        </p:xfrm>
        <a:graphic>
          <a:graphicData uri="http://schemas.openxmlformats.org/presentationml/2006/ole">
            <mc:AlternateContent xmlns:mc="http://schemas.openxmlformats.org/markup-compatibility/2006">
              <mc:Choice xmlns:v="urn:schemas-microsoft-com:vml" Requires="v">
                <p:oleObj spid="_x0000_s84073" name="Equation" r:id="rId5" imgW="2641600" imgH="241300" progId="Equation.DSMT4">
                  <p:embed/>
                </p:oleObj>
              </mc:Choice>
              <mc:Fallback>
                <p:oleObj name="Equation" r:id="rId5" imgW="2641600" imgH="2413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1676400"/>
                        <a:ext cx="4875213" cy="48260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3974" name="Object 8"/>
          <p:cNvGraphicFramePr>
            <a:graphicFrameLocks noChangeAspect="1"/>
          </p:cNvGraphicFramePr>
          <p:nvPr/>
        </p:nvGraphicFramePr>
        <p:xfrm>
          <a:off x="609600" y="4333875"/>
          <a:ext cx="8488363" cy="923925"/>
        </p:xfrm>
        <a:graphic>
          <a:graphicData uri="http://schemas.openxmlformats.org/presentationml/2006/ole">
            <mc:AlternateContent xmlns:mc="http://schemas.openxmlformats.org/markup-compatibility/2006">
              <mc:Choice xmlns:v="urn:schemas-microsoft-com:vml" Requires="v">
                <p:oleObj spid="_x0000_s84074" name="公式" r:id="rId7" imgW="4432300" imgH="482600" progId="Equation.3">
                  <p:embed/>
                </p:oleObj>
              </mc:Choice>
              <mc:Fallback>
                <p:oleObj name="公式" r:id="rId7" imgW="4432300" imgH="4826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4333875"/>
                        <a:ext cx="8488363"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83975"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normAutofit fontScale="90000"/>
          </a:bodyPr>
          <a:lstStyle/>
          <a:p>
            <a:pPr eaLnBrk="1" hangingPunct="1">
              <a:defRPr/>
            </a:pPr>
            <a:r>
              <a:rPr kumimoji="0" lang="en-US" altLang="zh-CN" sz="3200" b="1" cap="none">
                <a:latin typeface="Verdana" pitchFamily="34" charset="0"/>
                <a:ea typeface="宋体" pitchFamily="2" charset="-122"/>
              </a:rPr>
              <a:t>Moore’s algorithm</a:t>
            </a:r>
          </a:p>
        </p:txBody>
      </p:sp>
      <p:sp>
        <p:nvSpPr>
          <p:cNvPr id="84995" name="Rectangle 3"/>
          <p:cNvSpPr>
            <a:spLocks noGrp="1" noChangeArrowheads="1"/>
          </p:cNvSpPr>
          <p:nvPr>
            <p:ph type="body" idx="1"/>
          </p:nvPr>
        </p:nvSpPr>
        <p:spPr/>
        <p:txBody>
          <a:bodyPr/>
          <a:lstStyle/>
          <a:p>
            <a:pPr marL="0" indent="0" eaLnBrk="1" hangingPunct="1">
              <a:lnSpc>
                <a:spcPct val="80000"/>
              </a:lnSpc>
              <a:buFont typeface="Wingdings" panose="05000000000000000000" pitchFamily="2" charset="2"/>
              <a:buNone/>
            </a:pPr>
            <a:r>
              <a:rPr lang="en-US" altLang="zh-CN" sz="2400">
                <a:latin typeface="Verdana" panose="020B0604030504040204" pitchFamily="34" charset="0"/>
                <a:ea typeface="宋体" panose="02010600030101010101" pitchFamily="2" charset="-122"/>
              </a:rPr>
              <a:t>1.Sequence the jobs according to the earliest due date to obtain the initial solution. That is d[1]&lt;=d[2]&lt;=….&lt;=d[n]</a:t>
            </a:r>
          </a:p>
          <a:p>
            <a:pPr marL="0" indent="0" eaLnBrk="1" hangingPunct="1">
              <a:lnSpc>
                <a:spcPct val="80000"/>
              </a:lnSpc>
              <a:buFont typeface="Wingdings" panose="05000000000000000000" pitchFamily="2" charset="2"/>
              <a:buNone/>
            </a:pPr>
            <a:r>
              <a:rPr lang="en-US" altLang="zh-CN" sz="2400">
                <a:latin typeface="Verdana" panose="020B0604030504040204" pitchFamily="34" charset="0"/>
                <a:ea typeface="宋体" panose="02010600030101010101" pitchFamily="2" charset="-122"/>
              </a:rPr>
              <a:t>2.Find the first tardy job in the current sequence, say job [i]. If none exists go to step 4</a:t>
            </a:r>
          </a:p>
          <a:p>
            <a:pPr marL="0" indent="0" eaLnBrk="1" hangingPunct="1">
              <a:lnSpc>
                <a:spcPct val="80000"/>
              </a:lnSpc>
              <a:buFont typeface="Wingdings" panose="05000000000000000000" pitchFamily="2" charset="2"/>
              <a:buNone/>
            </a:pPr>
            <a:r>
              <a:rPr lang="en-US" altLang="zh-CN" sz="2400">
                <a:latin typeface="Verdana" panose="020B0604030504040204" pitchFamily="34" charset="0"/>
                <a:ea typeface="宋体" panose="02010600030101010101" pitchFamily="2" charset="-122"/>
              </a:rPr>
              <a:t>3.Consider jobs [1][2]…[i]. Reject the job with the largest processing time. Return to step 2</a:t>
            </a:r>
          </a:p>
          <a:p>
            <a:pPr marL="0" indent="0" eaLnBrk="1" hangingPunct="1">
              <a:lnSpc>
                <a:spcPct val="80000"/>
              </a:lnSpc>
              <a:buFont typeface="Wingdings" panose="05000000000000000000" pitchFamily="2" charset="2"/>
              <a:buNone/>
            </a:pPr>
            <a:r>
              <a:rPr lang="en-US" altLang="zh-CN" sz="2400">
                <a:latin typeface="Verdana" panose="020B0604030504040204" pitchFamily="34" charset="0"/>
                <a:ea typeface="宋体" panose="02010600030101010101" pitchFamily="2" charset="-122"/>
              </a:rPr>
              <a:t>4.Form an optimal sequence by taking the current sequence and appending to it the rejected jobs. The jobs appended to the current sequence may be scheduled in any order because they constitute the tardy jobs.</a:t>
            </a:r>
          </a:p>
          <a:p>
            <a:pPr marL="0" indent="0" eaLnBrk="1" hangingPunct="1">
              <a:lnSpc>
                <a:spcPct val="80000"/>
              </a:lnSpc>
              <a:buFont typeface="Wingdings" panose="05000000000000000000" pitchFamily="2" charset="2"/>
              <a:buNone/>
            </a:pPr>
            <a:endParaRPr lang="en-US" altLang="zh-CN" sz="2400">
              <a:latin typeface="Verdana" panose="020B0604030504040204" pitchFamily="34" charset="0"/>
              <a:ea typeface="宋体" panose="02010600030101010101" pitchFamily="2" charset="-122"/>
            </a:endParaRPr>
          </a:p>
          <a:p>
            <a:pPr marL="0" indent="0" eaLnBrk="1" hangingPunct="1">
              <a:lnSpc>
                <a:spcPct val="80000"/>
              </a:lnSpc>
              <a:buFont typeface="Wingdings" panose="05000000000000000000" pitchFamily="2" charset="2"/>
              <a:buNone/>
            </a:pPr>
            <a:r>
              <a:rPr lang="en-US" altLang="zh-CN" sz="2400">
                <a:solidFill>
                  <a:schemeClr val="tx2"/>
                </a:solidFill>
                <a:latin typeface="Verdana" panose="020B0604030504040204" pitchFamily="34" charset="0"/>
                <a:ea typeface="宋体" panose="02010600030101010101" pitchFamily="2" charset="-122"/>
              </a:rPr>
              <a:t>        Minimize number of tardy jobs</a:t>
            </a:r>
          </a:p>
        </p:txBody>
      </p:sp>
      <p:sp>
        <p:nvSpPr>
          <p:cNvPr id="8499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Example</a:t>
            </a:r>
          </a:p>
        </p:txBody>
      </p:sp>
      <p:graphicFrame>
        <p:nvGraphicFramePr>
          <p:cNvPr id="543782" name="Group 38"/>
          <p:cNvGraphicFramePr>
            <a:graphicFrameLocks noGrp="1"/>
          </p:cNvGraphicFramePr>
          <p:nvPr>
            <p:ph idx="1"/>
          </p:nvPr>
        </p:nvGraphicFramePr>
        <p:xfrm>
          <a:off x="1143000" y="2867025"/>
          <a:ext cx="6986588" cy="1933575"/>
        </p:xfrm>
        <a:graphic>
          <a:graphicData uri="http://schemas.openxmlformats.org/drawingml/2006/table">
            <a:tbl>
              <a:tblPr/>
              <a:tblGrid>
                <a:gridCol w="3098800">
                  <a:extLst>
                    <a:ext uri="{9D8B030D-6E8A-4147-A177-3AD203B41FA5}">
                      <a16:colId xmlns:a16="http://schemas.microsoft.com/office/drawing/2014/main" val="20000"/>
                    </a:ext>
                  </a:extLst>
                </a:gridCol>
                <a:gridCol w="661988">
                  <a:extLst>
                    <a:ext uri="{9D8B030D-6E8A-4147-A177-3AD203B41FA5}">
                      <a16:colId xmlns:a16="http://schemas.microsoft.com/office/drawing/2014/main" val="20001"/>
                    </a:ext>
                  </a:extLst>
                </a:gridCol>
                <a:gridCol w="588962">
                  <a:extLst>
                    <a:ext uri="{9D8B030D-6E8A-4147-A177-3AD203B41FA5}">
                      <a16:colId xmlns:a16="http://schemas.microsoft.com/office/drawing/2014/main" val="20002"/>
                    </a:ext>
                  </a:extLst>
                </a:gridCol>
                <a:gridCol w="574675">
                  <a:extLst>
                    <a:ext uri="{9D8B030D-6E8A-4147-A177-3AD203B41FA5}">
                      <a16:colId xmlns:a16="http://schemas.microsoft.com/office/drawing/2014/main" val="20003"/>
                    </a:ext>
                  </a:extLst>
                </a:gridCol>
                <a:gridCol w="660400">
                  <a:extLst>
                    <a:ext uri="{9D8B030D-6E8A-4147-A177-3AD203B41FA5}">
                      <a16:colId xmlns:a16="http://schemas.microsoft.com/office/drawing/2014/main" val="20004"/>
                    </a:ext>
                  </a:extLst>
                </a:gridCol>
                <a:gridCol w="663575">
                  <a:extLst>
                    <a:ext uri="{9D8B030D-6E8A-4147-A177-3AD203B41FA5}">
                      <a16:colId xmlns:a16="http://schemas.microsoft.com/office/drawing/2014/main" val="20005"/>
                    </a:ext>
                  </a:extLst>
                </a:gridCol>
                <a:gridCol w="738188">
                  <a:extLst>
                    <a:ext uri="{9D8B030D-6E8A-4147-A177-3AD203B41FA5}">
                      <a16:colId xmlns:a16="http://schemas.microsoft.com/office/drawing/2014/main" val="20006"/>
                    </a:ext>
                  </a:extLst>
                </a:gridCol>
              </a:tblGrid>
              <a:tr h="6381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Job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Due 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Processing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6053" name="Text Box 39"/>
          <p:cNvSpPr txBox="1">
            <a:spLocks noChangeArrowheads="1"/>
          </p:cNvSpPr>
          <p:nvPr/>
        </p:nvSpPr>
        <p:spPr bwMode="auto">
          <a:xfrm>
            <a:off x="838200" y="1219200"/>
            <a:ext cx="7924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800" b="0">
                <a:ea typeface="宋体" panose="02010600030101010101" pitchFamily="2" charset="-122"/>
              </a:rPr>
              <a:t>Minimize the number of tardy jobs for a single machine</a:t>
            </a:r>
          </a:p>
        </p:txBody>
      </p:sp>
      <p:sp>
        <p:nvSpPr>
          <p:cNvPr id="8605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Solution</a:t>
            </a:r>
          </a:p>
        </p:txBody>
      </p:sp>
      <p:graphicFrame>
        <p:nvGraphicFramePr>
          <p:cNvPr id="590933" name="Group 85"/>
          <p:cNvGraphicFramePr>
            <a:graphicFrameLocks noGrp="1"/>
          </p:cNvGraphicFramePr>
          <p:nvPr>
            <p:ph idx="1"/>
          </p:nvPr>
        </p:nvGraphicFramePr>
        <p:xfrm>
          <a:off x="762000" y="2133600"/>
          <a:ext cx="7696200" cy="2581275"/>
        </p:xfrm>
        <a:graphic>
          <a:graphicData uri="http://schemas.openxmlformats.org/drawingml/2006/table">
            <a:tbl>
              <a:tblPr/>
              <a:tblGrid>
                <a:gridCol w="3413125">
                  <a:extLst>
                    <a:ext uri="{9D8B030D-6E8A-4147-A177-3AD203B41FA5}">
                      <a16:colId xmlns:a16="http://schemas.microsoft.com/office/drawing/2014/main" val="20000"/>
                    </a:ext>
                  </a:extLst>
                </a:gridCol>
                <a:gridCol w="73025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33413">
                  <a:extLst>
                    <a:ext uri="{9D8B030D-6E8A-4147-A177-3AD203B41FA5}">
                      <a16:colId xmlns:a16="http://schemas.microsoft.com/office/drawing/2014/main" val="20003"/>
                    </a:ext>
                  </a:extLst>
                </a:gridCol>
                <a:gridCol w="727075">
                  <a:extLst>
                    <a:ext uri="{9D8B030D-6E8A-4147-A177-3AD203B41FA5}">
                      <a16:colId xmlns:a16="http://schemas.microsoft.com/office/drawing/2014/main" val="20004"/>
                    </a:ext>
                  </a:extLst>
                </a:gridCol>
                <a:gridCol w="731837">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tblGrid>
              <a:tr h="6381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Job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Due 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Processing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Completion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7085" name="Text Box 37"/>
          <p:cNvSpPr txBox="1">
            <a:spLocks noChangeArrowheads="1"/>
          </p:cNvSpPr>
          <p:nvPr/>
        </p:nvSpPr>
        <p:spPr bwMode="auto">
          <a:xfrm>
            <a:off x="838200" y="1219200"/>
            <a:ext cx="7924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800" b="0">
                <a:ea typeface="宋体" panose="02010600030101010101" pitchFamily="2" charset="-122"/>
              </a:rPr>
              <a:t>Sequence the job according to the EDD rule</a:t>
            </a:r>
          </a:p>
        </p:txBody>
      </p:sp>
      <p:sp>
        <p:nvSpPr>
          <p:cNvPr id="8708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kumimoji="0" lang="en-US" altLang="zh-CN" sz="2800" b="1">
                <a:latin typeface="Verdana" charset="0"/>
                <a:cs typeface="宋体" charset="0"/>
              </a:rPr>
              <a:t>Solution (cont.)</a:t>
            </a:r>
          </a:p>
        </p:txBody>
      </p:sp>
      <p:graphicFrame>
        <p:nvGraphicFramePr>
          <p:cNvPr id="591936" name="Group 64"/>
          <p:cNvGraphicFramePr>
            <a:graphicFrameLocks noGrp="1"/>
          </p:cNvGraphicFramePr>
          <p:nvPr>
            <p:ph idx="1"/>
          </p:nvPr>
        </p:nvGraphicFramePr>
        <p:xfrm>
          <a:off x="1219200" y="1752600"/>
          <a:ext cx="7062788" cy="2581275"/>
        </p:xfrm>
        <a:graphic>
          <a:graphicData uri="http://schemas.openxmlformats.org/drawingml/2006/table">
            <a:tbl>
              <a:tblPr/>
              <a:tblGrid>
                <a:gridCol w="3413125">
                  <a:extLst>
                    <a:ext uri="{9D8B030D-6E8A-4147-A177-3AD203B41FA5}">
                      <a16:colId xmlns:a16="http://schemas.microsoft.com/office/drawing/2014/main" val="20000"/>
                    </a:ext>
                  </a:extLst>
                </a:gridCol>
                <a:gridCol w="73025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727075">
                  <a:extLst>
                    <a:ext uri="{9D8B030D-6E8A-4147-A177-3AD203B41FA5}">
                      <a16:colId xmlns:a16="http://schemas.microsoft.com/office/drawing/2014/main" val="20003"/>
                    </a:ext>
                  </a:extLst>
                </a:gridCol>
                <a:gridCol w="731838">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tblGrid>
              <a:tr h="6381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Job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Due 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Processing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Completion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810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Solution (cont.)</a:t>
            </a:r>
          </a:p>
        </p:txBody>
      </p:sp>
      <p:graphicFrame>
        <p:nvGraphicFramePr>
          <p:cNvPr id="592950" name="Group 54"/>
          <p:cNvGraphicFramePr>
            <a:graphicFrameLocks noGrp="1"/>
          </p:cNvGraphicFramePr>
          <p:nvPr>
            <p:ph idx="1"/>
          </p:nvPr>
        </p:nvGraphicFramePr>
        <p:xfrm>
          <a:off x="1219200" y="1524000"/>
          <a:ext cx="6335713" cy="2581275"/>
        </p:xfrm>
        <a:graphic>
          <a:graphicData uri="http://schemas.openxmlformats.org/drawingml/2006/table">
            <a:tbl>
              <a:tblPr/>
              <a:tblGrid>
                <a:gridCol w="3413125">
                  <a:extLst>
                    <a:ext uri="{9D8B030D-6E8A-4147-A177-3AD203B41FA5}">
                      <a16:colId xmlns:a16="http://schemas.microsoft.com/office/drawing/2014/main" val="20000"/>
                    </a:ext>
                  </a:extLst>
                </a:gridCol>
                <a:gridCol w="73025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731838">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tblGrid>
              <a:tr h="6381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Job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Due 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Processing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77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Completion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92951" name="Text Box 55"/>
          <p:cNvSpPr txBox="1">
            <a:spLocks noChangeArrowheads="1"/>
          </p:cNvSpPr>
          <p:nvPr/>
        </p:nvSpPr>
        <p:spPr bwMode="auto">
          <a:xfrm>
            <a:off x="838200" y="4648200"/>
            <a:ext cx="7467600"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Char char="•"/>
            </a:pPr>
            <a:r>
              <a:rPr lang="en-US" altLang="zh-CN" sz="2400" b="0">
                <a:ea typeface="宋体" panose="02010600030101010101" pitchFamily="2" charset="-122"/>
              </a:rPr>
              <a:t> To minimize the number of tardy jobs, the optimal      sequence is 234651 or 234615. </a:t>
            </a:r>
          </a:p>
          <a:p>
            <a:pPr eaLnBrk="1" hangingPunct="1">
              <a:spcBef>
                <a:spcPct val="50000"/>
              </a:spcBef>
              <a:spcAft>
                <a:spcPct val="0"/>
              </a:spcAft>
              <a:buFontTx/>
              <a:buChar char="•"/>
            </a:pPr>
            <a:r>
              <a:rPr lang="en-US" altLang="zh-CN" sz="2400" b="0">
                <a:ea typeface="宋体" panose="02010600030101010101" pitchFamily="2" charset="-122"/>
              </a:rPr>
              <a:t> The minimum number of tardy jobs is exactly 2.</a:t>
            </a:r>
          </a:p>
        </p:txBody>
      </p:sp>
      <p:sp>
        <p:nvSpPr>
          <p:cNvPr id="8912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2951"/>
                                        </p:tgtEl>
                                        <p:attrNameLst>
                                          <p:attrName>style.visibility</p:attrName>
                                        </p:attrNameLst>
                                      </p:cBhvr>
                                      <p:to>
                                        <p:strVal val="visible"/>
                                      </p:to>
                                    </p:set>
                                    <p:animEffect transition="in" filter="blinds(horizontal)">
                                      <p:cBhvr>
                                        <p:cTn id="7" dur="500"/>
                                        <p:tgtEl>
                                          <p:spTgt spid="5929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95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p:txBody>
          <a:bodyPr>
            <a:normAutofit fontScale="90000"/>
          </a:bodyPr>
          <a:lstStyle/>
          <a:p>
            <a:pPr eaLnBrk="1" hangingPunct="1">
              <a:defRPr/>
            </a:pPr>
            <a:r>
              <a:rPr kumimoji="0" lang="en-US" altLang="zh-CN" sz="3200" b="1" cap="none">
                <a:latin typeface="Verdana" pitchFamily="34" charset="0"/>
                <a:ea typeface="宋体" pitchFamily="2" charset="-122"/>
              </a:rPr>
              <a:t>Lawler’s algorithm (1973)</a:t>
            </a:r>
          </a:p>
        </p:txBody>
      </p:sp>
      <p:sp>
        <p:nvSpPr>
          <p:cNvPr id="90115" name="Rectangle 3"/>
          <p:cNvSpPr>
            <a:spLocks noGrp="1" noChangeArrowheads="1"/>
          </p:cNvSpPr>
          <p:nvPr>
            <p:ph type="body" sz="half" idx="1"/>
          </p:nvPr>
        </p:nvSpPr>
        <p:spPr/>
        <p:txBody>
          <a:bodyPr/>
          <a:lstStyle/>
          <a:p>
            <a:pPr marL="0" indent="0" eaLnBrk="1" hangingPunct="1"/>
            <a:r>
              <a:rPr lang="en-US" altLang="zh-CN" sz="2400">
                <a:latin typeface="Verdana" panose="020B0604030504040204" pitchFamily="34" charset="0"/>
                <a:ea typeface="宋体" panose="02010600030101010101" pitchFamily="2" charset="-122"/>
              </a:rPr>
              <a:t>Objective function</a:t>
            </a:r>
          </a:p>
          <a:p>
            <a:pPr lvl="1" eaLnBrk="1" hangingPunct="1"/>
            <a:r>
              <a:rPr kumimoji="0" lang="en-US" altLang="zh-CN" sz="2400">
                <a:ea typeface="宋体" panose="02010600030101010101" pitchFamily="2" charset="-122"/>
              </a:rPr>
              <a:t>g</a:t>
            </a:r>
            <a:r>
              <a:rPr kumimoji="0" lang="en-US" altLang="zh-CN" sz="1800">
                <a:ea typeface="宋体" panose="02010600030101010101" pitchFamily="2" charset="-122"/>
              </a:rPr>
              <a:t>i</a:t>
            </a:r>
            <a:r>
              <a:rPr kumimoji="0" lang="en-US" altLang="zh-CN" sz="2400">
                <a:ea typeface="宋体" panose="02010600030101010101" pitchFamily="2" charset="-122"/>
              </a:rPr>
              <a:t> is any nondecreasing function of flow time F</a:t>
            </a:r>
            <a:r>
              <a:rPr kumimoji="0" lang="en-US" altLang="zh-CN" sz="1800">
                <a:ea typeface="宋体" panose="02010600030101010101" pitchFamily="2" charset="-122"/>
              </a:rPr>
              <a:t>i</a:t>
            </a:r>
          </a:p>
          <a:p>
            <a:pPr marL="0" indent="0" eaLnBrk="1" hangingPunct="1"/>
            <a:r>
              <a:rPr lang="en-US" altLang="zh-CN" sz="2400">
                <a:latin typeface="Verdana" panose="020B0604030504040204" pitchFamily="34" charset="0"/>
                <a:ea typeface="宋体" panose="02010600030101010101" pitchFamily="2" charset="-122"/>
              </a:rPr>
              <a:t>Minimizing </a:t>
            </a:r>
            <a:r>
              <a:rPr lang="en-US" altLang="zh-CN" sz="2400">
                <a:solidFill>
                  <a:srgbClr val="0000FF"/>
                </a:solidFill>
                <a:latin typeface="Verdana" panose="020B0604030504040204" pitchFamily="34" charset="0"/>
                <a:ea typeface="宋体" panose="02010600030101010101" pitchFamily="2" charset="-122"/>
              </a:rPr>
              <a:t>maximum lateness</a:t>
            </a: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r>
              <a:rPr lang="en-US" altLang="zh-CN" sz="2400">
                <a:latin typeface="Verdana" panose="020B0604030504040204" pitchFamily="34" charset="0"/>
                <a:ea typeface="宋体" panose="02010600030101010101" pitchFamily="2" charset="-122"/>
              </a:rPr>
              <a:t>Minimizing </a:t>
            </a:r>
            <a:r>
              <a:rPr lang="en-US" altLang="zh-CN" sz="2400">
                <a:solidFill>
                  <a:srgbClr val="0000FF"/>
                </a:solidFill>
                <a:latin typeface="Verdana" panose="020B0604030504040204" pitchFamily="34" charset="0"/>
                <a:ea typeface="宋体" panose="02010600030101010101" pitchFamily="2" charset="-122"/>
              </a:rPr>
              <a:t>maximum tardiness</a:t>
            </a:r>
          </a:p>
        </p:txBody>
      </p:sp>
      <p:graphicFrame>
        <p:nvGraphicFramePr>
          <p:cNvPr id="90116" name="Object 4"/>
          <p:cNvGraphicFramePr>
            <a:graphicFrameLocks noGrp="1" noChangeAspect="1"/>
          </p:cNvGraphicFramePr>
          <p:nvPr>
            <p:ph sz="quarter" idx="2"/>
          </p:nvPr>
        </p:nvGraphicFramePr>
        <p:xfrm>
          <a:off x="4716463" y="1204913"/>
          <a:ext cx="2879725" cy="792162"/>
        </p:xfrm>
        <a:graphic>
          <a:graphicData uri="http://schemas.openxmlformats.org/presentationml/2006/ole">
            <mc:AlternateContent xmlns:mc="http://schemas.openxmlformats.org/markup-compatibility/2006">
              <mc:Choice xmlns:v="urn:schemas-microsoft-com:vml" Requires="v">
                <p:oleObj spid="_x0000_s90216" name="Equation" r:id="rId3" imgW="1016000" imgH="279400" progId="Equation.3">
                  <p:embed/>
                </p:oleObj>
              </mc:Choice>
              <mc:Fallback>
                <p:oleObj name="Equation" r:id="rId3" imgW="1016000" imgH="279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463" y="1204913"/>
                        <a:ext cx="2879725"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17" name="Object 5"/>
          <p:cNvGraphicFramePr>
            <a:graphicFrameLocks noGrp="1" noChangeAspect="1"/>
          </p:cNvGraphicFramePr>
          <p:nvPr>
            <p:ph sz="quarter" idx="3"/>
          </p:nvPr>
        </p:nvGraphicFramePr>
        <p:xfrm>
          <a:off x="4648200" y="2895600"/>
          <a:ext cx="3095625" cy="887413"/>
        </p:xfrm>
        <a:graphic>
          <a:graphicData uri="http://schemas.openxmlformats.org/presentationml/2006/ole">
            <mc:AlternateContent xmlns:mc="http://schemas.openxmlformats.org/markup-compatibility/2006">
              <mc:Choice xmlns:v="urn:schemas-microsoft-com:vml" Requires="v">
                <p:oleObj spid="_x0000_s90217" name="Equation" r:id="rId5" imgW="952087" imgH="228501" progId="Equation.3">
                  <p:embed/>
                </p:oleObj>
              </mc:Choice>
              <mc:Fallback>
                <p:oleObj name="Equation" r:id="rId5" imgW="952087" imgH="228501"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2895600"/>
                        <a:ext cx="3095625"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18" name="Object 6"/>
          <p:cNvGraphicFramePr>
            <a:graphicFrameLocks noChangeAspect="1"/>
          </p:cNvGraphicFramePr>
          <p:nvPr/>
        </p:nvGraphicFramePr>
        <p:xfrm>
          <a:off x="4343400" y="4724400"/>
          <a:ext cx="4500563" cy="717550"/>
        </p:xfrm>
        <a:graphic>
          <a:graphicData uri="http://schemas.openxmlformats.org/presentationml/2006/ole">
            <mc:AlternateContent xmlns:mc="http://schemas.openxmlformats.org/markup-compatibility/2006">
              <mc:Choice xmlns:v="urn:schemas-microsoft-com:vml" Requires="v">
                <p:oleObj spid="_x0000_s90218" name="公式" r:id="rId7" imgW="1435100" imgH="228600" progId="Equation.3">
                  <p:embed/>
                </p:oleObj>
              </mc:Choice>
              <mc:Fallback>
                <p:oleObj name="公式" r:id="rId7" imgW="143510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4724400"/>
                        <a:ext cx="4500563"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0119"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normAutofit fontScale="90000"/>
          </a:bodyPr>
          <a:lstStyle/>
          <a:p>
            <a:pPr eaLnBrk="1" hangingPunct="1">
              <a:defRPr/>
            </a:pPr>
            <a:r>
              <a:rPr kumimoji="0" lang="en-US" altLang="zh-CN" sz="3200" b="1" cap="none">
                <a:latin typeface="Verdana" pitchFamily="34" charset="0"/>
                <a:ea typeface="宋体" pitchFamily="2" charset="-122"/>
              </a:rPr>
              <a:t>Lawler’s algorithm</a:t>
            </a:r>
          </a:p>
        </p:txBody>
      </p:sp>
      <p:sp>
        <p:nvSpPr>
          <p:cNvPr id="91139" name="Rectangle 3"/>
          <p:cNvSpPr>
            <a:spLocks noGrp="1" noChangeArrowheads="1"/>
          </p:cNvSpPr>
          <p:nvPr>
            <p:ph type="body" idx="1"/>
          </p:nvPr>
        </p:nvSpPr>
        <p:spPr>
          <a:xfrm>
            <a:off x="457200" y="914400"/>
            <a:ext cx="8153400" cy="5562600"/>
          </a:xfrm>
        </p:spPr>
        <p:txBody>
          <a:bodyPr/>
          <a:lstStyle/>
          <a:p>
            <a:pPr marL="0" indent="0" eaLnBrk="1" hangingPunct="1">
              <a:lnSpc>
                <a:spcPct val="150000"/>
              </a:lnSpc>
            </a:pPr>
            <a:r>
              <a:rPr lang="en-US" altLang="zh-CN" sz="2400">
                <a:latin typeface="Verdana" panose="020B0604030504040204" pitchFamily="34" charset="0"/>
                <a:ea typeface="宋体" panose="02010600030101010101" pitchFamily="2" charset="-122"/>
              </a:rPr>
              <a:t>Lawler’s algorithm first schedules the job to be completed last, then the job to be completed next to last, and so on. At each stage one determines the set of jobs not required to precede any other.</a:t>
            </a:r>
          </a:p>
        </p:txBody>
      </p:sp>
      <p:sp>
        <p:nvSpPr>
          <p:cNvPr id="9114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457200" y="304800"/>
            <a:ext cx="7391400" cy="398463"/>
          </a:xfrm>
        </p:spPr>
        <p:txBody>
          <a:bodyPr>
            <a:noAutofit/>
          </a:bodyPr>
          <a:lstStyle/>
          <a:p>
            <a:pPr eaLnBrk="1" hangingPunct="1">
              <a:defRPr/>
            </a:pPr>
            <a:r>
              <a:rPr kumimoji="0" lang="en-US" altLang="zh-CN" sz="3200" b="1" dirty="0">
                <a:latin typeface="Verdana" charset="0"/>
                <a:cs typeface="宋体" charset="0"/>
              </a:rPr>
              <a:t>Exercise</a:t>
            </a:r>
          </a:p>
        </p:txBody>
      </p:sp>
      <p:sp>
        <p:nvSpPr>
          <p:cNvPr id="92163" name="Rectangle 3"/>
          <p:cNvSpPr>
            <a:spLocks noGrp="1" noChangeArrowheads="1"/>
          </p:cNvSpPr>
          <p:nvPr>
            <p:ph type="body" sz="half" idx="1"/>
          </p:nvPr>
        </p:nvSpPr>
        <p:spPr>
          <a:xfrm>
            <a:off x="468313" y="715963"/>
            <a:ext cx="8424862" cy="5761037"/>
          </a:xfrm>
        </p:spPr>
        <p:txBody>
          <a:bodyPr/>
          <a:lstStyle/>
          <a:p>
            <a:pPr marL="0" indent="0" eaLnBrk="1" hangingPunct="1">
              <a:lnSpc>
                <a:spcPct val="90000"/>
              </a:lnSpc>
            </a:pPr>
            <a:r>
              <a:rPr lang="en-US" altLang="zh-CN">
                <a:latin typeface="Verdana" panose="020B0604030504040204" pitchFamily="34" charset="0"/>
                <a:ea typeface="宋体" panose="02010600030101010101" pitchFamily="2" charset="-122"/>
              </a:rPr>
              <a:t>Tony D’Amato runs a local body shop that does automotive painting and repairs. On a particular Monday morning he has 6 cars waiting for repair. Three (1,2,3) are from a car rental company and he has agreed to </a:t>
            </a:r>
            <a:r>
              <a:rPr lang="en-US" altLang="zh-CN">
                <a:solidFill>
                  <a:schemeClr val="tx2"/>
                </a:solidFill>
                <a:latin typeface="Verdana" panose="020B0604030504040204" pitchFamily="34" charset="0"/>
                <a:ea typeface="宋体" panose="02010600030101010101" pitchFamily="2" charset="-122"/>
              </a:rPr>
              <a:t>finish 3 cars</a:t>
            </a:r>
            <a:r>
              <a:rPr lang="en-US" altLang="zh-CN">
                <a:latin typeface="Verdana" panose="020B0604030504040204" pitchFamily="34" charset="0"/>
                <a:ea typeface="宋体" panose="02010600030101010101" pitchFamily="2" charset="-122"/>
              </a:rPr>
              <a:t> </a:t>
            </a:r>
            <a:r>
              <a:rPr lang="en-US" altLang="zh-CN">
                <a:solidFill>
                  <a:schemeClr val="tx2"/>
                </a:solidFill>
                <a:latin typeface="Verdana" panose="020B0604030504040204" pitchFamily="34" charset="0"/>
                <a:ea typeface="宋体" panose="02010600030101010101" pitchFamily="2" charset="-122"/>
              </a:rPr>
              <a:t>in the order of the dates that they were promised</a:t>
            </a:r>
            <a:r>
              <a:rPr lang="en-US" altLang="zh-CN">
                <a:latin typeface="Verdana" panose="020B0604030504040204" pitchFamily="34" charset="0"/>
                <a:ea typeface="宋体" panose="02010600030101010101" pitchFamily="2" charset="-122"/>
              </a:rPr>
              <a:t>. Cars 4,5,6 are from a retail dealer who has requested that </a:t>
            </a:r>
            <a:r>
              <a:rPr lang="en-US" altLang="zh-CN">
                <a:solidFill>
                  <a:schemeClr val="tx2"/>
                </a:solidFill>
                <a:latin typeface="Verdana" panose="020B0604030504040204" pitchFamily="34" charset="0"/>
                <a:ea typeface="宋体" panose="02010600030101010101" pitchFamily="2" charset="-122"/>
              </a:rPr>
              <a:t>car 4 be completed first</a:t>
            </a:r>
            <a:r>
              <a:rPr lang="en-US" altLang="zh-CN">
                <a:latin typeface="Verdana" panose="020B0604030504040204" pitchFamily="34" charset="0"/>
                <a:ea typeface="宋体" panose="02010600030101010101" pitchFamily="2" charset="-122"/>
              </a:rPr>
              <a:t> because a customer is waiting for it.</a:t>
            </a:r>
          </a:p>
          <a:p>
            <a:pPr marL="0" indent="0" eaLnBrk="1" hangingPunct="1">
              <a:lnSpc>
                <a:spcPct val="90000"/>
              </a:lnSpc>
            </a:pPr>
            <a:r>
              <a:rPr lang="en-US" altLang="zh-CN">
                <a:latin typeface="Verdana" panose="020B0604030504040204" pitchFamily="34" charset="0"/>
                <a:ea typeface="宋体" panose="02010600030101010101" pitchFamily="2" charset="-122"/>
              </a:rPr>
              <a:t>The times required to repair each of the cars (in days) and the associated promised completion dates are</a:t>
            </a:r>
          </a:p>
          <a:p>
            <a:pPr marL="0" indent="0" eaLnBrk="1" hangingPunct="1">
              <a:lnSpc>
                <a:spcPct val="90000"/>
              </a:lnSpc>
            </a:pPr>
            <a:endParaRPr lang="en-US" altLang="zh-CN">
              <a:latin typeface="Verdana" panose="020B0604030504040204" pitchFamily="34" charset="0"/>
              <a:ea typeface="宋体" panose="02010600030101010101" pitchFamily="2" charset="-122"/>
            </a:endParaRPr>
          </a:p>
          <a:p>
            <a:pPr marL="0" indent="0" eaLnBrk="1" hangingPunct="1">
              <a:lnSpc>
                <a:spcPct val="90000"/>
              </a:lnSpc>
            </a:pPr>
            <a:endParaRPr lang="en-US" altLang="zh-CN">
              <a:latin typeface="Verdana" panose="020B0604030504040204" pitchFamily="34" charset="0"/>
              <a:ea typeface="宋体" panose="02010600030101010101" pitchFamily="2" charset="-122"/>
            </a:endParaRPr>
          </a:p>
          <a:p>
            <a:pPr marL="0" indent="0" eaLnBrk="1" hangingPunct="1">
              <a:lnSpc>
                <a:spcPct val="90000"/>
              </a:lnSpc>
            </a:pPr>
            <a:endParaRPr lang="en-US" altLang="zh-CN">
              <a:latin typeface="Verdana" panose="020B0604030504040204" pitchFamily="34" charset="0"/>
              <a:ea typeface="宋体" panose="02010600030101010101" pitchFamily="2" charset="-122"/>
            </a:endParaRPr>
          </a:p>
          <a:p>
            <a:pPr marL="0" indent="0" eaLnBrk="1" hangingPunct="1">
              <a:lnSpc>
                <a:spcPct val="90000"/>
              </a:lnSpc>
            </a:pPr>
            <a:endParaRPr lang="en-US" altLang="zh-CN">
              <a:latin typeface="Verdana" panose="020B0604030504040204" pitchFamily="34" charset="0"/>
              <a:ea typeface="宋体" panose="02010600030101010101" pitchFamily="2" charset="-122"/>
            </a:endParaRPr>
          </a:p>
          <a:p>
            <a:pPr marL="0" indent="0" eaLnBrk="1" hangingPunct="1">
              <a:lnSpc>
                <a:spcPct val="90000"/>
              </a:lnSpc>
            </a:pPr>
            <a:endParaRPr lang="en-US" altLang="zh-CN">
              <a:latin typeface="Verdana" panose="020B0604030504040204" pitchFamily="34" charset="0"/>
              <a:ea typeface="宋体" panose="02010600030101010101" pitchFamily="2" charset="-122"/>
            </a:endParaRPr>
          </a:p>
          <a:p>
            <a:pPr marL="0" indent="0" eaLnBrk="1" hangingPunct="1">
              <a:lnSpc>
                <a:spcPct val="90000"/>
              </a:lnSpc>
            </a:pPr>
            <a:r>
              <a:rPr lang="en-US" altLang="zh-CN">
                <a:latin typeface="Verdana" panose="020B0604030504040204" pitchFamily="34" charset="0"/>
                <a:ea typeface="宋体" panose="02010600030101010101" pitchFamily="2" charset="-122"/>
              </a:rPr>
              <a:t>Determine how the repair of the cars should be scheduled through the shop in order to </a:t>
            </a:r>
            <a:r>
              <a:rPr lang="en-US" altLang="zh-CN">
                <a:solidFill>
                  <a:schemeClr val="tx2"/>
                </a:solidFill>
                <a:latin typeface="Verdana" panose="020B0604030504040204" pitchFamily="34" charset="0"/>
                <a:ea typeface="宋体" panose="02010600030101010101" pitchFamily="2" charset="-122"/>
              </a:rPr>
              <a:t>minimize the maximum tardiness</a:t>
            </a:r>
            <a:r>
              <a:rPr lang="en-US" altLang="zh-CN">
                <a:latin typeface="Verdana" panose="020B0604030504040204" pitchFamily="34" charset="0"/>
                <a:ea typeface="宋体" panose="02010600030101010101" pitchFamily="2" charset="-122"/>
              </a:rPr>
              <a:t>.</a:t>
            </a:r>
          </a:p>
        </p:txBody>
      </p:sp>
      <p:graphicFrame>
        <p:nvGraphicFramePr>
          <p:cNvPr id="546820" name="Group 4"/>
          <p:cNvGraphicFramePr>
            <a:graphicFrameLocks noGrp="1"/>
          </p:cNvGraphicFramePr>
          <p:nvPr>
            <p:ph sz="half" idx="2"/>
          </p:nvPr>
        </p:nvGraphicFramePr>
        <p:xfrm>
          <a:off x="1905000" y="3886200"/>
          <a:ext cx="5164138" cy="1417638"/>
        </p:xfrm>
        <a:graphic>
          <a:graphicData uri="http://schemas.openxmlformats.org/drawingml/2006/table">
            <a:tbl>
              <a:tblPr/>
              <a:tblGrid>
                <a:gridCol w="2717800">
                  <a:extLst>
                    <a:ext uri="{9D8B030D-6E8A-4147-A177-3AD203B41FA5}">
                      <a16:colId xmlns:a16="http://schemas.microsoft.com/office/drawing/2014/main" val="20000"/>
                    </a:ext>
                  </a:extLst>
                </a:gridCol>
                <a:gridCol w="382588">
                  <a:extLst>
                    <a:ext uri="{9D8B030D-6E8A-4147-A177-3AD203B41FA5}">
                      <a16:colId xmlns:a16="http://schemas.microsoft.com/office/drawing/2014/main" val="20001"/>
                    </a:ext>
                  </a:extLst>
                </a:gridCol>
                <a:gridCol w="341312">
                  <a:extLst>
                    <a:ext uri="{9D8B030D-6E8A-4147-A177-3AD203B41FA5}">
                      <a16:colId xmlns:a16="http://schemas.microsoft.com/office/drawing/2014/main" val="20002"/>
                    </a:ext>
                  </a:extLst>
                </a:gridCol>
                <a:gridCol w="331788">
                  <a:extLst>
                    <a:ext uri="{9D8B030D-6E8A-4147-A177-3AD203B41FA5}">
                      <a16:colId xmlns:a16="http://schemas.microsoft.com/office/drawing/2014/main" val="20003"/>
                    </a:ext>
                  </a:extLst>
                </a:gridCol>
                <a:gridCol w="382587">
                  <a:extLst>
                    <a:ext uri="{9D8B030D-6E8A-4147-A177-3AD203B41FA5}">
                      <a16:colId xmlns:a16="http://schemas.microsoft.com/office/drawing/2014/main" val="20004"/>
                    </a:ext>
                  </a:extLst>
                </a:gridCol>
                <a:gridCol w="581025">
                  <a:extLst>
                    <a:ext uri="{9D8B030D-6E8A-4147-A177-3AD203B41FA5}">
                      <a16:colId xmlns:a16="http://schemas.microsoft.com/office/drawing/2014/main" val="20005"/>
                    </a:ext>
                  </a:extLst>
                </a:gridCol>
                <a:gridCol w="427038">
                  <a:extLst>
                    <a:ext uri="{9D8B030D-6E8A-4147-A177-3AD203B41FA5}">
                      <a16:colId xmlns:a16="http://schemas.microsoft.com/office/drawing/2014/main" val="20006"/>
                    </a:ext>
                  </a:extLst>
                </a:gridCol>
              </a:tblGrid>
              <a:tr h="4730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Job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14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Processing time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0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Due date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219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ea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Solution</a:t>
            </a:r>
          </a:p>
        </p:txBody>
      </p:sp>
      <p:sp>
        <p:nvSpPr>
          <p:cNvPr id="93187"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First we find the job scheduled last (sixth)</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Among the candidates for the last position are those jobs that are not predecessors of other jobs. These are 3, 5, and 6.</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The total processing time of all jobs is 15.</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As the objective is to minimize the maximum tardiness, we compare the tardiness of these three jobs and pick the one with the smallest value.</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	min{15-9, 15-11, 15-7}=4, corresponding to job 5</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Hence job 5 is scheduled last (position 6)</a:t>
            </a:r>
          </a:p>
        </p:txBody>
      </p:sp>
      <p:sp>
        <p:nvSpPr>
          <p:cNvPr id="9318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Solution (cont.)</a:t>
            </a:r>
          </a:p>
        </p:txBody>
      </p:sp>
      <p:sp>
        <p:nvSpPr>
          <p:cNvPr id="94211"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Next we find the job scheduled fifth</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The candidates are jobs 3 and 6 only.</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Current total processing time = 15-2=13</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Min{13-9, 13-7}=4, corresponding to job 3</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Hence job 3 is scheduled in the fifth position</a:t>
            </a:r>
          </a:p>
        </p:txBody>
      </p:sp>
      <p:sp>
        <p:nvSpPr>
          <p:cNvPr id="9421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Solution (cont.)</a:t>
            </a:r>
          </a:p>
        </p:txBody>
      </p:sp>
      <p:sp>
        <p:nvSpPr>
          <p:cNvPr id="95235"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Find the job scheduled fourth</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Because job 3 is no longer on the list, job 2 now becomes a candidate.</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Current total processing time = 13-4=9</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Min{9-6, 9-7}=2, corresponding to job 6</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Hence job 6 is scheduled in the fourth position</a:t>
            </a:r>
          </a:p>
        </p:txBody>
      </p:sp>
      <p:sp>
        <p:nvSpPr>
          <p:cNvPr id="9523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Solution (cont.)</a:t>
            </a:r>
          </a:p>
        </p:txBody>
      </p:sp>
      <p:sp>
        <p:nvSpPr>
          <p:cNvPr id="96259"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Find the job scheduled third</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Job 6 has been scheduled, so job 4 now becomes a candidate along with job 2</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Current total processing time = 9-1=8</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Min{8-6, 8-7}=1, corresponding to job 4</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Hence job 4 is schedule in the third position</a:t>
            </a:r>
          </a:p>
        </p:txBody>
      </p:sp>
      <p:sp>
        <p:nvSpPr>
          <p:cNvPr id="9626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defRPr/>
            </a:pPr>
            <a:r>
              <a:rPr kumimoji="0" lang="en-US" altLang="zh-CN" sz="2800" b="1">
                <a:latin typeface="Verdana" charset="0"/>
                <a:cs typeface="宋体" charset="0"/>
              </a:rPr>
              <a:t>Solution (cont.)</a:t>
            </a:r>
          </a:p>
        </p:txBody>
      </p:sp>
      <p:sp>
        <p:nvSpPr>
          <p:cNvPr id="97283"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We would find the job scheduled second</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However, we are left with only jobs 1 and 2, which, because of the precedence constraints, must be scheduled in the order 1-2</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Hence, the optimal sequence to minimize the maximum tardiness is </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	1-2-4-6-3-5</a:t>
            </a:r>
          </a:p>
        </p:txBody>
      </p:sp>
      <p:sp>
        <p:nvSpPr>
          <p:cNvPr id="9728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defRPr/>
            </a:pPr>
            <a:r>
              <a:rPr kumimoji="0" lang="en-US" altLang="zh-CN" sz="2800" b="1" dirty="0">
                <a:latin typeface="Verdana" charset="0"/>
                <a:cs typeface="宋体" charset="0"/>
              </a:rPr>
              <a:t>Solution (cont.)</a:t>
            </a:r>
          </a:p>
        </p:txBody>
      </p:sp>
      <p:sp>
        <p:nvSpPr>
          <p:cNvPr id="98307" name="Rectangle 3"/>
          <p:cNvSpPr>
            <a:spLocks noGrp="1" noChangeArrowheads="1"/>
          </p:cNvSpPr>
          <p:nvPr>
            <p:ph type="body" sz="half" idx="1"/>
          </p:nvPr>
        </p:nvSpPr>
        <p:spPr>
          <a:xfrm>
            <a:off x="457200" y="990600"/>
            <a:ext cx="8229600" cy="914400"/>
          </a:xfrm>
        </p:spPr>
        <p:txBody>
          <a:bodyPr/>
          <a:lstStyle/>
          <a:p>
            <a:pPr marL="0" indent="0" eaLnBrk="1" hangingPunct="1"/>
            <a:r>
              <a:rPr lang="en-US" altLang="zh-CN" sz="2400">
                <a:latin typeface="Verdana" panose="020B0604030504040204" pitchFamily="34" charset="0"/>
                <a:ea typeface="宋体" panose="02010600030101010101" pitchFamily="2" charset="-122"/>
              </a:rPr>
              <a:t>The value of objective function</a:t>
            </a:r>
          </a:p>
        </p:txBody>
      </p:sp>
      <p:graphicFrame>
        <p:nvGraphicFramePr>
          <p:cNvPr id="599103" name="Group 63"/>
          <p:cNvGraphicFramePr>
            <a:graphicFrameLocks noGrp="1"/>
          </p:cNvGraphicFramePr>
          <p:nvPr>
            <p:ph sz="half" idx="2"/>
          </p:nvPr>
        </p:nvGraphicFramePr>
        <p:xfrm>
          <a:off x="457200" y="1981200"/>
          <a:ext cx="8229600" cy="4224338"/>
        </p:xfrm>
        <a:graphic>
          <a:graphicData uri="http://schemas.openxmlformats.org/drawingml/2006/table">
            <a:tbl>
              <a:tblPr/>
              <a:tblGrid>
                <a:gridCol w="1646238">
                  <a:extLst>
                    <a:ext uri="{9D8B030D-6E8A-4147-A177-3AD203B41FA5}">
                      <a16:colId xmlns:a16="http://schemas.microsoft.com/office/drawing/2014/main" val="20000"/>
                    </a:ext>
                  </a:extLst>
                </a:gridCol>
                <a:gridCol w="1646237">
                  <a:extLst>
                    <a:ext uri="{9D8B030D-6E8A-4147-A177-3AD203B41FA5}">
                      <a16:colId xmlns:a16="http://schemas.microsoft.com/office/drawing/2014/main" val="20001"/>
                    </a:ext>
                  </a:extLst>
                </a:gridCol>
                <a:gridCol w="1644650">
                  <a:extLst>
                    <a:ext uri="{9D8B030D-6E8A-4147-A177-3AD203B41FA5}">
                      <a16:colId xmlns:a16="http://schemas.microsoft.com/office/drawing/2014/main" val="20002"/>
                    </a:ext>
                  </a:extLst>
                </a:gridCol>
                <a:gridCol w="1646238">
                  <a:extLst>
                    <a:ext uri="{9D8B030D-6E8A-4147-A177-3AD203B41FA5}">
                      <a16:colId xmlns:a16="http://schemas.microsoft.com/office/drawing/2014/main" val="20003"/>
                    </a:ext>
                  </a:extLst>
                </a:gridCol>
                <a:gridCol w="1646237">
                  <a:extLst>
                    <a:ext uri="{9D8B030D-6E8A-4147-A177-3AD203B41FA5}">
                      <a16:colId xmlns:a16="http://schemas.microsoft.com/office/drawing/2014/main" val="20004"/>
                    </a:ext>
                  </a:extLst>
                </a:gridCol>
              </a:tblGrid>
              <a:tr h="6429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Job</a:t>
                      </a:r>
                    </a:p>
                  </a:txBody>
                  <a:tcPr marL="90000" marR="90000" marT="46808" marB="4680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Processing time</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Completion time</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Due date</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Tardiness</a:t>
                      </a:r>
                    </a:p>
                  </a:txBody>
                  <a:tcPr marL="90000" marR="90000" marT="46808" marB="4680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969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txBody>
                  <a:tcPr marL="90000" marR="90000" marT="46808" marB="4680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0</a:t>
                      </a:r>
                    </a:p>
                  </a:txBody>
                  <a:tcPr marL="90000" marR="90000" marT="46808" marB="4680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69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8" marB="4680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6</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0</a:t>
                      </a:r>
                    </a:p>
                  </a:txBody>
                  <a:tcPr marL="90000" marR="90000" marT="46808" marB="4680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69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8" marB="4680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8</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7</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txBody>
                  <a:tcPr marL="90000" marR="90000" marT="46808" marB="4680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69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6</a:t>
                      </a:r>
                    </a:p>
                  </a:txBody>
                  <a:tcPr marL="90000" marR="90000" marT="46808" marB="4680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9</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7</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8" marB="4680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69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8" marB="4680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13</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9</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8" marB="4680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690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marL="90000" marR="90000" marT="46808" marB="4680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15</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11</a:t>
                      </a:r>
                    </a:p>
                  </a:txBody>
                  <a:tcPr marL="90000" marR="90000" marT="46808" marB="46808"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8" marB="4680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835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381000" y="122238"/>
            <a:ext cx="8305800" cy="563562"/>
          </a:xfrm>
        </p:spPr>
        <p:txBody>
          <a:bodyPr>
            <a:normAutofit fontScale="90000"/>
          </a:bodyPr>
          <a:lstStyle/>
          <a:p>
            <a:pPr eaLnBrk="1" hangingPunct="1">
              <a:defRPr/>
            </a:pPr>
            <a:r>
              <a:rPr kumimoji="0" lang="en-US" altLang="zh-CN" sz="2800" b="1" dirty="0">
                <a:latin typeface="Verdana" charset="0"/>
                <a:cs typeface="宋体" charset="0"/>
              </a:rPr>
              <a:t>Sequencing theory for </a:t>
            </a:r>
            <a:r>
              <a:rPr kumimoji="0" lang="en-US" altLang="zh-CN" sz="2800" b="1" i="1" u="sng" dirty="0">
                <a:latin typeface="Verdana" charset="0"/>
                <a:cs typeface="宋体" charset="0"/>
              </a:rPr>
              <a:t>a single machine</a:t>
            </a:r>
          </a:p>
        </p:txBody>
      </p:sp>
      <p:sp>
        <p:nvSpPr>
          <p:cNvPr id="101379" name="Rectangle 3"/>
          <p:cNvSpPr>
            <a:spLocks noGrp="1" noChangeArrowheads="1"/>
          </p:cNvSpPr>
          <p:nvPr>
            <p:ph type="body" idx="1"/>
          </p:nvPr>
        </p:nvSpPr>
        <p:spPr>
          <a:xfrm>
            <a:off x="323850" y="1143000"/>
            <a:ext cx="8362950" cy="5257800"/>
          </a:xfrm>
        </p:spPr>
        <p:txBody>
          <a:bodyPr/>
          <a:lstStyle/>
          <a:p>
            <a:pPr eaLnBrk="1" hangingPunct="1">
              <a:lnSpc>
                <a:spcPct val="8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The scheduling rule that minimizes the </a:t>
            </a:r>
            <a:r>
              <a:rPr lang="en-US" altLang="zh-CN" sz="2400">
                <a:solidFill>
                  <a:srgbClr val="0000FF"/>
                </a:solidFill>
                <a:latin typeface="Verdana" panose="020B0604030504040204" pitchFamily="34" charset="0"/>
                <a:ea typeface="宋体" panose="02010600030101010101" pitchFamily="2" charset="-122"/>
              </a:rPr>
              <a:t>mean flow time</a:t>
            </a:r>
            <a:r>
              <a:rPr lang="en-US" altLang="zh-CN" sz="2400">
                <a:latin typeface="Verdana" panose="020B0604030504040204" pitchFamily="34" charset="0"/>
                <a:ea typeface="宋体" panose="02010600030101010101" pitchFamily="2" charset="-122"/>
              </a:rPr>
              <a:t> is </a:t>
            </a:r>
            <a:r>
              <a:rPr lang="en-US" altLang="zh-CN" sz="2400">
                <a:solidFill>
                  <a:schemeClr val="tx2"/>
                </a:solidFill>
                <a:latin typeface="Verdana" panose="020B0604030504040204" pitchFamily="34" charset="0"/>
                <a:ea typeface="宋体" panose="02010600030101010101" pitchFamily="2" charset="-122"/>
              </a:rPr>
              <a:t>Shortest Processing Time</a:t>
            </a:r>
          </a:p>
          <a:p>
            <a:pPr lvl="1" eaLnBrk="1" hangingPunct="1">
              <a:lnSpc>
                <a:spcPct val="80000"/>
              </a:lnSpc>
            </a:pPr>
            <a:r>
              <a:rPr kumimoji="0" lang="en-US" altLang="zh-CN" sz="2400">
                <a:ea typeface="宋体" panose="02010600030101010101" pitchFamily="2" charset="-122"/>
              </a:rPr>
              <a:t>The following measures are equivalent: mean flow time, mean waiting time, and mean lateness for single machine</a:t>
            </a:r>
          </a:p>
          <a:p>
            <a:pPr lvl="1" eaLnBrk="1" hangingPunct="1">
              <a:lnSpc>
                <a:spcPct val="80000"/>
              </a:lnSpc>
            </a:pPr>
            <a:r>
              <a:rPr kumimoji="0" lang="en-US" altLang="zh-CN" sz="2400">
                <a:ea typeface="宋体" panose="02010600030101010101" pitchFamily="2" charset="-122"/>
              </a:rPr>
              <a:t>SPT minimizes mean flow time, mean waiting time, and mean lateness for single-machine sequencing.</a:t>
            </a:r>
          </a:p>
          <a:p>
            <a:pPr eaLnBrk="1" hangingPunct="1">
              <a:lnSpc>
                <a:spcPct val="80000"/>
              </a:lnSpc>
              <a:buFont typeface="Arial" panose="020B0604020202020204" pitchFamily="34" charset="0"/>
              <a:buChar char="•"/>
            </a:pPr>
            <a:r>
              <a:rPr lang="en-US" altLang="zh-CN" sz="2400">
                <a:solidFill>
                  <a:schemeClr val="tx2"/>
                </a:solidFill>
                <a:latin typeface="Verdana" panose="020B0604030504040204" pitchFamily="34" charset="0"/>
                <a:ea typeface="宋体" panose="02010600030101010101" pitchFamily="2" charset="-122"/>
              </a:rPr>
              <a:t>Earliest due date</a:t>
            </a:r>
            <a:r>
              <a:rPr lang="en-US" altLang="zh-CN" sz="2400">
                <a:latin typeface="Verdana" panose="020B0604030504040204" pitchFamily="34" charset="0"/>
                <a:ea typeface="宋体" panose="02010600030101010101" pitchFamily="2" charset="-122"/>
              </a:rPr>
              <a:t> minimizes the </a:t>
            </a:r>
            <a:r>
              <a:rPr lang="en-US" altLang="zh-CN" sz="2400">
                <a:solidFill>
                  <a:srgbClr val="0000FF"/>
                </a:solidFill>
                <a:latin typeface="Verdana" panose="020B0604030504040204" pitchFamily="34" charset="0"/>
                <a:ea typeface="宋体" panose="02010600030101010101" pitchFamily="2" charset="-122"/>
              </a:rPr>
              <a:t>maximum lateness</a:t>
            </a:r>
            <a:r>
              <a:rPr lang="en-US" altLang="zh-CN" sz="2400">
                <a:latin typeface="Verdana" panose="020B0604030504040204" pitchFamily="34" charset="0"/>
                <a:ea typeface="宋体" panose="02010600030101010101" pitchFamily="2" charset="-122"/>
              </a:rPr>
              <a:t>.</a:t>
            </a:r>
          </a:p>
          <a:p>
            <a:pPr eaLnBrk="1" hangingPunct="1">
              <a:lnSpc>
                <a:spcPct val="80000"/>
              </a:lnSpc>
              <a:buFont typeface="Arial" panose="020B0604020202020204" pitchFamily="34" charset="0"/>
              <a:buChar char="•"/>
            </a:pPr>
            <a:r>
              <a:rPr lang="en-US" altLang="zh-CN" sz="2400">
                <a:solidFill>
                  <a:schemeClr val="tx2"/>
                </a:solidFill>
                <a:latin typeface="Verdana" panose="020B0604030504040204" pitchFamily="34" charset="0"/>
                <a:ea typeface="宋体" panose="02010600030101010101" pitchFamily="2" charset="-122"/>
              </a:rPr>
              <a:t>Moore’s algorithm</a:t>
            </a:r>
            <a:r>
              <a:rPr lang="en-US" altLang="zh-CN" sz="2400">
                <a:latin typeface="Verdana" panose="020B0604030504040204" pitchFamily="34" charset="0"/>
                <a:ea typeface="宋体" panose="02010600030101010101" pitchFamily="2" charset="-122"/>
              </a:rPr>
              <a:t> (1968) minimizes </a:t>
            </a:r>
            <a:r>
              <a:rPr lang="en-US" altLang="zh-CN" sz="2400">
                <a:solidFill>
                  <a:srgbClr val="0000FF"/>
                </a:solidFill>
                <a:latin typeface="Verdana" panose="020B0604030504040204" pitchFamily="34" charset="0"/>
                <a:ea typeface="宋体" panose="02010600030101010101" pitchFamily="2" charset="-122"/>
              </a:rPr>
              <a:t>the number of tardy jobs</a:t>
            </a:r>
          </a:p>
          <a:p>
            <a:pPr eaLnBrk="1" hangingPunct="1">
              <a:lnSpc>
                <a:spcPct val="80000"/>
              </a:lnSpc>
              <a:buFont typeface="Arial" panose="020B0604020202020204" pitchFamily="34" charset="0"/>
              <a:buChar char="•"/>
            </a:pPr>
            <a:r>
              <a:rPr lang="en-US" altLang="zh-CN" sz="2400">
                <a:solidFill>
                  <a:schemeClr val="tx2"/>
                </a:solidFill>
                <a:latin typeface="Verdana" panose="020B0604030504040204" pitchFamily="34" charset="0"/>
                <a:ea typeface="宋体" panose="02010600030101010101" pitchFamily="2" charset="-122"/>
              </a:rPr>
              <a:t>Lawler’s algorithm</a:t>
            </a:r>
            <a:r>
              <a:rPr lang="en-US" altLang="zh-CN" sz="2400">
                <a:latin typeface="Verdana" panose="020B0604030504040204" pitchFamily="34" charset="0"/>
                <a:ea typeface="宋体" panose="02010600030101010101" pitchFamily="2" charset="-122"/>
              </a:rPr>
              <a:t> (1973) is a powerful technique for solving a variety of constrained scheduling problems</a:t>
            </a:r>
          </a:p>
        </p:txBody>
      </p:sp>
      <p:sp>
        <p:nvSpPr>
          <p:cNvPr id="10138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标题 1"/>
          <p:cNvSpPr>
            <a:spLocks noGrp="1"/>
          </p:cNvSpPr>
          <p:nvPr>
            <p:ph type="title"/>
          </p:nvPr>
        </p:nvSpPr>
        <p:spPr>
          <a:xfrm>
            <a:off x="304800" y="228600"/>
            <a:ext cx="8610600" cy="563563"/>
          </a:xfrm>
        </p:spPr>
        <p:txBody>
          <a:bodyPr>
            <a:normAutofit fontScale="90000"/>
          </a:bodyPr>
          <a:lstStyle/>
          <a:p>
            <a:pPr>
              <a:defRPr/>
            </a:pPr>
            <a:r>
              <a:rPr kumimoji="0" lang="zh-CN" altLang="en-US" sz="3200" b="1" cap="none" dirty="0">
                <a:solidFill>
                  <a:srgbClr val="FF0000"/>
                </a:solidFill>
                <a:latin typeface="Verdana" pitchFamily="34" charset="0"/>
                <a:ea typeface="宋体" pitchFamily="2" charset="-122"/>
              </a:rPr>
              <a:t>*</a:t>
            </a:r>
            <a:r>
              <a:rPr kumimoji="0" lang="en-US" altLang="zh-CN" sz="3200" b="1" cap="none" dirty="0">
                <a:solidFill>
                  <a:srgbClr val="0000FF"/>
                </a:solidFill>
                <a:latin typeface="Verdana" pitchFamily="34" charset="0"/>
                <a:ea typeface="宋体" pitchFamily="2" charset="-122"/>
              </a:rPr>
              <a:t>Another important single machine model</a:t>
            </a:r>
            <a:endParaRPr kumimoji="0" lang="zh-CN" altLang="en-US" sz="3200" b="1" cap="none" dirty="0">
              <a:solidFill>
                <a:srgbClr val="0000FF"/>
              </a:solidFill>
              <a:latin typeface="Verdana" pitchFamily="34" charset="0"/>
              <a:ea typeface="宋体" pitchFamily="2" charset="-122"/>
            </a:endParaRPr>
          </a:p>
        </p:txBody>
      </p:sp>
      <p:graphicFrame>
        <p:nvGraphicFramePr>
          <p:cNvPr id="6" name="表格占位符 5"/>
          <p:cNvGraphicFramePr>
            <a:graphicFrameLocks noGrp="1"/>
          </p:cNvGraphicFramePr>
          <p:nvPr>
            <p:ph type="tbl" idx="1"/>
            <p:extLst>
              <p:ext uri="{D42A27DB-BD31-4B8C-83A1-F6EECF244321}">
                <p14:modId xmlns:p14="http://schemas.microsoft.com/office/powerpoint/2010/main" val="3588120599"/>
              </p:ext>
            </p:extLst>
          </p:nvPr>
        </p:nvGraphicFramePr>
        <p:xfrm>
          <a:off x="457200" y="1804191"/>
          <a:ext cx="8229600" cy="1479552"/>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Verdana" pitchFamily="34" charset="0"/>
                          <a:ea typeface="宋体" pitchFamily="2" charset="-122"/>
                        </a:rPr>
                        <a:t>Jobs</a:t>
                      </a:r>
                      <a:endParaRPr kumimoji="0" lang="zh-CN" altLang="en-US" sz="1800" b="1" i="0" u="none" strike="noStrike" cap="none" normalizeH="0" baseline="0" dirty="0">
                        <a:ln>
                          <a:noFill/>
                        </a:ln>
                        <a:solidFill>
                          <a:srgbClr val="FFFFFF"/>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Verdana" pitchFamily="34" charset="0"/>
                          <a:ea typeface="宋体" pitchFamily="2" charset="-122"/>
                        </a:rPr>
                        <a:t>1</a:t>
                      </a:r>
                      <a:endParaRPr kumimoji="0" lang="zh-CN" altLang="en-US" sz="1800" b="1" i="0" u="none" strike="noStrike" cap="none" normalizeH="0" baseline="0" dirty="0">
                        <a:ln>
                          <a:noFill/>
                        </a:ln>
                        <a:solidFill>
                          <a:srgbClr val="FFFFFF"/>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Verdana" pitchFamily="34" charset="0"/>
                          <a:ea typeface="宋体" pitchFamily="2" charset="-122"/>
                        </a:rPr>
                        <a:t>2</a:t>
                      </a:r>
                      <a:endParaRPr kumimoji="0" lang="zh-CN" altLang="en-US" sz="1800" b="1" i="0" u="none" strike="noStrike" cap="none" normalizeH="0" baseline="0" dirty="0">
                        <a:ln>
                          <a:noFill/>
                        </a:ln>
                        <a:solidFill>
                          <a:srgbClr val="FFFFFF"/>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Verdana" pitchFamily="34" charset="0"/>
                          <a:ea typeface="宋体" pitchFamily="2" charset="-122"/>
                        </a:rPr>
                        <a:t>3</a:t>
                      </a:r>
                      <a:endParaRPr kumimoji="0" lang="zh-CN" altLang="en-US" sz="1800" b="1" i="0" u="none" strike="noStrike" cap="none" normalizeH="0" baseline="0" dirty="0">
                        <a:ln>
                          <a:noFill/>
                        </a:ln>
                        <a:solidFill>
                          <a:srgbClr val="FFFFFF"/>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a:ln>
                            <a:noFill/>
                          </a:ln>
                          <a:solidFill>
                            <a:srgbClr val="FFFFFF"/>
                          </a:solidFill>
                          <a:effectLst/>
                          <a:latin typeface="Verdana" pitchFamily="34" charset="0"/>
                          <a:ea typeface="宋体" pitchFamily="2" charset="-122"/>
                        </a:rPr>
                        <a:t>4</a:t>
                      </a:r>
                      <a:endParaRPr kumimoji="0" lang="zh-CN" altLang="en-US" sz="1800" b="1" i="0" u="none" strike="noStrike" cap="none" normalizeH="0" baseline="0" dirty="0">
                        <a:ln>
                          <a:noFill/>
                        </a:ln>
                        <a:solidFill>
                          <a:srgbClr val="FFFFFF"/>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dirty="0" err="1">
                          <a:ln>
                            <a:noFill/>
                          </a:ln>
                          <a:solidFill>
                            <a:srgbClr val="003366"/>
                          </a:solidFill>
                          <a:effectLst/>
                          <a:latin typeface="Verdana" pitchFamily="34" charset="0"/>
                          <a:ea typeface="宋体" pitchFamily="2" charset="-122"/>
                        </a:rPr>
                        <a:t>p</a:t>
                      </a:r>
                      <a:r>
                        <a:rPr kumimoji="0" lang="en-US" altLang="zh-CN" sz="1800" b="0" i="1" u="none" strike="noStrike" cap="none" normalizeH="0" baseline="-25000" dirty="0" err="1">
                          <a:ln>
                            <a:noFill/>
                          </a:ln>
                          <a:solidFill>
                            <a:srgbClr val="003366"/>
                          </a:solidFill>
                          <a:effectLst/>
                          <a:latin typeface="Verdana" pitchFamily="34" charset="0"/>
                          <a:ea typeface="宋体" pitchFamily="2" charset="-122"/>
                        </a:rPr>
                        <a:t>j</a:t>
                      </a:r>
                      <a:endParaRPr kumimoji="0" lang="zh-CN" altLang="en-US" sz="1800" b="0" i="1" u="none" strike="noStrike" cap="none" normalizeH="0" baseline="-2500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4</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2</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6</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5</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extLst>
                  <a:ext uri="{0D108BD9-81ED-4DB2-BD59-A6C34878D82A}">
                    <a16:rowId xmlns:a16="http://schemas.microsoft.com/office/drawing/2014/main" val="10001"/>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dirty="0" err="1">
                          <a:ln>
                            <a:noFill/>
                          </a:ln>
                          <a:solidFill>
                            <a:srgbClr val="003366"/>
                          </a:solidFill>
                          <a:effectLst/>
                          <a:latin typeface="Verdana" pitchFamily="34" charset="0"/>
                          <a:ea typeface="宋体" pitchFamily="2" charset="-122"/>
                        </a:rPr>
                        <a:t>r</a:t>
                      </a:r>
                      <a:r>
                        <a:rPr kumimoji="0" lang="en-US" altLang="zh-CN" sz="1800" b="0" i="1" u="none" strike="noStrike" cap="none" normalizeH="0" baseline="-25000" dirty="0" err="1">
                          <a:ln>
                            <a:noFill/>
                          </a:ln>
                          <a:solidFill>
                            <a:srgbClr val="003366"/>
                          </a:solidFill>
                          <a:effectLst/>
                          <a:latin typeface="Verdana" pitchFamily="34" charset="0"/>
                          <a:ea typeface="宋体" pitchFamily="2" charset="-122"/>
                        </a:rPr>
                        <a:t>j</a:t>
                      </a:r>
                      <a:endParaRPr kumimoji="0" lang="zh-CN" altLang="en-US" sz="1800" b="0" i="1"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3366"/>
                          </a:solidFill>
                          <a:effectLst/>
                          <a:latin typeface="Verdana" pitchFamily="34" charset="0"/>
                          <a:ea typeface="宋体" pitchFamily="2" charset="-122"/>
                        </a:rPr>
                        <a:t>0</a:t>
                      </a:r>
                      <a:endParaRPr kumimoji="0" lang="zh-CN" altLang="en-US" sz="1800" b="0" i="0" u="none" strike="noStrike" cap="none" normalizeH="0" baseline="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1"/>
                    </a:solidFill>
                  </a:tcPr>
                </a:tc>
                <a:tc>
                  <a:txBody>
                    <a:bodyPr/>
                    <a:lstStyle/>
                    <a:p>
                      <a:pPr algn="ctr"/>
                      <a:r>
                        <a:rPr kumimoji="0" lang="en-US" altLang="zh-CN" sz="1800" b="0" i="0" u="none" strike="noStrike" kern="1200" cap="none" normalizeH="0" baseline="0" dirty="0">
                          <a:ln>
                            <a:noFill/>
                          </a:ln>
                          <a:solidFill>
                            <a:srgbClr val="003366"/>
                          </a:solidFill>
                          <a:effectLst/>
                          <a:latin typeface="Verdana" pitchFamily="34" charset="0"/>
                          <a:ea typeface="宋体" pitchFamily="2" charset="-122"/>
                          <a:cs typeface="+mn-cs"/>
                        </a:rPr>
                        <a:t>1</a:t>
                      </a:r>
                      <a:endParaRPr kumimoji="0" lang="zh-CN" altLang="en-US" sz="1800" b="0" i="0" u="none" strike="noStrike" kern="1200" cap="none" normalizeH="0" baseline="0" dirty="0">
                        <a:ln>
                          <a:noFill/>
                        </a:ln>
                        <a:solidFill>
                          <a:srgbClr val="003366"/>
                        </a:solidFill>
                        <a:effectLst/>
                        <a:latin typeface="Verdana" pitchFamily="34" charset="0"/>
                        <a:ea typeface="宋体" pitchFamily="2" charset="-122"/>
                        <a:cs typeface="+mn-cs"/>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3</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5</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EAF1"/>
                    </a:solidFill>
                  </a:tcPr>
                </a:tc>
                <a:extLst>
                  <a:ext uri="{0D108BD9-81ED-4DB2-BD59-A6C34878D82A}">
                    <a16:rowId xmlns:a16="http://schemas.microsoft.com/office/drawing/2014/main" val="10002"/>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1" u="none" strike="noStrike" cap="none" normalizeH="0" baseline="0" dirty="0" err="1">
                          <a:ln>
                            <a:noFill/>
                          </a:ln>
                          <a:solidFill>
                            <a:srgbClr val="003366"/>
                          </a:solidFill>
                          <a:effectLst/>
                          <a:latin typeface="Verdana" pitchFamily="34" charset="0"/>
                          <a:ea typeface="宋体" pitchFamily="2" charset="-122"/>
                        </a:rPr>
                        <a:t>d</a:t>
                      </a:r>
                      <a:r>
                        <a:rPr kumimoji="0" lang="en-US" altLang="zh-CN" sz="1800" b="0" i="1" u="none" strike="noStrike" cap="none" normalizeH="0" baseline="-25000" dirty="0" err="1">
                          <a:ln>
                            <a:noFill/>
                          </a:ln>
                          <a:solidFill>
                            <a:srgbClr val="003366"/>
                          </a:solidFill>
                          <a:effectLst/>
                          <a:latin typeface="Verdana" pitchFamily="34" charset="0"/>
                          <a:ea typeface="宋体" pitchFamily="2" charset="-122"/>
                        </a:rPr>
                        <a:t>j</a:t>
                      </a:r>
                      <a:endParaRPr kumimoji="0" lang="zh-CN" altLang="en-US" sz="1800" b="0" i="1"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8</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12</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11</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dirty="0">
                          <a:ln>
                            <a:noFill/>
                          </a:ln>
                          <a:solidFill>
                            <a:srgbClr val="003366"/>
                          </a:solidFill>
                          <a:effectLst/>
                          <a:latin typeface="Verdana" pitchFamily="34" charset="0"/>
                          <a:ea typeface="宋体" pitchFamily="2" charset="-122"/>
                        </a:rPr>
                        <a:t>10</a:t>
                      </a:r>
                      <a:endParaRPr kumimoji="0" lang="zh-CN" altLang="en-US" sz="1800" b="0" i="0" u="none" strike="noStrike" cap="none" normalizeH="0" baseline="0" dirty="0">
                        <a:ln>
                          <a:noFill/>
                        </a:ln>
                        <a:solidFill>
                          <a:srgbClr val="003366"/>
                        </a:solidFill>
                        <a:effectLst/>
                        <a:latin typeface="Verdana" pitchFamily="34" charset="0"/>
                        <a:ea typeface="宋体" pitchFamily="2" charset="-122"/>
                      </a:endParaRPr>
                    </a:p>
                  </a:txBody>
                  <a:tcPr marT="45700" marB="4570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D3E3"/>
                    </a:solidFill>
                  </a:tcPr>
                </a:tc>
                <a:extLst>
                  <a:ext uri="{0D108BD9-81ED-4DB2-BD59-A6C34878D82A}">
                    <a16:rowId xmlns:a16="http://schemas.microsoft.com/office/drawing/2014/main" val="10003"/>
                  </a:ext>
                </a:extLst>
              </a:tr>
            </a:tbl>
          </a:graphicData>
        </a:graphic>
      </p:graphicFrame>
      <p:graphicFrame>
        <p:nvGraphicFramePr>
          <p:cNvPr id="102435" name="Object 2"/>
          <p:cNvGraphicFramePr>
            <a:graphicFrameLocks noChangeAspect="1"/>
          </p:cNvGraphicFramePr>
          <p:nvPr/>
        </p:nvGraphicFramePr>
        <p:xfrm>
          <a:off x="3773488" y="873125"/>
          <a:ext cx="1539875" cy="609600"/>
        </p:xfrm>
        <a:graphic>
          <a:graphicData uri="http://schemas.openxmlformats.org/presentationml/2006/ole">
            <mc:AlternateContent xmlns:mc="http://schemas.openxmlformats.org/markup-compatibility/2006">
              <mc:Choice xmlns:v="urn:schemas-microsoft-com:vml" Requires="v">
                <p:oleObj spid="_x0000_s102511" name="公式" r:id="rId3" imgW="609336" imgH="241195" progId="Equation.3">
                  <p:embed/>
                </p:oleObj>
              </mc:Choice>
              <mc:Fallback>
                <p:oleObj name="公式" r:id="rId3" imgW="609336" imgH="241195"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488" y="873125"/>
                        <a:ext cx="153987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2436" name="TextBox 8"/>
          <p:cNvSpPr txBox="1">
            <a:spLocks noChangeArrowheads="1"/>
          </p:cNvSpPr>
          <p:nvPr/>
        </p:nvSpPr>
        <p:spPr bwMode="auto">
          <a:xfrm>
            <a:off x="342900" y="3733800"/>
            <a:ext cx="365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dirty="0">
                <a:ea typeface="宋体" panose="02010600030101010101" pitchFamily="2" charset="-122"/>
              </a:rPr>
              <a:t>It is strongly NP-hard.</a:t>
            </a:r>
            <a:endParaRPr lang="zh-CN" altLang="en-US" b="0" dirty="0">
              <a:ea typeface="宋体" panose="02010600030101010101" pitchFamily="2" charset="-122"/>
            </a:endParaRPr>
          </a:p>
        </p:txBody>
      </p:sp>
      <p:sp>
        <p:nvSpPr>
          <p:cNvPr id="10243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102438" name="TextBox 8"/>
          <p:cNvSpPr txBox="1">
            <a:spLocks noChangeArrowheads="1"/>
          </p:cNvSpPr>
          <p:nvPr/>
        </p:nvSpPr>
        <p:spPr bwMode="auto">
          <a:xfrm>
            <a:off x="342900" y="4186238"/>
            <a:ext cx="8572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dirty="0">
                <a:ea typeface="宋体" panose="02010600030101010101" pitchFamily="2" charset="-122"/>
              </a:rPr>
              <a:t>It often appears as a </a:t>
            </a:r>
            <a:r>
              <a:rPr lang="en-US" altLang="zh-CN" b="0" dirty="0" err="1">
                <a:ea typeface="宋体" panose="02010600030101010101" pitchFamily="2" charset="-122"/>
              </a:rPr>
              <a:t>subproblem</a:t>
            </a:r>
            <a:r>
              <a:rPr lang="en-US" altLang="zh-CN" b="0" dirty="0">
                <a:ea typeface="宋体" panose="02010600030101010101" pitchFamily="2" charset="-122"/>
              </a:rPr>
              <a:t> in heuristics for </a:t>
            </a:r>
            <a:r>
              <a:rPr lang="en-US" altLang="zh-CN" b="0" dirty="0" err="1">
                <a:ea typeface="宋体" panose="02010600030101010101" pitchFamily="2" charset="-122"/>
              </a:rPr>
              <a:t>flowshop</a:t>
            </a:r>
            <a:r>
              <a:rPr lang="en-US" altLang="zh-CN" b="0" dirty="0">
                <a:ea typeface="宋体" panose="02010600030101010101" pitchFamily="2" charset="-122"/>
              </a:rPr>
              <a:t> and </a:t>
            </a:r>
            <a:r>
              <a:rPr lang="en-US" altLang="zh-CN" b="0" dirty="0" err="1">
                <a:ea typeface="宋体" panose="02010600030101010101" pitchFamily="2" charset="-122"/>
              </a:rPr>
              <a:t>jobshop</a:t>
            </a:r>
            <a:r>
              <a:rPr lang="en-US" altLang="zh-CN" b="0" dirty="0">
                <a:ea typeface="宋体" panose="02010600030101010101" pitchFamily="2" charset="-122"/>
              </a:rPr>
              <a:t> problem</a:t>
            </a:r>
            <a:endParaRPr lang="zh-CN" altLang="en-US" b="0" dirty="0">
              <a:ea typeface="宋体" panose="02010600030101010101" pitchFamily="2" charset="-122"/>
            </a:endParaRPr>
          </a:p>
        </p:txBody>
      </p:sp>
      <p:sp>
        <p:nvSpPr>
          <p:cNvPr id="8" name="TextBox 8"/>
          <p:cNvSpPr txBox="1">
            <a:spLocks noChangeArrowheads="1"/>
          </p:cNvSpPr>
          <p:nvPr/>
        </p:nvSpPr>
        <p:spPr bwMode="auto">
          <a:xfrm>
            <a:off x="342900" y="4987925"/>
            <a:ext cx="8153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a:solidFill>
                  <a:srgbClr val="0066FF"/>
                </a:solidFill>
                <a:ea typeface="宋体" panose="02010600030101010101" pitchFamily="2" charset="-122"/>
              </a:rPr>
              <a:t>Branch and bound procedure</a:t>
            </a:r>
            <a:r>
              <a:rPr lang="en-US" altLang="zh-CN" b="0">
                <a:ea typeface="宋体" panose="02010600030101010101" pitchFamily="2" charset="-122"/>
              </a:rPr>
              <a:t>:  bounds for nodes can be obtained by solving the following problem.</a:t>
            </a:r>
            <a:endParaRPr lang="zh-CN" altLang="en-US" b="0">
              <a:ea typeface="宋体" panose="02010600030101010101" pitchFamily="2" charset="-122"/>
            </a:endParaRPr>
          </a:p>
        </p:txBody>
      </p:sp>
      <p:sp>
        <p:nvSpPr>
          <p:cNvPr id="9" name="TextBox 8"/>
          <p:cNvSpPr txBox="1">
            <a:spLocks noChangeArrowheads="1"/>
          </p:cNvSpPr>
          <p:nvPr/>
        </p:nvSpPr>
        <p:spPr bwMode="auto">
          <a:xfrm>
            <a:off x="485775" y="1335879"/>
            <a:ext cx="3657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ea typeface="宋体" panose="02010600030101010101" pitchFamily="2" charset="-122"/>
              </a:rPr>
              <a:t>Example: </a:t>
            </a:r>
            <a:endParaRPr lang="zh-CN" altLang="en-US" b="0">
              <a:ea typeface="宋体" panose="02010600030101010101" pitchFamily="2" charset="-122"/>
            </a:endParaRPr>
          </a:p>
        </p:txBody>
      </p:sp>
      <p:graphicFrame>
        <p:nvGraphicFramePr>
          <p:cNvPr id="10" name="Object 2"/>
          <p:cNvGraphicFramePr>
            <a:graphicFrameLocks noChangeAspect="1"/>
          </p:cNvGraphicFramePr>
          <p:nvPr>
            <p:extLst>
              <p:ext uri="{D42A27DB-BD31-4B8C-83A1-F6EECF244321}">
                <p14:modId xmlns:p14="http://schemas.microsoft.com/office/powerpoint/2010/main" val="1946770919"/>
              </p:ext>
            </p:extLst>
          </p:nvPr>
        </p:nvGraphicFramePr>
        <p:xfrm>
          <a:off x="1143000" y="5791200"/>
          <a:ext cx="3016250" cy="609600"/>
        </p:xfrm>
        <a:graphic>
          <a:graphicData uri="http://schemas.openxmlformats.org/presentationml/2006/ole">
            <mc:AlternateContent xmlns:mc="http://schemas.openxmlformats.org/markup-compatibility/2006">
              <mc:Choice xmlns:v="urn:schemas-microsoft-com:vml" Requires="v">
                <p:oleObj spid="_x0000_s102512" name="公式" r:id="rId5" imgW="1193800" imgH="241300" progId="Equation.3">
                  <p:embed/>
                </p:oleObj>
              </mc:Choice>
              <mc:Fallback>
                <p:oleObj name="公式" r:id="rId5" imgW="1193800" imgH="2413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5791200"/>
                        <a:ext cx="3016250" cy="609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 name="组合 2"/>
          <p:cNvGrpSpPr>
            <a:grpSpLocks/>
          </p:cNvGrpSpPr>
          <p:nvPr/>
        </p:nvGrpSpPr>
        <p:grpSpPr bwMode="auto">
          <a:xfrm>
            <a:off x="4343400" y="5849938"/>
            <a:ext cx="3200400" cy="400050"/>
            <a:chOff x="4343400" y="3640299"/>
            <a:chExt cx="3200400" cy="400050"/>
          </a:xfrm>
        </p:grpSpPr>
        <p:sp>
          <p:nvSpPr>
            <p:cNvPr id="102443" name="TextBox 8"/>
            <p:cNvSpPr txBox="1">
              <a:spLocks noChangeArrowheads="1"/>
            </p:cNvSpPr>
            <p:nvPr/>
          </p:nvSpPr>
          <p:spPr bwMode="auto">
            <a:xfrm>
              <a:off x="4800600" y="3640299"/>
              <a:ext cx="2743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b="0">
                  <a:solidFill>
                    <a:srgbClr val="FF0000"/>
                  </a:solidFill>
                  <a:ea typeface="宋体" panose="02010600030101010101" pitchFamily="2" charset="-122"/>
                </a:rPr>
                <a:t>Preemptive EDD rule </a:t>
              </a:r>
              <a:endParaRPr lang="zh-CN" altLang="en-US" b="0">
                <a:solidFill>
                  <a:srgbClr val="FF0000"/>
                </a:solidFill>
                <a:ea typeface="宋体" panose="02010600030101010101" pitchFamily="2" charset="-122"/>
              </a:endParaRPr>
            </a:p>
          </p:txBody>
        </p:sp>
        <p:sp>
          <p:nvSpPr>
            <p:cNvPr id="2" name="右箭头 1"/>
            <p:cNvSpPr/>
            <p:nvPr/>
          </p:nvSpPr>
          <p:spPr>
            <a:xfrm rot="10800000">
              <a:off x="4343400" y="3733961"/>
              <a:ext cx="457200" cy="306388"/>
            </a:xfrm>
            <a:prstGeom prst="rightArrow">
              <a:avLst/>
            </a:prstGeom>
            <a:solidFill>
              <a:srgbClr val="3366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24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24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nodeType="withGroup">
                            <p:stCondLst>
                              <p:cond delay="0"/>
                            </p:stCondLst>
                            <p:childTnLst>
                              <p:par>
                                <p:cTn id="20" presetID="1" presetClass="entr" presetSubtype="0"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6" grpId="0"/>
      <p:bldP spid="102438" grpId="0"/>
      <p:bldP spid="8" grpId="0"/>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Oval 3"/>
          <p:cNvSpPr>
            <a:spLocks noChangeArrowheads="1"/>
          </p:cNvSpPr>
          <p:nvPr/>
        </p:nvSpPr>
        <p:spPr bwMode="auto">
          <a:xfrm>
            <a:off x="3886200" y="1524000"/>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a:t>
            </a:r>
          </a:p>
        </p:txBody>
      </p:sp>
      <p:sp>
        <p:nvSpPr>
          <p:cNvPr id="103427" name="Oval 4"/>
          <p:cNvSpPr>
            <a:spLocks noChangeArrowheads="1"/>
          </p:cNvSpPr>
          <p:nvPr/>
        </p:nvSpPr>
        <p:spPr bwMode="auto">
          <a:xfrm>
            <a:off x="1492250" y="2819400"/>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a:t>
            </a:r>
          </a:p>
        </p:txBody>
      </p:sp>
      <p:sp>
        <p:nvSpPr>
          <p:cNvPr id="103428" name="Oval 5"/>
          <p:cNvSpPr>
            <a:spLocks noChangeArrowheads="1"/>
          </p:cNvSpPr>
          <p:nvPr/>
        </p:nvSpPr>
        <p:spPr bwMode="auto">
          <a:xfrm>
            <a:off x="3092450" y="2819400"/>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a:t>
            </a:r>
          </a:p>
        </p:txBody>
      </p:sp>
      <p:sp>
        <p:nvSpPr>
          <p:cNvPr id="103429" name="Oval 6"/>
          <p:cNvSpPr>
            <a:spLocks noChangeArrowheads="1"/>
          </p:cNvSpPr>
          <p:nvPr/>
        </p:nvSpPr>
        <p:spPr bwMode="auto">
          <a:xfrm>
            <a:off x="4997450" y="2817813"/>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03430" name="Line 7"/>
          <p:cNvSpPr>
            <a:spLocks noChangeShapeType="1"/>
          </p:cNvSpPr>
          <p:nvPr/>
        </p:nvSpPr>
        <p:spPr bwMode="auto">
          <a:xfrm flipH="1">
            <a:off x="3816350" y="2362200"/>
            <a:ext cx="800100" cy="4524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1" name="Line 8"/>
          <p:cNvSpPr>
            <a:spLocks noChangeShapeType="1"/>
          </p:cNvSpPr>
          <p:nvPr/>
        </p:nvSpPr>
        <p:spPr bwMode="auto">
          <a:xfrm flipH="1">
            <a:off x="2216150" y="1981200"/>
            <a:ext cx="1714500" cy="838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2" name="Line 9"/>
          <p:cNvSpPr>
            <a:spLocks noChangeShapeType="1"/>
          </p:cNvSpPr>
          <p:nvPr/>
        </p:nvSpPr>
        <p:spPr bwMode="auto">
          <a:xfrm>
            <a:off x="4616450" y="2362200"/>
            <a:ext cx="990600" cy="4587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3" name="Oval 10"/>
          <p:cNvSpPr>
            <a:spLocks noChangeArrowheads="1"/>
          </p:cNvSpPr>
          <p:nvPr/>
        </p:nvSpPr>
        <p:spPr bwMode="auto">
          <a:xfrm>
            <a:off x="654050" y="4191000"/>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03434" name="Oval 11"/>
          <p:cNvSpPr>
            <a:spLocks noChangeArrowheads="1"/>
          </p:cNvSpPr>
          <p:nvPr/>
        </p:nvSpPr>
        <p:spPr bwMode="auto">
          <a:xfrm>
            <a:off x="2271713" y="4191000"/>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03435" name="Line 12"/>
          <p:cNvSpPr>
            <a:spLocks noChangeShapeType="1"/>
          </p:cNvSpPr>
          <p:nvPr/>
        </p:nvSpPr>
        <p:spPr bwMode="auto">
          <a:xfrm flipH="1">
            <a:off x="1492250" y="3657600"/>
            <a:ext cx="6096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36" name="Line 13"/>
          <p:cNvSpPr>
            <a:spLocks noChangeShapeType="1"/>
          </p:cNvSpPr>
          <p:nvPr/>
        </p:nvSpPr>
        <p:spPr bwMode="auto">
          <a:xfrm>
            <a:off x="2254250" y="3657600"/>
            <a:ext cx="6858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03437" name="Object 19"/>
          <p:cNvGraphicFramePr>
            <a:graphicFrameLocks noChangeAspect="1"/>
          </p:cNvGraphicFramePr>
          <p:nvPr/>
        </p:nvGraphicFramePr>
        <p:xfrm>
          <a:off x="3657600" y="5821363"/>
          <a:ext cx="1346200" cy="539750"/>
        </p:xfrm>
        <a:graphic>
          <a:graphicData uri="http://schemas.openxmlformats.org/presentationml/2006/ole">
            <mc:AlternateContent xmlns:mc="http://schemas.openxmlformats.org/markup-compatibility/2006">
              <mc:Choice xmlns:v="urn:schemas-microsoft-com:vml" Requires="v">
                <p:oleObj spid="_x0000_s103516" name="公式" r:id="rId3" imgW="571252" imgH="228501" progId="Equation.3">
                  <p:embed/>
                </p:oleObj>
              </mc:Choice>
              <mc:Fallback>
                <p:oleObj name="公式" r:id="rId3" imgW="571252" imgH="228501" progId="Equation.3">
                  <p:embed/>
                  <p:pic>
                    <p:nvPicPr>
                      <p:cNvPr id="0"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5821363"/>
                        <a:ext cx="1346200" cy="53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3438"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graphicFrame>
        <p:nvGraphicFramePr>
          <p:cNvPr id="103439" name="Object 2"/>
          <p:cNvGraphicFramePr>
            <a:graphicFrameLocks noChangeAspect="1"/>
          </p:cNvGraphicFramePr>
          <p:nvPr/>
        </p:nvGraphicFramePr>
        <p:xfrm>
          <a:off x="3773488" y="304800"/>
          <a:ext cx="1539875" cy="609600"/>
        </p:xfrm>
        <a:graphic>
          <a:graphicData uri="http://schemas.openxmlformats.org/presentationml/2006/ole">
            <mc:AlternateContent xmlns:mc="http://schemas.openxmlformats.org/markup-compatibility/2006">
              <mc:Choice xmlns:v="urn:schemas-microsoft-com:vml" Requires="v">
                <p:oleObj spid="_x0000_s103517" name="公式" r:id="rId5" imgW="609336" imgH="241195" progId="Equation.3">
                  <p:embed/>
                </p:oleObj>
              </mc:Choice>
              <mc:Fallback>
                <p:oleObj name="公式" r:id="rId5" imgW="609336" imgH="241195"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3488" y="304800"/>
                        <a:ext cx="1539875"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3440" name="Oval 6"/>
          <p:cNvSpPr>
            <a:spLocks noChangeArrowheads="1"/>
          </p:cNvSpPr>
          <p:nvPr/>
        </p:nvSpPr>
        <p:spPr bwMode="auto">
          <a:xfrm>
            <a:off x="6629400" y="2846388"/>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03441" name="Line 9"/>
          <p:cNvSpPr>
            <a:spLocks noChangeShapeType="1"/>
          </p:cNvSpPr>
          <p:nvPr/>
        </p:nvSpPr>
        <p:spPr bwMode="auto">
          <a:xfrm>
            <a:off x="5143500" y="1981200"/>
            <a:ext cx="2019300" cy="8397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442" name="Oval 11"/>
          <p:cNvSpPr>
            <a:spLocks noChangeArrowheads="1"/>
          </p:cNvSpPr>
          <p:nvPr/>
        </p:nvSpPr>
        <p:spPr bwMode="auto">
          <a:xfrm>
            <a:off x="2271713" y="5562600"/>
            <a:ext cx="1295400" cy="838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(1,3,4,2)</a:t>
            </a:r>
          </a:p>
        </p:txBody>
      </p:sp>
      <p:sp>
        <p:nvSpPr>
          <p:cNvPr id="103443" name="TextBox 8"/>
          <p:cNvSpPr txBox="1">
            <a:spLocks noChangeArrowheads="1"/>
          </p:cNvSpPr>
          <p:nvPr/>
        </p:nvSpPr>
        <p:spPr bwMode="auto">
          <a:xfrm>
            <a:off x="82550" y="998538"/>
            <a:ext cx="2324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ea typeface="宋体" panose="02010600030101010101" pitchFamily="2" charset="-122"/>
              </a:rPr>
              <a:t>LB: Lower Bound</a:t>
            </a:r>
            <a:endParaRPr lang="zh-CN" altLang="en-US" b="0">
              <a:ea typeface="宋体" panose="02010600030101010101" pitchFamily="2" charset="-122"/>
            </a:endParaRPr>
          </a:p>
        </p:txBody>
      </p:sp>
      <p:sp>
        <p:nvSpPr>
          <p:cNvPr id="103444" name="TextBox 8"/>
          <p:cNvSpPr txBox="1">
            <a:spLocks noChangeArrowheads="1"/>
          </p:cNvSpPr>
          <p:nvPr/>
        </p:nvSpPr>
        <p:spPr bwMode="auto">
          <a:xfrm>
            <a:off x="920750" y="3429000"/>
            <a:ext cx="831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solidFill>
                  <a:srgbClr val="FF0000"/>
                </a:solidFill>
                <a:ea typeface="宋体" panose="02010600030101010101" pitchFamily="2" charset="-122"/>
              </a:rPr>
              <a:t>LB=5</a:t>
            </a:r>
            <a:endParaRPr lang="zh-CN" altLang="en-US" b="0">
              <a:solidFill>
                <a:srgbClr val="FF0000"/>
              </a:solidFill>
              <a:ea typeface="宋体" panose="02010600030101010101" pitchFamily="2" charset="-122"/>
            </a:endParaRPr>
          </a:p>
        </p:txBody>
      </p:sp>
      <p:sp>
        <p:nvSpPr>
          <p:cNvPr id="103445" name="TextBox 8"/>
          <p:cNvSpPr txBox="1">
            <a:spLocks noChangeArrowheads="1"/>
          </p:cNvSpPr>
          <p:nvPr/>
        </p:nvSpPr>
        <p:spPr bwMode="auto">
          <a:xfrm>
            <a:off x="2563813" y="3429000"/>
            <a:ext cx="831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solidFill>
                  <a:srgbClr val="FF0000"/>
                </a:solidFill>
                <a:ea typeface="宋体" panose="02010600030101010101" pitchFamily="2" charset="-122"/>
              </a:rPr>
              <a:t>LB=7</a:t>
            </a:r>
            <a:endParaRPr lang="zh-CN" altLang="en-US" b="0">
              <a:solidFill>
                <a:srgbClr val="FF0000"/>
              </a:solidFill>
              <a:ea typeface="宋体" panose="02010600030101010101" pitchFamily="2" charset="-122"/>
            </a:endParaRPr>
          </a:p>
        </p:txBody>
      </p:sp>
      <p:sp>
        <p:nvSpPr>
          <p:cNvPr id="103446" name="TextBox 8"/>
          <p:cNvSpPr txBox="1">
            <a:spLocks noChangeArrowheads="1"/>
          </p:cNvSpPr>
          <p:nvPr/>
        </p:nvSpPr>
        <p:spPr bwMode="auto">
          <a:xfrm>
            <a:off x="349250" y="4933950"/>
            <a:ext cx="831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solidFill>
                  <a:srgbClr val="FF0000"/>
                </a:solidFill>
                <a:ea typeface="宋体" panose="02010600030101010101" pitchFamily="2" charset="-122"/>
              </a:rPr>
              <a:t>LB=6</a:t>
            </a:r>
            <a:endParaRPr lang="zh-CN" altLang="en-US" b="0">
              <a:solidFill>
                <a:srgbClr val="FF0000"/>
              </a:solidFill>
              <a:ea typeface="宋体" panose="02010600030101010101" pitchFamily="2" charset="-122"/>
            </a:endParaRPr>
          </a:p>
        </p:txBody>
      </p:sp>
      <p:cxnSp>
        <p:nvCxnSpPr>
          <p:cNvPr id="4" name="直接连接符 3"/>
          <p:cNvCxnSpPr/>
          <p:nvPr/>
        </p:nvCxnSpPr>
        <p:spPr>
          <a:xfrm>
            <a:off x="2919413" y="5029200"/>
            <a:ext cx="0" cy="533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8"/>
          <p:cNvSpPr txBox="1">
            <a:spLocks noChangeArrowheads="1"/>
          </p:cNvSpPr>
          <p:nvPr/>
        </p:nvSpPr>
        <p:spPr bwMode="auto">
          <a:xfrm>
            <a:off x="7981950" y="1581150"/>
            <a:ext cx="1009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defRPr/>
            </a:pPr>
            <a:r>
              <a:rPr lang="en-US" altLang="zh-CN" b="0" dirty="0">
                <a:solidFill>
                  <a:srgbClr val="3366FF"/>
                </a:solidFill>
                <a:effectLst>
                  <a:outerShdw blurRad="38100" dist="38100" dir="2700000" algn="tl">
                    <a:srgbClr val="000000">
                      <a:alpha val="43137"/>
                    </a:srgbClr>
                  </a:outerShdw>
                </a:effectLst>
                <a:ea typeface="宋体" panose="02010600030101010101" pitchFamily="2" charset="-122"/>
              </a:rPr>
              <a:t>Level 0</a:t>
            </a:r>
            <a:endParaRPr lang="zh-CN" altLang="en-US" b="0" dirty="0">
              <a:solidFill>
                <a:srgbClr val="3366FF"/>
              </a:solidFill>
              <a:effectLst>
                <a:outerShdw blurRad="38100" dist="38100" dir="2700000" algn="tl">
                  <a:srgbClr val="000000">
                    <a:alpha val="43137"/>
                  </a:srgbClr>
                </a:outerShdw>
              </a:effectLst>
              <a:ea typeface="宋体" panose="02010600030101010101" pitchFamily="2" charset="-122"/>
            </a:endParaRPr>
          </a:p>
        </p:txBody>
      </p:sp>
      <p:sp>
        <p:nvSpPr>
          <p:cNvPr id="36" name="TextBox 8"/>
          <p:cNvSpPr txBox="1">
            <a:spLocks noChangeArrowheads="1"/>
          </p:cNvSpPr>
          <p:nvPr/>
        </p:nvSpPr>
        <p:spPr bwMode="auto">
          <a:xfrm>
            <a:off x="7981950" y="3036888"/>
            <a:ext cx="1009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defRPr/>
            </a:pPr>
            <a:r>
              <a:rPr lang="en-US" altLang="zh-CN" b="0" dirty="0">
                <a:solidFill>
                  <a:srgbClr val="3366FF"/>
                </a:solidFill>
                <a:effectLst>
                  <a:outerShdw blurRad="38100" dist="38100" dir="2700000" algn="tl">
                    <a:srgbClr val="000000">
                      <a:alpha val="43137"/>
                    </a:srgbClr>
                  </a:outerShdw>
                </a:effectLst>
                <a:ea typeface="宋体" panose="02010600030101010101" pitchFamily="2" charset="-122"/>
              </a:rPr>
              <a:t>Level 1</a:t>
            </a:r>
            <a:endParaRPr lang="zh-CN" altLang="en-US" b="0" dirty="0">
              <a:solidFill>
                <a:srgbClr val="3366FF"/>
              </a:solidFill>
              <a:effectLst>
                <a:outerShdw blurRad="38100" dist="38100" dir="2700000" algn="tl">
                  <a:srgbClr val="000000">
                    <a:alpha val="43137"/>
                  </a:srgbClr>
                </a:outerShdw>
              </a:effectLst>
              <a:ea typeface="宋体" panose="02010600030101010101" pitchFamily="2" charset="-122"/>
            </a:endParaRPr>
          </a:p>
        </p:txBody>
      </p:sp>
      <p:sp>
        <p:nvSpPr>
          <p:cNvPr id="37" name="TextBox 8"/>
          <p:cNvSpPr txBox="1">
            <a:spLocks noChangeArrowheads="1"/>
          </p:cNvSpPr>
          <p:nvPr/>
        </p:nvSpPr>
        <p:spPr bwMode="auto">
          <a:xfrm>
            <a:off x="7981950" y="4349750"/>
            <a:ext cx="1009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defRPr/>
            </a:pPr>
            <a:r>
              <a:rPr lang="en-US" altLang="zh-CN" b="0" dirty="0">
                <a:solidFill>
                  <a:srgbClr val="3366FF"/>
                </a:solidFill>
                <a:effectLst>
                  <a:outerShdw blurRad="38100" dist="38100" dir="2700000" algn="tl">
                    <a:srgbClr val="000000">
                      <a:alpha val="43137"/>
                    </a:srgbClr>
                  </a:outerShdw>
                </a:effectLst>
                <a:ea typeface="宋体" panose="02010600030101010101" pitchFamily="2" charset="-122"/>
              </a:rPr>
              <a:t>Level 2</a:t>
            </a:r>
            <a:endParaRPr lang="zh-CN" altLang="en-US" b="0" dirty="0">
              <a:solidFill>
                <a:srgbClr val="3366FF"/>
              </a:solidFill>
              <a:effectLst>
                <a:outerShdw blurRad="38100" dist="38100" dir="2700000" algn="tl">
                  <a:srgbClr val="000000">
                    <a:alpha val="43137"/>
                  </a:srgbClr>
                </a:outerShdw>
              </a:effectLst>
              <a:ea typeface="宋体" panose="02010600030101010101" pitchFamily="2" charset="-122"/>
            </a:endParaRPr>
          </a:p>
        </p:txBody>
      </p:sp>
      <p:sp>
        <p:nvSpPr>
          <p:cNvPr id="38" name="TextBox 8"/>
          <p:cNvSpPr txBox="1">
            <a:spLocks noChangeArrowheads="1"/>
          </p:cNvSpPr>
          <p:nvPr/>
        </p:nvSpPr>
        <p:spPr bwMode="auto">
          <a:xfrm>
            <a:off x="7981950" y="5781675"/>
            <a:ext cx="1009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defRPr/>
            </a:pPr>
            <a:r>
              <a:rPr lang="en-US" altLang="zh-CN" b="0" dirty="0">
                <a:solidFill>
                  <a:srgbClr val="3366FF"/>
                </a:solidFill>
                <a:effectLst>
                  <a:outerShdw blurRad="38100" dist="38100" dir="2700000" algn="tl">
                    <a:srgbClr val="000000">
                      <a:alpha val="43137"/>
                    </a:srgbClr>
                  </a:outerShdw>
                </a:effectLst>
                <a:ea typeface="宋体" panose="02010600030101010101" pitchFamily="2" charset="-122"/>
              </a:rPr>
              <a:t>Level 3</a:t>
            </a:r>
            <a:endParaRPr lang="zh-CN" altLang="en-US" b="0" dirty="0">
              <a:solidFill>
                <a:srgbClr val="3366FF"/>
              </a:solidFill>
              <a:effectLst>
                <a:outerShdw blurRad="38100" dist="38100" dir="2700000" algn="tl">
                  <a:srgbClr val="000000">
                    <a:alpha val="43137"/>
                  </a:srgbClr>
                </a:outerShdw>
              </a:effectLst>
              <a:ea typeface="宋体" panose="02010600030101010101" pitchFamily="2" charset="-122"/>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6"/>
          <p:cNvSpPr>
            <a:spLocks noGrp="1" noChangeArrowheads="1"/>
          </p:cNvSpPr>
          <p:nvPr>
            <p:ph type="title"/>
          </p:nvPr>
        </p:nvSpPr>
        <p:spPr>
          <a:xfrm>
            <a:off x="457200" y="2209800"/>
            <a:ext cx="8305800" cy="762000"/>
          </a:xfrm>
        </p:spPr>
        <p:txBody>
          <a:bodyPr>
            <a:noAutofit/>
          </a:bodyPr>
          <a:lstStyle/>
          <a:p>
            <a:pPr eaLnBrk="1" hangingPunct="1">
              <a:defRPr/>
            </a:pPr>
            <a:r>
              <a:rPr kumimoji="0" lang="en-US" altLang="zh-CN" sz="2800" b="1" dirty="0">
                <a:latin typeface="Verdana" charset="0"/>
                <a:cs typeface="宋体" charset="0"/>
              </a:rPr>
              <a:t>Machine Scheduling:</a:t>
            </a:r>
            <a:br>
              <a:rPr kumimoji="0" lang="en-US" altLang="zh-CN" sz="2800" b="1" dirty="0">
                <a:latin typeface="Verdana" charset="0"/>
                <a:cs typeface="宋体" charset="0"/>
              </a:rPr>
            </a:br>
            <a:r>
              <a:rPr kumimoji="0" lang="en-US" altLang="zh-CN" sz="2800" b="1" dirty="0">
                <a:latin typeface="Verdana" charset="0"/>
                <a:cs typeface="宋体" charset="0"/>
              </a:rPr>
              <a:t>Flow Shop Scheduling Problem </a:t>
            </a:r>
            <a:br>
              <a:rPr kumimoji="0" lang="en-US" altLang="zh-CN" sz="2800" b="1" dirty="0">
                <a:latin typeface="Verdana" charset="0"/>
                <a:cs typeface="宋体" charset="0"/>
              </a:rPr>
            </a:br>
            <a:r>
              <a:rPr kumimoji="0" lang="en-US" altLang="zh-CN" sz="2800" b="1" dirty="0">
                <a:latin typeface="Verdana" charset="0"/>
                <a:cs typeface="宋体" charset="0"/>
              </a:rPr>
              <a:t>with two Machines </a:t>
            </a:r>
            <a:r>
              <a:rPr kumimoji="0" lang="zh-CN" altLang="en-US" sz="2800" b="1" dirty="0">
                <a:latin typeface="Verdana" charset="0"/>
                <a:cs typeface="宋体" charset="0"/>
              </a:rPr>
              <a:t>（双机流水作业问题）</a:t>
            </a:r>
            <a:endParaRPr kumimoji="0" lang="en-US" altLang="zh-CN" sz="2800" b="1" dirty="0">
              <a:latin typeface="Verdana" charset="0"/>
              <a:cs typeface="宋体" charset="0"/>
            </a:endParaRPr>
          </a:p>
        </p:txBody>
      </p:sp>
      <p:graphicFrame>
        <p:nvGraphicFramePr>
          <p:cNvPr id="104451" name="Object 5"/>
          <p:cNvGraphicFramePr>
            <a:graphicFrameLocks noGrp="1" noChangeAspect="1"/>
          </p:cNvGraphicFramePr>
          <p:nvPr>
            <p:ph idx="1"/>
          </p:nvPr>
        </p:nvGraphicFramePr>
        <p:xfrm>
          <a:off x="3505200" y="3452813"/>
          <a:ext cx="1905000" cy="407987"/>
        </p:xfrm>
        <a:graphic>
          <a:graphicData uri="http://schemas.openxmlformats.org/presentationml/2006/ole">
            <mc:AlternateContent xmlns:mc="http://schemas.openxmlformats.org/markup-compatibility/2006">
              <mc:Choice xmlns:v="urn:schemas-microsoft-com:vml" Requires="v">
                <p:oleObj spid="_x0000_s104486" name="公式" r:id="rId3" imgW="1066800" imgH="228600" progId="Equation.3">
                  <p:embed/>
                </p:oleObj>
              </mc:Choice>
              <mc:Fallback>
                <p:oleObj name="公式" r:id="rId3" imgW="10668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5200" y="3452813"/>
                        <a:ext cx="1905000"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445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0" y="228600"/>
            <a:ext cx="9144000" cy="563563"/>
          </a:xfrm>
        </p:spPr>
        <p:txBody>
          <a:bodyPr/>
          <a:lstStyle/>
          <a:p>
            <a:pPr eaLnBrk="1" hangingPunct="1">
              <a:defRPr/>
            </a:pPr>
            <a:r>
              <a:rPr kumimoji="0" lang="en-US" altLang="zh-CN" sz="2400">
                <a:latin typeface="Verdana" charset="0"/>
                <a:cs typeface="宋体" charset="0"/>
              </a:rPr>
              <a:t>Flow Shop Scheduling Problem with two Machines</a:t>
            </a:r>
          </a:p>
        </p:txBody>
      </p:sp>
      <p:sp>
        <p:nvSpPr>
          <p:cNvPr id="105475" name="Rectangle 3"/>
          <p:cNvSpPr>
            <a:spLocks noGrp="1" noChangeArrowheads="1"/>
          </p:cNvSpPr>
          <p:nvPr>
            <p:ph type="body" sz="half" idx="1"/>
          </p:nvPr>
        </p:nvSpPr>
        <p:spPr>
          <a:xfrm>
            <a:off x="609600" y="914400"/>
            <a:ext cx="6934200" cy="1219200"/>
          </a:xfrm>
        </p:spPr>
        <p:txBody>
          <a:bodyPr/>
          <a:lstStyle/>
          <a:p>
            <a:pPr marL="0" indent="0" eaLnBrk="1" hangingPunct="1">
              <a:buFont typeface="Wingdings" panose="05000000000000000000" pitchFamily="2" charset="2"/>
              <a:buNone/>
            </a:pPr>
            <a:r>
              <a:rPr lang="en-US" altLang="zh-CN" sz="1800" b="0">
                <a:latin typeface="Verdana" panose="020B0604030504040204" pitchFamily="34" charset="0"/>
                <a:ea typeface="宋体" panose="02010600030101010101" pitchFamily="2" charset="-122"/>
              </a:rPr>
              <a:t>Given a set of jobs that must go through a sequence of</a:t>
            </a:r>
          </a:p>
          <a:p>
            <a:pPr marL="0" indent="0" eaLnBrk="1" hangingPunct="1">
              <a:buFont typeface="Wingdings" panose="05000000000000000000" pitchFamily="2" charset="2"/>
              <a:buNone/>
            </a:pPr>
            <a:r>
              <a:rPr lang="en-US" altLang="zh-CN" sz="1800" b="0">
                <a:latin typeface="Verdana" panose="020B0604030504040204" pitchFamily="34" charset="0"/>
                <a:ea typeface="宋体" panose="02010600030101010101" pitchFamily="2" charset="-122"/>
              </a:rPr>
              <a:t>two machines, what sequence will yield the minimum</a:t>
            </a:r>
          </a:p>
          <a:p>
            <a:pPr marL="0" indent="0" eaLnBrk="1" hangingPunct="1">
              <a:buFont typeface="Wingdings" panose="05000000000000000000" pitchFamily="2" charset="2"/>
              <a:buNone/>
            </a:pPr>
            <a:r>
              <a:rPr lang="en-US" altLang="zh-CN" sz="1800" b="0">
                <a:latin typeface="Verdana" panose="020B0604030504040204" pitchFamily="34" charset="0"/>
                <a:ea typeface="宋体" panose="02010600030101010101" pitchFamily="2" charset="-122"/>
              </a:rPr>
              <a:t>makespan? Mapespan is sequence dependent.</a:t>
            </a:r>
          </a:p>
        </p:txBody>
      </p:sp>
      <p:graphicFrame>
        <p:nvGraphicFramePr>
          <p:cNvPr id="547852" name="Group 12"/>
          <p:cNvGraphicFramePr>
            <a:graphicFrameLocks noGrp="1"/>
          </p:cNvGraphicFramePr>
          <p:nvPr>
            <p:ph sz="half" idx="2"/>
          </p:nvPr>
        </p:nvGraphicFramePr>
        <p:xfrm>
          <a:off x="685800" y="2362200"/>
          <a:ext cx="7391400" cy="2968708"/>
        </p:xfrm>
        <a:graphic>
          <a:graphicData uri="http://schemas.openxmlformats.org/drawingml/2006/table">
            <a:tbl>
              <a:tblPr/>
              <a:tblGrid>
                <a:gridCol w="7391400">
                  <a:extLst>
                    <a:ext uri="{9D8B030D-6E8A-4147-A177-3AD203B41FA5}">
                      <a16:colId xmlns:a16="http://schemas.microsoft.com/office/drawing/2014/main" val="20000"/>
                    </a:ext>
                  </a:extLst>
                </a:gridCol>
              </a:tblGrid>
              <a:tr h="29686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i="0" u="sng" strike="noStrike" cap="none" normalizeH="0" baseline="0">
                          <a:ln>
                            <a:noFill/>
                          </a:ln>
                          <a:solidFill>
                            <a:schemeClr val="tx2"/>
                          </a:solidFill>
                          <a:effectLst/>
                          <a:latin typeface="Verdana" pitchFamily="34" charset="0"/>
                          <a:ea typeface="宋体" pitchFamily="2" charset="-122"/>
                        </a:rPr>
                        <a:t>Johnson’s algorithm</a:t>
                      </a:r>
                      <a:r>
                        <a:rPr kumimoji="0" lang="en-US" altLang="zh-CN" sz="1600" b="0" i="0" u="none" strike="noStrike" cap="none" normalizeH="0" baseline="0">
                          <a:ln>
                            <a:noFill/>
                          </a:ln>
                          <a:solidFill>
                            <a:schemeClr val="tx1"/>
                          </a:solidFill>
                          <a:effectLst/>
                          <a:latin typeface="Verdana" pitchFamily="34" charset="0"/>
                          <a:ea typeface="宋体" pitchFamily="2" charset="-122"/>
                        </a:rPr>
                        <a:t> (Johnson 1954):</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1. Sort the processing times of the jobs on the two</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machines in two lists.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2. Find the shortest time in either list and remove job from</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both lists.</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If time came from first list, place job in first available</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position.</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If time came from second list, place job in last available</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position in sequence.</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0" i="0" u="none" strike="noStrike" cap="none" normalizeH="0" baseline="0">
                          <a:ln>
                            <a:noFill/>
                          </a:ln>
                          <a:solidFill>
                            <a:schemeClr val="tx1"/>
                          </a:solidFill>
                          <a:effectLst/>
                          <a:latin typeface="Verdana" pitchFamily="34" charset="0"/>
                          <a:ea typeface="宋体" pitchFamily="2" charset="-122"/>
                        </a:rPr>
                        <a:t>    3. Repeat until lists are exhausted.</a:t>
                      </a:r>
                    </a:p>
                  </a:txBody>
                  <a:tcPr marT="45698" marB="45698"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05482" name="Rectangle 10"/>
          <p:cNvSpPr>
            <a:spLocks noChangeArrowheads="1"/>
          </p:cNvSpPr>
          <p:nvPr/>
        </p:nvSpPr>
        <p:spPr bwMode="auto">
          <a:xfrm>
            <a:off x="1143000" y="5638800"/>
            <a:ext cx="5454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800">
                <a:ea typeface="宋体" panose="02010600030101010101" pitchFamily="2" charset="-122"/>
              </a:rPr>
              <a:t>The resulting sequence will minimize </a:t>
            </a:r>
            <a:r>
              <a:rPr lang="en-US" altLang="zh-CN" sz="1800">
                <a:solidFill>
                  <a:srgbClr val="0000FF"/>
                </a:solidFill>
                <a:ea typeface="宋体" panose="02010600030101010101" pitchFamily="2" charset="-122"/>
              </a:rPr>
              <a:t>makespan</a:t>
            </a:r>
            <a:r>
              <a:rPr lang="en-US" altLang="zh-CN" sz="1800">
                <a:ea typeface="宋体" panose="02010600030101010101" pitchFamily="2" charset="-122"/>
              </a:rPr>
              <a:t>.</a:t>
            </a:r>
          </a:p>
        </p:txBody>
      </p:sp>
      <p:sp>
        <p:nvSpPr>
          <p:cNvPr id="10548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defRPr/>
            </a:pPr>
            <a:r>
              <a:rPr kumimoji="0" lang="en-US" altLang="zh-CN" sz="2800" cap="none">
                <a:latin typeface="Verdana" pitchFamily="34" charset="0"/>
                <a:ea typeface="宋体" pitchFamily="2" charset="-122"/>
              </a:rPr>
              <a:t>Johnson’s Algorithm Example</a:t>
            </a:r>
          </a:p>
        </p:txBody>
      </p:sp>
      <p:sp>
        <p:nvSpPr>
          <p:cNvPr id="106499" name="Rectangle 3"/>
          <p:cNvSpPr>
            <a:spLocks noGrp="1" noChangeArrowheads="1"/>
          </p:cNvSpPr>
          <p:nvPr>
            <p:ph type="body" sz="half" idx="1"/>
          </p:nvPr>
        </p:nvSpPr>
        <p:spPr>
          <a:xfrm>
            <a:off x="762000" y="1371600"/>
            <a:ext cx="7162800" cy="4525963"/>
          </a:xfrm>
        </p:spPr>
        <p:txBody>
          <a:bodyPr/>
          <a:lstStyle/>
          <a:p>
            <a:pPr marL="0" indent="0" eaLnBrk="1" hangingPunct="1">
              <a:buFont typeface="Wingdings" panose="05000000000000000000" pitchFamily="2" charset="2"/>
              <a:buNone/>
            </a:pPr>
            <a:r>
              <a:rPr lang="en-US" altLang="zh-CN" sz="1800">
                <a:latin typeface="Verdana" panose="020B0604030504040204" pitchFamily="34" charset="0"/>
                <a:ea typeface="宋体" panose="02010600030101010101" pitchFamily="2" charset="-122"/>
              </a:rPr>
              <a:t>• Data:</a:t>
            </a:r>
          </a:p>
          <a:p>
            <a:pPr marL="0" indent="0" eaLnBrk="1" hangingPunct="1">
              <a:buFont typeface="Wingdings" panose="05000000000000000000" pitchFamily="2" charset="2"/>
              <a:buNone/>
            </a:pPr>
            <a:r>
              <a:rPr lang="en-US" altLang="zh-CN" sz="1800">
                <a:latin typeface="Verdana" panose="020B0604030504040204" pitchFamily="34" charset="0"/>
                <a:ea typeface="宋体" panose="02010600030101010101" pitchFamily="2" charset="-122"/>
              </a:rPr>
              <a:t>                  </a:t>
            </a:r>
          </a:p>
          <a:p>
            <a:pPr marL="0" indent="0" eaLnBrk="1" hangingPunct="1">
              <a:buFont typeface="Wingdings" panose="05000000000000000000" pitchFamily="2" charset="2"/>
              <a:buNone/>
            </a:pPr>
            <a:endParaRPr lang="en-US" altLang="zh-CN" sz="180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sz="180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sz="180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sz="180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sz="180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sz="1800">
                <a:latin typeface="Verdana" panose="020B0604030504040204" pitchFamily="34" charset="0"/>
                <a:ea typeface="宋体" panose="02010600030101010101" pitchFamily="2" charset="-122"/>
              </a:rPr>
              <a:t>• Iteration 1: </a:t>
            </a:r>
            <a:r>
              <a:rPr lang="en-US" altLang="zh-CN" sz="1800" b="0">
                <a:latin typeface="Verdana" panose="020B0604030504040204" pitchFamily="34" charset="0"/>
                <a:ea typeface="宋体" panose="02010600030101010101" pitchFamily="2" charset="-122"/>
              </a:rPr>
              <a:t>min time is 4 (job 1 on M1); place this job first and remove from lists:</a:t>
            </a:r>
          </a:p>
        </p:txBody>
      </p:sp>
      <p:graphicFrame>
        <p:nvGraphicFramePr>
          <p:cNvPr id="548893" name="Group 29"/>
          <p:cNvGraphicFramePr>
            <a:graphicFrameLocks noGrp="1"/>
          </p:cNvGraphicFramePr>
          <p:nvPr>
            <p:ph sz="quarter" idx="2"/>
          </p:nvPr>
        </p:nvGraphicFramePr>
        <p:xfrm>
          <a:off x="1981200" y="1752600"/>
          <a:ext cx="5791200" cy="1546225"/>
        </p:xfrm>
        <a:graphic>
          <a:graphicData uri="http://schemas.openxmlformats.org/drawingml/2006/table">
            <a:tbl>
              <a:tblPr/>
              <a:tblGrid>
                <a:gridCol w="1809750">
                  <a:extLst>
                    <a:ext uri="{9D8B030D-6E8A-4147-A177-3AD203B41FA5}">
                      <a16:colId xmlns:a16="http://schemas.microsoft.com/office/drawing/2014/main" val="20000"/>
                    </a:ext>
                  </a:extLst>
                </a:gridCol>
                <a:gridCol w="2051050">
                  <a:extLst>
                    <a:ext uri="{9D8B030D-6E8A-4147-A177-3AD203B41FA5}">
                      <a16:colId xmlns:a16="http://schemas.microsoft.com/office/drawing/2014/main" val="20001"/>
                    </a:ext>
                  </a:extLst>
                </a:gridCol>
                <a:gridCol w="1930400">
                  <a:extLst>
                    <a:ext uri="{9D8B030D-6E8A-4147-A177-3AD203B41FA5}">
                      <a16:colId xmlns:a16="http://schemas.microsoft.com/office/drawing/2014/main" val="20002"/>
                    </a:ext>
                  </a:extLst>
                </a:gridCol>
              </a:tblGrid>
              <a:tr h="36567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    job</a:t>
                      </a:r>
                    </a:p>
                  </a:txBody>
                  <a:tcPr marT="45679" marB="456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   Time on M1</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Time on M2</a:t>
                      </a:r>
                    </a:p>
                  </a:txBody>
                  <a:tcPr marT="45679" marB="456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80547">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T="45679" marB="4567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7</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6</a:t>
                      </a:r>
                    </a:p>
                  </a:txBody>
                  <a:tcPr marT="45679" marB="4567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9</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marT="45679" marB="4567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548882" name="Group 18"/>
          <p:cNvGraphicFramePr>
            <a:graphicFrameLocks noGrp="1"/>
          </p:cNvGraphicFramePr>
          <p:nvPr>
            <p:ph sz="quarter" idx="3"/>
          </p:nvPr>
        </p:nvGraphicFramePr>
        <p:xfrm>
          <a:off x="3810000" y="4941888"/>
          <a:ext cx="2362200" cy="1535112"/>
        </p:xfrm>
        <a:graphic>
          <a:graphicData uri="http://schemas.openxmlformats.org/drawingml/2006/table">
            <a:tbl>
              <a:tblPr/>
              <a:tblGrid>
                <a:gridCol w="11811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tblGrid>
              <a:tr h="3952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List 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List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39824">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4 (1)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6 (3)</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7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a:ln>
                            <a:noFill/>
                          </a:ln>
                          <a:solidFill>
                            <a:schemeClr val="tx1"/>
                          </a:solidFill>
                          <a:effectLst/>
                          <a:latin typeface="Verdana" pitchFamily="34" charset="0"/>
                          <a:ea typeface="宋体" pitchFamily="2" charset="-122"/>
                        </a:rPr>
                        <a:t>5 (3)</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a:ln>
                            <a:noFill/>
                          </a:ln>
                          <a:solidFill>
                            <a:schemeClr val="tx1"/>
                          </a:solidFill>
                          <a:effectLst/>
                          <a:latin typeface="Verdana" pitchFamily="34" charset="0"/>
                          <a:ea typeface="宋体" pitchFamily="2" charset="-122"/>
                        </a:rPr>
                        <a:t>9 (1)</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dirty="0">
                          <a:ln>
                            <a:noFill/>
                          </a:ln>
                          <a:solidFill>
                            <a:schemeClr val="tx1"/>
                          </a:solidFill>
                          <a:effectLst/>
                          <a:latin typeface="Verdana" pitchFamily="34" charset="0"/>
                          <a:ea typeface="宋体" pitchFamily="2" charset="-122"/>
                        </a:rPr>
                        <a:t>10 (2)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6525"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457200" y="152400"/>
            <a:ext cx="7620000" cy="533400"/>
          </a:xfrm>
        </p:spPr>
        <p:txBody>
          <a:bodyPr/>
          <a:lstStyle/>
          <a:p>
            <a:pPr eaLnBrk="1" hangingPunct="1">
              <a:defRPr/>
            </a:pPr>
            <a:r>
              <a:rPr kumimoji="0" lang="en-US" altLang="zh-CN" sz="2400" b="1" cap="none">
                <a:latin typeface="Verdana" pitchFamily="34" charset="0"/>
                <a:ea typeface="宋体" pitchFamily="2" charset="-122"/>
              </a:rPr>
              <a:t>Johnson’s Algorithm Example (cont.)</a:t>
            </a:r>
          </a:p>
        </p:txBody>
      </p:sp>
      <p:sp>
        <p:nvSpPr>
          <p:cNvPr id="107523" name="Rectangle 3"/>
          <p:cNvSpPr>
            <a:spLocks noGrp="1" noChangeArrowheads="1"/>
          </p:cNvSpPr>
          <p:nvPr>
            <p:ph type="body" idx="1"/>
          </p:nvPr>
        </p:nvSpPr>
        <p:spPr/>
        <p:txBody>
          <a:bodyPr/>
          <a:lstStyle/>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 Iteration 2: </a:t>
            </a:r>
            <a:r>
              <a:rPr lang="en-US" altLang="zh-CN" b="0">
                <a:latin typeface="Verdana" panose="020B0604030504040204" pitchFamily="34" charset="0"/>
                <a:ea typeface="宋体" panose="02010600030101010101" pitchFamily="2" charset="-122"/>
              </a:rPr>
              <a:t>min time is 5 (job 3 on M2); place this job last and remove from lists:</a:t>
            </a:r>
          </a:p>
          <a:p>
            <a:pPr marL="0" indent="0" eaLnBrk="1" hangingPunct="1">
              <a:buFont typeface="Wingdings" panose="05000000000000000000" pitchFamily="2" charset="2"/>
              <a:buNone/>
            </a:pPr>
            <a:endParaRPr lang="en-US" altLang="zh-CN" b="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b="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b="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b="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 Iteration 3: </a:t>
            </a:r>
            <a:r>
              <a:rPr lang="en-US" altLang="zh-CN" b="0">
                <a:latin typeface="Verdana" panose="020B0604030504040204" pitchFamily="34" charset="0"/>
                <a:ea typeface="宋体" panose="02010600030101010101" pitchFamily="2" charset="-122"/>
              </a:rPr>
              <a:t>only job left is job 2; place in remaining position (middle).</a:t>
            </a:r>
          </a:p>
          <a:p>
            <a:pPr marL="0" indent="0" eaLnBrk="1" hangingPunct="1">
              <a:buFont typeface="Wingdings" panose="05000000000000000000" pitchFamily="2" charset="2"/>
              <a:buNone/>
            </a:pPr>
            <a:endParaRPr lang="en-US" altLang="zh-CN" b="0">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 Final Sequence: </a:t>
            </a:r>
            <a:r>
              <a:rPr lang="en-US" altLang="zh-CN" b="0">
                <a:latin typeface="Verdana" panose="020B0604030504040204" pitchFamily="34" charset="0"/>
                <a:ea typeface="宋体" panose="02010600030101010101" pitchFamily="2" charset="-122"/>
              </a:rPr>
              <a:t>1-2-3        </a:t>
            </a: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 Makespan: </a:t>
            </a:r>
            <a:r>
              <a:rPr lang="en-US" altLang="zh-CN" b="0">
                <a:latin typeface="Verdana" panose="020B0604030504040204" pitchFamily="34" charset="0"/>
                <a:ea typeface="宋体" panose="02010600030101010101" pitchFamily="2" charset="-122"/>
              </a:rPr>
              <a:t>28</a:t>
            </a:r>
          </a:p>
        </p:txBody>
      </p:sp>
      <p:pic>
        <p:nvPicPr>
          <p:cNvPr id="1075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905000"/>
            <a:ext cx="26670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953000"/>
            <a:ext cx="3048000" cy="143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381000" y="76200"/>
            <a:ext cx="8229600" cy="563563"/>
          </a:xfrm>
        </p:spPr>
        <p:txBody>
          <a:bodyPr/>
          <a:lstStyle/>
          <a:p>
            <a:pPr eaLnBrk="1" hangingPunct="1">
              <a:defRPr/>
            </a:pPr>
            <a:r>
              <a:rPr kumimoji="0" lang="en-US" altLang="zh-CN" sz="2400" cap="none">
                <a:latin typeface="Verdana" pitchFamily="34" charset="0"/>
                <a:ea typeface="宋体" pitchFamily="2" charset="-122"/>
              </a:rPr>
              <a:t>Gantt Chart for Johnson’s Algorithm Example</a:t>
            </a:r>
          </a:p>
        </p:txBody>
      </p:sp>
      <p:pic>
        <p:nvPicPr>
          <p:cNvPr id="108547"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09600" y="1263650"/>
            <a:ext cx="7696200" cy="1457325"/>
          </a:xfrm>
        </p:spPr>
      </p:pic>
      <p:sp>
        <p:nvSpPr>
          <p:cNvPr id="108548" name="Rectangle 4"/>
          <p:cNvSpPr>
            <a:spLocks noChangeArrowheads="1"/>
          </p:cNvSpPr>
          <p:nvPr/>
        </p:nvSpPr>
        <p:spPr bwMode="auto">
          <a:xfrm>
            <a:off x="838200" y="4113213"/>
            <a:ext cx="76200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1800" i="1">
                <a:solidFill>
                  <a:schemeClr val="accent2"/>
                </a:solidFill>
                <a:ea typeface="宋体" panose="02010600030101010101" pitchFamily="2" charset="-122"/>
              </a:rPr>
              <a:t>Short task on M1 to                                                  Short task on M2 to</a:t>
            </a:r>
          </a:p>
          <a:p>
            <a:pPr eaLnBrk="1" hangingPunct="1">
              <a:spcBef>
                <a:spcPct val="0"/>
              </a:spcBef>
              <a:spcAft>
                <a:spcPct val="0"/>
              </a:spcAft>
              <a:buFontTx/>
              <a:buNone/>
            </a:pPr>
            <a:r>
              <a:rPr lang="en-US" altLang="zh-CN" sz="1800" i="1">
                <a:solidFill>
                  <a:schemeClr val="accent2"/>
                </a:solidFill>
                <a:ea typeface="宋体" panose="02010600030101010101" pitchFamily="2" charset="-122"/>
              </a:rPr>
              <a:t>“load up” quickly.                                                     “clear out” quickly.</a:t>
            </a:r>
          </a:p>
          <a:p>
            <a:pPr eaLnBrk="1" hangingPunct="1">
              <a:spcBef>
                <a:spcPct val="0"/>
              </a:spcBef>
              <a:spcAft>
                <a:spcPct val="0"/>
              </a:spcAft>
              <a:buFontTx/>
              <a:buNone/>
            </a:pPr>
            <a:endParaRPr lang="en-US" altLang="zh-CN" sz="1800" i="1">
              <a:ea typeface="宋体" panose="02010600030101010101" pitchFamily="2" charset="-122"/>
            </a:endParaRPr>
          </a:p>
        </p:txBody>
      </p:sp>
      <p:sp>
        <p:nvSpPr>
          <p:cNvPr id="108549" name="Line 5"/>
          <p:cNvSpPr>
            <a:spLocks noChangeShapeType="1"/>
          </p:cNvSpPr>
          <p:nvPr/>
        </p:nvSpPr>
        <p:spPr bwMode="auto">
          <a:xfrm flipV="1">
            <a:off x="1752600" y="3124200"/>
            <a:ext cx="0" cy="914400"/>
          </a:xfrm>
          <a:prstGeom prst="line">
            <a:avLst/>
          </a:prstGeom>
          <a:noFill/>
          <a:ln w="920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50" name="Line 6"/>
          <p:cNvSpPr>
            <a:spLocks noChangeShapeType="1"/>
          </p:cNvSpPr>
          <p:nvPr/>
        </p:nvSpPr>
        <p:spPr bwMode="auto">
          <a:xfrm flipV="1">
            <a:off x="7543800" y="3124200"/>
            <a:ext cx="0" cy="914400"/>
          </a:xfrm>
          <a:prstGeom prst="line">
            <a:avLst/>
          </a:prstGeom>
          <a:noFill/>
          <a:ln w="9207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551"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457200" y="228600"/>
            <a:ext cx="7391400" cy="563563"/>
          </a:xfrm>
        </p:spPr>
        <p:txBody>
          <a:bodyPr>
            <a:normAutofit fontScale="90000"/>
          </a:bodyPr>
          <a:lstStyle/>
          <a:p>
            <a:pPr eaLnBrk="1" hangingPunct="1">
              <a:defRPr/>
            </a:pPr>
            <a:r>
              <a:rPr kumimoji="0" lang="en-US" altLang="zh-CN" b="1" dirty="0">
                <a:latin typeface="Verdana" charset="0"/>
                <a:cs typeface="宋体" charset="0"/>
              </a:rPr>
              <a:t>Extension to 3 Machines</a:t>
            </a:r>
          </a:p>
        </p:txBody>
      </p:sp>
      <p:sp>
        <p:nvSpPr>
          <p:cNvPr id="109571" name="Rectangle 3"/>
          <p:cNvSpPr>
            <a:spLocks noGrp="1" noChangeArrowheads="1"/>
          </p:cNvSpPr>
          <p:nvPr>
            <p:ph type="body" sz="half" idx="1"/>
          </p:nvPr>
        </p:nvSpPr>
        <p:spPr>
          <a:xfrm>
            <a:off x="457200" y="990600"/>
            <a:ext cx="7715250" cy="5410200"/>
          </a:xfrm>
        </p:spPr>
        <p:txBody>
          <a:bodyPr/>
          <a:lstStyle/>
          <a:p>
            <a:pPr marL="0" indent="0" eaLnBrk="1" hangingPunct="1"/>
            <a:r>
              <a:rPr lang="en-US" altLang="zh-CN" sz="2400">
                <a:latin typeface="Verdana" panose="020B0604030504040204" pitchFamily="34" charset="0"/>
                <a:ea typeface="宋体" panose="02010600030101010101" pitchFamily="2" charset="-122"/>
              </a:rPr>
              <a:t>Label the machine A, B, and C. The 3-machine problem can be reduced to a 2-machine problem if the following condition is satisfied:</a:t>
            </a: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r>
              <a:rPr lang="en-US" altLang="zh-CN" sz="2400">
                <a:latin typeface="Verdana" panose="020B0604030504040204" pitchFamily="34" charset="0"/>
                <a:ea typeface="宋体" panose="02010600030101010101" pitchFamily="2" charset="-122"/>
              </a:rPr>
              <a:t>If either one of these conditions be satisfied, the problem is reduced to a 2-machine problem in the following way:</a:t>
            </a:r>
          </a:p>
          <a:p>
            <a:pPr marL="0" indent="0" eaLnBrk="1" hangingPunct="1"/>
            <a:endParaRPr lang="en-US" altLang="zh-CN" sz="2400">
              <a:latin typeface="Verdana" panose="020B0604030504040204" pitchFamily="34" charset="0"/>
              <a:ea typeface="宋体" panose="02010600030101010101" pitchFamily="2" charset="-122"/>
            </a:endParaRPr>
          </a:p>
        </p:txBody>
      </p:sp>
      <p:graphicFrame>
        <p:nvGraphicFramePr>
          <p:cNvPr id="109572" name="Object 4"/>
          <p:cNvGraphicFramePr>
            <a:graphicFrameLocks noGrp="1" noChangeAspect="1"/>
          </p:cNvGraphicFramePr>
          <p:nvPr>
            <p:ph sz="quarter" idx="2"/>
          </p:nvPr>
        </p:nvGraphicFramePr>
        <p:xfrm>
          <a:off x="1219200" y="2667000"/>
          <a:ext cx="6769100" cy="766763"/>
        </p:xfrm>
        <a:graphic>
          <a:graphicData uri="http://schemas.openxmlformats.org/presentationml/2006/ole">
            <mc:AlternateContent xmlns:mc="http://schemas.openxmlformats.org/markup-compatibility/2006">
              <mc:Choice xmlns:v="urn:schemas-microsoft-com:vml" Requires="v">
                <p:oleObj spid="_x0000_s109639" name="Equation" r:id="rId3" imgW="2413000" imgH="228600" progId="Equation.3">
                  <p:embed/>
                </p:oleObj>
              </mc:Choice>
              <mc:Fallback>
                <p:oleObj name="Equation" r:id="rId3" imgW="24130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667000"/>
                        <a:ext cx="6769100"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573" name="Object 5"/>
          <p:cNvGraphicFramePr>
            <a:graphicFrameLocks noGrp="1" noChangeAspect="1"/>
          </p:cNvGraphicFramePr>
          <p:nvPr>
            <p:ph sz="quarter" idx="3"/>
          </p:nvPr>
        </p:nvGraphicFramePr>
        <p:xfrm>
          <a:off x="1828800" y="5105400"/>
          <a:ext cx="5041900" cy="731838"/>
        </p:xfrm>
        <a:graphic>
          <a:graphicData uri="http://schemas.openxmlformats.org/presentationml/2006/ole">
            <mc:AlternateContent xmlns:mc="http://schemas.openxmlformats.org/markup-compatibility/2006">
              <mc:Choice xmlns:v="urn:schemas-microsoft-com:vml" Requires="v">
                <p:oleObj spid="_x0000_s109640" name="公式" r:id="rId5" imgW="1663700" imgH="241300" progId="Equation.3">
                  <p:embed/>
                </p:oleObj>
              </mc:Choice>
              <mc:Fallback>
                <p:oleObj name="公式" r:id="rId5" imgW="16637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5105400"/>
                        <a:ext cx="5041900"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957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381000" y="228600"/>
            <a:ext cx="7391400" cy="563563"/>
          </a:xfrm>
        </p:spPr>
        <p:txBody>
          <a:bodyPr>
            <a:normAutofit fontScale="90000"/>
          </a:bodyPr>
          <a:lstStyle/>
          <a:p>
            <a:pPr eaLnBrk="1" hangingPunct="1">
              <a:defRPr/>
            </a:pPr>
            <a:r>
              <a:rPr kumimoji="0" lang="en-US" altLang="zh-CN" b="1" dirty="0">
                <a:latin typeface="Verdana" charset="0"/>
                <a:cs typeface="宋体" charset="0"/>
              </a:rPr>
              <a:t>Example</a:t>
            </a:r>
          </a:p>
        </p:txBody>
      </p:sp>
      <p:sp>
        <p:nvSpPr>
          <p:cNvPr id="110595" name="Rectangle 3"/>
          <p:cNvSpPr>
            <a:spLocks noGrp="1" noChangeArrowheads="1"/>
          </p:cNvSpPr>
          <p:nvPr>
            <p:ph type="body" sz="half" idx="1"/>
          </p:nvPr>
        </p:nvSpPr>
        <p:spPr>
          <a:xfrm>
            <a:off x="457200" y="990600"/>
            <a:ext cx="8075613" cy="5410200"/>
          </a:xfrm>
        </p:spPr>
        <p:txBody>
          <a:bodyPr/>
          <a:lstStyle/>
          <a:p>
            <a:pPr marL="0" indent="0" eaLnBrk="1" hangingPunct="1"/>
            <a:r>
              <a:rPr lang="en-US" altLang="zh-CN" sz="2400">
                <a:latin typeface="Verdana" panose="020B0604030504040204" pitchFamily="34" charset="0"/>
                <a:ea typeface="宋体" panose="02010600030101010101" pitchFamily="2" charset="-122"/>
              </a:rPr>
              <a:t>Following jobs are processed in the sequence A-B-C</a:t>
            </a:r>
          </a:p>
        </p:txBody>
      </p:sp>
      <p:graphicFrame>
        <p:nvGraphicFramePr>
          <p:cNvPr id="552964" name="Group 4"/>
          <p:cNvGraphicFramePr>
            <a:graphicFrameLocks noGrp="1"/>
          </p:cNvGraphicFramePr>
          <p:nvPr>
            <p:ph sz="half" idx="2"/>
          </p:nvPr>
        </p:nvGraphicFramePr>
        <p:xfrm>
          <a:off x="2411413" y="2565400"/>
          <a:ext cx="4038600" cy="3200400"/>
        </p:xfrm>
        <a:graphic>
          <a:graphicData uri="http://schemas.openxmlformats.org/drawingml/2006/table">
            <a:tbl>
              <a:tblPr/>
              <a:tblGrid>
                <a:gridCol w="10096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1009650">
                  <a:extLst>
                    <a:ext uri="{9D8B030D-6E8A-4147-A177-3AD203B41FA5}">
                      <a16:colId xmlns:a16="http://schemas.microsoft.com/office/drawing/2014/main" val="20003"/>
                    </a:ext>
                  </a:extLst>
                </a:gridCol>
              </a:tblGrid>
              <a:tr h="431800">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Job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Machine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460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33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765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78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1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083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0635"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381000" y="228600"/>
            <a:ext cx="7391400" cy="563563"/>
          </a:xfrm>
        </p:spPr>
        <p:txBody>
          <a:bodyPr/>
          <a:lstStyle/>
          <a:p>
            <a:pPr eaLnBrk="1" hangingPunct="1">
              <a:defRPr/>
            </a:pPr>
            <a:r>
              <a:rPr kumimoji="0" lang="en-US" altLang="zh-CN" sz="2800" b="1">
                <a:latin typeface="Verdana" charset="0"/>
                <a:cs typeface="宋体" charset="0"/>
              </a:rPr>
              <a:t>Solution</a:t>
            </a:r>
          </a:p>
        </p:txBody>
      </p:sp>
      <p:graphicFrame>
        <p:nvGraphicFramePr>
          <p:cNvPr id="615463" name="Group 39"/>
          <p:cNvGraphicFramePr>
            <a:graphicFrameLocks noGrp="1"/>
          </p:cNvGraphicFramePr>
          <p:nvPr>
            <p:ph idx="1"/>
          </p:nvPr>
        </p:nvGraphicFramePr>
        <p:xfrm>
          <a:off x="457200" y="1371600"/>
          <a:ext cx="8229600" cy="22098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83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Job</a:t>
                      </a:r>
                    </a:p>
                  </a:txBody>
                  <a:tcPr marL="90000" marR="90000" marT="46815" marB="4681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A’</a:t>
                      </a:r>
                    </a:p>
                  </a:txBody>
                  <a:tcPr marL="90000" marR="90000" marT="46815" marB="4681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B’</a:t>
                      </a:r>
                    </a:p>
                  </a:txBody>
                  <a:tcPr marL="90000" marR="90000" marT="46815" marB="46815"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a:t>
                      </a:r>
                    </a:p>
                  </a:txBody>
                  <a:tcPr marL="90000" marR="90000" marT="46815" marB="4681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9</a:t>
                      </a:r>
                    </a:p>
                  </a:txBody>
                  <a:tcPr marL="90000" marR="90000" marT="46815" marB="4681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13</a:t>
                      </a:r>
                    </a:p>
                  </a:txBody>
                  <a:tcPr marL="90000" marR="90000" marT="46815" marB="46815"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2</a:t>
                      </a:r>
                    </a:p>
                  </a:txBody>
                  <a:tcPr marL="90000" marR="90000" marT="46815" marB="4681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15</a:t>
                      </a:r>
                    </a:p>
                  </a:txBody>
                  <a:tcPr marL="90000" marR="90000" marT="46815" marB="4681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16</a:t>
                      </a:r>
                    </a:p>
                  </a:txBody>
                  <a:tcPr marL="90000" marR="90000" marT="46815" marB="46815"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3</a:t>
                      </a:r>
                    </a:p>
                  </a:txBody>
                  <a:tcPr marL="90000" marR="90000" marT="46815" marB="4681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10</a:t>
                      </a:r>
                    </a:p>
                  </a:txBody>
                  <a:tcPr marL="90000" marR="90000" marT="46815" marB="4681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8</a:t>
                      </a:r>
                    </a:p>
                  </a:txBody>
                  <a:tcPr marL="90000" marR="90000" marT="46815" marB="46815"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4</a:t>
                      </a:r>
                    </a:p>
                  </a:txBody>
                  <a:tcPr marL="90000" marR="90000" marT="46815" marB="4681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9</a:t>
                      </a:r>
                    </a:p>
                  </a:txBody>
                  <a:tcPr marL="90000" marR="90000" marT="46815" marB="4681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10</a:t>
                      </a:r>
                    </a:p>
                  </a:txBody>
                  <a:tcPr marL="90000" marR="90000" marT="46815" marB="46815"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8300">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5</a:t>
                      </a:r>
                    </a:p>
                  </a:txBody>
                  <a:tcPr marL="90000" marR="90000" marT="46815" marB="4681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9</a:t>
                      </a:r>
                    </a:p>
                  </a:txBody>
                  <a:tcPr marL="90000" marR="90000" marT="46815" marB="4681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800" b="1" i="0" u="none" strike="noStrike" cap="none" normalizeH="0" baseline="0">
                          <a:ln>
                            <a:noFill/>
                          </a:ln>
                          <a:solidFill>
                            <a:schemeClr val="tx1"/>
                          </a:solidFill>
                          <a:effectLst/>
                          <a:latin typeface="Verdana" pitchFamily="34" charset="0"/>
                          <a:ea typeface="宋体" pitchFamily="2" charset="-122"/>
                        </a:rPr>
                        <a:t>15</a:t>
                      </a:r>
                    </a:p>
                  </a:txBody>
                  <a:tcPr marL="90000" marR="90000" marT="46815" marB="46815"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1649" name="Text Box 40"/>
          <p:cNvSpPr txBox="1">
            <a:spLocks noChangeArrowheads="1"/>
          </p:cNvSpPr>
          <p:nvPr/>
        </p:nvSpPr>
        <p:spPr bwMode="auto">
          <a:xfrm>
            <a:off x="685800" y="4267200"/>
            <a:ext cx="739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ea typeface="宋体" panose="02010600030101010101" pitchFamily="2" charset="-122"/>
              </a:rPr>
              <a:t>The optimal sequence is: 1-4-5-2-3</a:t>
            </a:r>
          </a:p>
        </p:txBody>
      </p:sp>
      <p:sp>
        <p:nvSpPr>
          <p:cNvPr id="11165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609600" y="1295400"/>
            <a:ext cx="8001000" cy="1325563"/>
          </a:xfrm>
        </p:spPr>
        <p:txBody>
          <a:bodyPr>
            <a:noAutofit/>
          </a:bodyPr>
          <a:lstStyle/>
          <a:p>
            <a:pPr eaLnBrk="1" hangingPunct="1">
              <a:defRPr/>
            </a:pPr>
            <a:r>
              <a:rPr kumimoji="0" lang="en-US" altLang="zh-CN" sz="2800" b="1" dirty="0">
                <a:latin typeface="Verdana" charset="0"/>
                <a:cs typeface="宋体" charset="0"/>
              </a:rPr>
              <a:t>Machine Scheduling:</a:t>
            </a:r>
            <a:br>
              <a:rPr kumimoji="0" lang="en-US" altLang="zh-CN" sz="2800" b="1" dirty="0">
                <a:latin typeface="Verdana" charset="0"/>
                <a:cs typeface="宋体" charset="0"/>
              </a:rPr>
            </a:br>
            <a:r>
              <a:rPr kumimoji="0" lang="en-US" altLang="zh-CN" sz="2800" b="1" dirty="0">
                <a:latin typeface="Verdana" charset="0"/>
                <a:cs typeface="宋体" charset="0"/>
              </a:rPr>
              <a:t>More general flow shop scheduling problem </a:t>
            </a:r>
            <a:r>
              <a:rPr kumimoji="0" lang="zh-CN" altLang="en-US" sz="2800" b="1" dirty="0">
                <a:latin typeface="Verdana" charset="0"/>
                <a:cs typeface="宋体" charset="0"/>
              </a:rPr>
              <a:t>（多机流水作业问题）</a:t>
            </a:r>
            <a:endParaRPr kumimoji="0" lang="en-US" altLang="zh-CN" sz="2800" b="1" dirty="0">
              <a:latin typeface="Verdana" charset="0"/>
              <a:cs typeface="宋体" charset="0"/>
            </a:endParaRPr>
          </a:p>
        </p:txBody>
      </p:sp>
      <p:graphicFrame>
        <p:nvGraphicFramePr>
          <p:cNvPr id="112643" name="Object 4"/>
          <p:cNvGraphicFramePr>
            <a:graphicFrameLocks noGrp="1" noChangeAspect="1"/>
          </p:cNvGraphicFramePr>
          <p:nvPr>
            <p:ph idx="1"/>
          </p:nvPr>
        </p:nvGraphicFramePr>
        <p:xfrm>
          <a:off x="2819400" y="3124200"/>
          <a:ext cx="3124200" cy="720725"/>
        </p:xfrm>
        <a:graphic>
          <a:graphicData uri="http://schemas.openxmlformats.org/presentationml/2006/ole">
            <mc:AlternateContent xmlns:mc="http://schemas.openxmlformats.org/markup-compatibility/2006">
              <mc:Choice xmlns:v="urn:schemas-microsoft-com:vml" Requires="v">
                <p:oleObj spid="_x0000_s112678" name="公式" r:id="rId3" imgW="990600" imgH="228600" progId="Equation.3">
                  <p:embed/>
                </p:oleObj>
              </mc:Choice>
              <mc:Fallback>
                <p:oleObj name="公式" r:id="rId3" imgW="9906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3124200"/>
                        <a:ext cx="3124200"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4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457200" y="228600"/>
            <a:ext cx="7391400" cy="563563"/>
          </a:xfrm>
        </p:spPr>
        <p:txBody>
          <a:bodyPr>
            <a:noAutofit/>
          </a:bodyPr>
          <a:lstStyle/>
          <a:p>
            <a:pPr eaLnBrk="1" hangingPunct="1">
              <a:defRPr/>
            </a:pPr>
            <a:r>
              <a:rPr kumimoji="0" lang="en-US" altLang="zh-CN" sz="3200" b="1" dirty="0">
                <a:latin typeface="Verdana" charset="0"/>
                <a:cs typeface="宋体" charset="0"/>
              </a:rPr>
              <a:t>Slope Heuristic</a:t>
            </a:r>
          </a:p>
        </p:txBody>
      </p:sp>
      <p:sp>
        <p:nvSpPr>
          <p:cNvPr id="113667" name="Rectangle 4"/>
          <p:cNvSpPr>
            <a:spLocks noGrp="1" noChangeArrowheads="1"/>
          </p:cNvSpPr>
          <p:nvPr>
            <p:ph type="body" sz="half" idx="1"/>
          </p:nvPr>
        </p:nvSpPr>
        <p:spPr>
          <a:xfrm>
            <a:off x="457200" y="990600"/>
            <a:ext cx="8229600" cy="3505200"/>
          </a:xfrm>
        </p:spPr>
        <p:txBody>
          <a:bodyPr/>
          <a:lstStyle/>
          <a:p>
            <a:pPr marL="0" indent="0"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Compute the slope index for each job</a:t>
            </a:r>
          </a:p>
          <a:p>
            <a:pPr marL="0" indent="0"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Sequence the jobs in decreasing order of the slope index</a:t>
            </a:r>
          </a:p>
          <a:p>
            <a:pPr lvl="1" eaLnBrk="1" hangingPunct="1">
              <a:lnSpc>
                <a:spcPct val="120000"/>
              </a:lnSpc>
            </a:pPr>
            <a:r>
              <a:rPr kumimoji="0" lang="en-US" altLang="zh-CN" sz="2400">
                <a:ea typeface="宋体" panose="02010600030101010101" pitchFamily="2" charset="-122"/>
              </a:rPr>
              <a:t>The slope index is large if the processing time on the downstream machines are large relative to the processing times on the upstream machines</a:t>
            </a:r>
          </a:p>
          <a:p>
            <a:pPr lvl="1" eaLnBrk="1" hangingPunct="1">
              <a:lnSpc>
                <a:spcPct val="120000"/>
              </a:lnSpc>
            </a:pPr>
            <a:r>
              <a:rPr kumimoji="0" lang="en-US" altLang="zh-CN" sz="2400">
                <a:ea typeface="宋体" panose="02010600030101010101" pitchFamily="2" charset="-122"/>
              </a:rPr>
              <a:t>The slope index is small if the processing time on the downstream machine are small in comparison with that on upstream machines</a:t>
            </a:r>
          </a:p>
        </p:txBody>
      </p:sp>
      <p:graphicFrame>
        <p:nvGraphicFramePr>
          <p:cNvPr id="113668" name="Object 5"/>
          <p:cNvGraphicFramePr>
            <a:graphicFrameLocks noGrp="1" noChangeAspect="1"/>
          </p:cNvGraphicFramePr>
          <p:nvPr>
            <p:ph sz="half" idx="2"/>
          </p:nvPr>
        </p:nvGraphicFramePr>
        <p:xfrm>
          <a:off x="2590800" y="5286375"/>
          <a:ext cx="3962400" cy="1114425"/>
        </p:xfrm>
        <a:graphic>
          <a:graphicData uri="http://schemas.openxmlformats.org/presentationml/2006/ole">
            <mc:AlternateContent xmlns:mc="http://schemas.openxmlformats.org/markup-compatibility/2006">
              <mc:Choice xmlns:v="urn:schemas-microsoft-com:vml" Requires="v">
                <p:oleObj spid="_x0000_s113702" name="公式" r:id="rId3" imgW="1536700" imgH="431800" progId="Equation.3">
                  <p:embed/>
                </p:oleObj>
              </mc:Choice>
              <mc:Fallback>
                <p:oleObj name="公式" r:id="rId3" imgW="1536700" imgH="431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286375"/>
                        <a:ext cx="39624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69"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noAutofit/>
          </a:bodyPr>
          <a:lstStyle/>
          <a:p>
            <a:pPr eaLnBrk="1" hangingPunct="1">
              <a:defRPr/>
            </a:pPr>
            <a:r>
              <a:rPr kumimoji="0" lang="en-US" altLang="zh-CN" sz="3200" b="1" dirty="0">
                <a:latin typeface="Verdana" charset="0"/>
                <a:cs typeface="宋体" charset="0"/>
              </a:rPr>
              <a:t>Example</a:t>
            </a:r>
          </a:p>
        </p:txBody>
      </p:sp>
      <p:graphicFrame>
        <p:nvGraphicFramePr>
          <p:cNvPr id="627760" name="Group 48"/>
          <p:cNvGraphicFramePr>
            <a:graphicFrameLocks noGrp="1"/>
          </p:cNvGraphicFramePr>
          <p:nvPr>
            <p:ph sz="half" idx="1"/>
          </p:nvPr>
        </p:nvGraphicFramePr>
        <p:xfrm>
          <a:off x="838200" y="2514600"/>
          <a:ext cx="7620000" cy="3124201"/>
        </p:xfrm>
        <a:graphic>
          <a:graphicData uri="http://schemas.openxmlformats.org/drawingml/2006/table">
            <a:tbl>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tblGrid>
              <a:tr h="6254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jobs</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3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P</a:t>
                      </a:r>
                      <a:r>
                        <a:rPr kumimoji="0" lang="en-US" altLang="zh-CN" sz="1400" b="1" i="0" u="none" strike="noStrike" cap="none" normalizeH="0" baseline="0">
                          <a:ln>
                            <a:noFill/>
                          </a:ln>
                          <a:solidFill>
                            <a:schemeClr val="tx1"/>
                          </a:solidFill>
                          <a:effectLst/>
                          <a:latin typeface="Verdana" charset="0"/>
                          <a:ea typeface="宋体" charset="0"/>
                          <a:cs typeface="宋体" charset="0"/>
                        </a:rPr>
                        <a:t>1j</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P</a:t>
                      </a:r>
                      <a:r>
                        <a:rPr kumimoji="0" lang="en-US" altLang="zh-CN" sz="1400" b="1" i="0" u="none" strike="noStrike" cap="none" normalizeH="0" baseline="0">
                          <a:ln>
                            <a:noFill/>
                          </a:ln>
                          <a:solidFill>
                            <a:schemeClr val="tx1"/>
                          </a:solidFill>
                          <a:effectLst/>
                          <a:latin typeface="Verdana" charset="0"/>
                          <a:ea typeface="宋体" charset="0"/>
                          <a:cs typeface="宋体" charset="0"/>
                        </a:rPr>
                        <a:t>2j </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388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P</a:t>
                      </a:r>
                      <a:r>
                        <a:rPr kumimoji="0" lang="en-US" altLang="zh-CN" sz="1400" b="1" i="0" u="none" strike="noStrike" cap="none" normalizeH="0" baseline="0">
                          <a:ln>
                            <a:noFill/>
                          </a:ln>
                          <a:solidFill>
                            <a:schemeClr val="tx1"/>
                          </a:solidFill>
                          <a:effectLst/>
                          <a:latin typeface="Verdana" charset="0"/>
                          <a:ea typeface="宋体" charset="0"/>
                          <a:cs typeface="宋体" charset="0"/>
                        </a:rPr>
                        <a:t>3j</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54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P</a:t>
                      </a:r>
                      <a:r>
                        <a:rPr kumimoji="0" lang="en-US" altLang="zh-CN" sz="1400" b="1" i="0" u="none" strike="noStrike" cap="none" normalizeH="0" baseline="0">
                          <a:ln>
                            <a:noFill/>
                          </a:ln>
                          <a:solidFill>
                            <a:schemeClr val="tx1"/>
                          </a:solidFill>
                          <a:effectLst/>
                          <a:latin typeface="Verdana" charset="0"/>
                          <a:ea typeface="宋体" charset="0"/>
                          <a:cs typeface="宋体" charset="0"/>
                        </a:rPr>
                        <a:t>4j</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6</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1800" b="1" i="0" u="none" strike="noStrike" cap="none" normalizeH="0" baseline="0">
                          <a:ln>
                            <a:noFill/>
                          </a:ln>
                          <a:solidFill>
                            <a:schemeClr val="tx1"/>
                          </a:solidFill>
                          <a:effectLst/>
                          <a:latin typeface="Verdana" charset="0"/>
                          <a:ea typeface="宋体" charset="0"/>
                          <a:cs typeface="宋体" charset="0"/>
                        </a:rPr>
                        <a:t>5</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14735" name="Object 50"/>
          <p:cNvGraphicFramePr>
            <a:graphicFrameLocks noGrp="1" noChangeAspect="1"/>
          </p:cNvGraphicFramePr>
          <p:nvPr>
            <p:ph sz="half" idx="2"/>
          </p:nvPr>
        </p:nvGraphicFramePr>
        <p:xfrm>
          <a:off x="2514600" y="1143000"/>
          <a:ext cx="3505200" cy="984250"/>
        </p:xfrm>
        <a:graphic>
          <a:graphicData uri="http://schemas.openxmlformats.org/presentationml/2006/ole">
            <mc:AlternateContent xmlns:mc="http://schemas.openxmlformats.org/markup-compatibility/2006">
              <mc:Choice xmlns:v="urn:schemas-microsoft-com:vml" Requires="v">
                <p:oleObj spid="_x0000_s114769" name="公式" r:id="rId3" imgW="1536700" imgH="431800" progId="Equation.3">
                  <p:embed/>
                </p:oleObj>
              </mc:Choice>
              <mc:Fallback>
                <p:oleObj name="公式" r:id="rId3" imgW="1536700" imgH="431800"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1143000"/>
                        <a:ext cx="3505200" cy="98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736" name="页脚占位符 1"/>
          <p:cNvSpPr>
            <a:spLocks noGrp="1"/>
          </p:cNvSpPr>
          <p:nvPr>
            <p:ph type="ftr" sz="quarter" idx="11"/>
          </p:nvPr>
        </p:nvSpPr>
        <p:spPr bwMode="auto">
          <a:xfrm>
            <a:off x="457200" y="6172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457200" y="76200"/>
            <a:ext cx="5791200" cy="533400"/>
          </a:xfrm>
        </p:spPr>
        <p:txBody>
          <a:bodyPr/>
          <a:lstStyle/>
          <a:p>
            <a:pPr eaLnBrk="1" hangingPunct="1">
              <a:defRPr/>
            </a:pPr>
            <a:r>
              <a:rPr kumimoji="0" lang="en-US" altLang="zh-CN" sz="2800" b="1" dirty="0">
                <a:latin typeface="Verdana" charset="0"/>
                <a:cs typeface="宋体" charset="0"/>
              </a:rPr>
              <a:t>Solution</a:t>
            </a:r>
          </a:p>
        </p:txBody>
      </p:sp>
      <p:graphicFrame>
        <p:nvGraphicFramePr>
          <p:cNvPr id="115715" name="Object 4"/>
          <p:cNvGraphicFramePr>
            <a:graphicFrameLocks noGrp="1" noChangeAspect="1"/>
          </p:cNvGraphicFramePr>
          <p:nvPr>
            <p:ph idx="1"/>
          </p:nvPr>
        </p:nvGraphicFramePr>
        <p:xfrm>
          <a:off x="1600200" y="1371600"/>
          <a:ext cx="6096000" cy="2587625"/>
        </p:xfrm>
        <a:graphic>
          <a:graphicData uri="http://schemas.openxmlformats.org/presentationml/2006/ole">
            <mc:AlternateContent xmlns:mc="http://schemas.openxmlformats.org/markup-compatibility/2006">
              <mc:Choice xmlns:v="urn:schemas-microsoft-com:vml" Requires="v">
                <p:oleObj spid="_x0000_s115750" name="公式" r:id="rId3" imgW="2692400" imgH="1143000" progId="Equation.3">
                  <p:embed/>
                </p:oleObj>
              </mc:Choice>
              <mc:Fallback>
                <p:oleObj name="公式" r:id="rId3" imgW="2692400" imgH="1143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371600"/>
                        <a:ext cx="6096000" cy="258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716" name="Text Box 6"/>
          <p:cNvSpPr txBox="1">
            <a:spLocks noChangeArrowheads="1"/>
          </p:cNvSpPr>
          <p:nvPr/>
        </p:nvSpPr>
        <p:spPr bwMode="auto">
          <a:xfrm>
            <a:off x="990600" y="4495800"/>
            <a:ext cx="72390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50000"/>
              </a:spcBef>
              <a:spcAft>
                <a:spcPct val="0"/>
              </a:spcAft>
              <a:buFontTx/>
              <a:buNone/>
            </a:pPr>
            <a:r>
              <a:rPr lang="en-US" altLang="zh-CN" sz="2400" b="0">
                <a:ea typeface="宋体" panose="02010600030101010101" pitchFamily="2" charset="-122"/>
              </a:rPr>
              <a:t>Suggested sequences: 2-5-3-1-4 or 5-2-3-1-4</a:t>
            </a:r>
          </a:p>
          <a:p>
            <a:pPr eaLnBrk="1" hangingPunct="1">
              <a:spcBef>
                <a:spcPct val="50000"/>
              </a:spcBef>
              <a:spcAft>
                <a:spcPct val="0"/>
              </a:spcAft>
              <a:buFontTx/>
              <a:buNone/>
            </a:pPr>
            <a:r>
              <a:rPr lang="en-US" altLang="zh-CN" sz="2400" b="0">
                <a:ea typeface="宋体" panose="02010600030101010101" pitchFamily="2" charset="-122"/>
              </a:rPr>
              <a:t>Makespan=32</a:t>
            </a:r>
          </a:p>
        </p:txBody>
      </p:sp>
      <p:sp>
        <p:nvSpPr>
          <p:cNvPr id="11571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noChangeArrowheads="1"/>
          </p:cNvSpPr>
          <p:nvPr>
            <p:ph type="body" idx="1"/>
          </p:nvPr>
        </p:nvSpPr>
        <p:spPr/>
        <p:txBody>
          <a:bodyPr/>
          <a:lstStyle/>
          <a:p>
            <a:pPr marL="0" indent="0" eaLnBrk="1" hangingPunct="1"/>
            <a:endParaRPr lang="en-US" altLang="zh-CN" sz="3200" dirty="0">
              <a:solidFill>
                <a:schemeClr val="tx2"/>
              </a:solidFill>
              <a:latin typeface="Verdana" panose="020B0604030504040204" pitchFamily="34" charset="0"/>
              <a:ea typeface="宋体" panose="02010600030101010101" pitchFamily="2" charset="-122"/>
            </a:endParaRPr>
          </a:p>
          <a:p>
            <a:pPr marL="0" indent="0" eaLnBrk="1" hangingPunct="1"/>
            <a:endParaRPr lang="en-US" altLang="zh-CN" sz="3200" dirty="0">
              <a:solidFill>
                <a:schemeClr val="tx2"/>
              </a:solidFill>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endParaRPr lang="en-US" altLang="zh-CN" sz="3200" dirty="0">
              <a:solidFill>
                <a:schemeClr val="tx2"/>
              </a:solidFill>
              <a:latin typeface="Verdana" panose="020B0604030504040204" pitchFamily="34" charset="0"/>
              <a:ea typeface="宋体" panose="02010600030101010101" pitchFamily="2" charset="-122"/>
            </a:endParaRPr>
          </a:p>
          <a:p>
            <a:pPr marL="0" indent="0" algn="ctr" eaLnBrk="1" hangingPunct="1">
              <a:buFont typeface="Wingdings" panose="05000000000000000000" pitchFamily="2" charset="2"/>
              <a:buNone/>
            </a:pPr>
            <a:r>
              <a:rPr lang="en-US" altLang="zh-CN" sz="3200" dirty="0">
                <a:solidFill>
                  <a:srgbClr val="3366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rPr>
              <a:t>8.3 </a:t>
            </a:r>
            <a:r>
              <a:rPr lang="zh-CN" altLang="en-US" sz="3200" dirty="0">
                <a:solidFill>
                  <a:srgbClr val="3366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rPr>
              <a:t>异序作业调度 </a:t>
            </a:r>
            <a:r>
              <a:rPr lang="en-US" altLang="zh-CN" sz="3200" dirty="0">
                <a:solidFill>
                  <a:srgbClr val="3366FF"/>
                </a:solidFill>
                <a:effectLst>
                  <a:outerShdw blurRad="38100" dist="38100" dir="2700000" algn="tl">
                    <a:srgbClr val="000000">
                      <a:alpha val="43137"/>
                    </a:srgbClr>
                  </a:outerShdw>
                </a:effectLst>
                <a:latin typeface="Verdana" panose="020B0604030504040204" pitchFamily="34" charset="0"/>
                <a:ea typeface="宋体" panose="02010600030101010101" pitchFamily="2" charset="-122"/>
              </a:rPr>
              <a:t>(Job Shop Scheduling)</a:t>
            </a:r>
          </a:p>
        </p:txBody>
      </p:sp>
      <p:sp>
        <p:nvSpPr>
          <p:cNvPr id="116739"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Job Shop Scheduling</a:t>
            </a:r>
          </a:p>
        </p:txBody>
      </p:sp>
      <p:sp>
        <p:nvSpPr>
          <p:cNvPr id="117763"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Have </a:t>
            </a:r>
            <a:r>
              <a:rPr lang="en-US" altLang="zh-CN" sz="2400" i="1" dirty="0">
                <a:latin typeface="Verdana" panose="020B0604030504040204" pitchFamily="34" charset="0"/>
                <a:ea typeface="宋体" panose="02010600030101010101" pitchFamily="2" charset="-122"/>
              </a:rPr>
              <a:t>m</a:t>
            </a:r>
            <a:r>
              <a:rPr lang="en-US" altLang="zh-CN" sz="2400" dirty="0">
                <a:latin typeface="Verdana" panose="020B0604030504040204" pitchFamily="34" charset="0"/>
                <a:ea typeface="宋体" panose="02010600030101010101" pitchFamily="2" charset="-122"/>
              </a:rPr>
              <a:t> machines and </a:t>
            </a:r>
            <a:r>
              <a:rPr lang="en-US" altLang="zh-CN" sz="2400" i="1" dirty="0">
                <a:latin typeface="Verdana" panose="020B0604030504040204" pitchFamily="34" charset="0"/>
                <a:ea typeface="宋体" panose="02010600030101010101" pitchFamily="2" charset="-122"/>
              </a:rPr>
              <a:t>n</a:t>
            </a:r>
            <a:r>
              <a:rPr lang="en-US" altLang="zh-CN" sz="2400" dirty="0">
                <a:latin typeface="Verdana" panose="020B0604030504040204" pitchFamily="34" charset="0"/>
                <a:ea typeface="宋体" panose="02010600030101010101" pitchFamily="2" charset="-122"/>
              </a:rPr>
              <a:t> jobs</a:t>
            </a:r>
          </a:p>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Each job visits some or all of the machines</a:t>
            </a:r>
          </a:p>
          <a:p>
            <a:pPr eaLnBrk="1" hangingPunct="1">
              <a:buFont typeface="Arial" panose="020B0604020202020204" pitchFamily="34" charset="0"/>
              <a:buChar char="•"/>
            </a:pPr>
            <a:endParaRPr lang="en-US" altLang="zh-CN" sz="2400" dirty="0">
              <a:latin typeface="Verdana" panose="020B0604030504040204" pitchFamily="34" charset="0"/>
              <a:ea typeface="宋体" panose="02010600030101010101" pitchFamily="2" charset="-122"/>
            </a:endParaRPr>
          </a:p>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Customer order of small batches</a:t>
            </a:r>
          </a:p>
          <a:p>
            <a:pPr lvl="1" eaLnBrk="1" hangingPunct="1"/>
            <a:r>
              <a:rPr kumimoji="0" lang="en-US" altLang="zh-CN" sz="2400" dirty="0">
                <a:ea typeface="宋体" panose="02010600030101010101" pitchFamily="2" charset="-122"/>
              </a:rPr>
              <a:t>Wafer fabrication in semiconductor industry</a:t>
            </a:r>
          </a:p>
          <a:p>
            <a:pPr lvl="1" eaLnBrk="1" hangingPunct="1"/>
            <a:r>
              <a:rPr kumimoji="0" lang="en-US" altLang="zh-CN" sz="2400" dirty="0">
                <a:ea typeface="宋体" panose="02010600030101010101" pitchFamily="2" charset="-122"/>
              </a:rPr>
              <a:t>Hospital</a:t>
            </a:r>
          </a:p>
          <a:p>
            <a:pPr eaLnBrk="1" hangingPunct="1">
              <a:buFont typeface="Arial" panose="020B0604020202020204" pitchFamily="34" charset="0"/>
              <a:buChar char="•"/>
            </a:pPr>
            <a:r>
              <a:rPr lang="en-US" altLang="zh-CN" sz="2400" dirty="0">
                <a:latin typeface="Verdana" panose="020B0604030504040204" pitchFamily="34" charset="0"/>
                <a:ea typeface="宋体" panose="02010600030101010101" pitchFamily="2" charset="-122"/>
              </a:rPr>
              <a:t>Very difficult to solve</a:t>
            </a:r>
          </a:p>
        </p:txBody>
      </p:sp>
      <p:sp>
        <p:nvSpPr>
          <p:cNvPr id="117764"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609600" y="309563"/>
            <a:ext cx="7391400" cy="376237"/>
          </a:xfrm>
        </p:spPr>
        <p:txBody>
          <a:bodyPr>
            <a:normAutofit fontScale="90000"/>
          </a:bodyPr>
          <a:lstStyle/>
          <a:p>
            <a:pPr eaLnBrk="1" hangingPunct="1">
              <a:defRPr/>
            </a:pPr>
            <a:r>
              <a:rPr kumimoji="0" lang="en-US" altLang="zh-CN" b="1" dirty="0">
                <a:latin typeface="Verdana" charset="0"/>
                <a:cs typeface="宋体" charset="0"/>
              </a:rPr>
              <a:t>Job Shop Example</a:t>
            </a:r>
          </a:p>
        </p:txBody>
      </p:sp>
      <p:sp>
        <p:nvSpPr>
          <p:cNvPr id="118787" name="Rectangle 3"/>
          <p:cNvSpPr>
            <a:spLocks noGrp="1" noChangeArrowheads="1"/>
          </p:cNvSpPr>
          <p:nvPr>
            <p:ph type="body" idx="1"/>
          </p:nvPr>
        </p:nvSpPr>
        <p:spPr>
          <a:xfrm>
            <a:off x="685800" y="1295400"/>
            <a:ext cx="7772400" cy="1600200"/>
          </a:xfrm>
        </p:spPr>
        <p:txBody>
          <a:bodyPr/>
          <a:lstStyle/>
          <a:p>
            <a:pPr marL="0" indent="0" eaLnBrk="1" hangingPunct="1">
              <a:lnSpc>
                <a:spcPct val="120000"/>
              </a:lnSpc>
            </a:pPr>
            <a:r>
              <a:rPr lang="en-US" altLang="zh-CN" sz="2400">
                <a:latin typeface="Verdana" panose="020B0604030504040204" pitchFamily="34" charset="0"/>
                <a:ea typeface="宋体" panose="02010600030101010101" pitchFamily="2" charset="-122"/>
              </a:rPr>
              <a:t>Constraints</a:t>
            </a:r>
          </a:p>
          <a:p>
            <a:pPr lvl="1" eaLnBrk="1" hangingPunct="1">
              <a:lnSpc>
                <a:spcPct val="120000"/>
              </a:lnSpc>
            </a:pPr>
            <a:r>
              <a:rPr kumimoji="0" lang="en-US" altLang="zh-CN" sz="2400">
                <a:ea typeface="宋体" panose="02010600030101010101" pitchFamily="2" charset="-122"/>
              </a:rPr>
              <a:t>Job follows a specific route</a:t>
            </a:r>
          </a:p>
          <a:p>
            <a:pPr lvl="1" eaLnBrk="1" hangingPunct="1">
              <a:lnSpc>
                <a:spcPct val="120000"/>
              </a:lnSpc>
            </a:pPr>
            <a:r>
              <a:rPr kumimoji="0" lang="en-US" altLang="zh-CN" sz="2400">
                <a:ea typeface="宋体" panose="02010600030101010101" pitchFamily="2" charset="-122"/>
              </a:rPr>
              <a:t>One job at a time on each machine</a:t>
            </a:r>
          </a:p>
        </p:txBody>
      </p:sp>
      <p:sp>
        <p:nvSpPr>
          <p:cNvPr id="118788" name="Line 4"/>
          <p:cNvSpPr>
            <a:spLocks noChangeShapeType="1"/>
          </p:cNvSpPr>
          <p:nvPr/>
        </p:nvSpPr>
        <p:spPr bwMode="auto">
          <a:xfrm>
            <a:off x="7086600" y="4038600"/>
            <a:ext cx="0" cy="914400"/>
          </a:xfrm>
          <a:prstGeom prst="line">
            <a:avLst/>
          </a:prstGeom>
          <a:noFill/>
          <a:ln w="254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89" name="Line 5"/>
          <p:cNvSpPr>
            <a:spLocks noChangeShapeType="1"/>
          </p:cNvSpPr>
          <p:nvPr/>
        </p:nvSpPr>
        <p:spPr bwMode="auto">
          <a:xfrm>
            <a:off x="5562600" y="3429000"/>
            <a:ext cx="0" cy="1524000"/>
          </a:xfrm>
          <a:prstGeom prst="line">
            <a:avLst/>
          </a:prstGeom>
          <a:noFill/>
          <a:ln w="254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790" name="Rectangle 6"/>
          <p:cNvSpPr>
            <a:spLocks noChangeArrowheads="1"/>
          </p:cNvSpPr>
          <p:nvPr/>
        </p:nvSpPr>
        <p:spPr bwMode="auto">
          <a:xfrm>
            <a:off x="2667000" y="3124200"/>
            <a:ext cx="1524000" cy="304800"/>
          </a:xfrm>
          <a:prstGeom prst="rect">
            <a:avLst/>
          </a:prstGeom>
          <a:solidFill>
            <a:schemeClr val="accent2"/>
          </a:solid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(1,1)</a:t>
            </a:r>
          </a:p>
        </p:txBody>
      </p:sp>
      <p:sp>
        <p:nvSpPr>
          <p:cNvPr id="118791" name="Rectangle 7" descr="Sphere"/>
          <p:cNvSpPr>
            <a:spLocks noChangeArrowheads="1"/>
          </p:cNvSpPr>
          <p:nvPr/>
        </p:nvSpPr>
        <p:spPr bwMode="auto">
          <a:xfrm>
            <a:off x="2667000" y="3733800"/>
            <a:ext cx="10668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(2,3)</a:t>
            </a:r>
            <a:endParaRPr lang="en-US" altLang="zh-CN" sz="2400" b="0">
              <a:latin typeface="Times New Roman" panose="02020603050405020304" pitchFamily="18" charset="0"/>
              <a:ea typeface="宋体" panose="02010600030101010101" pitchFamily="2" charset="-122"/>
            </a:endParaRPr>
          </a:p>
        </p:txBody>
      </p:sp>
      <p:sp>
        <p:nvSpPr>
          <p:cNvPr id="118792" name="Rectangle 8"/>
          <p:cNvSpPr>
            <a:spLocks noChangeArrowheads="1"/>
          </p:cNvSpPr>
          <p:nvPr/>
        </p:nvSpPr>
        <p:spPr bwMode="auto">
          <a:xfrm>
            <a:off x="5867400" y="4343400"/>
            <a:ext cx="609600" cy="304800"/>
          </a:xfrm>
          <a:prstGeom prst="rect">
            <a:avLst/>
          </a:prstGeom>
          <a:solidFill>
            <a:schemeClr val="accent2"/>
          </a:solid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(3,1)</a:t>
            </a:r>
            <a:endParaRPr lang="en-US" altLang="zh-CN" sz="2400" b="0">
              <a:latin typeface="Times New Roman" panose="02020603050405020304" pitchFamily="18" charset="0"/>
              <a:ea typeface="宋体" panose="02010600030101010101" pitchFamily="2" charset="-122"/>
            </a:endParaRPr>
          </a:p>
        </p:txBody>
      </p:sp>
      <p:sp>
        <p:nvSpPr>
          <p:cNvPr id="118793" name="Rectangle 9" descr="Sphere"/>
          <p:cNvSpPr>
            <a:spLocks noChangeArrowheads="1"/>
          </p:cNvSpPr>
          <p:nvPr/>
        </p:nvSpPr>
        <p:spPr bwMode="auto">
          <a:xfrm>
            <a:off x="5562600" y="4953000"/>
            <a:ext cx="9144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(4,3)</a:t>
            </a:r>
            <a:endParaRPr lang="en-US" altLang="zh-CN" sz="2400" b="0">
              <a:latin typeface="Times New Roman" panose="02020603050405020304" pitchFamily="18" charset="0"/>
              <a:ea typeface="宋体" panose="02010600030101010101" pitchFamily="2" charset="-122"/>
            </a:endParaRPr>
          </a:p>
        </p:txBody>
      </p:sp>
      <p:sp>
        <p:nvSpPr>
          <p:cNvPr id="118794" name="Rectangle 10" descr="Wide upward diagonal"/>
          <p:cNvSpPr>
            <a:spLocks noChangeArrowheads="1"/>
          </p:cNvSpPr>
          <p:nvPr/>
        </p:nvSpPr>
        <p:spPr bwMode="auto">
          <a:xfrm>
            <a:off x="4191000" y="3124200"/>
            <a:ext cx="762000" cy="304800"/>
          </a:xfrm>
          <a:prstGeom prst="rect">
            <a:avLst/>
          </a:prstGeom>
          <a:blipFill dpi="0" rotWithShape="0">
            <a:blip r:embed="rId3"/>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(1,2)</a:t>
            </a:r>
            <a:endParaRPr lang="en-US" altLang="zh-CN" sz="2400" b="0">
              <a:latin typeface="Times New Roman" panose="02020603050405020304" pitchFamily="18" charset="0"/>
              <a:ea typeface="宋体" panose="02010600030101010101" pitchFamily="2" charset="-122"/>
            </a:endParaRPr>
          </a:p>
        </p:txBody>
      </p:sp>
      <p:sp>
        <p:nvSpPr>
          <p:cNvPr id="118795" name="Rectangle 11" descr="Sphere"/>
          <p:cNvSpPr>
            <a:spLocks noChangeArrowheads="1"/>
          </p:cNvSpPr>
          <p:nvPr/>
        </p:nvSpPr>
        <p:spPr bwMode="auto">
          <a:xfrm>
            <a:off x="4953000" y="3124200"/>
            <a:ext cx="6096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(1,3)</a:t>
            </a:r>
            <a:endParaRPr lang="en-US" altLang="zh-CN" sz="2400" b="0">
              <a:latin typeface="Times New Roman" panose="02020603050405020304" pitchFamily="18" charset="0"/>
              <a:ea typeface="宋体" panose="02010600030101010101" pitchFamily="2" charset="-122"/>
            </a:endParaRPr>
          </a:p>
        </p:txBody>
      </p:sp>
      <p:sp>
        <p:nvSpPr>
          <p:cNvPr id="118796" name="Rectangle 12"/>
          <p:cNvSpPr>
            <a:spLocks noChangeArrowheads="1"/>
          </p:cNvSpPr>
          <p:nvPr/>
        </p:nvSpPr>
        <p:spPr bwMode="auto">
          <a:xfrm>
            <a:off x="4191000" y="3733800"/>
            <a:ext cx="1676400" cy="304800"/>
          </a:xfrm>
          <a:prstGeom prst="rect">
            <a:avLst/>
          </a:prstGeom>
          <a:solidFill>
            <a:schemeClr val="accent2"/>
          </a:solid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(2,1)</a:t>
            </a:r>
            <a:endParaRPr lang="en-US" altLang="zh-CN" sz="2400" b="0">
              <a:latin typeface="Times New Roman" panose="02020603050405020304" pitchFamily="18" charset="0"/>
              <a:ea typeface="宋体" panose="02010600030101010101" pitchFamily="2" charset="-122"/>
            </a:endParaRPr>
          </a:p>
        </p:txBody>
      </p:sp>
      <p:sp>
        <p:nvSpPr>
          <p:cNvPr id="118797" name="Rectangle 13" descr="Wide upward diagonal"/>
          <p:cNvSpPr>
            <a:spLocks noChangeArrowheads="1"/>
          </p:cNvSpPr>
          <p:nvPr/>
        </p:nvSpPr>
        <p:spPr bwMode="auto">
          <a:xfrm>
            <a:off x="5867400" y="3733800"/>
            <a:ext cx="1219200" cy="304800"/>
          </a:xfrm>
          <a:prstGeom prst="rect">
            <a:avLst/>
          </a:prstGeom>
          <a:blipFill dpi="0" rotWithShape="0">
            <a:blip r:embed="rId3"/>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(2,2)</a:t>
            </a:r>
            <a:endParaRPr lang="en-US" altLang="zh-CN" sz="2400" b="0">
              <a:latin typeface="Times New Roman" panose="02020603050405020304" pitchFamily="18" charset="0"/>
              <a:ea typeface="宋体" panose="02010600030101010101" pitchFamily="2" charset="-122"/>
            </a:endParaRPr>
          </a:p>
        </p:txBody>
      </p:sp>
      <p:sp>
        <p:nvSpPr>
          <p:cNvPr id="118798" name="Rectangle 14" descr="Wide upward diagonal"/>
          <p:cNvSpPr>
            <a:spLocks noChangeArrowheads="1"/>
          </p:cNvSpPr>
          <p:nvPr/>
        </p:nvSpPr>
        <p:spPr bwMode="auto">
          <a:xfrm>
            <a:off x="7086600" y="4953000"/>
            <a:ext cx="609600" cy="304800"/>
          </a:xfrm>
          <a:prstGeom prst="rect">
            <a:avLst/>
          </a:prstGeom>
          <a:blipFill dpi="0" rotWithShape="0">
            <a:blip r:embed="rId3"/>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(4,2)</a:t>
            </a:r>
            <a:endParaRPr lang="en-US" altLang="zh-CN" sz="2400" b="0">
              <a:latin typeface="Times New Roman" panose="02020603050405020304" pitchFamily="18" charset="0"/>
              <a:ea typeface="宋体" panose="02010600030101010101" pitchFamily="2" charset="-122"/>
            </a:endParaRPr>
          </a:p>
        </p:txBody>
      </p:sp>
      <p:sp>
        <p:nvSpPr>
          <p:cNvPr id="118799" name="Rectangle 15" descr="Sphere"/>
          <p:cNvSpPr>
            <a:spLocks noChangeArrowheads="1"/>
          </p:cNvSpPr>
          <p:nvPr/>
        </p:nvSpPr>
        <p:spPr bwMode="auto">
          <a:xfrm>
            <a:off x="6477000" y="4343400"/>
            <a:ext cx="1219200" cy="304800"/>
          </a:xfrm>
          <a:prstGeom prst="rect">
            <a:avLst/>
          </a:prstGeom>
          <a:blipFill dpi="0" rotWithShape="0">
            <a:blip r:embed="rId2"/>
            <a:srcRect/>
            <a:tile tx="0" ty="0" sx="100000" sy="100000" flip="none" algn="tl"/>
          </a:blipFill>
          <a:ln w="25400">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a:latin typeface="Times New Roman" panose="02020603050405020304" pitchFamily="18" charset="0"/>
                <a:ea typeface="宋体" panose="02010600030101010101" pitchFamily="2" charset="-122"/>
              </a:rPr>
              <a:t>(3,3)</a:t>
            </a:r>
            <a:endParaRPr lang="en-US" altLang="zh-CN" sz="2400" b="0">
              <a:latin typeface="Times New Roman" panose="02020603050405020304" pitchFamily="18" charset="0"/>
              <a:ea typeface="宋体" panose="02010600030101010101" pitchFamily="2" charset="-122"/>
            </a:endParaRPr>
          </a:p>
        </p:txBody>
      </p:sp>
      <p:sp>
        <p:nvSpPr>
          <p:cNvPr id="118800" name="Line 16"/>
          <p:cNvSpPr>
            <a:spLocks noChangeShapeType="1"/>
          </p:cNvSpPr>
          <p:nvPr/>
        </p:nvSpPr>
        <p:spPr bwMode="auto">
          <a:xfrm flipV="1">
            <a:off x="6477000" y="4648200"/>
            <a:ext cx="0" cy="304800"/>
          </a:xfrm>
          <a:prstGeom prst="line">
            <a:avLst/>
          </a:prstGeom>
          <a:noFill/>
          <a:ln w="25400" cap="rnd">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1" name="Line 17"/>
          <p:cNvSpPr>
            <a:spLocks noChangeShapeType="1"/>
          </p:cNvSpPr>
          <p:nvPr/>
        </p:nvSpPr>
        <p:spPr bwMode="auto">
          <a:xfrm>
            <a:off x="4191000" y="3429000"/>
            <a:ext cx="0" cy="304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2" name="Line 18"/>
          <p:cNvSpPr>
            <a:spLocks noChangeShapeType="1"/>
          </p:cNvSpPr>
          <p:nvPr/>
        </p:nvSpPr>
        <p:spPr bwMode="auto">
          <a:xfrm>
            <a:off x="5867400" y="4038600"/>
            <a:ext cx="0" cy="304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3" name="Line 19"/>
          <p:cNvSpPr>
            <a:spLocks noChangeShapeType="1"/>
          </p:cNvSpPr>
          <p:nvPr/>
        </p:nvSpPr>
        <p:spPr bwMode="auto">
          <a:xfrm>
            <a:off x="2667000" y="5410200"/>
            <a:ext cx="541020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804" name="Text Box 20"/>
          <p:cNvSpPr txBox="1">
            <a:spLocks noChangeArrowheads="1"/>
          </p:cNvSpPr>
          <p:nvPr/>
        </p:nvSpPr>
        <p:spPr bwMode="auto">
          <a:xfrm>
            <a:off x="1279525" y="3038475"/>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1</a:t>
            </a:r>
            <a:endParaRPr lang="en-US" altLang="zh-CN" sz="2800" b="0">
              <a:latin typeface="Times New Roman" panose="02020603050405020304" pitchFamily="18" charset="0"/>
              <a:ea typeface="宋体" panose="02010600030101010101" pitchFamily="2" charset="-122"/>
            </a:endParaRPr>
          </a:p>
        </p:txBody>
      </p:sp>
      <p:sp>
        <p:nvSpPr>
          <p:cNvPr id="118805" name="Text Box 21"/>
          <p:cNvSpPr txBox="1">
            <a:spLocks noChangeArrowheads="1"/>
          </p:cNvSpPr>
          <p:nvPr/>
        </p:nvSpPr>
        <p:spPr bwMode="auto">
          <a:xfrm>
            <a:off x="1295400" y="3648075"/>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2</a:t>
            </a:r>
            <a:endParaRPr lang="en-US" altLang="zh-CN" sz="2800" b="0">
              <a:latin typeface="Times New Roman" panose="02020603050405020304" pitchFamily="18" charset="0"/>
              <a:ea typeface="宋体" panose="02010600030101010101" pitchFamily="2" charset="-122"/>
            </a:endParaRPr>
          </a:p>
        </p:txBody>
      </p:sp>
      <p:sp>
        <p:nvSpPr>
          <p:cNvPr id="118806" name="Text Box 22"/>
          <p:cNvSpPr txBox="1">
            <a:spLocks noChangeArrowheads="1"/>
          </p:cNvSpPr>
          <p:nvPr/>
        </p:nvSpPr>
        <p:spPr bwMode="auto">
          <a:xfrm>
            <a:off x="1295400" y="4257675"/>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3</a:t>
            </a:r>
            <a:endParaRPr lang="en-US" altLang="zh-CN" sz="2800" b="0">
              <a:latin typeface="Times New Roman" panose="02020603050405020304" pitchFamily="18" charset="0"/>
              <a:ea typeface="宋体" panose="02010600030101010101" pitchFamily="2" charset="-122"/>
            </a:endParaRPr>
          </a:p>
        </p:txBody>
      </p:sp>
      <p:sp>
        <p:nvSpPr>
          <p:cNvPr id="118807" name="Text Box 23"/>
          <p:cNvSpPr txBox="1">
            <a:spLocks noChangeArrowheads="1"/>
          </p:cNvSpPr>
          <p:nvPr/>
        </p:nvSpPr>
        <p:spPr bwMode="auto">
          <a:xfrm>
            <a:off x="1282700" y="4929188"/>
            <a:ext cx="1262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b="0">
                <a:latin typeface="Times New Roman" panose="02020603050405020304" pitchFamily="18" charset="0"/>
                <a:ea typeface="宋体" panose="02010600030101010101" pitchFamily="2" charset="-122"/>
              </a:rPr>
              <a:t>Machine 4</a:t>
            </a:r>
            <a:endParaRPr lang="en-US" altLang="zh-CN" sz="2800" b="0">
              <a:latin typeface="Times New Roman" panose="02020603050405020304" pitchFamily="18" charset="0"/>
              <a:ea typeface="宋体" panose="02010600030101010101" pitchFamily="2" charset="-122"/>
            </a:endParaRPr>
          </a:p>
        </p:txBody>
      </p:sp>
      <p:sp>
        <p:nvSpPr>
          <p:cNvPr id="118808"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2" name="矩形 1"/>
          <p:cNvSpPr/>
          <p:nvPr/>
        </p:nvSpPr>
        <p:spPr>
          <a:xfrm>
            <a:off x="685801" y="5867399"/>
            <a:ext cx="7696200" cy="619125"/>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0000FF"/>
                </a:solidFill>
              </a:rPr>
              <a:t>(</a:t>
            </a:r>
            <a:r>
              <a:rPr lang="en-US" altLang="zh-CN" sz="2400" i="1" dirty="0" err="1">
                <a:solidFill>
                  <a:srgbClr val="0000FF"/>
                </a:solidFill>
              </a:rPr>
              <a:t>i</a:t>
            </a:r>
            <a:r>
              <a:rPr lang="en-US" altLang="zh-CN" sz="2400" dirty="0">
                <a:solidFill>
                  <a:srgbClr val="0000FF"/>
                </a:solidFill>
              </a:rPr>
              <a:t>, </a:t>
            </a:r>
            <a:r>
              <a:rPr lang="en-US" altLang="zh-CN" sz="2400" i="1" dirty="0">
                <a:solidFill>
                  <a:srgbClr val="0000FF"/>
                </a:solidFill>
              </a:rPr>
              <a:t>j</a:t>
            </a:r>
            <a:r>
              <a:rPr lang="en-US" altLang="zh-CN" sz="2400" dirty="0">
                <a:solidFill>
                  <a:srgbClr val="0000FF"/>
                </a:solidFill>
              </a:rPr>
              <a:t>): </a:t>
            </a:r>
            <a:r>
              <a:rPr lang="en-US" altLang="zh-CN" sz="2400" i="1" dirty="0" err="1">
                <a:solidFill>
                  <a:srgbClr val="0000FF"/>
                </a:solidFill>
              </a:rPr>
              <a:t>i</a:t>
            </a:r>
            <a:r>
              <a:rPr lang="en-US" altLang="zh-CN" sz="2400" i="1" dirty="0">
                <a:solidFill>
                  <a:srgbClr val="0000FF"/>
                </a:solidFill>
              </a:rPr>
              <a:t> </a:t>
            </a:r>
            <a:r>
              <a:rPr lang="en-US" altLang="zh-CN" sz="2400" dirty="0">
                <a:solidFill>
                  <a:srgbClr val="0000FF"/>
                </a:solidFill>
              </a:rPr>
              <a:t>- </a:t>
            </a:r>
            <a:r>
              <a:rPr lang="zh-CN" altLang="en-US" sz="2400" dirty="0">
                <a:solidFill>
                  <a:srgbClr val="0000FF"/>
                </a:solidFill>
              </a:rPr>
              <a:t>机器</a:t>
            </a:r>
            <a:r>
              <a:rPr lang="en-US" altLang="zh-CN" sz="2400" dirty="0">
                <a:solidFill>
                  <a:srgbClr val="0000FF"/>
                </a:solidFill>
              </a:rPr>
              <a:t>; </a:t>
            </a:r>
            <a:r>
              <a:rPr lang="en-US" altLang="zh-CN" sz="2400" i="1" dirty="0">
                <a:solidFill>
                  <a:srgbClr val="0000FF"/>
                </a:solidFill>
              </a:rPr>
              <a:t>j </a:t>
            </a:r>
            <a:r>
              <a:rPr lang="en-US" altLang="zh-CN" sz="2400" dirty="0">
                <a:solidFill>
                  <a:srgbClr val="0000FF"/>
                </a:solidFill>
              </a:rPr>
              <a:t>- </a:t>
            </a:r>
            <a:r>
              <a:rPr lang="zh-CN" altLang="en-US" sz="2400" dirty="0">
                <a:solidFill>
                  <a:srgbClr val="0000FF"/>
                </a:solidFill>
              </a:rPr>
              <a:t>工件</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533400" y="341313"/>
            <a:ext cx="7391400" cy="376237"/>
          </a:xfrm>
        </p:spPr>
        <p:txBody>
          <a:bodyPr>
            <a:normAutofit fontScale="90000"/>
          </a:bodyPr>
          <a:lstStyle/>
          <a:p>
            <a:pPr eaLnBrk="1" hangingPunct="1">
              <a:defRPr/>
            </a:pPr>
            <a:r>
              <a:rPr kumimoji="0" lang="en-US" altLang="zh-CN" b="1" dirty="0">
                <a:latin typeface="Verdana" charset="0"/>
                <a:cs typeface="宋体" charset="0"/>
              </a:rPr>
              <a:t>Graph Representation</a:t>
            </a:r>
          </a:p>
        </p:txBody>
      </p:sp>
      <p:sp>
        <p:nvSpPr>
          <p:cNvPr id="119811" name="Text Box 3"/>
          <p:cNvSpPr txBox="1">
            <a:spLocks noChangeArrowheads="1"/>
          </p:cNvSpPr>
          <p:nvPr/>
        </p:nvSpPr>
        <p:spPr bwMode="auto">
          <a:xfrm>
            <a:off x="974725" y="1447800"/>
            <a:ext cx="707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Each job follows a specific route through the job shop ...</a:t>
            </a:r>
          </a:p>
        </p:txBody>
      </p:sp>
      <p:sp>
        <p:nvSpPr>
          <p:cNvPr id="119812" name="Oval 4"/>
          <p:cNvSpPr>
            <a:spLocks noChangeArrowheads="1"/>
          </p:cNvSpPr>
          <p:nvPr/>
        </p:nvSpPr>
        <p:spPr bwMode="auto">
          <a:xfrm>
            <a:off x="2133600" y="2320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19813" name="Oval 5"/>
          <p:cNvSpPr>
            <a:spLocks noChangeArrowheads="1"/>
          </p:cNvSpPr>
          <p:nvPr/>
        </p:nvSpPr>
        <p:spPr bwMode="auto">
          <a:xfrm>
            <a:off x="3505200" y="2320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19814" name="Oval 6"/>
          <p:cNvSpPr>
            <a:spLocks noChangeArrowheads="1"/>
          </p:cNvSpPr>
          <p:nvPr/>
        </p:nvSpPr>
        <p:spPr bwMode="auto">
          <a:xfrm>
            <a:off x="4876800" y="2320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19815" name="Oval 7"/>
          <p:cNvSpPr>
            <a:spLocks noChangeArrowheads="1"/>
          </p:cNvSpPr>
          <p:nvPr/>
        </p:nvSpPr>
        <p:spPr bwMode="auto">
          <a:xfrm>
            <a:off x="21336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19816" name="Oval 8"/>
          <p:cNvSpPr>
            <a:spLocks noChangeArrowheads="1"/>
          </p:cNvSpPr>
          <p:nvPr/>
        </p:nvSpPr>
        <p:spPr bwMode="auto">
          <a:xfrm>
            <a:off x="35052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19817" name="Oval 9"/>
          <p:cNvSpPr>
            <a:spLocks noChangeArrowheads="1"/>
          </p:cNvSpPr>
          <p:nvPr/>
        </p:nvSpPr>
        <p:spPr bwMode="auto">
          <a:xfrm>
            <a:off x="61722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119818" name="Oval 10"/>
          <p:cNvSpPr>
            <a:spLocks noChangeArrowheads="1"/>
          </p:cNvSpPr>
          <p:nvPr/>
        </p:nvSpPr>
        <p:spPr bwMode="auto">
          <a:xfrm>
            <a:off x="21336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19819" name="Oval 11"/>
          <p:cNvSpPr>
            <a:spLocks noChangeArrowheads="1"/>
          </p:cNvSpPr>
          <p:nvPr/>
        </p:nvSpPr>
        <p:spPr bwMode="auto">
          <a:xfrm>
            <a:off x="35052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19820" name="Oval 12"/>
          <p:cNvSpPr>
            <a:spLocks noChangeArrowheads="1"/>
          </p:cNvSpPr>
          <p:nvPr/>
        </p:nvSpPr>
        <p:spPr bwMode="auto">
          <a:xfrm>
            <a:off x="48768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119821" name="Oval 13"/>
          <p:cNvSpPr>
            <a:spLocks noChangeArrowheads="1"/>
          </p:cNvSpPr>
          <p:nvPr/>
        </p:nvSpPr>
        <p:spPr bwMode="auto">
          <a:xfrm>
            <a:off x="61722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19822" name="Line 14"/>
          <p:cNvSpPr>
            <a:spLocks noChangeShapeType="1"/>
          </p:cNvSpPr>
          <p:nvPr/>
        </p:nvSpPr>
        <p:spPr bwMode="auto">
          <a:xfrm>
            <a:off x="2971800" y="2701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3" name="Line 15"/>
          <p:cNvSpPr>
            <a:spLocks noChangeShapeType="1"/>
          </p:cNvSpPr>
          <p:nvPr/>
        </p:nvSpPr>
        <p:spPr bwMode="auto">
          <a:xfrm>
            <a:off x="4343400" y="2701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4" name="Line 16"/>
          <p:cNvSpPr>
            <a:spLocks noChangeShapeType="1"/>
          </p:cNvSpPr>
          <p:nvPr/>
        </p:nvSpPr>
        <p:spPr bwMode="auto">
          <a:xfrm>
            <a:off x="29718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5" name="Line 17"/>
          <p:cNvSpPr>
            <a:spLocks noChangeShapeType="1"/>
          </p:cNvSpPr>
          <p:nvPr/>
        </p:nvSpPr>
        <p:spPr bwMode="auto">
          <a:xfrm>
            <a:off x="4343400" y="3768725"/>
            <a:ext cx="1828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6" name="Line 18"/>
          <p:cNvSpPr>
            <a:spLocks noChangeShapeType="1"/>
          </p:cNvSpPr>
          <p:nvPr/>
        </p:nvSpPr>
        <p:spPr bwMode="auto">
          <a:xfrm>
            <a:off x="29718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7" name="Line 19"/>
          <p:cNvSpPr>
            <a:spLocks noChangeShapeType="1"/>
          </p:cNvSpPr>
          <p:nvPr/>
        </p:nvSpPr>
        <p:spPr bwMode="auto">
          <a:xfrm>
            <a:off x="43434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8" name="Line 20"/>
          <p:cNvSpPr>
            <a:spLocks noChangeShapeType="1"/>
          </p:cNvSpPr>
          <p:nvPr/>
        </p:nvSpPr>
        <p:spPr bwMode="auto">
          <a:xfrm>
            <a:off x="57150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29" name="Oval 21"/>
          <p:cNvSpPr>
            <a:spLocks noChangeArrowheads="1"/>
          </p:cNvSpPr>
          <p:nvPr/>
        </p:nvSpPr>
        <p:spPr bwMode="auto">
          <a:xfrm>
            <a:off x="7467600" y="2701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19830" name="Oval 22"/>
          <p:cNvSpPr>
            <a:spLocks noChangeArrowheads="1"/>
          </p:cNvSpPr>
          <p:nvPr/>
        </p:nvSpPr>
        <p:spPr bwMode="auto">
          <a:xfrm>
            <a:off x="7620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19831" name="Line 23"/>
          <p:cNvSpPr>
            <a:spLocks noChangeShapeType="1"/>
          </p:cNvSpPr>
          <p:nvPr/>
        </p:nvSpPr>
        <p:spPr bwMode="auto">
          <a:xfrm flipV="1">
            <a:off x="1600200" y="2854325"/>
            <a:ext cx="533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32" name="Line 24"/>
          <p:cNvSpPr>
            <a:spLocks noChangeShapeType="1"/>
          </p:cNvSpPr>
          <p:nvPr/>
        </p:nvSpPr>
        <p:spPr bwMode="auto">
          <a:xfrm>
            <a:off x="1600200" y="3921125"/>
            <a:ext cx="609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33" name="Line 25"/>
          <p:cNvSpPr>
            <a:spLocks noChangeShapeType="1"/>
          </p:cNvSpPr>
          <p:nvPr/>
        </p:nvSpPr>
        <p:spPr bwMode="auto">
          <a:xfrm>
            <a:off x="16002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34" name="Line 26"/>
          <p:cNvSpPr>
            <a:spLocks noChangeShapeType="1"/>
          </p:cNvSpPr>
          <p:nvPr/>
        </p:nvSpPr>
        <p:spPr bwMode="auto">
          <a:xfrm>
            <a:off x="5715000" y="2701925"/>
            <a:ext cx="1752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35" name="Line 27"/>
          <p:cNvSpPr>
            <a:spLocks noChangeShapeType="1"/>
          </p:cNvSpPr>
          <p:nvPr/>
        </p:nvSpPr>
        <p:spPr bwMode="auto">
          <a:xfrm flipV="1">
            <a:off x="7010400" y="3235325"/>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36" name="Line 28"/>
          <p:cNvSpPr>
            <a:spLocks noChangeShapeType="1"/>
          </p:cNvSpPr>
          <p:nvPr/>
        </p:nvSpPr>
        <p:spPr bwMode="auto">
          <a:xfrm flipV="1">
            <a:off x="7010400" y="3387725"/>
            <a:ext cx="60960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837" name="Text Box 29"/>
          <p:cNvSpPr txBox="1">
            <a:spLocks noChangeArrowheads="1"/>
          </p:cNvSpPr>
          <p:nvPr/>
        </p:nvSpPr>
        <p:spPr bwMode="auto">
          <a:xfrm>
            <a:off x="5519175" y="5410200"/>
            <a:ext cx="34724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dirty="0">
                <a:latin typeface="Times New Roman" panose="02020603050405020304" pitchFamily="18" charset="0"/>
                <a:ea typeface="宋体" panose="02010600030101010101" pitchFamily="2" charset="-122"/>
              </a:rPr>
              <a:t>(Conjunctive arcs/</a:t>
            </a:r>
            <a:r>
              <a:rPr lang="zh-CN" altLang="en-US" sz="2400" b="0" dirty="0">
                <a:latin typeface="Times New Roman" panose="02020603050405020304" pitchFamily="18" charset="0"/>
                <a:ea typeface="宋体" panose="02010600030101010101" pitchFamily="2" charset="-122"/>
              </a:rPr>
              <a:t>合取弧</a:t>
            </a:r>
            <a:r>
              <a:rPr lang="en-US" altLang="zh-CN" sz="2400" b="0" dirty="0">
                <a:latin typeface="Times New Roman" panose="02020603050405020304" pitchFamily="18" charset="0"/>
                <a:ea typeface="宋体" panose="02010600030101010101" pitchFamily="2" charset="-122"/>
              </a:rPr>
              <a:t>)</a:t>
            </a:r>
          </a:p>
        </p:txBody>
      </p:sp>
      <p:sp>
        <p:nvSpPr>
          <p:cNvPr id="119838"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609600" y="228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200">
                <a:solidFill>
                  <a:schemeClr val="bg1"/>
                </a:solidFill>
                <a:latin typeface="Tahoma" panose="020B0604030504040204" pitchFamily="34" charset="0"/>
                <a:ea typeface="宋体" panose="02010600030101010101" pitchFamily="2" charset="-122"/>
              </a:rPr>
              <a:t>Graph Representation</a:t>
            </a:r>
          </a:p>
        </p:txBody>
      </p:sp>
      <p:sp>
        <p:nvSpPr>
          <p:cNvPr id="120835" name="Text Box 3"/>
          <p:cNvSpPr txBox="1">
            <a:spLocks noChangeArrowheads="1"/>
          </p:cNvSpPr>
          <p:nvPr/>
        </p:nvSpPr>
        <p:spPr bwMode="auto">
          <a:xfrm>
            <a:off x="974725" y="1600200"/>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constraints must also be satisfied ...</a:t>
            </a:r>
          </a:p>
        </p:txBody>
      </p:sp>
      <p:sp>
        <p:nvSpPr>
          <p:cNvPr id="120836" name="Text Box 4"/>
          <p:cNvSpPr txBox="1">
            <a:spLocks noChangeArrowheads="1"/>
          </p:cNvSpPr>
          <p:nvPr/>
        </p:nvSpPr>
        <p:spPr bwMode="auto">
          <a:xfrm>
            <a:off x="5562600" y="5562600"/>
            <a:ext cx="34307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dirty="0">
                <a:latin typeface="Times New Roman" panose="02020603050405020304" pitchFamily="18" charset="0"/>
                <a:ea typeface="宋体" panose="02010600030101010101" pitchFamily="2" charset="-122"/>
              </a:rPr>
              <a:t>(Disjunctive arcs/</a:t>
            </a:r>
            <a:r>
              <a:rPr lang="zh-CN" altLang="en-US" sz="2400" b="0" dirty="0">
                <a:latin typeface="Times New Roman" panose="02020603050405020304" pitchFamily="18" charset="0"/>
                <a:ea typeface="宋体" panose="02010600030101010101" pitchFamily="2" charset="-122"/>
              </a:rPr>
              <a:t>析取弧</a:t>
            </a:r>
            <a:r>
              <a:rPr lang="en-US" altLang="zh-CN" sz="2400" b="0" dirty="0">
                <a:latin typeface="Times New Roman" panose="02020603050405020304" pitchFamily="18" charset="0"/>
                <a:ea typeface="宋体" panose="02010600030101010101" pitchFamily="2" charset="-122"/>
              </a:rPr>
              <a:t>)</a:t>
            </a:r>
          </a:p>
        </p:txBody>
      </p:sp>
      <p:grpSp>
        <p:nvGrpSpPr>
          <p:cNvPr id="120837" name="Group 5"/>
          <p:cNvGrpSpPr>
            <a:grpSpLocks/>
          </p:cNvGrpSpPr>
          <p:nvPr/>
        </p:nvGrpSpPr>
        <p:grpSpPr bwMode="auto">
          <a:xfrm>
            <a:off x="762000" y="2473325"/>
            <a:ext cx="7543800" cy="2895600"/>
            <a:chOff x="480" y="1728"/>
            <a:chExt cx="4752" cy="1824"/>
          </a:xfrm>
        </p:grpSpPr>
        <p:sp>
          <p:nvSpPr>
            <p:cNvPr id="120839" name="Oval 6"/>
            <p:cNvSpPr>
              <a:spLocks noChangeArrowheads="1"/>
            </p:cNvSpPr>
            <p:nvPr/>
          </p:nvSpPr>
          <p:spPr bwMode="auto">
            <a:xfrm>
              <a:off x="1344" y="172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20840" name="Oval 7"/>
            <p:cNvSpPr>
              <a:spLocks noChangeArrowheads="1"/>
            </p:cNvSpPr>
            <p:nvPr/>
          </p:nvSpPr>
          <p:spPr bwMode="auto">
            <a:xfrm>
              <a:off x="2208" y="172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20841" name="Oval 8"/>
            <p:cNvSpPr>
              <a:spLocks noChangeArrowheads="1"/>
            </p:cNvSpPr>
            <p:nvPr/>
          </p:nvSpPr>
          <p:spPr bwMode="auto">
            <a:xfrm>
              <a:off x="3072" y="172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20842" name="Oval 9"/>
            <p:cNvSpPr>
              <a:spLocks noChangeArrowheads="1"/>
            </p:cNvSpPr>
            <p:nvPr/>
          </p:nvSpPr>
          <p:spPr bwMode="auto">
            <a:xfrm>
              <a:off x="1344"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20843" name="Oval 10"/>
            <p:cNvSpPr>
              <a:spLocks noChangeArrowheads="1"/>
            </p:cNvSpPr>
            <p:nvPr/>
          </p:nvSpPr>
          <p:spPr bwMode="auto">
            <a:xfrm>
              <a:off x="2208"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20844" name="Oval 11"/>
            <p:cNvSpPr>
              <a:spLocks noChangeArrowheads="1"/>
            </p:cNvSpPr>
            <p:nvPr/>
          </p:nvSpPr>
          <p:spPr bwMode="auto">
            <a:xfrm>
              <a:off x="3888"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120845" name="Oval 12"/>
            <p:cNvSpPr>
              <a:spLocks noChangeArrowheads="1"/>
            </p:cNvSpPr>
            <p:nvPr/>
          </p:nvSpPr>
          <p:spPr bwMode="auto">
            <a:xfrm>
              <a:off x="1344"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20846" name="Oval 13"/>
            <p:cNvSpPr>
              <a:spLocks noChangeArrowheads="1"/>
            </p:cNvSpPr>
            <p:nvPr/>
          </p:nvSpPr>
          <p:spPr bwMode="auto">
            <a:xfrm>
              <a:off x="2208"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20847" name="Oval 14"/>
            <p:cNvSpPr>
              <a:spLocks noChangeArrowheads="1"/>
            </p:cNvSpPr>
            <p:nvPr/>
          </p:nvSpPr>
          <p:spPr bwMode="auto">
            <a:xfrm>
              <a:off x="3072"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120848" name="Oval 15"/>
            <p:cNvSpPr>
              <a:spLocks noChangeArrowheads="1"/>
            </p:cNvSpPr>
            <p:nvPr/>
          </p:nvSpPr>
          <p:spPr bwMode="auto">
            <a:xfrm>
              <a:off x="3888" y="3072"/>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20849" name="Line 16"/>
            <p:cNvSpPr>
              <a:spLocks noChangeShapeType="1"/>
            </p:cNvSpPr>
            <p:nvPr/>
          </p:nvSpPr>
          <p:spPr bwMode="auto">
            <a:xfrm>
              <a:off x="1872" y="1968"/>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0" name="Line 17"/>
            <p:cNvSpPr>
              <a:spLocks noChangeShapeType="1"/>
            </p:cNvSpPr>
            <p:nvPr/>
          </p:nvSpPr>
          <p:spPr bwMode="auto">
            <a:xfrm>
              <a:off x="2736" y="1968"/>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1" name="Line 18"/>
            <p:cNvSpPr>
              <a:spLocks noChangeShapeType="1"/>
            </p:cNvSpPr>
            <p:nvPr/>
          </p:nvSpPr>
          <p:spPr bwMode="auto">
            <a:xfrm>
              <a:off x="1872" y="2640"/>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2" name="Line 19"/>
            <p:cNvSpPr>
              <a:spLocks noChangeShapeType="1"/>
            </p:cNvSpPr>
            <p:nvPr/>
          </p:nvSpPr>
          <p:spPr bwMode="auto">
            <a:xfrm>
              <a:off x="2736" y="2640"/>
              <a:ext cx="115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3" name="Line 20"/>
            <p:cNvSpPr>
              <a:spLocks noChangeShapeType="1"/>
            </p:cNvSpPr>
            <p:nvPr/>
          </p:nvSpPr>
          <p:spPr bwMode="auto">
            <a:xfrm>
              <a:off x="1872" y="3312"/>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4" name="Line 21"/>
            <p:cNvSpPr>
              <a:spLocks noChangeShapeType="1"/>
            </p:cNvSpPr>
            <p:nvPr/>
          </p:nvSpPr>
          <p:spPr bwMode="auto">
            <a:xfrm>
              <a:off x="2736" y="3312"/>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5" name="Line 22"/>
            <p:cNvSpPr>
              <a:spLocks noChangeShapeType="1"/>
            </p:cNvSpPr>
            <p:nvPr/>
          </p:nvSpPr>
          <p:spPr bwMode="auto">
            <a:xfrm>
              <a:off x="3600" y="3312"/>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6" name="Oval 23"/>
            <p:cNvSpPr>
              <a:spLocks noChangeArrowheads="1"/>
            </p:cNvSpPr>
            <p:nvPr/>
          </p:nvSpPr>
          <p:spPr bwMode="auto">
            <a:xfrm>
              <a:off x="4704" y="1968"/>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20857" name="Oval 24"/>
            <p:cNvSpPr>
              <a:spLocks noChangeArrowheads="1"/>
            </p:cNvSpPr>
            <p:nvPr/>
          </p:nvSpPr>
          <p:spPr bwMode="auto">
            <a:xfrm>
              <a:off x="480" y="2400"/>
              <a:ext cx="528" cy="48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20858" name="Line 25"/>
            <p:cNvSpPr>
              <a:spLocks noChangeShapeType="1"/>
            </p:cNvSpPr>
            <p:nvPr/>
          </p:nvSpPr>
          <p:spPr bwMode="auto">
            <a:xfrm flipV="1">
              <a:off x="1008" y="2064"/>
              <a:ext cx="336" cy="48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59" name="Line 26"/>
            <p:cNvSpPr>
              <a:spLocks noChangeShapeType="1"/>
            </p:cNvSpPr>
            <p:nvPr/>
          </p:nvSpPr>
          <p:spPr bwMode="auto">
            <a:xfrm>
              <a:off x="1008" y="2736"/>
              <a:ext cx="384"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0" name="Line 27"/>
            <p:cNvSpPr>
              <a:spLocks noChangeShapeType="1"/>
            </p:cNvSpPr>
            <p:nvPr/>
          </p:nvSpPr>
          <p:spPr bwMode="auto">
            <a:xfrm>
              <a:off x="1008" y="2640"/>
              <a:ext cx="3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1" name="Line 28"/>
            <p:cNvSpPr>
              <a:spLocks noChangeShapeType="1"/>
            </p:cNvSpPr>
            <p:nvPr/>
          </p:nvSpPr>
          <p:spPr bwMode="auto">
            <a:xfrm>
              <a:off x="3600" y="1968"/>
              <a:ext cx="1104"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2" name="Line 29"/>
            <p:cNvSpPr>
              <a:spLocks noChangeShapeType="1"/>
            </p:cNvSpPr>
            <p:nvPr/>
          </p:nvSpPr>
          <p:spPr bwMode="auto">
            <a:xfrm flipV="1">
              <a:off x="4416" y="2304"/>
              <a:ext cx="288"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3" name="Line 30"/>
            <p:cNvSpPr>
              <a:spLocks noChangeShapeType="1"/>
            </p:cNvSpPr>
            <p:nvPr/>
          </p:nvSpPr>
          <p:spPr bwMode="auto">
            <a:xfrm flipV="1">
              <a:off x="4416" y="2400"/>
              <a:ext cx="384"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4" name="Line 31"/>
            <p:cNvSpPr>
              <a:spLocks noChangeShapeType="1"/>
            </p:cNvSpPr>
            <p:nvPr/>
          </p:nvSpPr>
          <p:spPr bwMode="auto">
            <a:xfrm>
              <a:off x="1536" y="2208"/>
              <a:ext cx="0" cy="19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5" name="Line 32"/>
            <p:cNvSpPr>
              <a:spLocks noChangeShapeType="1"/>
            </p:cNvSpPr>
            <p:nvPr/>
          </p:nvSpPr>
          <p:spPr bwMode="auto">
            <a:xfrm flipV="1">
              <a:off x="1680" y="2208"/>
              <a:ext cx="0" cy="19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6" name="Line 33"/>
            <p:cNvSpPr>
              <a:spLocks noChangeShapeType="1"/>
            </p:cNvSpPr>
            <p:nvPr/>
          </p:nvSpPr>
          <p:spPr bwMode="auto">
            <a:xfrm>
              <a:off x="2400" y="2208"/>
              <a:ext cx="0" cy="19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7" name="Line 34"/>
            <p:cNvSpPr>
              <a:spLocks noChangeShapeType="1"/>
            </p:cNvSpPr>
            <p:nvPr/>
          </p:nvSpPr>
          <p:spPr bwMode="auto">
            <a:xfrm flipV="1">
              <a:off x="2544" y="2208"/>
              <a:ext cx="0" cy="19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8" name="Line 35"/>
            <p:cNvSpPr>
              <a:spLocks noChangeShapeType="1"/>
            </p:cNvSpPr>
            <p:nvPr/>
          </p:nvSpPr>
          <p:spPr bwMode="auto">
            <a:xfrm>
              <a:off x="1728" y="2880"/>
              <a:ext cx="528"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69" name="Line 36"/>
            <p:cNvSpPr>
              <a:spLocks noChangeShapeType="1"/>
            </p:cNvSpPr>
            <p:nvPr/>
          </p:nvSpPr>
          <p:spPr bwMode="auto">
            <a:xfrm flipH="1" flipV="1">
              <a:off x="1776" y="2832"/>
              <a:ext cx="480" cy="28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0" name="Line 37"/>
            <p:cNvSpPr>
              <a:spLocks noChangeShapeType="1"/>
            </p:cNvSpPr>
            <p:nvPr/>
          </p:nvSpPr>
          <p:spPr bwMode="auto">
            <a:xfrm flipV="1">
              <a:off x="1824" y="2832"/>
              <a:ext cx="480"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1" name="Line 38"/>
            <p:cNvSpPr>
              <a:spLocks noChangeShapeType="1"/>
            </p:cNvSpPr>
            <p:nvPr/>
          </p:nvSpPr>
          <p:spPr bwMode="auto">
            <a:xfrm flipH="1">
              <a:off x="1872" y="2880"/>
              <a:ext cx="480"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2" name="Line 39"/>
            <p:cNvSpPr>
              <a:spLocks noChangeShapeType="1"/>
            </p:cNvSpPr>
            <p:nvPr/>
          </p:nvSpPr>
          <p:spPr bwMode="auto">
            <a:xfrm flipV="1">
              <a:off x="3456" y="2736"/>
              <a:ext cx="432"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3" name="Line 40"/>
            <p:cNvSpPr>
              <a:spLocks noChangeShapeType="1"/>
            </p:cNvSpPr>
            <p:nvPr/>
          </p:nvSpPr>
          <p:spPr bwMode="auto">
            <a:xfrm flipH="1">
              <a:off x="3504" y="2784"/>
              <a:ext cx="432" cy="33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4" name="Line 41"/>
            <p:cNvSpPr>
              <a:spLocks noChangeShapeType="1"/>
            </p:cNvSpPr>
            <p:nvPr/>
          </p:nvSpPr>
          <p:spPr bwMode="auto">
            <a:xfrm flipH="1" flipV="1">
              <a:off x="3504" y="2160"/>
              <a:ext cx="432" cy="96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5" name="Line 42"/>
            <p:cNvSpPr>
              <a:spLocks noChangeShapeType="1"/>
            </p:cNvSpPr>
            <p:nvPr/>
          </p:nvSpPr>
          <p:spPr bwMode="auto">
            <a:xfrm>
              <a:off x="3408" y="2208"/>
              <a:ext cx="480" cy="1056"/>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6" name="Line 43"/>
            <p:cNvSpPr>
              <a:spLocks noChangeShapeType="1"/>
            </p:cNvSpPr>
            <p:nvPr/>
          </p:nvSpPr>
          <p:spPr bwMode="auto">
            <a:xfrm flipH="1" flipV="1">
              <a:off x="1824" y="2112"/>
              <a:ext cx="576" cy="96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7" name="Line 44"/>
            <p:cNvSpPr>
              <a:spLocks noChangeShapeType="1"/>
            </p:cNvSpPr>
            <p:nvPr/>
          </p:nvSpPr>
          <p:spPr bwMode="auto">
            <a:xfrm>
              <a:off x="1776" y="2160"/>
              <a:ext cx="576" cy="91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8" name="Line 45"/>
            <p:cNvSpPr>
              <a:spLocks noChangeShapeType="1"/>
            </p:cNvSpPr>
            <p:nvPr/>
          </p:nvSpPr>
          <p:spPr bwMode="auto">
            <a:xfrm flipV="1">
              <a:off x="1680" y="2160"/>
              <a:ext cx="624" cy="91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879" name="Line 46"/>
            <p:cNvSpPr>
              <a:spLocks noChangeShapeType="1"/>
            </p:cNvSpPr>
            <p:nvPr/>
          </p:nvSpPr>
          <p:spPr bwMode="auto">
            <a:xfrm flipH="1">
              <a:off x="1728" y="2208"/>
              <a:ext cx="624" cy="91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838"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457200" y="0"/>
            <a:ext cx="7772400" cy="685800"/>
          </a:xfrm>
        </p:spPr>
        <p:txBody>
          <a:bodyPr/>
          <a:lstStyle/>
          <a:p>
            <a:pPr eaLnBrk="1" hangingPunct="1">
              <a:defRPr/>
            </a:pPr>
            <a:r>
              <a:rPr kumimoji="0" lang="en-US" altLang="zh-CN" b="1" dirty="0">
                <a:latin typeface="Verdana" charset="0"/>
                <a:cs typeface="宋体" charset="0"/>
              </a:rPr>
              <a:t>Solving the Problem</a:t>
            </a:r>
          </a:p>
        </p:txBody>
      </p:sp>
      <p:sp>
        <p:nvSpPr>
          <p:cNvPr id="121859" name="Rectangle 3"/>
          <p:cNvSpPr>
            <a:spLocks noGrp="1" noChangeArrowheads="1"/>
          </p:cNvSpPr>
          <p:nvPr>
            <p:ph type="body" idx="1"/>
          </p:nvPr>
        </p:nvSpPr>
        <p:spPr>
          <a:xfrm>
            <a:off x="685800" y="1371600"/>
            <a:ext cx="7772400" cy="4800600"/>
          </a:xfrm>
        </p:spPr>
        <p:txBody>
          <a:bodyPr/>
          <a:lstStyle/>
          <a:p>
            <a:pPr marL="0" indent="0" eaLnBrk="1" hangingPunct="1"/>
            <a:r>
              <a:rPr lang="en-US" altLang="zh-CN">
                <a:latin typeface="Verdana" panose="020B0604030504040204" pitchFamily="34" charset="0"/>
                <a:ea typeface="宋体" panose="02010600030101010101" pitchFamily="2" charset="-122"/>
              </a:rPr>
              <a:t>Select one of each pair of disjunctive arcs</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endParaRPr lang="en-US" altLang="zh-CN" sz="2400">
              <a:latin typeface="Verdana" panose="020B0604030504040204" pitchFamily="34" charset="0"/>
              <a:ea typeface="宋体" panose="02010600030101010101" pitchFamily="2" charset="-122"/>
            </a:endParaRPr>
          </a:p>
          <a:p>
            <a:pPr marL="0" indent="0" eaLnBrk="1" hangingPunct="1"/>
            <a:r>
              <a:rPr lang="en-US" altLang="zh-CN">
                <a:latin typeface="Verdana" panose="020B0604030504040204" pitchFamily="34" charset="0"/>
                <a:ea typeface="宋体" panose="02010600030101010101" pitchFamily="2" charset="-122"/>
              </a:rPr>
              <a:t>The longest path in this graph </a:t>
            </a:r>
            <a:r>
              <a:rPr lang="en-US" altLang="zh-CN" i="1">
                <a:latin typeface="Verdana" panose="020B0604030504040204" pitchFamily="34" charset="0"/>
                <a:ea typeface="宋体" panose="02010600030101010101" pitchFamily="2" charset="-122"/>
              </a:rPr>
              <a:t>G(D)</a:t>
            </a:r>
            <a:r>
              <a:rPr lang="en-US" altLang="zh-CN">
                <a:latin typeface="Verdana" panose="020B0604030504040204" pitchFamily="34" charset="0"/>
                <a:ea typeface="宋体" panose="02010600030101010101" pitchFamily="2" charset="-122"/>
              </a:rPr>
              <a:t> determines the makespan</a:t>
            </a:r>
            <a:endParaRPr lang="en-US" altLang="zh-CN" sz="2400">
              <a:latin typeface="Verdana" panose="020B0604030504040204" pitchFamily="34" charset="0"/>
              <a:ea typeface="宋体" panose="02010600030101010101" pitchFamily="2" charset="-122"/>
            </a:endParaRPr>
          </a:p>
        </p:txBody>
      </p:sp>
      <p:sp>
        <p:nvSpPr>
          <p:cNvPr id="121860" name="Oval 4"/>
          <p:cNvSpPr>
            <a:spLocks noChangeArrowheads="1"/>
          </p:cNvSpPr>
          <p:nvPr/>
        </p:nvSpPr>
        <p:spPr bwMode="auto">
          <a:xfrm>
            <a:off x="2362200" y="1905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21861" name="Oval 5"/>
          <p:cNvSpPr>
            <a:spLocks noChangeArrowheads="1"/>
          </p:cNvSpPr>
          <p:nvPr/>
        </p:nvSpPr>
        <p:spPr bwMode="auto">
          <a:xfrm>
            <a:off x="3733800" y="1905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21862" name="Oval 6"/>
          <p:cNvSpPr>
            <a:spLocks noChangeArrowheads="1"/>
          </p:cNvSpPr>
          <p:nvPr/>
        </p:nvSpPr>
        <p:spPr bwMode="auto">
          <a:xfrm>
            <a:off x="5105400" y="1905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21863" name="Oval 7"/>
          <p:cNvSpPr>
            <a:spLocks noChangeArrowheads="1"/>
          </p:cNvSpPr>
          <p:nvPr/>
        </p:nvSpPr>
        <p:spPr bwMode="auto">
          <a:xfrm>
            <a:off x="2362200" y="2971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21864" name="Oval 8"/>
          <p:cNvSpPr>
            <a:spLocks noChangeArrowheads="1"/>
          </p:cNvSpPr>
          <p:nvPr/>
        </p:nvSpPr>
        <p:spPr bwMode="auto">
          <a:xfrm>
            <a:off x="3733800" y="2971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21865" name="Oval 9"/>
          <p:cNvSpPr>
            <a:spLocks noChangeArrowheads="1"/>
          </p:cNvSpPr>
          <p:nvPr/>
        </p:nvSpPr>
        <p:spPr bwMode="auto">
          <a:xfrm>
            <a:off x="6400800" y="2971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121866" name="Oval 10"/>
          <p:cNvSpPr>
            <a:spLocks noChangeArrowheads="1"/>
          </p:cNvSpPr>
          <p:nvPr/>
        </p:nvSpPr>
        <p:spPr bwMode="auto">
          <a:xfrm>
            <a:off x="2362200" y="4038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21867" name="Oval 11"/>
          <p:cNvSpPr>
            <a:spLocks noChangeArrowheads="1"/>
          </p:cNvSpPr>
          <p:nvPr/>
        </p:nvSpPr>
        <p:spPr bwMode="auto">
          <a:xfrm>
            <a:off x="3733800" y="4038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21868" name="Oval 12"/>
          <p:cNvSpPr>
            <a:spLocks noChangeArrowheads="1"/>
          </p:cNvSpPr>
          <p:nvPr/>
        </p:nvSpPr>
        <p:spPr bwMode="auto">
          <a:xfrm>
            <a:off x="5105400" y="4038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121869" name="Oval 13"/>
          <p:cNvSpPr>
            <a:spLocks noChangeArrowheads="1"/>
          </p:cNvSpPr>
          <p:nvPr/>
        </p:nvSpPr>
        <p:spPr bwMode="auto">
          <a:xfrm>
            <a:off x="6400800" y="4038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21870" name="Line 14"/>
          <p:cNvSpPr>
            <a:spLocks noChangeShapeType="1"/>
          </p:cNvSpPr>
          <p:nvPr/>
        </p:nvSpPr>
        <p:spPr bwMode="auto">
          <a:xfrm>
            <a:off x="3200400" y="2286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1" name="Line 15"/>
          <p:cNvSpPr>
            <a:spLocks noChangeShapeType="1"/>
          </p:cNvSpPr>
          <p:nvPr/>
        </p:nvSpPr>
        <p:spPr bwMode="auto">
          <a:xfrm>
            <a:off x="4572000" y="2286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2" name="Line 16"/>
          <p:cNvSpPr>
            <a:spLocks noChangeShapeType="1"/>
          </p:cNvSpPr>
          <p:nvPr/>
        </p:nvSpPr>
        <p:spPr bwMode="auto">
          <a:xfrm>
            <a:off x="3200400" y="33528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3" name="Line 17"/>
          <p:cNvSpPr>
            <a:spLocks noChangeShapeType="1"/>
          </p:cNvSpPr>
          <p:nvPr/>
        </p:nvSpPr>
        <p:spPr bwMode="auto">
          <a:xfrm>
            <a:off x="4572000" y="3352800"/>
            <a:ext cx="1828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4" name="Line 18"/>
          <p:cNvSpPr>
            <a:spLocks noChangeShapeType="1"/>
          </p:cNvSpPr>
          <p:nvPr/>
        </p:nvSpPr>
        <p:spPr bwMode="auto">
          <a:xfrm>
            <a:off x="3200400" y="44196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5" name="Line 19"/>
          <p:cNvSpPr>
            <a:spLocks noChangeShapeType="1"/>
          </p:cNvSpPr>
          <p:nvPr/>
        </p:nvSpPr>
        <p:spPr bwMode="auto">
          <a:xfrm>
            <a:off x="4572000" y="44196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6" name="Line 20"/>
          <p:cNvSpPr>
            <a:spLocks noChangeShapeType="1"/>
          </p:cNvSpPr>
          <p:nvPr/>
        </p:nvSpPr>
        <p:spPr bwMode="auto">
          <a:xfrm>
            <a:off x="5943600" y="4419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77" name="Oval 21"/>
          <p:cNvSpPr>
            <a:spLocks noChangeArrowheads="1"/>
          </p:cNvSpPr>
          <p:nvPr/>
        </p:nvSpPr>
        <p:spPr bwMode="auto">
          <a:xfrm>
            <a:off x="7696200" y="2286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21878" name="Oval 22"/>
          <p:cNvSpPr>
            <a:spLocks noChangeArrowheads="1"/>
          </p:cNvSpPr>
          <p:nvPr/>
        </p:nvSpPr>
        <p:spPr bwMode="auto">
          <a:xfrm>
            <a:off x="990600" y="2971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21879" name="Line 23"/>
          <p:cNvSpPr>
            <a:spLocks noChangeShapeType="1"/>
          </p:cNvSpPr>
          <p:nvPr/>
        </p:nvSpPr>
        <p:spPr bwMode="auto">
          <a:xfrm flipV="1">
            <a:off x="1828800" y="2438400"/>
            <a:ext cx="533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0" name="Line 24"/>
          <p:cNvSpPr>
            <a:spLocks noChangeShapeType="1"/>
          </p:cNvSpPr>
          <p:nvPr/>
        </p:nvSpPr>
        <p:spPr bwMode="auto">
          <a:xfrm>
            <a:off x="1828800" y="3505200"/>
            <a:ext cx="609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1" name="Line 25"/>
          <p:cNvSpPr>
            <a:spLocks noChangeShapeType="1"/>
          </p:cNvSpPr>
          <p:nvPr/>
        </p:nvSpPr>
        <p:spPr bwMode="auto">
          <a:xfrm>
            <a:off x="1828800" y="33528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2" name="Line 26"/>
          <p:cNvSpPr>
            <a:spLocks noChangeShapeType="1"/>
          </p:cNvSpPr>
          <p:nvPr/>
        </p:nvSpPr>
        <p:spPr bwMode="auto">
          <a:xfrm>
            <a:off x="5943600" y="2286000"/>
            <a:ext cx="1752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3" name="Line 27"/>
          <p:cNvSpPr>
            <a:spLocks noChangeShapeType="1"/>
          </p:cNvSpPr>
          <p:nvPr/>
        </p:nvSpPr>
        <p:spPr bwMode="auto">
          <a:xfrm flipV="1">
            <a:off x="7239000" y="2819400"/>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4" name="Line 28"/>
          <p:cNvSpPr>
            <a:spLocks noChangeShapeType="1"/>
          </p:cNvSpPr>
          <p:nvPr/>
        </p:nvSpPr>
        <p:spPr bwMode="auto">
          <a:xfrm flipV="1">
            <a:off x="7239000" y="2971800"/>
            <a:ext cx="60960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5" name="Line 29"/>
          <p:cNvSpPr>
            <a:spLocks noChangeShapeType="1"/>
          </p:cNvSpPr>
          <p:nvPr/>
        </p:nvSpPr>
        <p:spPr bwMode="auto">
          <a:xfrm>
            <a:off x="2667000" y="2667000"/>
            <a:ext cx="0" cy="304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6" name="Line 30"/>
          <p:cNvSpPr>
            <a:spLocks noChangeShapeType="1"/>
          </p:cNvSpPr>
          <p:nvPr/>
        </p:nvSpPr>
        <p:spPr bwMode="auto">
          <a:xfrm>
            <a:off x="4038600" y="2667000"/>
            <a:ext cx="0" cy="304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7" name="Line 31"/>
          <p:cNvSpPr>
            <a:spLocks noChangeShapeType="1"/>
          </p:cNvSpPr>
          <p:nvPr/>
        </p:nvSpPr>
        <p:spPr bwMode="auto">
          <a:xfrm>
            <a:off x="2971800" y="3733800"/>
            <a:ext cx="838200" cy="533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8" name="Line 32"/>
          <p:cNvSpPr>
            <a:spLocks noChangeShapeType="1"/>
          </p:cNvSpPr>
          <p:nvPr/>
        </p:nvSpPr>
        <p:spPr bwMode="auto">
          <a:xfrm flipV="1">
            <a:off x="3124200" y="3657600"/>
            <a:ext cx="762000" cy="533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89" name="Line 33"/>
          <p:cNvSpPr>
            <a:spLocks noChangeShapeType="1"/>
          </p:cNvSpPr>
          <p:nvPr/>
        </p:nvSpPr>
        <p:spPr bwMode="auto">
          <a:xfrm flipV="1">
            <a:off x="5715000" y="3505200"/>
            <a:ext cx="685800" cy="533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90" name="Line 34"/>
          <p:cNvSpPr>
            <a:spLocks noChangeShapeType="1"/>
          </p:cNvSpPr>
          <p:nvPr/>
        </p:nvSpPr>
        <p:spPr bwMode="auto">
          <a:xfrm>
            <a:off x="5638800" y="2667000"/>
            <a:ext cx="762000" cy="1676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91" name="Line 35"/>
          <p:cNvSpPr>
            <a:spLocks noChangeShapeType="1"/>
          </p:cNvSpPr>
          <p:nvPr/>
        </p:nvSpPr>
        <p:spPr bwMode="auto">
          <a:xfrm>
            <a:off x="3048000" y="2590800"/>
            <a:ext cx="914400" cy="1447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92" name="Line 36"/>
          <p:cNvSpPr>
            <a:spLocks noChangeShapeType="1"/>
          </p:cNvSpPr>
          <p:nvPr/>
        </p:nvSpPr>
        <p:spPr bwMode="auto">
          <a:xfrm flipV="1">
            <a:off x="2895600" y="2590800"/>
            <a:ext cx="990600" cy="1447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89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457200" y="152400"/>
            <a:ext cx="7543800" cy="533400"/>
          </a:xfrm>
        </p:spPr>
        <p:txBody>
          <a:bodyPr>
            <a:normAutofit fontScale="90000"/>
          </a:bodyPr>
          <a:lstStyle/>
          <a:p>
            <a:pPr eaLnBrk="1" hangingPunct="1">
              <a:defRPr/>
            </a:pPr>
            <a:r>
              <a:rPr kumimoji="0" lang="en-US" altLang="zh-CN" b="1" dirty="0">
                <a:latin typeface="Verdana" charset="0"/>
                <a:cs typeface="宋体" charset="0"/>
              </a:rPr>
              <a:t>Feasibility of the Schedule</a:t>
            </a:r>
          </a:p>
        </p:txBody>
      </p:sp>
      <p:sp>
        <p:nvSpPr>
          <p:cNvPr id="122883" name="Rectangle 3"/>
          <p:cNvSpPr>
            <a:spLocks noGrp="1" noChangeArrowheads="1"/>
          </p:cNvSpPr>
          <p:nvPr>
            <p:ph type="body" idx="1"/>
          </p:nvPr>
        </p:nvSpPr>
        <p:spPr>
          <a:xfrm>
            <a:off x="762000" y="1600200"/>
            <a:ext cx="7772400" cy="685800"/>
          </a:xfrm>
        </p:spPr>
        <p:txBody>
          <a:bodyPr/>
          <a:lstStyle/>
          <a:p>
            <a:pPr marL="0" indent="0" eaLnBrk="1" hangingPunct="1"/>
            <a:r>
              <a:rPr lang="en-US" altLang="zh-CN">
                <a:latin typeface="Verdana" panose="020B0604030504040204" pitchFamily="34" charset="0"/>
                <a:ea typeface="宋体" panose="02010600030101010101" pitchFamily="2" charset="-122"/>
              </a:rPr>
              <a:t>Are all selections feasible?</a:t>
            </a:r>
          </a:p>
        </p:txBody>
      </p:sp>
      <p:sp>
        <p:nvSpPr>
          <p:cNvPr id="122884" name="Oval 4"/>
          <p:cNvSpPr>
            <a:spLocks noChangeArrowheads="1"/>
          </p:cNvSpPr>
          <p:nvPr/>
        </p:nvSpPr>
        <p:spPr bwMode="auto">
          <a:xfrm>
            <a:off x="2286000" y="2362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22885" name="Oval 5"/>
          <p:cNvSpPr>
            <a:spLocks noChangeArrowheads="1"/>
          </p:cNvSpPr>
          <p:nvPr/>
        </p:nvSpPr>
        <p:spPr bwMode="auto">
          <a:xfrm>
            <a:off x="3657600" y="2362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22886" name="Oval 6"/>
          <p:cNvSpPr>
            <a:spLocks noChangeArrowheads="1"/>
          </p:cNvSpPr>
          <p:nvPr/>
        </p:nvSpPr>
        <p:spPr bwMode="auto">
          <a:xfrm>
            <a:off x="5029200" y="2362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22887" name="Oval 7"/>
          <p:cNvSpPr>
            <a:spLocks noChangeArrowheads="1"/>
          </p:cNvSpPr>
          <p:nvPr/>
        </p:nvSpPr>
        <p:spPr bwMode="auto">
          <a:xfrm>
            <a:off x="2286000" y="3429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22888" name="Oval 8"/>
          <p:cNvSpPr>
            <a:spLocks noChangeArrowheads="1"/>
          </p:cNvSpPr>
          <p:nvPr/>
        </p:nvSpPr>
        <p:spPr bwMode="auto">
          <a:xfrm>
            <a:off x="3657600" y="3429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22889" name="Oval 9"/>
          <p:cNvSpPr>
            <a:spLocks noChangeArrowheads="1"/>
          </p:cNvSpPr>
          <p:nvPr/>
        </p:nvSpPr>
        <p:spPr bwMode="auto">
          <a:xfrm>
            <a:off x="6324600" y="3429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122890" name="Oval 10"/>
          <p:cNvSpPr>
            <a:spLocks noChangeArrowheads="1"/>
          </p:cNvSpPr>
          <p:nvPr/>
        </p:nvSpPr>
        <p:spPr bwMode="auto">
          <a:xfrm>
            <a:off x="2286000" y="4495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22891" name="Oval 11"/>
          <p:cNvSpPr>
            <a:spLocks noChangeArrowheads="1"/>
          </p:cNvSpPr>
          <p:nvPr/>
        </p:nvSpPr>
        <p:spPr bwMode="auto">
          <a:xfrm>
            <a:off x="3657600" y="4495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22892" name="Oval 12"/>
          <p:cNvSpPr>
            <a:spLocks noChangeArrowheads="1"/>
          </p:cNvSpPr>
          <p:nvPr/>
        </p:nvSpPr>
        <p:spPr bwMode="auto">
          <a:xfrm>
            <a:off x="5029200" y="4495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122893" name="Oval 13"/>
          <p:cNvSpPr>
            <a:spLocks noChangeArrowheads="1"/>
          </p:cNvSpPr>
          <p:nvPr/>
        </p:nvSpPr>
        <p:spPr bwMode="auto">
          <a:xfrm>
            <a:off x="6324600" y="44958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22894" name="Line 14"/>
          <p:cNvSpPr>
            <a:spLocks noChangeShapeType="1"/>
          </p:cNvSpPr>
          <p:nvPr/>
        </p:nvSpPr>
        <p:spPr bwMode="auto">
          <a:xfrm>
            <a:off x="3124200" y="27432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895" name="Line 15"/>
          <p:cNvSpPr>
            <a:spLocks noChangeShapeType="1"/>
          </p:cNvSpPr>
          <p:nvPr/>
        </p:nvSpPr>
        <p:spPr bwMode="auto">
          <a:xfrm>
            <a:off x="4495800" y="27432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896" name="Line 16"/>
          <p:cNvSpPr>
            <a:spLocks noChangeShapeType="1"/>
          </p:cNvSpPr>
          <p:nvPr/>
        </p:nvSpPr>
        <p:spPr bwMode="auto">
          <a:xfrm>
            <a:off x="3124200" y="3810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897" name="Line 17"/>
          <p:cNvSpPr>
            <a:spLocks noChangeShapeType="1"/>
          </p:cNvSpPr>
          <p:nvPr/>
        </p:nvSpPr>
        <p:spPr bwMode="auto">
          <a:xfrm>
            <a:off x="4495800" y="3810000"/>
            <a:ext cx="1828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898" name="Line 18"/>
          <p:cNvSpPr>
            <a:spLocks noChangeShapeType="1"/>
          </p:cNvSpPr>
          <p:nvPr/>
        </p:nvSpPr>
        <p:spPr bwMode="auto">
          <a:xfrm>
            <a:off x="3124200" y="48768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899" name="Line 19"/>
          <p:cNvSpPr>
            <a:spLocks noChangeShapeType="1"/>
          </p:cNvSpPr>
          <p:nvPr/>
        </p:nvSpPr>
        <p:spPr bwMode="auto">
          <a:xfrm>
            <a:off x="4495800" y="48768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0" name="Line 20"/>
          <p:cNvSpPr>
            <a:spLocks noChangeShapeType="1"/>
          </p:cNvSpPr>
          <p:nvPr/>
        </p:nvSpPr>
        <p:spPr bwMode="auto">
          <a:xfrm>
            <a:off x="5867400" y="48768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1" name="Oval 21"/>
          <p:cNvSpPr>
            <a:spLocks noChangeArrowheads="1"/>
          </p:cNvSpPr>
          <p:nvPr/>
        </p:nvSpPr>
        <p:spPr bwMode="auto">
          <a:xfrm>
            <a:off x="7620000" y="2743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22902" name="Oval 22"/>
          <p:cNvSpPr>
            <a:spLocks noChangeArrowheads="1"/>
          </p:cNvSpPr>
          <p:nvPr/>
        </p:nvSpPr>
        <p:spPr bwMode="auto">
          <a:xfrm>
            <a:off x="914400" y="3429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22903" name="Line 23"/>
          <p:cNvSpPr>
            <a:spLocks noChangeShapeType="1"/>
          </p:cNvSpPr>
          <p:nvPr/>
        </p:nvSpPr>
        <p:spPr bwMode="auto">
          <a:xfrm flipV="1">
            <a:off x="1752600" y="2895600"/>
            <a:ext cx="533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4" name="Line 24"/>
          <p:cNvSpPr>
            <a:spLocks noChangeShapeType="1"/>
          </p:cNvSpPr>
          <p:nvPr/>
        </p:nvSpPr>
        <p:spPr bwMode="auto">
          <a:xfrm>
            <a:off x="1752600" y="3962400"/>
            <a:ext cx="6096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5" name="Line 25"/>
          <p:cNvSpPr>
            <a:spLocks noChangeShapeType="1"/>
          </p:cNvSpPr>
          <p:nvPr/>
        </p:nvSpPr>
        <p:spPr bwMode="auto">
          <a:xfrm>
            <a:off x="1752600" y="3810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6" name="Line 26"/>
          <p:cNvSpPr>
            <a:spLocks noChangeShapeType="1"/>
          </p:cNvSpPr>
          <p:nvPr/>
        </p:nvSpPr>
        <p:spPr bwMode="auto">
          <a:xfrm>
            <a:off x="5867400" y="2743200"/>
            <a:ext cx="1752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7" name="Line 27"/>
          <p:cNvSpPr>
            <a:spLocks noChangeShapeType="1"/>
          </p:cNvSpPr>
          <p:nvPr/>
        </p:nvSpPr>
        <p:spPr bwMode="auto">
          <a:xfrm flipV="1">
            <a:off x="7162800" y="3276600"/>
            <a:ext cx="457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8" name="Line 28"/>
          <p:cNvSpPr>
            <a:spLocks noChangeShapeType="1"/>
          </p:cNvSpPr>
          <p:nvPr/>
        </p:nvSpPr>
        <p:spPr bwMode="auto">
          <a:xfrm flipV="1">
            <a:off x="7162800" y="3429000"/>
            <a:ext cx="609600" cy="1447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09" name="Line 29"/>
          <p:cNvSpPr>
            <a:spLocks noChangeShapeType="1"/>
          </p:cNvSpPr>
          <p:nvPr/>
        </p:nvSpPr>
        <p:spPr bwMode="auto">
          <a:xfrm>
            <a:off x="2590800" y="3124200"/>
            <a:ext cx="0" cy="304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0" name="Line 30"/>
          <p:cNvSpPr>
            <a:spLocks noChangeShapeType="1"/>
          </p:cNvSpPr>
          <p:nvPr/>
        </p:nvSpPr>
        <p:spPr bwMode="auto">
          <a:xfrm flipV="1">
            <a:off x="4191000" y="3124200"/>
            <a:ext cx="0" cy="304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1" name="Line 31"/>
          <p:cNvSpPr>
            <a:spLocks noChangeShapeType="1"/>
          </p:cNvSpPr>
          <p:nvPr/>
        </p:nvSpPr>
        <p:spPr bwMode="auto">
          <a:xfrm flipH="1" flipV="1">
            <a:off x="2971800" y="4114800"/>
            <a:ext cx="762000" cy="4572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2" name="Line 32"/>
          <p:cNvSpPr>
            <a:spLocks noChangeShapeType="1"/>
          </p:cNvSpPr>
          <p:nvPr/>
        </p:nvSpPr>
        <p:spPr bwMode="auto">
          <a:xfrm flipH="1">
            <a:off x="3124200" y="4191000"/>
            <a:ext cx="762000" cy="533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3" name="Line 33"/>
          <p:cNvSpPr>
            <a:spLocks noChangeShapeType="1"/>
          </p:cNvSpPr>
          <p:nvPr/>
        </p:nvSpPr>
        <p:spPr bwMode="auto">
          <a:xfrm flipH="1">
            <a:off x="5715000" y="4038600"/>
            <a:ext cx="685800" cy="533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4" name="Line 34"/>
          <p:cNvSpPr>
            <a:spLocks noChangeShapeType="1"/>
          </p:cNvSpPr>
          <p:nvPr/>
        </p:nvSpPr>
        <p:spPr bwMode="auto">
          <a:xfrm>
            <a:off x="5562600" y="3124200"/>
            <a:ext cx="762000" cy="16764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5" name="Line 35"/>
          <p:cNvSpPr>
            <a:spLocks noChangeShapeType="1"/>
          </p:cNvSpPr>
          <p:nvPr/>
        </p:nvSpPr>
        <p:spPr bwMode="auto">
          <a:xfrm>
            <a:off x="2971800" y="3048000"/>
            <a:ext cx="914400" cy="1447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6" name="Line 36"/>
          <p:cNvSpPr>
            <a:spLocks noChangeShapeType="1"/>
          </p:cNvSpPr>
          <p:nvPr/>
        </p:nvSpPr>
        <p:spPr bwMode="auto">
          <a:xfrm flipH="1">
            <a:off x="2895600" y="3124200"/>
            <a:ext cx="990600" cy="1447800"/>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91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a:xfrm>
            <a:off x="685800" y="228600"/>
            <a:ext cx="7391400" cy="450850"/>
          </a:xfrm>
        </p:spPr>
        <p:txBody>
          <a:bodyPr>
            <a:normAutofit fontScale="90000"/>
          </a:bodyPr>
          <a:lstStyle/>
          <a:p>
            <a:pPr eaLnBrk="1" hangingPunct="1">
              <a:defRPr/>
            </a:pPr>
            <a:r>
              <a:rPr kumimoji="0" lang="en-US" altLang="zh-CN" b="1" dirty="0">
                <a:latin typeface="Verdana" charset="0"/>
                <a:cs typeface="宋体" charset="0"/>
              </a:rPr>
              <a:t>Disjunctive Programming</a:t>
            </a:r>
          </a:p>
        </p:txBody>
      </p:sp>
      <p:graphicFrame>
        <p:nvGraphicFramePr>
          <p:cNvPr id="123907" name="Object 3"/>
          <p:cNvGraphicFramePr>
            <a:graphicFrameLocks noChangeAspect="1"/>
          </p:cNvGraphicFramePr>
          <p:nvPr>
            <p:extLst>
              <p:ext uri="{D42A27DB-BD31-4B8C-83A1-F6EECF244321}">
                <p14:modId xmlns:p14="http://schemas.microsoft.com/office/powerpoint/2010/main" val="1348418020"/>
              </p:ext>
            </p:extLst>
          </p:nvPr>
        </p:nvGraphicFramePr>
        <p:xfrm>
          <a:off x="1354138" y="2854325"/>
          <a:ext cx="6283325" cy="3386138"/>
        </p:xfrm>
        <a:graphic>
          <a:graphicData uri="http://schemas.openxmlformats.org/presentationml/2006/ole">
            <mc:AlternateContent xmlns:mc="http://schemas.openxmlformats.org/markup-compatibility/2006">
              <mc:Choice xmlns:v="urn:schemas-microsoft-com:vml" Requires="v">
                <p:oleObj spid="_x0000_s123975" name="Equation" r:id="rId3" imgW="2286000" imgH="1231900" progId="Equation.3">
                  <p:embed/>
                </p:oleObj>
              </mc:Choice>
              <mc:Fallback>
                <p:oleObj name="Equation" r:id="rId3" imgW="2286000" imgH="12319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4138" y="2854325"/>
                        <a:ext cx="6283325" cy="338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3908" name="Text Box 4"/>
          <p:cNvSpPr txBox="1">
            <a:spLocks noChangeArrowheads="1"/>
          </p:cNvSpPr>
          <p:nvPr/>
        </p:nvSpPr>
        <p:spPr bwMode="auto">
          <a:xfrm>
            <a:off x="974725" y="1600200"/>
            <a:ext cx="14097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Minimize</a:t>
            </a:r>
          </a:p>
          <a:p>
            <a:pPr>
              <a:spcBef>
                <a:spcPct val="0"/>
              </a:spcBef>
              <a:spcAft>
                <a:spcPct val="0"/>
              </a:spcAft>
              <a:buFontTx/>
              <a:buNone/>
            </a:pPr>
            <a:endParaRPr lang="en-US" altLang="zh-CN" sz="2400" b="0">
              <a:latin typeface="Times New Roman" panose="02020603050405020304" pitchFamily="18" charset="0"/>
              <a:ea typeface="宋体" panose="02010600030101010101" pitchFamily="2" charset="-122"/>
            </a:endParaRPr>
          </a:p>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Subject to</a:t>
            </a:r>
          </a:p>
        </p:txBody>
      </p:sp>
      <p:graphicFrame>
        <p:nvGraphicFramePr>
          <p:cNvPr id="123909" name="Object 5"/>
          <p:cNvGraphicFramePr>
            <a:graphicFrameLocks noChangeAspect="1"/>
          </p:cNvGraphicFramePr>
          <p:nvPr/>
        </p:nvGraphicFramePr>
        <p:xfrm>
          <a:off x="3962400" y="1612900"/>
          <a:ext cx="838200" cy="631825"/>
        </p:xfrm>
        <a:graphic>
          <a:graphicData uri="http://schemas.openxmlformats.org/presentationml/2006/ole">
            <mc:AlternateContent xmlns:mc="http://schemas.openxmlformats.org/markup-compatibility/2006">
              <mc:Choice xmlns:v="urn:schemas-microsoft-com:vml" Requires="v">
                <p:oleObj spid="_x0000_s123976" name="公式" r:id="rId5" imgW="304668" imgH="228501" progId="Equation.3">
                  <p:embed/>
                </p:oleObj>
              </mc:Choice>
              <mc:Fallback>
                <p:oleObj name="公式" r:id="rId5" imgW="304668" imgH="228501"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400" y="1612900"/>
                        <a:ext cx="838200"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3910"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2" name="矩形标注 1"/>
          <p:cNvSpPr/>
          <p:nvPr/>
        </p:nvSpPr>
        <p:spPr>
          <a:xfrm>
            <a:off x="76200" y="3419288"/>
            <a:ext cx="1447800" cy="924112"/>
          </a:xfrm>
          <a:prstGeom prst="wedgeRectCallout">
            <a:avLst>
              <a:gd name="adj1" fmla="val 72167"/>
              <a:gd name="adj2" fmla="val -78918"/>
            </a:avLst>
          </a:prstGeom>
          <a:solidFill>
            <a:schemeClr val="accent6">
              <a:lumMod val="20000"/>
              <a:lumOff val="80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rPr>
              <a:t>工件</a:t>
            </a:r>
            <a:r>
              <a:rPr lang="en-US" altLang="zh-CN" i="1" dirty="0">
                <a:solidFill>
                  <a:srgbClr val="0000FF"/>
                </a:solidFill>
              </a:rPr>
              <a:t>j</a:t>
            </a:r>
            <a:r>
              <a:rPr lang="zh-CN" altLang="en-US" dirty="0">
                <a:solidFill>
                  <a:srgbClr val="0000FF"/>
                </a:solidFill>
              </a:rPr>
              <a:t>在机器</a:t>
            </a:r>
            <a:r>
              <a:rPr lang="en-US" altLang="zh-CN" i="1" dirty="0">
                <a:solidFill>
                  <a:srgbClr val="0000FF"/>
                </a:solidFill>
              </a:rPr>
              <a:t>k</a:t>
            </a:r>
            <a:r>
              <a:rPr lang="zh-CN" altLang="en-US" dirty="0">
                <a:solidFill>
                  <a:srgbClr val="0000FF"/>
                </a:solidFill>
              </a:rPr>
              <a:t>上的加工</a:t>
            </a:r>
            <a:endParaRPr lang="en-US" altLang="zh-CN" dirty="0">
              <a:solidFill>
                <a:srgbClr val="0000FF"/>
              </a:solidFill>
            </a:endParaRPr>
          </a:p>
          <a:p>
            <a:pPr algn="ctr"/>
            <a:r>
              <a:rPr lang="zh-CN" altLang="en-US" dirty="0">
                <a:solidFill>
                  <a:srgbClr val="0000FF"/>
                </a:solidFill>
              </a:rPr>
              <a:t>开始时间</a:t>
            </a:r>
          </a:p>
        </p:txBody>
      </p:sp>
      <p:sp>
        <p:nvSpPr>
          <p:cNvPr id="8" name="矩形标注 7"/>
          <p:cNvSpPr/>
          <p:nvPr/>
        </p:nvSpPr>
        <p:spPr>
          <a:xfrm>
            <a:off x="4190999" y="2244725"/>
            <a:ext cx="1905001" cy="649381"/>
          </a:xfrm>
          <a:prstGeom prst="wedgeRectCallout">
            <a:avLst>
              <a:gd name="adj1" fmla="val -71344"/>
              <a:gd name="adj2" fmla="val 70149"/>
            </a:avLst>
          </a:prstGeom>
          <a:solidFill>
            <a:schemeClr val="accent6">
              <a:lumMod val="20000"/>
              <a:lumOff val="80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rPr>
              <a:t>工件</a:t>
            </a:r>
            <a:r>
              <a:rPr lang="en-US" altLang="zh-CN" i="1" dirty="0">
                <a:solidFill>
                  <a:srgbClr val="0000FF"/>
                </a:solidFill>
              </a:rPr>
              <a:t>j</a:t>
            </a:r>
            <a:r>
              <a:rPr lang="zh-CN" altLang="en-US" dirty="0">
                <a:solidFill>
                  <a:srgbClr val="0000FF"/>
                </a:solidFill>
              </a:rPr>
              <a:t>在机器</a:t>
            </a:r>
            <a:r>
              <a:rPr lang="en-US" altLang="zh-CN" i="1" dirty="0" err="1">
                <a:solidFill>
                  <a:srgbClr val="0000FF"/>
                </a:solidFill>
              </a:rPr>
              <a:t>i</a:t>
            </a:r>
            <a:r>
              <a:rPr lang="zh-CN" altLang="en-US" dirty="0">
                <a:solidFill>
                  <a:srgbClr val="0000FF"/>
                </a:solidFill>
              </a:rPr>
              <a:t>上的加工持续时间</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Solution Methods</a:t>
            </a:r>
          </a:p>
        </p:txBody>
      </p:sp>
      <p:sp>
        <p:nvSpPr>
          <p:cNvPr id="124931"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Exact solution</a:t>
            </a:r>
          </a:p>
          <a:p>
            <a:pPr lvl="1" eaLnBrk="1" hangingPunct="1"/>
            <a:r>
              <a:rPr kumimoji="0" lang="en-US" altLang="zh-CN" sz="2400">
                <a:ea typeface="宋体" panose="02010600030101010101" pitchFamily="2" charset="-122"/>
              </a:rPr>
              <a:t>Branch and Bound</a:t>
            </a:r>
          </a:p>
          <a:p>
            <a:pPr lvl="1" eaLnBrk="1" hangingPunct="1"/>
            <a:r>
              <a:rPr kumimoji="0" lang="en-US" altLang="zh-CN" sz="2400">
                <a:ea typeface="宋体" panose="02010600030101010101" pitchFamily="2" charset="-122"/>
              </a:rPr>
              <a:t>20 machines and 20 jobs</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Dispatching rules (16+)</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Shifting Bottleneck</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Search heuristics</a:t>
            </a:r>
          </a:p>
          <a:p>
            <a:pPr lvl="1" eaLnBrk="1" hangingPunct="1"/>
            <a:r>
              <a:rPr kumimoji="0" lang="en-US" altLang="zh-CN" sz="2400">
                <a:ea typeface="宋体" panose="02010600030101010101" pitchFamily="2" charset="-122"/>
              </a:rPr>
              <a:t>Tabu, SA, GA, etc.</a:t>
            </a:r>
          </a:p>
        </p:txBody>
      </p:sp>
      <p:sp>
        <p:nvSpPr>
          <p:cNvPr id="12493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5" name="动作按钮: 前进或下一项 4">
            <a:hlinkClick r:id="rId2" action="ppaction://hlinksldjump" highlightClick="1"/>
            <a:extLst>
              <a:ext uri="{FF2B5EF4-FFF2-40B4-BE49-F238E27FC236}">
                <a16:creationId xmlns:a16="http://schemas.microsoft.com/office/drawing/2014/main" id="{9FCAF5CC-D427-48E3-8328-530AB03C1C55}"/>
              </a:ext>
            </a:extLst>
          </p:cNvPr>
          <p:cNvSpPr/>
          <p:nvPr/>
        </p:nvSpPr>
        <p:spPr>
          <a:xfrm>
            <a:off x="8191500" y="6226175"/>
            <a:ext cx="685800" cy="533400"/>
          </a:xfrm>
          <a:prstGeom prst="actionButtonForwardNext">
            <a:avLst/>
          </a:prstGeom>
          <a:solidFill>
            <a:schemeClr val="accent2"/>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609600" y="-76200"/>
            <a:ext cx="7793038" cy="762000"/>
          </a:xfrm>
        </p:spPr>
        <p:txBody>
          <a:bodyPr/>
          <a:lstStyle/>
          <a:p>
            <a:pPr eaLnBrk="1" hangingPunct="1">
              <a:defRPr/>
            </a:pPr>
            <a:r>
              <a:rPr kumimoji="0" lang="en-US" altLang="zh-CN" b="1" dirty="0">
                <a:latin typeface="Verdana" charset="0"/>
                <a:cs typeface="宋体" charset="0"/>
              </a:rPr>
              <a:t>Types of Schedules</a:t>
            </a:r>
          </a:p>
        </p:txBody>
      </p:sp>
      <p:sp>
        <p:nvSpPr>
          <p:cNvPr id="125955" name="Rectangle 3"/>
          <p:cNvSpPr>
            <a:spLocks noGrp="1" noChangeArrowheads="1"/>
          </p:cNvSpPr>
          <p:nvPr>
            <p:ph type="body" idx="1"/>
          </p:nvPr>
        </p:nvSpPr>
        <p:spPr>
          <a:xfrm>
            <a:off x="685800" y="1066800"/>
            <a:ext cx="7772400" cy="4572000"/>
          </a:xfrm>
        </p:spPr>
        <p:txBody>
          <a:bodyPr/>
          <a:lstStyle/>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A schedule is </a:t>
            </a:r>
            <a:r>
              <a:rPr lang="en-US" altLang="zh-CN" sz="2400">
                <a:solidFill>
                  <a:schemeClr val="tx2"/>
                </a:solidFill>
                <a:latin typeface="Verdana" panose="020B0604030504040204" pitchFamily="34" charset="0"/>
                <a:ea typeface="宋体" panose="02010600030101010101" pitchFamily="2" charset="-122"/>
              </a:rPr>
              <a:t>nondelay </a:t>
            </a:r>
            <a:r>
              <a:rPr lang="en-US" altLang="zh-CN" sz="2400">
                <a:latin typeface="Verdana" panose="020B0604030504040204" pitchFamily="34" charset="0"/>
                <a:ea typeface="宋体" panose="02010600030101010101" pitchFamily="2" charset="-122"/>
              </a:rPr>
              <a:t>if no machine is idled when there is an operation available</a:t>
            </a:r>
          </a:p>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A schedule is called </a:t>
            </a:r>
            <a:r>
              <a:rPr lang="en-US" altLang="zh-CN" sz="2400">
                <a:solidFill>
                  <a:schemeClr val="tx2"/>
                </a:solidFill>
                <a:latin typeface="Verdana" panose="020B0604030504040204" pitchFamily="34" charset="0"/>
                <a:ea typeface="宋体" panose="02010600030101010101" pitchFamily="2" charset="-122"/>
              </a:rPr>
              <a:t>active </a:t>
            </a:r>
            <a:r>
              <a:rPr lang="en-US" altLang="zh-CN" sz="2400">
                <a:latin typeface="Verdana" panose="020B0604030504040204" pitchFamily="34" charset="0"/>
                <a:ea typeface="宋体" panose="02010600030101010101" pitchFamily="2" charset="-122"/>
              </a:rPr>
              <a:t>if no operation can be completed earlier by altering the sequence on machines and not delaying other operations</a:t>
            </a:r>
          </a:p>
          <a:p>
            <a:pPr eaLnBrk="1" hangingPunct="1">
              <a:lnSpc>
                <a:spcPct val="12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For </a:t>
            </a:r>
            <a:r>
              <a:rPr lang="en-US" altLang="zh-CN" sz="2400">
                <a:latin typeface="Tahoma" panose="020B0604030504040204" pitchFamily="34" charset="0"/>
                <a:ea typeface="宋体" panose="02010600030101010101" pitchFamily="2" charset="-122"/>
              </a:rPr>
              <a:t>“</a:t>
            </a:r>
            <a:r>
              <a:rPr lang="en-US" altLang="zh-CN" sz="2400">
                <a:latin typeface="Verdana" panose="020B0604030504040204" pitchFamily="34" charset="0"/>
                <a:ea typeface="宋体" panose="02010600030101010101" pitchFamily="2" charset="-122"/>
              </a:rPr>
              <a:t>regular</a:t>
            </a:r>
            <a:r>
              <a:rPr lang="en-US" altLang="zh-CN" sz="2400">
                <a:latin typeface="Tahoma" panose="020B0604030504040204" pitchFamily="34" charset="0"/>
                <a:ea typeface="宋体" panose="02010600030101010101" pitchFamily="2" charset="-122"/>
              </a:rPr>
              <a:t>”</a:t>
            </a:r>
            <a:r>
              <a:rPr lang="en-US" altLang="zh-CN" sz="2400">
                <a:latin typeface="Verdana" panose="020B0604030504040204" pitchFamily="34" charset="0"/>
                <a:ea typeface="宋体" panose="02010600030101010101" pitchFamily="2" charset="-122"/>
              </a:rPr>
              <a:t> objectives the optimal schedule is always active but not necessarily nondelay</a:t>
            </a:r>
          </a:p>
        </p:txBody>
      </p:sp>
      <p:sp>
        <p:nvSpPr>
          <p:cNvPr id="12595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normAutofit fontScale="90000"/>
          </a:bodyPr>
          <a:lstStyle/>
          <a:p>
            <a:pPr eaLnBrk="1" hangingPunct="1">
              <a:defRPr/>
            </a:pPr>
            <a:r>
              <a:rPr kumimoji="0" lang="en-US" altLang="zh-CN" b="1" dirty="0" err="1">
                <a:latin typeface="Verdana" charset="0"/>
                <a:cs typeface="宋体" charset="0"/>
              </a:rPr>
              <a:t>Nonactive</a:t>
            </a:r>
            <a:r>
              <a:rPr kumimoji="0" lang="en-US" altLang="zh-CN" b="1" dirty="0">
                <a:latin typeface="Verdana" charset="0"/>
                <a:cs typeface="宋体" charset="0"/>
              </a:rPr>
              <a:t> Schedule</a:t>
            </a:r>
          </a:p>
        </p:txBody>
      </p:sp>
      <p:sp>
        <p:nvSpPr>
          <p:cNvPr id="126979" name="Line 3"/>
          <p:cNvSpPr>
            <a:spLocks noChangeShapeType="1"/>
          </p:cNvSpPr>
          <p:nvPr/>
        </p:nvSpPr>
        <p:spPr bwMode="auto">
          <a:xfrm>
            <a:off x="2362200" y="5334000"/>
            <a:ext cx="6324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0" name="Rectangle 4"/>
          <p:cNvSpPr>
            <a:spLocks noChangeArrowheads="1"/>
          </p:cNvSpPr>
          <p:nvPr/>
        </p:nvSpPr>
        <p:spPr bwMode="auto">
          <a:xfrm>
            <a:off x="2362200" y="4262438"/>
            <a:ext cx="2971800" cy="530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6981" name="Rectangle 5"/>
          <p:cNvSpPr>
            <a:spLocks noChangeArrowheads="1"/>
          </p:cNvSpPr>
          <p:nvPr/>
        </p:nvSpPr>
        <p:spPr bwMode="auto">
          <a:xfrm>
            <a:off x="23622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6982" name="Rectangle 6"/>
          <p:cNvSpPr>
            <a:spLocks noChangeArrowheads="1"/>
          </p:cNvSpPr>
          <p:nvPr/>
        </p:nvSpPr>
        <p:spPr bwMode="auto">
          <a:xfrm>
            <a:off x="2362200" y="21336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6983" name="Text Box 7"/>
          <p:cNvSpPr txBox="1">
            <a:spLocks noChangeArrowheads="1"/>
          </p:cNvSpPr>
          <p:nvPr/>
        </p:nvSpPr>
        <p:spPr bwMode="auto">
          <a:xfrm>
            <a:off x="3352800" y="4267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26984" name="Text Box 8"/>
          <p:cNvSpPr txBox="1">
            <a:spLocks noChangeArrowheads="1"/>
          </p:cNvSpPr>
          <p:nvPr/>
        </p:nvSpPr>
        <p:spPr bwMode="auto">
          <a:xfrm>
            <a:off x="838200" y="3124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2</a:t>
            </a:r>
          </a:p>
        </p:txBody>
      </p:sp>
      <p:sp>
        <p:nvSpPr>
          <p:cNvPr id="126985" name="Text Box 9"/>
          <p:cNvSpPr txBox="1">
            <a:spLocks noChangeArrowheads="1"/>
          </p:cNvSpPr>
          <p:nvPr/>
        </p:nvSpPr>
        <p:spPr bwMode="auto">
          <a:xfrm>
            <a:off x="838200" y="21336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1</a:t>
            </a:r>
          </a:p>
        </p:txBody>
      </p:sp>
      <p:sp>
        <p:nvSpPr>
          <p:cNvPr id="126986" name="Text Box 10"/>
          <p:cNvSpPr txBox="1">
            <a:spLocks noChangeArrowheads="1"/>
          </p:cNvSpPr>
          <p:nvPr/>
        </p:nvSpPr>
        <p:spPr bwMode="auto">
          <a:xfrm>
            <a:off x="838200" y="4267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3</a:t>
            </a:r>
          </a:p>
        </p:txBody>
      </p:sp>
      <p:sp>
        <p:nvSpPr>
          <p:cNvPr id="126987" name="Line 11"/>
          <p:cNvSpPr>
            <a:spLocks noChangeShapeType="1"/>
          </p:cNvSpPr>
          <p:nvPr/>
        </p:nvSpPr>
        <p:spPr bwMode="auto">
          <a:xfrm>
            <a:off x="23622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8" name="Line 12"/>
          <p:cNvSpPr>
            <a:spLocks noChangeShapeType="1"/>
          </p:cNvSpPr>
          <p:nvPr/>
        </p:nvSpPr>
        <p:spPr bwMode="auto">
          <a:xfrm>
            <a:off x="38100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9" name="Line 13"/>
          <p:cNvSpPr>
            <a:spLocks noChangeShapeType="1"/>
          </p:cNvSpPr>
          <p:nvPr/>
        </p:nvSpPr>
        <p:spPr bwMode="auto">
          <a:xfrm>
            <a:off x="53340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0" name="Line 14"/>
          <p:cNvSpPr>
            <a:spLocks noChangeShapeType="1"/>
          </p:cNvSpPr>
          <p:nvPr/>
        </p:nvSpPr>
        <p:spPr bwMode="auto">
          <a:xfrm>
            <a:off x="67818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1" name="Line 15"/>
          <p:cNvSpPr>
            <a:spLocks noChangeShapeType="1"/>
          </p:cNvSpPr>
          <p:nvPr/>
        </p:nvSpPr>
        <p:spPr bwMode="auto">
          <a:xfrm>
            <a:off x="83058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2" name="Text Box 16"/>
          <p:cNvSpPr txBox="1">
            <a:spLocks noChangeArrowheads="1"/>
          </p:cNvSpPr>
          <p:nvPr/>
        </p:nvSpPr>
        <p:spPr bwMode="auto">
          <a:xfrm>
            <a:off x="2743200" y="22098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26993" name="Text Box 17"/>
          <p:cNvSpPr txBox="1">
            <a:spLocks noChangeArrowheads="1"/>
          </p:cNvSpPr>
          <p:nvPr/>
        </p:nvSpPr>
        <p:spPr bwMode="auto">
          <a:xfrm>
            <a:off x="2743200" y="3124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26994" name="Rectangle 18"/>
          <p:cNvSpPr>
            <a:spLocks noChangeArrowheads="1"/>
          </p:cNvSpPr>
          <p:nvPr/>
        </p:nvSpPr>
        <p:spPr bwMode="auto">
          <a:xfrm>
            <a:off x="52578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6995" name="Text Box 19"/>
          <p:cNvSpPr txBox="1">
            <a:spLocks noChangeArrowheads="1"/>
          </p:cNvSpPr>
          <p:nvPr/>
        </p:nvSpPr>
        <p:spPr bwMode="auto">
          <a:xfrm>
            <a:off x="5715000" y="32004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26996" name="Rectangle 20"/>
          <p:cNvSpPr>
            <a:spLocks noChangeArrowheads="1"/>
          </p:cNvSpPr>
          <p:nvPr/>
        </p:nvSpPr>
        <p:spPr bwMode="auto">
          <a:xfrm>
            <a:off x="6705600" y="3124200"/>
            <a:ext cx="1447800" cy="533400"/>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6997" name="Text Box 21"/>
          <p:cNvSpPr txBox="1">
            <a:spLocks noChangeArrowheads="1"/>
          </p:cNvSpPr>
          <p:nvPr/>
        </p:nvSpPr>
        <p:spPr bwMode="auto">
          <a:xfrm>
            <a:off x="7162800" y="32004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26998" name="Text Box 22"/>
          <p:cNvSpPr txBox="1">
            <a:spLocks noChangeArrowheads="1"/>
          </p:cNvSpPr>
          <p:nvPr/>
        </p:nvSpPr>
        <p:spPr bwMode="auto">
          <a:xfrm>
            <a:off x="2117725" y="5375275"/>
            <a:ext cx="635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 0                 2                  4                6                   8</a:t>
            </a:r>
          </a:p>
        </p:txBody>
      </p:sp>
      <p:sp>
        <p:nvSpPr>
          <p:cNvPr id="126999" name="Rectangle 23"/>
          <p:cNvSpPr>
            <a:spLocks noChangeArrowheads="1"/>
          </p:cNvSpPr>
          <p:nvPr/>
        </p:nvSpPr>
        <p:spPr bwMode="auto">
          <a:xfrm>
            <a:off x="3810000" y="2133600"/>
            <a:ext cx="1447800" cy="533400"/>
          </a:xfrm>
          <a:prstGeom prst="rect">
            <a:avLst/>
          </a:prstGeom>
          <a:noFill/>
          <a:ln w="9525">
            <a:solidFill>
              <a:schemeClr val="folHlink"/>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7000" name="Text Box 24"/>
          <p:cNvSpPr txBox="1">
            <a:spLocks noChangeArrowheads="1"/>
          </p:cNvSpPr>
          <p:nvPr/>
        </p:nvSpPr>
        <p:spPr bwMode="auto">
          <a:xfrm>
            <a:off x="4191000" y="22098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solidFill>
                  <a:schemeClr val="folHlink"/>
                </a:solidFill>
                <a:latin typeface="Times New Roman" panose="02020603050405020304" pitchFamily="18" charset="0"/>
                <a:ea typeface="宋体" panose="02010600030101010101" pitchFamily="2" charset="-122"/>
              </a:rPr>
              <a:t>(2,1)</a:t>
            </a:r>
            <a:endParaRPr lang="en-US" altLang="zh-CN" sz="2400" b="0">
              <a:latin typeface="Times New Roman" panose="02020603050405020304" pitchFamily="18" charset="0"/>
              <a:ea typeface="宋体" panose="02010600030101010101" pitchFamily="2" charset="-122"/>
            </a:endParaRPr>
          </a:p>
        </p:txBody>
      </p:sp>
      <p:sp>
        <p:nvSpPr>
          <p:cNvPr id="127001" name="Line 25"/>
          <p:cNvSpPr>
            <a:spLocks noChangeShapeType="1"/>
          </p:cNvSpPr>
          <p:nvPr/>
        </p:nvSpPr>
        <p:spPr bwMode="auto">
          <a:xfrm flipH="1">
            <a:off x="5257800" y="2362200"/>
            <a:ext cx="2286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02" name="Line 26"/>
          <p:cNvSpPr>
            <a:spLocks noChangeShapeType="1"/>
          </p:cNvSpPr>
          <p:nvPr/>
        </p:nvSpPr>
        <p:spPr bwMode="auto">
          <a:xfrm flipV="1">
            <a:off x="7543800" y="2362200"/>
            <a:ext cx="0" cy="76200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7003" name="Line 27"/>
          <p:cNvSpPr>
            <a:spLocks noChangeShapeType="1"/>
          </p:cNvSpPr>
          <p:nvPr/>
        </p:nvSpPr>
        <p:spPr bwMode="auto">
          <a:xfrm>
            <a:off x="4495800" y="2667000"/>
            <a:ext cx="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04" name="Line 28"/>
          <p:cNvSpPr>
            <a:spLocks noChangeShapeType="1"/>
          </p:cNvSpPr>
          <p:nvPr/>
        </p:nvSpPr>
        <p:spPr bwMode="auto">
          <a:xfrm>
            <a:off x="3810000" y="2667000"/>
            <a:ext cx="0" cy="1219200"/>
          </a:xfrm>
          <a:prstGeom prst="line">
            <a:avLst/>
          </a:prstGeom>
          <a:noFill/>
          <a:ln w="9525" cap="rnd">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7005" name="Line 29"/>
          <p:cNvSpPr>
            <a:spLocks noChangeShapeType="1"/>
          </p:cNvSpPr>
          <p:nvPr/>
        </p:nvSpPr>
        <p:spPr bwMode="auto">
          <a:xfrm>
            <a:off x="5257800" y="2667000"/>
            <a:ext cx="0" cy="1219200"/>
          </a:xfrm>
          <a:prstGeom prst="line">
            <a:avLst/>
          </a:prstGeom>
          <a:noFill/>
          <a:ln w="9525" cap="rnd">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7006"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457200" y="152400"/>
            <a:ext cx="7391400" cy="533400"/>
          </a:xfrm>
        </p:spPr>
        <p:txBody>
          <a:bodyPr>
            <a:noAutofit/>
          </a:bodyPr>
          <a:lstStyle/>
          <a:p>
            <a:pPr eaLnBrk="1" hangingPunct="1">
              <a:defRPr/>
            </a:pPr>
            <a:r>
              <a:rPr kumimoji="0" lang="en-US" altLang="zh-CN" sz="2800" b="1" cap="none">
                <a:latin typeface="Verdana" pitchFamily="34" charset="0"/>
                <a:ea typeface="宋体" pitchFamily="2" charset="-122"/>
              </a:rPr>
              <a:t>Active Schedule, not Nondelay</a:t>
            </a:r>
            <a:endParaRPr kumimoji="0" lang="en-US" altLang="zh-CN" sz="4000" b="1" cap="none">
              <a:latin typeface="Verdana" pitchFamily="34" charset="0"/>
              <a:ea typeface="宋体" pitchFamily="2" charset="-122"/>
            </a:endParaRPr>
          </a:p>
        </p:txBody>
      </p:sp>
      <p:sp>
        <p:nvSpPr>
          <p:cNvPr id="128003" name="Line 3"/>
          <p:cNvSpPr>
            <a:spLocks noChangeShapeType="1"/>
          </p:cNvSpPr>
          <p:nvPr/>
        </p:nvSpPr>
        <p:spPr bwMode="auto">
          <a:xfrm>
            <a:off x="2362200" y="5334000"/>
            <a:ext cx="6324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04" name="Rectangle 4"/>
          <p:cNvSpPr>
            <a:spLocks noChangeArrowheads="1"/>
          </p:cNvSpPr>
          <p:nvPr/>
        </p:nvSpPr>
        <p:spPr bwMode="auto">
          <a:xfrm>
            <a:off x="2362200" y="4262438"/>
            <a:ext cx="2971800" cy="530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8005" name="Rectangle 5"/>
          <p:cNvSpPr>
            <a:spLocks noChangeArrowheads="1"/>
          </p:cNvSpPr>
          <p:nvPr/>
        </p:nvSpPr>
        <p:spPr bwMode="auto">
          <a:xfrm>
            <a:off x="23622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8006" name="Rectangle 6"/>
          <p:cNvSpPr>
            <a:spLocks noChangeArrowheads="1"/>
          </p:cNvSpPr>
          <p:nvPr/>
        </p:nvSpPr>
        <p:spPr bwMode="auto">
          <a:xfrm>
            <a:off x="2362200" y="2133600"/>
            <a:ext cx="2057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8007" name="Text Box 7"/>
          <p:cNvSpPr txBox="1">
            <a:spLocks noChangeArrowheads="1"/>
          </p:cNvSpPr>
          <p:nvPr/>
        </p:nvSpPr>
        <p:spPr bwMode="auto">
          <a:xfrm>
            <a:off x="3352800" y="4267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28008" name="Text Box 8"/>
          <p:cNvSpPr txBox="1">
            <a:spLocks noChangeArrowheads="1"/>
          </p:cNvSpPr>
          <p:nvPr/>
        </p:nvSpPr>
        <p:spPr bwMode="auto">
          <a:xfrm>
            <a:off x="838200" y="3124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2</a:t>
            </a:r>
          </a:p>
        </p:txBody>
      </p:sp>
      <p:sp>
        <p:nvSpPr>
          <p:cNvPr id="128009" name="Text Box 9"/>
          <p:cNvSpPr txBox="1">
            <a:spLocks noChangeArrowheads="1"/>
          </p:cNvSpPr>
          <p:nvPr/>
        </p:nvSpPr>
        <p:spPr bwMode="auto">
          <a:xfrm>
            <a:off x="838200" y="21336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1</a:t>
            </a:r>
          </a:p>
        </p:txBody>
      </p:sp>
      <p:sp>
        <p:nvSpPr>
          <p:cNvPr id="128010" name="Text Box 10"/>
          <p:cNvSpPr txBox="1">
            <a:spLocks noChangeArrowheads="1"/>
          </p:cNvSpPr>
          <p:nvPr/>
        </p:nvSpPr>
        <p:spPr bwMode="auto">
          <a:xfrm>
            <a:off x="838200" y="4267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3</a:t>
            </a:r>
          </a:p>
        </p:txBody>
      </p:sp>
      <p:sp>
        <p:nvSpPr>
          <p:cNvPr id="128011" name="Line 11"/>
          <p:cNvSpPr>
            <a:spLocks noChangeShapeType="1"/>
          </p:cNvSpPr>
          <p:nvPr/>
        </p:nvSpPr>
        <p:spPr bwMode="auto">
          <a:xfrm>
            <a:off x="23622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2" name="Line 12"/>
          <p:cNvSpPr>
            <a:spLocks noChangeShapeType="1"/>
          </p:cNvSpPr>
          <p:nvPr/>
        </p:nvSpPr>
        <p:spPr bwMode="auto">
          <a:xfrm>
            <a:off x="38100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3" name="Line 13"/>
          <p:cNvSpPr>
            <a:spLocks noChangeShapeType="1"/>
          </p:cNvSpPr>
          <p:nvPr/>
        </p:nvSpPr>
        <p:spPr bwMode="auto">
          <a:xfrm>
            <a:off x="53340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4" name="Line 14"/>
          <p:cNvSpPr>
            <a:spLocks noChangeShapeType="1"/>
          </p:cNvSpPr>
          <p:nvPr/>
        </p:nvSpPr>
        <p:spPr bwMode="auto">
          <a:xfrm>
            <a:off x="67818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5" name="Line 15"/>
          <p:cNvSpPr>
            <a:spLocks noChangeShapeType="1"/>
          </p:cNvSpPr>
          <p:nvPr/>
        </p:nvSpPr>
        <p:spPr bwMode="auto">
          <a:xfrm>
            <a:off x="83058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016" name="Text Box 16"/>
          <p:cNvSpPr txBox="1">
            <a:spLocks noChangeArrowheads="1"/>
          </p:cNvSpPr>
          <p:nvPr/>
        </p:nvSpPr>
        <p:spPr bwMode="auto">
          <a:xfrm>
            <a:off x="3041650" y="22098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28017" name="Text Box 17"/>
          <p:cNvSpPr txBox="1">
            <a:spLocks noChangeArrowheads="1"/>
          </p:cNvSpPr>
          <p:nvPr/>
        </p:nvSpPr>
        <p:spPr bwMode="auto">
          <a:xfrm>
            <a:off x="2743200" y="3124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28018" name="Rectangle 18"/>
          <p:cNvSpPr>
            <a:spLocks noChangeArrowheads="1"/>
          </p:cNvSpPr>
          <p:nvPr/>
        </p:nvSpPr>
        <p:spPr bwMode="auto">
          <a:xfrm>
            <a:off x="52578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8019" name="Text Box 19"/>
          <p:cNvSpPr txBox="1">
            <a:spLocks noChangeArrowheads="1"/>
          </p:cNvSpPr>
          <p:nvPr/>
        </p:nvSpPr>
        <p:spPr bwMode="auto">
          <a:xfrm>
            <a:off x="5715000" y="32004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28020" name="Rectangle 20"/>
          <p:cNvSpPr>
            <a:spLocks noChangeArrowheads="1"/>
          </p:cNvSpPr>
          <p:nvPr/>
        </p:nvSpPr>
        <p:spPr bwMode="auto">
          <a:xfrm>
            <a:off x="67056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8021" name="Text Box 21"/>
          <p:cNvSpPr txBox="1">
            <a:spLocks noChangeArrowheads="1"/>
          </p:cNvSpPr>
          <p:nvPr/>
        </p:nvSpPr>
        <p:spPr bwMode="auto">
          <a:xfrm>
            <a:off x="7162800" y="32004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28022" name="Text Box 22"/>
          <p:cNvSpPr txBox="1">
            <a:spLocks noChangeArrowheads="1"/>
          </p:cNvSpPr>
          <p:nvPr/>
        </p:nvSpPr>
        <p:spPr bwMode="auto">
          <a:xfrm>
            <a:off x="2117725" y="5375275"/>
            <a:ext cx="635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 0                 2                  4                6                   8</a:t>
            </a:r>
          </a:p>
        </p:txBody>
      </p:sp>
      <p:sp>
        <p:nvSpPr>
          <p:cNvPr id="128023" name="Line 23"/>
          <p:cNvSpPr>
            <a:spLocks noChangeShapeType="1"/>
          </p:cNvSpPr>
          <p:nvPr/>
        </p:nvSpPr>
        <p:spPr bwMode="auto">
          <a:xfrm>
            <a:off x="4419600" y="2819400"/>
            <a:ext cx="0" cy="1066800"/>
          </a:xfrm>
          <a:prstGeom prst="line">
            <a:avLst/>
          </a:prstGeom>
          <a:noFill/>
          <a:ln w="9525" cap="rnd">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024" name="Line 24"/>
          <p:cNvSpPr>
            <a:spLocks noChangeShapeType="1"/>
          </p:cNvSpPr>
          <p:nvPr/>
        </p:nvSpPr>
        <p:spPr bwMode="auto">
          <a:xfrm>
            <a:off x="5257800" y="2819400"/>
            <a:ext cx="0" cy="1066800"/>
          </a:xfrm>
          <a:prstGeom prst="line">
            <a:avLst/>
          </a:prstGeom>
          <a:noFill/>
          <a:ln w="9525" cap="rnd">
            <a:solidFill>
              <a:schemeClr val="tx1"/>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28025" name="AutoShape 25"/>
          <p:cNvSpPr>
            <a:spLocks/>
          </p:cNvSpPr>
          <p:nvPr/>
        </p:nvSpPr>
        <p:spPr bwMode="auto">
          <a:xfrm rot="-5386426">
            <a:off x="4722813" y="2286000"/>
            <a:ext cx="228600" cy="838200"/>
          </a:xfrm>
          <a:prstGeom prst="rightBrace">
            <a:avLst>
              <a:gd name="adj1" fmla="val 30556"/>
              <a:gd name="adj2"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8026" name="Text Box 26"/>
          <p:cNvSpPr txBox="1">
            <a:spLocks noChangeArrowheads="1"/>
          </p:cNvSpPr>
          <p:nvPr/>
        </p:nvSpPr>
        <p:spPr bwMode="auto">
          <a:xfrm>
            <a:off x="4572000" y="2209800"/>
            <a:ext cx="4162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b="0">
                <a:latin typeface="Tahoma" panose="020B0604030504040204" pitchFamily="34" charset="0"/>
                <a:ea typeface="宋体" panose="02010600030101010101" pitchFamily="2" charset="-122"/>
              </a:rPr>
              <a:t>Delay (Operation (2,1) does not fit)</a:t>
            </a:r>
          </a:p>
        </p:txBody>
      </p:sp>
      <p:sp>
        <p:nvSpPr>
          <p:cNvPr id="128027"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normAutofit fontScale="90000"/>
          </a:bodyPr>
          <a:lstStyle/>
          <a:p>
            <a:pPr eaLnBrk="1" hangingPunct="1">
              <a:defRPr/>
            </a:pPr>
            <a:r>
              <a:rPr kumimoji="0" lang="en-US" altLang="zh-CN" b="1" dirty="0" err="1">
                <a:latin typeface="Verdana" charset="0"/>
                <a:cs typeface="宋体" charset="0"/>
              </a:rPr>
              <a:t>Nondelay</a:t>
            </a:r>
            <a:r>
              <a:rPr kumimoji="0" lang="en-US" altLang="zh-CN" b="1" dirty="0">
                <a:latin typeface="Verdana" charset="0"/>
                <a:cs typeface="宋体" charset="0"/>
              </a:rPr>
              <a:t> schedule</a:t>
            </a:r>
          </a:p>
        </p:txBody>
      </p:sp>
      <p:sp>
        <p:nvSpPr>
          <p:cNvPr id="129027" name="Line 3"/>
          <p:cNvSpPr>
            <a:spLocks noChangeShapeType="1"/>
          </p:cNvSpPr>
          <p:nvPr/>
        </p:nvSpPr>
        <p:spPr bwMode="auto">
          <a:xfrm>
            <a:off x="2362200" y="5334000"/>
            <a:ext cx="6324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28" name="Rectangle 4"/>
          <p:cNvSpPr>
            <a:spLocks noChangeArrowheads="1"/>
          </p:cNvSpPr>
          <p:nvPr/>
        </p:nvSpPr>
        <p:spPr bwMode="auto">
          <a:xfrm>
            <a:off x="2362200" y="4262438"/>
            <a:ext cx="2971800" cy="530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9029" name="Rectangle 5"/>
          <p:cNvSpPr>
            <a:spLocks noChangeArrowheads="1"/>
          </p:cNvSpPr>
          <p:nvPr/>
        </p:nvSpPr>
        <p:spPr bwMode="auto">
          <a:xfrm>
            <a:off x="23622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9030" name="Rectangle 6"/>
          <p:cNvSpPr>
            <a:spLocks noChangeArrowheads="1"/>
          </p:cNvSpPr>
          <p:nvPr/>
        </p:nvSpPr>
        <p:spPr bwMode="auto">
          <a:xfrm>
            <a:off x="2362200" y="2133600"/>
            <a:ext cx="20574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9031" name="Text Box 7"/>
          <p:cNvSpPr txBox="1">
            <a:spLocks noChangeArrowheads="1"/>
          </p:cNvSpPr>
          <p:nvPr/>
        </p:nvSpPr>
        <p:spPr bwMode="auto">
          <a:xfrm>
            <a:off x="3352800" y="4267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29032" name="Text Box 8"/>
          <p:cNvSpPr txBox="1">
            <a:spLocks noChangeArrowheads="1"/>
          </p:cNvSpPr>
          <p:nvPr/>
        </p:nvSpPr>
        <p:spPr bwMode="auto">
          <a:xfrm>
            <a:off x="838200" y="3124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2</a:t>
            </a:r>
          </a:p>
        </p:txBody>
      </p:sp>
      <p:sp>
        <p:nvSpPr>
          <p:cNvPr id="129033" name="Text Box 9"/>
          <p:cNvSpPr txBox="1">
            <a:spLocks noChangeArrowheads="1"/>
          </p:cNvSpPr>
          <p:nvPr/>
        </p:nvSpPr>
        <p:spPr bwMode="auto">
          <a:xfrm>
            <a:off x="838200" y="21336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1</a:t>
            </a:r>
          </a:p>
        </p:txBody>
      </p:sp>
      <p:sp>
        <p:nvSpPr>
          <p:cNvPr id="129034" name="Text Box 10"/>
          <p:cNvSpPr txBox="1">
            <a:spLocks noChangeArrowheads="1"/>
          </p:cNvSpPr>
          <p:nvPr/>
        </p:nvSpPr>
        <p:spPr bwMode="auto">
          <a:xfrm>
            <a:off x="838200" y="4267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3</a:t>
            </a:r>
          </a:p>
        </p:txBody>
      </p:sp>
      <p:sp>
        <p:nvSpPr>
          <p:cNvPr id="129035" name="Line 11"/>
          <p:cNvSpPr>
            <a:spLocks noChangeShapeType="1"/>
          </p:cNvSpPr>
          <p:nvPr/>
        </p:nvSpPr>
        <p:spPr bwMode="auto">
          <a:xfrm>
            <a:off x="23622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6" name="Line 12"/>
          <p:cNvSpPr>
            <a:spLocks noChangeShapeType="1"/>
          </p:cNvSpPr>
          <p:nvPr/>
        </p:nvSpPr>
        <p:spPr bwMode="auto">
          <a:xfrm>
            <a:off x="38100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7" name="Line 13"/>
          <p:cNvSpPr>
            <a:spLocks noChangeShapeType="1"/>
          </p:cNvSpPr>
          <p:nvPr/>
        </p:nvSpPr>
        <p:spPr bwMode="auto">
          <a:xfrm>
            <a:off x="53340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8" name="Line 14"/>
          <p:cNvSpPr>
            <a:spLocks noChangeShapeType="1"/>
          </p:cNvSpPr>
          <p:nvPr/>
        </p:nvSpPr>
        <p:spPr bwMode="auto">
          <a:xfrm>
            <a:off x="67818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39" name="Line 15"/>
          <p:cNvSpPr>
            <a:spLocks noChangeShapeType="1"/>
          </p:cNvSpPr>
          <p:nvPr/>
        </p:nvSpPr>
        <p:spPr bwMode="auto">
          <a:xfrm>
            <a:off x="8305800" y="5181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040" name="Text Box 16"/>
          <p:cNvSpPr txBox="1">
            <a:spLocks noChangeArrowheads="1"/>
          </p:cNvSpPr>
          <p:nvPr/>
        </p:nvSpPr>
        <p:spPr bwMode="auto">
          <a:xfrm>
            <a:off x="3041650" y="22098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29041" name="Text Box 17"/>
          <p:cNvSpPr txBox="1">
            <a:spLocks noChangeArrowheads="1"/>
          </p:cNvSpPr>
          <p:nvPr/>
        </p:nvSpPr>
        <p:spPr bwMode="auto">
          <a:xfrm>
            <a:off x="2743200" y="3124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29042" name="Rectangle 18"/>
          <p:cNvSpPr>
            <a:spLocks noChangeArrowheads="1"/>
          </p:cNvSpPr>
          <p:nvPr/>
        </p:nvSpPr>
        <p:spPr bwMode="auto">
          <a:xfrm>
            <a:off x="58674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9043" name="Text Box 19"/>
          <p:cNvSpPr txBox="1">
            <a:spLocks noChangeArrowheads="1"/>
          </p:cNvSpPr>
          <p:nvPr/>
        </p:nvSpPr>
        <p:spPr bwMode="auto">
          <a:xfrm>
            <a:off x="6248400" y="3124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29044" name="Rectangle 20"/>
          <p:cNvSpPr>
            <a:spLocks noChangeArrowheads="1"/>
          </p:cNvSpPr>
          <p:nvPr/>
        </p:nvSpPr>
        <p:spPr bwMode="auto">
          <a:xfrm>
            <a:off x="4419600" y="3124200"/>
            <a:ext cx="14478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29045" name="Text Box 21"/>
          <p:cNvSpPr txBox="1">
            <a:spLocks noChangeArrowheads="1"/>
          </p:cNvSpPr>
          <p:nvPr/>
        </p:nvSpPr>
        <p:spPr bwMode="auto">
          <a:xfrm>
            <a:off x="4876800" y="3124200"/>
            <a:ext cx="768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29046" name="Text Box 22"/>
          <p:cNvSpPr txBox="1">
            <a:spLocks noChangeArrowheads="1"/>
          </p:cNvSpPr>
          <p:nvPr/>
        </p:nvSpPr>
        <p:spPr bwMode="auto">
          <a:xfrm>
            <a:off x="2117725" y="5375275"/>
            <a:ext cx="6356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 0                 2                  4                6                   8</a:t>
            </a:r>
          </a:p>
        </p:txBody>
      </p:sp>
      <p:sp>
        <p:nvSpPr>
          <p:cNvPr id="129047"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4"/>
          <p:cNvSpPr>
            <a:spLocks noChangeArrowheads="1"/>
          </p:cNvSpPr>
          <p:nvPr/>
        </p:nvSpPr>
        <p:spPr bwMode="white">
          <a:xfrm>
            <a:off x="609600" y="2362200"/>
            <a:ext cx="79248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2800" dirty="0">
                <a:solidFill>
                  <a:schemeClr val="tx2"/>
                </a:solidFill>
                <a:latin typeface="Verdana" panose="020B0604030504040204" pitchFamily="34" charset="0"/>
                <a:ea typeface="宋体" panose="02010600030101010101" pitchFamily="2" charset="-122"/>
              </a:rPr>
              <a:t>Job Shop Scheduling:</a:t>
            </a:r>
            <a:br>
              <a:rPr lang="en-US" altLang="zh-CN" sz="2800" dirty="0">
                <a:solidFill>
                  <a:schemeClr val="tx2"/>
                </a:solidFill>
                <a:latin typeface="Verdana" panose="020B0604030504040204" pitchFamily="34" charset="0"/>
                <a:ea typeface="宋体" panose="02010600030101010101" pitchFamily="2" charset="-122"/>
              </a:rPr>
            </a:br>
            <a:r>
              <a:rPr lang="en-US" altLang="zh-CN" sz="2800" dirty="0">
                <a:solidFill>
                  <a:schemeClr val="tx2"/>
                </a:solidFill>
                <a:latin typeface="Verdana" panose="020B0604030504040204" pitchFamily="34" charset="0"/>
                <a:ea typeface="宋体" panose="02010600030101010101" pitchFamily="2" charset="-122"/>
              </a:rPr>
              <a:t>The Shifting Bottleneck Heuristic</a:t>
            </a:r>
          </a:p>
          <a:p>
            <a:pPr algn="ctr" eaLnBrk="1" hangingPunct="1">
              <a:spcBef>
                <a:spcPct val="0"/>
              </a:spcBef>
              <a:spcAft>
                <a:spcPct val="0"/>
              </a:spcAft>
              <a:buFontTx/>
              <a:buNone/>
            </a:pPr>
            <a:r>
              <a:rPr lang="en-US" altLang="zh-CN" sz="2800" dirty="0">
                <a:solidFill>
                  <a:schemeClr val="tx2"/>
                </a:solidFill>
                <a:latin typeface="Verdana" panose="020B0604030504040204" pitchFamily="34" charset="0"/>
                <a:ea typeface="宋体" panose="02010600030101010101" pitchFamily="2" charset="-122"/>
              </a:rPr>
              <a:t>For </a:t>
            </a:r>
            <a:r>
              <a:rPr lang="en-US" altLang="zh-CN" sz="2800" dirty="0" err="1">
                <a:solidFill>
                  <a:schemeClr val="tx2"/>
                </a:solidFill>
                <a:latin typeface="Verdana" panose="020B0604030504040204" pitchFamily="34" charset="0"/>
                <a:ea typeface="宋体" panose="02010600030101010101" pitchFamily="2" charset="-122"/>
              </a:rPr>
              <a:t>makespan</a:t>
            </a:r>
            <a:r>
              <a:rPr lang="en-US" altLang="zh-CN" sz="2800" dirty="0">
                <a:solidFill>
                  <a:schemeClr val="tx2"/>
                </a:solidFill>
                <a:latin typeface="Verdana" panose="020B0604030504040204" pitchFamily="34" charset="0"/>
                <a:ea typeface="宋体" panose="02010600030101010101" pitchFamily="2" charset="-122"/>
              </a:rPr>
              <a:t> objective</a:t>
            </a:r>
          </a:p>
          <a:p>
            <a:pPr algn="ctr" eaLnBrk="1" hangingPunct="1">
              <a:spcBef>
                <a:spcPct val="0"/>
              </a:spcBef>
              <a:spcAft>
                <a:spcPct val="0"/>
              </a:spcAft>
              <a:buFontTx/>
              <a:buNone/>
            </a:pPr>
            <a:r>
              <a:rPr lang="en-US" altLang="zh-CN" sz="2800" dirty="0">
                <a:solidFill>
                  <a:schemeClr val="tx2"/>
                </a:solidFill>
                <a:latin typeface="Verdana" panose="020B0604030504040204" pitchFamily="34" charset="0"/>
                <a:ea typeface="宋体" panose="02010600030101010101" pitchFamily="2" charset="-122"/>
              </a:rPr>
              <a:t>(</a:t>
            </a:r>
            <a:r>
              <a:rPr lang="zh-CN" altLang="en-US" sz="2800" dirty="0">
                <a:solidFill>
                  <a:schemeClr val="tx2"/>
                </a:solidFill>
                <a:latin typeface="Verdana" panose="020B0604030504040204" pitchFamily="34" charset="0"/>
                <a:ea typeface="宋体" panose="02010600030101010101" pitchFamily="2" charset="-122"/>
              </a:rPr>
              <a:t>工期目标的移动瓶颈法</a:t>
            </a:r>
            <a:r>
              <a:rPr lang="en-US" altLang="zh-CN" sz="2800" dirty="0">
                <a:solidFill>
                  <a:schemeClr val="tx2"/>
                </a:solidFill>
                <a:latin typeface="Verdana" panose="020B0604030504040204" pitchFamily="34" charset="0"/>
                <a:ea typeface="宋体" panose="02010600030101010101" pitchFamily="2" charset="-122"/>
              </a:rPr>
              <a:t>)</a:t>
            </a:r>
          </a:p>
        </p:txBody>
      </p:sp>
      <p:sp>
        <p:nvSpPr>
          <p:cNvPr id="130051"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2" name="动作按钮: 前进或下一项 1">
            <a:hlinkClick r:id="rId2" action="ppaction://hlinksldjump" highlightClick="1"/>
          </p:cNvPr>
          <p:cNvSpPr/>
          <p:nvPr/>
        </p:nvSpPr>
        <p:spPr>
          <a:xfrm>
            <a:off x="8191500" y="6226175"/>
            <a:ext cx="685800" cy="533400"/>
          </a:xfrm>
          <a:prstGeom prst="actionButtonForwardNext">
            <a:avLst/>
          </a:prstGeom>
          <a:solidFill>
            <a:schemeClr val="accent2"/>
          </a:solid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Shifting Bottleneck</a:t>
            </a:r>
          </a:p>
        </p:txBody>
      </p:sp>
      <p:sp>
        <p:nvSpPr>
          <p:cNvPr id="131075" name="Rectangle 3"/>
          <p:cNvSpPr>
            <a:spLocks noGrp="1" noChangeArrowheads="1"/>
          </p:cNvSpPr>
          <p:nvPr>
            <p:ph type="body" idx="1"/>
          </p:nvPr>
        </p:nvSpPr>
        <p:spPr/>
        <p:txBody>
          <a:bodyPr/>
          <a:lstStyle/>
          <a:p>
            <a:pPr eaLnBrk="1" hangingPunct="1">
              <a:lnSpc>
                <a:spcPct val="9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Minimize makespan in a job shop</a:t>
            </a:r>
          </a:p>
          <a:p>
            <a:pPr eaLnBrk="1" hangingPunct="1">
              <a:lnSpc>
                <a:spcPct val="9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Let </a:t>
            </a:r>
            <a:r>
              <a:rPr lang="en-US" altLang="zh-CN" sz="2400" i="1">
                <a:latin typeface="Verdana" panose="020B0604030504040204" pitchFamily="34" charset="0"/>
                <a:ea typeface="宋体" panose="02010600030101010101" pitchFamily="2" charset="-122"/>
              </a:rPr>
              <a:t>M</a:t>
            </a:r>
            <a:r>
              <a:rPr lang="en-US" altLang="zh-CN" sz="2400">
                <a:latin typeface="Verdana" panose="020B0604030504040204" pitchFamily="34" charset="0"/>
                <a:ea typeface="宋体" panose="02010600030101010101" pitchFamily="2" charset="-122"/>
              </a:rPr>
              <a:t> denote the set of machines</a:t>
            </a:r>
          </a:p>
          <a:p>
            <a:pPr eaLnBrk="1" hangingPunct="1">
              <a:lnSpc>
                <a:spcPct val="9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Let </a:t>
            </a:r>
            <a:r>
              <a:rPr lang="en-US" altLang="zh-CN" sz="2400" i="1">
                <a:latin typeface="Verdana" panose="020B0604030504040204" pitchFamily="34" charset="0"/>
                <a:ea typeface="宋体" panose="02010600030101010101" pitchFamily="2" charset="-122"/>
              </a:rPr>
              <a:t>M</a:t>
            </a:r>
            <a:r>
              <a:rPr lang="en-US" altLang="zh-CN" sz="2400" i="1" baseline="-25000">
                <a:latin typeface="Verdana" panose="020B0604030504040204" pitchFamily="34" charset="0"/>
                <a:ea typeface="宋体" panose="02010600030101010101" pitchFamily="2" charset="-122"/>
              </a:rPr>
              <a:t>0 </a:t>
            </a:r>
            <a:r>
              <a:rPr lang="en-US" altLang="zh-CN" sz="2400">
                <a:latin typeface="Verdana" panose="020B0604030504040204" pitchFamily="34" charset="0"/>
                <a:ea typeface="宋体" panose="02010600030101010101" pitchFamily="2" charset="-122"/>
                <a:sym typeface="Symbol" panose="05050102010706020507" pitchFamily="18" charset="2"/>
              </a:rPr>
              <a:t> </a:t>
            </a:r>
            <a:r>
              <a:rPr lang="en-US" altLang="zh-CN" sz="2400" i="1">
                <a:latin typeface="Verdana" panose="020B0604030504040204" pitchFamily="34" charset="0"/>
                <a:ea typeface="宋体" panose="02010600030101010101" pitchFamily="2" charset="-122"/>
              </a:rPr>
              <a:t>M</a:t>
            </a:r>
            <a:r>
              <a:rPr lang="en-US" altLang="zh-CN" sz="2400">
                <a:latin typeface="Verdana" panose="020B0604030504040204" pitchFamily="34" charset="0"/>
                <a:ea typeface="宋体" panose="02010600030101010101" pitchFamily="2" charset="-122"/>
              </a:rPr>
              <a:t> be machines for which disjunctive arcs have been selected</a:t>
            </a:r>
          </a:p>
          <a:p>
            <a:pPr eaLnBrk="1" hangingPunct="1">
              <a:lnSpc>
                <a:spcPct val="90000"/>
              </a:lnSpc>
              <a:buFont typeface="Arial" panose="020B0604020202020204" pitchFamily="34" charset="0"/>
              <a:buChar char="•"/>
            </a:pPr>
            <a:r>
              <a:rPr lang="en-US" altLang="zh-CN" sz="2400">
                <a:latin typeface="Verdana" panose="020B0604030504040204" pitchFamily="34" charset="0"/>
                <a:ea typeface="宋体" panose="02010600030101010101" pitchFamily="2" charset="-122"/>
              </a:rPr>
              <a:t>Basic idea:</a:t>
            </a:r>
          </a:p>
          <a:p>
            <a:pPr lvl="1" eaLnBrk="1" hangingPunct="1">
              <a:lnSpc>
                <a:spcPct val="90000"/>
              </a:lnSpc>
            </a:pPr>
            <a:r>
              <a:rPr kumimoji="0" lang="en-US" altLang="zh-CN" sz="2400">
                <a:ea typeface="宋体" panose="02010600030101010101" pitchFamily="2" charset="-122"/>
              </a:rPr>
              <a:t>Select a machine in </a:t>
            </a:r>
            <a:r>
              <a:rPr kumimoji="0" lang="en-US" altLang="zh-CN" sz="2400" i="1">
                <a:ea typeface="宋体" panose="02010600030101010101" pitchFamily="2" charset="-122"/>
              </a:rPr>
              <a:t>M</a:t>
            </a:r>
            <a:r>
              <a:rPr kumimoji="0" lang="en-US" altLang="zh-CN" sz="2400">
                <a:ea typeface="宋体" panose="02010600030101010101" pitchFamily="2" charset="-122"/>
              </a:rPr>
              <a:t> - </a:t>
            </a:r>
            <a:r>
              <a:rPr kumimoji="0" lang="en-US" altLang="zh-CN" sz="2400" i="1">
                <a:ea typeface="宋体" panose="02010600030101010101" pitchFamily="2" charset="-122"/>
              </a:rPr>
              <a:t>M</a:t>
            </a:r>
            <a:r>
              <a:rPr kumimoji="0" lang="en-US" altLang="zh-CN" sz="2400" i="1" baseline="-25000">
                <a:ea typeface="宋体" panose="02010600030101010101" pitchFamily="2" charset="-122"/>
              </a:rPr>
              <a:t>0</a:t>
            </a:r>
            <a:r>
              <a:rPr kumimoji="0" lang="en-US" altLang="zh-CN" sz="2400">
                <a:ea typeface="宋体" panose="02010600030101010101" pitchFamily="2" charset="-122"/>
              </a:rPr>
              <a:t> to be included in </a:t>
            </a:r>
            <a:r>
              <a:rPr kumimoji="0" lang="en-US" altLang="zh-CN" sz="2400" i="1">
                <a:ea typeface="宋体" panose="02010600030101010101" pitchFamily="2" charset="-122"/>
              </a:rPr>
              <a:t>M</a:t>
            </a:r>
            <a:r>
              <a:rPr kumimoji="0" lang="en-US" altLang="zh-CN" sz="2400" i="1" baseline="-25000">
                <a:ea typeface="宋体" panose="02010600030101010101" pitchFamily="2" charset="-122"/>
              </a:rPr>
              <a:t>0</a:t>
            </a:r>
            <a:endParaRPr kumimoji="0" lang="en-US" altLang="zh-CN" sz="2400">
              <a:ea typeface="宋体" panose="02010600030101010101" pitchFamily="2" charset="-122"/>
            </a:endParaRPr>
          </a:p>
          <a:p>
            <a:pPr lvl="1" eaLnBrk="1" hangingPunct="1">
              <a:lnSpc>
                <a:spcPct val="90000"/>
              </a:lnSpc>
            </a:pPr>
            <a:r>
              <a:rPr kumimoji="0" lang="en-US" altLang="zh-CN" sz="2400">
                <a:ea typeface="宋体" panose="02010600030101010101" pitchFamily="2" charset="-122"/>
              </a:rPr>
              <a:t>Sequence the operations on this machine</a:t>
            </a:r>
          </a:p>
        </p:txBody>
      </p:sp>
      <p:sp>
        <p:nvSpPr>
          <p:cNvPr id="13107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Example</a:t>
            </a:r>
          </a:p>
        </p:txBody>
      </p:sp>
      <p:graphicFrame>
        <p:nvGraphicFramePr>
          <p:cNvPr id="132099" name="Object 3"/>
          <p:cNvGraphicFramePr>
            <a:graphicFrameLocks noChangeAspect="1"/>
          </p:cNvGraphicFramePr>
          <p:nvPr/>
        </p:nvGraphicFramePr>
        <p:xfrm>
          <a:off x="1447800" y="1600200"/>
          <a:ext cx="7245350" cy="4057650"/>
        </p:xfrm>
        <a:graphic>
          <a:graphicData uri="http://schemas.openxmlformats.org/presentationml/2006/ole">
            <mc:AlternateContent xmlns:mc="http://schemas.openxmlformats.org/markup-compatibility/2006">
              <mc:Choice xmlns:v="urn:schemas-microsoft-com:vml" Requires="v">
                <p:oleObj spid="_x0000_s132133" name="文档" r:id="rId3" imgW="7245096" imgH="4056888" progId="Word.Document.8">
                  <p:embed/>
                </p:oleObj>
              </mc:Choice>
              <mc:Fallback>
                <p:oleObj name="文档" r:id="rId3" imgW="7245096"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600200"/>
                        <a:ext cx="7245350" cy="405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2100"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normAutofit fontScale="90000"/>
          </a:bodyPr>
          <a:lstStyle/>
          <a:p>
            <a:pPr eaLnBrk="1" hangingPunct="1">
              <a:defRPr/>
            </a:pPr>
            <a:r>
              <a:rPr kumimoji="0" lang="en-US" altLang="zh-CN" b="1">
                <a:latin typeface="Verdana" charset="0"/>
                <a:cs typeface="宋体" charset="0"/>
              </a:rPr>
              <a:t>Iteration 1</a:t>
            </a:r>
          </a:p>
        </p:txBody>
      </p:sp>
      <p:sp>
        <p:nvSpPr>
          <p:cNvPr id="133123" name="Oval 3"/>
          <p:cNvSpPr>
            <a:spLocks noChangeArrowheads="1"/>
          </p:cNvSpPr>
          <p:nvPr/>
        </p:nvSpPr>
        <p:spPr bwMode="auto">
          <a:xfrm>
            <a:off x="31242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33124" name="Oval 4"/>
          <p:cNvSpPr>
            <a:spLocks noChangeArrowheads="1"/>
          </p:cNvSpPr>
          <p:nvPr/>
        </p:nvSpPr>
        <p:spPr bwMode="auto">
          <a:xfrm>
            <a:off x="44958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33125" name="Oval 5"/>
          <p:cNvSpPr>
            <a:spLocks noChangeArrowheads="1"/>
          </p:cNvSpPr>
          <p:nvPr/>
        </p:nvSpPr>
        <p:spPr bwMode="auto">
          <a:xfrm>
            <a:off x="58674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33126" name="Oval 6"/>
          <p:cNvSpPr>
            <a:spLocks noChangeArrowheads="1"/>
          </p:cNvSpPr>
          <p:nvPr/>
        </p:nvSpPr>
        <p:spPr bwMode="auto">
          <a:xfrm>
            <a:off x="24384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33127" name="Oval 7"/>
          <p:cNvSpPr>
            <a:spLocks noChangeArrowheads="1"/>
          </p:cNvSpPr>
          <p:nvPr/>
        </p:nvSpPr>
        <p:spPr bwMode="auto">
          <a:xfrm>
            <a:off x="38100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33128" name="Oval 8"/>
          <p:cNvSpPr>
            <a:spLocks noChangeArrowheads="1"/>
          </p:cNvSpPr>
          <p:nvPr/>
        </p:nvSpPr>
        <p:spPr bwMode="auto">
          <a:xfrm>
            <a:off x="64770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33129" name="Oval 9"/>
          <p:cNvSpPr>
            <a:spLocks noChangeArrowheads="1"/>
          </p:cNvSpPr>
          <p:nvPr/>
        </p:nvSpPr>
        <p:spPr bwMode="auto">
          <a:xfrm>
            <a:off x="31242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33130" name="Oval 10"/>
          <p:cNvSpPr>
            <a:spLocks noChangeArrowheads="1"/>
          </p:cNvSpPr>
          <p:nvPr/>
        </p:nvSpPr>
        <p:spPr bwMode="auto">
          <a:xfrm>
            <a:off x="44958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33131" name="Oval 11"/>
          <p:cNvSpPr>
            <a:spLocks noChangeArrowheads="1"/>
          </p:cNvSpPr>
          <p:nvPr/>
        </p:nvSpPr>
        <p:spPr bwMode="auto">
          <a:xfrm>
            <a:off x="58674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133132" name="Line 12"/>
          <p:cNvSpPr>
            <a:spLocks noChangeShapeType="1"/>
          </p:cNvSpPr>
          <p:nvPr/>
        </p:nvSpPr>
        <p:spPr bwMode="auto">
          <a:xfrm>
            <a:off x="3962400"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33" name="Line 13"/>
          <p:cNvSpPr>
            <a:spLocks noChangeShapeType="1"/>
          </p:cNvSpPr>
          <p:nvPr/>
        </p:nvSpPr>
        <p:spPr bwMode="auto">
          <a:xfrm>
            <a:off x="5334000"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34" name="Line 14"/>
          <p:cNvSpPr>
            <a:spLocks noChangeShapeType="1"/>
          </p:cNvSpPr>
          <p:nvPr/>
        </p:nvSpPr>
        <p:spPr bwMode="auto">
          <a:xfrm>
            <a:off x="32766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35" name="Line 15"/>
          <p:cNvSpPr>
            <a:spLocks noChangeShapeType="1"/>
          </p:cNvSpPr>
          <p:nvPr/>
        </p:nvSpPr>
        <p:spPr bwMode="auto">
          <a:xfrm>
            <a:off x="3962400" y="4911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36" name="Line 16"/>
          <p:cNvSpPr>
            <a:spLocks noChangeShapeType="1"/>
          </p:cNvSpPr>
          <p:nvPr/>
        </p:nvSpPr>
        <p:spPr bwMode="auto">
          <a:xfrm>
            <a:off x="5334000" y="4911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37" name="Oval 17"/>
          <p:cNvSpPr>
            <a:spLocks noChangeArrowheads="1"/>
          </p:cNvSpPr>
          <p:nvPr/>
        </p:nvSpPr>
        <p:spPr bwMode="auto">
          <a:xfrm>
            <a:off x="77724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33138" name="Oval 18"/>
          <p:cNvSpPr>
            <a:spLocks noChangeArrowheads="1"/>
          </p:cNvSpPr>
          <p:nvPr/>
        </p:nvSpPr>
        <p:spPr bwMode="auto">
          <a:xfrm>
            <a:off x="10668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33139" name="Line 19"/>
          <p:cNvSpPr>
            <a:spLocks noChangeShapeType="1"/>
          </p:cNvSpPr>
          <p:nvPr/>
        </p:nvSpPr>
        <p:spPr bwMode="auto">
          <a:xfrm flipV="1">
            <a:off x="1905000" y="2854325"/>
            <a:ext cx="12192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0" name="Line 20"/>
          <p:cNvSpPr>
            <a:spLocks noChangeShapeType="1"/>
          </p:cNvSpPr>
          <p:nvPr/>
        </p:nvSpPr>
        <p:spPr bwMode="auto">
          <a:xfrm>
            <a:off x="1905000" y="3997325"/>
            <a:ext cx="12192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1" name="Line 21"/>
          <p:cNvSpPr>
            <a:spLocks noChangeShapeType="1"/>
          </p:cNvSpPr>
          <p:nvPr/>
        </p:nvSpPr>
        <p:spPr bwMode="auto">
          <a:xfrm>
            <a:off x="19050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2" name="Line 22"/>
          <p:cNvSpPr>
            <a:spLocks noChangeShapeType="1"/>
          </p:cNvSpPr>
          <p:nvPr/>
        </p:nvSpPr>
        <p:spPr bwMode="auto">
          <a:xfrm flipV="1">
            <a:off x="7315200" y="3844925"/>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3" name="Line 23"/>
          <p:cNvSpPr>
            <a:spLocks noChangeShapeType="1"/>
          </p:cNvSpPr>
          <p:nvPr/>
        </p:nvSpPr>
        <p:spPr bwMode="auto">
          <a:xfrm flipV="1">
            <a:off x="6705600" y="4149725"/>
            <a:ext cx="1295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4" name="Oval 24"/>
          <p:cNvSpPr>
            <a:spLocks noChangeArrowheads="1"/>
          </p:cNvSpPr>
          <p:nvPr/>
        </p:nvSpPr>
        <p:spPr bwMode="auto">
          <a:xfrm>
            <a:off x="51816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133145" name="Line 25"/>
          <p:cNvSpPr>
            <a:spLocks noChangeShapeType="1"/>
          </p:cNvSpPr>
          <p:nvPr/>
        </p:nvSpPr>
        <p:spPr bwMode="auto">
          <a:xfrm>
            <a:off x="6705600" y="2778125"/>
            <a:ext cx="1295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6" name="Line 26"/>
          <p:cNvSpPr>
            <a:spLocks noChangeShapeType="1"/>
          </p:cNvSpPr>
          <p:nvPr/>
        </p:nvSpPr>
        <p:spPr bwMode="auto">
          <a:xfrm>
            <a:off x="60198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7" name="Line 27"/>
          <p:cNvSpPr>
            <a:spLocks noChangeShapeType="1"/>
          </p:cNvSpPr>
          <p:nvPr/>
        </p:nvSpPr>
        <p:spPr bwMode="auto">
          <a:xfrm>
            <a:off x="46482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148" name="Text Box 28"/>
          <p:cNvSpPr txBox="1">
            <a:spLocks noChangeArrowheads="1"/>
          </p:cNvSpPr>
          <p:nvPr/>
        </p:nvSpPr>
        <p:spPr bwMode="auto">
          <a:xfrm>
            <a:off x="2193925" y="2895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33149" name="Text Box 29"/>
          <p:cNvSpPr txBox="1">
            <a:spLocks noChangeArrowheads="1"/>
          </p:cNvSpPr>
          <p:nvPr/>
        </p:nvSpPr>
        <p:spPr bwMode="auto">
          <a:xfrm>
            <a:off x="3946525" y="2362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dirty="0">
                <a:latin typeface="Times New Roman" panose="02020603050405020304" pitchFamily="18" charset="0"/>
                <a:ea typeface="宋体" panose="02010600030101010101" pitchFamily="2" charset="-122"/>
              </a:rPr>
              <a:t>10</a:t>
            </a:r>
          </a:p>
        </p:txBody>
      </p:sp>
      <p:sp>
        <p:nvSpPr>
          <p:cNvPr id="133150" name="Text Box 30"/>
          <p:cNvSpPr txBox="1">
            <a:spLocks noChangeArrowheads="1"/>
          </p:cNvSpPr>
          <p:nvPr/>
        </p:nvSpPr>
        <p:spPr bwMode="auto">
          <a:xfrm>
            <a:off x="5318125"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33151" name="Text Box 31"/>
          <p:cNvSpPr txBox="1">
            <a:spLocks noChangeArrowheads="1"/>
          </p:cNvSpPr>
          <p:nvPr/>
        </p:nvSpPr>
        <p:spPr bwMode="auto">
          <a:xfrm>
            <a:off x="7223125"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33152" name="Text Box 32"/>
          <p:cNvSpPr txBox="1">
            <a:spLocks noChangeArrowheads="1"/>
          </p:cNvSpPr>
          <p:nvPr/>
        </p:nvSpPr>
        <p:spPr bwMode="auto">
          <a:xfrm>
            <a:off x="32607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33153" name="Text Box 33"/>
          <p:cNvSpPr txBox="1">
            <a:spLocks noChangeArrowheads="1"/>
          </p:cNvSpPr>
          <p:nvPr/>
        </p:nvSpPr>
        <p:spPr bwMode="auto">
          <a:xfrm>
            <a:off x="47085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33154" name="Text Box 34"/>
          <p:cNvSpPr txBox="1">
            <a:spLocks noChangeArrowheads="1"/>
          </p:cNvSpPr>
          <p:nvPr/>
        </p:nvSpPr>
        <p:spPr bwMode="auto">
          <a:xfrm>
            <a:off x="60801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33155" name="Text Box 35"/>
          <p:cNvSpPr txBox="1">
            <a:spLocks noChangeArrowheads="1"/>
          </p:cNvSpPr>
          <p:nvPr/>
        </p:nvSpPr>
        <p:spPr bwMode="auto">
          <a:xfrm>
            <a:off x="72993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6</a:t>
            </a:r>
          </a:p>
        </p:txBody>
      </p:sp>
      <p:sp>
        <p:nvSpPr>
          <p:cNvPr id="133156" name="Text Box 36"/>
          <p:cNvSpPr txBox="1">
            <a:spLocks noChangeArrowheads="1"/>
          </p:cNvSpPr>
          <p:nvPr/>
        </p:nvSpPr>
        <p:spPr bwMode="auto">
          <a:xfrm>
            <a:off x="4006850" y="45307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33157" name="Text Box 37"/>
          <p:cNvSpPr txBox="1">
            <a:spLocks noChangeArrowheads="1"/>
          </p:cNvSpPr>
          <p:nvPr/>
        </p:nvSpPr>
        <p:spPr bwMode="auto">
          <a:xfrm>
            <a:off x="5394325" y="4495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7</a:t>
            </a:r>
          </a:p>
        </p:txBody>
      </p:sp>
      <p:sp>
        <p:nvSpPr>
          <p:cNvPr id="133158" name="Text Box 38"/>
          <p:cNvSpPr txBox="1">
            <a:spLocks noChangeArrowheads="1"/>
          </p:cNvSpPr>
          <p:nvPr/>
        </p:nvSpPr>
        <p:spPr bwMode="auto">
          <a:xfrm>
            <a:off x="6842125" y="434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33159" name="Text Box 39"/>
          <p:cNvSpPr txBox="1">
            <a:spLocks noChangeArrowheads="1"/>
          </p:cNvSpPr>
          <p:nvPr/>
        </p:nvSpPr>
        <p:spPr bwMode="auto">
          <a:xfrm>
            <a:off x="2651125" y="4191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33160" name="Text Box 40"/>
          <p:cNvSpPr txBox="1">
            <a:spLocks noChangeArrowheads="1"/>
          </p:cNvSpPr>
          <p:nvPr/>
        </p:nvSpPr>
        <p:spPr bwMode="auto">
          <a:xfrm>
            <a:off x="20415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graphicFrame>
        <p:nvGraphicFramePr>
          <p:cNvPr id="133161" name="Object 41"/>
          <p:cNvGraphicFramePr>
            <a:graphicFrameLocks noChangeAspect="1"/>
          </p:cNvGraphicFramePr>
          <p:nvPr/>
        </p:nvGraphicFramePr>
        <p:xfrm>
          <a:off x="1143000" y="1905000"/>
          <a:ext cx="1181100" cy="508000"/>
        </p:xfrm>
        <a:graphic>
          <a:graphicData uri="http://schemas.openxmlformats.org/presentationml/2006/ole">
            <mc:AlternateContent xmlns:mc="http://schemas.openxmlformats.org/markup-compatibility/2006">
              <mc:Choice xmlns:v="urn:schemas-microsoft-com:vml" Requires="v">
                <p:oleObj spid="_x0000_s133228" name="Equation" r:id="rId3" imgW="533169" imgH="228501" progId="Equation.3">
                  <p:embed/>
                </p:oleObj>
              </mc:Choice>
              <mc:Fallback>
                <p:oleObj name="Equation" r:id="rId3" imgW="533169" imgH="228501" progId="Equation.3">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905000"/>
                        <a:ext cx="1181100"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3162" name="Object 42"/>
          <p:cNvGraphicFramePr>
            <a:graphicFrameLocks noChangeAspect="1"/>
          </p:cNvGraphicFramePr>
          <p:nvPr/>
        </p:nvGraphicFramePr>
        <p:xfrm>
          <a:off x="6218238" y="5588000"/>
          <a:ext cx="2087562" cy="508000"/>
        </p:xfrm>
        <a:graphic>
          <a:graphicData uri="http://schemas.openxmlformats.org/presentationml/2006/ole">
            <mc:AlternateContent xmlns:mc="http://schemas.openxmlformats.org/markup-compatibility/2006">
              <mc:Choice xmlns:v="urn:schemas-microsoft-com:vml" Requires="v">
                <p:oleObj spid="_x0000_s133229" name="公式" r:id="rId5" imgW="939800" imgH="228600" progId="Equation.3">
                  <p:embed/>
                </p:oleObj>
              </mc:Choice>
              <mc:Fallback>
                <p:oleObj name="公式" r:id="rId5" imgW="939800" imgH="228600" progId="Equation.3">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8238" y="5588000"/>
                        <a:ext cx="2087562"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3163"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457200" y="0"/>
            <a:ext cx="7772400" cy="838200"/>
          </a:xfrm>
        </p:spPr>
        <p:txBody>
          <a:bodyPr/>
          <a:lstStyle/>
          <a:p>
            <a:pPr eaLnBrk="1" hangingPunct="1">
              <a:defRPr/>
            </a:pPr>
            <a:r>
              <a:rPr kumimoji="0" lang="en-US" altLang="zh-CN" b="1" dirty="0">
                <a:latin typeface="Verdana" charset="0"/>
                <a:cs typeface="宋体" charset="0"/>
              </a:rPr>
              <a:t>Selecting a Machine</a:t>
            </a:r>
          </a:p>
        </p:txBody>
      </p:sp>
      <p:graphicFrame>
        <p:nvGraphicFramePr>
          <p:cNvPr id="134147" name="Object 3"/>
          <p:cNvGraphicFramePr>
            <a:graphicFrameLocks noChangeAspect="1"/>
          </p:cNvGraphicFramePr>
          <p:nvPr>
            <p:extLst>
              <p:ext uri="{D42A27DB-BD31-4B8C-83A1-F6EECF244321}">
                <p14:modId xmlns:p14="http://schemas.microsoft.com/office/powerpoint/2010/main" val="80705336"/>
              </p:ext>
            </p:extLst>
          </p:nvPr>
        </p:nvGraphicFramePr>
        <p:xfrm>
          <a:off x="1614488" y="1941978"/>
          <a:ext cx="6234112" cy="4057650"/>
        </p:xfrm>
        <a:graphic>
          <a:graphicData uri="http://schemas.openxmlformats.org/presentationml/2006/ole">
            <mc:AlternateContent xmlns:mc="http://schemas.openxmlformats.org/markup-compatibility/2006">
              <mc:Choice xmlns:v="urn:schemas-microsoft-com:vml" Requires="v">
                <p:oleObj spid="_x0000_s134183"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4488" y="1941978"/>
                        <a:ext cx="6234112" cy="405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4148" name="Text Box 4"/>
          <p:cNvSpPr txBox="1">
            <a:spLocks noChangeArrowheads="1"/>
          </p:cNvSpPr>
          <p:nvPr/>
        </p:nvSpPr>
        <p:spPr bwMode="auto">
          <a:xfrm>
            <a:off x="903288" y="1063625"/>
            <a:ext cx="73263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Set up a nonpreemptive single machine maximum lateness</a:t>
            </a:r>
          </a:p>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problem for Machine 1:</a:t>
            </a:r>
          </a:p>
        </p:txBody>
      </p:sp>
      <p:sp>
        <p:nvSpPr>
          <p:cNvPr id="134149" name="Text Box 5"/>
          <p:cNvSpPr txBox="1">
            <a:spLocks noChangeArrowheads="1"/>
          </p:cNvSpPr>
          <p:nvPr/>
        </p:nvSpPr>
        <p:spPr bwMode="auto">
          <a:xfrm>
            <a:off x="800100" y="5870201"/>
            <a:ext cx="5402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dirty="0">
                <a:latin typeface="Times New Roman" panose="02020603050405020304" pitchFamily="18" charset="0"/>
                <a:ea typeface="宋体" panose="02010600030101010101" pitchFamily="2" charset="-122"/>
              </a:rPr>
              <a:t>Optimum sequence is 1,2,3 with </a:t>
            </a:r>
            <a:r>
              <a:rPr lang="en-US" altLang="zh-CN" sz="2400" b="0" i="1" dirty="0" err="1">
                <a:latin typeface="Times New Roman" panose="02020603050405020304" pitchFamily="18" charset="0"/>
                <a:ea typeface="宋体" panose="02010600030101010101" pitchFamily="2" charset="-122"/>
              </a:rPr>
              <a:t>L</a:t>
            </a:r>
            <a:r>
              <a:rPr lang="en-US" altLang="zh-CN" sz="2400" b="0" baseline="-25000" dirty="0" err="1">
                <a:latin typeface="Times New Roman" panose="02020603050405020304" pitchFamily="18" charset="0"/>
                <a:ea typeface="宋体" panose="02010600030101010101" pitchFamily="2" charset="-122"/>
              </a:rPr>
              <a:t>max</a:t>
            </a:r>
            <a:r>
              <a:rPr lang="en-US" altLang="zh-CN" sz="2400" b="0" dirty="0">
                <a:latin typeface="Times New Roman" panose="02020603050405020304" pitchFamily="18" charset="0"/>
                <a:ea typeface="宋体" panose="02010600030101010101" pitchFamily="2" charset="-122"/>
              </a:rPr>
              <a:t>(1)=5</a:t>
            </a:r>
          </a:p>
        </p:txBody>
      </p:sp>
      <p:sp>
        <p:nvSpPr>
          <p:cNvPr id="134150"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7" name="矩形标注 6"/>
          <p:cNvSpPr/>
          <p:nvPr/>
        </p:nvSpPr>
        <p:spPr>
          <a:xfrm>
            <a:off x="76200" y="3571688"/>
            <a:ext cx="1447800" cy="924112"/>
          </a:xfrm>
          <a:prstGeom prst="wedgeRectCallout">
            <a:avLst>
              <a:gd name="adj1" fmla="val 96316"/>
              <a:gd name="adj2" fmla="val 2569"/>
            </a:avLst>
          </a:prstGeom>
          <a:solidFill>
            <a:schemeClr val="accent6">
              <a:lumMod val="20000"/>
              <a:lumOff val="80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rPr>
              <a:t>关键路径法得到最早</a:t>
            </a:r>
            <a:endParaRPr lang="en-US" altLang="zh-CN" dirty="0">
              <a:solidFill>
                <a:srgbClr val="0000FF"/>
              </a:solidFill>
            </a:endParaRPr>
          </a:p>
          <a:p>
            <a:pPr algn="ctr"/>
            <a:r>
              <a:rPr lang="zh-CN" altLang="en-US" dirty="0">
                <a:solidFill>
                  <a:srgbClr val="0000FF"/>
                </a:solidFill>
              </a:rPr>
              <a:t>开始时间</a:t>
            </a:r>
          </a:p>
        </p:txBody>
      </p:sp>
      <p:sp>
        <p:nvSpPr>
          <p:cNvPr id="8" name="矩形标注 7"/>
          <p:cNvSpPr/>
          <p:nvPr/>
        </p:nvSpPr>
        <p:spPr>
          <a:xfrm>
            <a:off x="76200" y="4572000"/>
            <a:ext cx="1447800" cy="924112"/>
          </a:xfrm>
          <a:prstGeom prst="wedgeRectCallout">
            <a:avLst>
              <a:gd name="adj1" fmla="val 96316"/>
              <a:gd name="adj2" fmla="val 2570"/>
            </a:avLst>
          </a:prstGeom>
          <a:solidFill>
            <a:schemeClr val="accent6">
              <a:lumMod val="20000"/>
              <a:lumOff val="80000"/>
            </a:schemeClr>
          </a:solid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rPr>
              <a:t>关键路径法得到最晚</a:t>
            </a:r>
            <a:endParaRPr lang="en-US" altLang="zh-CN" dirty="0">
              <a:solidFill>
                <a:srgbClr val="0000FF"/>
              </a:solidFill>
            </a:endParaRPr>
          </a:p>
          <a:p>
            <a:pPr algn="ctr"/>
            <a:r>
              <a:rPr lang="zh-CN" altLang="en-US" dirty="0">
                <a:solidFill>
                  <a:srgbClr val="0000FF"/>
                </a:solidFill>
              </a:rPr>
              <a:t>结束时间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ChangeArrowheads="1"/>
          </p:cNvSpPr>
          <p:nvPr/>
        </p:nvSpPr>
        <p:spPr bwMode="auto">
          <a:xfrm>
            <a:off x="838200" y="228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a:solidFill>
                  <a:schemeClr val="bg1"/>
                </a:solidFill>
                <a:latin typeface="Tahoma" panose="020B0604030504040204" pitchFamily="34" charset="0"/>
                <a:ea typeface="宋体" panose="02010600030101010101" pitchFamily="2" charset="-122"/>
              </a:rPr>
              <a:t>Selecting a Machine</a:t>
            </a:r>
          </a:p>
        </p:txBody>
      </p:sp>
      <p:graphicFrame>
        <p:nvGraphicFramePr>
          <p:cNvPr id="135171" name="Object 3"/>
          <p:cNvGraphicFramePr>
            <a:graphicFrameLocks noChangeAspect="1"/>
          </p:cNvGraphicFramePr>
          <p:nvPr/>
        </p:nvGraphicFramePr>
        <p:xfrm>
          <a:off x="1611313" y="2119313"/>
          <a:ext cx="6169025" cy="4005262"/>
        </p:xfrm>
        <a:graphic>
          <a:graphicData uri="http://schemas.openxmlformats.org/presentationml/2006/ole">
            <mc:AlternateContent xmlns:mc="http://schemas.openxmlformats.org/markup-compatibility/2006">
              <mc:Choice xmlns:v="urn:schemas-microsoft-com:vml" Requires="v">
                <p:oleObj spid="_x0000_s135207" name="文档" r:id="rId3" imgW="6235700" imgH="4064000" progId="Word.Document.8">
                  <p:embed/>
                </p:oleObj>
              </mc:Choice>
              <mc:Fallback>
                <p:oleObj name="文档" r:id="rId3" imgW="6235700" imgH="4064000"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1313" y="2119313"/>
                        <a:ext cx="6169025" cy="4005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5172" name="Text Box 4"/>
          <p:cNvSpPr txBox="1">
            <a:spLocks noChangeArrowheads="1"/>
          </p:cNvSpPr>
          <p:nvPr/>
        </p:nvSpPr>
        <p:spPr bwMode="auto">
          <a:xfrm>
            <a:off x="903288" y="1295400"/>
            <a:ext cx="73263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Set up a nonpreemptive single machine maximum lateness</a:t>
            </a:r>
          </a:p>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problem for Machine 2:</a:t>
            </a:r>
          </a:p>
        </p:txBody>
      </p:sp>
      <p:sp>
        <p:nvSpPr>
          <p:cNvPr id="135173" name="Text Box 5"/>
          <p:cNvSpPr txBox="1">
            <a:spLocks noChangeArrowheads="1"/>
          </p:cNvSpPr>
          <p:nvPr/>
        </p:nvSpPr>
        <p:spPr bwMode="auto">
          <a:xfrm>
            <a:off x="914400" y="5546725"/>
            <a:ext cx="5402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Optimum sequence is 2,3,1 with </a:t>
            </a:r>
            <a:r>
              <a:rPr lang="en-US" altLang="zh-CN" sz="2400" b="0" i="1">
                <a:latin typeface="Times New Roman" panose="02020603050405020304" pitchFamily="18" charset="0"/>
                <a:ea typeface="宋体" panose="02010600030101010101" pitchFamily="2" charset="-122"/>
              </a:rPr>
              <a:t>L</a:t>
            </a:r>
            <a:r>
              <a:rPr lang="en-US" altLang="zh-CN" sz="2400" b="0" baseline="-25000">
                <a:latin typeface="Times New Roman" panose="02020603050405020304" pitchFamily="18" charset="0"/>
                <a:ea typeface="宋体" panose="02010600030101010101" pitchFamily="2" charset="-122"/>
              </a:rPr>
              <a:t>max</a:t>
            </a:r>
            <a:r>
              <a:rPr lang="en-US" altLang="zh-CN" sz="2400" b="0">
                <a:latin typeface="Times New Roman" panose="02020603050405020304" pitchFamily="18" charset="0"/>
                <a:ea typeface="宋体" panose="02010600030101010101" pitchFamily="2" charset="-122"/>
              </a:rPr>
              <a:t>(2)=5</a:t>
            </a:r>
          </a:p>
        </p:txBody>
      </p:sp>
      <p:sp>
        <p:nvSpPr>
          <p:cNvPr id="135174"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Selecting a Machine</a:t>
            </a:r>
          </a:p>
        </p:txBody>
      </p:sp>
      <p:sp>
        <p:nvSpPr>
          <p:cNvPr id="136195" name="Rectangle 3"/>
          <p:cNvSpPr>
            <a:spLocks noGrp="1" noChangeArrowheads="1"/>
          </p:cNvSpPr>
          <p:nvPr>
            <p:ph type="body" idx="1"/>
          </p:nvPr>
        </p:nvSpPr>
        <p:spPr/>
        <p:txBody>
          <a:bodyPr/>
          <a:lstStyle/>
          <a:p>
            <a:pPr marL="0" indent="0" eaLnBrk="1" hangingPunct="1"/>
            <a:r>
              <a:rPr lang="en-US" altLang="zh-CN">
                <a:latin typeface="Verdana" panose="020B0604030504040204" pitchFamily="34" charset="0"/>
                <a:ea typeface="宋体" panose="02010600030101010101" pitchFamily="2" charset="-122"/>
              </a:rPr>
              <a:t>Similarly,</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sym typeface="Symbol" panose="05050102010706020507" pitchFamily="18" charset="2"/>
              </a:rPr>
              <a:t>	</a:t>
            </a:r>
            <a:r>
              <a:rPr lang="en-US" altLang="zh-CN">
                <a:latin typeface="Verdana" panose="020B0604030504040204" pitchFamily="34" charset="0"/>
                <a:ea typeface="宋体" panose="02010600030101010101" pitchFamily="2" charset="-122"/>
              </a:rPr>
              <a:t>Either Machine 1 or Machine 2 is the bottleneck</a:t>
            </a:r>
          </a:p>
        </p:txBody>
      </p:sp>
      <p:graphicFrame>
        <p:nvGraphicFramePr>
          <p:cNvPr id="136196" name="Object 4"/>
          <p:cNvGraphicFramePr>
            <a:graphicFrameLocks noChangeAspect="1"/>
          </p:cNvGraphicFramePr>
          <p:nvPr/>
        </p:nvGraphicFramePr>
        <p:xfrm>
          <a:off x="3810000" y="1143000"/>
          <a:ext cx="1579563" cy="1524000"/>
        </p:xfrm>
        <a:graphic>
          <a:graphicData uri="http://schemas.openxmlformats.org/presentationml/2006/ole">
            <mc:AlternateContent xmlns:mc="http://schemas.openxmlformats.org/markup-compatibility/2006">
              <mc:Choice xmlns:v="urn:schemas-microsoft-com:vml" Requires="v">
                <p:oleObj spid="_x0000_s136230" name="公式" r:id="rId3" imgW="711200" imgH="685800" progId="Equation.3">
                  <p:embed/>
                </p:oleObj>
              </mc:Choice>
              <mc:Fallback>
                <p:oleObj name="公式" r:id="rId3" imgW="711200" imgH="685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1143000"/>
                        <a:ext cx="1579563"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619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ChangeArrowheads="1"/>
          </p:cNvSpPr>
          <p:nvPr/>
        </p:nvSpPr>
        <p:spPr bwMode="auto">
          <a:xfrm>
            <a:off x="838200" y="3048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a:solidFill>
                  <a:schemeClr val="bg1"/>
                </a:solidFill>
                <a:latin typeface="Tahoma" panose="020B0604030504040204" pitchFamily="34" charset="0"/>
                <a:ea typeface="宋体" panose="02010600030101010101" pitchFamily="2" charset="-122"/>
              </a:rPr>
              <a:t>Iteration 2</a:t>
            </a:r>
          </a:p>
        </p:txBody>
      </p:sp>
      <p:sp>
        <p:nvSpPr>
          <p:cNvPr id="137219" name="Oval 3"/>
          <p:cNvSpPr>
            <a:spLocks noChangeArrowheads="1"/>
          </p:cNvSpPr>
          <p:nvPr/>
        </p:nvSpPr>
        <p:spPr bwMode="auto">
          <a:xfrm>
            <a:off x="31242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37220" name="Oval 4"/>
          <p:cNvSpPr>
            <a:spLocks noChangeArrowheads="1"/>
          </p:cNvSpPr>
          <p:nvPr/>
        </p:nvSpPr>
        <p:spPr bwMode="auto">
          <a:xfrm>
            <a:off x="44958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37221" name="Oval 5"/>
          <p:cNvSpPr>
            <a:spLocks noChangeArrowheads="1"/>
          </p:cNvSpPr>
          <p:nvPr/>
        </p:nvSpPr>
        <p:spPr bwMode="auto">
          <a:xfrm>
            <a:off x="58674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37222" name="Oval 6"/>
          <p:cNvSpPr>
            <a:spLocks noChangeArrowheads="1"/>
          </p:cNvSpPr>
          <p:nvPr/>
        </p:nvSpPr>
        <p:spPr bwMode="auto">
          <a:xfrm>
            <a:off x="24384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37223" name="Oval 7"/>
          <p:cNvSpPr>
            <a:spLocks noChangeArrowheads="1"/>
          </p:cNvSpPr>
          <p:nvPr/>
        </p:nvSpPr>
        <p:spPr bwMode="auto">
          <a:xfrm>
            <a:off x="38100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37224" name="Oval 8"/>
          <p:cNvSpPr>
            <a:spLocks noChangeArrowheads="1"/>
          </p:cNvSpPr>
          <p:nvPr/>
        </p:nvSpPr>
        <p:spPr bwMode="auto">
          <a:xfrm>
            <a:off x="64770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37225" name="Oval 9"/>
          <p:cNvSpPr>
            <a:spLocks noChangeArrowheads="1"/>
          </p:cNvSpPr>
          <p:nvPr/>
        </p:nvSpPr>
        <p:spPr bwMode="auto">
          <a:xfrm>
            <a:off x="31242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37226" name="Oval 10"/>
          <p:cNvSpPr>
            <a:spLocks noChangeArrowheads="1"/>
          </p:cNvSpPr>
          <p:nvPr/>
        </p:nvSpPr>
        <p:spPr bwMode="auto">
          <a:xfrm>
            <a:off x="44958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37227" name="Oval 11"/>
          <p:cNvSpPr>
            <a:spLocks noChangeArrowheads="1"/>
          </p:cNvSpPr>
          <p:nvPr/>
        </p:nvSpPr>
        <p:spPr bwMode="auto">
          <a:xfrm>
            <a:off x="58674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137228" name="Line 12"/>
          <p:cNvSpPr>
            <a:spLocks noChangeShapeType="1"/>
          </p:cNvSpPr>
          <p:nvPr/>
        </p:nvSpPr>
        <p:spPr bwMode="auto">
          <a:xfrm>
            <a:off x="3962400"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29" name="Line 13"/>
          <p:cNvSpPr>
            <a:spLocks noChangeShapeType="1"/>
          </p:cNvSpPr>
          <p:nvPr/>
        </p:nvSpPr>
        <p:spPr bwMode="auto">
          <a:xfrm>
            <a:off x="5334000"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0" name="Line 14"/>
          <p:cNvSpPr>
            <a:spLocks noChangeShapeType="1"/>
          </p:cNvSpPr>
          <p:nvPr/>
        </p:nvSpPr>
        <p:spPr bwMode="auto">
          <a:xfrm>
            <a:off x="32766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1" name="Line 15"/>
          <p:cNvSpPr>
            <a:spLocks noChangeShapeType="1"/>
          </p:cNvSpPr>
          <p:nvPr/>
        </p:nvSpPr>
        <p:spPr bwMode="auto">
          <a:xfrm>
            <a:off x="3962400" y="4911725"/>
            <a:ext cx="53340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2" name="Line 16"/>
          <p:cNvSpPr>
            <a:spLocks noChangeShapeType="1"/>
          </p:cNvSpPr>
          <p:nvPr/>
        </p:nvSpPr>
        <p:spPr bwMode="auto">
          <a:xfrm>
            <a:off x="5334000" y="4911725"/>
            <a:ext cx="53340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3" name="Oval 17"/>
          <p:cNvSpPr>
            <a:spLocks noChangeArrowheads="1"/>
          </p:cNvSpPr>
          <p:nvPr/>
        </p:nvSpPr>
        <p:spPr bwMode="auto">
          <a:xfrm>
            <a:off x="77724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37234" name="Oval 18"/>
          <p:cNvSpPr>
            <a:spLocks noChangeArrowheads="1"/>
          </p:cNvSpPr>
          <p:nvPr/>
        </p:nvSpPr>
        <p:spPr bwMode="auto">
          <a:xfrm>
            <a:off x="10668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37235" name="Line 19"/>
          <p:cNvSpPr>
            <a:spLocks noChangeShapeType="1"/>
          </p:cNvSpPr>
          <p:nvPr/>
        </p:nvSpPr>
        <p:spPr bwMode="auto">
          <a:xfrm flipV="1">
            <a:off x="1905000" y="2854325"/>
            <a:ext cx="1219200" cy="8382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6" name="Line 20"/>
          <p:cNvSpPr>
            <a:spLocks noChangeShapeType="1"/>
          </p:cNvSpPr>
          <p:nvPr/>
        </p:nvSpPr>
        <p:spPr bwMode="auto">
          <a:xfrm>
            <a:off x="1905000" y="3997325"/>
            <a:ext cx="12192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7" name="Line 21"/>
          <p:cNvSpPr>
            <a:spLocks noChangeShapeType="1"/>
          </p:cNvSpPr>
          <p:nvPr/>
        </p:nvSpPr>
        <p:spPr bwMode="auto">
          <a:xfrm>
            <a:off x="19050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8" name="Line 22"/>
          <p:cNvSpPr>
            <a:spLocks noChangeShapeType="1"/>
          </p:cNvSpPr>
          <p:nvPr/>
        </p:nvSpPr>
        <p:spPr bwMode="auto">
          <a:xfrm flipV="1">
            <a:off x="7315200" y="3844925"/>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39" name="Line 23"/>
          <p:cNvSpPr>
            <a:spLocks noChangeShapeType="1"/>
          </p:cNvSpPr>
          <p:nvPr/>
        </p:nvSpPr>
        <p:spPr bwMode="auto">
          <a:xfrm flipV="1">
            <a:off x="6705600" y="4149725"/>
            <a:ext cx="1295400" cy="7620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0" name="Oval 24"/>
          <p:cNvSpPr>
            <a:spLocks noChangeArrowheads="1"/>
          </p:cNvSpPr>
          <p:nvPr/>
        </p:nvSpPr>
        <p:spPr bwMode="auto">
          <a:xfrm>
            <a:off x="51816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137241" name="Line 25"/>
          <p:cNvSpPr>
            <a:spLocks noChangeShapeType="1"/>
          </p:cNvSpPr>
          <p:nvPr/>
        </p:nvSpPr>
        <p:spPr bwMode="auto">
          <a:xfrm>
            <a:off x="6705600" y="2778125"/>
            <a:ext cx="1295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2" name="Line 26"/>
          <p:cNvSpPr>
            <a:spLocks noChangeShapeType="1"/>
          </p:cNvSpPr>
          <p:nvPr/>
        </p:nvSpPr>
        <p:spPr bwMode="auto">
          <a:xfrm>
            <a:off x="60198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3" name="Line 27"/>
          <p:cNvSpPr>
            <a:spLocks noChangeShapeType="1"/>
          </p:cNvSpPr>
          <p:nvPr/>
        </p:nvSpPr>
        <p:spPr bwMode="auto">
          <a:xfrm>
            <a:off x="46482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44" name="Text Box 28"/>
          <p:cNvSpPr txBox="1">
            <a:spLocks noChangeArrowheads="1"/>
          </p:cNvSpPr>
          <p:nvPr/>
        </p:nvSpPr>
        <p:spPr bwMode="auto">
          <a:xfrm>
            <a:off x="2193925" y="2895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37245" name="Text Box 29"/>
          <p:cNvSpPr txBox="1">
            <a:spLocks noChangeArrowheads="1"/>
          </p:cNvSpPr>
          <p:nvPr/>
        </p:nvSpPr>
        <p:spPr bwMode="auto">
          <a:xfrm>
            <a:off x="3946525" y="2362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37246" name="Text Box 30"/>
          <p:cNvSpPr txBox="1">
            <a:spLocks noChangeArrowheads="1"/>
          </p:cNvSpPr>
          <p:nvPr/>
        </p:nvSpPr>
        <p:spPr bwMode="auto">
          <a:xfrm>
            <a:off x="5318125"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37247" name="Text Box 31"/>
          <p:cNvSpPr txBox="1">
            <a:spLocks noChangeArrowheads="1"/>
          </p:cNvSpPr>
          <p:nvPr/>
        </p:nvSpPr>
        <p:spPr bwMode="auto">
          <a:xfrm>
            <a:off x="7223125"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37248" name="Text Box 32"/>
          <p:cNvSpPr txBox="1">
            <a:spLocks noChangeArrowheads="1"/>
          </p:cNvSpPr>
          <p:nvPr/>
        </p:nvSpPr>
        <p:spPr bwMode="auto">
          <a:xfrm>
            <a:off x="32607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37249" name="Text Box 33"/>
          <p:cNvSpPr txBox="1">
            <a:spLocks noChangeArrowheads="1"/>
          </p:cNvSpPr>
          <p:nvPr/>
        </p:nvSpPr>
        <p:spPr bwMode="auto">
          <a:xfrm>
            <a:off x="47085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37250" name="Text Box 34"/>
          <p:cNvSpPr txBox="1">
            <a:spLocks noChangeArrowheads="1"/>
          </p:cNvSpPr>
          <p:nvPr/>
        </p:nvSpPr>
        <p:spPr bwMode="auto">
          <a:xfrm>
            <a:off x="60801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37251" name="Text Box 35"/>
          <p:cNvSpPr txBox="1">
            <a:spLocks noChangeArrowheads="1"/>
          </p:cNvSpPr>
          <p:nvPr/>
        </p:nvSpPr>
        <p:spPr bwMode="auto">
          <a:xfrm>
            <a:off x="72993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6</a:t>
            </a:r>
          </a:p>
        </p:txBody>
      </p:sp>
      <p:sp>
        <p:nvSpPr>
          <p:cNvPr id="137252" name="Text Box 36"/>
          <p:cNvSpPr txBox="1">
            <a:spLocks noChangeArrowheads="1"/>
          </p:cNvSpPr>
          <p:nvPr/>
        </p:nvSpPr>
        <p:spPr bwMode="auto">
          <a:xfrm>
            <a:off x="4006850" y="45307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37253" name="Text Box 37"/>
          <p:cNvSpPr txBox="1">
            <a:spLocks noChangeArrowheads="1"/>
          </p:cNvSpPr>
          <p:nvPr/>
        </p:nvSpPr>
        <p:spPr bwMode="auto">
          <a:xfrm>
            <a:off x="5394325" y="4495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7</a:t>
            </a:r>
          </a:p>
        </p:txBody>
      </p:sp>
      <p:sp>
        <p:nvSpPr>
          <p:cNvPr id="137254" name="Text Box 38"/>
          <p:cNvSpPr txBox="1">
            <a:spLocks noChangeArrowheads="1"/>
          </p:cNvSpPr>
          <p:nvPr/>
        </p:nvSpPr>
        <p:spPr bwMode="auto">
          <a:xfrm>
            <a:off x="6842125" y="434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37255" name="Text Box 39"/>
          <p:cNvSpPr txBox="1">
            <a:spLocks noChangeArrowheads="1"/>
          </p:cNvSpPr>
          <p:nvPr/>
        </p:nvSpPr>
        <p:spPr bwMode="auto">
          <a:xfrm>
            <a:off x="2651125" y="4191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37256" name="Text Box 40"/>
          <p:cNvSpPr txBox="1">
            <a:spLocks noChangeArrowheads="1"/>
          </p:cNvSpPr>
          <p:nvPr/>
        </p:nvSpPr>
        <p:spPr bwMode="auto">
          <a:xfrm>
            <a:off x="20415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graphicFrame>
        <p:nvGraphicFramePr>
          <p:cNvPr id="137257" name="Object 41"/>
          <p:cNvGraphicFramePr>
            <a:graphicFrameLocks noChangeAspect="1"/>
          </p:cNvGraphicFramePr>
          <p:nvPr/>
        </p:nvGraphicFramePr>
        <p:xfrm>
          <a:off x="1114425" y="1905000"/>
          <a:ext cx="1239838" cy="508000"/>
        </p:xfrm>
        <a:graphic>
          <a:graphicData uri="http://schemas.openxmlformats.org/presentationml/2006/ole">
            <mc:AlternateContent xmlns:mc="http://schemas.openxmlformats.org/markup-compatibility/2006">
              <mc:Choice xmlns:v="urn:schemas-microsoft-com:vml" Requires="v">
                <p:oleObj spid="_x0000_s137328" name="Equation" r:id="rId3" imgW="558800" imgH="228600" progId="Equation.3">
                  <p:embed/>
                </p:oleObj>
              </mc:Choice>
              <mc:Fallback>
                <p:oleObj name="Equation" r:id="rId3" imgW="558800" imgH="228600" progId="Equation.3">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425" y="1905000"/>
                        <a:ext cx="1239838"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7258" name="Object 42"/>
          <p:cNvGraphicFramePr>
            <a:graphicFrameLocks noChangeAspect="1"/>
          </p:cNvGraphicFramePr>
          <p:nvPr/>
        </p:nvGraphicFramePr>
        <p:xfrm>
          <a:off x="2543175" y="5588000"/>
          <a:ext cx="5838825" cy="508000"/>
        </p:xfrm>
        <a:graphic>
          <a:graphicData uri="http://schemas.openxmlformats.org/presentationml/2006/ole">
            <mc:AlternateContent xmlns:mc="http://schemas.openxmlformats.org/markup-compatibility/2006">
              <mc:Choice xmlns:v="urn:schemas-microsoft-com:vml" Requires="v">
                <p:oleObj spid="_x0000_s137329" name="公式" r:id="rId5" imgW="2628900" imgH="228600" progId="Equation.3">
                  <p:embed/>
                </p:oleObj>
              </mc:Choice>
              <mc:Fallback>
                <p:oleObj name="公式" r:id="rId5" imgW="2628900" imgH="228600" progId="Equation.3">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3175" y="5588000"/>
                        <a:ext cx="583882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7259" name="Line 43"/>
          <p:cNvSpPr>
            <a:spLocks noChangeShapeType="1"/>
          </p:cNvSpPr>
          <p:nvPr/>
        </p:nvSpPr>
        <p:spPr bwMode="auto">
          <a:xfrm>
            <a:off x="3810000" y="3048000"/>
            <a:ext cx="381000" cy="4572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0" name="Line 44"/>
          <p:cNvSpPr>
            <a:spLocks noChangeShapeType="1"/>
          </p:cNvSpPr>
          <p:nvPr/>
        </p:nvSpPr>
        <p:spPr bwMode="auto">
          <a:xfrm flipH="1">
            <a:off x="3733800" y="4191000"/>
            <a:ext cx="304800" cy="4572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7261" name="Text Box 45"/>
          <p:cNvSpPr txBox="1">
            <a:spLocks noChangeArrowheads="1"/>
          </p:cNvSpPr>
          <p:nvPr/>
        </p:nvSpPr>
        <p:spPr bwMode="auto">
          <a:xfrm>
            <a:off x="3886200" y="28956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37262" name="Text Box 46"/>
          <p:cNvSpPr txBox="1">
            <a:spLocks noChangeArrowheads="1"/>
          </p:cNvSpPr>
          <p:nvPr/>
        </p:nvSpPr>
        <p:spPr bwMode="auto">
          <a:xfrm>
            <a:off x="3886200" y="4191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37263"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ChangeArrowheads="1"/>
          </p:cNvSpPr>
          <p:nvPr/>
        </p:nvSpPr>
        <p:spPr bwMode="auto">
          <a:xfrm>
            <a:off x="914400" y="228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a:solidFill>
                  <a:schemeClr val="bg1"/>
                </a:solidFill>
                <a:latin typeface="Tahoma" panose="020B0604030504040204" pitchFamily="34" charset="0"/>
                <a:ea typeface="宋体" panose="02010600030101010101" pitchFamily="2" charset="-122"/>
              </a:rPr>
              <a:t>Selecting a Machine</a:t>
            </a:r>
          </a:p>
        </p:txBody>
      </p:sp>
      <p:graphicFrame>
        <p:nvGraphicFramePr>
          <p:cNvPr id="138243" name="Object 3"/>
          <p:cNvGraphicFramePr>
            <a:graphicFrameLocks noChangeAspect="1"/>
          </p:cNvGraphicFramePr>
          <p:nvPr/>
        </p:nvGraphicFramePr>
        <p:xfrm>
          <a:off x="1771650" y="2270125"/>
          <a:ext cx="6232525" cy="4054475"/>
        </p:xfrm>
        <a:graphic>
          <a:graphicData uri="http://schemas.openxmlformats.org/presentationml/2006/ole">
            <mc:AlternateContent xmlns:mc="http://schemas.openxmlformats.org/markup-compatibility/2006">
              <mc:Choice xmlns:v="urn:schemas-microsoft-com:vml" Requires="v">
                <p:oleObj spid="_x0000_s138279"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0" y="2270125"/>
                        <a:ext cx="6232525"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8244" name="Text Box 4"/>
          <p:cNvSpPr txBox="1">
            <a:spLocks noChangeArrowheads="1"/>
          </p:cNvSpPr>
          <p:nvPr/>
        </p:nvSpPr>
        <p:spPr bwMode="auto">
          <a:xfrm>
            <a:off x="1055688" y="1447800"/>
            <a:ext cx="73263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Set up a nonpreemptive single machine maximum lateness</a:t>
            </a:r>
          </a:p>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problem for Machine 2:</a:t>
            </a:r>
          </a:p>
        </p:txBody>
      </p:sp>
      <p:sp>
        <p:nvSpPr>
          <p:cNvPr id="138245" name="Text Box 5"/>
          <p:cNvSpPr txBox="1">
            <a:spLocks noChangeArrowheads="1"/>
          </p:cNvSpPr>
          <p:nvPr/>
        </p:nvSpPr>
        <p:spPr bwMode="auto">
          <a:xfrm>
            <a:off x="1066800" y="5699125"/>
            <a:ext cx="5402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Optimum sequence is 2,1,3 with </a:t>
            </a:r>
            <a:r>
              <a:rPr lang="en-US" altLang="zh-CN" sz="2400" b="0" i="1">
                <a:latin typeface="Times New Roman" panose="02020603050405020304" pitchFamily="18" charset="0"/>
                <a:ea typeface="宋体" panose="02010600030101010101" pitchFamily="2" charset="-122"/>
              </a:rPr>
              <a:t>L</a:t>
            </a:r>
            <a:r>
              <a:rPr lang="en-US" altLang="zh-CN" sz="2400" b="0" baseline="-25000">
                <a:latin typeface="Times New Roman" panose="02020603050405020304" pitchFamily="18" charset="0"/>
                <a:ea typeface="宋体" panose="02010600030101010101" pitchFamily="2" charset="-122"/>
              </a:rPr>
              <a:t>max</a:t>
            </a:r>
            <a:r>
              <a:rPr lang="en-US" altLang="zh-CN" sz="2400" b="0">
                <a:latin typeface="Times New Roman" panose="02020603050405020304" pitchFamily="18" charset="0"/>
                <a:ea typeface="宋体" panose="02010600030101010101" pitchFamily="2" charset="-122"/>
              </a:rPr>
              <a:t>(2)=1</a:t>
            </a:r>
          </a:p>
        </p:txBody>
      </p:sp>
      <p:sp>
        <p:nvSpPr>
          <p:cNvPr id="138246"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ChangeArrowheads="1"/>
          </p:cNvSpPr>
          <p:nvPr/>
        </p:nvSpPr>
        <p:spPr bwMode="auto">
          <a:xfrm>
            <a:off x="838200" y="1524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a:solidFill>
                  <a:schemeClr val="bg1"/>
                </a:solidFill>
                <a:latin typeface="Tahoma" panose="020B0604030504040204" pitchFamily="34" charset="0"/>
                <a:ea typeface="宋体" panose="02010600030101010101" pitchFamily="2" charset="-122"/>
              </a:rPr>
              <a:t>Selecting a Machine</a:t>
            </a:r>
          </a:p>
        </p:txBody>
      </p:sp>
      <p:sp>
        <p:nvSpPr>
          <p:cNvPr id="139267" name="Rectangle 3"/>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3200" b="0">
                <a:latin typeface="Times New Roman" panose="02020603050405020304" pitchFamily="18" charset="0"/>
                <a:ea typeface="宋体" panose="02010600030101010101" pitchFamily="2" charset="-122"/>
              </a:rPr>
              <a:t>Similarly,</a:t>
            </a:r>
          </a:p>
          <a:p>
            <a:pPr>
              <a:spcBef>
                <a:spcPct val="0"/>
              </a:spcBef>
              <a:spcAft>
                <a:spcPct val="0"/>
              </a:spcAft>
              <a:buFontTx/>
              <a:buNone/>
            </a:pPr>
            <a:endParaRPr lang="en-US" altLang="zh-CN" sz="3200" b="0">
              <a:latin typeface="Times New Roman" panose="02020603050405020304" pitchFamily="18" charset="0"/>
              <a:ea typeface="宋体" panose="02010600030101010101" pitchFamily="2" charset="-122"/>
            </a:endParaRPr>
          </a:p>
          <a:p>
            <a:pPr>
              <a:spcBef>
                <a:spcPct val="0"/>
              </a:spcBef>
              <a:spcAft>
                <a:spcPct val="0"/>
              </a:spcAft>
              <a:buFontTx/>
              <a:buNone/>
            </a:pPr>
            <a:endParaRPr lang="en-US" altLang="zh-CN" sz="3200" b="0">
              <a:latin typeface="Times New Roman" panose="02020603050405020304" pitchFamily="18" charset="0"/>
              <a:ea typeface="宋体" panose="02010600030101010101" pitchFamily="2" charset="-122"/>
            </a:endParaRPr>
          </a:p>
          <a:p>
            <a:pPr>
              <a:spcBef>
                <a:spcPct val="0"/>
              </a:spcBef>
              <a:spcAft>
                <a:spcPct val="0"/>
              </a:spcAft>
              <a:buFontTx/>
              <a:buNone/>
            </a:pPr>
            <a:endParaRPr lang="en-US" altLang="zh-CN" sz="3200" b="0">
              <a:latin typeface="Times New Roman" panose="02020603050405020304" pitchFamily="18" charset="0"/>
              <a:ea typeface="宋体" panose="02010600030101010101" pitchFamily="2" charset="-122"/>
              <a:sym typeface="Symbol" panose="05050102010706020507" pitchFamily="18" charset="2"/>
            </a:endParaRPr>
          </a:p>
          <a:p>
            <a:pPr>
              <a:spcBef>
                <a:spcPct val="0"/>
              </a:spcBef>
              <a:spcAft>
                <a:spcPct val="0"/>
              </a:spcAft>
              <a:buFontTx/>
              <a:buNone/>
            </a:pPr>
            <a:endParaRPr lang="en-US" altLang="zh-CN" sz="3200" b="0">
              <a:latin typeface="Times New Roman" panose="02020603050405020304" pitchFamily="18" charset="0"/>
              <a:ea typeface="宋体" panose="02010600030101010101" pitchFamily="2" charset="-122"/>
              <a:sym typeface="Symbol" panose="05050102010706020507" pitchFamily="18" charset="2"/>
            </a:endParaRPr>
          </a:p>
          <a:p>
            <a:pPr>
              <a:spcBef>
                <a:spcPct val="0"/>
              </a:spcBef>
              <a:spcAft>
                <a:spcPct val="0"/>
              </a:spcAft>
              <a:buFontTx/>
              <a:buNone/>
            </a:pPr>
            <a:r>
              <a:rPr lang="en-US" altLang="zh-CN" sz="3200" b="0">
                <a:latin typeface="Times New Roman" panose="02020603050405020304" pitchFamily="18" charset="0"/>
                <a:ea typeface="宋体" panose="02010600030101010101" pitchFamily="2" charset="-122"/>
                <a:sym typeface="Symbol" panose="05050102010706020507" pitchFamily="18" charset="2"/>
              </a:rPr>
              <a:t>	</a:t>
            </a:r>
            <a:r>
              <a:rPr lang="en-US" altLang="zh-CN" sz="3200" b="0">
                <a:latin typeface="Times New Roman" panose="02020603050405020304" pitchFamily="18" charset="0"/>
                <a:ea typeface="宋体" panose="02010600030101010101" pitchFamily="2" charset="-122"/>
              </a:rPr>
              <a:t>Either Machine 2 or Machine 3 is the 		bottleneck</a:t>
            </a:r>
            <a:endParaRPr lang="en-US" altLang="zh-CN" sz="2800" b="0">
              <a:latin typeface="Times New Roman" panose="02020603050405020304" pitchFamily="18" charset="0"/>
              <a:ea typeface="宋体" panose="02010600030101010101" pitchFamily="2" charset="-122"/>
            </a:endParaRPr>
          </a:p>
        </p:txBody>
      </p:sp>
      <p:graphicFrame>
        <p:nvGraphicFramePr>
          <p:cNvPr id="139268" name="Object 4"/>
          <p:cNvGraphicFramePr>
            <a:graphicFrameLocks noChangeAspect="1"/>
          </p:cNvGraphicFramePr>
          <p:nvPr/>
        </p:nvGraphicFramePr>
        <p:xfrm>
          <a:off x="3810000" y="2514600"/>
          <a:ext cx="1579563" cy="1524000"/>
        </p:xfrm>
        <a:graphic>
          <a:graphicData uri="http://schemas.openxmlformats.org/presentationml/2006/ole">
            <mc:AlternateContent xmlns:mc="http://schemas.openxmlformats.org/markup-compatibility/2006">
              <mc:Choice xmlns:v="urn:schemas-microsoft-com:vml" Requires="v">
                <p:oleObj spid="_x0000_s139302" name="公式" r:id="rId3" imgW="711200" imgH="685800" progId="Equation.3">
                  <p:embed/>
                </p:oleObj>
              </mc:Choice>
              <mc:Fallback>
                <p:oleObj name="公式" r:id="rId3" imgW="711200" imgH="685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2514600"/>
                        <a:ext cx="1579563"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39269"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ChangeArrowheads="1"/>
          </p:cNvSpPr>
          <p:nvPr/>
        </p:nvSpPr>
        <p:spPr bwMode="auto">
          <a:xfrm>
            <a:off x="838200" y="1524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a:solidFill>
                  <a:schemeClr val="bg1"/>
                </a:solidFill>
                <a:latin typeface="Tahoma" panose="020B0604030504040204" pitchFamily="34" charset="0"/>
                <a:ea typeface="宋体" panose="02010600030101010101" pitchFamily="2" charset="-122"/>
              </a:rPr>
              <a:t>Iteration 3</a:t>
            </a:r>
          </a:p>
        </p:txBody>
      </p:sp>
      <p:sp>
        <p:nvSpPr>
          <p:cNvPr id="140291" name="Oval 3"/>
          <p:cNvSpPr>
            <a:spLocks noChangeArrowheads="1"/>
          </p:cNvSpPr>
          <p:nvPr/>
        </p:nvSpPr>
        <p:spPr bwMode="auto">
          <a:xfrm>
            <a:off x="31242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40292" name="Oval 4"/>
          <p:cNvSpPr>
            <a:spLocks noChangeArrowheads="1"/>
          </p:cNvSpPr>
          <p:nvPr/>
        </p:nvSpPr>
        <p:spPr bwMode="auto">
          <a:xfrm>
            <a:off x="44958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40293" name="Oval 5"/>
          <p:cNvSpPr>
            <a:spLocks noChangeArrowheads="1"/>
          </p:cNvSpPr>
          <p:nvPr/>
        </p:nvSpPr>
        <p:spPr bwMode="auto">
          <a:xfrm>
            <a:off x="58674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40294" name="Oval 6"/>
          <p:cNvSpPr>
            <a:spLocks noChangeArrowheads="1"/>
          </p:cNvSpPr>
          <p:nvPr/>
        </p:nvSpPr>
        <p:spPr bwMode="auto">
          <a:xfrm>
            <a:off x="24384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40295" name="Oval 7"/>
          <p:cNvSpPr>
            <a:spLocks noChangeArrowheads="1"/>
          </p:cNvSpPr>
          <p:nvPr/>
        </p:nvSpPr>
        <p:spPr bwMode="auto">
          <a:xfrm>
            <a:off x="38100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40296" name="Oval 8"/>
          <p:cNvSpPr>
            <a:spLocks noChangeArrowheads="1"/>
          </p:cNvSpPr>
          <p:nvPr/>
        </p:nvSpPr>
        <p:spPr bwMode="auto">
          <a:xfrm>
            <a:off x="64770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40297" name="Oval 9"/>
          <p:cNvSpPr>
            <a:spLocks noChangeArrowheads="1"/>
          </p:cNvSpPr>
          <p:nvPr/>
        </p:nvSpPr>
        <p:spPr bwMode="auto">
          <a:xfrm>
            <a:off x="31242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40298" name="Oval 10"/>
          <p:cNvSpPr>
            <a:spLocks noChangeArrowheads="1"/>
          </p:cNvSpPr>
          <p:nvPr/>
        </p:nvSpPr>
        <p:spPr bwMode="auto">
          <a:xfrm>
            <a:off x="44958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40299" name="Oval 11"/>
          <p:cNvSpPr>
            <a:spLocks noChangeArrowheads="1"/>
          </p:cNvSpPr>
          <p:nvPr/>
        </p:nvSpPr>
        <p:spPr bwMode="auto">
          <a:xfrm>
            <a:off x="5867400" y="4530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(4,3)</a:t>
            </a:r>
          </a:p>
        </p:txBody>
      </p:sp>
      <p:sp>
        <p:nvSpPr>
          <p:cNvPr id="140300" name="Line 12"/>
          <p:cNvSpPr>
            <a:spLocks noChangeShapeType="1"/>
          </p:cNvSpPr>
          <p:nvPr/>
        </p:nvSpPr>
        <p:spPr bwMode="auto">
          <a:xfrm>
            <a:off x="3962400" y="2778125"/>
            <a:ext cx="53340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01" name="Line 13"/>
          <p:cNvSpPr>
            <a:spLocks noChangeShapeType="1"/>
          </p:cNvSpPr>
          <p:nvPr/>
        </p:nvSpPr>
        <p:spPr bwMode="auto">
          <a:xfrm>
            <a:off x="5334000"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02" name="Line 14"/>
          <p:cNvSpPr>
            <a:spLocks noChangeShapeType="1"/>
          </p:cNvSpPr>
          <p:nvPr/>
        </p:nvSpPr>
        <p:spPr bwMode="auto">
          <a:xfrm>
            <a:off x="32766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03" name="Line 15"/>
          <p:cNvSpPr>
            <a:spLocks noChangeShapeType="1"/>
          </p:cNvSpPr>
          <p:nvPr/>
        </p:nvSpPr>
        <p:spPr bwMode="auto">
          <a:xfrm>
            <a:off x="3962400" y="4911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04" name="Line 16"/>
          <p:cNvSpPr>
            <a:spLocks noChangeShapeType="1"/>
          </p:cNvSpPr>
          <p:nvPr/>
        </p:nvSpPr>
        <p:spPr bwMode="auto">
          <a:xfrm>
            <a:off x="5334000" y="4911725"/>
            <a:ext cx="533400" cy="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05" name="Oval 17"/>
          <p:cNvSpPr>
            <a:spLocks noChangeArrowheads="1"/>
          </p:cNvSpPr>
          <p:nvPr/>
        </p:nvSpPr>
        <p:spPr bwMode="auto">
          <a:xfrm>
            <a:off x="77724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40306" name="Oval 18"/>
          <p:cNvSpPr>
            <a:spLocks noChangeArrowheads="1"/>
          </p:cNvSpPr>
          <p:nvPr/>
        </p:nvSpPr>
        <p:spPr bwMode="auto">
          <a:xfrm>
            <a:off x="10668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40307" name="Line 19"/>
          <p:cNvSpPr>
            <a:spLocks noChangeShapeType="1"/>
          </p:cNvSpPr>
          <p:nvPr/>
        </p:nvSpPr>
        <p:spPr bwMode="auto">
          <a:xfrm flipV="1">
            <a:off x="1905000" y="2854325"/>
            <a:ext cx="1219200" cy="8382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08" name="Line 20"/>
          <p:cNvSpPr>
            <a:spLocks noChangeShapeType="1"/>
          </p:cNvSpPr>
          <p:nvPr/>
        </p:nvSpPr>
        <p:spPr bwMode="auto">
          <a:xfrm>
            <a:off x="1905000" y="3997325"/>
            <a:ext cx="121920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09" name="Line 21"/>
          <p:cNvSpPr>
            <a:spLocks noChangeShapeType="1"/>
          </p:cNvSpPr>
          <p:nvPr/>
        </p:nvSpPr>
        <p:spPr bwMode="auto">
          <a:xfrm>
            <a:off x="19050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10" name="Line 22"/>
          <p:cNvSpPr>
            <a:spLocks noChangeShapeType="1"/>
          </p:cNvSpPr>
          <p:nvPr/>
        </p:nvSpPr>
        <p:spPr bwMode="auto">
          <a:xfrm flipV="1">
            <a:off x="7315200" y="3844925"/>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11" name="Line 23"/>
          <p:cNvSpPr>
            <a:spLocks noChangeShapeType="1"/>
          </p:cNvSpPr>
          <p:nvPr/>
        </p:nvSpPr>
        <p:spPr bwMode="auto">
          <a:xfrm flipV="1">
            <a:off x="6705600" y="4149725"/>
            <a:ext cx="1295400" cy="7620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12" name="Oval 24"/>
          <p:cNvSpPr>
            <a:spLocks noChangeArrowheads="1"/>
          </p:cNvSpPr>
          <p:nvPr/>
        </p:nvSpPr>
        <p:spPr bwMode="auto">
          <a:xfrm>
            <a:off x="5181600" y="34639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(4,2)</a:t>
            </a:r>
          </a:p>
        </p:txBody>
      </p:sp>
      <p:sp>
        <p:nvSpPr>
          <p:cNvPr id="140313" name="Line 25"/>
          <p:cNvSpPr>
            <a:spLocks noChangeShapeType="1"/>
          </p:cNvSpPr>
          <p:nvPr/>
        </p:nvSpPr>
        <p:spPr bwMode="auto">
          <a:xfrm>
            <a:off x="6705600" y="2778125"/>
            <a:ext cx="129540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14" name="Line 26"/>
          <p:cNvSpPr>
            <a:spLocks noChangeShapeType="1"/>
          </p:cNvSpPr>
          <p:nvPr/>
        </p:nvSpPr>
        <p:spPr bwMode="auto">
          <a:xfrm>
            <a:off x="60198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15" name="Line 27"/>
          <p:cNvSpPr>
            <a:spLocks noChangeShapeType="1"/>
          </p:cNvSpPr>
          <p:nvPr/>
        </p:nvSpPr>
        <p:spPr bwMode="auto">
          <a:xfrm>
            <a:off x="4648200" y="38449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16" name="Text Box 28"/>
          <p:cNvSpPr txBox="1">
            <a:spLocks noChangeArrowheads="1"/>
          </p:cNvSpPr>
          <p:nvPr/>
        </p:nvSpPr>
        <p:spPr bwMode="auto">
          <a:xfrm>
            <a:off x="2193925" y="2895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40317" name="Text Box 29"/>
          <p:cNvSpPr txBox="1">
            <a:spLocks noChangeArrowheads="1"/>
          </p:cNvSpPr>
          <p:nvPr/>
        </p:nvSpPr>
        <p:spPr bwMode="auto">
          <a:xfrm>
            <a:off x="3946525" y="2362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40318" name="Text Box 30"/>
          <p:cNvSpPr txBox="1">
            <a:spLocks noChangeArrowheads="1"/>
          </p:cNvSpPr>
          <p:nvPr/>
        </p:nvSpPr>
        <p:spPr bwMode="auto">
          <a:xfrm>
            <a:off x="5318125"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40319" name="Text Box 31"/>
          <p:cNvSpPr txBox="1">
            <a:spLocks noChangeArrowheads="1"/>
          </p:cNvSpPr>
          <p:nvPr/>
        </p:nvSpPr>
        <p:spPr bwMode="auto">
          <a:xfrm>
            <a:off x="7223125"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40320" name="Text Box 32"/>
          <p:cNvSpPr txBox="1">
            <a:spLocks noChangeArrowheads="1"/>
          </p:cNvSpPr>
          <p:nvPr/>
        </p:nvSpPr>
        <p:spPr bwMode="auto">
          <a:xfrm>
            <a:off x="32607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40321" name="Text Box 33"/>
          <p:cNvSpPr txBox="1">
            <a:spLocks noChangeArrowheads="1"/>
          </p:cNvSpPr>
          <p:nvPr/>
        </p:nvSpPr>
        <p:spPr bwMode="auto">
          <a:xfrm>
            <a:off x="47085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40322" name="Text Box 34"/>
          <p:cNvSpPr txBox="1">
            <a:spLocks noChangeArrowheads="1"/>
          </p:cNvSpPr>
          <p:nvPr/>
        </p:nvSpPr>
        <p:spPr bwMode="auto">
          <a:xfrm>
            <a:off x="60801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40323" name="Text Box 35"/>
          <p:cNvSpPr txBox="1">
            <a:spLocks noChangeArrowheads="1"/>
          </p:cNvSpPr>
          <p:nvPr/>
        </p:nvSpPr>
        <p:spPr bwMode="auto">
          <a:xfrm>
            <a:off x="72993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6</a:t>
            </a:r>
          </a:p>
        </p:txBody>
      </p:sp>
      <p:sp>
        <p:nvSpPr>
          <p:cNvPr id="140324" name="Text Box 36"/>
          <p:cNvSpPr txBox="1">
            <a:spLocks noChangeArrowheads="1"/>
          </p:cNvSpPr>
          <p:nvPr/>
        </p:nvSpPr>
        <p:spPr bwMode="auto">
          <a:xfrm>
            <a:off x="4006850" y="45307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40325" name="Text Box 37"/>
          <p:cNvSpPr txBox="1">
            <a:spLocks noChangeArrowheads="1"/>
          </p:cNvSpPr>
          <p:nvPr/>
        </p:nvSpPr>
        <p:spPr bwMode="auto">
          <a:xfrm>
            <a:off x="5394325" y="4495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7</a:t>
            </a:r>
          </a:p>
        </p:txBody>
      </p:sp>
      <p:sp>
        <p:nvSpPr>
          <p:cNvPr id="140326" name="Text Box 38"/>
          <p:cNvSpPr txBox="1">
            <a:spLocks noChangeArrowheads="1"/>
          </p:cNvSpPr>
          <p:nvPr/>
        </p:nvSpPr>
        <p:spPr bwMode="auto">
          <a:xfrm>
            <a:off x="6842125" y="434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40327" name="Text Box 39"/>
          <p:cNvSpPr txBox="1">
            <a:spLocks noChangeArrowheads="1"/>
          </p:cNvSpPr>
          <p:nvPr/>
        </p:nvSpPr>
        <p:spPr bwMode="auto">
          <a:xfrm>
            <a:off x="2651125" y="4191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40328" name="Text Box 40"/>
          <p:cNvSpPr txBox="1">
            <a:spLocks noChangeArrowheads="1"/>
          </p:cNvSpPr>
          <p:nvPr/>
        </p:nvSpPr>
        <p:spPr bwMode="auto">
          <a:xfrm>
            <a:off x="2041525" y="3429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graphicFrame>
        <p:nvGraphicFramePr>
          <p:cNvPr id="140329" name="Object 41"/>
          <p:cNvGraphicFramePr>
            <a:graphicFrameLocks noChangeAspect="1"/>
          </p:cNvGraphicFramePr>
          <p:nvPr/>
        </p:nvGraphicFramePr>
        <p:xfrm>
          <a:off x="990600" y="1905000"/>
          <a:ext cx="1489075" cy="508000"/>
        </p:xfrm>
        <a:graphic>
          <a:graphicData uri="http://schemas.openxmlformats.org/presentationml/2006/ole">
            <mc:AlternateContent xmlns:mc="http://schemas.openxmlformats.org/markup-compatibility/2006">
              <mc:Choice xmlns:v="urn:schemas-microsoft-com:vml" Requires="v">
                <p:oleObj spid="_x0000_s140404" name="Equation" r:id="rId3" imgW="672808" imgH="228501" progId="Equation.3">
                  <p:embed/>
                </p:oleObj>
              </mc:Choice>
              <mc:Fallback>
                <p:oleObj name="Equation" r:id="rId3" imgW="672808" imgH="228501" progId="Equation.3">
                  <p:embed/>
                  <p:pic>
                    <p:nvPicPr>
                      <p:cNvPr id="0" name="Object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905000"/>
                        <a:ext cx="1489075"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0330" name="Object 42"/>
          <p:cNvGraphicFramePr>
            <a:graphicFrameLocks noChangeAspect="1"/>
          </p:cNvGraphicFramePr>
          <p:nvPr/>
        </p:nvGraphicFramePr>
        <p:xfrm>
          <a:off x="2286000" y="5562600"/>
          <a:ext cx="6205538" cy="508000"/>
        </p:xfrm>
        <a:graphic>
          <a:graphicData uri="http://schemas.openxmlformats.org/presentationml/2006/ole">
            <mc:AlternateContent xmlns:mc="http://schemas.openxmlformats.org/markup-compatibility/2006">
              <mc:Choice xmlns:v="urn:schemas-microsoft-com:vml" Requires="v">
                <p:oleObj spid="_x0000_s140405" name="公式" r:id="rId5" imgW="2794000" imgH="228600" progId="Equation.3">
                  <p:embed/>
                </p:oleObj>
              </mc:Choice>
              <mc:Fallback>
                <p:oleObj name="公式" r:id="rId5" imgW="2794000" imgH="228600" progId="Equation.3">
                  <p:embed/>
                  <p:pic>
                    <p:nvPicPr>
                      <p:cNvPr id="0"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5562600"/>
                        <a:ext cx="6205538"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40331" name="Line 43"/>
          <p:cNvSpPr>
            <a:spLocks noChangeShapeType="1"/>
          </p:cNvSpPr>
          <p:nvPr/>
        </p:nvSpPr>
        <p:spPr bwMode="auto">
          <a:xfrm>
            <a:off x="3810000" y="3048000"/>
            <a:ext cx="381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2" name="Line 44"/>
          <p:cNvSpPr>
            <a:spLocks noChangeShapeType="1"/>
          </p:cNvSpPr>
          <p:nvPr/>
        </p:nvSpPr>
        <p:spPr bwMode="auto">
          <a:xfrm flipH="1">
            <a:off x="3733800" y="4191000"/>
            <a:ext cx="3048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3" name="Text Box 45"/>
          <p:cNvSpPr txBox="1">
            <a:spLocks noChangeArrowheads="1"/>
          </p:cNvSpPr>
          <p:nvPr/>
        </p:nvSpPr>
        <p:spPr bwMode="auto">
          <a:xfrm>
            <a:off x="3810000" y="2819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40334" name="Text Box 46"/>
          <p:cNvSpPr txBox="1">
            <a:spLocks noChangeArrowheads="1"/>
          </p:cNvSpPr>
          <p:nvPr/>
        </p:nvSpPr>
        <p:spPr bwMode="auto">
          <a:xfrm>
            <a:off x="3886200" y="4191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40335" name="Line 47"/>
          <p:cNvSpPr>
            <a:spLocks noChangeShapeType="1"/>
          </p:cNvSpPr>
          <p:nvPr/>
        </p:nvSpPr>
        <p:spPr bwMode="auto">
          <a:xfrm flipV="1">
            <a:off x="3048000" y="3048000"/>
            <a:ext cx="1524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6" name="Line 48"/>
          <p:cNvSpPr>
            <a:spLocks noChangeShapeType="1"/>
          </p:cNvSpPr>
          <p:nvPr/>
        </p:nvSpPr>
        <p:spPr bwMode="auto">
          <a:xfrm>
            <a:off x="5029200" y="3124200"/>
            <a:ext cx="0" cy="14478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337" name="Text Box 49"/>
          <p:cNvSpPr txBox="1">
            <a:spLocks noChangeArrowheads="1"/>
          </p:cNvSpPr>
          <p:nvPr/>
        </p:nvSpPr>
        <p:spPr bwMode="auto">
          <a:xfrm>
            <a:off x="499745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40338" name="Text Box 50"/>
          <p:cNvSpPr txBox="1">
            <a:spLocks noChangeArrowheads="1"/>
          </p:cNvSpPr>
          <p:nvPr/>
        </p:nvSpPr>
        <p:spPr bwMode="auto">
          <a:xfrm>
            <a:off x="3048000" y="3048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8</a:t>
            </a:r>
          </a:p>
        </p:txBody>
      </p:sp>
      <p:sp>
        <p:nvSpPr>
          <p:cNvPr id="140339"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Discussion</a:t>
            </a:r>
          </a:p>
        </p:txBody>
      </p:sp>
      <p:sp>
        <p:nvSpPr>
          <p:cNvPr id="141315"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Procedure continues until all the disjunctive arcs have been added</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Extremely effective</a:t>
            </a:r>
          </a:p>
          <a:p>
            <a:pPr lvl="1" eaLnBrk="1" hangingPunct="1"/>
            <a:r>
              <a:rPr kumimoji="0" lang="en-US" altLang="zh-CN" sz="2400">
                <a:ea typeface="宋体" panose="02010600030101010101" pitchFamily="2" charset="-122"/>
              </a:rPr>
              <a:t>Fast</a:t>
            </a:r>
          </a:p>
          <a:p>
            <a:pPr lvl="1" eaLnBrk="1" hangingPunct="1"/>
            <a:r>
              <a:rPr kumimoji="0" lang="en-US" altLang="zh-CN" sz="2400">
                <a:ea typeface="宋体" panose="02010600030101010101" pitchFamily="2" charset="-122"/>
              </a:rPr>
              <a:t>Good solutions</a:t>
            </a:r>
          </a:p>
          <a:p>
            <a:pPr eaLnBrk="1" hangingPunct="1">
              <a:buFont typeface="Arial" panose="020B0604020202020204" pitchFamily="34" charset="0"/>
              <a:buChar char="•"/>
            </a:pPr>
            <a:r>
              <a:rPr lang="en-US" altLang="zh-CN" sz="2400">
                <a:latin typeface="Tahoma" panose="020B0604030504040204" pitchFamily="34" charset="0"/>
                <a:ea typeface="宋体" panose="02010600030101010101" pitchFamily="2" charset="-122"/>
              </a:rPr>
              <a:t>‘</a:t>
            </a:r>
            <a:r>
              <a:rPr lang="en-US" altLang="zh-CN" sz="2400">
                <a:latin typeface="Verdana" panose="020B0604030504040204" pitchFamily="34" charset="0"/>
                <a:ea typeface="宋体" panose="02010600030101010101" pitchFamily="2" charset="-122"/>
              </a:rPr>
              <a:t>Just a heuristic</a:t>
            </a:r>
            <a:r>
              <a:rPr lang="en-US" altLang="zh-CN" sz="2400">
                <a:latin typeface="Tahoma" panose="020B0604030504040204" pitchFamily="34" charset="0"/>
                <a:ea typeface="宋体" panose="02010600030101010101" pitchFamily="2" charset="-122"/>
              </a:rPr>
              <a:t>’</a:t>
            </a:r>
            <a:endParaRPr lang="en-US" altLang="zh-CN" sz="2400">
              <a:latin typeface="Verdana" panose="020B0604030504040204" pitchFamily="34" charset="0"/>
              <a:ea typeface="宋体" panose="02010600030101010101" pitchFamily="2" charset="-122"/>
            </a:endParaRPr>
          </a:p>
          <a:p>
            <a:pPr lvl="1" eaLnBrk="1" hangingPunct="1"/>
            <a:r>
              <a:rPr kumimoji="0" lang="en-US" altLang="zh-CN" sz="2400">
                <a:ea typeface="宋体" panose="02010600030101010101" pitchFamily="2" charset="-122"/>
              </a:rPr>
              <a:t>No guarantee of optimum</a:t>
            </a:r>
          </a:p>
        </p:txBody>
      </p:sp>
      <p:sp>
        <p:nvSpPr>
          <p:cNvPr id="14131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Discussion</a:t>
            </a:r>
          </a:p>
        </p:txBody>
      </p:sp>
      <p:sp>
        <p:nvSpPr>
          <p:cNvPr id="142339" name="Rectangle 3"/>
          <p:cNvSpPr>
            <a:spLocks noGrp="1" noChangeArrowheads="1"/>
          </p:cNvSpPr>
          <p:nvPr>
            <p:ph type="body" idx="1"/>
          </p:nvPr>
        </p:nvSpPr>
        <p:spPr/>
        <p:txBody>
          <a:bodyPr/>
          <a:lstStyle/>
          <a:p>
            <a:pPr marL="0" indent="0" eaLnBrk="1" hangingPunct="1"/>
            <a:r>
              <a:rPr lang="en-US" altLang="zh-CN" sz="2400">
                <a:latin typeface="Verdana" panose="020B0604030504040204" pitchFamily="34" charset="0"/>
                <a:ea typeface="宋体" panose="02010600030101010101" pitchFamily="2" charset="-122"/>
              </a:rPr>
              <a:t>Shifting bottleneck can be applied generally</a:t>
            </a:r>
          </a:p>
          <a:p>
            <a:pPr marL="0" indent="0" eaLnBrk="1" hangingPunct="1"/>
            <a:r>
              <a:rPr lang="en-US" altLang="zh-CN" sz="2400">
                <a:latin typeface="Verdana" panose="020B0604030504040204" pitchFamily="34" charset="0"/>
                <a:ea typeface="宋体" panose="02010600030101010101" pitchFamily="2" charset="-122"/>
              </a:rPr>
              <a:t>Basic idea</a:t>
            </a:r>
          </a:p>
          <a:p>
            <a:pPr lvl="1" eaLnBrk="1" hangingPunct="1"/>
            <a:r>
              <a:rPr kumimoji="0" lang="en-US" altLang="zh-CN" sz="2400">
                <a:ea typeface="宋体" panose="02010600030101010101" pitchFamily="2" charset="-122"/>
              </a:rPr>
              <a:t>Solve problem </a:t>
            </a:r>
            <a:r>
              <a:rPr kumimoji="0" lang="en-US" altLang="zh-CN" sz="2400">
                <a:latin typeface="Tahoma" panose="020B0604030504040204" pitchFamily="34" charset="0"/>
                <a:ea typeface="宋体" panose="02010600030101010101" pitchFamily="2" charset="-122"/>
              </a:rPr>
              <a:t>“</a:t>
            </a:r>
            <a:r>
              <a:rPr kumimoji="0" lang="en-US" altLang="zh-CN" sz="2400">
                <a:ea typeface="宋体" panose="02010600030101010101" pitchFamily="2" charset="-122"/>
              </a:rPr>
              <a:t>one variable at a time</a:t>
            </a:r>
            <a:r>
              <a:rPr kumimoji="0" lang="en-US" altLang="zh-CN" sz="2400">
                <a:latin typeface="Tahoma" panose="020B0604030504040204" pitchFamily="34" charset="0"/>
                <a:ea typeface="宋体" panose="02010600030101010101" pitchFamily="2" charset="-122"/>
              </a:rPr>
              <a:t>”</a:t>
            </a:r>
            <a:endParaRPr kumimoji="0" lang="en-US" altLang="zh-CN" sz="2400">
              <a:ea typeface="宋体" panose="02010600030101010101" pitchFamily="2" charset="-122"/>
            </a:endParaRPr>
          </a:p>
          <a:p>
            <a:pPr lvl="1" eaLnBrk="1" hangingPunct="1"/>
            <a:r>
              <a:rPr kumimoji="0" lang="en-US" altLang="zh-CN" sz="2400">
                <a:ea typeface="宋体" panose="02010600030101010101" pitchFamily="2" charset="-122"/>
              </a:rPr>
              <a:t>Determine the </a:t>
            </a:r>
            <a:r>
              <a:rPr kumimoji="0" lang="en-US" altLang="zh-CN" sz="2400">
                <a:latin typeface="Tahoma" panose="020B0604030504040204" pitchFamily="34" charset="0"/>
                <a:ea typeface="宋体" panose="02010600030101010101" pitchFamily="2" charset="-122"/>
              </a:rPr>
              <a:t>“</a:t>
            </a:r>
            <a:r>
              <a:rPr kumimoji="0" lang="en-US" altLang="zh-CN" sz="2400">
                <a:ea typeface="宋体" panose="02010600030101010101" pitchFamily="2" charset="-122"/>
              </a:rPr>
              <a:t>most important</a:t>
            </a:r>
            <a:r>
              <a:rPr kumimoji="0" lang="en-US" altLang="zh-CN" sz="2400">
                <a:latin typeface="Tahoma" panose="020B0604030504040204" pitchFamily="34" charset="0"/>
                <a:ea typeface="宋体" panose="02010600030101010101" pitchFamily="2" charset="-122"/>
              </a:rPr>
              <a:t>”</a:t>
            </a:r>
            <a:r>
              <a:rPr kumimoji="0" lang="en-US" altLang="zh-CN" sz="2400">
                <a:ea typeface="宋体" panose="02010600030101010101" pitchFamily="2" charset="-122"/>
              </a:rPr>
              <a:t> variable</a:t>
            </a:r>
          </a:p>
          <a:p>
            <a:pPr lvl="1" eaLnBrk="1" hangingPunct="1"/>
            <a:r>
              <a:rPr kumimoji="0" lang="en-US" altLang="zh-CN" sz="2400">
                <a:ea typeface="宋体" panose="02010600030101010101" pitchFamily="2" charset="-122"/>
              </a:rPr>
              <a:t>Find the best value of that variable</a:t>
            </a:r>
          </a:p>
          <a:p>
            <a:pPr lvl="1" eaLnBrk="1" hangingPunct="1"/>
            <a:r>
              <a:rPr kumimoji="0" lang="en-US" altLang="zh-CN" sz="2400">
                <a:ea typeface="宋体" panose="02010600030101010101" pitchFamily="2" charset="-122"/>
              </a:rPr>
              <a:t>Move on to the </a:t>
            </a:r>
            <a:r>
              <a:rPr kumimoji="0" lang="en-US" altLang="zh-CN" sz="2400">
                <a:latin typeface="Tahoma" panose="020B0604030504040204" pitchFamily="34" charset="0"/>
                <a:ea typeface="宋体" panose="02010600030101010101" pitchFamily="2" charset="-122"/>
              </a:rPr>
              <a:t>“</a:t>
            </a:r>
            <a:r>
              <a:rPr kumimoji="0" lang="en-US" altLang="zh-CN" sz="2400">
                <a:ea typeface="宋体" panose="02010600030101010101" pitchFamily="2" charset="-122"/>
              </a:rPr>
              <a:t>second most important</a:t>
            </a:r>
            <a:r>
              <a:rPr kumimoji="0" lang="en-US" altLang="zh-CN" sz="2400">
                <a:latin typeface="Tahoma" panose="020B0604030504040204" pitchFamily="34" charset="0"/>
                <a:ea typeface="宋体" panose="02010600030101010101" pitchFamily="2" charset="-122"/>
              </a:rPr>
              <a:t>”</a:t>
            </a:r>
            <a:r>
              <a:rPr kumimoji="0" lang="en-US" altLang="zh-CN" sz="2400">
                <a:ea typeface="宋体" panose="02010600030101010101" pitchFamily="2" charset="-122"/>
              </a:rPr>
              <a:t> </a:t>
            </a:r>
            <a:r>
              <a:rPr kumimoji="0" lang="en-US" altLang="zh-CN" sz="2400">
                <a:latin typeface="Tahoma" panose="020B0604030504040204" pitchFamily="34" charset="0"/>
                <a:ea typeface="宋体" panose="02010600030101010101" pitchFamily="2" charset="-122"/>
              </a:rPr>
              <a:t>…</a:t>
            </a:r>
            <a:r>
              <a:rPr kumimoji="0" lang="en-US" altLang="zh-CN" sz="2400">
                <a:ea typeface="宋体" panose="02010600030101010101" pitchFamily="2" charset="-122"/>
              </a:rPr>
              <a:t>.</a:t>
            </a:r>
          </a:p>
          <a:p>
            <a:pPr lvl="1" eaLnBrk="1" hangingPunct="1"/>
            <a:r>
              <a:rPr kumimoji="0" lang="en-US" altLang="zh-CN" sz="2400">
                <a:ea typeface="宋体" panose="02010600030101010101" pitchFamily="2" charset="-122"/>
              </a:rPr>
              <a:t>Here we treat each machine as a variable</a:t>
            </a:r>
          </a:p>
        </p:txBody>
      </p:sp>
      <p:sp>
        <p:nvSpPr>
          <p:cNvPr id="14234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
        <p:nvSpPr>
          <p:cNvPr id="2" name="动作按钮: 结束 1">
            <a:hlinkClick r:id="" action="ppaction://hlinkshowjump?jump=lastslide" highlightClick="1"/>
          </p:cNvPr>
          <p:cNvSpPr/>
          <p:nvPr/>
        </p:nvSpPr>
        <p:spPr>
          <a:xfrm>
            <a:off x="8077200" y="6129338"/>
            <a:ext cx="762000" cy="609600"/>
          </a:xfrm>
          <a:prstGeom prst="actionButtonEnd">
            <a:avLst/>
          </a:prstGeom>
          <a:solidFill>
            <a:srgbClr val="FFFF0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381000" y="228600"/>
            <a:ext cx="7391400" cy="563563"/>
          </a:xfrm>
        </p:spPr>
        <p:txBody>
          <a:bodyPr/>
          <a:lstStyle/>
          <a:p>
            <a:pPr eaLnBrk="1" hangingPunct="1">
              <a:defRPr/>
            </a:pPr>
            <a:r>
              <a:rPr kumimoji="0" lang="en-US" altLang="zh-CN" sz="2800" b="1" dirty="0">
                <a:latin typeface="Verdana" charset="0"/>
                <a:cs typeface="宋体" charset="0"/>
              </a:rPr>
              <a:t>Exercise</a:t>
            </a:r>
          </a:p>
        </p:txBody>
      </p:sp>
      <p:sp>
        <p:nvSpPr>
          <p:cNvPr id="143363" name="Rectangle 3"/>
          <p:cNvSpPr>
            <a:spLocks noGrp="1" noChangeArrowheads="1"/>
          </p:cNvSpPr>
          <p:nvPr>
            <p:ph type="body" sz="half" idx="1"/>
          </p:nvPr>
        </p:nvSpPr>
        <p:spPr/>
        <p:txBody>
          <a:bodyPr/>
          <a:lstStyle/>
          <a:p>
            <a:pPr marL="0" indent="0" eaLnBrk="1" hangingPunct="1"/>
            <a:r>
              <a:rPr lang="en-US" altLang="zh-CN" sz="2400">
                <a:latin typeface="Verdana" panose="020B0604030504040204" pitchFamily="34" charset="0"/>
                <a:ea typeface="宋体" panose="02010600030101010101" pitchFamily="2" charset="-122"/>
              </a:rPr>
              <a:t>Consider the following instance of the job shop problem with no recirculation and the makespan as objective</a:t>
            </a:r>
          </a:p>
        </p:txBody>
      </p:sp>
      <p:graphicFrame>
        <p:nvGraphicFramePr>
          <p:cNvPr id="805892" name="Group 4"/>
          <p:cNvGraphicFramePr>
            <a:graphicFrameLocks noGrp="1"/>
          </p:cNvGraphicFramePr>
          <p:nvPr>
            <p:ph sz="half" idx="2"/>
          </p:nvPr>
        </p:nvGraphicFramePr>
        <p:xfrm>
          <a:off x="533400" y="2667000"/>
          <a:ext cx="8229600" cy="2628900"/>
        </p:xfrm>
        <a:graphic>
          <a:graphicData uri="http://schemas.openxmlformats.org/drawingml/2006/table">
            <a:tbl>
              <a:tblPr/>
              <a:tblGrid>
                <a:gridCol w="1058863">
                  <a:extLst>
                    <a:ext uri="{9D8B030D-6E8A-4147-A177-3AD203B41FA5}">
                      <a16:colId xmlns:a16="http://schemas.microsoft.com/office/drawing/2014/main" val="20000"/>
                    </a:ext>
                  </a:extLst>
                </a:gridCol>
                <a:gridCol w="2614612">
                  <a:extLst>
                    <a:ext uri="{9D8B030D-6E8A-4147-A177-3AD203B41FA5}">
                      <a16:colId xmlns:a16="http://schemas.microsoft.com/office/drawing/2014/main" val="20001"/>
                    </a:ext>
                  </a:extLst>
                </a:gridCol>
                <a:gridCol w="4556125">
                  <a:extLst>
                    <a:ext uri="{9D8B030D-6E8A-4147-A177-3AD203B41FA5}">
                      <a16:colId xmlns:a16="http://schemas.microsoft.com/office/drawing/2014/main" val="20002"/>
                    </a:ext>
                  </a:extLst>
                </a:gridCol>
              </a:tblGrid>
              <a:tr h="657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Jobs </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m/c sequence</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Processing time</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57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1,2,3</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p11=9; p21=8; p31=4</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7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2</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1,2,4</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p12=5; p22=6; p42=3</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722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a:t>
                      </a:r>
                    </a:p>
                  </a:txBody>
                  <a:tcPr marL="90000" marR="90000" marT="46800" marB="468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3,1,2</a:t>
                      </a:r>
                    </a:p>
                  </a:txBody>
                  <a:tcPr marL="90000" marR="90000" marT="46800" marB="4680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charset="0"/>
                        <a:buNone/>
                        <a:tabLst/>
                      </a:pPr>
                      <a:r>
                        <a:rPr kumimoji="0" lang="en-US" altLang="zh-CN" sz="2400" b="1" i="0" u="none" strike="noStrike" cap="none" normalizeH="0" baseline="0">
                          <a:ln>
                            <a:noFill/>
                          </a:ln>
                          <a:solidFill>
                            <a:schemeClr val="tx1"/>
                          </a:solidFill>
                          <a:effectLst/>
                          <a:latin typeface="Verdana" charset="0"/>
                          <a:ea typeface="宋体" charset="0"/>
                          <a:cs typeface="宋体" charset="0"/>
                        </a:rPr>
                        <a:t>p33=10; p13=4; p23=9</a:t>
                      </a:r>
                    </a:p>
                  </a:txBody>
                  <a:tcPr marL="90000" marR="90000" marT="46800" marB="468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3386"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4"/>
          <p:cNvSpPr>
            <a:spLocks noChangeArrowheads="1"/>
          </p:cNvSpPr>
          <p:nvPr/>
        </p:nvSpPr>
        <p:spPr bwMode="white">
          <a:xfrm>
            <a:off x="533400" y="2362200"/>
            <a:ext cx="79248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eaLnBrk="1" hangingPunct="1">
              <a:spcBef>
                <a:spcPct val="0"/>
              </a:spcBef>
              <a:spcAft>
                <a:spcPct val="0"/>
              </a:spcAft>
              <a:buFontTx/>
              <a:buNone/>
            </a:pPr>
            <a:r>
              <a:rPr lang="en-US" altLang="zh-CN" sz="2800">
                <a:solidFill>
                  <a:schemeClr val="tx2"/>
                </a:solidFill>
                <a:ea typeface="宋体" panose="02010600030101010101" pitchFamily="2" charset="-122"/>
              </a:rPr>
              <a:t>Job Shop Scheduling:</a:t>
            </a:r>
            <a:br>
              <a:rPr lang="en-US" altLang="zh-CN" sz="2800">
                <a:solidFill>
                  <a:schemeClr val="tx2"/>
                </a:solidFill>
                <a:ea typeface="宋体" panose="02010600030101010101" pitchFamily="2" charset="-122"/>
              </a:rPr>
            </a:br>
            <a:r>
              <a:rPr lang="en-US" altLang="zh-CN" sz="2800">
                <a:solidFill>
                  <a:schemeClr val="tx2"/>
                </a:solidFill>
                <a:ea typeface="宋体" panose="02010600030101010101" pitchFamily="2" charset="-122"/>
              </a:rPr>
              <a:t>Shifting Bottleneck for Total Weighted Tardiness Objective</a:t>
            </a:r>
            <a:br>
              <a:rPr lang="en-US" altLang="zh-CN" sz="2800">
                <a:solidFill>
                  <a:schemeClr val="tx2"/>
                </a:solidFill>
                <a:ea typeface="宋体" panose="02010600030101010101" pitchFamily="2" charset="-122"/>
              </a:rPr>
            </a:br>
            <a:endParaRPr lang="en-US" altLang="zh-CN" sz="2800">
              <a:solidFill>
                <a:schemeClr val="tx2"/>
              </a:solidFill>
              <a:ea typeface="宋体" panose="02010600030101010101" pitchFamily="2" charset="-122"/>
            </a:endParaRPr>
          </a:p>
        </p:txBody>
      </p:sp>
      <p:sp>
        <p:nvSpPr>
          <p:cNvPr id="144387"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457200" y="-76200"/>
            <a:ext cx="7793038" cy="762000"/>
          </a:xfrm>
        </p:spPr>
        <p:txBody>
          <a:bodyPr>
            <a:normAutofit fontScale="90000"/>
          </a:bodyPr>
          <a:lstStyle/>
          <a:p>
            <a:pPr eaLnBrk="1" hangingPunct="1">
              <a:defRPr/>
            </a:pPr>
            <a:r>
              <a:rPr kumimoji="0" lang="en-US" altLang="zh-CN" b="1" dirty="0">
                <a:latin typeface="Verdana" charset="0"/>
                <a:cs typeface="宋体" charset="0"/>
              </a:rPr>
              <a:t>Total Weighted Tardiness</a:t>
            </a:r>
          </a:p>
        </p:txBody>
      </p:sp>
      <p:sp>
        <p:nvSpPr>
          <p:cNvPr id="145411" name="Rectangle 3"/>
          <p:cNvSpPr>
            <a:spLocks noGrp="1" noChangeArrowheads="1"/>
          </p:cNvSpPr>
          <p:nvPr>
            <p:ph type="body" idx="1"/>
          </p:nvPr>
        </p:nvSpPr>
        <p:spPr>
          <a:xfrm>
            <a:off x="609600" y="1066800"/>
            <a:ext cx="7772400" cy="4572000"/>
          </a:xfrm>
        </p:spPr>
        <p:txBody>
          <a:bodyPr/>
          <a:lstStyle/>
          <a:p>
            <a:pPr marL="0" indent="0" eaLnBrk="1" hangingPunct="1"/>
            <a:r>
              <a:rPr lang="en-US" altLang="zh-CN" sz="2400">
                <a:latin typeface="Verdana" panose="020B0604030504040204" pitchFamily="34" charset="0"/>
                <a:ea typeface="宋体" panose="02010600030101010101" pitchFamily="2" charset="-122"/>
              </a:rPr>
              <a:t>We now apply a shifted bottleneck procedure to a job shop with total weighted tardiness objective</a:t>
            </a:r>
          </a:p>
          <a:p>
            <a:pPr lvl="1" eaLnBrk="1" hangingPunct="1"/>
            <a:r>
              <a:rPr kumimoji="0" lang="en-US" altLang="zh-CN" sz="2400">
                <a:ea typeface="宋体" panose="02010600030101010101" pitchFamily="2" charset="-122"/>
              </a:rPr>
              <a:t>Need </a:t>
            </a:r>
            <a:r>
              <a:rPr kumimoji="0" lang="en-US" altLang="zh-CN" sz="2400" i="1">
                <a:ea typeface="宋体" panose="02010600030101010101" pitchFamily="2" charset="-122"/>
              </a:rPr>
              <a:t>n</a:t>
            </a:r>
            <a:r>
              <a:rPr kumimoji="0" lang="en-US" altLang="zh-CN" sz="2400">
                <a:ea typeface="宋体" panose="02010600030101010101" pitchFamily="2" charset="-122"/>
              </a:rPr>
              <a:t> sinks in disjunctive graph</a:t>
            </a:r>
          </a:p>
          <a:p>
            <a:pPr lvl="1" eaLnBrk="1" hangingPunct="1"/>
            <a:r>
              <a:rPr kumimoji="0" lang="en-US" altLang="zh-CN" sz="2400">
                <a:ea typeface="宋体" panose="02010600030101010101" pitchFamily="2" charset="-122"/>
              </a:rPr>
              <a:t>Machines scheduled one at a time</a:t>
            </a:r>
          </a:p>
          <a:p>
            <a:pPr lvl="1" eaLnBrk="1" hangingPunct="1"/>
            <a:r>
              <a:rPr kumimoji="0" lang="en-US" altLang="zh-CN" sz="2400">
                <a:ea typeface="宋体" panose="02010600030101010101" pitchFamily="2" charset="-122"/>
              </a:rPr>
              <a:t>Given current graph calculate completion time of each job</a:t>
            </a:r>
          </a:p>
          <a:p>
            <a:pPr lvl="1" eaLnBrk="1" hangingPunct="1"/>
            <a:r>
              <a:rPr kumimoji="0" lang="en-US" altLang="zh-CN" sz="2400">
                <a:ea typeface="宋体" panose="02010600030101010101" pitchFamily="2" charset="-122"/>
              </a:rPr>
              <a:t>Some </a:t>
            </a:r>
            <a:r>
              <a:rPr kumimoji="0" lang="en-US" altLang="zh-CN" sz="2400" i="1">
                <a:ea typeface="宋体" panose="02010600030101010101" pitchFamily="2" charset="-122"/>
              </a:rPr>
              <a:t>n</a:t>
            </a:r>
            <a:r>
              <a:rPr kumimoji="0" lang="en-US" altLang="zh-CN" sz="2400">
                <a:ea typeface="宋体" panose="02010600030101010101" pitchFamily="2" charset="-122"/>
              </a:rPr>
              <a:t> due dates for each operation</a:t>
            </a:r>
          </a:p>
          <a:p>
            <a:pPr lvl="1" eaLnBrk="1" hangingPunct="1"/>
            <a:r>
              <a:rPr kumimoji="0" lang="en-US" altLang="zh-CN" sz="2400">
                <a:ea typeface="宋体" panose="02010600030101010101" pitchFamily="2" charset="-122"/>
              </a:rPr>
              <a:t>Piecewise linear penalty function</a:t>
            </a:r>
          </a:p>
        </p:txBody>
      </p:sp>
      <p:sp>
        <p:nvSpPr>
          <p:cNvPr id="145412"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6" name="Rectangle 2"/>
          <p:cNvSpPr>
            <a:spLocks noGrp="1" noChangeArrowheads="1"/>
          </p:cNvSpPr>
          <p:nvPr>
            <p:ph type="title"/>
          </p:nvPr>
        </p:nvSpPr>
        <p:spPr>
          <a:xfrm>
            <a:off x="457200" y="152400"/>
            <a:ext cx="7696200" cy="533400"/>
          </a:xfrm>
        </p:spPr>
        <p:txBody>
          <a:bodyPr/>
          <a:lstStyle/>
          <a:p>
            <a:pPr eaLnBrk="1" hangingPunct="1">
              <a:defRPr/>
            </a:pPr>
            <a:r>
              <a:rPr kumimoji="0" lang="en-US" altLang="zh-CN" sz="2800" b="1">
                <a:latin typeface="Verdana" charset="0"/>
                <a:cs typeface="宋体" charset="0"/>
              </a:rPr>
              <a:t>Cost Function for Operation (</a:t>
            </a:r>
            <a:r>
              <a:rPr kumimoji="0" lang="en-US" altLang="zh-CN" sz="2800" b="1" i="1">
                <a:latin typeface="Verdana" charset="0"/>
                <a:cs typeface="宋体" charset="0"/>
              </a:rPr>
              <a:t>i,j</a:t>
            </a:r>
            <a:r>
              <a:rPr kumimoji="0" lang="en-US" altLang="zh-CN" sz="2800" b="1">
                <a:latin typeface="Verdana" charset="0"/>
                <a:cs typeface="宋体" charset="0"/>
              </a:rPr>
              <a:t>)</a:t>
            </a:r>
          </a:p>
        </p:txBody>
      </p:sp>
      <p:sp>
        <p:nvSpPr>
          <p:cNvPr id="146435" name="Line 3"/>
          <p:cNvSpPr>
            <a:spLocks noChangeShapeType="1"/>
          </p:cNvSpPr>
          <p:nvPr/>
        </p:nvSpPr>
        <p:spPr bwMode="auto">
          <a:xfrm flipV="1">
            <a:off x="1752600" y="1600200"/>
            <a:ext cx="0" cy="35052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36" name="Line 4"/>
          <p:cNvSpPr>
            <a:spLocks noChangeShapeType="1"/>
          </p:cNvSpPr>
          <p:nvPr/>
        </p:nvSpPr>
        <p:spPr bwMode="auto">
          <a:xfrm>
            <a:off x="1752600" y="5105400"/>
            <a:ext cx="5638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37" name="Line 5"/>
          <p:cNvSpPr>
            <a:spLocks noChangeShapeType="1"/>
          </p:cNvSpPr>
          <p:nvPr/>
        </p:nvSpPr>
        <p:spPr bwMode="auto">
          <a:xfrm>
            <a:off x="3657600" y="50292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38" name="Line 6"/>
          <p:cNvSpPr>
            <a:spLocks noChangeShapeType="1"/>
          </p:cNvSpPr>
          <p:nvPr/>
        </p:nvSpPr>
        <p:spPr bwMode="auto">
          <a:xfrm>
            <a:off x="4800600" y="50292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39" name="Line 7"/>
          <p:cNvSpPr>
            <a:spLocks noChangeShapeType="1"/>
          </p:cNvSpPr>
          <p:nvPr/>
        </p:nvSpPr>
        <p:spPr bwMode="auto">
          <a:xfrm>
            <a:off x="5943600" y="50292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46440" name="Object 8"/>
          <p:cNvGraphicFramePr>
            <a:graphicFrameLocks noChangeAspect="1"/>
          </p:cNvGraphicFramePr>
          <p:nvPr/>
        </p:nvGraphicFramePr>
        <p:xfrm>
          <a:off x="7315200" y="4572000"/>
          <a:ext cx="422275" cy="501650"/>
        </p:xfrm>
        <a:graphic>
          <a:graphicData uri="http://schemas.openxmlformats.org/presentationml/2006/ole">
            <mc:AlternateContent xmlns:mc="http://schemas.openxmlformats.org/markup-compatibility/2006">
              <mc:Choice xmlns:v="urn:schemas-microsoft-com:vml" Requires="v">
                <p:oleObj spid="_x0000_s146578" name="Equation" r:id="rId3" imgW="203112" imgH="241195" progId="Equation.3">
                  <p:embed/>
                </p:oleObj>
              </mc:Choice>
              <mc:Fallback>
                <p:oleObj name="Equation" r:id="rId3" imgW="203112" imgH="24119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4572000"/>
                        <a:ext cx="422275"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6441" name="Object 9"/>
          <p:cNvGraphicFramePr>
            <a:graphicFrameLocks noChangeAspect="1"/>
          </p:cNvGraphicFramePr>
          <p:nvPr/>
        </p:nvGraphicFramePr>
        <p:xfrm>
          <a:off x="1752600" y="1600200"/>
          <a:ext cx="2363788" cy="501650"/>
        </p:xfrm>
        <a:graphic>
          <a:graphicData uri="http://schemas.openxmlformats.org/presentationml/2006/ole">
            <mc:AlternateContent xmlns:mc="http://schemas.openxmlformats.org/markup-compatibility/2006">
              <mc:Choice xmlns:v="urn:schemas-microsoft-com:vml" Requires="v">
                <p:oleObj spid="_x0000_s146579" name="Equation" r:id="rId5" imgW="1129810" imgH="241195" progId="Equation.3">
                  <p:embed/>
                </p:oleObj>
              </mc:Choice>
              <mc:Fallback>
                <p:oleObj name="Equation" r:id="rId5" imgW="1129810" imgH="24119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1600200"/>
                        <a:ext cx="23637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6442" name="Object 10"/>
          <p:cNvGraphicFramePr>
            <a:graphicFrameLocks noChangeAspect="1"/>
          </p:cNvGraphicFramePr>
          <p:nvPr/>
        </p:nvGraphicFramePr>
        <p:xfrm>
          <a:off x="3429000" y="5181600"/>
          <a:ext cx="400050" cy="528638"/>
        </p:xfrm>
        <a:graphic>
          <a:graphicData uri="http://schemas.openxmlformats.org/presentationml/2006/ole">
            <mc:AlternateContent xmlns:mc="http://schemas.openxmlformats.org/markup-compatibility/2006">
              <mc:Choice xmlns:v="urn:schemas-microsoft-com:vml" Requires="v">
                <p:oleObj spid="_x0000_s146580" name="Equation" r:id="rId7" imgW="190417" imgH="253890" progId="Equation.3">
                  <p:embed/>
                </p:oleObj>
              </mc:Choice>
              <mc:Fallback>
                <p:oleObj name="Equation" r:id="rId7" imgW="190417" imgH="25389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9000" y="5181600"/>
                        <a:ext cx="400050"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6443" name="Object 11"/>
          <p:cNvGraphicFramePr>
            <a:graphicFrameLocks noChangeAspect="1"/>
          </p:cNvGraphicFramePr>
          <p:nvPr/>
        </p:nvGraphicFramePr>
        <p:xfrm>
          <a:off x="4629150" y="5186363"/>
          <a:ext cx="400050" cy="528637"/>
        </p:xfrm>
        <a:graphic>
          <a:graphicData uri="http://schemas.openxmlformats.org/presentationml/2006/ole">
            <mc:AlternateContent xmlns:mc="http://schemas.openxmlformats.org/markup-compatibility/2006">
              <mc:Choice xmlns:v="urn:schemas-microsoft-com:vml" Requires="v">
                <p:oleObj spid="_x0000_s146581" name="公式" r:id="rId9" imgW="190417" imgH="253890" progId="Equation.3">
                  <p:embed/>
                </p:oleObj>
              </mc:Choice>
              <mc:Fallback>
                <p:oleObj name="公式" r:id="rId9" imgW="190417" imgH="25389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29150" y="5186363"/>
                        <a:ext cx="400050" cy="528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46444" name="Line 12"/>
          <p:cNvSpPr>
            <a:spLocks noChangeShapeType="1"/>
          </p:cNvSpPr>
          <p:nvPr/>
        </p:nvSpPr>
        <p:spPr bwMode="auto">
          <a:xfrm flipV="1">
            <a:off x="3657600" y="4800600"/>
            <a:ext cx="1143000" cy="304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5" name="Line 13"/>
          <p:cNvSpPr>
            <a:spLocks noChangeShapeType="1"/>
          </p:cNvSpPr>
          <p:nvPr/>
        </p:nvSpPr>
        <p:spPr bwMode="auto">
          <a:xfrm flipV="1">
            <a:off x="5943600" y="4191000"/>
            <a:ext cx="0" cy="9144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6" name="Line 14"/>
          <p:cNvSpPr>
            <a:spLocks noChangeShapeType="1"/>
          </p:cNvSpPr>
          <p:nvPr/>
        </p:nvSpPr>
        <p:spPr bwMode="auto">
          <a:xfrm flipV="1">
            <a:off x="4800600" y="4191000"/>
            <a:ext cx="1143000" cy="609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7" name="Line 15"/>
          <p:cNvSpPr>
            <a:spLocks noChangeShapeType="1"/>
          </p:cNvSpPr>
          <p:nvPr/>
        </p:nvSpPr>
        <p:spPr bwMode="auto">
          <a:xfrm flipV="1">
            <a:off x="5943600" y="3048000"/>
            <a:ext cx="609600" cy="1143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8" name="Line 16"/>
          <p:cNvSpPr>
            <a:spLocks noChangeShapeType="1"/>
          </p:cNvSpPr>
          <p:nvPr/>
        </p:nvSpPr>
        <p:spPr bwMode="auto">
          <a:xfrm>
            <a:off x="4800600" y="4800600"/>
            <a:ext cx="0" cy="3048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9"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Machine Selection</a:t>
            </a:r>
          </a:p>
        </p:txBody>
      </p:sp>
      <p:sp>
        <p:nvSpPr>
          <p:cNvPr id="147459" name="Rectangle 3"/>
          <p:cNvSpPr>
            <a:spLocks noGrp="1" noChangeArrowheads="1"/>
          </p:cNvSpPr>
          <p:nvPr>
            <p:ph type="body" idx="1"/>
          </p:nvPr>
        </p:nvSpPr>
        <p:spPr/>
        <p:txBody>
          <a:bodyPr/>
          <a:lstStyle/>
          <a:p>
            <a:pPr marL="0" indent="0" eaLnBrk="1" hangingPunct="1"/>
            <a:r>
              <a:rPr lang="en-US" altLang="zh-CN" sz="2400">
                <a:latin typeface="Verdana" panose="020B0604030504040204" pitchFamily="34" charset="0"/>
                <a:ea typeface="宋体" panose="02010600030101010101" pitchFamily="2" charset="-122"/>
              </a:rPr>
              <a:t>Machine criticality</a:t>
            </a:r>
          </a:p>
          <a:p>
            <a:pPr lvl="1" eaLnBrk="1" hangingPunct="1"/>
            <a:r>
              <a:rPr kumimoji="0" lang="en-US" altLang="zh-CN" sz="2400">
                <a:ea typeface="宋体" panose="02010600030101010101" pitchFamily="2" charset="-122"/>
              </a:rPr>
              <a:t>Solve a single machine problem</a:t>
            </a:r>
          </a:p>
          <a:p>
            <a:pPr lvl="1" eaLnBrk="1" hangingPunct="1"/>
            <a:r>
              <a:rPr kumimoji="0" lang="en-US" altLang="zh-CN" sz="2400">
                <a:ea typeface="宋体" panose="02010600030101010101" pitchFamily="2" charset="-122"/>
              </a:rPr>
              <a:t>Piecewise linear cost function</a:t>
            </a:r>
          </a:p>
          <a:p>
            <a:pPr lvl="1" eaLnBrk="1" hangingPunct="1"/>
            <a:r>
              <a:rPr kumimoji="0" lang="en-US" altLang="zh-CN" sz="2400">
                <a:ea typeface="宋体" panose="02010600030101010101" pitchFamily="2" charset="-122"/>
              </a:rPr>
              <a:t>May have delayed precedence constraints</a:t>
            </a:r>
          </a:p>
          <a:p>
            <a:pPr lvl="1" eaLnBrk="1" hangingPunct="1"/>
            <a:r>
              <a:rPr kumimoji="0" lang="en-US" altLang="zh-CN" sz="2400">
                <a:ea typeface="宋体" panose="02010600030101010101" pitchFamily="2" charset="-122"/>
              </a:rPr>
              <a:t>Generalizes single-machine with </a:t>
            </a:r>
            <a:r>
              <a:rPr kumimoji="0" lang="en-US" altLang="zh-CN" sz="2400" i="1">
                <a:ea typeface="宋体" panose="02010600030101010101" pitchFamily="2" charset="-122"/>
              </a:rPr>
              <a:t>n</a:t>
            </a:r>
            <a:r>
              <a:rPr kumimoji="0" lang="en-US" altLang="zh-CN" sz="2400">
                <a:ea typeface="宋体" panose="02010600030101010101" pitchFamily="2" charset="-122"/>
              </a:rPr>
              <a:t> jobs, precedence constraints, and total weighted tardiness objective</a:t>
            </a:r>
          </a:p>
          <a:p>
            <a:pPr lvl="1" eaLnBrk="1" hangingPunct="1"/>
            <a:r>
              <a:rPr kumimoji="0" lang="en-US" altLang="zh-CN" sz="2400">
                <a:ea typeface="宋体" panose="02010600030101010101" pitchFamily="2" charset="-122"/>
              </a:rPr>
              <a:t>ATC rule</a:t>
            </a:r>
          </a:p>
        </p:txBody>
      </p:sp>
      <p:sp>
        <p:nvSpPr>
          <p:cNvPr id="14746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ChangeArrowheads="1"/>
          </p:cNvSpPr>
          <p:nvPr/>
        </p:nvSpPr>
        <p:spPr bwMode="auto">
          <a:xfrm>
            <a:off x="4495800" y="1905000"/>
            <a:ext cx="4343400" cy="457200"/>
          </a:xfrm>
          <a:prstGeom prst="rect">
            <a:avLst/>
          </a:prstGeom>
          <a:solidFill>
            <a:schemeClr val="accent2"/>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48483" name="Rectangle 3"/>
          <p:cNvSpPr>
            <a:spLocks noChangeArrowheads="1"/>
          </p:cNvSpPr>
          <p:nvPr/>
        </p:nvSpPr>
        <p:spPr bwMode="auto">
          <a:xfrm>
            <a:off x="4191000" y="5029200"/>
            <a:ext cx="2286000" cy="457200"/>
          </a:xfrm>
          <a:prstGeom prst="rect">
            <a:avLst/>
          </a:prstGeom>
          <a:solidFill>
            <a:schemeClr val="accent2"/>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48484" name="Rectangle 4"/>
          <p:cNvSpPr>
            <a:spLocks noChangeArrowheads="1"/>
          </p:cNvSpPr>
          <p:nvPr/>
        </p:nvSpPr>
        <p:spPr bwMode="auto">
          <a:xfrm>
            <a:off x="1066800" y="4800600"/>
            <a:ext cx="2362200" cy="838200"/>
          </a:xfrm>
          <a:prstGeom prst="rect">
            <a:avLst/>
          </a:prstGeom>
          <a:solidFill>
            <a:schemeClr val="accent2"/>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36870" name="Rectangle 5"/>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Generalized ATC Rule</a:t>
            </a:r>
          </a:p>
        </p:txBody>
      </p:sp>
      <p:graphicFrame>
        <p:nvGraphicFramePr>
          <p:cNvPr id="148486" name="Object 6"/>
          <p:cNvGraphicFramePr>
            <a:graphicFrameLocks noChangeAspect="1"/>
          </p:cNvGraphicFramePr>
          <p:nvPr/>
        </p:nvGraphicFramePr>
        <p:xfrm>
          <a:off x="1012825" y="2819400"/>
          <a:ext cx="7156450" cy="1647825"/>
        </p:xfrm>
        <a:graphic>
          <a:graphicData uri="http://schemas.openxmlformats.org/presentationml/2006/ole">
            <mc:AlternateContent xmlns:mc="http://schemas.openxmlformats.org/markup-compatibility/2006">
              <mc:Choice xmlns:v="urn:schemas-microsoft-com:vml" Requires="v">
                <p:oleObj spid="_x0000_s148526" name="公式" r:id="rId3" imgW="2527300" imgH="584200" progId="Equation.3">
                  <p:embed/>
                </p:oleObj>
              </mc:Choice>
              <mc:Fallback>
                <p:oleObj name="公式" r:id="rId3" imgW="2527300" imgH="584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2825" y="2819400"/>
                        <a:ext cx="7156450" cy="164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48487" name="Text Box 7"/>
          <p:cNvSpPr txBox="1">
            <a:spLocks noChangeArrowheads="1"/>
          </p:cNvSpPr>
          <p:nvPr/>
        </p:nvSpPr>
        <p:spPr bwMode="auto">
          <a:xfrm>
            <a:off x="4479925" y="1870075"/>
            <a:ext cx="4332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Earliest time machine can be used</a:t>
            </a:r>
          </a:p>
        </p:txBody>
      </p:sp>
      <p:sp>
        <p:nvSpPr>
          <p:cNvPr id="148488" name="Line 8"/>
          <p:cNvSpPr>
            <a:spLocks noChangeShapeType="1"/>
          </p:cNvSpPr>
          <p:nvPr/>
        </p:nvSpPr>
        <p:spPr bwMode="auto">
          <a:xfrm>
            <a:off x="7315200" y="2362200"/>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489" name="Text Box 9"/>
          <p:cNvSpPr txBox="1">
            <a:spLocks noChangeArrowheads="1"/>
          </p:cNvSpPr>
          <p:nvPr/>
        </p:nvSpPr>
        <p:spPr bwMode="auto">
          <a:xfrm>
            <a:off x="4251325" y="4994275"/>
            <a:ext cx="218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Scaling constant</a:t>
            </a:r>
          </a:p>
        </p:txBody>
      </p:sp>
      <p:sp>
        <p:nvSpPr>
          <p:cNvPr id="148490" name="Line 10"/>
          <p:cNvSpPr>
            <a:spLocks noChangeShapeType="1"/>
          </p:cNvSpPr>
          <p:nvPr/>
        </p:nvSpPr>
        <p:spPr bwMode="auto">
          <a:xfrm flipV="1">
            <a:off x="5943600" y="411480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491" name="Text Box 11"/>
          <p:cNvSpPr txBox="1">
            <a:spLocks noChangeArrowheads="1"/>
          </p:cNvSpPr>
          <p:nvPr/>
        </p:nvSpPr>
        <p:spPr bwMode="auto">
          <a:xfrm>
            <a:off x="1050925" y="4765675"/>
            <a:ext cx="2311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Ranks jobs</a:t>
            </a:r>
          </a:p>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sym typeface="Symbol" panose="05050102010706020507" pitchFamily="18" charset="2"/>
              </a:rPr>
              <a:t> </a:t>
            </a:r>
            <a:r>
              <a:rPr lang="en-US" altLang="zh-CN" sz="2400" b="0">
                <a:latin typeface="Times New Roman" panose="02020603050405020304" pitchFamily="18" charset="0"/>
                <a:ea typeface="宋体" panose="02010600030101010101" pitchFamily="2" charset="-122"/>
              </a:rPr>
              <a:t>good schedule</a:t>
            </a:r>
          </a:p>
        </p:txBody>
      </p:sp>
      <p:sp>
        <p:nvSpPr>
          <p:cNvPr id="148492" name="Line 12"/>
          <p:cNvSpPr>
            <a:spLocks noChangeShapeType="1"/>
          </p:cNvSpPr>
          <p:nvPr/>
        </p:nvSpPr>
        <p:spPr bwMode="auto">
          <a:xfrm flipV="1">
            <a:off x="1447800" y="41148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493"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457200" y="152400"/>
            <a:ext cx="7467600" cy="533400"/>
          </a:xfrm>
        </p:spPr>
        <p:txBody>
          <a:bodyPr>
            <a:normAutofit fontScale="90000"/>
          </a:bodyPr>
          <a:lstStyle/>
          <a:p>
            <a:pPr eaLnBrk="1" hangingPunct="1">
              <a:defRPr/>
            </a:pPr>
            <a:r>
              <a:rPr kumimoji="0" lang="en-US" altLang="zh-CN" b="1" dirty="0">
                <a:latin typeface="Verdana" charset="0"/>
                <a:cs typeface="宋体" charset="0"/>
              </a:rPr>
              <a:t>Criticality of Machines</a:t>
            </a:r>
          </a:p>
        </p:txBody>
      </p:sp>
      <p:sp>
        <p:nvSpPr>
          <p:cNvPr id="149507" name="Rectangle 3"/>
          <p:cNvSpPr>
            <a:spLocks noGrp="1" noChangeArrowheads="1"/>
          </p:cNvSpPr>
          <p:nvPr>
            <p:ph type="body" idx="1"/>
          </p:nvPr>
        </p:nvSpPr>
        <p:spPr>
          <a:xfrm>
            <a:off x="457200" y="1600200"/>
            <a:ext cx="8534400" cy="4419600"/>
          </a:xfrm>
        </p:spPr>
        <p:txBody>
          <a:bodyPr/>
          <a:lstStyle/>
          <a:p>
            <a:pPr marL="0" indent="0" eaLnBrk="1" hangingPunct="1"/>
            <a:r>
              <a:rPr lang="en-US" altLang="zh-CN">
                <a:latin typeface="Verdana" panose="020B0604030504040204" pitchFamily="34" charset="0"/>
                <a:ea typeface="宋体" panose="02010600030101010101" pitchFamily="2" charset="-122"/>
              </a:rPr>
              <a:t>Criticality =  subproblem objective function</a:t>
            </a:r>
          </a:p>
          <a:p>
            <a:pPr lvl="1" eaLnBrk="1" hangingPunct="1"/>
            <a:r>
              <a:rPr kumimoji="0" lang="en-US" altLang="zh-CN">
                <a:ea typeface="宋体" panose="02010600030101010101" pitchFamily="2" charset="-122"/>
              </a:rPr>
              <a:t>Simple</a:t>
            </a:r>
          </a:p>
          <a:p>
            <a:pPr marL="0" indent="0" eaLnBrk="1" hangingPunct="1"/>
            <a:r>
              <a:rPr lang="en-US" altLang="zh-CN">
                <a:latin typeface="Verdana" panose="020B0604030504040204" pitchFamily="34" charset="0"/>
                <a:ea typeface="宋体" panose="02010600030101010101" pitchFamily="2" charset="-122"/>
              </a:rPr>
              <a:t>More effective ways, e.g.</a:t>
            </a:r>
          </a:p>
          <a:p>
            <a:pPr lvl="1" eaLnBrk="1" hangingPunct="1"/>
            <a:r>
              <a:rPr kumimoji="0" lang="en-US" altLang="zh-CN">
                <a:ea typeface="宋体" panose="02010600030101010101" pitchFamily="2" charset="-122"/>
              </a:rPr>
              <a:t>Add disjunctive arcs for each machine</a:t>
            </a:r>
          </a:p>
          <a:p>
            <a:pPr lvl="1" eaLnBrk="1" hangingPunct="1"/>
            <a:r>
              <a:rPr kumimoji="0" lang="en-US" altLang="zh-CN">
                <a:ea typeface="宋体" panose="02010600030101010101" pitchFamily="2" charset="-122"/>
              </a:rPr>
              <a:t>Calculate new completion times        and</a:t>
            </a:r>
          </a:p>
        </p:txBody>
      </p:sp>
      <p:graphicFrame>
        <p:nvGraphicFramePr>
          <p:cNvPr id="149508" name="Object 4"/>
          <p:cNvGraphicFramePr>
            <a:graphicFrameLocks noChangeAspect="1"/>
          </p:cNvGraphicFramePr>
          <p:nvPr/>
        </p:nvGraphicFramePr>
        <p:xfrm>
          <a:off x="4572000" y="3124200"/>
          <a:ext cx="512763" cy="641350"/>
        </p:xfrm>
        <a:graphic>
          <a:graphicData uri="http://schemas.openxmlformats.org/presentationml/2006/ole">
            <mc:AlternateContent xmlns:mc="http://schemas.openxmlformats.org/markup-compatibility/2006">
              <mc:Choice xmlns:v="urn:schemas-microsoft-com:vml" Requires="v">
                <p:oleObj spid="_x0000_s149575" name="Equation" r:id="rId3" imgW="203024" imgH="253780" progId="Equation.3">
                  <p:embed/>
                </p:oleObj>
              </mc:Choice>
              <mc:Fallback>
                <p:oleObj name="Equation" r:id="rId3" imgW="203024" imgH="25378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124200"/>
                        <a:ext cx="512763"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9509" name="Object 5"/>
          <p:cNvGraphicFramePr>
            <a:graphicFrameLocks noChangeAspect="1"/>
          </p:cNvGraphicFramePr>
          <p:nvPr/>
        </p:nvGraphicFramePr>
        <p:xfrm>
          <a:off x="1905000" y="4648200"/>
          <a:ext cx="5360988" cy="1352550"/>
        </p:xfrm>
        <a:graphic>
          <a:graphicData uri="http://schemas.openxmlformats.org/presentationml/2006/ole">
            <mc:AlternateContent xmlns:mc="http://schemas.openxmlformats.org/markup-compatibility/2006">
              <mc:Choice xmlns:v="urn:schemas-microsoft-com:vml" Requires="v">
                <p:oleObj spid="_x0000_s149576" name="公式" r:id="rId5" imgW="2108200" imgH="533400" progId="Equation.3">
                  <p:embed/>
                </p:oleObj>
              </mc:Choice>
              <mc:Fallback>
                <p:oleObj name="公式" r:id="rId5" imgW="2108200" imgH="533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4648200"/>
                        <a:ext cx="5360988" cy="1352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49510"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ChangeArrowheads="1"/>
          </p:cNvSpPr>
          <p:nvPr>
            <p:ph type="title"/>
          </p:nvPr>
        </p:nvSpPr>
        <p:spPr/>
        <p:txBody>
          <a:bodyPr>
            <a:normAutofit fontScale="90000"/>
          </a:bodyPr>
          <a:lstStyle/>
          <a:p>
            <a:pPr eaLnBrk="1" hangingPunct="1">
              <a:defRPr/>
            </a:pPr>
            <a:r>
              <a:rPr kumimoji="0" lang="en-US" altLang="zh-CN" b="1">
                <a:latin typeface="Verdana" charset="0"/>
                <a:cs typeface="宋体" charset="0"/>
              </a:rPr>
              <a:t>Example</a:t>
            </a:r>
          </a:p>
        </p:txBody>
      </p:sp>
      <p:sp>
        <p:nvSpPr>
          <p:cNvPr id="150531" name="Oval 3"/>
          <p:cNvSpPr>
            <a:spLocks noChangeArrowheads="1"/>
          </p:cNvSpPr>
          <p:nvPr/>
        </p:nvSpPr>
        <p:spPr bwMode="auto">
          <a:xfrm>
            <a:off x="2438400" y="2016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50532" name="Oval 4"/>
          <p:cNvSpPr>
            <a:spLocks noChangeArrowheads="1"/>
          </p:cNvSpPr>
          <p:nvPr/>
        </p:nvSpPr>
        <p:spPr bwMode="auto">
          <a:xfrm>
            <a:off x="3825875" y="2016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50533" name="Oval 5"/>
          <p:cNvSpPr>
            <a:spLocks noChangeArrowheads="1"/>
          </p:cNvSpPr>
          <p:nvPr/>
        </p:nvSpPr>
        <p:spPr bwMode="auto">
          <a:xfrm>
            <a:off x="5197475" y="2016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50534" name="Oval 6"/>
          <p:cNvSpPr>
            <a:spLocks noChangeArrowheads="1"/>
          </p:cNvSpPr>
          <p:nvPr/>
        </p:nvSpPr>
        <p:spPr bwMode="auto">
          <a:xfrm>
            <a:off x="2438400" y="3006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50535" name="Oval 7"/>
          <p:cNvSpPr>
            <a:spLocks noChangeArrowheads="1"/>
          </p:cNvSpPr>
          <p:nvPr/>
        </p:nvSpPr>
        <p:spPr bwMode="auto">
          <a:xfrm>
            <a:off x="3810000" y="3006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50536" name="Oval 8"/>
          <p:cNvSpPr>
            <a:spLocks noChangeArrowheads="1"/>
          </p:cNvSpPr>
          <p:nvPr/>
        </p:nvSpPr>
        <p:spPr bwMode="auto">
          <a:xfrm>
            <a:off x="2438400" y="4073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50537" name="Oval 9"/>
          <p:cNvSpPr>
            <a:spLocks noChangeArrowheads="1"/>
          </p:cNvSpPr>
          <p:nvPr/>
        </p:nvSpPr>
        <p:spPr bwMode="auto">
          <a:xfrm>
            <a:off x="3810000" y="4073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50538" name="Oval 10"/>
          <p:cNvSpPr>
            <a:spLocks noChangeArrowheads="1"/>
          </p:cNvSpPr>
          <p:nvPr/>
        </p:nvSpPr>
        <p:spPr bwMode="auto">
          <a:xfrm>
            <a:off x="5181600" y="4073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50539" name="Line 11"/>
          <p:cNvSpPr>
            <a:spLocks noChangeShapeType="1"/>
          </p:cNvSpPr>
          <p:nvPr/>
        </p:nvSpPr>
        <p:spPr bwMode="auto">
          <a:xfrm>
            <a:off x="3292475" y="2397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40" name="Line 12"/>
          <p:cNvSpPr>
            <a:spLocks noChangeShapeType="1"/>
          </p:cNvSpPr>
          <p:nvPr/>
        </p:nvSpPr>
        <p:spPr bwMode="auto">
          <a:xfrm>
            <a:off x="4664075" y="2397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41" name="Line 13"/>
          <p:cNvSpPr>
            <a:spLocks noChangeShapeType="1"/>
          </p:cNvSpPr>
          <p:nvPr/>
        </p:nvSpPr>
        <p:spPr bwMode="auto">
          <a:xfrm>
            <a:off x="3276600" y="3387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42" name="Line 14"/>
          <p:cNvSpPr>
            <a:spLocks noChangeShapeType="1"/>
          </p:cNvSpPr>
          <p:nvPr/>
        </p:nvSpPr>
        <p:spPr bwMode="auto">
          <a:xfrm>
            <a:off x="3276600" y="4454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43" name="Line 15"/>
          <p:cNvSpPr>
            <a:spLocks noChangeShapeType="1"/>
          </p:cNvSpPr>
          <p:nvPr/>
        </p:nvSpPr>
        <p:spPr bwMode="auto">
          <a:xfrm>
            <a:off x="4648200" y="4454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44" name="Oval 16"/>
          <p:cNvSpPr>
            <a:spLocks noChangeArrowheads="1"/>
          </p:cNvSpPr>
          <p:nvPr/>
        </p:nvSpPr>
        <p:spPr bwMode="auto">
          <a:xfrm>
            <a:off x="6477000" y="1981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50545" name="Oval 17"/>
          <p:cNvSpPr>
            <a:spLocks noChangeArrowheads="1"/>
          </p:cNvSpPr>
          <p:nvPr/>
        </p:nvSpPr>
        <p:spPr bwMode="auto">
          <a:xfrm>
            <a:off x="1066800" y="3006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50546" name="Line 18"/>
          <p:cNvSpPr>
            <a:spLocks noChangeShapeType="1"/>
          </p:cNvSpPr>
          <p:nvPr/>
        </p:nvSpPr>
        <p:spPr bwMode="auto">
          <a:xfrm>
            <a:off x="1905000" y="3387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47" name="Oval 19"/>
          <p:cNvSpPr>
            <a:spLocks noChangeArrowheads="1"/>
          </p:cNvSpPr>
          <p:nvPr/>
        </p:nvSpPr>
        <p:spPr bwMode="auto">
          <a:xfrm>
            <a:off x="5181600" y="3006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50548" name="Line 20"/>
          <p:cNvSpPr>
            <a:spLocks noChangeShapeType="1"/>
          </p:cNvSpPr>
          <p:nvPr/>
        </p:nvSpPr>
        <p:spPr bwMode="auto">
          <a:xfrm>
            <a:off x="6019800" y="34290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49" name="Line 21"/>
          <p:cNvSpPr>
            <a:spLocks noChangeShapeType="1"/>
          </p:cNvSpPr>
          <p:nvPr/>
        </p:nvSpPr>
        <p:spPr bwMode="auto">
          <a:xfrm>
            <a:off x="4648200" y="3387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50" name="Text Box 22"/>
          <p:cNvSpPr txBox="1">
            <a:spLocks noChangeArrowheads="1"/>
          </p:cNvSpPr>
          <p:nvPr/>
        </p:nvSpPr>
        <p:spPr bwMode="auto">
          <a:xfrm>
            <a:off x="1752600"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0551" name="Text Box 23"/>
          <p:cNvSpPr txBox="1">
            <a:spLocks noChangeArrowheads="1"/>
          </p:cNvSpPr>
          <p:nvPr/>
        </p:nvSpPr>
        <p:spPr bwMode="auto">
          <a:xfrm>
            <a:off x="3276600"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0552" name="Text Box 24"/>
          <p:cNvSpPr txBox="1">
            <a:spLocks noChangeArrowheads="1"/>
          </p:cNvSpPr>
          <p:nvPr/>
        </p:nvSpPr>
        <p:spPr bwMode="auto">
          <a:xfrm>
            <a:off x="4648200" y="1981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50553" name="Text Box 25"/>
          <p:cNvSpPr txBox="1">
            <a:spLocks noChangeArrowheads="1"/>
          </p:cNvSpPr>
          <p:nvPr/>
        </p:nvSpPr>
        <p:spPr bwMode="auto">
          <a:xfrm>
            <a:off x="6096000" y="1981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50554" name="Text Box 26"/>
          <p:cNvSpPr txBox="1">
            <a:spLocks noChangeArrowheads="1"/>
          </p:cNvSpPr>
          <p:nvPr/>
        </p:nvSpPr>
        <p:spPr bwMode="auto">
          <a:xfrm>
            <a:off x="3260725" y="2971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50555" name="Text Box 27"/>
          <p:cNvSpPr txBox="1">
            <a:spLocks noChangeArrowheads="1"/>
          </p:cNvSpPr>
          <p:nvPr/>
        </p:nvSpPr>
        <p:spPr bwMode="auto">
          <a:xfrm>
            <a:off x="4708525" y="2971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0556" name="Text Box 28"/>
          <p:cNvSpPr txBox="1">
            <a:spLocks noChangeArrowheads="1"/>
          </p:cNvSpPr>
          <p:nvPr/>
        </p:nvSpPr>
        <p:spPr bwMode="auto">
          <a:xfrm>
            <a:off x="6080125" y="2971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6</a:t>
            </a:r>
          </a:p>
        </p:txBody>
      </p:sp>
      <p:sp>
        <p:nvSpPr>
          <p:cNvPr id="150557" name="Text Box 29"/>
          <p:cNvSpPr txBox="1">
            <a:spLocks noChangeArrowheads="1"/>
          </p:cNvSpPr>
          <p:nvPr/>
        </p:nvSpPr>
        <p:spPr bwMode="auto">
          <a:xfrm>
            <a:off x="3321050" y="4073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0558" name="Text Box 30"/>
          <p:cNvSpPr txBox="1">
            <a:spLocks noChangeArrowheads="1"/>
          </p:cNvSpPr>
          <p:nvPr/>
        </p:nvSpPr>
        <p:spPr bwMode="auto">
          <a:xfrm>
            <a:off x="4708525" y="4038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50559" name="Text Box 31"/>
          <p:cNvSpPr txBox="1">
            <a:spLocks noChangeArrowheads="1"/>
          </p:cNvSpPr>
          <p:nvPr/>
        </p:nvSpPr>
        <p:spPr bwMode="auto">
          <a:xfrm>
            <a:off x="6019800" y="4038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7</a:t>
            </a:r>
          </a:p>
        </p:txBody>
      </p:sp>
      <p:sp>
        <p:nvSpPr>
          <p:cNvPr id="150560" name="Text Box 32"/>
          <p:cNvSpPr txBox="1">
            <a:spLocks noChangeArrowheads="1"/>
          </p:cNvSpPr>
          <p:nvPr/>
        </p:nvSpPr>
        <p:spPr bwMode="auto">
          <a:xfrm>
            <a:off x="1828800" y="3962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50561" name="Text Box 33"/>
          <p:cNvSpPr txBox="1">
            <a:spLocks noChangeArrowheads="1"/>
          </p:cNvSpPr>
          <p:nvPr/>
        </p:nvSpPr>
        <p:spPr bwMode="auto">
          <a:xfrm>
            <a:off x="2041525" y="2971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50562" name="Oval 34"/>
          <p:cNvSpPr>
            <a:spLocks noChangeArrowheads="1"/>
          </p:cNvSpPr>
          <p:nvPr/>
        </p:nvSpPr>
        <p:spPr bwMode="auto">
          <a:xfrm>
            <a:off x="6477000" y="3048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50563" name="Oval 35"/>
          <p:cNvSpPr>
            <a:spLocks noChangeArrowheads="1"/>
          </p:cNvSpPr>
          <p:nvPr/>
        </p:nvSpPr>
        <p:spPr bwMode="auto">
          <a:xfrm>
            <a:off x="6477000" y="4038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50564" name="Line 36"/>
          <p:cNvSpPr>
            <a:spLocks noChangeShapeType="1"/>
          </p:cNvSpPr>
          <p:nvPr/>
        </p:nvSpPr>
        <p:spPr bwMode="auto">
          <a:xfrm>
            <a:off x="6019800" y="4419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65" name="Line 37"/>
          <p:cNvSpPr>
            <a:spLocks noChangeShapeType="1"/>
          </p:cNvSpPr>
          <p:nvPr/>
        </p:nvSpPr>
        <p:spPr bwMode="auto">
          <a:xfrm>
            <a:off x="6019800" y="2362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66" name="Line 38"/>
          <p:cNvSpPr>
            <a:spLocks noChangeShapeType="1"/>
          </p:cNvSpPr>
          <p:nvPr/>
        </p:nvSpPr>
        <p:spPr bwMode="auto">
          <a:xfrm flipV="1">
            <a:off x="1676400" y="24384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567" name="Line 39"/>
          <p:cNvSpPr>
            <a:spLocks noChangeShapeType="1"/>
          </p:cNvSpPr>
          <p:nvPr/>
        </p:nvSpPr>
        <p:spPr bwMode="auto">
          <a:xfrm>
            <a:off x="1676400" y="37338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0568" name="Object 40"/>
          <p:cNvGraphicFramePr>
            <a:graphicFrameLocks noChangeAspect="1"/>
          </p:cNvGraphicFramePr>
          <p:nvPr/>
        </p:nvGraphicFramePr>
        <p:xfrm>
          <a:off x="7489825" y="2124075"/>
          <a:ext cx="1044575" cy="466725"/>
        </p:xfrm>
        <a:graphic>
          <a:graphicData uri="http://schemas.openxmlformats.org/presentationml/2006/ole">
            <mc:AlternateContent xmlns:mc="http://schemas.openxmlformats.org/markup-compatibility/2006">
              <mc:Choice xmlns:v="urn:schemas-microsoft-com:vml" Requires="v">
                <p:oleObj spid="_x0000_s150669" name="Equation" r:id="rId3" imgW="482181" imgH="215713" progId="Equation.3">
                  <p:embed/>
                </p:oleObj>
              </mc:Choice>
              <mc:Fallback>
                <p:oleObj name="Equation" r:id="rId3" imgW="482181" imgH="215713"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9825" y="2124075"/>
                        <a:ext cx="104457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0569" name="Object 41"/>
          <p:cNvGraphicFramePr>
            <a:graphicFrameLocks noChangeAspect="1"/>
          </p:cNvGraphicFramePr>
          <p:nvPr/>
        </p:nvGraphicFramePr>
        <p:xfrm>
          <a:off x="7489825" y="3124200"/>
          <a:ext cx="1044575" cy="466725"/>
        </p:xfrm>
        <a:graphic>
          <a:graphicData uri="http://schemas.openxmlformats.org/presentationml/2006/ole">
            <mc:AlternateContent xmlns:mc="http://schemas.openxmlformats.org/markup-compatibility/2006">
              <mc:Choice xmlns:v="urn:schemas-microsoft-com:vml" Requires="v">
                <p:oleObj spid="_x0000_s150670" name="Equation" r:id="rId5" imgW="482181" imgH="215713" progId="Equation.3">
                  <p:embed/>
                </p:oleObj>
              </mc:Choice>
              <mc:Fallback>
                <p:oleObj name="Equation" r:id="rId5" imgW="482181" imgH="215713"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9825" y="3124200"/>
                        <a:ext cx="104457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0570" name="Object 42"/>
          <p:cNvGraphicFramePr>
            <a:graphicFrameLocks noChangeAspect="1"/>
          </p:cNvGraphicFramePr>
          <p:nvPr/>
        </p:nvGraphicFramePr>
        <p:xfrm>
          <a:off x="7489825" y="4167188"/>
          <a:ext cx="1044575" cy="496887"/>
        </p:xfrm>
        <a:graphic>
          <a:graphicData uri="http://schemas.openxmlformats.org/presentationml/2006/ole">
            <mc:AlternateContent xmlns:mc="http://schemas.openxmlformats.org/markup-compatibility/2006">
              <mc:Choice xmlns:v="urn:schemas-microsoft-com:vml" Requires="v">
                <p:oleObj spid="_x0000_s150671" name="公式" r:id="rId7" imgW="482391" imgH="228501" progId="Equation.3">
                  <p:embed/>
                </p:oleObj>
              </mc:Choice>
              <mc:Fallback>
                <p:oleObj name="公式" r:id="rId7" imgW="482391" imgH="228501" progId="Equation.3">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89825" y="4167188"/>
                        <a:ext cx="1044575"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0571" name="TextBox 44"/>
          <p:cNvSpPr txBox="1">
            <a:spLocks noChangeArrowheads="1"/>
          </p:cNvSpPr>
          <p:nvPr/>
        </p:nvSpPr>
        <p:spPr bwMode="auto">
          <a:xfrm>
            <a:off x="1447800" y="5181600"/>
            <a:ext cx="678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r>
              <a:rPr lang="en-US" altLang="zh-CN" sz="2800" b="0">
                <a:ea typeface="宋体" panose="02010600030101010101" pitchFamily="2" charset="-122"/>
              </a:rPr>
              <a:t>w1=1; w2=2; w3=2</a:t>
            </a:r>
            <a:endParaRPr lang="zh-CN" altLang="en-US" sz="2800" b="0">
              <a:ea typeface="宋体" panose="02010600030101010101" pitchFamily="2" charset="-122"/>
            </a:endParaRPr>
          </a:p>
        </p:txBody>
      </p:sp>
      <p:sp>
        <p:nvSpPr>
          <p:cNvPr id="150572"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457200" y="152400"/>
            <a:ext cx="7162800" cy="533400"/>
          </a:xfrm>
        </p:spPr>
        <p:txBody>
          <a:bodyPr>
            <a:normAutofit fontScale="90000"/>
          </a:bodyPr>
          <a:lstStyle/>
          <a:p>
            <a:pPr eaLnBrk="1" hangingPunct="1">
              <a:defRPr/>
            </a:pPr>
            <a:r>
              <a:rPr kumimoji="0" lang="en-US" altLang="zh-CN" b="1" dirty="0" err="1">
                <a:latin typeface="Verdana" charset="0"/>
                <a:cs typeface="宋体" charset="0"/>
              </a:rPr>
              <a:t>Subproblem</a:t>
            </a:r>
            <a:r>
              <a:rPr kumimoji="0" lang="en-US" altLang="zh-CN" b="1" dirty="0">
                <a:latin typeface="Verdana" charset="0"/>
                <a:cs typeface="宋体" charset="0"/>
              </a:rPr>
              <a:t>: Machine 1</a:t>
            </a:r>
          </a:p>
        </p:txBody>
      </p:sp>
      <p:graphicFrame>
        <p:nvGraphicFramePr>
          <p:cNvPr id="151555" name="Object 3"/>
          <p:cNvGraphicFramePr>
            <a:graphicFrameLocks noChangeAspect="1"/>
          </p:cNvGraphicFramePr>
          <p:nvPr/>
        </p:nvGraphicFramePr>
        <p:xfrm>
          <a:off x="1600200" y="1676400"/>
          <a:ext cx="6232525" cy="4054475"/>
        </p:xfrm>
        <a:graphic>
          <a:graphicData uri="http://schemas.openxmlformats.org/presentationml/2006/ole">
            <mc:AlternateContent xmlns:mc="http://schemas.openxmlformats.org/markup-compatibility/2006">
              <mc:Choice xmlns:v="urn:schemas-microsoft-com:vml" Requires="v">
                <p:oleObj spid="_x0000_s151589"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676400"/>
                        <a:ext cx="6232525"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1556"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ChangeArrowheads="1"/>
          </p:cNvSpPr>
          <p:nvPr/>
        </p:nvSpPr>
        <p:spPr bwMode="auto">
          <a:xfrm>
            <a:off x="685800" y="228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Subproblem: Machine 2</a:t>
            </a:r>
          </a:p>
        </p:txBody>
      </p:sp>
      <p:graphicFrame>
        <p:nvGraphicFramePr>
          <p:cNvPr id="152579" name="Object 3"/>
          <p:cNvGraphicFramePr>
            <a:graphicFrameLocks noChangeAspect="1"/>
          </p:cNvGraphicFramePr>
          <p:nvPr/>
        </p:nvGraphicFramePr>
        <p:xfrm>
          <a:off x="1752600" y="1752600"/>
          <a:ext cx="6232525" cy="4054475"/>
        </p:xfrm>
        <a:graphic>
          <a:graphicData uri="http://schemas.openxmlformats.org/presentationml/2006/ole">
            <mc:AlternateContent xmlns:mc="http://schemas.openxmlformats.org/markup-compatibility/2006">
              <mc:Choice xmlns:v="urn:schemas-microsoft-com:vml" Requires="v">
                <p:oleObj spid="_x0000_s152613"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752600"/>
                        <a:ext cx="6232525"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2580"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ChangeArrowheads="1"/>
          </p:cNvSpPr>
          <p:nvPr/>
        </p:nvSpPr>
        <p:spPr bwMode="auto">
          <a:xfrm>
            <a:off x="838200" y="228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Subproblem: Machine 3</a:t>
            </a:r>
          </a:p>
        </p:txBody>
      </p:sp>
      <p:graphicFrame>
        <p:nvGraphicFramePr>
          <p:cNvPr id="153603" name="Object 3"/>
          <p:cNvGraphicFramePr>
            <a:graphicFrameLocks noChangeAspect="1"/>
          </p:cNvGraphicFramePr>
          <p:nvPr/>
        </p:nvGraphicFramePr>
        <p:xfrm>
          <a:off x="1676400" y="1828800"/>
          <a:ext cx="6232525" cy="4054475"/>
        </p:xfrm>
        <a:graphic>
          <a:graphicData uri="http://schemas.openxmlformats.org/presentationml/2006/ole">
            <mc:AlternateContent xmlns:mc="http://schemas.openxmlformats.org/markup-compatibility/2006">
              <mc:Choice xmlns:v="urn:schemas-microsoft-com:vml" Requires="v">
                <p:oleObj spid="_x0000_s153637"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828800"/>
                        <a:ext cx="6232525"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3604"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ChangeArrowheads="1"/>
          </p:cNvSpPr>
          <p:nvPr/>
        </p:nvSpPr>
        <p:spPr bwMode="auto">
          <a:xfrm>
            <a:off x="7010400" y="4191000"/>
            <a:ext cx="1447800" cy="762000"/>
          </a:xfrm>
          <a:prstGeom prst="rect">
            <a:avLst/>
          </a:prstGeom>
          <a:solidFill>
            <a:schemeClr val="accent2"/>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43013" name="Rectangle 3"/>
          <p:cNvSpPr>
            <a:spLocks noGrp="1" noChangeArrowheads="1"/>
          </p:cNvSpPr>
          <p:nvPr>
            <p:ph type="title"/>
          </p:nvPr>
        </p:nvSpPr>
        <p:spPr>
          <a:xfrm>
            <a:off x="457200" y="152400"/>
            <a:ext cx="7467600" cy="533400"/>
          </a:xfrm>
        </p:spPr>
        <p:txBody>
          <a:bodyPr>
            <a:normAutofit fontScale="90000"/>
          </a:bodyPr>
          <a:lstStyle/>
          <a:p>
            <a:pPr eaLnBrk="1" hangingPunct="1">
              <a:defRPr/>
            </a:pPr>
            <a:r>
              <a:rPr kumimoji="0" lang="en-US" altLang="zh-CN" b="1" dirty="0" err="1">
                <a:latin typeface="Verdana" charset="0"/>
                <a:cs typeface="宋体" charset="0"/>
              </a:rPr>
              <a:t>Subproblem</a:t>
            </a:r>
            <a:r>
              <a:rPr kumimoji="0" lang="en-US" altLang="zh-CN" b="1" dirty="0">
                <a:latin typeface="Verdana" charset="0"/>
                <a:cs typeface="宋体" charset="0"/>
              </a:rPr>
              <a:t> Solutions</a:t>
            </a:r>
          </a:p>
        </p:txBody>
      </p:sp>
      <p:sp>
        <p:nvSpPr>
          <p:cNvPr id="154628" name="Rectangle 4"/>
          <p:cNvSpPr>
            <a:spLocks noGrp="1" noChangeArrowheads="1"/>
          </p:cNvSpPr>
          <p:nvPr>
            <p:ph type="body" idx="1"/>
          </p:nvPr>
        </p:nvSpPr>
        <p:spPr/>
        <p:txBody>
          <a:bodyPr/>
          <a:lstStyle/>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Solve using dispatching rule</a:t>
            </a:r>
          </a:p>
          <a:p>
            <a:pPr lvl="1" eaLnBrk="1" hangingPunct="1"/>
            <a:r>
              <a:rPr kumimoji="0" lang="en-US" altLang="zh-CN" sz="2400">
                <a:ea typeface="宋体" panose="02010600030101010101" pitchFamily="2" charset="-122"/>
              </a:rPr>
              <a:t>Use </a:t>
            </a:r>
            <a:r>
              <a:rPr kumimoji="0" lang="en-US" altLang="zh-CN" sz="2400" i="1">
                <a:ea typeface="宋体" panose="02010600030101010101" pitchFamily="2" charset="-122"/>
              </a:rPr>
              <a:t>K</a:t>
            </a:r>
            <a:r>
              <a:rPr kumimoji="0" lang="en-US" altLang="zh-CN" sz="2400">
                <a:ea typeface="宋体" panose="02010600030101010101" pitchFamily="2" charset="-122"/>
              </a:rPr>
              <a:t>=0.1</a:t>
            </a:r>
          </a:p>
          <a:p>
            <a:pPr lvl="1" eaLnBrk="1" hangingPunct="1"/>
            <a:r>
              <a:rPr kumimoji="0" lang="en-US" altLang="zh-CN" sz="2400">
                <a:ea typeface="宋体" panose="02010600030101010101" pitchFamily="2" charset="-122"/>
              </a:rPr>
              <a:t>Have </a:t>
            </a:r>
            <a:r>
              <a:rPr kumimoji="0" lang="en-US" altLang="zh-CN" sz="2400" i="1">
                <a:ea typeface="宋体" panose="02010600030101010101" pitchFamily="2" charset="-122"/>
              </a:rPr>
              <a:t>t</a:t>
            </a:r>
            <a:r>
              <a:rPr kumimoji="0" lang="en-US" altLang="zh-CN" sz="2400">
                <a:ea typeface="宋体" panose="02010600030101010101" pitchFamily="2" charset="-122"/>
              </a:rPr>
              <a:t> = 4, </a:t>
            </a:r>
          </a:p>
          <a:p>
            <a:pPr eaLnBrk="1" hangingPunct="1">
              <a:buFont typeface="Arial" panose="020B0604020202020204" pitchFamily="34" charset="0"/>
              <a:buChar char="•"/>
            </a:pPr>
            <a:r>
              <a:rPr lang="en-US" altLang="zh-CN" sz="2400">
                <a:latin typeface="Verdana" panose="020B0604030504040204" pitchFamily="34" charset="0"/>
                <a:ea typeface="宋体" panose="02010600030101010101" pitchFamily="2" charset="-122"/>
              </a:rPr>
              <a:t>For machine 1 this results in</a:t>
            </a:r>
          </a:p>
        </p:txBody>
      </p:sp>
      <p:graphicFrame>
        <p:nvGraphicFramePr>
          <p:cNvPr id="154629" name="Object 5"/>
          <p:cNvGraphicFramePr>
            <a:graphicFrameLocks noChangeAspect="1"/>
          </p:cNvGraphicFramePr>
          <p:nvPr/>
        </p:nvGraphicFramePr>
        <p:xfrm>
          <a:off x="3429000" y="4283075"/>
          <a:ext cx="2514600" cy="1736725"/>
        </p:xfrm>
        <a:graphic>
          <a:graphicData uri="http://schemas.openxmlformats.org/presentationml/2006/ole">
            <mc:AlternateContent xmlns:mc="http://schemas.openxmlformats.org/markup-compatibility/2006">
              <mc:Choice xmlns:v="urn:schemas-microsoft-com:vml" Requires="v">
                <p:oleObj spid="_x0000_s154698" name="Equation" r:id="rId3" imgW="1066800" imgH="736600" progId="Equation.3">
                  <p:embed/>
                </p:oleObj>
              </mc:Choice>
              <mc:Fallback>
                <p:oleObj name="Equation" r:id="rId3" imgW="1066800" imgH="736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4283075"/>
                        <a:ext cx="2514600" cy="173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4630" name="Object 6"/>
          <p:cNvGraphicFramePr>
            <a:graphicFrameLocks noChangeAspect="1"/>
          </p:cNvGraphicFramePr>
          <p:nvPr/>
        </p:nvGraphicFramePr>
        <p:xfrm>
          <a:off x="4038600" y="3124200"/>
          <a:ext cx="914400" cy="500063"/>
        </p:xfrm>
        <a:graphic>
          <a:graphicData uri="http://schemas.openxmlformats.org/presentationml/2006/ole">
            <mc:AlternateContent xmlns:mc="http://schemas.openxmlformats.org/markup-compatibility/2006">
              <mc:Choice xmlns:v="urn:schemas-microsoft-com:vml" Requires="v">
                <p:oleObj spid="_x0000_s154699" name="公式" r:id="rId5" imgW="368140" imgH="203112" progId="Equation.3">
                  <p:embed/>
                </p:oleObj>
              </mc:Choice>
              <mc:Fallback>
                <p:oleObj name="公式" r:id="rId5" imgW="368140" imgH="203112"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8600" y="3124200"/>
                        <a:ext cx="914400"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4631" name="Text Box 7"/>
          <p:cNvSpPr txBox="1">
            <a:spLocks noChangeArrowheads="1"/>
          </p:cNvSpPr>
          <p:nvPr/>
        </p:nvSpPr>
        <p:spPr bwMode="auto">
          <a:xfrm>
            <a:off x="7070725" y="4156075"/>
            <a:ext cx="13001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Schedule</a:t>
            </a:r>
          </a:p>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first</a:t>
            </a:r>
          </a:p>
        </p:txBody>
      </p:sp>
      <p:sp>
        <p:nvSpPr>
          <p:cNvPr id="154632" name="Line 8"/>
          <p:cNvSpPr>
            <a:spLocks noChangeShapeType="1"/>
          </p:cNvSpPr>
          <p:nvPr/>
        </p:nvSpPr>
        <p:spPr bwMode="auto">
          <a:xfrm flipH="1">
            <a:off x="5867400" y="4572000"/>
            <a:ext cx="1143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633"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ChangeArrowheads="1"/>
          </p:cNvSpPr>
          <p:nvPr/>
        </p:nvSpPr>
        <p:spPr bwMode="auto">
          <a:xfrm>
            <a:off x="152400" y="1828800"/>
            <a:ext cx="1295400" cy="914400"/>
          </a:xfrm>
          <a:prstGeom prst="rect">
            <a:avLst/>
          </a:prstGeom>
          <a:solidFill>
            <a:schemeClr val="accent2"/>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44036" name="Rectangle 3"/>
          <p:cNvSpPr>
            <a:spLocks noGrp="1" noChangeArrowheads="1"/>
          </p:cNvSpPr>
          <p:nvPr>
            <p:ph type="title"/>
          </p:nvPr>
        </p:nvSpPr>
        <p:spPr>
          <a:xfrm>
            <a:off x="457200" y="152400"/>
            <a:ext cx="7772400" cy="533400"/>
          </a:xfrm>
        </p:spPr>
        <p:txBody>
          <a:bodyPr>
            <a:normAutofit fontScale="90000"/>
          </a:bodyPr>
          <a:lstStyle/>
          <a:p>
            <a:pPr eaLnBrk="1" hangingPunct="1">
              <a:defRPr/>
            </a:pPr>
            <a:r>
              <a:rPr kumimoji="0" lang="en-US" altLang="zh-CN" b="1" dirty="0">
                <a:latin typeface="Verdana" charset="0"/>
                <a:cs typeface="宋体" charset="0"/>
              </a:rPr>
              <a:t>Solution to </a:t>
            </a:r>
            <a:r>
              <a:rPr kumimoji="0" lang="en-US" altLang="zh-CN" b="1" dirty="0" err="1">
                <a:latin typeface="Verdana" charset="0"/>
                <a:cs typeface="宋体" charset="0"/>
              </a:rPr>
              <a:t>Subproblems</a:t>
            </a:r>
            <a:endParaRPr kumimoji="0" lang="en-US" altLang="zh-CN" b="1" dirty="0">
              <a:latin typeface="Verdana" charset="0"/>
              <a:cs typeface="宋体" charset="0"/>
            </a:endParaRPr>
          </a:p>
        </p:txBody>
      </p:sp>
      <p:graphicFrame>
        <p:nvGraphicFramePr>
          <p:cNvPr id="155652" name="Object 4"/>
          <p:cNvGraphicFramePr>
            <a:graphicFrameLocks noChangeAspect="1"/>
          </p:cNvGraphicFramePr>
          <p:nvPr/>
        </p:nvGraphicFramePr>
        <p:xfrm>
          <a:off x="1690688" y="2184400"/>
          <a:ext cx="6234112" cy="4064000"/>
        </p:xfrm>
        <a:graphic>
          <a:graphicData uri="http://schemas.openxmlformats.org/presentationml/2006/ole">
            <mc:AlternateContent xmlns:mc="http://schemas.openxmlformats.org/markup-compatibility/2006">
              <mc:Choice xmlns:v="urn:schemas-microsoft-com:vml" Requires="v">
                <p:oleObj spid="_x0000_s155691" name="文档" r:id="rId3" imgW="6233160" imgH="4064508" progId="Word.Document.8">
                  <p:embed/>
                </p:oleObj>
              </mc:Choice>
              <mc:Fallback>
                <p:oleObj name="文档" r:id="rId3" imgW="6233160" imgH="4064508"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0688" y="2184400"/>
                        <a:ext cx="6234112"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5653" name="Line 5"/>
          <p:cNvSpPr>
            <a:spLocks noChangeShapeType="1"/>
          </p:cNvSpPr>
          <p:nvPr/>
        </p:nvSpPr>
        <p:spPr bwMode="auto">
          <a:xfrm>
            <a:off x="1828800" y="28956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654" name="Line 6"/>
          <p:cNvSpPr>
            <a:spLocks noChangeShapeType="1"/>
          </p:cNvSpPr>
          <p:nvPr/>
        </p:nvSpPr>
        <p:spPr bwMode="auto">
          <a:xfrm>
            <a:off x="1828800" y="2057400"/>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655" name="Text Box 7"/>
          <p:cNvSpPr txBox="1">
            <a:spLocks noChangeArrowheads="1"/>
          </p:cNvSpPr>
          <p:nvPr/>
        </p:nvSpPr>
        <p:spPr bwMode="auto">
          <a:xfrm>
            <a:off x="136525" y="1870075"/>
            <a:ext cx="13001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Schedule</a:t>
            </a:r>
          </a:p>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first</a:t>
            </a:r>
          </a:p>
        </p:txBody>
      </p:sp>
      <p:sp>
        <p:nvSpPr>
          <p:cNvPr id="155656" name="Line 8"/>
          <p:cNvSpPr>
            <a:spLocks noChangeShapeType="1"/>
          </p:cNvSpPr>
          <p:nvPr/>
        </p:nvSpPr>
        <p:spPr bwMode="auto">
          <a:xfrm>
            <a:off x="762000" y="2743200"/>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657" name="Line 9"/>
          <p:cNvSpPr>
            <a:spLocks noChangeShapeType="1"/>
          </p:cNvSpPr>
          <p:nvPr/>
        </p:nvSpPr>
        <p:spPr bwMode="auto">
          <a:xfrm>
            <a:off x="762000" y="3352800"/>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658"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ChangeArrowheads="1"/>
          </p:cNvSpPr>
          <p:nvPr/>
        </p:nvSpPr>
        <p:spPr bwMode="auto">
          <a:xfrm>
            <a:off x="914400" y="228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First Iteration</a:t>
            </a:r>
          </a:p>
        </p:txBody>
      </p:sp>
      <p:sp>
        <p:nvSpPr>
          <p:cNvPr id="156675" name="Oval 3"/>
          <p:cNvSpPr>
            <a:spLocks noChangeArrowheads="1"/>
          </p:cNvSpPr>
          <p:nvPr/>
        </p:nvSpPr>
        <p:spPr bwMode="auto">
          <a:xfrm>
            <a:off x="24384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56676" name="Oval 4"/>
          <p:cNvSpPr>
            <a:spLocks noChangeArrowheads="1"/>
          </p:cNvSpPr>
          <p:nvPr/>
        </p:nvSpPr>
        <p:spPr bwMode="auto">
          <a:xfrm>
            <a:off x="3825875"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56677" name="Oval 5"/>
          <p:cNvSpPr>
            <a:spLocks noChangeArrowheads="1"/>
          </p:cNvSpPr>
          <p:nvPr/>
        </p:nvSpPr>
        <p:spPr bwMode="auto">
          <a:xfrm>
            <a:off x="5197475"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56678" name="Oval 6"/>
          <p:cNvSpPr>
            <a:spLocks noChangeArrowheads="1"/>
          </p:cNvSpPr>
          <p:nvPr/>
        </p:nvSpPr>
        <p:spPr bwMode="auto">
          <a:xfrm>
            <a:off x="24384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56679" name="Oval 7"/>
          <p:cNvSpPr>
            <a:spLocks noChangeArrowheads="1"/>
          </p:cNvSpPr>
          <p:nvPr/>
        </p:nvSpPr>
        <p:spPr bwMode="auto">
          <a:xfrm>
            <a:off x="38100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56680" name="Oval 8"/>
          <p:cNvSpPr>
            <a:spLocks noChangeArrowheads="1"/>
          </p:cNvSpPr>
          <p:nvPr/>
        </p:nvSpPr>
        <p:spPr bwMode="auto">
          <a:xfrm>
            <a:off x="24384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56681" name="Oval 9"/>
          <p:cNvSpPr>
            <a:spLocks noChangeArrowheads="1"/>
          </p:cNvSpPr>
          <p:nvPr/>
        </p:nvSpPr>
        <p:spPr bwMode="auto">
          <a:xfrm>
            <a:off x="38100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56682" name="Oval 10"/>
          <p:cNvSpPr>
            <a:spLocks noChangeArrowheads="1"/>
          </p:cNvSpPr>
          <p:nvPr/>
        </p:nvSpPr>
        <p:spPr bwMode="auto">
          <a:xfrm>
            <a:off x="51816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56683" name="Line 11"/>
          <p:cNvSpPr>
            <a:spLocks noChangeShapeType="1"/>
          </p:cNvSpPr>
          <p:nvPr/>
        </p:nvSpPr>
        <p:spPr bwMode="auto">
          <a:xfrm>
            <a:off x="3292475"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84" name="Line 12"/>
          <p:cNvSpPr>
            <a:spLocks noChangeShapeType="1"/>
          </p:cNvSpPr>
          <p:nvPr/>
        </p:nvSpPr>
        <p:spPr bwMode="auto">
          <a:xfrm>
            <a:off x="4664075"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85" name="Line 13"/>
          <p:cNvSpPr>
            <a:spLocks noChangeShapeType="1"/>
          </p:cNvSpPr>
          <p:nvPr/>
        </p:nvSpPr>
        <p:spPr bwMode="auto">
          <a:xfrm>
            <a:off x="32766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86" name="Line 14"/>
          <p:cNvSpPr>
            <a:spLocks noChangeShapeType="1"/>
          </p:cNvSpPr>
          <p:nvPr/>
        </p:nvSpPr>
        <p:spPr bwMode="auto">
          <a:xfrm>
            <a:off x="32766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87" name="Line 15"/>
          <p:cNvSpPr>
            <a:spLocks noChangeShapeType="1"/>
          </p:cNvSpPr>
          <p:nvPr/>
        </p:nvSpPr>
        <p:spPr bwMode="auto">
          <a:xfrm>
            <a:off x="46482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88" name="Oval 16"/>
          <p:cNvSpPr>
            <a:spLocks noChangeArrowheads="1"/>
          </p:cNvSpPr>
          <p:nvPr/>
        </p:nvSpPr>
        <p:spPr bwMode="auto">
          <a:xfrm>
            <a:off x="6477000" y="2362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56689" name="Oval 17"/>
          <p:cNvSpPr>
            <a:spLocks noChangeArrowheads="1"/>
          </p:cNvSpPr>
          <p:nvPr/>
        </p:nvSpPr>
        <p:spPr bwMode="auto">
          <a:xfrm>
            <a:off x="10668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56690" name="Line 18"/>
          <p:cNvSpPr>
            <a:spLocks noChangeShapeType="1"/>
          </p:cNvSpPr>
          <p:nvPr/>
        </p:nvSpPr>
        <p:spPr bwMode="auto">
          <a:xfrm>
            <a:off x="19050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91" name="Oval 19"/>
          <p:cNvSpPr>
            <a:spLocks noChangeArrowheads="1"/>
          </p:cNvSpPr>
          <p:nvPr/>
        </p:nvSpPr>
        <p:spPr bwMode="auto">
          <a:xfrm>
            <a:off x="51816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56692" name="Line 20"/>
          <p:cNvSpPr>
            <a:spLocks noChangeShapeType="1"/>
          </p:cNvSpPr>
          <p:nvPr/>
        </p:nvSpPr>
        <p:spPr bwMode="auto">
          <a:xfrm>
            <a:off x="6019800" y="38100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93" name="Line 21"/>
          <p:cNvSpPr>
            <a:spLocks noChangeShapeType="1"/>
          </p:cNvSpPr>
          <p:nvPr/>
        </p:nvSpPr>
        <p:spPr bwMode="auto">
          <a:xfrm>
            <a:off x="46482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694" name="Text Box 22"/>
          <p:cNvSpPr txBox="1">
            <a:spLocks noChangeArrowheads="1"/>
          </p:cNvSpPr>
          <p:nvPr/>
        </p:nvSpPr>
        <p:spPr bwMode="auto">
          <a:xfrm>
            <a:off x="1752600"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6695" name="Text Box 23"/>
          <p:cNvSpPr txBox="1">
            <a:spLocks noChangeArrowheads="1"/>
          </p:cNvSpPr>
          <p:nvPr/>
        </p:nvSpPr>
        <p:spPr bwMode="auto">
          <a:xfrm>
            <a:off x="3276600"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6696" name="Text Box 24"/>
          <p:cNvSpPr txBox="1">
            <a:spLocks noChangeArrowheads="1"/>
          </p:cNvSpPr>
          <p:nvPr/>
        </p:nvSpPr>
        <p:spPr bwMode="auto">
          <a:xfrm>
            <a:off x="4648200" y="2362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56697" name="Text Box 25"/>
          <p:cNvSpPr txBox="1">
            <a:spLocks noChangeArrowheads="1"/>
          </p:cNvSpPr>
          <p:nvPr/>
        </p:nvSpPr>
        <p:spPr bwMode="auto">
          <a:xfrm>
            <a:off x="6096000"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56698" name="Text Box 26"/>
          <p:cNvSpPr txBox="1">
            <a:spLocks noChangeArrowheads="1"/>
          </p:cNvSpPr>
          <p:nvPr/>
        </p:nvSpPr>
        <p:spPr bwMode="auto">
          <a:xfrm>
            <a:off x="32607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56699" name="Text Box 27"/>
          <p:cNvSpPr txBox="1">
            <a:spLocks noChangeArrowheads="1"/>
          </p:cNvSpPr>
          <p:nvPr/>
        </p:nvSpPr>
        <p:spPr bwMode="auto">
          <a:xfrm>
            <a:off x="4708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6700" name="Text Box 28"/>
          <p:cNvSpPr txBox="1">
            <a:spLocks noChangeArrowheads="1"/>
          </p:cNvSpPr>
          <p:nvPr/>
        </p:nvSpPr>
        <p:spPr bwMode="auto">
          <a:xfrm>
            <a:off x="60801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6</a:t>
            </a:r>
          </a:p>
        </p:txBody>
      </p:sp>
      <p:sp>
        <p:nvSpPr>
          <p:cNvPr id="156701" name="Text Box 29"/>
          <p:cNvSpPr txBox="1">
            <a:spLocks noChangeArrowheads="1"/>
          </p:cNvSpPr>
          <p:nvPr/>
        </p:nvSpPr>
        <p:spPr bwMode="auto">
          <a:xfrm>
            <a:off x="3321050" y="4454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6702" name="Text Box 30"/>
          <p:cNvSpPr txBox="1">
            <a:spLocks noChangeArrowheads="1"/>
          </p:cNvSpPr>
          <p:nvPr/>
        </p:nvSpPr>
        <p:spPr bwMode="auto">
          <a:xfrm>
            <a:off x="4708525" y="4419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56703" name="Text Box 31"/>
          <p:cNvSpPr txBox="1">
            <a:spLocks noChangeArrowheads="1"/>
          </p:cNvSpPr>
          <p:nvPr/>
        </p:nvSpPr>
        <p:spPr bwMode="auto">
          <a:xfrm>
            <a:off x="6019800" y="4419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7</a:t>
            </a:r>
          </a:p>
        </p:txBody>
      </p:sp>
      <p:sp>
        <p:nvSpPr>
          <p:cNvPr id="156704" name="Text Box 32"/>
          <p:cNvSpPr txBox="1">
            <a:spLocks noChangeArrowheads="1"/>
          </p:cNvSpPr>
          <p:nvPr/>
        </p:nvSpPr>
        <p:spPr bwMode="auto">
          <a:xfrm>
            <a:off x="1828800" y="434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56705" name="Text Box 33"/>
          <p:cNvSpPr txBox="1">
            <a:spLocks noChangeArrowheads="1"/>
          </p:cNvSpPr>
          <p:nvPr/>
        </p:nvSpPr>
        <p:spPr bwMode="auto">
          <a:xfrm>
            <a:off x="2041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56706" name="Oval 34"/>
          <p:cNvSpPr>
            <a:spLocks noChangeArrowheads="1"/>
          </p:cNvSpPr>
          <p:nvPr/>
        </p:nvSpPr>
        <p:spPr bwMode="auto">
          <a:xfrm>
            <a:off x="6477000" y="3429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56707" name="Oval 35"/>
          <p:cNvSpPr>
            <a:spLocks noChangeArrowheads="1"/>
          </p:cNvSpPr>
          <p:nvPr/>
        </p:nvSpPr>
        <p:spPr bwMode="auto">
          <a:xfrm>
            <a:off x="6477000" y="4419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56708" name="Line 36"/>
          <p:cNvSpPr>
            <a:spLocks noChangeShapeType="1"/>
          </p:cNvSpPr>
          <p:nvPr/>
        </p:nvSpPr>
        <p:spPr bwMode="auto">
          <a:xfrm>
            <a:off x="6019800" y="4800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09" name="Line 37"/>
          <p:cNvSpPr>
            <a:spLocks noChangeShapeType="1"/>
          </p:cNvSpPr>
          <p:nvPr/>
        </p:nvSpPr>
        <p:spPr bwMode="auto">
          <a:xfrm>
            <a:off x="6019800" y="2743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10" name="Line 38"/>
          <p:cNvSpPr>
            <a:spLocks noChangeShapeType="1"/>
          </p:cNvSpPr>
          <p:nvPr/>
        </p:nvSpPr>
        <p:spPr bwMode="auto">
          <a:xfrm flipV="1">
            <a:off x="1676400" y="28194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11" name="Line 39"/>
          <p:cNvSpPr>
            <a:spLocks noChangeShapeType="1"/>
          </p:cNvSpPr>
          <p:nvPr/>
        </p:nvSpPr>
        <p:spPr bwMode="auto">
          <a:xfrm>
            <a:off x="1676400" y="41148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6712" name="Object 40"/>
          <p:cNvGraphicFramePr>
            <a:graphicFrameLocks noChangeAspect="1"/>
          </p:cNvGraphicFramePr>
          <p:nvPr/>
        </p:nvGraphicFramePr>
        <p:xfrm>
          <a:off x="7489825" y="2505075"/>
          <a:ext cx="1044575" cy="466725"/>
        </p:xfrm>
        <a:graphic>
          <a:graphicData uri="http://schemas.openxmlformats.org/presentationml/2006/ole">
            <mc:AlternateContent xmlns:mc="http://schemas.openxmlformats.org/markup-compatibility/2006">
              <mc:Choice xmlns:v="urn:schemas-microsoft-com:vml" Requires="v">
                <p:oleObj spid="_x0000_s156816" name="Equation" r:id="rId3" imgW="482181" imgH="215713" progId="Equation.3">
                  <p:embed/>
                </p:oleObj>
              </mc:Choice>
              <mc:Fallback>
                <p:oleObj name="Equation" r:id="rId3" imgW="482181" imgH="215713" progId="Equation.3">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9825" y="2505075"/>
                        <a:ext cx="104457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6713" name="Object 41"/>
          <p:cNvGraphicFramePr>
            <a:graphicFrameLocks noChangeAspect="1"/>
          </p:cNvGraphicFramePr>
          <p:nvPr/>
        </p:nvGraphicFramePr>
        <p:xfrm>
          <a:off x="7489825" y="3505200"/>
          <a:ext cx="1044575" cy="466725"/>
        </p:xfrm>
        <a:graphic>
          <a:graphicData uri="http://schemas.openxmlformats.org/presentationml/2006/ole">
            <mc:AlternateContent xmlns:mc="http://schemas.openxmlformats.org/markup-compatibility/2006">
              <mc:Choice xmlns:v="urn:schemas-microsoft-com:vml" Requires="v">
                <p:oleObj spid="_x0000_s156817" name="公式" r:id="rId5" imgW="482181" imgH="215713" progId="Equation.3">
                  <p:embed/>
                </p:oleObj>
              </mc:Choice>
              <mc:Fallback>
                <p:oleObj name="公式" r:id="rId5" imgW="482181" imgH="215713" progId="Equation.3">
                  <p:embed/>
                  <p:pic>
                    <p:nvPicPr>
                      <p:cNvPr id="0" name="Object 4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89825" y="3505200"/>
                        <a:ext cx="1044575"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6714" name="Object 42"/>
          <p:cNvGraphicFramePr>
            <a:graphicFrameLocks noChangeAspect="1"/>
          </p:cNvGraphicFramePr>
          <p:nvPr/>
        </p:nvGraphicFramePr>
        <p:xfrm>
          <a:off x="7477125" y="4548188"/>
          <a:ext cx="1071563" cy="496887"/>
        </p:xfrm>
        <a:graphic>
          <a:graphicData uri="http://schemas.openxmlformats.org/presentationml/2006/ole">
            <mc:AlternateContent xmlns:mc="http://schemas.openxmlformats.org/markup-compatibility/2006">
              <mc:Choice xmlns:v="urn:schemas-microsoft-com:vml" Requires="v">
                <p:oleObj spid="_x0000_s156818" name="公式" r:id="rId7" imgW="495085" imgH="228501" progId="Equation.3">
                  <p:embed/>
                </p:oleObj>
              </mc:Choice>
              <mc:Fallback>
                <p:oleObj name="公式" r:id="rId7" imgW="495085" imgH="228501" progId="Equation.3">
                  <p:embed/>
                  <p:pic>
                    <p:nvPicPr>
                      <p:cNvPr id="0" name="Object 4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77125" y="4548188"/>
                        <a:ext cx="1071563"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6715" name="Line 43"/>
          <p:cNvSpPr>
            <a:spLocks noChangeShapeType="1"/>
          </p:cNvSpPr>
          <p:nvPr/>
        </p:nvSpPr>
        <p:spPr bwMode="auto">
          <a:xfrm>
            <a:off x="3200400" y="2971800"/>
            <a:ext cx="762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16" name="Line 44"/>
          <p:cNvSpPr>
            <a:spLocks noChangeShapeType="1"/>
          </p:cNvSpPr>
          <p:nvPr/>
        </p:nvSpPr>
        <p:spPr bwMode="auto">
          <a:xfrm>
            <a:off x="4572000" y="3962400"/>
            <a:ext cx="838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717" name="Text Box 45"/>
          <p:cNvSpPr txBox="1">
            <a:spLocks noChangeArrowheads="1"/>
          </p:cNvSpPr>
          <p:nvPr/>
        </p:nvSpPr>
        <p:spPr bwMode="auto">
          <a:xfrm>
            <a:off x="3429000" y="2819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6718" name="Text Box 46"/>
          <p:cNvSpPr txBox="1">
            <a:spLocks noChangeArrowheads="1"/>
          </p:cNvSpPr>
          <p:nvPr/>
        </p:nvSpPr>
        <p:spPr bwMode="auto">
          <a:xfrm>
            <a:off x="4921250" y="3886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56719"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838200" y="228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Subproblem: Machine 2</a:t>
            </a:r>
          </a:p>
        </p:txBody>
      </p:sp>
      <p:graphicFrame>
        <p:nvGraphicFramePr>
          <p:cNvPr id="157699" name="Object 3"/>
          <p:cNvGraphicFramePr>
            <a:graphicFrameLocks noChangeAspect="1"/>
          </p:cNvGraphicFramePr>
          <p:nvPr/>
        </p:nvGraphicFramePr>
        <p:xfrm>
          <a:off x="1676400" y="1828800"/>
          <a:ext cx="6232525" cy="4054475"/>
        </p:xfrm>
        <a:graphic>
          <a:graphicData uri="http://schemas.openxmlformats.org/presentationml/2006/ole">
            <mc:AlternateContent xmlns:mc="http://schemas.openxmlformats.org/markup-compatibility/2006">
              <mc:Choice xmlns:v="urn:schemas-microsoft-com:vml" Requires="v">
                <p:oleObj spid="_x0000_s157733"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828800"/>
                        <a:ext cx="6232525"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7700"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ChangeArrowheads="1"/>
          </p:cNvSpPr>
          <p:nvPr/>
        </p:nvSpPr>
        <p:spPr bwMode="auto">
          <a:xfrm>
            <a:off x="914400" y="228600"/>
            <a:ext cx="7772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Subproblem: Machine 3</a:t>
            </a:r>
          </a:p>
        </p:txBody>
      </p:sp>
      <p:graphicFrame>
        <p:nvGraphicFramePr>
          <p:cNvPr id="158723" name="Object 3"/>
          <p:cNvGraphicFramePr>
            <a:graphicFrameLocks noChangeAspect="1"/>
          </p:cNvGraphicFramePr>
          <p:nvPr/>
        </p:nvGraphicFramePr>
        <p:xfrm>
          <a:off x="1676400" y="1752600"/>
          <a:ext cx="6232525" cy="4054475"/>
        </p:xfrm>
        <a:graphic>
          <a:graphicData uri="http://schemas.openxmlformats.org/presentationml/2006/ole">
            <mc:AlternateContent xmlns:mc="http://schemas.openxmlformats.org/markup-compatibility/2006">
              <mc:Choice xmlns:v="urn:schemas-microsoft-com:vml" Requires="v">
                <p:oleObj spid="_x0000_s158757"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752600"/>
                        <a:ext cx="6232525"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8724"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ChangeArrowheads="1"/>
          </p:cNvSpPr>
          <p:nvPr/>
        </p:nvSpPr>
        <p:spPr bwMode="auto">
          <a:xfrm>
            <a:off x="525463" y="2490788"/>
            <a:ext cx="1295400" cy="914400"/>
          </a:xfrm>
          <a:prstGeom prst="rect">
            <a:avLst/>
          </a:prstGeom>
          <a:solidFill>
            <a:schemeClr val="accent2"/>
          </a:solidFill>
          <a:ln w="9525">
            <a:solidFill>
              <a:schemeClr val="tx1"/>
            </a:solidFill>
            <a:miter lim="800000"/>
            <a:headEnd/>
            <a:tailEnd/>
          </a:ln>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eaLnBrk="1" hangingPunct="1">
              <a:spcBef>
                <a:spcPct val="0"/>
              </a:spcBef>
              <a:spcAft>
                <a:spcPct val="0"/>
              </a:spcAft>
              <a:buFontTx/>
              <a:buNone/>
            </a:pPr>
            <a:endParaRPr lang="zh-CN" altLang="en-US" sz="1800" b="0">
              <a:ea typeface="宋体" panose="02010600030101010101" pitchFamily="2" charset="-122"/>
            </a:endParaRPr>
          </a:p>
        </p:txBody>
      </p:sp>
      <p:sp>
        <p:nvSpPr>
          <p:cNvPr id="159747" name="Rectangle 3"/>
          <p:cNvSpPr>
            <a:spLocks noChangeArrowheads="1"/>
          </p:cNvSpPr>
          <p:nvPr/>
        </p:nvSpPr>
        <p:spPr bwMode="auto">
          <a:xfrm>
            <a:off x="762000" y="228600"/>
            <a:ext cx="7772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Solution to Subproblems</a:t>
            </a:r>
          </a:p>
        </p:txBody>
      </p:sp>
      <p:graphicFrame>
        <p:nvGraphicFramePr>
          <p:cNvPr id="159748" name="Object 4"/>
          <p:cNvGraphicFramePr>
            <a:graphicFrameLocks noChangeAspect="1"/>
          </p:cNvGraphicFramePr>
          <p:nvPr/>
        </p:nvGraphicFramePr>
        <p:xfrm>
          <a:off x="2060575" y="2852738"/>
          <a:ext cx="6245225" cy="2938462"/>
        </p:xfrm>
        <a:graphic>
          <a:graphicData uri="http://schemas.openxmlformats.org/presentationml/2006/ole">
            <mc:AlternateContent xmlns:mc="http://schemas.openxmlformats.org/markup-compatibility/2006">
              <mc:Choice xmlns:v="urn:schemas-microsoft-com:vml" Requires="v">
                <p:oleObj spid="_x0000_s159787" name="文档" r:id="rId3" imgW="6254496" imgH="2948940" progId="Word.Document.8">
                  <p:embed/>
                </p:oleObj>
              </mc:Choice>
              <mc:Fallback>
                <p:oleObj name="文档" r:id="rId3" imgW="6254496" imgH="294894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575" y="2852738"/>
                        <a:ext cx="6245225" cy="2938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9749" name="Line 5"/>
          <p:cNvSpPr>
            <a:spLocks noChangeShapeType="1"/>
          </p:cNvSpPr>
          <p:nvPr/>
        </p:nvSpPr>
        <p:spPr bwMode="auto">
          <a:xfrm>
            <a:off x="2201863" y="3557588"/>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750" name="Line 6"/>
          <p:cNvSpPr>
            <a:spLocks noChangeShapeType="1"/>
          </p:cNvSpPr>
          <p:nvPr/>
        </p:nvSpPr>
        <p:spPr bwMode="auto">
          <a:xfrm>
            <a:off x="2201863" y="2719388"/>
            <a:ext cx="5943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751" name="Text Box 7"/>
          <p:cNvSpPr txBox="1">
            <a:spLocks noChangeArrowheads="1"/>
          </p:cNvSpPr>
          <p:nvPr/>
        </p:nvSpPr>
        <p:spPr bwMode="auto">
          <a:xfrm>
            <a:off x="509588" y="2532063"/>
            <a:ext cx="13001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Schedule</a:t>
            </a:r>
          </a:p>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first</a:t>
            </a:r>
          </a:p>
        </p:txBody>
      </p:sp>
      <p:sp>
        <p:nvSpPr>
          <p:cNvPr id="159752" name="Line 8"/>
          <p:cNvSpPr>
            <a:spLocks noChangeShapeType="1"/>
          </p:cNvSpPr>
          <p:nvPr/>
        </p:nvSpPr>
        <p:spPr bwMode="auto">
          <a:xfrm>
            <a:off x="1135063" y="3405188"/>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753" name="Line 9"/>
          <p:cNvSpPr>
            <a:spLocks noChangeShapeType="1"/>
          </p:cNvSpPr>
          <p:nvPr/>
        </p:nvSpPr>
        <p:spPr bwMode="auto">
          <a:xfrm>
            <a:off x="1135063" y="4014788"/>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754"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ChangeArrowheads="1"/>
          </p:cNvSpPr>
          <p:nvPr/>
        </p:nvSpPr>
        <p:spPr bwMode="auto">
          <a:xfrm>
            <a:off x="685800" y="1524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Second Iteration</a:t>
            </a:r>
          </a:p>
        </p:txBody>
      </p:sp>
      <p:sp>
        <p:nvSpPr>
          <p:cNvPr id="160771" name="Oval 3"/>
          <p:cNvSpPr>
            <a:spLocks noChangeArrowheads="1"/>
          </p:cNvSpPr>
          <p:nvPr/>
        </p:nvSpPr>
        <p:spPr bwMode="auto">
          <a:xfrm>
            <a:off x="24384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60772" name="Oval 4"/>
          <p:cNvSpPr>
            <a:spLocks noChangeArrowheads="1"/>
          </p:cNvSpPr>
          <p:nvPr/>
        </p:nvSpPr>
        <p:spPr bwMode="auto">
          <a:xfrm>
            <a:off x="3825875"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60773" name="Oval 5"/>
          <p:cNvSpPr>
            <a:spLocks noChangeArrowheads="1"/>
          </p:cNvSpPr>
          <p:nvPr/>
        </p:nvSpPr>
        <p:spPr bwMode="auto">
          <a:xfrm>
            <a:off x="5197475"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60774" name="Oval 6"/>
          <p:cNvSpPr>
            <a:spLocks noChangeArrowheads="1"/>
          </p:cNvSpPr>
          <p:nvPr/>
        </p:nvSpPr>
        <p:spPr bwMode="auto">
          <a:xfrm>
            <a:off x="24384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60775" name="Oval 7"/>
          <p:cNvSpPr>
            <a:spLocks noChangeArrowheads="1"/>
          </p:cNvSpPr>
          <p:nvPr/>
        </p:nvSpPr>
        <p:spPr bwMode="auto">
          <a:xfrm>
            <a:off x="38100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60776" name="Oval 8"/>
          <p:cNvSpPr>
            <a:spLocks noChangeArrowheads="1"/>
          </p:cNvSpPr>
          <p:nvPr/>
        </p:nvSpPr>
        <p:spPr bwMode="auto">
          <a:xfrm>
            <a:off x="24384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60777" name="Oval 9"/>
          <p:cNvSpPr>
            <a:spLocks noChangeArrowheads="1"/>
          </p:cNvSpPr>
          <p:nvPr/>
        </p:nvSpPr>
        <p:spPr bwMode="auto">
          <a:xfrm>
            <a:off x="38100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60778" name="Oval 10"/>
          <p:cNvSpPr>
            <a:spLocks noChangeArrowheads="1"/>
          </p:cNvSpPr>
          <p:nvPr/>
        </p:nvSpPr>
        <p:spPr bwMode="auto">
          <a:xfrm>
            <a:off x="51816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60779" name="Line 11"/>
          <p:cNvSpPr>
            <a:spLocks noChangeShapeType="1"/>
          </p:cNvSpPr>
          <p:nvPr/>
        </p:nvSpPr>
        <p:spPr bwMode="auto">
          <a:xfrm>
            <a:off x="3292475"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80" name="Line 12"/>
          <p:cNvSpPr>
            <a:spLocks noChangeShapeType="1"/>
          </p:cNvSpPr>
          <p:nvPr/>
        </p:nvSpPr>
        <p:spPr bwMode="auto">
          <a:xfrm>
            <a:off x="4664075"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81" name="Line 13"/>
          <p:cNvSpPr>
            <a:spLocks noChangeShapeType="1"/>
          </p:cNvSpPr>
          <p:nvPr/>
        </p:nvSpPr>
        <p:spPr bwMode="auto">
          <a:xfrm>
            <a:off x="32766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82" name="Line 14"/>
          <p:cNvSpPr>
            <a:spLocks noChangeShapeType="1"/>
          </p:cNvSpPr>
          <p:nvPr/>
        </p:nvSpPr>
        <p:spPr bwMode="auto">
          <a:xfrm>
            <a:off x="32766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83" name="Line 15"/>
          <p:cNvSpPr>
            <a:spLocks noChangeShapeType="1"/>
          </p:cNvSpPr>
          <p:nvPr/>
        </p:nvSpPr>
        <p:spPr bwMode="auto">
          <a:xfrm>
            <a:off x="46482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84" name="Oval 16"/>
          <p:cNvSpPr>
            <a:spLocks noChangeArrowheads="1"/>
          </p:cNvSpPr>
          <p:nvPr/>
        </p:nvSpPr>
        <p:spPr bwMode="auto">
          <a:xfrm>
            <a:off x="6477000" y="2362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60785" name="Oval 17"/>
          <p:cNvSpPr>
            <a:spLocks noChangeArrowheads="1"/>
          </p:cNvSpPr>
          <p:nvPr/>
        </p:nvSpPr>
        <p:spPr bwMode="auto">
          <a:xfrm>
            <a:off x="10668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60786" name="Line 18"/>
          <p:cNvSpPr>
            <a:spLocks noChangeShapeType="1"/>
          </p:cNvSpPr>
          <p:nvPr/>
        </p:nvSpPr>
        <p:spPr bwMode="auto">
          <a:xfrm>
            <a:off x="19050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87" name="Oval 19"/>
          <p:cNvSpPr>
            <a:spLocks noChangeArrowheads="1"/>
          </p:cNvSpPr>
          <p:nvPr/>
        </p:nvSpPr>
        <p:spPr bwMode="auto">
          <a:xfrm>
            <a:off x="51816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60788" name="Line 20"/>
          <p:cNvSpPr>
            <a:spLocks noChangeShapeType="1"/>
          </p:cNvSpPr>
          <p:nvPr/>
        </p:nvSpPr>
        <p:spPr bwMode="auto">
          <a:xfrm>
            <a:off x="6019800" y="38100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89" name="Line 21"/>
          <p:cNvSpPr>
            <a:spLocks noChangeShapeType="1"/>
          </p:cNvSpPr>
          <p:nvPr/>
        </p:nvSpPr>
        <p:spPr bwMode="auto">
          <a:xfrm>
            <a:off x="46482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790" name="Text Box 22"/>
          <p:cNvSpPr txBox="1">
            <a:spLocks noChangeArrowheads="1"/>
          </p:cNvSpPr>
          <p:nvPr/>
        </p:nvSpPr>
        <p:spPr bwMode="auto">
          <a:xfrm>
            <a:off x="1752600"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0791" name="Text Box 23"/>
          <p:cNvSpPr txBox="1">
            <a:spLocks noChangeArrowheads="1"/>
          </p:cNvSpPr>
          <p:nvPr/>
        </p:nvSpPr>
        <p:spPr bwMode="auto">
          <a:xfrm>
            <a:off x="3276600"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0792" name="Text Box 24"/>
          <p:cNvSpPr txBox="1">
            <a:spLocks noChangeArrowheads="1"/>
          </p:cNvSpPr>
          <p:nvPr/>
        </p:nvSpPr>
        <p:spPr bwMode="auto">
          <a:xfrm>
            <a:off x="4648200" y="2362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60793" name="Text Box 25"/>
          <p:cNvSpPr txBox="1">
            <a:spLocks noChangeArrowheads="1"/>
          </p:cNvSpPr>
          <p:nvPr/>
        </p:nvSpPr>
        <p:spPr bwMode="auto">
          <a:xfrm>
            <a:off x="6096000"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60794" name="Text Box 26"/>
          <p:cNvSpPr txBox="1">
            <a:spLocks noChangeArrowheads="1"/>
          </p:cNvSpPr>
          <p:nvPr/>
        </p:nvSpPr>
        <p:spPr bwMode="auto">
          <a:xfrm>
            <a:off x="32607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60795" name="Text Box 27"/>
          <p:cNvSpPr txBox="1">
            <a:spLocks noChangeArrowheads="1"/>
          </p:cNvSpPr>
          <p:nvPr/>
        </p:nvSpPr>
        <p:spPr bwMode="auto">
          <a:xfrm>
            <a:off x="4708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0796" name="Text Box 28"/>
          <p:cNvSpPr txBox="1">
            <a:spLocks noChangeArrowheads="1"/>
          </p:cNvSpPr>
          <p:nvPr/>
        </p:nvSpPr>
        <p:spPr bwMode="auto">
          <a:xfrm>
            <a:off x="60801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6</a:t>
            </a:r>
          </a:p>
        </p:txBody>
      </p:sp>
      <p:sp>
        <p:nvSpPr>
          <p:cNvPr id="160797" name="Text Box 29"/>
          <p:cNvSpPr txBox="1">
            <a:spLocks noChangeArrowheads="1"/>
          </p:cNvSpPr>
          <p:nvPr/>
        </p:nvSpPr>
        <p:spPr bwMode="auto">
          <a:xfrm>
            <a:off x="3321050" y="4454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0798" name="Text Box 30"/>
          <p:cNvSpPr txBox="1">
            <a:spLocks noChangeArrowheads="1"/>
          </p:cNvSpPr>
          <p:nvPr/>
        </p:nvSpPr>
        <p:spPr bwMode="auto">
          <a:xfrm>
            <a:off x="4708525" y="4419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60799" name="Text Box 31"/>
          <p:cNvSpPr txBox="1">
            <a:spLocks noChangeArrowheads="1"/>
          </p:cNvSpPr>
          <p:nvPr/>
        </p:nvSpPr>
        <p:spPr bwMode="auto">
          <a:xfrm>
            <a:off x="6019800" y="4419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7</a:t>
            </a:r>
          </a:p>
        </p:txBody>
      </p:sp>
      <p:sp>
        <p:nvSpPr>
          <p:cNvPr id="160800" name="Text Box 32"/>
          <p:cNvSpPr txBox="1">
            <a:spLocks noChangeArrowheads="1"/>
          </p:cNvSpPr>
          <p:nvPr/>
        </p:nvSpPr>
        <p:spPr bwMode="auto">
          <a:xfrm>
            <a:off x="1828800" y="434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60801" name="Text Box 33"/>
          <p:cNvSpPr txBox="1">
            <a:spLocks noChangeArrowheads="1"/>
          </p:cNvSpPr>
          <p:nvPr/>
        </p:nvSpPr>
        <p:spPr bwMode="auto">
          <a:xfrm>
            <a:off x="2041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60802" name="Oval 34"/>
          <p:cNvSpPr>
            <a:spLocks noChangeArrowheads="1"/>
          </p:cNvSpPr>
          <p:nvPr/>
        </p:nvSpPr>
        <p:spPr bwMode="auto">
          <a:xfrm>
            <a:off x="6477000" y="3429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60803" name="Oval 35"/>
          <p:cNvSpPr>
            <a:spLocks noChangeArrowheads="1"/>
          </p:cNvSpPr>
          <p:nvPr/>
        </p:nvSpPr>
        <p:spPr bwMode="auto">
          <a:xfrm>
            <a:off x="6477000" y="4419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60804" name="Line 36"/>
          <p:cNvSpPr>
            <a:spLocks noChangeShapeType="1"/>
          </p:cNvSpPr>
          <p:nvPr/>
        </p:nvSpPr>
        <p:spPr bwMode="auto">
          <a:xfrm>
            <a:off x="6019800" y="4800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805" name="Line 37"/>
          <p:cNvSpPr>
            <a:spLocks noChangeShapeType="1"/>
          </p:cNvSpPr>
          <p:nvPr/>
        </p:nvSpPr>
        <p:spPr bwMode="auto">
          <a:xfrm>
            <a:off x="6019800" y="2743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806" name="Line 38"/>
          <p:cNvSpPr>
            <a:spLocks noChangeShapeType="1"/>
          </p:cNvSpPr>
          <p:nvPr/>
        </p:nvSpPr>
        <p:spPr bwMode="auto">
          <a:xfrm flipV="1">
            <a:off x="1676400" y="28194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807" name="Line 39"/>
          <p:cNvSpPr>
            <a:spLocks noChangeShapeType="1"/>
          </p:cNvSpPr>
          <p:nvPr/>
        </p:nvSpPr>
        <p:spPr bwMode="auto">
          <a:xfrm>
            <a:off x="1676400" y="41148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808" name="Line 43"/>
          <p:cNvSpPr>
            <a:spLocks noChangeShapeType="1"/>
          </p:cNvSpPr>
          <p:nvPr/>
        </p:nvSpPr>
        <p:spPr bwMode="auto">
          <a:xfrm>
            <a:off x="3200400" y="2971800"/>
            <a:ext cx="762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809" name="Line 44"/>
          <p:cNvSpPr>
            <a:spLocks noChangeShapeType="1"/>
          </p:cNvSpPr>
          <p:nvPr/>
        </p:nvSpPr>
        <p:spPr bwMode="auto">
          <a:xfrm>
            <a:off x="4572000" y="3962400"/>
            <a:ext cx="838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810" name="Text Box 45"/>
          <p:cNvSpPr txBox="1">
            <a:spLocks noChangeArrowheads="1"/>
          </p:cNvSpPr>
          <p:nvPr/>
        </p:nvSpPr>
        <p:spPr bwMode="auto">
          <a:xfrm>
            <a:off x="3429000" y="2819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0811" name="Text Box 46"/>
          <p:cNvSpPr txBox="1">
            <a:spLocks noChangeArrowheads="1"/>
          </p:cNvSpPr>
          <p:nvPr/>
        </p:nvSpPr>
        <p:spPr bwMode="auto">
          <a:xfrm>
            <a:off x="4921250" y="3886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0812" name="Freeform 47"/>
          <p:cNvSpPr>
            <a:spLocks/>
          </p:cNvSpPr>
          <p:nvPr/>
        </p:nvSpPr>
        <p:spPr bwMode="auto">
          <a:xfrm>
            <a:off x="3505200" y="3048000"/>
            <a:ext cx="381000" cy="1524000"/>
          </a:xfrm>
          <a:custGeom>
            <a:avLst/>
            <a:gdLst>
              <a:gd name="T0" fmla="*/ 2147483646 w 240"/>
              <a:gd name="T1" fmla="*/ 2147483646 h 960"/>
              <a:gd name="T2" fmla="*/ 0 w 240"/>
              <a:gd name="T3" fmla="*/ 2147483646 h 960"/>
              <a:gd name="T4" fmla="*/ 2147483646 w 240"/>
              <a:gd name="T5" fmla="*/ 0 h 960"/>
              <a:gd name="T6" fmla="*/ 0 60000 65536"/>
              <a:gd name="T7" fmla="*/ 0 60000 65536"/>
              <a:gd name="T8" fmla="*/ 0 60000 65536"/>
              <a:gd name="T9" fmla="*/ 0 w 240"/>
              <a:gd name="T10" fmla="*/ 0 h 960"/>
              <a:gd name="T11" fmla="*/ 240 w 240"/>
              <a:gd name="T12" fmla="*/ 960 h 960"/>
            </a:gdLst>
            <a:ahLst/>
            <a:cxnLst>
              <a:cxn ang="T6">
                <a:pos x="T0" y="T1"/>
              </a:cxn>
              <a:cxn ang="T7">
                <a:pos x="T2" y="T3"/>
              </a:cxn>
              <a:cxn ang="T8">
                <a:pos x="T4" y="T5"/>
              </a:cxn>
            </a:cxnLst>
            <a:rect l="T9" t="T10" r="T11" b="T12"/>
            <a:pathLst>
              <a:path w="240" h="960">
                <a:moveTo>
                  <a:pt x="240" y="960"/>
                </a:moveTo>
                <a:cubicBezTo>
                  <a:pt x="120" y="728"/>
                  <a:pt x="0" y="496"/>
                  <a:pt x="0" y="336"/>
                </a:cubicBezTo>
                <a:cubicBezTo>
                  <a:pt x="0" y="176"/>
                  <a:pt x="200" y="56"/>
                  <a:pt x="24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0813" name="Text Box 48"/>
          <p:cNvSpPr txBox="1">
            <a:spLocks noChangeArrowheads="1"/>
          </p:cNvSpPr>
          <p:nvPr/>
        </p:nvSpPr>
        <p:spPr bwMode="auto">
          <a:xfrm>
            <a:off x="3473450" y="4038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60814" name="Line 49"/>
          <p:cNvSpPr>
            <a:spLocks noChangeShapeType="1"/>
          </p:cNvSpPr>
          <p:nvPr/>
        </p:nvSpPr>
        <p:spPr bwMode="auto">
          <a:xfrm>
            <a:off x="4572000" y="3048000"/>
            <a:ext cx="762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815" name="Text Box 50"/>
          <p:cNvSpPr txBox="1">
            <a:spLocks noChangeArrowheads="1"/>
          </p:cNvSpPr>
          <p:nvPr/>
        </p:nvSpPr>
        <p:spPr bwMode="auto">
          <a:xfrm>
            <a:off x="4724400" y="2819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60816"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ChangeArrowheads="1"/>
          </p:cNvSpPr>
          <p:nvPr/>
        </p:nvSpPr>
        <p:spPr bwMode="auto">
          <a:xfrm>
            <a:off x="685800" y="1524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Subproblem: Machine 3</a:t>
            </a:r>
          </a:p>
        </p:txBody>
      </p:sp>
      <p:graphicFrame>
        <p:nvGraphicFramePr>
          <p:cNvPr id="161795" name="Object 3"/>
          <p:cNvGraphicFramePr>
            <a:graphicFrameLocks noChangeAspect="1"/>
          </p:cNvGraphicFramePr>
          <p:nvPr/>
        </p:nvGraphicFramePr>
        <p:xfrm>
          <a:off x="1619250" y="2286000"/>
          <a:ext cx="6232525" cy="4054475"/>
        </p:xfrm>
        <a:graphic>
          <a:graphicData uri="http://schemas.openxmlformats.org/presentationml/2006/ole">
            <mc:AlternateContent xmlns:mc="http://schemas.openxmlformats.org/markup-compatibility/2006">
              <mc:Choice xmlns:v="urn:schemas-microsoft-com:vml" Requires="v">
                <p:oleObj spid="_x0000_s161829" name="文档" r:id="rId3" imgW="6233160" imgH="4056888" progId="Word.Document.8">
                  <p:embed/>
                </p:oleObj>
              </mc:Choice>
              <mc:Fallback>
                <p:oleObj name="文档" r:id="rId3" imgW="6233160" imgH="4056888"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2286000"/>
                        <a:ext cx="6232525" cy="405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1796"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ChangeArrowheads="1"/>
          </p:cNvSpPr>
          <p:nvPr/>
        </p:nvSpPr>
        <p:spPr bwMode="auto">
          <a:xfrm>
            <a:off x="685800" y="2286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3600" b="0">
                <a:solidFill>
                  <a:schemeClr val="bg1"/>
                </a:solidFill>
                <a:latin typeface="Tahoma" panose="020B0604030504040204" pitchFamily="34" charset="0"/>
                <a:ea typeface="宋体" panose="02010600030101010101" pitchFamily="2" charset="-122"/>
              </a:rPr>
              <a:t>Third Iteration</a:t>
            </a:r>
          </a:p>
        </p:txBody>
      </p:sp>
      <p:sp>
        <p:nvSpPr>
          <p:cNvPr id="162819" name="Oval 3"/>
          <p:cNvSpPr>
            <a:spLocks noChangeArrowheads="1"/>
          </p:cNvSpPr>
          <p:nvPr/>
        </p:nvSpPr>
        <p:spPr bwMode="auto">
          <a:xfrm>
            <a:off x="2438400"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62820" name="Oval 4"/>
          <p:cNvSpPr>
            <a:spLocks noChangeArrowheads="1"/>
          </p:cNvSpPr>
          <p:nvPr/>
        </p:nvSpPr>
        <p:spPr bwMode="auto">
          <a:xfrm>
            <a:off x="3825875"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62821" name="Oval 5"/>
          <p:cNvSpPr>
            <a:spLocks noChangeArrowheads="1"/>
          </p:cNvSpPr>
          <p:nvPr/>
        </p:nvSpPr>
        <p:spPr bwMode="auto">
          <a:xfrm>
            <a:off x="5197475" y="23971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62822" name="Oval 6"/>
          <p:cNvSpPr>
            <a:spLocks noChangeArrowheads="1"/>
          </p:cNvSpPr>
          <p:nvPr/>
        </p:nvSpPr>
        <p:spPr bwMode="auto">
          <a:xfrm>
            <a:off x="24384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62823" name="Oval 7"/>
          <p:cNvSpPr>
            <a:spLocks noChangeArrowheads="1"/>
          </p:cNvSpPr>
          <p:nvPr/>
        </p:nvSpPr>
        <p:spPr bwMode="auto">
          <a:xfrm>
            <a:off x="38100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62824" name="Oval 8"/>
          <p:cNvSpPr>
            <a:spLocks noChangeArrowheads="1"/>
          </p:cNvSpPr>
          <p:nvPr/>
        </p:nvSpPr>
        <p:spPr bwMode="auto">
          <a:xfrm>
            <a:off x="24384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62825" name="Oval 9"/>
          <p:cNvSpPr>
            <a:spLocks noChangeArrowheads="1"/>
          </p:cNvSpPr>
          <p:nvPr/>
        </p:nvSpPr>
        <p:spPr bwMode="auto">
          <a:xfrm>
            <a:off x="38100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62826" name="Oval 10"/>
          <p:cNvSpPr>
            <a:spLocks noChangeArrowheads="1"/>
          </p:cNvSpPr>
          <p:nvPr/>
        </p:nvSpPr>
        <p:spPr bwMode="auto">
          <a:xfrm>
            <a:off x="5181600" y="44545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62827" name="Line 11"/>
          <p:cNvSpPr>
            <a:spLocks noChangeShapeType="1"/>
          </p:cNvSpPr>
          <p:nvPr/>
        </p:nvSpPr>
        <p:spPr bwMode="auto">
          <a:xfrm>
            <a:off x="3292475"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8" name="Line 12"/>
          <p:cNvSpPr>
            <a:spLocks noChangeShapeType="1"/>
          </p:cNvSpPr>
          <p:nvPr/>
        </p:nvSpPr>
        <p:spPr bwMode="auto">
          <a:xfrm>
            <a:off x="4664075" y="27781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29" name="Line 13"/>
          <p:cNvSpPr>
            <a:spLocks noChangeShapeType="1"/>
          </p:cNvSpPr>
          <p:nvPr/>
        </p:nvSpPr>
        <p:spPr bwMode="auto">
          <a:xfrm>
            <a:off x="32766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0" name="Line 14"/>
          <p:cNvSpPr>
            <a:spLocks noChangeShapeType="1"/>
          </p:cNvSpPr>
          <p:nvPr/>
        </p:nvSpPr>
        <p:spPr bwMode="auto">
          <a:xfrm>
            <a:off x="32766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1" name="Line 15"/>
          <p:cNvSpPr>
            <a:spLocks noChangeShapeType="1"/>
          </p:cNvSpPr>
          <p:nvPr/>
        </p:nvSpPr>
        <p:spPr bwMode="auto">
          <a:xfrm>
            <a:off x="4648200" y="48355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2" name="Oval 16"/>
          <p:cNvSpPr>
            <a:spLocks noChangeArrowheads="1"/>
          </p:cNvSpPr>
          <p:nvPr/>
        </p:nvSpPr>
        <p:spPr bwMode="auto">
          <a:xfrm>
            <a:off x="6477000" y="23622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62833" name="Oval 17"/>
          <p:cNvSpPr>
            <a:spLocks noChangeArrowheads="1"/>
          </p:cNvSpPr>
          <p:nvPr/>
        </p:nvSpPr>
        <p:spPr bwMode="auto">
          <a:xfrm>
            <a:off x="10668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Source</a:t>
            </a:r>
            <a:endParaRPr lang="en-US" altLang="zh-CN" sz="2400" b="0">
              <a:latin typeface="Times New Roman" panose="02020603050405020304" pitchFamily="18" charset="0"/>
              <a:ea typeface="宋体" panose="02010600030101010101" pitchFamily="2" charset="-122"/>
            </a:endParaRPr>
          </a:p>
        </p:txBody>
      </p:sp>
      <p:sp>
        <p:nvSpPr>
          <p:cNvPr id="162834" name="Line 18"/>
          <p:cNvSpPr>
            <a:spLocks noChangeShapeType="1"/>
          </p:cNvSpPr>
          <p:nvPr/>
        </p:nvSpPr>
        <p:spPr bwMode="auto">
          <a:xfrm>
            <a:off x="19050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5" name="Oval 19"/>
          <p:cNvSpPr>
            <a:spLocks noChangeArrowheads="1"/>
          </p:cNvSpPr>
          <p:nvPr/>
        </p:nvSpPr>
        <p:spPr bwMode="auto">
          <a:xfrm>
            <a:off x="5181600" y="3387725"/>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62836" name="Line 20"/>
          <p:cNvSpPr>
            <a:spLocks noChangeShapeType="1"/>
          </p:cNvSpPr>
          <p:nvPr/>
        </p:nvSpPr>
        <p:spPr bwMode="auto">
          <a:xfrm>
            <a:off x="6019800" y="38100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7" name="Line 21"/>
          <p:cNvSpPr>
            <a:spLocks noChangeShapeType="1"/>
          </p:cNvSpPr>
          <p:nvPr/>
        </p:nvSpPr>
        <p:spPr bwMode="auto">
          <a:xfrm>
            <a:off x="4648200" y="3768725"/>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38" name="Text Box 22"/>
          <p:cNvSpPr txBox="1">
            <a:spLocks noChangeArrowheads="1"/>
          </p:cNvSpPr>
          <p:nvPr/>
        </p:nvSpPr>
        <p:spPr bwMode="auto">
          <a:xfrm>
            <a:off x="1752600" y="2743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2839" name="Text Box 23"/>
          <p:cNvSpPr txBox="1">
            <a:spLocks noChangeArrowheads="1"/>
          </p:cNvSpPr>
          <p:nvPr/>
        </p:nvSpPr>
        <p:spPr bwMode="auto">
          <a:xfrm>
            <a:off x="3276600"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2840" name="Text Box 24"/>
          <p:cNvSpPr txBox="1">
            <a:spLocks noChangeArrowheads="1"/>
          </p:cNvSpPr>
          <p:nvPr/>
        </p:nvSpPr>
        <p:spPr bwMode="auto">
          <a:xfrm>
            <a:off x="4648200" y="2362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62841" name="Text Box 25"/>
          <p:cNvSpPr txBox="1">
            <a:spLocks noChangeArrowheads="1"/>
          </p:cNvSpPr>
          <p:nvPr/>
        </p:nvSpPr>
        <p:spPr bwMode="auto">
          <a:xfrm>
            <a:off x="6096000" y="2362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62842" name="Text Box 26"/>
          <p:cNvSpPr txBox="1">
            <a:spLocks noChangeArrowheads="1"/>
          </p:cNvSpPr>
          <p:nvPr/>
        </p:nvSpPr>
        <p:spPr bwMode="auto">
          <a:xfrm>
            <a:off x="32607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62843" name="Text Box 27"/>
          <p:cNvSpPr txBox="1">
            <a:spLocks noChangeArrowheads="1"/>
          </p:cNvSpPr>
          <p:nvPr/>
        </p:nvSpPr>
        <p:spPr bwMode="auto">
          <a:xfrm>
            <a:off x="4708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2844" name="Text Box 28"/>
          <p:cNvSpPr txBox="1">
            <a:spLocks noChangeArrowheads="1"/>
          </p:cNvSpPr>
          <p:nvPr/>
        </p:nvSpPr>
        <p:spPr bwMode="auto">
          <a:xfrm>
            <a:off x="60801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6</a:t>
            </a:r>
          </a:p>
        </p:txBody>
      </p:sp>
      <p:sp>
        <p:nvSpPr>
          <p:cNvPr id="162845" name="Text Box 29"/>
          <p:cNvSpPr txBox="1">
            <a:spLocks noChangeArrowheads="1"/>
          </p:cNvSpPr>
          <p:nvPr/>
        </p:nvSpPr>
        <p:spPr bwMode="auto">
          <a:xfrm>
            <a:off x="3321050" y="44545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2846" name="Text Box 30"/>
          <p:cNvSpPr txBox="1">
            <a:spLocks noChangeArrowheads="1"/>
          </p:cNvSpPr>
          <p:nvPr/>
        </p:nvSpPr>
        <p:spPr bwMode="auto">
          <a:xfrm>
            <a:off x="4708525" y="4419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62847" name="Text Box 31"/>
          <p:cNvSpPr txBox="1">
            <a:spLocks noChangeArrowheads="1"/>
          </p:cNvSpPr>
          <p:nvPr/>
        </p:nvSpPr>
        <p:spPr bwMode="auto">
          <a:xfrm>
            <a:off x="6019800" y="4419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7</a:t>
            </a:r>
          </a:p>
        </p:txBody>
      </p:sp>
      <p:sp>
        <p:nvSpPr>
          <p:cNvPr id="162848" name="Text Box 32"/>
          <p:cNvSpPr txBox="1">
            <a:spLocks noChangeArrowheads="1"/>
          </p:cNvSpPr>
          <p:nvPr/>
        </p:nvSpPr>
        <p:spPr bwMode="auto">
          <a:xfrm>
            <a:off x="1828800" y="4343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62849" name="Text Box 33"/>
          <p:cNvSpPr txBox="1">
            <a:spLocks noChangeArrowheads="1"/>
          </p:cNvSpPr>
          <p:nvPr/>
        </p:nvSpPr>
        <p:spPr bwMode="auto">
          <a:xfrm>
            <a:off x="2041525" y="33528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a:t>
            </a:r>
          </a:p>
        </p:txBody>
      </p:sp>
      <p:sp>
        <p:nvSpPr>
          <p:cNvPr id="162850" name="Oval 34"/>
          <p:cNvSpPr>
            <a:spLocks noChangeArrowheads="1"/>
          </p:cNvSpPr>
          <p:nvPr/>
        </p:nvSpPr>
        <p:spPr bwMode="auto">
          <a:xfrm>
            <a:off x="6477000" y="34290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62851" name="Oval 35"/>
          <p:cNvSpPr>
            <a:spLocks noChangeArrowheads="1"/>
          </p:cNvSpPr>
          <p:nvPr/>
        </p:nvSpPr>
        <p:spPr bwMode="auto">
          <a:xfrm>
            <a:off x="6477000" y="4419600"/>
            <a:ext cx="8382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b="0">
                <a:latin typeface="Times New Roman" panose="02020603050405020304" pitchFamily="18" charset="0"/>
                <a:ea typeface="宋体" panose="02010600030101010101" pitchFamily="2" charset="-122"/>
              </a:rPr>
              <a:t>Sink</a:t>
            </a:r>
            <a:endParaRPr lang="en-US" altLang="zh-CN" sz="2400" b="0">
              <a:latin typeface="Times New Roman" panose="02020603050405020304" pitchFamily="18" charset="0"/>
              <a:ea typeface="宋体" panose="02010600030101010101" pitchFamily="2" charset="-122"/>
            </a:endParaRPr>
          </a:p>
        </p:txBody>
      </p:sp>
      <p:sp>
        <p:nvSpPr>
          <p:cNvPr id="162852" name="Line 36"/>
          <p:cNvSpPr>
            <a:spLocks noChangeShapeType="1"/>
          </p:cNvSpPr>
          <p:nvPr/>
        </p:nvSpPr>
        <p:spPr bwMode="auto">
          <a:xfrm>
            <a:off x="6019800" y="48006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53" name="Line 37"/>
          <p:cNvSpPr>
            <a:spLocks noChangeShapeType="1"/>
          </p:cNvSpPr>
          <p:nvPr/>
        </p:nvSpPr>
        <p:spPr bwMode="auto">
          <a:xfrm>
            <a:off x="6019800" y="27432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54" name="Line 38"/>
          <p:cNvSpPr>
            <a:spLocks noChangeShapeType="1"/>
          </p:cNvSpPr>
          <p:nvPr/>
        </p:nvSpPr>
        <p:spPr bwMode="auto">
          <a:xfrm flipV="1">
            <a:off x="1676400" y="28194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55" name="Line 39"/>
          <p:cNvSpPr>
            <a:spLocks noChangeShapeType="1"/>
          </p:cNvSpPr>
          <p:nvPr/>
        </p:nvSpPr>
        <p:spPr bwMode="auto">
          <a:xfrm>
            <a:off x="1676400" y="4114800"/>
            <a:ext cx="76200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56" name="Line 43"/>
          <p:cNvSpPr>
            <a:spLocks noChangeShapeType="1"/>
          </p:cNvSpPr>
          <p:nvPr/>
        </p:nvSpPr>
        <p:spPr bwMode="auto">
          <a:xfrm>
            <a:off x="3200400" y="2971800"/>
            <a:ext cx="7620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57" name="Line 44"/>
          <p:cNvSpPr>
            <a:spLocks noChangeShapeType="1"/>
          </p:cNvSpPr>
          <p:nvPr/>
        </p:nvSpPr>
        <p:spPr bwMode="auto">
          <a:xfrm>
            <a:off x="4572000" y="3962400"/>
            <a:ext cx="8382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58" name="Text Box 45"/>
          <p:cNvSpPr txBox="1">
            <a:spLocks noChangeArrowheads="1"/>
          </p:cNvSpPr>
          <p:nvPr/>
        </p:nvSpPr>
        <p:spPr bwMode="auto">
          <a:xfrm>
            <a:off x="3429000" y="28194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2859" name="Text Box 46"/>
          <p:cNvSpPr txBox="1">
            <a:spLocks noChangeArrowheads="1"/>
          </p:cNvSpPr>
          <p:nvPr/>
        </p:nvSpPr>
        <p:spPr bwMode="auto">
          <a:xfrm>
            <a:off x="4921250" y="3886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2860" name="Freeform 47"/>
          <p:cNvSpPr>
            <a:spLocks/>
          </p:cNvSpPr>
          <p:nvPr/>
        </p:nvSpPr>
        <p:spPr bwMode="auto">
          <a:xfrm>
            <a:off x="3505200" y="3048000"/>
            <a:ext cx="381000" cy="1524000"/>
          </a:xfrm>
          <a:custGeom>
            <a:avLst/>
            <a:gdLst>
              <a:gd name="T0" fmla="*/ 2147483646 w 240"/>
              <a:gd name="T1" fmla="*/ 2147483646 h 960"/>
              <a:gd name="T2" fmla="*/ 0 w 240"/>
              <a:gd name="T3" fmla="*/ 2147483646 h 960"/>
              <a:gd name="T4" fmla="*/ 2147483646 w 240"/>
              <a:gd name="T5" fmla="*/ 0 h 960"/>
              <a:gd name="T6" fmla="*/ 0 60000 65536"/>
              <a:gd name="T7" fmla="*/ 0 60000 65536"/>
              <a:gd name="T8" fmla="*/ 0 60000 65536"/>
              <a:gd name="T9" fmla="*/ 0 w 240"/>
              <a:gd name="T10" fmla="*/ 0 h 960"/>
              <a:gd name="T11" fmla="*/ 240 w 240"/>
              <a:gd name="T12" fmla="*/ 960 h 960"/>
            </a:gdLst>
            <a:ahLst/>
            <a:cxnLst>
              <a:cxn ang="T6">
                <a:pos x="T0" y="T1"/>
              </a:cxn>
              <a:cxn ang="T7">
                <a:pos x="T2" y="T3"/>
              </a:cxn>
              <a:cxn ang="T8">
                <a:pos x="T4" y="T5"/>
              </a:cxn>
            </a:cxnLst>
            <a:rect l="T9" t="T10" r="T11" b="T12"/>
            <a:pathLst>
              <a:path w="240" h="960">
                <a:moveTo>
                  <a:pt x="240" y="960"/>
                </a:moveTo>
                <a:cubicBezTo>
                  <a:pt x="120" y="728"/>
                  <a:pt x="0" y="496"/>
                  <a:pt x="0" y="336"/>
                </a:cubicBezTo>
                <a:cubicBezTo>
                  <a:pt x="0" y="176"/>
                  <a:pt x="200" y="56"/>
                  <a:pt x="240"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2861" name="Text Box 48"/>
          <p:cNvSpPr txBox="1">
            <a:spLocks noChangeArrowheads="1"/>
          </p:cNvSpPr>
          <p:nvPr/>
        </p:nvSpPr>
        <p:spPr bwMode="auto">
          <a:xfrm>
            <a:off x="3473450" y="4038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a:t>
            </a:r>
          </a:p>
        </p:txBody>
      </p:sp>
      <p:sp>
        <p:nvSpPr>
          <p:cNvPr id="162862" name="Line 49"/>
          <p:cNvSpPr>
            <a:spLocks noChangeShapeType="1"/>
          </p:cNvSpPr>
          <p:nvPr/>
        </p:nvSpPr>
        <p:spPr bwMode="auto">
          <a:xfrm>
            <a:off x="4572000" y="3048000"/>
            <a:ext cx="76200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63" name="Text Box 50"/>
          <p:cNvSpPr txBox="1">
            <a:spLocks noChangeArrowheads="1"/>
          </p:cNvSpPr>
          <p:nvPr/>
        </p:nvSpPr>
        <p:spPr bwMode="auto">
          <a:xfrm>
            <a:off x="4724400" y="28194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10</a:t>
            </a:r>
          </a:p>
        </p:txBody>
      </p:sp>
      <p:sp>
        <p:nvSpPr>
          <p:cNvPr id="162864" name="Line 51"/>
          <p:cNvSpPr>
            <a:spLocks noChangeShapeType="1"/>
          </p:cNvSpPr>
          <p:nvPr/>
        </p:nvSpPr>
        <p:spPr bwMode="auto">
          <a:xfrm flipV="1">
            <a:off x="2895600" y="41148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65" name="Text Box 52"/>
          <p:cNvSpPr txBox="1">
            <a:spLocks noChangeArrowheads="1"/>
          </p:cNvSpPr>
          <p:nvPr/>
        </p:nvSpPr>
        <p:spPr bwMode="auto">
          <a:xfrm>
            <a:off x="2863850" y="4038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5</a:t>
            </a:r>
          </a:p>
        </p:txBody>
      </p:sp>
      <p:sp>
        <p:nvSpPr>
          <p:cNvPr id="162866" name="Line 53"/>
          <p:cNvSpPr>
            <a:spLocks noChangeShapeType="1"/>
          </p:cNvSpPr>
          <p:nvPr/>
        </p:nvSpPr>
        <p:spPr bwMode="auto">
          <a:xfrm flipV="1">
            <a:off x="3124200" y="3124200"/>
            <a:ext cx="2362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2867" name="Text Box 54"/>
          <p:cNvSpPr txBox="1">
            <a:spLocks noChangeArrowheads="1"/>
          </p:cNvSpPr>
          <p:nvPr/>
        </p:nvSpPr>
        <p:spPr bwMode="auto">
          <a:xfrm>
            <a:off x="3124200" y="31242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4</a:t>
            </a:r>
          </a:p>
        </p:txBody>
      </p:sp>
      <p:sp>
        <p:nvSpPr>
          <p:cNvPr id="162868"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Final Schedule</a:t>
            </a:r>
          </a:p>
        </p:txBody>
      </p:sp>
      <p:sp>
        <p:nvSpPr>
          <p:cNvPr id="163843" name="Line 3"/>
          <p:cNvSpPr>
            <a:spLocks noChangeShapeType="1"/>
          </p:cNvSpPr>
          <p:nvPr/>
        </p:nvSpPr>
        <p:spPr bwMode="auto">
          <a:xfrm>
            <a:off x="2895600" y="4683125"/>
            <a:ext cx="4953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44" name="Line 4"/>
          <p:cNvSpPr>
            <a:spLocks noChangeShapeType="1"/>
          </p:cNvSpPr>
          <p:nvPr/>
        </p:nvSpPr>
        <p:spPr bwMode="auto">
          <a:xfrm>
            <a:off x="2895600" y="460692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45" name="Line 5"/>
          <p:cNvSpPr>
            <a:spLocks noChangeShapeType="1"/>
          </p:cNvSpPr>
          <p:nvPr/>
        </p:nvSpPr>
        <p:spPr bwMode="auto">
          <a:xfrm>
            <a:off x="3657600" y="460692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46" name="Line 6"/>
          <p:cNvSpPr>
            <a:spLocks noChangeShapeType="1"/>
          </p:cNvSpPr>
          <p:nvPr/>
        </p:nvSpPr>
        <p:spPr bwMode="auto">
          <a:xfrm>
            <a:off x="4419600" y="460692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47" name="Line 7"/>
          <p:cNvSpPr>
            <a:spLocks noChangeShapeType="1"/>
          </p:cNvSpPr>
          <p:nvPr/>
        </p:nvSpPr>
        <p:spPr bwMode="auto">
          <a:xfrm>
            <a:off x="5181600" y="460692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48" name="Line 8"/>
          <p:cNvSpPr>
            <a:spLocks noChangeShapeType="1"/>
          </p:cNvSpPr>
          <p:nvPr/>
        </p:nvSpPr>
        <p:spPr bwMode="auto">
          <a:xfrm>
            <a:off x="5943600" y="460692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49" name="Line 9"/>
          <p:cNvSpPr>
            <a:spLocks noChangeShapeType="1"/>
          </p:cNvSpPr>
          <p:nvPr/>
        </p:nvSpPr>
        <p:spPr bwMode="auto">
          <a:xfrm>
            <a:off x="6705600" y="460692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50" name="Line 10"/>
          <p:cNvSpPr>
            <a:spLocks noChangeShapeType="1"/>
          </p:cNvSpPr>
          <p:nvPr/>
        </p:nvSpPr>
        <p:spPr bwMode="auto">
          <a:xfrm>
            <a:off x="7391400" y="460692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51" name="Text Box 11"/>
          <p:cNvSpPr txBox="1">
            <a:spLocks noChangeArrowheads="1"/>
          </p:cNvSpPr>
          <p:nvPr/>
        </p:nvSpPr>
        <p:spPr bwMode="auto">
          <a:xfrm>
            <a:off x="2743200" y="4683125"/>
            <a:ext cx="4832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0        5       10      15      20     25     30</a:t>
            </a:r>
          </a:p>
        </p:txBody>
      </p:sp>
      <p:sp>
        <p:nvSpPr>
          <p:cNvPr id="163852" name="Rectangle 12"/>
          <p:cNvSpPr>
            <a:spLocks noChangeArrowheads="1"/>
          </p:cNvSpPr>
          <p:nvPr/>
        </p:nvSpPr>
        <p:spPr bwMode="auto">
          <a:xfrm>
            <a:off x="2895600" y="3997325"/>
            <a:ext cx="7620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3,3</a:t>
            </a:r>
          </a:p>
        </p:txBody>
      </p:sp>
      <p:sp>
        <p:nvSpPr>
          <p:cNvPr id="163853" name="Rectangle 13"/>
          <p:cNvSpPr>
            <a:spLocks noChangeArrowheads="1"/>
          </p:cNvSpPr>
          <p:nvPr/>
        </p:nvSpPr>
        <p:spPr bwMode="auto">
          <a:xfrm>
            <a:off x="3657600" y="3997325"/>
            <a:ext cx="6096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3,2</a:t>
            </a:r>
          </a:p>
        </p:txBody>
      </p:sp>
      <p:sp>
        <p:nvSpPr>
          <p:cNvPr id="163854" name="Rectangle 14"/>
          <p:cNvSpPr>
            <a:spLocks noChangeArrowheads="1"/>
          </p:cNvSpPr>
          <p:nvPr/>
        </p:nvSpPr>
        <p:spPr bwMode="auto">
          <a:xfrm>
            <a:off x="3657600" y="3159125"/>
            <a:ext cx="4572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2,3</a:t>
            </a:r>
          </a:p>
        </p:txBody>
      </p:sp>
      <p:sp>
        <p:nvSpPr>
          <p:cNvPr id="163855" name="Rectangle 15"/>
          <p:cNvSpPr>
            <a:spLocks noChangeArrowheads="1"/>
          </p:cNvSpPr>
          <p:nvPr/>
        </p:nvSpPr>
        <p:spPr bwMode="auto">
          <a:xfrm>
            <a:off x="3657600" y="2320925"/>
            <a:ext cx="7620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1,1</a:t>
            </a:r>
          </a:p>
        </p:txBody>
      </p:sp>
      <p:sp>
        <p:nvSpPr>
          <p:cNvPr id="163856" name="Rectangle 16"/>
          <p:cNvSpPr>
            <a:spLocks noChangeArrowheads="1"/>
          </p:cNvSpPr>
          <p:nvPr/>
        </p:nvSpPr>
        <p:spPr bwMode="auto">
          <a:xfrm>
            <a:off x="4419600" y="2320925"/>
            <a:ext cx="7620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1,2</a:t>
            </a:r>
          </a:p>
        </p:txBody>
      </p:sp>
      <p:sp>
        <p:nvSpPr>
          <p:cNvPr id="163857" name="Rectangle 17"/>
          <p:cNvSpPr>
            <a:spLocks noChangeArrowheads="1"/>
          </p:cNvSpPr>
          <p:nvPr/>
        </p:nvSpPr>
        <p:spPr bwMode="auto">
          <a:xfrm>
            <a:off x="4419600" y="3159125"/>
            <a:ext cx="15240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2,1</a:t>
            </a:r>
          </a:p>
        </p:txBody>
      </p:sp>
      <p:sp>
        <p:nvSpPr>
          <p:cNvPr id="163858" name="Rectangle 18"/>
          <p:cNvSpPr>
            <a:spLocks noChangeArrowheads="1"/>
          </p:cNvSpPr>
          <p:nvPr/>
        </p:nvSpPr>
        <p:spPr bwMode="auto">
          <a:xfrm>
            <a:off x="5943600" y="3159125"/>
            <a:ext cx="9906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2,2</a:t>
            </a:r>
          </a:p>
        </p:txBody>
      </p:sp>
      <p:sp>
        <p:nvSpPr>
          <p:cNvPr id="163859" name="Rectangle 19"/>
          <p:cNvSpPr>
            <a:spLocks noChangeArrowheads="1"/>
          </p:cNvSpPr>
          <p:nvPr/>
        </p:nvSpPr>
        <p:spPr bwMode="auto">
          <a:xfrm>
            <a:off x="5943600" y="3997325"/>
            <a:ext cx="6096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3,1</a:t>
            </a:r>
          </a:p>
        </p:txBody>
      </p:sp>
      <p:sp>
        <p:nvSpPr>
          <p:cNvPr id="163860" name="Rectangle 20"/>
          <p:cNvSpPr>
            <a:spLocks noChangeArrowheads="1"/>
          </p:cNvSpPr>
          <p:nvPr/>
        </p:nvSpPr>
        <p:spPr bwMode="auto">
          <a:xfrm>
            <a:off x="5181600" y="2320925"/>
            <a:ext cx="1143000"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lgn="ct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1,3</a:t>
            </a:r>
          </a:p>
        </p:txBody>
      </p:sp>
      <p:sp>
        <p:nvSpPr>
          <p:cNvPr id="163861" name="Text Box 21"/>
          <p:cNvSpPr txBox="1">
            <a:spLocks noChangeArrowheads="1"/>
          </p:cNvSpPr>
          <p:nvPr/>
        </p:nvSpPr>
        <p:spPr bwMode="auto">
          <a:xfrm>
            <a:off x="1295400" y="2286000"/>
            <a:ext cx="1477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1</a:t>
            </a:r>
          </a:p>
        </p:txBody>
      </p:sp>
      <p:sp>
        <p:nvSpPr>
          <p:cNvPr id="163862" name="Text Box 22"/>
          <p:cNvSpPr txBox="1">
            <a:spLocks noChangeArrowheads="1"/>
          </p:cNvSpPr>
          <p:nvPr/>
        </p:nvSpPr>
        <p:spPr bwMode="auto">
          <a:xfrm>
            <a:off x="1295400" y="3082925"/>
            <a:ext cx="1477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2</a:t>
            </a:r>
          </a:p>
        </p:txBody>
      </p:sp>
      <p:sp>
        <p:nvSpPr>
          <p:cNvPr id="163863" name="Text Box 23"/>
          <p:cNvSpPr txBox="1">
            <a:spLocks noChangeArrowheads="1"/>
          </p:cNvSpPr>
          <p:nvPr/>
        </p:nvSpPr>
        <p:spPr bwMode="auto">
          <a:xfrm>
            <a:off x="1295400" y="3921125"/>
            <a:ext cx="1477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r>
              <a:rPr lang="en-US" altLang="zh-CN" sz="2400" b="0">
                <a:latin typeface="Times New Roman" panose="02020603050405020304" pitchFamily="18" charset="0"/>
                <a:ea typeface="宋体" panose="02010600030101010101" pitchFamily="2" charset="-122"/>
              </a:rPr>
              <a:t>Machine 3</a:t>
            </a:r>
          </a:p>
        </p:txBody>
      </p:sp>
      <p:sp>
        <p:nvSpPr>
          <p:cNvPr id="163864" name="Line 24"/>
          <p:cNvSpPr>
            <a:spLocks noChangeShapeType="1"/>
          </p:cNvSpPr>
          <p:nvPr/>
        </p:nvSpPr>
        <p:spPr bwMode="auto">
          <a:xfrm flipV="1">
            <a:off x="5334000" y="46482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65" name="Line 25"/>
          <p:cNvSpPr>
            <a:spLocks noChangeShapeType="1"/>
          </p:cNvSpPr>
          <p:nvPr/>
        </p:nvSpPr>
        <p:spPr bwMode="auto">
          <a:xfrm flipV="1">
            <a:off x="5638800" y="4648200"/>
            <a:ext cx="0" cy="1143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66" name="Line 26"/>
          <p:cNvSpPr>
            <a:spLocks noChangeShapeType="1"/>
          </p:cNvSpPr>
          <p:nvPr/>
        </p:nvSpPr>
        <p:spPr bwMode="auto">
          <a:xfrm flipV="1">
            <a:off x="6553200" y="4648200"/>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63867" name="Object 27"/>
          <p:cNvGraphicFramePr>
            <a:graphicFrameLocks noChangeAspect="1"/>
          </p:cNvGraphicFramePr>
          <p:nvPr/>
        </p:nvGraphicFramePr>
        <p:xfrm>
          <a:off x="6400800" y="5324475"/>
          <a:ext cx="354013" cy="466725"/>
        </p:xfrm>
        <a:graphic>
          <a:graphicData uri="http://schemas.openxmlformats.org/presentationml/2006/ole">
            <mc:AlternateContent xmlns:mc="http://schemas.openxmlformats.org/markup-compatibility/2006">
              <mc:Choice xmlns:v="urn:schemas-microsoft-com:vml" Requires="v">
                <p:oleObj spid="_x0000_s163970" name="Equation" r:id="rId3" imgW="164885" imgH="215619" progId="Equation.3">
                  <p:embed/>
                </p:oleObj>
              </mc:Choice>
              <mc:Fallback>
                <p:oleObj name="Equation" r:id="rId3" imgW="164885" imgH="215619" progId="Equation.3">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5324475"/>
                        <a:ext cx="354013"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63868" name="Object 28"/>
          <p:cNvGraphicFramePr>
            <a:graphicFrameLocks noChangeAspect="1"/>
          </p:cNvGraphicFramePr>
          <p:nvPr/>
        </p:nvGraphicFramePr>
        <p:xfrm>
          <a:off x="5472113" y="5781675"/>
          <a:ext cx="382587" cy="466725"/>
        </p:xfrm>
        <a:graphic>
          <a:graphicData uri="http://schemas.openxmlformats.org/presentationml/2006/ole">
            <mc:AlternateContent xmlns:mc="http://schemas.openxmlformats.org/markup-compatibility/2006">
              <mc:Choice xmlns:v="urn:schemas-microsoft-com:vml" Requires="v">
                <p:oleObj spid="_x0000_s163971" name="Equation" r:id="rId5" imgW="177569" imgH="215619" progId="Equation.3">
                  <p:embed/>
                </p:oleObj>
              </mc:Choice>
              <mc:Fallback>
                <p:oleObj name="Equation" r:id="rId5" imgW="177569" imgH="215619" progId="Equation.3">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72113" y="5781675"/>
                        <a:ext cx="382587"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63869" name="Object 29"/>
          <p:cNvGraphicFramePr>
            <a:graphicFrameLocks noChangeAspect="1"/>
          </p:cNvGraphicFramePr>
          <p:nvPr/>
        </p:nvGraphicFramePr>
        <p:xfrm>
          <a:off x="5168900" y="5318125"/>
          <a:ext cx="381000" cy="498475"/>
        </p:xfrm>
        <a:graphic>
          <a:graphicData uri="http://schemas.openxmlformats.org/presentationml/2006/ole">
            <mc:AlternateContent xmlns:mc="http://schemas.openxmlformats.org/markup-compatibility/2006">
              <mc:Choice xmlns:v="urn:schemas-microsoft-com:vml" Requires="v">
                <p:oleObj spid="_x0000_s163972" name="公式" r:id="rId7" imgW="177646" imgH="228402" progId="Equation.3">
                  <p:embed/>
                </p:oleObj>
              </mc:Choice>
              <mc:Fallback>
                <p:oleObj name="公式" r:id="rId7" imgW="177646" imgH="228402" progId="Equation.3">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8900" y="5318125"/>
                        <a:ext cx="381000" cy="498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3870" name="Line 30"/>
          <p:cNvSpPr>
            <a:spLocks noChangeShapeType="1"/>
          </p:cNvSpPr>
          <p:nvPr/>
        </p:nvSpPr>
        <p:spPr bwMode="auto">
          <a:xfrm flipV="1">
            <a:off x="5334000" y="2133600"/>
            <a:ext cx="0" cy="25146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71" name="Line 31"/>
          <p:cNvSpPr>
            <a:spLocks noChangeShapeType="1"/>
          </p:cNvSpPr>
          <p:nvPr/>
        </p:nvSpPr>
        <p:spPr bwMode="auto">
          <a:xfrm flipV="1">
            <a:off x="5638800" y="2133600"/>
            <a:ext cx="0" cy="25146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72" name="Line 32"/>
          <p:cNvSpPr>
            <a:spLocks noChangeShapeType="1"/>
          </p:cNvSpPr>
          <p:nvPr/>
        </p:nvSpPr>
        <p:spPr bwMode="auto">
          <a:xfrm flipV="1">
            <a:off x="6553200" y="2133600"/>
            <a:ext cx="0" cy="251460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873" name="页脚占位符 1"/>
          <p:cNvSpPr>
            <a:spLocks noGrp="1"/>
          </p:cNvSpPr>
          <p:nvPr>
            <p:ph type="ftr" sz="quarter" idx="11"/>
          </p:nvPr>
        </p:nvSpPr>
        <p:spPr bwMode="auto">
          <a:xfrm>
            <a:off x="457200" y="6553200"/>
            <a:ext cx="3429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normAutofit fontScale="90000"/>
          </a:bodyPr>
          <a:lstStyle/>
          <a:p>
            <a:pPr eaLnBrk="1" hangingPunct="1">
              <a:defRPr/>
            </a:pPr>
            <a:r>
              <a:rPr kumimoji="0" lang="en-US" altLang="zh-CN" b="1" dirty="0">
                <a:latin typeface="Verdana" charset="0"/>
                <a:cs typeface="宋体" charset="0"/>
              </a:rPr>
              <a:t>Performance</a:t>
            </a:r>
          </a:p>
        </p:txBody>
      </p:sp>
      <p:sp>
        <p:nvSpPr>
          <p:cNvPr id="164867" name="Rectangle 3"/>
          <p:cNvSpPr>
            <a:spLocks noGrp="1" noChangeArrowheads="1"/>
          </p:cNvSpPr>
          <p:nvPr>
            <p:ph type="body" idx="1"/>
          </p:nvPr>
        </p:nvSpPr>
        <p:spPr>
          <a:xfrm>
            <a:off x="685800" y="1524000"/>
            <a:ext cx="8193088" cy="4114800"/>
          </a:xfrm>
        </p:spPr>
        <p:txBody>
          <a:bodyPr/>
          <a:lstStyle/>
          <a:p>
            <a:pPr marL="0" indent="0" eaLnBrk="1" hangingPunct="1"/>
            <a:r>
              <a:rPr lang="en-US" altLang="zh-CN">
                <a:latin typeface="Verdana" panose="020B0604030504040204" pitchFamily="34" charset="0"/>
                <a:ea typeface="宋体" panose="02010600030101010101" pitchFamily="2" charset="-122"/>
              </a:rPr>
              <a:t>Objective function</a:t>
            </a: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endParaRPr lang="en-US" altLang="zh-CN">
              <a:latin typeface="Verdana" panose="020B0604030504040204" pitchFamily="34" charset="0"/>
              <a:ea typeface="宋体" panose="02010600030101010101" pitchFamily="2" charset="-122"/>
            </a:endParaRPr>
          </a:p>
          <a:p>
            <a:pPr marL="0" indent="0" eaLnBrk="1" hangingPunct="1"/>
            <a:r>
              <a:rPr lang="en-US" altLang="zh-CN">
                <a:latin typeface="Verdana" panose="020B0604030504040204" pitchFamily="34" charset="0"/>
                <a:ea typeface="宋体" panose="02010600030101010101" pitchFamily="2" charset="-122"/>
              </a:rPr>
              <a:t>Try finding a better schedule?</a:t>
            </a:r>
          </a:p>
          <a:p>
            <a:pPr marL="0" indent="0" eaLnBrk="1" hangingPunct="1">
              <a:buFont typeface="Wingdings" panose="05000000000000000000" pitchFamily="2" charset="2"/>
              <a:buNone/>
            </a:pPr>
            <a:r>
              <a:rPr lang="en-US" altLang="zh-CN">
                <a:latin typeface="Verdana" panose="020B0604030504040204" pitchFamily="34" charset="0"/>
                <a:ea typeface="宋体" panose="02010600030101010101" pitchFamily="2" charset="-122"/>
              </a:rPr>
              <a:t>	(optimal value = 18)</a:t>
            </a:r>
          </a:p>
        </p:txBody>
      </p:sp>
      <p:graphicFrame>
        <p:nvGraphicFramePr>
          <p:cNvPr id="164868" name="Object 4"/>
          <p:cNvGraphicFramePr>
            <a:graphicFrameLocks noChangeAspect="1"/>
          </p:cNvGraphicFramePr>
          <p:nvPr/>
        </p:nvGraphicFramePr>
        <p:xfrm>
          <a:off x="1447800" y="2362200"/>
          <a:ext cx="6856413" cy="1455738"/>
        </p:xfrm>
        <a:graphic>
          <a:graphicData uri="http://schemas.openxmlformats.org/presentationml/2006/ole">
            <mc:AlternateContent xmlns:mc="http://schemas.openxmlformats.org/markup-compatibility/2006">
              <mc:Choice xmlns:v="urn:schemas-microsoft-com:vml" Requires="v">
                <p:oleObj spid="_x0000_s164902" name="公式" r:id="rId3" imgW="3162300" imgH="635000" progId="Equation.3">
                  <p:embed/>
                </p:oleObj>
              </mc:Choice>
              <mc:Fallback>
                <p:oleObj name="公式" r:id="rId3" imgW="3162300" imgH="635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362200"/>
                        <a:ext cx="6856413" cy="145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4869" name="页脚占位符 1"/>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spcAft>
                <a:spcPts val="600"/>
              </a:spcAft>
              <a:buFont typeface="Arial" panose="020B0604020202020204" pitchFamily="34" charset="0"/>
              <a:defRPr sz="2000" b="1">
                <a:solidFill>
                  <a:schemeClr val="tx1"/>
                </a:solidFill>
                <a:latin typeface="Arial" panose="020B0604020202020204" pitchFamily="34" charset="0"/>
                <a:ea typeface="黑体" panose="02010609060101010101" pitchFamily="49" charset="-122"/>
              </a:defRPr>
            </a:lvl1pPr>
            <a:lvl2pPr marL="742950" indent="-285750">
              <a:spcBef>
                <a:spcPct val="20000"/>
              </a:spcBef>
              <a:buClr>
                <a:schemeClr val="tx2"/>
              </a:buClr>
              <a:buFont typeface="Arial" panose="020B0604020202020204" pitchFamily="34" charset="0"/>
              <a:buChar char="•"/>
              <a:defRPr kumimoji="1" sz="2000">
                <a:solidFill>
                  <a:schemeClr val="tx1"/>
                </a:solidFill>
                <a:latin typeface="Arial" panose="020B0604020202020204" pitchFamily="34" charset="0"/>
                <a:ea typeface="黑体" panose="02010609060101010101" pitchFamily="49" charset="-122"/>
              </a:defRPr>
            </a:lvl2pPr>
            <a:lvl3pPr marL="11430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3pPr>
            <a:lvl4pPr marL="16002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4pPr>
            <a:lvl5pPr marL="2057400" indent="-228600">
              <a:spcBef>
                <a:spcPct val="20000"/>
              </a:spcBef>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lr>
                <a:schemeClr val="tx2"/>
              </a:buClr>
              <a:buFont typeface="Arial" panose="020B0604020202020204" pitchFamily="34" charset="0"/>
              <a:buChar char="•"/>
              <a:defRPr kumimoji="1">
                <a:solidFill>
                  <a:schemeClr val="tx1"/>
                </a:solidFill>
                <a:latin typeface="Arial" panose="020B0604020202020204" pitchFamily="34" charset="0"/>
                <a:ea typeface="黑体" panose="02010609060101010101" pitchFamily="49" charset="-122"/>
              </a:defRPr>
            </a:lvl9pPr>
          </a:lstStyle>
          <a:p>
            <a:pPr>
              <a:spcBef>
                <a:spcPct val="0"/>
              </a:spcBef>
              <a:spcAft>
                <a:spcPct val="0"/>
              </a:spcAft>
              <a:buFontTx/>
              <a:buNone/>
            </a:pPr>
            <a:endParaRPr lang="en-US" altLang="zh-CN" sz="1000" b="0" dirty="0">
              <a:latin typeface="Verdana" panose="020B0604030504040204" pitchFamily="34" charset="0"/>
              <a:ea typeface="宋体" panose="02010600030101010101" pitchFamily="2" charset="-122"/>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0"/>
            <a:ext cx="8077200" cy="533400"/>
          </a:xfrm>
        </p:spPr>
        <p:txBody>
          <a:bodyPr/>
          <a:lstStyle/>
          <a:p>
            <a:pPr eaLnBrk="1" hangingPunct="1"/>
            <a:r>
              <a:rPr lang="zh-CN" altLang="en-US" sz="1600" b="1" dirty="0">
                <a:solidFill>
                  <a:srgbClr val="FFFF00"/>
                </a:solidFill>
              </a:rPr>
              <a:t>生产调度</a:t>
            </a:r>
          </a:p>
        </p:txBody>
      </p:sp>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dirty="0">
                <a:solidFill>
                  <a:srgbClr val="FF0000"/>
                </a:solidFill>
                <a:effectLst>
                  <a:outerShdw blurRad="38100" dist="38100" dir="2700000" algn="tl">
                    <a:srgbClr val="C0C0C0"/>
                  </a:outerShdw>
                </a:effectLst>
              </a:rPr>
              <a:t>小结</a:t>
            </a:r>
          </a:p>
          <a:p>
            <a:pPr lvl="1" eaLnBrk="1" hangingPunct="1">
              <a:lnSpc>
                <a:spcPct val="120000"/>
              </a:lnSpc>
              <a:defRPr/>
            </a:pPr>
            <a:endParaRPr lang="en-US" altLang="zh-CN" dirty="0">
              <a:latin typeface="Times New Roman" pitchFamily="18" charset="0"/>
            </a:endParaRPr>
          </a:p>
        </p:txBody>
      </p:sp>
    </p:spTree>
    <p:extLst>
      <p:ext uri="{BB962C8B-B14F-4D97-AF65-F5344CB8AC3E}">
        <p14:creationId xmlns:p14="http://schemas.microsoft.com/office/powerpoint/2010/main" val="2856526728"/>
      </p:ext>
    </p:extLst>
  </p:cSld>
  <p:clrMapOvr>
    <a:masterClrMapping/>
  </p:clrMapOvr>
  <p:transition spd="slow">
    <p:randomBar dir="ver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基本">
  <a:themeElements>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基本">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99CCFF"/>
        </a:solidFill>
        <a:ln w="28575" cap="rnd" cmpd="sng" algn="ctr">
          <a:solidFill>
            <a:srgbClr val="003399"/>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eaVert" wrap="none" lIns="90000" tIns="45720" rIns="189000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themeOverride>
</file>

<file path=docProps/app.xml><?xml version="1.0" encoding="utf-8"?>
<Properties xmlns="http://schemas.openxmlformats.org/officeDocument/2006/extended-properties" xmlns:vt="http://schemas.openxmlformats.org/officeDocument/2006/docPropsVTypes">
  <Template>Essential</Template>
  <TotalTime>8797</TotalTime>
  <Words>5755</Words>
  <Application>Microsoft Office PowerPoint</Application>
  <PresentationFormat>全屏显示(4:3)</PresentationFormat>
  <Paragraphs>1450</Paragraphs>
  <Slides>139</Slides>
  <Notes>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3</vt:i4>
      </vt:variant>
      <vt:variant>
        <vt:lpstr>幻灯片标题</vt:lpstr>
      </vt:variant>
      <vt:variant>
        <vt:i4>139</vt:i4>
      </vt:variant>
    </vt:vector>
  </HeadingPairs>
  <TitlesOfParts>
    <vt:vector size="156" baseType="lpstr">
      <vt:lpstr>黑体</vt:lpstr>
      <vt:lpstr>宋体</vt:lpstr>
      <vt:lpstr>微软雅黑</vt:lpstr>
      <vt:lpstr>Arial</vt:lpstr>
      <vt:lpstr>Arial Black</vt:lpstr>
      <vt:lpstr>Calibri</vt:lpstr>
      <vt:lpstr>Marlett</vt:lpstr>
      <vt:lpstr>Symbol</vt:lpstr>
      <vt:lpstr>Tahoma</vt:lpstr>
      <vt:lpstr>Times New Roman</vt:lpstr>
      <vt:lpstr>Verdana</vt:lpstr>
      <vt:lpstr>Wingdings</vt:lpstr>
      <vt:lpstr>基本</vt:lpstr>
      <vt:lpstr>Pixel</vt:lpstr>
      <vt:lpstr>公式</vt:lpstr>
      <vt:lpstr>Equation</vt:lpstr>
      <vt:lpstr>文档</vt:lpstr>
      <vt:lpstr>课程内容体系</vt:lpstr>
      <vt:lpstr>Contents for Production Planning and Scheduling</vt:lpstr>
      <vt:lpstr>PowerPoint 演示文稿</vt:lpstr>
      <vt:lpstr>Scheduling problems</vt:lpstr>
      <vt:lpstr>Scheduling Decisions（调度决策）</vt:lpstr>
      <vt:lpstr>Scheduling Problem</vt:lpstr>
      <vt:lpstr>PowerPoint 演示文稿</vt:lpstr>
      <vt:lpstr>8. 生产调度(Production Scheduling)</vt:lpstr>
      <vt:lpstr>8.1 预备知识(Preliminaries)</vt:lpstr>
      <vt:lpstr>Objectives of production scheduling</vt:lpstr>
      <vt:lpstr>Approach：</vt:lpstr>
      <vt:lpstr>General Solution Techniques</vt:lpstr>
      <vt:lpstr>Modeling</vt:lpstr>
      <vt:lpstr>Decision “Variables”</vt:lpstr>
      <vt:lpstr>Production Scheduling</vt:lpstr>
      <vt:lpstr>Machine Configuration</vt:lpstr>
      <vt:lpstr>Machine Configurations</vt:lpstr>
      <vt:lpstr>Flow shop （流水作业）</vt:lpstr>
      <vt:lpstr>Job shop （异序作业）</vt:lpstr>
      <vt:lpstr>Machine Environment: </vt:lpstr>
      <vt:lpstr>Job Characteristics:  </vt:lpstr>
      <vt:lpstr>Objective/Optimality Criteria: </vt:lpstr>
      <vt:lpstr>Throughput &amp; Makespan</vt:lpstr>
      <vt:lpstr>Due Date Related Objectives</vt:lpstr>
      <vt:lpstr>Due Date Penalties</vt:lpstr>
      <vt:lpstr>Representation Methods</vt:lpstr>
      <vt:lpstr>PowerPoint 演示文稿</vt:lpstr>
      <vt:lpstr>Example</vt:lpstr>
      <vt:lpstr>PowerPoint 演示文稿</vt:lpstr>
      <vt:lpstr>Complexities of Scheduling Problems</vt:lpstr>
      <vt:lpstr>Algorithm Complexity</vt:lpstr>
      <vt:lpstr>PowerPoint 演示文稿</vt:lpstr>
      <vt:lpstr>Solution Times</vt:lpstr>
      <vt:lpstr>Complexity of Job Shop Scheduling problems</vt:lpstr>
      <vt:lpstr>Combinatorial Optimization</vt:lpstr>
      <vt:lpstr>Optimization algorithms</vt:lpstr>
      <vt:lpstr>General Solution Techniques</vt:lpstr>
      <vt:lpstr>PowerPoint 演示文稿</vt:lpstr>
      <vt:lpstr>PowerPoint 演示文稿</vt:lpstr>
      <vt:lpstr>Dispatching Rules</vt:lpstr>
      <vt:lpstr>PowerPoint 演示文稿</vt:lpstr>
      <vt:lpstr>Release/Due Date Related</vt:lpstr>
      <vt:lpstr>Processing Time Related</vt:lpstr>
      <vt:lpstr>Other Dispatching Rules</vt:lpstr>
      <vt:lpstr>PowerPoint 演示文稿</vt:lpstr>
      <vt:lpstr>Single Machine Example</vt:lpstr>
      <vt:lpstr>Rules using Local Information</vt:lpstr>
      <vt:lpstr>Pros and Cons of Dispatching Rules</vt:lpstr>
      <vt:lpstr>Dispatching Rules (cont.)</vt:lpstr>
      <vt:lpstr>Composite Dispatching Rules</vt:lpstr>
      <vt:lpstr>Case 1: Tight Deadlines</vt:lpstr>
      <vt:lpstr>Case 2: Loose Deadlines</vt:lpstr>
      <vt:lpstr>Composite Rule</vt:lpstr>
      <vt:lpstr>Apparent Tardiness Cost (ATC)</vt:lpstr>
      <vt:lpstr>Special Cases</vt:lpstr>
      <vt:lpstr>Choosing K</vt:lpstr>
      <vt:lpstr>PowerPoint 演示文稿</vt:lpstr>
      <vt:lpstr>Sequencing theory for a single machine</vt:lpstr>
      <vt:lpstr>WSPT</vt:lpstr>
      <vt:lpstr>Proof (by contradiction)</vt:lpstr>
      <vt:lpstr>Proof (continued)</vt:lpstr>
      <vt:lpstr>Moore’s algorithm</vt:lpstr>
      <vt:lpstr>Example</vt:lpstr>
      <vt:lpstr>Solution</vt:lpstr>
      <vt:lpstr>Solution (cont.)</vt:lpstr>
      <vt:lpstr>Solution (cont.)</vt:lpstr>
      <vt:lpstr>Lawler’s algorithm (1973)</vt:lpstr>
      <vt:lpstr>Lawler’s algorithm</vt:lpstr>
      <vt:lpstr>Exercise</vt:lpstr>
      <vt:lpstr>Solution</vt:lpstr>
      <vt:lpstr>Solution (cont.)</vt:lpstr>
      <vt:lpstr>Solution (cont.)</vt:lpstr>
      <vt:lpstr>Solution (cont.)</vt:lpstr>
      <vt:lpstr>Solution (cont.)</vt:lpstr>
      <vt:lpstr>Solution (cont.)</vt:lpstr>
      <vt:lpstr>Sequencing theory for a single machine</vt:lpstr>
      <vt:lpstr>*Another important single machine model</vt:lpstr>
      <vt:lpstr>PowerPoint 演示文稿</vt:lpstr>
      <vt:lpstr>Machine Scheduling: Flow Shop Scheduling Problem  with two Machines （双机流水作业问题）</vt:lpstr>
      <vt:lpstr>Flow Shop Scheduling Problem with two Machines</vt:lpstr>
      <vt:lpstr>Johnson’s Algorithm Example</vt:lpstr>
      <vt:lpstr>Johnson’s Algorithm Example (cont.)</vt:lpstr>
      <vt:lpstr>Gantt Chart for Johnson’s Algorithm Example</vt:lpstr>
      <vt:lpstr>Extension to 3 Machines</vt:lpstr>
      <vt:lpstr>Example</vt:lpstr>
      <vt:lpstr>Solution</vt:lpstr>
      <vt:lpstr>Machine Scheduling: More general flow shop scheduling problem （多机流水作业问题）</vt:lpstr>
      <vt:lpstr>Slope Heuristic</vt:lpstr>
      <vt:lpstr>Example</vt:lpstr>
      <vt:lpstr>Solution</vt:lpstr>
      <vt:lpstr>PowerPoint 演示文稿</vt:lpstr>
      <vt:lpstr>Job Shop Scheduling</vt:lpstr>
      <vt:lpstr>Job Shop Example</vt:lpstr>
      <vt:lpstr>Graph Representation</vt:lpstr>
      <vt:lpstr>PowerPoint 演示文稿</vt:lpstr>
      <vt:lpstr>Solving the Problem</vt:lpstr>
      <vt:lpstr>Feasibility of the Schedule</vt:lpstr>
      <vt:lpstr>Disjunctive Programming</vt:lpstr>
      <vt:lpstr>Solution Methods</vt:lpstr>
      <vt:lpstr>Types of Schedules</vt:lpstr>
      <vt:lpstr>Nonactive Schedule</vt:lpstr>
      <vt:lpstr>Active Schedule, not Nondelay</vt:lpstr>
      <vt:lpstr>Nondelay schedule</vt:lpstr>
      <vt:lpstr>PowerPoint 演示文稿</vt:lpstr>
      <vt:lpstr>Shifting Bottleneck</vt:lpstr>
      <vt:lpstr>Example</vt:lpstr>
      <vt:lpstr>Iteration 1</vt:lpstr>
      <vt:lpstr>Selecting a Machine</vt:lpstr>
      <vt:lpstr>PowerPoint 演示文稿</vt:lpstr>
      <vt:lpstr>Selecting a Machine</vt:lpstr>
      <vt:lpstr>PowerPoint 演示文稿</vt:lpstr>
      <vt:lpstr>PowerPoint 演示文稿</vt:lpstr>
      <vt:lpstr>PowerPoint 演示文稿</vt:lpstr>
      <vt:lpstr>PowerPoint 演示文稿</vt:lpstr>
      <vt:lpstr>Discussion</vt:lpstr>
      <vt:lpstr>Discussion</vt:lpstr>
      <vt:lpstr>Exercise</vt:lpstr>
      <vt:lpstr>PowerPoint 演示文稿</vt:lpstr>
      <vt:lpstr>Total Weighted Tardiness</vt:lpstr>
      <vt:lpstr>Cost Function for Operation (i,j)</vt:lpstr>
      <vt:lpstr>Machine Selection</vt:lpstr>
      <vt:lpstr>Generalized ATC Rule</vt:lpstr>
      <vt:lpstr>Criticality of Machines</vt:lpstr>
      <vt:lpstr>Example</vt:lpstr>
      <vt:lpstr>Subproblem: Machine 1</vt:lpstr>
      <vt:lpstr>PowerPoint 演示文稿</vt:lpstr>
      <vt:lpstr>PowerPoint 演示文稿</vt:lpstr>
      <vt:lpstr>Subproblem Solutions</vt:lpstr>
      <vt:lpstr>Solution to Subproblems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Final Schedule</vt:lpstr>
      <vt:lpstr>Performance</vt:lpstr>
      <vt:lpstr>生产调度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QiChao</dc:creator>
  <cp:lastModifiedBy>hustzyliu</cp:lastModifiedBy>
  <cp:revision>282</cp:revision>
  <cp:lastPrinted>1601-01-01T00:00:00Z</cp:lastPrinted>
  <dcterms:created xsi:type="dcterms:W3CDTF">1601-01-01T00:00:00Z</dcterms:created>
  <dcterms:modified xsi:type="dcterms:W3CDTF">2025-05-05T15:07:10Z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
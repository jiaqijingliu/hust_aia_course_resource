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55"/>
  </p:notesMasterIdLst>
  <p:handoutMasterIdLst>
    <p:handoutMasterId r:id="rId56"/>
  </p:handoutMasterIdLst>
  <p:sldIdLst>
    <p:sldId id="386" r:id="rId2"/>
    <p:sldId id="351" r:id="rId3"/>
    <p:sldId id="319" r:id="rId4"/>
    <p:sldId id="363" r:id="rId5"/>
    <p:sldId id="364" r:id="rId6"/>
    <p:sldId id="365" r:id="rId7"/>
    <p:sldId id="366" r:id="rId8"/>
    <p:sldId id="367" r:id="rId9"/>
    <p:sldId id="368" r:id="rId10"/>
    <p:sldId id="369" r:id="rId11"/>
    <p:sldId id="370" r:id="rId12"/>
    <p:sldId id="371" r:id="rId13"/>
    <p:sldId id="372" r:id="rId14"/>
    <p:sldId id="387" r:id="rId15"/>
    <p:sldId id="374" r:id="rId16"/>
    <p:sldId id="375" r:id="rId17"/>
    <p:sldId id="376" r:id="rId18"/>
    <p:sldId id="377" r:id="rId19"/>
    <p:sldId id="378" r:id="rId20"/>
    <p:sldId id="379" r:id="rId21"/>
    <p:sldId id="380" r:id="rId22"/>
    <p:sldId id="381" r:id="rId23"/>
    <p:sldId id="382" r:id="rId24"/>
    <p:sldId id="383" r:id="rId25"/>
    <p:sldId id="384" r:id="rId26"/>
    <p:sldId id="385" r:id="rId27"/>
    <p:sldId id="320" r:id="rId28"/>
    <p:sldId id="336" r:id="rId29"/>
    <p:sldId id="337" r:id="rId30"/>
    <p:sldId id="338" r:id="rId31"/>
    <p:sldId id="321" r:id="rId32"/>
    <p:sldId id="330" r:id="rId33"/>
    <p:sldId id="331" r:id="rId34"/>
    <p:sldId id="332" r:id="rId35"/>
    <p:sldId id="333" r:id="rId36"/>
    <p:sldId id="345" r:id="rId37"/>
    <p:sldId id="346" r:id="rId38"/>
    <p:sldId id="334" r:id="rId39"/>
    <p:sldId id="347" r:id="rId40"/>
    <p:sldId id="348" r:id="rId41"/>
    <p:sldId id="349" r:id="rId42"/>
    <p:sldId id="335" r:id="rId43"/>
    <p:sldId id="362" r:id="rId44"/>
    <p:sldId id="353" r:id="rId45"/>
    <p:sldId id="354" r:id="rId46"/>
    <p:sldId id="355" r:id="rId47"/>
    <p:sldId id="356" r:id="rId48"/>
    <p:sldId id="357" r:id="rId49"/>
    <p:sldId id="358" r:id="rId50"/>
    <p:sldId id="359" r:id="rId51"/>
    <p:sldId id="360" r:id="rId52"/>
    <p:sldId id="361" r:id="rId53"/>
    <p:sldId id="287" r:id="rId5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66"/>
    <a:srgbClr val="666699"/>
    <a:srgbClr val="99CC00"/>
    <a:srgbClr val="339933"/>
    <a:srgbClr val="FF0000"/>
    <a:srgbClr val="FFCC00"/>
    <a:srgbClr val="003366"/>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33" autoAdjust="0"/>
    <p:restoredTop sz="93255" autoAdjust="0"/>
  </p:normalViewPr>
  <p:slideViewPr>
    <p:cSldViewPr>
      <p:cViewPr varScale="1">
        <p:scale>
          <a:sx n="70" d="100"/>
          <a:sy n="70" d="100"/>
        </p:scale>
        <p:origin x="864" y="3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01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931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931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931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B4360FF-A554-4FE9-8F9A-1F48B025EF5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12800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2800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12800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BBEC8BF-45A0-4219-BF51-49275F80E5E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smtClean="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FC091DCC-E8CA-4FEC-8224-C2758DEF9753}" type="slidenum">
              <a:rPr lang="en-US" altLang="zh-CN"/>
              <a:pPr>
                <a:defRPr/>
              </a:pPr>
              <a:t>‹#›</a:t>
            </a:fld>
            <a:endParaRPr lang="en-US" altLang="zh-CN"/>
          </a:p>
        </p:txBody>
      </p:sp>
    </p:spTree>
    <p:extLst>
      <p:ext uri="{BB962C8B-B14F-4D97-AF65-F5344CB8AC3E}">
        <p14:creationId xmlns:p14="http://schemas.microsoft.com/office/powerpoint/2010/main" val="745891955"/>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2C76465F-6A95-488F-A686-E6797645EE4B}"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564730585"/>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F3500B81-EE8E-4B23-BD60-013250ADAA8C}"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23219906"/>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67881CEB-184C-4C69-8983-CF14F55D6C4B}"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61066018"/>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42DF3540-0DFD-488E-8212-02E92718D49A}"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63776812"/>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2C24ED9C-8F65-465D-AF7C-4FD1FFB61CB4}"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0326633"/>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611933BE-6010-46AE-91DE-EFAF93A8A11A}"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75203248"/>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6C76076A-0A15-4A95-9F57-F79ECB351F51}"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6108050"/>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DB4A614F-D026-4176-B9F8-A93F3A73901B}"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75828861"/>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BF0DE187-EF4A-437D-96DD-61D7769CC070}"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866867408"/>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38968697-CFCD-487C-B438-26A1B72EB921}"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63671465"/>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981200"/>
            <a:ext cx="4038600" cy="3886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635CF004-D1A4-460A-883C-1CAF73B4B38C}"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705295480"/>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1C7B82E6-F2E8-4518-B07A-72B8736A2E75}"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smtClean="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mtClean="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mtClean="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mtClean="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mtClean="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smtClean="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mtClean="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mtClean="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889"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Lst>
  <p:transition spd="slow">
    <p:randomBar dir="vert"/>
  </p:transition>
  <p:timing>
    <p:tnLst>
      <p:par>
        <p:cTn id="1" dur="indefinite" restart="never" nodeType="tmRoot"/>
      </p:par>
    </p:tnLst>
  </p:timing>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4.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457200" y="457200"/>
            <a:ext cx="8229600" cy="424917"/>
          </a:xfrm>
        </p:spPr>
        <p:txBody>
          <a:bodyPr/>
          <a:lstStyle/>
          <a:p>
            <a:pPr algn="ctr" eaLnBrk="1" hangingPunct="1">
              <a:defRPr/>
            </a:pPr>
            <a:r>
              <a:rPr lang="zh-CN" altLang="en-US" sz="3200" b="1" dirty="0" smtClean="0">
                <a:solidFill>
                  <a:srgbClr val="FF0000"/>
                </a:solidFill>
                <a:effectLst>
                  <a:outerShdw blurRad="38100" dist="38100" dir="2700000" algn="tl">
                    <a:srgbClr val="000000">
                      <a:alpha val="43137"/>
                    </a:srgbClr>
                  </a:outerShdw>
                </a:effectLst>
              </a:rPr>
              <a:t>课程内容体系</a:t>
            </a:r>
            <a:endParaRPr lang="zh-CN" altLang="en-US" sz="3200" b="1" dirty="0">
              <a:solidFill>
                <a:srgbClr val="FF0000"/>
              </a:solidFill>
              <a:effectLst>
                <a:outerShdw blurRad="38100" dist="38100" dir="2700000" algn="tl">
                  <a:srgbClr val="000000">
                    <a:alpha val="43137"/>
                  </a:srgbClr>
                </a:outerShdw>
              </a:effectLst>
            </a:endParaRPr>
          </a:p>
        </p:txBody>
      </p:sp>
      <p:sp>
        <p:nvSpPr>
          <p:cNvPr id="18435" name="文本框 1"/>
          <p:cNvSpPr txBox="1">
            <a:spLocks noChangeArrowheads="1"/>
          </p:cNvSpPr>
          <p:nvPr/>
        </p:nvSpPr>
        <p:spPr bwMode="auto">
          <a:xfrm>
            <a:off x="3005944" y="1778348"/>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smtClean="0">
                <a:latin typeface="Calibri" panose="020F0502020204030204" pitchFamily="34" charset="0"/>
              </a:rPr>
              <a:t>企业生产与运作系统</a:t>
            </a:r>
            <a:endParaRPr lang="zh-CN" altLang="en-US" sz="1800" b="1" dirty="0">
              <a:latin typeface="Calibri" panose="020F0502020204030204" pitchFamily="34" charset="0"/>
            </a:endParaRPr>
          </a:p>
        </p:txBody>
      </p:sp>
      <p:sp>
        <p:nvSpPr>
          <p:cNvPr id="18436" name="文本框 4"/>
          <p:cNvSpPr txBox="1">
            <a:spLocks noChangeArrowheads="1"/>
          </p:cNvSpPr>
          <p:nvPr/>
        </p:nvSpPr>
        <p:spPr bwMode="auto">
          <a:xfrm>
            <a:off x="3005944" y="2514746"/>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生产规划</a:t>
            </a:r>
          </a:p>
        </p:txBody>
      </p:sp>
      <p:sp>
        <p:nvSpPr>
          <p:cNvPr id="18437" name="文本框 6"/>
          <p:cNvSpPr txBox="1">
            <a:spLocks noChangeArrowheads="1"/>
          </p:cNvSpPr>
          <p:nvPr/>
        </p:nvSpPr>
        <p:spPr bwMode="auto">
          <a:xfrm>
            <a:off x="3005944" y="3294833"/>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主生产计划</a:t>
            </a:r>
          </a:p>
        </p:txBody>
      </p:sp>
      <p:sp>
        <p:nvSpPr>
          <p:cNvPr id="18438" name="文本框 7"/>
          <p:cNvSpPr txBox="1">
            <a:spLocks noChangeArrowheads="1"/>
          </p:cNvSpPr>
          <p:nvPr/>
        </p:nvSpPr>
        <p:spPr bwMode="auto">
          <a:xfrm>
            <a:off x="3005944" y="4074920"/>
            <a:ext cx="3132112" cy="369887"/>
          </a:xfrm>
          <a:prstGeom prst="rect">
            <a:avLst/>
          </a:prstGeom>
          <a:solidFill>
            <a:schemeClr val="bg2">
              <a:lumMod val="60000"/>
              <a:lumOff val="40000"/>
            </a:schemeClr>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solidFill>
                  <a:srgbClr val="FFFF00"/>
                </a:solidFill>
                <a:latin typeface="Calibri" panose="020F0502020204030204" pitchFamily="34" charset="0"/>
              </a:rPr>
              <a:t>物料需求计划</a:t>
            </a:r>
          </a:p>
        </p:txBody>
      </p:sp>
      <p:sp>
        <p:nvSpPr>
          <p:cNvPr id="18439" name="文本框 8"/>
          <p:cNvSpPr txBox="1">
            <a:spLocks noChangeArrowheads="1"/>
          </p:cNvSpPr>
          <p:nvPr/>
        </p:nvSpPr>
        <p:spPr bwMode="auto">
          <a:xfrm>
            <a:off x="3005944" y="4855007"/>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能力需求计划</a:t>
            </a:r>
          </a:p>
        </p:txBody>
      </p:sp>
      <p:sp>
        <p:nvSpPr>
          <p:cNvPr id="18440" name="文本框 9"/>
          <p:cNvSpPr txBox="1">
            <a:spLocks noChangeArrowheads="1"/>
          </p:cNvSpPr>
          <p:nvPr/>
        </p:nvSpPr>
        <p:spPr bwMode="auto">
          <a:xfrm>
            <a:off x="3005944" y="5613799"/>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smtClean="0">
                <a:latin typeface="Calibri" panose="020F0502020204030204" pitchFamily="34" charset="0"/>
              </a:rPr>
              <a:t>生产调度</a:t>
            </a:r>
            <a:endParaRPr lang="zh-CN" altLang="en-US" sz="1800" b="1" dirty="0">
              <a:latin typeface="Calibri" panose="020F0502020204030204" pitchFamily="34" charset="0"/>
            </a:endParaRPr>
          </a:p>
        </p:txBody>
      </p:sp>
      <p:sp>
        <p:nvSpPr>
          <p:cNvPr id="3" name="下箭头 2"/>
          <p:cNvSpPr/>
          <p:nvPr/>
        </p:nvSpPr>
        <p:spPr>
          <a:xfrm>
            <a:off x="4107223" y="2201696"/>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下箭头 11"/>
          <p:cNvSpPr/>
          <p:nvPr/>
        </p:nvSpPr>
        <p:spPr>
          <a:xfrm>
            <a:off x="4107223" y="298178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下箭头 14"/>
          <p:cNvSpPr/>
          <p:nvPr/>
        </p:nvSpPr>
        <p:spPr>
          <a:xfrm>
            <a:off x="4107223" y="3761870"/>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下箭头 15"/>
          <p:cNvSpPr/>
          <p:nvPr/>
        </p:nvSpPr>
        <p:spPr>
          <a:xfrm>
            <a:off x="4107223" y="4541957"/>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下箭头 16"/>
          <p:cNvSpPr/>
          <p:nvPr/>
        </p:nvSpPr>
        <p:spPr>
          <a:xfrm>
            <a:off x="4107223" y="532204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文本框 1"/>
          <p:cNvSpPr txBox="1">
            <a:spLocks noChangeArrowheads="1"/>
          </p:cNvSpPr>
          <p:nvPr/>
        </p:nvSpPr>
        <p:spPr bwMode="auto">
          <a:xfrm>
            <a:off x="3005944" y="1086587"/>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zh-CN" altLang="en-US" sz="1800" b="1" dirty="0">
                <a:solidFill>
                  <a:schemeClr val="tx2"/>
                </a:solidFill>
                <a:latin typeface="宋体" panose="02010600030101010101" pitchFamily="2" charset="-122"/>
              </a:rPr>
              <a:t>系统集成</a:t>
            </a:r>
            <a:r>
              <a:rPr lang="zh-CN" altLang="en-US" sz="1800" b="1" dirty="0" smtClean="0">
                <a:solidFill>
                  <a:schemeClr val="tx2"/>
                </a:solidFill>
                <a:latin typeface="宋体" panose="02010600030101010101" pitchFamily="2" charset="-122"/>
              </a:rPr>
              <a:t>体系框架</a:t>
            </a:r>
            <a:endParaRPr lang="zh-CN" altLang="en-US" sz="1800" b="1" dirty="0">
              <a:latin typeface="Calibri" panose="020F0502020204030204" pitchFamily="34" charset="0"/>
            </a:endParaRPr>
          </a:p>
        </p:txBody>
      </p:sp>
      <p:sp>
        <p:nvSpPr>
          <p:cNvPr id="18" name="下箭头 17"/>
          <p:cNvSpPr/>
          <p:nvPr/>
        </p:nvSpPr>
        <p:spPr>
          <a:xfrm>
            <a:off x="4107223" y="147018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9"/>
          <p:cNvSpPr txBox="1">
            <a:spLocks noChangeArrowheads="1"/>
          </p:cNvSpPr>
          <p:nvPr/>
        </p:nvSpPr>
        <p:spPr bwMode="auto">
          <a:xfrm>
            <a:off x="3005944" y="6372036"/>
            <a:ext cx="3132112" cy="369332"/>
          </a:xfrm>
          <a:prstGeom prst="rect">
            <a:avLst/>
          </a:prstGeom>
          <a:solidFill>
            <a:srgbClr val="FFFF00"/>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smtClean="0">
                <a:latin typeface="Calibri" panose="020F0502020204030204" pitchFamily="34" charset="0"/>
              </a:rPr>
              <a:t>集散控制系统</a:t>
            </a:r>
            <a:endParaRPr lang="zh-CN" altLang="en-US" sz="1800" b="1" dirty="0">
              <a:latin typeface="Calibri" panose="020F0502020204030204" pitchFamily="34" charset="0"/>
            </a:endParaRPr>
          </a:p>
        </p:txBody>
      </p:sp>
      <p:sp>
        <p:nvSpPr>
          <p:cNvPr id="20" name="下箭头 19"/>
          <p:cNvSpPr/>
          <p:nvPr/>
        </p:nvSpPr>
        <p:spPr>
          <a:xfrm>
            <a:off x="4081462" y="606963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 20"/>
          <p:cNvSpPr/>
          <p:nvPr/>
        </p:nvSpPr>
        <p:spPr>
          <a:xfrm>
            <a:off x="2699792" y="1701984"/>
            <a:ext cx="4104456" cy="4367649"/>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vert="eaVert" rtlCol="0" anchor="t"/>
          <a:lstStyle/>
          <a:p>
            <a:pPr algn="ctr"/>
            <a:r>
              <a:rPr lang="zh-CN" altLang="en-US" sz="2400" b="1" dirty="0" smtClean="0">
                <a:solidFill>
                  <a:schemeClr val="bg2">
                    <a:lumMod val="60000"/>
                    <a:lumOff val="40000"/>
                  </a:schemeClr>
                </a:solidFill>
                <a:effectLst>
                  <a:outerShdw blurRad="38100" dist="38100" dir="2700000" algn="tl">
                    <a:srgbClr val="000000">
                      <a:alpha val="43137"/>
                    </a:srgbClr>
                  </a:outerShdw>
                </a:effectLst>
              </a:rPr>
              <a:t>生产计划与控制</a:t>
            </a:r>
            <a:endParaRPr lang="zh-CN" altLang="en-US" sz="2400" b="1" dirty="0">
              <a:solidFill>
                <a:schemeClr val="bg2">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164348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 </a:t>
            </a:r>
            <a:r>
              <a:rPr lang="zh-CN" altLang="en-US" sz="3600" b="1" dirty="0" smtClean="0">
                <a:solidFill>
                  <a:srgbClr val="FF0000"/>
                </a:solidFill>
                <a:effectLst>
                  <a:outerShdw blurRad="38100" dist="38100" dir="2700000" algn="tl">
                    <a:srgbClr val="C0C0C0"/>
                  </a:outerShdw>
                </a:effectLst>
                <a:latin typeface="Times New Roman" pitchFamily="18" charset="0"/>
              </a:rPr>
              <a:t>物料需求计划</a:t>
            </a:r>
          </a:p>
        </p:txBody>
      </p:sp>
      <p:sp>
        <p:nvSpPr>
          <p:cNvPr id="104451" name="Rectangle 3"/>
          <p:cNvSpPr>
            <a:spLocks noGrp="1" noChangeArrowheads="1"/>
          </p:cNvSpPr>
          <p:nvPr>
            <p:ph type="body" idx="1"/>
          </p:nvPr>
        </p:nvSpPr>
        <p:spPr>
          <a:xfrm>
            <a:off x="2438400" y="2438400"/>
            <a:ext cx="4267200" cy="914400"/>
          </a:xfrm>
        </p:spPr>
        <p:txBody>
          <a:bodyPr/>
          <a:lstStyle/>
          <a:p>
            <a:pPr marL="0" indent="0" algn="ctr" eaLnBrk="1" hangingPunct="1">
              <a:lnSpc>
                <a:spcPct val="180000"/>
              </a:lnSpc>
              <a:buClr>
                <a:schemeClr val="tx1"/>
              </a:buClr>
              <a:buFont typeface="Wingdings" panose="05000000000000000000" pitchFamily="2" charset="2"/>
              <a:buNone/>
              <a:defRPr/>
            </a:pPr>
            <a:r>
              <a:rPr lang="zh-CN" altLang="en-US" b="1" dirty="0" smtClean="0">
                <a:solidFill>
                  <a:schemeClr val="accent5">
                    <a:lumMod val="50000"/>
                  </a:schemeClr>
                </a:solidFill>
                <a:effectLst>
                  <a:outerShdw blurRad="38100" dist="38100" dir="2700000" algn="tl">
                    <a:srgbClr val="C0C0C0"/>
                  </a:outerShdw>
                </a:effectLst>
                <a:latin typeface="Times New Roman" pitchFamily="18" charset="0"/>
              </a:rPr>
              <a:t>案例导入：水性笔生产</a:t>
            </a:r>
          </a:p>
        </p:txBody>
      </p:sp>
      <p:sp>
        <p:nvSpPr>
          <p:cNvPr id="512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5" name="Rectangle 3"/>
          <p:cNvSpPr txBox="1">
            <a:spLocks noChangeArrowheads="1"/>
          </p:cNvSpPr>
          <p:nvPr/>
        </p:nvSpPr>
        <p:spPr bwMode="auto">
          <a:xfrm>
            <a:off x="1409700" y="4724400"/>
            <a:ext cx="6324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algn="ctr" eaLnBrk="1" hangingPunct="1">
              <a:lnSpc>
                <a:spcPct val="180000"/>
              </a:lnSpc>
              <a:buClr>
                <a:schemeClr val="tx1"/>
              </a:buClr>
              <a:buFont typeface="Wingdings" panose="05000000000000000000" pitchFamily="2" charset="2"/>
              <a:buNone/>
              <a:defRPr/>
            </a:pPr>
            <a:r>
              <a:rPr lang="zh-CN" altLang="en-US" b="1" kern="0" dirty="0" smtClean="0">
                <a:solidFill>
                  <a:schemeClr val="accent5">
                    <a:lumMod val="50000"/>
                  </a:schemeClr>
                </a:solidFill>
                <a:effectLst>
                  <a:outerShdw blurRad="38100" dist="38100" dir="2700000" algn="tl">
                    <a:srgbClr val="C0C0C0"/>
                  </a:outerShdw>
                </a:effectLst>
                <a:latin typeface="Times New Roman" pitchFamily="18" charset="0"/>
              </a:rPr>
              <a:t>提出问题：该备哪些料？如何备料？</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 </a:t>
            </a:r>
            <a:r>
              <a:rPr lang="zh-CN" altLang="en-US" sz="3600" b="1" dirty="0" smtClean="0">
                <a:solidFill>
                  <a:srgbClr val="FF0000"/>
                </a:solidFill>
                <a:effectLst>
                  <a:outerShdw blurRad="38100" dist="38100" dir="2700000" algn="tl">
                    <a:srgbClr val="C0C0C0"/>
                  </a:outerShdw>
                </a:effectLst>
                <a:latin typeface="Times New Roman" pitchFamily="18" charset="0"/>
              </a:rPr>
              <a:t>物料需求计划</a:t>
            </a:r>
          </a:p>
        </p:txBody>
      </p:sp>
      <p:sp>
        <p:nvSpPr>
          <p:cNvPr id="104451" name="Rectangle 3"/>
          <p:cNvSpPr>
            <a:spLocks noGrp="1" noChangeArrowheads="1"/>
          </p:cNvSpPr>
          <p:nvPr>
            <p:ph type="body" idx="1"/>
          </p:nvPr>
        </p:nvSpPr>
        <p:spPr>
          <a:xfrm>
            <a:off x="1809750" y="1600200"/>
            <a:ext cx="5524500" cy="5105400"/>
          </a:xfrm>
        </p:spPr>
        <p:txBody>
          <a:bodyPr/>
          <a:lstStyle/>
          <a:p>
            <a:pPr eaLnBrk="1" hangingPunct="1">
              <a:lnSpc>
                <a:spcPct val="18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5.1 </a:t>
            </a:r>
            <a:r>
              <a:rPr lang="zh-CN" altLang="en-US" sz="2400" b="1" dirty="0" smtClean="0">
                <a:effectLst>
                  <a:outerShdw blurRad="38100" dist="38100" dir="2700000" algn="tl">
                    <a:srgbClr val="C0C0C0"/>
                  </a:outerShdw>
                </a:effectLst>
                <a:latin typeface="Times New Roman" pitchFamily="18" charset="0"/>
              </a:rPr>
              <a:t>基本概念</a:t>
            </a:r>
            <a:endParaRPr lang="en-US" altLang="zh-CN" sz="2400" b="1" dirty="0" smtClean="0">
              <a:effectLst>
                <a:outerShdw blurRad="38100" dist="38100" dir="2700000" algn="tl">
                  <a:srgbClr val="C0C0C0"/>
                </a:outerShdw>
              </a:effectLst>
              <a:latin typeface="Times New Roman" pitchFamily="18" charset="0"/>
            </a:endParaRPr>
          </a:p>
          <a:p>
            <a:pPr eaLnBrk="1" hangingPunct="1">
              <a:lnSpc>
                <a:spcPct val="18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5.2 </a:t>
            </a:r>
            <a:r>
              <a:rPr lang="zh-CN" altLang="en-US" sz="2400" b="1" dirty="0" smtClean="0">
                <a:effectLst>
                  <a:outerShdw blurRad="38100" dist="38100" dir="2700000" algn="tl">
                    <a:srgbClr val="C0C0C0"/>
                  </a:outerShdw>
                </a:effectLst>
                <a:latin typeface="Times New Roman" pitchFamily="18" charset="0"/>
              </a:rPr>
              <a:t>物料需求计划是什么？为什么做？</a:t>
            </a:r>
          </a:p>
          <a:p>
            <a:pPr eaLnBrk="1" hangingPunct="1">
              <a:lnSpc>
                <a:spcPct val="18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5.3 MRP</a:t>
            </a:r>
            <a:r>
              <a:rPr lang="zh-CN" altLang="en-US" sz="2400" b="1" dirty="0" smtClean="0">
                <a:effectLst>
                  <a:outerShdw blurRad="38100" dist="38100" dir="2700000" algn="tl">
                    <a:srgbClr val="C0C0C0"/>
                  </a:outerShdw>
                </a:effectLst>
                <a:latin typeface="Times New Roman" pitchFamily="18" charset="0"/>
              </a:rPr>
              <a:t>的输入、输出逻辑</a:t>
            </a:r>
          </a:p>
          <a:p>
            <a:pPr eaLnBrk="1" hangingPunct="1">
              <a:lnSpc>
                <a:spcPct val="18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5.4 </a:t>
            </a:r>
            <a:r>
              <a:rPr lang="en-US" altLang="zh-CN" sz="2400" b="1" dirty="0">
                <a:effectLst>
                  <a:outerShdw blurRad="38100" dist="38100" dir="2700000" algn="tl">
                    <a:srgbClr val="C0C0C0"/>
                  </a:outerShdw>
                </a:effectLst>
                <a:latin typeface="Times New Roman" pitchFamily="18" charset="0"/>
              </a:rPr>
              <a:t>MRP</a:t>
            </a:r>
            <a:r>
              <a:rPr lang="zh-CN" altLang="en-US" sz="2400" b="1" dirty="0">
                <a:effectLst>
                  <a:outerShdw blurRad="38100" dist="38100" dir="2700000" algn="tl">
                    <a:srgbClr val="C0C0C0"/>
                  </a:outerShdw>
                </a:effectLst>
                <a:latin typeface="Times New Roman" pitchFamily="18" charset="0"/>
              </a:rPr>
              <a:t>报表</a:t>
            </a:r>
          </a:p>
          <a:p>
            <a:pPr eaLnBrk="1" hangingPunct="1">
              <a:lnSpc>
                <a:spcPct val="18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5.5 </a:t>
            </a:r>
            <a:r>
              <a:rPr lang="en-US" altLang="zh-CN" sz="2400" b="1" dirty="0">
                <a:effectLst>
                  <a:outerShdw blurRad="38100" dist="38100" dir="2700000" algn="tl">
                    <a:srgbClr val="C0C0C0"/>
                  </a:outerShdw>
                </a:effectLst>
                <a:latin typeface="Times New Roman" pitchFamily="18" charset="0"/>
              </a:rPr>
              <a:t>MRP</a:t>
            </a:r>
            <a:r>
              <a:rPr lang="zh-CN" altLang="en-US" sz="2400" b="1" dirty="0">
                <a:effectLst>
                  <a:outerShdw blurRad="38100" dist="38100" dir="2700000" algn="tl">
                    <a:srgbClr val="C0C0C0"/>
                  </a:outerShdw>
                </a:effectLst>
                <a:latin typeface="Times New Roman" pitchFamily="18" charset="0"/>
              </a:rPr>
              <a:t>的计算方法</a:t>
            </a:r>
          </a:p>
          <a:p>
            <a:pPr eaLnBrk="1" hangingPunct="1">
              <a:lnSpc>
                <a:spcPct val="18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5.6 </a:t>
            </a:r>
            <a:r>
              <a:rPr lang="en-US" altLang="zh-CN" sz="2400" b="1" dirty="0">
                <a:effectLst>
                  <a:outerShdw blurRad="38100" dist="38100" dir="2700000" algn="tl">
                    <a:srgbClr val="C0C0C0"/>
                  </a:outerShdw>
                </a:effectLst>
                <a:latin typeface="Times New Roman" pitchFamily="18" charset="0"/>
              </a:rPr>
              <a:t>MRP</a:t>
            </a:r>
            <a:r>
              <a:rPr lang="zh-CN" altLang="en-US" sz="2400" b="1" dirty="0">
                <a:effectLst>
                  <a:outerShdw blurRad="38100" dist="38100" dir="2700000" algn="tl">
                    <a:srgbClr val="C0C0C0"/>
                  </a:outerShdw>
                </a:effectLst>
                <a:latin typeface="Times New Roman" pitchFamily="18" charset="0"/>
              </a:rPr>
              <a:t>的报表运算</a:t>
            </a:r>
          </a:p>
          <a:p>
            <a:pPr eaLnBrk="1" hangingPunct="1">
              <a:lnSpc>
                <a:spcPct val="18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5.7 MRP</a:t>
            </a:r>
            <a:r>
              <a:rPr lang="zh-CN" altLang="en-US" sz="2400" b="1" dirty="0" smtClean="0">
                <a:effectLst>
                  <a:outerShdw blurRad="38100" dist="38100" dir="2700000" algn="tl">
                    <a:srgbClr val="C0C0C0"/>
                  </a:outerShdw>
                </a:effectLst>
                <a:latin typeface="Times New Roman" pitchFamily="18" charset="0"/>
              </a:rPr>
              <a:t>的策略因素</a:t>
            </a:r>
          </a:p>
        </p:txBody>
      </p:sp>
      <p:sp>
        <p:nvSpPr>
          <p:cNvPr id="614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4451">
                                            <p:txEl>
                                              <p:pRg st="1" end="1"/>
                                            </p:txEl>
                                          </p:spTgt>
                                        </p:tgtEl>
                                        <p:attrNameLst>
                                          <p:attrName>style.visibility</p:attrName>
                                        </p:attrNameLst>
                                      </p:cBhvr>
                                      <p:to>
                                        <p:strVal val="visible"/>
                                      </p:to>
                                    </p:set>
                                    <p:anim calcmode="lin" valueType="num">
                                      <p:cBhvr additive="base">
                                        <p:cTn id="17"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4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4451">
                                            <p:txEl>
                                              <p:pRg st="2" end="2"/>
                                            </p:txEl>
                                          </p:spTgt>
                                        </p:tgtEl>
                                        <p:attrNameLst>
                                          <p:attrName>style.visibility</p:attrName>
                                        </p:attrNameLst>
                                      </p:cBhvr>
                                      <p:to>
                                        <p:strVal val="visible"/>
                                      </p:to>
                                    </p:set>
                                    <p:anim calcmode="lin" valueType="num">
                                      <p:cBhvr additive="base">
                                        <p:cTn id="22"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04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4451">
                                            <p:txEl>
                                              <p:pRg st="3" end="3"/>
                                            </p:txEl>
                                          </p:spTgt>
                                        </p:tgtEl>
                                        <p:attrNameLst>
                                          <p:attrName>style.visibility</p:attrName>
                                        </p:attrNameLst>
                                      </p:cBhvr>
                                      <p:to>
                                        <p:strVal val="visible"/>
                                      </p:to>
                                    </p:set>
                                    <p:anim calcmode="lin" valueType="num">
                                      <p:cBhvr additive="base">
                                        <p:cTn id="27"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44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04451">
                                            <p:txEl>
                                              <p:pRg st="4" end="4"/>
                                            </p:txEl>
                                          </p:spTgt>
                                        </p:tgtEl>
                                        <p:attrNameLst>
                                          <p:attrName>style.visibility</p:attrName>
                                        </p:attrNameLst>
                                      </p:cBhvr>
                                      <p:to>
                                        <p:strVal val="visible"/>
                                      </p:to>
                                    </p:set>
                                    <p:anim calcmode="lin" valueType="num">
                                      <p:cBhvr additive="base">
                                        <p:cTn id="32" dur="500" fill="hold"/>
                                        <p:tgtEl>
                                          <p:spTgt spid="104451">
                                            <p:txEl>
                                              <p:pRg st="4" end="4"/>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1044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4" fill="hold">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104451">
                                            <p:txEl>
                                              <p:pRg st="5" end="5"/>
                                            </p:txEl>
                                          </p:spTgt>
                                        </p:tgtEl>
                                        <p:attrNameLst>
                                          <p:attrName>style.visibility</p:attrName>
                                        </p:attrNameLst>
                                      </p:cBhvr>
                                      <p:to>
                                        <p:strVal val="visible"/>
                                      </p:to>
                                    </p:set>
                                    <p:anim calcmode="lin" valueType="num">
                                      <p:cBhvr additive="base">
                                        <p:cTn id="37" dur="500" fill="hold"/>
                                        <p:tgtEl>
                                          <p:spTgt spid="1044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44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par>
                          <p:cTn id="39" fill="hold">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104451">
                                            <p:txEl>
                                              <p:pRg st="6" end="6"/>
                                            </p:txEl>
                                          </p:spTgt>
                                        </p:tgtEl>
                                        <p:attrNameLst>
                                          <p:attrName>style.visibility</p:attrName>
                                        </p:attrNameLst>
                                      </p:cBhvr>
                                      <p:to>
                                        <p:strVal val="visible"/>
                                      </p:to>
                                    </p:set>
                                    <p:anim calcmode="lin" valueType="num">
                                      <p:cBhvr additive="base">
                                        <p:cTn id="42" dur="500" fill="hold"/>
                                        <p:tgtEl>
                                          <p:spTgt spid="104451">
                                            <p:txEl>
                                              <p:pRg st="6" end="6"/>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0445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1" name="Rectangle 3"/>
          <p:cNvSpPr>
            <a:spLocks noGrp="1" noChangeArrowheads="1"/>
          </p:cNvSpPr>
          <p:nvPr>
            <p:ph type="body" idx="1"/>
          </p:nvPr>
        </p:nvSpPr>
        <p:spPr>
          <a:xfrm>
            <a:off x="457200" y="1600200"/>
            <a:ext cx="8229600" cy="5257800"/>
          </a:xfrm>
        </p:spPr>
        <p:txBody>
          <a:bodyPr/>
          <a:lstStyle/>
          <a:p>
            <a:pPr eaLnBrk="1" hangingPunct="1">
              <a:lnSpc>
                <a:spcPct val="125000"/>
              </a:lnSpc>
              <a:buClr>
                <a:schemeClr val="tx1"/>
              </a:buClr>
              <a:buFont typeface="Marlett" pitchFamily="2" charset="2"/>
              <a:buChar char="2"/>
            </a:pPr>
            <a:r>
              <a:rPr lang="zh-CN" altLang="en-US" sz="2800" b="1" dirty="0" smtClean="0"/>
              <a:t>物料：</a:t>
            </a:r>
          </a:p>
          <a:p>
            <a:pPr lvl="1" eaLnBrk="1" hangingPunct="1">
              <a:lnSpc>
                <a:spcPct val="125000"/>
              </a:lnSpc>
              <a:buClr>
                <a:schemeClr val="tx1"/>
              </a:buClr>
              <a:buFont typeface="Marlett" pitchFamily="2" charset="2"/>
              <a:buChar char="2"/>
            </a:pPr>
            <a:r>
              <a:rPr lang="en-US" altLang="zh-CN" sz="2400" dirty="0" smtClean="0"/>
              <a:t>material, item, part</a:t>
            </a:r>
          </a:p>
          <a:p>
            <a:pPr lvl="1" eaLnBrk="1" hangingPunct="1">
              <a:lnSpc>
                <a:spcPct val="125000"/>
              </a:lnSpc>
              <a:buClr>
                <a:schemeClr val="tx1"/>
              </a:buClr>
              <a:buFont typeface="Marlett" pitchFamily="2" charset="2"/>
              <a:buChar char="2"/>
            </a:pPr>
            <a:r>
              <a:rPr lang="zh-CN" altLang="en-US" sz="2400" dirty="0" smtClean="0"/>
              <a:t>物料是企业一切有形的采购、制造和销售对象的总称，如原材料、外购件、外协件、毛坯、零件、组合件、装配件、部件和产品等。</a:t>
            </a:r>
          </a:p>
          <a:p>
            <a:pPr lvl="1" eaLnBrk="1" hangingPunct="1">
              <a:lnSpc>
                <a:spcPct val="125000"/>
              </a:lnSpc>
              <a:buClr>
                <a:schemeClr val="tx1"/>
              </a:buClr>
              <a:buFont typeface="Marlett" pitchFamily="2" charset="2"/>
              <a:buChar char="2"/>
            </a:pPr>
            <a:r>
              <a:rPr lang="zh-CN" altLang="en-US" sz="2400" dirty="0" smtClean="0"/>
              <a:t>企业的制造过程实际上就是物料的加工和形态转换过程。</a:t>
            </a:r>
          </a:p>
          <a:p>
            <a:pPr lvl="1" eaLnBrk="1" hangingPunct="1">
              <a:lnSpc>
                <a:spcPct val="125000"/>
              </a:lnSpc>
              <a:buClr>
                <a:schemeClr val="tx1"/>
              </a:buClr>
              <a:buFont typeface="Marlett" pitchFamily="2" charset="2"/>
              <a:buChar char="2"/>
            </a:pPr>
            <a:r>
              <a:rPr lang="zh-CN" altLang="en-US" sz="2400" dirty="0" smtClean="0"/>
              <a:t>描述物料的数据是</a:t>
            </a:r>
            <a:r>
              <a:rPr lang="en-US" altLang="zh-CN" sz="2400" dirty="0" smtClean="0"/>
              <a:t>ERP</a:t>
            </a:r>
            <a:r>
              <a:rPr lang="zh-CN" altLang="en-US" sz="2400" dirty="0" smtClean="0"/>
              <a:t>系统处理的最重要的基础数据之一。</a:t>
            </a:r>
          </a:p>
          <a:p>
            <a:pPr lvl="2" eaLnBrk="1" hangingPunct="1">
              <a:lnSpc>
                <a:spcPct val="125000"/>
              </a:lnSpc>
              <a:buClr>
                <a:schemeClr val="tx1"/>
              </a:buClr>
              <a:buFont typeface="Marlett" pitchFamily="2" charset="2"/>
              <a:buChar char="2"/>
            </a:pPr>
            <a:r>
              <a:rPr lang="zh-CN" altLang="en-US" sz="2000" dirty="0" smtClean="0"/>
              <a:t>物料编码、物料属性</a:t>
            </a:r>
          </a:p>
        </p:txBody>
      </p:sp>
      <p:sp>
        <p:nvSpPr>
          <p:cNvPr id="6148"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5"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741587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1251">
                                            <p:txEl>
                                              <p:pRg st="0" end="0"/>
                                            </p:txEl>
                                          </p:spTgt>
                                        </p:tgtEl>
                                        <p:attrNameLst>
                                          <p:attrName>style.visibility</p:attrName>
                                        </p:attrNameLst>
                                      </p:cBhvr>
                                      <p:to>
                                        <p:strVal val="visible"/>
                                      </p:to>
                                    </p:set>
                                    <p:anim calcmode="lin" valueType="num">
                                      <p:cBhvr additive="base">
                                        <p:cTn id="7" dur="500" fill="hold"/>
                                        <p:tgtEl>
                                          <p:spTgt spid="1812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12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1251">
                                            <p:txEl>
                                              <p:pRg st="1" end="1"/>
                                            </p:txEl>
                                          </p:spTgt>
                                        </p:tgtEl>
                                        <p:attrNameLst>
                                          <p:attrName>style.visibility</p:attrName>
                                        </p:attrNameLst>
                                      </p:cBhvr>
                                      <p:to>
                                        <p:strVal val="visible"/>
                                      </p:to>
                                    </p:set>
                                    <p:anim calcmode="lin" valueType="num">
                                      <p:cBhvr additive="base">
                                        <p:cTn id="13" dur="500" fill="hold"/>
                                        <p:tgtEl>
                                          <p:spTgt spid="1812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12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1251">
                                            <p:txEl>
                                              <p:pRg st="2" end="2"/>
                                            </p:txEl>
                                          </p:spTgt>
                                        </p:tgtEl>
                                        <p:attrNameLst>
                                          <p:attrName>style.visibility</p:attrName>
                                        </p:attrNameLst>
                                      </p:cBhvr>
                                      <p:to>
                                        <p:strVal val="visible"/>
                                      </p:to>
                                    </p:set>
                                    <p:anim calcmode="lin" valueType="num">
                                      <p:cBhvr additive="base">
                                        <p:cTn id="19" dur="500" fill="hold"/>
                                        <p:tgtEl>
                                          <p:spTgt spid="1812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12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1251">
                                            <p:txEl>
                                              <p:pRg st="3" end="3"/>
                                            </p:txEl>
                                          </p:spTgt>
                                        </p:tgtEl>
                                        <p:attrNameLst>
                                          <p:attrName>style.visibility</p:attrName>
                                        </p:attrNameLst>
                                      </p:cBhvr>
                                      <p:to>
                                        <p:strVal val="visible"/>
                                      </p:to>
                                    </p:set>
                                    <p:anim calcmode="lin" valueType="num">
                                      <p:cBhvr additive="base">
                                        <p:cTn id="25" dur="500" fill="hold"/>
                                        <p:tgtEl>
                                          <p:spTgt spid="18125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12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1251">
                                            <p:txEl>
                                              <p:pRg st="4" end="4"/>
                                            </p:txEl>
                                          </p:spTgt>
                                        </p:tgtEl>
                                        <p:attrNameLst>
                                          <p:attrName>style.visibility</p:attrName>
                                        </p:attrNameLst>
                                      </p:cBhvr>
                                      <p:to>
                                        <p:strVal val="visible"/>
                                      </p:to>
                                    </p:set>
                                    <p:anim calcmode="lin" valueType="num">
                                      <p:cBhvr additive="base">
                                        <p:cTn id="31" dur="500" fill="hold"/>
                                        <p:tgtEl>
                                          <p:spTgt spid="18125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125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1251">
                                            <p:txEl>
                                              <p:pRg st="5" end="5"/>
                                            </p:txEl>
                                          </p:spTgt>
                                        </p:tgtEl>
                                        <p:attrNameLst>
                                          <p:attrName>style.visibility</p:attrName>
                                        </p:attrNameLst>
                                      </p:cBhvr>
                                      <p:to>
                                        <p:strVal val="visible"/>
                                      </p:to>
                                    </p:set>
                                    <p:anim calcmode="lin" valueType="num">
                                      <p:cBhvr additive="base">
                                        <p:cTn id="37" dur="500" fill="hold"/>
                                        <p:tgtEl>
                                          <p:spTgt spid="1812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125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uild="p" autoUpdateAnimBg="0" advAuto="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5" name="Rectangle 3"/>
          <p:cNvSpPr>
            <a:spLocks noGrp="1" noChangeArrowheads="1"/>
          </p:cNvSpPr>
          <p:nvPr>
            <p:ph type="body" idx="1"/>
          </p:nvPr>
        </p:nvSpPr>
        <p:spPr>
          <a:xfrm>
            <a:off x="457200" y="1524000"/>
            <a:ext cx="8229600" cy="5105400"/>
          </a:xfrm>
        </p:spPr>
        <p:txBody>
          <a:bodyPr/>
          <a:lstStyle/>
          <a:p>
            <a:pPr eaLnBrk="1" hangingPunct="1">
              <a:buClr>
                <a:schemeClr val="tx1"/>
              </a:buClr>
              <a:buFont typeface="Marlett" pitchFamily="2" charset="2"/>
              <a:buChar char="2"/>
            </a:pPr>
            <a:r>
              <a:rPr lang="zh-CN" altLang="en-US" sz="2800" b="1" smtClean="0"/>
              <a:t>物料属性</a:t>
            </a:r>
          </a:p>
          <a:p>
            <a:pPr lvl="1" eaLnBrk="1" hangingPunct="1">
              <a:lnSpc>
                <a:spcPct val="140000"/>
              </a:lnSpc>
              <a:buClr>
                <a:schemeClr val="tx1"/>
              </a:buClr>
              <a:buFont typeface="Marlett" pitchFamily="2" charset="2"/>
              <a:buChar char="2"/>
            </a:pPr>
            <a:r>
              <a:rPr lang="zh-CN" altLang="en-US" sz="2400" smtClean="0"/>
              <a:t>描述物料的主要特征，也是采用定量方式管理物料的手段。</a:t>
            </a:r>
          </a:p>
          <a:p>
            <a:pPr lvl="1" eaLnBrk="1" hangingPunct="1">
              <a:lnSpc>
                <a:spcPct val="140000"/>
              </a:lnSpc>
              <a:buClr>
                <a:schemeClr val="tx1"/>
              </a:buClr>
              <a:buFont typeface="Marlett" pitchFamily="2" charset="2"/>
              <a:buChar char="2"/>
            </a:pPr>
            <a:r>
              <a:rPr lang="zh-CN" altLang="en-US" sz="2400" smtClean="0"/>
              <a:t>物料属性值的设置，不仅仅是基础数据的采集工作，而且还是确定企业管理方式的一种方法。</a:t>
            </a:r>
          </a:p>
          <a:p>
            <a:pPr lvl="1" eaLnBrk="1" hangingPunct="1">
              <a:lnSpc>
                <a:spcPct val="140000"/>
              </a:lnSpc>
              <a:buClr>
                <a:schemeClr val="tx1"/>
              </a:buClr>
              <a:buFont typeface="Marlett" pitchFamily="2" charset="2"/>
              <a:buChar char="2"/>
            </a:pPr>
            <a:r>
              <a:rPr lang="zh-CN" altLang="en-US" sz="2400" smtClean="0"/>
              <a:t>物料数据存储在物料主文件中，该文件反映了物料的各种属性信息。</a:t>
            </a:r>
          </a:p>
          <a:p>
            <a:pPr lvl="1" eaLnBrk="1" hangingPunct="1">
              <a:lnSpc>
                <a:spcPct val="140000"/>
              </a:lnSpc>
              <a:buClr>
                <a:schemeClr val="tx1"/>
              </a:buClr>
              <a:buFont typeface="Marlett" pitchFamily="2" charset="2"/>
              <a:buChar char="2"/>
            </a:pPr>
            <a:r>
              <a:rPr lang="en-US" altLang="zh-CN" sz="2400" smtClean="0"/>
              <a:t>6</a:t>
            </a:r>
            <a:r>
              <a:rPr lang="zh-CN" altLang="en-US" sz="2400" smtClean="0"/>
              <a:t>类属性：基本属性、采购和库存属性、计划属性、财务属性、销售属性以及质量属性。</a:t>
            </a:r>
          </a:p>
        </p:txBody>
      </p:sp>
      <p:sp>
        <p:nvSpPr>
          <p:cNvPr id="717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4899905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 calcmode="lin" valueType="num">
                                      <p:cBhvr additive="base">
                                        <p:cTn id="7" dur="500" fill="hold"/>
                                        <p:tgtEl>
                                          <p:spTgt spid="1822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22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2275">
                                            <p:txEl>
                                              <p:pRg st="1" end="1"/>
                                            </p:txEl>
                                          </p:spTgt>
                                        </p:tgtEl>
                                        <p:attrNameLst>
                                          <p:attrName>style.visibility</p:attrName>
                                        </p:attrNameLst>
                                      </p:cBhvr>
                                      <p:to>
                                        <p:strVal val="visible"/>
                                      </p:to>
                                    </p:set>
                                    <p:anim calcmode="lin" valueType="num">
                                      <p:cBhvr additive="base">
                                        <p:cTn id="13" dur="500" fill="hold"/>
                                        <p:tgtEl>
                                          <p:spTgt spid="1822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22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2275">
                                            <p:txEl>
                                              <p:pRg st="2" end="2"/>
                                            </p:txEl>
                                          </p:spTgt>
                                        </p:tgtEl>
                                        <p:attrNameLst>
                                          <p:attrName>style.visibility</p:attrName>
                                        </p:attrNameLst>
                                      </p:cBhvr>
                                      <p:to>
                                        <p:strVal val="visible"/>
                                      </p:to>
                                    </p:set>
                                    <p:anim calcmode="lin" valueType="num">
                                      <p:cBhvr additive="base">
                                        <p:cTn id="19" dur="500" fill="hold"/>
                                        <p:tgtEl>
                                          <p:spTgt spid="1822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22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2275">
                                            <p:txEl>
                                              <p:pRg st="3" end="3"/>
                                            </p:txEl>
                                          </p:spTgt>
                                        </p:tgtEl>
                                        <p:attrNameLst>
                                          <p:attrName>style.visibility</p:attrName>
                                        </p:attrNameLst>
                                      </p:cBhvr>
                                      <p:to>
                                        <p:strVal val="visible"/>
                                      </p:to>
                                    </p:set>
                                    <p:anim calcmode="lin" valueType="num">
                                      <p:cBhvr additive="base">
                                        <p:cTn id="25" dur="500" fill="hold"/>
                                        <p:tgtEl>
                                          <p:spTgt spid="1822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22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2275">
                                            <p:txEl>
                                              <p:pRg st="4" end="4"/>
                                            </p:txEl>
                                          </p:spTgt>
                                        </p:tgtEl>
                                        <p:attrNameLst>
                                          <p:attrName>style.visibility</p:attrName>
                                        </p:attrNameLst>
                                      </p:cBhvr>
                                      <p:to>
                                        <p:strVal val="visible"/>
                                      </p:to>
                                    </p:set>
                                    <p:anim calcmode="lin" valueType="num">
                                      <p:cBhvr additive="base">
                                        <p:cTn id="31" dur="500" fill="hold"/>
                                        <p:tgtEl>
                                          <p:spTgt spid="1822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227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autoUpdateAnimBg="0" advAuto="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9" name="Rectangle 3"/>
          <p:cNvSpPr>
            <a:spLocks noGrp="1" noChangeArrowheads="1"/>
          </p:cNvSpPr>
          <p:nvPr>
            <p:ph type="body" idx="1"/>
          </p:nvPr>
        </p:nvSpPr>
        <p:spPr>
          <a:xfrm>
            <a:off x="457200" y="1524000"/>
            <a:ext cx="8534400" cy="5334000"/>
          </a:xfrm>
        </p:spPr>
        <p:txBody>
          <a:bodyPr/>
          <a:lstStyle/>
          <a:p>
            <a:pPr eaLnBrk="1" hangingPunct="1">
              <a:lnSpc>
                <a:spcPct val="80000"/>
              </a:lnSpc>
              <a:spcBef>
                <a:spcPct val="0"/>
              </a:spcBef>
              <a:buClr>
                <a:schemeClr val="tx1"/>
              </a:buClr>
              <a:buFont typeface="Marlett" pitchFamily="2" charset="2"/>
              <a:buChar char="2"/>
            </a:pPr>
            <a:r>
              <a:rPr lang="zh-CN" altLang="en-US" sz="2400" b="1" dirty="0" smtClean="0"/>
              <a:t>物料属性</a:t>
            </a:r>
          </a:p>
          <a:p>
            <a:pPr lvl="1" eaLnBrk="1" hangingPunct="1">
              <a:lnSpc>
                <a:spcPct val="140000"/>
              </a:lnSpc>
              <a:spcBef>
                <a:spcPct val="0"/>
              </a:spcBef>
              <a:buClr>
                <a:schemeClr val="tx1"/>
              </a:buClr>
              <a:buFont typeface="Marlett" pitchFamily="2" charset="2"/>
              <a:buChar char="2"/>
            </a:pPr>
            <a:r>
              <a:rPr lang="zh-CN" altLang="en-US" sz="2000" b="1" dirty="0" smtClean="0">
                <a:solidFill>
                  <a:schemeClr val="bg2">
                    <a:lumMod val="60000"/>
                    <a:lumOff val="40000"/>
                  </a:schemeClr>
                </a:solidFill>
                <a:effectLst>
                  <a:outerShdw blurRad="38100" dist="38100" dir="2700000" algn="tl">
                    <a:srgbClr val="000000">
                      <a:alpha val="43137"/>
                    </a:srgbClr>
                  </a:outerShdw>
                </a:effectLst>
              </a:rPr>
              <a:t>基本属性</a:t>
            </a:r>
            <a:r>
              <a:rPr lang="zh-CN" altLang="en-US" sz="2000" dirty="0" smtClean="0"/>
              <a:t>：描述物料的设计特征，编码、类型、设计图号、版次</a:t>
            </a:r>
            <a:r>
              <a:rPr lang="en-US" altLang="zh-CN" sz="2000" dirty="0" smtClean="0"/>
              <a:t>…</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采购和库存属性</a:t>
            </a:r>
            <a:r>
              <a:rPr lang="zh-CN" altLang="en-US" sz="2000" dirty="0" smtClean="0"/>
              <a:t>：采购、库存管理特性，制购类型、默认库位、条码、</a:t>
            </a:r>
            <a:r>
              <a:rPr lang="en-US" altLang="zh-CN" sz="2000" dirty="0" smtClean="0"/>
              <a:t>ABC</a:t>
            </a:r>
            <a:r>
              <a:rPr lang="zh-CN" altLang="en-US" sz="2000" dirty="0" smtClean="0"/>
              <a:t>码、库存盘点方式</a:t>
            </a:r>
            <a:r>
              <a:rPr lang="en-US" altLang="zh-CN" sz="2000" dirty="0" smtClean="0"/>
              <a:t>…</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计划属性</a:t>
            </a:r>
            <a:r>
              <a:rPr lang="zh-CN" altLang="en-US" sz="2000" dirty="0" smtClean="0"/>
              <a:t>：生产计划管理特性，是否独立需求、补货策略、订货点、订货批量、默认工艺路线</a:t>
            </a:r>
            <a:r>
              <a:rPr lang="en-US" altLang="zh-CN" sz="2000" dirty="0" smtClean="0"/>
              <a:t>…</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销售属性</a:t>
            </a:r>
            <a:r>
              <a:rPr lang="zh-CN" altLang="en-US" sz="2000" dirty="0" smtClean="0"/>
              <a:t>：销售相关的特性，销售价格、销售人员、销售类型</a:t>
            </a:r>
            <a:r>
              <a:rPr lang="en-US" altLang="zh-CN" sz="2000" dirty="0" smtClean="0"/>
              <a:t>…</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质量属性</a:t>
            </a:r>
            <a:r>
              <a:rPr lang="zh-CN" altLang="en-US" sz="2000" dirty="0" smtClean="0"/>
              <a:t>：是否检测、检测标准、检测方式、存储期限、检验程度、检验工时</a:t>
            </a:r>
            <a:r>
              <a:rPr lang="en-US" altLang="zh-CN" sz="2000" dirty="0" smtClean="0"/>
              <a:t>…</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财务属性</a:t>
            </a:r>
            <a:r>
              <a:rPr lang="zh-CN" altLang="en-US" sz="2000" dirty="0" smtClean="0"/>
              <a:t>：会计核算、成本分析、财务控制和经济效益评价的基础，财务类型、记账本位币、会计科目、增值税代码、成本计算方法、成本结构</a:t>
            </a:r>
            <a:r>
              <a:rPr lang="en-US" altLang="zh-CN" sz="2000" dirty="0" smtClean="0"/>
              <a:t>…</a:t>
            </a:r>
          </a:p>
        </p:txBody>
      </p:sp>
      <p:sp>
        <p:nvSpPr>
          <p:cNvPr id="8196"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10105088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3299">
                                            <p:txEl>
                                              <p:pRg st="0" end="0"/>
                                            </p:txEl>
                                          </p:spTgt>
                                        </p:tgtEl>
                                        <p:attrNameLst>
                                          <p:attrName>style.visibility</p:attrName>
                                        </p:attrNameLst>
                                      </p:cBhvr>
                                      <p:to>
                                        <p:strVal val="visible"/>
                                      </p:to>
                                    </p:set>
                                    <p:anim calcmode="lin" valueType="num">
                                      <p:cBhvr additive="base">
                                        <p:cTn id="7" dur="500" fill="hold"/>
                                        <p:tgtEl>
                                          <p:spTgt spid="183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3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3299">
                                            <p:txEl>
                                              <p:pRg st="1" end="1"/>
                                            </p:txEl>
                                          </p:spTgt>
                                        </p:tgtEl>
                                        <p:attrNameLst>
                                          <p:attrName>style.visibility</p:attrName>
                                        </p:attrNameLst>
                                      </p:cBhvr>
                                      <p:to>
                                        <p:strVal val="visible"/>
                                      </p:to>
                                    </p:set>
                                    <p:anim calcmode="lin" valueType="num">
                                      <p:cBhvr additive="base">
                                        <p:cTn id="13" dur="500" fill="hold"/>
                                        <p:tgtEl>
                                          <p:spTgt spid="1832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32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3299">
                                            <p:txEl>
                                              <p:pRg st="2" end="2"/>
                                            </p:txEl>
                                          </p:spTgt>
                                        </p:tgtEl>
                                        <p:attrNameLst>
                                          <p:attrName>style.visibility</p:attrName>
                                        </p:attrNameLst>
                                      </p:cBhvr>
                                      <p:to>
                                        <p:strVal val="visible"/>
                                      </p:to>
                                    </p:set>
                                    <p:anim calcmode="lin" valueType="num">
                                      <p:cBhvr additive="base">
                                        <p:cTn id="19" dur="500" fill="hold"/>
                                        <p:tgtEl>
                                          <p:spTgt spid="1832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32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3299">
                                            <p:txEl>
                                              <p:pRg st="3" end="3"/>
                                            </p:txEl>
                                          </p:spTgt>
                                        </p:tgtEl>
                                        <p:attrNameLst>
                                          <p:attrName>style.visibility</p:attrName>
                                        </p:attrNameLst>
                                      </p:cBhvr>
                                      <p:to>
                                        <p:strVal val="visible"/>
                                      </p:to>
                                    </p:set>
                                    <p:anim calcmode="lin" valueType="num">
                                      <p:cBhvr additive="base">
                                        <p:cTn id="25" dur="500" fill="hold"/>
                                        <p:tgtEl>
                                          <p:spTgt spid="1832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32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3299">
                                            <p:txEl>
                                              <p:pRg st="4" end="4"/>
                                            </p:txEl>
                                          </p:spTgt>
                                        </p:tgtEl>
                                        <p:attrNameLst>
                                          <p:attrName>style.visibility</p:attrName>
                                        </p:attrNameLst>
                                      </p:cBhvr>
                                      <p:to>
                                        <p:strVal val="visible"/>
                                      </p:to>
                                    </p:set>
                                    <p:anim calcmode="lin" valueType="num">
                                      <p:cBhvr additive="base">
                                        <p:cTn id="31" dur="500" fill="hold"/>
                                        <p:tgtEl>
                                          <p:spTgt spid="18329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32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3299">
                                            <p:txEl>
                                              <p:pRg st="5" end="5"/>
                                            </p:txEl>
                                          </p:spTgt>
                                        </p:tgtEl>
                                        <p:attrNameLst>
                                          <p:attrName>style.visibility</p:attrName>
                                        </p:attrNameLst>
                                      </p:cBhvr>
                                      <p:to>
                                        <p:strVal val="visible"/>
                                      </p:to>
                                    </p:set>
                                    <p:anim calcmode="lin" valueType="num">
                                      <p:cBhvr additive="base">
                                        <p:cTn id="37" dur="500" fill="hold"/>
                                        <p:tgtEl>
                                          <p:spTgt spid="18329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32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83299">
                                            <p:txEl>
                                              <p:pRg st="6" end="6"/>
                                            </p:txEl>
                                          </p:spTgt>
                                        </p:tgtEl>
                                        <p:attrNameLst>
                                          <p:attrName>style.visibility</p:attrName>
                                        </p:attrNameLst>
                                      </p:cBhvr>
                                      <p:to>
                                        <p:strVal val="visible"/>
                                      </p:to>
                                    </p:set>
                                    <p:anim calcmode="lin" valueType="num">
                                      <p:cBhvr additive="base">
                                        <p:cTn id="43" dur="500" fill="hold"/>
                                        <p:tgtEl>
                                          <p:spTgt spid="18329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8329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build="p" autoUpdateAnimBg="0" advAuto="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91" name="Rectangle 3"/>
          <p:cNvSpPr>
            <a:spLocks noGrp="1" noChangeArrowheads="1"/>
          </p:cNvSpPr>
          <p:nvPr>
            <p:ph type="body" idx="1"/>
          </p:nvPr>
        </p:nvSpPr>
        <p:spPr>
          <a:xfrm>
            <a:off x="457200" y="1524000"/>
            <a:ext cx="8229600" cy="4343400"/>
          </a:xfrm>
        </p:spPr>
        <p:txBody>
          <a:bodyPr/>
          <a:lstStyle/>
          <a:p>
            <a:pPr eaLnBrk="1" hangingPunct="1">
              <a:buClr>
                <a:schemeClr val="tx1"/>
              </a:buClr>
              <a:buFont typeface="Marlett" pitchFamily="2" charset="2"/>
              <a:buChar char="2"/>
            </a:pPr>
            <a:r>
              <a:rPr lang="zh-CN" altLang="en-US" sz="2800" b="1" smtClean="0"/>
              <a:t>物料编码</a:t>
            </a:r>
          </a:p>
          <a:p>
            <a:pPr lvl="1" eaLnBrk="1" hangingPunct="1">
              <a:lnSpc>
                <a:spcPct val="140000"/>
              </a:lnSpc>
              <a:buClr>
                <a:schemeClr val="tx1"/>
              </a:buClr>
              <a:buFont typeface="Marlett" pitchFamily="2" charset="2"/>
              <a:buChar char="2"/>
            </a:pPr>
            <a:r>
              <a:rPr lang="en-US" altLang="zh-CN" sz="2400" smtClean="0">
                <a:latin typeface="Times New Roman" panose="02020603050405020304" pitchFamily="18" charset="0"/>
              </a:rPr>
              <a:t>Material Code</a:t>
            </a:r>
            <a:r>
              <a:rPr lang="zh-CN" altLang="en-US" sz="2400" smtClean="0">
                <a:latin typeface="Times New Roman" panose="02020603050405020304" pitchFamily="18" charset="0"/>
              </a:rPr>
              <a:t>、</a:t>
            </a:r>
            <a:r>
              <a:rPr lang="en-US" altLang="zh-CN" sz="2400" smtClean="0">
                <a:latin typeface="Times New Roman" panose="02020603050405020304" pitchFamily="18" charset="0"/>
              </a:rPr>
              <a:t>Item Code</a:t>
            </a:r>
            <a:r>
              <a:rPr lang="zh-CN" altLang="en-US" sz="2400" smtClean="0">
                <a:latin typeface="Times New Roman" panose="02020603050405020304" pitchFamily="18" charset="0"/>
              </a:rPr>
              <a:t>、</a:t>
            </a:r>
            <a:r>
              <a:rPr lang="en-US" altLang="zh-CN" sz="2400" smtClean="0">
                <a:latin typeface="Times New Roman" panose="02020603050405020304" pitchFamily="18" charset="0"/>
              </a:rPr>
              <a:t>Part Code</a:t>
            </a:r>
          </a:p>
          <a:p>
            <a:pPr lvl="1" eaLnBrk="1" hangingPunct="1">
              <a:lnSpc>
                <a:spcPct val="140000"/>
              </a:lnSpc>
              <a:buClr>
                <a:schemeClr val="tx1"/>
              </a:buClr>
              <a:buFont typeface="Marlett" pitchFamily="2" charset="2"/>
              <a:buChar char="2"/>
            </a:pPr>
            <a:r>
              <a:rPr lang="zh-CN" altLang="en-US" sz="2400" smtClean="0">
                <a:latin typeface="Times New Roman" panose="02020603050405020304" pitchFamily="18" charset="0"/>
              </a:rPr>
              <a:t>物料编码有时也叫物料代码，是计算机系统对物料的惟一识别代码。</a:t>
            </a:r>
          </a:p>
          <a:p>
            <a:pPr lvl="1" eaLnBrk="1" hangingPunct="1">
              <a:lnSpc>
                <a:spcPct val="140000"/>
              </a:lnSpc>
              <a:buClr>
                <a:schemeClr val="tx1"/>
              </a:buClr>
              <a:buFont typeface="Marlett" pitchFamily="2" charset="2"/>
              <a:buChar char="2"/>
            </a:pPr>
            <a:r>
              <a:rPr lang="zh-CN" altLang="en-US" sz="2400" smtClean="0">
                <a:latin typeface="Times New Roman" panose="02020603050405020304" pitchFamily="18" charset="0"/>
              </a:rPr>
              <a:t>物料编码的基本原则：唯一性、正确性、分类型、扩展性、统一性、不可更改性、重用性、简单性。</a:t>
            </a:r>
          </a:p>
          <a:p>
            <a:pPr lvl="1" eaLnBrk="1" hangingPunct="1">
              <a:buClr>
                <a:schemeClr val="tx1"/>
              </a:buClr>
              <a:buFont typeface="Marlett" pitchFamily="2" charset="2"/>
              <a:buNone/>
            </a:pPr>
            <a:endParaRPr lang="en-US" altLang="zh-CN" sz="2400" smtClean="0">
              <a:latin typeface="Times New Roman" panose="02020603050405020304" pitchFamily="18" charset="0"/>
            </a:endParaRPr>
          </a:p>
        </p:txBody>
      </p:sp>
      <p:sp>
        <p:nvSpPr>
          <p:cNvPr id="9220"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40523019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5891">
                                            <p:txEl>
                                              <p:pRg st="0" end="0"/>
                                            </p:txEl>
                                          </p:spTgt>
                                        </p:tgtEl>
                                        <p:attrNameLst>
                                          <p:attrName>style.visibility</p:attrName>
                                        </p:attrNameLst>
                                      </p:cBhvr>
                                      <p:to>
                                        <p:strVal val="visible"/>
                                      </p:to>
                                    </p:set>
                                    <p:anim calcmode="lin" valueType="num">
                                      <p:cBhvr additive="base">
                                        <p:cTn id="7" dur="500" fill="hold"/>
                                        <p:tgtEl>
                                          <p:spTgt spid="1658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58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5891">
                                            <p:txEl>
                                              <p:pRg st="1" end="1"/>
                                            </p:txEl>
                                          </p:spTgt>
                                        </p:tgtEl>
                                        <p:attrNameLst>
                                          <p:attrName>style.visibility</p:attrName>
                                        </p:attrNameLst>
                                      </p:cBhvr>
                                      <p:to>
                                        <p:strVal val="visible"/>
                                      </p:to>
                                    </p:set>
                                    <p:anim calcmode="lin" valueType="num">
                                      <p:cBhvr additive="base">
                                        <p:cTn id="13" dur="500" fill="hold"/>
                                        <p:tgtEl>
                                          <p:spTgt spid="1658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58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5891">
                                            <p:txEl>
                                              <p:pRg st="2" end="2"/>
                                            </p:txEl>
                                          </p:spTgt>
                                        </p:tgtEl>
                                        <p:attrNameLst>
                                          <p:attrName>style.visibility</p:attrName>
                                        </p:attrNameLst>
                                      </p:cBhvr>
                                      <p:to>
                                        <p:strVal val="visible"/>
                                      </p:to>
                                    </p:set>
                                    <p:anim calcmode="lin" valueType="num">
                                      <p:cBhvr additive="base">
                                        <p:cTn id="19" dur="500" fill="hold"/>
                                        <p:tgtEl>
                                          <p:spTgt spid="1658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58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5891">
                                            <p:txEl>
                                              <p:pRg st="3" end="3"/>
                                            </p:txEl>
                                          </p:spTgt>
                                        </p:tgtEl>
                                        <p:attrNameLst>
                                          <p:attrName>style.visibility</p:attrName>
                                        </p:attrNameLst>
                                      </p:cBhvr>
                                      <p:to>
                                        <p:strVal val="visible"/>
                                      </p:to>
                                    </p:set>
                                    <p:anim calcmode="lin" valueType="num">
                                      <p:cBhvr additive="base">
                                        <p:cTn id="25" dur="500" fill="hold"/>
                                        <p:tgtEl>
                                          <p:spTgt spid="1658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589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autoUpdateAnimBg="0" advAuto="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6915" name="Rectangle 3"/>
          <p:cNvSpPr>
            <a:spLocks noGrp="1" noChangeArrowheads="1"/>
          </p:cNvSpPr>
          <p:nvPr>
            <p:ph type="body" idx="1"/>
          </p:nvPr>
        </p:nvSpPr>
        <p:spPr>
          <a:xfrm>
            <a:off x="457200" y="1676400"/>
            <a:ext cx="8229600" cy="3886200"/>
          </a:xfrm>
        </p:spPr>
        <p:txBody>
          <a:bodyPr/>
          <a:lstStyle/>
          <a:p>
            <a:pPr algn="just" eaLnBrk="1" hangingPunct="1">
              <a:buClr>
                <a:schemeClr val="tx1"/>
              </a:buClr>
              <a:buFont typeface="Marlett" pitchFamily="2" charset="2"/>
              <a:buChar char="2"/>
            </a:pPr>
            <a:r>
              <a:rPr lang="zh-CN" altLang="en-US" sz="2800" b="1" smtClean="0">
                <a:latin typeface="Times New Roman" panose="02020603050405020304" pitchFamily="18" charset="0"/>
              </a:rPr>
              <a:t>物料清单</a:t>
            </a:r>
          </a:p>
          <a:p>
            <a:pPr lvl="1" eaLnBrk="1" hangingPunct="1">
              <a:spcBef>
                <a:spcPct val="50000"/>
              </a:spcBef>
              <a:buClr>
                <a:schemeClr val="tx1"/>
              </a:buClr>
              <a:buFont typeface="Marlett" pitchFamily="2" charset="2"/>
              <a:buChar char="2"/>
            </a:pPr>
            <a:r>
              <a:rPr lang="zh-CN" altLang="en-US" sz="2400" smtClean="0">
                <a:latin typeface="Times New Roman" panose="02020603050405020304" pitchFamily="18" charset="0"/>
              </a:rPr>
              <a:t>物料清单：</a:t>
            </a:r>
            <a:r>
              <a:rPr lang="en-US" altLang="zh-CN" sz="2400" smtClean="0">
                <a:latin typeface="Times New Roman" panose="02020603050405020304" pitchFamily="18" charset="0"/>
              </a:rPr>
              <a:t>BOM—Bill Of Materials</a:t>
            </a:r>
            <a:r>
              <a:rPr lang="zh-CN" altLang="en-US" sz="2400" smtClean="0">
                <a:latin typeface="Times New Roman" panose="02020603050405020304" pitchFamily="18" charset="0"/>
              </a:rPr>
              <a:t>，定义产品结构的技术文件，也称产品结构表、产品明细表、产品结构树。</a:t>
            </a:r>
          </a:p>
        </p:txBody>
      </p:sp>
      <p:grpSp>
        <p:nvGrpSpPr>
          <p:cNvPr id="53" name="Group 4"/>
          <p:cNvGrpSpPr>
            <a:grpSpLocks/>
          </p:cNvGrpSpPr>
          <p:nvPr/>
        </p:nvGrpSpPr>
        <p:grpSpPr bwMode="auto">
          <a:xfrm>
            <a:off x="838200" y="3886200"/>
            <a:ext cx="7467600" cy="2362200"/>
            <a:chOff x="3021" y="2490"/>
            <a:chExt cx="6690" cy="2332"/>
          </a:xfrm>
        </p:grpSpPr>
        <p:sp>
          <p:nvSpPr>
            <p:cNvPr id="54" name="Rectangle 5"/>
            <p:cNvSpPr>
              <a:spLocks noChangeArrowheads="1"/>
            </p:cNvSpPr>
            <p:nvPr/>
          </p:nvSpPr>
          <p:spPr bwMode="auto">
            <a:xfrm>
              <a:off x="5736" y="2490"/>
              <a:ext cx="914" cy="469"/>
            </a:xfrm>
            <a:prstGeom prst="rect">
              <a:avLst/>
            </a:prstGeom>
            <a:solidFill>
              <a:srgbClr val="99FFCC"/>
            </a:solidFill>
            <a:ln w="9525">
              <a:solidFill>
                <a:schemeClr val="tx1"/>
              </a:solidFill>
              <a:miter lim="800000"/>
              <a:headEnd/>
              <a:tailEnd/>
            </a:ln>
            <a:extLst/>
          </p:spPr>
          <p:txBody>
            <a:bodyPr/>
            <a:lstStyle/>
            <a:p>
              <a:pPr algn="ctr">
                <a:defRPr/>
              </a:pPr>
              <a:r>
                <a:rPr kumimoji="1" lang="zh-CN" altLang="en-US" sz="2000" b="1" dirty="0">
                  <a:effectLst>
                    <a:outerShdw blurRad="38100" dist="38100" dir="2700000" algn="tl">
                      <a:srgbClr val="C0C0C0"/>
                    </a:outerShdw>
                  </a:effectLst>
                  <a:latin typeface="Arial" charset="0"/>
                </a:rPr>
                <a:t>水性笔</a:t>
              </a:r>
            </a:p>
          </p:txBody>
        </p:sp>
        <p:sp>
          <p:nvSpPr>
            <p:cNvPr id="55" name="Rectangle 6"/>
            <p:cNvSpPr>
              <a:spLocks noChangeArrowheads="1"/>
            </p:cNvSpPr>
            <p:nvPr/>
          </p:nvSpPr>
          <p:spPr bwMode="auto">
            <a:xfrm>
              <a:off x="5752" y="3579"/>
              <a:ext cx="899" cy="406"/>
            </a:xfrm>
            <a:prstGeom prst="rect">
              <a:avLst/>
            </a:prstGeom>
            <a:solidFill>
              <a:srgbClr val="FFFF00"/>
            </a:solidFill>
            <a:ln w="9525">
              <a:solidFill>
                <a:schemeClr val="tx1"/>
              </a:solidFill>
              <a:miter lim="800000"/>
              <a:headEnd/>
              <a:tailEnd/>
            </a:ln>
            <a:extLst/>
          </p:spPr>
          <p:txBody>
            <a:bodyPr lIns="18000" tIns="10800" rIns="18000" bIns="10800"/>
            <a:lstStyle/>
            <a:p>
              <a:pPr algn="ctr">
                <a:defRPr/>
              </a:pPr>
              <a:r>
                <a:rPr kumimoji="1" lang="zh-CN" altLang="en-US" sz="2000">
                  <a:effectLst>
                    <a:outerShdw blurRad="38100" dist="38100" dir="2700000" algn="tl">
                      <a:srgbClr val="C0C0C0"/>
                    </a:outerShdw>
                  </a:effectLst>
                  <a:latin typeface="Arial" charset="0"/>
                </a:rPr>
                <a:t>笔芯</a:t>
              </a:r>
            </a:p>
          </p:txBody>
        </p:sp>
        <p:grpSp>
          <p:nvGrpSpPr>
            <p:cNvPr id="10248" name="Group 7"/>
            <p:cNvGrpSpPr>
              <a:grpSpLocks/>
            </p:cNvGrpSpPr>
            <p:nvPr/>
          </p:nvGrpSpPr>
          <p:grpSpPr bwMode="auto">
            <a:xfrm>
              <a:off x="3486" y="2957"/>
              <a:ext cx="5760" cy="624"/>
              <a:chOff x="3486" y="2957"/>
              <a:chExt cx="5760" cy="624"/>
            </a:xfrm>
          </p:grpSpPr>
          <p:sp>
            <p:nvSpPr>
              <p:cNvPr id="10259" name="Line 8"/>
              <p:cNvSpPr>
                <a:spLocks noChangeShapeType="1"/>
              </p:cNvSpPr>
              <p:nvPr/>
            </p:nvSpPr>
            <p:spPr bwMode="auto">
              <a:xfrm>
                <a:off x="6186" y="2957"/>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0" name="Line 9"/>
              <p:cNvSpPr>
                <a:spLocks noChangeShapeType="1"/>
              </p:cNvSpPr>
              <p:nvPr/>
            </p:nvSpPr>
            <p:spPr bwMode="auto">
              <a:xfrm flipV="1">
                <a:off x="3486" y="3269"/>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1" name="Line 10"/>
              <p:cNvSpPr>
                <a:spLocks noChangeShapeType="1"/>
              </p:cNvSpPr>
              <p:nvPr/>
            </p:nvSpPr>
            <p:spPr bwMode="auto">
              <a:xfrm>
                <a:off x="3486" y="3269"/>
                <a:ext cx="57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2" name="Line 11"/>
              <p:cNvSpPr>
                <a:spLocks noChangeShapeType="1"/>
              </p:cNvSpPr>
              <p:nvPr/>
            </p:nvSpPr>
            <p:spPr bwMode="auto">
              <a:xfrm>
                <a:off x="9246" y="3269"/>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7" name="Rectangle 12"/>
            <p:cNvSpPr>
              <a:spLocks noChangeArrowheads="1"/>
            </p:cNvSpPr>
            <p:nvPr/>
          </p:nvSpPr>
          <p:spPr bwMode="auto">
            <a:xfrm>
              <a:off x="3021" y="3582"/>
              <a:ext cx="900" cy="406"/>
            </a:xfrm>
            <a:prstGeom prst="rect">
              <a:avLst/>
            </a:prstGeom>
            <a:solidFill>
              <a:srgbClr val="FFFF00"/>
            </a:solidFill>
            <a:ln w="9525">
              <a:solidFill>
                <a:schemeClr val="tx1"/>
              </a:solidFill>
              <a:miter lim="800000"/>
              <a:headEnd/>
              <a:tailEnd/>
            </a:ln>
            <a:extLst/>
          </p:spPr>
          <p:txBody>
            <a:bodyPr lIns="18000" tIns="10800" rIns="18000" bIns="10800"/>
            <a:lstStyle/>
            <a:p>
              <a:pPr algn="ctr">
                <a:defRPr/>
              </a:pPr>
              <a:r>
                <a:rPr kumimoji="1" lang="zh-CN" altLang="en-US" sz="2000" dirty="0">
                  <a:effectLst>
                    <a:outerShdw blurRad="38100" dist="38100" dir="2700000" algn="tl">
                      <a:srgbClr val="C0C0C0"/>
                    </a:outerShdw>
                  </a:effectLst>
                  <a:latin typeface="Arial" charset="0"/>
                </a:rPr>
                <a:t>笔筒</a:t>
              </a:r>
            </a:p>
          </p:txBody>
        </p:sp>
        <p:sp>
          <p:nvSpPr>
            <p:cNvPr id="58" name="Rectangle 13"/>
            <p:cNvSpPr>
              <a:spLocks noChangeArrowheads="1"/>
            </p:cNvSpPr>
            <p:nvPr/>
          </p:nvSpPr>
          <p:spPr bwMode="auto">
            <a:xfrm>
              <a:off x="4386" y="4444"/>
              <a:ext cx="765" cy="378"/>
            </a:xfrm>
            <a:prstGeom prst="rect">
              <a:avLst/>
            </a:prstGeom>
            <a:solidFill>
              <a:srgbClr val="FFCC00"/>
            </a:solidFill>
            <a:ln w="9525">
              <a:solidFill>
                <a:schemeClr val="tx1"/>
              </a:solidFill>
              <a:miter lim="800000"/>
              <a:headEnd/>
              <a:tailEnd/>
            </a:ln>
            <a:extLst/>
          </p:spPr>
          <p:txBody>
            <a:bodyPr lIns="18000" tIns="10800" rIns="18000" bIns="10800"/>
            <a:lstStyle/>
            <a:p>
              <a:pPr algn="ctr">
                <a:defRPr/>
              </a:pPr>
              <a:r>
                <a:rPr kumimoji="1" lang="zh-CN" altLang="en-US" sz="2000" dirty="0">
                  <a:effectLst>
                    <a:outerShdw blurRad="38100" dist="38100" dir="2700000" algn="tl">
                      <a:srgbClr val="C0C0C0"/>
                    </a:outerShdw>
                  </a:effectLst>
                  <a:latin typeface="Arial" charset="0"/>
                </a:rPr>
                <a:t>笔油墨</a:t>
              </a:r>
            </a:p>
          </p:txBody>
        </p:sp>
        <p:sp>
          <p:nvSpPr>
            <p:cNvPr id="59" name="Rectangle 14"/>
            <p:cNvSpPr>
              <a:spLocks noChangeArrowheads="1"/>
            </p:cNvSpPr>
            <p:nvPr/>
          </p:nvSpPr>
          <p:spPr bwMode="auto">
            <a:xfrm>
              <a:off x="5826" y="4433"/>
              <a:ext cx="765" cy="378"/>
            </a:xfrm>
            <a:prstGeom prst="rect">
              <a:avLst/>
            </a:prstGeom>
            <a:solidFill>
              <a:srgbClr val="FFCC00"/>
            </a:solidFill>
            <a:ln w="9525">
              <a:solidFill>
                <a:schemeClr val="tx1"/>
              </a:solidFill>
              <a:miter lim="800000"/>
              <a:headEnd/>
              <a:tailEnd/>
            </a:ln>
            <a:extLst/>
          </p:spPr>
          <p:txBody>
            <a:bodyPr lIns="18000" tIns="10800" rIns="18000" bIns="10800"/>
            <a:lstStyle/>
            <a:p>
              <a:pPr algn="ctr">
                <a:defRPr/>
              </a:pPr>
              <a:r>
                <a:rPr kumimoji="1" lang="zh-CN" altLang="en-US" sz="2000">
                  <a:effectLst>
                    <a:outerShdw blurRad="38100" dist="38100" dir="2700000" algn="tl">
                      <a:srgbClr val="C0C0C0"/>
                    </a:outerShdw>
                  </a:effectLst>
                  <a:latin typeface="Arial" charset="0"/>
                </a:rPr>
                <a:t>笔芯头</a:t>
              </a:r>
            </a:p>
          </p:txBody>
        </p:sp>
        <p:sp>
          <p:nvSpPr>
            <p:cNvPr id="60" name="Rectangle 15"/>
            <p:cNvSpPr>
              <a:spLocks noChangeArrowheads="1"/>
            </p:cNvSpPr>
            <p:nvPr/>
          </p:nvSpPr>
          <p:spPr bwMode="auto">
            <a:xfrm>
              <a:off x="7251" y="4418"/>
              <a:ext cx="765" cy="378"/>
            </a:xfrm>
            <a:prstGeom prst="rect">
              <a:avLst/>
            </a:prstGeom>
            <a:solidFill>
              <a:srgbClr val="FFCC00"/>
            </a:solidFill>
            <a:ln w="9525">
              <a:solidFill>
                <a:schemeClr val="tx1"/>
              </a:solidFill>
              <a:miter lim="800000"/>
              <a:headEnd/>
              <a:tailEnd/>
            </a:ln>
            <a:extLst/>
          </p:spPr>
          <p:txBody>
            <a:bodyPr lIns="18000" tIns="10800" rIns="18000" bIns="10800"/>
            <a:lstStyle/>
            <a:p>
              <a:pPr algn="ctr">
                <a:defRPr/>
              </a:pPr>
              <a:r>
                <a:rPr kumimoji="1" lang="zh-CN" altLang="en-US" sz="2000">
                  <a:effectLst>
                    <a:outerShdw blurRad="38100" dist="38100" dir="2700000" algn="tl">
                      <a:srgbClr val="C0C0C0"/>
                    </a:outerShdw>
                  </a:effectLst>
                  <a:latin typeface="Arial" charset="0"/>
                </a:rPr>
                <a:t>笔芯杆</a:t>
              </a:r>
            </a:p>
          </p:txBody>
        </p:sp>
        <p:grpSp>
          <p:nvGrpSpPr>
            <p:cNvPr id="10253" name="Group 16"/>
            <p:cNvGrpSpPr>
              <a:grpSpLocks/>
            </p:cNvGrpSpPr>
            <p:nvPr/>
          </p:nvGrpSpPr>
          <p:grpSpPr bwMode="auto">
            <a:xfrm>
              <a:off x="4726" y="4005"/>
              <a:ext cx="2910" cy="420"/>
              <a:chOff x="4726" y="4005"/>
              <a:chExt cx="2910" cy="420"/>
            </a:xfrm>
          </p:grpSpPr>
          <p:sp>
            <p:nvSpPr>
              <p:cNvPr id="10255" name="Line 17"/>
              <p:cNvSpPr>
                <a:spLocks noChangeShapeType="1"/>
              </p:cNvSpPr>
              <p:nvPr/>
            </p:nvSpPr>
            <p:spPr bwMode="auto">
              <a:xfrm flipV="1">
                <a:off x="4726" y="4201"/>
                <a:ext cx="0"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56" name="Line 18"/>
              <p:cNvSpPr>
                <a:spLocks noChangeShapeType="1"/>
              </p:cNvSpPr>
              <p:nvPr/>
            </p:nvSpPr>
            <p:spPr bwMode="auto">
              <a:xfrm>
                <a:off x="4726" y="4201"/>
                <a:ext cx="29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57" name="Line 19"/>
              <p:cNvSpPr>
                <a:spLocks noChangeShapeType="1"/>
              </p:cNvSpPr>
              <p:nvPr/>
            </p:nvSpPr>
            <p:spPr bwMode="auto">
              <a:xfrm flipV="1">
                <a:off x="6196" y="4005"/>
                <a:ext cx="0" cy="4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58" name="Line 20"/>
              <p:cNvSpPr>
                <a:spLocks noChangeShapeType="1"/>
              </p:cNvSpPr>
              <p:nvPr/>
            </p:nvSpPr>
            <p:spPr bwMode="auto">
              <a:xfrm flipV="1">
                <a:off x="7621" y="4192"/>
                <a:ext cx="0"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2" name="Rectangle 21"/>
            <p:cNvSpPr>
              <a:spLocks noChangeArrowheads="1"/>
            </p:cNvSpPr>
            <p:nvPr/>
          </p:nvSpPr>
          <p:spPr bwMode="auto">
            <a:xfrm>
              <a:off x="8811" y="3546"/>
              <a:ext cx="900" cy="407"/>
            </a:xfrm>
            <a:prstGeom prst="rect">
              <a:avLst/>
            </a:prstGeom>
            <a:solidFill>
              <a:srgbClr val="FFFF00"/>
            </a:solidFill>
            <a:ln w="9525">
              <a:solidFill>
                <a:schemeClr val="tx1"/>
              </a:solidFill>
              <a:miter lim="800000"/>
              <a:headEnd/>
              <a:tailEnd/>
            </a:ln>
            <a:extLst/>
          </p:spPr>
          <p:txBody>
            <a:bodyPr lIns="18000" tIns="10800" rIns="18000" bIns="10800"/>
            <a:lstStyle/>
            <a:p>
              <a:pPr algn="ctr">
                <a:defRPr/>
              </a:pPr>
              <a:r>
                <a:rPr kumimoji="1" lang="zh-CN" altLang="en-US" sz="2000">
                  <a:effectLst>
                    <a:outerShdw blurRad="38100" dist="38100" dir="2700000" algn="tl">
                      <a:srgbClr val="C0C0C0"/>
                    </a:outerShdw>
                  </a:effectLst>
                  <a:latin typeface="Arial" charset="0"/>
                </a:rPr>
                <a:t>笔帽</a:t>
              </a:r>
            </a:p>
          </p:txBody>
        </p:sp>
      </p:grpSp>
      <p:sp>
        <p:nvSpPr>
          <p:cNvPr id="10245"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24"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0916903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6915">
                                            <p:txEl>
                                              <p:pRg st="0" end="0"/>
                                            </p:txEl>
                                          </p:spTgt>
                                        </p:tgtEl>
                                        <p:attrNameLst>
                                          <p:attrName>style.visibility</p:attrName>
                                        </p:attrNameLst>
                                      </p:cBhvr>
                                      <p:to>
                                        <p:strVal val="visible"/>
                                      </p:to>
                                    </p:set>
                                    <p:anim calcmode="lin" valueType="num">
                                      <p:cBhvr additive="base">
                                        <p:cTn id="7" dur="500" fill="hold"/>
                                        <p:tgtEl>
                                          <p:spTgt spid="1669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691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6915">
                                            <p:txEl>
                                              <p:pRg st="1" end="1"/>
                                            </p:txEl>
                                          </p:spTgt>
                                        </p:tgtEl>
                                        <p:attrNameLst>
                                          <p:attrName>style.visibility</p:attrName>
                                        </p:attrNameLst>
                                      </p:cBhvr>
                                      <p:to>
                                        <p:strVal val="visible"/>
                                      </p:to>
                                    </p:set>
                                    <p:anim calcmode="lin" valueType="num">
                                      <p:cBhvr additive="base">
                                        <p:cTn id="13" dur="500" fill="hold"/>
                                        <p:tgtEl>
                                          <p:spTgt spid="1669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691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500" fill="hold"/>
                                        <p:tgtEl>
                                          <p:spTgt spid="53"/>
                                        </p:tgtEl>
                                        <p:attrNameLst>
                                          <p:attrName>ppt_x</p:attrName>
                                        </p:attrNameLst>
                                      </p:cBhvr>
                                      <p:tavLst>
                                        <p:tav tm="0">
                                          <p:val>
                                            <p:strVal val="1+#ppt_w/2"/>
                                          </p:val>
                                        </p:tav>
                                        <p:tav tm="100000">
                                          <p:val>
                                            <p:strVal val="#ppt_x"/>
                                          </p:val>
                                        </p:tav>
                                      </p:tavLst>
                                    </p:anim>
                                    <p:anim calcmode="lin" valueType="num">
                                      <p:cBhvr additive="base">
                                        <p:cTn id="2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build="p" autoUpdateAnimBg="0" advAuto="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3"/>
          <p:cNvSpPr>
            <a:spLocks noGrp="1" noChangeArrowheads="1"/>
          </p:cNvSpPr>
          <p:nvPr>
            <p:ph type="body" idx="1"/>
          </p:nvPr>
        </p:nvSpPr>
        <p:spPr>
          <a:xfrm>
            <a:off x="457200" y="1676400"/>
            <a:ext cx="8229600" cy="3886200"/>
          </a:xfrm>
        </p:spPr>
        <p:txBody>
          <a:bodyPr/>
          <a:lstStyle/>
          <a:p>
            <a:pPr algn="just" eaLnBrk="1" hangingPunct="1">
              <a:buClr>
                <a:schemeClr val="tx1"/>
              </a:buClr>
              <a:buFont typeface="Marlett" pitchFamily="2" charset="2"/>
              <a:buChar char="2"/>
            </a:pPr>
            <a:r>
              <a:rPr lang="zh-CN" altLang="en-US" sz="2800" b="1" smtClean="0">
                <a:latin typeface="Times New Roman" panose="02020603050405020304" pitchFamily="18" charset="0"/>
              </a:rPr>
              <a:t>物料清单</a:t>
            </a:r>
          </a:p>
          <a:p>
            <a:pPr lvl="1" eaLnBrk="1" hangingPunct="1">
              <a:spcBef>
                <a:spcPct val="50000"/>
              </a:spcBef>
              <a:buClr>
                <a:schemeClr val="tx1"/>
              </a:buClr>
              <a:buFont typeface="Marlett" pitchFamily="2" charset="2"/>
              <a:buChar char="2"/>
            </a:pPr>
            <a:r>
              <a:rPr lang="zh-CN" altLang="en-US" sz="2400" smtClean="0">
                <a:latin typeface="Times New Roman" panose="02020603050405020304" pitchFamily="18" charset="0"/>
              </a:rPr>
              <a:t>物料清单：</a:t>
            </a:r>
            <a:r>
              <a:rPr lang="en-US" altLang="zh-CN" sz="2400" smtClean="0">
                <a:latin typeface="Times New Roman" panose="02020603050405020304" pitchFamily="18" charset="0"/>
              </a:rPr>
              <a:t>BOM—Bill Of Materials</a:t>
            </a:r>
            <a:r>
              <a:rPr lang="zh-CN" altLang="en-US" sz="2400" smtClean="0">
                <a:latin typeface="Times New Roman" panose="02020603050405020304" pitchFamily="18" charset="0"/>
              </a:rPr>
              <a:t>，定义产品结构的技术文件，也称产品结构表、产品明细表、产品结构树。</a:t>
            </a:r>
          </a:p>
        </p:txBody>
      </p:sp>
      <p:grpSp>
        <p:nvGrpSpPr>
          <p:cNvPr id="166916" name="Group 4"/>
          <p:cNvGrpSpPr>
            <a:grpSpLocks/>
          </p:cNvGrpSpPr>
          <p:nvPr/>
        </p:nvGrpSpPr>
        <p:grpSpPr bwMode="auto">
          <a:xfrm>
            <a:off x="914400" y="3657600"/>
            <a:ext cx="5791200" cy="2854325"/>
            <a:chOff x="2601" y="12675"/>
            <a:chExt cx="8354" cy="2696"/>
          </a:xfrm>
        </p:grpSpPr>
        <p:grpSp>
          <p:nvGrpSpPr>
            <p:cNvPr id="11275" name="Group 5"/>
            <p:cNvGrpSpPr>
              <a:grpSpLocks/>
            </p:cNvGrpSpPr>
            <p:nvPr/>
          </p:nvGrpSpPr>
          <p:grpSpPr bwMode="auto">
            <a:xfrm>
              <a:off x="9875" y="12675"/>
              <a:ext cx="1080" cy="2652"/>
              <a:chOff x="10440" y="4092"/>
              <a:chExt cx="1080" cy="2652"/>
            </a:xfrm>
          </p:grpSpPr>
          <p:sp>
            <p:nvSpPr>
              <p:cNvPr id="11307" name="Line 6"/>
              <p:cNvSpPr>
                <a:spLocks noChangeShapeType="1"/>
              </p:cNvSpPr>
              <p:nvPr/>
            </p:nvSpPr>
            <p:spPr bwMode="auto">
              <a:xfrm>
                <a:off x="10620" y="4092"/>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8" name="Line 7"/>
              <p:cNvSpPr>
                <a:spLocks noChangeShapeType="1"/>
              </p:cNvSpPr>
              <p:nvPr/>
            </p:nvSpPr>
            <p:spPr bwMode="auto">
              <a:xfrm>
                <a:off x="10620" y="4872"/>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9" name="Line 8"/>
              <p:cNvSpPr>
                <a:spLocks noChangeShapeType="1"/>
              </p:cNvSpPr>
              <p:nvPr/>
            </p:nvSpPr>
            <p:spPr bwMode="auto">
              <a:xfrm>
                <a:off x="10620" y="5808"/>
                <a:ext cx="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0" name="Line 9"/>
              <p:cNvSpPr>
                <a:spLocks noChangeShapeType="1"/>
              </p:cNvSpPr>
              <p:nvPr/>
            </p:nvSpPr>
            <p:spPr bwMode="auto">
              <a:xfrm>
                <a:off x="10620" y="6744"/>
                <a:ext cx="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1" name="Text Box 10"/>
              <p:cNvSpPr txBox="1">
                <a:spLocks noChangeArrowheads="1"/>
              </p:cNvSpPr>
              <p:nvPr/>
            </p:nvSpPr>
            <p:spPr bwMode="auto">
              <a:xfrm>
                <a:off x="10440" y="4248"/>
                <a:ext cx="900" cy="468"/>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en-US" altLang="zh-CN" sz="1400" b="1">
                    <a:latin typeface="Times New Roman" panose="02020603050405020304" pitchFamily="18" charset="0"/>
                  </a:rPr>
                  <a:t>0</a:t>
                </a:r>
                <a:r>
                  <a:rPr kumimoji="1" lang="zh-CN" altLang="en-US" sz="1400" b="1">
                    <a:latin typeface="Times New Roman" panose="02020603050405020304" pitchFamily="18" charset="0"/>
                  </a:rPr>
                  <a:t>级</a:t>
                </a:r>
              </a:p>
            </p:txBody>
          </p:sp>
          <p:sp>
            <p:nvSpPr>
              <p:cNvPr id="11312" name="Text Box 11"/>
              <p:cNvSpPr txBox="1">
                <a:spLocks noChangeArrowheads="1"/>
              </p:cNvSpPr>
              <p:nvPr/>
            </p:nvSpPr>
            <p:spPr bwMode="auto">
              <a:xfrm>
                <a:off x="10440" y="5184"/>
                <a:ext cx="900" cy="468"/>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en-US" altLang="zh-CN" sz="1400" b="1">
                    <a:latin typeface="Times New Roman" panose="02020603050405020304" pitchFamily="18" charset="0"/>
                  </a:rPr>
                  <a:t>1</a:t>
                </a:r>
                <a:r>
                  <a:rPr kumimoji="1" lang="zh-CN" altLang="en-US" sz="1400" b="1">
                    <a:latin typeface="Times New Roman" panose="02020603050405020304" pitchFamily="18" charset="0"/>
                  </a:rPr>
                  <a:t>级</a:t>
                </a:r>
              </a:p>
            </p:txBody>
          </p:sp>
          <p:sp>
            <p:nvSpPr>
              <p:cNvPr id="11313" name="Text Box 12"/>
              <p:cNvSpPr txBox="1">
                <a:spLocks noChangeArrowheads="1"/>
              </p:cNvSpPr>
              <p:nvPr/>
            </p:nvSpPr>
            <p:spPr bwMode="auto">
              <a:xfrm>
                <a:off x="10440" y="6120"/>
                <a:ext cx="900" cy="468"/>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en-US" altLang="zh-CN" sz="1400" b="1">
                    <a:latin typeface="Times New Roman" panose="02020603050405020304" pitchFamily="18" charset="0"/>
                  </a:rPr>
                  <a:t>2</a:t>
                </a:r>
                <a:r>
                  <a:rPr kumimoji="1" lang="zh-CN" altLang="en-US" sz="1400" b="1">
                    <a:latin typeface="Times New Roman" panose="02020603050405020304" pitchFamily="18" charset="0"/>
                  </a:rPr>
                  <a:t>级</a:t>
                </a:r>
              </a:p>
            </p:txBody>
          </p:sp>
          <p:sp>
            <p:nvSpPr>
              <p:cNvPr id="11314" name="Line 13"/>
              <p:cNvSpPr>
                <a:spLocks noChangeShapeType="1"/>
              </p:cNvSpPr>
              <p:nvPr/>
            </p:nvSpPr>
            <p:spPr bwMode="auto">
              <a:xfrm>
                <a:off x="11160" y="4092"/>
                <a:ext cx="0" cy="78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15" name="Line 14"/>
              <p:cNvSpPr>
                <a:spLocks noChangeShapeType="1"/>
              </p:cNvSpPr>
              <p:nvPr/>
            </p:nvSpPr>
            <p:spPr bwMode="auto">
              <a:xfrm>
                <a:off x="11160" y="4872"/>
                <a:ext cx="0" cy="9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16" name="Line 15"/>
              <p:cNvSpPr>
                <a:spLocks noChangeShapeType="1"/>
              </p:cNvSpPr>
              <p:nvPr/>
            </p:nvSpPr>
            <p:spPr bwMode="auto">
              <a:xfrm>
                <a:off x="11160" y="5808"/>
                <a:ext cx="0" cy="9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276" name="Group 16"/>
            <p:cNvGrpSpPr>
              <a:grpSpLocks/>
            </p:cNvGrpSpPr>
            <p:nvPr/>
          </p:nvGrpSpPr>
          <p:grpSpPr bwMode="auto">
            <a:xfrm>
              <a:off x="2601" y="12703"/>
              <a:ext cx="7350" cy="2668"/>
              <a:chOff x="1716" y="12702"/>
              <a:chExt cx="7350" cy="2668"/>
            </a:xfrm>
          </p:grpSpPr>
          <p:sp>
            <p:nvSpPr>
              <p:cNvPr id="166929" name="Rectangle 17"/>
              <p:cNvSpPr>
                <a:spLocks noChangeArrowheads="1"/>
              </p:cNvSpPr>
              <p:nvPr/>
            </p:nvSpPr>
            <p:spPr bwMode="auto">
              <a:xfrm>
                <a:off x="4462" y="12702"/>
                <a:ext cx="900" cy="468"/>
              </a:xfrm>
              <a:prstGeom prst="rect">
                <a:avLst/>
              </a:prstGeom>
              <a:solidFill>
                <a:srgbClr val="99FFCC"/>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A</a:t>
                </a:r>
              </a:p>
            </p:txBody>
          </p:sp>
          <p:sp>
            <p:nvSpPr>
              <p:cNvPr id="11278" name="Line 18"/>
              <p:cNvSpPr>
                <a:spLocks noChangeShapeType="1"/>
              </p:cNvSpPr>
              <p:nvPr/>
            </p:nvSpPr>
            <p:spPr bwMode="auto">
              <a:xfrm>
                <a:off x="4911" y="13170"/>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9" name="Line 19"/>
              <p:cNvSpPr>
                <a:spLocks noChangeShapeType="1"/>
              </p:cNvSpPr>
              <p:nvPr/>
            </p:nvSpPr>
            <p:spPr bwMode="auto">
              <a:xfrm flipV="1">
                <a:off x="2721" y="13491"/>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0" name="Line 20"/>
              <p:cNvSpPr>
                <a:spLocks noChangeShapeType="1"/>
              </p:cNvSpPr>
              <p:nvPr/>
            </p:nvSpPr>
            <p:spPr bwMode="auto">
              <a:xfrm>
                <a:off x="7581" y="13497"/>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281" name="Group 21"/>
              <p:cNvGrpSpPr>
                <a:grpSpLocks/>
              </p:cNvGrpSpPr>
              <p:nvPr/>
            </p:nvGrpSpPr>
            <p:grpSpPr bwMode="auto">
              <a:xfrm>
                <a:off x="1716" y="13795"/>
                <a:ext cx="1965" cy="1575"/>
                <a:chOff x="1716" y="13795"/>
                <a:chExt cx="1965" cy="1575"/>
              </a:xfrm>
            </p:grpSpPr>
            <p:sp>
              <p:nvSpPr>
                <p:cNvPr id="166934" name="Rectangle 22"/>
                <p:cNvSpPr>
                  <a:spLocks noChangeArrowheads="1"/>
                </p:cNvSpPr>
                <p:nvPr/>
              </p:nvSpPr>
              <p:spPr bwMode="auto">
                <a:xfrm>
                  <a:off x="2286" y="13797"/>
                  <a:ext cx="900" cy="468"/>
                </a:xfrm>
                <a:prstGeom prst="rect">
                  <a:avLst/>
                </a:prstGeom>
                <a:solidFill>
                  <a:srgbClr val="FFFF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B×1</a:t>
                  </a:r>
                </a:p>
              </p:txBody>
            </p:sp>
            <p:sp>
              <p:nvSpPr>
                <p:cNvPr id="166935" name="Rectangle 23"/>
                <p:cNvSpPr>
                  <a:spLocks noChangeArrowheads="1"/>
                </p:cNvSpPr>
                <p:nvPr/>
              </p:nvSpPr>
              <p:spPr bwMode="auto">
                <a:xfrm>
                  <a:off x="1716" y="14887"/>
                  <a:ext cx="900"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E×3</a:t>
                  </a:r>
                </a:p>
              </p:txBody>
            </p:sp>
            <p:sp>
              <p:nvSpPr>
                <p:cNvPr id="166936" name="Rectangle 24"/>
                <p:cNvSpPr>
                  <a:spLocks noChangeArrowheads="1"/>
                </p:cNvSpPr>
                <p:nvPr/>
              </p:nvSpPr>
              <p:spPr bwMode="auto">
                <a:xfrm>
                  <a:off x="2781" y="14902"/>
                  <a:ext cx="900"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dirty="0">
                      <a:effectLst>
                        <a:outerShdw blurRad="38100" dist="38100" dir="2700000" algn="tl">
                          <a:srgbClr val="FFFFFF"/>
                        </a:outerShdw>
                      </a:effectLst>
                      <a:latin typeface="Times New Roman" pitchFamily="18" charset="0"/>
                    </a:rPr>
                    <a:t>F×2</a:t>
                  </a:r>
                </a:p>
              </p:txBody>
            </p:sp>
            <p:sp>
              <p:nvSpPr>
                <p:cNvPr id="11303" name="Line 25"/>
                <p:cNvSpPr>
                  <a:spLocks noChangeShapeType="1"/>
                </p:cNvSpPr>
                <p:nvPr/>
              </p:nvSpPr>
              <p:spPr bwMode="auto">
                <a:xfrm flipV="1">
                  <a:off x="2166" y="14579"/>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4" name="Line 26"/>
                <p:cNvSpPr>
                  <a:spLocks noChangeShapeType="1"/>
                </p:cNvSpPr>
                <p:nvPr/>
              </p:nvSpPr>
              <p:spPr bwMode="auto">
                <a:xfrm>
                  <a:off x="3216" y="14598"/>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5" name="Line 27"/>
                <p:cNvSpPr>
                  <a:spLocks noChangeShapeType="1"/>
                </p:cNvSpPr>
                <p:nvPr/>
              </p:nvSpPr>
              <p:spPr bwMode="auto">
                <a:xfrm flipV="1">
                  <a:off x="2721" y="14271"/>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6" name="Line 28"/>
                <p:cNvSpPr>
                  <a:spLocks noChangeShapeType="1"/>
                </p:cNvSpPr>
                <p:nvPr/>
              </p:nvSpPr>
              <p:spPr bwMode="auto">
                <a:xfrm>
                  <a:off x="2161" y="14593"/>
                  <a:ext cx="10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1282" name="Group 29"/>
              <p:cNvGrpSpPr>
                <a:grpSpLocks/>
              </p:cNvGrpSpPr>
              <p:nvPr/>
            </p:nvGrpSpPr>
            <p:grpSpPr bwMode="auto">
              <a:xfrm>
                <a:off x="6141" y="13793"/>
                <a:ext cx="2925" cy="1577"/>
                <a:chOff x="6141" y="13793"/>
                <a:chExt cx="2925" cy="1577"/>
              </a:xfrm>
            </p:grpSpPr>
            <p:sp>
              <p:nvSpPr>
                <p:cNvPr id="166942" name="Rectangle 30"/>
                <p:cNvSpPr>
                  <a:spLocks noChangeArrowheads="1"/>
                </p:cNvSpPr>
                <p:nvPr/>
              </p:nvSpPr>
              <p:spPr bwMode="auto">
                <a:xfrm>
                  <a:off x="7136" y="13793"/>
                  <a:ext cx="898" cy="468"/>
                </a:xfrm>
                <a:prstGeom prst="rect">
                  <a:avLst/>
                </a:prstGeom>
                <a:solidFill>
                  <a:srgbClr val="FFFF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D×2</a:t>
                  </a:r>
                </a:p>
              </p:txBody>
            </p:sp>
            <p:sp>
              <p:nvSpPr>
                <p:cNvPr id="166943" name="Rectangle 31"/>
                <p:cNvSpPr>
                  <a:spLocks noChangeArrowheads="1"/>
                </p:cNvSpPr>
                <p:nvPr/>
              </p:nvSpPr>
              <p:spPr bwMode="auto">
                <a:xfrm>
                  <a:off x="6149" y="14901"/>
                  <a:ext cx="900"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H×2</a:t>
                  </a:r>
                </a:p>
              </p:txBody>
            </p:sp>
            <p:sp>
              <p:nvSpPr>
                <p:cNvPr id="166944" name="Rectangle 32"/>
                <p:cNvSpPr>
                  <a:spLocks noChangeArrowheads="1"/>
                </p:cNvSpPr>
                <p:nvPr/>
              </p:nvSpPr>
              <p:spPr bwMode="auto">
                <a:xfrm>
                  <a:off x="7159" y="14902"/>
                  <a:ext cx="898"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F×1</a:t>
                  </a:r>
                </a:p>
              </p:txBody>
            </p:sp>
            <p:sp>
              <p:nvSpPr>
                <p:cNvPr id="166945" name="Rectangle 33"/>
                <p:cNvSpPr>
                  <a:spLocks noChangeArrowheads="1"/>
                </p:cNvSpPr>
                <p:nvPr/>
              </p:nvSpPr>
              <p:spPr bwMode="auto">
                <a:xfrm>
                  <a:off x="8169" y="14899"/>
                  <a:ext cx="898" cy="469"/>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I×1</a:t>
                  </a:r>
                </a:p>
              </p:txBody>
            </p:sp>
            <p:sp>
              <p:nvSpPr>
                <p:cNvPr id="11296" name="Line 34"/>
                <p:cNvSpPr>
                  <a:spLocks noChangeShapeType="1"/>
                </p:cNvSpPr>
                <p:nvPr/>
              </p:nvSpPr>
              <p:spPr bwMode="auto">
                <a:xfrm>
                  <a:off x="6621" y="14581"/>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 name="Line 35"/>
                <p:cNvSpPr>
                  <a:spLocks noChangeShapeType="1"/>
                </p:cNvSpPr>
                <p:nvPr/>
              </p:nvSpPr>
              <p:spPr bwMode="auto">
                <a:xfrm flipH="1">
                  <a:off x="7596" y="14278"/>
                  <a:ext cx="0" cy="6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8" name="Line 36"/>
                <p:cNvSpPr>
                  <a:spLocks noChangeShapeType="1"/>
                </p:cNvSpPr>
                <p:nvPr/>
              </p:nvSpPr>
              <p:spPr bwMode="auto">
                <a:xfrm>
                  <a:off x="8631" y="14579"/>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9" name="Line 37"/>
                <p:cNvSpPr>
                  <a:spLocks noChangeShapeType="1"/>
                </p:cNvSpPr>
                <p:nvPr/>
              </p:nvSpPr>
              <p:spPr bwMode="auto">
                <a:xfrm>
                  <a:off x="6616" y="14565"/>
                  <a:ext cx="20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1283" name="Line 38"/>
              <p:cNvSpPr>
                <a:spLocks noChangeShapeType="1"/>
              </p:cNvSpPr>
              <p:nvPr/>
            </p:nvSpPr>
            <p:spPr bwMode="auto">
              <a:xfrm>
                <a:off x="2716" y="13499"/>
                <a:ext cx="486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1284" name="Group 39"/>
              <p:cNvGrpSpPr>
                <a:grpSpLocks/>
              </p:cNvGrpSpPr>
              <p:nvPr/>
            </p:nvGrpSpPr>
            <p:grpSpPr bwMode="auto">
              <a:xfrm>
                <a:off x="3921" y="13794"/>
                <a:ext cx="1950" cy="1561"/>
                <a:chOff x="3921" y="13794"/>
                <a:chExt cx="1950" cy="1561"/>
              </a:xfrm>
            </p:grpSpPr>
            <p:sp>
              <p:nvSpPr>
                <p:cNvPr id="166952" name="Rectangle 40"/>
                <p:cNvSpPr>
                  <a:spLocks noChangeArrowheads="1"/>
                </p:cNvSpPr>
                <p:nvPr/>
              </p:nvSpPr>
              <p:spPr bwMode="auto">
                <a:xfrm>
                  <a:off x="4457" y="13794"/>
                  <a:ext cx="900" cy="468"/>
                </a:xfrm>
                <a:prstGeom prst="rect">
                  <a:avLst/>
                </a:prstGeom>
                <a:solidFill>
                  <a:srgbClr val="FFFF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C×3</a:t>
                  </a:r>
                </a:p>
              </p:txBody>
            </p:sp>
            <p:sp>
              <p:nvSpPr>
                <p:cNvPr id="166953" name="Rectangle 41"/>
                <p:cNvSpPr>
                  <a:spLocks noChangeArrowheads="1"/>
                </p:cNvSpPr>
                <p:nvPr/>
              </p:nvSpPr>
              <p:spPr bwMode="auto">
                <a:xfrm>
                  <a:off x="3921" y="14887"/>
                  <a:ext cx="900"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G×1</a:t>
                  </a:r>
                </a:p>
              </p:txBody>
            </p:sp>
            <p:sp>
              <p:nvSpPr>
                <p:cNvPr id="166954" name="Rectangle 42"/>
                <p:cNvSpPr>
                  <a:spLocks noChangeArrowheads="1"/>
                </p:cNvSpPr>
                <p:nvPr/>
              </p:nvSpPr>
              <p:spPr bwMode="auto">
                <a:xfrm>
                  <a:off x="4972" y="14887"/>
                  <a:ext cx="900"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E×1</a:t>
                  </a:r>
                </a:p>
              </p:txBody>
            </p:sp>
            <p:sp>
              <p:nvSpPr>
                <p:cNvPr id="11288" name="Line 43"/>
                <p:cNvSpPr>
                  <a:spLocks noChangeShapeType="1"/>
                </p:cNvSpPr>
                <p:nvPr/>
              </p:nvSpPr>
              <p:spPr bwMode="auto">
                <a:xfrm flipV="1">
                  <a:off x="4371" y="14559"/>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 name="Line 44"/>
                <p:cNvSpPr>
                  <a:spLocks noChangeShapeType="1"/>
                </p:cNvSpPr>
                <p:nvPr/>
              </p:nvSpPr>
              <p:spPr bwMode="auto">
                <a:xfrm>
                  <a:off x="5451" y="14574"/>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0" name="Line 45"/>
                <p:cNvSpPr>
                  <a:spLocks noChangeShapeType="1"/>
                </p:cNvSpPr>
                <p:nvPr/>
              </p:nvSpPr>
              <p:spPr bwMode="auto">
                <a:xfrm>
                  <a:off x="4911" y="14262"/>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1" name="Line 46"/>
                <p:cNvSpPr>
                  <a:spLocks noChangeShapeType="1"/>
                </p:cNvSpPr>
                <p:nvPr/>
              </p:nvSpPr>
              <p:spPr bwMode="auto">
                <a:xfrm>
                  <a:off x="4366" y="14582"/>
                  <a:ext cx="10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sp>
        <p:nvSpPr>
          <p:cNvPr id="166962" name="Text Box 50"/>
          <p:cNvSpPr txBox="1">
            <a:spLocks noChangeArrowheads="1"/>
          </p:cNvSpPr>
          <p:nvPr/>
        </p:nvSpPr>
        <p:spPr bwMode="auto">
          <a:xfrm>
            <a:off x="7315200" y="4495800"/>
            <a:ext cx="1752600" cy="91598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t>阶层码：</a:t>
            </a:r>
          </a:p>
          <a:p>
            <a:pPr eaLnBrk="1" hangingPunct="1">
              <a:spcBef>
                <a:spcPct val="0"/>
              </a:spcBef>
              <a:buClrTx/>
              <a:buSzTx/>
              <a:buFontTx/>
              <a:buNone/>
            </a:pPr>
            <a:endParaRPr lang="zh-CN" altLang="en-US" sz="1800" b="1"/>
          </a:p>
          <a:p>
            <a:pPr eaLnBrk="1" hangingPunct="1">
              <a:spcBef>
                <a:spcPct val="0"/>
              </a:spcBef>
              <a:buClrTx/>
              <a:buSzTx/>
              <a:buFontTx/>
              <a:buNone/>
            </a:pPr>
            <a:r>
              <a:rPr lang="en-US" altLang="zh-CN" sz="1800"/>
              <a:t>0-</a:t>
            </a:r>
            <a:r>
              <a:rPr lang="zh-CN" altLang="en-US" sz="1800"/>
              <a:t>表示最终产品</a:t>
            </a:r>
          </a:p>
        </p:txBody>
      </p:sp>
      <p:grpSp>
        <p:nvGrpSpPr>
          <p:cNvPr id="166969" name="Group 57"/>
          <p:cNvGrpSpPr>
            <a:grpSpLocks/>
          </p:cNvGrpSpPr>
          <p:nvPr/>
        </p:nvGrpSpPr>
        <p:grpSpPr bwMode="auto">
          <a:xfrm>
            <a:off x="6324600" y="4038600"/>
            <a:ext cx="914400" cy="1905000"/>
            <a:chOff x="3984" y="2592"/>
            <a:chExt cx="576" cy="1200"/>
          </a:xfrm>
        </p:grpSpPr>
        <p:sp>
          <p:nvSpPr>
            <p:cNvPr id="11272" name="Line 52"/>
            <p:cNvSpPr>
              <a:spLocks noChangeShapeType="1"/>
            </p:cNvSpPr>
            <p:nvPr/>
          </p:nvSpPr>
          <p:spPr bwMode="auto">
            <a:xfrm flipH="1" flipV="1">
              <a:off x="3984" y="2592"/>
              <a:ext cx="576" cy="432"/>
            </a:xfrm>
            <a:prstGeom prst="line">
              <a:avLst/>
            </a:prstGeom>
            <a:noFill/>
            <a:ln w="38100" cap="rnd">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rIns="1890000" anchor="ctr"/>
            <a:lstStyle/>
            <a:p>
              <a:endParaRPr lang="zh-CN" altLang="en-US"/>
            </a:p>
          </p:txBody>
        </p:sp>
        <p:sp>
          <p:nvSpPr>
            <p:cNvPr id="11273" name="Line 53"/>
            <p:cNvSpPr>
              <a:spLocks noChangeShapeType="1"/>
            </p:cNvSpPr>
            <p:nvPr/>
          </p:nvSpPr>
          <p:spPr bwMode="auto">
            <a:xfrm flipH="1">
              <a:off x="3984" y="3024"/>
              <a:ext cx="576" cy="144"/>
            </a:xfrm>
            <a:prstGeom prst="line">
              <a:avLst/>
            </a:prstGeom>
            <a:noFill/>
            <a:ln w="38100" cap="rnd">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rIns="1890000" anchor="ctr"/>
            <a:lstStyle/>
            <a:p>
              <a:endParaRPr lang="zh-CN" altLang="en-US"/>
            </a:p>
          </p:txBody>
        </p:sp>
        <p:sp>
          <p:nvSpPr>
            <p:cNvPr id="11274" name="Line 54"/>
            <p:cNvSpPr>
              <a:spLocks noChangeShapeType="1"/>
            </p:cNvSpPr>
            <p:nvPr/>
          </p:nvSpPr>
          <p:spPr bwMode="auto">
            <a:xfrm flipH="1">
              <a:off x="3984" y="3024"/>
              <a:ext cx="576" cy="768"/>
            </a:xfrm>
            <a:prstGeom prst="line">
              <a:avLst/>
            </a:prstGeom>
            <a:noFill/>
            <a:ln w="38100" cap="rnd">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rIns="1890000" anchor="ctr"/>
            <a:lstStyle/>
            <a:p>
              <a:endParaRPr lang="zh-CN" altLang="en-US"/>
            </a:p>
          </p:txBody>
        </p:sp>
      </p:grpSp>
      <p:sp>
        <p:nvSpPr>
          <p:cNvPr id="11271"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54"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5906082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6916"/>
                                        </p:tgtEl>
                                        <p:attrNameLst>
                                          <p:attrName>style.visibility</p:attrName>
                                        </p:attrNameLst>
                                      </p:cBhvr>
                                      <p:to>
                                        <p:strVal val="visible"/>
                                      </p:to>
                                    </p:set>
                                    <p:anim calcmode="lin" valueType="num">
                                      <p:cBhvr additive="base">
                                        <p:cTn id="7" dur="500" fill="hold"/>
                                        <p:tgtEl>
                                          <p:spTgt spid="166916"/>
                                        </p:tgtEl>
                                        <p:attrNameLst>
                                          <p:attrName>ppt_x</p:attrName>
                                        </p:attrNameLst>
                                      </p:cBhvr>
                                      <p:tavLst>
                                        <p:tav tm="0">
                                          <p:val>
                                            <p:strVal val="1+#ppt_w/2"/>
                                          </p:val>
                                        </p:tav>
                                        <p:tav tm="100000">
                                          <p:val>
                                            <p:strVal val="#ppt_x"/>
                                          </p:val>
                                        </p:tav>
                                      </p:tavLst>
                                    </p:anim>
                                    <p:anim calcmode="lin" valueType="num">
                                      <p:cBhvr additive="base">
                                        <p:cTn id="8" dur="500" fill="hold"/>
                                        <p:tgtEl>
                                          <p:spTgt spid="1669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LASER.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2" fill="hold" nodeType="clickEffect">
                                  <p:stCondLst>
                                    <p:cond delay="0"/>
                                  </p:stCondLst>
                                  <p:childTnLst>
                                    <p:set>
                                      <p:cBhvr>
                                        <p:cTn id="12" dur="1" fill="hold">
                                          <p:stCondLst>
                                            <p:cond delay="0"/>
                                          </p:stCondLst>
                                        </p:cTn>
                                        <p:tgtEl>
                                          <p:spTgt spid="166969"/>
                                        </p:tgtEl>
                                        <p:attrNameLst>
                                          <p:attrName>style.visibility</p:attrName>
                                        </p:attrNameLst>
                                      </p:cBhvr>
                                      <p:to>
                                        <p:strVal val="visible"/>
                                      </p:to>
                                    </p:set>
                                    <p:animEffect transition="in" filter="slide(fromRight)">
                                      <p:cBhvr>
                                        <p:cTn id="13" dur="500"/>
                                        <p:tgtEl>
                                          <p:spTgt spid="166969"/>
                                        </p:tgtEl>
                                      </p:cBhvr>
                                    </p:animEffec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166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62"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457200" y="1676400"/>
            <a:ext cx="8229600" cy="3886200"/>
          </a:xfrm>
        </p:spPr>
        <p:txBody>
          <a:bodyPr/>
          <a:lstStyle/>
          <a:p>
            <a:pPr algn="just" eaLnBrk="1" hangingPunct="1">
              <a:buClr>
                <a:schemeClr val="tx1"/>
              </a:buClr>
              <a:buFont typeface="Marlett" pitchFamily="2" charset="2"/>
              <a:buChar char="2"/>
            </a:pPr>
            <a:r>
              <a:rPr lang="zh-CN" altLang="en-US" sz="2800" b="1" smtClean="0">
                <a:latin typeface="Times New Roman" panose="02020603050405020304" pitchFamily="18" charset="0"/>
              </a:rPr>
              <a:t>物料清单</a:t>
            </a:r>
            <a:endParaRPr lang="zh-CN" altLang="en-US" sz="2400" smtClean="0">
              <a:latin typeface="Times New Roman" panose="02020603050405020304" pitchFamily="18" charset="0"/>
            </a:endParaRPr>
          </a:p>
        </p:txBody>
      </p:sp>
      <p:sp>
        <p:nvSpPr>
          <p:cNvPr id="12291" name="Rectangle 47"/>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pic>
        <p:nvPicPr>
          <p:cNvPr id="1229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838" y="1638300"/>
            <a:ext cx="7170737" cy="49149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0625704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1" name="Rectangle 3"/>
          <p:cNvSpPr>
            <a:spLocks noGrp="1" noChangeArrowheads="1"/>
          </p:cNvSpPr>
          <p:nvPr>
            <p:ph type="body" idx="1"/>
          </p:nvPr>
        </p:nvSpPr>
        <p:spPr>
          <a:xfrm>
            <a:off x="457200" y="1676400"/>
            <a:ext cx="8229600" cy="3886200"/>
          </a:xfrm>
        </p:spPr>
        <p:txBody>
          <a:bodyPr/>
          <a:lstStyle/>
          <a:p>
            <a:pPr lvl="1" eaLnBrk="1" hangingPunct="1">
              <a:buClr>
                <a:schemeClr val="tx1"/>
              </a:buClr>
              <a:buFont typeface="Marlett" pitchFamily="2" charset="2"/>
              <a:buChar char="2"/>
            </a:pPr>
            <a:r>
              <a:rPr lang="zh-CN" altLang="en-US" b="1" dirty="0" smtClean="0"/>
              <a:t>物料清单的作用：</a:t>
            </a:r>
            <a:r>
              <a:rPr lang="zh-CN" altLang="en-US" b="1" dirty="0" smtClean="0">
                <a:solidFill>
                  <a:srgbClr val="FF0000"/>
                </a:solidFill>
              </a:rPr>
              <a:t>计划体系中居核心地位</a:t>
            </a:r>
          </a:p>
        </p:txBody>
      </p:sp>
      <p:grpSp>
        <p:nvGrpSpPr>
          <p:cNvPr id="171012" name="Group 4"/>
          <p:cNvGrpSpPr>
            <a:grpSpLocks/>
          </p:cNvGrpSpPr>
          <p:nvPr/>
        </p:nvGrpSpPr>
        <p:grpSpPr bwMode="auto">
          <a:xfrm>
            <a:off x="1752600" y="2819400"/>
            <a:ext cx="5638800" cy="2525713"/>
            <a:chOff x="3136" y="3168"/>
            <a:chExt cx="5415" cy="2296"/>
          </a:xfrm>
        </p:grpSpPr>
        <p:sp>
          <p:nvSpPr>
            <p:cNvPr id="13318" name="Line 5"/>
            <p:cNvSpPr>
              <a:spLocks noChangeShapeType="1"/>
            </p:cNvSpPr>
            <p:nvPr/>
          </p:nvSpPr>
          <p:spPr bwMode="auto">
            <a:xfrm>
              <a:off x="4366" y="4316"/>
              <a:ext cx="8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19" name="Text Box 6"/>
            <p:cNvSpPr txBox="1">
              <a:spLocks noChangeArrowheads="1"/>
            </p:cNvSpPr>
            <p:nvPr/>
          </p:nvSpPr>
          <p:spPr bwMode="auto">
            <a:xfrm>
              <a:off x="3151" y="4120"/>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MPS</a:t>
              </a:r>
            </a:p>
          </p:txBody>
        </p:sp>
        <p:sp>
          <p:nvSpPr>
            <p:cNvPr id="13320" name="Text Box 7"/>
            <p:cNvSpPr txBox="1">
              <a:spLocks noChangeArrowheads="1"/>
            </p:cNvSpPr>
            <p:nvPr/>
          </p:nvSpPr>
          <p:spPr bwMode="auto">
            <a:xfrm>
              <a:off x="5191" y="5107"/>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库存信息</a:t>
              </a:r>
            </a:p>
          </p:txBody>
        </p:sp>
        <p:sp>
          <p:nvSpPr>
            <p:cNvPr id="171016" name="Text Box 8"/>
            <p:cNvSpPr txBox="1">
              <a:spLocks noChangeArrowheads="1"/>
            </p:cNvSpPr>
            <p:nvPr/>
          </p:nvSpPr>
          <p:spPr bwMode="auto">
            <a:xfrm>
              <a:off x="5191" y="4133"/>
              <a:ext cx="1215" cy="358"/>
            </a:xfrm>
            <a:prstGeom prst="rect">
              <a:avLst/>
            </a:prstGeom>
            <a:solidFill>
              <a:srgbClr val="FF0000"/>
            </a:solidFill>
            <a:ln w="9525">
              <a:solidFill>
                <a:srgbClr val="000000"/>
              </a:solidFill>
              <a:miter lim="800000"/>
              <a:headEnd/>
              <a:tailEnd/>
            </a:ln>
          </p:spPr>
          <p:txBody>
            <a:bodyPr lIns="36000" rIns="36000"/>
            <a:lstStyle/>
            <a:p>
              <a:pPr algn="ctr">
                <a:lnSpc>
                  <a:spcPct val="96000"/>
                </a:lnSpc>
                <a:defRPr/>
              </a:pPr>
              <a:r>
                <a:rPr kumimoji="1" lang="en-US" altLang="zh-CN" sz="2000">
                  <a:solidFill>
                    <a:srgbClr val="FFFF00"/>
                  </a:solidFill>
                  <a:effectLst>
                    <a:outerShdw blurRad="38100" dist="38100" dir="2700000" algn="tl">
                      <a:srgbClr val="000000"/>
                    </a:outerShdw>
                  </a:effectLst>
                  <a:latin typeface="Times New Roman" pitchFamily="18" charset="0"/>
                </a:rPr>
                <a:t>BOM</a:t>
              </a:r>
            </a:p>
          </p:txBody>
        </p:sp>
        <p:sp>
          <p:nvSpPr>
            <p:cNvPr id="13322" name="Text Box 9"/>
            <p:cNvSpPr txBox="1">
              <a:spLocks noChangeArrowheads="1"/>
            </p:cNvSpPr>
            <p:nvPr/>
          </p:nvSpPr>
          <p:spPr bwMode="auto">
            <a:xfrm>
              <a:off x="7291" y="4149"/>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MRP</a:t>
              </a:r>
            </a:p>
          </p:txBody>
        </p:sp>
        <p:sp>
          <p:nvSpPr>
            <p:cNvPr id="13323" name="Text Box 10"/>
            <p:cNvSpPr txBox="1">
              <a:spLocks noChangeArrowheads="1"/>
            </p:cNvSpPr>
            <p:nvPr/>
          </p:nvSpPr>
          <p:spPr bwMode="auto">
            <a:xfrm>
              <a:off x="5191" y="3203"/>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工艺路线</a:t>
              </a:r>
            </a:p>
          </p:txBody>
        </p:sp>
        <p:sp>
          <p:nvSpPr>
            <p:cNvPr id="13324" name="Line 11"/>
            <p:cNvSpPr>
              <a:spLocks noChangeShapeType="1"/>
            </p:cNvSpPr>
            <p:nvPr/>
          </p:nvSpPr>
          <p:spPr bwMode="auto">
            <a:xfrm flipV="1">
              <a:off x="5806" y="3567"/>
              <a:ext cx="0" cy="5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5" name="Line 12"/>
            <p:cNvSpPr>
              <a:spLocks noChangeShapeType="1"/>
            </p:cNvSpPr>
            <p:nvPr/>
          </p:nvSpPr>
          <p:spPr bwMode="auto">
            <a:xfrm>
              <a:off x="6406" y="4330"/>
              <a:ext cx="87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6" name="Line 13"/>
            <p:cNvSpPr>
              <a:spLocks noChangeShapeType="1"/>
            </p:cNvSpPr>
            <p:nvPr/>
          </p:nvSpPr>
          <p:spPr bwMode="auto">
            <a:xfrm>
              <a:off x="5821" y="4498"/>
              <a:ext cx="0" cy="63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7" name="Text Box 14"/>
            <p:cNvSpPr txBox="1">
              <a:spLocks noChangeArrowheads="1"/>
            </p:cNvSpPr>
            <p:nvPr/>
          </p:nvSpPr>
          <p:spPr bwMode="auto">
            <a:xfrm>
              <a:off x="7321" y="5051"/>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生产配料</a:t>
              </a:r>
            </a:p>
          </p:txBody>
        </p:sp>
        <p:sp>
          <p:nvSpPr>
            <p:cNvPr id="13328" name="Text Box 15"/>
            <p:cNvSpPr txBox="1">
              <a:spLocks noChangeArrowheads="1"/>
            </p:cNvSpPr>
            <p:nvPr/>
          </p:nvSpPr>
          <p:spPr bwMode="auto">
            <a:xfrm>
              <a:off x="3136" y="5037"/>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成本信息</a:t>
              </a:r>
            </a:p>
          </p:txBody>
        </p:sp>
        <p:sp>
          <p:nvSpPr>
            <p:cNvPr id="13329" name="Text Box 16"/>
            <p:cNvSpPr txBox="1">
              <a:spLocks noChangeArrowheads="1"/>
            </p:cNvSpPr>
            <p:nvPr/>
          </p:nvSpPr>
          <p:spPr bwMode="auto">
            <a:xfrm>
              <a:off x="7336" y="3168"/>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销售价格</a:t>
              </a:r>
            </a:p>
          </p:txBody>
        </p:sp>
        <p:sp>
          <p:nvSpPr>
            <p:cNvPr id="13330" name="Text Box 17"/>
            <p:cNvSpPr txBox="1">
              <a:spLocks noChangeArrowheads="1"/>
            </p:cNvSpPr>
            <p:nvPr/>
          </p:nvSpPr>
          <p:spPr bwMode="auto">
            <a:xfrm>
              <a:off x="3136" y="3231"/>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外协加工</a:t>
              </a:r>
            </a:p>
          </p:txBody>
        </p:sp>
        <p:grpSp>
          <p:nvGrpSpPr>
            <p:cNvPr id="13331" name="Group 18"/>
            <p:cNvGrpSpPr>
              <a:grpSpLocks/>
            </p:cNvGrpSpPr>
            <p:nvPr/>
          </p:nvGrpSpPr>
          <p:grpSpPr bwMode="auto">
            <a:xfrm>
              <a:off x="6046" y="3539"/>
              <a:ext cx="1920" cy="595"/>
              <a:chOff x="5986" y="6858"/>
              <a:chExt cx="1920" cy="595"/>
            </a:xfrm>
          </p:grpSpPr>
          <p:sp>
            <p:nvSpPr>
              <p:cNvPr id="13344" name="Line 19"/>
              <p:cNvSpPr>
                <a:spLocks noChangeShapeType="1"/>
              </p:cNvSpPr>
              <p:nvPr/>
            </p:nvSpPr>
            <p:spPr bwMode="auto">
              <a:xfrm flipV="1">
                <a:off x="5986" y="7152"/>
                <a:ext cx="0" cy="3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5" name="Line 20"/>
              <p:cNvSpPr>
                <a:spLocks noChangeShapeType="1"/>
              </p:cNvSpPr>
              <p:nvPr/>
            </p:nvSpPr>
            <p:spPr bwMode="auto">
              <a:xfrm>
                <a:off x="5986" y="7152"/>
                <a:ext cx="19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6" name="Line 21"/>
              <p:cNvSpPr>
                <a:spLocks noChangeShapeType="1"/>
              </p:cNvSpPr>
              <p:nvPr/>
            </p:nvSpPr>
            <p:spPr bwMode="auto">
              <a:xfrm flipV="1">
                <a:off x="7906" y="6858"/>
                <a:ext cx="0" cy="29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332" name="Group 22"/>
            <p:cNvGrpSpPr>
              <a:grpSpLocks/>
            </p:cNvGrpSpPr>
            <p:nvPr/>
          </p:nvGrpSpPr>
          <p:grpSpPr bwMode="auto">
            <a:xfrm>
              <a:off x="3721" y="3581"/>
              <a:ext cx="1845" cy="553"/>
              <a:chOff x="3661" y="6900"/>
              <a:chExt cx="1845" cy="553"/>
            </a:xfrm>
          </p:grpSpPr>
          <p:sp>
            <p:nvSpPr>
              <p:cNvPr id="13341" name="Line 23"/>
              <p:cNvSpPr>
                <a:spLocks noChangeShapeType="1"/>
              </p:cNvSpPr>
              <p:nvPr/>
            </p:nvSpPr>
            <p:spPr bwMode="auto">
              <a:xfrm>
                <a:off x="3691" y="7187"/>
                <a:ext cx="18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 name="Line 24"/>
              <p:cNvSpPr>
                <a:spLocks noChangeShapeType="1"/>
              </p:cNvSpPr>
              <p:nvPr/>
            </p:nvSpPr>
            <p:spPr bwMode="auto">
              <a:xfrm>
                <a:off x="5506" y="7187"/>
                <a:ext cx="0" cy="2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3" name="Line 25"/>
              <p:cNvSpPr>
                <a:spLocks noChangeShapeType="1"/>
              </p:cNvSpPr>
              <p:nvPr/>
            </p:nvSpPr>
            <p:spPr bwMode="auto">
              <a:xfrm flipV="1">
                <a:off x="3661" y="6900"/>
                <a:ext cx="0" cy="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333" name="Group 26"/>
            <p:cNvGrpSpPr>
              <a:grpSpLocks/>
            </p:cNvGrpSpPr>
            <p:nvPr/>
          </p:nvGrpSpPr>
          <p:grpSpPr bwMode="auto">
            <a:xfrm>
              <a:off x="3706" y="4498"/>
              <a:ext cx="1875" cy="539"/>
              <a:chOff x="3646" y="7817"/>
              <a:chExt cx="1875" cy="539"/>
            </a:xfrm>
          </p:grpSpPr>
          <p:sp>
            <p:nvSpPr>
              <p:cNvPr id="13338" name="Line 27"/>
              <p:cNvSpPr>
                <a:spLocks noChangeShapeType="1"/>
              </p:cNvSpPr>
              <p:nvPr/>
            </p:nvSpPr>
            <p:spPr bwMode="auto">
              <a:xfrm>
                <a:off x="5521" y="7817"/>
                <a:ext cx="0" cy="2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 name="Line 28"/>
              <p:cNvSpPr>
                <a:spLocks noChangeShapeType="1"/>
              </p:cNvSpPr>
              <p:nvPr/>
            </p:nvSpPr>
            <p:spPr bwMode="auto">
              <a:xfrm flipH="1">
                <a:off x="3646" y="8041"/>
                <a:ext cx="1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 name="Line 29"/>
              <p:cNvSpPr>
                <a:spLocks noChangeShapeType="1"/>
              </p:cNvSpPr>
              <p:nvPr/>
            </p:nvSpPr>
            <p:spPr bwMode="auto">
              <a:xfrm>
                <a:off x="3646" y="8041"/>
                <a:ext cx="0" cy="31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334" name="Group 30"/>
            <p:cNvGrpSpPr>
              <a:grpSpLocks/>
            </p:cNvGrpSpPr>
            <p:nvPr/>
          </p:nvGrpSpPr>
          <p:grpSpPr bwMode="auto">
            <a:xfrm>
              <a:off x="6061" y="4498"/>
              <a:ext cx="1905" cy="553"/>
              <a:chOff x="6001" y="7817"/>
              <a:chExt cx="1905" cy="553"/>
            </a:xfrm>
          </p:grpSpPr>
          <p:sp>
            <p:nvSpPr>
              <p:cNvPr id="13335" name="Line 31"/>
              <p:cNvSpPr>
                <a:spLocks noChangeShapeType="1"/>
              </p:cNvSpPr>
              <p:nvPr/>
            </p:nvSpPr>
            <p:spPr bwMode="auto">
              <a:xfrm>
                <a:off x="6001" y="7817"/>
                <a:ext cx="0" cy="2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6" name="Line 32"/>
              <p:cNvSpPr>
                <a:spLocks noChangeShapeType="1"/>
              </p:cNvSpPr>
              <p:nvPr/>
            </p:nvSpPr>
            <p:spPr bwMode="auto">
              <a:xfrm>
                <a:off x="6001" y="8027"/>
                <a:ext cx="19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 name="Line 33"/>
              <p:cNvSpPr>
                <a:spLocks noChangeShapeType="1"/>
              </p:cNvSpPr>
              <p:nvPr/>
            </p:nvSpPr>
            <p:spPr bwMode="auto">
              <a:xfrm>
                <a:off x="7906" y="8027"/>
                <a:ext cx="0" cy="3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3317"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3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110113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anim calcmode="lin" valueType="num">
                                      <p:cBhvr additive="base">
                                        <p:cTn id="7" dur="500" fill="hold"/>
                                        <p:tgtEl>
                                          <p:spTgt spid="1710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101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9" fill="hold" nodeType="afterGroup">
                            <p:stCondLst>
                              <p:cond delay="500"/>
                            </p:stCondLst>
                            <p:childTnLst>
                              <p:par>
                                <p:cTn id="10" presetID="2" presetClass="entr" presetSubtype="6" fill="hold" nodeType="afterEffect">
                                  <p:stCondLst>
                                    <p:cond delay="0"/>
                                  </p:stCondLst>
                                  <p:childTnLst>
                                    <p:set>
                                      <p:cBhvr>
                                        <p:cTn id="11" dur="1" fill="hold">
                                          <p:stCondLst>
                                            <p:cond delay="0"/>
                                          </p:stCondLst>
                                        </p:cTn>
                                        <p:tgtEl>
                                          <p:spTgt spid="171012"/>
                                        </p:tgtEl>
                                        <p:attrNameLst>
                                          <p:attrName>style.visibility</p:attrName>
                                        </p:attrNameLst>
                                      </p:cBhvr>
                                      <p:to>
                                        <p:strVal val="visible"/>
                                      </p:to>
                                    </p:set>
                                    <p:anim calcmode="lin" valueType="num">
                                      <p:cBhvr additive="base">
                                        <p:cTn id="12" dur="500" fill="hold"/>
                                        <p:tgtEl>
                                          <p:spTgt spid="171012"/>
                                        </p:tgtEl>
                                        <p:attrNameLst>
                                          <p:attrName>ppt_x</p:attrName>
                                        </p:attrNameLst>
                                      </p:cBhvr>
                                      <p:tavLst>
                                        <p:tav tm="0">
                                          <p:val>
                                            <p:strVal val="1+#ppt_w/2"/>
                                          </p:val>
                                        </p:tav>
                                        <p:tav tm="100000">
                                          <p:val>
                                            <p:strVal val="#ppt_x"/>
                                          </p:val>
                                        </p:tav>
                                      </p:tavLst>
                                    </p:anim>
                                    <p:anim calcmode="lin" valueType="num">
                                      <p:cBhvr additive="base">
                                        <p:cTn id="13" dur="500" fill="hold"/>
                                        <p:tgtEl>
                                          <p:spTgt spid="17101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autoUpdateAnimBg="0" advAuto="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7" name="Rectangle 3"/>
          <p:cNvSpPr>
            <a:spLocks noGrp="1" noChangeArrowheads="1"/>
          </p:cNvSpPr>
          <p:nvPr>
            <p:ph type="body" idx="1"/>
          </p:nvPr>
        </p:nvSpPr>
        <p:spPr>
          <a:xfrm>
            <a:off x="381000" y="1447800"/>
            <a:ext cx="8229600" cy="3886200"/>
          </a:xfrm>
        </p:spPr>
        <p:txBody>
          <a:bodyPr/>
          <a:lstStyle/>
          <a:p>
            <a:pPr lvl="1" eaLnBrk="1" hangingPunct="1">
              <a:lnSpc>
                <a:spcPct val="140000"/>
              </a:lnSpc>
              <a:buClr>
                <a:schemeClr val="tx1"/>
              </a:buClr>
              <a:buFont typeface="Marlett" pitchFamily="2" charset="2"/>
              <a:buChar char="2"/>
            </a:pPr>
            <a:r>
              <a:rPr lang="zh-CN" altLang="en-US" b="1" dirty="0" smtClean="0"/>
              <a:t>低层码</a:t>
            </a:r>
            <a:r>
              <a:rPr lang="en-US" altLang="zh-CN" b="1" dirty="0" smtClean="0"/>
              <a:t>(Low Level Code, LLC)</a:t>
            </a:r>
          </a:p>
          <a:p>
            <a:pPr lvl="2" eaLnBrk="1" hangingPunct="1">
              <a:lnSpc>
                <a:spcPct val="120000"/>
              </a:lnSpc>
              <a:spcBef>
                <a:spcPct val="50000"/>
              </a:spcBef>
              <a:buClr>
                <a:schemeClr val="tx1"/>
              </a:buClr>
              <a:buFont typeface="Marlett" pitchFamily="2" charset="2"/>
              <a:buChar char="2"/>
            </a:pPr>
            <a:r>
              <a:rPr lang="zh-CN" altLang="en-US" dirty="0" smtClean="0"/>
              <a:t>同一种物料由于位于不同的</a:t>
            </a:r>
            <a:r>
              <a:rPr lang="en-US" altLang="zh-CN" dirty="0" smtClean="0"/>
              <a:t>BOM</a:t>
            </a:r>
            <a:r>
              <a:rPr lang="zh-CN" altLang="en-US" dirty="0" smtClean="0"/>
              <a:t>阶层中而有多个阶层码时取最低层码作为计算该项物料需求量的一种方法。</a:t>
            </a:r>
          </a:p>
          <a:p>
            <a:pPr lvl="2" eaLnBrk="1" hangingPunct="1">
              <a:lnSpc>
                <a:spcPct val="120000"/>
              </a:lnSpc>
              <a:spcBef>
                <a:spcPct val="50000"/>
              </a:spcBef>
              <a:buClr>
                <a:schemeClr val="tx1"/>
              </a:buClr>
              <a:buFont typeface="Marlett" pitchFamily="2" charset="2"/>
              <a:buChar char="2"/>
            </a:pPr>
            <a:r>
              <a:rPr lang="zh-CN" altLang="en-US" dirty="0" smtClean="0"/>
              <a:t>用于</a:t>
            </a:r>
            <a:r>
              <a:rPr lang="en-US" altLang="zh-CN" dirty="0" smtClean="0"/>
              <a:t>MRP</a:t>
            </a:r>
            <a:r>
              <a:rPr lang="zh-CN" altLang="en-US" dirty="0" smtClean="0"/>
              <a:t>的计算</a:t>
            </a:r>
          </a:p>
        </p:txBody>
      </p:sp>
      <p:sp>
        <p:nvSpPr>
          <p:cNvPr id="14340"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733662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 calcmode="lin" valueType="num">
                                      <p:cBhvr additive="base">
                                        <p:cTn id="7" dur="500" fill="hold"/>
                                        <p:tgtEl>
                                          <p:spTgt spid="1853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53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5347">
                                            <p:txEl>
                                              <p:pRg st="1" end="1"/>
                                            </p:txEl>
                                          </p:spTgt>
                                        </p:tgtEl>
                                        <p:attrNameLst>
                                          <p:attrName>style.visibility</p:attrName>
                                        </p:attrNameLst>
                                      </p:cBhvr>
                                      <p:to>
                                        <p:strVal val="visible"/>
                                      </p:to>
                                    </p:set>
                                    <p:anim calcmode="lin" valueType="num">
                                      <p:cBhvr additive="base">
                                        <p:cTn id="13" dur="500" fill="hold"/>
                                        <p:tgtEl>
                                          <p:spTgt spid="1853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53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5347">
                                            <p:txEl>
                                              <p:pRg st="2" end="2"/>
                                            </p:txEl>
                                          </p:spTgt>
                                        </p:tgtEl>
                                        <p:attrNameLst>
                                          <p:attrName>style.visibility</p:attrName>
                                        </p:attrNameLst>
                                      </p:cBhvr>
                                      <p:to>
                                        <p:strVal val="visible"/>
                                      </p:to>
                                    </p:set>
                                    <p:anim calcmode="lin" valueType="num">
                                      <p:cBhvr additive="base">
                                        <p:cTn id="19" dur="500" fill="hold"/>
                                        <p:tgtEl>
                                          <p:spTgt spid="1853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534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uild="p" autoUpdateAnimBg="0" advAuto="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9" name="Rectangle 3"/>
          <p:cNvSpPr>
            <a:spLocks noGrp="1" noChangeArrowheads="1"/>
          </p:cNvSpPr>
          <p:nvPr>
            <p:ph type="body" idx="1"/>
          </p:nvPr>
        </p:nvSpPr>
        <p:spPr>
          <a:xfrm>
            <a:off x="381000" y="1447800"/>
            <a:ext cx="8229600" cy="4648200"/>
          </a:xfrm>
        </p:spPr>
        <p:txBody>
          <a:bodyPr/>
          <a:lstStyle/>
          <a:p>
            <a:pPr lvl="1" eaLnBrk="1" hangingPunct="1">
              <a:lnSpc>
                <a:spcPct val="140000"/>
              </a:lnSpc>
              <a:buClr>
                <a:schemeClr val="tx1"/>
              </a:buClr>
              <a:buFont typeface="Marlett" pitchFamily="2" charset="2"/>
              <a:buChar char="2"/>
            </a:pPr>
            <a:r>
              <a:rPr lang="zh-CN" altLang="en-US" b="1" dirty="0" smtClean="0"/>
              <a:t>虚拟件</a:t>
            </a:r>
            <a:r>
              <a:rPr lang="en-US" altLang="zh-CN" b="1" dirty="0" smtClean="0"/>
              <a:t>(Phantom)</a:t>
            </a:r>
          </a:p>
          <a:p>
            <a:pPr lvl="2" eaLnBrk="1" hangingPunct="1">
              <a:lnSpc>
                <a:spcPct val="120000"/>
              </a:lnSpc>
              <a:spcBef>
                <a:spcPct val="50000"/>
              </a:spcBef>
              <a:buClr>
                <a:schemeClr val="tx1"/>
              </a:buClr>
              <a:buFont typeface="Marlett" pitchFamily="2" charset="2"/>
              <a:buChar char="2"/>
            </a:pPr>
            <a:r>
              <a:rPr lang="zh-CN" altLang="en-US" dirty="0" smtClean="0"/>
              <a:t>一种并不存在的物品，图纸上与加工过程都不出现，属于“虚构”的物品。</a:t>
            </a:r>
          </a:p>
        </p:txBody>
      </p:sp>
      <p:sp>
        <p:nvSpPr>
          <p:cNvPr id="15364"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grpSp>
        <p:nvGrpSpPr>
          <p:cNvPr id="5" name="Group 4"/>
          <p:cNvGrpSpPr>
            <a:grpSpLocks/>
          </p:cNvGrpSpPr>
          <p:nvPr/>
        </p:nvGrpSpPr>
        <p:grpSpPr bwMode="auto">
          <a:xfrm>
            <a:off x="1600200" y="3581400"/>
            <a:ext cx="6248400" cy="2427288"/>
            <a:chOff x="2281" y="1412"/>
            <a:chExt cx="7860" cy="2744"/>
          </a:xfrm>
        </p:grpSpPr>
        <p:grpSp>
          <p:nvGrpSpPr>
            <p:cNvPr id="7" name="Group 5"/>
            <p:cNvGrpSpPr>
              <a:grpSpLocks/>
            </p:cNvGrpSpPr>
            <p:nvPr/>
          </p:nvGrpSpPr>
          <p:grpSpPr bwMode="auto">
            <a:xfrm>
              <a:off x="6331" y="2518"/>
              <a:ext cx="1620" cy="1638"/>
              <a:chOff x="7216" y="12493"/>
              <a:chExt cx="1620" cy="1638"/>
            </a:xfrm>
          </p:grpSpPr>
          <p:sp>
            <p:nvSpPr>
              <p:cNvPr id="65" name="Text Box 6"/>
              <p:cNvSpPr txBox="1">
                <a:spLocks noChangeArrowheads="1"/>
              </p:cNvSpPr>
              <p:nvPr/>
            </p:nvSpPr>
            <p:spPr bwMode="auto">
              <a:xfrm>
                <a:off x="8551" y="12934"/>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G</a:t>
                </a:r>
              </a:p>
            </p:txBody>
          </p:sp>
          <p:grpSp>
            <p:nvGrpSpPr>
              <p:cNvPr id="66" name="Group 7"/>
              <p:cNvGrpSpPr>
                <a:grpSpLocks/>
              </p:cNvGrpSpPr>
              <p:nvPr/>
            </p:nvGrpSpPr>
            <p:grpSpPr bwMode="auto">
              <a:xfrm>
                <a:off x="7216" y="12913"/>
                <a:ext cx="1350" cy="1218"/>
                <a:chOff x="8896" y="12703"/>
                <a:chExt cx="1350" cy="1218"/>
              </a:xfrm>
            </p:grpSpPr>
            <p:sp>
              <p:nvSpPr>
                <p:cNvPr id="71" name="Text Box 8"/>
                <p:cNvSpPr txBox="1">
                  <a:spLocks noChangeArrowheads="1"/>
                </p:cNvSpPr>
                <p:nvPr/>
              </p:nvSpPr>
              <p:spPr bwMode="auto">
                <a:xfrm>
                  <a:off x="9421" y="13578"/>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E</a:t>
                  </a:r>
                </a:p>
              </p:txBody>
            </p:sp>
            <p:sp>
              <p:nvSpPr>
                <p:cNvPr id="72" name="Text Box 9"/>
                <p:cNvSpPr txBox="1">
                  <a:spLocks noChangeArrowheads="1"/>
                </p:cNvSpPr>
                <p:nvPr/>
              </p:nvSpPr>
              <p:spPr bwMode="auto">
                <a:xfrm>
                  <a:off x="9961" y="13577"/>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F</a:t>
                  </a:r>
                </a:p>
              </p:txBody>
            </p:sp>
            <p:sp>
              <p:nvSpPr>
                <p:cNvPr id="73" name="Text Box 10"/>
                <p:cNvSpPr txBox="1">
                  <a:spLocks noChangeArrowheads="1"/>
                </p:cNvSpPr>
                <p:nvPr/>
              </p:nvSpPr>
              <p:spPr bwMode="auto">
                <a:xfrm>
                  <a:off x="8896" y="13577"/>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D</a:t>
                  </a:r>
                </a:p>
              </p:txBody>
            </p:sp>
            <p:sp>
              <p:nvSpPr>
                <p:cNvPr id="74" name="Line 11"/>
                <p:cNvSpPr>
                  <a:spLocks noChangeShapeType="1"/>
                </p:cNvSpPr>
                <p:nvPr/>
              </p:nvSpPr>
              <p:spPr bwMode="auto">
                <a:xfrm flipV="1">
                  <a:off x="9031" y="13305"/>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Line 12"/>
                <p:cNvSpPr>
                  <a:spLocks noChangeShapeType="1"/>
                </p:cNvSpPr>
                <p:nvPr/>
              </p:nvSpPr>
              <p:spPr bwMode="auto">
                <a:xfrm flipV="1">
                  <a:off x="9556" y="13018"/>
                  <a:ext cx="0" cy="55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6" name="Line 13"/>
                <p:cNvSpPr>
                  <a:spLocks noChangeShapeType="1"/>
                </p:cNvSpPr>
                <p:nvPr/>
              </p:nvSpPr>
              <p:spPr bwMode="auto">
                <a:xfrm flipV="1">
                  <a:off x="10111" y="13305"/>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 name="Text Box 14"/>
                <p:cNvSpPr txBox="1">
                  <a:spLocks noChangeArrowheads="1"/>
                </p:cNvSpPr>
                <p:nvPr/>
              </p:nvSpPr>
              <p:spPr bwMode="auto">
                <a:xfrm>
                  <a:off x="9421" y="12703"/>
                  <a:ext cx="285" cy="343"/>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K</a:t>
                  </a:r>
                </a:p>
              </p:txBody>
            </p:sp>
            <p:sp>
              <p:nvSpPr>
                <p:cNvPr id="78" name="Line 15"/>
                <p:cNvSpPr>
                  <a:spLocks noChangeShapeType="1"/>
                </p:cNvSpPr>
                <p:nvPr/>
              </p:nvSpPr>
              <p:spPr bwMode="auto">
                <a:xfrm>
                  <a:off x="9031" y="13319"/>
                  <a:ext cx="10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7" name="Line 16"/>
              <p:cNvSpPr>
                <a:spLocks noChangeShapeType="1"/>
              </p:cNvSpPr>
              <p:nvPr/>
            </p:nvSpPr>
            <p:spPr bwMode="auto">
              <a:xfrm flipV="1">
                <a:off x="7876" y="12689"/>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 name="Line 17"/>
              <p:cNvSpPr>
                <a:spLocks noChangeShapeType="1"/>
              </p:cNvSpPr>
              <p:nvPr/>
            </p:nvSpPr>
            <p:spPr bwMode="auto">
              <a:xfrm>
                <a:off x="7876" y="12702"/>
                <a:ext cx="8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9" name="Line 18"/>
              <p:cNvSpPr>
                <a:spLocks noChangeShapeType="1"/>
              </p:cNvSpPr>
              <p:nvPr/>
            </p:nvSpPr>
            <p:spPr bwMode="auto">
              <a:xfrm>
                <a:off x="8701" y="12717"/>
                <a:ext cx="0" cy="21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0" name="Line 19"/>
              <p:cNvSpPr>
                <a:spLocks noChangeShapeType="1"/>
              </p:cNvSpPr>
              <p:nvPr/>
            </p:nvSpPr>
            <p:spPr bwMode="auto">
              <a:xfrm flipV="1">
                <a:off x="8296" y="12493"/>
                <a:ext cx="0" cy="21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8" name="Group 20"/>
            <p:cNvGrpSpPr>
              <a:grpSpLocks/>
            </p:cNvGrpSpPr>
            <p:nvPr/>
          </p:nvGrpSpPr>
          <p:grpSpPr bwMode="auto">
            <a:xfrm>
              <a:off x="2281" y="1412"/>
              <a:ext cx="7860" cy="2744"/>
              <a:chOff x="2896" y="2357"/>
              <a:chExt cx="7860" cy="2744"/>
            </a:xfrm>
          </p:grpSpPr>
          <p:sp>
            <p:nvSpPr>
              <p:cNvPr id="9" name="Text Box 21"/>
              <p:cNvSpPr txBox="1">
                <a:spLocks noChangeArrowheads="1"/>
              </p:cNvSpPr>
              <p:nvPr/>
            </p:nvSpPr>
            <p:spPr bwMode="auto">
              <a:xfrm>
                <a:off x="8956" y="2371"/>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A</a:t>
                </a:r>
              </a:p>
            </p:txBody>
          </p:sp>
          <p:sp>
            <p:nvSpPr>
              <p:cNvPr id="10" name="Line 22"/>
              <p:cNvSpPr>
                <a:spLocks noChangeShapeType="1"/>
              </p:cNvSpPr>
              <p:nvPr/>
            </p:nvSpPr>
            <p:spPr bwMode="auto">
              <a:xfrm flipV="1">
                <a:off x="8026" y="2931"/>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 name="Line 23"/>
              <p:cNvSpPr>
                <a:spLocks noChangeShapeType="1"/>
              </p:cNvSpPr>
              <p:nvPr/>
            </p:nvSpPr>
            <p:spPr bwMode="auto">
              <a:xfrm>
                <a:off x="8026" y="2931"/>
                <a:ext cx="21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 name="Line 24"/>
              <p:cNvSpPr>
                <a:spLocks noChangeShapeType="1"/>
              </p:cNvSpPr>
              <p:nvPr/>
            </p:nvSpPr>
            <p:spPr bwMode="auto">
              <a:xfrm>
                <a:off x="10201" y="2931"/>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 name="Line 25"/>
              <p:cNvSpPr>
                <a:spLocks noChangeShapeType="1"/>
              </p:cNvSpPr>
              <p:nvPr/>
            </p:nvSpPr>
            <p:spPr bwMode="auto">
              <a:xfrm flipV="1">
                <a:off x="9106" y="2707"/>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 name="Text Box 26"/>
              <p:cNvSpPr txBox="1">
                <a:spLocks noChangeArrowheads="1"/>
              </p:cNvSpPr>
              <p:nvPr/>
            </p:nvSpPr>
            <p:spPr bwMode="auto">
              <a:xfrm>
                <a:off x="10066" y="3140"/>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C</a:t>
                </a:r>
              </a:p>
            </p:txBody>
          </p:sp>
          <p:grpSp>
            <p:nvGrpSpPr>
              <p:cNvPr id="15" name="Group 27"/>
              <p:cNvGrpSpPr>
                <a:grpSpLocks/>
              </p:cNvGrpSpPr>
              <p:nvPr/>
            </p:nvGrpSpPr>
            <p:grpSpPr bwMode="auto">
              <a:xfrm>
                <a:off x="9136" y="3463"/>
                <a:ext cx="1620" cy="1638"/>
                <a:chOff x="7216" y="12493"/>
                <a:chExt cx="1620" cy="1638"/>
              </a:xfrm>
            </p:grpSpPr>
            <p:sp>
              <p:nvSpPr>
                <p:cNvPr id="51" name="Text Box 28"/>
                <p:cNvSpPr txBox="1">
                  <a:spLocks noChangeArrowheads="1"/>
                </p:cNvSpPr>
                <p:nvPr/>
              </p:nvSpPr>
              <p:spPr bwMode="auto">
                <a:xfrm>
                  <a:off x="8551" y="12934"/>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H</a:t>
                  </a:r>
                </a:p>
              </p:txBody>
            </p:sp>
            <p:grpSp>
              <p:nvGrpSpPr>
                <p:cNvPr id="52" name="Group 29"/>
                <p:cNvGrpSpPr>
                  <a:grpSpLocks/>
                </p:cNvGrpSpPr>
                <p:nvPr/>
              </p:nvGrpSpPr>
              <p:grpSpPr bwMode="auto">
                <a:xfrm>
                  <a:off x="7216" y="12913"/>
                  <a:ext cx="1350" cy="1218"/>
                  <a:chOff x="8896" y="12703"/>
                  <a:chExt cx="1350" cy="1218"/>
                </a:xfrm>
              </p:grpSpPr>
              <p:sp>
                <p:nvSpPr>
                  <p:cNvPr id="57" name="Text Box 30"/>
                  <p:cNvSpPr txBox="1">
                    <a:spLocks noChangeArrowheads="1"/>
                  </p:cNvSpPr>
                  <p:nvPr/>
                </p:nvSpPr>
                <p:spPr bwMode="auto">
                  <a:xfrm>
                    <a:off x="9421" y="13578"/>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E</a:t>
                    </a:r>
                  </a:p>
                </p:txBody>
              </p:sp>
              <p:sp>
                <p:nvSpPr>
                  <p:cNvPr id="58" name="Text Box 31"/>
                  <p:cNvSpPr txBox="1">
                    <a:spLocks noChangeArrowheads="1"/>
                  </p:cNvSpPr>
                  <p:nvPr/>
                </p:nvSpPr>
                <p:spPr bwMode="auto">
                  <a:xfrm>
                    <a:off x="9961" y="13577"/>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F</a:t>
                    </a:r>
                  </a:p>
                </p:txBody>
              </p:sp>
              <p:sp>
                <p:nvSpPr>
                  <p:cNvPr id="59" name="Text Box 32"/>
                  <p:cNvSpPr txBox="1">
                    <a:spLocks noChangeArrowheads="1"/>
                  </p:cNvSpPr>
                  <p:nvPr/>
                </p:nvSpPr>
                <p:spPr bwMode="auto">
                  <a:xfrm>
                    <a:off x="8896" y="13577"/>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D</a:t>
                    </a:r>
                  </a:p>
                </p:txBody>
              </p:sp>
              <p:sp>
                <p:nvSpPr>
                  <p:cNvPr id="60" name="Line 33"/>
                  <p:cNvSpPr>
                    <a:spLocks noChangeShapeType="1"/>
                  </p:cNvSpPr>
                  <p:nvPr/>
                </p:nvSpPr>
                <p:spPr bwMode="auto">
                  <a:xfrm flipV="1">
                    <a:off x="9031" y="13305"/>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 name="Line 34"/>
                  <p:cNvSpPr>
                    <a:spLocks noChangeShapeType="1"/>
                  </p:cNvSpPr>
                  <p:nvPr/>
                </p:nvSpPr>
                <p:spPr bwMode="auto">
                  <a:xfrm flipV="1">
                    <a:off x="9556" y="13018"/>
                    <a:ext cx="0" cy="55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 name="Line 35"/>
                  <p:cNvSpPr>
                    <a:spLocks noChangeShapeType="1"/>
                  </p:cNvSpPr>
                  <p:nvPr/>
                </p:nvSpPr>
                <p:spPr bwMode="auto">
                  <a:xfrm flipV="1">
                    <a:off x="10111" y="13305"/>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 name="Text Box 36"/>
                  <p:cNvSpPr txBox="1">
                    <a:spLocks noChangeArrowheads="1"/>
                  </p:cNvSpPr>
                  <p:nvPr/>
                </p:nvSpPr>
                <p:spPr bwMode="auto">
                  <a:xfrm>
                    <a:off x="9421" y="12703"/>
                    <a:ext cx="285" cy="343"/>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K</a:t>
                    </a:r>
                  </a:p>
                </p:txBody>
              </p:sp>
              <p:sp>
                <p:nvSpPr>
                  <p:cNvPr id="64" name="Line 37"/>
                  <p:cNvSpPr>
                    <a:spLocks noChangeShapeType="1"/>
                  </p:cNvSpPr>
                  <p:nvPr/>
                </p:nvSpPr>
                <p:spPr bwMode="auto">
                  <a:xfrm>
                    <a:off x="9031" y="13319"/>
                    <a:ext cx="10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3" name="Line 38"/>
                <p:cNvSpPr>
                  <a:spLocks noChangeShapeType="1"/>
                </p:cNvSpPr>
                <p:nvPr/>
              </p:nvSpPr>
              <p:spPr bwMode="auto">
                <a:xfrm flipV="1">
                  <a:off x="7876" y="12689"/>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4" name="Line 39"/>
                <p:cNvSpPr>
                  <a:spLocks noChangeShapeType="1"/>
                </p:cNvSpPr>
                <p:nvPr/>
              </p:nvSpPr>
              <p:spPr bwMode="auto">
                <a:xfrm>
                  <a:off x="7876" y="12702"/>
                  <a:ext cx="8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 name="Line 40"/>
                <p:cNvSpPr>
                  <a:spLocks noChangeShapeType="1"/>
                </p:cNvSpPr>
                <p:nvPr/>
              </p:nvSpPr>
              <p:spPr bwMode="auto">
                <a:xfrm>
                  <a:off x="8701" y="12717"/>
                  <a:ext cx="0" cy="21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6" name="Line 41"/>
                <p:cNvSpPr>
                  <a:spLocks noChangeShapeType="1"/>
                </p:cNvSpPr>
                <p:nvPr/>
              </p:nvSpPr>
              <p:spPr bwMode="auto">
                <a:xfrm flipV="1">
                  <a:off x="8296" y="12493"/>
                  <a:ext cx="0" cy="21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6" name="Group 42"/>
              <p:cNvGrpSpPr>
                <a:grpSpLocks/>
              </p:cNvGrpSpPr>
              <p:nvPr/>
            </p:nvGrpSpPr>
            <p:grpSpPr bwMode="auto">
              <a:xfrm>
                <a:off x="2896" y="2357"/>
                <a:ext cx="5280" cy="2003"/>
                <a:chOff x="2896" y="13817"/>
                <a:chExt cx="5280" cy="2003"/>
              </a:xfrm>
            </p:grpSpPr>
            <p:grpSp>
              <p:nvGrpSpPr>
                <p:cNvPr id="17" name="Group 43"/>
                <p:cNvGrpSpPr>
                  <a:grpSpLocks/>
                </p:cNvGrpSpPr>
                <p:nvPr/>
              </p:nvGrpSpPr>
              <p:grpSpPr bwMode="auto">
                <a:xfrm>
                  <a:off x="2896" y="13817"/>
                  <a:ext cx="4005" cy="2003"/>
                  <a:chOff x="2671" y="11170"/>
                  <a:chExt cx="4005" cy="2003"/>
                </a:xfrm>
              </p:grpSpPr>
              <p:sp>
                <p:nvSpPr>
                  <p:cNvPr id="20" name="Text Box 44"/>
                  <p:cNvSpPr txBox="1">
                    <a:spLocks noChangeArrowheads="1"/>
                  </p:cNvSpPr>
                  <p:nvPr/>
                </p:nvSpPr>
                <p:spPr bwMode="auto">
                  <a:xfrm>
                    <a:off x="4531" y="11170"/>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A</a:t>
                    </a:r>
                  </a:p>
                </p:txBody>
              </p:sp>
              <p:grpSp>
                <p:nvGrpSpPr>
                  <p:cNvPr id="21" name="Group 45"/>
                  <p:cNvGrpSpPr>
                    <a:grpSpLocks/>
                  </p:cNvGrpSpPr>
                  <p:nvPr/>
                </p:nvGrpSpPr>
                <p:grpSpPr bwMode="auto">
                  <a:xfrm>
                    <a:off x="2671" y="11953"/>
                    <a:ext cx="1845" cy="1219"/>
                    <a:chOff x="2671" y="11953"/>
                    <a:chExt cx="1845" cy="1219"/>
                  </a:xfrm>
                </p:grpSpPr>
                <p:sp>
                  <p:nvSpPr>
                    <p:cNvPr id="39" name="Text Box 46"/>
                    <p:cNvSpPr txBox="1">
                      <a:spLocks noChangeArrowheads="1"/>
                    </p:cNvSpPr>
                    <p:nvPr/>
                  </p:nvSpPr>
                  <p:spPr bwMode="auto">
                    <a:xfrm>
                      <a:off x="3466" y="11953"/>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B</a:t>
                      </a:r>
                    </a:p>
                  </p:txBody>
                </p:sp>
                <p:grpSp>
                  <p:nvGrpSpPr>
                    <p:cNvPr id="40" name="Group 47"/>
                    <p:cNvGrpSpPr>
                      <a:grpSpLocks/>
                    </p:cNvGrpSpPr>
                    <p:nvPr/>
                  </p:nvGrpSpPr>
                  <p:grpSpPr bwMode="auto">
                    <a:xfrm>
                      <a:off x="2671" y="12542"/>
                      <a:ext cx="1845" cy="630"/>
                      <a:chOff x="2671" y="12542"/>
                      <a:chExt cx="1845" cy="630"/>
                    </a:xfrm>
                  </p:grpSpPr>
                  <p:sp>
                    <p:nvSpPr>
                      <p:cNvPr id="42" name="Text Box 48"/>
                      <p:cNvSpPr txBox="1">
                        <a:spLocks noChangeArrowheads="1"/>
                      </p:cNvSpPr>
                      <p:nvPr/>
                    </p:nvSpPr>
                    <p:spPr bwMode="auto">
                      <a:xfrm>
                        <a:off x="3196" y="12829"/>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E</a:t>
                        </a:r>
                      </a:p>
                    </p:txBody>
                  </p:sp>
                  <p:sp>
                    <p:nvSpPr>
                      <p:cNvPr id="43" name="Text Box 49"/>
                      <p:cNvSpPr txBox="1">
                        <a:spLocks noChangeArrowheads="1"/>
                      </p:cNvSpPr>
                      <p:nvPr/>
                    </p:nvSpPr>
                    <p:spPr bwMode="auto">
                      <a:xfrm>
                        <a:off x="3736"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F</a:t>
                        </a:r>
                      </a:p>
                    </p:txBody>
                  </p:sp>
                  <p:sp>
                    <p:nvSpPr>
                      <p:cNvPr id="44" name="Text Box 50"/>
                      <p:cNvSpPr txBox="1">
                        <a:spLocks noChangeArrowheads="1"/>
                      </p:cNvSpPr>
                      <p:nvPr/>
                    </p:nvSpPr>
                    <p:spPr bwMode="auto">
                      <a:xfrm>
                        <a:off x="4231"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G</a:t>
                        </a:r>
                      </a:p>
                    </p:txBody>
                  </p:sp>
                  <p:sp>
                    <p:nvSpPr>
                      <p:cNvPr id="45" name="Text Box 51"/>
                      <p:cNvSpPr txBox="1">
                        <a:spLocks noChangeArrowheads="1"/>
                      </p:cNvSpPr>
                      <p:nvPr/>
                    </p:nvSpPr>
                    <p:spPr bwMode="auto">
                      <a:xfrm>
                        <a:off x="2671"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D</a:t>
                        </a:r>
                      </a:p>
                    </p:txBody>
                  </p:sp>
                  <p:sp>
                    <p:nvSpPr>
                      <p:cNvPr id="46" name="Line 52"/>
                      <p:cNvSpPr>
                        <a:spLocks noChangeShapeType="1"/>
                      </p:cNvSpPr>
                      <p:nvPr/>
                    </p:nvSpPr>
                    <p:spPr bwMode="auto">
                      <a:xfrm flipV="1">
                        <a:off x="2806" y="12556"/>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 name="Line 53"/>
                      <p:cNvSpPr>
                        <a:spLocks noChangeShapeType="1"/>
                      </p:cNvSpPr>
                      <p:nvPr/>
                    </p:nvSpPr>
                    <p:spPr bwMode="auto">
                      <a:xfrm>
                        <a:off x="2806" y="12556"/>
                        <a:ext cx="159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 name="Line 54"/>
                      <p:cNvSpPr>
                        <a:spLocks noChangeShapeType="1"/>
                      </p:cNvSpPr>
                      <p:nvPr/>
                    </p:nvSpPr>
                    <p:spPr bwMode="auto">
                      <a:xfrm flipV="1">
                        <a:off x="3331" y="12542"/>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9" name="Line 55"/>
                      <p:cNvSpPr>
                        <a:spLocks noChangeShapeType="1"/>
                      </p:cNvSpPr>
                      <p:nvPr/>
                    </p:nvSpPr>
                    <p:spPr bwMode="auto">
                      <a:xfrm flipV="1">
                        <a:off x="3871" y="12556"/>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 name="Line 56"/>
                      <p:cNvSpPr>
                        <a:spLocks noChangeShapeType="1"/>
                      </p:cNvSpPr>
                      <p:nvPr/>
                    </p:nvSpPr>
                    <p:spPr bwMode="auto">
                      <a:xfrm flipV="1">
                        <a:off x="4396" y="12542"/>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1" name="Line 57"/>
                    <p:cNvSpPr>
                      <a:spLocks noChangeShapeType="1"/>
                    </p:cNvSpPr>
                    <p:nvPr/>
                  </p:nvSpPr>
                  <p:spPr bwMode="auto">
                    <a:xfrm flipV="1">
                      <a:off x="3616" y="12282"/>
                      <a:ext cx="0" cy="27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2" name="Group 58"/>
                  <p:cNvGrpSpPr>
                    <a:grpSpLocks/>
                  </p:cNvGrpSpPr>
                  <p:nvPr/>
                </p:nvGrpSpPr>
                <p:grpSpPr bwMode="auto">
                  <a:xfrm>
                    <a:off x="4831" y="11954"/>
                    <a:ext cx="1845" cy="1219"/>
                    <a:chOff x="2671" y="11953"/>
                    <a:chExt cx="1845" cy="1219"/>
                  </a:xfrm>
                </p:grpSpPr>
                <p:sp>
                  <p:nvSpPr>
                    <p:cNvPr id="27" name="Text Box 59"/>
                    <p:cNvSpPr txBox="1">
                      <a:spLocks noChangeArrowheads="1"/>
                    </p:cNvSpPr>
                    <p:nvPr/>
                  </p:nvSpPr>
                  <p:spPr bwMode="auto">
                    <a:xfrm>
                      <a:off x="3466" y="11953"/>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C</a:t>
                      </a:r>
                    </a:p>
                  </p:txBody>
                </p:sp>
                <p:grpSp>
                  <p:nvGrpSpPr>
                    <p:cNvPr id="28" name="Group 60"/>
                    <p:cNvGrpSpPr>
                      <a:grpSpLocks/>
                    </p:cNvGrpSpPr>
                    <p:nvPr/>
                  </p:nvGrpSpPr>
                  <p:grpSpPr bwMode="auto">
                    <a:xfrm>
                      <a:off x="2671" y="12542"/>
                      <a:ext cx="1845" cy="630"/>
                      <a:chOff x="2671" y="12542"/>
                      <a:chExt cx="1845" cy="630"/>
                    </a:xfrm>
                  </p:grpSpPr>
                  <p:sp>
                    <p:nvSpPr>
                      <p:cNvPr id="30" name="Text Box 61"/>
                      <p:cNvSpPr txBox="1">
                        <a:spLocks noChangeArrowheads="1"/>
                      </p:cNvSpPr>
                      <p:nvPr/>
                    </p:nvSpPr>
                    <p:spPr bwMode="auto">
                      <a:xfrm>
                        <a:off x="3196" y="12829"/>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E</a:t>
                        </a:r>
                      </a:p>
                    </p:txBody>
                  </p:sp>
                  <p:sp>
                    <p:nvSpPr>
                      <p:cNvPr id="31" name="Text Box 62"/>
                      <p:cNvSpPr txBox="1">
                        <a:spLocks noChangeArrowheads="1"/>
                      </p:cNvSpPr>
                      <p:nvPr/>
                    </p:nvSpPr>
                    <p:spPr bwMode="auto">
                      <a:xfrm>
                        <a:off x="3736"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F</a:t>
                        </a:r>
                      </a:p>
                    </p:txBody>
                  </p:sp>
                  <p:sp>
                    <p:nvSpPr>
                      <p:cNvPr id="32" name="Text Box 63"/>
                      <p:cNvSpPr txBox="1">
                        <a:spLocks noChangeArrowheads="1"/>
                      </p:cNvSpPr>
                      <p:nvPr/>
                    </p:nvSpPr>
                    <p:spPr bwMode="auto">
                      <a:xfrm>
                        <a:off x="4231"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H</a:t>
                        </a:r>
                      </a:p>
                    </p:txBody>
                  </p:sp>
                  <p:sp>
                    <p:nvSpPr>
                      <p:cNvPr id="33" name="Text Box 64"/>
                      <p:cNvSpPr txBox="1">
                        <a:spLocks noChangeArrowheads="1"/>
                      </p:cNvSpPr>
                      <p:nvPr/>
                    </p:nvSpPr>
                    <p:spPr bwMode="auto">
                      <a:xfrm>
                        <a:off x="2671"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D</a:t>
                        </a:r>
                      </a:p>
                    </p:txBody>
                  </p:sp>
                  <p:sp>
                    <p:nvSpPr>
                      <p:cNvPr id="34" name="Line 65"/>
                      <p:cNvSpPr>
                        <a:spLocks noChangeShapeType="1"/>
                      </p:cNvSpPr>
                      <p:nvPr/>
                    </p:nvSpPr>
                    <p:spPr bwMode="auto">
                      <a:xfrm flipV="1">
                        <a:off x="2806" y="12556"/>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5" name="Line 66"/>
                      <p:cNvSpPr>
                        <a:spLocks noChangeShapeType="1"/>
                      </p:cNvSpPr>
                      <p:nvPr/>
                    </p:nvSpPr>
                    <p:spPr bwMode="auto">
                      <a:xfrm>
                        <a:off x="2806" y="12556"/>
                        <a:ext cx="159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Line 67"/>
                      <p:cNvSpPr>
                        <a:spLocks noChangeShapeType="1"/>
                      </p:cNvSpPr>
                      <p:nvPr/>
                    </p:nvSpPr>
                    <p:spPr bwMode="auto">
                      <a:xfrm flipV="1">
                        <a:off x="3331" y="12542"/>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 name="Line 68"/>
                      <p:cNvSpPr>
                        <a:spLocks noChangeShapeType="1"/>
                      </p:cNvSpPr>
                      <p:nvPr/>
                    </p:nvSpPr>
                    <p:spPr bwMode="auto">
                      <a:xfrm flipV="1">
                        <a:off x="3871" y="12556"/>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Line 69"/>
                      <p:cNvSpPr>
                        <a:spLocks noChangeShapeType="1"/>
                      </p:cNvSpPr>
                      <p:nvPr/>
                    </p:nvSpPr>
                    <p:spPr bwMode="auto">
                      <a:xfrm flipV="1">
                        <a:off x="4396" y="12542"/>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9" name="Line 70"/>
                    <p:cNvSpPr>
                      <a:spLocks noChangeShapeType="1"/>
                    </p:cNvSpPr>
                    <p:nvPr/>
                  </p:nvSpPr>
                  <p:spPr bwMode="auto">
                    <a:xfrm flipV="1">
                      <a:off x="3616" y="12282"/>
                      <a:ext cx="0" cy="27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3" name="Line 71"/>
                  <p:cNvSpPr>
                    <a:spLocks noChangeShapeType="1"/>
                  </p:cNvSpPr>
                  <p:nvPr/>
                </p:nvSpPr>
                <p:spPr bwMode="auto">
                  <a:xfrm flipV="1">
                    <a:off x="3601" y="11730"/>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 name="Line 72"/>
                  <p:cNvSpPr>
                    <a:spLocks noChangeShapeType="1"/>
                  </p:cNvSpPr>
                  <p:nvPr/>
                </p:nvSpPr>
                <p:spPr bwMode="auto">
                  <a:xfrm>
                    <a:off x="3601" y="11730"/>
                    <a:ext cx="21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 name="Line 73"/>
                  <p:cNvSpPr>
                    <a:spLocks noChangeShapeType="1"/>
                  </p:cNvSpPr>
                  <p:nvPr/>
                </p:nvSpPr>
                <p:spPr bwMode="auto">
                  <a:xfrm>
                    <a:off x="5776" y="11730"/>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 name="Line 74"/>
                  <p:cNvSpPr>
                    <a:spLocks noChangeShapeType="1"/>
                  </p:cNvSpPr>
                  <p:nvPr/>
                </p:nvSpPr>
                <p:spPr bwMode="auto">
                  <a:xfrm flipV="1">
                    <a:off x="4681" y="11506"/>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8" name="Text Box 75"/>
                <p:cNvSpPr txBox="1">
                  <a:spLocks noChangeArrowheads="1"/>
                </p:cNvSpPr>
                <p:nvPr/>
              </p:nvSpPr>
              <p:spPr bwMode="auto">
                <a:xfrm>
                  <a:off x="7891" y="14614"/>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B</a:t>
                  </a:r>
                </a:p>
              </p:txBody>
            </p:sp>
            <p:sp>
              <p:nvSpPr>
                <p:cNvPr id="19" name="AutoShape 76"/>
                <p:cNvSpPr>
                  <a:spLocks noChangeArrowheads="1"/>
                </p:cNvSpPr>
                <p:nvPr/>
              </p:nvSpPr>
              <p:spPr bwMode="auto">
                <a:xfrm>
                  <a:off x="6646" y="14580"/>
                  <a:ext cx="855" cy="357"/>
                </a:xfrm>
                <a:prstGeom prst="rightArrow">
                  <a:avLst>
                    <a:gd name="adj1" fmla="val 50000"/>
                    <a:gd name="adj2" fmla="val 59874"/>
                  </a:avLst>
                </a:prstGeom>
                <a:solidFill>
                  <a:srgbClr val="00B0F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grpSp>
        </p:grpSp>
      </p:grpSp>
    </p:spTree>
    <p:extLst>
      <p:ext uri="{BB962C8B-B14F-4D97-AF65-F5344CB8AC3E}">
        <p14:creationId xmlns:p14="http://schemas.microsoft.com/office/powerpoint/2010/main" val="1875518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 calcmode="lin" valueType="num">
                                      <p:cBhvr additive="base">
                                        <p:cTn id="7" dur="500" fill="hold"/>
                                        <p:tgtEl>
                                          <p:spTgt spid="1679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79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7939">
                                            <p:txEl>
                                              <p:pRg st="1" end="1"/>
                                            </p:txEl>
                                          </p:spTgt>
                                        </p:tgtEl>
                                        <p:attrNameLst>
                                          <p:attrName>style.visibility</p:attrName>
                                        </p:attrNameLst>
                                      </p:cBhvr>
                                      <p:to>
                                        <p:strVal val="visible"/>
                                      </p:to>
                                    </p:set>
                                    <p:anim calcmode="lin" valueType="num">
                                      <p:cBhvr additive="base">
                                        <p:cTn id="13" dur="500" fill="hold"/>
                                        <p:tgtEl>
                                          <p:spTgt spid="1679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79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autoUpdateAnimBg="0" advAuto="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9" name="Rectangle 3"/>
          <p:cNvSpPr>
            <a:spLocks noGrp="1" noChangeArrowheads="1"/>
          </p:cNvSpPr>
          <p:nvPr>
            <p:ph type="body" idx="1"/>
          </p:nvPr>
        </p:nvSpPr>
        <p:spPr>
          <a:xfrm>
            <a:off x="381000" y="1447800"/>
            <a:ext cx="8229600" cy="4648200"/>
          </a:xfrm>
        </p:spPr>
        <p:txBody>
          <a:bodyPr/>
          <a:lstStyle/>
          <a:p>
            <a:pPr lvl="1" eaLnBrk="1" hangingPunct="1">
              <a:lnSpc>
                <a:spcPct val="140000"/>
              </a:lnSpc>
              <a:buClr>
                <a:schemeClr val="tx1"/>
              </a:buClr>
              <a:buFont typeface="Marlett" pitchFamily="2" charset="2"/>
              <a:buChar char="2"/>
            </a:pPr>
            <a:r>
              <a:rPr lang="zh-CN" altLang="en-US" b="1" dirty="0" smtClean="0"/>
              <a:t>虚拟件</a:t>
            </a:r>
            <a:r>
              <a:rPr lang="en-US" altLang="zh-CN" b="1" dirty="0" smtClean="0"/>
              <a:t>(Phantom)</a:t>
            </a:r>
          </a:p>
          <a:p>
            <a:pPr lvl="2" eaLnBrk="1" hangingPunct="1">
              <a:lnSpc>
                <a:spcPct val="120000"/>
              </a:lnSpc>
              <a:spcBef>
                <a:spcPct val="50000"/>
              </a:spcBef>
              <a:buClr>
                <a:schemeClr val="tx1"/>
              </a:buClr>
              <a:buFont typeface="Marlett" pitchFamily="2" charset="2"/>
              <a:buChar char="2"/>
            </a:pPr>
            <a:r>
              <a:rPr lang="zh-CN" altLang="en-US" dirty="0" smtClean="0"/>
              <a:t>一种并不存在的物品，图纸上与加工过程都不出现，属于“虚构”的物品。</a:t>
            </a:r>
          </a:p>
          <a:p>
            <a:pPr lvl="2" eaLnBrk="1" hangingPunct="1">
              <a:lnSpc>
                <a:spcPct val="120000"/>
              </a:lnSpc>
              <a:spcBef>
                <a:spcPct val="50000"/>
              </a:spcBef>
              <a:buClr>
                <a:schemeClr val="tx1"/>
              </a:buClr>
              <a:buFont typeface="Marlett" pitchFamily="2" charset="2"/>
              <a:buChar char="2"/>
            </a:pPr>
            <a:r>
              <a:rPr lang="zh-CN" altLang="en-US" b="1" dirty="0" smtClean="0"/>
              <a:t>作用之一</a:t>
            </a:r>
            <a:r>
              <a:rPr lang="zh-CN" altLang="en-US" dirty="0" smtClean="0"/>
              <a:t>：一般性的业务管理使用，其作用是为了达到一定的管理目的，如组合采购、组合存储、组合发料，这样在处理业务时，计算机查询时只需要对虚拟件操作，就可以自动生成实际的业务单据。这种虚拟件甚至也可以查询到它的库存量与金额，但存货核算只针对实际的物料。</a:t>
            </a:r>
          </a:p>
        </p:txBody>
      </p:sp>
      <p:sp>
        <p:nvSpPr>
          <p:cNvPr id="15364"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1561895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 calcmode="lin" valueType="num">
                                      <p:cBhvr additive="base">
                                        <p:cTn id="7" dur="500" fill="hold"/>
                                        <p:tgtEl>
                                          <p:spTgt spid="1679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79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7939">
                                            <p:txEl>
                                              <p:pRg st="1" end="1"/>
                                            </p:txEl>
                                          </p:spTgt>
                                        </p:tgtEl>
                                        <p:attrNameLst>
                                          <p:attrName>style.visibility</p:attrName>
                                        </p:attrNameLst>
                                      </p:cBhvr>
                                      <p:to>
                                        <p:strVal val="visible"/>
                                      </p:to>
                                    </p:set>
                                    <p:anim calcmode="lin" valueType="num">
                                      <p:cBhvr additive="base">
                                        <p:cTn id="13" dur="500" fill="hold"/>
                                        <p:tgtEl>
                                          <p:spTgt spid="1679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79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7939">
                                            <p:txEl>
                                              <p:pRg st="2" end="2"/>
                                            </p:txEl>
                                          </p:spTgt>
                                        </p:tgtEl>
                                        <p:attrNameLst>
                                          <p:attrName>style.visibility</p:attrName>
                                        </p:attrNameLst>
                                      </p:cBhvr>
                                      <p:to>
                                        <p:strVal val="visible"/>
                                      </p:to>
                                    </p:set>
                                    <p:anim calcmode="lin" valueType="num">
                                      <p:cBhvr additive="base">
                                        <p:cTn id="19" dur="500" fill="hold"/>
                                        <p:tgtEl>
                                          <p:spTgt spid="1679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793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autoUpdateAnimBg="0" advAuto="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8963" name="Rectangle 3"/>
          <p:cNvSpPr>
            <a:spLocks noGrp="1" noChangeArrowheads="1"/>
          </p:cNvSpPr>
          <p:nvPr>
            <p:ph type="body" idx="1"/>
          </p:nvPr>
        </p:nvSpPr>
        <p:spPr>
          <a:xfrm>
            <a:off x="457200" y="1447800"/>
            <a:ext cx="8305800" cy="5257800"/>
          </a:xfrm>
        </p:spPr>
        <p:txBody>
          <a:bodyPr/>
          <a:lstStyle/>
          <a:p>
            <a:pPr lvl="2" eaLnBrk="1" hangingPunct="1">
              <a:buClr>
                <a:schemeClr val="tx1"/>
              </a:buClr>
              <a:buFont typeface="Marlett" pitchFamily="2" charset="2"/>
              <a:buChar char="2"/>
            </a:pPr>
            <a:r>
              <a:rPr lang="zh-CN" altLang="en-US" b="1" smtClean="0"/>
              <a:t>简化产品结构管理和计算效率</a:t>
            </a:r>
            <a:r>
              <a:rPr lang="zh-CN" altLang="en-US" smtClean="0"/>
              <a:t>。为了简化对物料清单的管理，在产品结构中虚构一个物品。如上页图所示。如果对</a:t>
            </a:r>
            <a:r>
              <a:rPr lang="en-US" altLang="zh-CN" smtClean="0"/>
              <a:t>A</a:t>
            </a:r>
            <a:r>
              <a:rPr lang="zh-CN" altLang="en-US" smtClean="0"/>
              <a:t>产品</a:t>
            </a:r>
            <a:r>
              <a:rPr lang="en-US" altLang="zh-CN" smtClean="0"/>
              <a:t>BOM</a:t>
            </a:r>
            <a:r>
              <a:rPr lang="zh-CN" altLang="en-US" smtClean="0"/>
              <a:t>的定义采用左图的方式，那么，子件</a:t>
            </a:r>
            <a:r>
              <a:rPr lang="en-US" altLang="zh-CN" smtClean="0"/>
              <a:t>B</a:t>
            </a:r>
            <a:r>
              <a:rPr lang="zh-CN" altLang="en-US" smtClean="0"/>
              <a:t>、</a:t>
            </a:r>
            <a:r>
              <a:rPr lang="en-US" altLang="zh-CN" smtClean="0"/>
              <a:t>C</a:t>
            </a:r>
            <a:r>
              <a:rPr lang="zh-CN" altLang="en-US" smtClean="0"/>
              <a:t>的</a:t>
            </a:r>
            <a:r>
              <a:rPr lang="en-US" altLang="zh-CN" smtClean="0"/>
              <a:t>BOM</a:t>
            </a:r>
            <a:r>
              <a:rPr lang="zh-CN" altLang="en-US" smtClean="0"/>
              <a:t>文件定义过程会重复引用到</a:t>
            </a:r>
            <a:r>
              <a:rPr lang="en-US" altLang="zh-CN" smtClean="0"/>
              <a:t>D</a:t>
            </a:r>
            <a:r>
              <a:rPr lang="zh-CN" altLang="en-US" smtClean="0"/>
              <a:t>、</a:t>
            </a:r>
            <a:r>
              <a:rPr lang="en-US" altLang="zh-CN" smtClean="0"/>
              <a:t>E</a:t>
            </a:r>
            <a:r>
              <a:rPr lang="zh-CN" altLang="en-US" smtClean="0"/>
              <a:t>与</a:t>
            </a:r>
            <a:r>
              <a:rPr lang="en-US" altLang="zh-CN" smtClean="0"/>
              <a:t>F</a:t>
            </a:r>
            <a:r>
              <a:rPr lang="zh-CN" altLang="en-US" smtClean="0"/>
              <a:t>物料，加大工作量，并且数据库的存储空间也会增加。而采用右图的定义方式，增加一个“虚拟件”物料</a:t>
            </a:r>
            <a:r>
              <a:rPr lang="en-US" altLang="zh-CN" smtClean="0"/>
              <a:t>K</a:t>
            </a:r>
            <a:r>
              <a:rPr lang="zh-CN" altLang="en-US" smtClean="0"/>
              <a:t>，并定义</a:t>
            </a:r>
            <a:r>
              <a:rPr lang="en-US" altLang="zh-CN" smtClean="0"/>
              <a:t>K</a:t>
            </a:r>
            <a:r>
              <a:rPr lang="zh-CN" altLang="en-US" smtClean="0"/>
              <a:t>的</a:t>
            </a:r>
            <a:r>
              <a:rPr lang="en-US" altLang="zh-CN" smtClean="0"/>
              <a:t>BOM</a:t>
            </a:r>
            <a:r>
              <a:rPr lang="zh-CN" altLang="en-US" smtClean="0"/>
              <a:t>文件，而</a:t>
            </a:r>
            <a:r>
              <a:rPr lang="en-US" altLang="zh-CN" smtClean="0"/>
              <a:t>B</a:t>
            </a:r>
            <a:r>
              <a:rPr lang="zh-CN" altLang="en-US" smtClean="0"/>
              <a:t>、</a:t>
            </a:r>
            <a:r>
              <a:rPr lang="en-US" altLang="zh-CN" smtClean="0"/>
              <a:t>C</a:t>
            </a:r>
            <a:r>
              <a:rPr lang="zh-CN" altLang="en-US" smtClean="0"/>
              <a:t>的</a:t>
            </a:r>
            <a:r>
              <a:rPr lang="en-US" altLang="zh-CN" smtClean="0"/>
              <a:t>BOM</a:t>
            </a:r>
            <a:r>
              <a:rPr lang="zh-CN" altLang="en-US" smtClean="0"/>
              <a:t>中只需要加入一个子件</a:t>
            </a:r>
            <a:r>
              <a:rPr lang="en-US" altLang="zh-CN" smtClean="0"/>
              <a:t>K</a:t>
            </a:r>
            <a:r>
              <a:rPr lang="zh-CN" altLang="en-US" smtClean="0"/>
              <a:t>，无须重复加入子件</a:t>
            </a:r>
            <a:r>
              <a:rPr lang="en-US" altLang="zh-CN" smtClean="0"/>
              <a:t>D</a:t>
            </a:r>
            <a:r>
              <a:rPr lang="zh-CN" altLang="en-US" smtClean="0"/>
              <a:t>、</a:t>
            </a:r>
            <a:r>
              <a:rPr lang="en-US" altLang="zh-CN" smtClean="0"/>
              <a:t>E</a:t>
            </a:r>
            <a:r>
              <a:rPr lang="zh-CN" altLang="en-US" smtClean="0"/>
              <a:t>与</a:t>
            </a:r>
            <a:r>
              <a:rPr lang="en-US" altLang="zh-CN" smtClean="0"/>
              <a:t>F</a:t>
            </a:r>
            <a:r>
              <a:rPr lang="zh-CN" altLang="en-US" smtClean="0"/>
              <a:t>物料，从而达到简化</a:t>
            </a:r>
            <a:r>
              <a:rPr lang="en-US" altLang="zh-CN" smtClean="0"/>
              <a:t>BOM</a:t>
            </a:r>
            <a:r>
              <a:rPr lang="zh-CN" altLang="en-US" smtClean="0"/>
              <a:t>的目的，特别是在多个</a:t>
            </a:r>
            <a:r>
              <a:rPr lang="en-US" altLang="zh-CN" smtClean="0"/>
              <a:t>BOM</a:t>
            </a:r>
            <a:r>
              <a:rPr lang="zh-CN" altLang="en-US" smtClean="0"/>
              <a:t>中有大量的相同子件重复出现，这种定义方式的优越性就更加明显。另外，如果当虚拟件的子件发生工程改变时，只影响到虚拟件这一层，不会影响此虚拟件以上的所有父项。</a:t>
            </a:r>
          </a:p>
        </p:txBody>
      </p:sp>
      <p:sp>
        <p:nvSpPr>
          <p:cNvPr id="1741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6422021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8963">
                                            <p:txEl>
                                              <p:pRg st="0" end="0"/>
                                            </p:txEl>
                                          </p:spTgt>
                                        </p:tgtEl>
                                        <p:attrNameLst>
                                          <p:attrName>style.visibility</p:attrName>
                                        </p:attrNameLst>
                                      </p:cBhvr>
                                      <p:to>
                                        <p:strVal val="visible"/>
                                      </p:to>
                                    </p:set>
                                    <p:anim calcmode="lin" valueType="num">
                                      <p:cBhvr additive="base">
                                        <p:cTn id="7" dur="500" fill="hold"/>
                                        <p:tgtEl>
                                          <p:spTgt spid="168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896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build="p" autoUpdateAnimBg="0" advAuto="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1" name="Rectangle 3"/>
          <p:cNvSpPr>
            <a:spLocks noGrp="1" noChangeArrowheads="1"/>
          </p:cNvSpPr>
          <p:nvPr>
            <p:ph type="body" idx="1"/>
          </p:nvPr>
        </p:nvSpPr>
        <p:spPr>
          <a:xfrm>
            <a:off x="381000" y="1447800"/>
            <a:ext cx="8229600" cy="5029200"/>
          </a:xfrm>
        </p:spPr>
        <p:txBody>
          <a:bodyPr/>
          <a:lstStyle/>
          <a:p>
            <a:pPr lvl="1" eaLnBrk="1" hangingPunct="1">
              <a:lnSpc>
                <a:spcPct val="140000"/>
              </a:lnSpc>
              <a:buClr>
                <a:schemeClr val="tx1"/>
              </a:buClr>
              <a:buFont typeface="Marlett" pitchFamily="2" charset="2"/>
              <a:buChar char="2"/>
            </a:pPr>
            <a:r>
              <a:rPr lang="zh-CN" altLang="en-US" b="1" smtClean="0"/>
              <a:t>选用件</a:t>
            </a:r>
            <a:r>
              <a:rPr lang="en-US" altLang="zh-CN" b="1" smtClean="0"/>
              <a:t>(Feature/Option)</a:t>
            </a:r>
          </a:p>
          <a:p>
            <a:pPr lvl="2" eaLnBrk="1" hangingPunct="1">
              <a:lnSpc>
                <a:spcPct val="140000"/>
              </a:lnSpc>
              <a:buClr>
                <a:schemeClr val="tx1"/>
              </a:buClr>
              <a:buFont typeface="Marlett" pitchFamily="2" charset="2"/>
              <a:buChar char="2"/>
            </a:pPr>
            <a:r>
              <a:rPr lang="zh-CN" altLang="en-US" smtClean="0"/>
              <a:t>如果组成最终产品的零组件中有一部分会按照客户的需求进行调整，那么，这些零组件被称为选用件。</a:t>
            </a:r>
          </a:p>
          <a:p>
            <a:pPr lvl="2" eaLnBrk="1" hangingPunct="1">
              <a:lnSpc>
                <a:spcPct val="140000"/>
              </a:lnSpc>
              <a:buClr>
                <a:schemeClr val="tx1"/>
              </a:buClr>
              <a:buFont typeface="Marlett" pitchFamily="2" charset="2"/>
              <a:buChar char="2"/>
            </a:pPr>
            <a:r>
              <a:rPr lang="en-US" altLang="zh-CN" smtClean="0"/>
              <a:t>Feature</a:t>
            </a:r>
            <a:r>
              <a:rPr lang="zh-CN" altLang="en-US" smtClean="0"/>
              <a:t>件：零组件是必要的组成部分，必须至少选择其中一个</a:t>
            </a:r>
          </a:p>
          <a:p>
            <a:pPr lvl="2" eaLnBrk="1" hangingPunct="1">
              <a:lnSpc>
                <a:spcPct val="140000"/>
              </a:lnSpc>
              <a:buClr>
                <a:schemeClr val="tx1"/>
              </a:buClr>
              <a:buFont typeface="Marlett" pitchFamily="2" charset="2"/>
              <a:buChar char="2"/>
            </a:pPr>
            <a:r>
              <a:rPr lang="en-US" altLang="zh-CN" smtClean="0"/>
              <a:t>Option</a:t>
            </a:r>
            <a:r>
              <a:rPr lang="zh-CN" altLang="en-US" smtClean="0"/>
              <a:t>件：零组件是非必要的组成部分，既可全选、也可多选、也可不选。</a:t>
            </a:r>
          </a:p>
        </p:txBody>
      </p:sp>
      <p:sp>
        <p:nvSpPr>
          <p:cNvPr id="18436"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1653947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 calcmode="lin" valueType="num">
                                      <p:cBhvr additive="base">
                                        <p:cTn id="7" dur="500" fill="hold"/>
                                        <p:tgtEl>
                                          <p:spTgt spid="1863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63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6371">
                                            <p:txEl>
                                              <p:pRg st="1" end="1"/>
                                            </p:txEl>
                                          </p:spTgt>
                                        </p:tgtEl>
                                        <p:attrNameLst>
                                          <p:attrName>style.visibility</p:attrName>
                                        </p:attrNameLst>
                                      </p:cBhvr>
                                      <p:to>
                                        <p:strVal val="visible"/>
                                      </p:to>
                                    </p:set>
                                    <p:anim calcmode="lin" valueType="num">
                                      <p:cBhvr additive="base">
                                        <p:cTn id="13" dur="500" fill="hold"/>
                                        <p:tgtEl>
                                          <p:spTgt spid="1863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63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6371">
                                            <p:txEl>
                                              <p:pRg st="2" end="2"/>
                                            </p:txEl>
                                          </p:spTgt>
                                        </p:tgtEl>
                                        <p:attrNameLst>
                                          <p:attrName>style.visibility</p:attrName>
                                        </p:attrNameLst>
                                      </p:cBhvr>
                                      <p:to>
                                        <p:strVal val="visible"/>
                                      </p:to>
                                    </p:set>
                                    <p:anim calcmode="lin" valueType="num">
                                      <p:cBhvr additive="base">
                                        <p:cTn id="19" dur="500" fill="hold"/>
                                        <p:tgtEl>
                                          <p:spTgt spid="1863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63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6371">
                                            <p:txEl>
                                              <p:pRg st="3" end="3"/>
                                            </p:txEl>
                                          </p:spTgt>
                                        </p:tgtEl>
                                        <p:attrNameLst>
                                          <p:attrName>style.visibility</p:attrName>
                                        </p:attrNameLst>
                                      </p:cBhvr>
                                      <p:to>
                                        <p:strVal val="visible"/>
                                      </p:to>
                                    </p:set>
                                    <p:anim calcmode="lin" valueType="num">
                                      <p:cBhvr additive="base">
                                        <p:cTn id="25" dur="500" fill="hold"/>
                                        <p:tgtEl>
                                          <p:spTgt spid="1863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637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autoUpdateAnimBg="0" advAuto="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3" name="Rectangle 3"/>
          <p:cNvSpPr>
            <a:spLocks noGrp="1" noChangeArrowheads="1"/>
          </p:cNvSpPr>
          <p:nvPr>
            <p:ph type="body" idx="1"/>
          </p:nvPr>
        </p:nvSpPr>
        <p:spPr>
          <a:xfrm>
            <a:off x="457200" y="1676400"/>
            <a:ext cx="8229600" cy="4800600"/>
          </a:xfrm>
        </p:spPr>
        <p:txBody>
          <a:bodyPr/>
          <a:lstStyle/>
          <a:p>
            <a:pPr lvl="1" eaLnBrk="1" hangingPunct="1">
              <a:lnSpc>
                <a:spcPct val="80000"/>
              </a:lnSpc>
              <a:buClr>
                <a:schemeClr val="tx1"/>
              </a:buClr>
              <a:buFont typeface="Marlett" pitchFamily="2" charset="2"/>
              <a:buChar char="2"/>
            </a:pPr>
            <a:r>
              <a:rPr lang="zh-CN" altLang="en-US" sz="2400" b="1" smtClean="0"/>
              <a:t>物料清单的种类</a:t>
            </a:r>
          </a:p>
          <a:p>
            <a:pPr lvl="2" eaLnBrk="1" hangingPunct="1">
              <a:lnSpc>
                <a:spcPct val="140000"/>
              </a:lnSpc>
              <a:buClr>
                <a:schemeClr val="tx1"/>
              </a:buClr>
              <a:buFont typeface="Marlett" pitchFamily="2" charset="2"/>
              <a:buChar char="2"/>
            </a:pPr>
            <a:r>
              <a:rPr lang="zh-CN" altLang="en-US" sz="2000" b="1" smtClean="0">
                <a:solidFill>
                  <a:srgbClr val="003366"/>
                </a:solidFill>
              </a:rPr>
              <a:t>工程设计</a:t>
            </a:r>
            <a:r>
              <a:rPr lang="en-US" altLang="zh-CN" sz="2000" b="1" smtClean="0">
                <a:solidFill>
                  <a:srgbClr val="003366"/>
                </a:solidFill>
              </a:rPr>
              <a:t>BOM</a:t>
            </a:r>
            <a:r>
              <a:rPr lang="zh-CN" altLang="en-US" sz="2000" smtClean="0"/>
              <a:t>：产品设计人员的设计输出结果，完整描述产品和零组件之间的结构和数量关系。</a:t>
            </a:r>
          </a:p>
          <a:p>
            <a:pPr lvl="2" eaLnBrk="1" hangingPunct="1">
              <a:lnSpc>
                <a:spcPct val="140000"/>
              </a:lnSpc>
              <a:spcBef>
                <a:spcPct val="50000"/>
              </a:spcBef>
              <a:buClr>
                <a:schemeClr val="tx1"/>
              </a:buClr>
              <a:buFont typeface="Marlett" pitchFamily="2" charset="2"/>
              <a:buChar char="2"/>
            </a:pPr>
            <a:r>
              <a:rPr lang="zh-CN" altLang="en-US" sz="2000" b="1" smtClean="0">
                <a:solidFill>
                  <a:srgbClr val="003366"/>
                </a:solidFill>
              </a:rPr>
              <a:t>工艺规划</a:t>
            </a:r>
            <a:r>
              <a:rPr lang="en-US" altLang="zh-CN" sz="2000" b="1" smtClean="0">
                <a:solidFill>
                  <a:srgbClr val="003366"/>
                </a:solidFill>
              </a:rPr>
              <a:t>BOM</a:t>
            </a:r>
            <a:r>
              <a:rPr lang="zh-CN" altLang="en-US" sz="2000" smtClean="0"/>
              <a:t>：综合考虑企业现有生产能力后增加各种工艺参数后形成的工作成果，是实现工程设计</a:t>
            </a:r>
            <a:r>
              <a:rPr lang="en-US" altLang="zh-CN" sz="2000" smtClean="0"/>
              <a:t>BOM</a:t>
            </a:r>
            <a:r>
              <a:rPr lang="zh-CN" altLang="en-US" sz="2000" smtClean="0"/>
              <a:t>的一种可操作的工艺技术文档，增加原辅料、加工方法、加工设备工具、加工顺序，确定物料是自制还是采购。</a:t>
            </a:r>
          </a:p>
          <a:p>
            <a:pPr lvl="2" eaLnBrk="1" hangingPunct="1">
              <a:lnSpc>
                <a:spcPct val="140000"/>
              </a:lnSpc>
              <a:spcBef>
                <a:spcPct val="50000"/>
              </a:spcBef>
              <a:buClr>
                <a:schemeClr val="tx1"/>
              </a:buClr>
              <a:buFont typeface="Marlett" pitchFamily="2" charset="2"/>
              <a:buChar char="2"/>
            </a:pPr>
            <a:r>
              <a:rPr lang="zh-CN" altLang="en-US" sz="2000" b="1" smtClean="0">
                <a:solidFill>
                  <a:srgbClr val="003366"/>
                </a:solidFill>
              </a:rPr>
              <a:t>生产制造</a:t>
            </a:r>
            <a:r>
              <a:rPr lang="en-US" altLang="zh-CN" sz="2000" b="1" smtClean="0">
                <a:solidFill>
                  <a:srgbClr val="003366"/>
                </a:solidFill>
              </a:rPr>
              <a:t>BOM</a:t>
            </a:r>
            <a:r>
              <a:rPr lang="zh-CN" altLang="en-US" sz="2000" smtClean="0"/>
              <a:t>：增加了原辅料的用料定额，确定了物料采购、加工、装配的提前期，可以作为生产制造作业计划的依据。</a:t>
            </a:r>
          </a:p>
        </p:txBody>
      </p:sp>
      <p:sp>
        <p:nvSpPr>
          <p:cNvPr id="19460"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2991180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anim calcmode="lin" valueType="num">
                                      <p:cBhvr additive="base">
                                        <p:cTn id="7" dur="500" fill="hold"/>
                                        <p:tgtEl>
                                          <p:spTgt spid="1843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43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4323">
                                            <p:txEl>
                                              <p:pRg st="1" end="1"/>
                                            </p:txEl>
                                          </p:spTgt>
                                        </p:tgtEl>
                                        <p:attrNameLst>
                                          <p:attrName>style.visibility</p:attrName>
                                        </p:attrNameLst>
                                      </p:cBhvr>
                                      <p:to>
                                        <p:strVal val="visible"/>
                                      </p:to>
                                    </p:set>
                                    <p:anim calcmode="lin" valueType="num">
                                      <p:cBhvr additive="base">
                                        <p:cTn id="13" dur="500" fill="hold"/>
                                        <p:tgtEl>
                                          <p:spTgt spid="1843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43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4323">
                                            <p:txEl>
                                              <p:pRg st="2" end="2"/>
                                            </p:txEl>
                                          </p:spTgt>
                                        </p:tgtEl>
                                        <p:attrNameLst>
                                          <p:attrName>style.visibility</p:attrName>
                                        </p:attrNameLst>
                                      </p:cBhvr>
                                      <p:to>
                                        <p:strVal val="visible"/>
                                      </p:to>
                                    </p:set>
                                    <p:anim calcmode="lin" valueType="num">
                                      <p:cBhvr additive="base">
                                        <p:cTn id="19" dur="500" fill="hold"/>
                                        <p:tgtEl>
                                          <p:spTgt spid="1843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43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4323">
                                            <p:txEl>
                                              <p:pRg st="3" end="3"/>
                                            </p:txEl>
                                          </p:spTgt>
                                        </p:tgtEl>
                                        <p:attrNameLst>
                                          <p:attrName>style.visibility</p:attrName>
                                        </p:attrNameLst>
                                      </p:cBhvr>
                                      <p:to>
                                        <p:strVal val="visible"/>
                                      </p:to>
                                    </p:set>
                                    <p:anim calcmode="lin" valueType="num">
                                      <p:cBhvr additive="base">
                                        <p:cTn id="25" dur="500" fill="hold"/>
                                        <p:tgtEl>
                                          <p:spTgt spid="1843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43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build="p" autoUpdateAnimBg="0" advAuto="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3" name="Rectangle 3"/>
          <p:cNvSpPr>
            <a:spLocks noGrp="1" noChangeArrowheads="1"/>
          </p:cNvSpPr>
          <p:nvPr>
            <p:ph type="body" sz="half" idx="1"/>
          </p:nvPr>
        </p:nvSpPr>
        <p:spPr>
          <a:xfrm>
            <a:off x="457200" y="1676400"/>
            <a:ext cx="8458200" cy="1524000"/>
          </a:xfrm>
        </p:spPr>
        <p:txBody>
          <a:bodyPr/>
          <a:lstStyle/>
          <a:p>
            <a:pPr lvl="1" eaLnBrk="1" hangingPunct="1">
              <a:lnSpc>
                <a:spcPct val="80000"/>
              </a:lnSpc>
              <a:buClr>
                <a:schemeClr val="tx1"/>
              </a:buClr>
              <a:buFont typeface="Marlett" pitchFamily="2" charset="2"/>
              <a:buChar char="2"/>
            </a:pPr>
            <a:r>
              <a:rPr lang="zh-CN" altLang="en-US" b="1" smtClean="0"/>
              <a:t>物料清单的种类</a:t>
            </a:r>
          </a:p>
          <a:p>
            <a:pPr lvl="2" eaLnBrk="1" hangingPunct="1">
              <a:lnSpc>
                <a:spcPct val="140000"/>
              </a:lnSpc>
              <a:buClr>
                <a:schemeClr val="tx1"/>
              </a:buClr>
              <a:buFont typeface="Marlett" pitchFamily="2" charset="2"/>
              <a:buChar char="2"/>
            </a:pPr>
            <a:r>
              <a:rPr lang="zh-CN" altLang="en-US" b="1" smtClean="0">
                <a:solidFill>
                  <a:srgbClr val="003366"/>
                </a:solidFill>
              </a:rPr>
              <a:t>成本</a:t>
            </a:r>
            <a:r>
              <a:rPr lang="en-US" altLang="zh-CN" b="1" smtClean="0">
                <a:solidFill>
                  <a:srgbClr val="003366"/>
                </a:solidFill>
              </a:rPr>
              <a:t>BOM</a:t>
            </a:r>
            <a:r>
              <a:rPr lang="zh-CN" altLang="en-US" smtClean="0"/>
              <a:t>：包含了材料费用、人工费用、制造费用等标准成本数据，可以用来进行成本核算。</a:t>
            </a:r>
          </a:p>
        </p:txBody>
      </p:sp>
      <p:graphicFrame>
        <p:nvGraphicFramePr>
          <p:cNvPr id="200251" name="Group 571"/>
          <p:cNvGraphicFramePr>
            <a:graphicFrameLocks noGrp="1"/>
          </p:cNvGraphicFramePr>
          <p:nvPr>
            <p:ph sz="half" idx="2"/>
          </p:nvPr>
        </p:nvGraphicFramePr>
        <p:xfrm>
          <a:off x="762000" y="3594100"/>
          <a:ext cx="7735888" cy="2722562"/>
        </p:xfrm>
        <a:graphic>
          <a:graphicData uri="http://schemas.openxmlformats.org/drawingml/2006/table">
            <a:tbl>
              <a:tblPr/>
              <a:tblGrid>
                <a:gridCol w="704850">
                  <a:extLst>
                    <a:ext uri="{9D8B030D-6E8A-4147-A177-3AD203B41FA5}">
                      <a16:colId xmlns:a16="http://schemas.microsoft.com/office/drawing/2014/main" val="20000"/>
                    </a:ext>
                  </a:extLst>
                </a:gridCol>
                <a:gridCol w="750888">
                  <a:extLst>
                    <a:ext uri="{9D8B030D-6E8A-4147-A177-3AD203B41FA5}">
                      <a16:colId xmlns:a16="http://schemas.microsoft.com/office/drawing/2014/main" val="20001"/>
                    </a:ext>
                  </a:extLst>
                </a:gridCol>
                <a:gridCol w="774700">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gridCol w="774700">
                  <a:extLst>
                    <a:ext uri="{9D8B030D-6E8A-4147-A177-3AD203B41FA5}">
                      <a16:colId xmlns:a16="http://schemas.microsoft.com/office/drawing/2014/main" val="20004"/>
                    </a:ext>
                  </a:extLst>
                </a:gridCol>
                <a:gridCol w="704850">
                  <a:extLst>
                    <a:ext uri="{9D8B030D-6E8A-4147-A177-3AD203B41FA5}">
                      <a16:colId xmlns:a16="http://schemas.microsoft.com/office/drawing/2014/main" val="20005"/>
                    </a:ext>
                  </a:extLst>
                </a:gridCol>
                <a:gridCol w="822325">
                  <a:extLst>
                    <a:ext uri="{9D8B030D-6E8A-4147-A177-3AD203B41FA5}">
                      <a16:colId xmlns:a16="http://schemas.microsoft.com/office/drawing/2014/main" val="20006"/>
                    </a:ext>
                  </a:extLst>
                </a:gridCol>
                <a:gridCol w="825500">
                  <a:extLst>
                    <a:ext uri="{9D8B030D-6E8A-4147-A177-3AD203B41FA5}">
                      <a16:colId xmlns:a16="http://schemas.microsoft.com/office/drawing/2014/main" val="20007"/>
                    </a:ext>
                  </a:extLst>
                </a:gridCol>
                <a:gridCol w="774700">
                  <a:extLst>
                    <a:ext uri="{9D8B030D-6E8A-4147-A177-3AD203B41FA5}">
                      <a16:colId xmlns:a16="http://schemas.microsoft.com/office/drawing/2014/main" val="20008"/>
                    </a:ext>
                  </a:extLst>
                </a:gridCol>
                <a:gridCol w="777875">
                  <a:extLst>
                    <a:ext uri="{9D8B030D-6E8A-4147-A177-3AD203B41FA5}">
                      <a16:colId xmlns:a16="http://schemas.microsoft.com/office/drawing/2014/main" val="20009"/>
                    </a:ext>
                  </a:extLst>
                </a:gridCol>
              </a:tblGrid>
              <a:tr h="520312">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层次</a:t>
                      </a:r>
                      <a:endParaRPr kumimoji="0" lang="zh-CN" altLang="en-US"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母件</a:t>
                      </a:r>
                      <a:endParaRPr kumimoji="0" lang="en-US" altLang="zh-CN" sz="1400" b="1" i="0" u="none" strike="noStrike" cap="none" normalizeH="0" baseline="0" dirty="0" smtClean="0">
                        <a:ln>
                          <a:noFill/>
                        </a:ln>
                        <a:solidFill>
                          <a:srgbClr val="000000"/>
                        </a:solidFill>
                        <a:effectLst/>
                        <a:latin typeface="Times New Roman" pitchFamily="18" charset="0"/>
                        <a:ea typeface="宋体"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代码</a:t>
                      </a:r>
                      <a:endParaRPr kumimoji="0" lang="zh-CN" altLang="en-US"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子件</a:t>
                      </a:r>
                      <a:endParaRPr kumimoji="0" lang="zh-CN" altLang="en-US"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子件</a:t>
                      </a:r>
                      <a:endParaRPr kumimoji="0" lang="en-US" altLang="zh-CN" sz="1400" b="1" i="0" u="none" strike="noStrike" cap="none" normalizeH="0" baseline="0" dirty="0" smtClean="0">
                        <a:ln>
                          <a:noFill/>
                        </a:ln>
                        <a:solidFill>
                          <a:srgbClr val="000000"/>
                        </a:solidFill>
                        <a:effectLst/>
                        <a:latin typeface="Times New Roman" pitchFamily="18" charset="0"/>
                        <a:ea typeface="宋体"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名称</a:t>
                      </a:r>
                      <a:endParaRPr kumimoji="0" lang="zh-CN" altLang="en-US"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计量</a:t>
                      </a:r>
                      <a:endParaRPr kumimoji="0" lang="en-US" altLang="zh-CN" sz="1400" b="1" i="0" u="none" strike="noStrike" cap="none" normalizeH="0" baseline="0" dirty="0" smtClean="0">
                        <a:ln>
                          <a:noFill/>
                        </a:ln>
                        <a:solidFill>
                          <a:srgbClr val="000000"/>
                        </a:solidFill>
                        <a:effectLst/>
                        <a:latin typeface="Times New Roman" pitchFamily="18" charset="0"/>
                        <a:ea typeface="宋体"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单位</a:t>
                      </a:r>
                      <a:endParaRPr kumimoji="0" lang="zh-CN" altLang="en-US"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rgbClr val="000000"/>
                          </a:solidFill>
                          <a:effectLst/>
                          <a:latin typeface="Times New Roman" pitchFamily="18" charset="0"/>
                          <a:ea typeface="宋体" pitchFamily="2" charset="-122"/>
                        </a:rPr>
                        <a:t>数量</a:t>
                      </a:r>
                      <a:endParaRPr kumimoji="0" lang="zh-CN" altLang="en-US" sz="24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rgbClr val="000000"/>
                          </a:solidFill>
                          <a:effectLst/>
                          <a:latin typeface="Times New Roman" pitchFamily="18" charset="0"/>
                          <a:ea typeface="宋体" pitchFamily="2" charset="-122"/>
                        </a:rPr>
                        <a:t>材料费</a:t>
                      </a:r>
                      <a:endParaRPr kumimoji="0" lang="zh-CN" altLang="en-US" sz="24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rgbClr val="000000"/>
                          </a:solidFill>
                          <a:effectLst/>
                          <a:latin typeface="Times New Roman" pitchFamily="18" charset="0"/>
                          <a:ea typeface="宋体" pitchFamily="2" charset="-122"/>
                        </a:rPr>
                        <a:t>人工费</a:t>
                      </a:r>
                      <a:endParaRPr kumimoji="0" lang="zh-CN" altLang="en-US" sz="24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间接</a:t>
                      </a:r>
                      <a:endParaRPr kumimoji="0" lang="en-US" altLang="zh-CN" sz="1400" b="1" i="0" u="none" strike="noStrike" cap="none" normalizeH="0" baseline="0" dirty="0" smtClean="0">
                        <a:ln>
                          <a:noFill/>
                        </a:ln>
                        <a:solidFill>
                          <a:srgbClr val="000000"/>
                        </a:solidFill>
                        <a:effectLst/>
                        <a:latin typeface="Times New Roman" pitchFamily="18" charset="0"/>
                        <a:ea typeface="宋体"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费用</a:t>
                      </a:r>
                      <a:endParaRPr kumimoji="0" lang="zh-CN" altLang="en-US"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Times New Roman" pitchFamily="18" charset="0"/>
                          <a:ea typeface="宋体" pitchFamily="2" charset="-122"/>
                        </a:rPr>
                        <a:t>合计</a:t>
                      </a:r>
                      <a:endParaRPr kumimoji="0" lang="zh-CN" altLang="en-US"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6952">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smtClean="0">
                          <a:ln>
                            <a:noFill/>
                          </a:ln>
                          <a:solidFill>
                            <a:srgbClr val="000000"/>
                          </a:solidFill>
                          <a:effectLst/>
                          <a:latin typeface="Times New Roman" pitchFamily="18" charset="0"/>
                          <a:ea typeface="宋体" pitchFamily="2" charset="-122"/>
                          <a:cs typeface="+mn-cs"/>
                        </a:rPr>
                        <a:t>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2"/>
                        </a:buClr>
                        <a:buSzPct val="75000"/>
                        <a:buFont typeface="Wingdings" pitchFamily="2" charset="2"/>
                        <a:buNone/>
                        <a:tabLst/>
                      </a:pPr>
                      <a:endParaRPr kumimoji="0" lang="zh-CN" altLang="zh-CN" sz="1400" b="0" i="0" u="none" strike="noStrike" kern="1200" cap="none" normalizeH="0" baseline="0" dirty="0" smtClean="0">
                        <a:ln>
                          <a:noFill/>
                        </a:ln>
                        <a:solidFill>
                          <a:srgbClr val="000000"/>
                        </a:solidFill>
                        <a:effectLst/>
                        <a:latin typeface="Times New Roman" pitchFamily="18" charset="0"/>
                        <a:ea typeface="宋体" pitchFamily="2" charset="-122"/>
                        <a:cs typeface="+mn-cs"/>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smtClean="0">
                          <a:ln>
                            <a:noFill/>
                          </a:ln>
                          <a:solidFill>
                            <a:srgbClr val="000000"/>
                          </a:solidFill>
                          <a:effectLst/>
                          <a:latin typeface="Times New Roman" pitchFamily="18" charset="0"/>
                          <a:ea typeface="宋体" pitchFamily="2" charset="-122"/>
                          <a:cs typeface="+mn-cs"/>
                        </a:rPr>
                        <a:t>P01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zh-CN" altLang="en-US" sz="1400" b="0" i="0" u="none" strike="noStrike" kern="1200" cap="none" normalizeH="0" baseline="0" dirty="0" smtClean="0">
                          <a:ln>
                            <a:noFill/>
                          </a:ln>
                          <a:solidFill>
                            <a:srgbClr val="000000"/>
                          </a:solidFill>
                          <a:effectLst/>
                          <a:latin typeface="Times New Roman" pitchFamily="18" charset="0"/>
                          <a:ea typeface="宋体" pitchFamily="2" charset="-122"/>
                          <a:cs typeface="+mn-cs"/>
                        </a:rPr>
                        <a:t>圆珠笔</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zh-CN" altLang="en-US" sz="1400" b="0" i="0" u="none" strike="noStrike" kern="1200" cap="none" normalizeH="0" baseline="0" dirty="0" smtClean="0">
                          <a:ln>
                            <a:noFill/>
                          </a:ln>
                          <a:solidFill>
                            <a:srgbClr val="000000"/>
                          </a:solidFill>
                          <a:effectLst/>
                          <a:latin typeface="Times New Roman" pitchFamily="18" charset="0"/>
                          <a:ea typeface="宋体" pitchFamily="2" charset="-122"/>
                          <a:cs typeface="+mn-cs"/>
                        </a:rPr>
                        <a:t>支</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smtClean="0">
                          <a:ln>
                            <a:noFill/>
                          </a:ln>
                          <a:solidFill>
                            <a:srgbClr val="000000"/>
                          </a:solidFill>
                          <a:effectLst/>
                          <a:latin typeface="Times New Roman" pitchFamily="18" charset="0"/>
                          <a:ea typeface="宋体" pitchFamily="2" charset="-122"/>
                          <a:cs typeface="+mn-cs"/>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smtClean="0">
                          <a:ln>
                            <a:noFill/>
                          </a:ln>
                          <a:solidFill>
                            <a:srgbClr val="000000"/>
                          </a:solidFill>
                          <a:effectLst/>
                          <a:latin typeface="Times New Roman" pitchFamily="18" charset="0"/>
                          <a:ea typeface="宋体" pitchFamily="2" charset="-122"/>
                          <a:cs typeface="+mn-cs"/>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smtClean="0">
                          <a:ln>
                            <a:noFill/>
                          </a:ln>
                          <a:solidFill>
                            <a:srgbClr val="000000"/>
                          </a:solidFill>
                          <a:effectLst/>
                          <a:latin typeface="Times New Roman" pitchFamily="18" charset="0"/>
                          <a:ea typeface="宋体" pitchFamily="2" charset="-122"/>
                          <a:cs typeface="+mn-cs"/>
                        </a:rPr>
                        <a:t>0.05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smtClean="0">
                          <a:ln>
                            <a:noFill/>
                          </a:ln>
                          <a:solidFill>
                            <a:srgbClr val="000000"/>
                          </a:solidFill>
                          <a:effectLst/>
                          <a:latin typeface="Times New Roman" pitchFamily="18" charset="0"/>
                          <a:ea typeface="宋体" pitchFamily="2" charset="-122"/>
                          <a:cs typeface="+mn-cs"/>
                        </a:rPr>
                        <a:t>0.01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smtClean="0">
                          <a:ln>
                            <a:noFill/>
                          </a:ln>
                          <a:solidFill>
                            <a:srgbClr val="000000"/>
                          </a:solidFill>
                          <a:effectLst/>
                          <a:latin typeface="Times New Roman" pitchFamily="18" charset="0"/>
                          <a:ea typeface="宋体" pitchFamily="2" charset="-122"/>
                          <a:cs typeface="+mn-cs"/>
                        </a:rPr>
                        <a:t>0.06</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P01</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M01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rgbClr val="000000"/>
                          </a:solidFill>
                          <a:effectLst/>
                          <a:latin typeface="Times New Roman" pitchFamily="18" charset="0"/>
                          <a:ea typeface="宋体" pitchFamily="2" charset="-122"/>
                        </a:rPr>
                        <a:t>笔帽</a:t>
                      </a:r>
                      <a:endParaRPr kumimoji="0" lang="zh-CN" altLang="en-US"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rgbClr val="000000"/>
                          </a:solidFill>
                          <a:effectLst/>
                          <a:latin typeface="Times New Roman" pitchFamily="18" charset="0"/>
                          <a:ea typeface="宋体" pitchFamily="2" charset="-122"/>
                        </a:rPr>
                        <a:t>个</a:t>
                      </a:r>
                      <a:endParaRPr kumimoji="0" lang="zh-CN" altLang="en-US"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0.02</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0.03</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P01</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T01</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000000"/>
                          </a:solidFill>
                          <a:effectLst/>
                          <a:latin typeface="Times New Roman" pitchFamily="18" charset="0"/>
                          <a:ea typeface="宋体" pitchFamily="2" charset="-122"/>
                        </a:rPr>
                        <a:t>笔套</a:t>
                      </a:r>
                      <a:endParaRPr kumimoji="0" lang="zh-CN" altLang="en-US"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000000"/>
                          </a:solidFill>
                          <a:effectLst/>
                          <a:latin typeface="Times New Roman" pitchFamily="18" charset="0"/>
                          <a:ea typeface="宋体" pitchFamily="2" charset="-122"/>
                        </a:rPr>
                        <a:t>个</a:t>
                      </a:r>
                      <a:endParaRPr kumimoji="0" lang="zh-CN" altLang="en-US"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0.05</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0.06</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P01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X01</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000000"/>
                          </a:solidFill>
                          <a:effectLst/>
                          <a:latin typeface="Times New Roman" pitchFamily="18" charset="0"/>
                          <a:ea typeface="宋体" pitchFamily="2" charset="-122"/>
                        </a:rPr>
                        <a:t>笔芯</a:t>
                      </a:r>
                      <a:endParaRPr kumimoji="0" lang="zh-CN" altLang="en-US"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000000"/>
                          </a:solidFill>
                          <a:effectLst/>
                          <a:latin typeface="Times New Roman" pitchFamily="18" charset="0"/>
                          <a:ea typeface="宋体" pitchFamily="2" charset="-122"/>
                        </a:rPr>
                        <a:t>支</a:t>
                      </a:r>
                      <a:endParaRPr kumimoji="0" lang="zh-CN" altLang="en-US"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0.02</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0.03</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2</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X01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XY02</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rgbClr val="000000"/>
                          </a:solidFill>
                          <a:effectLst/>
                          <a:latin typeface="Times New Roman" pitchFamily="18" charset="0"/>
                          <a:ea typeface="宋体" pitchFamily="2" charset="-122"/>
                        </a:rPr>
                        <a:t>笔芯油</a:t>
                      </a:r>
                      <a:endParaRPr kumimoji="0" lang="zh-CN" altLang="en-US"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rgbClr val="000000"/>
                          </a:solidFill>
                          <a:effectLst/>
                          <a:latin typeface="Times New Roman" pitchFamily="18" charset="0"/>
                          <a:ea typeface="宋体" pitchFamily="2" charset="-122"/>
                        </a:rPr>
                        <a:t>毫升</a:t>
                      </a:r>
                      <a:endParaRPr kumimoji="0" lang="zh-CN" altLang="en-US"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0.02</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0.03</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2</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X01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XT03</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000000"/>
                          </a:solidFill>
                          <a:effectLst/>
                          <a:latin typeface="Times New Roman" pitchFamily="18" charset="0"/>
                          <a:ea typeface="宋体" pitchFamily="2" charset="-122"/>
                        </a:rPr>
                        <a:t>笔芯头</a:t>
                      </a:r>
                      <a:endParaRPr kumimoji="0" lang="zh-CN" altLang="en-US"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000000"/>
                          </a:solidFill>
                          <a:effectLst/>
                          <a:latin typeface="Times New Roman" pitchFamily="18" charset="0"/>
                          <a:ea typeface="宋体" pitchFamily="2" charset="-122"/>
                        </a:rPr>
                        <a:t>个</a:t>
                      </a:r>
                      <a:endParaRPr kumimoji="0" lang="zh-CN" altLang="en-US"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0.05</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0.06</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2</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X01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XG04</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000000"/>
                          </a:solidFill>
                          <a:effectLst/>
                          <a:latin typeface="Times New Roman" pitchFamily="18" charset="0"/>
                          <a:ea typeface="宋体" pitchFamily="2" charset="-122"/>
                        </a:rPr>
                        <a:t>笔芯杆</a:t>
                      </a:r>
                      <a:endParaRPr kumimoji="0" lang="zh-CN" altLang="en-US"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000000"/>
                          </a:solidFill>
                          <a:effectLst/>
                          <a:latin typeface="Times New Roman" pitchFamily="18" charset="0"/>
                          <a:ea typeface="宋体" pitchFamily="2" charset="-122"/>
                        </a:rPr>
                        <a:t>个</a:t>
                      </a:r>
                      <a:endParaRPr kumimoji="0" lang="zh-CN" altLang="en-US"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rPr>
                        <a:t>0.02</a:t>
                      </a:r>
                      <a:endParaRPr kumimoji="0"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rPr>
                        <a:t>0.03</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0585"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7"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7003200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9683">
                                            <p:txEl>
                                              <p:pRg st="1" end="1"/>
                                            </p:txEl>
                                          </p:spTgt>
                                        </p:tgtEl>
                                        <p:attrNameLst>
                                          <p:attrName>style.visibility</p:attrName>
                                        </p:attrNameLst>
                                      </p:cBhvr>
                                      <p:to>
                                        <p:strVal val="visible"/>
                                      </p:to>
                                    </p:set>
                                    <p:anim calcmode="lin" valueType="num">
                                      <p:cBhvr additive="base">
                                        <p:cTn id="7" dur="500" fill="hold"/>
                                        <p:tgtEl>
                                          <p:spTgt spid="19968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96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002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autoUpdateAnimBg="0" advAuto="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7395" name="Rectangle 3"/>
          <p:cNvSpPr>
            <a:spLocks noGrp="1" noChangeArrowheads="1"/>
          </p:cNvSpPr>
          <p:nvPr>
            <p:ph type="body" idx="1"/>
          </p:nvPr>
        </p:nvSpPr>
        <p:spPr>
          <a:xfrm>
            <a:off x="457200" y="1676400"/>
            <a:ext cx="8229600" cy="4953000"/>
          </a:xfrm>
        </p:spPr>
        <p:txBody>
          <a:bodyPr/>
          <a:lstStyle/>
          <a:p>
            <a:pPr lvl="1" eaLnBrk="1" hangingPunct="1">
              <a:buClr>
                <a:schemeClr val="tx1"/>
              </a:buClr>
              <a:buFont typeface="Marlett" pitchFamily="2" charset="2"/>
              <a:buChar char="2"/>
            </a:pPr>
            <a:r>
              <a:rPr lang="zh-CN" altLang="en-US" b="1" smtClean="0"/>
              <a:t>物料清单的输出格式</a:t>
            </a:r>
          </a:p>
          <a:p>
            <a:pPr lvl="2" eaLnBrk="1" hangingPunct="1">
              <a:lnSpc>
                <a:spcPct val="140000"/>
              </a:lnSpc>
              <a:buClr>
                <a:schemeClr val="tx1"/>
              </a:buClr>
              <a:buFont typeface="Marlett" pitchFamily="2" charset="2"/>
              <a:buChar char="2"/>
            </a:pPr>
            <a:r>
              <a:rPr lang="en-US" altLang="zh-CN" smtClean="0"/>
              <a:t>BOM</a:t>
            </a:r>
            <a:r>
              <a:rPr lang="zh-CN" altLang="en-US" smtClean="0"/>
              <a:t>可以用于多个不同的部门，也可以用于多个不同的工作环境。</a:t>
            </a:r>
          </a:p>
          <a:p>
            <a:pPr lvl="2" eaLnBrk="1" hangingPunct="1">
              <a:lnSpc>
                <a:spcPct val="140000"/>
              </a:lnSpc>
              <a:buClr>
                <a:schemeClr val="tx1"/>
              </a:buClr>
              <a:buFont typeface="Marlett" pitchFamily="2" charset="2"/>
              <a:buChar char="2"/>
            </a:pPr>
            <a:r>
              <a:rPr lang="zh-CN" altLang="en-US" smtClean="0"/>
              <a:t>既可以采取自顶向下的分解形式提供信息</a:t>
            </a:r>
          </a:p>
          <a:p>
            <a:pPr lvl="3" eaLnBrk="1" hangingPunct="1">
              <a:lnSpc>
                <a:spcPct val="140000"/>
              </a:lnSpc>
              <a:buClr>
                <a:schemeClr val="tx1"/>
              </a:buClr>
              <a:buFont typeface="Marlett" pitchFamily="2" charset="2"/>
              <a:buChar char="2"/>
            </a:pPr>
            <a:r>
              <a:rPr lang="zh-CN" altLang="en-US" smtClean="0"/>
              <a:t>将最终产品的需求分解成零部件需求</a:t>
            </a:r>
          </a:p>
          <a:p>
            <a:pPr lvl="2" eaLnBrk="1" hangingPunct="1">
              <a:lnSpc>
                <a:spcPct val="140000"/>
              </a:lnSpc>
              <a:buClr>
                <a:schemeClr val="tx1"/>
              </a:buClr>
              <a:buFont typeface="Marlett" pitchFamily="2" charset="2"/>
              <a:buChar char="2"/>
            </a:pPr>
            <a:r>
              <a:rPr lang="zh-CN" altLang="en-US" smtClean="0"/>
              <a:t>也可以采取自底向上的跟踪形式提供信息。</a:t>
            </a:r>
          </a:p>
          <a:p>
            <a:pPr lvl="3" eaLnBrk="1" hangingPunct="1">
              <a:lnSpc>
                <a:spcPct val="140000"/>
              </a:lnSpc>
              <a:buClr>
                <a:schemeClr val="tx1"/>
              </a:buClr>
              <a:buFont typeface="Marlett" pitchFamily="2" charset="2"/>
              <a:buChar char="2"/>
            </a:pPr>
            <a:r>
              <a:rPr lang="zh-CN" altLang="en-US" smtClean="0"/>
              <a:t>下层零部件计划有问题，则可以跟踪确定生成这一计划的上层物料。</a:t>
            </a:r>
          </a:p>
          <a:p>
            <a:pPr lvl="2" eaLnBrk="1" hangingPunct="1">
              <a:lnSpc>
                <a:spcPct val="140000"/>
              </a:lnSpc>
              <a:buClr>
                <a:schemeClr val="tx1"/>
              </a:buClr>
              <a:buFont typeface="Marlett" pitchFamily="2" charset="2"/>
              <a:buChar char="2"/>
            </a:pPr>
            <a:r>
              <a:rPr lang="zh-CN" altLang="en-US" b="1" smtClean="0">
                <a:solidFill>
                  <a:srgbClr val="003366"/>
                </a:solidFill>
              </a:rPr>
              <a:t>两种类型</a:t>
            </a:r>
            <a:r>
              <a:rPr lang="zh-CN" altLang="en-US" smtClean="0"/>
              <a:t>：物料用量清单、物料用途清单。</a:t>
            </a:r>
          </a:p>
        </p:txBody>
      </p:sp>
      <p:sp>
        <p:nvSpPr>
          <p:cNvPr id="21508"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5492711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7395">
                                            <p:txEl>
                                              <p:pRg st="1" end="1"/>
                                            </p:txEl>
                                          </p:spTgt>
                                        </p:tgtEl>
                                        <p:attrNameLst>
                                          <p:attrName>style.visibility</p:attrName>
                                        </p:attrNameLst>
                                      </p:cBhvr>
                                      <p:to>
                                        <p:strVal val="visible"/>
                                      </p:to>
                                    </p:set>
                                    <p:anim calcmode="lin" valueType="num">
                                      <p:cBhvr additive="base">
                                        <p:cTn id="7" dur="500" fill="hold"/>
                                        <p:tgtEl>
                                          <p:spTgt spid="18739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73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7395">
                                            <p:txEl>
                                              <p:pRg st="2" end="2"/>
                                            </p:txEl>
                                          </p:spTgt>
                                        </p:tgtEl>
                                        <p:attrNameLst>
                                          <p:attrName>style.visibility</p:attrName>
                                        </p:attrNameLst>
                                      </p:cBhvr>
                                      <p:to>
                                        <p:strVal val="visible"/>
                                      </p:to>
                                    </p:set>
                                    <p:anim calcmode="lin" valueType="num">
                                      <p:cBhvr additive="base">
                                        <p:cTn id="13" dur="500" fill="hold"/>
                                        <p:tgtEl>
                                          <p:spTgt spid="18739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73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7395">
                                            <p:txEl>
                                              <p:pRg st="3" end="3"/>
                                            </p:txEl>
                                          </p:spTgt>
                                        </p:tgtEl>
                                        <p:attrNameLst>
                                          <p:attrName>style.visibility</p:attrName>
                                        </p:attrNameLst>
                                      </p:cBhvr>
                                      <p:to>
                                        <p:strVal val="visible"/>
                                      </p:to>
                                    </p:set>
                                    <p:anim calcmode="lin" valueType="num">
                                      <p:cBhvr additive="base">
                                        <p:cTn id="19" dur="500" fill="hold"/>
                                        <p:tgtEl>
                                          <p:spTgt spid="18739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73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7395">
                                            <p:txEl>
                                              <p:pRg st="4" end="4"/>
                                            </p:txEl>
                                          </p:spTgt>
                                        </p:tgtEl>
                                        <p:attrNameLst>
                                          <p:attrName>style.visibility</p:attrName>
                                        </p:attrNameLst>
                                      </p:cBhvr>
                                      <p:to>
                                        <p:strVal val="visible"/>
                                      </p:to>
                                    </p:set>
                                    <p:anim calcmode="lin" valueType="num">
                                      <p:cBhvr additive="base">
                                        <p:cTn id="25" dur="500" fill="hold"/>
                                        <p:tgtEl>
                                          <p:spTgt spid="18739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73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7395">
                                            <p:txEl>
                                              <p:pRg st="5" end="5"/>
                                            </p:txEl>
                                          </p:spTgt>
                                        </p:tgtEl>
                                        <p:attrNameLst>
                                          <p:attrName>style.visibility</p:attrName>
                                        </p:attrNameLst>
                                      </p:cBhvr>
                                      <p:to>
                                        <p:strVal val="visible"/>
                                      </p:to>
                                    </p:set>
                                    <p:anim calcmode="lin" valueType="num">
                                      <p:cBhvr additive="base">
                                        <p:cTn id="31" dur="500" fill="hold"/>
                                        <p:tgtEl>
                                          <p:spTgt spid="18739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739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7395">
                                            <p:txEl>
                                              <p:pRg st="6" end="6"/>
                                            </p:txEl>
                                          </p:spTgt>
                                        </p:tgtEl>
                                        <p:attrNameLst>
                                          <p:attrName>style.visibility</p:attrName>
                                        </p:attrNameLst>
                                      </p:cBhvr>
                                      <p:to>
                                        <p:strVal val="visible"/>
                                      </p:to>
                                    </p:set>
                                    <p:anim calcmode="lin" valueType="num">
                                      <p:cBhvr additive="base">
                                        <p:cTn id="37" dur="500" fill="hold"/>
                                        <p:tgtEl>
                                          <p:spTgt spid="187395">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739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build="p" autoUpdateAnimBg="0"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5" name="Rectangle 3"/>
          <p:cNvSpPr>
            <a:spLocks noGrp="1" noChangeArrowheads="1"/>
          </p:cNvSpPr>
          <p:nvPr>
            <p:ph type="body" idx="1"/>
          </p:nvPr>
        </p:nvSpPr>
        <p:spPr>
          <a:xfrm>
            <a:off x="457200" y="1676400"/>
            <a:ext cx="8229600" cy="4953000"/>
          </a:xfrm>
        </p:spPr>
        <p:txBody>
          <a:bodyPr/>
          <a:lstStyle/>
          <a:p>
            <a:pPr lvl="1" eaLnBrk="1" hangingPunct="1">
              <a:buClr>
                <a:schemeClr val="tx1"/>
              </a:buClr>
              <a:buFont typeface="Marlett" pitchFamily="2" charset="2"/>
              <a:buChar char="2"/>
            </a:pPr>
            <a:r>
              <a:rPr lang="zh-CN" altLang="en-US" b="1" smtClean="0"/>
              <a:t>物料清单的输出格式</a:t>
            </a:r>
          </a:p>
          <a:p>
            <a:pPr lvl="2" eaLnBrk="1" hangingPunct="1">
              <a:lnSpc>
                <a:spcPct val="140000"/>
              </a:lnSpc>
              <a:buClr>
                <a:schemeClr val="tx1"/>
              </a:buClr>
              <a:buFont typeface="Marlett" pitchFamily="2" charset="2"/>
              <a:buChar char="2"/>
            </a:pPr>
            <a:r>
              <a:rPr lang="zh-CN" altLang="en-US" smtClean="0"/>
              <a:t>物料用量清单</a:t>
            </a:r>
          </a:p>
          <a:p>
            <a:pPr lvl="3" eaLnBrk="1" hangingPunct="1">
              <a:lnSpc>
                <a:spcPct val="140000"/>
              </a:lnSpc>
              <a:buClr>
                <a:schemeClr val="tx1"/>
              </a:buClr>
              <a:buFont typeface="Marlett" pitchFamily="2" charset="2"/>
              <a:buChar char="2"/>
            </a:pPr>
            <a:r>
              <a:rPr lang="zh-CN" altLang="en-US" smtClean="0"/>
              <a:t>单阶</a:t>
            </a:r>
            <a:r>
              <a:rPr lang="en-US" altLang="zh-CN" smtClean="0"/>
              <a:t>BOM</a:t>
            </a:r>
            <a:r>
              <a:rPr lang="zh-CN" altLang="en-US" smtClean="0"/>
              <a:t>展开</a:t>
            </a:r>
          </a:p>
          <a:p>
            <a:pPr lvl="3" eaLnBrk="1" hangingPunct="1">
              <a:lnSpc>
                <a:spcPct val="140000"/>
              </a:lnSpc>
              <a:buClr>
                <a:schemeClr val="tx1"/>
              </a:buClr>
              <a:buFont typeface="Marlett" pitchFamily="2" charset="2"/>
              <a:buChar char="2"/>
            </a:pPr>
            <a:r>
              <a:rPr lang="zh-CN" altLang="en-US" smtClean="0"/>
              <a:t>多阶</a:t>
            </a:r>
            <a:r>
              <a:rPr lang="en-US" altLang="zh-CN" smtClean="0"/>
              <a:t>BOM</a:t>
            </a:r>
            <a:r>
              <a:rPr lang="zh-CN" altLang="en-US" smtClean="0"/>
              <a:t>展开</a:t>
            </a:r>
          </a:p>
          <a:p>
            <a:pPr lvl="3" eaLnBrk="1" hangingPunct="1">
              <a:lnSpc>
                <a:spcPct val="140000"/>
              </a:lnSpc>
              <a:buClr>
                <a:schemeClr val="tx1"/>
              </a:buClr>
              <a:buFont typeface="Marlett" pitchFamily="2" charset="2"/>
              <a:buChar char="2"/>
            </a:pPr>
            <a:r>
              <a:rPr lang="zh-CN" altLang="en-US" smtClean="0"/>
              <a:t>尾阶</a:t>
            </a:r>
            <a:r>
              <a:rPr lang="en-US" altLang="zh-CN" smtClean="0"/>
              <a:t>BOM</a:t>
            </a:r>
            <a:r>
              <a:rPr lang="zh-CN" altLang="en-US" smtClean="0"/>
              <a:t>展开</a:t>
            </a:r>
          </a:p>
          <a:p>
            <a:pPr lvl="2" eaLnBrk="1" hangingPunct="1">
              <a:lnSpc>
                <a:spcPct val="140000"/>
              </a:lnSpc>
              <a:buClr>
                <a:schemeClr val="tx1"/>
              </a:buClr>
              <a:buFont typeface="Marlett" pitchFamily="2" charset="2"/>
              <a:buChar char="2"/>
            </a:pPr>
            <a:r>
              <a:rPr lang="zh-CN" altLang="en-US" smtClean="0"/>
              <a:t>物料用途清单：物料被哪些高阶的物料使用。</a:t>
            </a:r>
          </a:p>
          <a:p>
            <a:pPr lvl="3" eaLnBrk="1" hangingPunct="1">
              <a:lnSpc>
                <a:spcPct val="140000"/>
              </a:lnSpc>
              <a:buClr>
                <a:schemeClr val="tx1"/>
              </a:buClr>
              <a:buFont typeface="Marlett" pitchFamily="2" charset="2"/>
              <a:buChar char="2"/>
            </a:pPr>
            <a:r>
              <a:rPr lang="zh-CN" altLang="en-US" smtClean="0"/>
              <a:t>单阶物料用途清单</a:t>
            </a:r>
          </a:p>
          <a:p>
            <a:pPr lvl="3" eaLnBrk="1" hangingPunct="1">
              <a:lnSpc>
                <a:spcPct val="140000"/>
              </a:lnSpc>
              <a:buClr>
                <a:schemeClr val="tx1"/>
              </a:buClr>
              <a:buFont typeface="Marlett" pitchFamily="2" charset="2"/>
              <a:buChar char="2"/>
            </a:pPr>
            <a:r>
              <a:rPr lang="zh-CN" altLang="en-US" smtClean="0"/>
              <a:t>多阶物料用途清单</a:t>
            </a:r>
          </a:p>
          <a:p>
            <a:pPr lvl="3" eaLnBrk="1" hangingPunct="1">
              <a:lnSpc>
                <a:spcPct val="140000"/>
              </a:lnSpc>
              <a:buClr>
                <a:schemeClr val="tx1"/>
              </a:buClr>
              <a:buFont typeface="Marlett" pitchFamily="2" charset="2"/>
              <a:buChar char="2"/>
            </a:pPr>
            <a:r>
              <a:rPr lang="zh-CN" altLang="en-US" smtClean="0"/>
              <a:t>尾阶物料用途清单</a:t>
            </a:r>
          </a:p>
        </p:txBody>
      </p:sp>
      <p:sp>
        <p:nvSpPr>
          <p:cNvPr id="2253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523649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2755">
                                            <p:txEl>
                                              <p:pRg st="1" end="1"/>
                                            </p:txEl>
                                          </p:spTgt>
                                        </p:tgtEl>
                                        <p:attrNameLst>
                                          <p:attrName>style.visibility</p:attrName>
                                        </p:attrNameLst>
                                      </p:cBhvr>
                                      <p:to>
                                        <p:strVal val="visible"/>
                                      </p:to>
                                    </p:set>
                                    <p:anim calcmode="lin" valueType="num">
                                      <p:cBhvr additive="base">
                                        <p:cTn id="7" dur="500" fill="hold"/>
                                        <p:tgtEl>
                                          <p:spTgt spid="20275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27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2755">
                                            <p:txEl>
                                              <p:pRg st="2" end="2"/>
                                            </p:txEl>
                                          </p:spTgt>
                                        </p:tgtEl>
                                        <p:attrNameLst>
                                          <p:attrName>style.visibility</p:attrName>
                                        </p:attrNameLst>
                                      </p:cBhvr>
                                      <p:to>
                                        <p:strVal val="visible"/>
                                      </p:to>
                                    </p:set>
                                    <p:anim calcmode="lin" valueType="num">
                                      <p:cBhvr additive="base">
                                        <p:cTn id="13" dur="500" fill="hold"/>
                                        <p:tgtEl>
                                          <p:spTgt spid="20275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27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2755">
                                            <p:txEl>
                                              <p:pRg st="3" end="3"/>
                                            </p:txEl>
                                          </p:spTgt>
                                        </p:tgtEl>
                                        <p:attrNameLst>
                                          <p:attrName>style.visibility</p:attrName>
                                        </p:attrNameLst>
                                      </p:cBhvr>
                                      <p:to>
                                        <p:strVal val="visible"/>
                                      </p:to>
                                    </p:set>
                                    <p:anim calcmode="lin" valueType="num">
                                      <p:cBhvr additive="base">
                                        <p:cTn id="19" dur="500" fill="hold"/>
                                        <p:tgtEl>
                                          <p:spTgt spid="20275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27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2755">
                                            <p:txEl>
                                              <p:pRg st="4" end="4"/>
                                            </p:txEl>
                                          </p:spTgt>
                                        </p:tgtEl>
                                        <p:attrNameLst>
                                          <p:attrName>style.visibility</p:attrName>
                                        </p:attrNameLst>
                                      </p:cBhvr>
                                      <p:to>
                                        <p:strVal val="visible"/>
                                      </p:to>
                                    </p:set>
                                    <p:anim calcmode="lin" valueType="num">
                                      <p:cBhvr additive="base">
                                        <p:cTn id="25" dur="500" fill="hold"/>
                                        <p:tgtEl>
                                          <p:spTgt spid="20275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27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2755">
                                            <p:txEl>
                                              <p:pRg st="5" end="5"/>
                                            </p:txEl>
                                          </p:spTgt>
                                        </p:tgtEl>
                                        <p:attrNameLst>
                                          <p:attrName>style.visibility</p:attrName>
                                        </p:attrNameLst>
                                      </p:cBhvr>
                                      <p:to>
                                        <p:strVal val="visible"/>
                                      </p:to>
                                    </p:set>
                                    <p:anim calcmode="lin" valueType="num">
                                      <p:cBhvr additive="base">
                                        <p:cTn id="31" dur="500" fill="hold"/>
                                        <p:tgtEl>
                                          <p:spTgt spid="20275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275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2755">
                                            <p:txEl>
                                              <p:pRg st="6" end="6"/>
                                            </p:txEl>
                                          </p:spTgt>
                                        </p:tgtEl>
                                        <p:attrNameLst>
                                          <p:attrName>style.visibility</p:attrName>
                                        </p:attrNameLst>
                                      </p:cBhvr>
                                      <p:to>
                                        <p:strVal val="visible"/>
                                      </p:to>
                                    </p:set>
                                    <p:anim calcmode="lin" valueType="num">
                                      <p:cBhvr additive="base">
                                        <p:cTn id="37" dur="500" fill="hold"/>
                                        <p:tgtEl>
                                          <p:spTgt spid="202755">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0275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02755">
                                            <p:txEl>
                                              <p:pRg st="7" end="7"/>
                                            </p:txEl>
                                          </p:spTgt>
                                        </p:tgtEl>
                                        <p:attrNameLst>
                                          <p:attrName>style.visibility</p:attrName>
                                        </p:attrNameLst>
                                      </p:cBhvr>
                                      <p:to>
                                        <p:strVal val="visible"/>
                                      </p:to>
                                    </p:set>
                                    <p:anim calcmode="lin" valueType="num">
                                      <p:cBhvr additive="base">
                                        <p:cTn id="43" dur="500" fill="hold"/>
                                        <p:tgtEl>
                                          <p:spTgt spid="202755">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0275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02755">
                                            <p:txEl>
                                              <p:pRg st="8" end="8"/>
                                            </p:txEl>
                                          </p:spTgt>
                                        </p:tgtEl>
                                        <p:attrNameLst>
                                          <p:attrName>style.visibility</p:attrName>
                                        </p:attrNameLst>
                                      </p:cBhvr>
                                      <p:to>
                                        <p:strVal val="visible"/>
                                      </p:to>
                                    </p:set>
                                    <p:anim calcmode="lin" valueType="num">
                                      <p:cBhvr additive="base">
                                        <p:cTn id="49" dur="500" fill="hold"/>
                                        <p:tgtEl>
                                          <p:spTgt spid="202755">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02755">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autoUpdateAnimBg="0" advAuto="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355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838" y="1638300"/>
            <a:ext cx="7170737" cy="49149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6"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1808054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3"/>
          <p:cNvSpPr txBox="1">
            <a:spLocks noChangeArrowheads="1"/>
          </p:cNvSpPr>
          <p:nvPr/>
        </p:nvSpPr>
        <p:spPr bwMode="auto">
          <a:xfrm>
            <a:off x="457200" y="1676400"/>
            <a:ext cx="82296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1" eaLnBrk="1" hangingPunct="1">
              <a:buClr>
                <a:schemeClr val="tx1"/>
              </a:buClr>
              <a:buFont typeface="Marlett" pitchFamily="2" charset="2"/>
              <a:buChar char="2"/>
            </a:pPr>
            <a:r>
              <a:rPr lang="zh-CN" altLang="en-US" b="1"/>
              <a:t>物料清单的输出格式</a:t>
            </a:r>
          </a:p>
          <a:p>
            <a:pPr lvl="2" eaLnBrk="1" hangingPunct="1">
              <a:lnSpc>
                <a:spcPct val="140000"/>
              </a:lnSpc>
              <a:buClr>
                <a:schemeClr val="tx1"/>
              </a:buClr>
              <a:buFont typeface="Marlett" pitchFamily="2" charset="2"/>
              <a:buChar char="2"/>
            </a:pPr>
            <a:r>
              <a:rPr lang="zh-CN" altLang="en-US"/>
              <a:t>单阶</a:t>
            </a:r>
            <a:r>
              <a:rPr lang="en-US" altLang="zh-CN"/>
              <a:t>BOM</a:t>
            </a:r>
            <a:r>
              <a:rPr lang="zh-CN" altLang="en-US"/>
              <a:t>展开</a:t>
            </a:r>
            <a:endParaRPr lang="en-US" altLang="zh-CN"/>
          </a:p>
          <a:p>
            <a:pPr lvl="2" eaLnBrk="1" hangingPunct="1">
              <a:lnSpc>
                <a:spcPct val="140000"/>
              </a:lnSpc>
              <a:buClr>
                <a:schemeClr val="tx1"/>
              </a:buClr>
              <a:buFont typeface="Wingdings" panose="05000000000000000000" pitchFamily="2" charset="2"/>
              <a:buNone/>
            </a:pPr>
            <a:r>
              <a:rPr lang="zh-CN" altLang="en-US" sz="1400"/>
              <a:t>父项编码：</a:t>
            </a:r>
            <a:r>
              <a:rPr lang="en-US" altLang="zh-CN" sz="1400"/>
              <a:t>2062835    </a:t>
            </a:r>
            <a:r>
              <a:rPr lang="zh-CN" altLang="en-US" sz="1400"/>
              <a:t>父项名称：前轴</a:t>
            </a:r>
            <a:endParaRPr lang="en-US" altLang="zh-CN" sz="1400"/>
          </a:p>
          <a:p>
            <a:pPr lvl="2" eaLnBrk="1" hangingPunct="1">
              <a:lnSpc>
                <a:spcPct val="140000"/>
              </a:lnSpc>
              <a:buClr>
                <a:schemeClr val="tx1"/>
              </a:buClr>
              <a:buFont typeface="Marlett" pitchFamily="2" charset="2"/>
              <a:buChar char="2"/>
            </a:pPr>
            <a:endParaRPr lang="en-US" altLang="zh-CN"/>
          </a:p>
          <a:p>
            <a:pPr lvl="2" eaLnBrk="1" hangingPunct="1">
              <a:lnSpc>
                <a:spcPct val="140000"/>
              </a:lnSpc>
              <a:buClr>
                <a:schemeClr val="tx1"/>
              </a:buClr>
              <a:buFont typeface="Marlett" pitchFamily="2" charset="2"/>
              <a:buChar char="2"/>
            </a:pPr>
            <a:endParaRPr lang="zh-CN" altLang="en-US"/>
          </a:p>
        </p:txBody>
      </p:sp>
      <p:graphicFrame>
        <p:nvGraphicFramePr>
          <p:cNvPr id="10" name="表格 9"/>
          <p:cNvGraphicFramePr>
            <a:graphicFrameLocks noGrp="1"/>
          </p:cNvGraphicFramePr>
          <p:nvPr/>
        </p:nvGraphicFramePr>
        <p:xfrm>
          <a:off x="1371600" y="3124200"/>
          <a:ext cx="6553197" cy="3336921"/>
        </p:xfrm>
        <a:graphic>
          <a:graphicData uri="http://schemas.openxmlformats.org/drawingml/2006/table">
            <a:tbl>
              <a:tblPr firstRow="1" bandRow="1">
                <a:tableStyleId>{5C22544A-7EE6-4342-B048-85BDC9FD1C3A}</a:tableStyleId>
              </a:tblPr>
              <a:tblGrid>
                <a:gridCol w="936171">
                  <a:extLst>
                    <a:ext uri="{9D8B030D-6E8A-4147-A177-3AD203B41FA5}">
                      <a16:colId xmlns:a16="http://schemas.microsoft.com/office/drawing/2014/main" val="20000"/>
                    </a:ext>
                  </a:extLst>
                </a:gridCol>
                <a:gridCol w="936171">
                  <a:extLst>
                    <a:ext uri="{9D8B030D-6E8A-4147-A177-3AD203B41FA5}">
                      <a16:colId xmlns:a16="http://schemas.microsoft.com/office/drawing/2014/main" val="20001"/>
                    </a:ext>
                  </a:extLst>
                </a:gridCol>
                <a:gridCol w="936171">
                  <a:extLst>
                    <a:ext uri="{9D8B030D-6E8A-4147-A177-3AD203B41FA5}">
                      <a16:colId xmlns:a16="http://schemas.microsoft.com/office/drawing/2014/main" val="20002"/>
                    </a:ext>
                  </a:extLst>
                </a:gridCol>
                <a:gridCol w="936171">
                  <a:extLst>
                    <a:ext uri="{9D8B030D-6E8A-4147-A177-3AD203B41FA5}">
                      <a16:colId xmlns:a16="http://schemas.microsoft.com/office/drawing/2014/main" val="20003"/>
                    </a:ext>
                  </a:extLst>
                </a:gridCol>
                <a:gridCol w="936171">
                  <a:extLst>
                    <a:ext uri="{9D8B030D-6E8A-4147-A177-3AD203B41FA5}">
                      <a16:colId xmlns:a16="http://schemas.microsoft.com/office/drawing/2014/main" val="20004"/>
                    </a:ext>
                  </a:extLst>
                </a:gridCol>
                <a:gridCol w="936171">
                  <a:extLst>
                    <a:ext uri="{9D8B030D-6E8A-4147-A177-3AD203B41FA5}">
                      <a16:colId xmlns:a16="http://schemas.microsoft.com/office/drawing/2014/main" val="20005"/>
                    </a:ext>
                  </a:extLst>
                </a:gridCol>
                <a:gridCol w="936171">
                  <a:extLst>
                    <a:ext uri="{9D8B030D-6E8A-4147-A177-3AD203B41FA5}">
                      <a16:colId xmlns:a16="http://schemas.microsoft.com/office/drawing/2014/main" val="20006"/>
                    </a:ext>
                  </a:extLst>
                </a:gridCol>
              </a:tblGrid>
              <a:tr h="370769">
                <a:tc>
                  <a:txBody>
                    <a:bodyPr/>
                    <a:lstStyle/>
                    <a:p>
                      <a:pPr algn="ctr"/>
                      <a:r>
                        <a:rPr lang="zh-CN" altLang="en-US" sz="1400" dirty="0" smtClean="0">
                          <a:solidFill>
                            <a:schemeClr val="tx1"/>
                          </a:solidFill>
                        </a:rPr>
                        <a:t>序号</a:t>
                      </a:r>
                      <a:endParaRPr lang="zh-CN" altLang="en-US" sz="1400" dirty="0">
                        <a:solidFill>
                          <a:schemeClr val="tx1"/>
                        </a:solidFill>
                      </a:endParaRPr>
                    </a:p>
                  </a:txBody>
                  <a:tcPr marT="45711" marB="45711"/>
                </a:tc>
                <a:tc>
                  <a:txBody>
                    <a:bodyPr/>
                    <a:lstStyle/>
                    <a:p>
                      <a:pPr algn="ctr"/>
                      <a:r>
                        <a:rPr lang="zh-CN" altLang="en-US" sz="1400" dirty="0" smtClean="0">
                          <a:solidFill>
                            <a:schemeClr val="tx1"/>
                          </a:solidFill>
                        </a:rPr>
                        <a:t>父项编码</a:t>
                      </a:r>
                      <a:endParaRPr lang="zh-CN" altLang="en-US" sz="1400" dirty="0">
                        <a:solidFill>
                          <a:schemeClr val="tx1"/>
                        </a:solidFill>
                      </a:endParaRPr>
                    </a:p>
                  </a:txBody>
                  <a:tcPr marT="45711" marB="45711"/>
                </a:tc>
                <a:tc>
                  <a:txBody>
                    <a:bodyPr/>
                    <a:lstStyle/>
                    <a:p>
                      <a:pPr algn="ctr"/>
                      <a:r>
                        <a:rPr lang="zh-CN" altLang="en-US" sz="1400" dirty="0" smtClean="0">
                          <a:solidFill>
                            <a:schemeClr val="tx1"/>
                          </a:solidFill>
                        </a:rPr>
                        <a:t>子项编码</a:t>
                      </a:r>
                      <a:endParaRPr lang="zh-CN" altLang="en-US" sz="1400" dirty="0">
                        <a:solidFill>
                          <a:schemeClr val="tx1"/>
                        </a:solidFill>
                      </a:endParaRPr>
                    </a:p>
                  </a:txBody>
                  <a:tcPr marT="45711" marB="45711"/>
                </a:tc>
                <a:tc>
                  <a:txBody>
                    <a:bodyPr/>
                    <a:lstStyle/>
                    <a:p>
                      <a:pPr algn="ctr"/>
                      <a:r>
                        <a:rPr lang="zh-CN" altLang="en-US" sz="1400" dirty="0" smtClean="0">
                          <a:solidFill>
                            <a:schemeClr val="tx1"/>
                          </a:solidFill>
                        </a:rPr>
                        <a:t>子项名称</a:t>
                      </a:r>
                      <a:endParaRPr lang="zh-CN" altLang="en-US" sz="1400" dirty="0">
                        <a:solidFill>
                          <a:schemeClr val="tx1"/>
                        </a:solidFill>
                      </a:endParaRPr>
                    </a:p>
                  </a:txBody>
                  <a:tcPr marT="45711" marB="45711"/>
                </a:tc>
                <a:tc>
                  <a:txBody>
                    <a:bodyPr/>
                    <a:lstStyle/>
                    <a:p>
                      <a:pPr algn="ctr"/>
                      <a:r>
                        <a:rPr lang="zh-CN" altLang="en-US" sz="1400" dirty="0" smtClean="0">
                          <a:solidFill>
                            <a:schemeClr val="tx1"/>
                          </a:solidFill>
                        </a:rPr>
                        <a:t>计量单位</a:t>
                      </a:r>
                      <a:endParaRPr lang="zh-CN" altLang="en-US" sz="1400" dirty="0">
                        <a:solidFill>
                          <a:schemeClr val="tx1"/>
                        </a:solidFill>
                      </a:endParaRPr>
                    </a:p>
                  </a:txBody>
                  <a:tcPr marT="45711" marB="45711"/>
                </a:tc>
                <a:tc>
                  <a:txBody>
                    <a:bodyPr/>
                    <a:lstStyle/>
                    <a:p>
                      <a:pPr algn="ctr"/>
                      <a:r>
                        <a:rPr lang="zh-CN" altLang="en-US" sz="1400" dirty="0" smtClean="0">
                          <a:solidFill>
                            <a:schemeClr val="tx1"/>
                          </a:solidFill>
                        </a:rPr>
                        <a:t>单位用量</a:t>
                      </a:r>
                      <a:endParaRPr lang="zh-CN" altLang="en-US" sz="1400" dirty="0">
                        <a:solidFill>
                          <a:schemeClr val="tx1"/>
                        </a:solidFill>
                      </a:endParaRPr>
                    </a:p>
                  </a:txBody>
                  <a:tcPr marT="45711" marB="45711"/>
                </a:tc>
                <a:tc>
                  <a:txBody>
                    <a:bodyPr/>
                    <a:lstStyle/>
                    <a:p>
                      <a:pPr algn="ctr"/>
                      <a:r>
                        <a:rPr lang="zh-CN" altLang="en-US" sz="1400" dirty="0" smtClean="0">
                          <a:solidFill>
                            <a:schemeClr val="tx1"/>
                          </a:solidFill>
                        </a:rPr>
                        <a:t>描述</a:t>
                      </a:r>
                      <a:endParaRPr lang="zh-CN" altLang="en-US" sz="1400" dirty="0">
                        <a:solidFill>
                          <a:schemeClr val="tx1"/>
                        </a:solidFill>
                      </a:endParaRPr>
                    </a:p>
                  </a:txBody>
                  <a:tcPr marT="45711" marB="45711"/>
                </a:tc>
                <a:extLst>
                  <a:ext uri="{0D108BD9-81ED-4DB2-BD59-A6C34878D82A}">
                    <a16:rowId xmlns:a16="http://schemas.microsoft.com/office/drawing/2014/main" val="10000"/>
                  </a:ext>
                </a:extLst>
              </a:tr>
              <a:tr h="370769">
                <a:tc>
                  <a:txBody>
                    <a:bodyPr/>
                    <a:lstStyle/>
                    <a:p>
                      <a:pPr algn="ctr"/>
                      <a:r>
                        <a:rPr lang="en-US" altLang="zh-CN" sz="1400" dirty="0" smtClean="0"/>
                        <a:t>1</a:t>
                      </a:r>
                      <a:endParaRPr lang="zh-CN" altLang="en-US" sz="1400" dirty="0"/>
                    </a:p>
                  </a:txBody>
                  <a:tcPr marT="45711" marB="45711"/>
                </a:tc>
                <a:tc>
                  <a:txBody>
                    <a:bodyPr/>
                    <a:lstStyle/>
                    <a:p>
                      <a:pPr algn="ctr"/>
                      <a:r>
                        <a:rPr lang="en-US" altLang="zh-CN" sz="1400" dirty="0" smtClean="0"/>
                        <a:t>2062835</a:t>
                      </a:r>
                      <a:endParaRPr lang="zh-CN" altLang="en-US" sz="1400" dirty="0"/>
                    </a:p>
                  </a:txBody>
                  <a:tcPr marT="45711" marB="45711"/>
                </a:tc>
                <a:tc>
                  <a:txBody>
                    <a:bodyPr/>
                    <a:lstStyle/>
                    <a:p>
                      <a:pPr algn="ctr"/>
                      <a:r>
                        <a:rPr lang="en-US" altLang="zh-CN" sz="1400" dirty="0" smtClean="0"/>
                        <a:t>2067612</a:t>
                      </a:r>
                      <a:endParaRPr lang="zh-CN" altLang="en-US" sz="1400" dirty="0"/>
                    </a:p>
                  </a:txBody>
                  <a:tcPr marT="45711" marB="45711"/>
                </a:tc>
                <a:tc>
                  <a:txBody>
                    <a:bodyPr/>
                    <a:lstStyle/>
                    <a:p>
                      <a:pPr algn="ctr"/>
                      <a:r>
                        <a:rPr lang="zh-CN" altLang="en-US" sz="1400" dirty="0" smtClean="0"/>
                        <a:t>前轴身</a:t>
                      </a:r>
                      <a:endParaRPr lang="zh-CN" altLang="en-US" sz="1400" dirty="0"/>
                    </a:p>
                  </a:txBody>
                  <a:tcPr marT="45711" marB="45711"/>
                </a:tc>
                <a:tc>
                  <a:txBody>
                    <a:bodyPr/>
                    <a:lstStyle/>
                    <a:p>
                      <a:pPr algn="ctr"/>
                      <a:r>
                        <a:rPr lang="zh-CN" altLang="en-US" sz="1400" dirty="0" smtClean="0"/>
                        <a:t>套</a:t>
                      </a:r>
                      <a:endParaRPr lang="zh-CN" altLang="en-US" sz="1400" dirty="0"/>
                    </a:p>
                  </a:txBody>
                  <a:tcPr marT="45711" marB="45711"/>
                </a:tc>
                <a:tc>
                  <a:txBody>
                    <a:bodyPr/>
                    <a:lstStyle/>
                    <a:p>
                      <a:pPr algn="ctr"/>
                      <a:r>
                        <a:rPr lang="en-US" altLang="zh-CN" sz="1400" dirty="0" smtClean="0"/>
                        <a:t>1</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1"/>
                  </a:ext>
                </a:extLst>
              </a:tr>
              <a:tr h="370769">
                <a:tc>
                  <a:txBody>
                    <a:bodyPr/>
                    <a:lstStyle/>
                    <a:p>
                      <a:pPr algn="ctr"/>
                      <a:r>
                        <a:rPr lang="en-US" altLang="zh-CN" sz="1400" dirty="0" smtClean="0"/>
                        <a:t>2</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t>2062835</a:t>
                      </a:r>
                      <a:endParaRPr lang="zh-CN" altLang="en-US" sz="1400" dirty="0" smtClean="0"/>
                    </a:p>
                  </a:txBody>
                  <a:tcPr marT="45711" marB="45711"/>
                </a:tc>
                <a:tc>
                  <a:txBody>
                    <a:bodyPr/>
                    <a:lstStyle/>
                    <a:p>
                      <a:pPr algn="ctr"/>
                      <a:r>
                        <a:rPr lang="en-US" altLang="zh-CN" sz="1400" dirty="0" smtClean="0"/>
                        <a:t>3021221</a:t>
                      </a:r>
                      <a:endParaRPr lang="zh-CN" altLang="en-US" sz="1400" dirty="0"/>
                    </a:p>
                  </a:txBody>
                  <a:tcPr marT="45711" marB="45711"/>
                </a:tc>
                <a:tc>
                  <a:txBody>
                    <a:bodyPr/>
                    <a:lstStyle/>
                    <a:p>
                      <a:pPr algn="ctr"/>
                      <a:r>
                        <a:rPr lang="zh-CN" altLang="en-US" sz="1400" dirty="0" smtClean="0"/>
                        <a:t>前轴棍</a:t>
                      </a:r>
                      <a:endParaRPr lang="zh-CN" altLang="en-US" sz="1400" dirty="0"/>
                    </a:p>
                  </a:txBody>
                  <a:tcPr marT="45711" marB="45711"/>
                </a:tc>
                <a:tc>
                  <a:txBody>
                    <a:bodyPr/>
                    <a:lstStyle/>
                    <a:p>
                      <a:pPr algn="ctr"/>
                      <a:r>
                        <a:rPr lang="zh-CN" altLang="en-US" sz="1400" dirty="0" smtClean="0"/>
                        <a:t>个</a:t>
                      </a:r>
                      <a:endParaRPr lang="zh-CN" altLang="en-US" sz="1400" dirty="0"/>
                    </a:p>
                  </a:txBody>
                  <a:tcPr marT="45711" marB="45711"/>
                </a:tc>
                <a:tc>
                  <a:txBody>
                    <a:bodyPr/>
                    <a:lstStyle/>
                    <a:p>
                      <a:pPr algn="ctr"/>
                      <a:r>
                        <a:rPr lang="en-US" altLang="zh-CN" sz="1400" dirty="0" smtClean="0"/>
                        <a:t>1</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2"/>
                  </a:ext>
                </a:extLst>
              </a:tr>
              <a:tr h="370769">
                <a:tc>
                  <a:txBody>
                    <a:bodyPr/>
                    <a:lstStyle/>
                    <a:p>
                      <a:pPr algn="ctr"/>
                      <a:r>
                        <a:rPr lang="en-US" altLang="zh-CN" sz="1400" dirty="0" smtClean="0"/>
                        <a:t>3</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t>2062835</a:t>
                      </a:r>
                      <a:endParaRPr lang="zh-CN" altLang="en-US" sz="1400" dirty="0" smtClean="0"/>
                    </a:p>
                  </a:txBody>
                  <a:tcPr marT="45711" marB="45711"/>
                </a:tc>
                <a:tc>
                  <a:txBody>
                    <a:bodyPr/>
                    <a:lstStyle/>
                    <a:p>
                      <a:pPr algn="ctr"/>
                      <a:r>
                        <a:rPr lang="en-US" altLang="zh-CN" sz="1400" dirty="0" smtClean="0"/>
                        <a:t>3022285</a:t>
                      </a:r>
                      <a:endParaRPr lang="zh-CN" altLang="en-US" sz="1400" dirty="0"/>
                    </a:p>
                  </a:txBody>
                  <a:tcPr marT="45711" marB="45711"/>
                </a:tc>
                <a:tc>
                  <a:txBody>
                    <a:bodyPr/>
                    <a:lstStyle/>
                    <a:p>
                      <a:pPr algn="ctr"/>
                      <a:r>
                        <a:rPr lang="zh-CN" altLang="en-US" sz="1400" dirty="0" smtClean="0"/>
                        <a:t>前轴碗</a:t>
                      </a:r>
                      <a:endParaRPr lang="zh-CN" altLang="en-US" sz="1400" dirty="0"/>
                    </a:p>
                  </a:txBody>
                  <a:tcPr marT="45711" marB="45711"/>
                </a:tc>
                <a:tc>
                  <a:txBody>
                    <a:bodyPr/>
                    <a:lstStyle/>
                    <a:p>
                      <a:pPr algn="ctr"/>
                      <a:r>
                        <a:rPr lang="zh-CN" altLang="en-US" sz="1400" dirty="0" smtClean="0"/>
                        <a:t>个</a:t>
                      </a:r>
                      <a:endParaRPr lang="zh-CN" altLang="en-US" sz="1400" dirty="0"/>
                    </a:p>
                  </a:txBody>
                  <a:tcPr marT="45711" marB="45711"/>
                </a:tc>
                <a:tc>
                  <a:txBody>
                    <a:bodyPr/>
                    <a:lstStyle/>
                    <a:p>
                      <a:pPr algn="ctr"/>
                      <a:r>
                        <a:rPr lang="en-US" altLang="zh-CN" sz="1400" dirty="0" smtClean="0"/>
                        <a:t>2</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3"/>
                  </a:ext>
                </a:extLst>
              </a:tr>
              <a:tr h="370769">
                <a:tc>
                  <a:txBody>
                    <a:bodyPr/>
                    <a:lstStyle/>
                    <a:p>
                      <a:pPr algn="ctr"/>
                      <a:r>
                        <a:rPr lang="en-US" altLang="zh-CN" sz="1400" dirty="0" smtClean="0"/>
                        <a:t>4</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t>2062835</a:t>
                      </a:r>
                      <a:endParaRPr lang="zh-CN" altLang="en-US" sz="1400" dirty="0" smtClean="0"/>
                    </a:p>
                  </a:txBody>
                  <a:tcPr marT="45711" marB="45711"/>
                </a:tc>
                <a:tc>
                  <a:txBody>
                    <a:bodyPr/>
                    <a:lstStyle/>
                    <a:p>
                      <a:pPr algn="ctr"/>
                      <a:r>
                        <a:rPr lang="en-US" altLang="zh-CN" sz="1400" dirty="0" smtClean="0"/>
                        <a:t>3022271</a:t>
                      </a:r>
                      <a:endParaRPr lang="zh-CN" altLang="en-US" sz="1400" dirty="0"/>
                    </a:p>
                  </a:txBody>
                  <a:tcPr marT="45711" marB="45711"/>
                </a:tc>
                <a:tc>
                  <a:txBody>
                    <a:bodyPr/>
                    <a:lstStyle/>
                    <a:p>
                      <a:pPr algn="ctr"/>
                      <a:r>
                        <a:rPr lang="zh-CN" altLang="en-US" sz="1400" dirty="0" smtClean="0"/>
                        <a:t>前防尘盖</a:t>
                      </a:r>
                      <a:endParaRPr lang="zh-CN" altLang="en-US" sz="1400" dirty="0"/>
                    </a:p>
                  </a:txBody>
                  <a:tcPr marT="45711" marB="45711"/>
                </a:tc>
                <a:tc>
                  <a:txBody>
                    <a:bodyPr/>
                    <a:lstStyle/>
                    <a:p>
                      <a:pPr algn="ctr"/>
                      <a:r>
                        <a:rPr lang="zh-CN" altLang="en-US" sz="1400" dirty="0" smtClean="0"/>
                        <a:t>个</a:t>
                      </a:r>
                      <a:endParaRPr lang="zh-CN" altLang="en-US" sz="1400" dirty="0"/>
                    </a:p>
                  </a:txBody>
                  <a:tcPr marT="45711" marB="45711"/>
                </a:tc>
                <a:tc>
                  <a:txBody>
                    <a:bodyPr/>
                    <a:lstStyle/>
                    <a:p>
                      <a:pPr algn="ctr"/>
                      <a:r>
                        <a:rPr lang="en-US" altLang="zh-CN" sz="1400" dirty="0" smtClean="0"/>
                        <a:t>2</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4"/>
                  </a:ext>
                </a:extLst>
              </a:tr>
              <a:tr h="370769">
                <a:tc>
                  <a:txBody>
                    <a:bodyPr/>
                    <a:lstStyle/>
                    <a:p>
                      <a:pPr algn="ctr"/>
                      <a:r>
                        <a:rPr lang="en-US" altLang="zh-CN" sz="1400" dirty="0" smtClean="0"/>
                        <a:t>5</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t>2062835</a:t>
                      </a:r>
                      <a:endParaRPr lang="zh-CN" altLang="en-US" sz="1400" dirty="0" smtClean="0"/>
                    </a:p>
                  </a:txBody>
                  <a:tcPr marT="45711" marB="45711"/>
                </a:tc>
                <a:tc>
                  <a:txBody>
                    <a:bodyPr/>
                    <a:lstStyle/>
                    <a:p>
                      <a:pPr algn="ctr"/>
                      <a:r>
                        <a:rPr lang="en-US" altLang="zh-CN" sz="1400" dirty="0" smtClean="0"/>
                        <a:t>3029219</a:t>
                      </a:r>
                      <a:endParaRPr lang="zh-CN" altLang="en-US" sz="1400" dirty="0"/>
                    </a:p>
                  </a:txBody>
                  <a:tcPr marT="45711" marB="45711"/>
                </a:tc>
                <a:tc>
                  <a:txBody>
                    <a:bodyPr/>
                    <a:lstStyle/>
                    <a:p>
                      <a:pPr algn="ctr"/>
                      <a:r>
                        <a:rPr lang="zh-CN" altLang="en-US" sz="1400" dirty="0" smtClean="0"/>
                        <a:t>前轴档</a:t>
                      </a:r>
                      <a:endParaRPr lang="zh-CN" altLang="en-US" sz="1400" dirty="0"/>
                    </a:p>
                  </a:txBody>
                  <a:tcPr marT="45711" marB="45711"/>
                </a:tc>
                <a:tc>
                  <a:txBody>
                    <a:bodyPr/>
                    <a:lstStyle/>
                    <a:p>
                      <a:pPr algn="ctr"/>
                      <a:r>
                        <a:rPr lang="zh-CN" altLang="en-US" sz="1400" dirty="0" smtClean="0"/>
                        <a:t>个</a:t>
                      </a:r>
                      <a:endParaRPr lang="zh-CN" altLang="en-US" sz="1400" dirty="0"/>
                    </a:p>
                  </a:txBody>
                  <a:tcPr marT="45711" marB="45711"/>
                </a:tc>
                <a:tc>
                  <a:txBody>
                    <a:bodyPr/>
                    <a:lstStyle/>
                    <a:p>
                      <a:pPr algn="ctr"/>
                      <a:r>
                        <a:rPr lang="en-US" altLang="zh-CN" sz="1400" dirty="0" smtClean="0"/>
                        <a:t>2</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5"/>
                  </a:ext>
                </a:extLst>
              </a:tr>
              <a:tr h="370769">
                <a:tc>
                  <a:txBody>
                    <a:bodyPr/>
                    <a:lstStyle/>
                    <a:p>
                      <a:pPr algn="ctr"/>
                      <a:r>
                        <a:rPr lang="en-US" altLang="zh-CN" sz="1400" dirty="0" smtClean="0"/>
                        <a:t>6</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t>2062835</a:t>
                      </a:r>
                      <a:endParaRPr lang="zh-CN" altLang="en-US" sz="1400" dirty="0" smtClean="0"/>
                    </a:p>
                  </a:txBody>
                  <a:tcPr marT="45711" marB="45711"/>
                </a:tc>
                <a:tc>
                  <a:txBody>
                    <a:bodyPr/>
                    <a:lstStyle/>
                    <a:p>
                      <a:pPr algn="ctr"/>
                      <a:r>
                        <a:rPr lang="en-US" altLang="zh-CN" sz="1400" dirty="0" smtClean="0"/>
                        <a:t>6052200</a:t>
                      </a:r>
                      <a:endParaRPr lang="zh-CN" altLang="en-US" sz="1400" dirty="0"/>
                    </a:p>
                  </a:txBody>
                  <a:tcPr marT="45711" marB="45711"/>
                </a:tc>
                <a:tc>
                  <a:txBody>
                    <a:bodyPr/>
                    <a:lstStyle/>
                    <a:p>
                      <a:pPr algn="ctr"/>
                      <a:r>
                        <a:rPr lang="zh-CN" altLang="en-US" sz="1400" dirty="0" smtClean="0"/>
                        <a:t>垫圈</a:t>
                      </a:r>
                      <a:endParaRPr lang="zh-CN" altLang="en-US" sz="1400" dirty="0"/>
                    </a:p>
                  </a:txBody>
                  <a:tcPr marT="45711" marB="45711"/>
                </a:tc>
                <a:tc>
                  <a:txBody>
                    <a:bodyPr/>
                    <a:lstStyle/>
                    <a:p>
                      <a:pPr algn="ctr"/>
                      <a:r>
                        <a:rPr lang="zh-CN" altLang="en-US" sz="1400" dirty="0" smtClean="0"/>
                        <a:t>个</a:t>
                      </a:r>
                      <a:endParaRPr lang="zh-CN" altLang="en-US" sz="1400" dirty="0"/>
                    </a:p>
                  </a:txBody>
                  <a:tcPr marT="45711" marB="45711"/>
                </a:tc>
                <a:tc>
                  <a:txBody>
                    <a:bodyPr/>
                    <a:lstStyle/>
                    <a:p>
                      <a:pPr algn="ctr"/>
                      <a:r>
                        <a:rPr lang="en-US" altLang="zh-CN" sz="1400" dirty="0" smtClean="0"/>
                        <a:t>4</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6"/>
                  </a:ext>
                </a:extLst>
              </a:tr>
              <a:tr h="370769">
                <a:tc>
                  <a:txBody>
                    <a:bodyPr/>
                    <a:lstStyle/>
                    <a:p>
                      <a:pPr algn="ctr"/>
                      <a:r>
                        <a:rPr lang="en-US" altLang="zh-CN" sz="1400" dirty="0" smtClean="0"/>
                        <a:t>7</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t>2062835</a:t>
                      </a:r>
                      <a:endParaRPr lang="zh-CN" altLang="en-US" sz="1400" dirty="0" smtClean="0"/>
                    </a:p>
                  </a:txBody>
                  <a:tcPr marT="45711" marB="45711"/>
                </a:tc>
                <a:tc>
                  <a:txBody>
                    <a:bodyPr/>
                    <a:lstStyle/>
                    <a:p>
                      <a:pPr algn="ctr"/>
                      <a:r>
                        <a:rPr lang="en-US" altLang="zh-CN" sz="1400" dirty="0" smtClean="0"/>
                        <a:t>3129518</a:t>
                      </a:r>
                      <a:endParaRPr lang="zh-CN" altLang="en-US" sz="1400" dirty="0"/>
                    </a:p>
                  </a:txBody>
                  <a:tcPr marT="45711" marB="45711"/>
                </a:tc>
                <a:tc>
                  <a:txBody>
                    <a:bodyPr/>
                    <a:lstStyle/>
                    <a:p>
                      <a:pPr algn="ctr"/>
                      <a:r>
                        <a:rPr lang="zh-CN" altLang="en-US" sz="1400" dirty="0" smtClean="0"/>
                        <a:t>前叉</a:t>
                      </a:r>
                      <a:endParaRPr lang="zh-CN" altLang="en-US" sz="1400" dirty="0"/>
                    </a:p>
                  </a:txBody>
                  <a:tcPr marT="45711" marB="45711"/>
                </a:tc>
                <a:tc>
                  <a:txBody>
                    <a:bodyPr/>
                    <a:lstStyle/>
                    <a:p>
                      <a:pPr algn="ctr"/>
                      <a:r>
                        <a:rPr lang="zh-CN" altLang="en-US" sz="1400" dirty="0" smtClean="0"/>
                        <a:t>个</a:t>
                      </a:r>
                      <a:endParaRPr lang="zh-CN" altLang="en-US" sz="1400" dirty="0"/>
                    </a:p>
                  </a:txBody>
                  <a:tcPr marT="45711" marB="45711"/>
                </a:tc>
                <a:tc>
                  <a:txBody>
                    <a:bodyPr/>
                    <a:lstStyle/>
                    <a:p>
                      <a:pPr algn="ctr"/>
                      <a:r>
                        <a:rPr lang="en-US" altLang="zh-CN" sz="1400" dirty="0" smtClean="0"/>
                        <a:t>1</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7"/>
                  </a:ext>
                </a:extLst>
              </a:tr>
              <a:tr h="370769">
                <a:tc>
                  <a:txBody>
                    <a:bodyPr/>
                    <a:lstStyle/>
                    <a:p>
                      <a:pPr algn="ctr"/>
                      <a:r>
                        <a:rPr lang="en-US" altLang="zh-CN" sz="1400" dirty="0" smtClean="0"/>
                        <a:t>8</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t>2062835</a:t>
                      </a:r>
                      <a:endParaRPr lang="zh-CN" altLang="en-US" sz="1400" dirty="0" smtClean="0"/>
                    </a:p>
                  </a:txBody>
                  <a:tcPr marT="45711" marB="45711"/>
                </a:tc>
                <a:tc>
                  <a:txBody>
                    <a:bodyPr/>
                    <a:lstStyle/>
                    <a:p>
                      <a:pPr algn="ctr"/>
                      <a:r>
                        <a:rPr lang="en-US" altLang="zh-CN" sz="1400" dirty="0" smtClean="0"/>
                        <a:t>6081100</a:t>
                      </a:r>
                      <a:endParaRPr lang="zh-CN" altLang="en-US" sz="1400" dirty="0"/>
                    </a:p>
                  </a:txBody>
                  <a:tcPr marT="45711" marB="45711"/>
                </a:tc>
                <a:tc>
                  <a:txBody>
                    <a:bodyPr/>
                    <a:lstStyle/>
                    <a:p>
                      <a:pPr algn="ctr"/>
                      <a:r>
                        <a:rPr lang="zh-CN" altLang="en-US" sz="1400" dirty="0" smtClean="0"/>
                        <a:t>螺母</a:t>
                      </a:r>
                      <a:endParaRPr lang="zh-CN" altLang="en-US" sz="1400" dirty="0"/>
                    </a:p>
                  </a:txBody>
                  <a:tcPr marT="45711" marB="45711"/>
                </a:tc>
                <a:tc>
                  <a:txBody>
                    <a:bodyPr/>
                    <a:lstStyle/>
                    <a:p>
                      <a:pPr algn="ctr"/>
                      <a:r>
                        <a:rPr lang="zh-CN" altLang="en-US" sz="1400" dirty="0" smtClean="0"/>
                        <a:t>个</a:t>
                      </a:r>
                      <a:endParaRPr lang="zh-CN" altLang="en-US" sz="1400" dirty="0"/>
                    </a:p>
                  </a:txBody>
                  <a:tcPr marT="45711" marB="45711"/>
                </a:tc>
                <a:tc>
                  <a:txBody>
                    <a:bodyPr/>
                    <a:lstStyle/>
                    <a:p>
                      <a:pPr algn="ctr"/>
                      <a:r>
                        <a:rPr lang="en-US" altLang="zh-CN" sz="1400" dirty="0" smtClean="0"/>
                        <a:t>2</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8"/>
                  </a:ext>
                </a:extLst>
              </a:tr>
            </a:tbl>
          </a:graphicData>
        </a:graphic>
      </p:graphicFrame>
      <p:sp>
        <p:nvSpPr>
          <p:cNvPr id="2466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7"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2712312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defRPr/>
            </a:pPr>
            <a:r>
              <a:rPr lang="en-US" altLang="zh-CN" sz="3600" b="1" dirty="0" smtClean="0">
                <a:solidFill>
                  <a:srgbClr val="FF0000"/>
                </a:solidFill>
                <a:latin typeface="Times New Roman" pitchFamily="18" charset="0"/>
              </a:rPr>
              <a:t>1 </a:t>
            </a:r>
            <a:r>
              <a:rPr lang="zh-CN" altLang="en-US" sz="3600" b="1" dirty="0" smtClean="0">
                <a:solidFill>
                  <a:srgbClr val="FF0000"/>
                </a:solidFill>
                <a:effectLst>
                  <a:outerShdw blurRad="38100" dist="38100" dir="2700000" algn="tl">
                    <a:srgbClr val="C0C0C0"/>
                  </a:outerShdw>
                </a:effectLst>
                <a:latin typeface="Times New Roman" pitchFamily="18" charset="0"/>
              </a:rPr>
              <a:t>物料及物料清单</a:t>
            </a:r>
          </a:p>
        </p:txBody>
      </p:sp>
      <p:sp>
        <p:nvSpPr>
          <p:cNvPr id="25603" name="Rectangle 3"/>
          <p:cNvSpPr>
            <a:spLocks noGrp="1" noChangeArrowheads="1"/>
          </p:cNvSpPr>
          <p:nvPr>
            <p:ph type="body" idx="1"/>
          </p:nvPr>
        </p:nvSpPr>
        <p:spPr>
          <a:xfrm>
            <a:off x="457200" y="1524000"/>
            <a:ext cx="8229600" cy="4953000"/>
          </a:xfrm>
        </p:spPr>
        <p:txBody>
          <a:bodyPr/>
          <a:lstStyle/>
          <a:p>
            <a:pPr lvl="1" eaLnBrk="1" hangingPunct="1">
              <a:buClr>
                <a:schemeClr val="tx1"/>
              </a:buClr>
              <a:buFont typeface="Marlett" pitchFamily="2" charset="2"/>
              <a:buChar char="2"/>
            </a:pPr>
            <a:r>
              <a:rPr lang="zh-CN" altLang="en-US" b="1" smtClean="0"/>
              <a:t>物料清单的输出格式</a:t>
            </a:r>
          </a:p>
          <a:p>
            <a:pPr lvl="2" eaLnBrk="1" hangingPunct="1">
              <a:lnSpc>
                <a:spcPct val="140000"/>
              </a:lnSpc>
              <a:buClr>
                <a:schemeClr val="tx1"/>
              </a:buClr>
              <a:buFont typeface="Marlett" pitchFamily="2" charset="2"/>
              <a:buChar char="2"/>
            </a:pPr>
            <a:r>
              <a:rPr lang="zh-CN" altLang="en-US" smtClean="0"/>
              <a:t>多阶</a:t>
            </a:r>
            <a:r>
              <a:rPr lang="en-US" altLang="zh-CN" smtClean="0"/>
              <a:t>BOM</a:t>
            </a:r>
            <a:r>
              <a:rPr lang="zh-CN" altLang="en-US" smtClean="0"/>
              <a:t>展开</a:t>
            </a:r>
          </a:p>
        </p:txBody>
      </p:sp>
      <p:graphicFrame>
        <p:nvGraphicFramePr>
          <p:cNvPr id="9" name="表格 8"/>
          <p:cNvGraphicFramePr>
            <a:graphicFrameLocks noGrp="1"/>
          </p:cNvGraphicFramePr>
          <p:nvPr/>
        </p:nvGraphicFramePr>
        <p:xfrm>
          <a:off x="495300" y="685800"/>
          <a:ext cx="8153397" cy="6080190"/>
        </p:xfrm>
        <a:graphic>
          <a:graphicData uri="http://schemas.openxmlformats.org/drawingml/2006/table">
            <a:tbl>
              <a:tblPr firstRow="1" bandRow="1">
                <a:tableStyleId>{5C22544A-7EE6-4342-B048-85BDC9FD1C3A}</a:tableStyleId>
              </a:tblPr>
              <a:tblGrid>
                <a:gridCol w="1164771">
                  <a:extLst>
                    <a:ext uri="{9D8B030D-6E8A-4147-A177-3AD203B41FA5}">
                      <a16:colId xmlns:a16="http://schemas.microsoft.com/office/drawing/2014/main" val="20000"/>
                    </a:ext>
                  </a:extLst>
                </a:gridCol>
                <a:gridCol w="1164771">
                  <a:extLst>
                    <a:ext uri="{9D8B030D-6E8A-4147-A177-3AD203B41FA5}">
                      <a16:colId xmlns:a16="http://schemas.microsoft.com/office/drawing/2014/main" val="20001"/>
                    </a:ext>
                  </a:extLst>
                </a:gridCol>
                <a:gridCol w="1164771">
                  <a:extLst>
                    <a:ext uri="{9D8B030D-6E8A-4147-A177-3AD203B41FA5}">
                      <a16:colId xmlns:a16="http://schemas.microsoft.com/office/drawing/2014/main" val="20002"/>
                    </a:ext>
                  </a:extLst>
                </a:gridCol>
                <a:gridCol w="1164771">
                  <a:extLst>
                    <a:ext uri="{9D8B030D-6E8A-4147-A177-3AD203B41FA5}">
                      <a16:colId xmlns:a16="http://schemas.microsoft.com/office/drawing/2014/main" val="20003"/>
                    </a:ext>
                  </a:extLst>
                </a:gridCol>
                <a:gridCol w="1164771">
                  <a:extLst>
                    <a:ext uri="{9D8B030D-6E8A-4147-A177-3AD203B41FA5}">
                      <a16:colId xmlns:a16="http://schemas.microsoft.com/office/drawing/2014/main" val="20004"/>
                    </a:ext>
                  </a:extLst>
                </a:gridCol>
                <a:gridCol w="1164771">
                  <a:extLst>
                    <a:ext uri="{9D8B030D-6E8A-4147-A177-3AD203B41FA5}">
                      <a16:colId xmlns:a16="http://schemas.microsoft.com/office/drawing/2014/main" val="20005"/>
                    </a:ext>
                  </a:extLst>
                </a:gridCol>
                <a:gridCol w="1164771">
                  <a:extLst>
                    <a:ext uri="{9D8B030D-6E8A-4147-A177-3AD203B41FA5}">
                      <a16:colId xmlns:a16="http://schemas.microsoft.com/office/drawing/2014/main" val="20006"/>
                    </a:ext>
                  </a:extLst>
                </a:gridCol>
              </a:tblGrid>
              <a:tr h="320007">
                <a:tc>
                  <a:txBody>
                    <a:bodyPr/>
                    <a:lstStyle/>
                    <a:p>
                      <a:pPr algn="ctr"/>
                      <a:r>
                        <a:rPr lang="zh-CN" altLang="en-US" sz="1500" dirty="0" smtClean="0">
                          <a:solidFill>
                            <a:schemeClr val="tx1"/>
                          </a:solidFill>
                        </a:rPr>
                        <a:t>阶层</a:t>
                      </a:r>
                      <a:endParaRPr lang="zh-CN" altLang="en-US" sz="1500" dirty="0">
                        <a:solidFill>
                          <a:schemeClr val="tx1"/>
                        </a:solidFill>
                      </a:endParaRPr>
                    </a:p>
                  </a:txBody>
                  <a:tcPr marT="45705" marB="45705"/>
                </a:tc>
                <a:tc>
                  <a:txBody>
                    <a:bodyPr/>
                    <a:lstStyle/>
                    <a:p>
                      <a:pPr algn="ctr"/>
                      <a:r>
                        <a:rPr lang="zh-CN" altLang="en-US" sz="1500" dirty="0" smtClean="0">
                          <a:solidFill>
                            <a:schemeClr val="tx1"/>
                          </a:solidFill>
                        </a:rPr>
                        <a:t>父项编码</a:t>
                      </a:r>
                      <a:endParaRPr lang="zh-CN" altLang="en-US" sz="1500" dirty="0">
                        <a:solidFill>
                          <a:schemeClr val="tx1"/>
                        </a:solidFill>
                      </a:endParaRPr>
                    </a:p>
                  </a:txBody>
                  <a:tcPr marT="45705" marB="45705"/>
                </a:tc>
                <a:tc>
                  <a:txBody>
                    <a:bodyPr/>
                    <a:lstStyle/>
                    <a:p>
                      <a:pPr algn="ctr"/>
                      <a:r>
                        <a:rPr lang="zh-CN" altLang="en-US" sz="1500" dirty="0" smtClean="0">
                          <a:solidFill>
                            <a:schemeClr val="tx1"/>
                          </a:solidFill>
                        </a:rPr>
                        <a:t>子项编码</a:t>
                      </a:r>
                      <a:endParaRPr lang="zh-CN" altLang="en-US" sz="1500" dirty="0">
                        <a:solidFill>
                          <a:schemeClr val="tx1"/>
                        </a:solidFill>
                      </a:endParaRPr>
                    </a:p>
                  </a:txBody>
                  <a:tcPr marT="45705" marB="45705"/>
                </a:tc>
                <a:tc>
                  <a:txBody>
                    <a:bodyPr/>
                    <a:lstStyle/>
                    <a:p>
                      <a:pPr algn="ctr"/>
                      <a:r>
                        <a:rPr lang="zh-CN" altLang="en-US" sz="1500" dirty="0" smtClean="0">
                          <a:solidFill>
                            <a:schemeClr val="tx1"/>
                          </a:solidFill>
                        </a:rPr>
                        <a:t>子项名称</a:t>
                      </a:r>
                      <a:endParaRPr lang="zh-CN" altLang="en-US" sz="1500" dirty="0">
                        <a:solidFill>
                          <a:schemeClr val="tx1"/>
                        </a:solidFill>
                      </a:endParaRPr>
                    </a:p>
                  </a:txBody>
                  <a:tcPr marT="45705" marB="45705"/>
                </a:tc>
                <a:tc>
                  <a:txBody>
                    <a:bodyPr/>
                    <a:lstStyle/>
                    <a:p>
                      <a:pPr algn="ctr"/>
                      <a:r>
                        <a:rPr lang="zh-CN" altLang="en-US" sz="1500" dirty="0" smtClean="0">
                          <a:solidFill>
                            <a:schemeClr val="tx1"/>
                          </a:solidFill>
                        </a:rPr>
                        <a:t>计量单位</a:t>
                      </a:r>
                      <a:endParaRPr lang="zh-CN" altLang="en-US" sz="1500" dirty="0">
                        <a:solidFill>
                          <a:schemeClr val="tx1"/>
                        </a:solidFill>
                      </a:endParaRPr>
                    </a:p>
                  </a:txBody>
                  <a:tcPr marT="45705" marB="45705"/>
                </a:tc>
                <a:tc>
                  <a:txBody>
                    <a:bodyPr/>
                    <a:lstStyle/>
                    <a:p>
                      <a:pPr algn="ctr"/>
                      <a:r>
                        <a:rPr lang="zh-CN" altLang="en-US" sz="1500" dirty="0" smtClean="0">
                          <a:solidFill>
                            <a:schemeClr val="tx1"/>
                          </a:solidFill>
                        </a:rPr>
                        <a:t>单位用量</a:t>
                      </a:r>
                      <a:endParaRPr lang="zh-CN" altLang="en-US" sz="1500" dirty="0">
                        <a:solidFill>
                          <a:schemeClr val="tx1"/>
                        </a:solidFill>
                      </a:endParaRPr>
                    </a:p>
                  </a:txBody>
                  <a:tcPr marT="45705" marB="45705"/>
                </a:tc>
                <a:tc>
                  <a:txBody>
                    <a:bodyPr/>
                    <a:lstStyle/>
                    <a:p>
                      <a:pPr algn="ctr"/>
                      <a:r>
                        <a:rPr lang="zh-CN" altLang="en-US" sz="1500" dirty="0" smtClean="0">
                          <a:solidFill>
                            <a:schemeClr val="tx1"/>
                          </a:solidFill>
                        </a:rPr>
                        <a:t>描述</a:t>
                      </a:r>
                      <a:endParaRPr lang="zh-CN" altLang="en-US" sz="1500" dirty="0">
                        <a:solidFill>
                          <a:schemeClr val="tx1"/>
                        </a:solidFill>
                      </a:endParaRPr>
                    </a:p>
                  </a:txBody>
                  <a:tcPr marT="45705" marB="45705"/>
                </a:tc>
                <a:extLst>
                  <a:ext uri="{0D108BD9-81ED-4DB2-BD59-A6C34878D82A}">
                    <a16:rowId xmlns:a16="http://schemas.microsoft.com/office/drawing/2014/main" val="10000"/>
                  </a:ext>
                </a:extLst>
              </a:tr>
              <a:tr h="320007">
                <a:tc>
                  <a:txBody>
                    <a:bodyPr/>
                    <a:lstStyle/>
                    <a:p>
                      <a:pPr marL="216000" algn="l"/>
                      <a:r>
                        <a:rPr lang="en-US" altLang="zh-CN" sz="1500" dirty="0" smtClean="0"/>
                        <a:t>0</a:t>
                      </a:r>
                      <a:endParaRPr lang="zh-CN" altLang="en-US" sz="1500" dirty="0"/>
                    </a:p>
                  </a:txBody>
                  <a:tcPr marT="45705" marB="45705"/>
                </a:tc>
                <a:tc>
                  <a:txBody>
                    <a:bodyPr/>
                    <a:lstStyle/>
                    <a:p>
                      <a:pPr algn="ctr"/>
                      <a:r>
                        <a:rPr lang="en-US" altLang="zh-CN" sz="1500" dirty="0" smtClean="0"/>
                        <a:t>——</a:t>
                      </a:r>
                      <a:endParaRPr lang="zh-CN" altLang="en-US" sz="1500" dirty="0"/>
                    </a:p>
                  </a:txBody>
                  <a:tcPr marT="45705" marB="45705"/>
                </a:tc>
                <a:tc>
                  <a:txBody>
                    <a:bodyPr/>
                    <a:lstStyle/>
                    <a:p>
                      <a:pPr algn="ctr"/>
                      <a:r>
                        <a:rPr lang="en-US" altLang="zh-CN" sz="1500" dirty="0" smtClean="0"/>
                        <a:t>PA26-50</a:t>
                      </a:r>
                      <a:endParaRPr lang="zh-CN" altLang="en-US" sz="1500" dirty="0"/>
                    </a:p>
                  </a:txBody>
                  <a:tcPr marT="45705" marB="45705"/>
                </a:tc>
                <a:tc>
                  <a:txBody>
                    <a:bodyPr/>
                    <a:lstStyle/>
                    <a:p>
                      <a:pPr algn="ctr"/>
                      <a:r>
                        <a:rPr lang="zh-CN" altLang="en-US" sz="1500" dirty="0" smtClean="0"/>
                        <a:t>自行车</a:t>
                      </a:r>
                      <a:endParaRPr lang="zh-CN" altLang="en-US" sz="1500" dirty="0"/>
                    </a:p>
                  </a:txBody>
                  <a:tcPr marT="45705" marB="45705"/>
                </a:tc>
                <a:tc>
                  <a:txBody>
                    <a:bodyPr/>
                    <a:lstStyle/>
                    <a:p>
                      <a:pPr algn="ctr"/>
                      <a:r>
                        <a:rPr lang="zh-CN" altLang="en-US" sz="1500" dirty="0" smtClean="0"/>
                        <a:t>架</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1"/>
                  </a:ext>
                </a:extLst>
              </a:tr>
              <a:tr h="320007">
                <a:tc>
                  <a:txBody>
                    <a:bodyPr/>
                    <a:lstStyle/>
                    <a:p>
                      <a:pPr marL="216000" algn="l"/>
                      <a:r>
                        <a:rPr lang="en-US" altLang="zh-CN" sz="1500" dirty="0" smtClean="0"/>
                        <a:t>.1</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PA26-50</a:t>
                      </a:r>
                    </a:p>
                  </a:txBody>
                  <a:tcPr marT="45705" marB="45705"/>
                </a:tc>
                <a:tc>
                  <a:txBody>
                    <a:bodyPr/>
                    <a:lstStyle/>
                    <a:p>
                      <a:pPr algn="ctr"/>
                      <a:r>
                        <a:rPr lang="en-US" altLang="zh-CN" sz="1500" dirty="0" smtClean="0"/>
                        <a:t>1027816</a:t>
                      </a:r>
                      <a:endParaRPr lang="zh-CN" altLang="en-US" sz="1500" dirty="0"/>
                    </a:p>
                  </a:txBody>
                  <a:tcPr marT="45705" marB="45705"/>
                </a:tc>
                <a:tc>
                  <a:txBody>
                    <a:bodyPr/>
                    <a:lstStyle/>
                    <a:p>
                      <a:pPr algn="ctr"/>
                      <a:r>
                        <a:rPr lang="zh-CN" altLang="en-US" sz="1500" dirty="0" smtClean="0"/>
                        <a:t>车架系统</a:t>
                      </a:r>
                      <a:endParaRPr lang="zh-CN" altLang="en-US" sz="1500" dirty="0"/>
                    </a:p>
                  </a:txBody>
                  <a:tcPr marT="45705" marB="45705"/>
                </a:tc>
                <a:tc>
                  <a:txBody>
                    <a:bodyPr/>
                    <a:lstStyle/>
                    <a:p>
                      <a:pPr algn="ctr"/>
                      <a:r>
                        <a:rPr lang="zh-CN" altLang="en-US" sz="1500" dirty="0" smtClean="0"/>
                        <a:t>套</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2"/>
                  </a:ext>
                </a:extLst>
              </a:tr>
              <a:tr h="320007">
                <a:tc>
                  <a:txBody>
                    <a:bodyPr/>
                    <a:lstStyle/>
                    <a:p>
                      <a:pPr marL="216000" algn="l"/>
                      <a:r>
                        <a:rPr lang="en-US" altLang="zh-CN" sz="1500" dirty="0" smtClean="0"/>
                        <a:t>.1</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PA26-50</a:t>
                      </a:r>
                    </a:p>
                  </a:txBody>
                  <a:tcPr marT="45705" marB="45705"/>
                </a:tc>
                <a:tc>
                  <a:txBody>
                    <a:bodyPr/>
                    <a:lstStyle/>
                    <a:p>
                      <a:pPr algn="ctr"/>
                      <a:r>
                        <a:rPr lang="en-US" altLang="zh-CN" sz="1500" dirty="0" smtClean="0"/>
                        <a:t>1026622</a:t>
                      </a:r>
                      <a:endParaRPr lang="zh-CN" altLang="en-US" sz="1500" dirty="0"/>
                    </a:p>
                  </a:txBody>
                  <a:tcPr marT="45705" marB="45705"/>
                </a:tc>
                <a:tc>
                  <a:txBody>
                    <a:bodyPr/>
                    <a:lstStyle/>
                    <a:p>
                      <a:pPr algn="ctr"/>
                      <a:r>
                        <a:rPr lang="zh-CN" altLang="en-US" sz="1500" dirty="0" smtClean="0"/>
                        <a:t>车把系统</a:t>
                      </a:r>
                      <a:endParaRPr lang="zh-CN" altLang="en-US" sz="1500" dirty="0"/>
                    </a:p>
                  </a:txBody>
                  <a:tcPr marT="45705" marB="45705"/>
                </a:tc>
                <a:tc>
                  <a:txBody>
                    <a:bodyPr/>
                    <a:lstStyle/>
                    <a:p>
                      <a:pPr algn="ctr"/>
                      <a:r>
                        <a:rPr lang="zh-CN" altLang="en-US" sz="1500" dirty="0" smtClean="0"/>
                        <a:t>套</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3"/>
                  </a:ext>
                </a:extLst>
              </a:tr>
              <a:tr h="320007">
                <a:tc>
                  <a:txBody>
                    <a:bodyPr/>
                    <a:lstStyle/>
                    <a:p>
                      <a:pPr marL="216000" algn="l"/>
                      <a:r>
                        <a:rPr lang="en-US" altLang="zh-CN" sz="1500" dirty="0" smtClean="0"/>
                        <a:t>.1</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PA26-50</a:t>
                      </a:r>
                    </a:p>
                  </a:txBody>
                  <a:tcPr marT="45705" marB="45705"/>
                </a:tc>
                <a:tc>
                  <a:txBody>
                    <a:bodyPr/>
                    <a:lstStyle/>
                    <a:p>
                      <a:pPr algn="ctr"/>
                      <a:r>
                        <a:rPr lang="en-US" altLang="zh-CN" sz="1500" dirty="0" smtClean="0"/>
                        <a:t>10221188</a:t>
                      </a:r>
                      <a:endParaRPr lang="zh-CN" altLang="en-US" sz="1500" dirty="0"/>
                    </a:p>
                  </a:txBody>
                  <a:tcPr marT="45705" marB="45705"/>
                </a:tc>
                <a:tc>
                  <a:txBody>
                    <a:bodyPr/>
                    <a:lstStyle/>
                    <a:p>
                      <a:pPr algn="ctr"/>
                      <a:r>
                        <a:rPr lang="zh-CN" altLang="en-US" sz="1500" dirty="0" smtClean="0"/>
                        <a:t>车轮系统</a:t>
                      </a:r>
                      <a:endParaRPr lang="zh-CN" altLang="en-US" sz="1500" dirty="0"/>
                    </a:p>
                  </a:txBody>
                  <a:tcPr marT="45705" marB="45705"/>
                </a:tc>
                <a:tc>
                  <a:txBody>
                    <a:bodyPr/>
                    <a:lstStyle/>
                    <a:p>
                      <a:pPr algn="ctr"/>
                      <a:r>
                        <a:rPr lang="zh-CN" altLang="en-US" sz="1500" dirty="0" smtClean="0"/>
                        <a:t>套</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4"/>
                  </a:ext>
                </a:extLst>
              </a:tr>
              <a:tr h="320007">
                <a:tc>
                  <a:txBody>
                    <a:bodyPr/>
                    <a:lstStyle/>
                    <a:p>
                      <a:pPr marL="216000" algn="l"/>
                      <a:r>
                        <a:rPr lang="en-US" altLang="zh-CN" sz="1500" dirty="0" smtClean="0"/>
                        <a:t>..2</a:t>
                      </a:r>
                      <a:endParaRPr lang="zh-CN" altLang="en-US" sz="1500" dirty="0"/>
                    </a:p>
                  </a:txBody>
                  <a:tcPr marT="45705" marB="45705"/>
                </a:tc>
                <a:tc>
                  <a:txBody>
                    <a:bodyPr/>
                    <a:lstStyle/>
                    <a:p>
                      <a:pPr algn="ctr"/>
                      <a:r>
                        <a:rPr lang="en-US" altLang="zh-CN" sz="1500" dirty="0" smtClean="0"/>
                        <a:t>1022118</a:t>
                      </a:r>
                      <a:endParaRPr lang="zh-CN" altLang="en-US" sz="1500" dirty="0"/>
                    </a:p>
                  </a:txBody>
                  <a:tcPr marT="45705" marB="45705"/>
                </a:tc>
                <a:tc>
                  <a:txBody>
                    <a:bodyPr/>
                    <a:lstStyle/>
                    <a:p>
                      <a:pPr algn="ctr"/>
                      <a:r>
                        <a:rPr lang="en-US" altLang="zh-CN" sz="1500" dirty="0" smtClean="0"/>
                        <a:t>2069212</a:t>
                      </a:r>
                      <a:endParaRPr lang="zh-CN" altLang="en-US" sz="1500" dirty="0"/>
                    </a:p>
                  </a:txBody>
                  <a:tcPr marT="45705" marB="45705"/>
                </a:tc>
                <a:tc>
                  <a:txBody>
                    <a:bodyPr/>
                    <a:lstStyle/>
                    <a:p>
                      <a:pPr algn="ctr"/>
                      <a:r>
                        <a:rPr lang="zh-CN" altLang="en-US" sz="1500" dirty="0" smtClean="0"/>
                        <a:t>车轮</a:t>
                      </a:r>
                      <a:endParaRPr lang="zh-CN" altLang="en-US" sz="1500" dirty="0"/>
                    </a:p>
                  </a:txBody>
                  <a:tcPr marT="45705" marB="45705"/>
                </a:tc>
                <a:tc>
                  <a:txBody>
                    <a:bodyPr/>
                    <a:lstStyle/>
                    <a:p>
                      <a:pPr algn="ctr"/>
                      <a:r>
                        <a:rPr lang="zh-CN" altLang="en-US" sz="1500" dirty="0" smtClean="0"/>
                        <a:t>套</a:t>
                      </a:r>
                      <a:endParaRPr lang="zh-CN" altLang="en-US" sz="1500" dirty="0"/>
                    </a:p>
                  </a:txBody>
                  <a:tcPr marT="45705" marB="45705"/>
                </a:tc>
                <a:tc>
                  <a:txBody>
                    <a:bodyPr/>
                    <a:lstStyle/>
                    <a:p>
                      <a:pPr algn="ctr"/>
                      <a:r>
                        <a:rPr lang="en-US" altLang="zh-CN" sz="1500" dirty="0" smtClean="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5"/>
                  </a:ext>
                </a:extLst>
              </a:tr>
              <a:tr h="320007">
                <a:tc>
                  <a:txBody>
                    <a:bodyPr/>
                    <a:lstStyle/>
                    <a:p>
                      <a:pPr marL="216000" algn="l"/>
                      <a:r>
                        <a:rPr lang="en-US" altLang="zh-CN" sz="1500" dirty="0" smtClean="0"/>
                        <a:t>..2</a:t>
                      </a:r>
                      <a:endParaRPr lang="zh-CN" altLang="en-US" sz="1500" dirty="0"/>
                    </a:p>
                  </a:txBody>
                  <a:tcPr marT="45705" marB="45705"/>
                </a:tc>
                <a:tc>
                  <a:txBody>
                    <a:bodyPr/>
                    <a:lstStyle/>
                    <a:p>
                      <a:pPr algn="ctr"/>
                      <a:r>
                        <a:rPr lang="en-US" altLang="zh-CN" sz="1500" dirty="0" smtClean="0"/>
                        <a:t>1022118</a:t>
                      </a:r>
                      <a:endParaRPr lang="zh-CN" altLang="en-US" sz="1500" dirty="0"/>
                    </a:p>
                  </a:txBody>
                  <a:tcPr marT="45705" marB="45705"/>
                </a:tc>
                <a:tc>
                  <a:txBody>
                    <a:bodyPr/>
                    <a:lstStyle/>
                    <a:p>
                      <a:pPr algn="ctr"/>
                      <a:r>
                        <a:rPr lang="en-US" altLang="zh-CN" sz="1500" dirty="0" smtClean="0"/>
                        <a:t>2062835</a:t>
                      </a:r>
                      <a:endParaRPr lang="zh-CN" altLang="en-US" sz="1500" dirty="0"/>
                    </a:p>
                  </a:txBody>
                  <a:tcPr marT="45705" marB="45705"/>
                </a:tc>
                <a:tc>
                  <a:txBody>
                    <a:bodyPr/>
                    <a:lstStyle/>
                    <a:p>
                      <a:pPr algn="ctr"/>
                      <a:r>
                        <a:rPr lang="zh-CN" altLang="en-US" sz="1500" dirty="0" smtClean="0"/>
                        <a:t>前轴</a:t>
                      </a:r>
                      <a:endParaRPr lang="zh-CN" altLang="en-US" sz="1500" dirty="0"/>
                    </a:p>
                  </a:txBody>
                  <a:tcPr marT="45705" marB="45705"/>
                </a:tc>
                <a:tc>
                  <a:txBody>
                    <a:bodyPr/>
                    <a:lstStyle/>
                    <a:p>
                      <a:pPr algn="ctr"/>
                      <a:r>
                        <a:rPr lang="zh-CN" altLang="en-US" sz="1500" dirty="0" smtClean="0"/>
                        <a:t>套</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6"/>
                  </a:ext>
                </a:extLst>
              </a:tr>
              <a:tr h="320007">
                <a:tc>
                  <a:txBody>
                    <a:bodyPr/>
                    <a:lstStyle/>
                    <a:p>
                      <a:pPr marL="216000" algn="l"/>
                      <a:r>
                        <a:rPr lang="en-US" altLang="zh-CN" sz="1500" dirty="0" smtClean="0"/>
                        <a:t>…3</a:t>
                      </a:r>
                      <a:endParaRPr lang="zh-CN" altLang="en-US" sz="1500" dirty="0"/>
                    </a:p>
                  </a:txBody>
                  <a:tcPr marT="45705" marB="45705"/>
                </a:tc>
                <a:tc>
                  <a:txBody>
                    <a:bodyPr/>
                    <a:lstStyle/>
                    <a:p>
                      <a:pPr algn="ctr"/>
                      <a:r>
                        <a:rPr lang="en-US" altLang="zh-CN" sz="1500" dirty="0" smtClean="0"/>
                        <a:t>2062835</a:t>
                      </a:r>
                      <a:endParaRPr lang="zh-CN" altLang="en-US" sz="1500" dirty="0"/>
                    </a:p>
                  </a:txBody>
                  <a:tcPr marT="45705" marB="45705"/>
                </a:tc>
                <a:tc>
                  <a:txBody>
                    <a:bodyPr/>
                    <a:lstStyle/>
                    <a:p>
                      <a:pPr algn="ctr"/>
                      <a:r>
                        <a:rPr lang="en-US" altLang="zh-CN" sz="1500" dirty="0" smtClean="0"/>
                        <a:t>2067612</a:t>
                      </a:r>
                      <a:endParaRPr lang="zh-CN" altLang="en-US" sz="1500" dirty="0"/>
                    </a:p>
                  </a:txBody>
                  <a:tcPr marT="45705" marB="45705"/>
                </a:tc>
                <a:tc>
                  <a:txBody>
                    <a:bodyPr/>
                    <a:lstStyle/>
                    <a:p>
                      <a:pPr algn="ctr"/>
                      <a:r>
                        <a:rPr lang="zh-CN" altLang="en-US" sz="1500" dirty="0" smtClean="0"/>
                        <a:t>前轴身</a:t>
                      </a:r>
                      <a:endParaRPr lang="zh-CN" altLang="en-US" sz="1500" dirty="0"/>
                    </a:p>
                  </a:txBody>
                  <a:tcPr marT="45705" marB="45705"/>
                </a:tc>
                <a:tc>
                  <a:txBody>
                    <a:bodyPr/>
                    <a:lstStyle/>
                    <a:p>
                      <a:pPr algn="ctr"/>
                      <a:r>
                        <a:rPr lang="zh-CN" altLang="en-US" sz="1500" dirty="0" smtClean="0"/>
                        <a:t>套</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7"/>
                  </a:ext>
                </a:extLst>
              </a:tr>
              <a:tr h="320007">
                <a:tc>
                  <a:txBody>
                    <a:bodyPr/>
                    <a:lstStyle/>
                    <a:p>
                      <a:pPr marL="216000" algn="l"/>
                      <a:r>
                        <a:rPr lang="en-US" altLang="zh-CN" sz="1500" dirty="0" smtClean="0"/>
                        <a:t>….4</a:t>
                      </a:r>
                      <a:endParaRPr lang="zh-CN" altLang="en-US" sz="1500" dirty="0"/>
                    </a:p>
                  </a:txBody>
                  <a:tcPr marT="45705" marB="45705"/>
                </a:tc>
                <a:tc>
                  <a:txBody>
                    <a:bodyPr/>
                    <a:lstStyle/>
                    <a:p>
                      <a:pPr algn="ctr"/>
                      <a:r>
                        <a:rPr lang="en-US" altLang="zh-CN" sz="1500" dirty="0" smtClean="0"/>
                        <a:t>2037612</a:t>
                      </a:r>
                      <a:endParaRPr lang="zh-CN" altLang="en-US" sz="1500" dirty="0"/>
                    </a:p>
                  </a:txBody>
                  <a:tcPr marT="45705" marB="45705"/>
                </a:tc>
                <a:tc>
                  <a:txBody>
                    <a:bodyPr/>
                    <a:lstStyle/>
                    <a:p>
                      <a:pPr algn="ctr"/>
                      <a:r>
                        <a:rPr lang="en-US" altLang="zh-CN" sz="1500" dirty="0" smtClean="0"/>
                        <a:t>3021183</a:t>
                      </a:r>
                      <a:endParaRPr lang="zh-CN" altLang="en-US" sz="1500" dirty="0"/>
                    </a:p>
                  </a:txBody>
                  <a:tcPr marT="45705" marB="45705"/>
                </a:tc>
                <a:tc>
                  <a:txBody>
                    <a:bodyPr/>
                    <a:lstStyle/>
                    <a:p>
                      <a:pPr algn="ctr"/>
                      <a:r>
                        <a:rPr lang="zh-CN" altLang="en-US" sz="1500" dirty="0" smtClean="0"/>
                        <a:t>前轴管</a:t>
                      </a:r>
                      <a:endParaRPr lang="zh-CN" altLang="en-US" sz="1500" dirty="0"/>
                    </a:p>
                  </a:txBody>
                  <a:tcPr marT="45705" marB="45705"/>
                </a:tc>
                <a:tc>
                  <a:txBody>
                    <a:bodyPr/>
                    <a:lstStyle/>
                    <a:p>
                      <a:pPr algn="ctr"/>
                      <a:r>
                        <a:rPr lang="zh-CN" altLang="en-US" sz="1500" dirty="0" smtClean="0"/>
                        <a:t>个</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8"/>
                  </a:ext>
                </a:extLst>
              </a:tr>
              <a:tr h="320007">
                <a:tc>
                  <a:txBody>
                    <a:bodyPr/>
                    <a:lstStyle/>
                    <a:p>
                      <a:pPr marL="216000" algn="l"/>
                      <a:r>
                        <a:rPr lang="en-US" altLang="zh-CN" sz="1500" dirty="0" smtClean="0"/>
                        <a:t>….4</a:t>
                      </a:r>
                      <a:endParaRPr lang="zh-CN" altLang="en-US" sz="1500" dirty="0"/>
                    </a:p>
                  </a:txBody>
                  <a:tcPr marT="45705" marB="45705"/>
                </a:tc>
                <a:tc>
                  <a:txBody>
                    <a:bodyPr/>
                    <a:lstStyle/>
                    <a:p>
                      <a:pPr algn="ctr"/>
                      <a:r>
                        <a:rPr lang="en-US" altLang="zh-CN" sz="1500" dirty="0" smtClean="0"/>
                        <a:t>2067612</a:t>
                      </a:r>
                      <a:endParaRPr lang="zh-CN" altLang="en-US" sz="1500" dirty="0"/>
                    </a:p>
                  </a:txBody>
                  <a:tcPr marT="45705" marB="45705"/>
                </a:tc>
                <a:tc>
                  <a:txBody>
                    <a:bodyPr/>
                    <a:lstStyle/>
                    <a:p>
                      <a:pPr algn="ctr"/>
                      <a:r>
                        <a:rPr lang="en-US" altLang="zh-CN" sz="1500" dirty="0" smtClean="0"/>
                        <a:t>3022135</a:t>
                      </a:r>
                      <a:endParaRPr lang="zh-CN" altLang="en-US" sz="1500" dirty="0"/>
                    </a:p>
                  </a:txBody>
                  <a:tcPr marT="45705" marB="45705"/>
                </a:tc>
                <a:tc>
                  <a:txBody>
                    <a:bodyPr/>
                    <a:lstStyle/>
                    <a:p>
                      <a:pPr algn="ctr"/>
                      <a:r>
                        <a:rPr lang="zh-CN" altLang="en-US" sz="1500" dirty="0" smtClean="0"/>
                        <a:t>前轴孔夹</a:t>
                      </a:r>
                      <a:endParaRPr lang="zh-CN" altLang="en-US" sz="1500" dirty="0"/>
                    </a:p>
                  </a:txBody>
                  <a:tcPr marT="45705" marB="45705"/>
                </a:tc>
                <a:tc>
                  <a:txBody>
                    <a:bodyPr/>
                    <a:lstStyle/>
                    <a:p>
                      <a:pPr algn="ctr"/>
                      <a:r>
                        <a:rPr lang="zh-CN" altLang="en-US" sz="1500" dirty="0" smtClean="0"/>
                        <a:t>个</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9"/>
                  </a:ext>
                </a:extLst>
              </a:tr>
              <a:tr h="320007">
                <a:tc>
                  <a:txBody>
                    <a:bodyPr/>
                    <a:lstStyle/>
                    <a:p>
                      <a:pPr marL="216000" algn="l"/>
                      <a:r>
                        <a:rPr lang="en-US" altLang="zh-CN" sz="1500" dirty="0" smtClean="0"/>
                        <a:t>….4</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2037612</a:t>
                      </a:r>
                      <a:endParaRPr lang="zh-CN" altLang="en-US" sz="1500" dirty="0" smtClean="0"/>
                    </a:p>
                  </a:txBody>
                  <a:tcPr marT="45705" marB="45705"/>
                </a:tc>
                <a:tc>
                  <a:txBody>
                    <a:bodyPr/>
                    <a:lstStyle/>
                    <a:p>
                      <a:pPr algn="ctr"/>
                      <a:r>
                        <a:rPr lang="en-US" altLang="zh-CN" sz="1500" dirty="0" smtClean="0"/>
                        <a:t>3021915</a:t>
                      </a:r>
                      <a:endParaRPr lang="zh-CN" altLang="en-US" sz="1500" dirty="0"/>
                    </a:p>
                  </a:txBody>
                  <a:tcPr marT="45705" marB="45705"/>
                </a:tc>
                <a:tc>
                  <a:txBody>
                    <a:bodyPr/>
                    <a:lstStyle/>
                    <a:p>
                      <a:pPr algn="ctr"/>
                      <a:r>
                        <a:rPr lang="zh-CN" altLang="en-US" sz="1500" dirty="0" smtClean="0"/>
                        <a:t>前花盘</a:t>
                      </a:r>
                      <a:endParaRPr lang="zh-CN" altLang="en-US" sz="1500" dirty="0"/>
                    </a:p>
                  </a:txBody>
                  <a:tcPr marT="45705" marB="45705"/>
                </a:tc>
                <a:tc>
                  <a:txBody>
                    <a:bodyPr/>
                    <a:lstStyle/>
                    <a:p>
                      <a:pPr algn="ctr"/>
                      <a:r>
                        <a:rPr lang="zh-CN" altLang="en-US" sz="1500" dirty="0" smtClean="0"/>
                        <a:t>个</a:t>
                      </a:r>
                      <a:endParaRPr lang="zh-CN" altLang="en-US" sz="1500" dirty="0"/>
                    </a:p>
                  </a:txBody>
                  <a:tcPr marT="45705" marB="45705"/>
                </a:tc>
                <a:tc>
                  <a:txBody>
                    <a:bodyPr/>
                    <a:lstStyle/>
                    <a:p>
                      <a:pPr algn="ctr"/>
                      <a:r>
                        <a:rPr lang="en-US" altLang="zh-CN" sz="1500" dirty="0" smtClean="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0"/>
                  </a:ext>
                </a:extLst>
              </a:tr>
              <a:tr h="320007">
                <a:tc>
                  <a:txBody>
                    <a:bodyPr/>
                    <a:lstStyle/>
                    <a:p>
                      <a:pPr marL="216000" algn="l"/>
                      <a:r>
                        <a:rPr lang="en-US" altLang="zh-CN" sz="1500" dirty="0" smtClean="0"/>
                        <a:t>…3</a:t>
                      </a:r>
                      <a:endParaRPr lang="zh-CN" altLang="en-US" sz="1500" dirty="0"/>
                    </a:p>
                  </a:txBody>
                  <a:tcPr marT="45705" marB="45705"/>
                </a:tc>
                <a:tc>
                  <a:txBody>
                    <a:bodyPr/>
                    <a:lstStyle/>
                    <a:p>
                      <a:pPr algn="ctr"/>
                      <a:r>
                        <a:rPr lang="en-US" altLang="zh-CN" sz="1500" dirty="0" smtClean="0"/>
                        <a:t>2062835</a:t>
                      </a:r>
                      <a:endParaRPr lang="zh-CN" altLang="en-US" sz="1500" dirty="0"/>
                    </a:p>
                  </a:txBody>
                  <a:tcPr marT="45705" marB="45705"/>
                </a:tc>
                <a:tc>
                  <a:txBody>
                    <a:bodyPr/>
                    <a:lstStyle/>
                    <a:p>
                      <a:pPr algn="ctr"/>
                      <a:r>
                        <a:rPr lang="en-US" altLang="zh-CN" sz="1500" dirty="0" smtClean="0"/>
                        <a:t>3021221</a:t>
                      </a:r>
                      <a:endParaRPr lang="zh-CN" altLang="en-US" sz="1500" dirty="0"/>
                    </a:p>
                  </a:txBody>
                  <a:tcPr marT="45705" marB="45705"/>
                </a:tc>
                <a:tc>
                  <a:txBody>
                    <a:bodyPr/>
                    <a:lstStyle/>
                    <a:p>
                      <a:pPr algn="ctr"/>
                      <a:r>
                        <a:rPr lang="zh-CN" altLang="en-US" sz="1500" dirty="0" smtClean="0"/>
                        <a:t>前轴棍</a:t>
                      </a:r>
                      <a:endParaRPr lang="zh-CN" altLang="en-US" sz="1500" dirty="0"/>
                    </a:p>
                  </a:txBody>
                  <a:tcPr marT="45705" marB="45705"/>
                </a:tc>
                <a:tc>
                  <a:txBody>
                    <a:bodyPr/>
                    <a:lstStyle/>
                    <a:p>
                      <a:pPr algn="ctr"/>
                      <a:r>
                        <a:rPr lang="zh-CN" altLang="en-US" sz="1500" dirty="0" smtClean="0"/>
                        <a:t>个</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1"/>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smtClean="0"/>
                        <a:t>…3</a:t>
                      </a:r>
                      <a:endParaRPr lang="zh-CN" altLang="en-US" sz="1500" dirty="0" smtClean="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2062835</a:t>
                      </a:r>
                      <a:endParaRPr lang="zh-CN" altLang="en-US" sz="1500" dirty="0" smtClean="0"/>
                    </a:p>
                  </a:txBody>
                  <a:tcPr marT="45705" marB="45705"/>
                </a:tc>
                <a:tc>
                  <a:txBody>
                    <a:bodyPr/>
                    <a:lstStyle/>
                    <a:p>
                      <a:pPr algn="ctr"/>
                      <a:r>
                        <a:rPr lang="en-US" altLang="zh-CN" sz="1500" dirty="0" smtClean="0"/>
                        <a:t>3021221</a:t>
                      </a:r>
                      <a:endParaRPr lang="zh-CN" altLang="en-US" sz="1500" dirty="0"/>
                    </a:p>
                  </a:txBody>
                  <a:tcPr marT="45705" marB="45705"/>
                </a:tc>
                <a:tc>
                  <a:txBody>
                    <a:bodyPr/>
                    <a:lstStyle/>
                    <a:p>
                      <a:pPr algn="ctr"/>
                      <a:r>
                        <a:rPr lang="zh-CN" altLang="en-US" sz="1500" dirty="0" smtClean="0"/>
                        <a:t>前轴碗</a:t>
                      </a:r>
                      <a:endParaRPr lang="zh-CN" altLang="en-US" sz="1500" dirty="0"/>
                    </a:p>
                  </a:txBody>
                  <a:tcPr marT="45705" marB="45705"/>
                </a:tc>
                <a:tc>
                  <a:txBody>
                    <a:bodyPr/>
                    <a:lstStyle/>
                    <a:p>
                      <a:pPr algn="ctr"/>
                      <a:r>
                        <a:rPr lang="zh-CN" altLang="en-US" sz="1500" dirty="0" smtClean="0"/>
                        <a:t>个</a:t>
                      </a:r>
                      <a:endParaRPr lang="zh-CN" altLang="en-US" sz="1500" dirty="0"/>
                    </a:p>
                  </a:txBody>
                  <a:tcPr marT="45705" marB="45705"/>
                </a:tc>
                <a:tc>
                  <a:txBody>
                    <a:bodyPr/>
                    <a:lstStyle/>
                    <a:p>
                      <a:pPr algn="ctr"/>
                      <a:r>
                        <a:rPr lang="en-US" altLang="zh-CN" sz="1500" dirty="0" smtClean="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2"/>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smtClean="0"/>
                        <a:t>…3</a:t>
                      </a:r>
                      <a:endParaRPr lang="zh-CN" altLang="en-US" sz="1500" dirty="0" smtClean="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2062835</a:t>
                      </a:r>
                      <a:endParaRPr lang="zh-CN" altLang="en-US" sz="1500" dirty="0" smtClean="0"/>
                    </a:p>
                  </a:txBody>
                  <a:tcPr marT="45705" marB="45705"/>
                </a:tc>
                <a:tc>
                  <a:txBody>
                    <a:bodyPr/>
                    <a:lstStyle/>
                    <a:p>
                      <a:pPr algn="ctr"/>
                      <a:r>
                        <a:rPr lang="en-US" altLang="zh-CN" sz="1500" dirty="0" smtClean="0"/>
                        <a:t>3022271</a:t>
                      </a:r>
                      <a:endParaRPr lang="zh-CN" altLang="en-US" sz="1500" dirty="0"/>
                    </a:p>
                  </a:txBody>
                  <a:tcPr marT="45705" marB="45705"/>
                </a:tc>
                <a:tc>
                  <a:txBody>
                    <a:bodyPr/>
                    <a:lstStyle/>
                    <a:p>
                      <a:pPr algn="ctr"/>
                      <a:r>
                        <a:rPr lang="zh-CN" altLang="en-US" sz="1500" dirty="0" smtClean="0"/>
                        <a:t>前防尘盖</a:t>
                      </a:r>
                      <a:endParaRPr lang="zh-CN" altLang="en-US" sz="1500" dirty="0"/>
                    </a:p>
                  </a:txBody>
                  <a:tcPr marT="45705" marB="45705"/>
                </a:tc>
                <a:tc>
                  <a:txBody>
                    <a:bodyPr/>
                    <a:lstStyle/>
                    <a:p>
                      <a:pPr algn="ctr"/>
                      <a:r>
                        <a:rPr lang="zh-CN" altLang="en-US" sz="1500" dirty="0" smtClean="0"/>
                        <a:t>个</a:t>
                      </a:r>
                      <a:endParaRPr lang="zh-CN" altLang="en-US" sz="1500" dirty="0"/>
                    </a:p>
                  </a:txBody>
                  <a:tcPr marT="45705" marB="45705"/>
                </a:tc>
                <a:tc>
                  <a:txBody>
                    <a:bodyPr/>
                    <a:lstStyle/>
                    <a:p>
                      <a:pPr algn="ctr"/>
                      <a:r>
                        <a:rPr lang="en-US" altLang="zh-CN" sz="1500" dirty="0" smtClean="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3"/>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smtClean="0"/>
                        <a:t>…3</a:t>
                      </a:r>
                      <a:endParaRPr lang="zh-CN" altLang="en-US" sz="1500" dirty="0" smtClean="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2062835</a:t>
                      </a:r>
                      <a:endParaRPr lang="zh-CN" altLang="en-US" sz="1500" dirty="0" smtClean="0"/>
                    </a:p>
                  </a:txBody>
                  <a:tcPr marT="45705" marB="45705"/>
                </a:tc>
                <a:tc>
                  <a:txBody>
                    <a:bodyPr/>
                    <a:lstStyle/>
                    <a:p>
                      <a:pPr algn="ctr"/>
                      <a:r>
                        <a:rPr lang="en-US" altLang="zh-CN" sz="1500" dirty="0" smtClean="0"/>
                        <a:t>3029219</a:t>
                      </a:r>
                      <a:endParaRPr lang="zh-CN" altLang="en-US" sz="1500" dirty="0"/>
                    </a:p>
                  </a:txBody>
                  <a:tcPr marT="45705" marB="45705"/>
                </a:tc>
                <a:tc>
                  <a:txBody>
                    <a:bodyPr/>
                    <a:lstStyle/>
                    <a:p>
                      <a:pPr algn="ctr"/>
                      <a:r>
                        <a:rPr lang="zh-CN" altLang="en-US" sz="1500" dirty="0" smtClean="0"/>
                        <a:t>前轴档</a:t>
                      </a:r>
                      <a:endParaRPr lang="zh-CN" altLang="en-US" sz="1500" dirty="0"/>
                    </a:p>
                  </a:txBody>
                  <a:tcPr marT="45705" marB="45705"/>
                </a:tc>
                <a:tc>
                  <a:txBody>
                    <a:bodyPr/>
                    <a:lstStyle/>
                    <a:p>
                      <a:pPr algn="ctr"/>
                      <a:r>
                        <a:rPr lang="zh-CN" altLang="en-US" sz="1500" dirty="0" smtClean="0"/>
                        <a:t>个</a:t>
                      </a:r>
                      <a:endParaRPr lang="zh-CN" altLang="en-US" sz="1500" dirty="0"/>
                    </a:p>
                  </a:txBody>
                  <a:tcPr marT="45705" marB="45705"/>
                </a:tc>
                <a:tc>
                  <a:txBody>
                    <a:bodyPr/>
                    <a:lstStyle/>
                    <a:p>
                      <a:pPr algn="ctr"/>
                      <a:r>
                        <a:rPr lang="en-US" altLang="zh-CN" sz="1500" dirty="0" smtClean="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4"/>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smtClean="0"/>
                        <a:t>…3</a:t>
                      </a:r>
                      <a:endParaRPr lang="zh-CN" altLang="en-US" sz="1500" dirty="0" smtClean="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2062835</a:t>
                      </a:r>
                      <a:endParaRPr lang="zh-CN" altLang="en-US" sz="1500" dirty="0" smtClean="0"/>
                    </a:p>
                  </a:txBody>
                  <a:tcPr marT="45705" marB="45705"/>
                </a:tc>
                <a:tc>
                  <a:txBody>
                    <a:bodyPr/>
                    <a:lstStyle/>
                    <a:p>
                      <a:pPr algn="ctr"/>
                      <a:r>
                        <a:rPr lang="en-US" altLang="zh-CN" sz="1500" dirty="0" smtClean="0"/>
                        <a:t>6052200 </a:t>
                      </a:r>
                      <a:endParaRPr lang="zh-CN" altLang="en-US" sz="1500" dirty="0"/>
                    </a:p>
                  </a:txBody>
                  <a:tcPr marT="45705" marB="45705"/>
                </a:tc>
                <a:tc>
                  <a:txBody>
                    <a:bodyPr/>
                    <a:lstStyle/>
                    <a:p>
                      <a:pPr algn="ctr"/>
                      <a:r>
                        <a:rPr lang="zh-CN" altLang="en-US" sz="1500" dirty="0" smtClean="0"/>
                        <a:t>垫圈</a:t>
                      </a:r>
                      <a:endParaRPr lang="zh-CN" altLang="en-US" sz="1500" dirty="0"/>
                    </a:p>
                  </a:txBody>
                  <a:tcPr marT="45705" marB="45705"/>
                </a:tc>
                <a:tc>
                  <a:txBody>
                    <a:bodyPr/>
                    <a:lstStyle/>
                    <a:p>
                      <a:pPr algn="ctr"/>
                      <a:r>
                        <a:rPr lang="zh-CN" altLang="en-US" sz="1500" dirty="0" smtClean="0"/>
                        <a:t>个</a:t>
                      </a:r>
                      <a:endParaRPr lang="zh-CN" altLang="en-US" sz="1500" dirty="0"/>
                    </a:p>
                  </a:txBody>
                  <a:tcPr marT="45705" marB="45705"/>
                </a:tc>
                <a:tc>
                  <a:txBody>
                    <a:bodyPr/>
                    <a:lstStyle/>
                    <a:p>
                      <a:pPr algn="ctr"/>
                      <a:r>
                        <a:rPr lang="en-US" altLang="zh-CN" sz="1500" dirty="0" smtClean="0"/>
                        <a:t>4</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5"/>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smtClean="0"/>
                        <a:t>…3</a:t>
                      </a:r>
                      <a:endParaRPr lang="zh-CN" altLang="en-US" sz="1500" dirty="0" smtClean="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2062835</a:t>
                      </a:r>
                      <a:endParaRPr lang="zh-CN" altLang="en-US" sz="1500" dirty="0" smtClean="0"/>
                    </a:p>
                  </a:txBody>
                  <a:tcPr marT="45705" marB="45705"/>
                </a:tc>
                <a:tc>
                  <a:txBody>
                    <a:bodyPr/>
                    <a:lstStyle/>
                    <a:p>
                      <a:pPr algn="ctr"/>
                      <a:r>
                        <a:rPr lang="en-US" altLang="zh-CN" sz="1500" dirty="0" smtClean="0"/>
                        <a:t>3129518</a:t>
                      </a:r>
                      <a:endParaRPr lang="zh-CN" altLang="en-US" sz="1500" dirty="0"/>
                    </a:p>
                  </a:txBody>
                  <a:tcPr marT="45705" marB="45705"/>
                </a:tc>
                <a:tc>
                  <a:txBody>
                    <a:bodyPr/>
                    <a:lstStyle/>
                    <a:p>
                      <a:pPr algn="ctr"/>
                      <a:r>
                        <a:rPr lang="zh-CN" altLang="en-US" sz="1500" dirty="0" smtClean="0"/>
                        <a:t>前叉</a:t>
                      </a:r>
                      <a:endParaRPr lang="zh-CN" altLang="en-US" sz="1500" dirty="0"/>
                    </a:p>
                  </a:txBody>
                  <a:tcPr marT="45705" marB="45705"/>
                </a:tc>
                <a:tc>
                  <a:txBody>
                    <a:bodyPr/>
                    <a:lstStyle/>
                    <a:p>
                      <a:pPr algn="ctr"/>
                      <a:r>
                        <a:rPr lang="zh-CN" altLang="en-US" sz="1500" dirty="0" smtClean="0"/>
                        <a:t>个</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6"/>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smtClean="0"/>
                        <a:t>…3</a:t>
                      </a:r>
                      <a:endParaRPr lang="zh-CN" altLang="en-US" sz="1500" dirty="0" smtClean="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2062835</a:t>
                      </a:r>
                      <a:endParaRPr lang="zh-CN" altLang="en-US" sz="1500" dirty="0" smtClean="0"/>
                    </a:p>
                  </a:txBody>
                  <a:tcPr marT="45705" marB="45705"/>
                </a:tc>
                <a:tc>
                  <a:txBody>
                    <a:bodyPr/>
                    <a:lstStyle/>
                    <a:p>
                      <a:pPr algn="ctr"/>
                      <a:r>
                        <a:rPr lang="en-US" altLang="zh-CN" sz="1500" dirty="0" smtClean="0"/>
                        <a:t>6081100</a:t>
                      </a:r>
                      <a:endParaRPr lang="zh-CN" altLang="en-US" sz="1500" dirty="0"/>
                    </a:p>
                  </a:txBody>
                  <a:tcPr marT="45705" marB="45705"/>
                </a:tc>
                <a:tc>
                  <a:txBody>
                    <a:bodyPr/>
                    <a:lstStyle/>
                    <a:p>
                      <a:pPr algn="ctr"/>
                      <a:r>
                        <a:rPr lang="zh-CN" altLang="en-US" sz="1500" dirty="0" smtClean="0"/>
                        <a:t>螺母</a:t>
                      </a:r>
                      <a:endParaRPr lang="zh-CN" altLang="en-US" sz="1500" dirty="0"/>
                    </a:p>
                  </a:txBody>
                  <a:tcPr marT="45705" marB="45705"/>
                </a:tc>
                <a:tc>
                  <a:txBody>
                    <a:bodyPr/>
                    <a:lstStyle/>
                    <a:p>
                      <a:pPr algn="ctr"/>
                      <a:r>
                        <a:rPr lang="zh-CN" altLang="en-US" sz="1500" dirty="0" smtClean="0"/>
                        <a:t>个</a:t>
                      </a:r>
                      <a:endParaRPr lang="zh-CN" altLang="en-US" sz="1500" dirty="0"/>
                    </a:p>
                  </a:txBody>
                  <a:tcPr marT="45705" marB="45705"/>
                </a:tc>
                <a:tc>
                  <a:txBody>
                    <a:bodyPr/>
                    <a:lstStyle/>
                    <a:p>
                      <a:pPr algn="ctr"/>
                      <a:r>
                        <a:rPr lang="en-US" altLang="zh-CN" sz="1500" dirty="0" smtClean="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7"/>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smtClean="0"/>
                        <a:t>..2</a:t>
                      </a:r>
                      <a:endParaRPr lang="zh-CN" altLang="en-US" sz="1500" dirty="0" smtClean="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smtClean="0"/>
                        <a:t>1022118</a:t>
                      </a:r>
                      <a:endParaRPr lang="zh-CN" altLang="en-US" sz="1500" dirty="0" smtClean="0"/>
                    </a:p>
                  </a:txBody>
                  <a:tcPr marT="45705" marB="45705"/>
                </a:tc>
                <a:tc>
                  <a:txBody>
                    <a:bodyPr/>
                    <a:lstStyle/>
                    <a:p>
                      <a:pPr algn="ctr"/>
                      <a:r>
                        <a:rPr lang="en-US" altLang="zh-CN" sz="1500" dirty="0" smtClean="0"/>
                        <a:t>2061635</a:t>
                      </a:r>
                      <a:endParaRPr lang="zh-CN" altLang="en-US" sz="1500" dirty="0"/>
                    </a:p>
                  </a:txBody>
                  <a:tcPr marT="45705" marB="45705"/>
                </a:tc>
                <a:tc>
                  <a:txBody>
                    <a:bodyPr/>
                    <a:lstStyle/>
                    <a:p>
                      <a:pPr algn="ctr"/>
                      <a:r>
                        <a:rPr lang="zh-CN" altLang="en-US" sz="1500" dirty="0" smtClean="0"/>
                        <a:t>后轴</a:t>
                      </a:r>
                      <a:endParaRPr lang="zh-CN" altLang="en-US" sz="1500" dirty="0"/>
                    </a:p>
                  </a:txBody>
                  <a:tcPr marT="45705" marB="45705"/>
                </a:tc>
                <a:tc>
                  <a:txBody>
                    <a:bodyPr/>
                    <a:lstStyle/>
                    <a:p>
                      <a:pPr algn="ctr"/>
                      <a:r>
                        <a:rPr lang="zh-CN" altLang="en-US" sz="1500" dirty="0" smtClean="0"/>
                        <a:t>套</a:t>
                      </a:r>
                      <a:endParaRPr lang="zh-CN" altLang="en-US" sz="1500" dirty="0"/>
                    </a:p>
                  </a:txBody>
                  <a:tcPr marT="45705" marB="45705"/>
                </a:tc>
                <a:tc>
                  <a:txBody>
                    <a:bodyPr/>
                    <a:lstStyle/>
                    <a:p>
                      <a:pPr algn="ctr"/>
                      <a:r>
                        <a:rPr lang="en-US" altLang="zh-CN" sz="1500" dirty="0" smtClean="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8"/>
                  </a:ext>
                </a:extLst>
              </a:tr>
            </a:tbl>
          </a:graphicData>
        </a:graphic>
      </p:graphicFrame>
      <p:sp>
        <p:nvSpPr>
          <p:cNvPr id="25766"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Tree>
    <p:extLst>
      <p:ext uri="{BB962C8B-B14F-4D97-AF65-F5344CB8AC3E}">
        <p14:creationId xmlns:p14="http://schemas.microsoft.com/office/powerpoint/2010/main" val="32592501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9" name="Rectangle 3"/>
          <p:cNvSpPr>
            <a:spLocks noGrp="1" noChangeArrowheads="1"/>
          </p:cNvSpPr>
          <p:nvPr>
            <p:ph type="body" idx="1"/>
          </p:nvPr>
        </p:nvSpPr>
        <p:spPr>
          <a:xfrm>
            <a:off x="457200" y="1676400"/>
            <a:ext cx="8229600" cy="4876800"/>
          </a:xfrm>
        </p:spPr>
        <p:txBody>
          <a:bodyPr/>
          <a:lstStyle/>
          <a:p>
            <a:pPr lvl="1" eaLnBrk="1" hangingPunct="1">
              <a:buClr>
                <a:schemeClr val="tx1"/>
              </a:buClr>
              <a:buFont typeface="Marlett" pitchFamily="2" charset="2"/>
              <a:buChar char="2"/>
            </a:pPr>
            <a:r>
              <a:rPr lang="zh-CN" altLang="en-US" b="1" smtClean="0"/>
              <a:t>物料清单的创建原则</a:t>
            </a:r>
          </a:p>
          <a:p>
            <a:pPr lvl="2" eaLnBrk="1" hangingPunct="1">
              <a:lnSpc>
                <a:spcPct val="120000"/>
              </a:lnSpc>
              <a:buClr>
                <a:schemeClr val="tx1"/>
              </a:buClr>
              <a:buFont typeface="Marlett" pitchFamily="2" charset="2"/>
              <a:buChar char="2"/>
            </a:pPr>
            <a:r>
              <a:rPr lang="zh-CN" altLang="en-US" smtClean="0"/>
              <a:t>准确定义物料编码和物料属性</a:t>
            </a:r>
          </a:p>
          <a:p>
            <a:pPr lvl="2" eaLnBrk="1" hangingPunct="1">
              <a:lnSpc>
                <a:spcPct val="120000"/>
              </a:lnSpc>
              <a:buClr>
                <a:schemeClr val="tx1"/>
              </a:buClr>
              <a:buFont typeface="Marlett" pitchFamily="2" charset="2"/>
              <a:buChar char="2"/>
            </a:pPr>
            <a:r>
              <a:rPr lang="zh-CN" altLang="en-US" smtClean="0"/>
              <a:t>产品的结构层次划分在满足功能性、工艺性原则的基础上，尽可能简单</a:t>
            </a:r>
          </a:p>
          <a:p>
            <a:pPr lvl="2" eaLnBrk="1" hangingPunct="1">
              <a:lnSpc>
                <a:spcPct val="120000"/>
              </a:lnSpc>
              <a:buClr>
                <a:schemeClr val="tx1"/>
              </a:buClr>
              <a:buFont typeface="Marlett" pitchFamily="2" charset="2"/>
              <a:buChar char="2"/>
            </a:pPr>
            <a:r>
              <a:rPr lang="zh-CN" altLang="en-US" smtClean="0"/>
              <a:t>合理设置物料代用的原则</a:t>
            </a:r>
          </a:p>
          <a:p>
            <a:pPr lvl="2" eaLnBrk="1" hangingPunct="1">
              <a:lnSpc>
                <a:spcPct val="120000"/>
              </a:lnSpc>
              <a:buClr>
                <a:schemeClr val="tx1"/>
              </a:buClr>
              <a:buFont typeface="Marlett" pitchFamily="2" charset="2"/>
              <a:buChar char="2"/>
            </a:pPr>
            <a:r>
              <a:rPr lang="zh-CN" altLang="en-US" smtClean="0"/>
              <a:t>合理设置选用件的选用原则</a:t>
            </a:r>
          </a:p>
          <a:p>
            <a:pPr lvl="2" eaLnBrk="1" hangingPunct="1">
              <a:lnSpc>
                <a:spcPct val="120000"/>
              </a:lnSpc>
              <a:buClr>
                <a:schemeClr val="tx1"/>
              </a:buClr>
              <a:buFont typeface="Marlett" pitchFamily="2" charset="2"/>
              <a:buChar char="2"/>
            </a:pPr>
            <a:r>
              <a:rPr lang="zh-CN" altLang="en-US" smtClean="0"/>
              <a:t>合理设置虚拟件和模块化，简化</a:t>
            </a:r>
            <a:r>
              <a:rPr lang="en-US" altLang="zh-CN" smtClean="0"/>
              <a:t>BOM</a:t>
            </a:r>
            <a:r>
              <a:rPr lang="zh-CN" altLang="en-US" smtClean="0"/>
              <a:t>结构</a:t>
            </a:r>
          </a:p>
          <a:p>
            <a:pPr lvl="2" eaLnBrk="1" hangingPunct="1">
              <a:lnSpc>
                <a:spcPct val="120000"/>
              </a:lnSpc>
              <a:buClr>
                <a:schemeClr val="tx1"/>
              </a:buClr>
              <a:buFont typeface="Marlett" pitchFamily="2" charset="2"/>
              <a:buChar char="2"/>
            </a:pPr>
            <a:r>
              <a:rPr lang="zh-CN" altLang="en-US" smtClean="0"/>
              <a:t>为了加强控制，可以将加工过程中的重要工艺环节构造在</a:t>
            </a:r>
            <a:r>
              <a:rPr lang="en-US" altLang="zh-CN" smtClean="0"/>
              <a:t>BOM</a:t>
            </a:r>
            <a:r>
              <a:rPr lang="zh-CN" altLang="en-US" smtClean="0"/>
              <a:t>中，如：质量检验</a:t>
            </a:r>
          </a:p>
        </p:txBody>
      </p:sp>
      <p:sp>
        <p:nvSpPr>
          <p:cNvPr id="26628"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9736158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8419">
                                            <p:txEl>
                                              <p:pRg st="1" end="1"/>
                                            </p:txEl>
                                          </p:spTgt>
                                        </p:tgtEl>
                                        <p:attrNameLst>
                                          <p:attrName>style.visibility</p:attrName>
                                        </p:attrNameLst>
                                      </p:cBhvr>
                                      <p:to>
                                        <p:strVal val="visible"/>
                                      </p:to>
                                    </p:set>
                                    <p:anim calcmode="lin" valueType="num">
                                      <p:cBhvr additive="base">
                                        <p:cTn id="7" dur="500" fill="hold"/>
                                        <p:tgtEl>
                                          <p:spTgt spid="188419">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84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8419">
                                            <p:txEl>
                                              <p:pRg st="2" end="2"/>
                                            </p:txEl>
                                          </p:spTgt>
                                        </p:tgtEl>
                                        <p:attrNameLst>
                                          <p:attrName>style.visibility</p:attrName>
                                        </p:attrNameLst>
                                      </p:cBhvr>
                                      <p:to>
                                        <p:strVal val="visible"/>
                                      </p:to>
                                    </p:set>
                                    <p:anim calcmode="lin" valueType="num">
                                      <p:cBhvr additive="base">
                                        <p:cTn id="13" dur="500" fill="hold"/>
                                        <p:tgtEl>
                                          <p:spTgt spid="18841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84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8419">
                                            <p:txEl>
                                              <p:pRg st="3" end="3"/>
                                            </p:txEl>
                                          </p:spTgt>
                                        </p:tgtEl>
                                        <p:attrNameLst>
                                          <p:attrName>style.visibility</p:attrName>
                                        </p:attrNameLst>
                                      </p:cBhvr>
                                      <p:to>
                                        <p:strVal val="visible"/>
                                      </p:to>
                                    </p:set>
                                    <p:anim calcmode="lin" valueType="num">
                                      <p:cBhvr additive="base">
                                        <p:cTn id="19" dur="500" fill="hold"/>
                                        <p:tgtEl>
                                          <p:spTgt spid="18841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84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8419">
                                            <p:txEl>
                                              <p:pRg st="4" end="4"/>
                                            </p:txEl>
                                          </p:spTgt>
                                        </p:tgtEl>
                                        <p:attrNameLst>
                                          <p:attrName>style.visibility</p:attrName>
                                        </p:attrNameLst>
                                      </p:cBhvr>
                                      <p:to>
                                        <p:strVal val="visible"/>
                                      </p:to>
                                    </p:set>
                                    <p:anim calcmode="lin" valueType="num">
                                      <p:cBhvr additive="base">
                                        <p:cTn id="25" dur="500" fill="hold"/>
                                        <p:tgtEl>
                                          <p:spTgt spid="18841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84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8419">
                                            <p:txEl>
                                              <p:pRg st="5" end="5"/>
                                            </p:txEl>
                                          </p:spTgt>
                                        </p:tgtEl>
                                        <p:attrNameLst>
                                          <p:attrName>style.visibility</p:attrName>
                                        </p:attrNameLst>
                                      </p:cBhvr>
                                      <p:to>
                                        <p:strVal val="visible"/>
                                      </p:to>
                                    </p:set>
                                    <p:anim calcmode="lin" valueType="num">
                                      <p:cBhvr additive="base">
                                        <p:cTn id="31" dur="500" fill="hold"/>
                                        <p:tgtEl>
                                          <p:spTgt spid="188419">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84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8419">
                                            <p:txEl>
                                              <p:pRg st="6" end="6"/>
                                            </p:txEl>
                                          </p:spTgt>
                                        </p:tgtEl>
                                        <p:attrNameLst>
                                          <p:attrName>style.visibility</p:attrName>
                                        </p:attrNameLst>
                                      </p:cBhvr>
                                      <p:to>
                                        <p:strVal val="visible"/>
                                      </p:to>
                                    </p:set>
                                    <p:anim calcmode="lin" valueType="num">
                                      <p:cBhvr additive="base">
                                        <p:cTn id="37" dur="500" fill="hold"/>
                                        <p:tgtEl>
                                          <p:spTgt spid="188419">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841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autoUpdateAnimBg="0" advAuto="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3" name="Rectangle 3"/>
          <p:cNvSpPr>
            <a:spLocks noGrp="1" noChangeArrowheads="1"/>
          </p:cNvSpPr>
          <p:nvPr>
            <p:ph type="body" idx="1"/>
          </p:nvPr>
        </p:nvSpPr>
        <p:spPr>
          <a:xfrm>
            <a:off x="457200" y="1676400"/>
            <a:ext cx="8229600" cy="4953000"/>
          </a:xfrm>
        </p:spPr>
        <p:txBody>
          <a:bodyPr/>
          <a:lstStyle/>
          <a:p>
            <a:pPr lvl="1" eaLnBrk="1" hangingPunct="1">
              <a:lnSpc>
                <a:spcPct val="110000"/>
              </a:lnSpc>
              <a:buClr>
                <a:schemeClr val="tx1"/>
              </a:buClr>
              <a:buFont typeface="Marlett" pitchFamily="2" charset="2"/>
              <a:buChar char="2"/>
            </a:pPr>
            <a:r>
              <a:rPr lang="zh-CN" altLang="en-US" b="1" smtClean="0"/>
              <a:t>物料清单的构造步骤</a:t>
            </a:r>
          </a:p>
          <a:p>
            <a:pPr lvl="2" eaLnBrk="1" hangingPunct="1">
              <a:lnSpc>
                <a:spcPct val="110000"/>
              </a:lnSpc>
              <a:buClr>
                <a:schemeClr val="tx1"/>
              </a:buClr>
              <a:buFont typeface="Marlett" pitchFamily="2" charset="2"/>
              <a:buChar char="2"/>
            </a:pPr>
            <a:r>
              <a:rPr lang="en-US" altLang="zh-CN" smtClean="0"/>
              <a:t>Step 1</a:t>
            </a:r>
            <a:r>
              <a:rPr lang="zh-CN" altLang="en-US" smtClean="0"/>
              <a:t>：组建</a:t>
            </a:r>
            <a:r>
              <a:rPr lang="en-US" altLang="zh-CN" smtClean="0"/>
              <a:t>BOM</a:t>
            </a:r>
            <a:r>
              <a:rPr lang="zh-CN" altLang="en-US" smtClean="0"/>
              <a:t>创建小组；</a:t>
            </a:r>
          </a:p>
          <a:p>
            <a:pPr lvl="2" eaLnBrk="1" hangingPunct="1">
              <a:lnSpc>
                <a:spcPct val="110000"/>
              </a:lnSpc>
              <a:buClr>
                <a:schemeClr val="tx1"/>
              </a:buClr>
              <a:buFont typeface="Marlett" pitchFamily="2" charset="2"/>
              <a:buChar char="2"/>
            </a:pPr>
            <a:r>
              <a:rPr lang="en-US" altLang="zh-CN" smtClean="0"/>
              <a:t>Step 2</a:t>
            </a:r>
            <a:r>
              <a:rPr lang="zh-CN" altLang="en-US" smtClean="0"/>
              <a:t>：描述产品结构树</a:t>
            </a:r>
          </a:p>
          <a:p>
            <a:pPr lvl="2" eaLnBrk="1" hangingPunct="1">
              <a:lnSpc>
                <a:spcPct val="110000"/>
              </a:lnSpc>
              <a:buClr>
                <a:schemeClr val="tx1"/>
              </a:buClr>
              <a:buFont typeface="Marlett" pitchFamily="2" charset="2"/>
              <a:buChar char="2"/>
            </a:pPr>
            <a:r>
              <a:rPr lang="en-US" altLang="zh-CN" smtClean="0"/>
              <a:t>Step 3</a:t>
            </a:r>
            <a:r>
              <a:rPr lang="zh-CN" altLang="en-US" smtClean="0"/>
              <a:t>：产生零件清单</a:t>
            </a:r>
          </a:p>
          <a:p>
            <a:pPr lvl="2" eaLnBrk="1" hangingPunct="1">
              <a:lnSpc>
                <a:spcPct val="110000"/>
              </a:lnSpc>
              <a:buClr>
                <a:schemeClr val="tx1"/>
              </a:buClr>
              <a:buFont typeface="Marlett" pitchFamily="2" charset="2"/>
              <a:buChar char="2"/>
            </a:pPr>
            <a:r>
              <a:rPr lang="en-US" altLang="zh-CN" smtClean="0"/>
              <a:t>Step 4</a:t>
            </a:r>
            <a:r>
              <a:rPr lang="zh-CN" altLang="en-US" smtClean="0"/>
              <a:t>：确定工艺流程</a:t>
            </a:r>
          </a:p>
          <a:p>
            <a:pPr lvl="2" eaLnBrk="1" hangingPunct="1">
              <a:lnSpc>
                <a:spcPct val="110000"/>
              </a:lnSpc>
              <a:buClr>
                <a:schemeClr val="tx1"/>
              </a:buClr>
              <a:buFont typeface="Marlett" pitchFamily="2" charset="2"/>
              <a:buChar char="2"/>
            </a:pPr>
            <a:r>
              <a:rPr lang="en-US" altLang="zh-CN" smtClean="0"/>
              <a:t>Step 5</a:t>
            </a:r>
            <a:r>
              <a:rPr lang="zh-CN" altLang="en-US" smtClean="0"/>
              <a:t>：建立单阶</a:t>
            </a:r>
            <a:r>
              <a:rPr lang="en-US" altLang="zh-CN" smtClean="0"/>
              <a:t>BOM</a:t>
            </a:r>
          </a:p>
          <a:p>
            <a:pPr lvl="2" eaLnBrk="1" hangingPunct="1">
              <a:lnSpc>
                <a:spcPct val="110000"/>
              </a:lnSpc>
              <a:buClr>
                <a:schemeClr val="tx1"/>
              </a:buClr>
              <a:buFont typeface="Marlett" pitchFamily="2" charset="2"/>
              <a:buChar char="2"/>
            </a:pPr>
            <a:r>
              <a:rPr lang="en-US" altLang="zh-CN" smtClean="0"/>
              <a:t>Step 6</a:t>
            </a:r>
            <a:r>
              <a:rPr lang="zh-CN" altLang="en-US" smtClean="0"/>
              <a:t>：单阶</a:t>
            </a:r>
            <a:r>
              <a:rPr lang="en-US" altLang="zh-CN" smtClean="0"/>
              <a:t>BOM</a:t>
            </a:r>
            <a:r>
              <a:rPr lang="zh-CN" altLang="en-US" smtClean="0"/>
              <a:t>扩展</a:t>
            </a:r>
          </a:p>
          <a:p>
            <a:pPr lvl="2" eaLnBrk="1" hangingPunct="1">
              <a:lnSpc>
                <a:spcPct val="110000"/>
              </a:lnSpc>
              <a:buClr>
                <a:schemeClr val="tx1"/>
              </a:buClr>
              <a:buFont typeface="Marlett" pitchFamily="2" charset="2"/>
              <a:buChar char="2"/>
            </a:pPr>
            <a:r>
              <a:rPr lang="en-US" altLang="zh-CN" smtClean="0"/>
              <a:t>Step 7</a:t>
            </a:r>
            <a:r>
              <a:rPr lang="zh-CN" altLang="en-US" smtClean="0"/>
              <a:t>：</a:t>
            </a:r>
            <a:r>
              <a:rPr lang="en-US" altLang="zh-CN" smtClean="0"/>
              <a:t>BOM</a:t>
            </a:r>
            <a:r>
              <a:rPr lang="zh-CN" altLang="en-US" smtClean="0"/>
              <a:t>重构</a:t>
            </a:r>
          </a:p>
          <a:p>
            <a:pPr lvl="2" eaLnBrk="1" hangingPunct="1">
              <a:lnSpc>
                <a:spcPct val="110000"/>
              </a:lnSpc>
              <a:buClr>
                <a:schemeClr val="tx1"/>
              </a:buClr>
              <a:buFont typeface="Marlett" pitchFamily="2" charset="2"/>
              <a:buChar char="2"/>
            </a:pPr>
            <a:r>
              <a:rPr lang="en-US" altLang="zh-CN" smtClean="0"/>
              <a:t>Step 8</a:t>
            </a:r>
            <a:r>
              <a:rPr lang="zh-CN" altLang="en-US" smtClean="0"/>
              <a:t>：生成多阶</a:t>
            </a:r>
            <a:r>
              <a:rPr lang="en-US" altLang="zh-CN" smtClean="0"/>
              <a:t>BOM</a:t>
            </a:r>
          </a:p>
          <a:p>
            <a:pPr lvl="2" eaLnBrk="1" hangingPunct="1">
              <a:lnSpc>
                <a:spcPct val="110000"/>
              </a:lnSpc>
              <a:buClr>
                <a:schemeClr val="tx1"/>
              </a:buClr>
              <a:buFont typeface="Marlett" pitchFamily="2" charset="2"/>
              <a:buChar char="2"/>
            </a:pPr>
            <a:r>
              <a:rPr lang="en-US" altLang="zh-CN" smtClean="0"/>
              <a:t>Step 9</a:t>
            </a:r>
            <a:r>
              <a:rPr lang="zh-CN" altLang="en-US" smtClean="0"/>
              <a:t>：全部产品</a:t>
            </a:r>
            <a:r>
              <a:rPr lang="en-US" altLang="zh-CN" smtClean="0"/>
              <a:t>BOM</a:t>
            </a:r>
            <a:r>
              <a:rPr lang="zh-CN" altLang="en-US" smtClean="0"/>
              <a:t>的开发</a:t>
            </a:r>
          </a:p>
        </p:txBody>
      </p:sp>
      <p:sp>
        <p:nvSpPr>
          <p:cNvPr id="2765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277056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9443">
                                            <p:txEl>
                                              <p:pRg st="1" end="1"/>
                                            </p:txEl>
                                          </p:spTgt>
                                        </p:tgtEl>
                                        <p:attrNameLst>
                                          <p:attrName>style.visibility</p:attrName>
                                        </p:attrNameLst>
                                      </p:cBhvr>
                                      <p:to>
                                        <p:strVal val="visible"/>
                                      </p:to>
                                    </p:set>
                                    <p:anim calcmode="lin" valueType="num">
                                      <p:cBhvr additive="base">
                                        <p:cTn id="7" dur="500" fill="hold"/>
                                        <p:tgtEl>
                                          <p:spTgt spid="18944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94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9443">
                                            <p:txEl>
                                              <p:pRg st="2" end="2"/>
                                            </p:txEl>
                                          </p:spTgt>
                                        </p:tgtEl>
                                        <p:attrNameLst>
                                          <p:attrName>style.visibility</p:attrName>
                                        </p:attrNameLst>
                                      </p:cBhvr>
                                      <p:to>
                                        <p:strVal val="visible"/>
                                      </p:to>
                                    </p:set>
                                    <p:anim calcmode="lin" valueType="num">
                                      <p:cBhvr additive="base">
                                        <p:cTn id="13" dur="500" fill="hold"/>
                                        <p:tgtEl>
                                          <p:spTgt spid="18944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94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9443">
                                            <p:txEl>
                                              <p:pRg st="3" end="3"/>
                                            </p:txEl>
                                          </p:spTgt>
                                        </p:tgtEl>
                                        <p:attrNameLst>
                                          <p:attrName>style.visibility</p:attrName>
                                        </p:attrNameLst>
                                      </p:cBhvr>
                                      <p:to>
                                        <p:strVal val="visible"/>
                                      </p:to>
                                    </p:set>
                                    <p:anim calcmode="lin" valueType="num">
                                      <p:cBhvr additive="base">
                                        <p:cTn id="19" dur="500" fill="hold"/>
                                        <p:tgtEl>
                                          <p:spTgt spid="1894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94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9443">
                                            <p:txEl>
                                              <p:pRg st="4" end="4"/>
                                            </p:txEl>
                                          </p:spTgt>
                                        </p:tgtEl>
                                        <p:attrNameLst>
                                          <p:attrName>style.visibility</p:attrName>
                                        </p:attrNameLst>
                                      </p:cBhvr>
                                      <p:to>
                                        <p:strVal val="visible"/>
                                      </p:to>
                                    </p:set>
                                    <p:anim calcmode="lin" valueType="num">
                                      <p:cBhvr additive="base">
                                        <p:cTn id="25" dur="500" fill="hold"/>
                                        <p:tgtEl>
                                          <p:spTgt spid="1894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94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9443">
                                            <p:txEl>
                                              <p:pRg st="5" end="5"/>
                                            </p:txEl>
                                          </p:spTgt>
                                        </p:tgtEl>
                                        <p:attrNameLst>
                                          <p:attrName>style.visibility</p:attrName>
                                        </p:attrNameLst>
                                      </p:cBhvr>
                                      <p:to>
                                        <p:strVal val="visible"/>
                                      </p:to>
                                    </p:set>
                                    <p:anim calcmode="lin" valueType="num">
                                      <p:cBhvr additive="base">
                                        <p:cTn id="31" dur="500" fill="hold"/>
                                        <p:tgtEl>
                                          <p:spTgt spid="1894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94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9443">
                                            <p:txEl>
                                              <p:pRg st="6" end="6"/>
                                            </p:txEl>
                                          </p:spTgt>
                                        </p:tgtEl>
                                        <p:attrNameLst>
                                          <p:attrName>style.visibility</p:attrName>
                                        </p:attrNameLst>
                                      </p:cBhvr>
                                      <p:to>
                                        <p:strVal val="visible"/>
                                      </p:to>
                                    </p:set>
                                    <p:anim calcmode="lin" valueType="num">
                                      <p:cBhvr additive="base">
                                        <p:cTn id="37" dur="500" fill="hold"/>
                                        <p:tgtEl>
                                          <p:spTgt spid="18944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94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89443">
                                            <p:txEl>
                                              <p:pRg st="7" end="7"/>
                                            </p:txEl>
                                          </p:spTgt>
                                        </p:tgtEl>
                                        <p:attrNameLst>
                                          <p:attrName>style.visibility</p:attrName>
                                        </p:attrNameLst>
                                      </p:cBhvr>
                                      <p:to>
                                        <p:strVal val="visible"/>
                                      </p:to>
                                    </p:set>
                                    <p:anim calcmode="lin" valueType="num">
                                      <p:cBhvr additive="base">
                                        <p:cTn id="43" dur="500" fill="hold"/>
                                        <p:tgtEl>
                                          <p:spTgt spid="18944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894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89443">
                                            <p:txEl>
                                              <p:pRg st="8" end="8"/>
                                            </p:txEl>
                                          </p:spTgt>
                                        </p:tgtEl>
                                        <p:attrNameLst>
                                          <p:attrName>style.visibility</p:attrName>
                                        </p:attrNameLst>
                                      </p:cBhvr>
                                      <p:to>
                                        <p:strVal val="visible"/>
                                      </p:to>
                                    </p:set>
                                    <p:anim calcmode="lin" valueType="num">
                                      <p:cBhvr additive="base">
                                        <p:cTn id="49" dur="500" fill="hold"/>
                                        <p:tgtEl>
                                          <p:spTgt spid="18944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8944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89443">
                                            <p:txEl>
                                              <p:pRg st="9" end="9"/>
                                            </p:txEl>
                                          </p:spTgt>
                                        </p:tgtEl>
                                        <p:attrNameLst>
                                          <p:attrName>style.visibility</p:attrName>
                                        </p:attrNameLst>
                                      </p:cBhvr>
                                      <p:to>
                                        <p:strVal val="visible"/>
                                      </p:to>
                                    </p:set>
                                    <p:anim calcmode="lin" valueType="num">
                                      <p:cBhvr additive="base">
                                        <p:cTn id="55" dur="500" fill="hold"/>
                                        <p:tgtEl>
                                          <p:spTgt spid="189443">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89443">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build="p" autoUpdateAnimBg="0" advAuto="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600200"/>
            <a:ext cx="8229600" cy="457200"/>
          </a:xfrm>
        </p:spPr>
        <p:txBody>
          <a:bodyPr/>
          <a:lstStyle/>
          <a:p>
            <a:pPr algn="ctr" eaLnBrk="1" hangingPunct="1"/>
            <a:r>
              <a:rPr lang="zh-CN" altLang="en-US" sz="3600" b="1" dirty="0" smtClean="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rPr>
              <a:t>独立需求与相关需求</a:t>
            </a:r>
          </a:p>
        </p:txBody>
      </p:sp>
      <p:sp>
        <p:nvSpPr>
          <p:cNvPr id="178179" name="Rectangle 3"/>
          <p:cNvSpPr>
            <a:spLocks noGrp="1" noChangeArrowheads="1"/>
          </p:cNvSpPr>
          <p:nvPr>
            <p:ph type="body" idx="1"/>
          </p:nvPr>
        </p:nvSpPr>
        <p:spPr>
          <a:xfrm>
            <a:off x="457200" y="2667000"/>
            <a:ext cx="8229600" cy="3733800"/>
          </a:xfrm>
        </p:spPr>
        <p:txBody>
          <a:bodyPr/>
          <a:lstStyle/>
          <a:p>
            <a:pPr eaLnBrk="1" hangingPunct="1">
              <a:buClr>
                <a:schemeClr val="tx1"/>
              </a:buClr>
              <a:buFont typeface="Marlett" pitchFamily="2" charset="2"/>
              <a:buChar char="2"/>
            </a:pPr>
            <a:r>
              <a:rPr lang="zh-CN" altLang="en-US" b="1" dirty="0" smtClean="0">
                <a:solidFill>
                  <a:srgbClr val="003366"/>
                </a:solidFill>
              </a:rPr>
              <a:t>独立需求</a:t>
            </a:r>
            <a:r>
              <a:rPr lang="zh-CN" altLang="en-US" dirty="0" smtClean="0"/>
              <a:t>：需求量和需求时间由企业外部的需求（如客户订单、市场预测）决定的那部分物料需求。</a:t>
            </a:r>
          </a:p>
          <a:p>
            <a:pPr eaLnBrk="1" hangingPunct="1">
              <a:buClr>
                <a:schemeClr val="tx1"/>
              </a:buClr>
              <a:buFont typeface="Marlett" pitchFamily="2" charset="2"/>
              <a:buChar char="2"/>
            </a:pPr>
            <a:endParaRPr lang="zh-CN" altLang="en-US" dirty="0" smtClean="0"/>
          </a:p>
          <a:p>
            <a:pPr eaLnBrk="1" hangingPunct="1">
              <a:buClr>
                <a:schemeClr val="tx1"/>
              </a:buClr>
              <a:buFont typeface="Marlett" pitchFamily="2" charset="2"/>
              <a:buChar char="2"/>
            </a:pPr>
            <a:r>
              <a:rPr lang="zh-CN" altLang="en-US" b="1" dirty="0" smtClean="0">
                <a:solidFill>
                  <a:srgbClr val="003366"/>
                </a:solidFill>
              </a:rPr>
              <a:t>相关需求</a:t>
            </a:r>
            <a:r>
              <a:rPr lang="zh-CN" altLang="en-US" dirty="0" smtClean="0"/>
              <a:t>：根据物料之间的结构组成关系，由独立需求的物料产生的需求，如半成品、零部件、原材料等。</a:t>
            </a:r>
          </a:p>
        </p:txBody>
      </p:sp>
      <p:sp>
        <p:nvSpPr>
          <p:cNvPr id="28676"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smtClean="0">
                <a:solidFill>
                  <a:srgbClr val="FFFF00"/>
                </a:solidFill>
              </a:rPr>
              <a:t>生产计划体系</a:t>
            </a:r>
            <a:endParaRPr lang="zh-CN" altLang="en-US" sz="1600" b="1" dirty="0">
              <a:solidFill>
                <a:srgbClr val="FFFF00"/>
              </a:solidFill>
            </a:endParaRPr>
          </a:p>
        </p:txBody>
      </p:sp>
      <p:sp>
        <p:nvSpPr>
          <p:cNvPr id="5"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5.1 </a:t>
            </a:r>
            <a:r>
              <a:rPr lang="zh-CN" altLang="en-US" sz="3600" b="1" kern="0" dirty="0" smtClean="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449449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 calcmode="lin" valueType="num">
                                      <p:cBhvr additive="base">
                                        <p:cTn id="7" dur="500" fill="hold"/>
                                        <p:tgtEl>
                                          <p:spTgt spid="178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81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8179">
                                            <p:txEl>
                                              <p:pRg st="2" end="2"/>
                                            </p:txEl>
                                          </p:spTgt>
                                        </p:tgtEl>
                                        <p:attrNameLst>
                                          <p:attrName>style.visibility</p:attrName>
                                        </p:attrNameLst>
                                      </p:cBhvr>
                                      <p:to>
                                        <p:strVal val="visible"/>
                                      </p:to>
                                    </p:set>
                                    <p:anim calcmode="lin" valueType="num">
                                      <p:cBhvr additive="base">
                                        <p:cTn id="13" dur="500" fill="hold"/>
                                        <p:tgtEl>
                                          <p:spTgt spid="17817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817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build="p" autoUpdateAnimBg="0" advAuto="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5.2 </a:t>
            </a:r>
            <a:r>
              <a:rPr lang="zh-CN" altLang="en-US" sz="3600" b="1" dirty="0" smtClean="0">
                <a:solidFill>
                  <a:srgbClr val="FF0000"/>
                </a:solidFill>
                <a:effectLst>
                  <a:outerShdw blurRad="38100" dist="38100" dir="2700000" algn="tl">
                    <a:srgbClr val="C0C0C0"/>
                  </a:outerShdw>
                </a:effectLst>
                <a:latin typeface="Times New Roman" pitchFamily="18" charset="0"/>
              </a:rPr>
              <a:t>物料需求计划是什么？为什么做？</a:t>
            </a:r>
          </a:p>
        </p:txBody>
      </p:sp>
      <p:sp>
        <p:nvSpPr>
          <p:cNvPr id="154627" name="Rectangle 3"/>
          <p:cNvSpPr>
            <a:spLocks noGrp="1" noChangeArrowheads="1"/>
          </p:cNvSpPr>
          <p:nvPr>
            <p:ph type="body" idx="1"/>
          </p:nvPr>
        </p:nvSpPr>
        <p:spPr>
          <a:xfrm>
            <a:off x="457200" y="1447800"/>
            <a:ext cx="8229600" cy="5410200"/>
          </a:xfrm>
        </p:spPr>
        <p:txBody>
          <a:bodyPr/>
          <a:lstStyle/>
          <a:p>
            <a:pPr eaLnBrk="1" hangingPunct="1">
              <a:lnSpc>
                <a:spcPct val="150000"/>
              </a:lnSpc>
              <a:spcBef>
                <a:spcPct val="0"/>
              </a:spcBef>
              <a:buClr>
                <a:schemeClr val="tx1"/>
              </a:buClr>
              <a:buFont typeface="Marlett" pitchFamily="2" charset="2"/>
              <a:buChar char="2"/>
              <a:defRPr/>
            </a:pPr>
            <a:r>
              <a:rPr lang="zh-CN" altLang="en-US" sz="2400" b="1" smtClean="0">
                <a:effectLst>
                  <a:outerShdw blurRad="38100" dist="38100" dir="2700000" algn="tl">
                    <a:srgbClr val="C0C0C0"/>
                  </a:outerShdw>
                </a:effectLst>
                <a:latin typeface="Times New Roman" pitchFamily="18" charset="0"/>
              </a:rPr>
              <a:t>企业生产经营活动中的矛盾：</a:t>
            </a:r>
          </a:p>
          <a:p>
            <a:pPr lvl="1" eaLnBrk="1" hangingPunct="1">
              <a:lnSpc>
                <a:spcPct val="150000"/>
              </a:lnSpc>
              <a:spcBef>
                <a:spcPct val="0"/>
              </a:spcBef>
              <a:buClr>
                <a:schemeClr val="tx1"/>
              </a:buClr>
              <a:buFont typeface="Marlett" pitchFamily="2" charset="2"/>
              <a:buChar char="2"/>
              <a:defRPr/>
            </a:pPr>
            <a:r>
              <a:rPr lang="zh-CN" altLang="en-US" sz="2000" smtClean="0">
                <a:latin typeface="Times New Roman" pitchFamily="18" charset="0"/>
              </a:rPr>
              <a:t>一方面，对原材料、零部件、在制品和半成品进行合理储备，以使得生产连续不断地有序进行，同时满足波动不定的市场需求。</a:t>
            </a:r>
          </a:p>
          <a:p>
            <a:pPr lvl="1" eaLnBrk="1" hangingPunct="1">
              <a:lnSpc>
                <a:spcPct val="150000"/>
              </a:lnSpc>
              <a:spcBef>
                <a:spcPct val="0"/>
              </a:spcBef>
              <a:buClr>
                <a:schemeClr val="tx1"/>
              </a:buClr>
              <a:buFont typeface="Marlett" pitchFamily="2" charset="2"/>
              <a:buChar char="2"/>
              <a:defRPr/>
            </a:pPr>
            <a:r>
              <a:rPr lang="zh-CN" altLang="en-US" sz="2000" smtClean="0">
                <a:latin typeface="Times New Roman" pitchFamily="18" charset="0"/>
              </a:rPr>
              <a:t>另一方面，原材料、零部件和在制品的库存又占用大量资金，为加快企业的资金周转，提高资金的利用率，要尽可能降低库存。</a:t>
            </a:r>
          </a:p>
          <a:p>
            <a:pPr eaLnBrk="1" hangingPunct="1">
              <a:lnSpc>
                <a:spcPct val="150000"/>
              </a:lnSpc>
              <a:buClr>
                <a:schemeClr val="tx1"/>
              </a:buClr>
              <a:buFont typeface="Marlett" pitchFamily="2" charset="2"/>
              <a:buChar char="2"/>
              <a:defRPr/>
            </a:pPr>
            <a:r>
              <a:rPr lang="en-US" altLang="zh-CN" sz="2400" b="1" smtClean="0">
                <a:solidFill>
                  <a:srgbClr val="FF0000"/>
                </a:solidFill>
                <a:effectLst>
                  <a:outerShdw blurRad="38100" dist="38100" dir="2700000" algn="tl">
                    <a:srgbClr val="C0C0C0"/>
                  </a:outerShdw>
                </a:effectLst>
                <a:latin typeface="Times New Roman" pitchFamily="18" charset="0"/>
              </a:rPr>
              <a:t>MRP</a:t>
            </a:r>
            <a:r>
              <a:rPr lang="zh-CN" altLang="en-US" sz="2400" b="1" smtClean="0">
                <a:solidFill>
                  <a:srgbClr val="FF0000"/>
                </a:solidFill>
                <a:effectLst>
                  <a:outerShdw blurRad="38100" dist="38100" dir="2700000" algn="tl">
                    <a:srgbClr val="C0C0C0"/>
                  </a:outerShdw>
                </a:effectLst>
                <a:latin typeface="Times New Roman" pitchFamily="18" charset="0"/>
              </a:rPr>
              <a:t>（</a:t>
            </a:r>
            <a:r>
              <a:rPr lang="en-US" altLang="zh-CN" sz="2400" b="1" smtClean="0">
                <a:solidFill>
                  <a:srgbClr val="FF0000"/>
                </a:solidFill>
                <a:effectLst>
                  <a:outerShdw blurRad="38100" dist="38100" dir="2700000" algn="tl">
                    <a:srgbClr val="C0C0C0"/>
                  </a:outerShdw>
                </a:effectLst>
                <a:latin typeface="Times New Roman" pitchFamily="18" charset="0"/>
              </a:rPr>
              <a:t>Material Requirement Planning</a:t>
            </a:r>
            <a:r>
              <a:rPr lang="zh-CN" altLang="en-US" sz="2400" b="1" smtClean="0">
                <a:solidFill>
                  <a:srgbClr val="FF0000"/>
                </a:solidFill>
                <a:effectLst>
                  <a:outerShdw blurRad="38100" dist="38100" dir="2700000" algn="tl">
                    <a:srgbClr val="C0C0C0"/>
                  </a:outerShdw>
                </a:effectLst>
                <a:latin typeface="Times New Roman" pitchFamily="18" charset="0"/>
              </a:rPr>
              <a:t>）</a:t>
            </a:r>
            <a:r>
              <a:rPr lang="zh-CN" altLang="en-US" sz="2400" b="1" smtClean="0">
                <a:solidFill>
                  <a:srgbClr val="FF0000"/>
                </a:solidFill>
                <a:latin typeface="Times New Roman" pitchFamily="18" charset="0"/>
              </a:rPr>
              <a:t>正是为了解决这一矛盾提出的。</a:t>
            </a:r>
          </a:p>
          <a:p>
            <a:pPr lvl="1" eaLnBrk="1" hangingPunct="1">
              <a:lnSpc>
                <a:spcPct val="150000"/>
              </a:lnSpc>
              <a:buClr>
                <a:schemeClr val="tx1"/>
              </a:buClr>
              <a:buFont typeface="Marlett" pitchFamily="2" charset="2"/>
              <a:buChar char="2"/>
              <a:defRPr/>
            </a:pPr>
            <a:r>
              <a:rPr lang="zh-CN" altLang="en-US" sz="2000" smtClean="0">
                <a:latin typeface="Times New Roman" pitchFamily="18" charset="0"/>
              </a:rPr>
              <a:t>保证及时满足物料需求的前提下，使物料的库存水平保持在最小值内，即协调生产的物料需求和库存之间的差距。</a:t>
            </a:r>
          </a:p>
          <a:p>
            <a:pPr lvl="1" eaLnBrk="1" hangingPunct="1">
              <a:lnSpc>
                <a:spcPct val="150000"/>
              </a:lnSpc>
              <a:buClr>
                <a:schemeClr val="tx1"/>
              </a:buClr>
              <a:buFont typeface="Marlett" pitchFamily="2" charset="2"/>
              <a:buChar char="2"/>
              <a:defRPr/>
            </a:pPr>
            <a:r>
              <a:rPr lang="zh-CN" altLang="en-US" sz="2000" smtClean="0">
                <a:latin typeface="Times New Roman" pitchFamily="18" charset="0"/>
              </a:rPr>
              <a:t>既是一种较精确的生产计划系统，又是一种有效的物料控制系统。</a:t>
            </a:r>
          </a:p>
        </p:txBody>
      </p:sp>
      <p:sp>
        <p:nvSpPr>
          <p:cNvPr id="717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4627">
                                            <p:txEl>
                                              <p:pRg st="2" end="2"/>
                                            </p:txEl>
                                          </p:spTgt>
                                        </p:tgtEl>
                                        <p:attrNameLst>
                                          <p:attrName>style.visibility</p:attrName>
                                        </p:attrNameLst>
                                      </p:cBhvr>
                                      <p:to>
                                        <p:strVal val="visible"/>
                                      </p:to>
                                    </p:set>
                                    <p:anim calcmode="lin" valueType="num">
                                      <p:cBhvr additive="base">
                                        <p:cTn id="19" dur="500" fill="hold"/>
                                        <p:tgtEl>
                                          <p:spTgt spid="1546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46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4627">
                                            <p:txEl>
                                              <p:pRg st="3" end="3"/>
                                            </p:txEl>
                                          </p:spTgt>
                                        </p:tgtEl>
                                        <p:attrNameLst>
                                          <p:attrName>style.visibility</p:attrName>
                                        </p:attrNameLst>
                                      </p:cBhvr>
                                      <p:to>
                                        <p:strVal val="visible"/>
                                      </p:to>
                                    </p:set>
                                    <p:anim calcmode="lin" valueType="num">
                                      <p:cBhvr additive="base">
                                        <p:cTn id="25" dur="500" fill="hold"/>
                                        <p:tgtEl>
                                          <p:spTgt spid="15462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46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4627">
                                            <p:txEl>
                                              <p:pRg st="4" end="4"/>
                                            </p:txEl>
                                          </p:spTgt>
                                        </p:tgtEl>
                                        <p:attrNameLst>
                                          <p:attrName>style.visibility</p:attrName>
                                        </p:attrNameLst>
                                      </p:cBhvr>
                                      <p:to>
                                        <p:strVal val="visible"/>
                                      </p:to>
                                    </p:set>
                                    <p:anim calcmode="lin" valueType="num">
                                      <p:cBhvr additive="base">
                                        <p:cTn id="31" dur="500" fill="hold"/>
                                        <p:tgtEl>
                                          <p:spTgt spid="15462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46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4627">
                                            <p:txEl>
                                              <p:pRg st="5" end="5"/>
                                            </p:txEl>
                                          </p:spTgt>
                                        </p:tgtEl>
                                        <p:attrNameLst>
                                          <p:attrName>style.visibility</p:attrName>
                                        </p:attrNameLst>
                                      </p:cBhvr>
                                      <p:to>
                                        <p:strVal val="visible"/>
                                      </p:to>
                                    </p:set>
                                    <p:anim calcmode="lin" valueType="num">
                                      <p:cBhvr additive="base">
                                        <p:cTn id="37" dur="500" fill="hold"/>
                                        <p:tgtEl>
                                          <p:spTgt spid="15462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462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advAuto="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5.2 </a:t>
            </a:r>
            <a:r>
              <a:rPr lang="zh-CN" altLang="en-US" sz="3600" b="1" dirty="0" smtClean="0">
                <a:solidFill>
                  <a:srgbClr val="FF0000"/>
                </a:solidFill>
                <a:effectLst>
                  <a:outerShdw blurRad="38100" dist="38100" dir="2700000" algn="tl">
                    <a:srgbClr val="C0C0C0"/>
                  </a:outerShdw>
                </a:effectLst>
                <a:latin typeface="Times New Roman" pitchFamily="18" charset="0"/>
              </a:rPr>
              <a:t>物料</a:t>
            </a:r>
            <a:r>
              <a:rPr lang="zh-CN" altLang="en-US" sz="3600" b="1" dirty="0">
                <a:solidFill>
                  <a:srgbClr val="FF0000"/>
                </a:solidFill>
                <a:effectLst>
                  <a:outerShdw blurRad="38100" dist="38100" dir="2700000" algn="tl">
                    <a:srgbClr val="C0C0C0"/>
                  </a:outerShdw>
                </a:effectLst>
                <a:latin typeface="Times New Roman" pitchFamily="18" charset="0"/>
              </a:rPr>
              <a:t>需求计划是</a:t>
            </a:r>
            <a:r>
              <a:rPr lang="zh-CN" altLang="en-US" sz="3600" b="1" dirty="0" smtClean="0">
                <a:solidFill>
                  <a:srgbClr val="FF0000"/>
                </a:solidFill>
                <a:effectLst>
                  <a:outerShdw blurRad="38100" dist="38100" dir="2700000" algn="tl">
                    <a:srgbClr val="C0C0C0"/>
                  </a:outerShdw>
                </a:effectLst>
                <a:latin typeface="Times New Roman" pitchFamily="18" charset="0"/>
              </a:rPr>
              <a:t>什么？为什么做？</a:t>
            </a:r>
          </a:p>
        </p:txBody>
      </p:sp>
      <p:sp>
        <p:nvSpPr>
          <p:cNvPr id="223235" name="Rectangle 3"/>
          <p:cNvSpPr>
            <a:spLocks noGrp="1" noChangeArrowheads="1"/>
          </p:cNvSpPr>
          <p:nvPr>
            <p:ph type="body" idx="1"/>
          </p:nvPr>
        </p:nvSpPr>
        <p:spPr>
          <a:xfrm>
            <a:off x="457200" y="1447800"/>
            <a:ext cx="8229600" cy="5105400"/>
          </a:xfrm>
        </p:spPr>
        <p:txBody>
          <a:bodyPr/>
          <a:lstStyle/>
          <a:p>
            <a:pPr eaLnBrk="1" hangingPunct="1">
              <a:lnSpc>
                <a:spcPct val="150000"/>
              </a:lnSpc>
              <a:spcBef>
                <a:spcPct val="0"/>
              </a:spcBef>
              <a:buClr>
                <a:schemeClr val="tx1"/>
              </a:buClr>
              <a:buFont typeface="Marlett" pitchFamily="2" charset="2"/>
              <a:buChar char="2"/>
              <a:defRPr/>
            </a:pPr>
            <a:r>
              <a:rPr lang="zh-CN" altLang="en-US" sz="2400" b="1" dirty="0" smtClean="0">
                <a:solidFill>
                  <a:srgbClr val="003366"/>
                </a:solidFill>
                <a:effectLst>
                  <a:outerShdw blurRad="38100" dist="38100" dir="2700000" algn="tl">
                    <a:srgbClr val="C0C0C0"/>
                  </a:outerShdw>
                </a:effectLst>
                <a:latin typeface="Times New Roman" pitchFamily="18" charset="0"/>
              </a:rPr>
              <a:t>问题背景：</a:t>
            </a:r>
          </a:p>
          <a:p>
            <a:pPr lvl="1" eaLnBrk="1" hangingPunct="1">
              <a:lnSpc>
                <a:spcPct val="150000"/>
              </a:lnSpc>
              <a:spcBef>
                <a:spcPct val="0"/>
              </a:spcBef>
              <a:buClr>
                <a:schemeClr val="tx1"/>
              </a:buClr>
              <a:buFont typeface="Marlett" pitchFamily="2" charset="2"/>
              <a:buChar char="2"/>
              <a:defRPr/>
            </a:pPr>
            <a:r>
              <a:rPr lang="zh-CN" altLang="en-US" sz="2000" dirty="0" smtClean="0">
                <a:latin typeface="Times New Roman" pitchFamily="18" charset="0"/>
              </a:rPr>
              <a:t>一个产品可能由成百上千种相关物料组成，如果企业所有产品的相关需求件汇总起来，数量更大。</a:t>
            </a:r>
          </a:p>
          <a:p>
            <a:pPr lvl="1" eaLnBrk="1" hangingPunct="1">
              <a:lnSpc>
                <a:spcPct val="150000"/>
              </a:lnSpc>
              <a:spcBef>
                <a:spcPct val="0"/>
              </a:spcBef>
              <a:buClr>
                <a:schemeClr val="tx1"/>
              </a:buClr>
              <a:buFont typeface="Marlett" pitchFamily="2" charset="2"/>
              <a:buChar char="2"/>
              <a:defRPr/>
            </a:pPr>
            <a:r>
              <a:rPr lang="zh-CN" altLang="en-US" sz="2000" dirty="0" smtClean="0">
                <a:latin typeface="Times New Roman" pitchFamily="18" charset="0"/>
              </a:rPr>
              <a:t>而一种物料可能会用到多种产品上，不同产品对同一物料的需用量又不同。</a:t>
            </a:r>
          </a:p>
          <a:p>
            <a:pPr lvl="1" eaLnBrk="1" hangingPunct="1">
              <a:lnSpc>
                <a:spcPct val="150000"/>
              </a:lnSpc>
              <a:spcBef>
                <a:spcPct val="0"/>
              </a:spcBef>
              <a:buClr>
                <a:schemeClr val="tx1"/>
              </a:buClr>
              <a:buFont typeface="Marlett" pitchFamily="2" charset="2"/>
              <a:buChar char="2"/>
              <a:defRPr/>
            </a:pPr>
            <a:r>
              <a:rPr lang="zh-CN" altLang="en-US" sz="2000" dirty="0" smtClean="0">
                <a:latin typeface="Times New Roman" pitchFamily="18" charset="0"/>
              </a:rPr>
              <a:t>不同物料的加工周期或采购周期不同，需用日期也不同。</a:t>
            </a:r>
          </a:p>
          <a:p>
            <a:pPr eaLnBrk="1" hangingPunct="1">
              <a:lnSpc>
                <a:spcPct val="150000"/>
              </a:lnSpc>
              <a:spcBef>
                <a:spcPct val="0"/>
              </a:spcBef>
              <a:buClr>
                <a:schemeClr val="tx1"/>
              </a:buClr>
              <a:buFont typeface="Marlett" pitchFamily="2" charset="2"/>
              <a:buChar char="2"/>
              <a:defRPr/>
            </a:pPr>
            <a:r>
              <a:rPr lang="zh-CN" altLang="en-US" sz="2400" b="1" dirty="0" smtClean="0">
                <a:solidFill>
                  <a:srgbClr val="003366"/>
                </a:solidFill>
                <a:effectLst>
                  <a:outerShdw blurRad="38100" dist="38100" dir="2700000" algn="tl">
                    <a:srgbClr val="C0C0C0"/>
                  </a:outerShdw>
                </a:effectLst>
                <a:latin typeface="Times New Roman" pitchFamily="18" charset="0"/>
              </a:rPr>
              <a:t>问题目标：</a:t>
            </a:r>
          </a:p>
          <a:p>
            <a:pPr lvl="1" eaLnBrk="1" hangingPunct="1">
              <a:lnSpc>
                <a:spcPct val="150000"/>
              </a:lnSpc>
              <a:spcBef>
                <a:spcPct val="0"/>
              </a:spcBef>
              <a:buClr>
                <a:schemeClr val="tx1"/>
              </a:buClr>
              <a:buFont typeface="Marlett" pitchFamily="2" charset="2"/>
              <a:buChar char="2"/>
              <a:defRPr/>
            </a:pPr>
            <a:r>
              <a:rPr lang="zh-CN" altLang="en-US" sz="2000" dirty="0" smtClean="0">
                <a:latin typeface="Times New Roman" pitchFamily="18" charset="0"/>
              </a:rPr>
              <a:t>使每种物料能在需用日期配套备齐，满足装配或交货期的要求。</a:t>
            </a:r>
          </a:p>
          <a:p>
            <a:pPr lvl="1" eaLnBrk="1" hangingPunct="1">
              <a:lnSpc>
                <a:spcPct val="150000"/>
              </a:lnSpc>
              <a:spcBef>
                <a:spcPct val="0"/>
              </a:spcBef>
              <a:buClr>
                <a:schemeClr val="tx1"/>
              </a:buClr>
              <a:buFont typeface="Marlett" pitchFamily="2" charset="2"/>
              <a:buChar char="2"/>
              <a:defRPr/>
            </a:pPr>
            <a:r>
              <a:rPr lang="zh-CN" altLang="en-US" sz="2000" dirty="0" smtClean="0">
                <a:latin typeface="Times New Roman" pitchFamily="18" charset="0"/>
              </a:rPr>
              <a:t>在不需要的时期不过量占用库存。</a:t>
            </a:r>
          </a:p>
          <a:p>
            <a:pPr lvl="1" eaLnBrk="1" hangingPunct="1">
              <a:lnSpc>
                <a:spcPct val="150000"/>
              </a:lnSpc>
              <a:spcBef>
                <a:spcPct val="0"/>
              </a:spcBef>
              <a:buClr>
                <a:schemeClr val="tx1"/>
              </a:buClr>
              <a:buFont typeface="Marlett" pitchFamily="2" charset="2"/>
              <a:buChar char="2"/>
              <a:defRPr/>
            </a:pPr>
            <a:r>
              <a:rPr lang="zh-CN" altLang="en-US" sz="2000" dirty="0" smtClean="0">
                <a:latin typeface="Times New Roman" pitchFamily="18" charset="0"/>
              </a:rPr>
              <a:t>考虑合理的批量。</a:t>
            </a:r>
          </a:p>
        </p:txBody>
      </p:sp>
      <p:sp>
        <p:nvSpPr>
          <p:cNvPr id="819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3235">
                                            <p:txEl>
                                              <p:pRg st="0" end="0"/>
                                            </p:txEl>
                                          </p:spTgt>
                                        </p:tgtEl>
                                        <p:attrNameLst>
                                          <p:attrName>style.visibility</p:attrName>
                                        </p:attrNameLst>
                                      </p:cBhvr>
                                      <p:to>
                                        <p:strVal val="visible"/>
                                      </p:to>
                                    </p:set>
                                    <p:anim calcmode="lin" valueType="num">
                                      <p:cBhvr additive="base">
                                        <p:cTn id="7" dur="500" fill="hold"/>
                                        <p:tgtEl>
                                          <p:spTgt spid="2232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3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3235">
                                            <p:txEl>
                                              <p:pRg st="1" end="1"/>
                                            </p:txEl>
                                          </p:spTgt>
                                        </p:tgtEl>
                                        <p:attrNameLst>
                                          <p:attrName>style.visibility</p:attrName>
                                        </p:attrNameLst>
                                      </p:cBhvr>
                                      <p:to>
                                        <p:strVal val="visible"/>
                                      </p:to>
                                    </p:set>
                                    <p:anim calcmode="lin" valueType="num">
                                      <p:cBhvr additive="base">
                                        <p:cTn id="13" dur="500" fill="hold"/>
                                        <p:tgtEl>
                                          <p:spTgt spid="2232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3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3235">
                                            <p:txEl>
                                              <p:pRg st="2" end="2"/>
                                            </p:txEl>
                                          </p:spTgt>
                                        </p:tgtEl>
                                        <p:attrNameLst>
                                          <p:attrName>style.visibility</p:attrName>
                                        </p:attrNameLst>
                                      </p:cBhvr>
                                      <p:to>
                                        <p:strVal val="visible"/>
                                      </p:to>
                                    </p:set>
                                    <p:anim calcmode="lin" valueType="num">
                                      <p:cBhvr additive="base">
                                        <p:cTn id="19" dur="500" fill="hold"/>
                                        <p:tgtEl>
                                          <p:spTgt spid="2232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32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3235">
                                            <p:txEl>
                                              <p:pRg st="3" end="3"/>
                                            </p:txEl>
                                          </p:spTgt>
                                        </p:tgtEl>
                                        <p:attrNameLst>
                                          <p:attrName>style.visibility</p:attrName>
                                        </p:attrNameLst>
                                      </p:cBhvr>
                                      <p:to>
                                        <p:strVal val="visible"/>
                                      </p:to>
                                    </p:set>
                                    <p:anim calcmode="lin" valueType="num">
                                      <p:cBhvr additive="base">
                                        <p:cTn id="25" dur="500" fill="hold"/>
                                        <p:tgtEl>
                                          <p:spTgt spid="2232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32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3235">
                                            <p:txEl>
                                              <p:pRg st="4" end="4"/>
                                            </p:txEl>
                                          </p:spTgt>
                                        </p:tgtEl>
                                        <p:attrNameLst>
                                          <p:attrName>style.visibility</p:attrName>
                                        </p:attrNameLst>
                                      </p:cBhvr>
                                      <p:to>
                                        <p:strVal val="visible"/>
                                      </p:to>
                                    </p:set>
                                    <p:anim calcmode="lin" valueType="num">
                                      <p:cBhvr additive="base">
                                        <p:cTn id="31" dur="500" fill="hold"/>
                                        <p:tgtEl>
                                          <p:spTgt spid="22323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32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23235">
                                            <p:txEl>
                                              <p:pRg st="5" end="5"/>
                                            </p:txEl>
                                          </p:spTgt>
                                        </p:tgtEl>
                                        <p:attrNameLst>
                                          <p:attrName>style.visibility</p:attrName>
                                        </p:attrNameLst>
                                      </p:cBhvr>
                                      <p:to>
                                        <p:strVal val="visible"/>
                                      </p:to>
                                    </p:set>
                                    <p:anim calcmode="lin" valueType="num">
                                      <p:cBhvr additive="base">
                                        <p:cTn id="37" dur="500" fill="hold"/>
                                        <p:tgtEl>
                                          <p:spTgt spid="22323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2323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23235">
                                            <p:txEl>
                                              <p:pRg st="6" end="6"/>
                                            </p:txEl>
                                          </p:spTgt>
                                        </p:tgtEl>
                                        <p:attrNameLst>
                                          <p:attrName>style.visibility</p:attrName>
                                        </p:attrNameLst>
                                      </p:cBhvr>
                                      <p:to>
                                        <p:strVal val="visible"/>
                                      </p:to>
                                    </p:set>
                                    <p:anim calcmode="lin" valueType="num">
                                      <p:cBhvr additive="base">
                                        <p:cTn id="43" dur="500" fill="hold"/>
                                        <p:tgtEl>
                                          <p:spTgt spid="22323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2323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23235">
                                            <p:txEl>
                                              <p:pRg st="7" end="7"/>
                                            </p:txEl>
                                          </p:spTgt>
                                        </p:tgtEl>
                                        <p:attrNameLst>
                                          <p:attrName>style.visibility</p:attrName>
                                        </p:attrNameLst>
                                      </p:cBhvr>
                                      <p:to>
                                        <p:strVal val="visible"/>
                                      </p:to>
                                    </p:set>
                                    <p:anim calcmode="lin" valueType="num">
                                      <p:cBhvr additive="base">
                                        <p:cTn id="49" dur="500" fill="hold"/>
                                        <p:tgtEl>
                                          <p:spTgt spid="22323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2323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autoUpdateAnimBg="0" advAuto="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5.2 </a:t>
            </a:r>
            <a:r>
              <a:rPr lang="zh-CN" altLang="en-US" sz="3600" b="1" dirty="0" smtClean="0">
                <a:solidFill>
                  <a:srgbClr val="FF0000"/>
                </a:solidFill>
                <a:effectLst>
                  <a:outerShdw blurRad="38100" dist="38100" dir="2700000" algn="tl">
                    <a:srgbClr val="C0C0C0"/>
                  </a:outerShdw>
                </a:effectLst>
                <a:latin typeface="Times New Roman" pitchFamily="18" charset="0"/>
              </a:rPr>
              <a:t>物料</a:t>
            </a:r>
            <a:r>
              <a:rPr lang="zh-CN" altLang="en-US" sz="3600" b="1" dirty="0">
                <a:solidFill>
                  <a:srgbClr val="FF0000"/>
                </a:solidFill>
                <a:effectLst>
                  <a:outerShdw blurRad="38100" dist="38100" dir="2700000" algn="tl">
                    <a:srgbClr val="C0C0C0"/>
                  </a:outerShdw>
                </a:effectLst>
                <a:latin typeface="Times New Roman" pitchFamily="18" charset="0"/>
              </a:rPr>
              <a:t>需求计划是</a:t>
            </a:r>
            <a:r>
              <a:rPr lang="zh-CN" altLang="en-US" sz="3600" b="1" dirty="0" smtClean="0">
                <a:solidFill>
                  <a:srgbClr val="FF0000"/>
                </a:solidFill>
                <a:effectLst>
                  <a:outerShdw blurRad="38100" dist="38100" dir="2700000" algn="tl">
                    <a:srgbClr val="C0C0C0"/>
                  </a:outerShdw>
                </a:effectLst>
                <a:latin typeface="Times New Roman" pitchFamily="18" charset="0"/>
              </a:rPr>
              <a:t>什么？为什么做？</a:t>
            </a:r>
          </a:p>
        </p:txBody>
      </p:sp>
      <p:sp>
        <p:nvSpPr>
          <p:cNvPr id="224259" name="Rectangle 3"/>
          <p:cNvSpPr>
            <a:spLocks noGrp="1" noChangeArrowheads="1"/>
          </p:cNvSpPr>
          <p:nvPr>
            <p:ph type="body" idx="1"/>
          </p:nvPr>
        </p:nvSpPr>
        <p:spPr>
          <a:xfrm>
            <a:off x="457200" y="1447800"/>
            <a:ext cx="8229600" cy="5105400"/>
          </a:xfrm>
        </p:spPr>
        <p:txBody>
          <a:bodyPr/>
          <a:lstStyle/>
          <a:p>
            <a:pPr eaLnBrk="1" hangingPunct="1">
              <a:lnSpc>
                <a:spcPct val="150000"/>
              </a:lnSpc>
              <a:spcBef>
                <a:spcPct val="0"/>
              </a:spcBef>
              <a:buClr>
                <a:schemeClr val="tx1"/>
              </a:buClr>
              <a:buFont typeface="Marlett" pitchFamily="2" charset="2"/>
              <a:buChar char="2"/>
              <a:defRPr/>
            </a:pPr>
            <a:r>
              <a:rPr lang="en-US" altLang="zh-CN" sz="2400" b="1" smtClean="0">
                <a:solidFill>
                  <a:srgbClr val="003366"/>
                </a:solidFill>
                <a:effectLst>
                  <a:outerShdw blurRad="38100" dist="38100" dir="2700000" algn="tl">
                    <a:srgbClr val="C0C0C0"/>
                  </a:outerShdw>
                </a:effectLst>
                <a:latin typeface="Times New Roman" pitchFamily="18" charset="0"/>
              </a:rPr>
              <a:t>MRP</a:t>
            </a:r>
            <a:r>
              <a:rPr lang="zh-CN" altLang="en-US" sz="2400" b="1" smtClean="0">
                <a:solidFill>
                  <a:srgbClr val="003366"/>
                </a:solidFill>
                <a:effectLst>
                  <a:outerShdw blurRad="38100" dist="38100" dir="2700000" algn="tl">
                    <a:srgbClr val="C0C0C0"/>
                  </a:outerShdw>
                </a:effectLst>
                <a:latin typeface="Times New Roman" pitchFamily="18" charset="0"/>
              </a:rPr>
              <a:t>：</a:t>
            </a:r>
          </a:p>
          <a:p>
            <a:pPr lvl="1" eaLnBrk="1" hangingPunct="1">
              <a:lnSpc>
                <a:spcPct val="150000"/>
              </a:lnSpc>
              <a:spcBef>
                <a:spcPct val="0"/>
              </a:spcBef>
              <a:buClr>
                <a:schemeClr val="tx1"/>
              </a:buClr>
              <a:buFont typeface="Marlett" pitchFamily="2" charset="2"/>
              <a:buChar char="2"/>
              <a:defRPr/>
            </a:pPr>
            <a:r>
              <a:rPr lang="zh-CN" altLang="en-US" sz="2000" smtClean="0">
                <a:latin typeface="Times New Roman" pitchFamily="18" charset="0"/>
              </a:rPr>
              <a:t>是</a:t>
            </a:r>
            <a:r>
              <a:rPr lang="en-US" altLang="zh-CN" sz="2000" smtClean="0">
                <a:latin typeface="Times New Roman" pitchFamily="18" charset="0"/>
              </a:rPr>
              <a:t>MPS</a:t>
            </a:r>
            <a:r>
              <a:rPr lang="zh-CN" altLang="en-US" sz="2000" smtClean="0">
                <a:latin typeface="Times New Roman" pitchFamily="18" charset="0"/>
              </a:rPr>
              <a:t>需求的进一步展开，是实现</a:t>
            </a:r>
            <a:r>
              <a:rPr lang="en-US" altLang="zh-CN" sz="2000" smtClean="0">
                <a:latin typeface="Times New Roman" pitchFamily="18" charset="0"/>
              </a:rPr>
              <a:t>MPS</a:t>
            </a:r>
            <a:r>
              <a:rPr lang="zh-CN" altLang="en-US" sz="2000" smtClean="0">
                <a:latin typeface="Times New Roman" pitchFamily="18" charset="0"/>
              </a:rPr>
              <a:t>的保证和支持。</a:t>
            </a:r>
          </a:p>
          <a:p>
            <a:pPr lvl="1" eaLnBrk="1" hangingPunct="1">
              <a:lnSpc>
                <a:spcPct val="150000"/>
              </a:lnSpc>
              <a:spcBef>
                <a:spcPct val="0"/>
              </a:spcBef>
              <a:buClr>
                <a:schemeClr val="tx1"/>
              </a:buClr>
              <a:buFont typeface="Marlett" pitchFamily="2" charset="2"/>
              <a:buChar char="2"/>
              <a:defRPr/>
            </a:pPr>
            <a:r>
              <a:rPr lang="zh-CN" altLang="en-US" sz="2000" smtClean="0">
                <a:latin typeface="Times New Roman" pitchFamily="18" charset="0"/>
              </a:rPr>
              <a:t>根据</a:t>
            </a:r>
            <a:r>
              <a:rPr lang="en-US" altLang="zh-CN" sz="2000" smtClean="0">
                <a:latin typeface="Times New Roman" pitchFamily="18" charset="0"/>
              </a:rPr>
              <a:t>MPS</a:t>
            </a:r>
            <a:r>
              <a:rPr lang="zh-CN" altLang="en-US" sz="2000" smtClean="0">
                <a:latin typeface="Times New Roman" pitchFamily="18" charset="0"/>
              </a:rPr>
              <a:t>、</a:t>
            </a:r>
            <a:r>
              <a:rPr lang="en-US" altLang="zh-CN" sz="2000" smtClean="0">
                <a:latin typeface="Times New Roman" pitchFamily="18" charset="0"/>
              </a:rPr>
              <a:t>BOM</a:t>
            </a:r>
            <a:r>
              <a:rPr lang="zh-CN" altLang="en-US" sz="2000" smtClean="0">
                <a:latin typeface="Times New Roman" pitchFamily="18" charset="0"/>
              </a:rPr>
              <a:t>、物料可用量，计算出企业要生产的全部加工件和采购件的需求量，按照产品出厂的优先顺序，计算出全部加工件和需求件的需求时间，并提出建议性的计划订单。</a:t>
            </a:r>
          </a:p>
          <a:p>
            <a:pPr eaLnBrk="1" hangingPunct="1">
              <a:lnSpc>
                <a:spcPct val="150000"/>
              </a:lnSpc>
              <a:spcBef>
                <a:spcPct val="0"/>
              </a:spcBef>
              <a:buClr>
                <a:schemeClr val="tx1"/>
              </a:buClr>
              <a:buFont typeface="Marlett" pitchFamily="2" charset="2"/>
              <a:buChar char="2"/>
              <a:defRPr/>
            </a:pPr>
            <a:r>
              <a:rPr lang="zh-CN" altLang="en-US" sz="2400" b="1" smtClean="0">
                <a:solidFill>
                  <a:srgbClr val="003366"/>
                </a:solidFill>
                <a:effectLst>
                  <a:outerShdw blurRad="38100" dist="38100" dir="2700000" algn="tl">
                    <a:srgbClr val="C0C0C0"/>
                  </a:outerShdw>
                </a:effectLst>
                <a:latin typeface="Times New Roman" pitchFamily="18" charset="0"/>
              </a:rPr>
              <a:t>作用：</a:t>
            </a:r>
          </a:p>
          <a:p>
            <a:pPr lvl="1" eaLnBrk="1" hangingPunct="1">
              <a:lnSpc>
                <a:spcPct val="150000"/>
              </a:lnSpc>
              <a:spcBef>
                <a:spcPct val="0"/>
              </a:spcBef>
              <a:buClr>
                <a:schemeClr val="tx1"/>
              </a:buClr>
              <a:buFont typeface="Marlett" pitchFamily="2" charset="2"/>
              <a:buChar char="2"/>
              <a:defRPr/>
            </a:pPr>
            <a:r>
              <a:rPr lang="zh-CN" altLang="en-US" sz="2000" smtClean="0">
                <a:latin typeface="Times New Roman" pitchFamily="18" charset="0"/>
              </a:rPr>
              <a:t>要对制造系统的复杂生产过程进行控制，必须随时检查一切必备的物料（包括用于设备维修的备品备件）是否能满足需要，个别物料的短缺往往会引起严重的连锁反应，使生产陷于停顿，</a:t>
            </a:r>
            <a:r>
              <a:rPr lang="en-US" altLang="zh-CN" sz="2000" smtClean="0">
                <a:latin typeface="Times New Roman" pitchFamily="18" charset="0"/>
              </a:rPr>
              <a:t>MRP</a:t>
            </a:r>
            <a:r>
              <a:rPr lang="zh-CN" altLang="en-US" sz="2000" smtClean="0">
                <a:latin typeface="Times New Roman" pitchFamily="18" charset="0"/>
              </a:rPr>
              <a:t>既可以用作需求计划系统，又可以用作进度控制系统。</a:t>
            </a:r>
          </a:p>
        </p:txBody>
      </p:sp>
      <p:sp>
        <p:nvSpPr>
          <p:cNvPr id="922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anim calcmode="lin" valueType="num">
                                      <p:cBhvr additive="base">
                                        <p:cTn id="7" dur="500" fill="hold"/>
                                        <p:tgtEl>
                                          <p:spTgt spid="2242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42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4259">
                                            <p:txEl>
                                              <p:pRg st="1" end="1"/>
                                            </p:txEl>
                                          </p:spTgt>
                                        </p:tgtEl>
                                        <p:attrNameLst>
                                          <p:attrName>style.visibility</p:attrName>
                                        </p:attrNameLst>
                                      </p:cBhvr>
                                      <p:to>
                                        <p:strVal val="visible"/>
                                      </p:to>
                                    </p:set>
                                    <p:anim calcmode="lin" valueType="num">
                                      <p:cBhvr additive="base">
                                        <p:cTn id="13" dur="500" fill="hold"/>
                                        <p:tgtEl>
                                          <p:spTgt spid="2242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42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4259">
                                            <p:txEl>
                                              <p:pRg st="2" end="2"/>
                                            </p:txEl>
                                          </p:spTgt>
                                        </p:tgtEl>
                                        <p:attrNameLst>
                                          <p:attrName>style.visibility</p:attrName>
                                        </p:attrNameLst>
                                      </p:cBhvr>
                                      <p:to>
                                        <p:strVal val="visible"/>
                                      </p:to>
                                    </p:set>
                                    <p:anim calcmode="lin" valueType="num">
                                      <p:cBhvr additive="base">
                                        <p:cTn id="19" dur="500" fill="hold"/>
                                        <p:tgtEl>
                                          <p:spTgt spid="2242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42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4259">
                                            <p:txEl>
                                              <p:pRg st="3" end="3"/>
                                            </p:txEl>
                                          </p:spTgt>
                                        </p:tgtEl>
                                        <p:attrNameLst>
                                          <p:attrName>style.visibility</p:attrName>
                                        </p:attrNameLst>
                                      </p:cBhvr>
                                      <p:to>
                                        <p:strVal val="visible"/>
                                      </p:to>
                                    </p:set>
                                    <p:anim calcmode="lin" valueType="num">
                                      <p:cBhvr additive="base">
                                        <p:cTn id="25" dur="500" fill="hold"/>
                                        <p:tgtEl>
                                          <p:spTgt spid="2242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42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4259">
                                            <p:txEl>
                                              <p:pRg st="4" end="4"/>
                                            </p:txEl>
                                          </p:spTgt>
                                        </p:tgtEl>
                                        <p:attrNameLst>
                                          <p:attrName>style.visibility</p:attrName>
                                        </p:attrNameLst>
                                      </p:cBhvr>
                                      <p:to>
                                        <p:strVal val="visible"/>
                                      </p:to>
                                    </p:set>
                                    <p:anim calcmode="lin" valueType="num">
                                      <p:cBhvr additive="base">
                                        <p:cTn id="31" dur="500" fill="hold"/>
                                        <p:tgtEl>
                                          <p:spTgt spid="22425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425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autoUpdateAnimBg="0"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5.2 </a:t>
            </a:r>
            <a:r>
              <a:rPr lang="zh-CN" altLang="en-US" sz="3600" b="1" dirty="0" smtClean="0">
                <a:solidFill>
                  <a:srgbClr val="FF0000"/>
                </a:solidFill>
                <a:effectLst>
                  <a:outerShdw blurRad="38100" dist="38100" dir="2700000" algn="tl">
                    <a:srgbClr val="C0C0C0"/>
                  </a:outerShdw>
                </a:effectLst>
                <a:latin typeface="Times New Roman" pitchFamily="18" charset="0"/>
              </a:rPr>
              <a:t>物料</a:t>
            </a:r>
            <a:r>
              <a:rPr lang="zh-CN" altLang="en-US" sz="3600" b="1" dirty="0">
                <a:solidFill>
                  <a:srgbClr val="FF0000"/>
                </a:solidFill>
                <a:effectLst>
                  <a:outerShdw blurRad="38100" dist="38100" dir="2700000" algn="tl">
                    <a:srgbClr val="C0C0C0"/>
                  </a:outerShdw>
                </a:effectLst>
                <a:latin typeface="Times New Roman" pitchFamily="18" charset="0"/>
              </a:rPr>
              <a:t>需求计划是</a:t>
            </a:r>
            <a:r>
              <a:rPr lang="zh-CN" altLang="en-US" sz="3600" b="1" dirty="0" smtClean="0">
                <a:solidFill>
                  <a:srgbClr val="FF0000"/>
                </a:solidFill>
                <a:effectLst>
                  <a:outerShdw blurRad="38100" dist="38100" dir="2700000" algn="tl">
                    <a:srgbClr val="C0C0C0"/>
                  </a:outerShdw>
                </a:effectLst>
                <a:latin typeface="Times New Roman" pitchFamily="18" charset="0"/>
              </a:rPr>
              <a:t>什么？为什么做？</a:t>
            </a:r>
          </a:p>
        </p:txBody>
      </p:sp>
      <p:sp>
        <p:nvSpPr>
          <p:cNvPr id="225283" name="Rectangle 3"/>
          <p:cNvSpPr>
            <a:spLocks noGrp="1" noChangeArrowheads="1"/>
          </p:cNvSpPr>
          <p:nvPr>
            <p:ph type="body" idx="1"/>
          </p:nvPr>
        </p:nvSpPr>
        <p:spPr>
          <a:xfrm>
            <a:off x="457200" y="1447800"/>
            <a:ext cx="8229600" cy="5105400"/>
          </a:xfrm>
        </p:spPr>
        <p:txBody>
          <a:bodyPr/>
          <a:lstStyle/>
          <a:p>
            <a:pPr eaLnBrk="1" hangingPunct="1">
              <a:lnSpc>
                <a:spcPct val="150000"/>
              </a:lnSpc>
              <a:spcBef>
                <a:spcPct val="0"/>
              </a:spcBef>
              <a:buClr>
                <a:schemeClr val="tx1"/>
              </a:buClr>
              <a:buFont typeface="Marlett" pitchFamily="2" charset="2"/>
              <a:buChar char="2"/>
              <a:defRPr/>
            </a:pPr>
            <a:r>
              <a:rPr lang="en-US" altLang="zh-CN" sz="2400" b="1" dirty="0" smtClean="0">
                <a:solidFill>
                  <a:srgbClr val="003366"/>
                </a:solidFill>
                <a:effectLst>
                  <a:outerShdw blurRad="38100" dist="38100" dir="2700000" algn="tl">
                    <a:srgbClr val="C0C0C0"/>
                  </a:outerShdw>
                </a:effectLst>
                <a:latin typeface="Times New Roman" pitchFamily="18" charset="0"/>
              </a:rPr>
              <a:t>MRP</a:t>
            </a:r>
            <a:r>
              <a:rPr lang="zh-CN" altLang="en-US" sz="2400" b="1" dirty="0" smtClean="0">
                <a:solidFill>
                  <a:srgbClr val="003366"/>
                </a:solidFill>
                <a:effectLst>
                  <a:outerShdw blurRad="38100" dist="38100" dir="2700000" algn="tl">
                    <a:srgbClr val="C0C0C0"/>
                  </a:outerShdw>
                </a:effectLst>
                <a:latin typeface="Times New Roman" pitchFamily="18" charset="0"/>
              </a:rPr>
              <a:t>的输出：</a:t>
            </a:r>
          </a:p>
          <a:p>
            <a:pPr lvl="1" eaLnBrk="1" hangingPunct="1">
              <a:lnSpc>
                <a:spcPct val="150000"/>
              </a:lnSpc>
              <a:spcBef>
                <a:spcPct val="0"/>
              </a:spcBef>
              <a:buClr>
                <a:schemeClr val="tx1"/>
              </a:buClr>
              <a:buFont typeface="Marlett" pitchFamily="2" charset="2"/>
              <a:buChar char="2"/>
              <a:defRPr/>
            </a:pPr>
            <a:r>
              <a:rPr lang="zh-CN" altLang="en-US" sz="2000" dirty="0" smtClean="0">
                <a:latin typeface="Times New Roman" pitchFamily="18" charset="0"/>
              </a:rPr>
              <a:t>提出每一个加工件和采购件的建议计划，除了说明每种物料的需求量之外，还要说明每一个加工件的开始日期和完成日期，说明每一个采购件的订货日期和入库日期。</a:t>
            </a:r>
          </a:p>
          <a:p>
            <a:pPr lvl="1" eaLnBrk="1" hangingPunct="1">
              <a:lnSpc>
                <a:spcPct val="150000"/>
              </a:lnSpc>
              <a:spcBef>
                <a:spcPct val="0"/>
              </a:spcBef>
              <a:buClr>
                <a:schemeClr val="tx1"/>
              </a:buClr>
              <a:buFont typeface="Marlett" pitchFamily="2" charset="2"/>
              <a:buChar char="2"/>
              <a:defRPr/>
            </a:pPr>
            <a:r>
              <a:rPr lang="en-US" altLang="zh-CN" sz="2000" dirty="0" smtClean="0">
                <a:latin typeface="Times New Roman" pitchFamily="18" charset="0"/>
              </a:rPr>
              <a:t>MRP</a:t>
            </a:r>
            <a:r>
              <a:rPr lang="zh-CN" altLang="en-US" sz="2000" dirty="0" smtClean="0">
                <a:latin typeface="Times New Roman" pitchFamily="18" charset="0"/>
              </a:rPr>
              <a:t>把生产作业计划和物料采购计划统一起来。</a:t>
            </a:r>
          </a:p>
          <a:p>
            <a:pPr lvl="1" eaLnBrk="1" hangingPunct="1">
              <a:lnSpc>
                <a:spcPct val="150000"/>
              </a:lnSpc>
              <a:spcBef>
                <a:spcPct val="0"/>
              </a:spcBef>
              <a:buClr>
                <a:schemeClr val="tx1"/>
              </a:buClr>
              <a:buFont typeface="Marlett" pitchFamily="2" charset="2"/>
              <a:buChar char="2"/>
              <a:defRPr/>
            </a:pPr>
            <a:endParaRPr lang="en-US" altLang="zh-CN" sz="2000" dirty="0" smtClean="0">
              <a:latin typeface="Times New Roman" pitchFamily="18" charset="0"/>
            </a:endParaRPr>
          </a:p>
        </p:txBody>
      </p:sp>
      <p:sp>
        <p:nvSpPr>
          <p:cNvPr id="1024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283">
                                            <p:txEl>
                                              <p:pRg st="0" end="0"/>
                                            </p:txEl>
                                          </p:spTgt>
                                        </p:tgtEl>
                                        <p:attrNameLst>
                                          <p:attrName>style.visibility</p:attrName>
                                        </p:attrNameLst>
                                      </p:cBhvr>
                                      <p:to>
                                        <p:strVal val="visible"/>
                                      </p:to>
                                    </p:set>
                                    <p:anim calcmode="lin" valueType="num">
                                      <p:cBhvr additive="base">
                                        <p:cTn id="7" dur="500" fill="hold"/>
                                        <p:tgtEl>
                                          <p:spTgt spid="2252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52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283">
                                            <p:txEl>
                                              <p:pRg st="1" end="1"/>
                                            </p:txEl>
                                          </p:spTgt>
                                        </p:tgtEl>
                                        <p:attrNameLst>
                                          <p:attrName>style.visibility</p:attrName>
                                        </p:attrNameLst>
                                      </p:cBhvr>
                                      <p:to>
                                        <p:strVal val="visible"/>
                                      </p:to>
                                    </p:set>
                                    <p:anim calcmode="lin" valueType="num">
                                      <p:cBhvr additive="base">
                                        <p:cTn id="13" dur="500" fill="hold"/>
                                        <p:tgtEl>
                                          <p:spTgt spid="2252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52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283">
                                            <p:txEl>
                                              <p:pRg st="2" end="2"/>
                                            </p:txEl>
                                          </p:spTgt>
                                        </p:tgtEl>
                                        <p:attrNameLst>
                                          <p:attrName>style.visibility</p:attrName>
                                        </p:attrNameLst>
                                      </p:cBhvr>
                                      <p:to>
                                        <p:strVal val="visible"/>
                                      </p:to>
                                    </p:set>
                                    <p:anim calcmode="lin" valueType="num">
                                      <p:cBhvr additive="base">
                                        <p:cTn id="19" dur="500" fill="hold"/>
                                        <p:tgtEl>
                                          <p:spTgt spid="2252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528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build="p" autoUpdateAnimBg="0" advAuto="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98" name="Freeform 26"/>
          <p:cNvSpPr>
            <a:spLocks/>
          </p:cNvSpPr>
          <p:nvPr/>
        </p:nvSpPr>
        <p:spPr bwMode="auto">
          <a:xfrm>
            <a:off x="1681163" y="5486400"/>
            <a:ext cx="5734050" cy="1173163"/>
          </a:xfrm>
          <a:custGeom>
            <a:avLst/>
            <a:gdLst>
              <a:gd name="T0" fmla="*/ 2147483646 w 3612"/>
              <a:gd name="T1" fmla="*/ 2147483646 h 739"/>
              <a:gd name="T2" fmla="*/ 2147483646 w 3612"/>
              <a:gd name="T3" fmla="*/ 2147483646 h 739"/>
              <a:gd name="T4" fmla="*/ 2147483646 w 3612"/>
              <a:gd name="T5" fmla="*/ 2147483646 h 739"/>
              <a:gd name="T6" fmla="*/ 2147483646 w 3612"/>
              <a:gd name="T7" fmla="*/ 2147483646 h 739"/>
              <a:gd name="T8" fmla="*/ 2147483646 w 3612"/>
              <a:gd name="T9" fmla="*/ 2147483646 h 739"/>
              <a:gd name="T10" fmla="*/ 2147483646 w 3612"/>
              <a:gd name="T11" fmla="*/ 2147483646 h 739"/>
              <a:gd name="T12" fmla="*/ 2147483646 w 3612"/>
              <a:gd name="T13" fmla="*/ 2147483646 h 739"/>
              <a:gd name="T14" fmla="*/ 2147483646 w 3612"/>
              <a:gd name="T15" fmla="*/ 2147483646 h 739"/>
              <a:gd name="T16" fmla="*/ 2147483646 w 3612"/>
              <a:gd name="T17" fmla="*/ 2147483646 h 739"/>
              <a:gd name="T18" fmla="*/ 2147483646 w 3612"/>
              <a:gd name="T19" fmla="*/ 2147483646 h 739"/>
              <a:gd name="T20" fmla="*/ 2147483646 w 3612"/>
              <a:gd name="T21" fmla="*/ 2147483646 h 739"/>
              <a:gd name="T22" fmla="*/ 2147483646 w 3612"/>
              <a:gd name="T23" fmla="*/ 2147483646 h 739"/>
              <a:gd name="T24" fmla="*/ 2147483646 w 3612"/>
              <a:gd name="T25" fmla="*/ 2147483646 h 739"/>
              <a:gd name="T26" fmla="*/ 2147483646 w 3612"/>
              <a:gd name="T27" fmla="*/ 2147483646 h 739"/>
              <a:gd name="T28" fmla="*/ 2147483646 w 3612"/>
              <a:gd name="T29" fmla="*/ 2147483646 h 739"/>
              <a:gd name="T30" fmla="*/ 2147483646 w 3612"/>
              <a:gd name="T31" fmla="*/ 2147483646 h 739"/>
              <a:gd name="T32" fmla="*/ 2147483646 w 3612"/>
              <a:gd name="T33" fmla="*/ 2147483646 h 73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12"/>
              <a:gd name="T52" fmla="*/ 0 h 739"/>
              <a:gd name="T53" fmla="*/ 3612 w 3612"/>
              <a:gd name="T54" fmla="*/ 739 h 73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12" h="739">
                <a:moveTo>
                  <a:pt x="93" y="549"/>
                </a:moveTo>
                <a:cubicBezTo>
                  <a:pt x="58" y="496"/>
                  <a:pt x="0" y="309"/>
                  <a:pt x="66" y="265"/>
                </a:cubicBezTo>
                <a:cubicBezTo>
                  <a:pt x="90" y="229"/>
                  <a:pt x="152" y="157"/>
                  <a:pt x="194" y="146"/>
                </a:cubicBezTo>
                <a:cubicBezTo>
                  <a:pt x="299" y="105"/>
                  <a:pt x="282" y="60"/>
                  <a:pt x="724" y="46"/>
                </a:cubicBezTo>
                <a:cubicBezTo>
                  <a:pt x="1419" y="0"/>
                  <a:pt x="2094" y="34"/>
                  <a:pt x="2790" y="27"/>
                </a:cubicBezTo>
                <a:cubicBezTo>
                  <a:pt x="3056" y="33"/>
                  <a:pt x="3046" y="40"/>
                  <a:pt x="3238" y="64"/>
                </a:cubicBezTo>
                <a:cubicBezTo>
                  <a:pt x="3335" y="76"/>
                  <a:pt x="3461" y="119"/>
                  <a:pt x="3494" y="137"/>
                </a:cubicBezTo>
                <a:cubicBezTo>
                  <a:pt x="3552" y="168"/>
                  <a:pt x="3571" y="194"/>
                  <a:pt x="3586" y="247"/>
                </a:cubicBezTo>
                <a:cubicBezTo>
                  <a:pt x="3612" y="326"/>
                  <a:pt x="3608" y="301"/>
                  <a:pt x="3586" y="457"/>
                </a:cubicBezTo>
                <a:cubicBezTo>
                  <a:pt x="3585" y="466"/>
                  <a:pt x="3573" y="469"/>
                  <a:pt x="3567" y="475"/>
                </a:cubicBezTo>
                <a:cubicBezTo>
                  <a:pt x="3543" y="495"/>
                  <a:pt x="3483" y="547"/>
                  <a:pt x="3439" y="576"/>
                </a:cubicBezTo>
                <a:cubicBezTo>
                  <a:pt x="3406" y="592"/>
                  <a:pt x="3357" y="649"/>
                  <a:pt x="3302" y="649"/>
                </a:cubicBezTo>
                <a:cubicBezTo>
                  <a:pt x="3240" y="707"/>
                  <a:pt x="2893" y="695"/>
                  <a:pt x="2863" y="695"/>
                </a:cubicBezTo>
                <a:cubicBezTo>
                  <a:pt x="2336" y="703"/>
                  <a:pt x="2412" y="705"/>
                  <a:pt x="1885" y="713"/>
                </a:cubicBezTo>
                <a:cubicBezTo>
                  <a:pt x="1743" y="739"/>
                  <a:pt x="1180" y="708"/>
                  <a:pt x="1035" y="713"/>
                </a:cubicBezTo>
                <a:cubicBezTo>
                  <a:pt x="843" y="710"/>
                  <a:pt x="642" y="691"/>
                  <a:pt x="450" y="686"/>
                </a:cubicBezTo>
                <a:cubicBezTo>
                  <a:pt x="287" y="660"/>
                  <a:pt x="152" y="619"/>
                  <a:pt x="93" y="549"/>
                </a:cubicBezTo>
                <a:close/>
              </a:path>
            </a:pathLst>
          </a:custGeom>
          <a:solidFill>
            <a:srgbClr val="CCFFFF"/>
          </a:solidFill>
          <a:ln w="28575" cap="rnd">
            <a:solidFill>
              <a:srgbClr val="FF0000"/>
            </a:solidFill>
            <a:prstDash val="sysDot"/>
            <a:round/>
            <a:headEnd/>
            <a:tailEnd/>
          </a:ln>
        </p:spPr>
        <p:txBody>
          <a:bodyPr vert="eaVert" wrap="none" lIns="90000" rIns="1890000" anchor="ctr"/>
          <a:lstStyle/>
          <a:p>
            <a:endParaRPr lang="zh-CN" altLang="en-US"/>
          </a:p>
        </p:txBody>
      </p:sp>
      <p:sp>
        <p:nvSpPr>
          <p:cNvPr id="207896" name="Freeform 24"/>
          <p:cNvSpPr>
            <a:spLocks/>
          </p:cNvSpPr>
          <p:nvPr/>
        </p:nvSpPr>
        <p:spPr bwMode="auto">
          <a:xfrm>
            <a:off x="652463" y="2992438"/>
            <a:ext cx="7739062" cy="2076450"/>
          </a:xfrm>
          <a:custGeom>
            <a:avLst/>
            <a:gdLst>
              <a:gd name="T0" fmla="*/ 2147483646 w 4875"/>
              <a:gd name="T1" fmla="*/ 2147483646 h 1308"/>
              <a:gd name="T2" fmla="*/ 2147483646 w 4875"/>
              <a:gd name="T3" fmla="*/ 2147483646 h 1308"/>
              <a:gd name="T4" fmla="*/ 2147483646 w 4875"/>
              <a:gd name="T5" fmla="*/ 2147483646 h 1308"/>
              <a:gd name="T6" fmla="*/ 2147483646 w 4875"/>
              <a:gd name="T7" fmla="*/ 2147483646 h 1308"/>
              <a:gd name="T8" fmla="*/ 2147483646 w 4875"/>
              <a:gd name="T9" fmla="*/ 2147483646 h 1308"/>
              <a:gd name="T10" fmla="*/ 2147483646 w 4875"/>
              <a:gd name="T11" fmla="*/ 2147483646 h 1308"/>
              <a:gd name="T12" fmla="*/ 2147483646 w 4875"/>
              <a:gd name="T13" fmla="*/ 2147483646 h 1308"/>
              <a:gd name="T14" fmla="*/ 2147483646 w 4875"/>
              <a:gd name="T15" fmla="*/ 2147483646 h 1308"/>
              <a:gd name="T16" fmla="*/ 2147483646 w 4875"/>
              <a:gd name="T17" fmla="*/ 2147483646 h 1308"/>
              <a:gd name="T18" fmla="*/ 2147483646 w 4875"/>
              <a:gd name="T19" fmla="*/ 2147483646 h 1308"/>
              <a:gd name="T20" fmla="*/ 2147483646 w 4875"/>
              <a:gd name="T21" fmla="*/ 2147483646 h 1308"/>
              <a:gd name="T22" fmla="*/ 2147483646 w 4875"/>
              <a:gd name="T23" fmla="*/ 2147483646 h 1308"/>
              <a:gd name="T24" fmla="*/ 2147483646 w 4875"/>
              <a:gd name="T25" fmla="*/ 2147483646 h 1308"/>
              <a:gd name="T26" fmla="*/ 2147483646 w 4875"/>
              <a:gd name="T27" fmla="*/ 2147483646 h 1308"/>
              <a:gd name="T28" fmla="*/ 2147483646 w 4875"/>
              <a:gd name="T29" fmla="*/ 2147483646 h 1308"/>
              <a:gd name="T30" fmla="*/ 2147483646 w 4875"/>
              <a:gd name="T31" fmla="*/ 2147483646 h 1308"/>
              <a:gd name="T32" fmla="*/ 2147483646 w 4875"/>
              <a:gd name="T33" fmla="*/ 2147483646 h 1308"/>
              <a:gd name="T34" fmla="*/ 2147483646 w 4875"/>
              <a:gd name="T35" fmla="*/ 2147483646 h 1308"/>
              <a:gd name="T36" fmla="*/ 2147483646 w 4875"/>
              <a:gd name="T37" fmla="*/ 2147483646 h 1308"/>
              <a:gd name="T38" fmla="*/ 2147483646 w 4875"/>
              <a:gd name="T39" fmla="*/ 2147483646 h 1308"/>
              <a:gd name="T40" fmla="*/ 2147483646 w 4875"/>
              <a:gd name="T41" fmla="*/ 2147483646 h 1308"/>
              <a:gd name="T42" fmla="*/ 2147483646 w 4875"/>
              <a:gd name="T43" fmla="*/ 2147483646 h 1308"/>
              <a:gd name="T44" fmla="*/ 2147483646 w 4875"/>
              <a:gd name="T45" fmla="*/ 2147483646 h 1308"/>
              <a:gd name="T46" fmla="*/ 2147483646 w 4875"/>
              <a:gd name="T47" fmla="*/ 2147483646 h 1308"/>
              <a:gd name="T48" fmla="*/ 2147483646 w 4875"/>
              <a:gd name="T49" fmla="*/ 2147483646 h 1308"/>
              <a:gd name="T50" fmla="*/ 2147483646 w 4875"/>
              <a:gd name="T51" fmla="*/ 2147483646 h 1308"/>
              <a:gd name="T52" fmla="*/ 2147483646 w 4875"/>
              <a:gd name="T53" fmla="*/ 2147483646 h 1308"/>
              <a:gd name="T54" fmla="*/ 2147483646 w 4875"/>
              <a:gd name="T55" fmla="*/ 2147483646 h 1308"/>
              <a:gd name="T56" fmla="*/ 2147483646 w 4875"/>
              <a:gd name="T57" fmla="*/ 2147483646 h 1308"/>
              <a:gd name="T58" fmla="*/ 2147483646 w 4875"/>
              <a:gd name="T59" fmla="*/ 2147483646 h 1308"/>
              <a:gd name="T60" fmla="*/ 2147483646 w 4875"/>
              <a:gd name="T61" fmla="*/ 2147483646 h 1308"/>
              <a:gd name="T62" fmla="*/ 2147483646 w 4875"/>
              <a:gd name="T63" fmla="*/ 2147483646 h 1308"/>
              <a:gd name="T64" fmla="*/ 2147483646 w 4875"/>
              <a:gd name="T65" fmla="*/ 2147483646 h 1308"/>
              <a:gd name="T66" fmla="*/ 2147483646 w 4875"/>
              <a:gd name="T67" fmla="*/ 2147483646 h 1308"/>
              <a:gd name="T68" fmla="*/ 2147483646 w 4875"/>
              <a:gd name="T69" fmla="*/ 2147483646 h 1308"/>
              <a:gd name="T70" fmla="*/ 2147483646 w 4875"/>
              <a:gd name="T71" fmla="*/ 2147483646 h 1308"/>
              <a:gd name="T72" fmla="*/ 2147483646 w 4875"/>
              <a:gd name="T73" fmla="*/ 2147483646 h 1308"/>
              <a:gd name="T74" fmla="*/ 2147483646 w 4875"/>
              <a:gd name="T75" fmla="*/ 2147483646 h 1308"/>
              <a:gd name="T76" fmla="*/ 2147483646 w 4875"/>
              <a:gd name="T77" fmla="*/ 2147483646 h 1308"/>
              <a:gd name="T78" fmla="*/ 2147483646 w 4875"/>
              <a:gd name="T79" fmla="*/ 2147483646 h 1308"/>
              <a:gd name="T80" fmla="*/ 2147483646 w 4875"/>
              <a:gd name="T81" fmla="*/ 2147483646 h 1308"/>
              <a:gd name="T82" fmla="*/ 2147483646 w 4875"/>
              <a:gd name="T83" fmla="*/ 2147483646 h 1308"/>
              <a:gd name="T84" fmla="*/ 2147483646 w 4875"/>
              <a:gd name="T85" fmla="*/ 2147483646 h 1308"/>
              <a:gd name="T86" fmla="*/ 2147483646 w 4875"/>
              <a:gd name="T87" fmla="*/ 2147483646 h 1308"/>
              <a:gd name="T88" fmla="*/ 2147483646 w 4875"/>
              <a:gd name="T89" fmla="*/ 2147483646 h 1308"/>
              <a:gd name="T90" fmla="*/ 2147483646 w 4875"/>
              <a:gd name="T91" fmla="*/ 2147483646 h 1308"/>
              <a:gd name="T92" fmla="*/ 2147483646 w 4875"/>
              <a:gd name="T93" fmla="*/ 2147483646 h 1308"/>
              <a:gd name="T94" fmla="*/ 2147483646 w 4875"/>
              <a:gd name="T95" fmla="*/ 2147483646 h 1308"/>
              <a:gd name="T96" fmla="*/ 2147483646 w 4875"/>
              <a:gd name="T97" fmla="*/ 2147483646 h 130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875"/>
              <a:gd name="T148" fmla="*/ 0 h 1308"/>
              <a:gd name="T149" fmla="*/ 4875 w 4875"/>
              <a:gd name="T150" fmla="*/ 1308 h 130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875" h="1308">
                <a:moveTo>
                  <a:pt x="3255" y="949"/>
                </a:moveTo>
                <a:cubicBezTo>
                  <a:pt x="3231" y="892"/>
                  <a:pt x="3180" y="851"/>
                  <a:pt x="3136" y="812"/>
                </a:cubicBezTo>
                <a:cubicBezTo>
                  <a:pt x="3101" y="781"/>
                  <a:pt x="3083" y="755"/>
                  <a:pt x="3045" y="730"/>
                </a:cubicBezTo>
                <a:cubicBezTo>
                  <a:pt x="3023" y="695"/>
                  <a:pt x="2984" y="679"/>
                  <a:pt x="2944" y="666"/>
                </a:cubicBezTo>
                <a:cubicBezTo>
                  <a:pt x="2892" y="631"/>
                  <a:pt x="2839" y="625"/>
                  <a:pt x="2780" y="611"/>
                </a:cubicBezTo>
                <a:cubicBezTo>
                  <a:pt x="2721" y="596"/>
                  <a:pt x="2665" y="570"/>
                  <a:pt x="2606" y="556"/>
                </a:cubicBezTo>
                <a:cubicBezTo>
                  <a:pt x="2350" y="559"/>
                  <a:pt x="2241" y="547"/>
                  <a:pt x="2021" y="602"/>
                </a:cubicBezTo>
                <a:cubicBezTo>
                  <a:pt x="1829" y="638"/>
                  <a:pt x="1687" y="765"/>
                  <a:pt x="1628" y="840"/>
                </a:cubicBezTo>
                <a:cubicBezTo>
                  <a:pt x="1625" y="910"/>
                  <a:pt x="1560" y="943"/>
                  <a:pt x="1555" y="1013"/>
                </a:cubicBezTo>
                <a:cubicBezTo>
                  <a:pt x="1549" y="1086"/>
                  <a:pt x="1447" y="1159"/>
                  <a:pt x="1390" y="1196"/>
                </a:cubicBezTo>
                <a:cubicBezTo>
                  <a:pt x="1378" y="1231"/>
                  <a:pt x="1041" y="1276"/>
                  <a:pt x="1006" y="1288"/>
                </a:cubicBezTo>
                <a:cubicBezTo>
                  <a:pt x="805" y="1308"/>
                  <a:pt x="358" y="1288"/>
                  <a:pt x="174" y="1288"/>
                </a:cubicBezTo>
                <a:cubicBezTo>
                  <a:pt x="156" y="1285"/>
                  <a:pt x="137" y="1284"/>
                  <a:pt x="119" y="1278"/>
                </a:cubicBezTo>
                <a:cubicBezTo>
                  <a:pt x="92" y="1269"/>
                  <a:pt x="59" y="1217"/>
                  <a:pt x="28" y="1196"/>
                </a:cubicBezTo>
                <a:cubicBezTo>
                  <a:pt x="0" y="1112"/>
                  <a:pt x="9" y="1078"/>
                  <a:pt x="19" y="968"/>
                </a:cubicBezTo>
                <a:cubicBezTo>
                  <a:pt x="22" y="937"/>
                  <a:pt x="74" y="894"/>
                  <a:pt x="74" y="894"/>
                </a:cubicBezTo>
                <a:cubicBezTo>
                  <a:pt x="87" y="854"/>
                  <a:pt x="118" y="831"/>
                  <a:pt x="147" y="803"/>
                </a:cubicBezTo>
                <a:cubicBezTo>
                  <a:pt x="166" y="747"/>
                  <a:pt x="203" y="722"/>
                  <a:pt x="256" y="702"/>
                </a:cubicBezTo>
                <a:cubicBezTo>
                  <a:pt x="297" y="663"/>
                  <a:pt x="255" y="697"/>
                  <a:pt x="348" y="666"/>
                </a:cubicBezTo>
                <a:cubicBezTo>
                  <a:pt x="428" y="639"/>
                  <a:pt x="502" y="620"/>
                  <a:pt x="586" y="611"/>
                </a:cubicBezTo>
                <a:cubicBezTo>
                  <a:pt x="654" y="588"/>
                  <a:pt x="570" y="614"/>
                  <a:pt x="714" y="593"/>
                </a:cubicBezTo>
                <a:cubicBezTo>
                  <a:pt x="751" y="588"/>
                  <a:pt x="802" y="575"/>
                  <a:pt x="842" y="565"/>
                </a:cubicBezTo>
                <a:cubicBezTo>
                  <a:pt x="878" y="541"/>
                  <a:pt x="919" y="515"/>
                  <a:pt x="960" y="501"/>
                </a:cubicBezTo>
                <a:cubicBezTo>
                  <a:pt x="993" y="470"/>
                  <a:pt x="1072" y="433"/>
                  <a:pt x="1116" y="419"/>
                </a:cubicBezTo>
                <a:cubicBezTo>
                  <a:pt x="1165" y="387"/>
                  <a:pt x="1225" y="373"/>
                  <a:pt x="1280" y="355"/>
                </a:cubicBezTo>
                <a:cubicBezTo>
                  <a:pt x="1313" y="344"/>
                  <a:pt x="1318" y="321"/>
                  <a:pt x="1354" y="309"/>
                </a:cubicBezTo>
                <a:cubicBezTo>
                  <a:pt x="1425" y="238"/>
                  <a:pt x="1341" y="314"/>
                  <a:pt x="1408" y="273"/>
                </a:cubicBezTo>
                <a:cubicBezTo>
                  <a:pt x="1433" y="258"/>
                  <a:pt x="1456" y="231"/>
                  <a:pt x="1482" y="218"/>
                </a:cubicBezTo>
                <a:cubicBezTo>
                  <a:pt x="1499" y="210"/>
                  <a:pt x="1536" y="200"/>
                  <a:pt x="1536" y="200"/>
                </a:cubicBezTo>
                <a:cubicBezTo>
                  <a:pt x="1576" y="160"/>
                  <a:pt x="1537" y="193"/>
                  <a:pt x="1628" y="163"/>
                </a:cubicBezTo>
                <a:cubicBezTo>
                  <a:pt x="1665" y="151"/>
                  <a:pt x="1702" y="139"/>
                  <a:pt x="1738" y="126"/>
                </a:cubicBezTo>
                <a:cubicBezTo>
                  <a:pt x="1758" y="119"/>
                  <a:pt x="1771" y="97"/>
                  <a:pt x="1792" y="90"/>
                </a:cubicBezTo>
                <a:cubicBezTo>
                  <a:pt x="1801" y="87"/>
                  <a:pt x="1811" y="84"/>
                  <a:pt x="1820" y="81"/>
                </a:cubicBezTo>
                <a:cubicBezTo>
                  <a:pt x="1855" y="45"/>
                  <a:pt x="1966" y="44"/>
                  <a:pt x="1966" y="44"/>
                </a:cubicBezTo>
                <a:cubicBezTo>
                  <a:pt x="2103" y="0"/>
                  <a:pt x="2752" y="17"/>
                  <a:pt x="2771" y="17"/>
                </a:cubicBezTo>
                <a:cubicBezTo>
                  <a:pt x="3000" y="32"/>
                  <a:pt x="3123" y="97"/>
                  <a:pt x="3228" y="126"/>
                </a:cubicBezTo>
                <a:cubicBezTo>
                  <a:pt x="3348" y="173"/>
                  <a:pt x="3417" y="253"/>
                  <a:pt x="3493" y="300"/>
                </a:cubicBezTo>
                <a:cubicBezTo>
                  <a:pt x="3526" y="351"/>
                  <a:pt x="3627" y="403"/>
                  <a:pt x="3685" y="410"/>
                </a:cubicBezTo>
                <a:cubicBezTo>
                  <a:pt x="3825" y="455"/>
                  <a:pt x="3919" y="500"/>
                  <a:pt x="3950" y="501"/>
                </a:cubicBezTo>
                <a:cubicBezTo>
                  <a:pt x="4018" y="524"/>
                  <a:pt x="4465" y="648"/>
                  <a:pt x="4535" y="666"/>
                </a:cubicBezTo>
                <a:cubicBezTo>
                  <a:pt x="4643" y="681"/>
                  <a:pt x="4728" y="737"/>
                  <a:pt x="4800" y="776"/>
                </a:cubicBezTo>
                <a:cubicBezTo>
                  <a:pt x="4822" y="820"/>
                  <a:pt x="4866" y="886"/>
                  <a:pt x="4874" y="931"/>
                </a:cubicBezTo>
                <a:cubicBezTo>
                  <a:pt x="4863" y="1001"/>
                  <a:pt x="4875" y="1029"/>
                  <a:pt x="4846" y="1096"/>
                </a:cubicBezTo>
                <a:cubicBezTo>
                  <a:pt x="4813" y="1145"/>
                  <a:pt x="4779" y="1188"/>
                  <a:pt x="4764" y="1224"/>
                </a:cubicBezTo>
                <a:cubicBezTo>
                  <a:pt x="4718" y="1257"/>
                  <a:pt x="4744" y="1293"/>
                  <a:pt x="4572" y="1297"/>
                </a:cubicBezTo>
                <a:cubicBezTo>
                  <a:pt x="4132" y="1287"/>
                  <a:pt x="4113" y="1291"/>
                  <a:pt x="3749" y="1269"/>
                </a:cubicBezTo>
                <a:cubicBezTo>
                  <a:pt x="3702" y="1261"/>
                  <a:pt x="3540" y="1232"/>
                  <a:pt x="3493" y="1224"/>
                </a:cubicBezTo>
                <a:cubicBezTo>
                  <a:pt x="3418" y="1191"/>
                  <a:pt x="3382" y="1157"/>
                  <a:pt x="3347" y="1114"/>
                </a:cubicBezTo>
                <a:lnTo>
                  <a:pt x="3285" y="995"/>
                </a:lnTo>
              </a:path>
            </a:pathLst>
          </a:custGeom>
          <a:solidFill>
            <a:srgbClr val="CCFFFF"/>
          </a:solidFill>
          <a:ln w="28575" cap="rnd">
            <a:solidFill>
              <a:srgbClr val="FF0000"/>
            </a:solidFill>
            <a:prstDash val="sysDot"/>
            <a:round/>
            <a:headEnd/>
            <a:tailEnd/>
          </a:ln>
        </p:spPr>
        <p:txBody>
          <a:bodyPr vert="eaVert" wrap="none" lIns="90000" rIns="1890000" anchor="ctr"/>
          <a:lstStyle/>
          <a:p>
            <a:endParaRPr lang="zh-CN" altLang="en-US"/>
          </a:p>
        </p:txBody>
      </p:sp>
      <p:sp>
        <p:nvSpPr>
          <p:cNvPr id="20787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5.3 MRP</a:t>
            </a:r>
            <a:r>
              <a:rPr lang="zh-CN" altLang="en-US" sz="3600" b="1" dirty="0" smtClean="0">
                <a:solidFill>
                  <a:srgbClr val="FF0000"/>
                </a:solidFill>
                <a:effectLst>
                  <a:outerShdw blurRad="38100" dist="38100" dir="2700000" algn="tl">
                    <a:srgbClr val="C0C0C0"/>
                  </a:outerShdw>
                </a:effectLst>
                <a:latin typeface="Times New Roman" pitchFamily="18" charset="0"/>
              </a:rPr>
              <a:t>的输入、输出逻辑</a:t>
            </a:r>
          </a:p>
        </p:txBody>
      </p:sp>
      <p:sp>
        <p:nvSpPr>
          <p:cNvPr id="11269"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pSp>
        <p:nvGrpSpPr>
          <p:cNvPr id="2" name="Group 6"/>
          <p:cNvGrpSpPr>
            <a:grpSpLocks/>
          </p:cNvGrpSpPr>
          <p:nvPr/>
        </p:nvGrpSpPr>
        <p:grpSpPr bwMode="auto">
          <a:xfrm>
            <a:off x="990600" y="3194050"/>
            <a:ext cx="7086600" cy="3130550"/>
            <a:chOff x="3060" y="10020"/>
            <a:chExt cx="6300" cy="2964"/>
          </a:xfrm>
        </p:grpSpPr>
        <p:sp>
          <p:nvSpPr>
            <p:cNvPr id="207879" name="Text Box 7"/>
            <p:cNvSpPr txBox="1">
              <a:spLocks noChangeArrowheads="1"/>
            </p:cNvSpPr>
            <p:nvPr/>
          </p:nvSpPr>
          <p:spPr bwMode="auto">
            <a:xfrm>
              <a:off x="5400" y="10020"/>
              <a:ext cx="1620" cy="467"/>
            </a:xfrm>
            <a:prstGeom prst="rect">
              <a:avLst/>
            </a:prstGeom>
            <a:solidFill>
              <a:srgbClr val="FFCC00"/>
            </a:solidFill>
            <a:ln w="9525">
              <a:solidFill>
                <a:srgbClr val="000000"/>
              </a:solidFill>
              <a:miter lim="800000"/>
              <a:headEnd/>
              <a:tailEnd/>
            </a:ln>
          </p:spPr>
          <p:txBody>
            <a:bodyPr/>
            <a:lstStyle/>
            <a:p>
              <a:pPr algn="ctr">
                <a:defRPr/>
              </a:pPr>
              <a:r>
                <a:rPr kumimoji="1" lang="zh-CN" altLang="en-US" sz="2000">
                  <a:effectLst>
                    <a:outerShdw blurRad="38100" dist="38100" dir="2700000" algn="tl">
                      <a:srgbClr val="FFFFFF"/>
                    </a:outerShdw>
                  </a:effectLst>
                  <a:latin typeface="Times New Roman" pitchFamily="18" charset="0"/>
                </a:rPr>
                <a:t>主生产计划</a:t>
              </a:r>
            </a:p>
          </p:txBody>
        </p:sp>
        <p:sp>
          <p:nvSpPr>
            <p:cNvPr id="207880" name="Text Box 8"/>
            <p:cNvSpPr txBox="1">
              <a:spLocks noChangeArrowheads="1"/>
            </p:cNvSpPr>
            <p:nvPr/>
          </p:nvSpPr>
          <p:spPr bwMode="auto">
            <a:xfrm>
              <a:off x="5400" y="11113"/>
              <a:ext cx="1620" cy="467"/>
            </a:xfrm>
            <a:prstGeom prst="rect">
              <a:avLst/>
            </a:prstGeom>
            <a:solidFill>
              <a:srgbClr val="FF0000"/>
            </a:solidFill>
            <a:ln w="9525">
              <a:solidFill>
                <a:srgbClr val="000000"/>
              </a:solidFill>
              <a:miter lim="800000"/>
              <a:headEnd/>
              <a:tailEnd/>
            </a:ln>
          </p:spPr>
          <p:txBody>
            <a:bodyPr/>
            <a:lstStyle/>
            <a:p>
              <a:pPr algn="ctr">
                <a:defRPr/>
              </a:pPr>
              <a:r>
                <a:rPr kumimoji="1" lang="zh-CN" altLang="en-US" sz="2000" b="1">
                  <a:solidFill>
                    <a:srgbClr val="CCFFFF"/>
                  </a:solidFill>
                  <a:effectLst>
                    <a:outerShdw blurRad="38100" dist="38100" dir="2700000" algn="tl">
                      <a:srgbClr val="000000"/>
                    </a:outerShdw>
                  </a:effectLst>
                  <a:latin typeface="Times New Roman" pitchFamily="18" charset="0"/>
                </a:rPr>
                <a:t>物料需求计划</a:t>
              </a:r>
            </a:p>
          </p:txBody>
        </p:sp>
        <p:sp>
          <p:nvSpPr>
            <p:cNvPr id="207881" name="Text Box 9"/>
            <p:cNvSpPr txBox="1">
              <a:spLocks noChangeArrowheads="1"/>
            </p:cNvSpPr>
            <p:nvPr/>
          </p:nvSpPr>
          <p:spPr bwMode="auto">
            <a:xfrm>
              <a:off x="7740" y="11113"/>
              <a:ext cx="1620" cy="467"/>
            </a:xfrm>
            <a:prstGeom prst="rect">
              <a:avLst/>
            </a:prstGeom>
            <a:solidFill>
              <a:srgbClr val="FFCC00"/>
            </a:solidFill>
            <a:ln w="9525">
              <a:solidFill>
                <a:srgbClr val="000000"/>
              </a:solidFill>
              <a:miter lim="800000"/>
              <a:headEnd/>
              <a:tailEnd/>
            </a:ln>
          </p:spPr>
          <p:txBody>
            <a:bodyPr/>
            <a:lstStyle/>
            <a:p>
              <a:pPr algn="ctr">
                <a:defRPr/>
              </a:pPr>
              <a:r>
                <a:rPr kumimoji="1" lang="zh-CN" altLang="en-US" sz="2000" dirty="0">
                  <a:effectLst>
                    <a:outerShdw blurRad="38100" dist="38100" dir="2700000" algn="tl">
                      <a:srgbClr val="FFFFFF"/>
                    </a:outerShdw>
                  </a:effectLst>
                  <a:latin typeface="Times New Roman" pitchFamily="18" charset="0"/>
                </a:rPr>
                <a:t>产品结构信息</a:t>
              </a:r>
            </a:p>
          </p:txBody>
        </p:sp>
        <p:sp>
          <p:nvSpPr>
            <p:cNvPr id="207882" name="Text Box 10"/>
            <p:cNvSpPr txBox="1">
              <a:spLocks noChangeArrowheads="1"/>
            </p:cNvSpPr>
            <p:nvPr/>
          </p:nvSpPr>
          <p:spPr bwMode="auto">
            <a:xfrm>
              <a:off x="3060" y="11113"/>
              <a:ext cx="1620" cy="467"/>
            </a:xfrm>
            <a:prstGeom prst="rect">
              <a:avLst/>
            </a:prstGeom>
            <a:solidFill>
              <a:srgbClr val="FFCC00"/>
            </a:solidFill>
            <a:ln w="9525">
              <a:solidFill>
                <a:srgbClr val="000000"/>
              </a:solidFill>
              <a:miter lim="800000"/>
              <a:headEnd/>
              <a:tailEnd/>
            </a:ln>
          </p:spPr>
          <p:txBody>
            <a:bodyPr/>
            <a:lstStyle/>
            <a:p>
              <a:pPr algn="ctr">
                <a:defRPr/>
              </a:pPr>
              <a:r>
                <a:rPr kumimoji="1" lang="zh-CN" altLang="en-US" sz="2000" dirty="0">
                  <a:effectLst>
                    <a:outerShdw blurRad="38100" dist="38100" dir="2700000" algn="tl">
                      <a:srgbClr val="FFFFFF"/>
                    </a:outerShdw>
                  </a:effectLst>
                  <a:latin typeface="Times New Roman" pitchFamily="18" charset="0"/>
                </a:rPr>
                <a:t>物料库存信息</a:t>
              </a:r>
            </a:p>
          </p:txBody>
        </p:sp>
        <p:sp>
          <p:nvSpPr>
            <p:cNvPr id="207883" name="Text Box 11"/>
            <p:cNvSpPr txBox="1">
              <a:spLocks noChangeArrowheads="1"/>
            </p:cNvSpPr>
            <p:nvPr/>
          </p:nvSpPr>
          <p:spPr bwMode="auto">
            <a:xfrm>
              <a:off x="4065" y="12517"/>
              <a:ext cx="1620" cy="467"/>
            </a:xfrm>
            <a:prstGeom prst="rect">
              <a:avLst/>
            </a:prstGeom>
            <a:solidFill>
              <a:srgbClr val="FFCC00"/>
            </a:solidFill>
            <a:ln w="9525">
              <a:solidFill>
                <a:srgbClr val="000000"/>
              </a:solidFill>
              <a:miter lim="800000"/>
              <a:headEnd/>
              <a:tailEnd/>
            </a:ln>
          </p:spPr>
          <p:txBody>
            <a:bodyPr/>
            <a:lstStyle/>
            <a:p>
              <a:pPr algn="ctr">
                <a:defRPr/>
              </a:pPr>
              <a:r>
                <a:rPr kumimoji="1" lang="zh-CN" altLang="en-US" sz="2000" dirty="0">
                  <a:effectLst>
                    <a:outerShdw blurRad="38100" dist="38100" dir="2700000" algn="tl">
                      <a:srgbClr val="FFFFFF"/>
                    </a:outerShdw>
                  </a:effectLst>
                  <a:latin typeface="Times New Roman" pitchFamily="18" charset="0"/>
                </a:rPr>
                <a:t>物料采购计划</a:t>
              </a:r>
            </a:p>
          </p:txBody>
        </p:sp>
        <p:sp>
          <p:nvSpPr>
            <p:cNvPr id="207884" name="Text Box 12"/>
            <p:cNvSpPr txBox="1">
              <a:spLocks noChangeArrowheads="1"/>
            </p:cNvSpPr>
            <p:nvPr/>
          </p:nvSpPr>
          <p:spPr bwMode="auto">
            <a:xfrm>
              <a:off x="6735" y="12517"/>
              <a:ext cx="1620" cy="467"/>
            </a:xfrm>
            <a:prstGeom prst="rect">
              <a:avLst/>
            </a:prstGeom>
            <a:solidFill>
              <a:srgbClr val="FFCC00"/>
            </a:solidFill>
            <a:ln w="9525">
              <a:solidFill>
                <a:srgbClr val="000000"/>
              </a:solidFill>
              <a:miter lim="800000"/>
              <a:headEnd/>
              <a:tailEnd/>
            </a:ln>
          </p:spPr>
          <p:txBody>
            <a:bodyPr/>
            <a:lstStyle/>
            <a:p>
              <a:pPr algn="ctr">
                <a:defRPr/>
              </a:pPr>
              <a:r>
                <a:rPr kumimoji="1" lang="zh-CN" altLang="en-US" sz="2000">
                  <a:effectLst>
                    <a:outerShdw blurRad="38100" dist="38100" dir="2700000" algn="tl">
                      <a:srgbClr val="FFFFFF"/>
                    </a:outerShdw>
                  </a:effectLst>
                  <a:latin typeface="Times New Roman" pitchFamily="18" charset="0"/>
                </a:rPr>
                <a:t>安排加工计划</a:t>
              </a:r>
            </a:p>
          </p:txBody>
        </p:sp>
        <p:sp>
          <p:nvSpPr>
            <p:cNvPr id="11281" name="Line 13"/>
            <p:cNvSpPr>
              <a:spLocks noChangeShapeType="1"/>
            </p:cNvSpPr>
            <p:nvPr/>
          </p:nvSpPr>
          <p:spPr bwMode="auto">
            <a:xfrm>
              <a:off x="6210" y="10488"/>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2" name="Line 14"/>
            <p:cNvSpPr>
              <a:spLocks noChangeShapeType="1"/>
            </p:cNvSpPr>
            <p:nvPr/>
          </p:nvSpPr>
          <p:spPr bwMode="auto">
            <a:xfrm>
              <a:off x="4680" y="11334"/>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3" name="Line 15"/>
            <p:cNvSpPr>
              <a:spLocks noChangeShapeType="1"/>
            </p:cNvSpPr>
            <p:nvPr/>
          </p:nvSpPr>
          <p:spPr bwMode="auto">
            <a:xfrm flipH="1">
              <a:off x="7020" y="11334"/>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1284" name="Group 16"/>
            <p:cNvGrpSpPr>
              <a:grpSpLocks/>
            </p:cNvGrpSpPr>
            <p:nvPr/>
          </p:nvGrpSpPr>
          <p:grpSpPr bwMode="auto">
            <a:xfrm>
              <a:off x="4860" y="11580"/>
              <a:ext cx="2700" cy="936"/>
              <a:chOff x="4860" y="11580"/>
              <a:chExt cx="2700" cy="936"/>
            </a:xfrm>
          </p:grpSpPr>
          <p:sp>
            <p:nvSpPr>
              <p:cNvPr id="11285" name="Line 17"/>
              <p:cNvSpPr>
                <a:spLocks noChangeShapeType="1"/>
              </p:cNvSpPr>
              <p:nvPr/>
            </p:nvSpPr>
            <p:spPr bwMode="auto">
              <a:xfrm>
                <a:off x="6210" y="1158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286" name="Group 18"/>
              <p:cNvGrpSpPr>
                <a:grpSpLocks/>
              </p:cNvGrpSpPr>
              <p:nvPr/>
            </p:nvGrpSpPr>
            <p:grpSpPr bwMode="auto">
              <a:xfrm>
                <a:off x="4860" y="12048"/>
                <a:ext cx="2700" cy="468"/>
                <a:chOff x="4860" y="12048"/>
                <a:chExt cx="2700" cy="468"/>
              </a:xfrm>
            </p:grpSpPr>
            <p:sp>
              <p:nvSpPr>
                <p:cNvPr id="11287" name="Line 19"/>
                <p:cNvSpPr>
                  <a:spLocks noChangeShapeType="1"/>
                </p:cNvSpPr>
                <p:nvPr/>
              </p:nvSpPr>
              <p:spPr bwMode="auto">
                <a:xfrm flipV="1">
                  <a:off x="4860" y="12048"/>
                  <a:ext cx="0" cy="46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1288" name="Line 20"/>
                <p:cNvSpPr>
                  <a:spLocks noChangeShapeType="1"/>
                </p:cNvSpPr>
                <p:nvPr/>
              </p:nvSpPr>
              <p:spPr bwMode="auto">
                <a:xfrm>
                  <a:off x="4860" y="12048"/>
                  <a:ext cx="27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 name="Line 21"/>
                <p:cNvSpPr>
                  <a:spLocks noChangeShapeType="1"/>
                </p:cNvSpPr>
                <p:nvPr/>
              </p:nvSpPr>
              <p:spPr bwMode="auto">
                <a:xfrm>
                  <a:off x="7560" y="1204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207894" name="Rectangle 22"/>
          <p:cNvSpPr>
            <a:spLocks noGrp="1" noChangeArrowheads="1"/>
          </p:cNvSpPr>
          <p:nvPr>
            <p:ph type="body" idx="1"/>
          </p:nvPr>
        </p:nvSpPr>
        <p:spPr>
          <a:xfrm>
            <a:off x="457200" y="1447800"/>
            <a:ext cx="8229600" cy="4038600"/>
          </a:xfrm>
          <a:noFill/>
        </p:spPr>
        <p:txBody>
          <a:bodyPr/>
          <a:lstStyle/>
          <a:p>
            <a:pPr eaLnBrk="1" hangingPunct="1">
              <a:lnSpc>
                <a:spcPct val="150000"/>
              </a:lnSpc>
            </a:pPr>
            <a:r>
              <a:rPr lang="zh-CN" altLang="en-US" sz="2800" b="1" smtClean="0"/>
              <a:t>基本原理</a:t>
            </a:r>
            <a:r>
              <a:rPr lang="zh-CN" altLang="en-US" sz="2800" smtClean="0"/>
              <a:t>：根据需求和预测来测定未来物料供应和生产计划，提供物料需求的准确时间和数量。</a:t>
            </a:r>
          </a:p>
        </p:txBody>
      </p:sp>
      <p:sp>
        <p:nvSpPr>
          <p:cNvPr id="207897" name="AutoShape 25"/>
          <p:cNvSpPr>
            <a:spLocks noChangeArrowheads="1"/>
          </p:cNvSpPr>
          <p:nvPr/>
        </p:nvSpPr>
        <p:spPr bwMode="auto">
          <a:xfrm>
            <a:off x="7467600" y="3352800"/>
            <a:ext cx="1143000" cy="457200"/>
          </a:xfrm>
          <a:prstGeom prst="wedgeRoundRectCallout">
            <a:avLst>
              <a:gd name="adj1" fmla="val -68611"/>
              <a:gd name="adj2" fmla="val 95833"/>
              <a:gd name="adj3" fmla="val 16667"/>
            </a:avLst>
          </a:prstGeom>
          <a:solidFill>
            <a:srgbClr val="99CCFF"/>
          </a:solidFill>
          <a:ln>
            <a:noFill/>
          </a:ln>
          <a:extLst>
            <a:ext uri="{91240B29-F687-4F45-9708-019B960494DF}">
              <a14:hiddenLine xmlns:a14="http://schemas.microsoft.com/office/drawing/2010/main" w="28575" cap="rnd" algn="ctr">
                <a:solidFill>
                  <a:srgbClr val="000000"/>
                </a:solidFill>
                <a:prstDash val="sysDot"/>
                <a:miter lim="800000"/>
                <a:headEnd/>
                <a:tailEnd/>
              </a14:hiddenLine>
            </a:ext>
          </a:extLst>
        </p:spPr>
        <p:txBody>
          <a:bodyPr lIns="90000" rIns="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输入</a:t>
            </a:r>
          </a:p>
        </p:txBody>
      </p:sp>
      <p:sp>
        <p:nvSpPr>
          <p:cNvPr id="207899" name="AutoShape 27"/>
          <p:cNvSpPr>
            <a:spLocks noChangeArrowheads="1"/>
          </p:cNvSpPr>
          <p:nvPr/>
        </p:nvSpPr>
        <p:spPr bwMode="auto">
          <a:xfrm>
            <a:off x="7543800" y="6324600"/>
            <a:ext cx="1143000" cy="457200"/>
          </a:xfrm>
          <a:prstGeom prst="wedgeRoundRectCallout">
            <a:avLst>
              <a:gd name="adj1" fmla="val -79722"/>
              <a:gd name="adj2" fmla="val -117708"/>
              <a:gd name="adj3" fmla="val 16667"/>
            </a:avLst>
          </a:prstGeom>
          <a:solidFill>
            <a:srgbClr val="99CCFF"/>
          </a:solidFill>
          <a:ln>
            <a:noFill/>
          </a:ln>
          <a:extLst>
            <a:ext uri="{91240B29-F687-4F45-9708-019B960494DF}">
              <a14:hiddenLine xmlns:a14="http://schemas.microsoft.com/office/drawing/2010/main" w="28575" cap="rnd" algn="ctr">
                <a:solidFill>
                  <a:srgbClr val="000000"/>
                </a:solidFill>
                <a:prstDash val="sysDot"/>
                <a:miter lim="800000"/>
                <a:headEnd/>
                <a:tailEnd/>
              </a14:hiddenLine>
            </a:ext>
          </a:extLst>
        </p:spPr>
        <p:txBody>
          <a:bodyPr lIns="90000" rIns="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输出</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7894">
                                            <p:txEl>
                                              <p:pRg st="0" end="0"/>
                                            </p:txEl>
                                          </p:spTgt>
                                        </p:tgtEl>
                                        <p:attrNameLst>
                                          <p:attrName>style.visibility</p:attrName>
                                        </p:attrNameLst>
                                      </p:cBhvr>
                                      <p:to>
                                        <p:strVal val="visible"/>
                                      </p:to>
                                    </p:set>
                                    <p:anim calcmode="lin" valueType="num">
                                      <p:cBhvr additive="base">
                                        <p:cTn id="7" dur="500" fill="hold"/>
                                        <p:tgtEl>
                                          <p:spTgt spid="2078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78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207896"/>
                                        </p:tgtEl>
                                        <p:attrNameLst>
                                          <p:attrName>style.visibility</p:attrName>
                                        </p:attrNameLst>
                                      </p:cBhvr>
                                      <p:to>
                                        <p:strVal val="visible"/>
                                      </p:to>
                                    </p:set>
                                    <p:animEffect transition="in" filter="fade">
                                      <p:cBhvr>
                                        <p:cTn id="19" dur="2000"/>
                                        <p:tgtEl>
                                          <p:spTgt spid="207896"/>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207897"/>
                                        </p:tgtEl>
                                        <p:attrNameLst>
                                          <p:attrName>style.visibility</p:attrName>
                                        </p:attrNameLst>
                                      </p:cBhvr>
                                      <p:to>
                                        <p:strVal val="visible"/>
                                      </p:to>
                                    </p:set>
                                    <p:animEffect transition="in" filter="wipe(right)">
                                      <p:cBhvr>
                                        <p:cTn id="22" dur="500"/>
                                        <p:tgtEl>
                                          <p:spTgt spid="2078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07898"/>
                                        </p:tgtEl>
                                        <p:attrNameLst>
                                          <p:attrName>style.visibility</p:attrName>
                                        </p:attrNameLst>
                                      </p:cBhvr>
                                      <p:to>
                                        <p:strVal val="visible"/>
                                      </p:to>
                                    </p:set>
                                  </p:childTnLst>
                                </p:cTn>
                              </p:par>
                              <p:par>
                                <p:cTn id="27" presetID="22" presetClass="entr" presetSubtype="2" fill="hold" grpId="0" nodeType="withEffect">
                                  <p:stCondLst>
                                    <p:cond delay="0"/>
                                  </p:stCondLst>
                                  <p:childTnLst>
                                    <p:set>
                                      <p:cBhvr>
                                        <p:cTn id="28" dur="1" fill="hold">
                                          <p:stCondLst>
                                            <p:cond delay="0"/>
                                          </p:stCondLst>
                                        </p:cTn>
                                        <p:tgtEl>
                                          <p:spTgt spid="207899"/>
                                        </p:tgtEl>
                                        <p:attrNameLst>
                                          <p:attrName>style.visibility</p:attrName>
                                        </p:attrNameLst>
                                      </p:cBhvr>
                                      <p:to>
                                        <p:strVal val="visible"/>
                                      </p:to>
                                    </p:set>
                                    <p:animEffect transition="in" filter="wipe(right)">
                                      <p:cBhvr>
                                        <p:cTn id="29" dur="500"/>
                                        <p:tgtEl>
                                          <p:spTgt spid="207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94" grpId="0" build="p" autoUpdateAnimBg="0" advAuto="0"/>
      <p:bldP spid="207897" grpId="0" animBg="1"/>
      <p:bldP spid="207899"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5.4 MRP</a:t>
            </a:r>
            <a:r>
              <a:rPr lang="zh-CN" altLang="en-US" sz="3600" b="1" dirty="0" smtClean="0">
                <a:solidFill>
                  <a:srgbClr val="FF0000"/>
                </a:solidFill>
                <a:effectLst>
                  <a:outerShdw blurRad="38100" dist="38100" dir="2700000" algn="tl">
                    <a:srgbClr val="C0C0C0"/>
                  </a:outerShdw>
                </a:effectLst>
                <a:latin typeface="Times New Roman" pitchFamily="18" charset="0"/>
              </a:rPr>
              <a:t>报表</a:t>
            </a:r>
          </a:p>
        </p:txBody>
      </p:sp>
      <p:sp>
        <p:nvSpPr>
          <p:cNvPr id="21507" name="Rectangle 3"/>
          <p:cNvSpPr>
            <a:spLocks noGrp="1" noChangeArrowheads="1"/>
          </p:cNvSpPr>
          <p:nvPr>
            <p:ph type="body" idx="1"/>
          </p:nvPr>
        </p:nvSpPr>
        <p:spPr>
          <a:xfrm>
            <a:off x="0" y="1447800"/>
            <a:ext cx="9144000" cy="4953000"/>
          </a:xfrm>
        </p:spPr>
        <p:txBody>
          <a:bodyPr/>
          <a:lstStyle/>
          <a:p>
            <a:pPr eaLnBrk="1" hangingPunct="1">
              <a:lnSpc>
                <a:spcPct val="150000"/>
              </a:lnSpc>
              <a:spcBef>
                <a:spcPct val="0"/>
              </a:spcBef>
              <a:buClr>
                <a:schemeClr val="tx1"/>
              </a:buClr>
              <a:buFont typeface="Marlett" pitchFamily="2" charset="2"/>
              <a:buChar char="2"/>
            </a:pPr>
            <a:r>
              <a:rPr lang="zh-CN" altLang="en-US" sz="2800" smtClean="0">
                <a:latin typeface="Times New Roman" panose="02020603050405020304" pitchFamily="18" charset="0"/>
              </a:rPr>
              <a:t>同</a:t>
            </a:r>
            <a:r>
              <a:rPr lang="en-US" altLang="zh-CN" sz="2800" smtClean="0">
                <a:latin typeface="Times New Roman" panose="02020603050405020304" pitchFamily="18" charset="0"/>
              </a:rPr>
              <a:t>MPS</a:t>
            </a:r>
            <a:r>
              <a:rPr lang="zh-CN" altLang="en-US" sz="2800" smtClean="0">
                <a:latin typeface="Times New Roman" panose="02020603050405020304" pitchFamily="18" charset="0"/>
              </a:rPr>
              <a:t>报表类似</a:t>
            </a:r>
            <a:endParaRPr lang="en-US" altLang="zh-CN" sz="2800" smtClean="0">
              <a:latin typeface="Times New Roman" panose="02020603050405020304" pitchFamily="18" charset="0"/>
            </a:endParaRPr>
          </a:p>
          <a:p>
            <a:pPr eaLnBrk="1" hangingPunct="1">
              <a:lnSpc>
                <a:spcPct val="150000"/>
              </a:lnSpc>
              <a:spcBef>
                <a:spcPct val="0"/>
              </a:spcBef>
              <a:buClr>
                <a:schemeClr val="tx1"/>
              </a:buClr>
              <a:buFont typeface="Wingdings" panose="05000000000000000000" pitchFamily="2" charset="2"/>
              <a:buNone/>
            </a:pPr>
            <a:r>
              <a:rPr lang="zh-CN" altLang="en-US" sz="1600" smtClean="0">
                <a:latin typeface="Times New Roman" panose="02020603050405020304" pitchFamily="18" charset="0"/>
              </a:rPr>
              <a:t>物料号：</a:t>
            </a:r>
            <a:r>
              <a:rPr lang="en-US" altLang="zh-CN" sz="1600" smtClean="0">
                <a:latin typeface="Times New Roman" panose="02020603050405020304" pitchFamily="18" charset="0"/>
              </a:rPr>
              <a:t>100001           </a:t>
            </a:r>
            <a:r>
              <a:rPr lang="zh-CN" altLang="en-US" sz="1600" smtClean="0">
                <a:latin typeface="Times New Roman" panose="02020603050405020304" pitchFamily="18" charset="0"/>
              </a:rPr>
              <a:t>物料名称：</a:t>
            </a:r>
            <a:r>
              <a:rPr lang="en-US" altLang="zh-CN" sz="1600" smtClean="0">
                <a:latin typeface="Times New Roman" panose="02020603050405020304" pitchFamily="18" charset="0"/>
              </a:rPr>
              <a:t>ATX</a:t>
            </a:r>
            <a:r>
              <a:rPr lang="zh-CN" altLang="en-US" sz="1600" smtClean="0">
                <a:latin typeface="Times New Roman" panose="02020603050405020304" pitchFamily="18" charset="0"/>
              </a:rPr>
              <a:t>电源             计划日期：</a:t>
            </a:r>
            <a:r>
              <a:rPr lang="en-US" altLang="zh-CN" sz="1600" smtClean="0">
                <a:latin typeface="Times New Roman" panose="02020603050405020304" pitchFamily="18" charset="0"/>
              </a:rPr>
              <a:t>2002/02/28             </a:t>
            </a:r>
            <a:r>
              <a:rPr lang="zh-CN" altLang="en-US" sz="1600" smtClean="0">
                <a:latin typeface="Times New Roman" panose="02020603050405020304" pitchFamily="18" charset="0"/>
              </a:rPr>
              <a:t>计划员：张三</a:t>
            </a:r>
            <a:endParaRPr lang="en-US" altLang="zh-CN" sz="1600" smtClean="0">
              <a:latin typeface="Times New Roman" panose="02020603050405020304" pitchFamily="18" charset="0"/>
            </a:endParaRPr>
          </a:p>
          <a:p>
            <a:pPr eaLnBrk="1" hangingPunct="1">
              <a:lnSpc>
                <a:spcPct val="150000"/>
              </a:lnSpc>
              <a:spcBef>
                <a:spcPct val="0"/>
              </a:spcBef>
              <a:buClr>
                <a:schemeClr val="tx1"/>
              </a:buClr>
              <a:buFont typeface="Wingdings" panose="05000000000000000000" pitchFamily="2" charset="2"/>
              <a:buNone/>
            </a:pPr>
            <a:r>
              <a:rPr lang="zh-CN" altLang="en-US" sz="1600" smtClean="0">
                <a:latin typeface="Times New Roman" panose="02020603050405020304" pitchFamily="18" charset="0"/>
              </a:rPr>
              <a:t>现有库存量：</a:t>
            </a:r>
            <a:r>
              <a:rPr lang="en-US" altLang="zh-CN" sz="1600" smtClean="0">
                <a:latin typeface="Times New Roman" panose="02020603050405020304" pitchFamily="18" charset="0"/>
              </a:rPr>
              <a:t>40     </a:t>
            </a:r>
            <a:r>
              <a:rPr lang="zh-CN" altLang="en-US" sz="1600" smtClean="0">
                <a:latin typeface="Times New Roman" panose="02020603050405020304" pitchFamily="18" charset="0"/>
              </a:rPr>
              <a:t>安全库存量：</a:t>
            </a:r>
            <a:r>
              <a:rPr lang="en-US" altLang="zh-CN" sz="1600" smtClean="0">
                <a:latin typeface="Times New Roman" panose="02020603050405020304" pitchFamily="18" charset="0"/>
              </a:rPr>
              <a:t>0     </a:t>
            </a:r>
            <a:r>
              <a:rPr lang="zh-CN" altLang="en-US" sz="1600" smtClean="0">
                <a:latin typeface="Times New Roman" panose="02020603050405020304" pitchFamily="18" charset="0"/>
              </a:rPr>
              <a:t>批量：</a:t>
            </a:r>
            <a:r>
              <a:rPr lang="en-US" altLang="zh-CN" sz="1600" smtClean="0">
                <a:latin typeface="Times New Roman" panose="02020603050405020304" pitchFamily="18" charset="0"/>
              </a:rPr>
              <a:t>50    </a:t>
            </a:r>
            <a:r>
              <a:rPr lang="zh-CN" altLang="en-US" sz="1600" smtClean="0">
                <a:latin typeface="Times New Roman" panose="02020603050405020304" pitchFamily="18" charset="0"/>
              </a:rPr>
              <a:t>已分配量：</a:t>
            </a:r>
            <a:r>
              <a:rPr lang="en-US" altLang="zh-CN" sz="1600" smtClean="0">
                <a:latin typeface="Times New Roman" panose="02020603050405020304" pitchFamily="18" charset="0"/>
              </a:rPr>
              <a:t>5     </a:t>
            </a:r>
            <a:r>
              <a:rPr lang="zh-CN" altLang="en-US" sz="1600" smtClean="0">
                <a:latin typeface="Times New Roman" panose="02020603050405020304" pitchFamily="18" charset="0"/>
              </a:rPr>
              <a:t>提前期：</a:t>
            </a:r>
            <a:r>
              <a:rPr lang="en-US" altLang="zh-CN" sz="1600" smtClean="0">
                <a:latin typeface="Times New Roman" panose="02020603050405020304" pitchFamily="18" charset="0"/>
              </a:rPr>
              <a:t>2    </a:t>
            </a:r>
            <a:r>
              <a:rPr lang="zh-CN" altLang="en-US" sz="1600" smtClean="0">
                <a:latin typeface="Times New Roman" panose="02020603050405020304" pitchFamily="18" charset="0"/>
              </a:rPr>
              <a:t>低层码：</a:t>
            </a:r>
            <a:r>
              <a:rPr lang="en-US" altLang="zh-CN" sz="1600" smtClean="0">
                <a:latin typeface="Times New Roman" panose="02020603050405020304" pitchFamily="18" charset="0"/>
              </a:rPr>
              <a:t>2     </a:t>
            </a:r>
            <a:r>
              <a:rPr lang="zh-CN" altLang="en-US" sz="1600" smtClean="0">
                <a:latin typeface="Times New Roman" panose="02020603050405020304" pitchFamily="18" charset="0"/>
              </a:rPr>
              <a:t>单位：个</a:t>
            </a:r>
          </a:p>
        </p:txBody>
      </p:sp>
      <p:sp>
        <p:nvSpPr>
          <p:cNvPr id="2150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8" name="表格 7"/>
          <p:cNvGraphicFramePr>
            <a:graphicFrameLocks noGrp="1"/>
          </p:cNvGraphicFramePr>
          <p:nvPr>
            <p:extLst>
              <p:ext uri="{D42A27DB-BD31-4B8C-83A1-F6EECF244321}">
                <p14:modId xmlns:p14="http://schemas.microsoft.com/office/powerpoint/2010/main" val="1160174389"/>
              </p:ext>
            </p:extLst>
          </p:nvPr>
        </p:nvGraphicFramePr>
        <p:xfrm>
          <a:off x="38100" y="3048000"/>
          <a:ext cx="9067797" cy="2967040"/>
        </p:xfrm>
        <a:graphic>
          <a:graphicData uri="http://schemas.openxmlformats.org/drawingml/2006/table">
            <a:tbl>
              <a:tblPr firstRow="1" bandRow="1">
                <a:tableStyleId>{5C22544A-7EE6-4342-B048-85BDC9FD1C3A}</a:tableStyleId>
              </a:tblPr>
              <a:tblGrid>
                <a:gridCol w="1447803">
                  <a:extLst>
                    <a:ext uri="{9D8B030D-6E8A-4147-A177-3AD203B41FA5}">
                      <a16:colId xmlns:a16="http://schemas.microsoft.com/office/drawing/2014/main" val="20000"/>
                    </a:ext>
                  </a:extLst>
                </a:gridCol>
                <a:gridCol w="582722">
                  <a:extLst>
                    <a:ext uri="{9D8B030D-6E8A-4147-A177-3AD203B41FA5}">
                      <a16:colId xmlns:a16="http://schemas.microsoft.com/office/drawing/2014/main" val="20001"/>
                    </a:ext>
                  </a:extLst>
                </a:gridCol>
                <a:gridCol w="639752">
                  <a:extLst>
                    <a:ext uri="{9D8B030D-6E8A-4147-A177-3AD203B41FA5}">
                      <a16:colId xmlns:a16="http://schemas.microsoft.com/office/drawing/2014/main" val="20002"/>
                    </a:ext>
                  </a:extLst>
                </a:gridCol>
                <a:gridCol w="639752">
                  <a:extLst>
                    <a:ext uri="{9D8B030D-6E8A-4147-A177-3AD203B41FA5}">
                      <a16:colId xmlns:a16="http://schemas.microsoft.com/office/drawing/2014/main" val="20003"/>
                    </a:ext>
                  </a:extLst>
                </a:gridCol>
                <a:gridCol w="639752">
                  <a:extLst>
                    <a:ext uri="{9D8B030D-6E8A-4147-A177-3AD203B41FA5}">
                      <a16:colId xmlns:a16="http://schemas.microsoft.com/office/drawing/2014/main" val="20004"/>
                    </a:ext>
                  </a:extLst>
                </a:gridCol>
                <a:gridCol w="639752">
                  <a:extLst>
                    <a:ext uri="{9D8B030D-6E8A-4147-A177-3AD203B41FA5}">
                      <a16:colId xmlns:a16="http://schemas.microsoft.com/office/drawing/2014/main" val="20005"/>
                    </a:ext>
                  </a:extLst>
                </a:gridCol>
                <a:gridCol w="639752">
                  <a:extLst>
                    <a:ext uri="{9D8B030D-6E8A-4147-A177-3AD203B41FA5}">
                      <a16:colId xmlns:a16="http://schemas.microsoft.com/office/drawing/2014/main" val="20006"/>
                    </a:ext>
                  </a:extLst>
                </a:gridCol>
                <a:gridCol w="639752">
                  <a:extLst>
                    <a:ext uri="{9D8B030D-6E8A-4147-A177-3AD203B41FA5}">
                      <a16:colId xmlns:a16="http://schemas.microsoft.com/office/drawing/2014/main" val="20007"/>
                    </a:ext>
                  </a:extLst>
                </a:gridCol>
                <a:gridCol w="639752">
                  <a:extLst>
                    <a:ext uri="{9D8B030D-6E8A-4147-A177-3AD203B41FA5}">
                      <a16:colId xmlns:a16="http://schemas.microsoft.com/office/drawing/2014/main" val="20008"/>
                    </a:ext>
                  </a:extLst>
                </a:gridCol>
                <a:gridCol w="639752">
                  <a:extLst>
                    <a:ext uri="{9D8B030D-6E8A-4147-A177-3AD203B41FA5}">
                      <a16:colId xmlns:a16="http://schemas.microsoft.com/office/drawing/2014/main" val="20009"/>
                    </a:ext>
                  </a:extLst>
                </a:gridCol>
                <a:gridCol w="639752">
                  <a:extLst>
                    <a:ext uri="{9D8B030D-6E8A-4147-A177-3AD203B41FA5}">
                      <a16:colId xmlns:a16="http://schemas.microsoft.com/office/drawing/2014/main" val="20010"/>
                    </a:ext>
                  </a:extLst>
                </a:gridCol>
                <a:gridCol w="639752">
                  <a:extLst>
                    <a:ext uri="{9D8B030D-6E8A-4147-A177-3AD203B41FA5}">
                      <a16:colId xmlns:a16="http://schemas.microsoft.com/office/drawing/2014/main" val="20011"/>
                    </a:ext>
                  </a:extLst>
                </a:gridCol>
                <a:gridCol w="639752">
                  <a:extLst>
                    <a:ext uri="{9D8B030D-6E8A-4147-A177-3AD203B41FA5}">
                      <a16:colId xmlns:a16="http://schemas.microsoft.com/office/drawing/2014/main" val="20012"/>
                    </a:ext>
                  </a:extLst>
                </a:gridCol>
              </a:tblGrid>
              <a:tr h="370880">
                <a:tc rowSpan="2">
                  <a:txBody>
                    <a:bodyPr/>
                    <a:lstStyle/>
                    <a:p>
                      <a:pPr algn="ctr"/>
                      <a:endParaRPr lang="en-US" altLang="zh-CN" sz="1400" dirty="0" smtClean="0">
                        <a:solidFill>
                          <a:schemeClr val="tx1"/>
                        </a:solidFill>
                      </a:endParaRPr>
                    </a:p>
                    <a:p>
                      <a:pPr algn="ctr"/>
                      <a:r>
                        <a:rPr lang="zh-CN" altLang="en-US" sz="1400" dirty="0" smtClean="0">
                          <a:solidFill>
                            <a:schemeClr val="tx1"/>
                          </a:solidFill>
                        </a:rPr>
                        <a:t>时段</a:t>
                      </a:r>
                      <a:endParaRPr lang="zh-CN" altLang="en-US" sz="1400" dirty="0">
                        <a:solidFill>
                          <a:schemeClr val="tx1"/>
                        </a:solidFill>
                      </a:endParaRPr>
                    </a:p>
                  </a:txBody>
                  <a:tcPr marT="45725" marB="45725"/>
                </a:tc>
                <a:tc rowSpan="2">
                  <a:txBody>
                    <a:bodyPr/>
                    <a:lstStyle/>
                    <a:p>
                      <a:pPr algn="ctr"/>
                      <a:r>
                        <a:rPr lang="zh-CN" altLang="en-US" sz="1400" dirty="0" smtClean="0">
                          <a:solidFill>
                            <a:schemeClr val="tx1"/>
                          </a:solidFill>
                        </a:rPr>
                        <a:t>当期</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1</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2</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3</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4</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5</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6</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7</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8</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9</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10</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11</a:t>
                      </a:r>
                      <a:endParaRPr lang="zh-CN" altLang="en-US" sz="1400" dirty="0">
                        <a:solidFill>
                          <a:schemeClr val="tx1"/>
                        </a:solidFill>
                      </a:endParaRPr>
                    </a:p>
                  </a:txBody>
                  <a:tcPr marT="45725" marB="45725"/>
                </a:tc>
                <a:extLst>
                  <a:ext uri="{0D108BD9-81ED-4DB2-BD59-A6C34878D82A}">
                    <a16:rowId xmlns:a16="http://schemas.microsoft.com/office/drawing/2014/main" val="10000"/>
                  </a:ext>
                </a:extLst>
              </a:tr>
              <a:tr h="370880">
                <a:tc vMerge="1">
                  <a:txBody>
                    <a:bodyPr/>
                    <a:lstStyle/>
                    <a:p>
                      <a:endParaRPr lang="zh-CN" altLang="en-US" dirty="0"/>
                    </a:p>
                  </a:txBody>
                  <a:tcPr/>
                </a:tc>
                <a:tc vMerge="1">
                  <a:txBody>
                    <a:bodyPr/>
                    <a:lstStyle/>
                    <a:p>
                      <a:pPr algn="ctr"/>
                      <a:endParaRPr lang="zh-CN" altLang="en-US" sz="1600" dirty="0">
                        <a:solidFill>
                          <a:schemeClr val="tx1"/>
                        </a:solidFill>
                      </a:endParaRPr>
                    </a:p>
                  </a:txBody>
                  <a:tcPr/>
                </a:tc>
                <a:tc>
                  <a:txBody>
                    <a:bodyPr/>
                    <a:lstStyle/>
                    <a:p>
                      <a:pPr algn="ctr"/>
                      <a:r>
                        <a:rPr lang="en-US" altLang="zh-CN" sz="1400" dirty="0" smtClean="0">
                          <a:solidFill>
                            <a:schemeClr val="tx1"/>
                          </a:solidFill>
                        </a:rPr>
                        <a:t>03/04</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03/11</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03/18</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03/25</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04/01</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04/08</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04/15</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04/22</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04/29</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05/06</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05/13</a:t>
                      </a:r>
                      <a:endParaRPr lang="zh-CN" altLang="en-US" sz="1400" dirty="0">
                        <a:solidFill>
                          <a:schemeClr val="tx1"/>
                        </a:solidFill>
                      </a:endParaRPr>
                    </a:p>
                  </a:txBody>
                  <a:tcPr marT="45725" marB="45725"/>
                </a:tc>
                <a:extLst>
                  <a:ext uri="{0D108BD9-81ED-4DB2-BD59-A6C34878D82A}">
                    <a16:rowId xmlns:a16="http://schemas.microsoft.com/office/drawing/2014/main" val="10001"/>
                  </a:ext>
                </a:extLst>
              </a:tr>
              <a:tr h="370880">
                <a:tc>
                  <a:txBody>
                    <a:bodyPr/>
                    <a:lstStyle/>
                    <a:p>
                      <a:pPr algn="ctr"/>
                      <a:r>
                        <a:rPr lang="zh-CN" altLang="en-US" sz="1400" dirty="0" smtClean="0">
                          <a:solidFill>
                            <a:schemeClr val="tx1"/>
                          </a:solidFill>
                        </a:rPr>
                        <a:t>毛需求</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14</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50</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39</a:t>
                      </a: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extLst>
                  <a:ext uri="{0D108BD9-81ED-4DB2-BD59-A6C34878D82A}">
                    <a16:rowId xmlns:a16="http://schemas.microsoft.com/office/drawing/2014/main" val="10002"/>
                  </a:ext>
                </a:extLst>
              </a:tr>
              <a:tr h="370880">
                <a:tc>
                  <a:txBody>
                    <a:bodyPr/>
                    <a:lstStyle/>
                    <a:p>
                      <a:pPr algn="ctr"/>
                      <a:r>
                        <a:rPr lang="zh-CN" altLang="en-US" sz="1400" dirty="0" smtClean="0">
                          <a:solidFill>
                            <a:schemeClr val="tx1"/>
                          </a:solidFill>
                        </a:rPr>
                        <a:t>计划接收量</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50</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extLst>
                  <a:ext uri="{0D108BD9-81ED-4DB2-BD59-A6C34878D82A}">
                    <a16:rowId xmlns:a16="http://schemas.microsoft.com/office/drawing/2014/main" val="10003"/>
                  </a:ext>
                </a:extLst>
              </a:tr>
              <a:tr h="370880">
                <a:tc>
                  <a:txBody>
                    <a:bodyPr/>
                    <a:lstStyle/>
                    <a:p>
                      <a:pPr algn="ctr"/>
                      <a:r>
                        <a:rPr lang="zh-CN" altLang="en-US" sz="1400" dirty="0" smtClean="0">
                          <a:solidFill>
                            <a:schemeClr val="tx1"/>
                          </a:solidFill>
                        </a:rPr>
                        <a:t>预计可用库存量</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35</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71</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71</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21</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21</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32</a:t>
                      </a:r>
                      <a:endParaRPr lang="zh-CN" altLang="en-US" sz="1400" dirty="0">
                        <a:solidFill>
                          <a:schemeClr val="tx1"/>
                        </a:solidFill>
                      </a:endParaRPr>
                    </a:p>
                  </a:txBody>
                  <a:tcPr marT="45725" marB="45725"/>
                </a:tc>
                <a:extLst>
                  <a:ext uri="{0D108BD9-81ED-4DB2-BD59-A6C34878D82A}">
                    <a16:rowId xmlns:a16="http://schemas.microsoft.com/office/drawing/2014/main" val="10004"/>
                  </a:ext>
                </a:extLst>
              </a:tr>
              <a:tr h="370880">
                <a:tc>
                  <a:txBody>
                    <a:bodyPr/>
                    <a:lstStyle/>
                    <a:p>
                      <a:pPr algn="ctr"/>
                      <a:r>
                        <a:rPr lang="zh-CN" altLang="en-US" sz="1400" dirty="0" smtClean="0">
                          <a:solidFill>
                            <a:schemeClr val="tx1"/>
                          </a:solidFill>
                        </a:rPr>
                        <a:t>净需求</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18</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extLst>
                  <a:ext uri="{0D108BD9-81ED-4DB2-BD59-A6C34878D82A}">
                    <a16:rowId xmlns:a16="http://schemas.microsoft.com/office/drawing/2014/main" val="10005"/>
                  </a:ext>
                </a:extLst>
              </a:tr>
              <a:tr h="370880">
                <a:tc>
                  <a:txBody>
                    <a:bodyPr/>
                    <a:lstStyle/>
                    <a:p>
                      <a:pPr algn="ctr"/>
                      <a:r>
                        <a:rPr lang="zh-CN" altLang="en-US" sz="1400" dirty="0" smtClean="0">
                          <a:solidFill>
                            <a:schemeClr val="tx1"/>
                          </a:solidFill>
                        </a:rPr>
                        <a:t>计划产出量</a:t>
                      </a: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50</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extLst>
                  <a:ext uri="{0D108BD9-81ED-4DB2-BD59-A6C34878D82A}">
                    <a16:rowId xmlns:a16="http://schemas.microsoft.com/office/drawing/2014/main" val="10006"/>
                  </a:ext>
                </a:extLst>
              </a:tr>
              <a:tr h="370880">
                <a:tc>
                  <a:txBody>
                    <a:bodyPr/>
                    <a:lstStyle/>
                    <a:p>
                      <a:pPr algn="ctr"/>
                      <a:r>
                        <a:rPr lang="zh-CN" altLang="en-US" sz="1400" dirty="0" smtClean="0">
                          <a:solidFill>
                            <a:schemeClr val="tx1"/>
                          </a:solidFill>
                        </a:rPr>
                        <a:t>计划投入量</a:t>
                      </a: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smtClean="0">
                          <a:solidFill>
                            <a:schemeClr val="tx1"/>
                          </a:solidFill>
                        </a:rPr>
                        <a:t>50</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5.5 MRP</a:t>
            </a:r>
            <a:r>
              <a:rPr lang="zh-CN" altLang="en-US" sz="3600" b="1" dirty="0" smtClean="0">
                <a:solidFill>
                  <a:srgbClr val="FF0000"/>
                </a:solidFill>
                <a:effectLst>
                  <a:outerShdw blurRad="38100" dist="38100" dir="2700000" algn="tl">
                    <a:srgbClr val="C0C0C0"/>
                  </a:outerShdw>
                </a:effectLst>
                <a:latin typeface="Times New Roman" pitchFamily="18" charset="0"/>
              </a:rPr>
              <a:t>的计算方法</a:t>
            </a:r>
          </a:p>
        </p:txBody>
      </p:sp>
      <p:sp>
        <p:nvSpPr>
          <p:cNvPr id="218115" name="Rectangle 3"/>
          <p:cNvSpPr>
            <a:spLocks noGrp="1" noChangeArrowheads="1"/>
          </p:cNvSpPr>
          <p:nvPr>
            <p:ph type="body" idx="1"/>
          </p:nvPr>
        </p:nvSpPr>
        <p:spPr>
          <a:xfrm>
            <a:off x="457200" y="1371600"/>
            <a:ext cx="8229600" cy="5410200"/>
          </a:xfrm>
        </p:spPr>
        <p:txBody>
          <a:bodyPr/>
          <a:lstStyle/>
          <a:p>
            <a:pPr eaLnBrk="1" hangingPunct="1">
              <a:lnSpc>
                <a:spcPct val="120000"/>
              </a:lnSpc>
              <a:spcBef>
                <a:spcPct val="0"/>
              </a:spcBef>
              <a:buClr>
                <a:schemeClr val="tx1"/>
              </a:buClr>
              <a:buFont typeface="Marlett" pitchFamily="2" charset="2"/>
              <a:buChar char="2"/>
            </a:pPr>
            <a:r>
              <a:rPr lang="zh-CN" altLang="en-US" sz="2400" b="1" dirty="0" smtClean="0">
                <a:latin typeface="Times New Roman" panose="02020603050405020304" pitchFamily="18" charset="0"/>
              </a:rPr>
              <a:t>基本数量：</a:t>
            </a:r>
          </a:p>
          <a:p>
            <a:pPr lvl="1" eaLnBrk="1" hangingPunct="1">
              <a:lnSpc>
                <a:spcPct val="120000"/>
              </a:lnSpc>
              <a:spcBef>
                <a:spcPct val="0"/>
              </a:spcBef>
              <a:buClr>
                <a:schemeClr val="tx1"/>
              </a:buClr>
              <a:buFont typeface="Marlett" pitchFamily="2" charset="2"/>
              <a:buChar char="2"/>
            </a:pPr>
            <a:r>
              <a:rPr lang="zh-CN" altLang="en-US" sz="2000" b="1" dirty="0" smtClean="0">
                <a:solidFill>
                  <a:srgbClr val="003366"/>
                </a:solidFill>
                <a:latin typeface="Times New Roman" panose="02020603050405020304" pitchFamily="18" charset="0"/>
              </a:rPr>
              <a:t>毛需求量（</a:t>
            </a:r>
            <a:r>
              <a:rPr lang="en-US" altLang="zh-CN" sz="2000" b="1" dirty="0" smtClean="0">
                <a:solidFill>
                  <a:srgbClr val="003366"/>
                </a:solidFill>
                <a:latin typeface="Times New Roman" panose="02020603050405020304" pitchFamily="18" charset="0"/>
              </a:rPr>
              <a:t>Gross Requirement</a:t>
            </a:r>
            <a:r>
              <a:rPr lang="zh-CN" altLang="en-US" sz="2000" b="1" dirty="0" smtClean="0">
                <a:solidFill>
                  <a:srgbClr val="003366"/>
                </a:solidFill>
                <a:latin typeface="Times New Roman" panose="02020603050405020304" pitchFamily="18" charset="0"/>
              </a:rPr>
              <a:t>）：</a:t>
            </a:r>
          </a:p>
          <a:p>
            <a:pPr lvl="2" eaLnBrk="1" hangingPunct="1">
              <a:lnSpc>
                <a:spcPct val="120000"/>
              </a:lnSpc>
              <a:spcBef>
                <a:spcPct val="0"/>
              </a:spcBef>
              <a:buClr>
                <a:schemeClr val="tx1"/>
              </a:buClr>
              <a:buFont typeface="Marlett" pitchFamily="2" charset="2"/>
              <a:buChar char="2"/>
            </a:pPr>
            <a:r>
              <a:rPr lang="zh-CN" altLang="en-US" sz="1800" dirty="0" smtClean="0">
                <a:latin typeface="Times New Roman" panose="02020603050405020304" pitchFamily="18" charset="0"/>
              </a:rPr>
              <a:t>毛需求量 </a:t>
            </a:r>
            <a:r>
              <a:rPr lang="en-US" altLang="zh-CN" sz="1800" dirty="0" smtClean="0">
                <a:latin typeface="Times New Roman" panose="02020603050405020304" pitchFamily="18" charset="0"/>
              </a:rPr>
              <a:t>= </a:t>
            </a:r>
            <a:r>
              <a:rPr lang="zh-CN" altLang="en-US" sz="1800" dirty="0" smtClean="0">
                <a:latin typeface="Times New Roman" panose="02020603050405020304" pitchFamily="18" charset="0"/>
              </a:rPr>
              <a:t>相关需求量 </a:t>
            </a:r>
            <a:r>
              <a:rPr lang="en-US" altLang="zh-CN" sz="1800" dirty="0" smtClean="0">
                <a:latin typeface="Times New Roman" panose="02020603050405020304" pitchFamily="18" charset="0"/>
              </a:rPr>
              <a:t>+ </a:t>
            </a:r>
            <a:r>
              <a:rPr lang="zh-CN" altLang="en-US" sz="1800" dirty="0" smtClean="0">
                <a:latin typeface="Times New Roman" panose="02020603050405020304" pitchFamily="18" charset="0"/>
              </a:rPr>
              <a:t>独立需求量</a:t>
            </a:r>
          </a:p>
          <a:p>
            <a:pPr lvl="2" eaLnBrk="1" hangingPunct="1">
              <a:lnSpc>
                <a:spcPct val="120000"/>
              </a:lnSpc>
              <a:spcBef>
                <a:spcPct val="0"/>
              </a:spcBef>
              <a:buClr>
                <a:schemeClr val="tx1"/>
              </a:buClr>
              <a:buFont typeface="Marlett" pitchFamily="2" charset="2"/>
              <a:buChar char="2"/>
            </a:pPr>
            <a:r>
              <a:rPr lang="zh-CN" altLang="en-US" sz="1800" dirty="0" smtClean="0">
                <a:latin typeface="Times New Roman" panose="02020603050405020304" pitchFamily="18" charset="0"/>
              </a:rPr>
              <a:t>相关需求量 </a:t>
            </a:r>
            <a:r>
              <a:rPr lang="en-US" altLang="zh-CN" sz="1800" dirty="0" smtClean="0">
                <a:latin typeface="Times New Roman" panose="02020603050405020304" pitchFamily="18" charset="0"/>
              </a:rPr>
              <a:t>= </a:t>
            </a:r>
            <a:r>
              <a:rPr lang="zh-CN" altLang="en-US" sz="1800" dirty="0" smtClean="0">
                <a:latin typeface="Times New Roman" panose="02020603050405020304" pitchFamily="18" charset="0"/>
              </a:rPr>
              <a:t>母件需求量 * 本级用量因子</a:t>
            </a:r>
          </a:p>
          <a:p>
            <a:pPr lvl="1" eaLnBrk="1" hangingPunct="1">
              <a:lnSpc>
                <a:spcPct val="150000"/>
              </a:lnSpc>
              <a:spcBef>
                <a:spcPct val="30000"/>
              </a:spcBef>
              <a:buClr>
                <a:schemeClr val="tx1"/>
              </a:buClr>
              <a:buFont typeface="Marlett" pitchFamily="2" charset="2"/>
              <a:buChar char="2"/>
            </a:pPr>
            <a:r>
              <a:rPr lang="zh-CN" altLang="en-US" sz="2000" b="1" dirty="0" smtClean="0">
                <a:solidFill>
                  <a:srgbClr val="003366"/>
                </a:solidFill>
                <a:latin typeface="Times New Roman" panose="02020603050405020304" pitchFamily="18" charset="0"/>
              </a:rPr>
              <a:t>已分配量（</a:t>
            </a:r>
            <a:r>
              <a:rPr lang="en-US" altLang="zh-CN" sz="2000" b="1" dirty="0" smtClean="0">
                <a:solidFill>
                  <a:srgbClr val="003366"/>
                </a:solidFill>
                <a:latin typeface="Times New Roman" panose="02020603050405020304" pitchFamily="18" charset="0"/>
              </a:rPr>
              <a:t>Allocations</a:t>
            </a:r>
            <a:r>
              <a:rPr lang="zh-CN" altLang="en-US" sz="2000" b="1" dirty="0" smtClean="0">
                <a:solidFill>
                  <a:srgbClr val="003366"/>
                </a:solidFill>
                <a:latin typeface="Times New Roman" panose="02020603050405020304" pitchFamily="18" charset="0"/>
              </a:rPr>
              <a:t>）</a:t>
            </a:r>
            <a:r>
              <a:rPr lang="zh-CN" altLang="en-US" sz="2000" dirty="0" smtClean="0">
                <a:latin typeface="Times New Roman" panose="02020603050405020304" pitchFamily="18" charset="0"/>
              </a:rPr>
              <a:t>：尚保存在仓库中但已经被分配掉的物料数量。</a:t>
            </a:r>
          </a:p>
          <a:p>
            <a:pPr lvl="1" eaLnBrk="1" hangingPunct="1">
              <a:lnSpc>
                <a:spcPct val="120000"/>
              </a:lnSpc>
              <a:spcBef>
                <a:spcPct val="50000"/>
              </a:spcBef>
              <a:buClr>
                <a:schemeClr val="tx1"/>
              </a:buClr>
              <a:buFont typeface="Marlett" pitchFamily="2" charset="2"/>
              <a:buChar char="2"/>
            </a:pPr>
            <a:r>
              <a:rPr lang="zh-CN" altLang="en-US" sz="2000" b="1" dirty="0" smtClean="0">
                <a:solidFill>
                  <a:srgbClr val="003366"/>
                </a:solidFill>
                <a:latin typeface="Times New Roman" panose="02020603050405020304" pitchFamily="18" charset="0"/>
              </a:rPr>
              <a:t>现有库存量（</a:t>
            </a:r>
            <a:r>
              <a:rPr lang="en-US" altLang="zh-CN" sz="2000" b="1" dirty="0" smtClean="0">
                <a:solidFill>
                  <a:srgbClr val="003366"/>
                </a:solidFill>
                <a:latin typeface="Times New Roman" panose="02020603050405020304" pitchFamily="18" charset="0"/>
              </a:rPr>
              <a:t>Projected on Hand</a:t>
            </a:r>
            <a:r>
              <a:rPr lang="zh-CN" altLang="en-US" sz="2000" b="1" dirty="0" smtClean="0">
                <a:solidFill>
                  <a:srgbClr val="003366"/>
                </a:solidFill>
                <a:latin typeface="Times New Roman" panose="02020603050405020304" pitchFamily="18" charset="0"/>
              </a:rPr>
              <a:t>）</a:t>
            </a:r>
          </a:p>
          <a:p>
            <a:pPr lvl="1" eaLnBrk="1" hangingPunct="1">
              <a:lnSpc>
                <a:spcPct val="120000"/>
              </a:lnSpc>
              <a:spcBef>
                <a:spcPct val="50000"/>
              </a:spcBef>
              <a:buClr>
                <a:schemeClr val="tx1"/>
              </a:buClr>
              <a:buFont typeface="Marlett" pitchFamily="2" charset="2"/>
              <a:buChar char="2"/>
            </a:pPr>
            <a:r>
              <a:rPr lang="zh-CN" altLang="en-US" sz="2000" b="1" dirty="0" smtClean="0">
                <a:solidFill>
                  <a:srgbClr val="003366"/>
                </a:solidFill>
                <a:latin typeface="Times New Roman" panose="02020603050405020304" pitchFamily="18" charset="0"/>
              </a:rPr>
              <a:t>计划接收量（</a:t>
            </a:r>
            <a:r>
              <a:rPr lang="en-US" altLang="zh-CN" sz="2000" b="1" dirty="0" smtClean="0">
                <a:solidFill>
                  <a:srgbClr val="003366"/>
                </a:solidFill>
                <a:latin typeface="Times New Roman" panose="02020603050405020304" pitchFamily="18" charset="0"/>
              </a:rPr>
              <a:t>Scheduled Receipts</a:t>
            </a:r>
            <a:r>
              <a:rPr lang="zh-CN" altLang="en-US" sz="2000" b="1" dirty="0" smtClean="0">
                <a:solidFill>
                  <a:srgbClr val="003366"/>
                </a:solidFill>
                <a:latin typeface="Times New Roman" panose="02020603050405020304" pitchFamily="18" charset="0"/>
              </a:rPr>
              <a:t>）</a:t>
            </a:r>
          </a:p>
          <a:p>
            <a:pPr lvl="1" eaLnBrk="1" hangingPunct="1">
              <a:lnSpc>
                <a:spcPct val="120000"/>
              </a:lnSpc>
              <a:spcBef>
                <a:spcPct val="50000"/>
              </a:spcBef>
              <a:buClr>
                <a:schemeClr val="tx1"/>
              </a:buClr>
              <a:buFont typeface="Marlett" pitchFamily="2" charset="2"/>
              <a:buChar char="2"/>
            </a:pPr>
            <a:r>
              <a:rPr lang="zh-CN" altLang="en-US" sz="2000" b="1" dirty="0" smtClean="0">
                <a:solidFill>
                  <a:srgbClr val="003366"/>
                </a:solidFill>
                <a:latin typeface="Times New Roman" panose="02020603050405020304" pitchFamily="18" charset="0"/>
              </a:rPr>
              <a:t>可用库存量（ </a:t>
            </a:r>
            <a:r>
              <a:rPr lang="en-US" altLang="zh-CN" sz="2000" b="1" dirty="0" smtClean="0">
                <a:solidFill>
                  <a:srgbClr val="003366"/>
                </a:solidFill>
                <a:latin typeface="Times New Roman" panose="02020603050405020304" pitchFamily="18" charset="0"/>
              </a:rPr>
              <a:t>Projected Available Balance</a:t>
            </a:r>
            <a:r>
              <a:rPr lang="zh-CN" altLang="en-US" sz="2000" b="1" dirty="0" smtClean="0">
                <a:solidFill>
                  <a:srgbClr val="003366"/>
                </a:solidFill>
                <a:latin typeface="Times New Roman" panose="02020603050405020304" pitchFamily="18" charset="0"/>
              </a:rPr>
              <a:t>）</a:t>
            </a:r>
          </a:p>
          <a:p>
            <a:pPr lvl="2" eaLnBrk="1" hangingPunct="1">
              <a:lnSpc>
                <a:spcPct val="120000"/>
              </a:lnSpc>
              <a:spcBef>
                <a:spcPct val="0"/>
              </a:spcBef>
              <a:buClr>
                <a:schemeClr val="tx1"/>
              </a:buClr>
              <a:buFont typeface="Marlett" pitchFamily="2" charset="2"/>
              <a:buChar char="2"/>
            </a:pPr>
            <a:r>
              <a:rPr lang="zh-CN" altLang="en-US" sz="1800" dirty="0" smtClean="0">
                <a:latin typeface="Times New Roman" panose="02020603050405020304" pitchFamily="18" charset="0"/>
              </a:rPr>
              <a:t>可用库存量 </a:t>
            </a:r>
            <a:r>
              <a:rPr lang="en-US" altLang="zh-CN" sz="1800" dirty="0" smtClean="0">
                <a:latin typeface="Times New Roman" panose="02020603050405020304" pitchFamily="18" charset="0"/>
              </a:rPr>
              <a:t>= </a:t>
            </a:r>
            <a:r>
              <a:rPr lang="zh-CN" altLang="en-US" sz="1800" dirty="0" smtClean="0">
                <a:latin typeface="Times New Roman" panose="02020603050405020304" pitchFamily="18" charset="0"/>
              </a:rPr>
              <a:t>上期末可用库存量 </a:t>
            </a:r>
            <a:r>
              <a:rPr lang="en-US" altLang="zh-CN" sz="1800" dirty="0" smtClean="0">
                <a:latin typeface="Times New Roman" panose="02020603050405020304" pitchFamily="18" charset="0"/>
              </a:rPr>
              <a:t>+ </a:t>
            </a:r>
            <a:r>
              <a:rPr lang="zh-CN" altLang="en-US" sz="1800" dirty="0" smtClean="0">
                <a:latin typeface="Times New Roman" panose="02020603050405020304" pitchFamily="18" charset="0"/>
              </a:rPr>
              <a:t>计划接收量 </a:t>
            </a:r>
            <a:r>
              <a:rPr lang="en-US" altLang="zh-CN" sz="1800" dirty="0" smtClean="0">
                <a:latin typeface="Times New Roman" panose="02020603050405020304" pitchFamily="18" charset="0"/>
              </a:rPr>
              <a:t>– </a:t>
            </a:r>
            <a:r>
              <a:rPr lang="zh-CN" altLang="en-US" sz="1800" dirty="0" smtClean="0">
                <a:latin typeface="Times New Roman" panose="02020603050405020304" pitchFamily="18" charset="0"/>
              </a:rPr>
              <a:t>毛需求量</a:t>
            </a:r>
          </a:p>
          <a:p>
            <a:pPr lvl="1" eaLnBrk="1" hangingPunct="1">
              <a:lnSpc>
                <a:spcPct val="120000"/>
              </a:lnSpc>
              <a:spcBef>
                <a:spcPct val="50000"/>
              </a:spcBef>
              <a:buClr>
                <a:schemeClr val="tx1"/>
              </a:buClr>
              <a:buFont typeface="Marlett" pitchFamily="2" charset="2"/>
              <a:buChar char="2"/>
            </a:pPr>
            <a:r>
              <a:rPr lang="zh-CN" altLang="en-US" sz="2000" b="1" dirty="0" smtClean="0">
                <a:solidFill>
                  <a:srgbClr val="003366"/>
                </a:solidFill>
                <a:latin typeface="Times New Roman" panose="02020603050405020304" pitchFamily="18" charset="0"/>
              </a:rPr>
              <a:t>净需求量（</a:t>
            </a:r>
            <a:r>
              <a:rPr lang="en-US" altLang="zh-CN" sz="2000" b="1" dirty="0" smtClean="0">
                <a:solidFill>
                  <a:srgbClr val="003366"/>
                </a:solidFill>
                <a:latin typeface="Times New Roman" panose="02020603050405020304" pitchFamily="18" charset="0"/>
              </a:rPr>
              <a:t>Net Requirement</a:t>
            </a:r>
            <a:r>
              <a:rPr lang="zh-CN" altLang="en-US" sz="2000" b="1" dirty="0" smtClean="0">
                <a:solidFill>
                  <a:srgbClr val="003366"/>
                </a:solidFill>
                <a:latin typeface="Times New Roman" panose="02020603050405020304" pitchFamily="18" charset="0"/>
              </a:rPr>
              <a:t>）：</a:t>
            </a:r>
          </a:p>
          <a:p>
            <a:pPr lvl="2" eaLnBrk="1" hangingPunct="1">
              <a:lnSpc>
                <a:spcPct val="120000"/>
              </a:lnSpc>
              <a:spcBef>
                <a:spcPct val="0"/>
              </a:spcBef>
              <a:buClr>
                <a:schemeClr val="tx1"/>
              </a:buClr>
              <a:buFont typeface="Marlett" pitchFamily="2" charset="2"/>
              <a:buChar char="2"/>
            </a:pPr>
            <a:r>
              <a:rPr lang="zh-CN" altLang="en-US" sz="1800" dirty="0" smtClean="0">
                <a:latin typeface="Times New Roman" panose="02020603050405020304" pitchFamily="18" charset="0"/>
              </a:rPr>
              <a:t>净需求量 </a:t>
            </a:r>
            <a:r>
              <a:rPr lang="en-US" altLang="zh-CN" sz="1800" dirty="0" smtClean="0">
                <a:latin typeface="Times New Roman" panose="02020603050405020304" pitchFamily="18" charset="0"/>
              </a:rPr>
              <a:t>= </a:t>
            </a:r>
            <a:r>
              <a:rPr lang="zh-CN" altLang="en-US" sz="1800" dirty="0" smtClean="0">
                <a:latin typeface="Times New Roman" panose="02020603050405020304" pitchFamily="18" charset="0"/>
              </a:rPr>
              <a:t>毛需求量 </a:t>
            </a:r>
            <a:r>
              <a:rPr lang="en-US" altLang="zh-CN" sz="1800" dirty="0" smtClean="0">
                <a:latin typeface="Times New Roman" panose="02020603050405020304" pitchFamily="18" charset="0"/>
              </a:rPr>
              <a:t>+ </a:t>
            </a:r>
            <a:r>
              <a:rPr lang="zh-CN" altLang="en-US" sz="1800" dirty="0" smtClean="0">
                <a:latin typeface="Times New Roman" panose="02020603050405020304" pitchFamily="18" charset="0"/>
              </a:rPr>
              <a:t>安全库存量 </a:t>
            </a:r>
            <a:r>
              <a:rPr lang="en-US" altLang="zh-CN" sz="1800" dirty="0" smtClean="0">
                <a:latin typeface="Times New Roman" panose="02020603050405020304" pitchFamily="18" charset="0"/>
              </a:rPr>
              <a:t>– </a:t>
            </a:r>
            <a:r>
              <a:rPr lang="zh-CN" altLang="en-US" sz="1800" dirty="0" smtClean="0">
                <a:latin typeface="Times New Roman" panose="02020603050405020304" pitchFamily="18" charset="0"/>
              </a:rPr>
              <a:t>计划接收量 </a:t>
            </a:r>
            <a:r>
              <a:rPr lang="en-US" altLang="zh-CN" sz="1800" dirty="0" smtClean="0">
                <a:latin typeface="Times New Roman" panose="02020603050405020304" pitchFamily="18" charset="0"/>
              </a:rPr>
              <a:t>– </a:t>
            </a:r>
            <a:r>
              <a:rPr lang="zh-CN" altLang="en-US" sz="1800" dirty="0" smtClean="0">
                <a:latin typeface="Times New Roman" panose="02020603050405020304" pitchFamily="18" charset="0"/>
              </a:rPr>
              <a:t>上期末可用库存量</a:t>
            </a:r>
          </a:p>
        </p:txBody>
      </p:sp>
      <p:sp>
        <p:nvSpPr>
          <p:cNvPr id="2253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 calcmode="lin" valueType="num">
                                      <p:cBhvr additive="base">
                                        <p:cTn id="7" dur="500" fill="hold"/>
                                        <p:tgtEl>
                                          <p:spTgt spid="2181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81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8115">
                                            <p:txEl>
                                              <p:pRg st="1" end="1"/>
                                            </p:txEl>
                                          </p:spTgt>
                                        </p:tgtEl>
                                        <p:attrNameLst>
                                          <p:attrName>style.visibility</p:attrName>
                                        </p:attrNameLst>
                                      </p:cBhvr>
                                      <p:to>
                                        <p:strVal val="visible"/>
                                      </p:to>
                                    </p:set>
                                    <p:anim calcmode="lin" valueType="num">
                                      <p:cBhvr additive="base">
                                        <p:cTn id="13" dur="500" fill="hold"/>
                                        <p:tgtEl>
                                          <p:spTgt spid="2181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81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8115">
                                            <p:txEl>
                                              <p:pRg st="2" end="2"/>
                                            </p:txEl>
                                          </p:spTgt>
                                        </p:tgtEl>
                                        <p:attrNameLst>
                                          <p:attrName>style.visibility</p:attrName>
                                        </p:attrNameLst>
                                      </p:cBhvr>
                                      <p:to>
                                        <p:strVal val="visible"/>
                                      </p:to>
                                    </p:set>
                                    <p:anim calcmode="lin" valueType="num">
                                      <p:cBhvr additive="base">
                                        <p:cTn id="19" dur="500" fill="hold"/>
                                        <p:tgtEl>
                                          <p:spTgt spid="2181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81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8115">
                                            <p:txEl>
                                              <p:pRg st="3" end="3"/>
                                            </p:txEl>
                                          </p:spTgt>
                                        </p:tgtEl>
                                        <p:attrNameLst>
                                          <p:attrName>style.visibility</p:attrName>
                                        </p:attrNameLst>
                                      </p:cBhvr>
                                      <p:to>
                                        <p:strVal val="visible"/>
                                      </p:to>
                                    </p:set>
                                    <p:anim calcmode="lin" valueType="num">
                                      <p:cBhvr additive="base">
                                        <p:cTn id="25" dur="500" fill="hold"/>
                                        <p:tgtEl>
                                          <p:spTgt spid="2181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8115">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18115">
                                            <p:txEl>
                                              <p:pRg st="4" end="4"/>
                                            </p:txEl>
                                          </p:spTgt>
                                        </p:tgtEl>
                                        <p:attrNameLst>
                                          <p:attrName>style.visibility</p:attrName>
                                        </p:attrNameLst>
                                      </p:cBhvr>
                                      <p:to>
                                        <p:strVal val="visible"/>
                                      </p:to>
                                    </p:set>
                                    <p:anim calcmode="lin" valueType="num">
                                      <p:cBhvr additive="base">
                                        <p:cTn id="29" dur="500" fill="hold"/>
                                        <p:tgtEl>
                                          <p:spTgt spid="218115">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181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18115">
                                            <p:txEl>
                                              <p:pRg st="5" end="5"/>
                                            </p:txEl>
                                          </p:spTgt>
                                        </p:tgtEl>
                                        <p:attrNameLst>
                                          <p:attrName>style.visibility</p:attrName>
                                        </p:attrNameLst>
                                      </p:cBhvr>
                                      <p:to>
                                        <p:strVal val="visible"/>
                                      </p:to>
                                    </p:set>
                                    <p:anim calcmode="lin" valueType="num">
                                      <p:cBhvr additive="base">
                                        <p:cTn id="35" dur="500" fill="hold"/>
                                        <p:tgtEl>
                                          <p:spTgt spid="218115">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18115">
                                            <p:txEl>
                                              <p:pRg st="5" end="5"/>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218115">
                                            <p:txEl>
                                              <p:pRg st="6" end="6"/>
                                            </p:txEl>
                                          </p:spTgt>
                                        </p:tgtEl>
                                        <p:attrNameLst>
                                          <p:attrName>style.visibility</p:attrName>
                                        </p:attrNameLst>
                                      </p:cBhvr>
                                      <p:to>
                                        <p:strVal val="visible"/>
                                      </p:to>
                                    </p:set>
                                    <p:anim calcmode="lin" valueType="num">
                                      <p:cBhvr additive="base">
                                        <p:cTn id="39" dur="500" fill="hold"/>
                                        <p:tgtEl>
                                          <p:spTgt spid="218115">
                                            <p:txEl>
                                              <p:pRg st="6" end="6"/>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1811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218115">
                                            <p:txEl>
                                              <p:pRg st="7" end="7"/>
                                            </p:txEl>
                                          </p:spTgt>
                                        </p:tgtEl>
                                        <p:attrNameLst>
                                          <p:attrName>style.visibility</p:attrName>
                                        </p:attrNameLst>
                                      </p:cBhvr>
                                      <p:to>
                                        <p:strVal val="visible"/>
                                      </p:to>
                                    </p:set>
                                    <p:anim calcmode="lin" valueType="num">
                                      <p:cBhvr additive="base">
                                        <p:cTn id="45" dur="500" fill="hold"/>
                                        <p:tgtEl>
                                          <p:spTgt spid="218115">
                                            <p:txEl>
                                              <p:pRg st="7" end="7"/>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18115">
                                            <p:txEl>
                                              <p:pRg st="7" end="7"/>
                                            </p:txEl>
                                          </p:spTgt>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218115">
                                            <p:txEl>
                                              <p:pRg st="8" end="8"/>
                                            </p:txEl>
                                          </p:spTgt>
                                        </p:tgtEl>
                                        <p:attrNameLst>
                                          <p:attrName>style.visibility</p:attrName>
                                        </p:attrNameLst>
                                      </p:cBhvr>
                                      <p:to>
                                        <p:strVal val="visible"/>
                                      </p:to>
                                    </p:set>
                                    <p:anim calcmode="lin" valueType="num">
                                      <p:cBhvr additive="base">
                                        <p:cTn id="49" dur="500" fill="hold"/>
                                        <p:tgtEl>
                                          <p:spTgt spid="218115">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1811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18115">
                                            <p:txEl>
                                              <p:pRg st="9" end="9"/>
                                            </p:txEl>
                                          </p:spTgt>
                                        </p:tgtEl>
                                        <p:attrNameLst>
                                          <p:attrName>style.visibility</p:attrName>
                                        </p:attrNameLst>
                                      </p:cBhvr>
                                      <p:to>
                                        <p:strVal val="visible"/>
                                      </p:to>
                                    </p:set>
                                    <p:anim calcmode="lin" valueType="num">
                                      <p:cBhvr additive="base">
                                        <p:cTn id="55" dur="500" fill="hold"/>
                                        <p:tgtEl>
                                          <p:spTgt spid="218115">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1811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18115">
                                            <p:txEl>
                                              <p:pRg st="10" end="10"/>
                                            </p:txEl>
                                          </p:spTgt>
                                        </p:tgtEl>
                                        <p:attrNameLst>
                                          <p:attrName>style.visibility</p:attrName>
                                        </p:attrNameLst>
                                      </p:cBhvr>
                                      <p:to>
                                        <p:strVal val="visible"/>
                                      </p:to>
                                    </p:set>
                                    <p:anim calcmode="lin" valueType="num">
                                      <p:cBhvr additive="base">
                                        <p:cTn id="61" dur="500" fill="hold"/>
                                        <p:tgtEl>
                                          <p:spTgt spid="218115">
                                            <p:txEl>
                                              <p:pRg st="10" end="1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18115">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autoUpdateAnimBg="0" advAuto="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5.5 MRP</a:t>
            </a:r>
            <a:r>
              <a:rPr lang="zh-CN" altLang="en-US" sz="3600" b="1" dirty="0" smtClean="0">
                <a:solidFill>
                  <a:srgbClr val="FF0000"/>
                </a:solidFill>
                <a:effectLst>
                  <a:outerShdw blurRad="38100" dist="38100" dir="2700000" algn="tl">
                    <a:srgbClr val="C0C0C0"/>
                  </a:outerShdw>
                </a:effectLst>
                <a:latin typeface="Times New Roman" pitchFamily="18" charset="0"/>
              </a:rPr>
              <a:t>的计算方法</a:t>
            </a:r>
          </a:p>
        </p:txBody>
      </p:sp>
      <p:sp>
        <p:nvSpPr>
          <p:cNvPr id="219139" name="Rectangle 3"/>
          <p:cNvSpPr>
            <a:spLocks noGrp="1" noChangeArrowheads="1"/>
          </p:cNvSpPr>
          <p:nvPr>
            <p:ph type="body" idx="1"/>
          </p:nvPr>
        </p:nvSpPr>
        <p:spPr>
          <a:xfrm>
            <a:off x="457200" y="1343025"/>
            <a:ext cx="8229600" cy="5257800"/>
          </a:xfrm>
        </p:spPr>
        <p:txBody>
          <a:bodyPr/>
          <a:lstStyle/>
          <a:p>
            <a:pPr eaLnBrk="1" hangingPunct="1">
              <a:lnSpc>
                <a:spcPct val="150000"/>
              </a:lnSpc>
              <a:spcBef>
                <a:spcPct val="0"/>
              </a:spcBef>
              <a:buClr>
                <a:schemeClr val="tx1"/>
              </a:buClr>
              <a:buFont typeface="Marlett" pitchFamily="2" charset="2"/>
              <a:buChar char="2"/>
              <a:defRPr/>
            </a:pPr>
            <a:r>
              <a:rPr lang="zh-CN" altLang="en-US" sz="2800" b="1" dirty="0" smtClean="0">
                <a:latin typeface="Times New Roman" pitchFamily="18" charset="0"/>
              </a:rPr>
              <a:t>编制步骤：</a:t>
            </a:r>
          </a:p>
          <a:p>
            <a:pPr lvl="1" eaLnBrk="1" hangingPunct="1">
              <a:lnSpc>
                <a:spcPct val="110000"/>
              </a:lnSpc>
              <a:buClr>
                <a:schemeClr val="tx1"/>
              </a:buClr>
              <a:buFont typeface="Marlett" pitchFamily="2" charset="2"/>
              <a:buChar char="2"/>
              <a:defRPr/>
            </a:pPr>
            <a:r>
              <a:rPr lang="en-US" altLang="zh-CN" sz="2400" dirty="0" smtClean="0">
                <a:latin typeface="Times New Roman" pitchFamily="18" charset="0"/>
              </a:rPr>
              <a:t>1</a:t>
            </a:r>
            <a:r>
              <a:rPr lang="zh-CN" altLang="en-US" sz="2400" dirty="0" smtClean="0">
                <a:latin typeface="Times New Roman" pitchFamily="18" charset="0"/>
              </a:rPr>
              <a:t>、根据产品的层次结构，逐层把产品展开为部件与零件，生成</a:t>
            </a:r>
            <a:r>
              <a:rPr lang="en-US" altLang="zh-CN" sz="2400" dirty="0" smtClean="0">
                <a:latin typeface="Times New Roman" pitchFamily="18" charset="0"/>
              </a:rPr>
              <a:t>BOM</a:t>
            </a:r>
            <a:r>
              <a:rPr lang="zh-CN" altLang="en-US" sz="2400" dirty="0" smtClean="0">
                <a:latin typeface="Times New Roman" pitchFamily="18" charset="0"/>
              </a:rPr>
              <a:t>表。</a:t>
            </a:r>
          </a:p>
          <a:p>
            <a:pPr lvl="1" eaLnBrk="1" hangingPunct="1">
              <a:lnSpc>
                <a:spcPct val="110000"/>
              </a:lnSpc>
              <a:spcBef>
                <a:spcPct val="0"/>
              </a:spcBef>
              <a:buClr>
                <a:schemeClr val="tx1"/>
              </a:buClr>
              <a:buFont typeface="Marlett" pitchFamily="2" charset="2"/>
              <a:buChar char="2"/>
              <a:defRPr/>
            </a:pPr>
            <a:r>
              <a:rPr lang="en-US" altLang="zh-CN" sz="2400" dirty="0" smtClean="0">
                <a:latin typeface="Times New Roman" pitchFamily="18" charset="0"/>
              </a:rPr>
              <a:t>2</a:t>
            </a:r>
            <a:r>
              <a:rPr lang="zh-CN" altLang="en-US" sz="2400" dirty="0" smtClean="0">
                <a:latin typeface="Times New Roman" pitchFamily="18" charset="0"/>
              </a:rPr>
              <a:t>、根据规定的提前期标准，</a:t>
            </a:r>
            <a:r>
              <a:rPr lang="zh-CN" altLang="en-US" sz="2400" b="1" dirty="0" smtClean="0">
                <a:solidFill>
                  <a:schemeClr val="bg2">
                    <a:lumMod val="60000"/>
                    <a:lumOff val="40000"/>
                  </a:schemeClr>
                </a:solidFill>
                <a:effectLst>
                  <a:outerShdw blurRad="38100" dist="38100" dir="2700000" algn="tl">
                    <a:srgbClr val="000000">
                      <a:alpha val="43137"/>
                    </a:srgbClr>
                  </a:outerShdw>
                </a:effectLst>
                <a:latin typeface="Times New Roman" pitchFamily="18" charset="0"/>
              </a:rPr>
              <a:t>按产品的出厂期逆序倒排编制主生产计划表，</a:t>
            </a:r>
            <a:r>
              <a:rPr lang="zh-CN" altLang="en-US" sz="2400" dirty="0" smtClean="0">
                <a:latin typeface="Times New Roman" pitchFamily="18" charset="0"/>
              </a:rPr>
              <a:t>再按主生产计划量决定零件的毛需求量。</a:t>
            </a:r>
          </a:p>
          <a:p>
            <a:pPr lvl="1" eaLnBrk="1" hangingPunct="1">
              <a:lnSpc>
                <a:spcPct val="110000"/>
              </a:lnSpc>
              <a:spcBef>
                <a:spcPct val="0"/>
              </a:spcBef>
              <a:buClr>
                <a:schemeClr val="tx1"/>
              </a:buClr>
              <a:buFont typeface="Marlett" pitchFamily="2" charset="2"/>
              <a:buChar char="2"/>
              <a:defRPr/>
            </a:pPr>
            <a:r>
              <a:rPr lang="en-US" altLang="zh-CN" sz="2400" dirty="0" smtClean="0">
                <a:latin typeface="Times New Roman" pitchFamily="18" charset="0"/>
              </a:rPr>
              <a:t>3</a:t>
            </a:r>
            <a:r>
              <a:rPr lang="zh-CN" altLang="en-US" sz="2400" dirty="0" smtClean="0">
                <a:latin typeface="Times New Roman" pitchFamily="18" charset="0"/>
              </a:rPr>
              <a:t>、根据毛需求量和该零件的可分配库存量，计算净需求量，再根据选择批量的原则和零件的具体情况，决定该零件的实际投产批量和日期。</a:t>
            </a:r>
          </a:p>
          <a:p>
            <a:pPr lvl="1" eaLnBrk="1" hangingPunct="1">
              <a:lnSpc>
                <a:spcPct val="110000"/>
              </a:lnSpc>
              <a:spcBef>
                <a:spcPct val="0"/>
              </a:spcBef>
              <a:buClr>
                <a:schemeClr val="tx1"/>
              </a:buClr>
              <a:buFont typeface="Marlett" pitchFamily="2" charset="2"/>
              <a:buChar char="2"/>
              <a:defRPr/>
            </a:pPr>
            <a:r>
              <a:rPr lang="en-US" altLang="zh-CN" sz="2400" dirty="0" smtClean="0">
                <a:latin typeface="Times New Roman" pitchFamily="18" charset="0"/>
              </a:rPr>
              <a:t>4</a:t>
            </a:r>
            <a:r>
              <a:rPr lang="zh-CN" altLang="en-US" sz="2400" dirty="0" smtClean="0">
                <a:latin typeface="Times New Roman" pitchFamily="18" charset="0"/>
              </a:rPr>
              <a:t>、对于外购的原材料和零配件，先根据</a:t>
            </a:r>
            <a:r>
              <a:rPr lang="en-US" altLang="zh-CN" sz="2400" dirty="0" smtClean="0">
                <a:latin typeface="Times New Roman" pitchFamily="18" charset="0"/>
              </a:rPr>
              <a:t>BOM</a:t>
            </a:r>
            <a:r>
              <a:rPr lang="zh-CN" altLang="en-US" sz="2400" dirty="0" smtClean="0">
                <a:latin typeface="Times New Roman" pitchFamily="18" charset="0"/>
              </a:rPr>
              <a:t>表按品种规格进行汇总，再分别按它们的采购提前期决定订购的日期与数量。</a:t>
            </a:r>
          </a:p>
        </p:txBody>
      </p:sp>
      <p:sp>
        <p:nvSpPr>
          <p:cNvPr id="2355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9139">
                                            <p:txEl>
                                              <p:pRg st="0" end="0"/>
                                            </p:txEl>
                                          </p:spTgt>
                                        </p:tgtEl>
                                        <p:attrNameLst>
                                          <p:attrName>style.visibility</p:attrName>
                                        </p:attrNameLst>
                                      </p:cBhvr>
                                      <p:to>
                                        <p:strVal val="visible"/>
                                      </p:to>
                                    </p:set>
                                    <p:anim calcmode="lin" valueType="num">
                                      <p:cBhvr additive="base">
                                        <p:cTn id="7" dur="500" fill="hold"/>
                                        <p:tgtEl>
                                          <p:spTgt spid="2191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91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9139">
                                            <p:txEl>
                                              <p:pRg st="1" end="1"/>
                                            </p:txEl>
                                          </p:spTgt>
                                        </p:tgtEl>
                                        <p:attrNameLst>
                                          <p:attrName>style.visibility</p:attrName>
                                        </p:attrNameLst>
                                      </p:cBhvr>
                                      <p:to>
                                        <p:strVal val="visible"/>
                                      </p:to>
                                    </p:set>
                                    <p:anim calcmode="lin" valueType="num">
                                      <p:cBhvr additive="base">
                                        <p:cTn id="13" dur="500" fill="hold"/>
                                        <p:tgtEl>
                                          <p:spTgt spid="2191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91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9139">
                                            <p:txEl>
                                              <p:pRg st="2" end="2"/>
                                            </p:txEl>
                                          </p:spTgt>
                                        </p:tgtEl>
                                        <p:attrNameLst>
                                          <p:attrName>style.visibility</p:attrName>
                                        </p:attrNameLst>
                                      </p:cBhvr>
                                      <p:to>
                                        <p:strVal val="visible"/>
                                      </p:to>
                                    </p:set>
                                    <p:anim calcmode="lin" valueType="num">
                                      <p:cBhvr additive="base">
                                        <p:cTn id="19" dur="500" fill="hold"/>
                                        <p:tgtEl>
                                          <p:spTgt spid="2191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91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9139">
                                            <p:txEl>
                                              <p:pRg st="3" end="3"/>
                                            </p:txEl>
                                          </p:spTgt>
                                        </p:tgtEl>
                                        <p:attrNameLst>
                                          <p:attrName>style.visibility</p:attrName>
                                        </p:attrNameLst>
                                      </p:cBhvr>
                                      <p:to>
                                        <p:strVal val="visible"/>
                                      </p:to>
                                    </p:set>
                                    <p:anim calcmode="lin" valueType="num">
                                      <p:cBhvr additive="base">
                                        <p:cTn id="25" dur="500" fill="hold"/>
                                        <p:tgtEl>
                                          <p:spTgt spid="2191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91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9139">
                                            <p:txEl>
                                              <p:pRg st="4" end="4"/>
                                            </p:txEl>
                                          </p:spTgt>
                                        </p:tgtEl>
                                        <p:attrNameLst>
                                          <p:attrName>style.visibility</p:attrName>
                                        </p:attrNameLst>
                                      </p:cBhvr>
                                      <p:to>
                                        <p:strVal val="visible"/>
                                      </p:to>
                                    </p:set>
                                    <p:anim calcmode="lin" valueType="num">
                                      <p:cBhvr additive="base">
                                        <p:cTn id="31" dur="500" fill="hold"/>
                                        <p:tgtEl>
                                          <p:spTgt spid="21913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1913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build="p" autoUpdateAnimBg="0" advAuto="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3"/>
          <p:cNvSpPr>
            <a:spLocks noGrp="1" noChangeArrowheads="1"/>
          </p:cNvSpPr>
          <p:nvPr>
            <p:ph type="body" sz="half" idx="1"/>
          </p:nvPr>
        </p:nvSpPr>
        <p:spPr>
          <a:xfrm>
            <a:off x="533400" y="1600200"/>
            <a:ext cx="685800" cy="1905000"/>
          </a:xfrm>
          <a:noFill/>
        </p:spPr>
        <p:txBody>
          <a:bodyPr vert="eaVert" lIns="18000" rIns="18000"/>
          <a:lstStyle/>
          <a:p>
            <a:pPr eaLnBrk="1" hangingPunct="1">
              <a:lnSpc>
                <a:spcPct val="150000"/>
              </a:lnSpc>
              <a:spcBef>
                <a:spcPct val="0"/>
              </a:spcBef>
              <a:buClr>
                <a:schemeClr val="tx1"/>
              </a:buClr>
              <a:buFont typeface="Marlett" pitchFamily="2" charset="2"/>
              <a:buNone/>
            </a:pPr>
            <a:r>
              <a:rPr lang="zh-CN" altLang="en-US" sz="2800" b="1" smtClean="0">
                <a:latin typeface="Times New Roman" panose="02020603050405020304" pitchFamily="18" charset="0"/>
              </a:rPr>
              <a:t>表头栏目：</a:t>
            </a:r>
          </a:p>
        </p:txBody>
      </p:sp>
      <p:sp>
        <p:nvSpPr>
          <p:cNvPr id="24579"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220534" name="Rectangle 374"/>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5.6 MRP</a:t>
            </a:r>
            <a:r>
              <a:rPr lang="zh-CN" altLang="en-US" sz="3600" b="1" dirty="0" smtClean="0">
                <a:solidFill>
                  <a:srgbClr val="FF0000"/>
                </a:solidFill>
                <a:effectLst>
                  <a:outerShdw blurRad="38100" dist="38100" dir="2700000" algn="tl">
                    <a:srgbClr val="C0C0C0"/>
                  </a:outerShdw>
                </a:effectLst>
                <a:latin typeface="Times New Roman" pitchFamily="18" charset="0"/>
              </a:rPr>
              <a:t>的报表运算</a:t>
            </a:r>
          </a:p>
        </p:txBody>
      </p:sp>
      <p:pic>
        <p:nvPicPr>
          <p:cNvPr id="24581" name="Picture 5056" descr="MRP运算表"/>
          <p:cNvPicPr>
            <a:picLocks noChangeAspect="1" noChangeArrowheads="1"/>
          </p:cNvPicPr>
          <p:nvPr/>
        </p:nvPicPr>
        <p:blipFill>
          <a:blip r:embed="rId2">
            <a:extLst>
              <a:ext uri="{28A0092B-C50C-407E-A947-70E740481C1C}">
                <a14:useLocalDpi xmlns:a14="http://schemas.microsoft.com/office/drawing/2010/main" val="0"/>
              </a:ext>
            </a:extLst>
          </a:blip>
          <a:srcRect b="917"/>
          <a:stretch>
            <a:fillRect/>
          </a:stretch>
        </p:blipFill>
        <p:spPr bwMode="auto">
          <a:xfrm>
            <a:off x="1371600" y="1371600"/>
            <a:ext cx="6400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5.6 MRP</a:t>
            </a:r>
            <a:r>
              <a:rPr lang="zh-CN" altLang="en-US" sz="3600" b="1" dirty="0" smtClean="0">
                <a:solidFill>
                  <a:srgbClr val="FF0000"/>
                </a:solidFill>
                <a:effectLst>
                  <a:outerShdw blurRad="38100" dist="38100" dir="2700000" algn="tl">
                    <a:srgbClr val="C0C0C0"/>
                  </a:outerShdw>
                </a:effectLst>
                <a:latin typeface="Times New Roman" pitchFamily="18" charset="0"/>
              </a:rPr>
              <a:t>的报表运算</a:t>
            </a:r>
          </a:p>
        </p:txBody>
      </p:sp>
      <p:sp>
        <p:nvSpPr>
          <p:cNvPr id="239619"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表头栏目：</a:t>
            </a:r>
          </a:p>
          <a:p>
            <a:pPr lvl="1" eaLnBrk="1" hangingPunct="1">
              <a:lnSpc>
                <a:spcPct val="150000"/>
              </a:lnSpc>
              <a:spcBef>
                <a:spcPct val="0"/>
              </a:spcBef>
              <a:buClr>
                <a:schemeClr val="tx1"/>
              </a:buClr>
              <a:buFont typeface="Marlett" pitchFamily="2" charset="2"/>
              <a:buChar char="2"/>
            </a:pPr>
            <a:r>
              <a:rPr lang="zh-CN" altLang="en-US" sz="2400" b="1" smtClean="0">
                <a:latin typeface="Times New Roman" panose="02020603050405020304" pitchFamily="18" charset="0"/>
              </a:rPr>
              <a:t>批量</a:t>
            </a:r>
            <a:r>
              <a:rPr lang="zh-CN" altLang="en-US" sz="2400" smtClean="0">
                <a:latin typeface="Times New Roman" panose="02020603050405020304" pitchFamily="18" charset="0"/>
              </a:rPr>
              <a:t>：对采购件而言是订货批量，对加工件而言是加工批量，均可以按照对应的批量规则来确定。决定了计划投入量通常要大于净需求。</a:t>
            </a:r>
          </a:p>
          <a:p>
            <a:pPr lvl="1" eaLnBrk="1" hangingPunct="1">
              <a:lnSpc>
                <a:spcPct val="150000"/>
              </a:lnSpc>
              <a:spcBef>
                <a:spcPct val="0"/>
              </a:spcBef>
              <a:buClr>
                <a:schemeClr val="tx1"/>
              </a:buClr>
              <a:buFont typeface="Marlett" pitchFamily="2" charset="2"/>
              <a:buChar char="2"/>
            </a:pPr>
            <a:endParaRPr lang="zh-CN" altLang="en-US" sz="2400" smtClean="0">
              <a:latin typeface="Times New Roman" panose="02020603050405020304" pitchFamily="18" charset="0"/>
            </a:endParaRPr>
          </a:p>
          <a:p>
            <a:pPr lvl="1" eaLnBrk="1" hangingPunct="1">
              <a:lnSpc>
                <a:spcPct val="150000"/>
              </a:lnSpc>
              <a:spcBef>
                <a:spcPct val="0"/>
              </a:spcBef>
              <a:buClr>
                <a:schemeClr val="tx1"/>
              </a:buClr>
              <a:buFont typeface="Marlett" pitchFamily="2" charset="2"/>
              <a:buChar char="2"/>
            </a:pPr>
            <a:r>
              <a:rPr lang="zh-CN" altLang="en-US" sz="2400" b="1" smtClean="0">
                <a:latin typeface="Times New Roman" panose="02020603050405020304" pitchFamily="18" charset="0"/>
              </a:rPr>
              <a:t>已分配量</a:t>
            </a:r>
            <a:r>
              <a:rPr lang="zh-CN" altLang="en-US" sz="2400" smtClean="0">
                <a:latin typeface="Times New Roman" panose="02020603050405020304" pitchFamily="18" charset="0"/>
              </a:rPr>
              <a:t>：库存中仍在库中但已为某些订单配套而不可动用的数量。在计算</a:t>
            </a:r>
            <a:r>
              <a:rPr lang="en-US" altLang="zh-CN" sz="2400" smtClean="0">
                <a:latin typeface="Times New Roman" panose="02020603050405020304" pitchFamily="18" charset="0"/>
              </a:rPr>
              <a:t>PAB</a:t>
            </a:r>
            <a:r>
              <a:rPr lang="zh-CN" altLang="en-US" sz="2400" smtClean="0">
                <a:latin typeface="Times New Roman" panose="02020603050405020304" pitchFamily="18" charset="0"/>
              </a:rPr>
              <a:t>时，已分配量要从现有库存量中扣除，然后再运算</a:t>
            </a:r>
            <a:r>
              <a:rPr lang="en-US" altLang="zh-CN" sz="2400" smtClean="0">
                <a:latin typeface="Times New Roman" panose="02020603050405020304" pitchFamily="18" charset="0"/>
              </a:rPr>
              <a:t>MRP</a:t>
            </a:r>
            <a:r>
              <a:rPr lang="zh-CN" altLang="en-US" sz="2400" smtClean="0">
                <a:latin typeface="Times New Roman" panose="02020603050405020304" pitchFamily="18" charset="0"/>
              </a:rPr>
              <a:t>。</a:t>
            </a:r>
          </a:p>
        </p:txBody>
      </p:sp>
      <p:sp>
        <p:nvSpPr>
          <p:cNvPr id="2560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9619">
                                            <p:txEl>
                                              <p:pRg st="0" end="0"/>
                                            </p:txEl>
                                          </p:spTgt>
                                        </p:tgtEl>
                                        <p:attrNameLst>
                                          <p:attrName>style.visibility</p:attrName>
                                        </p:attrNameLst>
                                      </p:cBhvr>
                                      <p:to>
                                        <p:strVal val="visible"/>
                                      </p:to>
                                    </p:set>
                                    <p:anim calcmode="lin" valueType="num">
                                      <p:cBhvr additive="base">
                                        <p:cTn id="7" dur="500" fill="hold"/>
                                        <p:tgtEl>
                                          <p:spTgt spid="2396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96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9619">
                                            <p:txEl>
                                              <p:pRg st="1" end="1"/>
                                            </p:txEl>
                                          </p:spTgt>
                                        </p:tgtEl>
                                        <p:attrNameLst>
                                          <p:attrName>style.visibility</p:attrName>
                                        </p:attrNameLst>
                                      </p:cBhvr>
                                      <p:to>
                                        <p:strVal val="visible"/>
                                      </p:to>
                                    </p:set>
                                    <p:anim calcmode="lin" valueType="num">
                                      <p:cBhvr additive="base">
                                        <p:cTn id="13" dur="500" fill="hold"/>
                                        <p:tgtEl>
                                          <p:spTgt spid="2396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96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9619">
                                            <p:txEl>
                                              <p:pRg st="3" end="3"/>
                                            </p:txEl>
                                          </p:spTgt>
                                        </p:tgtEl>
                                        <p:attrNameLst>
                                          <p:attrName>style.visibility</p:attrName>
                                        </p:attrNameLst>
                                      </p:cBhvr>
                                      <p:to>
                                        <p:strVal val="visible"/>
                                      </p:to>
                                    </p:set>
                                    <p:anim calcmode="lin" valueType="num">
                                      <p:cBhvr additive="base">
                                        <p:cTn id="19" dur="500" fill="hold"/>
                                        <p:tgtEl>
                                          <p:spTgt spid="23961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961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autoUpdateAnimBg="0" advAuto="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5.6 MRP</a:t>
            </a:r>
            <a:r>
              <a:rPr lang="zh-CN" altLang="en-US" sz="3600" b="1" dirty="0" smtClean="0">
                <a:solidFill>
                  <a:srgbClr val="FF0000"/>
                </a:solidFill>
                <a:effectLst>
                  <a:outerShdw blurRad="38100" dist="38100" dir="2700000" algn="tl">
                    <a:srgbClr val="C0C0C0"/>
                  </a:outerShdw>
                </a:effectLst>
                <a:latin typeface="Times New Roman" pitchFamily="18" charset="0"/>
              </a:rPr>
              <a:t>的报表运算</a:t>
            </a:r>
          </a:p>
        </p:txBody>
      </p:sp>
      <p:sp>
        <p:nvSpPr>
          <p:cNvPr id="24064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表头栏目：</a:t>
            </a:r>
          </a:p>
          <a:p>
            <a:pPr lvl="1" eaLnBrk="1" hangingPunct="1">
              <a:lnSpc>
                <a:spcPct val="150000"/>
              </a:lnSpc>
              <a:spcBef>
                <a:spcPct val="0"/>
              </a:spcBef>
              <a:buClr>
                <a:schemeClr val="tx1"/>
              </a:buClr>
              <a:buFont typeface="Marlett" pitchFamily="2" charset="2"/>
              <a:buChar char="2"/>
            </a:pPr>
            <a:r>
              <a:rPr lang="zh-CN" altLang="en-US" sz="2400" b="1" smtClean="0">
                <a:latin typeface="Times New Roman" panose="02020603050405020304" pitchFamily="18" charset="0"/>
              </a:rPr>
              <a:t>安全库存量</a:t>
            </a:r>
            <a:r>
              <a:rPr lang="zh-CN" altLang="en-US" sz="2400" smtClean="0">
                <a:latin typeface="Times New Roman" panose="02020603050405020304" pitchFamily="18" charset="0"/>
              </a:rPr>
              <a:t>：安全库存量不同于已分配量，它的数量仍包括在</a:t>
            </a:r>
            <a:r>
              <a:rPr lang="en-US" altLang="zh-CN" sz="2400" smtClean="0">
                <a:latin typeface="Times New Roman" panose="02020603050405020304" pitchFamily="18" charset="0"/>
              </a:rPr>
              <a:t>PAB</a:t>
            </a:r>
            <a:r>
              <a:rPr lang="zh-CN" altLang="en-US" sz="2400" smtClean="0">
                <a:latin typeface="Times New Roman" panose="02020603050405020304" pitchFamily="18" charset="0"/>
              </a:rPr>
              <a:t>中，只是当</a:t>
            </a:r>
            <a:r>
              <a:rPr lang="en-US" altLang="zh-CN" sz="2400" smtClean="0">
                <a:latin typeface="Times New Roman" panose="02020603050405020304" pitchFamily="18" charset="0"/>
              </a:rPr>
              <a:t>PAB</a:t>
            </a:r>
            <a:r>
              <a:rPr lang="zh-CN" altLang="en-US" sz="2400" smtClean="0">
                <a:latin typeface="Times New Roman" panose="02020603050405020304" pitchFamily="18" charset="0"/>
              </a:rPr>
              <a:t>低于安全库存量时，系统会自动生成一些净需求量，以补充安全库存。</a:t>
            </a:r>
          </a:p>
          <a:p>
            <a:pPr lvl="1" eaLnBrk="1" hangingPunct="1">
              <a:lnSpc>
                <a:spcPct val="150000"/>
              </a:lnSpc>
              <a:spcBef>
                <a:spcPct val="0"/>
              </a:spcBef>
              <a:buClr>
                <a:schemeClr val="tx1"/>
              </a:buClr>
              <a:buFont typeface="Marlett" pitchFamily="2" charset="2"/>
              <a:buChar char="2"/>
            </a:pPr>
            <a:endParaRPr lang="zh-CN" altLang="en-US" sz="2400" smtClean="0">
              <a:latin typeface="Times New Roman" panose="02020603050405020304" pitchFamily="18" charset="0"/>
            </a:endParaRPr>
          </a:p>
          <a:p>
            <a:pPr lvl="1" eaLnBrk="1" hangingPunct="1">
              <a:lnSpc>
                <a:spcPct val="150000"/>
              </a:lnSpc>
              <a:spcBef>
                <a:spcPct val="0"/>
              </a:spcBef>
              <a:buClr>
                <a:schemeClr val="tx1"/>
              </a:buClr>
              <a:buFont typeface="Marlett" pitchFamily="2" charset="2"/>
              <a:buChar char="2"/>
            </a:pPr>
            <a:r>
              <a:rPr lang="zh-CN" altLang="en-US" sz="2400" b="1" smtClean="0">
                <a:latin typeface="Times New Roman" panose="02020603050405020304" pitchFamily="18" charset="0"/>
              </a:rPr>
              <a:t>低层码</a:t>
            </a:r>
            <a:r>
              <a:rPr lang="zh-CN" altLang="en-US" sz="2400" smtClean="0">
                <a:latin typeface="Times New Roman" panose="02020603050405020304" pitchFamily="18" charset="0"/>
              </a:rPr>
              <a:t>：低层码是该物料出现在系统的各种产品中最低的阶层码。</a:t>
            </a:r>
            <a:r>
              <a:rPr lang="en-US" altLang="zh-CN" sz="2400" smtClean="0">
                <a:latin typeface="Times New Roman" panose="02020603050405020304" pitchFamily="18" charset="0"/>
              </a:rPr>
              <a:t>MRP</a:t>
            </a:r>
            <a:r>
              <a:rPr lang="zh-CN" altLang="en-US" sz="2400" smtClean="0">
                <a:latin typeface="Times New Roman" panose="02020603050405020304" pitchFamily="18" charset="0"/>
              </a:rPr>
              <a:t>运算时，只是到该最低层次时，才把</a:t>
            </a:r>
            <a:r>
              <a:rPr lang="en-US" altLang="zh-CN" sz="2400" smtClean="0">
                <a:latin typeface="Times New Roman" panose="02020603050405020304" pitchFamily="18" charset="0"/>
              </a:rPr>
              <a:t>MPS</a:t>
            </a:r>
            <a:r>
              <a:rPr lang="zh-CN" altLang="en-US" sz="2400" smtClean="0">
                <a:latin typeface="Times New Roman" panose="02020603050405020304" pitchFamily="18" charset="0"/>
              </a:rPr>
              <a:t>中所有产品对该物料形成的需求量汇总起来，合并计算他们在各个时段的需求量。</a:t>
            </a:r>
          </a:p>
        </p:txBody>
      </p:sp>
      <p:sp>
        <p:nvSpPr>
          <p:cNvPr id="2662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anim calcmode="lin" valueType="num">
                                      <p:cBhvr additive="base">
                                        <p:cTn id="7" dur="500" fill="hold"/>
                                        <p:tgtEl>
                                          <p:spTgt spid="2406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0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0643">
                                            <p:txEl>
                                              <p:pRg st="1" end="1"/>
                                            </p:txEl>
                                          </p:spTgt>
                                        </p:tgtEl>
                                        <p:attrNameLst>
                                          <p:attrName>style.visibility</p:attrName>
                                        </p:attrNameLst>
                                      </p:cBhvr>
                                      <p:to>
                                        <p:strVal val="visible"/>
                                      </p:to>
                                    </p:set>
                                    <p:anim calcmode="lin" valueType="num">
                                      <p:cBhvr additive="base">
                                        <p:cTn id="13" dur="500" fill="hold"/>
                                        <p:tgtEl>
                                          <p:spTgt spid="2406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06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0643">
                                            <p:txEl>
                                              <p:pRg st="3" end="3"/>
                                            </p:txEl>
                                          </p:spTgt>
                                        </p:tgtEl>
                                        <p:attrNameLst>
                                          <p:attrName>style.visibility</p:attrName>
                                        </p:attrNameLst>
                                      </p:cBhvr>
                                      <p:to>
                                        <p:strVal val="visible"/>
                                      </p:to>
                                    </p:set>
                                    <p:anim calcmode="lin" valueType="num">
                                      <p:cBhvr additive="base">
                                        <p:cTn id="19" dur="500" fill="hold"/>
                                        <p:tgtEl>
                                          <p:spTgt spid="2406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06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uild="p" autoUpdateAnimBg="0" advAuto="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5.6 MRP</a:t>
            </a:r>
            <a:r>
              <a:rPr lang="zh-CN" altLang="en-US" sz="3600" b="1" dirty="0" smtClean="0">
                <a:solidFill>
                  <a:srgbClr val="FF0000"/>
                </a:solidFill>
                <a:effectLst>
                  <a:outerShdw blurRad="38100" dist="38100" dir="2700000" algn="tl">
                    <a:srgbClr val="C0C0C0"/>
                  </a:outerShdw>
                </a:effectLst>
                <a:latin typeface="Times New Roman" pitchFamily="18" charset="0"/>
              </a:rPr>
              <a:t>的报表运算</a:t>
            </a:r>
          </a:p>
        </p:txBody>
      </p:sp>
      <p:sp>
        <p:nvSpPr>
          <p:cNvPr id="221187"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表体栏目：</a:t>
            </a:r>
          </a:p>
          <a:p>
            <a:pPr lvl="1" eaLnBrk="1" hangingPunct="1">
              <a:lnSpc>
                <a:spcPct val="150000"/>
              </a:lnSpc>
              <a:spcBef>
                <a:spcPct val="0"/>
              </a:spcBef>
              <a:buClr>
                <a:schemeClr val="tx1"/>
              </a:buClr>
              <a:buFont typeface="Marlett" pitchFamily="2" charset="2"/>
              <a:buChar char="2"/>
            </a:pPr>
            <a:r>
              <a:rPr lang="zh-CN" altLang="en-US" sz="2400" smtClean="0">
                <a:latin typeface="Times New Roman" panose="02020603050405020304" pitchFamily="18" charset="0"/>
              </a:rPr>
              <a:t>和</a:t>
            </a:r>
            <a:r>
              <a:rPr lang="en-US" altLang="zh-CN" sz="2400" smtClean="0">
                <a:latin typeface="Times New Roman" panose="02020603050405020304" pitchFamily="18" charset="0"/>
              </a:rPr>
              <a:t>MPS</a:t>
            </a:r>
            <a:r>
              <a:rPr lang="zh-CN" altLang="en-US" sz="2400" smtClean="0">
                <a:latin typeface="Times New Roman" panose="02020603050405020304" pitchFamily="18" charset="0"/>
              </a:rPr>
              <a:t>报表几乎相同，推算过程也接近。</a:t>
            </a:r>
          </a:p>
          <a:p>
            <a:pPr lvl="1" eaLnBrk="1" hangingPunct="1">
              <a:lnSpc>
                <a:spcPct val="150000"/>
              </a:lnSpc>
              <a:spcBef>
                <a:spcPct val="0"/>
              </a:spcBef>
              <a:buClr>
                <a:schemeClr val="tx1"/>
              </a:buClr>
              <a:buFont typeface="Marlett" pitchFamily="2" charset="2"/>
              <a:buChar char="2"/>
            </a:pPr>
            <a:r>
              <a:rPr lang="en-US" altLang="zh-CN" sz="2400" smtClean="0">
                <a:latin typeface="Times New Roman" panose="02020603050405020304" pitchFamily="18" charset="0"/>
              </a:rPr>
              <a:t>MRP</a:t>
            </a:r>
            <a:r>
              <a:rPr lang="zh-CN" altLang="en-US" sz="2400" smtClean="0">
                <a:latin typeface="Times New Roman" panose="02020603050405020304" pitchFamily="18" charset="0"/>
              </a:rPr>
              <a:t>的计划对象是相关需求件，毛需求由上层物料的计划投入量确定，结合对安全库存的考虑，进一步引发净需求。</a:t>
            </a:r>
          </a:p>
          <a:p>
            <a:pPr lvl="1" eaLnBrk="1" hangingPunct="1">
              <a:lnSpc>
                <a:spcPct val="150000"/>
              </a:lnSpc>
              <a:spcBef>
                <a:spcPct val="0"/>
              </a:spcBef>
              <a:buClr>
                <a:schemeClr val="tx1"/>
              </a:buClr>
              <a:buFont typeface="Marlett" pitchFamily="2" charset="2"/>
              <a:buChar char="2"/>
            </a:pPr>
            <a:r>
              <a:rPr lang="en-US" altLang="zh-CN" sz="2400" smtClean="0">
                <a:latin typeface="Times New Roman" panose="02020603050405020304" pitchFamily="18" charset="0"/>
              </a:rPr>
              <a:t>MRP</a:t>
            </a:r>
            <a:r>
              <a:rPr lang="zh-CN" altLang="en-US" sz="2400" smtClean="0">
                <a:latin typeface="Times New Roman" panose="02020603050405020304" pitchFamily="18" charset="0"/>
              </a:rPr>
              <a:t>的推算过程从最终产品开始层层向下，一直推算到所采购的原材料和外购件为止。</a:t>
            </a:r>
          </a:p>
          <a:p>
            <a:pPr lvl="1" eaLnBrk="1" hangingPunct="1">
              <a:lnSpc>
                <a:spcPct val="150000"/>
              </a:lnSpc>
              <a:spcBef>
                <a:spcPct val="0"/>
              </a:spcBef>
              <a:buClr>
                <a:schemeClr val="tx1"/>
              </a:buClr>
              <a:buFont typeface="Marlett" pitchFamily="2" charset="2"/>
              <a:buChar char="2"/>
            </a:pPr>
            <a:endParaRPr lang="en-US" altLang="zh-CN" sz="2400" smtClean="0">
              <a:latin typeface="Times New Roman" panose="02020603050405020304" pitchFamily="18" charset="0"/>
            </a:endParaRPr>
          </a:p>
        </p:txBody>
      </p:sp>
      <p:sp>
        <p:nvSpPr>
          <p:cNvPr id="2765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 calcmode="lin" valueType="num">
                                      <p:cBhvr additive="base">
                                        <p:cTn id="7" dur="500" fill="hold"/>
                                        <p:tgtEl>
                                          <p:spTgt spid="221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11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1187">
                                            <p:txEl>
                                              <p:pRg st="1" end="1"/>
                                            </p:txEl>
                                          </p:spTgt>
                                        </p:tgtEl>
                                        <p:attrNameLst>
                                          <p:attrName>style.visibility</p:attrName>
                                        </p:attrNameLst>
                                      </p:cBhvr>
                                      <p:to>
                                        <p:strVal val="visible"/>
                                      </p:to>
                                    </p:set>
                                    <p:anim calcmode="lin" valueType="num">
                                      <p:cBhvr additive="base">
                                        <p:cTn id="13" dur="500" fill="hold"/>
                                        <p:tgtEl>
                                          <p:spTgt spid="2211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1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1187">
                                            <p:txEl>
                                              <p:pRg st="2" end="2"/>
                                            </p:txEl>
                                          </p:spTgt>
                                        </p:tgtEl>
                                        <p:attrNameLst>
                                          <p:attrName>style.visibility</p:attrName>
                                        </p:attrNameLst>
                                      </p:cBhvr>
                                      <p:to>
                                        <p:strVal val="visible"/>
                                      </p:to>
                                    </p:set>
                                    <p:anim calcmode="lin" valueType="num">
                                      <p:cBhvr additive="base">
                                        <p:cTn id="19" dur="500" fill="hold"/>
                                        <p:tgtEl>
                                          <p:spTgt spid="2211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11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1187">
                                            <p:txEl>
                                              <p:pRg st="3" end="3"/>
                                            </p:txEl>
                                          </p:spTgt>
                                        </p:tgtEl>
                                        <p:attrNameLst>
                                          <p:attrName>style.visibility</p:attrName>
                                        </p:attrNameLst>
                                      </p:cBhvr>
                                      <p:to>
                                        <p:strVal val="visible"/>
                                      </p:to>
                                    </p:set>
                                    <p:anim calcmode="lin" valueType="num">
                                      <p:cBhvr additive="base">
                                        <p:cTn id="25" dur="500" fill="hold"/>
                                        <p:tgtEl>
                                          <p:spTgt spid="22118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118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autoUpdateAnimBg="0" advAuto="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5.6 MRP</a:t>
            </a:r>
            <a:r>
              <a:rPr lang="zh-CN" altLang="en-US" sz="3600" b="1" dirty="0" smtClean="0">
                <a:solidFill>
                  <a:srgbClr val="FF0000"/>
                </a:solidFill>
                <a:effectLst>
                  <a:outerShdw blurRad="38100" dist="38100" dir="2700000" algn="tl">
                    <a:srgbClr val="C0C0C0"/>
                  </a:outerShdw>
                </a:effectLst>
                <a:latin typeface="Times New Roman" pitchFamily="18" charset="0"/>
              </a:rPr>
              <a:t>的报表运算</a:t>
            </a:r>
          </a:p>
        </p:txBody>
      </p:sp>
      <p:sp>
        <p:nvSpPr>
          <p:cNvPr id="241667" name="Rectangle 3"/>
          <p:cNvSpPr>
            <a:spLocks noGrp="1" noChangeArrowheads="1"/>
          </p:cNvSpPr>
          <p:nvPr>
            <p:ph type="body" idx="1"/>
          </p:nvPr>
        </p:nvSpPr>
        <p:spPr>
          <a:xfrm>
            <a:off x="457200" y="1447800"/>
            <a:ext cx="8534400" cy="49530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表体栏目：</a:t>
            </a:r>
          </a:p>
          <a:p>
            <a:pPr lvl="1" eaLnBrk="1" hangingPunct="1">
              <a:lnSpc>
                <a:spcPct val="150000"/>
              </a:lnSpc>
              <a:spcBef>
                <a:spcPct val="0"/>
              </a:spcBef>
              <a:buClr>
                <a:schemeClr val="tx1"/>
              </a:buClr>
              <a:buFont typeface="Marlett" pitchFamily="2" charset="2"/>
              <a:buChar char="2"/>
            </a:pPr>
            <a:r>
              <a:rPr lang="zh-CN" altLang="en-US" sz="2400" b="1" smtClean="0">
                <a:latin typeface="Times New Roman" panose="02020603050405020304" pitchFamily="18" charset="0"/>
              </a:rPr>
              <a:t>报表的推算过程：</a:t>
            </a:r>
          </a:p>
          <a:p>
            <a:pPr lvl="2" eaLnBrk="1" hangingPunct="1">
              <a:lnSpc>
                <a:spcPct val="150000"/>
              </a:lnSpc>
              <a:spcBef>
                <a:spcPct val="0"/>
              </a:spcBef>
              <a:buClr>
                <a:schemeClr val="tx1"/>
              </a:buClr>
              <a:buFont typeface="Marlett" pitchFamily="2" charset="2"/>
              <a:buChar char="2"/>
            </a:pPr>
            <a:r>
              <a:rPr lang="en-US" altLang="zh-CN" sz="2000" smtClean="0">
                <a:latin typeface="Times New Roman" panose="02020603050405020304" pitchFamily="18" charset="0"/>
              </a:rPr>
              <a:t>1</a:t>
            </a:r>
            <a:r>
              <a:rPr lang="zh-CN" altLang="en-US" sz="2000" smtClean="0">
                <a:latin typeface="Times New Roman" panose="02020603050405020304" pitchFamily="18" charset="0"/>
              </a:rPr>
              <a:t>、推算物料毛需求</a:t>
            </a:r>
          </a:p>
          <a:p>
            <a:pPr lvl="2" eaLnBrk="1" hangingPunct="1">
              <a:lnSpc>
                <a:spcPct val="150000"/>
              </a:lnSpc>
              <a:spcBef>
                <a:spcPct val="0"/>
              </a:spcBef>
              <a:buClr>
                <a:schemeClr val="tx1"/>
              </a:buClr>
              <a:buFont typeface="Marlett" pitchFamily="2" charset="2"/>
              <a:buChar char="2"/>
            </a:pPr>
            <a:r>
              <a:rPr lang="en-US" altLang="zh-CN" sz="2000" smtClean="0">
                <a:latin typeface="Times New Roman" panose="02020603050405020304" pitchFamily="18" charset="0"/>
              </a:rPr>
              <a:t>2</a:t>
            </a:r>
            <a:r>
              <a:rPr lang="zh-CN" altLang="en-US" sz="2000" smtClean="0">
                <a:latin typeface="Times New Roman" panose="02020603050405020304" pitchFamily="18" charset="0"/>
              </a:rPr>
              <a:t>、计算当期预计可用库存量</a:t>
            </a:r>
          </a:p>
          <a:p>
            <a:pPr lvl="2" eaLnBrk="1" hangingPunct="1">
              <a:lnSpc>
                <a:spcPct val="150000"/>
              </a:lnSpc>
              <a:spcBef>
                <a:spcPct val="0"/>
              </a:spcBef>
              <a:buClr>
                <a:schemeClr val="tx1"/>
              </a:buClr>
              <a:buFont typeface="Marlett" pitchFamily="2" charset="2"/>
              <a:buChar char="2"/>
            </a:pPr>
            <a:r>
              <a:rPr lang="en-US" altLang="zh-CN" sz="2000" smtClean="0">
                <a:latin typeface="Times New Roman" panose="02020603050405020304" pitchFamily="18" charset="0"/>
              </a:rPr>
              <a:t>3</a:t>
            </a:r>
            <a:r>
              <a:rPr lang="zh-CN" altLang="en-US" sz="2000" smtClean="0">
                <a:latin typeface="Times New Roman" panose="02020603050405020304" pitchFamily="18" charset="0"/>
              </a:rPr>
              <a:t>、推算</a:t>
            </a:r>
            <a:r>
              <a:rPr lang="en-US" altLang="zh-CN" sz="2000" smtClean="0">
                <a:latin typeface="Times New Roman" panose="02020603050405020304" pitchFamily="18" charset="0"/>
              </a:rPr>
              <a:t>PAB</a:t>
            </a:r>
            <a:r>
              <a:rPr lang="zh-CN" altLang="en-US" sz="2000" smtClean="0">
                <a:latin typeface="Times New Roman" panose="02020603050405020304" pitchFamily="18" charset="0"/>
              </a:rPr>
              <a:t>初值</a:t>
            </a:r>
          </a:p>
          <a:p>
            <a:pPr lvl="2" eaLnBrk="1" hangingPunct="1">
              <a:lnSpc>
                <a:spcPct val="150000"/>
              </a:lnSpc>
              <a:spcBef>
                <a:spcPct val="0"/>
              </a:spcBef>
              <a:buClr>
                <a:schemeClr val="tx1"/>
              </a:buClr>
              <a:buFont typeface="Marlett" pitchFamily="2" charset="2"/>
              <a:buChar char="2"/>
            </a:pPr>
            <a:r>
              <a:rPr lang="en-US" altLang="zh-CN" sz="2000" smtClean="0">
                <a:latin typeface="Times New Roman" panose="02020603050405020304" pitchFamily="18" charset="0"/>
              </a:rPr>
              <a:t>4</a:t>
            </a:r>
            <a:r>
              <a:rPr lang="zh-CN" altLang="en-US" sz="2000" smtClean="0">
                <a:latin typeface="Times New Roman" panose="02020603050405020304" pitchFamily="18" charset="0"/>
              </a:rPr>
              <a:t>、推算净需求</a:t>
            </a:r>
          </a:p>
          <a:p>
            <a:pPr lvl="2" eaLnBrk="1" hangingPunct="1">
              <a:lnSpc>
                <a:spcPct val="150000"/>
              </a:lnSpc>
              <a:spcBef>
                <a:spcPct val="0"/>
              </a:spcBef>
              <a:buClr>
                <a:schemeClr val="tx1"/>
              </a:buClr>
              <a:buFont typeface="Marlett" pitchFamily="2" charset="2"/>
              <a:buChar char="2"/>
            </a:pPr>
            <a:r>
              <a:rPr lang="en-US" altLang="zh-CN" sz="2000" smtClean="0">
                <a:latin typeface="Times New Roman" panose="02020603050405020304" pitchFamily="18" charset="0"/>
              </a:rPr>
              <a:t>5</a:t>
            </a:r>
            <a:r>
              <a:rPr lang="zh-CN" altLang="en-US" sz="2000" smtClean="0">
                <a:latin typeface="Times New Roman" panose="02020603050405020304" pitchFamily="18" charset="0"/>
              </a:rPr>
              <a:t>、推算计划产出量</a:t>
            </a:r>
          </a:p>
          <a:p>
            <a:pPr lvl="2" eaLnBrk="1" hangingPunct="1">
              <a:lnSpc>
                <a:spcPct val="150000"/>
              </a:lnSpc>
              <a:spcBef>
                <a:spcPct val="0"/>
              </a:spcBef>
              <a:buClr>
                <a:schemeClr val="tx1"/>
              </a:buClr>
              <a:buFont typeface="Marlett" pitchFamily="2" charset="2"/>
              <a:buChar char="2"/>
            </a:pPr>
            <a:r>
              <a:rPr lang="en-US" altLang="zh-CN" sz="2000" smtClean="0">
                <a:latin typeface="Times New Roman" panose="02020603050405020304" pitchFamily="18" charset="0"/>
              </a:rPr>
              <a:t>6</a:t>
            </a:r>
            <a:r>
              <a:rPr lang="zh-CN" altLang="en-US" sz="2000" smtClean="0">
                <a:latin typeface="Times New Roman" panose="02020603050405020304" pitchFamily="18" charset="0"/>
              </a:rPr>
              <a:t>、推算预计可用库存量</a:t>
            </a:r>
          </a:p>
          <a:p>
            <a:pPr lvl="2" eaLnBrk="1" hangingPunct="1">
              <a:lnSpc>
                <a:spcPct val="150000"/>
              </a:lnSpc>
              <a:spcBef>
                <a:spcPct val="0"/>
              </a:spcBef>
              <a:buClr>
                <a:schemeClr val="tx1"/>
              </a:buClr>
              <a:buFont typeface="Marlett" pitchFamily="2" charset="2"/>
              <a:buChar char="2"/>
            </a:pPr>
            <a:r>
              <a:rPr lang="en-US" altLang="zh-CN" sz="2000" smtClean="0">
                <a:latin typeface="Times New Roman" panose="02020603050405020304" pitchFamily="18" charset="0"/>
              </a:rPr>
              <a:t>7</a:t>
            </a:r>
            <a:r>
              <a:rPr lang="zh-CN" altLang="en-US" sz="2000" smtClean="0">
                <a:latin typeface="Times New Roman" panose="02020603050405020304" pitchFamily="18" charset="0"/>
              </a:rPr>
              <a:t>、递增一个时段，分别重复</a:t>
            </a:r>
            <a:r>
              <a:rPr lang="en-US" altLang="zh-CN" sz="2000" smtClean="0">
                <a:latin typeface="Times New Roman" panose="02020603050405020304" pitchFamily="18" charset="0"/>
              </a:rPr>
              <a:t>3~6</a:t>
            </a:r>
            <a:r>
              <a:rPr lang="zh-CN" altLang="en-US" sz="2000" smtClean="0">
                <a:latin typeface="Times New Roman" panose="02020603050405020304" pitchFamily="18" charset="0"/>
              </a:rPr>
              <a:t>，循环计算直到计划展望期结束。</a:t>
            </a:r>
          </a:p>
          <a:p>
            <a:pPr lvl="2" eaLnBrk="1" hangingPunct="1">
              <a:lnSpc>
                <a:spcPct val="150000"/>
              </a:lnSpc>
              <a:spcBef>
                <a:spcPct val="0"/>
              </a:spcBef>
              <a:buClr>
                <a:schemeClr val="tx1"/>
              </a:buClr>
              <a:buFont typeface="Marlett" pitchFamily="2" charset="2"/>
              <a:buChar char="2"/>
            </a:pPr>
            <a:r>
              <a:rPr lang="en-US" altLang="zh-CN" sz="2000" smtClean="0">
                <a:latin typeface="Times New Roman" panose="02020603050405020304" pitchFamily="18" charset="0"/>
              </a:rPr>
              <a:t>8</a:t>
            </a:r>
            <a:r>
              <a:rPr lang="zh-CN" altLang="en-US" sz="2000" smtClean="0">
                <a:latin typeface="Times New Roman" panose="02020603050405020304" pitchFamily="18" charset="0"/>
              </a:rPr>
              <a:t>、推算计划投入量</a:t>
            </a:r>
          </a:p>
        </p:txBody>
      </p:sp>
      <p:sp>
        <p:nvSpPr>
          <p:cNvPr id="2867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anim calcmode="lin" valueType="num">
                                      <p:cBhvr additive="base">
                                        <p:cTn id="7" dur="500" fill="hold"/>
                                        <p:tgtEl>
                                          <p:spTgt spid="2416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16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1667">
                                            <p:txEl>
                                              <p:pRg st="1" end="1"/>
                                            </p:txEl>
                                          </p:spTgt>
                                        </p:tgtEl>
                                        <p:attrNameLst>
                                          <p:attrName>style.visibility</p:attrName>
                                        </p:attrNameLst>
                                      </p:cBhvr>
                                      <p:to>
                                        <p:strVal val="visible"/>
                                      </p:to>
                                    </p:set>
                                    <p:anim calcmode="lin" valueType="num">
                                      <p:cBhvr additive="base">
                                        <p:cTn id="13" dur="500" fill="hold"/>
                                        <p:tgtEl>
                                          <p:spTgt spid="2416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16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1667">
                                            <p:txEl>
                                              <p:pRg st="2" end="2"/>
                                            </p:txEl>
                                          </p:spTgt>
                                        </p:tgtEl>
                                        <p:attrNameLst>
                                          <p:attrName>style.visibility</p:attrName>
                                        </p:attrNameLst>
                                      </p:cBhvr>
                                      <p:to>
                                        <p:strVal val="visible"/>
                                      </p:to>
                                    </p:set>
                                    <p:anim calcmode="lin" valueType="num">
                                      <p:cBhvr additive="base">
                                        <p:cTn id="19" dur="500" fill="hold"/>
                                        <p:tgtEl>
                                          <p:spTgt spid="2416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16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1667">
                                            <p:txEl>
                                              <p:pRg st="3" end="3"/>
                                            </p:txEl>
                                          </p:spTgt>
                                        </p:tgtEl>
                                        <p:attrNameLst>
                                          <p:attrName>style.visibility</p:attrName>
                                        </p:attrNameLst>
                                      </p:cBhvr>
                                      <p:to>
                                        <p:strVal val="visible"/>
                                      </p:to>
                                    </p:set>
                                    <p:anim calcmode="lin" valueType="num">
                                      <p:cBhvr additive="base">
                                        <p:cTn id="25" dur="500" fill="hold"/>
                                        <p:tgtEl>
                                          <p:spTgt spid="2416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16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1667">
                                            <p:txEl>
                                              <p:pRg st="4" end="4"/>
                                            </p:txEl>
                                          </p:spTgt>
                                        </p:tgtEl>
                                        <p:attrNameLst>
                                          <p:attrName>style.visibility</p:attrName>
                                        </p:attrNameLst>
                                      </p:cBhvr>
                                      <p:to>
                                        <p:strVal val="visible"/>
                                      </p:to>
                                    </p:set>
                                    <p:anim calcmode="lin" valueType="num">
                                      <p:cBhvr additive="base">
                                        <p:cTn id="31" dur="500" fill="hold"/>
                                        <p:tgtEl>
                                          <p:spTgt spid="2416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16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1667">
                                            <p:txEl>
                                              <p:pRg st="5" end="5"/>
                                            </p:txEl>
                                          </p:spTgt>
                                        </p:tgtEl>
                                        <p:attrNameLst>
                                          <p:attrName>style.visibility</p:attrName>
                                        </p:attrNameLst>
                                      </p:cBhvr>
                                      <p:to>
                                        <p:strVal val="visible"/>
                                      </p:to>
                                    </p:set>
                                    <p:anim calcmode="lin" valueType="num">
                                      <p:cBhvr additive="base">
                                        <p:cTn id="37" dur="500" fill="hold"/>
                                        <p:tgtEl>
                                          <p:spTgt spid="2416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16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1667">
                                            <p:txEl>
                                              <p:pRg st="6" end="6"/>
                                            </p:txEl>
                                          </p:spTgt>
                                        </p:tgtEl>
                                        <p:attrNameLst>
                                          <p:attrName>style.visibility</p:attrName>
                                        </p:attrNameLst>
                                      </p:cBhvr>
                                      <p:to>
                                        <p:strVal val="visible"/>
                                      </p:to>
                                    </p:set>
                                    <p:anim calcmode="lin" valueType="num">
                                      <p:cBhvr additive="base">
                                        <p:cTn id="43" dur="500" fill="hold"/>
                                        <p:tgtEl>
                                          <p:spTgt spid="24166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16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1667">
                                            <p:txEl>
                                              <p:pRg st="7" end="7"/>
                                            </p:txEl>
                                          </p:spTgt>
                                        </p:tgtEl>
                                        <p:attrNameLst>
                                          <p:attrName>style.visibility</p:attrName>
                                        </p:attrNameLst>
                                      </p:cBhvr>
                                      <p:to>
                                        <p:strVal val="visible"/>
                                      </p:to>
                                    </p:set>
                                    <p:anim calcmode="lin" valueType="num">
                                      <p:cBhvr additive="base">
                                        <p:cTn id="49" dur="500" fill="hold"/>
                                        <p:tgtEl>
                                          <p:spTgt spid="24166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4166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41667">
                                            <p:txEl>
                                              <p:pRg st="8" end="8"/>
                                            </p:txEl>
                                          </p:spTgt>
                                        </p:tgtEl>
                                        <p:attrNameLst>
                                          <p:attrName>style.visibility</p:attrName>
                                        </p:attrNameLst>
                                      </p:cBhvr>
                                      <p:to>
                                        <p:strVal val="visible"/>
                                      </p:to>
                                    </p:set>
                                    <p:anim calcmode="lin" valueType="num">
                                      <p:cBhvr additive="base">
                                        <p:cTn id="55" dur="500" fill="hold"/>
                                        <p:tgtEl>
                                          <p:spTgt spid="241667">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4166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41667">
                                            <p:txEl>
                                              <p:pRg st="9" end="9"/>
                                            </p:txEl>
                                          </p:spTgt>
                                        </p:tgtEl>
                                        <p:attrNameLst>
                                          <p:attrName>style.visibility</p:attrName>
                                        </p:attrNameLst>
                                      </p:cBhvr>
                                      <p:to>
                                        <p:strVal val="visible"/>
                                      </p:to>
                                    </p:set>
                                    <p:anim calcmode="lin" valueType="num">
                                      <p:cBhvr additive="base">
                                        <p:cTn id="61" dur="500" fill="hold"/>
                                        <p:tgtEl>
                                          <p:spTgt spid="241667">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41667">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build="p" autoUpdateAnimBg="0" advAuto="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5.6 MRP</a:t>
            </a:r>
            <a:r>
              <a:rPr lang="zh-CN" altLang="en-US" sz="3600" b="1" dirty="0" smtClean="0">
                <a:solidFill>
                  <a:srgbClr val="FF0000"/>
                </a:solidFill>
                <a:effectLst>
                  <a:outerShdw blurRad="38100" dist="38100" dir="2700000" algn="tl">
                    <a:srgbClr val="C0C0C0"/>
                  </a:outerShdw>
                </a:effectLst>
                <a:latin typeface="Times New Roman" pitchFamily="18" charset="0"/>
              </a:rPr>
              <a:t>的报表运算</a:t>
            </a:r>
          </a:p>
        </p:txBody>
      </p:sp>
      <p:sp>
        <p:nvSpPr>
          <p:cNvPr id="242691" name="Rectangle 3"/>
          <p:cNvSpPr>
            <a:spLocks noGrp="1" noChangeArrowheads="1"/>
          </p:cNvSpPr>
          <p:nvPr>
            <p:ph type="body" idx="1"/>
          </p:nvPr>
        </p:nvSpPr>
        <p:spPr>
          <a:xfrm>
            <a:off x="457200" y="1447800"/>
            <a:ext cx="8534400" cy="49530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表体栏目：</a:t>
            </a:r>
          </a:p>
          <a:p>
            <a:pPr lvl="1" eaLnBrk="1" hangingPunct="1">
              <a:lnSpc>
                <a:spcPct val="150000"/>
              </a:lnSpc>
              <a:spcBef>
                <a:spcPct val="0"/>
              </a:spcBef>
              <a:buClr>
                <a:schemeClr val="tx1"/>
              </a:buClr>
              <a:buFont typeface="Marlett" pitchFamily="2" charset="2"/>
              <a:buChar char="2"/>
            </a:pPr>
            <a:r>
              <a:rPr lang="en-US" altLang="zh-CN" sz="2400" smtClean="0">
                <a:latin typeface="Times New Roman" panose="02020603050405020304" pitchFamily="18" charset="0"/>
              </a:rPr>
              <a:t>MRP</a:t>
            </a:r>
            <a:r>
              <a:rPr lang="zh-CN" altLang="en-US" sz="2400" smtClean="0">
                <a:latin typeface="Times New Roman" panose="02020603050405020304" pitchFamily="18" charset="0"/>
              </a:rPr>
              <a:t>报表一般仅反映单一物料</a:t>
            </a:r>
          </a:p>
          <a:p>
            <a:pPr lvl="1" eaLnBrk="1" hangingPunct="1">
              <a:lnSpc>
                <a:spcPct val="150000"/>
              </a:lnSpc>
              <a:spcBef>
                <a:spcPct val="0"/>
              </a:spcBef>
              <a:buClr>
                <a:schemeClr val="tx1"/>
              </a:buClr>
              <a:buFont typeface="Marlett" pitchFamily="2" charset="2"/>
              <a:buChar char="2"/>
            </a:pPr>
            <a:r>
              <a:rPr lang="zh-CN" altLang="en-US" sz="2400" smtClean="0">
                <a:latin typeface="Times New Roman" panose="02020603050405020304" pitchFamily="18" charset="0"/>
              </a:rPr>
              <a:t>也可以把多个产品和多种物料合并在同一张报表中，可以物料之间的结构和数量关系。</a:t>
            </a:r>
          </a:p>
          <a:p>
            <a:pPr lvl="2" eaLnBrk="1" hangingPunct="1">
              <a:lnSpc>
                <a:spcPct val="150000"/>
              </a:lnSpc>
              <a:spcBef>
                <a:spcPct val="0"/>
              </a:spcBef>
              <a:buClr>
                <a:schemeClr val="tx1"/>
              </a:buClr>
              <a:buFont typeface="Marlett" pitchFamily="2" charset="2"/>
              <a:buChar char="2"/>
            </a:pPr>
            <a:r>
              <a:rPr lang="zh-CN" altLang="en-US" sz="2000" smtClean="0">
                <a:latin typeface="Times New Roman" panose="02020603050405020304" pitchFamily="18" charset="0"/>
              </a:rPr>
              <a:t>相对复杂</a:t>
            </a:r>
          </a:p>
        </p:txBody>
      </p:sp>
      <p:sp>
        <p:nvSpPr>
          <p:cNvPr id="2970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 calcmode="lin" valueType="num">
                                      <p:cBhvr additive="base">
                                        <p:cTn id="7" dur="500" fill="hold"/>
                                        <p:tgtEl>
                                          <p:spTgt spid="2426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26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2691">
                                            <p:txEl>
                                              <p:pRg st="1" end="1"/>
                                            </p:txEl>
                                          </p:spTgt>
                                        </p:tgtEl>
                                        <p:attrNameLst>
                                          <p:attrName>style.visibility</p:attrName>
                                        </p:attrNameLst>
                                      </p:cBhvr>
                                      <p:to>
                                        <p:strVal val="visible"/>
                                      </p:to>
                                    </p:set>
                                    <p:anim calcmode="lin" valueType="num">
                                      <p:cBhvr additive="base">
                                        <p:cTn id="13" dur="500" fill="hold"/>
                                        <p:tgtEl>
                                          <p:spTgt spid="2426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26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2691">
                                            <p:txEl>
                                              <p:pRg st="2" end="2"/>
                                            </p:txEl>
                                          </p:spTgt>
                                        </p:tgtEl>
                                        <p:attrNameLst>
                                          <p:attrName>style.visibility</p:attrName>
                                        </p:attrNameLst>
                                      </p:cBhvr>
                                      <p:to>
                                        <p:strVal val="visible"/>
                                      </p:to>
                                    </p:set>
                                    <p:anim calcmode="lin" valueType="num">
                                      <p:cBhvr additive="base">
                                        <p:cTn id="19" dur="500" fill="hold"/>
                                        <p:tgtEl>
                                          <p:spTgt spid="2426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26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2691">
                                            <p:txEl>
                                              <p:pRg st="3" end="3"/>
                                            </p:txEl>
                                          </p:spTgt>
                                        </p:tgtEl>
                                        <p:attrNameLst>
                                          <p:attrName>style.visibility</p:attrName>
                                        </p:attrNameLst>
                                      </p:cBhvr>
                                      <p:to>
                                        <p:strVal val="visible"/>
                                      </p:to>
                                    </p:set>
                                    <p:anim calcmode="lin" valueType="num">
                                      <p:cBhvr additive="base">
                                        <p:cTn id="25" dur="500" fill="hold"/>
                                        <p:tgtEl>
                                          <p:spTgt spid="2426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269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autoUpdateAnimBg="0" advAuto="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3"/>
          <p:cNvSpPr>
            <a:spLocks noGrp="1" noChangeArrowheads="1"/>
          </p:cNvSpPr>
          <p:nvPr>
            <p:ph type="body" sz="half" idx="1"/>
          </p:nvPr>
        </p:nvSpPr>
        <p:spPr>
          <a:xfrm>
            <a:off x="457200" y="1371600"/>
            <a:ext cx="8382000" cy="9906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示例</a:t>
            </a:r>
            <a:r>
              <a:rPr lang="zh-CN" altLang="en-US" sz="2800" smtClean="0">
                <a:latin typeface="Times New Roman" panose="02020603050405020304" pitchFamily="18" charset="0"/>
              </a:rPr>
              <a:t>：</a:t>
            </a:r>
          </a:p>
        </p:txBody>
      </p:sp>
      <p:sp>
        <p:nvSpPr>
          <p:cNvPr id="30723"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30724" name="Object 8"/>
          <p:cNvGraphicFramePr>
            <a:graphicFrameLocks noGrp="1" noChangeAspect="1"/>
          </p:cNvGraphicFramePr>
          <p:nvPr>
            <p:ph sz="half" idx="2"/>
          </p:nvPr>
        </p:nvGraphicFramePr>
        <p:xfrm>
          <a:off x="381000" y="2590800"/>
          <a:ext cx="8399463" cy="2647950"/>
        </p:xfrm>
        <a:graphic>
          <a:graphicData uri="http://schemas.openxmlformats.org/presentationml/2006/ole">
            <mc:AlternateContent xmlns:mc="http://schemas.openxmlformats.org/markup-compatibility/2006">
              <mc:Choice xmlns:v="urn:schemas-microsoft-com:vml" Requires="v">
                <p:oleObj spid="_x0000_s30741" name="Visio" r:id="rId3" imgW="6730594" imgH="1942795" progId="Visio.Drawing.11">
                  <p:embed/>
                </p:oleObj>
              </mc:Choice>
              <mc:Fallback>
                <p:oleObj name="Visio" r:id="rId3" imgW="6730594" imgH="1942795" progId="Visio.Drawing.11">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590800"/>
                        <a:ext cx="8399463" cy="26479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3723" name="Rectangle 11"/>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5.6 MRP</a:t>
            </a:r>
            <a:r>
              <a:rPr lang="zh-CN" altLang="en-US" sz="3600" b="1" dirty="0" smtClean="0">
                <a:solidFill>
                  <a:srgbClr val="FF0000"/>
                </a:solidFill>
                <a:effectLst>
                  <a:outerShdw blurRad="38100" dist="38100" dir="2700000" algn="tl">
                    <a:srgbClr val="C0C0C0"/>
                  </a:outerShdw>
                </a:effectLst>
                <a:latin typeface="Times New Roman" pitchFamily="18" charset="0"/>
              </a:rPr>
              <a:t>的报表运算</a:t>
            </a:r>
          </a:p>
        </p:txBody>
      </p:sp>
      <p:sp>
        <p:nvSpPr>
          <p:cNvPr id="30726" name="AutoShape 12"/>
          <p:cNvSpPr>
            <a:spLocks noChangeArrowheads="1"/>
          </p:cNvSpPr>
          <p:nvPr/>
        </p:nvSpPr>
        <p:spPr bwMode="auto">
          <a:xfrm>
            <a:off x="4152900" y="4343400"/>
            <a:ext cx="1143000" cy="457200"/>
          </a:xfrm>
          <a:prstGeom prst="wedgeRoundRectCallout">
            <a:avLst>
              <a:gd name="adj1" fmla="val -32361"/>
              <a:gd name="adj2" fmla="val -2431"/>
              <a:gd name="adj3" fmla="val 16667"/>
            </a:avLst>
          </a:prstGeom>
          <a:solidFill>
            <a:srgbClr val="FFCC00"/>
          </a:solidFill>
          <a:ln>
            <a:noFill/>
          </a:ln>
          <a:extLst>
            <a:ext uri="{91240B29-F687-4F45-9708-019B960494DF}">
              <a14:hiddenLine xmlns:a14="http://schemas.microsoft.com/office/drawing/2010/main" w="28575" cap="rnd" algn="ctr">
                <a:solidFill>
                  <a:srgbClr val="000000"/>
                </a:solidFill>
                <a:prstDash val="sysDot"/>
                <a:miter lim="800000"/>
                <a:headEnd/>
                <a:tailEnd/>
              </a14:hiddenLine>
            </a:ext>
          </a:extLst>
        </p:spPr>
        <p:txBody>
          <a:bodyPr lIns="90000" rIns="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b="1"/>
              <a:t>MRP</a:t>
            </a:r>
          </a:p>
        </p:txBody>
      </p:sp>
      <p:sp>
        <p:nvSpPr>
          <p:cNvPr id="30727" name="AutoShape 13"/>
          <p:cNvSpPr>
            <a:spLocks noChangeArrowheads="1"/>
          </p:cNvSpPr>
          <p:nvPr/>
        </p:nvSpPr>
        <p:spPr bwMode="auto">
          <a:xfrm>
            <a:off x="4152900" y="2590800"/>
            <a:ext cx="1143000" cy="457200"/>
          </a:xfrm>
          <a:prstGeom prst="wedgeRoundRectCallout">
            <a:avLst>
              <a:gd name="adj1" fmla="val -34583"/>
              <a:gd name="adj2" fmla="val -47917"/>
              <a:gd name="adj3" fmla="val 16667"/>
            </a:avLst>
          </a:prstGeom>
          <a:solidFill>
            <a:srgbClr val="FFCC00"/>
          </a:solidFill>
          <a:ln>
            <a:noFill/>
          </a:ln>
          <a:extLst>
            <a:ext uri="{91240B29-F687-4F45-9708-019B960494DF}">
              <a14:hiddenLine xmlns:a14="http://schemas.microsoft.com/office/drawing/2010/main" w="28575" cap="rnd" algn="ctr">
                <a:solidFill>
                  <a:srgbClr val="000000"/>
                </a:solidFill>
                <a:prstDash val="sysDot"/>
                <a:miter lim="800000"/>
                <a:headEnd/>
                <a:tailEnd/>
              </a14:hiddenLine>
            </a:ext>
          </a:extLst>
        </p:spPr>
        <p:txBody>
          <a:bodyPr lIns="90000" rIns="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b="1"/>
              <a:t>MPS </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5.6 MRP</a:t>
            </a:r>
            <a:r>
              <a:rPr lang="zh-CN" altLang="en-US" sz="3600" b="1" dirty="0" smtClean="0">
                <a:solidFill>
                  <a:srgbClr val="FF0000"/>
                </a:solidFill>
                <a:effectLst>
                  <a:outerShdw blurRad="38100" dist="38100" dir="2700000" algn="tl">
                    <a:srgbClr val="C0C0C0"/>
                  </a:outerShdw>
                </a:effectLst>
                <a:latin typeface="Times New Roman" pitchFamily="18" charset="0"/>
              </a:rPr>
              <a:t>的报表运算</a:t>
            </a:r>
          </a:p>
        </p:txBody>
      </p:sp>
      <p:sp>
        <p:nvSpPr>
          <p:cNvPr id="222211"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示例</a:t>
            </a:r>
            <a:r>
              <a:rPr lang="zh-CN" altLang="en-US" sz="2800" smtClean="0">
                <a:latin typeface="Times New Roman" panose="02020603050405020304" pitchFamily="18" charset="0"/>
              </a:rPr>
              <a:t>：</a:t>
            </a:r>
          </a:p>
        </p:txBody>
      </p:sp>
      <p:sp>
        <p:nvSpPr>
          <p:cNvPr id="3174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pic>
        <p:nvPicPr>
          <p:cNvPr id="3" name="图片 2"/>
          <p:cNvPicPr>
            <a:picLocks noChangeAspect="1"/>
          </p:cNvPicPr>
          <p:nvPr/>
        </p:nvPicPr>
        <p:blipFill>
          <a:blip r:embed="rId2"/>
          <a:stretch>
            <a:fillRect/>
          </a:stretch>
        </p:blipFill>
        <p:spPr>
          <a:xfrm>
            <a:off x="572677" y="-24684"/>
            <a:ext cx="7998645" cy="69073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22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22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0" grpId="0"/>
      <p:bldP spid="22221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85800" y="0"/>
            <a:ext cx="8077200" cy="533400"/>
          </a:xfrm>
        </p:spPr>
        <p:txBody>
          <a:bodyPr/>
          <a:lstStyle/>
          <a:p>
            <a:pPr eaLnBrk="1" hangingPunct="1"/>
            <a:r>
              <a:rPr lang="zh-CN" altLang="en-US" sz="1600" b="1" smtClean="0">
                <a:solidFill>
                  <a:srgbClr val="FFFF00"/>
                </a:solidFill>
              </a:rPr>
              <a:t>生产计划体系</a:t>
            </a:r>
          </a:p>
        </p:txBody>
      </p:sp>
      <p:sp>
        <p:nvSpPr>
          <p:cNvPr id="2" name="内容占位符 1"/>
          <p:cNvSpPr>
            <a:spLocks noGrp="1"/>
          </p:cNvSpPr>
          <p:nvPr>
            <p:ph idx="1"/>
          </p:nvPr>
        </p:nvSpPr>
        <p:spPr/>
        <p:txBody>
          <a:bodyPr/>
          <a:lstStyle/>
          <a:p>
            <a:pPr>
              <a:defRPr/>
            </a:pPr>
            <a:r>
              <a:rPr lang="zh-CN" altLang="en-US" b="1" dirty="0" smtClean="0">
                <a:solidFill>
                  <a:schemeClr val="bg2">
                    <a:lumMod val="60000"/>
                    <a:lumOff val="40000"/>
                  </a:schemeClr>
                </a:solidFill>
              </a:rPr>
              <a:t>思考</a:t>
            </a:r>
            <a:r>
              <a:rPr lang="zh-CN" altLang="en-US" b="1" dirty="0">
                <a:solidFill>
                  <a:schemeClr val="bg2">
                    <a:lumMod val="60000"/>
                    <a:lumOff val="40000"/>
                  </a:schemeClr>
                </a:solidFill>
              </a:rPr>
              <a:t>：</a:t>
            </a:r>
            <a:r>
              <a:rPr lang="zh-CN" altLang="en-US" b="1" dirty="0" smtClean="0">
                <a:solidFill>
                  <a:schemeClr val="bg2">
                    <a:lumMod val="60000"/>
                    <a:lumOff val="40000"/>
                  </a:schemeClr>
                </a:solidFill>
              </a:rPr>
              <a:t>计算中存在的问题</a:t>
            </a:r>
            <a:endParaRPr lang="en-US" altLang="zh-CN" b="1" dirty="0" smtClean="0">
              <a:solidFill>
                <a:schemeClr val="bg2">
                  <a:lumMod val="60000"/>
                  <a:lumOff val="40000"/>
                </a:schemeClr>
              </a:solidFill>
            </a:endParaRPr>
          </a:p>
          <a:p>
            <a:pPr lvl="1">
              <a:lnSpc>
                <a:spcPct val="150000"/>
              </a:lnSpc>
              <a:defRPr/>
            </a:pPr>
            <a:r>
              <a:rPr lang="zh-CN" altLang="en-US" dirty="0" smtClean="0"/>
              <a:t>实际生产</a:t>
            </a:r>
            <a:r>
              <a:rPr lang="en-US" altLang="zh-CN" dirty="0" smtClean="0"/>
              <a:t>/</a:t>
            </a:r>
            <a:r>
              <a:rPr lang="zh-CN" altLang="en-US" dirty="0" smtClean="0"/>
              <a:t>搬运中存在损耗怎么办？</a:t>
            </a:r>
          </a:p>
          <a:p>
            <a:pPr lvl="1">
              <a:lnSpc>
                <a:spcPct val="150000"/>
              </a:lnSpc>
              <a:defRPr/>
            </a:pPr>
            <a:r>
              <a:rPr lang="zh-CN" altLang="en-US" dirty="0" smtClean="0"/>
              <a:t>安全库存如何设置？</a:t>
            </a:r>
            <a:endParaRPr lang="en-US" altLang="zh-CN" dirty="0" smtClean="0"/>
          </a:p>
          <a:p>
            <a:pPr lvl="1">
              <a:lnSpc>
                <a:spcPct val="150000"/>
              </a:lnSpc>
              <a:defRPr/>
            </a:pPr>
            <a:r>
              <a:rPr lang="zh-CN" altLang="en-US" dirty="0" smtClean="0"/>
              <a:t>批量大小如何设置？</a:t>
            </a:r>
            <a:endParaRPr lang="en-US" altLang="zh-CN" dirty="0" smtClean="0"/>
          </a:p>
        </p:txBody>
      </p:sp>
      <p:sp>
        <p:nvSpPr>
          <p:cNvPr id="4" name="Rectangle 2"/>
          <p:cNvSpPr txBox="1">
            <a:spLocks noChangeArrowheads="1"/>
          </p:cNvSpPr>
          <p:nvPr/>
        </p:nvSpPr>
        <p:spPr bwMode="auto">
          <a:xfrm>
            <a:off x="304800" y="6858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smtClean="0">
                <a:solidFill>
                  <a:srgbClr val="FF0000"/>
                </a:solidFill>
                <a:effectLst>
                  <a:outerShdw blurRad="38100" dist="38100" dir="2700000" algn="tl">
                    <a:srgbClr val="C0C0C0"/>
                  </a:outerShdw>
                </a:effectLst>
                <a:latin typeface="Times New Roman" pitchFamily="18" charset="0"/>
              </a:rPr>
              <a:t>5.6 MRP</a:t>
            </a:r>
            <a:r>
              <a:rPr lang="zh-CN" altLang="en-US" sz="3600" b="1" kern="0" dirty="0" smtClean="0">
                <a:solidFill>
                  <a:srgbClr val="FF0000"/>
                </a:solidFill>
                <a:effectLst>
                  <a:outerShdw blurRad="38100" dist="38100" dir="2700000" algn="tl">
                    <a:srgbClr val="C0C0C0"/>
                  </a:outerShdw>
                </a:effectLst>
                <a:latin typeface="Times New Roman" pitchFamily="18" charset="0"/>
              </a:rPr>
              <a:t>的报表运算</a:t>
            </a:r>
          </a:p>
        </p:txBody>
      </p:sp>
    </p:spTree>
    <p:extLst>
      <p:ext uri="{BB962C8B-B14F-4D97-AF65-F5344CB8AC3E}">
        <p14:creationId xmlns:p14="http://schemas.microsoft.com/office/powerpoint/2010/main" val="7624158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5.7 MRP</a:t>
            </a:r>
            <a:r>
              <a:rPr lang="zh-CN" altLang="en-US" sz="3600" b="1" dirty="0" smtClean="0">
                <a:solidFill>
                  <a:srgbClr val="FF0000"/>
                </a:solidFill>
                <a:effectLst>
                  <a:outerShdw blurRad="38100" dist="38100" dir="2700000" algn="tl">
                    <a:srgbClr val="C0C0C0"/>
                  </a:outerShdw>
                </a:effectLst>
                <a:latin typeface="Times New Roman" pitchFamily="18" charset="0"/>
              </a:rPr>
              <a:t>的策略因素</a:t>
            </a:r>
          </a:p>
        </p:txBody>
      </p:sp>
      <p:sp>
        <p:nvSpPr>
          <p:cNvPr id="210947" name="Rectangle 3"/>
          <p:cNvSpPr>
            <a:spLocks noGrp="1" noChangeArrowheads="1"/>
          </p:cNvSpPr>
          <p:nvPr>
            <p:ph type="body" idx="1"/>
          </p:nvPr>
        </p:nvSpPr>
        <p:spPr>
          <a:xfrm>
            <a:off x="457200" y="1447800"/>
            <a:ext cx="8229600" cy="52578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策略因素</a:t>
            </a:r>
            <a:r>
              <a:rPr lang="zh-CN" altLang="en-US" sz="2800" smtClean="0">
                <a:latin typeface="Times New Roman" panose="02020603050405020304" pitchFamily="18" charset="0"/>
              </a:rPr>
              <a:t>：采购</a:t>
            </a:r>
            <a:r>
              <a:rPr lang="en-US" altLang="zh-CN" sz="2800" smtClean="0">
                <a:latin typeface="Times New Roman" panose="02020603050405020304" pitchFamily="18" charset="0"/>
              </a:rPr>
              <a:t>/</a:t>
            </a:r>
            <a:r>
              <a:rPr lang="zh-CN" altLang="en-US" sz="2800" smtClean="0">
                <a:latin typeface="Times New Roman" panose="02020603050405020304" pitchFamily="18" charset="0"/>
              </a:rPr>
              <a:t>制造标识、提前期、安全库存、损耗率、批量政策。</a:t>
            </a:r>
          </a:p>
          <a:p>
            <a:pPr lvl="1" eaLnBrk="1" hangingPunct="1">
              <a:lnSpc>
                <a:spcPct val="150000"/>
              </a:lnSpc>
              <a:spcBef>
                <a:spcPct val="0"/>
              </a:spcBef>
              <a:buClr>
                <a:schemeClr val="tx1"/>
              </a:buClr>
              <a:buFont typeface="Marlett" pitchFamily="2" charset="2"/>
              <a:buChar char="2"/>
            </a:pPr>
            <a:r>
              <a:rPr lang="zh-CN" altLang="en-US" sz="2400" b="1" smtClean="0">
                <a:latin typeface="Times New Roman" panose="02020603050405020304" pitchFamily="18" charset="0"/>
              </a:rPr>
              <a:t>采购</a:t>
            </a:r>
            <a:r>
              <a:rPr lang="en-US" altLang="zh-CN" sz="2400" b="1" smtClean="0">
                <a:latin typeface="Times New Roman" panose="02020603050405020304" pitchFamily="18" charset="0"/>
              </a:rPr>
              <a:t>/</a:t>
            </a:r>
            <a:r>
              <a:rPr lang="zh-CN" altLang="en-US" sz="2400" b="1" smtClean="0">
                <a:latin typeface="Times New Roman" panose="02020603050405020304" pitchFamily="18" charset="0"/>
              </a:rPr>
              <a:t>制造标识码</a:t>
            </a:r>
            <a:r>
              <a:rPr lang="zh-CN" altLang="en-US" sz="2400" smtClean="0">
                <a:latin typeface="Times New Roman" panose="02020603050405020304" pitchFamily="18" charset="0"/>
              </a:rPr>
              <a:t>：属于库存文件中的一个项目，通常用字母</a:t>
            </a:r>
            <a:r>
              <a:rPr lang="en-US" altLang="zh-CN" sz="2400" smtClean="0">
                <a:latin typeface="Times New Roman" panose="02020603050405020304" pitchFamily="18" charset="0"/>
              </a:rPr>
              <a:t>P/M</a:t>
            </a:r>
            <a:r>
              <a:rPr lang="zh-CN" altLang="en-US" sz="2400" smtClean="0">
                <a:latin typeface="Times New Roman" panose="02020603050405020304" pitchFamily="18" charset="0"/>
              </a:rPr>
              <a:t>来表示物料是采购还是制造，决定是做采购订单还是制造订单。</a:t>
            </a:r>
          </a:p>
          <a:p>
            <a:pPr lvl="1" eaLnBrk="1" hangingPunct="1">
              <a:lnSpc>
                <a:spcPct val="150000"/>
              </a:lnSpc>
              <a:spcBef>
                <a:spcPct val="0"/>
              </a:spcBef>
              <a:buClr>
                <a:schemeClr val="tx1"/>
              </a:buClr>
              <a:buFont typeface="Marlett" pitchFamily="2" charset="2"/>
              <a:buChar char="2"/>
            </a:pPr>
            <a:r>
              <a:rPr lang="zh-CN" altLang="en-US" sz="2400" b="1" smtClean="0">
                <a:latin typeface="Times New Roman" panose="02020603050405020304" pitchFamily="18" charset="0"/>
              </a:rPr>
              <a:t>提前期</a:t>
            </a:r>
            <a:r>
              <a:rPr lang="zh-CN" altLang="en-US" sz="2400" smtClean="0">
                <a:latin typeface="Times New Roman" panose="02020603050405020304" pitchFamily="18" charset="0"/>
              </a:rPr>
              <a:t>：采购提前期、生产加工提前期、</a:t>
            </a:r>
            <a:r>
              <a:rPr lang="en-US" altLang="zh-CN" sz="2400" smtClean="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zh-CN" altLang="en-US" sz="2400" b="1" smtClean="0">
                <a:latin typeface="Times New Roman" panose="02020603050405020304" pitchFamily="18" charset="0"/>
              </a:rPr>
              <a:t>安全库存</a:t>
            </a:r>
            <a:r>
              <a:rPr lang="zh-CN" altLang="en-US" sz="2400" smtClean="0">
                <a:latin typeface="Times New Roman" panose="02020603050405020304" pitchFamily="18" charset="0"/>
              </a:rPr>
              <a:t>：为了预防由于某种原因造成的不可预料的物料短缺，而在库存中保存一定数量的项目。</a:t>
            </a:r>
          </a:p>
        </p:txBody>
      </p:sp>
      <p:sp>
        <p:nvSpPr>
          <p:cNvPr id="1229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263044721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0947">
                                            <p:txEl>
                                              <p:pRg st="0" end="0"/>
                                            </p:txEl>
                                          </p:spTgt>
                                        </p:tgtEl>
                                        <p:attrNameLst>
                                          <p:attrName>style.visibility</p:attrName>
                                        </p:attrNameLst>
                                      </p:cBhvr>
                                      <p:to>
                                        <p:strVal val="visible"/>
                                      </p:to>
                                    </p:set>
                                    <p:anim calcmode="lin" valueType="num">
                                      <p:cBhvr additive="base">
                                        <p:cTn id="7" dur="500" fill="hold"/>
                                        <p:tgtEl>
                                          <p:spTgt spid="2109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09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0947">
                                            <p:txEl>
                                              <p:pRg st="1" end="1"/>
                                            </p:txEl>
                                          </p:spTgt>
                                        </p:tgtEl>
                                        <p:attrNameLst>
                                          <p:attrName>style.visibility</p:attrName>
                                        </p:attrNameLst>
                                      </p:cBhvr>
                                      <p:to>
                                        <p:strVal val="visible"/>
                                      </p:to>
                                    </p:set>
                                    <p:anim calcmode="lin" valueType="num">
                                      <p:cBhvr additive="base">
                                        <p:cTn id="13" dur="500" fill="hold"/>
                                        <p:tgtEl>
                                          <p:spTgt spid="2109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09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0947">
                                            <p:txEl>
                                              <p:pRg st="2" end="2"/>
                                            </p:txEl>
                                          </p:spTgt>
                                        </p:tgtEl>
                                        <p:attrNameLst>
                                          <p:attrName>style.visibility</p:attrName>
                                        </p:attrNameLst>
                                      </p:cBhvr>
                                      <p:to>
                                        <p:strVal val="visible"/>
                                      </p:to>
                                    </p:set>
                                    <p:anim calcmode="lin" valueType="num">
                                      <p:cBhvr additive="base">
                                        <p:cTn id="19" dur="500" fill="hold"/>
                                        <p:tgtEl>
                                          <p:spTgt spid="2109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09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0947">
                                            <p:txEl>
                                              <p:pRg st="3" end="3"/>
                                            </p:txEl>
                                          </p:spTgt>
                                        </p:tgtEl>
                                        <p:attrNameLst>
                                          <p:attrName>style.visibility</p:attrName>
                                        </p:attrNameLst>
                                      </p:cBhvr>
                                      <p:to>
                                        <p:strVal val="visible"/>
                                      </p:to>
                                    </p:set>
                                    <p:anim calcmode="lin" valueType="num">
                                      <p:cBhvr additive="base">
                                        <p:cTn id="25" dur="500" fill="hold"/>
                                        <p:tgtEl>
                                          <p:spTgt spid="2109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094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autoUpdateAnimBg="0" advAuto="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5.7 MRP</a:t>
            </a:r>
            <a:r>
              <a:rPr lang="zh-CN" altLang="en-US" sz="3600" b="1" dirty="0" smtClean="0">
                <a:solidFill>
                  <a:srgbClr val="FF0000"/>
                </a:solidFill>
                <a:effectLst>
                  <a:outerShdw blurRad="38100" dist="38100" dir="2700000" algn="tl">
                    <a:srgbClr val="C0C0C0"/>
                  </a:outerShdw>
                </a:effectLst>
                <a:latin typeface="Times New Roman" pitchFamily="18" charset="0"/>
              </a:rPr>
              <a:t>的策略因素</a:t>
            </a:r>
          </a:p>
        </p:txBody>
      </p:sp>
      <p:sp>
        <p:nvSpPr>
          <p:cNvPr id="211971"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dirty="0" smtClean="0">
                <a:latin typeface="Times New Roman" panose="02020603050405020304" pitchFamily="18" charset="0"/>
              </a:rPr>
              <a:t>损耗率</a:t>
            </a:r>
            <a:r>
              <a:rPr lang="zh-CN" altLang="en-US" sz="2800" dirty="0" smtClean="0">
                <a:latin typeface="Times New Roman" panose="02020603050405020304" pitchFamily="18" charset="0"/>
              </a:rPr>
              <a:t>：各种环节有各种各样的损耗，计算物料需求时，要考虑到各种损耗系数。</a:t>
            </a:r>
          </a:p>
          <a:p>
            <a:pPr lvl="1" eaLnBrk="1" hangingPunct="1">
              <a:lnSpc>
                <a:spcPct val="150000"/>
              </a:lnSpc>
              <a:spcBef>
                <a:spcPct val="0"/>
              </a:spcBef>
              <a:buClr>
                <a:schemeClr val="tx1"/>
              </a:buClr>
              <a:buFont typeface="Marlett" pitchFamily="2" charset="2"/>
              <a:buChar char="2"/>
            </a:pPr>
            <a:r>
              <a:rPr lang="zh-CN" altLang="en-US" sz="2400" b="1" dirty="0" smtClean="0">
                <a:solidFill>
                  <a:srgbClr val="003366"/>
                </a:solidFill>
                <a:latin typeface="Times New Roman" panose="02020603050405020304" pitchFamily="18" charset="0"/>
              </a:rPr>
              <a:t>组装废品系数</a:t>
            </a:r>
            <a:r>
              <a:rPr lang="zh-CN" altLang="en-US" sz="2400" dirty="0" smtClean="0">
                <a:latin typeface="Times New Roman" panose="02020603050405020304" pitchFamily="18" charset="0"/>
              </a:rPr>
              <a:t>：装配件在装配过程中的零件损耗。</a:t>
            </a:r>
          </a:p>
          <a:p>
            <a:pPr lvl="1" eaLnBrk="1" hangingPunct="1">
              <a:lnSpc>
                <a:spcPct val="150000"/>
              </a:lnSpc>
              <a:spcBef>
                <a:spcPct val="0"/>
              </a:spcBef>
              <a:buClr>
                <a:schemeClr val="tx1"/>
              </a:buClr>
              <a:buFont typeface="Marlett" pitchFamily="2" charset="2"/>
              <a:buChar char="2"/>
            </a:pPr>
            <a:r>
              <a:rPr lang="zh-CN" altLang="en-US" sz="2400" dirty="0" smtClean="0">
                <a:latin typeface="Times New Roman" panose="02020603050405020304" pitchFamily="18" charset="0"/>
              </a:rPr>
              <a:t>例：装配产品</a:t>
            </a:r>
            <a:r>
              <a:rPr lang="en-US" altLang="zh-CN" sz="2400" dirty="0" smtClean="0">
                <a:latin typeface="Times New Roman" panose="02020603050405020304" pitchFamily="18" charset="0"/>
              </a:rPr>
              <a:t>A</a:t>
            </a:r>
            <a:r>
              <a:rPr lang="zh-CN" altLang="en-US" sz="2400" dirty="0" smtClean="0">
                <a:latin typeface="Times New Roman" panose="02020603050405020304" pitchFamily="18" charset="0"/>
              </a:rPr>
              <a:t>时，估计有</a:t>
            </a:r>
            <a:r>
              <a:rPr lang="en-US" altLang="zh-CN" sz="2400" dirty="0" smtClean="0">
                <a:latin typeface="Times New Roman" panose="02020603050405020304" pitchFamily="18" charset="0"/>
              </a:rPr>
              <a:t>5%</a:t>
            </a:r>
            <a:r>
              <a:rPr lang="zh-CN" altLang="en-US" sz="2400" dirty="0" smtClean="0">
                <a:latin typeface="Times New Roman" panose="02020603050405020304" pitchFamily="18" charset="0"/>
              </a:rPr>
              <a:t>的玻璃管损坏，因此，在计算生产</a:t>
            </a:r>
            <a:r>
              <a:rPr lang="en-US" altLang="zh-CN" sz="2400" dirty="0" smtClean="0">
                <a:latin typeface="Times New Roman" panose="02020603050405020304" pitchFamily="18" charset="0"/>
              </a:rPr>
              <a:t>A</a:t>
            </a:r>
            <a:r>
              <a:rPr lang="zh-CN" altLang="en-US" sz="2400" dirty="0" smtClean="0">
                <a:latin typeface="Times New Roman" panose="02020603050405020304" pitchFamily="18" charset="0"/>
              </a:rPr>
              <a:t>所需的玻璃管毛需求时要增加损耗部分，如装配</a:t>
            </a:r>
            <a:r>
              <a:rPr lang="en-US" altLang="zh-CN" sz="2400" dirty="0" smtClean="0">
                <a:latin typeface="Times New Roman" panose="02020603050405020304" pitchFamily="18" charset="0"/>
              </a:rPr>
              <a:t>100</a:t>
            </a:r>
            <a:r>
              <a:rPr lang="zh-CN" altLang="en-US" sz="2400" dirty="0" smtClean="0">
                <a:latin typeface="Times New Roman" panose="02020603050405020304" pitchFamily="18" charset="0"/>
              </a:rPr>
              <a:t>件</a:t>
            </a:r>
            <a:r>
              <a:rPr lang="en-US" altLang="zh-CN" sz="2400" dirty="0" smtClean="0">
                <a:latin typeface="Times New Roman" panose="02020603050405020304" pitchFamily="18" charset="0"/>
              </a:rPr>
              <a:t>A</a:t>
            </a:r>
            <a:r>
              <a:rPr lang="zh-CN" altLang="en-US" sz="2400" dirty="0" smtClean="0">
                <a:latin typeface="Times New Roman" panose="02020603050405020304" pitchFamily="18" charset="0"/>
              </a:rPr>
              <a:t>，则玻璃管毛需求为</a:t>
            </a:r>
            <a:r>
              <a:rPr lang="en-US" altLang="zh-CN" sz="2400" dirty="0" smtClean="0">
                <a:latin typeface="Times New Roman" panose="02020603050405020304" pitchFamily="18" charset="0"/>
              </a:rPr>
              <a:t>100*105%</a:t>
            </a:r>
            <a:r>
              <a:rPr lang="zh-CN" altLang="en-US" sz="2400" dirty="0" smtClean="0">
                <a:latin typeface="Times New Roman" panose="02020603050405020304" pitchFamily="18" charset="0"/>
              </a:rPr>
              <a:t>。</a:t>
            </a:r>
          </a:p>
        </p:txBody>
      </p:sp>
      <p:sp>
        <p:nvSpPr>
          <p:cNvPr id="1331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10596758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 calcmode="lin" valueType="num">
                                      <p:cBhvr additive="base">
                                        <p:cTn id="7" dur="500" fill="hold"/>
                                        <p:tgtEl>
                                          <p:spTgt spid="211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19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1971">
                                            <p:txEl>
                                              <p:pRg st="1" end="1"/>
                                            </p:txEl>
                                          </p:spTgt>
                                        </p:tgtEl>
                                        <p:attrNameLst>
                                          <p:attrName>style.visibility</p:attrName>
                                        </p:attrNameLst>
                                      </p:cBhvr>
                                      <p:to>
                                        <p:strVal val="visible"/>
                                      </p:to>
                                    </p:set>
                                    <p:anim calcmode="lin" valueType="num">
                                      <p:cBhvr additive="base">
                                        <p:cTn id="13" dur="500" fill="hold"/>
                                        <p:tgtEl>
                                          <p:spTgt spid="2119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19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1971">
                                            <p:txEl>
                                              <p:pRg st="2" end="2"/>
                                            </p:txEl>
                                          </p:spTgt>
                                        </p:tgtEl>
                                        <p:attrNameLst>
                                          <p:attrName>style.visibility</p:attrName>
                                        </p:attrNameLst>
                                      </p:cBhvr>
                                      <p:to>
                                        <p:strVal val="visible"/>
                                      </p:to>
                                    </p:set>
                                    <p:anim calcmode="lin" valueType="num">
                                      <p:cBhvr additive="base">
                                        <p:cTn id="19" dur="500" fill="hold"/>
                                        <p:tgtEl>
                                          <p:spTgt spid="2119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197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build="p" autoUpdateAnimBg="0" advAuto="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5.7 MRP</a:t>
            </a:r>
            <a:r>
              <a:rPr lang="zh-CN" altLang="en-US" sz="3600" b="1" dirty="0" smtClean="0">
                <a:solidFill>
                  <a:srgbClr val="FF0000"/>
                </a:solidFill>
                <a:effectLst>
                  <a:outerShdw blurRad="38100" dist="38100" dir="2700000" algn="tl">
                    <a:srgbClr val="C0C0C0"/>
                  </a:outerShdw>
                </a:effectLst>
                <a:latin typeface="Times New Roman" pitchFamily="18" charset="0"/>
              </a:rPr>
              <a:t>的策略因素</a:t>
            </a:r>
          </a:p>
        </p:txBody>
      </p:sp>
      <p:sp>
        <p:nvSpPr>
          <p:cNvPr id="226307" name="Rectangle 3"/>
          <p:cNvSpPr>
            <a:spLocks noGrp="1" noChangeArrowheads="1"/>
          </p:cNvSpPr>
          <p:nvPr>
            <p:ph type="body" idx="1"/>
          </p:nvPr>
        </p:nvSpPr>
        <p:spPr>
          <a:xfrm>
            <a:off x="457200" y="1447800"/>
            <a:ext cx="8229600" cy="5257800"/>
          </a:xfrm>
        </p:spPr>
        <p:txBody>
          <a:bodyPr/>
          <a:lstStyle/>
          <a:p>
            <a:pPr eaLnBrk="1" hangingPunct="1">
              <a:lnSpc>
                <a:spcPct val="150000"/>
              </a:lnSpc>
              <a:spcBef>
                <a:spcPct val="0"/>
              </a:spcBef>
              <a:buClr>
                <a:schemeClr val="tx1"/>
              </a:buClr>
              <a:buFont typeface="Marlett" pitchFamily="2" charset="2"/>
              <a:buChar char="2"/>
            </a:pPr>
            <a:r>
              <a:rPr lang="zh-CN" altLang="en-US" sz="2800" b="1" dirty="0" smtClean="0">
                <a:latin typeface="Times New Roman" panose="02020603050405020304" pitchFamily="18" charset="0"/>
              </a:rPr>
              <a:t>损耗率</a:t>
            </a:r>
            <a:r>
              <a:rPr lang="zh-CN" altLang="en-US" sz="2800" dirty="0" smtClean="0">
                <a:latin typeface="Times New Roman" panose="02020603050405020304" pitchFamily="18" charset="0"/>
              </a:rPr>
              <a:t>：各种环节有各种各样的损耗，计算物料需求时，要考虑到各种损耗系数。</a:t>
            </a:r>
          </a:p>
          <a:p>
            <a:pPr lvl="1" eaLnBrk="1" hangingPunct="1">
              <a:lnSpc>
                <a:spcPct val="150000"/>
              </a:lnSpc>
              <a:spcBef>
                <a:spcPct val="0"/>
              </a:spcBef>
              <a:buClr>
                <a:schemeClr val="tx1"/>
              </a:buClr>
              <a:buFont typeface="Marlett" pitchFamily="2" charset="2"/>
              <a:buChar char="2"/>
            </a:pPr>
            <a:r>
              <a:rPr lang="zh-CN" altLang="en-US" sz="2400" b="1" dirty="0" smtClean="0">
                <a:solidFill>
                  <a:srgbClr val="003366"/>
                </a:solidFill>
                <a:latin typeface="Times New Roman" panose="02020603050405020304" pitchFamily="18" charset="0"/>
              </a:rPr>
              <a:t>零件废品系数</a:t>
            </a:r>
            <a:r>
              <a:rPr lang="zh-CN" altLang="en-US" sz="2400" dirty="0" smtClean="0">
                <a:latin typeface="Times New Roman" panose="02020603050405020304" pitchFamily="18" charset="0"/>
              </a:rPr>
              <a:t>：对一定数量的订单，预计进入库存时，会有一定百分比的减少，零件废品系数是对订单数量而不是毛需求的调整。</a:t>
            </a:r>
          </a:p>
          <a:p>
            <a:pPr lvl="1" eaLnBrk="1" hangingPunct="1">
              <a:lnSpc>
                <a:spcPct val="140000"/>
              </a:lnSpc>
              <a:spcBef>
                <a:spcPct val="0"/>
              </a:spcBef>
              <a:buClr>
                <a:schemeClr val="tx1"/>
              </a:buClr>
              <a:buFont typeface="Marlett" pitchFamily="2" charset="2"/>
              <a:buChar char="2"/>
            </a:pPr>
            <a:r>
              <a:rPr lang="zh-CN" altLang="en-US" sz="2400" dirty="0" smtClean="0">
                <a:latin typeface="Times New Roman" panose="02020603050405020304" pitchFamily="18" charset="0"/>
              </a:rPr>
              <a:t>例：产品</a:t>
            </a:r>
            <a:r>
              <a:rPr lang="en-US" altLang="zh-CN" sz="2400" dirty="0" smtClean="0">
                <a:latin typeface="Times New Roman" panose="02020603050405020304" pitchFamily="18" charset="0"/>
              </a:rPr>
              <a:t>A</a:t>
            </a:r>
            <a:r>
              <a:rPr lang="zh-CN" altLang="en-US" sz="2400" dirty="0" smtClean="0">
                <a:latin typeface="Times New Roman" panose="02020603050405020304" pitchFamily="18" charset="0"/>
              </a:rPr>
              <a:t>的零件废品系数为</a:t>
            </a:r>
            <a:r>
              <a:rPr lang="en-US" altLang="zh-CN" sz="2400" dirty="0" smtClean="0">
                <a:latin typeface="Times New Roman" panose="02020603050405020304" pitchFamily="18" charset="0"/>
              </a:rPr>
              <a:t>2%</a:t>
            </a:r>
            <a:r>
              <a:rPr lang="zh-CN" altLang="en-US" sz="2400" dirty="0" smtClean="0">
                <a:latin typeface="Times New Roman" panose="02020603050405020304" pitchFamily="18" charset="0"/>
              </a:rPr>
              <a:t>，在组装时的玻璃管的组装废品系数为</a:t>
            </a:r>
            <a:r>
              <a:rPr lang="en-US" altLang="zh-CN" sz="2400" dirty="0" smtClean="0">
                <a:latin typeface="Times New Roman" panose="02020603050405020304" pitchFamily="18" charset="0"/>
              </a:rPr>
              <a:t>5%</a:t>
            </a:r>
            <a:r>
              <a:rPr lang="zh-CN" altLang="en-US" sz="2400" dirty="0" smtClean="0">
                <a:latin typeface="Times New Roman" panose="02020603050405020304" pitchFamily="18" charset="0"/>
              </a:rPr>
              <a:t>。针对该需求制定</a:t>
            </a:r>
            <a:r>
              <a:rPr lang="en-US" altLang="zh-CN" sz="2400" dirty="0" smtClean="0">
                <a:latin typeface="Times New Roman" panose="02020603050405020304" pitchFamily="18" charset="0"/>
              </a:rPr>
              <a:t>MRP</a:t>
            </a:r>
            <a:r>
              <a:rPr lang="zh-CN" altLang="en-US" sz="2400" dirty="0" smtClean="0">
                <a:latin typeface="Times New Roman" panose="02020603050405020304" pitchFamily="18" charset="0"/>
              </a:rPr>
              <a:t>时</a:t>
            </a:r>
          </a:p>
          <a:p>
            <a:pPr lvl="2" eaLnBrk="1" hangingPunct="1">
              <a:lnSpc>
                <a:spcPct val="140000"/>
              </a:lnSpc>
              <a:spcBef>
                <a:spcPct val="0"/>
              </a:spcBef>
              <a:buClr>
                <a:schemeClr val="tx1"/>
              </a:buClr>
              <a:buFont typeface="Marlett" pitchFamily="2" charset="2"/>
              <a:buChar char="2"/>
            </a:pPr>
            <a:r>
              <a:rPr lang="zh-CN" altLang="en-US" sz="2000" dirty="0" smtClean="0">
                <a:latin typeface="Times New Roman" panose="02020603050405020304" pitchFamily="18" charset="0"/>
              </a:rPr>
              <a:t>首先考虑</a:t>
            </a:r>
            <a:r>
              <a:rPr lang="en-US" altLang="zh-CN" sz="2000" dirty="0" smtClean="0">
                <a:latin typeface="Times New Roman" panose="02020603050405020304" pitchFamily="18" charset="0"/>
              </a:rPr>
              <a:t>2%</a:t>
            </a:r>
            <a:r>
              <a:rPr lang="zh-CN" altLang="en-US" sz="2000" dirty="0" smtClean="0">
                <a:latin typeface="Times New Roman" panose="02020603050405020304" pitchFamily="18" charset="0"/>
              </a:rPr>
              <a:t>的零件废品系数，计算产品</a:t>
            </a:r>
            <a:r>
              <a:rPr lang="en-US" altLang="zh-CN" sz="2000" dirty="0" smtClean="0">
                <a:latin typeface="Times New Roman" panose="02020603050405020304" pitchFamily="18" charset="0"/>
              </a:rPr>
              <a:t>A</a:t>
            </a:r>
            <a:r>
              <a:rPr lang="zh-CN" altLang="en-US" sz="2000" dirty="0" smtClean="0">
                <a:latin typeface="Times New Roman" panose="02020603050405020304" pitchFamily="18" charset="0"/>
              </a:rPr>
              <a:t>的订单数量，如</a:t>
            </a:r>
            <a:r>
              <a:rPr lang="en-US" altLang="zh-CN" sz="2000" dirty="0" smtClean="0">
                <a:latin typeface="Times New Roman" panose="02020603050405020304" pitchFamily="18" charset="0"/>
              </a:rPr>
              <a:t>A</a:t>
            </a:r>
            <a:r>
              <a:rPr lang="zh-CN" altLang="en-US" sz="2000" dirty="0" smtClean="0">
                <a:latin typeface="Times New Roman" panose="02020603050405020304" pitchFamily="18" charset="0"/>
              </a:rPr>
              <a:t>需求为</a:t>
            </a:r>
            <a:r>
              <a:rPr lang="en-US" altLang="zh-CN" sz="2000" dirty="0" smtClean="0">
                <a:latin typeface="Times New Roman" panose="02020603050405020304" pitchFamily="18" charset="0"/>
              </a:rPr>
              <a:t>100</a:t>
            </a:r>
            <a:r>
              <a:rPr lang="zh-CN" altLang="en-US" sz="2000" dirty="0" smtClean="0">
                <a:latin typeface="Times New Roman" panose="02020603050405020304" pitchFamily="18" charset="0"/>
              </a:rPr>
              <a:t>，则订单应为</a:t>
            </a:r>
            <a:r>
              <a:rPr lang="en-US" altLang="zh-CN" sz="2000" dirty="0" smtClean="0">
                <a:latin typeface="Times New Roman" panose="02020603050405020304" pitchFamily="18" charset="0"/>
              </a:rPr>
              <a:t>100*102%</a:t>
            </a:r>
            <a:r>
              <a:rPr lang="zh-CN" altLang="en-US" sz="2000" dirty="0" smtClean="0">
                <a:latin typeface="Times New Roman" panose="02020603050405020304" pitchFamily="18" charset="0"/>
              </a:rPr>
              <a:t>。</a:t>
            </a:r>
          </a:p>
          <a:p>
            <a:pPr lvl="2" eaLnBrk="1" hangingPunct="1">
              <a:lnSpc>
                <a:spcPct val="140000"/>
              </a:lnSpc>
              <a:spcBef>
                <a:spcPct val="0"/>
              </a:spcBef>
              <a:buClr>
                <a:schemeClr val="tx1"/>
              </a:buClr>
              <a:buFont typeface="Marlett" pitchFamily="2" charset="2"/>
              <a:buChar char="2"/>
            </a:pPr>
            <a:r>
              <a:rPr lang="zh-CN" altLang="en-US" sz="2000" dirty="0" smtClean="0">
                <a:latin typeface="Times New Roman" panose="02020603050405020304" pitchFamily="18" charset="0"/>
              </a:rPr>
              <a:t>然后计算玻璃管的毛需求为</a:t>
            </a:r>
            <a:r>
              <a:rPr lang="en-US" altLang="zh-CN" sz="2000" dirty="0" smtClean="0">
                <a:latin typeface="Times New Roman" panose="02020603050405020304" pitchFamily="18" charset="0"/>
              </a:rPr>
              <a:t>100*102%*105%=108</a:t>
            </a:r>
          </a:p>
        </p:txBody>
      </p:sp>
      <p:sp>
        <p:nvSpPr>
          <p:cNvPr id="1434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22356925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6307">
                                            <p:txEl>
                                              <p:pRg st="1" end="1"/>
                                            </p:txEl>
                                          </p:spTgt>
                                        </p:tgtEl>
                                        <p:attrNameLst>
                                          <p:attrName>style.visibility</p:attrName>
                                        </p:attrNameLst>
                                      </p:cBhvr>
                                      <p:to>
                                        <p:strVal val="visible"/>
                                      </p:to>
                                    </p:set>
                                    <p:anim calcmode="lin" valueType="num">
                                      <p:cBhvr additive="base">
                                        <p:cTn id="7" dur="500" fill="hold"/>
                                        <p:tgtEl>
                                          <p:spTgt spid="226307">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63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6307">
                                            <p:txEl>
                                              <p:pRg st="2" end="2"/>
                                            </p:txEl>
                                          </p:spTgt>
                                        </p:tgtEl>
                                        <p:attrNameLst>
                                          <p:attrName>style.visibility</p:attrName>
                                        </p:attrNameLst>
                                      </p:cBhvr>
                                      <p:to>
                                        <p:strVal val="visible"/>
                                      </p:to>
                                    </p:set>
                                    <p:anim calcmode="lin" valueType="num">
                                      <p:cBhvr additive="base">
                                        <p:cTn id="13" dur="500" fill="hold"/>
                                        <p:tgtEl>
                                          <p:spTgt spid="22630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63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6307">
                                            <p:txEl>
                                              <p:pRg st="3" end="3"/>
                                            </p:txEl>
                                          </p:spTgt>
                                        </p:tgtEl>
                                        <p:attrNameLst>
                                          <p:attrName>style.visibility</p:attrName>
                                        </p:attrNameLst>
                                      </p:cBhvr>
                                      <p:to>
                                        <p:strVal val="visible"/>
                                      </p:to>
                                    </p:set>
                                    <p:anim calcmode="lin" valueType="num">
                                      <p:cBhvr additive="base">
                                        <p:cTn id="19" dur="500" fill="hold"/>
                                        <p:tgtEl>
                                          <p:spTgt spid="22630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63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6307">
                                            <p:txEl>
                                              <p:pRg st="4" end="4"/>
                                            </p:txEl>
                                          </p:spTgt>
                                        </p:tgtEl>
                                        <p:attrNameLst>
                                          <p:attrName>style.visibility</p:attrName>
                                        </p:attrNameLst>
                                      </p:cBhvr>
                                      <p:to>
                                        <p:strVal val="visible"/>
                                      </p:to>
                                    </p:set>
                                    <p:anim calcmode="lin" valueType="num">
                                      <p:cBhvr additive="base">
                                        <p:cTn id="25" dur="500" fill="hold"/>
                                        <p:tgtEl>
                                          <p:spTgt spid="22630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63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autoUpdateAnimBg="0" advAuto="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5.7 MRP</a:t>
            </a:r>
            <a:r>
              <a:rPr lang="zh-CN" altLang="en-US" sz="3600" b="1" dirty="0" smtClean="0">
                <a:solidFill>
                  <a:srgbClr val="FF0000"/>
                </a:solidFill>
                <a:effectLst>
                  <a:outerShdw blurRad="38100" dist="38100" dir="2700000" algn="tl">
                    <a:srgbClr val="C0C0C0"/>
                  </a:outerShdw>
                </a:effectLst>
                <a:latin typeface="Times New Roman" pitchFamily="18" charset="0"/>
              </a:rPr>
              <a:t>的策略因素</a:t>
            </a:r>
          </a:p>
        </p:txBody>
      </p:sp>
      <p:sp>
        <p:nvSpPr>
          <p:cNvPr id="227331" name="Rectangle 3"/>
          <p:cNvSpPr>
            <a:spLocks noGrp="1" noChangeArrowheads="1"/>
          </p:cNvSpPr>
          <p:nvPr>
            <p:ph type="body" idx="1"/>
          </p:nvPr>
        </p:nvSpPr>
        <p:spPr>
          <a:xfrm>
            <a:off x="457200" y="1447800"/>
            <a:ext cx="8229600" cy="52578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损耗率</a:t>
            </a:r>
            <a:r>
              <a:rPr lang="zh-CN" altLang="en-US" sz="2800" smtClean="0">
                <a:latin typeface="Times New Roman" panose="02020603050405020304" pitchFamily="18" charset="0"/>
              </a:rPr>
              <a:t>：各种环节有各种各样的损耗，计算物料需求时，要考虑到各种损耗系数。</a:t>
            </a:r>
          </a:p>
          <a:p>
            <a:pPr lvl="1" eaLnBrk="1" hangingPunct="1">
              <a:lnSpc>
                <a:spcPct val="150000"/>
              </a:lnSpc>
              <a:spcBef>
                <a:spcPct val="0"/>
              </a:spcBef>
              <a:buClr>
                <a:schemeClr val="tx1"/>
              </a:buClr>
              <a:buFont typeface="Marlett" pitchFamily="2" charset="2"/>
              <a:buChar char="2"/>
            </a:pPr>
            <a:r>
              <a:rPr lang="zh-CN" altLang="en-US" sz="2400" b="1" smtClean="0">
                <a:solidFill>
                  <a:srgbClr val="003366"/>
                </a:solidFill>
                <a:latin typeface="Times New Roman" panose="02020603050405020304" pitchFamily="18" charset="0"/>
              </a:rPr>
              <a:t>材料利用率</a:t>
            </a:r>
            <a:r>
              <a:rPr lang="zh-CN" altLang="en-US" sz="2400" smtClean="0">
                <a:latin typeface="Times New Roman" panose="02020603050405020304" pitchFamily="18" charset="0"/>
              </a:rPr>
              <a:t>：与组装废品系数是一个问题的不同表示，都表示预计的生产消耗，材料利用率是有效产出与总投入的比率。</a:t>
            </a:r>
          </a:p>
          <a:p>
            <a:pPr lvl="2" eaLnBrk="1" hangingPunct="1">
              <a:lnSpc>
                <a:spcPct val="150000"/>
              </a:lnSpc>
              <a:spcBef>
                <a:spcPct val="0"/>
              </a:spcBef>
              <a:buClr>
                <a:schemeClr val="tx1"/>
              </a:buClr>
              <a:buFont typeface="Marlett" pitchFamily="2" charset="2"/>
              <a:buChar char="2"/>
            </a:pPr>
            <a:r>
              <a:rPr lang="zh-CN" altLang="en-US" sz="2000" smtClean="0">
                <a:latin typeface="Times New Roman" panose="02020603050405020304" pitchFamily="18" charset="0"/>
              </a:rPr>
              <a:t>材料利用率 </a:t>
            </a:r>
            <a:r>
              <a:rPr lang="en-US" altLang="zh-CN" sz="2000" smtClean="0">
                <a:latin typeface="Times New Roman" panose="02020603050405020304" pitchFamily="18" charset="0"/>
              </a:rPr>
              <a:t>= </a:t>
            </a:r>
            <a:r>
              <a:rPr lang="zh-CN" altLang="en-US" sz="2000" smtClean="0">
                <a:latin typeface="Times New Roman" panose="02020603050405020304" pitchFamily="18" charset="0"/>
              </a:rPr>
              <a:t>有效产出 </a:t>
            </a:r>
            <a:r>
              <a:rPr lang="en-US" altLang="zh-CN" sz="2000" smtClean="0">
                <a:latin typeface="Times New Roman" panose="02020603050405020304" pitchFamily="18" charset="0"/>
              </a:rPr>
              <a:t>/ </a:t>
            </a:r>
            <a:r>
              <a:rPr lang="zh-CN" altLang="en-US" sz="2000" smtClean="0">
                <a:latin typeface="Times New Roman" panose="02020603050405020304" pitchFamily="18" charset="0"/>
              </a:rPr>
              <a:t>总投入</a:t>
            </a:r>
          </a:p>
          <a:p>
            <a:pPr lvl="1" eaLnBrk="1" hangingPunct="1">
              <a:lnSpc>
                <a:spcPct val="140000"/>
              </a:lnSpc>
              <a:spcBef>
                <a:spcPct val="0"/>
              </a:spcBef>
              <a:buClr>
                <a:schemeClr val="tx1"/>
              </a:buClr>
              <a:buFont typeface="Marlett" pitchFamily="2" charset="2"/>
              <a:buChar char="2"/>
            </a:pPr>
            <a:r>
              <a:rPr lang="zh-CN" altLang="en-US" sz="2400" smtClean="0">
                <a:latin typeface="Times New Roman" panose="02020603050405020304" pitchFamily="18" charset="0"/>
              </a:rPr>
              <a:t>例：装配件的材料利用率是</a:t>
            </a:r>
            <a:r>
              <a:rPr lang="en-US" altLang="zh-CN" sz="2400" smtClean="0">
                <a:latin typeface="Times New Roman" panose="02020603050405020304" pitchFamily="18" charset="0"/>
              </a:rPr>
              <a:t>95%</a:t>
            </a:r>
            <a:r>
              <a:rPr lang="zh-CN" altLang="en-US" sz="2400" smtClean="0">
                <a:latin typeface="Times New Roman" panose="02020603050405020304" pitchFamily="18" charset="0"/>
              </a:rPr>
              <a:t>，为了得到</a:t>
            </a:r>
            <a:r>
              <a:rPr lang="en-US" altLang="zh-CN" sz="2400" smtClean="0">
                <a:latin typeface="Times New Roman" panose="02020603050405020304" pitchFamily="18" charset="0"/>
              </a:rPr>
              <a:t>100</a:t>
            </a:r>
            <a:r>
              <a:rPr lang="zh-CN" altLang="en-US" sz="2400" smtClean="0">
                <a:latin typeface="Times New Roman" panose="02020603050405020304" pitchFamily="18" charset="0"/>
              </a:rPr>
              <a:t>件的产成品，就需要</a:t>
            </a:r>
            <a:r>
              <a:rPr lang="zh-CN" altLang="en-US" sz="2400" baseline="30000" smtClean="0">
                <a:latin typeface="宋体" panose="02010600030101010101" pitchFamily="2" charset="-122"/>
              </a:rPr>
              <a:t>┌</a:t>
            </a:r>
            <a:r>
              <a:rPr lang="en-US" altLang="zh-CN" sz="2400" smtClean="0">
                <a:latin typeface="Times New Roman" panose="02020603050405020304" pitchFamily="18" charset="0"/>
              </a:rPr>
              <a:t>100/95%</a:t>
            </a:r>
            <a:r>
              <a:rPr lang="en-US" altLang="zh-CN" sz="2400" baseline="30000" smtClean="0">
                <a:latin typeface="宋体" panose="02010600030101010101" pitchFamily="2" charset="-122"/>
              </a:rPr>
              <a:t>┐</a:t>
            </a:r>
            <a:r>
              <a:rPr lang="en-US" altLang="zh-CN" sz="2400" smtClean="0">
                <a:latin typeface="Times New Roman" panose="02020603050405020304" pitchFamily="18" charset="0"/>
              </a:rPr>
              <a:t>=106</a:t>
            </a:r>
            <a:r>
              <a:rPr lang="zh-CN" altLang="en-US" sz="2400" smtClean="0">
                <a:latin typeface="Times New Roman" panose="02020603050405020304" pitchFamily="18" charset="0"/>
              </a:rPr>
              <a:t>个装配件。</a:t>
            </a:r>
          </a:p>
        </p:txBody>
      </p:sp>
      <p:sp>
        <p:nvSpPr>
          <p:cNvPr id="1536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33350101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7331">
                                            <p:txEl>
                                              <p:pRg st="0" end="0"/>
                                            </p:txEl>
                                          </p:spTgt>
                                        </p:tgtEl>
                                        <p:attrNameLst>
                                          <p:attrName>style.visibility</p:attrName>
                                        </p:attrNameLst>
                                      </p:cBhvr>
                                      <p:to>
                                        <p:strVal val="visible"/>
                                      </p:to>
                                    </p:set>
                                    <p:anim calcmode="lin" valueType="num">
                                      <p:cBhvr additive="base">
                                        <p:cTn id="7" dur="500" fill="hold"/>
                                        <p:tgtEl>
                                          <p:spTgt spid="2273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73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7331">
                                            <p:txEl>
                                              <p:pRg st="1" end="1"/>
                                            </p:txEl>
                                          </p:spTgt>
                                        </p:tgtEl>
                                        <p:attrNameLst>
                                          <p:attrName>style.visibility</p:attrName>
                                        </p:attrNameLst>
                                      </p:cBhvr>
                                      <p:to>
                                        <p:strVal val="visible"/>
                                      </p:to>
                                    </p:set>
                                    <p:anim calcmode="lin" valueType="num">
                                      <p:cBhvr additive="base">
                                        <p:cTn id="13" dur="500" fill="hold"/>
                                        <p:tgtEl>
                                          <p:spTgt spid="2273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73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7331">
                                            <p:txEl>
                                              <p:pRg st="2" end="2"/>
                                            </p:txEl>
                                          </p:spTgt>
                                        </p:tgtEl>
                                        <p:attrNameLst>
                                          <p:attrName>style.visibility</p:attrName>
                                        </p:attrNameLst>
                                      </p:cBhvr>
                                      <p:to>
                                        <p:strVal val="visible"/>
                                      </p:to>
                                    </p:set>
                                    <p:anim calcmode="lin" valueType="num">
                                      <p:cBhvr additive="base">
                                        <p:cTn id="19" dur="500" fill="hold"/>
                                        <p:tgtEl>
                                          <p:spTgt spid="2273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73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7331">
                                            <p:txEl>
                                              <p:pRg st="3" end="3"/>
                                            </p:txEl>
                                          </p:spTgt>
                                        </p:tgtEl>
                                        <p:attrNameLst>
                                          <p:attrName>style.visibility</p:attrName>
                                        </p:attrNameLst>
                                      </p:cBhvr>
                                      <p:to>
                                        <p:strVal val="visible"/>
                                      </p:to>
                                    </p:set>
                                    <p:anim calcmode="lin" valueType="num">
                                      <p:cBhvr additive="base">
                                        <p:cTn id="25" dur="500" fill="hold"/>
                                        <p:tgtEl>
                                          <p:spTgt spid="2273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733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autoUpdateAnimBg="0" advAuto="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5.7 MRP</a:t>
            </a:r>
            <a:r>
              <a:rPr lang="zh-CN" altLang="en-US" sz="3600" b="1" dirty="0" smtClean="0">
                <a:solidFill>
                  <a:srgbClr val="FF0000"/>
                </a:solidFill>
                <a:effectLst>
                  <a:outerShdw blurRad="38100" dist="38100" dir="2700000" algn="tl">
                    <a:srgbClr val="C0C0C0"/>
                  </a:outerShdw>
                </a:effectLst>
                <a:latin typeface="Times New Roman" pitchFamily="18" charset="0"/>
              </a:rPr>
              <a:t>的策略因素</a:t>
            </a:r>
          </a:p>
        </p:txBody>
      </p:sp>
      <p:sp>
        <p:nvSpPr>
          <p:cNvPr id="212995"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latin typeface="Times New Roman" panose="02020603050405020304" pitchFamily="18" charset="0"/>
              </a:rPr>
              <a:t>批量政策</a:t>
            </a:r>
            <a:r>
              <a:rPr lang="zh-CN" altLang="en-US" sz="2400" smtClean="0">
                <a:latin typeface="Times New Roman" panose="02020603050405020304" pitchFamily="18" charset="0"/>
              </a:rPr>
              <a:t>：实际计划生产或采购的交付数量和订货数量不一定等于净需求量，因为，加工、订货、运输、包装等都必须是按照一定的批量来进行，以获得规模效益，节省运输和采购成本，或者获得批量折扣等。</a:t>
            </a:r>
          </a:p>
          <a:p>
            <a:pPr lvl="1" eaLnBrk="1" hangingPunct="1">
              <a:lnSpc>
                <a:spcPct val="150000"/>
              </a:lnSpc>
              <a:spcBef>
                <a:spcPct val="0"/>
              </a:spcBef>
              <a:buClr>
                <a:schemeClr val="tx1"/>
              </a:buClr>
              <a:buFont typeface="Marlett" pitchFamily="2" charset="2"/>
              <a:buChar char="2"/>
            </a:pPr>
            <a:r>
              <a:rPr lang="zh-CN" altLang="en-US" sz="2000" smtClean="0">
                <a:latin typeface="Times New Roman" panose="02020603050405020304" pitchFamily="18" charset="0"/>
              </a:rPr>
              <a:t>批量过大，加工或采购费用减少，但占用流动资金过多。</a:t>
            </a:r>
          </a:p>
          <a:p>
            <a:pPr lvl="1" eaLnBrk="1" hangingPunct="1">
              <a:lnSpc>
                <a:spcPct val="150000"/>
              </a:lnSpc>
              <a:spcBef>
                <a:spcPct val="0"/>
              </a:spcBef>
              <a:buClr>
                <a:schemeClr val="tx1"/>
              </a:buClr>
              <a:buFont typeface="Marlett" pitchFamily="2" charset="2"/>
              <a:buChar char="2"/>
            </a:pPr>
            <a:r>
              <a:rPr lang="zh-CN" altLang="en-US" sz="2000" smtClean="0">
                <a:latin typeface="Times New Roman" panose="02020603050405020304" pitchFamily="18" charset="0"/>
              </a:rPr>
              <a:t>批量过小，占用流动资金少，但会增加加工或采购的费用。</a:t>
            </a:r>
          </a:p>
          <a:p>
            <a:pPr lvl="1" eaLnBrk="1" hangingPunct="1">
              <a:lnSpc>
                <a:spcPct val="150000"/>
              </a:lnSpc>
              <a:spcBef>
                <a:spcPct val="0"/>
              </a:spcBef>
              <a:buClr>
                <a:schemeClr val="tx1"/>
              </a:buClr>
              <a:buFont typeface="Marlett" pitchFamily="2" charset="2"/>
              <a:buChar char="2"/>
            </a:pPr>
            <a:r>
              <a:rPr lang="zh-CN" altLang="en-US" sz="2000" smtClean="0">
                <a:latin typeface="Times New Roman" panose="02020603050405020304" pitchFamily="18" charset="0"/>
              </a:rPr>
              <a:t>批量选择很重要</a:t>
            </a:r>
          </a:p>
          <a:p>
            <a:pPr lvl="1" eaLnBrk="1" hangingPunct="1">
              <a:lnSpc>
                <a:spcPct val="150000"/>
              </a:lnSpc>
              <a:spcBef>
                <a:spcPct val="0"/>
              </a:spcBef>
              <a:buClr>
                <a:schemeClr val="tx1"/>
              </a:buClr>
              <a:buFont typeface="Marlett" pitchFamily="2" charset="2"/>
              <a:buChar char="2"/>
            </a:pPr>
            <a:r>
              <a:rPr lang="zh-CN" altLang="en-US" sz="2000" smtClean="0">
                <a:latin typeface="Times New Roman" panose="02020603050405020304" pitchFamily="18" charset="0"/>
              </a:rPr>
              <a:t>常用的批量计算方法：直接批量法、固定批量法、固定周期法、经济批量法。</a:t>
            </a:r>
          </a:p>
        </p:txBody>
      </p:sp>
      <p:sp>
        <p:nvSpPr>
          <p:cNvPr id="1638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33758747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2995">
                                            <p:txEl>
                                              <p:pRg st="0" end="0"/>
                                            </p:txEl>
                                          </p:spTgt>
                                        </p:tgtEl>
                                        <p:attrNameLst>
                                          <p:attrName>style.visibility</p:attrName>
                                        </p:attrNameLst>
                                      </p:cBhvr>
                                      <p:to>
                                        <p:strVal val="visible"/>
                                      </p:to>
                                    </p:set>
                                    <p:anim calcmode="lin" valueType="num">
                                      <p:cBhvr additive="base">
                                        <p:cTn id="7" dur="500" fill="hold"/>
                                        <p:tgtEl>
                                          <p:spTgt spid="2129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29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2995">
                                            <p:txEl>
                                              <p:pRg st="1" end="1"/>
                                            </p:txEl>
                                          </p:spTgt>
                                        </p:tgtEl>
                                        <p:attrNameLst>
                                          <p:attrName>style.visibility</p:attrName>
                                        </p:attrNameLst>
                                      </p:cBhvr>
                                      <p:to>
                                        <p:strVal val="visible"/>
                                      </p:to>
                                    </p:set>
                                    <p:anim calcmode="lin" valueType="num">
                                      <p:cBhvr additive="base">
                                        <p:cTn id="13" dur="500" fill="hold"/>
                                        <p:tgtEl>
                                          <p:spTgt spid="2129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29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2995">
                                            <p:txEl>
                                              <p:pRg st="2" end="2"/>
                                            </p:txEl>
                                          </p:spTgt>
                                        </p:tgtEl>
                                        <p:attrNameLst>
                                          <p:attrName>style.visibility</p:attrName>
                                        </p:attrNameLst>
                                      </p:cBhvr>
                                      <p:to>
                                        <p:strVal val="visible"/>
                                      </p:to>
                                    </p:set>
                                    <p:anim calcmode="lin" valueType="num">
                                      <p:cBhvr additive="base">
                                        <p:cTn id="19" dur="500" fill="hold"/>
                                        <p:tgtEl>
                                          <p:spTgt spid="2129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29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2995">
                                            <p:txEl>
                                              <p:pRg st="3" end="3"/>
                                            </p:txEl>
                                          </p:spTgt>
                                        </p:tgtEl>
                                        <p:attrNameLst>
                                          <p:attrName>style.visibility</p:attrName>
                                        </p:attrNameLst>
                                      </p:cBhvr>
                                      <p:to>
                                        <p:strVal val="visible"/>
                                      </p:to>
                                    </p:set>
                                    <p:anim calcmode="lin" valueType="num">
                                      <p:cBhvr additive="base">
                                        <p:cTn id="25" dur="500" fill="hold"/>
                                        <p:tgtEl>
                                          <p:spTgt spid="21299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29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2995">
                                            <p:txEl>
                                              <p:pRg st="4" end="4"/>
                                            </p:txEl>
                                          </p:spTgt>
                                        </p:tgtEl>
                                        <p:attrNameLst>
                                          <p:attrName>style.visibility</p:attrName>
                                        </p:attrNameLst>
                                      </p:cBhvr>
                                      <p:to>
                                        <p:strVal val="visible"/>
                                      </p:to>
                                    </p:set>
                                    <p:anim calcmode="lin" valueType="num">
                                      <p:cBhvr additive="base">
                                        <p:cTn id="31" dur="500" fill="hold"/>
                                        <p:tgtEl>
                                          <p:spTgt spid="21299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1299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build="p" autoUpdateAnimBg="0" advAuto="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5.7 MRP</a:t>
            </a:r>
            <a:r>
              <a:rPr lang="zh-CN" altLang="en-US" sz="3600" b="1" dirty="0" smtClean="0">
                <a:solidFill>
                  <a:srgbClr val="FF0000"/>
                </a:solidFill>
                <a:effectLst>
                  <a:outerShdw blurRad="38100" dist="38100" dir="2700000" algn="tl">
                    <a:srgbClr val="C0C0C0"/>
                  </a:outerShdw>
                </a:effectLst>
                <a:latin typeface="Times New Roman" pitchFamily="18" charset="0"/>
              </a:rPr>
              <a:t>的策略因素</a:t>
            </a:r>
          </a:p>
        </p:txBody>
      </p:sp>
      <p:sp>
        <p:nvSpPr>
          <p:cNvPr id="228355"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批量政策</a:t>
            </a:r>
            <a:r>
              <a:rPr lang="zh-CN" altLang="en-US" sz="2800" smtClean="0">
                <a:latin typeface="Times New Roman" panose="02020603050405020304" pitchFamily="18" charset="0"/>
              </a:rPr>
              <a:t>：</a:t>
            </a:r>
          </a:p>
          <a:p>
            <a:pPr lvl="1" eaLnBrk="1" hangingPunct="1">
              <a:lnSpc>
                <a:spcPct val="130000"/>
              </a:lnSpc>
              <a:spcBef>
                <a:spcPct val="0"/>
              </a:spcBef>
              <a:buClr>
                <a:schemeClr val="tx1"/>
              </a:buClr>
              <a:buFont typeface="Marlett" pitchFamily="2" charset="2"/>
              <a:buChar char="2"/>
            </a:pPr>
            <a:r>
              <a:rPr lang="zh-CN" altLang="en-US" sz="2400" b="1" smtClean="0">
                <a:solidFill>
                  <a:srgbClr val="003366"/>
                </a:solidFill>
                <a:latin typeface="Times New Roman" panose="02020603050405020304" pitchFamily="18" charset="0"/>
              </a:rPr>
              <a:t>直接批量法</a:t>
            </a:r>
            <a:r>
              <a:rPr lang="zh-CN" altLang="en-US" sz="2400" smtClean="0">
                <a:latin typeface="Times New Roman" panose="02020603050405020304" pitchFamily="18" charset="0"/>
              </a:rPr>
              <a:t>：</a:t>
            </a:r>
            <a:r>
              <a:rPr lang="en-US" altLang="zh-CN" sz="2400" smtClean="0">
                <a:latin typeface="Times New Roman" panose="02020603050405020304" pitchFamily="18" charset="0"/>
              </a:rPr>
              <a:t>Lot for lot</a:t>
            </a:r>
            <a:r>
              <a:rPr lang="zh-CN" altLang="en-US" sz="2400" smtClean="0">
                <a:latin typeface="Times New Roman" panose="02020603050405020304" pitchFamily="18" charset="0"/>
              </a:rPr>
              <a:t>，物料需求的批量等于净需求，也成为按需订货法</a:t>
            </a:r>
            <a:r>
              <a:rPr lang="en-US" altLang="zh-CN" sz="2400" smtClean="0">
                <a:latin typeface="Times New Roman" panose="02020603050405020304" pitchFamily="18" charset="0"/>
              </a:rPr>
              <a:t>(As Required)</a:t>
            </a:r>
            <a:r>
              <a:rPr lang="zh-CN" altLang="en-US" sz="2400" smtClean="0">
                <a:latin typeface="Times New Roman" panose="02020603050405020304" pitchFamily="18" charset="0"/>
              </a:rPr>
              <a:t>。往往适用于生产或订货数量和时间基本上能给予保证的物料，或者所需要的物料价值较高，不允许过多地生产或保存的物料。</a:t>
            </a:r>
          </a:p>
        </p:txBody>
      </p:sp>
      <p:sp>
        <p:nvSpPr>
          <p:cNvPr id="1741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8416" name="Group 64"/>
          <p:cNvGraphicFramePr>
            <a:graphicFrameLocks noGrp="1"/>
          </p:cNvGraphicFramePr>
          <p:nvPr/>
        </p:nvGraphicFramePr>
        <p:xfrm>
          <a:off x="228600" y="4876800"/>
          <a:ext cx="8686800" cy="1244601"/>
        </p:xfrm>
        <a:graphic>
          <a:graphicData uri="http://schemas.openxmlformats.org/drawingml/2006/table">
            <a:tbl>
              <a:tblPr/>
              <a:tblGrid>
                <a:gridCol w="868363">
                  <a:extLst>
                    <a:ext uri="{9D8B030D-6E8A-4147-A177-3AD203B41FA5}">
                      <a16:colId xmlns:a16="http://schemas.microsoft.com/office/drawing/2014/main" val="20000"/>
                    </a:ext>
                  </a:extLst>
                </a:gridCol>
                <a:gridCol w="868362">
                  <a:extLst>
                    <a:ext uri="{9D8B030D-6E8A-4147-A177-3AD203B41FA5}">
                      <a16:colId xmlns:a16="http://schemas.microsoft.com/office/drawing/2014/main" val="20001"/>
                    </a:ext>
                  </a:extLst>
                </a:gridCol>
                <a:gridCol w="869950">
                  <a:extLst>
                    <a:ext uri="{9D8B030D-6E8A-4147-A177-3AD203B41FA5}">
                      <a16:colId xmlns:a16="http://schemas.microsoft.com/office/drawing/2014/main" val="20002"/>
                    </a:ext>
                  </a:extLst>
                </a:gridCol>
                <a:gridCol w="868363">
                  <a:extLst>
                    <a:ext uri="{9D8B030D-6E8A-4147-A177-3AD203B41FA5}">
                      <a16:colId xmlns:a16="http://schemas.microsoft.com/office/drawing/2014/main" val="20003"/>
                    </a:ext>
                  </a:extLst>
                </a:gridCol>
                <a:gridCol w="868362">
                  <a:extLst>
                    <a:ext uri="{9D8B030D-6E8A-4147-A177-3AD203B41FA5}">
                      <a16:colId xmlns:a16="http://schemas.microsoft.com/office/drawing/2014/main" val="20004"/>
                    </a:ext>
                  </a:extLst>
                </a:gridCol>
                <a:gridCol w="868363">
                  <a:extLst>
                    <a:ext uri="{9D8B030D-6E8A-4147-A177-3AD203B41FA5}">
                      <a16:colId xmlns:a16="http://schemas.microsoft.com/office/drawing/2014/main" val="20005"/>
                    </a:ext>
                  </a:extLst>
                </a:gridCol>
                <a:gridCol w="868362">
                  <a:extLst>
                    <a:ext uri="{9D8B030D-6E8A-4147-A177-3AD203B41FA5}">
                      <a16:colId xmlns:a16="http://schemas.microsoft.com/office/drawing/2014/main" val="20006"/>
                    </a:ext>
                  </a:extLst>
                </a:gridCol>
                <a:gridCol w="869950">
                  <a:extLst>
                    <a:ext uri="{9D8B030D-6E8A-4147-A177-3AD203B41FA5}">
                      <a16:colId xmlns:a16="http://schemas.microsoft.com/office/drawing/2014/main" val="20007"/>
                    </a:ext>
                  </a:extLst>
                </a:gridCol>
                <a:gridCol w="868363">
                  <a:extLst>
                    <a:ext uri="{9D8B030D-6E8A-4147-A177-3AD203B41FA5}">
                      <a16:colId xmlns:a16="http://schemas.microsoft.com/office/drawing/2014/main" val="20008"/>
                    </a:ext>
                  </a:extLst>
                </a:gridCol>
                <a:gridCol w="868362">
                  <a:extLst>
                    <a:ext uri="{9D8B030D-6E8A-4147-A177-3AD203B41FA5}">
                      <a16:colId xmlns:a16="http://schemas.microsoft.com/office/drawing/2014/main" val="20009"/>
                    </a:ext>
                  </a:extLst>
                </a:gridCol>
              </a:tblGrid>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周次</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smtClean="0">
                          <a:ln>
                            <a:noFill/>
                          </a:ln>
                          <a:solidFill>
                            <a:schemeClr val="tx1"/>
                          </a:solidFill>
                          <a:effectLst/>
                          <a:latin typeface="Arial" charset="0"/>
                          <a:ea typeface="宋体" pitchFamily="2" charset="-122"/>
                        </a:rPr>
                        <a:t>净需求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120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smtClean="0">
                          <a:ln>
                            <a:noFill/>
                          </a:ln>
                          <a:solidFill>
                            <a:schemeClr val="tx1"/>
                          </a:solidFill>
                          <a:effectLst/>
                          <a:latin typeface="Arial" charset="0"/>
                          <a:ea typeface="宋体" pitchFamily="2" charset="-122"/>
                        </a:rPr>
                        <a:t>批量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120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09498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8355">
                                            <p:txEl>
                                              <p:pRg st="0" end="0"/>
                                            </p:txEl>
                                          </p:spTgt>
                                        </p:tgtEl>
                                        <p:attrNameLst>
                                          <p:attrName>style.visibility</p:attrName>
                                        </p:attrNameLst>
                                      </p:cBhvr>
                                      <p:to>
                                        <p:strVal val="visible"/>
                                      </p:to>
                                    </p:set>
                                    <p:anim calcmode="lin" valueType="num">
                                      <p:cBhvr additive="base">
                                        <p:cTn id="7" dur="500" fill="hold"/>
                                        <p:tgtEl>
                                          <p:spTgt spid="2283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83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8355">
                                            <p:txEl>
                                              <p:pRg st="1" end="1"/>
                                            </p:txEl>
                                          </p:spTgt>
                                        </p:tgtEl>
                                        <p:attrNameLst>
                                          <p:attrName>style.visibility</p:attrName>
                                        </p:attrNameLst>
                                      </p:cBhvr>
                                      <p:to>
                                        <p:strVal val="visible"/>
                                      </p:to>
                                    </p:set>
                                    <p:anim calcmode="lin" valueType="num">
                                      <p:cBhvr additive="base">
                                        <p:cTn id="13" dur="500" fill="hold"/>
                                        <p:tgtEl>
                                          <p:spTgt spid="2283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83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8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build="p" autoUpdateAnimBg="0" advAuto="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5.7 MRP</a:t>
            </a:r>
            <a:r>
              <a:rPr lang="zh-CN" altLang="en-US" sz="3600" b="1" dirty="0" smtClean="0">
                <a:solidFill>
                  <a:srgbClr val="FF0000"/>
                </a:solidFill>
                <a:effectLst>
                  <a:outerShdw blurRad="38100" dist="38100" dir="2700000" algn="tl">
                    <a:srgbClr val="C0C0C0"/>
                  </a:outerShdw>
                </a:effectLst>
                <a:latin typeface="Times New Roman" pitchFamily="18" charset="0"/>
              </a:rPr>
              <a:t>的策略因素</a:t>
            </a:r>
          </a:p>
        </p:txBody>
      </p:sp>
      <p:sp>
        <p:nvSpPr>
          <p:cNvPr id="230403" name="Rectangle 3"/>
          <p:cNvSpPr>
            <a:spLocks noGrp="1" noChangeArrowheads="1"/>
          </p:cNvSpPr>
          <p:nvPr>
            <p:ph type="body" idx="1"/>
          </p:nvPr>
        </p:nvSpPr>
        <p:spPr>
          <a:xfrm>
            <a:off x="228600" y="1447800"/>
            <a:ext cx="8458200" cy="54102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批量政策</a:t>
            </a:r>
            <a:r>
              <a:rPr lang="zh-CN" altLang="en-US" sz="2800" smtClean="0">
                <a:latin typeface="Times New Roman" panose="02020603050405020304" pitchFamily="18" charset="0"/>
              </a:rPr>
              <a:t>：</a:t>
            </a:r>
          </a:p>
          <a:p>
            <a:pPr lvl="1" eaLnBrk="1" hangingPunct="1">
              <a:lnSpc>
                <a:spcPct val="130000"/>
              </a:lnSpc>
              <a:spcBef>
                <a:spcPct val="0"/>
              </a:spcBef>
              <a:buClr>
                <a:schemeClr val="tx1"/>
              </a:buClr>
              <a:buFont typeface="Marlett" pitchFamily="2" charset="2"/>
              <a:buChar char="2"/>
            </a:pPr>
            <a:r>
              <a:rPr lang="zh-CN" altLang="en-US" sz="2400" b="1" smtClean="0">
                <a:solidFill>
                  <a:srgbClr val="003366"/>
                </a:solidFill>
                <a:latin typeface="Times New Roman" panose="02020603050405020304" pitchFamily="18" charset="0"/>
              </a:rPr>
              <a:t>固定批量法</a:t>
            </a:r>
            <a:r>
              <a:rPr lang="zh-CN" altLang="en-US" sz="2400" smtClean="0">
                <a:latin typeface="Times New Roman" panose="02020603050405020304" pitchFamily="18" charset="0"/>
              </a:rPr>
              <a:t>：</a:t>
            </a:r>
            <a:r>
              <a:rPr lang="en-US" altLang="zh-CN" sz="2400" smtClean="0">
                <a:latin typeface="Times New Roman" panose="02020603050405020304" pitchFamily="18" charset="0"/>
              </a:rPr>
              <a:t>Fixed Quantity</a:t>
            </a:r>
            <a:r>
              <a:rPr lang="zh-CN" altLang="en-US" sz="2400" smtClean="0">
                <a:latin typeface="Times New Roman" panose="02020603050405020304" pitchFamily="18" charset="0"/>
              </a:rPr>
              <a:t>，每次的加工或订货数量相同，但加工或订货周期不一定相同。一般用于订货费用较大的物料。</a:t>
            </a:r>
          </a:p>
          <a:p>
            <a:pPr lvl="2" eaLnBrk="1" hangingPunct="1">
              <a:lnSpc>
                <a:spcPct val="130000"/>
              </a:lnSpc>
              <a:spcBef>
                <a:spcPct val="0"/>
              </a:spcBef>
              <a:buClr>
                <a:schemeClr val="tx1"/>
              </a:buClr>
              <a:buFont typeface="Marlett" pitchFamily="2" charset="2"/>
              <a:buChar char="2"/>
            </a:pPr>
            <a:r>
              <a:rPr lang="zh-CN" altLang="en-US" sz="2000" b="1" smtClean="0">
                <a:latin typeface="Times New Roman" panose="02020603050405020304" pitchFamily="18" charset="0"/>
              </a:rPr>
              <a:t>固定批量的大小</a:t>
            </a:r>
            <a:r>
              <a:rPr lang="zh-CN" altLang="en-US" sz="2000" smtClean="0">
                <a:latin typeface="Times New Roman" panose="02020603050405020304" pitchFamily="18" charset="0"/>
              </a:rPr>
              <a:t>：根据直观分析和经验判断而决定的，也可以以净需求量的一定倍数作为批量。</a:t>
            </a:r>
          </a:p>
        </p:txBody>
      </p:sp>
      <p:sp>
        <p:nvSpPr>
          <p:cNvPr id="1843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0530" name="Group 130"/>
          <p:cNvGraphicFramePr>
            <a:graphicFrameLocks noGrp="1"/>
          </p:cNvGraphicFramePr>
          <p:nvPr/>
        </p:nvGraphicFramePr>
        <p:xfrm>
          <a:off x="228600" y="4572000"/>
          <a:ext cx="8686800" cy="1676401"/>
        </p:xfrm>
        <a:graphic>
          <a:graphicData uri="http://schemas.openxmlformats.org/drawingml/2006/table">
            <a:tbl>
              <a:tblPr/>
              <a:tblGrid>
                <a:gridCol w="868363">
                  <a:extLst>
                    <a:ext uri="{9D8B030D-6E8A-4147-A177-3AD203B41FA5}">
                      <a16:colId xmlns:a16="http://schemas.microsoft.com/office/drawing/2014/main" val="20000"/>
                    </a:ext>
                  </a:extLst>
                </a:gridCol>
                <a:gridCol w="868362">
                  <a:extLst>
                    <a:ext uri="{9D8B030D-6E8A-4147-A177-3AD203B41FA5}">
                      <a16:colId xmlns:a16="http://schemas.microsoft.com/office/drawing/2014/main" val="20001"/>
                    </a:ext>
                  </a:extLst>
                </a:gridCol>
                <a:gridCol w="869950">
                  <a:extLst>
                    <a:ext uri="{9D8B030D-6E8A-4147-A177-3AD203B41FA5}">
                      <a16:colId xmlns:a16="http://schemas.microsoft.com/office/drawing/2014/main" val="20002"/>
                    </a:ext>
                  </a:extLst>
                </a:gridCol>
                <a:gridCol w="868363">
                  <a:extLst>
                    <a:ext uri="{9D8B030D-6E8A-4147-A177-3AD203B41FA5}">
                      <a16:colId xmlns:a16="http://schemas.microsoft.com/office/drawing/2014/main" val="20003"/>
                    </a:ext>
                  </a:extLst>
                </a:gridCol>
                <a:gridCol w="868362">
                  <a:extLst>
                    <a:ext uri="{9D8B030D-6E8A-4147-A177-3AD203B41FA5}">
                      <a16:colId xmlns:a16="http://schemas.microsoft.com/office/drawing/2014/main" val="20004"/>
                    </a:ext>
                  </a:extLst>
                </a:gridCol>
                <a:gridCol w="868363">
                  <a:extLst>
                    <a:ext uri="{9D8B030D-6E8A-4147-A177-3AD203B41FA5}">
                      <a16:colId xmlns:a16="http://schemas.microsoft.com/office/drawing/2014/main" val="20005"/>
                    </a:ext>
                  </a:extLst>
                </a:gridCol>
                <a:gridCol w="868362">
                  <a:extLst>
                    <a:ext uri="{9D8B030D-6E8A-4147-A177-3AD203B41FA5}">
                      <a16:colId xmlns:a16="http://schemas.microsoft.com/office/drawing/2014/main" val="20006"/>
                    </a:ext>
                  </a:extLst>
                </a:gridCol>
                <a:gridCol w="869950">
                  <a:extLst>
                    <a:ext uri="{9D8B030D-6E8A-4147-A177-3AD203B41FA5}">
                      <a16:colId xmlns:a16="http://schemas.microsoft.com/office/drawing/2014/main" val="20007"/>
                    </a:ext>
                  </a:extLst>
                </a:gridCol>
                <a:gridCol w="868363">
                  <a:extLst>
                    <a:ext uri="{9D8B030D-6E8A-4147-A177-3AD203B41FA5}">
                      <a16:colId xmlns:a16="http://schemas.microsoft.com/office/drawing/2014/main" val="20008"/>
                    </a:ext>
                  </a:extLst>
                </a:gridCol>
                <a:gridCol w="868362">
                  <a:extLst>
                    <a:ext uri="{9D8B030D-6E8A-4147-A177-3AD203B41FA5}">
                      <a16:colId xmlns:a16="http://schemas.microsoft.com/office/drawing/2014/main" val="20009"/>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smtClean="0">
                          <a:ln>
                            <a:noFill/>
                          </a:ln>
                          <a:solidFill>
                            <a:schemeClr val="tx1"/>
                          </a:solidFill>
                          <a:effectLst/>
                          <a:latin typeface="Arial" charset="0"/>
                          <a:ea typeface="宋体" pitchFamily="2" charset="-122"/>
                        </a:rPr>
                        <a:t>周次</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smtClean="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smtClean="0">
                          <a:ln>
                            <a:noFill/>
                          </a:ln>
                          <a:solidFill>
                            <a:schemeClr val="tx1"/>
                          </a:solidFill>
                          <a:effectLst/>
                          <a:latin typeface="Arial" charset="0"/>
                          <a:ea typeface="宋体" pitchFamily="2" charset="-122"/>
                        </a:rPr>
                        <a:t>净需求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120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smtClean="0">
                          <a:ln>
                            <a:noFill/>
                          </a:ln>
                          <a:solidFill>
                            <a:schemeClr val="tx1"/>
                          </a:solidFill>
                          <a:effectLst/>
                          <a:latin typeface="Arial" charset="0"/>
                          <a:ea typeface="宋体" pitchFamily="2" charset="-122"/>
                        </a:rPr>
                        <a:t>批量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120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smtClean="0">
                          <a:ln>
                            <a:noFill/>
                          </a:ln>
                          <a:solidFill>
                            <a:schemeClr val="tx1"/>
                          </a:solidFill>
                          <a:effectLst/>
                          <a:latin typeface="Arial" charset="0"/>
                          <a:ea typeface="宋体" pitchFamily="2" charset="-122"/>
                        </a:rPr>
                        <a:t>剩余</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0529" name="Text Box 129"/>
          <p:cNvSpPr txBox="1">
            <a:spLocks noChangeArrowheads="1"/>
          </p:cNvSpPr>
          <p:nvPr/>
        </p:nvSpPr>
        <p:spPr bwMode="auto">
          <a:xfrm>
            <a:off x="225425" y="6400800"/>
            <a:ext cx="15859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lgn="ctr">
                <a:solidFill>
                  <a:srgbClr val="000000"/>
                </a:solidFill>
                <a:prstDash val="sysDot"/>
                <a:miter lim="800000"/>
                <a:headEnd/>
                <a:tailEnd/>
              </a14:hiddenLine>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注：批量为</a:t>
            </a:r>
            <a:r>
              <a:rPr lang="en-US" altLang="zh-CN" sz="1800" b="1"/>
              <a:t>60</a:t>
            </a:r>
          </a:p>
        </p:txBody>
      </p:sp>
    </p:spTree>
    <p:extLst>
      <p:ext uri="{BB962C8B-B14F-4D97-AF65-F5344CB8AC3E}">
        <p14:creationId xmlns:p14="http://schemas.microsoft.com/office/powerpoint/2010/main" val="4212832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 calcmode="lin" valueType="num">
                                      <p:cBhvr additive="base">
                                        <p:cTn id="7" dur="500" fill="hold"/>
                                        <p:tgtEl>
                                          <p:spTgt spid="230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04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0403">
                                            <p:txEl>
                                              <p:pRg st="1" end="1"/>
                                            </p:txEl>
                                          </p:spTgt>
                                        </p:tgtEl>
                                        <p:attrNameLst>
                                          <p:attrName>style.visibility</p:attrName>
                                        </p:attrNameLst>
                                      </p:cBhvr>
                                      <p:to>
                                        <p:strVal val="visible"/>
                                      </p:to>
                                    </p:set>
                                    <p:anim calcmode="lin" valueType="num">
                                      <p:cBhvr additive="base">
                                        <p:cTn id="13" dur="500" fill="hold"/>
                                        <p:tgtEl>
                                          <p:spTgt spid="2304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04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0403">
                                            <p:txEl>
                                              <p:pRg st="2" end="2"/>
                                            </p:txEl>
                                          </p:spTgt>
                                        </p:tgtEl>
                                        <p:attrNameLst>
                                          <p:attrName>style.visibility</p:attrName>
                                        </p:attrNameLst>
                                      </p:cBhvr>
                                      <p:to>
                                        <p:strVal val="visible"/>
                                      </p:to>
                                    </p:set>
                                    <p:anim calcmode="lin" valueType="num">
                                      <p:cBhvr additive="base">
                                        <p:cTn id="19" dur="500" fill="hold"/>
                                        <p:tgtEl>
                                          <p:spTgt spid="23040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04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3053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05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autoUpdateAnimBg="0" advAuto="0"/>
      <p:bldP spid="230529" grpId="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5.7 MRP</a:t>
            </a:r>
            <a:r>
              <a:rPr lang="zh-CN" altLang="en-US" sz="3600" b="1" dirty="0" smtClean="0">
                <a:solidFill>
                  <a:srgbClr val="FF0000"/>
                </a:solidFill>
                <a:effectLst>
                  <a:outerShdw blurRad="38100" dist="38100" dir="2700000" algn="tl">
                    <a:srgbClr val="C0C0C0"/>
                  </a:outerShdw>
                </a:effectLst>
                <a:latin typeface="Times New Roman" pitchFamily="18" charset="0"/>
              </a:rPr>
              <a:t>的策略因素</a:t>
            </a:r>
          </a:p>
        </p:txBody>
      </p:sp>
      <p:sp>
        <p:nvSpPr>
          <p:cNvPr id="231427"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smtClean="0">
                <a:latin typeface="Times New Roman" panose="02020603050405020304" pitchFamily="18" charset="0"/>
              </a:rPr>
              <a:t>批量政策</a:t>
            </a:r>
            <a:r>
              <a:rPr lang="zh-CN" altLang="en-US" sz="2800" smtClean="0">
                <a:latin typeface="Times New Roman" panose="02020603050405020304" pitchFamily="18" charset="0"/>
              </a:rPr>
              <a:t>：</a:t>
            </a:r>
          </a:p>
          <a:p>
            <a:pPr lvl="1" eaLnBrk="1" hangingPunct="1">
              <a:lnSpc>
                <a:spcPct val="130000"/>
              </a:lnSpc>
              <a:spcBef>
                <a:spcPct val="0"/>
              </a:spcBef>
              <a:buClr>
                <a:schemeClr val="tx1"/>
              </a:buClr>
              <a:buFont typeface="Marlett" pitchFamily="2" charset="2"/>
              <a:buChar char="2"/>
            </a:pPr>
            <a:r>
              <a:rPr lang="zh-CN" altLang="en-US" sz="2400" b="1" smtClean="0">
                <a:solidFill>
                  <a:srgbClr val="003366"/>
                </a:solidFill>
                <a:latin typeface="Times New Roman" panose="02020603050405020304" pitchFamily="18" charset="0"/>
              </a:rPr>
              <a:t>固定周期法</a:t>
            </a:r>
            <a:r>
              <a:rPr lang="zh-CN" altLang="en-US" sz="2400" smtClean="0">
                <a:latin typeface="Times New Roman" panose="02020603050405020304" pitchFamily="18" charset="0"/>
              </a:rPr>
              <a:t>：</a:t>
            </a:r>
            <a:r>
              <a:rPr lang="en-US" altLang="zh-CN" sz="2400" smtClean="0">
                <a:latin typeface="Times New Roman" panose="02020603050405020304" pitchFamily="18" charset="0"/>
              </a:rPr>
              <a:t>Fixed Time</a:t>
            </a:r>
            <a:r>
              <a:rPr lang="zh-CN" altLang="en-US" sz="2400" smtClean="0">
                <a:latin typeface="Times New Roman" panose="02020603050405020304" pitchFamily="18" charset="0"/>
              </a:rPr>
              <a:t>，每次加工或订货间隔周期相同，但加工或订货的数量不一定相同。一般用于内部加工自制品生产计划，为的是便于控制。</a:t>
            </a:r>
          </a:p>
          <a:p>
            <a:pPr lvl="1" eaLnBrk="1" hangingPunct="1">
              <a:lnSpc>
                <a:spcPct val="130000"/>
              </a:lnSpc>
              <a:spcBef>
                <a:spcPct val="0"/>
              </a:spcBef>
              <a:buClr>
                <a:schemeClr val="tx1"/>
              </a:buClr>
              <a:buFont typeface="Marlett" pitchFamily="2" charset="2"/>
              <a:buChar char="2"/>
            </a:pPr>
            <a:r>
              <a:rPr lang="zh-CN" altLang="en-US" sz="2400" smtClean="0">
                <a:latin typeface="Times New Roman" panose="02020603050405020304" pitchFamily="18" charset="0"/>
              </a:rPr>
              <a:t>订货周期：根据经验选定。</a:t>
            </a:r>
          </a:p>
        </p:txBody>
      </p:sp>
      <p:sp>
        <p:nvSpPr>
          <p:cNvPr id="1946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1507" name="Group 83"/>
          <p:cNvGraphicFramePr>
            <a:graphicFrameLocks noGrp="1"/>
          </p:cNvGraphicFramePr>
          <p:nvPr/>
        </p:nvGraphicFramePr>
        <p:xfrm>
          <a:off x="228600" y="4876800"/>
          <a:ext cx="8686798" cy="1244601"/>
        </p:xfrm>
        <a:graphic>
          <a:graphicData uri="http://schemas.openxmlformats.org/drawingml/2006/table">
            <a:tbl>
              <a:tblPr/>
              <a:tblGrid>
                <a:gridCol w="9906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93383">
                  <a:extLst>
                    <a:ext uri="{9D8B030D-6E8A-4147-A177-3AD203B41FA5}">
                      <a16:colId xmlns:a16="http://schemas.microsoft.com/office/drawing/2014/main" val="20002"/>
                    </a:ext>
                  </a:extLst>
                </a:gridCol>
                <a:gridCol w="789447">
                  <a:extLst>
                    <a:ext uri="{9D8B030D-6E8A-4147-A177-3AD203B41FA5}">
                      <a16:colId xmlns:a16="http://schemas.microsoft.com/office/drawing/2014/main" val="20003"/>
                    </a:ext>
                  </a:extLst>
                </a:gridCol>
                <a:gridCol w="789446">
                  <a:extLst>
                    <a:ext uri="{9D8B030D-6E8A-4147-A177-3AD203B41FA5}">
                      <a16:colId xmlns:a16="http://schemas.microsoft.com/office/drawing/2014/main" val="20004"/>
                    </a:ext>
                  </a:extLst>
                </a:gridCol>
                <a:gridCol w="789447">
                  <a:extLst>
                    <a:ext uri="{9D8B030D-6E8A-4147-A177-3AD203B41FA5}">
                      <a16:colId xmlns:a16="http://schemas.microsoft.com/office/drawing/2014/main" val="20005"/>
                    </a:ext>
                  </a:extLst>
                </a:gridCol>
                <a:gridCol w="789446">
                  <a:extLst>
                    <a:ext uri="{9D8B030D-6E8A-4147-A177-3AD203B41FA5}">
                      <a16:colId xmlns:a16="http://schemas.microsoft.com/office/drawing/2014/main" val="20006"/>
                    </a:ext>
                  </a:extLst>
                </a:gridCol>
                <a:gridCol w="790890">
                  <a:extLst>
                    <a:ext uri="{9D8B030D-6E8A-4147-A177-3AD203B41FA5}">
                      <a16:colId xmlns:a16="http://schemas.microsoft.com/office/drawing/2014/main" val="20007"/>
                    </a:ext>
                  </a:extLst>
                </a:gridCol>
                <a:gridCol w="789447">
                  <a:extLst>
                    <a:ext uri="{9D8B030D-6E8A-4147-A177-3AD203B41FA5}">
                      <a16:colId xmlns:a16="http://schemas.microsoft.com/office/drawing/2014/main" val="20008"/>
                    </a:ext>
                  </a:extLst>
                </a:gridCol>
                <a:gridCol w="789446">
                  <a:extLst>
                    <a:ext uri="{9D8B030D-6E8A-4147-A177-3AD203B41FA5}">
                      <a16:colId xmlns:a16="http://schemas.microsoft.com/office/drawing/2014/main" val="20009"/>
                    </a:ext>
                  </a:extLst>
                </a:gridCol>
                <a:gridCol w="789446">
                  <a:extLst>
                    <a:ext uri="{9D8B030D-6E8A-4147-A177-3AD203B41FA5}">
                      <a16:colId xmlns:a16="http://schemas.microsoft.com/office/drawing/2014/main" val="20010"/>
                    </a:ext>
                  </a:extLst>
                </a:gridCol>
              </a:tblGrid>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smtClean="0">
                          <a:ln>
                            <a:noFill/>
                          </a:ln>
                          <a:solidFill>
                            <a:schemeClr val="tx1"/>
                          </a:solidFill>
                          <a:effectLst/>
                          <a:latin typeface="Arial" charset="0"/>
                          <a:ea typeface="宋体" pitchFamily="2" charset="-122"/>
                        </a:rPr>
                        <a:t>周次</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smtClean="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smtClean="0">
                          <a:ln>
                            <a:noFill/>
                          </a:ln>
                          <a:solidFill>
                            <a:schemeClr val="tx1"/>
                          </a:solidFill>
                          <a:effectLst/>
                          <a:latin typeface="Arial" charset="0"/>
                          <a:ea typeface="宋体" pitchFamily="2" charset="-122"/>
                        </a:rPr>
                        <a:t>净需求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120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smtClean="0">
                          <a:ln>
                            <a:noFill/>
                          </a:ln>
                          <a:solidFill>
                            <a:schemeClr val="tx1"/>
                          </a:solidFill>
                          <a:effectLst/>
                          <a:latin typeface="Arial" charset="0"/>
                          <a:ea typeface="宋体" pitchFamily="2" charset="-122"/>
                        </a:rPr>
                        <a:t>批量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55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67013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 calcmode="lin" valueType="num">
                                      <p:cBhvr additive="base">
                                        <p:cTn id="7" dur="500" fill="hold"/>
                                        <p:tgtEl>
                                          <p:spTgt spid="231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14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1427">
                                            <p:txEl>
                                              <p:pRg st="1" end="1"/>
                                            </p:txEl>
                                          </p:spTgt>
                                        </p:tgtEl>
                                        <p:attrNameLst>
                                          <p:attrName>style.visibility</p:attrName>
                                        </p:attrNameLst>
                                      </p:cBhvr>
                                      <p:to>
                                        <p:strVal val="visible"/>
                                      </p:to>
                                    </p:set>
                                    <p:anim calcmode="lin" valueType="num">
                                      <p:cBhvr additive="base">
                                        <p:cTn id="13" dur="500" fill="hold"/>
                                        <p:tgtEl>
                                          <p:spTgt spid="2314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14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1427">
                                            <p:txEl>
                                              <p:pRg st="2" end="2"/>
                                            </p:txEl>
                                          </p:spTgt>
                                        </p:tgtEl>
                                        <p:attrNameLst>
                                          <p:attrName>style.visibility</p:attrName>
                                        </p:attrNameLst>
                                      </p:cBhvr>
                                      <p:to>
                                        <p:strVal val="visible"/>
                                      </p:to>
                                    </p:set>
                                    <p:anim calcmode="lin" valueType="num">
                                      <p:cBhvr additive="base">
                                        <p:cTn id="19" dur="500" fill="hold"/>
                                        <p:tgtEl>
                                          <p:spTgt spid="2314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14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31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autoUpdateAnimBg="0" advAuto="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5.7 MRP</a:t>
            </a:r>
            <a:r>
              <a:rPr lang="zh-CN" altLang="en-US" sz="3600" b="1" dirty="0" smtClean="0">
                <a:solidFill>
                  <a:srgbClr val="FF0000"/>
                </a:solidFill>
                <a:effectLst>
                  <a:outerShdw blurRad="38100" dist="38100" dir="2700000" algn="tl">
                    <a:srgbClr val="C0C0C0"/>
                  </a:outerShdw>
                </a:effectLst>
                <a:latin typeface="Times New Roman" pitchFamily="18" charset="0"/>
              </a:rPr>
              <a:t>的策略因素</a:t>
            </a:r>
          </a:p>
        </p:txBody>
      </p:sp>
      <p:sp>
        <p:nvSpPr>
          <p:cNvPr id="232451"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dirty="0" smtClean="0">
                <a:latin typeface="Times New Roman" panose="02020603050405020304" pitchFamily="18" charset="0"/>
              </a:rPr>
              <a:t>批量政策</a:t>
            </a:r>
            <a:r>
              <a:rPr lang="zh-CN" altLang="en-US" sz="2800" dirty="0" smtClean="0">
                <a:latin typeface="Times New Roman" panose="02020603050405020304" pitchFamily="18" charset="0"/>
              </a:rPr>
              <a:t>：</a:t>
            </a:r>
          </a:p>
          <a:p>
            <a:pPr lvl="1" eaLnBrk="1" hangingPunct="1">
              <a:lnSpc>
                <a:spcPct val="130000"/>
              </a:lnSpc>
              <a:spcBef>
                <a:spcPct val="0"/>
              </a:spcBef>
              <a:buClr>
                <a:schemeClr val="tx1"/>
              </a:buClr>
              <a:buFont typeface="Marlett" pitchFamily="2" charset="2"/>
              <a:buChar char="2"/>
            </a:pPr>
            <a:r>
              <a:rPr lang="zh-CN" altLang="en-US" sz="2400" b="1" dirty="0" smtClean="0">
                <a:solidFill>
                  <a:srgbClr val="003366"/>
                </a:solidFill>
                <a:latin typeface="Times New Roman" panose="02020603050405020304" pitchFamily="18" charset="0"/>
              </a:rPr>
              <a:t>经济批量法</a:t>
            </a:r>
            <a:r>
              <a:rPr lang="zh-CN" altLang="en-US" sz="2400" dirty="0" smtClean="0">
                <a:latin typeface="Times New Roman" panose="02020603050405020304" pitchFamily="18" charset="0"/>
              </a:rPr>
              <a:t>：</a:t>
            </a:r>
            <a:r>
              <a:rPr lang="en-US" altLang="zh-CN" sz="2400" dirty="0" smtClean="0">
                <a:latin typeface="Times New Roman" panose="02020603050405020304" pitchFamily="18" charset="0"/>
              </a:rPr>
              <a:t>Economic Order Quantity</a:t>
            </a:r>
            <a:r>
              <a:rPr lang="zh-CN" altLang="en-US" sz="2400" dirty="0" smtClean="0">
                <a:latin typeface="Times New Roman" panose="02020603050405020304" pitchFamily="18" charset="0"/>
              </a:rPr>
              <a:t>，某种物料的订购</a:t>
            </a:r>
            <a:r>
              <a:rPr lang="en-US" altLang="zh-CN" sz="2400" dirty="0" smtClean="0">
                <a:latin typeface="Times New Roman" panose="02020603050405020304" pitchFamily="18" charset="0"/>
              </a:rPr>
              <a:t>/</a:t>
            </a:r>
            <a:r>
              <a:rPr lang="zh-CN" altLang="en-US" sz="2400" dirty="0" smtClean="0">
                <a:latin typeface="Times New Roman" panose="02020603050405020304" pitchFamily="18" charset="0"/>
              </a:rPr>
              <a:t>加工费用和保管费用之和为最低时的最佳批量法。</a:t>
            </a:r>
          </a:p>
          <a:p>
            <a:pPr lvl="2" eaLnBrk="1" hangingPunct="1">
              <a:lnSpc>
                <a:spcPct val="130000"/>
              </a:lnSpc>
              <a:spcBef>
                <a:spcPct val="0"/>
              </a:spcBef>
              <a:buClr>
                <a:schemeClr val="tx1"/>
              </a:buClr>
              <a:buFont typeface="Marlett" pitchFamily="2" charset="2"/>
              <a:buChar char="2"/>
            </a:pPr>
            <a:r>
              <a:rPr lang="zh-CN" altLang="en-US" sz="2000" dirty="0" smtClean="0">
                <a:latin typeface="Times New Roman" panose="02020603050405020304" pitchFamily="18" charset="0"/>
              </a:rPr>
              <a:t>订货费：从订购至入库所需要的差旅费、运输费</a:t>
            </a:r>
          </a:p>
          <a:p>
            <a:pPr lvl="2" eaLnBrk="1" hangingPunct="1">
              <a:lnSpc>
                <a:spcPct val="130000"/>
              </a:lnSpc>
              <a:spcBef>
                <a:spcPct val="0"/>
              </a:spcBef>
              <a:buClr>
                <a:schemeClr val="tx1"/>
              </a:buClr>
              <a:buFont typeface="Marlett" pitchFamily="2" charset="2"/>
              <a:buChar char="2"/>
            </a:pPr>
            <a:r>
              <a:rPr lang="zh-CN" altLang="en-US" sz="2000" dirty="0" smtClean="0">
                <a:latin typeface="Times New Roman" panose="02020603050405020304" pitchFamily="18" charset="0"/>
              </a:rPr>
              <a:t>保管费：物料储备费、验收费、仓库管理费、库存占用资金利息、物料储存消耗费。</a:t>
            </a:r>
          </a:p>
          <a:p>
            <a:pPr lvl="1" eaLnBrk="1" hangingPunct="1">
              <a:lnSpc>
                <a:spcPct val="130000"/>
              </a:lnSpc>
              <a:spcBef>
                <a:spcPct val="0"/>
              </a:spcBef>
              <a:buClr>
                <a:schemeClr val="tx1"/>
              </a:buClr>
              <a:buFont typeface="Marlett" pitchFamily="2" charset="2"/>
              <a:buChar char="2"/>
            </a:pPr>
            <a:r>
              <a:rPr lang="en-US" altLang="zh-CN" sz="2400" dirty="0" smtClean="0">
                <a:latin typeface="Times New Roman" panose="02020603050405020304" pitchFamily="18" charset="0"/>
              </a:rPr>
              <a:t>EOQ</a:t>
            </a:r>
            <a:r>
              <a:rPr lang="zh-CN" altLang="en-US" sz="2400" dirty="0" smtClean="0">
                <a:latin typeface="Times New Roman" panose="02020603050405020304" pitchFamily="18" charset="0"/>
              </a:rPr>
              <a:t>一般用于需求、成本和提前期是常量和已知的，库存能立即补充，即连续需求、库存消耗稳定的场合。</a:t>
            </a:r>
          </a:p>
        </p:txBody>
      </p:sp>
      <p:sp>
        <p:nvSpPr>
          <p:cNvPr id="2048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11726365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2451">
                                            <p:txEl>
                                              <p:pRg st="0" end="0"/>
                                            </p:txEl>
                                          </p:spTgt>
                                        </p:tgtEl>
                                        <p:attrNameLst>
                                          <p:attrName>style.visibility</p:attrName>
                                        </p:attrNameLst>
                                      </p:cBhvr>
                                      <p:to>
                                        <p:strVal val="visible"/>
                                      </p:to>
                                    </p:set>
                                    <p:anim calcmode="lin" valueType="num">
                                      <p:cBhvr additive="base">
                                        <p:cTn id="7" dur="500" fill="hold"/>
                                        <p:tgtEl>
                                          <p:spTgt spid="2324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2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2451">
                                            <p:txEl>
                                              <p:pRg st="1" end="1"/>
                                            </p:txEl>
                                          </p:spTgt>
                                        </p:tgtEl>
                                        <p:attrNameLst>
                                          <p:attrName>style.visibility</p:attrName>
                                        </p:attrNameLst>
                                      </p:cBhvr>
                                      <p:to>
                                        <p:strVal val="visible"/>
                                      </p:to>
                                    </p:set>
                                    <p:anim calcmode="lin" valueType="num">
                                      <p:cBhvr additive="base">
                                        <p:cTn id="13" dur="500" fill="hold"/>
                                        <p:tgtEl>
                                          <p:spTgt spid="2324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24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2451">
                                            <p:txEl>
                                              <p:pRg st="2" end="2"/>
                                            </p:txEl>
                                          </p:spTgt>
                                        </p:tgtEl>
                                        <p:attrNameLst>
                                          <p:attrName>style.visibility</p:attrName>
                                        </p:attrNameLst>
                                      </p:cBhvr>
                                      <p:to>
                                        <p:strVal val="visible"/>
                                      </p:to>
                                    </p:set>
                                    <p:anim calcmode="lin" valueType="num">
                                      <p:cBhvr additive="base">
                                        <p:cTn id="19" dur="500" fill="hold"/>
                                        <p:tgtEl>
                                          <p:spTgt spid="2324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24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2451">
                                            <p:txEl>
                                              <p:pRg st="3" end="3"/>
                                            </p:txEl>
                                          </p:spTgt>
                                        </p:tgtEl>
                                        <p:attrNameLst>
                                          <p:attrName>style.visibility</p:attrName>
                                        </p:attrNameLst>
                                      </p:cBhvr>
                                      <p:to>
                                        <p:strVal val="visible"/>
                                      </p:to>
                                    </p:set>
                                    <p:anim calcmode="lin" valueType="num">
                                      <p:cBhvr additive="base">
                                        <p:cTn id="25" dur="500" fill="hold"/>
                                        <p:tgtEl>
                                          <p:spTgt spid="23245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24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2451">
                                            <p:txEl>
                                              <p:pRg st="4" end="4"/>
                                            </p:txEl>
                                          </p:spTgt>
                                        </p:tgtEl>
                                        <p:attrNameLst>
                                          <p:attrName>style.visibility</p:attrName>
                                        </p:attrNameLst>
                                      </p:cBhvr>
                                      <p:to>
                                        <p:strVal val="visible"/>
                                      </p:to>
                                    </p:set>
                                    <p:anim calcmode="lin" valueType="num">
                                      <p:cBhvr additive="base">
                                        <p:cTn id="31" dur="500" fill="hold"/>
                                        <p:tgtEl>
                                          <p:spTgt spid="23245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245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build="p" autoUpdateAnimBg="0" advAuto="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0"/>
            <a:ext cx="8077200" cy="533400"/>
          </a:xfrm>
        </p:spPr>
        <p:txBody>
          <a:bodyPr/>
          <a:lstStyle/>
          <a:p>
            <a:pPr eaLnBrk="1" hangingPunct="1"/>
            <a:r>
              <a:rPr lang="zh-CN" altLang="en-US" sz="1600" b="1" smtClean="0">
                <a:solidFill>
                  <a:srgbClr val="FFFF00"/>
                </a:solidFill>
              </a:rPr>
              <a:t>生产计划体系</a:t>
            </a:r>
          </a:p>
        </p:txBody>
      </p:sp>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smtClean="0">
                <a:solidFill>
                  <a:srgbClr val="FF0000"/>
                </a:solidFill>
                <a:effectLst>
                  <a:outerShdw blurRad="38100" dist="38100" dir="2700000" algn="tl">
                    <a:srgbClr val="C0C0C0"/>
                  </a:outerShdw>
                </a:effectLst>
              </a:rPr>
              <a:t>小结</a:t>
            </a:r>
          </a:p>
          <a:p>
            <a:pPr lvl="1" eaLnBrk="1" hangingPunct="1">
              <a:lnSpc>
                <a:spcPct val="120000"/>
              </a:lnSpc>
              <a:defRPr/>
            </a:pPr>
            <a:endParaRPr lang="en-US" altLang="zh-CN" smtClean="0">
              <a:latin typeface="Times New Roman" pitchFamily="18" charset="0"/>
            </a:endParaRPr>
          </a:p>
        </p:txBody>
      </p:sp>
    </p:spTree>
  </p:cSld>
  <p:clrMapOvr>
    <a:masterClrMapping/>
  </p:clrMapOvr>
  <p:transition spd="slow">
    <p:randomBar dir="vert"/>
  </p:transition>
  <p:timing>
    <p:tnLst>
      <p:par>
        <p:cTn id="1" dur="indefinite" restart="never" nodeType="tmRoot"/>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6744</TotalTime>
  <Words>4344</Words>
  <Application>Microsoft Office PowerPoint</Application>
  <PresentationFormat>全屏显示(4:3)</PresentationFormat>
  <Paragraphs>788</Paragraphs>
  <Slides>53</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62" baseType="lpstr">
      <vt:lpstr>宋体</vt:lpstr>
      <vt:lpstr>Arial</vt:lpstr>
      <vt:lpstr>Arial Black</vt:lpstr>
      <vt:lpstr>Calibri</vt:lpstr>
      <vt:lpstr>Marlett</vt:lpstr>
      <vt:lpstr>Times New Roman</vt:lpstr>
      <vt:lpstr>Wingdings</vt:lpstr>
      <vt:lpstr>Pixel</vt:lpstr>
      <vt:lpstr>Visio</vt:lpstr>
      <vt:lpstr>课程内容体系</vt:lpstr>
      <vt:lpstr>5. 物料需求计划</vt:lpstr>
      <vt:lpstr>5. 物料需求计划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物料及物料清单</vt:lpstr>
      <vt:lpstr>PowerPoint 演示文稿</vt:lpstr>
      <vt:lpstr>PowerPoint 演示文稿</vt:lpstr>
      <vt:lpstr>独立需求与相关需求</vt:lpstr>
      <vt:lpstr>5.2 物料需求计划是什么？为什么做？</vt:lpstr>
      <vt:lpstr>5.2 物料需求计划是什么？为什么做？</vt:lpstr>
      <vt:lpstr>5.2 物料需求计划是什么？为什么做？</vt:lpstr>
      <vt:lpstr>5.2 物料需求计划是什么？为什么做？</vt:lpstr>
      <vt:lpstr>5.3 MRP的输入、输出逻辑</vt:lpstr>
      <vt:lpstr>5.4 MRP报表</vt:lpstr>
      <vt:lpstr>5.5 MRP的计算方法</vt:lpstr>
      <vt:lpstr>5.5 MRP的计算方法</vt:lpstr>
      <vt:lpstr>5.6 MRP的报表运算</vt:lpstr>
      <vt:lpstr>5.6 MRP的报表运算</vt:lpstr>
      <vt:lpstr>5.6 MRP的报表运算</vt:lpstr>
      <vt:lpstr>5.6 MRP的报表运算</vt:lpstr>
      <vt:lpstr>5.6 MRP的报表运算</vt:lpstr>
      <vt:lpstr>5.6 MRP的报表运算</vt:lpstr>
      <vt:lpstr>5.6 MRP的报表运算</vt:lpstr>
      <vt:lpstr>5.6 MRP的报表运算</vt:lpstr>
      <vt:lpstr>生产计划体系</vt:lpstr>
      <vt:lpstr>5.7 MRP的策略因素</vt:lpstr>
      <vt:lpstr>5.7 MRP的策略因素</vt:lpstr>
      <vt:lpstr>5.7 MRP的策略因素</vt:lpstr>
      <vt:lpstr>5.7 MRP的策略因素</vt:lpstr>
      <vt:lpstr>5.7 MRP的策略因素</vt:lpstr>
      <vt:lpstr>5.7 MRP的策略因素</vt:lpstr>
      <vt:lpstr>5.7 MRP的策略因素</vt:lpstr>
      <vt:lpstr>5.7 MRP的策略因素</vt:lpstr>
      <vt:lpstr>5.7 MRP的策略因素</vt:lpstr>
      <vt:lpstr>生产计划体系</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zhenyuan liu</dc:creator>
  <cp:lastModifiedBy>hustzyliu</cp:lastModifiedBy>
  <cp:revision>201</cp:revision>
  <cp:lastPrinted>1601-01-01T00:00:00Z</cp:lastPrinted>
  <dcterms:created xsi:type="dcterms:W3CDTF">1601-01-01T00:00:00Z</dcterms:created>
  <dcterms:modified xsi:type="dcterms:W3CDTF">2024-05-14T14:03:58Z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
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46"/>
  </p:notesMasterIdLst>
  <p:handoutMasterIdLst>
    <p:handoutMasterId r:id="rId47"/>
  </p:handoutMasterIdLst>
  <p:sldIdLst>
    <p:sldId id="257" r:id="rId2"/>
    <p:sldId id="417" r:id="rId3"/>
    <p:sldId id="471" r:id="rId4"/>
    <p:sldId id="420" r:id="rId5"/>
    <p:sldId id="422" r:id="rId6"/>
    <p:sldId id="424" r:id="rId7"/>
    <p:sldId id="425" r:id="rId8"/>
    <p:sldId id="426" r:id="rId9"/>
    <p:sldId id="428" r:id="rId10"/>
    <p:sldId id="429" r:id="rId11"/>
    <p:sldId id="472" r:id="rId12"/>
    <p:sldId id="438" r:id="rId13"/>
    <p:sldId id="439" r:id="rId14"/>
    <p:sldId id="441" r:id="rId15"/>
    <p:sldId id="442" r:id="rId16"/>
    <p:sldId id="443" r:id="rId17"/>
    <p:sldId id="444" r:id="rId18"/>
    <p:sldId id="473" r:id="rId19"/>
    <p:sldId id="430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74" r:id="rId28"/>
    <p:sldId id="446" r:id="rId29"/>
    <p:sldId id="447" r:id="rId30"/>
    <p:sldId id="448" r:id="rId31"/>
    <p:sldId id="454" r:id="rId32"/>
    <p:sldId id="449" r:id="rId33"/>
    <p:sldId id="461" r:id="rId34"/>
    <p:sldId id="462" r:id="rId35"/>
    <p:sldId id="456" r:id="rId36"/>
    <p:sldId id="468" r:id="rId37"/>
    <p:sldId id="469" r:id="rId38"/>
    <p:sldId id="457" r:id="rId39"/>
    <p:sldId id="464" r:id="rId40"/>
    <p:sldId id="465" r:id="rId41"/>
    <p:sldId id="466" r:id="rId42"/>
    <p:sldId id="451" r:id="rId43"/>
    <p:sldId id="452" r:id="rId44"/>
    <p:sldId id="470" r:id="rId45"/>
  </p:sldIdLst>
  <p:sldSz cx="9144000" cy="6858000" type="screen4x3"/>
  <p:notesSz cx="7099300" cy="10234613"/>
  <p:custShowLst>
    <p:custShow name="自定义放映1" id="0">
      <p:sldLst/>
    </p:custShow>
  </p:custShow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FF01"/>
    <a:srgbClr val="05FB0B"/>
    <a:srgbClr val="02E6FE"/>
    <a:srgbClr val="006600"/>
    <a:srgbClr val="CC99FF"/>
    <a:srgbClr val="B6CB35"/>
    <a:srgbClr val="66FFFF"/>
    <a:srgbClr val="DBFF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78" autoAdjust="0"/>
    <p:restoredTop sz="94652" autoAdjust="0"/>
  </p:normalViewPr>
  <p:slideViewPr>
    <p:cSldViewPr>
      <p:cViewPr varScale="1">
        <p:scale>
          <a:sx n="86" d="100"/>
          <a:sy n="86" d="100"/>
        </p:scale>
        <p:origin x="139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6"/>
    </p:cViewPr>
  </p:sorter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4FF252A8-18A2-4054-A83B-504147B57470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774A33C4-EB3E-4A92-83B2-0C34ECD6D1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783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096F8F0E-166B-4F25-A1A5-C689DEDAA8CE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latinLnBrk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B94654DE-C34A-465C-A278-56128C2345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578922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81E67CB-04D7-4D0A-87D6-CE111D9D45CF}" type="datetime1">
              <a:rPr lang="zh-CN" altLang="en-US" sz="1300" smtClean="0"/>
              <a:pPr eaLnBrk="1" hangingPunct="1">
                <a:spcBef>
                  <a:spcPct val="0"/>
                </a:spcBef>
              </a:pPr>
              <a:t>2025/4/14</a:t>
            </a:fld>
            <a:endParaRPr lang="en-US" altLang="zh-CN" sz="1300"/>
          </a:p>
        </p:txBody>
      </p:sp>
      <p:sp>
        <p:nvSpPr>
          <p:cNvPr id="174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29DEB52-5F1D-4611-8097-1994E1BA9EC2}" type="slidenum">
              <a:rPr lang="en-US" altLang="zh-CN" sz="1300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zh-CN" sz="1300"/>
          </a:p>
        </p:txBody>
      </p:sp>
      <p:sp>
        <p:nvSpPr>
          <p:cNvPr id="1741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F1059-A87C-4973-BC6D-78A8DD853B5F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F9262-D0A0-4904-8BAF-464A05C7E6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0314500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20A7E-0273-4653-B921-4BDD9D936676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4FC03-CCF8-40AA-A41B-0DDDF93D67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2557534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C4525-0F23-4C61-8818-8A35F85FFC8A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A7737F-B8E8-4F4F-AC1D-DC205BC2B8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1103115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7566A-9926-465F-8414-6EA7D64FD782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E94F7-AF9B-44C2-92FA-DEAE9CA083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0087379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FD1D-DBB2-4C59-B8B9-CC1794BE7C88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7D0F5-F331-4642-9C90-7C9EFE41E0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731463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D83D6-752D-4F80-B807-95DE1E5731FC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E29CA6-D8BD-4E6B-AFB5-7BB1D181E8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7974010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3CEED-6939-4104-B0AC-FD7E5AFD93D2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4FAEA-6DC7-44BC-9296-32A67CD297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89862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EF1C7-8B40-414A-B3C2-56DEF2EC37FC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08266-A558-44EE-AC7D-04BED617B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023429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4E4DD-A7D0-4E07-AD20-1D059729AEAD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37AC54-48F5-425B-8BC4-6B0D27F762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51999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0EDEF-17E9-47CE-84FF-958FCB62C258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16CD8C-FCBB-460E-9188-856F629998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38750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6071B-6A8C-4069-A344-D87F344C4395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0D44A-5A7E-4260-A8D4-C5F79094F0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807212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EAD3E-663E-41F9-B42A-A392621559BF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0046C-DB98-451A-898F-6332B44728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6606175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802AECBB-C3F2-40FD-B969-D6DE31BBA5CB}" type="datetime1">
              <a:rPr lang="zh-CN" altLang="en-US"/>
              <a:pPr>
                <a:defRPr/>
              </a:pPr>
              <a:t>2025/4/14</a:t>
            </a:fld>
            <a:endParaRPr lang="en-US" altLang="zh-CN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E0889FA9-A5C4-4CDB-BF4D-47FEAA2299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>
    <p:rand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9" Type="http://schemas.openxmlformats.org/officeDocument/2006/relationships/image" Target="../media/image410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6.png"/><Relationship Id="rId4" Type="http://schemas.openxmlformats.org/officeDocument/2006/relationships/image" Target="../media/image36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6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4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FAC4378-0352-47B1-A232-2CDCB29DF450}" type="slidenum">
              <a:rPr kumimoji="0" lang="en-US" altLang="zh-CN" sz="1400" smtClean="0"/>
              <a:pPr eaLnBrk="1" hangingPunct="1"/>
              <a:t>1</a:t>
            </a:fld>
            <a:endParaRPr kumimoji="0" lang="en-US" altLang="zh-CN" sz="14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76375" y="188913"/>
            <a:ext cx="6192838" cy="2503487"/>
            <a:chOff x="1104" y="1591"/>
            <a:chExt cx="3600" cy="1577"/>
          </a:xfrm>
        </p:grpSpPr>
        <p:sp>
          <p:nvSpPr>
            <p:cNvPr id="2057" name="Rectangle 6" descr="信纸"/>
            <p:cNvSpPr>
              <a:spLocks noChangeArrowheads="1"/>
            </p:cNvSpPr>
            <p:nvPr/>
          </p:nvSpPr>
          <p:spPr bwMode="auto">
            <a:xfrm>
              <a:off x="1464" y="1970"/>
              <a:ext cx="2880" cy="81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058" name="Group 7"/>
            <p:cNvGrpSpPr>
              <a:grpSpLocks/>
            </p:cNvGrpSpPr>
            <p:nvPr/>
          </p:nvGrpSpPr>
          <p:grpSpPr bwMode="auto">
            <a:xfrm>
              <a:off x="1104" y="1591"/>
              <a:ext cx="3600" cy="1577"/>
              <a:chOff x="1104" y="1591"/>
              <a:chExt cx="3600" cy="1577"/>
            </a:xfrm>
          </p:grpSpPr>
          <p:pic>
            <p:nvPicPr>
              <p:cNvPr id="2059" name="Picture 8" descr="印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07" y="2663"/>
                <a:ext cx="101" cy="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060" name="Group 9"/>
              <p:cNvGrpSpPr>
                <a:grpSpLocks/>
              </p:cNvGrpSpPr>
              <p:nvPr/>
            </p:nvGrpSpPr>
            <p:grpSpPr bwMode="auto">
              <a:xfrm>
                <a:off x="1104" y="1591"/>
                <a:ext cx="3600" cy="1577"/>
                <a:chOff x="1104" y="1584"/>
                <a:chExt cx="3600" cy="1577"/>
              </a:xfrm>
            </p:grpSpPr>
            <p:pic>
              <p:nvPicPr>
                <p:cNvPr id="2061" name="Picture 10" descr="卷轴2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04" y="1584"/>
                  <a:ext cx="3600" cy="15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6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04" y="2121"/>
                  <a:ext cx="1488" cy="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5400" b="1">
                      <a:latin typeface="黑体" pitchFamily="49" charset="-122"/>
                      <a:ea typeface="黑体" pitchFamily="49" charset="-122"/>
                    </a:rPr>
                    <a:t>运筹学</a:t>
                  </a:r>
                </a:p>
              </p:txBody>
            </p:sp>
          </p:grpSp>
        </p:grp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539750" y="2205038"/>
            <a:ext cx="8202613" cy="3941762"/>
            <a:chOff x="531" y="1440"/>
            <a:chExt cx="4605" cy="2256"/>
          </a:xfrm>
        </p:grpSpPr>
        <p:sp>
          <p:nvSpPr>
            <p:cNvPr id="2055" name="Text Box 13"/>
            <p:cNvSpPr txBox="1">
              <a:spLocks noChangeArrowheads="1"/>
            </p:cNvSpPr>
            <p:nvPr/>
          </p:nvSpPr>
          <p:spPr bwMode="auto">
            <a:xfrm>
              <a:off x="531" y="1440"/>
              <a:ext cx="343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运 筹 帷 幄 之 中</a:t>
              </a:r>
            </a:p>
          </p:txBody>
        </p:sp>
        <p:sp>
          <p:nvSpPr>
            <p:cNvPr id="2056" name="Text Box 14"/>
            <p:cNvSpPr txBox="1">
              <a:spLocks noChangeArrowheads="1"/>
            </p:cNvSpPr>
            <p:nvPr/>
          </p:nvSpPr>
          <p:spPr bwMode="auto">
            <a:xfrm>
              <a:off x="4793" y="1488"/>
              <a:ext cx="343" cy="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决 胜 千 里 之 外</a:t>
              </a:r>
            </a:p>
          </p:txBody>
        </p:sp>
      </p:grpSp>
      <p:sp>
        <p:nvSpPr>
          <p:cNvPr id="2053" name="Text Box 15"/>
          <p:cNvSpPr txBox="1">
            <a:spLocks noChangeArrowheads="1"/>
          </p:cNvSpPr>
          <p:nvPr/>
        </p:nvSpPr>
        <p:spPr bwMode="auto">
          <a:xfrm>
            <a:off x="2255838" y="2924175"/>
            <a:ext cx="446405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课件作者：曾志刚教授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13871059863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zgzeng@gmail.com</a:t>
            </a:r>
          </a:p>
        </p:txBody>
      </p:sp>
      <p:sp>
        <p:nvSpPr>
          <p:cNvPr id="2054" name="TextBox 2"/>
          <p:cNvSpPr txBox="1">
            <a:spLocks noChangeArrowheads="1"/>
          </p:cNvSpPr>
          <p:nvPr/>
        </p:nvSpPr>
        <p:spPr bwMode="auto">
          <a:xfrm>
            <a:off x="2411413" y="5013325"/>
            <a:ext cx="453707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主讲</a:t>
            </a:r>
            <a:r>
              <a:rPr lang="en-US" alt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课件修改</a:t>
            </a:r>
            <a:r>
              <a:rPr lang="en-US" altLang="zh-CN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b="1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：张钧副教授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18086497017</a:t>
            </a:r>
            <a:r>
              <a:rPr lang="zh-CN" altLang="en-US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，逸夫科技楼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1103#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2"/>
                </a:solidFill>
                <a:latin typeface="Times New Roman" pitchFamily="18" charset="0"/>
                <a:ea typeface="黑体" pitchFamily="49" charset="-122"/>
              </a:rPr>
              <a:t>junzhang@hust.edu.cn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95400" y="1844675"/>
            <a:ext cx="78486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线性规划的数学模型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线性规划的标准型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线性规划的图解法</a:t>
            </a:r>
            <a:endParaRPr kumimoji="0" lang="en-US" altLang="zh-CN" sz="2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线性规划问题解的性质</a:t>
            </a:r>
            <a:endParaRPr kumimoji="0" lang="en-US" altLang="zh-CN" sz="2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单纯形法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人工变量法</a:t>
            </a:r>
          </a:p>
        </p:txBody>
      </p:sp>
      <p:sp>
        <p:nvSpPr>
          <p:cNvPr id="2051" name="Rectangle 6" descr="信纸"/>
          <p:cNvSpPr>
            <a:spLocks noChangeArrowheads="1"/>
          </p:cNvSpPr>
          <p:nvPr/>
        </p:nvSpPr>
        <p:spPr bwMode="auto">
          <a:xfrm>
            <a:off x="1116013" y="404813"/>
            <a:ext cx="6551612" cy="863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52" name="Picture 10" descr="卷轴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8281988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11"/>
          <p:cNvSpPr txBox="1">
            <a:spLocks noChangeArrowheads="1"/>
          </p:cNvSpPr>
          <p:nvPr/>
        </p:nvSpPr>
        <p:spPr bwMode="auto">
          <a:xfrm>
            <a:off x="1763713" y="549275"/>
            <a:ext cx="5976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 线性规划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95400" y="1844675"/>
            <a:ext cx="78486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线性规划的数学模型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线性规划的标准型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线性规划的图解法</a:t>
            </a:r>
            <a:endParaRPr kumimoji="0" lang="en-US" altLang="zh-CN" sz="2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线性规划问题解的性质</a:t>
            </a:r>
            <a:endParaRPr kumimoji="0" lang="en-US" altLang="zh-CN" sz="2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单纯形法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人工变量法</a:t>
            </a:r>
          </a:p>
        </p:txBody>
      </p:sp>
      <p:sp>
        <p:nvSpPr>
          <p:cNvPr id="2051" name="Rectangle 6" descr="信纸"/>
          <p:cNvSpPr>
            <a:spLocks noChangeArrowheads="1"/>
          </p:cNvSpPr>
          <p:nvPr/>
        </p:nvSpPr>
        <p:spPr bwMode="auto">
          <a:xfrm>
            <a:off x="1116013" y="404813"/>
            <a:ext cx="6551612" cy="863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52" name="Picture 10" descr="卷轴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8281988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11"/>
          <p:cNvSpPr txBox="1">
            <a:spLocks noChangeArrowheads="1"/>
          </p:cNvSpPr>
          <p:nvPr/>
        </p:nvSpPr>
        <p:spPr bwMode="auto">
          <a:xfrm>
            <a:off x="1763713" y="549275"/>
            <a:ext cx="5976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 线性规划</a:t>
            </a:r>
          </a:p>
        </p:txBody>
      </p:sp>
    </p:spTree>
    <p:extLst>
      <p:ext uri="{BB962C8B-B14F-4D97-AF65-F5344CB8AC3E}">
        <p14:creationId xmlns:p14="http://schemas.microsoft.com/office/powerpoint/2010/main" val="132743237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0" y="765175"/>
            <a:ext cx="4643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1.1 </a:t>
            </a:r>
            <a:r>
              <a:rPr kumimoji="0"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问题的提出</a:t>
            </a:r>
            <a:endParaRPr kumimoji="0" lang="zh-CN" altLang="en-US" sz="180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79388" y="1341438"/>
            <a:ext cx="996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2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例 </a:t>
            </a:r>
            <a:r>
              <a:rPr kumimoji="0" lang="en-US" altLang="zh-CN" sz="32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endParaRPr kumimoji="0" lang="zh-CN" altLang="en-US" sz="3200" b="1">
              <a:solidFill>
                <a:srgbClr val="0033CC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258888" y="1341438"/>
            <a:ext cx="76993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某工厂在计划期内要安排生产</a:t>
            </a:r>
            <a:r>
              <a:rPr kumimoji="0" lang="en-US" altLang="zh-CN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Ⅰ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、</a:t>
            </a:r>
            <a:r>
              <a:rPr kumimoji="0" lang="en-US" altLang="zh-CN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Ⅱ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两种产品，已知生产单位产品所需的设备台时及</a:t>
            </a:r>
            <a:r>
              <a:rPr kumimoji="0" lang="en-US" altLang="zh-CN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A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、</a:t>
            </a:r>
            <a:r>
              <a:rPr kumimoji="0" lang="en-US" altLang="zh-CN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B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两种原材料的消耗，如下表所示</a:t>
            </a:r>
          </a:p>
        </p:txBody>
      </p:sp>
      <p:graphicFrame>
        <p:nvGraphicFramePr>
          <p:cNvPr id="91175" name="Group 39"/>
          <p:cNvGraphicFramePr>
            <a:graphicFrameLocks noGrp="1"/>
          </p:cNvGraphicFramePr>
          <p:nvPr/>
        </p:nvGraphicFramePr>
        <p:xfrm>
          <a:off x="971550" y="2919413"/>
          <a:ext cx="7086600" cy="2744785"/>
        </p:xfrm>
        <a:graphic>
          <a:graphicData uri="http://schemas.openxmlformats.org/drawingml/2006/table">
            <a:tbl>
              <a:tblPr/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产品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Ⅱ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设备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8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台时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原料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A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16kg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7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原料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12kg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利润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元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/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件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元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/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件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1027"/>
          <p:cNvSpPr txBox="1">
            <a:spLocks noChangeArrowheads="1"/>
          </p:cNvSpPr>
          <p:nvPr/>
        </p:nvSpPr>
        <p:spPr bwMode="auto">
          <a:xfrm>
            <a:off x="0" y="5751513"/>
            <a:ext cx="9144000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该工厂每生产一件产品</a:t>
            </a:r>
            <a:r>
              <a:rPr kumimoji="0" lang="en-US" altLang="zh-CN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Ⅰ</a:t>
            </a:r>
            <a:r>
              <a:rPr kumimoji="0"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可获利</a:t>
            </a:r>
            <a:r>
              <a:rPr kumimoji="0" lang="en-US" altLang="zh-CN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2</a:t>
            </a:r>
            <a:r>
              <a:rPr kumimoji="0"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元，每生产一件产品</a:t>
            </a:r>
            <a:r>
              <a:rPr kumimoji="0" lang="en-US" altLang="zh-CN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Ⅱ</a:t>
            </a:r>
            <a:r>
              <a:rPr kumimoji="0"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可获利</a:t>
            </a:r>
            <a:r>
              <a:rPr kumimoji="0" lang="en-US" altLang="zh-CN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3</a:t>
            </a:r>
            <a:r>
              <a:rPr kumimoji="0"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元</a:t>
            </a:r>
          </a:p>
          <a:p>
            <a: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b="1" dirty="0">
                <a:latin typeface="华文楷体" pitchFamily="2" charset="-122"/>
                <a:ea typeface="华文楷体" pitchFamily="2" charset="-122"/>
              </a:rPr>
              <a:t>问应如何安排计划使该工厂获利最多</a:t>
            </a:r>
            <a:r>
              <a:rPr kumimoji="0" lang="en-US" altLang="zh-CN" b="1" dirty="0">
                <a:latin typeface="华文楷体" pitchFamily="2" charset="-122"/>
                <a:ea typeface="华文楷体" pitchFamily="2" charset="-122"/>
              </a:rPr>
              <a:t>?</a:t>
            </a:r>
            <a:r>
              <a:rPr kumimoji="0" lang="en-US" altLang="zh-CN" sz="3600" dirty="0">
                <a:solidFill>
                  <a:srgbClr val="FFCC00"/>
                </a:solidFill>
                <a:latin typeface="华文楷体" pitchFamily="2" charset="-122"/>
                <a:ea typeface="华文楷体" pitchFamily="2" charset="-122"/>
              </a:rPr>
              <a:t> </a:t>
            </a:r>
            <a:endParaRPr kumimoji="0" lang="en-US" altLang="zh-CN" sz="4000" dirty="0">
              <a:solidFill>
                <a:srgbClr val="FFCC00"/>
              </a:solidFill>
              <a:latin typeface="Century Schoolbook" pitchFamily="18" charset="0"/>
            </a:endParaRPr>
          </a:p>
        </p:txBody>
      </p:sp>
      <p:sp>
        <p:nvSpPr>
          <p:cNvPr id="5158" name="Rectangle 2"/>
          <p:cNvSpPr txBox="1">
            <a:spLocks noChangeArrowheads="1"/>
          </p:cNvSpPr>
          <p:nvPr/>
        </p:nvSpPr>
        <p:spPr bwMode="auto">
          <a:xfrm>
            <a:off x="395288" y="33338"/>
            <a:ext cx="8231187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4000" dirty="0"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4000" dirty="0"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sz="4000" dirty="0">
                <a:latin typeface="黑体" pitchFamily="49" charset="-122"/>
                <a:ea typeface="黑体" pitchFamily="49" charset="-122"/>
              </a:rPr>
              <a:t>节  线性规划的数学模型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9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6" name="Object 2"/>
              <p:cNvSpPr txBox="1"/>
              <p:nvPr/>
            </p:nvSpPr>
            <p:spPr bwMode="auto">
              <a:xfrm>
                <a:off x="1287463" y="2349500"/>
                <a:ext cx="6164262" cy="863600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分别表示计划生产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II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产品的数量，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称它们为决策变量。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50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7463" y="2349500"/>
                <a:ext cx="6164262" cy="863600"/>
              </a:xfrm>
              <a:prstGeom prst="rect">
                <a:avLst/>
              </a:prstGeom>
              <a:blipFill>
                <a:blip r:embed="rId2"/>
                <a:stretch>
                  <a:fillRect l="-495" r="-593" b="-2113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Object 3"/>
              <p:cNvSpPr txBox="1"/>
              <p:nvPr/>
            </p:nvSpPr>
            <p:spPr bwMode="auto">
              <a:xfrm>
                <a:off x="1287463" y="3213100"/>
                <a:ext cx="6119812" cy="914400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生产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的数量多少，受资源拥有量的限制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这是约束条件。即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≤8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≤16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50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7463" y="3213100"/>
                <a:ext cx="6119812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Object 4"/>
              <p:cNvSpPr txBox="1"/>
              <p:nvPr/>
            </p:nvSpPr>
            <p:spPr bwMode="auto">
              <a:xfrm>
                <a:off x="1287463" y="4149725"/>
                <a:ext cx="6119812" cy="45720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生产的产品不能是负值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5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7463" y="4149725"/>
                <a:ext cx="6119812" cy="457200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9" name="Object 5"/>
              <p:cNvSpPr txBox="1"/>
              <p:nvPr/>
            </p:nvSpPr>
            <p:spPr bwMode="auto">
              <a:xfrm>
                <a:off x="1287463" y="4581525"/>
                <a:ext cx="6119812" cy="468313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如何安排生产，使利润最大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这是目标。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5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7463" y="4581525"/>
                <a:ext cx="6119812" cy="468313"/>
              </a:xfrm>
              <a:prstGeom prst="rect">
                <a:avLst/>
              </a:prstGeom>
              <a:blipFill>
                <a:blip r:embed="rId5"/>
                <a:stretch>
                  <a:fillRect b="-11842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684213" y="115888"/>
          <a:ext cx="7127875" cy="2133601"/>
        </p:xfrm>
        <a:graphic>
          <a:graphicData uri="http://schemas.openxmlformats.org/drawingml/2006/table">
            <a:tbl>
              <a:tblPr/>
              <a:tblGrid>
                <a:gridCol w="1782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产品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Ⅰ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Ⅱ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设备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台时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原料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16kg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原料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zh-CN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12kg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利润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件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件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530" name="Object 39"/>
              <p:cNvSpPr txBox="1"/>
              <p:nvPr/>
            </p:nvSpPr>
            <p:spPr bwMode="auto">
              <a:xfrm>
                <a:off x="758825" y="5732463"/>
                <a:ext cx="4244975" cy="504825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目标函数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530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8825" y="5732463"/>
                <a:ext cx="4244975" cy="504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40"/>
              <p:cNvSpPr txBox="1"/>
              <p:nvPr/>
            </p:nvSpPr>
            <p:spPr bwMode="auto">
              <a:xfrm>
                <a:off x="5076825" y="5084763"/>
                <a:ext cx="3311525" cy="1701800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ffectLst/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约束条件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≤  8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  4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  ≤16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   4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≤12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≥0 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531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825" y="5084763"/>
                <a:ext cx="3311525" cy="1701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0" y="5013325"/>
            <a:ext cx="3429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32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数学模型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 txBox="1">
            <a:spLocks noChangeArrowheads="1"/>
          </p:cNvSpPr>
          <p:nvPr/>
        </p:nvSpPr>
        <p:spPr bwMode="auto">
          <a:xfrm>
            <a:off x="179388" y="188913"/>
            <a:ext cx="8713787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例</a:t>
            </a:r>
            <a:r>
              <a:rPr kumimoji="0" lang="en-US" altLang="zh-CN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2.  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简化的环境保护问题</a:t>
            </a:r>
            <a:b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</a:b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      靠近某河流有两个化工厂</a:t>
            </a:r>
            <a:r>
              <a:rPr kumimoji="0" lang="en-US" altLang="zh-CN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(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见下图</a:t>
            </a:r>
            <a:r>
              <a:rPr kumimoji="0" lang="en-US" altLang="zh-CN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)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，流经第一化工厂的河流流量为</a:t>
            </a:r>
            <a:r>
              <a:rPr kumimoji="0" lang="zh-CN" altLang="en-US" sz="28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每天</a:t>
            </a:r>
            <a:r>
              <a:rPr kumimoji="0" lang="en-US" altLang="zh-CN" sz="28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500</a:t>
            </a:r>
            <a:r>
              <a:rPr kumimoji="0" lang="zh-CN" altLang="en-US" sz="28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万立方米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，在两个工厂之间有一条流量为</a:t>
            </a:r>
            <a:r>
              <a:rPr kumimoji="0" lang="zh-CN" altLang="en-US" sz="28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每天</a:t>
            </a:r>
            <a:r>
              <a:rPr kumimoji="0" lang="en-US" altLang="zh-CN" sz="28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200</a:t>
            </a:r>
            <a:r>
              <a:rPr kumimoji="0" lang="zh-CN" altLang="en-US" sz="28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万立方米</a:t>
            </a:r>
            <a:r>
              <a:rPr kumimoji="0" lang="zh-CN" altLang="en-US" sz="2800" b="1">
                <a:solidFill>
                  <a:srgbClr val="0033CC"/>
                </a:solidFill>
                <a:latin typeface="华文楷体" pitchFamily="2" charset="-122"/>
                <a:ea typeface="华文楷体" pitchFamily="2" charset="-122"/>
              </a:rPr>
              <a:t>的支流。</a:t>
            </a:r>
            <a:r>
              <a:rPr kumimoji="0" lang="zh-CN" altLang="en-US" sz="3200">
                <a:latin typeface="华文楷体" pitchFamily="2" charset="-122"/>
                <a:ea typeface="华文楷体" pitchFamily="2" charset="-122"/>
              </a:rPr>
              <a:t>  </a:t>
            </a:r>
            <a:endParaRPr kumimoji="0" lang="zh-CN" altLang="en-US" sz="4000">
              <a:latin typeface="华文楷体" pitchFamily="2" charset="-122"/>
              <a:ea typeface="华文楷体" pitchFamily="2" charset="-122"/>
            </a:endParaRPr>
          </a:p>
        </p:txBody>
      </p:sp>
      <p:pic>
        <p:nvPicPr>
          <p:cNvPr id="3" name="Picture 1028" descr="D:\OR-第三版校对稿\3nd运筹学-图及txt文件\tp\1g1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708275"/>
            <a:ext cx="7772400" cy="230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7"/>
          <p:cNvSpPr txBox="1">
            <a:spLocks noChangeArrowheads="1"/>
          </p:cNvSpPr>
          <p:nvPr/>
        </p:nvSpPr>
        <p:spPr bwMode="auto">
          <a:xfrm>
            <a:off x="250825" y="2781300"/>
            <a:ext cx="845185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第一化工厂每天排放含有某种有害物质的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工业污水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万立方米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，第二化工厂每天排放这种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工业污水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1.4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万立方米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。从第一化工厂排出的工业污水流到第二化工厂以前，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20%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可自然净化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。根据环保要求，河流中工业污水的含量应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不大于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0.2%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这两个工厂都需各自处理一部分工业污水。第一化工厂处理工业污水的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成本是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1000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元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/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万立方米</a:t>
            </a:r>
            <a:r>
              <a:rPr kumimoji="0" lang="zh-CN" altLang="en-US" b="1">
                <a:ea typeface="楷体_GB2312" pitchFamily="49" charset="-122"/>
                <a:cs typeface="Times New Roman" pitchFamily="18" charset="0"/>
              </a:rPr>
              <a:t>。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第二化工厂处理工业污水的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成本是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800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元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/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万立方米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现在要问在满足环保要求的条件下，每厂各应处理多少工业污水，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使这两个工厂总的处理工业污水费用最小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pic>
        <p:nvPicPr>
          <p:cNvPr id="8195" name="Picture 1028" descr="D:\OR-第三版校对稿\3nd运筹学-图及txt文件\tp\1g1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04813"/>
            <a:ext cx="7772400" cy="230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558" name="Object 6"/>
              <p:cNvSpPr txBox="1"/>
              <p:nvPr/>
            </p:nvSpPr>
            <p:spPr bwMode="auto">
              <a:xfrm>
                <a:off x="1547813" y="1268413"/>
                <a:ext cx="6105525" cy="914400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经第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工厂前的水质要求：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35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1268413"/>
                <a:ext cx="6105525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59" name="Object 7"/>
              <p:cNvSpPr txBox="1"/>
              <p:nvPr/>
            </p:nvSpPr>
            <p:spPr bwMode="auto">
              <a:xfrm>
                <a:off x="1547813" y="2133600"/>
                <a:ext cx="6119812" cy="146367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经第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工厂后的水质要求：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[0.8(2−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)+(1.4−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)]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700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355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2133600"/>
                <a:ext cx="6119812" cy="1463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0" name="矩形 8"/>
          <p:cNvSpPr>
            <a:spLocks noChangeArrowheads="1"/>
          </p:cNvSpPr>
          <p:nvPr/>
        </p:nvSpPr>
        <p:spPr bwMode="auto">
          <a:xfrm>
            <a:off x="250825" y="188913"/>
            <a:ext cx="856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rgbClr val="FF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设</a:t>
            </a:r>
            <a:r>
              <a:rPr kumimoji="0" lang="zh-CN" altLang="en-US" sz="2800">
                <a:solidFill>
                  <a:srgbClr val="FF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：</a:t>
            </a:r>
            <a:r>
              <a:rPr kumimoji="0" lang="zh-CN" altLang="en-US" sz="2800" b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第一化工厂每天处理工业污水量为</a:t>
            </a:r>
            <a:r>
              <a:rPr kumimoji="0" lang="en-US" altLang="zh-CN" sz="2800" b="1" i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x</a:t>
            </a:r>
            <a:r>
              <a:rPr kumimoji="0" lang="en-US" altLang="zh-CN" sz="2800" b="1" baseline="-30000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1</a:t>
            </a:r>
            <a:r>
              <a:rPr kumimoji="0" lang="zh-CN" altLang="en-US" sz="2800" b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万立方米，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116013" y="765175"/>
            <a:ext cx="739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第二化工厂每天处理工业污水量为</a:t>
            </a:r>
            <a:r>
              <a:rPr kumimoji="0" lang="en-US" altLang="zh-CN" sz="2800" b="1" i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x</a:t>
            </a:r>
            <a:r>
              <a:rPr kumimoji="0" lang="en-US" altLang="zh-CN" sz="1400" b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2</a:t>
            </a:r>
            <a:r>
              <a:rPr kumimoji="0" lang="zh-CN" altLang="en-US" sz="2800" b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万立方米</a:t>
            </a:r>
            <a:r>
              <a:rPr kumimoji="0" lang="en-US" altLang="zh-CN" sz="2800" b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.</a:t>
            </a:r>
            <a:endParaRPr kumimoji="0" lang="zh-CN" altLang="en-US" sz="2800" b="1"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611188" y="3716338"/>
            <a:ext cx="3048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32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数学模型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8" name="Object 2"/>
              <p:cNvSpPr txBox="1"/>
              <p:nvPr/>
            </p:nvSpPr>
            <p:spPr bwMode="auto">
              <a:xfrm>
                <a:off x="2555875" y="3789363"/>
                <a:ext cx="4679950" cy="3027362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目标函数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+800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约束条件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  ≥1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     0.8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≥1.6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      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  ≤2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        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≤1.4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      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57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3789363"/>
                <a:ext cx="4679950" cy="30273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 txBox="1">
            <a:spLocks noChangeArrowheads="1"/>
          </p:cNvSpPr>
          <p:nvPr/>
        </p:nvSpPr>
        <p:spPr bwMode="auto">
          <a:xfrm>
            <a:off x="381000" y="228600"/>
            <a:ext cx="2667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3600" b="1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共同的特征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22288" y="990600"/>
            <a:ext cx="8153400" cy="1825625"/>
          </a:xfrm>
          <a:prstGeom prst="rect">
            <a:avLst/>
          </a:prstGeom>
          <a:solidFill>
            <a:srgbClr val="FFFF66"/>
          </a:solidFill>
          <a:ln w="25400" algn="ctr">
            <a:solidFill>
              <a:srgbClr val="B32C1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609600" indent="-609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>
              <a:buFontTx/>
              <a:buAutoNum type="arabicParenBoth"/>
            </a:pPr>
            <a:r>
              <a:rPr kumimoji="0"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每一个线性规划问题都用一组决策变量              </a:t>
            </a:r>
          </a:p>
          <a:p>
            <a:pPr algn="just" eaLnBrk="1" hangingPunct="1"/>
            <a:r>
              <a:rPr kumimoji="0"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                                表示某一方案，这组决策变量的值就代表一个具体方案。一般这些变量取值是非负且连续的；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2" name="Object 2"/>
              <p:cNvSpPr txBox="1"/>
              <p:nvPr/>
            </p:nvSpPr>
            <p:spPr bwMode="auto">
              <a:xfrm>
                <a:off x="1114425" y="1417638"/>
                <a:ext cx="2473325" cy="5937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560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4425" y="1417638"/>
                <a:ext cx="2473325" cy="593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22288" y="3124200"/>
            <a:ext cx="8153400" cy="971550"/>
          </a:xfrm>
          <a:prstGeom prst="rect">
            <a:avLst/>
          </a:prstGeom>
          <a:solidFill>
            <a:srgbClr val="00FFFF"/>
          </a:solidFill>
          <a:ln w="25400" algn="ctr">
            <a:solidFill>
              <a:srgbClr val="B32C1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609600" indent="-609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0" lang="en-US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(2)</a:t>
            </a:r>
            <a:r>
              <a:rPr kumimoji="0"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存在可以量化的约束条件，这些约束条件可以用一组线性等式或线性不等式来表示</a:t>
            </a:r>
            <a:r>
              <a:rPr kumimoji="0" lang="en-US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;</a:t>
            </a:r>
            <a:endParaRPr kumimoji="0" lang="zh-CN" altLang="en-US" sz="2800" b="1">
              <a:solidFill>
                <a:srgbClr val="000000"/>
              </a:solidFill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22288" y="4611688"/>
            <a:ext cx="8153400" cy="1398587"/>
          </a:xfrm>
          <a:prstGeom prst="rect">
            <a:avLst/>
          </a:prstGeom>
          <a:solidFill>
            <a:srgbClr val="CC99FF"/>
          </a:solidFill>
          <a:ln w="25400" algn="ctr">
            <a:solidFill>
              <a:srgbClr val="B32C1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0" lang="en-US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(3) </a:t>
            </a:r>
            <a:r>
              <a:rPr kumimoji="0"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都有一个达到目标的要求，它可用决策变量的线性函数</a:t>
            </a:r>
            <a:r>
              <a:rPr kumimoji="0" lang="en-US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(</a:t>
            </a:r>
            <a:r>
              <a:rPr kumimoji="0"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称为目标函数</a:t>
            </a:r>
            <a:r>
              <a:rPr kumimoji="0" lang="en-US" altLang="zh-CN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)</a:t>
            </a:r>
            <a:r>
              <a:rPr kumimoji="0" lang="zh-CN" altLang="en-US" sz="28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来表示。按问题的不同，要求目标函数实现最大化或最小化。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矩形 1"/>
          <p:cNvSpPr>
            <a:spLocks noChangeArrowheads="1"/>
          </p:cNvSpPr>
          <p:nvPr/>
        </p:nvSpPr>
        <p:spPr bwMode="auto">
          <a:xfrm>
            <a:off x="1828800" y="152400"/>
            <a:ext cx="5213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6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线性规划的一般模型形式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Object 2"/>
              <p:cNvSpPr txBox="1"/>
              <p:nvPr/>
            </p:nvSpPr>
            <p:spPr bwMode="auto">
              <a:xfrm>
                <a:off x="860425" y="908050"/>
                <a:ext cx="7192963" cy="41148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目标函数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  (1.1)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约束条件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≤(=,≥)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≤(=,≥)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   ⋯⋯⋯⋯⋯⋯⋯⋯⋯⋯⋯⋯   (1.2)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≤(=,≥)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      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, ⋯, 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 ≥0    (1.3)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662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425" y="908050"/>
                <a:ext cx="7192963" cy="4114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1096" y="5157788"/>
            <a:ext cx="8915400" cy="1398587"/>
          </a:xfrm>
          <a:prstGeom prst="rect">
            <a:avLst/>
          </a:prstGeom>
          <a:solidFill>
            <a:srgbClr val="FFFF66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在线性规划的数学模型中</a:t>
            </a:r>
            <a:r>
              <a:rPr kumimoji="0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式</a:t>
            </a:r>
            <a:r>
              <a:rPr kumimoji="0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(1.1)</a:t>
            </a:r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目标函数</a:t>
            </a:r>
            <a:r>
              <a:rPr kumimoji="0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; </a:t>
            </a:r>
          </a:p>
          <a:p>
            <a:pPr eaLnBrk="1" hangingPunct="1"/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       式</a:t>
            </a:r>
            <a:r>
              <a:rPr kumimoji="0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( 1.2 )</a:t>
            </a:r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、式</a:t>
            </a:r>
            <a:r>
              <a:rPr kumimoji="0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( 1.3) </a:t>
            </a:r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约束条件</a:t>
            </a:r>
            <a:r>
              <a:rPr kumimoji="0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 eaLnBrk="1" hangingPunct="1"/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       式</a:t>
            </a:r>
            <a:r>
              <a:rPr kumimoji="0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(1.3)</a:t>
            </a:r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也称为变量的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非负约束条件</a:t>
            </a:r>
            <a:r>
              <a:rPr kumimoji="0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95400" y="1844675"/>
            <a:ext cx="78486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线性规划的数学模型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线性规划的标准型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线性规划的图解法</a:t>
            </a:r>
            <a:endParaRPr kumimoji="0" lang="en-US" altLang="zh-CN" sz="2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线性规划问题解的性质</a:t>
            </a:r>
            <a:endParaRPr kumimoji="0" lang="en-US" altLang="zh-CN" sz="2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单纯形法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人工变量法</a:t>
            </a:r>
          </a:p>
        </p:txBody>
      </p:sp>
      <p:sp>
        <p:nvSpPr>
          <p:cNvPr id="2051" name="Rectangle 6" descr="信纸"/>
          <p:cNvSpPr>
            <a:spLocks noChangeArrowheads="1"/>
          </p:cNvSpPr>
          <p:nvPr/>
        </p:nvSpPr>
        <p:spPr bwMode="auto">
          <a:xfrm>
            <a:off x="1116013" y="404813"/>
            <a:ext cx="6551612" cy="863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52" name="Picture 10" descr="卷轴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8281988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11"/>
          <p:cNvSpPr txBox="1">
            <a:spLocks noChangeArrowheads="1"/>
          </p:cNvSpPr>
          <p:nvPr/>
        </p:nvSpPr>
        <p:spPr bwMode="auto">
          <a:xfrm>
            <a:off x="1763713" y="549275"/>
            <a:ext cx="5976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 线性规划</a:t>
            </a:r>
          </a:p>
        </p:txBody>
      </p:sp>
    </p:spTree>
    <p:extLst>
      <p:ext uri="{BB962C8B-B14F-4D97-AF65-F5344CB8AC3E}">
        <p14:creationId xmlns:p14="http://schemas.microsoft.com/office/powerpoint/2010/main" val="47104458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"/>
          <p:cNvSpPr>
            <a:spLocks noChangeArrowheads="1"/>
          </p:cNvSpPr>
          <p:nvPr/>
        </p:nvSpPr>
        <p:spPr bwMode="auto">
          <a:xfrm>
            <a:off x="0" y="-26988"/>
            <a:ext cx="68762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线性规划的标准型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79388" y="620713"/>
            <a:ext cx="8713787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由前节可知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线性规划问题有各种不同的形式。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目标函数有的要求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max, 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有的要求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min;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约束条件可以是</a:t>
            </a:r>
            <a:r>
              <a:rPr kumimoji="0" lang="zh-CN" altLang="en-US" b="1">
                <a:solidFill>
                  <a:srgbClr val="00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≤</a:t>
            </a:r>
            <a:r>
              <a:rPr kumimoji="0" lang="zh-CN" altLang="en-US" b="1">
                <a:solidFill>
                  <a:srgbClr val="00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en-US" altLang="zh-CN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也可以是</a:t>
            </a:r>
            <a:r>
              <a:rPr kumimoji="0" lang="zh-CN" altLang="en-US" b="1">
                <a:solidFill>
                  <a:srgbClr val="00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≥</a:t>
            </a:r>
            <a:r>
              <a:rPr kumimoji="0" lang="zh-CN" altLang="en-US" b="1">
                <a:solidFill>
                  <a:srgbClr val="0066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形式的不等式</a:t>
            </a:r>
            <a:r>
              <a:rPr kumimoji="0" lang="en-US" altLang="zh-CN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还可以是等式。</a:t>
            </a:r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决策变量一般是非负约束</a:t>
            </a:r>
            <a:r>
              <a:rPr kumimoji="0" lang="en-US" altLang="zh-CN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但也允许在</a:t>
            </a:r>
            <a:r>
              <a:rPr kumimoji="0" lang="en-US" altLang="zh-CN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(-</a:t>
            </a:r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∞</a:t>
            </a:r>
            <a:r>
              <a:rPr kumimoji="0" lang="en-US" altLang="zh-CN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∞</a:t>
            </a:r>
            <a:r>
              <a:rPr kumimoji="0" lang="en-US" altLang="zh-CN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</a:t>
            </a:r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范围内取值</a:t>
            </a:r>
            <a:r>
              <a:rPr kumimoji="0" lang="en-US" altLang="zh-CN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即无约束。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将这些多种形式的数学模型统一变换为标准型式。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226" name="Object 2"/>
              <p:cNvSpPr txBox="1"/>
              <p:nvPr/>
            </p:nvSpPr>
            <p:spPr bwMode="auto">
              <a:xfrm>
                <a:off x="2460625" y="2538413"/>
                <a:ext cx="6678613" cy="3678237"/>
              </a:xfrm>
              <a:prstGeom prst="rect">
                <a:avLst/>
              </a:prstGeom>
              <a:solidFill>
                <a:srgbClr val="EDFF01"/>
              </a:solidFill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/>
                      </m:func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目标函数：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约束条件：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    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  ⋯⋯⋯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222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0625" y="2538413"/>
                <a:ext cx="6678613" cy="3678237"/>
              </a:xfrm>
              <a:prstGeom prst="rect">
                <a:avLst/>
              </a:prstGeom>
              <a:blipFill>
                <a:blip r:embed="rId2"/>
                <a:stretch>
                  <a:fillRect l="-822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395288" y="2492375"/>
            <a:ext cx="1946275" cy="898525"/>
          </a:xfrm>
          <a:prstGeom prst="rect">
            <a:avLst/>
          </a:prstGeom>
          <a:noFill/>
          <a:ln w="762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这里规定的</a:t>
            </a:r>
          </a:p>
          <a:p>
            <a:pPr eaLnBrk="1" hangingPunct="1"/>
            <a:r>
              <a:rPr kumimoji="0" lang="zh-CN" altLang="en-US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标准型式为</a:t>
            </a:r>
            <a:r>
              <a:rPr kumimoji="0" lang="en-US" altLang="zh-CN" b="1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kumimoji="0" lang="zh-CN" altLang="en-US" b="1">
              <a:solidFill>
                <a:srgbClr val="0066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755650" y="6237288"/>
            <a:ext cx="6584950" cy="4572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>
                <a:solidFill>
                  <a:schemeClr val="hlink"/>
                </a:solidFill>
                <a:ea typeface="黑体" pitchFamily="49" charset="-122"/>
              </a:rPr>
              <a:t>特点：目标函数求极大；等式约束；变量非负。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9573" grpId="0" animBg="1"/>
      <p:bldP spid="10957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6" name="Object 2"/>
              <p:cNvSpPr txBox="1"/>
              <p:nvPr/>
            </p:nvSpPr>
            <p:spPr bwMode="auto">
              <a:xfrm>
                <a:off x="0" y="0"/>
                <a:ext cx="5122863" cy="2562226"/>
              </a:xfrm>
              <a:prstGeom prst="rect">
                <a:avLst/>
              </a:prstGeom>
              <a:solidFill>
                <a:srgbClr val="EDFF01"/>
              </a:solidFill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/>
                      </m:func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目标函数：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约束条件：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, 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=1,2,⋯,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≥0, 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=1,2,⋯,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50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0"/>
                <a:ext cx="5122863" cy="25622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2565400"/>
            <a:ext cx="4284663" cy="1263650"/>
          </a:xfrm>
          <a:prstGeom prst="rect">
            <a:avLst/>
          </a:prstGeom>
          <a:noFill/>
          <a:ln w="762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在标准型式中规定各约束条件右端项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&gt;0,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否则等式两端乘以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-1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”</a:t>
            </a:r>
            <a:endParaRPr kumimoji="0" lang="zh-CN" altLang="en-US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74" name="Object 5"/>
              <p:cNvSpPr txBox="1"/>
              <p:nvPr/>
            </p:nvSpPr>
            <p:spPr bwMode="auto">
              <a:xfrm>
                <a:off x="4264025" y="2492375"/>
                <a:ext cx="4900613" cy="436562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目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标函数：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𝐶𝑋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约束条件：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𝐴𝑋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系数矩阵：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/>
                      </m:func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零向量：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；资源向量：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决策变量向量：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427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4025" y="2492375"/>
                <a:ext cx="4900613" cy="4365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084168" y="1844824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</a:rPr>
              <a:t>用矩阵表示为：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1"/>
          <p:cNvSpPr>
            <a:spLocks noChangeArrowheads="1"/>
          </p:cNvSpPr>
          <p:nvPr/>
        </p:nvSpPr>
        <p:spPr bwMode="auto">
          <a:xfrm>
            <a:off x="533400" y="304800"/>
            <a:ext cx="3856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2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如何变换为标准型：</a:t>
            </a:r>
          </a:p>
        </p:txBody>
      </p:sp>
      <p:sp>
        <p:nvSpPr>
          <p:cNvPr id="3" name="矩形 2"/>
          <p:cNvSpPr/>
          <p:nvPr/>
        </p:nvSpPr>
        <p:spPr>
          <a:xfrm>
            <a:off x="161925" y="1052513"/>
            <a:ext cx="8731250" cy="16890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kumimoji="0"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(1) </a:t>
            </a:r>
            <a:r>
              <a:rPr kumimoji="0"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若要求目标函数实现最小化，即</a:t>
            </a:r>
            <a:r>
              <a:rPr kumimoji="0"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min </a:t>
            </a:r>
            <a:r>
              <a:rPr kumimoji="0" lang="en-US" altLang="zh-CN" b="1" i="1" dirty="0">
                <a:solidFill>
                  <a:srgbClr val="00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</a:t>
            </a:r>
            <a:r>
              <a:rPr kumimoji="0" lang="en-US" altLang="zh-CN" b="1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CX</a:t>
            </a:r>
            <a:r>
              <a:rPr kumimoji="0"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。这时只需将目标函数最小化变换求目标函数最大化，即令</a:t>
            </a:r>
            <a:r>
              <a:rPr kumimoji="0" lang="en-US" altLang="zh-CN" b="1" i="1" dirty="0">
                <a:solidFill>
                  <a:srgbClr val="00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z′</a:t>
            </a:r>
            <a:r>
              <a:rPr kumimoji="0"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</a:t>
            </a:r>
            <a:r>
              <a:rPr kumimoji="0" lang="en-US" altLang="zh-CN" b="1" i="1" dirty="0">
                <a:solidFill>
                  <a:srgbClr val="00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-z</a:t>
            </a:r>
            <a:r>
              <a:rPr kumimoji="0"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，于是得到</a:t>
            </a:r>
            <a:r>
              <a:rPr kumimoji="0"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max </a:t>
            </a:r>
            <a:r>
              <a:rPr kumimoji="0" lang="en-US" altLang="zh-CN" b="1" i="1" dirty="0">
                <a:solidFill>
                  <a:srgbClr val="000000"/>
                </a:solidFill>
                <a:highlight>
                  <a:srgbClr val="FFFF00"/>
                </a:highlight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z′ </a:t>
            </a:r>
            <a:r>
              <a:rPr kumimoji="0"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 </a:t>
            </a:r>
            <a:r>
              <a:rPr kumimoji="0" lang="en-US" altLang="zh-CN" b="1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-CX</a:t>
            </a:r>
            <a:r>
              <a:rPr kumimoji="0"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。这就同标准型的目标函数的形式一致了。</a:t>
            </a:r>
          </a:p>
        </p:txBody>
      </p:sp>
      <p:sp>
        <p:nvSpPr>
          <p:cNvPr id="4" name="矩形 3"/>
          <p:cNvSpPr/>
          <p:nvPr/>
        </p:nvSpPr>
        <p:spPr>
          <a:xfrm>
            <a:off x="179388" y="3213100"/>
            <a:ext cx="8785225" cy="34036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kumimoji="0"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(2) </a:t>
            </a:r>
            <a:r>
              <a:rPr kumimoji="0"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约束方程为不等式。这里有两种情况：</a:t>
            </a:r>
          </a:p>
          <a:p>
            <a:pPr algn="just">
              <a:lnSpc>
                <a:spcPct val="150000"/>
              </a:lnSpc>
              <a:defRPr/>
            </a:pPr>
            <a:r>
              <a:rPr kumimoji="0"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一种是约束方程为</a:t>
            </a:r>
            <a:r>
              <a:rPr kumimoji="0" lang="zh-CN" altLang="en-US" b="1" dirty="0">
                <a:solidFill>
                  <a:schemeClr val="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≤</a:t>
            </a:r>
            <a:r>
              <a:rPr kumimoji="0" lang="zh-CN" altLang="en-US" b="1" dirty="0">
                <a:solidFill>
                  <a:schemeClr val="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不等式，则可在</a:t>
            </a:r>
            <a:r>
              <a:rPr kumimoji="0" lang="zh-CN" altLang="en-US" b="1" dirty="0">
                <a:solidFill>
                  <a:schemeClr val="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≤</a:t>
            </a:r>
            <a:r>
              <a:rPr kumimoji="0" lang="zh-CN" altLang="en-US" b="1" dirty="0">
                <a:solidFill>
                  <a:schemeClr val="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不等式的左端加入非负松弛变量，把原</a:t>
            </a:r>
            <a:r>
              <a:rPr kumimoji="0" lang="zh-CN" altLang="en-US" b="1" dirty="0">
                <a:solidFill>
                  <a:schemeClr val="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≤</a:t>
            </a:r>
            <a:r>
              <a:rPr kumimoji="0" lang="zh-CN" altLang="en-US" b="1" dirty="0">
                <a:solidFill>
                  <a:schemeClr val="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不等式变为等式；</a:t>
            </a:r>
          </a:p>
          <a:p>
            <a:pPr algn="just">
              <a:lnSpc>
                <a:spcPct val="150000"/>
              </a:lnSpc>
              <a:defRPr/>
            </a:pPr>
            <a:r>
              <a:rPr kumimoji="0" lang="zh-CN" altLang="en-US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另一种是约束方程为</a:t>
            </a:r>
            <a:r>
              <a:rPr kumimoji="0" lang="zh-CN" altLang="en-US" b="1" dirty="0">
                <a:solidFill>
                  <a:schemeClr val="fol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≥</a:t>
            </a:r>
            <a:r>
              <a:rPr kumimoji="0" lang="zh-CN" altLang="en-US" b="1" dirty="0">
                <a:solidFill>
                  <a:schemeClr val="fol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zh-CN" altLang="en-US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不等式，则可在</a:t>
            </a:r>
            <a:r>
              <a:rPr kumimoji="0" lang="zh-CN" altLang="en-US" b="1" dirty="0">
                <a:solidFill>
                  <a:schemeClr val="fol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≥</a:t>
            </a:r>
            <a:r>
              <a:rPr kumimoji="0" lang="zh-CN" altLang="en-US" b="1" dirty="0">
                <a:solidFill>
                  <a:schemeClr val="folHlink"/>
                </a:solidFill>
                <a:latin typeface="Times New Roman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zh-CN" altLang="en-US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不等式的左端减去一个非负剩余变量</a:t>
            </a:r>
            <a:r>
              <a:rPr kumimoji="0" lang="en-US" altLang="zh-CN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也可称松弛变量</a:t>
            </a:r>
            <a:r>
              <a:rPr kumimoji="0" lang="en-US" altLang="zh-CN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zh-CN" altLang="en-US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，把不等式约束条件变为等式约束条件。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1"/>
          <p:cNvSpPr>
            <a:spLocks noChangeArrowheads="1"/>
          </p:cNvSpPr>
          <p:nvPr/>
        </p:nvSpPr>
        <p:spPr bwMode="auto">
          <a:xfrm>
            <a:off x="0" y="0"/>
            <a:ext cx="5902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  </a:t>
            </a:r>
            <a:r>
              <a:rPr kumimoji="0"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将例</a:t>
            </a:r>
            <a:r>
              <a:rPr kumimoji="0" lang="en-US" altLang="zh-CN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的数学模型化为标准型。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74625" y="3357563"/>
            <a:ext cx="4829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的数学模型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加松驰变量后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298" name="Object 2"/>
              <p:cNvSpPr txBox="1"/>
              <p:nvPr/>
            </p:nvSpPr>
            <p:spPr bwMode="auto">
              <a:xfrm>
                <a:off x="109538" y="3962400"/>
                <a:ext cx="8470900" cy="286385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≤8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  ≤16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≤12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⇒   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+  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     =8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       +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   =16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      +  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529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538" y="3962400"/>
                <a:ext cx="8470900" cy="2863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57" name="Object 3"/>
              <p:cNvSpPr txBox="1"/>
              <p:nvPr/>
            </p:nvSpPr>
            <p:spPr bwMode="auto">
              <a:xfrm>
                <a:off x="395288" y="865188"/>
                <a:ext cx="4176712" cy="256381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≤8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  4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   ≤16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    4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≤12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55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288" y="865188"/>
                <a:ext cx="4176712" cy="25638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8" name="矩形 5"/>
          <p:cNvSpPr>
            <a:spLocks noChangeArrowheads="1"/>
          </p:cNvSpPr>
          <p:nvPr/>
        </p:nvSpPr>
        <p:spPr bwMode="auto">
          <a:xfrm>
            <a:off x="0" y="476250"/>
            <a:ext cx="457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kumimoji="0" lang="zh-CN" altLang="en-US" sz="2800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的数学模型为</a:t>
            </a: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5211817" y="1926104"/>
            <a:ext cx="3924300" cy="193899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所加松弛变量</a:t>
            </a:r>
            <a:r>
              <a:rPr kumimoji="0"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kumimoji="0"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kumimoji="0"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kumimoji="0" lang="en-US" altLang="zh-CN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表示没有被利用的资源。当然也没有利润</a:t>
            </a:r>
            <a:r>
              <a:rPr kumimoji="0" lang="en-US" altLang="zh-CN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在目标函数中其系数应为零</a:t>
            </a:r>
            <a:r>
              <a:rPr kumimoji="0" lang="en-US" altLang="zh-CN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即</a:t>
            </a:r>
            <a:r>
              <a:rPr kumimoji="0"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kumimoji="0" lang="en-US" altLang="zh-CN" b="1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, </a:t>
            </a:r>
            <a:r>
              <a:rPr kumimoji="0"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kumimoji="0" lang="en-US" altLang="zh-CN" b="1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, </a:t>
            </a:r>
            <a:r>
              <a:rPr kumimoji="0" lang="en-US" altLang="zh-CN" b="1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</a:t>
            </a:r>
            <a:r>
              <a:rPr kumimoji="0" lang="en-US" altLang="zh-CN" b="1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kumimoji="0"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0</a:t>
            </a:r>
            <a:r>
              <a:rPr kumimoji="0"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2"/>
          <p:cNvSpPr>
            <a:spLocks noChangeArrowheads="1"/>
          </p:cNvSpPr>
          <p:nvPr/>
        </p:nvSpPr>
        <p:spPr bwMode="auto">
          <a:xfrm>
            <a:off x="323850" y="260350"/>
            <a:ext cx="7634288" cy="860425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(3) </a:t>
            </a:r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若存在取值无约束的变量</a:t>
            </a:r>
            <a:r>
              <a:rPr kumimoji="0" lang="en-US" altLang="zh-CN" b="1" i="1" dirty="0" err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 dirty="0" err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k</a:t>
            </a:r>
            <a:r>
              <a:rPr kumimoji="0" lang="en-US" altLang="zh-CN" b="1" i="1" baseline="-30000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 i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可令                   </a:t>
            </a:r>
            <a:r>
              <a:rPr kumimoji="0" lang="en-US" altLang="zh-CN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</a:p>
          <a:p>
            <a:pPr eaLnBrk="1" hangingPunct="1"/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其中                  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Object 2"/>
              <p:cNvSpPr txBox="1"/>
              <p:nvPr/>
            </p:nvSpPr>
            <p:spPr bwMode="auto">
              <a:xfrm>
                <a:off x="5292080" y="227173"/>
                <a:ext cx="1752600" cy="5461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579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080" y="227173"/>
                <a:ext cx="1752600" cy="546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Object 3"/>
              <p:cNvSpPr txBox="1"/>
              <p:nvPr/>
            </p:nvSpPr>
            <p:spPr bwMode="auto">
              <a:xfrm>
                <a:off x="1431925" y="580231"/>
                <a:ext cx="1524000" cy="5429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 , 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"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580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1925" y="580231"/>
                <a:ext cx="1524000" cy="542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50825" y="1125538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任何形式的数学模型都可化为标准型</a:t>
            </a:r>
            <a:r>
              <a:rPr kumimoji="0" lang="en-US" altLang="zh-CN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0"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下面举例说明。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50825" y="1700213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4  </a:t>
            </a:r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将下述线性规划问题化为标准型</a:t>
            </a:r>
            <a:endParaRPr kumimoji="0" lang="en-US" altLang="zh-CN" b="1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20" name="Object 4"/>
              <p:cNvSpPr txBox="1"/>
              <p:nvPr/>
            </p:nvSpPr>
            <p:spPr bwMode="auto">
              <a:xfrm>
                <a:off x="2124074" y="2636838"/>
                <a:ext cx="5904309" cy="316388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 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=5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≥0</m:t>
                            </m:r>
                            <m:func>
                              <m:func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为</m:t>
                                </m:r>
                              </m:e>
                            </m:func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无约束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042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4" y="2636838"/>
                <a:ext cx="5904309" cy="3163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0" y="1916113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处理的步骤：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23850" y="2492375"/>
            <a:ext cx="8588375" cy="19177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(1)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用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5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替换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，其中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5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≥0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；</a:t>
            </a:r>
          </a:p>
          <a:p>
            <a:pPr algn="just" eaLnBrk="1" hangingPunct="1"/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(2)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在第一个约束不等式≤号的左端</a:t>
            </a:r>
            <a:r>
              <a:rPr kumimoji="0"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加入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松弛变量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；</a:t>
            </a:r>
          </a:p>
          <a:p>
            <a:pPr algn="just" eaLnBrk="1" hangingPunct="1"/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(3)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在第二个约束不等式≥号的左端</a:t>
            </a:r>
            <a:r>
              <a:rPr kumimoji="0"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减去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剩余变量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7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；</a:t>
            </a:r>
          </a:p>
          <a:p>
            <a:pPr algn="just" eaLnBrk="1" hangingPunct="1"/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(4)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令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z′= -z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，把求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min z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改为求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max z′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，即可得到该问题的标准型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Object 4"/>
              <p:cNvSpPr txBox="1"/>
              <p:nvPr/>
            </p:nvSpPr>
            <p:spPr bwMode="auto">
              <a:xfrm>
                <a:off x="4860032" y="44451"/>
                <a:ext cx="4176464" cy="2232422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≤7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≥3</m:t>
                            </m:r>
                          </m:e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=5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≥0</m:t>
                            </m:r>
                            <m:func>
                              <m:func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为</m:t>
                                </m:r>
                              </m:e>
                            </m:func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无约束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60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0032" y="44451"/>
                <a:ext cx="4176464" cy="2232422"/>
              </a:xfrm>
              <a:prstGeom prst="rect">
                <a:avLst/>
              </a:prstGeom>
              <a:blipFill>
                <a:blip r:embed="rId3"/>
                <a:stretch>
                  <a:fillRect l="-292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42" name="Object 2"/>
              <p:cNvSpPr txBox="1"/>
              <p:nvPr/>
            </p:nvSpPr>
            <p:spPr bwMode="auto">
              <a:xfrm>
                <a:off x="1492250" y="4089400"/>
                <a:ext cx="6948488" cy="2768600"/>
              </a:xfrm>
              <a:prstGeom prst="rect">
                <a:avLst/>
              </a:prstGeom>
              <a:solidFill>
                <a:srgbClr val="02E6FE"/>
              </a:solidFill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  + (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) +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   =7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  + (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)   −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  +(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)     =5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144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2250" y="4089400"/>
                <a:ext cx="6948488" cy="2768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95400" y="1844675"/>
            <a:ext cx="78486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线性规划的数学模型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线性规划的标准型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线性规划的图解法</a:t>
            </a:r>
            <a:endParaRPr kumimoji="0" lang="en-US" altLang="zh-CN" sz="2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线性规划问题解的性质</a:t>
            </a:r>
            <a:endParaRPr kumimoji="0" lang="en-US" altLang="zh-CN" sz="2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单纯形法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人工变量法</a:t>
            </a:r>
          </a:p>
        </p:txBody>
      </p:sp>
      <p:sp>
        <p:nvSpPr>
          <p:cNvPr id="2051" name="Rectangle 6" descr="信纸"/>
          <p:cNvSpPr>
            <a:spLocks noChangeArrowheads="1"/>
          </p:cNvSpPr>
          <p:nvPr/>
        </p:nvSpPr>
        <p:spPr bwMode="auto">
          <a:xfrm>
            <a:off x="1116013" y="404813"/>
            <a:ext cx="6551612" cy="863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52" name="Picture 10" descr="卷轴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8281988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11"/>
          <p:cNvSpPr txBox="1">
            <a:spLocks noChangeArrowheads="1"/>
          </p:cNvSpPr>
          <p:nvPr/>
        </p:nvSpPr>
        <p:spPr bwMode="auto">
          <a:xfrm>
            <a:off x="1763713" y="549275"/>
            <a:ext cx="5976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 线性规划</a:t>
            </a:r>
          </a:p>
        </p:txBody>
      </p:sp>
    </p:spTree>
    <p:extLst>
      <p:ext uri="{BB962C8B-B14F-4D97-AF65-F5344CB8AC3E}">
        <p14:creationId xmlns:p14="http://schemas.microsoft.com/office/powerpoint/2010/main" val="241777224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ChangeArrowheads="1"/>
          </p:cNvSpPr>
          <p:nvPr/>
        </p:nvSpPr>
        <p:spPr bwMode="auto">
          <a:xfrm>
            <a:off x="0" y="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3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节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  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线性规划的图解法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0" y="981075"/>
            <a:ext cx="9144000" cy="136842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kumimoji="0"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是二维空间（平面）线性规划问题，可用作图法直观地来表述它的求解。因               必须在直角坐标的第</a:t>
            </a:r>
            <a:r>
              <a:rPr kumimoji="0" lang="en-US" altLang="zh-CN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象限内作图，求解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6" name="Object 2"/>
              <p:cNvSpPr txBox="1"/>
              <p:nvPr/>
            </p:nvSpPr>
            <p:spPr bwMode="auto">
              <a:xfrm>
                <a:off x="2195736" y="1302861"/>
                <a:ext cx="1441450" cy="5302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10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736" y="1302861"/>
                <a:ext cx="1441450" cy="530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0" y="2492375"/>
            <a:ext cx="4643438" cy="410845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l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在以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为坐标轴的直角坐标系中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非负条件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≥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是指第一象限。例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的每个约束条件都代表一个半平面。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Char char="l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如约束条件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+ 2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≤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是代表以直线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+ 2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= 8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为边界的左下方的半平面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若同时满足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≥0 ,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+ 2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≤ 8 , 4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≤16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和 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≤12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的约束条件的点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必然落在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, 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坐标轴和由这三个半平面交成的区域内。</a:t>
            </a:r>
          </a:p>
        </p:txBody>
      </p:sp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0" y="549275"/>
            <a:ext cx="8456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ea typeface="楷体_GB2312" pitchFamily="49" charset="-122"/>
              </a:rPr>
              <a:t>图解法简单直观，有助于了解线性规划问题求解的基本原理。</a:t>
            </a:r>
          </a:p>
        </p:txBody>
      </p:sp>
      <p:pic>
        <p:nvPicPr>
          <p:cNvPr id="4" name="Picture 4" descr="D:\OR-第三版校对稿\3nd运筹学-图及txt文件\tp\1g2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841750"/>
            <a:ext cx="4500562" cy="301625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530" name="Object 39"/>
              <p:cNvSpPr txBox="1"/>
              <p:nvPr/>
            </p:nvSpPr>
            <p:spPr bwMode="auto">
              <a:xfrm>
                <a:off x="3871811" y="1773237"/>
                <a:ext cx="4244975" cy="504825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目标函数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530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1811" y="1773237"/>
                <a:ext cx="4244975" cy="504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40"/>
              <p:cNvSpPr txBox="1"/>
              <p:nvPr/>
            </p:nvSpPr>
            <p:spPr bwMode="auto">
              <a:xfrm>
                <a:off x="5148263" y="2349500"/>
                <a:ext cx="3311525" cy="1701800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ffectLst/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约束条件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≤  8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  4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  ≤16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   4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≤12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≥0 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531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8263" y="2349500"/>
                <a:ext cx="3311525" cy="1701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D:\OR-第三版校对稿\3nd运筹学-图及txt文件\tp\1g2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8913"/>
            <a:ext cx="5334000" cy="357505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130" name="Object 2"/>
              <p:cNvSpPr txBox="1"/>
              <p:nvPr/>
            </p:nvSpPr>
            <p:spPr bwMode="auto">
              <a:xfrm>
                <a:off x="5292080" y="476250"/>
                <a:ext cx="3600400" cy="223267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</a:t>
                </a:r>
                <a:r>
                  <a:rPr lang="en-US" altLang="zh-CN" i="1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s.t.</a:t>
                </a:r>
                <a:r>
                  <a: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  4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   ≤16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    4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≤12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4813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080" y="476250"/>
                <a:ext cx="3600400" cy="2232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50825" y="4343400"/>
            <a:ext cx="82835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的所有约束条件为半平面交成的区域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见上图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中的阴影部分。阴影区域中的每一个点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包括边界点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都是这个线性规划问题的解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称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可行解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,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因而此区域是例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的线性规划问题的解集合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称它为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可行域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 descr="D:\OR-第三版校对稿\3nd运筹学-图及txt文件\tp\1g3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4495800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/>
              <p:cNvSpPr txBox="1"/>
              <p:nvPr/>
            </p:nvSpPr>
            <p:spPr bwMode="auto">
              <a:xfrm>
                <a:off x="4211638" y="1125538"/>
                <a:ext cx="1931987" cy="1066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表示一簇平行线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1638" y="1125538"/>
                <a:ext cx="1931987" cy="1066800"/>
              </a:xfrm>
              <a:prstGeom prst="rect">
                <a:avLst/>
              </a:prstGeom>
              <a:blipFill>
                <a:blip r:embed="rId3"/>
                <a:stretch>
                  <a:fillRect l="-1577" r="-347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10"/>
          <p:cNvSpPr>
            <a:spLocks noChangeShapeType="1"/>
          </p:cNvSpPr>
          <p:nvPr/>
        </p:nvSpPr>
        <p:spPr bwMode="auto">
          <a:xfrm flipH="1">
            <a:off x="2693988" y="2133600"/>
            <a:ext cx="1517650" cy="6127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55" name="Object 3"/>
              <p:cNvSpPr txBox="1"/>
              <p:nvPr/>
            </p:nvSpPr>
            <p:spPr bwMode="auto">
              <a:xfrm>
                <a:off x="5076825" y="404813"/>
                <a:ext cx="2438400" cy="474662"/>
              </a:xfrm>
              <a:prstGeom prst="rect">
                <a:avLst/>
              </a:prstGeom>
              <a:noFill/>
              <a:ln w="76200">
                <a:solidFill>
                  <a:schemeClr val="hlink"/>
                </a:solidFill>
                <a:miter lim="800000"/>
                <a:headEnd/>
                <a:tailEnd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915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825" y="404813"/>
                <a:ext cx="2438400" cy="474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76200">
                <a:solidFill>
                  <a:schemeClr val="hlink"/>
                </a:solidFill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635375" y="40481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目标函数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1676400" y="692150"/>
            <a:ext cx="2032000" cy="6794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892550" y="2276475"/>
            <a:ext cx="5251450" cy="4572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目标值在（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）点，达到最大值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14</a:t>
            </a:r>
            <a:endParaRPr kumimoji="0" lang="zh-CN" altLang="en-US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52400" y="3213100"/>
            <a:ext cx="8991600" cy="3597275"/>
          </a:xfrm>
          <a:prstGeom prst="rect">
            <a:avLst/>
          </a:prstGeom>
          <a:solidFill>
            <a:srgbClr val="EDF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再分析目标函数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=2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+3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在这坐标平面上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它可表示以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为参数、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-2/3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为斜率的一族平行线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: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pl-PL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=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</a:t>
            </a:r>
            <a:r>
              <a:rPr kumimoji="0" lang="pl-PL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(2/3)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pl-PL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pl-PL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pl-PL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/3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位于同一直线上的点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具有相同的目标函数值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因而称它为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“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等值线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”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值由小变大时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直线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=-(2/3)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/3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沿其法线方向向右上方移动。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当移动到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点时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使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值在可行域边界上实现最大化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见上图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这就得到了例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的最优解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Q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点的坐标为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(4,2)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。于是可计算出满足所有约束条件下的最大值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= 14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468313" y="1844675"/>
            <a:ext cx="2087562" cy="1439863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684213" y="1412875"/>
            <a:ext cx="2592387" cy="1800225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684213" y="836613"/>
            <a:ext cx="3311525" cy="230505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 animBg="1"/>
      <p:bldP spid="7179" grpId="0" animBg="1"/>
      <p:bldP spid="7179" grpId="1" animBg="1"/>
      <p:bldP spid="7180" grpId="0" animBg="1"/>
      <p:bldP spid="7180" grpId="1" animBg="1"/>
      <p:bldP spid="718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468313" y="0"/>
            <a:ext cx="8458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上例中求解得到问题的最优解是唯一的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但对一般线性规划问题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求解结果还可能出现以下几种情况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endParaRPr kumimoji="0" lang="zh-CN" altLang="en-US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5363" name="矩形 2"/>
          <p:cNvSpPr>
            <a:spLocks noChangeArrowheads="1"/>
          </p:cNvSpPr>
          <p:nvPr/>
        </p:nvSpPr>
        <p:spPr bwMode="auto">
          <a:xfrm>
            <a:off x="326232" y="802690"/>
            <a:ext cx="8229600" cy="1373188"/>
          </a:xfrm>
          <a:prstGeom prst="rect">
            <a:avLst/>
          </a:prstGeom>
          <a:solidFill>
            <a:srgbClr val="EDF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（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）无穷多最优解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多重最优解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，见图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</a:p>
          <a:p>
            <a:pPr eaLnBrk="1" hangingPunct="1"/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（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）无界解，见图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</a:p>
          <a:p>
            <a:pPr eaLnBrk="1" hangingPunct="1"/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（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）无可行解，见图</a:t>
            </a:r>
            <a:r>
              <a:rPr kumimoji="0"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</a:p>
        </p:txBody>
      </p:sp>
      <p:pic>
        <p:nvPicPr>
          <p:cNvPr id="15364" name="Picture 4" descr="D:\OR-第三版校对稿\3nd运筹学-图及txt文件\tp\1g4.t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141538"/>
            <a:ext cx="3168650" cy="197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4" descr="D:\OR-第三版校对稿\3nd运筹学-图及txt文件\tp\1g5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076700"/>
            <a:ext cx="3313112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3" descr="D:\OR-第三版校对稿\3nd运筹学-图及txt文件\tp\1g2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076700"/>
            <a:ext cx="3317875" cy="222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3635375" y="4137025"/>
            <a:ext cx="646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仿宋_GB2312" pitchFamily="49" charset="-122"/>
                <a:ea typeface="仿宋_GB2312" pitchFamily="49" charset="-122"/>
              </a:rPr>
              <a:t>图</a:t>
            </a:r>
            <a:r>
              <a:rPr kumimoji="0" lang="en-US" altLang="zh-CN">
                <a:latin typeface="仿宋_GB2312" pitchFamily="49" charset="-122"/>
                <a:ea typeface="仿宋_GB2312" pitchFamily="49" charset="-122"/>
              </a:rPr>
              <a:t>1</a:t>
            </a:r>
            <a:endParaRPr kumimoji="0" lang="zh-CN" altLang="en-US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1042988" y="6388100"/>
            <a:ext cx="6461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仿宋_GB2312" pitchFamily="49" charset="-122"/>
                <a:ea typeface="仿宋_GB2312" pitchFamily="49" charset="-122"/>
              </a:rPr>
              <a:t>图</a:t>
            </a:r>
            <a:r>
              <a:rPr kumimoji="0" lang="en-US" altLang="zh-CN">
                <a:latin typeface="仿宋_GB2312" pitchFamily="49" charset="-122"/>
                <a:ea typeface="仿宋_GB2312" pitchFamily="49" charset="-122"/>
              </a:rPr>
              <a:t>2</a:t>
            </a:r>
            <a:endParaRPr kumimoji="0" lang="zh-CN" altLang="en-US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516688" y="6388100"/>
            <a:ext cx="6461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仿宋_GB2312" pitchFamily="49" charset="-122"/>
                <a:ea typeface="仿宋_GB2312" pitchFamily="49" charset="-122"/>
              </a:rPr>
              <a:t>图</a:t>
            </a:r>
            <a:r>
              <a:rPr kumimoji="0" lang="en-US" altLang="zh-CN">
                <a:latin typeface="仿宋_GB2312" pitchFamily="49" charset="-122"/>
                <a:ea typeface="仿宋_GB2312" pitchFamily="49" charset="-122"/>
              </a:rPr>
              <a:t>3</a:t>
            </a:r>
            <a:endParaRPr kumimoji="0" lang="zh-CN" altLang="en-US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5370" name="Line 4"/>
          <p:cNvSpPr>
            <a:spLocks noChangeShapeType="1"/>
          </p:cNvSpPr>
          <p:nvPr/>
        </p:nvSpPr>
        <p:spPr bwMode="auto">
          <a:xfrm>
            <a:off x="5148263" y="4076700"/>
            <a:ext cx="3287712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Line 8"/>
          <p:cNvSpPr>
            <a:spLocks noChangeShapeType="1"/>
          </p:cNvSpPr>
          <p:nvPr/>
        </p:nvSpPr>
        <p:spPr bwMode="auto">
          <a:xfrm flipV="1">
            <a:off x="7956550" y="5300663"/>
            <a:ext cx="381000" cy="5334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Line 9"/>
          <p:cNvSpPr>
            <a:spLocks noChangeShapeType="1"/>
          </p:cNvSpPr>
          <p:nvPr/>
        </p:nvSpPr>
        <p:spPr bwMode="auto">
          <a:xfrm flipV="1">
            <a:off x="6011863" y="4124325"/>
            <a:ext cx="30480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CDFDE067-EAEB-4352-A23A-3760BCE57738}"/>
                  </a:ext>
                </a:extLst>
              </p:cNvPr>
              <p:cNvSpPr txBox="1"/>
              <p:nvPr/>
            </p:nvSpPr>
            <p:spPr bwMode="auto">
              <a:xfrm>
                <a:off x="6792119" y="3495674"/>
                <a:ext cx="1763713" cy="44608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+1.5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≥8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CDFDE067-EAEB-4352-A23A-3760BCE57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2119" y="3495674"/>
                <a:ext cx="1763713" cy="446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7">
            <a:extLst>
              <a:ext uri="{FF2B5EF4-FFF2-40B4-BE49-F238E27FC236}">
                <a16:creationId xmlns:a16="http://schemas.microsoft.com/office/drawing/2014/main" id="{3190D978-7B3F-47A3-BB54-6640F28BAA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2669" y="3972905"/>
            <a:ext cx="7270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B83E3544-328C-4AA6-BC41-D83E1F246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7" y="2987488"/>
            <a:ext cx="2112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增加约束条件</a:t>
            </a: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"/>
          <p:cNvSpPr>
            <a:spLocks noChangeArrowheads="1"/>
          </p:cNvSpPr>
          <p:nvPr/>
        </p:nvSpPr>
        <p:spPr bwMode="auto">
          <a:xfrm>
            <a:off x="179388" y="115888"/>
            <a:ext cx="5545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（</a:t>
            </a:r>
            <a:r>
              <a:rPr kumimoji="0"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）无穷多最优解</a:t>
            </a:r>
            <a:r>
              <a:rPr kumimoji="0"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多重最优解</a:t>
            </a:r>
            <a:r>
              <a:rPr kumimoji="0"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sz="2800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16387" name="Picture 4" descr="D:\OR-第三版校对稿\3nd运筹学-图及txt文件\tp\1g4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603300"/>
            <a:ext cx="6172200" cy="383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2590800" y="1295400"/>
            <a:ext cx="510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latin typeface="Verdana" pitchFamily="34" charset="0"/>
              </a:rPr>
              <a:t>目标函数    </a:t>
            </a:r>
            <a:r>
              <a:rPr kumimoji="0" lang="en-US" altLang="zh-CN">
                <a:latin typeface="Times New Roman" pitchFamily="18" charset="0"/>
                <a:cs typeface="Times New Roman" pitchFamily="18" charset="0"/>
              </a:rPr>
              <a:t>max z=2</a:t>
            </a:r>
            <a:r>
              <a:rPr kumimoji="0" lang="en-US" altLang="zh-CN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0" lang="en-US" altLang="zh-CN" i="1" baseline="-3000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altLang="zh-CN">
                <a:latin typeface="Times New Roman" pitchFamily="18" charset="0"/>
                <a:cs typeface="Times New Roman" pitchFamily="18" charset="0"/>
              </a:rPr>
              <a:t>+4</a:t>
            </a:r>
            <a:r>
              <a:rPr kumimoji="0" lang="en-US" altLang="zh-CN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0" lang="en-US" altLang="zh-CN" i="1" baseline="-3000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0" lang="en-US" altLang="zh-CN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 flipH="1" flipV="1">
            <a:off x="4876800" y="1828800"/>
            <a:ext cx="53340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 flipH="1">
            <a:off x="2133600" y="1676400"/>
            <a:ext cx="762000" cy="56515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1" name="矩形 9"/>
          <p:cNvSpPr>
            <a:spLocks noChangeArrowheads="1"/>
          </p:cNvSpPr>
          <p:nvPr/>
        </p:nvSpPr>
        <p:spPr bwMode="auto">
          <a:xfrm>
            <a:off x="71438" y="4581525"/>
            <a:ext cx="8893175" cy="2157413"/>
          </a:xfrm>
          <a:prstGeom prst="rect">
            <a:avLst/>
          </a:prstGeom>
          <a:noFill/>
          <a:ln w="571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若将例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中的目标函数变为求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max z = 2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+4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则表示目标函数中以参数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的这族平行直线与约束条件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+2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≤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8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的边界线平行。当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值由小变大时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将与线段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重合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见图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1-4)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。线段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上任意一点都使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取得相同的最大值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这个线性规划问题有无穷多最优解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多重最优解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"/>
          <p:cNvSpPr>
            <a:spLocks noChangeArrowheads="1"/>
          </p:cNvSpPr>
          <p:nvPr/>
        </p:nvSpPr>
        <p:spPr bwMode="auto">
          <a:xfrm>
            <a:off x="0" y="18891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（</a:t>
            </a:r>
            <a:r>
              <a:rPr kumimoji="0"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）无界解</a:t>
            </a:r>
          </a:p>
        </p:txBody>
      </p:sp>
      <p:pic>
        <p:nvPicPr>
          <p:cNvPr id="17411" name="Picture 4" descr="D:\OR-第三版校对稿\3nd运筹学-图及txt文件\tp\1g5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45878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Line 6"/>
          <p:cNvSpPr>
            <a:spLocks noChangeShapeType="1"/>
          </p:cNvSpPr>
          <p:nvPr/>
        </p:nvSpPr>
        <p:spPr bwMode="auto">
          <a:xfrm flipH="1">
            <a:off x="3962400" y="1981200"/>
            <a:ext cx="533400" cy="1371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3" name="Line 7"/>
          <p:cNvSpPr>
            <a:spLocks noChangeShapeType="1"/>
          </p:cNvSpPr>
          <p:nvPr/>
        </p:nvSpPr>
        <p:spPr bwMode="auto">
          <a:xfrm flipH="1">
            <a:off x="1752600" y="1371600"/>
            <a:ext cx="25146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4" name="Object 2"/>
              <p:cNvSpPr txBox="1"/>
              <p:nvPr/>
            </p:nvSpPr>
            <p:spPr bwMode="auto">
              <a:xfrm>
                <a:off x="4191000" y="838200"/>
                <a:ext cx="2438400" cy="20748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+ 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 ≤4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≤2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41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838200"/>
                <a:ext cx="2438400" cy="2074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5" name="矩形 6"/>
          <p:cNvSpPr>
            <a:spLocks noChangeArrowheads="1"/>
          </p:cNvSpPr>
          <p:nvPr/>
        </p:nvSpPr>
        <p:spPr bwMode="auto">
          <a:xfrm>
            <a:off x="250825" y="5589588"/>
            <a:ext cx="86423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从上图可以看到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该问题可行域无界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目标函数值可以增大到无穷大。称这种情况为无界解。</a:t>
            </a: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"/>
          <p:cNvSpPr txBox="1">
            <a:spLocks noChangeArrowheads="1"/>
          </p:cNvSpPr>
          <p:nvPr/>
        </p:nvSpPr>
        <p:spPr bwMode="auto">
          <a:xfrm>
            <a:off x="0" y="188913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0"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）无可行解</a:t>
            </a:r>
          </a:p>
        </p:txBody>
      </p:sp>
      <p:sp>
        <p:nvSpPr>
          <p:cNvPr id="18435" name="矩形 2"/>
          <p:cNvSpPr>
            <a:spLocks noChangeArrowheads="1"/>
          </p:cNvSpPr>
          <p:nvPr/>
        </p:nvSpPr>
        <p:spPr bwMode="auto">
          <a:xfrm>
            <a:off x="179388" y="5300663"/>
            <a:ext cx="86407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如果在例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的数学模型中增加一个约束条件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+1.5</a:t>
            </a:r>
            <a:r>
              <a:rPr kumimoji="0" lang="en-US" altLang="zh-CN" b="1" i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2500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 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≥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该问题的可行域为空集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即无可行解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也不存在最优解。</a:t>
            </a:r>
          </a:p>
        </p:txBody>
      </p:sp>
      <p:pic>
        <p:nvPicPr>
          <p:cNvPr id="18436" name="Picture 3" descr="D:\OR-第三版校对稿\3nd运筹学-图及txt文件\tp\1g2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511651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437" name="Object 3"/>
              <p:cNvSpPr txBox="1"/>
              <p:nvPr/>
            </p:nvSpPr>
            <p:spPr bwMode="auto">
              <a:xfrm>
                <a:off x="2286000" y="914400"/>
                <a:ext cx="1763713" cy="44608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+1.5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≥8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43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914400"/>
                <a:ext cx="1763713" cy="4460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8" name="Line 7"/>
          <p:cNvSpPr>
            <a:spLocks noChangeShapeType="1"/>
          </p:cNvSpPr>
          <p:nvPr/>
        </p:nvSpPr>
        <p:spPr bwMode="auto">
          <a:xfrm flipH="1">
            <a:off x="1524000" y="1295400"/>
            <a:ext cx="7270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9" name="Rectangle 13"/>
          <p:cNvSpPr>
            <a:spLocks noChangeArrowheads="1"/>
          </p:cNvSpPr>
          <p:nvPr/>
        </p:nvSpPr>
        <p:spPr bwMode="auto">
          <a:xfrm>
            <a:off x="4800600" y="762000"/>
            <a:ext cx="286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增加的约束条件</a:t>
            </a:r>
          </a:p>
        </p:txBody>
      </p:sp>
      <p:sp>
        <p:nvSpPr>
          <p:cNvPr id="18440" name="Line 14"/>
          <p:cNvSpPr>
            <a:spLocks noChangeShapeType="1"/>
          </p:cNvSpPr>
          <p:nvPr/>
        </p:nvSpPr>
        <p:spPr bwMode="auto">
          <a:xfrm flipH="1">
            <a:off x="4038600" y="1020763"/>
            <a:ext cx="762000" cy="46037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1" name="Line 4"/>
          <p:cNvSpPr>
            <a:spLocks noChangeShapeType="1"/>
          </p:cNvSpPr>
          <p:nvPr/>
        </p:nvSpPr>
        <p:spPr bwMode="auto">
          <a:xfrm>
            <a:off x="762000" y="1600200"/>
            <a:ext cx="41148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2" name="Line 8"/>
          <p:cNvSpPr>
            <a:spLocks noChangeShapeType="1"/>
          </p:cNvSpPr>
          <p:nvPr/>
        </p:nvSpPr>
        <p:spPr bwMode="auto">
          <a:xfrm flipV="1">
            <a:off x="4191000" y="3200400"/>
            <a:ext cx="381000" cy="5334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Line 9"/>
          <p:cNvSpPr>
            <a:spLocks noChangeShapeType="1"/>
          </p:cNvSpPr>
          <p:nvPr/>
        </p:nvSpPr>
        <p:spPr bwMode="auto">
          <a:xfrm flipV="1">
            <a:off x="1371600" y="1524000"/>
            <a:ext cx="30480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7950" y="188913"/>
            <a:ext cx="8964613" cy="650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当求解结果出现第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、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两种情况时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一般说明线性规划问题的数学模型有错误。前者缺乏必要的约束条件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后者是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有矛盾的约束条件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建模时应注意。</a:t>
            </a:r>
            <a:endParaRPr kumimoji="0" lang="en-US" altLang="zh-CN" sz="2800" b="1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从图解法中直观地见到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线性规划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问题的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可行域</a:t>
            </a:r>
            <a:r>
              <a:rPr kumimoji="0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非空有界时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它是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有界或无界凸多边形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若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线性规划问题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存在最优解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它一定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在有界可行域的某个顶点得到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; 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若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两个顶点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同时得到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最优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解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则它们连线上的任意一点都是最优解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即</a:t>
            </a:r>
            <a:r>
              <a:rPr kumimoji="0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有无穷多最优解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  <a:endParaRPr kumimoji="0" lang="en-US" altLang="zh-CN" sz="2800" b="1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l"/>
            </a:pP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图解法虽然直观、简便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但当变量数多于三个以上时</a:t>
            </a:r>
            <a:r>
              <a:rPr kumimoji="0" lang="en-US" altLang="zh-CN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它就无能为力了。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95400" y="1844675"/>
            <a:ext cx="78486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线性规划的数学模型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线性规划的标准型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线性规划的图解法</a:t>
            </a:r>
            <a:endParaRPr kumimoji="0" lang="en-US" altLang="zh-CN" sz="2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   线性规划问题解的性质</a:t>
            </a:r>
            <a:endParaRPr kumimoji="0" lang="en-US" altLang="zh-CN" sz="28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单纯形法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kumimoji="0" lang="zh-CN" altLang="en-US" sz="28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节   人工变量法</a:t>
            </a:r>
          </a:p>
        </p:txBody>
      </p:sp>
      <p:sp>
        <p:nvSpPr>
          <p:cNvPr id="2051" name="Rectangle 6" descr="信纸"/>
          <p:cNvSpPr>
            <a:spLocks noChangeArrowheads="1"/>
          </p:cNvSpPr>
          <p:nvPr/>
        </p:nvSpPr>
        <p:spPr bwMode="auto">
          <a:xfrm>
            <a:off x="1116013" y="404813"/>
            <a:ext cx="6551612" cy="863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52" name="Picture 10" descr="卷轴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0"/>
            <a:ext cx="8281988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11"/>
          <p:cNvSpPr txBox="1">
            <a:spLocks noChangeArrowheads="1"/>
          </p:cNvSpPr>
          <p:nvPr/>
        </p:nvSpPr>
        <p:spPr bwMode="auto">
          <a:xfrm>
            <a:off x="1763713" y="549275"/>
            <a:ext cx="5976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章  线性规划</a:t>
            </a:r>
          </a:p>
        </p:txBody>
      </p:sp>
    </p:spTree>
    <p:extLst>
      <p:ext uri="{BB962C8B-B14F-4D97-AF65-F5344CB8AC3E}">
        <p14:creationId xmlns:p14="http://schemas.microsoft.com/office/powerpoint/2010/main" val="71945100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"/>
          <p:cNvSpPr>
            <a:spLocks noChangeArrowheads="1"/>
          </p:cNvSpPr>
          <p:nvPr/>
        </p:nvSpPr>
        <p:spPr bwMode="auto">
          <a:xfrm>
            <a:off x="0" y="188913"/>
            <a:ext cx="78120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节</a:t>
            </a:r>
            <a:r>
              <a:rPr kumimoji="0" lang="en-US" altLang="zh-CN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kumimoji="0"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线性规划问题解的性质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27584" y="1628775"/>
            <a:ext cx="6551116" cy="4564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kumimoji="0" lang="zh-CN" altLang="en-US" sz="40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可行域，可行解，最优解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kumimoji="0" lang="zh-CN" altLang="en-US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基，基向量，基变量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kumimoji="0" lang="zh-CN" altLang="en-US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基解，基可行解，可行基</a:t>
            </a:r>
            <a:endParaRPr kumimoji="0" lang="en-US" altLang="zh-CN" sz="40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kumimoji="0" lang="zh-CN" altLang="en-US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凸集，凸组合</a:t>
            </a:r>
            <a:endParaRPr kumimoji="0" lang="en-US" altLang="zh-CN" sz="40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0" lang="en-US" altLang="zh-CN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5.</a:t>
            </a:r>
            <a:r>
              <a:rPr kumimoji="0" lang="zh-CN" altLang="en-US" sz="40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</a:rPr>
              <a:t>几个定理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4067175" y="3429000"/>
            <a:ext cx="4908550" cy="4572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为线性规划的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可行域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           </a:t>
            </a:r>
          </a:p>
        </p:txBody>
      </p:sp>
      <p:sp>
        <p:nvSpPr>
          <p:cNvPr id="118817" name="Rectangle 33"/>
          <p:cNvSpPr>
            <a:spLocks noChangeArrowheads="1"/>
          </p:cNvSpPr>
          <p:nvPr/>
        </p:nvSpPr>
        <p:spPr bwMode="auto">
          <a:xfrm>
            <a:off x="2336800" y="5145088"/>
            <a:ext cx="3514725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latin typeface="宋体" pitchFamily="2" charset="-122"/>
                <a:ea typeface="楷体_GB2312" pitchFamily="49" charset="-122"/>
                <a:cs typeface="Times New Roman" pitchFamily="18" charset="0"/>
              </a:rPr>
              <a:t>为线性规划的最优解，</a:t>
            </a:r>
            <a:endParaRPr lang="zh-CN" altLang="en-US" b="1" dirty="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8816" name="Rectangle 32"/>
          <p:cNvSpPr>
            <a:spLocks noChangeArrowheads="1"/>
          </p:cNvSpPr>
          <p:nvPr/>
        </p:nvSpPr>
        <p:spPr bwMode="auto">
          <a:xfrm>
            <a:off x="1276350" y="5157788"/>
            <a:ext cx="1063625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latin typeface="宋体" pitchFamily="2" charset="-122"/>
                <a:ea typeface="楷体_GB2312" pitchFamily="49" charset="-122"/>
                <a:cs typeface="Times New Roman" pitchFamily="18" charset="0"/>
              </a:rPr>
              <a:t>则称</a:t>
            </a:r>
            <a:endParaRPr lang="zh-CN" altLang="en-US" b="1" dirty="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7653" name="Rectangle 2"/>
          <p:cNvSpPr txBox="1">
            <a:spLocks noChangeArrowheads="1"/>
          </p:cNvSpPr>
          <p:nvPr/>
        </p:nvSpPr>
        <p:spPr bwMode="auto">
          <a:xfrm>
            <a:off x="179388" y="188913"/>
            <a:ext cx="7772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sz="36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1.  </a:t>
            </a:r>
            <a:r>
              <a:rPr kumimoji="0" lang="zh-CN" altLang="en-US" sz="36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可行域，可行解，最优解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"/>
              <p:cNvSpPr txBox="1"/>
              <p:nvPr/>
            </p:nvSpPr>
            <p:spPr bwMode="auto">
              <a:xfrm>
                <a:off x="1201738" y="765175"/>
                <a:ext cx="6740525" cy="25781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         (1−4)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=1,2,⋯,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  (1−5)</m:t>
                                  </m:r>
                                </m:e>
                              </m:nary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≥0, 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=1,2,⋯,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   (1−6)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1738" y="765175"/>
                <a:ext cx="6740525" cy="2578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106363" y="3429000"/>
            <a:ext cx="717550" cy="4572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789" name="Object 5"/>
              <p:cNvSpPr txBox="1"/>
              <p:nvPr/>
            </p:nvSpPr>
            <p:spPr bwMode="auto">
              <a:xfrm>
                <a:off x="825500" y="3429000"/>
                <a:ext cx="3313113" cy="50482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  <m:d>
                            <m:dPr>
                              <m:begChr m:val=""/>
                              <m:endChr m:val="}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/>
                          </m:d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878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500" y="3429000"/>
                <a:ext cx="3313113" cy="504825"/>
              </a:xfrm>
              <a:prstGeom prst="rect">
                <a:avLst/>
              </a:prstGeom>
              <a:blipFill>
                <a:blip r:embed="rId3"/>
                <a:stretch>
                  <a:fillRect t="-91463" r="-17096" b="-12439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792" name="Rectangle 8"/>
          <p:cNvSpPr>
            <a:spLocks noChangeArrowheads="1"/>
          </p:cNvSpPr>
          <p:nvPr/>
        </p:nvSpPr>
        <p:spPr bwMode="auto">
          <a:xfrm>
            <a:off x="323850" y="5876925"/>
            <a:ext cx="692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/>
              <a:t>其中使目标函数达到最大值的可行解称为</a:t>
            </a:r>
            <a:r>
              <a:rPr kumimoji="0" lang="zh-CN" altLang="en-US" b="1">
                <a:solidFill>
                  <a:schemeClr val="hlink"/>
                </a:solidFill>
              </a:rPr>
              <a:t>最优解</a:t>
            </a:r>
            <a:r>
              <a:rPr kumimoji="0" lang="zh-CN" altLang="en-US" b="1"/>
              <a:t>。</a:t>
            </a:r>
            <a:endParaRPr kumimoji="0" lang="en-US" altLang="zh-CN" b="1"/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71438" y="3860800"/>
            <a:ext cx="8964612" cy="82232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满足约束条件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(1-5)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(1-6)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式的解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kumimoji="0"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i="1" baseline="-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T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，称为线性规划问题的</a:t>
            </a:r>
            <a:r>
              <a:rPr kumimoji="0"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可行解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809" name="Object 25"/>
              <p:cNvSpPr txBox="1"/>
              <p:nvPr/>
            </p:nvSpPr>
            <p:spPr bwMode="auto">
              <a:xfrm>
                <a:off x="107950" y="5103813"/>
                <a:ext cx="1223963" cy="485775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8809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" y="5103813"/>
                <a:ext cx="1223963" cy="485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810" name="Object 26"/>
              <p:cNvSpPr txBox="1"/>
              <p:nvPr/>
            </p:nvSpPr>
            <p:spPr bwMode="auto">
              <a:xfrm>
                <a:off x="1979613" y="5157788"/>
                <a:ext cx="365125" cy="431800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8810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613" y="5157788"/>
                <a:ext cx="365125" cy="431800"/>
              </a:xfrm>
              <a:prstGeom prst="rect">
                <a:avLst/>
              </a:prstGeom>
              <a:blipFill>
                <a:blip r:embed="rId5"/>
                <a:stretch>
                  <a:fillRect r="-10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812" name="Rectangle 28"/>
          <p:cNvSpPr>
            <a:spLocks noChangeArrowheads="1"/>
          </p:cNvSpPr>
          <p:nvPr/>
        </p:nvSpPr>
        <p:spPr bwMode="auto">
          <a:xfrm>
            <a:off x="107950" y="4724400"/>
            <a:ext cx="1150938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任意</a:t>
            </a:r>
          </a:p>
        </p:txBody>
      </p:sp>
      <p:sp>
        <p:nvSpPr>
          <p:cNvPr id="118813" name="Rectangle 29"/>
          <p:cNvSpPr>
            <a:spLocks noChangeArrowheads="1"/>
          </p:cNvSpPr>
          <p:nvPr/>
        </p:nvSpPr>
        <p:spPr bwMode="auto">
          <a:xfrm>
            <a:off x="1547813" y="4724400"/>
            <a:ext cx="4433887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为线性规划的可行解，若存在</a:t>
            </a:r>
          </a:p>
        </p:txBody>
      </p:sp>
      <p:sp>
        <p:nvSpPr>
          <p:cNvPr id="118814" name="Rectangle 30"/>
          <p:cNvSpPr>
            <a:spLocks noChangeArrowheads="1"/>
          </p:cNvSpPr>
          <p:nvPr/>
        </p:nvSpPr>
        <p:spPr bwMode="auto">
          <a:xfrm>
            <a:off x="6372225" y="4724400"/>
            <a:ext cx="1063625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，使</a:t>
            </a:r>
          </a:p>
        </p:txBody>
      </p:sp>
      <p:sp>
        <p:nvSpPr>
          <p:cNvPr id="118815" name="Rectangle 31"/>
          <p:cNvSpPr>
            <a:spLocks noChangeArrowheads="1"/>
          </p:cNvSpPr>
          <p:nvPr/>
        </p:nvSpPr>
        <p:spPr bwMode="auto">
          <a:xfrm>
            <a:off x="7956550" y="4724400"/>
            <a:ext cx="1079500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宋体" pitchFamily="2" charset="-122"/>
                <a:ea typeface="楷体_GB2312" pitchFamily="49" charset="-122"/>
                <a:cs typeface="Times New Roman" pitchFamily="18" charset="0"/>
              </a:rPr>
              <a:t>，有</a:t>
            </a:r>
            <a:r>
              <a:rPr lang="zh-CN" altLang="en-US" sz="1400">
                <a:latin typeface="宋体" pitchFamily="2" charset="-122"/>
                <a:ea typeface="楷体_GB2312" pitchFamily="49" charset="-122"/>
                <a:cs typeface="Times New Roman" pitchFamily="18" charset="0"/>
              </a:rPr>
              <a:t>            </a:t>
            </a:r>
            <a:endParaRPr lang="zh-CN" altLang="en-US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8818" name="Rectangle 34"/>
          <p:cNvSpPr>
            <a:spLocks noChangeArrowheads="1"/>
          </p:cNvSpPr>
          <p:nvPr/>
        </p:nvSpPr>
        <p:spPr bwMode="auto">
          <a:xfrm>
            <a:off x="5973763" y="5157788"/>
            <a:ext cx="1982787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宋体" pitchFamily="2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zh-CN" altLang="en-US" b="1">
                <a:solidFill>
                  <a:schemeClr val="hlink"/>
                </a:solidFill>
                <a:latin typeface="宋体" pitchFamily="2" charset="-122"/>
                <a:ea typeface="楷体_GB2312" pitchFamily="49" charset="-122"/>
                <a:cs typeface="Times New Roman" pitchFamily="18" charset="0"/>
              </a:rPr>
              <a:t>最优值</a:t>
            </a:r>
            <a:r>
              <a:rPr lang="zh-CN" altLang="en-US" b="1">
                <a:latin typeface="宋体" pitchFamily="2" charset="-122"/>
                <a:ea typeface="楷体_GB2312" pitchFamily="49" charset="-122"/>
                <a:cs typeface="Times New Roman" pitchFamily="18" charset="0"/>
              </a:rPr>
              <a:t>。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806" name="Object 22"/>
              <p:cNvSpPr txBox="1"/>
              <p:nvPr/>
            </p:nvSpPr>
            <p:spPr bwMode="auto">
              <a:xfrm>
                <a:off x="800101" y="4725987"/>
                <a:ext cx="792162" cy="439738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880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0101" y="4725987"/>
                <a:ext cx="792162" cy="4397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807" name="Object 23"/>
              <p:cNvSpPr txBox="1"/>
              <p:nvPr/>
            </p:nvSpPr>
            <p:spPr bwMode="auto">
              <a:xfrm>
                <a:off x="5619334" y="4724400"/>
                <a:ext cx="790575" cy="433388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880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9334" y="4724400"/>
                <a:ext cx="790575" cy="4333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808" name="Object 24"/>
              <p:cNvSpPr txBox="1"/>
              <p:nvPr/>
            </p:nvSpPr>
            <p:spPr bwMode="auto">
              <a:xfrm>
                <a:off x="7092950" y="4724400"/>
                <a:ext cx="936625" cy="433388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8808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2950" y="4724400"/>
                <a:ext cx="936625" cy="4333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811" name="Object 27"/>
              <p:cNvSpPr txBox="1"/>
              <p:nvPr/>
            </p:nvSpPr>
            <p:spPr bwMode="auto">
              <a:xfrm>
                <a:off x="5508625" y="5157788"/>
                <a:ext cx="503238" cy="439737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881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8625" y="5157788"/>
                <a:ext cx="503238" cy="439737"/>
              </a:xfrm>
              <a:prstGeom prst="rect">
                <a:avLst/>
              </a:prstGeom>
              <a:blipFill>
                <a:blip r:embed="rId9"/>
                <a:stretch>
                  <a:fillRect r="-853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4C14D0B-1A26-4FA7-86B3-C271563EA1C9}"/>
                  </a:ext>
                </a:extLst>
              </p:cNvPr>
              <p:cNvSpPr txBox="1"/>
              <p:nvPr/>
            </p:nvSpPr>
            <p:spPr>
              <a:xfrm>
                <a:off x="179735" y="1756103"/>
                <a:ext cx="1799878" cy="1285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𝑐𝑥</m:t>
                        </m:r>
                      </m:e>
                    </m:func>
                  </m:oMath>
                </a14:m>
                <a:r>
                  <a:rPr lang="en-US" altLang="zh-CN" b="0" dirty="0"/>
                  <a:t>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4C14D0B-1A26-4FA7-86B3-C271563EA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5" y="1756103"/>
                <a:ext cx="1799878" cy="128548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8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8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1" grpId="0" animBg="1"/>
      <p:bldP spid="118817" grpId="0" animBg="1"/>
      <p:bldP spid="118816" grpId="0" animBg="1"/>
      <p:bldP spid="118790" grpId="0" animBg="1"/>
      <p:bldP spid="118792" grpId="0"/>
      <p:bldP spid="3" grpId="0" animBg="1"/>
      <p:bldP spid="118812" grpId="0" animBg="1"/>
      <p:bldP spid="118813" grpId="0" animBg="1"/>
      <p:bldP spid="118814" grpId="0" animBg="1"/>
      <p:bldP spid="118815" grpId="0" animBg="1"/>
      <p:bldP spid="118818" grpId="0" animBg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31" name="Rectangle 23"/>
          <p:cNvSpPr>
            <a:spLocks noChangeArrowheads="1"/>
          </p:cNvSpPr>
          <p:nvPr/>
        </p:nvSpPr>
        <p:spPr bwMode="auto">
          <a:xfrm>
            <a:off x="7373938" y="1336675"/>
            <a:ext cx="869950" cy="457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的前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30" name="Rectangle 22"/>
          <p:cNvSpPr>
            <a:spLocks noChangeArrowheads="1"/>
          </p:cNvSpPr>
          <p:nvPr/>
        </p:nvSpPr>
        <p:spPr bwMode="auto">
          <a:xfrm>
            <a:off x="3703638" y="1341438"/>
            <a:ext cx="3821112" cy="457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个线性无关的列，不妨设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821" name="Object 13"/>
              <p:cNvSpPr txBox="1"/>
              <p:nvPr/>
            </p:nvSpPr>
            <p:spPr bwMode="auto">
              <a:xfrm>
                <a:off x="7181850" y="1412875"/>
                <a:ext cx="269875" cy="287338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2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1850" y="1412875"/>
                <a:ext cx="269875" cy="287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838" name="Rectangle 30"/>
          <p:cNvSpPr>
            <a:spLocks noChangeArrowheads="1"/>
          </p:cNvSpPr>
          <p:nvPr/>
        </p:nvSpPr>
        <p:spPr bwMode="auto">
          <a:xfrm>
            <a:off x="4787900" y="3284538"/>
            <a:ext cx="2595563" cy="457200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称为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非基变量</a:t>
            </a:r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37" name="Rectangle 29"/>
          <p:cNvSpPr>
            <a:spLocks noChangeArrowheads="1"/>
          </p:cNvSpPr>
          <p:nvPr/>
        </p:nvSpPr>
        <p:spPr bwMode="auto">
          <a:xfrm>
            <a:off x="1619250" y="3284538"/>
            <a:ext cx="1982788" cy="457200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对应的变量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36" name="Rectangle 28"/>
          <p:cNvSpPr>
            <a:spLocks noChangeArrowheads="1"/>
          </p:cNvSpPr>
          <p:nvPr/>
        </p:nvSpPr>
        <p:spPr bwMode="auto">
          <a:xfrm>
            <a:off x="4932363" y="2708275"/>
            <a:ext cx="3841750" cy="457200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称为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基变量</a:t>
            </a:r>
            <a:r>
              <a:rPr lang="en-US" altLang="zh-CN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                           </a:t>
            </a:r>
            <a:endParaRPr lang="en-US" altLang="zh-CN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35" name="Rectangle 27"/>
          <p:cNvSpPr>
            <a:spLocks noChangeArrowheads="1"/>
          </p:cNvSpPr>
          <p:nvPr/>
        </p:nvSpPr>
        <p:spPr bwMode="auto">
          <a:xfrm>
            <a:off x="1763713" y="2708275"/>
            <a:ext cx="1982787" cy="457200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对应的变量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34" name="Rectangle 26"/>
          <p:cNvSpPr>
            <a:spLocks noChangeArrowheads="1"/>
          </p:cNvSpPr>
          <p:nvPr/>
        </p:nvSpPr>
        <p:spPr bwMode="auto">
          <a:xfrm>
            <a:off x="1331913" y="2251075"/>
            <a:ext cx="7651750" cy="4572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称为线性规划的</a:t>
            </a:r>
            <a:r>
              <a:rPr lang="zh-CN" altLang="en-US" b="1" dirty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基向量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                                                   </a:t>
            </a:r>
            <a:endParaRPr lang="en-US" altLang="zh-CN" b="1" dirty="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29" name="Rectangle 21"/>
          <p:cNvSpPr>
            <a:spLocks noChangeArrowheads="1"/>
          </p:cNvSpPr>
          <p:nvPr/>
        </p:nvSpPr>
        <p:spPr bwMode="auto">
          <a:xfrm>
            <a:off x="2339975" y="1341438"/>
            <a:ext cx="1370013" cy="457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中存在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28" name="Rectangle 20"/>
          <p:cNvSpPr>
            <a:spLocks noChangeArrowheads="1"/>
          </p:cNvSpPr>
          <p:nvPr/>
        </p:nvSpPr>
        <p:spPr bwMode="auto">
          <a:xfrm>
            <a:off x="1416051" y="1338412"/>
            <a:ext cx="1050924" cy="46166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，故</a:t>
            </a:r>
            <a:endParaRPr lang="zh-CN" altLang="en-US" b="1" dirty="0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8684" name="Rectangle 2"/>
          <p:cNvSpPr txBox="1">
            <a:spLocks noChangeArrowheads="1"/>
          </p:cNvSpPr>
          <p:nvPr/>
        </p:nvSpPr>
        <p:spPr bwMode="auto">
          <a:xfrm>
            <a:off x="0" y="0"/>
            <a:ext cx="6643688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  </a:t>
            </a:r>
            <a:r>
              <a:rPr kumimoji="0" lang="zh-CN" altLang="en-US" sz="36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基，基向量，基变量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85" name="Object 17"/>
              <p:cNvSpPr txBox="1"/>
              <p:nvPr/>
            </p:nvSpPr>
            <p:spPr bwMode="auto">
              <a:xfrm>
                <a:off x="827088" y="836613"/>
                <a:ext cx="3024187" cy="37623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868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088" y="836613"/>
                <a:ext cx="3024187" cy="376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23" name="Object 15"/>
              <p:cNvSpPr txBox="1"/>
              <p:nvPr/>
            </p:nvSpPr>
            <p:spPr bwMode="auto">
              <a:xfrm>
                <a:off x="2124075" y="1412875"/>
                <a:ext cx="269875" cy="287338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2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1412875"/>
                <a:ext cx="269875" cy="287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22" name="Object 14"/>
              <p:cNvSpPr txBox="1"/>
              <p:nvPr/>
            </p:nvSpPr>
            <p:spPr bwMode="auto">
              <a:xfrm>
                <a:off x="3348038" y="1412875"/>
                <a:ext cx="431800" cy="382588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2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8038" y="1412875"/>
                <a:ext cx="431800" cy="3825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20" name="Object 12"/>
              <p:cNvSpPr txBox="1"/>
              <p:nvPr/>
            </p:nvSpPr>
            <p:spPr bwMode="auto">
              <a:xfrm>
                <a:off x="8245475" y="1349375"/>
                <a:ext cx="503238" cy="444500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2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45475" y="1349375"/>
                <a:ext cx="503238" cy="444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18" name="Object 10"/>
              <p:cNvSpPr txBox="1"/>
              <p:nvPr/>
            </p:nvSpPr>
            <p:spPr bwMode="auto">
              <a:xfrm>
                <a:off x="82550" y="2238375"/>
                <a:ext cx="1636713" cy="46990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,... ,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1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50" y="2238375"/>
                <a:ext cx="1636713" cy="4699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15" name="Object 7"/>
              <p:cNvSpPr txBox="1"/>
              <p:nvPr/>
            </p:nvSpPr>
            <p:spPr bwMode="auto">
              <a:xfrm>
                <a:off x="107950" y="3213100"/>
                <a:ext cx="1619250" cy="546100"/>
              </a:xfrm>
              <a:prstGeom prst="rect">
                <a:avLst/>
              </a:prstGeom>
              <a:solidFill>
                <a:srgbClr val="66FF99"/>
              </a:solidFill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" y="3213100"/>
                <a:ext cx="1619250" cy="546100"/>
              </a:xfrm>
              <a:prstGeom prst="rect">
                <a:avLst/>
              </a:prstGeom>
              <a:blipFill>
                <a:blip r:embed="rId8"/>
                <a:stretch>
                  <a:fillRect l="-37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17" name="Object 9"/>
              <p:cNvSpPr txBox="1"/>
              <p:nvPr/>
            </p:nvSpPr>
            <p:spPr bwMode="auto">
              <a:xfrm>
                <a:off x="107950" y="2708275"/>
                <a:ext cx="1655763" cy="490538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" y="2708275"/>
                <a:ext cx="1655763" cy="490538"/>
              </a:xfrm>
              <a:prstGeom prst="rect">
                <a:avLst/>
              </a:prstGeom>
              <a:blipFill>
                <a:blip r:embed="rId9"/>
                <a:stretch>
                  <a:fillRect l="-738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16" name="Object 8"/>
              <p:cNvSpPr txBox="1"/>
              <p:nvPr/>
            </p:nvSpPr>
            <p:spPr bwMode="auto">
              <a:xfrm>
                <a:off x="3563938" y="2708275"/>
                <a:ext cx="1439862" cy="461963"/>
              </a:xfrm>
              <a:prstGeom prst="rect">
                <a:avLst/>
              </a:prstGeom>
              <a:solidFill>
                <a:srgbClr val="CC99FF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1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2708275"/>
                <a:ext cx="1439862" cy="4619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14" name="Object 6"/>
              <p:cNvSpPr txBox="1"/>
              <p:nvPr/>
            </p:nvSpPr>
            <p:spPr bwMode="auto">
              <a:xfrm>
                <a:off x="3492500" y="3284538"/>
                <a:ext cx="1366838" cy="460375"/>
              </a:xfrm>
              <a:prstGeom prst="rect">
                <a:avLst/>
              </a:prstGeom>
              <a:solidFill>
                <a:srgbClr val="66FF99"/>
              </a:solidFill>
              <a:ln>
                <a:noFill/>
              </a:ln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1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2500" y="3284538"/>
                <a:ext cx="1366838" cy="4603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94" name="Rectangle 18"/>
          <p:cNvSpPr>
            <a:spLocks noChangeArrowheads="1"/>
          </p:cNvSpPr>
          <p:nvPr/>
        </p:nvSpPr>
        <p:spPr bwMode="auto">
          <a:xfrm>
            <a:off x="179388" y="765175"/>
            <a:ext cx="75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令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27" name="Rectangle 19"/>
          <p:cNvSpPr>
            <a:spLocks noChangeArrowheads="1"/>
          </p:cNvSpPr>
          <p:nvPr/>
        </p:nvSpPr>
        <p:spPr bwMode="auto">
          <a:xfrm>
            <a:off x="34925" y="1341438"/>
            <a:ext cx="1063625" cy="457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因秩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32" name="Rectangle 24"/>
          <p:cNvSpPr>
            <a:spLocks noChangeArrowheads="1"/>
          </p:cNvSpPr>
          <p:nvPr/>
        </p:nvSpPr>
        <p:spPr bwMode="auto">
          <a:xfrm>
            <a:off x="68263" y="1773238"/>
            <a:ext cx="3208337" cy="457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个列线性无关，则称</a:t>
            </a:r>
            <a:endParaRPr lang="zh-CN" altLang="en-US" b="1"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19833" name="Rectangle 25"/>
          <p:cNvSpPr>
            <a:spLocks noChangeArrowheads="1"/>
          </p:cNvSpPr>
          <p:nvPr/>
        </p:nvSpPr>
        <p:spPr bwMode="auto">
          <a:xfrm>
            <a:off x="5580063" y="1771006"/>
            <a:ext cx="3046027" cy="46166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为线性规划的一个</a:t>
            </a:r>
            <a:r>
              <a:rPr lang="zh-CN" altLang="en-US" b="1" dirty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基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endParaRPr lang="zh-CN" altLang="en-US" b="1" dirty="0">
              <a:ea typeface="楷体_GB2312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819" name="Object 11"/>
              <p:cNvSpPr txBox="1"/>
              <p:nvPr/>
            </p:nvSpPr>
            <p:spPr bwMode="auto">
              <a:xfrm>
                <a:off x="2987675" y="1773238"/>
                <a:ext cx="2724150" cy="431800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≜(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1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675" y="1773238"/>
                <a:ext cx="2724150" cy="431800"/>
              </a:xfrm>
              <a:prstGeom prst="rect">
                <a:avLst/>
              </a:prstGeom>
              <a:blipFill>
                <a:blip r:embed="rId12"/>
                <a:stretch>
                  <a:fillRect b="-1831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40" name="Object 32"/>
              <p:cNvSpPr txBox="1"/>
              <p:nvPr/>
            </p:nvSpPr>
            <p:spPr bwMode="auto">
              <a:xfrm>
                <a:off x="107950" y="3860800"/>
                <a:ext cx="6048375" cy="908050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是系数矩阵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阶非奇异子矩阵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≠0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为线性规划问题的基。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40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50" y="3860800"/>
                <a:ext cx="6048375" cy="9080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41" name="Object 33"/>
              <p:cNvSpPr txBox="1"/>
              <p:nvPr/>
            </p:nvSpPr>
            <p:spPr bwMode="auto">
              <a:xfrm>
                <a:off x="-17652" y="5663645"/>
                <a:ext cx="3273804" cy="1017588"/>
              </a:xfrm>
              <a:prstGeom prst="rect">
                <a:avLst/>
              </a:prstGeom>
              <a:solidFill>
                <a:srgbClr val="02E6FE"/>
              </a:solidFill>
              <a:ln>
                <a:noFill/>
              </a:ln>
              <a:effectLst/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为基向量，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为基变量。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984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7652" y="5663645"/>
                <a:ext cx="3273804" cy="10175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24" name="Object 16"/>
              <p:cNvSpPr txBox="1"/>
              <p:nvPr/>
            </p:nvSpPr>
            <p:spPr bwMode="auto">
              <a:xfrm>
                <a:off x="683568" y="1323975"/>
                <a:ext cx="719138" cy="449263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982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568" y="1323975"/>
                <a:ext cx="719138" cy="44926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D20B25C-17F2-4FC1-ACE2-32CE84AAA383}"/>
                  </a:ext>
                </a:extLst>
              </p:cNvPr>
              <p:cNvSpPr txBox="1"/>
              <p:nvPr/>
            </p:nvSpPr>
            <p:spPr>
              <a:xfrm>
                <a:off x="3276600" y="4768850"/>
                <a:ext cx="6048374" cy="1742913"/>
              </a:xfrm>
              <a:prstGeom prst="rect">
                <a:avLst/>
              </a:prstGeom>
              <a:solidFill>
                <a:srgbClr val="EDFF0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𝑚𝑚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D20B25C-17F2-4FC1-ACE2-32CE84AAA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768850"/>
                <a:ext cx="6048374" cy="1742913"/>
              </a:xfrm>
              <a:prstGeom prst="rect">
                <a:avLst/>
              </a:prstGeom>
              <a:blipFill>
                <a:blip r:embed="rId16"/>
                <a:stretch>
                  <a:fillRect l="-1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9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31" grpId="0" animBg="1"/>
      <p:bldP spid="119830" grpId="0" animBg="1"/>
      <p:bldP spid="119838" grpId="0" animBg="1"/>
      <p:bldP spid="119837" grpId="0" animBg="1"/>
      <p:bldP spid="119836" grpId="0" animBg="1"/>
      <p:bldP spid="119835" grpId="0" animBg="1"/>
      <p:bldP spid="119834" grpId="0" animBg="1"/>
      <p:bldP spid="119829" grpId="0" animBg="1"/>
      <p:bldP spid="119828" grpId="0" animBg="1"/>
      <p:bldP spid="119827" grpId="0" animBg="1"/>
      <p:bldP spid="119832" grpId="0" animBg="1"/>
      <p:bldP spid="1198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339975"/>
            <a:ext cx="8964613" cy="1520825"/>
          </a:xfrm>
          <a:prstGeom prst="rect">
            <a:avLst/>
          </a:prstGeom>
          <a:noFill/>
          <a:ln w="762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4868863"/>
            <a:ext cx="8964612" cy="1776412"/>
          </a:xfrm>
          <a:prstGeom prst="rect">
            <a:avLst/>
          </a:prstGeom>
          <a:noFill/>
          <a:ln w="762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BFAA35FD-8AFC-42D6-9383-470191CE554F}"/>
                  </a:ext>
                </a:extLst>
              </p:cNvPr>
              <p:cNvSpPr txBox="1">
                <a:spLocks noGrp="1"/>
              </p:cNvSpPr>
              <p:nvPr>
                <p:ph/>
              </p:nvPr>
            </p:nvSpPr>
            <p:spPr>
              <a:xfrm>
                <a:off x="144463" y="239804"/>
                <a:ext cx="8964999" cy="1842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𝑚𝑚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BFAA35FD-8AFC-42D6-9383-470191CE554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44463" y="239804"/>
                <a:ext cx="8964999" cy="18428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11" descr="D:\OR-第三版校对稿\3nd运筹学-图及txt文件\tp\1g2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234" y="3412356"/>
            <a:ext cx="5076825" cy="34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Object 2"/>
              <p:cNvSpPr txBox="1"/>
              <p:nvPr/>
            </p:nvSpPr>
            <p:spPr bwMode="auto">
              <a:xfrm>
                <a:off x="4173516" y="3720888"/>
                <a:ext cx="2268115" cy="10429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是基可行解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48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3516" y="3720888"/>
                <a:ext cx="2268115" cy="10429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4" name="TextBox 4"/>
          <p:cNvSpPr txBox="1">
            <a:spLocks noChangeArrowheads="1"/>
          </p:cNvSpPr>
          <p:nvPr/>
        </p:nvSpPr>
        <p:spPr bwMode="auto">
          <a:xfrm>
            <a:off x="0" y="115888"/>
            <a:ext cx="65882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838200" indent="-8382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sz="36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3. </a:t>
            </a:r>
            <a:r>
              <a:rPr kumimoji="0" lang="zh-CN" altLang="en-US" sz="36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基解，基可行解，可行基</a:t>
            </a:r>
            <a:endParaRPr kumimoji="0" lang="en-US" altLang="zh-CN" sz="36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endParaRPr kumimoji="0" lang="zh-CN" altLang="en-US" sz="1800" b="1" dirty="0">
              <a:solidFill>
                <a:schemeClr val="fol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0725" name="Rectangle 6"/>
          <p:cNvSpPr>
            <a:spLocks noChangeArrowheads="1"/>
          </p:cNvSpPr>
          <p:nvPr/>
        </p:nvSpPr>
        <p:spPr bwMode="auto">
          <a:xfrm>
            <a:off x="396875" y="1412875"/>
            <a:ext cx="8351838" cy="639763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基可行解的非零分量的数目也不大于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m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，并且都是非负的</a:t>
            </a:r>
          </a:p>
        </p:txBody>
      </p:sp>
      <p:sp>
        <p:nvSpPr>
          <p:cNvPr id="30726" name="Rectangle 7"/>
          <p:cNvSpPr>
            <a:spLocks noChangeArrowheads="1"/>
          </p:cNvSpPr>
          <p:nvPr/>
        </p:nvSpPr>
        <p:spPr bwMode="auto">
          <a:xfrm>
            <a:off x="0" y="874713"/>
            <a:ext cx="9144000" cy="457200"/>
          </a:xfrm>
          <a:prstGeom prst="rect">
            <a:avLst/>
          </a:prstGeom>
          <a:solidFill>
            <a:srgbClr val="B6CB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ea typeface="楷体_GB2312" pitchFamily="49" charset="-122"/>
              </a:rPr>
              <a:t>若一个</a:t>
            </a:r>
            <a:r>
              <a:rPr lang="zh-CN" altLang="en-US" b="1" dirty="0">
                <a:solidFill>
                  <a:schemeClr val="hlink"/>
                </a:solidFill>
                <a:ea typeface="楷体_GB2312" pitchFamily="49" charset="-122"/>
              </a:rPr>
              <a:t>基本解（基解）</a:t>
            </a:r>
            <a:r>
              <a:rPr lang="zh-CN" altLang="en-US" b="1" dirty="0">
                <a:ea typeface="楷体_GB2312" pitchFamily="49" charset="-122"/>
              </a:rPr>
              <a:t>又是</a:t>
            </a:r>
            <a:r>
              <a:rPr lang="zh-CN" altLang="en-US" b="1" dirty="0">
                <a:solidFill>
                  <a:schemeClr val="hlink"/>
                </a:solidFill>
                <a:ea typeface="楷体_GB2312" pitchFamily="49" charset="-122"/>
              </a:rPr>
              <a:t>可行解</a:t>
            </a:r>
            <a:r>
              <a:rPr lang="zh-CN" altLang="en-US" b="1" dirty="0">
                <a:ea typeface="楷体_GB2312" pitchFamily="49" charset="-122"/>
              </a:rPr>
              <a:t>，则称为线性规划的</a:t>
            </a:r>
            <a:r>
              <a:rPr lang="zh-CN" altLang="en-US" b="1" dirty="0">
                <a:solidFill>
                  <a:schemeClr val="hlink"/>
                </a:solidFill>
                <a:ea typeface="楷体_GB2312" pitchFamily="49" charset="-122"/>
              </a:rPr>
              <a:t>基可行解</a:t>
            </a:r>
            <a:endParaRPr lang="zh-CN" altLang="en-US" b="1" dirty="0">
              <a:ea typeface="楷体_GB2312" pitchFamily="49" charset="-122"/>
            </a:endParaRPr>
          </a:p>
        </p:txBody>
      </p:sp>
      <p:pic>
        <p:nvPicPr>
          <p:cNvPr id="3072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91" y="2050839"/>
            <a:ext cx="6120334" cy="1573213"/>
          </a:xfrm>
          <a:prstGeom prst="rect">
            <a:avLst/>
          </a:prstGeom>
          <a:noFill/>
          <a:ln w="5715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523A22BB-D45A-4D58-B463-EF34B1702C08}"/>
                  </a:ext>
                </a:extLst>
              </p:cNvPr>
              <p:cNvSpPr txBox="1"/>
              <p:nvPr/>
            </p:nvSpPr>
            <p:spPr bwMode="auto">
              <a:xfrm>
                <a:off x="5041900" y="4741651"/>
                <a:ext cx="4102100" cy="2020887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+  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     =8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       +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   =16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      +  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523A22BB-D45A-4D58-B463-EF34B1702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1900" y="4741651"/>
                <a:ext cx="4102100" cy="202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CB1C931-B95E-47D3-BE32-D8570FF231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5" y="1988840"/>
            <a:ext cx="2555775" cy="2673468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468313" y="1901825"/>
            <a:ext cx="7315200" cy="2103438"/>
            <a:chOff x="295" y="1198"/>
            <a:chExt cx="4608" cy="1325"/>
          </a:xfrm>
        </p:grpSpPr>
        <p:sp>
          <p:nvSpPr>
            <p:cNvPr id="137221" name="Text Box 5"/>
            <p:cNvSpPr txBox="1">
              <a:spLocks noChangeArrowheads="1"/>
            </p:cNvSpPr>
            <p:nvPr/>
          </p:nvSpPr>
          <p:spPr bwMode="auto">
            <a:xfrm>
              <a:off x="295" y="1198"/>
              <a:ext cx="4608" cy="1325"/>
            </a:xfrm>
            <a:prstGeom prst="rect">
              <a:avLst/>
            </a:prstGeom>
            <a:solidFill>
              <a:srgbClr val="CDE20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3600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11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12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…. 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1m                                       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b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                        </a:t>
              </a:r>
              <a:endParaRPr lang="en-US" altLang="zh-CN" sz="4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sz="32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B=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21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22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…. 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2m            </a:t>
              </a:r>
              <a:r>
                <a:rPr lang="en-US" altLang="zh-CN" sz="32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b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</a:t>
              </a:r>
              <a:r>
                <a:rPr lang="en-US" altLang="zh-CN" sz="32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=   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b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    ……………………………                                               ………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m1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m2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….  </a:t>
              </a:r>
              <a:r>
                <a:rPr lang="en-US" altLang="zh-CN" b="1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mm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                                        </a:t>
              </a:r>
              <a:r>
                <a:rPr lang="en-US" altLang="zh-CN" b="1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b</a:t>
              </a:r>
              <a:r>
                <a:rPr lang="en-US" altLang="zh-CN" b="1" baseline="-25000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n</a:t>
              </a:r>
              <a:endParaRPr lang="en-US" altLang="zh-CN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31767" name="AutoShape 16"/>
            <p:cNvSpPr>
              <a:spLocks/>
            </p:cNvSpPr>
            <p:nvPr/>
          </p:nvSpPr>
          <p:spPr bwMode="auto">
            <a:xfrm>
              <a:off x="768" y="1323"/>
              <a:ext cx="48" cy="1200"/>
            </a:xfrm>
            <a:prstGeom prst="leftBracket">
              <a:avLst>
                <a:gd name="adj" fmla="val 20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8" name="AutoShape 17"/>
            <p:cNvSpPr>
              <a:spLocks/>
            </p:cNvSpPr>
            <p:nvPr/>
          </p:nvSpPr>
          <p:spPr bwMode="auto">
            <a:xfrm>
              <a:off x="2352" y="1323"/>
              <a:ext cx="48" cy="1200"/>
            </a:xfrm>
            <a:prstGeom prst="rightBracket">
              <a:avLst>
                <a:gd name="adj" fmla="val 20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9" name="AutoShape 18"/>
            <p:cNvSpPr>
              <a:spLocks/>
            </p:cNvSpPr>
            <p:nvPr/>
          </p:nvSpPr>
          <p:spPr bwMode="auto">
            <a:xfrm>
              <a:off x="3696" y="1269"/>
              <a:ext cx="48" cy="1200"/>
            </a:xfrm>
            <a:prstGeom prst="leftBracket">
              <a:avLst>
                <a:gd name="adj" fmla="val 20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70" name="AutoShape 19"/>
            <p:cNvSpPr>
              <a:spLocks/>
            </p:cNvSpPr>
            <p:nvPr/>
          </p:nvSpPr>
          <p:spPr bwMode="auto">
            <a:xfrm>
              <a:off x="4128" y="1275"/>
              <a:ext cx="48" cy="1200"/>
            </a:xfrm>
            <a:prstGeom prst="rightBracket">
              <a:avLst>
                <a:gd name="adj" fmla="val 20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0" y="4030663"/>
            <a:ext cx="9144000" cy="1938337"/>
            <a:chOff x="0" y="2539"/>
            <a:chExt cx="5760" cy="1221"/>
          </a:xfrm>
        </p:grpSpPr>
        <p:sp>
          <p:nvSpPr>
            <p:cNvPr id="137236" name="Text Box 20"/>
            <p:cNvSpPr txBox="1">
              <a:spLocks noChangeArrowheads="1"/>
            </p:cNvSpPr>
            <p:nvPr/>
          </p:nvSpPr>
          <p:spPr bwMode="auto">
            <a:xfrm>
              <a:off x="0" y="2539"/>
              <a:ext cx="5760" cy="1221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3600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11     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12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       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1m        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b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   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1m+1                      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1n</a:t>
              </a:r>
              <a:endParaRPr lang="en-US" altLang="zh-CN" sz="4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21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x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1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+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22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x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+ ….+  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2m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altLang="zh-CN" b="1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x</a:t>
              </a:r>
              <a:r>
                <a:rPr lang="en-US" altLang="zh-CN" b="1" baseline="-25000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=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b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-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2m+1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x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m+1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- ….- 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2n     </a:t>
              </a:r>
              <a:r>
                <a:rPr lang="en-US" altLang="zh-CN" b="1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x</a:t>
              </a:r>
              <a:r>
                <a:rPr lang="en-US" altLang="zh-CN" b="1" baseline="-25000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n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</a:t>
              </a:r>
              <a:endParaRPr lang="en-US" altLang="zh-CN" b="1" baseline="-25000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……                ……                               ……                 ……            ………                                ………</a:t>
              </a: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m1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m2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          </a:t>
              </a:r>
              <a:r>
                <a:rPr lang="en-US" altLang="zh-CN" b="1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mm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      </a:t>
              </a:r>
              <a:r>
                <a:rPr lang="en-US" altLang="zh-CN" b="1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b</a:t>
              </a:r>
              <a:r>
                <a:rPr lang="en-US" altLang="zh-CN" b="1" baseline="-25000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n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           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mm+1                              </a:t>
              </a:r>
              <a:r>
                <a:rPr lang="en-US" altLang="zh-CN" b="1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a</a:t>
              </a:r>
              <a:r>
                <a:rPr lang="en-US" altLang="zh-CN" b="1" baseline="-25000" dirty="0" err="1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mn</a:t>
              </a:r>
              <a:r>
                <a:rPr lang="en-US" altLang="zh-CN" b="1" baseline="-2500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31754" name="AutoShape 21"/>
            <p:cNvSpPr>
              <a:spLocks/>
            </p:cNvSpPr>
            <p:nvPr/>
          </p:nvSpPr>
          <p:spPr bwMode="auto">
            <a:xfrm>
              <a:off x="96" y="2692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5" name="AutoShape 22"/>
            <p:cNvSpPr>
              <a:spLocks/>
            </p:cNvSpPr>
            <p:nvPr/>
          </p:nvSpPr>
          <p:spPr bwMode="auto">
            <a:xfrm>
              <a:off x="480" y="2692"/>
              <a:ext cx="48" cy="1056"/>
            </a:xfrm>
            <a:prstGeom prst="righ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6" name="AutoShape 23"/>
            <p:cNvSpPr>
              <a:spLocks/>
            </p:cNvSpPr>
            <p:nvPr/>
          </p:nvSpPr>
          <p:spPr bwMode="auto">
            <a:xfrm>
              <a:off x="912" y="2692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7" name="AutoShape 24"/>
            <p:cNvSpPr>
              <a:spLocks/>
            </p:cNvSpPr>
            <p:nvPr/>
          </p:nvSpPr>
          <p:spPr bwMode="auto">
            <a:xfrm>
              <a:off x="1248" y="2692"/>
              <a:ext cx="48" cy="1056"/>
            </a:xfrm>
            <a:prstGeom prst="righ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8" name="AutoShape 25"/>
            <p:cNvSpPr>
              <a:spLocks/>
            </p:cNvSpPr>
            <p:nvPr/>
          </p:nvSpPr>
          <p:spPr bwMode="auto">
            <a:xfrm>
              <a:off x="2976" y="2596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9" name="AutoShape 26"/>
            <p:cNvSpPr>
              <a:spLocks/>
            </p:cNvSpPr>
            <p:nvPr/>
          </p:nvSpPr>
          <p:spPr bwMode="auto">
            <a:xfrm>
              <a:off x="3264" y="2596"/>
              <a:ext cx="48" cy="1056"/>
            </a:xfrm>
            <a:prstGeom prst="righ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0" name="AutoShape 27"/>
            <p:cNvSpPr>
              <a:spLocks/>
            </p:cNvSpPr>
            <p:nvPr/>
          </p:nvSpPr>
          <p:spPr bwMode="auto">
            <a:xfrm>
              <a:off x="2562" y="2614"/>
              <a:ext cx="48" cy="1056"/>
            </a:xfrm>
            <a:prstGeom prst="righ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1" name="AutoShape 28"/>
            <p:cNvSpPr>
              <a:spLocks/>
            </p:cNvSpPr>
            <p:nvPr/>
          </p:nvSpPr>
          <p:spPr bwMode="auto">
            <a:xfrm>
              <a:off x="2112" y="2644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2" name="AutoShape 29"/>
            <p:cNvSpPr>
              <a:spLocks/>
            </p:cNvSpPr>
            <p:nvPr/>
          </p:nvSpPr>
          <p:spPr bwMode="auto">
            <a:xfrm>
              <a:off x="4992" y="2644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3" name="AutoShape 30"/>
            <p:cNvSpPr>
              <a:spLocks/>
            </p:cNvSpPr>
            <p:nvPr/>
          </p:nvSpPr>
          <p:spPr bwMode="auto">
            <a:xfrm>
              <a:off x="3552" y="2644"/>
              <a:ext cx="48" cy="1056"/>
            </a:xfrm>
            <a:prstGeom prst="lef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4" name="AutoShape 31"/>
            <p:cNvSpPr>
              <a:spLocks/>
            </p:cNvSpPr>
            <p:nvPr/>
          </p:nvSpPr>
          <p:spPr bwMode="auto">
            <a:xfrm>
              <a:off x="5417" y="2646"/>
              <a:ext cx="48" cy="1056"/>
            </a:xfrm>
            <a:prstGeom prst="righ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65" name="AutoShape 32"/>
            <p:cNvSpPr>
              <a:spLocks/>
            </p:cNvSpPr>
            <p:nvPr/>
          </p:nvSpPr>
          <p:spPr bwMode="auto">
            <a:xfrm>
              <a:off x="4105" y="2614"/>
              <a:ext cx="48" cy="1056"/>
            </a:xfrm>
            <a:prstGeom prst="rightBracket">
              <a:avLst>
                <a:gd name="adj" fmla="val 183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7249" name="Text Box 33"/>
          <p:cNvSpPr txBox="1">
            <a:spLocks noChangeArrowheads="1"/>
          </p:cNvSpPr>
          <p:nvPr/>
        </p:nvSpPr>
        <p:spPr bwMode="auto">
          <a:xfrm>
            <a:off x="609600" y="6165850"/>
            <a:ext cx="853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50" name="Object 34"/>
              <p:cNvSpPr txBox="1"/>
              <p:nvPr/>
            </p:nvSpPr>
            <p:spPr bwMode="auto">
              <a:xfrm>
                <a:off x="2484438" y="5905500"/>
                <a:ext cx="2736850" cy="952500"/>
              </a:xfrm>
              <a:prstGeom prst="rect">
                <a:avLst/>
              </a:prstGeom>
              <a:solidFill>
                <a:srgbClr val="05FB0B"/>
              </a:solidFill>
              <a:ln>
                <a:noFill/>
              </a:ln>
              <a:effectLst/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7250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438" y="5905500"/>
                <a:ext cx="2736850" cy="952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50825" y="620713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对应于</a:t>
            </a:r>
            <a:r>
              <a:rPr kumimoji="0"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基可行解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的基，称为</a:t>
            </a:r>
            <a:r>
              <a:rPr kumimoji="0"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可行基</a:t>
            </a:r>
            <a:r>
              <a:rPr kumimoji="0" lang="zh-CN" altLang="en-US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r>
              <a:rPr kumimoji="0" lang="zh-CN" altLang="en-US"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31751" name="矩形 1"/>
          <p:cNvSpPr>
            <a:spLocks noChangeArrowheads="1"/>
          </p:cNvSpPr>
          <p:nvPr/>
        </p:nvSpPr>
        <p:spPr bwMode="auto">
          <a:xfrm>
            <a:off x="0" y="0"/>
            <a:ext cx="845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3600" b="1" dirty="0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可行基    </a:t>
            </a: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 bwMode="auto">
          <a:xfrm>
            <a:off x="0" y="908050"/>
            <a:ext cx="8748713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约束方程组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(1-5)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具有基解的数目最多是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C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个。一般基可行解的数目要小于基解的数目。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9" grpId="0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Object 11"/>
              <p:cNvSpPr txBox="1"/>
              <p:nvPr/>
            </p:nvSpPr>
            <p:spPr bwMode="auto">
              <a:xfrm>
                <a:off x="3563938" y="0"/>
                <a:ext cx="5364162" cy="908050"/>
              </a:xfrm>
              <a:prstGeom prst="rect">
                <a:avLst/>
              </a:prstGeom>
              <a:solidFill>
                <a:srgbClr val="05FB0B"/>
              </a:solidFill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277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0"/>
                <a:ext cx="5364162" cy="9080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252" name="Text Box 12"/>
          <p:cNvSpPr txBox="1">
            <a:spLocks noChangeArrowheads="1"/>
          </p:cNvSpPr>
          <p:nvPr/>
        </p:nvSpPr>
        <p:spPr bwMode="auto">
          <a:xfrm>
            <a:off x="2916238" y="188913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令</a:t>
            </a:r>
          </a:p>
        </p:txBody>
      </p:sp>
      <p:sp>
        <p:nvSpPr>
          <p:cNvPr id="138253" name="Text Box 13"/>
          <p:cNvSpPr txBox="1">
            <a:spLocks noChangeArrowheads="1"/>
          </p:cNvSpPr>
          <p:nvPr/>
        </p:nvSpPr>
        <p:spPr bwMode="auto">
          <a:xfrm>
            <a:off x="323850" y="884238"/>
            <a:ext cx="8640763" cy="457200"/>
          </a:xfrm>
          <a:prstGeom prst="rect">
            <a:avLst/>
          </a:prstGeom>
          <a:solidFill>
            <a:srgbClr val="05FB0B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X</a:t>
            </a:r>
            <a:r>
              <a:rPr lang="en-US" altLang="zh-CN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B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 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楷体_GB2312" pitchFamily="49" charset="-122"/>
              </a:rPr>
              <a:t>是对应这个基的基变量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X</a:t>
            </a:r>
            <a:r>
              <a:rPr lang="en-US" altLang="zh-CN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B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3" name="Object 14"/>
              <p:cNvSpPr txBox="1"/>
              <p:nvPr/>
            </p:nvSpPr>
            <p:spPr bwMode="auto">
              <a:xfrm>
                <a:off x="4572000" y="836613"/>
                <a:ext cx="1995488" cy="55403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2773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836613"/>
                <a:ext cx="1995488" cy="554037"/>
              </a:xfrm>
              <a:prstGeom prst="rect">
                <a:avLst/>
              </a:prstGeom>
              <a:blipFill>
                <a:blip r:embed="rId3"/>
                <a:stretch>
                  <a:fillRect l="-1835" r="-1223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55" name="Object 15"/>
              <p:cNvSpPr txBox="1"/>
              <p:nvPr/>
            </p:nvSpPr>
            <p:spPr bwMode="auto">
              <a:xfrm>
                <a:off x="306388" y="1328738"/>
                <a:ext cx="3816350" cy="58737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,0,⋯,0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825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388" y="1328738"/>
                <a:ext cx="3816350" cy="587375"/>
              </a:xfrm>
              <a:prstGeom prst="rect">
                <a:avLst/>
              </a:prstGeom>
              <a:blipFill>
                <a:blip r:embed="rId4"/>
                <a:stretch>
                  <a:fillRect l="-160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256" name="Text Box 16"/>
          <p:cNvSpPr txBox="1">
            <a:spLocks noChangeArrowheads="1"/>
          </p:cNvSpPr>
          <p:nvPr/>
        </p:nvSpPr>
        <p:spPr bwMode="auto">
          <a:xfrm>
            <a:off x="4067175" y="141287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为</a:t>
            </a:r>
            <a:r>
              <a:rPr lang="zh-CN" altLang="en-US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基解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38257" name="Rectangle 17"/>
          <p:cNvSpPr>
            <a:spLocks noChangeArrowheads="1"/>
          </p:cNvSpPr>
          <p:nvPr/>
        </p:nvSpPr>
        <p:spPr bwMode="auto">
          <a:xfrm>
            <a:off x="53975" y="1916113"/>
            <a:ext cx="8839200" cy="457200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楷体_GB2312" pitchFamily="49" charset="-122"/>
              </a:rPr>
              <a:t>基解中非零分量的个数小于</a:t>
            </a:r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楷体_GB2312" pitchFamily="49" charset="-122"/>
              </a:rPr>
              <a:t>个时，该基解是</a:t>
            </a:r>
            <a:r>
              <a:rPr lang="zh-CN" altLang="en-US" b="1">
                <a:solidFill>
                  <a:srgbClr val="800000"/>
                </a:solidFill>
                <a:latin typeface="Times New Roman" pitchFamily="18" charset="0"/>
                <a:ea typeface="楷体_GB2312" pitchFamily="49" charset="-122"/>
              </a:rPr>
              <a:t>退化解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7" name="Object 18"/>
              <p:cNvSpPr txBox="1"/>
              <p:nvPr/>
            </p:nvSpPr>
            <p:spPr bwMode="auto">
              <a:xfrm>
                <a:off x="323850" y="0"/>
                <a:ext cx="2519363" cy="877888"/>
              </a:xfrm>
              <a:prstGeom prst="rect">
                <a:avLst/>
              </a:prstGeom>
              <a:solidFill>
                <a:srgbClr val="05FB0B"/>
              </a:solidFill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2777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0"/>
                <a:ext cx="2519363" cy="8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259" name="Rectangle 19"/>
          <p:cNvSpPr>
            <a:spLocks noChangeArrowheads="1"/>
          </p:cNvSpPr>
          <p:nvPr/>
        </p:nvSpPr>
        <p:spPr bwMode="auto">
          <a:xfrm>
            <a:off x="107950" y="2349500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为了理解</a:t>
            </a:r>
            <a:r>
              <a:rPr lang="zh-CN" altLang="en-US" b="1" dirty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基解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b="1" dirty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基可行解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b="1" dirty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最优解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的概念，用下列例子说明：</a:t>
            </a:r>
          </a:p>
        </p:txBody>
      </p:sp>
      <p:sp>
        <p:nvSpPr>
          <p:cNvPr id="138260" name="Text Box 20"/>
          <p:cNvSpPr txBox="1">
            <a:spLocks noChangeArrowheads="1"/>
          </p:cNvSpPr>
          <p:nvPr/>
        </p:nvSpPr>
        <p:spPr bwMode="auto">
          <a:xfrm>
            <a:off x="-37306" y="4772025"/>
            <a:ext cx="4249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标准型为：   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555875" y="3252788"/>
            <a:ext cx="3313113" cy="1616075"/>
            <a:chOff x="3288" y="2886"/>
            <a:chExt cx="2087" cy="1018"/>
          </a:xfrm>
        </p:grpSpPr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>
              <a:off x="3288" y="2886"/>
              <a:ext cx="2087" cy="1018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1</a:t>
              </a:r>
              <a:r>
                <a:rPr lang="en-US" altLang="zh-CN" sz="2000" b="1" dirty="0">
                  <a:latin typeface="Times New Roman" pitchFamily="18" charset="0"/>
                </a:rPr>
                <a:t> +  2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2</a:t>
              </a:r>
              <a:r>
                <a:rPr lang="en-US" altLang="zh-CN" sz="2000" b="1" dirty="0">
                  <a:latin typeface="Times New Roman" pitchFamily="18" charset="0"/>
                </a:rPr>
                <a:t> ≤ 8 </a:t>
              </a:r>
            </a:p>
            <a:p>
              <a:pPr eaLnBrk="1" hangingPunct="1"/>
              <a:r>
                <a:rPr lang="en-US" altLang="zh-CN" sz="2000" b="1" dirty="0">
                  <a:latin typeface="Times New Roman" pitchFamily="18" charset="0"/>
                </a:rPr>
                <a:t>            4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1</a:t>
              </a:r>
              <a:r>
                <a:rPr lang="en-US" altLang="zh-CN" sz="2000" b="1" dirty="0">
                  <a:latin typeface="Times New Roman" pitchFamily="18" charset="0"/>
                </a:rPr>
                <a:t>           ≤ 16</a:t>
              </a:r>
            </a:p>
            <a:p>
              <a:pPr eaLnBrk="1" hangingPunct="1"/>
              <a:r>
                <a:rPr lang="en-US" altLang="zh-CN" sz="2000" b="1" i="1" dirty="0">
                  <a:latin typeface="Times New Roman" pitchFamily="18" charset="0"/>
                </a:rPr>
                <a:t>                       </a:t>
              </a:r>
              <a:r>
                <a:rPr lang="en-US" altLang="zh-CN" sz="2000" b="1" dirty="0">
                  <a:latin typeface="Times New Roman" pitchFamily="18" charset="0"/>
                </a:rPr>
                <a:t>4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2</a:t>
              </a:r>
              <a:r>
                <a:rPr lang="en-US" altLang="zh-CN" sz="2000" b="1" dirty="0">
                  <a:latin typeface="Times New Roman" pitchFamily="18" charset="0"/>
                </a:rPr>
                <a:t> ≤  12</a:t>
              </a:r>
            </a:p>
            <a:p>
              <a:pPr algn="ctr" eaLnBrk="1" hangingPunct="1"/>
              <a:r>
                <a:rPr lang="en-US" altLang="zh-CN" sz="2000" b="1" dirty="0">
                  <a:latin typeface="Times New Roman" pitchFamily="18" charset="0"/>
                </a:rPr>
                <a:t>                           </a:t>
              </a:r>
            </a:p>
            <a:p>
              <a:pPr eaLnBrk="1" hangingPunct="1"/>
              <a:r>
                <a:rPr lang="en-US" altLang="zh-CN" sz="2000" b="1" i="1" dirty="0">
                  <a:latin typeface="Times New Roman" pitchFamily="18" charset="0"/>
                </a:rPr>
                <a:t>               x</a:t>
              </a:r>
              <a:r>
                <a:rPr lang="en-US" altLang="zh-CN" sz="2000" b="1" baseline="-25000" dirty="0">
                  <a:latin typeface="Times New Roman" pitchFamily="18" charset="0"/>
                </a:rPr>
                <a:t>1</a:t>
              </a:r>
              <a:r>
                <a:rPr lang="zh-CN" altLang="en-US" sz="2000" b="1" dirty="0">
                  <a:latin typeface="Times New Roman" pitchFamily="18" charset="0"/>
                </a:rPr>
                <a:t>， 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2</a:t>
              </a:r>
              <a:r>
                <a:rPr lang="en-US" altLang="zh-CN" sz="2000" b="1" dirty="0">
                  <a:latin typeface="Times New Roman" pitchFamily="18" charset="0"/>
                </a:rPr>
                <a:t>≥0</a:t>
              </a:r>
            </a:p>
          </p:txBody>
        </p:sp>
        <p:sp>
          <p:nvSpPr>
            <p:cNvPr id="32791" name="AutoShape 23"/>
            <p:cNvSpPr>
              <a:spLocks/>
            </p:cNvSpPr>
            <p:nvPr/>
          </p:nvSpPr>
          <p:spPr bwMode="auto">
            <a:xfrm>
              <a:off x="3696" y="3022"/>
              <a:ext cx="46" cy="862"/>
            </a:xfrm>
            <a:prstGeom prst="leftBrace">
              <a:avLst>
                <a:gd name="adj1" fmla="val 15615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8264" name="Text Box 24"/>
          <p:cNvSpPr txBox="1">
            <a:spLocks noChangeArrowheads="1"/>
          </p:cNvSpPr>
          <p:nvPr/>
        </p:nvSpPr>
        <p:spPr bwMode="auto">
          <a:xfrm>
            <a:off x="1553369" y="4832350"/>
            <a:ext cx="424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Times New Roman" pitchFamily="18" charset="0"/>
              </a:rPr>
              <a:t> </a:t>
            </a:r>
            <a:r>
              <a:rPr lang="en-US" altLang="zh-CN" sz="2000" b="1" dirty="0">
                <a:latin typeface="Times New Roman" pitchFamily="18" charset="0"/>
              </a:rPr>
              <a:t>max z = 2 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1</a:t>
            </a:r>
            <a:r>
              <a:rPr lang="en-US" altLang="zh-CN" sz="2000" b="1" dirty="0">
                <a:latin typeface="Times New Roman" pitchFamily="18" charset="0"/>
              </a:rPr>
              <a:t> + 3 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2 </a:t>
            </a:r>
            <a:r>
              <a:rPr lang="en-US" altLang="zh-CN" sz="2000" b="1" dirty="0">
                <a:latin typeface="Times New Roman" pitchFamily="18" charset="0"/>
              </a:rPr>
              <a:t>+0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3</a:t>
            </a:r>
            <a:r>
              <a:rPr lang="en-US" altLang="zh-CN" sz="2000" b="1" dirty="0">
                <a:latin typeface="Times New Roman" pitchFamily="18" charset="0"/>
              </a:rPr>
              <a:t> + 0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4</a:t>
            </a:r>
            <a:r>
              <a:rPr lang="en-US" altLang="zh-CN" sz="2000" b="1" dirty="0">
                <a:latin typeface="Times New Roman" pitchFamily="18" charset="0"/>
              </a:rPr>
              <a:t> + 0 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5</a:t>
            </a:r>
            <a:r>
              <a:rPr lang="en-US" altLang="zh-CN" sz="2000" dirty="0">
                <a:latin typeface="Times New Roman" pitchFamily="18" charset="0"/>
              </a:rPr>
              <a:t>  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386157" y="5174201"/>
            <a:ext cx="5111750" cy="1616075"/>
            <a:chOff x="3222" y="2897"/>
            <a:chExt cx="2087" cy="1111"/>
          </a:xfrm>
        </p:grpSpPr>
        <p:sp>
          <p:nvSpPr>
            <p:cNvPr id="32788" name="Rectangle 26"/>
            <p:cNvSpPr>
              <a:spLocks noChangeArrowheads="1"/>
            </p:cNvSpPr>
            <p:nvPr/>
          </p:nvSpPr>
          <p:spPr bwMode="auto">
            <a:xfrm>
              <a:off x="3222" y="2897"/>
              <a:ext cx="2087" cy="1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000" i="1" dirty="0">
                  <a:latin typeface="Times New Roman" pitchFamily="18" charset="0"/>
                </a:rPr>
                <a:t>             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1</a:t>
              </a:r>
              <a:r>
                <a:rPr lang="en-US" altLang="zh-CN" sz="2000" b="1" dirty="0">
                  <a:latin typeface="Times New Roman" pitchFamily="18" charset="0"/>
                </a:rPr>
                <a:t> +  2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2   </a:t>
              </a:r>
              <a:r>
                <a:rPr lang="en-US" altLang="zh-CN" sz="2000" b="1" dirty="0">
                  <a:latin typeface="Times New Roman" pitchFamily="18" charset="0"/>
                </a:rPr>
                <a:t>+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3</a:t>
              </a:r>
              <a:r>
                <a:rPr lang="en-US" altLang="zh-CN" sz="2000" b="1" dirty="0">
                  <a:latin typeface="Times New Roman" pitchFamily="18" charset="0"/>
                </a:rPr>
                <a:t>                        = 8 </a:t>
              </a:r>
            </a:p>
            <a:p>
              <a:pPr eaLnBrk="1" hangingPunct="1"/>
              <a:r>
                <a:rPr lang="en-US" altLang="zh-CN" sz="2000" b="1" dirty="0">
                  <a:latin typeface="Times New Roman" pitchFamily="18" charset="0"/>
                </a:rPr>
                <a:t>                    4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1</a:t>
              </a:r>
              <a:r>
                <a:rPr lang="en-US" altLang="zh-CN" sz="2000" b="1" dirty="0">
                  <a:latin typeface="Times New Roman" pitchFamily="18" charset="0"/>
                </a:rPr>
                <a:t>                    + 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4</a:t>
              </a:r>
              <a:r>
                <a:rPr lang="en-US" altLang="zh-CN" sz="2000" b="1" dirty="0">
                  <a:latin typeface="Times New Roman" pitchFamily="18" charset="0"/>
                </a:rPr>
                <a:t>              = 16</a:t>
              </a:r>
            </a:p>
            <a:p>
              <a:pPr eaLnBrk="1" hangingPunct="1"/>
              <a:r>
                <a:rPr lang="en-US" altLang="zh-CN" sz="2000" b="1" i="1" dirty="0">
                  <a:latin typeface="Times New Roman" pitchFamily="18" charset="0"/>
                </a:rPr>
                <a:t>                              </a:t>
              </a:r>
              <a:r>
                <a:rPr lang="en-US" altLang="zh-CN" sz="2000" b="1" dirty="0">
                  <a:latin typeface="Times New Roman" pitchFamily="18" charset="0"/>
                </a:rPr>
                <a:t>4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2</a:t>
              </a:r>
              <a:r>
                <a:rPr lang="en-US" altLang="zh-CN" sz="2000" b="1" dirty="0">
                  <a:latin typeface="Times New Roman" pitchFamily="18" charset="0"/>
                </a:rPr>
                <a:t> +                    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 5     </a:t>
              </a:r>
              <a:r>
                <a:rPr lang="en-US" altLang="zh-CN" sz="2000" b="1" dirty="0">
                  <a:latin typeface="Times New Roman" pitchFamily="18" charset="0"/>
                </a:rPr>
                <a:t>= 12</a:t>
              </a:r>
            </a:p>
            <a:p>
              <a:pPr algn="ctr" eaLnBrk="1" hangingPunct="1"/>
              <a:r>
                <a:rPr lang="en-US" altLang="zh-CN" sz="2000" b="1" dirty="0">
                  <a:latin typeface="Times New Roman" pitchFamily="18" charset="0"/>
                </a:rPr>
                <a:t>                           </a:t>
              </a:r>
            </a:p>
            <a:p>
              <a:pPr eaLnBrk="1" hangingPunct="1"/>
              <a:r>
                <a:rPr lang="en-US" altLang="zh-CN" sz="2000" b="1" i="1" dirty="0">
                  <a:latin typeface="Times New Roman" pitchFamily="18" charset="0"/>
                </a:rPr>
                <a:t>                           x</a:t>
              </a:r>
              <a:r>
                <a:rPr lang="en-US" altLang="zh-CN" sz="2000" b="1" baseline="-25000" dirty="0">
                  <a:latin typeface="Times New Roman" pitchFamily="18" charset="0"/>
                </a:rPr>
                <a:t>1</a:t>
              </a:r>
              <a:r>
                <a:rPr lang="en-US" altLang="zh-CN" sz="2000" b="1" dirty="0">
                  <a:latin typeface="Times New Roman" pitchFamily="18" charset="0"/>
                </a:rPr>
                <a:t>,  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2 </a:t>
              </a:r>
              <a:r>
                <a:rPr lang="en-US" altLang="zh-CN" sz="2000" b="1" dirty="0">
                  <a:latin typeface="Times New Roman" pitchFamily="18" charset="0"/>
                </a:rPr>
                <a:t>, 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3</a:t>
              </a:r>
              <a:r>
                <a:rPr lang="en-US" altLang="zh-CN" sz="2000" b="1" dirty="0">
                  <a:latin typeface="Times New Roman" pitchFamily="18" charset="0"/>
                </a:rPr>
                <a:t> ,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4</a:t>
              </a:r>
              <a:r>
                <a:rPr lang="en-US" altLang="zh-CN" sz="2000" b="1" dirty="0">
                  <a:latin typeface="Times New Roman" pitchFamily="18" charset="0"/>
                </a:rPr>
                <a:t> ,</a:t>
              </a:r>
              <a:r>
                <a:rPr lang="en-US" altLang="zh-CN" sz="2000" b="1" i="1" dirty="0">
                  <a:latin typeface="Times New Roman" pitchFamily="18" charset="0"/>
                </a:rPr>
                <a:t>x</a:t>
              </a:r>
              <a:r>
                <a:rPr lang="en-US" altLang="zh-CN" sz="2000" b="1" baseline="-25000" dirty="0">
                  <a:latin typeface="Times New Roman" pitchFamily="18" charset="0"/>
                </a:rPr>
                <a:t>5</a:t>
              </a:r>
              <a:r>
                <a:rPr lang="en-US" altLang="zh-CN" sz="2000" b="1" dirty="0">
                  <a:latin typeface="Times New Roman" pitchFamily="18" charset="0"/>
                </a:rPr>
                <a:t> ≥0</a:t>
              </a:r>
            </a:p>
          </p:txBody>
        </p:sp>
        <p:sp>
          <p:nvSpPr>
            <p:cNvPr id="32789" name="AutoShape 27"/>
            <p:cNvSpPr>
              <a:spLocks/>
            </p:cNvSpPr>
            <p:nvPr/>
          </p:nvSpPr>
          <p:spPr bwMode="auto">
            <a:xfrm>
              <a:off x="3654" y="3046"/>
              <a:ext cx="46" cy="862"/>
            </a:xfrm>
            <a:prstGeom prst="leftBrace">
              <a:avLst>
                <a:gd name="adj1" fmla="val 15615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8268" name="Text Box 28"/>
          <p:cNvSpPr txBox="1">
            <a:spLocks noChangeArrowheads="1"/>
          </p:cNvSpPr>
          <p:nvPr/>
        </p:nvSpPr>
        <p:spPr bwMode="auto">
          <a:xfrm>
            <a:off x="1600200" y="2827338"/>
            <a:ext cx="4267200" cy="4572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例 </a:t>
            </a:r>
            <a:r>
              <a:rPr lang="zh-CN" altLang="en-US" sz="2000">
                <a:latin typeface="Times New Roman" pitchFamily="18" charset="0"/>
              </a:rPr>
              <a:t>        </a:t>
            </a:r>
            <a:r>
              <a:rPr lang="en-US" altLang="zh-CN" sz="2000" b="1">
                <a:latin typeface="Times New Roman" pitchFamily="18" charset="0"/>
              </a:rPr>
              <a:t>max z = 2 </a:t>
            </a:r>
            <a:r>
              <a:rPr lang="en-US" altLang="zh-CN" sz="2000" b="1" i="1">
                <a:latin typeface="Times New Roman" pitchFamily="18" charset="0"/>
              </a:rPr>
              <a:t>x</a:t>
            </a:r>
            <a:r>
              <a:rPr lang="en-US" altLang="zh-CN" sz="2000" b="1" baseline="-25000">
                <a:latin typeface="Times New Roman" pitchFamily="18" charset="0"/>
              </a:rPr>
              <a:t>1</a:t>
            </a:r>
            <a:r>
              <a:rPr lang="en-US" altLang="zh-CN" sz="2000" b="1">
                <a:latin typeface="Times New Roman" pitchFamily="18" charset="0"/>
              </a:rPr>
              <a:t> + 3 </a:t>
            </a:r>
            <a:r>
              <a:rPr lang="en-US" altLang="zh-CN" sz="2000" b="1" i="1">
                <a:latin typeface="Times New Roman" pitchFamily="18" charset="0"/>
              </a:rPr>
              <a:t>x</a:t>
            </a:r>
            <a:r>
              <a:rPr lang="en-US" altLang="zh-CN" sz="2000" b="1" baseline="-25000">
                <a:latin typeface="Times New Roman" pitchFamily="18" charset="0"/>
              </a:rPr>
              <a:t>2</a:t>
            </a:r>
            <a:endParaRPr lang="en-US" altLang="zh-CN" sz="2000"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269" name="Object 29"/>
              <p:cNvSpPr txBox="1"/>
              <p:nvPr/>
            </p:nvSpPr>
            <p:spPr bwMode="auto">
              <a:xfrm>
                <a:off x="4765672" y="5560746"/>
                <a:ext cx="4248150" cy="1190625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826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5672" y="5560746"/>
                <a:ext cx="4248150" cy="11906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6976A5F-1C4F-43D6-9A7A-2ABC49B053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024" y="2806700"/>
            <a:ext cx="3083976" cy="2656422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56" grpId="0"/>
      <p:bldP spid="138257" grpId="0" animBg="1"/>
      <p:bldP spid="138259" grpId="0"/>
      <p:bldP spid="138260" grpId="0"/>
      <p:bldP spid="138264" grpId="0"/>
      <p:bldP spid="13826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794" name="Object 2"/>
              <p:cNvSpPr txBox="1"/>
              <p:nvPr/>
            </p:nvSpPr>
            <p:spPr bwMode="auto">
              <a:xfrm>
                <a:off x="2771775" y="1628775"/>
                <a:ext cx="3241675" cy="14620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379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775" y="1628775"/>
                <a:ext cx="3241675" cy="1462088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04800" y="1066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基</a:t>
            </a: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468313" y="1773238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基为：</a:t>
            </a:r>
            <a:r>
              <a:rPr lang="zh-CN" altLang="en-US" sz="2000">
                <a:latin typeface="Times New Roman" pitchFamily="18" charset="0"/>
              </a:rPr>
              <a:t>         </a:t>
            </a:r>
          </a:p>
        </p:txBody>
      </p:sp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250825" y="3141663"/>
            <a:ext cx="8370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基变量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为：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5 </a:t>
            </a:r>
            <a:r>
              <a:rPr lang="zh-CN" altLang="en-US" b="1" baseline="-2500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非基变量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为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102" name="Object 6"/>
              <p:cNvSpPr txBox="1"/>
              <p:nvPr/>
            </p:nvSpPr>
            <p:spPr bwMode="auto">
              <a:xfrm>
                <a:off x="3203575" y="3573463"/>
                <a:ext cx="2325688" cy="1763712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=8−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=16−4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=12−4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210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575" y="3573463"/>
                <a:ext cx="2325688" cy="1763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103" name="Text Box 7"/>
          <p:cNvSpPr txBox="1">
            <a:spLocks noChangeArrowheads="1"/>
          </p:cNvSpPr>
          <p:nvPr/>
        </p:nvSpPr>
        <p:spPr bwMode="auto">
          <a:xfrm>
            <a:off x="539750" y="5445125"/>
            <a:ext cx="820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令非基变量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=0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=0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 baseline="-2500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基变量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=8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= 16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b="1" baseline="-25000"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=12</a:t>
            </a:r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684213" y="6092825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X=(0,0,8,16,12)</a:t>
            </a:r>
            <a:r>
              <a:rPr lang="en-US" altLang="zh-CN" b="1" baseline="30000">
                <a:latin typeface="Times New Roman" pitchFamily="18" charset="0"/>
                <a:ea typeface="楷体_GB2312" pitchFamily="49" charset="-122"/>
              </a:rPr>
              <a:t>T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为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基解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，且为</a:t>
            </a:r>
            <a:r>
              <a:rPr lang="zh-CN" altLang="en-US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基可行解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01" name="Object 9"/>
              <p:cNvSpPr txBox="1"/>
              <p:nvPr/>
            </p:nvSpPr>
            <p:spPr bwMode="auto">
              <a:xfrm>
                <a:off x="3708400" y="0"/>
                <a:ext cx="5400675" cy="1628775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380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8400" y="0"/>
                <a:ext cx="5400675" cy="1628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73025" y="0"/>
            <a:ext cx="3635375" cy="1616075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000" i="1" dirty="0">
                <a:latin typeface="Times New Roman" pitchFamily="18" charset="0"/>
              </a:rPr>
              <a:t>  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1</a:t>
            </a:r>
            <a:r>
              <a:rPr lang="en-US" altLang="zh-CN" sz="2000" b="1" dirty="0">
                <a:latin typeface="Times New Roman" pitchFamily="18" charset="0"/>
              </a:rPr>
              <a:t> +  2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2 </a:t>
            </a:r>
            <a:r>
              <a:rPr lang="en-US" altLang="zh-CN" sz="2000" b="1" dirty="0">
                <a:latin typeface="Times New Roman" pitchFamily="18" charset="0"/>
              </a:rPr>
              <a:t>+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3</a:t>
            </a:r>
            <a:r>
              <a:rPr lang="en-US" altLang="zh-CN" sz="2000" b="1" dirty="0">
                <a:latin typeface="Times New Roman" pitchFamily="18" charset="0"/>
              </a:rPr>
              <a:t>                 = 8 </a:t>
            </a:r>
          </a:p>
          <a:p>
            <a:pPr eaLnBrk="1" hangingPunct="1"/>
            <a:r>
              <a:rPr lang="en-US" altLang="zh-CN" sz="2000" b="1" dirty="0">
                <a:latin typeface="Times New Roman" pitchFamily="18" charset="0"/>
              </a:rPr>
              <a:t>4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1</a:t>
            </a:r>
            <a:r>
              <a:rPr lang="en-US" altLang="zh-CN" sz="2000" b="1" dirty="0">
                <a:latin typeface="Times New Roman" pitchFamily="18" charset="0"/>
              </a:rPr>
              <a:t> +              +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4</a:t>
            </a:r>
            <a:r>
              <a:rPr lang="en-US" altLang="zh-CN" sz="2000" b="1" dirty="0">
                <a:latin typeface="Times New Roman" pitchFamily="18" charset="0"/>
              </a:rPr>
              <a:t>          = 16</a:t>
            </a:r>
          </a:p>
          <a:p>
            <a:pPr eaLnBrk="1" hangingPunct="1"/>
            <a:r>
              <a:rPr lang="en-US" altLang="zh-CN" sz="2000" b="1" i="1" dirty="0">
                <a:latin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</a:rPr>
              <a:t>4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2</a:t>
            </a:r>
            <a:r>
              <a:rPr lang="en-US" altLang="zh-CN" sz="2000" b="1" dirty="0">
                <a:latin typeface="Times New Roman" pitchFamily="18" charset="0"/>
              </a:rPr>
              <a:t> +           +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 5    </a:t>
            </a:r>
            <a:r>
              <a:rPr lang="en-US" altLang="zh-CN" sz="2000" b="1" dirty="0">
                <a:latin typeface="Times New Roman" pitchFamily="18" charset="0"/>
              </a:rPr>
              <a:t>= 12</a:t>
            </a:r>
          </a:p>
          <a:p>
            <a:pPr eaLnBrk="1" hangingPunct="1"/>
            <a:endParaRPr lang="en-US" altLang="zh-CN" sz="2000" b="1" dirty="0">
              <a:latin typeface="Times New Roman" pitchFamily="18" charset="0"/>
            </a:endParaRPr>
          </a:p>
          <a:p>
            <a:pPr eaLnBrk="1" hangingPunct="1"/>
            <a:r>
              <a:rPr lang="en-US" altLang="zh-CN" sz="2000" b="1" dirty="0">
                <a:latin typeface="Times New Roman" pitchFamily="18" charset="0"/>
              </a:rPr>
              <a:t> 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1</a:t>
            </a:r>
            <a:r>
              <a:rPr lang="en-US" altLang="zh-CN" sz="2000" b="1" dirty="0">
                <a:latin typeface="Times New Roman" pitchFamily="18" charset="0"/>
              </a:rPr>
              <a:t>,  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2 </a:t>
            </a:r>
            <a:r>
              <a:rPr lang="en-US" altLang="zh-CN" sz="2000" b="1" dirty="0">
                <a:latin typeface="Times New Roman" pitchFamily="18" charset="0"/>
              </a:rPr>
              <a:t>, 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3</a:t>
            </a:r>
            <a:r>
              <a:rPr lang="en-US" altLang="zh-CN" sz="2000" b="1" dirty="0">
                <a:latin typeface="Times New Roman" pitchFamily="18" charset="0"/>
              </a:rPr>
              <a:t> ,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4</a:t>
            </a:r>
            <a:r>
              <a:rPr lang="en-US" altLang="zh-CN" sz="2000" b="1" dirty="0">
                <a:latin typeface="Times New Roman" pitchFamily="18" charset="0"/>
              </a:rPr>
              <a:t> ,</a:t>
            </a:r>
            <a:r>
              <a:rPr lang="en-US" altLang="zh-CN" sz="2000" b="1" i="1" dirty="0">
                <a:latin typeface="Times New Roman" pitchFamily="18" charset="0"/>
              </a:rPr>
              <a:t>x</a:t>
            </a:r>
            <a:r>
              <a:rPr lang="en-US" altLang="zh-CN" sz="2000" b="1" baseline="-25000" dirty="0">
                <a:latin typeface="Times New Roman" pitchFamily="18" charset="0"/>
              </a:rPr>
              <a:t>5</a:t>
            </a:r>
            <a:r>
              <a:rPr lang="en-US" altLang="zh-CN" sz="2000" b="1" dirty="0">
                <a:latin typeface="Times New Roman" pitchFamily="18" charset="0"/>
              </a:rPr>
              <a:t> ≥0</a:t>
            </a:r>
          </a:p>
        </p:txBody>
      </p:sp>
      <p:sp>
        <p:nvSpPr>
          <p:cNvPr id="33803" name="AutoShape 11"/>
          <p:cNvSpPr>
            <a:spLocks/>
          </p:cNvSpPr>
          <p:nvPr/>
        </p:nvSpPr>
        <p:spPr bwMode="auto">
          <a:xfrm>
            <a:off x="88900" y="188913"/>
            <a:ext cx="90488" cy="1254125"/>
          </a:xfrm>
          <a:prstGeom prst="leftBrace">
            <a:avLst>
              <a:gd name="adj1" fmla="val 115496"/>
              <a:gd name="adj2" fmla="val 50000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3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0" grpId="0" autoUpdateAnimBg="0"/>
      <p:bldP spid="132101" grpId="0" autoUpdateAnimBg="0"/>
      <p:bldP spid="132103" grpId="0" autoUpdateAnimBg="0"/>
      <p:bldP spid="13210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386" name="Object 2"/>
          <p:cNvGraphicFramePr>
            <a:graphicFrameLocks noChangeAspect="1"/>
          </p:cNvGraphicFramePr>
          <p:nvPr/>
        </p:nvGraphicFramePr>
        <p:xfrm>
          <a:off x="539750" y="2636838"/>
          <a:ext cx="8135938" cy="385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8" name="文档" r:id="rId3" imgW="4013175" imgH="2091587" progId="Word.Document.8">
                  <p:embed/>
                </p:oleObj>
              </mc:Choice>
              <mc:Fallback>
                <p:oleObj name="文档" r:id="rId3" imgW="4013175" imgH="209158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636838"/>
                        <a:ext cx="8135938" cy="3852862"/>
                      </a:xfrm>
                      <a:prstGeom prst="rect">
                        <a:avLst/>
                      </a:prstGeom>
                      <a:solidFill>
                        <a:srgbClr val="DBFF0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4"/>
          <p:cNvGraphicFramePr>
            <a:graphicFrameLocks noGrp="1" noChangeAspect="1"/>
          </p:cNvGraphicFramePr>
          <p:nvPr>
            <p:ph/>
          </p:nvPr>
        </p:nvGraphicFramePr>
        <p:xfrm>
          <a:off x="539750" y="0"/>
          <a:ext cx="8135938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09" name="Document" r:id="rId5" imgW="5436108" imgH="1655064" progId="Word.Document.8">
                  <p:embed/>
                </p:oleObj>
              </mc:Choice>
              <mc:Fallback>
                <p:oleObj name="Document" r:id="rId5" imgW="5436108" imgH="1655064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0"/>
                        <a:ext cx="8135938" cy="24765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755650" y="0"/>
          <a:ext cx="7561263" cy="684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7" name="文档" r:id="rId3" imgW="4655039" imgH="4218983" progId="Word.Document.8">
                  <p:embed/>
                </p:oleObj>
              </mc:Choice>
              <mc:Fallback>
                <p:oleObj name="文档" r:id="rId3" imgW="4655039" imgH="421898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0"/>
                        <a:ext cx="7561263" cy="684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609600" y="1600200"/>
            <a:ext cx="7924800" cy="480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685800" y="685800"/>
            <a:ext cx="36576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解的集合：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1466850" y="2362200"/>
            <a:ext cx="742950" cy="2971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非可行解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2362200" y="2057400"/>
            <a:ext cx="3886200" cy="38100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2635250" y="2895600"/>
            <a:ext cx="793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可行解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609600" y="1600200"/>
            <a:ext cx="7924800" cy="480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685800" y="685800"/>
            <a:ext cx="36576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解的集合：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40292" name="Text Box 4"/>
          <p:cNvSpPr txBox="1">
            <a:spLocks noChangeArrowheads="1"/>
          </p:cNvSpPr>
          <p:nvPr/>
        </p:nvSpPr>
        <p:spPr bwMode="auto">
          <a:xfrm>
            <a:off x="1466850" y="2362200"/>
            <a:ext cx="742950" cy="2971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非可行解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2362200" y="2057400"/>
            <a:ext cx="3886200" cy="38100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2635250" y="2895600"/>
            <a:ext cx="793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可行解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3505200" y="2057400"/>
            <a:ext cx="4724400" cy="3733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0296" name="Text Box 8"/>
          <p:cNvSpPr txBox="1">
            <a:spLocks noChangeArrowheads="1"/>
          </p:cNvSpPr>
          <p:nvPr/>
        </p:nvSpPr>
        <p:spPr bwMode="auto">
          <a:xfrm>
            <a:off x="6750050" y="2590800"/>
            <a:ext cx="7937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基础解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609600" y="1600200"/>
            <a:ext cx="7924800" cy="480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1315" name="Text Box 3"/>
          <p:cNvSpPr txBox="1">
            <a:spLocks noChangeArrowheads="1"/>
          </p:cNvSpPr>
          <p:nvPr/>
        </p:nvSpPr>
        <p:spPr bwMode="auto">
          <a:xfrm>
            <a:off x="685800" y="685800"/>
            <a:ext cx="36576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解的集合：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1406525" y="2362200"/>
            <a:ext cx="803275" cy="2971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非可行解</a:t>
            </a: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2362200" y="2057400"/>
            <a:ext cx="3886200" cy="38100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1318" name="Text Box 6"/>
          <p:cNvSpPr txBox="1">
            <a:spLocks noChangeArrowheads="1"/>
          </p:cNvSpPr>
          <p:nvPr/>
        </p:nvSpPr>
        <p:spPr bwMode="auto">
          <a:xfrm>
            <a:off x="2635250" y="2895600"/>
            <a:ext cx="793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可行解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38919" name="Oval 7"/>
          <p:cNvSpPr>
            <a:spLocks noChangeArrowheads="1"/>
          </p:cNvSpPr>
          <p:nvPr/>
        </p:nvSpPr>
        <p:spPr bwMode="auto">
          <a:xfrm>
            <a:off x="3505200" y="2057400"/>
            <a:ext cx="4724400" cy="3733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1320" name="Text Box 8"/>
          <p:cNvSpPr txBox="1">
            <a:spLocks noChangeArrowheads="1"/>
          </p:cNvSpPr>
          <p:nvPr/>
        </p:nvSpPr>
        <p:spPr bwMode="auto">
          <a:xfrm>
            <a:off x="6750050" y="2590800"/>
            <a:ext cx="7937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基础解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4570413" y="2565400"/>
            <a:ext cx="793750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="1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rPr>
              <a:t>基础可行解</a:t>
            </a: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609600" y="1600200"/>
            <a:ext cx="7924800" cy="480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685800" y="685800"/>
            <a:ext cx="36576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解的集合：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406525" y="2362200"/>
            <a:ext cx="803275" cy="2971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非可行解</a:t>
            </a: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2362200" y="2057400"/>
            <a:ext cx="3886200" cy="38100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2635250" y="2895600"/>
            <a:ext cx="7937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可行解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3505200" y="2057400"/>
            <a:ext cx="4724400" cy="37338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6750050" y="2590800"/>
            <a:ext cx="7937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4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基础解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3995738" y="2636838"/>
            <a:ext cx="7937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="1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rPr>
              <a:t>基础可行解</a:t>
            </a:r>
          </a:p>
        </p:txBody>
      </p:sp>
      <p:sp>
        <p:nvSpPr>
          <p:cNvPr id="39946" name="Oval 10"/>
          <p:cNvSpPr>
            <a:spLocks noChangeArrowheads="1"/>
          </p:cNvSpPr>
          <p:nvPr/>
        </p:nvSpPr>
        <p:spPr bwMode="auto">
          <a:xfrm>
            <a:off x="4645025" y="2743200"/>
            <a:ext cx="1295400" cy="22860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4949825" y="2971800"/>
            <a:ext cx="611188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基础最优解</a:t>
            </a: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323850" y="908050"/>
            <a:ext cx="7920038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</a:rPr>
              <a:t>另外还要说明一点，基解中的非零分量的个数小于</a:t>
            </a:r>
            <a:r>
              <a:rPr kumimoji="0" lang="en-US" altLang="zh-CN" sz="2800" b="1" i="1" dirty="0">
                <a:latin typeface="楷体_GB2312" pitchFamily="49" charset="-122"/>
                <a:ea typeface="楷体_GB2312" pitchFamily="49" charset="-122"/>
              </a:rPr>
              <a:t>m</a:t>
            </a: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</a:rPr>
              <a:t>个时，该基解是退化解。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endParaRPr kumimoji="0"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</a:rPr>
              <a:t>在以下讨论时，假设不出现退化的情况。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endParaRPr kumimoji="0"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2800" b="1" dirty="0">
                <a:latin typeface="楷体_GB2312" pitchFamily="49" charset="-122"/>
                <a:ea typeface="楷体_GB2312" pitchFamily="49" charset="-122"/>
              </a:rPr>
              <a:t>以上给出了线性规划问题的解的概念和定义，它们将有助于用来分析线性规划问题的求解过程。</a:t>
            </a:r>
            <a:r>
              <a:rPr kumimoji="0" lang="zh-CN" altLang="en-US" sz="2800" b="1" dirty="0"/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 txBox="1">
            <a:spLocks noChangeArrowheads="1"/>
          </p:cNvSpPr>
          <p:nvPr/>
        </p:nvSpPr>
        <p:spPr bwMode="auto">
          <a:xfrm>
            <a:off x="3419475" y="765175"/>
            <a:ext cx="215106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44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小结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04800" y="1752600"/>
            <a:ext cx="8534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en-US" altLang="zh-CN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1.</a:t>
            </a:r>
            <a:r>
              <a:rPr kumimoji="0" lang="zh-CN" altLang="en-US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线性规划问题的模型特征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en-US" altLang="zh-CN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2.</a:t>
            </a:r>
            <a:r>
              <a:rPr kumimoji="0" lang="zh-CN" altLang="en-US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通过图解法了解如何求解线性规划问题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en-US" altLang="zh-CN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3.</a:t>
            </a:r>
            <a:r>
              <a:rPr kumimoji="0" lang="zh-CN" altLang="en-US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为求解高维线性规划问题，必须建立的概念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 txBox="1">
            <a:spLocks noChangeArrowheads="1"/>
          </p:cNvSpPr>
          <p:nvPr/>
        </p:nvSpPr>
        <p:spPr bwMode="auto">
          <a:xfrm>
            <a:off x="3419475" y="765175"/>
            <a:ext cx="2151063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sz="44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4400" b="1">
                <a:solidFill>
                  <a:schemeClr val="fol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作业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304800" y="1752600"/>
            <a:ext cx="8534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（第</a:t>
            </a: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5</a:t>
            </a:r>
            <a:r>
              <a:rPr kumimoji="0" lang="zh-CN" altLang="en-US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版）</a:t>
            </a:r>
            <a:r>
              <a:rPr kumimoji="0" lang="en-US" altLang="zh-CN" sz="3600" b="1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P68,2.1(2</a:t>
            </a:r>
            <a:r>
              <a:rPr kumimoji="0" lang="en-US" altLang="zh-CN" sz="36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),(4), 2.3(1)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endParaRPr kumimoji="0" lang="en-US" altLang="zh-CN" sz="3600" b="1" dirty="0">
              <a:solidFill>
                <a:schemeClr val="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None/>
            </a:pPr>
            <a:endParaRPr kumimoji="0" lang="en-US" altLang="zh-CN" sz="3600" b="1" dirty="0">
              <a:solidFill>
                <a:schemeClr val="hlink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11945</TotalTime>
  <Words>3079</Words>
  <Application>Microsoft Office PowerPoint</Application>
  <PresentationFormat>全屏显示(4:3)</PresentationFormat>
  <Paragraphs>332</Paragraphs>
  <Slides>44</Slides>
  <Notes>1</Notes>
  <HiddenSlides>0</HiddenSlides>
  <MMClips>0</MMClips>
  <ScaleCrop>false</ScaleCrop>
  <HeadingPairs>
    <vt:vector size="10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  <vt:variant>
        <vt:lpstr>自定义放映</vt:lpstr>
      </vt:variant>
      <vt:variant>
        <vt:i4>1</vt:i4>
      </vt:variant>
    </vt:vector>
  </HeadingPairs>
  <TitlesOfParts>
    <vt:vector size="59" baseType="lpstr">
      <vt:lpstr>仿宋_GB2312</vt:lpstr>
      <vt:lpstr>黑体</vt:lpstr>
      <vt:lpstr>华文楷体</vt:lpstr>
      <vt:lpstr>楷体_GB2312</vt:lpstr>
      <vt:lpstr>宋体</vt:lpstr>
      <vt:lpstr>Cambria Math</vt:lpstr>
      <vt:lpstr>Century Schoolbook</vt:lpstr>
      <vt:lpstr>Tahoma</vt:lpstr>
      <vt:lpstr>Times New Roman</vt:lpstr>
      <vt:lpstr>Verdana</vt:lpstr>
      <vt:lpstr>Wingdings</vt:lpstr>
      <vt:lpstr>Blends</vt:lpstr>
      <vt:lpstr>文档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自定义放映1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反馈控制理论基础</dc:title>
  <dc:creator>jakey</dc:creator>
  <cp:lastModifiedBy>User</cp:lastModifiedBy>
  <cp:revision>1010</cp:revision>
  <cp:lastPrinted>1601-01-01T00:00:00Z</cp:lastPrinted>
  <dcterms:created xsi:type="dcterms:W3CDTF">2002-01-10T11:18:15Z</dcterms:created>
  <dcterms:modified xsi:type="dcterms:W3CDTF">2025-04-14T03:24:44Z</dcterms:modified>
</cp:coreProperties>
</file>
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94"/>
  </p:notesMasterIdLst>
  <p:handoutMasterIdLst>
    <p:handoutMasterId r:id="rId95"/>
  </p:handoutMasterIdLst>
  <p:sldIdLst>
    <p:sldId id="279" r:id="rId2"/>
    <p:sldId id="1051" r:id="rId3"/>
    <p:sldId id="335" r:id="rId4"/>
    <p:sldId id="1050" r:id="rId5"/>
    <p:sldId id="412" r:id="rId6"/>
    <p:sldId id="1033" r:id="rId7"/>
    <p:sldId id="1034" r:id="rId8"/>
    <p:sldId id="1048" r:id="rId9"/>
    <p:sldId id="1049" r:id="rId10"/>
    <p:sldId id="1054" r:id="rId11"/>
    <p:sldId id="1053" r:id="rId12"/>
    <p:sldId id="1056" r:id="rId13"/>
    <p:sldId id="1057" r:id="rId14"/>
    <p:sldId id="1058" r:id="rId15"/>
    <p:sldId id="1059" r:id="rId16"/>
    <p:sldId id="1060" r:id="rId17"/>
    <p:sldId id="1061" r:id="rId18"/>
    <p:sldId id="1062" r:id="rId19"/>
    <p:sldId id="1063" r:id="rId20"/>
    <p:sldId id="1064" r:id="rId21"/>
    <p:sldId id="1036" r:id="rId22"/>
    <p:sldId id="1065" r:id="rId23"/>
    <p:sldId id="1066" r:id="rId24"/>
    <p:sldId id="1067" r:id="rId25"/>
    <p:sldId id="1068" r:id="rId26"/>
    <p:sldId id="1069" r:id="rId27"/>
    <p:sldId id="1070" r:id="rId28"/>
    <p:sldId id="1071" r:id="rId29"/>
    <p:sldId id="1072" r:id="rId30"/>
    <p:sldId id="1038" r:id="rId31"/>
    <p:sldId id="1084" r:id="rId32"/>
    <p:sldId id="1076" r:id="rId33"/>
    <p:sldId id="1073" r:id="rId34"/>
    <p:sldId id="1078" r:id="rId35"/>
    <p:sldId id="1077" r:id="rId36"/>
    <p:sldId id="1079" r:id="rId37"/>
    <p:sldId id="1080" r:id="rId38"/>
    <p:sldId id="1081" r:id="rId39"/>
    <p:sldId id="1082" r:id="rId40"/>
    <p:sldId id="1083" r:id="rId41"/>
    <p:sldId id="1075" r:id="rId42"/>
    <p:sldId id="1040" r:id="rId43"/>
    <p:sldId id="1085" r:id="rId44"/>
    <p:sldId id="1088" r:id="rId45"/>
    <p:sldId id="1089" r:id="rId46"/>
    <p:sldId id="1090" r:id="rId47"/>
    <p:sldId id="1094" r:id="rId48"/>
    <p:sldId id="1095" r:id="rId49"/>
    <p:sldId id="1096" r:id="rId50"/>
    <p:sldId id="1101" r:id="rId51"/>
    <p:sldId id="1100" r:id="rId52"/>
    <p:sldId id="1097" r:id="rId53"/>
    <p:sldId id="1092" r:id="rId54"/>
    <p:sldId id="1107" r:id="rId55"/>
    <p:sldId id="1106" r:id="rId56"/>
    <p:sldId id="1111" r:id="rId57"/>
    <p:sldId id="1112" r:id="rId58"/>
    <p:sldId id="1113" r:id="rId59"/>
    <p:sldId id="1114" r:id="rId60"/>
    <p:sldId id="1115" r:id="rId61"/>
    <p:sldId id="1116" r:id="rId62"/>
    <p:sldId id="1117" r:id="rId63"/>
    <p:sldId id="1118" r:id="rId64"/>
    <p:sldId id="1119" r:id="rId65"/>
    <p:sldId id="1121" r:id="rId66"/>
    <p:sldId id="1122" r:id="rId67"/>
    <p:sldId id="1123" r:id="rId68"/>
    <p:sldId id="1124" r:id="rId69"/>
    <p:sldId id="1125" r:id="rId70"/>
    <p:sldId id="1126" r:id="rId71"/>
    <p:sldId id="1127" r:id="rId72"/>
    <p:sldId id="1128" r:id="rId73"/>
    <p:sldId id="1105" r:id="rId74"/>
    <p:sldId id="1042" r:id="rId75"/>
    <p:sldId id="1086" r:id="rId76"/>
    <p:sldId id="1133" r:id="rId77"/>
    <p:sldId id="1134" r:id="rId78"/>
    <p:sldId id="1135" r:id="rId79"/>
    <p:sldId id="1136" r:id="rId80"/>
    <p:sldId id="1137" r:id="rId81"/>
    <p:sldId id="1138" r:id="rId82"/>
    <p:sldId id="1139" r:id="rId83"/>
    <p:sldId id="1141" r:id="rId84"/>
    <p:sldId id="1142" r:id="rId85"/>
    <p:sldId id="1143" r:id="rId86"/>
    <p:sldId id="1044" r:id="rId87"/>
    <p:sldId id="1087" r:id="rId88"/>
    <p:sldId id="1129" r:id="rId89"/>
    <p:sldId id="1130" r:id="rId90"/>
    <p:sldId id="1131" r:id="rId91"/>
    <p:sldId id="1132" r:id="rId92"/>
    <p:sldId id="1047" r:id="rId93"/>
  </p:sldIdLst>
  <p:sldSz cx="12192000" cy="6858000"/>
  <p:notesSz cx="7099300" cy="10234613"/>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a:srgbClr val="FF6600"/>
    <a:srgbClr val="FF33CC"/>
    <a:srgbClr val="FF9933"/>
    <a:srgbClr val="0000FF"/>
    <a:srgbClr val="996600"/>
    <a:srgbClr val="BB853D"/>
    <a:srgbClr val="EA8168"/>
    <a:srgbClr val="CC9900"/>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579" autoAdjust="0"/>
    <p:restoredTop sz="92075" autoAdjust="0"/>
  </p:normalViewPr>
  <p:slideViewPr>
    <p:cSldViewPr>
      <p:cViewPr varScale="1">
        <p:scale>
          <a:sx n="74" d="100"/>
          <a:sy n="74" d="100"/>
        </p:scale>
        <p:origin x="42" y="567"/>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2" d="100"/>
          <a:sy n="62" d="100"/>
        </p:scale>
        <p:origin x="-3187" y="-106"/>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emf"/><Relationship Id="rId1" Type="http://schemas.openxmlformats.org/officeDocument/2006/relationships/image" Target="../media/image17.wmf"/><Relationship Id="rId4" Type="http://schemas.openxmlformats.org/officeDocument/2006/relationships/image" Target="../media/image20.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18.emf"/><Relationship Id="rId5" Type="http://schemas.openxmlformats.org/officeDocument/2006/relationships/image" Target="../media/image24.wmf"/><Relationship Id="rId4" Type="http://schemas.openxmlformats.org/officeDocument/2006/relationships/image" Target="../media/image23.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image" Target="../media/image26.wmf"/><Relationship Id="rId7" Type="http://schemas.openxmlformats.org/officeDocument/2006/relationships/image" Target="../media/image30.wmf"/><Relationship Id="rId2" Type="http://schemas.openxmlformats.org/officeDocument/2006/relationships/image" Target="../media/image25.wmf"/><Relationship Id="rId1" Type="http://schemas.openxmlformats.org/officeDocument/2006/relationships/image" Target="../media/image18.emf"/><Relationship Id="rId6" Type="http://schemas.openxmlformats.org/officeDocument/2006/relationships/image" Target="../media/image29.wmf"/><Relationship Id="rId11" Type="http://schemas.openxmlformats.org/officeDocument/2006/relationships/image" Target="../media/image34.wmf"/><Relationship Id="rId5" Type="http://schemas.openxmlformats.org/officeDocument/2006/relationships/image" Target="../media/image28.wmf"/><Relationship Id="rId10" Type="http://schemas.openxmlformats.org/officeDocument/2006/relationships/image" Target="../media/image33.wmf"/><Relationship Id="rId4" Type="http://schemas.openxmlformats.org/officeDocument/2006/relationships/image" Target="../media/image27.wmf"/><Relationship Id="rId9" Type="http://schemas.openxmlformats.org/officeDocument/2006/relationships/image" Target="../media/image32.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image" Target="../media/image37.wmf"/><Relationship Id="rId7" Type="http://schemas.openxmlformats.org/officeDocument/2006/relationships/image" Target="../media/image41.wmf"/><Relationship Id="rId2" Type="http://schemas.openxmlformats.org/officeDocument/2006/relationships/image" Target="../media/image36.wmf"/><Relationship Id="rId1" Type="http://schemas.openxmlformats.org/officeDocument/2006/relationships/image" Target="../media/image18.emf"/><Relationship Id="rId6" Type="http://schemas.openxmlformats.org/officeDocument/2006/relationships/image" Target="../media/image40.wmf"/><Relationship Id="rId11" Type="http://schemas.openxmlformats.org/officeDocument/2006/relationships/image" Target="../media/image45.wmf"/><Relationship Id="rId5" Type="http://schemas.openxmlformats.org/officeDocument/2006/relationships/image" Target="../media/image39.wmf"/><Relationship Id="rId10" Type="http://schemas.openxmlformats.org/officeDocument/2006/relationships/image" Target="../media/image44.wmf"/><Relationship Id="rId4" Type="http://schemas.openxmlformats.org/officeDocument/2006/relationships/image" Target="../media/image38.wmf"/><Relationship Id="rId9" Type="http://schemas.openxmlformats.org/officeDocument/2006/relationships/image" Target="../media/image43.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36.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image" Target="../media/image50.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image" Target="../media/image50.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3.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59.wmf"/><Relationship Id="rId1" Type="http://schemas.openxmlformats.org/officeDocument/2006/relationships/image" Target="../media/image58.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image" Target="../media/image62.emf"/><Relationship Id="rId1" Type="http://schemas.openxmlformats.org/officeDocument/2006/relationships/image" Target="../media/image61.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 Id="rId6" Type="http://schemas.openxmlformats.org/officeDocument/2006/relationships/image" Target="../media/image69.wmf"/><Relationship Id="rId5" Type="http://schemas.openxmlformats.org/officeDocument/2006/relationships/image" Target="../media/image68.wmf"/><Relationship Id="rId4" Type="http://schemas.openxmlformats.org/officeDocument/2006/relationships/image" Target="../media/image67.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 Id="rId5" Type="http://schemas.openxmlformats.org/officeDocument/2006/relationships/image" Target="../media/image77.wmf"/><Relationship Id="rId4" Type="http://schemas.openxmlformats.org/officeDocument/2006/relationships/image" Target="../media/image76.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80.wmf"/><Relationship Id="rId7" Type="http://schemas.openxmlformats.org/officeDocument/2006/relationships/image" Target="../media/image84.wmf"/><Relationship Id="rId2" Type="http://schemas.openxmlformats.org/officeDocument/2006/relationships/image" Target="../media/image79.wmf"/><Relationship Id="rId1" Type="http://schemas.openxmlformats.org/officeDocument/2006/relationships/image" Target="../media/image78.wmf"/><Relationship Id="rId6" Type="http://schemas.openxmlformats.org/officeDocument/2006/relationships/image" Target="../media/image83.wmf"/><Relationship Id="rId5" Type="http://schemas.openxmlformats.org/officeDocument/2006/relationships/image" Target="../media/image82.wmf"/><Relationship Id="rId4" Type="http://schemas.openxmlformats.org/officeDocument/2006/relationships/image" Target="../media/image81.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 Id="rId5" Type="http://schemas.openxmlformats.org/officeDocument/2006/relationships/image" Target="../media/image89.wmf"/><Relationship Id="rId4" Type="http://schemas.openxmlformats.org/officeDocument/2006/relationships/image" Target="../media/image88.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95.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97.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01.wmf"/><Relationship Id="rId1" Type="http://schemas.openxmlformats.org/officeDocument/2006/relationships/image" Target="../media/image100.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71.wmf"/><Relationship Id="rId1" Type="http://schemas.openxmlformats.org/officeDocument/2006/relationships/image" Target="../media/image70.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104.wmf"/><Relationship Id="rId1" Type="http://schemas.openxmlformats.org/officeDocument/2006/relationships/image" Target="../media/image103.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105.wmf"/><Relationship Id="rId4" Type="http://schemas.openxmlformats.org/officeDocument/2006/relationships/image" Target="../media/image108.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image" Target="../media/image109.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14.wmf"/><Relationship Id="rId7" Type="http://schemas.openxmlformats.org/officeDocument/2006/relationships/image" Target="../media/image118.wmf"/><Relationship Id="rId2" Type="http://schemas.openxmlformats.org/officeDocument/2006/relationships/image" Target="../media/image113.wmf"/><Relationship Id="rId1" Type="http://schemas.openxmlformats.org/officeDocument/2006/relationships/image" Target="../media/image112.wmf"/><Relationship Id="rId6" Type="http://schemas.openxmlformats.org/officeDocument/2006/relationships/image" Target="../media/image117.wmf"/><Relationship Id="rId5" Type="http://schemas.openxmlformats.org/officeDocument/2006/relationships/image" Target="../media/image116.wmf"/><Relationship Id="rId4" Type="http://schemas.openxmlformats.org/officeDocument/2006/relationships/image" Target="../media/image115.w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125.wmf"/><Relationship Id="rId3" Type="http://schemas.openxmlformats.org/officeDocument/2006/relationships/image" Target="../media/image120.wmf"/><Relationship Id="rId7" Type="http://schemas.openxmlformats.org/officeDocument/2006/relationships/image" Target="../media/image124.wmf"/><Relationship Id="rId2" Type="http://schemas.openxmlformats.org/officeDocument/2006/relationships/image" Target="../media/image113.wmf"/><Relationship Id="rId1" Type="http://schemas.openxmlformats.org/officeDocument/2006/relationships/image" Target="../media/image119.wmf"/><Relationship Id="rId6" Type="http://schemas.openxmlformats.org/officeDocument/2006/relationships/image" Target="../media/image123.wmf"/><Relationship Id="rId5" Type="http://schemas.openxmlformats.org/officeDocument/2006/relationships/image" Target="../media/image122.wmf"/><Relationship Id="rId4" Type="http://schemas.openxmlformats.org/officeDocument/2006/relationships/image" Target="../media/image121.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26.wmf"/><Relationship Id="rId2" Type="http://schemas.openxmlformats.org/officeDocument/2006/relationships/image" Target="../media/image113.wmf"/><Relationship Id="rId1" Type="http://schemas.openxmlformats.org/officeDocument/2006/relationships/image" Target="../media/image119.wmf"/><Relationship Id="rId6" Type="http://schemas.openxmlformats.org/officeDocument/2006/relationships/image" Target="../media/image129.wmf"/><Relationship Id="rId5" Type="http://schemas.openxmlformats.org/officeDocument/2006/relationships/image" Target="../media/image128.wmf"/><Relationship Id="rId4" Type="http://schemas.openxmlformats.org/officeDocument/2006/relationships/image" Target="../media/image127.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image" Target="../media/image113.wmf"/><Relationship Id="rId1" Type="http://schemas.openxmlformats.org/officeDocument/2006/relationships/image" Target="../media/image119.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image" Target="../media/image113.wmf"/><Relationship Id="rId1" Type="http://schemas.openxmlformats.org/officeDocument/2006/relationships/image" Target="../media/image119.wmf"/><Relationship Id="rId5" Type="http://schemas.openxmlformats.org/officeDocument/2006/relationships/image" Target="../media/image133.wmf"/><Relationship Id="rId4" Type="http://schemas.openxmlformats.org/officeDocument/2006/relationships/image" Target="../media/image132.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113.wmf"/><Relationship Id="rId1" Type="http://schemas.openxmlformats.org/officeDocument/2006/relationships/image" Target="../media/image119.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36.wmf"/><Relationship Id="rId2" Type="http://schemas.openxmlformats.org/officeDocument/2006/relationships/image" Target="../media/image135.wmf"/><Relationship Id="rId1" Type="http://schemas.openxmlformats.org/officeDocument/2006/relationships/image" Target="../media/image134.wmf"/><Relationship Id="rId4" Type="http://schemas.openxmlformats.org/officeDocument/2006/relationships/image" Target="../media/image137.w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139.wmf"/><Relationship Id="rId1" Type="http://schemas.openxmlformats.org/officeDocument/2006/relationships/image" Target="../media/image138.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42.wmf"/><Relationship Id="rId7" Type="http://schemas.openxmlformats.org/officeDocument/2006/relationships/image" Target="../media/image146.wmf"/><Relationship Id="rId2" Type="http://schemas.openxmlformats.org/officeDocument/2006/relationships/image" Target="../media/image141.wmf"/><Relationship Id="rId1" Type="http://schemas.openxmlformats.org/officeDocument/2006/relationships/image" Target="../media/image140.wmf"/><Relationship Id="rId6" Type="http://schemas.openxmlformats.org/officeDocument/2006/relationships/image" Target="../media/image145.wmf"/><Relationship Id="rId5" Type="http://schemas.openxmlformats.org/officeDocument/2006/relationships/image" Target="../media/image144.wmf"/><Relationship Id="rId4" Type="http://schemas.openxmlformats.org/officeDocument/2006/relationships/image" Target="../media/image143.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148.wmf"/><Relationship Id="rId1" Type="http://schemas.openxmlformats.org/officeDocument/2006/relationships/image" Target="../media/image147.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151.wmf"/><Relationship Id="rId2" Type="http://schemas.openxmlformats.org/officeDocument/2006/relationships/image" Target="../media/image150.wmf"/><Relationship Id="rId1" Type="http://schemas.openxmlformats.org/officeDocument/2006/relationships/image" Target="../media/image149.wmf"/><Relationship Id="rId4" Type="http://schemas.openxmlformats.org/officeDocument/2006/relationships/image" Target="../media/image148.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154.wmf"/><Relationship Id="rId7" Type="http://schemas.openxmlformats.org/officeDocument/2006/relationships/image" Target="../media/image158.wmf"/><Relationship Id="rId2" Type="http://schemas.openxmlformats.org/officeDocument/2006/relationships/image" Target="../media/image153.wmf"/><Relationship Id="rId1" Type="http://schemas.openxmlformats.org/officeDocument/2006/relationships/image" Target="../media/image152.wmf"/><Relationship Id="rId6" Type="http://schemas.openxmlformats.org/officeDocument/2006/relationships/image" Target="../media/image157.wmf"/><Relationship Id="rId5" Type="http://schemas.openxmlformats.org/officeDocument/2006/relationships/image" Target="../media/image156.wmf"/><Relationship Id="rId4" Type="http://schemas.openxmlformats.org/officeDocument/2006/relationships/image" Target="../media/image155.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160.wmf"/><Relationship Id="rId2" Type="http://schemas.openxmlformats.org/officeDocument/2006/relationships/image" Target="../media/image156.wmf"/><Relationship Id="rId1" Type="http://schemas.openxmlformats.org/officeDocument/2006/relationships/image" Target="../media/image159.wmf"/><Relationship Id="rId6" Type="http://schemas.openxmlformats.org/officeDocument/2006/relationships/image" Target="../media/image163.wmf"/><Relationship Id="rId5" Type="http://schemas.openxmlformats.org/officeDocument/2006/relationships/image" Target="../media/image162.wmf"/><Relationship Id="rId4" Type="http://schemas.openxmlformats.org/officeDocument/2006/relationships/image" Target="../media/image161.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167.wmf"/><Relationship Id="rId2" Type="http://schemas.openxmlformats.org/officeDocument/2006/relationships/image" Target="../media/image166.wmf"/><Relationship Id="rId1" Type="http://schemas.openxmlformats.org/officeDocument/2006/relationships/image" Target="../media/image165.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171.wmf"/><Relationship Id="rId2" Type="http://schemas.openxmlformats.org/officeDocument/2006/relationships/image" Target="../media/image170.wmf"/><Relationship Id="rId1" Type="http://schemas.openxmlformats.org/officeDocument/2006/relationships/image" Target="../media/image165.wmf"/><Relationship Id="rId4" Type="http://schemas.openxmlformats.org/officeDocument/2006/relationships/image" Target="../media/image172.w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165.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178.wmf"/><Relationship Id="rId2" Type="http://schemas.openxmlformats.org/officeDocument/2006/relationships/image" Target="../media/image177.wmf"/><Relationship Id="rId1" Type="http://schemas.openxmlformats.org/officeDocument/2006/relationships/image" Target="../media/image176.wmf"/><Relationship Id="rId4" Type="http://schemas.openxmlformats.org/officeDocument/2006/relationships/image" Target="../media/image179.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182.wmf"/><Relationship Id="rId2" Type="http://schemas.openxmlformats.org/officeDocument/2006/relationships/image" Target="../media/image181.wmf"/><Relationship Id="rId1" Type="http://schemas.openxmlformats.org/officeDocument/2006/relationships/image" Target="../media/image180.wmf"/><Relationship Id="rId5" Type="http://schemas.openxmlformats.org/officeDocument/2006/relationships/image" Target="../media/image184.wmf"/><Relationship Id="rId4" Type="http://schemas.openxmlformats.org/officeDocument/2006/relationships/image" Target="../media/image183.wmf"/></Relationships>
</file>

<file path=ppt/drawings/_rels/vmlDrawing51.vml.rels><?xml version="1.0" encoding="UTF-8" standalone="yes"?>
<Relationships xmlns="http://schemas.openxmlformats.org/package/2006/relationships"><Relationship Id="rId8" Type="http://schemas.openxmlformats.org/officeDocument/2006/relationships/image" Target="../media/image192.wmf"/><Relationship Id="rId13" Type="http://schemas.openxmlformats.org/officeDocument/2006/relationships/image" Target="../media/image197.wmf"/><Relationship Id="rId3" Type="http://schemas.openxmlformats.org/officeDocument/2006/relationships/image" Target="../media/image187.wmf"/><Relationship Id="rId7" Type="http://schemas.openxmlformats.org/officeDocument/2006/relationships/image" Target="../media/image191.wmf"/><Relationship Id="rId12" Type="http://schemas.openxmlformats.org/officeDocument/2006/relationships/image" Target="../media/image196.wmf"/><Relationship Id="rId2" Type="http://schemas.openxmlformats.org/officeDocument/2006/relationships/image" Target="../media/image186.wmf"/><Relationship Id="rId16" Type="http://schemas.openxmlformats.org/officeDocument/2006/relationships/image" Target="../media/image200.wmf"/><Relationship Id="rId1" Type="http://schemas.openxmlformats.org/officeDocument/2006/relationships/image" Target="../media/image185.wmf"/><Relationship Id="rId6" Type="http://schemas.openxmlformats.org/officeDocument/2006/relationships/image" Target="../media/image190.wmf"/><Relationship Id="rId11" Type="http://schemas.openxmlformats.org/officeDocument/2006/relationships/image" Target="../media/image195.wmf"/><Relationship Id="rId5" Type="http://schemas.openxmlformats.org/officeDocument/2006/relationships/image" Target="../media/image189.wmf"/><Relationship Id="rId15" Type="http://schemas.openxmlformats.org/officeDocument/2006/relationships/image" Target="../media/image199.wmf"/><Relationship Id="rId10" Type="http://schemas.openxmlformats.org/officeDocument/2006/relationships/image" Target="../media/image194.wmf"/><Relationship Id="rId4" Type="http://schemas.openxmlformats.org/officeDocument/2006/relationships/image" Target="../media/image188.wmf"/><Relationship Id="rId9" Type="http://schemas.openxmlformats.org/officeDocument/2006/relationships/image" Target="../media/image193.wmf"/><Relationship Id="rId14" Type="http://schemas.openxmlformats.org/officeDocument/2006/relationships/image" Target="../media/image198.wmf"/></Relationships>
</file>

<file path=ppt/drawings/_rels/vmlDrawing52.vml.rels><?xml version="1.0" encoding="UTF-8" standalone="yes"?>
<Relationships xmlns="http://schemas.openxmlformats.org/package/2006/relationships"><Relationship Id="rId8" Type="http://schemas.openxmlformats.org/officeDocument/2006/relationships/image" Target="../media/image207.wmf"/><Relationship Id="rId3" Type="http://schemas.openxmlformats.org/officeDocument/2006/relationships/image" Target="../media/image203.wmf"/><Relationship Id="rId7" Type="http://schemas.openxmlformats.org/officeDocument/2006/relationships/image" Target="../media/image206.wmf"/><Relationship Id="rId2" Type="http://schemas.openxmlformats.org/officeDocument/2006/relationships/image" Target="../media/image202.wmf"/><Relationship Id="rId1" Type="http://schemas.openxmlformats.org/officeDocument/2006/relationships/image" Target="../media/image201.wmf"/><Relationship Id="rId6" Type="http://schemas.openxmlformats.org/officeDocument/2006/relationships/image" Target="../media/image205.wmf"/><Relationship Id="rId5" Type="http://schemas.openxmlformats.org/officeDocument/2006/relationships/image" Target="../media/image204.wmf"/><Relationship Id="rId4" Type="http://schemas.openxmlformats.org/officeDocument/2006/relationships/image" Target="../media/image200.w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210.wmf"/><Relationship Id="rId2" Type="http://schemas.openxmlformats.org/officeDocument/2006/relationships/image" Target="../media/image209.wmf"/><Relationship Id="rId1" Type="http://schemas.openxmlformats.org/officeDocument/2006/relationships/image" Target="../media/image208.w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210.wmf"/><Relationship Id="rId2" Type="http://schemas.openxmlformats.org/officeDocument/2006/relationships/image" Target="../media/image209.wmf"/><Relationship Id="rId1" Type="http://schemas.openxmlformats.org/officeDocument/2006/relationships/image" Target="../media/image211.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218.wmf"/><Relationship Id="rId2" Type="http://schemas.openxmlformats.org/officeDocument/2006/relationships/image" Target="../media/image217.wmf"/><Relationship Id="rId1" Type="http://schemas.openxmlformats.org/officeDocument/2006/relationships/image" Target="../media/image216.wmf"/><Relationship Id="rId4" Type="http://schemas.openxmlformats.org/officeDocument/2006/relationships/image" Target="../media/image219.w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221.wmf"/><Relationship Id="rId2" Type="http://schemas.openxmlformats.org/officeDocument/2006/relationships/image" Target="../media/image220.wmf"/><Relationship Id="rId1" Type="http://schemas.openxmlformats.org/officeDocument/2006/relationships/image" Target="../media/image143.wmf"/></Relationships>
</file>

<file path=ppt/drawings/_rels/vmlDrawing57.vml.rels><?xml version="1.0" encoding="UTF-8" standalone="yes"?>
<Relationships xmlns="http://schemas.openxmlformats.org/package/2006/relationships"><Relationship Id="rId3" Type="http://schemas.openxmlformats.org/officeDocument/2006/relationships/image" Target="../media/image229.wmf"/><Relationship Id="rId2" Type="http://schemas.openxmlformats.org/officeDocument/2006/relationships/image" Target="../media/image228.wmf"/><Relationship Id="rId1" Type="http://schemas.openxmlformats.org/officeDocument/2006/relationships/image" Target="../media/image227.w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232.wmf"/></Relationships>
</file>

<file path=ppt/drawings/_rels/vmlDrawing59.vml.rels><?xml version="1.0" encoding="UTF-8" standalone="yes"?>
<Relationships xmlns="http://schemas.openxmlformats.org/package/2006/relationships"><Relationship Id="rId8" Type="http://schemas.openxmlformats.org/officeDocument/2006/relationships/image" Target="../media/image239.wmf"/><Relationship Id="rId3" Type="http://schemas.openxmlformats.org/officeDocument/2006/relationships/image" Target="../media/image235.wmf"/><Relationship Id="rId7" Type="http://schemas.openxmlformats.org/officeDocument/2006/relationships/image" Target="../media/image238.wmf"/><Relationship Id="rId2" Type="http://schemas.openxmlformats.org/officeDocument/2006/relationships/image" Target="../media/image234.wmf"/><Relationship Id="rId1" Type="http://schemas.openxmlformats.org/officeDocument/2006/relationships/image" Target="../media/image233.wmf"/><Relationship Id="rId6" Type="http://schemas.openxmlformats.org/officeDocument/2006/relationships/image" Target="../media/image135.wmf"/><Relationship Id="rId5" Type="http://schemas.openxmlformats.org/officeDocument/2006/relationships/image" Target="../media/image237.wmf"/><Relationship Id="rId10" Type="http://schemas.openxmlformats.org/officeDocument/2006/relationships/image" Target="../media/image241.wmf"/><Relationship Id="rId4" Type="http://schemas.openxmlformats.org/officeDocument/2006/relationships/image" Target="../media/image236.wmf"/><Relationship Id="rId9" Type="http://schemas.openxmlformats.org/officeDocument/2006/relationships/image" Target="../media/image240.wmf"/></Relationships>
</file>

<file path=ppt/drawings/_rels/vmlDrawing60.vml.rels><?xml version="1.0" encoding="UTF-8" standalone="yes"?>
<Relationships xmlns="http://schemas.openxmlformats.org/package/2006/relationships"><Relationship Id="rId3" Type="http://schemas.openxmlformats.org/officeDocument/2006/relationships/image" Target="../media/image244.wmf"/><Relationship Id="rId7" Type="http://schemas.openxmlformats.org/officeDocument/2006/relationships/image" Target="../media/image248.wmf"/><Relationship Id="rId2" Type="http://schemas.openxmlformats.org/officeDocument/2006/relationships/image" Target="../media/image243.wmf"/><Relationship Id="rId1" Type="http://schemas.openxmlformats.org/officeDocument/2006/relationships/image" Target="../media/image242.wmf"/><Relationship Id="rId6" Type="http://schemas.openxmlformats.org/officeDocument/2006/relationships/image" Target="../media/image247.wmf"/><Relationship Id="rId5" Type="http://schemas.openxmlformats.org/officeDocument/2006/relationships/image" Target="../media/image246.wmf"/><Relationship Id="rId4" Type="http://schemas.openxmlformats.org/officeDocument/2006/relationships/image" Target="../media/image245.wmf"/></Relationships>
</file>

<file path=ppt/drawings/_rels/vmlDrawing61.vml.rels><?xml version="1.0" encoding="UTF-8" standalone="yes"?>
<Relationships xmlns="http://schemas.openxmlformats.org/package/2006/relationships"><Relationship Id="rId8" Type="http://schemas.openxmlformats.org/officeDocument/2006/relationships/image" Target="../media/image256.wmf"/><Relationship Id="rId3" Type="http://schemas.openxmlformats.org/officeDocument/2006/relationships/image" Target="../media/image251.wmf"/><Relationship Id="rId7" Type="http://schemas.openxmlformats.org/officeDocument/2006/relationships/image" Target="../media/image255.wmf"/><Relationship Id="rId2" Type="http://schemas.openxmlformats.org/officeDocument/2006/relationships/image" Target="../media/image250.wmf"/><Relationship Id="rId1" Type="http://schemas.openxmlformats.org/officeDocument/2006/relationships/image" Target="../media/image249.wmf"/><Relationship Id="rId6" Type="http://schemas.openxmlformats.org/officeDocument/2006/relationships/image" Target="../media/image254.wmf"/><Relationship Id="rId5" Type="http://schemas.openxmlformats.org/officeDocument/2006/relationships/image" Target="../media/image253.wmf"/><Relationship Id="rId4" Type="http://schemas.openxmlformats.org/officeDocument/2006/relationships/image" Target="../media/image252.wmf"/><Relationship Id="rId9" Type="http://schemas.openxmlformats.org/officeDocument/2006/relationships/image" Target="../media/image257.wmf"/></Relationships>
</file>

<file path=ppt/drawings/_rels/vmlDrawing62.vml.rels><?xml version="1.0" encoding="UTF-8" standalone="yes"?>
<Relationships xmlns="http://schemas.openxmlformats.org/package/2006/relationships"><Relationship Id="rId8" Type="http://schemas.openxmlformats.org/officeDocument/2006/relationships/image" Target="../media/image265.wmf"/><Relationship Id="rId3" Type="http://schemas.openxmlformats.org/officeDocument/2006/relationships/image" Target="../media/image260.wmf"/><Relationship Id="rId7" Type="http://schemas.openxmlformats.org/officeDocument/2006/relationships/image" Target="../media/image264.wmf"/><Relationship Id="rId2" Type="http://schemas.openxmlformats.org/officeDocument/2006/relationships/image" Target="../media/image259.wmf"/><Relationship Id="rId1" Type="http://schemas.openxmlformats.org/officeDocument/2006/relationships/image" Target="../media/image258.wmf"/><Relationship Id="rId6" Type="http://schemas.openxmlformats.org/officeDocument/2006/relationships/image" Target="../media/image263.wmf"/><Relationship Id="rId5" Type="http://schemas.openxmlformats.org/officeDocument/2006/relationships/image" Target="../media/image262.wmf"/><Relationship Id="rId10" Type="http://schemas.openxmlformats.org/officeDocument/2006/relationships/image" Target="../media/image267.wmf"/><Relationship Id="rId4" Type="http://schemas.openxmlformats.org/officeDocument/2006/relationships/image" Target="../media/image261.wmf"/><Relationship Id="rId9" Type="http://schemas.openxmlformats.org/officeDocument/2006/relationships/image" Target="../media/image266.wmf"/></Relationships>
</file>

<file path=ppt/drawings/_rels/vmlDrawing63.vml.rels><?xml version="1.0" encoding="UTF-8" standalone="yes"?>
<Relationships xmlns="http://schemas.openxmlformats.org/package/2006/relationships"><Relationship Id="rId3" Type="http://schemas.openxmlformats.org/officeDocument/2006/relationships/image" Target="../media/image270.wmf"/><Relationship Id="rId2" Type="http://schemas.openxmlformats.org/officeDocument/2006/relationships/image" Target="../media/image269.wmf"/><Relationship Id="rId1" Type="http://schemas.openxmlformats.org/officeDocument/2006/relationships/image" Target="../media/image268.wmf"/><Relationship Id="rId6" Type="http://schemas.openxmlformats.org/officeDocument/2006/relationships/image" Target="../media/image273.wmf"/><Relationship Id="rId5" Type="http://schemas.openxmlformats.org/officeDocument/2006/relationships/image" Target="../media/image272.wmf"/><Relationship Id="rId4" Type="http://schemas.openxmlformats.org/officeDocument/2006/relationships/image" Target="../media/image271.wmf"/></Relationships>
</file>

<file path=ppt/drawings/_rels/vmlDrawing64.vml.rels><?xml version="1.0" encoding="UTF-8" standalone="yes"?>
<Relationships xmlns="http://schemas.openxmlformats.org/package/2006/relationships"><Relationship Id="rId8" Type="http://schemas.openxmlformats.org/officeDocument/2006/relationships/image" Target="../media/image279.wmf"/><Relationship Id="rId13" Type="http://schemas.openxmlformats.org/officeDocument/2006/relationships/image" Target="../media/image284.wmf"/><Relationship Id="rId3" Type="http://schemas.openxmlformats.org/officeDocument/2006/relationships/image" Target="../media/image274.wmf"/><Relationship Id="rId7" Type="http://schemas.openxmlformats.org/officeDocument/2006/relationships/image" Target="../media/image278.wmf"/><Relationship Id="rId12" Type="http://schemas.openxmlformats.org/officeDocument/2006/relationships/image" Target="../media/image283.wmf"/><Relationship Id="rId2" Type="http://schemas.openxmlformats.org/officeDocument/2006/relationships/image" Target="../media/image269.wmf"/><Relationship Id="rId1" Type="http://schemas.openxmlformats.org/officeDocument/2006/relationships/image" Target="../media/image268.wmf"/><Relationship Id="rId6" Type="http://schemas.openxmlformats.org/officeDocument/2006/relationships/image" Target="../media/image277.wmf"/><Relationship Id="rId11" Type="http://schemas.openxmlformats.org/officeDocument/2006/relationships/image" Target="../media/image282.wmf"/><Relationship Id="rId5" Type="http://schemas.openxmlformats.org/officeDocument/2006/relationships/image" Target="../media/image276.wmf"/><Relationship Id="rId10" Type="http://schemas.openxmlformats.org/officeDocument/2006/relationships/image" Target="../media/image281.wmf"/><Relationship Id="rId4" Type="http://schemas.openxmlformats.org/officeDocument/2006/relationships/image" Target="../media/image275.wmf"/><Relationship Id="rId9" Type="http://schemas.openxmlformats.org/officeDocument/2006/relationships/image" Target="../media/image280.wmf"/><Relationship Id="rId14" Type="http://schemas.openxmlformats.org/officeDocument/2006/relationships/image" Target="../media/image285.wmf"/></Relationships>
</file>

<file path=ppt/drawings/_rels/vmlDrawing65.vml.rels><?xml version="1.0" encoding="UTF-8" standalone="yes"?>
<Relationships xmlns="http://schemas.openxmlformats.org/package/2006/relationships"><Relationship Id="rId8" Type="http://schemas.openxmlformats.org/officeDocument/2006/relationships/image" Target="../media/image292.wmf"/><Relationship Id="rId13" Type="http://schemas.openxmlformats.org/officeDocument/2006/relationships/image" Target="../media/image297.wmf"/><Relationship Id="rId3" Type="http://schemas.openxmlformats.org/officeDocument/2006/relationships/image" Target="../media/image274.wmf"/><Relationship Id="rId7" Type="http://schemas.openxmlformats.org/officeDocument/2006/relationships/image" Target="../media/image291.wmf"/><Relationship Id="rId12" Type="http://schemas.openxmlformats.org/officeDocument/2006/relationships/image" Target="../media/image296.wmf"/><Relationship Id="rId2" Type="http://schemas.openxmlformats.org/officeDocument/2006/relationships/image" Target="../media/image287.wmf"/><Relationship Id="rId1" Type="http://schemas.openxmlformats.org/officeDocument/2006/relationships/image" Target="../media/image286.wmf"/><Relationship Id="rId6" Type="http://schemas.openxmlformats.org/officeDocument/2006/relationships/image" Target="../media/image290.wmf"/><Relationship Id="rId11" Type="http://schemas.openxmlformats.org/officeDocument/2006/relationships/image" Target="../media/image295.wmf"/><Relationship Id="rId5" Type="http://schemas.openxmlformats.org/officeDocument/2006/relationships/image" Target="../media/image289.wmf"/><Relationship Id="rId10" Type="http://schemas.openxmlformats.org/officeDocument/2006/relationships/image" Target="../media/image294.wmf"/><Relationship Id="rId4" Type="http://schemas.openxmlformats.org/officeDocument/2006/relationships/image" Target="../media/image288.wmf"/><Relationship Id="rId9" Type="http://schemas.openxmlformats.org/officeDocument/2006/relationships/image" Target="../media/image293.wmf"/></Relationships>
</file>

<file path=ppt/drawings/_rels/vmlDrawing66.vml.rels><?xml version="1.0" encoding="UTF-8" standalone="yes"?>
<Relationships xmlns="http://schemas.openxmlformats.org/package/2006/relationships"><Relationship Id="rId2" Type="http://schemas.openxmlformats.org/officeDocument/2006/relationships/image" Target="../media/image299.wmf"/><Relationship Id="rId1" Type="http://schemas.openxmlformats.org/officeDocument/2006/relationships/image" Target="../media/image298.wmf"/></Relationships>
</file>

<file path=ppt/drawings/_rels/vmlDrawing67.vml.rels><?xml version="1.0" encoding="UTF-8" standalone="yes"?>
<Relationships xmlns="http://schemas.openxmlformats.org/package/2006/relationships"><Relationship Id="rId3" Type="http://schemas.openxmlformats.org/officeDocument/2006/relationships/image" Target="../media/image302.wmf"/><Relationship Id="rId2" Type="http://schemas.openxmlformats.org/officeDocument/2006/relationships/image" Target="../media/image301.wmf"/><Relationship Id="rId1" Type="http://schemas.openxmlformats.org/officeDocument/2006/relationships/image" Target="../media/image300.wmf"/></Relationships>
</file>

<file path=ppt/drawings/_rels/vmlDrawing68.vml.rels><?xml version="1.0" encoding="UTF-8" standalone="yes"?>
<Relationships xmlns="http://schemas.openxmlformats.org/package/2006/relationships"><Relationship Id="rId8" Type="http://schemas.openxmlformats.org/officeDocument/2006/relationships/image" Target="../media/image264.wmf"/><Relationship Id="rId3" Type="http://schemas.openxmlformats.org/officeDocument/2006/relationships/image" Target="../media/image260.wmf"/><Relationship Id="rId7" Type="http://schemas.openxmlformats.org/officeDocument/2006/relationships/image" Target="../media/image305.wmf"/><Relationship Id="rId2" Type="http://schemas.openxmlformats.org/officeDocument/2006/relationships/image" Target="../media/image259.wmf"/><Relationship Id="rId1" Type="http://schemas.openxmlformats.org/officeDocument/2006/relationships/image" Target="../media/image303.wmf"/><Relationship Id="rId6" Type="http://schemas.openxmlformats.org/officeDocument/2006/relationships/image" Target="../media/image263.wmf"/><Relationship Id="rId5" Type="http://schemas.openxmlformats.org/officeDocument/2006/relationships/image" Target="../media/image262.wmf"/><Relationship Id="rId4" Type="http://schemas.openxmlformats.org/officeDocument/2006/relationships/image" Target="../media/image304.wmf"/></Relationships>
</file>

<file path=ppt/drawings/_rels/vmlDrawing69.vml.rels><?xml version="1.0" encoding="UTF-8" standalone="yes"?>
<Relationships xmlns="http://schemas.openxmlformats.org/package/2006/relationships"><Relationship Id="rId3" Type="http://schemas.openxmlformats.org/officeDocument/2006/relationships/image" Target="../media/image308.wmf"/><Relationship Id="rId2" Type="http://schemas.openxmlformats.org/officeDocument/2006/relationships/image" Target="../media/image307.wmf"/><Relationship Id="rId1" Type="http://schemas.openxmlformats.org/officeDocument/2006/relationships/image" Target="../media/image306.wmf"/><Relationship Id="rId6" Type="http://schemas.openxmlformats.org/officeDocument/2006/relationships/image" Target="../media/image311.wmf"/><Relationship Id="rId5" Type="http://schemas.openxmlformats.org/officeDocument/2006/relationships/image" Target="../media/image310.wmf"/><Relationship Id="rId4" Type="http://schemas.openxmlformats.org/officeDocument/2006/relationships/image" Target="../media/image309.wmf"/></Relationships>
</file>

<file path=ppt/drawings/_rels/vmlDrawing70.vml.rels><?xml version="1.0" encoding="UTF-8" standalone="yes"?>
<Relationships xmlns="http://schemas.openxmlformats.org/package/2006/relationships"><Relationship Id="rId8" Type="http://schemas.openxmlformats.org/officeDocument/2006/relationships/image" Target="../media/image319.wmf"/><Relationship Id="rId3" Type="http://schemas.openxmlformats.org/officeDocument/2006/relationships/image" Target="../media/image314.wmf"/><Relationship Id="rId7" Type="http://schemas.openxmlformats.org/officeDocument/2006/relationships/image" Target="../media/image318.wmf"/><Relationship Id="rId2" Type="http://schemas.openxmlformats.org/officeDocument/2006/relationships/image" Target="../media/image313.wmf"/><Relationship Id="rId1" Type="http://schemas.openxmlformats.org/officeDocument/2006/relationships/image" Target="../media/image312.wmf"/><Relationship Id="rId6" Type="http://schemas.openxmlformats.org/officeDocument/2006/relationships/image" Target="../media/image317.wmf"/><Relationship Id="rId5" Type="http://schemas.openxmlformats.org/officeDocument/2006/relationships/image" Target="../media/image316.wmf"/><Relationship Id="rId10" Type="http://schemas.openxmlformats.org/officeDocument/2006/relationships/image" Target="../media/image321.wmf"/><Relationship Id="rId4" Type="http://schemas.openxmlformats.org/officeDocument/2006/relationships/image" Target="../media/image315.wmf"/><Relationship Id="rId9" Type="http://schemas.openxmlformats.org/officeDocument/2006/relationships/image" Target="../media/image320.wmf"/></Relationships>
</file>

<file path=ppt/drawings/_rels/vmlDrawing71.vml.rels><?xml version="1.0" encoding="UTF-8" standalone="yes"?>
<Relationships xmlns="http://schemas.openxmlformats.org/package/2006/relationships"><Relationship Id="rId3" Type="http://schemas.openxmlformats.org/officeDocument/2006/relationships/image" Target="../media/image324.wmf"/><Relationship Id="rId2" Type="http://schemas.openxmlformats.org/officeDocument/2006/relationships/image" Target="../media/image323.wmf"/><Relationship Id="rId1" Type="http://schemas.openxmlformats.org/officeDocument/2006/relationships/image" Target="../media/image322.wmf"/><Relationship Id="rId6" Type="http://schemas.openxmlformats.org/officeDocument/2006/relationships/image" Target="../media/image327.wmf"/><Relationship Id="rId5" Type="http://schemas.openxmlformats.org/officeDocument/2006/relationships/image" Target="../media/image326.wmf"/><Relationship Id="rId4" Type="http://schemas.openxmlformats.org/officeDocument/2006/relationships/image" Target="../media/image325.wmf"/></Relationships>
</file>

<file path=ppt/drawings/_rels/vmlDrawing72.vml.rels><?xml version="1.0" encoding="UTF-8" standalone="yes"?>
<Relationships xmlns="http://schemas.openxmlformats.org/package/2006/relationships"><Relationship Id="rId8" Type="http://schemas.openxmlformats.org/officeDocument/2006/relationships/image" Target="../media/image332.wmf"/><Relationship Id="rId3" Type="http://schemas.openxmlformats.org/officeDocument/2006/relationships/image" Target="../media/image330.wmf"/><Relationship Id="rId7" Type="http://schemas.openxmlformats.org/officeDocument/2006/relationships/image" Target="../media/image326.wmf"/><Relationship Id="rId2" Type="http://schemas.openxmlformats.org/officeDocument/2006/relationships/image" Target="../media/image329.wmf"/><Relationship Id="rId1" Type="http://schemas.openxmlformats.org/officeDocument/2006/relationships/image" Target="../media/image328.wmf"/><Relationship Id="rId6" Type="http://schemas.openxmlformats.org/officeDocument/2006/relationships/image" Target="../media/image325.wmf"/><Relationship Id="rId5" Type="http://schemas.openxmlformats.org/officeDocument/2006/relationships/image" Target="../media/image324.wmf"/><Relationship Id="rId4" Type="http://schemas.openxmlformats.org/officeDocument/2006/relationships/image" Target="../media/image331.wmf"/></Relationships>
</file>

<file path=ppt/drawings/_rels/vmlDrawing73.vml.rels><?xml version="1.0" encoding="UTF-8" standalone="yes"?>
<Relationships xmlns="http://schemas.openxmlformats.org/package/2006/relationships"><Relationship Id="rId8" Type="http://schemas.openxmlformats.org/officeDocument/2006/relationships/image" Target="../media/image341.wmf"/><Relationship Id="rId3" Type="http://schemas.openxmlformats.org/officeDocument/2006/relationships/image" Target="../media/image336.wmf"/><Relationship Id="rId7" Type="http://schemas.openxmlformats.org/officeDocument/2006/relationships/image" Target="../media/image340.wmf"/><Relationship Id="rId2" Type="http://schemas.openxmlformats.org/officeDocument/2006/relationships/image" Target="../media/image335.wmf"/><Relationship Id="rId1" Type="http://schemas.openxmlformats.org/officeDocument/2006/relationships/image" Target="../media/image334.wmf"/><Relationship Id="rId6" Type="http://schemas.openxmlformats.org/officeDocument/2006/relationships/image" Target="../media/image339.wmf"/><Relationship Id="rId5" Type="http://schemas.openxmlformats.org/officeDocument/2006/relationships/image" Target="../media/image338.wmf"/><Relationship Id="rId4" Type="http://schemas.openxmlformats.org/officeDocument/2006/relationships/image" Target="../media/image33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672" cy="511054"/>
          </a:xfrm>
          <a:prstGeom prst="rect">
            <a:avLst/>
          </a:prstGeom>
        </p:spPr>
        <p:txBody>
          <a:bodyPr vert="horz" lIns="91440" tIns="45720" rIns="91440" bIns="45720" rtlCol="0"/>
          <a:lstStyle>
            <a:lvl1pPr algn="l">
              <a:defRPr sz="1200">
                <a:latin typeface="Arial" charset="0"/>
              </a:defRPr>
            </a:lvl1pPr>
          </a:lstStyle>
          <a:p>
            <a:pPr>
              <a:defRPr/>
            </a:pPr>
            <a:endParaRPr lang="zh-CN" altLang="en-US"/>
          </a:p>
        </p:txBody>
      </p:sp>
      <p:sp>
        <p:nvSpPr>
          <p:cNvPr id="3" name="日期占位符 2"/>
          <p:cNvSpPr>
            <a:spLocks noGrp="1"/>
          </p:cNvSpPr>
          <p:nvPr>
            <p:ph type="dt" sz="quarter" idx="1"/>
          </p:nvPr>
        </p:nvSpPr>
        <p:spPr>
          <a:xfrm>
            <a:off x="4021088" y="0"/>
            <a:ext cx="3076672" cy="511054"/>
          </a:xfrm>
          <a:prstGeom prst="rect">
            <a:avLst/>
          </a:prstGeom>
        </p:spPr>
        <p:txBody>
          <a:bodyPr vert="horz" lIns="91440" tIns="45720" rIns="91440" bIns="45720" rtlCol="0"/>
          <a:lstStyle>
            <a:lvl1pPr algn="r">
              <a:defRPr sz="1200">
                <a:latin typeface="Arial" charset="0"/>
              </a:defRPr>
            </a:lvl1pPr>
          </a:lstStyle>
          <a:p>
            <a:pPr>
              <a:defRPr/>
            </a:pPr>
            <a:fld id="{CB6546D7-55A0-4F6B-B749-794C1FA7637D}" type="datetimeFigureOut">
              <a:rPr lang="zh-CN" altLang="en-US"/>
              <a:pPr>
                <a:defRPr/>
              </a:pPr>
              <a:t>2023/12/3</a:t>
            </a:fld>
            <a:endParaRPr lang="zh-CN" altLang="en-US"/>
          </a:p>
        </p:txBody>
      </p:sp>
      <p:sp>
        <p:nvSpPr>
          <p:cNvPr id="4" name="页脚占位符 3"/>
          <p:cNvSpPr>
            <a:spLocks noGrp="1"/>
          </p:cNvSpPr>
          <p:nvPr>
            <p:ph type="ftr" sz="quarter" idx="2"/>
          </p:nvPr>
        </p:nvSpPr>
        <p:spPr>
          <a:xfrm>
            <a:off x="0" y="9721868"/>
            <a:ext cx="3076672" cy="511054"/>
          </a:xfrm>
          <a:prstGeom prst="rect">
            <a:avLst/>
          </a:prstGeom>
        </p:spPr>
        <p:txBody>
          <a:bodyPr vert="horz" lIns="91440" tIns="45720" rIns="91440" bIns="45720" rtlCol="0" anchor="b"/>
          <a:lstStyle>
            <a:lvl1pPr algn="l">
              <a:defRPr sz="1200">
                <a:latin typeface="Arial" charset="0"/>
              </a:defRPr>
            </a:lvl1pPr>
          </a:lstStyle>
          <a:p>
            <a:pPr>
              <a:defRPr/>
            </a:pPr>
            <a:endParaRPr lang="zh-CN" altLang="en-US"/>
          </a:p>
        </p:txBody>
      </p:sp>
      <p:sp>
        <p:nvSpPr>
          <p:cNvPr id="5" name="灯片编号占位符 4"/>
          <p:cNvSpPr>
            <a:spLocks noGrp="1"/>
          </p:cNvSpPr>
          <p:nvPr>
            <p:ph type="sldNum" sz="quarter" idx="3"/>
          </p:nvPr>
        </p:nvSpPr>
        <p:spPr>
          <a:xfrm>
            <a:off x="4021088" y="9721868"/>
            <a:ext cx="3076672" cy="511054"/>
          </a:xfrm>
          <a:prstGeom prst="rect">
            <a:avLst/>
          </a:prstGeom>
        </p:spPr>
        <p:txBody>
          <a:bodyPr vert="horz" lIns="91440" tIns="45720" rIns="91440" bIns="45720" rtlCol="0" anchor="b"/>
          <a:lstStyle>
            <a:lvl1pPr algn="r">
              <a:defRPr sz="1200">
                <a:latin typeface="Arial" charset="0"/>
              </a:defRPr>
            </a:lvl1pPr>
          </a:lstStyle>
          <a:p>
            <a:pPr>
              <a:defRPr/>
            </a:pPr>
            <a:fld id="{6B24D7E3-83D9-45BB-8074-07FABBCF58D9}" type="slidenum">
              <a:rPr lang="zh-CN" altLang="en-US"/>
              <a:pPr>
                <a:defRPr/>
              </a:pPr>
              <a:t>‹#›</a:t>
            </a:fld>
            <a:endParaRPr lang="zh-CN" altLang="en-US"/>
          </a:p>
        </p:txBody>
      </p:sp>
    </p:spTree>
    <p:extLst>
      <p:ext uri="{BB962C8B-B14F-4D97-AF65-F5344CB8AC3E}">
        <p14:creationId xmlns:p14="http://schemas.microsoft.com/office/powerpoint/2010/main" val="226698539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672" cy="511054"/>
          </a:xfrm>
          <a:prstGeom prst="rect">
            <a:avLst/>
          </a:prstGeom>
        </p:spPr>
        <p:txBody>
          <a:bodyPr vert="horz" lIns="91440" tIns="45720" rIns="91440" bIns="45720" rtlCol="0"/>
          <a:lstStyle>
            <a:lvl1pPr algn="l">
              <a:defRPr sz="1200">
                <a:latin typeface="Arial" charset="0"/>
              </a:defRPr>
            </a:lvl1pPr>
          </a:lstStyle>
          <a:p>
            <a:pPr>
              <a:defRPr/>
            </a:pPr>
            <a:endParaRPr lang="zh-CN" altLang="en-US"/>
          </a:p>
        </p:txBody>
      </p:sp>
      <p:sp>
        <p:nvSpPr>
          <p:cNvPr id="3" name="日期占位符 2"/>
          <p:cNvSpPr>
            <a:spLocks noGrp="1"/>
          </p:cNvSpPr>
          <p:nvPr>
            <p:ph type="dt" idx="1"/>
          </p:nvPr>
        </p:nvSpPr>
        <p:spPr>
          <a:xfrm>
            <a:off x="4021088" y="0"/>
            <a:ext cx="3076672" cy="511054"/>
          </a:xfrm>
          <a:prstGeom prst="rect">
            <a:avLst/>
          </a:prstGeom>
        </p:spPr>
        <p:txBody>
          <a:bodyPr vert="horz" lIns="91440" tIns="45720" rIns="91440" bIns="45720" rtlCol="0"/>
          <a:lstStyle>
            <a:lvl1pPr algn="r">
              <a:defRPr sz="1200">
                <a:latin typeface="Arial" charset="0"/>
              </a:defRPr>
            </a:lvl1pPr>
          </a:lstStyle>
          <a:p>
            <a:pPr>
              <a:defRPr/>
            </a:pPr>
            <a:fld id="{E21E670D-491D-4C99-822F-11ABADEE1618}" type="datetimeFigureOut">
              <a:rPr lang="zh-CN" altLang="en-US"/>
              <a:pPr>
                <a:defRPr/>
              </a:pPr>
              <a:t>2023/12/3</a:t>
            </a:fld>
            <a:endParaRPr lang="zh-CN" altLang="en-US"/>
          </a:p>
        </p:txBody>
      </p:sp>
      <p:sp>
        <p:nvSpPr>
          <p:cNvPr id="4" name="幻灯片图像占位符 3"/>
          <p:cNvSpPr>
            <a:spLocks noGrp="1" noRot="1" noChangeAspect="1"/>
          </p:cNvSpPr>
          <p:nvPr>
            <p:ph type="sldImg" idx="2"/>
          </p:nvPr>
        </p:nvSpPr>
        <p:spPr>
          <a:xfrm>
            <a:off x="138113" y="768350"/>
            <a:ext cx="6823075" cy="3838575"/>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710239" y="4861781"/>
            <a:ext cx="5678824" cy="460456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721868"/>
            <a:ext cx="3076672" cy="511054"/>
          </a:xfrm>
          <a:prstGeom prst="rect">
            <a:avLst/>
          </a:prstGeom>
        </p:spPr>
        <p:txBody>
          <a:bodyPr vert="horz" lIns="91440" tIns="45720" rIns="91440" bIns="45720" rtlCol="0" anchor="b"/>
          <a:lstStyle>
            <a:lvl1pPr algn="l">
              <a:defRPr sz="1200">
                <a:latin typeface="Arial" charset="0"/>
              </a:defRPr>
            </a:lvl1pPr>
          </a:lstStyle>
          <a:p>
            <a:pPr>
              <a:defRPr/>
            </a:pPr>
            <a:endParaRPr lang="zh-CN" altLang="en-US"/>
          </a:p>
        </p:txBody>
      </p:sp>
      <p:sp>
        <p:nvSpPr>
          <p:cNvPr id="7" name="灯片编号占位符 6"/>
          <p:cNvSpPr>
            <a:spLocks noGrp="1"/>
          </p:cNvSpPr>
          <p:nvPr>
            <p:ph type="sldNum" sz="quarter" idx="5"/>
          </p:nvPr>
        </p:nvSpPr>
        <p:spPr>
          <a:xfrm>
            <a:off x="4021088" y="9721868"/>
            <a:ext cx="3076672" cy="511054"/>
          </a:xfrm>
          <a:prstGeom prst="rect">
            <a:avLst/>
          </a:prstGeom>
        </p:spPr>
        <p:txBody>
          <a:bodyPr vert="horz" lIns="91440" tIns="45720" rIns="91440" bIns="45720" rtlCol="0" anchor="b"/>
          <a:lstStyle>
            <a:lvl1pPr algn="r">
              <a:defRPr sz="1200">
                <a:latin typeface="Arial" charset="0"/>
              </a:defRPr>
            </a:lvl1pPr>
          </a:lstStyle>
          <a:p>
            <a:pPr>
              <a:defRPr/>
            </a:pPr>
            <a:fld id="{064F8E74-9C04-43EC-B268-D3C0C73A25C8}" type="slidenum">
              <a:rPr lang="zh-CN" altLang="en-US"/>
              <a:pPr>
                <a:defRPr/>
              </a:pPr>
              <a:t>‹#›</a:t>
            </a:fld>
            <a:endParaRPr lang="zh-CN" altLang="en-US"/>
          </a:p>
        </p:txBody>
      </p:sp>
    </p:spTree>
    <p:extLst>
      <p:ext uri="{BB962C8B-B14F-4D97-AF65-F5344CB8AC3E}">
        <p14:creationId xmlns:p14="http://schemas.microsoft.com/office/powerpoint/2010/main" val="40811230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2</a:t>
            </a:fld>
            <a:endParaRPr lang="zh-CN" altLang="en-US"/>
          </a:p>
        </p:txBody>
      </p:sp>
    </p:spTree>
    <p:extLst>
      <p:ext uri="{BB962C8B-B14F-4D97-AF65-F5344CB8AC3E}">
        <p14:creationId xmlns:p14="http://schemas.microsoft.com/office/powerpoint/2010/main" val="7162005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3</a:t>
            </a:fld>
            <a:endParaRPr lang="zh-CN" altLang="en-US"/>
          </a:p>
        </p:txBody>
      </p:sp>
    </p:spTree>
    <p:extLst>
      <p:ext uri="{BB962C8B-B14F-4D97-AF65-F5344CB8AC3E}">
        <p14:creationId xmlns:p14="http://schemas.microsoft.com/office/powerpoint/2010/main" val="1622202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21</a:t>
            </a:fld>
            <a:endParaRPr lang="zh-CN" altLang="en-US"/>
          </a:p>
        </p:txBody>
      </p:sp>
    </p:spTree>
    <p:extLst>
      <p:ext uri="{BB962C8B-B14F-4D97-AF65-F5344CB8AC3E}">
        <p14:creationId xmlns:p14="http://schemas.microsoft.com/office/powerpoint/2010/main" val="41420917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30</a:t>
            </a:fld>
            <a:endParaRPr lang="zh-CN" altLang="en-US"/>
          </a:p>
        </p:txBody>
      </p:sp>
    </p:spTree>
    <p:extLst>
      <p:ext uri="{BB962C8B-B14F-4D97-AF65-F5344CB8AC3E}">
        <p14:creationId xmlns:p14="http://schemas.microsoft.com/office/powerpoint/2010/main" val="4200023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42</a:t>
            </a:fld>
            <a:endParaRPr lang="zh-CN" altLang="en-US"/>
          </a:p>
        </p:txBody>
      </p:sp>
    </p:spTree>
    <p:extLst>
      <p:ext uri="{BB962C8B-B14F-4D97-AF65-F5344CB8AC3E}">
        <p14:creationId xmlns:p14="http://schemas.microsoft.com/office/powerpoint/2010/main" val="24973205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这个里面的除了对角线是平方，其他的元素没有平方，正负不一定。</a:t>
            </a:r>
            <a:r>
              <a:rPr lang="en-US" altLang="zh-CN" dirty="0"/>
              <a:t>Zlm</a:t>
            </a:r>
            <a:r>
              <a:rPr lang="zh-CN" altLang="en-US" dirty="0"/>
              <a:t>改协方差阵的符号</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46</a:t>
            </a:fld>
            <a:endParaRPr lang="zh-CN" altLang="en-US"/>
          </a:p>
        </p:txBody>
      </p:sp>
    </p:spTree>
    <p:extLst>
      <p:ext uri="{BB962C8B-B14F-4D97-AF65-F5344CB8AC3E}">
        <p14:creationId xmlns:p14="http://schemas.microsoft.com/office/powerpoint/2010/main" val="26823411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独立性要求所有的</a:t>
            </a:r>
            <a:r>
              <a:rPr lang="en-US" altLang="zh-CN" dirty="0"/>
              <a:t>xi</a:t>
            </a:r>
            <a:r>
              <a:rPr lang="zh-CN" altLang="en-US" dirty="0"/>
              <a:t>，</a:t>
            </a:r>
            <a:r>
              <a:rPr lang="en-US" altLang="zh-CN" dirty="0" err="1"/>
              <a:t>xj</a:t>
            </a:r>
            <a:r>
              <a:rPr lang="zh-CN" altLang="en-US" dirty="0"/>
              <a:t>都成立；不相关性是两个随机变量期望的关系，反应两个变量的总体性质</a:t>
            </a:r>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50</a:t>
            </a:fld>
            <a:endParaRPr lang="zh-CN" altLang="en-US"/>
          </a:p>
        </p:txBody>
      </p:sp>
    </p:spTree>
    <p:extLst>
      <p:ext uri="{BB962C8B-B14F-4D97-AF65-F5344CB8AC3E}">
        <p14:creationId xmlns:p14="http://schemas.microsoft.com/office/powerpoint/2010/main" val="2288877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74</a:t>
            </a:fld>
            <a:endParaRPr lang="zh-CN" altLang="en-US"/>
          </a:p>
        </p:txBody>
      </p:sp>
    </p:spTree>
    <p:extLst>
      <p:ext uri="{BB962C8B-B14F-4D97-AF65-F5344CB8AC3E}">
        <p14:creationId xmlns:p14="http://schemas.microsoft.com/office/powerpoint/2010/main" val="37422927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064F8E74-9C04-43EC-B268-D3C0C73A25C8}" type="slidenum">
              <a:rPr lang="zh-CN" altLang="en-US" smtClean="0"/>
              <a:pPr>
                <a:defRPr/>
              </a:pPr>
              <a:t>86</a:t>
            </a:fld>
            <a:endParaRPr lang="zh-CN" altLang="en-US"/>
          </a:p>
        </p:txBody>
      </p:sp>
    </p:spTree>
    <p:extLst>
      <p:ext uri="{BB962C8B-B14F-4D97-AF65-F5344CB8AC3E}">
        <p14:creationId xmlns:p14="http://schemas.microsoft.com/office/powerpoint/2010/main" val="293207083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hyperlink" Target="http://pic.hust.edu.cn/single/index/_class/3/1376?c=&#21326;&#20013;&#22823;&#19968;&#26223;" TargetMode="External"/><Relationship Id="rId13"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4.jpeg"/><Relationship Id="rId12" Type="http://schemas.openxmlformats.org/officeDocument/2006/relationships/hyperlink" Target="http://pic.hust.edu.cn/single/index/_class/4/1421?c=&#21326;&#20013;&#22823;&#19968;&#26223;" TargetMode="External"/><Relationship Id="rId17" Type="http://schemas.openxmlformats.org/officeDocument/2006/relationships/image" Target="../media/image1.png"/><Relationship Id="rId2" Type="http://schemas.openxmlformats.org/officeDocument/2006/relationships/slideMaster" Target="../slideMasters/slideMaster1.xml"/><Relationship Id="rId16" Type="http://schemas.openxmlformats.org/officeDocument/2006/relationships/oleObject" Target="../embeddings/oleObject2.bin"/><Relationship Id="rId1" Type="http://schemas.openxmlformats.org/officeDocument/2006/relationships/vmlDrawing" Target="../drawings/vmlDrawing2.vml"/><Relationship Id="rId6" Type="http://schemas.openxmlformats.org/officeDocument/2006/relationships/hyperlink" Target="http://pic.hust.edu.cn/single/index/_class/2/1296?c=&#21326;&#20013;&#22823;&#19968;&#26223;" TargetMode="External"/><Relationship Id="rId11" Type="http://schemas.openxmlformats.org/officeDocument/2006/relationships/image" Target="../media/image6.jpeg"/><Relationship Id="rId5" Type="http://schemas.openxmlformats.org/officeDocument/2006/relationships/image" Target="../media/image3.jpeg"/><Relationship Id="rId15" Type="http://schemas.openxmlformats.org/officeDocument/2006/relationships/image" Target="../media/image8.jpeg"/><Relationship Id="rId10" Type="http://schemas.openxmlformats.org/officeDocument/2006/relationships/hyperlink" Target="http://pic.hust.edu.cn/single/index/_class/3/1394?c=&#21326;&#20013;&#22823;&#19968;&#26223;" TargetMode="External"/><Relationship Id="rId4" Type="http://schemas.openxmlformats.org/officeDocument/2006/relationships/hyperlink" Target="http://pic.hust.edu.cn/single/index/_class/0/803?c=&#21326;&#20013;&#22823;&#19968;&#26223;" TargetMode="External"/><Relationship Id="rId9" Type="http://schemas.openxmlformats.org/officeDocument/2006/relationships/image" Target="../media/image5.jpeg"/><Relationship Id="rId14" Type="http://schemas.openxmlformats.org/officeDocument/2006/relationships/hyperlink" Target="http://pic.hust.edu.cn/single/index/_class/4/1428?c=&#21326;&#20013;&#22823;&#19968;&#26223;"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bwMode="gray">
      <p:bgPr>
        <a:solidFill>
          <a:schemeClr val="bg1"/>
        </a:solidFill>
        <a:effectLst/>
      </p:bgPr>
    </p:bg>
    <p:spTree>
      <p:nvGrpSpPr>
        <p:cNvPr id="1" name=""/>
        <p:cNvGrpSpPr/>
        <p:nvPr/>
      </p:nvGrpSpPr>
      <p:grpSpPr>
        <a:xfrm>
          <a:off x="0" y="0"/>
          <a:ext cx="0" cy="0"/>
          <a:chOff x="0" y="0"/>
          <a:chExt cx="0" cy="0"/>
        </a:xfrm>
      </p:grpSpPr>
      <p:grpSp>
        <p:nvGrpSpPr>
          <p:cNvPr id="3" name="Group 372"/>
          <p:cNvGrpSpPr>
            <a:grpSpLocks/>
          </p:cNvGrpSpPr>
          <p:nvPr/>
        </p:nvGrpSpPr>
        <p:grpSpPr bwMode="auto">
          <a:xfrm>
            <a:off x="762001" y="2786063"/>
            <a:ext cx="11010900" cy="119062"/>
            <a:chOff x="288" y="1248"/>
            <a:chExt cx="5229" cy="96"/>
          </a:xfrm>
        </p:grpSpPr>
        <p:grpSp>
          <p:nvGrpSpPr>
            <p:cNvPr id="4" name="Group 368"/>
            <p:cNvGrpSpPr>
              <a:grpSpLocks/>
            </p:cNvGrpSpPr>
            <p:nvPr userDrawn="1"/>
          </p:nvGrpSpPr>
          <p:grpSpPr bwMode="auto">
            <a:xfrm>
              <a:off x="288" y="1248"/>
              <a:ext cx="5228" cy="96"/>
              <a:chOff x="192" y="498"/>
              <a:chExt cx="5376" cy="78"/>
            </a:xfrm>
          </p:grpSpPr>
          <p:sp>
            <p:nvSpPr>
              <p:cNvPr id="6" name="Rectangle 369"/>
              <p:cNvSpPr>
                <a:spLocks noChangeArrowheads="1"/>
              </p:cNvSpPr>
              <p:nvPr userDrawn="1"/>
            </p:nvSpPr>
            <p:spPr bwMode="gray">
              <a:xfrm>
                <a:off x="192" y="498"/>
                <a:ext cx="1488" cy="78"/>
              </a:xfrm>
              <a:prstGeom prst="rect">
                <a:avLst/>
              </a:prstGeom>
              <a:solidFill>
                <a:schemeClr val="tx2"/>
              </a:solidFill>
              <a:ln w="9525">
                <a:noFill/>
                <a:miter lim="800000"/>
                <a:headEnd/>
                <a:tailEnd/>
              </a:ln>
              <a:effectLst/>
            </p:spPr>
            <p:txBody>
              <a:bodyPr wrap="none" anchor="ctr"/>
              <a:lstStyle/>
              <a:p>
                <a:pPr>
                  <a:defRPr/>
                </a:pPr>
                <a:endParaRPr lang="zh-CN" altLang="en-US">
                  <a:ea typeface="宋体" pitchFamily="2" charset="-122"/>
                </a:endParaRPr>
              </a:p>
            </p:txBody>
          </p:sp>
          <p:sp>
            <p:nvSpPr>
              <p:cNvPr id="7" name="Line 370"/>
              <p:cNvSpPr>
                <a:spLocks noChangeShapeType="1"/>
              </p:cNvSpPr>
              <p:nvPr userDrawn="1"/>
            </p:nvSpPr>
            <p:spPr bwMode="gray">
              <a:xfrm>
                <a:off x="192" y="576"/>
                <a:ext cx="5376" cy="0"/>
              </a:xfrm>
              <a:prstGeom prst="line">
                <a:avLst/>
              </a:prstGeom>
              <a:noFill/>
              <a:ln w="19050">
                <a:solidFill>
                  <a:schemeClr val="tx2"/>
                </a:solidFill>
                <a:round/>
                <a:headEnd/>
                <a:tailEnd/>
              </a:ln>
              <a:effectLst/>
            </p:spPr>
            <p:txBody>
              <a:bodyPr/>
              <a:lstStyle/>
              <a:p>
                <a:pPr>
                  <a:defRPr/>
                </a:pPr>
                <a:endParaRPr lang="zh-CN" altLang="en-US"/>
              </a:p>
            </p:txBody>
          </p:sp>
        </p:grpSp>
        <p:pic>
          <p:nvPicPr>
            <p:cNvPr id="5" name="Picture 371" descr="Untitled-4 copy"/>
            <p:cNvPicPr>
              <a:picLocks noChangeAspect="1" noChangeArrowheads="1"/>
            </p:cNvPicPr>
            <p:nvPr userDrawn="1"/>
          </p:nvPicPr>
          <p:blipFill>
            <a:blip r:embed="rId3"/>
            <a:srcRect/>
            <a:stretch>
              <a:fillRect/>
            </a:stretch>
          </p:blipFill>
          <p:spPr bwMode="gray">
            <a:xfrm>
              <a:off x="346" y="1254"/>
              <a:ext cx="71" cy="77"/>
            </a:xfrm>
            <a:prstGeom prst="rect">
              <a:avLst/>
            </a:prstGeom>
            <a:noFill/>
            <a:ln w="9525">
              <a:noFill/>
              <a:miter lim="800000"/>
              <a:headEnd/>
              <a:tailEnd/>
            </a:ln>
          </p:spPr>
        </p:pic>
      </p:grpSp>
      <p:pic>
        <p:nvPicPr>
          <p:cNvPr id="8" name="Picture 429" descr="http://pic.hust.edu.cn/pic/nav/803.jpg">
            <a:hlinkClick r:id="rId4"/>
          </p:cNvPr>
          <p:cNvPicPr>
            <a:picLocks noChangeAspect="1" noChangeArrowheads="1"/>
          </p:cNvPicPr>
          <p:nvPr userDrawn="1"/>
        </p:nvPicPr>
        <p:blipFill>
          <a:blip r:embed="rId5"/>
          <a:srcRect/>
          <a:stretch>
            <a:fillRect/>
          </a:stretch>
        </p:blipFill>
        <p:spPr bwMode="auto">
          <a:xfrm>
            <a:off x="7177618" y="6143625"/>
            <a:ext cx="1680633" cy="757238"/>
          </a:xfrm>
          <a:prstGeom prst="rect">
            <a:avLst/>
          </a:prstGeom>
          <a:noFill/>
          <a:ln w="9525">
            <a:noFill/>
            <a:miter lim="800000"/>
            <a:headEnd/>
            <a:tailEnd/>
          </a:ln>
        </p:spPr>
      </p:pic>
      <p:pic>
        <p:nvPicPr>
          <p:cNvPr id="9" name="Picture 433" descr="http://pic.hust.edu.cn/pic/nav/1296.jpg">
            <a:hlinkClick r:id="rId6"/>
          </p:cNvPr>
          <p:cNvPicPr>
            <a:picLocks noChangeAspect="1" noChangeArrowheads="1"/>
          </p:cNvPicPr>
          <p:nvPr userDrawn="1"/>
        </p:nvPicPr>
        <p:blipFill>
          <a:blip r:embed="rId7"/>
          <a:srcRect/>
          <a:stretch>
            <a:fillRect/>
          </a:stretch>
        </p:blipFill>
        <p:spPr bwMode="auto">
          <a:xfrm>
            <a:off x="10511368" y="4598989"/>
            <a:ext cx="1680633" cy="758825"/>
          </a:xfrm>
          <a:prstGeom prst="rect">
            <a:avLst/>
          </a:prstGeom>
          <a:noFill/>
          <a:ln w="9525">
            <a:noFill/>
            <a:miter lim="800000"/>
            <a:headEnd/>
            <a:tailEnd/>
          </a:ln>
        </p:spPr>
      </p:pic>
      <p:pic>
        <p:nvPicPr>
          <p:cNvPr id="10" name="Picture 435" descr="http://pic.hust.edu.cn/pic/nav/1376.jpg">
            <a:hlinkClick r:id="rId8"/>
          </p:cNvPr>
          <p:cNvPicPr>
            <a:picLocks noChangeAspect="1" noChangeArrowheads="1"/>
          </p:cNvPicPr>
          <p:nvPr userDrawn="1"/>
        </p:nvPicPr>
        <p:blipFill>
          <a:blip r:embed="rId9"/>
          <a:srcRect/>
          <a:stretch>
            <a:fillRect/>
          </a:stretch>
        </p:blipFill>
        <p:spPr bwMode="auto">
          <a:xfrm>
            <a:off x="10511368" y="6100764"/>
            <a:ext cx="1680633" cy="757237"/>
          </a:xfrm>
          <a:prstGeom prst="rect">
            <a:avLst/>
          </a:prstGeom>
          <a:noFill/>
          <a:ln w="9525">
            <a:noFill/>
            <a:miter lim="800000"/>
            <a:headEnd/>
            <a:tailEnd/>
          </a:ln>
        </p:spPr>
      </p:pic>
      <p:pic>
        <p:nvPicPr>
          <p:cNvPr id="11" name="Picture 437" descr="http://pic.hust.edu.cn/pic/nav/1394.jpg">
            <a:hlinkClick r:id="rId10"/>
          </p:cNvPr>
          <p:cNvPicPr>
            <a:picLocks noChangeAspect="1" noChangeArrowheads="1"/>
          </p:cNvPicPr>
          <p:nvPr userDrawn="1"/>
        </p:nvPicPr>
        <p:blipFill>
          <a:blip r:embed="rId11"/>
          <a:srcRect/>
          <a:stretch>
            <a:fillRect/>
          </a:stretch>
        </p:blipFill>
        <p:spPr bwMode="auto">
          <a:xfrm>
            <a:off x="8858252" y="5386389"/>
            <a:ext cx="1680633" cy="757237"/>
          </a:xfrm>
          <a:prstGeom prst="rect">
            <a:avLst/>
          </a:prstGeom>
          <a:noFill/>
          <a:ln w="9525">
            <a:noFill/>
            <a:miter lim="800000"/>
            <a:headEnd/>
            <a:tailEnd/>
          </a:ln>
        </p:spPr>
      </p:pic>
      <p:pic>
        <p:nvPicPr>
          <p:cNvPr id="12" name="Picture 439" descr="http://pic.hust.edu.cn/pic/nav/1421.jpg">
            <a:hlinkClick r:id="rId12"/>
          </p:cNvPr>
          <p:cNvPicPr>
            <a:picLocks noChangeAspect="1" noChangeArrowheads="1"/>
          </p:cNvPicPr>
          <p:nvPr userDrawn="1"/>
        </p:nvPicPr>
        <p:blipFill>
          <a:blip r:embed="rId13"/>
          <a:srcRect/>
          <a:stretch>
            <a:fillRect/>
          </a:stretch>
        </p:blipFill>
        <p:spPr bwMode="auto">
          <a:xfrm>
            <a:off x="8858252" y="6127751"/>
            <a:ext cx="1680633" cy="758825"/>
          </a:xfrm>
          <a:prstGeom prst="rect">
            <a:avLst/>
          </a:prstGeom>
          <a:noFill/>
          <a:ln w="9525">
            <a:noFill/>
            <a:miter lim="800000"/>
            <a:headEnd/>
            <a:tailEnd/>
          </a:ln>
        </p:spPr>
      </p:pic>
      <p:pic>
        <p:nvPicPr>
          <p:cNvPr id="13" name="Picture 441" descr="http://pic.hust.edu.cn/pic/nav/1428.jpg">
            <a:hlinkClick r:id="rId14"/>
          </p:cNvPr>
          <p:cNvPicPr>
            <a:picLocks noChangeAspect="1" noChangeArrowheads="1"/>
          </p:cNvPicPr>
          <p:nvPr userDrawn="1"/>
        </p:nvPicPr>
        <p:blipFill>
          <a:blip r:embed="rId15"/>
          <a:srcRect/>
          <a:stretch>
            <a:fillRect/>
          </a:stretch>
        </p:blipFill>
        <p:spPr bwMode="auto">
          <a:xfrm>
            <a:off x="10511368" y="5357814"/>
            <a:ext cx="1680633" cy="757237"/>
          </a:xfrm>
          <a:prstGeom prst="rect">
            <a:avLst/>
          </a:prstGeom>
          <a:noFill/>
          <a:ln w="9525">
            <a:noFill/>
            <a:miter lim="800000"/>
            <a:headEnd/>
            <a:tailEnd/>
          </a:ln>
        </p:spPr>
      </p:pic>
      <p:graphicFrame>
        <p:nvGraphicFramePr>
          <p:cNvPr id="14" name="Object 442"/>
          <p:cNvGraphicFramePr>
            <a:graphicFrameLocks noChangeAspect="1"/>
          </p:cNvGraphicFramePr>
          <p:nvPr/>
        </p:nvGraphicFramePr>
        <p:xfrm>
          <a:off x="95251" y="34925"/>
          <a:ext cx="2063749" cy="1162050"/>
        </p:xfrm>
        <a:graphic>
          <a:graphicData uri="http://schemas.openxmlformats.org/presentationml/2006/ole">
            <mc:AlternateContent xmlns:mc="http://schemas.openxmlformats.org/markup-compatibility/2006">
              <mc:Choice xmlns:v="urn:schemas-microsoft-com:vml" Requires="v">
                <p:oleObj spid="_x0000_s2264" name="位图图像" r:id="rId16" imgW="2247619" imgH="1685714" progId="PBrush">
                  <p:embed/>
                </p:oleObj>
              </mc:Choice>
              <mc:Fallback>
                <p:oleObj name="位图图像" r:id="rId16" imgW="2247619" imgH="1685714" progId="PBrush">
                  <p:embed/>
                  <p:pic>
                    <p:nvPicPr>
                      <p:cNvPr id="0" name="Picture 2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5251" y="34925"/>
                        <a:ext cx="2063749"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4" name="Rectangle 2"/>
          <p:cNvSpPr>
            <a:spLocks noGrp="1" noChangeArrowheads="1"/>
          </p:cNvSpPr>
          <p:nvPr>
            <p:ph type="ctrTitle"/>
          </p:nvPr>
        </p:nvSpPr>
        <p:spPr bwMode="gray">
          <a:xfrm>
            <a:off x="857213" y="2285992"/>
            <a:ext cx="10668000" cy="533400"/>
          </a:xfrm>
        </p:spPr>
        <p:txBody>
          <a:bodyPr/>
          <a:lstStyle>
            <a:lvl1pPr algn="r">
              <a:defRPr sz="4800" b="1">
                <a:solidFill>
                  <a:schemeClr val="tx1"/>
                </a:solidFill>
              </a:defRPr>
            </a:lvl1pPr>
          </a:lstStyle>
          <a:p>
            <a:r>
              <a:rPr lang="zh-CN" altLang="en-US" dirty="0"/>
              <a:t>单击此处编辑母版标题样式</a:t>
            </a:r>
            <a:endParaRPr lang="en-US" altLang="zh-CN" dirty="0"/>
          </a:p>
        </p:txBody>
      </p:sp>
      <p:sp>
        <p:nvSpPr>
          <p:cNvPr id="15" name="Rectangle 5"/>
          <p:cNvSpPr>
            <a:spLocks noGrp="1" noChangeArrowheads="1"/>
          </p:cNvSpPr>
          <p:nvPr>
            <p:ph type="ftr" sz="quarter" idx="10"/>
          </p:nvPr>
        </p:nvSpPr>
        <p:spPr>
          <a:xfrm>
            <a:off x="2743201" y="6596064"/>
            <a:ext cx="1191684" cy="244475"/>
          </a:xfrm>
        </p:spPr>
        <p:txBody>
          <a:bodyPr/>
          <a:lstStyle>
            <a:lvl1pPr algn="ctr">
              <a:defRPr sz="1200">
                <a:solidFill>
                  <a:srgbClr val="000000"/>
                </a:solidFill>
              </a:defRPr>
            </a:lvl1pPr>
          </a:lstStyle>
          <a:p>
            <a:pPr>
              <a:defRPr/>
            </a:pPr>
            <a:r>
              <a:rPr lang="en-US" altLang="zh-CN"/>
              <a:t>1</a:t>
            </a:r>
            <a:endParaRPr lang="zh-CN" altLang="zh-CN"/>
          </a:p>
        </p:txBody>
      </p:sp>
      <p:sp>
        <p:nvSpPr>
          <p:cNvPr id="16" name="Rectangle 373"/>
          <p:cNvSpPr>
            <a:spLocks noGrp="1" noChangeArrowheads="1"/>
          </p:cNvSpPr>
          <p:nvPr>
            <p:ph type="sldNum" sz="quarter" idx="11"/>
          </p:nvPr>
        </p:nvSpPr>
        <p:spPr>
          <a:xfrm>
            <a:off x="4064000" y="6596064"/>
            <a:ext cx="1117600" cy="261937"/>
          </a:xfrm>
        </p:spPr>
        <p:txBody>
          <a:bodyPr/>
          <a:lstStyle>
            <a:lvl1pPr>
              <a:defRPr/>
            </a:lvl1pPr>
          </a:lstStyle>
          <a:p>
            <a:pPr>
              <a:defRPr/>
            </a:pPr>
            <a:fld id="{A6901B15-51C5-4543-8646-27AED7159C2B}" type="slidenum">
              <a:rPr lang="en-US" altLang="zh-CN"/>
              <a:pPr>
                <a:defRPr/>
              </a:pPr>
              <a:t>‹#›</a:t>
            </a:fld>
            <a:endParaRPr lang="en-US" altLang="zh-CN"/>
          </a:p>
        </p:txBody>
      </p:sp>
      <p:sp>
        <p:nvSpPr>
          <p:cNvPr id="17" name="Rectangle 374"/>
          <p:cNvSpPr>
            <a:spLocks noGrp="1" noChangeArrowheads="1"/>
          </p:cNvSpPr>
          <p:nvPr>
            <p:ph type="dt" sz="half" idx="12"/>
          </p:nvPr>
        </p:nvSpPr>
        <p:spPr>
          <a:xfrm>
            <a:off x="0" y="6596064"/>
            <a:ext cx="2540000" cy="261937"/>
          </a:xfrm>
        </p:spPr>
        <p:txBody>
          <a:bodyPr/>
          <a:lstStyle>
            <a:lvl1pPr>
              <a:defRPr/>
            </a:lvl1pPr>
          </a:lstStyle>
          <a:p>
            <a:pPr>
              <a:defRPr/>
            </a:pPr>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TextBox 6"/>
          <p:cNvSpPr txBox="1"/>
          <p:nvPr userDrawn="1"/>
        </p:nvSpPr>
        <p:spPr>
          <a:xfrm>
            <a:off x="0" y="6457914"/>
            <a:ext cx="12192000" cy="400110"/>
          </a:xfrm>
          <a:prstGeom prst="rect">
            <a:avLst/>
          </a:prstGeom>
          <a:solidFill>
            <a:schemeClr val="tx2">
              <a:alpha val="32000"/>
            </a:schemeClr>
          </a:solidFill>
        </p:spPr>
        <p:txBody>
          <a:bodyPr wrap="square" rtlCol="0">
            <a:spAutoFit/>
          </a:bodyPr>
          <a:lstStyle/>
          <a:p>
            <a:r>
              <a:rPr lang="zh-CN" altLang="en-US" sz="2000" b="1" dirty="0">
                <a:solidFill>
                  <a:srgbClr val="7030A0"/>
                </a:solidFill>
              </a:rPr>
              <a:t>自动化学院</a:t>
            </a:r>
          </a:p>
        </p:txBody>
      </p:sp>
      <p:sp>
        <p:nvSpPr>
          <p:cNvPr id="2" name="标题 1"/>
          <p:cNvSpPr>
            <a:spLocks noGrp="1"/>
          </p:cNvSpPr>
          <p:nvPr>
            <p:ph type="title"/>
          </p:nvPr>
        </p:nvSpPr>
        <p:spPr/>
        <p:txBody>
          <a:bodyPr/>
          <a:lstStyle>
            <a:lvl1pPr>
              <a:defRPr b="1">
                <a:solidFill>
                  <a:schemeClr val="tx1"/>
                </a:solidFill>
                <a:latin typeface="黑体" pitchFamily="49" charset="-122"/>
                <a:ea typeface="黑体" pitchFamily="49" charset="-122"/>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r>
              <a:rPr lang="en-US" altLang="zh-CN"/>
              <a:t>1</a:t>
            </a:r>
            <a:endParaRPr lang="zh-CN" altLang="zh-CN"/>
          </a:p>
        </p:txBody>
      </p:sp>
      <p:sp>
        <p:nvSpPr>
          <p:cNvPr id="5" name="Rectangle 6"/>
          <p:cNvSpPr>
            <a:spLocks noGrp="1" noChangeArrowheads="1"/>
          </p:cNvSpPr>
          <p:nvPr>
            <p:ph type="sldNum" sz="quarter" idx="11"/>
          </p:nvPr>
        </p:nvSpPr>
        <p:spPr>
          <a:xfrm>
            <a:off x="11074400" y="6429396"/>
            <a:ext cx="1117600" cy="357166"/>
          </a:xfrm>
          <a:ln/>
        </p:spPr>
        <p:txBody>
          <a:bodyPr/>
          <a:lstStyle>
            <a:lvl1pPr>
              <a:defRPr sz="2000" b="1">
                <a:solidFill>
                  <a:srgbClr val="7030A0"/>
                </a:solidFill>
                <a:latin typeface="Times New Roman" pitchFamily="18" charset="0"/>
                <a:cs typeface="Times New Roman" pitchFamily="18" charset="0"/>
              </a:defRPr>
            </a:lvl1pPr>
          </a:lstStyle>
          <a:p>
            <a:pPr>
              <a:defRPr/>
            </a:pPr>
            <a:fld id="{31E287EE-1289-4991-82CE-EFE584F53F4F}" type="slidenum">
              <a:rPr lang="en-US" altLang="zh-CN" smtClean="0"/>
              <a:pPr>
                <a:defRPr/>
              </a:pPr>
              <a:t>‹#›</a:t>
            </a:fld>
            <a:endParaRPr lang="en-US" altLang="zh-CN" dirty="0"/>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ftr" sz="quarter" idx="10"/>
          </p:nvPr>
        </p:nvSpPr>
        <p:spPr>
          <a:ln/>
        </p:spPr>
        <p:txBody>
          <a:bodyPr/>
          <a:lstStyle>
            <a:lvl1pPr>
              <a:defRPr/>
            </a:lvl1pPr>
          </a:lstStyle>
          <a:p>
            <a:pPr>
              <a:defRPr/>
            </a:pPr>
            <a:r>
              <a:rPr lang="en-US" altLang="zh-CN"/>
              <a:t>1</a:t>
            </a:r>
            <a:endParaRPr lang="zh-CN" altLang="zh-CN"/>
          </a:p>
        </p:txBody>
      </p:sp>
      <p:sp>
        <p:nvSpPr>
          <p:cNvPr id="5" name="Rectangle 6"/>
          <p:cNvSpPr>
            <a:spLocks noGrp="1" noChangeArrowheads="1"/>
          </p:cNvSpPr>
          <p:nvPr>
            <p:ph type="sldNum" sz="quarter" idx="11"/>
          </p:nvPr>
        </p:nvSpPr>
        <p:spPr>
          <a:ln/>
        </p:spPr>
        <p:txBody>
          <a:bodyPr/>
          <a:lstStyle>
            <a:lvl1pPr>
              <a:defRPr/>
            </a:lvl1pPr>
          </a:lstStyle>
          <a:p>
            <a:pPr>
              <a:defRPr/>
            </a:pPr>
            <a:fld id="{89531B8F-3516-42C3-83A0-0BE91B683E0A}" type="slidenum">
              <a:rPr lang="en-US" altLang="zh-CN"/>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06400" y="1066800"/>
            <a:ext cx="55372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46800" y="1066800"/>
            <a:ext cx="55372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ftr" sz="quarter" idx="10"/>
          </p:nvPr>
        </p:nvSpPr>
        <p:spPr>
          <a:ln/>
        </p:spPr>
        <p:txBody>
          <a:bodyPr/>
          <a:lstStyle>
            <a:lvl1pPr>
              <a:defRPr/>
            </a:lvl1pPr>
          </a:lstStyle>
          <a:p>
            <a:pPr>
              <a:defRPr/>
            </a:pPr>
            <a:r>
              <a:rPr lang="en-US" altLang="zh-CN"/>
              <a:t>1</a:t>
            </a:r>
            <a:endParaRPr lang="zh-CN" altLang="zh-CN"/>
          </a:p>
        </p:txBody>
      </p:sp>
      <p:sp>
        <p:nvSpPr>
          <p:cNvPr id="6" name="Rectangle 6"/>
          <p:cNvSpPr>
            <a:spLocks noGrp="1" noChangeArrowheads="1"/>
          </p:cNvSpPr>
          <p:nvPr>
            <p:ph type="sldNum" sz="quarter" idx="11"/>
          </p:nvPr>
        </p:nvSpPr>
        <p:spPr>
          <a:ln/>
        </p:spPr>
        <p:txBody>
          <a:bodyPr/>
          <a:lstStyle>
            <a:lvl1pPr>
              <a:defRPr/>
            </a:lvl1pPr>
          </a:lstStyle>
          <a:p>
            <a:pPr>
              <a:defRPr/>
            </a:pPr>
            <a:fld id="{CA6EEC58-89F5-441E-A838-5B7BA2476FEC}" type="slidenum">
              <a:rPr lang="en-US" altLang="zh-CN"/>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ftr" sz="quarter" idx="10"/>
          </p:nvPr>
        </p:nvSpPr>
        <p:spPr>
          <a:ln/>
        </p:spPr>
        <p:txBody>
          <a:bodyPr/>
          <a:lstStyle>
            <a:lvl1pPr>
              <a:defRPr/>
            </a:lvl1pPr>
          </a:lstStyle>
          <a:p>
            <a:pPr>
              <a:defRPr/>
            </a:pPr>
            <a:r>
              <a:rPr lang="en-US" altLang="zh-CN"/>
              <a:t>1</a:t>
            </a:r>
            <a:endParaRPr lang="zh-CN" altLang="zh-CN"/>
          </a:p>
        </p:txBody>
      </p:sp>
      <p:sp>
        <p:nvSpPr>
          <p:cNvPr id="8" name="Rectangle 6"/>
          <p:cNvSpPr>
            <a:spLocks noGrp="1" noChangeArrowheads="1"/>
          </p:cNvSpPr>
          <p:nvPr>
            <p:ph type="sldNum" sz="quarter" idx="11"/>
          </p:nvPr>
        </p:nvSpPr>
        <p:spPr>
          <a:ln/>
        </p:spPr>
        <p:txBody>
          <a:bodyPr/>
          <a:lstStyle>
            <a:lvl1pPr>
              <a:defRPr/>
            </a:lvl1pPr>
          </a:lstStyle>
          <a:p>
            <a:pPr>
              <a:defRPr/>
            </a:pPr>
            <a:fld id="{6AD9BBF3-2E5D-4C72-85D8-0F814F1E616B}" type="slidenum">
              <a:rPr lang="en-US" altLang="zh-CN"/>
              <a:pPr>
                <a:defRPr/>
              </a:pPr>
              <a:t>‹#›</a:t>
            </a:fld>
            <a:endParaRPr lang="en-US" altLang="zh-CN"/>
          </a:p>
        </p:txBody>
      </p:sp>
      <p:sp>
        <p:nvSpPr>
          <p:cNvPr id="9"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ftr" sz="quarter" idx="10"/>
          </p:nvPr>
        </p:nvSpPr>
        <p:spPr>
          <a:ln/>
        </p:spPr>
        <p:txBody>
          <a:bodyPr/>
          <a:lstStyle>
            <a:lvl1pPr>
              <a:defRPr/>
            </a:lvl1pPr>
          </a:lstStyle>
          <a:p>
            <a:pPr>
              <a:defRPr/>
            </a:pPr>
            <a:r>
              <a:rPr lang="en-US" altLang="zh-CN"/>
              <a:t>1</a:t>
            </a:r>
            <a:endParaRPr lang="zh-CN" altLang="zh-CN"/>
          </a:p>
        </p:txBody>
      </p:sp>
      <p:sp>
        <p:nvSpPr>
          <p:cNvPr id="4" name="Rectangle 6"/>
          <p:cNvSpPr>
            <a:spLocks noGrp="1" noChangeArrowheads="1"/>
          </p:cNvSpPr>
          <p:nvPr>
            <p:ph type="sldNum" sz="quarter" idx="11"/>
          </p:nvPr>
        </p:nvSpPr>
        <p:spPr>
          <a:ln/>
        </p:spPr>
        <p:txBody>
          <a:bodyPr/>
          <a:lstStyle>
            <a:lvl1pPr>
              <a:defRPr/>
            </a:lvl1pPr>
          </a:lstStyle>
          <a:p>
            <a:pPr>
              <a:defRPr/>
            </a:pPr>
            <a:fld id="{8916E4C9-78BD-4F77-9C38-0D0B943F93F0}" type="slidenum">
              <a:rPr lang="en-US" altLang="zh-CN"/>
              <a:pPr>
                <a:defRPr/>
              </a:pPr>
              <a:t>‹#›</a:t>
            </a:fld>
            <a:endParaRPr lang="en-US" altLang="zh-CN"/>
          </a:p>
        </p:txBody>
      </p:sp>
      <p:sp>
        <p:nvSpPr>
          <p:cNvPr id="5"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altLang="zh-CN"/>
              <a:t>1</a:t>
            </a:r>
            <a:endParaRPr lang="zh-CN" altLang="zh-CN"/>
          </a:p>
        </p:txBody>
      </p:sp>
      <p:sp>
        <p:nvSpPr>
          <p:cNvPr id="3" name="Rectangle 6"/>
          <p:cNvSpPr>
            <a:spLocks noGrp="1" noChangeArrowheads="1"/>
          </p:cNvSpPr>
          <p:nvPr>
            <p:ph type="sldNum" sz="quarter" idx="11"/>
          </p:nvPr>
        </p:nvSpPr>
        <p:spPr>
          <a:ln/>
        </p:spPr>
        <p:txBody>
          <a:bodyPr/>
          <a:lstStyle>
            <a:lvl1pPr>
              <a:defRPr/>
            </a:lvl1pPr>
          </a:lstStyle>
          <a:p>
            <a:pPr>
              <a:defRPr/>
            </a:pPr>
            <a:fld id="{8EDB171D-A1F9-42E8-BD2B-16AA89E5910B}" type="slidenum">
              <a:rPr lang="en-US" altLang="zh-CN"/>
              <a:pPr>
                <a:defRPr/>
              </a:pPr>
              <a:t>‹#›</a:t>
            </a:fld>
            <a:endParaRPr lang="en-US" altLang="zh-CN"/>
          </a:p>
        </p:txBody>
      </p:sp>
      <p:sp>
        <p:nvSpPr>
          <p:cNvPr id="4"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a:defRPr/>
            </a:pPr>
            <a:r>
              <a:rPr lang="en-US" altLang="zh-CN"/>
              <a:t>1</a:t>
            </a:r>
            <a:endParaRPr lang="zh-CN" altLang="zh-CN"/>
          </a:p>
        </p:txBody>
      </p:sp>
      <p:sp>
        <p:nvSpPr>
          <p:cNvPr id="6" name="Rectangle 6"/>
          <p:cNvSpPr>
            <a:spLocks noGrp="1" noChangeArrowheads="1"/>
          </p:cNvSpPr>
          <p:nvPr>
            <p:ph type="sldNum" sz="quarter" idx="11"/>
          </p:nvPr>
        </p:nvSpPr>
        <p:spPr>
          <a:ln/>
        </p:spPr>
        <p:txBody>
          <a:bodyPr/>
          <a:lstStyle>
            <a:lvl1pPr>
              <a:defRPr/>
            </a:lvl1pPr>
          </a:lstStyle>
          <a:p>
            <a:pPr>
              <a:defRPr/>
            </a:pPr>
            <a:fld id="{C13011E7-3EAE-47CA-A409-CC810C5F1C95}" type="slidenum">
              <a:rPr lang="en-US" altLang="zh-CN"/>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a:defRPr/>
            </a:pPr>
            <a:r>
              <a:rPr lang="en-US" altLang="zh-CN"/>
              <a:t>1</a:t>
            </a:r>
            <a:endParaRPr lang="zh-CN" altLang="zh-CN"/>
          </a:p>
        </p:txBody>
      </p:sp>
      <p:sp>
        <p:nvSpPr>
          <p:cNvPr id="6" name="Rectangle 6"/>
          <p:cNvSpPr>
            <a:spLocks noGrp="1" noChangeArrowheads="1"/>
          </p:cNvSpPr>
          <p:nvPr>
            <p:ph type="sldNum" sz="quarter" idx="11"/>
          </p:nvPr>
        </p:nvSpPr>
        <p:spPr>
          <a:ln/>
        </p:spPr>
        <p:txBody>
          <a:bodyPr/>
          <a:lstStyle>
            <a:lvl1pPr>
              <a:defRPr/>
            </a:lvl1pPr>
          </a:lstStyle>
          <a:p>
            <a:pPr>
              <a:defRPr/>
            </a:pPr>
            <a:fld id="{85E88B96-F116-4CAD-A388-A6B52ED373EE}" type="slidenum">
              <a:rPr lang="en-US" altLang="zh-CN"/>
              <a:pPr>
                <a:defRPr/>
              </a:pPr>
              <a:t>‹#›</a:t>
            </a:fld>
            <a:endParaRPr lang="en-US" altLang="zh-CN"/>
          </a:p>
        </p:txBody>
      </p:sp>
      <p:sp>
        <p:nvSpPr>
          <p:cNvPr id="7"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r>
              <a:rPr lang="en-US" altLang="zh-CN"/>
              <a:t>1</a:t>
            </a:r>
            <a:endParaRPr lang="zh-CN" altLang="zh-CN"/>
          </a:p>
        </p:txBody>
      </p:sp>
      <p:sp>
        <p:nvSpPr>
          <p:cNvPr id="5" name="Rectangle 6"/>
          <p:cNvSpPr>
            <a:spLocks noGrp="1" noChangeArrowheads="1"/>
          </p:cNvSpPr>
          <p:nvPr>
            <p:ph type="sldNum" sz="quarter" idx="11"/>
          </p:nvPr>
        </p:nvSpPr>
        <p:spPr>
          <a:ln/>
        </p:spPr>
        <p:txBody>
          <a:bodyPr/>
          <a:lstStyle>
            <a:lvl1pPr>
              <a:defRPr/>
            </a:lvl1pPr>
          </a:lstStyle>
          <a:p>
            <a:pPr>
              <a:defRPr/>
            </a:pPr>
            <a:fld id="{6B664153-0567-4266-A1CF-C85856699692}" type="slidenum">
              <a:rPr lang="en-US" altLang="zh-CN"/>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64600" y="152400"/>
            <a:ext cx="281940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06400" y="152400"/>
            <a:ext cx="825500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a:defRPr/>
            </a:pPr>
            <a:r>
              <a:rPr lang="en-US" altLang="zh-CN"/>
              <a:t>1</a:t>
            </a:r>
            <a:endParaRPr lang="zh-CN" altLang="zh-CN"/>
          </a:p>
        </p:txBody>
      </p:sp>
      <p:sp>
        <p:nvSpPr>
          <p:cNvPr id="5" name="Rectangle 6"/>
          <p:cNvSpPr>
            <a:spLocks noGrp="1" noChangeArrowheads="1"/>
          </p:cNvSpPr>
          <p:nvPr>
            <p:ph type="sldNum" sz="quarter" idx="11"/>
          </p:nvPr>
        </p:nvSpPr>
        <p:spPr>
          <a:ln/>
        </p:spPr>
        <p:txBody>
          <a:bodyPr/>
          <a:lstStyle>
            <a:lvl1pPr>
              <a:defRPr/>
            </a:lvl1pPr>
          </a:lstStyle>
          <a:p>
            <a:pPr>
              <a:defRPr/>
            </a:pPr>
            <a:fld id="{6D014B58-9775-4ADF-8599-FCF19B567336}" type="slidenum">
              <a:rPr lang="en-US" altLang="zh-CN"/>
              <a:pPr>
                <a:defRPr/>
              </a:pPr>
              <a:t>‹#›</a:t>
            </a:fld>
            <a:endParaRPr lang="en-US" altLang="zh-CN"/>
          </a:p>
        </p:txBody>
      </p:sp>
      <p:sp>
        <p:nvSpPr>
          <p:cNvPr id="6" name="Rectangle 4"/>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150" name="Freeform 126"/>
          <p:cNvSpPr>
            <a:spLocks/>
          </p:cNvSpPr>
          <p:nvPr/>
        </p:nvSpPr>
        <p:spPr bwMode="gray">
          <a:xfrm>
            <a:off x="-16933" y="342900"/>
            <a:ext cx="8043333" cy="679450"/>
          </a:xfrm>
          <a:custGeom>
            <a:avLst/>
            <a:gdLst/>
            <a:ahLst/>
            <a:cxnLst>
              <a:cxn ang="0">
                <a:pos x="0" y="0"/>
              </a:cxn>
              <a:cxn ang="0">
                <a:pos x="3800" y="0"/>
              </a:cxn>
              <a:cxn ang="0">
                <a:pos x="3456" y="428"/>
              </a:cxn>
            </a:cxnLst>
            <a:rect l="0" t="0" r="r" b="b"/>
            <a:pathLst>
              <a:path w="3800" h="428">
                <a:moveTo>
                  <a:pt x="0" y="0"/>
                </a:moveTo>
                <a:lnTo>
                  <a:pt x="3800" y="0"/>
                </a:lnTo>
                <a:lnTo>
                  <a:pt x="3456" y="428"/>
                </a:lnTo>
              </a:path>
            </a:pathLst>
          </a:custGeom>
          <a:noFill/>
          <a:ln w="9525">
            <a:noFill/>
            <a:round/>
            <a:headEnd/>
            <a:tailEnd/>
          </a:ln>
          <a:effectLst/>
        </p:spPr>
        <p:txBody>
          <a:bodyPr wrap="none" anchor="ctr"/>
          <a:lstStyle/>
          <a:p>
            <a:pPr>
              <a:defRPr/>
            </a:pPr>
            <a:endParaRPr lang="zh-CN" altLang="en-US">
              <a:ea typeface="宋体" pitchFamily="2" charset="-122"/>
            </a:endParaRPr>
          </a:p>
        </p:txBody>
      </p:sp>
      <p:sp>
        <p:nvSpPr>
          <p:cNvPr id="1029" name="Rectangle 5"/>
          <p:cNvSpPr>
            <a:spLocks noGrp="1" noChangeArrowheads="1"/>
          </p:cNvSpPr>
          <p:nvPr>
            <p:ph type="ftr" sz="quarter" idx="3"/>
          </p:nvPr>
        </p:nvSpPr>
        <p:spPr bwMode="gray">
          <a:xfrm>
            <a:off x="7620000" y="6483351"/>
            <a:ext cx="28448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b="1">
                <a:latin typeface="Arial" charset="0"/>
                <a:ea typeface="宋体" pitchFamily="2" charset="-122"/>
              </a:defRPr>
            </a:lvl1pPr>
          </a:lstStyle>
          <a:p>
            <a:pPr>
              <a:defRPr/>
            </a:pPr>
            <a:r>
              <a:rPr lang="en-US" altLang="zh-CN"/>
              <a:t>1</a:t>
            </a:r>
            <a:endParaRPr lang="zh-CN" altLang="zh-CN"/>
          </a:p>
        </p:txBody>
      </p:sp>
      <p:sp>
        <p:nvSpPr>
          <p:cNvPr id="1030" name="Rectangle 6"/>
          <p:cNvSpPr>
            <a:spLocks noGrp="1" noChangeArrowheads="1"/>
          </p:cNvSpPr>
          <p:nvPr>
            <p:ph type="sldNum" sz="quarter" idx="4"/>
          </p:nvPr>
        </p:nvSpPr>
        <p:spPr bwMode="gray">
          <a:xfrm>
            <a:off x="10566400" y="6477000"/>
            <a:ext cx="11176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atin typeface="Arial" charset="0"/>
                <a:ea typeface="宋体" charset="-122"/>
              </a:defRPr>
            </a:lvl1pPr>
          </a:lstStyle>
          <a:p>
            <a:pPr>
              <a:defRPr/>
            </a:pPr>
            <a:fld id="{063D80F8-DC27-48CA-A22D-C490E6572308}" type="slidenum">
              <a:rPr lang="en-US" altLang="zh-CN"/>
              <a:pPr>
                <a:defRPr/>
              </a:pPr>
              <a:t>‹#›</a:t>
            </a:fld>
            <a:endParaRPr lang="en-US" altLang="zh-CN"/>
          </a:p>
        </p:txBody>
      </p:sp>
      <p:sp>
        <p:nvSpPr>
          <p:cNvPr id="1028" name="Rectangle 4"/>
          <p:cNvSpPr>
            <a:spLocks noGrp="1" noChangeArrowheads="1"/>
          </p:cNvSpPr>
          <p:nvPr>
            <p:ph type="dt" sz="half" idx="2"/>
          </p:nvPr>
        </p:nvSpPr>
        <p:spPr bwMode="gray">
          <a:xfrm>
            <a:off x="4978400" y="6477000"/>
            <a:ext cx="25400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ea typeface="宋体" charset="-122"/>
              </a:defRPr>
            </a:lvl1pPr>
          </a:lstStyle>
          <a:p>
            <a:pPr>
              <a:defRPr/>
            </a:pPr>
            <a:endParaRPr lang="en-US" altLang="zh-CN"/>
          </a:p>
        </p:txBody>
      </p:sp>
      <p:sp>
        <p:nvSpPr>
          <p:cNvPr id="1032" name="Rectangle 3"/>
          <p:cNvSpPr>
            <a:spLocks noGrp="1" noChangeArrowheads="1"/>
          </p:cNvSpPr>
          <p:nvPr>
            <p:ph type="body" idx="1"/>
          </p:nvPr>
        </p:nvSpPr>
        <p:spPr bwMode="gray">
          <a:xfrm>
            <a:off x="406400" y="1066800"/>
            <a:ext cx="112776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grpSp>
        <p:nvGrpSpPr>
          <p:cNvPr id="1033" name="Group 191"/>
          <p:cNvGrpSpPr>
            <a:grpSpLocks/>
          </p:cNvGrpSpPr>
          <p:nvPr/>
        </p:nvGrpSpPr>
        <p:grpSpPr bwMode="auto">
          <a:xfrm>
            <a:off x="406400" y="800101"/>
            <a:ext cx="11169651" cy="131763"/>
            <a:chOff x="192" y="498"/>
            <a:chExt cx="5376" cy="78"/>
          </a:xfrm>
        </p:grpSpPr>
        <p:grpSp>
          <p:nvGrpSpPr>
            <p:cNvPr id="1035" name="Group 192"/>
            <p:cNvGrpSpPr>
              <a:grpSpLocks/>
            </p:cNvGrpSpPr>
            <p:nvPr userDrawn="1"/>
          </p:nvGrpSpPr>
          <p:grpSpPr bwMode="auto">
            <a:xfrm>
              <a:off x="192" y="498"/>
              <a:ext cx="5376" cy="78"/>
              <a:chOff x="192" y="498"/>
              <a:chExt cx="5376" cy="78"/>
            </a:xfrm>
          </p:grpSpPr>
          <p:sp>
            <p:nvSpPr>
              <p:cNvPr id="1217" name="Rectangle 193"/>
              <p:cNvSpPr>
                <a:spLocks noChangeArrowheads="1"/>
              </p:cNvSpPr>
              <p:nvPr userDrawn="1"/>
            </p:nvSpPr>
            <p:spPr bwMode="gray">
              <a:xfrm>
                <a:off x="192" y="498"/>
                <a:ext cx="1488" cy="78"/>
              </a:xfrm>
              <a:prstGeom prst="rect">
                <a:avLst/>
              </a:prstGeom>
              <a:solidFill>
                <a:schemeClr val="tx2"/>
              </a:solidFill>
              <a:ln w="9525">
                <a:noFill/>
                <a:miter lim="800000"/>
                <a:headEnd/>
                <a:tailEnd/>
              </a:ln>
              <a:effectLst/>
            </p:spPr>
            <p:txBody>
              <a:bodyPr wrap="none" anchor="ctr"/>
              <a:lstStyle/>
              <a:p>
                <a:pPr>
                  <a:defRPr/>
                </a:pPr>
                <a:endParaRPr lang="zh-CN" altLang="en-US">
                  <a:ea typeface="宋体" pitchFamily="2" charset="-122"/>
                </a:endParaRPr>
              </a:p>
            </p:txBody>
          </p:sp>
          <p:sp>
            <p:nvSpPr>
              <p:cNvPr id="1218" name="Line 194"/>
              <p:cNvSpPr>
                <a:spLocks noChangeShapeType="1"/>
              </p:cNvSpPr>
              <p:nvPr userDrawn="1"/>
            </p:nvSpPr>
            <p:spPr bwMode="gray">
              <a:xfrm>
                <a:off x="192" y="576"/>
                <a:ext cx="5376" cy="0"/>
              </a:xfrm>
              <a:prstGeom prst="line">
                <a:avLst/>
              </a:prstGeom>
              <a:noFill/>
              <a:ln w="19050">
                <a:solidFill>
                  <a:schemeClr val="tx2"/>
                </a:solidFill>
                <a:round/>
                <a:headEnd/>
                <a:tailEnd/>
              </a:ln>
              <a:effectLst/>
            </p:spPr>
            <p:txBody>
              <a:bodyPr/>
              <a:lstStyle/>
              <a:p>
                <a:pPr>
                  <a:defRPr/>
                </a:pPr>
                <a:endParaRPr lang="zh-CN" altLang="en-US"/>
              </a:p>
            </p:txBody>
          </p:sp>
        </p:grpSp>
        <p:pic>
          <p:nvPicPr>
            <p:cNvPr id="1036" name="Picture 195" descr="Untitled-4 copy"/>
            <p:cNvPicPr>
              <a:picLocks noChangeAspect="1" noChangeArrowheads="1"/>
            </p:cNvPicPr>
            <p:nvPr userDrawn="1"/>
          </p:nvPicPr>
          <p:blipFill>
            <a:blip r:embed="rId14"/>
            <a:srcRect/>
            <a:stretch>
              <a:fillRect/>
            </a:stretch>
          </p:blipFill>
          <p:spPr bwMode="gray">
            <a:xfrm>
              <a:off x="300" y="504"/>
              <a:ext cx="72" cy="72"/>
            </a:xfrm>
            <a:prstGeom prst="rect">
              <a:avLst/>
            </a:prstGeom>
            <a:noFill/>
            <a:ln w="9525">
              <a:noFill/>
              <a:miter lim="800000"/>
              <a:headEnd/>
              <a:tailEnd/>
            </a:ln>
          </p:spPr>
        </p:pic>
      </p:grpSp>
      <p:sp>
        <p:nvSpPr>
          <p:cNvPr id="1034" name="Rectangle 2"/>
          <p:cNvSpPr>
            <a:spLocks noGrp="1" noChangeArrowheads="1"/>
          </p:cNvSpPr>
          <p:nvPr>
            <p:ph type="title"/>
          </p:nvPr>
        </p:nvSpPr>
        <p:spPr bwMode="black">
          <a:xfrm>
            <a:off x="406400" y="152401"/>
            <a:ext cx="8229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graphicFrame>
        <p:nvGraphicFramePr>
          <p:cNvPr id="1026" name="Object 267"/>
          <p:cNvGraphicFramePr>
            <a:graphicFrameLocks noChangeAspect="1"/>
          </p:cNvGraphicFramePr>
          <p:nvPr/>
        </p:nvGraphicFramePr>
        <p:xfrm>
          <a:off x="10621433" y="42864"/>
          <a:ext cx="1524000" cy="858837"/>
        </p:xfrm>
        <a:graphic>
          <a:graphicData uri="http://schemas.openxmlformats.org/presentationml/2006/ole">
            <mc:AlternateContent xmlns:mc="http://schemas.openxmlformats.org/markup-compatibility/2006">
              <mc:Choice xmlns:v="urn:schemas-microsoft-com:vml" Requires="v">
                <p:oleObj spid="_x0000_s1240" name="位图图像" r:id="rId15" imgW="2247619" imgH="1685714" progId="PBrush">
                  <p:embed/>
                </p:oleObj>
              </mc:Choice>
              <mc:Fallback>
                <p:oleObj name="位图图像" r:id="rId15" imgW="2247619" imgH="1685714" progId="PBrush">
                  <p:embed/>
                  <p:pic>
                    <p:nvPicPr>
                      <p:cNvPr id="0" name="Picture 2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621433" y="42864"/>
                        <a:ext cx="1524000" cy="858837"/>
                      </a:xfrm>
                      <a:prstGeom prst="rect">
                        <a:avLst/>
                      </a:prstGeom>
                      <a:noFill/>
                      <a:ln>
                        <a:noFill/>
                      </a:ln>
                      <a:effectLst/>
                      <a:extLst>
                        <a:ext uri="{909E8E84-426E-40DD-AFC4-6F175D3DCCD1}">
                          <a14:hiddenFill xmlns:a14="http://schemas.microsoft.com/office/drawing/2010/main">
                            <a:solidFill>
                              <a:srgbClr val="9FD56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DED9CC"/>
                              </a:outerShdw>
                            </a:effectLst>
                          </a14:hiddenEffects>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911" r:id="rId1"/>
    <p:sldLayoutId id="2147483901" r:id="rId2"/>
    <p:sldLayoutId id="2147483902" r:id="rId3"/>
    <p:sldLayoutId id="2147483903" r:id="rId4"/>
    <p:sldLayoutId id="2147483904" r:id="rId5"/>
    <p:sldLayoutId id="2147483905" r:id="rId6"/>
    <p:sldLayoutId id="2147483906" r:id="rId7"/>
    <p:sldLayoutId id="2147483907" r:id="rId8"/>
    <p:sldLayoutId id="2147483908" r:id="rId9"/>
    <p:sldLayoutId id="2147483909" r:id="rId10"/>
    <p:sldLayoutId id="2147483910" r:id="rId11"/>
  </p:sldLayoutIdLst>
  <p:hf hdr="0" dt="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p:titleStyle>
    <p:body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2.emf"/><Relationship Id="rId4"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3.png"/><Relationship Id="rId5" Type="http://schemas.openxmlformats.org/officeDocument/2006/relationships/image" Target="../media/image12.emf"/><Relationship Id="rId4"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5.e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6.bin"/><Relationship Id="rId5" Type="http://schemas.openxmlformats.org/officeDocument/2006/relationships/image" Target="../media/image14.wmf"/><Relationship Id="rId4"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6.emf"/><Relationship Id="rId4" Type="http://schemas.openxmlformats.org/officeDocument/2006/relationships/oleObject" Target="../embeddings/oleObject7.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9.png"/><Relationship Id="rId7" Type="http://schemas.openxmlformats.org/officeDocument/2006/relationships/image" Target="../media/image18.e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9.bin"/><Relationship Id="rId11" Type="http://schemas.openxmlformats.org/officeDocument/2006/relationships/image" Target="../media/image20.wmf"/><Relationship Id="rId5" Type="http://schemas.openxmlformats.org/officeDocument/2006/relationships/image" Target="../media/image17.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9.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4.bin"/><Relationship Id="rId13" Type="http://schemas.openxmlformats.org/officeDocument/2006/relationships/image" Target="../media/image24.wmf"/><Relationship Id="rId3" Type="http://schemas.openxmlformats.org/officeDocument/2006/relationships/image" Target="../media/image9.png"/><Relationship Id="rId7" Type="http://schemas.openxmlformats.org/officeDocument/2006/relationships/image" Target="../media/image21.wmf"/><Relationship Id="rId12"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13.bin"/><Relationship Id="rId11" Type="http://schemas.openxmlformats.org/officeDocument/2006/relationships/image" Target="../media/image23.wmf"/><Relationship Id="rId5" Type="http://schemas.openxmlformats.org/officeDocument/2006/relationships/image" Target="../media/image18.emf"/><Relationship Id="rId10" Type="http://schemas.openxmlformats.org/officeDocument/2006/relationships/oleObject" Target="../embeddings/oleObject15.bin"/><Relationship Id="rId4" Type="http://schemas.openxmlformats.org/officeDocument/2006/relationships/oleObject" Target="../embeddings/oleObject12.bin"/><Relationship Id="rId9" Type="http://schemas.openxmlformats.org/officeDocument/2006/relationships/image" Target="../media/image22.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oleObject" Target="../embeddings/oleObject21.bin"/><Relationship Id="rId18" Type="http://schemas.openxmlformats.org/officeDocument/2006/relationships/image" Target="../media/image30.wmf"/><Relationship Id="rId26" Type="http://schemas.openxmlformats.org/officeDocument/2006/relationships/image" Target="../media/image34.wmf"/><Relationship Id="rId3" Type="http://schemas.openxmlformats.org/officeDocument/2006/relationships/image" Target="../media/image9.png"/><Relationship Id="rId21" Type="http://schemas.openxmlformats.org/officeDocument/2006/relationships/oleObject" Target="../embeddings/oleObject25.bin"/><Relationship Id="rId7" Type="http://schemas.openxmlformats.org/officeDocument/2006/relationships/image" Target="../media/image25.wmf"/><Relationship Id="rId12" Type="http://schemas.openxmlformats.org/officeDocument/2006/relationships/image" Target="../media/image35.png"/><Relationship Id="rId17" Type="http://schemas.openxmlformats.org/officeDocument/2006/relationships/oleObject" Target="../embeddings/oleObject23.bin"/><Relationship Id="rId25" Type="http://schemas.openxmlformats.org/officeDocument/2006/relationships/oleObject" Target="../embeddings/oleObject27.bin"/><Relationship Id="rId2" Type="http://schemas.openxmlformats.org/officeDocument/2006/relationships/slideLayout" Target="../slideLayouts/slideLayout2.xml"/><Relationship Id="rId16" Type="http://schemas.openxmlformats.org/officeDocument/2006/relationships/image" Target="../media/image29.wmf"/><Relationship Id="rId20" Type="http://schemas.openxmlformats.org/officeDocument/2006/relationships/image" Target="../media/image31.wmf"/><Relationship Id="rId1" Type="http://schemas.openxmlformats.org/officeDocument/2006/relationships/vmlDrawing" Target="../drawings/vmlDrawing9.vml"/><Relationship Id="rId6" Type="http://schemas.openxmlformats.org/officeDocument/2006/relationships/oleObject" Target="../embeddings/oleObject18.bin"/><Relationship Id="rId11" Type="http://schemas.openxmlformats.org/officeDocument/2006/relationships/image" Target="../media/image27.wmf"/><Relationship Id="rId24" Type="http://schemas.openxmlformats.org/officeDocument/2006/relationships/image" Target="../media/image33.wmf"/><Relationship Id="rId5" Type="http://schemas.openxmlformats.org/officeDocument/2006/relationships/image" Target="../media/image18.emf"/><Relationship Id="rId15" Type="http://schemas.openxmlformats.org/officeDocument/2006/relationships/oleObject" Target="../embeddings/oleObject22.bin"/><Relationship Id="rId23" Type="http://schemas.openxmlformats.org/officeDocument/2006/relationships/oleObject" Target="../embeddings/oleObject26.bin"/><Relationship Id="rId10" Type="http://schemas.openxmlformats.org/officeDocument/2006/relationships/oleObject" Target="../embeddings/oleObject20.bin"/><Relationship Id="rId19" Type="http://schemas.openxmlformats.org/officeDocument/2006/relationships/oleObject" Target="../embeddings/oleObject24.bin"/><Relationship Id="rId4" Type="http://schemas.openxmlformats.org/officeDocument/2006/relationships/oleObject" Target="../embeddings/oleObject17.bin"/><Relationship Id="rId9" Type="http://schemas.openxmlformats.org/officeDocument/2006/relationships/image" Target="../media/image26.wmf"/><Relationship Id="rId14" Type="http://schemas.openxmlformats.org/officeDocument/2006/relationships/image" Target="../media/image28.wmf"/><Relationship Id="rId22" Type="http://schemas.openxmlformats.org/officeDocument/2006/relationships/image" Target="../media/image32.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30.bin"/><Relationship Id="rId13" Type="http://schemas.openxmlformats.org/officeDocument/2006/relationships/image" Target="../media/image39.wmf"/><Relationship Id="rId18" Type="http://schemas.openxmlformats.org/officeDocument/2006/relationships/oleObject" Target="../embeddings/oleObject35.bin"/><Relationship Id="rId3" Type="http://schemas.openxmlformats.org/officeDocument/2006/relationships/image" Target="../media/image9.png"/><Relationship Id="rId21" Type="http://schemas.openxmlformats.org/officeDocument/2006/relationships/image" Target="../media/image43.wmf"/><Relationship Id="rId7" Type="http://schemas.openxmlformats.org/officeDocument/2006/relationships/image" Target="../media/image36.wmf"/><Relationship Id="rId12" Type="http://schemas.openxmlformats.org/officeDocument/2006/relationships/oleObject" Target="../embeddings/oleObject32.bin"/><Relationship Id="rId17" Type="http://schemas.openxmlformats.org/officeDocument/2006/relationships/image" Target="../media/image41.wmf"/><Relationship Id="rId25" Type="http://schemas.openxmlformats.org/officeDocument/2006/relationships/image" Target="../media/image45.wmf"/><Relationship Id="rId2" Type="http://schemas.openxmlformats.org/officeDocument/2006/relationships/slideLayout" Target="../slideLayouts/slideLayout2.xml"/><Relationship Id="rId16" Type="http://schemas.openxmlformats.org/officeDocument/2006/relationships/oleObject" Target="../embeddings/oleObject34.bin"/><Relationship Id="rId20" Type="http://schemas.openxmlformats.org/officeDocument/2006/relationships/oleObject" Target="../embeddings/oleObject36.bin"/><Relationship Id="rId1" Type="http://schemas.openxmlformats.org/officeDocument/2006/relationships/vmlDrawing" Target="../drawings/vmlDrawing10.vml"/><Relationship Id="rId6" Type="http://schemas.openxmlformats.org/officeDocument/2006/relationships/oleObject" Target="../embeddings/oleObject29.bin"/><Relationship Id="rId11" Type="http://schemas.openxmlformats.org/officeDocument/2006/relationships/image" Target="../media/image38.wmf"/><Relationship Id="rId24" Type="http://schemas.openxmlformats.org/officeDocument/2006/relationships/oleObject" Target="../embeddings/oleObject38.bin"/><Relationship Id="rId5" Type="http://schemas.openxmlformats.org/officeDocument/2006/relationships/image" Target="../media/image18.emf"/><Relationship Id="rId15" Type="http://schemas.openxmlformats.org/officeDocument/2006/relationships/image" Target="../media/image40.wmf"/><Relationship Id="rId23" Type="http://schemas.openxmlformats.org/officeDocument/2006/relationships/image" Target="../media/image44.wmf"/><Relationship Id="rId10" Type="http://schemas.openxmlformats.org/officeDocument/2006/relationships/oleObject" Target="../embeddings/oleObject31.bin"/><Relationship Id="rId19" Type="http://schemas.openxmlformats.org/officeDocument/2006/relationships/image" Target="../media/image42.wmf"/><Relationship Id="rId4" Type="http://schemas.openxmlformats.org/officeDocument/2006/relationships/oleObject" Target="../embeddings/oleObject28.bin"/><Relationship Id="rId9" Type="http://schemas.openxmlformats.org/officeDocument/2006/relationships/image" Target="../media/image37.wmf"/><Relationship Id="rId14" Type="http://schemas.openxmlformats.org/officeDocument/2006/relationships/oleObject" Target="../embeddings/oleObject33.bin"/><Relationship Id="rId22" Type="http://schemas.openxmlformats.org/officeDocument/2006/relationships/oleObject" Target="../embeddings/oleObject37.bin"/></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47.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40.bin"/><Relationship Id="rId5" Type="http://schemas.openxmlformats.org/officeDocument/2006/relationships/image" Target="../media/image46.wmf"/><Relationship Id="rId4" Type="http://schemas.openxmlformats.org/officeDocument/2006/relationships/oleObject" Target="../embeddings/oleObject39.bin"/></Relationships>
</file>

<file path=ppt/slides/_rels/slide19.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image" Target="../media/image49.png"/><Relationship Id="rId7"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36.wmf"/><Relationship Id="rId5" Type="http://schemas.openxmlformats.org/officeDocument/2006/relationships/oleObject" Target="../embeddings/oleObject41.bin"/><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image" Target="../media/image9.png"/><Relationship Id="rId7" Type="http://schemas.openxmlformats.org/officeDocument/2006/relationships/image" Target="../media/image51.e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44.bin"/><Relationship Id="rId5" Type="http://schemas.openxmlformats.org/officeDocument/2006/relationships/image" Target="../media/image50.emf"/><Relationship Id="rId4" Type="http://schemas.openxmlformats.org/officeDocument/2006/relationships/oleObject" Target="../embeddings/oleObject43.bin"/><Relationship Id="rId9" Type="http://schemas.openxmlformats.org/officeDocument/2006/relationships/image" Target="../media/image52.e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48.bin"/><Relationship Id="rId3" Type="http://schemas.openxmlformats.org/officeDocument/2006/relationships/image" Target="../media/image9.png"/><Relationship Id="rId7" Type="http://schemas.openxmlformats.org/officeDocument/2006/relationships/image" Target="../media/image51.e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47.bin"/><Relationship Id="rId5" Type="http://schemas.openxmlformats.org/officeDocument/2006/relationships/image" Target="../media/image50.emf"/><Relationship Id="rId4" Type="http://schemas.openxmlformats.org/officeDocument/2006/relationships/oleObject" Target="../embeddings/oleObject46.bin"/><Relationship Id="rId9" Type="http://schemas.openxmlformats.org/officeDocument/2006/relationships/image" Target="../media/image52.emf"/></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53.emf"/><Relationship Id="rId4" Type="http://schemas.openxmlformats.org/officeDocument/2006/relationships/oleObject" Target="../embeddings/oleObject49.bin"/></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54.wmf"/><Relationship Id="rId4" Type="http://schemas.openxmlformats.org/officeDocument/2006/relationships/oleObject" Target="../embeddings/oleObject50.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53.bin"/><Relationship Id="rId3" Type="http://schemas.openxmlformats.org/officeDocument/2006/relationships/image" Target="../media/image9.png"/><Relationship Id="rId7" Type="http://schemas.openxmlformats.org/officeDocument/2006/relationships/image" Target="../media/image56.wmf"/><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oleObject" Target="../embeddings/oleObject52.bin"/><Relationship Id="rId5" Type="http://schemas.openxmlformats.org/officeDocument/2006/relationships/image" Target="../media/image55.wmf"/><Relationship Id="rId4" Type="http://schemas.openxmlformats.org/officeDocument/2006/relationships/oleObject" Target="../embeddings/oleObject51.bin"/><Relationship Id="rId9" Type="http://schemas.openxmlformats.org/officeDocument/2006/relationships/image" Target="../media/image57.wmf"/></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59.w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55.bin"/><Relationship Id="rId5" Type="http://schemas.openxmlformats.org/officeDocument/2006/relationships/image" Target="../media/image58.wmf"/><Relationship Id="rId4" Type="http://schemas.openxmlformats.org/officeDocument/2006/relationships/oleObject" Target="../embeddings/oleObject54.bin"/></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image" Target="../media/image60.wmf"/><Relationship Id="rId4" Type="http://schemas.openxmlformats.org/officeDocument/2006/relationships/oleObject" Target="../embeddings/oleObject56.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59.bin"/><Relationship Id="rId3" Type="http://schemas.openxmlformats.org/officeDocument/2006/relationships/image" Target="../media/image9.png"/><Relationship Id="rId7" Type="http://schemas.openxmlformats.org/officeDocument/2006/relationships/image" Target="../media/image62.emf"/><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oleObject" Target="../embeddings/oleObject58.bin"/><Relationship Id="rId5" Type="http://schemas.openxmlformats.org/officeDocument/2006/relationships/image" Target="../media/image61.emf"/><Relationship Id="rId4" Type="http://schemas.openxmlformats.org/officeDocument/2006/relationships/oleObject" Target="../embeddings/oleObject57.bin"/><Relationship Id="rId9" Type="http://schemas.openxmlformats.org/officeDocument/2006/relationships/image" Target="../media/image63.emf"/></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62.bin"/><Relationship Id="rId13" Type="http://schemas.openxmlformats.org/officeDocument/2006/relationships/image" Target="../media/image68.wmf"/><Relationship Id="rId3" Type="http://schemas.openxmlformats.org/officeDocument/2006/relationships/image" Target="../media/image9.png"/><Relationship Id="rId7" Type="http://schemas.openxmlformats.org/officeDocument/2006/relationships/image" Target="../media/image65.wmf"/><Relationship Id="rId12" Type="http://schemas.openxmlformats.org/officeDocument/2006/relationships/oleObject" Target="../embeddings/oleObject64.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oleObject" Target="../embeddings/oleObject61.bin"/><Relationship Id="rId11" Type="http://schemas.openxmlformats.org/officeDocument/2006/relationships/image" Target="../media/image67.wmf"/><Relationship Id="rId5" Type="http://schemas.openxmlformats.org/officeDocument/2006/relationships/image" Target="../media/image64.wmf"/><Relationship Id="rId15" Type="http://schemas.openxmlformats.org/officeDocument/2006/relationships/image" Target="../media/image69.wmf"/><Relationship Id="rId10" Type="http://schemas.openxmlformats.org/officeDocument/2006/relationships/oleObject" Target="../embeddings/oleObject63.bin"/><Relationship Id="rId4" Type="http://schemas.openxmlformats.org/officeDocument/2006/relationships/oleObject" Target="../embeddings/oleObject60.bin"/><Relationship Id="rId9" Type="http://schemas.openxmlformats.org/officeDocument/2006/relationships/image" Target="../media/image66.wmf"/><Relationship Id="rId14" Type="http://schemas.openxmlformats.org/officeDocument/2006/relationships/oleObject" Target="../embeddings/oleObject65.bin"/></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68.bin"/><Relationship Id="rId3" Type="http://schemas.openxmlformats.org/officeDocument/2006/relationships/image" Target="../media/image9.png"/><Relationship Id="rId7" Type="http://schemas.openxmlformats.org/officeDocument/2006/relationships/image" Target="../media/image71.wmf"/><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oleObject" Target="../embeddings/oleObject67.bin"/><Relationship Id="rId5" Type="http://schemas.openxmlformats.org/officeDocument/2006/relationships/image" Target="../media/image70.wmf"/><Relationship Id="rId4" Type="http://schemas.openxmlformats.org/officeDocument/2006/relationships/oleObject" Target="../embeddings/oleObject66.bin"/><Relationship Id="rId9" Type="http://schemas.openxmlformats.org/officeDocument/2006/relationships/image" Target="../media/image72.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71.bin"/><Relationship Id="rId13" Type="http://schemas.openxmlformats.org/officeDocument/2006/relationships/image" Target="../media/image77.wmf"/><Relationship Id="rId3" Type="http://schemas.openxmlformats.org/officeDocument/2006/relationships/image" Target="../media/image9.png"/><Relationship Id="rId7" Type="http://schemas.openxmlformats.org/officeDocument/2006/relationships/image" Target="../media/image74.wmf"/><Relationship Id="rId12" Type="http://schemas.openxmlformats.org/officeDocument/2006/relationships/oleObject" Target="../embeddings/oleObject73.bin"/><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oleObject" Target="../embeddings/oleObject70.bin"/><Relationship Id="rId11" Type="http://schemas.openxmlformats.org/officeDocument/2006/relationships/image" Target="../media/image76.wmf"/><Relationship Id="rId5" Type="http://schemas.openxmlformats.org/officeDocument/2006/relationships/image" Target="../media/image73.wmf"/><Relationship Id="rId10" Type="http://schemas.openxmlformats.org/officeDocument/2006/relationships/oleObject" Target="../embeddings/oleObject72.bin"/><Relationship Id="rId4" Type="http://schemas.openxmlformats.org/officeDocument/2006/relationships/oleObject" Target="../embeddings/oleObject69.bin"/><Relationship Id="rId9" Type="http://schemas.openxmlformats.org/officeDocument/2006/relationships/image" Target="../media/image75.w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76.bin"/><Relationship Id="rId13" Type="http://schemas.openxmlformats.org/officeDocument/2006/relationships/image" Target="../media/image82.wmf"/><Relationship Id="rId3" Type="http://schemas.openxmlformats.org/officeDocument/2006/relationships/image" Target="../media/image9.png"/><Relationship Id="rId7" Type="http://schemas.openxmlformats.org/officeDocument/2006/relationships/image" Target="../media/image79.wmf"/><Relationship Id="rId12" Type="http://schemas.openxmlformats.org/officeDocument/2006/relationships/oleObject" Target="../embeddings/oleObject78.bin"/><Relationship Id="rId17" Type="http://schemas.openxmlformats.org/officeDocument/2006/relationships/image" Target="../media/image84.wmf"/><Relationship Id="rId2" Type="http://schemas.openxmlformats.org/officeDocument/2006/relationships/slideLayout" Target="../slideLayouts/slideLayout2.xml"/><Relationship Id="rId16" Type="http://schemas.openxmlformats.org/officeDocument/2006/relationships/oleObject" Target="../embeddings/oleObject80.bin"/><Relationship Id="rId1" Type="http://schemas.openxmlformats.org/officeDocument/2006/relationships/vmlDrawing" Target="../drawings/vmlDrawing24.vml"/><Relationship Id="rId6" Type="http://schemas.openxmlformats.org/officeDocument/2006/relationships/oleObject" Target="../embeddings/oleObject75.bin"/><Relationship Id="rId11" Type="http://schemas.openxmlformats.org/officeDocument/2006/relationships/image" Target="../media/image81.wmf"/><Relationship Id="rId5" Type="http://schemas.openxmlformats.org/officeDocument/2006/relationships/image" Target="../media/image78.wmf"/><Relationship Id="rId15" Type="http://schemas.openxmlformats.org/officeDocument/2006/relationships/image" Target="../media/image83.wmf"/><Relationship Id="rId10" Type="http://schemas.openxmlformats.org/officeDocument/2006/relationships/oleObject" Target="../embeddings/oleObject77.bin"/><Relationship Id="rId4" Type="http://schemas.openxmlformats.org/officeDocument/2006/relationships/oleObject" Target="../embeddings/oleObject74.bin"/><Relationship Id="rId9" Type="http://schemas.openxmlformats.org/officeDocument/2006/relationships/image" Target="../media/image80.wmf"/><Relationship Id="rId14" Type="http://schemas.openxmlformats.org/officeDocument/2006/relationships/oleObject" Target="../embeddings/oleObject79.bin"/></Relationships>
</file>

<file path=ppt/slides/_rels/slide37.xml.rels><?xml version="1.0" encoding="UTF-8" standalone="yes"?>
<Relationships xmlns="http://schemas.openxmlformats.org/package/2006/relationships"><Relationship Id="rId8" Type="http://schemas.openxmlformats.org/officeDocument/2006/relationships/image" Target="../media/image86.wmf"/><Relationship Id="rId13" Type="http://schemas.openxmlformats.org/officeDocument/2006/relationships/image" Target="../media/image87.wmf"/><Relationship Id="rId18" Type="http://schemas.openxmlformats.org/officeDocument/2006/relationships/image" Target="../media/image89.wmf"/><Relationship Id="rId3" Type="http://schemas.openxmlformats.org/officeDocument/2006/relationships/image" Target="../media/image9.png"/><Relationship Id="rId7" Type="http://schemas.openxmlformats.org/officeDocument/2006/relationships/oleObject" Target="../embeddings/oleObject82.bin"/><Relationship Id="rId12" Type="http://schemas.openxmlformats.org/officeDocument/2006/relationships/oleObject" Target="../embeddings/oleObject83.bin"/><Relationship Id="rId17" Type="http://schemas.openxmlformats.org/officeDocument/2006/relationships/oleObject" Target="../embeddings/oleObject85.bin"/><Relationship Id="rId2" Type="http://schemas.openxmlformats.org/officeDocument/2006/relationships/slideLayout" Target="../slideLayouts/slideLayout2.xml"/><Relationship Id="rId16" Type="http://schemas.openxmlformats.org/officeDocument/2006/relationships/image" Target="../media/image94.png"/><Relationship Id="rId1" Type="http://schemas.openxmlformats.org/officeDocument/2006/relationships/vmlDrawing" Target="../drawings/vmlDrawing25.vml"/><Relationship Id="rId6" Type="http://schemas.openxmlformats.org/officeDocument/2006/relationships/image" Target="../media/image90.png"/><Relationship Id="rId11" Type="http://schemas.openxmlformats.org/officeDocument/2006/relationships/image" Target="../media/image93.png"/><Relationship Id="rId5" Type="http://schemas.openxmlformats.org/officeDocument/2006/relationships/image" Target="../media/image85.wmf"/><Relationship Id="rId15" Type="http://schemas.openxmlformats.org/officeDocument/2006/relationships/image" Target="../media/image88.wmf"/><Relationship Id="rId10" Type="http://schemas.openxmlformats.org/officeDocument/2006/relationships/image" Target="../media/image92.png"/><Relationship Id="rId4" Type="http://schemas.openxmlformats.org/officeDocument/2006/relationships/oleObject" Target="../embeddings/oleObject81.bin"/><Relationship Id="rId9" Type="http://schemas.openxmlformats.org/officeDocument/2006/relationships/image" Target="../media/image91.png"/><Relationship Id="rId14" Type="http://schemas.openxmlformats.org/officeDocument/2006/relationships/oleObject" Target="../embeddings/oleObject84.bin"/></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95.wmf"/><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oleObject" Target="../embeddings/oleObject86.bin"/><Relationship Id="rId5" Type="http://schemas.openxmlformats.org/officeDocument/2006/relationships/image" Target="../media/image96.png"/><Relationship Id="rId4" Type="http://schemas.openxmlformats.org/officeDocument/2006/relationships/image" Target="../media/image94.png"/></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image" Target="../media/image9.png"/><Relationship Id="rId7" Type="http://schemas.openxmlformats.org/officeDocument/2006/relationships/image" Target="../media/image98.wmf"/><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oleObject" Target="../embeddings/oleObject88.bin"/><Relationship Id="rId5" Type="http://schemas.openxmlformats.org/officeDocument/2006/relationships/image" Target="../media/image97.wmf"/><Relationship Id="rId4" Type="http://schemas.openxmlformats.org/officeDocument/2006/relationships/oleObject" Target="../embeddings/oleObject87.bin"/><Relationship Id="rId9" Type="http://schemas.openxmlformats.org/officeDocument/2006/relationships/image" Target="../media/image99.wmf"/></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01.wmf"/><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oleObject" Target="../embeddings/oleObject91.bin"/><Relationship Id="rId5" Type="http://schemas.openxmlformats.org/officeDocument/2006/relationships/image" Target="../media/image100.wmf"/><Relationship Id="rId4" Type="http://schemas.openxmlformats.org/officeDocument/2006/relationships/oleObject" Target="../embeddings/oleObject90.bin"/></Relationships>
</file>

<file path=ppt/slides/_rels/slide41.x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image" Target="../media/image9.png"/><Relationship Id="rId7" Type="http://schemas.openxmlformats.org/officeDocument/2006/relationships/oleObject" Target="../embeddings/oleObject93.bin"/><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image" Target="../media/image70.wmf"/><Relationship Id="rId5" Type="http://schemas.openxmlformats.org/officeDocument/2006/relationships/oleObject" Target="../embeddings/oleObject92.bin"/><Relationship Id="rId4" Type="http://schemas.openxmlformats.org/officeDocument/2006/relationships/image" Target="../media/image102.png"/></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04.wmf"/><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oleObject" Target="../embeddings/oleObject95.bin"/><Relationship Id="rId5" Type="http://schemas.openxmlformats.org/officeDocument/2006/relationships/image" Target="../media/image103.wmf"/><Relationship Id="rId4" Type="http://schemas.openxmlformats.org/officeDocument/2006/relationships/oleObject" Target="../embeddings/oleObject94.bin"/></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98.bin"/><Relationship Id="rId3" Type="http://schemas.openxmlformats.org/officeDocument/2006/relationships/image" Target="../media/image9.png"/><Relationship Id="rId7" Type="http://schemas.openxmlformats.org/officeDocument/2006/relationships/image" Target="../media/image106.wmf"/><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oleObject" Target="../embeddings/oleObject97.bin"/><Relationship Id="rId11" Type="http://schemas.openxmlformats.org/officeDocument/2006/relationships/image" Target="../media/image108.wmf"/><Relationship Id="rId5" Type="http://schemas.openxmlformats.org/officeDocument/2006/relationships/image" Target="../media/image105.wmf"/><Relationship Id="rId10" Type="http://schemas.openxmlformats.org/officeDocument/2006/relationships/oleObject" Target="../embeddings/oleObject99.bin"/><Relationship Id="rId4" Type="http://schemas.openxmlformats.org/officeDocument/2006/relationships/oleObject" Target="../embeddings/oleObject96.bin"/><Relationship Id="rId9" Type="http://schemas.openxmlformats.org/officeDocument/2006/relationships/image" Target="../media/image107.wmf"/></Relationships>
</file>

<file path=ppt/slides/_rels/slide46.xml.rels><?xml version="1.0" encoding="UTF-8" standalone="yes"?>
<Relationships xmlns="http://schemas.openxmlformats.org/package/2006/relationships"><Relationship Id="rId8" Type="http://schemas.openxmlformats.org/officeDocument/2006/relationships/image" Target="../media/image110.wmf"/><Relationship Id="rId3" Type="http://schemas.openxmlformats.org/officeDocument/2006/relationships/notesSlide" Target="../notesSlides/notesSlide6.xml"/><Relationship Id="rId7" Type="http://schemas.openxmlformats.org/officeDocument/2006/relationships/oleObject" Target="../embeddings/oleObject101.bin"/><Relationship Id="rId2" Type="http://schemas.openxmlformats.org/officeDocument/2006/relationships/slideLayout" Target="../slideLayouts/slideLayout2.xml"/><Relationship Id="rId1" Type="http://schemas.openxmlformats.org/officeDocument/2006/relationships/vmlDrawing" Target="../drawings/vmlDrawing32.vml"/><Relationship Id="rId6" Type="http://schemas.openxmlformats.org/officeDocument/2006/relationships/image" Target="../media/image109.wmf"/><Relationship Id="rId5" Type="http://schemas.openxmlformats.org/officeDocument/2006/relationships/oleObject" Target="../embeddings/oleObject100.bin"/><Relationship Id="rId10" Type="http://schemas.openxmlformats.org/officeDocument/2006/relationships/image" Target="../media/image111.wmf"/><Relationship Id="rId4" Type="http://schemas.openxmlformats.org/officeDocument/2006/relationships/image" Target="../media/image9.png"/><Relationship Id="rId9" Type="http://schemas.openxmlformats.org/officeDocument/2006/relationships/oleObject" Target="../embeddings/oleObject102.bin"/></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105.bin"/><Relationship Id="rId13" Type="http://schemas.openxmlformats.org/officeDocument/2006/relationships/image" Target="../media/image116.wmf"/><Relationship Id="rId3" Type="http://schemas.openxmlformats.org/officeDocument/2006/relationships/image" Target="../media/image9.png"/><Relationship Id="rId7" Type="http://schemas.openxmlformats.org/officeDocument/2006/relationships/image" Target="../media/image113.wmf"/><Relationship Id="rId12" Type="http://schemas.openxmlformats.org/officeDocument/2006/relationships/oleObject" Target="../embeddings/oleObject107.bin"/><Relationship Id="rId17" Type="http://schemas.openxmlformats.org/officeDocument/2006/relationships/image" Target="../media/image118.wmf"/><Relationship Id="rId2" Type="http://schemas.openxmlformats.org/officeDocument/2006/relationships/slideLayout" Target="../slideLayouts/slideLayout2.xml"/><Relationship Id="rId16" Type="http://schemas.openxmlformats.org/officeDocument/2006/relationships/oleObject" Target="../embeddings/oleObject109.bin"/><Relationship Id="rId1" Type="http://schemas.openxmlformats.org/officeDocument/2006/relationships/vmlDrawing" Target="../drawings/vmlDrawing33.vml"/><Relationship Id="rId6" Type="http://schemas.openxmlformats.org/officeDocument/2006/relationships/oleObject" Target="../embeddings/oleObject104.bin"/><Relationship Id="rId11" Type="http://schemas.openxmlformats.org/officeDocument/2006/relationships/image" Target="../media/image115.wmf"/><Relationship Id="rId5" Type="http://schemas.openxmlformats.org/officeDocument/2006/relationships/image" Target="../media/image112.wmf"/><Relationship Id="rId15" Type="http://schemas.openxmlformats.org/officeDocument/2006/relationships/image" Target="../media/image117.wmf"/><Relationship Id="rId10" Type="http://schemas.openxmlformats.org/officeDocument/2006/relationships/oleObject" Target="../embeddings/oleObject106.bin"/><Relationship Id="rId4" Type="http://schemas.openxmlformats.org/officeDocument/2006/relationships/oleObject" Target="../embeddings/oleObject103.bin"/><Relationship Id="rId9" Type="http://schemas.openxmlformats.org/officeDocument/2006/relationships/image" Target="../media/image114.wmf"/><Relationship Id="rId14" Type="http://schemas.openxmlformats.org/officeDocument/2006/relationships/oleObject" Target="../embeddings/oleObject108.bin"/></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112.bin"/><Relationship Id="rId13" Type="http://schemas.openxmlformats.org/officeDocument/2006/relationships/image" Target="../media/image122.wmf"/><Relationship Id="rId18" Type="http://schemas.openxmlformats.org/officeDocument/2006/relationships/oleObject" Target="../embeddings/oleObject117.bin"/><Relationship Id="rId3" Type="http://schemas.openxmlformats.org/officeDocument/2006/relationships/image" Target="../media/image9.png"/><Relationship Id="rId7" Type="http://schemas.openxmlformats.org/officeDocument/2006/relationships/image" Target="../media/image113.wmf"/><Relationship Id="rId12" Type="http://schemas.openxmlformats.org/officeDocument/2006/relationships/oleObject" Target="../embeddings/oleObject114.bin"/><Relationship Id="rId17" Type="http://schemas.openxmlformats.org/officeDocument/2006/relationships/image" Target="../media/image124.wmf"/><Relationship Id="rId2" Type="http://schemas.openxmlformats.org/officeDocument/2006/relationships/slideLayout" Target="../slideLayouts/slideLayout2.xml"/><Relationship Id="rId16" Type="http://schemas.openxmlformats.org/officeDocument/2006/relationships/oleObject" Target="../embeddings/oleObject116.bin"/><Relationship Id="rId1" Type="http://schemas.openxmlformats.org/officeDocument/2006/relationships/vmlDrawing" Target="../drawings/vmlDrawing34.vml"/><Relationship Id="rId6" Type="http://schemas.openxmlformats.org/officeDocument/2006/relationships/oleObject" Target="../embeddings/oleObject111.bin"/><Relationship Id="rId11" Type="http://schemas.openxmlformats.org/officeDocument/2006/relationships/image" Target="../media/image121.wmf"/><Relationship Id="rId5" Type="http://schemas.openxmlformats.org/officeDocument/2006/relationships/image" Target="../media/image119.wmf"/><Relationship Id="rId15" Type="http://schemas.openxmlformats.org/officeDocument/2006/relationships/image" Target="../media/image123.wmf"/><Relationship Id="rId10" Type="http://schemas.openxmlformats.org/officeDocument/2006/relationships/oleObject" Target="../embeddings/oleObject113.bin"/><Relationship Id="rId19" Type="http://schemas.openxmlformats.org/officeDocument/2006/relationships/image" Target="../media/image125.wmf"/><Relationship Id="rId4" Type="http://schemas.openxmlformats.org/officeDocument/2006/relationships/oleObject" Target="../embeddings/oleObject110.bin"/><Relationship Id="rId9" Type="http://schemas.openxmlformats.org/officeDocument/2006/relationships/image" Target="../media/image120.wmf"/><Relationship Id="rId14" Type="http://schemas.openxmlformats.org/officeDocument/2006/relationships/oleObject" Target="../embeddings/oleObject115.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20.bin"/><Relationship Id="rId13" Type="http://schemas.openxmlformats.org/officeDocument/2006/relationships/image" Target="../media/image128.wmf"/><Relationship Id="rId3" Type="http://schemas.openxmlformats.org/officeDocument/2006/relationships/image" Target="../media/image9.png"/><Relationship Id="rId7" Type="http://schemas.openxmlformats.org/officeDocument/2006/relationships/image" Target="../media/image113.wmf"/><Relationship Id="rId12" Type="http://schemas.openxmlformats.org/officeDocument/2006/relationships/oleObject" Target="../embeddings/oleObject122.bin"/><Relationship Id="rId2" Type="http://schemas.openxmlformats.org/officeDocument/2006/relationships/slideLayout" Target="../slideLayouts/slideLayout2.xml"/><Relationship Id="rId1" Type="http://schemas.openxmlformats.org/officeDocument/2006/relationships/vmlDrawing" Target="../drawings/vmlDrawing35.vml"/><Relationship Id="rId6" Type="http://schemas.openxmlformats.org/officeDocument/2006/relationships/oleObject" Target="../embeddings/oleObject119.bin"/><Relationship Id="rId11" Type="http://schemas.openxmlformats.org/officeDocument/2006/relationships/image" Target="../media/image127.wmf"/><Relationship Id="rId5" Type="http://schemas.openxmlformats.org/officeDocument/2006/relationships/image" Target="../media/image119.wmf"/><Relationship Id="rId15" Type="http://schemas.openxmlformats.org/officeDocument/2006/relationships/image" Target="../media/image129.wmf"/><Relationship Id="rId10" Type="http://schemas.openxmlformats.org/officeDocument/2006/relationships/oleObject" Target="../embeddings/oleObject121.bin"/><Relationship Id="rId4" Type="http://schemas.openxmlformats.org/officeDocument/2006/relationships/oleObject" Target="../embeddings/oleObject118.bin"/><Relationship Id="rId9" Type="http://schemas.openxmlformats.org/officeDocument/2006/relationships/image" Target="../media/image126.wmf"/><Relationship Id="rId14" Type="http://schemas.openxmlformats.org/officeDocument/2006/relationships/oleObject" Target="../embeddings/oleObject123.bin"/></Relationships>
</file>

<file path=ppt/slides/_rels/slide50.xml.rels><?xml version="1.0" encoding="UTF-8" standalone="yes"?>
<Relationships xmlns="http://schemas.openxmlformats.org/package/2006/relationships"><Relationship Id="rId8" Type="http://schemas.openxmlformats.org/officeDocument/2006/relationships/image" Target="../media/image113.wmf"/><Relationship Id="rId3" Type="http://schemas.openxmlformats.org/officeDocument/2006/relationships/notesSlide" Target="../notesSlides/notesSlide7.xml"/><Relationship Id="rId7" Type="http://schemas.openxmlformats.org/officeDocument/2006/relationships/oleObject" Target="../embeddings/oleObject125.bin"/><Relationship Id="rId2" Type="http://schemas.openxmlformats.org/officeDocument/2006/relationships/slideLayout" Target="../slideLayouts/slideLayout2.xml"/><Relationship Id="rId1" Type="http://schemas.openxmlformats.org/officeDocument/2006/relationships/vmlDrawing" Target="../drawings/vmlDrawing36.vml"/><Relationship Id="rId6" Type="http://schemas.openxmlformats.org/officeDocument/2006/relationships/image" Target="../media/image119.wmf"/><Relationship Id="rId5" Type="http://schemas.openxmlformats.org/officeDocument/2006/relationships/oleObject" Target="../embeddings/oleObject124.bin"/><Relationship Id="rId10" Type="http://schemas.openxmlformats.org/officeDocument/2006/relationships/image" Target="../media/image130.wmf"/><Relationship Id="rId4" Type="http://schemas.openxmlformats.org/officeDocument/2006/relationships/image" Target="../media/image9.png"/><Relationship Id="rId9" Type="http://schemas.openxmlformats.org/officeDocument/2006/relationships/oleObject" Target="../embeddings/oleObject126.bin"/></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129.bin"/><Relationship Id="rId13" Type="http://schemas.openxmlformats.org/officeDocument/2006/relationships/image" Target="../media/image133.wmf"/><Relationship Id="rId3" Type="http://schemas.openxmlformats.org/officeDocument/2006/relationships/image" Target="../media/image9.png"/><Relationship Id="rId7" Type="http://schemas.openxmlformats.org/officeDocument/2006/relationships/image" Target="../media/image113.wmf"/><Relationship Id="rId12" Type="http://schemas.openxmlformats.org/officeDocument/2006/relationships/oleObject" Target="../embeddings/oleObject131.bin"/><Relationship Id="rId2" Type="http://schemas.openxmlformats.org/officeDocument/2006/relationships/slideLayout" Target="../slideLayouts/slideLayout2.xml"/><Relationship Id="rId1" Type="http://schemas.openxmlformats.org/officeDocument/2006/relationships/vmlDrawing" Target="../drawings/vmlDrawing37.vml"/><Relationship Id="rId6" Type="http://schemas.openxmlformats.org/officeDocument/2006/relationships/oleObject" Target="../embeddings/oleObject128.bin"/><Relationship Id="rId11" Type="http://schemas.openxmlformats.org/officeDocument/2006/relationships/image" Target="../media/image132.wmf"/><Relationship Id="rId5" Type="http://schemas.openxmlformats.org/officeDocument/2006/relationships/image" Target="../media/image119.wmf"/><Relationship Id="rId10" Type="http://schemas.openxmlformats.org/officeDocument/2006/relationships/oleObject" Target="../embeddings/oleObject130.bin"/><Relationship Id="rId4" Type="http://schemas.openxmlformats.org/officeDocument/2006/relationships/oleObject" Target="../embeddings/oleObject127.bin"/><Relationship Id="rId9" Type="http://schemas.openxmlformats.org/officeDocument/2006/relationships/image" Target="../media/image131.wmf"/></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13.wmf"/><Relationship Id="rId2" Type="http://schemas.openxmlformats.org/officeDocument/2006/relationships/slideLayout" Target="../slideLayouts/slideLayout2.xml"/><Relationship Id="rId1" Type="http://schemas.openxmlformats.org/officeDocument/2006/relationships/vmlDrawing" Target="../drawings/vmlDrawing38.vml"/><Relationship Id="rId6" Type="http://schemas.openxmlformats.org/officeDocument/2006/relationships/oleObject" Target="../embeddings/oleObject133.bin"/><Relationship Id="rId5" Type="http://schemas.openxmlformats.org/officeDocument/2006/relationships/image" Target="../media/image119.wmf"/><Relationship Id="rId4" Type="http://schemas.openxmlformats.org/officeDocument/2006/relationships/oleObject" Target="../embeddings/oleObject132.bin"/></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136.bin"/><Relationship Id="rId3" Type="http://schemas.openxmlformats.org/officeDocument/2006/relationships/image" Target="../media/image9.png"/><Relationship Id="rId7" Type="http://schemas.openxmlformats.org/officeDocument/2006/relationships/image" Target="../media/image135.wmf"/><Relationship Id="rId2" Type="http://schemas.openxmlformats.org/officeDocument/2006/relationships/slideLayout" Target="../slideLayouts/slideLayout2.xml"/><Relationship Id="rId1" Type="http://schemas.openxmlformats.org/officeDocument/2006/relationships/vmlDrawing" Target="../drawings/vmlDrawing39.vml"/><Relationship Id="rId6" Type="http://schemas.openxmlformats.org/officeDocument/2006/relationships/oleObject" Target="../embeddings/oleObject135.bin"/><Relationship Id="rId11" Type="http://schemas.openxmlformats.org/officeDocument/2006/relationships/image" Target="../media/image137.wmf"/><Relationship Id="rId5" Type="http://schemas.openxmlformats.org/officeDocument/2006/relationships/image" Target="../media/image134.wmf"/><Relationship Id="rId10" Type="http://schemas.openxmlformats.org/officeDocument/2006/relationships/oleObject" Target="../embeddings/oleObject137.bin"/><Relationship Id="rId4" Type="http://schemas.openxmlformats.org/officeDocument/2006/relationships/oleObject" Target="../embeddings/oleObject134.bin"/><Relationship Id="rId9" Type="http://schemas.openxmlformats.org/officeDocument/2006/relationships/image" Target="../media/image136.wmf"/></Relationships>
</file>

<file path=ppt/slides/_rels/slide5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9.wmf"/><Relationship Id="rId2" Type="http://schemas.openxmlformats.org/officeDocument/2006/relationships/slideLayout" Target="../slideLayouts/slideLayout2.xml"/><Relationship Id="rId1" Type="http://schemas.openxmlformats.org/officeDocument/2006/relationships/vmlDrawing" Target="../drawings/vmlDrawing40.vml"/><Relationship Id="rId6" Type="http://schemas.openxmlformats.org/officeDocument/2006/relationships/oleObject" Target="../embeddings/oleObject139.bin"/><Relationship Id="rId5" Type="http://schemas.openxmlformats.org/officeDocument/2006/relationships/image" Target="../media/image138.wmf"/><Relationship Id="rId4" Type="http://schemas.openxmlformats.org/officeDocument/2006/relationships/oleObject" Target="../embeddings/oleObject138.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142.bin"/><Relationship Id="rId13" Type="http://schemas.openxmlformats.org/officeDocument/2006/relationships/image" Target="../media/image144.wmf"/><Relationship Id="rId3" Type="http://schemas.openxmlformats.org/officeDocument/2006/relationships/oleObject" Target="../embeddings/oleObject140.bin"/><Relationship Id="rId7" Type="http://schemas.openxmlformats.org/officeDocument/2006/relationships/image" Target="../media/image141.wmf"/><Relationship Id="rId12" Type="http://schemas.openxmlformats.org/officeDocument/2006/relationships/oleObject" Target="../embeddings/oleObject144.bin"/><Relationship Id="rId17" Type="http://schemas.openxmlformats.org/officeDocument/2006/relationships/image" Target="../media/image146.wmf"/><Relationship Id="rId2" Type="http://schemas.openxmlformats.org/officeDocument/2006/relationships/slideLayout" Target="../slideLayouts/slideLayout2.xml"/><Relationship Id="rId16" Type="http://schemas.openxmlformats.org/officeDocument/2006/relationships/oleObject" Target="../embeddings/oleObject146.bin"/><Relationship Id="rId1" Type="http://schemas.openxmlformats.org/officeDocument/2006/relationships/vmlDrawing" Target="../drawings/vmlDrawing41.vml"/><Relationship Id="rId6" Type="http://schemas.openxmlformats.org/officeDocument/2006/relationships/oleObject" Target="../embeddings/oleObject141.bin"/><Relationship Id="rId11" Type="http://schemas.openxmlformats.org/officeDocument/2006/relationships/image" Target="../media/image143.wmf"/><Relationship Id="rId5" Type="http://schemas.openxmlformats.org/officeDocument/2006/relationships/image" Target="../media/image9.png"/><Relationship Id="rId15" Type="http://schemas.openxmlformats.org/officeDocument/2006/relationships/image" Target="../media/image145.wmf"/><Relationship Id="rId10" Type="http://schemas.openxmlformats.org/officeDocument/2006/relationships/oleObject" Target="../embeddings/oleObject143.bin"/><Relationship Id="rId4" Type="http://schemas.openxmlformats.org/officeDocument/2006/relationships/image" Target="../media/image140.wmf"/><Relationship Id="rId9" Type="http://schemas.openxmlformats.org/officeDocument/2006/relationships/image" Target="../media/image142.wmf"/><Relationship Id="rId14" Type="http://schemas.openxmlformats.org/officeDocument/2006/relationships/oleObject" Target="../embeddings/oleObject145.bin"/></Relationships>
</file>

<file path=ppt/slides/_rels/slide5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48.wmf"/><Relationship Id="rId2" Type="http://schemas.openxmlformats.org/officeDocument/2006/relationships/slideLayout" Target="../slideLayouts/slideLayout2.xml"/><Relationship Id="rId1" Type="http://schemas.openxmlformats.org/officeDocument/2006/relationships/vmlDrawing" Target="../drawings/vmlDrawing42.vml"/><Relationship Id="rId6" Type="http://schemas.openxmlformats.org/officeDocument/2006/relationships/oleObject" Target="../embeddings/oleObject148.bin"/><Relationship Id="rId5" Type="http://schemas.openxmlformats.org/officeDocument/2006/relationships/image" Target="../media/image147.wmf"/><Relationship Id="rId4" Type="http://schemas.openxmlformats.org/officeDocument/2006/relationships/oleObject" Target="../embeddings/oleObject147.bin"/></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151.bin"/><Relationship Id="rId3" Type="http://schemas.openxmlformats.org/officeDocument/2006/relationships/image" Target="../media/image9.png"/><Relationship Id="rId7" Type="http://schemas.openxmlformats.org/officeDocument/2006/relationships/image" Target="../media/image150.wmf"/><Relationship Id="rId2" Type="http://schemas.openxmlformats.org/officeDocument/2006/relationships/slideLayout" Target="../slideLayouts/slideLayout2.xml"/><Relationship Id="rId1" Type="http://schemas.openxmlformats.org/officeDocument/2006/relationships/vmlDrawing" Target="../drawings/vmlDrawing43.vml"/><Relationship Id="rId6" Type="http://schemas.openxmlformats.org/officeDocument/2006/relationships/oleObject" Target="../embeddings/oleObject150.bin"/><Relationship Id="rId11" Type="http://schemas.openxmlformats.org/officeDocument/2006/relationships/image" Target="../media/image148.wmf"/><Relationship Id="rId5" Type="http://schemas.openxmlformats.org/officeDocument/2006/relationships/image" Target="../media/image149.wmf"/><Relationship Id="rId10" Type="http://schemas.openxmlformats.org/officeDocument/2006/relationships/oleObject" Target="../embeddings/oleObject152.bin"/><Relationship Id="rId4" Type="http://schemas.openxmlformats.org/officeDocument/2006/relationships/oleObject" Target="../embeddings/oleObject149.bin"/><Relationship Id="rId9" Type="http://schemas.openxmlformats.org/officeDocument/2006/relationships/image" Target="../media/image151.wmf"/></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155.bin"/><Relationship Id="rId13" Type="http://schemas.openxmlformats.org/officeDocument/2006/relationships/image" Target="../media/image156.wmf"/><Relationship Id="rId3" Type="http://schemas.openxmlformats.org/officeDocument/2006/relationships/image" Target="../media/image9.png"/><Relationship Id="rId7" Type="http://schemas.openxmlformats.org/officeDocument/2006/relationships/image" Target="../media/image153.wmf"/><Relationship Id="rId12" Type="http://schemas.openxmlformats.org/officeDocument/2006/relationships/oleObject" Target="../embeddings/oleObject157.bin"/><Relationship Id="rId17" Type="http://schemas.openxmlformats.org/officeDocument/2006/relationships/image" Target="../media/image158.wmf"/><Relationship Id="rId2" Type="http://schemas.openxmlformats.org/officeDocument/2006/relationships/slideLayout" Target="../slideLayouts/slideLayout2.xml"/><Relationship Id="rId16" Type="http://schemas.openxmlformats.org/officeDocument/2006/relationships/oleObject" Target="../embeddings/oleObject159.bin"/><Relationship Id="rId1" Type="http://schemas.openxmlformats.org/officeDocument/2006/relationships/vmlDrawing" Target="../drawings/vmlDrawing44.vml"/><Relationship Id="rId6" Type="http://schemas.openxmlformats.org/officeDocument/2006/relationships/oleObject" Target="../embeddings/oleObject154.bin"/><Relationship Id="rId11" Type="http://schemas.openxmlformats.org/officeDocument/2006/relationships/image" Target="../media/image155.wmf"/><Relationship Id="rId5" Type="http://schemas.openxmlformats.org/officeDocument/2006/relationships/image" Target="../media/image152.wmf"/><Relationship Id="rId15" Type="http://schemas.openxmlformats.org/officeDocument/2006/relationships/image" Target="../media/image157.wmf"/><Relationship Id="rId10" Type="http://schemas.openxmlformats.org/officeDocument/2006/relationships/oleObject" Target="../embeddings/oleObject156.bin"/><Relationship Id="rId4" Type="http://schemas.openxmlformats.org/officeDocument/2006/relationships/oleObject" Target="../embeddings/oleObject153.bin"/><Relationship Id="rId9" Type="http://schemas.openxmlformats.org/officeDocument/2006/relationships/image" Target="../media/image154.wmf"/><Relationship Id="rId14" Type="http://schemas.openxmlformats.org/officeDocument/2006/relationships/oleObject" Target="../embeddings/oleObject158.bin"/></Relationships>
</file>

<file path=ppt/slides/_rels/slide59.xml.rels><?xml version="1.0" encoding="UTF-8" standalone="yes"?>
<Relationships xmlns="http://schemas.openxmlformats.org/package/2006/relationships"><Relationship Id="rId8" Type="http://schemas.openxmlformats.org/officeDocument/2006/relationships/image" Target="../media/image164.jpeg"/><Relationship Id="rId13" Type="http://schemas.openxmlformats.org/officeDocument/2006/relationships/oleObject" Target="../embeddings/oleObject164.bin"/><Relationship Id="rId3" Type="http://schemas.openxmlformats.org/officeDocument/2006/relationships/image" Target="../media/image9.png"/><Relationship Id="rId7" Type="http://schemas.openxmlformats.org/officeDocument/2006/relationships/image" Target="../media/image156.wmf"/><Relationship Id="rId12" Type="http://schemas.openxmlformats.org/officeDocument/2006/relationships/image" Target="../media/image161.wmf"/><Relationship Id="rId2" Type="http://schemas.openxmlformats.org/officeDocument/2006/relationships/slideLayout" Target="../slideLayouts/slideLayout2.xml"/><Relationship Id="rId16" Type="http://schemas.openxmlformats.org/officeDocument/2006/relationships/image" Target="../media/image163.wmf"/><Relationship Id="rId1" Type="http://schemas.openxmlformats.org/officeDocument/2006/relationships/vmlDrawing" Target="../drawings/vmlDrawing45.vml"/><Relationship Id="rId6" Type="http://schemas.openxmlformats.org/officeDocument/2006/relationships/oleObject" Target="../embeddings/oleObject161.bin"/><Relationship Id="rId11" Type="http://schemas.openxmlformats.org/officeDocument/2006/relationships/oleObject" Target="../embeddings/oleObject163.bin"/><Relationship Id="rId5" Type="http://schemas.openxmlformats.org/officeDocument/2006/relationships/image" Target="../media/image159.wmf"/><Relationship Id="rId15" Type="http://schemas.openxmlformats.org/officeDocument/2006/relationships/oleObject" Target="../embeddings/oleObject165.bin"/><Relationship Id="rId10" Type="http://schemas.openxmlformats.org/officeDocument/2006/relationships/image" Target="../media/image160.wmf"/><Relationship Id="rId4" Type="http://schemas.openxmlformats.org/officeDocument/2006/relationships/oleObject" Target="../embeddings/oleObject160.bin"/><Relationship Id="rId9" Type="http://schemas.openxmlformats.org/officeDocument/2006/relationships/oleObject" Target="../embeddings/oleObject162.bin"/><Relationship Id="rId14" Type="http://schemas.openxmlformats.org/officeDocument/2006/relationships/image" Target="../media/image162.wmf"/></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167.bin"/><Relationship Id="rId3" Type="http://schemas.openxmlformats.org/officeDocument/2006/relationships/image" Target="../media/image9.png"/><Relationship Id="rId7" Type="http://schemas.openxmlformats.org/officeDocument/2006/relationships/image" Target="../media/image169.png"/><Relationship Id="rId2" Type="http://schemas.openxmlformats.org/officeDocument/2006/relationships/slideLayout" Target="../slideLayouts/slideLayout2.xml"/><Relationship Id="rId1" Type="http://schemas.openxmlformats.org/officeDocument/2006/relationships/vmlDrawing" Target="../drawings/vmlDrawing46.vml"/><Relationship Id="rId6" Type="http://schemas.openxmlformats.org/officeDocument/2006/relationships/image" Target="../media/image165.wmf"/><Relationship Id="rId11" Type="http://schemas.openxmlformats.org/officeDocument/2006/relationships/image" Target="../media/image167.wmf"/><Relationship Id="rId5" Type="http://schemas.openxmlformats.org/officeDocument/2006/relationships/oleObject" Target="../embeddings/oleObject166.bin"/><Relationship Id="rId10" Type="http://schemas.openxmlformats.org/officeDocument/2006/relationships/oleObject" Target="../embeddings/oleObject168.bin"/><Relationship Id="rId4" Type="http://schemas.openxmlformats.org/officeDocument/2006/relationships/image" Target="../media/image168.png"/><Relationship Id="rId9" Type="http://schemas.openxmlformats.org/officeDocument/2006/relationships/image" Target="../media/image166.wmf"/></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170.bin"/><Relationship Id="rId13" Type="http://schemas.openxmlformats.org/officeDocument/2006/relationships/image" Target="../media/image172.wmf"/><Relationship Id="rId3" Type="http://schemas.openxmlformats.org/officeDocument/2006/relationships/image" Target="../media/image9.png"/><Relationship Id="rId7" Type="http://schemas.openxmlformats.org/officeDocument/2006/relationships/image" Target="../media/image169.png"/><Relationship Id="rId12" Type="http://schemas.openxmlformats.org/officeDocument/2006/relationships/oleObject" Target="../embeddings/oleObject172.bin"/><Relationship Id="rId2" Type="http://schemas.openxmlformats.org/officeDocument/2006/relationships/slideLayout" Target="../slideLayouts/slideLayout2.xml"/><Relationship Id="rId1" Type="http://schemas.openxmlformats.org/officeDocument/2006/relationships/vmlDrawing" Target="../drawings/vmlDrawing47.vml"/><Relationship Id="rId6" Type="http://schemas.openxmlformats.org/officeDocument/2006/relationships/image" Target="../media/image165.wmf"/><Relationship Id="rId11" Type="http://schemas.openxmlformats.org/officeDocument/2006/relationships/image" Target="../media/image171.wmf"/><Relationship Id="rId5" Type="http://schemas.openxmlformats.org/officeDocument/2006/relationships/oleObject" Target="../embeddings/oleObject169.bin"/><Relationship Id="rId15" Type="http://schemas.openxmlformats.org/officeDocument/2006/relationships/oleObject" Target="../embeddings/oleObject173.bin"/><Relationship Id="rId10" Type="http://schemas.openxmlformats.org/officeDocument/2006/relationships/oleObject" Target="../embeddings/oleObject171.bin"/><Relationship Id="rId4" Type="http://schemas.openxmlformats.org/officeDocument/2006/relationships/image" Target="../media/image168.png"/><Relationship Id="rId9" Type="http://schemas.openxmlformats.org/officeDocument/2006/relationships/image" Target="../media/image170.wmf"/><Relationship Id="rId14" Type="http://schemas.openxmlformats.org/officeDocument/2006/relationships/image" Target="../media/image173.png"/></Relationships>
</file>

<file path=ppt/slides/_rels/slide6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75.jpeg"/><Relationship Id="rId2" Type="http://schemas.openxmlformats.org/officeDocument/2006/relationships/slideLayout" Target="../slideLayouts/slideLayout2.xml"/><Relationship Id="rId1" Type="http://schemas.openxmlformats.org/officeDocument/2006/relationships/vmlDrawing" Target="../drawings/vmlDrawing48.vml"/><Relationship Id="rId6" Type="http://schemas.openxmlformats.org/officeDocument/2006/relationships/image" Target="../media/image165.wmf"/><Relationship Id="rId5" Type="http://schemas.openxmlformats.org/officeDocument/2006/relationships/oleObject" Target="../embeddings/oleObject174.bin"/><Relationship Id="rId4" Type="http://schemas.openxmlformats.org/officeDocument/2006/relationships/image" Target="../media/image174.png"/></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177.bin"/><Relationship Id="rId3" Type="http://schemas.openxmlformats.org/officeDocument/2006/relationships/image" Target="../media/image9.png"/><Relationship Id="rId7" Type="http://schemas.openxmlformats.org/officeDocument/2006/relationships/image" Target="../media/image177.wmf"/><Relationship Id="rId2" Type="http://schemas.openxmlformats.org/officeDocument/2006/relationships/slideLayout" Target="../slideLayouts/slideLayout2.xml"/><Relationship Id="rId1" Type="http://schemas.openxmlformats.org/officeDocument/2006/relationships/vmlDrawing" Target="../drawings/vmlDrawing49.vml"/><Relationship Id="rId6" Type="http://schemas.openxmlformats.org/officeDocument/2006/relationships/oleObject" Target="../embeddings/oleObject176.bin"/><Relationship Id="rId11" Type="http://schemas.openxmlformats.org/officeDocument/2006/relationships/image" Target="../media/image179.wmf"/><Relationship Id="rId5" Type="http://schemas.openxmlformats.org/officeDocument/2006/relationships/image" Target="../media/image176.wmf"/><Relationship Id="rId10" Type="http://schemas.openxmlformats.org/officeDocument/2006/relationships/oleObject" Target="../embeddings/oleObject178.bin"/><Relationship Id="rId4" Type="http://schemas.openxmlformats.org/officeDocument/2006/relationships/oleObject" Target="../embeddings/oleObject175.bin"/><Relationship Id="rId9" Type="http://schemas.openxmlformats.org/officeDocument/2006/relationships/image" Target="../media/image178.wmf"/></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181.bin"/><Relationship Id="rId13" Type="http://schemas.openxmlformats.org/officeDocument/2006/relationships/image" Target="../media/image184.wmf"/><Relationship Id="rId3" Type="http://schemas.openxmlformats.org/officeDocument/2006/relationships/image" Target="../media/image9.png"/><Relationship Id="rId7" Type="http://schemas.openxmlformats.org/officeDocument/2006/relationships/image" Target="../media/image181.wmf"/><Relationship Id="rId12" Type="http://schemas.openxmlformats.org/officeDocument/2006/relationships/oleObject" Target="../embeddings/oleObject183.bin"/><Relationship Id="rId2" Type="http://schemas.openxmlformats.org/officeDocument/2006/relationships/slideLayout" Target="../slideLayouts/slideLayout2.xml"/><Relationship Id="rId1" Type="http://schemas.openxmlformats.org/officeDocument/2006/relationships/vmlDrawing" Target="../drawings/vmlDrawing50.vml"/><Relationship Id="rId6" Type="http://schemas.openxmlformats.org/officeDocument/2006/relationships/oleObject" Target="../embeddings/oleObject180.bin"/><Relationship Id="rId11" Type="http://schemas.openxmlformats.org/officeDocument/2006/relationships/image" Target="../media/image183.wmf"/><Relationship Id="rId5" Type="http://schemas.openxmlformats.org/officeDocument/2006/relationships/image" Target="../media/image180.wmf"/><Relationship Id="rId10" Type="http://schemas.openxmlformats.org/officeDocument/2006/relationships/oleObject" Target="../embeddings/oleObject182.bin"/><Relationship Id="rId4" Type="http://schemas.openxmlformats.org/officeDocument/2006/relationships/oleObject" Target="../embeddings/oleObject179.bin"/><Relationship Id="rId9" Type="http://schemas.openxmlformats.org/officeDocument/2006/relationships/image" Target="../media/image182.wmf"/></Relationships>
</file>

<file path=ppt/slides/_rels/slide65.xml.rels><?xml version="1.0" encoding="UTF-8" standalone="yes"?>
<Relationships xmlns="http://schemas.openxmlformats.org/package/2006/relationships"><Relationship Id="rId13" Type="http://schemas.openxmlformats.org/officeDocument/2006/relationships/image" Target="../media/image189.wmf"/><Relationship Id="rId18" Type="http://schemas.openxmlformats.org/officeDocument/2006/relationships/oleObject" Target="../embeddings/oleObject191.bin"/><Relationship Id="rId26" Type="http://schemas.openxmlformats.org/officeDocument/2006/relationships/oleObject" Target="../embeddings/oleObject195.bin"/><Relationship Id="rId3" Type="http://schemas.openxmlformats.org/officeDocument/2006/relationships/image" Target="../media/image9.png"/><Relationship Id="rId21" Type="http://schemas.openxmlformats.org/officeDocument/2006/relationships/image" Target="../media/image193.wmf"/><Relationship Id="rId34" Type="http://schemas.openxmlformats.org/officeDocument/2006/relationships/oleObject" Target="../embeddings/oleObject199.bin"/><Relationship Id="rId7" Type="http://schemas.openxmlformats.org/officeDocument/2006/relationships/image" Target="../media/image186.wmf"/><Relationship Id="rId12" Type="http://schemas.openxmlformats.org/officeDocument/2006/relationships/oleObject" Target="../embeddings/oleObject188.bin"/><Relationship Id="rId17" Type="http://schemas.openxmlformats.org/officeDocument/2006/relationships/image" Target="../media/image191.wmf"/><Relationship Id="rId25" Type="http://schemas.openxmlformats.org/officeDocument/2006/relationships/image" Target="../media/image195.wmf"/><Relationship Id="rId33" Type="http://schemas.openxmlformats.org/officeDocument/2006/relationships/image" Target="../media/image199.wmf"/><Relationship Id="rId2" Type="http://schemas.openxmlformats.org/officeDocument/2006/relationships/slideLayout" Target="../slideLayouts/slideLayout2.xml"/><Relationship Id="rId16" Type="http://schemas.openxmlformats.org/officeDocument/2006/relationships/oleObject" Target="../embeddings/oleObject190.bin"/><Relationship Id="rId20" Type="http://schemas.openxmlformats.org/officeDocument/2006/relationships/oleObject" Target="../embeddings/oleObject192.bin"/><Relationship Id="rId29" Type="http://schemas.openxmlformats.org/officeDocument/2006/relationships/image" Target="../media/image197.wmf"/><Relationship Id="rId1" Type="http://schemas.openxmlformats.org/officeDocument/2006/relationships/vmlDrawing" Target="../drawings/vmlDrawing51.vml"/><Relationship Id="rId6" Type="http://schemas.openxmlformats.org/officeDocument/2006/relationships/oleObject" Target="../embeddings/oleObject185.bin"/><Relationship Id="rId11" Type="http://schemas.openxmlformats.org/officeDocument/2006/relationships/image" Target="../media/image188.wmf"/><Relationship Id="rId24" Type="http://schemas.openxmlformats.org/officeDocument/2006/relationships/oleObject" Target="../embeddings/oleObject194.bin"/><Relationship Id="rId32" Type="http://schemas.openxmlformats.org/officeDocument/2006/relationships/oleObject" Target="../embeddings/oleObject198.bin"/><Relationship Id="rId5" Type="http://schemas.openxmlformats.org/officeDocument/2006/relationships/image" Target="../media/image185.wmf"/><Relationship Id="rId15" Type="http://schemas.openxmlformats.org/officeDocument/2006/relationships/image" Target="../media/image190.wmf"/><Relationship Id="rId23" Type="http://schemas.openxmlformats.org/officeDocument/2006/relationships/image" Target="../media/image194.wmf"/><Relationship Id="rId28" Type="http://schemas.openxmlformats.org/officeDocument/2006/relationships/oleObject" Target="../embeddings/oleObject196.bin"/><Relationship Id="rId10" Type="http://schemas.openxmlformats.org/officeDocument/2006/relationships/oleObject" Target="../embeddings/oleObject187.bin"/><Relationship Id="rId19" Type="http://schemas.openxmlformats.org/officeDocument/2006/relationships/image" Target="../media/image192.wmf"/><Relationship Id="rId31" Type="http://schemas.openxmlformats.org/officeDocument/2006/relationships/image" Target="../media/image198.wmf"/><Relationship Id="rId4" Type="http://schemas.openxmlformats.org/officeDocument/2006/relationships/oleObject" Target="../embeddings/oleObject184.bin"/><Relationship Id="rId9" Type="http://schemas.openxmlformats.org/officeDocument/2006/relationships/image" Target="../media/image187.wmf"/><Relationship Id="rId14" Type="http://schemas.openxmlformats.org/officeDocument/2006/relationships/oleObject" Target="../embeddings/oleObject189.bin"/><Relationship Id="rId22" Type="http://schemas.openxmlformats.org/officeDocument/2006/relationships/oleObject" Target="../embeddings/oleObject193.bin"/><Relationship Id="rId27" Type="http://schemas.openxmlformats.org/officeDocument/2006/relationships/image" Target="../media/image196.wmf"/><Relationship Id="rId30" Type="http://schemas.openxmlformats.org/officeDocument/2006/relationships/oleObject" Target="../embeddings/oleObject197.bin"/><Relationship Id="rId35" Type="http://schemas.openxmlformats.org/officeDocument/2006/relationships/image" Target="../media/image200.wmf"/><Relationship Id="rId8" Type="http://schemas.openxmlformats.org/officeDocument/2006/relationships/oleObject" Target="../embeddings/oleObject186.bin"/></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202.bin"/><Relationship Id="rId13" Type="http://schemas.openxmlformats.org/officeDocument/2006/relationships/image" Target="../media/image204.wmf"/><Relationship Id="rId18" Type="http://schemas.openxmlformats.org/officeDocument/2006/relationships/oleObject" Target="../embeddings/oleObject207.bin"/><Relationship Id="rId3" Type="http://schemas.openxmlformats.org/officeDocument/2006/relationships/image" Target="../media/image9.png"/><Relationship Id="rId7" Type="http://schemas.openxmlformats.org/officeDocument/2006/relationships/image" Target="../media/image202.wmf"/><Relationship Id="rId12" Type="http://schemas.openxmlformats.org/officeDocument/2006/relationships/oleObject" Target="../embeddings/oleObject204.bin"/><Relationship Id="rId17" Type="http://schemas.openxmlformats.org/officeDocument/2006/relationships/image" Target="../media/image206.wmf"/><Relationship Id="rId2" Type="http://schemas.openxmlformats.org/officeDocument/2006/relationships/slideLayout" Target="../slideLayouts/slideLayout2.xml"/><Relationship Id="rId16" Type="http://schemas.openxmlformats.org/officeDocument/2006/relationships/oleObject" Target="../embeddings/oleObject206.bin"/><Relationship Id="rId1" Type="http://schemas.openxmlformats.org/officeDocument/2006/relationships/vmlDrawing" Target="../drawings/vmlDrawing52.vml"/><Relationship Id="rId6" Type="http://schemas.openxmlformats.org/officeDocument/2006/relationships/oleObject" Target="../embeddings/oleObject201.bin"/><Relationship Id="rId11" Type="http://schemas.openxmlformats.org/officeDocument/2006/relationships/image" Target="../media/image200.wmf"/><Relationship Id="rId5" Type="http://schemas.openxmlformats.org/officeDocument/2006/relationships/image" Target="../media/image201.wmf"/><Relationship Id="rId15" Type="http://schemas.openxmlformats.org/officeDocument/2006/relationships/image" Target="../media/image205.wmf"/><Relationship Id="rId10" Type="http://schemas.openxmlformats.org/officeDocument/2006/relationships/oleObject" Target="../embeddings/oleObject203.bin"/><Relationship Id="rId19" Type="http://schemas.openxmlformats.org/officeDocument/2006/relationships/image" Target="../media/image207.wmf"/><Relationship Id="rId4" Type="http://schemas.openxmlformats.org/officeDocument/2006/relationships/oleObject" Target="../embeddings/oleObject200.bin"/><Relationship Id="rId9" Type="http://schemas.openxmlformats.org/officeDocument/2006/relationships/image" Target="../media/image203.wmf"/><Relationship Id="rId14" Type="http://schemas.openxmlformats.org/officeDocument/2006/relationships/oleObject" Target="../embeddings/oleObject205.bin"/></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210.bin"/><Relationship Id="rId3" Type="http://schemas.openxmlformats.org/officeDocument/2006/relationships/image" Target="../media/image9.png"/><Relationship Id="rId7" Type="http://schemas.openxmlformats.org/officeDocument/2006/relationships/image" Target="../media/image209.wmf"/><Relationship Id="rId2" Type="http://schemas.openxmlformats.org/officeDocument/2006/relationships/slideLayout" Target="../slideLayouts/slideLayout2.xml"/><Relationship Id="rId1" Type="http://schemas.openxmlformats.org/officeDocument/2006/relationships/vmlDrawing" Target="../drawings/vmlDrawing53.vml"/><Relationship Id="rId6" Type="http://schemas.openxmlformats.org/officeDocument/2006/relationships/oleObject" Target="../embeddings/oleObject209.bin"/><Relationship Id="rId5" Type="http://schemas.openxmlformats.org/officeDocument/2006/relationships/image" Target="../media/image208.wmf"/><Relationship Id="rId4" Type="http://schemas.openxmlformats.org/officeDocument/2006/relationships/oleObject" Target="../embeddings/oleObject208.bin"/><Relationship Id="rId9" Type="http://schemas.openxmlformats.org/officeDocument/2006/relationships/image" Target="../media/image210.wmf"/></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211.bin"/><Relationship Id="rId13" Type="http://schemas.openxmlformats.org/officeDocument/2006/relationships/image" Target="../media/image210.wmf"/><Relationship Id="rId3" Type="http://schemas.openxmlformats.org/officeDocument/2006/relationships/image" Target="../media/image212.png"/><Relationship Id="rId7" Type="http://schemas.openxmlformats.org/officeDocument/2006/relationships/image" Target="../media/image9.png"/><Relationship Id="rId12" Type="http://schemas.openxmlformats.org/officeDocument/2006/relationships/oleObject" Target="../embeddings/oleObject213.bin"/><Relationship Id="rId2" Type="http://schemas.openxmlformats.org/officeDocument/2006/relationships/slideLayout" Target="../slideLayouts/slideLayout2.xml"/><Relationship Id="rId1" Type="http://schemas.openxmlformats.org/officeDocument/2006/relationships/vmlDrawing" Target="../drawings/vmlDrawing54.vml"/><Relationship Id="rId6" Type="http://schemas.openxmlformats.org/officeDocument/2006/relationships/image" Target="../media/image215.png"/><Relationship Id="rId11" Type="http://schemas.openxmlformats.org/officeDocument/2006/relationships/image" Target="../media/image209.wmf"/><Relationship Id="rId5" Type="http://schemas.openxmlformats.org/officeDocument/2006/relationships/image" Target="../media/image214.png"/><Relationship Id="rId10" Type="http://schemas.openxmlformats.org/officeDocument/2006/relationships/oleObject" Target="../embeddings/oleObject212.bin"/><Relationship Id="rId4" Type="http://schemas.openxmlformats.org/officeDocument/2006/relationships/image" Target="../media/image213.png"/><Relationship Id="rId9" Type="http://schemas.openxmlformats.org/officeDocument/2006/relationships/image" Target="../media/image211.wmf"/></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216.bin"/><Relationship Id="rId3" Type="http://schemas.openxmlformats.org/officeDocument/2006/relationships/image" Target="../media/image9.png"/><Relationship Id="rId7" Type="http://schemas.openxmlformats.org/officeDocument/2006/relationships/image" Target="../media/image217.wmf"/><Relationship Id="rId2" Type="http://schemas.openxmlformats.org/officeDocument/2006/relationships/slideLayout" Target="../slideLayouts/slideLayout2.xml"/><Relationship Id="rId1" Type="http://schemas.openxmlformats.org/officeDocument/2006/relationships/vmlDrawing" Target="../drawings/vmlDrawing55.vml"/><Relationship Id="rId6" Type="http://schemas.openxmlformats.org/officeDocument/2006/relationships/oleObject" Target="../embeddings/oleObject215.bin"/><Relationship Id="rId11" Type="http://schemas.openxmlformats.org/officeDocument/2006/relationships/image" Target="../media/image219.wmf"/><Relationship Id="rId5" Type="http://schemas.openxmlformats.org/officeDocument/2006/relationships/image" Target="../media/image216.wmf"/><Relationship Id="rId10" Type="http://schemas.openxmlformats.org/officeDocument/2006/relationships/oleObject" Target="../embeddings/oleObject217.bin"/><Relationship Id="rId4" Type="http://schemas.openxmlformats.org/officeDocument/2006/relationships/oleObject" Target="../embeddings/oleObject214.bin"/><Relationship Id="rId9" Type="http://schemas.openxmlformats.org/officeDocument/2006/relationships/image" Target="../media/image218.wmf"/></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220.bin"/><Relationship Id="rId3" Type="http://schemas.openxmlformats.org/officeDocument/2006/relationships/image" Target="../media/image9.png"/><Relationship Id="rId7" Type="http://schemas.openxmlformats.org/officeDocument/2006/relationships/image" Target="../media/image220.wmf"/><Relationship Id="rId2" Type="http://schemas.openxmlformats.org/officeDocument/2006/relationships/slideLayout" Target="../slideLayouts/slideLayout2.xml"/><Relationship Id="rId1" Type="http://schemas.openxmlformats.org/officeDocument/2006/relationships/vmlDrawing" Target="../drawings/vmlDrawing56.vml"/><Relationship Id="rId6" Type="http://schemas.openxmlformats.org/officeDocument/2006/relationships/oleObject" Target="../embeddings/oleObject219.bin"/><Relationship Id="rId5" Type="http://schemas.openxmlformats.org/officeDocument/2006/relationships/image" Target="../media/image143.wmf"/><Relationship Id="rId4" Type="http://schemas.openxmlformats.org/officeDocument/2006/relationships/oleObject" Target="../embeddings/oleObject218.bin"/><Relationship Id="rId9" Type="http://schemas.openxmlformats.org/officeDocument/2006/relationships/image" Target="../media/image221.wmf"/></Relationships>
</file>

<file path=ppt/slides/_rels/slide71.xml.rels><?xml version="1.0" encoding="UTF-8" standalone="yes"?>
<Relationships xmlns="http://schemas.openxmlformats.org/package/2006/relationships"><Relationship Id="rId3" Type="http://schemas.openxmlformats.org/officeDocument/2006/relationships/image" Target="../media/image222.jpe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224.jpeg"/><Relationship Id="rId4" Type="http://schemas.openxmlformats.org/officeDocument/2006/relationships/image" Target="../media/image223.png"/></Relationships>
</file>

<file path=ppt/slides/_rels/slide72.xml.rels><?xml version="1.0" encoding="UTF-8" standalone="yes"?>
<Relationships xmlns="http://schemas.openxmlformats.org/package/2006/relationships"><Relationship Id="rId3" Type="http://schemas.openxmlformats.org/officeDocument/2006/relationships/image" Target="../media/image225.jpe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226.jpeg"/></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222.bin"/><Relationship Id="rId3" Type="http://schemas.openxmlformats.org/officeDocument/2006/relationships/image" Target="../media/image9.png"/><Relationship Id="rId7" Type="http://schemas.openxmlformats.org/officeDocument/2006/relationships/image" Target="../media/image231.jpeg"/><Relationship Id="rId2" Type="http://schemas.openxmlformats.org/officeDocument/2006/relationships/slideLayout" Target="../slideLayouts/slideLayout2.xml"/><Relationship Id="rId1" Type="http://schemas.openxmlformats.org/officeDocument/2006/relationships/vmlDrawing" Target="../drawings/vmlDrawing57.vml"/><Relationship Id="rId6" Type="http://schemas.openxmlformats.org/officeDocument/2006/relationships/image" Target="../media/image230.jpeg"/><Relationship Id="rId11" Type="http://schemas.openxmlformats.org/officeDocument/2006/relationships/image" Target="../media/image229.wmf"/><Relationship Id="rId5" Type="http://schemas.openxmlformats.org/officeDocument/2006/relationships/image" Target="../media/image227.wmf"/><Relationship Id="rId10" Type="http://schemas.openxmlformats.org/officeDocument/2006/relationships/oleObject" Target="../embeddings/oleObject223.bin"/><Relationship Id="rId4" Type="http://schemas.openxmlformats.org/officeDocument/2006/relationships/oleObject" Target="../embeddings/oleObject221.bin"/><Relationship Id="rId9" Type="http://schemas.openxmlformats.org/officeDocument/2006/relationships/image" Target="../media/image228.wmf"/></Relationships>
</file>

<file path=ppt/slides/_rels/slide7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58.vml"/><Relationship Id="rId5" Type="http://schemas.openxmlformats.org/officeDocument/2006/relationships/image" Target="../media/image232.wmf"/><Relationship Id="rId4" Type="http://schemas.openxmlformats.org/officeDocument/2006/relationships/oleObject" Target="../embeddings/oleObject224.bin"/></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227.bin"/><Relationship Id="rId13" Type="http://schemas.openxmlformats.org/officeDocument/2006/relationships/image" Target="../media/image237.wmf"/><Relationship Id="rId18" Type="http://schemas.openxmlformats.org/officeDocument/2006/relationships/oleObject" Target="../embeddings/oleObject232.bin"/><Relationship Id="rId3" Type="http://schemas.openxmlformats.org/officeDocument/2006/relationships/image" Target="../media/image9.png"/><Relationship Id="rId21" Type="http://schemas.openxmlformats.org/officeDocument/2006/relationships/image" Target="../media/image240.wmf"/><Relationship Id="rId7" Type="http://schemas.openxmlformats.org/officeDocument/2006/relationships/image" Target="../media/image234.wmf"/><Relationship Id="rId12" Type="http://schemas.openxmlformats.org/officeDocument/2006/relationships/oleObject" Target="../embeddings/oleObject229.bin"/><Relationship Id="rId17" Type="http://schemas.openxmlformats.org/officeDocument/2006/relationships/image" Target="../media/image238.wmf"/><Relationship Id="rId2" Type="http://schemas.openxmlformats.org/officeDocument/2006/relationships/slideLayout" Target="../slideLayouts/slideLayout2.xml"/><Relationship Id="rId16" Type="http://schemas.openxmlformats.org/officeDocument/2006/relationships/oleObject" Target="../embeddings/oleObject231.bin"/><Relationship Id="rId20" Type="http://schemas.openxmlformats.org/officeDocument/2006/relationships/oleObject" Target="../embeddings/oleObject233.bin"/><Relationship Id="rId1" Type="http://schemas.openxmlformats.org/officeDocument/2006/relationships/vmlDrawing" Target="../drawings/vmlDrawing59.vml"/><Relationship Id="rId6" Type="http://schemas.openxmlformats.org/officeDocument/2006/relationships/oleObject" Target="../embeddings/oleObject226.bin"/><Relationship Id="rId11" Type="http://schemas.openxmlformats.org/officeDocument/2006/relationships/image" Target="../media/image236.wmf"/><Relationship Id="rId5" Type="http://schemas.openxmlformats.org/officeDocument/2006/relationships/image" Target="../media/image233.wmf"/><Relationship Id="rId15" Type="http://schemas.openxmlformats.org/officeDocument/2006/relationships/image" Target="../media/image135.wmf"/><Relationship Id="rId23" Type="http://schemas.openxmlformats.org/officeDocument/2006/relationships/image" Target="../media/image241.wmf"/><Relationship Id="rId10" Type="http://schemas.openxmlformats.org/officeDocument/2006/relationships/oleObject" Target="../embeddings/oleObject228.bin"/><Relationship Id="rId19" Type="http://schemas.openxmlformats.org/officeDocument/2006/relationships/image" Target="../media/image239.wmf"/><Relationship Id="rId4" Type="http://schemas.openxmlformats.org/officeDocument/2006/relationships/oleObject" Target="../embeddings/oleObject225.bin"/><Relationship Id="rId9" Type="http://schemas.openxmlformats.org/officeDocument/2006/relationships/image" Target="../media/image235.wmf"/><Relationship Id="rId14" Type="http://schemas.openxmlformats.org/officeDocument/2006/relationships/oleObject" Target="../embeddings/oleObject230.bin"/><Relationship Id="rId22" Type="http://schemas.openxmlformats.org/officeDocument/2006/relationships/oleObject" Target="../embeddings/oleObject234.bin"/></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237.bin"/><Relationship Id="rId13" Type="http://schemas.openxmlformats.org/officeDocument/2006/relationships/image" Target="../media/image246.wmf"/><Relationship Id="rId3" Type="http://schemas.openxmlformats.org/officeDocument/2006/relationships/image" Target="../media/image9.png"/><Relationship Id="rId7" Type="http://schemas.openxmlformats.org/officeDocument/2006/relationships/image" Target="../media/image243.wmf"/><Relationship Id="rId12" Type="http://schemas.openxmlformats.org/officeDocument/2006/relationships/oleObject" Target="../embeddings/oleObject239.bin"/><Relationship Id="rId17" Type="http://schemas.openxmlformats.org/officeDocument/2006/relationships/image" Target="../media/image248.wmf"/><Relationship Id="rId2" Type="http://schemas.openxmlformats.org/officeDocument/2006/relationships/slideLayout" Target="../slideLayouts/slideLayout2.xml"/><Relationship Id="rId16" Type="http://schemas.openxmlformats.org/officeDocument/2006/relationships/oleObject" Target="../embeddings/oleObject241.bin"/><Relationship Id="rId1" Type="http://schemas.openxmlformats.org/officeDocument/2006/relationships/vmlDrawing" Target="../drawings/vmlDrawing60.vml"/><Relationship Id="rId6" Type="http://schemas.openxmlformats.org/officeDocument/2006/relationships/oleObject" Target="../embeddings/oleObject236.bin"/><Relationship Id="rId11" Type="http://schemas.openxmlformats.org/officeDocument/2006/relationships/image" Target="../media/image245.wmf"/><Relationship Id="rId5" Type="http://schemas.openxmlformats.org/officeDocument/2006/relationships/image" Target="../media/image242.wmf"/><Relationship Id="rId15" Type="http://schemas.openxmlformats.org/officeDocument/2006/relationships/image" Target="../media/image247.wmf"/><Relationship Id="rId10" Type="http://schemas.openxmlformats.org/officeDocument/2006/relationships/oleObject" Target="../embeddings/oleObject238.bin"/><Relationship Id="rId4" Type="http://schemas.openxmlformats.org/officeDocument/2006/relationships/oleObject" Target="../embeddings/oleObject235.bin"/><Relationship Id="rId9" Type="http://schemas.openxmlformats.org/officeDocument/2006/relationships/image" Target="../media/image244.wmf"/><Relationship Id="rId14" Type="http://schemas.openxmlformats.org/officeDocument/2006/relationships/oleObject" Target="../embeddings/oleObject240.bin"/></Relationships>
</file>

<file path=ppt/slides/_rels/slide78.xml.rels><?xml version="1.0" encoding="UTF-8" standalone="yes"?>
<Relationships xmlns="http://schemas.openxmlformats.org/package/2006/relationships"><Relationship Id="rId8" Type="http://schemas.openxmlformats.org/officeDocument/2006/relationships/oleObject" Target="../embeddings/oleObject244.bin"/><Relationship Id="rId13" Type="http://schemas.openxmlformats.org/officeDocument/2006/relationships/image" Target="../media/image253.wmf"/><Relationship Id="rId18" Type="http://schemas.openxmlformats.org/officeDocument/2006/relationships/oleObject" Target="../embeddings/oleObject249.bin"/><Relationship Id="rId3" Type="http://schemas.openxmlformats.org/officeDocument/2006/relationships/image" Target="../media/image9.png"/><Relationship Id="rId21" Type="http://schemas.openxmlformats.org/officeDocument/2006/relationships/image" Target="../media/image257.wmf"/><Relationship Id="rId7" Type="http://schemas.openxmlformats.org/officeDocument/2006/relationships/image" Target="../media/image250.wmf"/><Relationship Id="rId12" Type="http://schemas.openxmlformats.org/officeDocument/2006/relationships/oleObject" Target="../embeddings/oleObject246.bin"/><Relationship Id="rId17" Type="http://schemas.openxmlformats.org/officeDocument/2006/relationships/image" Target="../media/image255.wmf"/><Relationship Id="rId2" Type="http://schemas.openxmlformats.org/officeDocument/2006/relationships/slideLayout" Target="../slideLayouts/slideLayout2.xml"/><Relationship Id="rId16" Type="http://schemas.openxmlformats.org/officeDocument/2006/relationships/oleObject" Target="../embeddings/oleObject248.bin"/><Relationship Id="rId20" Type="http://schemas.openxmlformats.org/officeDocument/2006/relationships/oleObject" Target="../embeddings/oleObject250.bin"/><Relationship Id="rId1" Type="http://schemas.openxmlformats.org/officeDocument/2006/relationships/vmlDrawing" Target="../drawings/vmlDrawing61.vml"/><Relationship Id="rId6" Type="http://schemas.openxmlformats.org/officeDocument/2006/relationships/oleObject" Target="../embeddings/oleObject243.bin"/><Relationship Id="rId11" Type="http://schemas.openxmlformats.org/officeDocument/2006/relationships/image" Target="../media/image252.wmf"/><Relationship Id="rId5" Type="http://schemas.openxmlformats.org/officeDocument/2006/relationships/image" Target="../media/image249.wmf"/><Relationship Id="rId15" Type="http://schemas.openxmlformats.org/officeDocument/2006/relationships/image" Target="../media/image254.wmf"/><Relationship Id="rId10" Type="http://schemas.openxmlformats.org/officeDocument/2006/relationships/oleObject" Target="../embeddings/oleObject245.bin"/><Relationship Id="rId19" Type="http://schemas.openxmlformats.org/officeDocument/2006/relationships/image" Target="../media/image256.wmf"/><Relationship Id="rId4" Type="http://schemas.openxmlformats.org/officeDocument/2006/relationships/oleObject" Target="../embeddings/oleObject242.bin"/><Relationship Id="rId9" Type="http://schemas.openxmlformats.org/officeDocument/2006/relationships/image" Target="../media/image251.wmf"/><Relationship Id="rId14" Type="http://schemas.openxmlformats.org/officeDocument/2006/relationships/oleObject" Target="../embeddings/oleObject247.bin"/></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253.bin"/><Relationship Id="rId13" Type="http://schemas.openxmlformats.org/officeDocument/2006/relationships/image" Target="../media/image262.wmf"/><Relationship Id="rId18" Type="http://schemas.openxmlformats.org/officeDocument/2006/relationships/oleObject" Target="../embeddings/oleObject258.bin"/><Relationship Id="rId3" Type="http://schemas.openxmlformats.org/officeDocument/2006/relationships/image" Target="../media/image9.png"/><Relationship Id="rId21" Type="http://schemas.openxmlformats.org/officeDocument/2006/relationships/image" Target="../media/image266.wmf"/><Relationship Id="rId7" Type="http://schemas.openxmlformats.org/officeDocument/2006/relationships/image" Target="../media/image259.wmf"/><Relationship Id="rId12" Type="http://schemas.openxmlformats.org/officeDocument/2006/relationships/oleObject" Target="../embeddings/oleObject255.bin"/><Relationship Id="rId17" Type="http://schemas.openxmlformats.org/officeDocument/2006/relationships/image" Target="../media/image264.wmf"/><Relationship Id="rId2" Type="http://schemas.openxmlformats.org/officeDocument/2006/relationships/slideLayout" Target="../slideLayouts/slideLayout2.xml"/><Relationship Id="rId16" Type="http://schemas.openxmlformats.org/officeDocument/2006/relationships/oleObject" Target="../embeddings/oleObject257.bin"/><Relationship Id="rId20" Type="http://schemas.openxmlformats.org/officeDocument/2006/relationships/oleObject" Target="../embeddings/oleObject259.bin"/><Relationship Id="rId1" Type="http://schemas.openxmlformats.org/officeDocument/2006/relationships/vmlDrawing" Target="../drawings/vmlDrawing62.vml"/><Relationship Id="rId6" Type="http://schemas.openxmlformats.org/officeDocument/2006/relationships/oleObject" Target="../embeddings/oleObject252.bin"/><Relationship Id="rId11" Type="http://schemas.openxmlformats.org/officeDocument/2006/relationships/image" Target="../media/image261.wmf"/><Relationship Id="rId5" Type="http://schemas.openxmlformats.org/officeDocument/2006/relationships/image" Target="../media/image258.wmf"/><Relationship Id="rId15" Type="http://schemas.openxmlformats.org/officeDocument/2006/relationships/image" Target="../media/image263.wmf"/><Relationship Id="rId23" Type="http://schemas.openxmlformats.org/officeDocument/2006/relationships/image" Target="../media/image267.wmf"/><Relationship Id="rId10" Type="http://schemas.openxmlformats.org/officeDocument/2006/relationships/oleObject" Target="../embeddings/oleObject254.bin"/><Relationship Id="rId19" Type="http://schemas.openxmlformats.org/officeDocument/2006/relationships/image" Target="../media/image265.wmf"/><Relationship Id="rId4" Type="http://schemas.openxmlformats.org/officeDocument/2006/relationships/oleObject" Target="../embeddings/oleObject251.bin"/><Relationship Id="rId9" Type="http://schemas.openxmlformats.org/officeDocument/2006/relationships/image" Target="../media/image260.wmf"/><Relationship Id="rId14" Type="http://schemas.openxmlformats.org/officeDocument/2006/relationships/oleObject" Target="../embeddings/oleObject256.bin"/><Relationship Id="rId22" Type="http://schemas.openxmlformats.org/officeDocument/2006/relationships/oleObject" Target="../embeddings/oleObject260.bin"/></Relationships>
</file>

<file path=ppt/slides/_rels/slide80.xml.rels><?xml version="1.0" encoding="UTF-8" standalone="yes"?>
<Relationships xmlns="http://schemas.openxmlformats.org/package/2006/relationships"><Relationship Id="rId8" Type="http://schemas.openxmlformats.org/officeDocument/2006/relationships/oleObject" Target="../embeddings/oleObject263.bin"/><Relationship Id="rId13" Type="http://schemas.openxmlformats.org/officeDocument/2006/relationships/image" Target="../media/image272.wmf"/><Relationship Id="rId3" Type="http://schemas.openxmlformats.org/officeDocument/2006/relationships/image" Target="../media/image9.png"/><Relationship Id="rId7" Type="http://schemas.openxmlformats.org/officeDocument/2006/relationships/image" Target="../media/image269.wmf"/><Relationship Id="rId12" Type="http://schemas.openxmlformats.org/officeDocument/2006/relationships/oleObject" Target="../embeddings/oleObject265.bin"/><Relationship Id="rId2" Type="http://schemas.openxmlformats.org/officeDocument/2006/relationships/slideLayout" Target="../slideLayouts/slideLayout2.xml"/><Relationship Id="rId1" Type="http://schemas.openxmlformats.org/officeDocument/2006/relationships/vmlDrawing" Target="../drawings/vmlDrawing63.vml"/><Relationship Id="rId6" Type="http://schemas.openxmlformats.org/officeDocument/2006/relationships/oleObject" Target="../embeddings/oleObject262.bin"/><Relationship Id="rId11" Type="http://schemas.openxmlformats.org/officeDocument/2006/relationships/image" Target="../media/image271.wmf"/><Relationship Id="rId5" Type="http://schemas.openxmlformats.org/officeDocument/2006/relationships/image" Target="../media/image268.wmf"/><Relationship Id="rId15" Type="http://schemas.openxmlformats.org/officeDocument/2006/relationships/image" Target="../media/image273.wmf"/><Relationship Id="rId10" Type="http://schemas.openxmlformats.org/officeDocument/2006/relationships/oleObject" Target="../embeddings/oleObject264.bin"/><Relationship Id="rId4" Type="http://schemas.openxmlformats.org/officeDocument/2006/relationships/oleObject" Target="../embeddings/oleObject261.bin"/><Relationship Id="rId9" Type="http://schemas.openxmlformats.org/officeDocument/2006/relationships/image" Target="../media/image270.wmf"/><Relationship Id="rId14" Type="http://schemas.openxmlformats.org/officeDocument/2006/relationships/oleObject" Target="../embeddings/oleObject266.bin"/></Relationships>
</file>

<file path=ppt/slides/_rels/slide81.xml.rels><?xml version="1.0" encoding="UTF-8" standalone="yes"?>
<Relationships xmlns="http://schemas.openxmlformats.org/package/2006/relationships"><Relationship Id="rId8" Type="http://schemas.openxmlformats.org/officeDocument/2006/relationships/oleObject" Target="../embeddings/oleObject269.bin"/><Relationship Id="rId13" Type="http://schemas.openxmlformats.org/officeDocument/2006/relationships/image" Target="../media/image276.wmf"/><Relationship Id="rId18" Type="http://schemas.openxmlformats.org/officeDocument/2006/relationships/oleObject" Target="../embeddings/oleObject274.bin"/><Relationship Id="rId26" Type="http://schemas.openxmlformats.org/officeDocument/2006/relationships/oleObject" Target="../embeddings/oleObject278.bin"/><Relationship Id="rId3" Type="http://schemas.openxmlformats.org/officeDocument/2006/relationships/image" Target="../media/image9.png"/><Relationship Id="rId21" Type="http://schemas.openxmlformats.org/officeDocument/2006/relationships/image" Target="../media/image280.wmf"/><Relationship Id="rId7" Type="http://schemas.openxmlformats.org/officeDocument/2006/relationships/image" Target="../media/image269.wmf"/><Relationship Id="rId12" Type="http://schemas.openxmlformats.org/officeDocument/2006/relationships/oleObject" Target="../embeddings/oleObject271.bin"/><Relationship Id="rId17" Type="http://schemas.openxmlformats.org/officeDocument/2006/relationships/image" Target="../media/image278.wmf"/><Relationship Id="rId25" Type="http://schemas.openxmlformats.org/officeDocument/2006/relationships/image" Target="../media/image282.wmf"/><Relationship Id="rId2" Type="http://schemas.openxmlformats.org/officeDocument/2006/relationships/slideLayout" Target="../slideLayouts/slideLayout2.xml"/><Relationship Id="rId16" Type="http://schemas.openxmlformats.org/officeDocument/2006/relationships/oleObject" Target="../embeddings/oleObject273.bin"/><Relationship Id="rId20" Type="http://schemas.openxmlformats.org/officeDocument/2006/relationships/oleObject" Target="../embeddings/oleObject275.bin"/><Relationship Id="rId29" Type="http://schemas.openxmlformats.org/officeDocument/2006/relationships/image" Target="../media/image284.wmf"/><Relationship Id="rId1" Type="http://schemas.openxmlformats.org/officeDocument/2006/relationships/vmlDrawing" Target="../drawings/vmlDrawing64.vml"/><Relationship Id="rId6" Type="http://schemas.openxmlformats.org/officeDocument/2006/relationships/oleObject" Target="../embeddings/oleObject268.bin"/><Relationship Id="rId11" Type="http://schemas.openxmlformats.org/officeDocument/2006/relationships/image" Target="../media/image275.wmf"/><Relationship Id="rId24" Type="http://schemas.openxmlformats.org/officeDocument/2006/relationships/oleObject" Target="../embeddings/oleObject277.bin"/><Relationship Id="rId5" Type="http://schemas.openxmlformats.org/officeDocument/2006/relationships/image" Target="../media/image268.wmf"/><Relationship Id="rId15" Type="http://schemas.openxmlformats.org/officeDocument/2006/relationships/image" Target="../media/image277.wmf"/><Relationship Id="rId23" Type="http://schemas.openxmlformats.org/officeDocument/2006/relationships/image" Target="../media/image281.wmf"/><Relationship Id="rId28" Type="http://schemas.openxmlformats.org/officeDocument/2006/relationships/oleObject" Target="../embeddings/oleObject279.bin"/><Relationship Id="rId10" Type="http://schemas.openxmlformats.org/officeDocument/2006/relationships/oleObject" Target="../embeddings/oleObject270.bin"/><Relationship Id="rId19" Type="http://schemas.openxmlformats.org/officeDocument/2006/relationships/image" Target="../media/image279.wmf"/><Relationship Id="rId31" Type="http://schemas.openxmlformats.org/officeDocument/2006/relationships/image" Target="../media/image285.wmf"/><Relationship Id="rId4" Type="http://schemas.openxmlformats.org/officeDocument/2006/relationships/oleObject" Target="../embeddings/oleObject267.bin"/><Relationship Id="rId9" Type="http://schemas.openxmlformats.org/officeDocument/2006/relationships/image" Target="../media/image274.wmf"/><Relationship Id="rId14" Type="http://schemas.openxmlformats.org/officeDocument/2006/relationships/oleObject" Target="../embeddings/oleObject272.bin"/><Relationship Id="rId22" Type="http://schemas.openxmlformats.org/officeDocument/2006/relationships/oleObject" Target="../embeddings/oleObject276.bin"/><Relationship Id="rId27" Type="http://schemas.openxmlformats.org/officeDocument/2006/relationships/image" Target="../media/image283.wmf"/><Relationship Id="rId30" Type="http://schemas.openxmlformats.org/officeDocument/2006/relationships/oleObject" Target="../embeddings/oleObject280.bin"/></Relationships>
</file>

<file path=ppt/slides/_rels/slide82.xml.rels><?xml version="1.0" encoding="UTF-8" standalone="yes"?>
<Relationships xmlns="http://schemas.openxmlformats.org/package/2006/relationships"><Relationship Id="rId8" Type="http://schemas.openxmlformats.org/officeDocument/2006/relationships/oleObject" Target="../embeddings/oleObject283.bin"/><Relationship Id="rId13" Type="http://schemas.openxmlformats.org/officeDocument/2006/relationships/image" Target="../media/image289.wmf"/><Relationship Id="rId18" Type="http://schemas.openxmlformats.org/officeDocument/2006/relationships/oleObject" Target="../embeddings/oleObject288.bin"/><Relationship Id="rId26" Type="http://schemas.openxmlformats.org/officeDocument/2006/relationships/oleObject" Target="../embeddings/oleObject292.bin"/><Relationship Id="rId3" Type="http://schemas.openxmlformats.org/officeDocument/2006/relationships/image" Target="../media/image9.png"/><Relationship Id="rId21" Type="http://schemas.openxmlformats.org/officeDocument/2006/relationships/image" Target="../media/image293.wmf"/><Relationship Id="rId7" Type="http://schemas.openxmlformats.org/officeDocument/2006/relationships/image" Target="../media/image287.wmf"/><Relationship Id="rId12" Type="http://schemas.openxmlformats.org/officeDocument/2006/relationships/oleObject" Target="../embeddings/oleObject285.bin"/><Relationship Id="rId17" Type="http://schemas.openxmlformats.org/officeDocument/2006/relationships/image" Target="../media/image291.wmf"/><Relationship Id="rId25" Type="http://schemas.openxmlformats.org/officeDocument/2006/relationships/image" Target="../media/image295.wmf"/><Relationship Id="rId2" Type="http://schemas.openxmlformats.org/officeDocument/2006/relationships/slideLayout" Target="../slideLayouts/slideLayout2.xml"/><Relationship Id="rId16" Type="http://schemas.openxmlformats.org/officeDocument/2006/relationships/oleObject" Target="../embeddings/oleObject287.bin"/><Relationship Id="rId20" Type="http://schemas.openxmlformats.org/officeDocument/2006/relationships/oleObject" Target="../embeddings/oleObject289.bin"/><Relationship Id="rId29" Type="http://schemas.openxmlformats.org/officeDocument/2006/relationships/image" Target="../media/image297.wmf"/><Relationship Id="rId1" Type="http://schemas.openxmlformats.org/officeDocument/2006/relationships/vmlDrawing" Target="../drawings/vmlDrawing65.vml"/><Relationship Id="rId6" Type="http://schemas.openxmlformats.org/officeDocument/2006/relationships/oleObject" Target="../embeddings/oleObject282.bin"/><Relationship Id="rId11" Type="http://schemas.openxmlformats.org/officeDocument/2006/relationships/image" Target="../media/image288.wmf"/><Relationship Id="rId24" Type="http://schemas.openxmlformats.org/officeDocument/2006/relationships/oleObject" Target="../embeddings/oleObject291.bin"/><Relationship Id="rId5" Type="http://schemas.openxmlformats.org/officeDocument/2006/relationships/image" Target="../media/image286.wmf"/><Relationship Id="rId15" Type="http://schemas.openxmlformats.org/officeDocument/2006/relationships/image" Target="../media/image290.wmf"/><Relationship Id="rId23" Type="http://schemas.openxmlformats.org/officeDocument/2006/relationships/image" Target="../media/image294.wmf"/><Relationship Id="rId28" Type="http://schemas.openxmlformats.org/officeDocument/2006/relationships/oleObject" Target="../embeddings/oleObject293.bin"/><Relationship Id="rId10" Type="http://schemas.openxmlformats.org/officeDocument/2006/relationships/oleObject" Target="../embeddings/oleObject284.bin"/><Relationship Id="rId19" Type="http://schemas.openxmlformats.org/officeDocument/2006/relationships/image" Target="../media/image292.wmf"/><Relationship Id="rId4" Type="http://schemas.openxmlformats.org/officeDocument/2006/relationships/oleObject" Target="../embeddings/oleObject281.bin"/><Relationship Id="rId9" Type="http://schemas.openxmlformats.org/officeDocument/2006/relationships/image" Target="../media/image274.wmf"/><Relationship Id="rId14" Type="http://schemas.openxmlformats.org/officeDocument/2006/relationships/oleObject" Target="../embeddings/oleObject286.bin"/><Relationship Id="rId22" Type="http://schemas.openxmlformats.org/officeDocument/2006/relationships/oleObject" Target="../embeddings/oleObject290.bin"/><Relationship Id="rId27" Type="http://schemas.openxmlformats.org/officeDocument/2006/relationships/image" Target="../media/image296.wmf"/></Relationships>
</file>

<file path=ppt/slides/_rels/slide8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99.wmf"/><Relationship Id="rId2" Type="http://schemas.openxmlformats.org/officeDocument/2006/relationships/slideLayout" Target="../slideLayouts/slideLayout2.xml"/><Relationship Id="rId1" Type="http://schemas.openxmlformats.org/officeDocument/2006/relationships/vmlDrawing" Target="../drawings/vmlDrawing66.vml"/><Relationship Id="rId6" Type="http://schemas.openxmlformats.org/officeDocument/2006/relationships/oleObject" Target="../embeddings/oleObject295.bin"/><Relationship Id="rId5" Type="http://schemas.openxmlformats.org/officeDocument/2006/relationships/image" Target="../media/image298.wmf"/><Relationship Id="rId4" Type="http://schemas.openxmlformats.org/officeDocument/2006/relationships/oleObject" Target="../embeddings/oleObject294.bin"/></Relationships>
</file>

<file path=ppt/slides/_rels/slide84.xml.rels><?xml version="1.0" encoding="UTF-8" standalone="yes"?>
<Relationships xmlns="http://schemas.openxmlformats.org/package/2006/relationships"><Relationship Id="rId8" Type="http://schemas.openxmlformats.org/officeDocument/2006/relationships/oleObject" Target="../embeddings/oleObject298.bin"/><Relationship Id="rId3" Type="http://schemas.openxmlformats.org/officeDocument/2006/relationships/image" Target="../media/image9.png"/><Relationship Id="rId7" Type="http://schemas.openxmlformats.org/officeDocument/2006/relationships/image" Target="../media/image301.wmf"/><Relationship Id="rId2" Type="http://schemas.openxmlformats.org/officeDocument/2006/relationships/slideLayout" Target="../slideLayouts/slideLayout2.xml"/><Relationship Id="rId1" Type="http://schemas.openxmlformats.org/officeDocument/2006/relationships/vmlDrawing" Target="../drawings/vmlDrawing67.vml"/><Relationship Id="rId6" Type="http://schemas.openxmlformats.org/officeDocument/2006/relationships/oleObject" Target="../embeddings/oleObject297.bin"/><Relationship Id="rId5" Type="http://schemas.openxmlformats.org/officeDocument/2006/relationships/image" Target="../media/image300.wmf"/><Relationship Id="rId4" Type="http://schemas.openxmlformats.org/officeDocument/2006/relationships/oleObject" Target="../embeddings/oleObject296.bin"/><Relationship Id="rId9" Type="http://schemas.openxmlformats.org/officeDocument/2006/relationships/image" Target="../media/image302.wmf"/></Relationships>
</file>

<file path=ppt/slides/_rels/slide85.xml.rels><?xml version="1.0" encoding="UTF-8" standalone="yes"?>
<Relationships xmlns="http://schemas.openxmlformats.org/package/2006/relationships"><Relationship Id="rId8" Type="http://schemas.openxmlformats.org/officeDocument/2006/relationships/oleObject" Target="../embeddings/oleObject301.bin"/><Relationship Id="rId13" Type="http://schemas.openxmlformats.org/officeDocument/2006/relationships/image" Target="../media/image262.wmf"/><Relationship Id="rId18" Type="http://schemas.openxmlformats.org/officeDocument/2006/relationships/oleObject" Target="../embeddings/oleObject306.bin"/><Relationship Id="rId3" Type="http://schemas.openxmlformats.org/officeDocument/2006/relationships/image" Target="../media/image9.png"/><Relationship Id="rId7" Type="http://schemas.openxmlformats.org/officeDocument/2006/relationships/image" Target="../media/image259.wmf"/><Relationship Id="rId12" Type="http://schemas.openxmlformats.org/officeDocument/2006/relationships/oleObject" Target="../embeddings/oleObject303.bin"/><Relationship Id="rId17" Type="http://schemas.openxmlformats.org/officeDocument/2006/relationships/image" Target="../media/image305.wmf"/><Relationship Id="rId2" Type="http://schemas.openxmlformats.org/officeDocument/2006/relationships/slideLayout" Target="../slideLayouts/slideLayout2.xml"/><Relationship Id="rId16" Type="http://schemas.openxmlformats.org/officeDocument/2006/relationships/oleObject" Target="../embeddings/oleObject305.bin"/><Relationship Id="rId1" Type="http://schemas.openxmlformats.org/officeDocument/2006/relationships/vmlDrawing" Target="../drawings/vmlDrawing68.vml"/><Relationship Id="rId6" Type="http://schemas.openxmlformats.org/officeDocument/2006/relationships/oleObject" Target="../embeddings/oleObject300.bin"/><Relationship Id="rId11" Type="http://schemas.openxmlformats.org/officeDocument/2006/relationships/image" Target="../media/image304.wmf"/><Relationship Id="rId5" Type="http://schemas.openxmlformats.org/officeDocument/2006/relationships/image" Target="../media/image303.wmf"/><Relationship Id="rId15" Type="http://schemas.openxmlformats.org/officeDocument/2006/relationships/image" Target="../media/image263.wmf"/><Relationship Id="rId10" Type="http://schemas.openxmlformats.org/officeDocument/2006/relationships/oleObject" Target="../embeddings/oleObject302.bin"/><Relationship Id="rId19" Type="http://schemas.openxmlformats.org/officeDocument/2006/relationships/image" Target="../media/image264.wmf"/><Relationship Id="rId4" Type="http://schemas.openxmlformats.org/officeDocument/2006/relationships/oleObject" Target="../embeddings/oleObject299.bin"/><Relationship Id="rId9" Type="http://schemas.openxmlformats.org/officeDocument/2006/relationships/image" Target="../media/image260.wmf"/><Relationship Id="rId14" Type="http://schemas.openxmlformats.org/officeDocument/2006/relationships/oleObject" Target="../embeddings/oleObject304.bin"/></Relationships>
</file>

<file path=ppt/slides/_rels/slide8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8" Type="http://schemas.openxmlformats.org/officeDocument/2006/relationships/oleObject" Target="../embeddings/oleObject309.bin"/><Relationship Id="rId13" Type="http://schemas.openxmlformats.org/officeDocument/2006/relationships/image" Target="../media/image310.wmf"/><Relationship Id="rId3" Type="http://schemas.openxmlformats.org/officeDocument/2006/relationships/image" Target="../media/image9.png"/><Relationship Id="rId7" Type="http://schemas.openxmlformats.org/officeDocument/2006/relationships/image" Target="../media/image307.wmf"/><Relationship Id="rId12" Type="http://schemas.openxmlformats.org/officeDocument/2006/relationships/oleObject" Target="../embeddings/oleObject311.bin"/><Relationship Id="rId2" Type="http://schemas.openxmlformats.org/officeDocument/2006/relationships/slideLayout" Target="../slideLayouts/slideLayout2.xml"/><Relationship Id="rId1" Type="http://schemas.openxmlformats.org/officeDocument/2006/relationships/vmlDrawing" Target="../drawings/vmlDrawing69.vml"/><Relationship Id="rId6" Type="http://schemas.openxmlformats.org/officeDocument/2006/relationships/oleObject" Target="../embeddings/oleObject308.bin"/><Relationship Id="rId11" Type="http://schemas.openxmlformats.org/officeDocument/2006/relationships/image" Target="../media/image309.wmf"/><Relationship Id="rId5" Type="http://schemas.openxmlformats.org/officeDocument/2006/relationships/image" Target="../media/image306.wmf"/><Relationship Id="rId15" Type="http://schemas.openxmlformats.org/officeDocument/2006/relationships/image" Target="../media/image311.wmf"/><Relationship Id="rId10" Type="http://schemas.openxmlformats.org/officeDocument/2006/relationships/oleObject" Target="../embeddings/oleObject310.bin"/><Relationship Id="rId4" Type="http://schemas.openxmlformats.org/officeDocument/2006/relationships/oleObject" Target="../embeddings/oleObject307.bin"/><Relationship Id="rId9" Type="http://schemas.openxmlformats.org/officeDocument/2006/relationships/image" Target="../media/image308.wmf"/><Relationship Id="rId14" Type="http://schemas.openxmlformats.org/officeDocument/2006/relationships/oleObject" Target="../embeddings/oleObject312.bin"/></Relationships>
</file>

<file path=ppt/slides/_rels/slide88.xml.rels><?xml version="1.0" encoding="UTF-8" standalone="yes"?>
<Relationships xmlns="http://schemas.openxmlformats.org/package/2006/relationships"><Relationship Id="rId8" Type="http://schemas.openxmlformats.org/officeDocument/2006/relationships/oleObject" Target="../embeddings/oleObject315.bin"/><Relationship Id="rId13" Type="http://schemas.openxmlformats.org/officeDocument/2006/relationships/image" Target="../media/image316.wmf"/><Relationship Id="rId18" Type="http://schemas.openxmlformats.org/officeDocument/2006/relationships/oleObject" Target="../embeddings/oleObject320.bin"/><Relationship Id="rId3" Type="http://schemas.openxmlformats.org/officeDocument/2006/relationships/image" Target="../media/image9.png"/><Relationship Id="rId21" Type="http://schemas.openxmlformats.org/officeDocument/2006/relationships/image" Target="../media/image320.wmf"/><Relationship Id="rId7" Type="http://schemas.openxmlformats.org/officeDocument/2006/relationships/image" Target="../media/image313.wmf"/><Relationship Id="rId12" Type="http://schemas.openxmlformats.org/officeDocument/2006/relationships/oleObject" Target="../embeddings/oleObject317.bin"/><Relationship Id="rId17" Type="http://schemas.openxmlformats.org/officeDocument/2006/relationships/image" Target="../media/image318.wmf"/><Relationship Id="rId2" Type="http://schemas.openxmlformats.org/officeDocument/2006/relationships/slideLayout" Target="../slideLayouts/slideLayout2.xml"/><Relationship Id="rId16" Type="http://schemas.openxmlformats.org/officeDocument/2006/relationships/oleObject" Target="../embeddings/oleObject319.bin"/><Relationship Id="rId20" Type="http://schemas.openxmlformats.org/officeDocument/2006/relationships/oleObject" Target="../embeddings/oleObject321.bin"/><Relationship Id="rId1" Type="http://schemas.openxmlformats.org/officeDocument/2006/relationships/vmlDrawing" Target="../drawings/vmlDrawing70.vml"/><Relationship Id="rId6" Type="http://schemas.openxmlformats.org/officeDocument/2006/relationships/oleObject" Target="../embeddings/oleObject314.bin"/><Relationship Id="rId11" Type="http://schemas.openxmlformats.org/officeDocument/2006/relationships/image" Target="../media/image315.wmf"/><Relationship Id="rId5" Type="http://schemas.openxmlformats.org/officeDocument/2006/relationships/image" Target="../media/image312.wmf"/><Relationship Id="rId15" Type="http://schemas.openxmlformats.org/officeDocument/2006/relationships/image" Target="../media/image317.wmf"/><Relationship Id="rId23" Type="http://schemas.openxmlformats.org/officeDocument/2006/relationships/image" Target="../media/image321.wmf"/><Relationship Id="rId10" Type="http://schemas.openxmlformats.org/officeDocument/2006/relationships/oleObject" Target="../embeddings/oleObject316.bin"/><Relationship Id="rId19" Type="http://schemas.openxmlformats.org/officeDocument/2006/relationships/image" Target="../media/image319.wmf"/><Relationship Id="rId4" Type="http://schemas.openxmlformats.org/officeDocument/2006/relationships/oleObject" Target="../embeddings/oleObject313.bin"/><Relationship Id="rId9" Type="http://schemas.openxmlformats.org/officeDocument/2006/relationships/image" Target="../media/image314.wmf"/><Relationship Id="rId14" Type="http://schemas.openxmlformats.org/officeDocument/2006/relationships/oleObject" Target="../embeddings/oleObject318.bin"/><Relationship Id="rId22" Type="http://schemas.openxmlformats.org/officeDocument/2006/relationships/oleObject" Target="../embeddings/oleObject322.bin"/></Relationships>
</file>

<file path=ppt/slides/_rels/slide89.xml.rels><?xml version="1.0" encoding="UTF-8" standalone="yes"?>
<Relationships xmlns="http://schemas.openxmlformats.org/package/2006/relationships"><Relationship Id="rId8" Type="http://schemas.openxmlformats.org/officeDocument/2006/relationships/oleObject" Target="../embeddings/oleObject325.bin"/><Relationship Id="rId13" Type="http://schemas.openxmlformats.org/officeDocument/2006/relationships/image" Target="../media/image326.wmf"/><Relationship Id="rId3" Type="http://schemas.openxmlformats.org/officeDocument/2006/relationships/image" Target="../media/image9.png"/><Relationship Id="rId7" Type="http://schemas.openxmlformats.org/officeDocument/2006/relationships/image" Target="../media/image323.wmf"/><Relationship Id="rId12" Type="http://schemas.openxmlformats.org/officeDocument/2006/relationships/oleObject" Target="../embeddings/oleObject327.bin"/><Relationship Id="rId2" Type="http://schemas.openxmlformats.org/officeDocument/2006/relationships/slideLayout" Target="../slideLayouts/slideLayout2.xml"/><Relationship Id="rId1" Type="http://schemas.openxmlformats.org/officeDocument/2006/relationships/vmlDrawing" Target="../drawings/vmlDrawing71.vml"/><Relationship Id="rId6" Type="http://schemas.openxmlformats.org/officeDocument/2006/relationships/oleObject" Target="../embeddings/oleObject324.bin"/><Relationship Id="rId11" Type="http://schemas.openxmlformats.org/officeDocument/2006/relationships/image" Target="../media/image325.wmf"/><Relationship Id="rId5" Type="http://schemas.openxmlformats.org/officeDocument/2006/relationships/image" Target="../media/image322.wmf"/><Relationship Id="rId15" Type="http://schemas.openxmlformats.org/officeDocument/2006/relationships/image" Target="../media/image327.wmf"/><Relationship Id="rId10" Type="http://schemas.openxmlformats.org/officeDocument/2006/relationships/oleObject" Target="../embeddings/oleObject326.bin"/><Relationship Id="rId4" Type="http://schemas.openxmlformats.org/officeDocument/2006/relationships/oleObject" Target="../embeddings/oleObject323.bin"/><Relationship Id="rId9" Type="http://schemas.openxmlformats.org/officeDocument/2006/relationships/image" Target="../media/image324.wmf"/><Relationship Id="rId14" Type="http://schemas.openxmlformats.org/officeDocument/2006/relationships/oleObject" Target="../embeddings/oleObject328.bin"/></Relationships>
</file>

<file path=ppt/slides/_rels/slide90.xml.rels><?xml version="1.0" encoding="UTF-8" standalone="yes"?>
<Relationships xmlns="http://schemas.openxmlformats.org/package/2006/relationships"><Relationship Id="rId8" Type="http://schemas.openxmlformats.org/officeDocument/2006/relationships/image" Target="../media/image329.wmf"/><Relationship Id="rId13" Type="http://schemas.openxmlformats.org/officeDocument/2006/relationships/oleObject" Target="../embeddings/oleObject333.bin"/><Relationship Id="rId18" Type="http://schemas.openxmlformats.org/officeDocument/2006/relationships/image" Target="../media/image326.wmf"/><Relationship Id="rId3" Type="http://schemas.openxmlformats.org/officeDocument/2006/relationships/image" Target="../media/image9.png"/><Relationship Id="rId7" Type="http://schemas.openxmlformats.org/officeDocument/2006/relationships/oleObject" Target="../embeddings/oleObject330.bin"/><Relationship Id="rId12" Type="http://schemas.openxmlformats.org/officeDocument/2006/relationships/image" Target="../media/image331.wmf"/><Relationship Id="rId17" Type="http://schemas.openxmlformats.org/officeDocument/2006/relationships/oleObject" Target="../embeddings/oleObject335.bin"/><Relationship Id="rId2" Type="http://schemas.openxmlformats.org/officeDocument/2006/relationships/slideLayout" Target="../slideLayouts/slideLayout2.xml"/><Relationship Id="rId16" Type="http://schemas.openxmlformats.org/officeDocument/2006/relationships/image" Target="../media/image325.wmf"/><Relationship Id="rId20" Type="http://schemas.openxmlformats.org/officeDocument/2006/relationships/image" Target="../media/image332.wmf"/><Relationship Id="rId1" Type="http://schemas.openxmlformats.org/officeDocument/2006/relationships/vmlDrawing" Target="../drawings/vmlDrawing72.vml"/><Relationship Id="rId6" Type="http://schemas.openxmlformats.org/officeDocument/2006/relationships/image" Target="../media/image333.jpeg"/><Relationship Id="rId11" Type="http://schemas.openxmlformats.org/officeDocument/2006/relationships/oleObject" Target="../embeddings/oleObject332.bin"/><Relationship Id="rId5" Type="http://schemas.openxmlformats.org/officeDocument/2006/relationships/image" Target="../media/image328.wmf"/><Relationship Id="rId15" Type="http://schemas.openxmlformats.org/officeDocument/2006/relationships/oleObject" Target="../embeddings/oleObject334.bin"/><Relationship Id="rId10" Type="http://schemas.openxmlformats.org/officeDocument/2006/relationships/image" Target="../media/image330.wmf"/><Relationship Id="rId19" Type="http://schemas.openxmlformats.org/officeDocument/2006/relationships/oleObject" Target="../embeddings/oleObject336.bin"/><Relationship Id="rId4" Type="http://schemas.openxmlformats.org/officeDocument/2006/relationships/oleObject" Target="../embeddings/oleObject329.bin"/><Relationship Id="rId9" Type="http://schemas.openxmlformats.org/officeDocument/2006/relationships/oleObject" Target="../embeddings/oleObject331.bin"/><Relationship Id="rId14" Type="http://schemas.openxmlformats.org/officeDocument/2006/relationships/image" Target="../media/image324.wmf"/></Relationships>
</file>

<file path=ppt/slides/_rels/slide91.xml.rels><?xml version="1.0" encoding="UTF-8" standalone="yes"?>
<Relationships xmlns="http://schemas.openxmlformats.org/package/2006/relationships"><Relationship Id="rId8" Type="http://schemas.openxmlformats.org/officeDocument/2006/relationships/oleObject" Target="../embeddings/oleObject339.bin"/><Relationship Id="rId13" Type="http://schemas.openxmlformats.org/officeDocument/2006/relationships/image" Target="../media/image338.wmf"/><Relationship Id="rId18" Type="http://schemas.openxmlformats.org/officeDocument/2006/relationships/oleObject" Target="../embeddings/oleObject344.bin"/><Relationship Id="rId3" Type="http://schemas.openxmlformats.org/officeDocument/2006/relationships/image" Target="../media/image9.png"/><Relationship Id="rId7" Type="http://schemas.openxmlformats.org/officeDocument/2006/relationships/image" Target="../media/image335.wmf"/><Relationship Id="rId12" Type="http://schemas.openxmlformats.org/officeDocument/2006/relationships/oleObject" Target="../embeddings/oleObject341.bin"/><Relationship Id="rId17" Type="http://schemas.openxmlformats.org/officeDocument/2006/relationships/image" Target="../media/image340.wmf"/><Relationship Id="rId2" Type="http://schemas.openxmlformats.org/officeDocument/2006/relationships/slideLayout" Target="../slideLayouts/slideLayout2.xml"/><Relationship Id="rId16" Type="http://schemas.openxmlformats.org/officeDocument/2006/relationships/oleObject" Target="../embeddings/oleObject343.bin"/><Relationship Id="rId20" Type="http://schemas.openxmlformats.org/officeDocument/2006/relationships/image" Target="../media/image333.jpeg"/><Relationship Id="rId1" Type="http://schemas.openxmlformats.org/officeDocument/2006/relationships/vmlDrawing" Target="../drawings/vmlDrawing73.vml"/><Relationship Id="rId6" Type="http://schemas.openxmlformats.org/officeDocument/2006/relationships/oleObject" Target="../embeddings/oleObject338.bin"/><Relationship Id="rId11" Type="http://schemas.openxmlformats.org/officeDocument/2006/relationships/image" Target="../media/image337.wmf"/><Relationship Id="rId5" Type="http://schemas.openxmlformats.org/officeDocument/2006/relationships/image" Target="../media/image334.wmf"/><Relationship Id="rId15" Type="http://schemas.openxmlformats.org/officeDocument/2006/relationships/image" Target="../media/image339.wmf"/><Relationship Id="rId10" Type="http://schemas.openxmlformats.org/officeDocument/2006/relationships/oleObject" Target="../embeddings/oleObject340.bin"/><Relationship Id="rId19" Type="http://schemas.openxmlformats.org/officeDocument/2006/relationships/image" Target="../media/image341.wmf"/><Relationship Id="rId4" Type="http://schemas.openxmlformats.org/officeDocument/2006/relationships/oleObject" Target="../embeddings/oleObject337.bin"/><Relationship Id="rId9" Type="http://schemas.openxmlformats.org/officeDocument/2006/relationships/image" Target="../media/image336.wmf"/><Relationship Id="rId14" Type="http://schemas.openxmlformats.org/officeDocument/2006/relationships/oleObject" Target="../embeddings/oleObject342.bin"/></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6" name="Rectangle 4"/>
          <p:cNvSpPr>
            <a:spLocks noGrp="1" noChangeArrowheads="1"/>
          </p:cNvSpPr>
          <p:nvPr>
            <p:ph type="ctrTitle"/>
          </p:nvPr>
        </p:nvSpPr>
        <p:spPr>
          <a:xfrm>
            <a:off x="2166910" y="2038135"/>
            <a:ext cx="7858180" cy="747712"/>
          </a:xfrm>
        </p:spPr>
        <p:txBody>
          <a:bodyPr/>
          <a:lstStyle/>
          <a:p>
            <a:pPr>
              <a:lnSpc>
                <a:spcPct val="65000"/>
              </a:lnSpc>
              <a:spcBef>
                <a:spcPct val="50000"/>
              </a:spcBef>
              <a:defRPr/>
            </a:pPr>
            <a:r>
              <a:rPr lang="zh-CN" altLang="en-US" sz="6000" dirty="0">
                <a:solidFill>
                  <a:srgbClr val="0000FF"/>
                </a:solidFill>
                <a:latin typeface="方正姚体" pitchFamily="2" charset="-122"/>
                <a:ea typeface="方正姚体" pitchFamily="2" charset="-122"/>
                <a:cs typeface="+mn-cs"/>
              </a:rPr>
              <a:t>模式识别与机器学习</a:t>
            </a:r>
            <a:endParaRPr lang="zh-CN" altLang="en-GB" sz="6000" dirty="0">
              <a:solidFill>
                <a:srgbClr val="0000FF"/>
              </a:solidFill>
              <a:latin typeface="方正姚体" pitchFamily="2" charset="-122"/>
              <a:ea typeface="方正姚体" pitchFamily="2" charset="-122"/>
              <a:cs typeface="+mn-cs"/>
            </a:endParaRPr>
          </a:p>
        </p:txBody>
      </p:sp>
      <p:sp>
        <p:nvSpPr>
          <p:cNvPr id="4100" name="TextBox 6"/>
          <p:cNvSpPr txBox="1">
            <a:spLocks noChangeArrowheads="1"/>
          </p:cNvSpPr>
          <p:nvPr/>
        </p:nvSpPr>
        <p:spPr bwMode="auto">
          <a:xfrm>
            <a:off x="6672064" y="260648"/>
            <a:ext cx="5369223" cy="646331"/>
          </a:xfrm>
          <a:prstGeom prst="rect">
            <a:avLst/>
          </a:prstGeom>
          <a:noFill/>
          <a:ln w="9525">
            <a:noFill/>
            <a:miter lim="800000"/>
            <a:headEnd/>
            <a:tailEnd/>
          </a:ln>
        </p:spPr>
        <p:txBody>
          <a:bodyPr wrap="square">
            <a:spAutoFit/>
          </a:bodyPr>
          <a:lstStyle/>
          <a:p>
            <a:pPr algn="r"/>
            <a:r>
              <a:rPr lang="zh-CN" altLang="en-US" sz="3600" b="1" dirty="0">
                <a:solidFill>
                  <a:srgbClr val="418D91"/>
                </a:solidFill>
                <a:latin typeface="黑体" pitchFamily="49" charset="-122"/>
                <a:ea typeface="黑体" pitchFamily="49" charset="-122"/>
              </a:rPr>
              <a:t>人工智能与自动化学院</a:t>
            </a:r>
          </a:p>
        </p:txBody>
      </p:sp>
      <p:sp>
        <p:nvSpPr>
          <p:cNvPr id="4" name="矩形 3"/>
          <p:cNvSpPr/>
          <p:nvPr/>
        </p:nvSpPr>
        <p:spPr>
          <a:xfrm>
            <a:off x="1666844" y="3214686"/>
            <a:ext cx="5519460" cy="584775"/>
          </a:xfrm>
          <a:prstGeom prst="rect">
            <a:avLst/>
          </a:prstGeom>
        </p:spPr>
        <p:txBody>
          <a:bodyPr wrap="none">
            <a:spAutoFit/>
          </a:bodyPr>
          <a:lstStyle/>
          <a:p>
            <a:r>
              <a:rPr lang="zh-CN" altLang="zh-CN" sz="3200" b="1" dirty="0">
                <a:latin typeface="黑体" pitchFamily="49" charset="-122"/>
                <a:ea typeface="黑体" pitchFamily="49" charset="-122"/>
              </a:rPr>
              <a:t>基于统计决策的概率分类方法</a:t>
            </a:r>
            <a:endParaRPr lang="zh-CN" altLang="en-US" sz="3200" b="1" dirty="0">
              <a:latin typeface="黑体" pitchFamily="49" charset="-122"/>
              <a:ea typeface="黑体"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6"/>
          <p:cNvSpPr>
            <a:spLocks/>
          </p:cNvSpPr>
          <p:nvPr/>
        </p:nvSpPr>
        <p:spPr bwMode="auto">
          <a:xfrm>
            <a:off x="0" y="5589240"/>
            <a:ext cx="12192000" cy="864096"/>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p>
        </p:txBody>
      </p:sp>
      <p:sp>
        <p:nvSpPr>
          <p:cNvPr id="9" name="Freeform 7"/>
          <p:cNvSpPr>
            <a:spLocks/>
          </p:cNvSpPr>
          <p:nvPr/>
        </p:nvSpPr>
        <p:spPr bwMode="auto">
          <a:xfrm>
            <a:off x="-24680" y="5425669"/>
            <a:ext cx="12216680" cy="357166"/>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solidFill>
                <a:schemeClr val="tx2">
                  <a:lumMod val="20000"/>
                  <a:lumOff val="80000"/>
                </a:schemeClr>
              </a:solidFill>
            </a:endParaRPr>
          </a:p>
        </p:txBody>
      </p:sp>
      <p:pic>
        <p:nvPicPr>
          <p:cNvPr id="3" name="图片 2"/>
          <p:cNvPicPr>
            <a:picLocks noChangeAspect="1"/>
          </p:cNvPicPr>
          <p:nvPr/>
        </p:nvPicPr>
        <p:blipFill>
          <a:blip r:embed="rId3"/>
          <a:stretch>
            <a:fillRect/>
          </a:stretch>
        </p:blipFill>
        <p:spPr>
          <a:xfrm>
            <a:off x="0" y="6468398"/>
            <a:ext cx="1349719" cy="404664"/>
          </a:xfrm>
          <a:prstGeom prst="rect">
            <a:avLst/>
          </a:prstGeom>
        </p:spPr>
      </p:pic>
      <p:sp>
        <p:nvSpPr>
          <p:cNvPr id="6" name="文本框 5"/>
          <p:cNvSpPr txBox="1"/>
          <p:nvPr/>
        </p:nvSpPr>
        <p:spPr>
          <a:xfrm>
            <a:off x="-24680" y="6436962"/>
            <a:ext cx="5472608" cy="461665"/>
          </a:xfrm>
          <a:prstGeom prst="rect">
            <a:avLst/>
          </a:prstGeom>
          <a:noFill/>
        </p:spPr>
        <p:txBody>
          <a:bodyPr wrap="square" rtlCol="0">
            <a:spAutoFit/>
          </a:bodyPr>
          <a:lstStyle/>
          <a:p>
            <a:r>
              <a:rPr lang="zh-CN" altLang="en-US" sz="2400" b="1" dirty="0">
                <a:solidFill>
                  <a:srgbClr val="0000FF"/>
                </a:solidFill>
              </a:rPr>
              <a:t>人工智能与自动化学院        </a:t>
            </a:r>
          </a:p>
        </p:txBody>
      </p:sp>
      <p:sp>
        <p:nvSpPr>
          <p:cNvPr id="12"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zh-CN" altLang="en-US" kern="0" dirty="0"/>
              <a:t>第</a:t>
            </a:r>
            <a:r>
              <a:rPr lang="en-US" altLang="zh-CN" kern="0" dirty="0"/>
              <a:t>13</a:t>
            </a:r>
            <a:r>
              <a:rPr lang="zh-CN" altLang="en-US" kern="0" dirty="0"/>
              <a:t>章 </a:t>
            </a:r>
            <a:r>
              <a:rPr lang="zh-CN" altLang="zh-CN" dirty="0"/>
              <a:t>基于统计决策的概率分类方法</a:t>
            </a:r>
          </a:p>
        </p:txBody>
      </p:sp>
      <p:sp>
        <p:nvSpPr>
          <p:cNvPr id="7" name="灯片编号占位符 6">
            <a:extLst>
              <a:ext uri="{FF2B5EF4-FFF2-40B4-BE49-F238E27FC236}">
                <a16:creationId xmlns:a16="http://schemas.microsoft.com/office/drawing/2014/main" id="{57A11AAC-03BE-45BB-A5C8-11C5A0B0B16C}"/>
              </a:ext>
            </a:extLst>
          </p:cNvPr>
          <p:cNvSpPr>
            <a:spLocks noGrp="1"/>
          </p:cNvSpPr>
          <p:nvPr>
            <p:ph type="sldNum" sz="quarter" idx="11"/>
          </p:nvPr>
        </p:nvSpPr>
        <p:spPr/>
        <p:txBody>
          <a:bodyPr/>
          <a:lstStyle/>
          <a:p>
            <a:pPr>
              <a:defRPr/>
            </a:pPr>
            <a:fld id="{31E287EE-1289-4991-82CE-EFE584F53F4F}" type="slidenum">
              <a:rPr lang="en-US" altLang="zh-CN" smtClean="0"/>
              <a:pPr>
                <a:defRPr/>
              </a:pPr>
              <a:t>2</a:t>
            </a:fld>
            <a:endParaRPr lang="en-US" altLang="zh-CN" dirty="0"/>
          </a:p>
        </p:txBody>
      </p:sp>
      <p:sp>
        <p:nvSpPr>
          <p:cNvPr id="11" name="内容占位符 2"/>
          <p:cNvSpPr txBox="1">
            <a:spLocks/>
          </p:cNvSpPr>
          <p:nvPr/>
        </p:nvSpPr>
        <p:spPr bwMode="gray">
          <a:xfrm>
            <a:off x="674859" y="1340572"/>
            <a:ext cx="4752528" cy="4322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0" indent="0" algn="ctr" rtl="0" eaLnBrk="0" fontAlgn="base" hangingPunct="0">
              <a:spcBef>
                <a:spcPct val="20000"/>
              </a:spcBef>
              <a:spcAft>
                <a:spcPct val="0"/>
              </a:spcAft>
              <a:buClr>
                <a:schemeClr val="tx2"/>
              </a:buClr>
              <a:buFont typeface="Wingdings" pitchFamily="2" charset="2"/>
              <a:buNone/>
              <a:defRPr sz="28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Clr>
                <a:schemeClr val="accent1"/>
              </a:buClr>
              <a:buFont typeface="Wingdings" pitchFamily="2" charset="2"/>
              <a:buNone/>
              <a:defRPr sz="2600">
                <a:solidFill>
                  <a:schemeClr val="tx1">
                    <a:tint val="75000"/>
                  </a:schemeClr>
                </a:solidFill>
                <a:latin typeface="+mn-lt"/>
              </a:defRPr>
            </a:lvl2pPr>
            <a:lvl3pPr marL="914400" indent="0" algn="ctr" rtl="0" eaLnBrk="0" fontAlgn="base" hangingPunct="0">
              <a:spcBef>
                <a:spcPct val="20000"/>
              </a:spcBef>
              <a:spcAft>
                <a:spcPct val="0"/>
              </a:spcAft>
              <a:buClr>
                <a:schemeClr val="accent2"/>
              </a:buClr>
              <a:buNone/>
              <a:defRPr sz="2400">
                <a:solidFill>
                  <a:schemeClr val="tx1">
                    <a:tint val="75000"/>
                  </a:schemeClr>
                </a:solidFill>
                <a:latin typeface="+mn-lt"/>
              </a:defRPr>
            </a:lvl3pPr>
            <a:lvl4pPr marL="1371600" indent="0" algn="ctr" rtl="0" eaLnBrk="0" fontAlgn="base" hangingPunct="0">
              <a:spcBef>
                <a:spcPct val="20000"/>
              </a:spcBef>
              <a:spcAft>
                <a:spcPct val="0"/>
              </a:spcAft>
              <a:buNone/>
              <a:defRPr sz="2000">
                <a:solidFill>
                  <a:schemeClr val="tx1">
                    <a:tint val="75000"/>
                  </a:schemeClr>
                </a:solidFill>
                <a:latin typeface="+mn-lt"/>
              </a:defRPr>
            </a:lvl4pPr>
            <a:lvl5pPr marL="1828800" indent="0" algn="ctr" rtl="0" eaLnBrk="0" fontAlgn="base" hangingPunct="0">
              <a:spcBef>
                <a:spcPct val="20000"/>
              </a:spcBef>
              <a:spcAft>
                <a:spcPct val="0"/>
              </a:spcAft>
              <a:buNone/>
              <a:defRPr sz="2000">
                <a:solidFill>
                  <a:schemeClr val="tx1">
                    <a:tint val="75000"/>
                  </a:schemeClr>
                </a:solidFill>
                <a:latin typeface="+mn-lt"/>
              </a:defRPr>
            </a:lvl5pPr>
            <a:lvl6pPr marL="2286000" indent="0" algn="ctr" rtl="0" eaLnBrk="1" fontAlgn="base" hangingPunct="1">
              <a:spcBef>
                <a:spcPct val="20000"/>
              </a:spcBef>
              <a:spcAft>
                <a:spcPct val="0"/>
              </a:spcAft>
              <a:buNone/>
              <a:defRPr sz="2000">
                <a:solidFill>
                  <a:schemeClr val="tx1">
                    <a:tint val="75000"/>
                  </a:schemeClr>
                </a:solidFill>
                <a:latin typeface="+mn-lt"/>
              </a:defRPr>
            </a:lvl6pPr>
            <a:lvl7pPr marL="2743200" indent="0" algn="ctr" rtl="0" eaLnBrk="1" fontAlgn="base" hangingPunct="1">
              <a:spcBef>
                <a:spcPct val="20000"/>
              </a:spcBef>
              <a:spcAft>
                <a:spcPct val="0"/>
              </a:spcAft>
              <a:buNone/>
              <a:defRPr sz="2000">
                <a:solidFill>
                  <a:schemeClr val="tx1">
                    <a:tint val="75000"/>
                  </a:schemeClr>
                </a:solidFill>
                <a:latin typeface="+mn-lt"/>
              </a:defRPr>
            </a:lvl7pPr>
            <a:lvl8pPr marL="3200400" indent="0" algn="ctr" rtl="0" eaLnBrk="1" fontAlgn="base" hangingPunct="1">
              <a:spcBef>
                <a:spcPct val="20000"/>
              </a:spcBef>
              <a:spcAft>
                <a:spcPct val="0"/>
              </a:spcAft>
              <a:buNone/>
              <a:defRPr sz="2000">
                <a:solidFill>
                  <a:schemeClr val="tx1">
                    <a:tint val="75000"/>
                  </a:schemeClr>
                </a:solidFill>
                <a:latin typeface="+mn-lt"/>
              </a:defRPr>
            </a:lvl8pPr>
            <a:lvl9pPr marL="3657600" indent="0" algn="ctr" rtl="0" eaLnBrk="1" fontAlgn="base" hangingPunct="1">
              <a:spcBef>
                <a:spcPct val="20000"/>
              </a:spcBef>
              <a:spcAft>
                <a:spcPct val="0"/>
              </a:spcAft>
              <a:buNone/>
              <a:defRPr sz="2000">
                <a:solidFill>
                  <a:schemeClr val="tx1">
                    <a:tint val="75000"/>
                  </a:schemeClr>
                </a:solidFill>
                <a:latin typeface="+mn-lt"/>
              </a:defRPr>
            </a:lvl9pPr>
          </a:lstStyle>
          <a:p>
            <a:pPr algn="just" eaLnBrk="1" hangingPunct="1">
              <a:spcBef>
                <a:spcPct val="0"/>
              </a:spcBef>
              <a:buClrTx/>
            </a:pPr>
            <a:r>
              <a:rPr lang="zh-CN" altLang="en-US" sz="2200" kern="0" dirty="0">
                <a:solidFill>
                  <a:srgbClr val="0000FF"/>
                </a:solidFill>
                <a:latin typeface="Arial" panose="020B0604020202020204" pitchFamily="34" charset="0"/>
                <a:ea typeface="黑体" panose="02010609060101010101" pitchFamily="49" charset="-122"/>
              </a:rPr>
              <a:t>统计决策的核心技术是贝叶斯方法。</a:t>
            </a:r>
            <a:endParaRPr lang="en-US" altLang="zh-CN" sz="2200" kern="0" dirty="0">
              <a:solidFill>
                <a:srgbClr val="0000FF"/>
              </a:solidFill>
              <a:latin typeface="Arial" panose="020B0604020202020204" pitchFamily="34" charset="0"/>
              <a:ea typeface="黑体" panose="02010609060101010101" pitchFamily="49" charset="-122"/>
            </a:endParaRPr>
          </a:p>
        </p:txBody>
      </p:sp>
      <p:pic>
        <p:nvPicPr>
          <p:cNvPr id="13" name="图片 1"/>
          <p:cNvPicPr>
            <a:picLocks noChangeAspect="1"/>
          </p:cNvPicPr>
          <p:nvPr/>
        </p:nvPicPr>
        <p:blipFill>
          <a:blip r:embed="rId4" cstate="print"/>
          <a:srcRect/>
          <a:stretch>
            <a:fillRect/>
          </a:stretch>
        </p:blipFill>
        <p:spPr bwMode="auto">
          <a:xfrm>
            <a:off x="6435725" y="1367567"/>
            <a:ext cx="4638675" cy="2667000"/>
          </a:xfrm>
          <a:prstGeom prst="rect">
            <a:avLst/>
          </a:prstGeom>
          <a:noFill/>
          <a:ln w="9525">
            <a:noFill/>
            <a:miter lim="800000"/>
            <a:headEnd/>
            <a:tailEnd/>
          </a:ln>
        </p:spPr>
      </p:pic>
      <p:sp>
        <p:nvSpPr>
          <p:cNvPr id="14" name="Rectangle 2"/>
          <p:cNvSpPr>
            <a:spLocks noChangeArrowheads="1"/>
          </p:cNvSpPr>
          <p:nvPr/>
        </p:nvSpPr>
        <p:spPr bwMode="auto">
          <a:xfrm>
            <a:off x="6435724" y="4393135"/>
            <a:ext cx="4844851" cy="901465"/>
          </a:xfrm>
          <a:prstGeom prst="rect">
            <a:avLst/>
          </a:prstGeom>
          <a:noFill/>
          <a:ln w="12700">
            <a:noFill/>
            <a:miter lim="800000"/>
            <a:headEnd/>
            <a:tailEnd/>
          </a:ln>
        </p:spPr>
        <p:txBody>
          <a:bodyPr wrap="square" anchor="ctr">
            <a:spAutoFit/>
          </a:bodyPr>
          <a:lstStyle/>
          <a:p>
            <a:pPr eaLnBrk="1" hangingPunct="1">
              <a:lnSpc>
                <a:spcPct val="130000"/>
              </a:lnSpc>
            </a:pPr>
            <a:r>
              <a:rPr lang="zh-CN" altLang="en-US" sz="1400" b="1" dirty="0">
                <a:ea typeface="宋体" charset="-122"/>
              </a:rPr>
              <a:t>生活在</a:t>
            </a:r>
            <a:r>
              <a:rPr lang="en-US" altLang="zh-CN" sz="1400" b="1" dirty="0">
                <a:ea typeface="宋体" charset="-122"/>
              </a:rPr>
              <a:t>18</a:t>
            </a:r>
            <a:r>
              <a:rPr lang="zh-CN" altLang="en-US" sz="1400" b="1" dirty="0">
                <a:ea typeface="宋体" charset="-122"/>
              </a:rPr>
              <a:t>世纪的贝叶斯生前是位受人尊敬英格兰长老会牧师，为了证明上帝的存在，他发明了概率统计学原理，遗憾的是，他的这一美好愿望至死也未能实现。</a:t>
            </a:r>
            <a:endParaRPr lang="zh-CN" altLang="en-US" sz="1400" b="1" dirty="0">
              <a:solidFill>
                <a:srgbClr val="FFFFFF"/>
              </a:solidFill>
              <a:ea typeface="宋体" charset="-122"/>
            </a:endParaRPr>
          </a:p>
        </p:txBody>
      </p:sp>
    </p:spTree>
    <p:extLst>
      <p:ext uri="{BB962C8B-B14F-4D97-AF65-F5344CB8AC3E}">
        <p14:creationId xmlns:p14="http://schemas.microsoft.com/office/powerpoint/2010/main" val="2714861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55440" y="1556792"/>
            <a:ext cx="10369152" cy="3416320"/>
          </a:xfrm>
          <a:prstGeom prst="rect">
            <a:avLst/>
          </a:prstGeom>
          <a:noFill/>
        </p:spPr>
        <p:txBody>
          <a:bodyPr wrap="square" rtlCol="0">
            <a:spAutoFit/>
          </a:bodyPr>
          <a:lstStyle/>
          <a:p>
            <a:pPr>
              <a:lnSpc>
                <a:spcPct val="150000"/>
              </a:lnSpc>
            </a:pPr>
            <a:r>
              <a:rPr lang="en-US" altLang="zh-CN" sz="2400" b="1" dirty="0">
                <a:solidFill>
                  <a:srgbClr val="0000FF"/>
                </a:solidFill>
                <a:latin typeface="宋体" pitchFamily="2" charset="-122"/>
                <a:ea typeface="宋体" pitchFamily="2" charset="-122"/>
              </a:rPr>
              <a:t>13.1 </a:t>
            </a:r>
            <a:r>
              <a:rPr lang="zh-CN" altLang="zh-CN" sz="2400" b="1" dirty="0">
                <a:solidFill>
                  <a:srgbClr val="0000FF"/>
                </a:solidFill>
                <a:latin typeface="宋体" pitchFamily="2" charset="-122"/>
                <a:ea typeface="宋体" pitchFamily="2" charset="-122"/>
              </a:rPr>
              <a:t>最小错误率贝叶斯决策</a:t>
            </a:r>
          </a:p>
          <a:p>
            <a:pPr>
              <a:lnSpc>
                <a:spcPct val="150000"/>
              </a:lnSpc>
            </a:pPr>
            <a:r>
              <a:rPr lang="en-US" altLang="zh-CN" sz="2400" b="1" dirty="0">
                <a:latin typeface="宋体" pitchFamily="2" charset="-122"/>
                <a:ea typeface="宋体" pitchFamily="2" charset="-122"/>
              </a:rPr>
              <a:t>13.2 </a:t>
            </a:r>
            <a:r>
              <a:rPr lang="zh-CN" altLang="zh-CN" sz="2400" b="1" dirty="0">
                <a:latin typeface="宋体" pitchFamily="2" charset="-122"/>
                <a:ea typeface="宋体" pitchFamily="2" charset="-122"/>
              </a:rPr>
              <a:t>最小风险贝叶斯决策</a:t>
            </a:r>
          </a:p>
          <a:p>
            <a:pPr>
              <a:lnSpc>
                <a:spcPct val="150000"/>
              </a:lnSpc>
            </a:pPr>
            <a:r>
              <a:rPr lang="en-US" altLang="zh-CN" sz="2400" b="1" dirty="0">
                <a:latin typeface="宋体" pitchFamily="2" charset="-122"/>
                <a:ea typeface="宋体" pitchFamily="2" charset="-122"/>
              </a:rPr>
              <a:t>13.3 </a:t>
            </a:r>
            <a:r>
              <a:rPr lang="zh-CN" altLang="zh-CN" sz="2400" b="1" dirty="0">
                <a:latin typeface="宋体" pitchFamily="2" charset="-122"/>
                <a:ea typeface="宋体" pitchFamily="2" charset="-122"/>
              </a:rPr>
              <a:t>两类错误率、</a:t>
            </a:r>
            <a:r>
              <a:rPr lang="en-US" altLang="zh-CN" sz="2400" b="1" dirty="0" err="1">
                <a:latin typeface="宋体" pitchFamily="2" charset="-122"/>
                <a:ea typeface="宋体" pitchFamily="2" charset="-122"/>
              </a:rPr>
              <a:t>Neyman</a:t>
            </a:r>
            <a:r>
              <a:rPr lang="en-US" altLang="zh-CN" sz="2400" b="1" dirty="0">
                <a:latin typeface="宋体" pitchFamily="2" charset="-122"/>
                <a:ea typeface="宋体" pitchFamily="2" charset="-122"/>
              </a:rPr>
              <a:t>-Pearson</a:t>
            </a:r>
            <a:r>
              <a:rPr lang="zh-CN" altLang="zh-CN" sz="2400" b="1" dirty="0">
                <a:latin typeface="宋体" pitchFamily="2" charset="-122"/>
                <a:ea typeface="宋体" pitchFamily="2" charset="-122"/>
              </a:rPr>
              <a:t>决策和</a:t>
            </a:r>
            <a:r>
              <a:rPr lang="en-US" altLang="zh-CN" sz="2400" b="1" dirty="0">
                <a:latin typeface="宋体" pitchFamily="2" charset="-122"/>
                <a:ea typeface="宋体" pitchFamily="2" charset="-122"/>
              </a:rPr>
              <a:t>ROC</a:t>
            </a:r>
            <a:r>
              <a:rPr lang="zh-CN" altLang="zh-CN" sz="2400" b="1" dirty="0">
                <a:latin typeface="宋体" pitchFamily="2" charset="-122"/>
                <a:ea typeface="宋体" pitchFamily="2" charset="-122"/>
              </a:rPr>
              <a:t>曲线</a:t>
            </a:r>
          </a:p>
          <a:p>
            <a:pPr>
              <a:lnSpc>
                <a:spcPct val="150000"/>
              </a:lnSpc>
            </a:pPr>
            <a:r>
              <a:rPr lang="en-US" altLang="zh-CN" sz="2400" b="1" dirty="0">
                <a:latin typeface="宋体" pitchFamily="2" charset="-122"/>
                <a:ea typeface="宋体" pitchFamily="2" charset="-122"/>
              </a:rPr>
              <a:t>13.4 </a:t>
            </a:r>
            <a:r>
              <a:rPr lang="zh-CN" altLang="zh-CN" sz="2400" b="1" dirty="0">
                <a:latin typeface="宋体" pitchFamily="2" charset="-122"/>
                <a:ea typeface="宋体" pitchFamily="2" charset="-122"/>
              </a:rPr>
              <a:t>正态分布的统计决策</a:t>
            </a:r>
          </a:p>
          <a:p>
            <a:pPr>
              <a:lnSpc>
                <a:spcPct val="150000"/>
              </a:lnSpc>
            </a:pPr>
            <a:r>
              <a:rPr lang="en-US" altLang="zh-CN" sz="2400" b="1" dirty="0">
                <a:latin typeface="宋体" pitchFamily="2" charset="-122"/>
                <a:ea typeface="宋体" pitchFamily="2" charset="-122"/>
              </a:rPr>
              <a:t>13.5 </a:t>
            </a:r>
            <a:r>
              <a:rPr lang="zh-CN" altLang="zh-CN" sz="2400" b="1" dirty="0">
                <a:latin typeface="宋体" pitchFamily="2" charset="-122"/>
                <a:ea typeface="宋体" pitchFamily="2" charset="-122"/>
              </a:rPr>
              <a:t>关于分类器的错误率</a:t>
            </a:r>
            <a:r>
              <a:rPr lang="en-US" altLang="zh-CN" sz="2400" b="1" dirty="0">
                <a:latin typeface="宋体" pitchFamily="2" charset="-122"/>
                <a:ea typeface="宋体" pitchFamily="2" charset="-122"/>
              </a:rPr>
              <a:t>*</a:t>
            </a:r>
            <a:endParaRPr lang="zh-CN" altLang="zh-CN" sz="2400" b="1" dirty="0">
              <a:latin typeface="宋体" pitchFamily="2" charset="-122"/>
              <a:ea typeface="宋体" pitchFamily="2" charset="-122"/>
            </a:endParaRPr>
          </a:p>
          <a:p>
            <a:pPr>
              <a:lnSpc>
                <a:spcPct val="150000"/>
              </a:lnSpc>
            </a:pPr>
            <a:r>
              <a:rPr lang="en-US" altLang="zh-CN" sz="2400" b="1" dirty="0">
                <a:latin typeface="宋体" pitchFamily="2" charset="-122"/>
                <a:ea typeface="宋体" pitchFamily="2" charset="-122"/>
              </a:rPr>
              <a:t>13.6 </a:t>
            </a:r>
            <a:r>
              <a:rPr lang="zh-CN" altLang="zh-CN" sz="2400" b="1" dirty="0">
                <a:latin typeface="宋体" pitchFamily="2" charset="-122"/>
                <a:ea typeface="宋体" pitchFamily="2" charset="-122"/>
              </a:rPr>
              <a:t>离散概率模型下的统计决策</a:t>
            </a:r>
            <a:r>
              <a:rPr lang="en-US" altLang="zh-CN" sz="2400" b="1" dirty="0">
                <a:latin typeface="宋体" pitchFamily="2" charset="-122"/>
                <a:ea typeface="宋体" pitchFamily="2" charset="-122"/>
              </a:rPr>
              <a:t>*</a:t>
            </a:r>
            <a:endParaRPr lang="zh-CN" altLang="zh-CN" sz="2400" b="1" dirty="0">
              <a:latin typeface="宋体" pitchFamily="2" charset="-122"/>
              <a:ea typeface="宋体" pitchFamily="2" charset="-122"/>
            </a:endParaRPr>
          </a:p>
        </p:txBody>
      </p:sp>
      <p:sp>
        <p:nvSpPr>
          <p:cNvPr id="8" name="Freeform 6"/>
          <p:cNvSpPr>
            <a:spLocks/>
          </p:cNvSpPr>
          <p:nvPr/>
        </p:nvSpPr>
        <p:spPr bwMode="auto">
          <a:xfrm>
            <a:off x="0" y="5589240"/>
            <a:ext cx="12192000" cy="864096"/>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p>
        </p:txBody>
      </p:sp>
      <p:sp>
        <p:nvSpPr>
          <p:cNvPr id="9" name="Freeform 7"/>
          <p:cNvSpPr>
            <a:spLocks/>
          </p:cNvSpPr>
          <p:nvPr/>
        </p:nvSpPr>
        <p:spPr bwMode="auto">
          <a:xfrm>
            <a:off x="-24680" y="5425669"/>
            <a:ext cx="12216680" cy="357166"/>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solidFill>
                <a:schemeClr val="tx2">
                  <a:lumMod val="20000"/>
                  <a:lumOff val="80000"/>
                </a:schemeClr>
              </a:solidFill>
            </a:endParaRPr>
          </a:p>
        </p:txBody>
      </p:sp>
      <p:pic>
        <p:nvPicPr>
          <p:cNvPr id="3" name="图片 2"/>
          <p:cNvPicPr>
            <a:picLocks noChangeAspect="1"/>
          </p:cNvPicPr>
          <p:nvPr/>
        </p:nvPicPr>
        <p:blipFill>
          <a:blip r:embed="rId3"/>
          <a:stretch>
            <a:fillRect/>
          </a:stretch>
        </p:blipFill>
        <p:spPr>
          <a:xfrm>
            <a:off x="0" y="6468398"/>
            <a:ext cx="1349719" cy="404664"/>
          </a:xfrm>
          <a:prstGeom prst="rect">
            <a:avLst/>
          </a:prstGeom>
        </p:spPr>
      </p:pic>
      <p:sp>
        <p:nvSpPr>
          <p:cNvPr id="6" name="文本框 5"/>
          <p:cNvSpPr txBox="1"/>
          <p:nvPr/>
        </p:nvSpPr>
        <p:spPr>
          <a:xfrm>
            <a:off x="-24680" y="6436962"/>
            <a:ext cx="5472608" cy="461665"/>
          </a:xfrm>
          <a:prstGeom prst="rect">
            <a:avLst/>
          </a:prstGeom>
          <a:noFill/>
        </p:spPr>
        <p:txBody>
          <a:bodyPr wrap="square" rtlCol="0">
            <a:spAutoFit/>
          </a:bodyPr>
          <a:lstStyle/>
          <a:p>
            <a:r>
              <a:rPr lang="zh-CN" altLang="en-US" sz="2400" b="1" dirty="0">
                <a:solidFill>
                  <a:srgbClr val="0000FF"/>
                </a:solidFill>
              </a:rPr>
              <a:t>人工智能与自动化学院        </a:t>
            </a:r>
          </a:p>
        </p:txBody>
      </p:sp>
      <p:sp>
        <p:nvSpPr>
          <p:cNvPr id="12"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zh-CN" altLang="en-US" kern="0" dirty="0"/>
              <a:t>第</a:t>
            </a:r>
            <a:r>
              <a:rPr lang="en-US" altLang="zh-CN" kern="0" dirty="0"/>
              <a:t>13</a:t>
            </a:r>
            <a:r>
              <a:rPr lang="zh-CN" altLang="en-US" kern="0" dirty="0"/>
              <a:t>章 </a:t>
            </a:r>
            <a:r>
              <a:rPr lang="zh-CN" altLang="zh-CN" dirty="0"/>
              <a:t>基于统计决策的概率分类方法</a:t>
            </a:r>
          </a:p>
        </p:txBody>
      </p:sp>
      <p:sp>
        <p:nvSpPr>
          <p:cNvPr id="7" name="灯片编号占位符 6">
            <a:extLst>
              <a:ext uri="{FF2B5EF4-FFF2-40B4-BE49-F238E27FC236}">
                <a16:creationId xmlns:a16="http://schemas.microsoft.com/office/drawing/2014/main" id="{57A11AAC-03BE-45BB-A5C8-11C5A0B0B16C}"/>
              </a:ext>
            </a:extLst>
          </p:cNvPr>
          <p:cNvSpPr>
            <a:spLocks noGrp="1"/>
          </p:cNvSpPr>
          <p:nvPr>
            <p:ph type="sldNum" sz="quarter" idx="11"/>
          </p:nvPr>
        </p:nvSpPr>
        <p:spPr/>
        <p:txBody>
          <a:bodyPr/>
          <a:lstStyle/>
          <a:p>
            <a:pPr>
              <a:defRPr/>
            </a:pPr>
            <a:fld id="{31E287EE-1289-4991-82CE-EFE584F53F4F}" type="slidenum">
              <a:rPr lang="en-US" altLang="zh-CN" smtClean="0"/>
              <a:pPr>
                <a:defRPr/>
              </a:pPr>
              <a:t>3</a:t>
            </a:fld>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4</a:t>
            </a:fld>
            <a:endParaRPr lang="en-US" altLang="zh-CN" dirty="0"/>
          </a:p>
        </p:txBody>
      </p:sp>
      <p:sp>
        <p:nvSpPr>
          <p:cNvPr id="14" name="矩形 13"/>
          <p:cNvSpPr/>
          <p:nvPr/>
        </p:nvSpPr>
        <p:spPr>
          <a:xfrm>
            <a:off x="407368" y="1124744"/>
            <a:ext cx="4156907" cy="523220"/>
          </a:xfrm>
          <a:prstGeom prst="rect">
            <a:avLst/>
          </a:prstGeom>
        </p:spPr>
        <p:txBody>
          <a:bodyPr wrap="none">
            <a:spAutoFit/>
          </a:bodyPr>
          <a:lstStyle/>
          <a:p>
            <a:r>
              <a:rPr lang="en-US" altLang="zh-CN" sz="2800" b="1" dirty="0">
                <a:solidFill>
                  <a:srgbClr val="0000FF"/>
                </a:solidFill>
                <a:latin typeface="Arial" panose="020B0604020202020204" pitchFamily="34" charset="0"/>
              </a:rPr>
              <a:t>Preliminary Knowledge</a:t>
            </a:r>
            <a:endParaRPr lang="zh-CN" altLang="en-US" sz="2800" b="1" dirty="0">
              <a:solidFill>
                <a:srgbClr val="FF0000"/>
              </a:solidFill>
              <a:ea typeface="黑体" panose="02010609060101010101" pitchFamily="49" charset="-122"/>
            </a:endParaRPr>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13.1 </a:t>
            </a:r>
            <a:r>
              <a:rPr lang="zh-CN" altLang="zh-CN" dirty="0"/>
              <a:t>最小错误率贝叶斯决策</a:t>
            </a:r>
          </a:p>
        </p:txBody>
      </p:sp>
      <p:sp>
        <p:nvSpPr>
          <p:cNvPr id="16" name="内容占位符 2"/>
          <p:cNvSpPr txBox="1">
            <a:spLocks/>
          </p:cNvSpPr>
          <p:nvPr/>
        </p:nvSpPr>
        <p:spPr bwMode="gray">
          <a:xfrm>
            <a:off x="411672" y="2420888"/>
            <a:ext cx="9574360" cy="3600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0" indent="0" algn="ctr" rtl="0" eaLnBrk="0" fontAlgn="base" hangingPunct="0">
              <a:spcBef>
                <a:spcPct val="20000"/>
              </a:spcBef>
              <a:spcAft>
                <a:spcPct val="0"/>
              </a:spcAft>
              <a:buClr>
                <a:schemeClr val="tx2"/>
              </a:buClr>
              <a:buFont typeface="Wingdings" pitchFamily="2" charset="2"/>
              <a:buNone/>
              <a:defRPr sz="28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Clr>
                <a:schemeClr val="accent1"/>
              </a:buClr>
              <a:buFont typeface="Wingdings" pitchFamily="2" charset="2"/>
              <a:buNone/>
              <a:defRPr sz="2600">
                <a:solidFill>
                  <a:schemeClr val="tx1">
                    <a:tint val="75000"/>
                  </a:schemeClr>
                </a:solidFill>
                <a:latin typeface="+mn-lt"/>
              </a:defRPr>
            </a:lvl2pPr>
            <a:lvl3pPr marL="914400" indent="0" algn="ctr" rtl="0" eaLnBrk="0" fontAlgn="base" hangingPunct="0">
              <a:spcBef>
                <a:spcPct val="20000"/>
              </a:spcBef>
              <a:spcAft>
                <a:spcPct val="0"/>
              </a:spcAft>
              <a:buClr>
                <a:schemeClr val="accent2"/>
              </a:buClr>
              <a:buNone/>
              <a:defRPr sz="2400">
                <a:solidFill>
                  <a:schemeClr val="tx1">
                    <a:tint val="75000"/>
                  </a:schemeClr>
                </a:solidFill>
                <a:latin typeface="+mn-lt"/>
              </a:defRPr>
            </a:lvl3pPr>
            <a:lvl4pPr marL="1371600" indent="0" algn="ctr" rtl="0" eaLnBrk="0" fontAlgn="base" hangingPunct="0">
              <a:spcBef>
                <a:spcPct val="20000"/>
              </a:spcBef>
              <a:spcAft>
                <a:spcPct val="0"/>
              </a:spcAft>
              <a:buNone/>
              <a:defRPr sz="2000">
                <a:solidFill>
                  <a:schemeClr val="tx1">
                    <a:tint val="75000"/>
                  </a:schemeClr>
                </a:solidFill>
                <a:latin typeface="+mn-lt"/>
              </a:defRPr>
            </a:lvl4pPr>
            <a:lvl5pPr marL="1828800" indent="0" algn="ctr" rtl="0" eaLnBrk="0" fontAlgn="base" hangingPunct="0">
              <a:spcBef>
                <a:spcPct val="20000"/>
              </a:spcBef>
              <a:spcAft>
                <a:spcPct val="0"/>
              </a:spcAft>
              <a:buNone/>
              <a:defRPr sz="2000">
                <a:solidFill>
                  <a:schemeClr val="tx1">
                    <a:tint val="75000"/>
                  </a:schemeClr>
                </a:solidFill>
                <a:latin typeface="+mn-lt"/>
              </a:defRPr>
            </a:lvl5pPr>
            <a:lvl6pPr marL="2286000" indent="0" algn="ctr" rtl="0" eaLnBrk="1" fontAlgn="base" hangingPunct="1">
              <a:spcBef>
                <a:spcPct val="20000"/>
              </a:spcBef>
              <a:spcAft>
                <a:spcPct val="0"/>
              </a:spcAft>
              <a:buNone/>
              <a:defRPr sz="2000">
                <a:solidFill>
                  <a:schemeClr val="tx1">
                    <a:tint val="75000"/>
                  </a:schemeClr>
                </a:solidFill>
                <a:latin typeface="+mn-lt"/>
              </a:defRPr>
            </a:lvl6pPr>
            <a:lvl7pPr marL="2743200" indent="0" algn="ctr" rtl="0" eaLnBrk="1" fontAlgn="base" hangingPunct="1">
              <a:spcBef>
                <a:spcPct val="20000"/>
              </a:spcBef>
              <a:spcAft>
                <a:spcPct val="0"/>
              </a:spcAft>
              <a:buNone/>
              <a:defRPr sz="2000">
                <a:solidFill>
                  <a:schemeClr val="tx1">
                    <a:tint val="75000"/>
                  </a:schemeClr>
                </a:solidFill>
                <a:latin typeface="+mn-lt"/>
              </a:defRPr>
            </a:lvl7pPr>
            <a:lvl8pPr marL="3200400" indent="0" algn="ctr" rtl="0" eaLnBrk="1" fontAlgn="base" hangingPunct="1">
              <a:spcBef>
                <a:spcPct val="20000"/>
              </a:spcBef>
              <a:spcAft>
                <a:spcPct val="0"/>
              </a:spcAft>
              <a:buNone/>
              <a:defRPr sz="2000">
                <a:solidFill>
                  <a:schemeClr val="tx1">
                    <a:tint val="75000"/>
                  </a:schemeClr>
                </a:solidFill>
                <a:latin typeface="+mn-lt"/>
              </a:defRPr>
            </a:lvl8pPr>
            <a:lvl9pPr marL="3657600" indent="0" algn="ctr" rtl="0" eaLnBrk="1" fontAlgn="base" hangingPunct="1">
              <a:spcBef>
                <a:spcPct val="20000"/>
              </a:spcBef>
              <a:spcAft>
                <a:spcPct val="0"/>
              </a:spcAft>
              <a:buNone/>
              <a:defRPr sz="2000">
                <a:solidFill>
                  <a:schemeClr val="tx1">
                    <a:tint val="75000"/>
                  </a:schemeClr>
                </a:solidFill>
                <a:latin typeface="+mn-lt"/>
              </a:defRPr>
            </a:lvl9pPr>
          </a:lstStyle>
          <a:p>
            <a:pPr algn="just" eaLnBrk="1" hangingPunct="1">
              <a:lnSpc>
                <a:spcPct val="130000"/>
              </a:lnSpc>
              <a:spcBef>
                <a:spcPts val="1200"/>
              </a:spcBef>
            </a:pPr>
            <a:r>
              <a:rPr lang="en-US" altLang="zh-CN" sz="2200" kern="0" dirty="0">
                <a:solidFill>
                  <a:schemeClr val="tx1"/>
                </a:solidFill>
                <a:latin typeface="Arial" panose="020B0604020202020204" pitchFamily="34" charset="0"/>
                <a:ea typeface="黑体" panose="02010609060101010101" pitchFamily="49" charset="-122"/>
              </a:rPr>
              <a:t>A∪B</a:t>
            </a:r>
            <a:r>
              <a:rPr lang="zh-CN" altLang="en-US" sz="2200" kern="0" dirty="0">
                <a:solidFill>
                  <a:schemeClr val="tx1"/>
                </a:solidFill>
                <a:latin typeface="Arial" panose="020B0604020202020204" pitchFamily="34" charset="0"/>
                <a:ea typeface="黑体" panose="02010609060101010101" pitchFamily="49" charset="-122"/>
              </a:rPr>
              <a:t>：</a:t>
            </a:r>
            <a:r>
              <a:rPr lang="en-US" altLang="zh-CN" sz="2200" kern="0" dirty="0">
                <a:solidFill>
                  <a:schemeClr val="tx1"/>
                </a:solidFill>
                <a:latin typeface="Arial" panose="020B0604020202020204" pitchFamily="34" charset="0"/>
                <a:ea typeface="黑体" panose="02010609060101010101" pitchFamily="49" charset="-122"/>
              </a:rPr>
              <a:t>A</a:t>
            </a:r>
            <a:r>
              <a:rPr lang="zh-CN" altLang="en-US" sz="2200" kern="0" dirty="0">
                <a:solidFill>
                  <a:schemeClr val="tx1"/>
                </a:solidFill>
                <a:latin typeface="Arial" panose="020B0604020202020204" pitchFamily="34" charset="0"/>
                <a:ea typeface="黑体" panose="02010609060101010101" pitchFamily="49" charset="-122"/>
              </a:rPr>
              <a:t>和</a:t>
            </a:r>
            <a:r>
              <a:rPr lang="en-US" altLang="zh-CN" sz="2200" kern="0" dirty="0">
                <a:solidFill>
                  <a:schemeClr val="tx1"/>
                </a:solidFill>
                <a:latin typeface="Arial" panose="020B0604020202020204" pitchFamily="34" charset="0"/>
                <a:ea typeface="黑体" panose="02010609060101010101" pitchFamily="49" charset="-122"/>
              </a:rPr>
              <a:t>B</a:t>
            </a:r>
            <a:r>
              <a:rPr lang="zh-CN" altLang="en-US" sz="2200" kern="0" dirty="0">
                <a:solidFill>
                  <a:schemeClr val="tx1"/>
                </a:solidFill>
                <a:latin typeface="Arial" panose="020B0604020202020204" pitchFamily="34" charset="0"/>
                <a:ea typeface="黑体" panose="02010609060101010101" pitchFamily="49" charset="-122"/>
              </a:rPr>
              <a:t>中至少有一件事情发生。</a:t>
            </a:r>
            <a:r>
              <a:rPr lang="en-US" altLang="zh-CN" sz="2200" kern="0" dirty="0">
                <a:solidFill>
                  <a:schemeClr val="tx1"/>
                </a:solidFill>
                <a:latin typeface="Arial" panose="020B0604020202020204" pitchFamily="34" charset="0"/>
                <a:ea typeface="黑体" panose="02010609060101010101" pitchFamily="49" charset="-122"/>
              </a:rPr>
              <a:t>    </a:t>
            </a:r>
          </a:p>
          <a:p>
            <a:pPr algn="just" eaLnBrk="1" hangingPunct="1">
              <a:lnSpc>
                <a:spcPct val="130000"/>
              </a:lnSpc>
              <a:spcBef>
                <a:spcPts val="1200"/>
              </a:spcBef>
            </a:pPr>
            <a:r>
              <a:rPr lang="en-US" altLang="zh-CN" sz="2200" kern="0" dirty="0">
                <a:solidFill>
                  <a:schemeClr val="tx1"/>
                </a:solidFill>
                <a:latin typeface="Arial" panose="020B0604020202020204" pitchFamily="34" charset="0"/>
                <a:ea typeface="黑体" panose="02010609060101010101" pitchFamily="49" charset="-122"/>
              </a:rPr>
              <a:t>P(A∪B)</a:t>
            </a:r>
            <a:r>
              <a:rPr lang="zh-CN" altLang="en-US" sz="2200" kern="0" dirty="0">
                <a:solidFill>
                  <a:schemeClr val="tx1"/>
                </a:solidFill>
                <a:latin typeface="Arial" panose="020B0604020202020204" pitchFamily="34" charset="0"/>
                <a:ea typeface="黑体" panose="02010609060101010101" pitchFamily="49" charset="-122"/>
              </a:rPr>
              <a:t>：亦可记为</a:t>
            </a:r>
            <a:r>
              <a:rPr lang="en-US" altLang="zh-CN" sz="2200" kern="0" dirty="0">
                <a:solidFill>
                  <a:schemeClr val="tx1"/>
                </a:solidFill>
                <a:latin typeface="Arial" panose="020B0604020202020204" pitchFamily="34" charset="0"/>
                <a:ea typeface="黑体" panose="02010609060101010101" pitchFamily="49" charset="-122"/>
              </a:rPr>
              <a:t>P(A+B)</a:t>
            </a:r>
            <a:r>
              <a:rPr lang="zh-CN" altLang="en-US" sz="2200" kern="0" dirty="0">
                <a:solidFill>
                  <a:schemeClr val="tx1"/>
                </a:solidFill>
                <a:latin typeface="Arial" panose="020B0604020202020204" pitchFamily="34" charset="0"/>
                <a:ea typeface="黑体" panose="02010609060101010101" pitchFamily="49" charset="-122"/>
              </a:rPr>
              <a:t>，两个随机事件和的概率。</a:t>
            </a:r>
            <a:endParaRPr lang="en-US" altLang="zh-CN" sz="2200" kern="0" dirty="0">
              <a:solidFill>
                <a:schemeClr val="tx1"/>
              </a:solidFill>
              <a:latin typeface="Arial" panose="020B0604020202020204" pitchFamily="34" charset="0"/>
              <a:ea typeface="黑体" panose="02010609060101010101" pitchFamily="49" charset="-122"/>
            </a:endParaRPr>
          </a:p>
          <a:p>
            <a:pPr algn="just" eaLnBrk="1" hangingPunct="1">
              <a:lnSpc>
                <a:spcPct val="130000"/>
              </a:lnSpc>
              <a:spcBef>
                <a:spcPts val="1200"/>
              </a:spcBef>
            </a:pPr>
            <a:r>
              <a:rPr lang="en-US" altLang="zh-CN" sz="2200" kern="0" dirty="0">
                <a:solidFill>
                  <a:schemeClr val="tx1"/>
                </a:solidFill>
                <a:latin typeface="Arial" panose="020B0604020202020204" pitchFamily="34" charset="0"/>
                <a:ea typeface="黑体" panose="02010609060101010101" pitchFamily="49" charset="-122"/>
              </a:rPr>
              <a:t>A∩B</a:t>
            </a:r>
            <a:r>
              <a:rPr lang="zh-CN" altLang="en-US" sz="2200" kern="0" dirty="0">
                <a:solidFill>
                  <a:schemeClr val="tx1"/>
                </a:solidFill>
                <a:latin typeface="Arial" panose="020B0604020202020204" pitchFamily="34" charset="0"/>
                <a:ea typeface="黑体" panose="02010609060101010101" pitchFamily="49" charset="-122"/>
              </a:rPr>
              <a:t>：</a:t>
            </a:r>
            <a:r>
              <a:rPr lang="en-US" altLang="zh-CN" sz="2200" kern="0" dirty="0">
                <a:solidFill>
                  <a:schemeClr val="tx1"/>
                </a:solidFill>
                <a:latin typeface="Arial" panose="020B0604020202020204" pitchFamily="34" charset="0"/>
                <a:ea typeface="黑体" panose="02010609060101010101" pitchFamily="49" charset="-122"/>
              </a:rPr>
              <a:t>A</a:t>
            </a:r>
            <a:r>
              <a:rPr lang="zh-CN" altLang="en-US" sz="2200" kern="0" dirty="0">
                <a:solidFill>
                  <a:schemeClr val="tx1"/>
                </a:solidFill>
                <a:latin typeface="Arial" panose="020B0604020202020204" pitchFamily="34" charset="0"/>
                <a:ea typeface="黑体" panose="02010609060101010101" pitchFamily="49" charset="-122"/>
              </a:rPr>
              <a:t>与</a:t>
            </a:r>
            <a:r>
              <a:rPr lang="en-US" altLang="zh-CN" sz="2200" kern="0" dirty="0">
                <a:solidFill>
                  <a:schemeClr val="tx1"/>
                </a:solidFill>
                <a:latin typeface="Arial" panose="020B0604020202020204" pitchFamily="34" charset="0"/>
                <a:ea typeface="黑体" panose="02010609060101010101" pitchFamily="49" charset="-122"/>
              </a:rPr>
              <a:t>B</a:t>
            </a:r>
            <a:r>
              <a:rPr lang="zh-CN" altLang="en-US" sz="2200" kern="0" dirty="0">
                <a:solidFill>
                  <a:schemeClr val="tx1"/>
                </a:solidFill>
                <a:latin typeface="Arial" panose="020B0604020202020204" pitchFamily="34" charset="0"/>
                <a:ea typeface="黑体" panose="02010609060101010101" pitchFamily="49" charset="-122"/>
              </a:rPr>
              <a:t>同时发生。</a:t>
            </a:r>
            <a:endParaRPr lang="en-US" altLang="zh-CN" sz="2200" kern="0" dirty="0">
              <a:solidFill>
                <a:schemeClr val="tx1"/>
              </a:solidFill>
              <a:latin typeface="Arial" panose="020B0604020202020204" pitchFamily="34" charset="0"/>
              <a:ea typeface="黑体" panose="02010609060101010101" pitchFamily="49" charset="-122"/>
            </a:endParaRPr>
          </a:p>
          <a:p>
            <a:pPr algn="just" eaLnBrk="1" hangingPunct="1">
              <a:lnSpc>
                <a:spcPct val="130000"/>
              </a:lnSpc>
              <a:spcBef>
                <a:spcPts val="1200"/>
              </a:spcBef>
            </a:pPr>
            <a:r>
              <a:rPr lang="en-US" altLang="zh-CN" sz="2200" kern="0" dirty="0">
                <a:solidFill>
                  <a:schemeClr val="tx1"/>
                </a:solidFill>
                <a:latin typeface="Arial" panose="020B0604020202020204" pitchFamily="34" charset="0"/>
                <a:ea typeface="黑体" panose="02010609060101010101" pitchFamily="49" charset="-122"/>
              </a:rPr>
              <a:t>P(A∩B)</a:t>
            </a:r>
            <a:r>
              <a:rPr lang="zh-CN" altLang="en-US" sz="2200" kern="0" dirty="0">
                <a:solidFill>
                  <a:schemeClr val="tx1"/>
                </a:solidFill>
                <a:latin typeface="Arial" panose="020B0604020202020204" pitchFamily="34" charset="0"/>
                <a:ea typeface="黑体" panose="02010609060101010101" pitchFamily="49" charset="-122"/>
              </a:rPr>
              <a:t>：亦可记为</a:t>
            </a:r>
            <a:r>
              <a:rPr lang="en-US" altLang="zh-CN" sz="2200" kern="0" dirty="0">
                <a:solidFill>
                  <a:schemeClr val="tx1"/>
                </a:solidFill>
                <a:latin typeface="Arial" panose="020B0604020202020204" pitchFamily="34" charset="0"/>
                <a:ea typeface="黑体" panose="02010609060101010101" pitchFamily="49" charset="-122"/>
              </a:rPr>
              <a:t>P(AB)</a:t>
            </a:r>
            <a:r>
              <a:rPr lang="zh-CN" altLang="en-US" sz="2200" kern="0" dirty="0">
                <a:solidFill>
                  <a:schemeClr val="tx1"/>
                </a:solidFill>
                <a:latin typeface="Arial" panose="020B0604020202020204" pitchFamily="34" charset="0"/>
                <a:ea typeface="黑体" panose="02010609060101010101" pitchFamily="49" charset="-122"/>
              </a:rPr>
              <a:t>，两个随机事件乘积的概率。</a:t>
            </a:r>
            <a:endParaRPr lang="en-US" altLang="zh-CN" sz="2200" kern="0" dirty="0">
              <a:solidFill>
                <a:schemeClr val="tx1"/>
              </a:solidFill>
              <a:latin typeface="Arial" panose="020B0604020202020204" pitchFamily="34" charset="0"/>
              <a:ea typeface="黑体" panose="02010609060101010101" pitchFamily="49" charset="-122"/>
            </a:endParaRPr>
          </a:p>
          <a:p>
            <a:pPr algn="just" eaLnBrk="1" hangingPunct="1">
              <a:lnSpc>
                <a:spcPct val="130000"/>
              </a:lnSpc>
              <a:spcBef>
                <a:spcPts val="1200"/>
              </a:spcBef>
            </a:pPr>
            <a:r>
              <a:rPr lang="zh-CN" altLang="zh-CN" sz="2200" kern="0" dirty="0">
                <a:solidFill>
                  <a:schemeClr val="tx1"/>
                </a:solidFill>
                <a:latin typeface="Arial" panose="020B0604020202020204" pitchFamily="34" charset="0"/>
                <a:ea typeface="黑体" panose="02010609060101010101" pitchFamily="49" charset="-122"/>
              </a:rPr>
              <a:t>Φ</a:t>
            </a:r>
            <a:r>
              <a:rPr lang="en-US" altLang="zh-CN" sz="2200" kern="0" dirty="0">
                <a:solidFill>
                  <a:schemeClr val="tx1"/>
                </a:solidFill>
                <a:latin typeface="Arial" panose="020B0604020202020204" pitchFamily="34" charset="0"/>
                <a:ea typeface="黑体" panose="02010609060101010101" pitchFamily="49" charset="-122"/>
              </a:rPr>
              <a:t>: </a:t>
            </a:r>
            <a:r>
              <a:rPr lang="zh-CN" altLang="en-US" sz="2200" kern="0" dirty="0">
                <a:solidFill>
                  <a:schemeClr val="tx1"/>
                </a:solidFill>
                <a:latin typeface="Arial" panose="020B0604020202020204" pitchFamily="34" charset="0"/>
                <a:ea typeface="黑体" panose="02010609060101010101" pitchFamily="49" charset="-122"/>
              </a:rPr>
              <a:t>空集，如 </a:t>
            </a:r>
            <a:r>
              <a:rPr lang="en-US" altLang="zh-CN" sz="2200" kern="0" dirty="0">
                <a:solidFill>
                  <a:schemeClr val="tx1"/>
                </a:solidFill>
                <a:latin typeface="Arial" panose="020B0604020202020204" pitchFamily="34" charset="0"/>
                <a:ea typeface="黑体" panose="02010609060101010101" pitchFamily="49" charset="-122"/>
              </a:rPr>
              <a:t>A∩B=</a:t>
            </a:r>
            <a:r>
              <a:rPr lang="zh-CN" altLang="zh-CN" sz="2200" kern="0" dirty="0">
                <a:solidFill>
                  <a:schemeClr val="tx1"/>
                </a:solidFill>
                <a:latin typeface="Arial" panose="020B0604020202020204" pitchFamily="34" charset="0"/>
                <a:ea typeface="黑体" panose="02010609060101010101" pitchFamily="49" charset="-122"/>
              </a:rPr>
              <a:t>Φ</a:t>
            </a:r>
            <a:r>
              <a:rPr lang="zh-CN" altLang="en-US" sz="2200" kern="0" dirty="0">
                <a:solidFill>
                  <a:schemeClr val="tx1"/>
                </a:solidFill>
                <a:latin typeface="Arial" panose="020B0604020202020204" pitchFamily="34" charset="0"/>
                <a:ea typeface="黑体" panose="02010609060101010101" pitchFamily="49" charset="-122"/>
              </a:rPr>
              <a:t>，事件</a:t>
            </a:r>
            <a:r>
              <a:rPr lang="en-US" altLang="zh-CN" sz="2200" kern="0" dirty="0">
                <a:solidFill>
                  <a:schemeClr val="tx1"/>
                </a:solidFill>
                <a:latin typeface="Arial" panose="020B0604020202020204" pitchFamily="34" charset="0"/>
                <a:ea typeface="黑体" panose="02010609060101010101" pitchFamily="49" charset="-122"/>
              </a:rPr>
              <a:t>A</a:t>
            </a:r>
            <a:r>
              <a:rPr lang="zh-CN" altLang="en-US" sz="2200" kern="0" dirty="0">
                <a:solidFill>
                  <a:schemeClr val="tx1"/>
                </a:solidFill>
                <a:latin typeface="Arial" panose="020B0604020202020204" pitchFamily="34" charset="0"/>
                <a:ea typeface="黑体" panose="02010609060101010101" pitchFamily="49" charset="-122"/>
              </a:rPr>
              <a:t>和</a:t>
            </a:r>
            <a:r>
              <a:rPr lang="en-US" altLang="zh-CN" sz="2200" kern="0" dirty="0">
                <a:solidFill>
                  <a:schemeClr val="tx1"/>
                </a:solidFill>
                <a:latin typeface="Arial" panose="020B0604020202020204" pitchFamily="34" charset="0"/>
                <a:ea typeface="黑体" panose="02010609060101010101" pitchFamily="49" charset="-122"/>
              </a:rPr>
              <a:t>B</a:t>
            </a:r>
            <a:r>
              <a:rPr lang="zh-CN" altLang="en-US" sz="2200" kern="0" dirty="0">
                <a:solidFill>
                  <a:schemeClr val="tx1"/>
                </a:solidFill>
                <a:latin typeface="Arial" panose="020B0604020202020204" pitchFamily="34" charset="0"/>
                <a:ea typeface="黑体" panose="02010609060101010101" pitchFamily="49" charset="-122"/>
              </a:rPr>
              <a:t>无交集，</a:t>
            </a:r>
            <a:r>
              <a:rPr lang="en-US" altLang="zh-CN" sz="2200" kern="0" dirty="0">
                <a:solidFill>
                  <a:schemeClr val="tx1"/>
                </a:solidFill>
                <a:latin typeface="Arial" panose="020B0604020202020204" pitchFamily="34" charset="0"/>
                <a:ea typeface="黑体" panose="02010609060101010101" pitchFamily="49" charset="-122"/>
              </a:rPr>
              <a:t>A</a:t>
            </a:r>
            <a:r>
              <a:rPr lang="zh-CN" altLang="en-US" sz="2200" kern="0" dirty="0">
                <a:solidFill>
                  <a:schemeClr val="tx1"/>
                </a:solidFill>
                <a:latin typeface="Arial" panose="020B0604020202020204" pitchFamily="34" charset="0"/>
                <a:ea typeface="黑体" panose="02010609060101010101" pitchFamily="49" charset="-122"/>
              </a:rPr>
              <a:t>与</a:t>
            </a:r>
            <a:r>
              <a:rPr lang="en-US" altLang="zh-CN" sz="2200" kern="0" dirty="0">
                <a:solidFill>
                  <a:schemeClr val="tx1"/>
                </a:solidFill>
                <a:latin typeface="Arial" panose="020B0604020202020204" pitchFamily="34" charset="0"/>
                <a:ea typeface="黑体" panose="02010609060101010101" pitchFamily="49" charset="-122"/>
              </a:rPr>
              <a:t>B</a:t>
            </a:r>
            <a:r>
              <a:rPr lang="zh-CN" altLang="en-US" sz="2200" kern="0" dirty="0">
                <a:solidFill>
                  <a:schemeClr val="tx1"/>
                </a:solidFill>
                <a:latin typeface="Arial" panose="020B0604020202020204" pitchFamily="34" charset="0"/>
                <a:ea typeface="黑体" panose="02010609060101010101" pitchFamily="49" charset="-122"/>
              </a:rPr>
              <a:t>互不相容，</a:t>
            </a:r>
            <a:r>
              <a:rPr lang="en-US" altLang="zh-CN" sz="2200" kern="0" dirty="0">
                <a:solidFill>
                  <a:schemeClr val="tx1"/>
                </a:solidFill>
                <a:latin typeface="Arial" panose="020B0604020202020204" pitchFamily="34" charset="0"/>
                <a:ea typeface="黑体" panose="02010609060101010101" pitchFamily="49" charset="-122"/>
              </a:rPr>
              <a:t>A</a:t>
            </a:r>
            <a:r>
              <a:rPr lang="zh-CN" altLang="en-US" sz="2200" kern="0" dirty="0">
                <a:solidFill>
                  <a:schemeClr val="tx1"/>
                </a:solidFill>
                <a:latin typeface="Arial" panose="020B0604020202020204" pitchFamily="34" charset="0"/>
                <a:ea typeface="黑体" panose="02010609060101010101" pitchFamily="49" charset="-122"/>
              </a:rPr>
              <a:t>和</a:t>
            </a:r>
            <a:r>
              <a:rPr lang="en-US" altLang="zh-CN" sz="2200" kern="0" dirty="0">
                <a:solidFill>
                  <a:schemeClr val="tx1"/>
                </a:solidFill>
                <a:latin typeface="Arial" panose="020B0604020202020204" pitchFamily="34" charset="0"/>
                <a:ea typeface="黑体" panose="02010609060101010101" pitchFamily="49" charset="-122"/>
              </a:rPr>
              <a:t>B</a:t>
            </a:r>
            <a:r>
              <a:rPr lang="zh-CN" altLang="en-US" sz="2200" kern="0" dirty="0">
                <a:solidFill>
                  <a:schemeClr val="tx1"/>
                </a:solidFill>
                <a:latin typeface="Arial" panose="020B0604020202020204" pitchFamily="34" charset="0"/>
                <a:ea typeface="黑体" panose="02010609060101010101" pitchFamily="49" charset="-122"/>
              </a:rPr>
              <a:t>互斥。</a:t>
            </a:r>
            <a:endParaRPr lang="en-US" altLang="zh-CN" sz="2200" kern="0" dirty="0">
              <a:solidFill>
                <a:schemeClr val="tx1"/>
              </a:solidFill>
              <a:latin typeface="Arial" panose="020B0604020202020204" pitchFamily="34" charset="0"/>
              <a:ea typeface="黑体" panose="02010609060101010101" pitchFamily="49" charset="-122"/>
            </a:endParaRPr>
          </a:p>
          <a:p>
            <a:pPr algn="just" eaLnBrk="1" hangingPunct="1">
              <a:lnSpc>
                <a:spcPct val="130000"/>
              </a:lnSpc>
              <a:spcBef>
                <a:spcPts val="1200"/>
              </a:spcBef>
            </a:pPr>
            <a:r>
              <a:rPr lang="en-US" altLang="zh-CN" sz="2200" kern="0" dirty="0">
                <a:solidFill>
                  <a:schemeClr val="tx1"/>
                </a:solidFill>
                <a:latin typeface="Arial" panose="020B0604020202020204" pitchFamily="34" charset="0"/>
                <a:ea typeface="黑体" panose="02010609060101010101" pitchFamily="49" charset="-122"/>
              </a:rPr>
              <a:t>Ω: </a:t>
            </a:r>
            <a:r>
              <a:rPr lang="zh-CN" altLang="en-US" sz="2200" kern="0" dirty="0">
                <a:solidFill>
                  <a:schemeClr val="tx1"/>
                </a:solidFill>
                <a:latin typeface="Arial" panose="020B0604020202020204" pitchFamily="34" charset="0"/>
                <a:ea typeface="黑体" panose="02010609060101010101" pitchFamily="49" charset="-122"/>
              </a:rPr>
              <a:t>全空间，如 </a:t>
            </a:r>
            <a:r>
              <a:rPr lang="en-US" altLang="zh-CN" sz="2200" kern="0" dirty="0">
                <a:solidFill>
                  <a:schemeClr val="tx1"/>
                </a:solidFill>
                <a:latin typeface="Arial" panose="020B0604020202020204" pitchFamily="34" charset="0"/>
                <a:ea typeface="黑体" panose="02010609060101010101" pitchFamily="49" charset="-122"/>
              </a:rPr>
              <a:t>A+B=Ω</a:t>
            </a:r>
            <a:r>
              <a:rPr lang="zh-CN" altLang="en-US" sz="2200" kern="0" dirty="0">
                <a:solidFill>
                  <a:schemeClr val="tx1"/>
                </a:solidFill>
                <a:latin typeface="Arial" panose="020B0604020202020204" pitchFamily="34" charset="0"/>
                <a:ea typeface="黑体" panose="02010609060101010101" pitchFamily="49" charset="-122"/>
              </a:rPr>
              <a:t>，</a:t>
            </a:r>
            <a:r>
              <a:rPr lang="en-US" altLang="zh-CN" sz="2200" kern="0" dirty="0">
                <a:solidFill>
                  <a:schemeClr val="tx1"/>
                </a:solidFill>
                <a:latin typeface="Arial" panose="020B0604020202020204" pitchFamily="34" charset="0"/>
                <a:ea typeface="黑体" panose="02010609060101010101" pitchFamily="49" charset="-122"/>
              </a:rPr>
              <a:t>P(A+B)=1</a:t>
            </a:r>
            <a:r>
              <a:rPr lang="zh-CN" altLang="en-US" sz="2200" kern="0" dirty="0">
                <a:solidFill>
                  <a:schemeClr val="tx1"/>
                </a:solidFill>
                <a:latin typeface="Arial" panose="020B0604020202020204" pitchFamily="34" charset="0"/>
                <a:ea typeface="黑体" panose="02010609060101010101" pitchFamily="49" charset="-122"/>
              </a:rPr>
              <a:t>。</a:t>
            </a:r>
            <a:endParaRPr lang="en-US" altLang="zh-CN" sz="2200" kern="0" dirty="0">
              <a:solidFill>
                <a:schemeClr val="tx1"/>
              </a:solidFill>
              <a:latin typeface="Arial" panose="020B0604020202020204" pitchFamily="34" charset="0"/>
              <a:ea typeface="黑体" panose="02010609060101010101" pitchFamily="49" charset="-122"/>
            </a:endParaRPr>
          </a:p>
        </p:txBody>
      </p:sp>
      <p:sp>
        <p:nvSpPr>
          <p:cNvPr id="17" name="矩形 16"/>
          <p:cNvSpPr/>
          <p:nvPr/>
        </p:nvSpPr>
        <p:spPr>
          <a:xfrm>
            <a:off x="375072" y="1737238"/>
            <a:ext cx="906017" cy="590354"/>
          </a:xfrm>
          <a:prstGeom prst="rect">
            <a:avLst/>
          </a:prstGeom>
        </p:spPr>
        <p:txBody>
          <a:bodyPr wrap="none">
            <a:spAutoFit/>
          </a:bodyPr>
          <a:lstStyle/>
          <a:p>
            <a:pPr>
              <a:lnSpc>
                <a:spcPct val="130000"/>
              </a:lnSpc>
            </a:pPr>
            <a:r>
              <a:rPr lang="zh-CN" altLang="en-US" sz="2800" b="1" dirty="0">
                <a:solidFill>
                  <a:srgbClr val="FF0000"/>
                </a:solidFill>
                <a:latin typeface="Arial" panose="020B0604020202020204" pitchFamily="34" charset="0"/>
                <a:ea typeface="黑体" panose="02010609060101010101" pitchFamily="49" charset="-122"/>
              </a:rPr>
              <a:t>标记</a:t>
            </a:r>
            <a:endParaRPr lang="zh-CN" altLang="en-US" sz="2800" b="1" dirty="0">
              <a:solidFill>
                <a:srgbClr val="FF0000"/>
              </a:solidFill>
              <a:ea typeface="黑体" panose="02010609060101010101" pitchFamily="49" charset="-122"/>
            </a:endParaRPr>
          </a:p>
        </p:txBody>
      </p:sp>
    </p:spTree>
    <p:extLst>
      <p:ext uri="{BB962C8B-B14F-4D97-AF65-F5344CB8AC3E}">
        <p14:creationId xmlns:p14="http://schemas.microsoft.com/office/powerpoint/2010/main" val="2914226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5</a:t>
            </a:fld>
            <a:endParaRPr lang="en-US" altLang="zh-CN" dirty="0"/>
          </a:p>
        </p:txBody>
      </p:sp>
      <p:sp>
        <p:nvSpPr>
          <p:cNvPr id="14" name="矩形 13"/>
          <p:cNvSpPr/>
          <p:nvPr/>
        </p:nvSpPr>
        <p:spPr>
          <a:xfrm>
            <a:off x="407368" y="1124744"/>
            <a:ext cx="4156907" cy="523220"/>
          </a:xfrm>
          <a:prstGeom prst="rect">
            <a:avLst/>
          </a:prstGeom>
        </p:spPr>
        <p:txBody>
          <a:bodyPr wrap="none">
            <a:spAutoFit/>
          </a:bodyPr>
          <a:lstStyle/>
          <a:p>
            <a:r>
              <a:rPr lang="en-US" altLang="zh-CN" sz="2800" b="1" dirty="0">
                <a:solidFill>
                  <a:srgbClr val="0000FF"/>
                </a:solidFill>
                <a:latin typeface="Arial" panose="020B0604020202020204" pitchFamily="34" charset="0"/>
              </a:rPr>
              <a:t>Preliminary Knowledge</a:t>
            </a:r>
            <a:endParaRPr lang="zh-CN" altLang="en-US" sz="2800" b="1" dirty="0">
              <a:solidFill>
                <a:srgbClr val="FF0000"/>
              </a:solidFill>
              <a:ea typeface="黑体" panose="02010609060101010101" pitchFamily="49" charset="-122"/>
            </a:endParaRPr>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13.1 </a:t>
            </a:r>
            <a:r>
              <a:rPr lang="zh-CN" altLang="zh-CN" dirty="0"/>
              <a:t>最小错误率贝叶斯决策</a:t>
            </a:r>
          </a:p>
        </p:txBody>
      </p:sp>
      <p:sp>
        <p:nvSpPr>
          <p:cNvPr id="16" name="内容占位符 2"/>
          <p:cNvSpPr txBox="1">
            <a:spLocks/>
          </p:cNvSpPr>
          <p:nvPr/>
        </p:nvSpPr>
        <p:spPr bwMode="gray">
          <a:xfrm>
            <a:off x="411672" y="2420888"/>
            <a:ext cx="9574360" cy="3600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0" indent="0" algn="ctr" rtl="0" eaLnBrk="0" fontAlgn="base" hangingPunct="0">
              <a:spcBef>
                <a:spcPct val="20000"/>
              </a:spcBef>
              <a:spcAft>
                <a:spcPct val="0"/>
              </a:spcAft>
              <a:buClr>
                <a:schemeClr val="tx2"/>
              </a:buClr>
              <a:buFont typeface="Wingdings" pitchFamily="2" charset="2"/>
              <a:buNone/>
              <a:defRPr sz="28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Clr>
                <a:schemeClr val="accent1"/>
              </a:buClr>
              <a:buFont typeface="Wingdings" pitchFamily="2" charset="2"/>
              <a:buNone/>
              <a:defRPr sz="2600">
                <a:solidFill>
                  <a:schemeClr val="tx1">
                    <a:tint val="75000"/>
                  </a:schemeClr>
                </a:solidFill>
                <a:latin typeface="+mn-lt"/>
              </a:defRPr>
            </a:lvl2pPr>
            <a:lvl3pPr marL="914400" indent="0" algn="ctr" rtl="0" eaLnBrk="0" fontAlgn="base" hangingPunct="0">
              <a:spcBef>
                <a:spcPct val="20000"/>
              </a:spcBef>
              <a:spcAft>
                <a:spcPct val="0"/>
              </a:spcAft>
              <a:buClr>
                <a:schemeClr val="accent2"/>
              </a:buClr>
              <a:buNone/>
              <a:defRPr sz="2400">
                <a:solidFill>
                  <a:schemeClr val="tx1">
                    <a:tint val="75000"/>
                  </a:schemeClr>
                </a:solidFill>
                <a:latin typeface="+mn-lt"/>
              </a:defRPr>
            </a:lvl3pPr>
            <a:lvl4pPr marL="1371600" indent="0" algn="ctr" rtl="0" eaLnBrk="0" fontAlgn="base" hangingPunct="0">
              <a:spcBef>
                <a:spcPct val="20000"/>
              </a:spcBef>
              <a:spcAft>
                <a:spcPct val="0"/>
              </a:spcAft>
              <a:buNone/>
              <a:defRPr sz="2000">
                <a:solidFill>
                  <a:schemeClr val="tx1">
                    <a:tint val="75000"/>
                  </a:schemeClr>
                </a:solidFill>
                <a:latin typeface="+mn-lt"/>
              </a:defRPr>
            </a:lvl4pPr>
            <a:lvl5pPr marL="1828800" indent="0" algn="ctr" rtl="0" eaLnBrk="0" fontAlgn="base" hangingPunct="0">
              <a:spcBef>
                <a:spcPct val="20000"/>
              </a:spcBef>
              <a:spcAft>
                <a:spcPct val="0"/>
              </a:spcAft>
              <a:buNone/>
              <a:defRPr sz="2000">
                <a:solidFill>
                  <a:schemeClr val="tx1">
                    <a:tint val="75000"/>
                  </a:schemeClr>
                </a:solidFill>
                <a:latin typeface="+mn-lt"/>
              </a:defRPr>
            </a:lvl5pPr>
            <a:lvl6pPr marL="2286000" indent="0" algn="ctr" rtl="0" eaLnBrk="1" fontAlgn="base" hangingPunct="1">
              <a:spcBef>
                <a:spcPct val="20000"/>
              </a:spcBef>
              <a:spcAft>
                <a:spcPct val="0"/>
              </a:spcAft>
              <a:buNone/>
              <a:defRPr sz="2000">
                <a:solidFill>
                  <a:schemeClr val="tx1">
                    <a:tint val="75000"/>
                  </a:schemeClr>
                </a:solidFill>
                <a:latin typeface="+mn-lt"/>
              </a:defRPr>
            </a:lvl6pPr>
            <a:lvl7pPr marL="2743200" indent="0" algn="ctr" rtl="0" eaLnBrk="1" fontAlgn="base" hangingPunct="1">
              <a:spcBef>
                <a:spcPct val="20000"/>
              </a:spcBef>
              <a:spcAft>
                <a:spcPct val="0"/>
              </a:spcAft>
              <a:buNone/>
              <a:defRPr sz="2000">
                <a:solidFill>
                  <a:schemeClr val="tx1">
                    <a:tint val="75000"/>
                  </a:schemeClr>
                </a:solidFill>
                <a:latin typeface="+mn-lt"/>
              </a:defRPr>
            </a:lvl7pPr>
            <a:lvl8pPr marL="3200400" indent="0" algn="ctr" rtl="0" eaLnBrk="1" fontAlgn="base" hangingPunct="1">
              <a:spcBef>
                <a:spcPct val="20000"/>
              </a:spcBef>
              <a:spcAft>
                <a:spcPct val="0"/>
              </a:spcAft>
              <a:buNone/>
              <a:defRPr sz="2000">
                <a:solidFill>
                  <a:schemeClr val="tx1">
                    <a:tint val="75000"/>
                  </a:schemeClr>
                </a:solidFill>
                <a:latin typeface="+mn-lt"/>
              </a:defRPr>
            </a:lvl8pPr>
            <a:lvl9pPr marL="3657600" indent="0" algn="ctr" rtl="0" eaLnBrk="1" fontAlgn="base" hangingPunct="1">
              <a:spcBef>
                <a:spcPct val="20000"/>
              </a:spcBef>
              <a:spcAft>
                <a:spcPct val="0"/>
              </a:spcAft>
              <a:buNone/>
              <a:defRPr sz="2000">
                <a:solidFill>
                  <a:schemeClr val="tx1">
                    <a:tint val="75000"/>
                  </a:schemeClr>
                </a:solidFill>
                <a:latin typeface="+mn-lt"/>
              </a:defRPr>
            </a:lvl9pPr>
          </a:lstStyle>
          <a:p>
            <a:pPr algn="just" eaLnBrk="1" hangingPunct="1">
              <a:lnSpc>
                <a:spcPct val="130000"/>
              </a:lnSpc>
              <a:spcBef>
                <a:spcPts val="1200"/>
              </a:spcBef>
            </a:pPr>
            <a:r>
              <a:rPr lang="en-US" altLang="zh-CN" sz="2200" kern="0" dirty="0">
                <a:solidFill>
                  <a:schemeClr val="tx1"/>
                </a:solidFill>
                <a:latin typeface="Arial" panose="020B0604020202020204" pitchFamily="34" charset="0"/>
                <a:ea typeface="黑体" panose="02010609060101010101" pitchFamily="49" charset="-122"/>
              </a:rPr>
              <a:t>A∪B</a:t>
            </a:r>
            <a:r>
              <a:rPr lang="zh-CN" altLang="en-US" sz="2200" kern="0" dirty="0">
                <a:solidFill>
                  <a:schemeClr val="tx1"/>
                </a:solidFill>
                <a:latin typeface="Arial" panose="020B0604020202020204" pitchFamily="34" charset="0"/>
                <a:ea typeface="黑体" panose="02010609060101010101" pitchFamily="49" charset="-122"/>
              </a:rPr>
              <a:t>：</a:t>
            </a:r>
            <a:r>
              <a:rPr lang="en-US" altLang="zh-CN" sz="2200" kern="0" dirty="0">
                <a:solidFill>
                  <a:schemeClr val="tx1"/>
                </a:solidFill>
                <a:latin typeface="Arial" panose="020B0604020202020204" pitchFamily="34" charset="0"/>
                <a:ea typeface="黑体" panose="02010609060101010101" pitchFamily="49" charset="-122"/>
              </a:rPr>
              <a:t>A</a:t>
            </a:r>
            <a:r>
              <a:rPr lang="zh-CN" altLang="en-US" sz="2200" kern="0" dirty="0">
                <a:solidFill>
                  <a:schemeClr val="tx1"/>
                </a:solidFill>
                <a:latin typeface="Arial" panose="020B0604020202020204" pitchFamily="34" charset="0"/>
                <a:ea typeface="黑体" panose="02010609060101010101" pitchFamily="49" charset="-122"/>
              </a:rPr>
              <a:t>和</a:t>
            </a:r>
            <a:r>
              <a:rPr lang="en-US" altLang="zh-CN" sz="2200" kern="0" dirty="0">
                <a:solidFill>
                  <a:schemeClr val="tx1"/>
                </a:solidFill>
                <a:latin typeface="Arial" panose="020B0604020202020204" pitchFamily="34" charset="0"/>
                <a:ea typeface="黑体" panose="02010609060101010101" pitchFamily="49" charset="-122"/>
              </a:rPr>
              <a:t>B</a:t>
            </a:r>
            <a:r>
              <a:rPr lang="zh-CN" altLang="en-US" sz="2200" kern="0" dirty="0">
                <a:solidFill>
                  <a:schemeClr val="tx1"/>
                </a:solidFill>
                <a:latin typeface="Arial" panose="020B0604020202020204" pitchFamily="34" charset="0"/>
                <a:ea typeface="黑体" panose="02010609060101010101" pitchFamily="49" charset="-122"/>
              </a:rPr>
              <a:t>中至少有一件事情发生。</a:t>
            </a:r>
            <a:r>
              <a:rPr lang="en-US" altLang="zh-CN" sz="2200" kern="0" dirty="0">
                <a:solidFill>
                  <a:schemeClr val="tx1"/>
                </a:solidFill>
                <a:latin typeface="Arial" panose="020B0604020202020204" pitchFamily="34" charset="0"/>
                <a:ea typeface="黑体" panose="02010609060101010101" pitchFamily="49" charset="-122"/>
              </a:rPr>
              <a:t>    </a:t>
            </a:r>
          </a:p>
          <a:p>
            <a:pPr algn="just" eaLnBrk="1" hangingPunct="1">
              <a:lnSpc>
                <a:spcPct val="130000"/>
              </a:lnSpc>
              <a:spcBef>
                <a:spcPts val="1200"/>
              </a:spcBef>
            </a:pPr>
            <a:r>
              <a:rPr lang="en-US" altLang="zh-CN" sz="2200" kern="0" dirty="0">
                <a:solidFill>
                  <a:schemeClr val="tx1"/>
                </a:solidFill>
                <a:latin typeface="Arial" panose="020B0604020202020204" pitchFamily="34" charset="0"/>
                <a:ea typeface="黑体" panose="02010609060101010101" pitchFamily="49" charset="-122"/>
              </a:rPr>
              <a:t>P(A∪B)</a:t>
            </a:r>
            <a:r>
              <a:rPr lang="zh-CN" altLang="en-US" sz="2200" kern="0" dirty="0">
                <a:solidFill>
                  <a:schemeClr val="tx1"/>
                </a:solidFill>
                <a:latin typeface="Arial" panose="020B0604020202020204" pitchFamily="34" charset="0"/>
                <a:ea typeface="黑体" panose="02010609060101010101" pitchFamily="49" charset="-122"/>
              </a:rPr>
              <a:t>：亦可记为</a:t>
            </a:r>
            <a:r>
              <a:rPr lang="en-US" altLang="zh-CN" sz="2200" kern="0" dirty="0">
                <a:solidFill>
                  <a:schemeClr val="tx1"/>
                </a:solidFill>
                <a:latin typeface="Arial" panose="020B0604020202020204" pitchFamily="34" charset="0"/>
                <a:ea typeface="黑体" panose="02010609060101010101" pitchFamily="49" charset="-122"/>
              </a:rPr>
              <a:t>P(A+B)</a:t>
            </a:r>
            <a:r>
              <a:rPr lang="zh-CN" altLang="en-US" sz="2200" kern="0" dirty="0">
                <a:solidFill>
                  <a:schemeClr val="tx1"/>
                </a:solidFill>
                <a:latin typeface="Arial" panose="020B0604020202020204" pitchFamily="34" charset="0"/>
                <a:ea typeface="黑体" panose="02010609060101010101" pitchFamily="49" charset="-122"/>
              </a:rPr>
              <a:t>，两个随机事件和的概率。</a:t>
            </a:r>
            <a:endParaRPr lang="en-US" altLang="zh-CN" sz="2200" kern="0" dirty="0">
              <a:solidFill>
                <a:schemeClr val="tx1"/>
              </a:solidFill>
              <a:latin typeface="Arial" panose="020B0604020202020204" pitchFamily="34" charset="0"/>
              <a:ea typeface="黑体" panose="02010609060101010101" pitchFamily="49" charset="-122"/>
            </a:endParaRPr>
          </a:p>
          <a:p>
            <a:pPr algn="just" eaLnBrk="1" hangingPunct="1">
              <a:lnSpc>
                <a:spcPct val="130000"/>
              </a:lnSpc>
              <a:spcBef>
                <a:spcPts val="1200"/>
              </a:spcBef>
            </a:pPr>
            <a:r>
              <a:rPr lang="en-US" altLang="zh-CN" sz="2200" kern="0" dirty="0">
                <a:solidFill>
                  <a:schemeClr val="tx1"/>
                </a:solidFill>
                <a:latin typeface="Arial" panose="020B0604020202020204" pitchFamily="34" charset="0"/>
                <a:ea typeface="黑体" panose="02010609060101010101" pitchFamily="49" charset="-122"/>
              </a:rPr>
              <a:t>A∩B</a:t>
            </a:r>
            <a:r>
              <a:rPr lang="zh-CN" altLang="en-US" sz="2200" kern="0" dirty="0">
                <a:solidFill>
                  <a:schemeClr val="tx1"/>
                </a:solidFill>
                <a:latin typeface="Arial" panose="020B0604020202020204" pitchFamily="34" charset="0"/>
                <a:ea typeface="黑体" panose="02010609060101010101" pitchFamily="49" charset="-122"/>
              </a:rPr>
              <a:t>：</a:t>
            </a:r>
            <a:r>
              <a:rPr lang="en-US" altLang="zh-CN" sz="2200" kern="0" dirty="0">
                <a:solidFill>
                  <a:schemeClr val="tx1"/>
                </a:solidFill>
                <a:latin typeface="Arial" panose="020B0604020202020204" pitchFamily="34" charset="0"/>
                <a:ea typeface="黑体" panose="02010609060101010101" pitchFamily="49" charset="-122"/>
              </a:rPr>
              <a:t>A</a:t>
            </a:r>
            <a:r>
              <a:rPr lang="zh-CN" altLang="en-US" sz="2200" kern="0" dirty="0">
                <a:solidFill>
                  <a:schemeClr val="tx1"/>
                </a:solidFill>
                <a:latin typeface="Arial" panose="020B0604020202020204" pitchFamily="34" charset="0"/>
                <a:ea typeface="黑体" panose="02010609060101010101" pitchFamily="49" charset="-122"/>
              </a:rPr>
              <a:t>与</a:t>
            </a:r>
            <a:r>
              <a:rPr lang="en-US" altLang="zh-CN" sz="2200" kern="0" dirty="0">
                <a:solidFill>
                  <a:schemeClr val="tx1"/>
                </a:solidFill>
                <a:latin typeface="Arial" panose="020B0604020202020204" pitchFamily="34" charset="0"/>
                <a:ea typeface="黑体" panose="02010609060101010101" pitchFamily="49" charset="-122"/>
              </a:rPr>
              <a:t>B</a:t>
            </a:r>
            <a:r>
              <a:rPr lang="zh-CN" altLang="en-US" sz="2200" kern="0" dirty="0">
                <a:solidFill>
                  <a:schemeClr val="tx1"/>
                </a:solidFill>
                <a:latin typeface="Arial" panose="020B0604020202020204" pitchFamily="34" charset="0"/>
                <a:ea typeface="黑体" panose="02010609060101010101" pitchFamily="49" charset="-122"/>
              </a:rPr>
              <a:t>同时发生。</a:t>
            </a:r>
            <a:endParaRPr lang="en-US" altLang="zh-CN" sz="2200" kern="0" dirty="0">
              <a:solidFill>
                <a:schemeClr val="tx1"/>
              </a:solidFill>
              <a:latin typeface="Arial" panose="020B0604020202020204" pitchFamily="34" charset="0"/>
              <a:ea typeface="黑体" panose="02010609060101010101" pitchFamily="49" charset="-122"/>
            </a:endParaRPr>
          </a:p>
          <a:p>
            <a:pPr algn="just" eaLnBrk="1" hangingPunct="1">
              <a:lnSpc>
                <a:spcPct val="130000"/>
              </a:lnSpc>
              <a:spcBef>
                <a:spcPts val="1200"/>
              </a:spcBef>
            </a:pPr>
            <a:r>
              <a:rPr lang="en-US" altLang="zh-CN" sz="2200" kern="0" dirty="0">
                <a:solidFill>
                  <a:schemeClr val="tx1"/>
                </a:solidFill>
                <a:latin typeface="Arial" panose="020B0604020202020204" pitchFamily="34" charset="0"/>
                <a:ea typeface="黑体" panose="02010609060101010101" pitchFamily="49" charset="-122"/>
              </a:rPr>
              <a:t>P(A∩B)</a:t>
            </a:r>
            <a:r>
              <a:rPr lang="zh-CN" altLang="en-US" sz="2200" kern="0" dirty="0">
                <a:solidFill>
                  <a:schemeClr val="tx1"/>
                </a:solidFill>
                <a:latin typeface="Arial" panose="020B0604020202020204" pitchFamily="34" charset="0"/>
                <a:ea typeface="黑体" panose="02010609060101010101" pitchFamily="49" charset="-122"/>
              </a:rPr>
              <a:t>：亦可记为</a:t>
            </a:r>
            <a:r>
              <a:rPr lang="en-US" altLang="zh-CN" sz="2200" kern="0" dirty="0">
                <a:solidFill>
                  <a:schemeClr val="tx1"/>
                </a:solidFill>
                <a:latin typeface="Arial" panose="020B0604020202020204" pitchFamily="34" charset="0"/>
                <a:ea typeface="黑体" panose="02010609060101010101" pitchFamily="49" charset="-122"/>
              </a:rPr>
              <a:t>P(AB)</a:t>
            </a:r>
            <a:r>
              <a:rPr lang="zh-CN" altLang="en-US" sz="2200" kern="0" dirty="0">
                <a:solidFill>
                  <a:schemeClr val="tx1"/>
                </a:solidFill>
                <a:latin typeface="Arial" panose="020B0604020202020204" pitchFamily="34" charset="0"/>
                <a:ea typeface="黑体" panose="02010609060101010101" pitchFamily="49" charset="-122"/>
              </a:rPr>
              <a:t>，两个随机事件乘积的概率。</a:t>
            </a:r>
            <a:endParaRPr lang="en-US" altLang="zh-CN" sz="2200" kern="0" dirty="0">
              <a:solidFill>
                <a:schemeClr val="tx1"/>
              </a:solidFill>
              <a:latin typeface="Arial" panose="020B0604020202020204" pitchFamily="34" charset="0"/>
              <a:ea typeface="黑体" panose="02010609060101010101" pitchFamily="49" charset="-122"/>
            </a:endParaRPr>
          </a:p>
          <a:p>
            <a:pPr algn="just" eaLnBrk="1" hangingPunct="1">
              <a:lnSpc>
                <a:spcPct val="130000"/>
              </a:lnSpc>
              <a:spcBef>
                <a:spcPts val="1200"/>
              </a:spcBef>
            </a:pPr>
            <a:r>
              <a:rPr lang="zh-CN" altLang="zh-CN" sz="2200" kern="0" dirty="0">
                <a:solidFill>
                  <a:schemeClr val="tx1"/>
                </a:solidFill>
                <a:latin typeface="Arial" panose="020B0604020202020204" pitchFamily="34" charset="0"/>
                <a:ea typeface="黑体" panose="02010609060101010101" pitchFamily="49" charset="-122"/>
              </a:rPr>
              <a:t>Φ</a:t>
            </a:r>
            <a:r>
              <a:rPr lang="en-US" altLang="zh-CN" sz="2200" kern="0" dirty="0">
                <a:solidFill>
                  <a:schemeClr val="tx1"/>
                </a:solidFill>
                <a:latin typeface="Arial" panose="020B0604020202020204" pitchFamily="34" charset="0"/>
                <a:ea typeface="黑体" panose="02010609060101010101" pitchFamily="49" charset="-122"/>
              </a:rPr>
              <a:t>: </a:t>
            </a:r>
            <a:r>
              <a:rPr lang="zh-CN" altLang="en-US" sz="2200" kern="0" dirty="0">
                <a:solidFill>
                  <a:schemeClr val="tx1"/>
                </a:solidFill>
                <a:latin typeface="Arial" panose="020B0604020202020204" pitchFamily="34" charset="0"/>
                <a:ea typeface="黑体" panose="02010609060101010101" pitchFamily="49" charset="-122"/>
              </a:rPr>
              <a:t>空集，如 </a:t>
            </a:r>
            <a:r>
              <a:rPr lang="en-US" altLang="zh-CN" sz="2200" kern="0" dirty="0">
                <a:solidFill>
                  <a:schemeClr val="tx1"/>
                </a:solidFill>
                <a:latin typeface="Arial" panose="020B0604020202020204" pitchFamily="34" charset="0"/>
                <a:ea typeface="黑体" panose="02010609060101010101" pitchFamily="49" charset="-122"/>
              </a:rPr>
              <a:t>A∩B=</a:t>
            </a:r>
            <a:r>
              <a:rPr lang="zh-CN" altLang="zh-CN" sz="2200" kern="0" dirty="0">
                <a:solidFill>
                  <a:schemeClr val="tx1"/>
                </a:solidFill>
                <a:latin typeface="Arial" panose="020B0604020202020204" pitchFamily="34" charset="0"/>
                <a:ea typeface="黑体" panose="02010609060101010101" pitchFamily="49" charset="-122"/>
              </a:rPr>
              <a:t>Φ</a:t>
            </a:r>
            <a:r>
              <a:rPr lang="zh-CN" altLang="en-US" sz="2200" kern="0" dirty="0">
                <a:solidFill>
                  <a:schemeClr val="tx1"/>
                </a:solidFill>
                <a:latin typeface="Arial" panose="020B0604020202020204" pitchFamily="34" charset="0"/>
                <a:ea typeface="黑体" panose="02010609060101010101" pitchFamily="49" charset="-122"/>
              </a:rPr>
              <a:t>，事件</a:t>
            </a:r>
            <a:r>
              <a:rPr lang="en-US" altLang="zh-CN" sz="2200" kern="0" dirty="0">
                <a:solidFill>
                  <a:schemeClr val="tx1"/>
                </a:solidFill>
                <a:latin typeface="Arial" panose="020B0604020202020204" pitchFamily="34" charset="0"/>
                <a:ea typeface="黑体" panose="02010609060101010101" pitchFamily="49" charset="-122"/>
              </a:rPr>
              <a:t>A</a:t>
            </a:r>
            <a:r>
              <a:rPr lang="zh-CN" altLang="en-US" sz="2200" kern="0" dirty="0">
                <a:solidFill>
                  <a:schemeClr val="tx1"/>
                </a:solidFill>
                <a:latin typeface="Arial" panose="020B0604020202020204" pitchFamily="34" charset="0"/>
                <a:ea typeface="黑体" panose="02010609060101010101" pitchFamily="49" charset="-122"/>
              </a:rPr>
              <a:t>和</a:t>
            </a:r>
            <a:r>
              <a:rPr lang="en-US" altLang="zh-CN" sz="2200" kern="0" dirty="0">
                <a:solidFill>
                  <a:schemeClr val="tx1"/>
                </a:solidFill>
                <a:latin typeface="Arial" panose="020B0604020202020204" pitchFamily="34" charset="0"/>
                <a:ea typeface="黑体" panose="02010609060101010101" pitchFamily="49" charset="-122"/>
              </a:rPr>
              <a:t>B</a:t>
            </a:r>
            <a:r>
              <a:rPr lang="zh-CN" altLang="en-US" sz="2200" kern="0" dirty="0">
                <a:solidFill>
                  <a:schemeClr val="tx1"/>
                </a:solidFill>
                <a:latin typeface="Arial" panose="020B0604020202020204" pitchFamily="34" charset="0"/>
                <a:ea typeface="黑体" panose="02010609060101010101" pitchFamily="49" charset="-122"/>
              </a:rPr>
              <a:t>无交集，</a:t>
            </a:r>
            <a:r>
              <a:rPr lang="en-US" altLang="zh-CN" sz="2200" kern="0" dirty="0">
                <a:solidFill>
                  <a:schemeClr val="tx1"/>
                </a:solidFill>
                <a:latin typeface="Arial" panose="020B0604020202020204" pitchFamily="34" charset="0"/>
                <a:ea typeface="黑体" panose="02010609060101010101" pitchFamily="49" charset="-122"/>
              </a:rPr>
              <a:t>A</a:t>
            </a:r>
            <a:r>
              <a:rPr lang="zh-CN" altLang="en-US" sz="2200" kern="0" dirty="0">
                <a:solidFill>
                  <a:schemeClr val="tx1"/>
                </a:solidFill>
                <a:latin typeface="Arial" panose="020B0604020202020204" pitchFamily="34" charset="0"/>
                <a:ea typeface="黑体" panose="02010609060101010101" pitchFamily="49" charset="-122"/>
              </a:rPr>
              <a:t>与</a:t>
            </a:r>
            <a:r>
              <a:rPr lang="en-US" altLang="zh-CN" sz="2200" kern="0" dirty="0">
                <a:solidFill>
                  <a:schemeClr val="tx1"/>
                </a:solidFill>
                <a:latin typeface="Arial" panose="020B0604020202020204" pitchFamily="34" charset="0"/>
                <a:ea typeface="黑体" panose="02010609060101010101" pitchFamily="49" charset="-122"/>
              </a:rPr>
              <a:t>B</a:t>
            </a:r>
            <a:r>
              <a:rPr lang="zh-CN" altLang="en-US" sz="2200" kern="0" dirty="0">
                <a:solidFill>
                  <a:schemeClr val="tx1"/>
                </a:solidFill>
                <a:latin typeface="Arial" panose="020B0604020202020204" pitchFamily="34" charset="0"/>
                <a:ea typeface="黑体" panose="02010609060101010101" pitchFamily="49" charset="-122"/>
              </a:rPr>
              <a:t>互不相容，</a:t>
            </a:r>
            <a:r>
              <a:rPr lang="en-US" altLang="zh-CN" sz="2200" kern="0" dirty="0">
                <a:solidFill>
                  <a:schemeClr val="tx1"/>
                </a:solidFill>
                <a:latin typeface="Arial" panose="020B0604020202020204" pitchFamily="34" charset="0"/>
                <a:ea typeface="黑体" panose="02010609060101010101" pitchFamily="49" charset="-122"/>
              </a:rPr>
              <a:t>A</a:t>
            </a:r>
            <a:r>
              <a:rPr lang="zh-CN" altLang="en-US" sz="2200" kern="0" dirty="0">
                <a:solidFill>
                  <a:schemeClr val="tx1"/>
                </a:solidFill>
                <a:latin typeface="Arial" panose="020B0604020202020204" pitchFamily="34" charset="0"/>
                <a:ea typeface="黑体" panose="02010609060101010101" pitchFamily="49" charset="-122"/>
              </a:rPr>
              <a:t>和</a:t>
            </a:r>
            <a:r>
              <a:rPr lang="en-US" altLang="zh-CN" sz="2200" kern="0" dirty="0">
                <a:solidFill>
                  <a:schemeClr val="tx1"/>
                </a:solidFill>
                <a:latin typeface="Arial" panose="020B0604020202020204" pitchFamily="34" charset="0"/>
                <a:ea typeface="黑体" panose="02010609060101010101" pitchFamily="49" charset="-122"/>
              </a:rPr>
              <a:t>B</a:t>
            </a:r>
            <a:r>
              <a:rPr lang="zh-CN" altLang="en-US" sz="2200" kern="0" dirty="0">
                <a:solidFill>
                  <a:schemeClr val="tx1"/>
                </a:solidFill>
                <a:latin typeface="Arial" panose="020B0604020202020204" pitchFamily="34" charset="0"/>
                <a:ea typeface="黑体" panose="02010609060101010101" pitchFamily="49" charset="-122"/>
              </a:rPr>
              <a:t>互斥。</a:t>
            </a:r>
            <a:endParaRPr lang="en-US" altLang="zh-CN" sz="2200" kern="0" dirty="0">
              <a:solidFill>
                <a:schemeClr val="tx1"/>
              </a:solidFill>
              <a:latin typeface="Arial" panose="020B0604020202020204" pitchFamily="34" charset="0"/>
              <a:ea typeface="黑体" panose="02010609060101010101" pitchFamily="49" charset="-122"/>
            </a:endParaRPr>
          </a:p>
          <a:p>
            <a:pPr algn="just" eaLnBrk="1" hangingPunct="1">
              <a:lnSpc>
                <a:spcPct val="130000"/>
              </a:lnSpc>
              <a:spcBef>
                <a:spcPts val="1200"/>
              </a:spcBef>
            </a:pPr>
            <a:r>
              <a:rPr lang="en-US" altLang="zh-CN" sz="2200" kern="0" dirty="0">
                <a:solidFill>
                  <a:schemeClr val="tx1"/>
                </a:solidFill>
                <a:latin typeface="Arial" panose="020B0604020202020204" pitchFamily="34" charset="0"/>
                <a:ea typeface="黑体" panose="02010609060101010101" pitchFamily="49" charset="-122"/>
              </a:rPr>
              <a:t>Ω: </a:t>
            </a:r>
            <a:r>
              <a:rPr lang="zh-CN" altLang="en-US" sz="2200" kern="0" dirty="0">
                <a:solidFill>
                  <a:schemeClr val="tx1"/>
                </a:solidFill>
                <a:latin typeface="Arial" panose="020B0604020202020204" pitchFamily="34" charset="0"/>
                <a:ea typeface="黑体" panose="02010609060101010101" pitchFamily="49" charset="-122"/>
              </a:rPr>
              <a:t>全空间，如 </a:t>
            </a:r>
            <a:r>
              <a:rPr lang="en-US" altLang="zh-CN" sz="2200" kern="0" dirty="0">
                <a:solidFill>
                  <a:schemeClr val="tx1"/>
                </a:solidFill>
                <a:latin typeface="Arial" panose="020B0604020202020204" pitchFamily="34" charset="0"/>
                <a:ea typeface="黑体" panose="02010609060101010101" pitchFamily="49" charset="-122"/>
              </a:rPr>
              <a:t>A+B=Ω</a:t>
            </a:r>
            <a:r>
              <a:rPr lang="zh-CN" altLang="en-US" sz="2200" kern="0" dirty="0">
                <a:solidFill>
                  <a:schemeClr val="tx1"/>
                </a:solidFill>
                <a:latin typeface="Arial" panose="020B0604020202020204" pitchFamily="34" charset="0"/>
                <a:ea typeface="黑体" panose="02010609060101010101" pitchFamily="49" charset="-122"/>
              </a:rPr>
              <a:t>，</a:t>
            </a:r>
            <a:r>
              <a:rPr lang="en-US" altLang="zh-CN" sz="2200" kern="0" dirty="0">
                <a:solidFill>
                  <a:schemeClr val="tx1"/>
                </a:solidFill>
                <a:latin typeface="Arial" panose="020B0604020202020204" pitchFamily="34" charset="0"/>
                <a:ea typeface="黑体" panose="02010609060101010101" pitchFamily="49" charset="-122"/>
              </a:rPr>
              <a:t>P(A+B)=1</a:t>
            </a:r>
            <a:r>
              <a:rPr lang="zh-CN" altLang="en-US" sz="2200" kern="0" dirty="0">
                <a:solidFill>
                  <a:schemeClr val="tx1"/>
                </a:solidFill>
                <a:latin typeface="Arial" panose="020B0604020202020204" pitchFamily="34" charset="0"/>
                <a:ea typeface="黑体" panose="02010609060101010101" pitchFamily="49" charset="-122"/>
              </a:rPr>
              <a:t>。</a:t>
            </a:r>
            <a:endParaRPr lang="en-US" altLang="zh-CN" sz="2200" kern="0" dirty="0">
              <a:solidFill>
                <a:schemeClr val="tx1"/>
              </a:solidFill>
              <a:latin typeface="Arial" panose="020B0604020202020204" pitchFamily="34" charset="0"/>
              <a:ea typeface="黑体" panose="02010609060101010101" pitchFamily="49" charset="-122"/>
            </a:endParaRPr>
          </a:p>
        </p:txBody>
      </p:sp>
      <p:sp>
        <p:nvSpPr>
          <p:cNvPr id="17" name="矩形 16"/>
          <p:cNvSpPr/>
          <p:nvPr/>
        </p:nvSpPr>
        <p:spPr>
          <a:xfrm>
            <a:off x="375072" y="1737238"/>
            <a:ext cx="906017" cy="590354"/>
          </a:xfrm>
          <a:prstGeom prst="rect">
            <a:avLst/>
          </a:prstGeom>
        </p:spPr>
        <p:txBody>
          <a:bodyPr wrap="none">
            <a:spAutoFit/>
          </a:bodyPr>
          <a:lstStyle/>
          <a:p>
            <a:pPr>
              <a:lnSpc>
                <a:spcPct val="130000"/>
              </a:lnSpc>
            </a:pPr>
            <a:r>
              <a:rPr lang="zh-CN" altLang="en-US" sz="2800" b="1" dirty="0">
                <a:solidFill>
                  <a:srgbClr val="FF0000"/>
                </a:solidFill>
                <a:latin typeface="Arial" panose="020B0604020202020204" pitchFamily="34" charset="0"/>
                <a:ea typeface="黑体" panose="02010609060101010101" pitchFamily="49" charset="-122"/>
              </a:rPr>
              <a:t>标记</a:t>
            </a:r>
            <a:endParaRPr lang="zh-CN" altLang="en-US" sz="2800" b="1" dirty="0">
              <a:solidFill>
                <a:srgbClr val="FF0000"/>
              </a:solidFill>
              <a:ea typeface="黑体" panose="02010609060101010101" pitchFamily="49" charset="-122"/>
            </a:endParaRPr>
          </a:p>
        </p:txBody>
      </p:sp>
    </p:spTree>
    <p:extLst>
      <p:ext uri="{BB962C8B-B14F-4D97-AF65-F5344CB8AC3E}">
        <p14:creationId xmlns:p14="http://schemas.microsoft.com/office/powerpoint/2010/main" val="2304678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6</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13.1 </a:t>
            </a:r>
            <a:r>
              <a:rPr lang="zh-CN" altLang="zh-CN" dirty="0"/>
              <a:t>最小错误率贝叶斯决策</a:t>
            </a:r>
          </a:p>
        </p:txBody>
      </p:sp>
      <p:sp>
        <p:nvSpPr>
          <p:cNvPr id="11" name="矩形 10"/>
          <p:cNvSpPr/>
          <p:nvPr/>
        </p:nvSpPr>
        <p:spPr>
          <a:xfrm>
            <a:off x="407368" y="1124744"/>
            <a:ext cx="4156907" cy="523220"/>
          </a:xfrm>
          <a:prstGeom prst="rect">
            <a:avLst/>
          </a:prstGeom>
        </p:spPr>
        <p:txBody>
          <a:bodyPr wrap="none">
            <a:spAutoFit/>
          </a:bodyPr>
          <a:lstStyle/>
          <a:p>
            <a:r>
              <a:rPr lang="en-US" altLang="zh-CN" sz="2800" b="1" dirty="0">
                <a:solidFill>
                  <a:srgbClr val="0000FF"/>
                </a:solidFill>
                <a:latin typeface="Arial" panose="020B0604020202020204" pitchFamily="34" charset="0"/>
              </a:rPr>
              <a:t>Preliminary Knowledge</a:t>
            </a:r>
            <a:endParaRPr lang="zh-CN" altLang="en-US" sz="2800" b="1" dirty="0">
              <a:solidFill>
                <a:srgbClr val="FF0000"/>
              </a:solidFill>
              <a:ea typeface="黑体" panose="02010609060101010101" pitchFamily="49" charset="-122"/>
            </a:endParaRPr>
          </a:p>
        </p:txBody>
      </p:sp>
      <p:sp>
        <p:nvSpPr>
          <p:cNvPr id="13" name="Rectangle 1027"/>
          <p:cNvSpPr txBox="1">
            <a:spLocks noChangeArrowheads="1"/>
          </p:cNvSpPr>
          <p:nvPr/>
        </p:nvSpPr>
        <p:spPr bwMode="gray">
          <a:xfrm>
            <a:off x="407368" y="1772816"/>
            <a:ext cx="11377264" cy="1152128"/>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rmAutofit/>
          </a:bodyPr>
          <a:lstStyle>
            <a:lvl1pPr marL="0" indent="0" algn="ctr" rtl="0" eaLnBrk="0" fontAlgn="base" hangingPunct="0">
              <a:spcBef>
                <a:spcPct val="20000"/>
              </a:spcBef>
              <a:spcAft>
                <a:spcPct val="0"/>
              </a:spcAft>
              <a:buClr>
                <a:schemeClr val="tx2"/>
              </a:buClr>
              <a:buFont typeface="Wingdings" pitchFamily="2" charset="2"/>
              <a:buNone/>
              <a:defRPr sz="28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Clr>
                <a:schemeClr val="accent1"/>
              </a:buClr>
              <a:buFont typeface="Wingdings" pitchFamily="2" charset="2"/>
              <a:buNone/>
              <a:defRPr sz="2600">
                <a:solidFill>
                  <a:schemeClr val="tx1">
                    <a:tint val="75000"/>
                  </a:schemeClr>
                </a:solidFill>
                <a:latin typeface="+mn-lt"/>
              </a:defRPr>
            </a:lvl2pPr>
            <a:lvl3pPr marL="914400" indent="0" algn="ctr" rtl="0" eaLnBrk="0" fontAlgn="base" hangingPunct="0">
              <a:spcBef>
                <a:spcPct val="20000"/>
              </a:spcBef>
              <a:spcAft>
                <a:spcPct val="0"/>
              </a:spcAft>
              <a:buClr>
                <a:schemeClr val="accent2"/>
              </a:buClr>
              <a:buNone/>
              <a:defRPr sz="2400">
                <a:solidFill>
                  <a:schemeClr val="tx1">
                    <a:tint val="75000"/>
                  </a:schemeClr>
                </a:solidFill>
                <a:latin typeface="+mn-lt"/>
              </a:defRPr>
            </a:lvl3pPr>
            <a:lvl4pPr marL="1371600" indent="0" algn="ctr" rtl="0" eaLnBrk="0" fontAlgn="base" hangingPunct="0">
              <a:spcBef>
                <a:spcPct val="20000"/>
              </a:spcBef>
              <a:spcAft>
                <a:spcPct val="0"/>
              </a:spcAft>
              <a:buNone/>
              <a:defRPr sz="2000">
                <a:solidFill>
                  <a:schemeClr val="tx1">
                    <a:tint val="75000"/>
                  </a:schemeClr>
                </a:solidFill>
                <a:latin typeface="+mn-lt"/>
              </a:defRPr>
            </a:lvl4pPr>
            <a:lvl5pPr marL="1828800" indent="0" algn="ctr" rtl="0" eaLnBrk="0" fontAlgn="base" hangingPunct="0">
              <a:spcBef>
                <a:spcPct val="20000"/>
              </a:spcBef>
              <a:spcAft>
                <a:spcPct val="0"/>
              </a:spcAft>
              <a:buNone/>
              <a:defRPr sz="2000">
                <a:solidFill>
                  <a:schemeClr val="tx1">
                    <a:tint val="75000"/>
                  </a:schemeClr>
                </a:solidFill>
                <a:latin typeface="+mn-lt"/>
              </a:defRPr>
            </a:lvl5pPr>
            <a:lvl6pPr marL="2286000" indent="0" algn="ctr" rtl="0" eaLnBrk="1" fontAlgn="base" hangingPunct="1">
              <a:spcBef>
                <a:spcPct val="20000"/>
              </a:spcBef>
              <a:spcAft>
                <a:spcPct val="0"/>
              </a:spcAft>
              <a:buNone/>
              <a:defRPr sz="2000">
                <a:solidFill>
                  <a:schemeClr val="tx1">
                    <a:tint val="75000"/>
                  </a:schemeClr>
                </a:solidFill>
                <a:latin typeface="+mn-lt"/>
              </a:defRPr>
            </a:lvl6pPr>
            <a:lvl7pPr marL="2743200" indent="0" algn="ctr" rtl="0" eaLnBrk="1" fontAlgn="base" hangingPunct="1">
              <a:spcBef>
                <a:spcPct val="20000"/>
              </a:spcBef>
              <a:spcAft>
                <a:spcPct val="0"/>
              </a:spcAft>
              <a:buNone/>
              <a:defRPr sz="2000">
                <a:solidFill>
                  <a:schemeClr val="tx1">
                    <a:tint val="75000"/>
                  </a:schemeClr>
                </a:solidFill>
                <a:latin typeface="+mn-lt"/>
              </a:defRPr>
            </a:lvl7pPr>
            <a:lvl8pPr marL="3200400" indent="0" algn="ctr" rtl="0" eaLnBrk="1" fontAlgn="base" hangingPunct="1">
              <a:spcBef>
                <a:spcPct val="20000"/>
              </a:spcBef>
              <a:spcAft>
                <a:spcPct val="0"/>
              </a:spcAft>
              <a:buNone/>
              <a:defRPr sz="2000">
                <a:solidFill>
                  <a:schemeClr val="tx1">
                    <a:tint val="75000"/>
                  </a:schemeClr>
                </a:solidFill>
                <a:latin typeface="+mn-lt"/>
              </a:defRPr>
            </a:lvl8pPr>
            <a:lvl9pPr marL="3657600" indent="0" algn="ctr" rtl="0" eaLnBrk="1" fontAlgn="base" hangingPunct="1">
              <a:spcBef>
                <a:spcPct val="20000"/>
              </a:spcBef>
              <a:spcAft>
                <a:spcPct val="0"/>
              </a:spcAft>
              <a:buNone/>
              <a:defRPr sz="2000">
                <a:solidFill>
                  <a:schemeClr val="tx1">
                    <a:tint val="75000"/>
                  </a:schemeClr>
                </a:solidFill>
                <a:latin typeface="+mn-lt"/>
              </a:defRPr>
            </a:lvl9pPr>
          </a:lstStyle>
          <a:p>
            <a:pPr algn="just" eaLnBrk="1" fontAlgn="auto" hangingPunct="1">
              <a:lnSpc>
                <a:spcPct val="130000"/>
              </a:lnSpc>
              <a:spcBef>
                <a:spcPts val="600"/>
              </a:spcBef>
              <a:spcAft>
                <a:spcPts val="0"/>
              </a:spcAft>
              <a:defRPr/>
            </a:pPr>
            <a:r>
              <a:rPr lang="zh-CN" altLang="en-US" kern="0" dirty="0">
                <a:solidFill>
                  <a:srgbClr val="FF0000"/>
                </a:solidFill>
                <a:latin typeface="黑体" pitchFamily="2" charset="-122"/>
                <a:ea typeface="黑体" pitchFamily="2" charset="-122"/>
              </a:rPr>
              <a:t>统计概率</a:t>
            </a:r>
            <a:r>
              <a:rPr lang="zh-CN" altLang="en-US" sz="2200" kern="0" dirty="0">
                <a:solidFill>
                  <a:srgbClr val="FF0000"/>
                </a:solidFill>
                <a:latin typeface="黑体" pitchFamily="2" charset="-122"/>
                <a:ea typeface="黑体" pitchFamily="2" charset="-122"/>
              </a:rPr>
              <a:t> </a:t>
            </a:r>
            <a:r>
              <a:rPr lang="zh-CN" altLang="en-US" sz="2200" kern="0" dirty="0">
                <a:solidFill>
                  <a:schemeClr val="tx1"/>
                </a:solidFill>
                <a:latin typeface="黑体" pitchFamily="2" charset="-122"/>
                <a:ea typeface="黑体" pitchFamily="2" charset="-122"/>
              </a:rPr>
              <a:t>若在大量重复试验中，事件</a:t>
            </a:r>
            <a:r>
              <a:rPr lang="en-US" altLang="zh-CN" sz="2200" kern="0" dirty="0">
                <a:solidFill>
                  <a:schemeClr val="tx1"/>
                </a:solidFill>
                <a:latin typeface="黑体" pitchFamily="2" charset="-122"/>
                <a:ea typeface="黑体" pitchFamily="2" charset="-122"/>
              </a:rPr>
              <a:t>A</a:t>
            </a:r>
            <a:r>
              <a:rPr lang="zh-CN" altLang="en-US" sz="2200" kern="0" dirty="0">
                <a:solidFill>
                  <a:schemeClr val="tx1"/>
                </a:solidFill>
                <a:latin typeface="黑体" pitchFamily="2" charset="-122"/>
                <a:ea typeface="黑体" pitchFamily="2" charset="-122"/>
              </a:rPr>
              <a:t>发生的频率稳定地接近于一个固定的常数</a:t>
            </a:r>
            <a:r>
              <a:rPr lang="en-US" altLang="zh-CN" sz="2200" i="1" kern="0" dirty="0">
                <a:solidFill>
                  <a:schemeClr val="tx1"/>
                </a:solidFill>
                <a:latin typeface="黑体" pitchFamily="2" charset="-122"/>
                <a:ea typeface="黑体" pitchFamily="2" charset="-122"/>
              </a:rPr>
              <a:t>p</a:t>
            </a:r>
            <a:r>
              <a:rPr lang="en-US" altLang="zh-CN" sz="2200" kern="0" dirty="0">
                <a:solidFill>
                  <a:schemeClr val="tx1"/>
                </a:solidFill>
                <a:latin typeface="黑体" pitchFamily="2" charset="-122"/>
                <a:ea typeface="黑体" pitchFamily="2" charset="-122"/>
              </a:rPr>
              <a:t>，</a:t>
            </a:r>
            <a:r>
              <a:rPr lang="zh-CN" altLang="en-US" sz="2200" kern="0" dirty="0">
                <a:solidFill>
                  <a:schemeClr val="tx1"/>
                </a:solidFill>
                <a:latin typeface="黑体" pitchFamily="2" charset="-122"/>
                <a:ea typeface="黑体" pitchFamily="2" charset="-122"/>
              </a:rPr>
              <a:t>它表明事件</a:t>
            </a:r>
            <a:r>
              <a:rPr lang="en-US" altLang="zh-CN" sz="2200" kern="0" dirty="0">
                <a:solidFill>
                  <a:schemeClr val="tx1"/>
                </a:solidFill>
                <a:latin typeface="黑体" pitchFamily="2" charset="-122"/>
                <a:ea typeface="黑体" pitchFamily="2" charset="-122"/>
              </a:rPr>
              <a:t>A</a:t>
            </a:r>
            <a:r>
              <a:rPr lang="zh-CN" altLang="en-US" sz="2200" kern="0" dirty="0">
                <a:solidFill>
                  <a:schemeClr val="tx1"/>
                </a:solidFill>
                <a:latin typeface="黑体" pitchFamily="2" charset="-122"/>
                <a:ea typeface="黑体" pitchFamily="2" charset="-122"/>
              </a:rPr>
              <a:t>出现的可能性大小，则称此常数</a:t>
            </a:r>
            <a:r>
              <a:rPr lang="en-US" altLang="zh-CN" sz="2200" i="1" kern="0" dirty="0">
                <a:solidFill>
                  <a:schemeClr val="tx1"/>
                </a:solidFill>
                <a:latin typeface="黑体" pitchFamily="2" charset="-122"/>
                <a:ea typeface="黑体" pitchFamily="2" charset="-122"/>
              </a:rPr>
              <a:t>p</a:t>
            </a:r>
            <a:r>
              <a:rPr lang="zh-CN" altLang="en-US" sz="2200" kern="0" dirty="0">
                <a:solidFill>
                  <a:schemeClr val="tx1"/>
                </a:solidFill>
                <a:latin typeface="黑体" pitchFamily="2" charset="-122"/>
                <a:ea typeface="黑体" pitchFamily="2" charset="-122"/>
              </a:rPr>
              <a:t>为事件</a:t>
            </a:r>
            <a:r>
              <a:rPr lang="en-US" altLang="zh-CN" sz="2200" kern="0" dirty="0">
                <a:solidFill>
                  <a:schemeClr val="tx1"/>
                </a:solidFill>
                <a:latin typeface="黑体" pitchFamily="2" charset="-122"/>
                <a:ea typeface="黑体" pitchFamily="2" charset="-122"/>
              </a:rPr>
              <a:t>A</a:t>
            </a:r>
            <a:r>
              <a:rPr lang="zh-CN" altLang="en-US" sz="2200" kern="0" dirty="0">
                <a:solidFill>
                  <a:schemeClr val="tx1"/>
                </a:solidFill>
                <a:latin typeface="黑体" pitchFamily="2" charset="-122"/>
                <a:ea typeface="黑体" pitchFamily="2" charset="-122"/>
              </a:rPr>
              <a:t>发生的概率，记为</a:t>
            </a:r>
            <a:r>
              <a:rPr lang="en-US" altLang="zh-CN" sz="2200" kern="0" dirty="0">
                <a:solidFill>
                  <a:schemeClr val="tx1"/>
                </a:solidFill>
                <a:latin typeface="黑体" pitchFamily="2" charset="-122"/>
                <a:ea typeface="黑体" pitchFamily="2" charset="-122"/>
              </a:rPr>
              <a:t>P(A), </a:t>
            </a:r>
            <a:r>
              <a:rPr lang="zh-CN" altLang="en-US" sz="2200" kern="0" dirty="0">
                <a:solidFill>
                  <a:schemeClr val="tx1"/>
                </a:solidFill>
                <a:latin typeface="黑体" pitchFamily="2" charset="-122"/>
                <a:ea typeface="黑体" pitchFamily="2" charset="-122"/>
              </a:rPr>
              <a:t>即</a:t>
            </a:r>
            <a:r>
              <a:rPr lang="en-US" altLang="zh-CN" sz="2200" kern="0" dirty="0">
                <a:solidFill>
                  <a:schemeClr val="tx1"/>
                </a:solidFill>
                <a:latin typeface="黑体" pitchFamily="2" charset="-122"/>
                <a:ea typeface="黑体" pitchFamily="2" charset="-122"/>
              </a:rPr>
              <a:t> </a:t>
            </a:r>
            <a:r>
              <a:rPr lang="en-US" altLang="zh-CN" sz="2200" i="1" kern="0" dirty="0" err="1">
                <a:solidFill>
                  <a:schemeClr val="tx1"/>
                </a:solidFill>
                <a:latin typeface="黑体" pitchFamily="2" charset="-122"/>
                <a:ea typeface="黑体" pitchFamily="2" charset="-122"/>
              </a:rPr>
              <a:t>p</a:t>
            </a:r>
            <a:r>
              <a:rPr lang="en-US" altLang="zh-CN" sz="2200" kern="0" dirty="0" err="1">
                <a:solidFill>
                  <a:schemeClr val="tx1"/>
                </a:solidFill>
                <a:latin typeface="黑体" pitchFamily="2" charset="-122"/>
                <a:ea typeface="黑体" pitchFamily="2" charset="-122"/>
              </a:rPr>
              <a:t>＝P</a:t>
            </a:r>
            <a:r>
              <a:rPr lang="en-US" altLang="zh-CN" sz="2200" kern="0" dirty="0">
                <a:solidFill>
                  <a:schemeClr val="tx1"/>
                </a:solidFill>
                <a:latin typeface="黑体" pitchFamily="2" charset="-122"/>
                <a:ea typeface="黑体" pitchFamily="2" charset="-122"/>
              </a:rPr>
              <a:t>(A)</a:t>
            </a:r>
            <a:r>
              <a:rPr lang="zh-CN" altLang="en-US" sz="2200" kern="0" dirty="0">
                <a:solidFill>
                  <a:schemeClr val="tx1"/>
                </a:solidFill>
                <a:latin typeface="黑体" pitchFamily="2" charset="-122"/>
                <a:ea typeface="黑体" pitchFamily="2" charset="-122"/>
              </a:rPr>
              <a:t>。</a:t>
            </a:r>
            <a:endParaRPr lang="en-US" altLang="zh-CN" sz="2200" kern="0" dirty="0">
              <a:solidFill>
                <a:schemeClr val="tx1"/>
              </a:solidFill>
              <a:latin typeface="黑体" pitchFamily="2" charset="-122"/>
              <a:ea typeface="黑体" pitchFamily="2" charset="-122"/>
            </a:endParaRPr>
          </a:p>
        </p:txBody>
      </p:sp>
      <p:sp>
        <p:nvSpPr>
          <p:cNvPr id="18" name="Rectangle 1027"/>
          <p:cNvSpPr txBox="1">
            <a:spLocks noChangeArrowheads="1"/>
          </p:cNvSpPr>
          <p:nvPr/>
        </p:nvSpPr>
        <p:spPr bwMode="auto">
          <a:xfrm>
            <a:off x="407368" y="3066688"/>
            <a:ext cx="11377264" cy="3072404"/>
          </a:xfrm>
          <a:prstGeom prst="rect">
            <a:avLst/>
          </a:prstGeom>
          <a:noFill/>
          <a:ln w="9525">
            <a:noFill/>
            <a:miter lim="800000"/>
            <a:headEnd/>
            <a:tailEnd/>
          </a:ln>
        </p:spPr>
        <p:txBody>
          <a:bodyPr/>
          <a:lstStyle/>
          <a:p>
            <a:pPr algn="just">
              <a:lnSpc>
                <a:spcPct val="130000"/>
              </a:lnSpc>
              <a:spcBef>
                <a:spcPts val="600"/>
              </a:spcBef>
              <a:buClr>
                <a:schemeClr val="tx2"/>
              </a:buClr>
              <a:buSzPct val="50000"/>
            </a:pPr>
            <a:r>
              <a:rPr lang="zh-CN" altLang="en-US" sz="2200" dirty="0">
                <a:latin typeface="黑体" pitchFamily="49" charset="-122"/>
                <a:ea typeface="黑体" pitchFamily="49" charset="-122"/>
              </a:rPr>
              <a:t>例</a:t>
            </a:r>
            <a:r>
              <a:rPr lang="en-US" altLang="zh-CN" sz="2200" dirty="0">
                <a:latin typeface="黑体" pitchFamily="49" charset="-122"/>
                <a:ea typeface="黑体" pitchFamily="49" charset="-122"/>
              </a:rPr>
              <a:t>13.1</a:t>
            </a:r>
            <a:r>
              <a:rPr lang="zh-CN" altLang="en-US" sz="2200" dirty="0">
                <a:latin typeface="黑体" pitchFamily="49" charset="-122"/>
                <a:ea typeface="黑体" pitchFamily="49" charset="-122"/>
              </a:rPr>
              <a:t> 设计的带钢表面缺陷监测系统，要求“从图象中检出不小于</a:t>
            </a:r>
            <a:r>
              <a:rPr lang="en-US" altLang="zh-CN" sz="2200" dirty="0">
                <a:latin typeface="黑体" pitchFamily="49" charset="-122"/>
                <a:ea typeface="黑体" pitchFamily="49" charset="-122"/>
              </a:rPr>
              <a:t>0.5mm</a:t>
            </a:r>
            <a:r>
              <a:rPr lang="zh-CN" altLang="en-US" sz="2200" dirty="0">
                <a:latin typeface="黑体" pitchFamily="49" charset="-122"/>
                <a:ea typeface="黑体" pitchFamily="49" charset="-122"/>
              </a:rPr>
              <a:t>的缺陷”</a:t>
            </a:r>
            <a:r>
              <a:rPr lang="en-US" altLang="zh-CN" sz="2200" dirty="0">
                <a:latin typeface="黑体" pitchFamily="49" charset="-122"/>
                <a:ea typeface="黑体" pitchFamily="49" charset="-122"/>
              </a:rPr>
              <a:t>,</a:t>
            </a:r>
            <a:r>
              <a:rPr lang="zh-CN" altLang="en-US" sz="2200" dirty="0">
                <a:latin typeface="黑体" pitchFamily="49" charset="-122"/>
                <a:ea typeface="黑体" pitchFamily="49" charset="-122"/>
              </a:rPr>
              <a:t> 技术指标要求“检测概率</a:t>
            </a:r>
            <a:r>
              <a:rPr lang="en-US" altLang="zh-CN" sz="2200" dirty="0">
                <a:latin typeface="黑体" pitchFamily="49" charset="-122"/>
                <a:ea typeface="黑体" pitchFamily="49" charset="-122"/>
              </a:rPr>
              <a:t>P</a:t>
            </a:r>
            <a:r>
              <a:rPr lang="en-US" altLang="zh-CN" sz="2200" baseline="-25000" dirty="0">
                <a:latin typeface="黑体" pitchFamily="49" charset="-122"/>
                <a:ea typeface="黑体" pitchFamily="49" charset="-122"/>
              </a:rPr>
              <a:t>d</a:t>
            </a:r>
            <a:r>
              <a:rPr lang="en-US" altLang="zh-CN" sz="2200" dirty="0">
                <a:latin typeface="黑体" pitchFamily="49" charset="-122"/>
                <a:ea typeface="黑体" pitchFamily="49" charset="-122"/>
              </a:rPr>
              <a:t>&gt;95%</a:t>
            </a:r>
            <a:r>
              <a:rPr lang="zh-CN" altLang="en-US" sz="2200" dirty="0">
                <a:latin typeface="黑体" pitchFamily="49" charset="-122"/>
                <a:ea typeface="黑体" pitchFamily="49" charset="-122"/>
              </a:rPr>
              <a:t>”。</a:t>
            </a:r>
            <a:endParaRPr lang="en-US" altLang="zh-CN" sz="2200" dirty="0">
              <a:latin typeface="黑体" pitchFamily="49" charset="-122"/>
              <a:ea typeface="黑体" pitchFamily="49" charset="-122"/>
            </a:endParaRPr>
          </a:p>
          <a:p>
            <a:pPr algn="just">
              <a:lnSpc>
                <a:spcPct val="130000"/>
              </a:lnSpc>
              <a:spcBef>
                <a:spcPts val="600"/>
              </a:spcBef>
              <a:buClr>
                <a:schemeClr val="tx2"/>
              </a:buClr>
              <a:buSzPct val="50000"/>
            </a:pPr>
            <a:r>
              <a:rPr lang="zh-CN" altLang="en-US" sz="2200" dirty="0">
                <a:latin typeface="黑体" pitchFamily="49" charset="-122"/>
                <a:ea typeface="黑体" pitchFamily="49" charset="-122"/>
              </a:rPr>
              <a:t>验收时，测试大纲可以这样设计，输入</a:t>
            </a:r>
            <a:r>
              <a:rPr lang="en-US" altLang="zh-CN" sz="2200" dirty="0">
                <a:latin typeface="黑体" pitchFamily="49" charset="-122"/>
                <a:ea typeface="黑体" pitchFamily="49" charset="-122"/>
              </a:rPr>
              <a:t>5000</a:t>
            </a:r>
            <a:r>
              <a:rPr lang="zh-CN" altLang="en-US" sz="2200" dirty="0">
                <a:latin typeface="黑体" pitchFamily="49" charset="-122"/>
                <a:ea typeface="黑体" pitchFamily="49" charset="-122"/>
              </a:rPr>
              <a:t>帧都有缺陷的图像，统计每帧图像识别结果，成功检出缺陷的帧数除以</a:t>
            </a:r>
            <a:r>
              <a:rPr lang="en-US" altLang="zh-CN" sz="2200" dirty="0">
                <a:latin typeface="黑体" pitchFamily="49" charset="-122"/>
                <a:ea typeface="黑体" pitchFamily="49" charset="-122"/>
              </a:rPr>
              <a:t>5000</a:t>
            </a:r>
            <a:r>
              <a:rPr lang="zh-CN" altLang="en-US" sz="2200" dirty="0">
                <a:latin typeface="黑体" pitchFamily="49" charset="-122"/>
                <a:ea typeface="黑体" pitchFamily="49" charset="-122"/>
              </a:rPr>
              <a:t>即为该系统检测概率</a:t>
            </a:r>
            <a:r>
              <a:rPr lang="en-US" altLang="zh-CN" sz="2200" dirty="0">
                <a:latin typeface="黑体" pitchFamily="49" charset="-122"/>
                <a:ea typeface="黑体" pitchFamily="49" charset="-122"/>
              </a:rPr>
              <a:t> </a:t>
            </a:r>
            <a:r>
              <a:rPr lang="en-US" altLang="zh-CN" sz="2200" dirty="0" err="1">
                <a:latin typeface="黑体" pitchFamily="49" charset="-122"/>
                <a:ea typeface="黑体" pitchFamily="49" charset="-122"/>
              </a:rPr>
              <a:t>P</a:t>
            </a:r>
            <a:r>
              <a:rPr lang="en-US" altLang="zh-CN" sz="2200" baseline="-25000" dirty="0" err="1">
                <a:latin typeface="黑体" pitchFamily="49" charset="-122"/>
                <a:ea typeface="黑体" pitchFamily="49" charset="-122"/>
              </a:rPr>
              <a:t>d</a:t>
            </a:r>
            <a:r>
              <a:rPr lang="en-US" altLang="zh-CN" sz="2200" baseline="-25000" dirty="0">
                <a:latin typeface="黑体" pitchFamily="49" charset="-122"/>
                <a:ea typeface="黑体" pitchFamily="49" charset="-122"/>
              </a:rPr>
              <a:t> </a:t>
            </a:r>
            <a:r>
              <a:rPr lang="en-US" altLang="zh-CN" sz="2200" dirty="0">
                <a:latin typeface="黑体" pitchFamily="49" charset="-122"/>
                <a:ea typeface="黑体" pitchFamily="49" charset="-122"/>
              </a:rPr>
              <a:t>(</a:t>
            </a:r>
            <a:r>
              <a:rPr lang="zh-CN" altLang="en-US" sz="2200" dirty="0">
                <a:latin typeface="黑体" pitchFamily="49" charset="-122"/>
                <a:ea typeface="黑体" pitchFamily="49" charset="-122"/>
              </a:rPr>
              <a:t>成功检测</a:t>
            </a:r>
            <a:r>
              <a:rPr lang="zh-CN" altLang="en-US" sz="2200" dirty="0">
                <a:ea typeface="宋体" charset="-122"/>
              </a:rPr>
              <a:t>目标</a:t>
            </a:r>
            <a:r>
              <a:rPr lang="en-US" altLang="zh-CN" sz="2200" dirty="0">
                <a:ea typeface="宋体" charset="-122"/>
              </a:rPr>
              <a:t>)</a:t>
            </a:r>
            <a:r>
              <a:rPr lang="zh-CN" altLang="en-US" sz="2200" dirty="0">
                <a:ea typeface="宋体" charset="-122"/>
              </a:rPr>
              <a:t>。若</a:t>
            </a:r>
            <a:r>
              <a:rPr lang="en-US" altLang="zh-CN" sz="2200" dirty="0" err="1">
                <a:latin typeface="黑体" pitchFamily="49" charset="-122"/>
                <a:ea typeface="黑体" pitchFamily="49" charset="-122"/>
              </a:rPr>
              <a:t>P</a:t>
            </a:r>
            <a:r>
              <a:rPr lang="en-US" altLang="zh-CN" sz="2200" baseline="-25000" dirty="0" err="1">
                <a:latin typeface="黑体" pitchFamily="49" charset="-122"/>
                <a:ea typeface="黑体" pitchFamily="49" charset="-122"/>
              </a:rPr>
              <a:t>d</a:t>
            </a:r>
            <a:r>
              <a:rPr lang="en-US" altLang="zh-CN" sz="2200" dirty="0">
                <a:latin typeface="黑体" pitchFamily="49" charset="-122"/>
                <a:ea typeface="黑体" pitchFamily="49" charset="-122"/>
              </a:rPr>
              <a:t>&gt;95%</a:t>
            </a:r>
            <a:r>
              <a:rPr lang="zh-CN" altLang="en-US" sz="2200" dirty="0">
                <a:latin typeface="黑体" pitchFamily="49" charset="-122"/>
                <a:ea typeface="黑体" pitchFamily="49" charset="-122"/>
              </a:rPr>
              <a:t>，则系统设计满足技术指标。</a:t>
            </a:r>
            <a:endParaRPr lang="en-US" altLang="zh-CN" sz="2200" dirty="0">
              <a:ea typeface="宋体" charset="-122"/>
            </a:endParaRPr>
          </a:p>
          <a:p>
            <a:pPr algn="just">
              <a:lnSpc>
                <a:spcPct val="130000"/>
              </a:lnSpc>
              <a:spcBef>
                <a:spcPts val="1200"/>
              </a:spcBef>
              <a:buClr>
                <a:schemeClr val="tx2"/>
              </a:buClr>
              <a:buSzPct val="50000"/>
            </a:pPr>
            <a:r>
              <a:rPr lang="zh-CN" altLang="en-US" sz="2200" dirty="0">
                <a:solidFill>
                  <a:srgbClr val="CC6600"/>
                </a:solidFill>
                <a:latin typeface="黑体" pitchFamily="49" charset="-122"/>
                <a:ea typeface="黑体" pitchFamily="49" charset="-122"/>
              </a:rPr>
              <a:t>注意：实际上，此时的</a:t>
            </a:r>
            <a:r>
              <a:rPr lang="en-US" altLang="zh-CN" sz="2200" dirty="0" err="1">
                <a:solidFill>
                  <a:srgbClr val="CC6600"/>
                </a:solidFill>
                <a:latin typeface="黑体" pitchFamily="49" charset="-122"/>
                <a:ea typeface="黑体" pitchFamily="49" charset="-122"/>
              </a:rPr>
              <a:t>P</a:t>
            </a:r>
            <a:r>
              <a:rPr lang="en-US" altLang="zh-CN" sz="2200" baseline="-25000" dirty="0" err="1">
                <a:solidFill>
                  <a:srgbClr val="CC6600"/>
                </a:solidFill>
                <a:latin typeface="黑体" pitchFamily="49" charset="-122"/>
                <a:ea typeface="黑体" pitchFamily="49" charset="-122"/>
              </a:rPr>
              <a:t>d</a:t>
            </a:r>
            <a:r>
              <a:rPr lang="zh-CN" altLang="en-US" sz="2200" dirty="0">
                <a:solidFill>
                  <a:srgbClr val="CC6600"/>
                </a:solidFill>
                <a:latin typeface="黑体" pitchFamily="49" charset="-122"/>
                <a:ea typeface="黑体" pitchFamily="49" charset="-122"/>
              </a:rPr>
              <a:t>为频率，但是因为测试次数足够大，所以可以认为其接近概率 。</a:t>
            </a:r>
          </a:p>
        </p:txBody>
      </p:sp>
    </p:spTree>
    <p:extLst>
      <p:ext uri="{BB962C8B-B14F-4D97-AF65-F5344CB8AC3E}">
        <p14:creationId xmlns:p14="http://schemas.microsoft.com/office/powerpoint/2010/main" val="2302648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7</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13.1 </a:t>
            </a:r>
            <a:r>
              <a:rPr lang="zh-CN" altLang="zh-CN" dirty="0"/>
              <a:t>最小错误率贝叶斯决策</a:t>
            </a:r>
          </a:p>
        </p:txBody>
      </p:sp>
      <p:sp>
        <p:nvSpPr>
          <p:cNvPr id="14" name="矩形 13"/>
          <p:cNvSpPr/>
          <p:nvPr/>
        </p:nvSpPr>
        <p:spPr>
          <a:xfrm>
            <a:off x="407368" y="1124744"/>
            <a:ext cx="4156907" cy="523220"/>
          </a:xfrm>
          <a:prstGeom prst="rect">
            <a:avLst/>
          </a:prstGeom>
        </p:spPr>
        <p:txBody>
          <a:bodyPr wrap="none">
            <a:spAutoFit/>
          </a:bodyPr>
          <a:lstStyle/>
          <a:p>
            <a:r>
              <a:rPr lang="en-US" altLang="zh-CN" sz="2800" b="1" dirty="0">
                <a:solidFill>
                  <a:srgbClr val="0000FF"/>
                </a:solidFill>
                <a:latin typeface="Arial" panose="020B0604020202020204" pitchFamily="34" charset="0"/>
              </a:rPr>
              <a:t>Preliminary Knowledge</a:t>
            </a:r>
            <a:endParaRPr lang="zh-CN" altLang="en-US" sz="2800" b="1" dirty="0">
              <a:solidFill>
                <a:srgbClr val="FF0000"/>
              </a:solidFill>
              <a:ea typeface="黑体" panose="02010609060101010101" pitchFamily="49" charset="-122"/>
            </a:endParaRPr>
          </a:p>
        </p:txBody>
      </p:sp>
      <p:sp>
        <p:nvSpPr>
          <p:cNvPr id="17" name="Rectangle 1027"/>
          <p:cNvSpPr txBox="1">
            <a:spLocks noChangeArrowheads="1"/>
          </p:cNvSpPr>
          <p:nvPr/>
        </p:nvSpPr>
        <p:spPr bwMode="gray">
          <a:xfrm>
            <a:off x="407368" y="1772816"/>
            <a:ext cx="11377264" cy="2592288"/>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rmAutofit/>
          </a:bodyPr>
          <a:lstStyle>
            <a:lvl1pPr marL="0" indent="0" algn="ctr" rtl="0" eaLnBrk="0" fontAlgn="base" hangingPunct="0">
              <a:spcBef>
                <a:spcPct val="20000"/>
              </a:spcBef>
              <a:spcAft>
                <a:spcPct val="0"/>
              </a:spcAft>
              <a:buClr>
                <a:schemeClr val="tx2"/>
              </a:buClr>
              <a:buFont typeface="Wingdings" pitchFamily="2" charset="2"/>
              <a:buNone/>
              <a:defRPr sz="28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Clr>
                <a:schemeClr val="accent1"/>
              </a:buClr>
              <a:buFont typeface="Wingdings" pitchFamily="2" charset="2"/>
              <a:buNone/>
              <a:defRPr sz="2600">
                <a:solidFill>
                  <a:schemeClr val="tx1">
                    <a:tint val="75000"/>
                  </a:schemeClr>
                </a:solidFill>
                <a:latin typeface="+mn-lt"/>
              </a:defRPr>
            </a:lvl2pPr>
            <a:lvl3pPr marL="914400" indent="0" algn="ctr" rtl="0" eaLnBrk="0" fontAlgn="base" hangingPunct="0">
              <a:spcBef>
                <a:spcPct val="20000"/>
              </a:spcBef>
              <a:spcAft>
                <a:spcPct val="0"/>
              </a:spcAft>
              <a:buClr>
                <a:schemeClr val="accent2"/>
              </a:buClr>
              <a:buNone/>
              <a:defRPr sz="2400">
                <a:solidFill>
                  <a:schemeClr val="tx1">
                    <a:tint val="75000"/>
                  </a:schemeClr>
                </a:solidFill>
                <a:latin typeface="+mn-lt"/>
              </a:defRPr>
            </a:lvl3pPr>
            <a:lvl4pPr marL="1371600" indent="0" algn="ctr" rtl="0" eaLnBrk="0" fontAlgn="base" hangingPunct="0">
              <a:spcBef>
                <a:spcPct val="20000"/>
              </a:spcBef>
              <a:spcAft>
                <a:spcPct val="0"/>
              </a:spcAft>
              <a:buNone/>
              <a:defRPr sz="2000">
                <a:solidFill>
                  <a:schemeClr val="tx1">
                    <a:tint val="75000"/>
                  </a:schemeClr>
                </a:solidFill>
                <a:latin typeface="+mn-lt"/>
              </a:defRPr>
            </a:lvl4pPr>
            <a:lvl5pPr marL="1828800" indent="0" algn="ctr" rtl="0" eaLnBrk="0" fontAlgn="base" hangingPunct="0">
              <a:spcBef>
                <a:spcPct val="20000"/>
              </a:spcBef>
              <a:spcAft>
                <a:spcPct val="0"/>
              </a:spcAft>
              <a:buNone/>
              <a:defRPr sz="2000">
                <a:solidFill>
                  <a:schemeClr val="tx1">
                    <a:tint val="75000"/>
                  </a:schemeClr>
                </a:solidFill>
                <a:latin typeface="+mn-lt"/>
              </a:defRPr>
            </a:lvl5pPr>
            <a:lvl6pPr marL="2286000" indent="0" algn="ctr" rtl="0" eaLnBrk="1" fontAlgn="base" hangingPunct="1">
              <a:spcBef>
                <a:spcPct val="20000"/>
              </a:spcBef>
              <a:spcAft>
                <a:spcPct val="0"/>
              </a:spcAft>
              <a:buNone/>
              <a:defRPr sz="2000">
                <a:solidFill>
                  <a:schemeClr val="tx1">
                    <a:tint val="75000"/>
                  </a:schemeClr>
                </a:solidFill>
                <a:latin typeface="+mn-lt"/>
              </a:defRPr>
            </a:lvl6pPr>
            <a:lvl7pPr marL="2743200" indent="0" algn="ctr" rtl="0" eaLnBrk="1" fontAlgn="base" hangingPunct="1">
              <a:spcBef>
                <a:spcPct val="20000"/>
              </a:spcBef>
              <a:spcAft>
                <a:spcPct val="0"/>
              </a:spcAft>
              <a:buNone/>
              <a:defRPr sz="2000">
                <a:solidFill>
                  <a:schemeClr val="tx1">
                    <a:tint val="75000"/>
                  </a:schemeClr>
                </a:solidFill>
                <a:latin typeface="+mn-lt"/>
              </a:defRPr>
            </a:lvl7pPr>
            <a:lvl8pPr marL="3200400" indent="0" algn="ctr" rtl="0" eaLnBrk="1" fontAlgn="base" hangingPunct="1">
              <a:spcBef>
                <a:spcPct val="20000"/>
              </a:spcBef>
              <a:spcAft>
                <a:spcPct val="0"/>
              </a:spcAft>
              <a:buNone/>
              <a:defRPr sz="2000">
                <a:solidFill>
                  <a:schemeClr val="tx1">
                    <a:tint val="75000"/>
                  </a:schemeClr>
                </a:solidFill>
                <a:latin typeface="+mn-lt"/>
              </a:defRPr>
            </a:lvl8pPr>
            <a:lvl9pPr marL="3657600" indent="0" algn="ctr" rtl="0" eaLnBrk="1" fontAlgn="base" hangingPunct="1">
              <a:spcBef>
                <a:spcPct val="20000"/>
              </a:spcBef>
              <a:spcAft>
                <a:spcPct val="0"/>
              </a:spcAft>
              <a:buNone/>
              <a:defRPr sz="2000">
                <a:solidFill>
                  <a:schemeClr val="tx1">
                    <a:tint val="75000"/>
                  </a:schemeClr>
                </a:solidFill>
                <a:latin typeface="+mn-lt"/>
              </a:defRPr>
            </a:lvl9pPr>
          </a:lstStyle>
          <a:p>
            <a:pPr algn="just" eaLnBrk="1" hangingPunct="1">
              <a:lnSpc>
                <a:spcPct val="130000"/>
              </a:lnSpc>
              <a:spcBef>
                <a:spcPct val="50000"/>
              </a:spcBef>
            </a:pPr>
            <a:r>
              <a:rPr lang="zh-CN" altLang="en-US" kern="0" dirty="0">
                <a:solidFill>
                  <a:srgbClr val="FF0000"/>
                </a:solidFill>
                <a:latin typeface="黑体" pitchFamily="2" charset="-122"/>
                <a:ea typeface="黑体" pitchFamily="2" charset="-122"/>
              </a:rPr>
              <a:t>先验概率</a:t>
            </a:r>
            <a:r>
              <a:rPr lang="zh-CN" altLang="en-US" sz="2200" kern="0" dirty="0">
                <a:solidFill>
                  <a:srgbClr val="FF0000"/>
                </a:solidFill>
                <a:latin typeface="黑体" pitchFamily="2" charset="-122"/>
                <a:ea typeface="黑体" pitchFamily="2" charset="-122"/>
              </a:rPr>
              <a:t> </a:t>
            </a:r>
            <a:r>
              <a:rPr lang="zh-CN" altLang="en-US" sz="2200" dirty="0">
                <a:solidFill>
                  <a:schemeClr val="tx1"/>
                </a:solidFill>
                <a:latin typeface="黑体" pitchFamily="49" charset="-122"/>
                <a:ea typeface="黑体" pitchFamily="49" charset="-122"/>
              </a:rPr>
              <a:t>是指根据历史的资料或主观判断所确定的各事件发生的概率，该类概率没能经过实验证实，属于检验前的概率，所以称之为先验概率。</a:t>
            </a:r>
            <a:endParaRPr lang="en-US" altLang="zh-CN" sz="2200" dirty="0">
              <a:solidFill>
                <a:schemeClr val="tx1"/>
              </a:solidFill>
              <a:latin typeface="黑体" pitchFamily="49" charset="-122"/>
              <a:ea typeface="黑体" pitchFamily="49" charset="-122"/>
            </a:endParaRPr>
          </a:p>
          <a:p>
            <a:pPr algn="just" eaLnBrk="1" hangingPunct="1">
              <a:lnSpc>
                <a:spcPct val="130000"/>
              </a:lnSpc>
              <a:spcBef>
                <a:spcPct val="50000"/>
              </a:spcBef>
            </a:pPr>
            <a:r>
              <a:rPr lang="zh-CN" altLang="en-US" sz="2200" dirty="0">
                <a:solidFill>
                  <a:srgbClr val="CC6600"/>
                </a:solidFill>
                <a:latin typeface="黑体" pitchFamily="49" charset="-122"/>
                <a:ea typeface="黑体" pitchFamily="49" charset="-122"/>
              </a:rPr>
              <a:t>先验概率一般分为两类，一是客观先验概率，是指利用过去的历史资料计算得到的概率；二是主观先验概率，是指在无历史资料或历史资料不全的时候，只能凭借人们的主观经验来判断取得的概率。 </a:t>
            </a:r>
          </a:p>
          <a:p>
            <a:pPr algn="just" eaLnBrk="1" fontAlgn="auto" hangingPunct="1">
              <a:lnSpc>
                <a:spcPct val="130000"/>
              </a:lnSpc>
              <a:spcBef>
                <a:spcPts val="600"/>
              </a:spcBef>
              <a:spcAft>
                <a:spcPts val="0"/>
              </a:spcAft>
              <a:defRPr/>
            </a:pPr>
            <a:endParaRPr lang="en-US" altLang="zh-CN" sz="2200" kern="0" dirty="0">
              <a:solidFill>
                <a:schemeClr val="tx1"/>
              </a:solidFill>
              <a:latin typeface="黑体" pitchFamily="2" charset="-122"/>
              <a:ea typeface="黑体" pitchFamily="2" charset="-122"/>
            </a:endParaRPr>
          </a:p>
        </p:txBody>
      </p:sp>
      <p:sp>
        <p:nvSpPr>
          <p:cNvPr id="19" name="Rectangle 1027"/>
          <p:cNvSpPr txBox="1">
            <a:spLocks noChangeArrowheads="1"/>
          </p:cNvSpPr>
          <p:nvPr/>
        </p:nvSpPr>
        <p:spPr bwMode="auto">
          <a:xfrm>
            <a:off x="407368" y="4570724"/>
            <a:ext cx="11377264" cy="1514440"/>
          </a:xfrm>
          <a:prstGeom prst="rect">
            <a:avLst/>
          </a:prstGeom>
          <a:noFill/>
          <a:ln w="9525">
            <a:noFill/>
            <a:miter lim="800000"/>
            <a:headEnd/>
            <a:tailEnd/>
          </a:ln>
        </p:spPr>
        <p:txBody>
          <a:bodyPr/>
          <a:lstStyle/>
          <a:p>
            <a:pPr algn="just">
              <a:lnSpc>
                <a:spcPct val="130000"/>
              </a:lnSpc>
              <a:spcBef>
                <a:spcPts val="600"/>
              </a:spcBef>
              <a:buClr>
                <a:schemeClr val="tx2"/>
              </a:buClr>
              <a:buSzPct val="50000"/>
            </a:pPr>
            <a:r>
              <a:rPr lang="zh-CN" altLang="en-US" sz="2200" dirty="0">
                <a:latin typeface="黑体" pitchFamily="49" charset="-122"/>
                <a:ea typeface="黑体" pitchFamily="49" charset="-122"/>
              </a:rPr>
              <a:t>例</a:t>
            </a:r>
            <a:r>
              <a:rPr lang="en-US" altLang="zh-CN" sz="2200" dirty="0">
                <a:latin typeface="黑体" pitchFamily="49" charset="-122"/>
                <a:ea typeface="黑体" pitchFamily="49" charset="-122"/>
              </a:rPr>
              <a:t>13.2 </a:t>
            </a:r>
            <a:r>
              <a:rPr lang="zh-CN" altLang="en-US" sz="2200" dirty="0">
                <a:latin typeface="黑体" pitchFamily="49" charset="-122"/>
                <a:ea typeface="黑体" pitchFamily="49" charset="-122"/>
              </a:rPr>
              <a:t>在表面缺陷检测项目中，开发检测算法测试以前我们就通过历史资料知道，辊印在检出缺陷中的概率为</a:t>
            </a:r>
            <a:r>
              <a:rPr lang="en-US" altLang="zh-CN" sz="2200" dirty="0">
                <a:latin typeface="黑体" pitchFamily="49" charset="-122"/>
                <a:ea typeface="黑体" pitchFamily="49" charset="-122"/>
              </a:rPr>
              <a:t>90%</a:t>
            </a:r>
            <a:r>
              <a:rPr lang="zh-CN" altLang="en-US" sz="2200" dirty="0">
                <a:latin typeface="黑体" pitchFamily="49" charset="-122"/>
                <a:ea typeface="黑体" pitchFamily="49" charset="-122"/>
              </a:rPr>
              <a:t>，孔洞在检出缺陷中的概率为</a:t>
            </a:r>
            <a:r>
              <a:rPr lang="en-US" altLang="zh-CN" sz="2200" dirty="0">
                <a:latin typeface="黑体" pitchFamily="49" charset="-122"/>
                <a:ea typeface="黑体" pitchFamily="49" charset="-122"/>
              </a:rPr>
              <a:t>10%</a:t>
            </a:r>
            <a:r>
              <a:rPr lang="zh-CN" altLang="en-US" sz="2200" dirty="0">
                <a:latin typeface="黑体" pitchFamily="49" charset="-122"/>
                <a:ea typeface="黑体" pitchFamily="49" charset="-122"/>
              </a:rPr>
              <a:t>。那么在测试采样数据充分的条件下，可以认为测试数据有先验概率</a:t>
            </a:r>
            <a:r>
              <a:rPr lang="en-US" altLang="zh-CN" sz="2200" dirty="0">
                <a:latin typeface="黑体" pitchFamily="49" charset="-122"/>
                <a:ea typeface="黑体" pitchFamily="49" charset="-122"/>
              </a:rPr>
              <a:t>P(</a:t>
            </a:r>
            <a:r>
              <a:rPr lang="zh-CN" altLang="en-US" sz="2200" dirty="0">
                <a:latin typeface="黑体" pitchFamily="49" charset="-122"/>
                <a:ea typeface="黑体" pitchFamily="49" charset="-122"/>
              </a:rPr>
              <a:t>辊印</a:t>
            </a:r>
            <a:r>
              <a:rPr lang="en-US" altLang="zh-CN" sz="2200" dirty="0">
                <a:latin typeface="黑体" pitchFamily="49" charset="-122"/>
                <a:ea typeface="黑体" pitchFamily="49" charset="-122"/>
              </a:rPr>
              <a:t>)=0.9</a:t>
            </a:r>
            <a:r>
              <a:rPr lang="zh-CN" altLang="en-US" sz="2200" dirty="0">
                <a:latin typeface="黑体" pitchFamily="49" charset="-122"/>
                <a:ea typeface="黑体" pitchFamily="49" charset="-122"/>
              </a:rPr>
              <a:t>，</a:t>
            </a:r>
            <a:r>
              <a:rPr lang="en-US" altLang="zh-CN" sz="2200" dirty="0">
                <a:latin typeface="黑体" pitchFamily="49" charset="-122"/>
                <a:ea typeface="黑体" pitchFamily="49" charset="-122"/>
              </a:rPr>
              <a:t> P(</a:t>
            </a:r>
            <a:r>
              <a:rPr lang="zh-CN" altLang="en-US" sz="2200" dirty="0">
                <a:latin typeface="黑体" pitchFamily="49" charset="-122"/>
                <a:ea typeface="黑体" pitchFamily="49" charset="-122"/>
              </a:rPr>
              <a:t>孔洞</a:t>
            </a:r>
            <a:r>
              <a:rPr lang="en-US" altLang="zh-CN" sz="2200" dirty="0">
                <a:latin typeface="黑体" pitchFamily="49" charset="-122"/>
                <a:ea typeface="黑体" pitchFamily="49" charset="-122"/>
              </a:rPr>
              <a:t>)=0.1</a:t>
            </a:r>
            <a:r>
              <a:rPr lang="zh-CN" altLang="en-US" sz="2200" dirty="0">
                <a:latin typeface="黑体" pitchFamily="49" charset="-122"/>
                <a:ea typeface="黑体" pitchFamily="49" charset="-122"/>
              </a:rPr>
              <a:t>。</a:t>
            </a:r>
          </a:p>
          <a:p>
            <a:pPr algn="just">
              <a:lnSpc>
                <a:spcPct val="130000"/>
              </a:lnSpc>
              <a:spcBef>
                <a:spcPts val="1200"/>
              </a:spcBef>
              <a:buClr>
                <a:schemeClr val="tx2"/>
              </a:buClr>
              <a:buSzPct val="50000"/>
            </a:pPr>
            <a:endParaRPr lang="zh-CN" altLang="en-US" sz="2200" dirty="0">
              <a:solidFill>
                <a:srgbClr val="CC6600"/>
              </a:solidFill>
              <a:latin typeface="黑体" pitchFamily="49" charset="-122"/>
              <a:ea typeface="黑体" pitchFamily="49" charset="-122"/>
            </a:endParaRPr>
          </a:p>
        </p:txBody>
      </p:sp>
    </p:spTree>
    <p:extLst>
      <p:ext uri="{BB962C8B-B14F-4D97-AF65-F5344CB8AC3E}">
        <p14:creationId xmlns:p14="http://schemas.microsoft.com/office/powerpoint/2010/main" val="3215970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8</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13.1 </a:t>
            </a:r>
            <a:r>
              <a:rPr lang="zh-CN" altLang="zh-CN" dirty="0"/>
              <a:t>最小错误率贝叶斯决策</a:t>
            </a:r>
          </a:p>
        </p:txBody>
      </p:sp>
      <p:sp>
        <p:nvSpPr>
          <p:cNvPr id="14" name="矩形 13"/>
          <p:cNvSpPr/>
          <p:nvPr/>
        </p:nvSpPr>
        <p:spPr>
          <a:xfrm>
            <a:off x="407368" y="1124744"/>
            <a:ext cx="4156907" cy="523220"/>
          </a:xfrm>
          <a:prstGeom prst="rect">
            <a:avLst/>
          </a:prstGeom>
        </p:spPr>
        <p:txBody>
          <a:bodyPr wrap="none">
            <a:spAutoFit/>
          </a:bodyPr>
          <a:lstStyle/>
          <a:p>
            <a:r>
              <a:rPr lang="en-US" altLang="zh-CN" sz="2800" b="1" dirty="0">
                <a:solidFill>
                  <a:srgbClr val="0000FF"/>
                </a:solidFill>
                <a:latin typeface="Arial" panose="020B0604020202020204" pitchFamily="34" charset="0"/>
              </a:rPr>
              <a:t>Preliminary Knowledge</a:t>
            </a:r>
            <a:endParaRPr lang="zh-CN" altLang="en-US" sz="2800" b="1" dirty="0">
              <a:solidFill>
                <a:srgbClr val="FF0000"/>
              </a:solidFill>
              <a:ea typeface="黑体" panose="02010609060101010101" pitchFamily="49" charset="-122"/>
            </a:endParaRPr>
          </a:p>
        </p:txBody>
      </p:sp>
      <p:sp>
        <p:nvSpPr>
          <p:cNvPr id="11" name="Rectangle 1027"/>
          <p:cNvSpPr txBox="1">
            <a:spLocks noChangeArrowheads="1"/>
          </p:cNvSpPr>
          <p:nvPr/>
        </p:nvSpPr>
        <p:spPr bwMode="gray">
          <a:xfrm>
            <a:off x="336486" y="1749245"/>
            <a:ext cx="11605120" cy="8343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eaLnBrk="1" hangingPunct="1">
              <a:lnSpc>
                <a:spcPct val="110000"/>
              </a:lnSpc>
              <a:buFont typeface="Wingdings" pitchFamily="2" charset="2"/>
              <a:buNone/>
            </a:pPr>
            <a:r>
              <a:rPr lang="zh-CN" altLang="en-US" kern="0" dirty="0">
                <a:solidFill>
                  <a:srgbClr val="FF0000"/>
                </a:solidFill>
                <a:latin typeface="黑体" pitchFamily="49" charset="-122"/>
                <a:ea typeface="黑体" pitchFamily="49" charset="-122"/>
              </a:rPr>
              <a:t>条件概率</a:t>
            </a:r>
            <a:r>
              <a:rPr lang="zh-CN" altLang="en-US" sz="2200" b="1" kern="0" dirty="0">
                <a:solidFill>
                  <a:srgbClr val="FF0000"/>
                </a:solidFill>
                <a:latin typeface="黑体" pitchFamily="49" charset="-122"/>
                <a:ea typeface="黑体" pitchFamily="49" charset="-122"/>
              </a:rPr>
              <a:t> </a:t>
            </a:r>
            <a:r>
              <a:rPr lang="zh-CN" altLang="en-US" sz="2200" kern="0" dirty="0">
                <a:latin typeface="黑体" pitchFamily="49" charset="-122"/>
                <a:ea typeface="黑体" pitchFamily="49" charset="-122"/>
              </a:rPr>
              <a:t>我们把事件</a:t>
            </a:r>
            <a:r>
              <a:rPr lang="en-US" altLang="zh-CN" sz="2200" kern="0" dirty="0">
                <a:latin typeface="黑体" pitchFamily="49" charset="-122"/>
                <a:ea typeface="黑体" pitchFamily="49" charset="-122"/>
              </a:rPr>
              <a:t>B</a:t>
            </a:r>
            <a:r>
              <a:rPr lang="zh-CN" altLang="en-US" sz="2200" kern="0" dirty="0">
                <a:latin typeface="黑体" pitchFamily="49" charset="-122"/>
                <a:ea typeface="黑体" pitchFamily="49" charset="-122"/>
              </a:rPr>
              <a:t>已经出现的条件下，事件</a:t>
            </a:r>
            <a:r>
              <a:rPr lang="en-US" altLang="zh-CN" sz="2200" kern="0" dirty="0">
                <a:latin typeface="黑体" pitchFamily="49" charset="-122"/>
                <a:ea typeface="黑体" pitchFamily="49" charset="-122"/>
              </a:rPr>
              <a:t>A</a:t>
            </a:r>
            <a:r>
              <a:rPr lang="zh-CN" altLang="en-US" sz="2200" kern="0" dirty="0">
                <a:latin typeface="黑体" pitchFamily="49" charset="-122"/>
                <a:ea typeface="黑体" pitchFamily="49" charset="-122"/>
              </a:rPr>
              <a:t>发生的概率记做为</a:t>
            </a:r>
            <a:r>
              <a:rPr lang="en-US" altLang="zh-CN" sz="2200" kern="0" dirty="0">
                <a:solidFill>
                  <a:srgbClr val="FF0000"/>
                </a:solidFill>
                <a:latin typeface="黑体" pitchFamily="49" charset="-122"/>
                <a:ea typeface="黑体" pitchFamily="49" charset="-122"/>
              </a:rPr>
              <a:t>P(A|B)</a:t>
            </a:r>
            <a:r>
              <a:rPr lang="zh-CN" altLang="en-US" sz="2200" kern="0" dirty="0">
                <a:latin typeface="黑体" pitchFamily="49" charset="-122"/>
                <a:ea typeface="黑体" pitchFamily="49" charset="-122"/>
              </a:rPr>
              <a:t>，并称之为在</a:t>
            </a:r>
            <a:r>
              <a:rPr lang="en-US" altLang="zh-CN" sz="2200" kern="0" dirty="0">
                <a:latin typeface="黑体" pitchFamily="49" charset="-122"/>
                <a:ea typeface="黑体" pitchFamily="49" charset="-122"/>
              </a:rPr>
              <a:t>B</a:t>
            </a:r>
            <a:r>
              <a:rPr lang="zh-CN" altLang="en-US" sz="2200" kern="0" dirty="0">
                <a:latin typeface="黑体" pitchFamily="49" charset="-122"/>
                <a:ea typeface="黑体" pitchFamily="49" charset="-122"/>
              </a:rPr>
              <a:t>出现的条件下</a:t>
            </a:r>
            <a:r>
              <a:rPr lang="en-US" altLang="zh-CN" sz="2200" kern="0" dirty="0">
                <a:latin typeface="黑体" pitchFamily="49" charset="-122"/>
                <a:ea typeface="黑体" pitchFamily="49" charset="-122"/>
              </a:rPr>
              <a:t>A</a:t>
            </a:r>
            <a:r>
              <a:rPr lang="zh-CN" altLang="en-US" sz="2200" kern="0" dirty="0">
                <a:latin typeface="黑体" pitchFamily="49" charset="-122"/>
                <a:ea typeface="黑体" pitchFamily="49" charset="-122"/>
              </a:rPr>
              <a:t>出现的条件概率，而称</a:t>
            </a:r>
            <a:r>
              <a:rPr lang="en-US" altLang="zh-CN" sz="2200" kern="0" dirty="0">
                <a:solidFill>
                  <a:srgbClr val="0000CC"/>
                </a:solidFill>
                <a:latin typeface="黑体" pitchFamily="49" charset="-122"/>
                <a:ea typeface="黑体" pitchFamily="49" charset="-122"/>
              </a:rPr>
              <a:t>P(A)</a:t>
            </a:r>
            <a:r>
              <a:rPr lang="zh-CN" altLang="en-US" sz="2200" kern="0" dirty="0">
                <a:solidFill>
                  <a:srgbClr val="0000CC"/>
                </a:solidFill>
                <a:latin typeface="黑体" pitchFamily="49" charset="-122"/>
                <a:ea typeface="黑体" pitchFamily="49" charset="-122"/>
              </a:rPr>
              <a:t>为无条件概率</a:t>
            </a:r>
            <a:r>
              <a:rPr lang="zh-CN" altLang="en-US" sz="2200" kern="0" dirty="0">
                <a:latin typeface="黑体" pitchFamily="49" charset="-122"/>
                <a:ea typeface="黑体" pitchFamily="49" charset="-122"/>
              </a:rPr>
              <a:t>。</a:t>
            </a:r>
            <a:endParaRPr lang="en-US" altLang="zh-CN" sz="2200" kern="0" dirty="0">
              <a:latin typeface="黑体" pitchFamily="49" charset="-122"/>
              <a:ea typeface="黑体" pitchFamily="49" charset="-122"/>
            </a:endParaRPr>
          </a:p>
        </p:txBody>
      </p:sp>
      <p:sp>
        <p:nvSpPr>
          <p:cNvPr id="13" name="Rectangle 1027"/>
          <p:cNvSpPr txBox="1">
            <a:spLocks noChangeArrowheads="1"/>
          </p:cNvSpPr>
          <p:nvPr/>
        </p:nvSpPr>
        <p:spPr bwMode="auto">
          <a:xfrm>
            <a:off x="281428" y="3615238"/>
            <a:ext cx="11652166" cy="2571750"/>
          </a:xfrm>
          <a:prstGeom prst="rect">
            <a:avLst/>
          </a:prstGeom>
          <a:noFill/>
          <a:ln w="9525">
            <a:noFill/>
            <a:miter lim="800000"/>
            <a:headEnd/>
            <a:tailEnd/>
          </a:ln>
        </p:spPr>
        <p:txBody>
          <a:bodyPr/>
          <a:lstStyle/>
          <a:p>
            <a:pPr algn="just" eaLnBrk="1" hangingPunct="1">
              <a:lnSpc>
                <a:spcPct val="110000"/>
              </a:lnSpc>
              <a:spcBef>
                <a:spcPts val="1200"/>
              </a:spcBef>
              <a:buClr>
                <a:schemeClr val="tx2"/>
              </a:buClr>
              <a:buSzPct val="50000"/>
            </a:pPr>
            <a:r>
              <a:rPr lang="zh-CN" altLang="en-US" sz="2200" dirty="0">
                <a:latin typeface="黑体" pitchFamily="49" charset="-122"/>
                <a:ea typeface="黑体" pitchFamily="49" charset="-122"/>
              </a:rPr>
              <a:t>例</a:t>
            </a:r>
            <a:r>
              <a:rPr lang="en-US" altLang="zh-CN" sz="2200" dirty="0">
                <a:latin typeface="黑体" pitchFamily="49" charset="-122"/>
                <a:ea typeface="黑体" pitchFamily="49" charset="-122"/>
              </a:rPr>
              <a:t>13.3 </a:t>
            </a:r>
            <a:r>
              <a:rPr lang="zh-CN" altLang="en-US" sz="2200" dirty="0">
                <a:latin typeface="黑体" pitchFamily="49" charset="-122"/>
                <a:ea typeface="黑体" pitchFamily="49" charset="-122"/>
              </a:rPr>
              <a:t>带钢表面缺陷监测系统的技术指标要求检测软件性能要满足“辊印的检测概率</a:t>
            </a:r>
            <a:r>
              <a:rPr lang="en-US" altLang="zh-CN" sz="2200" dirty="0">
                <a:latin typeface="黑体" pitchFamily="49" charset="-122"/>
                <a:ea typeface="黑体" pitchFamily="49" charset="-122"/>
              </a:rPr>
              <a:t>P</a:t>
            </a:r>
            <a:r>
              <a:rPr lang="en-US" altLang="zh-CN" sz="2200" baseline="-25000" dirty="0">
                <a:latin typeface="黑体" pitchFamily="49" charset="-122"/>
                <a:ea typeface="黑体" pitchFamily="49" charset="-122"/>
              </a:rPr>
              <a:t>d</a:t>
            </a:r>
            <a:r>
              <a:rPr lang="en-US" altLang="zh-CN" sz="2200" dirty="0">
                <a:latin typeface="黑体" pitchFamily="49" charset="-122"/>
                <a:ea typeface="黑体" pitchFamily="49" charset="-122"/>
              </a:rPr>
              <a:t>&gt;90%</a:t>
            </a:r>
            <a:r>
              <a:rPr lang="zh-CN" altLang="en-US" sz="2200" dirty="0">
                <a:latin typeface="黑体" pitchFamily="49" charset="-122"/>
                <a:ea typeface="黑体" pitchFamily="49" charset="-122"/>
              </a:rPr>
              <a:t>，孔洞的检测概率</a:t>
            </a:r>
            <a:r>
              <a:rPr lang="en-US" altLang="zh-CN" sz="2200" dirty="0" err="1">
                <a:latin typeface="黑体" pitchFamily="49" charset="-122"/>
                <a:ea typeface="黑体" pitchFamily="49" charset="-122"/>
              </a:rPr>
              <a:t>P</a:t>
            </a:r>
            <a:r>
              <a:rPr lang="en-US" altLang="zh-CN" sz="2200" baseline="-25000" dirty="0" err="1">
                <a:latin typeface="黑体" pitchFamily="49" charset="-122"/>
                <a:ea typeface="黑体" pitchFamily="49" charset="-122"/>
              </a:rPr>
              <a:t>d</a:t>
            </a:r>
            <a:r>
              <a:rPr lang="en-US" altLang="zh-CN" sz="2200" dirty="0">
                <a:latin typeface="黑体" pitchFamily="49" charset="-122"/>
                <a:ea typeface="黑体" pitchFamily="49" charset="-122"/>
              </a:rPr>
              <a:t>&gt;95%</a:t>
            </a:r>
            <a:r>
              <a:rPr lang="zh-CN" altLang="en-US" sz="2200" dirty="0">
                <a:latin typeface="黑体" pitchFamily="49" charset="-122"/>
                <a:ea typeface="黑体" pitchFamily="49" charset="-122"/>
              </a:rPr>
              <a:t>”。</a:t>
            </a:r>
            <a:endParaRPr lang="en-US" altLang="zh-CN" sz="2200" dirty="0">
              <a:latin typeface="黑体" pitchFamily="49" charset="-122"/>
              <a:ea typeface="黑体" pitchFamily="49" charset="-122"/>
            </a:endParaRPr>
          </a:p>
          <a:p>
            <a:pPr algn="just" eaLnBrk="1" hangingPunct="1">
              <a:lnSpc>
                <a:spcPct val="110000"/>
              </a:lnSpc>
              <a:spcBef>
                <a:spcPts val="1200"/>
              </a:spcBef>
              <a:buClr>
                <a:schemeClr val="tx2"/>
              </a:buClr>
              <a:buSzPct val="50000"/>
            </a:pPr>
            <a:r>
              <a:rPr lang="zh-CN" altLang="en-US" sz="2200" dirty="0">
                <a:latin typeface="黑体" pitchFamily="49" charset="-122"/>
                <a:ea typeface="黑体" pitchFamily="49" charset="-122"/>
              </a:rPr>
              <a:t>那么在我们进行验收测试的时候，输入的</a:t>
            </a:r>
            <a:r>
              <a:rPr lang="en-US" altLang="zh-CN" sz="2200" dirty="0">
                <a:latin typeface="黑体" pitchFamily="49" charset="-122"/>
                <a:ea typeface="黑体" pitchFamily="49" charset="-122"/>
              </a:rPr>
              <a:t>5000</a:t>
            </a:r>
            <a:r>
              <a:rPr lang="zh-CN" altLang="en-US" sz="2200" dirty="0">
                <a:latin typeface="黑体" pitchFamily="49" charset="-122"/>
                <a:ea typeface="黑体" pitchFamily="49" charset="-122"/>
              </a:rPr>
              <a:t>帧图像要统计缺陷类别，哪些是辊印，哪些是孔洞，再分别统计检测概率：</a:t>
            </a:r>
            <a:r>
              <a:rPr lang="en-US" altLang="zh-CN" sz="2200" dirty="0">
                <a:latin typeface="黑体" pitchFamily="49" charset="-122"/>
                <a:ea typeface="黑体" pitchFamily="49" charset="-122"/>
              </a:rPr>
              <a:t>P(</a:t>
            </a:r>
            <a:r>
              <a:rPr lang="zh-CN" altLang="en-US" sz="2200" dirty="0">
                <a:latin typeface="黑体" pitchFamily="49" charset="-122"/>
                <a:ea typeface="黑体" pitchFamily="49" charset="-122"/>
              </a:rPr>
              <a:t>成功检测缺陷</a:t>
            </a:r>
            <a:r>
              <a:rPr lang="en-US" altLang="zh-CN" sz="2200" dirty="0">
                <a:latin typeface="黑体" pitchFamily="49" charset="-122"/>
                <a:ea typeface="黑体" pitchFamily="49" charset="-122"/>
              </a:rPr>
              <a:t>|</a:t>
            </a:r>
            <a:r>
              <a:rPr lang="zh-CN" altLang="en-US" sz="2200" dirty="0">
                <a:latin typeface="黑体" pitchFamily="49" charset="-122"/>
                <a:ea typeface="黑体" pitchFamily="49" charset="-122"/>
              </a:rPr>
              <a:t>辊印</a:t>
            </a:r>
            <a:r>
              <a:rPr lang="en-US" altLang="zh-CN" sz="2200" dirty="0">
                <a:latin typeface="黑体" pitchFamily="49" charset="-122"/>
                <a:ea typeface="黑体" pitchFamily="49" charset="-122"/>
              </a:rPr>
              <a:t>)</a:t>
            </a:r>
            <a:r>
              <a:rPr lang="zh-CN" altLang="en-US" sz="2200" dirty="0">
                <a:latin typeface="黑体" pitchFamily="49" charset="-122"/>
                <a:ea typeface="黑体" pitchFamily="49" charset="-122"/>
              </a:rPr>
              <a:t>和</a:t>
            </a:r>
            <a:r>
              <a:rPr lang="en-US" altLang="zh-CN" sz="2200" dirty="0">
                <a:latin typeface="黑体" pitchFamily="49" charset="-122"/>
                <a:ea typeface="黑体" pitchFamily="49" charset="-122"/>
              </a:rPr>
              <a:t>P(</a:t>
            </a:r>
            <a:r>
              <a:rPr lang="zh-CN" altLang="en-US" sz="2200" dirty="0">
                <a:latin typeface="黑体" pitchFamily="49" charset="-122"/>
                <a:ea typeface="黑体" pitchFamily="49" charset="-122"/>
              </a:rPr>
              <a:t>成功检测缺陷</a:t>
            </a:r>
            <a:r>
              <a:rPr lang="en-US" altLang="zh-CN" sz="2200" dirty="0">
                <a:latin typeface="黑体" pitchFamily="49" charset="-122"/>
                <a:ea typeface="黑体" pitchFamily="49" charset="-122"/>
              </a:rPr>
              <a:t>|</a:t>
            </a:r>
            <a:r>
              <a:rPr lang="zh-CN" altLang="en-US" sz="2200" dirty="0">
                <a:latin typeface="黑体" pitchFamily="49" charset="-122"/>
                <a:ea typeface="黑体" pitchFamily="49" charset="-122"/>
              </a:rPr>
              <a:t>孔洞</a:t>
            </a:r>
            <a:r>
              <a:rPr lang="en-US" altLang="zh-CN" sz="2200" dirty="0">
                <a:latin typeface="黑体" pitchFamily="49" charset="-122"/>
                <a:ea typeface="黑体" pitchFamily="49" charset="-122"/>
              </a:rPr>
              <a:t>)</a:t>
            </a:r>
            <a:r>
              <a:rPr lang="zh-CN" altLang="en-US" sz="2200" dirty="0">
                <a:latin typeface="黑体" pitchFamily="49" charset="-122"/>
                <a:ea typeface="黑体" pitchFamily="49" charset="-122"/>
              </a:rPr>
              <a:t>。</a:t>
            </a:r>
            <a:endParaRPr lang="en-US" altLang="zh-CN" sz="2200" dirty="0">
              <a:latin typeface="黑体" pitchFamily="49" charset="-122"/>
              <a:ea typeface="黑体" pitchFamily="49" charset="-122"/>
            </a:endParaRPr>
          </a:p>
        </p:txBody>
      </p:sp>
      <p:sp>
        <p:nvSpPr>
          <p:cNvPr id="16" name="矩形 5"/>
          <p:cNvSpPr>
            <a:spLocks noChangeArrowheads="1"/>
          </p:cNvSpPr>
          <p:nvPr/>
        </p:nvSpPr>
        <p:spPr bwMode="auto">
          <a:xfrm>
            <a:off x="5663890" y="2979812"/>
            <a:ext cx="1040670" cy="430887"/>
          </a:xfrm>
          <a:prstGeom prst="rect">
            <a:avLst/>
          </a:prstGeom>
          <a:noFill/>
          <a:ln w="9525">
            <a:noFill/>
            <a:miter lim="800000"/>
            <a:headEnd/>
            <a:tailEnd/>
          </a:ln>
        </p:spPr>
        <p:txBody>
          <a:bodyPr wrap="none">
            <a:spAutoFit/>
          </a:bodyPr>
          <a:lstStyle/>
          <a:p>
            <a:pPr eaLnBrk="1" hangingPunct="1">
              <a:spcBef>
                <a:spcPct val="50000"/>
              </a:spcBef>
            </a:pPr>
            <a:r>
              <a:rPr lang="en-US" altLang="zh-CN" sz="2200" b="1" dirty="0">
                <a:latin typeface="黑体" pitchFamily="49" charset="-122"/>
                <a:ea typeface="黑体" pitchFamily="49" charset="-122"/>
              </a:rPr>
              <a:t>P(A|B)</a:t>
            </a:r>
            <a:endParaRPr lang="zh-CN" altLang="en-US" sz="2200" b="1" dirty="0">
              <a:ea typeface="宋体" charset="-122"/>
            </a:endParaRPr>
          </a:p>
        </p:txBody>
      </p:sp>
      <p:grpSp>
        <p:nvGrpSpPr>
          <p:cNvPr id="18" name="组合 16"/>
          <p:cNvGrpSpPr>
            <a:grpSpLocks/>
          </p:cNvGrpSpPr>
          <p:nvPr/>
        </p:nvGrpSpPr>
        <p:grpSpPr bwMode="auto">
          <a:xfrm>
            <a:off x="6291920" y="2563635"/>
            <a:ext cx="1763916" cy="901845"/>
            <a:chOff x="5000628" y="3156454"/>
            <a:chExt cx="1764052" cy="901851"/>
          </a:xfrm>
        </p:grpSpPr>
        <p:sp>
          <p:nvSpPr>
            <p:cNvPr id="20" name="矩形 19"/>
            <p:cNvSpPr/>
            <p:nvPr/>
          </p:nvSpPr>
          <p:spPr>
            <a:xfrm>
              <a:off x="5000628" y="3357563"/>
              <a:ext cx="220235" cy="700742"/>
            </a:xfrm>
            <a:prstGeom prst="rect">
              <a:avLst/>
            </a:prstGeom>
            <a:noFill/>
            <a:ln>
              <a:solidFill>
                <a:srgbClr val="3333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CN" altLang="en-US" sz="2000" b="1">
                <a:solidFill>
                  <a:srgbClr val="FFFFCC"/>
                </a:solidFill>
                <a:ea typeface="宋体" pitchFamily="2" charset="-122"/>
              </a:endParaRPr>
            </a:p>
          </p:txBody>
        </p:sp>
        <p:sp>
          <p:nvSpPr>
            <p:cNvPr id="21" name="矩形 8"/>
            <p:cNvSpPr>
              <a:spLocks noChangeArrowheads="1"/>
            </p:cNvSpPr>
            <p:nvPr/>
          </p:nvSpPr>
          <p:spPr bwMode="auto">
            <a:xfrm>
              <a:off x="5547587" y="3156454"/>
              <a:ext cx="1217093" cy="400113"/>
            </a:xfrm>
            <a:prstGeom prst="rect">
              <a:avLst/>
            </a:prstGeom>
            <a:noFill/>
            <a:ln w="9525">
              <a:noFill/>
              <a:miter lim="800000"/>
              <a:headEnd/>
              <a:tailEnd/>
            </a:ln>
          </p:spPr>
          <p:txBody>
            <a:bodyPr wrap="none">
              <a:spAutoFit/>
            </a:bodyPr>
            <a:lstStyle/>
            <a:p>
              <a:pPr eaLnBrk="1" hangingPunct="1">
                <a:spcBef>
                  <a:spcPct val="50000"/>
                </a:spcBef>
              </a:pPr>
              <a:r>
                <a:rPr lang="zh-CN" altLang="en-US" sz="2000" b="1" dirty="0">
                  <a:solidFill>
                    <a:srgbClr val="3333CC"/>
                  </a:solidFill>
                  <a:latin typeface="黑体" pitchFamily="49" charset="-122"/>
                  <a:ea typeface="黑体" pitchFamily="49" charset="-122"/>
                </a:rPr>
                <a:t>输入条件</a:t>
              </a:r>
              <a:endParaRPr lang="zh-CN" altLang="en-US" sz="2000" b="1" dirty="0">
                <a:solidFill>
                  <a:srgbClr val="3333CC"/>
                </a:solidFill>
                <a:ea typeface="宋体" charset="-122"/>
              </a:endParaRPr>
            </a:p>
          </p:txBody>
        </p:sp>
        <p:cxnSp>
          <p:nvCxnSpPr>
            <p:cNvPr id="22" name="直接箭头连接符 21"/>
            <p:cNvCxnSpPr/>
            <p:nvPr/>
          </p:nvCxnSpPr>
          <p:spPr>
            <a:xfrm flipH="1">
              <a:off x="5253689" y="3357563"/>
              <a:ext cx="293898" cy="20007"/>
            </a:xfrm>
            <a:prstGeom prst="straightConnector1">
              <a:avLst/>
            </a:prstGeom>
            <a:ln w="28575">
              <a:solidFill>
                <a:srgbClr val="3333CC"/>
              </a:solidFill>
              <a:tailEnd type="arrow"/>
            </a:ln>
          </p:spPr>
          <p:style>
            <a:lnRef idx="1">
              <a:schemeClr val="accent1"/>
            </a:lnRef>
            <a:fillRef idx="0">
              <a:schemeClr val="accent1"/>
            </a:fillRef>
            <a:effectRef idx="0">
              <a:schemeClr val="accent1"/>
            </a:effectRef>
            <a:fontRef idx="minor">
              <a:schemeClr val="tx1"/>
            </a:fontRef>
          </p:style>
        </p:cxnSp>
      </p:grpSp>
      <p:grpSp>
        <p:nvGrpSpPr>
          <p:cNvPr id="23" name="组合 17"/>
          <p:cNvGrpSpPr>
            <a:grpSpLocks/>
          </p:cNvGrpSpPr>
          <p:nvPr/>
        </p:nvGrpSpPr>
        <p:grpSpPr bwMode="auto">
          <a:xfrm>
            <a:off x="3471216" y="2903674"/>
            <a:ext cx="3233343" cy="616051"/>
            <a:chOff x="1593711" y="3352552"/>
            <a:chExt cx="3234425" cy="616818"/>
          </a:xfrm>
        </p:grpSpPr>
        <p:sp>
          <p:nvSpPr>
            <p:cNvPr id="24" name="矩形 11"/>
            <p:cNvSpPr>
              <a:spLocks noChangeArrowheads="1"/>
            </p:cNvSpPr>
            <p:nvPr/>
          </p:nvSpPr>
          <p:spPr bwMode="auto">
            <a:xfrm>
              <a:off x="1593711" y="3568761"/>
              <a:ext cx="1991917" cy="400609"/>
            </a:xfrm>
            <a:prstGeom prst="rect">
              <a:avLst/>
            </a:prstGeom>
            <a:noFill/>
            <a:ln w="9525">
              <a:noFill/>
              <a:miter lim="800000"/>
              <a:headEnd/>
              <a:tailEnd/>
            </a:ln>
          </p:spPr>
          <p:txBody>
            <a:bodyPr wrap="none">
              <a:spAutoFit/>
            </a:bodyPr>
            <a:lstStyle/>
            <a:p>
              <a:pPr eaLnBrk="1" hangingPunct="1">
                <a:spcBef>
                  <a:spcPct val="50000"/>
                </a:spcBef>
              </a:pPr>
              <a:r>
                <a:rPr lang="zh-CN" altLang="en-US" sz="2000" b="1" dirty="0">
                  <a:solidFill>
                    <a:srgbClr val="FF0000"/>
                  </a:solidFill>
                  <a:latin typeface="黑体" pitchFamily="49" charset="-122"/>
                  <a:ea typeface="黑体" pitchFamily="49" charset="-122"/>
                </a:rPr>
                <a:t>输出结果的统计</a:t>
              </a:r>
              <a:endParaRPr lang="zh-CN" altLang="en-US" sz="2000" b="1" dirty="0">
                <a:solidFill>
                  <a:srgbClr val="FF0000"/>
                </a:solidFill>
                <a:ea typeface="宋体" charset="-122"/>
              </a:endParaRPr>
            </a:p>
          </p:txBody>
        </p:sp>
        <p:sp>
          <p:nvSpPr>
            <p:cNvPr id="25" name="矩形 24"/>
            <p:cNvSpPr/>
            <p:nvPr/>
          </p:nvSpPr>
          <p:spPr>
            <a:xfrm>
              <a:off x="3778115" y="3352552"/>
              <a:ext cx="1050021" cy="50765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CN" altLang="en-US" sz="2000" b="1">
                <a:solidFill>
                  <a:srgbClr val="FFFFCC"/>
                </a:solidFill>
                <a:ea typeface="宋体" pitchFamily="2" charset="-122"/>
              </a:endParaRPr>
            </a:p>
          </p:txBody>
        </p:sp>
        <p:cxnSp>
          <p:nvCxnSpPr>
            <p:cNvPr id="26" name="直接箭头连接符 25"/>
            <p:cNvCxnSpPr>
              <a:endCxn id="25" idx="1"/>
            </p:cNvCxnSpPr>
            <p:nvPr/>
          </p:nvCxnSpPr>
          <p:spPr>
            <a:xfrm flipV="1">
              <a:off x="3548819" y="3606382"/>
              <a:ext cx="229296" cy="126916"/>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28" name="矩形 27"/>
          <p:cNvSpPr>
            <a:spLocks noChangeArrowheads="1"/>
          </p:cNvSpPr>
          <p:nvPr/>
        </p:nvSpPr>
        <p:spPr bwMode="auto">
          <a:xfrm>
            <a:off x="276482" y="5396954"/>
            <a:ext cx="11652166" cy="430887"/>
          </a:xfrm>
          <a:prstGeom prst="rect">
            <a:avLst/>
          </a:prstGeom>
          <a:noFill/>
          <a:ln w="9525">
            <a:noFill/>
            <a:miter lim="800000"/>
            <a:headEnd/>
            <a:tailEnd/>
          </a:ln>
        </p:spPr>
        <p:txBody>
          <a:bodyPr wrap="square">
            <a:spAutoFit/>
          </a:bodyPr>
          <a:lstStyle/>
          <a:p>
            <a:pPr algn="just" eaLnBrk="1" hangingPunct="1">
              <a:spcBef>
                <a:spcPct val="50000"/>
              </a:spcBef>
            </a:pPr>
            <a:r>
              <a:rPr lang="zh-CN" altLang="en-US" sz="2200" dirty="0">
                <a:latin typeface="黑体" pitchFamily="49" charset="-122"/>
                <a:ea typeface="黑体" pitchFamily="49" charset="-122"/>
              </a:rPr>
              <a:t>所以</a:t>
            </a:r>
            <a:r>
              <a:rPr lang="en-US" altLang="zh-CN" sz="2200" dirty="0">
                <a:latin typeface="黑体" pitchFamily="49" charset="-122"/>
                <a:ea typeface="黑体" pitchFamily="49" charset="-122"/>
              </a:rPr>
              <a:t>P(</a:t>
            </a:r>
            <a:r>
              <a:rPr lang="zh-CN" altLang="en-US" sz="2200" dirty="0">
                <a:latin typeface="黑体" pitchFamily="49" charset="-122"/>
                <a:ea typeface="黑体" pitchFamily="49" charset="-122"/>
              </a:rPr>
              <a:t>成功检测缺陷</a:t>
            </a:r>
            <a:r>
              <a:rPr lang="en-US" altLang="zh-CN" sz="2200" dirty="0">
                <a:latin typeface="黑体" pitchFamily="49" charset="-122"/>
                <a:ea typeface="黑体" pitchFamily="49" charset="-122"/>
              </a:rPr>
              <a:t>|</a:t>
            </a:r>
            <a:r>
              <a:rPr lang="zh-CN" altLang="en-US" sz="2200" dirty="0">
                <a:latin typeface="黑体" pitchFamily="49" charset="-122"/>
                <a:ea typeface="黑体" pitchFamily="49" charset="-122"/>
              </a:rPr>
              <a:t>辊印</a:t>
            </a:r>
            <a:r>
              <a:rPr lang="en-US" altLang="zh-CN" sz="2200" dirty="0">
                <a:latin typeface="黑体" pitchFamily="49" charset="-122"/>
                <a:ea typeface="黑体" pitchFamily="49" charset="-122"/>
              </a:rPr>
              <a:t>)</a:t>
            </a:r>
            <a:r>
              <a:rPr lang="zh-CN" altLang="en-US" sz="2200" dirty="0">
                <a:latin typeface="黑体" pitchFamily="49" charset="-122"/>
                <a:ea typeface="黑体" pitchFamily="49" charset="-122"/>
              </a:rPr>
              <a:t>是“条件为输入为辊印时”的检测概率的统计值。</a:t>
            </a:r>
            <a:endParaRPr lang="zh-CN" altLang="en-US" sz="2200" dirty="0">
              <a:ea typeface="宋体" charset="-122"/>
            </a:endParaRPr>
          </a:p>
        </p:txBody>
      </p:sp>
      <p:pic>
        <p:nvPicPr>
          <p:cNvPr id="19" name="图片 18">
            <a:extLst>
              <a:ext uri="{FF2B5EF4-FFF2-40B4-BE49-F238E27FC236}">
                <a16:creationId xmlns:a16="http://schemas.microsoft.com/office/drawing/2014/main" id="{2B12B2F2-3B7B-4376-A0B0-908C43256C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1590" y="604350"/>
            <a:ext cx="4256561" cy="2963131"/>
          </a:xfrm>
          <a:prstGeom prst="rect">
            <a:avLst/>
          </a:prstGeom>
        </p:spPr>
      </p:pic>
    </p:spTree>
    <p:extLst>
      <p:ext uri="{BB962C8B-B14F-4D97-AF65-F5344CB8AC3E}">
        <p14:creationId xmlns:p14="http://schemas.microsoft.com/office/powerpoint/2010/main" val="1715022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9</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13.1 </a:t>
            </a:r>
            <a:r>
              <a:rPr lang="zh-CN" altLang="zh-CN" dirty="0"/>
              <a:t>最小错误率贝叶斯决策</a:t>
            </a:r>
          </a:p>
        </p:txBody>
      </p:sp>
      <p:sp>
        <p:nvSpPr>
          <p:cNvPr id="14" name="矩形 13"/>
          <p:cNvSpPr/>
          <p:nvPr/>
        </p:nvSpPr>
        <p:spPr>
          <a:xfrm>
            <a:off x="407368" y="1124744"/>
            <a:ext cx="4156907" cy="523220"/>
          </a:xfrm>
          <a:prstGeom prst="rect">
            <a:avLst/>
          </a:prstGeom>
        </p:spPr>
        <p:txBody>
          <a:bodyPr wrap="none">
            <a:spAutoFit/>
          </a:bodyPr>
          <a:lstStyle/>
          <a:p>
            <a:r>
              <a:rPr lang="en-US" altLang="zh-CN" sz="2800" b="1" dirty="0">
                <a:solidFill>
                  <a:srgbClr val="0000FF"/>
                </a:solidFill>
                <a:latin typeface="Arial" panose="020B0604020202020204" pitchFamily="34" charset="0"/>
              </a:rPr>
              <a:t>Preliminary Knowledge</a:t>
            </a:r>
            <a:endParaRPr lang="zh-CN" altLang="en-US" sz="2800" b="1" dirty="0">
              <a:solidFill>
                <a:srgbClr val="FF0000"/>
              </a:solidFill>
              <a:ea typeface="黑体" panose="02010609060101010101" pitchFamily="49" charset="-122"/>
            </a:endParaRPr>
          </a:p>
        </p:txBody>
      </p:sp>
      <p:sp>
        <p:nvSpPr>
          <p:cNvPr id="11" name="Rectangle 1027"/>
          <p:cNvSpPr txBox="1">
            <a:spLocks noChangeArrowheads="1"/>
          </p:cNvSpPr>
          <p:nvPr/>
        </p:nvSpPr>
        <p:spPr bwMode="gray">
          <a:xfrm>
            <a:off x="336486" y="1749245"/>
            <a:ext cx="11605120" cy="8343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eaLnBrk="1" hangingPunct="1">
              <a:lnSpc>
                <a:spcPct val="110000"/>
              </a:lnSpc>
              <a:buFont typeface="Wingdings" pitchFamily="2" charset="2"/>
              <a:buNone/>
            </a:pPr>
            <a:r>
              <a:rPr lang="zh-CN" altLang="en-US" kern="0" dirty="0">
                <a:solidFill>
                  <a:srgbClr val="FF0000"/>
                </a:solidFill>
                <a:latin typeface="黑体" pitchFamily="49" charset="-122"/>
                <a:ea typeface="黑体" pitchFamily="49" charset="-122"/>
              </a:rPr>
              <a:t>条件概率</a:t>
            </a:r>
            <a:r>
              <a:rPr lang="zh-CN" altLang="en-US" sz="2200" b="1" kern="0" dirty="0">
                <a:solidFill>
                  <a:srgbClr val="FF0000"/>
                </a:solidFill>
                <a:latin typeface="黑体" pitchFamily="49" charset="-122"/>
                <a:ea typeface="黑体" pitchFamily="49" charset="-122"/>
              </a:rPr>
              <a:t> </a:t>
            </a:r>
            <a:r>
              <a:rPr lang="zh-CN" altLang="en-US" sz="2200" kern="0" dirty="0">
                <a:latin typeface="黑体" pitchFamily="49" charset="-122"/>
                <a:ea typeface="黑体" pitchFamily="49" charset="-122"/>
              </a:rPr>
              <a:t>我们把事件</a:t>
            </a:r>
            <a:r>
              <a:rPr lang="en-US" altLang="zh-CN" sz="2200" kern="0" dirty="0">
                <a:latin typeface="黑体" pitchFamily="49" charset="-122"/>
                <a:ea typeface="黑体" pitchFamily="49" charset="-122"/>
              </a:rPr>
              <a:t>B</a:t>
            </a:r>
            <a:r>
              <a:rPr lang="zh-CN" altLang="en-US" sz="2200" kern="0" dirty="0">
                <a:latin typeface="黑体" pitchFamily="49" charset="-122"/>
                <a:ea typeface="黑体" pitchFamily="49" charset="-122"/>
              </a:rPr>
              <a:t>已经出现的条件下，事件</a:t>
            </a:r>
            <a:r>
              <a:rPr lang="en-US" altLang="zh-CN" sz="2200" kern="0" dirty="0">
                <a:latin typeface="黑体" pitchFamily="49" charset="-122"/>
                <a:ea typeface="黑体" pitchFamily="49" charset="-122"/>
              </a:rPr>
              <a:t>A</a:t>
            </a:r>
            <a:r>
              <a:rPr lang="zh-CN" altLang="en-US" sz="2200" kern="0" dirty="0">
                <a:latin typeface="黑体" pitchFamily="49" charset="-122"/>
                <a:ea typeface="黑体" pitchFamily="49" charset="-122"/>
              </a:rPr>
              <a:t>发生的概率记做为</a:t>
            </a:r>
            <a:r>
              <a:rPr lang="en-US" altLang="zh-CN" sz="2200" kern="0" dirty="0">
                <a:solidFill>
                  <a:srgbClr val="FF0000"/>
                </a:solidFill>
                <a:latin typeface="黑体" pitchFamily="49" charset="-122"/>
                <a:ea typeface="黑体" pitchFamily="49" charset="-122"/>
              </a:rPr>
              <a:t>P(A|B)</a:t>
            </a:r>
            <a:r>
              <a:rPr lang="zh-CN" altLang="en-US" sz="2200" kern="0" dirty="0">
                <a:latin typeface="黑体" pitchFamily="49" charset="-122"/>
                <a:ea typeface="黑体" pitchFamily="49" charset="-122"/>
              </a:rPr>
              <a:t>，并称之为在</a:t>
            </a:r>
            <a:r>
              <a:rPr lang="en-US" altLang="zh-CN" sz="2200" kern="0" dirty="0">
                <a:latin typeface="黑体" pitchFamily="49" charset="-122"/>
                <a:ea typeface="黑体" pitchFamily="49" charset="-122"/>
              </a:rPr>
              <a:t>B</a:t>
            </a:r>
            <a:r>
              <a:rPr lang="zh-CN" altLang="en-US" sz="2200" kern="0" dirty="0">
                <a:latin typeface="黑体" pitchFamily="49" charset="-122"/>
                <a:ea typeface="黑体" pitchFamily="49" charset="-122"/>
              </a:rPr>
              <a:t>出现的条件下</a:t>
            </a:r>
            <a:r>
              <a:rPr lang="en-US" altLang="zh-CN" sz="2200" kern="0" dirty="0">
                <a:latin typeface="黑体" pitchFamily="49" charset="-122"/>
                <a:ea typeface="黑体" pitchFamily="49" charset="-122"/>
              </a:rPr>
              <a:t>A</a:t>
            </a:r>
            <a:r>
              <a:rPr lang="zh-CN" altLang="en-US" sz="2200" kern="0" dirty="0">
                <a:latin typeface="黑体" pitchFamily="49" charset="-122"/>
                <a:ea typeface="黑体" pitchFamily="49" charset="-122"/>
              </a:rPr>
              <a:t>出现的条件概率，而称</a:t>
            </a:r>
            <a:r>
              <a:rPr lang="en-US" altLang="zh-CN" sz="2200" kern="0" dirty="0">
                <a:solidFill>
                  <a:srgbClr val="0000CC"/>
                </a:solidFill>
                <a:latin typeface="黑体" pitchFamily="49" charset="-122"/>
                <a:ea typeface="黑体" pitchFamily="49" charset="-122"/>
              </a:rPr>
              <a:t>P(A)</a:t>
            </a:r>
            <a:r>
              <a:rPr lang="zh-CN" altLang="en-US" sz="2200" kern="0" dirty="0">
                <a:solidFill>
                  <a:srgbClr val="0000CC"/>
                </a:solidFill>
                <a:latin typeface="黑体" pitchFamily="49" charset="-122"/>
                <a:ea typeface="黑体" pitchFamily="49" charset="-122"/>
              </a:rPr>
              <a:t>为无条件概率</a:t>
            </a:r>
            <a:r>
              <a:rPr lang="zh-CN" altLang="en-US" sz="2200" kern="0" dirty="0">
                <a:latin typeface="黑体" pitchFamily="49" charset="-122"/>
                <a:ea typeface="黑体" pitchFamily="49" charset="-122"/>
              </a:rPr>
              <a:t>。</a:t>
            </a:r>
            <a:endParaRPr lang="en-US" altLang="zh-CN" sz="2200" kern="0" dirty="0">
              <a:latin typeface="黑体" pitchFamily="49" charset="-122"/>
              <a:ea typeface="黑体" pitchFamily="49" charset="-122"/>
            </a:endParaRPr>
          </a:p>
        </p:txBody>
      </p:sp>
      <p:sp>
        <p:nvSpPr>
          <p:cNvPr id="13" name="Rectangle 1027"/>
          <p:cNvSpPr txBox="1">
            <a:spLocks noChangeArrowheads="1"/>
          </p:cNvSpPr>
          <p:nvPr/>
        </p:nvSpPr>
        <p:spPr bwMode="auto">
          <a:xfrm>
            <a:off x="281428" y="3615238"/>
            <a:ext cx="11652166" cy="845575"/>
          </a:xfrm>
          <a:prstGeom prst="rect">
            <a:avLst/>
          </a:prstGeom>
          <a:noFill/>
          <a:ln w="9525">
            <a:noFill/>
            <a:miter lim="800000"/>
            <a:headEnd/>
            <a:tailEnd/>
          </a:ln>
        </p:spPr>
        <p:txBody>
          <a:bodyPr/>
          <a:lstStyle/>
          <a:p>
            <a:pPr algn="just" eaLnBrk="1" hangingPunct="1">
              <a:lnSpc>
                <a:spcPct val="110000"/>
              </a:lnSpc>
              <a:spcBef>
                <a:spcPts val="1200"/>
              </a:spcBef>
              <a:buClr>
                <a:schemeClr val="tx2"/>
              </a:buClr>
              <a:buSzPct val="50000"/>
            </a:pPr>
            <a:r>
              <a:rPr lang="zh-CN" altLang="en-US" sz="2200" dirty="0">
                <a:latin typeface="黑体" pitchFamily="49" charset="-122"/>
                <a:ea typeface="黑体" pitchFamily="49" charset="-122"/>
              </a:rPr>
              <a:t>例</a:t>
            </a:r>
            <a:r>
              <a:rPr lang="en-US" altLang="zh-CN" sz="2200" dirty="0">
                <a:latin typeface="黑体" pitchFamily="49" charset="-122"/>
                <a:ea typeface="黑体" pitchFamily="49" charset="-122"/>
              </a:rPr>
              <a:t>13.3 </a:t>
            </a:r>
            <a:r>
              <a:rPr lang="zh-CN" altLang="en-US" sz="2200" dirty="0">
                <a:latin typeface="黑体" pitchFamily="49" charset="-122"/>
                <a:ea typeface="黑体" pitchFamily="49" charset="-122"/>
              </a:rPr>
              <a:t>带钢表面缺陷监测系统的技术指标要求检测软件性能要满足“辊印的检测概率</a:t>
            </a:r>
            <a:r>
              <a:rPr lang="en-US" altLang="zh-CN" sz="2200" dirty="0">
                <a:latin typeface="黑体" pitchFamily="49" charset="-122"/>
                <a:ea typeface="黑体" pitchFamily="49" charset="-122"/>
              </a:rPr>
              <a:t>P</a:t>
            </a:r>
            <a:r>
              <a:rPr lang="en-US" altLang="zh-CN" sz="2200" baseline="-25000" dirty="0">
                <a:latin typeface="黑体" pitchFamily="49" charset="-122"/>
                <a:ea typeface="黑体" pitchFamily="49" charset="-122"/>
              </a:rPr>
              <a:t>d</a:t>
            </a:r>
            <a:r>
              <a:rPr lang="en-US" altLang="zh-CN" sz="2200" dirty="0">
                <a:latin typeface="黑体" pitchFamily="49" charset="-122"/>
                <a:ea typeface="黑体" pitchFamily="49" charset="-122"/>
              </a:rPr>
              <a:t>&gt;90%</a:t>
            </a:r>
            <a:r>
              <a:rPr lang="zh-CN" altLang="en-US" sz="2200" dirty="0">
                <a:latin typeface="黑体" pitchFamily="49" charset="-122"/>
                <a:ea typeface="黑体" pitchFamily="49" charset="-122"/>
              </a:rPr>
              <a:t>，孔洞的检测概率</a:t>
            </a:r>
            <a:r>
              <a:rPr lang="en-US" altLang="zh-CN" sz="2200" dirty="0" err="1">
                <a:latin typeface="黑体" pitchFamily="49" charset="-122"/>
                <a:ea typeface="黑体" pitchFamily="49" charset="-122"/>
              </a:rPr>
              <a:t>P</a:t>
            </a:r>
            <a:r>
              <a:rPr lang="en-US" altLang="zh-CN" sz="2200" baseline="-25000" dirty="0" err="1">
                <a:latin typeface="黑体" pitchFamily="49" charset="-122"/>
                <a:ea typeface="黑体" pitchFamily="49" charset="-122"/>
              </a:rPr>
              <a:t>d</a:t>
            </a:r>
            <a:r>
              <a:rPr lang="en-US" altLang="zh-CN" sz="2200" dirty="0">
                <a:latin typeface="黑体" pitchFamily="49" charset="-122"/>
                <a:ea typeface="黑体" pitchFamily="49" charset="-122"/>
              </a:rPr>
              <a:t>&gt;95%</a:t>
            </a:r>
            <a:r>
              <a:rPr lang="zh-CN" altLang="en-US" sz="2200" dirty="0">
                <a:latin typeface="黑体" pitchFamily="49" charset="-122"/>
                <a:ea typeface="黑体" pitchFamily="49" charset="-122"/>
              </a:rPr>
              <a:t>”。</a:t>
            </a:r>
            <a:endParaRPr lang="en-US" altLang="zh-CN" sz="2200" dirty="0">
              <a:latin typeface="黑体" pitchFamily="49" charset="-122"/>
              <a:ea typeface="黑体" pitchFamily="49" charset="-122"/>
            </a:endParaRPr>
          </a:p>
        </p:txBody>
      </p:sp>
      <p:sp>
        <p:nvSpPr>
          <p:cNvPr id="16" name="矩形 5"/>
          <p:cNvSpPr>
            <a:spLocks noChangeArrowheads="1"/>
          </p:cNvSpPr>
          <p:nvPr/>
        </p:nvSpPr>
        <p:spPr bwMode="auto">
          <a:xfrm>
            <a:off x="5663890" y="2979812"/>
            <a:ext cx="1040670" cy="430887"/>
          </a:xfrm>
          <a:prstGeom prst="rect">
            <a:avLst/>
          </a:prstGeom>
          <a:noFill/>
          <a:ln w="9525">
            <a:noFill/>
            <a:miter lim="800000"/>
            <a:headEnd/>
            <a:tailEnd/>
          </a:ln>
        </p:spPr>
        <p:txBody>
          <a:bodyPr wrap="none">
            <a:spAutoFit/>
          </a:bodyPr>
          <a:lstStyle/>
          <a:p>
            <a:pPr eaLnBrk="1" hangingPunct="1">
              <a:spcBef>
                <a:spcPct val="50000"/>
              </a:spcBef>
            </a:pPr>
            <a:r>
              <a:rPr lang="en-US" altLang="zh-CN" sz="2200" b="1" dirty="0">
                <a:latin typeface="黑体" pitchFamily="49" charset="-122"/>
                <a:ea typeface="黑体" pitchFamily="49" charset="-122"/>
              </a:rPr>
              <a:t>P(A|B)</a:t>
            </a:r>
            <a:endParaRPr lang="zh-CN" altLang="en-US" sz="2200" b="1" dirty="0">
              <a:ea typeface="宋体" charset="-122"/>
            </a:endParaRPr>
          </a:p>
        </p:txBody>
      </p:sp>
      <p:grpSp>
        <p:nvGrpSpPr>
          <p:cNvPr id="18" name="组合 16"/>
          <p:cNvGrpSpPr>
            <a:grpSpLocks/>
          </p:cNvGrpSpPr>
          <p:nvPr/>
        </p:nvGrpSpPr>
        <p:grpSpPr bwMode="auto">
          <a:xfrm>
            <a:off x="6291920" y="2563635"/>
            <a:ext cx="1763916" cy="901845"/>
            <a:chOff x="5000628" y="3156454"/>
            <a:chExt cx="1764052" cy="901851"/>
          </a:xfrm>
        </p:grpSpPr>
        <p:sp>
          <p:nvSpPr>
            <p:cNvPr id="20" name="矩形 19"/>
            <p:cNvSpPr/>
            <p:nvPr/>
          </p:nvSpPr>
          <p:spPr>
            <a:xfrm>
              <a:off x="5000628" y="3357563"/>
              <a:ext cx="220235" cy="700742"/>
            </a:xfrm>
            <a:prstGeom prst="rect">
              <a:avLst/>
            </a:prstGeom>
            <a:noFill/>
            <a:ln>
              <a:solidFill>
                <a:srgbClr val="3333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CN" altLang="en-US" sz="2000" b="1">
                <a:solidFill>
                  <a:srgbClr val="FFFFCC"/>
                </a:solidFill>
                <a:ea typeface="宋体" pitchFamily="2" charset="-122"/>
              </a:endParaRPr>
            </a:p>
          </p:txBody>
        </p:sp>
        <p:sp>
          <p:nvSpPr>
            <p:cNvPr id="21" name="矩形 8"/>
            <p:cNvSpPr>
              <a:spLocks noChangeArrowheads="1"/>
            </p:cNvSpPr>
            <p:nvPr/>
          </p:nvSpPr>
          <p:spPr bwMode="auto">
            <a:xfrm>
              <a:off x="5547587" y="3156454"/>
              <a:ext cx="1217093" cy="400113"/>
            </a:xfrm>
            <a:prstGeom prst="rect">
              <a:avLst/>
            </a:prstGeom>
            <a:noFill/>
            <a:ln w="9525">
              <a:noFill/>
              <a:miter lim="800000"/>
              <a:headEnd/>
              <a:tailEnd/>
            </a:ln>
          </p:spPr>
          <p:txBody>
            <a:bodyPr wrap="none">
              <a:spAutoFit/>
            </a:bodyPr>
            <a:lstStyle/>
            <a:p>
              <a:pPr eaLnBrk="1" hangingPunct="1">
                <a:spcBef>
                  <a:spcPct val="50000"/>
                </a:spcBef>
              </a:pPr>
              <a:r>
                <a:rPr lang="zh-CN" altLang="en-US" sz="2000" b="1" dirty="0">
                  <a:solidFill>
                    <a:srgbClr val="3333CC"/>
                  </a:solidFill>
                  <a:latin typeface="黑体" pitchFamily="49" charset="-122"/>
                  <a:ea typeface="黑体" pitchFamily="49" charset="-122"/>
                </a:rPr>
                <a:t>输入条件</a:t>
              </a:r>
              <a:endParaRPr lang="zh-CN" altLang="en-US" sz="2000" b="1" dirty="0">
                <a:solidFill>
                  <a:srgbClr val="3333CC"/>
                </a:solidFill>
                <a:ea typeface="宋体" charset="-122"/>
              </a:endParaRPr>
            </a:p>
          </p:txBody>
        </p:sp>
        <p:cxnSp>
          <p:nvCxnSpPr>
            <p:cNvPr id="22" name="直接箭头连接符 21"/>
            <p:cNvCxnSpPr/>
            <p:nvPr/>
          </p:nvCxnSpPr>
          <p:spPr>
            <a:xfrm flipH="1">
              <a:off x="5253689" y="3357563"/>
              <a:ext cx="293898" cy="20007"/>
            </a:xfrm>
            <a:prstGeom prst="straightConnector1">
              <a:avLst/>
            </a:prstGeom>
            <a:ln w="28575">
              <a:solidFill>
                <a:srgbClr val="3333CC"/>
              </a:solidFill>
              <a:tailEnd type="arrow"/>
            </a:ln>
          </p:spPr>
          <p:style>
            <a:lnRef idx="1">
              <a:schemeClr val="accent1"/>
            </a:lnRef>
            <a:fillRef idx="0">
              <a:schemeClr val="accent1"/>
            </a:fillRef>
            <a:effectRef idx="0">
              <a:schemeClr val="accent1"/>
            </a:effectRef>
            <a:fontRef idx="minor">
              <a:schemeClr val="tx1"/>
            </a:fontRef>
          </p:style>
        </p:cxnSp>
      </p:grpSp>
      <p:grpSp>
        <p:nvGrpSpPr>
          <p:cNvPr id="23" name="组合 17"/>
          <p:cNvGrpSpPr>
            <a:grpSpLocks/>
          </p:cNvGrpSpPr>
          <p:nvPr/>
        </p:nvGrpSpPr>
        <p:grpSpPr bwMode="auto">
          <a:xfrm>
            <a:off x="3471216" y="2903674"/>
            <a:ext cx="3233343" cy="616051"/>
            <a:chOff x="1593711" y="3352552"/>
            <a:chExt cx="3234425" cy="616818"/>
          </a:xfrm>
        </p:grpSpPr>
        <p:sp>
          <p:nvSpPr>
            <p:cNvPr id="24" name="矩形 11"/>
            <p:cNvSpPr>
              <a:spLocks noChangeArrowheads="1"/>
            </p:cNvSpPr>
            <p:nvPr/>
          </p:nvSpPr>
          <p:spPr bwMode="auto">
            <a:xfrm>
              <a:off x="1593711" y="3568761"/>
              <a:ext cx="1991917" cy="400609"/>
            </a:xfrm>
            <a:prstGeom prst="rect">
              <a:avLst/>
            </a:prstGeom>
            <a:noFill/>
            <a:ln w="9525">
              <a:noFill/>
              <a:miter lim="800000"/>
              <a:headEnd/>
              <a:tailEnd/>
            </a:ln>
          </p:spPr>
          <p:txBody>
            <a:bodyPr wrap="none">
              <a:spAutoFit/>
            </a:bodyPr>
            <a:lstStyle/>
            <a:p>
              <a:pPr eaLnBrk="1" hangingPunct="1">
                <a:spcBef>
                  <a:spcPct val="50000"/>
                </a:spcBef>
              </a:pPr>
              <a:r>
                <a:rPr lang="zh-CN" altLang="en-US" sz="2000" b="1" dirty="0">
                  <a:solidFill>
                    <a:srgbClr val="FF0000"/>
                  </a:solidFill>
                  <a:latin typeface="黑体" pitchFamily="49" charset="-122"/>
                  <a:ea typeface="黑体" pitchFamily="49" charset="-122"/>
                </a:rPr>
                <a:t>输出结果的统计</a:t>
              </a:r>
              <a:endParaRPr lang="zh-CN" altLang="en-US" sz="2000" b="1" dirty="0">
                <a:solidFill>
                  <a:srgbClr val="FF0000"/>
                </a:solidFill>
                <a:ea typeface="宋体" charset="-122"/>
              </a:endParaRPr>
            </a:p>
          </p:txBody>
        </p:sp>
        <p:sp>
          <p:nvSpPr>
            <p:cNvPr id="25" name="矩形 24"/>
            <p:cNvSpPr/>
            <p:nvPr/>
          </p:nvSpPr>
          <p:spPr>
            <a:xfrm>
              <a:off x="3778115" y="3352552"/>
              <a:ext cx="1050021" cy="50765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spcBef>
                  <a:spcPct val="50000"/>
                </a:spcBef>
                <a:defRPr/>
              </a:pPr>
              <a:endParaRPr lang="zh-CN" altLang="en-US" sz="2000" b="1">
                <a:solidFill>
                  <a:srgbClr val="FFFFCC"/>
                </a:solidFill>
                <a:ea typeface="宋体" pitchFamily="2" charset="-122"/>
              </a:endParaRPr>
            </a:p>
          </p:txBody>
        </p:sp>
        <p:cxnSp>
          <p:nvCxnSpPr>
            <p:cNvPr id="26" name="直接箭头连接符 25"/>
            <p:cNvCxnSpPr>
              <a:endCxn id="25" idx="1"/>
            </p:cNvCxnSpPr>
            <p:nvPr/>
          </p:nvCxnSpPr>
          <p:spPr>
            <a:xfrm flipV="1">
              <a:off x="3548819" y="3606382"/>
              <a:ext cx="229296" cy="126916"/>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27" name="矩形 26"/>
          <p:cNvSpPr>
            <a:spLocks noChangeArrowheads="1"/>
          </p:cNvSpPr>
          <p:nvPr/>
        </p:nvSpPr>
        <p:spPr bwMode="auto">
          <a:xfrm>
            <a:off x="271144" y="4453773"/>
            <a:ext cx="11657112" cy="2043829"/>
          </a:xfrm>
          <a:prstGeom prst="rect">
            <a:avLst/>
          </a:prstGeom>
          <a:noFill/>
          <a:ln w="9525">
            <a:noFill/>
            <a:miter lim="800000"/>
            <a:headEnd/>
            <a:tailEnd/>
          </a:ln>
        </p:spPr>
        <p:txBody>
          <a:bodyPr wrap="square">
            <a:spAutoFit/>
          </a:bodyPr>
          <a:lstStyle/>
          <a:p>
            <a:pPr algn="just" eaLnBrk="1" hangingPunct="1">
              <a:lnSpc>
                <a:spcPct val="120000"/>
              </a:lnSpc>
              <a:spcBef>
                <a:spcPts val="0"/>
              </a:spcBef>
            </a:pPr>
            <a:r>
              <a:rPr lang="zh-CN" altLang="en-US" sz="2000" dirty="0">
                <a:latin typeface="黑体" pitchFamily="49" charset="-122"/>
                <a:ea typeface="黑体" pitchFamily="49" charset="-122"/>
              </a:rPr>
              <a:t>假设</a:t>
            </a:r>
            <a:r>
              <a:rPr lang="en-US" altLang="zh-CN" sz="2000" dirty="0">
                <a:latin typeface="黑体" pitchFamily="49" charset="-122"/>
                <a:ea typeface="黑体" pitchFamily="49" charset="-122"/>
              </a:rPr>
              <a:t>n</a:t>
            </a:r>
            <a:r>
              <a:rPr lang="zh-CN" altLang="en-US" sz="2000" dirty="0">
                <a:latin typeface="黑体" pitchFamily="49" charset="-122"/>
                <a:ea typeface="黑体" pitchFamily="49" charset="-122"/>
              </a:rPr>
              <a:t>次实验中，辊印出现</a:t>
            </a:r>
            <a:r>
              <a:rPr lang="en-US" altLang="zh-CN" sz="2000" dirty="0">
                <a:latin typeface="黑体" pitchFamily="49" charset="-122"/>
                <a:ea typeface="黑体" pitchFamily="49" charset="-122"/>
              </a:rPr>
              <a:t>m</a:t>
            </a:r>
            <a:r>
              <a:rPr lang="zh-CN" altLang="en-US" sz="2000" dirty="0">
                <a:latin typeface="黑体" pitchFamily="49" charset="-122"/>
                <a:ea typeface="黑体" pitchFamily="49" charset="-122"/>
              </a:rPr>
              <a:t>次，辊印被成功检测出来</a:t>
            </a:r>
            <a:r>
              <a:rPr lang="en-US" altLang="zh-CN" sz="2000" dirty="0">
                <a:latin typeface="黑体" pitchFamily="49" charset="-122"/>
                <a:ea typeface="黑体" pitchFamily="49" charset="-122"/>
              </a:rPr>
              <a:t>k</a:t>
            </a:r>
            <a:r>
              <a:rPr lang="zh-CN" altLang="en-US" sz="2000" dirty="0">
                <a:latin typeface="黑体" pitchFamily="49" charset="-122"/>
                <a:ea typeface="黑体" pitchFamily="49" charset="-122"/>
              </a:rPr>
              <a:t>次，那么</a:t>
            </a:r>
            <a:endParaRPr lang="en-US" altLang="zh-CN" sz="2000" dirty="0">
              <a:latin typeface="黑体" pitchFamily="49" charset="-122"/>
              <a:ea typeface="黑体" pitchFamily="49" charset="-122"/>
            </a:endParaRPr>
          </a:p>
          <a:p>
            <a:pPr algn="just" eaLnBrk="1" hangingPunct="1">
              <a:lnSpc>
                <a:spcPct val="120000"/>
              </a:lnSpc>
              <a:spcBef>
                <a:spcPts val="1200"/>
              </a:spcBef>
            </a:pPr>
            <a:r>
              <a:rPr lang="zh-CN" altLang="en-US" sz="2000" dirty="0">
                <a:latin typeface="黑体" pitchFamily="49" charset="-122"/>
                <a:ea typeface="黑体" pitchFamily="49" charset="-122"/>
              </a:rPr>
              <a:t>条件概率</a:t>
            </a:r>
            <a:r>
              <a:rPr lang="en-US" altLang="zh-CN" sz="2000" dirty="0">
                <a:latin typeface="黑体" pitchFamily="49" charset="-122"/>
                <a:ea typeface="黑体" pitchFamily="49" charset="-122"/>
              </a:rPr>
              <a:t>P(</a:t>
            </a:r>
            <a:r>
              <a:rPr lang="zh-CN" altLang="en-US" sz="2000" dirty="0">
                <a:latin typeface="黑体" pitchFamily="49" charset="-122"/>
                <a:ea typeface="黑体" pitchFamily="49" charset="-122"/>
              </a:rPr>
              <a:t>成功检测缺陷</a:t>
            </a:r>
            <a:r>
              <a:rPr lang="en-US" altLang="zh-CN" sz="2000" dirty="0">
                <a:latin typeface="黑体" pitchFamily="49" charset="-122"/>
                <a:ea typeface="黑体" pitchFamily="49" charset="-122"/>
              </a:rPr>
              <a:t>|</a:t>
            </a:r>
            <a:r>
              <a:rPr lang="zh-CN" altLang="en-US" sz="2000" dirty="0">
                <a:latin typeface="黑体" pitchFamily="49" charset="-122"/>
                <a:ea typeface="黑体" pitchFamily="49" charset="-122"/>
              </a:rPr>
              <a:t>输入是辊印</a:t>
            </a:r>
            <a:r>
              <a:rPr lang="en-US" altLang="zh-CN" sz="2000" dirty="0">
                <a:latin typeface="黑体" pitchFamily="49" charset="-122"/>
                <a:ea typeface="黑体" pitchFamily="49" charset="-122"/>
              </a:rPr>
              <a:t>)= k/m </a:t>
            </a:r>
          </a:p>
          <a:p>
            <a:pPr algn="just" eaLnBrk="1" hangingPunct="1">
              <a:lnSpc>
                <a:spcPct val="120000"/>
              </a:lnSpc>
              <a:spcBef>
                <a:spcPts val="0"/>
              </a:spcBef>
            </a:pPr>
            <a:r>
              <a:rPr lang="en-US" altLang="zh-CN" sz="2000" dirty="0">
                <a:latin typeface="黑体" pitchFamily="49" charset="-122"/>
                <a:ea typeface="黑体" pitchFamily="49" charset="-122"/>
              </a:rPr>
              <a:t>                                  =(k/n)/(m/n)</a:t>
            </a:r>
          </a:p>
          <a:p>
            <a:pPr algn="just" eaLnBrk="1" hangingPunct="1">
              <a:lnSpc>
                <a:spcPct val="120000"/>
              </a:lnSpc>
              <a:spcBef>
                <a:spcPts val="0"/>
              </a:spcBef>
            </a:pPr>
            <a:r>
              <a:rPr lang="en-US" altLang="zh-CN" sz="2000" dirty="0">
                <a:latin typeface="黑体" pitchFamily="49" charset="-122"/>
                <a:ea typeface="黑体" pitchFamily="49" charset="-122"/>
              </a:rPr>
              <a:t>                                  = P(</a:t>
            </a:r>
            <a:r>
              <a:rPr lang="zh-CN" altLang="en-US" sz="2000" dirty="0">
                <a:latin typeface="黑体" pitchFamily="49" charset="-122"/>
                <a:ea typeface="黑体" pitchFamily="49" charset="-122"/>
              </a:rPr>
              <a:t>成功检测缺陷 并且 输入是辊印</a:t>
            </a:r>
            <a:r>
              <a:rPr lang="en-US" altLang="zh-CN" sz="2000" dirty="0">
                <a:latin typeface="黑体" pitchFamily="49" charset="-122"/>
                <a:ea typeface="黑体" pitchFamily="49" charset="-122"/>
              </a:rPr>
              <a:t>)/P(</a:t>
            </a:r>
            <a:r>
              <a:rPr lang="zh-CN" altLang="en-US" sz="2000" dirty="0">
                <a:latin typeface="黑体" pitchFamily="49" charset="-122"/>
                <a:ea typeface="黑体" pitchFamily="49" charset="-122"/>
              </a:rPr>
              <a:t>输入是辊印的概率</a:t>
            </a:r>
            <a:r>
              <a:rPr lang="en-US" altLang="zh-CN" sz="2000" dirty="0">
                <a:latin typeface="黑体" pitchFamily="49" charset="-122"/>
                <a:ea typeface="黑体" pitchFamily="49" charset="-122"/>
              </a:rPr>
              <a:t>) </a:t>
            </a:r>
          </a:p>
          <a:p>
            <a:pPr algn="just" eaLnBrk="1" hangingPunct="1">
              <a:lnSpc>
                <a:spcPct val="120000"/>
              </a:lnSpc>
              <a:spcBef>
                <a:spcPts val="0"/>
              </a:spcBef>
            </a:pPr>
            <a:r>
              <a:rPr lang="zh-CN" altLang="en-US" sz="2000" dirty="0">
                <a:latin typeface="黑体" pitchFamily="49" charset="-122"/>
                <a:ea typeface="黑体" pitchFamily="49" charset="-122"/>
              </a:rPr>
              <a:t>所以有 </a:t>
            </a:r>
            <a:r>
              <a:rPr lang="en-US" altLang="zh-CN" sz="2000" dirty="0">
                <a:solidFill>
                  <a:srgbClr val="FF0000"/>
                </a:solidFill>
                <a:latin typeface="黑体" pitchFamily="49" charset="-122"/>
                <a:ea typeface="黑体" pitchFamily="49" charset="-122"/>
              </a:rPr>
              <a:t>P(A|B)=P(AB)/P(B)</a:t>
            </a:r>
            <a:r>
              <a:rPr lang="en-US" altLang="zh-CN" sz="2000" dirty="0">
                <a:latin typeface="黑体" pitchFamily="49" charset="-122"/>
                <a:ea typeface="黑体" pitchFamily="49" charset="-122"/>
              </a:rPr>
              <a:t>     P(B)&gt;0</a:t>
            </a:r>
            <a:endParaRPr lang="zh-CN" altLang="en-US" sz="2000" dirty="0">
              <a:latin typeface="黑体" pitchFamily="49" charset="-122"/>
              <a:ea typeface="黑体" pitchFamily="49" charset="-122"/>
            </a:endParaRPr>
          </a:p>
        </p:txBody>
      </p:sp>
    </p:spTree>
    <p:extLst>
      <p:ext uri="{BB962C8B-B14F-4D97-AF65-F5344CB8AC3E}">
        <p14:creationId xmlns:p14="http://schemas.microsoft.com/office/powerpoint/2010/main" val="3605144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 Box 6"/>
          <p:cNvSpPr txBox="1">
            <a:spLocks noChangeArrowheads="1"/>
          </p:cNvSpPr>
          <p:nvPr/>
        </p:nvSpPr>
        <p:spPr bwMode="auto">
          <a:xfrm>
            <a:off x="288470" y="1619034"/>
            <a:ext cx="11567030" cy="430887"/>
          </a:xfrm>
          <a:prstGeom prst="rect">
            <a:avLst/>
          </a:prstGeom>
          <a:noFill/>
          <a:ln w="9525">
            <a:noFill/>
            <a:miter lim="800000"/>
            <a:headEnd/>
            <a:tailEnd/>
          </a:ln>
        </p:spPr>
        <p:txBody>
          <a:bodyPr wrap="square">
            <a:spAutoFit/>
          </a:bodyPr>
          <a:lstStyle/>
          <a:p>
            <a:pPr algn="just" eaLnBrk="0" hangingPunct="0">
              <a:spcBef>
                <a:spcPct val="50000"/>
              </a:spcBef>
              <a:defRPr/>
            </a:pPr>
            <a:r>
              <a:rPr lang="zh-CN" altLang="en-US" sz="2200" b="0" dirty="0">
                <a:solidFill>
                  <a:schemeClr val="tx1"/>
                </a:solidFill>
                <a:latin typeface="黑体" panose="02010609060101010101" pitchFamily="49" charset="-122"/>
                <a:ea typeface="黑体" panose="02010609060101010101" pitchFamily="49" charset="-122"/>
              </a:rPr>
              <a:t>设</a:t>
            </a:r>
            <a:r>
              <a:rPr lang="en-US" altLang="zh-CN" sz="2200" b="0" dirty="0">
                <a:solidFill>
                  <a:schemeClr val="tx1"/>
                </a:solidFill>
                <a:latin typeface="黑体" panose="02010609060101010101" pitchFamily="49" charset="-122"/>
                <a:ea typeface="黑体" panose="02010609060101010101" pitchFamily="49" charset="-122"/>
              </a:rPr>
              <a:t>A</a:t>
            </a:r>
            <a:r>
              <a:rPr lang="en-US" altLang="zh-CN" sz="2200" b="0" baseline="-25000" dirty="0">
                <a:solidFill>
                  <a:schemeClr val="tx1"/>
                </a:solidFill>
                <a:latin typeface="黑体" panose="02010609060101010101" pitchFamily="49" charset="-122"/>
                <a:ea typeface="黑体" panose="02010609060101010101" pitchFamily="49" charset="-122"/>
              </a:rPr>
              <a:t>1</a:t>
            </a:r>
            <a:r>
              <a:rPr lang="en-US" altLang="zh-CN" sz="2200" b="0" dirty="0">
                <a:solidFill>
                  <a:schemeClr val="tx1"/>
                </a:solidFill>
                <a:latin typeface="黑体" panose="02010609060101010101" pitchFamily="49" charset="-122"/>
                <a:ea typeface="黑体" panose="02010609060101010101" pitchFamily="49" charset="-122"/>
              </a:rPr>
              <a:t>,A</a:t>
            </a:r>
            <a:r>
              <a:rPr lang="en-US" altLang="zh-CN" sz="2200" b="0" baseline="-25000" dirty="0">
                <a:solidFill>
                  <a:schemeClr val="tx1"/>
                </a:solidFill>
                <a:latin typeface="黑体" panose="02010609060101010101" pitchFamily="49" charset="-122"/>
                <a:ea typeface="黑体" panose="02010609060101010101" pitchFamily="49" charset="-122"/>
              </a:rPr>
              <a:t>2</a:t>
            </a:r>
            <a:r>
              <a:rPr lang="en-US" altLang="zh-CN" sz="2200" b="0" dirty="0">
                <a:solidFill>
                  <a:schemeClr val="tx1"/>
                </a:solidFill>
                <a:latin typeface="黑体" panose="02010609060101010101" pitchFamily="49" charset="-122"/>
                <a:ea typeface="黑体" panose="02010609060101010101" pitchFamily="49" charset="-122"/>
              </a:rPr>
              <a:t>,…,A</a:t>
            </a:r>
            <a:r>
              <a:rPr lang="en-US" altLang="zh-CN" sz="2200" b="0" baseline="-25000" dirty="0">
                <a:solidFill>
                  <a:schemeClr val="tx1"/>
                </a:solidFill>
                <a:latin typeface="黑体" panose="02010609060101010101" pitchFamily="49" charset="-122"/>
                <a:ea typeface="黑体" panose="02010609060101010101" pitchFamily="49" charset="-122"/>
              </a:rPr>
              <a:t>n</a:t>
            </a:r>
            <a:r>
              <a:rPr lang="zh-CN" altLang="en-US" sz="2200" b="0" dirty="0">
                <a:solidFill>
                  <a:schemeClr val="tx1"/>
                </a:solidFill>
                <a:latin typeface="黑体" panose="02010609060101010101" pitchFamily="49" charset="-122"/>
                <a:ea typeface="黑体" panose="02010609060101010101" pitchFamily="49" charset="-122"/>
              </a:rPr>
              <a:t>是样本空间中的完备事件组且</a:t>
            </a:r>
            <a:r>
              <a:rPr lang="en-US" altLang="zh-CN" sz="2200" b="0" dirty="0">
                <a:solidFill>
                  <a:schemeClr val="tx1"/>
                </a:solidFill>
                <a:latin typeface="黑体" panose="02010609060101010101" pitchFamily="49" charset="-122"/>
                <a:ea typeface="黑体" panose="02010609060101010101" pitchFamily="49" charset="-122"/>
              </a:rPr>
              <a:t>P(A</a:t>
            </a:r>
            <a:r>
              <a:rPr lang="en-US" altLang="zh-CN" sz="2200" b="0" baseline="-25000" dirty="0">
                <a:solidFill>
                  <a:schemeClr val="tx1"/>
                </a:solidFill>
                <a:latin typeface="黑体" panose="02010609060101010101" pitchFamily="49" charset="-122"/>
                <a:ea typeface="黑体" panose="02010609060101010101" pitchFamily="49" charset="-122"/>
              </a:rPr>
              <a:t>i</a:t>
            </a:r>
            <a:r>
              <a:rPr lang="en-US" altLang="zh-CN" sz="2200" b="0" dirty="0">
                <a:solidFill>
                  <a:schemeClr val="tx1"/>
                </a:solidFill>
                <a:latin typeface="黑体" panose="02010609060101010101" pitchFamily="49" charset="-122"/>
                <a:ea typeface="黑体" panose="02010609060101010101" pitchFamily="49" charset="-122"/>
              </a:rPr>
              <a:t>)&gt;0，i=1,2,…,n, </a:t>
            </a:r>
            <a:r>
              <a:rPr lang="zh-CN" altLang="en-US" sz="2200" b="0" dirty="0">
                <a:solidFill>
                  <a:schemeClr val="tx1"/>
                </a:solidFill>
                <a:latin typeface="黑体" panose="02010609060101010101" pitchFamily="49" charset="-122"/>
                <a:ea typeface="黑体" panose="02010609060101010101" pitchFamily="49" charset="-122"/>
              </a:rPr>
              <a:t>另有一事件</a:t>
            </a:r>
            <a:r>
              <a:rPr lang="en-US" altLang="zh-CN" sz="2200" b="0" dirty="0">
                <a:solidFill>
                  <a:schemeClr val="tx1"/>
                </a:solidFill>
                <a:latin typeface="黑体" panose="02010609060101010101" pitchFamily="49" charset="-122"/>
                <a:ea typeface="黑体" panose="02010609060101010101" pitchFamily="49" charset="-122"/>
              </a:rPr>
              <a:t>B，</a:t>
            </a:r>
            <a:r>
              <a:rPr lang="zh-CN" altLang="en-US" sz="2200" b="0" dirty="0">
                <a:solidFill>
                  <a:schemeClr val="tx1"/>
                </a:solidFill>
                <a:latin typeface="黑体" panose="02010609060101010101" pitchFamily="49" charset="-122"/>
                <a:ea typeface="黑体" panose="02010609060101010101" pitchFamily="49" charset="-122"/>
              </a:rPr>
              <a:t>则有 </a:t>
            </a:r>
          </a:p>
        </p:txBody>
      </p:sp>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10</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13.1 </a:t>
            </a:r>
            <a:r>
              <a:rPr lang="zh-CN" altLang="zh-CN" dirty="0"/>
              <a:t>最小错误率贝叶斯决策</a:t>
            </a:r>
          </a:p>
        </p:txBody>
      </p:sp>
      <p:graphicFrame>
        <p:nvGraphicFramePr>
          <p:cNvPr id="29" name="Object 3"/>
          <p:cNvGraphicFramePr>
            <a:graphicFrameLocks noChangeAspect="1"/>
          </p:cNvGraphicFramePr>
          <p:nvPr/>
        </p:nvGraphicFramePr>
        <p:xfrm>
          <a:off x="2639616" y="2421158"/>
          <a:ext cx="6120680" cy="1149790"/>
        </p:xfrm>
        <a:graphic>
          <a:graphicData uri="http://schemas.openxmlformats.org/presentationml/2006/ole">
            <mc:AlternateContent xmlns:mc="http://schemas.openxmlformats.org/markup-compatibility/2006">
              <mc:Choice xmlns:v="urn:schemas-microsoft-com:vml" Requires="v">
                <p:oleObj spid="_x0000_s6262" name="Equation" r:id="rId4" imgW="2631600" imgH="475200" progId="Equation.DSMT4">
                  <p:embed/>
                </p:oleObj>
              </mc:Choice>
              <mc:Fallback>
                <p:oleObj name="Equation" r:id="rId4" imgW="2631600" imgH="475200" progId="Equation.DSMT4">
                  <p:embed/>
                  <p:pic>
                    <p:nvPicPr>
                      <p:cNvPr id="0" name="Picture 1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39616" y="2421158"/>
                        <a:ext cx="6120680" cy="11497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椭圆 29"/>
          <p:cNvSpPr/>
          <p:nvPr/>
        </p:nvSpPr>
        <p:spPr>
          <a:xfrm>
            <a:off x="7124016" y="2421157"/>
            <a:ext cx="692182" cy="33456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1" name="椭圆 30"/>
          <p:cNvSpPr/>
          <p:nvPr/>
        </p:nvSpPr>
        <p:spPr>
          <a:xfrm>
            <a:off x="2649536" y="2512402"/>
            <a:ext cx="1038272" cy="48664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34" name="直接连接符 33"/>
          <p:cNvCxnSpPr>
            <a:endCxn id="30" idx="0"/>
          </p:cNvCxnSpPr>
          <p:nvPr/>
        </p:nvCxnSpPr>
        <p:spPr>
          <a:xfrm>
            <a:off x="7470107" y="2276872"/>
            <a:ext cx="0" cy="14428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endCxn id="31" idx="0"/>
          </p:cNvCxnSpPr>
          <p:nvPr/>
        </p:nvCxnSpPr>
        <p:spPr>
          <a:xfrm>
            <a:off x="3168672" y="2276872"/>
            <a:ext cx="0" cy="23553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3168672" y="2276872"/>
            <a:ext cx="430143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42" name="矩形 41"/>
          <p:cNvSpPr/>
          <p:nvPr/>
        </p:nvSpPr>
        <p:spPr>
          <a:xfrm>
            <a:off x="304132" y="1076139"/>
            <a:ext cx="198002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贝叶斯公式</a:t>
            </a:r>
            <a:endParaRPr lang="zh-CN" altLang="en-US" sz="2800" b="1" dirty="0">
              <a:solidFill>
                <a:srgbClr val="FF0000"/>
              </a:solidFill>
              <a:ea typeface="黑体" panose="02010609060101010101" pitchFamily="49" charset="-122"/>
            </a:endParaRPr>
          </a:p>
        </p:txBody>
      </p:sp>
      <p:sp>
        <p:nvSpPr>
          <p:cNvPr id="19" name="Rectangle 6"/>
          <p:cNvSpPr txBox="1">
            <a:spLocks noChangeArrowheads="1"/>
          </p:cNvSpPr>
          <p:nvPr/>
        </p:nvSpPr>
        <p:spPr bwMode="auto">
          <a:xfrm>
            <a:off x="284338" y="3526234"/>
            <a:ext cx="11500294" cy="1558950"/>
          </a:xfrm>
          <a:prstGeom prst="rect">
            <a:avLst/>
          </a:prstGeom>
          <a:noFill/>
          <a:ln w="9525">
            <a:noFill/>
            <a:miter lim="800000"/>
            <a:headEnd/>
            <a:tailEnd/>
          </a:ln>
        </p:spPr>
        <p:txBody>
          <a:bodyPr/>
          <a:lstStyle/>
          <a:p>
            <a:pPr marL="342900" indent="-342900" fontAlgn="auto">
              <a:lnSpc>
                <a:spcPct val="130000"/>
              </a:lnSpc>
              <a:spcBef>
                <a:spcPts val="0"/>
              </a:spcBef>
              <a:spcAft>
                <a:spcPts val="0"/>
              </a:spcAft>
              <a:buClr>
                <a:schemeClr val="tx2"/>
              </a:buClr>
              <a:buSzPct val="100000"/>
              <a:buFont typeface="Arial" panose="020B0604020202020204" pitchFamily="34" charset="0"/>
              <a:buChar char="•"/>
              <a:defRPr/>
            </a:pPr>
            <a:r>
              <a:rPr lang="en-US" altLang="zh-CN" dirty="0">
                <a:latin typeface="黑体" panose="02010609060101010101" pitchFamily="49" charset="-122"/>
                <a:ea typeface="黑体" panose="02010609060101010101" pitchFamily="49" charset="-122"/>
              </a:rPr>
              <a:t>P(Ai) </a:t>
            </a:r>
            <a:r>
              <a:rPr lang="zh-CN" altLang="en-US" dirty="0">
                <a:latin typeface="黑体" panose="02010609060101010101" pitchFamily="49" charset="-122"/>
                <a:ea typeface="黑体" panose="02010609060101010101" pitchFamily="49" charset="-122"/>
              </a:rPr>
              <a:t>是先验概率</a:t>
            </a:r>
            <a:endParaRPr lang="en-US" altLang="zh-CN" dirty="0">
              <a:latin typeface="黑体" panose="02010609060101010101" pitchFamily="49" charset="-122"/>
              <a:ea typeface="黑体" panose="02010609060101010101" pitchFamily="49" charset="-122"/>
            </a:endParaRPr>
          </a:p>
          <a:p>
            <a:pPr marL="342900" indent="-342900" fontAlgn="auto">
              <a:lnSpc>
                <a:spcPct val="130000"/>
              </a:lnSpc>
              <a:spcBef>
                <a:spcPts val="0"/>
              </a:spcBef>
              <a:spcAft>
                <a:spcPts val="0"/>
              </a:spcAft>
              <a:buClr>
                <a:schemeClr val="tx2"/>
              </a:buClr>
              <a:buSzPct val="100000"/>
              <a:buFont typeface="Arial" panose="020B0604020202020204" pitchFamily="34" charset="0"/>
              <a:buChar char="•"/>
              <a:defRPr/>
            </a:pPr>
            <a:r>
              <a:rPr lang="en-US" altLang="zh-CN" dirty="0">
                <a:latin typeface="黑体" panose="02010609060101010101" pitchFamily="49" charset="-122"/>
                <a:ea typeface="黑体" panose="02010609060101010101" pitchFamily="49" charset="-122"/>
              </a:rPr>
              <a:t>P(</a:t>
            </a:r>
            <a:r>
              <a:rPr lang="en-US" altLang="zh-CN" dirty="0" err="1">
                <a:latin typeface="黑体" panose="02010609060101010101" pitchFamily="49" charset="-122"/>
                <a:ea typeface="黑体" panose="02010609060101010101" pitchFamily="49" charset="-122"/>
              </a:rPr>
              <a:t>B|Ai</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是在给定</a:t>
            </a:r>
            <a:r>
              <a:rPr lang="en-US" altLang="zh-CN" dirty="0">
                <a:latin typeface="黑体" panose="02010609060101010101" pitchFamily="49" charset="-122"/>
                <a:ea typeface="黑体" panose="02010609060101010101" pitchFamily="49" charset="-122"/>
              </a:rPr>
              <a:t>Ai</a:t>
            </a:r>
            <a:r>
              <a:rPr lang="zh-CN" altLang="en-US" dirty="0">
                <a:latin typeface="黑体" panose="02010609060101010101" pitchFamily="49" charset="-122"/>
                <a:ea typeface="黑体" panose="02010609060101010101" pitchFamily="49" charset="-122"/>
              </a:rPr>
              <a:t>下的证据似然函数</a:t>
            </a:r>
            <a:endParaRPr lang="en-US" altLang="zh-CN" dirty="0">
              <a:latin typeface="黑体" panose="02010609060101010101" pitchFamily="49" charset="-122"/>
              <a:ea typeface="黑体" panose="02010609060101010101" pitchFamily="49" charset="-122"/>
            </a:endParaRPr>
          </a:p>
          <a:p>
            <a:pPr marL="342900" indent="-342900" fontAlgn="auto">
              <a:lnSpc>
                <a:spcPct val="130000"/>
              </a:lnSpc>
              <a:spcBef>
                <a:spcPts val="0"/>
              </a:spcBef>
              <a:spcAft>
                <a:spcPts val="0"/>
              </a:spcAft>
              <a:buClr>
                <a:schemeClr val="tx2"/>
              </a:buClr>
              <a:buSzPct val="100000"/>
              <a:buFont typeface="Arial" panose="020B0604020202020204" pitchFamily="34" charset="0"/>
              <a:buChar char="•"/>
              <a:defRPr/>
            </a:pPr>
            <a:r>
              <a:rPr lang="en-US" altLang="zh-CN" dirty="0">
                <a:latin typeface="黑体" panose="02010609060101010101" pitchFamily="49" charset="-122"/>
                <a:ea typeface="黑体" panose="02010609060101010101" pitchFamily="49" charset="-122"/>
              </a:rPr>
              <a:t>P(B)</a:t>
            </a:r>
            <a:r>
              <a:rPr lang="zh-CN" altLang="en-US" dirty="0">
                <a:latin typeface="黑体" panose="02010609060101010101" pitchFamily="49" charset="-122"/>
                <a:ea typeface="黑体" panose="02010609060101010101" pitchFamily="49" charset="-122"/>
              </a:rPr>
              <a:t>是证据</a:t>
            </a:r>
            <a:endParaRPr lang="en-US" altLang="zh-CN" dirty="0">
              <a:latin typeface="黑体" panose="02010609060101010101" pitchFamily="49" charset="-122"/>
              <a:ea typeface="黑体" panose="02010609060101010101" pitchFamily="49" charset="-122"/>
            </a:endParaRPr>
          </a:p>
          <a:p>
            <a:pPr marL="342900" indent="-342900" fontAlgn="auto">
              <a:lnSpc>
                <a:spcPct val="130000"/>
              </a:lnSpc>
              <a:spcBef>
                <a:spcPts val="0"/>
              </a:spcBef>
              <a:spcAft>
                <a:spcPts val="0"/>
              </a:spcAft>
              <a:buClr>
                <a:schemeClr val="tx2"/>
              </a:buClr>
              <a:buSzPct val="100000"/>
              <a:buFont typeface="Arial" panose="020B0604020202020204" pitchFamily="34" charset="0"/>
              <a:buChar char="•"/>
              <a:defRPr/>
            </a:pPr>
            <a:r>
              <a:rPr lang="en-US" altLang="zh-CN" dirty="0">
                <a:latin typeface="黑体" panose="02010609060101010101" pitchFamily="49" charset="-122"/>
                <a:ea typeface="黑体" panose="02010609060101010101" pitchFamily="49" charset="-122"/>
              </a:rPr>
              <a:t>P(</a:t>
            </a:r>
            <a:r>
              <a:rPr lang="en-US" altLang="zh-CN" dirty="0" err="1">
                <a:latin typeface="黑体" panose="02010609060101010101" pitchFamily="49" charset="-122"/>
                <a:ea typeface="黑体" panose="02010609060101010101" pitchFamily="49" charset="-122"/>
              </a:rPr>
              <a:t>Ai|B</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是在给定信息下的修正的概率，称为后验概率</a:t>
            </a:r>
            <a:endParaRPr kumimoji="0" lang="en-US" altLang="zh-CN" sz="2200" b="0" dirty="0">
              <a:solidFill>
                <a:schemeClr val="tx1"/>
              </a:solidFill>
              <a:latin typeface="+mn-ea"/>
              <a:ea typeface="+mn-ea"/>
            </a:endParaRPr>
          </a:p>
          <a:p>
            <a:pPr marL="342900" indent="-342900" fontAlgn="auto">
              <a:spcBef>
                <a:spcPct val="20000"/>
              </a:spcBef>
              <a:spcAft>
                <a:spcPts val="0"/>
              </a:spcAft>
              <a:buClr>
                <a:schemeClr val="tx2"/>
              </a:buClr>
              <a:buSzPct val="50000"/>
              <a:buFont typeface="Wingdings 2"/>
              <a:buChar char="ß"/>
              <a:defRPr/>
            </a:pPr>
            <a:endParaRPr kumimoji="0" lang="en-US" altLang="zh-CN" sz="2200" b="0" dirty="0">
              <a:solidFill>
                <a:schemeClr val="tx1"/>
              </a:solidFill>
              <a:latin typeface="+mn-ea"/>
              <a:ea typeface="+mn-ea"/>
            </a:endParaRPr>
          </a:p>
        </p:txBody>
      </p:sp>
      <p:sp>
        <p:nvSpPr>
          <p:cNvPr id="16" name="内容占位符 2"/>
          <p:cNvSpPr>
            <a:spLocks noGrp="1"/>
          </p:cNvSpPr>
          <p:nvPr>
            <p:ph idx="1"/>
          </p:nvPr>
        </p:nvSpPr>
        <p:spPr>
          <a:xfrm>
            <a:off x="378619" y="5301208"/>
            <a:ext cx="5022782" cy="408993"/>
          </a:xfrm>
          <a:solidFill>
            <a:schemeClr val="accent2">
              <a:lumMod val="60000"/>
              <a:lumOff val="40000"/>
            </a:schemeClr>
          </a:solidFill>
        </p:spPr>
        <p:txBody>
          <a:bodyPr>
            <a:normAutofit/>
          </a:bodyPr>
          <a:lstStyle/>
          <a:p>
            <a:pPr marL="0" indent="0">
              <a:buFont typeface="Wingdings 2" pitchFamily="18" charset="2"/>
              <a:buNone/>
              <a:defRPr/>
            </a:pPr>
            <a:r>
              <a:rPr lang="en-US" altLang="zh-CN" sz="2000" dirty="0">
                <a:latin typeface="+mn-ea"/>
              </a:rPr>
              <a:t>Q</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贝叶斯公式有什么用？是用来干什么的</a:t>
            </a:r>
            <a:r>
              <a:rPr lang="en-US" altLang="zh-CN" sz="2000" dirty="0">
                <a:latin typeface="黑体" panose="02010609060101010101" pitchFamily="49" charset="-122"/>
                <a:ea typeface="黑体" panose="02010609060101010101" pitchFamily="49" charset="-122"/>
              </a:rPr>
              <a:t>?</a:t>
            </a:r>
          </a:p>
          <a:p>
            <a:pPr marL="0" indent="0">
              <a:buFont typeface="Wingdings 2" pitchFamily="18" charset="2"/>
              <a:buNone/>
              <a:defRPr/>
            </a:pPr>
            <a:endParaRPr lang="en-US" altLang="zh-CN" sz="2000" dirty="0">
              <a:latin typeface="黑体" panose="02010609060101010101" pitchFamily="49" charset="-122"/>
              <a:ea typeface="黑体" panose="02010609060101010101" pitchFamily="49" charset="-122"/>
            </a:endParaRPr>
          </a:p>
          <a:p>
            <a:pPr>
              <a:buFont typeface="Wingdings 2" pitchFamily="18" charset="2"/>
              <a:buNone/>
              <a:defRPr/>
            </a:pPr>
            <a:endParaRPr lang="zh-CN" altLang="en-US" sz="2000" dirty="0">
              <a:latin typeface="黑体" panose="02010609060101010101" pitchFamily="49" charset="-122"/>
              <a:ea typeface="黑体" panose="02010609060101010101" pitchFamily="49" charset="-122"/>
            </a:endParaRPr>
          </a:p>
        </p:txBody>
      </p:sp>
      <p:sp>
        <p:nvSpPr>
          <p:cNvPr id="17" name="矩形 16"/>
          <p:cNvSpPr/>
          <p:nvPr/>
        </p:nvSpPr>
        <p:spPr>
          <a:xfrm>
            <a:off x="407368" y="5840834"/>
            <a:ext cx="10813032" cy="461665"/>
          </a:xfrm>
          <a:prstGeom prst="rect">
            <a:avLst/>
          </a:prstGeom>
          <a:solidFill>
            <a:schemeClr val="bg1"/>
          </a:solidFill>
          <a:ln w="38100">
            <a:solidFill>
              <a:schemeClr val="bg1"/>
            </a:solidFill>
          </a:ln>
        </p:spPr>
        <p:txBody>
          <a:bodyPr wrap="square">
            <a:spAutoFit/>
          </a:bodyPr>
          <a:lstStyle/>
          <a:p>
            <a:pPr>
              <a:lnSpc>
                <a:spcPct val="120000"/>
              </a:lnSpc>
              <a:defRPr/>
            </a:pPr>
            <a:r>
              <a:rPr lang="en-US" altLang="zh-CN" sz="2000" dirty="0">
                <a:latin typeface="+mn-ea"/>
              </a:rPr>
              <a:t>AW</a:t>
            </a:r>
            <a:r>
              <a:rPr lang="zh-CN" altLang="en-US" sz="2000" dirty="0">
                <a:latin typeface="+mn-ea"/>
              </a:rPr>
              <a:t>：</a:t>
            </a:r>
            <a:r>
              <a:rPr lang="zh-CN" altLang="en-US" sz="2000" dirty="0">
                <a:latin typeface="黑体" panose="02010609060101010101" pitchFamily="49" charset="-122"/>
                <a:ea typeface="黑体" panose="02010609060101010101" pitchFamily="49" charset="-122"/>
              </a:rPr>
              <a:t>贝叶斯公式实质上是通过观察</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把状态的先验概率</a:t>
            </a:r>
            <a:r>
              <a:rPr lang="en-US" altLang="zh-CN" sz="2000" dirty="0">
                <a:latin typeface="黑体" panose="02010609060101010101" pitchFamily="49" charset="-122"/>
                <a:ea typeface="黑体" panose="02010609060101010101" pitchFamily="49" charset="-122"/>
              </a:rPr>
              <a:t>P(A</a:t>
            </a:r>
            <a:r>
              <a:rPr lang="en-US" altLang="zh-CN" sz="2000" baseline="-25000" dirty="0">
                <a:latin typeface="黑体" panose="02010609060101010101" pitchFamily="49" charset="-122"/>
                <a:ea typeface="黑体" panose="02010609060101010101" pitchFamily="49" charset="-122"/>
              </a:rPr>
              <a:t>i</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 转化为状态的后验概率</a:t>
            </a:r>
            <a:r>
              <a:rPr lang="en-US" altLang="zh-CN" sz="2000" dirty="0">
                <a:latin typeface="黑体" panose="02010609060101010101" pitchFamily="49" charset="-122"/>
                <a:ea typeface="黑体" panose="02010609060101010101" pitchFamily="49" charset="-122"/>
              </a:rPr>
              <a:t>P(</a:t>
            </a:r>
            <a:r>
              <a:rPr lang="en-US" altLang="zh-CN" sz="2000" dirty="0" err="1">
                <a:latin typeface="黑体" panose="02010609060101010101" pitchFamily="49" charset="-122"/>
                <a:ea typeface="黑体" panose="02010609060101010101" pitchFamily="49" charset="-122"/>
              </a:rPr>
              <a:t>A</a:t>
            </a:r>
            <a:r>
              <a:rPr lang="en-US" altLang="zh-CN" sz="2000" baseline="-25000" dirty="0" err="1">
                <a:latin typeface="黑体" panose="02010609060101010101" pitchFamily="49" charset="-122"/>
                <a:ea typeface="黑体" panose="02010609060101010101" pitchFamily="49" charset="-122"/>
              </a:rPr>
              <a:t>i</a:t>
            </a:r>
            <a:r>
              <a:rPr lang="en-US" altLang="zh-CN" sz="2000" dirty="0" err="1">
                <a:latin typeface="黑体" panose="02010609060101010101" pitchFamily="49" charset="-122"/>
                <a:ea typeface="黑体" panose="02010609060101010101" pitchFamily="49" charset="-122"/>
              </a:rPr>
              <a:t>|B</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   </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469818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 Box 6"/>
          <p:cNvSpPr txBox="1">
            <a:spLocks noChangeArrowheads="1"/>
          </p:cNvSpPr>
          <p:nvPr/>
        </p:nvSpPr>
        <p:spPr bwMode="auto">
          <a:xfrm>
            <a:off x="288470" y="1619034"/>
            <a:ext cx="11567030" cy="430887"/>
          </a:xfrm>
          <a:prstGeom prst="rect">
            <a:avLst/>
          </a:prstGeom>
          <a:noFill/>
          <a:ln w="9525">
            <a:noFill/>
            <a:miter lim="800000"/>
            <a:headEnd/>
            <a:tailEnd/>
          </a:ln>
        </p:spPr>
        <p:txBody>
          <a:bodyPr wrap="square">
            <a:spAutoFit/>
          </a:bodyPr>
          <a:lstStyle/>
          <a:p>
            <a:pPr algn="just" eaLnBrk="0" hangingPunct="0">
              <a:spcBef>
                <a:spcPct val="50000"/>
              </a:spcBef>
              <a:defRPr/>
            </a:pPr>
            <a:r>
              <a:rPr lang="zh-CN" altLang="en-US" sz="2200" b="0" dirty="0">
                <a:solidFill>
                  <a:schemeClr val="tx1"/>
                </a:solidFill>
                <a:latin typeface="黑体" panose="02010609060101010101" pitchFamily="49" charset="-122"/>
                <a:ea typeface="黑体" panose="02010609060101010101" pitchFamily="49" charset="-122"/>
              </a:rPr>
              <a:t>设</a:t>
            </a:r>
            <a:r>
              <a:rPr lang="en-US" altLang="zh-CN" sz="2200" b="0" dirty="0">
                <a:solidFill>
                  <a:schemeClr val="tx1"/>
                </a:solidFill>
                <a:latin typeface="黑体" panose="02010609060101010101" pitchFamily="49" charset="-122"/>
                <a:ea typeface="黑体" panose="02010609060101010101" pitchFamily="49" charset="-122"/>
              </a:rPr>
              <a:t>A</a:t>
            </a:r>
            <a:r>
              <a:rPr lang="en-US" altLang="zh-CN" sz="2200" b="0" baseline="-25000" dirty="0">
                <a:solidFill>
                  <a:schemeClr val="tx1"/>
                </a:solidFill>
                <a:latin typeface="黑体" panose="02010609060101010101" pitchFamily="49" charset="-122"/>
                <a:ea typeface="黑体" panose="02010609060101010101" pitchFamily="49" charset="-122"/>
              </a:rPr>
              <a:t>1</a:t>
            </a:r>
            <a:r>
              <a:rPr lang="en-US" altLang="zh-CN" sz="2200" b="0" dirty="0">
                <a:solidFill>
                  <a:schemeClr val="tx1"/>
                </a:solidFill>
                <a:latin typeface="黑体" panose="02010609060101010101" pitchFamily="49" charset="-122"/>
                <a:ea typeface="黑体" panose="02010609060101010101" pitchFamily="49" charset="-122"/>
              </a:rPr>
              <a:t>,A</a:t>
            </a:r>
            <a:r>
              <a:rPr lang="en-US" altLang="zh-CN" sz="2200" b="0" baseline="-25000" dirty="0">
                <a:solidFill>
                  <a:schemeClr val="tx1"/>
                </a:solidFill>
                <a:latin typeface="黑体" panose="02010609060101010101" pitchFamily="49" charset="-122"/>
                <a:ea typeface="黑体" panose="02010609060101010101" pitchFamily="49" charset="-122"/>
              </a:rPr>
              <a:t>2</a:t>
            </a:r>
            <a:r>
              <a:rPr lang="en-US" altLang="zh-CN" sz="2200" b="0" dirty="0">
                <a:solidFill>
                  <a:schemeClr val="tx1"/>
                </a:solidFill>
                <a:latin typeface="黑体" panose="02010609060101010101" pitchFamily="49" charset="-122"/>
                <a:ea typeface="黑体" panose="02010609060101010101" pitchFamily="49" charset="-122"/>
              </a:rPr>
              <a:t>,…,A</a:t>
            </a:r>
            <a:r>
              <a:rPr lang="en-US" altLang="zh-CN" sz="2200" b="0" baseline="-25000" dirty="0">
                <a:solidFill>
                  <a:schemeClr val="tx1"/>
                </a:solidFill>
                <a:latin typeface="黑体" panose="02010609060101010101" pitchFamily="49" charset="-122"/>
                <a:ea typeface="黑体" panose="02010609060101010101" pitchFamily="49" charset="-122"/>
              </a:rPr>
              <a:t>n</a:t>
            </a:r>
            <a:r>
              <a:rPr lang="zh-CN" altLang="en-US" sz="2200" b="0" dirty="0">
                <a:solidFill>
                  <a:schemeClr val="tx1"/>
                </a:solidFill>
                <a:latin typeface="黑体" panose="02010609060101010101" pitchFamily="49" charset="-122"/>
                <a:ea typeface="黑体" panose="02010609060101010101" pitchFamily="49" charset="-122"/>
              </a:rPr>
              <a:t>是样本空间中的完备事件组且</a:t>
            </a:r>
            <a:r>
              <a:rPr lang="en-US" altLang="zh-CN" sz="2200" b="0" dirty="0">
                <a:solidFill>
                  <a:schemeClr val="tx1"/>
                </a:solidFill>
                <a:latin typeface="黑体" panose="02010609060101010101" pitchFamily="49" charset="-122"/>
                <a:ea typeface="黑体" panose="02010609060101010101" pitchFamily="49" charset="-122"/>
              </a:rPr>
              <a:t>P(A</a:t>
            </a:r>
            <a:r>
              <a:rPr lang="en-US" altLang="zh-CN" sz="2200" b="0" baseline="-25000" dirty="0">
                <a:solidFill>
                  <a:schemeClr val="tx1"/>
                </a:solidFill>
                <a:latin typeface="黑体" panose="02010609060101010101" pitchFamily="49" charset="-122"/>
                <a:ea typeface="黑体" panose="02010609060101010101" pitchFamily="49" charset="-122"/>
              </a:rPr>
              <a:t>i</a:t>
            </a:r>
            <a:r>
              <a:rPr lang="en-US" altLang="zh-CN" sz="2200" b="0" dirty="0">
                <a:solidFill>
                  <a:schemeClr val="tx1"/>
                </a:solidFill>
                <a:latin typeface="黑体" panose="02010609060101010101" pitchFamily="49" charset="-122"/>
                <a:ea typeface="黑体" panose="02010609060101010101" pitchFamily="49" charset="-122"/>
              </a:rPr>
              <a:t>)&gt;0，i=1,2,…,n, </a:t>
            </a:r>
            <a:r>
              <a:rPr lang="zh-CN" altLang="en-US" sz="2200" b="0" dirty="0">
                <a:solidFill>
                  <a:schemeClr val="tx1"/>
                </a:solidFill>
                <a:latin typeface="黑体" panose="02010609060101010101" pitchFamily="49" charset="-122"/>
                <a:ea typeface="黑体" panose="02010609060101010101" pitchFamily="49" charset="-122"/>
              </a:rPr>
              <a:t>另有一事件</a:t>
            </a:r>
            <a:r>
              <a:rPr lang="en-US" altLang="zh-CN" sz="2200" b="0" dirty="0">
                <a:solidFill>
                  <a:schemeClr val="tx1"/>
                </a:solidFill>
                <a:latin typeface="黑体" panose="02010609060101010101" pitchFamily="49" charset="-122"/>
                <a:ea typeface="黑体" panose="02010609060101010101" pitchFamily="49" charset="-122"/>
              </a:rPr>
              <a:t>B，</a:t>
            </a:r>
            <a:r>
              <a:rPr lang="zh-CN" altLang="en-US" sz="2200" b="0" dirty="0">
                <a:solidFill>
                  <a:schemeClr val="tx1"/>
                </a:solidFill>
                <a:latin typeface="黑体" panose="02010609060101010101" pitchFamily="49" charset="-122"/>
                <a:ea typeface="黑体" panose="02010609060101010101" pitchFamily="49" charset="-122"/>
              </a:rPr>
              <a:t>则有 </a:t>
            </a:r>
          </a:p>
        </p:txBody>
      </p:sp>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11</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13.1 </a:t>
            </a:r>
            <a:r>
              <a:rPr lang="zh-CN" altLang="zh-CN" dirty="0"/>
              <a:t>最小错误率贝叶斯决策</a:t>
            </a:r>
          </a:p>
        </p:txBody>
      </p:sp>
      <p:graphicFrame>
        <p:nvGraphicFramePr>
          <p:cNvPr id="29" name="Object 3"/>
          <p:cNvGraphicFramePr>
            <a:graphicFrameLocks noChangeAspect="1"/>
          </p:cNvGraphicFramePr>
          <p:nvPr>
            <p:extLst>
              <p:ext uri="{D42A27DB-BD31-4B8C-83A1-F6EECF244321}">
                <p14:modId xmlns:p14="http://schemas.microsoft.com/office/powerpoint/2010/main" val="2252427671"/>
              </p:ext>
            </p:extLst>
          </p:nvPr>
        </p:nvGraphicFramePr>
        <p:xfrm>
          <a:off x="2639616" y="2421158"/>
          <a:ext cx="6120680" cy="1149790"/>
        </p:xfrm>
        <a:graphic>
          <a:graphicData uri="http://schemas.openxmlformats.org/presentationml/2006/ole">
            <mc:AlternateContent xmlns:mc="http://schemas.openxmlformats.org/markup-compatibility/2006">
              <mc:Choice xmlns:v="urn:schemas-microsoft-com:vml" Requires="v">
                <p:oleObj spid="_x0000_s4215" name="Equation" r:id="rId4" imgW="2631600" imgH="475200" progId="Equation.DSMT4">
                  <p:embed/>
                </p:oleObj>
              </mc:Choice>
              <mc:Fallback>
                <p:oleObj name="Equation" r:id="rId4" imgW="2631600" imgH="475200" progId="Equation.DSMT4">
                  <p:embed/>
                  <p:pic>
                    <p:nvPicPr>
                      <p:cNvPr id="0" name="Picture 1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39616" y="2421158"/>
                        <a:ext cx="6120680" cy="11497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椭圆 29"/>
          <p:cNvSpPr/>
          <p:nvPr/>
        </p:nvSpPr>
        <p:spPr>
          <a:xfrm>
            <a:off x="7124016" y="2421157"/>
            <a:ext cx="692182" cy="33456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1" name="椭圆 30"/>
          <p:cNvSpPr/>
          <p:nvPr/>
        </p:nvSpPr>
        <p:spPr>
          <a:xfrm>
            <a:off x="2649536" y="2512402"/>
            <a:ext cx="1038272" cy="48664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34" name="直接连接符 33"/>
          <p:cNvCxnSpPr>
            <a:endCxn id="30" idx="0"/>
          </p:cNvCxnSpPr>
          <p:nvPr/>
        </p:nvCxnSpPr>
        <p:spPr>
          <a:xfrm>
            <a:off x="7470107" y="2276872"/>
            <a:ext cx="0" cy="14428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endCxn id="31" idx="0"/>
          </p:cNvCxnSpPr>
          <p:nvPr/>
        </p:nvCxnSpPr>
        <p:spPr>
          <a:xfrm>
            <a:off x="3168672" y="2276872"/>
            <a:ext cx="0" cy="23553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3168672" y="2276872"/>
            <a:ext cx="430143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42" name="矩形 41"/>
          <p:cNvSpPr/>
          <p:nvPr/>
        </p:nvSpPr>
        <p:spPr>
          <a:xfrm>
            <a:off x="304132" y="1076139"/>
            <a:ext cx="198002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贝叶斯公式</a:t>
            </a:r>
            <a:endParaRPr lang="zh-CN" altLang="en-US" sz="2800" b="1" dirty="0">
              <a:solidFill>
                <a:srgbClr val="FF0000"/>
              </a:solidFill>
              <a:ea typeface="黑体" panose="02010609060101010101" pitchFamily="49" charset="-122"/>
            </a:endParaRPr>
          </a:p>
        </p:txBody>
      </p:sp>
      <p:pic>
        <p:nvPicPr>
          <p:cNvPr id="17" name="Picture 10"/>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1956701" y="5085184"/>
            <a:ext cx="8027731" cy="864096"/>
          </a:xfrm>
          <a:prstGeom prst="rect">
            <a:avLst/>
          </a:prstGeom>
          <a:solidFill>
            <a:schemeClr val="accent1">
              <a:lumMod val="20000"/>
              <a:lumOff val="80000"/>
            </a:schemeClr>
          </a:solidFill>
        </p:spPr>
      </p:pic>
      <p:sp>
        <p:nvSpPr>
          <p:cNvPr id="18" name="Rectangle 6"/>
          <p:cNvSpPr txBox="1">
            <a:spLocks noChangeArrowheads="1"/>
          </p:cNvSpPr>
          <p:nvPr/>
        </p:nvSpPr>
        <p:spPr bwMode="auto">
          <a:xfrm>
            <a:off x="407368" y="3794173"/>
            <a:ext cx="11500294" cy="1045363"/>
          </a:xfrm>
          <a:prstGeom prst="rect">
            <a:avLst/>
          </a:prstGeom>
          <a:noFill/>
          <a:ln w="9525">
            <a:noFill/>
            <a:miter lim="800000"/>
            <a:headEnd/>
            <a:tailEnd/>
          </a:ln>
        </p:spPr>
        <p:txBody>
          <a:bodyPr/>
          <a:lstStyle/>
          <a:p>
            <a:pPr fontAlgn="auto">
              <a:lnSpc>
                <a:spcPct val="130000"/>
              </a:lnSpc>
              <a:spcBef>
                <a:spcPts val="600"/>
              </a:spcBef>
              <a:spcAft>
                <a:spcPts val="0"/>
              </a:spcAft>
              <a:buClr>
                <a:schemeClr val="tx2"/>
              </a:buClr>
              <a:buSzPct val="100000"/>
              <a:defRPr/>
            </a:pPr>
            <a:r>
              <a:rPr lang="zh-CN" altLang="en-US" sz="2200" dirty="0">
                <a:solidFill>
                  <a:srgbClr val="0000FF"/>
                </a:solidFill>
                <a:latin typeface="黑体" panose="02010609060101010101" pitchFamily="49" charset="-122"/>
                <a:ea typeface="黑体" panose="02010609060101010101" pitchFamily="49" charset="-122"/>
              </a:rPr>
              <a:t>后验概率一般是指利用贝叶斯公式，结合调查等方式获取了新的附加信息，对先验概率进行修正后得到的更符合实际的概率。</a:t>
            </a:r>
          </a:p>
          <a:p>
            <a:pPr marL="342900" indent="-342900" fontAlgn="auto">
              <a:spcBef>
                <a:spcPct val="20000"/>
              </a:spcBef>
              <a:spcAft>
                <a:spcPts val="0"/>
              </a:spcAft>
              <a:buClr>
                <a:schemeClr val="tx2"/>
              </a:buClr>
              <a:buSzPct val="50000"/>
              <a:buFont typeface="Wingdings 2"/>
              <a:buChar char="ß"/>
              <a:defRPr/>
            </a:pPr>
            <a:endParaRPr kumimoji="0" lang="en-US" altLang="zh-CN" sz="2200" b="0" dirty="0">
              <a:solidFill>
                <a:schemeClr val="tx1"/>
              </a:solidFill>
              <a:latin typeface="+mn-ea"/>
              <a:ea typeface="+mn-ea"/>
            </a:endParaRPr>
          </a:p>
          <a:p>
            <a:pPr marL="342900" indent="-342900" fontAlgn="auto">
              <a:spcBef>
                <a:spcPct val="20000"/>
              </a:spcBef>
              <a:spcAft>
                <a:spcPts val="0"/>
              </a:spcAft>
              <a:buClr>
                <a:schemeClr val="tx2"/>
              </a:buClr>
              <a:buSzPct val="50000"/>
              <a:buFont typeface="Wingdings 2"/>
              <a:buChar char="ß"/>
              <a:defRPr/>
            </a:pPr>
            <a:endParaRPr kumimoji="0" lang="en-US" altLang="zh-CN" sz="2200" b="0" dirty="0">
              <a:solidFill>
                <a:schemeClr val="tx1"/>
              </a:solidFill>
              <a:latin typeface="+mn-ea"/>
              <a:ea typeface="+mn-ea"/>
            </a:endParaRPr>
          </a:p>
        </p:txBody>
      </p:sp>
    </p:spTree>
    <p:extLst>
      <p:ext uri="{BB962C8B-B14F-4D97-AF65-F5344CB8AC3E}">
        <p14:creationId xmlns:p14="http://schemas.microsoft.com/office/powerpoint/2010/main" val="2219351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 Box 6"/>
          <p:cNvSpPr txBox="1">
            <a:spLocks noChangeArrowheads="1"/>
          </p:cNvSpPr>
          <p:nvPr/>
        </p:nvSpPr>
        <p:spPr bwMode="auto">
          <a:xfrm>
            <a:off x="288470" y="1619034"/>
            <a:ext cx="11567030" cy="430887"/>
          </a:xfrm>
          <a:prstGeom prst="rect">
            <a:avLst/>
          </a:prstGeom>
          <a:noFill/>
          <a:ln w="9525">
            <a:noFill/>
            <a:miter lim="800000"/>
            <a:headEnd/>
            <a:tailEnd/>
          </a:ln>
        </p:spPr>
        <p:txBody>
          <a:bodyPr wrap="square">
            <a:spAutoFit/>
          </a:bodyPr>
          <a:lstStyle/>
          <a:p>
            <a:pPr algn="just" eaLnBrk="0" hangingPunct="0">
              <a:spcBef>
                <a:spcPct val="50000"/>
              </a:spcBef>
              <a:defRPr/>
            </a:pPr>
            <a:r>
              <a:rPr lang="zh-CN" altLang="en-US" sz="2200" b="0" dirty="0">
                <a:solidFill>
                  <a:schemeClr val="tx1"/>
                </a:solidFill>
                <a:latin typeface="黑体" panose="02010609060101010101" pitchFamily="49" charset="-122"/>
                <a:ea typeface="黑体" panose="02010609060101010101" pitchFamily="49" charset="-122"/>
              </a:rPr>
              <a:t>设</a:t>
            </a:r>
            <a:r>
              <a:rPr lang="en-US" altLang="zh-CN" sz="2200" b="0" dirty="0">
                <a:solidFill>
                  <a:schemeClr val="tx1"/>
                </a:solidFill>
                <a:latin typeface="黑体" panose="02010609060101010101" pitchFamily="49" charset="-122"/>
                <a:ea typeface="黑体" panose="02010609060101010101" pitchFamily="49" charset="-122"/>
              </a:rPr>
              <a:t>A</a:t>
            </a:r>
            <a:r>
              <a:rPr lang="en-US" altLang="zh-CN" sz="2200" b="0" baseline="-25000" dirty="0">
                <a:solidFill>
                  <a:schemeClr val="tx1"/>
                </a:solidFill>
                <a:latin typeface="黑体" panose="02010609060101010101" pitchFamily="49" charset="-122"/>
                <a:ea typeface="黑体" panose="02010609060101010101" pitchFamily="49" charset="-122"/>
              </a:rPr>
              <a:t>1</a:t>
            </a:r>
            <a:r>
              <a:rPr lang="en-US" altLang="zh-CN" sz="2200" b="0" dirty="0">
                <a:solidFill>
                  <a:schemeClr val="tx1"/>
                </a:solidFill>
                <a:latin typeface="黑体" panose="02010609060101010101" pitchFamily="49" charset="-122"/>
                <a:ea typeface="黑体" panose="02010609060101010101" pitchFamily="49" charset="-122"/>
              </a:rPr>
              <a:t>,A</a:t>
            </a:r>
            <a:r>
              <a:rPr lang="en-US" altLang="zh-CN" sz="2200" b="0" baseline="-25000" dirty="0">
                <a:solidFill>
                  <a:schemeClr val="tx1"/>
                </a:solidFill>
                <a:latin typeface="黑体" panose="02010609060101010101" pitchFamily="49" charset="-122"/>
                <a:ea typeface="黑体" panose="02010609060101010101" pitchFamily="49" charset="-122"/>
              </a:rPr>
              <a:t>2</a:t>
            </a:r>
            <a:r>
              <a:rPr lang="en-US" altLang="zh-CN" sz="2200" b="0" dirty="0">
                <a:solidFill>
                  <a:schemeClr val="tx1"/>
                </a:solidFill>
                <a:latin typeface="黑体" panose="02010609060101010101" pitchFamily="49" charset="-122"/>
                <a:ea typeface="黑体" panose="02010609060101010101" pitchFamily="49" charset="-122"/>
              </a:rPr>
              <a:t>,…,A</a:t>
            </a:r>
            <a:r>
              <a:rPr lang="en-US" altLang="zh-CN" sz="2200" b="0" baseline="-25000" dirty="0">
                <a:solidFill>
                  <a:schemeClr val="tx1"/>
                </a:solidFill>
                <a:latin typeface="黑体" panose="02010609060101010101" pitchFamily="49" charset="-122"/>
                <a:ea typeface="黑体" panose="02010609060101010101" pitchFamily="49" charset="-122"/>
              </a:rPr>
              <a:t>n</a:t>
            </a:r>
            <a:r>
              <a:rPr lang="zh-CN" altLang="en-US" sz="2200" b="0" dirty="0">
                <a:solidFill>
                  <a:schemeClr val="tx1"/>
                </a:solidFill>
                <a:latin typeface="黑体" panose="02010609060101010101" pitchFamily="49" charset="-122"/>
                <a:ea typeface="黑体" panose="02010609060101010101" pitchFamily="49" charset="-122"/>
              </a:rPr>
              <a:t>是样本空间中的完备事件组且</a:t>
            </a:r>
            <a:r>
              <a:rPr lang="en-US" altLang="zh-CN" sz="2200" b="0" dirty="0">
                <a:solidFill>
                  <a:schemeClr val="tx1"/>
                </a:solidFill>
                <a:latin typeface="黑体" panose="02010609060101010101" pitchFamily="49" charset="-122"/>
                <a:ea typeface="黑体" panose="02010609060101010101" pitchFamily="49" charset="-122"/>
              </a:rPr>
              <a:t>P(A</a:t>
            </a:r>
            <a:r>
              <a:rPr lang="en-US" altLang="zh-CN" sz="2200" b="0" baseline="-25000" dirty="0">
                <a:solidFill>
                  <a:schemeClr val="tx1"/>
                </a:solidFill>
                <a:latin typeface="黑体" panose="02010609060101010101" pitchFamily="49" charset="-122"/>
                <a:ea typeface="黑体" panose="02010609060101010101" pitchFamily="49" charset="-122"/>
              </a:rPr>
              <a:t>i</a:t>
            </a:r>
            <a:r>
              <a:rPr lang="en-US" altLang="zh-CN" sz="2200" b="0" dirty="0">
                <a:solidFill>
                  <a:schemeClr val="tx1"/>
                </a:solidFill>
                <a:latin typeface="黑体" panose="02010609060101010101" pitchFamily="49" charset="-122"/>
                <a:ea typeface="黑体" panose="02010609060101010101" pitchFamily="49" charset="-122"/>
              </a:rPr>
              <a:t>)&gt;0，i=1,2,…,n, </a:t>
            </a:r>
            <a:r>
              <a:rPr lang="zh-CN" altLang="en-US" sz="2200" b="0" dirty="0">
                <a:solidFill>
                  <a:schemeClr val="tx1"/>
                </a:solidFill>
                <a:latin typeface="黑体" panose="02010609060101010101" pitchFamily="49" charset="-122"/>
                <a:ea typeface="黑体" panose="02010609060101010101" pitchFamily="49" charset="-122"/>
              </a:rPr>
              <a:t>另有一事件</a:t>
            </a:r>
            <a:r>
              <a:rPr lang="en-US" altLang="zh-CN" sz="2200" b="0" dirty="0">
                <a:solidFill>
                  <a:schemeClr val="tx1"/>
                </a:solidFill>
                <a:latin typeface="黑体" panose="02010609060101010101" pitchFamily="49" charset="-122"/>
                <a:ea typeface="黑体" panose="02010609060101010101" pitchFamily="49" charset="-122"/>
              </a:rPr>
              <a:t>B，</a:t>
            </a:r>
            <a:r>
              <a:rPr lang="zh-CN" altLang="en-US" sz="2200" b="0" dirty="0">
                <a:solidFill>
                  <a:schemeClr val="tx1"/>
                </a:solidFill>
                <a:latin typeface="黑体" panose="02010609060101010101" pitchFamily="49" charset="-122"/>
                <a:ea typeface="黑体" panose="02010609060101010101" pitchFamily="49" charset="-122"/>
              </a:rPr>
              <a:t>则有 </a:t>
            </a:r>
          </a:p>
        </p:txBody>
      </p:sp>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12</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13.1 </a:t>
            </a:r>
            <a:r>
              <a:rPr lang="zh-CN" altLang="zh-CN" dirty="0"/>
              <a:t>最小错误率贝叶斯决策</a:t>
            </a:r>
          </a:p>
        </p:txBody>
      </p:sp>
      <p:graphicFrame>
        <p:nvGraphicFramePr>
          <p:cNvPr id="29" name="Object 3"/>
          <p:cNvGraphicFramePr>
            <a:graphicFrameLocks noChangeAspect="1"/>
          </p:cNvGraphicFramePr>
          <p:nvPr>
            <p:extLst>
              <p:ext uri="{D42A27DB-BD31-4B8C-83A1-F6EECF244321}">
                <p14:modId xmlns:p14="http://schemas.microsoft.com/office/powerpoint/2010/main" val="3734718558"/>
              </p:ext>
            </p:extLst>
          </p:nvPr>
        </p:nvGraphicFramePr>
        <p:xfrm>
          <a:off x="2632075" y="2403475"/>
          <a:ext cx="6135688" cy="1184275"/>
        </p:xfrm>
        <a:graphic>
          <a:graphicData uri="http://schemas.openxmlformats.org/presentationml/2006/ole">
            <mc:AlternateContent xmlns:mc="http://schemas.openxmlformats.org/markup-compatibility/2006">
              <mc:Choice xmlns:v="urn:schemas-microsoft-com:vml" Requires="v">
                <p:oleObj spid="_x0000_s8424" name="Equation" r:id="rId4" imgW="3466800" imgH="647640" progId="Equation.DSMT4">
                  <p:embed/>
                </p:oleObj>
              </mc:Choice>
              <mc:Fallback>
                <p:oleObj name="Equation" r:id="rId4" imgW="3466800" imgH="647640" progId="Equation.DSMT4">
                  <p:embed/>
                  <p:pic>
                    <p:nvPicPr>
                      <p:cNvPr id="0" name="Picture 2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32075" y="2403475"/>
                        <a:ext cx="6135688" cy="1184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椭圆 29"/>
          <p:cNvSpPr/>
          <p:nvPr/>
        </p:nvSpPr>
        <p:spPr>
          <a:xfrm>
            <a:off x="8075581" y="2403475"/>
            <a:ext cx="692182" cy="33456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1" name="椭圆 30"/>
          <p:cNvSpPr/>
          <p:nvPr/>
        </p:nvSpPr>
        <p:spPr>
          <a:xfrm>
            <a:off x="2649536" y="2512402"/>
            <a:ext cx="1038272" cy="48664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34" name="直接连接符 33"/>
          <p:cNvCxnSpPr/>
          <p:nvPr/>
        </p:nvCxnSpPr>
        <p:spPr>
          <a:xfrm>
            <a:off x="8400256" y="2276872"/>
            <a:ext cx="0" cy="14428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endCxn id="31" idx="0"/>
          </p:cNvCxnSpPr>
          <p:nvPr/>
        </p:nvCxnSpPr>
        <p:spPr>
          <a:xfrm>
            <a:off x="3168672" y="2276872"/>
            <a:ext cx="0" cy="23553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3168672" y="2276872"/>
            <a:ext cx="523158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42" name="矩形 41"/>
          <p:cNvSpPr/>
          <p:nvPr/>
        </p:nvSpPr>
        <p:spPr>
          <a:xfrm>
            <a:off x="304132" y="1076139"/>
            <a:ext cx="198002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贝叶斯公式</a:t>
            </a:r>
            <a:endParaRPr lang="zh-CN" altLang="en-US" sz="2800" b="1" dirty="0">
              <a:solidFill>
                <a:srgbClr val="FF0000"/>
              </a:solidFill>
              <a:ea typeface="黑体" panose="02010609060101010101" pitchFamily="49" charset="-122"/>
            </a:endParaRPr>
          </a:p>
        </p:txBody>
      </p:sp>
      <p:graphicFrame>
        <p:nvGraphicFramePr>
          <p:cNvPr id="19" name="Object 3"/>
          <p:cNvGraphicFramePr>
            <a:graphicFrameLocks noChangeAspect="1"/>
          </p:cNvGraphicFramePr>
          <p:nvPr>
            <p:extLst>
              <p:ext uri="{D42A27DB-BD31-4B8C-83A1-F6EECF244321}">
                <p14:modId xmlns:p14="http://schemas.microsoft.com/office/powerpoint/2010/main" val="2243910015"/>
              </p:ext>
            </p:extLst>
          </p:nvPr>
        </p:nvGraphicFramePr>
        <p:xfrm>
          <a:off x="3791744" y="3789040"/>
          <a:ext cx="3371986" cy="890438"/>
        </p:xfrm>
        <a:graphic>
          <a:graphicData uri="http://schemas.openxmlformats.org/presentationml/2006/ole">
            <mc:AlternateContent xmlns:mc="http://schemas.openxmlformats.org/markup-compatibility/2006">
              <mc:Choice xmlns:v="urn:schemas-microsoft-com:vml" Requires="v">
                <p:oleObj spid="_x0000_s8425" name="Equation" r:id="rId6" imgW="30616920" imgH="7826400" progId="Equation.DSMT4">
                  <p:embed/>
                </p:oleObj>
              </mc:Choice>
              <mc:Fallback>
                <p:oleObj name="Equation" r:id="rId6" imgW="30616920" imgH="7826400" progId="Equation.DSMT4">
                  <p:embed/>
                  <p:pic>
                    <p:nvPicPr>
                      <p:cNvPr id="0" name="Picture 2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91744" y="3789040"/>
                        <a:ext cx="3371986" cy="890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p:cNvSpPr/>
          <p:nvPr/>
        </p:nvSpPr>
        <p:spPr>
          <a:xfrm>
            <a:off x="310284" y="3501008"/>
            <a:ext cx="4134465" cy="430887"/>
          </a:xfrm>
          <a:prstGeom prst="rect">
            <a:avLst/>
          </a:prstGeom>
        </p:spPr>
        <p:txBody>
          <a:bodyPr wrap="none">
            <a:spAutoFit/>
          </a:bodyPr>
          <a:lstStyle/>
          <a:p>
            <a:pPr>
              <a:defRPr/>
            </a:pPr>
            <a:r>
              <a:rPr lang="zh-CN" altLang="en-US" sz="2200" dirty="0">
                <a:latin typeface="黑体" panose="02010609060101010101" pitchFamily="49" charset="-122"/>
                <a:ea typeface="黑体" panose="02010609060101010101" pitchFamily="49" charset="-122"/>
              </a:rPr>
              <a:t>模式识别领域贝叶斯公式形式：</a:t>
            </a:r>
            <a:endParaRPr lang="en-US" altLang="zh-CN" sz="2200" dirty="0">
              <a:latin typeface="黑体" panose="02010609060101010101" pitchFamily="49" charset="-122"/>
              <a:ea typeface="黑体" panose="02010609060101010101" pitchFamily="49" charset="-122"/>
            </a:endParaRPr>
          </a:p>
        </p:txBody>
      </p:sp>
      <p:sp>
        <p:nvSpPr>
          <p:cNvPr id="21" name="矩形 20"/>
          <p:cNvSpPr>
            <a:spLocks noChangeArrowheads="1"/>
          </p:cNvSpPr>
          <p:nvPr/>
        </p:nvSpPr>
        <p:spPr bwMode="auto">
          <a:xfrm>
            <a:off x="8767763" y="4077072"/>
            <a:ext cx="1776412" cy="338138"/>
          </a:xfrm>
          <a:prstGeom prst="rect">
            <a:avLst/>
          </a:prstGeom>
          <a:noFill/>
          <a:ln w="9525">
            <a:noFill/>
            <a:miter lim="800000"/>
            <a:headEnd/>
            <a:tailEnd/>
          </a:ln>
        </p:spPr>
        <p:txBody>
          <a:bodyPr wrap="none">
            <a:spAutoFit/>
          </a:bodyPr>
          <a:lstStyle/>
          <a:p>
            <a:r>
              <a:rPr lang="zh-CN" altLang="en-US" sz="1600" dirty="0">
                <a:solidFill>
                  <a:schemeClr val="tx1"/>
                </a:solidFill>
              </a:rPr>
              <a:t>概率密度</a:t>
            </a:r>
            <a:r>
              <a:rPr lang="en-US" altLang="zh-CN" sz="1600" dirty="0">
                <a:solidFill>
                  <a:schemeClr val="tx1"/>
                </a:solidFill>
              </a:rPr>
              <a:t>&lt;=&gt;</a:t>
            </a:r>
            <a:r>
              <a:rPr lang="zh-CN" altLang="en-US" sz="1600" dirty="0">
                <a:solidFill>
                  <a:schemeClr val="tx1"/>
                </a:solidFill>
              </a:rPr>
              <a:t>概率</a:t>
            </a:r>
          </a:p>
        </p:txBody>
      </p:sp>
      <p:sp>
        <p:nvSpPr>
          <p:cNvPr id="5" name="矩形 4"/>
          <p:cNvSpPr/>
          <p:nvPr/>
        </p:nvSpPr>
        <p:spPr>
          <a:xfrm>
            <a:off x="288470" y="5301208"/>
            <a:ext cx="11712186" cy="1107996"/>
          </a:xfrm>
          <a:prstGeom prst="rect">
            <a:avLst/>
          </a:prstGeom>
        </p:spPr>
        <p:txBody>
          <a:bodyPr wrap="square">
            <a:spAutoFit/>
          </a:bodyPr>
          <a:lstStyle/>
          <a:p>
            <a:pPr marL="0" indent="0">
              <a:lnSpc>
                <a:spcPct val="150000"/>
              </a:lnSpc>
              <a:buFont typeface="Wingdings 2" pitchFamily="18" charset="2"/>
              <a:buNone/>
              <a:defRPr/>
            </a:pPr>
            <a:r>
              <a:rPr lang="en-US" altLang="zh-CN" sz="2200" dirty="0">
                <a:latin typeface="+mn-ea"/>
              </a:rPr>
              <a:t>AW</a:t>
            </a:r>
            <a:r>
              <a:rPr lang="zh-CN" altLang="en-US" sz="2200" dirty="0">
                <a:latin typeface="+mn-ea"/>
              </a:rPr>
              <a:t>：对连续型随机变量，应用贝叶斯公式时，可以用概率密度函数乘以一个常数表示概率。由于所有的类别都乘了相同的常数，所以这个常数也可以忽略不计，直接用概率密度函数就行。</a:t>
            </a:r>
          </a:p>
        </p:txBody>
      </p:sp>
      <p:sp>
        <p:nvSpPr>
          <p:cNvPr id="6" name="矩形 5"/>
          <p:cNvSpPr/>
          <p:nvPr/>
        </p:nvSpPr>
        <p:spPr>
          <a:xfrm>
            <a:off x="407368" y="4725144"/>
            <a:ext cx="6893234" cy="539763"/>
          </a:xfrm>
          <a:prstGeom prst="rect">
            <a:avLst/>
          </a:prstGeom>
          <a:solidFill>
            <a:schemeClr val="accent2"/>
          </a:solidFill>
        </p:spPr>
        <p:txBody>
          <a:bodyPr wrap="none">
            <a:spAutoFit/>
          </a:bodyPr>
          <a:lstStyle/>
          <a:p>
            <a:pPr>
              <a:lnSpc>
                <a:spcPct val="150000"/>
              </a:lnSpc>
              <a:buFont typeface="Wingdings 2" pitchFamily="18" charset="2"/>
              <a:buNone/>
              <a:defRPr/>
            </a:pPr>
            <a:r>
              <a:rPr lang="en-US" altLang="zh-CN" sz="2200" dirty="0">
                <a:latin typeface="+mn-ea"/>
              </a:rPr>
              <a:t>Q</a:t>
            </a:r>
            <a:r>
              <a:rPr lang="zh-CN" altLang="en-US" sz="2200" dirty="0">
                <a:latin typeface="+mn-ea"/>
              </a:rPr>
              <a:t>：模式识别的贝叶斯公式中为什么可以用概率密度？</a:t>
            </a:r>
            <a:endParaRPr lang="en-US" altLang="zh-CN" sz="2200" dirty="0">
              <a:latin typeface="+mn-ea"/>
            </a:endParaRPr>
          </a:p>
        </p:txBody>
      </p:sp>
    </p:spTree>
    <p:extLst>
      <p:ext uri="{BB962C8B-B14F-4D97-AF65-F5344CB8AC3E}">
        <p14:creationId xmlns:p14="http://schemas.microsoft.com/office/powerpoint/2010/main" val="1053940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13</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13.1 </a:t>
            </a:r>
            <a:r>
              <a:rPr lang="zh-CN" altLang="zh-CN" dirty="0"/>
              <a:t>最小错误率贝叶斯决策</a:t>
            </a:r>
          </a:p>
        </p:txBody>
      </p:sp>
      <p:sp>
        <p:nvSpPr>
          <p:cNvPr id="42" name="矩形 41"/>
          <p:cNvSpPr/>
          <p:nvPr/>
        </p:nvSpPr>
        <p:spPr>
          <a:xfrm>
            <a:off x="304132" y="1076139"/>
            <a:ext cx="198002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贝叶斯决策</a:t>
            </a:r>
            <a:endParaRPr lang="zh-CN" altLang="en-US" sz="2800" b="1" dirty="0">
              <a:solidFill>
                <a:srgbClr val="FF0000"/>
              </a:solidFill>
              <a:ea typeface="黑体" panose="02010609060101010101" pitchFamily="49" charset="-122"/>
            </a:endParaRPr>
          </a:p>
        </p:txBody>
      </p:sp>
      <p:sp>
        <p:nvSpPr>
          <p:cNvPr id="20" name="Rectangle 3"/>
          <p:cNvSpPr txBox="1">
            <a:spLocks/>
          </p:cNvSpPr>
          <p:nvPr/>
        </p:nvSpPr>
        <p:spPr bwMode="gray">
          <a:xfrm>
            <a:off x="304132" y="1600200"/>
            <a:ext cx="11696524" cy="31765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nSpc>
                <a:spcPct val="130000"/>
              </a:lnSpc>
              <a:spcBef>
                <a:spcPts val="0"/>
              </a:spcBef>
              <a:buNone/>
            </a:pPr>
            <a:r>
              <a:rPr lang="zh-CN" altLang="en-US" sz="2400" kern="0" dirty="0"/>
              <a:t>贝叶斯决策是在不完全情报下，对部分未知状态用主观概率（先验）估计，然后用贝叶斯公式对发生概率（后验）进行修正，再利用期望值和修正概率做出最优决策。</a:t>
            </a:r>
          </a:p>
          <a:p>
            <a:pPr marL="0" indent="0">
              <a:lnSpc>
                <a:spcPct val="130000"/>
              </a:lnSpc>
              <a:spcBef>
                <a:spcPts val="1200"/>
              </a:spcBef>
              <a:buNone/>
            </a:pPr>
            <a:r>
              <a:rPr lang="zh-CN" altLang="en-US" sz="2400" kern="0" dirty="0"/>
              <a:t>贝叶斯决策理论方法是统计模型决策中的一个基本方法，其基本思想是：</a:t>
            </a:r>
          </a:p>
          <a:p>
            <a:pPr marL="0" indent="0">
              <a:lnSpc>
                <a:spcPct val="130000"/>
              </a:lnSpc>
              <a:spcBef>
                <a:spcPts val="1200"/>
              </a:spcBef>
              <a:buNone/>
            </a:pPr>
            <a:r>
              <a:rPr lang="en-US" altLang="zh-CN" sz="2400" kern="0" dirty="0">
                <a:solidFill>
                  <a:srgbClr val="0000FF"/>
                </a:solidFill>
              </a:rPr>
              <a:t>1. </a:t>
            </a:r>
            <a:r>
              <a:rPr lang="zh-CN" altLang="en-US" sz="2400" kern="0" dirty="0">
                <a:solidFill>
                  <a:srgbClr val="0000FF"/>
                </a:solidFill>
              </a:rPr>
              <a:t>已知类条件概率密度函数和先验概率</a:t>
            </a:r>
          </a:p>
          <a:p>
            <a:pPr marL="0" indent="0">
              <a:lnSpc>
                <a:spcPct val="130000"/>
              </a:lnSpc>
              <a:spcBef>
                <a:spcPts val="0"/>
              </a:spcBef>
              <a:buNone/>
            </a:pPr>
            <a:r>
              <a:rPr lang="en-US" altLang="zh-CN" sz="2400" kern="0" dirty="0">
                <a:solidFill>
                  <a:srgbClr val="0000FF"/>
                </a:solidFill>
              </a:rPr>
              <a:t>2. </a:t>
            </a:r>
            <a:r>
              <a:rPr lang="zh-CN" altLang="en-US" sz="2400" kern="0" dirty="0">
                <a:solidFill>
                  <a:srgbClr val="0000FF"/>
                </a:solidFill>
              </a:rPr>
              <a:t>利用贝叶斯公式转换成后验概率</a:t>
            </a:r>
          </a:p>
          <a:p>
            <a:pPr marL="0" indent="0">
              <a:lnSpc>
                <a:spcPct val="130000"/>
              </a:lnSpc>
              <a:spcBef>
                <a:spcPts val="0"/>
              </a:spcBef>
              <a:buNone/>
            </a:pPr>
            <a:r>
              <a:rPr lang="en-US" altLang="zh-CN" sz="2400" kern="0" dirty="0">
                <a:solidFill>
                  <a:srgbClr val="0000FF"/>
                </a:solidFill>
              </a:rPr>
              <a:t>3. </a:t>
            </a:r>
            <a:r>
              <a:rPr lang="zh-CN" altLang="en-US" sz="2400" kern="0" dirty="0">
                <a:solidFill>
                  <a:srgbClr val="0000FF"/>
                </a:solidFill>
              </a:rPr>
              <a:t>根据后验概率大小进行决策分类</a:t>
            </a:r>
          </a:p>
          <a:p>
            <a:pPr>
              <a:lnSpc>
                <a:spcPct val="80000"/>
              </a:lnSpc>
            </a:pPr>
            <a:endParaRPr lang="zh-CN" altLang="en-US" sz="2400" kern="0" dirty="0"/>
          </a:p>
        </p:txBody>
      </p:sp>
      <p:graphicFrame>
        <p:nvGraphicFramePr>
          <p:cNvPr id="22" name="Object 3"/>
          <p:cNvGraphicFramePr>
            <a:graphicFrameLocks noChangeAspect="1"/>
          </p:cNvGraphicFramePr>
          <p:nvPr>
            <p:extLst>
              <p:ext uri="{D42A27DB-BD31-4B8C-83A1-F6EECF244321}">
                <p14:modId xmlns:p14="http://schemas.microsoft.com/office/powerpoint/2010/main" val="3580774309"/>
              </p:ext>
            </p:extLst>
          </p:nvPr>
        </p:nvGraphicFramePr>
        <p:xfrm>
          <a:off x="6240016" y="4776788"/>
          <a:ext cx="3667125" cy="968375"/>
        </p:xfrm>
        <a:graphic>
          <a:graphicData uri="http://schemas.openxmlformats.org/presentationml/2006/ole">
            <mc:AlternateContent xmlns:mc="http://schemas.openxmlformats.org/markup-compatibility/2006">
              <mc:Choice xmlns:v="urn:schemas-microsoft-com:vml" Requires="v">
                <p:oleObj spid="_x0000_s9332" name="Equation" r:id="rId4" imgW="1268640" imgH="316800" progId="Equation.DSMT4">
                  <p:embed/>
                </p:oleObj>
              </mc:Choice>
              <mc:Fallback>
                <p:oleObj name="Equation" r:id="rId4" imgW="1268640" imgH="316800" progId="Equation.DSMT4">
                  <p:embed/>
                  <p:pic>
                    <p:nvPicPr>
                      <p:cNvPr id="0" name="Picture 1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0016" y="4776788"/>
                        <a:ext cx="3667125" cy="96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矩形 22"/>
          <p:cNvSpPr/>
          <p:nvPr/>
        </p:nvSpPr>
        <p:spPr>
          <a:xfrm>
            <a:off x="7454454" y="4133850"/>
            <a:ext cx="1857375" cy="708025"/>
          </a:xfrm>
          <a:prstGeom prst="rect">
            <a:avLst/>
          </a:prstGeom>
        </p:spPr>
        <p:txBody>
          <a:bodyPr>
            <a:spAutoFit/>
          </a:bodyPr>
          <a:lstStyle/>
          <a:p>
            <a:pPr algn="ctr">
              <a:defRPr/>
            </a:pPr>
            <a:r>
              <a:rPr lang="zh-CN" altLang="en-US" sz="2000" dirty="0">
                <a:solidFill>
                  <a:schemeClr val="accent2">
                    <a:lumMod val="75000"/>
                  </a:schemeClr>
                </a:solidFill>
              </a:rPr>
              <a:t>类条件概率</a:t>
            </a:r>
            <a:endParaRPr lang="en-US" altLang="zh-CN" sz="2000" dirty="0">
              <a:solidFill>
                <a:schemeClr val="accent2">
                  <a:lumMod val="75000"/>
                </a:schemeClr>
              </a:solidFill>
            </a:endParaRPr>
          </a:p>
          <a:p>
            <a:pPr algn="ctr">
              <a:defRPr/>
            </a:pPr>
            <a:r>
              <a:rPr lang="zh-CN" altLang="en-US" sz="2000" dirty="0">
                <a:solidFill>
                  <a:schemeClr val="accent2">
                    <a:lumMod val="75000"/>
                  </a:schemeClr>
                </a:solidFill>
              </a:rPr>
              <a:t>密度函数</a:t>
            </a:r>
          </a:p>
        </p:txBody>
      </p:sp>
      <p:sp>
        <p:nvSpPr>
          <p:cNvPr id="24" name="矩形 23"/>
          <p:cNvSpPr/>
          <p:nvPr/>
        </p:nvSpPr>
        <p:spPr>
          <a:xfrm>
            <a:off x="9121329" y="4133850"/>
            <a:ext cx="785812" cy="708025"/>
          </a:xfrm>
          <a:prstGeom prst="rect">
            <a:avLst/>
          </a:prstGeom>
        </p:spPr>
        <p:txBody>
          <a:bodyPr>
            <a:spAutoFit/>
          </a:bodyPr>
          <a:lstStyle/>
          <a:p>
            <a:pPr>
              <a:defRPr/>
            </a:pPr>
            <a:r>
              <a:rPr lang="zh-CN" altLang="en-US" sz="2000" dirty="0">
                <a:solidFill>
                  <a:schemeClr val="accent2">
                    <a:lumMod val="75000"/>
                  </a:schemeClr>
                </a:solidFill>
              </a:rPr>
              <a:t>先验概率</a:t>
            </a:r>
          </a:p>
        </p:txBody>
      </p:sp>
      <p:sp>
        <p:nvSpPr>
          <p:cNvPr id="25" name="矩形 24"/>
          <p:cNvSpPr/>
          <p:nvPr/>
        </p:nvSpPr>
        <p:spPr>
          <a:xfrm>
            <a:off x="9311829" y="5426075"/>
            <a:ext cx="2214562" cy="400050"/>
          </a:xfrm>
          <a:prstGeom prst="rect">
            <a:avLst/>
          </a:prstGeom>
        </p:spPr>
        <p:txBody>
          <a:bodyPr>
            <a:spAutoFit/>
          </a:bodyPr>
          <a:lstStyle/>
          <a:p>
            <a:pPr>
              <a:defRPr/>
            </a:pPr>
            <a:r>
              <a:rPr lang="zh-CN" altLang="en-US" sz="2000" dirty="0">
                <a:solidFill>
                  <a:schemeClr val="accent2">
                    <a:lumMod val="75000"/>
                  </a:schemeClr>
                </a:solidFill>
              </a:rPr>
              <a:t>证据因子</a:t>
            </a:r>
          </a:p>
        </p:txBody>
      </p:sp>
      <p:sp>
        <p:nvSpPr>
          <p:cNvPr id="4" name="矩形 3"/>
          <p:cNvSpPr/>
          <p:nvPr/>
        </p:nvSpPr>
        <p:spPr>
          <a:xfrm>
            <a:off x="6152394" y="5943094"/>
            <a:ext cx="5881738" cy="369332"/>
          </a:xfrm>
          <a:prstGeom prst="rect">
            <a:avLst/>
          </a:prstGeom>
        </p:spPr>
        <p:txBody>
          <a:bodyPr wrap="none">
            <a:spAutoFit/>
          </a:bodyPr>
          <a:lstStyle/>
          <a:p>
            <a:pPr marL="285750" indent="-285750">
              <a:buFont typeface="Arial" panose="020B0604020202020204" pitchFamily="34" charset="0"/>
              <a:buChar char="•"/>
              <a:defRPr/>
            </a:pPr>
            <a:r>
              <a:rPr lang="zh-CN" altLang="en-US" dirty="0">
                <a:solidFill>
                  <a:srgbClr val="CC9900"/>
                </a:solidFill>
              </a:rPr>
              <a:t>多个特征共同构成了待识别量</a:t>
            </a:r>
            <a:r>
              <a:rPr lang="en-US" altLang="zh-CN" dirty="0">
                <a:solidFill>
                  <a:srgbClr val="CC9900"/>
                </a:solidFill>
              </a:rPr>
              <a:t>X</a:t>
            </a:r>
            <a:r>
              <a:rPr lang="zh-CN" altLang="en-US" dirty="0">
                <a:solidFill>
                  <a:srgbClr val="CC9900"/>
                </a:solidFill>
              </a:rPr>
              <a:t>的描述</a:t>
            </a:r>
            <a:r>
              <a:rPr lang="en-US" altLang="zh-CN" dirty="0">
                <a:solidFill>
                  <a:srgbClr val="CC9900"/>
                </a:solidFill>
              </a:rPr>
              <a:t>X=(x</a:t>
            </a:r>
            <a:r>
              <a:rPr lang="en-US" altLang="zh-CN" baseline="-25000" dirty="0">
                <a:solidFill>
                  <a:srgbClr val="CC9900"/>
                </a:solidFill>
              </a:rPr>
              <a:t>1</a:t>
            </a:r>
            <a:r>
              <a:rPr lang="en-US" altLang="zh-CN" dirty="0">
                <a:solidFill>
                  <a:srgbClr val="CC9900"/>
                </a:solidFill>
              </a:rPr>
              <a:t>,x</a:t>
            </a:r>
            <a:r>
              <a:rPr lang="en-US" altLang="zh-CN" baseline="-25000" dirty="0">
                <a:solidFill>
                  <a:srgbClr val="CC9900"/>
                </a:solidFill>
              </a:rPr>
              <a:t>2</a:t>
            </a:r>
            <a:r>
              <a:rPr lang="en-US" altLang="zh-CN" dirty="0">
                <a:solidFill>
                  <a:srgbClr val="CC9900"/>
                </a:solidFill>
              </a:rPr>
              <a:t>,…,</a:t>
            </a:r>
            <a:r>
              <a:rPr lang="en-US" altLang="zh-CN" dirty="0" err="1">
                <a:solidFill>
                  <a:srgbClr val="CC9900"/>
                </a:solidFill>
              </a:rPr>
              <a:t>x</a:t>
            </a:r>
            <a:r>
              <a:rPr lang="en-US" altLang="zh-CN" baseline="-25000" dirty="0" err="1">
                <a:solidFill>
                  <a:srgbClr val="CC9900"/>
                </a:solidFill>
              </a:rPr>
              <a:t>n</a:t>
            </a:r>
            <a:r>
              <a:rPr lang="en-US" altLang="zh-CN" dirty="0">
                <a:solidFill>
                  <a:srgbClr val="CC9900"/>
                </a:solidFill>
              </a:rPr>
              <a:t>)</a:t>
            </a:r>
            <a:r>
              <a:rPr lang="en-US" altLang="zh-CN" baseline="30000" dirty="0">
                <a:solidFill>
                  <a:srgbClr val="CC9900"/>
                </a:solidFill>
              </a:rPr>
              <a:t>T</a:t>
            </a:r>
          </a:p>
        </p:txBody>
      </p:sp>
    </p:spTree>
    <p:extLst>
      <p:ext uri="{BB962C8B-B14F-4D97-AF65-F5344CB8AC3E}">
        <p14:creationId xmlns:p14="http://schemas.microsoft.com/office/powerpoint/2010/main" val="3441166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14</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13.1 </a:t>
            </a:r>
            <a:r>
              <a:rPr lang="zh-CN" altLang="zh-CN" dirty="0"/>
              <a:t>最小错误率贝叶斯决策</a:t>
            </a:r>
          </a:p>
        </p:txBody>
      </p:sp>
      <p:sp>
        <p:nvSpPr>
          <p:cNvPr id="42" name="矩形 41"/>
          <p:cNvSpPr/>
          <p:nvPr/>
        </p:nvSpPr>
        <p:spPr>
          <a:xfrm>
            <a:off x="304132" y="1076139"/>
            <a:ext cx="3775393"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最小错误率贝叶斯决策</a:t>
            </a:r>
            <a:endParaRPr lang="zh-CN" altLang="en-US" sz="2800" b="1" dirty="0">
              <a:solidFill>
                <a:srgbClr val="FF0000"/>
              </a:solidFill>
              <a:ea typeface="黑体" panose="02010609060101010101" pitchFamily="49" charset="-122"/>
            </a:endParaRPr>
          </a:p>
        </p:txBody>
      </p:sp>
      <p:graphicFrame>
        <p:nvGraphicFramePr>
          <p:cNvPr id="14" name="Object 3"/>
          <p:cNvGraphicFramePr>
            <a:graphicFrameLocks noChangeAspect="1"/>
          </p:cNvGraphicFramePr>
          <p:nvPr>
            <p:extLst>
              <p:ext uri="{D42A27DB-BD31-4B8C-83A1-F6EECF244321}">
                <p14:modId xmlns:p14="http://schemas.microsoft.com/office/powerpoint/2010/main" val="2327779098"/>
              </p:ext>
            </p:extLst>
          </p:nvPr>
        </p:nvGraphicFramePr>
        <p:xfrm>
          <a:off x="304132" y="1830726"/>
          <a:ext cx="8542958" cy="738929"/>
        </p:xfrm>
        <a:graphic>
          <a:graphicData uri="http://schemas.openxmlformats.org/presentationml/2006/ole">
            <mc:AlternateContent xmlns:mc="http://schemas.openxmlformats.org/markup-compatibility/2006">
              <mc:Choice xmlns:v="urn:schemas-microsoft-com:vml" Requires="v">
                <p:oleObj spid="_x0000_s10705" name="Equation" r:id="rId4" imgW="3657600" imgH="342720" progId="Equation.DSMT4">
                  <p:embed/>
                </p:oleObj>
              </mc:Choice>
              <mc:Fallback>
                <p:oleObj name="Equation" r:id="rId4" imgW="3657600" imgH="342720" progId="Equation.DSMT4">
                  <p:embed/>
                  <p:pic>
                    <p:nvPicPr>
                      <p:cNvPr id="0" name="Picture 4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132" y="1830726"/>
                        <a:ext cx="8542958" cy="738929"/>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3"/>
          <p:cNvGraphicFramePr>
            <a:graphicFrameLocks noChangeAspect="1"/>
          </p:cNvGraphicFramePr>
          <p:nvPr>
            <p:extLst>
              <p:ext uri="{D42A27DB-BD31-4B8C-83A1-F6EECF244321}">
                <p14:modId xmlns:p14="http://schemas.microsoft.com/office/powerpoint/2010/main" val="2458679424"/>
              </p:ext>
            </p:extLst>
          </p:nvPr>
        </p:nvGraphicFramePr>
        <p:xfrm>
          <a:off x="8950325" y="1038140"/>
          <a:ext cx="3206503" cy="792586"/>
        </p:xfrm>
        <a:graphic>
          <a:graphicData uri="http://schemas.openxmlformats.org/presentationml/2006/ole">
            <mc:AlternateContent xmlns:mc="http://schemas.openxmlformats.org/markup-compatibility/2006">
              <mc:Choice xmlns:v="urn:schemas-microsoft-com:vml" Requires="v">
                <p:oleObj spid="_x0000_s10706" name="Equation" r:id="rId6" imgW="31776840" imgH="7596000" progId="Equation.DSMT4">
                  <p:embed/>
                </p:oleObj>
              </mc:Choice>
              <mc:Fallback>
                <p:oleObj name="Equation" r:id="rId6" imgW="31776840" imgH="7596000" progId="Equation.DSMT4">
                  <p:embed/>
                  <p:pic>
                    <p:nvPicPr>
                      <p:cNvPr id="0" name="Picture 45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50325" y="1038140"/>
                        <a:ext cx="3206503" cy="792586"/>
                      </a:xfrm>
                      <a:prstGeom prst="rect">
                        <a:avLst/>
                      </a:prstGeom>
                      <a:solidFill>
                        <a:schemeClr val="accent2"/>
                      </a:solidFill>
                    </p:spPr>
                  </p:pic>
                </p:oleObj>
              </mc:Fallback>
            </mc:AlternateContent>
          </a:graphicData>
        </a:graphic>
      </p:graphicFrame>
      <p:sp>
        <p:nvSpPr>
          <p:cNvPr id="17" name="内容占位符 2"/>
          <p:cNvSpPr txBox="1">
            <a:spLocks/>
          </p:cNvSpPr>
          <p:nvPr/>
        </p:nvSpPr>
        <p:spPr bwMode="auto">
          <a:xfrm>
            <a:off x="282800" y="2816450"/>
            <a:ext cx="8229600" cy="571500"/>
          </a:xfrm>
          <a:prstGeom prst="rect">
            <a:avLst/>
          </a:prstGeom>
          <a:noFill/>
          <a:ln w="9525">
            <a:noFill/>
            <a:miter lim="800000"/>
            <a:headEnd/>
            <a:tailEnd/>
          </a:ln>
        </p:spPr>
        <p:txBody>
          <a:bodyPr/>
          <a:lstStyle/>
          <a:p>
            <a:pPr eaLnBrk="0" hangingPunct="0">
              <a:spcBef>
                <a:spcPct val="20000"/>
              </a:spcBef>
              <a:buClr>
                <a:schemeClr val="tx2"/>
              </a:buClr>
              <a:buSzPct val="50000"/>
              <a:defRPr/>
            </a:pPr>
            <a:r>
              <a:rPr kumimoji="0" lang="en-US" altLang="zh-CN" sz="2400" dirty="0">
                <a:solidFill>
                  <a:srgbClr val="FF0000"/>
                </a:solidFill>
                <a:latin typeface="+mj-ea"/>
                <a:ea typeface="+mj-ea"/>
              </a:rPr>
              <a:t>(1) </a:t>
            </a:r>
            <a:r>
              <a:rPr kumimoji="0" lang="zh-CN" altLang="en-US" sz="2400" dirty="0">
                <a:solidFill>
                  <a:srgbClr val="FF0000"/>
                </a:solidFill>
                <a:latin typeface="+mj-ea"/>
                <a:ea typeface="+mj-ea"/>
              </a:rPr>
              <a:t>两分类情况下的最小错误率贝叶斯决策 </a:t>
            </a:r>
            <a:endParaRPr kumimoji="0" lang="en-US" altLang="zh-CN" sz="2400" dirty="0">
              <a:solidFill>
                <a:srgbClr val="FF0000"/>
              </a:solidFill>
              <a:latin typeface="+mj-ea"/>
              <a:ea typeface="+mj-ea"/>
            </a:endParaRPr>
          </a:p>
          <a:p>
            <a:pPr marL="342900" indent="-342900" eaLnBrk="0" hangingPunct="0">
              <a:spcBef>
                <a:spcPct val="20000"/>
              </a:spcBef>
              <a:buClr>
                <a:schemeClr val="tx2"/>
              </a:buClr>
              <a:buSzPct val="50000"/>
              <a:buFont typeface="Wingdings 2" pitchFamily="18" charset="2"/>
              <a:buChar char="ß"/>
              <a:defRPr/>
            </a:pPr>
            <a:endParaRPr kumimoji="0" lang="en-US" altLang="zh-CN" sz="2400" dirty="0">
              <a:solidFill>
                <a:schemeClr val="tx1"/>
              </a:solidFill>
              <a:latin typeface="+mj-ea"/>
              <a:ea typeface="+mj-ea"/>
            </a:endParaRPr>
          </a:p>
          <a:p>
            <a:pPr marL="342900" indent="-342900" eaLnBrk="0" hangingPunct="0">
              <a:spcBef>
                <a:spcPct val="20000"/>
              </a:spcBef>
              <a:buClr>
                <a:schemeClr val="tx2"/>
              </a:buClr>
              <a:buSzPct val="50000"/>
              <a:buFont typeface="Wingdings 2" pitchFamily="18" charset="2"/>
              <a:buChar char="ß"/>
              <a:defRPr/>
            </a:pPr>
            <a:endParaRPr kumimoji="0" lang="en-US" altLang="zh-CN" sz="2400" dirty="0">
              <a:solidFill>
                <a:schemeClr val="tx1"/>
              </a:solidFill>
              <a:latin typeface="+mj-ea"/>
              <a:ea typeface="+mj-ea"/>
            </a:endParaRPr>
          </a:p>
          <a:p>
            <a:pPr marL="342900" indent="-342900" eaLnBrk="0" hangingPunct="0">
              <a:spcBef>
                <a:spcPct val="20000"/>
              </a:spcBef>
              <a:buClr>
                <a:schemeClr val="tx2"/>
              </a:buClr>
              <a:buSzPct val="50000"/>
              <a:buFont typeface="Wingdings 2" pitchFamily="18" charset="2"/>
              <a:buNone/>
              <a:defRPr/>
            </a:pPr>
            <a:r>
              <a:rPr kumimoji="0" lang="zh-CN" altLang="en-US" sz="2400" dirty="0">
                <a:solidFill>
                  <a:schemeClr val="tx1"/>
                </a:solidFill>
                <a:latin typeface="+mj-ea"/>
                <a:ea typeface="+mj-ea"/>
              </a:rPr>
              <a:t>     </a:t>
            </a:r>
            <a:endParaRPr kumimoji="0" lang="en-US" altLang="zh-CN" sz="2400" dirty="0">
              <a:solidFill>
                <a:schemeClr val="tx1"/>
              </a:solidFill>
              <a:latin typeface="+mj-ea"/>
              <a:ea typeface="+mj-ea"/>
            </a:endParaRPr>
          </a:p>
          <a:p>
            <a:pPr marL="342900" indent="-342900" eaLnBrk="0" hangingPunct="0">
              <a:spcBef>
                <a:spcPct val="20000"/>
              </a:spcBef>
              <a:buClr>
                <a:schemeClr val="tx2"/>
              </a:buClr>
              <a:buSzPct val="50000"/>
              <a:buFont typeface="Wingdings 2" pitchFamily="18" charset="2"/>
              <a:buNone/>
              <a:defRPr/>
            </a:pPr>
            <a:r>
              <a:rPr kumimoji="0" lang="zh-CN" altLang="en-US" sz="2400" dirty="0">
                <a:solidFill>
                  <a:schemeClr val="tx1"/>
                </a:solidFill>
                <a:latin typeface="+mj-ea"/>
                <a:ea typeface="+mj-ea"/>
              </a:rPr>
              <a:t>      </a:t>
            </a:r>
            <a:endParaRPr kumimoji="0" lang="zh-CN" altLang="en-US" sz="2400" baseline="-25000" dirty="0">
              <a:solidFill>
                <a:schemeClr val="tx1"/>
              </a:solidFill>
              <a:latin typeface="+mj-ea"/>
              <a:ea typeface="+mj-ea"/>
            </a:endParaRPr>
          </a:p>
        </p:txBody>
      </p:sp>
      <p:graphicFrame>
        <p:nvGraphicFramePr>
          <p:cNvPr id="19" name="Object 3"/>
          <p:cNvGraphicFramePr>
            <a:graphicFrameLocks noChangeAspect="1"/>
          </p:cNvGraphicFramePr>
          <p:nvPr>
            <p:extLst>
              <p:ext uri="{D42A27DB-BD31-4B8C-83A1-F6EECF244321}">
                <p14:modId xmlns:p14="http://schemas.microsoft.com/office/powerpoint/2010/main" val="2990751346"/>
              </p:ext>
            </p:extLst>
          </p:nvPr>
        </p:nvGraphicFramePr>
        <p:xfrm>
          <a:off x="282832" y="3566206"/>
          <a:ext cx="11909168" cy="527743"/>
        </p:xfrm>
        <a:graphic>
          <a:graphicData uri="http://schemas.openxmlformats.org/presentationml/2006/ole">
            <mc:AlternateContent xmlns:mc="http://schemas.openxmlformats.org/markup-compatibility/2006">
              <mc:Choice xmlns:v="urn:schemas-microsoft-com:vml" Requires="v">
                <p:oleObj spid="_x0000_s10707" name="Equation" r:id="rId8" imgW="5283000" imgH="253800" progId="Equation.DSMT4">
                  <p:embed/>
                </p:oleObj>
              </mc:Choice>
              <mc:Fallback>
                <p:oleObj name="Equation" r:id="rId8" imgW="5283000" imgH="253800" progId="Equation.DSMT4">
                  <p:embed/>
                  <p:pic>
                    <p:nvPicPr>
                      <p:cNvPr id="0" name="Picture 45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2832" y="3566206"/>
                        <a:ext cx="11909168" cy="5277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3"/>
          <p:cNvGraphicFramePr>
            <a:graphicFrameLocks noChangeAspect="1"/>
          </p:cNvGraphicFramePr>
          <p:nvPr>
            <p:extLst>
              <p:ext uri="{D42A27DB-BD31-4B8C-83A1-F6EECF244321}">
                <p14:modId xmlns:p14="http://schemas.microsoft.com/office/powerpoint/2010/main" val="3443393579"/>
              </p:ext>
            </p:extLst>
          </p:nvPr>
        </p:nvGraphicFramePr>
        <p:xfrm>
          <a:off x="177928" y="4432820"/>
          <a:ext cx="6852982" cy="1084412"/>
        </p:xfrm>
        <a:graphic>
          <a:graphicData uri="http://schemas.openxmlformats.org/presentationml/2006/ole">
            <mc:AlternateContent xmlns:mc="http://schemas.openxmlformats.org/markup-compatibility/2006">
              <mc:Choice xmlns:v="urn:schemas-microsoft-com:vml" Requires="v">
                <p:oleObj spid="_x0000_s10708" name="Equation" r:id="rId10" imgW="2958840" imgH="507960" progId="Equation.DSMT4">
                  <p:embed/>
                </p:oleObj>
              </mc:Choice>
              <mc:Fallback>
                <p:oleObj name="Equation" r:id="rId10" imgW="2958840" imgH="507960" progId="Equation.DSMT4">
                  <p:embed/>
                  <p:pic>
                    <p:nvPicPr>
                      <p:cNvPr id="0" name="Picture 45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7928" y="4432820"/>
                        <a:ext cx="6852982" cy="1084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47438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15</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13.1 </a:t>
            </a:r>
            <a:r>
              <a:rPr lang="zh-CN" altLang="zh-CN" dirty="0"/>
              <a:t>最小错误率贝叶斯决策</a:t>
            </a:r>
          </a:p>
        </p:txBody>
      </p:sp>
      <p:graphicFrame>
        <p:nvGraphicFramePr>
          <p:cNvPr id="16" name="Object 3"/>
          <p:cNvGraphicFramePr>
            <a:graphicFrameLocks noChangeAspect="1"/>
          </p:cNvGraphicFramePr>
          <p:nvPr/>
        </p:nvGraphicFramePr>
        <p:xfrm>
          <a:off x="8950325" y="1038140"/>
          <a:ext cx="3206503" cy="792586"/>
        </p:xfrm>
        <a:graphic>
          <a:graphicData uri="http://schemas.openxmlformats.org/presentationml/2006/ole">
            <mc:AlternateContent xmlns:mc="http://schemas.openxmlformats.org/markup-compatibility/2006">
              <mc:Choice xmlns:v="urn:schemas-microsoft-com:vml" Requires="v">
                <p:oleObj spid="_x0000_s11831" name="Equation" r:id="rId4" imgW="31776840" imgH="7596000" progId="Equation.DSMT4">
                  <p:embed/>
                </p:oleObj>
              </mc:Choice>
              <mc:Fallback>
                <p:oleObj name="Equation" r:id="rId4" imgW="31776840" imgH="7596000" progId="Equation.DSMT4">
                  <p:embed/>
                  <p:pic>
                    <p:nvPicPr>
                      <p:cNvPr id="0" name="Picture 5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50325" y="1038140"/>
                        <a:ext cx="3206503" cy="792586"/>
                      </a:xfrm>
                      <a:prstGeom prst="rect">
                        <a:avLst/>
                      </a:prstGeom>
                      <a:solidFill>
                        <a:schemeClr val="accent2"/>
                      </a:solidFill>
                    </p:spPr>
                  </p:pic>
                </p:oleObj>
              </mc:Fallback>
            </mc:AlternateContent>
          </a:graphicData>
        </a:graphic>
      </p:graphicFrame>
      <p:sp>
        <p:nvSpPr>
          <p:cNvPr id="17" name="内容占位符 2"/>
          <p:cNvSpPr txBox="1">
            <a:spLocks/>
          </p:cNvSpPr>
          <p:nvPr/>
        </p:nvSpPr>
        <p:spPr bwMode="auto">
          <a:xfrm>
            <a:off x="250307" y="1277537"/>
            <a:ext cx="8229600" cy="571500"/>
          </a:xfrm>
          <a:prstGeom prst="rect">
            <a:avLst/>
          </a:prstGeom>
          <a:noFill/>
          <a:ln w="9525">
            <a:noFill/>
            <a:miter lim="800000"/>
            <a:headEnd/>
            <a:tailEnd/>
          </a:ln>
        </p:spPr>
        <p:txBody>
          <a:bodyPr/>
          <a:lstStyle/>
          <a:p>
            <a:pPr eaLnBrk="0" hangingPunct="0">
              <a:spcBef>
                <a:spcPct val="20000"/>
              </a:spcBef>
              <a:buClr>
                <a:schemeClr val="tx2"/>
              </a:buClr>
              <a:buSzPct val="50000"/>
              <a:defRPr/>
            </a:pPr>
            <a:r>
              <a:rPr kumimoji="0" lang="en-US" altLang="zh-CN" sz="2400" dirty="0">
                <a:solidFill>
                  <a:srgbClr val="FF0000"/>
                </a:solidFill>
                <a:latin typeface="+mj-ea"/>
                <a:ea typeface="+mj-ea"/>
              </a:rPr>
              <a:t>(1) </a:t>
            </a:r>
            <a:r>
              <a:rPr kumimoji="0" lang="zh-CN" altLang="en-US" sz="2400" dirty="0">
                <a:solidFill>
                  <a:srgbClr val="FF0000"/>
                </a:solidFill>
                <a:latin typeface="+mj-ea"/>
                <a:ea typeface="+mj-ea"/>
              </a:rPr>
              <a:t>两分类情况下的最小错误率贝叶斯决策 </a:t>
            </a:r>
            <a:endParaRPr kumimoji="0" lang="en-US" altLang="zh-CN" sz="2400" dirty="0">
              <a:solidFill>
                <a:srgbClr val="FF0000"/>
              </a:solidFill>
              <a:latin typeface="+mj-ea"/>
              <a:ea typeface="+mj-ea"/>
            </a:endParaRPr>
          </a:p>
          <a:p>
            <a:pPr marL="342900" indent="-342900" eaLnBrk="0" hangingPunct="0">
              <a:spcBef>
                <a:spcPct val="20000"/>
              </a:spcBef>
              <a:buClr>
                <a:schemeClr val="tx2"/>
              </a:buClr>
              <a:buSzPct val="50000"/>
              <a:buFont typeface="Wingdings 2" pitchFamily="18" charset="2"/>
              <a:buChar char="ß"/>
              <a:defRPr/>
            </a:pPr>
            <a:endParaRPr kumimoji="0" lang="en-US" altLang="zh-CN" sz="2400" dirty="0">
              <a:solidFill>
                <a:schemeClr val="tx1"/>
              </a:solidFill>
              <a:latin typeface="+mj-ea"/>
              <a:ea typeface="+mj-ea"/>
            </a:endParaRPr>
          </a:p>
          <a:p>
            <a:pPr marL="342900" indent="-342900" eaLnBrk="0" hangingPunct="0">
              <a:spcBef>
                <a:spcPct val="20000"/>
              </a:spcBef>
              <a:buClr>
                <a:schemeClr val="tx2"/>
              </a:buClr>
              <a:buSzPct val="50000"/>
              <a:buFont typeface="Wingdings 2" pitchFamily="18" charset="2"/>
              <a:buChar char="ß"/>
              <a:defRPr/>
            </a:pPr>
            <a:endParaRPr kumimoji="0" lang="en-US" altLang="zh-CN" sz="2400" dirty="0">
              <a:solidFill>
                <a:schemeClr val="tx1"/>
              </a:solidFill>
              <a:latin typeface="+mj-ea"/>
              <a:ea typeface="+mj-ea"/>
            </a:endParaRPr>
          </a:p>
          <a:p>
            <a:pPr marL="342900" indent="-342900" eaLnBrk="0" hangingPunct="0">
              <a:spcBef>
                <a:spcPct val="20000"/>
              </a:spcBef>
              <a:buClr>
                <a:schemeClr val="tx2"/>
              </a:buClr>
              <a:buSzPct val="50000"/>
              <a:buFont typeface="Wingdings 2" pitchFamily="18" charset="2"/>
              <a:buNone/>
              <a:defRPr/>
            </a:pPr>
            <a:r>
              <a:rPr kumimoji="0" lang="zh-CN" altLang="en-US" sz="2400" dirty="0">
                <a:solidFill>
                  <a:schemeClr val="tx1"/>
                </a:solidFill>
                <a:latin typeface="+mj-ea"/>
                <a:ea typeface="+mj-ea"/>
              </a:rPr>
              <a:t>     </a:t>
            </a:r>
            <a:endParaRPr kumimoji="0" lang="en-US" altLang="zh-CN" sz="2400" dirty="0">
              <a:solidFill>
                <a:schemeClr val="tx1"/>
              </a:solidFill>
              <a:latin typeface="+mj-ea"/>
              <a:ea typeface="+mj-ea"/>
            </a:endParaRPr>
          </a:p>
          <a:p>
            <a:pPr marL="342900" indent="-342900" eaLnBrk="0" hangingPunct="0">
              <a:spcBef>
                <a:spcPct val="20000"/>
              </a:spcBef>
              <a:buClr>
                <a:schemeClr val="tx2"/>
              </a:buClr>
              <a:buSzPct val="50000"/>
              <a:buFont typeface="Wingdings 2" pitchFamily="18" charset="2"/>
              <a:buNone/>
              <a:defRPr/>
            </a:pPr>
            <a:r>
              <a:rPr kumimoji="0" lang="zh-CN" altLang="en-US" sz="2400" dirty="0">
                <a:solidFill>
                  <a:schemeClr val="tx1"/>
                </a:solidFill>
                <a:latin typeface="+mj-ea"/>
                <a:ea typeface="+mj-ea"/>
              </a:rPr>
              <a:t>      </a:t>
            </a:r>
            <a:endParaRPr kumimoji="0" lang="zh-CN" altLang="en-US" sz="2400" baseline="-25000" dirty="0">
              <a:solidFill>
                <a:schemeClr val="tx1"/>
              </a:solidFill>
              <a:latin typeface="+mj-ea"/>
              <a:ea typeface="+mj-ea"/>
            </a:endParaRPr>
          </a:p>
        </p:txBody>
      </p:sp>
      <p:graphicFrame>
        <p:nvGraphicFramePr>
          <p:cNvPr id="19" name="Object 3"/>
          <p:cNvGraphicFramePr>
            <a:graphicFrameLocks noChangeAspect="1"/>
          </p:cNvGraphicFramePr>
          <p:nvPr>
            <p:extLst>
              <p:ext uri="{D42A27DB-BD31-4B8C-83A1-F6EECF244321}">
                <p14:modId xmlns:p14="http://schemas.microsoft.com/office/powerpoint/2010/main" val="2545581407"/>
              </p:ext>
            </p:extLst>
          </p:nvPr>
        </p:nvGraphicFramePr>
        <p:xfrm>
          <a:off x="250339" y="2027293"/>
          <a:ext cx="11909168" cy="527743"/>
        </p:xfrm>
        <a:graphic>
          <a:graphicData uri="http://schemas.openxmlformats.org/presentationml/2006/ole">
            <mc:AlternateContent xmlns:mc="http://schemas.openxmlformats.org/markup-compatibility/2006">
              <mc:Choice xmlns:v="urn:schemas-microsoft-com:vml" Requires="v">
                <p:oleObj spid="_x0000_s11832" name="Equation" r:id="rId6" imgW="5283000" imgH="253800" progId="Equation.DSMT4">
                  <p:embed/>
                </p:oleObj>
              </mc:Choice>
              <mc:Fallback>
                <p:oleObj name="Equation" r:id="rId6" imgW="5283000" imgH="253800" progId="Equation.DSMT4">
                  <p:embed/>
                  <p:pic>
                    <p:nvPicPr>
                      <p:cNvPr id="0" name="Picture 54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0339" y="2027293"/>
                        <a:ext cx="11909168" cy="5277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内容占位符 2"/>
          <p:cNvSpPr>
            <a:spLocks noGrp="1"/>
          </p:cNvSpPr>
          <p:nvPr>
            <p:ph idx="1"/>
          </p:nvPr>
        </p:nvSpPr>
        <p:spPr>
          <a:xfrm>
            <a:off x="263352" y="2597447"/>
            <a:ext cx="11389096" cy="634331"/>
          </a:xfrm>
        </p:spPr>
        <p:txBody>
          <a:bodyPr/>
          <a:lstStyle/>
          <a:p>
            <a:pPr marL="15875" indent="-31750" algn="just">
              <a:lnSpc>
                <a:spcPct val="150000"/>
              </a:lnSpc>
              <a:spcBef>
                <a:spcPts val="1200"/>
              </a:spcBef>
              <a:buFont typeface="Wingdings 2" pitchFamily="18" charset="2"/>
              <a:buNone/>
            </a:pPr>
            <a:r>
              <a:rPr lang="zh-CN" altLang="en-US" sz="2200" dirty="0">
                <a:latin typeface="黑体" panose="02010609060101010101" pitchFamily="49" charset="-122"/>
                <a:ea typeface="黑体" panose="02010609060101010101" pitchFamily="49" charset="-122"/>
              </a:rPr>
              <a:t>两分类情况下的最小错误率决策</a:t>
            </a:r>
            <a:r>
              <a:rPr lang="en-US" altLang="zh-CN"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下面四种等价规则的决策</a:t>
            </a:r>
            <a:r>
              <a:rPr lang="en-US" altLang="zh-CN" sz="2200" dirty="0">
                <a:latin typeface="黑体" panose="02010609060101010101" pitchFamily="49" charset="-122"/>
                <a:ea typeface="黑体" panose="02010609060101010101" pitchFamily="49" charset="-122"/>
              </a:rPr>
              <a:t>X</a:t>
            </a:r>
            <a:r>
              <a:rPr lang="el-GR" altLang="zh-CN" sz="2200" dirty="0">
                <a:latin typeface="黑体" panose="02010609060101010101" pitchFamily="49" charset="-122"/>
                <a:ea typeface="黑体" panose="02010609060101010101" pitchFamily="49" charset="-122"/>
              </a:rPr>
              <a:t>ϵω</a:t>
            </a:r>
            <a:r>
              <a:rPr lang="en-US" altLang="zh-CN" sz="2200" baseline="-25000" dirty="0">
                <a:latin typeface="黑体" panose="02010609060101010101" pitchFamily="49" charset="-122"/>
                <a:ea typeface="黑体" panose="02010609060101010101" pitchFamily="49" charset="-122"/>
              </a:rPr>
              <a:t>1</a:t>
            </a:r>
            <a:r>
              <a:rPr lang="en-US" altLang="zh-CN"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否则</a:t>
            </a:r>
            <a:r>
              <a:rPr lang="en-US" altLang="zh-CN" sz="2200" dirty="0">
                <a:latin typeface="黑体" panose="02010609060101010101" pitchFamily="49" charset="-122"/>
                <a:ea typeface="黑体" panose="02010609060101010101" pitchFamily="49" charset="-122"/>
              </a:rPr>
              <a:t>X</a:t>
            </a:r>
            <a:r>
              <a:rPr lang="el-GR" altLang="zh-CN" sz="2200" dirty="0">
                <a:latin typeface="黑体" panose="02010609060101010101" pitchFamily="49" charset="-122"/>
                <a:ea typeface="黑体" panose="02010609060101010101" pitchFamily="49" charset="-122"/>
              </a:rPr>
              <a:t>ϵω</a:t>
            </a:r>
            <a:r>
              <a:rPr lang="en-US" altLang="zh-CN" sz="2200" baseline="-25000" dirty="0">
                <a:latin typeface="黑体" panose="02010609060101010101" pitchFamily="49" charset="-122"/>
                <a:ea typeface="黑体" panose="02010609060101010101" pitchFamily="49" charset="-122"/>
              </a:rPr>
              <a:t>2</a:t>
            </a:r>
            <a:r>
              <a:rPr lang="zh-CN" altLang="en-US" sz="2200" baseline="-25000" dirty="0">
                <a:latin typeface="黑体" panose="02010609060101010101" pitchFamily="49" charset="-122"/>
                <a:ea typeface="黑体" panose="02010609060101010101" pitchFamily="49" charset="-122"/>
              </a:rPr>
              <a:t>。</a:t>
            </a:r>
          </a:p>
        </p:txBody>
      </p:sp>
      <p:graphicFrame>
        <p:nvGraphicFramePr>
          <p:cNvPr id="18" name="Object 2"/>
          <p:cNvGraphicFramePr>
            <a:graphicFrameLocks noChangeAspect="1"/>
          </p:cNvGraphicFramePr>
          <p:nvPr>
            <p:extLst>
              <p:ext uri="{D42A27DB-BD31-4B8C-83A1-F6EECF244321}">
                <p14:modId xmlns:p14="http://schemas.microsoft.com/office/powerpoint/2010/main" val="3830902036"/>
              </p:ext>
            </p:extLst>
          </p:nvPr>
        </p:nvGraphicFramePr>
        <p:xfrm>
          <a:off x="335360" y="4581128"/>
          <a:ext cx="7693025" cy="1801813"/>
        </p:xfrm>
        <a:graphic>
          <a:graphicData uri="http://schemas.openxmlformats.org/presentationml/2006/ole">
            <mc:AlternateContent xmlns:mc="http://schemas.openxmlformats.org/markup-compatibility/2006">
              <mc:Choice xmlns:v="urn:schemas-microsoft-com:vml" Requires="v">
                <p:oleObj spid="_x0000_s11833" name="Equation" r:id="rId8" imgW="2819400" imgH="660400" progId="Equation.DSMT4">
                  <p:embed/>
                </p:oleObj>
              </mc:Choice>
              <mc:Fallback>
                <p:oleObj name="Equation" r:id="rId8" imgW="2819400" imgH="660400" progId="Equation.DSMT4">
                  <p:embed/>
                  <p:pic>
                    <p:nvPicPr>
                      <p:cNvPr id="0" name="Picture 54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5360" y="4581128"/>
                        <a:ext cx="7693025" cy="180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2"/>
          <p:cNvGraphicFramePr>
            <a:graphicFrameLocks noChangeAspect="1"/>
          </p:cNvGraphicFramePr>
          <p:nvPr>
            <p:extLst>
              <p:ext uri="{D42A27DB-BD31-4B8C-83A1-F6EECF244321}">
                <p14:modId xmlns:p14="http://schemas.microsoft.com/office/powerpoint/2010/main" val="3132875689"/>
              </p:ext>
            </p:extLst>
          </p:nvPr>
        </p:nvGraphicFramePr>
        <p:xfrm>
          <a:off x="335360" y="4005064"/>
          <a:ext cx="4124325" cy="450850"/>
        </p:xfrm>
        <a:graphic>
          <a:graphicData uri="http://schemas.openxmlformats.org/presentationml/2006/ole">
            <mc:AlternateContent xmlns:mc="http://schemas.openxmlformats.org/markup-compatibility/2006">
              <mc:Choice xmlns:v="urn:schemas-microsoft-com:vml" Requires="v">
                <p:oleObj spid="_x0000_s11834" name="Equation" r:id="rId10" imgW="1511300" imgH="165100" progId="Equation.DSMT4">
                  <p:embed/>
                </p:oleObj>
              </mc:Choice>
              <mc:Fallback>
                <p:oleObj name="Equation" r:id="rId10" imgW="1511300" imgH="165100" progId="Equation.DSMT4">
                  <p:embed/>
                  <p:pic>
                    <p:nvPicPr>
                      <p:cNvPr id="0" name="Picture 55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5360" y="4005064"/>
                        <a:ext cx="4124325" cy="450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 name="Object 3"/>
          <p:cNvGraphicFramePr>
            <a:graphicFrameLocks noChangeAspect="1"/>
          </p:cNvGraphicFramePr>
          <p:nvPr>
            <p:extLst>
              <p:ext uri="{D42A27DB-BD31-4B8C-83A1-F6EECF244321}">
                <p14:modId xmlns:p14="http://schemas.microsoft.com/office/powerpoint/2010/main" val="2795325741"/>
              </p:ext>
            </p:extLst>
          </p:nvPr>
        </p:nvGraphicFramePr>
        <p:xfrm>
          <a:off x="335360" y="3356992"/>
          <a:ext cx="5024437" cy="450850"/>
        </p:xfrm>
        <a:graphic>
          <a:graphicData uri="http://schemas.openxmlformats.org/presentationml/2006/ole">
            <mc:AlternateContent xmlns:mc="http://schemas.openxmlformats.org/markup-compatibility/2006">
              <mc:Choice xmlns:v="urn:schemas-microsoft-com:vml" Requires="v">
                <p:oleObj spid="_x0000_s11835" name="Equation" r:id="rId12" imgW="1841500" imgH="165100" progId="Equation.DSMT4">
                  <p:embed/>
                </p:oleObj>
              </mc:Choice>
              <mc:Fallback>
                <p:oleObj name="Equation" r:id="rId12" imgW="1841500" imgH="165100" progId="Equation.DSMT4">
                  <p:embed/>
                  <p:pic>
                    <p:nvPicPr>
                      <p:cNvPr id="0" name="Picture 55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5360" y="3356992"/>
                        <a:ext cx="5024437" cy="450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9189602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16</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13.1 </a:t>
            </a:r>
            <a:r>
              <a:rPr lang="zh-CN" altLang="zh-CN" dirty="0"/>
              <a:t>最小错误率贝叶斯决策</a:t>
            </a:r>
          </a:p>
        </p:txBody>
      </p:sp>
      <p:graphicFrame>
        <p:nvGraphicFramePr>
          <p:cNvPr id="16" name="Object 3"/>
          <p:cNvGraphicFramePr>
            <a:graphicFrameLocks noChangeAspect="1"/>
          </p:cNvGraphicFramePr>
          <p:nvPr/>
        </p:nvGraphicFramePr>
        <p:xfrm>
          <a:off x="8950325" y="1038140"/>
          <a:ext cx="3206503" cy="792586"/>
        </p:xfrm>
        <a:graphic>
          <a:graphicData uri="http://schemas.openxmlformats.org/presentationml/2006/ole">
            <mc:AlternateContent xmlns:mc="http://schemas.openxmlformats.org/markup-compatibility/2006">
              <mc:Choice xmlns:v="urn:schemas-microsoft-com:vml" Requires="v">
                <p:oleObj spid="_x0000_s91328" name="Equation" r:id="rId4" imgW="31776840" imgH="7596000" progId="Equation.DSMT4">
                  <p:embed/>
                </p:oleObj>
              </mc:Choice>
              <mc:Fallback>
                <p:oleObj name="Equation" r:id="rId4" imgW="31776840" imgH="7596000" progId="Equation.DSMT4">
                  <p:embed/>
                  <p:pic>
                    <p:nvPicPr>
                      <p:cNvPr id="0" name="Picture 117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50325" y="1038140"/>
                        <a:ext cx="3206503" cy="792586"/>
                      </a:xfrm>
                      <a:prstGeom prst="rect">
                        <a:avLst/>
                      </a:prstGeom>
                      <a:solidFill>
                        <a:schemeClr val="accent2"/>
                      </a:solidFill>
                    </p:spPr>
                  </p:pic>
                </p:oleObj>
              </mc:Fallback>
            </mc:AlternateContent>
          </a:graphicData>
        </a:graphic>
      </p:graphicFrame>
      <p:sp>
        <p:nvSpPr>
          <p:cNvPr id="17" name="内容占位符 2"/>
          <p:cNvSpPr txBox="1">
            <a:spLocks/>
          </p:cNvSpPr>
          <p:nvPr/>
        </p:nvSpPr>
        <p:spPr bwMode="auto">
          <a:xfrm>
            <a:off x="250307" y="1057300"/>
            <a:ext cx="8229600" cy="571500"/>
          </a:xfrm>
          <a:prstGeom prst="rect">
            <a:avLst/>
          </a:prstGeom>
          <a:noFill/>
          <a:ln w="9525">
            <a:noFill/>
            <a:miter lim="800000"/>
            <a:headEnd/>
            <a:tailEnd/>
          </a:ln>
        </p:spPr>
        <p:txBody>
          <a:bodyPr/>
          <a:lstStyle/>
          <a:p>
            <a:pPr eaLnBrk="0" hangingPunct="0">
              <a:spcBef>
                <a:spcPct val="20000"/>
              </a:spcBef>
              <a:buClr>
                <a:schemeClr val="tx2"/>
              </a:buClr>
              <a:buSzPct val="50000"/>
              <a:defRPr/>
            </a:pPr>
            <a:r>
              <a:rPr kumimoji="0" lang="en-US" altLang="zh-CN" sz="2400" dirty="0">
                <a:solidFill>
                  <a:srgbClr val="FF0000"/>
                </a:solidFill>
                <a:latin typeface="+mj-ea"/>
                <a:ea typeface="+mj-ea"/>
              </a:rPr>
              <a:t>(1) </a:t>
            </a:r>
            <a:r>
              <a:rPr kumimoji="0" lang="zh-CN" altLang="en-US" sz="2400" dirty="0">
                <a:solidFill>
                  <a:srgbClr val="FF0000"/>
                </a:solidFill>
                <a:latin typeface="+mj-ea"/>
                <a:ea typeface="+mj-ea"/>
              </a:rPr>
              <a:t>两分类情况下的最小错误率贝叶斯决策 </a:t>
            </a:r>
            <a:endParaRPr kumimoji="0" lang="en-US" altLang="zh-CN" sz="2400" dirty="0">
              <a:solidFill>
                <a:srgbClr val="FF0000"/>
              </a:solidFill>
              <a:latin typeface="+mj-ea"/>
              <a:ea typeface="+mj-ea"/>
            </a:endParaRPr>
          </a:p>
          <a:p>
            <a:pPr marL="342900" indent="-342900" eaLnBrk="0" hangingPunct="0">
              <a:spcBef>
                <a:spcPct val="20000"/>
              </a:spcBef>
              <a:buClr>
                <a:schemeClr val="tx2"/>
              </a:buClr>
              <a:buSzPct val="50000"/>
              <a:buFont typeface="Wingdings 2" pitchFamily="18" charset="2"/>
              <a:buChar char="ß"/>
              <a:defRPr/>
            </a:pPr>
            <a:endParaRPr kumimoji="0" lang="en-US" altLang="zh-CN" sz="2400" dirty="0">
              <a:solidFill>
                <a:schemeClr val="tx1"/>
              </a:solidFill>
              <a:latin typeface="+mj-ea"/>
              <a:ea typeface="+mj-ea"/>
            </a:endParaRPr>
          </a:p>
          <a:p>
            <a:pPr marL="342900" indent="-342900" eaLnBrk="0" hangingPunct="0">
              <a:spcBef>
                <a:spcPct val="20000"/>
              </a:spcBef>
              <a:buClr>
                <a:schemeClr val="tx2"/>
              </a:buClr>
              <a:buSzPct val="50000"/>
              <a:buFont typeface="Wingdings 2" pitchFamily="18" charset="2"/>
              <a:buChar char="ß"/>
              <a:defRPr/>
            </a:pPr>
            <a:endParaRPr kumimoji="0" lang="en-US" altLang="zh-CN" sz="2400" dirty="0">
              <a:solidFill>
                <a:schemeClr val="tx1"/>
              </a:solidFill>
              <a:latin typeface="+mj-ea"/>
              <a:ea typeface="+mj-ea"/>
            </a:endParaRPr>
          </a:p>
          <a:p>
            <a:pPr marL="342900" indent="-342900" eaLnBrk="0" hangingPunct="0">
              <a:spcBef>
                <a:spcPct val="20000"/>
              </a:spcBef>
              <a:buClr>
                <a:schemeClr val="tx2"/>
              </a:buClr>
              <a:buSzPct val="50000"/>
              <a:buFont typeface="Wingdings 2" pitchFamily="18" charset="2"/>
              <a:buNone/>
              <a:defRPr/>
            </a:pPr>
            <a:r>
              <a:rPr kumimoji="0" lang="zh-CN" altLang="en-US" sz="2400" dirty="0">
                <a:solidFill>
                  <a:schemeClr val="tx1"/>
                </a:solidFill>
                <a:latin typeface="+mj-ea"/>
                <a:ea typeface="+mj-ea"/>
              </a:rPr>
              <a:t>     </a:t>
            </a:r>
            <a:endParaRPr kumimoji="0" lang="en-US" altLang="zh-CN" sz="2400" dirty="0">
              <a:solidFill>
                <a:schemeClr val="tx1"/>
              </a:solidFill>
              <a:latin typeface="+mj-ea"/>
              <a:ea typeface="+mj-ea"/>
            </a:endParaRPr>
          </a:p>
          <a:p>
            <a:pPr marL="342900" indent="-342900" eaLnBrk="0" hangingPunct="0">
              <a:spcBef>
                <a:spcPct val="20000"/>
              </a:spcBef>
              <a:buClr>
                <a:schemeClr val="tx2"/>
              </a:buClr>
              <a:buSzPct val="50000"/>
              <a:buFont typeface="Wingdings 2" pitchFamily="18" charset="2"/>
              <a:buNone/>
              <a:defRPr/>
            </a:pPr>
            <a:r>
              <a:rPr kumimoji="0" lang="zh-CN" altLang="en-US" sz="2400" dirty="0">
                <a:solidFill>
                  <a:schemeClr val="tx1"/>
                </a:solidFill>
                <a:latin typeface="+mj-ea"/>
                <a:ea typeface="+mj-ea"/>
              </a:rPr>
              <a:t>      </a:t>
            </a:r>
            <a:endParaRPr kumimoji="0" lang="zh-CN" altLang="en-US" sz="2400" baseline="-25000" dirty="0">
              <a:solidFill>
                <a:schemeClr val="tx1"/>
              </a:solidFill>
              <a:latin typeface="+mj-ea"/>
              <a:ea typeface="+mj-ea"/>
            </a:endParaRPr>
          </a:p>
        </p:txBody>
      </p:sp>
      <p:sp>
        <p:nvSpPr>
          <p:cNvPr id="13" name="内容占位符 2"/>
          <p:cNvSpPr>
            <a:spLocks noGrp="1"/>
          </p:cNvSpPr>
          <p:nvPr>
            <p:ph idx="1"/>
          </p:nvPr>
        </p:nvSpPr>
        <p:spPr>
          <a:xfrm>
            <a:off x="251520" y="1412776"/>
            <a:ext cx="11389096" cy="634331"/>
          </a:xfrm>
        </p:spPr>
        <p:txBody>
          <a:bodyPr/>
          <a:lstStyle/>
          <a:p>
            <a:pPr marL="15875" indent="-31750" algn="just">
              <a:lnSpc>
                <a:spcPct val="150000"/>
              </a:lnSpc>
              <a:spcBef>
                <a:spcPts val="1200"/>
              </a:spcBef>
              <a:buFont typeface="Wingdings 2" pitchFamily="18" charset="2"/>
              <a:buNone/>
            </a:pPr>
            <a:r>
              <a:rPr lang="zh-CN" altLang="en-US" sz="2200" dirty="0">
                <a:latin typeface="黑体" panose="02010609060101010101" pitchFamily="49" charset="-122"/>
                <a:ea typeface="黑体" panose="02010609060101010101" pitchFamily="49" charset="-122"/>
              </a:rPr>
              <a:t>四种等价规则相应的判别函数：</a:t>
            </a:r>
            <a:endParaRPr lang="zh-CN" altLang="en-US" sz="2200" baseline="-25000" dirty="0">
              <a:latin typeface="黑体" panose="02010609060101010101" pitchFamily="49" charset="-122"/>
              <a:ea typeface="黑体" panose="02010609060101010101" pitchFamily="49" charset="-122"/>
            </a:endParaRPr>
          </a:p>
        </p:txBody>
      </p:sp>
      <p:graphicFrame>
        <p:nvGraphicFramePr>
          <p:cNvPr id="18" name="Object 2"/>
          <p:cNvGraphicFramePr>
            <a:graphicFrameLocks noChangeAspect="1"/>
          </p:cNvGraphicFramePr>
          <p:nvPr>
            <p:extLst>
              <p:ext uri="{D42A27DB-BD31-4B8C-83A1-F6EECF244321}">
                <p14:modId xmlns:p14="http://schemas.microsoft.com/office/powerpoint/2010/main" val="2488700519"/>
              </p:ext>
            </p:extLst>
          </p:nvPr>
        </p:nvGraphicFramePr>
        <p:xfrm>
          <a:off x="273524" y="2924944"/>
          <a:ext cx="5543550" cy="1662112"/>
        </p:xfrm>
        <a:graphic>
          <a:graphicData uri="http://schemas.openxmlformats.org/presentationml/2006/ole">
            <mc:AlternateContent xmlns:mc="http://schemas.openxmlformats.org/markup-compatibility/2006">
              <mc:Choice xmlns:v="urn:schemas-microsoft-com:vml" Requires="v">
                <p:oleObj spid="_x0000_s91329" name="Equation" r:id="rId6" imgW="2031840" imgH="609480" progId="Equation.DSMT4">
                  <p:embed/>
                </p:oleObj>
              </mc:Choice>
              <mc:Fallback>
                <p:oleObj name="Equation" r:id="rId6" imgW="2031840" imgH="609480" progId="Equation.DSMT4">
                  <p:embed/>
                  <p:pic>
                    <p:nvPicPr>
                      <p:cNvPr id="0" name="Picture 117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3524" y="2924944"/>
                        <a:ext cx="5543550" cy="166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2"/>
          <p:cNvGraphicFramePr>
            <a:graphicFrameLocks noChangeAspect="1"/>
          </p:cNvGraphicFramePr>
          <p:nvPr>
            <p:extLst>
              <p:ext uri="{D42A27DB-BD31-4B8C-83A1-F6EECF244321}">
                <p14:modId xmlns:p14="http://schemas.microsoft.com/office/powerpoint/2010/main" val="1264617877"/>
              </p:ext>
            </p:extLst>
          </p:nvPr>
        </p:nvGraphicFramePr>
        <p:xfrm>
          <a:off x="273524" y="2492896"/>
          <a:ext cx="7035800" cy="485775"/>
        </p:xfrm>
        <a:graphic>
          <a:graphicData uri="http://schemas.openxmlformats.org/presentationml/2006/ole">
            <mc:AlternateContent xmlns:mc="http://schemas.openxmlformats.org/markup-compatibility/2006">
              <mc:Choice xmlns:v="urn:schemas-microsoft-com:vml" Requires="v">
                <p:oleObj spid="_x0000_s91330" name="Equation" r:id="rId8" imgW="2577960" imgH="177480" progId="Equation.DSMT4">
                  <p:embed/>
                </p:oleObj>
              </mc:Choice>
              <mc:Fallback>
                <p:oleObj name="Equation" r:id="rId8" imgW="2577960" imgH="177480" progId="Equation.DSMT4">
                  <p:embed/>
                  <p:pic>
                    <p:nvPicPr>
                      <p:cNvPr id="0" name="Picture 117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3524" y="2492896"/>
                        <a:ext cx="7035800"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 name="Object 3"/>
          <p:cNvGraphicFramePr>
            <a:graphicFrameLocks noChangeAspect="1"/>
          </p:cNvGraphicFramePr>
          <p:nvPr>
            <p:extLst>
              <p:ext uri="{D42A27DB-BD31-4B8C-83A1-F6EECF244321}">
                <p14:modId xmlns:p14="http://schemas.microsoft.com/office/powerpoint/2010/main" val="3169698241"/>
              </p:ext>
            </p:extLst>
          </p:nvPr>
        </p:nvGraphicFramePr>
        <p:xfrm>
          <a:off x="273524" y="1988840"/>
          <a:ext cx="5059363" cy="484187"/>
        </p:xfrm>
        <a:graphic>
          <a:graphicData uri="http://schemas.openxmlformats.org/presentationml/2006/ole">
            <mc:AlternateContent xmlns:mc="http://schemas.openxmlformats.org/markup-compatibility/2006">
              <mc:Choice xmlns:v="urn:schemas-microsoft-com:vml" Requires="v">
                <p:oleObj spid="_x0000_s91331" name="Equation" r:id="rId10" imgW="1854000" imgH="177480" progId="Equation.DSMT4">
                  <p:embed/>
                </p:oleObj>
              </mc:Choice>
              <mc:Fallback>
                <p:oleObj name="Equation" r:id="rId10" imgW="1854000" imgH="177480" progId="Equation.DSMT4">
                  <p:embed/>
                  <p:pic>
                    <p:nvPicPr>
                      <p:cNvPr id="0" name="Picture 117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3524" y="1988840"/>
                        <a:ext cx="5059363" cy="48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2" name="Picture 8" descr="C:\MATLAB6p1\work\bayesshow1_3.bmp"/>
          <p:cNvPicPr>
            <a:picLocks noChangeAspect="1" noChangeArrowheads="1"/>
          </p:cNvPicPr>
          <p:nvPr/>
        </p:nvPicPr>
        <p:blipFill>
          <a:blip r:embed="rId12"/>
          <a:srcRect/>
          <a:stretch>
            <a:fillRect/>
          </a:stretch>
        </p:blipFill>
        <p:spPr bwMode="auto">
          <a:xfrm>
            <a:off x="7365381" y="2735783"/>
            <a:ext cx="4791447" cy="3593585"/>
          </a:xfrm>
          <a:prstGeom prst="rect">
            <a:avLst/>
          </a:prstGeom>
          <a:noFill/>
          <a:ln w="9525">
            <a:noFill/>
            <a:miter lim="800000"/>
            <a:headEnd/>
            <a:tailEnd/>
          </a:ln>
        </p:spPr>
      </p:pic>
      <p:grpSp>
        <p:nvGrpSpPr>
          <p:cNvPr id="23" name="Group 2"/>
          <p:cNvGrpSpPr>
            <a:grpSpLocks/>
          </p:cNvGrpSpPr>
          <p:nvPr/>
        </p:nvGrpSpPr>
        <p:grpSpPr bwMode="auto">
          <a:xfrm>
            <a:off x="408931" y="4581128"/>
            <a:ext cx="6900393" cy="1873723"/>
            <a:chOff x="940" y="2937"/>
            <a:chExt cx="4601" cy="1251"/>
          </a:xfrm>
        </p:grpSpPr>
        <p:sp>
          <p:nvSpPr>
            <p:cNvPr id="24" name="Rectangle 3"/>
            <p:cNvSpPr>
              <a:spLocks noChangeArrowheads="1"/>
            </p:cNvSpPr>
            <p:nvPr/>
          </p:nvSpPr>
          <p:spPr bwMode="auto">
            <a:xfrm>
              <a:off x="2544" y="3264"/>
              <a:ext cx="528" cy="240"/>
            </a:xfrm>
            <a:prstGeom prst="rect">
              <a:avLst/>
            </a:prstGeom>
            <a:noFill/>
            <a:ln w="9525">
              <a:solidFill>
                <a:schemeClr val="tx1"/>
              </a:solidFill>
              <a:miter lim="800000"/>
              <a:headEnd/>
              <a:tailEnd/>
            </a:ln>
          </p:spPr>
          <p:txBody>
            <a:bodyPr wrap="none" anchor="ctr"/>
            <a:lstStyle/>
            <a:p>
              <a:pPr algn="ctr"/>
              <a:r>
                <a:rPr lang="en-US" altLang="zh-CN" dirty="0">
                  <a:solidFill>
                    <a:schemeClr val="tx1"/>
                  </a:solidFill>
                </a:rPr>
                <a:t>g(</a:t>
              </a:r>
              <a:r>
                <a:rPr lang="en-US" altLang="zh-CN" i="1" dirty="0">
                  <a:solidFill>
                    <a:schemeClr val="tx1"/>
                  </a:solidFill>
                </a:rPr>
                <a:t>X</a:t>
              </a:r>
              <a:r>
                <a:rPr lang="en-US" altLang="zh-CN" dirty="0">
                  <a:solidFill>
                    <a:schemeClr val="tx1"/>
                  </a:solidFill>
                </a:rPr>
                <a:t>)</a:t>
              </a:r>
            </a:p>
          </p:txBody>
        </p:sp>
        <p:sp>
          <p:nvSpPr>
            <p:cNvPr id="25" name="Line 4"/>
            <p:cNvSpPr>
              <a:spLocks noChangeShapeType="1"/>
            </p:cNvSpPr>
            <p:nvPr/>
          </p:nvSpPr>
          <p:spPr bwMode="auto">
            <a:xfrm>
              <a:off x="3072" y="3360"/>
              <a:ext cx="720" cy="0"/>
            </a:xfrm>
            <a:prstGeom prst="line">
              <a:avLst/>
            </a:prstGeom>
            <a:noFill/>
            <a:ln w="9525">
              <a:solidFill>
                <a:schemeClr val="tx1"/>
              </a:solidFill>
              <a:round/>
              <a:headEnd/>
              <a:tailEnd type="triangle" w="med" len="med"/>
            </a:ln>
          </p:spPr>
          <p:txBody>
            <a:bodyPr/>
            <a:lstStyle/>
            <a:p>
              <a:endParaRPr lang="zh-CN" altLang="en-US"/>
            </a:p>
          </p:txBody>
        </p:sp>
        <p:sp>
          <p:nvSpPr>
            <p:cNvPr id="26" name="Rectangle 5"/>
            <p:cNvSpPr>
              <a:spLocks noChangeArrowheads="1"/>
            </p:cNvSpPr>
            <p:nvPr/>
          </p:nvSpPr>
          <p:spPr bwMode="auto">
            <a:xfrm>
              <a:off x="3840" y="3216"/>
              <a:ext cx="720" cy="384"/>
            </a:xfrm>
            <a:prstGeom prst="rect">
              <a:avLst/>
            </a:prstGeom>
            <a:noFill/>
            <a:ln w="9525">
              <a:solidFill>
                <a:schemeClr val="tx1"/>
              </a:solidFill>
              <a:miter lim="800000"/>
              <a:headEnd/>
              <a:tailEnd/>
            </a:ln>
          </p:spPr>
          <p:txBody>
            <a:bodyPr wrap="none" anchor="ctr"/>
            <a:lstStyle/>
            <a:p>
              <a:pPr algn="ctr"/>
              <a:endParaRPr lang="zh-CN" altLang="zh-CN" sz="2000"/>
            </a:p>
          </p:txBody>
        </p:sp>
        <p:graphicFrame>
          <p:nvGraphicFramePr>
            <p:cNvPr id="27" name="Object 3"/>
            <p:cNvGraphicFramePr>
              <a:graphicFrameLocks noChangeAspect="1"/>
            </p:cNvGraphicFramePr>
            <p:nvPr/>
          </p:nvGraphicFramePr>
          <p:xfrm>
            <a:off x="940" y="2937"/>
            <a:ext cx="714" cy="1092"/>
          </p:xfrm>
          <a:graphic>
            <a:graphicData uri="http://schemas.openxmlformats.org/presentationml/2006/ole">
              <mc:AlternateContent xmlns:mc="http://schemas.openxmlformats.org/markup-compatibility/2006">
                <mc:Choice xmlns:v="urn:schemas-microsoft-com:vml" Requires="v">
                  <p:oleObj spid="_x0000_s91332" name="Equation" r:id="rId13" imgW="406224" imgH="634725" progId="Equation.DSMT4">
                    <p:embed/>
                  </p:oleObj>
                </mc:Choice>
                <mc:Fallback>
                  <p:oleObj name="Equation" r:id="rId13" imgW="406224" imgH="634725" progId="Equation.DSMT4">
                    <p:embed/>
                    <p:pic>
                      <p:nvPicPr>
                        <p:cNvPr id="0" name="Picture 117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40" y="2937"/>
                          <a:ext cx="714" cy="10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 name="Oval 7"/>
            <p:cNvSpPr>
              <a:spLocks noChangeArrowheads="1"/>
            </p:cNvSpPr>
            <p:nvPr/>
          </p:nvSpPr>
          <p:spPr bwMode="auto">
            <a:xfrm>
              <a:off x="1632" y="3072"/>
              <a:ext cx="48" cy="48"/>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29" name="Oval 8"/>
            <p:cNvSpPr>
              <a:spLocks noChangeArrowheads="1"/>
            </p:cNvSpPr>
            <p:nvPr/>
          </p:nvSpPr>
          <p:spPr bwMode="auto">
            <a:xfrm>
              <a:off x="1632" y="3360"/>
              <a:ext cx="48" cy="48"/>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0" name="Oval 9"/>
            <p:cNvSpPr>
              <a:spLocks noChangeArrowheads="1"/>
            </p:cNvSpPr>
            <p:nvPr/>
          </p:nvSpPr>
          <p:spPr bwMode="auto">
            <a:xfrm>
              <a:off x="1632" y="3888"/>
              <a:ext cx="48" cy="48"/>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1" name="Freeform 10"/>
            <p:cNvSpPr>
              <a:spLocks/>
            </p:cNvSpPr>
            <p:nvPr/>
          </p:nvSpPr>
          <p:spPr bwMode="auto">
            <a:xfrm>
              <a:off x="1632" y="3072"/>
              <a:ext cx="864" cy="240"/>
            </a:xfrm>
            <a:custGeom>
              <a:avLst/>
              <a:gdLst>
                <a:gd name="T0" fmla="*/ 0 w 864"/>
                <a:gd name="T1" fmla="*/ 0 h 240"/>
                <a:gd name="T2" fmla="*/ 360 w 864"/>
                <a:gd name="T3" fmla="*/ 208 h 240"/>
                <a:gd name="T4" fmla="*/ 864 w 864"/>
                <a:gd name="T5" fmla="*/ 240 h 240"/>
                <a:gd name="T6" fmla="*/ 0 60000 65536"/>
                <a:gd name="T7" fmla="*/ 0 60000 65536"/>
                <a:gd name="T8" fmla="*/ 0 60000 65536"/>
                <a:gd name="T9" fmla="*/ 0 w 864"/>
                <a:gd name="T10" fmla="*/ 0 h 240"/>
                <a:gd name="T11" fmla="*/ 864 w 864"/>
                <a:gd name="T12" fmla="*/ 240 h 240"/>
              </a:gdLst>
              <a:ahLst/>
              <a:cxnLst>
                <a:cxn ang="T6">
                  <a:pos x="T0" y="T1"/>
                </a:cxn>
                <a:cxn ang="T7">
                  <a:pos x="T2" y="T3"/>
                </a:cxn>
                <a:cxn ang="T8">
                  <a:pos x="T4" y="T5"/>
                </a:cxn>
              </a:cxnLst>
              <a:rect l="T9" t="T10" r="T11" b="T12"/>
              <a:pathLst>
                <a:path w="864" h="240">
                  <a:moveTo>
                    <a:pt x="0" y="0"/>
                  </a:moveTo>
                  <a:lnTo>
                    <a:pt x="360" y="208"/>
                  </a:lnTo>
                  <a:lnTo>
                    <a:pt x="864" y="240"/>
                  </a:lnTo>
                </a:path>
              </a:pathLst>
            </a:custGeom>
            <a:noFill/>
            <a:ln w="9525">
              <a:solidFill>
                <a:schemeClr val="tx1"/>
              </a:solidFill>
              <a:round/>
              <a:headEnd/>
              <a:tailEnd type="triangle" w="med" len="med"/>
            </a:ln>
          </p:spPr>
          <p:txBody>
            <a:bodyPr/>
            <a:lstStyle/>
            <a:p>
              <a:endParaRPr lang="zh-CN" altLang="en-US"/>
            </a:p>
          </p:txBody>
        </p:sp>
        <p:sp>
          <p:nvSpPr>
            <p:cNvPr id="32" name="Line 11"/>
            <p:cNvSpPr>
              <a:spLocks noChangeShapeType="1"/>
            </p:cNvSpPr>
            <p:nvPr/>
          </p:nvSpPr>
          <p:spPr bwMode="auto">
            <a:xfrm>
              <a:off x="1632" y="3408"/>
              <a:ext cx="864" cy="0"/>
            </a:xfrm>
            <a:prstGeom prst="line">
              <a:avLst/>
            </a:prstGeom>
            <a:noFill/>
            <a:ln w="9525">
              <a:solidFill>
                <a:schemeClr val="tx1"/>
              </a:solidFill>
              <a:round/>
              <a:headEnd/>
              <a:tailEnd type="triangle" w="med" len="med"/>
            </a:ln>
          </p:spPr>
          <p:txBody>
            <a:bodyPr/>
            <a:lstStyle/>
            <a:p>
              <a:endParaRPr lang="zh-CN" altLang="en-US"/>
            </a:p>
          </p:txBody>
        </p:sp>
        <p:sp>
          <p:nvSpPr>
            <p:cNvPr id="33" name="Freeform 12"/>
            <p:cNvSpPr>
              <a:spLocks/>
            </p:cNvSpPr>
            <p:nvPr/>
          </p:nvSpPr>
          <p:spPr bwMode="auto">
            <a:xfrm>
              <a:off x="1632" y="3504"/>
              <a:ext cx="864" cy="432"/>
            </a:xfrm>
            <a:custGeom>
              <a:avLst/>
              <a:gdLst>
                <a:gd name="T0" fmla="*/ 0 w 864"/>
                <a:gd name="T1" fmla="*/ 432 h 432"/>
                <a:gd name="T2" fmla="*/ 383 w 864"/>
                <a:gd name="T3" fmla="*/ 58 h 432"/>
                <a:gd name="T4" fmla="*/ 864 w 864"/>
                <a:gd name="T5" fmla="*/ 0 h 432"/>
                <a:gd name="T6" fmla="*/ 0 60000 65536"/>
                <a:gd name="T7" fmla="*/ 0 60000 65536"/>
                <a:gd name="T8" fmla="*/ 0 60000 65536"/>
                <a:gd name="T9" fmla="*/ 0 w 864"/>
                <a:gd name="T10" fmla="*/ 0 h 432"/>
                <a:gd name="T11" fmla="*/ 864 w 864"/>
                <a:gd name="T12" fmla="*/ 432 h 432"/>
              </a:gdLst>
              <a:ahLst/>
              <a:cxnLst>
                <a:cxn ang="T6">
                  <a:pos x="T0" y="T1"/>
                </a:cxn>
                <a:cxn ang="T7">
                  <a:pos x="T2" y="T3"/>
                </a:cxn>
                <a:cxn ang="T8">
                  <a:pos x="T4" y="T5"/>
                </a:cxn>
              </a:cxnLst>
              <a:rect l="T9" t="T10" r="T11" b="T12"/>
              <a:pathLst>
                <a:path w="864" h="432">
                  <a:moveTo>
                    <a:pt x="0" y="432"/>
                  </a:moveTo>
                  <a:lnTo>
                    <a:pt x="383" y="58"/>
                  </a:lnTo>
                  <a:lnTo>
                    <a:pt x="864" y="0"/>
                  </a:lnTo>
                </a:path>
              </a:pathLst>
            </a:custGeom>
            <a:noFill/>
            <a:ln w="9525">
              <a:solidFill>
                <a:schemeClr val="tx1"/>
              </a:solidFill>
              <a:round/>
              <a:headEnd/>
              <a:tailEnd type="triangle" w="med" len="med"/>
            </a:ln>
          </p:spPr>
          <p:txBody>
            <a:bodyPr/>
            <a:lstStyle/>
            <a:p>
              <a:endParaRPr lang="zh-CN" altLang="en-US"/>
            </a:p>
          </p:txBody>
        </p:sp>
        <p:sp>
          <p:nvSpPr>
            <p:cNvPr id="34" name="Line 13"/>
            <p:cNvSpPr>
              <a:spLocks noChangeShapeType="1"/>
            </p:cNvSpPr>
            <p:nvPr/>
          </p:nvSpPr>
          <p:spPr bwMode="auto">
            <a:xfrm>
              <a:off x="4560" y="3360"/>
              <a:ext cx="384" cy="0"/>
            </a:xfrm>
            <a:prstGeom prst="line">
              <a:avLst/>
            </a:prstGeom>
            <a:noFill/>
            <a:ln w="9525">
              <a:solidFill>
                <a:schemeClr val="tx1"/>
              </a:solidFill>
              <a:round/>
              <a:headEnd/>
              <a:tailEnd type="triangle" w="med" len="med"/>
            </a:ln>
          </p:spPr>
          <p:txBody>
            <a:bodyPr/>
            <a:lstStyle/>
            <a:p>
              <a:endParaRPr lang="zh-CN" altLang="en-US"/>
            </a:p>
          </p:txBody>
        </p:sp>
        <p:graphicFrame>
          <p:nvGraphicFramePr>
            <p:cNvPr id="35" name="Object 4"/>
            <p:cNvGraphicFramePr>
              <a:graphicFrameLocks noChangeAspect="1"/>
            </p:cNvGraphicFramePr>
            <p:nvPr>
              <p:extLst>
                <p:ext uri="{D42A27DB-BD31-4B8C-83A1-F6EECF244321}">
                  <p14:modId xmlns:p14="http://schemas.microsoft.com/office/powerpoint/2010/main" val="131162847"/>
                </p:ext>
              </p:extLst>
            </p:nvPr>
          </p:nvGraphicFramePr>
          <p:xfrm>
            <a:off x="986" y="3977"/>
            <a:ext cx="862" cy="211"/>
          </p:xfrm>
          <a:graphic>
            <a:graphicData uri="http://schemas.openxmlformats.org/presentationml/2006/ole">
              <mc:AlternateContent xmlns:mc="http://schemas.openxmlformats.org/markup-compatibility/2006">
                <mc:Choice xmlns:v="urn:schemas-microsoft-com:vml" Requires="v">
                  <p:oleObj spid="_x0000_s91333" name="Equation" r:id="rId15" imgW="698400" imgH="215640" progId="Equation.DSMT4">
                    <p:embed/>
                  </p:oleObj>
                </mc:Choice>
                <mc:Fallback>
                  <p:oleObj name="Equation" r:id="rId15" imgW="698400" imgH="215640" progId="Equation.DSMT4">
                    <p:embed/>
                    <p:pic>
                      <p:nvPicPr>
                        <p:cNvPr id="0" name="Picture 117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86" y="3977"/>
                          <a:ext cx="862" cy="2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Object 5"/>
            <p:cNvGraphicFramePr>
              <a:graphicFrameLocks noChangeAspect="1"/>
            </p:cNvGraphicFramePr>
            <p:nvPr>
              <p:extLst>
                <p:ext uri="{D42A27DB-BD31-4B8C-83A1-F6EECF244321}">
                  <p14:modId xmlns:p14="http://schemas.microsoft.com/office/powerpoint/2010/main" val="1953841509"/>
                </p:ext>
              </p:extLst>
            </p:nvPr>
          </p:nvGraphicFramePr>
          <p:xfrm>
            <a:off x="2448" y="3648"/>
            <a:ext cx="801" cy="198"/>
          </p:xfrm>
          <a:graphic>
            <a:graphicData uri="http://schemas.openxmlformats.org/presentationml/2006/ole">
              <mc:AlternateContent xmlns:mc="http://schemas.openxmlformats.org/markup-compatibility/2006">
                <mc:Choice xmlns:v="urn:schemas-microsoft-com:vml" Requires="v">
                  <p:oleObj spid="_x0000_s91334" name="Equation" r:id="rId17" imgW="647419" imgH="203112" progId="Equation.3">
                    <p:embed/>
                  </p:oleObj>
                </mc:Choice>
                <mc:Fallback>
                  <p:oleObj name="Equation" r:id="rId17" imgW="647419" imgH="203112" progId="Equation.3">
                    <p:embed/>
                    <p:pic>
                      <p:nvPicPr>
                        <p:cNvPr id="0" name="Picture 117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448" y="3648"/>
                          <a:ext cx="801" cy="1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Object 6"/>
            <p:cNvGraphicFramePr>
              <a:graphicFrameLocks noChangeAspect="1"/>
            </p:cNvGraphicFramePr>
            <p:nvPr>
              <p:extLst>
                <p:ext uri="{D42A27DB-BD31-4B8C-83A1-F6EECF244321}">
                  <p14:modId xmlns:p14="http://schemas.microsoft.com/office/powerpoint/2010/main" val="2113255482"/>
                </p:ext>
              </p:extLst>
            </p:nvPr>
          </p:nvGraphicFramePr>
          <p:xfrm>
            <a:off x="4800" y="3744"/>
            <a:ext cx="424" cy="198"/>
          </p:xfrm>
          <a:graphic>
            <a:graphicData uri="http://schemas.openxmlformats.org/presentationml/2006/ole">
              <mc:AlternateContent xmlns:mc="http://schemas.openxmlformats.org/markup-compatibility/2006">
                <mc:Choice xmlns:v="urn:schemas-microsoft-com:vml" Requires="v">
                  <p:oleObj spid="_x0000_s91335" name="Equation" r:id="rId19" imgW="342751" imgH="203112" progId="Equation.3">
                    <p:embed/>
                  </p:oleObj>
                </mc:Choice>
                <mc:Fallback>
                  <p:oleObj name="Equation" r:id="rId19" imgW="342751" imgH="203112" progId="Equation.3">
                    <p:embed/>
                    <p:pic>
                      <p:nvPicPr>
                        <p:cNvPr id="0" name="Picture 117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00" y="3744"/>
                          <a:ext cx="424" cy="1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 name="Object 7"/>
            <p:cNvGraphicFramePr>
              <a:graphicFrameLocks noChangeAspect="1"/>
            </p:cNvGraphicFramePr>
            <p:nvPr/>
          </p:nvGraphicFramePr>
          <p:xfrm>
            <a:off x="4961" y="3168"/>
            <a:ext cx="580" cy="444"/>
          </p:xfrm>
          <a:graphic>
            <a:graphicData uri="http://schemas.openxmlformats.org/presentationml/2006/ole">
              <mc:AlternateContent xmlns:mc="http://schemas.openxmlformats.org/markup-compatibility/2006">
                <mc:Choice xmlns:v="urn:schemas-microsoft-com:vml" Requires="v">
                  <p:oleObj spid="_x0000_s91336" name="Equation" r:id="rId21" imgW="469900" imgH="457200" progId="Equation.DSMT4">
                    <p:embed/>
                  </p:oleObj>
                </mc:Choice>
                <mc:Fallback>
                  <p:oleObj name="Equation" r:id="rId21" imgW="469900" imgH="457200" progId="Equation.DSMT4">
                    <p:embed/>
                    <p:pic>
                      <p:nvPicPr>
                        <p:cNvPr id="0" name="Picture 118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961" y="3168"/>
                          <a:ext cx="580" cy="4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 name="Object 8"/>
            <p:cNvGraphicFramePr>
              <a:graphicFrameLocks noChangeAspect="1"/>
            </p:cNvGraphicFramePr>
            <p:nvPr/>
          </p:nvGraphicFramePr>
          <p:xfrm>
            <a:off x="4800" y="3120"/>
            <a:ext cx="192" cy="150"/>
          </p:xfrm>
          <a:graphic>
            <a:graphicData uri="http://schemas.openxmlformats.org/presentationml/2006/ole">
              <mc:AlternateContent xmlns:mc="http://schemas.openxmlformats.org/markup-compatibility/2006">
                <mc:Choice xmlns:v="urn:schemas-microsoft-com:vml" Requires="v">
                  <p:oleObj spid="_x0000_s91337" name="Equation" r:id="rId23" imgW="139700" imgH="139700" progId="Equation.3">
                    <p:embed/>
                  </p:oleObj>
                </mc:Choice>
                <mc:Fallback>
                  <p:oleObj name="Equation" r:id="rId23" imgW="139700" imgH="139700" progId="Equation.3">
                    <p:embed/>
                    <p:pic>
                      <p:nvPicPr>
                        <p:cNvPr id="0" name="Picture 118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800" y="3120"/>
                          <a:ext cx="192" cy="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 name="Object 9"/>
            <p:cNvGraphicFramePr>
              <a:graphicFrameLocks noChangeAspect="1"/>
            </p:cNvGraphicFramePr>
            <p:nvPr/>
          </p:nvGraphicFramePr>
          <p:xfrm>
            <a:off x="4800" y="3504"/>
            <a:ext cx="240" cy="113"/>
          </p:xfrm>
          <a:graphic>
            <a:graphicData uri="http://schemas.openxmlformats.org/presentationml/2006/ole">
              <mc:AlternateContent xmlns:mc="http://schemas.openxmlformats.org/markup-compatibility/2006">
                <mc:Choice xmlns:v="urn:schemas-microsoft-com:vml" Requires="v">
                  <p:oleObj spid="_x0000_s91338" name="Equation" r:id="rId25" imgW="126670" imgH="76002" progId="Equation.3">
                    <p:embed/>
                  </p:oleObj>
                </mc:Choice>
                <mc:Fallback>
                  <p:oleObj name="Equation" r:id="rId25" imgW="126670" imgH="76002" progId="Equation.3">
                    <p:embed/>
                    <p:pic>
                      <p:nvPicPr>
                        <p:cNvPr id="0" name="Picture 118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800" y="3504"/>
                          <a:ext cx="240" cy="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 name="Rectangle 20"/>
            <p:cNvSpPr>
              <a:spLocks noChangeArrowheads="1"/>
            </p:cNvSpPr>
            <p:nvPr/>
          </p:nvSpPr>
          <p:spPr bwMode="auto">
            <a:xfrm>
              <a:off x="3840" y="3696"/>
              <a:ext cx="670" cy="226"/>
            </a:xfrm>
            <a:prstGeom prst="rect">
              <a:avLst/>
            </a:prstGeom>
            <a:noFill/>
            <a:ln w="9525">
              <a:noFill/>
              <a:miter lim="800000"/>
              <a:headEnd/>
              <a:tailEnd/>
            </a:ln>
          </p:spPr>
          <p:txBody>
            <a:bodyPr wrap="none">
              <a:spAutoFit/>
            </a:bodyPr>
            <a:lstStyle/>
            <a:p>
              <a:r>
                <a:rPr lang="zh-CN" altLang="en-US" sz="1600" dirty="0">
                  <a:solidFill>
                    <a:schemeClr val="tx1"/>
                  </a:solidFill>
                  <a:latin typeface="宋体" panose="02010600030101010101" pitchFamily="2" charset="-122"/>
                  <a:ea typeface="宋体" panose="02010600030101010101" pitchFamily="2" charset="-122"/>
                </a:rPr>
                <a:t>阈值单元</a:t>
              </a:r>
            </a:p>
          </p:txBody>
        </p:sp>
        <p:sp>
          <p:nvSpPr>
            <p:cNvPr id="42" name="Line 21"/>
            <p:cNvSpPr>
              <a:spLocks noChangeShapeType="1"/>
            </p:cNvSpPr>
            <p:nvPr/>
          </p:nvSpPr>
          <p:spPr bwMode="auto">
            <a:xfrm>
              <a:off x="3936" y="3408"/>
              <a:ext cx="528" cy="0"/>
            </a:xfrm>
            <a:prstGeom prst="line">
              <a:avLst/>
            </a:prstGeom>
            <a:noFill/>
            <a:ln w="9525">
              <a:solidFill>
                <a:schemeClr val="tx1"/>
              </a:solidFill>
              <a:round/>
              <a:headEnd/>
              <a:tailEnd/>
            </a:ln>
          </p:spPr>
          <p:txBody>
            <a:bodyPr/>
            <a:lstStyle/>
            <a:p>
              <a:endParaRPr lang="zh-CN" altLang="en-US"/>
            </a:p>
          </p:txBody>
        </p:sp>
        <p:sp>
          <p:nvSpPr>
            <p:cNvPr id="43" name="Freeform 22"/>
            <p:cNvSpPr>
              <a:spLocks/>
            </p:cNvSpPr>
            <p:nvPr/>
          </p:nvSpPr>
          <p:spPr bwMode="auto">
            <a:xfrm>
              <a:off x="3924" y="3324"/>
              <a:ext cx="492" cy="180"/>
            </a:xfrm>
            <a:custGeom>
              <a:avLst/>
              <a:gdLst>
                <a:gd name="T0" fmla="*/ 492 w 492"/>
                <a:gd name="T1" fmla="*/ 0 h 180"/>
                <a:gd name="T2" fmla="*/ 264 w 492"/>
                <a:gd name="T3" fmla="*/ 36 h 180"/>
                <a:gd name="T4" fmla="*/ 240 w 492"/>
                <a:gd name="T5" fmla="*/ 144 h 180"/>
                <a:gd name="T6" fmla="*/ 0 w 492"/>
                <a:gd name="T7" fmla="*/ 180 h 180"/>
                <a:gd name="T8" fmla="*/ 0 60000 65536"/>
                <a:gd name="T9" fmla="*/ 0 60000 65536"/>
                <a:gd name="T10" fmla="*/ 0 60000 65536"/>
                <a:gd name="T11" fmla="*/ 0 60000 65536"/>
                <a:gd name="T12" fmla="*/ 0 w 492"/>
                <a:gd name="T13" fmla="*/ 0 h 180"/>
                <a:gd name="T14" fmla="*/ 492 w 492"/>
                <a:gd name="T15" fmla="*/ 180 h 180"/>
              </a:gdLst>
              <a:ahLst/>
              <a:cxnLst>
                <a:cxn ang="T8">
                  <a:pos x="T0" y="T1"/>
                </a:cxn>
                <a:cxn ang="T9">
                  <a:pos x="T2" y="T3"/>
                </a:cxn>
                <a:cxn ang="T10">
                  <a:pos x="T4" y="T5"/>
                </a:cxn>
                <a:cxn ang="T11">
                  <a:pos x="T6" y="T7"/>
                </a:cxn>
              </a:cxnLst>
              <a:rect l="T12" t="T13" r="T14" b="T15"/>
              <a:pathLst>
                <a:path w="492" h="180">
                  <a:moveTo>
                    <a:pt x="492" y="0"/>
                  </a:moveTo>
                  <a:lnTo>
                    <a:pt x="264" y="36"/>
                  </a:lnTo>
                  <a:lnTo>
                    <a:pt x="240" y="144"/>
                  </a:lnTo>
                  <a:lnTo>
                    <a:pt x="0" y="180"/>
                  </a:lnTo>
                </a:path>
              </a:pathLst>
            </a:custGeom>
            <a:noFill/>
            <a:ln w="9525">
              <a:solidFill>
                <a:schemeClr val="tx1"/>
              </a:solidFill>
              <a:round/>
              <a:headEnd/>
              <a:tailEnd/>
            </a:ln>
          </p:spPr>
          <p:txBody>
            <a:bodyPr/>
            <a:lstStyle/>
            <a:p>
              <a:endParaRPr lang="zh-CN" altLang="en-US"/>
            </a:p>
          </p:txBody>
        </p:sp>
      </p:grpSp>
    </p:spTree>
    <p:extLst>
      <p:ext uri="{BB962C8B-B14F-4D97-AF65-F5344CB8AC3E}">
        <p14:creationId xmlns:p14="http://schemas.microsoft.com/office/powerpoint/2010/main" val="13285386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17</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13.1 </a:t>
            </a:r>
            <a:r>
              <a:rPr lang="zh-CN" altLang="zh-CN" dirty="0"/>
              <a:t>最小错误率贝叶斯决策</a:t>
            </a:r>
          </a:p>
        </p:txBody>
      </p:sp>
      <p:graphicFrame>
        <p:nvGraphicFramePr>
          <p:cNvPr id="16" name="Object 3"/>
          <p:cNvGraphicFramePr>
            <a:graphicFrameLocks noChangeAspect="1"/>
          </p:cNvGraphicFramePr>
          <p:nvPr/>
        </p:nvGraphicFramePr>
        <p:xfrm>
          <a:off x="8950325" y="1038140"/>
          <a:ext cx="3206503" cy="792586"/>
        </p:xfrm>
        <a:graphic>
          <a:graphicData uri="http://schemas.openxmlformats.org/presentationml/2006/ole">
            <mc:AlternateContent xmlns:mc="http://schemas.openxmlformats.org/markup-compatibility/2006">
              <mc:Choice xmlns:v="urn:schemas-microsoft-com:vml" Requires="v">
                <p:oleObj spid="_x0000_s92348" name="Equation" r:id="rId4" imgW="31776840" imgH="7596000" progId="Equation.DSMT4">
                  <p:embed/>
                </p:oleObj>
              </mc:Choice>
              <mc:Fallback>
                <p:oleObj name="Equation" r:id="rId4" imgW="31776840" imgH="7596000" progId="Equation.DSMT4">
                  <p:embed/>
                  <p:pic>
                    <p:nvPicPr>
                      <p:cNvPr id="0" name="Picture 116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50325" y="1038140"/>
                        <a:ext cx="3206503" cy="792586"/>
                      </a:xfrm>
                      <a:prstGeom prst="rect">
                        <a:avLst/>
                      </a:prstGeom>
                      <a:solidFill>
                        <a:schemeClr val="accent2"/>
                      </a:solidFill>
                    </p:spPr>
                  </p:pic>
                </p:oleObj>
              </mc:Fallback>
            </mc:AlternateContent>
          </a:graphicData>
        </a:graphic>
      </p:graphicFrame>
      <p:sp>
        <p:nvSpPr>
          <p:cNvPr id="17" name="内容占位符 2"/>
          <p:cNvSpPr txBox="1">
            <a:spLocks/>
          </p:cNvSpPr>
          <p:nvPr/>
        </p:nvSpPr>
        <p:spPr bwMode="auto">
          <a:xfrm>
            <a:off x="244104" y="1068641"/>
            <a:ext cx="8229600" cy="571500"/>
          </a:xfrm>
          <a:prstGeom prst="rect">
            <a:avLst/>
          </a:prstGeom>
          <a:noFill/>
          <a:ln w="9525">
            <a:noFill/>
            <a:miter lim="800000"/>
            <a:headEnd/>
            <a:tailEnd/>
          </a:ln>
        </p:spPr>
        <p:txBody>
          <a:bodyPr/>
          <a:lstStyle/>
          <a:p>
            <a:pPr eaLnBrk="0" hangingPunct="0">
              <a:spcBef>
                <a:spcPct val="20000"/>
              </a:spcBef>
              <a:buClr>
                <a:schemeClr val="tx2"/>
              </a:buClr>
              <a:buSzPct val="50000"/>
              <a:defRPr/>
            </a:pPr>
            <a:r>
              <a:rPr kumimoji="0" lang="en-US" altLang="zh-CN" sz="2400" dirty="0">
                <a:solidFill>
                  <a:srgbClr val="FF0000"/>
                </a:solidFill>
                <a:latin typeface="+mj-ea"/>
                <a:ea typeface="+mj-ea"/>
              </a:rPr>
              <a:t>(2) </a:t>
            </a:r>
            <a:r>
              <a:rPr lang="zh-CN" altLang="en-US" sz="2400" dirty="0">
                <a:solidFill>
                  <a:srgbClr val="FF0000"/>
                </a:solidFill>
                <a:latin typeface="+mj-ea"/>
                <a:ea typeface="+mj-ea"/>
              </a:rPr>
              <a:t>多</a:t>
            </a:r>
            <a:r>
              <a:rPr kumimoji="0" lang="zh-CN" altLang="en-US" sz="2400" dirty="0">
                <a:solidFill>
                  <a:srgbClr val="FF0000"/>
                </a:solidFill>
                <a:latin typeface="+mj-ea"/>
                <a:ea typeface="+mj-ea"/>
              </a:rPr>
              <a:t>分类情况下的最小错误率贝叶斯决策 </a:t>
            </a:r>
            <a:endParaRPr kumimoji="0" lang="en-US" altLang="zh-CN" sz="2400" dirty="0">
              <a:solidFill>
                <a:srgbClr val="FF0000"/>
              </a:solidFill>
              <a:latin typeface="+mj-ea"/>
              <a:ea typeface="+mj-ea"/>
            </a:endParaRPr>
          </a:p>
          <a:p>
            <a:pPr marL="342900" indent="-342900" eaLnBrk="0" hangingPunct="0">
              <a:spcBef>
                <a:spcPct val="20000"/>
              </a:spcBef>
              <a:buClr>
                <a:schemeClr val="tx2"/>
              </a:buClr>
              <a:buSzPct val="50000"/>
              <a:buFont typeface="Wingdings 2" pitchFamily="18" charset="2"/>
              <a:buChar char="ß"/>
              <a:defRPr/>
            </a:pPr>
            <a:endParaRPr kumimoji="0" lang="en-US" altLang="zh-CN" sz="2400" dirty="0">
              <a:solidFill>
                <a:schemeClr val="tx1"/>
              </a:solidFill>
              <a:latin typeface="+mj-ea"/>
              <a:ea typeface="+mj-ea"/>
            </a:endParaRPr>
          </a:p>
          <a:p>
            <a:pPr marL="342900" indent="-342900" eaLnBrk="0" hangingPunct="0">
              <a:spcBef>
                <a:spcPct val="20000"/>
              </a:spcBef>
              <a:buClr>
                <a:schemeClr val="tx2"/>
              </a:buClr>
              <a:buSzPct val="50000"/>
              <a:buFont typeface="Wingdings 2" pitchFamily="18" charset="2"/>
              <a:buChar char="ß"/>
              <a:defRPr/>
            </a:pPr>
            <a:endParaRPr kumimoji="0" lang="en-US" altLang="zh-CN" sz="2400" dirty="0">
              <a:solidFill>
                <a:schemeClr val="tx1"/>
              </a:solidFill>
              <a:latin typeface="+mj-ea"/>
              <a:ea typeface="+mj-ea"/>
            </a:endParaRPr>
          </a:p>
          <a:p>
            <a:pPr marL="342900" indent="-342900" eaLnBrk="0" hangingPunct="0">
              <a:spcBef>
                <a:spcPct val="20000"/>
              </a:spcBef>
              <a:buClr>
                <a:schemeClr val="tx2"/>
              </a:buClr>
              <a:buSzPct val="50000"/>
              <a:buFont typeface="Wingdings 2" pitchFamily="18" charset="2"/>
              <a:buNone/>
              <a:defRPr/>
            </a:pPr>
            <a:r>
              <a:rPr kumimoji="0" lang="zh-CN" altLang="en-US" sz="2400" dirty="0">
                <a:solidFill>
                  <a:schemeClr val="tx1"/>
                </a:solidFill>
                <a:latin typeface="+mj-ea"/>
                <a:ea typeface="+mj-ea"/>
              </a:rPr>
              <a:t>     </a:t>
            </a:r>
            <a:endParaRPr kumimoji="0" lang="en-US" altLang="zh-CN" sz="2400" dirty="0">
              <a:solidFill>
                <a:schemeClr val="tx1"/>
              </a:solidFill>
              <a:latin typeface="+mj-ea"/>
              <a:ea typeface="+mj-ea"/>
            </a:endParaRPr>
          </a:p>
          <a:p>
            <a:pPr marL="342900" indent="-342900" eaLnBrk="0" hangingPunct="0">
              <a:spcBef>
                <a:spcPct val="20000"/>
              </a:spcBef>
              <a:buClr>
                <a:schemeClr val="tx2"/>
              </a:buClr>
              <a:buSzPct val="50000"/>
              <a:buFont typeface="Wingdings 2" pitchFamily="18" charset="2"/>
              <a:buNone/>
              <a:defRPr/>
            </a:pPr>
            <a:r>
              <a:rPr kumimoji="0" lang="zh-CN" altLang="en-US" sz="2400" dirty="0">
                <a:solidFill>
                  <a:schemeClr val="tx1"/>
                </a:solidFill>
                <a:latin typeface="+mj-ea"/>
                <a:ea typeface="+mj-ea"/>
              </a:rPr>
              <a:t>      </a:t>
            </a:r>
            <a:endParaRPr kumimoji="0" lang="zh-CN" altLang="en-US" sz="2400" baseline="-25000" dirty="0">
              <a:solidFill>
                <a:schemeClr val="tx1"/>
              </a:solidFill>
              <a:latin typeface="+mj-ea"/>
              <a:ea typeface="+mj-ea"/>
            </a:endParaRPr>
          </a:p>
        </p:txBody>
      </p:sp>
      <p:graphicFrame>
        <p:nvGraphicFramePr>
          <p:cNvPr id="22" name="Object 3"/>
          <p:cNvGraphicFramePr>
            <a:graphicFrameLocks noChangeAspect="1"/>
          </p:cNvGraphicFramePr>
          <p:nvPr>
            <p:extLst>
              <p:ext uri="{D42A27DB-BD31-4B8C-83A1-F6EECF244321}">
                <p14:modId xmlns:p14="http://schemas.microsoft.com/office/powerpoint/2010/main" val="995099601"/>
              </p:ext>
            </p:extLst>
          </p:nvPr>
        </p:nvGraphicFramePr>
        <p:xfrm>
          <a:off x="253108" y="1640141"/>
          <a:ext cx="8542958" cy="738929"/>
        </p:xfrm>
        <a:graphic>
          <a:graphicData uri="http://schemas.openxmlformats.org/presentationml/2006/ole">
            <mc:AlternateContent xmlns:mc="http://schemas.openxmlformats.org/markup-compatibility/2006">
              <mc:Choice xmlns:v="urn:schemas-microsoft-com:vml" Requires="v">
                <p:oleObj spid="_x0000_s92349" name="Equation" r:id="rId6" imgW="3657600" imgH="342720" progId="Equation.DSMT4">
                  <p:embed/>
                </p:oleObj>
              </mc:Choice>
              <mc:Fallback>
                <p:oleObj name="Equation" r:id="rId6" imgW="3657600" imgH="342720" progId="Equation.DSMT4">
                  <p:embed/>
                  <p:pic>
                    <p:nvPicPr>
                      <p:cNvPr id="0" name="Picture 116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3108" y="1640141"/>
                        <a:ext cx="8542958" cy="738929"/>
                      </a:xfrm>
                      <a:prstGeom prst="rect">
                        <a:avLst/>
                      </a:prstGeom>
                      <a:noFill/>
                      <a:ln w="31750">
                        <a:solidFill>
                          <a:schemeClr val="bg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内容占位符 2"/>
          <p:cNvSpPr>
            <a:spLocks noGrp="1"/>
          </p:cNvSpPr>
          <p:nvPr>
            <p:ph idx="1"/>
          </p:nvPr>
        </p:nvSpPr>
        <p:spPr>
          <a:xfrm>
            <a:off x="215380" y="2215222"/>
            <a:ext cx="11389096" cy="634331"/>
          </a:xfrm>
        </p:spPr>
        <p:txBody>
          <a:bodyPr/>
          <a:lstStyle/>
          <a:p>
            <a:pPr marL="15875" indent="-31750" algn="just">
              <a:lnSpc>
                <a:spcPct val="150000"/>
              </a:lnSpc>
              <a:spcBef>
                <a:spcPts val="1200"/>
              </a:spcBef>
              <a:buFont typeface="Wingdings 2" pitchFamily="18" charset="2"/>
              <a:buNone/>
            </a:pPr>
            <a:r>
              <a:rPr lang="zh-CN" altLang="en-US" sz="2200" dirty="0">
                <a:latin typeface="黑体" panose="02010609060101010101" pitchFamily="49" charset="-122"/>
                <a:ea typeface="黑体" panose="02010609060101010101" pitchFamily="49" charset="-122"/>
              </a:rPr>
              <a:t>判别函数：</a:t>
            </a:r>
            <a:endParaRPr lang="zh-CN" altLang="en-US" sz="2200" baseline="-25000" dirty="0">
              <a:latin typeface="黑体" panose="02010609060101010101" pitchFamily="49" charset="-122"/>
              <a:ea typeface="黑体" panose="02010609060101010101" pitchFamily="49" charset="-122"/>
            </a:endParaRPr>
          </a:p>
        </p:txBody>
      </p:sp>
      <p:graphicFrame>
        <p:nvGraphicFramePr>
          <p:cNvPr id="24" name="Object 17"/>
          <p:cNvGraphicFramePr>
            <a:graphicFrameLocks noChangeAspect="1"/>
          </p:cNvGraphicFramePr>
          <p:nvPr>
            <p:extLst>
              <p:ext uri="{D42A27DB-BD31-4B8C-83A1-F6EECF244321}">
                <p14:modId xmlns:p14="http://schemas.microsoft.com/office/powerpoint/2010/main" val="789824061"/>
              </p:ext>
            </p:extLst>
          </p:nvPr>
        </p:nvGraphicFramePr>
        <p:xfrm>
          <a:off x="259830" y="2902802"/>
          <a:ext cx="9197976" cy="608012"/>
        </p:xfrm>
        <a:graphic>
          <a:graphicData uri="http://schemas.openxmlformats.org/presentationml/2006/ole">
            <mc:AlternateContent xmlns:mc="http://schemas.openxmlformats.org/markup-compatibility/2006">
              <mc:Choice xmlns:v="urn:schemas-microsoft-com:vml" Requires="v">
                <p:oleObj spid="_x0000_s92350" name="Equation" r:id="rId8" imgW="2882880" imgH="215640" progId="Equation.DSMT4">
                  <p:embed/>
                </p:oleObj>
              </mc:Choice>
              <mc:Fallback>
                <p:oleObj name="Equation" r:id="rId8" imgW="2882880" imgH="215640" progId="Equation.DSMT4">
                  <p:embed/>
                  <p:pic>
                    <p:nvPicPr>
                      <p:cNvPr id="0" name="Picture 117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9830" y="2902802"/>
                        <a:ext cx="9197976" cy="608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18"/>
          <p:cNvGraphicFramePr>
            <a:graphicFrameLocks noChangeAspect="1"/>
          </p:cNvGraphicFramePr>
          <p:nvPr>
            <p:extLst>
              <p:ext uri="{D42A27DB-BD31-4B8C-83A1-F6EECF244321}">
                <p14:modId xmlns:p14="http://schemas.microsoft.com/office/powerpoint/2010/main" val="4167290480"/>
              </p:ext>
            </p:extLst>
          </p:nvPr>
        </p:nvGraphicFramePr>
        <p:xfrm>
          <a:off x="200944" y="3490393"/>
          <a:ext cx="10799763" cy="619125"/>
        </p:xfrm>
        <a:graphic>
          <a:graphicData uri="http://schemas.openxmlformats.org/presentationml/2006/ole">
            <mc:AlternateContent xmlns:mc="http://schemas.openxmlformats.org/markup-compatibility/2006">
              <mc:Choice xmlns:v="urn:schemas-microsoft-com:vml" Requires="v">
                <p:oleObj spid="_x0000_s92351" name="Equation" r:id="rId10" imgW="2908080" imgH="228600" progId="Equation.DSMT4">
                  <p:embed/>
                </p:oleObj>
              </mc:Choice>
              <mc:Fallback>
                <p:oleObj name="Equation" r:id="rId10" imgW="2908080" imgH="228600" progId="Equation.DSMT4">
                  <p:embed/>
                  <p:pic>
                    <p:nvPicPr>
                      <p:cNvPr id="0" name="Picture 117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0944" y="3490393"/>
                        <a:ext cx="10799763" cy="619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6" name="Group 48"/>
          <p:cNvGrpSpPr>
            <a:grpSpLocks/>
          </p:cNvGrpSpPr>
          <p:nvPr/>
        </p:nvGrpSpPr>
        <p:grpSpPr bwMode="auto">
          <a:xfrm>
            <a:off x="2014997" y="4258616"/>
            <a:ext cx="7789862" cy="2028825"/>
            <a:chOff x="695" y="2682"/>
            <a:chExt cx="4907" cy="1278"/>
          </a:xfrm>
        </p:grpSpPr>
        <p:sp>
          <p:nvSpPr>
            <p:cNvPr id="27" name="Rectangle 15"/>
            <p:cNvSpPr>
              <a:spLocks noChangeArrowheads="1"/>
            </p:cNvSpPr>
            <p:nvPr/>
          </p:nvSpPr>
          <p:spPr bwMode="auto">
            <a:xfrm>
              <a:off x="2352" y="2682"/>
              <a:ext cx="528" cy="192"/>
            </a:xfrm>
            <a:prstGeom prst="rect">
              <a:avLst/>
            </a:prstGeom>
            <a:noFill/>
            <a:ln w="9525">
              <a:solidFill>
                <a:schemeClr val="tx1"/>
              </a:solidFill>
              <a:miter lim="800000"/>
              <a:headEnd/>
              <a:tailEnd/>
            </a:ln>
          </p:spPr>
          <p:txBody>
            <a:bodyPr wrap="none" anchor="ctr"/>
            <a:lstStyle/>
            <a:p>
              <a:pPr algn="ctr"/>
              <a:r>
                <a:rPr lang="en-US" altLang="zh-CN" sz="2000" dirty="0">
                  <a:solidFill>
                    <a:schemeClr val="tx1"/>
                  </a:solidFill>
                </a:rPr>
                <a:t>g</a:t>
              </a:r>
              <a:r>
                <a:rPr lang="en-US" altLang="zh-CN" sz="2000" baseline="-25000" dirty="0">
                  <a:solidFill>
                    <a:schemeClr val="tx1"/>
                  </a:solidFill>
                </a:rPr>
                <a:t>1</a:t>
              </a:r>
              <a:r>
                <a:rPr lang="en-US" altLang="zh-CN" sz="2000" dirty="0">
                  <a:solidFill>
                    <a:schemeClr val="tx1"/>
                  </a:solidFill>
                </a:rPr>
                <a:t>(</a:t>
              </a:r>
              <a:r>
                <a:rPr lang="en-US" altLang="zh-CN" sz="2000" i="1" dirty="0">
                  <a:solidFill>
                    <a:schemeClr val="tx1"/>
                  </a:solidFill>
                </a:rPr>
                <a:t>X</a:t>
              </a:r>
              <a:r>
                <a:rPr lang="en-US" altLang="zh-CN" sz="2000" dirty="0">
                  <a:solidFill>
                    <a:schemeClr val="tx1"/>
                  </a:solidFill>
                </a:rPr>
                <a:t>)</a:t>
              </a:r>
            </a:p>
          </p:txBody>
        </p:sp>
        <p:sp>
          <p:nvSpPr>
            <p:cNvPr id="28" name="Line 16"/>
            <p:cNvSpPr>
              <a:spLocks noChangeShapeType="1"/>
            </p:cNvSpPr>
            <p:nvPr/>
          </p:nvSpPr>
          <p:spPr bwMode="auto">
            <a:xfrm>
              <a:off x="2880" y="3066"/>
              <a:ext cx="720" cy="0"/>
            </a:xfrm>
            <a:prstGeom prst="line">
              <a:avLst/>
            </a:prstGeom>
            <a:noFill/>
            <a:ln w="9525">
              <a:solidFill>
                <a:schemeClr val="tx1"/>
              </a:solidFill>
              <a:round/>
              <a:headEnd/>
              <a:tailEnd type="triangle" w="med" len="med"/>
            </a:ln>
          </p:spPr>
          <p:txBody>
            <a:bodyPr/>
            <a:lstStyle/>
            <a:p>
              <a:endParaRPr lang="zh-CN" altLang="en-US"/>
            </a:p>
          </p:txBody>
        </p:sp>
        <p:sp>
          <p:nvSpPr>
            <p:cNvPr id="29" name="Rectangle 17"/>
            <p:cNvSpPr>
              <a:spLocks noChangeArrowheads="1"/>
            </p:cNvSpPr>
            <p:nvPr/>
          </p:nvSpPr>
          <p:spPr bwMode="auto">
            <a:xfrm>
              <a:off x="3696" y="2880"/>
              <a:ext cx="816" cy="384"/>
            </a:xfrm>
            <a:prstGeom prst="rect">
              <a:avLst/>
            </a:prstGeom>
            <a:noFill/>
            <a:ln w="9525">
              <a:solidFill>
                <a:schemeClr val="tx1"/>
              </a:solidFill>
              <a:miter lim="800000"/>
              <a:headEnd/>
              <a:tailEnd/>
            </a:ln>
          </p:spPr>
          <p:txBody>
            <a:bodyPr wrap="none" anchor="ctr"/>
            <a:lstStyle/>
            <a:p>
              <a:pPr algn="ctr"/>
              <a:r>
                <a:rPr lang="en-US" altLang="zh-CN" sz="2000">
                  <a:solidFill>
                    <a:schemeClr val="tx1"/>
                  </a:solidFill>
                </a:rPr>
                <a:t>Max</a:t>
              </a:r>
              <a:r>
                <a:rPr lang="zh-CN" altLang="en-US" sz="2000">
                  <a:solidFill>
                    <a:schemeClr val="tx1"/>
                  </a:solidFill>
                </a:rPr>
                <a:t>  </a:t>
              </a:r>
              <a:r>
                <a:rPr lang="en-US" altLang="zh-CN" sz="2000">
                  <a:solidFill>
                    <a:schemeClr val="tx1"/>
                  </a:solidFill>
                </a:rPr>
                <a:t>g(</a:t>
              </a:r>
              <a:r>
                <a:rPr lang="en-US" altLang="zh-CN" sz="2000" i="1">
                  <a:solidFill>
                    <a:schemeClr val="tx1"/>
                  </a:solidFill>
                </a:rPr>
                <a:t>X</a:t>
              </a:r>
              <a:r>
                <a:rPr lang="en-US" altLang="zh-CN" sz="2000">
                  <a:solidFill>
                    <a:schemeClr val="tx1"/>
                  </a:solidFill>
                </a:rPr>
                <a:t>)</a:t>
              </a:r>
            </a:p>
          </p:txBody>
        </p:sp>
        <p:graphicFrame>
          <p:nvGraphicFramePr>
            <p:cNvPr id="30" name="Object 3"/>
            <p:cNvGraphicFramePr>
              <a:graphicFrameLocks noChangeAspect="1"/>
            </p:cNvGraphicFramePr>
            <p:nvPr/>
          </p:nvGraphicFramePr>
          <p:xfrm>
            <a:off x="695" y="2682"/>
            <a:ext cx="760" cy="1080"/>
          </p:xfrm>
          <a:graphic>
            <a:graphicData uri="http://schemas.openxmlformats.org/presentationml/2006/ole">
              <mc:AlternateContent xmlns:mc="http://schemas.openxmlformats.org/markup-compatibility/2006">
                <mc:Choice xmlns:v="urn:schemas-microsoft-com:vml" Requires="v">
                  <p:oleObj spid="_x0000_s92352" name="Equation" r:id="rId12" imgW="406224" imgH="634725" progId="Equation.DSMT4">
                    <p:embed/>
                  </p:oleObj>
                </mc:Choice>
                <mc:Fallback>
                  <p:oleObj name="Equation" r:id="rId12" imgW="406224" imgH="634725" progId="Equation.DSMT4">
                    <p:embed/>
                    <p:pic>
                      <p:nvPicPr>
                        <p:cNvPr id="0" name="Picture 117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95" y="2682"/>
                          <a:ext cx="760" cy="10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Oval 19"/>
            <p:cNvSpPr>
              <a:spLocks noChangeArrowheads="1"/>
            </p:cNvSpPr>
            <p:nvPr/>
          </p:nvSpPr>
          <p:spPr bwMode="auto">
            <a:xfrm>
              <a:off x="1440" y="2778"/>
              <a:ext cx="48" cy="48"/>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2" name="Oval 20"/>
            <p:cNvSpPr>
              <a:spLocks noChangeArrowheads="1"/>
            </p:cNvSpPr>
            <p:nvPr/>
          </p:nvSpPr>
          <p:spPr bwMode="auto">
            <a:xfrm>
              <a:off x="1440" y="3066"/>
              <a:ext cx="48" cy="48"/>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3" name="Oval 21"/>
            <p:cNvSpPr>
              <a:spLocks noChangeArrowheads="1"/>
            </p:cNvSpPr>
            <p:nvPr/>
          </p:nvSpPr>
          <p:spPr bwMode="auto">
            <a:xfrm>
              <a:off x="1440" y="3594"/>
              <a:ext cx="48" cy="48"/>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4" name="Freeform 22"/>
            <p:cNvSpPr>
              <a:spLocks/>
            </p:cNvSpPr>
            <p:nvPr/>
          </p:nvSpPr>
          <p:spPr bwMode="auto">
            <a:xfrm>
              <a:off x="1440" y="2778"/>
              <a:ext cx="888" cy="17"/>
            </a:xfrm>
            <a:custGeom>
              <a:avLst/>
              <a:gdLst>
                <a:gd name="T0" fmla="*/ 0 w 888"/>
                <a:gd name="T1" fmla="*/ 0 h 17"/>
                <a:gd name="T2" fmla="*/ 406 w 888"/>
                <a:gd name="T3" fmla="*/ 5 h 17"/>
                <a:gd name="T4" fmla="*/ 888 w 888"/>
                <a:gd name="T5" fmla="*/ 17 h 17"/>
                <a:gd name="T6" fmla="*/ 0 60000 65536"/>
                <a:gd name="T7" fmla="*/ 0 60000 65536"/>
                <a:gd name="T8" fmla="*/ 0 60000 65536"/>
                <a:gd name="T9" fmla="*/ 0 w 888"/>
                <a:gd name="T10" fmla="*/ 0 h 17"/>
                <a:gd name="T11" fmla="*/ 888 w 888"/>
                <a:gd name="T12" fmla="*/ 17 h 17"/>
              </a:gdLst>
              <a:ahLst/>
              <a:cxnLst>
                <a:cxn ang="T6">
                  <a:pos x="T0" y="T1"/>
                </a:cxn>
                <a:cxn ang="T7">
                  <a:pos x="T2" y="T3"/>
                </a:cxn>
                <a:cxn ang="T8">
                  <a:pos x="T4" y="T5"/>
                </a:cxn>
              </a:cxnLst>
              <a:rect l="T9" t="T10" r="T11" b="T12"/>
              <a:pathLst>
                <a:path w="888" h="17">
                  <a:moveTo>
                    <a:pt x="0" y="0"/>
                  </a:moveTo>
                  <a:lnTo>
                    <a:pt x="406" y="5"/>
                  </a:lnTo>
                  <a:lnTo>
                    <a:pt x="888" y="17"/>
                  </a:lnTo>
                </a:path>
              </a:pathLst>
            </a:custGeom>
            <a:noFill/>
            <a:ln w="9525">
              <a:solidFill>
                <a:schemeClr val="tx1"/>
              </a:solidFill>
              <a:round/>
              <a:headEnd/>
              <a:tailEnd type="triangle" w="med" len="med"/>
            </a:ln>
          </p:spPr>
          <p:txBody>
            <a:bodyPr/>
            <a:lstStyle/>
            <a:p>
              <a:endParaRPr lang="zh-CN" altLang="en-US"/>
            </a:p>
          </p:txBody>
        </p:sp>
        <p:sp>
          <p:nvSpPr>
            <p:cNvPr id="35" name="Line 23"/>
            <p:cNvSpPr>
              <a:spLocks noChangeShapeType="1"/>
            </p:cNvSpPr>
            <p:nvPr/>
          </p:nvSpPr>
          <p:spPr bwMode="auto">
            <a:xfrm>
              <a:off x="1440" y="3114"/>
              <a:ext cx="864" cy="0"/>
            </a:xfrm>
            <a:prstGeom prst="line">
              <a:avLst/>
            </a:prstGeom>
            <a:noFill/>
            <a:ln w="9525">
              <a:solidFill>
                <a:schemeClr val="tx1"/>
              </a:solidFill>
              <a:round/>
              <a:headEnd/>
              <a:tailEnd type="triangle" w="med" len="med"/>
            </a:ln>
          </p:spPr>
          <p:txBody>
            <a:bodyPr/>
            <a:lstStyle/>
            <a:p>
              <a:endParaRPr lang="zh-CN" altLang="en-US"/>
            </a:p>
          </p:txBody>
        </p:sp>
        <p:sp>
          <p:nvSpPr>
            <p:cNvPr id="36" name="Freeform 24"/>
            <p:cNvSpPr>
              <a:spLocks/>
            </p:cNvSpPr>
            <p:nvPr/>
          </p:nvSpPr>
          <p:spPr bwMode="auto">
            <a:xfrm>
              <a:off x="1440" y="3594"/>
              <a:ext cx="852" cy="48"/>
            </a:xfrm>
            <a:custGeom>
              <a:avLst/>
              <a:gdLst>
                <a:gd name="T0" fmla="*/ 0 w 852"/>
                <a:gd name="T1" fmla="*/ 48 h 48"/>
                <a:gd name="T2" fmla="*/ 417 w 852"/>
                <a:gd name="T3" fmla="*/ 24 h 48"/>
                <a:gd name="T4" fmla="*/ 852 w 852"/>
                <a:gd name="T5" fmla="*/ 0 h 48"/>
                <a:gd name="T6" fmla="*/ 0 60000 65536"/>
                <a:gd name="T7" fmla="*/ 0 60000 65536"/>
                <a:gd name="T8" fmla="*/ 0 60000 65536"/>
                <a:gd name="T9" fmla="*/ 0 w 852"/>
                <a:gd name="T10" fmla="*/ 0 h 48"/>
                <a:gd name="T11" fmla="*/ 852 w 852"/>
                <a:gd name="T12" fmla="*/ 48 h 48"/>
              </a:gdLst>
              <a:ahLst/>
              <a:cxnLst>
                <a:cxn ang="T6">
                  <a:pos x="T0" y="T1"/>
                </a:cxn>
                <a:cxn ang="T7">
                  <a:pos x="T2" y="T3"/>
                </a:cxn>
                <a:cxn ang="T8">
                  <a:pos x="T4" y="T5"/>
                </a:cxn>
              </a:cxnLst>
              <a:rect l="T9" t="T10" r="T11" b="T12"/>
              <a:pathLst>
                <a:path w="852" h="48">
                  <a:moveTo>
                    <a:pt x="0" y="48"/>
                  </a:moveTo>
                  <a:lnTo>
                    <a:pt x="417" y="24"/>
                  </a:lnTo>
                  <a:lnTo>
                    <a:pt x="852" y="0"/>
                  </a:lnTo>
                </a:path>
              </a:pathLst>
            </a:custGeom>
            <a:noFill/>
            <a:ln w="9525">
              <a:solidFill>
                <a:schemeClr val="tx1"/>
              </a:solidFill>
              <a:round/>
              <a:headEnd/>
              <a:tailEnd type="triangle" w="med" len="med"/>
            </a:ln>
          </p:spPr>
          <p:txBody>
            <a:bodyPr/>
            <a:lstStyle/>
            <a:p>
              <a:endParaRPr lang="zh-CN" altLang="en-US"/>
            </a:p>
          </p:txBody>
        </p:sp>
        <p:sp>
          <p:nvSpPr>
            <p:cNvPr id="37" name="Line 25"/>
            <p:cNvSpPr>
              <a:spLocks noChangeShapeType="1"/>
            </p:cNvSpPr>
            <p:nvPr/>
          </p:nvSpPr>
          <p:spPr bwMode="auto">
            <a:xfrm>
              <a:off x="4543" y="3066"/>
              <a:ext cx="384" cy="0"/>
            </a:xfrm>
            <a:prstGeom prst="line">
              <a:avLst/>
            </a:prstGeom>
            <a:noFill/>
            <a:ln w="9525">
              <a:solidFill>
                <a:schemeClr val="tx1"/>
              </a:solidFill>
              <a:round/>
              <a:headEnd/>
              <a:tailEnd type="triangle" w="med" len="med"/>
            </a:ln>
          </p:spPr>
          <p:txBody>
            <a:bodyPr/>
            <a:lstStyle/>
            <a:p>
              <a:endParaRPr lang="zh-CN" altLang="en-US"/>
            </a:p>
          </p:txBody>
        </p:sp>
        <p:graphicFrame>
          <p:nvGraphicFramePr>
            <p:cNvPr id="38" name="Object 4"/>
            <p:cNvGraphicFramePr>
              <a:graphicFrameLocks noChangeAspect="1"/>
            </p:cNvGraphicFramePr>
            <p:nvPr/>
          </p:nvGraphicFramePr>
          <p:xfrm>
            <a:off x="832" y="3762"/>
            <a:ext cx="817" cy="198"/>
          </p:xfrm>
          <a:graphic>
            <a:graphicData uri="http://schemas.openxmlformats.org/presentationml/2006/ole">
              <mc:AlternateContent xmlns:mc="http://schemas.openxmlformats.org/markup-compatibility/2006">
                <mc:Choice xmlns:v="urn:schemas-microsoft-com:vml" Requires="v">
                  <p:oleObj spid="_x0000_s92353" name="Equation" r:id="rId14" imgW="660113" imgH="203112" progId="Equation.3">
                    <p:embed/>
                  </p:oleObj>
                </mc:Choice>
                <mc:Fallback>
                  <p:oleObj name="Equation" r:id="rId14" imgW="660113" imgH="203112" progId="Equation.3">
                    <p:embed/>
                    <p:pic>
                      <p:nvPicPr>
                        <p:cNvPr id="0" name="Picture 117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32" y="3762"/>
                          <a:ext cx="817" cy="1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 name="Object 5"/>
            <p:cNvGraphicFramePr>
              <a:graphicFrameLocks noChangeAspect="1"/>
            </p:cNvGraphicFramePr>
            <p:nvPr/>
          </p:nvGraphicFramePr>
          <p:xfrm>
            <a:off x="2272" y="3717"/>
            <a:ext cx="801" cy="198"/>
          </p:xfrm>
          <a:graphic>
            <a:graphicData uri="http://schemas.openxmlformats.org/presentationml/2006/ole">
              <mc:AlternateContent xmlns:mc="http://schemas.openxmlformats.org/markup-compatibility/2006">
                <mc:Choice xmlns:v="urn:schemas-microsoft-com:vml" Requires="v">
                  <p:oleObj spid="_x0000_s92354" name="Equation" r:id="rId16" imgW="647419" imgH="203112" progId="Equation.3">
                    <p:embed/>
                  </p:oleObj>
                </mc:Choice>
                <mc:Fallback>
                  <p:oleObj name="Equation" r:id="rId16" imgW="647419" imgH="203112" progId="Equation.3">
                    <p:embed/>
                    <p:pic>
                      <p:nvPicPr>
                        <p:cNvPr id="0" name="Picture 117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272" y="3717"/>
                          <a:ext cx="801" cy="1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 name="Object 6"/>
            <p:cNvGraphicFramePr>
              <a:graphicFrameLocks noChangeAspect="1"/>
            </p:cNvGraphicFramePr>
            <p:nvPr/>
          </p:nvGraphicFramePr>
          <p:xfrm>
            <a:off x="4882" y="3222"/>
            <a:ext cx="424" cy="198"/>
          </p:xfrm>
          <a:graphic>
            <a:graphicData uri="http://schemas.openxmlformats.org/presentationml/2006/ole">
              <mc:AlternateContent xmlns:mc="http://schemas.openxmlformats.org/markup-compatibility/2006">
                <mc:Choice xmlns:v="urn:schemas-microsoft-com:vml" Requires="v">
                  <p:oleObj spid="_x0000_s92355" name="Equation" r:id="rId18" imgW="342751" imgH="203112" progId="Equation.3">
                    <p:embed/>
                  </p:oleObj>
                </mc:Choice>
                <mc:Fallback>
                  <p:oleObj name="Equation" r:id="rId18" imgW="342751" imgH="203112" progId="Equation.3">
                    <p:embed/>
                    <p:pic>
                      <p:nvPicPr>
                        <p:cNvPr id="0" name="Picture 117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882" y="3222"/>
                          <a:ext cx="424" cy="1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 name="Object 7"/>
            <p:cNvGraphicFramePr>
              <a:graphicFrameLocks noChangeAspect="1"/>
            </p:cNvGraphicFramePr>
            <p:nvPr/>
          </p:nvGraphicFramePr>
          <p:xfrm>
            <a:off x="4916" y="2907"/>
            <a:ext cx="686" cy="315"/>
          </p:xfrm>
          <a:graphic>
            <a:graphicData uri="http://schemas.openxmlformats.org/presentationml/2006/ole">
              <mc:AlternateContent xmlns:mc="http://schemas.openxmlformats.org/markup-compatibility/2006">
                <mc:Choice xmlns:v="urn:schemas-microsoft-com:vml" Requires="v">
                  <p:oleObj spid="_x0000_s92356" name="Equation" r:id="rId20" imgW="304404" imgH="177569" progId="Equation.DSMT4">
                    <p:embed/>
                  </p:oleObj>
                </mc:Choice>
                <mc:Fallback>
                  <p:oleObj name="Equation" r:id="rId20" imgW="304404" imgH="177569" progId="Equation.DSMT4">
                    <p:embed/>
                    <p:pic>
                      <p:nvPicPr>
                        <p:cNvPr id="0" name="Picture 117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916" y="2907"/>
                          <a:ext cx="686" cy="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 name="Rectangle 32"/>
            <p:cNvSpPr>
              <a:spLocks noChangeArrowheads="1"/>
            </p:cNvSpPr>
            <p:nvPr/>
          </p:nvSpPr>
          <p:spPr bwMode="auto">
            <a:xfrm>
              <a:off x="2352" y="2970"/>
              <a:ext cx="528" cy="192"/>
            </a:xfrm>
            <a:prstGeom prst="rect">
              <a:avLst/>
            </a:prstGeom>
            <a:noFill/>
            <a:ln w="9525">
              <a:solidFill>
                <a:schemeClr val="tx1"/>
              </a:solidFill>
              <a:miter lim="800000"/>
              <a:headEnd/>
              <a:tailEnd/>
            </a:ln>
          </p:spPr>
          <p:txBody>
            <a:bodyPr wrap="none" anchor="ctr"/>
            <a:lstStyle/>
            <a:p>
              <a:pPr algn="ctr"/>
              <a:r>
                <a:rPr lang="en-US" altLang="zh-CN" sz="2000" dirty="0">
                  <a:solidFill>
                    <a:schemeClr val="tx1"/>
                  </a:solidFill>
                </a:rPr>
                <a:t>g</a:t>
              </a:r>
              <a:r>
                <a:rPr lang="en-US" altLang="zh-CN" sz="2000" baseline="-25000" dirty="0">
                  <a:solidFill>
                    <a:schemeClr val="tx1"/>
                  </a:solidFill>
                </a:rPr>
                <a:t>2</a:t>
              </a:r>
              <a:r>
                <a:rPr lang="en-US" altLang="zh-CN" sz="2000" dirty="0">
                  <a:solidFill>
                    <a:schemeClr val="tx1"/>
                  </a:solidFill>
                </a:rPr>
                <a:t>(</a:t>
              </a:r>
              <a:r>
                <a:rPr lang="en-US" altLang="zh-CN" sz="2000" i="1" dirty="0">
                  <a:solidFill>
                    <a:schemeClr val="tx1"/>
                  </a:solidFill>
                </a:rPr>
                <a:t>X</a:t>
              </a:r>
              <a:r>
                <a:rPr lang="en-US" altLang="zh-CN" sz="2000" dirty="0">
                  <a:solidFill>
                    <a:schemeClr val="tx1"/>
                  </a:solidFill>
                </a:rPr>
                <a:t>)</a:t>
              </a:r>
            </a:p>
          </p:txBody>
        </p:sp>
        <p:sp>
          <p:nvSpPr>
            <p:cNvPr id="43" name="Rectangle 33"/>
            <p:cNvSpPr>
              <a:spLocks noChangeArrowheads="1"/>
            </p:cNvSpPr>
            <p:nvPr/>
          </p:nvSpPr>
          <p:spPr bwMode="auto">
            <a:xfrm>
              <a:off x="2352" y="3450"/>
              <a:ext cx="528" cy="192"/>
            </a:xfrm>
            <a:prstGeom prst="rect">
              <a:avLst/>
            </a:prstGeom>
            <a:noFill/>
            <a:ln w="9525">
              <a:solidFill>
                <a:schemeClr val="tx1"/>
              </a:solidFill>
              <a:miter lim="800000"/>
              <a:headEnd/>
              <a:tailEnd/>
            </a:ln>
          </p:spPr>
          <p:txBody>
            <a:bodyPr wrap="none" anchor="ctr"/>
            <a:lstStyle/>
            <a:p>
              <a:pPr algn="ctr"/>
              <a:r>
                <a:rPr lang="en-US" altLang="zh-CN" sz="2400" dirty="0" err="1">
                  <a:solidFill>
                    <a:schemeClr val="tx1"/>
                  </a:solidFill>
                </a:rPr>
                <a:t>g</a:t>
              </a:r>
              <a:r>
                <a:rPr lang="en-US" altLang="zh-CN" sz="2400" baseline="-25000" dirty="0" err="1">
                  <a:solidFill>
                    <a:schemeClr val="tx1"/>
                  </a:solidFill>
                </a:rPr>
                <a:t>n</a:t>
              </a:r>
              <a:r>
                <a:rPr lang="en-US" altLang="zh-CN" sz="2400" dirty="0">
                  <a:solidFill>
                    <a:schemeClr val="tx1"/>
                  </a:solidFill>
                </a:rPr>
                <a:t>(</a:t>
              </a:r>
              <a:r>
                <a:rPr lang="en-US" altLang="zh-CN" sz="2400" i="1" dirty="0">
                  <a:solidFill>
                    <a:schemeClr val="tx1"/>
                  </a:solidFill>
                </a:rPr>
                <a:t>X</a:t>
              </a:r>
              <a:r>
                <a:rPr lang="en-US" altLang="zh-CN" sz="2400" dirty="0">
                  <a:solidFill>
                    <a:schemeClr val="tx1"/>
                  </a:solidFill>
                </a:rPr>
                <a:t>)</a:t>
              </a:r>
            </a:p>
          </p:txBody>
        </p:sp>
        <p:sp>
          <p:nvSpPr>
            <p:cNvPr id="44" name="Line 34"/>
            <p:cNvSpPr>
              <a:spLocks noChangeShapeType="1"/>
            </p:cNvSpPr>
            <p:nvPr/>
          </p:nvSpPr>
          <p:spPr bwMode="auto">
            <a:xfrm>
              <a:off x="1440" y="2778"/>
              <a:ext cx="816" cy="288"/>
            </a:xfrm>
            <a:prstGeom prst="line">
              <a:avLst/>
            </a:prstGeom>
            <a:noFill/>
            <a:ln w="9525">
              <a:solidFill>
                <a:schemeClr val="tx1"/>
              </a:solidFill>
              <a:round/>
              <a:headEnd/>
              <a:tailEnd type="triangle" w="med" len="med"/>
            </a:ln>
          </p:spPr>
          <p:txBody>
            <a:bodyPr/>
            <a:lstStyle/>
            <a:p>
              <a:endParaRPr lang="zh-CN" altLang="en-US"/>
            </a:p>
          </p:txBody>
        </p:sp>
        <p:sp>
          <p:nvSpPr>
            <p:cNvPr id="45" name="Line 35"/>
            <p:cNvSpPr>
              <a:spLocks noChangeShapeType="1"/>
            </p:cNvSpPr>
            <p:nvPr/>
          </p:nvSpPr>
          <p:spPr bwMode="auto">
            <a:xfrm>
              <a:off x="1440" y="2778"/>
              <a:ext cx="864" cy="768"/>
            </a:xfrm>
            <a:prstGeom prst="line">
              <a:avLst/>
            </a:prstGeom>
            <a:noFill/>
            <a:ln w="9525">
              <a:solidFill>
                <a:schemeClr val="tx1"/>
              </a:solidFill>
              <a:round/>
              <a:headEnd/>
              <a:tailEnd type="triangle" w="med" len="med"/>
            </a:ln>
          </p:spPr>
          <p:txBody>
            <a:bodyPr/>
            <a:lstStyle/>
            <a:p>
              <a:endParaRPr lang="zh-CN" altLang="en-US"/>
            </a:p>
          </p:txBody>
        </p:sp>
        <p:sp>
          <p:nvSpPr>
            <p:cNvPr id="46" name="Line 36"/>
            <p:cNvSpPr>
              <a:spLocks noChangeShapeType="1"/>
            </p:cNvSpPr>
            <p:nvPr/>
          </p:nvSpPr>
          <p:spPr bwMode="auto">
            <a:xfrm flipV="1">
              <a:off x="1488" y="2826"/>
              <a:ext cx="816" cy="288"/>
            </a:xfrm>
            <a:prstGeom prst="line">
              <a:avLst/>
            </a:prstGeom>
            <a:noFill/>
            <a:ln w="9525">
              <a:solidFill>
                <a:schemeClr val="tx1"/>
              </a:solidFill>
              <a:round/>
              <a:headEnd/>
              <a:tailEnd type="triangle" w="med" len="med"/>
            </a:ln>
          </p:spPr>
          <p:txBody>
            <a:bodyPr/>
            <a:lstStyle/>
            <a:p>
              <a:endParaRPr lang="zh-CN" altLang="en-US"/>
            </a:p>
          </p:txBody>
        </p:sp>
        <p:sp>
          <p:nvSpPr>
            <p:cNvPr id="47" name="Line 37"/>
            <p:cNvSpPr>
              <a:spLocks noChangeShapeType="1"/>
            </p:cNvSpPr>
            <p:nvPr/>
          </p:nvSpPr>
          <p:spPr bwMode="auto">
            <a:xfrm>
              <a:off x="1488" y="3114"/>
              <a:ext cx="768" cy="432"/>
            </a:xfrm>
            <a:prstGeom prst="line">
              <a:avLst/>
            </a:prstGeom>
            <a:noFill/>
            <a:ln w="9525">
              <a:solidFill>
                <a:schemeClr val="tx1"/>
              </a:solidFill>
              <a:round/>
              <a:headEnd/>
              <a:tailEnd type="triangle" w="med" len="med"/>
            </a:ln>
          </p:spPr>
          <p:txBody>
            <a:bodyPr/>
            <a:lstStyle/>
            <a:p>
              <a:endParaRPr lang="zh-CN" altLang="en-US"/>
            </a:p>
          </p:txBody>
        </p:sp>
        <p:sp>
          <p:nvSpPr>
            <p:cNvPr id="48" name="Line 38"/>
            <p:cNvSpPr>
              <a:spLocks noChangeShapeType="1"/>
            </p:cNvSpPr>
            <p:nvPr/>
          </p:nvSpPr>
          <p:spPr bwMode="auto">
            <a:xfrm flipV="1">
              <a:off x="1488" y="3162"/>
              <a:ext cx="768" cy="480"/>
            </a:xfrm>
            <a:prstGeom prst="line">
              <a:avLst/>
            </a:prstGeom>
            <a:noFill/>
            <a:ln w="9525">
              <a:solidFill>
                <a:schemeClr val="tx1"/>
              </a:solidFill>
              <a:round/>
              <a:headEnd/>
              <a:tailEnd type="triangle" w="med" len="med"/>
            </a:ln>
          </p:spPr>
          <p:txBody>
            <a:bodyPr/>
            <a:lstStyle/>
            <a:p>
              <a:endParaRPr lang="zh-CN" altLang="en-US"/>
            </a:p>
          </p:txBody>
        </p:sp>
        <p:sp>
          <p:nvSpPr>
            <p:cNvPr id="49" name="Line 39"/>
            <p:cNvSpPr>
              <a:spLocks noChangeShapeType="1"/>
            </p:cNvSpPr>
            <p:nvPr/>
          </p:nvSpPr>
          <p:spPr bwMode="auto">
            <a:xfrm flipV="1">
              <a:off x="1488" y="2874"/>
              <a:ext cx="816" cy="768"/>
            </a:xfrm>
            <a:prstGeom prst="line">
              <a:avLst/>
            </a:prstGeom>
            <a:noFill/>
            <a:ln w="9525">
              <a:solidFill>
                <a:schemeClr val="tx1"/>
              </a:solidFill>
              <a:round/>
              <a:headEnd/>
              <a:tailEnd type="triangle" w="med" len="med"/>
            </a:ln>
          </p:spPr>
          <p:txBody>
            <a:bodyPr/>
            <a:lstStyle/>
            <a:p>
              <a:endParaRPr lang="zh-CN" altLang="en-US"/>
            </a:p>
          </p:txBody>
        </p:sp>
        <p:graphicFrame>
          <p:nvGraphicFramePr>
            <p:cNvPr id="50" name="Object 8"/>
            <p:cNvGraphicFramePr>
              <a:graphicFrameLocks noChangeAspect="1"/>
            </p:cNvGraphicFramePr>
            <p:nvPr/>
          </p:nvGraphicFramePr>
          <p:xfrm>
            <a:off x="3622" y="3357"/>
            <a:ext cx="1175" cy="198"/>
          </p:xfrm>
          <a:graphic>
            <a:graphicData uri="http://schemas.openxmlformats.org/presentationml/2006/ole">
              <mc:AlternateContent xmlns:mc="http://schemas.openxmlformats.org/markup-compatibility/2006">
                <mc:Choice xmlns:v="urn:schemas-microsoft-com:vml" Requires="v">
                  <p:oleObj spid="_x0000_s92357" name="Equation" r:id="rId22" imgW="952087" imgH="203112" progId="Equation.3">
                    <p:embed/>
                  </p:oleObj>
                </mc:Choice>
                <mc:Fallback>
                  <p:oleObj name="Equation" r:id="rId22" imgW="952087" imgH="203112" progId="Equation.3">
                    <p:embed/>
                    <p:pic>
                      <p:nvPicPr>
                        <p:cNvPr id="0" name="Picture 117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622" y="3357"/>
                          <a:ext cx="1175" cy="1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 name="Object 9"/>
            <p:cNvGraphicFramePr>
              <a:graphicFrameLocks noChangeAspect="1"/>
            </p:cNvGraphicFramePr>
            <p:nvPr/>
          </p:nvGraphicFramePr>
          <p:xfrm>
            <a:off x="2494" y="3282"/>
            <a:ext cx="338" cy="146"/>
          </p:xfrm>
          <a:graphic>
            <a:graphicData uri="http://schemas.openxmlformats.org/presentationml/2006/ole">
              <mc:AlternateContent xmlns:mc="http://schemas.openxmlformats.org/markup-compatibility/2006">
                <mc:Choice xmlns:v="urn:schemas-microsoft-com:vml" Requires="v">
                  <p:oleObj spid="_x0000_s92358" name="Equation" r:id="rId24" imgW="139518" imgH="76101" progId="Equation.3">
                    <p:embed/>
                  </p:oleObj>
                </mc:Choice>
                <mc:Fallback>
                  <p:oleObj name="Equation" r:id="rId24" imgW="139518" imgH="76101" progId="Equation.3">
                    <p:embed/>
                    <p:pic>
                      <p:nvPicPr>
                        <p:cNvPr id="0" name="Picture 1178"/>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494" y="3282"/>
                          <a:ext cx="338" cy="1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52" name="AutoShape 46"/>
            <p:cNvCxnSpPr>
              <a:cxnSpLocks noChangeShapeType="1"/>
              <a:stCxn id="27" idx="3"/>
              <a:endCxn id="29" idx="1"/>
            </p:cNvCxnSpPr>
            <p:nvPr/>
          </p:nvCxnSpPr>
          <p:spPr bwMode="auto">
            <a:xfrm>
              <a:off x="2880" y="2778"/>
              <a:ext cx="816" cy="294"/>
            </a:xfrm>
            <a:prstGeom prst="straightConnector1">
              <a:avLst/>
            </a:prstGeom>
            <a:noFill/>
            <a:ln w="9525">
              <a:solidFill>
                <a:schemeClr val="tx1"/>
              </a:solidFill>
              <a:round/>
              <a:headEnd/>
              <a:tailEnd type="triangle" w="med" len="med"/>
            </a:ln>
          </p:spPr>
        </p:cxnSp>
        <p:cxnSp>
          <p:nvCxnSpPr>
            <p:cNvPr id="53" name="AutoShape 47"/>
            <p:cNvCxnSpPr>
              <a:cxnSpLocks noChangeShapeType="1"/>
              <a:stCxn id="43" idx="3"/>
              <a:endCxn id="29" idx="1"/>
            </p:cNvCxnSpPr>
            <p:nvPr/>
          </p:nvCxnSpPr>
          <p:spPr bwMode="auto">
            <a:xfrm flipV="1">
              <a:off x="2880" y="3072"/>
              <a:ext cx="816" cy="474"/>
            </a:xfrm>
            <a:prstGeom prst="straightConnector1">
              <a:avLst/>
            </a:prstGeom>
            <a:noFill/>
            <a:ln w="9525">
              <a:solidFill>
                <a:schemeClr val="tx1"/>
              </a:solidFill>
              <a:round/>
              <a:headEnd/>
              <a:tailEnd type="triangle" w="med" len="med"/>
            </a:ln>
          </p:spPr>
        </p:cxnSp>
      </p:grpSp>
    </p:spTree>
    <p:extLst>
      <p:ext uri="{BB962C8B-B14F-4D97-AF65-F5344CB8AC3E}">
        <p14:creationId xmlns:p14="http://schemas.microsoft.com/office/powerpoint/2010/main" val="2452137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18</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13.1 </a:t>
            </a:r>
            <a:r>
              <a:rPr lang="zh-CN" altLang="zh-CN" dirty="0"/>
              <a:t>最小错误率贝叶斯决策</a:t>
            </a:r>
          </a:p>
        </p:txBody>
      </p:sp>
      <p:sp>
        <p:nvSpPr>
          <p:cNvPr id="54" name="内容占位符 2"/>
          <p:cNvSpPr>
            <a:spLocks noGrp="1"/>
          </p:cNvSpPr>
          <p:nvPr>
            <p:ph idx="1"/>
          </p:nvPr>
        </p:nvSpPr>
        <p:spPr>
          <a:xfrm>
            <a:off x="263352" y="1052736"/>
            <a:ext cx="11593288" cy="5337970"/>
          </a:xfrm>
        </p:spPr>
        <p:txBody>
          <a:bodyPr/>
          <a:lstStyle/>
          <a:p>
            <a:pPr marL="0" indent="0">
              <a:lnSpc>
                <a:spcPct val="130000"/>
              </a:lnSpc>
              <a:spcBef>
                <a:spcPts val="0"/>
              </a:spcBef>
              <a:buNone/>
            </a:pPr>
            <a:r>
              <a:rPr lang="zh-CN" altLang="en-US" sz="2200" dirty="0">
                <a:latin typeface="黑体" panose="02010609060101010101" pitchFamily="49" charset="-122"/>
                <a:ea typeface="黑体" panose="02010609060101010101" pitchFamily="49" charset="-122"/>
              </a:rPr>
              <a:t>例</a:t>
            </a:r>
            <a:r>
              <a:rPr lang="en-US" altLang="zh-CN" sz="2200" dirty="0">
                <a:latin typeface="黑体" panose="02010609060101010101" pitchFamily="49" charset="-122"/>
                <a:ea typeface="黑体" panose="02010609060101010101" pitchFamily="49" charset="-122"/>
              </a:rPr>
              <a:t>13.4 </a:t>
            </a:r>
            <a:r>
              <a:rPr lang="zh-CN" altLang="en-US" sz="2200" dirty="0">
                <a:latin typeface="黑体" panose="02010609060101010101" pitchFamily="49" charset="-122"/>
                <a:ea typeface="黑体" panose="02010609060101010101" pitchFamily="49" charset="-122"/>
              </a:rPr>
              <a:t>先验概率</a:t>
            </a:r>
            <a:r>
              <a:rPr lang="en-US" altLang="zh-CN" sz="2200" dirty="0">
                <a:latin typeface="黑体" panose="02010609060101010101" pitchFamily="49" charset="-122"/>
                <a:ea typeface="黑体" panose="02010609060101010101" pitchFamily="49" charset="-122"/>
              </a:rPr>
              <a:t>P(</a:t>
            </a:r>
            <a:r>
              <a:rPr lang="zh-CN" altLang="en-US" sz="2200" dirty="0">
                <a:latin typeface="黑体" panose="02010609060101010101" pitchFamily="49" charset="-122"/>
                <a:ea typeface="黑体" panose="02010609060101010101" pitchFamily="49" charset="-122"/>
              </a:rPr>
              <a:t>导弹</a:t>
            </a:r>
            <a:r>
              <a:rPr lang="en-US" altLang="zh-CN" sz="2200" dirty="0">
                <a:latin typeface="黑体" panose="02010609060101010101" pitchFamily="49" charset="-122"/>
                <a:ea typeface="黑体" panose="02010609060101010101" pitchFamily="49" charset="-122"/>
              </a:rPr>
              <a:t>)=0.2,P(</a:t>
            </a:r>
            <a:r>
              <a:rPr lang="zh-CN" altLang="en-US" sz="2200" dirty="0">
                <a:latin typeface="黑体" panose="02010609060101010101" pitchFamily="49" charset="-122"/>
                <a:ea typeface="黑体" panose="02010609060101010101" pitchFamily="49" charset="-122"/>
              </a:rPr>
              <a:t>飞机</a:t>
            </a:r>
            <a:r>
              <a:rPr lang="en-US" altLang="zh-CN" sz="2200" dirty="0">
                <a:latin typeface="黑体" panose="02010609060101010101" pitchFamily="49" charset="-122"/>
                <a:ea typeface="黑体" panose="02010609060101010101" pitchFamily="49" charset="-122"/>
              </a:rPr>
              <a:t>)=0.8</a:t>
            </a:r>
            <a:r>
              <a:rPr lang="zh-CN" altLang="en-US" sz="2200" dirty="0">
                <a:latin typeface="黑体" panose="02010609060101010101" pitchFamily="49" charset="-122"/>
                <a:ea typeface="黑体" panose="02010609060101010101" pitchFamily="49" charset="-122"/>
              </a:rPr>
              <a:t>，有一个待识别的目标</a:t>
            </a:r>
            <a:r>
              <a:rPr lang="en-US" altLang="zh-CN"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其亮度为</a:t>
            </a:r>
            <a:r>
              <a:rPr lang="en-US" altLang="zh-CN" sz="2200" dirty="0">
                <a:latin typeface="黑体" panose="02010609060101010101" pitchFamily="49" charset="-122"/>
                <a:ea typeface="黑体" panose="02010609060101010101" pitchFamily="49" charset="-122"/>
              </a:rPr>
              <a:t>x,</a:t>
            </a:r>
            <a:r>
              <a:rPr lang="zh-CN" altLang="en-US" sz="2200" dirty="0">
                <a:latin typeface="黑体" panose="02010609060101010101" pitchFamily="49" charset="-122"/>
                <a:ea typeface="黑体" panose="02010609060101010101" pitchFamily="49" charset="-122"/>
              </a:rPr>
              <a:t>从类条件概率密度分布曲线上查到</a:t>
            </a:r>
            <a:r>
              <a:rPr lang="en-US" altLang="zh-CN" sz="2200" dirty="0">
                <a:latin typeface="黑体" panose="02010609060101010101" pitchFamily="49" charset="-122"/>
                <a:ea typeface="黑体" panose="02010609060101010101" pitchFamily="49" charset="-122"/>
              </a:rPr>
              <a:t>p(x|</a:t>
            </a:r>
            <a:r>
              <a:rPr lang="zh-CN" altLang="en-US" sz="2200" dirty="0">
                <a:latin typeface="黑体" panose="02010609060101010101" pitchFamily="49" charset="-122"/>
                <a:ea typeface="黑体" panose="02010609060101010101" pitchFamily="49" charset="-122"/>
              </a:rPr>
              <a:t>导弹</a:t>
            </a:r>
            <a:r>
              <a:rPr lang="en-US" altLang="zh-CN" sz="2200" dirty="0">
                <a:latin typeface="黑体" panose="02010609060101010101" pitchFamily="49" charset="-122"/>
                <a:ea typeface="黑体" panose="02010609060101010101" pitchFamily="49" charset="-122"/>
              </a:rPr>
              <a:t>)=0.2,p(x|</a:t>
            </a:r>
            <a:r>
              <a:rPr lang="zh-CN" altLang="en-US" sz="2200" dirty="0">
                <a:latin typeface="黑体" panose="02010609060101010101" pitchFamily="49" charset="-122"/>
                <a:ea typeface="黑体" panose="02010609060101010101" pitchFamily="49" charset="-122"/>
              </a:rPr>
              <a:t>飞机</a:t>
            </a:r>
            <a:r>
              <a:rPr lang="en-US" altLang="zh-CN" sz="2200" dirty="0">
                <a:latin typeface="黑体" panose="02010609060101010101" pitchFamily="49" charset="-122"/>
                <a:ea typeface="黑体" panose="02010609060101010101" pitchFamily="49" charset="-122"/>
              </a:rPr>
              <a:t>)=0.4,</a:t>
            </a:r>
            <a:r>
              <a:rPr lang="zh-CN" altLang="en-US" sz="2200" dirty="0">
                <a:latin typeface="黑体" panose="02010609060101010101" pitchFamily="49" charset="-122"/>
                <a:ea typeface="黑体" panose="02010609060101010101" pitchFamily="49" charset="-122"/>
              </a:rPr>
              <a:t>试对目标进行分类。</a:t>
            </a:r>
            <a:endParaRPr lang="en-US" altLang="zh-CN" sz="2200" dirty="0">
              <a:latin typeface="黑体" panose="02010609060101010101" pitchFamily="49" charset="-122"/>
              <a:ea typeface="黑体" panose="02010609060101010101" pitchFamily="49" charset="-122"/>
            </a:endParaRPr>
          </a:p>
          <a:p>
            <a:pPr>
              <a:lnSpc>
                <a:spcPct val="130000"/>
              </a:lnSpc>
              <a:spcBef>
                <a:spcPts val="1200"/>
              </a:spcBef>
              <a:buNone/>
            </a:pPr>
            <a:r>
              <a:rPr lang="zh-CN" altLang="en-US" sz="2200" dirty="0">
                <a:latin typeface="黑体" panose="02010609060101010101" pitchFamily="49" charset="-122"/>
                <a:ea typeface="黑体" panose="02010609060101010101" pitchFamily="49" charset="-122"/>
              </a:rPr>
              <a:t>解</a:t>
            </a:r>
            <a:r>
              <a:rPr lang="en-US" altLang="zh-CN"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利用贝叶斯公式，分别计算出目标</a:t>
            </a:r>
            <a:r>
              <a:rPr lang="en-US" altLang="zh-CN" sz="2200" dirty="0">
                <a:latin typeface="黑体" panose="02010609060101010101" pitchFamily="49" charset="-122"/>
                <a:ea typeface="黑体" panose="02010609060101010101" pitchFamily="49" charset="-122"/>
              </a:rPr>
              <a:t>x</a:t>
            </a:r>
            <a:r>
              <a:rPr lang="zh-CN" altLang="en-US" sz="2200" dirty="0">
                <a:latin typeface="黑体" panose="02010609060101010101" pitchFamily="49" charset="-122"/>
                <a:ea typeface="黑体" panose="02010609060101010101" pitchFamily="49" charset="-122"/>
              </a:rPr>
              <a:t>判定为飞机和导弹的概率。</a:t>
            </a:r>
            <a:endParaRPr lang="en-US" altLang="zh-CN" sz="2200" dirty="0">
              <a:latin typeface="黑体" panose="02010609060101010101" pitchFamily="49" charset="-122"/>
              <a:ea typeface="黑体" panose="02010609060101010101" pitchFamily="49" charset="-122"/>
            </a:endParaRPr>
          </a:p>
          <a:p>
            <a:pPr>
              <a:lnSpc>
                <a:spcPct val="130000"/>
              </a:lnSpc>
              <a:spcBef>
                <a:spcPts val="0"/>
              </a:spcBef>
              <a:buNone/>
            </a:pPr>
            <a:endParaRPr lang="en-US" altLang="zh-CN" sz="2200" dirty="0">
              <a:latin typeface="黑体" panose="02010609060101010101" pitchFamily="49" charset="-122"/>
              <a:ea typeface="黑体" panose="02010609060101010101" pitchFamily="49" charset="-122"/>
            </a:endParaRPr>
          </a:p>
          <a:p>
            <a:pPr>
              <a:lnSpc>
                <a:spcPct val="130000"/>
              </a:lnSpc>
              <a:spcBef>
                <a:spcPts val="0"/>
              </a:spcBef>
              <a:buNone/>
            </a:pPr>
            <a:endParaRPr lang="en-US" altLang="zh-CN" sz="2200" dirty="0">
              <a:latin typeface="黑体" panose="02010609060101010101" pitchFamily="49" charset="-122"/>
              <a:ea typeface="黑体" panose="02010609060101010101" pitchFamily="49" charset="-122"/>
            </a:endParaRPr>
          </a:p>
          <a:p>
            <a:pPr>
              <a:lnSpc>
                <a:spcPct val="130000"/>
              </a:lnSpc>
              <a:spcBef>
                <a:spcPts val="0"/>
              </a:spcBef>
              <a:buNone/>
            </a:pPr>
            <a:endParaRPr lang="en-US" altLang="zh-CN" sz="2200" dirty="0">
              <a:latin typeface="黑体" panose="02010609060101010101" pitchFamily="49" charset="-122"/>
              <a:ea typeface="黑体" panose="02010609060101010101" pitchFamily="49" charset="-122"/>
            </a:endParaRPr>
          </a:p>
          <a:p>
            <a:pPr>
              <a:lnSpc>
                <a:spcPct val="130000"/>
              </a:lnSpc>
              <a:spcBef>
                <a:spcPts val="0"/>
              </a:spcBef>
              <a:buNone/>
            </a:pPr>
            <a:endParaRPr lang="en-US" altLang="zh-CN" sz="2200" dirty="0">
              <a:latin typeface="黑体" panose="02010609060101010101" pitchFamily="49" charset="-122"/>
              <a:ea typeface="黑体" panose="02010609060101010101" pitchFamily="49" charset="-122"/>
            </a:endParaRPr>
          </a:p>
          <a:p>
            <a:pPr>
              <a:lnSpc>
                <a:spcPct val="130000"/>
              </a:lnSpc>
              <a:spcBef>
                <a:spcPts val="0"/>
              </a:spcBef>
              <a:buNone/>
            </a:pPr>
            <a:endParaRPr lang="en-US" altLang="zh-CN" sz="2200" dirty="0">
              <a:latin typeface="黑体" panose="02010609060101010101" pitchFamily="49" charset="-122"/>
              <a:ea typeface="黑体" panose="02010609060101010101" pitchFamily="49" charset="-122"/>
            </a:endParaRPr>
          </a:p>
          <a:p>
            <a:pPr marL="0" indent="0">
              <a:lnSpc>
                <a:spcPct val="130000"/>
              </a:lnSpc>
              <a:spcBef>
                <a:spcPts val="0"/>
              </a:spcBef>
              <a:buNone/>
            </a:pPr>
            <a:endParaRPr lang="en-US" altLang="zh-CN" sz="2200" dirty="0">
              <a:latin typeface="黑体" panose="02010609060101010101" pitchFamily="49" charset="-122"/>
              <a:ea typeface="黑体" panose="02010609060101010101" pitchFamily="49" charset="-122"/>
            </a:endParaRPr>
          </a:p>
          <a:p>
            <a:pPr marL="0" indent="0">
              <a:lnSpc>
                <a:spcPct val="130000"/>
              </a:lnSpc>
              <a:spcBef>
                <a:spcPts val="0"/>
              </a:spcBef>
              <a:buNone/>
            </a:pPr>
            <a:endParaRPr lang="en-US" altLang="zh-CN" sz="2200" dirty="0">
              <a:latin typeface="黑体" panose="02010609060101010101" pitchFamily="49" charset="-122"/>
              <a:ea typeface="黑体" panose="02010609060101010101" pitchFamily="49" charset="-122"/>
            </a:endParaRPr>
          </a:p>
          <a:p>
            <a:pPr marL="0" indent="0">
              <a:lnSpc>
                <a:spcPct val="130000"/>
              </a:lnSpc>
              <a:spcBef>
                <a:spcPts val="0"/>
              </a:spcBef>
              <a:buNone/>
            </a:pPr>
            <a:r>
              <a:rPr lang="zh-CN" altLang="en-US" sz="2200" dirty="0">
                <a:latin typeface="黑体" panose="02010609060101010101" pitchFamily="49" charset="-122"/>
                <a:ea typeface="黑体" panose="02010609060101010101" pitchFamily="49" charset="-122"/>
              </a:rPr>
              <a:t>根据贝叶斯决策规则，有</a:t>
            </a:r>
            <a:r>
              <a:rPr lang="en-US" altLang="zh-CN" sz="2200" dirty="0">
                <a:latin typeface="黑体" panose="02010609060101010101" pitchFamily="49" charset="-122"/>
                <a:ea typeface="黑体" panose="02010609060101010101" pitchFamily="49" charset="-122"/>
              </a:rPr>
              <a:t>P(</a:t>
            </a:r>
            <a:r>
              <a:rPr lang="zh-CN" altLang="en-US" sz="2200" dirty="0">
                <a:latin typeface="黑体" panose="02010609060101010101" pitchFamily="49" charset="-122"/>
                <a:ea typeface="黑体" panose="02010609060101010101" pitchFamily="49" charset="-122"/>
              </a:rPr>
              <a:t>飞机</a:t>
            </a:r>
            <a:r>
              <a:rPr lang="en-US" altLang="zh-CN" sz="2200" dirty="0">
                <a:latin typeface="黑体" panose="02010609060101010101" pitchFamily="49" charset="-122"/>
                <a:ea typeface="黑体" panose="02010609060101010101" pitchFamily="49" charset="-122"/>
              </a:rPr>
              <a:t>|X)&gt;P(</a:t>
            </a:r>
            <a:r>
              <a:rPr lang="zh-CN" altLang="en-US" sz="2200" dirty="0">
                <a:latin typeface="黑体" panose="02010609060101010101" pitchFamily="49" charset="-122"/>
                <a:ea typeface="黑体" panose="02010609060101010101" pitchFamily="49" charset="-122"/>
              </a:rPr>
              <a:t>导弹</a:t>
            </a:r>
            <a:r>
              <a:rPr lang="en-US" altLang="zh-CN" sz="2200" dirty="0">
                <a:latin typeface="黑体" panose="02010609060101010101" pitchFamily="49" charset="-122"/>
                <a:ea typeface="黑体" panose="02010609060101010101" pitchFamily="49" charset="-122"/>
              </a:rPr>
              <a:t>|X)</a:t>
            </a:r>
            <a:r>
              <a:rPr lang="zh-CN" altLang="en-US" sz="2200" dirty="0">
                <a:latin typeface="黑体" panose="02010609060101010101" pitchFamily="49" charset="-122"/>
                <a:ea typeface="黑体" panose="02010609060101010101" pitchFamily="49" charset="-122"/>
              </a:rPr>
              <a:t>，故判定这个亮度为</a:t>
            </a:r>
            <a:r>
              <a:rPr lang="en-US" altLang="zh-CN" sz="2200" dirty="0">
                <a:latin typeface="黑体" panose="02010609060101010101" pitchFamily="49" charset="-122"/>
                <a:ea typeface="黑体" panose="02010609060101010101" pitchFamily="49" charset="-122"/>
              </a:rPr>
              <a:t>x</a:t>
            </a:r>
            <a:r>
              <a:rPr lang="zh-CN" altLang="en-US" sz="2200" dirty="0">
                <a:latin typeface="黑体" panose="02010609060101010101" pitchFamily="49" charset="-122"/>
                <a:ea typeface="黑体" panose="02010609060101010101" pitchFamily="49" charset="-122"/>
              </a:rPr>
              <a:t>的待识别目标为飞机。</a:t>
            </a:r>
            <a:endParaRPr lang="en-US" altLang="zh-CN" sz="2200" dirty="0">
              <a:latin typeface="黑体" panose="02010609060101010101" pitchFamily="49" charset="-122"/>
              <a:ea typeface="黑体" panose="02010609060101010101" pitchFamily="49" charset="-122"/>
            </a:endParaRPr>
          </a:p>
          <a:p>
            <a:pPr>
              <a:lnSpc>
                <a:spcPct val="130000"/>
              </a:lnSpc>
              <a:spcBef>
                <a:spcPts val="0"/>
              </a:spcBef>
            </a:pPr>
            <a:endParaRPr lang="zh-CN" altLang="en-US" sz="2200" dirty="0">
              <a:latin typeface="黑体" panose="02010609060101010101" pitchFamily="49" charset="-122"/>
              <a:ea typeface="黑体" panose="02010609060101010101" pitchFamily="49" charset="-122"/>
            </a:endParaRPr>
          </a:p>
        </p:txBody>
      </p:sp>
      <p:graphicFrame>
        <p:nvGraphicFramePr>
          <p:cNvPr id="55" name="Object 2"/>
          <p:cNvGraphicFramePr>
            <a:graphicFrameLocks noChangeAspect="1"/>
          </p:cNvGraphicFramePr>
          <p:nvPr>
            <p:extLst>
              <p:ext uri="{D42A27DB-BD31-4B8C-83A1-F6EECF244321}">
                <p14:modId xmlns:p14="http://schemas.microsoft.com/office/powerpoint/2010/main" val="336025421"/>
              </p:ext>
            </p:extLst>
          </p:nvPr>
        </p:nvGraphicFramePr>
        <p:xfrm>
          <a:off x="1660476" y="2840218"/>
          <a:ext cx="6845300" cy="1985963"/>
        </p:xfrm>
        <a:graphic>
          <a:graphicData uri="http://schemas.openxmlformats.org/presentationml/2006/ole">
            <mc:AlternateContent xmlns:mc="http://schemas.openxmlformats.org/markup-compatibility/2006">
              <mc:Choice xmlns:v="urn:schemas-microsoft-com:vml" Requires="v">
                <p:oleObj spid="_x0000_s14569" name="Equation" r:id="rId4" imgW="2539800" imgH="736560" progId="Equation.DSMT4">
                  <p:embed/>
                </p:oleObj>
              </mc:Choice>
              <mc:Fallback>
                <p:oleObj name="Equation" r:id="rId4" imgW="2539800" imgH="736560" progId="Equation.DSMT4">
                  <p:embed/>
                  <p:pic>
                    <p:nvPicPr>
                      <p:cNvPr id="0" name="Picture 2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0476" y="2840218"/>
                        <a:ext cx="6845300" cy="198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 name="Object 2"/>
          <p:cNvGraphicFramePr>
            <a:graphicFrameLocks noChangeAspect="1"/>
          </p:cNvGraphicFramePr>
          <p:nvPr>
            <p:extLst>
              <p:ext uri="{D42A27DB-BD31-4B8C-83A1-F6EECF244321}">
                <p14:modId xmlns:p14="http://schemas.microsoft.com/office/powerpoint/2010/main" val="187949492"/>
              </p:ext>
            </p:extLst>
          </p:nvPr>
        </p:nvGraphicFramePr>
        <p:xfrm>
          <a:off x="1635150" y="4872015"/>
          <a:ext cx="4740273" cy="470838"/>
        </p:xfrm>
        <a:graphic>
          <a:graphicData uri="http://schemas.openxmlformats.org/presentationml/2006/ole">
            <mc:AlternateContent xmlns:mc="http://schemas.openxmlformats.org/markup-compatibility/2006">
              <mc:Choice xmlns:v="urn:schemas-microsoft-com:vml" Requires="v">
                <p:oleObj spid="_x0000_s14570" name="Equation" r:id="rId6" imgW="1663700" imgH="165100" progId="Equation.DSMT4">
                  <p:embed/>
                </p:oleObj>
              </mc:Choice>
              <mc:Fallback>
                <p:oleObj name="Equation" r:id="rId6" imgW="1663700" imgH="165100" progId="Equation.DSMT4">
                  <p:embed/>
                  <p:pic>
                    <p:nvPicPr>
                      <p:cNvPr id="0" name="Picture 2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35150" y="4872015"/>
                        <a:ext cx="4740273" cy="47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736279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4"/>
          <p:cNvPicPr>
            <a:picLocks noChangeAspect="1" noChangeArrowheads="1"/>
          </p:cNvPicPr>
          <p:nvPr/>
        </p:nvPicPr>
        <p:blipFill>
          <a:blip r:embed="rId3" cstate="print"/>
          <a:srcRect/>
          <a:stretch>
            <a:fillRect/>
          </a:stretch>
        </p:blipFill>
        <p:spPr bwMode="auto">
          <a:xfrm>
            <a:off x="3215680" y="1440862"/>
            <a:ext cx="6899847" cy="1265633"/>
          </a:xfrm>
          <a:prstGeom prst="rect">
            <a:avLst/>
          </a:prstGeom>
          <a:noFill/>
          <a:ln w="9525">
            <a:noFill/>
            <a:miter lim="800000"/>
            <a:headEnd/>
            <a:tailEnd/>
          </a:ln>
        </p:spPr>
      </p:pic>
      <p:pic>
        <p:nvPicPr>
          <p:cNvPr id="9" name="图片 8"/>
          <p:cNvPicPr>
            <a:picLocks noChangeAspect="1"/>
          </p:cNvPicPr>
          <p:nvPr/>
        </p:nvPicPr>
        <p:blipFill>
          <a:blip r:embed="rId4"/>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19</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13.1 </a:t>
            </a:r>
            <a:r>
              <a:rPr lang="zh-CN" altLang="zh-CN" dirty="0"/>
              <a:t>最小错误率贝叶斯决策</a:t>
            </a:r>
          </a:p>
        </p:txBody>
      </p:sp>
      <p:sp>
        <p:nvSpPr>
          <p:cNvPr id="42" name="矩形 41"/>
          <p:cNvSpPr/>
          <p:nvPr/>
        </p:nvSpPr>
        <p:spPr>
          <a:xfrm>
            <a:off x="304132" y="1076139"/>
            <a:ext cx="3775393"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为什么是最小错误率？</a:t>
            </a:r>
            <a:endParaRPr lang="zh-CN" altLang="en-US" sz="2800" b="1" dirty="0">
              <a:solidFill>
                <a:srgbClr val="FF0000"/>
              </a:solidFill>
              <a:ea typeface="黑体" panose="02010609060101010101" pitchFamily="49" charset="-122"/>
            </a:endParaRPr>
          </a:p>
        </p:txBody>
      </p:sp>
      <p:sp>
        <p:nvSpPr>
          <p:cNvPr id="20" name="Rectangle 3"/>
          <p:cNvSpPr txBox="1">
            <a:spLocks/>
          </p:cNvSpPr>
          <p:nvPr/>
        </p:nvSpPr>
        <p:spPr bwMode="gray">
          <a:xfrm>
            <a:off x="317413" y="1771602"/>
            <a:ext cx="11696524" cy="57082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nSpc>
                <a:spcPct val="130000"/>
              </a:lnSpc>
              <a:spcBef>
                <a:spcPts val="0"/>
              </a:spcBef>
              <a:buNone/>
            </a:pPr>
            <a:r>
              <a:rPr lang="zh-CN" altLang="en-US" sz="2400" kern="0" dirty="0"/>
              <a:t>分类平均错误率为</a:t>
            </a:r>
          </a:p>
        </p:txBody>
      </p:sp>
      <p:graphicFrame>
        <p:nvGraphicFramePr>
          <p:cNvPr id="16" name="Object 3"/>
          <p:cNvGraphicFramePr>
            <a:graphicFrameLocks noChangeAspect="1"/>
          </p:cNvGraphicFramePr>
          <p:nvPr>
            <p:extLst>
              <p:ext uri="{D42A27DB-BD31-4B8C-83A1-F6EECF244321}">
                <p14:modId xmlns:p14="http://schemas.microsoft.com/office/powerpoint/2010/main" val="1771602120"/>
              </p:ext>
            </p:extLst>
          </p:nvPr>
        </p:nvGraphicFramePr>
        <p:xfrm>
          <a:off x="3071664" y="2769347"/>
          <a:ext cx="8542958" cy="738929"/>
        </p:xfrm>
        <a:graphic>
          <a:graphicData uri="http://schemas.openxmlformats.org/presentationml/2006/ole">
            <mc:AlternateContent xmlns:mc="http://schemas.openxmlformats.org/markup-compatibility/2006">
              <mc:Choice xmlns:v="urn:schemas-microsoft-com:vml" Requires="v">
                <p:oleObj spid="_x0000_s15581" name="Equation" r:id="rId5" imgW="3657600" imgH="342720" progId="Equation.DSMT4">
                  <p:embed/>
                </p:oleObj>
              </mc:Choice>
              <mc:Fallback>
                <p:oleObj name="Equation" r:id="rId5" imgW="3657600" imgH="342720" progId="Equation.DSMT4">
                  <p:embed/>
                  <p:pic>
                    <p:nvPicPr>
                      <p:cNvPr id="0" name="Picture 2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1664" y="2769347"/>
                        <a:ext cx="8542958" cy="738929"/>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3"/>
          <p:cNvSpPr txBox="1">
            <a:spLocks/>
          </p:cNvSpPr>
          <p:nvPr/>
        </p:nvSpPr>
        <p:spPr bwMode="gray">
          <a:xfrm>
            <a:off x="361276" y="2720046"/>
            <a:ext cx="2710388" cy="57082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nSpc>
                <a:spcPct val="130000"/>
              </a:lnSpc>
              <a:spcBef>
                <a:spcPts val="0"/>
              </a:spcBef>
              <a:buNone/>
            </a:pPr>
            <a:r>
              <a:rPr lang="zh-CN" altLang="en-US" sz="2400" kern="0" dirty="0"/>
              <a:t>而因为决策规则为</a:t>
            </a:r>
          </a:p>
        </p:txBody>
      </p:sp>
      <p:sp>
        <p:nvSpPr>
          <p:cNvPr id="2" name="矩形 1"/>
          <p:cNvSpPr/>
          <p:nvPr/>
        </p:nvSpPr>
        <p:spPr>
          <a:xfrm>
            <a:off x="344533" y="4801878"/>
            <a:ext cx="11359046" cy="1200329"/>
          </a:xfrm>
          <a:prstGeom prst="rect">
            <a:avLst/>
          </a:prstGeom>
        </p:spPr>
        <p:txBody>
          <a:bodyPr wrap="square">
            <a:spAutoFit/>
          </a:bodyPr>
          <a:lstStyle/>
          <a:p>
            <a:pPr algn="just">
              <a:lnSpc>
                <a:spcPct val="150000"/>
              </a:lnSpc>
            </a:pPr>
            <a:r>
              <a:rPr lang="zh-CN" altLang="en-US" sz="2400" kern="0" dirty="0">
                <a:latin typeface="+mn-lt"/>
              </a:rPr>
              <a:t>在该决策规则条件下，对于每一个</a:t>
            </a:r>
            <a:r>
              <a:rPr lang="en-US" altLang="zh-CN" sz="2400" kern="0" dirty="0">
                <a:latin typeface="+mn-lt"/>
              </a:rPr>
              <a:t> </a:t>
            </a:r>
            <a:r>
              <a:rPr lang="en-US" altLang="zh-CN" sz="2400" i="1" kern="0" dirty="0">
                <a:latin typeface="Times New Roman" panose="02020603050405020304" pitchFamily="18" charset="0"/>
                <a:ea typeface="黑体" panose="02010609060101010101" pitchFamily="49" charset="-122"/>
                <a:cs typeface="Times New Roman" panose="02020603050405020304" pitchFamily="18" charset="0"/>
              </a:rPr>
              <a:t>x</a:t>
            </a:r>
            <a:r>
              <a:rPr lang="zh-CN" altLang="en-US" sz="2400" kern="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kern="0" dirty="0">
                <a:latin typeface="+mn-lt"/>
              </a:rPr>
              <a:t> </a:t>
            </a:r>
            <a:r>
              <a:rPr lang="zh-CN" altLang="en-US" sz="2400" kern="0" dirty="0">
                <a:latin typeface="+mn-lt"/>
              </a:rPr>
              <a:t>我们都可以确保 </a:t>
            </a:r>
            <a:r>
              <a:rPr lang="en-US" altLang="zh-CN" sz="2400" i="1" kern="0" dirty="0">
                <a:latin typeface="Times New Roman" panose="02020603050405020304" pitchFamily="18" charset="0"/>
                <a:cs typeface="Times New Roman" panose="02020603050405020304" pitchFamily="18" charset="0"/>
              </a:rPr>
              <a:t>P(</a:t>
            </a:r>
            <a:r>
              <a:rPr lang="en-US" altLang="zh-CN" sz="2400" i="1" kern="0" dirty="0" err="1">
                <a:latin typeface="Times New Roman" panose="02020603050405020304" pitchFamily="18" charset="0"/>
                <a:cs typeface="Times New Roman" panose="02020603050405020304" pitchFamily="18" charset="0"/>
              </a:rPr>
              <a:t>error|x</a:t>
            </a:r>
            <a:r>
              <a:rPr lang="en-US" altLang="zh-CN" sz="2400" i="1" kern="0" dirty="0">
                <a:latin typeface="Times New Roman" panose="02020603050405020304" pitchFamily="18" charset="0"/>
                <a:cs typeface="Times New Roman" panose="02020603050405020304" pitchFamily="18" charset="0"/>
              </a:rPr>
              <a:t>)</a:t>
            </a:r>
            <a:r>
              <a:rPr lang="en-US" altLang="zh-CN" sz="2400" kern="0" dirty="0">
                <a:latin typeface="+mn-lt"/>
              </a:rPr>
              <a:t> </a:t>
            </a:r>
            <a:r>
              <a:rPr lang="zh-CN" altLang="en-US" sz="2400" kern="0" dirty="0">
                <a:latin typeface="+mn-lt"/>
              </a:rPr>
              <a:t>最小。</a:t>
            </a:r>
            <a:endParaRPr lang="en-US" altLang="zh-CN" sz="2400" kern="0" dirty="0">
              <a:latin typeface="+mn-lt"/>
            </a:endParaRPr>
          </a:p>
          <a:p>
            <a:pPr algn="just">
              <a:lnSpc>
                <a:spcPct val="150000"/>
              </a:lnSpc>
            </a:pPr>
            <a:r>
              <a:rPr lang="zh-CN" altLang="en-US" sz="2400" kern="0" dirty="0">
                <a:latin typeface="+mn-lt"/>
              </a:rPr>
              <a:t>此时，</a:t>
            </a:r>
            <a:r>
              <a:rPr lang="en-US" altLang="zh-CN" sz="2400" b="1" i="1" kern="0" dirty="0">
                <a:solidFill>
                  <a:srgbClr val="FF0000"/>
                </a:solidFill>
                <a:latin typeface="Times New Roman" panose="02020603050405020304" pitchFamily="18" charset="0"/>
                <a:cs typeface="Times New Roman" panose="02020603050405020304" pitchFamily="18" charset="0"/>
              </a:rPr>
              <a:t>P(error) </a:t>
            </a:r>
            <a:r>
              <a:rPr lang="zh-CN" altLang="en-US" sz="2400" b="1" kern="0" dirty="0">
                <a:solidFill>
                  <a:srgbClr val="FF0000"/>
                </a:solidFill>
                <a:latin typeface="Times New Roman" panose="02020603050405020304" pitchFamily="18" charset="0"/>
                <a:cs typeface="Times New Roman" panose="02020603050405020304" pitchFamily="18" charset="0"/>
              </a:rPr>
              <a:t>最小</a:t>
            </a:r>
            <a:r>
              <a:rPr lang="zh-CN" altLang="en-US" sz="2400" kern="0" dirty="0">
                <a:latin typeface="Times New Roman" panose="02020603050405020304" pitchFamily="18" charset="0"/>
                <a:cs typeface="Times New Roman" panose="02020603050405020304" pitchFamily="18" charset="0"/>
              </a:rPr>
              <a:t>。</a:t>
            </a:r>
            <a:endParaRPr lang="zh-CN" altLang="en-US" sz="2400" kern="0" dirty="0">
              <a:latin typeface="+mn-lt"/>
            </a:endParaRPr>
          </a:p>
        </p:txBody>
      </p:sp>
      <p:graphicFrame>
        <p:nvGraphicFramePr>
          <p:cNvPr id="26" name="Object 3"/>
          <p:cNvGraphicFramePr>
            <a:graphicFrameLocks noChangeAspect="1"/>
          </p:cNvGraphicFramePr>
          <p:nvPr>
            <p:extLst>
              <p:ext uri="{D42A27DB-BD31-4B8C-83A1-F6EECF244321}">
                <p14:modId xmlns:p14="http://schemas.microsoft.com/office/powerpoint/2010/main" val="2813201199"/>
              </p:ext>
            </p:extLst>
          </p:nvPr>
        </p:nvGraphicFramePr>
        <p:xfrm>
          <a:off x="381497" y="3853434"/>
          <a:ext cx="6673850" cy="739775"/>
        </p:xfrm>
        <a:graphic>
          <a:graphicData uri="http://schemas.openxmlformats.org/presentationml/2006/ole">
            <mc:AlternateContent xmlns:mc="http://schemas.openxmlformats.org/markup-compatibility/2006">
              <mc:Choice xmlns:v="urn:schemas-microsoft-com:vml" Requires="v">
                <p:oleObj spid="_x0000_s15582" name="Equation" r:id="rId7" imgW="2857320" imgH="342720" progId="Equation.DSMT4">
                  <p:embed/>
                </p:oleObj>
              </mc:Choice>
              <mc:Fallback>
                <p:oleObj name="Equation" r:id="rId7" imgW="2857320" imgH="342720" progId="Equation.DSMT4">
                  <p:embed/>
                  <p:pic>
                    <p:nvPicPr>
                      <p:cNvPr id="0" name="Picture 2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497" y="3853434"/>
                        <a:ext cx="6673850"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684656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20</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13.1 </a:t>
            </a:r>
            <a:r>
              <a:rPr lang="zh-CN" altLang="zh-CN" dirty="0"/>
              <a:t>最小错误率贝叶斯决策</a:t>
            </a:r>
          </a:p>
        </p:txBody>
      </p:sp>
      <p:sp>
        <p:nvSpPr>
          <p:cNvPr id="42" name="矩形 41"/>
          <p:cNvSpPr/>
          <p:nvPr/>
        </p:nvSpPr>
        <p:spPr>
          <a:xfrm>
            <a:off x="304132" y="1076139"/>
            <a:ext cx="5211683"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最小错误率贝叶斯决策的优缺点</a:t>
            </a:r>
            <a:endParaRPr lang="zh-CN" altLang="en-US" sz="2800" b="1" dirty="0">
              <a:solidFill>
                <a:srgbClr val="FF0000"/>
              </a:solidFill>
              <a:ea typeface="黑体" panose="02010609060101010101" pitchFamily="49" charset="-122"/>
            </a:endParaRPr>
          </a:p>
        </p:txBody>
      </p:sp>
      <p:sp>
        <p:nvSpPr>
          <p:cNvPr id="18" name="标题 1"/>
          <p:cNvSpPr>
            <a:spLocks noGrp="1"/>
          </p:cNvSpPr>
          <p:nvPr>
            <p:ph type="title"/>
          </p:nvPr>
        </p:nvSpPr>
        <p:spPr>
          <a:xfrm>
            <a:off x="326853" y="1576855"/>
            <a:ext cx="941018" cy="584200"/>
          </a:xfrm>
        </p:spPr>
        <p:txBody>
          <a:bodyPr>
            <a:normAutofit/>
          </a:bodyPr>
          <a:lstStyle/>
          <a:p>
            <a:pPr>
              <a:defRPr/>
            </a:pPr>
            <a:r>
              <a:rPr lang="zh-CN" altLang="en-US" sz="2400" b="1" dirty="0">
                <a:solidFill>
                  <a:srgbClr val="FF0000"/>
                </a:solidFill>
                <a:latin typeface="黑体" panose="02010609060101010101" pitchFamily="49" charset="-122"/>
                <a:ea typeface="黑体" panose="02010609060101010101" pitchFamily="49" charset="-122"/>
              </a:rPr>
              <a:t>优点</a:t>
            </a:r>
          </a:p>
        </p:txBody>
      </p:sp>
      <p:sp>
        <p:nvSpPr>
          <p:cNvPr id="19" name="Rectangle 3"/>
          <p:cNvSpPr>
            <a:spLocks noChangeArrowheads="1"/>
          </p:cNvSpPr>
          <p:nvPr/>
        </p:nvSpPr>
        <p:spPr bwMode="auto">
          <a:xfrm>
            <a:off x="326852" y="2152919"/>
            <a:ext cx="11529788" cy="2520280"/>
          </a:xfrm>
          <a:prstGeom prst="rect">
            <a:avLst/>
          </a:prstGeom>
          <a:noFill/>
          <a:ln w="9525">
            <a:noFill/>
            <a:miter lim="800000"/>
            <a:headEnd/>
            <a:tailEnd/>
          </a:ln>
        </p:spPr>
        <p:txBody>
          <a:bodyPr/>
          <a:lstStyle/>
          <a:p>
            <a:pPr algn="just">
              <a:lnSpc>
                <a:spcPct val="120000"/>
              </a:lnSpc>
              <a:spcBef>
                <a:spcPts val="0"/>
              </a:spcBef>
              <a:buFont typeface="Arial" pitchFamily="34" charset="0"/>
              <a:buChar char="•"/>
            </a:pPr>
            <a:r>
              <a:rPr lang="zh-CN" altLang="en-US" sz="2200"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它能对调查结果的可能性加以数量化的评价，而不是像一般的决策方法那样，对调查结果或者是完全相信，或者是完全不相信。</a:t>
            </a:r>
            <a:endParaRPr lang="en-US" altLang="zh-CN" sz="2000" dirty="0">
              <a:latin typeface="黑体" panose="02010609060101010101" pitchFamily="49" charset="-122"/>
              <a:ea typeface="黑体" panose="02010609060101010101" pitchFamily="49" charset="-122"/>
            </a:endParaRPr>
          </a:p>
          <a:p>
            <a:pPr algn="just">
              <a:lnSpc>
                <a:spcPct val="120000"/>
              </a:lnSpc>
              <a:spcBef>
                <a:spcPts val="0"/>
              </a:spcBef>
            </a:pPr>
            <a:r>
              <a:rPr lang="zh-CN" altLang="en-US" sz="2000" dirty="0">
                <a:latin typeface="黑体" panose="02010609060101010101" pitchFamily="49" charset="-122"/>
                <a:ea typeface="黑体" panose="02010609060101010101" pitchFamily="49" charset="-122"/>
              </a:rPr>
              <a:t> </a:t>
            </a:r>
            <a:r>
              <a:rPr lang="zh-CN" altLang="en-US" sz="2000" dirty="0">
                <a:solidFill>
                  <a:srgbClr val="0000CC"/>
                </a:solidFill>
                <a:latin typeface="黑体" panose="02010609060101010101" pitchFamily="49" charset="-122"/>
                <a:ea typeface="黑体" panose="02010609060101010101" pitchFamily="49" charset="-122"/>
              </a:rPr>
              <a:t>不是非此即彼，而是待识别特征</a:t>
            </a:r>
            <a:r>
              <a:rPr lang="en-US" altLang="zh-CN" sz="2000" dirty="0">
                <a:solidFill>
                  <a:srgbClr val="0000CC"/>
                </a:solidFill>
                <a:latin typeface="黑体" panose="02010609060101010101" pitchFamily="49" charset="-122"/>
                <a:ea typeface="黑体" panose="02010609060101010101" pitchFamily="49" charset="-122"/>
              </a:rPr>
              <a:t>x</a:t>
            </a:r>
            <a:r>
              <a:rPr lang="zh-CN" altLang="en-US" sz="2000" dirty="0">
                <a:solidFill>
                  <a:srgbClr val="0000CC"/>
                </a:solidFill>
                <a:latin typeface="黑体" panose="02010609060101010101" pitchFamily="49" charset="-122"/>
                <a:ea typeface="黑体" panose="02010609060101010101" pitchFamily="49" charset="-122"/>
              </a:rPr>
              <a:t>，属于</a:t>
            </a:r>
            <a:r>
              <a:rPr lang="el-GR" altLang="zh-CN" sz="2000" dirty="0">
                <a:solidFill>
                  <a:srgbClr val="0000CC"/>
                </a:solidFill>
                <a:latin typeface="黑体" panose="02010609060101010101" pitchFamily="49" charset="-122"/>
                <a:ea typeface="黑体" panose="02010609060101010101" pitchFamily="49" charset="-122"/>
              </a:rPr>
              <a:t>ω</a:t>
            </a:r>
            <a:r>
              <a:rPr lang="en-US" altLang="zh-CN" sz="2000" baseline="-25000" dirty="0" err="1">
                <a:solidFill>
                  <a:srgbClr val="0000CC"/>
                </a:solidFill>
                <a:latin typeface="黑体" panose="02010609060101010101" pitchFamily="49" charset="-122"/>
                <a:ea typeface="黑体" panose="02010609060101010101" pitchFamily="49" charset="-122"/>
              </a:rPr>
              <a:t>i</a:t>
            </a:r>
            <a:r>
              <a:rPr lang="zh-CN" altLang="en-US" sz="2000" dirty="0">
                <a:solidFill>
                  <a:srgbClr val="0000CC"/>
                </a:solidFill>
                <a:latin typeface="黑体" panose="02010609060101010101" pitchFamily="49" charset="-122"/>
                <a:ea typeface="黑体" panose="02010609060101010101" pitchFamily="49" charset="-122"/>
              </a:rPr>
              <a:t>的可能性有百分之几。   </a:t>
            </a:r>
            <a:endParaRPr lang="en-US" altLang="zh-CN" sz="2000" dirty="0">
              <a:latin typeface="黑体" panose="02010609060101010101" pitchFamily="49" charset="-122"/>
              <a:ea typeface="黑体" panose="02010609060101010101" pitchFamily="49" charset="-122"/>
            </a:endParaRPr>
          </a:p>
          <a:p>
            <a:pPr algn="just">
              <a:lnSpc>
                <a:spcPct val="120000"/>
              </a:lnSpc>
              <a:spcBef>
                <a:spcPts val="1200"/>
              </a:spcBef>
              <a:buFont typeface="Arial" pitchFamily="34" charset="0"/>
              <a:buChar char="•"/>
            </a:pPr>
            <a:r>
              <a:rPr lang="zh-CN" altLang="en-US" sz="2000" dirty="0">
                <a:latin typeface="黑体" panose="02010609060101010101" pitchFamily="49" charset="-122"/>
                <a:ea typeface="黑体" panose="02010609060101010101" pitchFamily="49" charset="-122"/>
              </a:rPr>
              <a:t> 贝叶斯决策巧妙地将先验知识或主观概率这两种信息有机地结合起来了。</a:t>
            </a:r>
          </a:p>
          <a:p>
            <a:pPr marL="342900" indent="-342900" algn="just">
              <a:lnSpc>
                <a:spcPct val="150000"/>
              </a:lnSpc>
              <a:spcBef>
                <a:spcPts val="0"/>
              </a:spcBef>
            </a:pPr>
            <a:endParaRPr lang="zh-CN" altLang="en-US" sz="2400" dirty="0">
              <a:latin typeface="黑体" panose="02010609060101010101" pitchFamily="49" charset="-122"/>
              <a:ea typeface="黑体" panose="02010609060101010101" pitchFamily="49" charset="-122"/>
            </a:endParaRPr>
          </a:p>
        </p:txBody>
      </p:sp>
      <p:sp>
        <p:nvSpPr>
          <p:cNvPr id="21" name="内容占位符 2"/>
          <p:cNvSpPr>
            <a:spLocks noGrp="1"/>
          </p:cNvSpPr>
          <p:nvPr>
            <p:ph idx="1"/>
          </p:nvPr>
        </p:nvSpPr>
        <p:spPr>
          <a:xfrm>
            <a:off x="326851" y="4472936"/>
            <a:ext cx="11552508" cy="2101379"/>
          </a:xfrm>
        </p:spPr>
        <p:txBody>
          <a:bodyPr>
            <a:normAutofit fontScale="92500"/>
          </a:bodyPr>
          <a:lstStyle/>
          <a:p>
            <a:pPr algn="just">
              <a:lnSpc>
                <a:spcPct val="120000"/>
              </a:lnSpc>
              <a:spcBef>
                <a:spcPts val="1200"/>
              </a:spcBef>
              <a:buClrTx/>
              <a:buFont typeface="Arial" panose="020B0604020202020204" pitchFamily="34" charset="0"/>
              <a:buChar char="•"/>
            </a:pPr>
            <a:r>
              <a:rPr lang="zh-CN" altLang="en-US" sz="2200" dirty="0">
                <a:latin typeface="黑体" panose="02010609060101010101" pitchFamily="49" charset="-122"/>
                <a:ea typeface="黑体" panose="02010609060101010101" pitchFamily="49" charset="-122"/>
              </a:rPr>
              <a:t>需要的数据多，分析计算比较复杂，特别在解决复杂问题时，这个矛盾就更为突出。</a:t>
            </a:r>
          </a:p>
          <a:p>
            <a:pPr algn="just">
              <a:lnSpc>
                <a:spcPct val="120000"/>
              </a:lnSpc>
              <a:spcBef>
                <a:spcPts val="1200"/>
              </a:spcBef>
              <a:buClrTx/>
              <a:buFont typeface="Arial" panose="020B0604020202020204" pitchFamily="34" charset="0"/>
              <a:buChar char="•"/>
            </a:pPr>
            <a:r>
              <a:rPr lang="zh-CN" altLang="en-US" sz="2200" dirty="0">
                <a:latin typeface="黑体" panose="02010609060101010101" pitchFamily="49" charset="-122"/>
                <a:ea typeface="黑体" panose="02010609060101010101" pitchFamily="49" charset="-122"/>
              </a:rPr>
              <a:t>有些数据必须使用主观概率，妨碍了贝叶斯决策方法的推广使用。</a:t>
            </a:r>
            <a:endParaRPr lang="en-US" altLang="zh-CN" sz="2200" dirty="0">
              <a:latin typeface="黑体" panose="02010609060101010101" pitchFamily="49" charset="-122"/>
              <a:ea typeface="黑体" panose="02010609060101010101" pitchFamily="49" charset="-122"/>
            </a:endParaRPr>
          </a:p>
          <a:p>
            <a:pPr algn="just">
              <a:lnSpc>
                <a:spcPct val="120000"/>
              </a:lnSpc>
              <a:spcBef>
                <a:spcPts val="1200"/>
              </a:spcBef>
              <a:buClrTx/>
              <a:buFont typeface="Arial" panose="020B0604020202020204" pitchFamily="34" charset="0"/>
              <a:buChar char="•"/>
            </a:pPr>
            <a:r>
              <a:rPr lang="zh-CN" altLang="en-US" sz="2200" dirty="0">
                <a:solidFill>
                  <a:srgbClr val="FF0000"/>
                </a:solidFill>
                <a:latin typeface="黑体" panose="02010609060101010101" pitchFamily="49" charset="-122"/>
                <a:ea typeface="黑体" panose="02010609060101010101" pitchFamily="49" charset="-122"/>
              </a:rPr>
              <a:t>先验概率</a:t>
            </a:r>
            <a:r>
              <a:rPr lang="zh-CN" altLang="en-US" sz="2200" dirty="0">
                <a:latin typeface="黑体" panose="02010609060101010101" pitchFamily="49" charset="-122"/>
                <a:ea typeface="黑体" panose="02010609060101010101" pitchFamily="49" charset="-122"/>
              </a:rPr>
              <a:t>起决定作用</a:t>
            </a:r>
            <a:r>
              <a:rPr lang="en-US" altLang="zh-CN"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没有考虑错误分类带来的损失影响。比如，在带钢表面缺陷检测系统设计中，我们对混晶的识别率要很高，如果出现较多的误判，识别系统就需要重新设计。</a:t>
            </a:r>
            <a:endParaRPr lang="en-US" altLang="zh-CN" sz="2200" dirty="0">
              <a:latin typeface="黑体" panose="02010609060101010101" pitchFamily="49" charset="-122"/>
              <a:ea typeface="黑体" panose="02010609060101010101" pitchFamily="49" charset="-122"/>
            </a:endParaRPr>
          </a:p>
        </p:txBody>
      </p:sp>
      <p:sp>
        <p:nvSpPr>
          <p:cNvPr id="22" name="标题 1"/>
          <p:cNvSpPr txBox="1">
            <a:spLocks/>
          </p:cNvSpPr>
          <p:nvPr/>
        </p:nvSpPr>
        <p:spPr bwMode="black">
          <a:xfrm>
            <a:off x="315644" y="3895636"/>
            <a:ext cx="936104" cy="584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pPr>
              <a:defRPr/>
            </a:pPr>
            <a:r>
              <a:rPr lang="zh-CN" altLang="en-US" sz="2400" kern="0" dirty="0">
                <a:solidFill>
                  <a:srgbClr val="FF0000"/>
                </a:solidFill>
              </a:rPr>
              <a:t>缺点</a:t>
            </a:r>
          </a:p>
        </p:txBody>
      </p:sp>
    </p:spTree>
    <p:extLst>
      <p:ext uri="{BB962C8B-B14F-4D97-AF65-F5344CB8AC3E}">
        <p14:creationId xmlns:p14="http://schemas.microsoft.com/office/powerpoint/2010/main" val="2571584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55440" y="1556792"/>
            <a:ext cx="10369152" cy="3416320"/>
          </a:xfrm>
          <a:prstGeom prst="rect">
            <a:avLst/>
          </a:prstGeom>
          <a:noFill/>
        </p:spPr>
        <p:txBody>
          <a:bodyPr wrap="square" rtlCol="0">
            <a:spAutoFit/>
          </a:bodyPr>
          <a:lstStyle/>
          <a:p>
            <a:pPr>
              <a:lnSpc>
                <a:spcPct val="150000"/>
              </a:lnSpc>
            </a:pPr>
            <a:r>
              <a:rPr lang="en-US" altLang="zh-CN" sz="2400" b="1" dirty="0">
                <a:latin typeface="宋体" pitchFamily="2" charset="-122"/>
                <a:ea typeface="宋体" pitchFamily="2" charset="-122"/>
              </a:rPr>
              <a:t>13.1 </a:t>
            </a:r>
            <a:r>
              <a:rPr lang="zh-CN" altLang="zh-CN" sz="2400" b="1" dirty="0">
                <a:latin typeface="宋体" pitchFamily="2" charset="-122"/>
                <a:ea typeface="宋体" pitchFamily="2" charset="-122"/>
              </a:rPr>
              <a:t>最小错误率贝叶斯决策</a:t>
            </a:r>
          </a:p>
          <a:p>
            <a:pPr>
              <a:lnSpc>
                <a:spcPct val="150000"/>
              </a:lnSpc>
            </a:pPr>
            <a:r>
              <a:rPr lang="en-US" altLang="zh-CN" sz="2400" b="1" dirty="0">
                <a:solidFill>
                  <a:srgbClr val="0000FF"/>
                </a:solidFill>
                <a:latin typeface="宋体" pitchFamily="2" charset="-122"/>
                <a:ea typeface="宋体" pitchFamily="2" charset="-122"/>
              </a:rPr>
              <a:t>13.2 </a:t>
            </a:r>
            <a:r>
              <a:rPr lang="zh-CN" altLang="zh-CN" sz="2400" b="1" dirty="0">
                <a:solidFill>
                  <a:srgbClr val="0000FF"/>
                </a:solidFill>
                <a:latin typeface="宋体" pitchFamily="2" charset="-122"/>
                <a:ea typeface="宋体" pitchFamily="2" charset="-122"/>
              </a:rPr>
              <a:t>最小风险贝叶斯决策</a:t>
            </a:r>
          </a:p>
          <a:p>
            <a:pPr>
              <a:lnSpc>
                <a:spcPct val="150000"/>
              </a:lnSpc>
            </a:pPr>
            <a:r>
              <a:rPr lang="en-US" altLang="zh-CN" sz="2400" b="1" dirty="0">
                <a:latin typeface="宋体" pitchFamily="2" charset="-122"/>
                <a:ea typeface="宋体" pitchFamily="2" charset="-122"/>
              </a:rPr>
              <a:t>13.3 </a:t>
            </a:r>
            <a:r>
              <a:rPr lang="zh-CN" altLang="zh-CN" sz="2400" b="1" dirty="0">
                <a:latin typeface="宋体" pitchFamily="2" charset="-122"/>
                <a:ea typeface="宋体" pitchFamily="2" charset="-122"/>
              </a:rPr>
              <a:t>两类错误率、</a:t>
            </a:r>
            <a:r>
              <a:rPr lang="en-US" altLang="zh-CN" sz="2400" b="1" dirty="0" err="1">
                <a:latin typeface="宋体" pitchFamily="2" charset="-122"/>
                <a:ea typeface="宋体" pitchFamily="2" charset="-122"/>
              </a:rPr>
              <a:t>Neyman</a:t>
            </a:r>
            <a:r>
              <a:rPr lang="en-US" altLang="zh-CN" sz="2400" b="1" dirty="0">
                <a:latin typeface="宋体" pitchFamily="2" charset="-122"/>
                <a:ea typeface="宋体" pitchFamily="2" charset="-122"/>
              </a:rPr>
              <a:t>-Pearson</a:t>
            </a:r>
            <a:r>
              <a:rPr lang="zh-CN" altLang="zh-CN" sz="2400" b="1" dirty="0">
                <a:latin typeface="宋体" pitchFamily="2" charset="-122"/>
                <a:ea typeface="宋体" pitchFamily="2" charset="-122"/>
              </a:rPr>
              <a:t>决策和</a:t>
            </a:r>
            <a:r>
              <a:rPr lang="en-US" altLang="zh-CN" sz="2400" b="1" dirty="0">
                <a:latin typeface="宋体" pitchFamily="2" charset="-122"/>
                <a:ea typeface="宋体" pitchFamily="2" charset="-122"/>
              </a:rPr>
              <a:t>ROC</a:t>
            </a:r>
            <a:r>
              <a:rPr lang="zh-CN" altLang="zh-CN" sz="2400" b="1" dirty="0">
                <a:latin typeface="宋体" pitchFamily="2" charset="-122"/>
                <a:ea typeface="宋体" pitchFamily="2" charset="-122"/>
              </a:rPr>
              <a:t>曲线</a:t>
            </a:r>
          </a:p>
          <a:p>
            <a:pPr>
              <a:lnSpc>
                <a:spcPct val="150000"/>
              </a:lnSpc>
            </a:pPr>
            <a:r>
              <a:rPr lang="en-US" altLang="zh-CN" sz="2400" b="1" dirty="0">
                <a:latin typeface="宋体" pitchFamily="2" charset="-122"/>
                <a:ea typeface="宋体" pitchFamily="2" charset="-122"/>
              </a:rPr>
              <a:t>13.4 </a:t>
            </a:r>
            <a:r>
              <a:rPr lang="zh-CN" altLang="zh-CN" sz="2400" b="1" dirty="0">
                <a:latin typeface="宋体" pitchFamily="2" charset="-122"/>
                <a:ea typeface="宋体" pitchFamily="2" charset="-122"/>
              </a:rPr>
              <a:t>正态分布的统计决策</a:t>
            </a:r>
          </a:p>
          <a:p>
            <a:pPr>
              <a:lnSpc>
                <a:spcPct val="150000"/>
              </a:lnSpc>
            </a:pPr>
            <a:r>
              <a:rPr lang="en-US" altLang="zh-CN" sz="2400" b="1" dirty="0">
                <a:latin typeface="宋体" pitchFamily="2" charset="-122"/>
                <a:ea typeface="宋体" pitchFamily="2" charset="-122"/>
              </a:rPr>
              <a:t>13.5 </a:t>
            </a:r>
            <a:r>
              <a:rPr lang="zh-CN" altLang="zh-CN" sz="2400" b="1" dirty="0">
                <a:latin typeface="宋体" pitchFamily="2" charset="-122"/>
                <a:ea typeface="宋体" pitchFamily="2" charset="-122"/>
              </a:rPr>
              <a:t>关于分类器的错误率</a:t>
            </a:r>
          </a:p>
          <a:p>
            <a:pPr>
              <a:lnSpc>
                <a:spcPct val="150000"/>
              </a:lnSpc>
            </a:pPr>
            <a:r>
              <a:rPr lang="en-US" altLang="zh-CN" sz="2400" b="1" dirty="0">
                <a:latin typeface="宋体" pitchFamily="2" charset="-122"/>
                <a:ea typeface="宋体" pitchFamily="2" charset="-122"/>
              </a:rPr>
              <a:t>13.6 </a:t>
            </a:r>
            <a:r>
              <a:rPr lang="zh-CN" altLang="zh-CN" sz="2400" b="1" dirty="0">
                <a:latin typeface="宋体" pitchFamily="2" charset="-122"/>
                <a:ea typeface="宋体" pitchFamily="2" charset="-122"/>
              </a:rPr>
              <a:t>离散概率模型下的统计决策</a:t>
            </a:r>
          </a:p>
        </p:txBody>
      </p:sp>
      <p:sp>
        <p:nvSpPr>
          <p:cNvPr id="8" name="Freeform 6"/>
          <p:cNvSpPr>
            <a:spLocks/>
          </p:cNvSpPr>
          <p:nvPr/>
        </p:nvSpPr>
        <p:spPr bwMode="auto">
          <a:xfrm>
            <a:off x="0" y="5589240"/>
            <a:ext cx="12192000" cy="864096"/>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p>
        </p:txBody>
      </p:sp>
      <p:sp>
        <p:nvSpPr>
          <p:cNvPr id="9" name="Freeform 7"/>
          <p:cNvSpPr>
            <a:spLocks/>
          </p:cNvSpPr>
          <p:nvPr/>
        </p:nvSpPr>
        <p:spPr bwMode="auto">
          <a:xfrm>
            <a:off x="-24680" y="5425669"/>
            <a:ext cx="12216680" cy="357166"/>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solidFill>
                <a:schemeClr val="tx2">
                  <a:lumMod val="20000"/>
                  <a:lumOff val="80000"/>
                </a:schemeClr>
              </a:solidFill>
            </a:endParaRPr>
          </a:p>
        </p:txBody>
      </p:sp>
      <p:pic>
        <p:nvPicPr>
          <p:cNvPr id="3" name="图片 2"/>
          <p:cNvPicPr>
            <a:picLocks noChangeAspect="1"/>
          </p:cNvPicPr>
          <p:nvPr/>
        </p:nvPicPr>
        <p:blipFill>
          <a:blip r:embed="rId3"/>
          <a:stretch>
            <a:fillRect/>
          </a:stretch>
        </p:blipFill>
        <p:spPr>
          <a:xfrm>
            <a:off x="0" y="6468398"/>
            <a:ext cx="1349719" cy="404664"/>
          </a:xfrm>
          <a:prstGeom prst="rect">
            <a:avLst/>
          </a:prstGeom>
        </p:spPr>
      </p:pic>
      <p:sp>
        <p:nvSpPr>
          <p:cNvPr id="6" name="文本框 5"/>
          <p:cNvSpPr txBox="1"/>
          <p:nvPr/>
        </p:nvSpPr>
        <p:spPr>
          <a:xfrm>
            <a:off x="-24680" y="6436962"/>
            <a:ext cx="5472608" cy="461665"/>
          </a:xfrm>
          <a:prstGeom prst="rect">
            <a:avLst/>
          </a:prstGeom>
          <a:noFill/>
        </p:spPr>
        <p:txBody>
          <a:bodyPr wrap="square" rtlCol="0">
            <a:spAutoFit/>
          </a:bodyPr>
          <a:lstStyle/>
          <a:p>
            <a:r>
              <a:rPr lang="zh-CN" altLang="en-US" sz="2400" b="1" dirty="0">
                <a:solidFill>
                  <a:srgbClr val="0000FF"/>
                </a:solidFill>
              </a:rPr>
              <a:t>人工智能与自动化学院        </a:t>
            </a:r>
          </a:p>
        </p:txBody>
      </p:sp>
      <p:sp>
        <p:nvSpPr>
          <p:cNvPr id="12"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zh-CN" altLang="en-US" kern="0" dirty="0"/>
              <a:t>第</a:t>
            </a:r>
            <a:r>
              <a:rPr lang="en-US" altLang="zh-CN" kern="0" dirty="0"/>
              <a:t>13</a:t>
            </a:r>
            <a:r>
              <a:rPr lang="zh-CN" altLang="en-US" kern="0" dirty="0"/>
              <a:t>章 </a:t>
            </a:r>
            <a:r>
              <a:rPr lang="zh-CN" altLang="zh-CN" dirty="0"/>
              <a:t>基于统计决策的概率分类方法</a:t>
            </a:r>
          </a:p>
        </p:txBody>
      </p:sp>
      <p:sp>
        <p:nvSpPr>
          <p:cNvPr id="7" name="灯片编号占位符 6">
            <a:extLst>
              <a:ext uri="{FF2B5EF4-FFF2-40B4-BE49-F238E27FC236}">
                <a16:creationId xmlns:a16="http://schemas.microsoft.com/office/drawing/2014/main" id="{57A11AAC-03BE-45BB-A5C8-11C5A0B0B16C}"/>
              </a:ext>
            </a:extLst>
          </p:cNvPr>
          <p:cNvSpPr>
            <a:spLocks noGrp="1"/>
          </p:cNvSpPr>
          <p:nvPr>
            <p:ph type="sldNum" sz="quarter" idx="11"/>
          </p:nvPr>
        </p:nvSpPr>
        <p:spPr/>
        <p:txBody>
          <a:bodyPr/>
          <a:lstStyle/>
          <a:p>
            <a:pPr>
              <a:defRPr/>
            </a:pPr>
            <a:fld id="{31E287EE-1289-4991-82CE-EFE584F53F4F}" type="slidenum">
              <a:rPr lang="en-US" altLang="zh-CN" smtClean="0"/>
              <a:pPr>
                <a:defRPr/>
              </a:pPr>
              <a:t>21</a:t>
            </a:fld>
            <a:endParaRPr lang="en-US" altLang="zh-CN" dirty="0"/>
          </a:p>
        </p:txBody>
      </p:sp>
    </p:spTree>
    <p:extLst>
      <p:ext uri="{BB962C8B-B14F-4D97-AF65-F5344CB8AC3E}">
        <p14:creationId xmlns:p14="http://schemas.microsoft.com/office/powerpoint/2010/main" val="34782520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22</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13.2 </a:t>
            </a:r>
            <a:r>
              <a:rPr lang="zh-CN" altLang="zh-CN" dirty="0"/>
              <a:t>最小</a:t>
            </a:r>
            <a:r>
              <a:rPr lang="zh-CN" altLang="en-US" dirty="0"/>
              <a:t>风险</a:t>
            </a:r>
            <a:r>
              <a:rPr lang="zh-CN" altLang="zh-CN" dirty="0"/>
              <a:t>贝叶斯决策</a:t>
            </a:r>
          </a:p>
        </p:txBody>
      </p:sp>
      <p:sp>
        <p:nvSpPr>
          <p:cNvPr id="42" name="矩形 41"/>
          <p:cNvSpPr/>
          <p:nvPr/>
        </p:nvSpPr>
        <p:spPr>
          <a:xfrm>
            <a:off x="304132" y="1076139"/>
            <a:ext cx="1620957"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条件风险</a:t>
            </a:r>
            <a:endParaRPr lang="zh-CN" altLang="en-US" sz="2800" b="1" dirty="0">
              <a:solidFill>
                <a:srgbClr val="FF0000"/>
              </a:solidFill>
              <a:ea typeface="黑体" panose="02010609060101010101" pitchFamily="49" charset="-122"/>
            </a:endParaRPr>
          </a:p>
        </p:txBody>
      </p:sp>
      <p:sp>
        <p:nvSpPr>
          <p:cNvPr id="14" name="内容占位符 2"/>
          <p:cNvSpPr>
            <a:spLocks noGrp="1"/>
          </p:cNvSpPr>
          <p:nvPr>
            <p:ph idx="1"/>
          </p:nvPr>
        </p:nvSpPr>
        <p:spPr>
          <a:xfrm>
            <a:off x="304132" y="1695028"/>
            <a:ext cx="11480500" cy="3390156"/>
          </a:xfrm>
        </p:spPr>
        <p:txBody>
          <a:bodyPr/>
          <a:lstStyle/>
          <a:p>
            <a:pPr marL="0" indent="0" eaLnBrk="1" hangingPunct="1">
              <a:lnSpc>
                <a:spcPct val="130000"/>
              </a:lnSpc>
              <a:spcBef>
                <a:spcPts val="0"/>
              </a:spcBef>
              <a:buNone/>
            </a:pPr>
            <a:r>
              <a:rPr lang="zh-CN" altLang="en-US" sz="2200" dirty="0">
                <a:latin typeface="黑体" panose="02010609060101010101" pitchFamily="49" charset="-122"/>
                <a:ea typeface="黑体" panose="02010609060101010101" pitchFamily="49" charset="-122"/>
              </a:rPr>
              <a:t>在实际工作中，有时仅考虑错误率最小是不够的，故引入一个与损失有关联的、比错误率更为广泛的概念—</a:t>
            </a:r>
            <a:r>
              <a:rPr lang="zh-CN" altLang="en-US" sz="2200" b="1" dirty="0">
                <a:solidFill>
                  <a:srgbClr val="FF0000"/>
                </a:solidFill>
                <a:latin typeface="黑体" panose="02010609060101010101" pitchFamily="49" charset="-122"/>
                <a:ea typeface="黑体" panose="02010609060101010101" pitchFamily="49" charset="-122"/>
              </a:rPr>
              <a:t>风险</a:t>
            </a:r>
            <a:r>
              <a:rPr lang="zh-CN" altLang="en-US" sz="2200" dirty="0">
                <a:latin typeface="黑体" panose="02010609060101010101" pitchFamily="49" charset="-122"/>
                <a:ea typeface="黑体" panose="02010609060101010101" pitchFamily="49" charset="-122"/>
              </a:rPr>
              <a:t>。</a:t>
            </a:r>
            <a:endParaRPr lang="en-US" altLang="zh-CN" sz="2200" dirty="0">
              <a:latin typeface="黑体" panose="02010609060101010101" pitchFamily="49" charset="-122"/>
              <a:ea typeface="黑体" panose="02010609060101010101" pitchFamily="49" charset="-122"/>
            </a:endParaRPr>
          </a:p>
          <a:p>
            <a:pPr eaLnBrk="1" hangingPunct="1">
              <a:lnSpc>
                <a:spcPct val="130000"/>
              </a:lnSpc>
              <a:spcBef>
                <a:spcPts val="0"/>
              </a:spcBef>
            </a:pPr>
            <a:endParaRPr lang="en-US" altLang="zh-CN" sz="2200" dirty="0">
              <a:solidFill>
                <a:srgbClr val="FF0000"/>
              </a:solidFill>
              <a:latin typeface="黑体" panose="02010609060101010101" pitchFamily="49" charset="-122"/>
              <a:ea typeface="黑体" panose="02010609060101010101" pitchFamily="49" charset="-122"/>
            </a:endParaRPr>
          </a:p>
          <a:p>
            <a:pPr marL="0" indent="0" eaLnBrk="1" hangingPunct="1">
              <a:lnSpc>
                <a:spcPct val="130000"/>
              </a:lnSpc>
              <a:spcBef>
                <a:spcPts val="0"/>
              </a:spcBef>
              <a:buNone/>
            </a:pPr>
            <a:endParaRPr lang="en-US" altLang="zh-CN" sz="2200" dirty="0">
              <a:solidFill>
                <a:srgbClr val="FF0000"/>
              </a:solidFill>
              <a:latin typeface="黑体" panose="02010609060101010101" pitchFamily="49" charset="-122"/>
              <a:ea typeface="黑体" panose="02010609060101010101" pitchFamily="49" charset="-122"/>
            </a:endParaRPr>
          </a:p>
          <a:p>
            <a:pPr marL="0" indent="0" eaLnBrk="1" hangingPunct="1">
              <a:lnSpc>
                <a:spcPct val="130000"/>
              </a:lnSpc>
              <a:spcBef>
                <a:spcPts val="0"/>
              </a:spcBef>
              <a:buNone/>
            </a:pPr>
            <a:endParaRPr lang="en-US" altLang="zh-CN" sz="2200" dirty="0">
              <a:solidFill>
                <a:srgbClr val="FF0000"/>
              </a:solidFill>
              <a:latin typeface="黑体" panose="02010609060101010101" pitchFamily="49" charset="-122"/>
              <a:ea typeface="黑体" panose="02010609060101010101" pitchFamily="49" charset="-122"/>
            </a:endParaRPr>
          </a:p>
          <a:p>
            <a:pPr eaLnBrk="1" hangingPunct="1">
              <a:lnSpc>
                <a:spcPct val="130000"/>
              </a:lnSpc>
              <a:spcBef>
                <a:spcPts val="0"/>
              </a:spcBef>
              <a:buClrTx/>
              <a:buFont typeface="Arial" panose="020B0604020202020204" pitchFamily="34" charset="0"/>
              <a:buChar char="•"/>
            </a:pPr>
            <a:r>
              <a:rPr lang="zh-CN" altLang="en-US" sz="2200" dirty="0">
                <a:latin typeface="黑体" panose="02010609060101010101" pitchFamily="49" charset="-122"/>
                <a:ea typeface="黑体" panose="02010609060101010101" pitchFamily="49" charset="-122"/>
              </a:rPr>
              <a:t>   代表将观测样本</a:t>
            </a:r>
            <a:r>
              <a:rPr lang="en-US" altLang="zh-CN" sz="2200" dirty="0">
                <a:latin typeface="黑体" panose="02010609060101010101" pitchFamily="49" charset="-122"/>
                <a:ea typeface="黑体" panose="02010609060101010101" pitchFamily="49" charset="-122"/>
              </a:rPr>
              <a:t>X</a:t>
            </a:r>
            <a:r>
              <a:rPr lang="zh-CN" altLang="en-US" sz="2200" dirty="0">
                <a:latin typeface="黑体" panose="02010609060101010101" pitchFamily="49" charset="-122"/>
                <a:ea typeface="黑体" panose="02010609060101010101" pitchFamily="49" charset="-122"/>
              </a:rPr>
              <a:t>判定为</a:t>
            </a:r>
            <a:r>
              <a:rPr lang="el-GR" altLang="zh-CN" sz="2200" dirty="0">
                <a:latin typeface="黑体" panose="02010609060101010101" pitchFamily="49" charset="-122"/>
                <a:ea typeface="黑体" panose="02010609060101010101" pitchFamily="49" charset="-122"/>
              </a:rPr>
              <a:t>ω</a:t>
            </a:r>
            <a:r>
              <a:rPr lang="en-US" altLang="zh-CN" sz="2200" baseline="-25000" dirty="0" err="1">
                <a:latin typeface="黑体" panose="02010609060101010101" pitchFamily="49" charset="-122"/>
                <a:ea typeface="黑体" panose="02010609060101010101" pitchFamily="49" charset="-122"/>
              </a:rPr>
              <a:t>i</a:t>
            </a:r>
            <a:r>
              <a:rPr lang="zh-CN" altLang="en-US" sz="2200" dirty="0">
                <a:latin typeface="黑体" panose="02010609060101010101" pitchFamily="49" charset="-122"/>
                <a:ea typeface="黑体" panose="02010609060101010101" pitchFamily="49" charset="-122"/>
              </a:rPr>
              <a:t>类的决策。</a:t>
            </a:r>
            <a:endParaRPr lang="en-US" altLang="zh-CN" sz="2200" dirty="0">
              <a:latin typeface="黑体" panose="02010609060101010101" pitchFamily="49" charset="-122"/>
              <a:ea typeface="黑体" panose="02010609060101010101" pitchFamily="49" charset="-122"/>
            </a:endParaRPr>
          </a:p>
          <a:p>
            <a:pPr eaLnBrk="1" hangingPunct="1">
              <a:lnSpc>
                <a:spcPct val="130000"/>
              </a:lnSpc>
              <a:spcBef>
                <a:spcPts val="0"/>
              </a:spcBef>
            </a:pPr>
            <a:endParaRPr lang="en-US" altLang="zh-CN" sz="2200" dirty="0">
              <a:latin typeface="黑体" panose="02010609060101010101" pitchFamily="49" charset="-122"/>
              <a:ea typeface="黑体" panose="02010609060101010101" pitchFamily="49" charset="-122"/>
            </a:endParaRPr>
          </a:p>
          <a:p>
            <a:pPr eaLnBrk="1" hangingPunct="1">
              <a:lnSpc>
                <a:spcPct val="130000"/>
              </a:lnSpc>
              <a:spcBef>
                <a:spcPts val="0"/>
              </a:spcBef>
              <a:buClrTx/>
              <a:buFont typeface="Arial" panose="020B0604020202020204" pitchFamily="34" charset="0"/>
              <a:buChar char="•"/>
            </a:pPr>
            <a:r>
              <a:rPr lang="zh-CN" altLang="en-US" sz="2200" dirty="0">
                <a:latin typeface="黑体" panose="02010609060101010101" pitchFamily="49" charset="-122"/>
                <a:ea typeface="黑体" panose="02010609060101010101" pitchFamily="49" charset="-122"/>
              </a:rPr>
              <a:t>        表示观测样本</a:t>
            </a:r>
            <a:r>
              <a:rPr lang="en-US" altLang="zh-CN" sz="2200" dirty="0">
                <a:latin typeface="黑体" panose="02010609060101010101" pitchFamily="49" charset="-122"/>
                <a:ea typeface="黑体" panose="02010609060101010101" pitchFamily="49" charset="-122"/>
              </a:rPr>
              <a:t>X∈</a:t>
            </a:r>
            <a:r>
              <a:rPr lang="el-GR" altLang="zh-CN" sz="2200" dirty="0">
                <a:latin typeface="黑体" panose="02010609060101010101" pitchFamily="49" charset="-122"/>
                <a:ea typeface="黑体" panose="02010609060101010101" pitchFamily="49" charset="-122"/>
              </a:rPr>
              <a:t>ω</a:t>
            </a:r>
            <a:r>
              <a:rPr lang="en-US" altLang="zh-CN" sz="2200" baseline="-25000" dirty="0" err="1">
                <a:latin typeface="黑体" panose="02010609060101010101" pitchFamily="49" charset="-122"/>
                <a:ea typeface="黑体" panose="02010609060101010101" pitchFamily="49" charset="-122"/>
              </a:rPr>
              <a:t>j</a:t>
            </a:r>
            <a:r>
              <a:rPr lang="zh-CN" altLang="en-US" sz="2200" dirty="0">
                <a:latin typeface="黑体" panose="02010609060101010101" pitchFamily="49" charset="-122"/>
                <a:ea typeface="黑体" panose="02010609060101010101" pitchFamily="49" charset="-122"/>
              </a:rPr>
              <a:t>，但被判为</a:t>
            </a:r>
            <a:r>
              <a:rPr lang="el-GR" altLang="zh-CN" sz="2200" dirty="0">
                <a:latin typeface="黑体" panose="02010609060101010101" pitchFamily="49" charset="-122"/>
                <a:ea typeface="黑体" panose="02010609060101010101" pitchFamily="49" charset="-122"/>
              </a:rPr>
              <a:t>ω</a:t>
            </a:r>
            <a:r>
              <a:rPr lang="en-US" altLang="zh-CN" sz="2200" baseline="-25000" dirty="0">
                <a:latin typeface="黑体" panose="02010609060101010101" pitchFamily="49" charset="-122"/>
                <a:ea typeface="黑体" panose="02010609060101010101" pitchFamily="49" charset="-122"/>
              </a:rPr>
              <a:t>i</a:t>
            </a:r>
            <a:r>
              <a:rPr lang="zh-CN" altLang="en-US" sz="2200" dirty="0">
                <a:latin typeface="黑体" panose="02010609060101010101" pitchFamily="49" charset="-122"/>
                <a:ea typeface="黑体" panose="02010609060101010101" pitchFamily="49" charset="-122"/>
              </a:rPr>
              <a:t>的</a:t>
            </a:r>
            <a:r>
              <a:rPr lang="zh-CN" altLang="en-US" sz="2200" dirty="0">
                <a:solidFill>
                  <a:srgbClr val="FF0000"/>
                </a:solidFill>
                <a:latin typeface="黑体" panose="02010609060101010101" pitchFamily="49" charset="-122"/>
                <a:ea typeface="黑体" panose="02010609060101010101" pitchFamily="49" charset="-122"/>
              </a:rPr>
              <a:t>损失</a:t>
            </a:r>
            <a:r>
              <a:rPr lang="zh-CN" altLang="en-US" sz="2200" dirty="0">
                <a:latin typeface="黑体" panose="02010609060101010101" pitchFamily="49" charset="-122"/>
                <a:ea typeface="黑体" panose="02010609060101010101" pitchFamily="49" charset="-122"/>
              </a:rPr>
              <a:t>，如果</a:t>
            </a:r>
            <a:r>
              <a:rPr lang="en-US" altLang="zh-CN" sz="2200" dirty="0" err="1">
                <a:latin typeface="黑体" panose="02010609060101010101" pitchFamily="49" charset="-122"/>
                <a:ea typeface="黑体" panose="02010609060101010101" pitchFamily="49" charset="-122"/>
              </a:rPr>
              <a:t>i</a:t>
            </a:r>
            <a:r>
              <a:rPr lang="en-US" altLang="zh-CN" sz="2200" dirty="0">
                <a:latin typeface="黑体" panose="02010609060101010101" pitchFamily="49" charset="-122"/>
                <a:ea typeface="黑体" panose="02010609060101010101" pitchFamily="49" charset="-122"/>
              </a:rPr>
              <a:t>=j</a:t>
            </a:r>
            <a:r>
              <a:rPr lang="zh-CN" altLang="en-US" sz="2200" dirty="0">
                <a:latin typeface="黑体" panose="02010609060101010101" pitchFamily="49" charset="-122"/>
                <a:ea typeface="黑体" panose="02010609060101010101" pitchFamily="49" charset="-122"/>
              </a:rPr>
              <a:t>，则是正确判决。</a:t>
            </a:r>
            <a:endParaRPr lang="en-US" altLang="zh-CN" sz="2200" dirty="0">
              <a:latin typeface="黑体" panose="02010609060101010101" pitchFamily="49" charset="-122"/>
              <a:ea typeface="黑体" panose="02010609060101010101" pitchFamily="49" charset="-122"/>
            </a:endParaRPr>
          </a:p>
        </p:txBody>
      </p:sp>
      <p:graphicFrame>
        <p:nvGraphicFramePr>
          <p:cNvPr id="16" name="Object 3"/>
          <p:cNvGraphicFramePr>
            <a:graphicFrameLocks noChangeAspect="1"/>
          </p:cNvGraphicFramePr>
          <p:nvPr>
            <p:extLst>
              <p:ext uri="{D42A27DB-BD31-4B8C-83A1-F6EECF244321}">
                <p14:modId xmlns:p14="http://schemas.microsoft.com/office/powerpoint/2010/main" val="887693358"/>
              </p:ext>
            </p:extLst>
          </p:nvPr>
        </p:nvGraphicFramePr>
        <p:xfrm>
          <a:off x="5100265" y="2833932"/>
          <a:ext cx="2905125" cy="585787"/>
        </p:xfrm>
        <a:graphic>
          <a:graphicData uri="http://schemas.openxmlformats.org/presentationml/2006/ole">
            <mc:AlternateContent xmlns:mc="http://schemas.openxmlformats.org/markup-compatibility/2006">
              <mc:Choice xmlns:v="urn:schemas-microsoft-com:vml" Requires="v">
                <p:oleObj spid="_x0000_s16701" name="Equation" r:id="rId4" imgW="28296720" imgH="5522400" progId="Equation.DSMT4">
                  <p:embed/>
                </p:oleObj>
              </mc:Choice>
              <mc:Fallback>
                <p:oleObj name="Equation" r:id="rId4" imgW="28296720" imgH="5522400" progId="Equation.DSMT4">
                  <p:embed/>
                  <p:pic>
                    <p:nvPicPr>
                      <p:cNvPr id="0" name="Picture 30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0265" y="2833932"/>
                        <a:ext cx="2905125" cy="585787"/>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9900"/>
                            </a:solidFill>
                          </a14:hiddenFill>
                        </a:ext>
                      </a:extLst>
                    </p:spPr>
                  </p:pic>
                </p:oleObj>
              </mc:Fallback>
            </mc:AlternateContent>
          </a:graphicData>
        </a:graphic>
      </p:graphicFrame>
      <p:graphicFrame>
        <p:nvGraphicFramePr>
          <p:cNvPr id="17" name="Object 3"/>
          <p:cNvGraphicFramePr>
            <a:graphicFrameLocks noChangeAspect="1"/>
          </p:cNvGraphicFramePr>
          <p:nvPr>
            <p:extLst>
              <p:ext uri="{D42A27DB-BD31-4B8C-83A1-F6EECF244321}">
                <p14:modId xmlns:p14="http://schemas.microsoft.com/office/powerpoint/2010/main" val="3268970336"/>
              </p:ext>
            </p:extLst>
          </p:nvPr>
        </p:nvGraphicFramePr>
        <p:xfrm>
          <a:off x="650789" y="4763045"/>
          <a:ext cx="1166812" cy="538163"/>
        </p:xfrm>
        <a:graphic>
          <a:graphicData uri="http://schemas.openxmlformats.org/presentationml/2006/ole">
            <mc:AlternateContent xmlns:mc="http://schemas.openxmlformats.org/markup-compatibility/2006">
              <mc:Choice xmlns:v="urn:schemas-microsoft-com:vml" Requires="v">
                <p:oleObj spid="_x0000_s16702" name="Equation" r:id="rId6" imgW="11360880" imgH="5061600" progId="Equation.DSMT4">
                  <p:embed/>
                </p:oleObj>
              </mc:Choice>
              <mc:Fallback>
                <p:oleObj name="Equation" r:id="rId6" imgW="11360880" imgH="5061600" progId="Equation.DSMT4">
                  <p:embed/>
                  <p:pic>
                    <p:nvPicPr>
                      <p:cNvPr id="0" name="Picture 30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0789" y="4763045"/>
                        <a:ext cx="1166812" cy="538163"/>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9900"/>
                            </a:solidFill>
                          </a14:hiddenFill>
                        </a:ext>
                      </a:extLst>
                    </p:spPr>
                  </p:pic>
                </p:oleObj>
              </mc:Fallback>
            </mc:AlternateContent>
          </a:graphicData>
        </a:graphic>
      </p:graphicFrame>
      <p:graphicFrame>
        <p:nvGraphicFramePr>
          <p:cNvPr id="20" name="Object 3"/>
          <p:cNvGraphicFramePr>
            <a:graphicFrameLocks noChangeAspect="1"/>
          </p:cNvGraphicFramePr>
          <p:nvPr>
            <p:extLst>
              <p:ext uri="{D42A27DB-BD31-4B8C-83A1-F6EECF244321}">
                <p14:modId xmlns:p14="http://schemas.microsoft.com/office/powerpoint/2010/main" val="3643680389"/>
              </p:ext>
            </p:extLst>
          </p:nvPr>
        </p:nvGraphicFramePr>
        <p:xfrm>
          <a:off x="750076" y="3912128"/>
          <a:ext cx="309563" cy="441325"/>
        </p:xfrm>
        <a:graphic>
          <a:graphicData uri="http://schemas.openxmlformats.org/presentationml/2006/ole">
            <mc:AlternateContent xmlns:mc="http://schemas.openxmlformats.org/markup-compatibility/2006">
              <mc:Choice xmlns:v="urn:schemas-microsoft-com:vml" Requires="v">
                <p:oleObj spid="_x0000_s16703" name="Equation" r:id="rId8" imgW="3008880" imgH="4140000" progId="Equation.DSMT4">
                  <p:embed/>
                </p:oleObj>
              </mc:Choice>
              <mc:Fallback>
                <p:oleObj name="Equation" r:id="rId8" imgW="3008880" imgH="4140000" progId="Equation.DSMT4">
                  <p:embed/>
                  <p:pic>
                    <p:nvPicPr>
                      <p:cNvPr id="0" name="Picture 30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0076" y="3912128"/>
                        <a:ext cx="309563" cy="4413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9900"/>
                            </a:solidFill>
                          </a14:hiddenFill>
                        </a:ext>
                      </a:extLst>
                    </p:spPr>
                  </p:pic>
                </p:oleObj>
              </mc:Fallback>
            </mc:AlternateContent>
          </a:graphicData>
        </a:graphic>
      </p:graphicFrame>
      <p:sp>
        <p:nvSpPr>
          <p:cNvPr id="23" name="矩形 22"/>
          <p:cNvSpPr/>
          <p:nvPr/>
        </p:nvSpPr>
        <p:spPr>
          <a:xfrm>
            <a:off x="3203892" y="2911383"/>
            <a:ext cx="1391728" cy="430887"/>
          </a:xfrm>
          <a:prstGeom prst="rect">
            <a:avLst/>
          </a:prstGeom>
        </p:spPr>
        <p:txBody>
          <a:bodyPr wrap="none">
            <a:spAutoFit/>
          </a:bodyPr>
          <a:lstStyle/>
          <a:p>
            <a:r>
              <a:rPr lang="zh-CN" altLang="en-US" sz="2200" dirty="0">
                <a:solidFill>
                  <a:srgbClr val="FF0000"/>
                </a:solidFill>
              </a:rPr>
              <a:t>条件风险</a:t>
            </a:r>
            <a:r>
              <a:rPr lang="en-US" altLang="zh-CN" sz="2200" dirty="0">
                <a:solidFill>
                  <a:srgbClr val="FF0000"/>
                </a:solidFill>
              </a:rPr>
              <a:t>:</a:t>
            </a:r>
            <a:endParaRPr lang="zh-CN" altLang="en-US" sz="2200" dirty="0">
              <a:solidFill>
                <a:srgbClr val="6600CC"/>
              </a:solidFill>
            </a:endParaRPr>
          </a:p>
        </p:txBody>
      </p:sp>
    </p:spTree>
    <p:extLst>
      <p:ext uri="{BB962C8B-B14F-4D97-AF65-F5344CB8AC3E}">
        <p14:creationId xmlns:p14="http://schemas.microsoft.com/office/powerpoint/2010/main" val="38602354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23</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13.2 </a:t>
            </a:r>
            <a:r>
              <a:rPr lang="zh-CN" altLang="zh-CN" dirty="0"/>
              <a:t>最小</a:t>
            </a:r>
            <a:r>
              <a:rPr lang="zh-CN" altLang="en-US" dirty="0"/>
              <a:t>风险</a:t>
            </a:r>
            <a:r>
              <a:rPr lang="zh-CN" altLang="zh-CN" dirty="0"/>
              <a:t>贝叶斯决策</a:t>
            </a:r>
          </a:p>
        </p:txBody>
      </p:sp>
      <p:sp>
        <p:nvSpPr>
          <p:cNvPr id="42" name="矩形 41"/>
          <p:cNvSpPr/>
          <p:nvPr/>
        </p:nvSpPr>
        <p:spPr>
          <a:xfrm>
            <a:off x="304132" y="1076139"/>
            <a:ext cx="1620957"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条件风险</a:t>
            </a:r>
            <a:endParaRPr lang="zh-CN" altLang="en-US" sz="2800" b="1" dirty="0">
              <a:solidFill>
                <a:srgbClr val="FF0000"/>
              </a:solidFill>
              <a:ea typeface="黑体" panose="02010609060101010101" pitchFamily="49" charset="-122"/>
            </a:endParaRPr>
          </a:p>
        </p:txBody>
      </p:sp>
      <p:sp>
        <p:nvSpPr>
          <p:cNvPr id="14" name="内容占位符 2"/>
          <p:cNvSpPr>
            <a:spLocks noGrp="1"/>
          </p:cNvSpPr>
          <p:nvPr>
            <p:ph idx="1"/>
          </p:nvPr>
        </p:nvSpPr>
        <p:spPr>
          <a:xfrm>
            <a:off x="304132" y="1623020"/>
            <a:ext cx="11480500" cy="2632175"/>
          </a:xfrm>
        </p:spPr>
        <p:txBody>
          <a:bodyPr/>
          <a:lstStyle/>
          <a:p>
            <a:pPr marL="0" indent="0" eaLnBrk="1" hangingPunct="1">
              <a:lnSpc>
                <a:spcPct val="130000"/>
              </a:lnSpc>
              <a:spcBef>
                <a:spcPts val="0"/>
              </a:spcBef>
              <a:buNone/>
            </a:pPr>
            <a:r>
              <a:rPr lang="zh-CN" altLang="en-US" sz="2200" dirty="0">
                <a:latin typeface="黑体" panose="02010609060101010101" pitchFamily="49" charset="-122"/>
                <a:ea typeface="黑体" panose="02010609060101010101" pitchFamily="49" charset="-122"/>
              </a:rPr>
              <a:t>在实际工作中，有时仅考虑错误率最小是不够的，故引入一个与损失有关联的、比错误率更为广泛的概念—</a:t>
            </a:r>
            <a:r>
              <a:rPr lang="zh-CN" altLang="en-US" sz="2200" b="1" dirty="0">
                <a:solidFill>
                  <a:srgbClr val="FF0000"/>
                </a:solidFill>
                <a:latin typeface="黑体" panose="02010609060101010101" pitchFamily="49" charset="-122"/>
                <a:ea typeface="黑体" panose="02010609060101010101" pitchFamily="49" charset="-122"/>
              </a:rPr>
              <a:t>风险</a:t>
            </a:r>
            <a:r>
              <a:rPr lang="zh-CN" altLang="en-US" sz="2200" dirty="0">
                <a:latin typeface="黑体" panose="02010609060101010101" pitchFamily="49" charset="-122"/>
                <a:ea typeface="黑体" panose="02010609060101010101" pitchFamily="49" charset="-122"/>
              </a:rPr>
              <a:t>。</a:t>
            </a:r>
            <a:endParaRPr lang="en-US" altLang="zh-CN" sz="2200" dirty="0">
              <a:latin typeface="黑体" panose="02010609060101010101" pitchFamily="49" charset="-122"/>
              <a:ea typeface="黑体" panose="02010609060101010101" pitchFamily="49" charset="-122"/>
            </a:endParaRPr>
          </a:p>
          <a:p>
            <a:pPr marL="0" indent="0" eaLnBrk="1" hangingPunct="1">
              <a:lnSpc>
                <a:spcPct val="130000"/>
              </a:lnSpc>
              <a:spcBef>
                <a:spcPts val="0"/>
              </a:spcBef>
              <a:buNone/>
            </a:pPr>
            <a:endParaRPr lang="en-US" altLang="zh-CN" sz="2200" dirty="0">
              <a:solidFill>
                <a:srgbClr val="FF0000"/>
              </a:solidFill>
              <a:latin typeface="黑体" panose="02010609060101010101" pitchFamily="49" charset="-122"/>
              <a:ea typeface="黑体" panose="02010609060101010101" pitchFamily="49" charset="-122"/>
            </a:endParaRPr>
          </a:p>
          <a:p>
            <a:pPr eaLnBrk="1" hangingPunct="1">
              <a:lnSpc>
                <a:spcPct val="130000"/>
              </a:lnSpc>
              <a:spcBef>
                <a:spcPts val="1200"/>
              </a:spcBef>
              <a:buClrTx/>
              <a:buFont typeface="Arial" panose="020B0604020202020204" pitchFamily="34" charset="0"/>
              <a:buChar char="•"/>
            </a:pPr>
            <a:r>
              <a:rPr lang="zh-CN" altLang="en-US" sz="2200" dirty="0">
                <a:latin typeface="黑体" panose="02010609060101010101" pitchFamily="49" charset="-122"/>
                <a:ea typeface="黑体" panose="02010609060101010101" pitchFamily="49" charset="-122"/>
              </a:rPr>
              <a:t>   代表将观测样本</a:t>
            </a:r>
            <a:r>
              <a:rPr lang="en-US" altLang="zh-CN" sz="2200" dirty="0">
                <a:latin typeface="黑体" panose="02010609060101010101" pitchFamily="49" charset="-122"/>
                <a:ea typeface="黑体" panose="02010609060101010101" pitchFamily="49" charset="-122"/>
              </a:rPr>
              <a:t>X</a:t>
            </a:r>
            <a:r>
              <a:rPr lang="zh-CN" altLang="en-US" sz="2200" dirty="0">
                <a:latin typeface="黑体" panose="02010609060101010101" pitchFamily="49" charset="-122"/>
                <a:ea typeface="黑体" panose="02010609060101010101" pitchFamily="49" charset="-122"/>
              </a:rPr>
              <a:t>判定为</a:t>
            </a:r>
            <a:r>
              <a:rPr lang="el-GR" altLang="zh-CN" sz="2200" dirty="0">
                <a:latin typeface="黑体" panose="02010609060101010101" pitchFamily="49" charset="-122"/>
                <a:ea typeface="黑体" panose="02010609060101010101" pitchFamily="49" charset="-122"/>
              </a:rPr>
              <a:t>ω</a:t>
            </a:r>
            <a:r>
              <a:rPr lang="en-US" altLang="zh-CN" sz="2200" baseline="-25000" dirty="0" err="1">
                <a:latin typeface="黑体" panose="02010609060101010101" pitchFamily="49" charset="-122"/>
                <a:ea typeface="黑体" panose="02010609060101010101" pitchFamily="49" charset="-122"/>
              </a:rPr>
              <a:t>i</a:t>
            </a:r>
            <a:r>
              <a:rPr lang="zh-CN" altLang="en-US" sz="2200" dirty="0">
                <a:latin typeface="黑体" panose="02010609060101010101" pitchFamily="49" charset="-122"/>
                <a:ea typeface="黑体" panose="02010609060101010101" pitchFamily="49" charset="-122"/>
              </a:rPr>
              <a:t>类的决策。</a:t>
            </a:r>
            <a:endParaRPr lang="en-US" altLang="zh-CN" sz="2200" dirty="0">
              <a:latin typeface="黑体" panose="02010609060101010101" pitchFamily="49" charset="-122"/>
              <a:ea typeface="黑体" panose="02010609060101010101" pitchFamily="49" charset="-122"/>
            </a:endParaRPr>
          </a:p>
          <a:p>
            <a:pPr eaLnBrk="1" hangingPunct="1">
              <a:lnSpc>
                <a:spcPct val="130000"/>
              </a:lnSpc>
              <a:spcBef>
                <a:spcPts val="1200"/>
              </a:spcBef>
              <a:buClrTx/>
              <a:buFont typeface="Arial" panose="020B0604020202020204" pitchFamily="34" charset="0"/>
              <a:buChar char="•"/>
            </a:pPr>
            <a:r>
              <a:rPr lang="zh-CN" altLang="en-US" sz="2200" dirty="0">
                <a:latin typeface="黑体" panose="02010609060101010101" pitchFamily="49" charset="-122"/>
                <a:ea typeface="黑体" panose="02010609060101010101" pitchFamily="49" charset="-122"/>
              </a:rPr>
              <a:t>        表示观测样本</a:t>
            </a:r>
            <a:r>
              <a:rPr lang="en-US" altLang="zh-CN" sz="2200" dirty="0">
                <a:latin typeface="黑体" panose="02010609060101010101" pitchFamily="49" charset="-122"/>
                <a:ea typeface="黑体" panose="02010609060101010101" pitchFamily="49" charset="-122"/>
              </a:rPr>
              <a:t>X∈</a:t>
            </a:r>
            <a:r>
              <a:rPr lang="el-GR" altLang="zh-CN" sz="2200" dirty="0">
                <a:latin typeface="黑体" panose="02010609060101010101" pitchFamily="49" charset="-122"/>
                <a:ea typeface="黑体" panose="02010609060101010101" pitchFamily="49" charset="-122"/>
              </a:rPr>
              <a:t>ω</a:t>
            </a:r>
            <a:r>
              <a:rPr lang="en-US" altLang="zh-CN" sz="2200" baseline="-25000" dirty="0" err="1">
                <a:latin typeface="黑体" panose="02010609060101010101" pitchFamily="49" charset="-122"/>
                <a:ea typeface="黑体" panose="02010609060101010101" pitchFamily="49" charset="-122"/>
              </a:rPr>
              <a:t>j</a:t>
            </a:r>
            <a:r>
              <a:rPr lang="zh-CN" altLang="en-US" sz="2200" dirty="0">
                <a:latin typeface="黑体" panose="02010609060101010101" pitchFamily="49" charset="-122"/>
                <a:ea typeface="黑体" panose="02010609060101010101" pitchFamily="49" charset="-122"/>
              </a:rPr>
              <a:t>，但被判为</a:t>
            </a:r>
            <a:r>
              <a:rPr lang="el-GR" altLang="zh-CN" sz="2200" dirty="0">
                <a:latin typeface="黑体" panose="02010609060101010101" pitchFamily="49" charset="-122"/>
                <a:ea typeface="黑体" panose="02010609060101010101" pitchFamily="49" charset="-122"/>
              </a:rPr>
              <a:t>ω</a:t>
            </a:r>
            <a:r>
              <a:rPr lang="en-US" altLang="zh-CN" sz="2200" baseline="-25000" dirty="0">
                <a:latin typeface="黑体" panose="02010609060101010101" pitchFamily="49" charset="-122"/>
                <a:ea typeface="黑体" panose="02010609060101010101" pitchFamily="49" charset="-122"/>
              </a:rPr>
              <a:t>i</a:t>
            </a:r>
            <a:r>
              <a:rPr lang="zh-CN" altLang="en-US" sz="2200" dirty="0">
                <a:latin typeface="黑体" panose="02010609060101010101" pitchFamily="49" charset="-122"/>
                <a:ea typeface="黑体" panose="02010609060101010101" pitchFamily="49" charset="-122"/>
              </a:rPr>
              <a:t>的</a:t>
            </a:r>
            <a:r>
              <a:rPr lang="zh-CN" altLang="en-US" sz="2200" dirty="0">
                <a:solidFill>
                  <a:srgbClr val="FF0000"/>
                </a:solidFill>
                <a:latin typeface="黑体" panose="02010609060101010101" pitchFamily="49" charset="-122"/>
                <a:ea typeface="黑体" panose="02010609060101010101" pitchFamily="49" charset="-122"/>
              </a:rPr>
              <a:t>损失</a:t>
            </a:r>
            <a:r>
              <a:rPr lang="zh-CN" altLang="en-US" sz="2200" dirty="0">
                <a:latin typeface="黑体" panose="02010609060101010101" pitchFamily="49" charset="-122"/>
                <a:ea typeface="黑体" panose="02010609060101010101" pitchFamily="49" charset="-122"/>
              </a:rPr>
              <a:t>，如果</a:t>
            </a:r>
            <a:r>
              <a:rPr lang="en-US" altLang="zh-CN" sz="2200" dirty="0" err="1">
                <a:latin typeface="黑体" panose="02010609060101010101" pitchFamily="49" charset="-122"/>
                <a:ea typeface="黑体" panose="02010609060101010101" pitchFamily="49" charset="-122"/>
              </a:rPr>
              <a:t>i</a:t>
            </a:r>
            <a:r>
              <a:rPr lang="en-US" altLang="zh-CN" sz="2200" dirty="0">
                <a:latin typeface="黑体" panose="02010609060101010101" pitchFamily="49" charset="-122"/>
                <a:ea typeface="黑体" panose="02010609060101010101" pitchFamily="49" charset="-122"/>
              </a:rPr>
              <a:t>=j</a:t>
            </a:r>
            <a:r>
              <a:rPr lang="zh-CN" altLang="en-US" sz="2200" dirty="0">
                <a:latin typeface="黑体" panose="02010609060101010101" pitchFamily="49" charset="-122"/>
                <a:ea typeface="黑体" panose="02010609060101010101" pitchFamily="49" charset="-122"/>
              </a:rPr>
              <a:t>，则是正确判决。</a:t>
            </a:r>
            <a:endParaRPr lang="en-US" altLang="zh-CN" sz="2200" dirty="0">
              <a:latin typeface="黑体" panose="02010609060101010101" pitchFamily="49" charset="-122"/>
              <a:ea typeface="黑体" panose="02010609060101010101" pitchFamily="49" charset="-122"/>
            </a:endParaRPr>
          </a:p>
        </p:txBody>
      </p:sp>
      <p:graphicFrame>
        <p:nvGraphicFramePr>
          <p:cNvPr id="16" name="Object 3"/>
          <p:cNvGraphicFramePr>
            <a:graphicFrameLocks noChangeAspect="1"/>
          </p:cNvGraphicFramePr>
          <p:nvPr>
            <p:extLst>
              <p:ext uri="{D42A27DB-BD31-4B8C-83A1-F6EECF244321}">
                <p14:modId xmlns:p14="http://schemas.microsoft.com/office/powerpoint/2010/main" val="2561918720"/>
              </p:ext>
            </p:extLst>
          </p:nvPr>
        </p:nvGraphicFramePr>
        <p:xfrm>
          <a:off x="5100265" y="2483173"/>
          <a:ext cx="2905125" cy="585787"/>
        </p:xfrm>
        <a:graphic>
          <a:graphicData uri="http://schemas.openxmlformats.org/presentationml/2006/ole">
            <mc:AlternateContent xmlns:mc="http://schemas.openxmlformats.org/markup-compatibility/2006">
              <mc:Choice xmlns:v="urn:schemas-microsoft-com:vml" Requires="v">
                <p:oleObj spid="_x0000_s17722" name="Equation" r:id="rId4" imgW="28296720" imgH="5522400" progId="Equation.DSMT4">
                  <p:embed/>
                </p:oleObj>
              </mc:Choice>
              <mc:Fallback>
                <p:oleObj name="Equation" r:id="rId4" imgW="28296720" imgH="5522400" progId="Equation.DSMT4">
                  <p:embed/>
                  <p:pic>
                    <p:nvPicPr>
                      <p:cNvPr id="0" name="Picture 30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0265" y="2483173"/>
                        <a:ext cx="2905125" cy="585787"/>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9900"/>
                            </a:solidFill>
                          </a14:hiddenFill>
                        </a:ext>
                      </a:extLst>
                    </p:spPr>
                  </p:pic>
                </p:oleObj>
              </mc:Fallback>
            </mc:AlternateContent>
          </a:graphicData>
        </a:graphic>
      </p:graphicFrame>
      <p:graphicFrame>
        <p:nvGraphicFramePr>
          <p:cNvPr id="17" name="Object 3"/>
          <p:cNvGraphicFramePr>
            <a:graphicFrameLocks noChangeAspect="1"/>
          </p:cNvGraphicFramePr>
          <p:nvPr>
            <p:extLst>
              <p:ext uri="{D42A27DB-BD31-4B8C-83A1-F6EECF244321}">
                <p14:modId xmlns:p14="http://schemas.microsoft.com/office/powerpoint/2010/main" val="2624451475"/>
              </p:ext>
            </p:extLst>
          </p:nvPr>
        </p:nvGraphicFramePr>
        <p:xfrm>
          <a:off x="650789" y="3717032"/>
          <a:ext cx="1166812" cy="538163"/>
        </p:xfrm>
        <a:graphic>
          <a:graphicData uri="http://schemas.openxmlformats.org/presentationml/2006/ole">
            <mc:AlternateContent xmlns:mc="http://schemas.openxmlformats.org/markup-compatibility/2006">
              <mc:Choice xmlns:v="urn:schemas-microsoft-com:vml" Requires="v">
                <p:oleObj spid="_x0000_s17723" name="Equation" r:id="rId6" imgW="11360880" imgH="5061600" progId="Equation.DSMT4">
                  <p:embed/>
                </p:oleObj>
              </mc:Choice>
              <mc:Fallback>
                <p:oleObj name="Equation" r:id="rId6" imgW="11360880" imgH="5061600" progId="Equation.DSMT4">
                  <p:embed/>
                  <p:pic>
                    <p:nvPicPr>
                      <p:cNvPr id="0" name="Picture 30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0789" y="3717032"/>
                        <a:ext cx="1166812" cy="538163"/>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9900"/>
                            </a:solidFill>
                          </a14:hiddenFill>
                        </a:ext>
                      </a:extLst>
                    </p:spPr>
                  </p:pic>
                </p:oleObj>
              </mc:Fallback>
            </mc:AlternateContent>
          </a:graphicData>
        </a:graphic>
      </p:graphicFrame>
      <p:graphicFrame>
        <p:nvGraphicFramePr>
          <p:cNvPr id="20" name="Object 3"/>
          <p:cNvGraphicFramePr>
            <a:graphicFrameLocks noChangeAspect="1"/>
          </p:cNvGraphicFramePr>
          <p:nvPr>
            <p:extLst>
              <p:ext uri="{D42A27DB-BD31-4B8C-83A1-F6EECF244321}">
                <p14:modId xmlns:p14="http://schemas.microsoft.com/office/powerpoint/2010/main" val="291788907"/>
              </p:ext>
            </p:extLst>
          </p:nvPr>
        </p:nvGraphicFramePr>
        <p:xfrm>
          <a:off x="750076" y="3140968"/>
          <a:ext cx="309563" cy="441325"/>
        </p:xfrm>
        <a:graphic>
          <a:graphicData uri="http://schemas.openxmlformats.org/presentationml/2006/ole">
            <mc:AlternateContent xmlns:mc="http://schemas.openxmlformats.org/markup-compatibility/2006">
              <mc:Choice xmlns:v="urn:schemas-microsoft-com:vml" Requires="v">
                <p:oleObj spid="_x0000_s17724" name="Equation" r:id="rId8" imgW="3008880" imgH="4140000" progId="Equation.DSMT4">
                  <p:embed/>
                </p:oleObj>
              </mc:Choice>
              <mc:Fallback>
                <p:oleObj name="Equation" r:id="rId8" imgW="3008880" imgH="4140000" progId="Equation.DSMT4">
                  <p:embed/>
                  <p:pic>
                    <p:nvPicPr>
                      <p:cNvPr id="0" name="Picture 30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0076" y="3140968"/>
                        <a:ext cx="309563" cy="441325"/>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9900"/>
                            </a:solidFill>
                          </a14:hiddenFill>
                        </a:ext>
                      </a:extLst>
                    </p:spPr>
                  </p:pic>
                </p:oleObj>
              </mc:Fallback>
            </mc:AlternateContent>
          </a:graphicData>
        </a:graphic>
      </p:graphicFrame>
      <p:sp>
        <p:nvSpPr>
          <p:cNvPr id="23" name="矩形 22"/>
          <p:cNvSpPr/>
          <p:nvPr/>
        </p:nvSpPr>
        <p:spPr>
          <a:xfrm>
            <a:off x="3203892" y="2560624"/>
            <a:ext cx="1391728" cy="430887"/>
          </a:xfrm>
          <a:prstGeom prst="rect">
            <a:avLst/>
          </a:prstGeom>
        </p:spPr>
        <p:txBody>
          <a:bodyPr wrap="none">
            <a:spAutoFit/>
          </a:bodyPr>
          <a:lstStyle/>
          <a:p>
            <a:r>
              <a:rPr lang="zh-CN" altLang="en-US" sz="2200" dirty="0">
                <a:solidFill>
                  <a:srgbClr val="FF0000"/>
                </a:solidFill>
              </a:rPr>
              <a:t>条件风险</a:t>
            </a:r>
            <a:r>
              <a:rPr lang="en-US" altLang="zh-CN" sz="2200" dirty="0">
                <a:solidFill>
                  <a:srgbClr val="FF0000"/>
                </a:solidFill>
              </a:rPr>
              <a:t>:</a:t>
            </a:r>
            <a:endParaRPr lang="zh-CN" altLang="en-US" sz="2200" dirty="0">
              <a:solidFill>
                <a:srgbClr val="6600CC"/>
              </a:solidFill>
            </a:endParaRPr>
          </a:p>
        </p:txBody>
      </p:sp>
      <p:graphicFrame>
        <p:nvGraphicFramePr>
          <p:cNvPr id="12" name="表格 11"/>
          <p:cNvGraphicFramePr>
            <a:graphicFrameLocks noGrp="1"/>
          </p:cNvGraphicFramePr>
          <p:nvPr>
            <p:extLst>
              <p:ext uri="{D42A27DB-BD31-4B8C-83A1-F6EECF244321}">
                <p14:modId xmlns:p14="http://schemas.microsoft.com/office/powerpoint/2010/main" val="1412634745"/>
              </p:ext>
            </p:extLst>
          </p:nvPr>
        </p:nvGraphicFramePr>
        <p:xfrm>
          <a:off x="1817601" y="4383038"/>
          <a:ext cx="7858180" cy="2032000"/>
        </p:xfrm>
        <a:graphic>
          <a:graphicData uri="http://schemas.openxmlformats.org/drawingml/2006/table">
            <a:tbl>
              <a:tblPr firstRow="1" bandRow="1">
                <a:tableStyleId>{5940675A-B579-460E-94D1-54222C63F5DA}</a:tableStyleId>
              </a:tblPr>
              <a:tblGrid>
                <a:gridCol w="1629600">
                  <a:extLst>
                    <a:ext uri="{9D8B030D-6E8A-4147-A177-3AD203B41FA5}">
                      <a16:colId xmlns:a16="http://schemas.microsoft.com/office/drawing/2014/main" val="20000"/>
                    </a:ext>
                  </a:extLst>
                </a:gridCol>
                <a:gridCol w="3024336">
                  <a:extLst>
                    <a:ext uri="{9D8B030D-6E8A-4147-A177-3AD203B41FA5}">
                      <a16:colId xmlns:a16="http://schemas.microsoft.com/office/drawing/2014/main" val="20001"/>
                    </a:ext>
                  </a:extLst>
                </a:gridCol>
                <a:gridCol w="3204244">
                  <a:extLst>
                    <a:ext uri="{9D8B030D-6E8A-4147-A177-3AD203B41FA5}">
                      <a16:colId xmlns:a16="http://schemas.microsoft.com/office/drawing/2014/main" val="20002"/>
                    </a:ext>
                  </a:extLst>
                </a:gridCol>
              </a:tblGrid>
              <a:tr h="561023">
                <a:tc>
                  <a:txBody>
                    <a:bodyPr/>
                    <a:lstStyle/>
                    <a:p>
                      <a:pPr algn="ctr"/>
                      <a:r>
                        <a:rPr lang="zh-CN" altLang="en-US" sz="1600" dirty="0">
                          <a:latin typeface="+mj-ea"/>
                          <a:ea typeface="+mj-ea"/>
                        </a:rPr>
                        <a:t>       </a:t>
                      </a:r>
                    </a:p>
                  </a:txBody>
                  <a:tcPr anchor="ctr"/>
                </a:tc>
                <a:tc>
                  <a:txBody>
                    <a:bodyPr/>
                    <a:lstStyle/>
                    <a:p>
                      <a:pPr algn="ctr"/>
                      <a:r>
                        <a:rPr lang="en-US" altLang="zh-CN" sz="1600" dirty="0">
                          <a:latin typeface="+mj-ea"/>
                          <a:ea typeface="+mj-ea"/>
                        </a:rPr>
                        <a:t>X∈</a:t>
                      </a:r>
                      <a:r>
                        <a:rPr lang="el-GR" altLang="zh-CN" sz="1600" dirty="0">
                          <a:latin typeface="+mj-ea"/>
                          <a:ea typeface="+mj-ea"/>
                        </a:rPr>
                        <a:t>ω</a:t>
                      </a:r>
                      <a:r>
                        <a:rPr lang="en-US" altLang="zh-CN" sz="1600" baseline="-25000" dirty="0">
                          <a:latin typeface="+mj-ea"/>
                          <a:ea typeface="+mj-ea"/>
                        </a:rPr>
                        <a:t>1</a:t>
                      </a:r>
                      <a:r>
                        <a:rPr lang="zh-CN" altLang="en-US" sz="1600" baseline="0" dirty="0">
                          <a:latin typeface="+mj-ea"/>
                          <a:ea typeface="+mj-ea"/>
                        </a:rPr>
                        <a:t>导弹</a:t>
                      </a:r>
                      <a:endParaRPr lang="zh-CN" altLang="en-US" sz="1600" baseline="-25000" dirty="0">
                        <a:latin typeface="+mj-ea"/>
                        <a:ea typeface="+mj-ea"/>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mj-ea"/>
                          <a:ea typeface="+mj-ea"/>
                        </a:rPr>
                        <a:t>X∈</a:t>
                      </a:r>
                      <a:r>
                        <a:rPr lang="el-GR" altLang="zh-CN" sz="1600" dirty="0">
                          <a:latin typeface="+mj-ea"/>
                          <a:ea typeface="+mj-ea"/>
                        </a:rPr>
                        <a:t>ω</a:t>
                      </a:r>
                      <a:r>
                        <a:rPr lang="en-US" altLang="zh-CN" sz="1600" baseline="-25000" dirty="0">
                          <a:latin typeface="+mj-ea"/>
                          <a:ea typeface="+mj-ea"/>
                        </a:rPr>
                        <a:t>2</a:t>
                      </a:r>
                      <a:r>
                        <a:rPr lang="zh-CN" altLang="en-US" sz="1600" baseline="0" dirty="0">
                          <a:latin typeface="+mj-ea"/>
                          <a:ea typeface="+mj-ea"/>
                        </a:rPr>
                        <a:t>飞机</a:t>
                      </a:r>
                    </a:p>
                  </a:txBody>
                  <a:tcPr anchor="ctr"/>
                </a:tc>
                <a:extLst>
                  <a:ext uri="{0D108BD9-81ED-4DB2-BD59-A6C34878D82A}">
                    <a16:rowId xmlns:a16="http://schemas.microsoft.com/office/drawing/2014/main" val="10000"/>
                  </a:ext>
                </a:extLst>
              </a:tr>
              <a:tr h="680771">
                <a:tc>
                  <a:txBody>
                    <a:bodyPr/>
                    <a:lstStyle/>
                    <a:p>
                      <a:pPr algn="ctr"/>
                      <a:r>
                        <a:rPr lang="el-GR" altLang="zh-CN" sz="1600" dirty="0">
                          <a:latin typeface="+mj-ea"/>
                          <a:ea typeface="+mj-ea"/>
                        </a:rPr>
                        <a:t>α</a:t>
                      </a:r>
                      <a:r>
                        <a:rPr lang="en-US" altLang="zh-CN" sz="1600" baseline="-25000" dirty="0">
                          <a:latin typeface="+mj-ea"/>
                          <a:ea typeface="+mj-ea"/>
                        </a:rPr>
                        <a:t>1  </a:t>
                      </a:r>
                      <a:r>
                        <a:rPr lang="zh-CN" altLang="en-US" sz="1600" baseline="0" dirty="0">
                          <a:latin typeface="+mj-ea"/>
                          <a:ea typeface="+mj-ea"/>
                        </a:rPr>
                        <a:t>判定</a:t>
                      </a:r>
                      <a:r>
                        <a:rPr lang="en-US" altLang="zh-CN" sz="1600" baseline="0" dirty="0">
                          <a:latin typeface="+mj-ea"/>
                          <a:ea typeface="+mj-ea"/>
                        </a:rPr>
                        <a:t>X</a:t>
                      </a:r>
                      <a:r>
                        <a:rPr lang="zh-CN" altLang="en-US" sz="1600" baseline="0" dirty="0">
                          <a:latin typeface="+mj-ea"/>
                          <a:ea typeface="+mj-ea"/>
                        </a:rPr>
                        <a:t>为导弹</a:t>
                      </a:r>
                      <a:endParaRPr lang="zh-CN" altLang="en-US" sz="1600" baseline="-25000" dirty="0">
                        <a:latin typeface="+mj-ea"/>
                        <a:ea typeface="+mj-ea"/>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j-ea"/>
                          <a:ea typeface="+mj-ea"/>
                        </a:rPr>
                        <a:t>损失</a:t>
                      </a:r>
                      <a:r>
                        <a:rPr lang="el-GR" altLang="zh-CN" sz="1600" dirty="0">
                          <a:latin typeface="+mj-ea"/>
                          <a:ea typeface="+mj-ea"/>
                        </a:rPr>
                        <a:t>λ</a:t>
                      </a:r>
                      <a:r>
                        <a:rPr lang="en-US" altLang="zh-CN" sz="1600" kern="1200" baseline="-25000" dirty="0">
                          <a:solidFill>
                            <a:schemeClr val="tx1"/>
                          </a:solidFill>
                          <a:latin typeface="+mj-ea"/>
                          <a:ea typeface="+mn-ea"/>
                          <a:cs typeface="+mn-cs"/>
                        </a:rPr>
                        <a:t>1 1</a:t>
                      </a:r>
                      <a:r>
                        <a:rPr lang="en-US" altLang="zh-CN" sz="1600" dirty="0">
                          <a:latin typeface="+mj-ea"/>
                          <a:ea typeface="+mj-ea"/>
                        </a:rPr>
                        <a:t>(</a:t>
                      </a:r>
                      <a:r>
                        <a:rPr lang="zh-CN" altLang="en-US" sz="1600" baseline="0" dirty="0">
                          <a:latin typeface="+mj-ea"/>
                          <a:ea typeface="+mj-ea"/>
                        </a:rPr>
                        <a:t>判定</a:t>
                      </a:r>
                      <a:r>
                        <a:rPr lang="en-US" altLang="zh-CN" sz="1600" baseline="0" dirty="0">
                          <a:latin typeface="+mj-ea"/>
                          <a:ea typeface="+mj-ea"/>
                        </a:rPr>
                        <a:t>X</a:t>
                      </a:r>
                      <a:r>
                        <a:rPr lang="zh-CN" altLang="en-US" sz="1600" baseline="0" dirty="0">
                          <a:latin typeface="+mj-ea"/>
                          <a:ea typeface="+mj-ea"/>
                        </a:rPr>
                        <a:t>为导弹</a:t>
                      </a:r>
                      <a:r>
                        <a:rPr lang="en-US" altLang="zh-CN" sz="1600" dirty="0">
                          <a:latin typeface="+mj-ea"/>
                          <a:ea typeface="+mj-ea"/>
                        </a:rPr>
                        <a:t>,X∈</a:t>
                      </a:r>
                      <a:r>
                        <a:rPr lang="zh-CN" altLang="en-US" sz="1600" baseline="0" dirty="0">
                          <a:latin typeface="+mj-ea"/>
                          <a:ea typeface="+mj-ea"/>
                        </a:rPr>
                        <a:t>导弹</a:t>
                      </a:r>
                      <a:r>
                        <a:rPr lang="en-US" altLang="zh-CN" sz="1600" dirty="0">
                          <a:latin typeface="+mj-ea"/>
                          <a:ea typeface="+mj-ea"/>
                        </a:rPr>
                        <a:t>)</a:t>
                      </a:r>
                      <a:endParaRPr lang="zh-CN" altLang="en-US" sz="1600" dirty="0">
                        <a:latin typeface="+mj-ea"/>
                        <a:ea typeface="+mj-ea"/>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j-ea"/>
                          <a:ea typeface="+mj-ea"/>
                        </a:rPr>
                        <a:t>损失</a:t>
                      </a:r>
                      <a:r>
                        <a:rPr lang="el-GR" altLang="zh-CN" sz="1600" dirty="0">
                          <a:latin typeface="+mj-ea"/>
                          <a:ea typeface="+mj-ea"/>
                        </a:rPr>
                        <a:t>λ</a:t>
                      </a:r>
                      <a:r>
                        <a:rPr lang="en-US" altLang="zh-CN" sz="1600" kern="1200" baseline="-25000" dirty="0">
                          <a:solidFill>
                            <a:schemeClr val="tx1"/>
                          </a:solidFill>
                          <a:latin typeface="+mj-ea"/>
                          <a:ea typeface="+mn-ea"/>
                          <a:cs typeface="+mn-cs"/>
                        </a:rPr>
                        <a:t>1 2 </a:t>
                      </a:r>
                      <a:r>
                        <a:rPr lang="en-US" altLang="zh-CN" sz="1600" dirty="0">
                          <a:latin typeface="+mj-ea"/>
                          <a:ea typeface="+mj-ea"/>
                        </a:rPr>
                        <a:t>(</a:t>
                      </a:r>
                      <a:r>
                        <a:rPr lang="zh-CN" altLang="en-US" sz="1600" baseline="0" dirty="0">
                          <a:latin typeface="+mj-ea"/>
                          <a:ea typeface="+mj-ea"/>
                        </a:rPr>
                        <a:t>判定</a:t>
                      </a:r>
                      <a:r>
                        <a:rPr lang="en-US" altLang="zh-CN" sz="1600" baseline="0" dirty="0">
                          <a:latin typeface="+mj-ea"/>
                          <a:ea typeface="+mj-ea"/>
                        </a:rPr>
                        <a:t>X</a:t>
                      </a:r>
                      <a:r>
                        <a:rPr lang="zh-CN" altLang="en-US" sz="1600" baseline="0" dirty="0">
                          <a:latin typeface="+mj-ea"/>
                          <a:ea typeface="+mj-ea"/>
                        </a:rPr>
                        <a:t>为导弹</a:t>
                      </a:r>
                      <a:r>
                        <a:rPr lang="en-US" altLang="zh-CN" sz="1600" dirty="0">
                          <a:latin typeface="+mj-ea"/>
                          <a:ea typeface="+mj-ea"/>
                        </a:rPr>
                        <a:t>, X∈</a:t>
                      </a:r>
                      <a:r>
                        <a:rPr lang="zh-CN" altLang="en-US" sz="1600" baseline="0" dirty="0">
                          <a:latin typeface="+mj-ea"/>
                          <a:ea typeface="+mj-ea"/>
                        </a:rPr>
                        <a:t>飞机</a:t>
                      </a:r>
                      <a:r>
                        <a:rPr lang="en-US" altLang="zh-CN" sz="1600" dirty="0">
                          <a:latin typeface="+mj-ea"/>
                          <a:ea typeface="+mj-ea"/>
                        </a:rPr>
                        <a:t>)</a:t>
                      </a:r>
                      <a:endParaRPr lang="zh-CN" altLang="en-US" sz="1600" dirty="0">
                        <a:latin typeface="+mj-ea"/>
                        <a:ea typeface="+mj-ea"/>
                      </a:endParaRPr>
                    </a:p>
                  </a:txBody>
                  <a:tcPr anchor="ctr"/>
                </a:tc>
                <a:extLst>
                  <a:ext uri="{0D108BD9-81ED-4DB2-BD59-A6C34878D82A}">
                    <a16:rowId xmlns:a16="http://schemas.microsoft.com/office/drawing/2014/main" val="10001"/>
                  </a:ext>
                </a:extLst>
              </a:tr>
              <a:tr h="7902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l-GR" altLang="zh-CN" sz="1600" dirty="0">
                          <a:latin typeface="+mj-ea"/>
                          <a:ea typeface="+mj-ea"/>
                        </a:rPr>
                        <a:t>α</a:t>
                      </a:r>
                      <a:r>
                        <a:rPr lang="en-US" altLang="zh-CN" sz="1600" baseline="-25000" dirty="0">
                          <a:latin typeface="+mj-ea"/>
                          <a:ea typeface="+mj-ea"/>
                        </a:rPr>
                        <a:t>2  </a:t>
                      </a:r>
                      <a:r>
                        <a:rPr lang="zh-CN" altLang="en-US" sz="1600" baseline="0" dirty="0">
                          <a:latin typeface="+mj-ea"/>
                          <a:ea typeface="+mj-ea"/>
                        </a:rPr>
                        <a:t>判定</a:t>
                      </a:r>
                      <a:r>
                        <a:rPr lang="en-US" altLang="zh-CN" sz="1600" baseline="0" dirty="0">
                          <a:latin typeface="+mj-ea"/>
                          <a:ea typeface="+mj-ea"/>
                        </a:rPr>
                        <a:t>X</a:t>
                      </a:r>
                      <a:r>
                        <a:rPr lang="zh-CN" altLang="en-US" sz="1600" baseline="0" dirty="0">
                          <a:latin typeface="+mj-ea"/>
                          <a:ea typeface="+mj-ea"/>
                        </a:rPr>
                        <a:t>为飞机</a:t>
                      </a:r>
                      <a:endParaRPr lang="zh-CN" altLang="en-US" sz="1600" baseline="-25000" dirty="0">
                        <a:latin typeface="+mj-ea"/>
                        <a:ea typeface="+mj-ea"/>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j-ea"/>
                          <a:ea typeface="+mj-ea"/>
                        </a:rPr>
                        <a:t>损失</a:t>
                      </a:r>
                      <a:r>
                        <a:rPr lang="el-GR" altLang="zh-CN" sz="1600" dirty="0">
                          <a:latin typeface="+mj-ea"/>
                          <a:ea typeface="+mj-ea"/>
                        </a:rPr>
                        <a:t>λ</a:t>
                      </a:r>
                      <a:r>
                        <a:rPr lang="en-US" altLang="zh-CN" sz="1600" kern="1200" baseline="-25000" dirty="0">
                          <a:solidFill>
                            <a:schemeClr val="tx1"/>
                          </a:solidFill>
                          <a:latin typeface="+mj-ea"/>
                          <a:ea typeface="+mn-ea"/>
                          <a:cs typeface="+mn-cs"/>
                        </a:rPr>
                        <a:t>2 1 </a:t>
                      </a:r>
                      <a:r>
                        <a:rPr lang="en-US" altLang="zh-CN" sz="1600" dirty="0">
                          <a:latin typeface="+mj-ea"/>
                          <a:ea typeface="+mj-ea"/>
                        </a:rPr>
                        <a:t>(</a:t>
                      </a:r>
                      <a:r>
                        <a:rPr lang="zh-CN" altLang="en-US" sz="1600" baseline="0" dirty="0">
                          <a:latin typeface="+mj-ea"/>
                          <a:ea typeface="+mj-ea"/>
                        </a:rPr>
                        <a:t>判定</a:t>
                      </a:r>
                      <a:r>
                        <a:rPr lang="en-US" altLang="zh-CN" sz="1600" baseline="0" dirty="0">
                          <a:latin typeface="+mj-ea"/>
                          <a:ea typeface="+mj-ea"/>
                        </a:rPr>
                        <a:t>X</a:t>
                      </a:r>
                      <a:r>
                        <a:rPr lang="zh-CN" altLang="en-US" sz="1600" baseline="0" dirty="0">
                          <a:latin typeface="+mj-ea"/>
                          <a:ea typeface="+mj-ea"/>
                        </a:rPr>
                        <a:t>为飞机</a:t>
                      </a:r>
                      <a:r>
                        <a:rPr lang="en-US" altLang="zh-CN" sz="1600" dirty="0">
                          <a:latin typeface="+mj-ea"/>
                          <a:ea typeface="+mj-ea"/>
                        </a:rPr>
                        <a:t>,X∈</a:t>
                      </a:r>
                      <a:r>
                        <a:rPr lang="zh-CN" altLang="en-US" sz="1600" baseline="0" dirty="0">
                          <a:latin typeface="+mj-ea"/>
                          <a:ea typeface="+mj-ea"/>
                        </a:rPr>
                        <a:t>导弹</a:t>
                      </a:r>
                      <a:r>
                        <a:rPr lang="en-US" altLang="zh-CN" sz="1600" dirty="0">
                          <a:latin typeface="+mj-ea"/>
                          <a:ea typeface="+mj-ea"/>
                        </a:rPr>
                        <a:t>)</a:t>
                      </a:r>
                      <a:endParaRPr lang="zh-CN" altLang="en-US" sz="1600" dirty="0">
                        <a:latin typeface="+mj-ea"/>
                        <a:ea typeface="+mj-ea"/>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j-ea"/>
                          <a:ea typeface="+mj-ea"/>
                        </a:rPr>
                        <a:t>损失</a:t>
                      </a:r>
                      <a:r>
                        <a:rPr lang="el-GR" altLang="zh-CN" sz="1600" dirty="0">
                          <a:latin typeface="+mj-ea"/>
                          <a:ea typeface="+mj-ea"/>
                        </a:rPr>
                        <a:t>λ</a:t>
                      </a:r>
                      <a:r>
                        <a:rPr lang="en-US" altLang="zh-CN" sz="1600" kern="1200" baseline="-25000" dirty="0">
                          <a:solidFill>
                            <a:schemeClr val="tx1"/>
                          </a:solidFill>
                          <a:latin typeface="+mj-ea"/>
                          <a:ea typeface="+mn-ea"/>
                          <a:cs typeface="+mn-cs"/>
                        </a:rPr>
                        <a:t>2 2</a:t>
                      </a:r>
                      <a:r>
                        <a:rPr lang="en-US" altLang="zh-CN" sz="1600" dirty="0">
                          <a:latin typeface="+mj-ea"/>
                          <a:ea typeface="+mj-ea"/>
                        </a:rPr>
                        <a:t>(</a:t>
                      </a:r>
                      <a:r>
                        <a:rPr lang="zh-CN" altLang="en-US" sz="1600" baseline="0" dirty="0">
                          <a:latin typeface="+mj-ea"/>
                          <a:ea typeface="+mj-ea"/>
                        </a:rPr>
                        <a:t>判定</a:t>
                      </a:r>
                      <a:r>
                        <a:rPr lang="en-US" altLang="zh-CN" sz="1600" baseline="0" dirty="0">
                          <a:latin typeface="+mj-ea"/>
                          <a:ea typeface="+mj-ea"/>
                        </a:rPr>
                        <a:t>X</a:t>
                      </a:r>
                      <a:r>
                        <a:rPr lang="zh-CN" altLang="en-US" sz="1600" baseline="0" dirty="0">
                          <a:latin typeface="+mj-ea"/>
                          <a:ea typeface="+mj-ea"/>
                        </a:rPr>
                        <a:t>为飞机</a:t>
                      </a:r>
                      <a:r>
                        <a:rPr lang="en-US" altLang="zh-CN" sz="1600" dirty="0">
                          <a:latin typeface="+mj-ea"/>
                          <a:ea typeface="+mj-ea"/>
                        </a:rPr>
                        <a:t>,X∈</a:t>
                      </a:r>
                      <a:r>
                        <a:rPr lang="zh-CN" altLang="en-US" sz="1600" baseline="0" dirty="0">
                          <a:latin typeface="+mj-ea"/>
                          <a:ea typeface="+mj-ea"/>
                        </a:rPr>
                        <a:t>飞机</a:t>
                      </a:r>
                      <a:r>
                        <a:rPr lang="en-US" altLang="zh-CN" sz="1600" dirty="0">
                          <a:latin typeface="+mj-ea"/>
                          <a:ea typeface="+mj-ea"/>
                        </a:rPr>
                        <a:t>)</a:t>
                      </a:r>
                      <a:endParaRPr lang="zh-CN" altLang="en-US" sz="1600" dirty="0">
                        <a:latin typeface="+mj-ea"/>
                        <a:ea typeface="+mj-ea"/>
                      </a:endParaRPr>
                    </a:p>
                  </a:txBody>
                  <a:tcPr anchor="ctr"/>
                </a:tc>
                <a:extLst>
                  <a:ext uri="{0D108BD9-81ED-4DB2-BD59-A6C34878D82A}">
                    <a16:rowId xmlns:a16="http://schemas.microsoft.com/office/drawing/2014/main" val="10002"/>
                  </a:ext>
                </a:extLst>
              </a:tr>
            </a:tbl>
          </a:graphicData>
        </a:graphic>
      </p:graphicFrame>
      <p:sp>
        <p:nvSpPr>
          <p:cNvPr id="2" name="矩形 1"/>
          <p:cNvSpPr/>
          <p:nvPr/>
        </p:nvSpPr>
        <p:spPr>
          <a:xfrm>
            <a:off x="621057" y="5159325"/>
            <a:ext cx="877163" cy="369332"/>
          </a:xfrm>
          <a:prstGeom prst="rect">
            <a:avLst/>
          </a:prstGeom>
        </p:spPr>
        <p:txBody>
          <a:bodyPr wrap="none">
            <a:spAutoFit/>
          </a:bodyPr>
          <a:lstStyle/>
          <a:p>
            <a:pPr algn="ctr">
              <a:buNone/>
            </a:pPr>
            <a:r>
              <a:rPr lang="zh-CN" altLang="en-US" dirty="0">
                <a:solidFill>
                  <a:srgbClr val="0000FF"/>
                </a:solidFill>
              </a:rPr>
              <a:t>决策表</a:t>
            </a:r>
            <a:endParaRPr lang="en-US" altLang="zh-CN" dirty="0">
              <a:solidFill>
                <a:srgbClr val="0000FF"/>
              </a:solidFill>
            </a:endParaRPr>
          </a:p>
        </p:txBody>
      </p:sp>
    </p:spTree>
    <p:extLst>
      <p:ext uri="{BB962C8B-B14F-4D97-AF65-F5344CB8AC3E}">
        <p14:creationId xmlns:p14="http://schemas.microsoft.com/office/powerpoint/2010/main" val="40298835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24</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13.2 </a:t>
            </a:r>
            <a:r>
              <a:rPr lang="zh-CN" altLang="zh-CN" dirty="0"/>
              <a:t>最小</a:t>
            </a:r>
            <a:r>
              <a:rPr lang="zh-CN" altLang="en-US" dirty="0"/>
              <a:t>风险</a:t>
            </a:r>
            <a:r>
              <a:rPr lang="zh-CN" altLang="zh-CN" dirty="0"/>
              <a:t>贝叶斯决策</a:t>
            </a:r>
          </a:p>
        </p:txBody>
      </p:sp>
      <p:sp>
        <p:nvSpPr>
          <p:cNvPr id="42" name="矩形 41"/>
          <p:cNvSpPr/>
          <p:nvPr/>
        </p:nvSpPr>
        <p:spPr>
          <a:xfrm>
            <a:off x="304132" y="1076139"/>
            <a:ext cx="1620957"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条件风险</a:t>
            </a:r>
            <a:endParaRPr lang="zh-CN" altLang="en-US" sz="2800" b="1" dirty="0">
              <a:solidFill>
                <a:srgbClr val="FF0000"/>
              </a:solidFill>
              <a:ea typeface="黑体" panose="02010609060101010101" pitchFamily="49" charset="-122"/>
            </a:endParaRPr>
          </a:p>
        </p:txBody>
      </p:sp>
      <p:sp>
        <p:nvSpPr>
          <p:cNvPr id="18" name="矩形 17"/>
          <p:cNvSpPr/>
          <p:nvPr/>
        </p:nvSpPr>
        <p:spPr>
          <a:xfrm>
            <a:off x="2023483" y="5195184"/>
            <a:ext cx="7858180" cy="428628"/>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9" name="Object 3"/>
          <p:cNvGraphicFramePr>
            <a:graphicFrameLocks noChangeAspect="1"/>
          </p:cNvGraphicFramePr>
          <p:nvPr>
            <p:extLst>
              <p:ext uri="{D42A27DB-BD31-4B8C-83A1-F6EECF244321}">
                <p14:modId xmlns:p14="http://schemas.microsoft.com/office/powerpoint/2010/main" val="1090605821"/>
              </p:ext>
            </p:extLst>
          </p:nvPr>
        </p:nvGraphicFramePr>
        <p:xfrm>
          <a:off x="2279576" y="2801170"/>
          <a:ext cx="7239000" cy="855662"/>
        </p:xfrm>
        <a:graphic>
          <a:graphicData uri="http://schemas.openxmlformats.org/presentationml/2006/ole">
            <mc:AlternateContent xmlns:mc="http://schemas.openxmlformats.org/markup-compatibility/2006">
              <mc:Choice xmlns:v="urn:schemas-microsoft-com:vml" Requires="v">
                <p:oleObj spid="_x0000_s18539" name="Equation" r:id="rId4" imgW="70520760" imgH="8056800" progId="Equation.DSMT4">
                  <p:embed/>
                </p:oleObj>
              </mc:Choice>
              <mc:Fallback>
                <p:oleObj name="Equation" r:id="rId4" imgW="70520760" imgH="8056800" progId="Equation.DSMT4">
                  <p:embed/>
                  <p:pic>
                    <p:nvPicPr>
                      <p:cNvPr id="0" name="Picture 10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9576" y="2801170"/>
                        <a:ext cx="7239000" cy="855662"/>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9900"/>
                            </a:solidFill>
                          </a14:hiddenFill>
                        </a:ext>
                      </a:extLst>
                    </p:spPr>
                  </p:pic>
                </p:oleObj>
              </mc:Fallback>
            </mc:AlternateContent>
          </a:graphicData>
        </a:graphic>
      </p:graphicFrame>
      <p:sp>
        <p:nvSpPr>
          <p:cNvPr id="21" name="内容占位符 4"/>
          <p:cNvSpPr>
            <a:spLocks noGrp="1"/>
          </p:cNvSpPr>
          <p:nvPr>
            <p:ph idx="1"/>
          </p:nvPr>
        </p:nvSpPr>
        <p:spPr>
          <a:xfrm>
            <a:off x="324396" y="1689693"/>
            <a:ext cx="11676260" cy="1391563"/>
          </a:xfrm>
        </p:spPr>
        <p:txBody>
          <a:bodyPr/>
          <a:lstStyle/>
          <a:p>
            <a:pPr marL="0" indent="0">
              <a:lnSpc>
                <a:spcPct val="150000"/>
              </a:lnSpc>
              <a:buNone/>
            </a:pPr>
            <a:r>
              <a:rPr lang="zh-CN" altLang="en-US" sz="2200" dirty="0">
                <a:latin typeface="Arial" panose="020B0604020202020204" pitchFamily="34" charset="0"/>
                <a:ea typeface="黑体" panose="02010609060101010101" pitchFamily="49" charset="-122"/>
              </a:rPr>
              <a:t>对于给定的</a:t>
            </a:r>
            <a:r>
              <a:rPr lang="en-US" altLang="zh-CN" sz="2200" dirty="0">
                <a:latin typeface="Arial" panose="020B0604020202020204" pitchFamily="34" charset="0"/>
                <a:ea typeface="黑体" panose="02010609060101010101" pitchFamily="49" charset="-122"/>
              </a:rPr>
              <a:t>X,</a:t>
            </a:r>
            <a:r>
              <a:rPr lang="zh-CN" altLang="en-US" sz="2200" dirty="0">
                <a:latin typeface="Arial" panose="020B0604020202020204" pitchFamily="34" charset="0"/>
                <a:ea typeface="黑体" panose="02010609060101010101" pitchFamily="49" charset="-122"/>
              </a:rPr>
              <a:t>如果采用决策 </a:t>
            </a:r>
            <a:r>
              <a:rPr lang="el-GR" altLang="zh-CN" sz="2200" i="1" dirty="0">
                <a:latin typeface="Arial" panose="020B0604020202020204" pitchFamily="34" charset="0"/>
                <a:ea typeface="黑体" panose="02010609060101010101" pitchFamily="49" charset="-122"/>
              </a:rPr>
              <a:t>α</a:t>
            </a:r>
            <a:r>
              <a:rPr lang="en-US" altLang="zh-CN" sz="2200" i="1" baseline="-25000" dirty="0" err="1">
                <a:latin typeface="Arial" panose="020B0604020202020204" pitchFamily="34" charset="0"/>
                <a:ea typeface="黑体" panose="02010609060101010101" pitchFamily="49" charset="-122"/>
              </a:rPr>
              <a:t>i</a:t>
            </a:r>
            <a:r>
              <a:rPr lang="en-US" altLang="zh-CN" sz="2200" i="1" baseline="-25000" dirty="0">
                <a:latin typeface="Arial" panose="020B0604020202020204" pitchFamily="34" charset="0"/>
                <a:ea typeface="黑体" panose="02010609060101010101" pitchFamily="49" charset="-122"/>
              </a:rPr>
              <a:t> </a:t>
            </a:r>
            <a:r>
              <a:rPr lang="en-US" altLang="zh-CN" sz="2200" dirty="0">
                <a:latin typeface="Arial" panose="020B0604020202020204" pitchFamily="34" charset="0"/>
                <a:ea typeface="黑体" panose="02010609060101010101" pitchFamily="49" charset="-122"/>
              </a:rPr>
              <a:t>(</a:t>
            </a:r>
            <a:r>
              <a:rPr lang="zh-CN" altLang="en-US" sz="2200" dirty="0">
                <a:latin typeface="Arial" panose="020B0604020202020204" pitchFamily="34" charset="0"/>
                <a:ea typeface="黑体" panose="02010609060101010101" pitchFamily="49" charset="-122"/>
              </a:rPr>
              <a:t>即判定</a:t>
            </a:r>
            <a:r>
              <a:rPr lang="en-US" altLang="zh-CN" sz="2200" dirty="0">
                <a:latin typeface="Arial" panose="020B0604020202020204" pitchFamily="34" charset="0"/>
                <a:ea typeface="黑体" panose="02010609060101010101" pitchFamily="49" charset="-122"/>
              </a:rPr>
              <a:t>X</a:t>
            </a:r>
            <a:r>
              <a:rPr lang="zh-CN" altLang="en-US" sz="2200" dirty="0">
                <a:latin typeface="Arial" panose="020B0604020202020204" pitchFamily="34" charset="0"/>
                <a:ea typeface="黑体" panose="02010609060101010101" pitchFamily="49" charset="-122"/>
              </a:rPr>
              <a:t>为</a:t>
            </a:r>
            <a:r>
              <a:rPr lang="el-GR" altLang="zh-CN" sz="2200" i="1" dirty="0">
                <a:latin typeface="Arial" panose="020B0604020202020204" pitchFamily="34" charset="0"/>
                <a:ea typeface="黑体" panose="02010609060101010101" pitchFamily="49" charset="-122"/>
              </a:rPr>
              <a:t>ω</a:t>
            </a:r>
            <a:r>
              <a:rPr lang="en-US" altLang="zh-CN" sz="2200" i="1" baseline="-25000" dirty="0" err="1">
                <a:latin typeface="Arial" panose="020B0604020202020204" pitchFamily="34" charset="0"/>
                <a:ea typeface="黑体" panose="02010609060101010101" pitchFamily="49" charset="-122"/>
              </a:rPr>
              <a:t>i</a:t>
            </a:r>
            <a:r>
              <a:rPr lang="en-US" altLang="zh-CN" sz="2200" dirty="0">
                <a:latin typeface="Arial" panose="020B0604020202020204" pitchFamily="34" charset="0"/>
                <a:ea typeface="黑体" panose="02010609060101010101" pitchFamily="49" charset="-122"/>
              </a:rPr>
              <a:t>)</a:t>
            </a:r>
            <a:r>
              <a:rPr lang="zh-CN" altLang="en-US" sz="2200" dirty="0">
                <a:latin typeface="Arial" panose="020B0604020202020204" pitchFamily="34" charset="0"/>
                <a:ea typeface="黑体" panose="02010609060101010101" pitchFamily="49" charset="-122"/>
              </a:rPr>
              <a:t>，从决策表可见，对于决策</a:t>
            </a:r>
            <a:r>
              <a:rPr lang="en-US" altLang="zh-CN" sz="2200" i="1" dirty="0">
                <a:latin typeface="Arial" panose="020B0604020202020204" pitchFamily="34" charset="0"/>
                <a:ea typeface="黑体" panose="02010609060101010101" pitchFamily="49" charset="-122"/>
              </a:rPr>
              <a:t> </a:t>
            </a:r>
            <a:r>
              <a:rPr lang="en-US" altLang="zh-CN" sz="2200" i="1" baseline="-25000" dirty="0" err="1">
                <a:latin typeface="Arial" panose="020B0604020202020204" pitchFamily="34" charset="0"/>
                <a:ea typeface="黑体" panose="02010609060101010101" pitchFamily="49" charset="-122"/>
              </a:rPr>
              <a:t>i</a:t>
            </a:r>
            <a:r>
              <a:rPr lang="zh-CN" altLang="en-US" sz="2200" dirty="0">
                <a:latin typeface="Arial" panose="020B0604020202020204" pitchFamily="34" charset="0"/>
                <a:ea typeface="黑体" panose="02010609060101010101" pitchFamily="49" charset="-122"/>
              </a:rPr>
              <a:t>，损失 </a:t>
            </a:r>
            <a:r>
              <a:rPr lang="el-GR" altLang="zh-CN" sz="2200" dirty="0">
                <a:latin typeface="Arial" panose="020B0604020202020204" pitchFamily="34" charset="0"/>
                <a:ea typeface="黑体" panose="02010609060101010101" pitchFamily="49" charset="-122"/>
              </a:rPr>
              <a:t>λ</a:t>
            </a:r>
            <a:r>
              <a:rPr lang="en-US" altLang="zh-CN" sz="2200" dirty="0">
                <a:latin typeface="Arial" panose="020B0604020202020204" pitchFamily="34" charset="0"/>
                <a:ea typeface="黑体" panose="02010609060101010101" pitchFamily="49" charset="-122"/>
              </a:rPr>
              <a:t> </a:t>
            </a:r>
            <a:r>
              <a:rPr lang="zh-CN" altLang="en-US" sz="2200" dirty="0">
                <a:latin typeface="Arial" panose="020B0604020202020204" pitchFamily="34" charset="0"/>
                <a:ea typeface="黑体" panose="02010609060101010101" pitchFamily="49" charset="-122"/>
              </a:rPr>
              <a:t>可以从 </a:t>
            </a:r>
            <a:r>
              <a:rPr lang="en-US" altLang="zh-CN" sz="2200" i="1" dirty="0">
                <a:latin typeface="Arial" panose="020B0604020202020204" pitchFamily="34" charset="0"/>
                <a:ea typeface="黑体" panose="02010609060101010101" pitchFamily="49" charset="-122"/>
              </a:rPr>
              <a:t>c </a:t>
            </a:r>
            <a:r>
              <a:rPr lang="zh-CN" altLang="en-US" sz="2200" dirty="0">
                <a:latin typeface="Arial" panose="020B0604020202020204" pitchFamily="34" charset="0"/>
                <a:ea typeface="黑体" panose="02010609060101010101" pitchFamily="49" charset="-122"/>
              </a:rPr>
              <a:t>个</a:t>
            </a:r>
            <a:r>
              <a:rPr lang="el-GR" altLang="zh-CN" sz="2200" i="1" dirty="0">
                <a:latin typeface="Arial" panose="020B0604020202020204" pitchFamily="34" charset="0"/>
                <a:ea typeface="黑体" panose="02010609060101010101" pitchFamily="49" charset="-122"/>
              </a:rPr>
              <a:t>λ</a:t>
            </a:r>
            <a:r>
              <a:rPr lang="en-US" altLang="zh-CN" sz="2200" i="1" dirty="0">
                <a:latin typeface="Arial" panose="020B0604020202020204" pitchFamily="34" charset="0"/>
                <a:ea typeface="黑体" panose="02010609060101010101" pitchFamily="49" charset="-122"/>
              </a:rPr>
              <a:t>(</a:t>
            </a:r>
            <a:r>
              <a:rPr lang="el-GR" altLang="zh-CN" sz="2200" i="1" dirty="0">
                <a:latin typeface="Arial" panose="020B0604020202020204" pitchFamily="34" charset="0"/>
                <a:ea typeface="黑体" panose="02010609060101010101" pitchFamily="49" charset="-122"/>
              </a:rPr>
              <a:t>α</a:t>
            </a:r>
            <a:r>
              <a:rPr lang="en-US" altLang="zh-CN" sz="2200" i="1" baseline="-25000" dirty="0" err="1">
                <a:latin typeface="Arial" panose="020B0604020202020204" pitchFamily="34" charset="0"/>
                <a:ea typeface="黑体" panose="02010609060101010101" pitchFamily="49" charset="-122"/>
              </a:rPr>
              <a:t>i</a:t>
            </a:r>
            <a:r>
              <a:rPr lang="en-US" altLang="zh-CN" sz="2200" i="1" dirty="0">
                <a:latin typeface="Arial" panose="020B0604020202020204" pitchFamily="34" charset="0"/>
                <a:ea typeface="黑体" panose="02010609060101010101" pitchFamily="49" charset="-122"/>
              </a:rPr>
              <a:t>,</a:t>
            </a:r>
            <a:r>
              <a:rPr lang="el-GR" altLang="zh-CN" sz="2200" i="1" dirty="0">
                <a:latin typeface="Arial" panose="020B0604020202020204" pitchFamily="34" charset="0"/>
                <a:ea typeface="黑体" panose="02010609060101010101" pitchFamily="49" charset="-122"/>
              </a:rPr>
              <a:t>ω</a:t>
            </a:r>
            <a:r>
              <a:rPr lang="en-US" altLang="zh-CN" sz="2200" i="1" baseline="-25000" dirty="0">
                <a:latin typeface="Arial" panose="020B0604020202020204" pitchFamily="34" charset="0"/>
                <a:ea typeface="黑体" panose="02010609060101010101" pitchFamily="49" charset="-122"/>
              </a:rPr>
              <a:t>j</a:t>
            </a:r>
            <a:r>
              <a:rPr lang="en-US" altLang="zh-CN" sz="2200" i="1" dirty="0">
                <a:latin typeface="Arial" panose="020B0604020202020204" pitchFamily="34" charset="0"/>
                <a:ea typeface="黑体" panose="02010609060101010101" pitchFamily="49" charset="-122"/>
              </a:rPr>
              <a:t>)</a:t>
            </a:r>
            <a:r>
              <a:rPr lang="en-US" altLang="zh-CN" sz="2200" dirty="0">
                <a:latin typeface="Arial" panose="020B0604020202020204" pitchFamily="34" charset="0"/>
                <a:ea typeface="黑体" panose="02010609060101010101" pitchFamily="49" charset="-122"/>
              </a:rPr>
              <a:t> (</a:t>
            </a:r>
            <a:r>
              <a:rPr lang="en-US" altLang="zh-CN" sz="2200" i="1" dirty="0">
                <a:latin typeface="Arial" panose="020B0604020202020204" pitchFamily="34" charset="0"/>
                <a:ea typeface="黑体" panose="02010609060101010101" pitchFamily="49" charset="-122"/>
              </a:rPr>
              <a:t>j=1,2,…,c)</a:t>
            </a:r>
            <a:r>
              <a:rPr lang="zh-CN" altLang="en-US" sz="2200" dirty="0">
                <a:latin typeface="Arial" panose="020B0604020202020204" pitchFamily="34" charset="0"/>
                <a:ea typeface="黑体" panose="02010609060101010101" pitchFamily="49" charset="-122"/>
              </a:rPr>
              <a:t>中任意选择一个，其相应的概率为 </a:t>
            </a:r>
            <a:r>
              <a:rPr lang="en-US" altLang="zh-CN" sz="2200" i="1" dirty="0">
                <a:latin typeface="Arial" panose="020B0604020202020204" pitchFamily="34" charset="0"/>
                <a:ea typeface="黑体" panose="02010609060101010101" pitchFamily="49" charset="-122"/>
              </a:rPr>
              <a:t>P(</a:t>
            </a:r>
            <a:r>
              <a:rPr lang="el-GR" altLang="zh-CN" sz="2200" i="1" dirty="0">
                <a:latin typeface="Arial" panose="020B0604020202020204" pitchFamily="34" charset="0"/>
                <a:ea typeface="黑体" panose="02010609060101010101" pitchFamily="49" charset="-122"/>
              </a:rPr>
              <a:t>ω</a:t>
            </a:r>
            <a:r>
              <a:rPr lang="en-US" altLang="zh-CN" sz="2200" i="1" baseline="-25000" dirty="0" err="1">
                <a:latin typeface="Arial" panose="020B0604020202020204" pitchFamily="34" charset="0"/>
                <a:ea typeface="黑体" panose="02010609060101010101" pitchFamily="49" charset="-122"/>
              </a:rPr>
              <a:t>j</a:t>
            </a:r>
            <a:r>
              <a:rPr lang="en-US" altLang="zh-CN" sz="2200" i="1" dirty="0" err="1">
                <a:latin typeface="Arial" panose="020B0604020202020204" pitchFamily="34" charset="0"/>
                <a:ea typeface="黑体" panose="02010609060101010101" pitchFamily="49" charset="-122"/>
              </a:rPr>
              <a:t>|X</a:t>
            </a:r>
            <a:r>
              <a:rPr lang="en-US" altLang="zh-CN" sz="2200" i="1" dirty="0">
                <a:latin typeface="Arial" panose="020B0604020202020204" pitchFamily="34" charset="0"/>
                <a:ea typeface="黑体" panose="02010609060101010101" pitchFamily="49" charset="-122"/>
              </a:rPr>
              <a:t>)</a:t>
            </a:r>
            <a:r>
              <a:rPr lang="zh-CN" altLang="en-US" sz="2200" dirty="0">
                <a:latin typeface="Arial" panose="020B0604020202020204" pitchFamily="34" charset="0"/>
                <a:ea typeface="黑体" panose="02010609060101010101" pitchFamily="49" charset="-122"/>
              </a:rPr>
              <a:t>，所以有：</a:t>
            </a:r>
            <a:endParaRPr lang="en-US" altLang="zh-CN" sz="2200" dirty="0">
              <a:latin typeface="Arial" panose="020B0604020202020204" pitchFamily="34" charset="0"/>
              <a:ea typeface="黑体" panose="02010609060101010101" pitchFamily="49" charset="-122"/>
            </a:endParaRPr>
          </a:p>
          <a:p>
            <a:endParaRPr lang="zh-CN" altLang="en-US" dirty="0"/>
          </a:p>
        </p:txBody>
      </p:sp>
      <p:graphicFrame>
        <p:nvGraphicFramePr>
          <p:cNvPr id="22" name="表格 21"/>
          <p:cNvGraphicFramePr>
            <a:graphicFrameLocks noGrp="1"/>
          </p:cNvGraphicFramePr>
          <p:nvPr>
            <p:extLst>
              <p:ext uri="{D42A27DB-BD31-4B8C-83A1-F6EECF244321}">
                <p14:modId xmlns:p14="http://schemas.microsoft.com/office/powerpoint/2010/main" val="567161336"/>
              </p:ext>
            </p:extLst>
          </p:nvPr>
        </p:nvGraphicFramePr>
        <p:xfrm>
          <a:off x="2009319" y="3656832"/>
          <a:ext cx="7858179" cy="2667315"/>
        </p:xfrm>
        <a:graphic>
          <a:graphicData uri="http://schemas.openxmlformats.org/drawingml/2006/table">
            <a:tbl>
              <a:tblPr firstRow="1" bandRow="1">
                <a:tableStyleId>{5940675A-B579-460E-94D1-54222C63F5DA}</a:tableStyleId>
              </a:tblPr>
              <a:tblGrid>
                <a:gridCol w="1122597">
                  <a:extLst>
                    <a:ext uri="{9D8B030D-6E8A-4147-A177-3AD203B41FA5}">
                      <a16:colId xmlns:a16="http://schemas.microsoft.com/office/drawing/2014/main" val="20000"/>
                    </a:ext>
                  </a:extLst>
                </a:gridCol>
                <a:gridCol w="1122597">
                  <a:extLst>
                    <a:ext uri="{9D8B030D-6E8A-4147-A177-3AD203B41FA5}">
                      <a16:colId xmlns:a16="http://schemas.microsoft.com/office/drawing/2014/main" val="20001"/>
                    </a:ext>
                  </a:extLst>
                </a:gridCol>
                <a:gridCol w="1122597">
                  <a:extLst>
                    <a:ext uri="{9D8B030D-6E8A-4147-A177-3AD203B41FA5}">
                      <a16:colId xmlns:a16="http://schemas.microsoft.com/office/drawing/2014/main" val="20002"/>
                    </a:ext>
                  </a:extLst>
                </a:gridCol>
                <a:gridCol w="1122597">
                  <a:extLst>
                    <a:ext uri="{9D8B030D-6E8A-4147-A177-3AD203B41FA5}">
                      <a16:colId xmlns:a16="http://schemas.microsoft.com/office/drawing/2014/main" val="20003"/>
                    </a:ext>
                  </a:extLst>
                </a:gridCol>
                <a:gridCol w="1122597">
                  <a:extLst>
                    <a:ext uri="{9D8B030D-6E8A-4147-A177-3AD203B41FA5}">
                      <a16:colId xmlns:a16="http://schemas.microsoft.com/office/drawing/2014/main" val="20004"/>
                    </a:ext>
                  </a:extLst>
                </a:gridCol>
                <a:gridCol w="1122597">
                  <a:extLst>
                    <a:ext uri="{9D8B030D-6E8A-4147-A177-3AD203B41FA5}">
                      <a16:colId xmlns:a16="http://schemas.microsoft.com/office/drawing/2014/main" val="20005"/>
                    </a:ext>
                  </a:extLst>
                </a:gridCol>
                <a:gridCol w="1122597">
                  <a:extLst>
                    <a:ext uri="{9D8B030D-6E8A-4147-A177-3AD203B41FA5}">
                      <a16:colId xmlns:a16="http://schemas.microsoft.com/office/drawing/2014/main" val="20006"/>
                    </a:ext>
                  </a:extLst>
                </a:gridCol>
              </a:tblGrid>
              <a:tr h="381045">
                <a:tc>
                  <a:txBody>
                    <a:bodyPr/>
                    <a:lstStyle/>
                    <a:p>
                      <a:endParaRPr lang="zh-CN" altLang="en-US" dirty="0"/>
                    </a:p>
                  </a:txBody>
                  <a:tcPr/>
                </a:tc>
                <a:tc>
                  <a:txBody>
                    <a:bodyPr/>
                    <a:lstStyle/>
                    <a:p>
                      <a:r>
                        <a:rPr kumimoji="0" lang="el-GR" altLang="zh-CN" sz="1800" kern="1200" dirty="0">
                          <a:solidFill>
                            <a:schemeClr val="tx1"/>
                          </a:solidFill>
                          <a:latin typeface="+mj-ea"/>
                          <a:ea typeface="+mn-ea"/>
                          <a:cs typeface="+mn-cs"/>
                        </a:rPr>
                        <a:t>ω</a:t>
                      </a:r>
                      <a:r>
                        <a:rPr kumimoji="0" lang="en-US" altLang="zh-CN" sz="1800" kern="1200" baseline="-25000" dirty="0">
                          <a:solidFill>
                            <a:schemeClr val="tx1"/>
                          </a:solidFill>
                          <a:latin typeface="+mj-ea"/>
                          <a:ea typeface="+mn-ea"/>
                          <a:cs typeface="+mn-cs"/>
                        </a:rPr>
                        <a:t>1</a:t>
                      </a:r>
                      <a:endParaRPr lang="zh-CN" altLang="en-US" dirty="0"/>
                    </a:p>
                  </a:txBody>
                  <a:tcPr/>
                </a:tc>
                <a:tc>
                  <a:txBody>
                    <a:bodyPr/>
                    <a:lstStyle/>
                    <a:p>
                      <a:r>
                        <a:rPr kumimoji="0" lang="el-GR" altLang="zh-CN" sz="1800" kern="1200" dirty="0">
                          <a:solidFill>
                            <a:schemeClr val="tx1"/>
                          </a:solidFill>
                          <a:latin typeface="+mj-ea"/>
                          <a:ea typeface="+mn-ea"/>
                          <a:cs typeface="+mn-cs"/>
                        </a:rPr>
                        <a:t>ω</a:t>
                      </a:r>
                      <a:r>
                        <a:rPr kumimoji="0" lang="en-US" altLang="zh-CN" sz="1800" kern="1200" baseline="-25000" dirty="0">
                          <a:solidFill>
                            <a:schemeClr val="tx1"/>
                          </a:solidFill>
                          <a:latin typeface="+mj-ea"/>
                          <a:ea typeface="+mn-ea"/>
                          <a:cs typeface="+mn-cs"/>
                        </a:rPr>
                        <a:t>2</a:t>
                      </a:r>
                      <a:endParaRPr lang="zh-CN" altLang="en-US" dirty="0"/>
                    </a:p>
                  </a:txBody>
                  <a:tcPr/>
                </a:tc>
                <a:tc>
                  <a:txBody>
                    <a:bodyPr/>
                    <a:lstStyle/>
                    <a:p>
                      <a:r>
                        <a:rPr lang="en-US" altLang="zh-CN" dirty="0"/>
                        <a:t>…</a:t>
                      </a:r>
                      <a:endParaRPr lang="zh-CN" altLang="en-US" dirty="0"/>
                    </a:p>
                  </a:txBody>
                  <a:tcPr/>
                </a:tc>
                <a:tc>
                  <a:txBody>
                    <a:bodyPr/>
                    <a:lstStyle/>
                    <a:p>
                      <a:r>
                        <a:rPr kumimoji="0" lang="el-GR" altLang="zh-CN" sz="1800" kern="1200" dirty="0">
                          <a:solidFill>
                            <a:schemeClr val="tx1"/>
                          </a:solidFill>
                          <a:latin typeface="+mj-ea"/>
                          <a:ea typeface="+mn-ea"/>
                          <a:cs typeface="+mn-cs"/>
                        </a:rPr>
                        <a:t>ω</a:t>
                      </a:r>
                      <a:r>
                        <a:rPr kumimoji="0" lang="en-US" altLang="zh-CN" sz="1800" kern="1200" baseline="-25000" dirty="0">
                          <a:solidFill>
                            <a:schemeClr val="tx1"/>
                          </a:solidFill>
                          <a:latin typeface="+mj-ea"/>
                          <a:ea typeface="+mn-ea"/>
                          <a:cs typeface="+mn-cs"/>
                        </a:rPr>
                        <a:t>j</a:t>
                      </a:r>
                      <a:endParaRPr lang="zh-CN" altLang="en-US" dirty="0"/>
                    </a:p>
                  </a:txBody>
                  <a:tcPr/>
                </a:tc>
                <a:tc>
                  <a:txBody>
                    <a:bodyPr/>
                    <a:lstStyle/>
                    <a:p>
                      <a:r>
                        <a:rPr lang="en-US" altLang="zh-CN" dirty="0"/>
                        <a:t>…</a:t>
                      </a:r>
                      <a:endParaRPr lang="zh-CN" altLang="en-US" dirty="0"/>
                    </a:p>
                  </a:txBody>
                  <a:tcPr/>
                </a:tc>
                <a:tc>
                  <a:txBody>
                    <a:bodyPr/>
                    <a:lstStyle/>
                    <a:p>
                      <a:r>
                        <a:rPr kumimoji="0" lang="el-GR" altLang="zh-CN" sz="1800" kern="1200" dirty="0">
                          <a:solidFill>
                            <a:schemeClr val="tx1"/>
                          </a:solidFill>
                          <a:latin typeface="+mj-ea"/>
                          <a:ea typeface="+mn-ea"/>
                          <a:cs typeface="+mn-cs"/>
                        </a:rPr>
                        <a:t>ω</a:t>
                      </a:r>
                      <a:r>
                        <a:rPr kumimoji="0" lang="en-US" altLang="zh-CN" sz="1800" kern="1200" baseline="-25000" dirty="0">
                          <a:solidFill>
                            <a:schemeClr val="tx1"/>
                          </a:solidFill>
                          <a:latin typeface="+mj-ea"/>
                          <a:ea typeface="+mn-ea"/>
                          <a:cs typeface="+mn-cs"/>
                        </a:rPr>
                        <a:t>c</a:t>
                      </a:r>
                      <a:endParaRPr lang="zh-CN" altLang="en-US" dirty="0"/>
                    </a:p>
                  </a:txBody>
                  <a:tcPr/>
                </a:tc>
                <a:extLst>
                  <a:ext uri="{0D108BD9-81ED-4DB2-BD59-A6C34878D82A}">
                    <a16:rowId xmlns:a16="http://schemas.microsoft.com/office/drawing/2014/main" val="10000"/>
                  </a:ext>
                </a:extLst>
              </a:tr>
              <a:tr h="381045">
                <a:tc>
                  <a:txBody>
                    <a:bodyPr/>
                    <a:lstStyle/>
                    <a:p>
                      <a:r>
                        <a:rPr kumimoji="0" lang="el-GR" altLang="zh-CN" sz="1800" kern="1200" dirty="0">
                          <a:solidFill>
                            <a:schemeClr val="tx1"/>
                          </a:solidFill>
                          <a:latin typeface="+mj-ea"/>
                          <a:ea typeface="+mn-ea"/>
                          <a:cs typeface="+mn-cs"/>
                        </a:rPr>
                        <a:t>α</a:t>
                      </a:r>
                      <a:r>
                        <a:rPr kumimoji="0" lang="en-US" altLang="zh-CN" sz="1800" kern="1200" baseline="-25000" dirty="0">
                          <a:solidFill>
                            <a:schemeClr val="tx1"/>
                          </a:solidFill>
                          <a:latin typeface="+mj-ea"/>
                          <a:ea typeface="+mn-ea"/>
                          <a:cs typeface="+mn-cs"/>
                        </a:rPr>
                        <a:t>1 </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l-GR" altLang="zh-CN" sz="1800" kern="1200" dirty="0">
                          <a:solidFill>
                            <a:schemeClr val="tx1"/>
                          </a:solidFill>
                          <a:latin typeface="+mj-ea"/>
                          <a:ea typeface="+mn-ea"/>
                          <a:cs typeface="+mn-cs"/>
                        </a:rPr>
                        <a:t>λ</a:t>
                      </a:r>
                      <a:r>
                        <a:rPr kumimoji="0" lang="en-US" altLang="zh-CN" sz="1800" kern="1200" dirty="0">
                          <a:solidFill>
                            <a:schemeClr val="tx1"/>
                          </a:solidFill>
                          <a:latin typeface="+mj-ea"/>
                          <a:ea typeface="+mn-ea"/>
                          <a:cs typeface="+mn-cs"/>
                        </a:rPr>
                        <a:t>(</a:t>
                      </a:r>
                      <a:r>
                        <a:rPr kumimoji="0" lang="el-GR" altLang="zh-CN" sz="1800" kern="1200" dirty="0">
                          <a:solidFill>
                            <a:schemeClr val="tx1"/>
                          </a:solidFill>
                          <a:latin typeface="+mj-ea"/>
                          <a:ea typeface="+mn-ea"/>
                          <a:cs typeface="+mn-cs"/>
                        </a:rPr>
                        <a:t>α</a:t>
                      </a:r>
                      <a:r>
                        <a:rPr kumimoji="0" lang="en-US" altLang="zh-CN" sz="1800" kern="1200" baseline="-25000" dirty="0">
                          <a:solidFill>
                            <a:schemeClr val="tx1"/>
                          </a:solidFill>
                          <a:latin typeface="+mj-ea"/>
                          <a:ea typeface="+mn-ea"/>
                          <a:cs typeface="+mn-cs"/>
                        </a:rPr>
                        <a:t>1 </a:t>
                      </a:r>
                      <a:r>
                        <a:rPr kumimoji="0" lang="en-US" altLang="zh-CN" sz="1800" kern="1200" baseline="0" dirty="0">
                          <a:solidFill>
                            <a:schemeClr val="tx1"/>
                          </a:solidFill>
                          <a:latin typeface="+mj-ea"/>
                          <a:ea typeface="+mn-ea"/>
                          <a:cs typeface="+mn-cs"/>
                        </a:rPr>
                        <a:t>,</a:t>
                      </a:r>
                      <a:r>
                        <a:rPr kumimoji="0" lang="el-GR" altLang="zh-CN" sz="1800" kern="1200" dirty="0">
                          <a:solidFill>
                            <a:schemeClr val="tx1"/>
                          </a:solidFill>
                          <a:latin typeface="+mj-ea"/>
                          <a:ea typeface="+mn-ea"/>
                          <a:cs typeface="+mn-cs"/>
                        </a:rPr>
                        <a:t> ω</a:t>
                      </a:r>
                      <a:r>
                        <a:rPr kumimoji="0" lang="en-US" altLang="zh-CN" sz="1800" kern="1200" baseline="-25000" dirty="0">
                          <a:solidFill>
                            <a:schemeClr val="tx1"/>
                          </a:solidFill>
                          <a:latin typeface="+mj-ea"/>
                          <a:ea typeface="+mn-ea"/>
                          <a:cs typeface="+mn-cs"/>
                        </a:rPr>
                        <a:t>1</a:t>
                      </a:r>
                      <a:r>
                        <a:rPr kumimoji="0" lang="en-US" altLang="zh-CN" sz="1800" kern="1200" dirty="0">
                          <a:solidFill>
                            <a:schemeClr val="tx1"/>
                          </a:solidFill>
                          <a:latin typeface="+mj-ea"/>
                          <a:ea typeface="+mn-ea"/>
                          <a:cs typeface="+mn-cs"/>
                        </a:rPr>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l-GR" altLang="zh-CN" sz="1800" kern="1200" dirty="0">
                          <a:solidFill>
                            <a:schemeClr val="tx1"/>
                          </a:solidFill>
                          <a:latin typeface="+mj-ea"/>
                          <a:ea typeface="+mn-ea"/>
                          <a:cs typeface="+mn-cs"/>
                        </a:rPr>
                        <a:t>λ</a:t>
                      </a:r>
                      <a:r>
                        <a:rPr kumimoji="0" lang="en-US" altLang="zh-CN" sz="1800" kern="1200" dirty="0">
                          <a:solidFill>
                            <a:schemeClr val="tx1"/>
                          </a:solidFill>
                          <a:latin typeface="+mj-ea"/>
                          <a:ea typeface="+mn-ea"/>
                          <a:cs typeface="+mn-cs"/>
                        </a:rPr>
                        <a:t>(</a:t>
                      </a:r>
                      <a:r>
                        <a:rPr kumimoji="0" lang="el-GR" altLang="zh-CN" sz="1800" kern="1200" dirty="0">
                          <a:solidFill>
                            <a:schemeClr val="tx1"/>
                          </a:solidFill>
                          <a:latin typeface="+mj-ea"/>
                          <a:ea typeface="+mn-ea"/>
                          <a:cs typeface="+mn-cs"/>
                        </a:rPr>
                        <a:t>α</a:t>
                      </a:r>
                      <a:r>
                        <a:rPr kumimoji="0" lang="en-US" altLang="zh-CN" sz="1800" kern="1200" baseline="-25000" dirty="0">
                          <a:solidFill>
                            <a:schemeClr val="tx1"/>
                          </a:solidFill>
                          <a:latin typeface="+mj-ea"/>
                          <a:ea typeface="+mn-ea"/>
                          <a:cs typeface="+mn-cs"/>
                        </a:rPr>
                        <a:t>1 </a:t>
                      </a:r>
                      <a:r>
                        <a:rPr kumimoji="0" lang="en-US" altLang="zh-CN" sz="1800" kern="1200" baseline="0" dirty="0">
                          <a:solidFill>
                            <a:schemeClr val="tx1"/>
                          </a:solidFill>
                          <a:latin typeface="+mj-ea"/>
                          <a:ea typeface="+mn-ea"/>
                          <a:cs typeface="+mn-cs"/>
                        </a:rPr>
                        <a:t>,</a:t>
                      </a:r>
                      <a:r>
                        <a:rPr kumimoji="0" lang="el-GR" altLang="zh-CN" sz="1800" kern="1200" dirty="0">
                          <a:solidFill>
                            <a:schemeClr val="tx1"/>
                          </a:solidFill>
                          <a:latin typeface="+mj-ea"/>
                          <a:ea typeface="+mn-ea"/>
                          <a:cs typeface="+mn-cs"/>
                        </a:rPr>
                        <a:t> ω</a:t>
                      </a:r>
                      <a:r>
                        <a:rPr kumimoji="0" lang="en-US" altLang="zh-CN" sz="1800" kern="1200" baseline="-25000" dirty="0">
                          <a:solidFill>
                            <a:schemeClr val="tx1"/>
                          </a:solidFill>
                          <a:latin typeface="+mj-ea"/>
                          <a:ea typeface="+mn-ea"/>
                          <a:cs typeface="+mn-cs"/>
                        </a:rPr>
                        <a:t>2</a:t>
                      </a:r>
                      <a:r>
                        <a:rPr kumimoji="0" lang="en-US" altLang="zh-CN" sz="1800" kern="1200" dirty="0">
                          <a:solidFill>
                            <a:schemeClr val="tx1"/>
                          </a:solidFill>
                          <a:latin typeface="+mj-ea"/>
                          <a:ea typeface="+mn-ea"/>
                          <a:cs typeface="+mn-cs"/>
                        </a:rPr>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l-GR" altLang="zh-CN" sz="1800" kern="1200" dirty="0">
                          <a:solidFill>
                            <a:schemeClr val="tx1"/>
                          </a:solidFill>
                          <a:latin typeface="+mj-ea"/>
                          <a:ea typeface="+mn-ea"/>
                          <a:cs typeface="+mn-cs"/>
                        </a:rPr>
                        <a:t>λ</a:t>
                      </a:r>
                      <a:r>
                        <a:rPr kumimoji="0" lang="en-US" altLang="zh-CN" sz="1800" kern="1200" dirty="0">
                          <a:solidFill>
                            <a:schemeClr val="tx1"/>
                          </a:solidFill>
                          <a:latin typeface="+mj-ea"/>
                          <a:ea typeface="+mn-ea"/>
                          <a:cs typeface="+mn-cs"/>
                        </a:rPr>
                        <a:t>(</a:t>
                      </a:r>
                      <a:r>
                        <a:rPr kumimoji="0" lang="el-GR" altLang="zh-CN" sz="1800" kern="1200" dirty="0">
                          <a:solidFill>
                            <a:schemeClr val="tx1"/>
                          </a:solidFill>
                          <a:latin typeface="+mj-ea"/>
                          <a:ea typeface="+mn-ea"/>
                          <a:cs typeface="+mn-cs"/>
                        </a:rPr>
                        <a:t>α</a:t>
                      </a:r>
                      <a:r>
                        <a:rPr kumimoji="0" lang="en-US" altLang="zh-CN" sz="1800" kern="1200" baseline="-25000" dirty="0">
                          <a:solidFill>
                            <a:schemeClr val="tx1"/>
                          </a:solidFill>
                          <a:latin typeface="+mj-ea"/>
                          <a:ea typeface="+mn-ea"/>
                          <a:cs typeface="+mn-cs"/>
                        </a:rPr>
                        <a:t>1 </a:t>
                      </a:r>
                      <a:r>
                        <a:rPr kumimoji="0" lang="en-US" altLang="zh-CN" sz="1800" kern="1200" baseline="0" dirty="0">
                          <a:solidFill>
                            <a:schemeClr val="tx1"/>
                          </a:solidFill>
                          <a:latin typeface="+mj-ea"/>
                          <a:ea typeface="+mn-ea"/>
                          <a:cs typeface="+mn-cs"/>
                        </a:rPr>
                        <a:t>,</a:t>
                      </a:r>
                      <a:r>
                        <a:rPr kumimoji="0" lang="el-GR" altLang="zh-CN" sz="1800" kern="1200" dirty="0">
                          <a:solidFill>
                            <a:schemeClr val="tx1"/>
                          </a:solidFill>
                          <a:latin typeface="+mj-ea"/>
                          <a:ea typeface="+mn-ea"/>
                          <a:cs typeface="+mn-cs"/>
                        </a:rPr>
                        <a:t> ω</a:t>
                      </a:r>
                      <a:r>
                        <a:rPr kumimoji="0" lang="en-US" altLang="zh-CN" sz="1800" kern="1200" baseline="-25000" dirty="0">
                          <a:solidFill>
                            <a:schemeClr val="tx1"/>
                          </a:solidFill>
                          <a:latin typeface="+mj-ea"/>
                          <a:ea typeface="+mn-ea"/>
                          <a:cs typeface="+mn-cs"/>
                        </a:rPr>
                        <a:t>j</a:t>
                      </a:r>
                      <a:r>
                        <a:rPr kumimoji="0" lang="en-US" altLang="zh-CN" sz="1800" kern="1200" dirty="0">
                          <a:solidFill>
                            <a:schemeClr val="tx1"/>
                          </a:solidFill>
                          <a:latin typeface="+mj-ea"/>
                          <a:ea typeface="+mn-ea"/>
                          <a:cs typeface="+mn-cs"/>
                        </a:rPr>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l-GR" altLang="zh-CN" sz="1800" kern="1200" dirty="0">
                          <a:solidFill>
                            <a:schemeClr val="tx1"/>
                          </a:solidFill>
                          <a:latin typeface="+mj-ea"/>
                          <a:ea typeface="+mn-ea"/>
                          <a:cs typeface="+mn-cs"/>
                        </a:rPr>
                        <a:t>λ</a:t>
                      </a:r>
                      <a:r>
                        <a:rPr kumimoji="0" lang="en-US" altLang="zh-CN" sz="1800" kern="1200" dirty="0">
                          <a:solidFill>
                            <a:schemeClr val="tx1"/>
                          </a:solidFill>
                          <a:latin typeface="+mj-ea"/>
                          <a:ea typeface="+mn-ea"/>
                          <a:cs typeface="+mn-cs"/>
                        </a:rPr>
                        <a:t>(</a:t>
                      </a:r>
                      <a:r>
                        <a:rPr kumimoji="0" lang="el-GR" altLang="zh-CN" sz="1800" kern="1200" dirty="0">
                          <a:solidFill>
                            <a:schemeClr val="tx1"/>
                          </a:solidFill>
                          <a:latin typeface="+mj-ea"/>
                          <a:ea typeface="+mn-ea"/>
                          <a:cs typeface="+mn-cs"/>
                        </a:rPr>
                        <a:t>α</a:t>
                      </a:r>
                      <a:r>
                        <a:rPr kumimoji="0" lang="en-US" altLang="zh-CN" sz="1800" kern="1200" baseline="-25000" dirty="0">
                          <a:solidFill>
                            <a:schemeClr val="tx1"/>
                          </a:solidFill>
                          <a:latin typeface="+mj-ea"/>
                          <a:ea typeface="+mn-ea"/>
                          <a:cs typeface="+mn-cs"/>
                        </a:rPr>
                        <a:t>1 </a:t>
                      </a:r>
                      <a:r>
                        <a:rPr kumimoji="0" lang="en-US" altLang="zh-CN" sz="1800" kern="1200" baseline="0" dirty="0">
                          <a:solidFill>
                            <a:schemeClr val="tx1"/>
                          </a:solidFill>
                          <a:latin typeface="+mj-ea"/>
                          <a:ea typeface="+mn-ea"/>
                          <a:cs typeface="+mn-cs"/>
                        </a:rPr>
                        <a:t>,</a:t>
                      </a:r>
                      <a:r>
                        <a:rPr kumimoji="0" lang="el-GR" altLang="zh-CN" sz="1800" kern="1200" dirty="0">
                          <a:solidFill>
                            <a:schemeClr val="tx1"/>
                          </a:solidFill>
                          <a:latin typeface="+mj-ea"/>
                          <a:ea typeface="+mn-ea"/>
                          <a:cs typeface="+mn-cs"/>
                        </a:rPr>
                        <a:t> ω</a:t>
                      </a:r>
                      <a:r>
                        <a:rPr kumimoji="0" lang="en-US" altLang="zh-CN" sz="1800" kern="1200" baseline="-25000" dirty="0">
                          <a:solidFill>
                            <a:schemeClr val="tx1"/>
                          </a:solidFill>
                          <a:latin typeface="+mj-ea"/>
                          <a:ea typeface="+mn-ea"/>
                          <a:cs typeface="+mn-cs"/>
                        </a:rPr>
                        <a:t>c</a:t>
                      </a:r>
                      <a:r>
                        <a:rPr kumimoji="0" lang="en-US" altLang="zh-CN" sz="1800" kern="1200" dirty="0">
                          <a:solidFill>
                            <a:schemeClr val="tx1"/>
                          </a:solidFill>
                          <a:latin typeface="+mj-ea"/>
                          <a:ea typeface="+mn-ea"/>
                          <a:cs typeface="+mn-cs"/>
                        </a:rPr>
                        <a:t>)</a:t>
                      </a:r>
                      <a:endParaRPr lang="zh-CN" altLang="en-US" dirty="0"/>
                    </a:p>
                  </a:txBody>
                  <a:tcPr/>
                </a:tc>
                <a:extLst>
                  <a:ext uri="{0D108BD9-81ED-4DB2-BD59-A6C34878D82A}">
                    <a16:rowId xmlns:a16="http://schemas.microsoft.com/office/drawing/2014/main" val="10001"/>
                  </a:ext>
                </a:extLst>
              </a:tr>
              <a:tr h="381045">
                <a:tc>
                  <a:txBody>
                    <a:bodyPr/>
                    <a:lstStyle/>
                    <a:p>
                      <a:r>
                        <a:rPr kumimoji="0" lang="el-GR" altLang="zh-CN" sz="1800" kern="1200" dirty="0">
                          <a:solidFill>
                            <a:schemeClr val="tx1"/>
                          </a:solidFill>
                          <a:latin typeface="+mj-ea"/>
                          <a:ea typeface="+mn-ea"/>
                          <a:cs typeface="+mn-cs"/>
                        </a:rPr>
                        <a:t>α</a:t>
                      </a:r>
                      <a:r>
                        <a:rPr kumimoji="0" lang="en-US" altLang="zh-CN" sz="1800" kern="1200" baseline="-25000" dirty="0">
                          <a:solidFill>
                            <a:schemeClr val="tx1"/>
                          </a:solidFill>
                          <a:latin typeface="+mj-ea"/>
                          <a:ea typeface="+mn-ea"/>
                          <a:cs typeface="+mn-cs"/>
                        </a:rPr>
                        <a:t>2 </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l-GR" altLang="zh-CN" sz="1800" kern="1200" dirty="0">
                          <a:solidFill>
                            <a:schemeClr val="tx1"/>
                          </a:solidFill>
                          <a:latin typeface="+mj-ea"/>
                          <a:ea typeface="+mn-ea"/>
                          <a:cs typeface="+mn-cs"/>
                        </a:rPr>
                        <a:t>λ</a:t>
                      </a:r>
                      <a:r>
                        <a:rPr kumimoji="0" lang="en-US" altLang="zh-CN" sz="1800" kern="1200" dirty="0">
                          <a:solidFill>
                            <a:schemeClr val="tx1"/>
                          </a:solidFill>
                          <a:latin typeface="+mj-ea"/>
                          <a:ea typeface="+mn-ea"/>
                          <a:cs typeface="+mn-cs"/>
                        </a:rPr>
                        <a:t>(</a:t>
                      </a:r>
                      <a:r>
                        <a:rPr kumimoji="0" lang="el-GR" altLang="zh-CN" sz="1800" kern="1200" dirty="0">
                          <a:solidFill>
                            <a:schemeClr val="tx1"/>
                          </a:solidFill>
                          <a:latin typeface="+mj-ea"/>
                          <a:ea typeface="+mn-ea"/>
                          <a:cs typeface="+mn-cs"/>
                        </a:rPr>
                        <a:t>α</a:t>
                      </a:r>
                      <a:r>
                        <a:rPr kumimoji="0" lang="en-US" altLang="zh-CN" sz="1800" kern="1200" baseline="-25000" dirty="0">
                          <a:solidFill>
                            <a:schemeClr val="tx1"/>
                          </a:solidFill>
                          <a:latin typeface="+mj-ea"/>
                          <a:ea typeface="+mn-ea"/>
                          <a:cs typeface="+mn-cs"/>
                        </a:rPr>
                        <a:t>2 </a:t>
                      </a:r>
                      <a:r>
                        <a:rPr kumimoji="0" lang="en-US" altLang="zh-CN" sz="1800" kern="1200" baseline="0" dirty="0">
                          <a:solidFill>
                            <a:schemeClr val="tx1"/>
                          </a:solidFill>
                          <a:latin typeface="+mj-ea"/>
                          <a:ea typeface="+mn-ea"/>
                          <a:cs typeface="+mn-cs"/>
                        </a:rPr>
                        <a:t>,</a:t>
                      </a:r>
                      <a:r>
                        <a:rPr kumimoji="0" lang="el-GR" altLang="zh-CN" sz="1800" kern="1200" dirty="0">
                          <a:solidFill>
                            <a:schemeClr val="tx1"/>
                          </a:solidFill>
                          <a:latin typeface="+mj-ea"/>
                          <a:ea typeface="+mn-ea"/>
                          <a:cs typeface="+mn-cs"/>
                        </a:rPr>
                        <a:t> ω</a:t>
                      </a:r>
                      <a:r>
                        <a:rPr kumimoji="0" lang="en-US" altLang="zh-CN" sz="1800" kern="1200" baseline="-25000" dirty="0">
                          <a:solidFill>
                            <a:schemeClr val="tx1"/>
                          </a:solidFill>
                          <a:latin typeface="+mj-ea"/>
                          <a:ea typeface="+mn-ea"/>
                          <a:cs typeface="+mn-cs"/>
                        </a:rPr>
                        <a:t>1</a:t>
                      </a:r>
                      <a:r>
                        <a:rPr kumimoji="0" lang="en-US" altLang="zh-CN" sz="1800" kern="1200" dirty="0">
                          <a:solidFill>
                            <a:schemeClr val="tx1"/>
                          </a:solidFill>
                          <a:latin typeface="+mj-ea"/>
                          <a:ea typeface="+mn-ea"/>
                          <a:cs typeface="+mn-cs"/>
                        </a:rPr>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l-GR" altLang="zh-CN" sz="1800" kern="1200" dirty="0">
                          <a:solidFill>
                            <a:schemeClr val="tx1"/>
                          </a:solidFill>
                          <a:latin typeface="+mj-ea"/>
                          <a:ea typeface="+mn-ea"/>
                          <a:cs typeface="+mn-cs"/>
                        </a:rPr>
                        <a:t>λ</a:t>
                      </a:r>
                      <a:r>
                        <a:rPr kumimoji="0" lang="en-US" altLang="zh-CN" sz="1800" kern="1200" dirty="0">
                          <a:solidFill>
                            <a:schemeClr val="tx1"/>
                          </a:solidFill>
                          <a:latin typeface="+mj-ea"/>
                          <a:ea typeface="+mn-ea"/>
                          <a:cs typeface="+mn-cs"/>
                        </a:rPr>
                        <a:t>(</a:t>
                      </a:r>
                      <a:r>
                        <a:rPr kumimoji="0" lang="el-GR" altLang="zh-CN" sz="1800" kern="1200" dirty="0">
                          <a:solidFill>
                            <a:schemeClr val="tx1"/>
                          </a:solidFill>
                          <a:latin typeface="+mj-ea"/>
                          <a:ea typeface="+mn-ea"/>
                          <a:cs typeface="+mn-cs"/>
                        </a:rPr>
                        <a:t>α</a:t>
                      </a:r>
                      <a:r>
                        <a:rPr kumimoji="0" lang="en-US" altLang="zh-CN" sz="1800" kern="1200" baseline="-25000" dirty="0">
                          <a:solidFill>
                            <a:schemeClr val="tx1"/>
                          </a:solidFill>
                          <a:latin typeface="+mj-ea"/>
                          <a:ea typeface="+mn-ea"/>
                          <a:cs typeface="+mn-cs"/>
                        </a:rPr>
                        <a:t>2 </a:t>
                      </a:r>
                      <a:r>
                        <a:rPr kumimoji="0" lang="en-US" altLang="zh-CN" sz="1800" kern="1200" baseline="0" dirty="0">
                          <a:solidFill>
                            <a:schemeClr val="tx1"/>
                          </a:solidFill>
                          <a:latin typeface="+mj-ea"/>
                          <a:ea typeface="+mn-ea"/>
                          <a:cs typeface="+mn-cs"/>
                        </a:rPr>
                        <a:t>,</a:t>
                      </a:r>
                      <a:r>
                        <a:rPr kumimoji="0" lang="el-GR" altLang="zh-CN" sz="1800" kern="1200" dirty="0">
                          <a:solidFill>
                            <a:schemeClr val="tx1"/>
                          </a:solidFill>
                          <a:latin typeface="+mj-ea"/>
                          <a:ea typeface="+mn-ea"/>
                          <a:cs typeface="+mn-cs"/>
                        </a:rPr>
                        <a:t> ω</a:t>
                      </a:r>
                      <a:r>
                        <a:rPr kumimoji="0" lang="en-US" altLang="zh-CN" sz="1800" kern="1200" baseline="-25000" dirty="0">
                          <a:solidFill>
                            <a:schemeClr val="tx1"/>
                          </a:solidFill>
                          <a:latin typeface="+mj-ea"/>
                          <a:ea typeface="+mn-ea"/>
                          <a:cs typeface="+mn-cs"/>
                        </a:rPr>
                        <a:t>2</a:t>
                      </a:r>
                      <a:r>
                        <a:rPr kumimoji="0" lang="en-US" altLang="zh-CN" sz="1800" kern="1200" dirty="0">
                          <a:solidFill>
                            <a:schemeClr val="tx1"/>
                          </a:solidFill>
                          <a:latin typeface="+mj-ea"/>
                          <a:ea typeface="+mn-ea"/>
                          <a:cs typeface="+mn-cs"/>
                        </a:rPr>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l-GR" altLang="zh-CN" sz="1800" kern="1200" dirty="0">
                          <a:solidFill>
                            <a:schemeClr val="tx1"/>
                          </a:solidFill>
                          <a:latin typeface="+mj-ea"/>
                          <a:ea typeface="+mn-ea"/>
                          <a:cs typeface="+mn-cs"/>
                        </a:rPr>
                        <a:t>λ</a:t>
                      </a:r>
                      <a:r>
                        <a:rPr kumimoji="0" lang="en-US" altLang="zh-CN" sz="1800" kern="1200" dirty="0">
                          <a:solidFill>
                            <a:schemeClr val="tx1"/>
                          </a:solidFill>
                          <a:latin typeface="+mj-ea"/>
                          <a:ea typeface="+mn-ea"/>
                          <a:cs typeface="+mn-cs"/>
                        </a:rPr>
                        <a:t>(</a:t>
                      </a:r>
                      <a:r>
                        <a:rPr kumimoji="0" lang="el-GR" altLang="zh-CN" sz="1800" kern="1200" dirty="0">
                          <a:solidFill>
                            <a:schemeClr val="tx1"/>
                          </a:solidFill>
                          <a:latin typeface="+mj-ea"/>
                          <a:ea typeface="+mn-ea"/>
                          <a:cs typeface="+mn-cs"/>
                        </a:rPr>
                        <a:t>α</a:t>
                      </a:r>
                      <a:r>
                        <a:rPr kumimoji="0" lang="en-US" altLang="zh-CN" sz="1800" kern="1200" baseline="-25000" dirty="0">
                          <a:solidFill>
                            <a:schemeClr val="tx1"/>
                          </a:solidFill>
                          <a:latin typeface="+mj-ea"/>
                          <a:ea typeface="+mn-ea"/>
                          <a:cs typeface="+mn-cs"/>
                        </a:rPr>
                        <a:t>2 </a:t>
                      </a:r>
                      <a:r>
                        <a:rPr kumimoji="0" lang="en-US" altLang="zh-CN" sz="1800" kern="1200" baseline="0" dirty="0">
                          <a:solidFill>
                            <a:schemeClr val="tx1"/>
                          </a:solidFill>
                          <a:latin typeface="+mj-ea"/>
                          <a:ea typeface="+mn-ea"/>
                          <a:cs typeface="+mn-cs"/>
                        </a:rPr>
                        <a:t>,</a:t>
                      </a:r>
                      <a:r>
                        <a:rPr kumimoji="0" lang="el-GR" altLang="zh-CN" sz="1800" kern="1200" dirty="0">
                          <a:solidFill>
                            <a:schemeClr val="tx1"/>
                          </a:solidFill>
                          <a:latin typeface="+mj-ea"/>
                          <a:ea typeface="+mn-ea"/>
                          <a:cs typeface="+mn-cs"/>
                        </a:rPr>
                        <a:t> ω</a:t>
                      </a:r>
                      <a:r>
                        <a:rPr kumimoji="0" lang="en-US" altLang="zh-CN" sz="1800" kern="1200" baseline="-25000" dirty="0">
                          <a:solidFill>
                            <a:schemeClr val="tx1"/>
                          </a:solidFill>
                          <a:latin typeface="+mj-ea"/>
                          <a:ea typeface="+mn-ea"/>
                          <a:cs typeface="+mn-cs"/>
                        </a:rPr>
                        <a:t>j</a:t>
                      </a:r>
                      <a:r>
                        <a:rPr kumimoji="0" lang="en-US" altLang="zh-CN" sz="1800" kern="1200" dirty="0">
                          <a:solidFill>
                            <a:schemeClr val="tx1"/>
                          </a:solidFill>
                          <a:latin typeface="+mj-ea"/>
                          <a:ea typeface="+mn-ea"/>
                          <a:cs typeface="+mn-cs"/>
                        </a:rPr>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l-GR" altLang="zh-CN" sz="1800" kern="1200" dirty="0">
                          <a:solidFill>
                            <a:schemeClr val="tx1"/>
                          </a:solidFill>
                          <a:latin typeface="+mj-ea"/>
                          <a:ea typeface="+mn-ea"/>
                          <a:cs typeface="+mn-cs"/>
                        </a:rPr>
                        <a:t>λ</a:t>
                      </a:r>
                      <a:r>
                        <a:rPr kumimoji="0" lang="en-US" altLang="zh-CN" sz="1800" kern="1200" dirty="0">
                          <a:solidFill>
                            <a:schemeClr val="tx1"/>
                          </a:solidFill>
                          <a:latin typeface="+mj-ea"/>
                          <a:ea typeface="+mn-ea"/>
                          <a:cs typeface="+mn-cs"/>
                        </a:rPr>
                        <a:t>(</a:t>
                      </a:r>
                      <a:r>
                        <a:rPr kumimoji="0" lang="el-GR" altLang="zh-CN" sz="1800" kern="1200" dirty="0">
                          <a:solidFill>
                            <a:schemeClr val="tx1"/>
                          </a:solidFill>
                          <a:latin typeface="+mj-ea"/>
                          <a:ea typeface="+mn-ea"/>
                          <a:cs typeface="+mn-cs"/>
                        </a:rPr>
                        <a:t>α</a:t>
                      </a:r>
                      <a:r>
                        <a:rPr kumimoji="0" lang="en-US" altLang="zh-CN" sz="1800" kern="1200" baseline="-25000" dirty="0">
                          <a:solidFill>
                            <a:schemeClr val="tx1"/>
                          </a:solidFill>
                          <a:latin typeface="+mj-ea"/>
                          <a:ea typeface="+mn-ea"/>
                          <a:cs typeface="+mn-cs"/>
                        </a:rPr>
                        <a:t>2 </a:t>
                      </a:r>
                      <a:r>
                        <a:rPr kumimoji="0" lang="en-US" altLang="zh-CN" sz="1800" kern="1200" baseline="0" dirty="0">
                          <a:solidFill>
                            <a:schemeClr val="tx1"/>
                          </a:solidFill>
                          <a:latin typeface="+mj-ea"/>
                          <a:ea typeface="+mn-ea"/>
                          <a:cs typeface="+mn-cs"/>
                        </a:rPr>
                        <a:t>,</a:t>
                      </a:r>
                      <a:r>
                        <a:rPr kumimoji="0" lang="el-GR" altLang="zh-CN" sz="1800" kern="1200" dirty="0">
                          <a:solidFill>
                            <a:schemeClr val="tx1"/>
                          </a:solidFill>
                          <a:latin typeface="+mj-ea"/>
                          <a:ea typeface="+mn-ea"/>
                          <a:cs typeface="+mn-cs"/>
                        </a:rPr>
                        <a:t> ω</a:t>
                      </a:r>
                      <a:r>
                        <a:rPr kumimoji="0" lang="en-US" altLang="zh-CN" sz="1800" kern="1200" baseline="-25000" dirty="0">
                          <a:solidFill>
                            <a:schemeClr val="tx1"/>
                          </a:solidFill>
                          <a:latin typeface="+mj-ea"/>
                          <a:ea typeface="+mn-ea"/>
                          <a:cs typeface="+mn-cs"/>
                        </a:rPr>
                        <a:t>c</a:t>
                      </a:r>
                      <a:r>
                        <a:rPr kumimoji="0" lang="en-US" altLang="zh-CN" sz="1800" kern="1200" dirty="0">
                          <a:solidFill>
                            <a:schemeClr val="tx1"/>
                          </a:solidFill>
                          <a:latin typeface="+mj-ea"/>
                          <a:ea typeface="+mn-ea"/>
                          <a:cs typeface="+mn-cs"/>
                        </a:rPr>
                        <a:t>)</a:t>
                      </a:r>
                      <a:endParaRPr lang="zh-CN" altLang="en-US" dirty="0"/>
                    </a:p>
                  </a:txBody>
                  <a:tcPr/>
                </a:tc>
                <a:extLst>
                  <a:ext uri="{0D108BD9-81ED-4DB2-BD59-A6C34878D82A}">
                    <a16:rowId xmlns:a16="http://schemas.microsoft.com/office/drawing/2014/main" val="10002"/>
                  </a:ext>
                </a:extLst>
              </a:tr>
              <a:tr h="381045">
                <a:tc>
                  <a:txBody>
                    <a:bodyPr/>
                    <a:lstStyle/>
                    <a:p>
                      <a:r>
                        <a:rPr lang="en-US" altLang="zh-CN" dirty="0"/>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endParaRPr lang="zh-CN" altLang="en-US" dirty="0"/>
                    </a:p>
                  </a:txBody>
                  <a:tcPr/>
                </a:tc>
                <a:extLst>
                  <a:ext uri="{0D108BD9-81ED-4DB2-BD59-A6C34878D82A}">
                    <a16:rowId xmlns:a16="http://schemas.microsoft.com/office/drawing/2014/main" val="10003"/>
                  </a:ext>
                </a:extLst>
              </a:tr>
              <a:tr h="381045">
                <a:tc>
                  <a:txBody>
                    <a:bodyPr/>
                    <a:lstStyle/>
                    <a:p>
                      <a:r>
                        <a:rPr kumimoji="0" lang="el-GR" altLang="zh-CN" sz="1800" kern="1200" dirty="0">
                          <a:solidFill>
                            <a:schemeClr val="tx1"/>
                          </a:solidFill>
                          <a:latin typeface="+mj-ea"/>
                          <a:ea typeface="+mn-ea"/>
                          <a:cs typeface="+mn-cs"/>
                        </a:rPr>
                        <a:t>α</a:t>
                      </a:r>
                      <a:r>
                        <a:rPr kumimoji="0" lang="en-US" altLang="zh-CN" sz="1800" kern="1200" baseline="-25000" dirty="0" err="1">
                          <a:solidFill>
                            <a:schemeClr val="tx1"/>
                          </a:solidFill>
                          <a:latin typeface="+mj-ea"/>
                          <a:ea typeface="+mn-ea"/>
                          <a:cs typeface="+mn-cs"/>
                        </a:rPr>
                        <a:t>i</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l-GR" altLang="zh-CN" sz="1800" kern="1200" dirty="0">
                          <a:solidFill>
                            <a:schemeClr val="tx1"/>
                          </a:solidFill>
                          <a:latin typeface="+mj-ea"/>
                          <a:ea typeface="+mn-ea"/>
                          <a:cs typeface="+mn-cs"/>
                        </a:rPr>
                        <a:t>λ</a:t>
                      </a:r>
                      <a:r>
                        <a:rPr kumimoji="0" lang="en-US" altLang="zh-CN" sz="1800" kern="1200" dirty="0">
                          <a:solidFill>
                            <a:schemeClr val="tx1"/>
                          </a:solidFill>
                          <a:latin typeface="+mj-ea"/>
                          <a:ea typeface="+mn-ea"/>
                          <a:cs typeface="+mn-cs"/>
                        </a:rPr>
                        <a:t>(</a:t>
                      </a:r>
                      <a:r>
                        <a:rPr kumimoji="0" lang="el-GR" altLang="zh-CN" sz="1800" kern="1200" dirty="0">
                          <a:solidFill>
                            <a:schemeClr val="tx1"/>
                          </a:solidFill>
                          <a:latin typeface="+mj-ea"/>
                          <a:ea typeface="+mn-ea"/>
                          <a:cs typeface="+mn-cs"/>
                        </a:rPr>
                        <a:t>α</a:t>
                      </a:r>
                      <a:r>
                        <a:rPr kumimoji="0" lang="en-US" altLang="zh-CN" sz="1800" kern="1200" baseline="-25000" dirty="0" err="1">
                          <a:solidFill>
                            <a:schemeClr val="tx1"/>
                          </a:solidFill>
                          <a:latin typeface="+mj-ea"/>
                          <a:ea typeface="+mn-ea"/>
                          <a:cs typeface="+mn-cs"/>
                        </a:rPr>
                        <a:t>i</a:t>
                      </a:r>
                      <a:r>
                        <a:rPr kumimoji="0" lang="en-US" altLang="zh-CN" sz="1800" kern="1200" baseline="-25000" dirty="0">
                          <a:solidFill>
                            <a:schemeClr val="tx1"/>
                          </a:solidFill>
                          <a:latin typeface="+mj-ea"/>
                          <a:ea typeface="+mn-ea"/>
                          <a:cs typeface="+mn-cs"/>
                        </a:rPr>
                        <a:t> </a:t>
                      </a:r>
                      <a:r>
                        <a:rPr kumimoji="0" lang="en-US" altLang="zh-CN" sz="1800" kern="1200" baseline="0" dirty="0">
                          <a:solidFill>
                            <a:schemeClr val="tx1"/>
                          </a:solidFill>
                          <a:latin typeface="+mj-ea"/>
                          <a:ea typeface="+mn-ea"/>
                          <a:cs typeface="+mn-cs"/>
                        </a:rPr>
                        <a:t>,</a:t>
                      </a:r>
                      <a:r>
                        <a:rPr kumimoji="0" lang="el-GR" altLang="zh-CN" sz="1800" kern="1200" dirty="0">
                          <a:solidFill>
                            <a:schemeClr val="tx1"/>
                          </a:solidFill>
                          <a:latin typeface="+mj-ea"/>
                          <a:ea typeface="+mn-ea"/>
                          <a:cs typeface="+mn-cs"/>
                        </a:rPr>
                        <a:t> ω</a:t>
                      </a:r>
                      <a:r>
                        <a:rPr kumimoji="0" lang="en-US" altLang="zh-CN" sz="1800" kern="1200" baseline="-25000" dirty="0">
                          <a:solidFill>
                            <a:schemeClr val="tx1"/>
                          </a:solidFill>
                          <a:latin typeface="+mj-ea"/>
                          <a:ea typeface="+mn-ea"/>
                          <a:cs typeface="+mn-cs"/>
                        </a:rPr>
                        <a:t>1</a:t>
                      </a:r>
                      <a:r>
                        <a:rPr kumimoji="0" lang="en-US" altLang="zh-CN" sz="1800" kern="1200" dirty="0">
                          <a:solidFill>
                            <a:schemeClr val="tx1"/>
                          </a:solidFill>
                          <a:latin typeface="+mj-ea"/>
                          <a:ea typeface="+mn-ea"/>
                          <a:cs typeface="+mn-cs"/>
                        </a:rPr>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l-GR" altLang="zh-CN" sz="1800" kern="1200" dirty="0">
                          <a:solidFill>
                            <a:schemeClr val="tx1"/>
                          </a:solidFill>
                          <a:latin typeface="+mj-ea"/>
                          <a:ea typeface="+mn-ea"/>
                          <a:cs typeface="+mn-cs"/>
                        </a:rPr>
                        <a:t>λ</a:t>
                      </a:r>
                      <a:r>
                        <a:rPr kumimoji="0" lang="en-US" altLang="zh-CN" sz="1800" kern="1200" dirty="0">
                          <a:solidFill>
                            <a:schemeClr val="tx1"/>
                          </a:solidFill>
                          <a:latin typeface="+mj-ea"/>
                          <a:ea typeface="+mn-ea"/>
                          <a:cs typeface="+mn-cs"/>
                        </a:rPr>
                        <a:t>(</a:t>
                      </a:r>
                      <a:r>
                        <a:rPr kumimoji="0" lang="el-GR" altLang="zh-CN" sz="1800" kern="1200" dirty="0">
                          <a:solidFill>
                            <a:schemeClr val="tx1"/>
                          </a:solidFill>
                          <a:latin typeface="+mj-ea"/>
                          <a:ea typeface="+mn-ea"/>
                          <a:cs typeface="+mn-cs"/>
                        </a:rPr>
                        <a:t>α</a:t>
                      </a:r>
                      <a:r>
                        <a:rPr kumimoji="0" lang="en-US" altLang="zh-CN" sz="1800" kern="1200" baseline="-25000" dirty="0" err="1">
                          <a:solidFill>
                            <a:schemeClr val="tx1"/>
                          </a:solidFill>
                          <a:latin typeface="+mj-ea"/>
                          <a:ea typeface="+mn-ea"/>
                          <a:cs typeface="+mn-cs"/>
                        </a:rPr>
                        <a:t>i</a:t>
                      </a:r>
                      <a:r>
                        <a:rPr kumimoji="0" lang="en-US" altLang="zh-CN" sz="1800" kern="1200" baseline="-25000" dirty="0">
                          <a:solidFill>
                            <a:schemeClr val="tx1"/>
                          </a:solidFill>
                          <a:latin typeface="+mj-ea"/>
                          <a:ea typeface="+mn-ea"/>
                          <a:cs typeface="+mn-cs"/>
                        </a:rPr>
                        <a:t> </a:t>
                      </a:r>
                      <a:r>
                        <a:rPr kumimoji="0" lang="en-US" altLang="zh-CN" sz="1800" kern="1200" baseline="0" dirty="0">
                          <a:solidFill>
                            <a:schemeClr val="tx1"/>
                          </a:solidFill>
                          <a:latin typeface="+mj-ea"/>
                          <a:ea typeface="+mn-ea"/>
                          <a:cs typeface="+mn-cs"/>
                        </a:rPr>
                        <a:t>,</a:t>
                      </a:r>
                      <a:r>
                        <a:rPr kumimoji="0" lang="el-GR" altLang="zh-CN" sz="1800" kern="1200" dirty="0">
                          <a:solidFill>
                            <a:schemeClr val="tx1"/>
                          </a:solidFill>
                          <a:latin typeface="+mj-ea"/>
                          <a:ea typeface="+mn-ea"/>
                          <a:cs typeface="+mn-cs"/>
                        </a:rPr>
                        <a:t> ω</a:t>
                      </a:r>
                      <a:r>
                        <a:rPr kumimoji="0" lang="en-US" altLang="zh-CN" sz="1800" kern="1200" baseline="-25000" dirty="0">
                          <a:solidFill>
                            <a:schemeClr val="tx1"/>
                          </a:solidFill>
                          <a:latin typeface="+mj-ea"/>
                          <a:ea typeface="+mn-ea"/>
                          <a:cs typeface="+mn-cs"/>
                        </a:rPr>
                        <a:t>2</a:t>
                      </a:r>
                      <a:r>
                        <a:rPr kumimoji="0" lang="en-US" altLang="zh-CN" sz="1800" kern="1200" dirty="0">
                          <a:solidFill>
                            <a:schemeClr val="tx1"/>
                          </a:solidFill>
                          <a:latin typeface="+mj-ea"/>
                          <a:ea typeface="+mn-ea"/>
                          <a:cs typeface="+mn-cs"/>
                        </a:rPr>
                        <a:t>)</a:t>
                      </a:r>
                      <a:endParaRPr lang="zh-CN" altLang="en-US" dirty="0"/>
                    </a:p>
                  </a:txBody>
                  <a:tcPr/>
                </a:tc>
                <a:tc>
                  <a:txBody>
                    <a:bodyPr/>
                    <a:lstStyle/>
                    <a:p>
                      <a:r>
                        <a:rPr lang="en-US" altLang="zh-CN" dirty="0"/>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l-GR" altLang="zh-CN" sz="1800" kern="1200" dirty="0">
                          <a:solidFill>
                            <a:schemeClr val="tx1"/>
                          </a:solidFill>
                          <a:latin typeface="+mj-ea"/>
                          <a:ea typeface="+mn-ea"/>
                          <a:cs typeface="+mn-cs"/>
                        </a:rPr>
                        <a:t>λ</a:t>
                      </a:r>
                      <a:r>
                        <a:rPr kumimoji="0" lang="en-US" altLang="zh-CN" sz="1800" kern="1200" dirty="0">
                          <a:solidFill>
                            <a:schemeClr val="tx1"/>
                          </a:solidFill>
                          <a:latin typeface="+mj-ea"/>
                          <a:ea typeface="+mn-ea"/>
                          <a:cs typeface="+mn-cs"/>
                        </a:rPr>
                        <a:t>(</a:t>
                      </a:r>
                      <a:r>
                        <a:rPr kumimoji="0" lang="el-GR" altLang="zh-CN" sz="1800" kern="1200" dirty="0">
                          <a:solidFill>
                            <a:schemeClr val="tx1"/>
                          </a:solidFill>
                          <a:latin typeface="+mj-ea"/>
                          <a:ea typeface="+mn-ea"/>
                          <a:cs typeface="+mn-cs"/>
                        </a:rPr>
                        <a:t>α</a:t>
                      </a:r>
                      <a:r>
                        <a:rPr kumimoji="0" lang="en-US" altLang="zh-CN" sz="1800" kern="1200" baseline="-25000" dirty="0" err="1">
                          <a:solidFill>
                            <a:schemeClr val="tx1"/>
                          </a:solidFill>
                          <a:latin typeface="+mj-ea"/>
                          <a:ea typeface="+mn-ea"/>
                          <a:cs typeface="+mn-cs"/>
                        </a:rPr>
                        <a:t>i</a:t>
                      </a:r>
                      <a:r>
                        <a:rPr kumimoji="0" lang="en-US" altLang="zh-CN" sz="1800" kern="1200" baseline="-25000" dirty="0">
                          <a:solidFill>
                            <a:schemeClr val="tx1"/>
                          </a:solidFill>
                          <a:latin typeface="+mj-ea"/>
                          <a:ea typeface="+mn-ea"/>
                          <a:cs typeface="+mn-cs"/>
                        </a:rPr>
                        <a:t> </a:t>
                      </a:r>
                      <a:r>
                        <a:rPr kumimoji="0" lang="en-US" altLang="zh-CN" sz="1800" kern="1200" baseline="0" dirty="0">
                          <a:solidFill>
                            <a:schemeClr val="tx1"/>
                          </a:solidFill>
                          <a:latin typeface="+mj-ea"/>
                          <a:ea typeface="+mn-ea"/>
                          <a:cs typeface="+mn-cs"/>
                        </a:rPr>
                        <a:t>,</a:t>
                      </a:r>
                      <a:r>
                        <a:rPr kumimoji="0" lang="el-GR" altLang="zh-CN" sz="1800" kern="1200" dirty="0">
                          <a:solidFill>
                            <a:schemeClr val="tx1"/>
                          </a:solidFill>
                          <a:latin typeface="+mj-ea"/>
                          <a:ea typeface="+mn-ea"/>
                          <a:cs typeface="+mn-cs"/>
                        </a:rPr>
                        <a:t> ω</a:t>
                      </a:r>
                      <a:r>
                        <a:rPr kumimoji="0" lang="en-US" altLang="zh-CN" sz="1800" kern="1200" baseline="-25000" dirty="0">
                          <a:solidFill>
                            <a:schemeClr val="tx1"/>
                          </a:solidFill>
                          <a:latin typeface="+mj-ea"/>
                          <a:ea typeface="+mn-ea"/>
                          <a:cs typeface="+mn-cs"/>
                        </a:rPr>
                        <a:t>j</a:t>
                      </a:r>
                      <a:r>
                        <a:rPr kumimoji="0" lang="en-US" altLang="zh-CN" sz="1800" kern="1200" dirty="0">
                          <a:solidFill>
                            <a:schemeClr val="tx1"/>
                          </a:solidFill>
                          <a:latin typeface="+mj-ea"/>
                          <a:ea typeface="+mn-ea"/>
                          <a:cs typeface="+mn-cs"/>
                        </a:rPr>
                        <a:t>)</a:t>
                      </a:r>
                      <a:endParaRPr lang="zh-CN" altLang="en-US" dirty="0"/>
                    </a:p>
                  </a:txBody>
                  <a:tcPr/>
                </a:tc>
                <a:tc>
                  <a:txBody>
                    <a:bodyPr/>
                    <a:lstStyle/>
                    <a:p>
                      <a:r>
                        <a:rPr lang="en-US" altLang="zh-CN" dirty="0"/>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l-GR" altLang="zh-CN" sz="1800" kern="1200" dirty="0">
                          <a:solidFill>
                            <a:schemeClr val="tx1"/>
                          </a:solidFill>
                          <a:latin typeface="+mj-ea"/>
                          <a:ea typeface="+mn-ea"/>
                          <a:cs typeface="+mn-cs"/>
                        </a:rPr>
                        <a:t>λ</a:t>
                      </a:r>
                      <a:r>
                        <a:rPr kumimoji="0" lang="en-US" altLang="zh-CN" sz="1800" kern="1200" dirty="0">
                          <a:solidFill>
                            <a:schemeClr val="tx1"/>
                          </a:solidFill>
                          <a:latin typeface="+mj-ea"/>
                          <a:ea typeface="+mn-ea"/>
                          <a:cs typeface="+mn-cs"/>
                        </a:rPr>
                        <a:t>(</a:t>
                      </a:r>
                      <a:r>
                        <a:rPr kumimoji="0" lang="el-GR" altLang="zh-CN" sz="1800" kern="1200" dirty="0">
                          <a:solidFill>
                            <a:schemeClr val="tx1"/>
                          </a:solidFill>
                          <a:latin typeface="+mj-ea"/>
                          <a:ea typeface="+mn-ea"/>
                          <a:cs typeface="+mn-cs"/>
                        </a:rPr>
                        <a:t>α</a:t>
                      </a:r>
                      <a:r>
                        <a:rPr kumimoji="0" lang="en-US" altLang="zh-CN" sz="1800" kern="1200" baseline="-25000" dirty="0" err="1">
                          <a:solidFill>
                            <a:schemeClr val="tx1"/>
                          </a:solidFill>
                          <a:latin typeface="+mj-ea"/>
                          <a:ea typeface="+mn-ea"/>
                          <a:cs typeface="+mn-cs"/>
                        </a:rPr>
                        <a:t>i</a:t>
                      </a:r>
                      <a:r>
                        <a:rPr kumimoji="0" lang="en-US" altLang="zh-CN" sz="1800" kern="1200" baseline="-25000" dirty="0">
                          <a:solidFill>
                            <a:schemeClr val="tx1"/>
                          </a:solidFill>
                          <a:latin typeface="+mj-ea"/>
                          <a:ea typeface="+mn-ea"/>
                          <a:cs typeface="+mn-cs"/>
                        </a:rPr>
                        <a:t> </a:t>
                      </a:r>
                      <a:r>
                        <a:rPr kumimoji="0" lang="en-US" altLang="zh-CN" sz="1800" kern="1200" baseline="0" dirty="0">
                          <a:solidFill>
                            <a:schemeClr val="tx1"/>
                          </a:solidFill>
                          <a:latin typeface="+mj-ea"/>
                          <a:ea typeface="+mn-ea"/>
                          <a:cs typeface="+mn-cs"/>
                        </a:rPr>
                        <a:t>,</a:t>
                      </a:r>
                      <a:r>
                        <a:rPr kumimoji="0" lang="el-GR" altLang="zh-CN" sz="1800" kern="1200" dirty="0">
                          <a:solidFill>
                            <a:schemeClr val="tx1"/>
                          </a:solidFill>
                          <a:latin typeface="+mj-ea"/>
                          <a:ea typeface="+mn-ea"/>
                          <a:cs typeface="+mn-cs"/>
                        </a:rPr>
                        <a:t> ω</a:t>
                      </a:r>
                      <a:r>
                        <a:rPr kumimoji="0" lang="en-US" altLang="zh-CN" sz="1800" kern="1200" baseline="-25000" dirty="0">
                          <a:solidFill>
                            <a:schemeClr val="tx1"/>
                          </a:solidFill>
                          <a:latin typeface="+mj-ea"/>
                          <a:ea typeface="+mn-ea"/>
                          <a:cs typeface="+mn-cs"/>
                        </a:rPr>
                        <a:t>c</a:t>
                      </a:r>
                      <a:r>
                        <a:rPr kumimoji="0" lang="en-US" altLang="zh-CN" sz="1800" kern="1200" dirty="0">
                          <a:solidFill>
                            <a:schemeClr val="tx1"/>
                          </a:solidFill>
                          <a:latin typeface="+mj-ea"/>
                          <a:ea typeface="+mn-ea"/>
                          <a:cs typeface="+mn-cs"/>
                        </a:rPr>
                        <a:t>)</a:t>
                      </a:r>
                      <a:endParaRPr lang="zh-CN" altLang="en-US" dirty="0"/>
                    </a:p>
                  </a:txBody>
                  <a:tcPr/>
                </a:tc>
                <a:extLst>
                  <a:ext uri="{0D108BD9-81ED-4DB2-BD59-A6C34878D82A}">
                    <a16:rowId xmlns:a16="http://schemas.microsoft.com/office/drawing/2014/main" val="10004"/>
                  </a:ext>
                </a:extLst>
              </a:tr>
              <a:tr h="381045">
                <a:tc>
                  <a:txBody>
                    <a:bodyPr/>
                    <a:lstStyle/>
                    <a:p>
                      <a:r>
                        <a:rPr lang="en-US" altLang="zh-CN" dirty="0"/>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endParaRPr lang="zh-CN" altLang="en-US" dirty="0"/>
                    </a:p>
                  </a:txBody>
                  <a:tcPr/>
                </a:tc>
                <a:extLst>
                  <a:ext uri="{0D108BD9-81ED-4DB2-BD59-A6C34878D82A}">
                    <a16:rowId xmlns:a16="http://schemas.microsoft.com/office/drawing/2014/main" val="10005"/>
                  </a:ext>
                </a:extLst>
              </a:tr>
              <a:tr h="381045">
                <a:tc>
                  <a:txBody>
                    <a:bodyPr/>
                    <a:lstStyle/>
                    <a:p>
                      <a:r>
                        <a:rPr kumimoji="0" lang="el-GR" altLang="zh-CN" sz="1800" kern="1200" dirty="0">
                          <a:solidFill>
                            <a:schemeClr val="tx1"/>
                          </a:solidFill>
                          <a:latin typeface="+mj-ea"/>
                          <a:ea typeface="+mn-ea"/>
                          <a:cs typeface="+mn-cs"/>
                        </a:rPr>
                        <a:t>α</a:t>
                      </a:r>
                      <a:r>
                        <a:rPr kumimoji="0" lang="en-US" altLang="zh-CN" sz="1800" kern="1200" baseline="-25000" dirty="0">
                          <a:solidFill>
                            <a:schemeClr val="tx1"/>
                          </a:solidFill>
                          <a:latin typeface="+mj-ea"/>
                          <a:ea typeface="+mn-ea"/>
                          <a:cs typeface="+mn-cs"/>
                        </a:rPr>
                        <a:t>a </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l-GR" altLang="zh-CN" sz="1800" kern="1200" dirty="0">
                          <a:solidFill>
                            <a:schemeClr val="tx1"/>
                          </a:solidFill>
                          <a:latin typeface="+mj-ea"/>
                          <a:ea typeface="+mn-ea"/>
                          <a:cs typeface="+mn-cs"/>
                        </a:rPr>
                        <a:t>λ</a:t>
                      </a:r>
                      <a:r>
                        <a:rPr kumimoji="0" lang="en-US" altLang="zh-CN" sz="1800" kern="1200" dirty="0">
                          <a:solidFill>
                            <a:schemeClr val="tx1"/>
                          </a:solidFill>
                          <a:latin typeface="+mj-ea"/>
                          <a:ea typeface="+mn-ea"/>
                          <a:cs typeface="+mn-cs"/>
                        </a:rPr>
                        <a:t>(</a:t>
                      </a:r>
                      <a:r>
                        <a:rPr kumimoji="0" lang="el-GR" altLang="zh-CN" sz="1800" kern="1200" dirty="0">
                          <a:solidFill>
                            <a:schemeClr val="tx1"/>
                          </a:solidFill>
                          <a:latin typeface="+mj-ea"/>
                          <a:ea typeface="+mn-ea"/>
                          <a:cs typeface="+mn-cs"/>
                        </a:rPr>
                        <a:t>α</a:t>
                      </a:r>
                      <a:r>
                        <a:rPr kumimoji="0" lang="en-US" altLang="zh-CN" sz="1800" kern="1200" baseline="-25000" dirty="0">
                          <a:solidFill>
                            <a:schemeClr val="tx1"/>
                          </a:solidFill>
                          <a:latin typeface="+mj-ea"/>
                          <a:ea typeface="+mn-ea"/>
                          <a:cs typeface="+mn-cs"/>
                        </a:rPr>
                        <a:t>a </a:t>
                      </a:r>
                      <a:r>
                        <a:rPr kumimoji="0" lang="en-US" altLang="zh-CN" sz="1800" kern="1200" baseline="0" dirty="0">
                          <a:solidFill>
                            <a:schemeClr val="tx1"/>
                          </a:solidFill>
                          <a:latin typeface="+mj-ea"/>
                          <a:ea typeface="+mn-ea"/>
                          <a:cs typeface="+mn-cs"/>
                        </a:rPr>
                        <a:t>,</a:t>
                      </a:r>
                      <a:r>
                        <a:rPr kumimoji="0" lang="el-GR" altLang="zh-CN" sz="1800" kern="1200" dirty="0">
                          <a:solidFill>
                            <a:schemeClr val="tx1"/>
                          </a:solidFill>
                          <a:latin typeface="+mj-ea"/>
                          <a:ea typeface="+mn-ea"/>
                          <a:cs typeface="+mn-cs"/>
                        </a:rPr>
                        <a:t> ω</a:t>
                      </a:r>
                      <a:r>
                        <a:rPr kumimoji="0" lang="en-US" altLang="zh-CN" sz="1800" kern="1200" baseline="-25000" dirty="0">
                          <a:solidFill>
                            <a:schemeClr val="tx1"/>
                          </a:solidFill>
                          <a:latin typeface="+mj-ea"/>
                          <a:ea typeface="+mn-ea"/>
                          <a:cs typeface="+mn-cs"/>
                        </a:rPr>
                        <a:t>1</a:t>
                      </a:r>
                      <a:r>
                        <a:rPr kumimoji="0" lang="en-US" altLang="zh-CN" sz="1800" kern="1200" dirty="0">
                          <a:solidFill>
                            <a:schemeClr val="tx1"/>
                          </a:solidFill>
                          <a:latin typeface="+mj-ea"/>
                          <a:ea typeface="+mn-ea"/>
                          <a:cs typeface="+mn-cs"/>
                        </a:rPr>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l-GR" altLang="zh-CN" sz="1800" kern="1200" dirty="0">
                          <a:solidFill>
                            <a:schemeClr val="tx1"/>
                          </a:solidFill>
                          <a:latin typeface="+mj-ea"/>
                          <a:ea typeface="+mn-ea"/>
                          <a:cs typeface="+mn-cs"/>
                        </a:rPr>
                        <a:t>λ</a:t>
                      </a:r>
                      <a:r>
                        <a:rPr kumimoji="0" lang="en-US" altLang="zh-CN" sz="1800" kern="1200" dirty="0">
                          <a:solidFill>
                            <a:schemeClr val="tx1"/>
                          </a:solidFill>
                          <a:latin typeface="+mj-ea"/>
                          <a:ea typeface="+mn-ea"/>
                          <a:cs typeface="+mn-cs"/>
                        </a:rPr>
                        <a:t>(</a:t>
                      </a:r>
                      <a:r>
                        <a:rPr kumimoji="0" lang="el-GR" altLang="zh-CN" sz="1800" kern="1200" dirty="0">
                          <a:solidFill>
                            <a:schemeClr val="tx1"/>
                          </a:solidFill>
                          <a:latin typeface="+mj-ea"/>
                          <a:ea typeface="+mn-ea"/>
                          <a:cs typeface="+mn-cs"/>
                        </a:rPr>
                        <a:t>α</a:t>
                      </a:r>
                      <a:r>
                        <a:rPr kumimoji="0" lang="en-US" altLang="zh-CN" sz="1800" kern="1200" baseline="-25000" dirty="0">
                          <a:solidFill>
                            <a:schemeClr val="tx1"/>
                          </a:solidFill>
                          <a:latin typeface="+mj-ea"/>
                          <a:ea typeface="+mn-ea"/>
                          <a:cs typeface="+mn-cs"/>
                        </a:rPr>
                        <a:t>a </a:t>
                      </a:r>
                      <a:r>
                        <a:rPr kumimoji="0" lang="en-US" altLang="zh-CN" sz="1800" kern="1200" baseline="0" dirty="0">
                          <a:solidFill>
                            <a:schemeClr val="tx1"/>
                          </a:solidFill>
                          <a:latin typeface="+mj-ea"/>
                          <a:ea typeface="+mn-ea"/>
                          <a:cs typeface="+mn-cs"/>
                        </a:rPr>
                        <a:t>,</a:t>
                      </a:r>
                      <a:r>
                        <a:rPr kumimoji="0" lang="el-GR" altLang="zh-CN" sz="1800" kern="1200" dirty="0">
                          <a:solidFill>
                            <a:schemeClr val="tx1"/>
                          </a:solidFill>
                          <a:latin typeface="+mj-ea"/>
                          <a:ea typeface="+mn-ea"/>
                          <a:cs typeface="+mn-cs"/>
                        </a:rPr>
                        <a:t> ω</a:t>
                      </a:r>
                      <a:r>
                        <a:rPr kumimoji="0" lang="en-US" altLang="zh-CN" sz="1800" kern="1200" baseline="-25000" dirty="0">
                          <a:solidFill>
                            <a:schemeClr val="tx1"/>
                          </a:solidFill>
                          <a:latin typeface="+mj-ea"/>
                          <a:ea typeface="+mn-ea"/>
                          <a:cs typeface="+mn-cs"/>
                        </a:rPr>
                        <a:t>2</a:t>
                      </a:r>
                      <a:r>
                        <a:rPr kumimoji="0" lang="en-US" altLang="zh-CN" sz="1800" kern="1200" dirty="0">
                          <a:solidFill>
                            <a:schemeClr val="tx1"/>
                          </a:solidFill>
                          <a:latin typeface="+mj-ea"/>
                          <a:ea typeface="+mn-ea"/>
                          <a:cs typeface="+mn-cs"/>
                        </a:rPr>
                        <a:t>)</a:t>
                      </a:r>
                      <a:endParaRPr lang="zh-CN" altLang="en-US" dirty="0"/>
                    </a:p>
                  </a:txBody>
                  <a:tcPr/>
                </a:tc>
                <a:tc>
                  <a:txBody>
                    <a:bodyPr/>
                    <a:lstStyle/>
                    <a:p>
                      <a:r>
                        <a:rPr lang="en-US" altLang="zh-CN" dirty="0"/>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l-GR" altLang="zh-CN" sz="1800" kern="1200" dirty="0">
                          <a:solidFill>
                            <a:schemeClr val="tx1"/>
                          </a:solidFill>
                          <a:latin typeface="+mj-ea"/>
                          <a:ea typeface="+mn-ea"/>
                          <a:cs typeface="+mn-cs"/>
                        </a:rPr>
                        <a:t>λ</a:t>
                      </a:r>
                      <a:r>
                        <a:rPr kumimoji="0" lang="en-US" altLang="zh-CN" sz="1800" kern="1200" dirty="0">
                          <a:solidFill>
                            <a:schemeClr val="tx1"/>
                          </a:solidFill>
                          <a:latin typeface="+mj-ea"/>
                          <a:ea typeface="+mn-ea"/>
                          <a:cs typeface="+mn-cs"/>
                        </a:rPr>
                        <a:t>(</a:t>
                      </a:r>
                      <a:r>
                        <a:rPr kumimoji="0" lang="el-GR" altLang="zh-CN" sz="1800" kern="1200" dirty="0">
                          <a:solidFill>
                            <a:schemeClr val="tx1"/>
                          </a:solidFill>
                          <a:latin typeface="+mj-ea"/>
                          <a:ea typeface="+mn-ea"/>
                          <a:cs typeface="+mn-cs"/>
                        </a:rPr>
                        <a:t>α</a:t>
                      </a:r>
                      <a:r>
                        <a:rPr kumimoji="0" lang="en-US" altLang="zh-CN" sz="1800" kern="1200" baseline="-25000" dirty="0">
                          <a:solidFill>
                            <a:schemeClr val="tx1"/>
                          </a:solidFill>
                          <a:latin typeface="+mj-ea"/>
                          <a:ea typeface="+mn-ea"/>
                          <a:cs typeface="+mn-cs"/>
                        </a:rPr>
                        <a:t>a </a:t>
                      </a:r>
                      <a:r>
                        <a:rPr kumimoji="0" lang="en-US" altLang="zh-CN" sz="1800" kern="1200" baseline="0" dirty="0">
                          <a:solidFill>
                            <a:schemeClr val="tx1"/>
                          </a:solidFill>
                          <a:latin typeface="+mj-ea"/>
                          <a:ea typeface="+mn-ea"/>
                          <a:cs typeface="+mn-cs"/>
                        </a:rPr>
                        <a:t>,</a:t>
                      </a:r>
                      <a:r>
                        <a:rPr kumimoji="0" lang="el-GR" altLang="zh-CN" sz="1800" kern="1200" dirty="0">
                          <a:solidFill>
                            <a:schemeClr val="tx1"/>
                          </a:solidFill>
                          <a:latin typeface="+mj-ea"/>
                          <a:ea typeface="+mn-ea"/>
                          <a:cs typeface="+mn-cs"/>
                        </a:rPr>
                        <a:t> ω</a:t>
                      </a:r>
                      <a:r>
                        <a:rPr kumimoji="0" lang="en-US" altLang="zh-CN" sz="1800" kern="1200" baseline="-25000" dirty="0">
                          <a:solidFill>
                            <a:schemeClr val="tx1"/>
                          </a:solidFill>
                          <a:latin typeface="+mj-ea"/>
                          <a:ea typeface="+mn-ea"/>
                          <a:cs typeface="+mn-cs"/>
                        </a:rPr>
                        <a:t>j</a:t>
                      </a:r>
                      <a:r>
                        <a:rPr kumimoji="0" lang="en-US" altLang="zh-CN" sz="1800" kern="1200" dirty="0">
                          <a:solidFill>
                            <a:schemeClr val="tx1"/>
                          </a:solidFill>
                          <a:latin typeface="+mj-ea"/>
                          <a:ea typeface="+mn-ea"/>
                          <a:cs typeface="+mn-cs"/>
                        </a:rPr>
                        <a:t>)</a:t>
                      </a:r>
                      <a:endParaRPr lang="zh-CN" altLang="en-US" dirty="0"/>
                    </a:p>
                  </a:txBody>
                  <a:tcPr/>
                </a:tc>
                <a:tc>
                  <a:txBody>
                    <a:bodyPr/>
                    <a:lstStyle/>
                    <a:p>
                      <a:r>
                        <a:rPr lang="en-US" altLang="zh-CN" dirty="0"/>
                        <a:t>…</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l-GR" altLang="zh-CN" sz="1800" kern="1200" dirty="0">
                          <a:solidFill>
                            <a:schemeClr val="tx1"/>
                          </a:solidFill>
                          <a:latin typeface="+mj-ea"/>
                          <a:ea typeface="+mn-ea"/>
                          <a:cs typeface="+mn-cs"/>
                        </a:rPr>
                        <a:t>λ</a:t>
                      </a:r>
                      <a:r>
                        <a:rPr kumimoji="0" lang="en-US" altLang="zh-CN" sz="1800" kern="1200" dirty="0">
                          <a:solidFill>
                            <a:schemeClr val="tx1"/>
                          </a:solidFill>
                          <a:latin typeface="+mj-ea"/>
                          <a:ea typeface="+mn-ea"/>
                          <a:cs typeface="+mn-cs"/>
                        </a:rPr>
                        <a:t>(</a:t>
                      </a:r>
                      <a:r>
                        <a:rPr kumimoji="0" lang="el-GR" altLang="zh-CN" sz="1800" kern="1200" dirty="0">
                          <a:solidFill>
                            <a:schemeClr val="tx1"/>
                          </a:solidFill>
                          <a:latin typeface="+mj-ea"/>
                          <a:ea typeface="+mn-ea"/>
                          <a:cs typeface="+mn-cs"/>
                        </a:rPr>
                        <a:t>α</a:t>
                      </a:r>
                      <a:r>
                        <a:rPr kumimoji="0" lang="en-US" altLang="zh-CN" sz="1800" kern="1200" baseline="-25000" dirty="0">
                          <a:solidFill>
                            <a:schemeClr val="tx1"/>
                          </a:solidFill>
                          <a:latin typeface="+mj-ea"/>
                          <a:ea typeface="+mn-ea"/>
                          <a:cs typeface="+mn-cs"/>
                        </a:rPr>
                        <a:t>a </a:t>
                      </a:r>
                      <a:r>
                        <a:rPr kumimoji="0" lang="en-US" altLang="zh-CN" sz="1800" kern="1200" baseline="0" dirty="0">
                          <a:solidFill>
                            <a:schemeClr val="tx1"/>
                          </a:solidFill>
                          <a:latin typeface="+mj-ea"/>
                          <a:ea typeface="+mn-ea"/>
                          <a:cs typeface="+mn-cs"/>
                        </a:rPr>
                        <a:t>,</a:t>
                      </a:r>
                      <a:r>
                        <a:rPr kumimoji="0" lang="el-GR" altLang="zh-CN" sz="1800" kern="1200" dirty="0">
                          <a:solidFill>
                            <a:schemeClr val="tx1"/>
                          </a:solidFill>
                          <a:latin typeface="+mj-ea"/>
                          <a:ea typeface="+mn-ea"/>
                          <a:cs typeface="+mn-cs"/>
                        </a:rPr>
                        <a:t> ω</a:t>
                      </a:r>
                      <a:r>
                        <a:rPr kumimoji="0" lang="en-US" altLang="zh-CN" sz="1800" kern="1200" baseline="-25000" dirty="0">
                          <a:solidFill>
                            <a:schemeClr val="tx1"/>
                          </a:solidFill>
                          <a:latin typeface="+mj-ea"/>
                          <a:ea typeface="+mn-ea"/>
                          <a:cs typeface="+mn-cs"/>
                        </a:rPr>
                        <a:t>c</a:t>
                      </a:r>
                      <a:r>
                        <a:rPr kumimoji="0" lang="en-US" altLang="zh-CN" sz="1800" kern="1200" dirty="0">
                          <a:solidFill>
                            <a:schemeClr val="tx1"/>
                          </a:solidFill>
                          <a:latin typeface="+mj-ea"/>
                          <a:ea typeface="+mn-ea"/>
                          <a:cs typeface="+mn-cs"/>
                        </a:rPr>
                        <a:t>)</a:t>
                      </a:r>
                      <a:endParaRPr lang="zh-CN" altLang="en-US" dirty="0"/>
                    </a:p>
                  </a:txBody>
                  <a:tcPr/>
                </a:tc>
                <a:extLst>
                  <a:ext uri="{0D108BD9-81ED-4DB2-BD59-A6C34878D82A}">
                    <a16:rowId xmlns:a16="http://schemas.microsoft.com/office/drawing/2014/main" val="10006"/>
                  </a:ext>
                </a:extLst>
              </a:tr>
            </a:tbl>
          </a:graphicData>
        </a:graphic>
      </p:graphicFrame>
      <p:sp>
        <p:nvSpPr>
          <p:cNvPr id="24" name="矩形 23"/>
          <p:cNvSpPr/>
          <p:nvPr/>
        </p:nvSpPr>
        <p:spPr>
          <a:xfrm rot="20460241">
            <a:off x="484232" y="2925541"/>
            <a:ext cx="1428744" cy="830997"/>
          </a:xfrm>
          <a:prstGeom prst="rect">
            <a:avLst/>
          </a:prstGeom>
        </p:spPr>
        <p:txBody>
          <a:bodyPr wrap="square">
            <a:spAutoFit/>
          </a:bodyPr>
          <a:lstStyle/>
          <a:p>
            <a:pPr algn="ctr"/>
            <a:r>
              <a:rPr lang="zh-CN" altLang="en-US" sz="2400" dirty="0">
                <a:solidFill>
                  <a:srgbClr val="FF33CC"/>
                </a:solidFill>
                <a:latin typeface="新宋体" pitchFamily="49" charset="-122"/>
                <a:ea typeface="新宋体" pitchFamily="49" charset="-122"/>
              </a:rPr>
              <a:t>后验概率加权和</a:t>
            </a:r>
          </a:p>
        </p:txBody>
      </p:sp>
    </p:spTree>
    <p:extLst>
      <p:ext uri="{BB962C8B-B14F-4D97-AF65-F5344CB8AC3E}">
        <p14:creationId xmlns:p14="http://schemas.microsoft.com/office/powerpoint/2010/main" val="15915992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25</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13.2 </a:t>
            </a:r>
            <a:r>
              <a:rPr lang="zh-CN" altLang="zh-CN" dirty="0"/>
              <a:t>最小</a:t>
            </a:r>
            <a:r>
              <a:rPr lang="zh-CN" altLang="en-US" dirty="0"/>
              <a:t>风险</a:t>
            </a:r>
            <a:r>
              <a:rPr lang="zh-CN" altLang="zh-CN" dirty="0"/>
              <a:t>贝叶斯决策</a:t>
            </a:r>
          </a:p>
        </p:txBody>
      </p:sp>
      <p:sp>
        <p:nvSpPr>
          <p:cNvPr id="42" name="矩形 41"/>
          <p:cNvSpPr/>
          <p:nvPr/>
        </p:nvSpPr>
        <p:spPr>
          <a:xfrm>
            <a:off x="304132" y="1177588"/>
            <a:ext cx="3416320"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最小风险贝叶斯决策</a:t>
            </a:r>
            <a:endParaRPr lang="zh-CN" altLang="en-US" sz="2800" b="1" dirty="0">
              <a:solidFill>
                <a:srgbClr val="FF0000"/>
              </a:solidFill>
              <a:ea typeface="黑体" panose="02010609060101010101" pitchFamily="49" charset="-122"/>
            </a:endParaRPr>
          </a:p>
        </p:txBody>
      </p:sp>
      <p:sp>
        <p:nvSpPr>
          <p:cNvPr id="13" name="内容占位符 2"/>
          <p:cNvSpPr>
            <a:spLocks noGrp="1"/>
          </p:cNvSpPr>
          <p:nvPr>
            <p:ph idx="1"/>
          </p:nvPr>
        </p:nvSpPr>
        <p:spPr>
          <a:xfrm>
            <a:off x="407368" y="2936513"/>
            <a:ext cx="11480500" cy="1284575"/>
          </a:xfrm>
        </p:spPr>
        <p:txBody>
          <a:bodyPr/>
          <a:lstStyle/>
          <a:p>
            <a:pPr>
              <a:lnSpc>
                <a:spcPct val="130000"/>
              </a:lnSpc>
              <a:buClrTx/>
              <a:buFont typeface="Arial" panose="020B0604020202020204" pitchFamily="34" charset="0"/>
              <a:buChar char="•"/>
            </a:pPr>
            <a:r>
              <a:rPr lang="zh-CN" altLang="en-US" sz="2600" dirty="0">
                <a:latin typeface="Arial" panose="020B0604020202020204" pitchFamily="34" charset="0"/>
                <a:ea typeface="黑体" panose="02010609060101010101" pitchFamily="49" charset="-122"/>
              </a:rPr>
              <a:t>在决策论中</a:t>
            </a:r>
            <a:r>
              <a:rPr lang="zh-CN" altLang="en-US" sz="2600" dirty="0">
                <a:solidFill>
                  <a:srgbClr val="6600CC"/>
                </a:solidFill>
                <a:latin typeface="Arial" panose="020B0604020202020204" pitchFamily="34" charset="0"/>
                <a:ea typeface="黑体" panose="02010609060101010101" pitchFamily="49" charset="-122"/>
              </a:rPr>
              <a:t>条件风险</a:t>
            </a:r>
            <a:r>
              <a:rPr lang="en-US" altLang="zh-CN" sz="2600" i="1" dirty="0">
                <a:solidFill>
                  <a:srgbClr val="6600CC"/>
                </a:solidFill>
                <a:latin typeface="Arial" panose="020B0604020202020204" pitchFamily="34" charset="0"/>
                <a:ea typeface="黑体" panose="02010609060101010101" pitchFamily="49" charset="-122"/>
              </a:rPr>
              <a:t>R(</a:t>
            </a:r>
            <a:r>
              <a:rPr lang="el-GR" altLang="zh-CN" sz="2600" i="1" dirty="0">
                <a:solidFill>
                  <a:srgbClr val="6600CC"/>
                </a:solidFill>
                <a:latin typeface="Arial" panose="020B0604020202020204" pitchFamily="34" charset="0"/>
                <a:ea typeface="黑体" panose="02010609060101010101" pitchFamily="49" charset="-122"/>
              </a:rPr>
              <a:t>α</a:t>
            </a:r>
            <a:r>
              <a:rPr lang="en-US" altLang="zh-CN" sz="2600" i="1" baseline="-25000" dirty="0" err="1">
                <a:solidFill>
                  <a:srgbClr val="6600CC"/>
                </a:solidFill>
                <a:latin typeface="Arial" panose="020B0604020202020204" pitchFamily="34" charset="0"/>
                <a:ea typeface="黑体" panose="02010609060101010101" pitchFamily="49" charset="-122"/>
              </a:rPr>
              <a:t>i</a:t>
            </a:r>
            <a:r>
              <a:rPr lang="en-US" altLang="zh-CN" sz="2600" i="1" dirty="0" err="1">
                <a:solidFill>
                  <a:srgbClr val="6600CC"/>
                </a:solidFill>
                <a:latin typeface="Arial" panose="020B0604020202020204" pitchFamily="34" charset="0"/>
                <a:ea typeface="黑体" panose="02010609060101010101" pitchFamily="49" charset="-122"/>
              </a:rPr>
              <a:t>|X</a:t>
            </a:r>
            <a:r>
              <a:rPr lang="en-US" altLang="zh-CN" sz="2600" i="1" dirty="0">
                <a:solidFill>
                  <a:srgbClr val="6600CC"/>
                </a:solidFill>
                <a:latin typeface="Arial" panose="020B0604020202020204" pitchFamily="34" charset="0"/>
                <a:ea typeface="黑体" panose="02010609060101010101" pitchFamily="49" charset="-122"/>
              </a:rPr>
              <a:t>)</a:t>
            </a:r>
            <a:r>
              <a:rPr lang="zh-CN" altLang="en-US" sz="2600" i="1" dirty="0">
                <a:latin typeface="Arial" panose="020B0604020202020204" pitchFamily="34" charset="0"/>
                <a:ea typeface="黑体" panose="02010609060101010101" pitchFamily="49" charset="-122"/>
              </a:rPr>
              <a:t> </a:t>
            </a:r>
            <a:r>
              <a:rPr lang="zh-CN" altLang="en-US" sz="2600" dirty="0">
                <a:latin typeface="Arial" panose="020B0604020202020204" pitchFamily="34" charset="0"/>
                <a:ea typeface="黑体" panose="02010609060101010101" pitchFamily="49" charset="-122"/>
              </a:rPr>
              <a:t>即</a:t>
            </a:r>
            <a:r>
              <a:rPr lang="en-US" altLang="zh-CN" sz="2600" i="1" dirty="0">
                <a:latin typeface="Arial" panose="020B0604020202020204" pitchFamily="34" charset="0"/>
                <a:ea typeface="黑体" panose="02010609060101010101" pitchFamily="49" charset="-122"/>
              </a:rPr>
              <a:t>X</a:t>
            </a:r>
            <a:r>
              <a:rPr lang="zh-CN" altLang="en-US" sz="2600" dirty="0">
                <a:latin typeface="Arial" panose="020B0604020202020204" pitchFamily="34" charset="0"/>
                <a:ea typeface="黑体" panose="02010609060101010101" pitchFamily="49" charset="-122"/>
              </a:rPr>
              <a:t>被判为</a:t>
            </a:r>
            <a:r>
              <a:rPr lang="el-GR" altLang="zh-CN" sz="2600" i="1" dirty="0">
                <a:latin typeface="Arial" panose="020B0604020202020204" pitchFamily="34" charset="0"/>
                <a:ea typeface="黑体" panose="02010609060101010101" pitchFamily="49" charset="-122"/>
              </a:rPr>
              <a:t>ω</a:t>
            </a:r>
            <a:r>
              <a:rPr lang="en-US" altLang="zh-CN" sz="2600" i="1" baseline="-25000" dirty="0" err="1">
                <a:latin typeface="Arial" panose="020B0604020202020204" pitchFamily="34" charset="0"/>
                <a:ea typeface="黑体" panose="02010609060101010101" pitchFamily="49" charset="-122"/>
              </a:rPr>
              <a:t>i</a:t>
            </a:r>
            <a:r>
              <a:rPr lang="zh-CN" altLang="en-US" sz="2600" dirty="0">
                <a:latin typeface="Arial" panose="020B0604020202020204" pitchFamily="34" charset="0"/>
                <a:ea typeface="黑体" panose="02010609060101010101" pitchFamily="49" charset="-122"/>
              </a:rPr>
              <a:t>类时损失的均值。</a:t>
            </a:r>
            <a:endParaRPr lang="en-US" altLang="zh-CN" sz="2600" dirty="0">
              <a:latin typeface="Arial" panose="020B0604020202020204" pitchFamily="34" charset="0"/>
              <a:ea typeface="黑体" panose="02010609060101010101" pitchFamily="49" charset="-122"/>
            </a:endParaRPr>
          </a:p>
          <a:p>
            <a:pPr>
              <a:lnSpc>
                <a:spcPct val="130000"/>
              </a:lnSpc>
              <a:buClrTx/>
              <a:buFont typeface="Arial" panose="020B0604020202020204" pitchFamily="34" charset="0"/>
              <a:buChar char="•"/>
            </a:pPr>
            <a:r>
              <a:rPr lang="zh-CN" altLang="en-US" sz="2600" dirty="0">
                <a:latin typeface="Arial" panose="020B0604020202020204" pitchFamily="34" charset="0"/>
                <a:ea typeface="黑体" panose="02010609060101010101" pitchFamily="49" charset="-122"/>
              </a:rPr>
              <a:t>采取不同决策</a:t>
            </a:r>
            <a:r>
              <a:rPr lang="el-GR" altLang="zh-CN" sz="2600" i="1" dirty="0">
                <a:latin typeface="Arial" panose="020B0604020202020204" pitchFamily="34" charset="0"/>
                <a:ea typeface="黑体" panose="02010609060101010101" pitchFamily="49" charset="-122"/>
              </a:rPr>
              <a:t>α</a:t>
            </a:r>
            <a:r>
              <a:rPr lang="en-US" altLang="zh-CN" sz="2600" i="1" baseline="-25000" dirty="0" err="1">
                <a:latin typeface="Arial" panose="020B0604020202020204" pitchFamily="34" charset="0"/>
                <a:ea typeface="黑体" panose="02010609060101010101" pitchFamily="49" charset="-122"/>
              </a:rPr>
              <a:t>i</a:t>
            </a:r>
            <a:r>
              <a:rPr lang="zh-CN" altLang="en-US" sz="2600" dirty="0">
                <a:latin typeface="Arial" panose="020B0604020202020204" pitchFamily="34" charset="0"/>
                <a:ea typeface="黑体" panose="02010609060101010101" pitchFamily="49" charset="-122"/>
              </a:rPr>
              <a:t>，</a:t>
            </a:r>
            <a:r>
              <a:rPr lang="en-US" altLang="zh-CN" sz="2600" baseline="-25000" dirty="0">
                <a:latin typeface="Arial" panose="020B0604020202020204" pitchFamily="34" charset="0"/>
                <a:ea typeface="黑体" panose="02010609060101010101" pitchFamily="49" charset="-122"/>
              </a:rPr>
              <a:t> </a:t>
            </a:r>
            <a:r>
              <a:rPr lang="zh-CN" altLang="en-US" sz="2600" dirty="0">
                <a:latin typeface="Arial" panose="020B0604020202020204" pitchFamily="34" charset="0"/>
                <a:ea typeface="黑体" panose="02010609060101010101" pitchFamily="49" charset="-122"/>
              </a:rPr>
              <a:t>其条件风险</a:t>
            </a:r>
            <a:r>
              <a:rPr lang="en-US" altLang="zh-CN" sz="2600" i="1" dirty="0">
                <a:latin typeface="Arial" panose="020B0604020202020204" pitchFamily="34" charset="0"/>
                <a:ea typeface="黑体" panose="02010609060101010101" pitchFamily="49" charset="-122"/>
              </a:rPr>
              <a:t>R(</a:t>
            </a:r>
            <a:r>
              <a:rPr lang="el-GR" altLang="zh-CN" sz="2600" i="1" dirty="0">
                <a:latin typeface="Arial" panose="020B0604020202020204" pitchFamily="34" charset="0"/>
                <a:ea typeface="黑体" panose="02010609060101010101" pitchFamily="49" charset="-122"/>
              </a:rPr>
              <a:t>α</a:t>
            </a:r>
            <a:r>
              <a:rPr lang="en-US" altLang="zh-CN" sz="2600" i="1" baseline="-25000" dirty="0" err="1">
                <a:latin typeface="Arial" panose="020B0604020202020204" pitchFamily="34" charset="0"/>
                <a:ea typeface="黑体" panose="02010609060101010101" pitchFamily="49" charset="-122"/>
              </a:rPr>
              <a:t>i</a:t>
            </a:r>
            <a:r>
              <a:rPr lang="en-US" altLang="zh-CN" sz="2600" i="1" dirty="0" err="1">
                <a:latin typeface="Arial" panose="020B0604020202020204" pitchFamily="34" charset="0"/>
                <a:ea typeface="黑体" panose="02010609060101010101" pitchFamily="49" charset="-122"/>
              </a:rPr>
              <a:t>|X</a:t>
            </a:r>
            <a:r>
              <a:rPr lang="en-US" altLang="zh-CN" sz="2600" i="1" dirty="0">
                <a:latin typeface="Arial" panose="020B0604020202020204" pitchFamily="34" charset="0"/>
                <a:ea typeface="黑体" panose="02010609060101010101" pitchFamily="49" charset="-122"/>
              </a:rPr>
              <a:t>)</a:t>
            </a:r>
            <a:r>
              <a:rPr lang="zh-CN" altLang="en-US" sz="2600" dirty="0">
                <a:latin typeface="Arial" panose="020B0604020202020204" pitchFamily="34" charset="0"/>
                <a:ea typeface="黑体" panose="02010609060101010101" pitchFamily="49" charset="-122"/>
              </a:rPr>
              <a:t>的大小是不同的。</a:t>
            </a:r>
            <a:endParaRPr lang="en-US" altLang="zh-CN" sz="2600" dirty="0">
              <a:latin typeface="Arial" panose="020B0604020202020204" pitchFamily="34" charset="0"/>
              <a:ea typeface="黑体" panose="02010609060101010101" pitchFamily="49" charset="-122"/>
            </a:endParaRPr>
          </a:p>
        </p:txBody>
      </p:sp>
      <p:graphicFrame>
        <p:nvGraphicFramePr>
          <p:cNvPr id="14" name="Object 2"/>
          <p:cNvGraphicFramePr>
            <a:graphicFrameLocks noChangeAspect="1"/>
          </p:cNvGraphicFramePr>
          <p:nvPr>
            <p:extLst>
              <p:ext uri="{D42A27DB-BD31-4B8C-83A1-F6EECF244321}">
                <p14:modId xmlns:p14="http://schemas.microsoft.com/office/powerpoint/2010/main" val="2970248385"/>
              </p:ext>
            </p:extLst>
          </p:nvPr>
        </p:nvGraphicFramePr>
        <p:xfrm>
          <a:off x="323951" y="2064395"/>
          <a:ext cx="9717088" cy="644525"/>
        </p:xfrm>
        <a:graphic>
          <a:graphicData uri="http://schemas.openxmlformats.org/presentationml/2006/ole">
            <mc:AlternateContent xmlns:mc="http://schemas.openxmlformats.org/markup-compatibility/2006">
              <mc:Choice xmlns:v="urn:schemas-microsoft-com:vml" Requires="v">
                <p:oleObj spid="_x0000_s19562" name="Equation" r:id="rId4" imgW="4419360" imgH="291960" progId="Equation.DSMT4">
                  <p:embed/>
                </p:oleObj>
              </mc:Choice>
              <mc:Fallback>
                <p:oleObj name="Equation" r:id="rId4" imgW="4419360" imgH="291960" progId="Equation.DSMT4">
                  <p:embed/>
                  <p:pic>
                    <p:nvPicPr>
                      <p:cNvPr id="0" name="Picture 10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951" y="2064395"/>
                        <a:ext cx="9717088" cy="64452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91144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wipe(down)">
                                      <p:cBhvr>
                                        <p:cTn id="7" dur="500"/>
                                        <p:tgtEl>
                                          <p:spTgt spid="1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allAtOnce"/>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26</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13.2 </a:t>
            </a:r>
            <a:r>
              <a:rPr lang="zh-CN" altLang="zh-CN" dirty="0"/>
              <a:t>最小</a:t>
            </a:r>
            <a:r>
              <a:rPr lang="zh-CN" altLang="en-US" dirty="0"/>
              <a:t>风险</a:t>
            </a:r>
            <a:r>
              <a:rPr lang="zh-CN" altLang="zh-CN" dirty="0"/>
              <a:t>贝叶斯决策</a:t>
            </a:r>
          </a:p>
        </p:txBody>
      </p:sp>
      <p:sp>
        <p:nvSpPr>
          <p:cNvPr id="42" name="矩形 41"/>
          <p:cNvSpPr/>
          <p:nvPr/>
        </p:nvSpPr>
        <p:spPr>
          <a:xfrm>
            <a:off x="304132" y="1177588"/>
            <a:ext cx="4493538"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最小风险贝叶斯决策的步骤</a:t>
            </a:r>
            <a:endParaRPr lang="zh-CN" altLang="en-US" sz="2800" b="1" dirty="0">
              <a:solidFill>
                <a:srgbClr val="FF0000"/>
              </a:solidFill>
              <a:ea typeface="黑体" panose="02010609060101010101" pitchFamily="49" charset="-122"/>
            </a:endParaRPr>
          </a:p>
        </p:txBody>
      </p:sp>
      <p:graphicFrame>
        <p:nvGraphicFramePr>
          <p:cNvPr id="11" name="Object 1028"/>
          <p:cNvGraphicFramePr>
            <a:graphicFrameLocks noChangeAspect="1"/>
          </p:cNvGraphicFramePr>
          <p:nvPr>
            <p:extLst>
              <p:ext uri="{D42A27DB-BD31-4B8C-83A1-F6EECF244321}">
                <p14:modId xmlns:p14="http://schemas.microsoft.com/office/powerpoint/2010/main" val="3909022106"/>
              </p:ext>
            </p:extLst>
          </p:nvPr>
        </p:nvGraphicFramePr>
        <p:xfrm>
          <a:off x="316534" y="2069972"/>
          <a:ext cx="11468098" cy="491838"/>
        </p:xfrm>
        <a:graphic>
          <a:graphicData uri="http://schemas.openxmlformats.org/presentationml/2006/ole">
            <mc:AlternateContent xmlns:mc="http://schemas.openxmlformats.org/markup-compatibility/2006">
              <mc:Choice xmlns:v="urn:schemas-microsoft-com:vml" Requires="v">
                <p:oleObj spid="_x0000_s20791" name="Equation" r:id="rId4" imgW="5613120" imgH="241200" progId="Equation.DSMT4">
                  <p:embed/>
                </p:oleObj>
              </mc:Choice>
              <mc:Fallback>
                <p:oleObj name="Equation" r:id="rId4" imgW="5613120" imgH="241200" progId="Equation.DSMT4">
                  <p:embed/>
                  <p:pic>
                    <p:nvPicPr>
                      <p:cNvPr id="0" name="Picture 29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6534" y="2069972"/>
                        <a:ext cx="11468098" cy="491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3"/>
          <p:cNvGraphicFramePr>
            <a:graphicFrameLocks noChangeAspect="1"/>
          </p:cNvGraphicFramePr>
          <p:nvPr>
            <p:extLst>
              <p:ext uri="{D42A27DB-BD31-4B8C-83A1-F6EECF244321}">
                <p14:modId xmlns:p14="http://schemas.microsoft.com/office/powerpoint/2010/main" val="4077291062"/>
              </p:ext>
            </p:extLst>
          </p:nvPr>
        </p:nvGraphicFramePr>
        <p:xfrm>
          <a:off x="316534" y="2717977"/>
          <a:ext cx="8253413" cy="1371600"/>
        </p:xfrm>
        <a:graphic>
          <a:graphicData uri="http://schemas.openxmlformats.org/presentationml/2006/ole">
            <mc:AlternateContent xmlns:mc="http://schemas.openxmlformats.org/markup-compatibility/2006">
              <mc:Choice xmlns:v="urn:schemas-microsoft-com:vml" Requires="v">
                <p:oleObj spid="_x0000_s20792" name="Equation" r:id="rId6" imgW="4127400" imgH="685800" progId="Equation.DSMT4">
                  <p:embed/>
                </p:oleObj>
              </mc:Choice>
              <mc:Fallback>
                <p:oleObj name="Equation" r:id="rId6" imgW="4127400" imgH="685800" progId="Equation.DSMT4">
                  <p:embed/>
                  <p:pic>
                    <p:nvPicPr>
                      <p:cNvPr id="0" name="Picture 30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6534" y="2717977"/>
                        <a:ext cx="8253413"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4"/>
          <p:cNvGraphicFramePr>
            <a:graphicFrameLocks noChangeAspect="1"/>
          </p:cNvGraphicFramePr>
          <p:nvPr>
            <p:extLst>
              <p:ext uri="{D42A27DB-BD31-4B8C-83A1-F6EECF244321}">
                <p14:modId xmlns:p14="http://schemas.microsoft.com/office/powerpoint/2010/main" val="2771839940"/>
              </p:ext>
            </p:extLst>
          </p:nvPr>
        </p:nvGraphicFramePr>
        <p:xfrm>
          <a:off x="404912" y="4313830"/>
          <a:ext cx="10996613" cy="1544637"/>
        </p:xfrm>
        <a:graphic>
          <a:graphicData uri="http://schemas.openxmlformats.org/presentationml/2006/ole">
            <mc:AlternateContent xmlns:mc="http://schemas.openxmlformats.org/markup-compatibility/2006">
              <mc:Choice xmlns:v="urn:schemas-microsoft-com:vml" Requires="v">
                <p:oleObj spid="_x0000_s20793" name="Equation" r:id="rId8" imgW="5511600" imgH="774360" progId="Equation.DSMT4">
                  <p:embed/>
                </p:oleObj>
              </mc:Choice>
              <mc:Fallback>
                <p:oleObj name="Equation" r:id="rId8" imgW="5511600" imgH="774360" progId="Equation.DSMT4">
                  <p:embed/>
                  <p:pic>
                    <p:nvPicPr>
                      <p:cNvPr id="0" name="Picture 30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4912" y="4313830"/>
                        <a:ext cx="10996613" cy="154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848910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27</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13.2 </a:t>
            </a:r>
            <a:r>
              <a:rPr lang="zh-CN" altLang="zh-CN" dirty="0"/>
              <a:t>最小</a:t>
            </a:r>
            <a:r>
              <a:rPr lang="zh-CN" altLang="en-US" dirty="0"/>
              <a:t>风险</a:t>
            </a:r>
            <a:r>
              <a:rPr lang="zh-CN" altLang="zh-CN" dirty="0"/>
              <a:t>贝叶斯决策</a:t>
            </a:r>
          </a:p>
        </p:txBody>
      </p:sp>
      <p:sp>
        <p:nvSpPr>
          <p:cNvPr id="42" name="矩形 41"/>
          <p:cNvSpPr/>
          <p:nvPr/>
        </p:nvSpPr>
        <p:spPr>
          <a:xfrm>
            <a:off x="304132" y="1177588"/>
            <a:ext cx="5929828"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两分类情况下的最小风险贝叶斯决策</a:t>
            </a:r>
            <a:endParaRPr lang="zh-CN" altLang="en-US" sz="2800" b="1" dirty="0">
              <a:solidFill>
                <a:srgbClr val="FF0000"/>
              </a:solidFill>
              <a:ea typeface="黑体" panose="02010609060101010101" pitchFamily="49" charset="-122"/>
            </a:endParaRPr>
          </a:p>
        </p:txBody>
      </p:sp>
      <p:sp>
        <p:nvSpPr>
          <p:cNvPr id="14" name="Rectangle 3"/>
          <p:cNvSpPr txBox="1">
            <a:spLocks noChangeArrowheads="1"/>
          </p:cNvSpPr>
          <p:nvPr/>
        </p:nvSpPr>
        <p:spPr bwMode="gray">
          <a:xfrm>
            <a:off x="592164" y="3221114"/>
            <a:ext cx="9824316" cy="60813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FontTx/>
              <a:buNone/>
            </a:pPr>
            <a:r>
              <a:rPr lang="zh-CN" altLang="en-US" sz="2200" kern="0" dirty="0">
                <a:latin typeface="+mj-ea"/>
                <a:ea typeface="+mj-ea"/>
              </a:rPr>
              <a:t>此时，最小风险贝叶斯决策为：若</a:t>
            </a:r>
            <a:r>
              <a:rPr lang="en-US" altLang="zh-CN" sz="2200" kern="0" dirty="0">
                <a:latin typeface="+mj-ea"/>
                <a:ea typeface="+mj-ea"/>
              </a:rPr>
              <a:t>R(</a:t>
            </a:r>
            <a:r>
              <a:rPr lang="el-GR" altLang="zh-CN" sz="2200" kern="0" dirty="0">
                <a:latin typeface="+mj-ea"/>
                <a:ea typeface="+mj-ea"/>
              </a:rPr>
              <a:t>α</a:t>
            </a:r>
            <a:r>
              <a:rPr lang="en-US" altLang="zh-CN" sz="2200" kern="0" baseline="-25000" dirty="0">
                <a:latin typeface="+mj-ea"/>
                <a:ea typeface="+mj-ea"/>
              </a:rPr>
              <a:t>1</a:t>
            </a:r>
            <a:r>
              <a:rPr lang="en-US" altLang="zh-CN" sz="2200" kern="0" dirty="0">
                <a:latin typeface="+mj-ea"/>
                <a:ea typeface="+mj-ea"/>
              </a:rPr>
              <a:t>|X)&lt; R(</a:t>
            </a:r>
            <a:r>
              <a:rPr lang="el-GR" altLang="zh-CN" sz="2200" kern="0" dirty="0">
                <a:latin typeface="+mj-ea"/>
                <a:ea typeface="+mj-ea"/>
              </a:rPr>
              <a:t>α</a:t>
            </a:r>
            <a:r>
              <a:rPr lang="en-US" altLang="zh-CN" sz="2200" kern="0" baseline="-25000" dirty="0">
                <a:latin typeface="+mj-ea"/>
                <a:ea typeface="+mj-ea"/>
              </a:rPr>
              <a:t>2</a:t>
            </a:r>
            <a:r>
              <a:rPr lang="en-US" altLang="zh-CN" sz="2200" kern="0" dirty="0">
                <a:latin typeface="+mj-ea"/>
                <a:ea typeface="+mj-ea"/>
              </a:rPr>
              <a:t>|X), </a:t>
            </a:r>
            <a:r>
              <a:rPr lang="zh-CN" altLang="en-US" sz="2200" kern="0" dirty="0">
                <a:latin typeface="+mj-ea"/>
                <a:ea typeface="+mj-ea"/>
              </a:rPr>
              <a:t>则</a:t>
            </a:r>
            <a:r>
              <a:rPr lang="en-US" altLang="zh-CN" sz="2200" kern="0" dirty="0">
                <a:latin typeface="+mj-ea"/>
                <a:ea typeface="+mj-ea"/>
              </a:rPr>
              <a:t>X</a:t>
            </a:r>
            <a:r>
              <a:rPr lang="zh-CN" altLang="en-US" sz="2200" kern="0" dirty="0">
                <a:latin typeface="+mj-ea"/>
                <a:ea typeface="+mj-ea"/>
              </a:rPr>
              <a:t>属于</a:t>
            </a:r>
            <a:r>
              <a:rPr lang="el-GR" altLang="zh-CN" sz="2200" kern="0" dirty="0">
                <a:latin typeface="+mj-ea"/>
                <a:ea typeface="+mj-ea"/>
              </a:rPr>
              <a:t>ω</a:t>
            </a:r>
            <a:r>
              <a:rPr lang="en-US" altLang="zh-CN" sz="2200" kern="0" baseline="-25000" dirty="0">
                <a:latin typeface="+mj-ea"/>
                <a:ea typeface="+mj-ea"/>
              </a:rPr>
              <a:t>1</a:t>
            </a:r>
            <a:r>
              <a:rPr lang="en-US" altLang="zh-CN" sz="2200" kern="0" dirty="0">
                <a:latin typeface="+mj-ea"/>
                <a:ea typeface="+mj-ea"/>
              </a:rPr>
              <a:t>, </a:t>
            </a:r>
            <a:r>
              <a:rPr lang="zh-CN" altLang="en-US" sz="2200" kern="0" dirty="0">
                <a:latin typeface="+mj-ea"/>
                <a:ea typeface="+mj-ea"/>
              </a:rPr>
              <a:t>否则属于</a:t>
            </a:r>
            <a:r>
              <a:rPr lang="el-GR" altLang="zh-CN" sz="2200" kern="0" dirty="0">
                <a:latin typeface="+mj-ea"/>
                <a:ea typeface="+mj-ea"/>
              </a:rPr>
              <a:t>ω</a:t>
            </a:r>
            <a:r>
              <a:rPr lang="en-US" altLang="zh-CN" sz="2200" kern="0" baseline="-25000" dirty="0">
                <a:latin typeface="+mj-ea"/>
                <a:ea typeface="+mj-ea"/>
              </a:rPr>
              <a:t>2</a:t>
            </a:r>
            <a:r>
              <a:rPr lang="zh-CN" altLang="en-US" sz="2200" kern="0" baseline="-25000" dirty="0">
                <a:latin typeface="+mj-ea"/>
                <a:ea typeface="+mj-ea"/>
              </a:rPr>
              <a:t>。</a:t>
            </a:r>
            <a:endParaRPr lang="en-US" altLang="zh-CN" sz="2200" kern="0" baseline="-25000" dirty="0">
              <a:latin typeface="+mj-ea"/>
              <a:ea typeface="+mj-ea"/>
            </a:endParaRPr>
          </a:p>
          <a:p>
            <a:endParaRPr lang="en-US" altLang="zh-CN" sz="2200" kern="0" dirty="0">
              <a:latin typeface="+mj-ea"/>
              <a:ea typeface="+mj-ea"/>
            </a:endParaRPr>
          </a:p>
        </p:txBody>
      </p:sp>
      <p:graphicFrame>
        <p:nvGraphicFramePr>
          <p:cNvPr id="17" name="Object 5"/>
          <p:cNvGraphicFramePr>
            <a:graphicFrameLocks noChangeAspect="1"/>
          </p:cNvGraphicFramePr>
          <p:nvPr>
            <p:extLst>
              <p:ext uri="{D42A27DB-BD31-4B8C-83A1-F6EECF244321}">
                <p14:modId xmlns:p14="http://schemas.microsoft.com/office/powerpoint/2010/main" val="1413435946"/>
              </p:ext>
            </p:extLst>
          </p:nvPr>
        </p:nvGraphicFramePr>
        <p:xfrm>
          <a:off x="438572" y="4684153"/>
          <a:ext cx="10713937" cy="1601983"/>
        </p:xfrm>
        <a:graphic>
          <a:graphicData uri="http://schemas.openxmlformats.org/presentationml/2006/ole">
            <mc:AlternateContent xmlns:mc="http://schemas.openxmlformats.org/markup-compatibility/2006">
              <mc:Choice xmlns:v="urn:schemas-microsoft-com:vml" Requires="v">
                <p:oleObj spid="_x0000_s21708" name="Equation" r:id="rId4" imgW="4609800" imgH="711000" progId="Equation.DSMT4">
                  <p:embed/>
                </p:oleObj>
              </mc:Choice>
              <mc:Fallback>
                <p:oleObj name="Equation" r:id="rId4" imgW="4609800" imgH="711000" progId="Equation.DSMT4">
                  <p:embed/>
                  <p:pic>
                    <p:nvPicPr>
                      <p:cNvPr id="0" name="Picture 19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8572" y="4684153"/>
                        <a:ext cx="10713937" cy="16019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6"/>
          <p:cNvGraphicFramePr>
            <a:graphicFrameLocks noChangeAspect="1"/>
          </p:cNvGraphicFramePr>
          <p:nvPr>
            <p:extLst>
              <p:ext uri="{D42A27DB-BD31-4B8C-83A1-F6EECF244321}">
                <p14:modId xmlns:p14="http://schemas.microsoft.com/office/powerpoint/2010/main" val="3989552251"/>
              </p:ext>
            </p:extLst>
          </p:nvPr>
        </p:nvGraphicFramePr>
        <p:xfrm>
          <a:off x="698426" y="1959152"/>
          <a:ext cx="6734175" cy="1019175"/>
        </p:xfrm>
        <a:graphic>
          <a:graphicData uri="http://schemas.openxmlformats.org/presentationml/2006/ole">
            <mc:AlternateContent xmlns:mc="http://schemas.openxmlformats.org/markup-compatibility/2006">
              <mc:Choice xmlns:v="urn:schemas-microsoft-com:vml" Requires="v">
                <p:oleObj spid="_x0000_s21709" name="Equation" r:id="rId6" imgW="3009900" imgH="508000" progId="Equation.DSMT4">
                  <p:embed/>
                </p:oleObj>
              </mc:Choice>
              <mc:Fallback>
                <p:oleObj name="Equation" r:id="rId6" imgW="3009900" imgH="508000" progId="Equation.DSMT4">
                  <p:embed/>
                  <p:pic>
                    <p:nvPicPr>
                      <p:cNvPr id="0" name="Picture 19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8426" y="1959152"/>
                        <a:ext cx="6734175"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p:cNvSpPr/>
          <p:nvPr/>
        </p:nvSpPr>
        <p:spPr>
          <a:xfrm>
            <a:off x="304132" y="4132785"/>
            <a:ext cx="7919156" cy="430887"/>
          </a:xfrm>
          <a:prstGeom prst="rect">
            <a:avLst/>
          </a:prstGeom>
        </p:spPr>
        <p:txBody>
          <a:bodyPr wrap="none">
            <a:spAutoFit/>
          </a:bodyPr>
          <a:lstStyle/>
          <a:p>
            <a:pPr marL="0" indent="0">
              <a:buNone/>
            </a:pPr>
            <a:r>
              <a:rPr lang="zh-CN" altLang="en-US" sz="2200" kern="0" dirty="0">
                <a:solidFill>
                  <a:srgbClr val="FF0000"/>
                </a:solidFill>
                <a:latin typeface="+mj-ea"/>
              </a:rPr>
              <a:t>最小风险贝叶斯决策的另两种形式：                                         </a:t>
            </a:r>
          </a:p>
        </p:txBody>
      </p:sp>
      <p:sp>
        <p:nvSpPr>
          <p:cNvPr id="5" name="矩形 4"/>
          <p:cNvSpPr/>
          <p:nvPr/>
        </p:nvSpPr>
        <p:spPr>
          <a:xfrm>
            <a:off x="407368" y="1851212"/>
            <a:ext cx="9865096" cy="2102107"/>
          </a:xfrm>
          <a:prstGeom prst="rect">
            <a:avLst/>
          </a:prstGeom>
          <a:ln w="28575">
            <a:solidFill>
              <a:srgbClr val="FF0000"/>
            </a:solidFill>
          </a:ln>
        </p:spPr>
        <p:txBody>
          <a:bodyPr wrap="square" rtlCol="0" anchor="ctr">
            <a:spAutoFit/>
          </a:bodyPr>
          <a:lstStyle/>
          <a:p>
            <a:pPr algn="ctr"/>
            <a:endParaRPr lang="zh-CN" altLang="en-US" sz="2400" kern="100" dirty="0">
              <a:ea typeface="宋体"/>
              <a:cs typeface="Times New Roman"/>
            </a:endParaRPr>
          </a:p>
        </p:txBody>
      </p:sp>
    </p:spTree>
    <p:extLst>
      <p:ext uri="{BB962C8B-B14F-4D97-AF65-F5344CB8AC3E}">
        <p14:creationId xmlns:p14="http://schemas.microsoft.com/office/powerpoint/2010/main" val="30550695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28</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13.2 </a:t>
            </a:r>
            <a:r>
              <a:rPr lang="zh-CN" altLang="zh-CN" dirty="0"/>
              <a:t>最小</a:t>
            </a:r>
            <a:r>
              <a:rPr lang="zh-CN" altLang="en-US" dirty="0"/>
              <a:t>风险</a:t>
            </a:r>
            <a:r>
              <a:rPr lang="zh-CN" altLang="zh-CN" dirty="0"/>
              <a:t>贝叶斯决策</a:t>
            </a:r>
          </a:p>
        </p:txBody>
      </p:sp>
      <p:sp>
        <p:nvSpPr>
          <p:cNvPr id="14" name="内容占位符 2"/>
          <p:cNvSpPr>
            <a:spLocks noGrp="1"/>
          </p:cNvSpPr>
          <p:nvPr>
            <p:ph idx="1"/>
          </p:nvPr>
        </p:nvSpPr>
        <p:spPr>
          <a:xfrm>
            <a:off x="406636" y="1125467"/>
            <a:ext cx="11594020" cy="2262817"/>
          </a:xfrm>
        </p:spPr>
        <p:txBody>
          <a:bodyPr/>
          <a:lstStyle/>
          <a:p>
            <a:pPr>
              <a:lnSpc>
                <a:spcPct val="140000"/>
              </a:lnSpc>
              <a:spcBef>
                <a:spcPts val="0"/>
              </a:spcBef>
              <a:buNone/>
            </a:pPr>
            <a:r>
              <a:rPr lang="zh-CN" altLang="en-US" sz="2400" dirty="0"/>
              <a:t>例</a:t>
            </a:r>
            <a:r>
              <a:rPr lang="en-US" altLang="zh-CN" sz="2400" dirty="0"/>
              <a:t>13.5 </a:t>
            </a:r>
            <a:r>
              <a:rPr lang="zh-CN" altLang="en-US" sz="2400" dirty="0"/>
              <a:t>已知先验概率</a:t>
            </a:r>
            <a:r>
              <a:rPr lang="en-US" altLang="zh-CN" sz="2400" dirty="0"/>
              <a:t>P(</a:t>
            </a:r>
            <a:r>
              <a:rPr lang="zh-CN" altLang="en-US" sz="2400" dirty="0"/>
              <a:t>导弹</a:t>
            </a:r>
            <a:r>
              <a:rPr lang="en-US" altLang="zh-CN" sz="2400" dirty="0"/>
              <a:t>)=0.2</a:t>
            </a:r>
            <a:r>
              <a:rPr lang="zh-CN" altLang="en-US" sz="2400" dirty="0"/>
              <a:t>，</a:t>
            </a:r>
            <a:r>
              <a:rPr lang="en-US" altLang="zh-CN" sz="2400" dirty="0"/>
              <a:t>P(</a:t>
            </a:r>
            <a:r>
              <a:rPr lang="zh-CN" altLang="en-US" sz="2400" dirty="0"/>
              <a:t>飞机</a:t>
            </a:r>
            <a:r>
              <a:rPr lang="en-US" altLang="zh-CN" sz="2400" dirty="0"/>
              <a:t>)=0.8</a:t>
            </a:r>
            <a:r>
              <a:rPr lang="zh-CN" altLang="en-US" sz="2400" dirty="0"/>
              <a:t>，概率密度函数</a:t>
            </a:r>
            <a:r>
              <a:rPr lang="en-US" altLang="zh-CN" sz="2400" dirty="0"/>
              <a:t>p(X|</a:t>
            </a:r>
            <a:r>
              <a:rPr lang="zh-CN" altLang="en-US" sz="2400" dirty="0">
                <a:ea typeface="黑体"/>
              </a:rPr>
              <a:t>导弹</a:t>
            </a:r>
            <a:r>
              <a:rPr lang="en-US" altLang="zh-CN" sz="2400" dirty="0"/>
              <a:t>)=0.2</a:t>
            </a:r>
            <a:r>
              <a:rPr lang="zh-CN" altLang="en-US" sz="2400" dirty="0"/>
              <a:t>，</a:t>
            </a:r>
            <a:r>
              <a:rPr lang="en-US" altLang="zh-CN" sz="2400" dirty="0"/>
              <a:t> p(X|</a:t>
            </a:r>
            <a:r>
              <a:rPr lang="zh-CN" altLang="en-US" sz="2400" dirty="0"/>
              <a:t>飞机</a:t>
            </a:r>
            <a:r>
              <a:rPr lang="en-US" altLang="zh-CN" sz="2400" dirty="0"/>
              <a:t>)=0.4</a:t>
            </a:r>
            <a:r>
              <a:rPr lang="zh-CN" altLang="en-US" sz="2400" dirty="0"/>
              <a:t>，决策表如右上所示，按最小风险贝叶斯决策分类。</a:t>
            </a:r>
            <a:endParaRPr lang="en-US" altLang="zh-CN" sz="2400" dirty="0"/>
          </a:p>
          <a:p>
            <a:pPr>
              <a:lnSpc>
                <a:spcPct val="140000"/>
              </a:lnSpc>
              <a:spcBef>
                <a:spcPts val="1200"/>
              </a:spcBef>
              <a:buNone/>
            </a:pPr>
            <a:r>
              <a:rPr lang="zh-CN" altLang="en-US" sz="2400" dirty="0"/>
              <a:t>解：后验概率</a:t>
            </a:r>
            <a:r>
              <a:rPr lang="en-US" altLang="zh-CN" sz="2400" dirty="0">
                <a:latin typeface="+mn-ea"/>
              </a:rPr>
              <a:t>P(</a:t>
            </a:r>
            <a:r>
              <a:rPr lang="zh-CN" altLang="en-US" sz="2400" dirty="0">
                <a:latin typeface="+mn-ea"/>
              </a:rPr>
              <a:t>飞机</a:t>
            </a:r>
            <a:r>
              <a:rPr lang="en-US" altLang="zh-CN" sz="2400" dirty="0">
                <a:latin typeface="+mn-ea"/>
              </a:rPr>
              <a:t>|X)=0.89</a:t>
            </a:r>
            <a:r>
              <a:rPr lang="zh-CN" altLang="en-US" sz="2400" dirty="0">
                <a:latin typeface="+mn-ea"/>
              </a:rPr>
              <a:t>，</a:t>
            </a:r>
            <a:r>
              <a:rPr lang="en-US" altLang="zh-CN" sz="2400" dirty="0">
                <a:latin typeface="+mn-ea"/>
              </a:rPr>
              <a:t>P(</a:t>
            </a:r>
            <a:r>
              <a:rPr lang="zh-CN" altLang="en-US" sz="2400" dirty="0">
                <a:latin typeface="+mn-ea"/>
              </a:rPr>
              <a:t>导弹</a:t>
            </a:r>
            <a:r>
              <a:rPr lang="en-US" altLang="zh-CN" sz="2400" dirty="0">
                <a:latin typeface="+mn-ea"/>
              </a:rPr>
              <a:t>|X)=0.11</a:t>
            </a:r>
            <a:r>
              <a:rPr lang="zh-CN" altLang="en-US" sz="2400" dirty="0">
                <a:latin typeface="+mn-ea"/>
              </a:rPr>
              <a:t>，具体计算过程见例</a:t>
            </a:r>
            <a:r>
              <a:rPr lang="en-US" altLang="zh-CN" sz="2400" dirty="0">
                <a:latin typeface="+mn-ea"/>
              </a:rPr>
              <a:t>13.4</a:t>
            </a:r>
            <a:r>
              <a:rPr lang="zh-CN" altLang="en-US" sz="2400" dirty="0">
                <a:latin typeface="+mn-ea"/>
              </a:rPr>
              <a:t>。 </a:t>
            </a:r>
            <a:endParaRPr lang="en-US" altLang="zh-CN" sz="2400" dirty="0">
              <a:latin typeface="+mn-ea"/>
            </a:endParaRPr>
          </a:p>
          <a:p>
            <a:pPr>
              <a:lnSpc>
                <a:spcPct val="140000"/>
              </a:lnSpc>
              <a:spcBef>
                <a:spcPts val="0"/>
              </a:spcBef>
              <a:buNone/>
            </a:pPr>
            <a:r>
              <a:rPr lang="zh-CN" altLang="en-US" sz="2400" dirty="0">
                <a:latin typeface="+mn-ea"/>
              </a:rPr>
              <a:t>   再计算条件风险</a:t>
            </a:r>
            <a:endParaRPr lang="en-US" altLang="zh-CN" sz="2400" dirty="0">
              <a:latin typeface="+mn-ea"/>
            </a:endParaRPr>
          </a:p>
          <a:p>
            <a:pPr>
              <a:lnSpc>
                <a:spcPct val="140000"/>
              </a:lnSpc>
              <a:spcBef>
                <a:spcPts val="0"/>
              </a:spcBef>
              <a:buNone/>
            </a:pPr>
            <a:endParaRPr lang="zh-CN" altLang="en-US" sz="2400" dirty="0"/>
          </a:p>
        </p:txBody>
      </p:sp>
      <p:graphicFrame>
        <p:nvGraphicFramePr>
          <p:cNvPr id="17" name="Object 2"/>
          <p:cNvGraphicFramePr>
            <a:graphicFrameLocks noChangeAspect="1"/>
          </p:cNvGraphicFramePr>
          <p:nvPr>
            <p:extLst>
              <p:ext uri="{D42A27DB-BD31-4B8C-83A1-F6EECF244321}">
                <p14:modId xmlns:p14="http://schemas.microsoft.com/office/powerpoint/2010/main" val="745243122"/>
              </p:ext>
            </p:extLst>
          </p:nvPr>
        </p:nvGraphicFramePr>
        <p:xfrm>
          <a:off x="551384" y="3388284"/>
          <a:ext cx="6976361" cy="2613258"/>
        </p:xfrm>
        <a:graphic>
          <a:graphicData uri="http://schemas.openxmlformats.org/presentationml/2006/ole">
            <mc:AlternateContent xmlns:mc="http://schemas.openxmlformats.org/markup-compatibility/2006">
              <mc:Choice xmlns:v="urn:schemas-microsoft-com:vml" Requires="v">
                <p:oleObj spid="_x0000_s22633" name="Equation" r:id="rId4" imgW="3009900" imgH="1257300" progId="Equation.DSMT4">
                  <p:embed/>
                </p:oleObj>
              </mc:Choice>
              <mc:Fallback>
                <p:oleObj name="Equation" r:id="rId4" imgW="3009900" imgH="1257300" progId="Equation.DSMT4">
                  <p:embed/>
                  <p:pic>
                    <p:nvPicPr>
                      <p:cNvPr id="0" name="Picture 10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1384" y="3388284"/>
                        <a:ext cx="6976361" cy="26132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表格 17"/>
          <p:cNvGraphicFramePr>
            <a:graphicFrameLocks noGrp="1"/>
          </p:cNvGraphicFramePr>
          <p:nvPr>
            <p:extLst>
              <p:ext uri="{D42A27DB-BD31-4B8C-83A1-F6EECF244321}">
                <p14:modId xmlns:p14="http://schemas.microsoft.com/office/powerpoint/2010/main" val="290454346"/>
              </p:ext>
            </p:extLst>
          </p:nvPr>
        </p:nvGraphicFramePr>
        <p:xfrm>
          <a:off x="7752891" y="3045295"/>
          <a:ext cx="4022619" cy="1564022"/>
        </p:xfrm>
        <a:graphic>
          <a:graphicData uri="http://schemas.openxmlformats.org/drawingml/2006/table">
            <a:tbl>
              <a:tblPr firstRow="1" bandRow="1">
                <a:tableStyleId>{5940675A-B579-460E-94D1-54222C63F5DA}</a:tableStyleId>
              </a:tblPr>
              <a:tblGrid>
                <a:gridCol w="1191887">
                  <a:extLst>
                    <a:ext uri="{9D8B030D-6E8A-4147-A177-3AD203B41FA5}">
                      <a16:colId xmlns:a16="http://schemas.microsoft.com/office/drawing/2014/main" val="20000"/>
                    </a:ext>
                  </a:extLst>
                </a:gridCol>
                <a:gridCol w="1489859">
                  <a:extLst>
                    <a:ext uri="{9D8B030D-6E8A-4147-A177-3AD203B41FA5}">
                      <a16:colId xmlns:a16="http://schemas.microsoft.com/office/drawing/2014/main" val="20001"/>
                    </a:ext>
                  </a:extLst>
                </a:gridCol>
                <a:gridCol w="1340873">
                  <a:extLst>
                    <a:ext uri="{9D8B030D-6E8A-4147-A177-3AD203B41FA5}">
                      <a16:colId xmlns:a16="http://schemas.microsoft.com/office/drawing/2014/main" val="20002"/>
                    </a:ext>
                  </a:extLst>
                </a:gridCol>
              </a:tblGrid>
              <a:tr h="386182">
                <a:tc>
                  <a:txBody>
                    <a:bodyPr/>
                    <a:lstStyle/>
                    <a:p>
                      <a:pPr algn="ctr"/>
                      <a:r>
                        <a:rPr kumimoji="0" lang="zh-CN" altLang="en-US" sz="1600" kern="1200" dirty="0">
                          <a:solidFill>
                            <a:schemeClr val="tx1"/>
                          </a:solidFill>
                          <a:latin typeface="+mj-ea"/>
                          <a:ea typeface="+mn-ea"/>
                          <a:cs typeface="+mn-cs"/>
                        </a:rPr>
                        <a:t>损失</a:t>
                      </a:r>
                      <a:r>
                        <a:rPr kumimoji="0" lang="el-GR" altLang="zh-CN" sz="1600" kern="1200" dirty="0">
                          <a:solidFill>
                            <a:schemeClr val="tx1"/>
                          </a:solidFill>
                          <a:latin typeface="+mj-ea"/>
                          <a:ea typeface="+mn-ea"/>
                          <a:cs typeface="+mn-cs"/>
                        </a:rPr>
                        <a:t>λ</a:t>
                      </a:r>
                      <a:endParaRPr lang="zh-CN" altLang="en-US" sz="1600" dirty="0">
                        <a:latin typeface="+mj-ea"/>
                        <a:ea typeface="+mj-ea"/>
                      </a:endParaRPr>
                    </a:p>
                  </a:txBody>
                  <a:tcPr anchor="ctr"/>
                </a:tc>
                <a:tc>
                  <a:txBody>
                    <a:bodyPr/>
                    <a:lstStyle/>
                    <a:p>
                      <a:pPr algn="ctr"/>
                      <a:r>
                        <a:rPr lang="en-US" altLang="zh-CN" sz="1600" dirty="0">
                          <a:latin typeface="+mj-ea"/>
                          <a:ea typeface="+mj-ea"/>
                        </a:rPr>
                        <a:t>X∈</a:t>
                      </a:r>
                      <a:r>
                        <a:rPr lang="el-GR" altLang="zh-CN" sz="1600" dirty="0">
                          <a:latin typeface="+mj-ea"/>
                          <a:ea typeface="+mj-ea"/>
                        </a:rPr>
                        <a:t>ω</a:t>
                      </a:r>
                      <a:r>
                        <a:rPr lang="en-US" altLang="zh-CN" sz="1600" baseline="-25000" dirty="0">
                          <a:latin typeface="+mj-ea"/>
                          <a:ea typeface="+mj-ea"/>
                        </a:rPr>
                        <a:t>1</a:t>
                      </a:r>
                      <a:r>
                        <a:rPr lang="zh-CN" altLang="en-US" sz="1600" baseline="0" dirty="0">
                          <a:latin typeface="+mj-ea"/>
                          <a:ea typeface="+mj-ea"/>
                        </a:rPr>
                        <a:t>导弹</a:t>
                      </a:r>
                      <a:endParaRPr lang="zh-CN" altLang="en-US" sz="1600" baseline="-25000" dirty="0">
                        <a:latin typeface="+mj-ea"/>
                        <a:ea typeface="+mj-ea"/>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mj-ea"/>
                          <a:ea typeface="+mj-ea"/>
                        </a:rPr>
                        <a:t>X∈</a:t>
                      </a:r>
                      <a:r>
                        <a:rPr lang="el-GR" altLang="zh-CN" sz="1600" dirty="0">
                          <a:latin typeface="+mj-ea"/>
                          <a:ea typeface="+mj-ea"/>
                        </a:rPr>
                        <a:t>ω</a:t>
                      </a:r>
                      <a:r>
                        <a:rPr lang="en-US" altLang="zh-CN" sz="1600" baseline="-25000" dirty="0">
                          <a:latin typeface="+mj-ea"/>
                          <a:ea typeface="+mj-ea"/>
                        </a:rPr>
                        <a:t>2</a:t>
                      </a:r>
                      <a:r>
                        <a:rPr lang="zh-CN" altLang="en-US" sz="1600" baseline="0" dirty="0">
                          <a:latin typeface="+mj-ea"/>
                          <a:ea typeface="+mj-ea"/>
                        </a:rPr>
                        <a:t>飞机</a:t>
                      </a:r>
                    </a:p>
                  </a:txBody>
                  <a:tcPr anchor="ctr"/>
                </a:tc>
                <a:extLst>
                  <a:ext uri="{0D108BD9-81ED-4DB2-BD59-A6C34878D82A}">
                    <a16:rowId xmlns:a16="http://schemas.microsoft.com/office/drawing/2014/main" val="10000"/>
                  </a:ext>
                </a:extLst>
              </a:tr>
              <a:tr h="598720">
                <a:tc>
                  <a:txBody>
                    <a:bodyPr/>
                    <a:lstStyle/>
                    <a:p>
                      <a:pPr algn="ctr"/>
                      <a:r>
                        <a:rPr lang="el-GR" altLang="zh-CN" sz="1600" dirty="0">
                          <a:latin typeface="+mj-ea"/>
                          <a:ea typeface="+mj-ea"/>
                        </a:rPr>
                        <a:t>α</a:t>
                      </a:r>
                      <a:r>
                        <a:rPr lang="en-US" altLang="zh-CN" sz="1600" baseline="-25000" dirty="0">
                          <a:latin typeface="+mj-ea"/>
                          <a:ea typeface="+mj-ea"/>
                        </a:rPr>
                        <a:t>1  </a:t>
                      </a:r>
                      <a:r>
                        <a:rPr lang="zh-CN" altLang="en-US" sz="1600" baseline="0" dirty="0">
                          <a:latin typeface="+mj-ea"/>
                          <a:ea typeface="+mj-ea"/>
                        </a:rPr>
                        <a:t>判定</a:t>
                      </a:r>
                      <a:r>
                        <a:rPr lang="en-US" altLang="zh-CN" sz="1600" baseline="0" dirty="0">
                          <a:latin typeface="+mj-ea"/>
                          <a:ea typeface="+mj-ea"/>
                        </a:rPr>
                        <a:t>X</a:t>
                      </a:r>
                      <a:r>
                        <a:rPr lang="zh-CN" altLang="en-US" sz="1600" baseline="0" dirty="0">
                          <a:latin typeface="+mj-ea"/>
                          <a:ea typeface="+mj-ea"/>
                        </a:rPr>
                        <a:t>为导弹</a:t>
                      </a:r>
                      <a:endParaRPr lang="zh-CN" altLang="en-US" sz="1600" baseline="-25000" dirty="0">
                        <a:latin typeface="+mj-ea"/>
                        <a:ea typeface="+mj-ea"/>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mj-ea"/>
                          <a:ea typeface="+mj-ea"/>
                        </a:rPr>
                        <a:t>0</a:t>
                      </a:r>
                      <a:endParaRPr lang="zh-CN" altLang="en-US" sz="1600" dirty="0">
                        <a:latin typeface="+mj-ea"/>
                        <a:ea typeface="+mj-ea"/>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mj-ea"/>
                          <a:ea typeface="+mj-ea"/>
                        </a:rPr>
                        <a:t>1</a:t>
                      </a:r>
                      <a:endParaRPr lang="zh-CN" altLang="en-US" sz="1600" dirty="0">
                        <a:latin typeface="+mj-ea"/>
                        <a:ea typeface="+mj-ea"/>
                      </a:endParaRPr>
                    </a:p>
                  </a:txBody>
                  <a:tcPr anchor="ctr"/>
                </a:tc>
                <a:extLst>
                  <a:ext uri="{0D108BD9-81ED-4DB2-BD59-A6C34878D82A}">
                    <a16:rowId xmlns:a16="http://schemas.microsoft.com/office/drawing/2014/main" val="10001"/>
                  </a:ext>
                </a:extLst>
              </a:tr>
              <a:tr h="57030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l-GR" altLang="zh-CN" sz="1600" dirty="0">
                          <a:latin typeface="+mj-ea"/>
                          <a:ea typeface="+mj-ea"/>
                        </a:rPr>
                        <a:t>α</a:t>
                      </a:r>
                      <a:r>
                        <a:rPr lang="en-US" altLang="zh-CN" sz="1600" baseline="-25000" dirty="0">
                          <a:latin typeface="+mj-ea"/>
                          <a:ea typeface="+mj-ea"/>
                        </a:rPr>
                        <a:t>2  </a:t>
                      </a:r>
                      <a:r>
                        <a:rPr lang="zh-CN" altLang="en-US" sz="1600" baseline="0" dirty="0">
                          <a:latin typeface="+mj-ea"/>
                          <a:ea typeface="+mj-ea"/>
                        </a:rPr>
                        <a:t>判定</a:t>
                      </a:r>
                      <a:r>
                        <a:rPr lang="en-US" altLang="zh-CN" sz="1600" baseline="0" dirty="0">
                          <a:latin typeface="+mj-ea"/>
                          <a:ea typeface="+mj-ea"/>
                        </a:rPr>
                        <a:t>X</a:t>
                      </a:r>
                      <a:r>
                        <a:rPr lang="zh-CN" altLang="en-US" sz="1600" baseline="0" dirty="0">
                          <a:latin typeface="+mj-ea"/>
                          <a:ea typeface="+mj-ea"/>
                        </a:rPr>
                        <a:t>为飞机</a:t>
                      </a:r>
                      <a:endParaRPr lang="zh-CN" altLang="en-US" sz="1600" baseline="-25000" dirty="0">
                        <a:latin typeface="+mj-ea"/>
                        <a:ea typeface="+mj-ea"/>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mj-ea"/>
                          <a:ea typeface="+mj-ea"/>
                        </a:rPr>
                        <a:t>9</a:t>
                      </a:r>
                      <a:endParaRPr lang="zh-CN" altLang="en-US" sz="1600" dirty="0">
                        <a:latin typeface="+mj-ea"/>
                        <a:ea typeface="+mj-ea"/>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mj-ea"/>
                          <a:ea typeface="+mj-ea"/>
                        </a:rPr>
                        <a:t>0</a:t>
                      </a:r>
                      <a:endParaRPr lang="zh-CN" altLang="en-US" sz="1600" dirty="0">
                        <a:latin typeface="+mj-ea"/>
                        <a:ea typeface="+mj-ea"/>
                      </a:endParaRP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812091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29</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13.2 </a:t>
            </a:r>
            <a:r>
              <a:rPr lang="zh-CN" altLang="zh-CN" dirty="0"/>
              <a:t>最小</a:t>
            </a:r>
            <a:r>
              <a:rPr lang="zh-CN" altLang="en-US" dirty="0"/>
              <a:t>风险</a:t>
            </a:r>
            <a:r>
              <a:rPr lang="zh-CN" altLang="zh-CN" dirty="0"/>
              <a:t>贝叶斯决策</a:t>
            </a:r>
          </a:p>
        </p:txBody>
      </p:sp>
      <p:sp>
        <p:nvSpPr>
          <p:cNvPr id="42" name="矩形 41"/>
          <p:cNvSpPr/>
          <p:nvPr/>
        </p:nvSpPr>
        <p:spPr>
          <a:xfrm>
            <a:off x="304132" y="1177588"/>
            <a:ext cx="12187952" cy="954107"/>
          </a:xfrm>
          <a:prstGeom prst="rect">
            <a:avLst/>
          </a:prstGeom>
        </p:spPr>
        <p:txBody>
          <a:bodyPr wrap="none">
            <a:spAutoFit/>
          </a:bodyPr>
          <a:lstStyle/>
          <a:p>
            <a:r>
              <a:rPr lang="zh-CN" altLang="en-US" sz="2800" b="1" dirty="0">
                <a:solidFill>
                  <a:srgbClr val="0000FF"/>
                </a:solidFill>
                <a:latin typeface="Arial" panose="020B0604020202020204" pitchFamily="34" charset="0"/>
              </a:rPr>
              <a:t>两种决策方法之间的关系：</a:t>
            </a:r>
            <a:r>
              <a:rPr lang="zh-CN" altLang="en-US" sz="2400" dirty="0">
                <a:solidFill>
                  <a:srgbClr val="C00000"/>
                </a:solidFill>
                <a:latin typeface="Arial" panose="020B0604020202020204" pitchFamily="34" charset="0"/>
                <a:ea typeface="黑体" panose="02010609060101010101" pitchFamily="49" charset="-122"/>
              </a:rPr>
              <a:t>基于最小错误率的决策是基于最小风险决策的一个特例。</a:t>
            </a:r>
          </a:p>
          <a:p>
            <a:endParaRPr lang="zh-CN" altLang="en-US" sz="2800" b="1" dirty="0">
              <a:solidFill>
                <a:srgbClr val="FF0000"/>
              </a:solidFill>
              <a:ea typeface="黑体" panose="02010609060101010101" pitchFamily="49" charset="-122"/>
            </a:endParaRPr>
          </a:p>
        </p:txBody>
      </p:sp>
      <p:sp>
        <p:nvSpPr>
          <p:cNvPr id="12" name="内容占位符 2"/>
          <p:cNvSpPr>
            <a:spLocks noGrp="1"/>
          </p:cNvSpPr>
          <p:nvPr>
            <p:ph idx="1"/>
          </p:nvPr>
        </p:nvSpPr>
        <p:spPr>
          <a:xfrm>
            <a:off x="321148" y="1928802"/>
            <a:ext cx="11399440" cy="2292286"/>
          </a:xfrm>
        </p:spPr>
        <p:txBody>
          <a:bodyPr/>
          <a:lstStyle/>
          <a:p>
            <a:pPr marL="0" indent="0">
              <a:lnSpc>
                <a:spcPct val="130000"/>
              </a:lnSpc>
              <a:spcBef>
                <a:spcPts val="0"/>
              </a:spcBef>
              <a:buNone/>
            </a:pPr>
            <a:r>
              <a:rPr lang="zh-CN" altLang="en-US" sz="2200" dirty="0">
                <a:latin typeface="Arial" panose="020B0604020202020204" pitchFamily="34" charset="0"/>
                <a:ea typeface="黑体" panose="02010609060101010101" pitchFamily="49" charset="-122"/>
              </a:rPr>
              <a:t>设损失函数为</a:t>
            </a:r>
          </a:p>
          <a:p>
            <a:pPr marL="0" indent="0">
              <a:lnSpc>
                <a:spcPct val="130000"/>
              </a:lnSpc>
              <a:spcBef>
                <a:spcPts val="0"/>
              </a:spcBef>
            </a:pPr>
            <a:endParaRPr lang="zh-CN" altLang="en-US" sz="2200" dirty="0">
              <a:latin typeface="Arial" panose="020B0604020202020204" pitchFamily="34" charset="0"/>
              <a:ea typeface="黑体" panose="02010609060101010101" pitchFamily="49" charset="-122"/>
            </a:endParaRPr>
          </a:p>
          <a:p>
            <a:pPr marL="0" indent="0">
              <a:lnSpc>
                <a:spcPct val="130000"/>
              </a:lnSpc>
              <a:spcBef>
                <a:spcPts val="0"/>
              </a:spcBef>
              <a:buNone/>
            </a:pPr>
            <a:r>
              <a:rPr lang="zh-CN" altLang="en-US" sz="2200" dirty="0">
                <a:latin typeface="Times New Roman" panose="02020603050405020304" pitchFamily="18" charset="0"/>
                <a:ea typeface="黑体" panose="02010609060101010101" pitchFamily="49" charset="-122"/>
              </a:rPr>
              <a:t>式中假定对</a:t>
            </a:r>
            <a:r>
              <a:rPr lang="zh-CN" altLang="en-US" sz="2200" i="1" dirty="0">
                <a:latin typeface="Times New Roman" panose="02020603050405020304" pitchFamily="18" charset="0"/>
                <a:ea typeface="黑体" panose="02010609060101010101" pitchFamily="49" charset="-122"/>
              </a:rPr>
              <a:t>c</a:t>
            </a:r>
            <a:r>
              <a:rPr lang="zh-CN" altLang="en-US" sz="2200" dirty="0">
                <a:latin typeface="Times New Roman" panose="02020603050405020304" pitchFamily="18" charset="0"/>
                <a:ea typeface="黑体" panose="02010609060101010101" pitchFamily="49" charset="-122"/>
              </a:rPr>
              <a:t>类只有</a:t>
            </a:r>
            <a:r>
              <a:rPr lang="zh-CN" altLang="en-US" sz="2200" i="1" dirty="0">
                <a:latin typeface="Times New Roman" panose="02020603050405020304" pitchFamily="18" charset="0"/>
                <a:ea typeface="黑体" panose="02010609060101010101" pitchFamily="49" charset="-122"/>
              </a:rPr>
              <a:t>c</a:t>
            </a:r>
            <a:r>
              <a:rPr lang="zh-CN" altLang="en-US" sz="2200" dirty="0">
                <a:latin typeface="Times New Roman" panose="02020603050405020304" pitchFamily="18" charset="0"/>
                <a:ea typeface="黑体" panose="02010609060101010101" pitchFamily="49" charset="-122"/>
              </a:rPr>
              <a:t>个决策，既不考虑“拒绝”等其他情况，当作出正确决策(即</a:t>
            </a:r>
            <a:r>
              <a:rPr lang="zh-CN" altLang="en-US" sz="2200" i="1" dirty="0">
                <a:latin typeface="Times New Roman" panose="02020603050405020304" pitchFamily="18" charset="0"/>
                <a:ea typeface="黑体" panose="02010609060101010101" pitchFamily="49" charset="-122"/>
              </a:rPr>
              <a:t>i=j</a:t>
            </a:r>
            <a:r>
              <a:rPr lang="zh-CN" altLang="en-US" sz="2200" dirty="0">
                <a:latin typeface="Times New Roman" panose="02020603050405020304" pitchFamily="18" charset="0"/>
                <a:ea typeface="黑体" panose="02010609060101010101" pitchFamily="49" charset="-122"/>
              </a:rPr>
              <a:t>)时没有损失，而对于任何错误决策，其损失均为1。这样定义的损失函数称为为0</a:t>
            </a:r>
            <a:r>
              <a:rPr lang="en-US" altLang="zh-CN" sz="2200" dirty="0">
                <a:latin typeface="Times New Roman" panose="02020603050405020304" pitchFamily="18" charset="0"/>
                <a:ea typeface="黑体" panose="02010609060101010101" pitchFamily="49" charset="-122"/>
              </a:rPr>
              <a:t>-</a:t>
            </a:r>
            <a:r>
              <a:rPr lang="zh-CN" altLang="en-US" sz="2200" dirty="0">
                <a:latin typeface="Times New Roman" panose="02020603050405020304" pitchFamily="18" charset="0"/>
                <a:ea typeface="黑体" panose="02010609060101010101" pitchFamily="49" charset="-122"/>
              </a:rPr>
              <a:t>1损失函数。</a:t>
            </a:r>
          </a:p>
          <a:p>
            <a:pPr marL="0" indent="0">
              <a:lnSpc>
                <a:spcPct val="130000"/>
              </a:lnSpc>
              <a:spcBef>
                <a:spcPts val="0"/>
              </a:spcBef>
              <a:buNone/>
            </a:pPr>
            <a:r>
              <a:rPr lang="zh-CN" altLang="en-US" sz="2200" dirty="0">
                <a:latin typeface="Times New Roman" panose="02020603050405020304" pitchFamily="18" charset="0"/>
                <a:ea typeface="黑体" panose="02010609060101010101" pitchFamily="49" charset="-122"/>
              </a:rPr>
              <a:t>根据条件风险定义，有</a:t>
            </a:r>
          </a:p>
          <a:p>
            <a:pPr marL="0" indent="0">
              <a:lnSpc>
                <a:spcPct val="130000"/>
              </a:lnSpc>
              <a:spcBef>
                <a:spcPts val="0"/>
              </a:spcBef>
            </a:pPr>
            <a:endParaRPr lang="zh-CN" altLang="en-US" sz="2200" dirty="0">
              <a:latin typeface="Arial" panose="020B0604020202020204" pitchFamily="34" charset="0"/>
              <a:ea typeface="黑体" panose="02010609060101010101" pitchFamily="49" charset="-122"/>
            </a:endParaRPr>
          </a:p>
          <a:p>
            <a:pPr marL="0" indent="0">
              <a:lnSpc>
                <a:spcPct val="130000"/>
              </a:lnSpc>
              <a:spcBef>
                <a:spcPts val="0"/>
              </a:spcBef>
            </a:pPr>
            <a:endParaRPr lang="zh-CN" altLang="en-US" sz="2200" dirty="0">
              <a:latin typeface="Arial" panose="020B0604020202020204" pitchFamily="34" charset="0"/>
              <a:ea typeface="黑体" panose="02010609060101010101" pitchFamily="49" charset="-122"/>
            </a:endParaRPr>
          </a:p>
          <a:p>
            <a:pPr marL="0" indent="0">
              <a:lnSpc>
                <a:spcPct val="130000"/>
              </a:lnSpc>
              <a:spcBef>
                <a:spcPts val="0"/>
              </a:spcBef>
            </a:pPr>
            <a:endParaRPr lang="zh-CN" altLang="en-US" sz="2200" dirty="0">
              <a:latin typeface="Arial" panose="020B0604020202020204" pitchFamily="34" charset="0"/>
              <a:ea typeface="黑体" panose="02010609060101010101" pitchFamily="49" charset="-122"/>
            </a:endParaRPr>
          </a:p>
        </p:txBody>
      </p:sp>
      <p:graphicFrame>
        <p:nvGraphicFramePr>
          <p:cNvPr id="13" name="Object 2"/>
          <p:cNvGraphicFramePr>
            <a:graphicFrameLocks noChangeAspect="1"/>
          </p:cNvGraphicFramePr>
          <p:nvPr>
            <p:extLst>
              <p:ext uri="{D42A27DB-BD31-4B8C-83A1-F6EECF244321}">
                <p14:modId xmlns:p14="http://schemas.microsoft.com/office/powerpoint/2010/main" val="2598807579"/>
              </p:ext>
            </p:extLst>
          </p:nvPr>
        </p:nvGraphicFramePr>
        <p:xfrm>
          <a:off x="2333625" y="1778230"/>
          <a:ext cx="4691062" cy="881063"/>
        </p:xfrm>
        <a:graphic>
          <a:graphicData uri="http://schemas.openxmlformats.org/presentationml/2006/ole">
            <mc:AlternateContent xmlns:mc="http://schemas.openxmlformats.org/markup-compatibility/2006">
              <mc:Choice xmlns:v="urn:schemas-microsoft-com:vml" Requires="v">
                <p:oleObj spid="_x0000_s23859" name="Equation" r:id="rId4" imgW="45696600" imgH="8287200" progId="Equation.DSMT4">
                  <p:embed/>
                </p:oleObj>
              </mc:Choice>
              <mc:Fallback>
                <p:oleObj name="Equation" r:id="rId4" imgW="45696600" imgH="8287200" progId="Equation.DSMT4">
                  <p:embed/>
                  <p:pic>
                    <p:nvPicPr>
                      <p:cNvPr id="0" name="Picture 29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3625" y="1778230"/>
                        <a:ext cx="4691062" cy="881063"/>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9900"/>
                            </a:solidFill>
                          </a14:hiddenFill>
                        </a:ext>
                      </a:extLst>
                    </p:spPr>
                  </p:pic>
                </p:oleObj>
              </mc:Fallback>
            </mc:AlternateContent>
          </a:graphicData>
        </a:graphic>
      </p:graphicFrame>
      <p:graphicFrame>
        <p:nvGraphicFramePr>
          <p:cNvPr id="16" name="Object 3"/>
          <p:cNvGraphicFramePr>
            <a:graphicFrameLocks noChangeAspect="1"/>
          </p:cNvGraphicFramePr>
          <p:nvPr>
            <p:extLst>
              <p:ext uri="{D42A27DB-BD31-4B8C-83A1-F6EECF244321}">
                <p14:modId xmlns:p14="http://schemas.microsoft.com/office/powerpoint/2010/main" val="2389522772"/>
              </p:ext>
            </p:extLst>
          </p:nvPr>
        </p:nvGraphicFramePr>
        <p:xfrm>
          <a:off x="1559496" y="4165888"/>
          <a:ext cx="7310437" cy="855663"/>
        </p:xfrm>
        <a:graphic>
          <a:graphicData uri="http://schemas.openxmlformats.org/presentationml/2006/ole">
            <mc:AlternateContent xmlns:mc="http://schemas.openxmlformats.org/markup-compatibility/2006">
              <mc:Choice xmlns:v="urn:schemas-microsoft-com:vml" Requires="v">
                <p:oleObj spid="_x0000_s23860" name="Equation" r:id="rId6" imgW="71216640" imgH="8056800" progId="Equation.DSMT4">
                  <p:embed/>
                </p:oleObj>
              </mc:Choice>
              <mc:Fallback>
                <p:oleObj name="Equation" r:id="rId6" imgW="71216640" imgH="8056800" progId="Equation.DSMT4">
                  <p:embed/>
                  <p:pic>
                    <p:nvPicPr>
                      <p:cNvPr id="0" name="Picture 29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59496" y="4165888"/>
                        <a:ext cx="7310437" cy="855663"/>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9900"/>
                            </a:solidFill>
                          </a14:hiddenFill>
                        </a:ext>
                      </a:extLst>
                    </p:spPr>
                  </p:pic>
                </p:oleObj>
              </mc:Fallback>
            </mc:AlternateContent>
          </a:graphicData>
        </a:graphic>
      </p:graphicFrame>
      <p:graphicFrame>
        <p:nvGraphicFramePr>
          <p:cNvPr id="19" name="Object 3"/>
          <p:cNvGraphicFramePr>
            <a:graphicFrameLocks noChangeAspect="1"/>
          </p:cNvGraphicFramePr>
          <p:nvPr>
            <p:extLst>
              <p:ext uri="{D42A27DB-BD31-4B8C-83A1-F6EECF244321}">
                <p14:modId xmlns:p14="http://schemas.microsoft.com/office/powerpoint/2010/main" val="976055761"/>
              </p:ext>
            </p:extLst>
          </p:nvPr>
        </p:nvGraphicFramePr>
        <p:xfrm>
          <a:off x="1388188" y="4879854"/>
          <a:ext cx="8932665" cy="1027668"/>
        </p:xfrm>
        <a:graphic>
          <a:graphicData uri="http://schemas.openxmlformats.org/presentationml/2006/ole">
            <mc:AlternateContent xmlns:mc="http://schemas.openxmlformats.org/markup-compatibility/2006">
              <mc:Choice xmlns:v="urn:schemas-microsoft-com:vml" Requires="v">
                <p:oleObj spid="_x0000_s23861" name="Equation" r:id="rId8" imgW="86992920" imgH="9669600" progId="Equation.DSMT4">
                  <p:embed/>
                </p:oleObj>
              </mc:Choice>
              <mc:Fallback>
                <p:oleObj name="Equation" r:id="rId8" imgW="86992920" imgH="9669600" progId="Equation.DSMT4">
                  <p:embed/>
                  <p:pic>
                    <p:nvPicPr>
                      <p:cNvPr id="0" name="Picture 29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88188" y="4879854"/>
                        <a:ext cx="8932665" cy="1027668"/>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内容占位符 2"/>
          <p:cNvSpPr txBox="1">
            <a:spLocks/>
          </p:cNvSpPr>
          <p:nvPr/>
        </p:nvSpPr>
        <p:spPr bwMode="gray">
          <a:xfrm>
            <a:off x="407368" y="5058566"/>
            <a:ext cx="11399440" cy="4549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nSpc>
                <a:spcPct val="130000"/>
              </a:lnSpc>
              <a:spcBef>
                <a:spcPts val="0"/>
              </a:spcBef>
              <a:buFont typeface="Wingdings" pitchFamily="2" charset="2"/>
              <a:buNone/>
            </a:pPr>
            <a:r>
              <a:rPr lang="zh-CN" altLang="en-US" sz="2200" kern="0" dirty="0">
                <a:latin typeface="Arial" panose="020B0604020202020204" pitchFamily="34" charset="0"/>
                <a:ea typeface="黑体" panose="02010609060101010101" pitchFamily="49" charset="-122"/>
              </a:rPr>
              <a:t>则</a:t>
            </a:r>
          </a:p>
        </p:txBody>
      </p:sp>
      <p:sp>
        <p:nvSpPr>
          <p:cNvPr id="2" name="矩形 1"/>
          <p:cNvSpPr/>
          <p:nvPr/>
        </p:nvSpPr>
        <p:spPr>
          <a:xfrm>
            <a:off x="407368" y="5859029"/>
            <a:ext cx="11313220" cy="430887"/>
          </a:xfrm>
          <a:prstGeom prst="rect">
            <a:avLst/>
          </a:prstGeom>
        </p:spPr>
        <p:txBody>
          <a:bodyPr wrap="square">
            <a:spAutoFit/>
          </a:bodyPr>
          <a:lstStyle/>
          <a:p>
            <a:r>
              <a:rPr lang="zh-CN" altLang="en-US" sz="2200" dirty="0">
                <a:solidFill>
                  <a:srgbClr val="FF0000"/>
                </a:solidFill>
                <a:latin typeface="Times New Roman" panose="02020603050405020304" pitchFamily="18" charset="0"/>
                <a:ea typeface="黑体" panose="02010609060101010101" pitchFamily="49" charset="-122"/>
              </a:rPr>
              <a:t>最小错误率贝叶斯决策就是0--1损失函数条件下的最小风险贝叶斯决策。</a:t>
            </a:r>
          </a:p>
        </p:txBody>
      </p:sp>
    </p:spTree>
    <p:extLst>
      <p:ext uri="{BB962C8B-B14F-4D97-AF65-F5344CB8AC3E}">
        <p14:creationId xmlns:p14="http://schemas.microsoft.com/office/powerpoint/2010/main" val="12992044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55440" y="1556792"/>
            <a:ext cx="10369152" cy="3416320"/>
          </a:xfrm>
          <a:prstGeom prst="rect">
            <a:avLst/>
          </a:prstGeom>
          <a:noFill/>
        </p:spPr>
        <p:txBody>
          <a:bodyPr wrap="square" rtlCol="0">
            <a:spAutoFit/>
          </a:bodyPr>
          <a:lstStyle/>
          <a:p>
            <a:pPr>
              <a:lnSpc>
                <a:spcPct val="150000"/>
              </a:lnSpc>
            </a:pPr>
            <a:r>
              <a:rPr lang="en-US" altLang="zh-CN" sz="2400" b="1" dirty="0">
                <a:latin typeface="宋体" pitchFamily="2" charset="-122"/>
                <a:ea typeface="宋体" pitchFamily="2" charset="-122"/>
              </a:rPr>
              <a:t>13.1 </a:t>
            </a:r>
            <a:r>
              <a:rPr lang="zh-CN" altLang="zh-CN" sz="2400" b="1" dirty="0">
                <a:latin typeface="宋体" pitchFamily="2" charset="-122"/>
                <a:ea typeface="宋体" pitchFamily="2" charset="-122"/>
              </a:rPr>
              <a:t>最小错误率贝叶斯决策</a:t>
            </a:r>
          </a:p>
          <a:p>
            <a:pPr>
              <a:lnSpc>
                <a:spcPct val="150000"/>
              </a:lnSpc>
            </a:pPr>
            <a:r>
              <a:rPr lang="en-US" altLang="zh-CN" sz="2400" b="1" dirty="0">
                <a:latin typeface="宋体" pitchFamily="2" charset="-122"/>
                <a:ea typeface="宋体" pitchFamily="2" charset="-122"/>
              </a:rPr>
              <a:t>13.2 </a:t>
            </a:r>
            <a:r>
              <a:rPr lang="zh-CN" altLang="zh-CN" sz="2400" b="1" dirty="0">
                <a:latin typeface="宋体" pitchFamily="2" charset="-122"/>
                <a:ea typeface="宋体" pitchFamily="2" charset="-122"/>
              </a:rPr>
              <a:t>最小风险贝叶斯决策</a:t>
            </a:r>
          </a:p>
          <a:p>
            <a:pPr>
              <a:lnSpc>
                <a:spcPct val="150000"/>
              </a:lnSpc>
            </a:pPr>
            <a:r>
              <a:rPr lang="en-US" altLang="zh-CN" sz="2400" b="1" dirty="0">
                <a:solidFill>
                  <a:srgbClr val="FF0000"/>
                </a:solidFill>
                <a:latin typeface="宋体" pitchFamily="2" charset="-122"/>
                <a:ea typeface="宋体" pitchFamily="2" charset="-122"/>
              </a:rPr>
              <a:t>13.3 </a:t>
            </a:r>
            <a:r>
              <a:rPr lang="zh-CN" altLang="zh-CN" sz="2400" b="1" dirty="0">
                <a:solidFill>
                  <a:srgbClr val="FF0000"/>
                </a:solidFill>
                <a:latin typeface="宋体" pitchFamily="2" charset="-122"/>
                <a:ea typeface="宋体" pitchFamily="2" charset="-122"/>
              </a:rPr>
              <a:t>两类错误率、</a:t>
            </a:r>
            <a:r>
              <a:rPr lang="en-US" altLang="zh-CN" sz="2400" b="1" dirty="0" err="1">
                <a:solidFill>
                  <a:srgbClr val="FF0000"/>
                </a:solidFill>
                <a:latin typeface="宋体" pitchFamily="2" charset="-122"/>
                <a:ea typeface="宋体" pitchFamily="2" charset="-122"/>
              </a:rPr>
              <a:t>Neyman</a:t>
            </a:r>
            <a:r>
              <a:rPr lang="en-US" altLang="zh-CN" sz="2400" b="1" dirty="0">
                <a:solidFill>
                  <a:srgbClr val="FF0000"/>
                </a:solidFill>
                <a:latin typeface="宋体" pitchFamily="2" charset="-122"/>
                <a:ea typeface="宋体" pitchFamily="2" charset="-122"/>
              </a:rPr>
              <a:t>-Pearson</a:t>
            </a:r>
            <a:r>
              <a:rPr lang="zh-CN" altLang="zh-CN" sz="2400" b="1" dirty="0">
                <a:solidFill>
                  <a:srgbClr val="FF0000"/>
                </a:solidFill>
                <a:latin typeface="宋体" pitchFamily="2" charset="-122"/>
                <a:ea typeface="宋体" pitchFamily="2" charset="-122"/>
              </a:rPr>
              <a:t>决策和</a:t>
            </a:r>
            <a:r>
              <a:rPr lang="en-US" altLang="zh-CN" sz="2400" b="1" dirty="0">
                <a:solidFill>
                  <a:srgbClr val="FF0000"/>
                </a:solidFill>
                <a:latin typeface="宋体" pitchFamily="2" charset="-122"/>
                <a:ea typeface="宋体" pitchFamily="2" charset="-122"/>
              </a:rPr>
              <a:t>ROC</a:t>
            </a:r>
            <a:r>
              <a:rPr lang="zh-CN" altLang="zh-CN" sz="2400" b="1" dirty="0">
                <a:solidFill>
                  <a:srgbClr val="FF0000"/>
                </a:solidFill>
                <a:latin typeface="宋体" pitchFamily="2" charset="-122"/>
                <a:ea typeface="宋体" pitchFamily="2" charset="-122"/>
              </a:rPr>
              <a:t>曲线</a:t>
            </a:r>
          </a:p>
          <a:p>
            <a:pPr>
              <a:lnSpc>
                <a:spcPct val="150000"/>
              </a:lnSpc>
            </a:pPr>
            <a:r>
              <a:rPr lang="en-US" altLang="zh-CN" sz="2400" b="1" dirty="0">
                <a:latin typeface="宋体" pitchFamily="2" charset="-122"/>
                <a:ea typeface="宋体" pitchFamily="2" charset="-122"/>
              </a:rPr>
              <a:t>13.4 </a:t>
            </a:r>
            <a:r>
              <a:rPr lang="zh-CN" altLang="zh-CN" sz="2400" b="1" dirty="0">
                <a:latin typeface="宋体" pitchFamily="2" charset="-122"/>
                <a:ea typeface="宋体" pitchFamily="2" charset="-122"/>
              </a:rPr>
              <a:t>正态分布的统计决策</a:t>
            </a:r>
          </a:p>
          <a:p>
            <a:pPr>
              <a:lnSpc>
                <a:spcPct val="150000"/>
              </a:lnSpc>
            </a:pPr>
            <a:r>
              <a:rPr lang="en-US" altLang="zh-CN" sz="2400" b="1" dirty="0">
                <a:latin typeface="宋体" pitchFamily="2" charset="-122"/>
                <a:ea typeface="宋体" pitchFamily="2" charset="-122"/>
              </a:rPr>
              <a:t>13.5 </a:t>
            </a:r>
            <a:r>
              <a:rPr lang="zh-CN" altLang="zh-CN" sz="2400" b="1" dirty="0">
                <a:latin typeface="宋体" pitchFamily="2" charset="-122"/>
                <a:ea typeface="宋体" pitchFamily="2" charset="-122"/>
              </a:rPr>
              <a:t>关于分类器的错误率</a:t>
            </a:r>
          </a:p>
          <a:p>
            <a:pPr>
              <a:lnSpc>
                <a:spcPct val="150000"/>
              </a:lnSpc>
            </a:pPr>
            <a:r>
              <a:rPr lang="en-US" altLang="zh-CN" sz="2400" b="1" dirty="0">
                <a:latin typeface="宋体" pitchFamily="2" charset="-122"/>
                <a:ea typeface="宋体" pitchFamily="2" charset="-122"/>
              </a:rPr>
              <a:t>13.6 </a:t>
            </a:r>
            <a:r>
              <a:rPr lang="zh-CN" altLang="zh-CN" sz="2400" b="1" dirty="0">
                <a:latin typeface="宋体" pitchFamily="2" charset="-122"/>
                <a:ea typeface="宋体" pitchFamily="2" charset="-122"/>
              </a:rPr>
              <a:t>离散概率模型下的统计决策</a:t>
            </a:r>
          </a:p>
        </p:txBody>
      </p:sp>
      <p:sp>
        <p:nvSpPr>
          <p:cNvPr id="8" name="Freeform 6"/>
          <p:cNvSpPr>
            <a:spLocks/>
          </p:cNvSpPr>
          <p:nvPr/>
        </p:nvSpPr>
        <p:spPr bwMode="auto">
          <a:xfrm>
            <a:off x="0" y="5589240"/>
            <a:ext cx="12192000" cy="864096"/>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p>
        </p:txBody>
      </p:sp>
      <p:sp>
        <p:nvSpPr>
          <p:cNvPr id="9" name="Freeform 7"/>
          <p:cNvSpPr>
            <a:spLocks/>
          </p:cNvSpPr>
          <p:nvPr/>
        </p:nvSpPr>
        <p:spPr bwMode="auto">
          <a:xfrm>
            <a:off x="-24680" y="5425669"/>
            <a:ext cx="12216680" cy="357166"/>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solidFill>
                <a:schemeClr val="tx2">
                  <a:lumMod val="20000"/>
                  <a:lumOff val="80000"/>
                </a:schemeClr>
              </a:solidFill>
            </a:endParaRPr>
          </a:p>
        </p:txBody>
      </p:sp>
      <p:pic>
        <p:nvPicPr>
          <p:cNvPr id="3" name="图片 2"/>
          <p:cNvPicPr>
            <a:picLocks noChangeAspect="1"/>
          </p:cNvPicPr>
          <p:nvPr/>
        </p:nvPicPr>
        <p:blipFill>
          <a:blip r:embed="rId3"/>
          <a:stretch>
            <a:fillRect/>
          </a:stretch>
        </p:blipFill>
        <p:spPr>
          <a:xfrm>
            <a:off x="0" y="6468398"/>
            <a:ext cx="1349719" cy="404664"/>
          </a:xfrm>
          <a:prstGeom prst="rect">
            <a:avLst/>
          </a:prstGeom>
        </p:spPr>
      </p:pic>
      <p:sp>
        <p:nvSpPr>
          <p:cNvPr id="6" name="文本框 5"/>
          <p:cNvSpPr txBox="1"/>
          <p:nvPr/>
        </p:nvSpPr>
        <p:spPr>
          <a:xfrm>
            <a:off x="-24680" y="6436962"/>
            <a:ext cx="5472608" cy="461665"/>
          </a:xfrm>
          <a:prstGeom prst="rect">
            <a:avLst/>
          </a:prstGeom>
          <a:noFill/>
        </p:spPr>
        <p:txBody>
          <a:bodyPr wrap="square" rtlCol="0">
            <a:spAutoFit/>
          </a:bodyPr>
          <a:lstStyle/>
          <a:p>
            <a:r>
              <a:rPr lang="zh-CN" altLang="en-US" sz="2400" b="1" dirty="0">
                <a:solidFill>
                  <a:srgbClr val="0000FF"/>
                </a:solidFill>
              </a:rPr>
              <a:t>人工智能与自动化学院        </a:t>
            </a:r>
          </a:p>
        </p:txBody>
      </p:sp>
      <p:sp>
        <p:nvSpPr>
          <p:cNvPr id="7" name="灯片编号占位符 6">
            <a:extLst>
              <a:ext uri="{FF2B5EF4-FFF2-40B4-BE49-F238E27FC236}">
                <a16:creationId xmlns:a16="http://schemas.microsoft.com/office/drawing/2014/main" id="{57A11AAC-03BE-45BB-A5C8-11C5A0B0B16C}"/>
              </a:ext>
            </a:extLst>
          </p:cNvPr>
          <p:cNvSpPr>
            <a:spLocks noGrp="1"/>
          </p:cNvSpPr>
          <p:nvPr>
            <p:ph type="sldNum" sz="quarter" idx="11"/>
          </p:nvPr>
        </p:nvSpPr>
        <p:spPr/>
        <p:txBody>
          <a:bodyPr/>
          <a:lstStyle/>
          <a:p>
            <a:pPr>
              <a:defRPr/>
            </a:pPr>
            <a:fld id="{31E287EE-1289-4991-82CE-EFE584F53F4F}" type="slidenum">
              <a:rPr lang="en-US" altLang="zh-CN" smtClean="0"/>
              <a:pPr>
                <a:defRPr/>
              </a:pPr>
              <a:t>30</a:t>
            </a:fld>
            <a:endParaRPr lang="en-US" altLang="zh-CN" dirty="0"/>
          </a:p>
        </p:txBody>
      </p:sp>
      <p:sp>
        <p:nvSpPr>
          <p:cNvPr id="10"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zh-CN" altLang="en-US" kern="0" dirty="0"/>
              <a:t>第</a:t>
            </a:r>
            <a:r>
              <a:rPr lang="en-US" altLang="zh-CN" kern="0" dirty="0"/>
              <a:t>13</a:t>
            </a:r>
            <a:r>
              <a:rPr lang="zh-CN" altLang="en-US" kern="0" dirty="0"/>
              <a:t>章 </a:t>
            </a:r>
            <a:r>
              <a:rPr lang="zh-CN" altLang="zh-CN" dirty="0"/>
              <a:t>基于统计决策的概率分类方法</a:t>
            </a:r>
          </a:p>
        </p:txBody>
      </p:sp>
    </p:spTree>
    <p:extLst>
      <p:ext uri="{BB962C8B-B14F-4D97-AF65-F5344CB8AC3E}">
        <p14:creationId xmlns:p14="http://schemas.microsoft.com/office/powerpoint/2010/main" val="26311684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31</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13.3 </a:t>
            </a:r>
            <a:r>
              <a:rPr lang="zh-CN" altLang="zh-CN" dirty="0"/>
              <a:t>两类错误率、</a:t>
            </a:r>
            <a:r>
              <a:rPr lang="en-US" altLang="zh-CN" dirty="0" err="1"/>
              <a:t>Neyman</a:t>
            </a:r>
            <a:r>
              <a:rPr lang="en-US" altLang="zh-CN" dirty="0"/>
              <a:t>-Pearson</a:t>
            </a:r>
            <a:r>
              <a:rPr lang="zh-CN" altLang="zh-CN" dirty="0"/>
              <a:t>决策和</a:t>
            </a:r>
            <a:r>
              <a:rPr lang="en-US" altLang="zh-CN" dirty="0"/>
              <a:t>ROC</a:t>
            </a:r>
            <a:r>
              <a:rPr lang="zh-CN" altLang="zh-CN" dirty="0"/>
              <a:t>曲线</a:t>
            </a:r>
          </a:p>
        </p:txBody>
      </p:sp>
      <p:sp>
        <p:nvSpPr>
          <p:cNvPr id="42" name="矩形 41"/>
          <p:cNvSpPr/>
          <p:nvPr/>
        </p:nvSpPr>
        <p:spPr>
          <a:xfrm>
            <a:off x="304132" y="1105580"/>
            <a:ext cx="1980029" cy="523220"/>
          </a:xfrm>
          <a:prstGeom prst="rect">
            <a:avLst/>
          </a:prstGeom>
        </p:spPr>
        <p:txBody>
          <a:bodyPr wrap="none">
            <a:spAutoFit/>
          </a:bodyPr>
          <a:lstStyle/>
          <a:p>
            <a:r>
              <a:rPr lang="zh-CN" altLang="zh-CN" sz="2800" b="1" dirty="0">
                <a:solidFill>
                  <a:srgbClr val="0000FF"/>
                </a:solidFill>
                <a:latin typeface="Arial" panose="020B0604020202020204" pitchFamily="34" charset="0"/>
              </a:rPr>
              <a:t>两类错误率</a:t>
            </a:r>
            <a:endParaRPr lang="zh-CN" altLang="en-US" sz="2800" b="1" dirty="0">
              <a:solidFill>
                <a:srgbClr val="0000FF"/>
              </a:solidFill>
              <a:latin typeface="Arial" panose="020B0604020202020204" pitchFamily="34" charset="0"/>
            </a:endParaRPr>
          </a:p>
        </p:txBody>
      </p:sp>
      <p:sp>
        <p:nvSpPr>
          <p:cNvPr id="12" name="内容占位符 2"/>
          <p:cNvSpPr>
            <a:spLocks noGrp="1"/>
          </p:cNvSpPr>
          <p:nvPr>
            <p:ph idx="1"/>
          </p:nvPr>
        </p:nvSpPr>
        <p:spPr>
          <a:xfrm>
            <a:off x="321148" y="1758540"/>
            <a:ext cx="11679508" cy="2174516"/>
          </a:xfrm>
        </p:spPr>
        <p:txBody>
          <a:bodyPr/>
          <a:lstStyle/>
          <a:p>
            <a:pPr>
              <a:lnSpc>
                <a:spcPct val="130000"/>
              </a:lnSpc>
              <a:spcBef>
                <a:spcPts val="1200"/>
              </a:spcBef>
              <a:buClrTx/>
              <a:buFont typeface="Arial" panose="020B0604020202020204" pitchFamily="34" charset="0"/>
              <a:buChar char="•"/>
            </a:pPr>
            <a:r>
              <a:rPr lang="zh-CN" altLang="en-US" sz="2200" dirty="0">
                <a:latin typeface="Times New Roman" panose="02020603050405020304" pitchFamily="18" charset="0"/>
                <a:ea typeface="黑体" panose="02010609060101010101" pitchFamily="49" charset="-122"/>
              </a:rPr>
              <a:t>不同情况的分类错误带来的损失是不同的。</a:t>
            </a:r>
            <a:endParaRPr lang="en-US" altLang="zh-CN" sz="2200" dirty="0">
              <a:latin typeface="Times New Roman" panose="02020603050405020304" pitchFamily="18" charset="0"/>
              <a:ea typeface="黑体" panose="02010609060101010101" pitchFamily="49" charset="-122"/>
            </a:endParaRPr>
          </a:p>
          <a:p>
            <a:pPr>
              <a:lnSpc>
                <a:spcPct val="130000"/>
              </a:lnSpc>
              <a:spcBef>
                <a:spcPts val="1200"/>
              </a:spcBef>
              <a:buClrTx/>
              <a:buFont typeface="Arial" panose="020B0604020202020204" pitchFamily="34" charset="0"/>
              <a:buChar char="•"/>
            </a:pPr>
            <a:r>
              <a:rPr lang="zh-CN" altLang="en-US" sz="2200" dirty="0">
                <a:latin typeface="Times New Roman" panose="02020603050405020304" pitchFamily="18" charset="0"/>
                <a:ea typeface="黑体" panose="02010609060101010101" pitchFamily="49" charset="-122"/>
              </a:rPr>
              <a:t>在医学领域，人们通常用</a:t>
            </a:r>
            <a:r>
              <a:rPr lang="zh-CN" altLang="en-US" sz="2200" dirty="0">
                <a:solidFill>
                  <a:srgbClr val="FF0000"/>
                </a:solidFill>
                <a:latin typeface="Times New Roman" panose="02020603050405020304" pitchFamily="18" charset="0"/>
                <a:ea typeface="黑体" panose="02010609060101010101" pitchFamily="49" charset="-122"/>
              </a:rPr>
              <a:t>阳性（</a:t>
            </a:r>
            <a:r>
              <a:rPr lang="en-US" altLang="zh-CN" sz="2200" dirty="0">
                <a:solidFill>
                  <a:srgbClr val="FF0000"/>
                </a:solidFill>
                <a:latin typeface="Times New Roman" panose="02020603050405020304" pitchFamily="18" charset="0"/>
                <a:ea typeface="黑体" panose="02010609060101010101" pitchFamily="49" charset="-122"/>
              </a:rPr>
              <a:t>Positive</a:t>
            </a:r>
            <a:r>
              <a:rPr lang="zh-CN" altLang="en-US" sz="2200" dirty="0">
                <a:solidFill>
                  <a:srgbClr val="FF0000"/>
                </a:solidFill>
                <a:latin typeface="Times New Roman" panose="02020603050405020304" pitchFamily="18" charset="0"/>
                <a:ea typeface="黑体" panose="02010609060101010101" pitchFamily="49" charset="-122"/>
              </a:rPr>
              <a:t>）</a:t>
            </a:r>
            <a:r>
              <a:rPr lang="zh-CN" altLang="en-US" sz="2200" dirty="0">
                <a:latin typeface="Times New Roman" panose="02020603050405020304" pitchFamily="18" charset="0"/>
                <a:ea typeface="黑体" panose="02010609060101010101" pitchFamily="49" charset="-122"/>
              </a:rPr>
              <a:t>和</a:t>
            </a:r>
            <a:r>
              <a:rPr lang="zh-CN" altLang="en-US" sz="2200" dirty="0">
                <a:solidFill>
                  <a:srgbClr val="FF0000"/>
                </a:solidFill>
                <a:latin typeface="Times New Roman" panose="02020603050405020304" pitchFamily="18" charset="0"/>
                <a:ea typeface="黑体" panose="02010609060101010101" pitchFamily="49" charset="-122"/>
              </a:rPr>
              <a:t>阴性（</a:t>
            </a:r>
            <a:r>
              <a:rPr lang="en-US" altLang="zh-CN" sz="2200" dirty="0">
                <a:solidFill>
                  <a:srgbClr val="FF0000"/>
                </a:solidFill>
                <a:latin typeface="Times New Roman" panose="02020603050405020304" pitchFamily="18" charset="0"/>
                <a:ea typeface="黑体" panose="02010609060101010101" pitchFamily="49" charset="-122"/>
              </a:rPr>
              <a:t>Negative</a:t>
            </a:r>
            <a:r>
              <a:rPr lang="zh-CN" altLang="en-US" sz="2200" dirty="0">
                <a:solidFill>
                  <a:srgbClr val="FF0000"/>
                </a:solidFill>
                <a:latin typeface="Times New Roman" panose="02020603050405020304" pitchFamily="18" charset="0"/>
                <a:ea typeface="黑体" panose="02010609060101010101" pitchFamily="49" charset="-122"/>
              </a:rPr>
              <a:t>）</a:t>
            </a:r>
            <a:r>
              <a:rPr lang="zh-CN" altLang="en-US" sz="2200" dirty="0">
                <a:latin typeface="Times New Roman" panose="02020603050405020304" pitchFamily="18" charset="0"/>
                <a:ea typeface="黑体" panose="02010609060101010101" pitchFamily="49" charset="-122"/>
              </a:rPr>
              <a:t>来代表两类：阳性表示某一症状存在或检测到某一指标的异常；阴性则表示考查的症状不存在或监测的指标没有异常。</a:t>
            </a:r>
            <a:endParaRPr lang="en-US" altLang="zh-CN" sz="2200" dirty="0">
              <a:latin typeface="Times New Roman" panose="02020603050405020304" pitchFamily="18" charset="0"/>
              <a:ea typeface="黑体" panose="02010609060101010101" pitchFamily="49" charset="-122"/>
            </a:endParaRPr>
          </a:p>
          <a:p>
            <a:pPr>
              <a:lnSpc>
                <a:spcPct val="130000"/>
              </a:lnSpc>
              <a:spcBef>
                <a:spcPts val="1200"/>
              </a:spcBef>
              <a:buClrTx/>
              <a:buFont typeface="Arial" panose="020B0604020202020204" pitchFamily="34" charset="0"/>
              <a:buChar char="•"/>
            </a:pPr>
            <a:r>
              <a:rPr lang="zh-CN" altLang="en-US" sz="2200" dirty="0">
                <a:latin typeface="Times New Roman" panose="02020603050405020304" pitchFamily="18" charset="0"/>
                <a:ea typeface="黑体" panose="02010609060101010101" pitchFamily="49" charset="-122"/>
              </a:rPr>
              <a:t>对疾病的诊断就是对阳性和阴性的一个两类决策问题，在不考虑拒绝的情况下，状态和决策之间可能的关系：</a:t>
            </a:r>
          </a:p>
        </p:txBody>
      </p:sp>
      <p:graphicFrame>
        <p:nvGraphicFramePr>
          <p:cNvPr id="4" name="表格 3"/>
          <p:cNvGraphicFramePr>
            <a:graphicFrameLocks noGrp="1"/>
          </p:cNvGraphicFramePr>
          <p:nvPr>
            <p:extLst>
              <p:ext uri="{D42A27DB-BD31-4B8C-83A1-F6EECF244321}">
                <p14:modId xmlns:p14="http://schemas.microsoft.com/office/powerpoint/2010/main" val="1674741502"/>
              </p:ext>
            </p:extLst>
          </p:nvPr>
        </p:nvGraphicFramePr>
        <p:xfrm>
          <a:off x="3856544" y="4509120"/>
          <a:ext cx="4608715" cy="1483360"/>
        </p:xfrm>
        <a:graphic>
          <a:graphicData uri="http://schemas.openxmlformats.org/drawingml/2006/table">
            <a:tbl>
              <a:tblPr firstRow="1" bandRow="1">
                <a:tableStyleId>{5C22544A-7EE6-4342-B048-85BDC9FD1C3A}</a:tableStyleId>
              </a:tblPr>
              <a:tblGrid>
                <a:gridCol w="1245060">
                  <a:extLst>
                    <a:ext uri="{9D8B030D-6E8A-4147-A177-3AD203B41FA5}">
                      <a16:colId xmlns:a16="http://schemas.microsoft.com/office/drawing/2014/main" val="1253904482"/>
                    </a:ext>
                  </a:extLst>
                </a:gridCol>
                <a:gridCol w="1569859">
                  <a:extLst>
                    <a:ext uri="{9D8B030D-6E8A-4147-A177-3AD203B41FA5}">
                      <a16:colId xmlns:a16="http://schemas.microsoft.com/office/drawing/2014/main" val="3650120013"/>
                    </a:ext>
                  </a:extLst>
                </a:gridCol>
                <a:gridCol w="1793796">
                  <a:extLst>
                    <a:ext uri="{9D8B030D-6E8A-4147-A177-3AD203B41FA5}">
                      <a16:colId xmlns:a16="http://schemas.microsoft.com/office/drawing/2014/main" val="1124757919"/>
                    </a:ext>
                  </a:extLst>
                </a:gridCol>
              </a:tblGrid>
              <a:tr h="370840">
                <a:tc rowSpan="2">
                  <a:txBody>
                    <a:bodyPr/>
                    <a:lstStyle/>
                    <a:p>
                      <a:pPr marL="0" algn="ctr" defTabSz="914400" rtl="0" eaLnBrk="1" latinLnBrk="0" hangingPunct="1"/>
                      <a:r>
                        <a:rPr lang="zh-CN" altLang="en-US" sz="1800" b="1" kern="1200" dirty="0">
                          <a:solidFill>
                            <a:schemeClr val="dk1"/>
                          </a:solidFill>
                          <a:latin typeface="+mn-lt"/>
                          <a:ea typeface="+mn-ea"/>
                          <a:cs typeface="+mn-cs"/>
                        </a:rPr>
                        <a:t>决策</a:t>
                      </a:r>
                    </a:p>
                  </a:txBody>
                  <a:tcPr anchor="ctr"/>
                </a:tc>
                <a:tc gridSpan="2">
                  <a:txBody>
                    <a:bodyPr/>
                    <a:lstStyle/>
                    <a:p>
                      <a:pPr marL="0" algn="ctr" defTabSz="914400" rtl="0" eaLnBrk="1" latinLnBrk="0" hangingPunct="1"/>
                      <a:r>
                        <a:rPr lang="zh-CN" altLang="en-US" sz="1800" b="1" kern="1200" dirty="0">
                          <a:solidFill>
                            <a:schemeClr val="dk1"/>
                          </a:solidFill>
                          <a:latin typeface="+mn-lt"/>
                          <a:ea typeface="+mn-ea"/>
                          <a:cs typeface="+mn-cs"/>
                        </a:rPr>
                        <a:t>状态</a:t>
                      </a:r>
                    </a:p>
                  </a:txBody>
                  <a:tcPr anchor="ctr"/>
                </a:tc>
                <a:tc hMerge="1">
                  <a:txBody>
                    <a:bodyPr/>
                    <a:lstStyle/>
                    <a:p>
                      <a:endParaRPr lang="zh-CN" altLang="en-US" dirty="0"/>
                    </a:p>
                  </a:txBody>
                  <a:tcPr/>
                </a:tc>
                <a:extLst>
                  <a:ext uri="{0D108BD9-81ED-4DB2-BD59-A6C34878D82A}">
                    <a16:rowId xmlns:a16="http://schemas.microsoft.com/office/drawing/2014/main" val="3164540101"/>
                  </a:ext>
                </a:extLst>
              </a:tr>
              <a:tr h="370840">
                <a:tc vMerge="1">
                  <a:txBody>
                    <a:bodyPr/>
                    <a:lstStyle/>
                    <a:p>
                      <a:endParaRPr lang="zh-CN" altLang="en-US" dirty="0"/>
                    </a:p>
                  </a:txBody>
                  <a:tcPr/>
                </a:tc>
                <a:tc>
                  <a:txBody>
                    <a:bodyPr/>
                    <a:lstStyle/>
                    <a:p>
                      <a:pPr algn="ctr"/>
                      <a:r>
                        <a:rPr lang="zh-CN" altLang="en-US" b="0" dirty="0"/>
                        <a:t>阳性</a:t>
                      </a:r>
                    </a:p>
                  </a:txBody>
                  <a:tcPr anchor="ctr"/>
                </a:tc>
                <a:tc>
                  <a:txBody>
                    <a:bodyPr/>
                    <a:lstStyle/>
                    <a:p>
                      <a:pPr algn="ctr"/>
                      <a:r>
                        <a:rPr lang="zh-CN" altLang="en-US" b="0" dirty="0"/>
                        <a:t>阴性</a:t>
                      </a:r>
                    </a:p>
                  </a:txBody>
                  <a:tcPr anchor="ctr"/>
                </a:tc>
                <a:extLst>
                  <a:ext uri="{0D108BD9-81ED-4DB2-BD59-A6C34878D82A}">
                    <a16:rowId xmlns:a16="http://schemas.microsoft.com/office/drawing/2014/main" val="1040823456"/>
                  </a:ext>
                </a:extLst>
              </a:tr>
              <a:tr h="370840">
                <a:tc>
                  <a:txBody>
                    <a:bodyPr/>
                    <a:lstStyle/>
                    <a:p>
                      <a:pPr algn="ctr"/>
                      <a:r>
                        <a:rPr lang="zh-CN" altLang="en-US" b="0" dirty="0"/>
                        <a:t>阳性</a:t>
                      </a:r>
                    </a:p>
                  </a:txBody>
                  <a:tcPr anchor="ctr"/>
                </a:tc>
                <a:tc>
                  <a:txBody>
                    <a:bodyPr/>
                    <a:lstStyle/>
                    <a:p>
                      <a:pPr algn="ctr"/>
                      <a:r>
                        <a:rPr lang="zh-CN" altLang="en-US" b="0" dirty="0"/>
                        <a:t>真阳性（</a:t>
                      </a:r>
                      <a:r>
                        <a:rPr lang="en-US" altLang="zh-CN" b="0" dirty="0"/>
                        <a:t>TP</a:t>
                      </a:r>
                      <a:r>
                        <a:rPr lang="zh-CN" altLang="en-US" b="0" dirty="0"/>
                        <a:t>）</a:t>
                      </a:r>
                    </a:p>
                  </a:txBody>
                  <a:tcPr anchor="ctr"/>
                </a:tc>
                <a:tc>
                  <a:txBody>
                    <a:bodyPr/>
                    <a:lstStyle/>
                    <a:p>
                      <a:pPr algn="ctr"/>
                      <a:r>
                        <a:rPr lang="zh-CN" altLang="en-US" b="0" dirty="0"/>
                        <a:t>假阳性（</a:t>
                      </a:r>
                      <a:r>
                        <a:rPr lang="en-US" altLang="zh-CN" b="0" dirty="0"/>
                        <a:t>FP</a:t>
                      </a:r>
                      <a:r>
                        <a:rPr lang="zh-CN" altLang="en-US" b="0" dirty="0"/>
                        <a:t>）</a:t>
                      </a:r>
                    </a:p>
                  </a:txBody>
                  <a:tcPr anchor="ctr"/>
                </a:tc>
                <a:extLst>
                  <a:ext uri="{0D108BD9-81ED-4DB2-BD59-A6C34878D82A}">
                    <a16:rowId xmlns:a16="http://schemas.microsoft.com/office/drawing/2014/main" val="2085020317"/>
                  </a:ext>
                </a:extLst>
              </a:tr>
              <a:tr h="370840">
                <a:tc>
                  <a:txBody>
                    <a:bodyPr/>
                    <a:lstStyle/>
                    <a:p>
                      <a:pPr algn="ctr"/>
                      <a:r>
                        <a:rPr lang="zh-CN" altLang="en-US" b="0" dirty="0"/>
                        <a:t>阴性</a:t>
                      </a:r>
                    </a:p>
                  </a:txBody>
                  <a:tcPr anchor="ctr"/>
                </a:tc>
                <a:tc>
                  <a:txBody>
                    <a:bodyPr/>
                    <a:lstStyle/>
                    <a:p>
                      <a:pPr algn="ctr"/>
                      <a:r>
                        <a:rPr lang="zh-CN" altLang="en-US" b="0" dirty="0"/>
                        <a:t>假阴性（</a:t>
                      </a:r>
                      <a:r>
                        <a:rPr lang="en-US" altLang="zh-CN" b="0" dirty="0"/>
                        <a:t>FN</a:t>
                      </a:r>
                      <a:r>
                        <a:rPr lang="zh-CN" altLang="en-US" b="0" dirty="0"/>
                        <a:t>）</a:t>
                      </a:r>
                    </a:p>
                  </a:txBody>
                  <a:tcPr anchor="ctr"/>
                </a:tc>
                <a:tc>
                  <a:txBody>
                    <a:bodyPr/>
                    <a:lstStyle/>
                    <a:p>
                      <a:pPr algn="ctr"/>
                      <a:r>
                        <a:rPr lang="zh-CN" altLang="en-US" b="0" dirty="0"/>
                        <a:t>真阴性（</a:t>
                      </a:r>
                      <a:r>
                        <a:rPr lang="en-US" altLang="zh-CN" b="0" dirty="0"/>
                        <a:t>TN</a:t>
                      </a:r>
                      <a:r>
                        <a:rPr lang="zh-CN" altLang="en-US" b="0" dirty="0"/>
                        <a:t>）</a:t>
                      </a:r>
                    </a:p>
                  </a:txBody>
                  <a:tcPr anchor="ctr"/>
                </a:tc>
                <a:extLst>
                  <a:ext uri="{0D108BD9-81ED-4DB2-BD59-A6C34878D82A}">
                    <a16:rowId xmlns:a16="http://schemas.microsoft.com/office/drawing/2014/main" val="1717215714"/>
                  </a:ext>
                </a:extLst>
              </a:tr>
            </a:tbl>
          </a:graphicData>
        </a:graphic>
      </p:graphicFrame>
    </p:spTree>
    <p:extLst>
      <p:ext uri="{BB962C8B-B14F-4D97-AF65-F5344CB8AC3E}">
        <p14:creationId xmlns:p14="http://schemas.microsoft.com/office/powerpoint/2010/main" val="3252283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32</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13.3 </a:t>
            </a:r>
            <a:r>
              <a:rPr lang="zh-CN" altLang="zh-CN" dirty="0"/>
              <a:t>两类错误率、</a:t>
            </a:r>
            <a:r>
              <a:rPr lang="en-US" altLang="zh-CN" dirty="0" err="1"/>
              <a:t>Neyman</a:t>
            </a:r>
            <a:r>
              <a:rPr lang="en-US" altLang="zh-CN" dirty="0"/>
              <a:t>-Pearson</a:t>
            </a:r>
            <a:r>
              <a:rPr lang="zh-CN" altLang="zh-CN" dirty="0"/>
              <a:t>决策和</a:t>
            </a:r>
            <a:r>
              <a:rPr lang="en-US" altLang="zh-CN" dirty="0"/>
              <a:t>ROC</a:t>
            </a:r>
            <a:r>
              <a:rPr lang="zh-CN" altLang="zh-CN" dirty="0"/>
              <a:t>曲线</a:t>
            </a:r>
          </a:p>
        </p:txBody>
      </p:sp>
      <p:sp>
        <p:nvSpPr>
          <p:cNvPr id="42" name="矩形 41"/>
          <p:cNvSpPr/>
          <p:nvPr/>
        </p:nvSpPr>
        <p:spPr>
          <a:xfrm>
            <a:off x="304132" y="1052736"/>
            <a:ext cx="1980029" cy="523220"/>
          </a:xfrm>
          <a:prstGeom prst="rect">
            <a:avLst/>
          </a:prstGeom>
        </p:spPr>
        <p:txBody>
          <a:bodyPr wrap="none">
            <a:spAutoFit/>
          </a:bodyPr>
          <a:lstStyle/>
          <a:p>
            <a:r>
              <a:rPr lang="zh-CN" altLang="zh-CN" sz="2800" b="1" dirty="0">
                <a:solidFill>
                  <a:srgbClr val="0000FF"/>
                </a:solidFill>
                <a:latin typeface="Arial" panose="020B0604020202020204" pitchFamily="34" charset="0"/>
              </a:rPr>
              <a:t>两类错误率</a:t>
            </a:r>
            <a:endParaRPr lang="zh-CN" altLang="en-US" sz="2800" b="1" dirty="0">
              <a:solidFill>
                <a:srgbClr val="0000FF"/>
              </a:solidFill>
              <a:latin typeface="Arial" panose="020B0604020202020204" pitchFamily="34"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406518114"/>
              </p:ext>
            </p:extLst>
          </p:nvPr>
        </p:nvGraphicFramePr>
        <p:xfrm>
          <a:off x="3647728" y="1196752"/>
          <a:ext cx="4608715" cy="1483360"/>
        </p:xfrm>
        <a:graphic>
          <a:graphicData uri="http://schemas.openxmlformats.org/drawingml/2006/table">
            <a:tbl>
              <a:tblPr firstRow="1" bandRow="1">
                <a:tableStyleId>{5C22544A-7EE6-4342-B048-85BDC9FD1C3A}</a:tableStyleId>
              </a:tblPr>
              <a:tblGrid>
                <a:gridCol w="1245060">
                  <a:extLst>
                    <a:ext uri="{9D8B030D-6E8A-4147-A177-3AD203B41FA5}">
                      <a16:colId xmlns:a16="http://schemas.microsoft.com/office/drawing/2014/main" val="1253904482"/>
                    </a:ext>
                  </a:extLst>
                </a:gridCol>
                <a:gridCol w="1569859">
                  <a:extLst>
                    <a:ext uri="{9D8B030D-6E8A-4147-A177-3AD203B41FA5}">
                      <a16:colId xmlns:a16="http://schemas.microsoft.com/office/drawing/2014/main" val="3650120013"/>
                    </a:ext>
                  </a:extLst>
                </a:gridCol>
                <a:gridCol w="1793796">
                  <a:extLst>
                    <a:ext uri="{9D8B030D-6E8A-4147-A177-3AD203B41FA5}">
                      <a16:colId xmlns:a16="http://schemas.microsoft.com/office/drawing/2014/main" val="1124757919"/>
                    </a:ext>
                  </a:extLst>
                </a:gridCol>
              </a:tblGrid>
              <a:tr h="370840">
                <a:tc rowSpan="2">
                  <a:txBody>
                    <a:bodyPr/>
                    <a:lstStyle/>
                    <a:p>
                      <a:pPr marL="0" algn="ctr" defTabSz="914400" rtl="0" eaLnBrk="1" latinLnBrk="0" hangingPunct="1"/>
                      <a:r>
                        <a:rPr lang="zh-CN" altLang="en-US" sz="1800" b="1" kern="1200" dirty="0">
                          <a:solidFill>
                            <a:schemeClr val="dk1"/>
                          </a:solidFill>
                          <a:latin typeface="+mn-lt"/>
                          <a:ea typeface="+mn-ea"/>
                          <a:cs typeface="+mn-cs"/>
                        </a:rPr>
                        <a:t>决策</a:t>
                      </a:r>
                    </a:p>
                  </a:txBody>
                  <a:tcPr anchor="ctr"/>
                </a:tc>
                <a:tc gridSpan="2">
                  <a:txBody>
                    <a:bodyPr/>
                    <a:lstStyle/>
                    <a:p>
                      <a:pPr marL="0" algn="ctr" defTabSz="914400" rtl="0" eaLnBrk="1" latinLnBrk="0" hangingPunct="1"/>
                      <a:r>
                        <a:rPr lang="zh-CN" altLang="en-US" sz="1800" b="1" kern="1200" dirty="0">
                          <a:solidFill>
                            <a:schemeClr val="dk1"/>
                          </a:solidFill>
                          <a:latin typeface="+mn-lt"/>
                          <a:ea typeface="+mn-ea"/>
                          <a:cs typeface="+mn-cs"/>
                        </a:rPr>
                        <a:t>状态</a:t>
                      </a:r>
                    </a:p>
                  </a:txBody>
                  <a:tcPr anchor="ctr"/>
                </a:tc>
                <a:tc hMerge="1">
                  <a:txBody>
                    <a:bodyPr/>
                    <a:lstStyle/>
                    <a:p>
                      <a:endParaRPr lang="zh-CN" altLang="en-US" dirty="0"/>
                    </a:p>
                  </a:txBody>
                  <a:tcPr/>
                </a:tc>
                <a:extLst>
                  <a:ext uri="{0D108BD9-81ED-4DB2-BD59-A6C34878D82A}">
                    <a16:rowId xmlns:a16="http://schemas.microsoft.com/office/drawing/2014/main" val="3164540101"/>
                  </a:ext>
                </a:extLst>
              </a:tr>
              <a:tr h="370840">
                <a:tc vMerge="1">
                  <a:txBody>
                    <a:bodyPr/>
                    <a:lstStyle/>
                    <a:p>
                      <a:endParaRPr lang="zh-CN" altLang="en-US" dirty="0"/>
                    </a:p>
                  </a:txBody>
                  <a:tcPr/>
                </a:tc>
                <a:tc>
                  <a:txBody>
                    <a:bodyPr/>
                    <a:lstStyle/>
                    <a:p>
                      <a:pPr algn="ctr"/>
                      <a:r>
                        <a:rPr lang="zh-CN" altLang="en-US" b="0" dirty="0"/>
                        <a:t>阳性</a:t>
                      </a:r>
                    </a:p>
                  </a:txBody>
                  <a:tcPr anchor="ctr"/>
                </a:tc>
                <a:tc>
                  <a:txBody>
                    <a:bodyPr/>
                    <a:lstStyle/>
                    <a:p>
                      <a:pPr algn="ctr"/>
                      <a:r>
                        <a:rPr lang="zh-CN" altLang="en-US" b="0" dirty="0"/>
                        <a:t>阴性</a:t>
                      </a:r>
                    </a:p>
                  </a:txBody>
                  <a:tcPr anchor="ctr"/>
                </a:tc>
                <a:extLst>
                  <a:ext uri="{0D108BD9-81ED-4DB2-BD59-A6C34878D82A}">
                    <a16:rowId xmlns:a16="http://schemas.microsoft.com/office/drawing/2014/main" val="1040823456"/>
                  </a:ext>
                </a:extLst>
              </a:tr>
              <a:tr h="370840">
                <a:tc>
                  <a:txBody>
                    <a:bodyPr/>
                    <a:lstStyle/>
                    <a:p>
                      <a:pPr algn="ctr"/>
                      <a:r>
                        <a:rPr lang="zh-CN" altLang="en-US" b="0" dirty="0"/>
                        <a:t>阳性</a:t>
                      </a:r>
                    </a:p>
                  </a:txBody>
                  <a:tcPr anchor="ctr"/>
                </a:tc>
                <a:tc>
                  <a:txBody>
                    <a:bodyPr/>
                    <a:lstStyle/>
                    <a:p>
                      <a:pPr algn="ctr"/>
                      <a:r>
                        <a:rPr lang="zh-CN" altLang="en-US" b="0" dirty="0"/>
                        <a:t>真阳性（</a:t>
                      </a:r>
                      <a:r>
                        <a:rPr lang="en-US" altLang="zh-CN" b="0" dirty="0"/>
                        <a:t>TP</a:t>
                      </a:r>
                      <a:r>
                        <a:rPr lang="zh-CN" altLang="en-US" b="0" dirty="0"/>
                        <a:t>）</a:t>
                      </a:r>
                    </a:p>
                  </a:txBody>
                  <a:tcPr anchor="ctr"/>
                </a:tc>
                <a:tc>
                  <a:txBody>
                    <a:bodyPr/>
                    <a:lstStyle/>
                    <a:p>
                      <a:pPr algn="ctr"/>
                      <a:r>
                        <a:rPr lang="zh-CN" altLang="en-US" b="0" dirty="0"/>
                        <a:t>假阳性（</a:t>
                      </a:r>
                      <a:r>
                        <a:rPr lang="en-US" altLang="zh-CN" b="0" dirty="0"/>
                        <a:t>FP</a:t>
                      </a:r>
                      <a:r>
                        <a:rPr lang="zh-CN" altLang="en-US" b="0" dirty="0"/>
                        <a:t>）</a:t>
                      </a:r>
                    </a:p>
                  </a:txBody>
                  <a:tcPr anchor="ctr"/>
                </a:tc>
                <a:extLst>
                  <a:ext uri="{0D108BD9-81ED-4DB2-BD59-A6C34878D82A}">
                    <a16:rowId xmlns:a16="http://schemas.microsoft.com/office/drawing/2014/main" val="2085020317"/>
                  </a:ext>
                </a:extLst>
              </a:tr>
              <a:tr h="370840">
                <a:tc>
                  <a:txBody>
                    <a:bodyPr/>
                    <a:lstStyle/>
                    <a:p>
                      <a:pPr algn="ctr"/>
                      <a:r>
                        <a:rPr lang="zh-CN" altLang="en-US" b="0" dirty="0"/>
                        <a:t>阴性</a:t>
                      </a:r>
                    </a:p>
                  </a:txBody>
                  <a:tcPr anchor="ctr"/>
                </a:tc>
                <a:tc>
                  <a:txBody>
                    <a:bodyPr/>
                    <a:lstStyle/>
                    <a:p>
                      <a:pPr algn="ctr"/>
                      <a:r>
                        <a:rPr lang="zh-CN" altLang="en-US" b="0" dirty="0"/>
                        <a:t>假阴性（</a:t>
                      </a:r>
                      <a:r>
                        <a:rPr lang="en-US" altLang="zh-CN" b="0" dirty="0"/>
                        <a:t>FN</a:t>
                      </a:r>
                      <a:r>
                        <a:rPr lang="zh-CN" altLang="en-US" b="0" dirty="0"/>
                        <a:t>）</a:t>
                      </a:r>
                    </a:p>
                  </a:txBody>
                  <a:tcPr anchor="ctr"/>
                </a:tc>
                <a:tc>
                  <a:txBody>
                    <a:bodyPr/>
                    <a:lstStyle/>
                    <a:p>
                      <a:pPr algn="ctr"/>
                      <a:r>
                        <a:rPr lang="zh-CN" altLang="en-US" b="0" dirty="0"/>
                        <a:t>真阴性（</a:t>
                      </a:r>
                      <a:r>
                        <a:rPr lang="en-US" altLang="zh-CN" b="0" dirty="0"/>
                        <a:t>TN</a:t>
                      </a:r>
                      <a:r>
                        <a:rPr lang="zh-CN" altLang="en-US" b="0" dirty="0"/>
                        <a:t>）</a:t>
                      </a:r>
                    </a:p>
                  </a:txBody>
                  <a:tcPr anchor="ctr"/>
                </a:tc>
                <a:extLst>
                  <a:ext uri="{0D108BD9-81ED-4DB2-BD59-A6C34878D82A}">
                    <a16:rowId xmlns:a16="http://schemas.microsoft.com/office/drawing/2014/main" val="1717215714"/>
                  </a:ext>
                </a:extLst>
              </a:tr>
            </a:tbl>
          </a:graphicData>
        </a:graphic>
      </p:graphicFrame>
      <p:sp>
        <p:nvSpPr>
          <p:cNvPr id="13" name="内容占位符 2"/>
          <p:cNvSpPr txBox="1">
            <a:spLocks/>
          </p:cNvSpPr>
          <p:nvPr/>
        </p:nvSpPr>
        <p:spPr bwMode="gray">
          <a:xfrm>
            <a:off x="133510" y="2864938"/>
            <a:ext cx="6120680" cy="14731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nSpc>
                <a:spcPct val="130000"/>
              </a:lnSpc>
              <a:spcBef>
                <a:spcPts val="600"/>
              </a:spcBef>
              <a:buClrTx/>
              <a:buFont typeface="Arial" panose="020B0604020202020204" pitchFamily="34" charset="0"/>
              <a:buChar char="•"/>
            </a:pPr>
            <a:r>
              <a:rPr lang="zh-CN" altLang="en-US" sz="2200" kern="0" dirty="0">
                <a:solidFill>
                  <a:srgbClr val="FF0000"/>
                </a:solidFill>
                <a:latin typeface="Times New Roman" panose="02020603050405020304" pitchFamily="18" charset="0"/>
                <a:ea typeface="黑体" panose="02010609060101010101" pitchFamily="49" charset="-122"/>
              </a:rPr>
              <a:t>假阳性率（</a:t>
            </a:r>
            <a:r>
              <a:rPr lang="en-US" altLang="zh-CN" sz="2200" kern="0" dirty="0">
                <a:solidFill>
                  <a:srgbClr val="FF0000"/>
                </a:solidFill>
                <a:latin typeface="Times New Roman" panose="02020603050405020304" pitchFamily="18" charset="0"/>
                <a:ea typeface="黑体" panose="02010609060101010101" pitchFamily="49" charset="-122"/>
              </a:rPr>
              <a:t>False Positive Rate</a:t>
            </a:r>
            <a:r>
              <a:rPr lang="zh-CN" altLang="en-US" sz="2200" kern="0" dirty="0">
                <a:solidFill>
                  <a:srgbClr val="FF0000"/>
                </a:solidFill>
                <a:latin typeface="Times New Roman" panose="02020603050405020304" pitchFamily="18" charset="0"/>
                <a:ea typeface="黑体" panose="02010609060101010101" pitchFamily="49" charset="-122"/>
              </a:rPr>
              <a:t>）</a:t>
            </a:r>
            <a:endParaRPr lang="en-US" altLang="zh-CN" sz="2200" kern="0" dirty="0">
              <a:solidFill>
                <a:srgbClr val="FF0000"/>
              </a:solidFill>
              <a:latin typeface="Times New Roman" panose="02020603050405020304" pitchFamily="18" charset="0"/>
              <a:ea typeface="黑体" panose="02010609060101010101" pitchFamily="49" charset="-122"/>
            </a:endParaRPr>
          </a:p>
          <a:p>
            <a:pPr marL="0" indent="0">
              <a:lnSpc>
                <a:spcPct val="130000"/>
              </a:lnSpc>
              <a:spcBef>
                <a:spcPts val="600"/>
              </a:spcBef>
              <a:buClrTx/>
              <a:buNone/>
            </a:pPr>
            <a:r>
              <a:rPr lang="zh-CN" altLang="en-US" sz="1800" kern="0" dirty="0">
                <a:latin typeface="Times New Roman" panose="02020603050405020304" pitchFamily="18" charset="0"/>
                <a:ea typeface="黑体" panose="02010609060101010101" pitchFamily="49" charset="-122"/>
              </a:rPr>
              <a:t>表示假阳性样本占总阴性样本的比例。</a:t>
            </a:r>
            <a:endParaRPr lang="en-US" altLang="zh-CN" sz="1800" kern="0" dirty="0">
              <a:latin typeface="Times New Roman" panose="02020603050405020304" pitchFamily="18" charset="0"/>
              <a:ea typeface="黑体" panose="02010609060101010101" pitchFamily="49" charset="-122"/>
            </a:endParaRPr>
          </a:p>
          <a:p>
            <a:pPr>
              <a:lnSpc>
                <a:spcPct val="130000"/>
              </a:lnSpc>
              <a:spcBef>
                <a:spcPts val="1200"/>
              </a:spcBef>
              <a:buClrTx/>
              <a:buFont typeface="Arial" panose="020B0604020202020204" pitchFamily="34" charset="0"/>
              <a:buChar char="•"/>
            </a:pPr>
            <a:r>
              <a:rPr lang="zh-CN" altLang="en-US" sz="2200" kern="0" dirty="0">
                <a:solidFill>
                  <a:srgbClr val="FF0000"/>
                </a:solidFill>
                <a:latin typeface="Times New Roman" panose="02020603050405020304" pitchFamily="18" charset="0"/>
                <a:ea typeface="黑体" panose="02010609060101010101" pitchFamily="49" charset="-122"/>
              </a:rPr>
              <a:t>假阴性率（</a:t>
            </a:r>
            <a:r>
              <a:rPr lang="en-US" altLang="zh-CN" sz="2200" kern="0" dirty="0">
                <a:solidFill>
                  <a:srgbClr val="FF0000"/>
                </a:solidFill>
                <a:latin typeface="Times New Roman" panose="02020603050405020304" pitchFamily="18" charset="0"/>
                <a:ea typeface="黑体" panose="02010609060101010101" pitchFamily="49" charset="-122"/>
              </a:rPr>
              <a:t>False Negative Rate</a:t>
            </a:r>
            <a:r>
              <a:rPr lang="zh-CN" altLang="en-US" sz="2200" kern="0" dirty="0">
                <a:solidFill>
                  <a:srgbClr val="FF0000"/>
                </a:solidFill>
                <a:latin typeface="Times New Roman" panose="02020603050405020304" pitchFamily="18" charset="0"/>
                <a:ea typeface="黑体" panose="02010609060101010101" pitchFamily="49" charset="-122"/>
              </a:rPr>
              <a:t>）</a:t>
            </a:r>
            <a:endParaRPr lang="en-US" altLang="zh-CN" sz="2200" kern="0" dirty="0">
              <a:solidFill>
                <a:srgbClr val="FF0000"/>
              </a:solidFill>
              <a:latin typeface="Times New Roman" panose="02020603050405020304" pitchFamily="18" charset="0"/>
              <a:ea typeface="黑体" panose="02010609060101010101" pitchFamily="49" charset="-122"/>
            </a:endParaRPr>
          </a:p>
          <a:p>
            <a:pPr marL="0" indent="0">
              <a:lnSpc>
                <a:spcPct val="130000"/>
              </a:lnSpc>
              <a:spcBef>
                <a:spcPts val="1200"/>
              </a:spcBef>
              <a:buClrTx/>
              <a:buNone/>
            </a:pPr>
            <a:r>
              <a:rPr lang="zh-CN" altLang="en-US" sz="1800" kern="0" dirty="0">
                <a:latin typeface="Times New Roman" panose="02020603050405020304" pitchFamily="18" charset="0"/>
                <a:ea typeface="黑体" panose="02010609060101010101" pitchFamily="49" charset="-122"/>
              </a:rPr>
              <a:t>表示假阴性样本占总阳性样本的比例。</a:t>
            </a:r>
            <a:endParaRPr lang="en-US" altLang="zh-CN" sz="1800" kern="0" dirty="0">
              <a:latin typeface="Times New Roman" panose="02020603050405020304" pitchFamily="18" charset="0"/>
              <a:ea typeface="黑体" panose="02010609060101010101" pitchFamily="49" charset="-122"/>
            </a:endParaRPr>
          </a:p>
        </p:txBody>
      </p:sp>
      <p:graphicFrame>
        <p:nvGraphicFramePr>
          <p:cNvPr id="14" name="Object 3"/>
          <p:cNvGraphicFramePr>
            <a:graphicFrameLocks noChangeAspect="1"/>
          </p:cNvGraphicFramePr>
          <p:nvPr>
            <p:extLst>
              <p:ext uri="{D42A27DB-BD31-4B8C-83A1-F6EECF244321}">
                <p14:modId xmlns:p14="http://schemas.microsoft.com/office/powerpoint/2010/main" val="3326234096"/>
              </p:ext>
            </p:extLst>
          </p:nvPr>
        </p:nvGraphicFramePr>
        <p:xfrm>
          <a:off x="4407706" y="2838898"/>
          <a:ext cx="1355700" cy="673614"/>
        </p:xfrm>
        <a:graphic>
          <a:graphicData uri="http://schemas.openxmlformats.org/presentationml/2006/ole">
            <mc:AlternateContent xmlns:mc="http://schemas.openxmlformats.org/markup-compatibility/2006">
              <mc:Choice xmlns:v="urn:schemas-microsoft-com:vml" Requires="v">
                <p:oleObj spid="_x0000_s35342" name="Equation" r:id="rId4" imgW="812520" imgH="393480" progId="Equation.DSMT4">
                  <p:embed/>
                </p:oleObj>
              </mc:Choice>
              <mc:Fallback>
                <p:oleObj name="Equation" r:id="rId4" imgW="812520" imgH="393480" progId="Equation.DSMT4">
                  <p:embed/>
                  <p:pic>
                    <p:nvPicPr>
                      <p:cNvPr id="0" name="Picture 50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07706" y="2838898"/>
                        <a:ext cx="1355700" cy="673614"/>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3"/>
          <p:cNvGraphicFramePr>
            <a:graphicFrameLocks noChangeAspect="1"/>
          </p:cNvGraphicFramePr>
          <p:nvPr>
            <p:extLst>
              <p:ext uri="{D42A27DB-BD31-4B8C-83A1-F6EECF244321}">
                <p14:modId xmlns:p14="http://schemas.microsoft.com/office/powerpoint/2010/main" val="1397182375"/>
              </p:ext>
            </p:extLst>
          </p:nvPr>
        </p:nvGraphicFramePr>
        <p:xfrm>
          <a:off x="4407706" y="3869156"/>
          <a:ext cx="1355700" cy="673614"/>
        </p:xfrm>
        <a:graphic>
          <a:graphicData uri="http://schemas.openxmlformats.org/presentationml/2006/ole">
            <mc:AlternateContent xmlns:mc="http://schemas.openxmlformats.org/markup-compatibility/2006">
              <mc:Choice xmlns:v="urn:schemas-microsoft-com:vml" Requires="v">
                <p:oleObj spid="_x0000_s35343" name="Equation" r:id="rId6" imgW="812520" imgH="393480" progId="Equation.DSMT4">
                  <p:embed/>
                </p:oleObj>
              </mc:Choice>
              <mc:Fallback>
                <p:oleObj name="Equation" r:id="rId6" imgW="812520" imgH="393480" progId="Equation.DSMT4">
                  <p:embed/>
                  <p:pic>
                    <p:nvPicPr>
                      <p:cNvPr id="0" name="Picture 50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07706" y="3869156"/>
                        <a:ext cx="1355700" cy="673614"/>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内容占位符 2"/>
          <p:cNvSpPr txBox="1">
            <a:spLocks/>
          </p:cNvSpPr>
          <p:nvPr/>
        </p:nvSpPr>
        <p:spPr bwMode="gray">
          <a:xfrm>
            <a:off x="6185222" y="2781503"/>
            <a:ext cx="6027380" cy="302013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nSpc>
                <a:spcPct val="130000"/>
              </a:lnSpc>
              <a:spcBef>
                <a:spcPts val="600"/>
              </a:spcBef>
              <a:buClrTx/>
              <a:buFont typeface="Arial" panose="020B0604020202020204" pitchFamily="34" charset="0"/>
              <a:buChar char="•"/>
            </a:pPr>
            <a:r>
              <a:rPr lang="zh-CN" altLang="en-US" sz="2200" kern="0" dirty="0">
                <a:solidFill>
                  <a:srgbClr val="FF0000"/>
                </a:solidFill>
                <a:latin typeface="Times New Roman" panose="02020603050405020304" pitchFamily="18" charset="0"/>
                <a:ea typeface="黑体" panose="02010609060101010101" pitchFamily="49" charset="-122"/>
              </a:rPr>
              <a:t>灵敏度（</a:t>
            </a:r>
            <a:r>
              <a:rPr lang="en-US" altLang="zh-CN" sz="2200" kern="0" dirty="0">
                <a:solidFill>
                  <a:srgbClr val="FF0000"/>
                </a:solidFill>
                <a:latin typeface="Times New Roman" panose="02020603050405020304" pitchFamily="18" charset="0"/>
                <a:ea typeface="黑体" panose="02010609060101010101" pitchFamily="49" charset="-122"/>
              </a:rPr>
              <a:t>Sensitivity</a:t>
            </a:r>
            <a:r>
              <a:rPr lang="zh-CN" altLang="en-US" sz="2200" kern="0" dirty="0">
                <a:solidFill>
                  <a:srgbClr val="FF0000"/>
                </a:solidFill>
                <a:latin typeface="Times New Roman" panose="02020603050405020304" pitchFamily="18" charset="0"/>
                <a:ea typeface="黑体" panose="02010609060101010101" pitchFamily="49" charset="-122"/>
              </a:rPr>
              <a:t>）</a:t>
            </a:r>
            <a:endParaRPr lang="en-US" altLang="zh-CN" sz="2200" kern="0" dirty="0">
              <a:solidFill>
                <a:srgbClr val="FF0000"/>
              </a:solidFill>
              <a:latin typeface="Times New Roman" panose="02020603050405020304" pitchFamily="18" charset="0"/>
              <a:ea typeface="黑体" panose="02010609060101010101" pitchFamily="49" charset="-122"/>
            </a:endParaRPr>
          </a:p>
          <a:p>
            <a:pPr marL="0" indent="0">
              <a:lnSpc>
                <a:spcPct val="130000"/>
              </a:lnSpc>
              <a:spcBef>
                <a:spcPts val="1800"/>
              </a:spcBef>
              <a:buClrTx/>
              <a:buNone/>
            </a:pPr>
            <a:r>
              <a:rPr lang="zh-CN" altLang="en-US" sz="1800" kern="0" dirty="0">
                <a:latin typeface="Times New Roman" panose="02020603050405020304" pitchFamily="18" charset="0"/>
                <a:ea typeface="黑体" panose="02010609060101010101" pitchFamily="49" charset="-122"/>
              </a:rPr>
              <a:t>表示阳性样本正确识别出来的能力。在医学应用场景就是把有病的人诊断出来的比例。</a:t>
            </a:r>
            <a:endParaRPr lang="en-US" altLang="zh-CN" sz="1800" kern="0" dirty="0">
              <a:latin typeface="Times New Roman" panose="02020603050405020304" pitchFamily="18" charset="0"/>
              <a:ea typeface="黑体" panose="02010609060101010101" pitchFamily="49" charset="-122"/>
            </a:endParaRPr>
          </a:p>
          <a:p>
            <a:pPr>
              <a:lnSpc>
                <a:spcPct val="130000"/>
              </a:lnSpc>
              <a:spcBef>
                <a:spcPts val="1200"/>
              </a:spcBef>
              <a:buClrTx/>
              <a:buFont typeface="Arial" panose="020B0604020202020204" pitchFamily="34" charset="0"/>
              <a:buChar char="•"/>
            </a:pPr>
            <a:r>
              <a:rPr lang="zh-CN" altLang="en-US" sz="2200" kern="0" dirty="0">
                <a:solidFill>
                  <a:srgbClr val="FF0000"/>
                </a:solidFill>
                <a:latin typeface="Times New Roman" panose="02020603050405020304" pitchFamily="18" charset="0"/>
                <a:ea typeface="黑体" panose="02010609060101010101" pitchFamily="49" charset="-122"/>
              </a:rPr>
              <a:t>特异度（</a:t>
            </a:r>
            <a:r>
              <a:rPr lang="en-US" altLang="zh-CN" sz="2200" kern="0" dirty="0">
                <a:solidFill>
                  <a:srgbClr val="FF0000"/>
                </a:solidFill>
                <a:latin typeface="Times New Roman" panose="02020603050405020304" pitchFamily="18" charset="0"/>
                <a:ea typeface="黑体" panose="02010609060101010101" pitchFamily="49" charset="-122"/>
              </a:rPr>
              <a:t>Specificity</a:t>
            </a:r>
            <a:r>
              <a:rPr lang="zh-CN" altLang="en-US" sz="2200" kern="0" dirty="0">
                <a:solidFill>
                  <a:srgbClr val="FF0000"/>
                </a:solidFill>
                <a:latin typeface="Times New Roman" panose="02020603050405020304" pitchFamily="18" charset="0"/>
                <a:ea typeface="黑体" panose="02010609060101010101" pitchFamily="49" charset="-122"/>
              </a:rPr>
              <a:t>）</a:t>
            </a:r>
            <a:endParaRPr lang="en-US" altLang="zh-CN" sz="2200" kern="0" dirty="0">
              <a:solidFill>
                <a:srgbClr val="FF0000"/>
              </a:solidFill>
              <a:latin typeface="Times New Roman" panose="02020603050405020304" pitchFamily="18" charset="0"/>
              <a:ea typeface="黑体" panose="02010609060101010101" pitchFamily="49" charset="-122"/>
            </a:endParaRPr>
          </a:p>
          <a:p>
            <a:pPr marL="0" indent="0">
              <a:lnSpc>
                <a:spcPct val="130000"/>
              </a:lnSpc>
              <a:spcBef>
                <a:spcPts val="1200"/>
              </a:spcBef>
              <a:buClrTx/>
              <a:buNone/>
            </a:pPr>
            <a:r>
              <a:rPr lang="zh-CN" altLang="en-US" sz="1800" kern="0" dirty="0">
                <a:latin typeface="Times New Roman" panose="02020603050405020304" pitchFamily="18" charset="0"/>
                <a:ea typeface="黑体" panose="02010609060101010101" pitchFamily="49" charset="-122"/>
              </a:rPr>
              <a:t>表示把阴性样本正确判断出来的能力。在医学应用场景就是把无病的人误诊为有病的比例。</a:t>
            </a:r>
            <a:endParaRPr lang="en-US" altLang="zh-CN" sz="1800" kern="0" dirty="0">
              <a:solidFill>
                <a:srgbClr val="FF0000"/>
              </a:solidFill>
              <a:latin typeface="Times New Roman" panose="02020603050405020304" pitchFamily="18" charset="0"/>
              <a:ea typeface="黑体" panose="02010609060101010101" pitchFamily="49" charset="-122"/>
            </a:endParaRPr>
          </a:p>
        </p:txBody>
      </p:sp>
      <p:graphicFrame>
        <p:nvGraphicFramePr>
          <p:cNvPr id="18" name="Object 3"/>
          <p:cNvGraphicFramePr>
            <a:graphicFrameLocks noChangeAspect="1"/>
          </p:cNvGraphicFramePr>
          <p:nvPr>
            <p:extLst>
              <p:ext uri="{D42A27DB-BD31-4B8C-83A1-F6EECF244321}">
                <p14:modId xmlns:p14="http://schemas.microsoft.com/office/powerpoint/2010/main" val="2487089683"/>
              </p:ext>
            </p:extLst>
          </p:nvPr>
        </p:nvGraphicFramePr>
        <p:xfrm>
          <a:off x="9297840" y="2781503"/>
          <a:ext cx="1419225" cy="673100"/>
        </p:xfrm>
        <a:graphic>
          <a:graphicData uri="http://schemas.openxmlformats.org/presentationml/2006/ole">
            <mc:AlternateContent xmlns:mc="http://schemas.openxmlformats.org/markup-compatibility/2006">
              <mc:Choice xmlns:v="urn:schemas-microsoft-com:vml" Requires="v">
                <p:oleObj spid="_x0000_s35344" name="Equation" r:id="rId8" imgW="850680" imgH="393480" progId="Equation.DSMT4">
                  <p:embed/>
                </p:oleObj>
              </mc:Choice>
              <mc:Fallback>
                <p:oleObj name="Equation" r:id="rId8" imgW="850680" imgH="393480" progId="Equation.DSMT4">
                  <p:embed/>
                  <p:pic>
                    <p:nvPicPr>
                      <p:cNvPr id="0" name="Picture 50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297840" y="2781503"/>
                        <a:ext cx="1419225" cy="673100"/>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3"/>
          <p:cNvGraphicFramePr>
            <a:graphicFrameLocks noChangeAspect="1"/>
          </p:cNvGraphicFramePr>
          <p:nvPr>
            <p:extLst>
              <p:ext uri="{D42A27DB-BD31-4B8C-83A1-F6EECF244321}">
                <p14:modId xmlns:p14="http://schemas.microsoft.com/office/powerpoint/2010/main" val="1555511935"/>
              </p:ext>
            </p:extLst>
          </p:nvPr>
        </p:nvGraphicFramePr>
        <p:xfrm>
          <a:off x="9343931" y="4305166"/>
          <a:ext cx="1439862" cy="674688"/>
        </p:xfrm>
        <a:graphic>
          <a:graphicData uri="http://schemas.openxmlformats.org/presentationml/2006/ole">
            <mc:AlternateContent xmlns:mc="http://schemas.openxmlformats.org/markup-compatibility/2006">
              <mc:Choice xmlns:v="urn:schemas-microsoft-com:vml" Requires="v">
                <p:oleObj spid="_x0000_s35345" name="Equation" r:id="rId10" imgW="863280" imgH="393480" progId="Equation.DSMT4">
                  <p:embed/>
                </p:oleObj>
              </mc:Choice>
              <mc:Fallback>
                <p:oleObj name="Equation" r:id="rId10" imgW="863280" imgH="393480" progId="Equation.DSMT4">
                  <p:embed/>
                  <p:pic>
                    <p:nvPicPr>
                      <p:cNvPr id="0" name="Picture 50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343931" y="4305166"/>
                        <a:ext cx="1439862" cy="674688"/>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8" name="直接连接符 7"/>
          <p:cNvCxnSpPr/>
          <p:nvPr/>
        </p:nvCxnSpPr>
        <p:spPr>
          <a:xfrm>
            <a:off x="6168008" y="3114948"/>
            <a:ext cx="10096" cy="2361972"/>
          </a:xfrm>
          <a:prstGeom prst="line">
            <a:avLst/>
          </a:prstGeom>
          <a:ln w="31750">
            <a:solidFill>
              <a:schemeClr val="accent5">
                <a:lumMod val="50000"/>
              </a:schemeClr>
            </a:solidFill>
            <a:tailEnd type="none"/>
          </a:ln>
        </p:spPr>
        <p:style>
          <a:lnRef idx="1">
            <a:schemeClr val="accent1"/>
          </a:lnRef>
          <a:fillRef idx="0">
            <a:schemeClr val="accent1"/>
          </a:fillRef>
          <a:effectRef idx="0">
            <a:schemeClr val="accent1"/>
          </a:effectRef>
          <a:fontRef idx="minor">
            <a:schemeClr val="tx1"/>
          </a:fontRef>
        </p:style>
      </p:cxnSp>
      <p:graphicFrame>
        <p:nvGraphicFramePr>
          <p:cNvPr id="24" name="Object 3"/>
          <p:cNvGraphicFramePr>
            <a:graphicFrameLocks noChangeAspect="1"/>
          </p:cNvGraphicFramePr>
          <p:nvPr>
            <p:extLst>
              <p:ext uri="{D42A27DB-BD31-4B8C-83A1-F6EECF244321}">
                <p14:modId xmlns:p14="http://schemas.microsoft.com/office/powerpoint/2010/main" val="2222105455"/>
              </p:ext>
            </p:extLst>
          </p:nvPr>
        </p:nvGraphicFramePr>
        <p:xfrm>
          <a:off x="5524960" y="6048717"/>
          <a:ext cx="1058863" cy="412750"/>
        </p:xfrm>
        <a:graphic>
          <a:graphicData uri="http://schemas.openxmlformats.org/presentationml/2006/ole">
            <mc:AlternateContent xmlns:mc="http://schemas.openxmlformats.org/markup-compatibility/2006">
              <mc:Choice xmlns:v="urn:schemas-microsoft-com:vml" Requires="v">
                <p:oleObj spid="_x0000_s35346" name="Equation" r:id="rId12" imgW="634680" imgH="241200" progId="Equation.DSMT4">
                  <p:embed/>
                </p:oleObj>
              </mc:Choice>
              <mc:Fallback>
                <p:oleObj name="Equation" r:id="rId12" imgW="634680" imgH="241200" progId="Equation.DSMT4">
                  <p:embed/>
                  <p:pic>
                    <p:nvPicPr>
                      <p:cNvPr id="0" name="Picture 50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24960" y="6048717"/>
                        <a:ext cx="1058863" cy="412750"/>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3"/>
          <p:cNvGraphicFramePr>
            <a:graphicFrameLocks noChangeAspect="1"/>
          </p:cNvGraphicFramePr>
          <p:nvPr>
            <p:extLst>
              <p:ext uri="{D42A27DB-BD31-4B8C-83A1-F6EECF244321}">
                <p14:modId xmlns:p14="http://schemas.microsoft.com/office/powerpoint/2010/main" val="2232177350"/>
              </p:ext>
            </p:extLst>
          </p:nvPr>
        </p:nvGraphicFramePr>
        <p:xfrm>
          <a:off x="5524961" y="5643477"/>
          <a:ext cx="1058862" cy="392113"/>
        </p:xfrm>
        <a:graphic>
          <a:graphicData uri="http://schemas.openxmlformats.org/presentationml/2006/ole">
            <mc:AlternateContent xmlns:mc="http://schemas.openxmlformats.org/markup-compatibility/2006">
              <mc:Choice xmlns:v="urn:schemas-microsoft-com:vml" Requires="v">
                <p:oleObj spid="_x0000_s35347" name="Equation" r:id="rId14" imgW="634680" imgH="228600" progId="Equation.DSMT4">
                  <p:embed/>
                </p:oleObj>
              </mc:Choice>
              <mc:Fallback>
                <p:oleObj name="Equation" r:id="rId14" imgW="634680" imgH="228600" progId="Equation.DSMT4">
                  <p:embed/>
                  <p:pic>
                    <p:nvPicPr>
                      <p:cNvPr id="0" name="Picture 50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24961" y="5643477"/>
                        <a:ext cx="1058862" cy="392113"/>
                      </a:xfrm>
                      <a:prstGeom prst="rect">
                        <a:avLst/>
                      </a:prstGeom>
                      <a:noFill/>
                      <a:ln w="9525">
                        <a:solidFill>
                          <a:srgbClr val="FF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26" name="直接连接符 25"/>
          <p:cNvCxnSpPr/>
          <p:nvPr/>
        </p:nvCxnSpPr>
        <p:spPr>
          <a:xfrm>
            <a:off x="4534075" y="6429396"/>
            <a:ext cx="2836019" cy="0"/>
          </a:xfrm>
          <a:prstGeom prst="line">
            <a:avLst/>
          </a:prstGeom>
          <a:ln w="31750">
            <a:solidFill>
              <a:schemeClr val="accent5">
                <a:lumMod val="50000"/>
              </a:schemeClr>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2195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33</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13.3 </a:t>
            </a:r>
            <a:r>
              <a:rPr lang="zh-CN" altLang="zh-CN" dirty="0"/>
              <a:t>两类错误率、</a:t>
            </a:r>
            <a:r>
              <a:rPr lang="en-US" altLang="zh-CN" dirty="0" err="1"/>
              <a:t>Neyman</a:t>
            </a:r>
            <a:r>
              <a:rPr lang="en-US" altLang="zh-CN" dirty="0"/>
              <a:t>-Pearson</a:t>
            </a:r>
            <a:r>
              <a:rPr lang="zh-CN" altLang="zh-CN" dirty="0"/>
              <a:t>决策和</a:t>
            </a:r>
            <a:r>
              <a:rPr lang="en-US" altLang="zh-CN" dirty="0"/>
              <a:t>ROC</a:t>
            </a:r>
            <a:r>
              <a:rPr lang="zh-CN" altLang="zh-CN" dirty="0"/>
              <a:t>曲线</a:t>
            </a:r>
          </a:p>
        </p:txBody>
      </p:sp>
      <p:sp>
        <p:nvSpPr>
          <p:cNvPr id="42" name="矩形 41"/>
          <p:cNvSpPr/>
          <p:nvPr/>
        </p:nvSpPr>
        <p:spPr>
          <a:xfrm>
            <a:off x="304132" y="1177588"/>
            <a:ext cx="3841116" cy="523220"/>
          </a:xfrm>
          <a:prstGeom prst="rect">
            <a:avLst/>
          </a:prstGeom>
        </p:spPr>
        <p:txBody>
          <a:bodyPr wrap="none">
            <a:spAutoFit/>
          </a:bodyPr>
          <a:lstStyle/>
          <a:p>
            <a:r>
              <a:rPr lang="en-US" altLang="zh-CN" sz="2800" b="1" dirty="0" err="1">
                <a:solidFill>
                  <a:srgbClr val="0000FF"/>
                </a:solidFill>
                <a:latin typeface="Arial" panose="020B0604020202020204" pitchFamily="34" charset="0"/>
              </a:rPr>
              <a:t>Neyman</a:t>
            </a:r>
            <a:r>
              <a:rPr lang="en-US" altLang="zh-CN" sz="2800" b="1" dirty="0">
                <a:solidFill>
                  <a:srgbClr val="0000FF"/>
                </a:solidFill>
                <a:latin typeface="Arial" panose="020B0604020202020204" pitchFamily="34" charset="0"/>
              </a:rPr>
              <a:t>-Pearson</a:t>
            </a:r>
            <a:r>
              <a:rPr lang="zh-CN" altLang="zh-CN" sz="2800" b="1" dirty="0">
                <a:solidFill>
                  <a:srgbClr val="0000FF"/>
                </a:solidFill>
                <a:latin typeface="Arial" panose="020B0604020202020204" pitchFamily="34" charset="0"/>
              </a:rPr>
              <a:t>决策</a:t>
            </a:r>
            <a:endParaRPr lang="zh-CN" altLang="en-US" sz="2800" b="1" dirty="0">
              <a:solidFill>
                <a:srgbClr val="0000FF"/>
              </a:solidFill>
              <a:latin typeface="Arial" panose="020B0604020202020204" pitchFamily="34" charset="0"/>
            </a:endParaRPr>
          </a:p>
        </p:txBody>
      </p:sp>
      <p:sp>
        <p:nvSpPr>
          <p:cNvPr id="12" name="内容占位符 2"/>
          <p:cNvSpPr>
            <a:spLocks noGrp="1"/>
          </p:cNvSpPr>
          <p:nvPr>
            <p:ph idx="1"/>
          </p:nvPr>
        </p:nvSpPr>
        <p:spPr>
          <a:xfrm>
            <a:off x="321148" y="1928802"/>
            <a:ext cx="11399440" cy="1932246"/>
          </a:xfrm>
        </p:spPr>
        <p:txBody>
          <a:bodyPr/>
          <a:lstStyle/>
          <a:p>
            <a:pPr marL="0" indent="0">
              <a:lnSpc>
                <a:spcPct val="130000"/>
              </a:lnSpc>
              <a:spcBef>
                <a:spcPts val="0"/>
              </a:spcBef>
              <a:buNone/>
            </a:pPr>
            <a:r>
              <a:rPr lang="zh-CN" altLang="en-US" sz="2200" dirty="0">
                <a:latin typeface="Times New Roman" panose="02020603050405020304" pitchFamily="18" charset="0"/>
                <a:ea typeface="黑体" panose="02010609060101010101" pitchFamily="49" charset="-122"/>
              </a:rPr>
              <a:t>在某些问题中，某一种错误较另一种错误更为重要，即危害更为重要，这时可能需要在某个约束条件下最小化总风险。</a:t>
            </a:r>
          </a:p>
          <a:p>
            <a:pPr marL="0" indent="0">
              <a:lnSpc>
                <a:spcPct val="120000"/>
              </a:lnSpc>
              <a:spcBef>
                <a:spcPts val="1200"/>
              </a:spcBef>
              <a:buNone/>
            </a:pPr>
            <a:r>
              <a:rPr lang="zh-CN" altLang="en-US" sz="2200" dirty="0">
                <a:solidFill>
                  <a:srgbClr val="FF6600"/>
                </a:solidFill>
                <a:latin typeface="Times New Roman" panose="02020603050405020304" pitchFamily="18" charset="0"/>
                <a:ea typeface="黑体" panose="02010609060101010101" pitchFamily="49" charset="-122"/>
              </a:rPr>
              <a:t>比如，在目标分类器中要求将“导弹”误判为“飞机”的错误率不得超过</a:t>
            </a:r>
            <a:r>
              <a:rPr lang="en-US" altLang="zh-CN" sz="2200" dirty="0">
                <a:solidFill>
                  <a:srgbClr val="FF6600"/>
                </a:solidFill>
                <a:latin typeface="Times New Roman" panose="02020603050405020304" pitchFamily="18" charset="0"/>
                <a:ea typeface="黑体" panose="02010609060101010101" pitchFamily="49" charset="-122"/>
              </a:rPr>
              <a:t>1%</a:t>
            </a:r>
            <a:r>
              <a:rPr lang="zh-CN" altLang="en-US" sz="2200" dirty="0">
                <a:solidFill>
                  <a:srgbClr val="FF6600"/>
                </a:solidFill>
                <a:latin typeface="Times New Roman" panose="02020603050405020304" pitchFamily="18" charset="0"/>
                <a:ea typeface="黑体" panose="02010609060101010101" pitchFamily="49" charset="-122"/>
              </a:rPr>
              <a:t>，同时要求在此约束条件下最小化将“飞机”误判为“导弹”的可能性。</a:t>
            </a:r>
          </a:p>
        </p:txBody>
      </p:sp>
      <p:sp>
        <p:nvSpPr>
          <p:cNvPr id="4" name="矩形 3"/>
          <p:cNvSpPr/>
          <p:nvPr/>
        </p:nvSpPr>
        <p:spPr>
          <a:xfrm>
            <a:off x="304132" y="4089042"/>
            <a:ext cx="11416456" cy="972574"/>
          </a:xfrm>
          <a:prstGeom prst="rect">
            <a:avLst/>
          </a:prstGeom>
        </p:spPr>
        <p:txBody>
          <a:bodyPr wrap="square">
            <a:spAutoFit/>
          </a:bodyPr>
          <a:lstStyle/>
          <a:p>
            <a:pPr>
              <a:lnSpc>
                <a:spcPct val="130000"/>
              </a:lnSpc>
            </a:pPr>
            <a:r>
              <a:rPr lang="en-US" altLang="zh-CN" sz="2200" dirty="0" err="1">
                <a:solidFill>
                  <a:srgbClr val="FF0000"/>
                </a:solidFill>
                <a:latin typeface="Times New Roman" panose="02020603050405020304" pitchFamily="18" charset="0"/>
                <a:ea typeface="黑体" panose="02010609060101010101" pitchFamily="49" charset="-122"/>
              </a:rPr>
              <a:t>Neyman</a:t>
            </a:r>
            <a:r>
              <a:rPr lang="en-US" altLang="zh-CN" sz="2200" dirty="0">
                <a:solidFill>
                  <a:srgbClr val="FF0000"/>
                </a:solidFill>
                <a:latin typeface="Times New Roman" panose="02020603050405020304" pitchFamily="18" charset="0"/>
                <a:ea typeface="黑体" panose="02010609060101010101" pitchFamily="49" charset="-122"/>
              </a:rPr>
              <a:t>-Pearson</a:t>
            </a:r>
            <a:r>
              <a:rPr lang="zh-CN" altLang="en-US" sz="2200" dirty="0">
                <a:solidFill>
                  <a:srgbClr val="FF0000"/>
                </a:solidFill>
                <a:latin typeface="Times New Roman" panose="02020603050405020304" pitchFamily="18" charset="0"/>
                <a:ea typeface="黑体" panose="02010609060101010101" pitchFamily="49" charset="-122"/>
              </a:rPr>
              <a:t>准则：</a:t>
            </a:r>
            <a:r>
              <a:rPr lang="zh-CN" altLang="en-US" sz="2200" dirty="0">
                <a:latin typeface="Times New Roman" panose="02020603050405020304" pitchFamily="18" charset="0"/>
                <a:ea typeface="黑体" panose="02010609060101010101" pitchFamily="49" charset="-122"/>
              </a:rPr>
              <a:t>是严格限制较重要的一类错误概率令其等于某常数而使另一类误判概率最小。 </a:t>
            </a:r>
          </a:p>
        </p:txBody>
      </p:sp>
    </p:spTree>
    <p:extLst>
      <p:ext uri="{BB962C8B-B14F-4D97-AF65-F5344CB8AC3E}">
        <p14:creationId xmlns:p14="http://schemas.microsoft.com/office/powerpoint/2010/main" val="21303102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34</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13.3 </a:t>
            </a:r>
            <a:r>
              <a:rPr lang="zh-CN" altLang="zh-CN" dirty="0"/>
              <a:t>两类错误率、</a:t>
            </a:r>
            <a:r>
              <a:rPr lang="en-US" altLang="zh-CN" dirty="0" err="1"/>
              <a:t>Neyman</a:t>
            </a:r>
            <a:r>
              <a:rPr lang="en-US" altLang="zh-CN" dirty="0"/>
              <a:t>-Pearson</a:t>
            </a:r>
            <a:r>
              <a:rPr lang="zh-CN" altLang="zh-CN" dirty="0"/>
              <a:t>决策和</a:t>
            </a:r>
            <a:r>
              <a:rPr lang="en-US" altLang="zh-CN" dirty="0"/>
              <a:t>ROC</a:t>
            </a:r>
            <a:r>
              <a:rPr lang="zh-CN" altLang="zh-CN" dirty="0"/>
              <a:t>曲线</a:t>
            </a:r>
          </a:p>
        </p:txBody>
      </p:sp>
      <p:sp>
        <p:nvSpPr>
          <p:cNvPr id="42" name="矩形 41"/>
          <p:cNvSpPr/>
          <p:nvPr/>
        </p:nvSpPr>
        <p:spPr>
          <a:xfrm>
            <a:off x="304132" y="1052736"/>
            <a:ext cx="3841116" cy="523220"/>
          </a:xfrm>
          <a:prstGeom prst="rect">
            <a:avLst/>
          </a:prstGeom>
        </p:spPr>
        <p:txBody>
          <a:bodyPr wrap="none">
            <a:spAutoFit/>
          </a:bodyPr>
          <a:lstStyle/>
          <a:p>
            <a:r>
              <a:rPr lang="en-US" altLang="zh-CN" sz="2800" b="1" dirty="0" err="1">
                <a:solidFill>
                  <a:srgbClr val="0000FF"/>
                </a:solidFill>
                <a:latin typeface="Arial" panose="020B0604020202020204" pitchFamily="34" charset="0"/>
              </a:rPr>
              <a:t>Neyman</a:t>
            </a:r>
            <a:r>
              <a:rPr lang="en-US" altLang="zh-CN" sz="2800" b="1" dirty="0">
                <a:solidFill>
                  <a:srgbClr val="0000FF"/>
                </a:solidFill>
                <a:latin typeface="Arial" panose="020B0604020202020204" pitchFamily="34" charset="0"/>
              </a:rPr>
              <a:t>-Pearson</a:t>
            </a:r>
            <a:r>
              <a:rPr lang="zh-CN" altLang="zh-CN" sz="2800" b="1" dirty="0">
                <a:solidFill>
                  <a:srgbClr val="0000FF"/>
                </a:solidFill>
                <a:latin typeface="Arial" panose="020B0604020202020204" pitchFamily="34" charset="0"/>
              </a:rPr>
              <a:t>决策</a:t>
            </a:r>
            <a:endParaRPr lang="zh-CN" altLang="en-US" sz="2800" b="1" dirty="0">
              <a:solidFill>
                <a:srgbClr val="0000FF"/>
              </a:solidFill>
              <a:latin typeface="Arial" panose="020B0604020202020204" pitchFamily="34" charset="0"/>
            </a:endParaRPr>
          </a:p>
        </p:txBody>
      </p:sp>
      <p:sp>
        <p:nvSpPr>
          <p:cNvPr id="11" name="内容占位符 2"/>
          <p:cNvSpPr txBox="1">
            <a:spLocks/>
          </p:cNvSpPr>
          <p:nvPr/>
        </p:nvSpPr>
        <p:spPr bwMode="gray">
          <a:xfrm>
            <a:off x="343502" y="1658910"/>
            <a:ext cx="11441129" cy="24901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nSpc>
                <a:spcPct val="120000"/>
              </a:lnSpc>
              <a:buNone/>
            </a:pPr>
            <a:r>
              <a:rPr lang="zh-CN" altLang="en-US" sz="2200" dirty="0">
                <a:latin typeface="Times New Roman" panose="02020603050405020304" pitchFamily="18" charset="0"/>
                <a:ea typeface="黑体" panose="02010609060101010101" pitchFamily="49" charset="-122"/>
              </a:rPr>
              <a:t>对两类识别问题，有两种错误可能发生：</a:t>
            </a:r>
            <a:r>
              <a:rPr lang="en-US" altLang="zh-CN" sz="2200" dirty="0">
                <a:latin typeface="Times New Roman" panose="02020603050405020304" pitchFamily="18" charset="0"/>
                <a:ea typeface="黑体" panose="02010609060101010101" pitchFamily="49" charset="-122"/>
              </a:rPr>
              <a:t>1. </a:t>
            </a:r>
            <a:r>
              <a:rPr lang="zh-CN" altLang="en-US" sz="2200" dirty="0">
                <a:latin typeface="Times New Roman" panose="02020603050405020304" pitchFamily="18" charset="0"/>
                <a:ea typeface="黑体" panose="02010609060101010101" pitchFamily="49" charset="-122"/>
              </a:rPr>
              <a:t>属于</a:t>
            </a:r>
            <a:r>
              <a:rPr lang="zh-CN" altLang="en-US" sz="2200" dirty="0">
                <a:latin typeface="Times New Roman" panose="02020603050405020304" pitchFamily="18" charset="0"/>
                <a:ea typeface="黑体" panose="02010609060101010101" pitchFamily="49" charset="-122"/>
                <a:sym typeface="Symbol" pitchFamily="18" charset="2"/>
              </a:rPr>
              <a:t></a:t>
            </a:r>
            <a:r>
              <a:rPr lang="en-US" altLang="zh-CN" sz="2200" dirty="0">
                <a:latin typeface="Times New Roman" panose="02020603050405020304" pitchFamily="18" charset="0"/>
                <a:ea typeface="黑体" panose="02010609060101010101" pitchFamily="49" charset="-122"/>
              </a:rPr>
              <a:t>1</a:t>
            </a:r>
            <a:r>
              <a:rPr lang="zh-CN" altLang="en-US" sz="2200" dirty="0">
                <a:latin typeface="Times New Roman" panose="02020603050405020304" pitchFamily="18" charset="0"/>
                <a:ea typeface="黑体" panose="02010609060101010101" pitchFamily="49" charset="-122"/>
              </a:rPr>
              <a:t>的模式</a:t>
            </a:r>
            <a:r>
              <a:rPr lang="en-US" altLang="zh-CN" sz="2200" dirty="0">
                <a:latin typeface="Times New Roman" panose="02020603050405020304" pitchFamily="18" charset="0"/>
                <a:ea typeface="黑体" panose="02010609060101010101" pitchFamily="49" charset="-122"/>
              </a:rPr>
              <a:t>X</a:t>
            </a:r>
            <a:r>
              <a:rPr lang="zh-CN" altLang="en-US" sz="2200" dirty="0">
                <a:latin typeface="Times New Roman" panose="02020603050405020304" pitchFamily="18" charset="0"/>
                <a:ea typeface="黑体" panose="02010609060101010101" pitchFamily="49" charset="-122"/>
              </a:rPr>
              <a:t>被误分到类</a:t>
            </a:r>
            <a:r>
              <a:rPr lang="zh-CN" altLang="en-US" sz="2200" dirty="0">
                <a:latin typeface="Times New Roman" panose="02020603050405020304" pitchFamily="18" charset="0"/>
                <a:ea typeface="黑体" panose="02010609060101010101" pitchFamily="49" charset="-122"/>
                <a:sym typeface="Symbol" pitchFamily="18" charset="2"/>
              </a:rPr>
              <a:t></a:t>
            </a:r>
            <a:r>
              <a:rPr lang="en-US" altLang="zh-CN" sz="2200" dirty="0">
                <a:latin typeface="Times New Roman" panose="02020603050405020304" pitchFamily="18" charset="0"/>
                <a:ea typeface="黑体" panose="02010609060101010101" pitchFamily="49" charset="-122"/>
              </a:rPr>
              <a:t>2</a:t>
            </a:r>
            <a:r>
              <a:rPr lang="zh-CN" altLang="en-US" sz="2200" dirty="0">
                <a:latin typeface="Times New Roman" panose="02020603050405020304" pitchFamily="18" charset="0"/>
                <a:ea typeface="黑体" panose="02010609060101010101" pitchFamily="49" charset="-122"/>
              </a:rPr>
              <a:t>；</a:t>
            </a:r>
          </a:p>
          <a:p>
            <a:pPr marL="609600" indent="-609600">
              <a:lnSpc>
                <a:spcPct val="120000"/>
              </a:lnSpc>
              <a:spcBef>
                <a:spcPct val="0"/>
              </a:spcBef>
              <a:buClrTx/>
              <a:buFontTx/>
              <a:buNone/>
            </a:pPr>
            <a:r>
              <a:rPr lang="zh-CN" altLang="en-US" sz="2200" dirty="0">
                <a:latin typeface="Times New Roman" panose="02020603050405020304" pitchFamily="18" charset="0"/>
                <a:ea typeface="黑体" panose="02010609060101010101" pitchFamily="49" charset="-122"/>
              </a:rPr>
              <a:t>                                                                        </a:t>
            </a:r>
            <a:r>
              <a:rPr lang="en-US" altLang="zh-CN" sz="2200" dirty="0">
                <a:latin typeface="Times New Roman" panose="02020603050405020304" pitchFamily="18" charset="0"/>
                <a:ea typeface="黑体" panose="02010609060101010101" pitchFamily="49" charset="-122"/>
              </a:rPr>
              <a:t>2. </a:t>
            </a:r>
            <a:r>
              <a:rPr lang="zh-CN" altLang="en-US" sz="2200" dirty="0">
                <a:latin typeface="Times New Roman" panose="02020603050405020304" pitchFamily="18" charset="0"/>
                <a:ea typeface="黑体" panose="02010609060101010101" pitchFamily="49" charset="-122"/>
              </a:rPr>
              <a:t>属于</a:t>
            </a:r>
            <a:r>
              <a:rPr lang="zh-CN" altLang="en-US" sz="2200" dirty="0">
                <a:latin typeface="Times New Roman" panose="02020603050405020304" pitchFamily="18" charset="0"/>
                <a:ea typeface="黑体" panose="02010609060101010101" pitchFamily="49" charset="-122"/>
                <a:sym typeface="Symbol" pitchFamily="18" charset="2"/>
              </a:rPr>
              <a:t></a:t>
            </a:r>
            <a:r>
              <a:rPr lang="en-US" altLang="zh-CN" sz="2200" dirty="0">
                <a:latin typeface="Times New Roman" panose="02020603050405020304" pitchFamily="18" charset="0"/>
                <a:ea typeface="黑体" panose="02010609060101010101" pitchFamily="49" charset="-122"/>
              </a:rPr>
              <a:t>2</a:t>
            </a:r>
            <a:r>
              <a:rPr lang="zh-CN" altLang="en-US" sz="2200" dirty="0">
                <a:latin typeface="Times New Roman" panose="02020603050405020304" pitchFamily="18" charset="0"/>
                <a:ea typeface="黑体" panose="02010609060101010101" pitchFamily="49" charset="-122"/>
              </a:rPr>
              <a:t>的模式</a:t>
            </a:r>
            <a:r>
              <a:rPr lang="en-US" altLang="zh-CN" sz="2200" dirty="0">
                <a:latin typeface="Times New Roman" panose="02020603050405020304" pitchFamily="18" charset="0"/>
                <a:ea typeface="黑体" panose="02010609060101010101" pitchFamily="49" charset="-122"/>
              </a:rPr>
              <a:t>X</a:t>
            </a:r>
            <a:r>
              <a:rPr lang="zh-CN" altLang="en-US" sz="2200" dirty="0">
                <a:latin typeface="Times New Roman" panose="02020603050405020304" pitchFamily="18" charset="0"/>
                <a:ea typeface="黑体" panose="02010609060101010101" pitchFamily="49" charset="-122"/>
              </a:rPr>
              <a:t>被误分到类</a:t>
            </a:r>
            <a:r>
              <a:rPr lang="zh-CN" altLang="en-US" sz="2200" dirty="0">
                <a:latin typeface="Times New Roman" panose="02020603050405020304" pitchFamily="18" charset="0"/>
                <a:ea typeface="黑体" panose="02010609060101010101" pitchFamily="49" charset="-122"/>
                <a:sym typeface="Symbol" pitchFamily="18" charset="2"/>
              </a:rPr>
              <a:t></a:t>
            </a:r>
            <a:r>
              <a:rPr lang="en-US" altLang="zh-CN" sz="2200" dirty="0">
                <a:latin typeface="Times New Roman" panose="02020603050405020304" pitchFamily="18" charset="0"/>
                <a:ea typeface="黑体" panose="02010609060101010101" pitchFamily="49" charset="-122"/>
              </a:rPr>
              <a:t>1</a:t>
            </a:r>
            <a:r>
              <a:rPr lang="zh-CN" altLang="en-US" sz="2200" dirty="0">
                <a:latin typeface="Times New Roman" panose="02020603050405020304" pitchFamily="18" charset="0"/>
                <a:ea typeface="黑体" panose="02010609060101010101" pitchFamily="49" charset="-122"/>
              </a:rPr>
              <a:t>；  </a:t>
            </a:r>
            <a:endParaRPr lang="en-US" altLang="zh-CN" sz="2200" dirty="0">
              <a:latin typeface="Times New Roman" panose="02020603050405020304" pitchFamily="18" charset="0"/>
              <a:ea typeface="黑体" panose="02010609060101010101" pitchFamily="49" charset="-122"/>
            </a:endParaRPr>
          </a:p>
          <a:p>
            <a:pPr marL="609600" indent="-609600">
              <a:lnSpc>
                <a:spcPct val="120000"/>
              </a:lnSpc>
              <a:spcBef>
                <a:spcPct val="0"/>
              </a:spcBef>
              <a:buClrTx/>
              <a:buFontTx/>
              <a:buNone/>
            </a:pPr>
            <a:r>
              <a:rPr lang="zh-CN" altLang="en-US" sz="2200" dirty="0">
                <a:latin typeface="Times New Roman" panose="02020603050405020304" pitchFamily="18" charset="0"/>
                <a:ea typeface="黑体" panose="02010609060101010101" pitchFamily="49" charset="-122"/>
              </a:rPr>
              <a:t>设这两种错误的概率分别为</a:t>
            </a:r>
            <a:r>
              <a:rPr lang="en-US" altLang="zh-CN" sz="2200" dirty="0">
                <a:latin typeface="Times New Roman" panose="02020603050405020304" pitchFamily="18" charset="0"/>
                <a:ea typeface="黑体" panose="02010609060101010101" pitchFamily="49" charset="-122"/>
              </a:rPr>
              <a:t>P1(e)</a:t>
            </a:r>
            <a:r>
              <a:rPr lang="zh-CN" altLang="en-US" sz="2200" dirty="0">
                <a:latin typeface="Times New Roman" panose="02020603050405020304" pitchFamily="18" charset="0"/>
                <a:ea typeface="黑体" panose="02010609060101010101" pitchFamily="49" charset="-122"/>
              </a:rPr>
              <a:t>和</a:t>
            </a:r>
            <a:r>
              <a:rPr lang="en-US" altLang="zh-CN" sz="2200" dirty="0">
                <a:latin typeface="Times New Roman" panose="02020603050405020304" pitchFamily="18" charset="0"/>
                <a:ea typeface="黑体" panose="02010609060101010101" pitchFamily="49" charset="-122"/>
              </a:rPr>
              <a:t>P2(e)</a:t>
            </a:r>
            <a:r>
              <a:rPr lang="zh-CN" altLang="en-US" sz="2200" dirty="0">
                <a:latin typeface="Times New Roman" panose="02020603050405020304" pitchFamily="18" charset="0"/>
                <a:ea typeface="黑体" panose="02010609060101010101" pitchFamily="49" charset="-122"/>
              </a:rPr>
              <a:t>，则：</a:t>
            </a:r>
          </a:p>
          <a:p>
            <a:pPr marL="609600" indent="-609600">
              <a:lnSpc>
                <a:spcPct val="120000"/>
              </a:lnSpc>
            </a:pPr>
            <a:endParaRPr lang="en-US" altLang="zh-CN" sz="2200" dirty="0">
              <a:latin typeface="Times New Roman" panose="02020603050405020304" pitchFamily="18" charset="0"/>
              <a:ea typeface="黑体" panose="02010609060101010101" pitchFamily="49" charset="-122"/>
            </a:endParaRPr>
          </a:p>
          <a:p>
            <a:pPr marL="0" indent="0">
              <a:lnSpc>
                <a:spcPct val="120000"/>
              </a:lnSpc>
              <a:spcBef>
                <a:spcPts val="1800"/>
              </a:spcBef>
              <a:buNone/>
            </a:pPr>
            <a:r>
              <a:rPr lang="zh-CN" altLang="en-US" sz="2200" dirty="0">
                <a:latin typeface="Times New Roman" panose="02020603050405020304" pitchFamily="18" charset="0"/>
                <a:ea typeface="黑体" panose="02010609060101010101" pitchFamily="49" charset="-122"/>
              </a:rPr>
              <a:t>其中，</a:t>
            </a:r>
            <a:r>
              <a:rPr lang="zh-CN" altLang="en-US" sz="2200" dirty="0">
                <a:latin typeface="Times New Roman" panose="02020603050405020304" pitchFamily="18" charset="0"/>
                <a:ea typeface="黑体" panose="02010609060101010101" pitchFamily="49" charset="-122"/>
                <a:sym typeface="Symbol" pitchFamily="18" charset="2"/>
              </a:rPr>
              <a:t></a:t>
            </a:r>
            <a:r>
              <a:rPr lang="en-US" altLang="zh-CN" sz="2200" dirty="0">
                <a:latin typeface="Times New Roman" panose="02020603050405020304" pitchFamily="18" charset="0"/>
                <a:ea typeface="黑体" panose="02010609060101010101" pitchFamily="49" charset="-122"/>
              </a:rPr>
              <a:t>1</a:t>
            </a:r>
            <a:r>
              <a:rPr lang="zh-CN" altLang="en-US" sz="2200" dirty="0">
                <a:latin typeface="Times New Roman" panose="02020603050405020304" pitchFamily="18" charset="0"/>
                <a:ea typeface="黑体" panose="02010609060101010101" pitchFamily="49" charset="-122"/>
                <a:sym typeface="Symbol" pitchFamily="18" charset="2"/>
              </a:rPr>
              <a:t>和</a:t>
            </a:r>
            <a:r>
              <a:rPr lang="en-US" altLang="zh-CN" sz="2200" dirty="0">
                <a:latin typeface="Times New Roman" panose="02020603050405020304" pitchFamily="18" charset="0"/>
                <a:ea typeface="黑体" panose="02010609060101010101" pitchFamily="49" charset="-122"/>
              </a:rPr>
              <a:t>2</a:t>
            </a:r>
            <a:r>
              <a:rPr lang="zh-CN" altLang="en-US" sz="2200" dirty="0">
                <a:latin typeface="Times New Roman" panose="02020603050405020304" pitchFamily="18" charset="0"/>
                <a:ea typeface="黑体" panose="02010609060101010101" pitchFamily="49" charset="-122"/>
                <a:sym typeface="Symbol" pitchFamily="18" charset="2"/>
              </a:rPr>
              <a:t>对应的区域分别为</a:t>
            </a:r>
            <a:r>
              <a:rPr lang="zh-CN" altLang="en-US" sz="2200" dirty="0">
                <a:latin typeface="Times New Roman" panose="02020603050405020304" pitchFamily="18" charset="0"/>
                <a:ea typeface="黑体" panose="02010609060101010101" pitchFamily="49" charset="-122"/>
                <a:sym typeface="Symbol"/>
              </a:rPr>
              <a:t></a:t>
            </a:r>
            <a:r>
              <a:rPr lang="en-US" altLang="zh-CN" sz="2200" dirty="0">
                <a:latin typeface="Times New Roman" panose="02020603050405020304" pitchFamily="18" charset="0"/>
                <a:ea typeface="黑体" panose="02010609060101010101" pitchFamily="49" charset="-122"/>
                <a:sym typeface="Symbol" pitchFamily="18" charset="2"/>
              </a:rPr>
              <a:t>1</a:t>
            </a:r>
            <a:r>
              <a:rPr lang="zh-CN" altLang="en-US" sz="2200" dirty="0">
                <a:latin typeface="Times New Roman" panose="02020603050405020304" pitchFamily="18" charset="0"/>
                <a:ea typeface="黑体" panose="02010609060101010101" pitchFamily="49" charset="-122"/>
                <a:sym typeface="Symbol" pitchFamily="18" charset="2"/>
              </a:rPr>
              <a:t>和</a:t>
            </a:r>
            <a:r>
              <a:rPr lang="zh-CN" altLang="en-US" sz="2200" dirty="0">
                <a:latin typeface="Times New Roman" panose="02020603050405020304" pitchFamily="18" charset="0"/>
                <a:ea typeface="黑体" panose="02010609060101010101" pitchFamily="49" charset="-122"/>
                <a:sym typeface="Symbol"/>
              </a:rPr>
              <a:t></a:t>
            </a:r>
            <a:r>
              <a:rPr lang="en-US" altLang="zh-CN" sz="2200" dirty="0">
                <a:latin typeface="Times New Roman" panose="02020603050405020304" pitchFamily="18" charset="0"/>
                <a:ea typeface="黑体" panose="02010609060101010101" pitchFamily="49" charset="-122"/>
                <a:sym typeface="Symbol" pitchFamily="18" charset="2"/>
              </a:rPr>
              <a:t>2</a:t>
            </a:r>
            <a:r>
              <a:rPr lang="zh-CN" altLang="en-US" sz="2200" dirty="0">
                <a:latin typeface="Times New Roman" panose="02020603050405020304" pitchFamily="18" charset="0"/>
                <a:ea typeface="黑体" panose="02010609060101010101" pitchFamily="49" charset="-122"/>
                <a:sym typeface="Symbol" pitchFamily="18" charset="2"/>
              </a:rPr>
              <a:t>，</a:t>
            </a:r>
            <a:r>
              <a:rPr lang="zh-CN" altLang="en-US" sz="2200" dirty="0">
                <a:latin typeface="Times New Roman" panose="02020603050405020304" pitchFamily="18" charset="0"/>
                <a:ea typeface="黑体" panose="02010609060101010101" pitchFamily="49" charset="-122"/>
              </a:rPr>
              <a:t>平均错误率：</a:t>
            </a:r>
            <a:endParaRPr lang="en-US" altLang="zh-CN" sz="2200" dirty="0">
              <a:latin typeface="Times New Roman" panose="02020603050405020304" pitchFamily="18" charset="0"/>
              <a:ea typeface="黑体" panose="02010609060101010101" pitchFamily="49" charset="-122"/>
            </a:endParaRPr>
          </a:p>
        </p:txBody>
      </p:sp>
      <p:graphicFrame>
        <p:nvGraphicFramePr>
          <p:cNvPr id="13" name="Object 2"/>
          <p:cNvGraphicFramePr>
            <a:graphicFrameLocks noChangeAspect="1"/>
          </p:cNvGraphicFramePr>
          <p:nvPr/>
        </p:nvGraphicFramePr>
        <p:xfrm>
          <a:off x="2305833" y="2924944"/>
          <a:ext cx="2590428" cy="638719"/>
        </p:xfrm>
        <a:graphic>
          <a:graphicData uri="http://schemas.openxmlformats.org/presentationml/2006/ole">
            <mc:AlternateContent xmlns:mc="http://schemas.openxmlformats.org/markup-compatibility/2006">
              <mc:Choice xmlns:v="urn:schemas-microsoft-com:vml" Requires="v">
                <p:oleObj spid="_x0000_s26905" name="Equation" r:id="rId4" imgW="927100" imgH="228600" progId="Equation.DSMT4">
                  <p:embed/>
                </p:oleObj>
              </mc:Choice>
              <mc:Fallback>
                <p:oleObj name="Equation" r:id="rId4" imgW="927100" imgH="228600" progId="Equation.DSMT4">
                  <p:embed/>
                  <p:pic>
                    <p:nvPicPr>
                      <p:cNvPr id="0" name="Picture 26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05833" y="2924944"/>
                        <a:ext cx="2590428" cy="6387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3"/>
          <p:cNvGraphicFramePr>
            <a:graphicFrameLocks noChangeAspect="1"/>
          </p:cNvGraphicFramePr>
          <p:nvPr/>
        </p:nvGraphicFramePr>
        <p:xfrm>
          <a:off x="5794929" y="2924944"/>
          <a:ext cx="2756035" cy="653052"/>
        </p:xfrm>
        <a:graphic>
          <a:graphicData uri="http://schemas.openxmlformats.org/presentationml/2006/ole">
            <mc:AlternateContent xmlns:mc="http://schemas.openxmlformats.org/markup-compatibility/2006">
              <mc:Choice xmlns:v="urn:schemas-microsoft-com:vml" Requires="v">
                <p:oleObj spid="_x0000_s26906" name="Equation" r:id="rId6" imgW="965200" imgH="228600" progId="Equation.DSMT4">
                  <p:embed/>
                </p:oleObj>
              </mc:Choice>
              <mc:Fallback>
                <p:oleObj name="Equation" r:id="rId6" imgW="965200" imgH="228600" progId="Equation.DSMT4">
                  <p:embed/>
                  <p:pic>
                    <p:nvPicPr>
                      <p:cNvPr id="0" name="Picture 27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94929" y="2924944"/>
                        <a:ext cx="2756035" cy="6530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4"/>
          <p:cNvGraphicFramePr>
            <a:graphicFrameLocks noChangeAspect="1"/>
          </p:cNvGraphicFramePr>
          <p:nvPr/>
        </p:nvGraphicFramePr>
        <p:xfrm>
          <a:off x="1791939" y="4149080"/>
          <a:ext cx="9277350" cy="738187"/>
        </p:xfrm>
        <a:graphic>
          <a:graphicData uri="http://schemas.openxmlformats.org/presentationml/2006/ole">
            <mc:AlternateContent xmlns:mc="http://schemas.openxmlformats.org/markup-compatibility/2006">
              <mc:Choice xmlns:v="urn:schemas-microsoft-com:vml" Requires="v">
                <p:oleObj spid="_x0000_s26907" name="Equation" r:id="rId8" imgW="4940280" imgH="393480" progId="Equation.DSMT4">
                  <p:embed/>
                </p:oleObj>
              </mc:Choice>
              <mc:Fallback>
                <p:oleObj name="Equation" r:id="rId8" imgW="4940280" imgH="393480" progId="Equation.DSMT4">
                  <p:embed/>
                  <p:pic>
                    <p:nvPicPr>
                      <p:cNvPr id="0" name="Picture 27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91939" y="4149080"/>
                        <a:ext cx="9277350" cy="738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7" name="直接箭头连接符 16"/>
          <p:cNvCxnSpPr/>
          <p:nvPr/>
        </p:nvCxnSpPr>
        <p:spPr>
          <a:xfrm flipH="1">
            <a:off x="4145248" y="3494212"/>
            <a:ext cx="4362" cy="68317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7172946" y="3406335"/>
            <a:ext cx="1" cy="74274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3431704" y="4867572"/>
            <a:ext cx="1714512" cy="15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6056894" y="4863760"/>
            <a:ext cx="1714512" cy="15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内容占位符 2"/>
          <p:cNvSpPr>
            <a:spLocks noGrp="1"/>
          </p:cNvSpPr>
          <p:nvPr>
            <p:ph idx="1"/>
          </p:nvPr>
        </p:nvSpPr>
        <p:spPr>
          <a:xfrm>
            <a:off x="407368" y="4929746"/>
            <a:ext cx="11362653" cy="546417"/>
          </a:xfrm>
        </p:spPr>
        <p:txBody>
          <a:bodyPr/>
          <a:lstStyle/>
          <a:p>
            <a:pPr marL="0" indent="0">
              <a:lnSpc>
                <a:spcPct val="120000"/>
              </a:lnSpc>
              <a:buNone/>
            </a:pPr>
            <a:r>
              <a:rPr lang="zh-CN" altLang="en-US" sz="2200" kern="1200" dirty="0">
                <a:latin typeface="Times New Roman" panose="02020603050405020304" pitchFamily="18" charset="0"/>
                <a:ea typeface="黑体" panose="02010609060101010101" pitchFamily="49" charset="-122"/>
              </a:rPr>
              <a:t>显然，</a:t>
            </a:r>
            <a:r>
              <a:rPr lang="zh-CN" altLang="en-US" sz="2200" kern="1200" dirty="0">
                <a:latin typeface="Times New Roman" panose="02020603050405020304" pitchFamily="18" charset="0"/>
                <a:ea typeface="黑体" panose="02010609060101010101" pitchFamily="49" charset="-122"/>
                <a:sym typeface="Symbol"/>
              </a:rPr>
              <a:t> </a:t>
            </a:r>
            <a:r>
              <a:rPr lang="en-US" altLang="zh-CN" sz="1400" kern="1200" dirty="0">
                <a:latin typeface="Times New Roman" panose="02020603050405020304" pitchFamily="18" charset="0"/>
                <a:ea typeface="黑体" panose="02010609060101010101" pitchFamily="49" charset="-122"/>
                <a:sym typeface="Symbol" pitchFamily="18" charset="2"/>
              </a:rPr>
              <a:t>1</a:t>
            </a:r>
            <a:r>
              <a:rPr lang="zh-CN" altLang="en-US" sz="2200" kern="1200" dirty="0">
                <a:latin typeface="Times New Roman" panose="02020603050405020304" pitchFamily="18" charset="0"/>
                <a:ea typeface="黑体" panose="02010609060101010101" pitchFamily="49" charset="-122"/>
                <a:sym typeface="Symbol" pitchFamily="18" charset="2"/>
              </a:rPr>
              <a:t>、</a:t>
            </a:r>
            <a:r>
              <a:rPr lang="zh-CN" altLang="en-US" sz="2200" kern="1200" dirty="0">
                <a:latin typeface="Times New Roman" panose="02020603050405020304" pitchFamily="18" charset="0"/>
                <a:ea typeface="黑体" panose="02010609060101010101" pitchFamily="49" charset="-122"/>
                <a:sym typeface="Symbol"/>
              </a:rPr>
              <a:t></a:t>
            </a:r>
            <a:r>
              <a:rPr lang="en-US" altLang="zh-CN" sz="1400" kern="1200" dirty="0">
                <a:latin typeface="Times New Roman" panose="02020603050405020304" pitchFamily="18" charset="0"/>
                <a:ea typeface="黑体" panose="02010609060101010101" pitchFamily="49" charset="-122"/>
                <a:sym typeface="Symbol" pitchFamily="18" charset="2"/>
              </a:rPr>
              <a:t>2</a:t>
            </a:r>
            <a:r>
              <a:rPr lang="zh-CN" altLang="en-US" sz="2200" kern="1200" dirty="0">
                <a:latin typeface="Times New Roman" panose="02020603050405020304" pitchFamily="18" charset="0"/>
                <a:ea typeface="黑体" panose="02010609060101010101" pitchFamily="49" charset="-122"/>
                <a:sym typeface="Symbol" pitchFamily="18" charset="2"/>
              </a:rPr>
              <a:t>及类条件概率密度函数</a:t>
            </a:r>
            <a:r>
              <a:rPr lang="en-US" altLang="zh-CN" sz="2200" kern="1200" dirty="0">
                <a:latin typeface="Times New Roman" panose="02020603050405020304" pitchFamily="18" charset="0"/>
                <a:ea typeface="黑体" panose="02010609060101010101" pitchFamily="49" charset="-122"/>
                <a:sym typeface="Symbol" pitchFamily="18" charset="2"/>
              </a:rPr>
              <a:t>p(X|</a:t>
            </a:r>
            <a:r>
              <a:rPr lang="el-GR" altLang="zh-CN" sz="2200" kern="1200" dirty="0">
                <a:latin typeface="Times New Roman" panose="02020603050405020304" pitchFamily="18" charset="0"/>
                <a:ea typeface="黑体" panose="02010609060101010101" pitchFamily="49" charset="-122"/>
                <a:sym typeface="Symbol" pitchFamily="18" charset="2"/>
              </a:rPr>
              <a:t>ω</a:t>
            </a:r>
            <a:r>
              <a:rPr lang="en-US" altLang="zh-CN" sz="1100" kern="1200" dirty="0">
                <a:latin typeface="Times New Roman" panose="02020603050405020304" pitchFamily="18" charset="0"/>
                <a:ea typeface="黑体" panose="02010609060101010101" pitchFamily="49" charset="-122"/>
                <a:sym typeface="Symbol" pitchFamily="18" charset="2"/>
              </a:rPr>
              <a:t>1</a:t>
            </a:r>
            <a:r>
              <a:rPr lang="en-US" altLang="zh-CN" sz="2200" kern="1200" dirty="0">
                <a:latin typeface="Times New Roman" panose="02020603050405020304" pitchFamily="18" charset="0"/>
                <a:ea typeface="黑体" panose="02010609060101010101" pitchFamily="49" charset="-122"/>
                <a:sym typeface="Symbol" pitchFamily="18" charset="2"/>
              </a:rPr>
              <a:t>)</a:t>
            </a:r>
            <a:r>
              <a:rPr lang="zh-CN" altLang="en-US" sz="2200" kern="1200" dirty="0">
                <a:latin typeface="Times New Roman" panose="02020603050405020304" pitchFamily="18" charset="0"/>
                <a:ea typeface="黑体" panose="02010609060101010101" pitchFamily="49" charset="-122"/>
                <a:sym typeface="Symbol" pitchFamily="18" charset="2"/>
              </a:rPr>
              <a:t>和</a:t>
            </a:r>
            <a:r>
              <a:rPr lang="en-US" altLang="zh-CN" sz="2200" kern="1200" dirty="0">
                <a:latin typeface="Times New Roman" panose="02020603050405020304" pitchFamily="18" charset="0"/>
                <a:ea typeface="黑体" panose="02010609060101010101" pitchFamily="49" charset="-122"/>
                <a:sym typeface="Symbol" pitchFamily="18" charset="2"/>
              </a:rPr>
              <a:t>p(X|</a:t>
            </a:r>
            <a:r>
              <a:rPr lang="el-GR" altLang="zh-CN" sz="2200" kern="1200" dirty="0">
                <a:latin typeface="Times New Roman" panose="02020603050405020304" pitchFamily="18" charset="0"/>
                <a:ea typeface="黑体" panose="02010609060101010101" pitchFamily="49" charset="-122"/>
                <a:sym typeface="Symbol" pitchFamily="18" charset="2"/>
              </a:rPr>
              <a:t>ω</a:t>
            </a:r>
            <a:r>
              <a:rPr lang="en-US" altLang="zh-CN" sz="1100" kern="1200" dirty="0">
                <a:latin typeface="Times New Roman" panose="02020603050405020304" pitchFamily="18" charset="0"/>
                <a:ea typeface="黑体" panose="02010609060101010101" pitchFamily="49" charset="-122"/>
                <a:sym typeface="Symbol" pitchFamily="18" charset="2"/>
              </a:rPr>
              <a:t>2</a:t>
            </a:r>
            <a:r>
              <a:rPr lang="en-US" altLang="zh-CN" sz="2200" kern="1200" dirty="0">
                <a:latin typeface="Times New Roman" panose="02020603050405020304" pitchFamily="18" charset="0"/>
                <a:ea typeface="黑体" panose="02010609060101010101" pitchFamily="49" charset="-122"/>
                <a:sym typeface="Symbol" pitchFamily="18" charset="2"/>
              </a:rPr>
              <a:t>)</a:t>
            </a:r>
            <a:r>
              <a:rPr lang="zh-CN" altLang="en-US" sz="2200" kern="1200" dirty="0">
                <a:latin typeface="Times New Roman" panose="02020603050405020304" pitchFamily="18" charset="0"/>
                <a:ea typeface="黑体" panose="02010609060101010101" pitchFamily="49" charset="-122"/>
                <a:sym typeface="Symbol" pitchFamily="18" charset="2"/>
              </a:rPr>
              <a:t>会影响</a:t>
            </a:r>
            <a:r>
              <a:rPr lang="en-US" altLang="zh-CN" sz="2200" kern="1200" dirty="0">
                <a:latin typeface="Times New Roman" panose="02020603050405020304" pitchFamily="18" charset="0"/>
                <a:ea typeface="黑体" panose="02010609060101010101" pitchFamily="49" charset="-122"/>
              </a:rPr>
              <a:t>P</a:t>
            </a:r>
            <a:r>
              <a:rPr lang="en-US" altLang="zh-CN" sz="1200" kern="1200" dirty="0">
                <a:latin typeface="Times New Roman" panose="02020603050405020304" pitchFamily="18" charset="0"/>
                <a:ea typeface="黑体" panose="02010609060101010101" pitchFamily="49" charset="-122"/>
              </a:rPr>
              <a:t>1</a:t>
            </a:r>
            <a:r>
              <a:rPr lang="en-US" altLang="zh-CN" sz="2200" kern="1200" dirty="0">
                <a:latin typeface="Times New Roman" panose="02020603050405020304" pitchFamily="18" charset="0"/>
                <a:ea typeface="黑体" panose="02010609060101010101" pitchFamily="49" charset="-122"/>
              </a:rPr>
              <a:t>(e)</a:t>
            </a:r>
            <a:r>
              <a:rPr lang="zh-CN" altLang="en-US" sz="2200" kern="1200" dirty="0">
                <a:latin typeface="Times New Roman" panose="02020603050405020304" pitchFamily="18" charset="0"/>
                <a:ea typeface="黑体" panose="02010609060101010101" pitchFamily="49" charset="-122"/>
              </a:rPr>
              <a:t>和</a:t>
            </a:r>
            <a:r>
              <a:rPr lang="en-US" altLang="zh-CN" sz="2200" kern="1200" dirty="0">
                <a:latin typeface="Times New Roman" panose="02020603050405020304" pitchFamily="18" charset="0"/>
                <a:ea typeface="黑体" panose="02010609060101010101" pitchFamily="49" charset="-122"/>
              </a:rPr>
              <a:t>P</a:t>
            </a:r>
            <a:r>
              <a:rPr lang="en-US" altLang="zh-CN" sz="1400" kern="1200" dirty="0">
                <a:latin typeface="Times New Roman" panose="02020603050405020304" pitchFamily="18" charset="0"/>
                <a:ea typeface="黑体" panose="02010609060101010101" pitchFamily="49" charset="-122"/>
              </a:rPr>
              <a:t>2</a:t>
            </a:r>
            <a:r>
              <a:rPr lang="en-US" altLang="zh-CN" sz="2200" kern="1200" dirty="0">
                <a:latin typeface="Times New Roman" panose="02020603050405020304" pitchFamily="18" charset="0"/>
                <a:ea typeface="黑体" panose="02010609060101010101" pitchFamily="49" charset="-122"/>
              </a:rPr>
              <a:t>(e)</a:t>
            </a:r>
            <a:r>
              <a:rPr lang="zh-CN" altLang="en-US" sz="2200" kern="1200" dirty="0">
                <a:latin typeface="Times New Roman" panose="02020603050405020304" pitchFamily="18" charset="0"/>
                <a:ea typeface="黑体" panose="02010609060101010101" pitchFamily="49" charset="-122"/>
                <a:sym typeface="Symbol" pitchFamily="18" charset="2"/>
              </a:rPr>
              <a:t>的值。</a:t>
            </a:r>
            <a:endParaRPr lang="en-US" altLang="zh-CN" sz="2200" kern="1200" dirty="0">
              <a:latin typeface="Times New Roman" panose="02020603050405020304" pitchFamily="18" charset="0"/>
              <a:ea typeface="黑体" panose="02010609060101010101" pitchFamily="49" charset="-122"/>
              <a:sym typeface="Symbol" pitchFamily="18" charset="2"/>
            </a:endParaRPr>
          </a:p>
        </p:txBody>
      </p:sp>
      <p:sp>
        <p:nvSpPr>
          <p:cNvPr id="23" name="矩形 22"/>
          <p:cNvSpPr/>
          <p:nvPr/>
        </p:nvSpPr>
        <p:spPr>
          <a:xfrm>
            <a:off x="414338" y="5666104"/>
            <a:ext cx="11082262" cy="535531"/>
          </a:xfrm>
          <a:prstGeom prst="rect">
            <a:avLst/>
          </a:prstGeom>
          <a:ln w="28575">
            <a:solidFill>
              <a:srgbClr val="FF0000"/>
            </a:solidFill>
          </a:ln>
        </p:spPr>
        <p:txBody>
          <a:bodyPr wrap="square">
            <a:spAutoFit/>
          </a:bodyPr>
          <a:lstStyle/>
          <a:p>
            <a:pPr marL="0" lvl="0" indent="0">
              <a:lnSpc>
                <a:spcPct val="120000"/>
              </a:lnSpc>
              <a:buNone/>
            </a:pPr>
            <a:r>
              <a:rPr lang="en-US" altLang="zh-CN" sz="2400" dirty="0" err="1">
                <a:latin typeface="Times New Roman" panose="02020603050405020304" pitchFamily="18" charset="0"/>
                <a:ea typeface="黑体" panose="02010609060101010101" pitchFamily="49" charset="-122"/>
              </a:rPr>
              <a:t>Neyman</a:t>
            </a:r>
            <a:r>
              <a:rPr lang="en-US" altLang="zh-CN" sz="2400" dirty="0">
                <a:latin typeface="Times New Roman" panose="02020603050405020304" pitchFamily="18" charset="0"/>
                <a:ea typeface="黑体" panose="02010609060101010101" pitchFamily="49" charset="-122"/>
              </a:rPr>
              <a:t>-Pearson</a:t>
            </a:r>
            <a:r>
              <a:rPr lang="zh-CN" altLang="en-US" sz="2400" dirty="0">
                <a:latin typeface="Times New Roman" panose="02020603050405020304" pitchFamily="18" charset="0"/>
                <a:ea typeface="黑体" panose="02010609060101010101" pitchFamily="49" charset="-122"/>
              </a:rPr>
              <a:t>判决准则：</a:t>
            </a:r>
            <a:r>
              <a:rPr lang="zh-CN" altLang="en-US" sz="2400" dirty="0">
                <a:latin typeface="Times New Roman" panose="02020603050405020304" pitchFamily="18" charset="0"/>
                <a:ea typeface="黑体" panose="02010609060101010101" pitchFamily="49" charset="-122"/>
                <a:sym typeface="Symbol" pitchFamily="18" charset="2"/>
              </a:rPr>
              <a:t>在</a:t>
            </a:r>
            <a:r>
              <a:rPr lang="en-US" altLang="zh-CN" sz="2400" dirty="0">
                <a:latin typeface="Times New Roman" panose="02020603050405020304" pitchFamily="18" charset="0"/>
                <a:ea typeface="黑体" panose="02010609060101010101" pitchFamily="49" charset="-122"/>
                <a:sym typeface="Symbol" pitchFamily="18" charset="2"/>
              </a:rPr>
              <a:t>P</a:t>
            </a:r>
            <a:r>
              <a:rPr lang="en-US" altLang="zh-CN" sz="1400" dirty="0">
                <a:latin typeface="Times New Roman" panose="02020603050405020304" pitchFamily="18" charset="0"/>
                <a:ea typeface="黑体" panose="02010609060101010101" pitchFamily="49" charset="-122"/>
                <a:sym typeface="Symbol" pitchFamily="18" charset="2"/>
              </a:rPr>
              <a:t>2</a:t>
            </a:r>
            <a:r>
              <a:rPr lang="en-US" altLang="zh-CN" sz="2400" dirty="0">
                <a:latin typeface="Times New Roman" panose="02020603050405020304" pitchFamily="18" charset="0"/>
                <a:ea typeface="黑体" panose="02010609060101010101" pitchFamily="49" charset="-122"/>
                <a:sym typeface="Symbol" pitchFamily="18" charset="2"/>
              </a:rPr>
              <a:t>(e)=</a:t>
            </a:r>
            <a:r>
              <a:rPr lang="en-US" altLang="zh-CN" sz="1200" dirty="0">
                <a:latin typeface="Times New Roman" panose="02020603050405020304" pitchFamily="18" charset="0"/>
                <a:ea typeface="黑体" panose="02010609060101010101" pitchFamily="49" charset="-122"/>
              </a:rPr>
              <a:t>0</a:t>
            </a:r>
            <a:r>
              <a:rPr lang="zh-CN" altLang="en-US" sz="2400" dirty="0">
                <a:latin typeface="Times New Roman" panose="02020603050405020304" pitchFamily="18" charset="0"/>
                <a:ea typeface="黑体" panose="02010609060101010101" pitchFamily="49" charset="-122"/>
                <a:sym typeface="Symbol" pitchFamily="18" charset="2"/>
              </a:rPr>
              <a:t>（常数）的条件下，使得</a:t>
            </a:r>
            <a:r>
              <a:rPr lang="en-US" altLang="zh-CN" sz="2400" dirty="0">
                <a:latin typeface="Times New Roman" panose="02020603050405020304" pitchFamily="18" charset="0"/>
                <a:ea typeface="黑体" panose="02010609060101010101" pitchFamily="49" charset="-122"/>
                <a:sym typeface="Symbol" pitchFamily="18" charset="2"/>
              </a:rPr>
              <a:t>P</a:t>
            </a:r>
            <a:r>
              <a:rPr lang="en-US" altLang="zh-CN" sz="1400" dirty="0">
                <a:latin typeface="Times New Roman" panose="02020603050405020304" pitchFamily="18" charset="0"/>
                <a:ea typeface="黑体" panose="02010609060101010101" pitchFamily="49" charset="-122"/>
              </a:rPr>
              <a:t>1</a:t>
            </a:r>
            <a:r>
              <a:rPr lang="en-US" altLang="zh-CN" sz="2400" dirty="0">
                <a:latin typeface="Times New Roman" panose="02020603050405020304" pitchFamily="18" charset="0"/>
                <a:ea typeface="黑体" panose="02010609060101010101" pitchFamily="49" charset="-122"/>
              </a:rPr>
              <a:t> </a:t>
            </a:r>
            <a:r>
              <a:rPr lang="en-US" altLang="zh-CN" sz="2400" dirty="0">
                <a:latin typeface="Times New Roman" panose="02020603050405020304" pitchFamily="18" charset="0"/>
                <a:ea typeface="黑体" panose="02010609060101010101" pitchFamily="49" charset="-122"/>
                <a:sym typeface="Symbol" pitchFamily="18" charset="2"/>
              </a:rPr>
              <a:t>(e)</a:t>
            </a:r>
            <a:r>
              <a:rPr lang="zh-CN" altLang="en-US" sz="2400" dirty="0">
                <a:latin typeface="Times New Roman" panose="02020603050405020304" pitchFamily="18" charset="0"/>
                <a:ea typeface="黑体" panose="02010609060101010101" pitchFamily="49" charset="-122"/>
                <a:sym typeface="Symbol" pitchFamily="18" charset="2"/>
              </a:rPr>
              <a:t>取得最小值。</a:t>
            </a:r>
            <a:endParaRPr lang="en-US" altLang="zh-CN" sz="2400" dirty="0">
              <a:latin typeface="Times New Roman" panose="02020603050405020304" pitchFamily="18" charset="0"/>
              <a:ea typeface="黑体" panose="02010609060101010101" pitchFamily="49" charset="-122"/>
              <a:sym typeface="Symbol" pitchFamily="18" charset="2"/>
            </a:endParaRPr>
          </a:p>
        </p:txBody>
      </p:sp>
    </p:spTree>
    <p:extLst>
      <p:ext uri="{BB962C8B-B14F-4D97-AF65-F5344CB8AC3E}">
        <p14:creationId xmlns:p14="http://schemas.microsoft.com/office/powerpoint/2010/main" val="38675766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38"/>
          <p:cNvSpPr/>
          <p:nvPr/>
        </p:nvSpPr>
        <p:spPr>
          <a:xfrm>
            <a:off x="404862" y="3464237"/>
            <a:ext cx="4504303" cy="2413035"/>
          </a:xfrm>
          <a:prstGeom prst="rect">
            <a:avLst/>
          </a:prstGeom>
          <a:solidFill>
            <a:schemeClr val="accent5"/>
          </a:solidFill>
        </p:spPr>
        <p:txBody>
          <a:bodyPr wrap="none" rtlCol="0" anchor="ctr">
            <a:spAutoFit/>
          </a:bodyPr>
          <a:lstStyle/>
          <a:p>
            <a:pPr algn="ctr"/>
            <a:endParaRPr lang="zh-CN" altLang="en-US" sz="2400" kern="100" dirty="0">
              <a:ea typeface="宋体"/>
              <a:cs typeface="Times New Roman"/>
            </a:endParaRPr>
          </a:p>
        </p:txBody>
      </p:sp>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35</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13.3 </a:t>
            </a:r>
            <a:r>
              <a:rPr lang="zh-CN" altLang="zh-CN" dirty="0"/>
              <a:t>两类错误率、</a:t>
            </a:r>
            <a:r>
              <a:rPr lang="en-US" altLang="zh-CN" dirty="0" err="1"/>
              <a:t>Neyman</a:t>
            </a:r>
            <a:r>
              <a:rPr lang="en-US" altLang="zh-CN" dirty="0"/>
              <a:t>-Pearson</a:t>
            </a:r>
            <a:r>
              <a:rPr lang="zh-CN" altLang="zh-CN" dirty="0"/>
              <a:t>决策和</a:t>
            </a:r>
            <a:r>
              <a:rPr lang="en-US" altLang="zh-CN" dirty="0"/>
              <a:t>ROC</a:t>
            </a:r>
            <a:r>
              <a:rPr lang="zh-CN" altLang="zh-CN" dirty="0"/>
              <a:t>曲线</a:t>
            </a:r>
          </a:p>
        </p:txBody>
      </p:sp>
      <p:sp>
        <p:nvSpPr>
          <p:cNvPr id="42" name="矩形 41"/>
          <p:cNvSpPr/>
          <p:nvPr/>
        </p:nvSpPr>
        <p:spPr>
          <a:xfrm>
            <a:off x="304132" y="1052736"/>
            <a:ext cx="3841116" cy="523220"/>
          </a:xfrm>
          <a:prstGeom prst="rect">
            <a:avLst/>
          </a:prstGeom>
        </p:spPr>
        <p:txBody>
          <a:bodyPr wrap="none">
            <a:spAutoFit/>
          </a:bodyPr>
          <a:lstStyle/>
          <a:p>
            <a:r>
              <a:rPr lang="en-US" altLang="zh-CN" sz="2800" b="1" dirty="0" err="1">
                <a:solidFill>
                  <a:srgbClr val="0000FF"/>
                </a:solidFill>
                <a:latin typeface="Arial" panose="020B0604020202020204" pitchFamily="34" charset="0"/>
              </a:rPr>
              <a:t>Neyman</a:t>
            </a:r>
            <a:r>
              <a:rPr lang="en-US" altLang="zh-CN" sz="2800" b="1" dirty="0">
                <a:solidFill>
                  <a:srgbClr val="0000FF"/>
                </a:solidFill>
                <a:latin typeface="Arial" panose="020B0604020202020204" pitchFamily="34" charset="0"/>
              </a:rPr>
              <a:t>-Pearson</a:t>
            </a:r>
            <a:r>
              <a:rPr lang="zh-CN" altLang="zh-CN" sz="2800" b="1" dirty="0">
                <a:solidFill>
                  <a:srgbClr val="0000FF"/>
                </a:solidFill>
                <a:latin typeface="Arial" panose="020B0604020202020204" pitchFamily="34" charset="0"/>
              </a:rPr>
              <a:t>决策</a:t>
            </a:r>
            <a:endParaRPr lang="zh-CN" altLang="en-US" sz="2800" b="1" dirty="0">
              <a:solidFill>
                <a:srgbClr val="0000FF"/>
              </a:solidFill>
              <a:latin typeface="Arial" panose="020B0604020202020204" pitchFamily="34" charset="0"/>
            </a:endParaRPr>
          </a:p>
        </p:txBody>
      </p:sp>
      <p:sp>
        <p:nvSpPr>
          <p:cNvPr id="27" name="矩形 26"/>
          <p:cNvSpPr/>
          <p:nvPr/>
        </p:nvSpPr>
        <p:spPr>
          <a:xfrm>
            <a:off x="404862" y="1674481"/>
            <a:ext cx="11082262" cy="535531"/>
          </a:xfrm>
          <a:prstGeom prst="rect">
            <a:avLst/>
          </a:prstGeom>
          <a:ln w="28575">
            <a:solidFill>
              <a:srgbClr val="FF0000"/>
            </a:solidFill>
          </a:ln>
        </p:spPr>
        <p:txBody>
          <a:bodyPr wrap="square">
            <a:spAutoFit/>
          </a:bodyPr>
          <a:lstStyle/>
          <a:p>
            <a:pPr marL="0" lvl="0" indent="0">
              <a:lnSpc>
                <a:spcPct val="120000"/>
              </a:lnSpc>
              <a:buNone/>
            </a:pPr>
            <a:r>
              <a:rPr lang="en-US" altLang="zh-CN" sz="2400" dirty="0" err="1">
                <a:latin typeface="Times New Roman" panose="02020603050405020304" pitchFamily="18" charset="0"/>
                <a:ea typeface="黑体" panose="02010609060101010101" pitchFamily="49" charset="-122"/>
              </a:rPr>
              <a:t>Neyman</a:t>
            </a:r>
            <a:r>
              <a:rPr lang="en-US" altLang="zh-CN" sz="2400" dirty="0">
                <a:latin typeface="Times New Roman" panose="02020603050405020304" pitchFamily="18" charset="0"/>
                <a:ea typeface="黑体" panose="02010609060101010101" pitchFamily="49" charset="-122"/>
              </a:rPr>
              <a:t>-Pearson</a:t>
            </a:r>
            <a:r>
              <a:rPr lang="zh-CN" altLang="en-US" sz="2400" dirty="0">
                <a:latin typeface="Times New Roman" panose="02020603050405020304" pitchFamily="18" charset="0"/>
                <a:ea typeface="黑体" panose="02010609060101010101" pitchFamily="49" charset="-122"/>
              </a:rPr>
              <a:t>判决准则：</a:t>
            </a:r>
            <a:r>
              <a:rPr lang="zh-CN" altLang="en-US" sz="2400" dirty="0">
                <a:latin typeface="Times New Roman" panose="02020603050405020304" pitchFamily="18" charset="0"/>
                <a:ea typeface="黑体" panose="02010609060101010101" pitchFamily="49" charset="-122"/>
                <a:sym typeface="Symbol" pitchFamily="18" charset="2"/>
              </a:rPr>
              <a:t>在</a:t>
            </a:r>
            <a:r>
              <a:rPr lang="en-US" altLang="zh-CN" sz="2400" dirty="0">
                <a:latin typeface="Times New Roman" panose="02020603050405020304" pitchFamily="18" charset="0"/>
                <a:ea typeface="黑体" panose="02010609060101010101" pitchFamily="49" charset="-122"/>
                <a:sym typeface="Symbol" pitchFamily="18" charset="2"/>
              </a:rPr>
              <a:t>P</a:t>
            </a:r>
            <a:r>
              <a:rPr lang="en-US" altLang="zh-CN" sz="1400" dirty="0">
                <a:latin typeface="Times New Roman" panose="02020603050405020304" pitchFamily="18" charset="0"/>
                <a:ea typeface="黑体" panose="02010609060101010101" pitchFamily="49" charset="-122"/>
                <a:sym typeface="Symbol" pitchFamily="18" charset="2"/>
              </a:rPr>
              <a:t>2</a:t>
            </a:r>
            <a:r>
              <a:rPr lang="en-US" altLang="zh-CN" sz="2400" dirty="0">
                <a:latin typeface="Times New Roman" panose="02020603050405020304" pitchFamily="18" charset="0"/>
                <a:ea typeface="黑体" panose="02010609060101010101" pitchFamily="49" charset="-122"/>
                <a:sym typeface="Symbol" pitchFamily="18" charset="2"/>
              </a:rPr>
              <a:t>(e)=</a:t>
            </a:r>
            <a:r>
              <a:rPr lang="en-US" altLang="zh-CN" sz="1200" dirty="0">
                <a:latin typeface="Times New Roman" panose="02020603050405020304" pitchFamily="18" charset="0"/>
                <a:ea typeface="黑体" panose="02010609060101010101" pitchFamily="49" charset="-122"/>
              </a:rPr>
              <a:t>0</a:t>
            </a:r>
            <a:r>
              <a:rPr lang="zh-CN" altLang="en-US" sz="2400" dirty="0">
                <a:latin typeface="Times New Roman" panose="02020603050405020304" pitchFamily="18" charset="0"/>
                <a:ea typeface="黑体" panose="02010609060101010101" pitchFamily="49" charset="-122"/>
                <a:sym typeface="Symbol" pitchFamily="18" charset="2"/>
              </a:rPr>
              <a:t>（常数）的条件下，使得</a:t>
            </a:r>
            <a:r>
              <a:rPr lang="en-US" altLang="zh-CN" sz="2400" dirty="0">
                <a:latin typeface="Times New Roman" panose="02020603050405020304" pitchFamily="18" charset="0"/>
                <a:ea typeface="黑体" panose="02010609060101010101" pitchFamily="49" charset="-122"/>
                <a:sym typeface="Symbol" pitchFamily="18" charset="2"/>
              </a:rPr>
              <a:t>P</a:t>
            </a:r>
            <a:r>
              <a:rPr lang="en-US" altLang="zh-CN" sz="1400" dirty="0">
                <a:latin typeface="Times New Roman" panose="02020603050405020304" pitchFamily="18" charset="0"/>
                <a:ea typeface="黑体" panose="02010609060101010101" pitchFamily="49" charset="-122"/>
              </a:rPr>
              <a:t>1</a:t>
            </a:r>
            <a:r>
              <a:rPr lang="en-US" altLang="zh-CN" sz="2400" dirty="0">
                <a:latin typeface="Times New Roman" panose="02020603050405020304" pitchFamily="18" charset="0"/>
                <a:ea typeface="黑体" panose="02010609060101010101" pitchFamily="49" charset="-122"/>
              </a:rPr>
              <a:t> </a:t>
            </a:r>
            <a:r>
              <a:rPr lang="en-US" altLang="zh-CN" sz="2400" dirty="0">
                <a:latin typeface="Times New Roman" panose="02020603050405020304" pitchFamily="18" charset="0"/>
                <a:ea typeface="黑体" panose="02010609060101010101" pitchFamily="49" charset="-122"/>
                <a:sym typeface="Symbol" pitchFamily="18" charset="2"/>
              </a:rPr>
              <a:t>(e)</a:t>
            </a:r>
            <a:r>
              <a:rPr lang="zh-CN" altLang="en-US" sz="2400" dirty="0">
                <a:latin typeface="Times New Roman" panose="02020603050405020304" pitchFamily="18" charset="0"/>
                <a:ea typeface="黑体" panose="02010609060101010101" pitchFamily="49" charset="-122"/>
                <a:sym typeface="Symbol" pitchFamily="18" charset="2"/>
              </a:rPr>
              <a:t>取得最小值。</a:t>
            </a:r>
            <a:endParaRPr lang="en-US" altLang="zh-CN" sz="2400" dirty="0">
              <a:latin typeface="Times New Roman" panose="02020603050405020304" pitchFamily="18" charset="0"/>
              <a:ea typeface="黑体" panose="02010609060101010101" pitchFamily="49" charset="-122"/>
              <a:sym typeface="Symbol" pitchFamily="18" charset="2"/>
            </a:endParaRPr>
          </a:p>
        </p:txBody>
      </p:sp>
      <p:sp>
        <p:nvSpPr>
          <p:cNvPr id="28" name="内容占位符 2"/>
          <p:cNvSpPr>
            <a:spLocks noGrp="1"/>
          </p:cNvSpPr>
          <p:nvPr>
            <p:ph idx="1"/>
          </p:nvPr>
        </p:nvSpPr>
        <p:spPr>
          <a:xfrm>
            <a:off x="420142" y="2378527"/>
            <a:ext cx="11362653" cy="546417"/>
          </a:xfrm>
        </p:spPr>
        <p:txBody>
          <a:bodyPr/>
          <a:lstStyle/>
          <a:p>
            <a:pPr marL="0" indent="0">
              <a:lnSpc>
                <a:spcPct val="120000"/>
              </a:lnSpc>
              <a:buNone/>
            </a:pPr>
            <a:r>
              <a:rPr lang="zh-CN" altLang="en-US" sz="2200" kern="1200" dirty="0">
                <a:latin typeface="Times New Roman" panose="02020603050405020304" pitchFamily="18" charset="0"/>
                <a:ea typeface="黑体" panose="02010609060101010101" pitchFamily="49" charset="-122"/>
              </a:rPr>
              <a:t>运用</a:t>
            </a:r>
            <a:r>
              <a:rPr lang="zh-CN" altLang="en-US" sz="2200" kern="1200" dirty="0">
                <a:solidFill>
                  <a:srgbClr val="FF0000"/>
                </a:solidFill>
                <a:latin typeface="Times New Roman" panose="02020603050405020304" pitchFamily="18" charset="0"/>
                <a:ea typeface="黑体" panose="02010609060101010101" pitchFamily="49" charset="-122"/>
              </a:rPr>
              <a:t>拉格朗日</a:t>
            </a:r>
            <a:r>
              <a:rPr lang="zh-CN" altLang="en-US" sz="2200" kern="1200" dirty="0">
                <a:latin typeface="Times New Roman" panose="02020603050405020304" pitchFamily="18" charset="0"/>
                <a:ea typeface="黑体" panose="02010609060101010101" pitchFamily="49" charset="-122"/>
              </a:rPr>
              <a:t>乘数法求条件极值，为此作辅助函数</a:t>
            </a:r>
            <a:r>
              <a:rPr lang="en-US" altLang="zh-CN" sz="2200" kern="1200" dirty="0">
                <a:latin typeface="Times New Roman" panose="02020603050405020304" pitchFamily="18" charset="0"/>
                <a:ea typeface="黑体" panose="02010609060101010101" pitchFamily="49" charset="-122"/>
              </a:rPr>
              <a:t>:</a:t>
            </a:r>
            <a:endParaRPr lang="zh-CN" altLang="en-US" sz="2200" kern="1200" dirty="0">
              <a:latin typeface="Times New Roman" panose="02020603050405020304" pitchFamily="18" charset="0"/>
              <a:ea typeface="黑体" panose="02010609060101010101" pitchFamily="49" charset="-122"/>
            </a:endParaRPr>
          </a:p>
        </p:txBody>
      </p:sp>
      <p:graphicFrame>
        <p:nvGraphicFramePr>
          <p:cNvPr id="29" name="Object 3"/>
          <p:cNvGraphicFramePr>
            <a:graphicFrameLocks noChangeAspect="1"/>
          </p:cNvGraphicFramePr>
          <p:nvPr>
            <p:extLst>
              <p:ext uri="{D42A27DB-BD31-4B8C-83A1-F6EECF244321}">
                <p14:modId xmlns:p14="http://schemas.microsoft.com/office/powerpoint/2010/main" val="4200236912"/>
              </p:ext>
            </p:extLst>
          </p:nvPr>
        </p:nvGraphicFramePr>
        <p:xfrm>
          <a:off x="6960097" y="2369778"/>
          <a:ext cx="3024335" cy="496106"/>
        </p:xfrm>
        <a:graphic>
          <a:graphicData uri="http://schemas.openxmlformats.org/presentationml/2006/ole">
            <mc:AlternateContent xmlns:mc="http://schemas.openxmlformats.org/markup-compatibility/2006">
              <mc:Choice xmlns:v="urn:schemas-microsoft-com:vml" Requires="v">
                <p:oleObj spid="_x0000_s26076" name="Equation" r:id="rId4" imgW="1548728" imgH="253890" progId="Equation.DSMT4">
                  <p:embed/>
                </p:oleObj>
              </mc:Choice>
              <mc:Fallback>
                <p:oleObj name="Equation" r:id="rId4" imgW="1548728" imgH="253890" progId="Equation.DSMT4">
                  <p:embed/>
                  <p:pic>
                    <p:nvPicPr>
                      <p:cNvPr id="0" name="Picture 45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60097" y="2369778"/>
                        <a:ext cx="3024335" cy="4961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Object 4"/>
          <p:cNvGraphicFramePr>
            <a:graphicFrameLocks noChangeAspect="1"/>
          </p:cNvGraphicFramePr>
          <p:nvPr>
            <p:extLst>
              <p:ext uri="{D42A27DB-BD31-4B8C-83A1-F6EECF244321}">
                <p14:modId xmlns:p14="http://schemas.microsoft.com/office/powerpoint/2010/main" val="4056035719"/>
              </p:ext>
            </p:extLst>
          </p:nvPr>
        </p:nvGraphicFramePr>
        <p:xfrm>
          <a:off x="442938" y="3564240"/>
          <a:ext cx="4466227" cy="607805"/>
        </p:xfrm>
        <a:graphic>
          <a:graphicData uri="http://schemas.openxmlformats.org/presentationml/2006/ole">
            <mc:AlternateContent xmlns:mc="http://schemas.openxmlformats.org/markup-compatibility/2006">
              <mc:Choice xmlns:v="urn:schemas-microsoft-com:vml" Requires="v">
                <p:oleObj spid="_x0000_s26077" name="Equation" r:id="rId6" imgW="1485900" imgH="228600" progId="Equation.DSMT4">
                  <p:embed/>
                </p:oleObj>
              </mc:Choice>
              <mc:Fallback>
                <p:oleObj name="Equation" r:id="rId6" imgW="1485900" imgH="228600" progId="Equation.DSMT4">
                  <p:embed/>
                  <p:pic>
                    <p:nvPicPr>
                      <p:cNvPr id="0" name="Picture 45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2938" y="3564240"/>
                        <a:ext cx="4466227" cy="6078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Object 5"/>
          <p:cNvGraphicFramePr>
            <a:graphicFrameLocks noChangeAspect="1"/>
          </p:cNvGraphicFramePr>
          <p:nvPr>
            <p:extLst>
              <p:ext uri="{D42A27DB-BD31-4B8C-83A1-F6EECF244321}">
                <p14:modId xmlns:p14="http://schemas.microsoft.com/office/powerpoint/2010/main" val="226652541"/>
              </p:ext>
            </p:extLst>
          </p:nvPr>
        </p:nvGraphicFramePr>
        <p:xfrm>
          <a:off x="5888961" y="3472111"/>
          <a:ext cx="5744239" cy="2457048"/>
        </p:xfrm>
        <a:graphic>
          <a:graphicData uri="http://schemas.openxmlformats.org/presentationml/2006/ole">
            <mc:AlternateContent xmlns:mc="http://schemas.openxmlformats.org/markup-compatibility/2006">
              <mc:Choice xmlns:v="urn:schemas-microsoft-com:vml" Requires="v">
                <p:oleObj spid="_x0000_s26078" name="Equation" r:id="rId8" imgW="1841500" imgH="889000" progId="Equation.DSMT4">
                  <p:embed/>
                </p:oleObj>
              </mc:Choice>
              <mc:Fallback>
                <p:oleObj name="Equation" r:id="rId8" imgW="1841500" imgH="889000" progId="Equation.DSMT4">
                  <p:embed/>
                  <p:pic>
                    <p:nvPicPr>
                      <p:cNvPr id="0" name="Picture 45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88961" y="3472111"/>
                        <a:ext cx="5744239" cy="2457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Object 7"/>
          <p:cNvGraphicFramePr>
            <a:graphicFrameLocks noChangeAspect="1"/>
          </p:cNvGraphicFramePr>
          <p:nvPr>
            <p:extLst>
              <p:ext uri="{D42A27DB-BD31-4B8C-83A1-F6EECF244321}">
                <p14:modId xmlns:p14="http://schemas.microsoft.com/office/powerpoint/2010/main" val="2887664001"/>
              </p:ext>
            </p:extLst>
          </p:nvPr>
        </p:nvGraphicFramePr>
        <p:xfrm>
          <a:off x="440581" y="4355951"/>
          <a:ext cx="2563813" cy="623887"/>
        </p:xfrm>
        <a:graphic>
          <a:graphicData uri="http://schemas.openxmlformats.org/presentationml/2006/ole">
            <mc:AlternateContent xmlns:mc="http://schemas.openxmlformats.org/markup-compatibility/2006">
              <mc:Choice xmlns:v="urn:schemas-microsoft-com:vml" Requires="v">
                <p:oleObj spid="_x0000_s26079" name="Equation" r:id="rId10" imgW="939800" imgH="228600" progId="Equation.DSMT4">
                  <p:embed/>
                </p:oleObj>
              </mc:Choice>
              <mc:Fallback>
                <p:oleObj name="Equation" r:id="rId10" imgW="939800" imgH="228600" progId="Equation.DSMT4">
                  <p:embed/>
                  <p:pic>
                    <p:nvPicPr>
                      <p:cNvPr id="0" name="Picture 45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0581" y="4355951"/>
                        <a:ext cx="2563813" cy="623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Object 8"/>
          <p:cNvGraphicFramePr>
            <a:graphicFrameLocks noChangeAspect="1"/>
          </p:cNvGraphicFramePr>
          <p:nvPr>
            <p:extLst>
              <p:ext uri="{D42A27DB-BD31-4B8C-83A1-F6EECF244321}">
                <p14:modId xmlns:p14="http://schemas.microsoft.com/office/powerpoint/2010/main" val="2723885702"/>
              </p:ext>
            </p:extLst>
          </p:nvPr>
        </p:nvGraphicFramePr>
        <p:xfrm>
          <a:off x="463079" y="5061251"/>
          <a:ext cx="2736304" cy="648072"/>
        </p:xfrm>
        <a:graphic>
          <a:graphicData uri="http://schemas.openxmlformats.org/presentationml/2006/ole">
            <mc:AlternateContent xmlns:mc="http://schemas.openxmlformats.org/markup-compatibility/2006">
              <mc:Choice xmlns:v="urn:schemas-microsoft-com:vml" Requires="v">
                <p:oleObj spid="_x0000_s26080" name="Equation" r:id="rId12" imgW="965200" imgH="228600" progId="Equation.DSMT4">
                  <p:embed/>
                </p:oleObj>
              </mc:Choice>
              <mc:Fallback>
                <p:oleObj name="Equation" r:id="rId12" imgW="965200" imgH="228600" progId="Equation.DSMT4">
                  <p:embed/>
                  <p:pic>
                    <p:nvPicPr>
                      <p:cNvPr id="0" name="Picture 46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3079" y="5061251"/>
                        <a:ext cx="2736304" cy="6480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内容占位符 2"/>
          <p:cNvSpPr txBox="1">
            <a:spLocks/>
          </p:cNvSpPr>
          <p:nvPr/>
        </p:nvSpPr>
        <p:spPr bwMode="gray">
          <a:xfrm>
            <a:off x="404863" y="2917820"/>
            <a:ext cx="866602" cy="54641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nSpc>
                <a:spcPct val="120000"/>
              </a:lnSpc>
              <a:buFont typeface="Wingdings" pitchFamily="2" charset="2"/>
              <a:buNone/>
            </a:pPr>
            <a:r>
              <a:rPr lang="zh-CN" altLang="en-US" sz="2200" kern="1200" dirty="0">
                <a:latin typeface="Times New Roman" panose="02020603050405020304" pitchFamily="18" charset="0"/>
                <a:ea typeface="黑体" panose="02010609060101010101" pitchFamily="49" charset="-122"/>
              </a:rPr>
              <a:t>利用</a:t>
            </a:r>
          </a:p>
        </p:txBody>
      </p:sp>
      <p:sp>
        <p:nvSpPr>
          <p:cNvPr id="38" name="右箭头 37"/>
          <p:cNvSpPr/>
          <p:nvPr/>
        </p:nvSpPr>
        <p:spPr>
          <a:xfrm>
            <a:off x="5231904" y="4402230"/>
            <a:ext cx="538763" cy="531327"/>
          </a:xfrm>
          <a:prstGeom prst="rightArrow">
            <a:avLst/>
          </a:prstGeom>
          <a:ln>
            <a:solidFill>
              <a:srgbClr val="0000FF"/>
            </a:solidFill>
          </a:ln>
        </p:spPr>
        <p:txBody>
          <a:bodyPr wrap="square" rtlCol="0" anchor="ctr">
            <a:spAutoFit/>
          </a:bodyPr>
          <a:lstStyle/>
          <a:p>
            <a:pPr algn="ctr"/>
            <a:endParaRPr lang="zh-CN" altLang="en-US" sz="2400" kern="100" dirty="0">
              <a:ea typeface="宋体"/>
              <a:cs typeface="Times New Roman"/>
            </a:endParaRPr>
          </a:p>
        </p:txBody>
      </p:sp>
    </p:spTree>
    <p:extLst>
      <p:ext uri="{BB962C8B-B14F-4D97-AF65-F5344CB8AC3E}">
        <p14:creationId xmlns:p14="http://schemas.microsoft.com/office/powerpoint/2010/main" val="9654920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07368" y="3099190"/>
            <a:ext cx="2496242" cy="1155481"/>
          </a:xfrm>
          <a:prstGeom prst="rect">
            <a:avLst/>
          </a:prstGeom>
          <a:solidFill>
            <a:schemeClr val="accent5"/>
          </a:solidFill>
        </p:spPr>
        <p:txBody>
          <a:bodyPr wrap="square" rtlCol="0" anchor="ctr">
            <a:spAutoFit/>
          </a:bodyPr>
          <a:lstStyle/>
          <a:p>
            <a:pPr algn="ctr"/>
            <a:endParaRPr lang="zh-CN" altLang="en-US" sz="2400" kern="100" dirty="0">
              <a:ea typeface="宋体"/>
              <a:cs typeface="Times New Roman"/>
            </a:endParaRPr>
          </a:p>
        </p:txBody>
      </p:sp>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36</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13.3 </a:t>
            </a:r>
            <a:r>
              <a:rPr lang="zh-CN" altLang="zh-CN" dirty="0"/>
              <a:t>两类错误率、</a:t>
            </a:r>
            <a:r>
              <a:rPr lang="en-US" altLang="zh-CN" dirty="0" err="1"/>
              <a:t>Neyman</a:t>
            </a:r>
            <a:r>
              <a:rPr lang="en-US" altLang="zh-CN" dirty="0"/>
              <a:t>-Pearson</a:t>
            </a:r>
            <a:r>
              <a:rPr lang="zh-CN" altLang="zh-CN" dirty="0"/>
              <a:t>决策和</a:t>
            </a:r>
            <a:r>
              <a:rPr lang="en-US" altLang="zh-CN" dirty="0"/>
              <a:t>ROC</a:t>
            </a:r>
            <a:r>
              <a:rPr lang="zh-CN" altLang="zh-CN" dirty="0"/>
              <a:t>曲线</a:t>
            </a:r>
          </a:p>
        </p:txBody>
      </p:sp>
      <p:sp>
        <p:nvSpPr>
          <p:cNvPr id="42" name="矩形 41"/>
          <p:cNvSpPr/>
          <p:nvPr/>
        </p:nvSpPr>
        <p:spPr>
          <a:xfrm>
            <a:off x="304132" y="1052736"/>
            <a:ext cx="3841116" cy="523220"/>
          </a:xfrm>
          <a:prstGeom prst="rect">
            <a:avLst/>
          </a:prstGeom>
        </p:spPr>
        <p:txBody>
          <a:bodyPr wrap="none">
            <a:spAutoFit/>
          </a:bodyPr>
          <a:lstStyle/>
          <a:p>
            <a:r>
              <a:rPr lang="en-US" altLang="zh-CN" sz="2800" b="1" dirty="0" err="1">
                <a:solidFill>
                  <a:srgbClr val="0000FF"/>
                </a:solidFill>
                <a:latin typeface="Arial" panose="020B0604020202020204" pitchFamily="34" charset="0"/>
              </a:rPr>
              <a:t>Neyman</a:t>
            </a:r>
            <a:r>
              <a:rPr lang="en-US" altLang="zh-CN" sz="2800" b="1" dirty="0">
                <a:solidFill>
                  <a:srgbClr val="0000FF"/>
                </a:solidFill>
                <a:latin typeface="Arial" panose="020B0604020202020204" pitchFamily="34" charset="0"/>
              </a:rPr>
              <a:t>-Pearson</a:t>
            </a:r>
            <a:r>
              <a:rPr lang="zh-CN" altLang="zh-CN" sz="2800" b="1" dirty="0">
                <a:solidFill>
                  <a:srgbClr val="0000FF"/>
                </a:solidFill>
                <a:latin typeface="Arial" panose="020B0604020202020204" pitchFamily="34" charset="0"/>
              </a:rPr>
              <a:t>决策</a:t>
            </a:r>
            <a:endParaRPr lang="zh-CN" altLang="en-US" sz="2800" b="1" dirty="0">
              <a:solidFill>
                <a:srgbClr val="0000FF"/>
              </a:solidFill>
              <a:latin typeface="Arial" panose="020B0604020202020204" pitchFamily="34" charset="0"/>
            </a:endParaRPr>
          </a:p>
        </p:txBody>
      </p:sp>
      <p:sp>
        <p:nvSpPr>
          <p:cNvPr id="18" name="Rectangle 3"/>
          <p:cNvSpPr txBox="1">
            <a:spLocks noChangeArrowheads="1"/>
          </p:cNvSpPr>
          <p:nvPr/>
        </p:nvSpPr>
        <p:spPr bwMode="gray">
          <a:xfrm>
            <a:off x="304132" y="2376476"/>
            <a:ext cx="11305256" cy="62018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None/>
              <a:defRPr/>
            </a:pPr>
            <a:r>
              <a:rPr lang="zh-CN" altLang="en-US" sz="2200" kern="0" dirty="0"/>
              <a:t>设</a:t>
            </a:r>
            <a:r>
              <a:rPr lang="zh-CN" altLang="en-US" sz="2200" kern="0" dirty="0">
                <a:sym typeface="Symbol"/>
              </a:rPr>
              <a:t> </a:t>
            </a:r>
            <a:r>
              <a:rPr lang="en-US" altLang="zh-CN" sz="2200" kern="0" baseline="-30000" dirty="0">
                <a:sym typeface="Symbol" pitchFamily="18" charset="2"/>
              </a:rPr>
              <a:t>1</a:t>
            </a:r>
            <a:r>
              <a:rPr lang="zh-CN" altLang="en-US" sz="2200" kern="0" dirty="0">
                <a:sym typeface="Symbol" pitchFamily="18" charset="2"/>
              </a:rPr>
              <a:t>和</a:t>
            </a:r>
            <a:r>
              <a:rPr lang="zh-CN" altLang="en-US" sz="2200" kern="0" dirty="0">
                <a:sym typeface="Symbol"/>
              </a:rPr>
              <a:t></a:t>
            </a:r>
            <a:r>
              <a:rPr lang="en-US" altLang="zh-CN" sz="2200" kern="0" baseline="-30000" dirty="0">
                <a:sym typeface="Symbol" pitchFamily="18" charset="2"/>
              </a:rPr>
              <a:t>2</a:t>
            </a:r>
            <a:r>
              <a:rPr lang="zh-CN" altLang="en-US" sz="2200" kern="0" dirty="0">
                <a:sym typeface="Symbol" pitchFamily="18" charset="2"/>
              </a:rPr>
              <a:t>的</a:t>
            </a:r>
            <a:r>
              <a:rPr lang="zh-CN" altLang="en-US" sz="2200" kern="0" dirty="0"/>
              <a:t>分界面为</a:t>
            </a:r>
            <a:r>
              <a:rPr lang="en-US" altLang="zh-CN" sz="2200" kern="0" dirty="0"/>
              <a:t>t</a:t>
            </a:r>
            <a:r>
              <a:rPr lang="zh-CN" altLang="en-US" sz="2200" kern="0" dirty="0"/>
              <a:t>，</a:t>
            </a:r>
            <a:r>
              <a:rPr lang="en-US" altLang="zh-CN" sz="2200" kern="0" dirty="0"/>
              <a:t>L</a:t>
            </a:r>
            <a:r>
              <a:rPr lang="zh-CN" altLang="en-US" sz="2200" kern="0" dirty="0"/>
              <a:t>分别对</a:t>
            </a:r>
            <a:r>
              <a:rPr lang="en-US" altLang="zh-CN" sz="2200" kern="0" dirty="0"/>
              <a:t>t</a:t>
            </a:r>
            <a:r>
              <a:rPr lang="zh-CN" altLang="en-US" sz="2200" kern="0" dirty="0"/>
              <a:t>和对</a:t>
            </a:r>
            <a:r>
              <a:rPr lang="el-GR" altLang="zh-CN" sz="2200" kern="0" dirty="0"/>
              <a:t>λ</a:t>
            </a:r>
            <a:r>
              <a:rPr lang="zh-CN" altLang="en-US" sz="2200" kern="0" dirty="0"/>
              <a:t>求导，并令 </a:t>
            </a:r>
            <a:endParaRPr lang="en-US" altLang="zh-CN" sz="2200" kern="0" dirty="0"/>
          </a:p>
        </p:txBody>
      </p:sp>
      <p:graphicFrame>
        <p:nvGraphicFramePr>
          <p:cNvPr id="19" name="Object 5"/>
          <p:cNvGraphicFramePr>
            <a:graphicFrameLocks noChangeAspect="1"/>
          </p:cNvGraphicFramePr>
          <p:nvPr>
            <p:extLst>
              <p:ext uri="{D42A27DB-BD31-4B8C-83A1-F6EECF244321}">
                <p14:modId xmlns:p14="http://schemas.microsoft.com/office/powerpoint/2010/main" val="3799991854"/>
              </p:ext>
            </p:extLst>
          </p:nvPr>
        </p:nvGraphicFramePr>
        <p:xfrm>
          <a:off x="2307251" y="1647394"/>
          <a:ext cx="6498020" cy="714380"/>
        </p:xfrm>
        <a:graphic>
          <a:graphicData uri="http://schemas.openxmlformats.org/presentationml/2006/ole">
            <mc:AlternateContent xmlns:mc="http://schemas.openxmlformats.org/markup-compatibility/2006">
              <mc:Choice xmlns:v="urn:schemas-microsoft-com:vml" Requires="v">
                <p:oleObj spid="_x0000_s28299" name="Equation" r:id="rId4" imgW="1841500" imgH="228600" progId="Equation.DSMT4">
                  <p:embed/>
                </p:oleObj>
              </mc:Choice>
              <mc:Fallback>
                <p:oleObj name="Equation" r:id="rId4" imgW="1841500" imgH="228600" progId="Equation.DSMT4">
                  <p:embed/>
                  <p:pic>
                    <p:nvPicPr>
                      <p:cNvPr id="0" name="Picture 6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07251" y="1647394"/>
                        <a:ext cx="6498020" cy="7143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6"/>
          <p:cNvGraphicFramePr>
            <a:graphicFrameLocks noChangeAspect="1"/>
          </p:cNvGraphicFramePr>
          <p:nvPr>
            <p:extLst>
              <p:ext uri="{D42A27DB-BD31-4B8C-83A1-F6EECF244321}">
                <p14:modId xmlns:p14="http://schemas.microsoft.com/office/powerpoint/2010/main" val="2310694199"/>
              </p:ext>
            </p:extLst>
          </p:nvPr>
        </p:nvGraphicFramePr>
        <p:xfrm>
          <a:off x="4613071" y="3022956"/>
          <a:ext cx="2380162" cy="1469740"/>
        </p:xfrm>
        <a:graphic>
          <a:graphicData uri="http://schemas.openxmlformats.org/presentationml/2006/ole">
            <mc:AlternateContent xmlns:mc="http://schemas.openxmlformats.org/markup-compatibility/2006">
              <mc:Choice xmlns:v="urn:schemas-microsoft-com:vml" Requires="v">
                <p:oleObj spid="_x0000_s28300" name="Equation" r:id="rId6" imgW="837836" imgH="533169" progId="Equation.DSMT4">
                  <p:embed/>
                </p:oleObj>
              </mc:Choice>
              <mc:Fallback>
                <p:oleObj name="Equation" r:id="rId6" imgW="837836" imgH="533169" progId="Equation.DSMT4">
                  <p:embed/>
                  <p:pic>
                    <p:nvPicPr>
                      <p:cNvPr id="0" name="Picture 6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13071" y="3022956"/>
                        <a:ext cx="2380162" cy="14697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7"/>
          <p:cNvGraphicFramePr>
            <a:graphicFrameLocks noChangeAspect="1"/>
          </p:cNvGraphicFramePr>
          <p:nvPr>
            <p:extLst>
              <p:ext uri="{D42A27DB-BD31-4B8C-83A1-F6EECF244321}">
                <p14:modId xmlns:p14="http://schemas.microsoft.com/office/powerpoint/2010/main" val="493849286"/>
              </p:ext>
            </p:extLst>
          </p:nvPr>
        </p:nvGraphicFramePr>
        <p:xfrm>
          <a:off x="407368" y="3175866"/>
          <a:ext cx="1120775" cy="912812"/>
        </p:xfrm>
        <a:graphic>
          <a:graphicData uri="http://schemas.openxmlformats.org/presentationml/2006/ole">
            <mc:AlternateContent xmlns:mc="http://schemas.openxmlformats.org/markup-compatibility/2006">
              <mc:Choice xmlns:v="urn:schemas-microsoft-com:vml" Requires="v">
                <p:oleObj spid="_x0000_s28301" name="Equation" r:id="rId8" imgW="317225" imgH="291847" progId="Equation.DSMT4">
                  <p:embed/>
                </p:oleObj>
              </mc:Choice>
              <mc:Fallback>
                <p:oleObj name="Equation" r:id="rId8" imgW="317225" imgH="291847" progId="Equation.DSMT4">
                  <p:embed/>
                  <p:pic>
                    <p:nvPicPr>
                      <p:cNvPr id="0" name="Picture 6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7368" y="3175866"/>
                        <a:ext cx="1120775" cy="912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8"/>
          <p:cNvGraphicFramePr>
            <a:graphicFrameLocks noChangeAspect="1"/>
          </p:cNvGraphicFramePr>
          <p:nvPr>
            <p:extLst>
              <p:ext uri="{D42A27DB-BD31-4B8C-83A1-F6EECF244321}">
                <p14:modId xmlns:p14="http://schemas.microsoft.com/office/powerpoint/2010/main" val="1371030538"/>
              </p:ext>
            </p:extLst>
          </p:nvPr>
        </p:nvGraphicFramePr>
        <p:xfrm>
          <a:off x="1738385" y="3138109"/>
          <a:ext cx="1165225" cy="912812"/>
        </p:xfrm>
        <a:graphic>
          <a:graphicData uri="http://schemas.openxmlformats.org/presentationml/2006/ole">
            <mc:AlternateContent xmlns:mc="http://schemas.openxmlformats.org/markup-compatibility/2006">
              <mc:Choice xmlns:v="urn:schemas-microsoft-com:vml" Requires="v">
                <p:oleObj spid="_x0000_s28302" name="Equation" r:id="rId10" imgW="330057" imgH="291973" progId="Equation.DSMT4">
                  <p:embed/>
                </p:oleObj>
              </mc:Choice>
              <mc:Fallback>
                <p:oleObj name="Equation" r:id="rId10" imgW="330057" imgH="291973" progId="Equation.DSMT4">
                  <p:embed/>
                  <p:pic>
                    <p:nvPicPr>
                      <p:cNvPr id="0" name="Picture 62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38385" y="3138109"/>
                        <a:ext cx="1165225" cy="912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矩形 22"/>
          <p:cNvSpPr/>
          <p:nvPr/>
        </p:nvSpPr>
        <p:spPr>
          <a:xfrm>
            <a:off x="8833120" y="3350486"/>
            <a:ext cx="1470274" cy="430887"/>
          </a:xfrm>
          <a:prstGeom prst="rect">
            <a:avLst/>
          </a:prstGeom>
        </p:spPr>
        <p:txBody>
          <a:bodyPr wrap="none">
            <a:spAutoFit/>
          </a:bodyPr>
          <a:lstStyle/>
          <a:p>
            <a:r>
              <a:rPr lang="zh-CN" altLang="en-US" sz="2200" b="0" dirty="0">
                <a:solidFill>
                  <a:schemeClr val="tx1"/>
                </a:solidFill>
                <a:latin typeface="+mj-ea"/>
                <a:ea typeface="+mj-ea"/>
              </a:rPr>
              <a:t>使得</a:t>
            </a:r>
            <a:r>
              <a:rPr lang="en-US" altLang="zh-CN" sz="2200" b="0" dirty="0">
                <a:solidFill>
                  <a:schemeClr val="tx1"/>
                </a:solidFill>
                <a:latin typeface="+mj-ea"/>
                <a:ea typeface="+mj-ea"/>
              </a:rPr>
              <a:t>L</a:t>
            </a:r>
            <a:r>
              <a:rPr lang="zh-CN" altLang="en-US" sz="2200" b="0" dirty="0">
                <a:solidFill>
                  <a:schemeClr val="tx1"/>
                </a:solidFill>
                <a:latin typeface="+mj-ea"/>
                <a:ea typeface="+mj-ea"/>
              </a:rPr>
              <a:t>极小</a:t>
            </a:r>
          </a:p>
        </p:txBody>
      </p:sp>
      <p:sp>
        <p:nvSpPr>
          <p:cNvPr id="24" name="右箭头 23"/>
          <p:cNvSpPr/>
          <p:nvPr/>
        </p:nvSpPr>
        <p:spPr>
          <a:xfrm>
            <a:off x="3367893" y="3397622"/>
            <a:ext cx="978408" cy="360204"/>
          </a:xfrm>
          <a:prstGeom prst="rightArrow">
            <a:avLst/>
          </a:prstGeom>
          <a:solidFill>
            <a:srgbClr val="66CCFF"/>
          </a:solidFill>
          <a:ln>
            <a:solidFill>
              <a:srgbClr val="66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5" name="Object 9"/>
          <p:cNvGraphicFramePr>
            <a:graphicFrameLocks noChangeAspect="1"/>
          </p:cNvGraphicFramePr>
          <p:nvPr>
            <p:extLst>
              <p:ext uri="{D42A27DB-BD31-4B8C-83A1-F6EECF244321}">
                <p14:modId xmlns:p14="http://schemas.microsoft.com/office/powerpoint/2010/main" val="3520492085"/>
              </p:ext>
            </p:extLst>
          </p:nvPr>
        </p:nvGraphicFramePr>
        <p:xfrm>
          <a:off x="7043857" y="3009569"/>
          <a:ext cx="463550" cy="1407572"/>
        </p:xfrm>
        <a:graphic>
          <a:graphicData uri="http://schemas.openxmlformats.org/presentationml/2006/ole">
            <mc:AlternateContent xmlns:mc="http://schemas.openxmlformats.org/markup-compatibility/2006">
              <mc:Choice xmlns:v="urn:schemas-microsoft-com:vml" Requires="v">
                <p:oleObj spid="_x0000_s28303" name="Equation" r:id="rId12" imgW="139579" imgH="177646" progId="Equation.DSMT4">
                  <p:embed/>
                </p:oleObj>
              </mc:Choice>
              <mc:Fallback>
                <p:oleObj name="Equation" r:id="rId12" imgW="139579" imgH="177646" progId="Equation.DSMT4">
                  <p:embed/>
                  <p:pic>
                    <p:nvPicPr>
                      <p:cNvPr id="0" name="Picture 62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043857" y="3009569"/>
                        <a:ext cx="463550" cy="14075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26" name="直接连接符 25"/>
          <p:cNvCxnSpPr/>
          <p:nvPr/>
        </p:nvCxnSpPr>
        <p:spPr>
          <a:xfrm>
            <a:off x="5021895" y="2275284"/>
            <a:ext cx="3214710" cy="15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8520745" y="2089281"/>
            <a:ext cx="2039751" cy="430887"/>
          </a:xfrm>
          <a:prstGeom prst="rect">
            <a:avLst/>
          </a:prstGeom>
        </p:spPr>
        <p:txBody>
          <a:bodyPr wrap="square">
            <a:spAutoFit/>
          </a:bodyPr>
          <a:lstStyle/>
          <a:p>
            <a:r>
              <a:rPr lang="en-US" altLang="zh-CN" sz="2200" dirty="0">
                <a:solidFill>
                  <a:srgbClr val="FF0000"/>
                </a:solidFill>
              </a:rPr>
              <a:t>=0 </a:t>
            </a:r>
            <a:r>
              <a:rPr lang="zh-CN" altLang="en-US" sz="2200" dirty="0">
                <a:solidFill>
                  <a:srgbClr val="FF0000"/>
                </a:solidFill>
              </a:rPr>
              <a:t>是判决面</a:t>
            </a:r>
          </a:p>
        </p:txBody>
      </p:sp>
      <p:sp>
        <p:nvSpPr>
          <p:cNvPr id="34" name="右箭头 33"/>
          <p:cNvSpPr/>
          <p:nvPr/>
        </p:nvSpPr>
        <p:spPr>
          <a:xfrm rot="16200000">
            <a:off x="9180469" y="2751005"/>
            <a:ext cx="605120" cy="332745"/>
          </a:xfrm>
          <a:prstGeom prst="rightArrow">
            <a:avLst/>
          </a:prstGeom>
          <a:solidFill>
            <a:srgbClr val="66CCFF"/>
          </a:solidFill>
          <a:ln>
            <a:solidFill>
              <a:srgbClr val="66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右箭头 39"/>
          <p:cNvSpPr/>
          <p:nvPr/>
        </p:nvSpPr>
        <p:spPr>
          <a:xfrm>
            <a:off x="7724286" y="3399333"/>
            <a:ext cx="978408" cy="360204"/>
          </a:xfrm>
          <a:prstGeom prst="rightArrow">
            <a:avLst/>
          </a:prstGeom>
          <a:solidFill>
            <a:srgbClr val="66CCFF"/>
          </a:solidFill>
          <a:ln>
            <a:solidFill>
              <a:srgbClr val="66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Rectangle 3"/>
          <p:cNvSpPr txBox="1">
            <a:spLocks noChangeArrowheads="1"/>
          </p:cNvSpPr>
          <p:nvPr/>
        </p:nvSpPr>
        <p:spPr bwMode="gray">
          <a:xfrm>
            <a:off x="316587" y="4254670"/>
            <a:ext cx="11305256" cy="18309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nSpc>
                <a:spcPct val="200000"/>
              </a:lnSpc>
              <a:buNone/>
            </a:pPr>
            <a:r>
              <a:rPr lang="zh-CN" altLang="en-US" sz="2200" kern="0" dirty="0"/>
              <a:t>得到判决准则</a:t>
            </a:r>
            <a:endParaRPr lang="en-US" altLang="zh-CN" sz="2200" kern="0" dirty="0"/>
          </a:p>
          <a:p>
            <a:pPr>
              <a:lnSpc>
                <a:spcPct val="200000"/>
              </a:lnSpc>
              <a:buFont typeface="Wingdings" pitchFamily="2" charset="2"/>
              <a:buNone/>
            </a:pPr>
            <a:r>
              <a:rPr lang="zh-CN" altLang="en-US" sz="2200" kern="0" dirty="0"/>
              <a:t>如果                           ， </a:t>
            </a:r>
            <a:r>
              <a:rPr lang="en-US" altLang="zh-CN" sz="2200" kern="0" dirty="0"/>
              <a:t>X</a:t>
            </a:r>
            <a:r>
              <a:rPr lang="en-US" altLang="zh-CN" sz="2200" kern="0" dirty="0">
                <a:sym typeface="Symbol" pitchFamily="18" charset="2"/>
              </a:rPr>
              <a:t> 1;</a:t>
            </a:r>
            <a:r>
              <a:rPr lang="zh-CN" altLang="en-US" sz="2200" kern="0" dirty="0">
                <a:sym typeface="Symbol" pitchFamily="18" charset="2"/>
              </a:rPr>
              <a:t>   如果                          ，</a:t>
            </a:r>
            <a:r>
              <a:rPr lang="en-US" altLang="zh-CN" sz="2200" kern="0" dirty="0">
                <a:sym typeface="Symbol" pitchFamily="18" charset="2"/>
              </a:rPr>
              <a:t>X 2</a:t>
            </a:r>
          </a:p>
          <a:p>
            <a:pPr marL="0" indent="0">
              <a:lnSpc>
                <a:spcPct val="200000"/>
              </a:lnSpc>
              <a:buFont typeface="Wingdings" pitchFamily="2" charset="2"/>
              <a:buNone/>
            </a:pPr>
            <a:r>
              <a:rPr lang="zh-CN" altLang="en-US" sz="2200" kern="0" dirty="0">
                <a:sym typeface="Symbol" pitchFamily="18" charset="2"/>
              </a:rPr>
              <a:t>该准则限定一类错误率</a:t>
            </a:r>
            <a:r>
              <a:rPr lang="zh-CN" altLang="en-US" sz="2200" kern="0" dirty="0"/>
              <a:t>为常数，而使得另一类错误率最小。</a:t>
            </a:r>
            <a:endParaRPr lang="en-US" altLang="zh-CN" sz="2200" kern="0" dirty="0">
              <a:sym typeface="Symbol" pitchFamily="18" charset="2"/>
            </a:endParaRPr>
          </a:p>
          <a:p>
            <a:endParaRPr lang="zh-CN" altLang="en-US" sz="2200" kern="0" dirty="0"/>
          </a:p>
        </p:txBody>
      </p:sp>
      <p:graphicFrame>
        <p:nvGraphicFramePr>
          <p:cNvPr id="43" name="Object 4"/>
          <p:cNvGraphicFramePr>
            <a:graphicFrameLocks noChangeAspect="1"/>
          </p:cNvGraphicFramePr>
          <p:nvPr>
            <p:extLst>
              <p:ext uri="{D42A27DB-BD31-4B8C-83A1-F6EECF244321}">
                <p14:modId xmlns:p14="http://schemas.microsoft.com/office/powerpoint/2010/main" val="1150218265"/>
              </p:ext>
            </p:extLst>
          </p:nvPr>
        </p:nvGraphicFramePr>
        <p:xfrm>
          <a:off x="1220864" y="5061540"/>
          <a:ext cx="1682746" cy="753589"/>
        </p:xfrm>
        <a:graphic>
          <a:graphicData uri="http://schemas.openxmlformats.org/presentationml/2006/ole">
            <mc:AlternateContent xmlns:mc="http://schemas.openxmlformats.org/markup-compatibility/2006">
              <mc:Choice xmlns:v="urn:schemas-microsoft-com:vml" Requires="v">
                <p:oleObj spid="_x0000_s28304" name="Equation" r:id="rId14" imgW="876300" imgH="431800" progId="Equation.DSMT4">
                  <p:embed/>
                </p:oleObj>
              </mc:Choice>
              <mc:Fallback>
                <p:oleObj name="Equation" r:id="rId14" imgW="876300" imgH="431800" progId="Equation.DSMT4">
                  <p:embed/>
                  <p:pic>
                    <p:nvPicPr>
                      <p:cNvPr id="0" name="Picture 62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20864" y="5061540"/>
                        <a:ext cx="1682746" cy="7535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Object 5"/>
          <p:cNvGraphicFramePr>
            <a:graphicFrameLocks noChangeAspect="1"/>
          </p:cNvGraphicFramePr>
          <p:nvPr>
            <p:extLst>
              <p:ext uri="{D42A27DB-BD31-4B8C-83A1-F6EECF244321}">
                <p14:modId xmlns:p14="http://schemas.microsoft.com/office/powerpoint/2010/main" val="3882280288"/>
              </p:ext>
            </p:extLst>
          </p:nvPr>
        </p:nvGraphicFramePr>
        <p:xfrm>
          <a:off x="5303911" y="5075404"/>
          <a:ext cx="1744097" cy="765325"/>
        </p:xfrm>
        <a:graphic>
          <a:graphicData uri="http://schemas.openxmlformats.org/presentationml/2006/ole">
            <mc:AlternateContent xmlns:mc="http://schemas.openxmlformats.org/markup-compatibility/2006">
              <mc:Choice xmlns:v="urn:schemas-microsoft-com:vml" Requires="v">
                <p:oleObj spid="_x0000_s28305" name="Equation" r:id="rId16" imgW="876300" imgH="431800" progId="Equation.DSMT4">
                  <p:embed/>
                </p:oleObj>
              </mc:Choice>
              <mc:Fallback>
                <p:oleObj name="Equation" r:id="rId16" imgW="876300" imgH="431800" progId="Equation.DSMT4">
                  <p:embed/>
                  <p:pic>
                    <p:nvPicPr>
                      <p:cNvPr id="0" name="Picture 62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303911" y="5075404"/>
                        <a:ext cx="1744097" cy="765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p:cNvSpPr/>
          <p:nvPr/>
        </p:nvSpPr>
        <p:spPr>
          <a:xfrm>
            <a:off x="254371" y="5015835"/>
            <a:ext cx="8295326" cy="899561"/>
          </a:xfrm>
          <a:prstGeom prst="rect">
            <a:avLst/>
          </a:prstGeom>
          <a:ln w="28575">
            <a:solidFill>
              <a:srgbClr val="FF0000"/>
            </a:solidFill>
          </a:ln>
        </p:spPr>
        <p:txBody>
          <a:bodyPr wrap="none" rtlCol="0" anchor="ctr">
            <a:spAutoFit/>
          </a:bodyPr>
          <a:lstStyle/>
          <a:p>
            <a:pPr algn="ctr"/>
            <a:endParaRPr lang="zh-CN" altLang="en-US" sz="2400" kern="100" dirty="0">
              <a:ea typeface="宋体"/>
              <a:cs typeface="Times New Roman"/>
            </a:endParaRPr>
          </a:p>
        </p:txBody>
      </p:sp>
    </p:spTree>
    <p:extLst>
      <p:ext uri="{BB962C8B-B14F-4D97-AF65-F5344CB8AC3E}">
        <p14:creationId xmlns:p14="http://schemas.microsoft.com/office/powerpoint/2010/main" val="7833477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37</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13.3 </a:t>
            </a:r>
            <a:r>
              <a:rPr lang="zh-CN" altLang="zh-CN" dirty="0"/>
              <a:t>两类错误率、</a:t>
            </a:r>
            <a:r>
              <a:rPr lang="en-US" altLang="zh-CN" dirty="0" err="1"/>
              <a:t>Neyman</a:t>
            </a:r>
            <a:r>
              <a:rPr lang="en-US" altLang="zh-CN" dirty="0"/>
              <a:t>-Pearson</a:t>
            </a:r>
            <a:r>
              <a:rPr lang="zh-CN" altLang="zh-CN" dirty="0"/>
              <a:t>决策和</a:t>
            </a:r>
            <a:r>
              <a:rPr lang="en-US" altLang="zh-CN" dirty="0"/>
              <a:t>ROC</a:t>
            </a:r>
            <a:r>
              <a:rPr lang="zh-CN" altLang="zh-CN" dirty="0"/>
              <a:t>曲线</a:t>
            </a:r>
          </a:p>
        </p:txBody>
      </p:sp>
      <p:sp>
        <p:nvSpPr>
          <p:cNvPr id="32" name="内容占位符 2"/>
          <p:cNvSpPr>
            <a:spLocks noGrp="1"/>
          </p:cNvSpPr>
          <p:nvPr>
            <p:ph idx="1"/>
          </p:nvPr>
        </p:nvSpPr>
        <p:spPr>
          <a:xfrm>
            <a:off x="309688" y="1684245"/>
            <a:ext cx="6650408" cy="4403906"/>
          </a:xfrm>
        </p:spPr>
        <p:txBody>
          <a:bodyPr/>
          <a:lstStyle/>
          <a:p>
            <a:pPr>
              <a:lnSpc>
                <a:spcPct val="130000"/>
              </a:lnSpc>
              <a:buNone/>
            </a:pPr>
            <a:r>
              <a:rPr lang="en-US" altLang="zh-CN" sz="2200" dirty="0" err="1">
                <a:solidFill>
                  <a:srgbClr val="6600CC"/>
                </a:solidFill>
              </a:rPr>
              <a:t>Neyman</a:t>
            </a:r>
            <a:r>
              <a:rPr lang="en-US" altLang="zh-CN" sz="2200" dirty="0">
                <a:solidFill>
                  <a:srgbClr val="6600CC"/>
                </a:solidFill>
              </a:rPr>
              <a:t>-Pearson</a:t>
            </a:r>
            <a:r>
              <a:rPr lang="zh-CN" altLang="en-US" sz="2200" dirty="0">
                <a:solidFill>
                  <a:srgbClr val="6600CC"/>
                </a:solidFill>
              </a:rPr>
              <a:t>判决准则</a:t>
            </a:r>
            <a:r>
              <a:rPr lang="zh-CN" altLang="en-US" sz="2200" dirty="0"/>
              <a:t>求得似然比</a:t>
            </a:r>
            <a:endParaRPr lang="en-US" altLang="zh-CN" sz="2200" dirty="0"/>
          </a:p>
          <a:p>
            <a:pPr>
              <a:lnSpc>
                <a:spcPct val="130000"/>
              </a:lnSpc>
            </a:pPr>
            <a:endParaRPr lang="en-US" altLang="zh-CN" sz="2200" dirty="0"/>
          </a:p>
          <a:p>
            <a:pPr>
              <a:lnSpc>
                <a:spcPct val="130000"/>
              </a:lnSpc>
            </a:pPr>
            <a:endParaRPr lang="en-US" altLang="zh-CN" sz="2200" dirty="0"/>
          </a:p>
          <a:p>
            <a:pPr>
              <a:lnSpc>
                <a:spcPct val="130000"/>
              </a:lnSpc>
              <a:buNone/>
            </a:pPr>
            <a:r>
              <a:rPr lang="zh-CN" altLang="en-US" sz="2200" dirty="0"/>
              <a:t>设置阈值    ，判决边界将由阈值决定。</a:t>
            </a:r>
            <a:endParaRPr lang="en-US" altLang="zh-CN" sz="2200" dirty="0"/>
          </a:p>
          <a:p>
            <a:pPr>
              <a:lnSpc>
                <a:spcPct val="130000"/>
              </a:lnSpc>
              <a:spcBef>
                <a:spcPts val="1800"/>
              </a:spcBef>
              <a:buNone/>
            </a:pPr>
            <a:r>
              <a:rPr lang="zh-CN" altLang="en-US" sz="2200" dirty="0">
                <a:latin typeface="Times New Roman" pitchFamily="18" charset="0"/>
              </a:rPr>
              <a:t>如果 </a:t>
            </a:r>
            <a:r>
              <a:rPr lang="en-US" altLang="zh-CN" sz="2200" dirty="0">
                <a:latin typeface="Times New Roman" pitchFamily="18" charset="0"/>
              </a:rPr>
              <a:t>                              ,   </a:t>
            </a:r>
            <a:r>
              <a:rPr lang="en-US" altLang="zh-CN" sz="2200" i="1" dirty="0">
                <a:latin typeface="Times New Roman" pitchFamily="18" charset="0"/>
              </a:rPr>
              <a:t>X</a:t>
            </a:r>
            <a:r>
              <a:rPr lang="en-US" altLang="zh-CN" sz="2200" dirty="0">
                <a:latin typeface="Times New Roman" pitchFamily="18" charset="0"/>
                <a:sym typeface="Symbol" pitchFamily="18" charset="2"/>
              </a:rPr>
              <a:t> </a:t>
            </a:r>
            <a:r>
              <a:rPr lang="en-US" altLang="zh-CN" sz="2200" baseline="-30000" dirty="0">
                <a:latin typeface="Times New Roman" pitchFamily="18" charset="0"/>
                <a:sym typeface="Symbol" pitchFamily="18" charset="2"/>
              </a:rPr>
              <a:t>1</a:t>
            </a:r>
            <a:r>
              <a:rPr lang="en-US" altLang="zh-CN" sz="2200" dirty="0">
                <a:latin typeface="Times New Roman" pitchFamily="18" charset="0"/>
                <a:sym typeface="Symbol" pitchFamily="18" charset="2"/>
              </a:rPr>
              <a:t>;</a:t>
            </a:r>
            <a:r>
              <a:rPr lang="zh-CN" altLang="en-US" sz="2200" dirty="0">
                <a:latin typeface="Times New Roman" pitchFamily="18" charset="0"/>
                <a:sym typeface="Symbol" pitchFamily="18" charset="2"/>
              </a:rPr>
              <a:t>   </a:t>
            </a:r>
            <a:endParaRPr lang="en-US" altLang="zh-CN" sz="2200" dirty="0">
              <a:latin typeface="Times New Roman" pitchFamily="18" charset="0"/>
              <a:sym typeface="Symbol" pitchFamily="18" charset="2"/>
            </a:endParaRPr>
          </a:p>
          <a:p>
            <a:pPr>
              <a:lnSpc>
                <a:spcPct val="130000"/>
              </a:lnSpc>
              <a:spcBef>
                <a:spcPts val="3600"/>
              </a:spcBef>
              <a:buNone/>
            </a:pPr>
            <a:r>
              <a:rPr lang="zh-CN" altLang="en-US" sz="2200" dirty="0">
                <a:latin typeface="Times New Roman" pitchFamily="18" charset="0"/>
                <a:sym typeface="Symbol" pitchFamily="18" charset="2"/>
              </a:rPr>
              <a:t>如果  </a:t>
            </a:r>
            <a:r>
              <a:rPr lang="en-US" altLang="zh-CN" sz="2200" dirty="0">
                <a:latin typeface="Times New Roman" pitchFamily="18" charset="0"/>
                <a:sym typeface="Symbol" pitchFamily="18" charset="2"/>
              </a:rPr>
              <a:t>                             </a:t>
            </a:r>
            <a:r>
              <a:rPr lang="zh-CN" altLang="en-US" sz="2200" dirty="0">
                <a:latin typeface="Times New Roman" pitchFamily="18" charset="0"/>
                <a:sym typeface="Symbol" pitchFamily="18" charset="2"/>
              </a:rPr>
              <a:t>，</a:t>
            </a:r>
            <a:r>
              <a:rPr lang="en-US" altLang="zh-CN" sz="2200" i="1" dirty="0">
                <a:latin typeface="Times New Roman" pitchFamily="18" charset="0"/>
                <a:sym typeface="Symbol" pitchFamily="18" charset="2"/>
              </a:rPr>
              <a:t>X</a:t>
            </a:r>
            <a:r>
              <a:rPr lang="en-US" altLang="zh-CN" sz="2200" dirty="0">
                <a:latin typeface="Times New Roman" pitchFamily="18" charset="0"/>
                <a:sym typeface="Symbol" pitchFamily="18" charset="2"/>
              </a:rPr>
              <a:t> </a:t>
            </a:r>
            <a:r>
              <a:rPr lang="en-US" altLang="zh-CN" sz="2200" baseline="-30000" dirty="0">
                <a:latin typeface="Times New Roman" pitchFamily="18" charset="0"/>
                <a:sym typeface="Symbol" pitchFamily="18" charset="2"/>
              </a:rPr>
              <a:t>2</a:t>
            </a:r>
            <a:endParaRPr lang="en-US" altLang="zh-CN" sz="2200" dirty="0">
              <a:latin typeface="Times New Roman" pitchFamily="18" charset="0"/>
              <a:sym typeface="Symbol" pitchFamily="18" charset="2"/>
            </a:endParaRPr>
          </a:p>
          <a:p>
            <a:pPr>
              <a:lnSpc>
                <a:spcPct val="130000"/>
              </a:lnSpc>
              <a:buNone/>
            </a:pPr>
            <a:endParaRPr lang="en-US" altLang="zh-CN" sz="2200" dirty="0"/>
          </a:p>
          <a:p>
            <a:pPr>
              <a:lnSpc>
                <a:spcPct val="130000"/>
              </a:lnSpc>
              <a:buNone/>
            </a:pPr>
            <a:endParaRPr lang="zh-CN" altLang="en-US" sz="2200" dirty="0"/>
          </a:p>
        </p:txBody>
      </p:sp>
      <p:graphicFrame>
        <p:nvGraphicFramePr>
          <p:cNvPr id="35" name="Object 2"/>
          <p:cNvGraphicFramePr>
            <a:graphicFrameLocks noChangeAspect="1"/>
          </p:cNvGraphicFramePr>
          <p:nvPr>
            <p:extLst>
              <p:ext uri="{D42A27DB-BD31-4B8C-83A1-F6EECF244321}">
                <p14:modId xmlns:p14="http://schemas.microsoft.com/office/powerpoint/2010/main" val="2602456548"/>
              </p:ext>
            </p:extLst>
          </p:nvPr>
        </p:nvGraphicFramePr>
        <p:xfrm>
          <a:off x="2537135" y="2259799"/>
          <a:ext cx="2195513" cy="817563"/>
        </p:xfrm>
        <a:graphic>
          <a:graphicData uri="http://schemas.openxmlformats.org/presentationml/2006/ole">
            <mc:AlternateContent xmlns:mc="http://schemas.openxmlformats.org/markup-compatibility/2006">
              <mc:Choice xmlns:v="urn:schemas-microsoft-com:vml" Requires="v">
                <p:oleObj spid="_x0000_s29126" name="Equation" r:id="rId4" imgW="1054100" imgH="431800" progId="Equation.DSMT4">
                  <p:embed/>
                </p:oleObj>
              </mc:Choice>
              <mc:Fallback>
                <p:oleObj name="Equation" r:id="rId4" imgW="1054100" imgH="431800" progId="Equation.DSMT4">
                  <p:embed/>
                  <p:pic>
                    <p:nvPicPr>
                      <p:cNvPr id="0" name="Picture 4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7135" y="2259799"/>
                        <a:ext cx="2195513" cy="817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6" name="Picture 4" descr="C:\MATLAB6p1\work\bayesshow1_19.bmp"/>
          <p:cNvPicPr>
            <a:picLocks noChangeAspect="1" noChangeArrowheads="1"/>
          </p:cNvPicPr>
          <p:nvPr/>
        </p:nvPicPr>
        <p:blipFill>
          <a:blip r:embed="rId6"/>
          <a:srcRect/>
          <a:stretch>
            <a:fillRect/>
          </a:stretch>
        </p:blipFill>
        <p:spPr bwMode="auto">
          <a:xfrm>
            <a:off x="7265511" y="972557"/>
            <a:ext cx="4597199" cy="2793576"/>
          </a:xfrm>
          <a:prstGeom prst="rect">
            <a:avLst/>
          </a:prstGeom>
          <a:noFill/>
        </p:spPr>
      </p:pic>
      <p:graphicFrame>
        <p:nvGraphicFramePr>
          <p:cNvPr id="37" name="Object 3"/>
          <p:cNvGraphicFramePr>
            <a:graphicFrameLocks noChangeAspect="1"/>
          </p:cNvGraphicFramePr>
          <p:nvPr>
            <p:extLst>
              <p:ext uri="{D42A27DB-BD31-4B8C-83A1-F6EECF244321}">
                <p14:modId xmlns:p14="http://schemas.microsoft.com/office/powerpoint/2010/main" val="2348902435"/>
              </p:ext>
            </p:extLst>
          </p:nvPr>
        </p:nvGraphicFramePr>
        <p:xfrm>
          <a:off x="1565222" y="3274216"/>
          <a:ext cx="288925" cy="338138"/>
        </p:xfrm>
        <a:graphic>
          <a:graphicData uri="http://schemas.openxmlformats.org/presentationml/2006/ole">
            <mc:AlternateContent xmlns:mc="http://schemas.openxmlformats.org/markup-compatibility/2006">
              <mc:Choice xmlns:v="urn:schemas-microsoft-com:vml" Requires="v">
                <p:oleObj spid="_x0000_s29127" name="Equation" r:id="rId7" imgW="139579" imgH="177646" progId="Equation.DSMT4">
                  <p:embed/>
                </p:oleObj>
              </mc:Choice>
              <mc:Fallback>
                <p:oleObj name="Equation" r:id="rId7" imgW="139579" imgH="177646" progId="Equation.DSMT4">
                  <p:embed/>
                  <p:pic>
                    <p:nvPicPr>
                      <p:cNvPr id="0" name="Picture 4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65222" y="3274216"/>
                        <a:ext cx="288925" cy="338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8" name="Picture 5" descr="C:\MATLAB6p1\work\bayesshow1_20.bmp"/>
          <p:cNvPicPr>
            <a:picLocks noChangeAspect="1" noChangeArrowheads="1"/>
          </p:cNvPicPr>
          <p:nvPr/>
        </p:nvPicPr>
        <p:blipFill>
          <a:blip r:embed="rId9"/>
          <a:srcRect/>
          <a:stretch>
            <a:fillRect/>
          </a:stretch>
        </p:blipFill>
        <p:spPr bwMode="auto">
          <a:xfrm>
            <a:off x="7265511" y="972557"/>
            <a:ext cx="4597199" cy="2793576"/>
          </a:xfrm>
          <a:prstGeom prst="rect">
            <a:avLst/>
          </a:prstGeom>
          <a:noFill/>
        </p:spPr>
      </p:pic>
      <p:pic>
        <p:nvPicPr>
          <p:cNvPr id="39" name="Picture 4" descr="C:\MATLAB6p1\work\bayesshow1_21.bmp"/>
          <p:cNvPicPr>
            <a:picLocks noChangeAspect="1" noChangeArrowheads="1"/>
          </p:cNvPicPr>
          <p:nvPr/>
        </p:nvPicPr>
        <p:blipFill>
          <a:blip r:embed="rId10"/>
          <a:srcRect/>
          <a:stretch>
            <a:fillRect/>
          </a:stretch>
        </p:blipFill>
        <p:spPr bwMode="auto">
          <a:xfrm>
            <a:off x="7265511" y="972557"/>
            <a:ext cx="4597199" cy="2793576"/>
          </a:xfrm>
          <a:prstGeom prst="rect">
            <a:avLst/>
          </a:prstGeom>
          <a:noFill/>
        </p:spPr>
      </p:pic>
      <p:pic>
        <p:nvPicPr>
          <p:cNvPr id="45" name="Picture 4" descr="C:\MATLAB6p1\work\bayesshow1_22.bmp"/>
          <p:cNvPicPr>
            <a:picLocks noChangeAspect="1" noChangeArrowheads="1"/>
          </p:cNvPicPr>
          <p:nvPr/>
        </p:nvPicPr>
        <p:blipFill>
          <a:blip r:embed="rId11"/>
          <a:srcRect/>
          <a:stretch>
            <a:fillRect/>
          </a:stretch>
        </p:blipFill>
        <p:spPr bwMode="auto">
          <a:xfrm>
            <a:off x="7267958" y="3766133"/>
            <a:ext cx="4631703" cy="2481266"/>
          </a:xfrm>
          <a:prstGeom prst="rect">
            <a:avLst/>
          </a:prstGeom>
          <a:noFill/>
        </p:spPr>
      </p:pic>
      <p:graphicFrame>
        <p:nvGraphicFramePr>
          <p:cNvPr id="46" name="Object 5"/>
          <p:cNvGraphicFramePr>
            <a:graphicFrameLocks noChangeAspect="1"/>
          </p:cNvGraphicFramePr>
          <p:nvPr>
            <p:extLst>
              <p:ext uri="{D42A27DB-BD31-4B8C-83A1-F6EECF244321}">
                <p14:modId xmlns:p14="http://schemas.microsoft.com/office/powerpoint/2010/main" val="1784089533"/>
              </p:ext>
            </p:extLst>
          </p:nvPr>
        </p:nvGraphicFramePr>
        <p:xfrm>
          <a:off x="1127449" y="3720644"/>
          <a:ext cx="1728192" cy="773942"/>
        </p:xfrm>
        <a:graphic>
          <a:graphicData uri="http://schemas.openxmlformats.org/presentationml/2006/ole">
            <mc:AlternateContent xmlns:mc="http://schemas.openxmlformats.org/markup-compatibility/2006">
              <mc:Choice xmlns:v="urn:schemas-microsoft-com:vml" Requires="v">
                <p:oleObj spid="_x0000_s29128" name="Equation" r:id="rId12" imgW="876300" imgH="431800" progId="Equation.DSMT4">
                  <p:embed/>
                </p:oleObj>
              </mc:Choice>
              <mc:Fallback>
                <p:oleObj name="Equation" r:id="rId12" imgW="876300" imgH="431800" progId="Equation.DSMT4">
                  <p:embed/>
                  <p:pic>
                    <p:nvPicPr>
                      <p:cNvPr id="0" name="Picture 43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27449" y="3720644"/>
                        <a:ext cx="1728192" cy="7739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 name="Object 6"/>
          <p:cNvGraphicFramePr>
            <a:graphicFrameLocks noChangeAspect="1"/>
          </p:cNvGraphicFramePr>
          <p:nvPr>
            <p:extLst>
              <p:ext uri="{D42A27DB-BD31-4B8C-83A1-F6EECF244321}">
                <p14:modId xmlns:p14="http://schemas.microsoft.com/office/powerpoint/2010/main" val="2471521422"/>
              </p:ext>
            </p:extLst>
          </p:nvPr>
        </p:nvGraphicFramePr>
        <p:xfrm>
          <a:off x="1121721" y="4610154"/>
          <a:ext cx="1733920" cy="760859"/>
        </p:xfrm>
        <a:graphic>
          <a:graphicData uri="http://schemas.openxmlformats.org/presentationml/2006/ole">
            <mc:AlternateContent xmlns:mc="http://schemas.openxmlformats.org/markup-compatibility/2006">
              <mc:Choice xmlns:v="urn:schemas-microsoft-com:vml" Requires="v">
                <p:oleObj spid="_x0000_s29129" name="Equation" r:id="rId14" imgW="876300" imgH="431800" progId="Equation.DSMT4">
                  <p:embed/>
                </p:oleObj>
              </mc:Choice>
              <mc:Fallback>
                <p:oleObj name="Equation" r:id="rId14" imgW="876300" imgH="431800" progId="Equation.DSMT4">
                  <p:embed/>
                  <p:pic>
                    <p:nvPicPr>
                      <p:cNvPr id="0" name="Picture 43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21721" y="4610154"/>
                        <a:ext cx="1733920" cy="7608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8" name="Picture 7" descr="C:\MATLAB6p1\work\bayesshow1_23.bmp"/>
          <p:cNvPicPr>
            <a:picLocks noChangeAspect="1" noChangeArrowheads="1"/>
          </p:cNvPicPr>
          <p:nvPr/>
        </p:nvPicPr>
        <p:blipFill>
          <a:blip r:embed="rId16"/>
          <a:srcRect/>
          <a:stretch>
            <a:fillRect/>
          </a:stretch>
        </p:blipFill>
        <p:spPr bwMode="auto">
          <a:xfrm>
            <a:off x="7267958" y="3766133"/>
            <a:ext cx="4631703" cy="2481266"/>
          </a:xfrm>
          <a:prstGeom prst="rect">
            <a:avLst/>
          </a:prstGeom>
          <a:noFill/>
        </p:spPr>
      </p:pic>
      <p:graphicFrame>
        <p:nvGraphicFramePr>
          <p:cNvPr id="49" name="Object 8"/>
          <p:cNvGraphicFramePr>
            <a:graphicFrameLocks noChangeAspect="1"/>
          </p:cNvGraphicFramePr>
          <p:nvPr>
            <p:extLst>
              <p:ext uri="{D42A27DB-BD31-4B8C-83A1-F6EECF244321}">
                <p14:modId xmlns:p14="http://schemas.microsoft.com/office/powerpoint/2010/main" val="1330863246"/>
              </p:ext>
            </p:extLst>
          </p:nvPr>
        </p:nvGraphicFramePr>
        <p:xfrm>
          <a:off x="318841" y="5514757"/>
          <a:ext cx="2643207" cy="720875"/>
        </p:xfrm>
        <a:graphic>
          <a:graphicData uri="http://schemas.openxmlformats.org/presentationml/2006/ole">
            <mc:AlternateContent xmlns:mc="http://schemas.openxmlformats.org/markup-compatibility/2006">
              <mc:Choice xmlns:v="urn:schemas-microsoft-com:vml" Requires="v">
                <p:oleObj spid="_x0000_s29130" name="Equation" r:id="rId17" imgW="838200" imgH="228600" progId="Equation.DSMT4">
                  <p:embed/>
                </p:oleObj>
              </mc:Choice>
              <mc:Fallback>
                <p:oleObj name="Equation" r:id="rId17" imgW="838200" imgH="228600" progId="Equation.DSMT4">
                  <p:embed/>
                  <p:pic>
                    <p:nvPicPr>
                      <p:cNvPr id="0" name="Picture 43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8841" y="5514757"/>
                        <a:ext cx="2643207" cy="7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 name="矩形 49"/>
          <p:cNvSpPr/>
          <p:nvPr/>
        </p:nvSpPr>
        <p:spPr>
          <a:xfrm>
            <a:off x="304132" y="1052736"/>
            <a:ext cx="3841116" cy="523220"/>
          </a:xfrm>
          <a:prstGeom prst="rect">
            <a:avLst/>
          </a:prstGeom>
        </p:spPr>
        <p:txBody>
          <a:bodyPr wrap="none">
            <a:spAutoFit/>
          </a:bodyPr>
          <a:lstStyle/>
          <a:p>
            <a:r>
              <a:rPr lang="en-US" altLang="zh-CN" sz="2800" b="1" dirty="0" err="1">
                <a:solidFill>
                  <a:srgbClr val="0000FF"/>
                </a:solidFill>
                <a:latin typeface="Arial" panose="020B0604020202020204" pitchFamily="34" charset="0"/>
              </a:rPr>
              <a:t>Neyman</a:t>
            </a:r>
            <a:r>
              <a:rPr lang="en-US" altLang="zh-CN" sz="2800" b="1" dirty="0">
                <a:solidFill>
                  <a:srgbClr val="0000FF"/>
                </a:solidFill>
                <a:latin typeface="Arial" panose="020B0604020202020204" pitchFamily="34" charset="0"/>
              </a:rPr>
              <a:t>-Pearson</a:t>
            </a:r>
            <a:r>
              <a:rPr lang="zh-CN" altLang="zh-CN" sz="2800" b="1" dirty="0">
                <a:solidFill>
                  <a:srgbClr val="0000FF"/>
                </a:solidFill>
                <a:latin typeface="Arial" panose="020B0604020202020204" pitchFamily="34" charset="0"/>
              </a:rPr>
              <a:t>决策</a:t>
            </a:r>
            <a:endParaRPr lang="zh-CN" altLang="en-US" sz="2800" b="1" dirty="0">
              <a:solidFill>
                <a:srgbClr val="0000FF"/>
              </a:solidFill>
              <a:latin typeface="Arial" panose="020B0604020202020204" pitchFamily="34" charset="0"/>
            </a:endParaRPr>
          </a:p>
        </p:txBody>
      </p:sp>
    </p:spTree>
    <p:extLst>
      <p:ext uri="{BB962C8B-B14F-4D97-AF65-F5344CB8AC3E}">
        <p14:creationId xmlns:p14="http://schemas.microsoft.com/office/powerpoint/2010/main" val="1532214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2">
                                            <p:txEl>
                                              <p:pRg st="3" end="3"/>
                                            </p:txEl>
                                          </p:spTgt>
                                        </p:tgtEl>
                                        <p:attrNameLst>
                                          <p:attrName>style.visibility</p:attrName>
                                        </p:attrNameLst>
                                      </p:cBhvr>
                                      <p:to>
                                        <p:strVal val="visible"/>
                                      </p:to>
                                    </p:set>
                                    <p:animEffect transition="in" filter="wipe(down)">
                                      <p:cBhvr>
                                        <p:cTn id="10" dur="500"/>
                                        <p:tgtEl>
                                          <p:spTgt spid="32">
                                            <p:txEl>
                                              <p:pRg st="3" end="3"/>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wipe(down)">
                                      <p:cBhvr>
                                        <p:cTn id="13" dur="500"/>
                                        <p:tgtEl>
                                          <p:spTgt spid="3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9"/>
                                        </p:tgtEl>
                                        <p:attrNameLst>
                                          <p:attrName>style.visibility</p:attrName>
                                        </p:attrNameLst>
                                      </p:cBhvr>
                                      <p:to>
                                        <p:strVal val="visible"/>
                                      </p:to>
                                    </p:set>
                                    <p:animEffect transition="in" filter="wipe(down)">
                                      <p:cBhvr>
                                        <p:cTn id="18" dur="500"/>
                                        <p:tgtEl>
                                          <p:spTgt spid="3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32">
                                            <p:txEl>
                                              <p:pRg st="4" end="4"/>
                                            </p:txEl>
                                          </p:spTgt>
                                        </p:tgtEl>
                                        <p:attrNameLst>
                                          <p:attrName>style.visibility</p:attrName>
                                        </p:attrNameLst>
                                      </p:cBhvr>
                                      <p:to>
                                        <p:strVal val="visible"/>
                                      </p:to>
                                    </p:set>
                                    <p:animEffect transition="in" filter="wipe(down)">
                                      <p:cBhvr>
                                        <p:cTn id="23" dur="500"/>
                                        <p:tgtEl>
                                          <p:spTgt spid="32">
                                            <p:txEl>
                                              <p:pRg st="4" end="4"/>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wipe(down)">
                                      <p:cBhvr>
                                        <p:cTn id="26" dur="500"/>
                                        <p:tgtEl>
                                          <p:spTgt spid="46"/>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32">
                                            <p:txEl>
                                              <p:pRg st="5" end="5"/>
                                            </p:txEl>
                                          </p:spTgt>
                                        </p:tgtEl>
                                        <p:attrNameLst>
                                          <p:attrName>style.visibility</p:attrName>
                                        </p:attrNameLst>
                                      </p:cBhvr>
                                      <p:to>
                                        <p:strVal val="visible"/>
                                      </p:to>
                                    </p:set>
                                    <p:animEffect transition="in" filter="wipe(down)">
                                      <p:cBhvr>
                                        <p:cTn id="29" dur="500"/>
                                        <p:tgtEl>
                                          <p:spTgt spid="32">
                                            <p:txEl>
                                              <p:pRg st="5" end="5"/>
                                            </p:txEl>
                                          </p:spTgt>
                                        </p:tgtEl>
                                      </p:cBhvr>
                                    </p:animEffect>
                                  </p:childTnLst>
                                </p:cTn>
                              </p:par>
                              <p:par>
                                <p:cTn id="30" presetID="22" presetClass="entr" presetSubtype="4" fill="hold" nodeType="with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wipe(down)">
                                      <p:cBhvr>
                                        <p:cTn id="32" dur="500"/>
                                        <p:tgtEl>
                                          <p:spTgt spid="47"/>
                                        </p:tgtEl>
                                      </p:cBhvr>
                                    </p:animEffect>
                                  </p:childTnLst>
                                </p:cTn>
                              </p:par>
                              <p:par>
                                <p:cTn id="33" presetID="22" presetClass="entr" presetSubtype="4" fill="hold"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wipe(down)">
                                      <p:cBhvr>
                                        <p:cTn id="35" dur="500"/>
                                        <p:tgtEl>
                                          <p:spTgt spid="4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wipe(down)">
                                      <p:cBhvr>
                                        <p:cTn id="40" dur="500"/>
                                        <p:tgtEl>
                                          <p:spTgt spid="48"/>
                                        </p:tgtEl>
                                      </p:cBhvr>
                                    </p:animEffect>
                                  </p:childTnLst>
                                </p:cTn>
                              </p:par>
                              <p:par>
                                <p:cTn id="41" presetID="22" presetClass="entr" presetSubtype="4" fill="hold" nodeType="with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wipe(down)">
                                      <p:cBhvr>
                                        <p:cTn id="4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uiExpand="1" build="allAtOnce"/>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内容占位符 2"/>
          <p:cNvSpPr txBox="1">
            <a:spLocks/>
          </p:cNvSpPr>
          <p:nvPr/>
        </p:nvSpPr>
        <p:spPr bwMode="auto">
          <a:xfrm>
            <a:off x="464497" y="1942247"/>
            <a:ext cx="6711623" cy="27108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lvl="0" indent="-342900" eaLnBrk="0" hangingPunct="0">
              <a:lnSpc>
                <a:spcPct val="150000"/>
              </a:lnSpc>
              <a:spcBef>
                <a:spcPts val="0"/>
              </a:spcBef>
              <a:buClr>
                <a:schemeClr val="tx2"/>
              </a:buClr>
              <a:buSzPct val="50000"/>
            </a:pPr>
            <a:r>
              <a:rPr kumimoji="0" lang="zh-CN" altLang="en-US" sz="2400" b="0" dirty="0">
                <a:solidFill>
                  <a:schemeClr val="tx1"/>
                </a:solidFill>
                <a:latin typeface="+mj-ea"/>
                <a:ea typeface="+mj-ea"/>
              </a:rPr>
              <a:t>其他的判决边界划分方法即使可以保证</a:t>
            </a:r>
            <a:r>
              <a:rPr kumimoji="0" lang="en-US" altLang="zh-CN" sz="2400" b="0" dirty="0">
                <a:solidFill>
                  <a:schemeClr val="tx1"/>
                </a:solidFill>
                <a:latin typeface="+mj-ea"/>
                <a:ea typeface="+mj-ea"/>
              </a:rPr>
              <a:t>P</a:t>
            </a:r>
            <a:r>
              <a:rPr kumimoji="0" lang="en-US" altLang="zh-CN" sz="2400" b="0" baseline="-25000" dirty="0">
                <a:solidFill>
                  <a:schemeClr val="tx1"/>
                </a:solidFill>
                <a:latin typeface="+mj-ea"/>
                <a:ea typeface="+mj-ea"/>
              </a:rPr>
              <a:t>2</a:t>
            </a:r>
            <a:r>
              <a:rPr kumimoji="0" lang="en-US" altLang="zh-CN" sz="2400" b="0" dirty="0">
                <a:solidFill>
                  <a:schemeClr val="tx1"/>
                </a:solidFill>
                <a:latin typeface="+mj-ea"/>
                <a:ea typeface="+mj-ea"/>
              </a:rPr>
              <a:t>(e)</a:t>
            </a:r>
            <a:r>
              <a:rPr kumimoji="0" lang="zh-CN" altLang="en-US" sz="2400" b="0" dirty="0">
                <a:solidFill>
                  <a:schemeClr val="tx1"/>
                </a:solidFill>
                <a:latin typeface="+mj-ea"/>
                <a:ea typeface="+mj-ea"/>
              </a:rPr>
              <a:t>绿色</a:t>
            </a:r>
            <a:endParaRPr kumimoji="0" lang="en-US" altLang="zh-CN" sz="2400" b="0" dirty="0">
              <a:solidFill>
                <a:schemeClr val="tx1"/>
              </a:solidFill>
              <a:latin typeface="+mj-ea"/>
              <a:ea typeface="+mj-ea"/>
            </a:endParaRPr>
          </a:p>
          <a:p>
            <a:pPr marL="342900" lvl="0" indent="-342900" eaLnBrk="0" hangingPunct="0">
              <a:lnSpc>
                <a:spcPct val="150000"/>
              </a:lnSpc>
              <a:spcBef>
                <a:spcPts val="0"/>
              </a:spcBef>
              <a:buClr>
                <a:schemeClr val="tx2"/>
              </a:buClr>
              <a:buSzPct val="50000"/>
            </a:pPr>
            <a:r>
              <a:rPr kumimoji="0" lang="zh-CN" altLang="en-US" sz="2400" b="0" dirty="0">
                <a:solidFill>
                  <a:schemeClr val="tx1"/>
                </a:solidFill>
                <a:latin typeface="+mj-ea"/>
                <a:ea typeface="+mj-ea"/>
              </a:rPr>
              <a:t>区域面积等于</a:t>
            </a:r>
            <a:r>
              <a:rPr lang="el-GR" altLang="zh-CN" sz="2400" b="0" dirty="0">
                <a:solidFill>
                  <a:schemeClr val="tx1"/>
                </a:solidFill>
                <a:latin typeface="+mj-ea"/>
                <a:ea typeface="+mj-ea"/>
              </a:rPr>
              <a:t>ε</a:t>
            </a:r>
            <a:r>
              <a:rPr lang="en-US" altLang="zh-CN" sz="2400" b="0" baseline="-25000" dirty="0">
                <a:solidFill>
                  <a:schemeClr val="tx1"/>
                </a:solidFill>
                <a:latin typeface="+mj-ea"/>
                <a:ea typeface="+mj-ea"/>
              </a:rPr>
              <a:t>0</a:t>
            </a:r>
          </a:p>
          <a:p>
            <a:pPr marL="342900" lvl="0" indent="-342900" eaLnBrk="0" hangingPunct="0">
              <a:lnSpc>
                <a:spcPct val="150000"/>
              </a:lnSpc>
              <a:spcBef>
                <a:spcPts val="0"/>
              </a:spcBef>
              <a:buClr>
                <a:schemeClr val="tx2"/>
              </a:buClr>
              <a:buSzPct val="50000"/>
            </a:pPr>
            <a:endParaRPr kumimoji="0" lang="en-US" altLang="zh-CN" sz="2400" b="0" i="0" u="none" strike="noStrike" kern="1200" cap="none" spc="0" normalizeH="0" baseline="-25000" noProof="0" dirty="0">
              <a:ln>
                <a:noFill/>
              </a:ln>
              <a:solidFill>
                <a:schemeClr val="tx1"/>
              </a:solidFill>
              <a:effectLst/>
              <a:uLnTx/>
              <a:uFillTx/>
              <a:latin typeface="+mj-ea"/>
              <a:ea typeface="+mj-ea"/>
              <a:cs typeface="+mn-cs"/>
            </a:endParaRPr>
          </a:p>
          <a:p>
            <a:pPr marL="342900" lvl="0" indent="-342900" eaLnBrk="0" hangingPunct="0">
              <a:lnSpc>
                <a:spcPct val="150000"/>
              </a:lnSpc>
              <a:spcBef>
                <a:spcPts val="0"/>
              </a:spcBef>
              <a:buClr>
                <a:schemeClr val="tx2"/>
              </a:buClr>
              <a:buSzPct val="50000"/>
            </a:pPr>
            <a:endParaRPr kumimoji="0" lang="en-US" altLang="zh-CN" sz="2400" b="0" dirty="0">
              <a:solidFill>
                <a:schemeClr val="tx1"/>
              </a:solidFill>
              <a:latin typeface="+mj-ea"/>
              <a:ea typeface="+mj-ea"/>
            </a:endParaRPr>
          </a:p>
          <a:p>
            <a:pPr marL="342900" lvl="0" indent="-342900" eaLnBrk="0" hangingPunct="0">
              <a:lnSpc>
                <a:spcPct val="150000"/>
              </a:lnSpc>
              <a:spcBef>
                <a:spcPts val="0"/>
              </a:spcBef>
              <a:buClr>
                <a:schemeClr val="tx2"/>
              </a:buClr>
              <a:buSzPct val="50000"/>
            </a:pPr>
            <a:r>
              <a:rPr kumimoji="0" lang="zh-CN" altLang="en-US" sz="2400" b="0" dirty="0">
                <a:solidFill>
                  <a:schemeClr val="tx1"/>
                </a:solidFill>
                <a:latin typeface="+mj-ea"/>
                <a:ea typeface="+mj-ea"/>
              </a:rPr>
              <a:t>但</a:t>
            </a:r>
            <a:r>
              <a:rPr kumimoji="0" lang="en-US" altLang="zh-CN" sz="2400" b="0" dirty="0">
                <a:solidFill>
                  <a:schemeClr val="tx1"/>
                </a:solidFill>
                <a:latin typeface="+mj-ea"/>
                <a:ea typeface="+mj-ea"/>
              </a:rPr>
              <a:t>P</a:t>
            </a:r>
            <a:r>
              <a:rPr kumimoji="0" lang="en-US" altLang="zh-CN" sz="2400" b="0" baseline="-25000" dirty="0">
                <a:solidFill>
                  <a:schemeClr val="tx1"/>
                </a:solidFill>
                <a:latin typeface="+mj-ea"/>
                <a:ea typeface="+mj-ea"/>
              </a:rPr>
              <a:t>1</a:t>
            </a:r>
            <a:r>
              <a:rPr kumimoji="0" lang="en-US" altLang="zh-CN" sz="2400" b="0" dirty="0">
                <a:solidFill>
                  <a:schemeClr val="tx1"/>
                </a:solidFill>
                <a:latin typeface="+mj-ea"/>
                <a:ea typeface="+mj-ea"/>
              </a:rPr>
              <a:t>(e)</a:t>
            </a:r>
            <a:r>
              <a:rPr kumimoji="0" lang="zh-CN" altLang="en-US" sz="2400" b="0" dirty="0">
                <a:solidFill>
                  <a:schemeClr val="tx1"/>
                </a:solidFill>
                <a:latin typeface="+mj-ea"/>
                <a:ea typeface="+mj-ea"/>
              </a:rPr>
              <a:t>黄色区域面积却不能取到最小。</a:t>
            </a:r>
            <a:endParaRPr kumimoji="0" lang="zh-CN" altLang="en-US" sz="2400" b="0" i="0" u="none" strike="noStrike" kern="1200" cap="none" spc="0" normalizeH="0" noProof="0" dirty="0">
              <a:ln>
                <a:noFill/>
              </a:ln>
              <a:solidFill>
                <a:schemeClr val="tx1"/>
              </a:solidFill>
              <a:effectLst/>
              <a:uLnTx/>
              <a:uFillTx/>
              <a:latin typeface="+mj-ea"/>
              <a:ea typeface="+mj-ea"/>
              <a:cs typeface="+mn-cs"/>
            </a:endParaRPr>
          </a:p>
        </p:txBody>
      </p:sp>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38</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13.3 </a:t>
            </a:r>
            <a:r>
              <a:rPr lang="zh-CN" altLang="zh-CN" dirty="0"/>
              <a:t>两类错误率、</a:t>
            </a:r>
            <a:r>
              <a:rPr lang="en-US" altLang="zh-CN" dirty="0" err="1"/>
              <a:t>Neyman</a:t>
            </a:r>
            <a:r>
              <a:rPr lang="en-US" altLang="zh-CN" dirty="0"/>
              <a:t>-Pearson</a:t>
            </a:r>
            <a:r>
              <a:rPr lang="zh-CN" altLang="zh-CN" dirty="0"/>
              <a:t>决策和</a:t>
            </a:r>
            <a:r>
              <a:rPr lang="en-US" altLang="zh-CN" dirty="0"/>
              <a:t>ROC</a:t>
            </a:r>
            <a:r>
              <a:rPr lang="zh-CN" altLang="zh-CN" dirty="0"/>
              <a:t>曲线</a:t>
            </a:r>
          </a:p>
        </p:txBody>
      </p:sp>
      <p:sp>
        <p:nvSpPr>
          <p:cNvPr id="50" name="矩形 49"/>
          <p:cNvSpPr/>
          <p:nvPr/>
        </p:nvSpPr>
        <p:spPr>
          <a:xfrm>
            <a:off x="304132" y="1052736"/>
            <a:ext cx="3841116" cy="523220"/>
          </a:xfrm>
          <a:prstGeom prst="rect">
            <a:avLst/>
          </a:prstGeom>
        </p:spPr>
        <p:txBody>
          <a:bodyPr wrap="none">
            <a:spAutoFit/>
          </a:bodyPr>
          <a:lstStyle/>
          <a:p>
            <a:r>
              <a:rPr lang="en-US" altLang="zh-CN" sz="2800" b="1" dirty="0" err="1">
                <a:solidFill>
                  <a:srgbClr val="0000FF"/>
                </a:solidFill>
                <a:latin typeface="Arial" panose="020B0604020202020204" pitchFamily="34" charset="0"/>
              </a:rPr>
              <a:t>Neyman</a:t>
            </a:r>
            <a:r>
              <a:rPr lang="en-US" altLang="zh-CN" sz="2800" b="1" dirty="0">
                <a:solidFill>
                  <a:srgbClr val="0000FF"/>
                </a:solidFill>
                <a:latin typeface="Arial" panose="020B0604020202020204" pitchFamily="34" charset="0"/>
              </a:rPr>
              <a:t>-Pearson</a:t>
            </a:r>
            <a:r>
              <a:rPr lang="zh-CN" altLang="zh-CN" sz="2800" b="1" dirty="0">
                <a:solidFill>
                  <a:srgbClr val="0000FF"/>
                </a:solidFill>
                <a:latin typeface="Arial" panose="020B0604020202020204" pitchFamily="34" charset="0"/>
              </a:rPr>
              <a:t>决策</a:t>
            </a:r>
            <a:endParaRPr lang="zh-CN" altLang="en-US" sz="2800" b="1" dirty="0">
              <a:solidFill>
                <a:srgbClr val="0000FF"/>
              </a:solidFill>
              <a:latin typeface="Arial" panose="020B0604020202020204" pitchFamily="34" charset="0"/>
            </a:endParaRPr>
          </a:p>
        </p:txBody>
      </p:sp>
      <p:pic>
        <p:nvPicPr>
          <p:cNvPr id="19" name="Picture 7" descr="C:\MATLAB6p1\work\bayesshow1_23.bmp"/>
          <p:cNvPicPr>
            <a:picLocks noChangeAspect="1" noChangeArrowheads="1"/>
          </p:cNvPicPr>
          <p:nvPr/>
        </p:nvPicPr>
        <p:blipFill>
          <a:blip r:embed="rId4"/>
          <a:srcRect/>
          <a:stretch>
            <a:fillRect/>
          </a:stretch>
        </p:blipFill>
        <p:spPr bwMode="auto">
          <a:xfrm>
            <a:off x="7669062" y="1033314"/>
            <a:ext cx="4302224" cy="2823335"/>
          </a:xfrm>
          <a:prstGeom prst="rect">
            <a:avLst/>
          </a:prstGeom>
          <a:noFill/>
        </p:spPr>
      </p:pic>
      <p:pic>
        <p:nvPicPr>
          <p:cNvPr id="20" name="Picture 7" descr="C:\MATLAB6p1\work\bayesshow1_24.bmp"/>
          <p:cNvPicPr>
            <a:picLocks noChangeAspect="1" noChangeArrowheads="1"/>
          </p:cNvPicPr>
          <p:nvPr/>
        </p:nvPicPr>
        <p:blipFill>
          <a:blip r:embed="rId5"/>
          <a:srcRect/>
          <a:stretch>
            <a:fillRect/>
          </a:stretch>
        </p:blipFill>
        <p:spPr bwMode="auto">
          <a:xfrm>
            <a:off x="7779419" y="3663681"/>
            <a:ext cx="4302224" cy="2765715"/>
          </a:xfrm>
          <a:prstGeom prst="rect">
            <a:avLst/>
          </a:prstGeom>
          <a:noFill/>
        </p:spPr>
      </p:pic>
      <p:graphicFrame>
        <p:nvGraphicFramePr>
          <p:cNvPr id="21" name="Object 8"/>
          <p:cNvGraphicFramePr>
            <a:graphicFrameLocks noChangeAspect="1"/>
          </p:cNvGraphicFramePr>
          <p:nvPr>
            <p:extLst>
              <p:ext uri="{D42A27DB-BD31-4B8C-83A1-F6EECF244321}">
                <p14:modId xmlns:p14="http://schemas.microsoft.com/office/powerpoint/2010/main" val="2784146545"/>
              </p:ext>
            </p:extLst>
          </p:nvPr>
        </p:nvGraphicFramePr>
        <p:xfrm>
          <a:off x="2531604" y="3240235"/>
          <a:ext cx="2111658" cy="616414"/>
        </p:xfrm>
        <a:graphic>
          <a:graphicData uri="http://schemas.openxmlformats.org/presentationml/2006/ole">
            <mc:AlternateContent xmlns:mc="http://schemas.openxmlformats.org/markup-compatibility/2006">
              <mc:Choice xmlns:v="urn:schemas-microsoft-com:vml" Requires="v">
                <p:oleObj spid="_x0000_s30812" name="Equation" r:id="rId6" imgW="838200" imgH="228600" progId="Equation.DSMT4">
                  <p:embed/>
                </p:oleObj>
              </mc:Choice>
              <mc:Fallback>
                <p:oleObj name="Equation" r:id="rId6" imgW="838200" imgH="228600" progId="Equation.DSMT4">
                  <p:embed/>
                  <p:pic>
                    <p:nvPicPr>
                      <p:cNvPr id="0" name="Picture 8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31604" y="3240235"/>
                        <a:ext cx="2111658" cy="6164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54849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2">
                                            <p:txEl>
                                              <p:pRg st="4" end="4"/>
                                            </p:txEl>
                                          </p:spTgt>
                                        </p:tgtEl>
                                        <p:attrNameLst>
                                          <p:attrName>style.visibility</p:attrName>
                                        </p:attrNameLst>
                                      </p:cBhvr>
                                      <p:to>
                                        <p:strVal val="visible"/>
                                      </p:to>
                                    </p:set>
                                    <p:animEffect transition="in" filter="wipe(down)">
                                      <p:cBhvr>
                                        <p:cTn id="10" dur="500"/>
                                        <p:tgtEl>
                                          <p:spTgt spid="2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uiExpand="1" build="allAtOnce"/>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39</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13.3 </a:t>
            </a:r>
            <a:r>
              <a:rPr lang="zh-CN" altLang="zh-CN" dirty="0"/>
              <a:t>两类错误率、</a:t>
            </a:r>
            <a:r>
              <a:rPr lang="en-US" altLang="zh-CN" dirty="0" err="1"/>
              <a:t>Neyman</a:t>
            </a:r>
            <a:r>
              <a:rPr lang="en-US" altLang="zh-CN" dirty="0"/>
              <a:t>-Pearson</a:t>
            </a:r>
            <a:r>
              <a:rPr lang="zh-CN" altLang="zh-CN" dirty="0"/>
              <a:t>决策和</a:t>
            </a:r>
            <a:r>
              <a:rPr lang="en-US" altLang="zh-CN" dirty="0"/>
              <a:t>ROC</a:t>
            </a:r>
            <a:r>
              <a:rPr lang="zh-CN" altLang="zh-CN" dirty="0"/>
              <a:t>曲线</a:t>
            </a:r>
          </a:p>
        </p:txBody>
      </p:sp>
      <p:sp>
        <p:nvSpPr>
          <p:cNvPr id="50" name="矩形 49"/>
          <p:cNvSpPr/>
          <p:nvPr/>
        </p:nvSpPr>
        <p:spPr>
          <a:xfrm>
            <a:off x="304132" y="1052736"/>
            <a:ext cx="6713697" cy="523220"/>
          </a:xfrm>
          <a:prstGeom prst="rect">
            <a:avLst/>
          </a:prstGeom>
        </p:spPr>
        <p:txBody>
          <a:bodyPr wrap="none">
            <a:spAutoFit/>
          </a:bodyPr>
          <a:lstStyle/>
          <a:p>
            <a:r>
              <a:rPr lang="en-US" altLang="zh-CN" sz="2800" b="1" dirty="0" err="1">
                <a:solidFill>
                  <a:srgbClr val="0000FF"/>
                </a:solidFill>
                <a:latin typeface="Arial" panose="020B0604020202020204" pitchFamily="34" charset="0"/>
              </a:rPr>
              <a:t>Neyman</a:t>
            </a:r>
            <a:r>
              <a:rPr lang="en-US" altLang="zh-CN" sz="2800" b="1" dirty="0">
                <a:solidFill>
                  <a:srgbClr val="0000FF"/>
                </a:solidFill>
                <a:latin typeface="Arial" panose="020B0604020202020204" pitchFamily="34" charset="0"/>
              </a:rPr>
              <a:t>-Pearson</a:t>
            </a:r>
            <a:r>
              <a:rPr lang="zh-CN" altLang="zh-CN" sz="2800" b="1" dirty="0">
                <a:solidFill>
                  <a:srgbClr val="0000FF"/>
                </a:solidFill>
                <a:latin typeface="Arial" panose="020B0604020202020204" pitchFamily="34" charset="0"/>
              </a:rPr>
              <a:t>决策</a:t>
            </a:r>
            <a:r>
              <a:rPr lang="zh-CN" altLang="en-US" sz="2800" b="1" dirty="0">
                <a:solidFill>
                  <a:srgbClr val="0000FF"/>
                </a:solidFill>
                <a:latin typeface="Arial" panose="020B0604020202020204" pitchFamily="34" charset="0"/>
              </a:rPr>
              <a:t>与其它决策的比较</a:t>
            </a:r>
          </a:p>
        </p:txBody>
      </p:sp>
      <p:sp>
        <p:nvSpPr>
          <p:cNvPr id="11" name="内容占位符 2"/>
          <p:cNvSpPr>
            <a:spLocks noGrp="1"/>
          </p:cNvSpPr>
          <p:nvPr>
            <p:ph idx="1"/>
          </p:nvPr>
        </p:nvSpPr>
        <p:spPr>
          <a:xfrm>
            <a:off x="304132" y="1799419"/>
            <a:ext cx="3974609" cy="3034918"/>
          </a:xfrm>
        </p:spPr>
        <p:txBody>
          <a:bodyPr/>
          <a:lstStyle/>
          <a:p>
            <a:pPr>
              <a:buClrTx/>
              <a:buFont typeface="Arial" panose="020B0604020202020204" pitchFamily="34" charset="0"/>
              <a:buChar char="•"/>
            </a:pPr>
            <a:r>
              <a:rPr lang="en-US" altLang="zh-CN" sz="2200" dirty="0" err="1"/>
              <a:t>Neyman</a:t>
            </a:r>
            <a:r>
              <a:rPr lang="en-US" altLang="zh-CN" sz="2200" dirty="0"/>
              <a:t>-Pearson</a:t>
            </a:r>
            <a:r>
              <a:rPr lang="zh-CN" altLang="en-US" sz="2200" dirty="0"/>
              <a:t>判决准则</a:t>
            </a:r>
            <a:endParaRPr lang="en-US" altLang="zh-CN" sz="2200" dirty="0"/>
          </a:p>
          <a:p>
            <a:endParaRPr lang="en-US" altLang="zh-CN" sz="2200" dirty="0"/>
          </a:p>
          <a:p>
            <a:pPr marL="0" indent="0">
              <a:buNone/>
            </a:pPr>
            <a:endParaRPr lang="en-US" altLang="zh-CN" sz="2200" dirty="0"/>
          </a:p>
          <a:p>
            <a:pPr>
              <a:buClrTx/>
              <a:buFont typeface="Arial" panose="020B0604020202020204" pitchFamily="34" charset="0"/>
              <a:buChar char="•"/>
            </a:pPr>
            <a:r>
              <a:rPr lang="zh-CN" altLang="en-US" sz="2200" dirty="0"/>
              <a:t>最小错误率贝叶斯决策规则</a:t>
            </a:r>
            <a:endParaRPr lang="en-US" altLang="zh-CN" sz="2200" dirty="0"/>
          </a:p>
          <a:p>
            <a:endParaRPr lang="en-US" altLang="zh-CN" sz="2200" dirty="0"/>
          </a:p>
          <a:p>
            <a:pPr marL="0" indent="0">
              <a:buNone/>
            </a:pPr>
            <a:endParaRPr lang="en-US" altLang="zh-CN" sz="2200" dirty="0"/>
          </a:p>
          <a:p>
            <a:pPr>
              <a:lnSpc>
                <a:spcPct val="150000"/>
              </a:lnSpc>
              <a:buClrTx/>
              <a:buFont typeface="Arial" panose="020B0604020202020204" pitchFamily="34" charset="0"/>
              <a:buChar char="•"/>
            </a:pPr>
            <a:r>
              <a:rPr lang="zh-CN" altLang="en-US" sz="2200" dirty="0"/>
              <a:t>最小风险贝叶斯决策规则</a:t>
            </a:r>
            <a:endParaRPr lang="en-US" altLang="zh-CN" sz="2200" dirty="0"/>
          </a:p>
        </p:txBody>
      </p:sp>
      <p:graphicFrame>
        <p:nvGraphicFramePr>
          <p:cNvPr id="12" name="Object 2"/>
          <p:cNvGraphicFramePr>
            <a:graphicFrameLocks noChangeAspect="1"/>
          </p:cNvGraphicFramePr>
          <p:nvPr>
            <p:extLst>
              <p:ext uri="{D42A27DB-BD31-4B8C-83A1-F6EECF244321}">
                <p14:modId xmlns:p14="http://schemas.microsoft.com/office/powerpoint/2010/main" val="3988629671"/>
              </p:ext>
            </p:extLst>
          </p:nvPr>
        </p:nvGraphicFramePr>
        <p:xfrm>
          <a:off x="4333526" y="2772827"/>
          <a:ext cx="4748213" cy="901700"/>
        </p:xfrm>
        <a:graphic>
          <a:graphicData uri="http://schemas.openxmlformats.org/presentationml/2006/ole">
            <mc:AlternateContent xmlns:mc="http://schemas.openxmlformats.org/markup-compatibility/2006">
              <mc:Choice xmlns:v="urn:schemas-microsoft-com:vml" Requires="v">
                <p:oleObj spid="_x0000_s32016" name="Equation" r:id="rId4" imgW="1739880" imgH="330120" progId="Equation.DSMT4">
                  <p:embed/>
                </p:oleObj>
              </mc:Choice>
              <mc:Fallback>
                <p:oleObj name="Equation" r:id="rId4" imgW="1739880" imgH="330120" progId="Equation.DSMT4">
                  <p:embed/>
                  <p:pic>
                    <p:nvPicPr>
                      <p:cNvPr id="0" name="Picture 26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33526" y="2772827"/>
                        <a:ext cx="4748213" cy="90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Object 2"/>
          <p:cNvGraphicFramePr>
            <a:graphicFrameLocks noChangeAspect="1"/>
          </p:cNvGraphicFramePr>
          <p:nvPr>
            <p:extLst>
              <p:ext uri="{D42A27DB-BD31-4B8C-83A1-F6EECF244321}">
                <p14:modId xmlns:p14="http://schemas.microsoft.com/office/powerpoint/2010/main" val="2337742028"/>
              </p:ext>
            </p:extLst>
          </p:nvPr>
        </p:nvGraphicFramePr>
        <p:xfrm>
          <a:off x="4278741" y="1600828"/>
          <a:ext cx="4781550" cy="901700"/>
        </p:xfrm>
        <a:graphic>
          <a:graphicData uri="http://schemas.openxmlformats.org/presentationml/2006/ole">
            <mc:AlternateContent xmlns:mc="http://schemas.openxmlformats.org/markup-compatibility/2006">
              <mc:Choice xmlns:v="urn:schemas-microsoft-com:vml" Requires="v">
                <p:oleObj spid="_x0000_s32017" name="Equation" r:id="rId6" imgW="1752600" imgH="330200" progId="Equation.DSMT4">
                  <p:embed/>
                </p:oleObj>
              </mc:Choice>
              <mc:Fallback>
                <p:oleObj name="Equation" r:id="rId6" imgW="1752600" imgH="330200" progId="Equation.DSMT4">
                  <p:embed/>
                  <p:pic>
                    <p:nvPicPr>
                      <p:cNvPr id="0" name="Picture 26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78741" y="1600828"/>
                        <a:ext cx="4781550" cy="90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椭圆 13"/>
          <p:cNvSpPr/>
          <p:nvPr/>
        </p:nvSpPr>
        <p:spPr>
          <a:xfrm>
            <a:off x="6707633" y="1672266"/>
            <a:ext cx="500066" cy="64294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6707632" y="2725991"/>
            <a:ext cx="1071570" cy="114300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3" name="Object 4"/>
          <p:cNvGraphicFramePr>
            <a:graphicFrameLocks noChangeAspect="1"/>
          </p:cNvGraphicFramePr>
          <p:nvPr>
            <p:extLst>
              <p:ext uri="{D42A27DB-BD31-4B8C-83A1-F6EECF244321}">
                <p14:modId xmlns:p14="http://schemas.microsoft.com/office/powerpoint/2010/main" val="661430570"/>
              </p:ext>
            </p:extLst>
          </p:nvPr>
        </p:nvGraphicFramePr>
        <p:xfrm>
          <a:off x="4486321" y="4044428"/>
          <a:ext cx="6146184" cy="909714"/>
        </p:xfrm>
        <a:graphic>
          <a:graphicData uri="http://schemas.openxmlformats.org/presentationml/2006/ole">
            <mc:AlternateContent xmlns:mc="http://schemas.openxmlformats.org/markup-compatibility/2006">
              <mc:Choice xmlns:v="urn:schemas-microsoft-com:vml" Requires="v">
                <p:oleObj spid="_x0000_s32018" name="Equation" r:id="rId8" imgW="3162240" imgH="482400" progId="Equation.DSMT4">
                  <p:embed/>
                </p:oleObj>
              </mc:Choice>
              <mc:Fallback>
                <p:oleObj name="Equation" r:id="rId8" imgW="3162240" imgH="482400" progId="Equation.DSMT4">
                  <p:embed/>
                  <p:pic>
                    <p:nvPicPr>
                      <p:cNvPr id="0" name="Picture 26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86321" y="4044428"/>
                        <a:ext cx="6146184" cy="9097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椭圆 23"/>
          <p:cNvSpPr/>
          <p:nvPr/>
        </p:nvSpPr>
        <p:spPr>
          <a:xfrm>
            <a:off x="7034454" y="3944826"/>
            <a:ext cx="2229898" cy="121236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442590" y="5292013"/>
            <a:ext cx="11377264" cy="600164"/>
          </a:xfrm>
          <a:prstGeom prst="rect">
            <a:avLst/>
          </a:prstGeom>
        </p:spPr>
        <p:txBody>
          <a:bodyPr wrap="square">
            <a:spAutoFit/>
          </a:bodyPr>
          <a:lstStyle/>
          <a:p>
            <a:pPr marL="0" indent="0">
              <a:lnSpc>
                <a:spcPct val="150000"/>
              </a:lnSpc>
              <a:buNone/>
            </a:pPr>
            <a:r>
              <a:rPr lang="zh-CN" altLang="en-US" sz="2200" dirty="0"/>
              <a:t>都是以似然比为基础，目标不同。</a:t>
            </a:r>
          </a:p>
        </p:txBody>
      </p:sp>
    </p:spTree>
    <p:extLst>
      <p:ext uri="{BB962C8B-B14F-4D97-AF65-F5344CB8AC3E}">
        <p14:creationId xmlns:p14="http://schemas.microsoft.com/office/powerpoint/2010/main" val="36828882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40</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13.3 </a:t>
            </a:r>
            <a:r>
              <a:rPr lang="zh-CN" altLang="zh-CN" dirty="0"/>
              <a:t>两类错误率、</a:t>
            </a:r>
            <a:r>
              <a:rPr lang="en-US" altLang="zh-CN" dirty="0" err="1"/>
              <a:t>Neyman</a:t>
            </a:r>
            <a:r>
              <a:rPr lang="en-US" altLang="zh-CN" dirty="0"/>
              <a:t>-Pearson</a:t>
            </a:r>
            <a:r>
              <a:rPr lang="zh-CN" altLang="zh-CN" dirty="0"/>
              <a:t>决策和</a:t>
            </a:r>
            <a:r>
              <a:rPr lang="en-US" altLang="zh-CN" dirty="0"/>
              <a:t>ROC</a:t>
            </a:r>
            <a:r>
              <a:rPr lang="zh-CN" altLang="zh-CN" dirty="0"/>
              <a:t>曲线</a:t>
            </a:r>
          </a:p>
        </p:txBody>
      </p:sp>
      <p:sp>
        <p:nvSpPr>
          <p:cNvPr id="50" name="矩形 49"/>
          <p:cNvSpPr/>
          <p:nvPr/>
        </p:nvSpPr>
        <p:spPr>
          <a:xfrm>
            <a:off x="304132" y="1052736"/>
            <a:ext cx="5314275" cy="523220"/>
          </a:xfrm>
          <a:prstGeom prst="rect">
            <a:avLst/>
          </a:prstGeom>
        </p:spPr>
        <p:txBody>
          <a:bodyPr wrap="none">
            <a:spAutoFit/>
          </a:bodyPr>
          <a:lstStyle/>
          <a:p>
            <a:r>
              <a:rPr lang="en-US" altLang="zh-CN" sz="2800" b="1" dirty="0" err="1">
                <a:solidFill>
                  <a:srgbClr val="0000FF"/>
                </a:solidFill>
                <a:latin typeface="Arial" panose="020B0604020202020204" pitchFamily="34" charset="0"/>
              </a:rPr>
              <a:t>Neyman</a:t>
            </a:r>
            <a:r>
              <a:rPr lang="en-US" altLang="zh-CN" sz="2800" b="1" dirty="0">
                <a:solidFill>
                  <a:srgbClr val="0000FF"/>
                </a:solidFill>
                <a:latin typeface="Arial" panose="020B0604020202020204" pitchFamily="34" charset="0"/>
              </a:rPr>
              <a:t>-Pearson</a:t>
            </a:r>
            <a:r>
              <a:rPr lang="zh-CN" altLang="zh-CN" sz="2800" b="1" dirty="0">
                <a:solidFill>
                  <a:srgbClr val="0000FF"/>
                </a:solidFill>
                <a:latin typeface="Arial" panose="020B0604020202020204" pitchFamily="34" charset="0"/>
              </a:rPr>
              <a:t>决策</a:t>
            </a:r>
            <a:r>
              <a:rPr lang="en-US" altLang="zh-CN" sz="2800" b="1" dirty="0">
                <a:solidFill>
                  <a:srgbClr val="0000FF"/>
                </a:solidFill>
                <a:latin typeface="Arial" panose="020B0604020202020204" pitchFamily="34" charset="0"/>
              </a:rPr>
              <a:t> </a:t>
            </a:r>
            <a:r>
              <a:rPr lang="en-US" altLang="zh-CN" sz="2800" b="1" dirty="0">
                <a:solidFill>
                  <a:srgbClr val="0000FF"/>
                </a:solidFill>
                <a:latin typeface="Arial" panose="020B0604020202020204" pitchFamily="34" charset="0"/>
                <a:sym typeface="Symbol" pitchFamily="18" charset="2"/>
              </a:rPr>
              <a:t> </a:t>
            </a:r>
            <a:r>
              <a:rPr lang="zh-CN" altLang="en-US" sz="2800" b="1" dirty="0">
                <a:solidFill>
                  <a:srgbClr val="0000FF"/>
                </a:solidFill>
                <a:latin typeface="Arial" panose="020B0604020202020204" pitchFamily="34" charset="0"/>
              </a:rPr>
              <a:t>的计算</a:t>
            </a:r>
          </a:p>
        </p:txBody>
      </p:sp>
      <p:sp>
        <p:nvSpPr>
          <p:cNvPr id="18" name="内容占位符 2"/>
          <p:cNvSpPr>
            <a:spLocks noGrp="1"/>
          </p:cNvSpPr>
          <p:nvPr>
            <p:ph idx="1"/>
          </p:nvPr>
        </p:nvSpPr>
        <p:spPr>
          <a:xfrm>
            <a:off x="406400" y="1809608"/>
            <a:ext cx="11306224" cy="4588242"/>
          </a:xfrm>
        </p:spPr>
        <p:txBody>
          <a:bodyPr/>
          <a:lstStyle/>
          <a:p>
            <a:pPr>
              <a:lnSpc>
                <a:spcPct val="150000"/>
              </a:lnSpc>
              <a:buClrTx/>
              <a:buFont typeface="Arial" panose="020B0604020202020204" pitchFamily="34" charset="0"/>
              <a:buChar char="•"/>
            </a:pPr>
            <a:r>
              <a:rPr lang="zh-CN" altLang="en-US" sz="2200" dirty="0">
                <a:latin typeface="Times New Roman" pitchFamily="18" charset="0"/>
                <a:ea typeface="黑体" panose="02010609060101010101" pitchFamily="49" charset="-122"/>
              </a:rPr>
              <a:t>定义 </a:t>
            </a:r>
            <a:r>
              <a:rPr lang="en-US" altLang="zh-CN" sz="2200" i="1" dirty="0">
                <a:latin typeface="Times New Roman" pitchFamily="18" charset="0"/>
                <a:ea typeface="黑体" panose="02010609060101010101" pitchFamily="49" charset="-122"/>
              </a:rPr>
              <a:t>l</a:t>
            </a:r>
            <a:r>
              <a:rPr lang="en-US" altLang="zh-CN" sz="2200" dirty="0">
                <a:latin typeface="Times New Roman" pitchFamily="18" charset="0"/>
                <a:ea typeface="黑体" panose="02010609060101010101" pitchFamily="49" charset="-122"/>
              </a:rPr>
              <a:t>(</a:t>
            </a:r>
            <a:r>
              <a:rPr lang="en-US" altLang="zh-CN" sz="2200" i="1" dirty="0">
                <a:latin typeface="Times New Roman" pitchFamily="18" charset="0"/>
                <a:ea typeface="黑体" panose="02010609060101010101" pitchFamily="49" charset="-122"/>
              </a:rPr>
              <a:t>X</a:t>
            </a:r>
            <a:r>
              <a:rPr lang="en-US" altLang="zh-CN" sz="2200" dirty="0">
                <a:latin typeface="Times New Roman" pitchFamily="18" charset="0"/>
                <a:ea typeface="黑体" panose="02010609060101010101" pitchFamily="49" charset="-122"/>
              </a:rPr>
              <a:t>) </a:t>
            </a:r>
            <a:r>
              <a:rPr lang="zh-CN" altLang="en-US" sz="2200" dirty="0">
                <a:latin typeface="Times New Roman" pitchFamily="18" charset="0"/>
                <a:ea typeface="黑体" panose="02010609060101010101" pitchFamily="49" charset="-122"/>
              </a:rPr>
              <a:t>：</a:t>
            </a:r>
            <a:endParaRPr lang="en-US" altLang="zh-CN" sz="2200" dirty="0">
              <a:latin typeface="Times New Roman" pitchFamily="18" charset="0"/>
              <a:ea typeface="黑体" panose="02010609060101010101" pitchFamily="49" charset="-122"/>
            </a:endParaRPr>
          </a:p>
          <a:p>
            <a:pPr>
              <a:lnSpc>
                <a:spcPct val="150000"/>
              </a:lnSpc>
              <a:spcBef>
                <a:spcPts val="2400"/>
              </a:spcBef>
              <a:buClrTx/>
              <a:buFont typeface="Arial" panose="020B0604020202020204" pitchFamily="34" charset="0"/>
              <a:buChar char="•"/>
            </a:pPr>
            <a:r>
              <a:rPr lang="zh-CN" altLang="en-US" sz="2200" dirty="0">
                <a:latin typeface="Times New Roman" pitchFamily="18" charset="0"/>
                <a:ea typeface="黑体" panose="02010609060101010101" pitchFamily="49" charset="-122"/>
              </a:rPr>
              <a:t>定义 </a:t>
            </a:r>
            <a:r>
              <a:rPr lang="en-US" altLang="zh-CN" sz="2200" i="1" dirty="0">
                <a:latin typeface="Times New Roman" pitchFamily="18" charset="0"/>
                <a:ea typeface="黑体" panose="02010609060101010101" pitchFamily="49" charset="-122"/>
              </a:rPr>
              <a:t>p</a:t>
            </a:r>
            <a:r>
              <a:rPr lang="en-US" altLang="zh-CN" sz="2200" dirty="0">
                <a:latin typeface="Times New Roman" pitchFamily="18" charset="0"/>
                <a:ea typeface="黑体" panose="02010609060101010101" pitchFamily="49" charset="-122"/>
              </a:rPr>
              <a:t>(</a:t>
            </a:r>
            <a:r>
              <a:rPr lang="en-US" altLang="zh-CN" sz="2200" i="1" dirty="0">
                <a:latin typeface="Times New Roman" pitchFamily="18" charset="0"/>
                <a:ea typeface="黑体" panose="02010609060101010101" pitchFamily="49" charset="-122"/>
              </a:rPr>
              <a:t>l</a:t>
            </a:r>
            <a:r>
              <a:rPr lang="en-US" altLang="zh-CN" sz="2200" dirty="0">
                <a:latin typeface="Times New Roman" pitchFamily="18" charset="0"/>
                <a:ea typeface="黑体" panose="02010609060101010101" pitchFamily="49" charset="-122"/>
              </a:rPr>
              <a:t>| </a:t>
            </a:r>
            <a:r>
              <a:rPr lang="en-US" altLang="zh-CN" sz="2200" dirty="0">
                <a:latin typeface="Times New Roman" pitchFamily="18" charset="0"/>
                <a:ea typeface="黑体" panose="02010609060101010101" pitchFamily="49" charset="-122"/>
                <a:sym typeface="Symbol" pitchFamily="18" charset="2"/>
              </a:rPr>
              <a:t></a:t>
            </a:r>
            <a:r>
              <a:rPr lang="en-US" altLang="zh-CN" sz="2200" baseline="-30000" dirty="0">
                <a:latin typeface="Times New Roman" pitchFamily="18" charset="0"/>
                <a:ea typeface="黑体" panose="02010609060101010101" pitchFamily="49" charset="-122"/>
                <a:sym typeface="Symbol" pitchFamily="18" charset="2"/>
              </a:rPr>
              <a:t>2</a:t>
            </a:r>
            <a:r>
              <a:rPr lang="en-US" altLang="zh-CN" sz="2200" dirty="0">
                <a:latin typeface="Times New Roman" pitchFamily="18" charset="0"/>
                <a:ea typeface="黑体" panose="02010609060101010101" pitchFamily="49" charset="-122"/>
              </a:rPr>
              <a:t>) </a:t>
            </a:r>
            <a:r>
              <a:rPr lang="zh-CN" altLang="en-US" sz="2200" dirty="0">
                <a:latin typeface="Times New Roman" pitchFamily="18" charset="0"/>
                <a:ea typeface="黑体" panose="02010609060101010101" pitchFamily="49" charset="-122"/>
              </a:rPr>
              <a:t>为似然比 </a:t>
            </a:r>
            <a:r>
              <a:rPr lang="en-US" altLang="zh-CN" sz="2200" i="1" dirty="0">
                <a:latin typeface="Times New Roman" pitchFamily="18" charset="0"/>
                <a:ea typeface="黑体" panose="02010609060101010101" pitchFamily="49" charset="-122"/>
              </a:rPr>
              <a:t>l</a:t>
            </a:r>
            <a:r>
              <a:rPr lang="en-US" altLang="zh-CN" sz="2200" dirty="0">
                <a:latin typeface="Times New Roman" pitchFamily="18" charset="0"/>
                <a:ea typeface="黑体" panose="02010609060101010101" pitchFamily="49" charset="-122"/>
              </a:rPr>
              <a:t>(</a:t>
            </a:r>
            <a:r>
              <a:rPr lang="en-US" altLang="zh-CN" sz="2200" i="1" dirty="0">
                <a:latin typeface="Times New Roman" pitchFamily="18" charset="0"/>
                <a:ea typeface="黑体" panose="02010609060101010101" pitchFamily="49" charset="-122"/>
              </a:rPr>
              <a:t>X</a:t>
            </a:r>
            <a:r>
              <a:rPr lang="en-US" altLang="zh-CN" sz="2200" dirty="0">
                <a:latin typeface="Times New Roman" pitchFamily="18" charset="0"/>
                <a:ea typeface="黑体" panose="02010609060101010101" pitchFamily="49" charset="-122"/>
              </a:rPr>
              <a:t>) </a:t>
            </a:r>
            <a:r>
              <a:rPr lang="zh-CN" altLang="en-US" sz="2200" dirty="0">
                <a:latin typeface="Times New Roman" pitchFamily="18" charset="0"/>
                <a:ea typeface="黑体" panose="02010609060101010101" pitchFamily="49" charset="-122"/>
              </a:rPr>
              <a:t>在条件 </a:t>
            </a:r>
            <a:r>
              <a:rPr lang="en-US" altLang="zh-CN" sz="2200" i="1" dirty="0">
                <a:latin typeface="Times New Roman" pitchFamily="18" charset="0"/>
                <a:ea typeface="黑体" panose="02010609060101010101" pitchFamily="49" charset="-122"/>
                <a:sym typeface="Symbol" pitchFamily="18" charset="2"/>
              </a:rPr>
              <a:t>X</a:t>
            </a:r>
            <a:r>
              <a:rPr lang="en-US" altLang="zh-CN" sz="2200" dirty="0">
                <a:latin typeface="Times New Roman" pitchFamily="18" charset="0"/>
                <a:ea typeface="黑体" panose="02010609060101010101" pitchFamily="49" charset="-122"/>
                <a:sym typeface="Symbol" pitchFamily="18" charset="2"/>
              </a:rPr>
              <a:t></a:t>
            </a:r>
            <a:r>
              <a:rPr lang="en-US" altLang="zh-CN" sz="2200" baseline="-30000" dirty="0">
                <a:latin typeface="Times New Roman" pitchFamily="18" charset="0"/>
                <a:ea typeface="黑体" panose="02010609060101010101" pitchFamily="49" charset="-122"/>
                <a:sym typeface="Symbol" pitchFamily="18" charset="2"/>
              </a:rPr>
              <a:t>2 </a:t>
            </a:r>
            <a:r>
              <a:rPr lang="zh-CN" altLang="en-US" sz="2200" dirty="0">
                <a:latin typeface="Times New Roman" pitchFamily="18" charset="0"/>
                <a:ea typeface="黑体" panose="02010609060101010101" pitchFamily="49" charset="-122"/>
              </a:rPr>
              <a:t>下的概率密度。</a:t>
            </a:r>
          </a:p>
          <a:p>
            <a:pPr>
              <a:lnSpc>
                <a:spcPct val="150000"/>
              </a:lnSpc>
              <a:buClrTx/>
              <a:buFont typeface="Arial" panose="020B0604020202020204" pitchFamily="34" charset="0"/>
              <a:buChar char="•"/>
            </a:pPr>
            <a:r>
              <a:rPr lang="zh-CN" altLang="en-US" sz="2200" dirty="0">
                <a:latin typeface="Times New Roman" pitchFamily="18" charset="0"/>
                <a:ea typeface="黑体" panose="02010609060101010101" pitchFamily="49" charset="-122"/>
              </a:rPr>
              <a:t>因 </a:t>
            </a:r>
            <a:r>
              <a:rPr lang="en-US" altLang="zh-CN" sz="2200" i="1" dirty="0">
                <a:latin typeface="Times New Roman" pitchFamily="18" charset="0"/>
                <a:ea typeface="黑体" panose="02010609060101010101" pitchFamily="49" charset="-122"/>
              </a:rPr>
              <a:t>l</a:t>
            </a:r>
            <a:r>
              <a:rPr lang="en-US" altLang="zh-CN" sz="2200" dirty="0">
                <a:latin typeface="Times New Roman" pitchFamily="18" charset="0"/>
                <a:ea typeface="黑体" panose="02010609060101010101" pitchFamily="49" charset="-122"/>
              </a:rPr>
              <a:t>&gt;</a:t>
            </a:r>
            <a:r>
              <a:rPr lang="en-US" altLang="zh-CN" sz="2200" i="1" dirty="0">
                <a:latin typeface="Times New Roman" pitchFamily="18" charset="0"/>
                <a:ea typeface="黑体" panose="02010609060101010101" pitchFamily="49" charset="-122"/>
                <a:sym typeface="Symbol" pitchFamily="18" charset="2"/>
              </a:rPr>
              <a:t></a:t>
            </a:r>
            <a:r>
              <a:rPr lang="en-US" altLang="zh-CN" sz="2200" dirty="0">
                <a:latin typeface="Times New Roman" pitchFamily="18" charset="0"/>
                <a:ea typeface="黑体" panose="02010609060101010101" pitchFamily="49" charset="-122"/>
              </a:rPr>
              <a:t>  </a:t>
            </a:r>
            <a:r>
              <a:rPr lang="zh-CN" altLang="en-US" sz="2200" dirty="0">
                <a:latin typeface="Times New Roman" pitchFamily="18" charset="0"/>
                <a:ea typeface="黑体" panose="02010609060101010101" pitchFamily="49" charset="-122"/>
              </a:rPr>
              <a:t>就判 </a:t>
            </a:r>
            <a:r>
              <a:rPr lang="en-US" altLang="zh-CN" sz="2200" i="1" dirty="0">
                <a:latin typeface="Times New Roman" pitchFamily="18" charset="0"/>
                <a:ea typeface="黑体" panose="02010609060101010101" pitchFamily="49" charset="-122"/>
              </a:rPr>
              <a:t>X</a:t>
            </a:r>
            <a:r>
              <a:rPr lang="en-US" altLang="zh-CN" sz="2200" dirty="0">
                <a:latin typeface="Times New Roman" pitchFamily="18" charset="0"/>
                <a:ea typeface="黑体" panose="02010609060101010101" pitchFamily="49" charset="-122"/>
                <a:sym typeface="Symbol" pitchFamily="18" charset="2"/>
              </a:rPr>
              <a:t> </a:t>
            </a:r>
            <a:r>
              <a:rPr lang="en-US" altLang="zh-CN" sz="2200" baseline="-30000" dirty="0">
                <a:latin typeface="Times New Roman" pitchFamily="18" charset="0"/>
                <a:ea typeface="黑体" panose="02010609060101010101" pitchFamily="49" charset="-122"/>
                <a:sym typeface="Symbol" pitchFamily="18" charset="2"/>
              </a:rPr>
              <a:t>1</a:t>
            </a:r>
            <a:r>
              <a:rPr lang="zh-CN" altLang="en-US" sz="2200" dirty="0">
                <a:latin typeface="Times New Roman" pitchFamily="18" charset="0"/>
                <a:ea typeface="黑体" panose="02010609060101010101" pitchFamily="49" charset="-122"/>
              </a:rPr>
              <a:t>，所以 </a:t>
            </a:r>
            <a:r>
              <a:rPr lang="zh-CN" altLang="en-US" sz="2200" i="1" dirty="0">
                <a:latin typeface="Times New Roman" pitchFamily="18" charset="0"/>
                <a:ea typeface="黑体" panose="02010609060101010101" pitchFamily="49" charset="-122"/>
                <a:sym typeface="Symbol" pitchFamily="18" charset="2"/>
              </a:rPr>
              <a:t> </a:t>
            </a:r>
            <a:r>
              <a:rPr lang="zh-CN" altLang="en-US" sz="2200" dirty="0">
                <a:latin typeface="Times New Roman" pitchFamily="18" charset="0"/>
                <a:ea typeface="黑体" panose="02010609060101010101" pitchFamily="49" charset="-122"/>
              </a:rPr>
              <a:t>可用下式确定</a:t>
            </a:r>
            <a:endParaRPr lang="en-US" altLang="zh-CN" sz="2200" dirty="0">
              <a:latin typeface="Times New Roman" pitchFamily="18" charset="0"/>
              <a:ea typeface="黑体" panose="02010609060101010101" pitchFamily="49" charset="-122"/>
            </a:endParaRPr>
          </a:p>
          <a:p>
            <a:pPr>
              <a:buClrTx/>
              <a:buFont typeface="Arial" panose="020B0604020202020204" pitchFamily="34" charset="0"/>
              <a:buChar char="•"/>
            </a:pPr>
            <a:endParaRPr lang="en-US" altLang="zh-CN" sz="2200" dirty="0">
              <a:latin typeface="Times New Roman" pitchFamily="18" charset="0"/>
              <a:ea typeface="黑体" panose="02010609060101010101" pitchFamily="49" charset="-122"/>
            </a:endParaRPr>
          </a:p>
          <a:p>
            <a:pPr>
              <a:buClrTx/>
              <a:buFont typeface="Arial" panose="020B0604020202020204" pitchFamily="34" charset="0"/>
              <a:buChar char="•"/>
            </a:pPr>
            <a:endParaRPr lang="en-US" altLang="zh-CN" sz="2200" dirty="0">
              <a:latin typeface="Times New Roman" pitchFamily="18" charset="0"/>
              <a:ea typeface="黑体" panose="02010609060101010101" pitchFamily="49" charset="-122"/>
            </a:endParaRPr>
          </a:p>
          <a:p>
            <a:pPr>
              <a:lnSpc>
                <a:spcPct val="150000"/>
              </a:lnSpc>
              <a:buClrTx/>
              <a:buFont typeface="Arial" panose="020B0604020202020204" pitchFamily="34" charset="0"/>
              <a:buChar char="•"/>
            </a:pPr>
            <a:r>
              <a:rPr lang="zh-CN" altLang="en-US" sz="2200" dirty="0">
                <a:latin typeface="Times New Roman" pitchFamily="18" charset="0"/>
                <a:ea typeface="黑体" panose="02010609060101010101" pitchFamily="49" charset="-122"/>
              </a:rPr>
              <a:t>因为 </a:t>
            </a:r>
            <a:r>
              <a:rPr lang="en-US" altLang="zh-CN" sz="2200" i="1" dirty="0">
                <a:latin typeface="Times New Roman" pitchFamily="18" charset="0"/>
                <a:ea typeface="黑体" panose="02010609060101010101" pitchFamily="49" charset="-122"/>
              </a:rPr>
              <a:t>p</a:t>
            </a:r>
            <a:r>
              <a:rPr lang="en-US" altLang="zh-CN" sz="2200" dirty="0">
                <a:latin typeface="Times New Roman" pitchFamily="18" charset="0"/>
                <a:ea typeface="黑体" panose="02010609060101010101" pitchFamily="49" charset="-122"/>
              </a:rPr>
              <a:t>(</a:t>
            </a:r>
            <a:r>
              <a:rPr lang="en-US" altLang="zh-CN" sz="2200" i="1" dirty="0">
                <a:latin typeface="Times New Roman" pitchFamily="18" charset="0"/>
                <a:ea typeface="黑体" panose="02010609060101010101" pitchFamily="49" charset="-122"/>
              </a:rPr>
              <a:t>l</a:t>
            </a:r>
            <a:r>
              <a:rPr lang="en-US" altLang="zh-CN" sz="2200" dirty="0">
                <a:latin typeface="Times New Roman" pitchFamily="18" charset="0"/>
                <a:ea typeface="黑体" panose="02010609060101010101" pitchFamily="49" charset="-122"/>
              </a:rPr>
              <a:t>| </a:t>
            </a:r>
            <a:r>
              <a:rPr lang="en-US" altLang="zh-CN" sz="2200" dirty="0">
                <a:latin typeface="Times New Roman" pitchFamily="18" charset="0"/>
                <a:ea typeface="黑体" panose="02010609060101010101" pitchFamily="49" charset="-122"/>
                <a:sym typeface="Symbol" pitchFamily="18" charset="2"/>
              </a:rPr>
              <a:t></a:t>
            </a:r>
            <a:r>
              <a:rPr lang="en-US" altLang="zh-CN" sz="2200" baseline="-30000" dirty="0">
                <a:latin typeface="Times New Roman" pitchFamily="18" charset="0"/>
                <a:ea typeface="黑体" panose="02010609060101010101" pitchFamily="49" charset="-122"/>
                <a:sym typeface="Symbol" pitchFamily="18" charset="2"/>
              </a:rPr>
              <a:t>2</a:t>
            </a:r>
            <a:r>
              <a:rPr lang="en-US" altLang="zh-CN" sz="2200" dirty="0">
                <a:latin typeface="Times New Roman" pitchFamily="18" charset="0"/>
                <a:ea typeface="黑体" panose="02010609060101010101" pitchFamily="49" charset="-122"/>
              </a:rPr>
              <a:t>)≥0</a:t>
            </a:r>
            <a:r>
              <a:rPr lang="zh-CN" altLang="en-US" sz="2200" dirty="0">
                <a:latin typeface="Times New Roman" pitchFamily="18" charset="0"/>
                <a:ea typeface="黑体" panose="02010609060101010101" pitchFamily="49" charset="-122"/>
              </a:rPr>
              <a:t>，</a:t>
            </a:r>
            <a:r>
              <a:rPr lang="en-US" altLang="zh-CN" sz="2200" dirty="0">
                <a:latin typeface="Times New Roman" pitchFamily="18" charset="0"/>
                <a:ea typeface="黑体" panose="02010609060101010101" pitchFamily="49" charset="-122"/>
              </a:rPr>
              <a:t>P</a:t>
            </a:r>
            <a:r>
              <a:rPr lang="en-US" altLang="zh-CN" sz="2200" baseline="-25000" dirty="0">
                <a:latin typeface="Times New Roman" pitchFamily="18" charset="0"/>
                <a:ea typeface="黑体" panose="02010609060101010101" pitchFamily="49" charset="-122"/>
              </a:rPr>
              <a:t>2</a:t>
            </a:r>
            <a:r>
              <a:rPr lang="en-US" altLang="zh-CN" sz="2200" dirty="0">
                <a:latin typeface="Times New Roman" pitchFamily="18" charset="0"/>
                <a:ea typeface="黑体" panose="02010609060101010101" pitchFamily="49" charset="-122"/>
              </a:rPr>
              <a:t>(e) </a:t>
            </a:r>
            <a:r>
              <a:rPr lang="zh-CN" altLang="en-US" sz="2200" dirty="0">
                <a:latin typeface="Times New Roman" pitchFamily="18" charset="0"/>
                <a:ea typeface="黑体" panose="02010609060101010101" pitchFamily="49" charset="-122"/>
              </a:rPr>
              <a:t>是 </a:t>
            </a:r>
            <a:r>
              <a:rPr lang="zh-CN" altLang="en-US" sz="2200" i="1" dirty="0">
                <a:latin typeface="Times New Roman" pitchFamily="18" charset="0"/>
                <a:ea typeface="黑体" panose="02010609060101010101" pitchFamily="49" charset="-122"/>
                <a:sym typeface="Symbol" pitchFamily="18" charset="2"/>
              </a:rPr>
              <a:t> </a:t>
            </a:r>
            <a:r>
              <a:rPr lang="zh-CN" altLang="en-US" sz="2200" dirty="0">
                <a:latin typeface="Times New Roman" pitchFamily="18" charset="0"/>
                <a:ea typeface="黑体" panose="02010609060101010101" pitchFamily="49" charset="-122"/>
                <a:sym typeface="Symbol" pitchFamily="18" charset="2"/>
              </a:rPr>
              <a:t>的单调函数，可以用试探法计算 </a:t>
            </a:r>
            <a:r>
              <a:rPr lang="en-US" altLang="zh-CN" sz="2200" dirty="0">
                <a:latin typeface="Times New Roman" pitchFamily="18" charset="0"/>
                <a:ea typeface="黑体" panose="02010609060101010101" pitchFamily="49" charset="-122"/>
              </a:rPr>
              <a:t>P</a:t>
            </a:r>
            <a:r>
              <a:rPr lang="en-US" altLang="zh-CN" sz="2200" baseline="-25000" dirty="0">
                <a:latin typeface="Times New Roman" pitchFamily="18" charset="0"/>
                <a:ea typeface="黑体" panose="02010609060101010101" pitchFamily="49" charset="-122"/>
              </a:rPr>
              <a:t>2</a:t>
            </a:r>
            <a:r>
              <a:rPr lang="en-US" altLang="zh-CN" sz="2200" dirty="0">
                <a:latin typeface="Times New Roman" pitchFamily="18" charset="0"/>
                <a:ea typeface="黑体" panose="02010609060101010101" pitchFamily="49" charset="-122"/>
              </a:rPr>
              <a:t>(e)=</a:t>
            </a:r>
            <a:r>
              <a:rPr lang="el-GR" altLang="zh-CN" sz="2200" dirty="0">
                <a:latin typeface="Times New Roman" pitchFamily="18" charset="0"/>
                <a:ea typeface="黑体" panose="02010609060101010101" pitchFamily="49" charset="-122"/>
              </a:rPr>
              <a:t>ε</a:t>
            </a:r>
            <a:r>
              <a:rPr lang="en-US" altLang="zh-CN" sz="2200" baseline="-25000" dirty="0">
                <a:latin typeface="Times New Roman" pitchFamily="18" charset="0"/>
                <a:ea typeface="黑体" panose="02010609060101010101" pitchFamily="49" charset="-122"/>
              </a:rPr>
              <a:t>0 </a:t>
            </a:r>
            <a:r>
              <a:rPr lang="zh-CN" altLang="en-US" sz="2200" dirty="0">
                <a:latin typeface="Times New Roman" pitchFamily="18" charset="0"/>
                <a:ea typeface="黑体" panose="02010609060101010101" pitchFamily="49" charset="-122"/>
              </a:rPr>
              <a:t>时的 </a:t>
            </a:r>
            <a:r>
              <a:rPr lang="zh-CN" altLang="en-US" sz="2200" i="1" dirty="0">
                <a:latin typeface="Times New Roman" pitchFamily="18" charset="0"/>
                <a:ea typeface="黑体" panose="02010609060101010101" pitchFamily="49" charset="-122"/>
                <a:sym typeface="Symbol" pitchFamily="18" charset="2"/>
              </a:rPr>
              <a:t></a:t>
            </a:r>
            <a:r>
              <a:rPr lang="zh-CN" altLang="en-US" sz="2200" dirty="0">
                <a:latin typeface="Times New Roman" pitchFamily="18" charset="0"/>
                <a:ea typeface="黑体" panose="02010609060101010101" pitchFamily="49" charset="-122"/>
                <a:sym typeface="Symbol" pitchFamily="18" charset="2"/>
              </a:rPr>
              <a:t>值，从中寻找使的 </a:t>
            </a:r>
            <a:r>
              <a:rPr lang="en-US" altLang="zh-CN" sz="2200" dirty="0">
                <a:latin typeface="Times New Roman" pitchFamily="18" charset="0"/>
                <a:ea typeface="黑体" panose="02010609060101010101" pitchFamily="49" charset="-122"/>
              </a:rPr>
              <a:t>P</a:t>
            </a:r>
            <a:r>
              <a:rPr lang="en-US" altLang="zh-CN" sz="2200" baseline="-25000" dirty="0">
                <a:latin typeface="Times New Roman" pitchFamily="18" charset="0"/>
                <a:ea typeface="黑体" panose="02010609060101010101" pitchFamily="49" charset="-122"/>
              </a:rPr>
              <a:t>1</a:t>
            </a:r>
            <a:r>
              <a:rPr lang="en-US" altLang="zh-CN" sz="2200" dirty="0">
                <a:latin typeface="Times New Roman" pitchFamily="18" charset="0"/>
                <a:ea typeface="黑体" panose="02010609060101010101" pitchFamily="49" charset="-122"/>
              </a:rPr>
              <a:t>(e) </a:t>
            </a:r>
            <a:r>
              <a:rPr lang="zh-CN" altLang="en-US" sz="2200" dirty="0">
                <a:latin typeface="Times New Roman" pitchFamily="18" charset="0"/>
                <a:ea typeface="黑体" panose="02010609060101010101" pitchFamily="49" charset="-122"/>
              </a:rPr>
              <a:t>尽可能的小。</a:t>
            </a:r>
          </a:p>
          <a:p>
            <a:endParaRPr lang="zh-CN" altLang="en-US" sz="2200" dirty="0">
              <a:ea typeface="黑体" panose="02010609060101010101" pitchFamily="49" charset="-122"/>
            </a:endParaRPr>
          </a:p>
        </p:txBody>
      </p:sp>
      <p:graphicFrame>
        <p:nvGraphicFramePr>
          <p:cNvPr id="19" name="Object 2"/>
          <p:cNvGraphicFramePr>
            <a:graphicFrameLocks noChangeAspect="1"/>
          </p:cNvGraphicFramePr>
          <p:nvPr>
            <p:extLst>
              <p:ext uri="{D42A27DB-BD31-4B8C-83A1-F6EECF244321}">
                <p14:modId xmlns:p14="http://schemas.microsoft.com/office/powerpoint/2010/main" val="2364615434"/>
              </p:ext>
            </p:extLst>
          </p:nvPr>
        </p:nvGraphicFramePr>
        <p:xfrm>
          <a:off x="2285984" y="1770918"/>
          <a:ext cx="2195512" cy="817563"/>
        </p:xfrm>
        <a:graphic>
          <a:graphicData uri="http://schemas.openxmlformats.org/presentationml/2006/ole">
            <mc:AlternateContent xmlns:mc="http://schemas.openxmlformats.org/markup-compatibility/2006">
              <mc:Choice xmlns:v="urn:schemas-microsoft-com:vml" Requires="v">
                <p:oleObj spid="_x0000_s32953" name="Equation" r:id="rId4" imgW="1054100" imgH="431800" progId="Equation.DSMT4">
                  <p:embed/>
                </p:oleObj>
              </mc:Choice>
              <mc:Fallback>
                <p:oleObj name="Equation" r:id="rId4" imgW="1054100" imgH="431800" progId="Equation.DSMT4">
                  <p:embed/>
                  <p:pic>
                    <p:nvPicPr>
                      <p:cNvPr id="0" name="Picture 17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5984" y="1770918"/>
                        <a:ext cx="2195512" cy="817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3"/>
          <p:cNvGraphicFramePr>
            <a:graphicFrameLocks noChangeAspect="1"/>
          </p:cNvGraphicFramePr>
          <p:nvPr>
            <p:extLst>
              <p:ext uri="{D42A27DB-BD31-4B8C-83A1-F6EECF244321}">
                <p14:modId xmlns:p14="http://schemas.microsoft.com/office/powerpoint/2010/main" val="1867187953"/>
              </p:ext>
            </p:extLst>
          </p:nvPr>
        </p:nvGraphicFramePr>
        <p:xfrm>
          <a:off x="4367808" y="3861048"/>
          <a:ext cx="3312368" cy="658134"/>
        </p:xfrm>
        <a:graphic>
          <a:graphicData uri="http://schemas.openxmlformats.org/presentationml/2006/ole">
            <mc:AlternateContent xmlns:mc="http://schemas.openxmlformats.org/markup-compatibility/2006">
              <mc:Choice xmlns:v="urn:schemas-microsoft-com:vml" Requires="v">
                <p:oleObj spid="_x0000_s32954" name="Equation" r:id="rId6" imgW="1663700" imgH="330200" progId="Equation.DSMT4">
                  <p:embed/>
                </p:oleObj>
              </mc:Choice>
              <mc:Fallback>
                <p:oleObj name="Equation" r:id="rId6" imgW="1663700" imgH="330200" progId="Equation.DSMT4">
                  <p:embed/>
                  <p:pic>
                    <p:nvPicPr>
                      <p:cNvPr id="0" name="Picture 17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67808" y="3861048"/>
                        <a:ext cx="3312368" cy="6581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08758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41</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kern="0" dirty="0"/>
              <a:t>13.3 </a:t>
            </a:r>
            <a:r>
              <a:rPr lang="zh-CN" altLang="zh-CN" dirty="0"/>
              <a:t>两类错误率、</a:t>
            </a:r>
            <a:r>
              <a:rPr lang="en-US" altLang="zh-CN" dirty="0" err="1"/>
              <a:t>Neyman</a:t>
            </a:r>
            <a:r>
              <a:rPr lang="en-US" altLang="zh-CN" dirty="0"/>
              <a:t>-Pearson</a:t>
            </a:r>
            <a:r>
              <a:rPr lang="zh-CN" altLang="zh-CN" dirty="0"/>
              <a:t>决策和</a:t>
            </a:r>
            <a:r>
              <a:rPr lang="en-US" altLang="zh-CN" dirty="0"/>
              <a:t>ROC</a:t>
            </a:r>
            <a:r>
              <a:rPr lang="zh-CN" altLang="zh-CN" dirty="0"/>
              <a:t>曲线</a:t>
            </a:r>
          </a:p>
        </p:txBody>
      </p:sp>
      <p:sp>
        <p:nvSpPr>
          <p:cNvPr id="42" name="矩形 41"/>
          <p:cNvSpPr/>
          <p:nvPr/>
        </p:nvSpPr>
        <p:spPr>
          <a:xfrm>
            <a:off x="304132" y="1177588"/>
            <a:ext cx="1701107" cy="954107"/>
          </a:xfrm>
          <a:prstGeom prst="rect">
            <a:avLst/>
          </a:prstGeom>
        </p:spPr>
        <p:txBody>
          <a:bodyPr wrap="none">
            <a:spAutoFit/>
          </a:bodyPr>
          <a:lstStyle/>
          <a:p>
            <a:r>
              <a:rPr lang="en-US" altLang="zh-CN" sz="2800" b="1" dirty="0">
                <a:solidFill>
                  <a:srgbClr val="0000FF"/>
                </a:solidFill>
                <a:latin typeface="Arial" panose="020B0604020202020204" pitchFamily="34" charset="0"/>
              </a:rPr>
              <a:t>ROC</a:t>
            </a:r>
            <a:r>
              <a:rPr lang="zh-CN" altLang="zh-CN" sz="2800" b="1" dirty="0">
                <a:solidFill>
                  <a:srgbClr val="0000FF"/>
                </a:solidFill>
                <a:latin typeface="Arial" panose="020B0604020202020204" pitchFamily="34" charset="0"/>
              </a:rPr>
              <a:t>曲线</a:t>
            </a:r>
          </a:p>
          <a:p>
            <a:endParaRPr lang="zh-CN" altLang="en-US" sz="2800" b="1" dirty="0">
              <a:solidFill>
                <a:srgbClr val="0000FF"/>
              </a:solidFill>
              <a:latin typeface="Arial" panose="020B0604020202020204" pitchFamily="34" charset="0"/>
            </a:endParaRPr>
          </a:p>
        </p:txBody>
      </p:sp>
      <p:sp>
        <p:nvSpPr>
          <p:cNvPr id="12" name="内容占位符 2"/>
          <p:cNvSpPr>
            <a:spLocks noGrp="1"/>
          </p:cNvSpPr>
          <p:nvPr>
            <p:ph idx="1"/>
          </p:nvPr>
        </p:nvSpPr>
        <p:spPr>
          <a:xfrm>
            <a:off x="319412" y="1771337"/>
            <a:ext cx="6418410" cy="1801098"/>
          </a:xfrm>
        </p:spPr>
        <p:txBody>
          <a:bodyPr/>
          <a:lstStyle/>
          <a:p>
            <a:pPr marL="0" indent="0">
              <a:lnSpc>
                <a:spcPct val="130000"/>
              </a:lnSpc>
              <a:spcBef>
                <a:spcPts val="0"/>
              </a:spcBef>
              <a:buNone/>
            </a:pPr>
            <a:r>
              <a:rPr lang="en-US" altLang="zh-CN" sz="2200" dirty="0">
                <a:solidFill>
                  <a:srgbClr val="FF0000"/>
                </a:solidFill>
                <a:latin typeface="Times New Roman" panose="02020603050405020304" pitchFamily="18" charset="0"/>
                <a:ea typeface="黑体" panose="02010609060101010101" pitchFamily="49" charset="-122"/>
              </a:rPr>
              <a:t>ROC</a:t>
            </a:r>
            <a:r>
              <a:rPr lang="zh-CN" altLang="en-US" sz="2200" dirty="0">
                <a:solidFill>
                  <a:srgbClr val="FF0000"/>
                </a:solidFill>
                <a:latin typeface="Times New Roman" panose="02020603050405020304" pitchFamily="18" charset="0"/>
                <a:ea typeface="黑体" panose="02010609060101010101" pitchFamily="49" charset="-122"/>
              </a:rPr>
              <a:t>曲线</a:t>
            </a:r>
            <a:r>
              <a:rPr lang="zh-CN" altLang="en-US" sz="2200" dirty="0">
                <a:latin typeface="Times New Roman" panose="02020603050405020304" pitchFamily="18" charset="0"/>
                <a:ea typeface="黑体" panose="02010609060101010101" pitchFamily="49" charset="-122"/>
              </a:rPr>
              <a:t>：如果把灵敏度即真阳性率（</a:t>
            </a:r>
            <a:r>
              <a:rPr lang="en-US" altLang="zh-CN" sz="2200" dirty="0">
                <a:latin typeface="Times New Roman" panose="02020603050405020304" pitchFamily="18" charset="0"/>
                <a:ea typeface="黑体" panose="02010609060101010101" pitchFamily="49" charset="-122"/>
              </a:rPr>
              <a:t>1 − P</a:t>
            </a:r>
            <a:r>
              <a:rPr lang="en-US" altLang="zh-CN" sz="1400" dirty="0">
                <a:latin typeface="Times New Roman" panose="02020603050405020304" pitchFamily="18" charset="0"/>
                <a:ea typeface="黑体" panose="02010609060101010101" pitchFamily="49" charset="-122"/>
              </a:rPr>
              <a:t>1</a:t>
            </a:r>
            <a:r>
              <a:rPr lang="en-US" altLang="zh-CN" sz="2200" dirty="0">
                <a:latin typeface="Times New Roman" panose="02020603050405020304" pitchFamily="18" charset="0"/>
                <a:ea typeface="黑体" panose="02010609060101010101" pitchFamily="49" charset="-122"/>
              </a:rPr>
              <a:t>(</a:t>
            </a:r>
            <a:r>
              <a:rPr lang="en-US" altLang="zh-CN" sz="2200" i="1" dirty="0">
                <a:latin typeface="Times New Roman" panose="02020603050405020304" pitchFamily="18" charset="0"/>
                <a:ea typeface="黑体" panose="02010609060101010101" pitchFamily="49" charset="-122"/>
              </a:rPr>
              <a:t>e</a:t>
            </a:r>
            <a:r>
              <a:rPr lang="en-US" altLang="zh-CN" sz="2200"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）作为纵坐标，假阳性率（</a:t>
            </a:r>
            <a:r>
              <a:rPr lang="en-US" altLang="zh-CN" sz="2200" dirty="0">
                <a:latin typeface="Times New Roman" panose="02020603050405020304" pitchFamily="18" charset="0"/>
                <a:ea typeface="黑体" panose="02010609060101010101" pitchFamily="49" charset="-122"/>
              </a:rPr>
              <a:t>1 − </a:t>
            </a:r>
            <a:r>
              <a:rPr lang="en-US" altLang="zh-CN" sz="2200" i="1" dirty="0" err="1">
                <a:latin typeface="Times New Roman" panose="02020603050405020304" pitchFamily="18" charset="0"/>
                <a:ea typeface="黑体" panose="02010609060101010101" pitchFamily="49" charset="-122"/>
              </a:rPr>
              <a:t>S</a:t>
            </a:r>
            <a:r>
              <a:rPr lang="en-US" altLang="zh-CN" sz="1800" dirty="0" err="1">
                <a:latin typeface="Times New Roman" panose="02020603050405020304" pitchFamily="18" charset="0"/>
                <a:ea typeface="黑体" panose="02010609060101010101" pitchFamily="49" charset="-122"/>
              </a:rPr>
              <a:t>p</a:t>
            </a:r>
            <a:r>
              <a:rPr lang="en-US" altLang="zh-CN" sz="2200" dirty="0">
                <a:latin typeface="Times New Roman" panose="02020603050405020304" pitchFamily="18" charset="0"/>
                <a:ea typeface="黑体" panose="02010609060101010101" pitchFamily="49" charset="-122"/>
              </a:rPr>
              <a:t> = P</a:t>
            </a:r>
            <a:r>
              <a:rPr lang="en-US" altLang="zh-CN" sz="1200" dirty="0">
                <a:latin typeface="Times New Roman" panose="02020603050405020304" pitchFamily="18" charset="0"/>
                <a:ea typeface="黑体" panose="02010609060101010101" pitchFamily="49" charset="-122"/>
              </a:rPr>
              <a:t>2</a:t>
            </a:r>
            <a:r>
              <a:rPr lang="en-US" altLang="zh-CN" sz="2200" dirty="0">
                <a:latin typeface="Times New Roman" panose="02020603050405020304" pitchFamily="18" charset="0"/>
                <a:ea typeface="黑体" panose="02010609060101010101" pitchFamily="49" charset="-122"/>
              </a:rPr>
              <a:t>(</a:t>
            </a:r>
            <a:r>
              <a:rPr lang="en-US" altLang="zh-CN" sz="2200" i="1" dirty="0">
                <a:latin typeface="Times New Roman" panose="02020603050405020304" pitchFamily="18" charset="0"/>
                <a:ea typeface="黑体" panose="02010609060101010101" pitchFamily="49" charset="-122"/>
              </a:rPr>
              <a:t>e</a:t>
            </a:r>
            <a:r>
              <a:rPr lang="en-US" altLang="zh-CN" sz="2200"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）作为横坐标，可以获得随着决策面变化，两类错误率的变化情况。</a:t>
            </a:r>
            <a:endParaRPr lang="zh-CN" altLang="en-US" sz="2200" dirty="0">
              <a:latin typeface="Arial" panose="020B0604020202020204" pitchFamily="34" charset="0"/>
              <a:ea typeface="黑体" panose="02010609060101010101" pitchFamily="49" charset="-122"/>
            </a:endParaRPr>
          </a:p>
          <a:p>
            <a:pPr marL="0" indent="0">
              <a:lnSpc>
                <a:spcPct val="130000"/>
              </a:lnSpc>
              <a:spcBef>
                <a:spcPts val="0"/>
              </a:spcBef>
            </a:pPr>
            <a:endParaRPr lang="zh-CN" altLang="en-US" sz="2200" dirty="0">
              <a:latin typeface="Arial" panose="020B0604020202020204" pitchFamily="34" charset="0"/>
              <a:ea typeface="黑体" panose="02010609060101010101" pitchFamily="49" charset="-122"/>
            </a:endParaRPr>
          </a:p>
        </p:txBody>
      </p:sp>
      <p:sp>
        <p:nvSpPr>
          <p:cNvPr id="20" name="内容占位符 2"/>
          <p:cNvSpPr txBox="1">
            <a:spLocks/>
          </p:cNvSpPr>
          <p:nvPr/>
        </p:nvSpPr>
        <p:spPr bwMode="gray">
          <a:xfrm>
            <a:off x="329532" y="3645024"/>
            <a:ext cx="11399440" cy="181590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nSpc>
                <a:spcPct val="130000"/>
              </a:lnSpc>
              <a:spcBef>
                <a:spcPts val="0"/>
              </a:spcBef>
              <a:buClr>
                <a:schemeClr val="tx1"/>
              </a:buClr>
              <a:buFont typeface="Arial" panose="020B0604020202020204" pitchFamily="34" charset="0"/>
              <a:buChar char="•"/>
            </a:pPr>
            <a:r>
              <a:rPr lang="zh-CN" altLang="en-US" sz="2200" kern="0" dirty="0">
                <a:solidFill>
                  <a:schemeClr val="accent6">
                    <a:lumMod val="75000"/>
                  </a:schemeClr>
                </a:solidFill>
                <a:latin typeface="Arial" panose="020B0604020202020204" pitchFamily="34" charset="0"/>
                <a:ea typeface="黑体" panose="02010609060101010101" pitchFamily="49" charset="-122"/>
              </a:rPr>
              <a:t>绘制方法：</a:t>
            </a:r>
            <a:r>
              <a:rPr lang="zh-CN" altLang="en-US" sz="2200" kern="0" dirty="0">
                <a:latin typeface="Arial" panose="020B0604020202020204" pitchFamily="34" charset="0"/>
                <a:ea typeface="黑体" panose="02010609060101010101" pitchFamily="49" charset="-122"/>
              </a:rPr>
              <a:t>在类条件概率密度已知的情况下，可以通过求不同似然比阈值条件下的两类错误率（                                           </a:t>
            </a:r>
            <a:r>
              <a:rPr lang="en-US" altLang="zh-CN" sz="2200" kern="0" dirty="0">
                <a:latin typeface="Arial" panose="020B0604020202020204" pitchFamily="34" charset="0"/>
                <a:ea typeface="黑体" panose="02010609060101010101" pitchFamily="49" charset="-122"/>
              </a:rPr>
              <a:t>                 </a:t>
            </a:r>
            <a:r>
              <a:rPr lang="zh-CN" altLang="en-US" sz="2200" kern="0" dirty="0">
                <a:latin typeface="Arial" panose="020B0604020202020204" pitchFamily="34" charset="0"/>
                <a:ea typeface="黑体" panose="02010609060101010101" pitchFamily="49" charset="-122"/>
              </a:rPr>
              <a:t>），画出</a:t>
            </a:r>
            <a:r>
              <a:rPr lang="en-US" altLang="zh-CN" sz="2200" kern="0" dirty="0">
                <a:latin typeface="Arial" panose="020B0604020202020204" pitchFamily="34" charset="0"/>
                <a:ea typeface="黑体" panose="02010609060101010101" pitchFamily="49" charset="-122"/>
              </a:rPr>
              <a:t>ROC</a:t>
            </a:r>
            <a:r>
              <a:rPr lang="zh-CN" altLang="en-US" sz="2200" kern="0" dirty="0">
                <a:latin typeface="Arial" panose="020B0604020202020204" pitchFamily="34" charset="0"/>
                <a:ea typeface="黑体" panose="02010609060101010101" pitchFamily="49" charset="-122"/>
              </a:rPr>
              <a:t>曲线。</a:t>
            </a:r>
            <a:endParaRPr lang="en-US" altLang="zh-CN" sz="2200" kern="0" dirty="0">
              <a:latin typeface="Arial" panose="020B0604020202020204" pitchFamily="34" charset="0"/>
              <a:ea typeface="黑体" panose="02010609060101010101" pitchFamily="49" charset="-122"/>
            </a:endParaRPr>
          </a:p>
          <a:p>
            <a:pPr>
              <a:lnSpc>
                <a:spcPct val="130000"/>
              </a:lnSpc>
              <a:spcBef>
                <a:spcPts val="1200"/>
              </a:spcBef>
              <a:buClr>
                <a:schemeClr val="tx1"/>
              </a:buClr>
              <a:buFont typeface="Arial" panose="020B0604020202020204" pitchFamily="34" charset="0"/>
              <a:buChar char="•"/>
            </a:pPr>
            <a:r>
              <a:rPr lang="zh-CN" altLang="en-US" sz="2200" kern="0" dirty="0">
                <a:solidFill>
                  <a:schemeClr val="accent6">
                    <a:lumMod val="75000"/>
                  </a:schemeClr>
                </a:solidFill>
                <a:latin typeface="Arial" panose="020B0604020202020204" pitchFamily="34" charset="0"/>
                <a:ea typeface="黑体" panose="02010609060101010101" pitchFamily="49" charset="-122"/>
              </a:rPr>
              <a:t>用途：</a:t>
            </a:r>
            <a:r>
              <a:rPr lang="en-US" altLang="zh-CN" sz="2200" kern="0" dirty="0">
                <a:latin typeface="Arial" panose="020B0604020202020204" pitchFamily="34" charset="0"/>
                <a:ea typeface="黑体" panose="02010609060101010101" pitchFamily="49" charset="-122"/>
                <a:sym typeface="Wingdings" panose="05000000000000000000" pitchFamily="2" charset="2"/>
              </a:rPr>
              <a:t> </a:t>
            </a:r>
            <a:r>
              <a:rPr lang="zh-CN" altLang="en-US" sz="2200" kern="0" dirty="0">
                <a:latin typeface="Arial" panose="020B0604020202020204" pitchFamily="34" charset="0"/>
                <a:ea typeface="黑体" panose="02010609060101010101" pitchFamily="49" charset="-122"/>
              </a:rPr>
              <a:t>比较不同分类判别方法的性能</a:t>
            </a:r>
            <a:endParaRPr lang="en-US" altLang="zh-CN" sz="2200" kern="0" dirty="0">
              <a:latin typeface="Arial" panose="020B0604020202020204" pitchFamily="34" charset="0"/>
              <a:ea typeface="黑体" panose="02010609060101010101" pitchFamily="49" charset="-122"/>
            </a:endParaRPr>
          </a:p>
          <a:p>
            <a:pPr marL="0" indent="0">
              <a:lnSpc>
                <a:spcPct val="130000"/>
              </a:lnSpc>
              <a:spcBef>
                <a:spcPts val="0"/>
              </a:spcBef>
              <a:buNone/>
            </a:pPr>
            <a:r>
              <a:rPr lang="en-US" altLang="zh-CN" sz="2200" kern="0" dirty="0">
                <a:latin typeface="Arial" panose="020B0604020202020204" pitchFamily="34" charset="0"/>
                <a:ea typeface="黑体" panose="02010609060101010101" pitchFamily="49" charset="-122"/>
              </a:rPr>
              <a:t>               </a:t>
            </a:r>
            <a:r>
              <a:rPr lang="en-US" altLang="zh-CN" sz="2200" kern="0" dirty="0">
                <a:latin typeface="微软雅黑" panose="020B0503020204020204" pitchFamily="34" charset="-122"/>
                <a:ea typeface="微软雅黑" panose="020B0503020204020204" pitchFamily="34" charset="-122"/>
              </a:rPr>
              <a:t>② </a:t>
            </a:r>
            <a:r>
              <a:rPr lang="zh-CN" altLang="en-US" sz="2200" kern="0" dirty="0">
                <a:latin typeface="微软雅黑" panose="020B0503020204020204" pitchFamily="34" charset="-122"/>
                <a:ea typeface="微软雅黑" panose="020B0503020204020204" pitchFamily="34" charset="-122"/>
              </a:rPr>
              <a:t>评估特征与类别的相关性度量</a:t>
            </a:r>
            <a:endParaRPr lang="en-US" altLang="zh-CN" sz="2200" kern="0" dirty="0">
              <a:latin typeface="Arial" panose="020B0604020202020204" pitchFamily="34" charset="0"/>
              <a:ea typeface="黑体" panose="02010609060101010101" pitchFamily="49" charset="-122"/>
            </a:endParaRPr>
          </a:p>
          <a:p>
            <a:pPr>
              <a:lnSpc>
                <a:spcPct val="130000"/>
              </a:lnSpc>
              <a:spcBef>
                <a:spcPts val="0"/>
              </a:spcBef>
              <a:buClr>
                <a:schemeClr val="tx1"/>
              </a:buClr>
              <a:buFont typeface="Arial" panose="020B0604020202020204" pitchFamily="34" charset="0"/>
              <a:buChar char="•"/>
            </a:pPr>
            <a:r>
              <a:rPr lang="en-US" altLang="zh-CN" sz="2200" kern="0" dirty="0">
                <a:solidFill>
                  <a:schemeClr val="accent6">
                    <a:lumMod val="75000"/>
                  </a:schemeClr>
                </a:solidFill>
                <a:latin typeface="Arial" panose="020B0604020202020204" pitchFamily="34" charset="0"/>
                <a:ea typeface="黑体" panose="02010609060101010101" pitchFamily="49" charset="-122"/>
              </a:rPr>
              <a:t>ROC</a:t>
            </a:r>
            <a:r>
              <a:rPr lang="zh-CN" altLang="en-US" sz="2200" kern="0" dirty="0">
                <a:solidFill>
                  <a:schemeClr val="accent6">
                    <a:lumMod val="75000"/>
                  </a:schemeClr>
                </a:solidFill>
                <a:latin typeface="Arial" panose="020B0604020202020204" pitchFamily="34" charset="0"/>
                <a:ea typeface="黑体" panose="02010609060101010101" pitchFamily="49" charset="-122"/>
              </a:rPr>
              <a:t>曲线比较：</a:t>
            </a:r>
            <a:r>
              <a:rPr lang="zh-CN" altLang="en-US" sz="2200" kern="0" dirty="0">
                <a:latin typeface="Arial" panose="020B0604020202020204" pitchFamily="34" charset="0"/>
                <a:ea typeface="黑体" panose="02010609060101010101" pitchFamily="49" charset="-122"/>
              </a:rPr>
              <a:t>可以用</a:t>
            </a:r>
            <a:r>
              <a:rPr lang="en-US" altLang="zh-CN" sz="2200" kern="0" dirty="0">
                <a:latin typeface="Arial" panose="020B0604020202020204" pitchFamily="34" charset="0"/>
                <a:ea typeface="黑体" panose="02010609060101010101" pitchFamily="49" charset="-122"/>
              </a:rPr>
              <a:t>ROC</a:t>
            </a:r>
            <a:r>
              <a:rPr lang="zh-CN" altLang="en-US" sz="2200" kern="0" dirty="0">
                <a:latin typeface="Arial" panose="020B0604020202020204" pitchFamily="34" charset="0"/>
                <a:ea typeface="黑体" panose="02010609060101010101" pitchFamily="49" charset="-122"/>
              </a:rPr>
              <a:t>曲线下的面积即</a:t>
            </a:r>
            <a:r>
              <a:rPr lang="en-US" altLang="zh-CN" sz="2200" kern="0" dirty="0">
                <a:latin typeface="Arial" panose="020B0604020202020204" pitchFamily="34" charset="0"/>
                <a:ea typeface="黑体" panose="02010609060101010101" pitchFamily="49" charset="-122"/>
              </a:rPr>
              <a:t>AUC</a:t>
            </a:r>
            <a:r>
              <a:rPr lang="zh-CN" altLang="en-US" sz="2200" kern="0" dirty="0">
                <a:latin typeface="Arial" panose="020B0604020202020204" pitchFamily="34" charset="0"/>
                <a:ea typeface="黑体" panose="02010609060101010101" pitchFamily="49" charset="-122"/>
              </a:rPr>
              <a:t>（</a:t>
            </a:r>
            <a:r>
              <a:rPr lang="en-US" altLang="zh-CN" sz="2200" kern="0" dirty="0">
                <a:latin typeface="Arial" panose="020B0604020202020204" pitchFamily="34" charset="0"/>
                <a:ea typeface="黑体" panose="02010609060101010101" pitchFamily="49" charset="-122"/>
              </a:rPr>
              <a:t>Area under ROC curve</a:t>
            </a:r>
            <a:r>
              <a:rPr lang="zh-CN" altLang="en-US" sz="2200" kern="0" dirty="0">
                <a:latin typeface="Arial" panose="020B0604020202020204" pitchFamily="34" charset="0"/>
                <a:ea typeface="黑体" panose="02010609060101010101" pitchFamily="49" charset="-122"/>
              </a:rPr>
              <a:t>）来定量衡量方法的性能。</a:t>
            </a:r>
            <a:endParaRPr lang="en-US" altLang="zh-CN" sz="2200" kern="0" dirty="0">
              <a:latin typeface="Arial" panose="020B0604020202020204" pitchFamily="34" charset="0"/>
              <a:ea typeface="黑体" panose="02010609060101010101" pitchFamily="49" charset="-122"/>
            </a:endParaRPr>
          </a:p>
          <a:p>
            <a:pPr marL="0" indent="0">
              <a:lnSpc>
                <a:spcPct val="130000"/>
              </a:lnSpc>
              <a:spcBef>
                <a:spcPts val="0"/>
              </a:spcBef>
              <a:buFont typeface="Wingdings" pitchFamily="2" charset="2"/>
              <a:buNone/>
            </a:pPr>
            <a:endParaRPr lang="zh-CN" altLang="en-US" sz="2200" kern="0" dirty="0">
              <a:latin typeface="Arial" panose="020B0604020202020204" pitchFamily="34" charset="0"/>
              <a:ea typeface="黑体" panose="02010609060101010101" pitchFamily="49" charset="-122"/>
            </a:endParaRPr>
          </a:p>
        </p:txBody>
      </p:sp>
      <p:pic>
        <p:nvPicPr>
          <p:cNvPr id="2" name="图片 1"/>
          <p:cNvPicPr>
            <a:picLocks noChangeAspect="1"/>
          </p:cNvPicPr>
          <p:nvPr/>
        </p:nvPicPr>
        <p:blipFill>
          <a:blip r:embed="rId4"/>
          <a:stretch>
            <a:fillRect/>
          </a:stretch>
        </p:blipFill>
        <p:spPr>
          <a:xfrm>
            <a:off x="6911925" y="1052736"/>
            <a:ext cx="4894883" cy="2520605"/>
          </a:xfrm>
          <a:prstGeom prst="rect">
            <a:avLst/>
          </a:prstGeom>
        </p:spPr>
      </p:pic>
      <p:graphicFrame>
        <p:nvGraphicFramePr>
          <p:cNvPr id="11" name="Object 2"/>
          <p:cNvGraphicFramePr>
            <a:graphicFrameLocks noChangeAspect="1"/>
          </p:cNvGraphicFramePr>
          <p:nvPr>
            <p:extLst>
              <p:ext uri="{D42A27DB-BD31-4B8C-83A1-F6EECF244321}">
                <p14:modId xmlns:p14="http://schemas.microsoft.com/office/powerpoint/2010/main" val="2171467766"/>
              </p:ext>
            </p:extLst>
          </p:nvPr>
        </p:nvGraphicFramePr>
        <p:xfrm>
          <a:off x="1956620" y="4138610"/>
          <a:ext cx="2065620" cy="509318"/>
        </p:xfrm>
        <a:graphic>
          <a:graphicData uri="http://schemas.openxmlformats.org/presentationml/2006/ole">
            <mc:AlternateContent xmlns:mc="http://schemas.openxmlformats.org/markup-compatibility/2006">
              <mc:Choice xmlns:v="urn:schemas-microsoft-com:vml" Requires="v">
                <p:oleObj spid="_x0000_s36006" name="Equation" r:id="rId5" imgW="927100" imgH="228600" progId="Equation.DSMT4">
                  <p:embed/>
                </p:oleObj>
              </mc:Choice>
              <mc:Fallback>
                <p:oleObj name="Equation" r:id="rId5" imgW="927100" imgH="228600" progId="Equation.DSMT4">
                  <p:embed/>
                  <p:pic>
                    <p:nvPicPr>
                      <p:cNvPr id="0" name="Picture 1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56620" y="4138610"/>
                        <a:ext cx="2065620" cy="5093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3"/>
          <p:cNvGraphicFramePr>
            <a:graphicFrameLocks noChangeAspect="1"/>
          </p:cNvGraphicFramePr>
          <p:nvPr>
            <p:extLst>
              <p:ext uri="{D42A27DB-BD31-4B8C-83A1-F6EECF244321}">
                <p14:modId xmlns:p14="http://schemas.microsoft.com/office/powerpoint/2010/main" val="2107658499"/>
              </p:ext>
            </p:extLst>
          </p:nvPr>
        </p:nvGraphicFramePr>
        <p:xfrm>
          <a:off x="4258364" y="4107630"/>
          <a:ext cx="2197676" cy="520747"/>
        </p:xfrm>
        <a:graphic>
          <a:graphicData uri="http://schemas.openxmlformats.org/presentationml/2006/ole">
            <mc:AlternateContent xmlns:mc="http://schemas.openxmlformats.org/markup-compatibility/2006">
              <mc:Choice xmlns:v="urn:schemas-microsoft-com:vml" Requires="v">
                <p:oleObj spid="_x0000_s36007" name="Equation" r:id="rId7" imgW="965200" imgH="228600" progId="Equation.DSMT4">
                  <p:embed/>
                </p:oleObj>
              </mc:Choice>
              <mc:Fallback>
                <p:oleObj name="Equation" r:id="rId7" imgW="965200" imgH="228600" progId="Equation.DSMT4">
                  <p:embed/>
                  <p:pic>
                    <p:nvPicPr>
                      <p:cNvPr id="0" name="Picture 15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58364" y="4107630"/>
                        <a:ext cx="2197676" cy="5207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45524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55440" y="1556792"/>
            <a:ext cx="10369152" cy="3416320"/>
          </a:xfrm>
          <a:prstGeom prst="rect">
            <a:avLst/>
          </a:prstGeom>
          <a:noFill/>
        </p:spPr>
        <p:txBody>
          <a:bodyPr wrap="square" rtlCol="0">
            <a:spAutoFit/>
          </a:bodyPr>
          <a:lstStyle/>
          <a:p>
            <a:pPr>
              <a:lnSpc>
                <a:spcPct val="150000"/>
              </a:lnSpc>
            </a:pPr>
            <a:r>
              <a:rPr lang="en-US" altLang="zh-CN" sz="2400" b="1" dirty="0">
                <a:latin typeface="宋体" pitchFamily="2" charset="-122"/>
                <a:ea typeface="宋体" pitchFamily="2" charset="-122"/>
              </a:rPr>
              <a:t>13.1 </a:t>
            </a:r>
            <a:r>
              <a:rPr lang="zh-CN" altLang="zh-CN" sz="2400" b="1" dirty="0">
                <a:latin typeface="宋体" pitchFamily="2" charset="-122"/>
                <a:ea typeface="宋体" pitchFamily="2" charset="-122"/>
              </a:rPr>
              <a:t>最小错误率贝叶斯决策</a:t>
            </a:r>
          </a:p>
          <a:p>
            <a:pPr>
              <a:lnSpc>
                <a:spcPct val="150000"/>
              </a:lnSpc>
            </a:pPr>
            <a:r>
              <a:rPr lang="en-US" altLang="zh-CN" sz="2400" b="1" dirty="0">
                <a:latin typeface="宋体" pitchFamily="2" charset="-122"/>
                <a:ea typeface="宋体" pitchFamily="2" charset="-122"/>
              </a:rPr>
              <a:t>13.2 </a:t>
            </a:r>
            <a:r>
              <a:rPr lang="zh-CN" altLang="zh-CN" sz="2400" b="1" dirty="0">
                <a:latin typeface="宋体" pitchFamily="2" charset="-122"/>
                <a:ea typeface="宋体" pitchFamily="2" charset="-122"/>
              </a:rPr>
              <a:t>最小风险贝叶斯决策</a:t>
            </a:r>
          </a:p>
          <a:p>
            <a:pPr>
              <a:lnSpc>
                <a:spcPct val="150000"/>
              </a:lnSpc>
            </a:pPr>
            <a:r>
              <a:rPr lang="en-US" altLang="zh-CN" sz="2400" b="1" dirty="0">
                <a:latin typeface="宋体" pitchFamily="2" charset="-122"/>
                <a:ea typeface="宋体" pitchFamily="2" charset="-122"/>
              </a:rPr>
              <a:t>13.3 </a:t>
            </a:r>
            <a:r>
              <a:rPr lang="zh-CN" altLang="zh-CN" sz="2400" b="1" dirty="0">
                <a:latin typeface="宋体" pitchFamily="2" charset="-122"/>
                <a:ea typeface="宋体" pitchFamily="2" charset="-122"/>
              </a:rPr>
              <a:t>两类错误率、</a:t>
            </a:r>
            <a:r>
              <a:rPr lang="en-US" altLang="zh-CN" sz="2400" b="1" dirty="0" err="1">
                <a:latin typeface="宋体" pitchFamily="2" charset="-122"/>
                <a:ea typeface="宋体" pitchFamily="2" charset="-122"/>
              </a:rPr>
              <a:t>Neyman</a:t>
            </a:r>
            <a:r>
              <a:rPr lang="en-US" altLang="zh-CN" sz="2400" b="1" dirty="0">
                <a:latin typeface="宋体" pitchFamily="2" charset="-122"/>
                <a:ea typeface="宋体" pitchFamily="2" charset="-122"/>
              </a:rPr>
              <a:t>-Pearson</a:t>
            </a:r>
            <a:r>
              <a:rPr lang="zh-CN" altLang="zh-CN" sz="2400" b="1" dirty="0">
                <a:latin typeface="宋体" pitchFamily="2" charset="-122"/>
                <a:ea typeface="宋体" pitchFamily="2" charset="-122"/>
              </a:rPr>
              <a:t>决策和</a:t>
            </a:r>
            <a:r>
              <a:rPr lang="en-US" altLang="zh-CN" sz="2400" b="1" dirty="0">
                <a:latin typeface="宋体" pitchFamily="2" charset="-122"/>
                <a:ea typeface="宋体" pitchFamily="2" charset="-122"/>
              </a:rPr>
              <a:t>ROC</a:t>
            </a:r>
            <a:r>
              <a:rPr lang="zh-CN" altLang="zh-CN" sz="2400" b="1" dirty="0">
                <a:latin typeface="宋体" pitchFamily="2" charset="-122"/>
                <a:ea typeface="宋体" pitchFamily="2" charset="-122"/>
              </a:rPr>
              <a:t>曲线</a:t>
            </a:r>
          </a:p>
          <a:p>
            <a:pPr>
              <a:lnSpc>
                <a:spcPct val="150000"/>
              </a:lnSpc>
            </a:pPr>
            <a:r>
              <a:rPr lang="en-US" altLang="zh-CN" sz="2400" b="1" dirty="0">
                <a:solidFill>
                  <a:srgbClr val="FF0000"/>
                </a:solidFill>
                <a:latin typeface="宋体" pitchFamily="2" charset="-122"/>
                <a:ea typeface="宋体" pitchFamily="2" charset="-122"/>
              </a:rPr>
              <a:t>13.4 </a:t>
            </a:r>
            <a:r>
              <a:rPr lang="zh-CN" altLang="zh-CN" sz="2400" b="1" dirty="0">
                <a:solidFill>
                  <a:srgbClr val="FF0000"/>
                </a:solidFill>
                <a:latin typeface="宋体" pitchFamily="2" charset="-122"/>
                <a:ea typeface="宋体" pitchFamily="2" charset="-122"/>
              </a:rPr>
              <a:t>正态分布的统计决策</a:t>
            </a:r>
          </a:p>
          <a:p>
            <a:pPr>
              <a:lnSpc>
                <a:spcPct val="150000"/>
              </a:lnSpc>
            </a:pPr>
            <a:r>
              <a:rPr lang="en-US" altLang="zh-CN" sz="2400" b="1" dirty="0">
                <a:latin typeface="宋体" pitchFamily="2" charset="-122"/>
                <a:ea typeface="宋体" pitchFamily="2" charset="-122"/>
              </a:rPr>
              <a:t>13.5 </a:t>
            </a:r>
            <a:r>
              <a:rPr lang="zh-CN" altLang="zh-CN" sz="2400" b="1" dirty="0">
                <a:latin typeface="宋体" pitchFamily="2" charset="-122"/>
                <a:ea typeface="宋体" pitchFamily="2" charset="-122"/>
              </a:rPr>
              <a:t>关于分类器的错误率</a:t>
            </a:r>
          </a:p>
          <a:p>
            <a:pPr>
              <a:lnSpc>
                <a:spcPct val="150000"/>
              </a:lnSpc>
            </a:pPr>
            <a:r>
              <a:rPr lang="en-US" altLang="zh-CN" sz="2400" b="1" dirty="0">
                <a:latin typeface="宋体" pitchFamily="2" charset="-122"/>
                <a:ea typeface="宋体" pitchFamily="2" charset="-122"/>
              </a:rPr>
              <a:t>13.6 </a:t>
            </a:r>
            <a:r>
              <a:rPr lang="zh-CN" altLang="zh-CN" sz="2400" b="1" dirty="0">
                <a:latin typeface="宋体" pitchFamily="2" charset="-122"/>
                <a:ea typeface="宋体" pitchFamily="2" charset="-122"/>
              </a:rPr>
              <a:t>离散概率模型下的统计决策</a:t>
            </a:r>
          </a:p>
        </p:txBody>
      </p:sp>
      <p:sp>
        <p:nvSpPr>
          <p:cNvPr id="8" name="Freeform 6"/>
          <p:cNvSpPr>
            <a:spLocks/>
          </p:cNvSpPr>
          <p:nvPr/>
        </p:nvSpPr>
        <p:spPr bwMode="auto">
          <a:xfrm>
            <a:off x="0" y="5589240"/>
            <a:ext cx="12192000" cy="864096"/>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p>
        </p:txBody>
      </p:sp>
      <p:sp>
        <p:nvSpPr>
          <p:cNvPr id="9" name="Freeform 7"/>
          <p:cNvSpPr>
            <a:spLocks/>
          </p:cNvSpPr>
          <p:nvPr/>
        </p:nvSpPr>
        <p:spPr bwMode="auto">
          <a:xfrm>
            <a:off x="-24680" y="5425669"/>
            <a:ext cx="12216680" cy="357166"/>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solidFill>
                <a:schemeClr val="tx2">
                  <a:lumMod val="20000"/>
                  <a:lumOff val="80000"/>
                </a:schemeClr>
              </a:solidFill>
            </a:endParaRPr>
          </a:p>
        </p:txBody>
      </p:sp>
      <p:pic>
        <p:nvPicPr>
          <p:cNvPr id="3" name="图片 2"/>
          <p:cNvPicPr>
            <a:picLocks noChangeAspect="1"/>
          </p:cNvPicPr>
          <p:nvPr/>
        </p:nvPicPr>
        <p:blipFill>
          <a:blip r:embed="rId3"/>
          <a:stretch>
            <a:fillRect/>
          </a:stretch>
        </p:blipFill>
        <p:spPr>
          <a:xfrm>
            <a:off x="0" y="6468398"/>
            <a:ext cx="1349719" cy="404664"/>
          </a:xfrm>
          <a:prstGeom prst="rect">
            <a:avLst/>
          </a:prstGeom>
        </p:spPr>
      </p:pic>
      <p:sp>
        <p:nvSpPr>
          <p:cNvPr id="6" name="文本框 5"/>
          <p:cNvSpPr txBox="1"/>
          <p:nvPr/>
        </p:nvSpPr>
        <p:spPr>
          <a:xfrm>
            <a:off x="-24680" y="6436962"/>
            <a:ext cx="5472608" cy="461665"/>
          </a:xfrm>
          <a:prstGeom prst="rect">
            <a:avLst/>
          </a:prstGeom>
          <a:noFill/>
        </p:spPr>
        <p:txBody>
          <a:bodyPr wrap="square" rtlCol="0">
            <a:spAutoFit/>
          </a:bodyPr>
          <a:lstStyle/>
          <a:p>
            <a:r>
              <a:rPr lang="zh-CN" altLang="en-US" sz="2400" b="1" dirty="0">
                <a:solidFill>
                  <a:srgbClr val="0000FF"/>
                </a:solidFill>
              </a:rPr>
              <a:t>人工智能与自动化学院        </a:t>
            </a:r>
          </a:p>
        </p:txBody>
      </p:sp>
      <p:sp>
        <p:nvSpPr>
          <p:cNvPr id="7" name="灯片编号占位符 6">
            <a:extLst>
              <a:ext uri="{FF2B5EF4-FFF2-40B4-BE49-F238E27FC236}">
                <a16:creationId xmlns:a16="http://schemas.microsoft.com/office/drawing/2014/main" id="{57A11AAC-03BE-45BB-A5C8-11C5A0B0B16C}"/>
              </a:ext>
            </a:extLst>
          </p:cNvPr>
          <p:cNvSpPr>
            <a:spLocks noGrp="1"/>
          </p:cNvSpPr>
          <p:nvPr>
            <p:ph type="sldNum" sz="quarter" idx="11"/>
          </p:nvPr>
        </p:nvSpPr>
        <p:spPr/>
        <p:txBody>
          <a:bodyPr/>
          <a:lstStyle/>
          <a:p>
            <a:pPr>
              <a:defRPr/>
            </a:pPr>
            <a:fld id="{31E287EE-1289-4991-82CE-EFE584F53F4F}" type="slidenum">
              <a:rPr lang="en-US" altLang="zh-CN" smtClean="0"/>
              <a:pPr>
                <a:defRPr/>
              </a:pPr>
              <a:t>42</a:t>
            </a:fld>
            <a:endParaRPr lang="en-US" altLang="zh-CN" dirty="0"/>
          </a:p>
        </p:txBody>
      </p:sp>
      <p:sp>
        <p:nvSpPr>
          <p:cNvPr id="10"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zh-CN" altLang="en-US" kern="0" dirty="0"/>
              <a:t>第</a:t>
            </a:r>
            <a:r>
              <a:rPr lang="en-US" altLang="zh-CN" kern="0" dirty="0"/>
              <a:t>13</a:t>
            </a:r>
            <a:r>
              <a:rPr lang="zh-CN" altLang="en-US" kern="0" dirty="0"/>
              <a:t>章 </a:t>
            </a:r>
            <a:r>
              <a:rPr lang="zh-CN" altLang="zh-CN" dirty="0"/>
              <a:t>基于统计决策的概率分类方法</a:t>
            </a:r>
          </a:p>
        </p:txBody>
      </p:sp>
    </p:spTree>
    <p:extLst>
      <p:ext uri="{BB962C8B-B14F-4D97-AF65-F5344CB8AC3E}">
        <p14:creationId xmlns:p14="http://schemas.microsoft.com/office/powerpoint/2010/main" val="20801725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43</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04132" y="1177588"/>
            <a:ext cx="1620957"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a:t>
            </a:r>
          </a:p>
        </p:txBody>
      </p:sp>
      <p:sp>
        <p:nvSpPr>
          <p:cNvPr id="5" name="矩形 4"/>
          <p:cNvSpPr/>
          <p:nvPr/>
        </p:nvSpPr>
        <p:spPr>
          <a:xfrm>
            <a:off x="304132" y="1719119"/>
            <a:ext cx="11399440" cy="2631490"/>
          </a:xfrm>
          <a:prstGeom prst="rect">
            <a:avLst/>
          </a:prstGeom>
        </p:spPr>
        <p:txBody>
          <a:bodyPr wrap="square">
            <a:spAutoFit/>
          </a:bodyPr>
          <a:lstStyle/>
          <a:p>
            <a:pPr>
              <a:lnSpc>
                <a:spcPct val="150000"/>
              </a:lnSpc>
            </a:pPr>
            <a:r>
              <a:rPr lang="zh-CN" altLang="en-US" sz="2200" dirty="0"/>
              <a:t>从分类器设计上来看，决策面方程都涉及到</a:t>
            </a:r>
            <a:r>
              <a:rPr lang="zh-CN" altLang="en-US" sz="2200" dirty="0">
                <a:solidFill>
                  <a:srgbClr val="FF0000"/>
                </a:solidFill>
              </a:rPr>
              <a:t>类条件概率密度 </a:t>
            </a:r>
            <a:r>
              <a:rPr lang="en-US" altLang="zh-CN" sz="2200" dirty="0"/>
              <a:t>p(X|</a:t>
            </a:r>
            <a:r>
              <a:rPr lang="el-GR" altLang="zh-CN" sz="2200" dirty="0"/>
              <a:t>ω</a:t>
            </a:r>
            <a:r>
              <a:rPr lang="en-US" altLang="zh-CN" sz="2200" baseline="-25000" dirty="0" err="1"/>
              <a:t>i</a:t>
            </a:r>
            <a:r>
              <a:rPr lang="en-US" altLang="zh-CN" sz="2200" dirty="0"/>
              <a:t>) </a:t>
            </a:r>
            <a:r>
              <a:rPr lang="zh-CN" altLang="en-US" sz="2200" dirty="0"/>
              <a:t>。在连续类概率密度函数中，研究较多的是</a:t>
            </a:r>
            <a:r>
              <a:rPr lang="zh-CN" altLang="en-US" sz="2200" dirty="0">
                <a:solidFill>
                  <a:srgbClr val="FF0000"/>
                </a:solidFill>
              </a:rPr>
              <a:t>正态分布。</a:t>
            </a:r>
            <a:endParaRPr lang="en-US" altLang="zh-CN" sz="2200" dirty="0">
              <a:solidFill>
                <a:srgbClr val="FF0000"/>
              </a:solidFill>
            </a:endParaRPr>
          </a:p>
          <a:p>
            <a:pPr marL="0" lvl="1" indent="457200">
              <a:lnSpc>
                <a:spcPct val="150000"/>
              </a:lnSpc>
              <a:buFont typeface="Wingdings" pitchFamily="2" charset="2"/>
              <a:buChar char="ü"/>
            </a:pPr>
            <a:r>
              <a:rPr lang="zh-CN" altLang="en-US" sz="2200" dirty="0">
                <a:solidFill>
                  <a:srgbClr val="FF6600"/>
                </a:solidFill>
              </a:rPr>
              <a:t>大量随机变量服从正态分布</a:t>
            </a:r>
            <a:r>
              <a:rPr lang="en-US" altLang="zh-CN" sz="2200" dirty="0">
                <a:solidFill>
                  <a:srgbClr val="FF6600"/>
                </a:solidFill>
              </a:rPr>
              <a:t>, </a:t>
            </a:r>
          </a:p>
          <a:p>
            <a:pPr marL="0" lvl="1" indent="457200">
              <a:lnSpc>
                <a:spcPct val="150000"/>
              </a:lnSpc>
              <a:buFont typeface="Wingdings" pitchFamily="2" charset="2"/>
              <a:buChar char="ü"/>
            </a:pPr>
            <a:r>
              <a:rPr lang="zh-CN" altLang="en-US" sz="2200" dirty="0">
                <a:solidFill>
                  <a:srgbClr val="FF6600"/>
                </a:solidFill>
              </a:rPr>
              <a:t>而且数学上容易处理</a:t>
            </a:r>
            <a:r>
              <a:rPr lang="en-US" altLang="zh-CN" sz="2200" dirty="0">
                <a:solidFill>
                  <a:srgbClr val="FF6600"/>
                </a:solidFill>
              </a:rPr>
              <a:t> </a:t>
            </a:r>
          </a:p>
          <a:p>
            <a:pPr>
              <a:lnSpc>
                <a:spcPct val="150000"/>
              </a:lnSpc>
              <a:buNone/>
            </a:pPr>
            <a:r>
              <a:rPr lang="zh-CN" altLang="en-US" sz="2200" dirty="0"/>
              <a:t>因此，以正态分布为例来说明。</a:t>
            </a:r>
            <a:endParaRPr lang="en-US" altLang="zh-CN" sz="2200" dirty="0"/>
          </a:p>
        </p:txBody>
      </p:sp>
    </p:spTree>
    <p:extLst>
      <p:ext uri="{BB962C8B-B14F-4D97-AF65-F5344CB8AC3E}">
        <p14:creationId xmlns:p14="http://schemas.microsoft.com/office/powerpoint/2010/main" val="30830373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44</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04132" y="1177588"/>
            <a:ext cx="3416320"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单变量正态分布函数</a:t>
            </a:r>
          </a:p>
        </p:txBody>
      </p:sp>
      <p:sp>
        <p:nvSpPr>
          <p:cNvPr id="12" name="内容占位符 4"/>
          <p:cNvSpPr txBox="1">
            <a:spLocks/>
          </p:cNvSpPr>
          <p:nvPr/>
        </p:nvSpPr>
        <p:spPr bwMode="gray">
          <a:xfrm>
            <a:off x="304132" y="4537743"/>
            <a:ext cx="11480500" cy="10081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800100" indent="-800100">
              <a:lnSpc>
                <a:spcPct val="130000"/>
              </a:lnSpc>
              <a:spcBef>
                <a:spcPts val="0"/>
              </a:spcBef>
              <a:buFontTx/>
              <a:buNone/>
            </a:pPr>
            <a:r>
              <a:rPr lang="zh-CN" altLang="en-US" sz="2200" kern="0" dirty="0">
                <a:solidFill>
                  <a:srgbClr val="FF0000"/>
                </a:solidFill>
              </a:rPr>
              <a:t>性质：</a:t>
            </a:r>
            <a:endParaRPr lang="en-US" altLang="zh-CN" sz="2200" kern="0" dirty="0">
              <a:solidFill>
                <a:srgbClr val="FF0000"/>
              </a:solidFill>
            </a:endParaRPr>
          </a:p>
          <a:p>
            <a:pPr>
              <a:lnSpc>
                <a:spcPct val="130000"/>
              </a:lnSpc>
              <a:spcBef>
                <a:spcPts val="1200"/>
              </a:spcBef>
              <a:buClrTx/>
              <a:buFont typeface="Arial" panose="020B0604020202020204" pitchFamily="34" charset="0"/>
              <a:buChar char="•"/>
            </a:pPr>
            <a:r>
              <a:rPr lang="zh-CN" altLang="en-US" sz="2200" kern="0" dirty="0">
                <a:latin typeface="Times New Roman" panose="02020603050405020304" pitchFamily="18" charset="0"/>
              </a:rPr>
              <a:t>单变量正态分布</a:t>
            </a:r>
            <a:r>
              <a:rPr lang="en-US" altLang="zh-CN" sz="2200" i="1" kern="0" dirty="0">
                <a:latin typeface="Times New Roman" panose="02020603050405020304" pitchFamily="18" charset="0"/>
              </a:rPr>
              <a:t>p</a:t>
            </a:r>
            <a:r>
              <a:rPr lang="en-US" altLang="zh-CN" sz="2200" kern="0" dirty="0">
                <a:latin typeface="Times New Roman" panose="02020603050405020304" pitchFamily="18" charset="0"/>
              </a:rPr>
              <a:t>(x)</a:t>
            </a:r>
            <a:r>
              <a:rPr lang="zh-CN" altLang="en-US" sz="2200" kern="0" dirty="0">
                <a:latin typeface="Times New Roman" panose="02020603050405020304" pitchFamily="18" charset="0"/>
              </a:rPr>
              <a:t>由</a:t>
            </a:r>
            <a:r>
              <a:rPr lang="en-US" altLang="zh-CN" sz="2200" i="1" kern="0" dirty="0">
                <a:latin typeface="Times New Roman" panose="02020603050405020304" pitchFamily="18" charset="0"/>
              </a:rPr>
              <a:t>µ</a:t>
            </a:r>
            <a:r>
              <a:rPr lang="en-US" altLang="zh-CN" sz="2200" kern="0" dirty="0">
                <a:latin typeface="Times New Roman" panose="02020603050405020304" pitchFamily="18" charset="0"/>
              </a:rPr>
              <a:t>, </a:t>
            </a:r>
            <a:r>
              <a:rPr lang="el-GR" altLang="zh-CN" sz="2200" kern="0" dirty="0">
                <a:latin typeface="Times New Roman" panose="02020603050405020304" pitchFamily="18" charset="0"/>
              </a:rPr>
              <a:t>σ</a:t>
            </a:r>
            <a:r>
              <a:rPr lang="en-US" altLang="zh-CN" sz="2200" kern="0" baseline="30000" dirty="0">
                <a:latin typeface="Times New Roman" panose="02020603050405020304" pitchFamily="18" charset="0"/>
              </a:rPr>
              <a:t>2 </a:t>
            </a:r>
            <a:r>
              <a:rPr lang="zh-CN" altLang="en-US" sz="2200" kern="0" dirty="0">
                <a:latin typeface="Times New Roman" panose="02020603050405020304" pitchFamily="18" charset="0"/>
              </a:rPr>
              <a:t>可以完全确定。</a:t>
            </a:r>
            <a:endParaRPr lang="en-US" altLang="zh-CN" sz="2200" kern="0" dirty="0">
              <a:latin typeface="Times New Roman" panose="02020603050405020304" pitchFamily="18" charset="0"/>
            </a:endParaRPr>
          </a:p>
          <a:p>
            <a:pPr>
              <a:lnSpc>
                <a:spcPct val="130000"/>
              </a:lnSpc>
              <a:spcBef>
                <a:spcPts val="0"/>
              </a:spcBef>
              <a:buClrTx/>
              <a:buFont typeface="Arial" panose="020B0604020202020204" pitchFamily="34" charset="0"/>
              <a:buChar char="•"/>
            </a:pPr>
            <a:r>
              <a:rPr lang="zh-CN" altLang="en-US" sz="2200" kern="0" dirty="0">
                <a:latin typeface="Times New Roman" panose="02020603050405020304" pitchFamily="18" charset="0"/>
              </a:rPr>
              <a:t>随机变量 </a:t>
            </a:r>
            <a:r>
              <a:rPr lang="en-US" altLang="zh-CN" sz="2200" i="1" kern="0" dirty="0">
                <a:latin typeface="Times New Roman" panose="02020603050405020304" pitchFamily="18" charset="0"/>
              </a:rPr>
              <a:t>x</a:t>
            </a:r>
            <a:r>
              <a:rPr lang="en-US" altLang="zh-CN" sz="2200" kern="0" dirty="0">
                <a:latin typeface="Times New Roman" panose="02020603050405020304" pitchFamily="18" charset="0"/>
              </a:rPr>
              <a:t> </a:t>
            </a:r>
            <a:r>
              <a:rPr lang="zh-CN" altLang="en-US" sz="2200" kern="0" dirty="0">
                <a:latin typeface="Times New Roman" panose="02020603050405020304" pitchFamily="18" charset="0"/>
              </a:rPr>
              <a:t>集中在均值</a:t>
            </a:r>
            <a:r>
              <a:rPr lang="en-US" altLang="zh-CN" sz="2200" i="1" kern="0" dirty="0">
                <a:latin typeface="Times New Roman" panose="02020603050405020304" pitchFamily="18" charset="0"/>
              </a:rPr>
              <a:t>µ</a:t>
            </a:r>
            <a:r>
              <a:rPr lang="zh-CN" altLang="en-US" sz="2200" kern="0" dirty="0">
                <a:latin typeface="Times New Roman" panose="02020603050405020304" pitchFamily="18" charset="0"/>
              </a:rPr>
              <a:t>附近</a:t>
            </a:r>
            <a:r>
              <a:rPr lang="en-US" altLang="zh-CN" sz="2200" kern="0" dirty="0">
                <a:latin typeface="Times New Roman" panose="02020603050405020304" pitchFamily="18" charset="0"/>
              </a:rPr>
              <a:t>, </a:t>
            </a:r>
            <a:r>
              <a:rPr lang="zh-CN" altLang="en-US" sz="2200" kern="0" dirty="0">
                <a:latin typeface="Times New Roman" panose="02020603050405020304" pitchFamily="18" charset="0"/>
              </a:rPr>
              <a:t>其分散度用标准差</a:t>
            </a:r>
            <a:r>
              <a:rPr lang="el-GR" altLang="zh-CN" sz="2200" kern="0" dirty="0">
                <a:latin typeface="Times New Roman" panose="02020603050405020304" pitchFamily="18" charset="0"/>
              </a:rPr>
              <a:t>σ</a:t>
            </a:r>
            <a:r>
              <a:rPr lang="zh-CN" altLang="en-US" sz="2200" kern="0" dirty="0">
                <a:latin typeface="Times New Roman" panose="02020603050405020304" pitchFamily="18" charset="0"/>
              </a:rPr>
              <a:t>表示</a:t>
            </a:r>
            <a:r>
              <a:rPr lang="en-US" altLang="zh-CN" sz="2200" kern="0" dirty="0">
                <a:latin typeface="Times New Roman" panose="02020603050405020304" pitchFamily="18" charset="0"/>
              </a:rPr>
              <a:t>, 95%</a:t>
            </a:r>
            <a:r>
              <a:rPr lang="zh-CN" altLang="en-US" sz="2200" kern="0" dirty="0">
                <a:latin typeface="Times New Roman" panose="02020603050405020304" pitchFamily="18" charset="0"/>
              </a:rPr>
              <a:t>样本落入 </a:t>
            </a:r>
            <a:r>
              <a:rPr lang="en-US" altLang="zh-CN" sz="2200" kern="0" dirty="0">
                <a:latin typeface="Times New Roman" panose="02020603050405020304" pitchFamily="18" charset="0"/>
              </a:rPr>
              <a:t>|</a:t>
            </a:r>
            <a:r>
              <a:rPr lang="en-US" altLang="zh-CN" sz="2200" i="1" kern="0" dirty="0">
                <a:latin typeface="Times New Roman" panose="02020603050405020304" pitchFamily="18" charset="0"/>
              </a:rPr>
              <a:t>x</a:t>
            </a:r>
            <a:r>
              <a:rPr lang="en-US" altLang="zh-CN" sz="2200" kern="0" dirty="0">
                <a:latin typeface="Times New Roman" panose="02020603050405020304" pitchFamily="18" charset="0"/>
              </a:rPr>
              <a:t>-µ|&lt;2</a:t>
            </a:r>
            <a:r>
              <a:rPr lang="el-GR" altLang="zh-CN" sz="2200" kern="0" dirty="0">
                <a:latin typeface="Times New Roman" panose="02020603050405020304" pitchFamily="18" charset="0"/>
              </a:rPr>
              <a:t>σ</a:t>
            </a:r>
            <a:r>
              <a:rPr lang="en-US" altLang="zh-CN" sz="2200" kern="0" dirty="0">
                <a:latin typeface="Times New Roman" panose="02020603050405020304" pitchFamily="18" charset="0"/>
              </a:rPr>
              <a:t> </a:t>
            </a:r>
            <a:r>
              <a:rPr lang="zh-CN" altLang="en-US" sz="2200" kern="0" dirty="0">
                <a:latin typeface="Times New Roman" panose="02020603050405020304" pitchFamily="18" charset="0"/>
              </a:rPr>
              <a:t>范围内。</a:t>
            </a:r>
          </a:p>
        </p:txBody>
      </p:sp>
      <p:graphicFrame>
        <p:nvGraphicFramePr>
          <p:cNvPr id="13" name="Object 2"/>
          <p:cNvGraphicFramePr>
            <a:graphicFrameLocks noChangeAspect="1"/>
          </p:cNvGraphicFramePr>
          <p:nvPr>
            <p:extLst>
              <p:ext uri="{D42A27DB-BD31-4B8C-83A1-F6EECF244321}">
                <p14:modId xmlns:p14="http://schemas.microsoft.com/office/powerpoint/2010/main" val="2709911226"/>
              </p:ext>
            </p:extLst>
          </p:nvPr>
        </p:nvGraphicFramePr>
        <p:xfrm>
          <a:off x="407368" y="1844824"/>
          <a:ext cx="4006233" cy="2421976"/>
        </p:xfrm>
        <a:graphic>
          <a:graphicData uri="http://schemas.openxmlformats.org/presentationml/2006/ole">
            <mc:AlternateContent xmlns:mc="http://schemas.openxmlformats.org/markup-compatibility/2006">
              <mc:Choice xmlns:v="urn:schemas-microsoft-com:vml" Requires="v">
                <p:oleObj spid="_x0000_s40088" name="Equation" r:id="rId4" imgW="2184120" imgH="1320480" progId="Equation.DSMT4">
                  <p:embed/>
                </p:oleObj>
              </mc:Choice>
              <mc:Fallback>
                <p:oleObj name="Equation" r:id="rId4" imgW="2184120" imgH="1320480" progId="Equation.DSMT4">
                  <p:embed/>
                  <p:pic>
                    <p:nvPicPr>
                      <p:cNvPr id="0" name="Picture 1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368" y="1844824"/>
                        <a:ext cx="4006233" cy="24219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3"/>
          <p:cNvGraphicFramePr>
            <a:graphicFrameLocks noChangeAspect="1"/>
          </p:cNvGraphicFramePr>
          <p:nvPr>
            <p:extLst>
              <p:ext uri="{D42A27DB-BD31-4B8C-83A1-F6EECF244321}">
                <p14:modId xmlns:p14="http://schemas.microsoft.com/office/powerpoint/2010/main" val="3627207822"/>
              </p:ext>
            </p:extLst>
          </p:nvPr>
        </p:nvGraphicFramePr>
        <p:xfrm>
          <a:off x="4871864" y="1965500"/>
          <a:ext cx="2520280" cy="431681"/>
        </p:xfrm>
        <a:graphic>
          <a:graphicData uri="http://schemas.openxmlformats.org/presentationml/2006/ole">
            <mc:AlternateContent xmlns:mc="http://schemas.openxmlformats.org/markup-compatibility/2006">
              <mc:Choice xmlns:v="urn:schemas-microsoft-com:vml" Requires="v">
                <p:oleObj spid="_x0000_s40089" name="公式" r:id="rId6" imgW="1333500" imgH="228600" progId="Equation.3">
                  <p:embed/>
                </p:oleObj>
              </mc:Choice>
              <mc:Fallback>
                <p:oleObj name="公式" r:id="rId6" imgW="1333500" imgH="228600" progId="Equation.3">
                  <p:embed/>
                  <p:pic>
                    <p:nvPicPr>
                      <p:cNvPr id="0" name="Picture 14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71864" y="1965500"/>
                        <a:ext cx="2520280" cy="4316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p:cNvSpPr/>
          <p:nvPr/>
        </p:nvSpPr>
        <p:spPr>
          <a:xfrm>
            <a:off x="387162" y="1921717"/>
            <a:ext cx="7056784" cy="648072"/>
          </a:xfrm>
          <a:prstGeom prst="rect">
            <a:avLst/>
          </a:prstGeom>
          <a:ln w="31750">
            <a:solidFill>
              <a:srgbClr val="FF0000"/>
            </a:solidFill>
          </a:ln>
        </p:spPr>
        <p:txBody>
          <a:bodyPr wrap="none" rtlCol="0" anchor="ctr">
            <a:spAutoFit/>
          </a:bodyPr>
          <a:lstStyle/>
          <a:p>
            <a:pPr algn="ctr"/>
            <a:endParaRPr lang="zh-CN" altLang="en-US" sz="2400" kern="100" dirty="0">
              <a:ea typeface="宋体"/>
              <a:cs typeface="Times New Roman"/>
            </a:endParaRPr>
          </a:p>
        </p:txBody>
      </p:sp>
    </p:spTree>
    <p:extLst>
      <p:ext uri="{BB962C8B-B14F-4D97-AF65-F5344CB8AC3E}">
        <p14:creationId xmlns:p14="http://schemas.microsoft.com/office/powerpoint/2010/main" val="14337817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45</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04132" y="1177588"/>
            <a:ext cx="7007046"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从单变量正态分布函数到多元正态分布函数</a:t>
            </a:r>
          </a:p>
        </p:txBody>
      </p:sp>
      <p:grpSp>
        <p:nvGrpSpPr>
          <p:cNvPr id="11" name="组合 10"/>
          <p:cNvGrpSpPr/>
          <p:nvPr/>
        </p:nvGrpSpPr>
        <p:grpSpPr>
          <a:xfrm>
            <a:off x="670452" y="2058767"/>
            <a:ext cx="5393870" cy="725711"/>
            <a:chOff x="1016196" y="1888690"/>
            <a:chExt cx="5393870" cy="725711"/>
          </a:xfrm>
        </p:grpSpPr>
        <p:sp>
          <p:nvSpPr>
            <p:cNvPr id="16" name="矩形 9"/>
            <p:cNvSpPr>
              <a:spLocks noChangeArrowheads="1"/>
            </p:cNvSpPr>
            <p:nvPr/>
          </p:nvSpPr>
          <p:spPr bwMode="auto">
            <a:xfrm rot="1790813">
              <a:off x="4459211" y="1997238"/>
              <a:ext cx="1950855" cy="369332"/>
            </a:xfrm>
            <a:prstGeom prst="rect">
              <a:avLst/>
            </a:prstGeom>
            <a:noFill/>
            <a:ln w="9525">
              <a:noFill/>
              <a:miter lim="800000"/>
              <a:headEnd/>
              <a:tailEnd/>
            </a:ln>
          </p:spPr>
          <p:txBody>
            <a:bodyPr wrap="none">
              <a:spAutoFit/>
            </a:bodyPr>
            <a:lstStyle/>
            <a:p>
              <a:pPr marL="457200" indent="-457200">
                <a:tabLst>
                  <a:tab pos="1370013" algn="l"/>
                </a:tabLst>
              </a:pPr>
              <a:r>
                <a:rPr lang="en-US" altLang="zh-CN" b="1" dirty="0">
                  <a:ea typeface="宋体" charset="-122"/>
                </a:rPr>
                <a:t>Univariate Density</a:t>
              </a:r>
            </a:p>
          </p:txBody>
        </p:sp>
        <p:graphicFrame>
          <p:nvGraphicFramePr>
            <p:cNvPr id="17" name="Object 2"/>
            <p:cNvGraphicFramePr>
              <a:graphicFrameLocks noChangeAspect="1"/>
            </p:cNvGraphicFramePr>
            <p:nvPr>
              <p:extLst>
                <p:ext uri="{D42A27DB-BD31-4B8C-83A1-F6EECF244321}">
                  <p14:modId xmlns:p14="http://schemas.microsoft.com/office/powerpoint/2010/main" val="2676375724"/>
                </p:ext>
              </p:extLst>
            </p:nvPr>
          </p:nvGraphicFramePr>
          <p:xfrm>
            <a:off x="1016196" y="1888690"/>
            <a:ext cx="3411788" cy="725711"/>
          </p:xfrm>
          <a:graphic>
            <a:graphicData uri="http://schemas.openxmlformats.org/presentationml/2006/ole">
              <mc:AlternateContent xmlns:mc="http://schemas.openxmlformats.org/markup-compatibility/2006">
                <mc:Choice xmlns:v="urn:schemas-microsoft-com:vml" Requires="v">
                  <p:oleObj spid="_x0000_s41260" name="Equation" r:id="rId4" imgW="1968500" imgH="419100" progId="Equation.DSMT4">
                    <p:embed/>
                  </p:oleObj>
                </mc:Choice>
                <mc:Fallback>
                  <p:oleObj name="Equation" r:id="rId4" imgW="1968500" imgH="419100" progId="Equation.DSMT4">
                    <p:embed/>
                    <p:pic>
                      <p:nvPicPr>
                        <p:cNvPr id="0" name="Picture 28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6196" y="1888690"/>
                          <a:ext cx="3411788" cy="725711"/>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8" name="组合 17"/>
          <p:cNvGrpSpPr/>
          <p:nvPr/>
        </p:nvGrpSpPr>
        <p:grpSpPr>
          <a:xfrm>
            <a:off x="560942" y="4344781"/>
            <a:ext cx="11072258" cy="1423898"/>
            <a:chOff x="906686" y="4174704"/>
            <a:chExt cx="11072258" cy="1423898"/>
          </a:xfrm>
        </p:grpSpPr>
        <p:sp>
          <p:nvSpPr>
            <p:cNvPr id="19" name="下箭头 18"/>
            <p:cNvSpPr/>
            <p:nvPr/>
          </p:nvSpPr>
          <p:spPr>
            <a:xfrm>
              <a:off x="2532286" y="4174704"/>
              <a:ext cx="484188" cy="526638"/>
            </a:xfrm>
            <a:prstGeom prst="downArrow">
              <a:avLst/>
            </a:prstGeom>
            <a:solidFill>
              <a:srgbClr val="66CCFF"/>
            </a:solidFill>
            <a:ln>
              <a:solidFill>
                <a:srgbClr val="66CC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CC"/>
                </a:solidFill>
                <a:ea typeface="宋体" pitchFamily="2" charset="-122"/>
              </a:endParaRPr>
            </a:p>
          </p:txBody>
        </p:sp>
        <p:sp>
          <p:nvSpPr>
            <p:cNvPr id="20" name="矩形 19"/>
            <p:cNvSpPr>
              <a:spLocks noChangeArrowheads="1"/>
            </p:cNvSpPr>
            <p:nvPr/>
          </p:nvSpPr>
          <p:spPr bwMode="auto">
            <a:xfrm>
              <a:off x="3203848" y="4250134"/>
              <a:ext cx="2194512" cy="369332"/>
            </a:xfrm>
            <a:prstGeom prst="rect">
              <a:avLst/>
            </a:prstGeom>
            <a:noFill/>
            <a:ln w="9525">
              <a:noFill/>
              <a:miter lim="800000"/>
              <a:headEnd/>
              <a:tailEnd/>
            </a:ln>
          </p:spPr>
          <p:txBody>
            <a:bodyPr wrap="none">
              <a:spAutoFit/>
            </a:bodyPr>
            <a:lstStyle/>
            <a:p>
              <a:pPr marL="457200" indent="-457200">
                <a:tabLst>
                  <a:tab pos="1370013" algn="l"/>
                </a:tabLst>
              </a:pPr>
              <a:r>
                <a:rPr lang="en-US" altLang="zh-CN" b="1" dirty="0">
                  <a:ea typeface="宋体" charset="-122"/>
                </a:rPr>
                <a:t>Multivariate Density</a:t>
              </a:r>
            </a:p>
          </p:txBody>
        </p:sp>
        <p:graphicFrame>
          <p:nvGraphicFramePr>
            <p:cNvPr id="21" name="Object 4"/>
            <p:cNvGraphicFramePr>
              <a:graphicFrameLocks noChangeAspect="1"/>
            </p:cNvGraphicFramePr>
            <p:nvPr>
              <p:extLst>
                <p:ext uri="{D42A27DB-BD31-4B8C-83A1-F6EECF244321}">
                  <p14:modId xmlns:p14="http://schemas.microsoft.com/office/powerpoint/2010/main" val="927898898"/>
                </p:ext>
              </p:extLst>
            </p:nvPr>
          </p:nvGraphicFramePr>
          <p:xfrm>
            <a:off x="906686" y="4826198"/>
            <a:ext cx="6113586" cy="772404"/>
          </p:xfrm>
          <a:graphic>
            <a:graphicData uri="http://schemas.openxmlformats.org/presentationml/2006/ole">
              <mc:AlternateContent xmlns:mc="http://schemas.openxmlformats.org/markup-compatibility/2006">
                <mc:Choice xmlns:v="urn:schemas-microsoft-com:vml" Requires="v">
                  <p:oleObj spid="_x0000_s41261" name="Equation" r:id="rId6" imgW="3225800" imgH="431800" progId="Equation.DSMT4">
                    <p:embed/>
                  </p:oleObj>
                </mc:Choice>
                <mc:Fallback>
                  <p:oleObj name="Equation" r:id="rId6" imgW="3225800" imgH="431800" progId="Equation.DSMT4">
                    <p:embed/>
                    <p:pic>
                      <p:nvPicPr>
                        <p:cNvPr id="0" name="Picture 28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6686" y="4826198"/>
                          <a:ext cx="6113586" cy="772404"/>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5"/>
            <p:cNvGraphicFramePr>
              <a:graphicFrameLocks noChangeAspect="1"/>
            </p:cNvGraphicFramePr>
            <p:nvPr>
              <p:extLst>
                <p:ext uri="{D42A27DB-BD31-4B8C-83A1-F6EECF244321}">
                  <p14:modId xmlns:p14="http://schemas.microsoft.com/office/powerpoint/2010/main" val="426314372"/>
                </p:ext>
              </p:extLst>
            </p:nvPr>
          </p:nvGraphicFramePr>
          <p:xfrm>
            <a:off x="7372019" y="5008406"/>
            <a:ext cx="4606925" cy="407987"/>
          </p:xfrm>
          <a:graphic>
            <a:graphicData uri="http://schemas.openxmlformats.org/presentationml/2006/ole">
              <mc:AlternateContent xmlns:mc="http://schemas.openxmlformats.org/markup-compatibility/2006">
                <mc:Choice xmlns:v="urn:schemas-microsoft-com:vml" Requires="v">
                  <p:oleObj spid="_x0000_s41262" name="Equation" r:id="rId8" imgW="2857320" imgH="253800" progId="Equation.DSMT4">
                    <p:embed/>
                  </p:oleObj>
                </mc:Choice>
                <mc:Fallback>
                  <p:oleObj name="Equation" r:id="rId8" imgW="2857320" imgH="253800" progId="Equation.DSMT4">
                    <p:embed/>
                    <p:pic>
                      <p:nvPicPr>
                        <p:cNvPr id="0" name="Picture 28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72019" y="5008406"/>
                          <a:ext cx="4606925" cy="407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3" name="组合 22"/>
          <p:cNvGrpSpPr/>
          <p:nvPr/>
        </p:nvGrpSpPr>
        <p:grpSpPr>
          <a:xfrm>
            <a:off x="605393" y="2908043"/>
            <a:ext cx="7793896" cy="1274948"/>
            <a:chOff x="951137" y="2737966"/>
            <a:chExt cx="7793896" cy="1274948"/>
          </a:xfrm>
        </p:grpSpPr>
        <p:sp>
          <p:nvSpPr>
            <p:cNvPr id="24" name="下箭头 23"/>
            <p:cNvSpPr/>
            <p:nvPr/>
          </p:nvSpPr>
          <p:spPr>
            <a:xfrm>
              <a:off x="2516411" y="2737966"/>
              <a:ext cx="484188" cy="477837"/>
            </a:xfrm>
            <a:prstGeom prst="downArrow">
              <a:avLst/>
            </a:prstGeom>
            <a:solidFill>
              <a:srgbClr val="66CCFF"/>
            </a:solidFill>
            <a:ln>
              <a:solidFill>
                <a:srgbClr val="66CC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CC"/>
                </a:solidFill>
                <a:ea typeface="宋体" pitchFamily="2" charset="-122"/>
              </a:endParaRPr>
            </a:p>
          </p:txBody>
        </p:sp>
        <p:graphicFrame>
          <p:nvGraphicFramePr>
            <p:cNvPr id="25" name="Object 3"/>
            <p:cNvGraphicFramePr>
              <a:graphicFrameLocks noChangeAspect="1"/>
            </p:cNvGraphicFramePr>
            <p:nvPr>
              <p:extLst>
                <p:ext uri="{D42A27DB-BD31-4B8C-83A1-F6EECF244321}">
                  <p14:modId xmlns:p14="http://schemas.microsoft.com/office/powerpoint/2010/main" val="1643979169"/>
                </p:ext>
              </p:extLst>
            </p:nvPr>
          </p:nvGraphicFramePr>
          <p:xfrm>
            <a:off x="951137" y="3317454"/>
            <a:ext cx="5853112" cy="695460"/>
          </p:xfrm>
          <a:graphic>
            <a:graphicData uri="http://schemas.openxmlformats.org/presentationml/2006/ole">
              <mc:AlternateContent xmlns:mc="http://schemas.openxmlformats.org/markup-compatibility/2006">
                <mc:Choice xmlns:v="urn:schemas-microsoft-com:vml" Requires="v">
                  <p:oleObj spid="_x0000_s41263" name="Equation" r:id="rId10" imgW="3314700" imgH="393700" progId="Equation.DSMT4">
                    <p:embed/>
                  </p:oleObj>
                </mc:Choice>
                <mc:Fallback>
                  <p:oleObj name="Equation" r:id="rId10" imgW="3314700" imgH="393700" progId="Equation.DSMT4">
                    <p:embed/>
                    <p:pic>
                      <p:nvPicPr>
                        <p:cNvPr id="0" name="Picture 28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51137" y="3317454"/>
                          <a:ext cx="5853112" cy="69546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矩形 25"/>
            <p:cNvSpPr/>
            <p:nvPr/>
          </p:nvSpPr>
          <p:spPr>
            <a:xfrm rot="1790813">
              <a:off x="6794178" y="3515241"/>
              <a:ext cx="1950855" cy="369332"/>
            </a:xfrm>
            <a:prstGeom prst="rect">
              <a:avLst/>
            </a:prstGeom>
          </p:spPr>
          <p:txBody>
            <a:bodyPr wrap="none">
              <a:spAutoFit/>
            </a:bodyPr>
            <a:lstStyle/>
            <a:p>
              <a:pPr marL="457200" indent="-457200">
                <a:tabLst>
                  <a:tab pos="1370013" algn="l"/>
                </a:tabLst>
              </a:pPr>
              <a:r>
                <a:rPr lang="en-US" altLang="zh-CN" b="1" dirty="0">
                  <a:ea typeface="宋体" charset="-122"/>
                </a:rPr>
                <a:t>Univariate Density</a:t>
              </a:r>
            </a:p>
          </p:txBody>
        </p:sp>
      </p:grpSp>
    </p:spTree>
    <p:extLst>
      <p:ext uri="{BB962C8B-B14F-4D97-AF65-F5344CB8AC3E}">
        <p14:creationId xmlns:p14="http://schemas.microsoft.com/office/powerpoint/2010/main" val="35363550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4"/>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46</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100033"/>
            <a:ext cx="3057247"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多元正态分布函数</a:t>
            </a:r>
          </a:p>
        </p:txBody>
      </p:sp>
      <p:graphicFrame>
        <p:nvGraphicFramePr>
          <p:cNvPr id="28" name="Object 3"/>
          <p:cNvGraphicFramePr>
            <a:graphicFrameLocks noChangeAspect="1"/>
          </p:cNvGraphicFramePr>
          <p:nvPr>
            <p:extLst>
              <p:ext uri="{D42A27DB-BD31-4B8C-83A1-F6EECF244321}">
                <p14:modId xmlns:p14="http://schemas.microsoft.com/office/powerpoint/2010/main" val="2954630232"/>
              </p:ext>
            </p:extLst>
          </p:nvPr>
        </p:nvGraphicFramePr>
        <p:xfrm>
          <a:off x="375732" y="1681238"/>
          <a:ext cx="7952516" cy="1421214"/>
        </p:xfrm>
        <a:graphic>
          <a:graphicData uri="http://schemas.openxmlformats.org/presentationml/2006/ole">
            <mc:AlternateContent xmlns:mc="http://schemas.openxmlformats.org/markup-compatibility/2006">
              <mc:Choice xmlns:v="urn:schemas-microsoft-com:vml" Requires="v">
                <p:oleObj spid="_x0000_s42212" name="Equation" r:id="rId5" imgW="4292600" imgH="812800" progId="Equation.DSMT4">
                  <p:embed/>
                </p:oleObj>
              </mc:Choice>
              <mc:Fallback>
                <p:oleObj name="Equation" r:id="rId5" imgW="4292600" imgH="812800" progId="Equation.DSMT4">
                  <p:embed/>
                  <p:pic>
                    <p:nvPicPr>
                      <p:cNvPr id="0" name="Picture 2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5732" y="1681238"/>
                        <a:ext cx="7952516" cy="14212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4"/>
          <p:cNvGraphicFramePr>
            <a:graphicFrameLocks noChangeAspect="1"/>
          </p:cNvGraphicFramePr>
          <p:nvPr>
            <p:extLst>
              <p:ext uri="{D42A27DB-BD31-4B8C-83A1-F6EECF244321}">
                <p14:modId xmlns:p14="http://schemas.microsoft.com/office/powerpoint/2010/main" val="2703780986"/>
              </p:ext>
            </p:extLst>
          </p:nvPr>
        </p:nvGraphicFramePr>
        <p:xfrm>
          <a:off x="119336" y="3102452"/>
          <a:ext cx="12298089" cy="3141663"/>
        </p:xfrm>
        <a:graphic>
          <a:graphicData uri="http://schemas.openxmlformats.org/presentationml/2006/ole">
            <mc:AlternateContent xmlns:mc="http://schemas.openxmlformats.org/markup-compatibility/2006">
              <mc:Choice xmlns:v="urn:schemas-microsoft-com:vml" Requires="v">
                <p:oleObj spid="_x0000_s42213" name="Equation" r:id="rId7" imgW="6692760" imgH="1752480" progId="Equation.DSMT4">
                  <p:embed/>
                </p:oleObj>
              </mc:Choice>
              <mc:Fallback>
                <p:oleObj name="Equation" r:id="rId7" imgW="6692760" imgH="1752480" progId="Equation.DSMT4">
                  <p:embed/>
                  <p:pic>
                    <p:nvPicPr>
                      <p:cNvPr id="0" name="Picture 2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9336" y="3102452"/>
                        <a:ext cx="12298089" cy="3141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Object 5"/>
          <p:cNvGraphicFramePr>
            <a:graphicFrameLocks noChangeAspect="1"/>
          </p:cNvGraphicFramePr>
          <p:nvPr>
            <p:extLst>
              <p:ext uri="{D42A27DB-BD31-4B8C-83A1-F6EECF244321}">
                <p14:modId xmlns:p14="http://schemas.microsoft.com/office/powerpoint/2010/main" val="3820301376"/>
              </p:ext>
            </p:extLst>
          </p:nvPr>
        </p:nvGraphicFramePr>
        <p:xfrm>
          <a:off x="6456040" y="1896625"/>
          <a:ext cx="2006600" cy="407988"/>
        </p:xfrm>
        <a:graphic>
          <a:graphicData uri="http://schemas.openxmlformats.org/presentationml/2006/ole">
            <mc:AlternateContent xmlns:mc="http://schemas.openxmlformats.org/markup-compatibility/2006">
              <mc:Choice xmlns:v="urn:schemas-microsoft-com:vml" Requires="v">
                <p:oleObj spid="_x0000_s42214" name="Equation" r:id="rId9" imgW="1244520" imgH="253800" progId="Equation.DSMT4">
                  <p:embed/>
                </p:oleObj>
              </mc:Choice>
              <mc:Fallback>
                <p:oleObj name="Equation" r:id="rId9" imgW="1244520" imgH="253800" progId="Equation.DSMT4">
                  <p:embed/>
                  <p:pic>
                    <p:nvPicPr>
                      <p:cNvPr id="0" name="Picture 2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56040" y="1896625"/>
                        <a:ext cx="2006600" cy="407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矩形 44"/>
          <p:cNvSpPr/>
          <p:nvPr/>
        </p:nvSpPr>
        <p:spPr>
          <a:xfrm>
            <a:off x="407368" y="1681238"/>
            <a:ext cx="8280920" cy="811658"/>
          </a:xfrm>
          <a:prstGeom prst="rect">
            <a:avLst/>
          </a:prstGeom>
          <a:ln w="31750">
            <a:solidFill>
              <a:srgbClr val="FF0000"/>
            </a:solidFill>
          </a:ln>
        </p:spPr>
        <p:txBody>
          <a:bodyPr wrap="none" rtlCol="0" anchor="ctr">
            <a:spAutoFit/>
          </a:bodyPr>
          <a:lstStyle/>
          <a:p>
            <a:pPr algn="ctr"/>
            <a:endParaRPr lang="zh-CN" altLang="en-US" sz="2400" kern="100" dirty="0">
              <a:ea typeface="宋体"/>
              <a:cs typeface="Times New Roman"/>
            </a:endParaRPr>
          </a:p>
        </p:txBody>
      </p:sp>
    </p:spTree>
    <p:extLst>
      <p:ext uri="{BB962C8B-B14F-4D97-AF65-F5344CB8AC3E}">
        <p14:creationId xmlns:p14="http://schemas.microsoft.com/office/powerpoint/2010/main" val="36291553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47</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100033"/>
            <a:ext cx="3057247"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多元正态分布函数</a:t>
            </a:r>
          </a:p>
        </p:txBody>
      </p:sp>
      <p:grpSp>
        <p:nvGrpSpPr>
          <p:cNvPr id="2" name="组合 1"/>
          <p:cNvGrpSpPr/>
          <p:nvPr/>
        </p:nvGrpSpPr>
        <p:grpSpPr>
          <a:xfrm>
            <a:off x="4511824" y="983139"/>
            <a:ext cx="7344816" cy="755726"/>
            <a:chOff x="407368" y="1681238"/>
            <a:chExt cx="8280920" cy="873967"/>
          </a:xfrm>
        </p:grpSpPr>
        <p:graphicFrame>
          <p:nvGraphicFramePr>
            <p:cNvPr id="28" name="Object 3"/>
            <p:cNvGraphicFramePr>
              <a:graphicFrameLocks noChangeAspect="1"/>
            </p:cNvGraphicFramePr>
            <p:nvPr>
              <p:extLst>
                <p:ext uri="{D42A27DB-BD31-4B8C-83A1-F6EECF244321}">
                  <p14:modId xmlns:p14="http://schemas.microsoft.com/office/powerpoint/2010/main" val="619325955"/>
                </p:ext>
              </p:extLst>
            </p:nvPr>
          </p:nvGraphicFramePr>
          <p:xfrm>
            <a:off x="416918" y="1712243"/>
            <a:ext cx="5740400" cy="842962"/>
          </p:xfrm>
          <a:graphic>
            <a:graphicData uri="http://schemas.openxmlformats.org/presentationml/2006/ole">
              <mc:AlternateContent xmlns:mc="http://schemas.openxmlformats.org/markup-compatibility/2006">
                <mc:Choice xmlns:v="urn:schemas-microsoft-com:vml" Requires="v">
                  <p:oleObj spid="_x0000_s45562" name="Equation" r:id="rId4" imgW="3098520" imgH="482400" progId="Equation.DSMT4">
                    <p:embed/>
                  </p:oleObj>
                </mc:Choice>
                <mc:Fallback>
                  <p:oleObj name="Equation" r:id="rId4" imgW="3098520" imgH="482400" progId="Equation.DSMT4">
                    <p:embed/>
                    <p:pic>
                      <p:nvPicPr>
                        <p:cNvPr id="0" name="Picture 47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6918" y="1712243"/>
                          <a:ext cx="5740400" cy="842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Object 5"/>
            <p:cNvGraphicFramePr>
              <a:graphicFrameLocks noChangeAspect="1"/>
            </p:cNvGraphicFramePr>
            <p:nvPr>
              <p:extLst>
                <p:ext uri="{D42A27DB-BD31-4B8C-83A1-F6EECF244321}">
                  <p14:modId xmlns:p14="http://schemas.microsoft.com/office/powerpoint/2010/main" val="2983859221"/>
                </p:ext>
              </p:extLst>
            </p:nvPr>
          </p:nvGraphicFramePr>
          <p:xfrm>
            <a:off x="6456039" y="1896624"/>
            <a:ext cx="2006599" cy="407987"/>
          </p:xfrm>
          <a:graphic>
            <a:graphicData uri="http://schemas.openxmlformats.org/presentationml/2006/ole">
              <mc:AlternateContent xmlns:mc="http://schemas.openxmlformats.org/markup-compatibility/2006">
                <mc:Choice xmlns:v="urn:schemas-microsoft-com:vml" Requires="v">
                  <p:oleObj spid="_x0000_s45563" name="Equation" r:id="rId6" imgW="1244520" imgH="253800" progId="Equation.DSMT4">
                    <p:embed/>
                  </p:oleObj>
                </mc:Choice>
                <mc:Fallback>
                  <p:oleObj name="Equation" r:id="rId6" imgW="1244520" imgH="253800" progId="Equation.DSMT4">
                    <p:embed/>
                    <p:pic>
                      <p:nvPicPr>
                        <p:cNvPr id="0" name="Picture 47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56039" y="1896624"/>
                          <a:ext cx="2006599" cy="407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矩形 44"/>
            <p:cNvSpPr/>
            <p:nvPr/>
          </p:nvSpPr>
          <p:spPr>
            <a:xfrm>
              <a:off x="407368" y="1681238"/>
              <a:ext cx="8280920" cy="811658"/>
            </a:xfrm>
            <a:prstGeom prst="rect">
              <a:avLst/>
            </a:prstGeom>
            <a:ln w="31750">
              <a:solidFill>
                <a:srgbClr val="FF0000"/>
              </a:solidFill>
            </a:ln>
          </p:spPr>
          <p:txBody>
            <a:bodyPr wrap="none" rtlCol="0" anchor="ctr">
              <a:spAutoFit/>
            </a:bodyPr>
            <a:lstStyle/>
            <a:p>
              <a:pPr algn="ctr"/>
              <a:endParaRPr lang="zh-CN" altLang="en-US" sz="2400" kern="100" dirty="0">
                <a:ea typeface="宋体"/>
                <a:cs typeface="Times New Roman"/>
              </a:endParaRPr>
            </a:p>
          </p:txBody>
        </p:sp>
      </p:grpSp>
      <p:graphicFrame>
        <p:nvGraphicFramePr>
          <p:cNvPr id="11" name="Object 2"/>
          <p:cNvGraphicFramePr>
            <a:graphicFrameLocks noChangeAspect="1"/>
          </p:cNvGraphicFramePr>
          <p:nvPr>
            <p:extLst>
              <p:ext uri="{D42A27DB-BD31-4B8C-83A1-F6EECF244321}">
                <p14:modId xmlns:p14="http://schemas.microsoft.com/office/powerpoint/2010/main" val="1743762787"/>
              </p:ext>
            </p:extLst>
          </p:nvPr>
        </p:nvGraphicFramePr>
        <p:xfrm>
          <a:off x="370446" y="1911679"/>
          <a:ext cx="6680200" cy="993775"/>
        </p:xfrm>
        <a:graphic>
          <a:graphicData uri="http://schemas.openxmlformats.org/presentationml/2006/ole">
            <mc:AlternateContent xmlns:mc="http://schemas.openxmlformats.org/markup-compatibility/2006">
              <mc:Choice xmlns:v="urn:schemas-microsoft-com:vml" Requires="v">
                <p:oleObj spid="_x0000_s45564" name="Equation" r:id="rId8" imgW="2971800" imgH="495300" progId="Equation.DSMT4">
                  <p:embed/>
                </p:oleObj>
              </mc:Choice>
              <mc:Fallback>
                <p:oleObj name="Equation" r:id="rId8" imgW="2971800" imgH="495300" progId="Equation.DSMT4">
                  <p:embed/>
                  <p:pic>
                    <p:nvPicPr>
                      <p:cNvPr id="0" name="Picture 48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0446" y="1911679"/>
                        <a:ext cx="6680200" cy="993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3"/>
          <p:cNvGraphicFramePr>
            <a:graphicFrameLocks noChangeAspect="1"/>
          </p:cNvGraphicFramePr>
          <p:nvPr>
            <p:extLst>
              <p:ext uri="{D42A27DB-BD31-4B8C-83A1-F6EECF244321}">
                <p14:modId xmlns:p14="http://schemas.microsoft.com/office/powerpoint/2010/main" val="3213363857"/>
              </p:ext>
            </p:extLst>
          </p:nvPr>
        </p:nvGraphicFramePr>
        <p:xfrm>
          <a:off x="403201" y="3065990"/>
          <a:ext cx="8264525" cy="671513"/>
        </p:xfrm>
        <a:graphic>
          <a:graphicData uri="http://schemas.openxmlformats.org/presentationml/2006/ole">
            <mc:AlternateContent xmlns:mc="http://schemas.openxmlformats.org/markup-compatibility/2006">
              <mc:Choice xmlns:v="urn:schemas-microsoft-com:vml" Requires="v">
                <p:oleObj spid="_x0000_s45565" name="Equation" r:id="rId10" imgW="3835080" imgH="330120" progId="Equation.DSMT4">
                  <p:embed/>
                </p:oleObj>
              </mc:Choice>
              <mc:Fallback>
                <p:oleObj name="Equation" r:id="rId10" imgW="3835080" imgH="330120" progId="Equation.DSMT4">
                  <p:embed/>
                  <p:pic>
                    <p:nvPicPr>
                      <p:cNvPr id="0" name="Picture 48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3201" y="3065990"/>
                        <a:ext cx="8264525" cy="671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4"/>
          <p:cNvGraphicFramePr>
            <a:graphicFrameLocks noChangeAspect="1"/>
          </p:cNvGraphicFramePr>
          <p:nvPr>
            <p:extLst>
              <p:ext uri="{D42A27DB-BD31-4B8C-83A1-F6EECF244321}">
                <p14:modId xmlns:p14="http://schemas.microsoft.com/office/powerpoint/2010/main" val="1837186121"/>
              </p:ext>
            </p:extLst>
          </p:nvPr>
        </p:nvGraphicFramePr>
        <p:xfrm>
          <a:off x="352694" y="3795762"/>
          <a:ext cx="8736013" cy="641350"/>
        </p:xfrm>
        <a:graphic>
          <a:graphicData uri="http://schemas.openxmlformats.org/presentationml/2006/ole">
            <mc:AlternateContent xmlns:mc="http://schemas.openxmlformats.org/markup-compatibility/2006">
              <mc:Choice xmlns:v="urn:schemas-microsoft-com:vml" Requires="v">
                <p:oleObj spid="_x0000_s45566" name="Equation" r:id="rId12" imgW="4495680" imgH="330120" progId="Equation.DSMT4">
                  <p:embed/>
                </p:oleObj>
              </mc:Choice>
              <mc:Fallback>
                <p:oleObj name="Equation" r:id="rId12" imgW="4495680" imgH="330120" progId="Equation.DSMT4">
                  <p:embed/>
                  <p:pic>
                    <p:nvPicPr>
                      <p:cNvPr id="0" name="Picture 48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2694" y="3795762"/>
                        <a:ext cx="87360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5"/>
          <p:cNvGraphicFramePr>
            <a:graphicFrameLocks noChangeAspect="1"/>
          </p:cNvGraphicFramePr>
          <p:nvPr>
            <p:extLst>
              <p:ext uri="{D42A27DB-BD31-4B8C-83A1-F6EECF244321}">
                <p14:modId xmlns:p14="http://schemas.microsoft.com/office/powerpoint/2010/main" val="3854915159"/>
              </p:ext>
            </p:extLst>
          </p:nvPr>
        </p:nvGraphicFramePr>
        <p:xfrm>
          <a:off x="6805613" y="4581525"/>
          <a:ext cx="2814637" cy="1428750"/>
        </p:xfrm>
        <a:graphic>
          <a:graphicData uri="http://schemas.openxmlformats.org/presentationml/2006/ole">
            <mc:AlternateContent xmlns:mc="http://schemas.openxmlformats.org/markup-compatibility/2006">
              <mc:Choice xmlns:v="urn:schemas-microsoft-com:vml" Requires="v">
                <p:oleObj spid="_x0000_s45567" name="Equation" r:id="rId14" imgW="1650960" imgH="939600" progId="Equation.DSMT4">
                  <p:embed/>
                </p:oleObj>
              </mc:Choice>
              <mc:Fallback>
                <p:oleObj name="Equation" r:id="rId14" imgW="1650960" imgH="939600" progId="Equation.DSMT4">
                  <p:embed/>
                  <p:pic>
                    <p:nvPicPr>
                      <p:cNvPr id="0" name="Picture 48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805613" y="4581525"/>
                        <a:ext cx="2814637" cy="14287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6"/>
          <p:cNvGraphicFramePr>
            <a:graphicFrameLocks noChangeAspect="1"/>
          </p:cNvGraphicFramePr>
          <p:nvPr>
            <p:extLst>
              <p:ext uri="{D42A27DB-BD31-4B8C-83A1-F6EECF244321}">
                <p14:modId xmlns:p14="http://schemas.microsoft.com/office/powerpoint/2010/main" val="958700213"/>
              </p:ext>
            </p:extLst>
          </p:nvPr>
        </p:nvGraphicFramePr>
        <p:xfrm>
          <a:off x="413001" y="5040063"/>
          <a:ext cx="5993879" cy="1220384"/>
        </p:xfrm>
        <a:graphic>
          <a:graphicData uri="http://schemas.openxmlformats.org/presentationml/2006/ole">
            <mc:AlternateContent xmlns:mc="http://schemas.openxmlformats.org/markup-compatibility/2006">
              <mc:Choice xmlns:v="urn:schemas-microsoft-com:vml" Requires="v">
                <p:oleObj spid="_x0000_s45568" name="Equation" r:id="rId16" imgW="2781000" imgH="634680" progId="Equation.DSMT4">
                  <p:embed/>
                </p:oleObj>
              </mc:Choice>
              <mc:Fallback>
                <p:oleObj name="Equation" r:id="rId16" imgW="2781000" imgH="634680" progId="Equation.DSMT4">
                  <p:embed/>
                  <p:pic>
                    <p:nvPicPr>
                      <p:cNvPr id="0" name="Picture 48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3001" y="5040063"/>
                        <a:ext cx="5993879" cy="12203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右箭头 16"/>
          <p:cNvSpPr/>
          <p:nvPr/>
        </p:nvSpPr>
        <p:spPr>
          <a:xfrm flipH="1">
            <a:off x="5758767" y="5206076"/>
            <a:ext cx="648113" cy="263239"/>
          </a:xfrm>
          <a:prstGeom prst="rightArrow">
            <a:avLst/>
          </a:prstGeom>
          <a:solidFill>
            <a:srgbClr val="66CCFF"/>
          </a:solidFill>
          <a:ln>
            <a:solidFill>
              <a:srgbClr val="66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66793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48</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100033"/>
            <a:ext cx="4134465"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多元正态分布函数的性质</a:t>
            </a:r>
          </a:p>
        </p:txBody>
      </p:sp>
      <p:grpSp>
        <p:nvGrpSpPr>
          <p:cNvPr id="2" name="组合 1"/>
          <p:cNvGrpSpPr/>
          <p:nvPr/>
        </p:nvGrpSpPr>
        <p:grpSpPr>
          <a:xfrm>
            <a:off x="4511824" y="983139"/>
            <a:ext cx="7344816" cy="755726"/>
            <a:chOff x="407368" y="1681238"/>
            <a:chExt cx="8280920" cy="873967"/>
          </a:xfrm>
        </p:grpSpPr>
        <p:graphicFrame>
          <p:nvGraphicFramePr>
            <p:cNvPr id="28" name="Object 3"/>
            <p:cNvGraphicFramePr>
              <a:graphicFrameLocks noChangeAspect="1"/>
            </p:cNvGraphicFramePr>
            <p:nvPr/>
          </p:nvGraphicFramePr>
          <p:xfrm>
            <a:off x="416918" y="1712243"/>
            <a:ext cx="5740400" cy="842962"/>
          </p:xfrm>
          <a:graphic>
            <a:graphicData uri="http://schemas.openxmlformats.org/presentationml/2006/ole">
              <mc:AlternateContent xmlns:mc="http://schemas.openxmlformats.org/markup-compatibility/2006">
                <mc:Choice xmlns:v="urn:schemas-microsoft-com:vml" Requires="v">
                  <p:oleObj spid="_x0000_s47682" name="Equation" r:id="rId4" imgW="3098520" imgH="482400" progId="Equation.DSMT4">
                    <p:embed/>
                  </p:oleObj>
                </mc:Choice>
                <mc:Fallback>
                  <p:oleObj name="Equation" r:id="rId4" imgW="3098520" imgH="482400" progId="Equation.DSMT4">
                    <p:embed/>
                    <p:pic>
                      <p:nvPicPr>
                        <p:cNvPr id="0" name="Picture 54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6918" y="1712243"/>
                          <a:ext cx="5740400" cy="842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Object 5"/>
            <p:cNvGraphicFramePr>
              <a:graphicFrameLocks noChangeAspect="1"/>
            </p:cNvGraphicFramePr>
            <p:nvPr/>
          </p:nvGraphicFramePr>
          <p:xfrm>
            <a:off x="6456039" y="1896624"/>
            <a:ext cx="2006599" cy="407987"/>
          </p:xfrm>
          <a:graphic>
            <a:graphicData uri="http://schemas.openxmlformats.org/presentationml/2006/ole">
              <mc:AlternateContent xmlns:mc="http://schemas.openxmlformats.org/markup-compatibility/2006">
                <mc:Choice xmlns:v="urn:schemas-microsoft-com:vml" Requires="v">
                  <p:oleObj spid="_x0000_s47683" name="Equation" r:id="rId6" imgW="1244520" imgH="253800" progId="Equation.DSMT4">
                    <p:embed/>
                  </p:oleObj>
                </mc:Choice>
                <mc:Fallback>
                  <p:oleObj name="Equation" r:id="rId6" imgW="1244520" imgH="253800" progId="Equation.DSMT4">
                    <p:embed/>
                    <p:pic>
                      <p:nvPicPr>
                        <p:cNvPr id="0" name="Picture 54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56039" y="1896624"/>
                          <a:ext cx="2006599" cy="407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矩形 44"/>
            <p:cNvSpPr/>
            <p:nvPr/>
          </p:nvSpPr>
          <p:spPr>
            <a:xfrm>
              <a:off x="407368" y="1681238"/>
              <a:ext cx="8280920" cy="811658"/>
            </a:xfrm>
            <a:prstGeom prst="rect">
              <a:avLst/>
            </a:prstGeom>
            <a:ln w="31750">
              <a:solidFill>
                <a:srgbClr val="FF0000"/>
              </a:solidFill>
            </a:ln>
          </p:spPr>
          <p:txBody>
            <a:bodyPr wrap="none" rtlCol="0" anchor="ctr">
              <a:spAutoFit/>
            </a:bodyPr>
            <a:lstStyle/>
            <a:p>
              <a:pPr algn="ctr"/>
              <a:endParaRPr lang="zh-CN" altLang="en-US" sz="2400" kern="100" dirty="0">
                <a:ea typeface="宋体"/>
                <a:cs typeface="Times New Roman"/>
              </a:endParaRPr>
            </a:p>
          </p:txBody>
        </p:sp>
      </p:grpSp>
      <p:sp>
        <p:nvSpPr>
          <p:cNvPr id="18" name="内容占位符 2"/>
          <p:cNvSpPr>
            <a:spLocks noGrp="1"/>
          </p:cNvSpPr>
          <p:nvPr>
            <p:ph idx="1"/>
          </p:nvPr>
        </p:nvSpPr>
        <p:spPr>
          <a:xfrm>
            <a:off x="325657" y="1983556"/>
            <a:ext cx="11530983" cy="2500330"/>
          </a:xfrm>
        </p:spPr>
        <p:txBody>
          <a:bodyPr/>
          <a:lstStyle/>
          <a:p>
            <a:pPr>
              <a:lnSpc>
                <a:spcPct val="130000"/>
              </a:lnSpc>
              <a:spcBef>
                <a:spcPts val="0"/>
              </a:spcBef>
              <a:buFontTx/>
              <a:buNone/>
            </a:pPr>
            <a:r>
              <a:rPr lang="en-US" altLang="zh-CN" sz="2200" b="1" dirty="0">
                <a:solidFill>
                  <a:srgbClr val="FF0000"/>
                </a:solidFill>
                <a:latin typeface="Times New Roman" panose="02020603050405020304" pitchFamily="18" charset="0"/>
                <a:ea typeface="黑体" panose="02010609060101010101" pitchFamily="49" charset="-122"/>
              </a:rPr>
              <a:t>①</a:t>
            </a:r>
            <a:r>
              <a:rPr lang="zh-CN" altLang="en-US" sz="2200" b="1" dirty="0">
                <a:solidFill>
                  <a:srgbClr val="FF0000"/>
                </a:solidFill>
                <a:latin typeface="Times New Roman" panose="02020603050405020304" pitchFamily="18" charset="0"/>
                <a:ea typeface="黑体" panose="02010609060101010101" pitchFamily="49" charset="-122"/>
              </a:rPr>
              <a:t> 参数 </a:t>
            </a:r>
            <a:r>
              <a:rPr lang="en-US" altLang="zh-CN" sz="2200" b="1" dirty="0">
                <a:solidFill>
                  <a:srgbClr val="FF0000"/>
                </a:solidFill>
                <a:latin typeface="Times New Roman" panose="02020603050405020304" pitchFamily="18" charset="0"/>
                <a:ea typeface="黑体" panose="02010609060101010101" pitchFamily="49" charset="-122"/>
              </a:rPr>
              <a:t>µ </a:t>
            </a:r>
            <a:r>
              <a:rPr lang="zh-CN" altLang="en-US" sz="2200" b="1" dirty="0">
                <a:solidFill>
                  <a:srgbClr val="FF0000"/>
                </a:solidFill>
                <a:latin typeface="Times New Roman" panose="02020603050405020304" pitchFamily="18" charset="0"/>
                <a:ea typeface="黑体" panose="02010609060101010101" pitchFamily="49" charset="-122"/>
              </a:rPr>
              <a:t>和 </a:t>
            </a:r>
            <a:r>
              <a:rPr lang="el-GR" altLang="zh-CN" sz="2200" b="1" dirty="0">
                <a:solidFill>
                  <a:srgbClr val="FF0000"/>
                </a:solidFill>
                <a:latin typeface="Times New Roman" panose="02020603050405020304" pitchFamily="18" charset="0"/>
                <a:ea typeface="黑体" panose="02010609060101010101" pitchFamily="49" charset="-122"/>
              </a:rPr>
              <a:t>Σ</a:t>
            </a:r>
            <a:r>
              <a:rPr lang="zh-CN" altLang="en-US" sz="2200" b="1" dirty="0">
                <a:solidFill>
                  <a:srgbClr val="FF0000"/>
                </a:solidFill>
                <a:latin typeface="Times New Roman" panose="02020603050405020304" pitchFamily="18" charset="0"/>
                <a:ea typeface="黑体" panose="02010609060101010101" pitchFamily="49" charset="-122"/>
              </a:rPr>
              <a:t>决定分布形状</a:t>
            </a:r>
          </a:p>
          <a:p>
            <a:pPr>
              <a:lnSpc>
                <a:spcPct val="130000"/>
              </a:lnSpc>
              <a:spcBef>
                <a:spcPts val="600"/>
              </a:spcBef>
              <a:buFontTx/>
              <a:buNone/>
            </a:pPr>
            <a:r>
              <a:rPr lang="zh-CN" altLang="en-US" sz="2200" dirty="0">
                <a:latin typeface="Times New Roman" panose="02020603050405020304" pitchFamily="18" charset="0"/>
                <a:ea typeface="黑体" panose="02010609060101010101" pitchFamily="49" charset="-122"/>
              </a:rPr>
              <a:t>    多元正态分布由</a:t>
            </a:r>
            <a:r>
              <a:rPr lang="en-US" altLang="zh-CN" sz="2200" dirty="0">
                <a:solidFill>
                  <a:srgbClr val="FF0000"/>
                </a:solidFill>
                <a:latin typeface="Times New Roman" panose="02020603050405020304" pitchFamily="18" charset="0"/>
                <a:ea typeface="黑体" panose="02010609060101010101" pitchFamily="49" charset="-122"/>
              </a:rPr>
              <a:t>µ</a:t>
            </a:r>
            <a:r>
              <a:rPr lang="en-US" altLang="zh-CN" sz="2200"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和 </a:t>
            </a:r>
            <a:r>
              <a:rPr lang="el-GR" altLang="zh-CN" sz="2200" dirty="0">
                <a:solidFill>
                  <a:srgbClr val="FF0000"/>
                </a:solidFill>
                <a:latin typeface="Times New Roman" panose="02020603050405020304" pitchFamily="18" charset="0"/>
                <a:ea typeface="黑体" panose="02010609060101010101" pitchFamily="49" charset="-122"/>
              </a:rPr>
              <a:t>Σ</a:t>
            </a:r>
            <a:r>
              <a:rPr lang="zh-CN" altLang="en-US" sz="2200" dirty="0">
                <a:latin typeface="Times New Roman" panose="02020603050405020304" pitchFamily="18" charset="0"/>
                <a:ea typeface="黑体" panose="02010609060101010101" pitchFamily="49" charset="-122"/>
              </a:rPr>
              <a:t>完全确定，具体包括 </a:t>
            </a:r>
            <a:r>
              <a:rPr lang="en-US" altLang="zh-CN" sz="2200" i="1" dirty="0" err="1">
                <a:latin typeface="Times New Roman" panose="02020603050405020304" pitchFamily="18" charset="0"/>
                <a:ea typeface="黑体" panose="02010609060101010101" pitchFamily="49" charset="-122"/>
              </a:rPr>
              <a:t>d</a:t>
            </a:r>
            <a:r>
              <a:rPr lang="en-US" altLang="zh-CN" sz="2200" dirty="0" err="1">
                <a:latin typeface="Times New Roman" panose="02020603050405020304" pitchFamily="18" charset="0"/>
                <a:ea typeface="黑体" panose="02010609060101010101" pitchFamily="49" charset="-122"/>
              </a:rPr>
              <a:t>+</a:t>
            </a:r>
            <a:r>
              <a:rPr lang="en-US" altLang="zh-CN" sz="2200" i="1" dirty="0" err="1">
                <a:latin typeface="Times New Roman" panose="02020603050405020304" pitchFamily="18" charset="0"/>
                <a:ea typeface="黑体" panose="02010609060101010101" pitchFamily="49" charset="-122"/>
              </a:rPr>
              <a:t>d</a:t>
            </a:r>
            <a:r>
              <a:rPr lang="en-US" altLang="zh-CN" sz="2200" dirty="0">
                <a:latin typeface="Times New Roman" panose="02020603050405020304" pitchFamily="18" charset="0"/>
                <a:ea typeface="黑体" panose="02010609060101010101" pitchFamily="49" charset="-122"/>
              </a:rPr>
              <a:t>(</a:t>
            </a:r>
            <a:r>
              <a:rPr lang="en-US" altLang="zh-CN" sz="2200" i="1" dirty="0">
                <a:latin typeface="Times New Roman" panose="02020603050405020304" pitchFamily="18" charset="0"/>
                <a:ea typeface="黑体" panose="02010609060101010101" pitchFamily="49" charset="-122"/>
              </a:rPr>
              <a:t>d</a:t>
            </a:r>
            <a:r>
              <a:rPr lang="en-US" altLang="zh-CN" sz="2200" dirty="0">
                <a:latin typeface="Times New Roman" panose="02020603050405020304" pitchFamily="18" charset="0"/>
                <a:ea typeface="黑体" panose="02010609060101010101" pitchFamily="49" charset="-122"/>
              </a:rPr>
              <a:t>+1)/2 </a:t>
            </a:r>
            <a:r>
              <a:rPr lang="zh-CN" altLang="en-US" sz="2200" dirty="0">
                <a:latin typeface="Times New Roman" panose="02020603050405020304" pitchFamily="18" charset="0"/>
                <a:ea typeface="黑体" panose="02010609060101010101" pitchFamily="49" charset="-122"/>
              </a:rPr>
              <a:t>个数目的参数，其中，</a:t>
            </a:r>
            <a:r>
              <a:rPr lang="en-US" altLang="zh-CN" sz="2200" i="1" dirty="0">
                <a:latin typeface="Times New Roman" panose="02020603050405020304" pitchFamily="18" charset="0"/>
                <a:ea typeface="黑体" panose="02010609060101010101" pitchFamily="49" charset="-122"/>
              </a:rPr>
              <a:t>d</a:t>
            </a:r>
            <a:r>
              <a:rPr lang="zh-CN" altLang="en-US" sz="2200" dirty="0">
                <a:latin typeface="Times New Roman" panose="02020603050405020304" pitchFamily="18" charset="0"/>
                <a:ea typeface="黑体" panose="02010609060101010101" pitchFamily="49" charset="-122"/>
              </a:rPr>
              <a:t>为均值 </a:t>
            </a:r>
            <a:r>
              <a:rPr lang="en-US" altLang="zh-CN" sz="2200" dirty="0">
                <a:latin typeface="Times New Roman" panose="02020603050405020304" pitchFamily="18" charset="0"/>
                <a:ea typeface="黑体" panose="02010609060101010101" pitchFamily="49" charset="-122"/>
              </a:rPr>
              <a:t>µ </a:t>
            </a:r>
            <a:r>
              <a:rPr lang="zh-CN" altLang="en-US" sz="2200" dirty="0">
                <a:latin typeface="Times New Roman" panose="02020603050405020304" pitchFamily="18" charset="0"/>
                <a:ea typeface="黑体" panose="02010609060101010101" pitchFamily="49" charset="-122"/>
              </a:rPr>
              <a:t>的分量数，</a:t>
            </a:r>
            <a:r>
              <a:rPr lang="en-US" altLang="zh-CN" sz="2200" i="1" dirty="0">
                <a:latin typeface="Times New Roman" panose="02020603050405020304" pitchFamily="18" charset="0"/>
                <a:ea typeface="黑体" panose="02010609060101010101" pitchFamily="49" charset="-122"/>
              </a:rPr>
              <a:t>d</a:t>
            </a:r>
            <a:r>
              <a:rPr lang="en-US" altLang="zh-CN" sz="2200" dirty="0">
                <a:latin typeface="Times New Roman" panose="02020603050405020304" pitchFamily="18" charset="0"/>
                <a:ea typeface="黑体" panose="02010609060101010101" pitchFamily="49" charset="-122"/>
              </a:rPr>
              <a:t>(</a:t>
            </a:r>
            <a:r>
              <a:rPr lang="en-US" altLang="zh-CN" sz="2200" i="1" dirty="0">
                <a:latin typeface="Times New Roman" panose="02020603050405020304" pitchFamily="18" charset="0"/>
                <a:ea typeface="黑体" panose="02010609060101010101" pitchFamily="49" charset="-122"/>
              </a:rPr>
              <a:t>d</a:t>
            </a:r>
            <a:r>
              <a:rPr lang="en-US" altLang="zh-CN" sz="2200" dirty="0">
                <a:latin typeface="Times New Roman" panose="02020603050405020304" pitchFamily="18" charset="0"/>
                <a:ea typeface="黑体" panose="02010609060101010101" pitchFamily="49" charset="-122"/>
              </a:rPr>
              <a:t>+1)/2</a:t>
            </a:r>
            <a:r>
              <a:rPr lang="zh-CN" altLang="en-US" sz="2200" dirty="0">
                <a:latin typeface="Times New Roman" panose="02020603050405020304" pitchFamily="18" charset="0"/>
                <a:ea typeface="黑体" panose="02010609060101010101" pitchFamily="49" charset="-122"/>
              </a:rPr>
              <a:t>为协方差 </a:t>
            </a:r>
            <a:r>
              <a:rPr lang="el-GR" altLang="zh-CN" sz="2200" dirty="0">
                <a:latin typeface="Times New Roman" panose="02020603050405020304" pitchFamily="18" charset="0"/>
                <a:ea typeface="黑体" panose="02010609060101010101" pitchFamily="49" charset="-122"/>
              </a:rPr>
              <a:t>Σ</a:t>
            </a:r>
            <a:r>
              <a:rPr lang="zh-CN" altLang="en-US" sz="2200" dirty="0">
                <a:latin typeface="Times New Roman" panose="02020603050405020304" pitchFamily="18" charset="0"/>
                <a:ea typeface="黑体" panose="02010609060101010101" pitchFamily="49" charset="-122"/>
              </a:rPr>
              <a:t> 的独立元素数。通常记为                         。</a:t>
            </a:r>
          </a:p>
          <a:p>
            <a:pPr>
              <a:lnSpc>
                <a:spcPct val="130000"/>
              </a:lnSpc>
              <a:spcBef>
                <a:spcPts val="0"/>
              </a:spcBef>
            </a:pPr>
            <a:endParaRPr lang="zh-CN" altLang="en-US" sz="2200" dirty="0">
              <a:latin typeface="Times New Roman" panose="02020603050405020304" pitchFamily="18" charset="0"/>
              <a:ea typeface="黑体" panose="02010609060101010101" pitchFamily="49" charset="-122"/>
            </a:endParaRPr>
          </a:p>
        </p:txBody>
      </p:sp>
      <p:graphicFrame>
        <p:nvGraphicFramePr>
          <p:cNvPr id="19" name="Object 2"/>
          <p:cNvGraphicFramePr>
            <a:graphicFrameLocks noChangeAspect="1"/>
          </p:cNvGraphicFramePr>
          <p:nvPr>
            <p:extLst>
              <p:ext uri="{D42A27DB-BD31-4B8C-83A1-F6EECF244321}">
                <p14:modId xmlns:p14="http://schemas.microsoft.com/office/powerpoint/2010/main" val="2140128558"/>
              </p:ext>
            </p:extLst>
          </p:nvPr>
        </p:nvGraphicFramePr>
        <p:xfrm>
          <a:off x="4044107" y="3540763"/>
          <a:ext cx="2087562" cy="417512"/>
        </p:xfrm>
        <a:graphic>
          <a:graphicData uri="http://schemas.openxmlformats.org/presentationml/2006/ole">
            <mc:AlternateContent xmlns:mc="http://schemas.openxmlformats.org/markup-compatibility/2006">
              <mc:Choice xmlns:v="urn:schemas-microsoft-com:vml" Requires="v">
                <p:oleObj spid="_x0000_s47684" name="公式" r:id="rId8" imgW="1016000" imgH="203200" progId="Equation.3">
                  <p:embed/>
                </p:oleObj>
              </mc:Choice>
              <mc:Fallback>
                <p:oleObj name="公式" r:id="rId8" imgW="1016000" imgH="203200" progId="Equation.3">
                  <p:embed/>
                  <p:pic>
                    <p:nvPicPr>
                      <p:cNvPr id="0" name="Picture 54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44107" y="3540763"/>
                        <a:ext cx="2087562" cy="41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矩形 19"/>
          <p:cNvSpPr/>
          <p:nvPr/>
        </p:nvSpPr>
        <p:spPr>
          <a:xfrm>
            <a:off x="325657" y="4127253"/>
            <a:ext cx="7510955" cy="1929759"/>
          </a:xfrm>
          <a:prstGeom prst="rect">
            <a:avLst/>
          </a:prstGeom>
        </p:spPr>
        <p:txBody>
          <a:bodyPr wrap="square">
            <a:spAutoFit/>
          </a:bodyPr>
          <a:lstStyle/>
          <a:p>
            <a:pPr>
              <a:lnSpc>
                <a:spcPct val="130000"/>
              </a:lnSpc>
              <a:spcBef>
                <a:spcPts val="0"/>
              </a:spcBef>
              <a:buFontTx/>
              <a:buNone/>
            </a:pPr>
            <a:r>
              <a:rPr lang="zh-CN" altLang="en-US" sz="2200" b="1" dirty="0">
                <a:solidFill>
                  <a:srgbClr val="FF0000"/>
                </a:solidFill>
                <a:latin typeface="Times New Roman" panose="02020603050405020304" pitchFamily="18" charset="0"/>
                <a:ea typeface="黑体" panose="02010609060101010101" pitchFamily="49" charset="-122"/>
              </a:rPr>
              <a:t>② 等概率密度点的轨迹为一超椭球面</a:t>
            </a:r>
            <a:endParaRPr lang="en-US" altLang="zh-CN" sz="2200" b="1" dirty="0">
              <a:solidFill>
                <a:srgbClr val="FF0000"/>
              </a:solidFill>
              <a:latin typeface="Times New Roman" panose="02020603050405020304" pitchFamily="18" charset="0"/>
              <a:ea typeface="黑体" panose="02010609060101010101" pitchFamily="49" charset="-122"/>
            </a:endParaRPr>
          </a:p>
          <a:p>
            <a:pPr>
              <a:lnSpc>
                <a:spcPct val="130000"/>
              </a:lnSpc>
              <a:spcBef>
                <a:spcPts val="600"/>
              </a:spcBef>
            </a:pPr>
            <a:r>
              <a:rPr lang="zh-CN" altLang="en-US" sz="2200" dirty="0">
                <a:latin typeface="Times New Roman" panose="02020603050405020304" pitchFamily="18" charset="0"/>
                <a:ea typeface="黑体" panose="02010609060101010101" pitchFamily="49" charset="-122"/>
              </a:rPr>
              <a:t>从正态分布总体中抽取的样本大部分落在以均值向量 </a:t>
            </a:r>
            <a:r>
              <a:rPr lang="en-US" altLang="zh-CN" sz="2200" dirty="0">
                <a:latin typeface="Times New Roman" panose="02020603050405020304" pitchFamily="18" charset="0"/>
                <a:ea typeface="黑体" panose="02010609060101010101" pitchFamily="49" charset="-122"/>
              </a:rPr>
              <a:t>µ</a:t>
            </a:r>
            <a:r>
              <a:rPr lang="zh-CN" altLang="en-US" sz="2200" dirty="0">
                <a:latin typeface="Times New Roman" panose="02020603050405020304" pitchFamily="18" charset="0"/>
                <a:ea typeface="黑体" panose="02010609060101010101" pitchFamily="49" charset="-122"/>
              </a:rPr>
              <a:t> 为中心，大小由协方差矩阵 </a:t>
            </a:r>
            <a:r>
              <a:rPr lang="el-GR" altLang="zh-CN" sz="2200" dirty="0">
                <a:latin typeface="Times New Roman" panose="02020603050405020304" pitchFamily="18" charset="0"/>
                <a:ea typeface="黑体" panose="02010609060101010101" pitchFamily="49" charset="-122"/>
              </a:rPr>
              <a:t>Σ</a:t>
            </a:r>
            <a:r>
              <a:rPr lang="zh-CN" altLang="en-US" sz="2200" dirty="0">
                <a:latin typeface="Times New Roman" panose="02020603050405020304" pitchFamily="18" charset="0"/>
                <a:ea typeface="黑体" panose="02010609060101010101" pitchFamily="49" charset="-122"/>
              </a:rPr>
              <a:t>确定的区域。该</a:t>
            </a:r>
            <a:r>
              <a:rPr lang="zh-CN" altLang="en-US" sz="2200" b="0" dirty="0">
                <a:solidFill>
                  <a:schemeClr val="tx1"/>
                </a:solidFill>
                <a:latin typeface="Times New Roman" panose="02020603050405020304" pitchFamily="18" charset="0"/>
                <a:ea typeface="黑体" panose="02010609060101010101" pitchFamily="49" charset="-122"/>
              </a:rPr>
              <a:t>区域中心由 </a:t>
            </a:r>
            <a:r>
              <a:rPr lang="en-US" altLang="zh-CN" sz="2200" b="0" dirty="0">
                <a:solidFill>
                  <a:schemeClr val="tx1"/>
                </a:solidFill>
                <a:latin typeface="Times New Roman" panose="02020603050405020304" pitchFamily="18" charset="0"/>
                <a:ea typeface="黑体" panose="02010609060101010101" pitchFamily="49" charset="-122"/>
                <a:cs typeface="Times New Roman" charset="0"/>
              </a:rPr>
              <a:t>μ </a:t>
            </a:r>
            <a:r>
              <a:rPr lang="zh-CN" altLang="en-US" sz="2200" b="0" dirty="0">
                <a:solidFill>
                  <a:schemeClr val="tx1"/>
                </a:solidFill>
                <a:latin typeface="Times New Roman" panose="02020603050405020304" pitchFamily="18" charset="0"/>
                <a:ea typeface="黑体" panose="02010609060101010101" pitchFamily="49" charset="-122"/>
              </a:rPr>
              <a:t>决定，区域形状由 </a:t>
            </a:r>
            <a:r>
              <a:rPr lang="el-GR" altLang="zh-CN" sz="2200" b="0" dirty="0">
                <a:solidFill>
                  <a:schemeClr val="tx1"/>
                </a:solidFill>
                <a:latin typeface="Times New Roman" panose="02020603050405020304" pitchFamily="18" charset="0"/>
                <a:ea typeface="黑体" panose="02010609060101010101" pitchFamily="49" charset="-122"/>
              </a:rPr>
              <a:t>Σ</a:t>
            </a:r>
            <a:r>
              <a:rPr lang="en-US" altLang="zh-CN" sz="2200" b="0" dirty="0">
                <a:solidFill>
                  <a:schemeClr val="tx1"/>
                </a:solidFill>
                <a:latin typeface="Times New Roman" panose="02020603050405020304" pitchFamily="18" charset="0"/>
                <a:ea typeface="黑体" panose="02010609060101010101" pitchFamily="49" charset="-122"/>
              </a:rPr>
              <a:t> </a:t>
            </a:r>
            <a:r>
              <a:rPr lang="zh-CN" altLang="en-US" sz="2200" b="0" dirty="0">
                <a:solidFill>
                  <a:schemeClr val="tx1"/>
                </a:solidFill>
                <a:latin typeface="Times New Roman" panose="02020603050405020304" pitchFamily="18" charset="0"/>
                <a:ea typeface="黑体" panose="02010609060101010101" pitchFamily="49" charset="-122"/>
              </a:rPr>
              <a:t>决定。</a:t>
            </a:r>
          </a:p>
        </p:txBody>
      </p:sp>
      <p:grpSp>
        <p:nvGrpSpPr>
          <p:cNvPr id="21" name="Group 37"/>
          <p:cNvGrpSpPr>
            <a:grpSpLocks/>
          </p:cNvGrpSpPr>
          <p:nvPr/>
        </p:nvGrpSpPr>
        <p:grpSpPr bwMode="auto">
          <a:xfrm>
            <a:off x="8439251" y="3667847"/>
            <a:ext cx="2874962" cy="2598738"/>
            <a:chOff x="3949" y="2544"/>
            <a:chExt cx="1811" cy="1637"/>
          </a:xfrm>
        </p:grpSpPr>
        <p:sp>
          <p:nvSpPr>
            <p:cNvPr id="22" name="Line 7"/>
            <p:cNvSpPr>
              <a:spLocks noChangeShapeType="1"/>
            </p:cNvSpPr>
            <p:nvPr/>
          </p:nvSpPr>
          <p:spPr bwMode="auto">
            <a:xfrm>
              <a:off x="4272" y="3936"/>
              <a:ext cx="1344" cy="0"/>
            </a:xfrm>
            <a:prstGeom prst="line">
              <a:avLst/>
            </a:prstGeom>
            <a:noFill/>
            <a:ln w="9525">
              <a:solidFill>
                <a:schemeClr val="tx1"/>
              </a:solidFill>
              <a:round/>
              <a:headEnd/>
              <a:tailEnd type="triangle" w="med" len="med"/>
            </a:ln>
            <a:effectLst/>
          </p:spPr>
          <p:txBody>
            <a:bodyPr/>
            <a:lstStyle/>
            <a:p>
              <a:pPr>
                <a:lnSpc>
                  <a:spcPct val="130000"/>
                </a:lnSpc>
                <a:spcBef>
                  <a:spcPts val="0"/>
                </a:spcBef>
              </a:pPr>
              <a:endParaRPr lang="zh-CN" altLang="en-US" sz="2200">
                <a:latin typeface="Times New Roman" panose="02020603050405020304" pitchFamily="18" charset="0"/>
                <a:ea typeface="黑体" panose="02010609060101010101" pitchFamily="49" charset="-122"/>
              </a:endParaRPr>
            </a:p>
          </p:txBody>
        </p:sp>
        <p:sp>
          <p:nvSpPr>
            <p:cNvPr id="23" name="Line 8"/>
            <p:cNvSpPr>
              <a:spLocks noChangeShapeType="1"/>
            </p:cNvSpPr>
            <p:nvPr/>
          </p:nvSpPr>
          <p:spPr bwMode="auto">
            <a:xfrm flipV="1">
              <a:off x="4272" y="2688"/>
              <a:ext cx="0" cy="1248"/>
            </a:xfrm>
            <a:prstGeom prst="line">
              <a:avLst/>
            </a:prstGeom>
            <a:noFill/>
            <a:ln w="9525">
              <a:solidFill>
                <a:schemeClr val="tx1"/>
              </a:solidFill>
              <a:round/>
              <a:headEnd/>
              <a:tailEnd type="triangle" w="med" len="med"/>
            </a:ln>
            <a:effectLst/>
          </p:spPr>
          <p:txBody>
            <a:bodyPr/>
            <a:lstStyle/>
            <a:p>
              <a:pPr>
                <a:lnSpc>
                  <a:spcPct val="130000"/>
                </a:lnSpc>
                <a:spcBef>
                  <a:spcPts val="0"/>
                </a:spcBef>
              </a:pPr>
              <a:endParaRPr lang="zh-CN" altLang="en-US" sz="2200">
                <a:latin typeface="Times New Roman" panose="02020603050405020304" pitchFamily="18" charset="0"/>
                <a:ea typeface="黑体" panose="02010609060101010101" pitchFamily="49" charset="-122"/>
              </a:endParaRPr>
            </a:p>
          </p:txBody>
        </p:sp>
        <p:grpSp>
          <p:nvGrpSpPr>
            <p:cNvPr id="24" name="Group 16"/>
            <p:cNvGrpSpPr>
              <a:grpSpLocks/>
            </p:cNvGrpSpPr>
            <p:nvPr/>
          </p:nvGrpSpPr>
          <p:grpSpPr bwMode="auto">
            <a:xfrm rot="-1613329">
              <a:off x="4656" y="2688"/>
              <a:ext cx="528" cy="1157"/>
              <a:chOff x="4704" y="3024"/>
              <a:chExt cx="528" cy="864"/>
            </a:xfrm>
          </p:grpSpPr>
          <p:sp>
            <p:nvSpPr>
              <p:cNvPr id="50" name="Oval 15"/>
              <p:cNvSpPr>
                <a:spLocks noChangeArrowheads="1"/>
              </p:cNvSpPr>
              <p:nvPr/>
            </p:nvSpPr>
            <p:spPr bwMode="auto">
              <a:xfrm>
                <a:off x="4704" y="3024"/>
                <a:ext cx="528" cy="864"/>
              </a:xfrm>
              <a:prstGeom prst="ellipse">
                <a:avLst/>
              </a:prstGeom>
              <a:solidFill>
                <a:srgbClr val="00FF00">
                  <a:alpha val="50000"/>
                </a:srgbClr>
              </a:solidFill>
              <a:ln w="9525">
                <a:solidFill>
                  <a:schemeClr val="tx1"/>
                </a:solidFill>
                <a:round/>
                <a:headEnd/>
                <a:tailEnd/>
              </a:ln>
              <a:effectLst/>
            </p:spPr>
            <p:txBody>
              <a:bodyPr wrap="none" anchor="ctr"/>
              <a:lstStyle/>
              <a:p>
                <a:pPr>
                  <a:lnSpc>
                    <a:spcPct val="130000"/>
                  </a:lnSpc>
                  <a:spcBef>
                    <a:spcPts val="0"/>
                  </a:spcBef>
                </a:pPr>
                <a:endParaRPr lang="zh-CN" altLang="en-US" sz="2200">
                  <a:latin typeface="Times New Roman" panose="02020603050405020304" pitchFamily="18" charset="0"/>
                  <a:ea typeface="黑体" panose="02010609060101010101" pitchFamily="49" charset="-122"/>
                </a:endParaRPr>
              </a:p>
            </p:txBody>
          </p:sp>
          <p:sp>
            <p:nvSpPr>
              <p:cNvPr id="51" name="Oval 13"/>
              <p:cNvSpPr>
                <a:spLocks noChangeArrowheads="1"/>
              </p:cNvSpPr>
              <p:nvPr/>
            </p:nvSpPr>
            <p:spPr bwMode="auto">
              <a:xfrm>
                <a:off x="4800" y="3120"/>
                <a:ext cx="336" cy="672"/>
              </a:xfrm>
              <a:prstGeom prst="ellipse">
                <a:avLst/>
              </a:prstGeom>
              <a:solidFill>
                <a:srgbClr val="3366FF">
                  <a:alpha val="50000"/>
                </a:srgbClr>
              </a:solidFill>
              <a:ln w="9525">
                <a:solidFill>
                  <a:schemeClr val="tx1"/>
                </a:solidFill>
                <a:round/>
                <a:headEnd/>
                <a:tailEnd/>
              </a:ln>
              <a:effectLst/>
            </p:spPr>
            <p:txBody>
              <a:bodyPr wrap="none" anchor="ctr"/>
              <a:lstStyle/>
              <a:p>
                <a:pPr>
                  <a:lnSpc>
                    <a:spcPct val="130000"/>
                  </a:lnSpc>
                  <a:spcBef>
                    <a:spcPts val="0"/>
                  </a:spcBef>
                </a:pPr>
                <a:endParaRPr lang="zh-CN" altLang="en-US" sz="2200">
                  <a:latin typeface="Times New Roman" panose="02020603050405020304" pitchFamily="18" charset="0"/>
                  <a:ea typeface="黑体" panose="02010609060101010101" pitchFamily="49" charset="-122"/>
                </a:endParaRPr>
              </a:p>
            </p:txBody>
          </p:sp>
          <p:sp>
            <p:nvSpPr>
              <p:cNvPr id="52" name="Oval 11" descr="10%"/>
              <p:cNvSpPr>
                <a:spLocks noChangeArrowheads="1"/>
              </p:cNvSpPr>
              <p:nvPr/>
            </p:nvSpPr>
            <p:spPr bwMode="auto">
              <a:xfrm>
                <a:off x="4848" y="3264"/>
                <a:ext cx="240" cy="384"/>
              </a:xfrm>
              <a:prstGeom prst="ellipse">
                <a:avLst/>
              </a:prstGeom>
              <a:pattFill prst="pct10">
                <a:fgClr>
                  <a:schemeClr val="accent1"/>
                </a:fgClr>
                <a:bgClr>
                  <a:schemeClr val="bg1"/>
                </a:bgClr>
              </a:pattFill>
              <a:ln w="9525">
                <a:solidFill>
                  <a:schemeClr val="tx1"/>
                </a:solidFill>
                <a:round/>
                <a:headEnd/>
                <a:tailEnd/>
              </a:ln>
              <a:effectLst/>
            </p:spPr>
            <p:txBody>
              <a:bodyPr wrap="none" anchor="ctr"/>
              <a:lstStyle/>
              <a:p>
                <a:pPr>
                  <a:lnSpc>
                    <a:spcPct val="130000"/>
                  </a:lnSpc>
                  <a:spcBef>
                    <a:spcPts val="0"/>
                  </a:spcBef>
                </a:pPr>
                <a:endParaRPr lang="zh-CN" altLang="en-US" sz="2200">
                  <a:latin typeface="Times New Roman" panose="02020603050405020304" pitchFamily="18" charset="0"/>
                  <a:ea typeface="黑体" panose="02010609060101010101" pitchFamily="49" charset="-122"/>
                </a:endParaRPr>
              </a:p>
            </p:txBody>
          </p:sp>
        </p:grpSp>
        <p:sp>
          <p:nvSpPr>
            <p:cNvPr id="25" name="Line 9"/>
            <p:cNvSpPr>
              <a:spLocks noChangeShapeType="1"/>
            </p:cNvSpPr>
            <p:nvPr/>
          </p:nvSpPr>
          <p:spPr bwMode="auto">
            <a:xfrm flipV="1">
              <a:off x="4272" y="3264"/>
              <a:ext cx="672" cy="672"/>
            </a:xfrm>
            <a:prstGeom prst="line">
              <a:avLst/>
            </a:prstGeom>
            <a:noFill/>
            <a:ln w="9525">
              <a:solidFill>
                <a:schemeClr val="tx1"/>
              </a:solidFill>
              <a:round/>
              <a:headEnd/>
              <a:tailEnd type="triangle" w="med" len="med"/>
            </a:ln>
            <a:effectLst/>
          </p:spPr>
          <p:txBody>
            <a:bodyPr/>
            <a:lstStyle/>
            <a:p>
              <a:pPr>
                <a:lnSpc>
                  <a:spcPct val="130000"/>
                </a:lnSpc>
                <a:spcBef>
                  <a:spcPts val="0"/>
                </a:spcBef>
              </a:pPr>
              <a:endParaRPr lang="zh-CN" altLang="en-US" sz="2200">
                <a:latin typeface="Times New Roman" panose="02020603050405020304" pitchFamily="18" charset="0"/>
                <a:ea typeface="黑体" panose="02010609060101010101" pitchFamily="49" charset="-122"/>
              </a:endParaRPr>
            </a:p>
          </p:txBody>
        </p:sp>
        <p:graphicFrame>
          <p:nvGraphicFramePr>
            <p:cNvPr id="26" name="Object 17"/>
            <p:cNvGraphicFramePr>
              <a:graphicFrameLocks noChangeAspect="1"/>
            </p:cNvGraphicFramePr>
            <p:nvPr/>
          </p:nvGraphicFramePr>
          <p:xfrm>
            <a:off x="4441" y="3546"/>
            <a:ext cx="215" cy="150"/>
          </p:xfrm>
          <a:graphic>
            <a:graphicData uri="http://schemas.openxmlformats.org/presentationml/2006/ole">
              <mc:AlternateContent xmlns:mc="http://schemas.openxmlformats.org/markup-compatibility/2006">
                <mc:Choice xmlns:v="urn:schemas-microsoft-com:vml" Requires="v">
                  <p:oleObj spid="_x0000_s47685" name="Equation" r:id="rId10" imgW="126780" imgH="164814" progId="Equation.3">
                    <p:embed/>
                  </p:oleObj>
                </mc:Choice>
                <mc:Fallback>
                  <p:oleObj name="Equation" r:id="rId10" imgW="126780" imgH="164814" progId="Equation.3">
                    <p:embed/>
                    <p:pic>
                      <p:nvPicPr>
                        <p:cNvPr id="0" name="Picture 54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41" y="3546"/>
                          <a:ext cx="215" cy="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Oval 18"/>
            <p:cNvSpPr>
              <a:spLocks noChangeArrowheads="1"/>
            </p:cNvSpPr>
            <p:nvPr/>
          </p:nvSpPr>
          <p:spPr bwMode="auto">
            <a:xfrm flipH="1">
              <a:off x="4752" y="3024"/>
              <a:ext cx="48" cy="48"/>
            </a:xfrm>
            <a:prstGeom prst="ellipse">
              <a:avLst/>
            </a:prstGeom>
            <a:solidFill>
              <a:schemeClr val="accent1"/>
            </a:solidFill>
            <a:ln w="9525">
              <a:solidFill>
                <a:schemeClr val="tx1"/>
              </a:solidFill>
              <a:round/>
              <a:headEnd/>
              <a:tailEnd/>
            </a:ln>
            <a:effectLst/>
          </p:spPr>
          <p:txBody>
            <a:bodyPr wrap="none" anchor="ctr"/>
            <a:lstStyle/>
            <a:p>
              <a:pPr>
                <a:lnSpc>
                  <a:spcPct val="130000"/>
                </a:lnSpc>
                <a:spcBef>
                  <a:spcPts val="0"/>
                </a:spcBef>
              </a:pPr>
              <a:endParaRPr lang="zh-CN" altLang="en-US" sz="2200">
                <a:latin typeface="Times New Roman" panose="02020603050405020304" pitchFamily="18" charset="0"/>
                <a:ea typeface="黑体" panose="02010609060101010101" pitchFamily="49" charset="-122"/>
              </a:endParaRPr>
            </a:p>
          </p:txBody>
        </p:sp>
        <p:graphicFrame>
          <p:nvGraphicFramePr>
            <p:cNvPr id="29" name="Object 19"/>
            <p:cNvGraphicFramePr>
              <a:graphicFrameLocks noChangeAspect="1"/>
            </p:cNvGraphicFramePr>
            <p:nvPr/>
          </p:nvGraphicFramePr>
          <p:xfrm>
            <a:off x="3949" y="3120"/>
            <a:ext cx="323" cy="197"/>
          </p:xfrm>
          <a:graphic>
            <a:graphicData uri="http://schemas.openxmlformats.org/presentationml/2006/ole">
              <mc:AlternateContent xmlns:mc="http://schemas.openxmlformats.org/markup-compatibility/2006">
                <mc:Choice xmlns:v="urn:schemas-microsoft-com:vml" Requires="v">
                  <p:oleObj spid="_x0000_s47686" name="Equation" r:id="rId12" imgW="190335" imgH="215713" progId="Equation.3">
                    <p:embed/>
                  </p:oleObj>
                </mc:Choice>
                <mc:Fallback>
                  <p:oleObj name="Equation" r:id="rId12" imgW="190335" imgH="215713" progId="Equation.3">
                    <p:embed/>
                    <p:pic>
                      <p:nvPicPr>
                        <p:cNvPr id="0" name="Picture 55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49" y="3120"/>
                          <a:ext cx="323" cy="1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Object 20"/>
            <p:cNvGraphicFramePr>
              <a:graphicFrameLocks noChangeAspect="1"/>
            </p:cNvGraphicFramePr>
            <p:nvPr/>
          </p:nvGraphicFramePr>
          <p:xfrm>
            <a:off x="4809" y="3984"/>
            <a:ext cx="279" cy="197"/>
          </p:xfrm>
          <a:graphic>
            <a:graphicData uri="http://schemas.openxmlformats.org/presentationml/2006/ole">
              <mc:AlternateContent xmlns:mc="http://schemas.openxmlformats.org/markup-compatibility/2006">
                <mc:Choice xmlns:v="urn:schemas-microsoft-com:vml" Requires="v">
                  <p:oleObj spid="_x0000_s47687" name="Equation" r:id="rId14" imgW="164885" imgH="215619" progId="Equation.3">
                    <p:embed/>
                  </p:oleObj>
                </mc:Choice>
                <mc:Fallback>
                  <p:oleObj name="Equation" r:id="rId14" imgW="164885" imgH="215619" progId="Equation.3">
                    <p:embed/>
                    <p:pic>
                      <p:nvPicPr>
                        <p:cNvPr id="0" name="Picture 55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809" y="3984"/>
                          <a:ext cx="279" cy="1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Line 21"/>
            <p:cNvSpPr>
              <a:spLocks noChangeShapeType="1"/>
            </p:cNvSpPr>
            <p:nvPr/>
          </p:nvSpPr>
          <p:spPr bwMode="auto">
            <a:xfrm flipV="1">
              <a:off x="4944" y="3888"/>
              <a:ext cx="0" cy="48"/>
            </a:xfrm>
            <a:prstGeom prst="line">
              <a:avLst/>
            </a:prstGeom>
            <a:noFill/>
            <a:ln w="9525">
              <a:solidFill>
                <a:schemeClr val="tx1"/>
              </a:solidFill>
              <a:round/>
              <a:headEnd/>
              <a:tailEnd/>
            </a:ln>
            <a:effectLst/>
          </p:spPr>
          <p:txBody>
            <a:bodyPr/>
            <a:lstStyle/>
            <a:p>
              <a:pPr>
                <a:lnSpc>
                  <a:spcPct val="130000"/>
                </a:lnSpc>
                <a:spcBef>
                  <a:spcPts val="0"/>
                </a:spcBef>
              </a:pPr>
              <a:endParaRPr lang="zh-CN" altLang="en-US" sz="2200">
                <a:latin typeface="Times New Roman" panose="02020603050405020304" pitchFamily="18" charset="0"/>
                <a:ea typeface="黑体" panose="02010609060101010101" pitchFamily="49" charset="-122"/>
              </a:endParaRPr>
            </a:p>
          </p:txBody>
        </p:sp>
        <p:sp>
          <p:nvSpPr>
            <p:cNvPr id="32" name="Line 22"/>
            <p:cNvSpPr>
              <a:spLocks noChangeShapeType="1"/>
            </p:cNvSpPr>
            <p:nvPr/>
          </p:nvSpPr>
          <p:spPr bwMode="auto">
            <a:xfrm>
              <a:off x="4272" y="3264"/>
              <a:ext cx="48" cy="0"/>
            </a:xfrm>
            <a:prstGeom prst="line">
              <a:avLst/>
            </a:prstGeom>
            <a:noFill/>
            <a:ln w="9525">
              <a:solidFill>
                <a:schemeClr val="tx1"/>
              </a:solidFill>
              <a:round/>
              <a:headEnd/>
              <a:tailEnd/>
            </a:ln>
            <a:effectLst/>
          </p:spPr>
          <p:txBody>
            <a:bodyPr/>
            <a:lstStyle/>
            <a:p>
              <a:pPr>
                <a:lnSpc>
                  <a:spcPct val="130000"/>
                </a:lnSpc>
                <a:spcBef>
                  <a:spcPts val="0"/>
                </a:spcBef>
              </a:pPr>
              <a:endParaRPr lang="zh-CN" altLang="en-US" sz="2200">
                <a:latin typeface="Times New Roman" panose="02020603050405020304" pitchFamily="18" charset="0"/>
                <a:ea typeface="黑体" panose="02010609060101010101" pitchFamily="49" charset="-122"/>
              </a:endParaRPr>
            </a:p>
          </p:txBody>
        </p:sp>
        <p:graphicFrame>
          <p:nvGraphicFramePr>
            <p:cNvPr id="33" name="Object 23"/>
            <p:cNvGraphicFramePr>
              <a:graphicFrameLocks noChangeAspect="1"/>
            </p:cNvGraphicFramePr>
            <p:nvPr/>
          </p:nvGraphicFramePr>
          <p:xfrm>
            <a:off x="5416" y="3984"/>
            <a:ext cx="344" cy="196"/>
          </p:xfrm>
          <a:graphic>
            <a:graphicData uri="http://schemas.openxmlformats.org/presentationml/2006/ole">
              <mc:AlternateContent xmlns:mc="http://schemas.openxmlformats.org/markup-compatibility/2006">
                <mc:Choice xmlns:v="urn:schemas-microsoft-com:vml" Requires="v">
                  <p:oleObj spid="_x0000_s47688" name="Equation" r:id="rId16" imgW="203024" imgH="215713" progId="Equation.3">
                    <p:embed/>
                  </p:oleObj>
                </mc:Choice>
                <mc:Fallback>
                  <p:oleObj name="Equation" r:id="rId16" imgW="203024" imgH="215713" progId="Equation.3">
                    <p:embed/>
                    <p:pic>
                      <p:nvPicPr>
                        <p:cNvPr id="0" name="Picture 55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416" y="3984"/>
                          <a:ext cx="344" cy="1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Object 24"/>
            <p:cNvGraphicFramePr>
              <a:graphicFrameLocks noChangeAspect="1"/>
            </p:cNvGraphicFramePr>
            <p:nvPr/>
          </p:nvGraphicFramePr>
          <p:xfrm>
            <a:off x="4272" y="2544"/>
            <a:ext cx="366" cy="196"/>
          </p:xfrm>
          <a:graphic>
            <a:graphicData uri="http://schemas.openxmlformats.org/presentationml/2006/ole">
              <mc:AlternateContent xmlns:mc="http://schemas.openxmlformats.org/markup-compatibility/2006">
                <mc:Choice xmlns:v="urn:schemas-microsoft-com:vml" Requires="v">
                  <p:oleObj spid="_x0000_s47689" name="Equation" r:id="rId18" imgW="215619" imgH="215619" progId="Equation.3">
                    <p:embed/>
                  </p:oleObj>
                </mc:Choice>
                <mc:Fallback>
                  <p:oleObj name="Equation" r:id="rId18" imgW="215619" imgH="215619" progId="Equation.3">
                    <p:embed/>
                    <p:pic>
                      <p:nvPicPr>
                        <p:cNvPr id="0" name="Picture 55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272" y="2544"/>
                          <a:ext cx="366" cy="1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 name="Oval 25"/>
            <p:cNvSpPr>
              <a:spLocks noChangeArrowheads="1"/>
            </p:cNvSpPr>
            <p:nvPr/>
          </p:nvSpPr>
          <p:spPr bwMode="auto">
            <a:xfrm flipH="1">
              <a:off x="4944" y="3360"/>
              <a:ext cx="48" cy="48"/>
            </a:xfrm>
            <a:prstGeom prst="ellipse">
              <a:avLst/>
            </a:prstGeom>
            <a:solidFill>
              <a:schemeClr val="accent1"/>
            </a:solidFill>
            <a:ln w="9525">
              <a:solidFill>
                <a:schemeClr val="tx1"/>
              </a:solidFill>
              <a:round/>
              <a:headEnd/>
              <a:tailEnd/>
            </a:ln>
            <a:effectLst/>
          </p:spPr>
          <p:txBody>
            <a:bodyPr wrap="none" anchor="ctr"/>
            <a:lstStyle/>
            <a:p>
              <a:pPr>
                <a:lnSpc>
                  <a:spcPct val="130000"/>
                </a:lnSpc>
                <a:spcBef>
                  <a:spcPts val="0"/>
                </a:spcBef>
              </a:pPr>
              <a:endParaRPr lang="zh-CN" altLang="en-US" sz="2200">
                <a:latin typeface="Times New Roman" panose="02020603050405020304" pitchFamily="18" charset="0"/>
                <a:ea typeface="黑体" panose="02010609060101010101" pitchFamily="49" charset="-122"/>
              </a:endParaRPr>
            </a:p>
          </p:txBody>
        </p:sp>
        <p:sp>
          <p:nvSpPr>
            <p:cNvPr id="36" name="Oval 26"/>
            <p:cNvSpPr>
              <a:spLocks noChangeArrowheads="1"/>
            </p:cNvSpPr>
            <p:nvPr/>
          </p:nvSpPr>
          <p:spPr bwMode="auto">
            <a:xfrm flipH="1">
              <a:off x="4944" y="3072"/>
              <a:ext cx="48" cy="48"/>
            </a:xfrm>
            <a:prstGeom prst="ellipse">
              <a:avLst/>
            </a:prstGeom>
            <a:solidFill>
              <a:schemeClr val="accent1"/>
            </a:solidFill>
            <a:ln w="9525">
              <a:solidFill>
                <a:schemeClr val="tx1"/>
              </a:solidFill>
              <a:round/>
              <a:headEnd/>
              <a:tailEnd/>
            </a:ln>
            <a:effectLst/>
          </p:spPr>
          <p:txBody>
            <a:bodyPr wrap="none" anchor="ctr"/>
            <a:lstStyle/>
            <a:p>
              <a:pPr>
                <a:lnSpc>
                  <a:spcPct val="130000"/>
                </a:lnSpc>
                <a:spcBef>
                  <a:spcPts val="0"/>
                </a:spcBef>
              </a:pPr>
              <a:endParaRPr lang="zh-CN" altLang="en-US" sz="2200">
                <a:latin typeface="Times New Roman" panose="02020603050405020304" pitchFamily="18" charset="0"/>
                <a:ea typeface="黑体" panose="02010609060101010101" pitchFamily="49" charset="-122"/>
              </a:endParaRPr>
            </a:p>
          </p:txBody>
        </p:sp>
        <p:sp>
          <p:nvSpPr>
            <p:cNvPr id="37" name="Oval 27"/>
            <p:cNvSpPr>
              <a:spLocks noChangeArrowheads="1"/>
            </p:cNvSpPr>
            <p:nvPr/>
          </p:nvSpPr>
          <p:spPr bwMode="auto">
            <a:xfrm flipH="1">
              <a:off x="4560" y="3264"/>
              <a:ext cx="48" cy="48"/>
            </a:xfrm>
            <a:prstGeom prst="ellipse">
              <a:avLst/>
            </a:prstGeom>
            <a:solidFill>
              <a:schemeClr val="accent1"/>
            </a:solidFill>
            <a:ln w="9525">
              <a:solidFill>
                <a:schemeClr val="tx1"/>
              </a:solidFill>
              <a:round/>
              <a:headEnd/>
              <a:tailEnd/>
            </a:ln>
            <a:effectLst/>
          </p:spPr>
          <p:txBody>
            <a:bodyPr wrap="none" anchor="ctr"/>
            <a:lstStyle/>
            <a:p>
              <a:pPr>
                <a:lnSpc>
                  <a:spcPct val="130000"/>
                </a:lnSpc>
                <a:spcBef>
                  <a:spcPts val="0"/>
                </a:spcBef>
              </a:pPr>
              <a:endParaRPr lang="zh-CN" altLang="en-US" sz="2200">
                <a:latin typeface="Times New Roman" panose="02020603050405020304" pitchFamily="18" charset="0"/>
                <a:ea typeface="黑体" panose="02010609060101010101" pitchFamily="49" charset="-122"/>
              </a:endParaRPr>
            </a:p>
          </p:txBody>
        </p:sp>
        <p:sp>
          <p:nvSpPr>
            <p:cNvPr id="38" name="Oval 28"/>
            <p:cNvSpPr>
              <a:spLocks noChangeArrowheads="1"/>
            </p:cNvSpPr>
            <p:nvPr/>
          </p:nvSpPr>
          <p:spPr bwMode="auto">
            <a:xfrm flipH="1">
              <a:off x="5328" y="3552"/>
              <a:ext cx="48" cy="48"/>
            </a:xfrm>
            <a:prstGeom prst="ellipse">
              <a:avLst/>
            </a:prstGeom>
            <a:solidFill>
              <a:schemeClr val="accent1"/>
            </a:solidFill>
            <a:ln w="9525">
              <a:solidFill>
                <a:schemeClr val="tx1"/>
              </a:solidFill>
              <a:round/>
              <a:headEnd/>
              <a:tailEnd/>
            </a:ln>
            <a:effectLst/>
          </p:spPr>
          <p:txBody>
            <a:bodyPr wrap="none" anchor="ctr"/>
            <a:lstStyle/>
            <a:p>
              <a:pPr>
                <a:lnSpc>
                  <a:spcPct val="130000"/>
                </a:lnSpc>
                <a:spcBef>
                  <a:spcPts val="0"/>
                </a:spcBef>
              </a:pPr>
              <a:endParaRPr lang="zh-CN" altLang="en-US" sz="2200">
                <a:latin typeface="Times New Roman" panose="02020603050405020304" pitchFamily="18" charset="0"/>
                <a:ea typeface="黑体" panose="02010609060101010101" pitchFamily="49" charset="-122"/>
              </a:endParaRPr>
            </a:p>
          </p:txBody>
        </p:sp>
        <p:sp>
          <p:nvSpPr>
            <p:cNvPr id="39" name="Oval 29"/>
            <p:cNvSpPr>
              <a:spLocks noChangeArrowheads="1"/>
            </p:cNvSpPr>
            <p:nvPr/>
          </p:nvSpPr>
          <p:spPr bwMode="auto">
            <a:xfrm flipH="1">
              <a:off x="5136" y="3264"/>
              <a:ext cx="48" cy="48"/>
            </a:xfrm>
            <a:prstGeom prst="ellipse">
              <a:avLst/>
            </a:prstGeom>
            <a:solidFill>
              <a:schemeClr val="accent1"/>
            </a:solidFill>
            <a:ln w="9525">
              <a:solidFill>
                <a:schemeClr val="tx1"/>
              </a:solidFill>
              <a:round/>
              <a:headEnd/>
              <a:tailEnd/>
            </a:ln>
            <a:effectLst/>
          </p:spPr>
          <p:txBody>
            <a:bodyPr wrap="none" anchor="ctr"/>
            <a:lstStyle/>
            <a:p>
              <a:pPr>
                <a:lnSpc>
                  <a:spcPct val="130000"/>
                </a:lnSpc>
                <a:spcBef>
                  <a:spcPts val="0"/>
                </a:spcBef>
              </a:pPr>
              <a:endParaRPr lang="zh-CN" altLang="en-US" sz="2200">
                <a:latin typeface="Times New Roman" panose="02020603050405020304" pitchFamily="18" charset="0"/>
                <a:ea typeface="黑体" panose="02010609060101010101" pitchFamily="49" charset="-122"/>
              </a:endParaRPr>
            </a:p>
          </p:txBody>
        </p:sp>
        <p:sp>
          <p:nvSpPr>
            <p:cNvPr id="40" name="Oval 30"/>
            <p:cNvSpPr>
              <a:spLocks noChangeArrowheads="1"/>
            </p:cNvSpPr>
            <p:nvPr/>
          </p:nvSpPr>
          <p:spPr bwMode="auto">
            <a:xfrm flipH="1">
              <a:off x="4800" y="2640"/>
              <a:ext cx="48" cy="48"/>
            </a:xfrm>
            <a:prstGeom prst="ellipse">
              <a:avLst/>
            </a:prstGeom>
            <a:solidFill>
              <a:schemeClr val="accent1"/>
            </a:solidFill>
            <a:ln w="9525">
              <a:solidFill>
                <a:schemeClr val="tx1"/>
              </a:solidFill>
              <a:round/>
              <a:headEnd/>
              <a:tailEnd/>
            </a:ln>
            <a:effectLst/>
          </p:spPr>
          <p:txBody>
            <a:bodyPr wrap="none" anchor="ctr"/>
            <a:lstStyle/>
            <a:p>
              <a:pPr>
                <a:lnSpc>
                  <a:spcPct val="130000"/>
                </a:lnSpc>
                <a:spcBef>
                  <a:spcPts val="0"/>
                </a:spcBef>
              </a:pPr>
              <a:endParaRPr lang="zh-CN" altLang="en-US" sz="2200">
                <a:latin typeface="Times New Roman" panose="02020603050405020304" pitchFamily="18" charset="0"/>
                <a:ea typeface="黑体" panose="02010609060101010101" pitchFamily="49" charset="-122"/>
              </a:endParaRPr>
            </a:p>
          </p:txBody>
        </p:sp>
        <p:sp>
          <p:nvSpPr>
            <p:cNvPr id="41" name="Oval 31"/>
            <p:cNvSpPr>
              <a:spLocks noChangeArrowheads="1"/>
            </p:cNvSpPr>
            <p:nvPr/>
          </p:nvSpPr>
          <p:spPr bwMode="auto">
            <a:xfrm flipH="1">
              <a:off x="4752" y="2928"/>
              <a:ext cx="48" cy="48"/>
            </a:xfrm>
            <a:prstGeom prst="ellipse">
              <a:avLst/>
            </a:prstGeom>
            <a:solidFill>
              <a:schemeClr val="accent1"/>
            </a:solidFill>
            <a:ln w="9525">
              <a:solidFill>
                <a:schemeClr val="tx1"/>
              </a:solidFill>
              <a:round/>
              <a:headEnd/>
              <a:tailEnd/>
            </a:ln>
            <a:effectLst/>
          </p:spPr>
          <p:txBody>
            <a:bodyPr wrap="none" anchor="ctr"/>
            <a:lstStyle/>
            <a:p>
              <a:pPr>
                <a:lnSpc>
                  <a:spcPct val="130000"/>
                </a:lnSpc>
                <a:spcBef>
                  <a:spcPts val="0"/>
                </a:spcBef>
              </a:pPr>
              <a:endParaRPr lang="zh-CN" altLang="en-US" sz="2200">
                <a:latin typeface="Times New Roman" panose="02020603050405020304" pitchFamily="18" charset="0"/>
                <a:ea typeface="黑体" panose="02010609060101010101" pitchFamily="49" charset="-122"/>
              </a:endParaRPr>
            </a:p>
          </p:txBody>
        </p:sp>
        <p:sp>
          <p:nvSpPr>
            <p:cNvPr id="43" name="Oval 32"/>
            <p:cNvSpPr>
              <a:spLocks noChangeArrowheads="1"/>
            </p:cNvSpPr>
            <p:nvPr/>
          </p:nvSpPr>
          <p:spPr bwMode="auto">
            <a:xfrm flipH="1">
              <a:off x="4848" y="3216"/>
              <a:ext cx="48" cy="48"/>
            </a:xfrm>
            <a:prstGeom prst="ellipse">
              <a:avLst/>
            </a:prstGeom>
            <a:solidFill>
              <a:schemeClr val="accent1"/>
            </a:solidFill>
            <a:ln w="9525">
              <a:solidFill>
                <a:schemeClr val="tx1"/>
              </a:solidFill>
              <a:round/>
              <a:headEnd/>
              <a:tailEnd/>
            </a:ln>
            <a:effectLst/>
          </p:spPr>
          <p:txBody>
            <a:bodyPr wrap="none" anchor="ctr"/>
            <a:lstStyle/>
            <a:p>
              <a:pPr>
                <a:lnSpc>
                  <a:spcPct val="130000"/>
                </a:lnSpc>
                <a:spcBef>
                  <a:spcPts val="0"/>
                </a:spcBef>
              </a:pPr>
              <a:endParaRPr lang="zh-CN" altLang="en-US" sz="2200">
                <a:latin typeface="Times New Roman" panose="02020603050405020304" pitchFamily="18" charset="0"/>
                <a:ea typeface="黑体" panose="02010609060101010101" pitchFamily="49" charset="-122"/>
              </a:endParaRPr>
            </a:p>
          </p:txBody>
        </p:sp>
        <p:sp>
          <p:nvSpPr>
            <p:cNvPr id="46" name="Oval 33"/>
            <p:cNvSpPr>
              <a:spLocks noChangeArrowheads="1"/>
            </p:cNvSpPr>
            <p:nvPr/>
          </p:nvSpPr>
          <p:spPr bwMode="auto">
            <a:xfrm flipH="1">
              <a:off x="5184" y="3120"/>
              <a:ext cx="48" cy="48"/>
            </a:xfrm>
            <a:prstGeom prst="ellipse">
              <a:avLst/>
            </a:prstGeom>
            <a:solidFill>
              <a:schemeClr val="accent1"/>
            </a:solidFill>
            <a:ln w="9525">
              <a:solidFill>
                <a:schemeClr val="tx1"/>
              </a:solidFill>
              <a:round/>
              <a:headEnd/>
              <a:tailEnd/>
            </a:ln>
            <a:effectLst/>
          </p:spPr>
          <p:txBody>
            <a:bodyPr wrap="none" anchor="ctr"/>
            <a:lstStyle/>
            <a:p>
              <a:pPr>
                <a:lnSpc>
                  <a:spcPct val="130000"/>
                </a:lnSpc>
                <a:spcBef>
                  <a:spcPts val="0"/>
                </a:spcBef>
              </a:pPr>
              <a:endParaRPr lang="zh-CN" altLang="en-US" sz="2200">
                <a:latin typeface="Times New Roman" panose="02020603050405020304" pitchFamily="18" charset="0"/>
                <a:ea typeface="黑体" panose="02010609060101010101" pitchFamily="49" charset="-122"/>
              </a:endParaRPr>
            </a:p>
          </p:txBody>
        </p:sp>
        <p:sp>
          <p:nvSpPr>
            <p:cNvPr id="47" name="Oval 34"/>
            <p:cNvSpPr>
              <a:spLocks noChangeArrowheads="1"/>
            </p:cNvSpPr>
            <p:nvPr/>
          </p:nvSpPr>
          <p:spPr bwMode="auto">
            <a:xfrm flipH="1">
              <a:off x="5088" y="3696"/>
              <a:ext cx="48" cy="48"/>
            </a:xfrm>
            <a:prstGeom prst="ellipse">
              <a:avLst/>
            </a:prstGeom>
            <a:solidFill>
              <a:schemeClr val="accent1"/>
            </a:solidFill>
            <a:ln w="9525">
              <a:solidFill>
                <a:schemeClr val="tx1"/>
              </a:solidFill>
              <a:round/>
              <a:headEnd/>
              <a:tailEnd/>
            </a:ln>
            <a:effectLst/>
          </p:spPr>
          <p:txBody>
            <a:bodyPr wrap="none" anchor="ctr"/>
            <a:lstStyle/>
            <a:p>
              <a:pPr>
                <a:lnSpc>
                  <a:spcPct val="130000"/>
                </a:lnSpc>
                <a:spcBef>
                  <a:spcPts val="0"/>
                </a:spcBef>
              </a:pPr>
              <a:endParaRPr lang="zh-CN" altLang="en-US" sz="2200">
                <a:latin typeface="Times New Roman" panose="02020603050405020304" pitchFamily="18" charset="0"/>
                <a:ea typeface="黑体" panose="02010609060101010101" pitchFamily="49" charset="-122"/>
              </a:endParaRPr>
            </a:p>
          </p:txBody>
        </p:sp>
        <p:sp>
          <p:nvSpPr>
            <p:cNvPr id="48" name="Oval 35"/>
            <p:cNvSpPr>
              <a:spLocks noChangeArrowheads="1"/>
            </p:cNvSpPr>
            <p:nvPr/>
          </p:nvSpPr>
          <p:spPr bwMode="auto">
            <a:xfrm flipH="1">
              <a:off x="4464" y="2976"/>
              <a:ext cx="48" cy="48"/>
            </a:xfrm>
            <a:prstGeom prst="ellipse">
              <a:avLst/>
            </a:prstGeom>
            <a:solidFill>
              <a:schemeClr val="accent1"/>
            </a:solidFill>
            <a:ln w="9525">
              <a:solidFill>
                <a:schemeClr val="tx1"/>
              </a:solidFill>
              <a:round/>
              <a:headEnd/>
              <a:tailEnd/>
            </a:ln>
            <a:effectLst/>
          </p:spPr>
          <p:txBody>
            <a:bodyPr wrap="none" anchor="ctr"/>
            <a:lstStyle/>
            <a:p>
              <a:pPr>
                <a:lnSpc>
                  <a:spcPct val="130000"/>
                </a:lnSpc>
                <a:spcBef>
                  <a:spcPts val="0"/>
                </a:spcBef>
              </a:pPr>
              <a:endParaRPr lang="zh-CN" altLang="en-US" sz="2200">
                <a:latin typeface="Times New Roman" panose="02020603050405020304" pitchFamily="18" charset="0"/>
                <a:ea typeface="黑体" panose="02010609060101010101" pitchFamily="49" charset="-122"/>
              </a:endParaRPr>
            </a:p>
          </p:txBody>
        </p:sp>
        <p:sp>
          <p:nvSpPr>
            <p:cNvPr id="49" name="Oval 36"/>
            <p:cNvSpPr>
              <a:spLocks noChangeArrowheads="1"/>
            </p:cNvSpPr>
            <p:nvPr/>
          </p:nvSpPr>
          <p:spPr bwMode="auto">
            <a:xfrm flipH="1">
              <a:off x="4704" y="3648"/>
              <a:ext cx="48" cy="48"/>
            </a:xfrm>
            <a:prstGeom prst="ellipse">
              <a:avLst/>
            </a:prstGeom>
            <a:solidFill>
              <a:schemeClr val="accent1"/>
            </a:solidFill>
            <a:ln w="9525">
              <a:solidFill>
                <a:schemeClr val="tx1"/>
              </a:solidFill>
              <a:round/>
              <a:headEnd/>
              <a:tailEnd/>
            </a:ln>
            <a:effectLst/>
          </p:spPr>
          <p:txBody>
            <a:bodyPr wrap="none" anchor="ctr"/>
            <a:lstStyle/>
            <a:p>
              <a:pPr>
                <a:lnSpc>
                  <a:spcPct val="130000"/>
                </a:lnSpc>
                <a:spcBef>
                  <a:spcPts val="0"/>
                </a:spcBef>
              </a:pPr>
              <a:endParaRPr lang="zh-CN" altLang="en-US" sz="2200">
                <a:latin typeface="Times New Roman" panose="02020603050405020304" pitchFamily="18" charset="0"/>
                <a:ea typeface="黑体" panose="02010609060101010101" pitchFamily="49" charset="-122"/>
              </a:endParaRPr>
            </a:p>
          </p:txBody>
        </p:sp>
      </p:grpSp>
    </p:spTree>
    <p:extLst>
      <p:ext uri="{BB962C8B-B14F-4D97-AF65-F5344CB8AC3E}">
        <p14:creationId xmlns:p14="http://schemas.microsoft.com/office/powerpoint/2010/main" val="31523589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49</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100033"/>
            <a:ext cx="4134465"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多元正态分布函数的性质</a:t>
            </a:r>
          </a:p>
        </p:txBody>
      </p:sp>
      <p:grpSp>
        <p:nvGrpSpPr>
          <p:cNvPr id="2" name="组合 1"/>
          <p:cNvGrpSpPr/>
          <p:nvPr/>
        </p:nvGrpSpPr>
        <p:grpSpPr>
          <a:xfrm>
            <a:off x="4511824" y="983139"/>
            <a:ext cx="7344816" cy="755726"/>
            <a:chOff x="407368" y="1681238"/>
            <a:chExt cx="8280920" cy="873967"/>
          </a:xfrm>
        </p:grpSpPr>
        <p:graphicFrame>
          <p:nvGraphicFramePr>
            <p:cNvPr id="28" name="Object 3"/>
            <p:cNvGraphicFramePr>
              <a:graphicFrameLocks noChangeAspect="1"/>
            </p:cNvGraphicFramePr>
            <p:nvPr/>
          </p:nvGraphicFramePr>
          <p:xfrm>
            <a:off x="416918" y="1712243"/>
            <a:ext cx="5740400" cy="842962"/>
          </p:xfrm>
          <a:graphic>
            <a:graphicData uri="http://schemas.openxmlformats.org/presentationml/2006/ole">
              <mc:AlternateContent xmlns:mc="http://schemas.openxmlformats.org/markup-compatibility/2006">
                <mc:Choice xmlns:v="urn:schemas-microsoft-com:vml" Requires="v">
                  <p:oleObj spid="_x0000_s48564" name="Equation" r:id="rId4" imgW="3098520" imgH="482400" progId="Equation.DSMT4">
                    <p:embed/>
                  </p:oleObj>
                </mc:Choice>
                <mc:Fallback>
                  <p:oleObj name="Equation" r:id="rId4" imgW="3098520" imgH="482400" progId="Equation.DSMT4">
                    <p:embed/>
                    <p:pic>
                      <p:nvPicPr>
                        <p:cNvPr id="0" name="Picture 4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6918" y="1712243"/>
                          <a:ext cx="5740400" cy="842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Object 5"/>
            <p:cNvGraphicFramePr>
              <a:graphicFrameLocks noChangeAspect="1"/>
            </p:cNvGraphicFramePr>
            <p:nvPr/>
          </p:nvGraphicFramePr>
          <p:xfrm>
            <a:off x="6456039" y="1896624"/>
            <a:ext cx="2006599" cy="407987"/>
          </p:xfrm>
          <a:graphic>
            <a:graphicData uri="http://schemas.openxmlformats.org/presentationml/2006/ole">
              <mc:AlternateContent xmlns:mc="http://schemas.openxmlformats.org/markup-compatibility/2006">
                <mc:Choice xmlns:v="urn:schemas-microsoft-com:vml" Requires="v">
                  <p:oleObj spid="_x0000_s48565" name="Equation" r:id="rId6" imgW="1244520" imgH="253800" progId="Equation.DSMT4">
                    <p:embed/>
                  </p:oleObj>
                </mc:Choice>
                <mc:Fallback>
                  <p:oleObj name="Equation" r:id="rId6" imgW="1244520" imgH="253800" progId="Equation.DSMT4">
                    <p:embed/>
                    <p:pic>
                      <p:nvPicPr>
                        <p:cNvPr id="0" name="Picture 4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56039" y="1896624"/>
                          <a:ext cx="2006599" cy="407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矩形 44"/>
            <p:cNvSpPr/>
            <p:nvPr/>
          </p:nvSpPr>
          <p:spPr>
            <a:xfrm>
              <a:off x="407368" y="1681238"/>
              <a:ext cx="8280920" cy="811658"/>
            </a:xfrm>
            <a:prstGeom prst="rect">
              <a:avLst/>
            </a:prstGeom>
            <a:ln w="31750">
              <a:solidFill>
                <a:srgbClr val="FF0000"/>
              </a:solidFill>
            </a:ln>
          </p:spPr>
          <p:txBody>
            <a:bodyPr wrap="none" rtlCol="0" anchor="ctr">
              <a:spAutoFit/>
            </a:bodyPr>
            <a:lstStyle/>
            <a:p>
              <a:pPr algn="ctr"/>
              <a:endParaRPr lang="zh-CN" altLang="en-US" sz="2400" kern="100" dirty="0">
                <a:ea typeface="宋体"/>
                <a:cs typeface="Times New Roman"/>
              </a:endParaRPr>
            </a:p>
          </p:txBody>
        </p:sp>
      </p:grpSp>
      <p:sp>
        <p:nvSpPr>
          <p:cNvPr id="53" name="内容占位符 2"/>
          <p:cNvSpPr>
            <a:spLocks noGrp="1"/>
          </p:cNvSpPr>
          <p:nvPr>
            <p:ph idx="1"/>
          </p:nvPr>
        </p:nvSpPr>
        <p:spPr>
          <a:xfrm>
            <a:off x="412949" y="2204864"/>
            <a:ext cx="11443691" cy="1088340"/>
          </a:xfrm>
        </p:spPr>
        <p:txBody>
          <a:bodyPr/>
          <a:lstStyle/>
          <a:p>
            <a:pPr marL="0" indent="0">
              <a:lnSpc>
                <a:spcPct val="130000"/>
              </a:lnSpc>
              <a:spcBef>
                <a:spcPts val="0"/>
              </a:spcBef>
              <a:buNone/>
            </a:pPr>
            <a:r>
              <a:rPr lang="zh-CN" altLang="en-US" sz="2200" dirty="0">
                <a:latin typeface="Times New Roman" panose="02020603050405020304" pitchFamily="18" charset="0"/>
                <a:ea typeface="黑体" panose="02010609060101010101" pitchFamily="49" charset="-122"/>
              </a:rPr>
              <a:t>当指数项为常数时，密度 </a:t>
            </a:r>
            <a:r>
              <a:rPr lang="en-US" altLang="zh-CN" sz="2200" i="1" dirty="0">
                <a:latin typeface="Times New Roman" panose="02020603050405020304" pitchFamily="18" charset="0"/>
                <a:ea typeface="黑体" panose="02010609060101010101" pitchFamily="49" charset="-122"/>
              </a:rPr>
              <a:t>p</a:t>
            </a:r>
            <a:r>
              <a:rPr lang="en-US" altLang="zh-CN" sz="2200" dirty="0">
                <a:latin typeface="Times New Roman" panose="02020603050405020304" pitchFamily="18" charset="0"/>
                <a:ea typeface="黑体" panose="02010609060101010101" pitchFamily="49" charset="-122"/>
              </a:rPr>
              <a:t>(</a:t>
            </a:r>
            <a:r>
              <a:rPr lang="en-US" altLang="zh-CN" sz="2200" i="1" dirty="0">
                <a:latin typeface="Times New Roman" panose="02020603050405020304" pitchFamily="18" charset="0"/>
                <a:ea typeface="黑体" panose="02010609060101010101" pitchFamily="49" charset="-122"/>
              </a:rPr>
              <a:t>x</a:t>
            </a:r>
            <a:r>
              <a:rPr lang="en-US" altLang="zh-CN" sz="2200"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不随 </a:t>
            </a:r>
            <a:r>
              <a:rPr lang="en-US" altLang="zh-CN" sz="2200" i="1" dirty="0">
                <a:latin typeface="Times New Roman" panose="02020603050405020304" pitchFamily="18" charset="0"/>
                <a:ea typeface="黑体" panose="02010609060101010101" pitchFamily="49" charset="-122"/>
              </a:rPr>
              <a:t>x </a:t>
            </a:r>
            <a:r>
              <a:rPr lang="zh-CN" altLang="en-US" sz="2200" dirty="0">
                <a:latin typeface="Times New Roman" panose="02020603050405020304" pitchFamily="18" charset="0"/>
                <a:ea typeface="黑体" panose="02010609060101010101" pitchFamily="49" charset="-122"/>
              </a:rPr>
              <a:t>变化，即为等概率密度点。此时</a:t>
            </a:r>
            <a:r>
              <a:rPr lang="en-US" altLang="zh-CN" sz="2200" dirty="0">
                <a:latin typeface="Times New Roman" panose="02020603050405020304" pitchFamily="18" charset="0"/>
                <a:ea typeface="黑体" panose="02010609060101010101" pitchFamily="49" charset="-122"/>
              </a:rPr>
              <a:t>:</a:t>
            </a:r>
          </a:p>
          <a:p>
            <a:pPr marL="0" indent="0">
              <a:lnSpc>
                <a:spcPct val="130000"/>
              </a:lnSpc>
              <a:spcBef>
                <a:spcPts val="600"/>
              </a:spcBef>
              <a:buNone/>
            </a:pPr>
            <a:r>
              <a:rPr lang="en-US" altLang="zh-CN" sz="2200"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方程                                                    ，对应的解是一个超椭球面。</a:t>
            </a:r>
          </a:p>
          <a:p>
            <a:endParaRPr lang="zh-CN" altLang="en-US" dirty="0">
              <a:latin typeface="Times New Roman" panose="02020603050405020304" pitchFamily="18" charset="0"/>
              <a:ea typeface="黑体" panose="02010609060101010101" pitchFamily="49" charset="-122"/>
            </a:endParaRPr>
          </a:p>
        </p:txBody>
      </p:sp>
      <p:graphicFrame>
        <p:nvGraphicFramePr>
          <p:cNvPr id="54" name="Object 3"/>
          <p:cNvGraphicFramePr>
            <a:graphicFrameLocks noChangeAspect="1"/>
          </p:cNvGraphicFramePr>
          <p:nvPr>
            <p:extLst>
              <p:ext uri="{D42A27DB-BD31-4B8C-83A1-F6EECF244321}">
                <p14:modId xmlns:p14="http://schemas.microsoft.com/office/powerpoint/2010/main" val="4109081041"/>
              </p:ext>
            </p:extLst>
          </p:nvPr>
        </p:nvGraphicFramePr>
        <p:xfrm>
          <a:off x="3434123" y="2751784"/>
          <a:ext cx="3525973" cy="466903"/>
        </p:xfrm>
        <a:graphic>
          <a:graphicData uri="http://schemas.openxmlformats.org/presentationml/2006/ole">
            <mc:AlternateContent xmlns:mc="http://schemas.openxmlformats.org/markup-compatibility/2006">
              <mc:Choice xmlns:v="urn:schemas-microsoft-com:vml" Requires="v">
                <p:oleObj spid="_x0000_s48566" name="Equation" r:id="rId8" imgW="1727200" imgH="228600" progId="Equation.DSMT4">
                  <p:embed/>
                </p:oleObj>
              </mc:Choice>
              <mc:Fallback>
                <p:oleObj name="Equation" r:id="rId8" imgW="1727200" imgH="228600" progId="Equation.DSMT4">
                  <p:embed/>
                  <p:pic>
                    <p:nvPicPr>
                      <p:cNvPr id="0" name="Picture 4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34123" y="2751784"/>
                        <a:ext cx="3525973" cy="4669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 name="矩形 55"/>
          <p:cNvSpPr/>
          <p:nvPr/>
        </p:nvSpPr>
        <p:spPr>
          <a:xfrm>
            <a:off x="352694" y="1719731"/>
            <a:ext cx="7510955" cy="485133"/>
          </a:xfrm>
          <a:prstGeom prst="rect">
            <a:avLst/>
          </a:prstGeom>
        </p:spPr>
        <p:txBody>
          <a:bodyPr wrap="square">
            <a:spAutoFit/>
          </a:bodyPr>
          <a:lstStyle/>
          <a:p>
            <a:pPr>
              <a:lnSpc>
                <a:spcPct val="130000"/>
              </a:lnSpc>
              <a:spcBef>
                <a:spcPts val="0"/>
              </a:spcBef>
              <a:buFontTx/>
              <a:buNone/>
            </a:pPr>
            <a:r>
              <a:rPr lang="zh-CN" altLang="en-US" sz="2200" b="1" dirty="0">
                <a:solidFill>
                  <a:srgbClr val="FF0000"/>
                </a:solidFill>
                <a:latin typeface="Times New Roman" panose="02020603050405020304" pitchFamily="18" charset="0"/>
                <a:ea typeface="黑体" panose="02010609060101010101" pitchFamily="49" charset="-122"/>
              </a:rPr>
              <a:t>②   等概率密度点的轨迹为一超椭球面</a:t>
            </a:r>
            <a:endParaRPr lang="en-US" altLang="zh-CN" sz="2200" b="1" dirty="0">
              <a:solidFill>
                <a:srgbClr val="FF0000"/>
              </a:solidFill>
              <a:latin typeface="Times New Roman" panose="02020603050405020304" pitchFamily="18" charset="0"/>
              <a:ea typeface="黑体" panose="02010609060101010101" pitchFamily="49" charset="-122"/>
            </a:endParaRPr>
          </a:p>
        </p:txBody>
      </p:sp>
      <p:sp>
        <p:nvSpPr>
          <p:cNvPr id="57" name="内容占位符 2"/>
          <p:cNvSpPr txBox="1">
            <a:spLocks/>
          </p:cNvSpPr>
          <p:nvPr/>
        </p:nvSpPr>
        <p:spPr bwMode="auto">
          <a:xfrm>
            <a:off x="352694" y="3274242"/>
            <a:ext cx="11503946" cy="24288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30000"/>
              </a:lnSpc>
              <a:spcBef>
                <a:spcPts val="0"/>
              </a:spcBef>
              <a:spcAft>
                <a:spcPct val="0"/>
              </a:spcAft>
              <a:buClr>
                <a:schemeClr val="tx2"/>
              </a:buClr>
              <a:buSzPct val="50000"/>
              <a:buFontTx/>
              <a:buNone/>
              <a:tabLst/>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定义                                           </a:t>
            </a:r>
            <a:r>
              <a:rPr lang="zh-CN" altLang="en-US" sz="2400" dirty="0">
                <a:latin typeface="Times New Roman" panose="02020603050405020304" pitchFamily="18" charset="0"/>
                <a:ea typeface="黑体" panose="02010609060101010101" pitchFamily="49" charset="-122"/>
              </a:rPr>
              <a:t>，</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称</a:t>
            </a:r>
            <a:r>
              <a:rPr kumimoji="0" lang="zh-CN" altLang="en-US" sz="2400" b="0" dirty="0">
                <a:solidFill>
                  <a:schemeClr val="tx1"/>
                </a:solidFill>
                <a:latin typeface="Times New Roman" panose="02020603050405020304" pitchFamily="18" charset="0"/>
                <a:ea typeface="黑体" panose="02010609060101010101" pitchFamily="49" charset="-122"/>
              </a:rPr>
              <a:t>为</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 </a:t>
            </a:r>
            <a:r>
              <a:rPr kumimoji="0"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x</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 </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到 </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µ </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的 </a:t>
            </a:r>
            <a:r>
              <a:rPr kumimoji="0" lang="en-US" altLang="zh-CN" sz="2000" b="0" i="0" u="none" strike="noStrike" kern="1200" cap="none" spc="0" normalizeH="0" baseline="0" noProof="0" dirty="0" err="1">
                <a:ln>
                  <a:noFill/>
                </a:ln>
                <a:solidFill>
                  <a:schemeClr val="tx1"/>
                </a:solidFill>
                <a:effectLst/>
                <a:uLnTx/>
                <a:uFillTx/>
                <a:latin typeface="Times New Roman" panose="02020603050405020304" pitchFamily="18" charset="0"/>
                <a:ea typeface="黑体" panose="02010609060101010101" pitchFamily="49" charset="-122"/>
              </a:rPr>
              <a:t>Mahalanobis</a:t>
            </a:r>
            <a:r>
              <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 </a:t>
            </a:r>
            <a:r>
              <a:rPr kumimoji="0"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马氏）距离平方。</a:t>
            </a:r>
          </a:p>
          <a:p>
            <a:pPr lvl="0" eaLnBrk="0" hangingPunct="0">
              <a:lnSpc>
                <a:spcPct val="130000"/>
              </a:lnSpc>
              <a:spcBef>
                <a:spcPts val="0"/>
              </a:spcBef>
              <a:buClr>
                <a:schemeClr val="tx2"/>
              </a:buClr>
              <a:buSzPct val="50000"/>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所以</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a:t>
            </a: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rPr>
              <a:t>等概率密度点</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的轨迹是 </a:t>
            </a:r>
            <a:r>
              <a:rPr kumimoji="0"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x</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 </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到 </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μ </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的马氏距离为常数的超椭球面。</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endParaRPr>
          </a:p>
          <a:p>
            <a:pPr lvl="0" eaLnBrk="0" hangingPunct="0">
              <a:lnSpc>
                <a:spcPct val="130000"/>
              </a:lnSpc>
              <a:spcBef>
                <a:spcPts val="600"/>
              </a:spcBef>
              <a:buClr>
                <a:schemeClr val="tx2"/>
              </a:buClr>
              <a:buSzPct val="50000"/>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对应</a:t>
            </a:r>
            <a:r>
              <a:rPr kumimoji="0" lang="zh-CN" altLang="en-US" sz="2400" b="0" dirty="0">
                <a:solidFill>
                  <a:schemeClr val="tx1"/>
                </a:solidFill>
                <a:latin typeface="Times New Roman" panose="02020603050405020304" pitchFamily="18" charset="0"/>
                <a:ea typeface="黑体" panose="02010609060101010101" pitchFamily="49" charset="-122"/>
              </a:rPr>
              <a:t>于马氏距离为</a:t>
            </a:r>
            <a:r>
              <a:rPr kumimoji="0" lang="en-US" altLang="zh-CN" sz="2400" b="0" i="1" dirty="0">
                <a:solidFill>
                  <a:schemeClr val="tx1"/>
                </a:solidFill>
                <a:latin typeface="Times New Roman" panose="02020603050405020304" pitchFamily="18" charset="0"/>
                <a:ea typeface="黑体" panose="02010609060101010101" pitchFamily="49" charset="-122"/>
              </a:rPr>
              <a:t>r</a:t>
            </a:r>
            <a:r>
              <a:rPr kumimoji="0" lang="zh-CN" altLang="en-US" sz="2400" b="0" dirty="0">
                <a:solidFill>
                  <a:schemeClr val="tx1"/>
                </a:solidFill>
                <a:latin typeface="Times New Roman" panose="02020603050405020304" pitchFamily="18" charset="0"/>
                <a:ea typeface="黑体" panose="02010609060101010101" pitchFamily="49" charset="-122"/>
              </a:rPr>
              <a:t>的超椭球体积为</a:t>
            </a:r>
            <a:r>
              <a:rPr kumimoji="0" lang="en-US" altLang="zh-CN" sz="2400" b="0" dirty="0">
                <a:solidFill>
                  <a:schemeClr val="tx1"/>
                </a:solidFill>
                <a:latin typeface="Times New Roman" panose="02020603050405020304" pitchFamily="18" charset="0"/>
                <a:ea typeface="黑体" panose="02010609060101010101" pitchFamily="49" charset="-122"/>
              </a:rPr>
              <a:t>:</a:t>
            </a:r>
          </a:p>
          <a:p>
            <a:pPr lvl="0" eaLnBrk="0" hangingPunct="0">
              <a:lnSpc>
                <a:spcPct val="130000"/>
              </a:lnSpc>
              <a:spcBef>
                <a:spcPts val="0"/>
              </a:spcBef>
              <a:buClr>
                <a:schemeClr val="tx2"/>
              </a:buClr>
              <a:buSzPct val="50000"/>
            </a:pPr>
            <a:endParaRPr kumimoji="0" lang="en-US" altLang="zh-CN" sz="2400" b="0" dirty="0">
              <a:solidFill>
                <a:schemeClr val="tx1"/>
              </a:solidFill>
              <a:latin typeface="Times New Roman" panose="02020603050405020304" pitchFamily="18" charset="0"/>
              <a:ea typeface="黑体" panose="02010609060101010101" pitchFamily="49" charset="-122"/>
            </a:endParaRPr>
          </a:p>
          <a:p>
            <a:pPr lvl="0" eaLnBrk="0" hangingPunct="0">
              <a:lnSpc>
                <a:spcPct val="130000"/>
              </a:lnSpc>
              <a:spcBef>
                <a:spcPts val="0"/>
              </a:spcBef>
              <a:buClr>
                <a:schemeClr val="tx2"/>
              </a:buClr>
              <a:buSzPct val="50000"/>
            </a:pPr>
            <a:r>
              <a:rPr kumimoji="0" lang="zh-CN" altLang="en-US" sz="2400" b="0" dirty="0">
                <a:solidFill>
                  <a:schemeClr val="tx1"/>
                </a:solidFill>
                <a:latin typeface="Times New Roman" panose="02020603050405020304" pitchFamily="18" charset="0"/>
                <a:ea typeface="黑体" panose="02010609060101010101" pitchFamily="49" charset="-122"/>
              </a:rPr>
              <a:t>其中，</a:t>
            </a:r>
            <a:r>
              <a:rPr kumimoji="0" lang="en-US" altLang="zh-CN" sz="2400" b="0" dirty="0" err="1">
                <a:solidFill>
                  <a:schemeClr val="tx1"/>
                </a:solidFill>
                <a:latin typeface="Times New Roman" panose="02020603050405020304" pitchFamily="18" charset="0"/>
                <a:ea typeface="黑体" panose="02010609060101010101" pitchFamily="49" charset="-122"/>
              </a:rPr>
              <a:t>V</a:t>
            </a:r>
            <a:r>
              <a:rPr kumimoji="0" lang="en-US" altLang="zh-CN" sz="2400" b="0" baseline="-25000" dirty="0" err="1">
                <a:solidFill>
                  <a:schemeClr val="tx1"/>
                </a:solidFill>
                <a:latin typeface="Times New Roman" panose="02020603050405020304" pitchFamily="18" charset="0"/>
                <a:ea typeface="黑体" panose="02010609060101010101" pitchFamily="49" charset="-122"/>
              </a:rPr>
              <a:t>d</a:t>
            </a:r>
            <a:r>
              <a:rPr kumimoji="0" lang="zh-CN" altLang="en-US" sz="2400" b="0" dirty="0">
                <a:solidFill>
                  <a:schemeClr val="tx1"/>
                </a:solidFill>
                <a:latin typeface="Times New Roman" panose="02020603050405020304" pitchFamily="18" charset="0"/>
                <a:ea typeface="黑体" panose="02010609060101010101" pitchFamily="49" charset="-122"/>
              </a:rPr>
              <a:t>是</a:t>
            </a:r>
            <a:r>
              <a:rPr kumimoji="0" lang="en-US" altLang="zh-CN" sz="2400" b="0" i="1" dirty="0">
                <a:solidFill>
                  <a:schemeClr val="tx1"/>
                </a:solidFill>
                <a:latin typeface="Times New Roman" panose="02020603050405020304" pitchFamily="18" charset="0"/>
                <a:ea typeface="黑体" panose="02010609060101010101" pitchFamily="49" charset="-122"/>
              </a:rPr>
              <a:t>d</a:t>
            </a:r>
            <a:r>
              <a:rPr kumimoji="0" lang="zh-CN" altLang="en-US" sz="2400" b="0" dirty="0">
                <a:solidFill>
                  <a:schemeClr val="tx1"/>
                </a:solidFill>
                <a:latin typeface="Times New Roman" panose="02020603050405020304" pitchFamily="18" charset="0"/>
                <a:ea typeface="黑体" panose="02010609060101010101" pitchFamily="49" charset="-122"/>
              </a:rPr>
              <a:t>维单位超球体的体积</a:t>
            </a:r>
            <a:endParaRPr kumimoji="0" lang="en-US" altLang="zh-CN" sz="2400" b="0" dirty="0">
              <a:solidFill>
                <a:schemeClr val="tx1"/>
              </a:solidFill>
              <a:latin typeface="Times New Roman" panose="02020603050405020304" pitchFamily="18" charset="0"/>
              <a:ea typeface="黑体" panose="02010609060101010101" pitchFamily="49" charset="-122"/>
            </a:endParaRPr>
          </a:p>
          <a:p>
            <a:pPr lvl="0" eaLnBrk="0" hangingPunct="0">
              <a:lnSpc>
                <a:spcPct val="130000"/>
              </a:lnSpc>
              <a:spcBef>
                <a:spcPts val="0"/>
              </a:spcBef>
              <a:buClr>
                <a:schemeClr val="tx2"/>
              </a:buClr>
              <a:buSzPct val="50000"/>
            </a:pP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endParaRPr>
          </a:p>
        </p:txBody>
      </p:sp>
      <p:graphicFrame>
        <p:nvGraphicFramePr>
          <p:cNvPr id="58" name="Object 2"/>
          <p:cNvGraphicFramePr>
            <a:graphicFrameLocks noChangeAspect="1"/>
          </p:cNvGraphicFramePr>
          <p:nvPr>
            <p:extLst>
              <p:ext uri="{D42A27DB-BD31-4B8C-83A1-F6EECF244321}">
                <p14:modId xmlns:p14="http://schemas.microsoft.com/office/powerpoint/2010/main" val="3477654517"/>
              </p:ext>
            </p:extLst>
          </p:nvPr>
        </p:nvGraphicFramePr>
        <p:xfrm>
          <a:off x="1127448" y="3319614"/>
          <a:ext cx="3175000" cy="474662"/>
        </p:xfrm>
        <a:graphic>
          <a:graphicData uri="http://schemas.openxmlformats.org/presentationml/2006/ole">
            <mc:AlternateContent xmlns:mc="http://schemas.openxmlformats.org/markup-compatibility/2006">
              <mc:Choice xmlns:v="urn:schemas-microsoft-com:vml" Requires="v">
                <p:oleObj spid="_x0000_s48567" name="公式" r:id="rId10" imgW="1536700" imgH="228600" progId="Equation.3">
                  <p:embed/>
                </p:oleObj>
              </mc:Choice>
              <mc:Fallback>
                <p:oleObj name="公式" r:id="rId10" imgW="1536700" imgH="228600" progId="Equation.3">
                  <p:embed/>
                  <p:pic>
                    <p:nvPicPr>
                      <p:cNvPr id="0" name="Picture 4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27448" y="3319614"/>
                        <a:ext cx="3175000" cy="474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 name="Object 3"/>
          <p:cNvGraphicFramePr>
            <a:graphicFrameLocks noChangeAspect="1"/>
          </p:cNvGraphicFramePr>
          <p:nvPr>
            <p:extLst>
              <p:ext uri="{D42A27DB-BD31-4B8C-83A1-F6EECF244321}">
                <p14:modId xmlns:p14="http://schemas.microsoft.com/office/powerpoint/2010/main" val="2954342459"/>
              </p:ext>
            </p:extLst>
          </p:nvPr>
        </p:nvGraphicFramePr>
        <p:xfrm>
          <a:off x="5283537" y="4160228"/>
          <a:ext cx="1920111" cy="748646"/>
        </p:xfrm>
        <a:graphic>
          <a:graphicData uri="http://schemas.openxmlformats.org/presentationml/2006/ole">
            <mc:AlternateContent xmlns:mc="http://schemas.openxmlformats.org/markup-compatibility/2006">
              <mc:Choice xmlns:v="urn:schemas-microsoft-com:vml" Requires="v">
                <p:oleObj spid="_x0000_s48568" name="Equation" r:id="rId12" imgW="850531" imgH="330057" progId="Equation.DSMT4">
                  <p:embed/>
                </p:oleObj>
              </mc:Choice>
              <mc:Fallback>
                <p:oleObj name="Equation" r:id="rId12" imgW="850531" imgH="330057" progId="Equation.DSMT4">
                  <p:embed/>
                  <p:pic>
                    <p:nvPicPr>
                      <p:cNvPr id="0" name="Picture 4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83537" y="4160228"/>
                        <a:ext cx="1920111" cy="7486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 name="Object 4"/>
          <p:cNvGraphicFramePr>
            <a:graphicFrameLocks noChangeAspect="1"/>
          </p:cNvGraphicFramePr>
          <p:nvPr>
            <p:extLst>
              <p:ext uri="{D42A27DB-BD31-4B8C-83A1-F6EECF244321}">
                <p14:modId xmlns:p14="http://schemas.microsoft.com/office/powerpoint/2010/main" val="7352572"/>
              </p:ext>
            </p:extLst>
          </p:nvPr>
        </p:nvGraphicFramePr>
        <p:xfrm>
          <a:off x="5000408" y="4984457"/>
          <a:ext cx="3733799" cy="1533422"/>
        </p:xfrm>
        <a:graphic>
          <a:graphicData uri="http://schemas.openxmlformats.org/presentationml/2006/ole">
            <mc:AlternateContent xmlns:mc="http://schemas.openxmlformats.org/markup-compatibility/2006">
              <mc:Choice xmlns:v="urn:schemas-microsoft-com:vml" Requires="v">
                <p:oleObj spid="_x0000_s48569" name="Equation" r:id="rId14" imgW="2362200" imgH="965200" progId="Equation.DSMT4">
                  <p:embed/>
                </p:oleObj>
              </mc:Choice>
              <mc:Fallback>
                <p:oleObj name="Equation" r:id="rId14" imgW="2362200" imgH="965200" progId="Equation.DSMT4">
                  <p:embed/>
                  <p:pic>
                    <p:nvPicPr>
                      <p:cNvPr id="0" name="Picture 4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00408" y="4984457"/>
                        <a:ext cx="3733799" cy="153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 name="矩形 60"/>
          <p:cNvSpPr/>
          <p:nvPr/>
        </p:nvSpPr>
        <p:spPr>
          <a:xfrm>
            <a:off x="7608168" y="4160228"/>
            <a:ext cx="2941831" cy="892552"/>
          </a:xfrm>
          <a:prstGeom prst="rect">
            <a:avLst/>
          </a:prstGeom>
        </p:spPr>
        <p:txBody>
          <a:bodyPr wrap="none">
            <a:spAutoFit/>
          </a:bodyPr>
          <a:lstStyle/>
          <a:p>
            <a:pPr>
              <a:lnSpc>
                <a:spcPct val="130000"/>
              </a:lnSpc>
              <a:spcBef>
                <a:spcPts val="0"/>
              </a:spcBef>
            </a:pPr>
            <a:r>
              <a:rPr lang="zh-CN" altLang="en-US" sz="2000" b="0" dirty="0">
                <a:solidFill>
                  <a:srgbClr val="6600CC"/>
                </a:solidFill>
                <a:latin typeface="Times New Roman" panose="02020603050405020304" pitchFamily="18" charset="0"/>
                <a:ea typeface="黑体" panose="02010609060101010101" pitchFamily="49" charset="-122"/>
              </a:rPr>
              <a:t>∴在维数</a:t>
            </a:r>
            <a:r>
              <a:rPr lang="en-US" altLang="zh-CN" sz="2000" b="0" dirty="0">
                <a:solidFill>
                  <a:srgbClr val="6600CC"/>
                </a:solidFill>
                <a:latin typeface="Times New Roman" panose="02020603050405020304" pitchFamily="18" charset="0"/>
                <a:ea typeface="黑体" panose="02010609060101010101" pitchFamily="49" charset="-122"/>
              </a:rPr>
              <a:t>d</a:t>
            </a:r>
            <a:r>
              <a:rPr lang="zh-CN" altLang="en-US" sz="2000" b="0" dirty="0">
                <a:solidFill>
                  <a:srgbClr val="6600CC"/>
                </a:solidFill>
                <a:latin typeface="Times New Roman" panose="02020603050405020304" pitchFamily="18" charset="0"/>
                <a:ea typeface="黑体" panose="02010609060101010101" pitchFamily="49" charset="-122"/>
              </a:rPr>
              <a:t>给定的情况下</a:t>
            </a:r>
            <a:r>
              <a:rPr lang="en-US" altLang="zh-CN" sz="2000" b="0" dirty="0">
                <a:solidFill>
                  <a:srgbClr val="6600CC"/>
                </a:solidFill>
                <a:latin typeface="Times New Roman" panose="02020603050405020304" pitchFamily="18" charset="0"/>
                <a:ea typeface="黑体" panose="02010609060101010101" pitchFamily="49" charset="-122"/>
              </a:rPr>
              <a:t>,</a:t>
            </a:r>
          </a:p>
          <a:p>
            <a:pPr>
              <a:lnSpc>
                <a:spcPct val="130000"/>
              </a:lnSpc>
              <a:spcBef>
                <a:spcPts val="0"/>
              </a:spcBef>
            </a:pPr>
            <a:r>
              <a:rPr lang="zh-CN" altLang="en-US" sz="2000" b="0" dirty="0">
                <a:solidFill>
                  <a:srgbClr val="6600CC"/>
                </a:solidFill>
                <a:latin typeface="Times New Roman" panose="02020603050405020304" pitchFamily="18" charset="0"/>
                <a:ea typeface="黑体" panose="02010609060101010101" pitchFamily="49" charset="-122"/>
              </a:rPr>
              <a:t>样本离散度随</a:t>
            </a:r>
            <a:r>
              <a:rPr lang="en-US" altLang="zh-CN" sz="2000" b="0" dirty="0">
                <a:solidFill>
                  <a:srgbClr val="6600CC"/>
                </a:solidFill>
                <a:latin typeface="Times New Roman" panose="02020603050405020304" pitchFamily="18" charset="0"/>
                <a:ea typeface="黑体" panose="02010609060101010101" pitchFamily="49" charset="-122"/>
              </a:rPr>
              <a:t>|</a:t>
            </a:r>
            <a:r>
              <a:rPr lang="el-GR" altLang="zh-CN" sz="2000" b="0" dirty="0">
                <a:solidFill>
                  <a:srgbClr val="6600CC"/>
                </a:solidFill>
                <a:latin typeface="Times New Roman" panose="02020603050405020304" pitchFamily="18" charset="0"/>
                <a:ea typeface="黑体" panose="02010609060101010101" pitchFamily="49" charset="-122"/>
              </a:rPr>
              <a:t>Σ</a:t>
            </a:r>
            <a:r>
              <a:rPr lang="en-US" altLang="zh-CN" sz="2000" b="0" dirty="0">
                <a:solidFill>
                  <a:srgbClr val="6600CC"/>
                </a:solidFill>
                <a:latin typeface="Times New Roman" panose="02020603050405020304" pitchFamily="18" charset="0"/>
                <a:ea typeface="黑体" panose="02010609060101010101" pitchFamily="49" charset="-122"/>
              </a:rPr>
              <a:t>|</a:t>
            </a:r>
            <a:r>
              <a:rPr lang="en-US" altLang="zh-CN" sz="2000" b="0" baseline="30000" dirty="0">
                <a:solidFill>
                  <a:srgbClr val="6600CC"/>
                </a:solidFill>
                <a:latin typeface="Times New Roman" panose="02020603050405020304" pitchFamily="18" charset="0"/>
                <a:ea typeface="黑体" panose="02010609060101010101" pitchFamily="49" charset="-122"/>
              </a:rPr>
              <a:t>1/2</a:t>
            </a:r>
            <a:r>
              <a:rPr lang="zh-CN" altLang="en-US" sz="2000" b="0" dirty="0">
                <a:solidFill>
                  <a:srgbClr val="6600CC"/>
                </a:solidFill>
                <a:latin typeface="Times New Roman" panose="02020603050405020304" pitchFamily="18" charset="0"/>
                <a:ea typeface="黑体" panose="02010609060101010101" pitchFamily="49" charset="-122"/>
              </a:rPr>
              <a:t>而变</a:t>
            </a:r>
          </a:p>
        </p:txBody>
      </p:sp>
    </p:spTree>
    <p:extLst>
      <p:ext uri="{BB962C8B-B14F-4D97-AF65-F5344CB8AC3E}">
        <p14:creationId xmlns:p14="http://schemas.microsoft.com/office/powerpoint/2010/main" val="9841669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4"/>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50</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100033"/>
            <a:ext cx="4134465"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多元正态分布函数的性质</a:t>
            </a:r>
          </a:p>
        </p:txBody>
      </p:sp>
      <p:grpSp>
        <p:nvGrpSpPr>
          <p:cNvPr id="2" name="组合 1"/>
          <p:cNvGrpSpPr/>
          <p:nvPr/>
        </p:nvGrpSpPr>
        <p:grpSpPr>
          <a:xfrm>
            <a:off x="4511824" y="983139"/>
            <a:ext cx="7344816" cy="755726"/>
            <a:chOff x="407368" y="1681238"/>
            <a:chExt cx="8280920" cy="873967"/>
          </a:xfrm>
        </p:grpSpPr>
        <p:graphicFrame>
          <p:nvGraphicFramePr>
            <p:cNvPr id="28" name="Object 3"/>
            <p:cNvGraphicFramePr>
              <a:graphicFrameLocks noChangeAspect="1"/>
            </p:cNvGraphicFramePr>
            <p:nvPr/>
          </p:nvGraphicFramePr>
          <p:xfrm>
            <a:off x="416918" y="1712243"/>
            <a:ext cx="5740400" cy="842962"/>
          </p:xfrm>
          <a:graphic>
            <a:graphicData uri="http://schemas.openxmlformats.org/presentationml/2006/ole">
              <mc:AlternateContent xmlns:mc="http://schemas.openxmlformats.org/markup-compatibility/2006">
                <mc:Choice xmlns:v="urn:schemas-microsoft-com:vml" Requires="v">
                  <p:oleObj spid="_x0000_s50412" name="Equation" r:id="rId5" imgW="3098520" imgH="482400" progId="Equation.DSMT4">
                    <p:embed/>
                  </p:oleObj>
                </mc:Choice>
                <mc:Fallback>
                  <p:oleObj name="Equation" r:id="rId5" imgW="3098520" imgH="482400" progId="Equation.DSMT4">
                    <p:embed/>
                    <p:pic>
                      <p:nvPicPr>
                        <p:cNvPr id="0" name="Picture 2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6918" y="1712243"/>
                          <a:ext cx="5740400" cy="842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Object 5"/>
            <p:cNvGraphicFramePr>
              <a:graphicFrameLocks noChangeAspect="1"/>
            </p:cNvGraphicFramePr>
            <p:nvPr/>
          </p:nvGraphicFramePr>
          <p:xfrm>
            <a:off x="6456039" y="1896624"/>
            <a:ext cx="2006599" cy="407987"/>
          </p:xfrm>
          <a:graphic>
            <a:graphicData uri="http://schemas.openxmlformats.org/presentationml/2006/ole">
              <mc:AlternateContent xmlns:mc="http://schemas.openxmlformats.org/markup-compatibility/2006">
                <mc:Choice xmlns:v="urn:schemas-microsoft-com:vml" Requires="v">
                  <p:oleObj spid="_x0000_s50413" name="Equation" r:id="rId7" imgW="1244520" imgH="253800" progId="Equation.DSMT4">
                    <p:embed/>
                  </p:oleObj>
                </mc:Choice>
                <mc:Fallback>
                  <p:oleObj name="Equation" r:id="rId7" imgW="1244520" imgH="253800" progId="Equation.DSMT4">
                    <p:embed/>
                    <p:pic>
                      <p:nvPicPr>
                        <p:cNvPr id="0" name="Picture 2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56039" y="1896624"/>
                          <a:ext cx="2006599" cy="407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矩形 44"/>
            <p:cNvSpPr/>
            <p:nvPr/>
          </p:nvSpPr>
          <p:spPr>
            <a:xfrm>
              <a:off x="407368" y="1681238"/>
              <a:ext cx="8280920" cy="811658"/>
            </a:xfrm>
            <a:prstGeom prst="rect">
              <a:avLst/>
            </a:prstGeom>
            <a:ln w="31750">
              <a:solidFill>
                <a:srgbClr val="FF0000"/>
              </a:solidFill>
            </a:ln>
          </p:spPr>
          <p:txBody>
            <a:bodyPr wrap="none" rtlCol="0" anchor="ctr">
              <a:spAutoFit/>
            </a:bodyPr>
            <a:lstStyle/>
            <a:p>
              <a:pPr algn="ctr"/>
              <a:endParaRPr lang="zh-CN" altLang="en-US" sz="2400" kern="100" dirty="0">
                <a:ea typeface="宋体"/>
                <a:cs typeface="Times New Roman"/>
              </a:endParaRPr>
            </a:p>
          </p:txBody>
        </p:sp>
      </p:grpSp>
      <p:sp>
        <p:nvSpPr>
          <p:cNvPr id="11" name="内容占位符 2"/>
          <p:cNvSpPr>
            <a:spLocks noGrp="1"/>
          </p:cNvSpPr>
          <p:nvPr>
            <p:ph idx="1"/>
          </p:nvPr>
        </p:nvSpPr>
        <p:spPr>
          <a:xfrm>
            <a:off x="334264" y="1908171"/>
            <a:ext cx="11522376" cy="584726"/>
          </a:xfrm>
        </p:spPr>
        <p:txBody>
          <a:bodyPr/>
          <a:lstStyle/>
          <a:p>
            <a:pPr>
              <a:lnSpc>
                <a:spcPct val="130000"/>
              </a:lnSpc>
              <a:spcBef>
                <a:spcPts val="0"/>
              </a:spcBef>
              <a:buFontTx/>
              <a:buNone/>
            </a:pPr>
            <a:r>
              <a:rPr lang="zh-CN" altLang="en-US" sz="2200" b="1" dirty="0">
                <a:solidFill>
                  <a:srgbClr val="FF0000"/>
                </a:solidFill>
                <a:latin typeface="Times New Roman" panose="02020603050405020304" pitchFamily="18" charset="0"/>
                <a:ea typeface="黑体" panose="02010609060101010101" pitchFamily="49" charset="-122"/>
              </a:rPr>
              <a:t>③ 在正态分布中不相关性等价于独立性</a:t>
            </a:r>
            <a:endParaRPr lang="zh-CN" altLang="en-US" sz="2200" dirty="0">
              <a:latin typeface="Times New Roman" panose="02020603050405020304" pitchFamily="18" charset="0"/>
              <a:ea typeface="黑体" panose="02010609060101010101" pitchFamily="49" charset="-122"/>
            </a:endParaRPr>
          </a:p>
          <a:p>
            <a:pPr>
              <a:lnSpc>
                <a:spcPct val="130000"/>
              </a:lnSpc>
              <a:spcBef>
                <a:spcPts val="0"/>
              </a:spcBef>
            </a:pPr>
            <a:endParaRPr lang="zh-CN" altLang="en-US" sz="2200" dirty="0">
              <a:latin typeface="Times New Roman" panose="02020603050405020304" pitchFamily="18" charset="0"/>
              <a:ea typeface="黑体" panose="02010609060101010101" pitchFamily="49" charset="-122"/>
            </a:endParaRPr>
          </a:p>
        </p:txBody>
      </p:sp>
      <p:graphicFrame>
        <p:nvGraphicFramePr>
          <p:cNvPr id="12" name="Object 2"/>
          <p:cNvGraphicFramePr>
            <a:graphicFrameLocks noChangeAspect="1"/>
          </p:cNvGraphicFramePr>
          <p:nvPr>
            <p:extLst>
              <p:ext uri="{D42A27DB-BD31-4B8C-83A1-F6EECF244321}">
                <p14:modId xmlns:p14="http://schemas.microsoft.com/office/powerpoint/2010/main" val="3414561427"/>
              </p:ext>
            </p:extLst>
          </p:nvPr>
        </p:nvGraphicFramePr>
        <p:xfrm>
          <a:off x="551384" y="2576978"/>
          <a:ext cx="7399337" cy="1414463"/>
        </p:xfrm>
        <a:graphic>
          <a:graphicData uri="http://schemas.openxmlformats.org/presentationml/2006/ole">
            <mc:AlternateContent xmlns:mc="http://schemas.openxmlformats.org/markup-compatibility/2006">
              <mc:Choice xmlns:v="urn:schemas-microsoft-com:vml" Requires="v">
                <p:oleObj spid="_x0000_s50414" name="Equation" r:id="rId9" imgW="3987720" imgH="761760" progId="Equation.DSMT4">
                  <p:embed/>
                </p:oleObj>
              </mc:Choice>
              <mc:Fallback>
                <p:oleObj name="Equation" r:id="rId9" imgW="3987720" imgH="761760" progId="Equation.DSMT4">
                  <p:embed/>
                  <p:pic>
                    <p:nvPicPr>
                      <p:cNvPr id="0" name="Picture 2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1384" y="2576978"/>
                        <a:ext cx="7399337" cy="1414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矩形 20"/>
          <p:cNvSpPr/>
          <p:nvPr/>
        </p:nvSpPr>
        <p:spPr>
          <a:xfrm>
            <a:off x="370816" y="4908981"/>
            <a:ext cx="11449272" cy="1107996"/>
          </a:xfrm>
          <a:prstGeom prst="rect">
            <a:avLst/>
          </a:prstGeom>
        </p:spPr>
        <p:txBody>
          <a:bodyPr wrap="square">
            <a:spAutoFit/>
          </a:bodyPr>
          <a:lstStyle/>
          <a:p>
            <a:pPr marL="900113" indent="-900113">
              <a:lnSpc>
                <a:spcPct val="150000"/>
              </a:lnSpc>
              <a:spcBef>
                <a:spcPts val="0"/>
              </a:spcBef>
            </a:pPr>
            <a:r>
              <a:rPr lang="zh-CN" altLang="en-US" sz="2200" dirty="0">
                <a:solidFill>
                  <a:srgbClr val="FF0000"/>
                </a:solidFill>
                <a:latin typeface="Times New Roman" panose="02020603050405020304" pitchFamily="18" charset="0"/>
                <a:ea typeface="黑体" panose="02010609060101010101" pitchFamily="49" charset="-122"/>
              </a:rPr>
              <a:t>推论：</a:t>
            </a:r>
            <a:r>
              <a:rPr lang="zh-CN" altLang="en-US" sz="2200" dirty="0">
                <a:latin typeface="Times New Roman" panose="02020603050405020304" pitchFamily="18" charset="0"/>
                <a:ea typeface="黑体" panose="02010609060101010101" pitchFamily="49" charset="-122"/>
              </a:rPr>
              <a:t>如果多元正态随机向量 </a:t>
            </a:r>
            <a:r>
              <a:rPr lang="en-US" altLang="zh-CN" sz="2200" i="1" dirty="0">
                <a:latin typeface="Times New Roman" panose="02020603050405020304" pitchFamily="18" charset="0"/>
                <a:ea typeface="黑体" panose="02010609060101010101" pitchFamily="49" charset="-122"/>
              </a:rPr>
              <a:t>x </a:t>
            </a:r>
            <a:r>
              <a:rPr lang="zh-CN" altLang="en-US" sz="2200" dirty="0">
                <a:latin typeface="Times New Roman" panose="02020603050405020304" pitchFamily="18" charset="0"/>
                <a:ea typeface="黑体" panose="02010609060101010101" pitchFamily="49" charset="-122"/>
              </a:rPr>
              <a:t>的协方差阵是对角阵，则 </a:t>
            </a:r>
            <a:r>
              <a:rPr lang="en-US" altLang="zh-CN" sz="2200" i="1" dirty="0">
                <a:latin typeface="Times New Roman" panose="02020603050405020304" pitchFamily="18" charset="0"/>
                <a:ea typeface="黑体" panose="02010609060101010101" pitchFamily="49" charset="-122"/>
              </a:rPr>
              <a:t>x </a:t>
            </a:r>
            <a:r>
              <a:rPr lang="zh-CN" altLang="en-US" sz="2200" dirty="0">
                <a:latin typeface="Times New Roman" panose="02020603050405020304" pitchFamily="18" charset="0"/>
                <a:ea typeface="黑体" panose="02010609060101010101" pitchFamily="49" charset="-122"/>
              </a:rPr>
              <a:t>的分量是互相独立的正态分布随机变量。</a:t>
            </a:r>
          </a:p>
        </p:txBody>
      </p:sp>
      <p:sp>
        <p:nvSpPr>
          <p:cNvPr id="4" name="矩形 3"/>
          <p:cNvSpPr/>
          <p:nvPr/>
        </p:nvSpPr>
        <p:spPr>
          <a:xfrm>
            <a:off x="370816" y="4223823"/>
            <a:ext cx="11449272" cy="532453"/>
          </a:xfrm>
          <a:prstGeom prst="rect">
            <a:avLst/>
          </a:prstGeom>
        </p:spPr>
        <p:txBody>
          <a:bodyPr wrap="square">
            <a:spAutoFit/>
          </a:bodyPr>
          <a:lstStyle/>
          <a:p>
            <a:pPr>
              <a:lnSpc>
                <a:spcPct val="130000"/>
              </a:lnSpc>
              <a:spcBef>
                <a:spcPts val="600"/>
              </a:spcBef>
              <a:buFontTx/>
              <a:buNone/>
            </a:pPr>
            <a:r>
              <a:rPr lang="zh-CN" altLang="en-US" sz="2200" dirty="0">
                <a:latin typeface="Times New Roman" panose="02020603050405020304" pitchFamily="18" charset="0"/>
                <a:ea typeface="黑体" panose="02010609060101010101" pitchFamily="49" charset="-122"/>
              </a:rPr>
              <a:t>若多元正态分布的任意两个分量 </a:t>
            </a:r>
            <a:r>
              <a:rPr lang="en-US" altLang="zh-CN" sz="2200" i="1" dirty="0">
                <a:latin typeface="Times New Roman" panose="02020603050405020304" pitchFamily="18" charset="0"/>
                <a:ea typeface="黑体" panose="02010609060101010101" pitchFamily="49" charset="-122"/>
                <a:cs typeface="Times New Roman" charset="0"/>
              </a:rPr>
              <a:t>x</a:t>
            </a:r>
            <a:r>
              <a:rPr lang="en-US" altLang="zh-CN" sz="2200" i="1" baseline="-25000" dirty="0">
                <a:latin typeface="Times New Roman" panose="02020603050405020304" pitchFamily="18" charset="0"/>
                <a:ea typeface="黑体" panose="02010609060101010101" pitchFamily="49" charset="-122"/>
                <a:cs typeface="Times New Roman" charset="0"/>
              </a:rPr>
              <a:t>i </a:t>
            </a:r>
            <a:r>
              <a:rPr lang="zh-CN" altLang="en-US" sz="2200" dirty="0">
                <a:latin typeface="Times New Roman" panose="02020603050405020304" pitchFamily="18" charset="0"/>
                <a:ea typeface="黑体" panose="02010609060101010101" pitchFamily="49" charset="-122"/>
              </a:rPr>
              <a:t>与 </a:t>
            </a:r>
            <a:r>
              <a:rPr lang="en-US" altLang="zh-CN" sz="2200" i="1" dirty="0" err="1">
                <a:latin typeface="Times New Roman" panose="02020603050405020304" pitchFamily="18" charset="0"/>
                <a:ea typeface="黑体" panose="02010609060101010101" pitchFamily="49" charset="-122"/>
              </a:rPr>
              <a:t>x</a:t>
            </a:r>
            <a:r>
              <a:rPr lang="en-US" altLang="zh-CN" sz="2200" i="1" baseline="-25000" dirty="0" err="1">
                <a:latin typeface="Times New Roman" panose="02020603050405020304" pitchFamily="18" charset="0"/>
                <a:ea typeface="黑体" panose="02010609060101010101" pitchFamily="49" charset="-122"/>
              </a:rPr>
              <a:t>j</a:t>
            </a:r>
            <a:r>
              <a:rPr lang="en-US" altLang="zh-CN" sz="2200" i="1" baseline="-25000"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互不相关</a:t>
            </a:r>
            <a:r>
              <a:rPr lang="en-US" altLang="zh-CN" sz="2200" dirty="0">
                <a:latin typeface="Times New Roman" panose="02020603050405020304" pitchFamily="18" charset="0"/>
                <a:ea typeface="黑体" panose="02010609060101010101" pitchFamily="49" charset="-122"/>
              </a:rPr>
              <a:t>,</a:t>
            </a:r>
            <a:r>
              <a:rPr lang="zh-CN" altLang="en-US" sz="2200" dirty="0">
                <a:latin typeface="Times New Roman" panose="02020603050405020304" pitchFamily="18" charset="0"/>
                <a:ea typeface="黑体" panose="02010609060101010101" pitchFamily="49" charset="-122"/>
              </a:rPr>
              <a:t>则 </a:t>
            </a:r>
            <a:r>
              <a:rPr lang="en-US" altLang="zh-CN" sz="2200" i="1" dirty="0">
                <a:latin typeface="Times New Roman" panose="02020603050405020304" pitchFamily="18" charset="0"/>
                <a:ea typeface="黑体" panose="02010609060101010101" pitchFamily="49" charset="-122"/>
              </a:rPr>
              <a:t>x</a:t>
            </a:r>
            <a:r>
              <a:rPr lang="en-US" altLang="zh-CN" sz="2200" i="1" baseline="-25000" dirty="0">
                <a:latin typeface="Times New Roman" panose="02020603050405020304" pitchFamily="18" charset="0"/>
                <a:ea typeface="黑体" panose="02010609060101010101" pitchFamily="49" charset="-122"/>
              </a:rPr>
              <a:t>i </a:t>
            </a:r>
            <a:r>
              <a:rPr lang="zh-CN" altLang="en-US" sz="2200" dirty="0">
                <a:latin typeface="Times New Roman" panose="02020603050405020304" pitchFamily="18" charset="0"/>
                <a:ea typeface="黑体" panose="02010609060101010101" pitchFamily="49" charset="-122"/>
              </a:rPr>
              <a:t>与 </a:t>
            </a:r>
            <a:r>
              <a:rPr lang="en-US" altLang="zh-CN" sz="2200" i="1" dirty="0" err="1">
                <a:latin typeface="Times New Roman" panose="02020603050405020304" pitchFamily="18" charset="0"/>
                <a:ea typeface="黑体" panose="02010609060101010101" pitchFamily="49" charset="-122"/>
              </a:rPr>
              <a:t>x</a:t>
            </a:r>
            <a:r>
              <a:rPr lang="en-US" altLang="zh-CN" sz="2200" i="1" baseline="-25000" dirty="0" err="1">
                <a:latin typeface="Times New Roman" panose="02020603050405020304" pitchFamily="18" charset="0"/>
                <a:ea typeface="黑体" panose="02010609060101010101" pitchFamily="49" charset="-122"/>
              </a:rPr>
              <a:t>j</a:t>
            </a:r>
            <a:r>
              <a:rPr lang="en-US" altLang="zh-CN" sz="2200" i="1" baseline="-25000"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一定独立。</a:t>
            </a:r>
            <a:endParaRPr lang="en-US" altLang="zh-CN" sz="2200" dirty="0">
              <a:latin typeface="Times New Roman" panose="02020603050405020304" pitchFamily="18" charset="0"/>
              <a:ea typeface="黑体" panose="02010609060101010101" pitchFamily="49" charset="-122"/>
            </a:endParaRPr>
          </a:p>
        </p:txBody>
      </p:sp>
    </p:spTree>
    <p:extLst>
      <p:ext uri="{BB962C8B-B14F-4D97-AF65-F5344CB8AC3E}">
        <p14:creationId xmlns:p14="http://schemas.microsoft.com/office/powerpoint/2010/main" val="11717707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51</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100033"/>
            <a:ext cx="4134465"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多元正态分布函数的性质</a:t>
            </a:r>
          </a:p>
        </p:txBody>
      </p:sp>
      <p:grpSp>
        <p:nvGrpSpPr>
          <p:cNvPr id="2" name="组合 1"/>
          <p:cNvGrpSpPr/>
          <p:nvPr/>
        </p:nvGrpSpPr>
        <p:grpSpPr>
          <a:xfrm>
            <a:off x="4511824" y="983139"/>
            <a:ext cx="7344816" cy="755726"/>
            <a:chOff x="407368" y="1681238"/>
            <a:chExt cx="8280920" cy="873967"/>
          </a:xfrm>
        </p:grpSpPr>
        <p:graphicFrame>
          <p:nvGraphicFramePr>
            <p:cNvPr id="28" name="Object 3"/>
            <p:cNvGraphicFramePr>
              <a:graphicFrameLocks noChangeAspect="1"/>
            </p:cNvGraphicFramePr>
            <p:nvPr/>
          </p:nvGraphicFramePr>
          <p:xfrm>
            <a:off x="416918" y="1712243"/>
            <a:ext cx="5740400" cy="842962"/>
          </p:xfrm>
          <a:graphic>
            <a:graphicData uri="http://schemas.openxmlformats.org/presentationml/2006/ole">
              <mc:AlternateContent xmlns:mc="http://schemas.openxmlformats.org/markup-compatibility/2006">
                <mc:Choice xmlns:v="urn:schemas-microsoft-com:vml" Requires="v">
                  <p:oleObj spid="_x0000_s51542" name="Equation" r:id="rId4" imgW="3098520" imgH="482400" progId="Equation.DSMT4">
                    <p:embed/>
                  </p:oleObj>
                </mc:Choice>
                <mc:Fallback>
                  <p:oleObj name="Equation" r:id="rId4" imgW="3098520" imgH="482400" progId="Equation.DSMT4">
                    <p:embed/>
                    <p:pic>
                      <p:nvPicPr>
                        <p:cNvPr id="0" name="Picture 3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6918" y="1712243"/>
                          <a:ext cx="5740400" cy="842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Object 5"/>
            <p:cNvGraphicFramePr>
              <a:graphicFrameLocks noChangeAspect="1"/>
            </p:cNvGraphicFramePr>
            <p:nvPr/>
          </p:nvGraphicFramePr>
          <p:xfrm>
            <a:off x="6456039" y="1896624"/>
            <a:ext cx="2006599" cy="407987"/>
          </p:xfrm>
          <a:graphic>
            <a:graphicData uri="http://schemas.openxmlformats.org/presentationml/2006/ole">
              <mc:AlternateContent xmlns:mc="http://schemas.openxmlformats.org/markup-compatibility/2006">
                <mc:Choice xmlns:v="urn:schemas-microsoft-com:vml" Requires="v">
                  <p:oleObj spid="_x0000_s51543" name="Equation" r:id="rId6" imgW="1244520" imgH="253800" progId="Equation.DSMT4">
                    <p:embed/>
                  </p:oleObj>
                </mc:Choice>
                <mc:Fallback>
                  <p:oleObj name="Equation" r:id="rId6" imgW="1244520" imgH="253800" progId="Equation.DSMT4">
                    <p:embed/>
                    <p:pic>
                      <p:nvPicPr>
                        <p:cNvPr id="0" name="Picture 3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56039" y="1896624"/>
                          <a:ext cx="2006599" cy="407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矩形 44"/>
            <p:cNvSpPr/>
            <p:nvPr/>
          </p:nvSpPr>
          <p:spPr>
            <a:xfrm>
              <a:off x="407368" y="1681238"/>
              <a:ext cx="8280920" cy="811658"/>
            </a:xfrm>
            <a:prstGeom prst="rect">
              <a:avLst/>
            </a:prstGeom>
            <a:ln w="31750">
              <a:solidFill>
                <a:srgbClr val="FF0000"/>
              </a:solidFill>
            </a:ln>
          </p:spPr>
          <p:txBody>
            <a:bodyPr wrap="none" rtlCol="0" anchor="ctr">
              <a:spAutoFit/>
            </a:bodyPr>
            <a:lstStyle/>
            <a:p>
              <a:pPr algn="ctr"/>
              <a:endParaRPr lang="zh-CN" altLang="en-US" sz="2400" kern="100" dirty="0">
                <a:ea typeface="宋体"/>
                <a:cs typeface="Times New Roman"/>
              </a:endParaRPr>
            </a:p>
          </p:txBody>
        </p:sp>
      </p:grpSp>
      <p:sp>
        <p:nvSpPr>
          <p:cNvPr id="11" name="内容占位符 2"/>
          <p:cNvSpPr>
            <a:spLocks noGrp="1"/>
          </p:cNvSpPr>
          <p:nvPr>
            <p:ph idx="1"/>
          </p:nvPr>
        </p:nvSpPr>
        <p:spPr>
          <a:xfrm>
            <a:off x="372359" y="1899895"/>
            <a:ext cx="8229600" cy="494372"/>
          </a:xfrm>
        </p:spPr>
        <p:txBody>
          <a:bodyPr/>
          <a:lstStyle/>
          <a:p>
            <a:pPr>
              <a:buFontTx/>
              <a:buNone/>
            </a:pPr>
            <a:r>
              <a:rPr lang="en-US" altLang="zh-CN" sz="2200" b="1" dirty="0">
                <a:solidFill>
                  <a:srgbClr val="FF0000"/>
                </a:solidFill>
                <a:latin typeface="黑体" panose="02010609060101010101" pitchFamily="49" charset="-122"/>
                <a:ea typeface="黑体" panose="02010609060101010101" pitchFamily="49" charset="-122"/>
              </a:rPr>
              <a:t>④  </a:t>
            </a:r>
            <a:r>
              <a:rPr lang="zh-CN" altLang="en-US" sz="2200" b="1" dirty="0">
                <a:solidFill>
                  <a:srgbClr val="FF0000"/>
                </a:solidFill>
                <a:latin typeface="黑体" panose="02010609060101010101" pitchFamily="49" charset="-122"/>
                <a:ea typeface="黑体" panose="02010609060101010101" pitchFamily="49" charset="-122"/>
              </a:rPr>
              <a:t>多元正态分布的边缘分布和条件分布具有正态性</a:t>
            </a:r>
            <a:endParaRPr lang="en-US" altLang="zh-CN" sz="2200" b="1" dirty="0">
              <a:solidFill>
                <a:srgbClr val="FF0000"/>
              </a:solidFill>
              <a:latin typeface="黑体" panose="02010609060101010101" pitchFamily="49" charset="-122"/>
              <a:ea typeface="黑体" panose="02010609060101010101" pitchFamily="49" charset="-122"/>
            </a:endParaRPr>
          </a:p>
        </p:txBody>
      </p:sp>
      <p:graphicFrame>
        <p:nvGraphicFramePr>
          <p:cNvPr id="19" name="Object 4"/>
          <p:cNvGraphicFramePr>
            <a:graphicFrameLocks noChangeAspect="1"/>
          </p:cNvGraphicFramePr>
          <p:nvPr>
            <p:extLst>
              <p:ext uri="{D42A27DB-BD31-4B8C-83A1-F6EECF244321}">
                <p14:modId xmlns:p14="http://schemas.microsoft.com/office/powerpoint/2010/main" val="1881733600"/>
              </p:ext>
            </p:extLst>
          </p:nvPr>
        </p:nvGraphicFramePr>
        <p:xfrm>
          <a:off x="718820" y="2501773"/>
          <a:ext cx="6818312" cy="860425"/>
        </p:xfrm>
        <a:graphic>
          <a:graphicData uri="http://schemas.openxmlformats.org/presentationml/2006/ole">
            <mc:AlternateContent xmlns:mc="http://schemas.openxmlformats.org/markup-compatibility/2006">
              <mc:Choice xmlns:v="urn:schemas-microsoft-com:vml" Requires="v">
                <p:oleObj spid="_x0000_s51544" name="Equation" r:id="rId8" imgW="3606480" imgH="482400" progId="Equation.DSMT4">
                  <p:embed/>
                </p:oleObj>
              </mc:Choice>
              <mc:Fallback>
                <p:oleObj name="Equation" r:id="rId8" imgW="3606480" imgH="482400" progId="Equation.DSMT4">
                  <p:embed/>
                  <p:pic>
                    <p:nvPicPr>
                      <p:cNvPr id="0" name="Picture 3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8820" y="2501773"/>
                        <a:ext cx="6818312" cy="860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矩形 19"/>
          <p:cNvSpPr/>
          <p:nvPr/>
        </p:nvSpPr>
        <p:spPr>
          <a:xfrm>
            <a:off x="718820" y="3672079"/>
            <a:ext cx="2280836" cy="430887"/>
          </a:xfrm>
          <a:prstGeom prst="rect">
            <a:avLst/>
          </a:prstGeom>
        </p:spPr>
        <p:txBody>
          <a:bodyPr wrap="square">
            <a:spAutoFit/>
          </a:bodyPr>
          <a:lstStyle/>
          <a:p>
            <a:r>
              <a:rPr lang="en-US" altLang="zh-CN" sz="2200" i="1" dirty="0">
                <a:latin typeface="Times New Roman" panose="02020603050405020304" pitchFamily="18" charset="0"/>
                <a:ea typeface="黑体" panose="02010609060101010101" pitchFamily="49" charset="-122"/>
              </a:rPr>
              <a:t>x</a:t>
            </a:r>
            <a:r>
              <a:rPr lang="en-US" altLang="zh-CN" sz="1050" i="1" dirty="0">
                <a:latin typeface="Times New Roman" panose="02020603050405020304" pitchFamily="18" charset="0"/>
                <a:ea typeface="黑体" panose="02010609060101010101" pitchFamily="49" charset="-122"/>
              </a:rPr>
              <a:t>1</a:t>
            </a:r>
            <a:r>
              <a:rPr lang="zh-CN" altLang="en-US" sz="2200" i="1"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的边缘分布为</a:t>
            </a:r>
          </a:p>
        </p:txBody>
      </p:sp>
      <p:graphicFrame>
        <p:nvGraphicFramePr>
          <p:cNvPr id="21" name="Object 15"/>
          <p:cNvGraphicFramePr>
            <a:graphicFrameLocks noChangeAspect="1"/>
          </p:cNvGraphicFramePr>
          <p:nvPr>
            <p:extLst>
              <p:ext uri="{D42A27DB-BD31-4B8C-83A1-F6EECF244321}">
                <p14:modId xmlns:p14="http://schemas.microsoft.com/office/powerpoint/2010/main" val="3626024831"/>
              </p:ext>
            </p:extLst>
          </p:nvPr>
        </p:nvGraphicFramePr>
        <p:xfrm>
          <a:off x="2940662" y="3593612"/>
          <a:ext cx="2374627" cy="555468"/>
        </p:xfrm>
        <a:graphic>
          <a:graphicData uri="http://schemas.openxmlformats.org/presentationml/2006/ole">
            <mc:AlternateContent xmlns:mc="http://schemas.openxmlformats.org/markup-compatibility/2006">
              <mc:Choice xmlns:v="urn:schemas-microsoft-com:vml" Requires="v">
                <p:oleObj spid="_x0000_s51545" name="Equation" r:id="rId10" imgW="1193800" imgH="279400" progId="Equation.DSMT4">
                  <p:embed/>
                </p:oleObj>
              </mc:Choice>
              <mc:Fallback>
                <p:oleObj name="Equation" r:id="rId10" imgW="1193800" imgH="279400" progId="Equation.DSMT4">
                  <p:embed/>
                  <p:pic>
                    <p:nvPicPr>
                      <p:cNvPr id="0" name="Picture 3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40662" y="3593612"/>
                        <a:ext cx="2374627" cy="5554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16"/>
          <p:cNvGraphicFramePr>
            <a:graphicFrameLocks noChangeAspect="1"/>
          </p:cNvGraphicFramePr>
          <p:nvPr>
            <p:extLst>
              <p:ext uri="{D42A27DB-BD31-4B8C-83A1-F6EECF244321}">
                <p14:modId xmlns:p14="http://schemas.microsoft.com/office/powerpoint/2010/main" val="2694854425"/>
              </p:ext>
            </p:extLst>
          </p:nvPr>
        </p:nvGraphicFramePr>
        <p:xfrm>
          <a:off x="2940662" y="4243235"/>
          <a:ext cx="2374627" cy="532627"/>
        </p:xfrm>
        <a:graphic>
          <a:graphicData uri="http://schemas.openxmlformats.org/presentationml/2006/ole">
            <mc:AlternateContent xmlns:mc="http://schemas.openxmlformats.org/markup-compatibility/2006">
              <mc:Choice xmlns:v="urn:schemas-microsoft-com:vml" Requires="v">
                <p:oleObj spid="_x0000_s51546" name="Equation" r:id="rId12" imgW="1244600" imgH="279400" progId="Equation.DSMT4">
                  <p:embed/>
                </p:oleObj>
              </mc:Choice>
              <mc:Fallback>
                <p:oleObj name="Equation" r:id="rId12" imgW="1244600" imgH="279400" progId="Equation.DSMT4">
                  <p:embed/>
                  <p:pic>
                    <p:nvPicPr>
                      <p:cNvPr id="0" name="Picture 32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40662" y="4243235"/>
                        <a:ext cx="2374627" cy="5326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矩形 23"/>
          <p:cNvSpPr/>
          <p:nvPr/>
        </p:nvSpPr>
        <p:spPr>
          <a:xfrm>
            <a:off x="726683" y="4342185"/>
            <a:ext cx="2280836" cy="430887"/>
          </a:xfrm>
          <a:prstGeom prst="rect">
            <a:avLst/>
          </a:prstGeom>
        </p:spPr>
        <p:txBody>
          <a:bodyPr wrap="square">
            <a:spAutoFit/>
          </a:bodyPr>
          <a:lstStyle/>
          <a:p>
            <a:r>
              <a:rPr lang="en-US" altLang="zh-CN" sz="2200" i="1" dirty="0">
                <a:latin typeface="Times New Roman" panose="02020603050405020304" pitchFamily="18" charset="0"/>
                <a:ea typeface="黑体" panose="02010609060101010101" pitchFamily="49" charset="-122"/>
              </a:rPr>
              <a:t>x</a:t>
            </a:r>
            <a:r>
              <a:rPr lang="en-US" altLang="zh-CN" sz="1050" i="1" dirty="0">
                <a:latin typeface="Times New Roman" panose="02020603050405020304" pitchFamily="18" charset="0"/>
                <a:ea typeface="黑体" panose="02010609060101010101" pitchFamily="49" charset="-122"/>
              </a:rPr>
              <a:t>2</a:t>
            </a:r>
            <a:r>
              <a:rPr lang="zh-CN" altLang="en-US" sz="2200" i="1"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的边缘分布为</a:t>
            </a:r>
          </a:p>
        </p:txBody>
      </p:sp>
      <p:sp>
        <p:nvSpPr>
          <p:cNvPr id="26" name="内容占位符 2"/>
          <p:cNvSpPr txBox="1">
            <a:spLocks/>
          </p:cNvSpPr>
          <p:nvPr/>
        </p:nvSpPr>
        <p:spPr bwMode="gray">
          <a:xfrm>
            <a:off x="718819" y="5005360"/>
            <a:ext cx="7883139" cy="4943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FontTx/>
              <a:buNone/>
            </a:pPr>
            <a:r>
              <a:rPr lang="zh-CN" altLang="en-US" sz="2200" kern="0" dirty="0">
                <a:latin typeface="黑体" panose="02010609060101010101" pitchFamily="49" charset="-122"/>
                <a:ea typeface="黑体" panose="02010609060101010101" pitchFamily="49" charset="-122"/>
              </a:rPr>
              <a:t>多元正态分布的边缘分布和条件分布仍然是正态分布。</a:t>
            </a:r>
            <a:endParaRPr lang="en-US" altLang="zh-CN" sz="2200" kern="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4695228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52</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100033"/>
            <a:ext cx="4134465"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多元正态分布函数的性质</a:t>
            </a:r>
          </a:p>
        </p:txBody>
      </p:sp>
      <p:grpSp>
        <p:nvGrpSpPr>
          <p:cNvPr id="2" name="组合 1"/>
          <p:cNvGrpSpPr/>
          <p:nvPr/>
        </p:nvGrpSpPr>
        <p:grpSpPr>
          <a:xfrm>
            <a:off x="4511824" y="983139"/>
            <a:ext cx="7344816" cy="755726"/>
            <a:chOff x="407368" y="1681238"/>
            <a:chExt cx="8280920" cy="873967"/>
          </a:xfrm>
        </p:grpSpPr>
        <p:graphicFrame>
          <p:nvGraphicFramePr>
            <p:cNvPr id="28" name="Object 3"/>
            <p:cNvGraphicFramePr>
              <a:graphicFrameLocks noChangeAspect="1"/>
            </p:cNvGraphicFramePr>
            <p:nvPr/>
          </p:nvGraphicFramePr>
          <p:xfrm>
            <a:off x="416918" y="1712243"/>
            <a:ext cx="5740400" cy="842962"/>
          </p:xfrm>
          <a:graphic>
            <a:graphicData uri="http://schemas.openxmlformats.org/presentationml/2006/ole">
              <mc:AlternateContent xmlns:mc="http://schemas.openxmlformats.org/markup-compatibility/2006">
                <mc:Choice xmlns:v="urn:schemas-microsoft-com:vml" Requires="v">
                  <p:oleObj spid="_x0000_s54416" name="Equation" r:id="rId4" imgW="3098520" imgH="482400" progId="Equation.DSMT4">
                    <p:embed/>
                  </p:oleObj>
                </mc:Choice>
                <mc:Fallback>
                  <p:oleObj name="Equation" r:id="rId4" imgW="3098520" imgH="482400" progId="Equation.DSMT4">
                    <p:embed/>
                    <p:pic>
                      <p:nvPicPr>
                        <p:cNvPr id="0" name="Picture 1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6918" y="1712243"/>
                          <a:ext cx="5740400" cy="842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Object 5"/>
            <p:cNvGraphicFramePr>
              <a:graphicFrameLocks noChangeAspect="1"/>
            </p:cNvGraphicFramePr>
            <p:nvPr/>
          </p:nvGraphicFramePr>
          <p:xfrm>
            <a:off x="6456039" y="1896624"/>
            <a:ext cx="2006599" cy="407987"/>
          </p:xfrm>
          <a:graphic>
            <a:graphicData uri="http://schemas.openxmlformats.org/presentationml/2006/ole">
              <mc:AlternateContent xmlns:mc="http://schemas.openxmlformats.org/markup-compatibility/2006">
                <mc:Choice xmlns:v="urn:schemas-microsoft-com:vml" Requires="v">
                  <p:oleObj spid="_x0000_s54417" name="Equation" r:id="rId6" imgW="1244520" imgH="253800" progId="Equation.DSMT4">
                    <p:embed/>
                  </p:oleObj>
                </mc:Choice>
                <mc:Fallback>
                  <p:oleObj name="Equation" r:id="rId6" imgW="1244520" imgH="253800" progId="Equation.DSMT4">
                    <p:embed/>
                    <p:pic>
                      <p:nvPicPr>
                        <p:cNvPr id="0" name="Picture 13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56039" y="1896624"/>
                          <a:ext cx="2006599" cy="407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矩形 44"/>
            <p:cNvSpPr/>
            <p:nvPr/>
          </p:nvSpPr>
          <p:spPr>
            <a:xfrm>
              <a:off x="407368" y="1681238"/>
              <a:ext cx="8280920" cy="811658"/>
            </a:xfrm>
            <a:prstGeom prst="rect">
              <a:avLst/>
            </a:prstGeom>
            <a:ln w="31750">
              <a:solidFill>
                <a:srgbClr val="FF0000"/>
              </a:solidFill>
            </a:ln>
          </p:spPr>
          <p:txBody>
            <a:bodyPr wrap="none" rtlCol="0" anchor="ctr">
              <a:spAutoFit/>
            </a:bodyPr>
            <a:lstStyle/>
            <a:p>
              <a:pPr algn="ctr"/>
              <a:endParaRPr lang="zh-CN" altLang="en-US" sz="2400" kern="100" dirty="0">
                <a:ea typeface="宋体"/>
                <a:cs typeface="Times New Roman"/>
              </a:endParaRPr>
            </a:p>
          </p:txBody>
        </p:sp>
      </p:grpSp>
      <p:sp>
        <p:nvSpPr>
          <p:cNvPr id="11" name="内容占位符 2"/>
          <p:cNvSpPr>
            <a:spLocks noGrp="1"/>
          </p:cNvSpPr>
          <p:nvPr>
            <p:ph idx="1"/>
          </p:nvPr>
        </p:nvSpPr>
        <p:spPr>
          <a:xfrm>
            <a:off x="352694" y="1915748"/>
            <a:ext cx="11503946" cy="4583203"/>
          </a:xfrm>
        </p:spPr>
        <p:txBody>
          <a:bodyPr/>
          <a:lstStyle/>
          <a:p>
            <a:pPr>
              <a:lnSpc>
                <a:spcPct val="130000"/>
              </a:lnSpc>
              <a:spcBef>
                <a:spcPts val="0"/>
              </a:spcBef>
              <a:buFontTx/>
              <a:buNone/>
            </a:pPr>
            <a:r>
              <a:rPr lang="zh-CN" altLang="en-US" sz="2200" b="1" dirty="0">
                <a:solidFill>
                  <a:srgbClr val="FF0000"/>
                </a:solidFill>
                <a:latin typeface="Times New Roman" panose="02020603050405020304" pitchFamily="18" charset="0"/>
                <a:ea typeface="黑体" panose="02010609060101010101" pitchFamily="49" charset="-122"/>
              </a:rPr>
              <a:t>⑤  线性变换的正态性</a:t>
            </a:r>
          </a:p>
          <a:p>
            <a:pPr>
              <a:lnSpc>
                <a:spcPct val="130000"/>
              </a:lnSpc>
              <a:spcBef>
                <a:spcPts val="600"/>
              </a:spcBef>
              <a:buFontTx/>
              <a:buNone/>
            </a:pPr>
            <a:r>
              <a:rPr lang="zh-CN" altLang="en-US" sz="2200" dirty="0">
                <a:latin typeface="Times New Roman" panose="02020603050405020304" pitchFamily="18" charset="0"/>
                <a:ea typeface="黑体" panose="02010609060101010101" pitchFamily="49" charset="-122"/>
              </a:rPr>
              <a:t>    </a:t>
            </a:r>
            <a:r>
              <a:rPr lang="en-US" altLang="zh-CN" sz="2200" b="1" i="1" dirty="0">
                <a:latin typeface="Times New Roman" panose="02020603050405020304" pitchFamily="18" charset="0"/>
                <a:ea typeface="黑体" panose="02010609060101010101" pitchFamily="49" charset="-122"/>
              </a:rPr>
              <a:t>x </a:t>
            </a:r>
            <a:r>
              <a:rPr lang="zh-CN" altLang="en-US" sz="2200" dirty="0">
                <a:latin typeface="Times New Roman" panose="02020603050405020304" pitchFamily="18" charset="0"/>
                <a:ea typeface="黑体" panose="02010609060101010101" pitchFamily="49" charset="-122"/>
              </a:rPr>
              <a:t>为多元正态分布的随机向量，其均值向量为 </a:t>
            </a:r>
            <a:r>
              <a:rPr lang="en-US" altLang="zh-CN" sz="2200" b="1" dirty="0">
                <a:latin typeface="Times New Roman" panose="02020603050405020304" pitchFamily="18" charset="0"/>
                <a:ea typeface="黑体" panose="02010609060101010101" pitchFamily="49" charset="-122"/>
              </a:rPr>
              <a:t>µ</a:t>
            </a:r>
            <a:r>
              <a:rPr lang="zh-CN" altLang="en-US" sz="2200" dirty="0">
                <a:latin typeface="Times New Roman" panose="02020603050405020304" pitchFamily="18" charset="0"/>
                <a:ea typeface="黑体" panose="02010609060101010101" pitchFamily="49" charset="-122"/>
              </a:rPr>
              <a:t>，协方差矩阵为 </a:t>
            </a:r>
            <a:r>
              <a:rPr lang="el-GR" altLang="zh-CN" sz="2200" dirty="0">
                <a:latin typeface="Times New Roman" panose="02020603050405020304" pitchFamily="18" charset="0"/>
                <a:ea typeface="黑体" panose="02010609060101010101" pitchFamily="49" charset="-122"/>
              </a:rPr>
              <a:t>Σ</a:t>
            </a:r>
            <a:r>
              <a:rPr lang="zh-CN" altLang="en-US" sz="2200" dirty="0">
                <a:latin typeface="Times New Roman" panose="02020603050405020304" pitchFamily="18" charset="0"/>
                <a:ea typeface="黑体" panose="02010609060101010101" pitchFamily="49" charset="-122"/>
              </a:rPr>
              <a:t>。对 </a:t>
            </a:r>
            <a:r>
              <a:rPr lang="en-US" altLang="zh-CN" sz="2200" b="1" i="1" dirty="0">
                <a:latin typeface="Times New Roman" panose="02020603050405020304" pitchFamily="18" charset="0"/>
                <a:ea typeface="黑体" panose="02010609060101010101" pitchFamily="49" charset="-122"/>
              </a:rPr>
              <a:t>x </a:t>
            </a:r>
            <a:r>
              <a:rPr lang="zh-CN" altLang="en-US" sz="2200" dirty="0">
                <a:latin typeface="Times New Roman" panose="02020603050405020304" pitchFamily="18" charset="0"/>
                <a:ea typeface="黑体" panose="02010609060101010101" pitchFamily="49" charset="-122"/>
              </a:rPr>
              <a:t>作线性变换，即</a:t>
            </a:r>
          </a:p>
          <a:p>
            <a:pPr>
              <a:lnSpc>
                <a:spcPct val="130000"/>
              </a:lnSpc>
              <a:spcBef>
                <a:spcPts val="600"/>
              </a:spcBef>
              <a:buFontTx/>
              <a:buNone/>
            </a:pPr>
            <a:r>
              <a:rPr lang="zh-CN" altLang="en-US" sz="2200" i="1" dirty="0">
                <a:latin typeface="Times New Roman" panose="02020603050405020304" pitchFamily="18" charset="0"/>
                <a:ea typeface="黑体" panose="02010609060101010101" pitchFamily="49" charset="-122"/>
              </a:rPr>
              <a:t>                                                                           </a:t>
            </a:r>
            <a:r>
              <a:rPr lang="zh-CN" altLang="en-US" sz="2200" b="1" i="1" dirty="0">
                <a:latin typeface="Times New Roman" panose="02020603050405020304" pitchFamily="18" charset="0"/>
                <a:ea typeface="黑体" panose="02010609060101010101" pitchFamily="49" charset="-122"/>
              </a:rPr>
              <a:t> </a:t>
            </a:r>
            <a:r>
              <a:rPr lang="en-US" altLang="zh-CN" sz="2200" b="1" i="1" dirty="0">
                <a:latin typeface="Times New Roman" panose="02020603050405020304" pitchFamily="18" charset="0"/>
                <a:ea typeface="黑体" panose="02010609060101010101" pitchFamily="49" charset="-122"/>
              </a:rPr>
              <a:t>y</a:t>
            </a:r>
            <a:r>
              <a:rPr lang="en-US" altLang="zh-CN" sz="2200" b="1" dirty="0">
                <a:latin typeface="Times New Roman" panose="02020603050405020304" pitchFamily="18" charset="0"/>
                <a:ea typeface="黑体" panose="02010609060101010101" pitchFamily="49" charset="-122"/>
              </a:rPr>
              <a:t> = </a:t>
            </a:r>
            <a:r>
              <a:rPr lang="en-US" altLang="zh-CN" sz="2200" dirty="0">
                <a:latin typeface="Times New Roman" panose="02020603050405020304" pitchFamily="18" charset="0"/>
                <a:ea typeface="黑体" panose="02010609060101010101" pitchFamily="49" charset="-122"/>
              </a:rPr>
              <a:t>A</a:t>
            </a:r>
            <a:r>
              <a:rPr lang="en-US" altLang="zh-CN" sz="2200" b="1" dirty="0">
                <a:latin typeface="Times New Roman" panose="02020603050405020304" pitchFamily="18" charset="0"/>
                <a:ea typeface="黑体" panose="02010609060101010101" pitchFamily="49" charset="-122"/>
              </a:rPr>
              <a:t> </a:t>
            </a:r>
            <a:r>
              <a:rPr lang="en-US" altLang="zh-CN" sz="2200" b="1" i="1" dirty="0">
                <a:latin typeface="Times New Roman" panose="02020603050405020304" pitchFamily="18" charset="0"/>
                <a:ea typeface="黑体" panose="02010609060101010101" pitchFamily="49" charset="-122"/>
              </a:rPr>
              <a:t>x</a:t>
            </a:r>
          </a:p>
          <a:p>
            <a:pPr marL="271463" indent="-271463">
              <a:lnSpc>
                <a:spcPct val="130000"/>
              </a:lnSpc>
              <a:spcBef>
                <a:spcPts val="0"/>
              </a:spcBef>
              <a:buFontTx/>
              <a:buNone/>
            </a:pPr>
            <a:r>
              <a:rPr lang="en-US" altLang="zh-CN" sz="2200" dirty="0">
                <a:latin typeface="Times New Roman" panose="02020603050405020304" pitchFamily="18" charset="0"/>
                <a:ea typeface="黑体" panose="02010609060101010101" pitchFamily="49" charset="-122"/>
              </a:rPr>
              <a:t>    A</a:t>
            </a:r>
            <a:r>
              <a:rPr lang="zh-CN" altLang="en-US" sz="2200" dirty="0">
                <a:latin typeface="Times New Roman" panose="02020603050405020304" pitchFamily="18" charset="0"/>
                <a:ea typeface="黑体" panose="02010609060101010101" pitchFamily="49" charset="-122"/>
              </a:rPr>
              <a:t>为线性变换矩阵且非奇异。</a:t>
            </a:r>
            <a:r>
              <a:rPr lang="en-US" altLang="zh-CN" sz="2200" i="1" dirty="0">
                <a:latin typeface="Times New Roman" panose="02020603050405020304" pitchFamily="18" charset="0"/>
                <a:ea typeface="黑体" panose="02010609060101010101" pitchFamily="49" charset="-122"/>
              </a:rPr>
              <a:t>y </a:t>
            </a:r>
            <a:r>
              <a:rPr lang="zh-CN" altLang="en-US" sz="2200" dirty="0">
                <a:latin typeface="Times New Roman" panose="02020603050405020304" pitchFamily="18" charset="0"/>
                <a:ea typeface="黑体" panose="02010609060101010101" pitchFamily="49" charset="-122"/>
              </a:rPr>
              <a:t>服从均值向量为</a:t>
            </a:r>
            <a:r>
              <a:rPr lang="en-US" altLang="zh-CN" sz="2200" dirty="0">
                <a:latin typeface="Times New Roman" panose="02020603050405020304" pitchFamily="18" charset="0"/>
                <a:ea typeface="黑体" panose="02010609060101010101" pitchFamily="49" charset="-122"/>
              </a:rPr>
              <a:t>A</a:t>
            </a:r>
            <a:r>
              <a:rPr lang="en-US" altLang="zh-CN" sz="2200" b="1" dirty="0">
                <a:latin typeface="Times New Roman" panose="02020603050405020304" pitchFamily="18" charset="0"/>
                <a:ea typeface="黑体" panose="02010609060101010101" pitchFamily="49" charset="-122"/>
              </a:rPr>
              <a:t>µ</a:t>
            </a:r>
            <a:r>
              <a:rPr lang="zh-CN" altLang="en-US" sz="2200" dirty="0">
                <a:latin typeface="Times New Roman" panose="02020603050405020304" pitchFamily="18" charset="0"/>
                <a:ea typeface="黑体" panose="02010609060101010101" pitchFamily="49" charset="-122"/>
              </a:rPr>
              <a:t>、协方差矩阵为</a:t>
            </a:r>
            <a:r>
              <a:rPr lang="en-US" altLang="zh-CN" sz="2200" dirty="0">
                <a:latin typeface="Times New Roman" panose="02020603050405020304" pitchFamily="18" charset="0"/>
                <a:ea typeface="黑体" panose="02010609060101010101" pitchFamily="49" charset="-122"/>
              </a:rPr>
              <a:t>A</a:t>
            </a:r>
            <a:r>
              <a:rPr lang="el-GR" altLang="zh-CN" sz="2200" dirty="0">
                <a:latin typeface="Times New Roman" panose="02020603050405020304" pitchFamily="18" charset="0"/>
                <a:ea typeface="黑体" panose="02010609060101010101" pitchFamily="49" charset="-122"/>
              </a:rPr>
              <a:t>Σ</a:t>
            </a:r>
            <a:r>
              <a:rPr lang="en-US" altLang="zh-CN" sz="2200" dirty="0">
                <a:latin typeface="Times New Roman" panose="02020603050405020304" pitchFamily="18" charset="0"/>
                <a:ea typeface="黑体" panose="02010609060101010101" pitchFamily="49" charset="-122"/>
              </a:rPr>
              <a:t>A</a:t>
            </a:r>
            <a:r>
              <a:rPr lang="en-US" altLang="zh-CN" sz="2200" baseline="30000" dirty="0">
                <a:latin typeface="Times New Roman" panose="02020603050405020304" pitchFamily="18" charset="0"/>
                <a:ea typeface="黑体" panose="02010609060101010101" pitchFamily="49" charset="-122"/>
              </a:rPr>
              <a:t>T</a:t>
            </a:r>
            <a:r>
              <a:rPr lang="zh-CN" altLang="en-US" sz="2200" dirty="0">
                <a:latin typeface="Times New Roman" panose="02020603050405020304" pitchFamily="18" charset="0"/>
                <a:ea typeface="黑体" panose="02010609060101010101" pitchFamily="49" charset="-122"/>
              </a:rPr>
              <a:t>的多元正态分布。             </a:t>
            </a:r>
          </a:p>
          <a:p>
            <a:pPr>
              <a:lnSpc>
                <a:spcPct val="130000"/>
              </a:lnSpc>
              <a:spcBef>
                <a:spcPts val="600"/>
              </a:spcBef>
              <a:buFontTx/>
              <a:buNone/>
            </a:pPr>
            <a:r>
              <a:rPr lang="zh-CN" altLang="en-US" sz="2200" dirty="0">
                <a:latin typeface="Times New Roman" panose="02020603050405020304" pitchFamily="18" charset="0"/>
                <a:ea typeface="黑体" panose="02010609060101010101" pitchFamily="49" charset="-122"/>
              </a:rPr>
              <a:t>                                                                 </a:t>
            </a:r>
            <a:r>
              <a:rPr lang="en-US" altLang="zh-CN" sz="2200" i="1" dirty="0">
                <a:latin typeface="Times New Roman" panose="02020603050405020304" pitchFamily="18" charset="0"/>
                <a:ea typeface="黑体" panose="02010609060101010101" pitchFamily="49" charset="-122"/>
              </a:rPr>
              <a:t>p</a:t>
            </a:r>
            <a:r>
              <a:rPr lang="en-US" altLang="zh-CN" sz="2200" dirty="0">
                <a:latin typeface="Times New Roman" panose="02020603050405020304" pitchFamily="18" charset="0"/>
                <a:ea typeface="黑体" panose="02010609060101010101" pitchFamily="49" charset="-122"/>
              </a:rPr>
              <a:t>(</a:t>
            </a:r>
            <a:r>
              <a:rPr lang="en-US" altLang="zh-CN" sz="2200" i="1" dirty="0">
                <a:latin typeface="Times New Roman" panose="02020603050405020304" pitchFamily="18" charset="0"/>
                <a:ea typeface="黑体" panose="02010609060101010101" pitchFamily="49" charset="-122"/>
              </a:rPr>
              <a:t>y</a:t>
            </a:r>
            <a:r>
              <a:rPr lang="en-US" altLang="zh-CN" sz="2200" dirty="0">
                <a:latin typeface="Times New Roman" panose="02020603050405020304" pitchFamily="18" charset="0"/>
                <a:ea typeface="黑体" panose="02010609060101010101" pitchFamily="49" charset="-122"/>
              </a:rPr>
              <a:t>) ~ N(A</a:t>
            </a:r>
            <a:r>
              <a:rPr lang="en-US" altLang="zh-CN" sz="2200" b="1" dirty="0">
                <a:latin typeface="Times New Roman" panose="02020603050405020304" pitchFamily="18" charset="0"/>
                <a:ea typeface="黑体" panose="02010609060101010101" pitchFamily="49" charset="-122"/>
              </a:rPr>
              <a:t>µ</a:t>
            </a:r>
            <a:r>
              <a:rPr lang="en-US" altLang="zh-CN" sz="2200" dirty="0">
                <a:latin typeface="Times New Roman" panose="02020603050405020304" pitchFamily="18" charset="0"/>
                <a:ea typeface="黑体" panose="02010609060101010101" pitchFamily="49" charset="-122"/>
              </a:rPr>
              <a:t>, A</a:t>
            </a:r>
            <a:r>
              <a:rPr lang="el-GR" altLang="zh-CN" sz="2200" dirty="0">
                <a:latin typeface="Times New Roman" panose="02020603050405020304" pitchFamily="18" charset="0"/>
                <a:ea typeface="黑体" panose="02010609060101010101" pitchFamily="49" charset="-122"/>
              </a:rPr>
              <a:t>Σ</a:t>
            </a:r>
            <a:r>
              <a:rPr lang="en-US" altLang="zh-CN" sz="2200" dirty="0">
                <a:latin typeface="Times New Roman" panose="02020603050405020304" pitchFamily="18" charset="0"/>
                <a:ea typeface="黑体" panose="02010609060101010101" pitchFamily="49" charset="-122"/>
              </a:rPr>
              <a:t>A</a:t>
            </a:r>
            <a:r>
              <a:rPr lang="en-US" altLang="zh-CN" sz="2200" baseline="30000" dirty="0">
                <a:latin typeface="Times New Roman" panose="02020603050405020304" pitchFamily="18" charset="0"/>
                <a:ea typeface="黑体" panose="02010609060101010101" pitchFamily="49" charset="-122"/>
              </a:rPr>
              <a:t>T</a:t>
            </a:r>
            <a:r>
              <a:rPr lang="en-US" altLang="zh-CN" sz="2200" dirty="0">
                <a:latin typeface="Times New Roman" panose="02020603050405020304" pitchFamily="18" charset="0"/>
                <a:ea typeface="黑体" panose="02010609060101010101" pitchFamily="49" charset="-122"/>
              </a:rPr>
              <a:t>) </a:t>
            </a:r>
          </a:p>
          <a:p>
            <a:pPr>
              <a:lnSpc>
                <a:spcPct val="130000"/>
              </a:lnSpc>
              <a:spcBef>
                <a:spcPts val="1200"/>
              </a:spcBef>
              <a:buFontTx/>
              <a:buNone/>
            </a:pPr>
            <a:r>
              <a:rPr lang="en-US" altLang="zh-CN" sz="2200" b="1" dirty="0">
                <a:solidFill>
                  <a:srgbClr val="FF0000"/>
                </a:solidFill>
                <a:latin typeface="Times New Roman" panose="02020603050405020304" pitchFamily="18" charset="0"/>
                <a:ea typeface="黑体" panose="02010609060101010101" pitchFamily="49" charset="-122"/>
              </a:rPr>
              <a:t>⑥  </a:t>
            </a:r>
            <a:r>
              <a:rPr lang="zh-CN" altLang="en-US" sz="2200" b="1" dirty="0">
                <a:solidFill>
                  <a:srgbClr val="FF0000"/>
                </a:solidFill>
                <a:latin typeface="Times New Roman" panose="02020603050405020304" pitchFamily="18" charset="0"/>
                <a:ea typeface="黑体" panose="02010609060101010101" pitchFamily="49" charset="-122"/>
              </a:rPr>
              <a:t>线性组合的正态性</a:t>
            </a:r>
          </a:p>
          <a:p>
            <a:pPr>
              <a:lnSpc>
                <a:spcPct val="130000"/>
              </a:lnSpc>
              <a:spcBef>
                <a:spcPts val="600"/>
              </a:spcBef>
              <a:buFontTx/>
              <a:buNone/>
            </a:pPr>
            <a:r>
              <a:rPr lang="zh-CN" altLang="en-US" sz="2200" dirty="0">
                <a:latin typeface="Times New Roman" panose="02020603050405020304" pitchFamily="18" charset="0"/>
                <a:ea typeface="黑体" panose="02010609060101010101" pitchFamily="49" charset="-122"/>
              </a:rPr>
              <a:t>   </a:t>
            </a:r>
            <a:r>
              <a:rPr lang="en-US" altLang="zh-CN" sz="2200" b="1" i="1" dirty="0">
                <a:latin typeface="Times New Roman" panose="02020603050405020304" pitchFamily="18" charset="0"/>
                <a:ea typeface="黑体" panose="02010609060101010101" pitchFamily="49" charset="-122"/>
              </a:rPr>
              <a:t>x </a:t>
            </a:r>
            <a:r>
              <a:rPr lang="zh-CN" altLang="en-US" sz="2200" dirty="0">
                <a:latin typeface="Times New Roman" panose="02020603050405020304" pitchFamily="18" charset="0"/>
                <a:ea typeface="黑体" panose="02010609060101010101" pitchFamily="49" charset="-122"/>
              </a:rPr>
              <a:t>为多元正态分布的随机向量，则线性组合 </a:t>
            </a:r>
            <a:r>
              <a:rPr lang="en-US" altLang="zh-CN" sz="2200" i="1" dirty="0">
                <a:latin typeface="Times New Roman" panose="02020603050405020304" pitchFamily="18" charset="0"/>
                <a:ea typeface="黑体" panose="02010609060101010101" pitchFamily="49" charset="-122"/>
              </a:rPr>
              <a:t>y</a:t>
            </a:r>
            <a:r>
              <a:rPr lang="en-US" altLang="zh-CN" sz="2200" dirty="0">
                <a:latin typeface="Times New Roman" panose="02020603050405020304" pitchFamily="18" charset="0"/>
                <a:ea typeface="黑体" panose="02010609060101010101" pitchFamily="49" charset="-122"/>
              </a:rPr>
              <a:t>=</a:t>
            </a:r>
            <a:r>
              <a:rPr lang="en-US" altLang="zh-CN" sz="2200" i="1" dirty="0" err="1">
                <a:latin typeface="Times New Roman" panose="02020603050405020304" pitchFamily="18" charset="0"/>
                <a:ea typeface="黑体" panose="02010609060101010101" pitchFamily="49" charset="-122"/>
              </a:rPr>
              <a:t>a</a:t>
            </a:r>
            <a:r>
              <a:rPr lang="en-US" altLang="zh-CN" sz="2200" baseline="30000" dirty="0" err="1">
                <a:latin typeface="Times New Roman" panose="02020603050405020304" pitchFamily="18" charset="0"/>
                <a:ea typeface="黑体" panose="02010609060101010101" pitchFamily="49" charset="-122"/>
              </a:rPr>
              <a:t>T</a:t>
            </a:r>
            <a:r>
              <a:rPr lang="en-US" altLang="zh-CN" sz="2200" b="1" i="1" dirty="0" err="1">
                <a:latin typeface="Times New Roman" panose="02020603050405020304" pitchFamily="18" charset="0"/>
                <a:ea typeface="黑体" panose="02010609060101010101" pitchFamily="49" charset="-122"/>
              </a:rPr>
              <a:t>x</a:t>
            </a:r>
            <a:r>
              <a:rPr lang="en-US" altLang="zh-CN" sz="2200" dirty="0">
                <a:latin typeface="Times New Roman" panose="02020603050405020304" pitchFamily="18" charset="0"/>
                <a:ea typeface="黑体" panose="02010609060101010101" pitchFamily="49" charset="-122"/>
              </a:rPr>
              <a:t> </a:t>
            </a:r>
            <a:r>
              <a:rPr lang="zh-CN" altLang="en-US" sz="2200" dirty="0">
                <a:latin typeface="Times New Roman" panose="02020603050405020304" pitchFamily="18" charset="0"/>
                <a:ea typeface="黑体" panose="02010609060101010101" pitchFamily="49" charset="-122"/>
              </a:rPr>
              <a:t>是一维的正态随机变量</a:t>
            </a:r>
            <a:r>
              <a:rPr lang="en-US" altLang="zh-CN" sz="2200" dirty="0">
                <a:latin typeface="Times New Roman" panose="02020603050405020304" pitchFamily="18" charset="0"/>
                <a:ea typeface="黑体" panose="02010609060101010101" pitchFamily="49" charset="-122"/>
              </a:rPr>
              <a:t>, </a:t>
            </a:r>
            <a:r>
              <a:rPr lang="en-US" altLang="zh-CN" sz="2200" i="1" dirty="0">
                <a:latin typeface="Times New Roman" panose="02020603050405020304" pitchFamily="18" charset="0"/>
                <a:ea typeface="黑体" panose="02010609060101010101" pitchFamily="49" charset="-122"/>
              </a:rPr>
              <a:t>a</a:t>
            </a:r>
            <a:r>
              <a:rPr lang="zh-CN" altLang="en-US" sz="2200" dirty="0">
                <a:latin typeface="Times New Roman" panose="02020603050405020304" pitchFamily="18" charset="0"/>
                <a:ea typeface="黑体" panose="02010609060101010101" pitchFamily="49" charset="-122"/>
              </a:rPr>
              <a:t>是</a:t>
            </a:r>
            <a:r>
              <a:rPr lang="en-US" altLang="zh-CN" sz="2200" i="1" dirty="0">
                <a:latin typeface="Times New Roman" panose="02020603050405020304" pitchFamily="18" charset="0"/>
                <a:ea typeface="黑体" panose="02010609060101010101" pitchFamily="49" charset="-122"/>
              </a:rPr>
              <a:t>x</a:t>
            </a:r>
            <a:r>
              <a:rPr lang="zh-CN" altLang="en-US" sz="2200" dirty="0">
                <a:latin typeface="Times New Roman" panose="02020603050405020304" pitchFamily="18" charset="0"/>
                <a:ea typeface="黑体" panose="02010609060101010101" pitchFamily="49" charset="-122"/>
              </a:rPr>
              <a:t>同维向量。</a:t>
            </a:r>
          </a:p>
          <a:p>
            <a:pPr>
              <a:lnSpc>
                <a:spcPct val="130000"/>
              </a:lnSpc>
              <a:spcBef>
                <a:spcPts val="600"/>
              </a:spcBef>
              <a:buFontTx/>
              <a:buNone/>
            </a:pPr>
            <a:r>
              <a:rPr lang="zh-CN" altLang="en-US" sz="2200" i="1" dirty="0">
                <a:latin typeface="Times New Roman" panose="02020603050405020304" pitchFamily="18" charset="0"/>
                <a:ea typeface="黑体" panose="02010609060101010101" pitchFamily="49" charset="-122"/>
              </a:rPr>
              <a:t>                                                                   </a:t>
            </a:r>
            <a:r>
              <a:rPr lang="en-US" altLang="zh-CN" sz="2200" i="1" dirty="0">
                <a:latin typeface="Times New Roman" panose="02020603050405020304" pitchFamily="18" charset="0"/>
                <a:ea typeface="黑体" panose="02010609060101010101" pitchFamily="49" charset="-122"/>
              </a:rPr>
              <a:t>p</a:t>
            </a:r>
            <a:r>
              <a:rPr lang="en-US" altLang="zh-CN" sz="2200" dirty="0">
                <a:latin typeface="Times New Roman" panose="02020603050405020304" pitchFamily="18" charset="0"/>
                <a:ea typeface="黑体" panose="02010609060101010101" pitchFamily="49" charset="-122"/>
              </a:rPr>
              <a:t>(</a:t>
            </a:r>
            <a:r>
              <a:rPr lang="en-US" altLang="zh-CN" sz="2200" i="1" dirty="0">
                <a:latin typeface="Times New Roman" panose="02020603050405020304" pitchFamily="18" charset="0"/>
                <a:ea typeface="黑体" panose="02010609060101010101" pitchFamily="49" charset="-122"/>
              </a:rPr>
              <a:t>y</a:t>
            </a:r>
            <a:r>
              <a:rPr lang="en-US" altLang="zh-CN" sz="2200" dirty="0">
                <a:latin typeface="Times New Roman" panose="02020603050405020304" pitchFamily="18" charset="0"/>
                <a:ea typeface="黑体" panose="02010609060101010101" pitchFamily="49" charset="-122"/>
              </a:rPr>
              <a:t>)~N(</a:t>
            </a:r>
            <a:r>
              <a:rPr lang="en-US" altLang="zh-CN" sz="2200" i="1" dirty="0" err="1">
                <a:latin typeface="Times New Roman" panose="02020603050405020304" pitchFamily="18" charset="0"/>
                <a:ea typeface="黑体" panose="02010609060101010101" pitchFamily="49" charset="-122"/>
              </a:rPr>
              <a:t>a</a:t>
            </a:r>
            <a:r>
              <a:rPr lang="en-US" altLang="zh-CN" sz="2200" baseline="30000" dirty="0" err="1">
                <a:latin typeface="Times New Roman" panose="02020603050405020304" pitchFamily="18" charset="0"/>
                <a:ea typeface="黑体" panose="02010609060101010101" pitchFamily="49" charset="-122"/>
              </a:rPr>
              <a:t>T</a:t>
            </a:r>
            <a:r>
              <a:rPr lang="en-US" altLang="zh-CN" sz="2200" b="1" dirty="0">
                <a:latin typeface="Times New Roman" panose="02020603050405020304" pitchFamily="18" charset="0"/>
                <a:ea typeface="黑体" panose="02010609060101010101" pitchFamily="49" charset="-122"/>
              </a:rPr>
              <a:t>µ</a:t>
            </a:r>
            <a:r>
              <a:rPr lang="en-US" altLang="zh-CN" sz="2200" dirty="0">
                <a:latin typeface="Times New Roman" panose="02020603050405020304" pitchFamily="18" charset="0"/>
                <a:ea typeface="黑体" panose="02010609060101010101" pitchFamily="49" charset="-122"/>
              </a:rPr>
              <a:t>, </a:t>
            </a:r>
            <a:r>
              <a:rPr lang="en-US" altLang="zh-CN" sz="2200" i="1" dirty="0" err="1">
                <a:latin typeface="Times New Roman" panose="02020603050405020304" pitchFamily="18" charset="0"/>
                <a:ea typeface="黑体" panose="02010609060101010101" pitchFamily="49" charset="-122"/>
              </a:rPr>
              <a:t>a</a:t>
            </a:r>
            <a:r>
              <a:rPr lang="en-US" altLang="zh-CN" sz="2200" baseline="30000" dirty="0" err="1">
                <a:latin typeface="Times New Roman" panose="02020603050405020304" pitchFamily="18" charset="0"/>
                <a:ea typeface="黑体" panose="02010609060101010101" pitchFamily="49" charset="-122"/>
              </a:rPr>
              <a:t>T</a:t>
            </a:r>
            <a:r>
              <a:rPr lang="el-GR" altLang="zh-CN" sz="2200" dirty="0">
                <a:latin typeface="Times New Roman" panose="02020603050405020304" pitchFamily="18" charset="0"/>
                <a:ea typeface="黑体" panose="02010609060101010101" pitchFamily="49" charset="-122"/>
              </a:rPr>
              <a:t> Σ </a:t>
            </a:r>
            <a:r>
              <a:rPr lang="en-US" altLang="zh-CN" sz="2200" i="1" dirty="0">
                <a:latin typeface="Times New Roman" panose="02020603050405020304" pitchFamily="18" charset="0"/>
                <a:ea typeface="黑体" panose="02010609060101010101" pitchFamily="49" charset="-122"/>
              </a:rPr>
              <a:t>a</a:t>
            </a:r>
            <a:r>
              <a:rPr lang="en-US" altLang="zh-CN" sz="2200" dirty="0">
                <a:latin typeface="Times New Roman" panose="02020603050405020304" pitchFamily="18" charset="0"/>
                <a:ea typeface="黑体" panose="02010609060101010101" pitchFamily="49" charset="-122"/>
              </a:rPr>
              <a:t>)   </a:t>
            </a:r>
          </a:p>
        </p:txBody>
      </p:sp>
    </p:spTree>
    <p:extLst>
      <p:ext uri="{BB962C8B-B14F-4D97-AF65-F5344CB8AC3E}">
        <p14:creationId xmlns:p14="http://schemas.microsoft.com/office/powerpoint/2010/main" val="14584225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53</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100033"/>
            <a:ext cx="736611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正态分布概率模型下的最小错误率贝叶斯决策</a:t>
            </a:r>
          </a:p>
        </p:txBody>
      </p:sp>
      <p:sp>
        <p:nvSpPr>
          <p:cNvPr id="11" name="内容占位符 2"/>
          <p:cNvSpPr>
            <a:spLocks noGrp="1"/>
          </p:cNvSpPr>
          <p:nvPr>
            <p:ph idx="1"/>
          </p:nvPr>
        </p:nvSpPr>
        <p:spPr>
          <a:xfrm>
            <a:off x="352694" y="1932378"/>
            <a:ext cx="3871098" cy="471488"/>
          </a:xfrm>
        </p:spPr>
        <p:txBody>
          <a:bodyPr/>
          <a:lstStyle/>
          <a:p>
            <a:pPr marL="0" indent="0">
              <a:buNone/>
            </a:pPr>
            <a:r>
              <a:rPr lang="zh-CN" altLang="en-US" sz="2200" dirty="0">
                <a:latin typeface="黑体" panose="02010609060101010101" pitchFamily="49" charset="-122"/>
                <a:ea typeface="黑体" panose="02010609060101010101" pitchFamily="49" charset="-122"/>
              </a:rPr>
              <a:t>类条件概率密度为正态分布：</a:t>
            </a:r>
          </a:p>
          <a:p>
            <a:endParaRPr lang="zh-CN" altLang="en-US" sz="2200" dirty="0">
              <a:latin typeface="黑体" panose="02010609060101010101" pitchFamily="49" charset="-122"/>
              <a:ea typeface="黑体" panose="02010609060101010101" pitchFamily="49" charset="-122"/>
            </a:endParaRPr>
          </a:p>
        </p:txBody>
      </p:sp>
      <p:graphicFrame>
        <p:nvGraphicFramePr>
          <p:cNvPr id="12" name="Object 3"/>
          <p:cNvGraphicFramePr>
            <a:graphicFrameLocks noChangeAspect="1"/>
          </p:cNvGraphicFramePr>
          <p:nvPr>
            <p:extLst>
              <p:ext uri="{D42A27DB-BD31-4B8C-83A1-F6EECF244321}">
                <p14:modId xmlns:p14="http://schemas.microsoft.com/office/powerpoint/2010/main" val="430765979"/>
              </p:ext>
            </p:extLst>
          </p:nvPr>
        </p:nvGraphicFramePr>
        <p:xfrm>
          <a:off x="407368" y="2826714"/>
          <a:ext cx="8870950" cy="1816100"/>
        </p:xfrm>
        <a:graphic>
          <a:graphicData uri="http://schemas.openxmlformats.org/presentationml/2006/ole">
            <mc:AlternateContent xmlns:mc="http://schemas.openxmlformats.org/markup-compatibility/2006">
              <mc:Choice xmlns:v="urn:schemas-microsoft-com:vml" Requires="v">
                <p:oleObj spid="_x0000_s44306" name="Equation" r:id="rId4" imgW="4749480" imgH="876240" progId="Equation.DSMT4">
                  <p:embed/>
                </p:oleObj>
              </mc:Choice>
              <mc:Fallback>
                <p:oleObj name="Equation" r:id="rId4" imgW="4749480" imgH="876240" progId="Equation.DSMT4">
                  <p:embed/>
                  <p:pic>
                    <p:nvPicPr>
                      <p:cNvPr id="0" name="Picture 25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368" y="2826714"/>
                        <a:ext cx="8870950" cy="1816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4"/>
          <p:cNvGraphicFramePr>
            <a:graphicFrameLocks noChangeAspect="1"/>
          </p:cNvGraphicFramePr>
          <p:nvPr>
            <p:extLst>
              <p:ext uri="{D42A27DB-BD31-4B8C-83A1-F6EECF244321}">
                <p14:modId xmlns:p14="http://schemas.microsoft.com/office/powerpoint/2010/main" val="3354246493"/>
              </p:ext>
            </p:extLst>
          </p:nvPr>
        </p:nvGraphicFramePr>
        <p:xfrm>
          <a:off x="4491804" y="1814896"/>
          <a:ext cx="5735638" cy="844550"/>
        </p:xfrm>
        <a:graphic>
          <a:graphicData uri="http://schemas.openxmlformats.org/presentationml/2006/ole">
            <mc:AlternateContent xmlns:mc="http://schemas.openxmlformats.org/markup-compatibility/2006">
              <mc:Choice xmlns:v="urn:schemas-microsoft-com:vml" Requires="v">
                <p:oleObj spid="_x0000_s44307" name="Equation" r:id="rId6" imgW="3314700" imgH="469900" progId="Equation.DSMT4">
                  <p:embed/>
                </p:oleObj>
              </mc:Choice>
              <mc:Fallback>
                <p:oleObj name="Equation" r:id="rId6" imgW="3314700" imgH="469900" progId="Equation.DSMT4">
                  <p:embed/>
                  <p:pic>
                    <p:nvPicPr>
                      <p:cNvPr id="0" name="Picture 25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91804" y="1814896"/>
                        <a:ext cx="5735638" cy="844550"/>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5"/>
          <p:cNvGraphicFramePr>
            <a:graphicFrameLocks noChangeAspect="1"/>
          </p:cNvGraphicFramePr>
          <p:nvPr>
            <p:extLst>
              <p:ext uri="{D42A27DB-BD31-4B8C-83A1-F6EECF244321}">
                <p14:modId xmlns:p14="http://schemas.microsoft.com/office/powerpoint/2010/main" val="1856035808"/>
              </p:ext>
            </p:extLst>
          </p:nvPr>
        </p:nvGraphicFramePr>
        <p:xfrm>
          <a:off x="352694" y="4837732"/>
          <a:ext cx="8166893" cy="494732"/>
        </p:xfrm>
        <a:graphic>
          <a:graphicData uri="http://schemas.openxmlformats.org/presentationml/2006/ole">
            <mc:AlternateContent xmlns:mc="http://schemas.openxmlformats.org/markup-compatibility/2006">
              <mc:Choice xmlns:v="urn:schemas-microsoft-com:vml" Requires="v">
                <p:oleObj spid="_x0000_s44308" name="Equation" r:id="rId8" imgW="3784320" imgH="241200" progId="Equation.DSMT4">
                  <p:embed/>
                </p:oleObj>
              </mc:Choice>
              <mc:Fallback>
                <p:oleObj name="Equation" r:id="rId8" imgW="3784320" imgH="241200" progId="Equation.DSMT4">
                  <p:embed/>
                  <p:pic>
                    <p:nvPicPr>
                      <p:cNvPr id="0" name="Picture 26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2694" y="4837732"/>
                        <a:ext cx="8166893" cy="4947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4"/>
          <p:cNvGraphicFramePr>
            <a:graphicFrameLocks noChangeAspect="1"/>
          </p:cNvGraphicFramePr>
          <p:nvPr>
            <p:extLst>
              <p:ext uri="{D42A27DB-BD31-4B8C-83A1-F6EECF244321}">
                <p14:modId xmlns:p14="http://schemas.microsoft.com/office/powerpoint/2010/main" val="930160991"/>
              </p:ext>
            </p:extLst>
          </p:nvPr>
        </p:nvGraphicFramePr>
        <p:xfrm>
          <a:off x="695196" y="5499732"/>
          <a:ext cx="9456738" cy="874713"/>
        </p:xfrm>
        <a:graphic>
          <a:graphicData uri="http://schemas.openxmlformats.org/presentationml/2006/ole">
            <mc:AlternateContent xmlns:mc="http://schemas.openxmlformats.org/markup-compatibility/2006">
              <mc:Choice xmlns:v="urn:schemas-microsoft-com:vml" Requires="v">
                <p:oleObj spid="_x0000_s44309" name="Equation" r:id="rId10" imgW="4813200" imgH="444240" progId="Equation.DSMT4">
                  <p:embed/>
                </p:oleObj>
              </mc:Choice>
              <mc:Fallback>
                <p:oleObj name="Equation" r:id="rId10" imgW="4813200" imgH="444240" progId="Equation.DSMT4">
                  <p:embed/>
                  <p:pic>
                    <p:nvPicPr>
                      <p:cNvPr id="0" name="Picture 26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5196" y="5499732"/>
                        <a:ext cx="9456738" cy="874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855562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52694" y="2298983"/>
            <a:ext cx="7685270" cy="3631763"/>
          </a:xfrm>
          <a:prstGeom prst="rect">
            <a:avLst/>
          </a:prstGeom>
        </p:spPr>
        <p:txBody>
          <a:bodyPr wrap="square">
            <a:spAutoFit/>
          </a:bodyPr>
          <a:lstStyle/>
          <a:p>
            <a:pPr defTabSz="917575">
              <a:buFontTx/>
              <a:buNone/>
            </a:pPr>
            <a:r>
              <a:rPr lang="zh-CN" altLang="en-US" sz="2400" b="1" dirty="0">
                <a:solidFill>
                  <a:srgbClr val="FF0000"/>
                </a:solidFill>
                <a:latin typeface="Times New Roman" pitchFamily="18" charset="0"/>
                <a:ea typeface="黑体" pitchFamily="2" charset="-122"/>
              </a:rPr>
              <a:t>⑴ </a:t>
            </a:r>
            <a:r>
              <a:rPr lang="en-US" altLang="zh-CN" sz="2400" b="1" dirty="0">
                <a:solidFill>
                  <a:srgbClr val="FF0000"/>
                </a:solidFill>
                <a:latin typeface="Symbol" pitchFamily="18" charset="2"/>
                <a:ea typeface="黑体" pitchFamily="2" charset="-122"/>
              </a:rPr>
              <a:t>S</a:t>
            </a:r>
            <a:r>
              <a:rPr lang="en-US" altLang="zh-CN" sz="2400" b="1" i="1" baseline="-25000" dirty="0">
                <a:solidFill>
                  <a:srgbClr val="FF0000"/>
                </a:solidFill>
                <a:latin typeface="Times New Roman" pitchFamily="18" charset="0"/>
                <a:ea typeface="黑体" pitchFamily="2" charset="-122"/>
              </a:rPr>
              <a:t>i</a:t>
            </a:r>
            <a:r>
              <a:rPr lang="en-US" altLang="zh-CN" sz="2400" b="1" i="1" dirty="0">
                <a:solidFill>
                  <a:srgbClr val="FF0000"/>
                </a:solidFill>
                <a:latin typeface="Times New Roman" pitchFamily="18" charset="0"/>
                <a:ea typeface="黑体" pitchFamily="2" charset="-122"/>
              </a:rPr>
              <a:t>=</a:t>
            </a:r>
            <a:r>
              <a:rPr lang="en-US" altLang="zh-CN" sz="2400" b="1" i="1" dirty="0">
                <a:solidFill>
                  <a:srgbClr val="FF0000"/>
                </a:solidFill>
                <a:latin typeface="Symbol" pitchFamily="18" charset="2"/>
                <a:ea typeface="黑体" pitchFamily="2" charset="-122"/>
              </a:rPr>
              <a:t>s </a:t>
            </a:r>
            <a:r>
              <a:rPr lang="en-US" altLang="zh-CN" sz="2400" b="1" baseline="30000" dirty="0">
                <a:solidFill>
                  <a:srgbClr val="FF0000"/>
                </a:solidFill>
                <a:latin typeface="Symbol" pitchFamily="18" charset="2"/>
                <a:ea typeface="黑体" pitchFamily="2" charset="-122"/>
              </a:rPr>
              <a:t>2</a:t>
            </a:r>
            <a:r>
              <a:rPr lang="en-US" altLang="zh-CN" sz="2400" b="1" i="1" dirty="0">
                <a:solidFill>
                  <a:srgbClr val="FF0000"/>
                </a:solidFill>
                <a:latin typeface="Symbol" pitchFamily="18" charset="2"/>
                <a:ea typeface="黑体" pitchFamily="2" charset="-122"/>
              </a:rPr>
              <a:t>I</a:t>
            </a:r>
            <a:r>
              <a:rPr lang="en-US" altLang="zh-CN" sz="2400" b="1" dirty="0">
                <a:solidFill>
                  <a:srgbClr val="FF0000"/>
                </a:solidFill>
                <a:latin typeface="Symbol" pitchFamily="18" charset="2"/>
                <a:ea typeface="黑体" pitchFamily="2" charset="-122"/>
              </a:rPr>
              <a:t>,      </a:t>
            </a:r>
            <a:r>
              <a:rPr lang="en-US" altLang="zh-CN" sz="2400" b="1" i="1" dirty="0" err="1">
                <a:solidFill>
                  <a:srgbClr val="FF0000"/>
                </a:solidFill>
                <a:latin typeface="Times New Roman" pitchFamily="18" charset="0"/>
                <a:ea typeface="黑体" pitchFamily="2" charset="-122"/>
              </a:rPr>
              <a:t>i</a:t>
            </a:r>
            <a:r>
              <a:rPr lang="en-US" altLang="zh-CN" sz="2400" b="1" i="1" dirty="0">
                <a:solidFill>
                  <a:srgbClr val="FF0000"/>
                </a:solidFill>
                <a:latin typeface="Times New Roman" pitchFamily="18" charset="0"/>
                <a:ea typeface="黑体" pitchFamily="2" charset="-122"/>
              </a:rPr>
              <a:t> </a:t>
            </a:r>
            <a:r>
              <a:rPr lang="en-US" altLang="zh-CN" sz="2400" b="1" dirty="0">
                <a:solidFill>
                  <a:srgbClr val="FF0000"/>
                </a:solidFill>
                <a:latin typeface="Times New Roman" pitchFamily="18" charset="0"/>
                <a:ea typeface="黑体" pitchFamily="2" charset="-122"/>
              </a:rPr>
              <a:t>=1, 2,···,</a:t>
            </a:r>
            <a:r>
              <a:rPr lang="en-US" altLang="zh-CN" sz="2400" b="1" i="1" dirty="0">
                <a:solidFill>
                  <a:srgbClr val="FF0000"/>
                </a:solidFill>
                <a:latin typeface="Times New Roman" pitchFamily="18" charset="0"/>
                <a:ea typeface="黑体" pitchFamily="2" charset="-122"/>
              </a:rPr>
              <a:t>c</a:t>
            </a:r>
          </a:p>
          <a:p>
            <a:pPr defTabSz="917575">
              <a:buFontTx/>
              <a:buNone/>
            </a:pPr>
            <a:endParaRPr lang="en-US" altLang="zh-CN" sz="2400" b="1" i="1" dirty="0">
              <a:solidFill>
                <a:srgbClr val="000000"/>
              </a:solidFill>
              <a:latin typeface="Times New Roman" pitchFamily="18" charset="0"/>
              <a:ea typeface="黑体" pitchFamily="2" charset="-122"/>
            </a:endParaRPr>
          </a:p>
          <a:p>
            <a:pPr defTabSz="917575">
              <a:buFontTx/>
              <a:buNone/>
            </a:pPr>
            <a:endParaRPr lang="en-US" altLang="zh-CN" sz="2400" b="1" i="1" dirty="0">
              <a:solidFill>
                <a:srgbClr val="000000"/>
              </a:solidFill>
              <a:latin typeface="Times New Roman" pitchFamily="18" charset="0"/>
              <a:ea typeface="黑体" pitchFamily="2" charset="-122"/>
            </a:endParaRPr>
          </a:p>
          <a:p>
            <a:pPr defTabSz="917575">
              <a:buFontTx/>
              <a:buNone/>
            </a:pPr>
            <a:endParaRPr lang="en-US" altLang="zh-CN" sz="2400" b="1" dirty="0">
              <a:latin typeface="Times New Roman" pitchFamily="18" charset="0"/>
              <a:ea typeface="黑体" pitchFamily="2" charset="-122"/>
            </a:endParaRPr>
          </a:p>
          <a:p>
            <a:pPr defTabSz="917575">
              <a:spcBef>
                <a:spcPts val="2400"/>
              </a:spcBef>
              <a:buFontTx/>
              <a:buNone/>
            </a:pPr>
            <a:r>
              <a:rPr lang="en-US" altLang="zh-CN" sz="2400" b="1" dirty="0">
                <a:solidFill>
                  <a:srgbClr val="FF0000"/>
                </a:solidFill>
                <a:latin typeface="Times New Roman" pitchFamily="18" charset="0"/>
                <a:ea typeface="黑体" pitchFamily="2" charset="-122"/>
              </a:rPr>
              <a:t>⑵ </a:t>
            </a:r>
            <a:r>
              <a:rPr lang="en-US" altLang="zh-CN" sz="2400" b="1" dirty="0">
                <a:solidFill>
                  <a:srgbClr val="FF0000"/>
                </a:solidFill>
                <a:latin typeface="Symbol" pitchFamily="18" charset="2"/>
                <a:ea typeface="黑体" pitchFamily="2" charset="-122"/>
              </a:rPr>
              <a:t>S</a:t>
            </a:r>
            <a:r>
              <a:rPr lang="en-US" altLang="zh-CN" sz="2400" b="1" i="1" baseline="-25000" dirty="0">
                <a:solidFill>
                  <a:srgbClr val="FF0000"/>
                </a:solidFill>
                <a:latin typeface="Times New Roman" pitchFamily="18" charset="0"/>
                <a:ea typeface="黑体" pitchFamily="2" charset="-122"/>
              </a:rPr>
              <a:t>i </a:t>
            </a:r>
            <a:r>
              <a:rPr lang="en-US" altLang="zh-CN" sz="2400" b="1" dirty="0">
                <a:solidFill>
                  <a:srgbClr val="FF0000"/>
                </a:solidFill>
                <a:latin typeface="Times New Roman" pitchFamily="18" charset="0"/>
                <a:ea typeface="黑体" pitchFamily="2" charset="-122"/>
              </a:rPr>
              <a:t>=</a:t>
            </a:r>
            <a:r>
              <a:rPr lang="en-US" altLang="zh-CN" sz="2400" b="1" dirty="0">
                <a:solidFill>
                  <a:srgbClr val="FF0000"/>
                </a:solidFill>
                <a:latin typeface="Symbol" pitchFamily="18" charset="2"/>
                <a:ea typeface="黑体" pitchFamily="2" charset="-122"/>
              </a:rPr>
              <a:t>S </a:t>
            </a:r>
          </a:p>
          <a:p>
            <a:pPr defTabSz="917575">
              <a:buFontTx/>
              <a:buNone/>
            </a:pPr>
            <a:endParaRPr lang="en-US" altLang="zh-CN" sz="2400" b="1" dirty="0">
              <a:latin typeface="Symbol" pitchFamily="18" charset="2"/>
              <a:ea typeface="黑体" pitchFamily="2" charset="-122"/>
            </a:endParaRPr>
          </a:p>
          <a:p>
            <a:pPr defTabSz="917575">
              <a:buFontTx/>
              <a:buNone/>
            </a:pPr>
            <a:endParaRPr lang="en-US" altLang="zh-CN" sz="2400" b="1" dirty="0">
              <a:latin typeface="Symbol" pitchFamily="18" charset="2"/>
              <a:ea typeface="黑体" pitchFamily="2" charset="-122"/>
            </a:endParaRPr>
          </a:p>
          <a:p>
            <a:pPr defTabSz="917575">
              <a:buFontTx/>
              <a:buNone/>
            </a:pPr>
            <a:r>
              <a:rPr lang="en-US" altLang="zh-CN" sz="2400" b="1" dirty="0">
                <a:solidFill>
                  <a:srgbClr val="FF0000"/>
                </a:solidFill>
                <a:latin typeface="Times New Roman" pitchFamily="18" charset="0"/>
                <a:ea typeface="黑体" pitchFamily="2" charset="-122"/>
              </a:rPr>
              <a:t>⑶ </a:t>
            </a:r>
            <a:r>
              <a:rPr lang="en-US" altLang="zh-CN" sz="2400" b="1" dirty="0">
                <a:solidFill>
                  <a:srgbClr val="FF0000"/>
                </a:solidFill>
                <a:latin typeface="Symbol" pitchFamily="18" charset="2"/>
                <a:ea typeface="黑体" pitchFamily="2" charset="-122"/>
              </a:rPr>
              <a:t>S</a:t>
            </a:r>
            <a:r>
              <a:rPr lang="en-US" altLang="zh-CN" sz="2400" b="1" i="1" baseline="-25000" dirty="0">
                <a:solidFill>
                  <a:srgbClr val="FF0000"/>
                </a:solidFill>
                <a:latin typeface="Times New Roman" pitchFamily="18" charset="0"/>
                <a:ea typeface="黑体" pitchFamily="2" charset="-122"/>
              </a:rPr>
              <a:t>i </a:t>
            </a:r>
            <a:r>
              <a:rPr lang="en-US" altLang="zh-CN" sz="2400" b="1" dirty="0">
                <a:solidFill>
                  <a:srgbClr val="FF0000"/>
                </a:solidFill>
                <a:latin typeface="Times New Roman" pitchFamily="18" charset="0"/>
                <a:ea typeface="黑体" pitchFamily="2" charset="-122"/>
              </a:rPr>
              <a:t>≠ </a:t>
            </a:r>
            <a:r>
              <a:rPr lang="en-US" altLang="zh-CN" sz="2400" b="1" dirty="0" err="1">
                <a:solidFill>
                  <a:srgbClr val="FF0000"/>
                </a:solidFill>
                <a:latin typeface="Symbol" pitchFamily="18" charset="2"/>
                <a:ea typeface="黑体" pitchFamily="2" charset="-122"/>
              </a:rPr>
              <a:t>S</a:t>
            </a:r>
            <a:r>
              <a:rPr lang="en-US" altLang="zh-CN" sz="2400" b="1" i="1" baseline="-25000" dirty="0" err="1">
                <a:solidFill>
                  <a:srgbClr val="FF0000"/>
                </a:solidFill>
                <a:latin typeface="Times New Roman" pitchFamily="18" charset="0"/>
                <a:ea typeface="黑体" pitchFamily="2" charset="-122"/>
              </a:rPr>
              <a:t>j</a:t>
            </a:r>
            <a:r>
              <a:rPr lang="en-US" altLang="zh-CN" sz="2400" b="1" i="1" baseline="-25000" dirty="0">
                <a:solidFill>
                  <a:srgbClr val="FF0000"/>
                </a:solidFill>
                <a:latin typeface="Times New Roman" pitchFamily="18" charset="0"/>
                <a:ea typeface="黑体" pitchFamily="2" charset="-122"/>
              </a:rPr>
              <a:t> </a:t>
            </a:r>
            <a:r>
              <a:rPr lang="en-US" altLang="zh-CN" sz="2400" b="1" dirty="0">
                <a:solidFill>
                  <a:srgbClr val="FF0000"/>
                </a:solidFill>
                <a:latin typeface="Symbol" pitchFamily="18" charset="2"/>
                <a:ea typeface="黑体" pitchFamily="2" charset="-122"/>
              </a:rPr>
              <a:t>,  </a:t>
            </a:r>
            <a:r>
              <a:rPr lang="en-US" altLang="zh-CN" sz="2400" b="1" i="1" baseline="-25000" dirty="0">
                <a:solidFill>
                  <a:srgbClr val="FF0000"/>
                </a:solidFill>
                <a:latin typeface="Times New Roman" pitchFamily="18" charset="0"/>
                <a:ea typeface="黑体" pitchFamily="2" charset="-122"/>
              </a:rPr>
              <a:t> </a:t>
            </a:r>
            <a:r>
              <a:rPr lang="en-US" altLang="zh-CN" sz="2400" b="1" i="1" dirty="0" err="1">
                <a:solidFill>
                  <a:srgbClr val="FF0000"/>
                </a:solidFill>
                <a:latin typeface="Times New Roman" pitchFamily="18" charset="0"/>
                <a:ea typeface="黑体" pitchFamily="2" charset="-122"/>
              </a:rPr>
              <a:t>i</a:t>
            </a:r>
            <a:r>
              <a:rPr lang="en-US" altLang="zh-CN" sz="2400" b="1" i="1" dirty="0">
                <a:solidFill>
                  <a:srgbClr val="FF0000"/>
                </a:solidFill>
                <a:latin typeface="Times New Roman" pitchFamily="18" charset="0"/>
                <a:ea typeface="黑体" pitchFamily="2" charset="-122"/>
              </a:rPr>
              <a:t>, j </a:t>
            </a:r>
            <a:r>
              <a:rPr lang="en-US" altLang="zh-CN" sz="2400" b="1" dirty="0">
                <a:solidFill>
                  <a:srgbClr val="FF0000"/>
                </a:solidFill>
                <a:latin typeface="Times New Roman" pitchFamily="18" charset="0"/>
                <a:ea typeface="黑体" pitchFamily="2" charset="-122"/>
              </a:rPr>
              <a:t>=1, 2,···,</a:t>
            </a:r>
            <a:r>
              <a:rPr lang="en-US" altLang="zh-CN" sz="2400" b="1" i="1" dirty="0">
                <a:solidFill>
                  <a:srgbClr val="FF0000"/>
                </a:solidFill>
                <a:latin typeface="Times New Roman" pitchFamily="18" charset="0"/>
                <a:ea typeface="黑体" pitchFamily="2" charset="-122"/>
              </a:rPr>
              <a:t>c</a:t>
            </a:r>
            <a:r>
              <a:rPr lang="en-US" altLang="zh-CN" sz="2400" b="1" baseline="-25000" dirty="0">
                <a:solidFill>
                  <a:srgbClr val="FF0000"/>
                </a:solidFill>
                <a:ea typeface="黑体" pitchFamily="2" charset="-122"/>
              </a:rPr>
              <a:t> </a:t>
            </a:r>
            <a:r>
              <a:rPr lang="en-US" altLang="zh-CN" b="1" dirty="0">
                <a:solidFill>
                  <a:srgbClr val="000000"/>
                </a:solidFill>
                <a:latin typeface="Times New Roman" pitchFamily="18" charset="0"/>
                <a:ea typeface="黑体" pitchFamily="2" charset="-122"/>
              </a:rPr>
              <a:t>	</a:t>
            </a:r>
          </a:p>
          <a:p>
            <a:endParaRPr lang="zh-CN" altLang="en-US" b="1" dirty="0"/>
          </a:p>
        </p:txBody>
      </p:sp>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54</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100033"/>
            <a:ext cx="736611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正态分布概率模型下的最小错误率贝叶斯决策</a:t>
            </a:r>
          </a:p>
        </p:txBody>
      </p:sp>
      <p:sp>
        <p:nvSpPr>
          <p:cNvPr id="7" name="内容占位符 4"/>
          <p:cNvSpPr>
            <a:spLocks noGrp="1"/>
          </p:cNvSpPr>
          <p:nvPr>
            <p:ph idx="1"/>
          </p:nvPr>
        </p:nvSpPr>
        <p:spPr>
          <a:xfrm>
            <a:off x="352694" y="1743096"/>
            <a:ext cx="8229600" cy="471478"/>
          </a:xfrm>
        </p:spPr>
        <p:txBody>
          <a:bodyPr/>
          <a:lstStyle/>
          <a:p>
            <a:pPr marL="0" indent="0">
              <a:buNone/>
            </a:pPr>
            <a:r>
              <a:rPr lang="zh-CN" altLang="en-US" sz="2200" dirty="0">
                <a:solidFill>
                  <a:srgbClr val="000000"/>
                </a:solidFill>
                <a:latin typeface="黑体" panose="02010609060101010101" pitchFamily="49" charset="-122"/>
                <a:ea typeface="黑体" panose="02010609060101010101" pitchFamily="49" charset="-122"/>
              </a:rPr>
              <a:t>下面分三种情况讨论决策面：</a:t>
            </a:r>
            <a:r>
              <a:rPr lang="en-US" altLang="zh-CN" sz="2200" dirty="0">
                <a:solidFill>
                  <a:srgbClr val="000000"/>
                </a:solidFill>
                <a:latin typeface="Times New Roman" panose="02020603050405020304" pitchFamily="18" charset="0"/>
                <a:ea typeface="黑体" panose="02010609060101010101" pitchFamily="49" charset="-122"/>
              </a:rPr>
              <a:t>	</a:t>
            </a:r>
          </a:p>
          <a:p>
            <a:endParaRPr lang="zh-CN" altLang="en-US" sz="2200" dirty="0">
              <a:latin typeface="Times New Roman" panose="02020603050405020304" pitchFamily="18" charset="0"/>
              <a:ea typeface="黑体" panose="02010609060101010101" pitchFamily="49" charset="-122"/>
            </a:endParaRPr>
          </a:p>
        </p:txBody>
      </p:sp>
      <p:sp>
        <p:nvSpPr>
          <p:cNvPr id="8" name="矩形 7"/>
          <p:cNvSpPr/>
          <p:nvPr/>
        </p:nvSpPr>
        <p:spPr>
          <a:xfrm>
            <a:off x="4195329" y="2328971"/>
            <a:ext cx="2018501" cy="430887"/>
          </a:xfrm>
          <a:prstGeom prst="rect">
            <a:avLst/>
          </a:prstGeom>
        </p:spPr>
        <p:txBody>
          <a:bodyPr wrap="none">
            <a:spAutoFit/>
          </a:bodyPr>
          <a:lstStyle/>
          <a:p>
            <a:r>
              <a:rPr lang="zh-CN" altLang="en-US" sz="2200" b="0" dirty="0">
                <a:solidFill>
                  <a:srgbClr val="6600CC"/>
                </a:solidFill>
                <a:latin typeface="黑体" panose="02010609060101010101" pitchFamily="49" charset="-122"/>
                <a:ea typeface="黑体" panose="02010609060101010101" pitchFamily="49" charset="-122"/>
              </a:rPr>
              <a:t>最简单</a:t>
            </a:r>
            <a:r>
              <a:rPr lang="en-US" altLang="zh-CN" sz="2200" b="0" dirty="0">
                <a:solidFill>
                  <a:srgbClr val="6600CC"/>
                </a:solidFill>
                <a:latin typeface="黑体" panose="02010609060101010101" pitchFamily="49" charset="-122"/>
                <a:ea typeface="黑体" panose="02010609060101010101" pitchFamily="49" charset="-122"/>
              </a:rPr>
              <a:t>,</a:t>
            </a:r>
            <a:r>
              <a:rPr lang="zh-CN" altLang="en-US" sz="2200" b="0" dirty="0">
                <a:solidFill>
                  <a:srgbClr val="6600CC"/>
                </a:solidFill>
                <a:latin typeface="黑体" panose="02010609060101010101" pitchFamily="49" charset="-122"/>
                <a:ea typeface="黑体" panose="02010609060101010101" pitchFamily="49" charset="-122"/>
              </a:rPr>
              <a:t>最特殊</a:t>
            </a:r>
          </a:p>
        </p:txBody>
      </p:sp>
      <p:sp>
        <p:nvSpPr>
          <p:cNvPr id="11" name="矩形 10"/>
          <p:cNvSpPr/>
          <p:nvPr/>
        </p:nvSpPr>
        <p:spPr>
          <a:xfrm>
            <a:off x="4195329" y="5212848"/>
            <a:ext cx="2018501" cy="430887"/>
          </a:xfrm>
          <a:prstGeom prst="rect">
            <a:avLst/>
          </a:prstGeom>
        </p:spPr>
        <p:txBody>
          <a:bodyPr wrap="none">
            <a:spAutoFit/>
          </a:bodyPr>
          <a:lstStyle/>
          <a:p>
            <a:r>
              <a:rPr lang="zh-CN" altLang="en-US" sz="2200" b="0" dirty="0">
                <a:solidFill>
                  <a:srgbClr val="6600CC"/>
                </a:solidFill>
                <a:latin typeface="黑体" panose="02010609060101010101" pitchFamily="49" charset="-122"/>
                <a:ea typeface="黑体" panose="02010609060101010101" pitchFamily="49" charset="-122"/>
              </a:rPr>
              <a:t>最复杂</a:t>
            </a:r>
            <a:r>
              <a:rPr lang="en-US" altLang="zh-CN" sz="2200" b="0" dirty="0">
                <a:solidFill>
                  <a:srgbClr val="6600CC"/>
                </a:solidFill>
                <a:latin typeface="黑体" panose="02010609060101010101" pitchFamily="49" charset="-122"/>
                <a:ea typeface="黑体" panose="02010609060101010101" pitchFamily="49" charset="-122"/>
              </a:rPr>
              <a:t>,</a:t>
            </a:r>
            <a:r>
              <a:rPr lang="zh-CN" altLang="en-US" sz="2200" b="0" dirty="0">
                <a:solidFill>
                  <a:srgbClr val="6600CC"/>
                </a:solidFill>
                <a:latin typeface="黑体" panose="02010609060101010101" pitchFamily="49" charset="-122"/>
                <a:ea typeface="黑体" panose="02010609060101010101" pitchFamily="49" charset="-122"/>
              </a:rPr>
              <a:t>最普遍</a:t>
            </a:r>
          </a:p>
        </p:txBody>
      </p:sp>
      <p:graphicFrame>
        <p:nvGraphicFramePr>
          <p:cNvPr id="12" name="Object 2"/>
          <p:cNvGraphicFramePr>
            <a:graphicFrameLocks noChangeAspect="1"/>
          </p:cNvGraphicFramePr>
          <p:nvPr>
            <p:extLst>
              <p:ext uri="{D42A27DB-BD31-4B8C-83A1-F6EECF244321}">
                <p14:modId xmlns:p14="http://schemas.microsoft.com/office/powerpoint/2010/main" val="116677996"/>
              </p:ext>
            </p:extLst>
          </p:nvPr>
        </p:nvGraphicFramePr>
        <p:xfrm>
          <a:off x="2787878" y="2914135"/>
          <a:ext cx="2300010" cy="1214446"/>
        </p:xfrm>
        <a:graphic>
          <a:graphicData uri="http://schemas.openxmlformats.org/presentationml/2006/ole">
            <mc:AlternateContent xmlns:mc="http://schemas.openxmlformats.org/markup-compatibility/2006">
              <mc:Choice xmlns:v="urn:schemas-microsoft-com:vml" Requires="v">
                <p:oleObj spid="_x0000_s56442" name="Equation" r:id="rId4" imgW="1244600" imgH="736600" progId="Equation.DSMT4">
                  <p:embed/>
                </p:oleObj>
              </mc:Choice>
              <mc:Fallback>
                <p:oleObj name="Equation" r:id="rId4" imgW="1244600" imgH="736600" progId="Equation.DSMT4">
                  <p:embed/>
                  <p:pic>
                    <p:nvPicPr>
                      <p:cNvPr id="0" name="Picture 1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7878" y="2914135"/>
                        <a:ext cx="2300010" cy="1214446"/>
                      </a:xfrm>
                      <a:prstGeom prst="rect">
                        <a:avLst/>
                      </a:prstGeom>
                      <a:noFill/>
                      <a:ln>
                        <a:noFill/>
                      </a:ln>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13" name="Object 3"/>
          <p:cNvGraphicFramePr>
            <a:graphicFrameLocks noChangeAspect="1"/>
          </p:cNvGraphicFramePr>
          <p:nvPr>
            <p:extLst>
              <p:ext uri="{D42A27DB-BD31-4B8C-83A1-F6EECF244321}">
                <p14:modId xmlns:p14="http://schemas.microsoft.com/office/powerpoint/2010/main" val="3526194353"/>
              </p:ext>
            </p:extLst>
          </p:nvPr>
        </p:nvGraphicFramePr>
        <p:xfrm>
          <a:off x="2419528" y="4559317"/>
          <a:ext cx="2608263" cy="377825"/>
        </p:xfrm>
        <a:graphic>
          <a:graphicData uri="http://schemas.openxmlformats.org/presentationml/2006/ole">
            <mc:AlternateContent xmlns:mc="http://schemas.openxmlformats.org/markup-compatibility/2006">
              <mc:Choice xmlns:v="urn:schemas-microsoft-com:vml" Requires="v">
                <p:oleObj spid="_x0000_s56443" name="Equation" r:id="rId6" imgW="1409700" imgH="228600" progId="Equation.DSMT4">
                  <p:embed/>
                </p:oleObj>
              </mc:Choice>
              <mc:Fallback>
                <p:oleObj name="Equation" r:id="rId6" imgW="1409700" imgH="228600" progId="Equation.DSMT4">
                  <p:embed/>
                  <p:pic>
                    <p:nvPicPr>
                      <p:cNvPr id="0" name="Picture 1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19528" y="4559317"/>
                        <a:ext cx="2608263" cy="377825"/>
                      </a:xfrm>
                      <a:prstGeom prst="rect">
                        <a:avLst/>
                      </a:prstGeom>
                      <a:noFill/>
                      <a:ln>
                        <a:noFill/>
                      </a:ln>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9758872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Object 8"/>
          <p:cNvGraphicFramePr>
            <a:graphicFrameLocks noChangeAspect="1"/>
          </p:cNvGraphicFramePr>
          <p:nvPr>
            <p:extLst>
              <p:ext uri="{D42A27DB-BD31-4B8C-83A1-F6EECF244321}">
                <p14:modId xmlns:p14="http://schemas.microsoft.com/office/powerpoint/2010/main" val="810925025"/>
              </p:ext>
            </p:extLst>
          </p:nvPr>
        </p:nvGraphicFramePr>
        <p:xfrm>
          <a:off x="623392" y="5503949"/>
          <a:ext cx="4067175" cy="842963"/>
        </p:xfrm>
        <a:graphic>
          <a:graphicData uri="http://schemas.openxmlformats.org/presentationml/2006/ole">
            <mc:AlternateContent xmlns:mc="http://schemas.openxmlformats.org/markup-compatibility/2006">
              <mc:Choice xmlns:v="urn:schemas-microsoft-com:vml" Requires="v">
                <p:oleObj spid="_x0000_s57783" name="Equation" r:id="rId3" imgW="2247900" imgH="419100" progId="Equation.DSMT4">
                  <p:embed/>
                </p:oleObj>
              </mc:Choice>
              <mc:Fallback>
                <p:oleObj name="Equation" r:id="rId3" imgW="2247900" imgH="419100" progId="Equation.DSMT4">
                  <p:embed/>
                  <p:pic>
                    <p:nvPicPr>
                      <p:cNvPr id="0" name="Picture 4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392" y="5503949"/>
                        <a:ext cx="4067175" cy="842963"/>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9" name="图片 8"/>
          <p:cNvPicPr>
            <a:picLocks noChangeAspect="1"/>
          </p:cNvPicPr>
          <p:nvPr/>
        </p:nvPicPr>
        <p:blipFill>
          <a:blip r:embed="rId5"/>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55</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052736"/>
            <a:ext cx="736611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正态分布概率模型下的最小错误率贝叶斯决策</a:t>
            </a:r>
          </a:p>
        </p:txBody>
      </p:sp>
      <p:graphicFrame>
        <p:nvGraphicFramePr>
          <p:cNvPr id="7" name="Object 20"/>
          <p:cNvGraphicFramePr>
            <a:graphicFrameLocks noGrp="1" noChangeAspect="1"/>
          </p:cNvGraphicFramePr>
          <p:nvPr>
            <p:ph sz="quarter" idx="4294967295"/>
            <p:extLst>
              <p:ext uri="{D42A27DB-BD31-4B8C-83A1-F6EECF244321}">
                <p14:modId xmlns:p14="http://schemas.microsoft.com/office/powerpoint/2010/main" val="3072307748"/>
              </p:ext>
            </p:extLst>
          </p:nvPr>
        </p:nvGraphicFramePr>
        <p:xfrm>
          <a:off x="3445896" y="3225105"/>
          <a:ext cx="4666328" cy="1219070"/>
        </p:xfrm>
        <a:graphic>
          <a:graphicData uri="http://schemas.openxmlformats.org/presentationml/2006/ole">
            <mc:AlternateContent xmlns:mc="http://schemas.openxmlformats.org/markup-compatibility/2006">
              <mc:Choice xmlns:v="urn:schemas-microsoft-com:vml" Requires="v">
                <p:oleObj spid="_x0000_s57784" name="Equation" r:id="rId6" imgW="2819400" imgH="736600" progId="Equation.DSMT4">
                  <p:embed/>
                </p:oleObj>
              </mc:Choice>
              <mc:Fallback>
                <p:oleObj name="Equation" r:id="rId6" imgW="2819400" imgH="736600" progId="Equation.DSMT4">
                  <p:embed/>
                  <p:pic>
                    <p:nvPicPr>
                      <p:cNvPr id="0" name="Picture 412"/>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45896" y="3225105"/>
                        <a:ext cx="4666328" cy="12190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11"/>
          <p:cNvGraphicFramePr>
            <a:graphicFrameLocks noGrp="1" noChangeAspect="1"/>
          </p:cNvGraphicFramePr>
          <p:nvPr>
            <p:ph sz="quarter" idx="4294967295"/>
            <p:extLst>
              <p:ext uri="{D42A27DB-BD31-4B8C-83A1-F6EECF244321}">
                <p14:modId xmlns:p14="http://schemas.microsoft.com/office/powerpoint/2010/main" val="322554429"/>
              </p:ext>
            </p:extLst>
          </p:nvPr>
        </p:nvGraphicFramePr>
        <p:xfrm>
          <a:off x="637293" y="3212976"/>
          <a:ext cx="2099257" cy="1243327"/>
        </p:xfrm>
        <a:graphic>
          <a:graphicData uri="http://schemas.openxmlformats.org/presentationml/2006/ole">
            <mc:AlternateContent xmlns:mc="http://schemas.openxmlformats.org/markup-compatibility/2006">
              <mc:Choice xmlns:v="urn:schemas-microsoft-com:vml" Requires="v">
                <p:oleObj spid="_x0000_s57785" name="Equation" r:id="rId8" imgW="1244600" imgH="736600" progId="Equation.DSMT4">
                  <p:embed/>
                </p:oleObj>
              </mc:Choice>
              <mc:Fallback>
                <p:oleObj name="Equation" r:id="rId8" imgW="1244600" imgH="736600" progId="Equation.DSMT4">
                  <p:embed/>
                  <p:pic>
                    <p:nvPicPr>
                      <p:cNvPr id="0" name="Picture 413"/>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7293" y="3212976"/>
                        <a:ext cx="2099257" cy="12433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3"/>
          <p:cNvSpPr txBox="1">
            <a:spLocks noChangeArrowheads="1"/>
          </p:cNvSpPr>
          <p:nvPr/>
        </p:nvSpPr>
        <p:spPr bwMode="gray">
          <a:xfrm>
            <a:off x="352694" y="1628093"/>
            <a:ext cx="1710858" cy="6367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20000"/>
              </a:lnSpc>
              <a:spcBef>
                <a:spcPts val="0"/>
              </a:spcBef>
              <a:buFontTx/>
              <a:buNone/>
            </a:pPr>
            <a:r>
              <a:rPr lang="en-US" altLang="zh-CN" b="1" kern="0" dirty="0">
                <a:solidFill>
                  <a:srgbClr val="FF0000"/>
                </a:solidFill>
                <a:latin typeface="Times New Roman" panose="02020603050405020304" pitchFamily="18" charset="0"/>
                <a:ea typeface="黑体" panose="02010609060101010101" pitchFamily="49" charset="-122"/>
              </a:rPr>
              <a:t>⑴ </a:t>
            </a:r>
            <a:r>
              <a:rPr lang="en-US" altLang="zh-CN" b="1" kern="0" dirty="0" err="1">
                <a:solidFill>
                  <a:srgbClr val="FF0000"/>
                </a:solidFill>
                <a:latin typeface="Times New Roman" panose="02020603050405020304" pitchFamily="18" charset="0"/>
                <a:ea typeface="黑体" panose="02010609060101010101" pitchFamily="49" charset="-122"/>
              </a:rPr>
              <a:t>Σ</a:t>
            </a:r>
            <a:r>
              <a:rPr lang="en-US" altLang="zh-CN" b="1" kern="0" baseline="-25000" dirty="0" err="1">
                <a:solidFill>
                  <a:srgbClr val="FF0000"/>
                </a:solidFill>
                <a:latin typeface="Times New Roman" panose="02020603050405020304" pitchFamily="18" charset="0"/>
                <a:ea typeface="黑体" panose="02010609060101010101" pitchFamily="49" charset="-122"/>
              </a:rPr>
              <a:t>i</a:t>
            </a:r>
            <a:r>
              <a:rPr lang="en-US" altLang="zh-CN" b="1" kern="0" dirty="0">
                <a:solidFill>
                  <a:srgbClr val="FF0000"/>
                </a:solidFill>
                <a:latin typeface="Times New Roman" panose="02020603050405020304" pitchFamily="18" charset="0"/>
                <a:ea typeface="黑体" panose="02010609060101010101" pitchFamily="49" charset="-122"/>
              </a:rPr>
              <a:t>=</a:t>
            </a:r>
            <a:r>
              <a:rPr lang="el-GR" altLang="zh-CN" b="1" kern="0" dirty="0">
                <a:solidFill>
                  <a:srgbClr val="FF0000"/>
                </a:solidFill>
                <a:latin typeface="Times New Roman" panose="02020603050405020304" pitchFamily="18" charset="0"/>
                <a:ea typeface="黑体" panose="02010609060101010101" pitchFamily="49" charset="-122"/>
              </a:rPr>
              <a:t>σ</a:t>
            </a:r>
            <a:r>
              <a:rPr lang="en-US" altLang="zh-CN" b="1" kern="0" baseline="30000" dirty="0">
                <a:solidFill>
                  <a:srgbClr val="FF0000"/>
                </a:solidFill>
                <a:latin typeface="Times New Roman" panose="02020603050405020304" pitchFamily="18" charset="0"/>
                <a:ea typeface="黑体" panose="02010609060101010101" pitchFamily="49" charset="-122"/>
              </a:rPr>
              <a:t>2</a:t>
            </a:r>
            <a:r>
              <a:rPr lang="en-US" altLang="zh-CN" b="1" kern="0" dirty="0">
                <a:solidFill>
                  <a:srgbClr val="FF0000"/>
                </a:solidFill>
                <a:latin typeface="Times New Roman" panose="02020603050405020304" pitchFamily="18" charset="0"/>
                <a:ea typeface="黑体" panose="02010609060101010101" pitchFamily="49" charset="-122"/>
              </a:rPr>
              <a:t>I</a:t>
            </a:r>
          </a:p>
        </p:txBody>
      </p:sp>
      <p:graphicFrame>
        <p:nvGraphicFramePr>
          <p:cNvPr id="12" name="Object 10"/>
          <p:cNvGraphicFramePr>
            <a:graphicFrameLocks noChangeAspect="1"/>
          </p:cNvGraphicFramePr>
          <p:nvPr>
            <p:extLst>
              <p:ext uri="{D42A27DB-BD31-4B8C-83A1-F6EECF244321}">
                <p14:modId xmlns:p14="http://schemas.microsoft.com/office/powerpoint/2010/main" val="3469066618"/>
              </p:ext>
            </p:extLst>
          </p:nvPr>
        </p:nvGraphicFramePr>
        <p:xfrm>
          <a:off x="2646436" y="1556792"/>
          <a:ext cx="6924450" cy="748387"/>
        </p:xfrm>
        <a:graphic>
          <a:graphicData uri="http://schemas.openxmlformats.org/presentationml/2006/ole">
            <mc:AlternateContent xmlns:mc="http://schemas.openxmlformats.org/markup-compatibility/2006">
              <mc:Choice xmlns:v="urn:schemas-microsoft-com:vml" Requires="v">
                <p:oleObj spid="_x0000_s57786" name="公式" r:id="rId10" imgW="4051300" imgH="393700" progId="Equation.3">
                  <p:embed/>
                </p:oleObj>
              </mc:Choice>
              <mc:Fallback>
                <p:oleObj name="公式" r:id="rId10" imgW="4051300" imgH="393700" progId="Equation.3">
                  <p:embed/>
                  <p:pic>
                    <p:nvPicPr>
                      <p:cNvPr id="0" name="Picture 4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46436" y="1556792"/>
                        <a:ext cx="6924450" cy="748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右箭头 12"/>
          <p:cNvSpPr/>
          <p:nvPr/>
        </p:nvSpPr>
        <p:spPr>
          <a:xfrm>
            <a:off x="2860116" y="3638012"/>
            <a:ext cx="428628" cy="484632"/>
          </a:xfrm>
          <a:prstGeom prst="rightArrow">
            <a:avLst/>
          </a:prstGeom>
          <a:solidFill>
            <a:srgbClr val="66CCFF"/>
          </a:solidFill>
          <a:ln>
            <a:solidFill>
              <a:srgbClr val="66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4" name="Object 7"/>
          <p:cNvGraphicFramePr>
            <a:graphicFrameLocks noChangeAspect="1"/>
          </p:cNvGraphicFramePr>
          <p:nvPr>
            <p:extLst>
              <p:ext uri="{D42A27DB-BD31-4B8C-83A1-F6EECF244321}">
                <p14:modId xmlns:p14="http://schemas.microsoft.com/office/powerpoint/2010/main" val="15466677"/>
              </p:ext>
            </p:extLst>
          </p:nvPr>
        </p:nvGraphicFramePr>
        <p:xfrm>
          <a:off x="637293" y="4560121"/>
          <a:ext cx="6044209" cy="815415"/>
        </p:xfrm>
        <a:graphic>
          <a:graphicData uri="http://schemas.openxmlformats.org/presentationml/2006/ole">
            <mc:AlternateContent xmlns:mc="http://schemas.openxmlformats.org/markup-compatibility/2006">
              <mc:Choice xmlns:v="urn:schemas-microsoft-com:vml" Requires="v">
                <p:oleObj spid="_x0000_s57787" name="Equation" r:id="rId12" imgW="3454400" imgH="419100" progId="Equation.DSMT4">
                  <p:embed/>
                </p:oleObj>
              </mc:Choice>
              <mc:Fallback>
                <p:oleObj name="Equation" r:id="rId12" imgW="3454400" imgH="419100" progId="Equation.DSMT4">
                  <p:embed/>
                  <p:pic>
                    <p:nvPicPr>
                      <p:cNvPr id="0" name="Picture 4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37293" y="4560121"/>
                        <a:ext cx="6044209" cy="8154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下箭头 15"/>
          <p:cNvSpPr/>
          <p:nvPr/>
        </p:nvSpPr>
        <p:spPr>
          <a:xfrm>
            <a:off x="4208734" y="4283471"/>
            <a:ext cx="484632" cy="297657"/>
          </a:xfrm>
          <a:prstGeom prst="downArrow">
            <a:avLst/>
          </a:prstGeom>
          <a:solidFill>
            <a:srgbClr val="66CCFF"/>
          </a:solidFill>
          <a:ln>
            <a:solidFill>
              <a:srgbClr val="66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6911866" y="4643265"/>
            <a:ext cx="3072565" cy="646331"/>
          </a:xfrm>
          <a:prstGeom prst="rect">
            <a:avLst/>
          </a:prstGeom>
        </p:spPr>
        <p:txBody>
          <a:bodyPr wrap="square">
            <a:spAutoFit/>
          </a:bodyPr>
          <a:lstStyle/>
          <a:p>
            <a:r>
              <a:rPr lang="zh-CN" altLang="en-US" b="0" dirty="0">
                <a:solidFill>
                  <a:srgbClr val="6600CC"/>
                </a:solidFill>
                <a:latin typeface="+mj-ea"/>
                <a:ea typeface="+mj-ea"/>
              </a:rPr>
              <a:t>判别函数中第二和</a:t>
            </a:r>
            <a:endParaRPr lang="en-US" altLang="zh-CN" b="0" dirty="0">
              <a:solidFill>
                <a:srgbClr val="6600CC"/>
              </a:solidFill>
              <a:latin typeface="+mj-ea"/>
              <a:ea typeface="+mj-ea"/>
            </a:endParaRPr>
          </a:p>
          <a:p>
            <a:r>
              <a:rPr lang="zh-CN" altLang="en-US" b="0" dirty="0">
                <a:solidFill>
                  <a:srgbClr val="6600CC"/>
                </a:solidFill>
                <a:latin typeface="+mj-ea"/>
                <a:ea typeface="+mj-ea"/>
              </a:rPr>
              <a:t>第三项与类别</a:t>
            </a:r>
            <a:r>
              <a:rPr lang="en-US" altLang="zh-CN" b="0" dirty="0" err="1">
                <a:solidFill>
                  <a:srgbClr val="6600CC"/>
                </a:solidFill>
                <a:latin typeface="+mj-ea"/>
                <a:ea typeface="+mj-ea"/>
              </a:rPr>
              <a:t>i</a:t>
            </a:r>
            <a:r>
              <a:rPr lang="zh-CN" altLang="en-US" b="0" dirty="0">
                <a:solidFill>
                  <a:srgbClr val="6600CC"/>
                </a:solidFill>
                <a:latin typeface="+mj-ea"/>
                <a:ea typeface="+mj-ea"/>
              </a:rPr>
              <a:t>无关</a:t>
            </a:r>
            <a:endParaRPr lang="zh-CN" altLang="en-US" b="0" dirty="0">
              <a:latin typeface="+mj-ea"/>
              <a:ea typeface="+mj-ea"/>
            </a:endParaRPr>
          </a:p>
        </p:txBody>
      </p:sp>
      <p:sp>
        <p:nvSpPr>
          <p:cNvPr id="21" name="Rectangle 3"/>
          <p:cNvSpPr txBox="1">
            <a:spLocks noChangeArrowheads="1"/>
          </p:cNvSpPr>
          <p:nvPr/>
        </p:nvSpPr>
        <p:spPr bwMode="gray">
          <a:xfrm>
            <a:off x="424702" y="2276872"/>
            <a:ext cx="11431938" cy="9394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20000"/>
              </a:lnSpc>
              <a:spcBef>
                <a:spcPts val="600"/>
              </a:spcBef>
              <a:buClrTx/>
              <a:buFont typeface="Arial" panose="020B0604020202020204" pitchFamily="34" charset="0"/>
              <a:buChar char="•"/>
            </a:pPr>
            <a:r>
              <a:rPr lang="zh-CN" altLang="en-US" sz="2200" kern="0" dirty="0">
                <a:solidFill>
                  <a:srgbClr val="000000"/>
                </a:solidFill>
                <a:latin typeface="Times New Roman" panose="02020603050405020304" pitchFamily="18" charset="0"/>
                <a:ea typeface="黑体" panose="02010609060101010101" pitchFamily="49" charset="-122"/>
              </a:rPr>
              <a:t>各类模式分布的协方差矩阵相等，各 </a:t>
            </a:r>
            <a:r>
              <a:rPr lang="en-US" altLang="zh-CN" sz="2200" i="1" kern="0" dirty="0">
                <a:solidFill>
                  <a:srgbClr val="000000"/>
                </a:solidFill>
                <a:latin typeface="Times New Roman" panose="02020603050405020304" pitchFamily="18" charset="0"/>
                <a:ea typeface="黑体" panose="02010609060101010101" pitchFamily="49" charset="-122"/>
              </a:rPr>
              <a:t>x</a:t>
            </a:r>
            <a:r>
              <a:rPr lang="en-US" altLang="zh-CN" sz="2200" i="1" kern="0" baseline="-25000" dirty="0">
                <a:solidFill>
                  <a:srgbClr val="000000"/>
                </a:solidFill>
                <a:latin typeface="Times New Roman" panose="02020603050405020304" pitchFamily="18" charset="0"/>
                <a:ea typeface="黑体" panose="02010609060101010101" pitchFamily="49" charset="-122"/>
              </a:rPr>
              <a:t>i </a:t>
            </a:r>
            <a:r>
              <a:rPr lang="zh-CN" altLang="en-US" sz="2200" kern="0" dirty="0">
                <a:solidFill>
                  <a:srgbClr val="000000"/>
                </a:solidFill>
                <a:latin typeface="Times New Roman" panose="02020603050405020304" pitchFamily="18" charset="0"/>
                <a:ea typeface="黑体" panose="02010609060101010101" pitchFamily="49" charset="-122"/>
              </a:rPr>
              <a:t>统计独立且</a:t>
            </a:r>
            <a:r>
              <a:rPr lang="zh-CN" altLang="en-US" sz="2200" kern="0" dirty="0">
                <a:solidFill>
                  <a:srgbClr val="FF0000"/>
                </a:solidFill>
                <a:latin typeface="Times New Roman" panose="02020603050405020304" pitchFamily="18" charset="0"/>
                <a:ea typeface="黑体" panose="02010609060101010101" pitchFamily="49" charset="-122"/>
              </a:rPr>
              <a:t>方差相同，协方差均为</a:t>
            </a:r>
            <a:r>
              <a:rPr lang="en-US" altLang="zh-CN" sz="2200" kern="0" dirty="0">
                <a:solidFill>
                  <a:srgbClr val="FF0000"/>
                </a:solidFill>
                <a:latin typeface="Times New Roman" panose="02020603050405020304" pitchFamily="18" charset="0"/>
                <a:ea typeface="黑体" panose="02010609060101010101" pitchFamily="49" charset="-122"/>
              </a:rPr>
              <a:t>0</a:t>
            </a:r>
            <a:r>
              <a:rPr lang="zh-CN" altLang="en-US" sz="2200" kern="0" dirty="0">
                <a:solidFill>
                  <a:srgbClr val="000000"/>
                </a:solidFill>
                <a:latin typeface="Times New Roman" panose="02020603050405020304" pitchFamily="18" charset="0"/>
                <a:ea typeface="黑体" panose="02010609060101010101" pitchFamily="49" charset="-122"/>
              </a:rPr>
              <a:t>。</a:t>
            </a:r>
            <a:endParaRPr lang="en-US" altLang="zh-CN" sz="2200" kern="0" dirty="0">
              <a:solidFill>
                <a:srgbClr val="000000"/>
              </a:solidFill>
              <a:latin typeface="Times New Roman" panose="02020603050405020304" pitchFamily="18" charset="0"/>
              <a:ea typeface="黑体" panose="02010609060101010101" pitchFamily="49" charset="-122"/>
            </a:endParaRPr>
          </a:p>
          <a:p>
            <a:pPr algn="just">
              <a:lnSpc>
                <a:spcPct val="120000"/>
              </a:lnSpc>
              <a:spcBef>
                <a:spcPts val="600"/>
              </a:spcBef>
              <a:buClrTx/>
              <a:buFont typeface="Arial" panose="020B0604020202020204" pitchFamily="34" charset="0"/>
              <a:buChar char="•"/>
            </a:pPr>
            <a:r>
              <a:rPr lang="zh-CN" altLang="en-US" sz="2200" kern="0" dirty="0">
                <a:latin typeface="Times New Roman" panose="02020603050405020304" pitchFamily="18" charset="0"/>
                <a:ea typeface="黑体" panose="02010609060101010101" pitchFamily="49" charset="-122"/>
              </a:rPr>
              <a:t>几何上相当于各类样本落在以 </a:t>
            </a:r>
            <a:r>
              <a:rPr lang="el-GR" altLang="zh-CN" sz="2200" kern="0" dirty="0">
                <a:latin typeface="Times New Roman" panose="02020603050405020304" pitchFamily="18" charset="0"/>
                <a:ea typeface="黑体" panose="02010609060101010101" pitchFamily="49" charset="-122"/>
              </a:rPr>
              <a:t>μ</a:t>
            </a:r>
            <a:r>
              <a:rPr lang="en-US" altLang="zh-CN" sz="2200" kern="0" baseline="-25000" dirty="0" err="1">
                <a:latin typeface="Times New Roman" panose="02020603050405020304" pitchFamily="18" charset="0"/>
                <a:ea typeface="黑体" panose="02010609060101010101" pitchFamily="49" charset="-122"/>
              </a:rPr>
              <a:t>i</a:t>
            </a:r>
            <a:r>
              <a:rPr lang="en-US" altLang="zh-CN" sz="2200" kern="0" baseline="-25000" dirty="0">
                <a:latin typeface="Times New Roman" panose="02020603050405020304" pitchFamily="18" charset="0"/>
                <a:ea typeface="黑体" panose="02010609060101010101" pitchFamily="49" charset="-122"/>
              </a:rPr>
              <a:t> </a:t>
            </a:r>
            <a:r>
              <a:rPr lang="zh-CN" altLang="en-US" sz="2200" kern="0" dirty="0">
                <a:latin typeface="Times New Roman" panose="02020603050405020304" pitchFamily="18" charset="0"/>
                <a:ea typeface="黑体" panose="02010609060101010101" pitchFamily="49" charset="-122"/>
              </a:rPr>
              <a:t>为中心同样大小的一些超球体中。</a:t>
            </a:r>
            <a:endParaRPr lang="zh-CN" altLang="en-US" sz="2200" kern="0" dirty="0">
              <a:solidFill>
                <a:srgbClr val="000000"/>
              </a:solidFill>
              <a:latin typeface="Times New Roman" panose="02020603050405020304" pitchFamily="18" charset="0"/>
              <a:ea typeface="黑体" panose="02010609060101010101" pitchFamily="49" charset="-122"/>
            </a:endParaRPr>
          </a:p>
        </p:txBody>
      </p:sp>
      <p:sp>
        <p:nvSpPr>
          <p:cNvPr id="2" name="椭圆 1"/>
          <p:cNvSpPr/>
          <p:nvPr/>
        </p:nvSpPr>
        <p:spPr>
          <a:xfrm>
            <a:off x="3659397" y="4683884"/>
            <a:ext cx="772950" cy="691652"/>
          </a:xfrm>
          <a:prstGeom prst="ellipse">
            <a:avLst/>
          </a:prstGeom>
        </p:spPr>
        <p:txBody>
          <a:bodyPr wrap="none" rtlCol="0" anchor="ctr">
            <a:spAutoFit/>
          </a:bodyPr>
          <a:lstStyle/>
          <a:p>
            <a:pPr algn="ctr"/>
            <a:endParaRPr lang="zh-CN" altLang="en-US" sz="2400" kern="100" dirty="0">
              <a:ea typeface="宋体"/>
              <a:cs typeface="Times New Roman"/>
            </a:endParaRPr>
          </a:p>
        </p:txBody>
      </p:sp>
      <p:sp>
        <p:nvSpPr>
          <p:cNvPr id="4" name="椭圆 3"/>
          <p:cNvSpPr/>
          <p:nvPr/>
        </p:nvSpPr>
        <p:spPr>
          <a:xfrm>
            <a:off x="3506670" y="4619708"/>
            <a:ext cx="1005154" cy="825516"/>
          </a:xfrm>
          <a:prstGeom prst="ellipse">
            <a:avLst/>
          </a:prstGeom>
          <a:ln>
            <a:solidFill>
              <a:srgbClr val="FF0000"/>
            </a:solidFill>
          </a:ln>
        </p:spPr>
        <p:txBody>
          <a:bodyPr wrap="square" rtlCol="0" anchor="ctr">
            <a:spAutoFit/>
          </a:bodyPr>
          <a:lstStyle/>
          <a:p>
            <a:pPr algn="ctr"/>
            <a:endParaRPr lang="zh-CN" altLang="en-US" sz="2400" kern="100" dirty="0">
              <a:ea typeface="宋体"/>
              <a:cs typeface="Times New Roman"/>
            </a:endParaRPr>
          </a:p>
        </p:txBody>
      </p:sp>
      <p:sp>
        <p:nvSpPr>
          <p:cNvPr id="23" name="椭圆 22"/>
          <p:cNvSpPr/>
          <p:nvPr/>
        </p:nvSpPr>
        <p:spPr>
          <a:xfrm>
            <a:off x="4493121" y="4469646"/>
            <a:ext cx="1033329" cy="950752"/>
          </a:xfrm>
          <a:prstGeom prst="ellipse">
            <a:avLst/>
          </a:prstGeom>
          <a:ln>
            <a:solidFill>
              <a:srgbClr val="FF0000"/>
            </a:solidFill>
          </a:ln>
        </p:spPr>
        <p:txBody>
          <a:bodyPr wrap="square" rtlCol="0" anchor="ctr">
            <a:spAutoFit/>
          </a:bodyPr>
          <a:lstStyle/>
          <a:p>
            <a:pPr algn="ctr"/>
            <a:endParaRPr lang="zh-CN" altLang="en-US" sz="2400" kern="100" dirty="0">
              <a:ea typeface="宋体"/>
              <a:cs typeface="Times New Roman"/>
            </a:endParaRPr>
          </a:p>
        </p:txBody>
      </p:sp>
      <p:graphicFrame>
        <p:nvGraphicFramePr>
          <p:cNvPr id="24" name="Object 6"/>
          <p:cNvGraphicFramePr>
            <a:graphicFrameLocks noChangeAspect="1"/>
          </p:cNvGraphicFramePr>
          <p:nvPr>
            <p:extLst>
              <p:ext uri="{D42A27DB-BD31-4B8C-83A1-F6EECF244321}">
                <p14:modId xmlns:p14="http://schemas.microsoft.com/office/powerpoint/2010/main" val="2471522562"/>
              </p:ext>
            </p:extLst>
          </p:nvPr>
        </p:nvGraphicFramePr>
        <p:xfrm>
          <a:off x="7824362" y="5458140"/>
          <a:ext cx="4137827" cy="826032"/>
        </p:xfrm>
        <a:graphic>
          <a:graphicData uri="http://schemas.openxmlformats.org/presentationml/2006/ole">
            <mc:AlternateContent xmlns:mc="http://schemas.openxmlformats.org/markup-compatibility/2006">
              <mc:Choice xmlns:v="urn:schemas-microsoft-com:vml" Requires="v">
                <p:oleObj spid="_x0000_s57788" name="Equation" r:id="rId14" imgW="1917700" imgH="419100" progId="Equation.DSMT4">
                  <p:embed/>
                </p:oleObj>
              </mc:Choice>
              <mc:Fallback>
                <p:oleObj name="Equation" r:id="rId14" imgW="1917700" imgH="419100" progId="Equation.DSMT4">
                  <p:embed/>
                  <p:pic>
                    <p:nvPicPr>
                      <p:cNvPr id="0" name="Picture 4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824362" y="5458140"/>
                        <a:ext cx="4137827" cy="826032"/>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8"/>
          <p:cNvGraphicFramePr>
            <a:graphicFrameLocks noChangeAspect="1"/>
          </p:cNvGraphicFramePr>
          <p:nvPr>
            <p:extLst>
              <p:ext uri="{D42A27DB-BD31-4B8C-83A1-F6EECF244321}">
                <p14:modId xmlns:p14="http://schemas.microsoft.com/office/powerpoint/2010/main" val="812104439"/>
              </p:ext>
            </p:extLst>
          </p:nvPr>
        </p:nvGraphicFramePr>
        <p:xfrm>
          <a:off x="4788731" y="5948269"/>
          <a:ext cx="2937466" cy="455958"/>
        </p:xfrm>
        <a:graphic>
          <a:graphicData uri="http://schemas.openxmlformats.org/presentationml/2006/ole">
            <mc:AlternateContent xmlns:mc="http://schemas.openxmlformats.org/markup-compatibility/2006">
              <mc:Choice xmlns:v="urn:schemas-microsoft-com:vml" Requires="v">
                <p:oleObj spid="_x0000_s57789" name="Equation" r:id="rId16" imgW="1714320" imgH="241200" progId="Equation.DSMT4">
                  <p:embed/>
                </p:oleObj>
              </mc:Choice>
              <mc:Fallback>
                <p:oleObj name="Equation" r:id="rId16" imgW="1714320" imgH="241200" progId="Equation.DSMT4">
                  <p:embed/>
                  <p:pic>
                    <p:nvPicPr>
                      <p:cNvPr id="0" name="Picture 4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88731" y="5948269"/>
                        <a:ext cx="2937466" cy="4559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右箭头 4"/>
          <p:cNvSpPr/>
          <p:nvPr/>
        </p:nvSpPr>
        <p:spPr>
          <a:xfrm>
            <a:off x="4993386" y="5862380"/>
            <a:ext cx="2353048" cy="93511"/>
          </a:xfrm>
          <a:prstGeom prst="rightArrow">
            <a:avLst/>
          </a:prstGeom>
          <a:solidFill>
            <a:srgbClr val="0000FF"/>
          </a:solidFill>
          <a:ln>
            <a:solidFill>
              <a:srgbClr val="0000FF"/>
            </a:solidFill>
          </a:ln>
        </p:spPr>
        <p:txBody>
          <a:bodyPr wrap="none" rtlCol="0" anchor="ctr">
            <a:spAutoFit/>
          </a:bodyPr>
          <a:lstStyle/>
          <a:p>
            <a:pPr algn="ctr"/>
            <a:endParaRPr lang="zh-CN" altLang="en-US" sz="2400" kern="100" dirty="0">
              <a:ea typeface="宋体"/>
              <a:cs typeface="Times New Roman"/>
            </a:endParaRPr>
          </a:p>
        </p:txBody>
      </p:sp>
      <p:sp>
        <p:nvSpPr>
          <p:cNvPr id="26" name="Rectangle 23"/>
          <p:cNvSpPr>
            <a:spLocks noChangeArrowheads="1"/>
          </p:cNvSpPr>
          <p:nvPr/>
        </p:nvSpPr>
        <p:spPr bwMode="auto">
          <a:xfrm>
            <a:off x="5377224" y="5445224"/>
            <a:ext cx="1760481" cy="400110"/>
          </a:xfrm>
          <a:prstGeom prst="rect">
            <a:avLst/>
          </a:prstGeom>
          <a:noFill/>
          <a:ln w="9525">
            <a:noFill/>
            <a:miter lim="800000"/>
            <a:headEnd/>
            <a:tailEnd/>
          </a:ln>
          <a:effectLst/>
        </p:spPr>
        <p:txBody>
          <a:bodyPr wrap="square">
            <a:spAutoFit/>
          </a:bodyPr>
          <a:lstStyle/>
          <a:p>
            <a:r>
              <a:rPr lang="zh-CN" altLang="en-US" sz="2000" b="0" dirty="0">
                <a:solidFill>
                  <a:srgbClr val="FF0000"/>
                </a:solidFill>
                <a:latin typeface="+mj-ea"/>
                <a:ea typeface="+mj-ea"/>
              </a:rPr>
              <a:t>欧氏距离平方</a:t>
            </a:r>
            <a:endParaRPr lang="zh-CN" altLang="en-US" sz="2000" b="0" dirty="0">
              <a:solidFill>
                <a:srgbClr val="000000"/>
              </a:solidFill>
              <a:latin typeface="+mj-ea"/>
              <a:ea typeface="+mj-ea"/>
            </a:endParaRPr>
          </a:p>
        </p:txBody>
      </p:sp>
    </p:spTree>
    <p:extLst>
      <p:ext uri="{BB962C8B-B14F-4D97-AF65-F5344CB8AC3E}">
        <p14:creationId xmlns:p14="http://schemas.microsoft.com/office/powerpoint/2010/main" val="40398947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56</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052736"/>
            <a:ext cx="736611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正态分布概率模型下的最小错误率贝叶斯决策</a:t>
            </a:r>
          </a:p>
        </p:txBody>
      </p:sp>
      <p:sp>
        <p:nvSpPr>
          <p:cNvPr id="11" name="Rectangle 3"/>
          <p:cNvSpPr txBox="1">
            <a:spLocks noChangeArrowheads="1"/>
          </p:cNvSpPr>
          <p:nvPr/>
        </p:nvSpPr>
        <p:spPr bwMode="gray">
          <a:xfrm>
            <a:off x="352694" y="1628093"/>
            <a:ext cx="1710858" cy="6367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20000"/>
              </a:lnSpc>
              <a:spcBef>
                <a:spcPts val="0"/>
              </a:spcBef>
              <a:buFontTx/>
              <a:buNone/>
            </a:pPr>
            <a:r>
              <a:rPr lang="en-US" altLang="zh-CN" b="1" kern="0" dirty="0">
                <a:solidFill>
                  <a:srgbClr val="FF0000"/>
                </a:solidFill>
                <a:latin typeface="Times New Roman" panose="02020603050405020304" pitchFamily="18" charset="0"/>
                <a:ea typeface="黑体" panose="02010609060101010101" pitchFamily="49" charset="-122"/>
              </a:rPr>
              <a:t>⑴ </a:t>
            </a:r>
            <a:r>
              <a:rPr lang="en-US" altLang="zh-CN" b="1" kern="0" dirty="0" err="1">
                <a:solidFill>
                  <a:srgbClr val="FF0000"/>
                </a:solidFill>
                <a:latin typeface="Times New Roman" panose="02020603050405020304" pitchFamily="18" charset="0"/>
                <a:ea typeface="黑体" panose="02010609060101010101" pitchFamily="49" charset="-122"/>
              </a:rPr>
              <a:t>Σ</a:t>
            </a:r>
            <a:r>
              <a:rPr lang="en-US" altLang="zh-CN" b="1" kern="0" baseline="-25000" dirty="0" err="1">
                <a:solidFill>
                  <a:srgbClr val="FF0000"/>
                </a:solidFill>
                <a:latin typeface="Times New Roman" panose="02020603050405020304" pitchFamily="18" charset="0"/>
                <a:ea typeface="黑体" panose="02010609060101010101" pitchFamily="49" charset="-122"/>
              </a:rPr>
              <a:t>i</a:t>
            </a:r>
            <a:r>
              <a:rPr lang="en-US" altLang="zh-CN" b="1" kern="0" dirty="0">
                <a:solidFill>
                  <a:srgbClr val="FF0000"/>
                </a:solidFill>
                <a:latin typeface="Times New Roman" panose="02020603050405020304" pitchFamily="18" charset="0"/>
                <a:ea typeface="黑体" panose="02010609060101010101" pitchFamily="49" charset="-122"/>
              </a:rPr>
              <a:t>=</a:t>
            </a:r>
            <a:r>
              <a:rPr lang="el-GR" altLang="zh-CN" b="1" kern="0" dirty="0">
                <a:solidFill>
                  <a:srgbClr val="FF0000"/>
                </a:solidFill>
                <a:latin typeface="Times New Roman" panose="02020603050405020304" pitchFamily="18" charset="0"/>
                <a:ea typeface="黑体" panose="02010609060101010101" pitchFamily="49" charset="-122"/>
              </a:rPr>
              <a:t>σ</a:t>
            </a:r>
            <a:r>
              <a:rPr lang="en-US" altLang="zh-CN" b="1" kern="0" baseline="30000" dirty="0">
                <a:solidFill>
                  <a:srgbClr val="FF0000"/>
                </a:solidFill>
                <a:latin typeface="Times New Roman" panose="02020603050405020304" pitchFamily="18" charset="0"/>
                <a:ea typeface="黑体" panose="02010609060101010101" pitchFamily="49" charset="-122"/>
              </a:rPr>
              <a:t>2</a:t>
            </a:r>
            <a:r>
              <a:rPr lang="en-US" altLang="zh-CN" b="1" kern="0" dirty="0">
                <a:solidFill>
                  <a:srgbClr val="FF0000"/>
                </a:solidFill>
                <a:latin typeface="Times New Roman" panose="02020603050405020304" pitchFamily="18" charset="0"/>
                <a:ea typeface="黑体" panose="02010609060101010101" pitchFamily="49" charset="-122"/>
              </a:rPr>
              <a:t>I</a:t>
            </a:r>
          </a:p>
        </p:txBody>
      </p:sp>
      <p:sp>
        <p:nvSpPr>
          <p:cNvPr id="27" name="Rectangle 3"/>
          <p:cNvSpPr txBox="1">
            <a:spLocks noChangeArrowheads="1"/>
          </p:cNvSpPr>
          <p:nvPr/>
        </p:nvSpPr>
        <p:spPr bwMode="gray">
          <a:xfrm>
            <a:off x="362269" y="2498234"/>
            <a:ext cx="5328593" cy="40271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lnSpc>
                <a:spcPct val="150000"/>
              </a:lnSpc>
              <a:spcBef>
                <a:spcPts val="0"/>
              </a:spcBef>
              <a:buNone/>
            </a:pPr>
            <a:r>
              <a:rPr lang="zh-CN" altLang="en-US" sz="2200" b="1" kern="0" dirty="0">
                <a:solidFill>
                  <a:srgbClr val="FF6600"/>
                </a:solidFill>
                <a:latin typeface="Times New Roman" panose="02020603050405020304" pitchFamily="18" charset="0"/>
                <a:ea typeface="黑体" panose="02010609060101010101" pitchFamily="49" charset="-122"/>
              </a:rPr>
              <a:t>① 如果</a:t>
            </a:r>
            <a:r>
              <a:rPr lang="en-US" altLang="zh-CN" sz="2200" b="1" kern="0" dirty="0">
                <a:solidFill>
                  <a:srgbClr val="FF6600"/>
                </a:solidFill>
                <a:latin typeface="Times New Roman" panose="02020603050405020304" pitchFamily="18" charset="0"/>
                <a:ea typeface="黑体" panose="02010609060101010101" pitchFamily="49" charset="-122"/>
              </a:rPr>
              <a:t>P(</a:t>
            </a:r>
            <a:r>
              <a:rPr lang="en-US" altLang="zh-CN" sz="2200" b="1" kern="0" dirty="0" err="1">
                <a:solidFill>
                  <a:srgbClr val="FF6600"/>
                </a:solidFill>
                <a:latin typeface="Times New Roman" panose="02020603050405020304" pitchFamily="18" charset="0"/>
                <a:ea typeface="黑体" panose="02010609060101010101" pitchFamily="49" charset="-122"/>
              </a:rPr>
              <a:t>w</a:t>
            </a:r>
            <a:r>
              <a:rPr lang="en-US" altLang="zh-CN" sz="2200" b="1" kern="0" baseline="-25000" dirty="0" err="1">
                <a:solidFill>
                  <a:srgbClr val="FF6600"/>
                </a:solidFill>
                <a:latin typeface="Times New Roman" panose="02020603050405020304" pitchFamily="18" charset="0"/>
                <a:ea typeface="黑体" panose="02010609060101010101" pitchFamily="49" charset="-122"/>
              </a:rPr>
              <a:t>i</a:t>
            </a:r>
            <a:r>
              <a:rPr lang="en-US" altLang="zh-CN" sz="2200" b="1" kern="0" dirty="0">
                <a:solidFill>
                  <a:srgbClr val="FF6600"/>
                </a:solidFill>
                <a:latin typeface="Times New Roman" panose="02020603050405020304" pitchFamily="18" charset="0"/>
                <a:ea typeface="黑体" panose="02010609060101010101" pitchFamily="49" charset="-122"/>
              </a:rPr>
              <a:t>)= P(</a:t>
            </a:r>
            <a:r>
              <a:rPr lang="en-US" altLang="zh-CN" sz="2200" b="1" kern="0" dirty="0" err="1">
                <a:solidFill>
                  <a:srgbClr val="FF6600"/>
                </a:solidFill>
                <a:latin typeface="Times New Roman" panose="02020603050405020304" pitchFamily="18" charset="0"/>
                <a:ea typeface="黑体" panose="02010609060101010101" pitchFamily="49" charset="-122"/>
              </a:rPr>
              <a:t>w</a:t>
            </a:r>
            <a:r>
              <a:rPr lang="en-US" altLang="zh-CN" sz="2200" b="1" kern="0" baseline="-25000" dirty="0" err="1">
                <a:solidFill>
                  <a:srgbClr val="FF6600"/>
                </a:solidFill>
                <a:latin typeface="Times New Roman" panose="02020603050405020304" pitchFamily="18" charset="0"/>
                <a:ea typeface="黑体" panose="02010609060101010101" pitchFamily="49" charset="-122"/>
              </a:rPr>
              <a:t>j</a:t>
            </a:r>
            <a:r>
              <a:rPr lang="en-US" altLang="zh-CN" sz="2200" b="1" kern="0" dirty="0">
                <a:solidFill>
                  <a:srgbClr val="FF6600"/>
                </a:solidFill>
                <a:latin typeface="Times New Roman" panose="02020603050405020304" pitchFamily="18" charset="0"/>
                <a:ea typeface="黑体" panose="02010609060101010101" pitchFamily="49" charset="-122"/>
              </a:rPr>
              <a:t>) </a:t>
            </a:r>
            <a:r>
              <a:rPr lang="zh-CN" altLang="en-US" sz="2200" b="1" kern="0" dirty="0">
                <a:solidFill>
                  <a:srgbClr val="FF6600"/>
                </a:solidFill>
                <a:latin typeface="Times New Roman" panose="02020603050405020304" pitchFamily="18" charset="0"/>
                <a:ea typeface="黑体" panose="02010609060101010101" pitchFamily="49" charset="-122"/>
              </a:rPr>
              <a:t>先验概率相等 </a:t>
            </a:r>
            <a:endParaRPr lang="en-US" altLang="zh-CN" sz="2200" b="1" kern="0" dirty="0">
              <a:solidFill>
                <a:srgbClr val="FF6600"/>
              </a:solidFill>
              <a:latin typeface="Times New Roman" panose="02020603050405020304" pitchFamily="18" charset="0"/>
              <a:ea typeface="黑体" panose="02010609060101010101" pitchFamily="49" charset="-122"/>
            </a:endParaRPr>
          </a:p>
          <a:p>
            <a:pPr algn="just">
              <a:lnSpc>
                <a:spcPct val="130000"/>
              </a:lnSpc>
              <a:spcBef>
                <a:spcPts val="600"/>
              </a:spcBef>
              <a:buClrTx/>
              <a:buFont typeface="Arial" panose="020B0604020202020204" pitchFamily="34" charset="0"/>
              <a:buChar char="•"/>
            </a:pPr>
            <a:r>
              <a:rPr lang="zh-CN" altLang="en-US" sz="2200" kern="0" dirty="0">
                <a:solidFill>
                  <a:srgbClr val="000000"/>
                </a:solidFill>
                <a:latin typeface="Times New Roman" panose="02020603050405020304" pitchFamily="18" charset="0"/>
                <a:ea typeface="黑体" panose="02010609060101010101" pitchFamily="49" charset="-122"/>
              </a:rPr>
              <a:t>测量从待分类向量</a:t>
            </a:r>
            <a:r>
              <a:rPr lang="en-US" altLang="zh-CN" sz="2200" b="1" kern="0" dirty="0">
                <a:solidFill>
                  <a:srgbClr val="000000"/>
                </a:solidFill>
                <a:latin typeface="Times New Roman" panose="02020603050405020304" pitchFamily="18" charset="0"/>
                <a:ea typeface="黑体" panose="02010609060101010101" pitchFamily="49" charset="-122"/>
              </a:rPr>
              <a:t>x</a:t>
            </a:r>
            <a:r>
              <a:rPr lang="zh-CN" altLang="en-US" sz="2200" kern="0" dirty="0">
                <a:solidFill>
                  <a:srgbClr val="000000"/>
                </a:solidFill>
                <a:latin typeface="Times New Roman" panose="02020603050405020304" pitchFamily="18" charset="0"/>
                <a:ea typeface="黑体" panose="02010609060101010101" pitchFamily="49" charset="-122"/>
              </a:rPr>
              <a:t>到每一类均值向量的欧氏距离，把</a:t>
            </a:r>
            <a:r>
              <a:rPr lang="en-US" altLang="zh-CN" sz="2200" b="1" kern="0" dirty="0">
                <a:solidFill>
                  <a:srgbClr val="000000"/>
                </a:solidFill>
                <a:latin typeface="Times New Roman" panose="02020603050405020304" pitchFamily="18" charset="0"/>
                <a:ea typeface="黑体" panose="02010609060101010101" pitchFamily="49" charset="-122"/>
              </a:rPr>
              <a:t>x</a:t>
            </a:r>
            <a:r>
              <a:rPr lang="zh-CN" altLang="en-US" sz="2200" kern="0" dirty="0">
                <a:solidFill>
                  <a:srgbClr val="000000"/>
                </a:solidFill>
                <a:latin typeface="Times New Roman" panose="02020603050405020304" pitchFamily="18" charset="0"/>
                <a:ea typeface="黑体" panose="02010609060101010101" pitchFamily="49" charset="-122"/>
              </a:rPr>
              <a:t>分到距离最近的类，即                       </a:t>
            </a:r>
            <a:r>
              <a:rPr lang="en-US" altLang="zh-CN" sz="2200" kern="0" dirty="0">
                <a:solidFill>
                  <a:srgbClr val="000000"/>
                </a:solidFill>
                <a:latin typeface="Times New Roman" panose="02020603050405020304" pitchFamily="18" charset="0"/>
                <a:ea typeface="黑体" panose="02010609060101010101" pitchFamily="49" charset="-122"/>
              </a:rPr>
              <a:t>,  </a:t>
            </a:r>
            <a:r>
              <a:rPr lang="el-GR" altLang="zh-CN" sz="2200" kern="0" dirty="0">
                <a:solidFill>
                  <a:srgbClr val="000000"/>
                </a:solidFill>
                <a:latin typeface="Times New Roman" panose="02020603050405020304" pitchFamily="18" charset="0"/>
                <a:ea typeface="黑体" panose="02010609060101010101" pitchFamily="49" charset="-122"/>
              </a:rPr>
              <a:t>μ</a:t>
            </a:r>
            <a:r>
              <a:rPr lang="en-US" altLang="zh-CN" sz="2200" kern="0" baseline="-25000" dirty="0" err="1">
                <a:latin typeface="Times New Roman" panose="02020603050405020304" pitchFamily="18" charset="0"/>
                <a:ea typeface="黑体" panose="02010609060101010101" pitchFamily="49" charset="-122"/>
              </a:rPr>
              <a:t>i</a:t>
            </a:r>
            <a:r>
              <a:rPr lang="zh-CN" altLang="en-US" sz="2200" kern="0" dirty="0">
                <a:solidFill>
                  <a:srgbClr val="000000"/>
                </a:solidFill>
                <a:latin typeface="Times New Roman" panose="02020603050405020304" pitchFamily="18" charset="0"/>
                <a:ea typeface="黑体" panose="02010609060101010101" pitchFamily="49" charset="-122"/>
              </a:rPr>
              <a:t>是从训练样本集中得到的。也称</a:t>
            </a:r>
            <a:r>
              <a:rPr lang="zh-CN" altLang="en-US" sz="2200" kern="0" dirty="0">
                <a:solidFill>
                  <a:srgbClr val="FF0066"/>
                </a:solidFill>
                <a:latin typeface="Times New Roman" panose="02020603050405020304" pitchFamily="18" charset="0"/>
                <a:ea typeface="黑体" panose="02010609060101010101" pitchFamily="49" charset="-122"/>
              </a:rPr>
              <a:t>最小距离分类器</a:t>
            </a:r>
            <a:r>
              <a:rPr lang="zh-CN" altLang="en-US" sz="2200" kern="0" dirty="0">
                <a:solidFill>
                  <a:srgbClr val="000000"/>
                </a:solidFill>
                <a:latin typeface="Times New Roman" panose="02020603050405020304" pitchFamily="18" charset="0"/>
                <a:ea typeface="黑体" panose="02010609060101010101" pitchFamily="49" charset="-122"/>
              </a:rPr>
              <a:t>。</a:t>
            </a:r>
            <a:endParaRPr lang="en-US" altLang="zh-CN" sz="2200" kern="0" dirty="0">
              <a:solidFill>
                <a:srgbClr val="000000"/>
              </a:solidFill>
              <a:latin typeface="Times New Roman" panose="02020603050405020304" pitchFamily="18" charset="0"/>
              <a:ea typeface="黑体" panose="02010609060101010101" pitchFamily="49" charset="-122"/>
            </a:endParaRPr>
          </a:p>
          <a:p>
            <a:pPr algn="just">
              <a:lnSpc>
                <a:spcPct val="130000"/>
              </a:lnSpc>
              <a:spcBef>
                <a:spcPts val="600"/>
              </a:spcBef>
              <a:buClrTx/>
              <a:buFont typeface="Arial" panose="020B0604020202020204" pitchFamily="34" charset="0"/>
              <a:buChar char="•"/>
            </a:pPr>
            <a:r>
              <a:rPr lang="zh-CN" altLang="en-US" sz="2200" kern="0" dirty="0">
                <a:solidFill>
                  <a:srgbClr val="000000"/>
                </a:solidFill>
                <a:latin typeface="Times New Roman" panose="02020603050405020304" pitchFamily="18" charset="0"/>
                <a:ea typeface="黑体" panose="02010609060101010101" pitchFamily="49" charset="-122"/>
              </a:rPr>
              <a:t>若把每个均值向量</a:t>
            </a:r>
            <a:r>
              <a:rPr lang="el-GR" altLang="zh-CN" sz="2200" kern="0" dirty="0">
                <a:solidFill>
                  <a:srgbClr val="000000"/>
                </a:solidFill>
                <a:latin typeface="Times New Roman" panose="02020603050405020304" pitchFamily="18" charset="0"/>
                <a:ea typeface="黑体" panose="02010609060101010101" pitchFamily="49" charset="-122"/>
              </a:rPr>
              <a:t>μ</a:t>
            </a:r>
            <a:r>
              <a:rPr lang="en-US" altLang="zh-CN" sz="2200" kern="0" baseline="-25000" dirty="0" err="1">
                <a:latin typeface="Times New Roman" panose="02020603050405020304" pitchFamily="18" charset="0"/>
                <a:ea typeface="黑体" panose="02010609060101010101" pitchFamily="49" charset="-122"/>
              </a:rPr>
              <a:t>i</a:t>
            </a:r>
            <a:r>
              <a:rPr lang="en-US" altLang="zh-CN" sz="2200" kern="0" baseline="-25000" dirty="0">
                <a:latin typeface="Times New Roman" panose="02020603050405020304" pitchFamily="18" charset="0"/>
                <a:ea typeface="黑体" panose="02010609060101010101" pitchFamily="49" charset="-122"/>
              </a:rPr>
              <a:t> </a:t>
            </a:r>
            <a:r>
              <a:rPr lang="zh-CN" altLang="en-US" sz="2200" kern="0" dirty="0">
                <a:solidFill>
                  <a:srgbClr val="000000"/>
                </a:solidFill>
                <a:latin typeface="Times New Roman" panose="02020603050405020304" pitchFamily="18" charset="0"/>
                <a:ea typeface="黑体" panose="02010609060101010101" pitchFamily="49" charset="-122"/>
              </a:rPr>
              <a:t>看作一个典型的样本</a:t>
            </a:r>
            <a:r>
              <a:rPr lang="en-US" altLang="zh-CN" sz="2200" kern="0" dirty="0">
                <a:solidFill>
                  <a:srgbClr val="000000"/>
                </a:solidFill>
                <a:latin typeface="Times New Roman" panose="02020603050405020304" pitchFamily="18" charset="0"/>
                <a:ea typeface="黑体" panose="02010609060101010101" pitchFamily="49" charset="-122"/>
              </a:rPr>
              <a:t>(</a:t>
            </a:r>
            <a:r>
              <a:rPr lang="zh-CN" altLang="en-US" sz="2200" kern="0" dirty="0">
                <a:solidFill>
                  <a:srgbClr val="000000"/>
                </a:solidFill>
                <a:latin typeface="Times New Roman" panose="02020603050405020304" pitchFamily="18" charset="0"/>
                <a:ea typeface="黑体" panose="02010609060101010101" pitchFamily="49" charset="-122"/>
              </a:rPr>
              <a:t>模板</a:t>
            </a:r>
            <a:r>
              <a:rPr lang="en-US" altLang="zh-CN" sz="2200" kern="0" dirty="0">
                <a:solidFill>
                  <a:srgbClr val="000000"/>
                </a:solidFill>
                <a:latin typeface="Times New Roman" panose="02020603050405020304" pitchFamily="18" charset="0"/>
                <a:ea typeface="黑体" panose="02010609060101010101" pitchFamily="49" charset="-122"/>
              </a:rPr>
              <a:t>)</a:t>
            </a:r>
            <a:r>
              <a:rPr lang="zh-CN" altLang="en-US" sz="2200" kern="0" dirty="0">
                <a:solidFill>
                  <a:srgbClr val="000000"/>
                </a:solidFill>
                <a:latin typeface="Times New Roman" panose="02020603050405020304" pitchFamily="18" charset="0"/>
                <a:ea typeface="黑体" panose="02010609060101010101" pitchFamily="49" charset="-122"/>
              </a:rPr>
              <a:t>，则这种分类方法也称为</a:t>
            </a:r>
            <a:r>
              <a:rPr lang="zh-CN" altLang="en-US" sz="2200" kern="0" dirty="0">
                <a:solidFill>
                  <a:srgbClr val="FF0066"/>
                </a:solidFill>
                <a:latin typeface="Times New Roman" panose="02020603050405020304" pitchFamily="18" charset="0"/>
                <a:ea typeface="黑体" panose="02010609060101010101" pitchFamily="49" charset="-122"/>
              </a:rPr>
              <a:t>模板匹配技术</a:t>
            </a:r>
            <a:r>
              <a:rPr lang="zh-CN" altLang="en-US" sz="2200" kern="0" dirty="0">
                <a:solidFill>
                  <a:srgbClr val="000000"/>
                </a:solidFill>
                <a:latin typeface="Times New Roman" panose="02020603050405020304" pitchFamily="18" charset="0"/>
                <a:ea typeface="黑体" panose="02010609060101010101" pitchFamily="49" charset="-122"/>
              </a:rPr>
              <a:t>。</a:t>
            </a:r>
          </a:p>
        </p:txBody>
      </p:sp>
      <p:graphicFrame>
        <p:nvGraphicFramePr>
          <p:cNvPr id="28" name="Object 4"/>
          <p:cNvGraphicFramePr>
            <a:graphicFrameLocks noGrp="1" noChangeAspect="1"/>
          </p:cNvGraphicFramePr>
          <p:nvPr>
            <p:ph sz="half" idx="4294967295"/>
            <p:extLst>
              <p:ext uri="{D42A27DB-BD31-4B8C-83A1-F6EECF244321}">
                <p14:modId xmlns:p14="http://schemas.microsoft.com/office/powerpoint/2010/main" val="480843682"/>
              </p:ext>
            </p:extLst>
          </p:nvPr>
        </p:nvGraphicFramePr>
        <p:xfrm>
          <a:off x="1173669" y="3957650"/>
          <a:ext cx="1657350" cy="573392"/>
        </p:xfrm>
        <a:graphic>
          <a:graphicData uri="http://schemas.openxmlformats.org/presentationml/2006/ole">
            <mc:AlternateContent xmlns:mc="http://schemas.openxmlformats.org/markup-compatibility/2006">
              <mc:Choice xmlns:v="urn:schemas-microsoft-com:vml" Requires="v">
                <p:oleObj spid="_x0000_s58496" name="公式" r:id="rId4" imgW="850531" imgH="330057" progId="Equation.3">
                  <p:embed/>
                </p:oleObj>
              </mc:Choice>
              <mc:Fallback>
                <p:oleObj name="公式" r:id="rId4" imgW="850531" imgH="330057" progId="Equation.3">
                  <p:embed/>
                  <p:pic>
                    <p:nvPicPr>
                      <p:cNvPr id="0" name="Picture 120"/>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73669" y="3957650"/>
                        <a:ext cx="1657350" cy="5733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6"/>
          <p:cNvGraphicFramePr>
            <a:graphicFrameLocks noChangeAspect="1"/>
          </p:cNvGraphicFramePr>
          <p:nvPr>
            <p:extLst>
              <p:ext uri="{D42A27DB-BD31-4B8C-83A1-F6EECF244321}">
                <p14:modId xmlns:p14="http://schemas.microsoft.com/office/powerpoint/2010/main" val="1417879332"/>
              </p:ext>
            </p:extLst>
          </p:nvPr>
        </p:nvGraphicFramePr>
        <p:xfrm>
          <a:off x="4018311" y="1676478"/>
          <a:ext cx="4181229" cy="744410"/>
        </p:xfrm>
        <a:graphic>
          <a:graphicData uri="http://schemas.openxmlformats.org/presentationml/2006/ole">
            <mc:AlternateContent xmlns:mc="http://schemas.openxmlformats.org/markup-compatibility/2006">
              <mc:Choice xmlns:v="urn:schemas-microsoft-com:vml" Requires="v">
                <p:oleObj spid="_x0000_s58497" name="Equation" r:id="rId6" imgW="1917700" imgH="419100" progId="Equation.DSMT4">
                  <p:embed/>
                </p:oleObj>
              </mc:Choice>
              <mc:Fallback>
                <p:oleObj name="Equation" r:id="rId6" imgW="1917700" imgH="419100" progId="Equation.DSMT4">
                  <p:embed/>
                  <p:pic>
                    <p:nvPicPr>
                      <p:cNvPr id="0" name="Picture 1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18311" y="1676478"/>
                        <a:ext cx="4181229" cy="7444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矩形 30"/>
          <p:cNvSpPr/>
          <p:nvPr/>
        </p:nvSpPr>
        <p:spPr>
          <a:xfrm>
            <a:off x="6907142" y="1783935"/>
            <a:ext cx="1292398" cy="529496"/>
          </a:xfrm>
          <a:prstGeom prst="rect">
            <a:avLst/>
          </a:prstGeom>
          <a:solidFill>
            <a:srgbClr val="66CCFF">
              <a:alpha val="6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Rectangle 3"/>
          <p:cNvSpPr txBox="1">
            <a:spLocks noChangeArrowheads="1"/>
          </p:cNvSpPr>
          <p:nvPr/>
        </p:nvSpPr>
        <p:spPr bwMode="gray">
          <a:xfrm>
            <a:off x="6136136" y="2476714"/>
            <a:ext cx="5729022" cy="315421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30000"/>
              </a:lnSpc>
              <a:spcBef>
                <a:spcPts val="0"/>
              </a:spcBef>
              <a:buFontTx/>
              <a:buNone/>
            </a:pPr>
            <a:r>
              <a:rPr lang="zh-CN" altLang="en-US" sz="2200" b="1" kern="0" dirty="0">
                <a:solidFill>
                  <a:srgbClr val="FF6600"/>
                </a:solidFill>
                <a:latin typeface="Times New Roman" panose="02020603050405020304" pitchFamily="18" charset="0"/>
                <a:ea typeface="黑体" panose="02010609060101010101" pitchFamily="49" charset="-122"/>
              </a:rPr>
              <a:t>② 如果</a:t>
            </a:r>
            <a:r>
              <a:rPr lang="en-US" altLang="zh-CN" sz="2200" b="1" kern="0" dirty="0">
                <a:solidFill>
                  <a:srgbClr val="FF6600"/>
                </a:solidFill>
                <a:latin typeface="Times New Roman" panose="02020603050405020304" pitchFamily="18" charset="0"/>
                <a:ea typeface="黑体" panose="02010609060101010101" pitchFamily="49" charset="-122"/>
              </a:rPr>
              <a:t>P(</a:t>
            </a:r>
            <a:r>
              <a:rPr lang="en-US" altLang="zh-CN" sz="2200" b="1" kern="0" dirty="0" err="1">
                <a:solidFill>
                  <a:srgbClr val="FF6600"/>
                </a:solidFill>
                <a:latin typeface="Times New Roman" panose="02020603050405020304" pitchFamily="18" charset="0"/>
                <a:ea typeface="黑体" panose="02010609060101010101" pitchFamily="49" charset="-122"/>
              </a:rPr>
              <a:t>w</a:t>
            </a:r>
            <a:r>
              <a:rPr lang="en-US" altLang="zh-CN" sz="2200" b="1" kern="0" baseline="-25000" dirty="0" err="1">
                <a:solidFill>
                  <a:srgbClr val="FF6600"/>
                </a:solidFill>
                <a:latin typeface="Times New Roman" panose="02020603050405020304" pitchFamily="18" charset="0"/>
                <a:ea typeface="黑体" panose="02010609060101010101" pitchFamily="49" charset="-122"/>
              </a:rPr>
              <a:t>i</a:t>
            </a:r>
            <a:r>
              <a:rPr lang="en-US" altLang="zh-CN" sz="2200" b="1" kern="0" dirty="0">
                <a:solidFill>
                  <a:srgbClr val="FF6600"/>
                </a:solidFill>
                <a:latin typeface="Times New Roman" panose="02020603050405020304" pitchFamily="18" charset="0"/>
                <a:ea typeface="黑体" panose="02010609060101010101" pitchFamily="49" charset="-122"/>
              </a:rPr>
              <a:t>)≠P(</a:t>
            </a:r>
            <a:r>
              <a:rPr lang="en-US" altLang="zh-CN" sz="2200" b="1" kern="0" dirty="0" err="1">
                <a:solidFill>
                  <a:srgbClr val="FF6600"/>
                </a:solidFill>
                <a:latin typeface="Times New Roman" panose="02020603050405020304" pitchFamily="18" charset="0"/>
                <a:ea typeface="黑体" panose="02010609060101010101" pitchFamily="49" charset="-122"/>
              </a:rPr>
              <a:t>w</a:t>
            </a:r>
            <a:r>
              <a:rPr lang="en-US" altLang="zh-CN" sz="2200" b="1" kern="0" baseline="-25000" dirty="0" err="1">
                <a:solidFill>
                  <a:srgbClr val="FF6600"/>
                </a:solidFill>
                <a:latin typeface="Times New Roman" panose="02020603050405020304" pitchFamily="18" charset="0"/>
                <a:ea typeface="黑体" panose="02010609060101010101" pitchFamily="49" charset="-122"/>
              </a:rPr>
              <a:t>j</a:t>
            </a:r>
            <a:r>
              <a:rPr lang="en-US" altLang="zh-CN" sz="2200" b="1" kern="0" dirty="0">
                <a:solidFill>
                  <a:srgbClr val="FF6600"/>
                </a:solidFill>
                <a:latin typeface="Times New Roman" panose="02020603050405020304" pitchFamily="18" charset="0"/>
                <a:ea typeface="黑体" panose="02010609060101010101" pitchFamily="49" charset="-122"/>
              </a:rPr>
              <a:t>) </a:t>
            </a:r>
            <a:r>
              <a:rPr lang="zh-CN" altLang="en-US" sz="2200" b="1" kern="0" dirty="0">
                <a:solidFill>
                  <a:srgbClr val="FF6600"/>
                </a:solidFill>
                <a:latin typeface="Times New Roman" panose="02020603050405020304" pitchFamily="18" charset="0"/>
                <a:ea typeface="黑体" panose="02010609060101010101" pitchFamily="49" charset="-122"/>
              </a:rPr>
              <a:t>先验概率不相等</a:t>
            </a:r>
            <a:endParaRPr lang="en-US" altLang="zh-CN" sz="2200" b="1" kern="0" dirty="0">
              <a:solidFill>
                <a:srgbClr val="FF6600"/>
              </a:solidFill>
              <a:latin typeface="Times New Roman" panose="02020603050405020304" pitchFamily="18" charset="0"/>
              <a:ea typeface="黑体" panose="02010609060101010101" pitchFamily="49" charset="-122"/>
            </a:endParaRPr>
          </a:p>
          <a:p>
            <a:pPr algn="just">
              <a:lnSpc>
                <a:spcPct val="130000"/>
              </a:lnSpc>
              <a:spcBef>
                <a:spcPts val="600"/>
              </a:spcBef>
              <a:buClrTx/>
              <a:buFont typeface="Arial" panose="020B0604020202020204" pitchFamily="34" charset="0"/>
              <a:buChar char="•"/>
            </a:pPr>
            <a:r>
              <a:rPr lang="zh-CN" altLang="en-US" sz="2200" kern="0" dirty="0">
                <a:solidFill>
                  <a:srgbClr val="000000"/>
                </a:solidFill>
                <a:latin typeface="Times New Roman" panose="02020603050405020304" pitchFamily="18" charset="0"/>
                <a:ea typeface="黑体" panose="02010609060101010101" pitchFamily="49" charset="-122"/>
              </a:rPr>
              <a:t>欧氏距离的平方必须用方差</a:t>
            </a:r>
            <a:r>
              <a:rPr lang="en-US" altLang="zh-CN" sz="2200" kern="0" dirty="0">
                <a:latin typeface="Times New Roman" panose="02020603050405020304" pitchFamily="18" charset="0"/>
                <a:ea typeface="黑体" panose="02010609060101010101" pitchFamily="49" charset="-122"/>
              </a:rPr>
              <a:t>σ</a:t>
            </a:r>
            <a:r>
              <a:rPr lang="en-US" altLang="zh-CN" sz="2200" kern="0" baseline="30000" dirty="0">
                <a:latin typeface="Times New Roman" panose="02020603050405020304" pitchFamily="18" charset="0"/>
                <a:ea typeface="黑体" panose="02010609060101010101" pitchFamily="49" charset="-122"/>
              </a:rPr>
              <a:t>2</a:t>
            </a:r>
            <a:r>
              <a:rPr lang="zh-CN" altLang="en-US" sz="2200" kern="0" dirty="0">
                <a:solidFill>
                  <a:srgbClr val="000000"/>
                </a:solidFill>
                <a:latin typeface="Times New Roman" panose="02020603050405020304" pitchFamily="18" charset="0"/>
                <a:ea typeface="黑体" panose="02010609060101010101" pitchFamily="49" charset="-122"/>
              </a:rPr>
              <a:t>规范化后减去</a:t>
            </a:r>
            <a:r>
              <a:rPr lang="en-US" altLang="zh-CN" sz="2200" kern="0" dirty="0" err="1">
                <a:solidFill>
                  <a:srgbClr val="000000"/>
                </a:solidFill>
                <a:latin typeface="Times New Roman" panose="02020603050405020304" pitchFamily="18" charset="0"/>
                <a:ea typeface="黑体" panose="02010609060101010101" pitchFamily="49" charset="-122"/>
              </a:rPr>
              <a:t>lnP</a:t>
            </a:r>
            <a:r>
              <a:rPr lang="en-US" altLang="zh-CN" sz="2200" kern="0" dirty="0">
                <a:solidFill>
                  <a:srgbClr val="000000"/>
                </a:solidFill>
                <a:latin typeface="Times New Roman" panose="02020603050405020304" pitchFamily="18" charset="0"/>
                <a:ea typeface="黑体" panose="02010609060101010101" pitchFamily="49" charset="-122"/>
              </a:rPr>
              <a:t>(</a:t>
            </a:r>
            <a:r>
              <a:rPr lang="en-US" altLang="zh-CN" sz="2200" kern="0" dirty="0" err="1">
                <a:solidFill>
                  <a:srgbClr val="000000"/>
                </a:solidFill>
                <a:latin typeface="Times New Roman" panose="02020603050405020304" pitchFamily="18" charset="0"/>
                <a:ea typeface="黑体" panose="02010609060101010101" pitchFamily="49" charset="-122"/>
              </a:rPr>
              <a:t>w</a:t>
            </a:r>
            <a:r>
              <a:rPr lang="en-US" altLang="zh-CN" sz="2200" kern="0" baseline="-25000" dirty="0" err="1">
                <a:latin typeface="Times New Roman" panose="02020603050405020304" pitchFamily="18" charset="0"/>
                <a:ea typeface="黑体" panose="02010609060101010101" pitchFamily="49" charset="-122"/>
              </a:rPr>
              <a:t>i</a:t>
            </a:r>
            <a:r>
              <a:rPr lang="en-US" altLang="zh-CN" sz="2200" kern="0" dirty="0">
                <a:solidFill>
                  <a:srgbClr val="000000"/>
                </a:solidFill>
                <a:latin typeface="Times New Roman" panose="02020603050405020304" pitchFamily="18" charset="0"/>
                <a:ea typeface="黑体" panose="02010609060101010101" pitchFamily="49" charset="-122"/>
              </a:rPr>
              <a:t>)</a:t>
            </a:r>
            <a:r>
              <a:rPr lang="zh-CN" altLang="en-US" sz="2200" kern="0" dirty="0">
                <a:solidFill>
                  <a:srgbClr val="000000"/>
                </a:solidFill>
                <a:latin typeface="Times New Roman" panose="02020603050405020304" pitchFamily="18" charset="0"/>
                <a:ea typeface="黑体" panose="02010609060101010101" pitchFamily="49" charset="-122"/>
              </a:rPr>
              <a:t>，再用于分类。</a:t>
            </a:r>
            <a:endParaRPr lang="en-US" altLang="zh-CN" sz="2200" kern="0" dirty="0">
              <a:solidFill>
                <a:srgbClr val="000000"/>
              </a:solidFill>
              <a:latin typeface="Times New Roman" panose="02020603050405020304" pitchFamily="18" charset="0"/>
              <a:ea typeface="黑体" panose="02010609060101010101" pitchFamily="49" charset="-122"/>
            </a:endParaRPr>
          </a:p>
          <a:p>
            <a:pPr algn="just">
              <a:lnSpc>
                <a:spcPct val="130000"/>
              </a:lnSpc>
              <a:spcBef>
                <a:spcPts val="600"/>
              </a:spcBef>
              <a:buClrTx/>
              <a:buFont typeface="Arial" panose="020B0604020202020204" pitchFamily="34" charset="0"/>
              <a:buChar char="•"/>
            </a:pPr>
            <a:r>
              <a:rPr lang="zh-CN" altLang="en-US" sz="2200" kern="0" dirty="0">
                <a:solidFill>
                  <a:srgbClr val="000000"/>
                </a:solidFill>
                <a:latin typeface="Times New Roman" panose="02020603050405020304" pitchFamily="18" charset="0"/>
                <a:ea typeface="黑体" panose="02010609060101010101" pitchFamily="49" charset="-122"/>
              </a:rPr>
              <a:t>如果待分类的向量 </a:t>
            </a:r>
            <a:r>
              <a:rPr lang="en-US" altLang="zh-CN" sz="2200" kern="0" dirty="0">
                <a:solidFill>
                  <a:srgbClr val="000000"/>
                </a:solidFill>
                <a:latin typeface="Times New Roman" panose="02020603050405020304" pitchFamily="18" charset="0"/>
                <a:ea typeface="黑体" panose="02010609060101010101" pitchFamily="49" charset="-122"/>
              </a:rPr>
              <a:t>x </a:t>
            </a:r>
            <a:r>
              <a:rPr lang="zh-CN" altLang="en-US" sz="2200" kern="0" dirty="0">
                <a:solidFill>
                  <a:srgbClr val="000000"/>
                </a:solidFill>
                <a:latin typeface="Times New Roman" panose="02020603050405020304" pitchFamily="18" charset="0"/>
                <a:ea typeface="黑体" panose="02010609060101010101" pitchFamily="49" charset="-122"/>
              </a:rPr>
              <a:t>同两类均值向量的欧氏距离相等，则最小错误概率</a:t>
            </a:r>
            <a:r>
              <a:rPr lang="en-US" altLang="zh-CN" sz="2200" kern="0" dirty="0">
                <a:solidFill>
                  <a:srgbClr val="000000"/>
                </a:solidFill>
                <a:latin typeface="Times New Roman" panose="02020603050405020304" pitchFamily="18" charset="0"/>
                <a:ea typeface="黑体" panose="02010609060101010101" pitchFamily="49" charset="-122"/>
              </a:rPr>
              <a:t>Bayes</a:t>
            </a:r>
            <a:r>
              <a:rPr lang="zh-CN" altLang="en-US" sz="2200" kern="0" dirty="0">
                <a:solidFill>
                  <a:srgbClr val="000000"/>
                </a:solidFill>
                <a:latin typeface="Times New Roman" panose="02020603050405020304" pitchFamily="18" charset="0"/>
                <a:ea typeface="黑体" panose="02010609060101010101" pitchFamily="49" charset="-122"/>
              </a:rPr>
              <a:t>决策把这模式归入先验概率大的那类。     </a:t>
            </a:r>
          </a:p>
        </p:txBody>
      </p:sp>
    </p:spTree>
    <p:extLst>
      <p:ext uri="{BB962C8B-B14F-4D97-AF65-F5344CB8AC3E}">
        <p14:creationId xmlns:p14="http://schemas.microsoft.com/office/powerpoint/2010/main" val="32701111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63352" y="5229200"/>
            <a:ext cx="10369152" cy="720080"/>
          </a:xfrm>
          <a:prstGeom prst="rect">
            <a:avLst/>
          </a:prstGeom>
          <a:solidFill>
            <a:schemeClr val="accent5"/>
          </a:solidFill>
        </p:spPr>
        <p:txBody>
          <a:bodyPr wrap="none" rtlCol="0" anchor="ctr">
            <a:spAutoFit/>
          </a:bodyPr>
          <a:lstStyle/>
          <a:p>
            <a:pPr algn="ctr"/>
            <a:endParaRPr lang="zh-CN" altLang="en-US" sz="2400" kern="100" dirty="0">
              <a:ea typeface="宋体"/>
              <a:cs typeface="Times New Roman"/>
            </a:endParaRPr>
          </a:p>
        </p:txBody>
      </p:sp>
      <p:sp>
        <p:nvSpPr>
          <p:cNvPr id="13" name="Rectangle 3"/>
          <p:cNvSpPr txBox="1">
            <a:spLocks noChangeArrowheads="1"/>
          </p:cNvSpPr>
          <p:nvPr/>
        </p:nvSpPr>
        <p:spPr bwMode="gray">
          <a:xfrm>
            <a:off x="456580" y="2507700"/>
            <a:ext cx="11256044" cy="31535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lnSpc>
                <a:spcPct val="130000"/>
              </a:lnSpc>
              <a:spcBef>
                <a:spcPts val="0"/>
              </a:spcBef>
              <a:buNone/>
            </a:pPr>
            <a:r>
              <a:rPr lang="zh-CN" altLang="en-US" sz="2200" kern="0" dirty="0">
                <a:solidFill>
                  <a:srgbClr val="000000"/>
                </a:solidFill>
                <a:latin typeface="Times New Roman" panose="02020603050405020304" pitchFamily="18" charset="0"/>
                <a:ea typeface="黑体" panose="02010609060101010101" pitchFamily="49" charset="-122"/>
              </a:rPr>
              <a:t>把 </a:t>
            </a:r>
            <a:r>
              <a:rPr lang="en-US" altLang="zh-CN" sz="2200" i="1" kern="0" dirty="0" err="1">
                <a:latin typeface="Times New Roman" panose="02020603050405020304" pitchFamily="18" charset="0"/>
                <a:ea typeface="黑体" panose="02010609060101010101" pitchFamily="49" charset="-122"/>
              </a:rPr>
              <a:t>g</a:t>
            </a:r>
            <a:r>
              <a:rPr lang="en-US" altLang="zh-CN" sz="2200" i="1" kern="0" baseline="-25000" dirty="0" err="1">
                <a:latin typeface="Times New Roman" panose="02020603050405020304" pitchFamily="18" charset="0"/>
                <a:ea typeface="黑体" panose="02010609060101010101" pitchFamily="49" charset="-122"/>
              </a:rPr>
              <a:t>i</a:t>
            </a:r>
            <a:r>
              <a:rPr lang="en-US" altLang="zh-CN" sz="2200" kern="0" dirty="0">
                <a:latin typeface="Times New Roman" panose="02020603050405020304" pitchFamily="18" charset="0"/>
                <a:ea typeface="黑体" panose="02010609060101010101" pitchFamily="49" charset="-122"/>
              </a:rPr>
              <a:t>(</a:t>
            </a:r>
            <a:r>
              <a:rPr lang="en-US" altLang="zh-CN" sz="2200" i="1" kern="0" dirty="0">
                <a:latin typeface="Times New Roman" panose="02020603050405020304" pitchFamily="18" charset="0"/>
                <a:ea typeface="黑体" panose="02010609060101010101" pitchFamily="49" charset="-122"/>
              </a:rPr>
              <a:t>x</a:t>
            </a:r>
            <a:r>
              <a:rPr lang="en-US" altLang="zh-CN" sz="2200" kern="0" dirty="0">
                <a:latin typeface="Times New Roman" panose="02020603050405020304" pitchFamily="18" charset="0"/>
                <a:ea typeface="黑体" panose="02010609060101010101" pitchFamily="49" charset="-122"/>
              </a:rPr>
              <a:t>) </a:t>
            </a:r>
            <a:r>
              <a:rPr lang="zh-CN" altLang="en-US" sz="2200" kern="0" dirty="0">
                <a:solidFill>
                  <a:srgbClr val="000000"/>
                </a:solidFill>
                <a:latin typeface="Times New Roman" panose="02020603050405020304" pitchFamily="18" charset="0"/>
                <a:ea typeface="黑体" panose="02010609060101010101" pitchFamily="49" charset="-122"/>
              </a:rPr>
              <a:t>展开可得</a:t>
            </a:r>
            <a:endParaRPr lang="en-US" altLang="zh-CN" sz="2200" kern="0" dirty="0">
              <a:solidFill>
                <a:srgbClr val="000000"/>
              </a:solidFill>
              <a:latin typeface="Times New Roman" panose="02020603050405020304" pitchFamily="18" charset="0"/>
              <a:ea typeface="黑体" panose="02010609060101010101" pitchFamily="49" charset="-122"/>
            </a:endParaRPr>
          </a:p>
          <a:p>
            <a:pPr algn="just">
              <a:lnSpc>
                <a:spcPct val="130000"/>
              </a:lnSpc>
              <a:spcBef>
                <a:spcPts val="0"/>
              </a:spcBef>
            </a:pPr>
            <a:endParaRPr lang="en-US" altLang="zh-CN" sz="2200" kern="0" dirty="0">
              <a:solidFill>
                <a:srgbClr val="000000"/>
              </a:solidFill>
              <a:latin typeface="Times New Roman" panose="02020603050405020304" pitchFamily="18" charset="0"/>
              <a:ea typeface="黑体" panose="02010609060101010101" pitchFamily="49" charset="-122"/>
            </a:endParaRPr>
          </a:p>
          <a:p>
            <a:pPr algn="just">
              <a:lnSpc>
                <a:spcPct val="130000"/>
              </a:lnSpc>
              <a:spcBef>
                <a:spcPts val="0"/>
              </a:spcBef>
            </a:pPr>
            <a:endParaRPr lang="en-US" altLang="zh-CN" sz="2200" kern="0" dirty="0">
              <a:solidFill>
                <a:srgbClr val="000000"/>
              </a:solidFill>
              <a:latin typeface="Times New Roman" panose="02020603050405020304" pitchFamily="18" charset="0"/>
              <a:ea typeface="黑体" panose="02010609060101010101" pitchFamily="49" charset="-122"/>
            </a:endParaRPr>
          </a:p>
          <a:p>
            <a:pPr marL="0" indent="0" algn="just">
              <a:lnSpc>
                <a:spcPct val="130000"/>
              </a:lnSpc>
              <a:spcBef>
                <a:spcPts val="0"/>
              </a:spcBef>
              <a:buNone/>
            </a:pPr>
            <a:endParaRPr lang="en-US" altLang="zh-CN" sz="2200" kern="0" dirty="0">
              <a:solidFill>
                <a:srgbClr val="000000"/>
              </a:solidFill>
              <a:latin typeface="Times New Roman" panose="02020603050405020304" pitchFamily="18" charset="0"/>
              <a:ea typeface="黑体" panose="02010609060101010101" pitchFamily="49" charset="-122"/>
            </a:endParaRPr>
          </a:p>
          <a:p>
            <a:pPr algn="just">
              <a:lnSpc>
                <a:spcPct val="130000"/>
              </a:lnSpc>
              <a:spcBef>
                <a:spcPts val="2400"/>
              </a:spcBef>
              <a:buFontTx/>
              <a:buNone/>
            </a:pPr>
            <a:r>
              <a:rPr lang="zh-CN" altLang="en-US" sz="2200" kern="0" dirty="0">
                <a:solidFill>
                  <a:srgbClr val="000000"/>
                </a:solidFill>
                <a:latin typeface="Times New Roman" panose="02020603050405020304" pitchFamily="18" charset="0"/>
                <a:ea typeface="黑体" panose="02010609060101010101" pitchFamily="49" charset="-122"/>
              </a:rPr>
              <a:t>这是与均值有关的</a:t>
            </a:r>
            <a:r>
              <a:rPr lang="zh-CN" altLang="en-US" sz="2200" kern="0" dirty="0">
                <a:solidFill>
                  <a:srgbClr val="FF0000"/>
                </a:solidFill>
                <a:latin typeface="Times New Roman" panose="02020603050405020304" pitchFamily="18" charset="0"/>
                <a:ea typeface="黑体" panose="02010609060101010101" pitchFamily="49" charset="-122"/>
              </a:rPr>
              <a:t>线性判别函数</a:t>
            </a:r>
            <a:r>
              <a:rPr lang="zh-CN" altLang="en-US" sz="2200" kern="0" dirty="0">
                <a:solidFill>
                  <a:srgbClr val="000000"/>
                </a:solidFill>
                <a:latin typeface="Times New Roman" panose="02020603050405020304" pitchFamily="18" charset="0"/>
                <a:ea typeface="黑体" panose="02010609060101010101" pitchFamily="49" charset="-122"/>
              </a:rPr>
              <a:t>，组成</a:t>
            </a:r>
            <a:r>
              <a:rPr lang="zh-CN" altLang="en-US" sz="2200" kern="0" dirty="0">
                <a:solidFill>
                  <a:srgbClr val="FF0000"/>
                </a:solidFill>
                <a:latin typeface="Times New Roman" panose="02020603050405020304" pitchFamily="18" charset="0"/>
                <a:ea typeface="黑体" panose="02010609060101010101" pitchFamily="49" charset="-122"/>
              </a:rPr>
              <a:t>线性分类器</a:t>
            </a:r>
            <a:r>
              <a:rPr lang="zh-CN" altLang="en-US" sz="2200" kern="0" dirty="0">
                <a:solidFill>
                  <a:srgbClr val="000000"/>
                </a:solidFill>
                <a:latin typeface="Times New Roman" panose="02020603050405020304" pitchFamily="18" charset="0"/>
                <a:ea typeface="黑体" panose="02010609060101010101" pitchFamily="49" charset="-122"/>
              </a:rPr>
              <a:t>。</a:t>
            </a:r>
          </a:p>
          <a:p>
            <a:pPr marL="0" indent="0" algn="just">
              <a:lnSpc>
                <a:spcPct val="130000"/>
              </a:lnSpc>
              <a:spcBef>
                <a:spcPts val="2400"/>
              </a:spcBef>
              <a:buNone/>
            </a:pPr>
            <a:r>
              <a:rPr lang="zh-CN" altLang="en-US" sz="2200" kern="0" dirty="0">
                <a:latin typeface="Times New Roman" panose="02020603050405020304" pitchFamily="18" charset="0"/>
                <a:ea typeface="黑体" panose="02010609060101010101" pitchFamily="49" charset="-122"/>
              </a:rPr>
              <a:t>对待分类的样本</a:t>
            </a:r>
            <a:r>
              <a:rPr lang="en-US" altLang="zh-CN" sz="2200" kern="0" dirty="0">
                <a:latin typeface="Times New Roman" panose="02020603050405020304" pitchFamily="18" charset="0"/>
                <a:ea typeface="黑体" panose="02010609060101010101" pitchFamily="49" charset="-122"/>
              </a:rPr>
              <a:t>x,</a:t>
            </a:r>
            <a:r>
              <a:rPr lang="zh-CN" altLang="en-US" sz="2200" kern="0" dirty="0">
                <a:latin typeface="Times New Roman" panose="02020603050405020304" pitchFamily="18" charset="0"/>
                <a:ea typeface="黑体" panose="02010609060101010101" pitchFamily="49" charset="-122"/>
              </a:rPr>
              <a:t>分别计算 </a:t>
            </a:r>
            <a:r>
              <a:rPr lang="en-US" altLang="zh-CN" sz="2200" i="1" kern="0" dirty="0" err="1">
                <a:latin typeface="Times New Roman" panose="02020603050405020304" pitchFamily="18" charset="0"/>
                <a:ea typeface="黑体" panose="02010609060101010101" pitchFamily="49" charset="-122"/>
              </a:rPr>
              <a:t>g</a:t>
            </a:r>
            <a:r>
              <a:rPr lang="en-US" altLang="zh-CN" sz="2200" i="1" kern="0" baseline="-25000" dirty="0" err="1">
                <a:latin typeface="Times New Roman" panose="02020603050405020304" pitchFamily="18" charset="0"/>
                <a:ea typeface="黑体" panose="02010609060101010101" pitchFamily="49" charset="-122"/>
              </a:rPr>
              <a:t>i</a:t>
            </a:r>
            <a:r>
              <a:rPr lang="en-US" altLang="zh-CN" sz="2200" kern="0" dirty="0">
                <a:latin typeface="Times New Roman" panose="02020603050405020304" pitchFamily="18" charset="0"/>
                <a:ea typeface="黑体" panose="02010609060101010101" pitchFamily="49" charset="-122"/>
              </a:rPr>
              <a:t>(</a:t>
            </a:r>
            <a:r>
              <a:rPr lang="en-US" altLang="zh-CN" sz="2200" i="1" kern="0" dirty="0">
                <a:latin typeface="Times New Roman" panose="02020603050405020304" pitchFamily="18" charset="0"/>
                <a:ea typeface="黑体" panose="02010609060101010101" pitchFamily="49" charset="-122"/>
              </a:rPr>
              <a:t>x</a:t>
            </a:r>
            <a:r>
              <a:rPr lang="en-US" altLang="zh-CN" sz="2200" kern="0" dirty="0">
                <a:latin typeface="Times New Roman" panose="02020603050405020304" pitchFamily="18" charset="0"/>
                <a:ea typeface="黑体" panose="02010609060101010101" pitchFamily="49" charset="-122"/>
              </a:rPr>
              <a:t>) , </a:t>
            </a:r>
            <a:r>
              <a:rPr lang="en-US" altLang="zh-CN" sz="2200" i="1" kern="0" dirty="0" err="1">
                <a:latin typeface="Times New Roman" panose="02020603050405020304" pitchFamily="18" charset="0"/>
                <a:ea typeface="黑体" panose="02010609060101010101" pitchFamily="49" charset="-122"/>
              </a:rPr>
              <a:t>i</a:t>
            </a:r>
            <a:r>
              <a:rPr lang="en-US" altLang="zh-CN" sz="2200" kern="0" dirty="0">
                <a:latin typeface="Times New Roman" panose="02020603050405020304" pitchFamily="18" charset="0"/>
                <a:ea typeface="黑体" panose="02010609060101010101" pitchFamily="49" charset="-122"/>
              </a:rPr>
              <a:t>=1,2,…,</a:t>
            </a:r>
            <a:r>
              <a:rPr lang="en-US" altLang="zh-CN" sz="2200" i="1" kern="0" dirty="0">
                <a:latin typeface="Times New Roman" panose="02020603050405020304" pitchFamily="18" charset="0"/>
                <a:ea typeface="黑体" panose="02010609060101010101" pitchFamily="49" charset="-122"/>
              </a:rPr>
              <a:t>c</a:t>
            </a:r>
            <a:r>
              <a:rPr lang="zh-CN" altLang="en-US" sz="2200" i="1" kern="0" dirty="0">
                <a:latin typeface="Times New Roman" panose="02020603050405020304" pitchFamily="18" charset="0"/>
                <a:ea typeface="黑体" panose="02010609060101010101" pitchFamily="49" charset="-122"/>
              </a:rPr>
              <a:t>，</a:t>
            </a:r>
            <a:r>
              <a:rPr lang="zh-CN" altLang="en-US" sz="2200" kern="0" dirty="0">
                <a:latin typeface="Times New Roman" panose="02020603050405020304" pitchFamily="18" charset="0"/>
                <a:ea typeface="黑体" panose="02010609060101010101" pitchFamily="49" charset="-122"/>
              </a:rPr>
              <a:t>若 </a:t>
            </a:r>
            <a:r>
              <a:rPr lang="en-US" altLang="zh-CN" sz="2200" i="1" kern="0" dirty="0" err="1">
                <a:latin typeface="Times New Roman" panose="02020603050405020304" pitchFamily="18" charset="0"/>
                <a:ea typeface="黑体" panose="02010609060101010101" pitchFamily="49" charset="-122"/>
              </a:rPr>
              <a:t>g</a:t>
            </a:r>
            <a:r>
              <a:rPr lang="en-US" altLang="zh-CN" sz="2200" i="1" kern="0" baseline="-25000" dirty="0" err="1">
                <a:latin typeface="Times New Roman" panose="02020603050405020304" pitchFamily="18" charset="0"/>
                <a:ea typeface="黑体" panose="02010609060101010101" pitchFamily="49" charset="-122"/>
              </a:rPr>
              <a:t>k</a:t>
            </a:r>
            <a:r>
              <a:rPr lang="en-US" altLang="zh-CN" sz="2200" kern="0" dirty="0">
                <a:latin typeface="Times New Roman" panose="02020603050405020304" pitchFamily="18" charset="0"/>
                <a:ea typeface="黑体" panose="02010609060101010101" pitchFamily="49" charset="-122"/>
              </a:rPr>
              <a:t>(</a:t>
            </a:r>
            <a:r>
              <a:rPr lang="en-US" altLang="zh-CN" sz="2200" i="1" kern="0" dirty="0">
                <a:latin typeface="Times New Roman" panose="02020603050405020304" pitchFamily="18" charset="0"/>
                <a:ea typeface="黑体" panose="02010609060101010101" pitchFamily="49" charset="-122"/>
              </a:rPr>
              <a:t>x</a:t>
            </a:r>
            <a:r>
              <a:rPr lang="en-US" altLang="zh-CN" sz="2200" kern="0" dirty="0">
                <a:latin typeface="Times New Roman" panose="02020603050405020304" pitchFamily="18" charset="0"/>
                <a:ea typeface="黑体" panose="02010609060101010101" pitchFamily="49" charset="-122"/>
              </a:rPr>
              <a:t>)</a:t>
            </a:r>
            <a:r>
              <a:rPr lang="zh-CN" altLang="en-US" sz="2200" kern="0" dirty="0">
                <a:latin typeface="Times New Roman" panose="02020603050405020304" pitchFamily="18" charset="0"/>
                <a:ea typeface="黑体" panose="02010609060101010101" pitchFamily="49" charset="-122"/>
              </a:rPr>
              <a:t>＝</a:t>
            </a:r>
            <a:r>
              <a:rPr lang="en-US" altLang="zh-CN" sz="2200" kern="0" dirty="0">
                <a:latin typeface="Times New Roman" panose="02020603050405020304" pitchFamily="18" charset="0"/>
                <a:ea typeface="黑体" panose="02010609060101010101" pitchFamily="49" charset="-122"/>
              </a:rPr>
              <a:t>max </a:t>
            </a:r>
            <a:r>
              <a:rPr lang="en-US" altLang="zh-CN" sz="2200" i="1" kern="0" dirty="0" err="1">
                <a:latin typeface="Times New Roman" panose="02020603050405020304" pitchFamily="18" charset="0"/>
                <a:ea typeface="黑体" panose="02010609060101010101" pitchFamily="49" charset="-122"/>
              </a:rPr>
              <a:t>g</a:t>
            </a:r>
            <a:r>
              <a:rPr lang="en-US" altLang="zh-CN" sz="2200" i="1" kern="0" baseline="-25000" dirty="0" err="1">
                <a:latin typeface="Times New Roman" panose="02020603050405020304" pitchFamily="18" charset="0"/>
                <a:ea typeface="黑体" panose="02010609060101010101" pitchFamily="49" charset="-122"/>
              </a:rPr>
              <a:t>i</a:t>
            </a:r>
            <a:r>
              <a:rPr lang="en-US" altLang="zh-CN" sz="2200" kern="0" dirty="0">
                <a:latin typeface="Times New Roman" panose="02020603050405020304" pitchFamily="18" charset="0"/>
                <a:ea typeface="黑体" panose="02010609060101010101" pitchFamily="49" charset="-122"/>
              </a:rPr>
              <a:t>(</a:t>
            </a:r>
            <a:r>
              <a:rPr lang="en-US" altLang="zh-CN" sz="2200" i="1" kern="0" dirty="0">
                <a:latin typeface="Times New Roman" panose="02020603050405020304" pitchFamily="18" charset="0"/>
                <a:ea typeface="黑体" panose="02010609060101010101" pitchFamily="49" charset="-122"/>
              </a:rPr>
              <a:t>x</a:t>
            </a:r>
            <a:r>
              <a:rPr lang="en-US" altLang="zh-CN" sz="2200" kern="0" dirty="0">
                <a:latin typeface="Times New Roman" panose="02020603050405020304" pitchFamily="18" charset="0"/>
                <a:ea typeface="黑体" panose="02010609060101010101" pitchFamily="49" charset="-122"/>
              </a:rPr>
              <a:t>)</a:t>
            </a:r>
            <a:r>
              <a:rPr lang="zh-CN" altLang="en-US" sz="2200" kern="0" dirty="0">
                <a:latin typeface="Times New Roman" panose="02020603050405020304" pitchFamily="18" charset="0"/>
                <a:ea typeface="黑体" panose="02010609060101010101" pitchFamily="49" charset="-122"/>
              </a:rPr>
              <a:t>，则决策    </a:t>
            </a:r>
            <a:r>
              <a:rPr lang="en-US" altLang="zh-CN" sz="2200" i="1" kern="0" dirty="0" err="1">
                <a:latin typeface="Times New Roman" panose="02020603050405020304" pitchFamily="18" charset="0"/>
                <a:ea typeface="黑体" panose="02010609060101010101" pitchFamily="49" charset="-122"/>
              </a:rPr>
              <a:t>x</a:t>
            </a:r>
            <a:r>
              <a:rPr lang="en-US" altLang="zh-CN" sz="2200" kern="0" dirty="0" err="1">
                <a:latin typeface="Times New Roman" panose="02020603050405020304" pitchFamily="18" charset="0"/>
                <a:ea typeface="黑体" panose="02010609060101010101" pitchFamily="49" charset="-122"/>
              </a:rPr>
              <a:t>∈</a:t>
            </a:r>
            <a:r>
              <a:rPr lang="en-US" altLang="zh-CN" sz="2200" i="1" kern="0" dirty="0" err="1">
                <a:latin typeface="Times New Roman" panose="02020603050405020304" pitchFamily="18" charset="0"/>
                <a:ea typeface="黑体" panose="02010609060101010101" pitchFamily="49" charset="-122"/>
              </a:rPr>
              <a:t>w</a:t>
            </a:r>
            <a:r>
              <a:rPr lang="en-US" altLang="zh-CN" sz="2200" i="1" kern="0" baseline="-25000" dirty="0" err="1">
                <a:latin typeface="Times New Roman" panose="02020603050405020304" pitchFamily="18" charset="0"/>
                <a:ea typeface="黑体" panose="02010609060101010101" pitchFamily="49" charset="-122"/>
              </a:rPr>
              <a:t>k</a:t>
            </a:r>
            <a:endParaRPr lang="zh-CN" altLang="en-US" sz="2200" i="1" kern="0" dirty="0">
              <a:solidFill>
                <a:srgbClr val="000000"/>
              </a:solidFill>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57</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052736"/>
            <a:ext cx="736611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正态分布概率模型下的最小错误率贝叶斯决策</a:t>
            </a:r>
          </a:p>
        </p:txBody>
      </p:sp>
      <p:sp>
        <p:nvSpPr>
          <p:cNvPr id="11" name="Rectangle 3"/>
          <p:cNvSpPr txBox="1">
            <a:spLocks noChangeArrowheads="1"/>
          </p:cNvSpPr>
          <p:nvPr/>
        </p:nvSpPr>
        <p:spPr bwMode="gray">
          <a:xfrm>
            <a:off x="352694" y="1628093"/>
            <a:ext cx="1710858" cy="6367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20000"/>
              </a:lnSpc>
              <a:spcBef>
                <a:spcPts val="0"/>
              </a:spcBef>
              <a:buFontTx/>
              <a:buNone/>
            </a:pPr>
            <a:r>
              <a:rPr lang="en-US" altLang="zh-CN" b="1" kern="0" dirty="0">
                <a:solidFill>
                  <a:srgbClr val="FF0000"/>
                </a:solidFill>
                <a:latin typeface="Times New Roman" panose="02020603050405020304" pitchFamily="18" charset="0"/>
                <a:ea typeface="黑体" panose="02010609060101010101" pitchFamily="49" charset="-122"/>
              </a:rPr>
              <a:t>⑴ </a:t>
            </a:r>
            <a:r>
              <a:rPr lang="en-US" altLang="zh-CN" b="1" kern="0" dirty="0" err="1">
                <a:solidFill>
                  <a:srgbClr val="FF0000"/>
                </a:solidFill>
                <a:latin typeface="Times New Roman" panose="02020603050405020304" pitchFamily="18" charset="0"/>
                <a:ea typeface="黑体" panose="02010609060101010101" pitchFamily="49" charset="-122"/>
              </a:rPr>
              <a:t>Σ</a:t>
            </a:r>
            <a:r>
              <a:rPr lang="en-US" altLang="zh-CN" b="1" kern="0" baseline="-25000" dirty="0" err="1">
                <a:solidFill>
                  <a:srgbClr val="FF0000"/>
                </a:solidFill>
                <a:latin typeface="Times New Roman" panose="02020603050405020304" pitchFamily="18" charset="0"/>
                <a:ea typeface="黑体" panose="02010609060101010101" pitchFamily="49" charset="-122"/>
              </a:rPr>
              <a:t>i</a:t>
            </a:r>
            <a:r>
              <a:rPr lang="en-US" altLang="zh-CN" b="1" kern="0" dirty="0">
                <a:solidFill>
                  <a:srgbClr val="FF0000"/>
                </a:solidFill>
                <a:latin typeface="Times New Roman" panose="02020603050405020304" pitchFamily="18" charset="0"/>
                <a:ea typeface="黑体" panose="02010609060101010101" pitchFamily="49" charset="-122"/>
              </a:rPr>
              <a:t>=</a:t>
            </a:r>
            <a:r>
              <a:rPr lang="el-GR" altLang="zh-CN" b="1" kern="0" dirty="0">
                <a:solidFill>
                  <a:srgbClr val="FF0000"/>
                </a:solidFill>
                <a:latin typeface="Times New Roman" panose="02020603050405020304" pitchFamily="18" charset="0"/>
                <a:ea typeface="黑体" panose="02010609060101010101" pitchFamily="49" charset="-122"/>
              </a:rPr>
              <a:t>σ</a:t>
            </a:r>
            <a:r>
              <a:rPr lang="en-US" altLang="zh-CN" b="1" kern="0" baseline="30000" dirty="0">
                <a:solidFill>
                  <a:srgbClr val="FF0000"/>
                </a:solidFill>
                <a:latin typeface="Times New Roman" panose="02020603050405020304" pitchFamily="18" charset="0"/>
                <a:ea typeface="黑体" panose="02010609060101010101" pitchFamily="49" charset="-122"/>
              </a:rPr>
              <a:t>2</a:t>
            </a:r>
            <a:r>
              <a:rPr lang="en-US" altLang="zh-CN" b="1" kern="0" dirty="0">
                <a:solidFill>
                  <a:srgbClr val="FF0000"/>
                </a:solidFill>
                <a:latin typeface="Times New Roman" panose="02020603050405020304" pitchFamily="18" charset="0"/>
                <a:ea typeface="黑体" panose="02010609060101010101" pitchFamily="49" charset="-122"/>
              </a:rPr>
              <a:t>I</a:t>
            </a:r>
          </a:p>
        </p:txBody>
      </p:sp>
      <p:graphicFrame>
        <p:nvGraphicFramePr>
          <p:cNvPr id="14" name="Object 5"/>
          <p:cNvGraphicFramePr>
            <a:graphicFrameLocks noChangeAspect="1"/>
          </p:cNvGraphicFramePr>
          <p:nvPr>
            <p:extLst>
              <p:ext uri="{D42A27DB-BD31-4B8C-83A1-F6EECF244321}">
                <p14:modId xmlns:p14="http://schemas.microsoft.com/office/powerpoint/2010/main" val="980624506"/>
              </p:ext>
            </p:extLst>
          </p:nvPr>
        </p:nvGraphicFramePr>
        <p:xfrm>
          <a:off x="3373796" y="2405282"/>
          <a:ext cx="4801420" cy="707110"/>
        </p:xfrm>
        <a:graphic>
          <a:graphicData uri="http://schemas.openxmlformats.org/presentationml/2006/ole">
            <mc:AlternateContent xmlns:mc="http://schemas.openxmlformats.org/markup-compatibility/2006">
              <mc:Choice xmlns:v="urn:schemas-microsoft-com:vml" Requires="v">
                <p:oleObj spid="_x0000_s59638" name="公式" r:id="rId4" imgW="2946400" imgH="393700" progId="Equation.3">
                  <p:embed/>
                </p:oleObj>
              </mc:Choice>
              <mc:Fallback>
                <p:oleObj name="公式" r:id="rId4" imgW="2946400" imgH="393700" progId="Equation.3">
                  <p:embed/>
                  <p:pic>
                    <p:nvPicPr>
                      <p:cNvPr id="0" name="Picture 2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73796" y="2405282"/>
                        <a:ext cx="4801420" cy="7071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7"/>
          <p:cNvGraphicFramePr>
            <a:graphicFrameLocks noChangeAspect="1"/>
          </p:cNvGraphicFramePr>
          <p:nvPr>
            <p:extLst>
              <p:ext uri="{D42A27DB-BD31-4B8C-83A1-F6EECF244321}">
                <p14:modId xmlns:p14="http://schemas.microsoft.com/office/powerpoint/2010/main" val="281550290"/>
              </p:ext>
            </p:extLst>
          </p:nvPr>
        </p:nvGraphicFramePr>
        <p:xfrm>
          <a:off x="2867545" y="3174158"/>
          <a:ext cx="5813921" cy="688240"/>
        </p:xfrm>
        <a:graphic>
          <a:graphicData uri="http://schemas.openxmlformats.org/presentationml/2006/ole">
            <mc:AlternateContent xmlns:mc="http://schemas.openxmlformats.org/markup-compatibility/2006">
              <mc:Choice xmlns:v="urn:schemas-microsoft-com:vml" Requires="v">
                <p:oleObj spid="_x0000_s59639" name="公式" r:id="rId6" imgW="3378200" imgH="393700" progId="Equation.3">
                  <p:embed/>
                </p:oleObj>
              </mc:Choice>
              <mc:Fallback>
                <p:oleObj name="公式" r:id="rId6" imgW="3378200" imgH="393700" progId="Equation.3">
                  <p:embed/>
                  <p:pic>
                    <p:nvPicPr>
                      <p:cNvPr id="0" name="Picture 2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67545" y="3174158"/>
                        <a:ext cx="5813921" cy="688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9"/>
          <p:cNvGraphicFramePr>
            <a:graphicFrameLocks noChangeAspect="1"/>
          </p:cNvGraphicFramePr>
          <p:nvPr>
            <p:extLst>
              <p:ext uri="{D42A27DB-BD31-4B8C-83A1-F6EECF244321}">
                <p14:modId xmlns:p14="http://schemas.microsoft.com/office/powerpoint/2010/main" val="130542645"/>
              </p:ext>
            </p:extLst>
          </p:nvPr>
        </p:nvGraphicFramePr>
        <p:xfrm>
          <a:off x="2847403" y="3849779"/>
          <a:ext cx="5834063" cy="679450"/>
        </p:xfrm>
        <a:graphic>
          <a:graphicData uri="http://schemas.openxmlformats.org/presentationml/2006/ole">
            <mc:AlternateContent xmlns:mc="http://schemas.openxmlformats.org/markup-compatibility/2006">
              <mc:Choice xmlns:v="urn:schemas-microsoft-com:vml" Requires="v">
                <p:oleObj spid="_x0000_s59640" name="Equation" r:id="rId8" imgW="2984400" imgH="393480" progId="Equation.DSMT4">
                  <p:embed/>
                </p:oleObj>
              </mc:Choice>
              <mc:Fallback>
                <p:oleObj name="Equation" r:id="rId8" imgW="2984400" imgH="393480" progId="Equation.DSMT4">
                  <p:embed/>
                  <p:pic>
                    <p:nvPicPr>
                      <p:cNvPr id="0" name="Picture 23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47403" y="3849779"/>
                        <a:ext cx="5834063" cy="679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矩形 19"/>
          <p:cNvSpPr/>
          <p:nvPr/>
        </p:nvSpPr>
        <p:spPr>
          <a:xfrm>
            <a:off x="9365793" y="2747643"/>
            <a:ext cx="1410727" cy="584775"/>
          </a:xfrm>
          <a:prstGeom prst="rect">
            <a:avLst/>
          </a:prstGeom>
        </p:spPr>
        <p:txBody>
          <a:bodyPr wrap="square">
            <a:spAutoFit/>
          </a:bodyPr>
          <a:lstStyle/>
          <a:p>
            <a:pPr algn="just">
              <a:buFontTx/>
              <a:buNone/>
            </a:pPr>
            <a:r>
              <a:rPr lang="en-US" altLang="zh-CN" sz="1600" dirty="0" err="1">
                <a:solidFill>
                  <a:srgbClr val="6600CC"/>
                </a:solidFill>
              </a:rPr>
              <a:t>x</a:t>
            </a:r>
            <a:r>
              <a:rPr lang="en-US" altLang="zh-CN" sz="1600" baseline="30000" dirty="0" err="1">
                <a:solidFill>
                  <a:srgbClr val="6600CC"/>
                </a:solidFill>
              </a:rPr>
              <a:t>T</a:t>
            </a:r>
            <a:r>
              <a:rPr lang="en-US" altLang="zh-CN" sz="1600" baseline="30000" dirty="0">
                <a:solidFill>
                  <a:srgbClr val="6600CC"/>
                </a:solidFill>
              </a:rPr>
              <a:t> </a:t>
            </a:r>
            <a:r>
              <a:rPr lang="en-US" altLang="zh-CN" sz="1600" dirty="0">
                <a:solidFill>
                  <a:srgbClr val="6600CC"/>
                </a:solidFill>
              </a:rPr>
              <a:t>x</a:t>
            </a:r>
            <a:r>
              <a:rPr lang="zh-CN" altLang="en-US" sz="1600" dirty="0">
                <a:solidFill>
                  <a:srgbClr val="6600CC"/>
                </a:solidFill>
              </a:rPr>
              <a:t>与分类无关，可以忽略</a:t>
            </a:r>
            <a:endParaRPr lang="en-US" altLang="zh-CN" sz="1600" dirty="0">
              <a:solidFill>
                <a:srgbClr val="6600CC"/>
              </a:solidFill>
            </a:endParaRPr>
          </a:p>
        </p:txBody>
      </p:sp>
      <p:sp>
        <p:nvSpPr>
          <p:cNvPr id="21" name="左弧形箭头 20"/>
          <p:cNvSpPr/>
          <p:nvPr/>
        </p:nvSpPr>
        <p:spPr>
          <a:xfrm rot="20402352" flipH="1">
            <a:off x="8869995" y="2716736"/>
            <a:ext cx="322376" cy="900304"/>
          </a:xfrm>
          <a:prstGeom prst="curvedRightArrow">
            <a:avLst>
              <a:gd name="adj1" fmla="val 25000"/>
              <a:gd name="adj2" fmla="val 50000"/>
              <a:gd name="adj3" fmla="val 1963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aphicFrame>
        <p:nvGraphicFramePr>
          <p:cNvPr id="23" name="Object 6"/>
          <p:cNvGraphicFramePr>
            <a:graphicFrameLocks noChangeAspect="1"/>
          </p:cNvGraphicFramePr>
          <p:nvPr>
            <p:extLst>
              <p:ext uri="{D42A27DB-BD31-4B8C-83A1-F6EECF244321}">
                <p14:modId xmlns:p14="http://schemas.microsoft.com/office/powerpoint/2010/main" val="85561865"/>
              </p:ext>
            </p:extLst>
          </p:nvPr>
        </p:nvGraphicFramePr>
        <p:xfrm>
          <a:off x="3993987" y="1556792"/>
          <a:ext cx="4181229" cy="744410"/>
        </p:xfrm>
        <a:graphic>
          <a:graphicData uri="http://schemas.openxmlformats.org/presentationml/2006/ole">
            <mc:AlternateContent xmlns:mc="http://schemas.openxmlformats.org/markup-compatibility/2006">
              <mc:Choice xmlns:v="urn:schemas-microsoft-com:vml" Requires="v">
                <p:oleObj spid="_x0000_s59641" name="Equation" r:id="rId10" imgW="1917700" imgH="419100" progId="Equation.DSMT4">
                  <p:embed/>
                </p:oleObj>
              </mc:Choice>
              <mc:Fallback>
                <p:oleObj name="Equation" r:id="rId10" imgW="1917700" imgH="419100" progId="Equation.DSMT4">
                  <p:embed/>
                  <p:pic>
                    <p:nvPicPr>
                      <p:cNvPr id="0" name="Picture 23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93987" y="1556792"/>
                        <a:ext cx="4181229" cy="7444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p:cNvSpPr/>
          <p:nvPr/>
        </p:nvSpPr>
        <p:spPr>
          <a:xfrm>
            <a:off x="7464152" y="3277833"/>
            <a:ext cx="1412281" cy="511207"/>
          </a:xfrm>
          <a:prstGeom prst="rect">
            <a:avLst/>
          </a:prstGeom>
          <a:ln w="31750">
            <a:solidFill>
              <a:srgbClr val="FF0000"/>
            </a:solidFill>
          </a:ln>
        </p:spPr>
        <p:txBody>
          <a:bodyPr wrap="square" rtlCol="0" anchor="ctr">
            <a:spAutoFit/>
          </a:bodyPr>
          <a:lstStyle/>
          <a:p>
            <a:pPr algn="ctr"/>
            <a:endParaRPr lang="zh-CN" altLang="en-US" sz="2400" kern="100" dirty="0">
              <a:ea typeface="宋体"/>
              <a:cs typeface="Times New Roman"/>
            </a:endParaRPr>
          </a:p>
        </p:txBody>
      </p:sp>
      <p:sp>
        <p:nvSpPr>
          <p:cNvPr id="24" name="左弧形箭头 23"/>
          <p:cNvSpPr/>
          <p:nvPr/>
        </p:nvSpPr>
        <p:spPr>
          <a:xfrm rot="20402352" flipH="1">
            <a:off x="8380356" y="1841143"/>
            <a:ext cx="308817" cy="846208"/>
          </a:xfrm>
          <a:prstGeom prst="curvedRightArrow">
            <a:avLst>
              <a:gd name="adj1" fmla="val 25000"/>
              <a:gd name="adj2" fmla="val 50000"/>
              <a:gd name="adj3" fmla="val 1963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31725769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58</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052736"/>
            <a:ext cx="736611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正态分布概率模型下的最小错误率贝叶斯决策</a:t>
            </a:r>
          </a:p>
        </p:txBody>
      </p:sp>
      <p:sp>
        <p:nvSpPr>
          <p:cNvPr id="11" name="Rectangle 3"/>
          <p:cNvSpPr txBox="1">
            <a:spLocks noChangeArrowheads="1"/>
          </p:cNvSpPr>
          <p:nvPr/>
        </p:nvSpPr>
        <p:spPr bwMode="gray">
          <a:xfrm>
            <a:off x="352694" y="1585368"/>
            <a:ext cx="1710858" cy="6367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20000"/>
              </a:lnSpc>
              <a:spcBef>
                <a:spcPts val="0"/>
              </a:spcBef>
              <a:buFontTx/>
              <a:buNone/>
            </a:pPr>
            <a:r>
              <a:rPr lang="en-US" altLang="zh-CN" b="1" kern="0" dirty="0">
                <a:solidFill>
                  <a:srgbClr val="FF0000"/>
                </a:solidFill>
                <a:latin typeface="Times New Roman" panose="02020603050405020304" pitchFamily="18" charset="0"/>
                <a:ea typeface="黑体" panose="02010609060101010101" pitchFamily="49" charset="-122"/>
              </a:rPr>
              <a:t>⑴ </a:t>
            </a:r>
            <a:r>
              <a:rPr lang="en-US" altLang="zh-CN" b="1" kern="0" dirty="0" err="1">
                <a:solidFill>
                  <a:srgbClr val="FF0000"/>
                </a:solidFill>
                <a:latin typeface="Times New Roman" panose="02020603050405020304" pitchFamily="18" charset="0"/>
                <a:ea typeface="黑体" panose="02010609060101010101" pitchFamily="49" charset="-122"/>
              </a:rPr>
              <a:t>Σ</a:t>
            </a:r>
            <a:r>
              <a:rPr lang="en-US" altLang="zh-CN" b="1" kern="0" baseline="-25000" dirty="0" err="1">
                <a:solidFill>
                  <a:srgbClr val="FF0000"/>
                </a:solidFill>
                <a:latin typeface="Times New Roman" panose="02020603050405020304" pitchFamily="18" charset="0"/>
                <a:ea typeface="黑体" panose="02010609060101010101" pitchFamily="49" charset="-122"/>
              </a:rPr>
              <a:t>i</a:t>
            </a:r>
            <a:r>
              <a:rPr lang="en-US" altLang="zh-CN" b="1" kern="0" dirty="0">
                <a:solidFill>
                  <a:srgbClr val="FF0000"/>
                </a:solidFill>
                <a:latin typeface="Times New Roman" panose="02020603050405020304" pitchFamily="18" charset="0"/>
                <a:ea typeface="黑体" panose="02010609060101010101" pitchFamily="49" charset="-122"/>
              </a:rPr>
              <a:t>=</a:t>
            </a:r>
            <a:r>
              <a:rPr lang="el-GR" altLang="zh-CN" b="1" kern="0" dirty="0">
                <a:solidFill>
                  <a:srgbClr val="FF0000"/>
                </a:solidFill>
                <a:latin typeface="Times New Roman" panose="02020603050405020304" pitchFamily="18" charset="0"/>
                <a:ea typeface="黑体" panose="02010609060101010101" pitchFamily="49" charset="-122"/>
              </a:rPr>
              <a:t>σ</a:t>
            </a:r>
            <a:r>
              <a:rPr lang="en-US" altLang="zh-CN" b="1" kern="0" baseline="30000" dirty="0">
                <a:solidFill>
                  <a:srgbClr val="FF0000"/>
                </a:solidFill>
                <a:latin typeface="Times New Roman" panose="02020603050405020304" pitchFamily="18" charset="0"/>
                <a:ea typeface="黑体" panose="02010609060101010101" pitchFamily="49" charset="-122"/>
              </a:rPr>
              <a:t>2</a:t>
            </a:r>
            <a:r>
              <a:rPr lang="en-US" altLang="zh-CN" b="1" kern="0" dirty="0">
                <a:solidFill>
                  <a:srgbClr val="FF0000"/>
                </a:solidFill>
                <a:latin typeface="Times New Roman" panose="02020603050405020304" pitchFamily="18" charset="0"/>
                <a:ea typeface="黑体" panose="02010609060101010101" pitchFamily="49" charset="-122"/>
              </a:rPr>
              <a:t>I</a:t>
            </a:r>
          </a:p>
        </p:txBody>
      </p:sp>
      <p:sp>
        <p:nvSpPr>
          <p:cNvPr id="18" name="Rectangle 2"/>
          <p:cNvSpPr>
            <a:spLocks noGrp="1" noChangeArrowheads="1"/>
          </p:cNvSpPr>
          <p:nvPr>
            <p:ph type="title" idx="4294967295"/>
          </p:nvPr>
        </p:nvSpPr>
        <p:spPr bwMode="auto">
          <a:xfrm>
            <a:off x="0" y="274638"/>
            <a:ext cx="8229600" cy="1143000"/>
          </a:xfrm>
          <a:noFill/>
          <a:ln>
            <a:miter lim="800000"/>
            <a:headEnd/>
            <a:tailEnd/>
          </a:ln>
        </p:spPr>
        <p:txBody>
          <a:bodyPr vert="horz" wrap="square" lIns="91440" tIns="45720" rIns="91440" bIns="45720" numCol="1" anchor="t" anchorCtr="0" compatLnSpc="1">
            <a:prstTxWarp prst="textNoShape">
              <a:avLst/>
            </a:prstTxWarp>
          </a:bodyPr>
          <a:lstStyle/>
          <a:p>
            <a:r>
              <a:rPr lang="en-US" altLang="zh-CN" sz="4000"/>
              <a:t>    </a:t>
            </a:r>
          </a:p>
        </p:txBody>
      </p:sp>
      <p:sp>
        <p:nvSpPr>
          <p:cNvPr id="19" name="Rectangle 3"/>
          <p:cNvSpPr txBox="1">
            <a:spLocks noChangeArrowheads="1"/>
          </p:cNvSpPr>
          <p:nvPr/>
        </p:nvSpPr>
        <p:spPr bwMode="gray">
          <a:xfrm>
            <a:off x="357158" y="2204864"/>
            <a:ext cx="11427474" cy="5159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lnSpc>
                <a:spcPct val="130000"/>
              </a:lnSpc>
              <a:spcBef>
                <a:spcPts val="0"/>
              </a:spcBef>
              <a:buNone/>
            </a:pPr>
            <a:r>
              <a:rPr lang="zh-CN" altLang="en-US" sz="2200" kern="0" dirty="0">
                <a:solidFill>
                  <a:srgbClr val="FF6600"/>
                </a:solidFill>
                <a:latin typeface="Times New Roman" panose="02020603050405020304" pitchFamily="18" charset="0"/>
                <a:ea typeface="黑体" panose="02010609060101010101" pitchFamily="49" charset="-122"/>
              </a:rPr>
              <a:t>决策面方程：</a:t>
            </a:r>
            <a:endParaRPr lang="en-US" altLang="zh-CN" sz="2200" kern="0" dirty="0">
              <a:solidFill>
                <a:srgbClr val="FF6600"/>
              </a:solidFill>
              <a:latin typeface="Times New Roman" panose="02020603050405020304" pitchFamily="18" charset="0"/>
              <a:ea typeface="黑体" panose="02010609060101010101" pitchFamily="49" charset="-122"/>
            </a:endParaRPr>
          </a:p>
          <a:p>
            <a:pPr marL="0" indent="0" algn="just">
              <a:lnSpc>
                <a:spcPct val="130000"/>
              </a:lnSpc>
              <a:spcBef>
                <a:spcPts val="0"/>
              </a:spcBef>
              <a:buFontTx/>
              <a:buNone/>
            </a:pPr>
            <a:endParaRPr lang="zh-CN" altLang="en-US" sz="2200" kern="0" dirty="0">
              <a:solidFill>
                <a:srgbClr val="000000"/>
              </a:solidFill>
              <a:latin typeface="Times New Roman" panose="02020603050405020304" pitchFamily="18" charset="0"/>
              <a:ea typeface="黑体" panose="02010609060101010101" pitchFamily="49" charset="-122"/>
            </a:endParaRPr>
          </a:p>
          <a:p>
            <a:pPr marL="0" indent="0" algn="just">
              <a:lnSpc>
                <a:spcPct val="130000"/>
              </a:lnSpc>
              <a:spcBef>
                <a:spcPts val="0"/>
              </a:spcBef>
              <a:buFontTx/>
              <a:buNone/>
            </a:pPr>
            <a:endParaRPr lang="zh-CN" altLang="en-US" sz="2200" kern="0" dirty="0">
              <a:solidFill>
                <a:srgbClr val="000000"/>
              </a:solidFill>
              <a:latin typeface="Times New Roman" panose="02020603050405020304" pitchFamily="18" charset="0"/>
              <a:ea typeface="黑体" panose="02010609060101010101" pitchFamily="49" charset="-122"/>
            </a:endParaRPr>
          </a:p>
          <a:p>
            <a:pPr marL="0" indent="0" algn="just">
              <a:lnSpc>
                <a:spcPct val="130000"/>
              </a:lnSpc>
              <a:spcBef>
                <a:spcPts val="0"/>
              </a:spcBef>
              <a:buFontTx/>
              <a:buNone/>
            </a:pPr>
            <a:r>
              <a:rPr lang="zh-CN" altLang="en-US" sz="2200" kern="0" dirty="0">
                <a:solidFill>
                  <a:srgbClr val="000000"/>
                </a:solidFill>
                <a:latin typeface="Times New Roman" panose="02020603050405020304" pitchFamily="18" charset="0"/>
                <a:ea typeface="黑体" panose="02010609060101010101" pitchFamily="49" charset="-122"/>
              </a:rPr>
              <a:t>  </a:t>
            </a:r>
          </a:p>
          <a:p>
            <a:pPr marL="0" indent="0" algn="just">
              <a:lnSpc>
                <a:spcPct val="130000"/>
              </a:lnSpc>
              <a:spcBef>
                <a:spcPts val="0"/>
              </a:spcBef>
            </a:pPr>
            <a:endParaRPr lang="en-US" altLang="zh-CN" sz="2200" kern="0" dirty="0">
              <a:solidFill>
                <a:srgbClr val="000000"/>
              </a:solidFill>
              <a:latin typeface="Times New Roman" panose="02020603050405020304" pitchFamily="18" charset="0"/>
              <a:ea typeface="黑体" panose="02010609060101010101" pitchFamily="49" charset="-122"/>
            </a:endParaRPr>
          </a:p>
        </p:txBody>
      </p:sp>
      <p:graphicFrame>
        <p:nvGraphicFramePr>
          <p:cNvPr id="26" name="Object 6"/>
          <p:cNvGraphicFramePr>
            <a:graphicFrameLocks noChangeAspect="1"/>
          </p:cNvGraphicFramePr>
          <p:nvPr>
            <p:extLst>
              <p:ext uri="{D42A27DB-BD31-4B8C-83A1-F6EECF244321}">
                <p14:modId xmlns:p14="http://schemas.microsoft.com/office/powerpoint/2010/main" val="3115636343"/>
              </p:ext>
            </p:extLst>
          </p:nvPr>
        </p:nvGraphicFramePr>
        <p:xfrm>
          <a:off x="2354387" y="2260852"/>
          <a:ext cx="2033599" cy="459981"/>
        </p:xfrm>
        <a:graphic>
          <a:graphicData uri="http://schemas.openxmlformats.org/presentationml/2006/ole">
            <mc:AlternateContent xmlns:mc="http://schemas.openxmlformats.org/markup-compatibility/2006">
              <mc:Choice xmlns:v="urn:schemas-microsoft-com:vml" Requires="v">
                <p:oleObj spid="_x0000_s60844" name="Equation" r:id="rId4" imgW="1066800" imgH="241300" progId="Equation.DSMT4">
                  <p:embed/>
                </p:oleObj>
              </mc:Choice>
              <mc:Fallback>
                <p:oleObj name="Equation" r:id="rId4" imgW="1066800" imgH="241300" progId="Equation.DSMT4">
                  <p:embed/>
                  <p:pic>
                    <p:nvPicPr>
                      <p:cNvPr id="0" name="Picture 40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4387" y="2260852"/>
                        <a:ext cx="2033599" cy="459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 name="Object 6"/>
          <p:cNvGraphicFramePr>
            <a:graphicFrameLocks noChangeAspect="1"/>
          </p:cNvGraphicFramePr>
          <p:nvPr>
            <p:extLst>
              <p:ext uri="{D42A27DB-BD31-4B8C-83A1-F6EECF244321}">
                <p14:modId xmlns:p14="http://schemas.microsoft.com/office/powerpoint/2010/main" val="2811640364"/>
              </p:ext>
            </p:extLst>
          </p:nvPr>
        </p:nvGraphicFramePr>
        <p:xfrm>
          <a:off x="1922026" y="2636912"/>
          <a:ext cx="8297738" cy="662526"/>
        </p:xfrm>
        <a:graphic>
          <a:graphicData uri="http://schemas.openxmlformats.org/presentationml/2006/ole">
            <mc:AlternateContent xmlns:mc="http://schemas.openxmlformats.org/markup-compatibility/2006">
              <mc:Choice xmlns:v="urn:schemas-microsoft-com:vml" Requires="v">
                <p:oleObj spid="_x0000_s60845" name="Equation" r:id="rId6" imgW="5003800" imgH="393700" progId="Equation.DSMT4">
                  <p:embed/>
                </p:oleObj>
              </mc:Choice>
              <mc:Fallback>
                <p:oleObj name="Equation" r:id="rId6" imgW="5003800" imgH="393700" progId="Equation.DSMT4">
                  <p:embed/>
                  <p:pic>
                    <p:nvPicPr>
                      <p:cNvPr id="0" name="Picture 40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22026" y="2636912"/>
                        <a:ext cx="8297738" cy="6625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7"/>
          <p:cNvGraphicFramePr>
            <a:graphicFrameLocks noChangeAspect="1"/>
          </p:cNvGraphicFramePr>
          <p:nvPr>
            <p:extLst>
              <p:ext uri="{D42A27DB-BD31-4B8C-83A1-F6EECF244321}">
                <p14:modId xmlns:p14="http://schemas.microsoft.com/office/powerpoint/2010/main" val="2380565418"/>
              </p:ext>
            </p:extLst>
          </p:nvPr>
        </p:nvGraphicFramePr>
        <p:xfrm>
          <a:off x="5918613" y="4077151"/>
          <a:ext cx="3600400" cy="384521"/>
        </p:xfrm>
        <a:graphic>
          <a:graphicData uri="http://schemas.openxmlformats.org/presentationml/2006/ole">
            <mc:AlternateContent xmlns:mc="http://schemas.openxmlformats.org/markup-compatibility/2006">
              <mc:Choice xmlns:v="urn:schemas-microsoft-com:vml" Requires="v">
                <p:oleObj spid="_x0000_s60846" name="Equation" r:id="rId8" imgW="2616200" imgH="254000" progId="Equation.DSMT4">
                  <p:embed/>
                </p:oleObj>
              </mc:Choice>
              <mc:Fallback>
                <p:oleObj name="Equation" r:id="rId8" imgW="2616200" imgH="254000" progId="Equation.DSMT4">
                  <p:embed/>
                  <p:pic>
                    <p:nvPicPr>
                      <p:cNvPr id="0" name="Picture 40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18613" y="4077151"/>
                        <a:ext cx="3600400" cy="384521"/>
                      </a:xfrm>
                      <a:prstGeom prst="rect">
                        <a:avLst/>
                      </a:prstGeom>
                      <a:solidFill>
                        <a:srgbClr val="CDE7BA"/>
                      </a:solidFill>
                    </p:spPr>
                  </p:pic>
                </p:oleObj>
              </mc:Fallback>
            </mc:AlternateContent>
          </a:graphicData>
        </a:graphic>
      </p:graphicFrame>
      <p:sp>
        <p:nvSpPr>
          <p:cNvPr id="30" name="下箭头 29"/>
          <p:cNvSpPr/>
          <p:nvPr/>
        </p:nvSpPr>
        <p:spPr>
          <a:xfrm>
            <a:off x="5362774" y="4039467"/>
            <a:ext cx="314324" cy="499836"/>
          </a:xfrm>
          <a:prstGeom prst="downArrow">
            <a:avLst/>
          </a:prstGeom>
          <a:solidFill>
            <a:srgbClr val="66CCFF"/>
          </a:solidFill>
          <a:ln>
            <a:solidFill>
              <a:srgbClr val="66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1" name="Object 9"/>
          <p:cNvGraphicFramePr>
            <a:graphicFrameLocks noChangeAspect="1"/>
          </p:cNvGraphicFramePr>
          <p:nvPr>
            <p:extLst>
              <p:ext uri="{D42A27DB-BD31-4B8C-83A1-F6EECF244321}">
                <p14:modId xmlns:p14="http://schemas.microsoft.com/office/powerpoint/2010/main" val="864046244"/>
              </p:ext>
            </p:extLst>
          </p:nvPr>
        </p:nvGraphicFramePr>
        <p:xfrm>
          <a:off x="1975232" y="3279865"/>
          <a:ext cx="6225311" cy="714380"/>
        </p:xfrm>
        <a:graphic>
          <a:graphicData uri="http://schemas.openxmlformats.org/presentationml/2006/ole">
            <mc:AlternateContent xmlns:mc="http://schemas.openxmlformats.org/markup-compatibility/2006">
              <mc:Choice xmlns:v="urn:schemas-microsoft-com:vml" Requires="v">
                <p:oleObj spid="_x0000_s60847" name="Equation" r:id="rId10" imgW="3873500" imgH="444500" progId="Equation.DSMT4">
                  <p:embed/>
                </p:oleObj>
              </mc:Choice>
              <mc:Fallback>
                <p:oleObj name="Equation" r:id="rId10" imgW="3873500" imgH="444500" progId="Equation.DSMT4">
                  <p:embed/>
                  <p:pic>
                    <p:nvPicPr>
                      <p:cNvPr id="0" name="Picture 40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75232" y="3279865"/>
                        <a:ext cx="6225311" cy="714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 name="Object 7"/>
          <p:cNvGraphicFramePr>
            <a:graphicFrameLocks noChangeAspect="1"/>
          </p:cNvGraphicFramePr>
          <p:nvPr>
            <p:extLst>
              <p:ext uri="{D42A27DB-BD31-4B8C-83A1-F6EECF244321}">
                <p14:modId xmlns:p14="http://schemas.microsoft.com/office/powerpoint/2010/main" val="3209176493"/>
              </p:ext>
            </p:extLst>
          </p:nvPr>
        </p:nvGraphicFramePr>
        <p:xfrm>
          <a:off x="3503712" y="1556792"/>
          <a:ext cx="5813921" cy="688240"/>
        </p:xfrm>
        <a:graphic>
          <a:graphicData uri="http://schemas.openxmlformats.org/presentationml/2006/ole">
            <mc:AlternateContent xmlns:mc="http://schemas.openxmlformats.org/markup-compatibility/2006">
              <mc:Choice xmlns:v="urn:schemas-microsoft-com:vml" Requires="v">
                <p:oleObj spid="_x0000_s60848" name="公式" r:id="rId12" imgW="3378200" imgH="393700" progId="Equation.3">
                  <p:embed/>
                </p:oleObj>
              </mc:Choice>
              <mc:Fallback>
                <p:oleObj name="公式" r:id="rId12" imgW="3378200" imgH="393700" progId="Equation.3">
                  <p:embed/>
                  <p:pic>
                    <p:nvPicPr>
                      <p:cNvPr id="0" name="Picture 40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03712" y="1556792"/>
                        <a:ext cx="5813921" cy="688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Object 7"/>
          <p:cNvGraphicFramePr>
            <a:graphicFrameLocks noChangeAspect="1"/>
          </p:cNvGraphicFramePr>
          <p:nvPr>
            <p:extLst>
              <p:ext uri="{D42A27DB-BD31-4B8C-83A1-F6EECF244321}">
                <p14:modId xmlns:p14="http://schemas.microsoft.com/office/powerpoint/2010/main" val="559057501"/>
              </p:ext>
            </p:extLst>
          </p:nvPr>
        </p:nvGraphicFramePr>
        <p:xfrm>
          <a:off x="1937167" y="4466701"/>
          <a:ext cx="8858280" cy="916270"/>
        </p:xfrm>
        <a:graphic>
          <a:graphicData uri="http://schemas.openxmlformats.org/presentationml/2006/ole">
            <mc:AlternateContent xmlns:mc="http://schemas.openxmlformats.org/markup-compatibility/2006">
              <mc:Choice xmlns:v="urn:schemas-microsoft-com:vml" Requires="v">
                <p:oleObj spid="_x0000_s60849" name="Equation" r:id="rId14" imgW="5638800" imgH="584200" progId="Equation.DSMT4">
                  <p:embed/>
                </p:oleObj>
              </mc:Choice>
              <mc:Fallback>
                <p:oleObj name="Equation" r:id="rId14" imgW="5638800" imgH="584200" progId="Equation.DSMT4">
                  <p:embed/>
                  <p:pic>
                    <p:nvPicPr>
                      <p:cNvPr id="0" name="Picture 40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37167" y="4466701"/>
                        <a:ext cx="8858280" cy="916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 name="Object 8"/>
          <p:cNvGraphicFramePr>
            <a:graphicFrameLocks noChangeAspect="1"/>
          </p:cNvGraphicFramePr>
          <p:nvPr>
            <p:extLst>
              <p:ext uri="{D42A27DB-BD31-4B8C-83A1-F6EECF244321}">
                <p14:modId xmlns:p14="http://schemas.microsoft.com/office/powerpoint/2010/main" val="3195001798"/>
              </p:ext>
            </p:extLst>
          </p:nvPr>
        </p:nvGraphicFramePr>
        <p:xfrm>
          <a:off x="3432725" y="5280225"/>
          <a:ext cx="5626100" cy="955675"/>
        </p:xfrm>
        <a:graphic>
          <a:graphicData uri="http://schemas.openxmlformats.org/presentationml/2006/ole">
            <mc:AlternateContent xmlns:mc="http://schemas.openxmlformats.org/markup-compatibility/2006">
              <mc:Choice xmlns:v="urn:schemas-microsoft-com:vml" Requires="v">
                <p:oleObj spid="_x0000_s60850" name="Equation" r:id="rId16" imgW="3581400" imgH="609600" progId="Equation.DSMT4">
                  <p:embed/>
                </p:oleObj>
              </mc:Choice>
              <mc:Fallback>
                <p:oleObj name="Equation" r:id="rId16" imgW="3581400" imgH="609600" progId="Equation.DSMT4">
                  <p:embed/>
                  <p:pic>
                    <p:nvPicPr>
                      <p:cNvPr id="0" name="Picture 40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432725" y="5280225"/>
                        <a:ext cx="5626100" cy="95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 name="左弧形箭头 34"/>
          <p:cNvSpPr/>
          <p:nvPr/>
        </p:nvSpPr>
        <p:spPr>
          <a:xfrm rot="20402352" flipH="1">
            <a:off x="10939435" y="4858349"/>
            <a:ext cx="322376" cy="900304"/>
          </a:xfrm>
          <a:prstGeom prst="curvedRightArrow">
            <a:avLst>
              <a:gd name="adj1" fmla="val 25000"/>
              <a:gd name="adj2" fmla="val 50000"/>
              <a:gd name="adj3" fmla="val 1963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42728265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4319" y="2648415"/>
            <a:ext cx="9280591" cy="1653158"/>
          </a:xfrm>
          <a:prstGeom prst="rect">
            <a:avLst/>
          </a:prstGeom>
          <a:solidFill>
            <a:schemeClr val="accent5"/>
          </a:solidFill>
        </p:spPr>
        <p:txBody>
          <a:bodyPr wrap="square" rtlCol="0" anchor="ctr">
            <a:spAutoFit/>
          </a:bodyPr>
          <a:lstStyle/>
          <a:p>
            <a:pPr algn="ctr"/>
            <a:endParaRPr lang="zh-CN" altLang="en-US" sz="2400" kern="100" dirty="0">
              <a:ea typeface="宋体"/>
              <a:cs typeface="Times New Roman"/>
            </a:endParaRPr>
          </a:p>
        </p:txBody>
      </p:sp>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59</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052736"/>
            <a:ext cx="736611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正态分布概率模型下的最小错误率贝叶斯决策</a:t>
            </a:r>
          </a:p>
        </p:txBody>
      </p:sp>
      <p:sp>
        <p:nvSpPr>
          <p:cNvPr id="11" name="Rectangle 3"/>
          <p:cNvSpPr txBox="1">
            <a:spLocks noChangeArrowheads="1"/>
          </p:cNvSpPr>
          <p:nvPr/>
        </p:nvSpPr>
        <p:spPr bwMode="gray">
          <a:xfrm>
            <a:off x="352694" y="1585368"/>
            <a:ext cx="1710858" cy="6367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20000"/>
              </a:lnSpc>
              <a:spcBef>
                <a:spcPts val="0"/>
              </a:spcBef>
              <a:buFontTx/>
              <a:buNone/>
            </a:pPr>
            <a:r>
              <a:rPr lang="en-US" altLang="zh-CN" b="1" kern="0" dirty="0">
                <a:solidFill>
                  <a:srgbClr val="FF0000"/>
                </a:solidFill>
                <a:latin typeface="Times New Roman" panose="02020603050405020304" pitchFamily="18" charset="0"/>
                <a:ea typeface="黑体" panose="02010609060101010101" pitchFamily="49" charset="-122"/>
              </a:rPr>
              <a:t>⑴ </a:t>
            </a:r>
            <a:r>
              <a:rPr lang="en-US" altLang="zh-CN" b="1" kern="0" dirty="0" err="1">
                <a:solidFill>
                  <a:srgbClr val="FF0000"/>
                </a:solidFill>
                <a:latin typeface="Times New Roman" panose="02020603050405020304" pitchFamily="18" charset="0"/>
                <a:ea typeface="黑体" panose="02010609060101010101" pitchFamily="49" charset="-122"/>
              </a:rPr>
              <a:t>Σ</a:t>
            </a:r>
            <a:r>
              <a:rPr lang="en-US" altLang="zh-CN" b="1" kern="0" baseline="-25000" dirty="0" err="1">
                <a:solidFill>
                  <a:srgbClr val="FF0000"/>
                </a:solidFill>
                <a:latin typeface="Times New Roman" panose="02020603050405020304" pitchFamily="18" charset="0"/>
                <a:ea typeface="黑体" panose="02010609060101010101" pitchFamily="49" charset="-122"/>
              </a:rPr>
              <a:t>i</a:t>
            </a:r>
            <a:r>
              <a:rPr lang="en-US" altLang="zh-CN" b="1" kern="0" dirty="0">
                <a:solidFill>
                  <a:srgbClr val="FF0000"/>
                </a:solidFill>
                <a:latin typeface="Times New Roman" panose="02020603050405020304" pitchFamily="18" charset="0"/>
                <a:ea typeface="黑体" panose="02010609060101010101" pitchFamily="49" charset="-122"/>
              </a:rPr>
              <a:t>=</a:t>
            </a:r>
            <a:r>
              <a:rPr lang="el-GR" altLang="zh-CN" b="1" kern="0" dirty="0">
                <a:solidFill>
                  <a:srgbClr val="FF0000"/>
                </a:solidFill>
                <a:latin typeface="Times New Roman" panose="02020603050405020304" pitchFamily="18" charset="0"/>
                <a:ea typeface="黑体" panose="02010609060101010101" pitchFamily="49" charset="-122"/>
              </a:rPr>
              <a:t>σ</a:t>
            </a:r>
            <a:r>
              <a:rPr lang="en-US" altLang="zh-CN" b="1" kern="0" baseline="30000" dirty="0">
                <a:solidFill>
                  <a:srgbClr val="FF0000"/>
                </a:solidFill>
                <a:latin typeface="Times New Roman" panose="02020603050405020304" pitchFamily="18" charset="0"/>
                <a:ea typeface="黑体" panose="02010609060101010101" pitchFamily="49" charset="-122"/>
              </a:rPr>
              <a:t>2</a:t>
            </a:r>
            <a:r>
              <a:rPr lang="en-US" altLang="zh-CN" b="1" kern="0" dirty="0">
                <a:solidFill>
                  <a:srgbClr val="FF0000"/>
                </a:solidFill>
                <a:latin typeface="Times New Roman" panose="02020603050405020304" pitchFamily="18" charset="0"/>
                <a:ea typeface="黑体" panose="02010609060101010101" pitchFamily="49" charset="-122"/>
              </a:rPr>
              <a:t>I</a:t>
            </a:r>
          </a:p>
        </p:txBody>
      </p:sp>
      <p:sp>
        <p:nvSpPr>
          <p:cNvPr id="18" name="Rectangle 2"/>
          <p:cNvSpPr>
            <a:spLocks noGrp="1" noChangeArrowheads="1"/>
          </p:cNvSpPr>
          <p:nvPr>
            <p:ph type="title" idx="4294967295"/>
          </p:nvPr>
        </p:nvSpPr>
        <p:spPr bwMode="auto">
          <a:xfrm>
            <a:off x="0" y="274638"/>
            <a:ext cx="8229600" cy="1143000"/>
          </a:xfrm>
          <a:noFill/>
          <a:ln>
            <a:miter lim="800000"/>
            <a:headEnd/>
            <a:tailEnd/>
          </a:ln>
        </p:spPr>
        <p:txBody>
          <a:bodyPr vert="horz" wrap="square" lIns="91440" tIns="45720" rIns="91440" bIns="45720" numCol="1" anchor="t" anchorCtr="0" compatLnSpc="1">
            <a:prstTxWarp prst="textNoShape">
              <a:avLst/>
            </a:prstTxWarp>
          </a:bodyPr>
          <a:lstStyle/>
          <a:p>
            <a:r>
              <a:rPr lang="en-US" altLang="zh-CN" sz="4000"/>
              <a:t>    </a:t>
            </a:r>
          </a:p>
        </p:txBody>
      </p:sp>
      <p:sp>
        <p:nvSpPr>
          <p:cNvPr id="19" name="Rectangle 3"/>
          <p:cNvSpPr txBox="1">
            <a:spLocks noChangeArrowheads="1"/>
          </p:cNvSpPr>
          <p:nvPr/>
        </p:nvSpPr>
        <p:spPr bwMode="gray">
          <a:xfrm>
            <a:off x="357158" y="2204864"/>
            <a:ext cx="11427474" cy="5159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lnSpc>
                <a:spcPct val="130000"/>
              </a:lnSpc>
              <a:spcBef>
                <a:spcPts val="0"/>
              </a:spcBef>
              <a:buNone/>
            </a:pPr>
            <a:r>
              <a:rPr lang="zh-CN" altLang="en-US" sz="2200" kern="0" dirty="0">
                <a:solidFill>
                  <a:srgbClr val="FF6600"/>
                </a:solidFill>
                <a:latin typeface="Times New Roman" panose="02020603050405020304" pitchFamily="18" charset="0"/>
                <a:ea typeface="黑体" panose="02010609060101010101" pitchFamily="49" charset="-122"/>
              </a:rPr>
              <a:t>决策面方程：</a:t>
            </a:r>
            <a:endParaRPr lang="en-US" altLang="zh-CN" sz="2200" kern="0" dirty="0">
              <a:solidFill>
                <a:srgbClr val="FF6600"/>
              </a:solidFill>
              <a:latin typeface="Times New Roman" panose="02020603050405020304" pitchFamily="18" charset="0"/>
              <a:ea typeface="黑体" panose="02010609060101010101" pitchFamily="49" charset="-122"/>
            </a:endParaRPr>
          </a:p>
          <a:p>
            <a:pPr marL="0" indent="0" algn="just">
              <a:lnSpc>
                <a:spcPct val="130000"/>
              </a:lnSpc>
              <a:spcBef>
                <a:spcPts val="0"/>
              </a:spcBef>
              <a:buFontTx/>
              <a:buNone/>
            </a:pPr>
            <a:endParaRPr lang="zh-CN" altLang="en-US" sz="2200" kern="0" dirty="0">
              <a:solidFill>
                <a:srgbClr val="000000"/>
              </a:solidFill>
              <a:latin typeface="Times New Roman" panose="02020603050405020304" pitchFamily="18" charset="0"/>
              <a:ea typeface="黑体" panose="02010609060101010101" pitchFamily="49" charset="-122"/>
            </a:endParaRPr>
          </a:p>
          <a:p>
            <a:pPr marL="0" indent="0" algn="just">
              <a:lnSpc>
                <a:spcPct val="130000"/>
              </a:lnSpc>
              <a:spcBef>
                <a:spcPts val="0"/>
              </a:spcBef>
              <a:buFontTx/>
              <a:buNone/>
            </a:pPr>
            <a:endParaRPr lang="zh-CN" altLang="en-US" sz="2200" kern="0" dirty="0">
              <a:solidFill>
                <a:srgbClr val="000000"/>
              </a:solidFill>
              <a:latin typeface="Times New Roman" panose="02020603050405020304" pitchFamily="18" charset="0"/>
              <a:ea typeface="黑体" panose="02010609060101010101" pitchFamily="49" charset="-122"/>
            </a:endParaRPr>
          </a:p>
          <a:p>
            <a:pPr marL="0" indent="0" algn="just">
              <a:lnSpc>
                <a:spcPct val="130000"/>
              </a:lnSpc>
              <a:spcBef>
                <a:spcPts val="0"/>
              </a:spcBef>
              <a:buFontTx/>
              <a:buNone/>
            </a:pPr>
            <a:r>
              <a:rPr lang="zh-CN" altLang="en-US" sz="2200" kern="0" dirty="0">
                <a:solidFill>
                  <a:srgbClr val="000000"/>
                </a:solidFill>
                <a:latin typeface="Times New Roman" panose="02020603050405020304" pitchFamily="18" charset="0"/>
                <a:ea typeface="黑体" panose="02010609060101010101" pitchFamily="49" charset="-122"/>
              </a:rPr>
              <a:t>  </a:t>
            </a:r>
          </a:p>
          <a:p>
            <a:pPr marL="0" indent="0" algn="just">
              <a:lnSpc>
                <a:spcPct val="130000"/>
              </a:lnSpc>
              <a:spcBef>
                <a:spcPts val="0"/>
              </a:spcBef>
            </a:pPr>
            <a:endParaRPr lang="en-US" altLang="zh-CN" sz="2200" kern="0" dirty="0">
              <a:solidFill>
                <a:srgbClr val="000000"/>
              </a:solidFill>
              <a:latin typeface="Times New Roman" panose="02020603050405020304" pitchFamily="18" charset="0"/>
              <a:ea typeface="黑体" panose="02010609060101010101" pitchFamily="49" charset="-122"/>
            </a:endParaRPr>
          </a:p>
        </p:txBody>
      </p:sp>
      <p:graphicFrame>
        <p:nvGraphicFramePr>
          <p:cNvPr id="26" name="Object 6"/>
          <p:cNvGraphicFramePr>
            <a:graphicFrameLocks noChangeAspect="1"/>
          </p:cNvGraphicFramePr>
          <p:nvPr>
            <p:extLst>
              <p:ext uri="{D42A27DB-BD31-4B8C-83A1-F6EECF244321}">
                <p14:modId xmlns:p14="http://schemas.microsoft.com/office/powerpoint/2010/main" val="2385591648"/>
              </p:ext>
            </p:extLst>
          </p:nvPr>
        </p:nvGraphicFramePr>
        <p:xfrm>
          <a:off x="2354387" y="2260852"/>
          <a:ext cx="2033599" cy="459981"/>
        </p:xfrm>
        <a:graphic>
          <a:graphicData uri="http://schemas.openxmlformats.org/presentationml/2006/ole">
            <mc:AlternateContent xmlns:mc="http://schemas.openxmlformats.org/markup-compatibility/2006">
              <mc:Choice xmlns:v="urn:schemas-microsoft-com:vml" Requires="v">
                <p:oleObj spid="_x0000_s61790" name="Equation" r:id="rId4" imgW="1066800" imgH="241300" progId="Equation.DSMT4">
                  <p:embed/>
                </p:oleObj>
              </mc:Choice>
              <mc:Fallback>
                <p:oleObj name="Equation" r:id="rId4" imgW="1066800" imgH="241300" progId="Equation.DSMT4">
                  <p:embed/>
                  <p:pic>
                    <p:nvPicPr>
                      <p:cNvPr id="0" name="Picture 3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4387" y="2260852"/>
                        <a:ext cx="2033599" cy="459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 name="Object 7"/>
          <p:cNvGraphicFramePr>
            <a:graphicFrameLocks noChangeAspect="1"/>
          </p:cNvGraphicFramePr>
          <p:nvPr/>
        </p:nvGraphicFramePr>
        <p:xfrm>
          <a:off x="3503712" y="1556792"/>
          <a:ext cx="5813921" cy="688240"/>
        </p:xfrm>
        <a:graphic>
          <a:graphicData uri="http://schemas.openxmlformats.org/presentationml/2006/ole">
            <mc:AlternateContent xmlns:mc="http://schemas.openxmlformats.org/markup-compatibility/2006">
              <mc:Choice xmlns:v="urn:schemas-microsoft-com:vml" Requires="v">
                <p:oleObj spid="_x0000_s61791" name="公式" r:id="rId6" imgW="3378200" imgH="393700" progId="Equation.3">
                  <p:embed/>
                </p:oleObj>
              </mc:Choice>
              <mc:Fallback>
                <p:oleObj name="公式" r:id="rId6" imgW="3378200" imgH="393700" progId="Equation.3">
                  <p:embed/>
                  <p:pic>
                    <p:nvPicPr>
                      <p:cNvPr id="0" name="Picture 3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03712" y="1556792"/>
                        <a:ext cx="5813921" cy="688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Rectangle 3"/>
          <p:cNvSpPr txBox="1">
            <a:spLocks noChangeArrowheads="1"/>
          </p:cNvSpPr>
          <p:nvPr/>
        </p:nvSpPr>
        <p:spPr bwMode="gray">
          <a:xfrm>
            <a:off x="314149" y="5641211"/>
            <a:ext cx="8520625" cy="85530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20000"/>
              </a:lnSpc>
              <a:spcBef>
                <a:spcPts val="0"/>
              </a:spcBef>
              <a:buClr>
                <a:schemeClr val="tx1"/>
              </a:buClr>
              <a:buFont typeface="Arial" panose="020B0604020202020204" pitchFamily="34" charset="0"/>
              <a:buChar char="•"/>
            </a:pPr>
            <a:r>
              <a:rPr lang="zh-CN" altLang="en-US" sz="2200" kern="0" dirty="0">
                <a:solidFill>
                  <a:srgbClr val="000000"/>
                </a:solidFill>
                <a:latin typeface="Times New Roman" panose="02020603050405020304" pitchFamily="18" charset="0"/>
                <a:ea typeface="黑体" panose="02010609060101010101" pitchFamily="49" charset="-122"/>
              </a:rPr>
              <a:t>这个方程确定了</a:t>
            </a:r>
            <a:r>
              <a:rPr lang="zh-CN" altLang="en-US" sz="2200" kern="0" dirty="0">
                <a:solidFill>
                  <a:srgbClr val="FF0000"/>
                </a:solidFill>
                <a:latin typeface="Times New Roman" panose="02020603050405020304" pitchFamily="18" charset="0"/>
                <a:ea typeface="黑体" panose="02010609060101010101" pitchFamily="49" charset="-122"/>
              </a:rPr>
              <a:t>决策面是通过 </a:t>
            </a:r>
            <a:r>
              <a:rPr lang="en-US" altLang="zh-CN" sz="2200" i="1" kern="0" dirty="0">
                <a:solidFill>
                  <a:srgbClr val="FF0000"/>
                </a:solidFill>
                <a:latin typeface="Times New Roman" panose="02020603050405020304" pitchFamily="18" charset="0"/>
                <a:ea typeface="黑体" panose="02010609060101010101" pitchFamily="49" charset="-122"/>
              </a:rPr>
              <a:t>x</a:t>
            </a:r>
            <a:r>
              <a:rPr lang="en-US" altLang="zh-CN" sz="2200" i="1" kern="0" baseline="-25000" dirty="0">
                <a:solidFill>
                  <a:srgbClr val="FF0000"/>
                </a:solidFill>
                <a:latin typeface="Times New Roman" panose="02020603050405020304" pitchFamily="18" charset="0"/>
                <a:ea typeface="黑体" panose="02010609060101010101" pitchFamily="49" charset="-122"/>
              </a:rPr>
              <a:t>0 </a:t>
            </a:r>
            <a:r>
              <a:rPr lang="zh-CN" altLang="en-US" sz="2200" kern="0" dirty="0">
                <a:solidFill>
                  <a:srgbClr val="FF0000"/>
                </a:solidFill>
                <a:latin typeface="Times New Roman" panose="02020603050405020304" pitchFamily="18" charset="0"/>
                <a:ea typeface="黑体" panose="02010609060101010101" pitchFamily="49" charset="-122"/>
              </a:rPr>
              <a:t>并正交于向量</a:t>
            </a:r>
            <a:r>
              <a:rPr lang="en-US" altLang="zh-CN" sz="2200" kern="0" dirty="0">
                <a:solidFill>
                  <a:srgbClr val="FF0000"/>
                </a:solidFill>
                <a:latin typeface="Times New Roman" panose="02020603050405020304" pitchFamily="18" charset="0"/>
                <a:ea typeface="黑体" panose="02010609060101010101" pitchFamily="49" charset="-122"/>
              </a:rPr>
              <a:t>W</a:t>
            </a:r>
            <a:r>
              <a:rPr lang="zh-CN" altLang="en-US" sz="2200" kern="0" dirty="0">
                <a:solidFill>
                  <a:srgbClr val="FF0000"/>
                </a:solidFill>
                <a:latin typeface="Times New Roman" panose="02020603050405020304" pitchFamily="18" charset="0"/>
                <a:ea typeface="黑体" panose="02010609060101010101" pitchFamily="49" charset="-122"/>
              </a:rPr>
              <a:t>的一个超平面</a:t>
            </a:r>
            <a:r>
              <a:rPr lang="zh-CN" altLang="en-US" sz="2200" kern="0" dirty="0">
                <a:solidFill>
                  <a:srgbClr val="000000"/>
                </a:solidFill>
                <a:latin typeface="Times New Roman" panose="02020603050405020304" pitchFamily="18" charset="0"/>
                <a:ea typeface="黑体" panose="02010609060101010101" pitchFamily="49" charset="-122"/>
              </a:rPr>
              <a:t>。</a:t>
            </a:r>
            <a:endParaRPr lang="en-US" altLang="zh-CN" sz="2200" kern="0" dirty="0">
              <a:solidFill>
                <a:srgbClr val="000000"/>
              </a:solidFill>
              <a:latin typeface="Times New Roman" panose="02020603050405020304" pitchFamily="18" charset="0"/>
              <a:ea typeface="黑体" panose="02010609060101010101" pitchFamily="49" charset="-122"/>
            </a:endParaRPr>
          </a:p>
          <a:p>
            <a:pPr algn="just">
              <a:lnSpc>
                <a:spcPct val="120000"/>
              </a:lnSpc>
              <a:spcBef>
                <a:spcPts val="0"/>
              </a:spcBef>
              <a:buClr>
                <a:schemeClr val="tx1"/>
              </a:buClr>
              <a:buFont typeface="Arial" panose="020B0604020202020204" pitchFamily="34" charset="0"/>
              <a:buChar char="•"/>
            </a:pPr>
            <a:r>
              <a:rPr lang="zh-CN" altLang="en-US" sz="2200" kern="0" dirty="0">
                <a:solidFill>
                  <a:srgbClr val="000000"/>
                </a:solidFill>
                <a:latin typeface="Times New Roman" panose="02020603050405020304" pitchFamily="18" charset="0"/>
                <a:ea typeface="黑体" panose="02010609060101010101" pitchFamily="49" charset="-122"/>
              </a:rPr>
              <a:t>由于</a:t>
            </a:r>
            <a:r>
              <a:rPr lang="en-US" altLang="zh-CN" sz="2200" kern="0" dirty="0">
                <a:solidFill>
                  <a:srgbClr val="000000"/>
                </a:solidFill>
                <a:latin typeface="Times New Roman" panose="02020603050405020304" pitchFamily="18" charset="0"/>
                <a:ea typeface="黑体" panose="02010609060101010101" pitchFamily="49" charset="-122"/>
              </a:rPr>
              <a:t>W=</a:t>
            </a:r>
            <a:r>
              <a:rPr lang="el-GR" altLang="zh-CN" sz="2200" i="1" kern="0" dirty="0">
                <a:latin typeface="Times New Roman" panose="02020603050405020304" pitchFamily="18" charset="0"/>
                <a:ea typeface="黑体" panose="02010609060101010101" pitchFamily="49" charset="-122"/>
              </a:rPr>
              <a:t>μ</a:t>
            </a:r>
            <a:r>
              <a:rPr lang="en-US" altLang="zh-CN" sz="2200" i="1" kern="0" baseline="-25000" dirty="0" err="1">
                <a:latin typeface="Times New Roman" panose="02020603050405020304" pitchFamily="18" charset="0"/>
                <a:ea typeface="黑体" panose="02010609060101010101" pitchFamily="49" charset="-122"/>
              </a:rPr>
              <a:t>i</a:t>
            </a:r>
            <a:r>
              <a:rPr lang="zh-CN" altLang="en-US" sz="2200" kern="0" dirty="0">
                <a:latin typeface="Times New Roman" panose="02020603050405020304" pitchFamily="18" charset="0"/>
                <a:ea typeface="黑体" panose="02010609060101010101" pitchFamily="49" charset="-122"/>
              </a:rPr>
              <a:t>－</a:t>
            </a:r>
            <a:r>
              <a:rPr lang="el-GR" altLang="zh-CN" sz="2200" i="1" kern="0" dirty="0">
                <a:latin typeface="Times New Roman" panose="02020603050405020304" pitchFamily="18" charset="0"/>
                <a:ea typeface="黑体" panose="02010609060101010101" pitchFamily="49" charset="-122"/>
              </a:rPr>
              <a:t>μ</a:t>
            </a:r>
            <a:r>
              <a:rPr lang="en-US" altLang="zh-CN" sz="2200" i="1" kern="0" baseline="-25000" dirty="0">
                <a:latin typeface="Times New Roman" panose="02020603050405020304" pitchFamily="18" charset="0"/>
                <a:ea typeface="黑体" panose="02010609060101010101" pitchFamily="49" charset="-122"/>
              </a:rPr>
              <a:t>j</a:t>
            </a:r>
            <a:r>
              <a:rPr lang="en-US" altLang="zh-CN" sz="2200" kern="0" dirty="0">
                <a:solidFill>
                  <a:srgbClr val="000000"/>
                </a:solidFill>
                <a:latin typeface="Times New Roman" panose="02020603050405020304" pitchFamily="18" charset="0"/>
                <a:ea typeface="黑体" panose="02010609060101010101" pitchFamily="49" charset="-122"/>
              </a:rPr>
              <a:t> </a:t>
            </a:r>
            <a:r>
              <a:rPr lang="zh-CN" altLang="en-US" sz="2200" kern="0" dirty="0">
                <a:solidFill>
                  <a:srgbClr val="000000"/>
                </a:solidFill>
                <a:latin typeface="Times New Roman" panose="02020603050405020304" pitchFamily="18" charset="0"/>
                <a:ea typeface="黑体" panose="02010609060101010101" pitchFamily="49" charset="-122"/>
              </a:rPr>
              <a:t>所以超平面正交于均值向量 </a:t>
            </a:r>
            <a:r>
              <a:rPr lang="el-GR" altLang="zh-CN" sz="2200" i="1" kern="0" dirty="0">
                <a:latin typeface="Times New Roman" panose="02020603050405020304" pitchFamily="18" charset="0"/>
                <a:ea typeface="黑体" panose="02010609060101010101" pitchFamily="49" charset="-122"/>
              </a:rPr>
              <a:t>μ</a:t>
            </a:r>
            <a:r>
              <a:rPr lang="en-US" altLang="zh-CN" sz="2200" i="1" kern="0" baseline="-25000" dirty="0" err="1">
                <a:latin typeface="Times New Roman" panose="02020603050405020304" pitchFamily="18" charset="0"/>
                <a:ea typeface="黑体" panose="02010609060101010101" pitchFamily="49" charset="-122"/>
              </a:rPr>
              <a:t>i</a:t>
            </a:r>
            <a:r>
              <a:rPr lang="en-US" altLang="zh-CN" sz="2200" i="1" kern="0" baseline="-25000" dirty="0">
                <a:latin typeface="Times New Roman" panose="02020603050405020304" pitchFamily="18" charset="0"/>
                <a:ea typeface="黑体" panose="02010609060101010101" pitchFamily="49" charset="-122"/>
              </a:rPr>
              <a:t> </a:t>
            </a:r>
            <a:r>
              <a:rPr lang="zh-CN" altLang="en-US" sz="2200" kern="0" dirty="0">
                <a:latin typeface="Times New Roman" panose="02020603050405020304" pitchFamily="18" charset="0"/>
                <a:ea typeface="黑体" panose="02010609060101010101" pitchFamily="49" charset="-122"/>
              </a:rPr>
              <a:t>与 </a:t>
            </a:r>
            <a:r>
              <a:rPr lang="el-GR" altLang="zh-CN" sz="2200" i="1" kern="0" dirty="0">
                <a:latin typeface="Times New Roman" panose="02020603050405020304" pitchFamily="18" charset="0"/>
                <a:ea typeface="黑体" panose="02010609060101010101" pitchFamily="49" charset="-122"/>
              </a:rPr>
              <a:t>μ</a:t>
            </a:r>
            <a:r>
              <a:rPr lang="en-US" altLang="zh-CN" sz="2200" i="1" kern="0" baseline="-25000" dirty="0">
                <a:latin typeface="Times New Roman" panose="02020603050405020304" pitchFamily="18" charset="0"/>
                <a:ea typeface="黑体" panose="02010609060101010101" pitchFamily="49" charset="-122"/>
              </a:rPr>
              <a:t>j </a:t>
            </a:r>
            <a:r>
              <a:rPr lang="zh-CN" altLang="en-US" sz="2200" kern="0" dirty="0">
                <a:solidFill>
                  <a:srgbClr val="000000"/>
                </a:solidFill>
                <a:latin typeface="Times New Roman" panose="02020603050405020304" pitchFamily="18" charset="0"/>
                <a:ea typeface="黑体" panose="02010609060101010101" pitchFamily="49" charset="-122"/>
              </a:rPr>
              <a:t>之间的联线。</a:t>
            </a:r>
          </a:p>
        </p:txBody>
      </p:sp>
      <p:pic>
        <p:nvPicPr>
          <p:cNvPr id="21" name="Picture 11" descr="扬图3-11"/>
          <p:cNvPicPr>
            <a:picLocks noGrp="1" noChangeAspect="1" noChangeArrowheads="1"/>
          </p:cNvPicPr>
          <p:nvPr>
            <p:ph sz="quarter" idx="4294967295"/>
          </p:nvPr>
        </p:nvPicPr>
        <p:blipFill>
          <a:blip r:embed="rId8" cstate="print"/>
          <a:srcRect t="5238" b="7816"/>
          <a:stretch>
            <a:fillRect/>
          </a:stretch>
        </p:blipFill>
        <p:spPr>
          <a:xfrm>
            <a:off x="9060128" y="3860466"/>
            <a:ext cx="3045571" cy="2679672"/>
          </a:xfrm>
          <a:noFill/>
          <a:ln/>
        </p:spPr>
      </p:pic>
      <p:graphicFrame>
        <p:nvGraphicFramePr>
          <p:cNvPr id="22" name="Object 5"/>
          <p:cNvGraphicFramePr>
            <a:graphicFrameLocks noChangeAspect="1"/>
          </p:cNvGraphicFramePr>
          <p:nvPr>
            <p:extLst>
              <p:ext uri="{D42A27DB-BD31-4B8C-83A1-F6EECF244321}">
                <p14:modId xmlns:p14="http://schemas.microsoft.com/office/powerpoint/2010/main" val="3304711250"/>
              </p:ext>
            </p:extLst>
          </p:nvPr>
        </p:nvGraphicFramePr>
        <p:xfrm>
          <a:off x="1559496" y="4811365"/>
          <a:ext cx="5843588" cy="777875"/>
        </p:xfrm>
        <a:graphic>
          <a:graphicData uri="http://schemas.openxmlformats.org/presentationml/2006/ole">
            <mc:AlternateContent xmlns:mc="http://schemas.openxmlformats.org/markup-compatibility/2006">
              <mc:Choice xmlns:v="urn:schemas-microsoft-com:vml" Requires="v">
                <p:oleObj spid="_x0000_s61792" name="Equation" r:id="rId9" imgW="3619440" imgH="482400" progId="Equation.DSMT4">
                  <p:embed/>
                </p:oleObj>
              </mc:Choice>
              <mc:Fallback>
                <p:oleObj name="Equation" r:id="rId9" imgW="3619440" imgH="482400" progId="Equation.DSMT4">
                  <p:embed/>
                  <p:pic>
                    <p:nvPicPr>
                      <p:cNvPr id="0" name="Picture 3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59496" y="4811365"/>
                        <a:ext cx="5843588" cy="777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9"/>
          <p:cNvGraphicFramePr>
            <a:graphicFrameLocks noChangeAspect="1"/>
          </p:cNvGraphicFramePr>
          <p:nvPr>
            <p:extLst>
              <p:ext uri="{D42A27DB-BD31-4B8C-83A1-F6EECF244321}">
                <p14:modId xmlns:p14="http://schemas.microsoft.com/office/powerpoint/2010/main" val="3362649569"/>
              </p:ext>
            </p:extLst>
          </p:nvPr>
        </p:nvGraphicFramePr>
        <p:xfrm>
          <a:off x="3414173" y="4441102"/>
          <a:ext cx="1947625" cy="500066"/>
        </p:xfrm>
        <a:graphic>
          <a:graphicData uri="http://schemas.openxmlformats.org/presentationml/2006/ole">
            <mc:AlternateContent xmlns:mc="http://schemas.openxmlformats.org/markup-compatibility/2006">
              <mc:Choice xmlns:v="urn:schemas-microsoft-com:vml" Requires="v">
                <p:oleObj spid="_x0000_s61793" name="Equation" r:id="rId11" imgW="939392" imgH="241195" progId="Equation.DSMT4">
                  <p:embed/>
                </p:oleObj>
              </mc:Choice>
              <mc:Fallback>
                <p:oleObj name="Equation" r:id="rId11" imgW="939392" imgH="241195" progId="Equation.DSMT4">
                  <p:embed/>
                  <p:pic>
                    <p:nvPicPr>
                      <p:cNvPr id="0" name="Picture 3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14173" y="4441102"/>
                        <a:ext cx="1947625" cy="500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 name="Object 7"/>
          <p:cNvGraphicFramePr>
            <a:graphicFrameLocks noChangeAspect="1"/>
          </p:cNvGraphicFramePr>
          <p:nvPr>
            <p:extLst>
              <p:ext uri="{D42A27DB-BD31-4B8C-83A1-F6EECF244321}">
                <p14:modId xmlns:p14="http://schemas.microsoft.com/office/powerpoint/2010/main" val="1432948204"/>
              </p:ext>
            </p:extLst>
          </p:nvPr>
        </p:nvGraphicFramePr>
        <p:xfrm>
          <a:off x="375475" y="2592429"/>
          <a:ext cx="8858280" cy="916270"/>
        </p:xfrm>
        <a:graphic>
          <a:graphicData uri="http://schemas.openxmlformats.org/presentationml/2006/ole">
            <mc:AlternateContent xmlns:mc="http://schemas.openxmlformats.org/markup-compatibility/2006">
              <mc:Choice xmlns:v="urn:schemas-microsoft-com:vml" Requires="v">
                <p:oleObj spid="_x0000_s61794" name="Equation" r:id="rId13" imgW="5638800" imgH="584200" progId="Equation.DSMT4">
                  <p:embed/>
                </p:oleObj>
              </mc:Choice>
              <mc:Fallback>
                <p:oleObj name="Equation" r:id="rId13" imgW="5638800" imgH="584200" progId="Equation.DSMT4">
                  <p:embed/>
                  <p:pic>
                    <p:nvPicPr>
                      <p:cNvPr id="0" name="Picture 3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5475" y="2592429"/>
                        <a:ext cx="8858280" cy="916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 name="Object 8"/>
          <p:cNvGraphicFramePr>
            <a:graphicFrameLocks noChangeAspect="1"/>
          </p:cNvGraphicFramePr>
          <p:nvPr>
            <p:extLst>
              <p:ext uri="{D42A27DB-BD31-4B8C-83A1-F6EECF244321}">
                <p14:modId xmlns:p14="http://schemas.microsoft.com/office/powerpoint/2010/main" val="1463902938"/>
              </p:ext>
            </p:extLst>
          </p:nvPr>
        </p:nvGraphicFramePr>
        <p:xfrm>
          <a:off x="342724" y="3378258"/>
          <a:ext cx="5626100" cy="955675"/>
        </p:xfrm>
        <a:graphic>
          <a:graphicData uri="http://schemas.openxmlformats.org/presentationml/2006/ole">
            <mc:AlternateContent xmlns:mc="http://schemas.openxmlformats.org/markup-compatibility/2006">
              <mc:Choice xmlns:v="urn:schemas-microsoft-com:vml" Requires="v">
                <p:oleObj spid="_x0000_s61795" name="Equation" r:id="rId15" imgW="3581400" imgH="609600" progId="Equation.DSMT4">
                  <p:embed/>
                </p:oleObj>
              </mc:Choice>
              <mc:Fallback>
                <p:oleObj name="Equation" r:id="rId15" imgW="3581400" imgH="609600" progId="Equation.DSMT4">
                  <p:embed/>
                  <p:pic>
                    <p:nvPicPr>
                      <p:cNvPr id="0" name="Picture 33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2724" y="3378258"/>
                        <a:ext cx="5626100" cy="95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 name="左弧形箭头 28"/>
          <p:cNvSpPr/>
          <p:nvPr/>
        </p:nvSpPr>
        <p:spPr>
          <a:xfrm rot="20402352">
            <a:off x="2733149" y="4292304"/>
            <a:ext cx="261031" cy="577012"/>
          </a:xfrm>
          <a:prstGeom prst="curvedRightArrow">
            <a:avLst>
              <a:gd name="adj1" fmla="val 25000"/>
              <a:gd name="adj2" fmla="val 50000"/>
              <a:gd name="adj3" fmla="val 1963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 name="矩形 3"/>
          <p:cNvSpPr/>
          <p:nvPr/>
        </p:nvSpPr>
        <p:spPr>
          <a:xfrm>
            <a:off x="1424147" y="4397151"/>
            <a:ext cx="6184021" cy="1192089"/>
          </a:xfrm>
          <a:prstGeom prst="rect">
            <a:avLst/>
          </a:prstGeom>
          <a:ln w="31750">
            <a:solidFill>
              <a:srgbClr val="FF0000"/>
            </a:solidFill>
          </a:ln>
        </p:spPr>
        <p:txBody>
          <a:bodyPr wrap="square" rtlCol="0" anchor="ctr">
            <a:spAutoFit/>
          </a:bodyPr>
          <a:lstStyle/>
          <a:p>
            <a:pPr algn="ctr"/>
            <a:endParaRPr lang="zh-CN" altLang="en-US" sz="2400" kern="100" dirty="0">
              <a:ea typeface="宋体"/>
              <a:cs typeface="Times New Roman"/>
            </a:endParaRPr>
          </a:p>
        </p:txBody>
      </p:sp>
    </p:spTree>
    <p:extLst>
      <p:ext uri="{BB962C8B-B14F-4D97-AF65-F5344CB8AC3E}">
        <p14:creationId xmlns:p14="http://schemas.microsoft.com/office/powerpoint/2010/main" val="41351745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3"/>
          <p:cNvSpPr txBox="1">
            <a:spLocks noChangeArrowheads="1"/>
          </p:cNvSpPr>
          <p:nvPr/>
        </p:nvSpPr>
        <p:spPr bwMode="gray">
          <a:xfrm>
            <a:off x="352694" y="2909868"/>
            <a:ext cx="8081990" cy="15102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nSpc>
                <a:spcPct val="120000"/>
              </a:lnSpc>
              <a:spcBef>
                <a:spcPts val="0"/>
              </a:spcBef>
              <a:buNone/>
            </a:pPr>
            <a:r>
              <a:rPr lang="zh-CN" altLang="en-US" sz="2200" kern="0" dirty="0">
                <a:latin typeface="微软雅黑" panose="020B0503020204020204" pitchFamily="34" charset="-122"/>
                <a:ea typeface="微软雅黑" panose="020B0503020204020204" pitchFamily="34" charset="-122"/>
              </a:rPr>
              <a:t>① </a:t>
            </a:r>
            <a:r>
              <a:rPr lang="zh-CN" altLang="en-US" sz="2200" kern="0" dirty="0">
                <a:latin typeface="Times New Roman" panose="02020603050405020304" pitchFamily="18" charset="0"/>
                <a:ea typeface="黑体" panose="02010609060101010101" pitchFamily="49" charset="-122"/>
              </a:rPr>
              <a:t>若先验概率相等                         ，则  </a:t>
            </a:r>
            <a:endParaRPr lang="en-US" altLang="zh-CN" sz="2200" kern="0" dirty="0">
              <a:latin typeface="Times New Roman" panose="02020603050405020304" pitchFamily="18" charset="0"/>
              <a:ea typeface="黑体" panose="02010609060101010101" pitchFamily="49" charset="-122"/>
            </a:endParaRPr>
          </a:p>
          <a:p>
            <a:pPr>
              <a:lnSpc>
                <a:spcPct val="120000"/>
              </a:lnSpc>
              <a:spcBef>
                <a:spcPts val="600"/>
              </a:spcBef>
              <a:buNone/>
            </a:pPr>
            <a:r>
              <a:rPr lang="zh-CN" altLang="en-US" sz="2200" kern="0" dirty="0">
                <a:latin typeface="Times New Roman" panose="02020603050405020304" pitchFamily="18" charset="0"/>
                <a:ea typeface="黑体" panose="02010609060101010101" pitchFamily="49" charset="-122"/>
              </a:rPr>
              <a:t>     超平面通过 </a:t>
            </a:r>
            <a:r>
              <a:rPr lang="el-GR" altLang="zh-CN" sz="2200" kern="0" dirty="0">
                <a:latin typeface="Times New Roman" panose="02020603050405020304" pitchFamily="18" charset="0"/>
                <a:ea typeface="黑体" panose="02010609060101010101" pitchFamily="49" charset="-122"/>
              </a:rPr>
              <a:t>μ</a:t>
            </a:r>
            <a:r>
              <a:rPr lang="en-US" altLang="zh-CN" sz="2200" kern="0" baseline="-25000" dirty="0" err="1">
                <a:latin typeface="Times New Roman" panose="02020603050405020304" pitchFamily="18" charset="0"/>
                <a:ea typeface="黑体" panose="02010609060101010101" pitchFamily="49" charset="-122"/>
              </a:rPr>
              <a:t>i</a:t>
            </a:r>
            <a:r>
              <a:rPr lang="en-US" altLang="zh-CN" sz="2200" kern="0" baseline="-25000" dirty="0">
                <a:latin typeface="Times New Roman" panose="02020603050405020304" pitchFamily="18" charset="0"/>
                <a:ea typeface="黑体" panose="02010609060101010101" pitchFamily="49" charset="-122"/>
              </a:rPr>
              <a:t> </a:t>
            </a:r>
            <a:r>
              <a:rPr lang="zh-CN" altLang="en-US" sz="2200" kern="0" dirty="0">
                <a:latin typeface="Times New Roman" panose="02020603050405020304" pitchFamily="18" charset="0"/>
                <a:ea typeface="黑体" panose="02010609060101010101" pitchFamily="49" charset="-122"/>
              </a:rPr>
              <a:t>与 </a:t>
            </a:r>
            <a:r>
              <a:rPr lang="el-GR" altLang="zh-CN" sz="2200" kern="0" dirty="0">
                <a:latin typeface="Times New Roman" panose="02020603050405020304" pitchFamily="18" charset="0"/>
                <a:ea typeface="黑体" panose="02010609060101010101" pitchFamily="49" charset="-122"/>
              </a:rPr>
              <a:t>μ</a:t>
            </a:r>
            <a:r>
              <a:rPr lang="en-US" altLang="zh-CN" sz="2200" kern="0" baseline="-25000" dirty="0">
                <a:latin typeface="Times New Roman" panose="02020603050405020304" pitchFamily="18" charset="0"/>
                <a:ea typeface="黑体" panose="02010609060101010101" pitchFamily="49" charset="-122"/>
              </a:rPr>
              <a:t>j </a:t>
            </a:r>
            <a:r>
              <a:rPr lang="zh-CN" altLang="en-US" sz="2200" kern="0" dirty="0">
                <a:latin typeface="Times New Roman" panose="02020603050405020304" pitchFamily="18" charset="0"/>
                <a:ea typeface="黑体" panose="02010609060101010101" pitchFamily="49" charset="-122"/>
              </a:rPr>
              <a:t>连线的</a:t>
            </a:r>
            <a:r>
              <a:rPr lang="zh-CN" altLang="en-US" sz="2200" kern="0" dirty="0">
                <a:solidFill>
                  <a:srgbClr val="FF0000"/>
                </a:solidFill>
                <a:latin typeface="Times New Roman" panose="02020603050405020304" pitchFamily="18" charset="0"/>
                <a:ea typeface="黑体" panose="02010609060101010101" pitchFamily="49" charset="-122"/>
              </a:rPr>
              <a:t>中点 </a:t>
            </a:r>
            <a:r>
              <a:rPr lang="en-US" altLang="zh-CN" sz="2200" i="1" kern="0" dirty="0">
                <a:latin typeface="Times New Roman" panose="02020603050405020304" pitchFamily="18" charset="0"/>
                <a:ea typeface="黑体" panose="02010609060101010101" pitchFamily="49" charset="-122"/>
              </a:rPr>
              <a:t>x</a:t>
            </a:r>
            <a:r>
              <a:rPr lang="en-US" altLang="zh-CN" sz="2000" baseline="-25000" dirty="0">
                <a:latin typeface="+mj-ea"/>
              </a:rPr>
              <a:t>0</a:t>
            </a:r>
            <a:r>
              <a:rPr lang="zh-CN" altLang="en-US" sz="2200" kern="0" dirty="0">
                <a:latin typeface="Times New Roman" panose="02020603050405020304" pitchFamily="18" charset="0"/>
                <a:ea typeface="黑体" panose="02010609060101010101" pitchFamily="49" charset="-122"/>
              </a:rPr>
              <a:t>，且与连线正交。</a:t>
            </a:r>
            <a:endParaRPr lang="en-US" altLang="zh-CN" sz="2200" kern="0" dirty="0">
              <a:latin typeface="Times New Roman" panose="02020603050405020304" pitchFamily="18" charset="0"/>
              <a:ea typeface="黑体" panose="02010609060101010101" pitchFamily="49" charset="-122"/>
            </a:endParaRPr>
          </a:p>
          <a:p>
            <a:pPr>
              <a:lnSpc>
                <a:spcPct val="120000"/>
              </a:lnSpc>
              <a:spcBef>
                <a:spcPts val="1200"/>
              </a:spcBef>
              <a:spcAft>
                <a:spcPts val="0"/>
              </a:spcAft>
              <a:buFontTx/>
              <a:buNone/>
            </a:pPr>
            <a:r>
              <a:rPr lang="en-US" altLang="zh-CN" sz="2200" kern="0" dirty="0">
                <a:latin typeface="Times New Roman" panose="02020603050405020304" pitchFamily="18" charset="0"/>
                <a:ea typeface="黑体" panose="02010609060101010101" pitchFamily="49" charset="-122"/>
              </a:rPr>
              <a:t>     </a:t>
            </a:r>
            <a:r>
              <a:rPr lang="el-GR" altLang="zh-CN" sz="2200" kern="0" dirty="0">
                <a:latin typeface="Times New Roman" panose="02020603050405020304" pitchFamily="18" charset="0"/>
                <a:ea typeface="黑体" panose="02010609060101010101" pitchFamily="49" charset="-122"/>
              </a:rPr>
              <a:t>μ</a:t>
            </a:r>
            <a:r>
              <a:rPr lang="en-US" altLang="zh-CN" sz="2200" kern="0" baseline="-25000" dirty="0">
                <a:latin typeface="Times New Roman" panose="02020603050405020304" pitchFamily="18" charset="0"/>
                <a:ea typeface="黑体" panose="02010609060101010101" pitchFamily="49" charset="-122"/>
              </a:rPr>
              <a:t>1</a:t>
            </a:r>
            <a:r>
              <a:rPr lang="en-US" altLang="zh-CN" sz="2200" kern="0" dirty="0">
                <a:latin typeface="Times New Roman" panose="02020603050405020304" pitchFamily="18" charset="0"/>
                <a:ea typeface="黑体" panose="02010609060101010101" pitchFamily="49" charset="-122"/>
              </a:rPr>
              <a:t>(3,5)</a:t>
            </a:r>
            <a:r>
              <a:rPr lang="zh-CN" altLang="en-US" sz="2200" kern="0" dirty="0">
                <a:latin typeface="Times New Roman" panose="02020603050405020304" pitchFamily="18" charset="0"/>
                <a:ea typeface="黑体" panose="02010609060101010101" pitchFamily="49" charset="-122"/>
              </a:rPr>
              <a:t>，</a:t>
            </a:r>
            <a:r>
              <a:rPr lang="el-GR" altLang="zh-CN" sz="2200" kern="0" dirty="0">
                <a:latin typeface="Times New Roman" panose="02020603050405020304" pitchFamily="18" charset="0"/>
                <a:ea typeface="黑体" panose="02010609060101010101" pitchFamily="49" charset="-122"/>
              </a:rPr>
              <a:t>μ</a:t>
            </a:r>
            <a:r>
              <a:rPr lang="en-US" altLang="zh-CN" sz="2200" kern="0" baseline="-25000" dirty="0">
                <a:latin typeface="Times New Roman" panose="02020603050405020304" pitchFamily="18" charset="0"/>
                <a:ea typeface="黑体" panose="02010609060101010101" pitchFamily="49" charset="-122"/>
              </a:rPr>
              <a:t>2</a:t>
            </a:r>
            <a:r>
              <a:rPr lang="en-US" altLang="zh-CN" sz="2200" kern="0" dirty="0">
                <a:latin typeface="Times New Roman" panose="02020603050405020304" pitchFamily="18" charset="0"/>
                <a:ea typeface="黑体" panose="02010609060101010101" pitchFamily="49" charset="-122"/>
              </a:rPr>
              <a:t>(5,3)</a:t>
            </a:r>
            <a:r>
              <a:rPr lang="zh-CN" altLang="en-US" sz="2200" kern="0" dirty="0">
                <a:latin typeface="Times New Roman" panose="02020603050405020304" pitchFamily="18" charset="0"/>
                <a:ea typeface="黑体" panose="02010609060101010101" pitchFamily="49" charset="-122"/>
              </a:rPr>
              <a:t>，</a:t>
            </a:r>
            <a:r>
              <a:rPr lang="en-US" altLang="zh-CN" sz="2200" kern="0" dirty="0">
                <a:latin typeface="Times New Roman" panose="02020603050405020304" pitchFamily="18" charset="0"/>
                <a:ea typeface="黑体" panose="02010609060101010101" pitchFamily="49" charset="-122"/>
              </a:rPr>
              <a:t> σ</a:t>
            </a:r>
            <a:r>
              <a:rPr lang="en-US" altLang="zh-CN" sz="2200" kern="0" baseline="30000" dirty="0">
                <a:latin typeface="Times New Roman" panose="02020603050405020304" pitchFamily="18" charset="0"/>
                <a:ea typeface="黑体" panose="02010609060101010101" pitchFamily="49" charset="-122"/>
              </a:rPr>
              <a:t>2</a:t>
            </a:r>
            <a:r>
              <a:rPr lang="en-US" altLang="zh-CN" sz="2200" kern="0" dirty="0">
                <a:latin typeface="Times New Roman" panose="02020603050405020304" pitchFamily="18" charset="0"/>
                <a:ea typeface="黑体" panose="02010609060101010101" pitchFamily="49" charset="-122"/>
              </a:rPr>
              <a:t>=0.5</a:t>
            </a:r>
            <a:r>
              <a:rPr lang="zh-CN" altLang="en-US" sz="2200" kern="0" dirty="0">
                <a:latin typeface="Times New Roman" panose="02020603050405020304" pitchFamily="18" charset="0"/>
                <a:ea typeface="黑体" panose="02010609060101010101" pitchFamily="49" charset="-122"/>
              </a:rPr>
              <a:t>，</a:t>
            </a:r>
            <a:r>
              <a:rPr lang="en-US" altLang="zh-CN" sz="2200" kern="0" dirty="0">
                <a:latin typeface="Times New Roman" panose="02020603050405020304" pitchFamily="18" charset="0"/>
                <a:ea typeface="黑体" panose="02010609060101010101" pitchFamily="49" charset="-122"/>
              </a:rPr>
              <a:t>P(</a:t>
            </a:r>
            <a:r>
              <a:rPr lang="en-US" altLang="zh-CN" sz="2200" i="1" kern="0" dirty="0">
                <a:latin typeface="Times New Roman" panose="02020603050405020304" pitchFamily="18" charset="0"/>
                <a:ea typeface="黑体" panose="02010609060101010101" pitchFamily="49" charset="-122"/>
              </a:rPr>
              <a:t>w</a:t>
            </a:r>
            <a:r>
              <a:rPr lang="en-US" altLang="zh-CN" sz="2200" kern="0" baseline="-25000" dirty="0">
                <a:latin typeface="Times New Roman" panose="02020603050405020304" pitchFamily="18" charset="0"/>
                <a:ea typeface="黑体" panose="02010609060101010101" pitchFamily="49" charset="-122"/>
              </a:rPr>
              <a:t>1</a:t>
            </a:r>
            <a:r>
              <a:rPr lang="en-US" altLang="zh-CN" sz="2200" kern="0" dirty="0">
                <a:latin typeface="Times New Roman" panose="02020603050405020304" pitchFamily="18" charset="0"/>
                <a:ea typeface="黑体" panose="02010609060101010101" pitchFamily="49" charset="-122"/>
              </a:rPr>
              <a:t>)=P(</a:t>
            </a:r>
            <a:r>
              <a:rPr lang="en-US" altLang="zh-CN" sz="2200" i="1" kern="0" dirty="0">
                <a:latin typeface="Times New Roman" panose="02020603050405020304" pitchFamily="18" charset="0"/>
                <a:ea typeface="黑体" panose="02010609060101010101" pitchFamily="49" charset="-122"/>
              </a:rPr>
              <a:t>w</a:t>
            </a:r>
            <a:r>
              <a:rPr lang="en-US" altLang="zh-CN" sz="2200" kern="0" baseline="-25000" dirty="0">
                <a:latin typeface="Times New Roman" panose="02020603050405020304" pitchFamily="18" charset="0"/>
                <a:ea typeface="黑体" panose="02010609060101010101" pitchFamily="49" charset="-122"/>
              </a:rPr>
              <a:t>2</a:t>
            </a:r>
            <a:r>
              <a:rPr lang="en-US" altLang="zh-CN" sz="2200" kern="0" dirty="0">
                <a:latin typeface="Times New Roman" panose="02020603050405020304" pitchFamily="18" charset="0"/>
                <a:ea typeface="黑体" panose="02010609060101010101" pitchFamily="49" charset="-122"/>
              </a:rPr>
              <a:t>)=0.5</a:t>
            </a:r>
          </a:p>
          <a:p>
            <a:pPr>
              <a:lnSpc>
                <a:spcPct val="120000"/>
              </a:lnSpc>
              <a:spcBef>
                <a:spcPts val="0"/>
              </a:spcBef>
              <a:buFontTx/>
              <a:buNone/>
            </a:pPr>
            <a:endParaRPr lang="en-US" altLang="zh-CN" sz="2200" kern="0" dirty="0">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60</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052736"/>
            <a:ext cx="736611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正态分布概率模型下的最小错误率贝叶斯决策</a:t>
            </a:r>
          </a:p>
        </p:txBody>
      </p:sp>
      <p:sp>
        <p:nvSpPr>
          <p:cNvPr id="11" name="Rectangle 3"/>
          <p:cNvSpPr txBox="1">
            <a:spLocks noChangeArrowheads="1"/>
          </p:cNvSpPr>
          <p:nvPr/>
        </p:nvSpPr>
        <p:spPr bwMode="gray">
          <a:xfrm>
            <a:off x="352694" y="1585368"/>
            <a:ext cx="1710858" cy="6367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20000"/>
              </a:lnSpc>
              <a:spcBef>
                <a:spcPts val="0"/>
              </a:spcBef>
              <a:buFontTx/>
              <a:buNone/>
            </a:pPr>
            <a:r>
              <a:rPr lang="en-US" altLang="zh-CN" b="1" kern="0" dirty="0">
                <a:solidFill>
                  <a:srgbClr val="FF0000"/>
                </a:solidFill>
                <a:latin typeface="Times New Roman" panose="02020603050405020304" pitchFamily="18" charset="0"/>
                <a:ea typeface="黑体" panose="02010609060101010101" pitchFamily="49" charset="-122"/>
              </a:rPr>
              <a:t>⑴ </a:t>
            </a:r>
            <a:r>
              <a:rPr lang="en-US" altLang="zh-CN" b="1" kern="0" dirty="0" err="1">
                <a:solidFill>
                  <a:srgbClr val="FF0000"/>
                </a:solidFill>
                <a:latin typeface="Times New Roman" panose="02020603050405020304" pitchFamily="18" charset="0"/>
                <a:ea typeface="黑体" panose="02010609060101010101" pitchFamily="49" charset="-122"/>
              </a:rPr>
              <a:t>Σ</a:t>
            </a:r>
            <a:r>
              <a:rPr lang="en-US" altLang="zh-CN" b="1" kern="0" baseline="-25000" dirty="0" err="1">
                <a:solidFill>
                  <a:srgbClr val="FF0000"/>
                </a:solidFill>
                <a:latin typeface="Times New Roman" panose="02020603050405020304" pitchFamily="18" charset="0"/>
                <a:ea typeface="黑体" panose="02010609060101010101" pitchFamily="49" charset="-122"/>
              </a:rPr>
              <a:t>i</a:t>
            </a:r>
            <a:r>
              <a:rPr lang="en-US" altLang="zh-CN" b="1" kern="0" dirty="0">
                <a:solidFill>
                  <a:srgbClr val="FF0000"/>
                </a:solidFill>
                <a:latin typeface="Times New Roman" panose="02020603050405020304" pitchFamily="18" charset="0"/>
                <a:ea typeface="黑体" panose="02010609060101010101" pitchFamily="49" charset="-122"/>
              </a:rPr>
              <a:t>=</a:t>
            </a:r>
            <a:r>
              <a:rPr lang="el-GR" altLang="zh-CN" b="1" kern="0" dirty="0">
                <a:solidFill>
                  <a:srgbClr val="FF0000"/>
                </a:solidFill>
                <a:latin typeface="Times New Roman" panose="02020603050405020304" pitchFamily="18" charset="0"/>
                <a:ea typeface="黑体" panose="02010609060101010101" pitchFamily="49" charset="-122"/>
              </a:rPr>
              <a:t>σ</a:t>
            </a:r>
            <a:r>
              <a:rPr lang="en-US" altLang="zh-CN" b="1" kern="0" baseline="30000" dirty="0">
                <a:solidFill>
                  <a:srgbClr val="FF0000"/>
                </a:solidFill>
                <a:latin typeface="Times New Roman" panose="02020603050405020304" pitchFamily="18" charset="0"/>
                <a:ea typeface="黑体" panose="02010609060101010101" pitchFamily="49" charset="-122"/>
              </a:rPr>
              <a:t>2</a:t>
            </a:r>
            <a:r>
              <a:rPr lang="en-US" altLang="zh-CN" b="1" kern="0" dirty="0">
                <a:solidFill>
                  <a:srgbClr val="FF0000"/>
                </a:solidFill>
                <a:latin typeface="Times New Roman" panose="02020603050405020304" pitchFamily="18" charset="0"/>
                <a:ea typeface="黑体" panose="02010609060101010101" pitchFamily="49" charset="-122"/>
              </a:rPr>
              <a:t>I</a:t>
            </a:r>
          </a:p>
        </p:txBody>
      </p:sp>
      <p:sp>
        <p:nvSpPr>
          <p:cNvPr id="18" name="Rectangle 2"/>
          <p:cNvSpPr>
            <a:spLocks noGrp="1" noChangeArrowheads="1"/>
          </p:cNvSpPr>
          <p:nvPr>
            <p:ph type="title" idx="4294967295"/>
          </p:nvPr>
        </p:nvSpPr>
        <p:spPr bwMode="auto">
          <a:xfrm>
            <a:off x="0" y="274638"/>
            <a:ext cx="8229600" cy="1143000"/>
          </a:xfrm>
          <a:noFill/>
          <a:ln>
            <a:miter lim="800000"/>
            <a:headEnd/>
            <a:tailEnd/>
          </a:ln>
        </p:spPr>
        <p:txBody>
          <a:bodyPr vert="horz" wrap="square" lIns="91440" tIns="45720" rIns="91440" bIns="45720" numCol="1" anchor="t" anchorCtr="0" compatLnSpc="1">
            <a:prstTxWarp prst="textNoShape">
              <a:avLst/>
            </a:prstTxWarp>
          </a:bodyPr>
          <a:lstStyle/>
          <a:p>
            <a:r>
              <a:rPr lang="en-US" altLang="zh-CN" sz="4000"/>
              <a:t>    </a:t>
            </a:r>
          </a:p>
        </p:txBody>
      </p:sp>
      <p:sp>
        <p:nvSpPr>
          <p:cNvPr id="19" name="Rectangle 3"/>
          <p:cNvSpPr txBox="1">
            <a:spLocks noChangeArrowheads="1"/>
          </p:cNvSpPr>
          <p:nvPr/>
        </p:nvSpPr>
        <p:spPr bwMode="gray">
          <a:xfrm>
            <a:off x="357158" y="2204864"/>
            <a:ext cx="11427474" cy="5159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lnSpc>
                <a:spcPct val="130000"/>
              </a:lnSpc>
              <a:spcBef>
                <a:spcPts val="0"/>
              </a:spcBef>
              <a:buNone/>
            </a:pPr>
            <a:r>
              <a:rPr lang="zh-CN" altLang="en-US" sz="2200" kern="0" dirty="0">
                <a:solidFill>
                  <a:srgbClr val="FF6600"/>
                </a:solidFill>
                <a:latin typeface="Times New Roman" panose="02020603050405020304" pitchFamily="18" charset="0"/>
                <a:ea typeface="黑体" panose="02010609060101010101" pitchFamily="49" charset="-122"/>
              </a:rPr>
              <a:t>决策面方程：</a:t>
            </a:r>
            <a:endParaRPr lang="en-US" altLang="zh-CN" sz="2200" kern="0" dirty="0">
              <a:solidFill>
                <a:srgbClr val="FF6600"/>
              </a:solidFill>
              <a:latin typeface="Times New Roman" panose="02020603050405020304" pitchFamily="18" charset="0"/>
              <a:ea typeface="黑体" panose="02010609060101010101" pitchFamily="49" charset="-122"/>
            </a:endParaRPr>
          </a:p>
        </p:txBody>
      </p:sp>
      <mc:AlternateContent xmlns:mc="http://schemas.openxmlformats.org/markup-compatibility/2006">
        <mc:Choice xmlns:a14="http://schemas.microsoft.com/office/drawing/2010/main" Requires="a14">
          <p:sp>
            <p:nvSpPr>
              <p:cNvPr id="22" name="Object 5"/>
              <p:cNvSpPr txBox="1"/>
              <p:nvPr/>
            </p:nvSpPr>
            <p:spPr bwMode="auto">
              <a:xfrm>
                <a:off x="4521200" y="2124075"/>
                <a:ext cx="5843588" cy="777875"/>
              </a:xfrm>
              <a:prstGeom prst="rect">
                <a:avLst/>
              </a:prstGeom>
              <a:noFill/>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其中，</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𝑊</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𝜎</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r>
                            <a:rPr lang="en-US" altLang="zh-CN" i="1" baseline="30000">
                              <a:solidFill>
                                <a:srgbClr val="000000"/>
                              </a:solidFill>
                              <a:latin typeface="Cambria Math" panose="02040503050406030204" pitchFamily="18" charset="0"/>
                            </a:rPr>
                            <m:t>2</m:t>
                          </m:r>
                        </m:den>
                      </m:f>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ln</m:t>
                          </m:r>
                        </m:fName>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den>
                          </m:f>
                        </m:e>
                      </m:func>
                    </m:oMath>
                  </m:oMathPara>
                </a14:m>
                <a:endParaRPr lang="zh-CN" altLang="en-US" dirty="0"/>
              </a:p>
            </p:txBody>
          </p:sp>
        </mc:Choice>
        <mc:Fallback>
          <p:sp>
            <p:nvSpPr>
              <p:cNvPr id="22" name="Object 5"/>
              <p:cNvSpPr txBox="1">
                <a:spLocks noRot="1" noChangeAspect="1" noMove="1" noResize="1" noEditPoints="1" noAdjustHandles="1" noChangeArrowheads="1" noChangeShapeType="1" noTextEdit="1"/>
              </p:cNvSpPr>
              <p:nvPr/>
            </p:nvSpPr>
            <p:spPr bwMode="auto">
              <a:xfrm>
                <a:off x="4521200" y="2124075"/>
                <a:ext cx="5843588" cy="777875"/>
              </a:xfrm>
              <a:prstGeom prst="rect">
                <a:avLst/>
              </a:prstGeom>
              <a:blipFill>
                <a:blip r:embed="rId4"/>
                <a:stretch>
                  <a:fillRect/>
                </a:stretch>
              </a:blipFill>
              <a:extLst/>
            </p:spPr>
            <p:txBody>
              <a:bodyPr/>
              <a:lstStyle/>
              <a:p>
                <a:r>
                  <a:rPr lang="zh-CN" altLang="en-US">
                    <a:noFill/>
                  </a:rPr>
                  <a:t> </a:t>
                </a:r>
              </a:p>
            </p:txBody>
          </p:sp>
        </mc:Fallback>
      </mc:AlternateContent>
      <p:graphicFrame>
        <p:nvGraphicFramePr>
          <p:cNvPr id="23" name="Object 9"/>
          <p:cNvGraphicFramePr>
            <a:graphicFrameLocks noChangeAspect="1"/>
          </p:cNvGraphicFramePr>
          <p:nvPr>
            <p:extLst>
              <p:ext uri="{D42A27DB-BD31-4B8C-83A1-F6EECF244321}">
                <p14:modId xmlns:p14="http://schemas.microsoft.com/office/powerpoint/2010/main" val="3014510603"/>
              </p:ext>
            </p:extLst>
          </p:nvPr>
        </p:nvGraphicFramePr>
        <p:xfrm>
          <a:off x="2286481" y="2212816"/>
          <a:ext cx="1947625" cy="500066"/>
        </p:xfrm>
        <a:graphic>
          <a:graphicData uri="http://schemas.openxmlformats.org/presentationml/2006/ole">
            <mc:AlternateContent xmlns:mc="http://schemas.openxmlformats.org/markup-compatibility/2006">
              <mc:Choice xmlns:v="urn:schemas-microsoft-com:vml" Requires="v">
                <p:oleObj spid="_x0000_s62690" name="Equation" r:id="rId5" imgW="939392" imgH="241195" progId="Equation.DSMT4">
                  <p:embed/>
                </p:oleObj>
              </mc:Choice>
              <mc:Fallback>
                <p:oleObj name="Equation" r:id="rId5" imgW="939392" imgH="241195" progId="Equation.DSMT4">
                  <p:embed/>
                  <p:pic>
                    <p:nvPicPr>
                      <p:cNvPr id="0" name="Picture 2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481" y="2212816"/>
                        <a:ext cx="1947625" cy="500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矩形 3"/>
          <p:cNvSpPr/>
          <p:nvPr/>
        </p:nvSpPr>
        <p:spPr>
          <a:xfrm>
            <a:off x="2250663" y="2265232"/>
            <a:ext cx="6184021" cy="1192089"/>
          </a:xfrm>
          <a:prstGeom prst="rect">
            <a:avLst/>
          </a:prstGeom>
          <a:ln w="31750">
            <a:noFill/>
          </a:ln>
        </p:spPr>
        <p:txBody>
          <a:bodyPr wrap="square" rtlCol="0" anchor="ctr">
            <a:spAutoFit/>
          </a:bodyPr>
          <a:lstStyle/>
          <a:p>
            <a:pPr algn="ctr"/>
            <a:endParaRPr lang="zh-CN" altLang="en-US" sz="2400" kern="100" dirty="0">
              <a:ea typeface="宋体"/>
              <a:cs typeface="Times New Roman"/>
            </a:endParaRPr>
          </a:p>
        </p:txBody>
      </p:sp>
      <p:pic>
        <p:nvPicPr>
          <p:cNvPr id="27" name="Picture 12" descr="D:\文书工作\讲课\本科教学\MATLAB\show_18_5.bmp"/>
          <p:cNvPicPr>
            <a:picLocks noChangeArrowheads="1"/>
          </p:cNvPicPr>
          <p:nvPr/>
        </p:nvPicPr>
        <p:blipFill>
          <a:blip r:embed="rId7"/>
          <a:srcRect/>
          <a:stretch>
            <a:fillRect/>
          </a:stretch>
        </p:blipFill>
        <p:spPr bwMode="auto">
          <a:xfrm>
            <a:off x="7997535" y="2880945"/>
            <a:ext cx="3698169" cy="3428375"/>
          </a:xfrm>
          <a:prstGeom prst="rect">
            <a:avLst/>
          </a:prstGeom>
          <a:noFill/>
        </p:spPr>
      </p:pic>
      <p:graphicFrame>
        <p:nvGraphicFramePr>
          <p:cNvPr id="36" name="Object 5"/>
          <p:cNvGraphicFramePr>
            <a:graphicFrameLocks noChangeAspect="1"/>
          </p:cNvGraphicFramePr>
          <p:nvPr>
            <p:extLst>
              <p:ext uri="{D42A27DB-BD31-4B8C-83A1-F6EECF244321}">
                <p14:modId xmlns:p14="http://schemas.microsoft.com/office/powerpoint/2010/main" val="643767301"/>
              </p:ext>
            </p:extLst>
          </p:nvPr>
        </p:nvGraphicFramePr>
        <p:xfrm>
          <a:off x="5160310" y="2810814"/>
          <a:ext cx="1727778" cy="693056"/>
        </p:xfrm>
        <a:graphic>
          <a:graphicData uri="http://schemas.openxmlformats.org/presentationml/2006/ole">
            <mc:AlternateContent xmlns:mc="http://schemas.openxmlformats.org/markup-compatibility/2006">
              <mc:Choice xmlns:v="urn:schemas-microsoft-com:vml" Requires="v">
                <p:oleObj spid="_x0000_s62691" name="Equation" r:id="rId8" imgW="990170" imgH="393529" progId="Equation.DSMT4">
                  <p:embed/>
                </p:oleObj>
              </mc:Choice>
              <mc:Fallback>
                <p:oleObj name="Equation" r:id="rId8" imgW="990170" imgH="393529" progId="Equation.DSMT4">
                  <p:embed/>
                  <p:pic>
                    <p:nvPicPr>
                      <p:cNvPr id="0" name="Picture 2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60310" y="2810814"/>
                        <a:ext cx="1727778" cy="693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Object 3"/>
          <p:cNvGraphicFramePr>
            <a:graphicFrameLocks noChangeAspect="1"/>
          </p:cNvGraphicFramePr>
          <p:nvPr>
            <p:extLst>
              <p:ext uri="{D42A27DB-BD31-4B8C-83A1-F6EECF244321}">
                <p14:modId xmlns:p14="http://schemas.microsoft.com/office/powerpoint/2010/main" val="3428023177"/>
              </p:ext>
            </p:extLst>
          </p:nvPr>
        </p:nvGraphicFramePr>
        <p:xfrm>
          <a:off x="2892509" y="2965410"/>
          <a:ext cx="1629135" cy="429911"/>
        </p:xfrm>
        <a:graphic>
          <a:graphicData uri="http://schemas.openxmlformats.org/presentationml/2006/ole">
            <mc:AlternateContent xmlns:mc="http://schemas.openxmlformats.org/markup-compatibility/2006">
              <mc:Choice xmlns:v="urn:schemas-microsoft-com:vml" Requires="v">
                <p:oleObj spid="_x0000_s62692" name="Equation" r:id="rId10" imgW="914400" imgH="241300" progId="Equation.DSMT4">
                  <p:embed/>
                </p:oleObj>
              </mc:Choice>
              <mc:Fallback>
                <p:oleObj name="Equation" r:id="rId10" imgW="914400" imgH="241300" progId="Equation.DSMT4">
                  <p:embed/>
                  <p:pic>
                    <p:nvPicPr>
                      <p:cNvPr id="0" name="Picture 2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92509" y="2965410"/>
                        <a:ext cx="1629135" cy="4299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184179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3"/>
          <p:cNvSpPr txBox="1">
            <a:spLocks noChangeArrowheads="1"/>
          </p:cNvSpPr>
          <p:nvPr/>
        </p:nvSpPr>
        <p:spPr bwMode="gray">
          <a:xfrm>
            <a:off x="352694" y="2909868"/>
            <a:ext cx="8081990" cy="10489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nSpc>
                <a:spcPct val="120000"/>
              </a:lnSpc>
              <a:spcBef>
                <a:spcPts val="0"/>
              </a:spcBef>
              <a:buNone/>
            </a:pPr>
            <a:r>
              <a:rPr lang="zh-CN" altLang="en-US" sz="2200" kern="0" dirty="0">
                <a:latin typeface="微软雅黑" panose="020B0503020204020204" pitchFamily="34" charset="-122"/>
                <a:ea typeface="微软雅黑" panose="020B0503020204020204" pitchFamily="34" charset="-122"/>
              </a:rPr>
              <a:t>① </a:t>
            </a:r>
            <a:r>
              <a:rPr lang="zh-CN" altLang="en-US" sz="2200" kern="0" dirty="0">
                <a:latin typeface="Times New Roman" panose="02020603050405020304" pitchFamily="18" charset="0"/>
                <a:ea typeface="黑体" panose="02010609060101010101" pitchFamily="49" charset="-122"/>
              </a:rPr>
              <a:t>若先验概率相等                         ，则  </a:t>
            </a:r>
            <a:endParaRPr lang="en-US" altLang="zh-CN" sz="2200" kern="0" dirty="0">
              <a:latin typeface="Times New Roman" panose="02020603050405020304" pitchFamily="18" charset="0"/>
              <a:ea typeface="黑体" panose="02010609060101010101" pitchFamily="49" charset="-122"/>
            </a:endParaRPr>
          </a:p>
          <a:p>
            <a:pPr>
              <a:lnSpc>
                <a:spcPct val="120000"/>
              </a:lnSpc>
              <a:spcBef>
                <a:spcPts val="600"/>
              </a:spcBef>
              <a:buNone/>
            </a:pPr>
            <a:r>
              <a:rPr lang="zh-CN" altLang="en-US" sz="2200" kern="0" dirty="0">
                <a:latin typeface="Times New Roman" panose="02020603050405020304" pitchFamily="18" charset="0"/>
                <a:ea typeface="黑体" panose="02010609060101010101" pitchFamily="49" charset="-122"/>
              </a:rPr>
              <a:t>     超平面通过 </a:t>
            </a:r>
            <a:r>
              <a:rPr lang="el-GR" altLang="zh-CN" sz="2200" kern="0" dirty="0">
                <a:latin typeface="Times New Roman" panose="02020603050405020304" pitchFamily="18" charset="0"/>
                <a:ea typeface="黑体" panose="02010609060101010101" pitchFamily="49" charset="-122"/>
              </a:rPr>
              <a:t>μ</a:t>
            </a:r>
            <a:r>
              <a:rPr lang="en-US" altLang="zh-CN" sz="2200" kern="0" baseline="-25000" dirty="0" err="1">
                <a:latin typeface="Times New Roman" panose="02020603050405020304" pitchFamily="18" charset="0"/>
                <a:ea typeface="黑体" panose="02010609060101010101" pitchFamily="49" charset="-122"/>
              </a:rPr>
              <a:t>i</a:t>
            </a:r>
            <a:r>
              <a:rPr lang="en-US" altLang="zh-CN" sz="2200" kern="0" baseline="-25000" dirty="0">
                <a:latin typeface="Times New Roman" panose="02020603050405020304" pitchFamily="18" charset="0"/>
                <a:ea typeface="黑体" panose="02010609060101010101" pitchFamily="49" charset="-122"/>
              </a:rPr>
              <a:t> </a:t>
            </a:r>
            <a:r>
              <a:rPr lang="zh-CN" altLang="en-US" sz="2200" kern="0" dirty="0">
                <a:latin typeface="Times New Roman" panose="02020603050405020304" pitchFamily="18" charset="0"/>
                <a:ea typeface="黑体" panose="02010609060101010101" pitchFamily="49" charset="-122"/>
              </a:rPr>
              <a:t>与 </a:t>
            </a:r>
            <a:r>
              <a:rPr lang="el-GR" altLang="zh-CN" sz="2200" kern="0" dirty="0">
                <a:latin typeface="Times New Roman" panose="02020603050405020304" pitchFamily="18" charset="0"/>
                <a:ea typeface="黑体" panose="02010609060101010101" pitchFamily="49" charset="-122"/>
              </a:rPr>
              <a:t>μ</a:t>
            </a:r>
            <a:r>
              <a:rPr lang="en-US" altLang="zh-CN" sz="2200" kern="0" baseline="-25000" dirty="0">
                <a:latin typeface="Times New Roman" panose="02020603050405020304" pitchFamily="18" charset="0"/>
                <a:ea typeface="黑体" panose="02010609060101010101" pitchFamily="49" charset="-122"/>
              </a:rPr>
              <a:t>j </a:t>
            </a:r>
            <a:r>
              <a:rPr lang="zh-CN" altLang="en-US" sz="2200" kern="0" dirty="0">
                <a:latin typeface="Times New Roman" panose="02020603050405020304" pitchFamily="18" charset="0"/>
                <a:ea typeface="黑体" panose="02010609060101010101" pitchFamily="49" charset="-122"/>
              </a:rPr>
              <a:t>联线的</a:t>
            </a:r>
            <a:r>
              <a:rPr lang="zh-CN" altLang="en-US" sz="2200" kern="0" dirty="0">
                <a:solidFill>
                  <a:srgbClr val="FF0000"/>
                </a:solidFill>
                <a:latin typeface="Times New Roman" panose="02020603050405020304" pitchFamily="18" charset="0"/>
                <a:ea typeface="黑体" panose="02010609060101010101" pitchFamily="49" charset="-122"/>
              </a:rPr>
              <a:t>中点 </a:t>
            </a:r>
            <a:r>
              <a:rPr lang="en-US" altLang="zh-CN" sz="2200" i="1" kern="0" dirty="0">
                <a:latin typeface="Times New Roman" panose="02020603050405020304" pitchFamily="18" charset="0"/>
                <a:ea typeface="黑体" panose="02010609060101010101" pitchFamily="49" charset="-122"/>
              </a:rPr>
              <a:t>x</a:t>
            </a:r>
            <a:r>
              <a:rPr lang="en-US" altLang="zh-CN" sz="2000" baseline="-25000" dirty="0">
                <a:latin typeface="+mj-ea"/>
              </a:rPr>
              <a:t>0</a:t>
            </a:r>
            <a:r>
              <a:rPr lang="zh-CN" altLang="en-US" sz="2200" kern="0" dirty="0">
                <a:latin typeface="Times New Roman" panose="02020603050405020304" pitchFamily="18" charset="0"/>
                <a:ea typeface="黑体" panose="02010609060101010101" pitchFamily="49" charset="-122"/>
              </a:rPr>
              <a:t>，且与联线正交。</a:t>
            </a:r>
            <a:endParaRPr lang="en-US" altLang="zh-CN" sz="2200" kern="0" dirty="0">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61</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052736"/>
            <a:ext cx="736611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正态分布概率模型下的最小错误率贝叶斯决策</a:t>
            </a:r>
          </a:p>
        </p:txBody>
      </p:sp>
      <p:sp>
        <p:nvSpPr>
          <p:cNvPr id="11" name="Rectangle 3"/>
          <p:cNvSpPr txBox="1">
            <a:spLocks noChangeArrowheads="1"/>
          </p:cNvSpPr>
          <p:nvPr/>
        </p:nvSpPr>
        <p:spPr bwMode="gray">
          <a:xfrm>
            <a:off x="352694" y="1585368"/>
            <a:ext cx="1710858" cy="6367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20000"/>
              </a:lnSpc>
              <a:spcBef>
                <a:spcPts val="0"/>
              </a:spcBef>
              <a:buFontTx/>
              <a:buNone/>
            </a:pPr>
            <a:r>
              <a:rPr lang="en-US" altLang="zh-CN" b="1" kern="0" dirty="0">
                <a:solidFill>
                  <a:srgbClr val="FF0000"/>
                </a:solidFill>
                <a:latin typeface="Times New Roman" panose="02020603050405020304" pitchFamily="18" charset="0"/>
                <a:ea typeface="黑体" panose="02010609060101010101" pitchFamily="49" charset="-122"/>
              </a:rPr>
              <a:t>⑴ </a:t>
            </a:r>
            <a:r>
              <a:rPr lang="en-US" altLang="zh-CN" b="1" kern="0" dirty="0" err="1">
                <a:solidFill>
                  <a:srgbClr val="FF0000"/>
                </a:solidFill>
                <a:latin typeface="Times New Roman" panose="02020603050405020304" pitchFamily="18" charset="0"/>
                <a:ea typeface="黑体" panose="02010609060101010101" pitchFamily="49" charset="-122"/>
              </a:rPr>
              <a:t>Σ</a:t>
            </a:r>
            <a:r>
              <a:rPr lang="en-US" altLang="zh-CN" b="1" kern="0" baseline="-25000" dirty="0" err="1">
                <a:solidFill>
                  <a:srgbClr val="FF0000"/>
                </a:solidFill>
                <a:latin typeface="Times New Roman" panose="02020603050405020304" pitchFamily="18" charset="0"/>
                <a:ea typeface="黑体" panose="02010609060101010101" pitchFamily="49" charset="-122"/>
              </a:rPr>
              <a:t>i</a:t>
            </a:r>
            <a:r>
              <a:rPr lang="en-US" altLang="zh-CN" b="1" kern="0" dirty="0">
                <a:solidFill>
                  <a:srgbClr val="FF0000"/>
                </a:solidFill>
                <a:latin typeface="Times New Roman" panose="02020603050405020304" pitchFamily="18" charset="0"/>
                <a:ea typeface="黑体" panose="02010609060101010101" pitchFamily="49" charset="-122"/>
              </a:rPr>
              <a:t>=</a:t>
            </a:r>
            <a:r>
              <a:rPr lang="el-GR" altLang="zh-CN" b="1" kern="0" dirty="0">
                <a:solidFill>
                  <a:srgbClr val="FF0000"/>
                </a:solidFill>
                <a:latin typeface="Times New Roman" panose="02020603050405020304" pitchFamily="18" charset="0"/>
                <a:ea typeface="黑体" panose="02010609060101010101" pitchFamily="49" charset="-122"/>
              </a:rPr>
              <a:t>σ</a:t>
            </a:r>
            <a:r>
              <a:rPr lang="en-US" altLang="zh-CN" b="1" kern="0" baseline="30000" dirty="0">
                <a:solidFill>
                  <a:srgbClr val="FF0000"/>
                </a:solidFill>
                <a:latin typeface="Times New Roman" panose="02020603050405020304" pitchFamily="18" charset="0"/>
                <a:ea typeface="黑体" panose="02010609060101010101" pitchFamily="49" charset="-122"/>
              </a:rPr>
              <a:t>2</a:t>
            </a:r>
            <a:r>
              <a:rPr lang="en-US" altLang="zh-CN" b="1" kern="0" dirty="0">
                <a:solidFill>
                  <a:srgbClr val="FF0000"/>
                </a:solidFill>
                <a:latin typeface="Times New Roman" panose="02020603050405020304" pitchFamily="18" charset="0"/>
                <a:ea typeface="黑体" panose="02010609060101010101" pitchFamily="49" charset="-122"/>
              </a:rPr>
              <a:t>I</a:t>
            </a:r>
          </a:p>
        </p:txBody>
      </p:sp>
      <p:sp>
        <p:nvSpPr>
          <p:cNvPr id="18" name="Rectangle 2"/>
          <p:cNvSpPr>
            <a:spLocks noGrp="1" noChangeArrowheads="1"/>
          </p:cNvSpPr>
          <p:nvPr>
            <p:ph type="title" idx="4294967295"/>
          </p:nvPr>
        </p:nvSpPr>
        <p:spPr bwMode="auto">
          <a:xfrm>
            <a:off x="0" y="274638"/>
            <a:ext cx="8229600" cy="1143000"/>
          </a:xfrm>
          <a:noFill/>
          <a:ln>
            <a:miter lim="800000"/>
            <a:headEnd/>
            <a:tailEnd/>
          </a:ln>
        </p:spPr>
        <p:txBody>
          <a:bodyPr vert="horz" wrap="square" lIns="91440" tIns="45720" rIns="91440" bIns="45720" numCol="1" anchor="t" anchorCtr="0" compatLnSpc="1">
            <a:prstTxWarp prst="textNoShape">
              <a:avLst/>
            </a:prstTxWarp>
          </a:bodyPr>
          <a:lstStyle/>
          <a:p>
            <a:r>
              <a:rPr lang="en-US" altLang="zh-CN" sz="4000"/>
              <a:t>    </a:t>
            </a:r>
          </a:p>
        </p:txBody>
      </p:sp>
      <p:sp>
        <p:nvSpPr>
          <p:cNvPr id="19" name="Rectangle 3"/>
          <p:cNvSpPr txBox="1">
            <a:spLocks noChangeArrowheads="1"/>
          </p:cNvSpPr>
          <p:nvPr/>
        </p:nvSpPr>
        <p:spPr bwMode="gray">
          <a:xfrm>
            <a:off x="357158" y="2204864"/>
            <a:ext cx="11427474" cy="5159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lnSpc>
                <a:spcPct val="130000"/>
              </a:lnSpc>
              <a:spcBef>
                <a:spcPts val="0"/>
              </a:spcBef>
              <a:buNone/>
            </a:pPr>
            <a:r>
              <a:rPr lang="zh-CN" altLang="en-US" sz="2200" kern="0" dirty="0">
                <a:solidFill>
                  <a:srgbClr val="FF6600"/>
                </a:solidFill>
                <a:latin typeface="Times New Roman" panose="02020603050405020304" pitchFamily="18" charset="0"/>
                <a:ea typeface="黑体" panose="02010609060101010101" pitchFamily="49" charset="-122"/>
              </a:rPr>
              <a:t>决策面方程：</a:t>
            </a:r>
            <a:endParaRPr lang="en-US" altLang="zh-CN" sz="2200" kern="0" dirty="0">
              <a:solidFill>
                <a:srgbClr val="FF6600"/>
              </a:solidFill>
              <a:latin typeface="Times New Roman" panose="02020603050405020304" pitchFamily="18" charset="0"/>
              <a:ea typeface="黑体" panose="02010609060101010101" pitchFamily="49" charset="-122"/>
            </a:endParaRPr>
          </a:p>
        </p:txBody>
      </p:sp>
      <mc:AlternateContent xmlns:mc="http://schemas.openxmlformats.org/markup-compatibility/2006">
        <mc:Choice xmlns:a14="http://schemas.microsoft.com/office/drawing/2010/main" Requires="a14">
          <p:sp>
            <p:nvSpPr>
              <p:cNvPr id="22" name="Object 5"/>
              <p:cNvSpPr txBox="1"/>
              <p:nvPr/>
            </p:nvSpPr>
            <p:spPr bwMode="auto">
              <a:xfrm>
                <a:off x="4521200" y="2124075"/>
                <a:ext cx="5843588" cy="777875"/>
              </a:xfrm>
              <a:prstGeom prst="rect">
                <a:avLst/>
              </a:prstGeom>
              <a:noFill/>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其中，</m:t>
                      </m:r>
                      <m:r>
                        <a:rPr lang="zh-CN" altLang="en-US" i="1" smtClean="0">
                          <a:solidFill>
                            <a:srgbClr val="000000"/>
                          </a:solidFill>
                          <a:latin typeface="Cambria Math" panose="02040503050406030204" pitchFamily="18" charset="0"/>
                        </a:rPr>
                        <m:t> ​</m:t>
                      </m:r>
                      <m:r>
                        <a:rPr lang="zh-CN" altLang="en-US" i="1" smtClean="0">
                          <a:solidFill>
                            <a:srgbClr val="000000"/>
                          </a:solidFill>
                          <a:latin typeface="Cambria Math" panose="02040503050406030204" pitchFamily="18" charset="0"/>
                        </a:rPr>
                        <m:t>𝑊</m:t>
                      </m:r>
                      <m:r>
                        <a:rPr lang="zh-CN" altLang="en-US" i="1" smtClean="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𝜎</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r>
                            <a:rPr lang="en-US" altLang="zh-CN" i="1" baseline="30000">
                              <a:solidFill>
                                <a:srgbClr val="000000"/>
                              </a:solidFill>
                              <a:latin typeface="Cambria Math" panose="02040503050406030204" pitchFamily="18" charset="0"/>
                            </a:rPr>
                            <m:t>2</m:t>
                          </m:r>
                        </m:den>
                      </m:f>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ln</m:t>
                          </m:r>
                        </m:fName>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den>
                          </m:f>
                        </m:e>
                      </m:func>
                    </m:oMath>
                  </m:oMathPara>
                </a14:m>
                <a:endParaRPr lang="zh-CN" altLang="en-US" dirty="0"/>
              </a:p>
            </p:txBody>
          </p:sp>
        </mc:Choice>
        <mc:Fallback>
          <p:sp>
            <p:nvSpPr>
              <p:cNvPr id="22" name="Object 5"/>
              <p:cNvSpPr txBox="1">
                <a:spLocks noRot="1" noChangeAspect="1" noMove="1" noResize="1" noEditPoints="1" noAdjustHandles="1" noChangeArrowheads="1" noChangeShapeType="1" noTextEdit="1"/>
              </p:cNvSpPr>
              <p:nvPr/>
            </p:nvSpPr>
            <p:spPr bwMode="auto">
              <a:xfrm>
                <a:off x="4521200" y="2124075"/>
                <a:ext cx="5843588" cy="777875"/>
              </a:xfrm>
              <a:prstGeom prst="rect">
                <a:avLst/>
              </a:prstGeom>
              <a:blipFill>
                <a:blip r:embed="rId4"/>
                <a:stretch>
                  <a:fillRect/>
                </a:stretch>
              </a:blipFill>
              <a:extLst/>
            </p:spPr>
            <p:txBody>
              <a:bodyPr/>
              <a:lstStyle/>
              <a:p>
                <a:r>
                  <a:rPr lang="zh-CN" altLang="en-US">
                    <a:noFill/>
                  </a:rPr>
                  <a:t> </a:t>
                </a:r>
              </a:p>
            </p:txBody>
          </p:sp>
        </mc:Fallback>
      </mc:AlternateContent>
      <p:graphicFrame>
        <p:nvGraphicFramePr>
          <p:cNvPr id="23" name="Object 9"/>
          <p:cNvGraphicFramePr>
            <a:graphicFrameLocks noChangeAspect="1"/>
          </p:cNvGraphicFramePr>
          <p:nvPr/>
        </p:nvGraphicFramePr>
        <p:xfrm>
          <a:off x="2286481" y="2212816"/>
          <a:ext cx="1947625" cy="500066"/>
        </p:xfrm>
        <a:graphic>
          <a:graphicData uri="http://schemas.openxmlformats.org/presentationml/2006/ole">
            <mc:AlternateContent xmlns:mc="http://schemas.openxmlformats.org/markup-compatibility/2006">
              <mc:Choice xmlns:v="urn:schemas-microsoft-com:vml" Requires="v">
                <p:oleObj spid="_x0000_s63820" name="Equation" r:id="rId5" imgW="939392" imgH="241195" progId="Equation.DSMT4">
                  <p:embed/>
                </p:oleObj>
              </mc:Choice>
              <mc:Fallback>
                <p:oleObj name="Equation" r:id="rId5" imgW="939392" imgH="241195" progId="Equation.DSMT4">
                  <p:embed/>
                  <p:pic>
                    <p:nvPicPr>
                      <p:cNvPr id="0" name="Picture 30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481" y="2212816"/>
                        <a:ext cx="1947625" cy="500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矩形 3"/>
          <p:cNvSpPr/>
          <p:nvPr/>
        </p:nvSpPr>
        <p:spPr>
          <a:xfrm>
            <a:off x="2250663" y="2265232"/>
            <a:ext cx="6184021" cy="1192089"/>
          </a:xfrm>
          <a:prstGeom prst="rect">
            <a:avLst/>
          </a:prstGeom>
          <a:ln w="31750">
            <a:noFill/>
          </a:ln>
        </p:spPr>
        <p:txBody>
          <a:bodyPr wrap="square" rtlCol="0" anchor="ctr">
            <a:spAutoFit/>
          </a:bodyPr>
          <a:lstStyle/>
          <a:p>
            <a:pPr algn="ctr"/>
            <a:endParaRPr lang="zh-CN" altLang="en-US" sz="2400" kern="100" dirty="0">
              <a:ea typeface="宋体"/>
              <a:cs typeface="Times New Roman"/>
            </a:endParaRPr>
          </a:p>
        </p:txBody>
      </p:sp>
      <p:pic>
        <p:nvPicPr>
          <p:cNvPr id="27" name="Picture 12" descr="D:\文书工作\讲课\本科教学\MATLAB\show_18_5.bmp"/>
          <p:cNvPicPr>
            <a:picLocks noChangeArrowheads="1"/>
          </p:cNvPicPr>
          <p:nvPr/>
        </p:nvPicPr>
        <p:blipFill>
          <a:blip r:embed="rId7"/>
          <a:srcRect/>
          <a:stretch>
            <a:fillRect/>
          </a:stretch>
        </p:blipFill>
        <p:spPr bwMode="auto">
          <a:xfrm>
            <a:off x="7997535" y="2880945"/>
            <a:ext cx="3698169" cy="3428375"/>
          </a:xfrm>
          <a:prstGeom prst="rect">
            <a:avLst/>
          </a:prstGeom>
          <a:noFill/>
        </p:spPr>
      </p:pic>
      <p:graphicFrame>
        <p:nvGraphicFramePr>
          <p:cNvPr id="36" name="Object 5"/>
          <p:cNvGraphicFramePr>
            <a:graphicFrameLocks noChangeAspect="1"/>
          </p:cNvGraphicFramePr>
          <p:nvPr/>
        </p:nvGraphicFramePr>
        <p:xfrm>
          <a:off x="5160310" y="2810814"/>
          <a:ext cx="1727778" cy="693056"/>
        </p:xfrm>
        <a:graphic>
          <a:graphicData uri="http://schemas.openxmlformats.org/presentationml/2006/ole">
            <mc:AlternateContent xmlns:mc="http://schemas.openxmlformats.org/markup-compatibility/2006">
              <mc:Choice xmlns:v="urn:schemas-microsoft-com:vml" Requires="v">
                <p:oleObj spid="_x0000_s63821" name="Equation" r:id="rId8" imgW="990170" imgH="393529" progId="Equation.DSMT4">
                  <p:embed/>
                </p:oleObj>
              </mc:Choice>
              <mc:Fallback>
                <p:oleObj name="Equation" r:id="rId8" imgW="990170" imgH="393529" progId="Equation.DSMT4">
                  <p:embed/>
                  <p:pic>
                    <p:nvPicPr>
                      <p:cNvPr id="0" name="Picture 3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60310" y="2810814"/>
                        <a:ext cx="1727778" cy="693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Object 3"/>
          <p:cNvGraphicFramePr>
            <a:graphicFrameLocks noChangeAspect="1"/>
          </p:cNvGraphicFramePr>
          <p:nvPr/>
        </p:nvGraphicFramePr>
        <p:xfrm>
          <a:off x="2892509" y="2965410"/>
          <a:ext cx="1629135" cy="429911"/>
        </p:xfrm>
        <a:graphic>
          <a:graphicData uri="http://schemas.openxmlformats.org/presentationml/2006/ole">
            <mc:AlternateContent xmlns:mc="http://schemas.openxmlformats.org/markup-compatibility/2006">
              <mc:Choice xmlns:v="urn:schemas-microsoft-com:vml" Requires="v">
                <p:oleObj spid="_x0000_s63822" name="Equation" r:id="rId10" imgW="914400" imgH="241300" progId="Equation.DSMT4">
                  <p:embed/>
                </p:oleObj>
              </mc:Choice>
              <mc:Fallback>
                <p:oleObj name="Equation" r:id="rId10" imgW="914400" imgH="241300" progId="Equation.DSMT4">
                  <p:embed/>
                  <p:pic>
                    <p:nvPicPr>
                      <p:cNvPr id="0" name="Picture 3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92509" y="2965410"/>
                        <a:ext cx="1629135" cy="4299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 name="Object 9"/>
          <p:cNvGraphicFramePr>
            <a:graphicFrameLocks noChangeAspect="1"/>
          </p:cNvGraphicFramePr>
          <p:nvPr>
            <p:extLst>
              <p:ext uri="{D42A27DB-BD31-4B8C-83A1-F6EECF244321}">
                <p14:modId xmlns:p14="http://schemas.microsoft.com/office/powerpoint/2010/main" val="1254588087"/>
              </p:ext>
            </p:extLst>
          </p:nvPr>
        </p:nvGraphicFramePr>
        <p:xfrm>
          <a:off x="911424" y="4953800"/>
          <a:ext cx="4962525" cy="1474788"/>
        </p:xfrm>
        <a:graphic>
          <a:graphicData uri="http://schemas.openxmlformats.org/presentationml/2006/ole">
            <mc:AlternateContent xmlns:mc="http://schemas.openxmlformats.org/markup-compatibility/2006">
              <mc:Choice xmlns:v="urn:schemas-microsoft-com:vml" Requires="v">
                <p:oleObj spid="_x0000_s63823" name="Equation" r:id="rId12" imgW="3073400" imgH="914400" progId="Equation.DSMT4">
                  <p:embed/>
                </p:oleObj>
              </mc:Choice>
              <mc:Fallback>
                <p:oleObj name="Equation" r:id="rId12" imgW="3073400" imgH="914400" progId="Equation.DSMT4">
                  <p:embed/>
                  <p:pic>
                    <p:nvPicPr>
                      <p:cNvPr id="0" name="Picture 3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11424" y="4953800"/>
                        <a:ext cx="4962525"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pic>
        <p:nvPicPr>
          <p:cNvPr id="43" name="Picture 18" descr="D:\文书工作\讲课\本科教学\MATLAB\show_17_9.bmp"/>
          <p:cNvPicPr>
            <a:picLocks noChangeArrowheads="1"/>
          </p:cNvPicPr>
          <p:nvPr/>
        </p:nvPicPr>
        <p:blipFill>
          <a:blip r:embed="rId14"/>
          <a:srcRect/>
          <a:stretch>
            <a:fillRect/>
          </a:stretch>
        </p:blipFill>
        <p:spPr bwMode="auto">
          <a:xfrm>
            <a:off x="8074030" y="2954128"/>
            <a:ext cx="3621673" cy="3355191"/>
          </a:xfrm>
          <a:prstGeom prst="rect">
            <a:avLst/>
          </a:prstGeom>
          <a:noFill/>
        </p:spPr>
      </p:pic>
      <p:sp>
        <p:nvSpPr>
          <p:cNvPr id="44" name="Rectangle 3"/>
          <p:cNvSpPr txBox="1">
            <a:spLocks noChangeArrowheads="1"/>
          </p:cNvSpPr>
          <p:nvPr/>
        </p:nvSpPr>
        <p:spPr bwMode="gray">
          <a:xfrm>
            <a:off x="378191" y="3922546"/>
            <a:ext cx="8081990" cy="10133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nSpc>
                <a:spcPct val="150000"/>
              </a:lnSpc>
              <a:spcBef>
                <a:spcPts val="0"/>
              </a:spcBef>
              <a:buNone/>
            </a:pPr>
            <a:r>
              <a:rPr lang="zh-CN" altLang="en-US" sz="2200" kern="0" dirty="0">
                <a:latin typeface="微软雅黑" panose="020B0503020204020204" pitchFamily="34" charset="-122"/>
                <a:ea typeface="微软雅黑" panose="020B0503020204020204" pitchFamily="34" charset="-122"/>
              </a:rPr>
              <a:t>② </a:t>
            </a:r>
            <a:r>
              <a:rPr lang="zh-CN" altLang="en-US" sz="2200" kern="0" dirty="0">
                <a:latin typeface="Times New Roman" panose="02020603050405020304" pitchFamily="18" charset="0"/>
                <a:ea typeface="黑体" panose="02010609060101010101" pitchFamily="49" charset="-122"/>
              </a:rPr>
              <a:t>若先验概率不相等                         ，则</a:t>
            </a:r>
            <a:r>
              <a:rPr lang="zh-CN" altLang="en-US" sz="2000" kern="0" dirty="0">
                <a:latin typeface="+mj-ea"/>
              </a:rPr>
              <a:t> </a:t>
            </a:r>
            <a:r>
              <a:rPr lang="en-US" altLang="zh-CN" sz="2000" i="1" kern="0" dirty="0">
                <a:solidFill>
                  <a:srgbClr val="000000"/>
                </a:solidFill>
                <a:latin typeface="Times New Roman" panose="02020603050405020304" pitchFamily="18" charset="0"/>
                <a:cs typeface="Times New Roman" panose="02020603050405020304" pitchFamily="18" charset="0"/>
              </a:rPr>
              <a:t>x</a:t>
            </a:r>
            <a:r>
              <a:rPr lang="en-US" altLang="zh-CN" sz="2000" kern="0" baseline="-25000" dirty="0">
                <a:solidFill>
                  <a:srgbClr val="000000"/>
                </a:solidFill>
                <a:latin typeface="+mj-ea"/>
              </a:rPr>
              <a:t>0 </a:t>
            </a:r>
            <a:r>
              <a:rPr lang="zh-CN" altLang="en-US" sz="2000" kern="0" dirty="0">
                <a:solidFill>
                  <a:srgbClr val="000000"/>
                </a:solidFill>
                <a:latin typeface="+mj-ea"/>
              </a:rPr>
              <a:t>不在中点，</a:t>
            </a:r>
            <a:r>
              <a:rPr lang="zh-CN" altLang="en-US" sz="2000" kern="0" dirty="0">
                <a:latin typeface="+mj-ea"/>
              </a:rPr>
              <a:t>超平面向先</a:t>
            </a:r>
            <a:endParaRPr lang="en-US" altLang="zh-CN" sz="2000" kern="0" dirty="0">
              <a:latin typeface="+mj-ea"/>
            </a:endParaRPr>
          </a:p>
          <a:p>
            <a:pPr marL="0" indent="0">
              <a:lnSpc>
                <a:spcPct val="150000"/>
              </a:lnSpc>
              <a:spcBef>
                <a:spcPts val="0"/>
              </a:spcBef>
              <a:buNone/>
            </a:pPr>
            <a:r>
              <a:rPr lang="en-US" altLang="zh-CN" sz="2000" kern="0" dirty="0">
                <a:latin typeface="+mj-ea"/>
              </a:rPr>
              <a:t>     </a:t>
            </a:r>
            <a:r>
              <a:rPr lang="zh-CN" altLang="en-US" sz="2000" kern="0" dirty="0">
                <a:latin typeface="+mj-ea"/>
              </a:rPr>
              <a:t>验概率小的方向移动。</a:t>
            </a:r>
          </a:p>
        </p:txBody>
      </p:sp>
      <p:graphicFrame>
        <p:nvGraphicFramePr>
          <p:cNvPr id="45" name="Object 3"/>
          <p:cNvGraphicFramePr>
            <a:graphicFrameLocks noChangeAspect="1"/>
          </p:cNvGraphicFramePr>
          <p:nvPr>
            <p:extLst>
              <p:ext uri="{D42A27DB-BD31-4B8C-83A1-F6EECF244321}">
                <p14:modId xmlns:p14="http://schemas.microsoft.com/office/powerpoint/2010/main" val="2730419797"/>
              </p:ext>
            </p:extLst>
          </p:nvPr>
        </p:nvGraphicFramePr>
        <p:xfrm>
          <a:off x="3099592" y="4021449"/>
          <a:ext cx="1629135" cy="429911"/>
        </p:xfrm>
        <a:graphic>
          <a:graphicData uri="http://schemas.openxmlformats.org/presentationml/2006/ole">
            <mc:AlternateContent xmlns:mc="http://schemas.openxmlformats.org/markup-compatibility/2006">
              <mc:Choice xmlns:v="urn:schemas-microsoft-com:vml" Requires="v">
                <p:oleObj spid="_x0000_s63824" name="Equation" r:id="rId15" imgW="914400" imgH="241300" progId="Equation.DSMT4">
                  <p:embed/>
                </p:oleObj>
              </mc:Choice>
              <mc:Fallback>
                <p:oleObj name="Equation" r:id="rId15" imgW="914400" imgH="241300" progId="Equation.DSMT4">
                  <p:embed/>
                  <p:pic>
                    <p:nvPicPr>
                      <p:cNvPr id="0" name="Picture 3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99592" y="4021449"/>
                        <a:ext cx="1629135" cy="4299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589215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62</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052736"/>
            <a:ext cx="736611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正态分布概率模型下的最小错误率贝叶斯决策</a:t>
            </a:r>
          </a:p>
        </p:txBody>
      </p:sp>
      <p:sp>
        <p:nvSpPr>
          <p:cNvPr id="11" name="Rectangle 3"/>
          <p:cNvSpPr txBox="1">
            <a:spLocks noChangeArrowheads="1"/>
          </p:cNvSpPr>
          <p:nvPr/>
        </p:nvSpPr>
        <p:spPr bwMode="gray">
          <a:xfrm>
            <a:off x="352694" y="1585368"/>
            <a:ext cx="1710858" cy="6367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20000"/>
              </a:lnSpc>
              <a:spcBef>
                <a:spcPts val="0"/>
              </a:spcBef>
              <a:buFontTx/>
              <a:buNone/>
            </a:pPr>
            <a:r>
              <a:rPr lang="en-US" altLang="zh-CN" b="1" kern="0" dirty="0">
                <a:solidFill>
                  <a:srgbClr val="FF0000"/>
                </a:solidFill>
                <a:latin typeface="Times New Roman" panose="02020603050405020304" pitchFamily="18" charset="0"/>
                <a:ea typeface="黑体" panose="02010609060101010101" pitchFamily="49" charset="-122"/>
              </a:rPr>
              <a:t>⑴ </a:t>
            </a:r>
            <a:r>
              <a:rPr lang="en-US" altLang="zh-CN" b="1" kern="0" dirty="0" err="1">
                <a:solidFill>
                  <a:srgbClr val="FF0000"/>
                </a:solidFill>
                <a:latin typeface="Times New Roman" panose="02020603050405020304" pitchFamily="18" charset="0"/>
                <a:ea typeface="黑体" panose="02010609060101010101" pitchFamily="49" charset="-122"/>
              </a:rPr>
              <a:t>Σ</a:t>
            </a:r>
            <a:r>
              <a:rPr lang="en-US" altLang="zh-CN" b="1" kern="0" baseline="-25000" dirty="0" err="1">
                <a:solidFill>
                  <a:srgbClr val="FF0000"/>
                </a:solidFill>
                <a:latin typeface="Times New Roman" panose="02020603050405020304" pitchFamily="18" charset="0"/>
                <a:ea typeface="黑体" panose="02010609060101010101" pitchFamily="49" charset="-122"/>
              </a:rPr>
              <a:t>i</a:t>
            </a:r>
            <a:r>
              <a:rPr lang="en-US" altLang="zh-CN" b="1" kern="0" dirty="0">
                <a:solidFill>
                  <a:srgbClr val="FF0000"/>
                </a:solidFill>
                <a:latin typeface="Times New Roman" panose="02020603050405020304" pitchFamily="18" charset="0"/>
                <a:ea typeface="黑体" panose="02010609060101010101" pitchFamily="49" charset="-122"/>
              </a:rPr>
              <a:t>=</a:t>
            </a:r>
            <a:r>
              <a:rPr lang="el-GR" altLang="zh-CN" b="1" kern="0" dirty="0">
                <a:solidFill>
                  <a:srgbClr val="FF0000"/>
                </a:solidFill>
                <a:latin typeface="Times New Roman" panose="02020603050405020304" pitchFamily="18" charset="0"/>
                <a:ea typeface="黑体" panose="02010609060101010101" pitchFamily="49" charset="-122"/>
              </a:rPr>
              <a:t>σ</a:t>
            </a:r>
            <a:r>
              <a:rPr lang="en-US" altLang="zh-CN" b="1" kern="0" baseline="30000" dirty="0">
                <a:solidFill>
                  <a:srgbClr val="FF0000"/>
                </a:solidFill>
                <a:latin typeface="Times New Roman" panose="02020603050405020304" pitchFamily="18" charset="0"/>
                <a:ea typeface="黑体" panose="02010609060101010101" pitchFamily="49" charset="-122"/>
              </a:rPr>
              <a:t>2</a:t>
            </a:r>
            <a:r>
              <a:rPr lang="en-US" altLang="zh-CN" b="1" kern="0" dirty="0">
                <a:solidFill>
                  <a:srgbClr val="FF0000"/>
                </a:solidFill>
                <a:latin typeface="Times New Roman" panose="02020603050405020304" pitchFamily="18" charset="0"/>
                <a:ea typeface="黑体" panose="02010609060101010101" pitchFamily="49" charset="-122"/>
              </a:rPr>
              <a:t>I</a:t>
            </a:r>
          </a:p>
        </p:txBody>
      </p:sp>
      <p:sp>
        <p:nvSpPr>
          <p:cNvPr id="18" name="Rectangle 2"/>
          <p:cNvSpPr>
            <a:spLocks noGrp="1" noChangeArrowheads="1"/>
          </p:cNvSpPr>
          <p:nvPr>
            <p:ph type="title" idx="4294967295"/>
          </p:nvPr>
        </p:nvSpPr>
        <p:spPr bwMode="auto">
          <a:xfrm>
            <a:off x="0" y="274638"/>
            <a:ext cx="8229600" cy="1143000"/>
          </a:xfrm>
          <a:noFill/>
          <a:ln>
            <a:miter lim="800000"/>
            <a:headEnd/>
            <a:tailEnd/>
          </a:ln>
        </p:spPr>
        <p:txBody>
          <a:bodyPr vert="horz" wrap="square" lIns="91440" tIns="45720" rIns="91440" bIns="45720" numCol="1" anchor="t" anchorCtr="0" compatLnSpc="1">
            <a:prstTxWarp prst="textNoShape">
              <a:avLst/>
            </a:prstTxWarp>
          </a:bodyPr>
          <a:lstStyle/>
          <a:p>
            <a:r>
              <a:rPr lang="en-US" altLang="zh-CN" sz="4000"/>
              <a:t>    </a:t>
            </a:r>
          </a:p>
        </p:txBody>
      </p:sp>
      <p:sp>
        <p:nvSpPr>
          <p:cNvPr id="19" name="Rectangle 3"/>
          <p:cNvSpPr txBox="1">
            <a:spLocks noChangeArrowheads="1"/>
          </p:cNvSpPr>
          <p:nvPr/>
        </p:nvSpPr>
        <p:spPr bwMode="gray">
          <a:xfrm>
            <a:off x="357158" y="2204864"/>
            <a:ext cx="11427474" cy="5159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just">
              <a:lnSpc>
                <a:spcPct val="130000"/>
              </a:lnSpc>
              <a:spcBef>
                <a:spcPts val="0"/>
              </a:spcBef>
              <a:buNone/>
            </a:pPr>
            <a:r>
              <a:rPr lang="zh-CN" altLang="en-US" sz="2200" kern="0" dirty="0">
                <a:solidFill>
                  <a:srgbClr val="FF6600"/>
                </a:solidFill>
                <a:latin typeface="Times New Roman" panose="02020603050405020304" pitchFamily="18" charset="0"/>
                <a:ea typeface="黑体" panose="02010609060101010101" pitchFamily="49" charset="-122"/>
              </a:rPr>
              <a:t>决策面方程：</a:t>
            </a:r>
            <a:endParaRPr lang="en-US" altLang="zh-CN" sz="2200" kern="0" dirty="0">
              <a:solidFill>
                <a:srgbClr val="FF6600"/>
              </a:solidFill>
              <a:latin typeface="Times New Roman" panose="02020603050405020304" pitchFamily="18" charset="0"/>
              <a:ea typeface="黑体" panose="02010609060101010101" pitchFamily="49" charset="-122"/>
            </a:endParaRPr>
          </a:p>
        </p:txBody>
      </p:sp>
      <mc:AlternateContent xmlns:mc="http://schemas.openxmlformats.org/markup-compatibility/2006">
        <mc:Choice xmlns:a14="http://schemas.microsoft.com/office/drawing/2010/main" Requires="a14">
          <p:sp>
            <p:nvSpPr>
              <p:cNvPr id="22" name="Object 5"/>
              <p:cNvSpPr txBox="1"/>
              <p:nvPr/>
            </p:nvSpPr>
            <p:spPr bwMode="auto">
              <a:xfrm>
                <a:off x="4378325" y="1933575"/>
                <a:ext cx="7629525" cy="1016000"/>
              </a:xfrm>
              <a:prstGeom prst="rect">
                <a:avLst/>
              </a:prstGeom>
              <a:noFill/>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其中，</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𝑊</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𝜎</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𝜇</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r>
                            <a:rPr lang="en-US" altLang="zh-CN" i="1" baseline="30000">
                              <a:solidFill>
                                <a:srgbClr val="000000"/>
                              </a:solidFill>
                              <a:latin typeface="Cambria Math" panose="02040503050406030204" pitchFamily="18" charset="0"/>
                            </a:rPr>
                            <m:t>2</m:t>
                          </m:r>
                        </m:den>
                      </m:f>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ln</m:t>
                          </m:r>
                        </m:fName>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den>
                          </m:f>
                        </m:e>
                      </m:func>
                    </m:oMath>
                  </m:oMathPara>
                </a14:m>
                <a:endParaRPr lang="zh-CN" altLang="en-US" dirty="0"/>
              </a:p>
            </p:txBody>
          </p:sp>
        </mc:Choice>
        <mc:Fallback>
          <p:sp>
            <p:nvSpPr>
              <p:cNvPr id="22" name="Object 5"/>
              <p:cNvSpPr txBox="1">
                <a:spLocks noRot="1" noChangeAspect="1" noMove="1" noResize="1" noEditPoints="1" noAdjustHandles="1" noChangeArrowheads="1" noChangeShapeType="1" noTextEdit="1"/>
              </p:cNvSpPr>
              <p:nvPr/>
            </p:nvSpPr>
            <p:spPr bwMode="auto">
              <a:xfrm>
                <a:off x="4378325" y="1933575"/>
                <a:ext cx="7629525" cy="1016000"/>
              </a:xfrm>
              <a:prstGeom prst="rect">
                <a:avLst/>
              </a:prstGeom>
              <a:blipFill>
                <a:blip r:embed="rId4"/>
                <a:stretch>
                  <a:fillRect/>
                </a:stretch>
              </a:blipFill>
              <a:extLst/>
            </p:spPr>
            <p:txBody>
              <a:bodyPr/>
              <a:lstStyle/>
              <a:p>
                <a:r>
                  <a:rPr lang="zh-CN" altLang="en-US">
                    <a:noFill/>
                  </a:rPr>
                  <a:t> </a:t>
                </a:r>
              </a:p>
            </p:txBody>
          </p:sp>
        </mc:Fallback>
      </mc:AlternateContent>
      <p:graphicFrame>
        <p:nvGraphicFramePr>
          <p:cNvPr id="23" name="Object 9"/>
          <p:cNvGraphicFramePr>
            <a:graphicFrameLocks noChangeAspect="1"/>
          </p:cNvGraphicFramePr>
          <p:nvPr>
            <p:extLst>
              <p:ext uri="{D42A27DB-BD31-4B8C-83A1-F6EECF244321}">
                <p14:modId xmlns:p14="http://schemas.microsoft.com/office/powerpoint/2010/main" val="1344315330"/>
              </p:ext>
            </p:extLst>
          </p:nvPr>
        </p:nvGraphicFramePr>
        <p:xfrm>
          <a:off x="2088128" y="2245126"/>
          <a:ext cx="1947625" cy="500066"/>
        </p:xfrm>
        <a:graphic>
          <a:graphicData uri="http://schemas.openxmlformats.org/presentationml/2006/ole">
            <mc:AlternateContent xmlns:mc="http://schemas.openxmlformats.org/markup-compatibility/2006">
              <mc:Choice xmlns:v="urn:schemas-microsoft-com:vml" Requires="v">
                <p:oleObj spid="_x0000_s64620" name="Equation" r:id="rId5" imgW="939392" imgH="241195" progId="Equation.DSMT4">
                  <p:embed/>
                </p:oleObj>
              </mc:Choice>
              <mc:Fallback>
                <p:oleObj name="Equation" r:id="rId5" imgW="939392" imgH="241195" progId="Equation.DSMT4">
                  <p:embed/>
                  <p:pic>
                    <p:nvPicPr>
                      <p:cNvPr id="0" name="Picture 10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88128" y="2245126"/>
                        <a:ext cx="1947625" cy="500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矩形 3"/>
          <p:cNvSpPr/>
          <p:nvPr/>
        </p:nvSpPr>
        <p:spPr>
          <a:xfrm>
            <a:off x="2250663" y="2265232"/>
            <a:ext cx="6184021" cy="1192089"/>
          </a:xfrm>
          <a:prstGeom prst="rect">
            <a:avLst/>
          </a:prstGeom>
          <a:ln w="31750">
            <a:noFill/>
          </a:ln>
        </p:spPr>
        <p:txBody>
          <a:bodyPr wrap="square" rtlCol="0" anchor="ctr">
            <a:spAutoFit/>
          </a:bodyPr>
          <a:lstStyle/>
          <a:p>
            <a:pPr algn="ctr"/>
            <a:endParaRPr lang="zh-CN" altLang="en-US" sz="2400" kern="100" dirty="0">
              <a:ea typeface="宋体"/>
              <a:cs typeface="Times New Roman"/>
            </a:endParaRPr>
          </a:p>
        </p:txBody>
      </p:sp>
      <p:pic>
        <p:nvPicPr>
          <p:cNvPr id="24" name="Picture 10" descr="未标题-1 拷贝"/>
          <p:cNvPicPr>
            <a:picLocks noChangeAspect="1" noChangeArrowheads="1"/>
          </p:cNvPicPr>
          <p:nvPr/>
        </p:nvPicPr>
        <p:blipFill>
          <a:blip r:embed="rId7"/>
          <a:srcRect l="35147" r="34723" b="32910"/>
          <a:stretch>
            <a:fillRect/>
          </a:stretch>
        </p:blipFill>
        <p:spPr bwMode="auto">
          <a:xfrm>
            <a:off x="4702886" y="3064552"/>
            <a:ext cx="3240410" cy="3151115"/>
          </a:xfrm>
          <a:prstGeom prst="rect">
            <a:avLst/>
          </a:prstGeom>
          <a:noFill/>
        </p:spPr>
      </p:pic>
      <p:pic>
        <p:nvPicPr>
          <p:cNvPr id="25" name="Picture 11" descr="未标题-1 拷贝"/>
          <p:cNvPicPr>
            <a:picLocks noChangeAspect="1" noChangeArrowheads="1"/>
          </p:cNvPicPr>
          <p:nvPr/>
        </p:nvPicPr>
        <p:blipFill>
          <a:blip r:embed="rId7"/>
          <a:srcRect t="17279" r="71550" b="32910"/>
          <a:stretch>
            <a:fillRect/>
          </a:stretch>
        </p:blipFill>
        <p:spPr bwMode="auto">
          <a:xfrm>
            <a:off x="84743" y="2761096"/>
            <a:ext cx="4571980" cy="3495696"/>
          </a:xfrm>
          <a:prstGeom prst="rect">
            <a:avLst/>
          </a:prstGeom>
          <a:noFill/>
        </p:spPr>
      </p:pic>
      <p:pic>
        <p:nvPicPr>
          <p:cNvPr id="26" name="Picture 12" descr="未标题-1 拷贝"/>
          <p:cNvPicPr>
            <a:picLocks noChangeAspect="1" noChangeArrowheads="1"/>
          </p:cNvPicPr>
          <p:nvPr/>
        </p:nvPicPr>
        <p:blipFill>
          <a:blip r:embed="rId7"/>
          <a:srcRect l="72804" b="32910"/>
          <a:stretch>
            <a:fillRect/>
          </a:stretch>
        </p:blipFill>
        <p:spPr bwMode="auto">
          <a:xfrm>
            <a:off x="8229600" y="2957401"/>
            <a:ext cx="3024360" cy="3258266"/>
          </a:xfrm>
          <a:prstGeom prst="rect">
            <a:avLst/>
          </a:prstGeom>
          <a:noFill/>
        </p:spPr>
      </p:pic>
    </p:spTree>
    <p:extLst>
      <p:ext uri="{BB962C8B-B14F-4D97-AF65-F5344CB8AC3E}">
        <p14:creationId xmlns:p14="http://schemas.microsoft.com/office/powerpoint/2010/main" val="22700879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p:nvPr/>
        </p:nvSpPr>
        <p:spPr>
          <a:xfrm>
            <a:off x="323918" y="5733256"/>
            <a:ext cx="10884650" cy="720080"/>
          </a:xfrm>
          <a:prstGeom prst="rect">
            <a:avLst/>
          </a:prstGeom>
          <a:solidFill>
            <a:schemeClr val="accent5"/>
          </a:solidFill>
        </p:spPr>
        <p:txBody>
          <a:bodyPr wrap="square" rtlCol="0" anchor="ctr">
            <a:spAutoFit/>
          </a:bodyPr>
          <a:lstStyle/>
          <a:p>
            <a:pPr algn="ctr"/>
            <a:endParaRPr lang="zh-CN" altLang="en-US" sz="2400" kern="100" dirty="0">
              <a:ea typeface="宋体"/>
              <a:cs typeface="Times New Roman"/>
            </a:endParaRPr>
          </a:p>
        </p:txBody>
      </p:sp>
      <p:sp>
        <p:nvSpPr>
          <p:cNvPr id="27" name="Rectangle 3"/>
          <p:cNvSpPr txBox="1">
            <a:spLocks noChangeArrowheads="1"/>
          </p:cNvSpPr>
          <p:nvPr/>
        </p:nvSpPr>
        <p:spPr bwMode="gray">
          <a:xfrm>
            <a:off x="352692" y="2476374"/>
            <a:ext cx="11431939" cy="412097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nSpc>
                <a:spcPct val="120000"/>
              </a:lnSpc>
              <a:spcBef>
                <a:spcPts val="0"/>
              </a:spcBef>
              <a:buFontTx/>
              <a:buNone/>
            </a:pPr>
            <a:r>
              <a:rPr lang="zh-CN" altLang="en-US" sz="2200" kern="0" dirty="0">
                <a:latin typeface="Times New Roman" panose="02020603050405020304" pitchFamily="18" charset="0"/>
                <a:ea typeface="黑体" panose="02010609060101010101" pitchFamily="49" charset="-122"/>
              </a:rPr>
              <a:t>各类的协方差矩阵相等</a:t>
            </a:r>
            <a:r>
              <a:rPr lang="el-GR" altLang="zh-CN" sz="2200" kern="0" dirty="0">
                <a:solidFill>
                  <a:srgbClr val="000000"/>
                </a:solidFill>
                <a:latin typeface="Times New Roman" panose="02020603050405020304" pitchFamily="18" charset="0"/>
                <a:ea typeface="黑体" panose="02010609060101010101" pitchFamily="49" charset="-122"/>
              </a:rPr>
              <a:t>Σ</a:t>
            </a:r>
            <a:r>
              <a:rPr lang="en-US" altLang="zh-CN" sz="2200" kern="0" baseline="-25000" dirty="0">
                <a:latin typeface="Times New Roman" panose="02020603050405020304" pitchFamily="18" charset="0"/>
                <a:ea typeface="黑体" panose="02010609060101010101" pitchFamily="49" charset="-122"/>
              </a:rPr>
              <a:t>1</a:t>
            </a:r>
            <a:r>
              <a:rPr lang="zh-CN" altLang="en-US" sz="2200" kern="0" dirty="0">
                <a:latin typeface="Times New Roman" panose="02020603050405020304" pitchFamily="18" charset="0"/>
                <a:ea typeface="黑体" panose="02010609060101010101" pitchFamily="49" charset="-122"/>
              </a:rPr>
              <a:t>＝</a:t>
            </a:r>
            <a:r>
              <a:rPr lang="el-GR" altLang="zh-CN" sz="2200" kern="0" dirty="0">
                <a:solidFill>
                  <a:srgbClr val="000000"/>
                </a:solidFill>
                <a:latin typeface="Times New Roman" panose="02020603050405020304" pitchFamily="18" charset="0"/>
                <a:ea typeface="黑体" panose="02010609060101010101" pitchFamily="49" charset="-122"/>
              </a:rPr>
              <a:t>Σ</a:t>
            </a:r>
            <a:r>
              <a:rPr lang="en-US" altLang="zh-CN" sz="2200" kern="0" baseline="-25000" dirty="0">
                <a:latin typeface="Times New Roman" panose="02020603050405020304" pitchFamily="18" charset="0"/>
                <a:ea typeface="黑体" panose="02010609060101010101" pitchFamily="49" charset="-122"/>
              </a:rPr>
              <a:t>2</a:t>
            </a:r>
            <a:r>
              <a:rPr lang="zh-CN" altLang="en-US" sz="2200" kern="0" dirty="0">
                <a:latin typeface="Times New Roman" panose="02020603050405020304" pitchFamily="18" charset="0"/>
                <a:ea typeface="黑体" panose="02010609060101010101" pitchFamily="49" charset="-122"/>
              </a:rPr>
              <a:t>＝</a:t>
            </a:r>
            <a:r>
              <a:rPr lang="en-US" altLang="zh-CN" sz="2200" kern="0" dirty="0">
                <a:latin typeface="Times New Roman" panose="02020603050405020304" pitchFamily="18" charset="0"/>
                <a:ea typeface="黑体" panose="02010609060101010101" pitchFamily="49" charset="-122"/>
              </a:rPr>
              <a:t>···</a:t>
            </a:r>
            <a:r>
              <a:rPr lang="zh-CN" altLang="en-US" sz="2200" kern="0" dirty="0">
                <a:latin typeface="Times New Roman" panose="02020603050405020304" pitchFamily="18" charset="0"/>
                <a:ea typeface="黑体" panose="02010609060101010101" pitchFamily="49" charset="-122"/>
              </a:rPr>
              <a:t>＝</a:t>
            </a:r>
            <a:r>
              <a:rPr lang="el-GR" altLang="zh-CN" sz="2200" kern="0" dirty="0">
                <a:solidFill>
                  <a:srgbClr val="000000"/>
                </a:solidFill>
                <a:latin typeface="Times New Roman" panose="02020603050405020304" pitchFamily="18" charset="0"/>
                <a:ea typeface="黑体" panose="02010609060101010101" pitchFamily="49" charset="-122"/>
              </a:rPr>
              <a:t>Σ</a:t>
            </a:r>
            <a:r>
              <a:rPr lang="en-US" altLang="zh-CN" sz="2200" kern="0" baseline="-25000" dirty="0">
                <a:latin typeface="Times New Roman" panose="02020603050405020304" pitchFamily="18" charset="0"/>
                <a:ea typeface="黑体" panose="02010609060101010101" pitchFamily="49" charset="-122"/>
              </a:rPr>
              <a:t>c</a:t>
            </a:r>
            <a:r>
              <a:rPr lang="en-US" altLang="zh-CN" sz="2200" kern="0" dirty="0">
                <a:latin typeface="Times New Roman" panose="02020603050405020304" pitchFamily="18" charset="0"/>
                <a:ea typeface="黑体" panose="02010609060101010101" pitchFamily="49" charset="-122"/>
              </a:rPr>
              <a:t>=</a:t>
            </a:r>
            <a:r>
              <a:rPr lang="el-GR" altLang="zh-CN" sz="2200" kern="0" dirty="0">
                <a:solidFill>
                  <a:srgbClr val="000000"/>
                </a:solidFill>
                <a:latin typeface="Times New Roman" panose="02020603050405020304" pitchFamily="18" charset="0"/>
                <a:ea typeface="黑体" panose="02010609060101010101" pitchFamily="49" charset="-122"/>
              </a:rPr>
              <a:t>Σ</a:t>
            </a:r>
            <a:r>
              <a:rPr lang="zh-CN" altLang="en-US" sz="2200" kern="0" dirty="0">
                <a:latin typeface="Times New Roman" panose="02020603050405020304" pitchFamily="18" charset="0"/>
                <a:ea typeface="黑体" panose="02010609060101010101" pitchFamily="49" charset="-122"/>
              </a:rPr>
              <a:t>。几何上相当于各类样本集中于以该类均值</a:t>
            </a:r>
            <a:r>
              <a:rPr lang="el-GR" altLang="zh-CN" sz="2200" kern="0" dirty="0">
                <a:latin typeface="Times New Roman" panose="02020603050405020304" pitchFamily="18" charset="0"/>
                <a:ea typeface="黑体" panose="02010609060101010101" pitchFamily="49" charset="-122"/>
              </a:rPr>
              <a:t>μ</a:t>
            </a:r>
            <a:r>
              <a:rPr lang="en-US" altLang="zh-CN" sz="2200" kern="0" baseline="-25000" dirty="0" err="1">
                <a:latin typeface="Times New Roman" panose="02020603050405020304" pitchFamily="18" charset="0"/>
                <a:ea typeface="黑体" panose="02010609060101010101" pitchFamily="49" charset="-122"/>
              </a:rPr>
              <a:t>i</a:t>
            </a:r>
            <a:r>
              <a:rPr lang="zh-CN" altLang="en-US" sz="2200" kern="0" dirty="0">
                <a:latin typeface="Times New Roman" panose="02020603050405020304" pitchFamily="18" charset="0"/>
                <a:ea typeface="黑体" panose="02010609060101010101" pitchFamily="49" charset="-122"/>
              </a:rPr>
              <a:t>点为中心的同样大小和形状的超椭球体中。 </a:t>
            </a:r>
          </a:p>
          <a:p>
            <a:pPr marL="0" indent="0">
              <a:lnSpc>
                <a:spcPct val="120000"/>
              </a:lnSpc>
              <a:spcBef>
                <a:spcPts val="1200"/>
              </a:spcBef>
              <a:buNone/>
            </a:pPr>
            <a:r>
              <a:rPr lang="zh-CN" altLang="en-US" sz="2200" kern="0" dirty="0">
                <a:solidFill>
                  <a:srgbClr val="FF6600"/>
                </a:solidFill>
                <a:latin typeface="Times New Roman" panose="02020603050405020304" pitchFamily="18" charset="0"/>
                <a:ea typeface="黑体" panose="02010609060101010101" pitchFamily="49" charset="-122"/>
              </a:rPr>
              <a:t>判别函数：</a:t>
            </a:r>
          </a:p>
          <a:p>
            <a:pPr marL="0" indent="0">
              <a:lnSpc>
                <a:spcPct val="120000"/>
              </a:lnSpc>
              <a:spcBef>
                <a:spcPts val="1800"/>
              </a:spcBef>
              <a:buFontTx/>
              <a:buNone/>
            </a:pPr>
            <a:r>
              <a:rPr lang="zh-CN" altLang="en-US" sz="2200" kern="0" dirty="0">
                <a:latin typeface="Times New Roman" panose="02020603050405020304" pitchFamily="18" charset="0"/>
                <a:ea typeface="黑体" panose="02010609060101010101" pitchFamily="49" charset="-122"/>
              </a:rPr>
              <a:t>若</a:t>
            </a:r>
            <a:r>
              <a:rPr lang="en-US" altLang="zh-CN" sz="2200" i="1" kern="0" dirty="0">
                <a:latin typeface="Times New Roman" panose="02020603050405020304" pitchFamily="18" charset="0"/>
                <a:ea typeface="黑体" panose="02010609060101010101" pitchFamily="49" charset="-122"/>
              </a:rPr>
              <a:t>c</a:t>
            </a:r>
            <a:r>
              <a:rPr lang="zh-CN" altLang="en-US" sz="2200" kern="0" dirty="0">
                <a:latin typeface="Times New Roman" panose="02020603050405020304" pitchFamily="18" charset="0"/>
                <a:ea typeface="黑体" panose="02010609060101010101" pitchFamily="49" charset="-122"/>
              </a:rPr>
              <a:t>类先验概率相等，则                                                             ，此时    </a:t>
            </a:r>
          </a:p>
          <a:p>
            <a:pPr marL="0" indent="0">
              <a:lnSpc>
                <a:spcPct val="120000"/>
              </a:lnSpc>
              <a:spcBef>
                <a:spcPts val="0"/>
              </a:spcBef>
              <a:buFontTx/>
              <a:buNone/>
            </a:pPr>
            <a:r>
              <a:rPr lang="zh-CN" altLang="en-US" sz="2200" kern="0" dirty="0">
                <a:latin typeface="Times New Roman" panose="02020603050405020304" pitchFamily="18" charset="0"/>
                <a:ea typeface="黑体" panose="02010609060101010101" pitchFamily="49" charset="-122"/>
              </a:rPr>
              <a:t> </a:t>
            </a:r>
            <a:endParaRPr lang="en-US" altLang="zh-CN" sz="2200" kern="0" dirty="0">
              <a:latin typeface="Times New Roman" panose="02020603050405020304" pitchFamily="18" charset="0"/>
              <a:ea typeface="黑体" panose="02010609060101010101" pitchFamily="49" charset="-122"/>
            </a:endParaRPr>
          </a:p>
          <a:p>
            <a:pPr marL="0" indent="0">
              <a:lnSpc>
                <a:spcPct val="120000"/>
              </a:lnSpc>
              <a:spcBef>
                <a:spcPts val="0"/>
              </a:spcBef>
              <a:buFontTx/>
              <a:buNone/>
            </a:pPr>
            <a:endParaRPr lang="zh-CN" altLang="en-US" sz="2200" kern="0" dirty="0">
              <a:latin typeface="Times New Roman" panose="02020603050405020304" pitchFamily="18" charset="0"/>
              <a:ea typeface="黑体" panose="02010609060101010101" pitchFamily="49" charset="-122"/>
            </a:endParaRPr>
          </a:p>
          <a:p>
            <a:pPr marL="0" indent="0">
              <a:lnSpc>
                <a:spcPct val="120000"/>
              </a:lnSpc>
              <a:spcBef>
                <a:spcPts val="0"/>
              </a:spcBef>
              <a:buNone/>
            </a:pPr>
            <a:r>
              <a:rPr lang="en-US" altLang="zh-CN" sz="2200" kern="0" dirty="0">
                <a:solidFill>
                  <a:srgbClr val="FF0000"/>
                </a:solidFill>
                <a:latin typeface="Times New Roman" panose="02020603050405020304" pitchFamily="18" charset="0"/>
                <a:ea typeface="黑体" panose="02010609060101010101" pitchFamily="49" charset="-122"/>
              </a:rPr>
              <a:t>Bayes</a:t>
            </a:r>
            <a:r>
              <a:rPr lang="zh-CN" altLang="en-US" sz="2200" kern="0" dirty="0">
                <a:solidFill>
                  <a:srgbClr val="FF0000"/>
                </a:solidFill>
                <a:latin typeface="Times New Roman" panose="02020603050405020304" pitchFamily="18" charset="0"/>
                <a:ea typeface="黑体" panose="02010609060101010101" pitchFamily="49" charset="-122"/>
              </a:rPr>
              <a:t>决策</a:t>
            </a:r>
            <a:endParaRPr lang="en-US" altLang="zh-CN" sz="2200" kern="0" dirty="0">
              <a:latin typeface="Times New Roman" panose="02020603050405020304" pitchFamily="18" charset="0"/>
              <a:ea typeface="黑体" panose="02010609060101010101" pitchFamily="49" charset="-122"/>
            </a:endParaRPr>
          </a:p>
          <a:p>
            <a:pPr marL="0" indent="0">
              <a:lnSpc>
                <a:spcPct val="120000"/>
              </a:lnSpc>
              <a:spcBef>
                <a:spcPts val="1200"/>
              </a:spcBef>
              <a:buNone/>
            </a:pPr>
            <a:r>
              <a:rPr lang="zh-CN" altLang="en-US" sz="2200" kern="0" dirty="0">
                <a:latin typeface="Times New Roman" panose="02020603050405020304" pitchFamily="18" charset="0"/>
                <a:ea typeface="黑体" panose="02010609060101010101" pitchFamily="49" charset="-122"/>
              </a:rPr>
              <a:t>计算</a:t>
            </a:r>
            <a:r>
              <a:rPr lang="en-US" altLang="zh-CN" sz="2200" b="1" kern="0" dirty="0">
                <a:latin typeface="Times New Roman" panose="02020603050405020304" pitchFamily="18" charset="0"/>
                <a:ea typeface="黑体" panose="02010609060101010101" pitchFamily="49" charset="-122"/>
              </a:rPr>
              <a:t>x</a:t>
            </a:r>
            <a:r>
              <a:rPr lang="zh-CN" altLang="en-US" sz="2200" kern="0" dirty="0">
                <a:latin typeface="Times New Roman" panose="02020603050405020304" pitchFamily="18" charset="0"/>
                <a:ea typeface="黑体" panose="02010609060101010101" pitchFamily="49" charset="-122"/>
              </a:rPr>
              <a:t>到每类均值点</a:t>
            </a:r>
            <a:r>
              <a:rPr lang="el-GR" altLang="zh-CN" sz="2200" kern="0" dirty="0">
                <a:latin typeface="Times New Roman" panose="02020603050405020304" pitchFamily="18" charset="0"/>
                <a:ea typeface="黑体" panose="02010609060101010101" pitchFamily="49" charset="-122"/>
              </a:rPr>
              <a:t>μ</a:t>
            </a:r>
            <a:r>
              <a:rPr lang="en-US" altLang="zh-CN" sz="2200" b="1" kern="0" baseline="-25000" dirty="0" err="1">
                <a:latin typeface="Times New Roman" panose="02020603050405020304" pitchFamily="18" charset="0"/>
                <a:ea typeface="黑体" panose="02010609060101010101" pitchFamily="49" charset="-122"/>
              </a:rPr>
              <a:t>i</a:t>
            </a:r>
            <a:r>
              <a:rPr lang="zh-CN" altLang="en-US" sz="2200" kern="0" dirty="0">
                <a:latin typeface="Times New Roman" panose="02020603050405020304" pitchFamily="18" charset="0"/>
                <a:ea typeface="黑体" panose="02010609060101010101" pitchFamily="49" charset="-122"/>
              </a:rPr>
              <a:t>的马氏距离平方</a:t>
            </a:r>
            <a:r>
              <a:rPr lang="en-US" altLang="zh-CN" sz="2200" kern="0" dirty="0">
                <a:latin typeface="Times New Roman" panose="02020603050405020304" pitchFamily="18" charset="0"/>
                <a:ea typeface="黑体" panose="02010609060101010101" pitchFamily="49" charset="-122"/>
              </a:rPr>
              <a:t>r</a:t>
            </a:r>
            <a:r>
              <a:rPr lang="en-US" altLang="zh-CN" sz="2200" kern="0" baseline="30000" dirty="0">
                <a:latin typeface="Times New Roman" panose="02020603050405020304" pitchFamily="18" charset="0"/>
                <a:ea typeface="黑体" panose="02010609060101010101" pitchFamily="49" charset="-122"/>
              </a:rPr>
              <a:t>2</a:t>
            </a:r>
            <a:r>
              <a:rPr lang="en-US" altLang="zh-CN" sz="2200" kern="0" dirty="0">
                <a:latin typeface="Times New Roman" panose="02020603050405020304" pitchFamily="18" charset="0"/>
                <a:ea typeface="黑体" panose="02010609060101010101" pitchFamily="49" charset="-122"/>
              </a:rPr>
              <a:t>, </a:t>
            </a:r>
            <a:r>
              <a:rPr lang="zh-CN" altLang="en-US" sz="2200" kern="0" dirty="0">
                <a:latin typeface="Times New Roman" panose="02020603050405020304" pitchFamily="18" charset="0"/>
                <a:ea typeface="黑体" panose="02010609060101010101" pitchFamily="49" charset="-122"/>
              </a:rPr>
              <a:t>将</a:t>
            </a:r>
            <a:r>
              <a:rPr lang="en-US" altLang="zh-CN" sz="2200" b="1" kern="0" dirty="0">
                <a:latin typeface="Times New Roman" panose="02020603050405020304" pitchFamily="18" charset="0"/>
                <a:ea typeface="黑体" panose="02010609060101010101" pitchFamily="49" charset="-122"/>
              </a:rPr>
              <a:t>x</a:t>
            </a:r>
            <a:r>
              <a:rPr lang="zh-CN" altLang="en-US" sz="2200" kern="0" dirty="0">
                <a:solidFill>
                  <a:srgbClr val="000000"/>
                </a:solidFill>
                <a:latin typeface="Times New Roman" panose="02020603050405020304" pitchFamily="18" charset="0"/>
                <a:ea typeface="黑体" panose="02010609060101010101" pitchFamily="49" charset="-122"/>
              </a:rPr>
              <a:t>分到距离最近的类中去，或归于</a:t>
            </a:r>
            <a:r>
              <a:rPr lang="en-US" altLang="zh-CN" sz="2200" kern="0" dirty="0">
                <a:latin typeface="Times New Roman" panose="02020603050405020304" pitchFamily="18" charset="0"/>
                <a:ea typeface="黑体" panose="02010609060101010101" pitchFamily="49" charset="-122"/>
              </a:rPr>
              <a:t>r</a:t>
            </a:r>
            <a:r>
              <a:rPr lang="en-US" altLang="zh-CN" sz="2200" kern="0" baseline="30000" dirty="0">
                <a:latin typeface="Times New Roman" panose="02020603050405020304" pitchFamily="18" charset="0"/>
                <a:ea typeface="黑体" panose="02010609060101010101" pitchFamily="49" charset="-122"/>
              </a:rPr>
              <a:t>2</a:t>
            </a:r>
            <a:r>
              <a:rPr lang="zh-CN" altLang="en-US" sz="2200" kern="0" dirty="0">
                <a:solidFill>
                  <a:srgbClr val="000000"/>
                </a:solidFill>
                <a:latin typeface="Times New Roman" panose="02020603050405020304" pitchFamily="18" charset="0"/>
                <a:ea typeface="黑体" panose="02010609060101010101" pitchFamily="49" charset="-122"/>
              </a:rPr>
              <a:t>最小的类。</a:t>
            </a:r>
          </a:p>
        </p:txBody>
      </p:sp>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63</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052736"/>
            <a:ext cx="736611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正态分布概率模型下的最小错误率贝叶斯决策</a:t>
            </a:r>
          </a:p>
        </p:txBody>
      </p:sp>
      <p:sp>
        <p:nvSpPr>
          <p:cNvPr id="11" name="Rectangle 3"/>
          <p:cNvSpPr txBox="1">
            <a:spLocks noChangeArrowheads="1"/>
          </p:cNvSpPr>
          <p:nvPr/>
        </p:nvSpPr>
        <p:spPr bwMode="gray">
          <a:xfrm>
            <a:off x="352693" y="1673257"/>
            <a:ext cx="1566843" cy="6367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20000"/>
              </a:lnSpc>
              <a:spcBef>
                <a:spcPts val="0"/>
              </a:spcBef>
              <a:buNone/>
            </a:pPr>
            <a:r>
              <a:rPr lang="en-US" altLang="zh-CN" b="1" kern="0" dirty="0">
                <a:solidFill>
                  <a:srgbClr val="FF0000"/>
                </a:solidFill>
                <a:latin typeface="Times New Roman" panose="02020603050405020304" pitchFamily="18" charset="0"/>
                <a:ea typeface="黑体" panose="02010609060101010101" pitchFamily="49" charset="-122"/>
              </a:rPr>
              <a:t>(2) </a:t>
            </a:r>
            <a:r>
              <a:rPr lang="en-US" altLang="zh-CN" b="1" dirty="0">
                <a:solidFill>
                  <a:srgbClr val="FF0000"/>
                </a:solidFill>
                <a:latin typeface="Symbol" pitchFamily="18" charset="2"/>
                <a:ea typeface="黑体" pitchFamily="2" charset="-122"/>
              </a:rPr>
              <a:t>S</a:t>
            </a:r>
            <a:r>
              <a:rPr lang="en-US" altLang="zh-CN" b="1" i="1" baseline="-25000" dirty="0">
                <a:solidFill>
                  <a:srgbClr val="FF0000"/>
                </a:solidFill>
                <a:latin typeface="Times New Roman" pitchFamily="18" charset="0"/>
                <a:ea typeface="黑体" pitchFamily="2" charset="-122"/>
              </a:rPr>
              <a:t>i </a:t>
            </a:r>
            <a:r>
              <a:rPr lang="en-US" altLang="zh-CN" b="1" dirty="0">
                <a:solidFill>
                  <a:srgbClr val="FF0000"/>
                </a:solidFill>
                <a:latin typeface="Times New Roman" pitchFamily="18" charset="0"/>
                <a:ea typeface="黑体" pitchFamily="2" charset="-122"/>
              </a:rPr>
              <a:t>=</a:t>
            </a:r>
            <a:r>
              <a:rPr lang="en-US" altLang="zh-CN" b="1" dirty="0">
                <a:solidFill>
                  <a:srgbClr val="FF0000"/>
                </a:solidFill>
                <a:latin typeface="Symbol" pitchFamily="18" charset="2"/>
                <a:ea typeface="黑体" pitchFamily="2" charset="-122"/>
              </a:rPr>
              <a:t>S</a:t>
            </a:r>
            <a:endParaRPr lang="en-US" altLang="zh-CN" b="1" kern="0" dirty="0">
              <a:solidFill>
                <a:srgbClr val="FF0000"/>
              </a:solidFill>
              <a:latin typeface="Times New Roman" panose="02020603050405020304" pitchFamily="18" charset="0"/>
              <a:ea typeface="黑体" panose="02010609060101010101" pitchFamily="49" charset="-122"/>
            </a:endParaRPr>
          </a:p>
        </p:txBody>
      </p:sp>
      <p:graphicFrame>
        <p:nvGraphicFramePr>
          <p:cNvPr id="12" name="Object 10"/>
          <p:cNvGraphicFramePr>
            <a:graphicFrameLocks noChangeAspect="1"/>
          </p:cNvGraphicFramePr>
          <p:nvPr>
            <p:extLst>
              <p:ext uri="{D42A27DB-BD31-4B8C-83A1-F6EECF244321}">
                <p14:modId xmlns:p14="http://schemas.microsoft.com/office/powerpoint/2010/main" val="482262449"/>
              </p:ext>
            </p:extLst>
          </p:nvPr>
        </p:nvGraphicFramePr>
        <p:xfrm>
          <a:off x="2604953" y="1742275"/>
          <a:ext cx="6924450" cy="748387"/>
        </p:xfrm>
        <a:graphic>
          <a:graphicData uri="http://schemas.openxmlformats.org/presentationml/2006/ole">
            <mc:AlternateContent xmlns:mc="http://schemas.openxmlformats.org/markup-compatibility/2006">
              <mc:Choice xmlns:v="urn:schemas-microsoft-com:vml" Requires="v">
                <p:oleObj spid="_x0000_s65750" name="公式" r:id="rId4" imgW="4051300" imgH="393700" progId="Equation.3">
                  <p:embed/>
                </p:oleObj>
              </mc:Choice>
              <mc:Fallback>
                <p:oleObj name="公式" r:id="rId4" imgW="4051300" imgH="393700" progId="Equation.3">
                  <p:embed/>
                  <p:pic>
                    <p:nvPicPr>
                      <p:cNvPr id="0" name="Picture 19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04953" y="1742275"/>
                        <a:ext cx="6924450" cy="748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5"/>
          <p:cNvGraphicFramePr>
            <a:graphicFrameLocks noChangeAspect="1"/>
          </p:cNvGraphicFramePr>
          <p:nvPr>
            <p:extLst>
              <p:ext uri="{D42A27DB-BD31-4B8C-83A1-F6EECF244321}">
                <p14:modId xmlns:p14="http://schemas.microsoft.com/office/powerpoint/2010/main" val="1563434244"/>
              </p:ext>
            </p:extLst>
          </p:nvPr>
        </p:nvGraphicFramePr>
        <p:xfrm>
          <a:off x="1919536" y="3356992"/>
          <a:ext cx="4389975" cy="732815"/>
        </p:xfrm>
        <a:graphic>
          <a:graphicData uri="http://schemas.openxmlformats.org/presentationml/2006/ole">
            <mc:AlternateContent xmlns:mc="http://schemas.openxmlformats.org/markup-compatibility/2006">
              <mc:Choice xmlns:v="urn:schemas-microsoft-com:vml" Requires="v">
                <p:oleObj spid="_x0000_s65751" name="Equation" r:id="rId6" imgW="2679700" imgH="393700" progId="Equation.DSMT4">
                  <p:embed/>
                </p:oleObj>
              </mc:Choice>
              <mc:Fallback>
                <p:oleObj name="Equation" r:id="rId6" imgW="2679700" imgH="393700" progId="Equation.DSMT4">
                  <p:embed/>
                  <p:pic>
                    <p:nvPicPr>
                      <p:cNvPr id="0" name="Picture 19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19536" y="3356992"/>
                        <a:ext cx="4389975" cy="7328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7"/>
          <p:cNvGraphicFramePr>
            <a:graphicFrameLocks noChangeAspect="1"/>
          </p:cNvGraphicFramePr>
          <p:nvPr>
            <p:extLst>
              <p:ext uri="{D42A27DB-BD31-4B8C-83A1-F6EECF244321}">
                <p14:modId xmlns:p14="http://schemas.microsoft.com/office/powerpoint/2010/main" val="2067867837"/>
              </p:ext>
            </p:extLst>
          </p:nvPr>
        </p:nvGraphicFramePr>
        <p:xfrm>
          <a:off x="3874335" y="4658959"/>
          <a:ext cx="3844478" cy="492271"/>
        </p:xfrm>
        <a:graphic>
          <a:graphicData uri="http://schemas.openxmlformats.org/presentationml/2006/ole">
            <mc:AlternateContent xmlns:mc="http://schemas.openxmlformats.org/markup-compatibility/2006">
              <mc:Choice xmlns:v="urn:schemas-microsoft-com:vml" Requires="v">
                <p:oleObj spid="_x0000_s65752" name="Equation" r:id="rId8" imgW="2006600" imgH="241300" progId="Equation.DSMT4">
                  <p:embed/>
                </p:oleObj>
              </mc:Choice>
              <mc:Fallback>
                <p:oleObj name="Equation" r:id="rId8" imgW="2006600" imgH="241300" progId="Equation.DSMT4">
                  <p:embed/>
                  <p:pic>
                    <p:nvPicPr>
                      <p:cNvPr id="0" name="Picture 20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74335" y="4658959"/>
                        <a:ext cx="3844478" cy="4922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Object 4"/>
          <p:cNvGraphicFramePr>
            <a:graphicFrameLocks noChangeAspect="1"/>
          </p:cNvGraphicFramePr>
          <p:nvPr>
            <p:extLst>
              <p:ext uri="{D42A27DB-BD31-4B8C-83A1-F6EECF244321}">
                <p14:modId xmlns:p14="http://schemas.microsoft.com/office/powerpoint/2010/main" val="650015314"/>
              </p:ext>
            </p:extLst>
          </p:nvPr>
        </p:nvGraphicFramePr>
        <p:xfrm>
          <a:off x="3503712" y="4160813"/>
          <a:ext cx="3926315" cy="420676"/>
        </p:xfrm>
        <a:graphic>
          <a:graphicData uri="http://schemas.openxmlformats.org/presentationml/2006/ole">
            <mc:AlternateContent xmlns:mc="http://schemas.openxmlformats.org/markup-compatibility/2006">
              <mc:Choice xmlns:v="urn:schemas-microsoft-com:vml" Requires="v">
                <p:oleObj spid="_x0000_s65753" name="Equation" r:id="rId10" imgW="2133600" imgH="228600" progId="Equation.DSMT4">
                  <p:embed/>
                </p:oleObj>
              </mc:Choice>
              <mc:Fallback>
                <p:oleObj name="Equation" r:id="rId10" imgW="2133600" imgH="228600" progId="Equation.DSMT4">
                  <p:embed/>
                  <p:pic>
                    <p:nvPicPr>
                      <p:cNvPr id="0" name="Picture 20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03712" y="4160813"/>
                        <a:ext cx="3926315" cy="4206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2" name="直接连接符 31"/>
          <p:cNvCxnSpPr/>
          <p:nvPr/>
        </p:nvCxnSpPr>
        <p:spPr>
          <a:xfrm>
            <a:off x="4799856" y="5217813"/>
            <a:ext cx="2357454" cy="1588"/>
          </a:xfrm>
          <a:prstGeom prst="line">
            <a:avLst/>
          </a:prstGeom>
          <a:ln>
            <a:solidFill>
              <a:srgbClr val="FF33CC"/>
            </a:soli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7430027" y="5013539"/>
            <a:ext cx="1834325" cy="369332"/>
          </a:xfrm>
          <a:prstGeom prst="rect">
            <a:avLst/>
          </a:prstGeom>
        </p:spPr>
        <p:txBody>
          <a:bodyPr wrap="square">
            <a:spAutoFit/>
          </a:bodyPr>
          <a:lstStyle/>
          <a:p>
            <a:r>
              <a:rPr lang="zh-CN" altLang="en-US" dirty="0">
                <a:solidFill>
                  <a:srgbClr val="FF33CC"/>
                </a:solidFill>
                <a:latin typeface="+mj-ea"/>
              </a:rPr>
              <a:t>马氏距离平方</a:t>
            </a:r>
            <a:endParaRPr lang="zh-CN" altLang="en-US" dirty="0">
              <a:solidFill>
                <a:srgbClr val="FF33CC"/>
              </a:solidFill>
            </a:endParaRPr>
          </a:p>
        </p:txBody>
      </p:sp>
    </p:spTree>
    <p:extLst>
      <p:ext uri="{BB962C8B-B14F-4D97-AF65-F5344CB8AC3E}">
        <p14:creationId xmlns:p14="http://schemas.microsoft.com/office/powerpoint/2010/main" val="1570984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64</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052736"/>
            <a:ext cx="736611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正态分布概率模型下的最小错误率贝叶斯决策</a:t>
            </a:r>
          </a:p>
        </p:txBody>
      </p:sp>
      <p:sp>
        <p:nvSpPr>
          <p:cNvPr id="11" name="Rectangle 3"/>
          <p:cNvSpPr txBox="1">
            <a:spLocks noChangeArrowheads="1"/>
          </p:cNvSpPr>
          <p:nvPr/>
        </p:nvSpPr>
        <p:spPr bwMode="gray">
          <a:xfrm>
            <a:off x="349725" y="1613065"/>
            <a:ext cx="1566843" cy="6367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20000"/>
              </a:lnSpc>
              <a:spcBef>
                <a:spcPts val="0"/>
              </a:spcBef>
              <a:buNone/>
            </a:pPr>
            <a:r>
              <a:rPr lang="en-US" altLang="zh-CN" b="1" kern="0" dirty="0">
                <a:solidFill>
                  <a:srgbClr val="FF0000"/>
                </a:solidFill>
                <a:latin typeface="Times New Roman" panose="02020603050405020304" pitchFamily="18" charset="0"/>
                <a:ea typeface="黑体" panose="02010609060101010101" pitchFamily="49" charset="-122"/>
              </a:rPr>
              <a:t>(2) </a:t>
            </a:r>
            <a:r>
              <a:rPr lang="en-US" altLang="zh-CN" b="1" dirty="0">
                <a:solidFill>
                  <a:srgbClr val="FF0000"/>
                </a:solidFill>
                <a:latin typeface="Symbol" pitchFamily="18" charset="2"/>
                <a:ea typeface="黑体" pitchFamily="2" charset="-122"/>
              </a:rPr>
              <a:t>S</a:t>
            </a:r>
            <a:r>
              <a:rPr lang="en-US" altLang="zh-CN" b="1" i="1" baseline="-25000" dirty="0">
                <a:solidFill>
                  <a:srgbClr val="FF0000"/>
                </a:solidFill>
                <a:latin typeface="Times New Roman" pitchFamily="18" charset="0"/>
                <a:ea typeface="黑体" pitchFamily="2" charset="-122"/>
              </a:rPr>
              <a:t>i </a:t>
            </a:r>
            <a:r>
              <a:rPr lang="en-US" altLang="zh-CN" b="1" dirty="0">
                <a:solidFill>
                  <a:srgbClr val="FF0000"/>
                </a:solidFill>
                <a:latin typeface="Times New Roman" pitchFamily="18" charset="0"/>
                <a:ea typeface="黑体" pitchFamily="2" charset="-122"/>
              </a:rPr>
              <a:t>=</a:t>
            </a:r>
            <a:r>
              <a:rPr lang="en-US" altLang="zh-CN" b="1" dirty="0">
                <a:solidFill>
                  <a:srgbClr val="FF0000"/>
                </a:solidFill>
                <a:latin typeface="Symbol" pitchFamily="18" charset="2"/>
                <a:ea typeface="黑体" pitchFamily="2" charset="-122"/>
              </a:rPr>
              <a:t>S</a:t>
            </a:r>
            <a:endParaRPr lang="en-US" altLang="zh-CN" b="1" kern="0" dirty="0">
              <a:solidFill>
                <a:srgbClr val="FF0000"/>
              </a:solidFill>
              <a:latin typeface="Times New Roman" panose="02020603050405020304" pitchFamily="18" charset="0"/>
              <a:ea typeface="黑体" panose="02010609060101010101" pitchFamily="49" charset="-122"/>
            </a:endParaRPr>
          </a:p>
        </p:txBody>
      </p:sp>
      <p:graphicFrame>
        <p:nvGraphicFramePr>
          <p:cNvPr id="29" name="Object 7"/>
          <p:cNvGraphicFramePr>
            <a:graphicFrameLocks noChangeAspect="1"/>
          </p:cNvGraphicFramePr>
          <p:nvPr>
            <p:extLst>
              <p:ext uri="{D42A27DB-BD31-4B8C-83A1-F6EECF244321}">
                <p14:modId xmlns:p14="http://schemas.microsoft.com/office/powerpoint/2010/main" val="2929695710"/>
              </p:ext>
            </p:extLst>
          </p:nvPr>
        </p:nvGraphicFramePr>
        <p:xfrm>
          <a:off x="3165649" y="1696111"/>
          <a:ext cx="3844478" cy="492271"/>
        </p:xfrm>
        <a:graphic>
          <a:graphicData uri="http://schemas.openxmlformats.org/presentationml/2006/ole">
            <mc:AlternateContent xmlns:mc="http://schemas.openxmlformats.org/markup-compatibility/2006">
              <mc:Choice xmlns:v="urn:schemas-microsoft-com:vml" Requires="v">
                <p:oleObj spid="_x0000_s66807" name="Equation" r:id="rId4" imgW="2006600" imgH="241300" progId="Equation.DSMT4">
                  <p:embed/>
                </p:oleObj>
              </mc:Choice>
              <mc:Fallback>
                <p:oleObj name="Equation" r:id="rId4" imgW="2006600" imgH="241300" progId="Equation.DSMT4">
                  <p:embed/>
                  <p:pic>
                    <p:nvPicPr>
                      <p:cNvPr id="0" name="Picture 2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65649" y="1696111"/>
                        <a:ext cx="3844478" cy="4922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内容占位符 2"/>
          <p:cNvSpPr>
            <a:spLocks noGrp="1"/>
          </p:cNvSpPr>
          <p:nvPr>
            <p:ph idx="1"/>
          </p:nvPr>
        </p:nvSpPr>
        <p:spPr>
          <a:xfrm>
            <a:off x="295179" y="2286208"/>
            <a:ext cx="11461104" cy="1286808"/>
          </a:xfrm>
        </p:spPr>
        <p:txBody>
          <a:bodyPr>
            <a:normAutofit fontScale="92500" lnSpcReduction="10000"/>
          </a:bodyPr>
          <a:lstStyle/>
          <a:p>
            <a:pPr marL="0" indent="0" algn="just">
              <a:lnSpc>
                <a:spcPct val="120000"/>
              </a:lnSpc>
              <a:spcBef>
                <a:spcPts val="1200"/>
              </a:spcBef>
              <a:buNone/>
            </a:pPr>
            <a:r>
              <a:rPr lang="zh-CN" altLang="en-US" sz="2600" b="1" dirty="0">
                <a:solidFill>
                  <a:srgbClr val="FF6600"/>
                </a:solidFill>
              </a:rPr>
              <a:t>马氏距离：</a:t>
            </a:r>
            <a:r>
              <a:rPr lang="zh-CN" altLang="en-US" sz="2600" dirty="0"/>
              <a:t>印度统计学家马哈拉诺比斯提出表示数据的协方差距离，是两个服从同一分布并且其协方差矩阵为</a:t>
            </a:r>
            <a:r>
              <a:rPr lang="el-GR" altLang="zh-CN" sz="2600" dirty="0"/>
              <a:t>Σ</a:t>
            </a:r>
            <a:r>
              <a:rPr lang="zh-CN" altLang="en-US" sz="2600" dirty="0"/>
              <a:t>的随机变量的差异程度。</a:t>
            </a:r>
            <a:endParaRPr lang="en-US" altLang="zh-CN" sz="2600" dirty="0"/>
          </a:p>
          <a:p>
            <a:pPr marL="0" indent="0" algn="just">
              <a:lnSpc>
                <a:spcPct val="120000"/>
              </a:lnSpc>
              <a:buNone/>
            </a:pPr>
            <a:r>
              <a:rPr lang="zh-CN" altLang="en-US" sz="2200" dirty="0">
                <a:solidFill>
                  <a:srgbClr val="0000CC"/>
                </a:solidFill>
              </a:rPr>
              <a:t>*与欧式距离不同的是，马氏距离考虑到各种特性之间的联系，即独立于测量尺度。</a:t>
            </a:r>
            <a:endParaRPr lang="en-US" altLang="zh-CN" sz="2200" dirty="0">
              <a:solidFill>
                <a:srgbClr val="0000CC"/>
              </a:solidFill>
            </a:endParaRPr>
          </a:p>
        </p:txBody>
      </p:sp>
      <p:sp>
        <p:nvSpPr>
          <p:cNvPr id="18" name="内容占位符 2"/>
          <p:cNvSpPr txBox="1">
            <a:spLocks/>
          </p:cNvSpPr>
          <p:nvPr/>
        </p:nvSpPr>
        <p:spPr>
          <a:xfrm>
            <a:off x="312661" y="3698834"/>
            <a:ext cx="11348915" cy="242316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20000"/>
              </a:lnSpc>
            </a:pPr>
            <a:r>
              <a:rPr lang="zh-CN" altLang="en-US" sz="2000" dirty="0"/>
              <a:t>如果协方差矩阵为单位矩阵，马氏距离简化为欧氏距离（</a:t>
            </a:r>
            <a:r>
              <a:rPr lang="en-US" altLang="zh-CN" sz="2000" dirty="0"/>
              <a:t>m=2</a:t>
            </a:r>
            <a:r>
              <a:rPr lang="zh-CN" altLang="en-US" sz="2000" dirty="0"/>
              <a:t>）</a:t>
            </a:r>
            <a:endParaRPr lang="en-US" altLang="zh-CN" sz="2000" dirty="0"/>
          </a:p>
          <a:p>
            <a:pPr>
              <a:lnSpc>
                <a:spcPct val="120000"/>
              </a:lnSpc>
              <a:buFont typeface="Arial" pitchFamily="34" charset="0"/>
              <a:buNone/>
            </a:pPr>
            <a:r>
              <a:rPr lang="zh-CN" altLang="en-US" sz="2000" dirty="0"/>
              <a:t>    </a:t>
            </a:r>
            <a:endParaRPr lang="en-US" altLang="zh-CN" sz="2000" dirty="0"/>
          </a:p>
          <a:p>
            <a:pPr>
              <a:lnSpc>
                <a:spcPct val="120000"/>
              </a:lnSpc>
              <a:spcBef>
                <a:spcPts val="3000"/>
              </a:spcBef>
            </a:pPr>
            <a:r>
              <a:rPr lang="zh-CN" altLang="en-US" sz="2000" dirty="0"/>
              <a:t>如果协方差矩阵为对角矩阵，马氏距离则为正规化的欧式距离</a:t>
            </a:r>
            <a:endParaRPr lang="en-US" altLang="zh-CN" sz="2000" dirty="0"/>
          </a:p>
          <a:p>
            <a:pPr>
              <a:lnSpc>
                <a:spcPct val="120000"/>
              </a:lnSpc>
            </a:pPr>
            <a:endParaRPr lang="zh-CN" altLang="en-US" sz="2000" dirty="0"/>
          </a:p>
        </p:txBody>
      </p:sp>
      <p:graphicFrame>
        <p:nvGraphicFramePr>
          <p:cNvPr id="19" name="Object 2"/>
          <p:cNvGraphicFramePr>
            <a:graphicFrameLocks noChangeAspect="1"/>
          </p:cNvGraphicFramePr>
          <p:nvPr>
            <p:extLst>
              <p:ext uri="{D42A27DB-BD31-4B8C-83A1-F6EECF244321}">
                <p14:modId xmlns:p14="http://schemas.microsoft.com/office/powerpoint/2010/main" val="3162934404"/>
              </p:ext>
            </p:extLst>
          </p:nvPr>
        </p:nvGraphicFramePr>
        <p:xfrm>
          <a:off x="2531604" y="4169379"/>
          <a:ext cx="7315200" cy="701675"/>
        </p:xfrm>
        <a:graphic>
          <a:graphicData uri="http://schemas.openxmlformats.org/presentationml/2006/ole">
            <mc:AlternateContent xmlns:mc="http://schemas.openxmlformats.org/markup-compatibility/2006">
              <mc:Choice xmlns:v="urn:schemas-microsoft-com:vml" Requires="v">
                <p:oleObj spid="_x0000_s66808" name="Equation" r:id="rId6" imgW="5359320" imgH="482400" progId="Equation.DSMT4">
                  <p:embed/>
                </p:oleObj>
              </mc:Choice>
              <mc:Fallback>
                <p:oleObj name="Equation" r:id="rId6" imgW="5359320" imgH="482400" progId="Equation.DSMT4">
                  <p:embed/>
                  <p:pic>
                    <p:nvPicPr>
                      <p:cNvPr id="0" name="Picture 2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31604" y="4169379"/>
                        <a:ext cx="7315200" cy="701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3"/>
          <p:cNvGraphicFramePr>
            <a:graphicFrameLocks noChangeAspect="1"/>
          </p:cNvGraphicFramePr>
          <p:nvPr>
            <p:extLst>
              <p:ext uri="{D42A27DB-BD31-4B8C-83A1-F6EECF244321}">
                <p14:modId xmlns:p14="http://schemas.microsoft.com/office/powerpoint/2010/main" val="2247335322"/>
              </p:ext>
            </p:extLst>
          </p:nvPr>
        </p:nvGraphicFramePr>
        <p:xfrm>
          <a:off x="580209" y="4150974"/>
          <a:ext cx="1296796" cy="720080"/>
        </p:xfrm>
        <a:graphic>
          <a:graphicData uri="http://schemas.openxmlformats.org/presentationml/2006/ole">
            <mc:AlternateContent xmlns:mc="http://schemas.openxmlformats.org/markup-compatibility/2006">
              <mc:Choice xmlns:v="urn:schemas-microsoft-com:vml" Requires="v">
                <p:oleObj spid="_x0000_s66809" name="Equation" r:id="rId8" imgW="927100" imgH="482600" progId="Equation.DSMT4">
                  <p:embed/>
                </p:oleObj>
              </mc:Choice>
              <mc:Fallback>
                <p:oleObj name="Equation" r:id="rId8" imgW="927100" imgH="482600" progId="Equation.DSMT4">
                  <p:embed/>
                  <p:pic>
                    <p:nvPicPr>
                      <p:cNvPr id="0" name="Picture 2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0209" y="4150974"/>
                        <a:ext cx="1296796" cy="7200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5"/>
          <p:cNvGraphicFramePr>
            <a:graphicFrameLocks noChangeAspect="1"/>
          </p:cNvGraphicFramePr>
          <p:nvPr>
            <p:extLst>
              <p:ext uri="{D42A27DB-BD31-4B8C-83A1-F6EECF244321}">
                <p14:modId xmlns:p14="http://schemas.microsoft.com/office/powerpoint/2010/main" val="1037094606"/>
              </p:ext>
            </p:extLst>
          </p:nvPr>
        </p:nvGraphicFramePr>
        <p:xfrm>
          <a:off x="616592" y="5451099"/>
          <a:ext cx="1285570" cy="714205"/>
        </p:xfrm>
        <a:graphic>
          <a:graphicData uri="http://schemas.openxmlformats.org/presentationml/2006/ole">
            <mc:AlternateContent xmlns:mc="http://schemas.openxmlformats.org/markup-compatibility/2006">
              <mc:Choice xmlns:v="urn:schemas-microsoft-com:vml" Requires="v">
                <p:oleObj spid="_x0000_s66810" name="Equation" r:id="rId10" imgW="927100" imgH="482600" progId="Equation.DSMT4">
                  <p:embed/>
                </p:oleObj>
              </mc:Choice>
              <mc:Fallback>
                <p:oleObj name="Equation" r:id="rId10" imgW="927100" imgH="482600" progId="Equation.DSMT4">
                  <p:embed/>
                  <p:pic>
                    <p:nvPicPr>
                      <p:cNvPr id="0" name="Picture 23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6592" y="5451099"/>
                        <a:ext cx="1285570" cy="7142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6"/>
          <p:cNvGraphicFramePr>
            <a:graphicFrameLocks noChangeAspect="1"/>
          </p:cNvGraphicFramePr>
          <p:nvPr>
            <p:extLst>
              <p:ext uri="{D42A27DB-BD31-4B8C-83A1-F6EECF244321}">
                <p14:modId xmlns:p14="http://schemas.microsoft.com/office/powerpoint/2010/main" val="263743684"/>
              </p:ext>
            </p:extLst>
          </p:nvPr>
        </p:nvGraphicFramePr>
        <p:xfrm>
          <a:off x="2532001" y="5302213"/>
          <a:ext cx="7534275" cy="808038"/>
        </p:xfrm>
        <a:graphic>
          <a:graphicData uri="http://schemas.openxmlformats.org/presentationml/2006/ole">
            <mc:AlternateContent xmlns:mc="http://schemas.openxmlformats.org/markup-compatibility/2006">
              <mc:Choice xmlns:v="urn:schemas-microsoft-com:vml" Requires="v">
                <p:oleObj spid="_x0000_s66811" name="Equation" r:id="rId12" imgW="5054400" imgH="507960" progId="Equation.DSMT4">
                  <p:embed/>
                </p:oleObj>
              </mc:Choice>
              <mc:Fallback>
                <p:oleObj name="Equation" r:id="rId12" imgW="5054400" imgH="507960" progId="Equation.DSMT4">
                  <p:embed/>
                  <p:pic>
                    <p:nvPicPr>
                      <p:cNvPr id="0" name="Picture 23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32001" y="5302213"/>
                        <a:ext cx="7534275" cy="808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149988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65</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033572"/>
            <a:ext cx="736611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正态分布概率模型下的最小错误率贝叶斯决策</a:t>
            </a:r>
          </a:p>
        </p:txBody>
      </p:sp>
      <p:graphicFrame>
        <p:nvGraphicFramePr>
          <p:cNvPr id="13" name="Object 7"/>
          <p:cNvGraphicFramePr>
            <a:graphicFrameLocks noChangeAspect="1"/>
          </p:cNvGraphicFramePr>
          <p:nvPr>
            <p:extLst>
              <p:ext uri="{D42A27DB-BD31-4B8C-83A1-F6EECF244321}">
                <p14:modId xmlns:p14="http://schemas.microsoft.com/office/powerpoint/2010/main" val="3757902877"/>
              </p:ext>
            </p:extLst>
          </p:nvPr>
        </p:nvGraphicFramePr>
        <p:xfrm>
          <a:off x="886901" y="2150164"/>
          <a:ext cx="1639451" cy="370754"/>
        </p:xfrm>
        <a:graphic>
          <a:graphicData uri="http://schemas.openxmlformats.org/presentationml/2006/ole">
            <mc:AlternateContent xmlns:mc="http://schemas.openxmlformats.org/markup-compatibility/2006">
              <mc:Choice xmlns:v="urn:schemas-microsoft-com:vml" Requires="v">
                <p:oleObj spid="_x0000_s69346" name="Equation" r:id="rId4" imgW="1066800" imgH="241300" progId="Equation.DSMT4">
                  <p:embed/>
                </p:oleObj>
              </mc:Choice>
              <mc:Fallback>
                <p:oleObj name="Equation" r:id="rId4" imgW="1066800" imgH="241300" progId="Equation.DSMT4">
                  <p:embed/>
                  <p:pic>
                    <p:nvPicPr>
                      <p:cNvPr id="0" name="Picture 67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6901" y="2150164"/>
                        <a:ext cx="1639451" cy="3707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8"/>
          <p:cNvGraphicFramePr>
            <a:graphicFrameLocks noChangeAspect="1"/>
          </p:cNvGraphicFramePr>
          <p:nvPr>
            <p:extLst>
              <p:ext uri="{D42A27DB-BD31-4B8C-83A1-F6EECF244321}">
                <p14:modId xmlns:p14="http://schemas.microsoft.com/office/powerpoint/2010/main" val="2341515693"/>
              </p:ext>
            </p:extLst>
          </p:nvPr>
        </p:nvGraphicFramePr>
        <p:xfrm>
          <a:off x="3520644" y="1991562"/>
          <a:ext cx="7183868" cy="588617"/>
        </p:xfrm>
        <a:graphic>
          <a:graphicData uri="http://schemas.openxmlformats.org/presentationml/2006/ole">
            <mc:AlternateContent xmlns:mc="http://schemas.openxmlformats.org/markup-compatibility/2006">
              <mc:Choice xmlns:v="urn:schemas-microsoft-com:vml" Requires="v">
                <p:oleObj spid="_x0000_s69347" name="Equation" r:id="rId6" imgW="5448300" imgH="393700" progId="Equation.DSMT4">
                  <p:embed/>
                </p:oleObj>
              </mc:Choice>
              <mc:Fallback>
                <p:oleObj name="Equation" r:id="rId6" imgW="5448300" imgH="393700" progId="Equation.DSMT4">
                  <p:embed/>
                  <p:pic>
                    <p:nvPicPr>
                      <p:cNvPr id="0" name="Picture 67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20644" y="1991562"/>
                        <a:ext cx="7183868" cy="5886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9"/>
          <p:cNvGraphicFramePr>
            <a:graphicFrameLocks noChangeAspect="1"/>
          </p:cNvGraphicFramePr>
          <p:nvPr>
            <p:extLst>
              <p:ext uri="{D42A27DB-BD31-4B8C-83A1-F6EECF244321}">
                <p14:modId xmlns:p14="http://schemas.microsoft.com/office/powerpoint/2010/main" val="3453420743"/>
              </p:ext>
            </p:extLst>
          </p:nvPr>
        </p:nvGraphicFramePr>
        <p:xfrm>
          <a:off x="3522694" y="2564904"/>
          <a:ext cx="5844478" cy="425002"/>
        </p:xfrm>
        <a:graphic>
          <a:graphicData uri="http://schemas.openxmlformats.org/presentationml/2006/ole">
            <mc:AlternateContent xmlns:mc="http://schemas.openxmlformats.org/markup-compatibility/2006">
              <mc:Choice xmlns:v="urn:schemas-microsoft-com:vml" Requires="v">
                <p:oleObj spid="_x0000_s69348" name="Equation" r:id="rId8" imgW="4368800" imgH="279400" progId="Equation.DSMT4">
                  <p:embed/>
                </p:oleObj>
              </mc:Choice>
              <mc:Fallback>
                <p:oleObj name="Equation" r:id="rId8" imgW="4368800" imgH="279400" progId="Equation.DSMT4">
                  <p:embed/>
                  <p:pic>
                    <p:nvPicPr>
                      <p:cNvPr id="0" name="Picture 67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22694" y="2564904"/>
                        <a:ext cx="5844478" cy="4250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14"/>
          <p:cNvGraphicFramePr>
            <a:graphicFrameLocks noChangeAspect="1"/>
          </p:cNvGraphicFramePr>
          <p:nvPr>
            <p:extLst>
              <p:ext uri="{D42A27DB-BD31-4B8C-83A1-F6EECF244321}">
                <p14:modId xmlns:p14="http://schemas.microsoft.com/office/powerpoint/2010/main" val="903346517"/>
              </p:ext>
            </p:extLst>
          </p:nvPr>
        </p:nvGraphicFramePr>
        <p:xfrm>
          <a:off x="3521006" y="3060107"/>
          <a:ext cx="5846165" cy="857587"/>
        </p:xfrm>
        <a:graphic>
          <a:graphicData uri="http://schemas.openxmlformats.org/presentationml/2006/ole">
            <mc:AlternateContent xmlns:mc="http://schemas.openxmlformats.org/markup-compatibility/2006">
              <mc:Choice xmlns:v="urn:schemas-microsoft-com:vml" Requires="v">
                <p:oleObj spid="_x0000_s69349" name="Equation" r:id="rId10" imgW="4330700" imgH="558800" progId="Equation.DSMT4">
                  <p:embed/>
                </p:oleObj>
              </mc:Choice>
              <mc:Fallback>
                <p:oleObj name="Equation" r:id="rId10" imgW="4330700" imgH="558800" progId="Equation.DSMT4">
                  <p:embed/>
                  <p:pic>
                    <p:nvPicPr>
                      <p:cNvPr id="0" name="Picture 67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21006" y="3060107"/>
                        <a:ext cx="5846165" cy="857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15"/>
          <p:cNvGraphicFramePr>
            <a:graphicFrameLocks noChangeAspect="1"/>
          </p:cNvGraphicFramePr>
          <p:nvPr>
            <p:extLst>
              <p:ext uri="{D42A27DB-BD31-4B8C-83A1-F6EECF244321}">
                <p14:modId xmlns:p14="http://schemas.microsoft.com/office/powerpoint/2010/main" val="2864469225"/>
              </p:ext>
            </p:extLst>
          </p:nvPr>
        </p:nvGraphicFramePr>
        <p:xfrm>
          <a:off x="1134261" y="2977407"/>
          <a:ext cx="1364536" cy="297824"/>
        </p:xfrm>
        <a:graphic>
          <a:graphicData uri="http://schemas.openxmlformats.org/presentationml/2006/ole">
            <mc:AlternateContent xmlns:mc="http://schemas.openxmlformats.org/markup-compatibility/2006">
              <mc:Choice xmlns:v="urn:schemas-microsoft-com:vml" Requires="v">
                <p:oleObj spid="_x0000_s69350" name="Equation" r:id="rId12" imgW="1193800" imgH="228600" progId="Equation.DSMT4">
                  <p:embed/>
                </p:oleObj>
              </mc:Choice>
              <mc:Fallback>
                <p:oleObj name="Equation" r:id="rId12" imgW="1193800" imgH="228600" progId="Equation.DSMT4">
                  <p:embed/>
                  <p:pic>
                    <p:nvPicPr>
                      <p:cNvPr id="0" name="Picture 67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34261" y="2977407"/>
                        <a:ext cx="1364536" cy="297824"/>
                      </a:xfrm>
                      <a:prstGeom prst="rect">
                        <a:avLst/>
                      </a:prstGeom>
                      <a:solidFill>
                        <a:srgbClr val="DFF0F0"/>
                      </a:solidFill>
                    </p:spPr>
                  </p:pic>
                </p:oleObj>
              </mc:Fallback>
            </mc:AlternateContent>
          </a:graphicData>
        </a:graphic>
      </p:graphicFrame>
      <p:graphicFrame>
        <p:nvGraphicFramePr>
          <p:cNvPr id="27" name="Object 16"/>
          <p:cNvGraphicFramePr>
            <a:graphicFrameLocks noChangeAspect="1"/>
          </p:cNvGraphicFramePr>
          <p:nvPr>
            <p:extLst>
              <p:ext uri="{D42A27DB-BD31-4B8C-83A1-F6EECF244321}">
                <p14:modId xmlns:p14="http://schemas.microsoft.com/office/powerpoint/2010/main" val="1159345956"/>
              </p:ext>
            </p:extLst>
          </p:nvPr>
        </p:nvGraphicFramePr>
        <p:xfrm>
          <a:off x="1064798" y="3382814"/>
          <a:ext cx="1503461" cy="263578"/>
        </p:xfrm>
        <a:graphic>
          <a:graphicData uri="http://schemas.openxmlformats.org/presentationml/2006/ole">
            <mc:AlternateContent xmlns:mc="http://schemas.openxmlformats.org/markup-compatibility/2006">
              <mc:Choice xmlns:v="urn:schemas-microsoft-com:vml" Requires="v">
                <p:oleObj spid="_x0000_s69351" name="Equation" r:id="rId14" imgW="1320227" imgH="203112" progId="Equation.DSMT4">
                  <p:embed/>
                </p:oleObj>
              </mc:Choice>
              <mc:Fallback>
                <p:oleObj name="Equation" r:id="rId14" imgW="1320227" imgH="203112" progId="Equation.DSMT4">
                  <p:embed/>
                  <p:pic>
                    <p:nvPicPr>
                      <p:cNvPr id="0" name="Picture 67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64798" y="3382814"/>
                        <a:ext cx="1503461" cy="263578"/>
                      </a:xfrm>
                      <a:prstGeom prst="rect">
                        <a:avLst/>
                      </a:prstGeom>
                      <a:solidFill>
                        <a:srgbClr val="DFF0F0"/>
                      </a:solidFill>
                    </p:spPr>
                  </p:pic>
                </p:oleObj>
              </mc:Fallback>
            </mc:AlternateContent>
          </a:graphicData>
        </a:graphic>
      </p:graphicFrame>
      <p:graphicFrame>
        <p:nvGraphicFramePr>
          <p:cNvPr id="29" name="Object 17"/>
          <p:cNvGraphicFramePr>
            <a:graphicFrameLocks noChangeAspect="1"/>
          </p:cNvGraphicFramePr>
          <p:nvPr>
            <p:extLst>
              <p:ext uri="{D42A27DB-BD31-4B8C-83A1-F6EECF244321}">
                <p14:modId xmlns:p14="http://schemas.microsoft.com/office/powerpoint/2010/main" val="4007035104"/>
              </p:ext>
            </p:extLst>
          </p:nvPr>
        </p:nvGraphicFramePr>
        <p:xfrm>
          <a:off x="3520645" y="3999835"/>
          <a:ext cx="7553755" cy="485277"/>
        </p:xfrm>
        <a:graphic>
          <a:graphicData uri="http://schemas.openxmlformats.org/presentationml/2006/ole">
            <mc:AlternateContent xmlns:mc="http://schemas.openxmlformats.org/markup-compatibility/2006">
              <mc:Choice xmlns:v="urn:schemas-microsoft-com:vml" Requires="v">
                <p:oleObj spid="_x0000_s69352" name="Equation" r:id="rId16" imgW="5397500" imgH="304800" progId="Equation.DSMT4">
                  <p:embed/>
                </p:oleObj>
              </mc:Choice>
              <mc:Fallback>
                <p:oleObj name="Equation" r:id="rId16" imgW="5397500" imgH="304800" progId="Equation.DSMT4">
                  <p:embed/>
                  <p:pic>
                    <p:nvPicPr>
                      <p:cNvPr id="0" name="Picture 68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520645" y="3999835"/>
                        <a:ext cx="7553755" cy="4852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Object 18"/>
          <p:cNvGraphicFramePr>
            <a:graphicFrameLocks noChangeAspect="1"/>
          </p:cNvGraphicFramePr>
          <p:nvPr>
            <p:extLst>
              <p:ext uri="{D42A27DB-BD31-4B8C-83A1-F6EECF244321}">
                <p14:modId xmlns:p14="http://schemas.microsoft.com/office/powerpoint/2010/main" val="1411636195"/>
              </p:ext>
            </p:extLst>
          </p:nvPr>
        </p:nvGraphicFramePr>
        <p:xfrm>
          <a:off x="3497694" y="4522664"/>
          <a:ext cx="6040174" cy="429244"/>
        </p:xfrm>
        <a:graphic>
          <a:graphicData uri="http://schemas.openxmlformats.org/presentationml/2006/ole">
            <mc:AlternateContent xmlns:mc="http://schemas.openxmlformats.org/markup-compatibility/2006">
              <mc:Choice xmlns:v="urn:schemas-microsoft-com:vml" Requires="v">
                <p:oleObj spid="_x0000_s69353" name="Equation" r:id="rId18" imgW="4279900" imgH="266700" progId="Equation.DSMT4">
                  <p:embed/>
                </p:oleObj>
              </mc:Choice>
              <mc:Fallback>
                <p:oleObj name="Equation" r:id="rId18" imgW="4279900" imgH="266700" progId="Equation.DSMT4">
                  <p:embed/>
                  <p:pic>
                    <p:nvPicPr>
                      <p:cNvPr id="0" name="Picture 68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97694" y="4522664"/>
                        <a:ext cx="6040174" cy="429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Object 19"/>
          <p:cNvGraphicFramePr>
            <a:graphicFrameLocks noChangeAspect="1"/>
          </p:cNvGraphicFramePr>
          <p:nvPr>
            <p:extLst>
              <p:ext uri="{D42A27DB-BD31-4B8C-83A1-F6EECF244321}">
                <p14:modId xmlns:p14="http://schemas.microsoft.com/office/powerpoint/2010/main" val="3599628556"/>
              </p:ext>
            </p:extLst>
          </p:nvPr>
        </p:nvGraphicFramePr>
        <p:xfrm>
          <a:off x="1127764" y="4968214"/>
          <a:ext cx="1151812" cy="328155"/>
        </p:xfrm>
        <a:graphic>
          <a:graphicData uri="http://schemas.openxmlformats.org/presentationml/2006/ole">
            <mc:AlternateContent xmlns:mc="http://schemas.openxmlformats.org/markup-compatibility/2006">
              <mc:Choice xmlns:v="urn:schemas-microsoft-com:vml" Requires="v">
                <p:oleObj spid="_x0000_s69354" name="Equation" r:id="rId20" imgW="914400" imgH="228600" progId="Equation.DSMT4">
                  <p:embed/>
                </p:oleObj>
              </mc:Choice>
              <mc:Fallback>
                <p:oleObj name="Equation" r:id="rId20" imgW="914400" imgH="228600" progId="Equation.DSMT4">
                  <p:embed/>
                  <p:pic>
                    <p:nvPicPr>
                      <p:cNvPr id="0" name="Picture 68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127764" y="4968214"/>
                        <a:ext cx="1151812" cy="328155"/>
                      </a:xfrm>
                      <a:prstGeom prst="rect">
                        <a:avLst/>
                      </a:prstGeom>
                      <a:solidFill>
                        <a:srgbClr val="DFF0F0"/>
                      </a:solidFill>
                    </p:spPr>
                  </p:pic>
                </p:oleObj>
              </mc:Fallback>
            </mc:AlternateContent>
          </a:graphicData>
        </a:graphic>
      </p:graphicFrame>
      <p:graphicFrame>
        <p:nvGraphicFramePr>
          <p:cNvPr id="32" name="Object 20"/>
          <p:cNvGraphicFramePr>
            <a:graphicFrameLocks noChangeAspect="1"/>
          </p:cNvGraphicFramePr>
          <p:nvPr>
            <p:extLst>
              <p:ext uri="{D42A27DB-BD31-4B8C-83A1-F6EECF244321}">
                <p14:modId xmlns:p14="http://schemas.microsoft.com/office/powerpoint/2010/main" val="4093180014"/>
              </p:ext>
            </p:extLst>
          </p:nvPr>
        </p:nvGraphicFramePr>
        <p:xfrm>
          <a:off x="1200759" y="5539727"/>
          <a:ext cx="1078817" cy="460185"/>
        </p:xfrm>
        <a:graphic>
          <a:graphicData uri="http://schemas.openxmlformats.org/presentationml/2006/ole">
            <mc:AlternateContent xmlns:mc="http://schemas.openxmlformats.org/markup-compatibility/2006">
              <mc:Choice xmlns:v="urn:schemas-microsoft-com:vml" Requires="v">
                <p:oleObj spid="_x0000_s69355" name="Equation" r:id="rId22" imgW="812447" imgH="304668" progId="Equation.DSMT4">
                  <p:embed/>
                </p:oleObj>
              </mc:Choice>
              <mc:Fallback>
                <p:oleObj name="Equation" r:id="rId22" imgW="812447" imgH="304668" progId="Equation.DSMT4">
                  <p:embed/>
                  <p:pic>
                    <p:nvPicPr>
                      <p:cNvPr id="0" name="Picture 68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200759" y="5539727"/>
                        <a:ext cx="1078817" cy="460185"/>
                      </a:xfrm>
                      <a:prstGeom prst="rect">
                        <a:avLst/>
                      </a:prstGeom>
                      <a:solidFill>
                        <a:srgbClr val="DFF0F0"/>
                      </a:solidFill>
                    </p:spPr>
                  </p:pic>
                </p:oleObj>
              </mc:Fallback>
            </mc:AlternateContent>
          </a:graphicData>
        </a:graphic>
      </p:graphicFrame>
      <p:graphicFrame>
        <p:nvGraphicFramePr>
          <p:cNvPr id="33" name="Object 21"/>
          <p:cNvGraphicFramePr>
            <a:graphicFrameLocks noChangeAspect="1"/>
          </p:cNvGraphicFramePr>
          <p:nvPr>
            <p:extLst>
              <p:ext uri="{D42A27DB-BD31-4B8C-83A1-F6EECF244321}">
                <p14:modId xmlns:p14="http://schemas.microsoft.com/office/powerpoint/2010/main" val="1259167735"/>
              </p:ext>
            </p:extLst>
          </p:nvPr>
        </p:nvGraphicFramePr>
        <p:xfrm>
          <a:off x="3489917" y="5040493"/>
          <a:ext cx="5648065" cy="461066"/>
        </p:xfrm>
        <a:graphic>
          <a:graphicData uri="http://schemas.openxmlformats.org/presentationml/2006/ole">
            <mc:AlternateContent xmlns:mc="http://schemas.openxmlformats.org/markup-compatibility/2006">
              <mc:Choice xmlns:v="urn:schemas-microsoft-com:vml" Requires="v">
                <p:oleObj spid="_x0000_s69356" name="Equation" r:id="rId24" imgW="3733800" imgH="304800" progId="Equation.DSMT4">
                  <p:embed/>
                </p:oleObj>
              </mc:Choice>
              <mc:Fallback>
                <p:oleObj name="Equation" r:id="rId24" imgW="3733800" imgH="304800" progId="Equation.DSMT4">
                  <p:embed/>
                  <p:pic>
                    <p:nvPicPr>
                      <p:cNvPr id="0" name="Picture 68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489917" y="5040493"/>
                        <a:ext cx="5648065" cy="4610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Object 22"/>
          <p:cNvGraphicFramePr>
            <a:graphicFrameLocks noChangeAspect="1"/>
          </p:cNvGraphicFramePr>
          <p:nvPr>
            <p:extLst>
              <p:ext uri="{D42A27DB-BD31-4B8C-83A1-F6EECF244321}">
                <p14:modId xmlns:p14="http://schemas.microsoft.com/office/powerpoint/2010/main" val="4043992870"/>
              </p:ext>
            </p:extLst>
          </p:nvPr>
        </p:nvGraphicFramePr>
        <p:xfrm>
          <a:off x="3520644" y="5577858"/>
          <a:ext cx="1423228" cy="430696"/>
        </p:xfrm>
        <a:graphic>
          <a:graphicData uri="http://schemas.openxmlformats.org/presentationml/2006/ole">
            <mc:AlternateContent xmlns:mc="http://schemas.openxmlformats.org/markup-compatibility/2006">
              <mc:Choice xmlns:v="urn:schemas-microsoft-com:vml" Requires="v">
                <p:oleObj spid="_x0000_s69357" name="Equation" r:id="rId26" imgW="1002865" imgH="304668" progId="Equation.DSMT4">
                  <p:embed/>
                </p:oleObj>
              </mc:Choice>
              <mc:Fallback>
                <p:oleObj name="Equation" r:id="rId26" imgW="1002865" imgH="304668" progId="Equation.DSMT4">
                  <p:embed/>
                  <p:pic>
                    <p:nvPicPr>
                      <p:cNvPr id="0" name="Picture 685"/>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520644" y="5577858"/>
                        <a:ext cx="1423228" cy="4306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Object 23"/>
          <p:cNvGraphicFramePr>
            <a:graphicFrameLocks noChangeAspect="1"/>
          </p:cNvGraphicFramePr>
          <p:nvPr>
            <p:extLst>
              <p:ext uri="{D42A27DB-BD31-4B8C-83A1-F6EECF244321}">
                <p14:modId xmlns:p14="http://schemas.microsoft.com/office/powerpoint/2010/main" val="3497162778"/>
              </p:ext>
            </p:extLst>
          </p:nvPr>
        </p:nvGraphicFramePr>
        <p:xfrm>
          <a:off x="3520644" y="5974045"/>
          <a:ext cx="5846527" cy="479291"/>
        </p:xfrm>
        <a:graphic>
          <a:graphicData uri="http://schemas.openxmlformats.org/presentationml/2006/ole">
            <mc:AlternateContent xmlns:mc="http://schemas.openxmlformats.org/markup-compatibility/2006">
              <mc:Choice xmlns:v="urn:schemas-microsoft-com:vml" Requires="v">
                <p:oleObj spid="_x0000_s69358" name="Equation" r:id="rId28" imgW="4406900" imgH="317500" progId="Equation.DSMT4">
                  <p:embed/>
                </p:oleObj>
              </mc:Choice>
              <mc:Fallback>
                <p:oleObj name="Equation" r:id="rId28" imgW="4406900" imgH="317500" progId="Equation.DSMT4">
                  <p:embed/>
                  <p:pic>
                    <p:nvPicPr>
                      <p:cNvPr id="0" name="Picture 686"/>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520644" y="5974045"/>
                        <a:ext cx="5846527" cy="4792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6" name="直接连接符 35"/>
          <p:cNvCxnSpPr/>
          <p:nvPr/>
        </p:nvCxnSpPr>
        <p:spPr>
          <a:xfrm>
            <a:off x="3674893" y="5470826"/>
            <a:ext cx="1571636" cy="15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3592082" y="3999835"/>
            <a:ext cx="653821" cy="26665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7335547" y="4102317"/>
            <a:ext cx="588439" cy="26665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40" name="Object 38"/>
          <p:cNvGraphicFramePr>
            <a:graphicFrameLocks noChangeAspect="1"/>
          </p:cNvGraphicFramePr>
          <p:nvPr>
            <p:extLst>
              <p:ext uri="{D42A27DB-BD31-4B8C-83A1-F6EECF244321}">
                <p14:modId xmlns:p14="http://schemas.microsoft.com/office/powerpoint/2010/main" val="4077882365"/>
              </p:ext>
            </p:extLst>
          </p:nvPr>
        </p:nvGraphicFramePr>
        <p:xfrm>
          <a:off x="1402128" y="6146146"/>
          <a:ext cx="750398" cy="271183"/>
        </p:xfrm>
        <a:graphic>
          <a:graphicData uri="http://schemas.openxmlformats.org/presentationml/2006/ole">
            <mc:AlternateContent xmlns:mc="http://schemas.openxmlformats.org/markup-compatibility/2006">
              <mc:Choice xmlns:v="urn:schemas-microsoft-com:vml" Requires="v">
                <p:oleObj spid="_x0000_s69359" name="Equation" r:id="rId30" imgW="634725" imgH="203112" progId="Equation.DSMT4">
                  <p:embed/>
                </p:oleObj>
              </mc:Choice>
              <mc:Fallback>
                <p:oleObj name="Equation" r:id="rId30" imgW="634725" imgH="203112" progId="Equation.DSMT4">
                  <p:embed/>
                  <p:pic>
                    <p:nvPicPr>
                      <p:cNvPr id="0" name="Picture 687"/>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402128" y="6146146"/>
                        <a:ext cx="750398" cy="271183"/>
                      </a:xfrm>
                      <a:prstGeom prst="rect">
                        <a:avLst/>
                      </a:prstGeom>
                      <a:solidFill>
                        <a:srgbClr val="DFF0F0"/>
                      </a:solidFill>
                    </p:spPr>
                  </p:pic>
                </p:oleObj>
              </mc:Fallback>
            </mc:AlternateContent>
          </a:graphicData>
        </a:graphic>
      </p:graphicFrame>
      <p:graphicFrame>
        <p:nvGraphicFramePr>
          <p:cNvPr id="41" name="Object 39"/>
          <p:cNvGraphicFramePr>
            <a:graphicFrameLocks noChangeAspect="1"/>
          </p:cNvGraphicFramePr>
          <p:nvPr>
            <p:extLst>
              <p:ext uri="{D42A27DB-BD31-4B8C-83A1-F6EECF244321}">
                <p14:modId xmlns:p14="http://schemas.microsoft.com/office/powerpoint/2010/main" val="3079835116"/>
              </p:ext>
            </p:extLst>
          </p:nvPr>
        </p:nvGraphicFramePr>
        <p:xfrm>
          <a:off x="5108025" y="5656025"/>
          <a:ext cx="411911" cy="275867"/>
        </p:xfrm>
        <a:graphic>
          <a:graphicData uri="http://schemas.openxmlformats.org/presentationml/2006/ole">
            <mc:AlternateContent xmlns:mc="http://schemas.openxmlformats.org/markup-compatibility/2006">
              <mc:Choice xmlns:v="urn:schemas-microsoft-com:vml" Requires="v">
                <p:oleObj spid="_x0000_s69360" name="Equation" r:id="rId32" imgW="342751" imgH="203112" progId="Equation.DSMT4">
                  <p:embed/>
                </p:oleObj>
              </mc:Choice>
              <mc:Fallback>
                <p:oleObj name="Equation" r:id="rId32" imgW="342751" imgH="203112" progId="Equation.DSMT4">
                  <p:embed/>
                  <p:pic>
                    <p:nvPicPr>
                      <p:cNvPr id="0" name="Picture 688"/>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5108025" y="5656025"/>
                        <a:ext cx="411911" cy="275867"/>
                      </a:xfrm>
                      <a:prstGeom prst="rect">
                        <a:avLst/>
                      </a:prstGeom>
                      <a:solidFill>
                        <a:srgbClr val="DFF0F0"/>
                      </a:solidFill>
                    </p:spPr>
                  </p:pic>
                </p:oleObj>
              </mc:Fallback>
            </mc:AlternateContent>
          </a:graphicData>
        </a:graphic>
      </p:graphicFrame>
      <p:graphicFrame>
        <p:nvGraphicFramePr>
          <p:cNvPr id="43" name="Object 5"/>
          <p:cNvGraphicFramePr>
            <a:graphicFrameLocks noChangeAspect="1"/>
          </p:cNvGraphicFramePr>
          <p:nvPr>
            <p:extLst>
              <p:ext uri="{D42A27DB-BD31-4B8C-83A1-F6EECF244321}">
                <p14:modId xmlns:p14="http://schemas.microsoft.com/office/powerpoint/2010/main" val="2907419207"/>
              </p:ext>
            </p:extLst>
          </p:nvPr>
        </p:nvGraphicFramePr>
        <p:xfrm>
          <a:off x="4439816" y="1482118"/>
          <a:ext cx="3384376" cy="564951"/>
        </p:xfrm>
        <a:graphic>
          <a:graphicData uri="http://schemas.openxmlformats.org/presentationml/2006/ole">
            <mc:AlternateContent xmlns:mc="http://schemas.openxmlformats.org/markup-compatibility/2006">
              <mc:Choice xmlns:v="urn:schemas-microsoft-com:vml" Requires="v">
                <p:oleObj spid="_x0000_s69361" name="Equation" r:id="rId34" imgW="2679700" imgH="393700" progId="Equation.DSMT4">
                  <p:embed/>
                </p:oleObj>
              </mc:Choice>
              <mc:Fallback>
                <p:oleObj name="Equation" r:id="rId34" imgW="2679700" imgH="393700" progId="Equation.DSMT4">
                  <p:embed/>
                  <p:pic>
                    <p:nvPicPr>
                      <p:cNvPr id="0" name="Picture 689"/>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439816" y="1482118"/>
                        <a:ext cx="3384376" cy="5649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 name="Rectangle 3"/>
          <p:cNvSpPr txBox="1">
            <a:spLocks noChangeArrowheads="1"/>
          </p:cNvSpPr>
          <p:nvPr/>
        </p:nvSpPr>
        <p:spPr bwMode="gray">
          <a:xfrm>
            <a:off x="350840" y="1484784"/>
            <a:ext cx="1566843" cy="6367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20000"/>
              </a:lnSpc>
              <a:spcBef>
                <a:spcPts val="0"/>
              </a:spcBef>
              <a:buNone/>
            </a:pPr>
            <a:r>
              <a:rPr lang="en-US" altLang="zh-CN" b="1" kern="0" dirty="0">
                <a:solidFill>
                  <a:srgbClr val="FF0000"/>
                </a:solidFill>
                <a:latin typeface="Times New Roman" panose="02020603050405020304" pitchFamily="18" charset="0"/>
                <a:ea typeface="黑体" panose="02010609060101010101" pitchFamily="49" charset="-122"/>
              </a:rPr>
              <a:t>(2) </a:t>
            </a:r>
            <a:r>
              <a:rPr lang="en-US" altLang="zh-CN" b="1" dirty="0">
                <a:solidFill>
                  <a:srgbClr val="FF0000"/>
                </a:solidFill>
                <a:latin typeface="Symbol" pitchFamily="18" charset="2"/>
                <a:ea typeface="黑体" pitchFamily="2" charset="-122"/>
              </a:rPr>
              <a:t>S</a:t>
            </a:r>
            <a:r>
              <a:rPr lang="en-US" altLang="zh-CN" b="1" i="1" baseline="-25000" dirty="0">
                <a:solidFill>
                  <a:srgbClr val="FF0000"/>
                </a:solidFill>
                <a:latin typeface="Times New Roman" pitchFamily="18" charset="0"/>
                <a:ea typeface="黑体" pitchFamily="2" charset="-122"/>
              </a:rPr>
              <a:t>i </a:t>
            </a:r>
            <a:r>
              <a:rPr lang="en-US" altLang="zh-CN" b="1" dirty="0">
                <a:solidFill>
                  <a:srgbClr val="FF0000"/>
                </a:solidFill>
                <a:latin typeface="Times New Roman" pitchFamily="18" charset="0"/>
                <a:ea typeface="黑体" pitchFamily="2" charset="-122"/>
              </a:rPr>
              <a:t>=</a:t>
            </a:r>
            <a:r>
              <a:rPr lang="en-US" altLang="zh-CN" b="1" dirty="0">
                <a:solidFill>
                  <a:srgbClr val="FF0000"/>
                </a:solidFill>
                <a:latin typeface="Symbol" pitchFamily="18" charset="2"/>
                <a:ea typeface="黑体" pitchFamily="2" charset="-122"/>
              </a:rPr>
              <a:t>S</a:t>
            </a:r>
            <a:endParaRPr lang="en-US" altLang="zh-CN" b="1" kern="0" dirty="0">
              <a:solidFill>
                <a:srgbClr val="FF0000"/>
              </a:solidFill>
              <a:latin typeface="Times New Roman" panose="02020603050405020304" pitchFamily="18" charset="0"/>
              <a:ea typeface="黑体" panose="02010609060101010101" pitchFamily="49" charset="-122"/>
            </a:endParaRPr>
          </a:p>
        </p:txBody>
      </p:sp>
    </p:spTree>
    <p:extLst>
      <p:ext uri="{BB962C8B-B14F-4D97-AF65-F5344CB8AC3E}">
        <p14:creationId xmlns:p14="http://schemas.microsoft.com/office/powerpoint/2010/main" val="177269584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66</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052736"/>
            <a:ext cx="736611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正态分布概率模型下的最小错误率贝叶斯决策</a:t>
            </a:r>
          </a:p>
        </p:txBody>
      </p:sp>
      <p:graphicFrame>
        <p:nvGraphicFramePr>
          <p:cNvPr id="14" name="Object 11"/>
          <p:cNvGraphicFramePr>
            <a:graphicFrameLocks noChangeAspect="1"/>
          </p:cNvGraphicFramePr>
          <p:nvPr>
            <p:extLst>
              <p:ext uri="{D42A27DB-BD31-4B8C-83A1-F6EECF244321}">
                <p14:modId xmlns:p14="http://schemas.microsoft.com/office/powerpoint/2010/main" val="2862709536"/>
              </p:ext>
            </p:extLst>
          </p:nvPr>
        </p:nvGraphicFramePr>
        <p:xfrm>
          <a:off x="636654" y="2637191"/>
          <a:ext cx="6661150" cy="1651000"/>
        </p:xfrm>
        <a:graphic>
          <a:graphicData uri="http://schemas.openxmlformats.org/presentationml/2006/ole">
            <mc:AlternateContent xmlns:mc="http://schemas.openxmlformats.org/markup-compatibility/2006">
              <mc:Choice xmlns:v="urn:schemas-microsoft-com:vml" Requires="v">
                <p:oleObj spid="_x0000_s70009" name="Equation" r:id="rId4" imgW="4660900" imgH="1016000" progId="Equation.DSMT4">
                  <p:embed/>
                </p:oleObj>
              </mc:Choice>
              <mc:Fallback>
                <p:oleObj name="Equation" r:id="rId4" imgW="4660900" imgH="1016000" progId="Equation.DSMT4">
                  <p:embed/>
                  <p:pic>
                    <p:nvPicPr>
                      <p:cNvPr id="0" name="Picture 3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6654" y="2637191"/>
                        <a:ext cx="6661150" cy="165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8"/>
          <p:cNvGraphicFramePr>
            <a:graphicFrameLocks noChangeAspect="1"/>
          </p:cNvGraphicFramePr>
          <p:nvPr>
            <p:extLst>
              <p:ext uri="{D42A27DB-BD31-4B8C-83A1-F6EECF244321}">
                <p14:modId xmlns:p14="http://schemas.microsoft.com/office/powerpoint/2010/main" val="1616982768"/>
              </p:ext>
            </p:extLst>
          </p:nvPr>
        </p:nvGraphicFramePr>
        <p:xfrm>
          <a:off x="3791744" y="2086347"/>
          <a:ext cx="6018187" cy="493364"/>
        </p:xfrm>
        <a:graphic>
          <a:graphicData uri="http://schemas.openxmlformats.org/presentationml/2006/ole">
            <mc:AlternateContent xmlns:mc="http://schemas.openxmlformats.org/markup-compatibility/2006">
              <mc:Choice xmlns:v="urn:schemas-microsoft-com:vml" Requires="v">
                <p:oleObj spid="_x0000_s70010" name="Equation" r:id="rId6" imgW="4406900" imgH="317500" progId="Equation.DSMT4">
                  <p:embed/>
                </p:oleObj>
              </mc:Choice>
              <mc:Fallback>
                <p:oleObj name="Equation" r:id="rId6" imgW="4406900" imgH="317500" progId="Equation.DSMT4">
                  <p:embed/>
                  <p:pic>
                    <p:nvPicPr>
                      <p:cNvPr id="0" name="Picture 34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91744" y="2086347"/>
                        <a:ext cx="6018187" cy="4933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9"/>
          <p:cNvGraphicFramePr>
            <a:graphicFrameLocks noChangeAspect="1"/>
          </p:cNvGraphicFramePr>
          <p:nvPr>
            <p:extLst>
              <p:ext uri="{D42A27DB-BD31-4B8C-83A1-F6EECF244321}">
                <p14:modId xmlns:p14="http://schemas.microsoft.com/office/powerpoint/2010/main" val="2613123837"/>
              </p:ext>
            </p:extLst>
          </p:nvPr>
        </p:nvGraphicFramePr>
        <p:xfrm>
          <a:off x="2063552" y="4249367"/>
          <a:ext cx="6768752" cy="988312"/>
        </p:xfrm>
        <a:graphic>
          <a:graphicData uri="http://schemas.openxmlformats.org/presentationml/2006/ole">
            <mc:AlternateContent xmlns:mc="http://schemas.openxmlformats.org/markup-compatibility/2006">
              <mc:Choice xmlns:v="urn:schemas-microsoft-com:vml" Requires="v">
                <p:oleObj spid="_x0000_s70011" name="Equation" r:id="rId8" imgW="4749800" imgH="609600" progId="Equation.DSMT4">
                  <p:embed/>
                </p:oleObj>
              </mc:Choice>
              <mc:Fallback>
                <p:oleObj name="Equation" r:id="rId8" imgW="4749800" imgH="609600" progId="Equation.DSMT4">
                  <p:embed/>
                  <p:pic>
                    <p:nvPicPr>
                      <p:cNvPr id="0" name="Picture 34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63552" y="4249367"/>
                        <a:ext cx="6768752" cy="988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5"/>
          <p:cNvGraphicFramePr>
            <a:graphicFrameLocks noChangeAspect="1"/>
          </p:cNvGraphicFramePr>
          <p:nvPr>
            <p:extLst>
              <p:ext uri="{D42A27DB-BD31-4B8C-83A1-F6EECF244321}">
                <p14:modId xmlns:p14="http://schemas.microsoft.com/office/powerpoint/2010/main" val="4086622693"/>
              </p:ext>
            </p:extLst>
          </p:nvPr>
        </p:nvGraphicFramePr>
        <p:xfrm>
          <a:off x="4439816" y="1482118"/>
          <a:ext cx="3769258" cy="629199"/>
        </p:xfrm>
        <a:graphic>
          <a:graphicData uri="http://schemas.openxmlformats.org/presentationml/2006/ole">
            <mc:AlternateContent xmlns:mc="http://schemas.openxmlformats.org/markup-compatibility/2006">
              <mc:Choice xmlns:v="urn:schemas-microsoft-com:vml" Requires="v">
                <p:oleObj spid="_x0000_s70012" name="Equation" r:id="rId10" imgW="2679700" imgH="393700" progId="Equation.DSMT4">
                  <p:embed/>
                </p:oleObj>
              </mc:Choice>
              <mc:Fallback>
                <p:oleObj name="Equation" r:id="rId10" imgW="2679700" imgH="393700" progId="Equation.DSMT4">
                  <p:embed/>
                  <p:pic>
                    <p:nvPicPr>
                      <p:cNvPr id="0" name="Picture 34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39816" y="1482118"/>
                        <a:ext cx="3769258" cy="6291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Rectangle 3"/>
          <p:cNvSpPr txBox="1">
            <a:spLocks noChangeArrowheads="1"/>
          </p:cNvSpPr>
          <p:nvPr/>
        </p:nvSpPr>
        <p:spPr bwMode="gray">
          <a:xfrm>
            <a:off x="350840" y="1484784"/>
            <a:ext cx="1566843" cy="6367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20000"/>
              </a:lnSpc>
              <a:spcBef>
                <a:spcPts val="0"/>
              </a:spcBef>
              <a:buNone/>
            </a:pPr>
            <a:r>
              <a:rPr lang="en-US" altLang="zh-CN" b="1" kern="0" dirty="0">
                <a:solidFill>
                  <a:srgbClr val="FF0000"/>
                </a:solidFill>
                <a:latin typeface="Times New Roman" panose="02020603050405020304" pitchFamily="18" charset="0"/>
                <a:ea typeface="黑体" panose="02010609060101010101" pitchFamily="49" charset="-122"/>
              </a:rPr>
              <a:t>(2) </a:t>
            </a:r>
            <a:r>
              <a:rPr lang="en-US" altLang="zh-CN" b="1" dirty="0">
                <a:solidFill>
                  <a:srgbClr val="FF0000"/>
                </a:solidFill>
                <a:latin typeface="Symbol" pitchFamily="18" charset="2"/>
                <a:ea typeface="黑体" pitchFamily="2" charset="-122"/>
              </a:rPr>
              <a:t>S</a:t>
            </a:r>
            <a:r>
              <a:rPr lang="en-US" altLang="zh-CN" b="1" i="1" baseline="-25000" dirty="0">
                <a:solidFill>
                  <a:srgbClr val="FF0000"/>
                </a:solidFill>
                <a:latin typeface="Times New Roman" pitchFamily="18" charset="0"/>
                <a:ea typeface="黑体" pitchFamily="2" charset="-122"/>
              </a:rPr>
              <a:t>i </a:t>
            </a:r>
            <a:r>
              <a:rPr lang="en-US" altLang="zh-CN" b="1" dirty="0">
                <a:solidFill>
                  <a:srgbClr val="FF0000"/>
                </a:solidFill>
                <a:latin typeface="Times New Roman" pitchFamily="18" charset="0"/>
                <a:ea typeface="黑体" pitchFamily="2" charset="-122"/>
              </a:rPr>
              <a:t>=</a:t>
            </a:r>
            <a:r>
              <a:rPr lang="en-US" altLang="zh-CN" b="1" dirty="0">
                <a:solidFill>
                  <a:srgbClr val="FF0000"/>
                </a:solidFill>
                <a:latin typeface="Symbol" pitchFamily="18" charset="2"/>
                <a:ea typeface="黑体" pitchFamily="2" charset="-122"/>
              </a:rPr>
              <a:t>S</a:t>
            </a:r>
            <a:endParaRPr lang="en-US" altLang="zh-CN" b="1" kern="0" dirty="0">
              <a:solidFill>
                <a:srgbClr val="FF0000"/>
              </a:solidFill>
              <a:latin typeface="Times New Roman" panose="02020603050405020304" pitchFamily="18" charset="0"/>
              <a:ea typeface="黑体" panose="02010609060101010101" pitchFamily="49" charset="-122"/>
            </a:endParaRPr>
          </a:p>
        </p:txBody>
      </p:sp>
      <p:graphicFrame>
        <p:nvGraphicFramePr>
          <p:cNvPr id="27" name="Object 7"/>
          <p:cNvGraphicFramePr>
            <a:graphicFrameLocks noChangeAspect="1"/>
          </p:cNvGraphicFramePr>
          <p:nvPr>
            <p:extLst>
              <p:ext uri="{D42A27DB-BD31-4B8C-83A1-F6EECF244321}">
                <p14:modId xmlns:p14="http://schemas.microsoft.com/office/powerpoint/2010/main" val="338160412"/>
              </p:ext>
            </p:extLst>
          </p:nvPr>
        </p:nvGraphicFramePr>
        <p:xfrm>
          <a:off x="119410" y="2188738"/>
          <a:ext cx="3024187" cy="371475"/>
        </p:xfrm>
        <a:graphic>
          <a:graphicData uri="http://schemas.openxmlformats.org/presentationml/2006/ole">
            <mc:AlternateContent xmlns:mc="http://schemas.openxmlformats.org/markup-compatibility/2006">
              <mc:Choice xmlns:v="urn:schemas-microsoft-com:vml" Requires="v">
                <p:oleObj spid="_x0000_s70013" name="Equation" r:id="rId12" imgW="1968480" imgH="241200" progId="Equation.DSMT4">
                  <p:embed/>
                </p:oleObj>
              </mc:Choice>
              <mc:Fallback>
                <p:oleObj name="Equation" r:id="rId12" imgW="1968480" imgH="241200" progId="Equation.DSMT4">
                  <p:embed/>
                  <p:pic>
                    <p:nvPicPr>
                      <p:cNvPr id="0" name="Picture 34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9410" y="2188738"/>
                        <a:ext cx="3024187" cy="371475"/>
                      </a:xfrm>
                      <a:prstGeom prst="rect">
                        <a:avLst/>
                      </a:prstGeom>
                      <a:solidFill>
                        <a:srgbClr val="FFFF00"/>
                      </a:solidFill>
                    </p:spPr>
                  </p:pic>
                </p:oleObj>
              </mc:Fallback>
            </mc:AlternateContent>
          </a:graphicData>
        </a:graphic>
      </p:graphicFrame>
      <p:graphicFrame>
        <p:nvGraphicFramePr>
          <p:cNvPr id="37" name="Object 13"/>
          <p:cNvGraphicFramePr>
            <a:graphicFrameLocks noGrp="1" noChangeAspect="1"/>
          </p:cNvGraphicFramePr>
          <p:nvPr>
            <p:ph sz="quarter" idx="4294967295"/>
            <p:extLst>
              <p:ext uri="{D42A27DB-BD31-4B8C-83A1-F6EECF244321}">
                <p14:modId xmlns:p14="http://schemas.microsoft.com/office/powerpoint/2010/main" val="3356552614"/>
              </p:ext>
            </p:extLst>
          </p:nvPr>
        </p:nvGraphicFramePr>
        <p:xfrm>
          <a:off x="2178427" y="5945802"/>
          <a:ext cx="2506255" cy="404010"/>
        </p:xfrm>
        <a:graphic>
          <a:graphicData uri="http://schemas.openxmlformats.org/presentationml/2006/ole">
            <mc:AlternateContent xmlns:mc="http://schemas.openxmlformats.org/markup-compatibility/2006">
              <mc:Choice xmlns:v="urn:schemas-microsoft-com:vml" Requires="v">
                <p:oleObj spid="_x0000_s70014" name="Equation" r:id="rId14" imgW="1574640" imgH="253800" progId="Equation.DSMT4">
                  <p:embed/>
                </p:oleObj>
              </mc:Choice>
              <mc:Fallback>
                <p:oleObj name="Equation" r:id="rId14" imgW="1574640" imgH="253800" progId="Equation.DSMT4">
                  <p:embed/>
                  <p:pic>
                    <p:nvPicPr>
                      <p:cNvPr id="0" name="Picture 350"/>
                      <p:cNvPicPr>
                        <a:picLocks noGrp="1"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78427" y="5945802"/>
                        <a:ext cx="2506255" cy="4040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 name="Object 16"/>
          <p:cNvGraphicFramePr>
            <a:graphicFrameLocks noGrp="1" noChangeAspect="1"/>
          </p:cNvGraphicFramePr>
          <p:nvPr>
            <p:ph sz="quarter" idx="4294967295"/>
            <p:extLst>
              <p:ext uri="{D42A27DB-BD31-4B8C-83A1-F6EECF244321}">
                <p14:modId xmlns:p14="http://schemas.microsoft.com/office/powerpoint/2010/main" val="2495985932"/>
              </p:ext>
            </p:extLst>
          </p:nvPr>
        </p:nvGraphicFramePr>
        <p:xfrm>
          <a:off x="5569487" y="5654506"/>
          <a:ext cx="4896544" cy="748656"/>
        </p:xfrm>
        <a:graphic>
          <a:graphicData uri="http://schemas.openxmlformats.org/presentationml/2006/ole">
            <mc:AlternateContent xmlns:mc="http://schemas.openxmlformats.org/markup-compatibility/2006">
              <mc:Choice xmlns:v="urn:schemas-microsoft-com:vml" Requires="v">
                <p:oleObj spid="_x0000_s70015" name="Equation" r:id="rId16" imgW="3073400" imgH="469900" progId="Equation.DSMT4">
                  <p:embed/>
                </p:oleObj>
              </mc:Choice>
              <mc:Fallback>
                <p:oleObj name="Equation" r:id="rId16" imgW="3073400" imgH="469900" progId="Equation.DSMT4">
                  <p:embed/>
                  <p:pic>
                    <p:nvPicPr>
                      <p:cNvPr id="0" name="Picture 351"/>
                      <p:cNvPicPr>
                        <a:picLocks noGrp="1"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569487" y="5654506"/>
                        <a:ext cx="4896544" cy="7486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 name="Object 11"/>
          <p:cNvGraphicFramePr>
            <a:graphicFrameLocks noChangeAspect="1"/>
          </p:cNvGraphicFramePr>
          <p:nvPr>
            <p:extLst>
              <p:ext uri="{D42A27DB-BD31-4B8C-83A1-F6EECF244321}">
                <p14:modId xmlns:p14="http://schemas.microsoft.com/office/powerpoint/2010/main" val="2321088376"/>
              </p:ext>
            </p:extLst>
          </p:nvPr>
        </p:nvGraphicFramePr>
        <p:xfrm>
          <a:off x="3674685" y="5349426"/>
          <a:ext cx="1599155" cy="410594"/>
        </p:xfrm>
        <a:graphic>
          <a:graphicData uri="http://schemas.openxmlformats.org/presentationml/2006/ole">
            <mc:AlternateContent xmlns:mc="http://schemas.openxmlformats.org/markup-compatibility/2006">
              <mc:Choice xmlns:v="urn:schemas-microsoft-com:vml" Requires="v">
                <p:oleObj spid="_x0000_s70016" name="Equation" r:id="rId18" imgW="939392" imgH="241195" progId="Equation.DSMT4">
                  <p:embed/>
                </p:oleObj>
              </mc:Choice>
              <mc:Fallback>
                <p:oleObj name="Equation" r:id="rId18" imgW="939392" imgH="241195" progId="Equation.DSMT4">
                  <p:embed/>
                  <p:pic>
                    <p:nvPicPr>
                      <p:cNvPr id="0" name="Picture 35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674685" y="5349426"/>
                        <a:ext cx="1599155" cy="410594"/>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右箭头 1"/>
          <p:cNvSpPr/>
          <p:nvPr/>
        </p:nvSpPr>
        <p:spPr>
          <a:xfrm>
            <a:off x="911424" y="4653136"/>
            <a:ext cx="720080" cy="288032"/>
          </a:xfrm>
          <a:prstGeom prst="rightArrow">
            <a:avLst/>
          </a:prstGeom>
          <a:solidFill>
            <a:srgbClr val="FFCCFF"/>
          </a:solidFill>
        </p:spPr>
        <p:txBody>
          <a:bodyPr wrap="none" rtlCol="0" anchor="ctr">
            <a:spAutoFit/>
          </a:bodyPr>
          <a:lstStyle/>
          <a:p>
            <a:pPr algn="ctr"/>
            <a:endParaRPr lang="zh-CN" altLang="en-US" sz="2400" kern="100" dirty="0">
              <a:ea typeface="宋体"/>
              <a:cs typeface="Times New Roman"/>
            </a:endParaRPr>
          </a:p>
        </p:txBody>
      </p:sp>
      <p:sp>
        <p:nvSpPr>
          <p:cNvPr id="19" name="右箭头 18"/>
          <p:cNvSpPr/>
          <p:nvPr/>
        </p:nvSpPr>
        <p:spPr>
          <a:xfrm rot="5400000">
            <a:off x="8471944" y="1853528"/>
            <a:ext cx="369064" cy="351656"/>
          </a:xfrm>
          <a:prstGeom prst="rightArrow">
            <a:avLst/>
          </a:prstGeom>
          <a:solidFill>
            <a:srgbClr val="FFCCFF"/>
          </a:solidFill>
        </p:spPr>
        <p:txBody>
          <a:bodyPr wrap="square" rtlCol="0" anchor="ctr">
            <a:spAutoFit/>
          </a:bodyPr>
          <a:lstStyle/>
          <a:p>
            <a:pPr algn="ctr"/>
            <a:endParaRPr lang="zh-CN" altLang="en-US" sz="2400" kern="100" dirty="0">
              <a:ea typeface="宋体"/>
              <a:cs typeface="Times New Roman"/>
            </a:endParaRPr>
          </a:p>
        </p:txBody>
      </p:sp>
      <p:sp>
        <p:nvSpPr>
          <p:cNvPr id="20" name="右箭头 19"/>
          <p:cNvSpPr/>
          <p:nvPr/>
        </p:nvSpPr>
        <p:spPr>
          <a:xfrm rot="5400000">
            <a:off x="7833227" y="2655612"/>
            <a:ext cx="369064" cy="351656"/>
          </a:xfrm>
          <a:prstGeom prst="rightArrow">
            <a:avLst/>
          </a:prstGeom>
          <a:solidFill>
            <a:srgbClr val="FFCCFF"/>
          </a:solidFill>
        </p:spPr>
        <p:txBody>
          <a:bodyPr wrap="square" rtlCol="0" anchor="ctr">
            <a:spAutoFit/>
          </a:bodyPr>
          <a:lstStyle/>
          <a:p>
            <a:pPr algn="ctr"/>
            <a:endParaRPr lang="zh-CN" altLang="en-US" sz="2400" kern="100" dirty="0">
              <a:ea typeface="宋体"/>
              <a:cs typeface="Times New Roman"/>
            </a:endParaRPr>
          </a:p>
        </p:txBody>
      </p:sp>
    </p:spTree>
    <p:extLst>
      <p:ext uri="{BB962C8B-B14F-4D97-AF65-F5344CB8AC3E}">
        <p14:creationId xmlns:p14="http://schemas.microsoft.com/office/powerpoint/2010/main" val="24166275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67</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052736"/>
            <a:ext cx="736611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正态分布概率模型下的最小错误率贝叶斯决策</a:t>
            </a:r>
          </a:p>
        </p:txBody>
      </p:sp>
      <p:sp>
        <p:nvSpPr>
          <p:cNvPr id="12" name="Rectangle 3"/>
          <p:cNvSpPr txBox="1">
            <a:spLocks noChangeArrowheads="1"/>
          </p:cNvSpPr>
          <p:nvPr/>
        </p:nvSpPr>
        <p:spPr bwMode="gray">
          <a:xfrm>
            <a:off x="352694" y="3346888"/>
            <a:ext cx="11503946" cy="85115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nSpc>
                <a:spcPct val="120000"/>
              </a:lnSpc>
              <a:buClr>
                <a:schemeClr val="tx1"/>
              </a:buClr>
              <a:buFont typeface="Arial" panose="020B0604020202020204" pitchFamily="34" charset="0"/>
              <a:buChar char="•"/>
            </a:pPr>
            <a:r>
              <a:rPr lang="en-US" altLang="zh-CN" sz="2000" i="1" kern="0" dirty="0">
                <a:latin typeface="Times New Roman" panose="02020603050405020304" pitchFamily="18" charset="0"/>
                <a:ea typeface="宋体" panose="02010600030101010101" pitchFamily="2" charset="-122"/>
              </a:rPr>
              <a:t>W </a:t>
            </a:r>
            <a:r>
              <a:rPr lang="zh-CN" altLang="en-US" sz="2000" kern="0" dirty="0">
                <a:latin typeface="Times New Roman" panose="02020603050405020304" pitchFamily="18" charset="0"/>
                <a:ea typeface="宋体" panose="02010600030101010101" pitchFamily="2" charset="-122"/>
              </a:rPr>
              <a:t>通常不在</a:t>
            </a:r>
            <a:r>
              <a:rPr lang="en-US" altLang="zh-CN" sz="2000" kern="0" dirty="0">
                <a:latin typeface="Times New Roman" panose="02020603050405020304" pitchFamily="18" charset="0"/>
                <a:ea typeface="宋体" panose="02010600030101010101" pitchFamily="2" charset="-122"/>
              </a:rPr>
              <a:t>(</a:t>
            </a:r>
            <a:r>
              <a:rPr lang="en-US" altLang="zh-CN" sz="2000" i="1" kern="0" dirty="0">
                <a:latin typeface="Times New Roman" panose="02020603050405020304" pitchFamily="18" charset="0"/>
                <a:ea typeface="宋体" panose="02010600030101010101" pitchFamily="2" charset="-122"/>
              </a:rPr>
              <a:t>µ</a:t>
            </a:r>
            <a:r>
              <a:rPr lang="en-US" altLang="zh-CN" sz="2000" i="1" kern="0" baseline="-25000" dirty="0" err="1">
                <a:latin typeface="Times New Roman" panose="02020603050405020304" pitchFamily="18" charset="0"/>
                <a:ea typeface="宋体" panose="02010600030101010101" pitchFamily="2" charset="-122"/>
              </a:rPr>
              <a:t>i</a:t>
            </a:r>
            <a:r>
              <a:rPr lang="en-US" altLang="zh-CN" sz="2000" i="1" kern="0" dirty="0">
                <a:latin typeface="Times New Roman" panose="02020603050405020304" pitchFamily="18" charset="0"/>
                <a:ea typeface="宋体" panose="02010600030101010101" pitchFamily="2" charset="-122"/>
              </a:rPr>
              <a:t>-µ</a:t>
            </a:r>
            <a:r>
              <a:rPr lang="en-US" altLang="zh-CN" sz="2000" i="1" kern="0" baseline="-25000" dirty="0">
                <a:latin typeface="Times New Roman" panose="02020603050405020304" pitchFamily="18" charset="0"/>
                <a:ea typeface="宋体" panose="02010600030101010101" pitchFamily="2" charset="-122"/>
              </a:rPr>
              <a:t>j</a:t>
            </a:r>
            <a:r>
              <a:rPr lang="en-US" altLang="zh-CN" sz="2000" kern="0" dirty="0">
                <a:latin typeface="Times New Roman" panose="02020603050405020304" pitchFamily="18" charset="0"/>
                <a:ea typeface="宋体" panose="02010600030101010101" pitchFamily="2" charset="-122"/>
              </a:rPr>
              <a:t>)</a:t>
            </a:r>
            <a:r>
              <a:rPr lang="zh-CN" altLang="en-US" sz="2000" kern="0" dirty="0">
                <a:latin typeface="Times New Roman" panose="02020603050405020304" pitchFamily="18" charset="0"/>
                <a:ea typeface="宋体" panose="02010600030101010101" pitchFamily="2" charset="-122"/>
              </a:rPr>
              <a:t>方向上，</a:t>
            </a:r>
            <a:r>
              <a:rPr lang="en-US" altLang="zh-CN" sz="2000" kern="0" dirty="0">
                <a:latin typeface="Times New Roman" panose="02020603050405020304" pitchFamily="18" charset="0"/>
                <a:ea typeface="宋体" panose="02010600030101010101" pitchFamily="2" charset="-122"/>
              </a:rPr>
              <a:t> </a:t>
            </a:r>
            <a:r>
              <a:rPr lang="en-US" altLang="zh-CN" sz="2000" i="1" kern="0" dirty="0">
                <a:latin typeface="Times New Roman" panose="02020603050405020304" pitchFamily="18" charset="0"/>
                <a:ea typeface="宋体" panose="02010600030101010101" pitchFamily="2" charset="-122"/>
              </a:rPr>
              <a:t>x-x</a:t>
            </a:r>
            <a:r>
              <a:rPr lang="en-US" altLang="zh-CN" sz="2000" i="1" kern="0" baseline="-25000" dirty="0">
                <a:latin typeface="Times New Roman" panose="02020603050405020304" pitchFamily="18" charset="0"/>
                <a:ea typeface="宋体" panose="02010600030101010101" pitchFamily="2" charset="-122"/>
              </a:rPr>
              <a:t>0</a:t>
            </a:r>
            <a:r>
              <a:rPr lang="zh-CN" altLang="en-US" sz="2000" kern="0" dirty="0">
                <a:latin typeface="Times New Roman" panose="02020603050405020304" pitchFamily="18" charset="0"/>
                <a:ea typeface="宋体" panose="02010600030101010101" pitchFamily="2" charset="-122"/>
              </a:rPr>
              <a:t>表示决策面通过</a:t>
            </a:r>
            <a:r>
              <a:rPr lang="en-US" altLang="zh-CN" sz="2000" i="1" kern="0" dirty="0">
                <a:latin typeface="Times New Roman" panose="02020603050405020304" pitchFamily="18" charset="0"/>
                <a:ea typeface="宋体" panose="02010600030101010101" pitchFamily="2" charset="-122"/>
              </a:rPr>
              <a:t>x</a:t>
            </a:r>
            <a:r>
              <a:rPr lang="en-US" altLang="zh-CN" sz="2000" i="1" kern="0" baseline="-25000" dirty="0">
                <a:latin typeface="Times New Roman" panose="02020603050405020304" pitchFamily="18" charset="0"/>
                <a:ea typeface="宋体" panose="02010600030101010101" pitchFamily="2" charset="-122"/>
              </a:rPr>
              <a:t>0</a:t>
            </a:r>
            <a:r>
              <a:rPr lang="zh-CN" altLang="en-US" sz="2000" kern="0" dirty="0">
                <a:latin typeface="Times New Roman" panose="02020603050405020304" pitchFamily="18" charset="0"/>
                <a:ea typeface="宋体" panose="02010600030101010101" pitchFamily="2" charset="-122"/>
              </a:rPr>
              <a:t>点。</a:t>
            </a:r>
            <a:endParaRPr lang="en-US" altLang="zh-CN" sz="2000" kern="0" dirty="0">
              <a:latin typeface="Times New Roman" panose="02020603050405020304" pitchFamily="18" charset="0"/>
              <a:ea typeface="宋体" panose="02010600030101010101" pitchFamily="2" charset="-122"/>
            </a:endParaRPr>
          </a:p>
          <a:p>
            <a:pPr>
              <a:lnSpc>
                <a:spcPct val="120000"/>
              </a:lnSpc>
              <a:buClr>
                <a:schemeClr val="tx1"/>
              </a:buClr>
              <a:buFont typeface="Arial" panose="020B0604020202020204" pitchFamily="34" charset="0"/>
              <a:buChar char="•"/>
            </a:pPr>
            <a:r>
              <a:rPr lang="en-US" altLang="zh-CN" sz="2000" i="1" kern="0" dirty="0">
                <a:latin typeface="Times New Roman" panose="02020603050405020304" pitchFamily="18" charset="0"/>
                <a:ea typeface="宋体" panose="02010600030101010101" pitchFamily="2" charset="-122"/>
              </a:rPr>
              <a:t>W </a:t>
            </a:r>
            <a:r>
              <a:rPr lang="zh-CN" altLang="en-US" sz="2000" kern="0" dirty="0">
                <a:latin typeface="Times New Roman" panose="02020603050405020304" pitchFamily="18" charset="0"/>
                <a:ea typeface="宋体" panose="02010600030101010101" pitchFamily="2" charset="-122"/>
              </a:rPr>
              <a:t>与 </a:t>
            </a:r>
            <a:r>
              <a:rPr lang="en-US" altLang="zh-CN" sz="2000" kern="0" dirty="0">
                <a:latin typeface="Times New Roman" panose="02020603050405020304" pitchFamily="18" charset="0"/>
                <a:ea typeface="宋体" panose="02010600030101010101" pitchFamily="2" charset="-122"/>
              </a:rPr>
              <a:t>(</a:t>
            </a:r>
            <a:r>
              <a:rPr lang="en-US" altLang="zh-CN" sz="2000" i="1" kern="0" dirty="0">
                <a:latin typeface="Times New Roman" panose="02020603050405020304" pitchFamily="18" charset="0"/>
                <a:ea typeface="宋体" panose="02010600030101010101" pitchFamily="2" charset="-122"/>
              </a:rPr>
              <a:t>x-x</a:t>
            </a:r>
            <a:r>
              <a:rPr lang="en-US" altLang="zh-CN" sz="2000" i="1" kern="0" baseline="-25000" dirty="0">
                <a:latin typeface="Times New Roman" panose="02020603050405020304" pitchFamily="18" charset="0"/>
                <a:ea typeface="宋体" panose="02010600030101010101" pitchFamily="2" charset="-122"/>
              </a:rPr>
              <a:t>0 </a:t>
            </a:r>
            <a:r>
              <a:rPr lang="en-US" altLang="zh-CN" sz="2000" kern="0" dirty="0">
                <a:latin typeface="Times New Roman" panose="02020603050405020304" pitchFamily="18" charset="0"/>
                <a:ea typeface="宋体" panose="02010600030101010101" pitchFamily="2" charset="-122"/>
              </a:rPr>
              <a:t>)</a:t>
            </a:r>
            <a:r>
              <a:rPr lang="zh-CN" altLang="en-US" sz="2000" kern="0" dirty="0">
                <a:latin typeface="Times New Roman" panose="02020603050405020304" pitchFamily="18" charset="0"/>
                <a:ea typeface="宋体" panose="02010600030101010101" pitchFamily="2" charset="-122"/>
              </a:rPr>
              <a:t>的点积为 </a:t>
            </a:r>
            <a:r>
              <a:rPr lang="en-US" altLang="zh-CN" sz="2000" kern="0" dirty="0">
                <a:latin typeface="Times New Roman" panose="02020603050405020304" pitchFamily="18" charset="0"/>
                <a:ea typeface="宋体" panose="02010600030101010101" pitchFamily="2" charset="-122"/>
              </a:rPr>
              <a:t>0</a:t>
            </a:r>
            <a:r>
              <a:rPr lang="zh-CN" altLang="en-US" sz="2000" kern="0" dirty="0">
                <a:latin typeface="Times New Roman" panose="02020603050405020304" pitchFamily="18" charset="0"/>
                <a:ea typeface="宋体" panose="02010600030101010101" pitchFamily="2" charset="-122"/>
              </a:rPr>
              <a:t>，表示</a:t>
            </a:r>
            <a:r>
              <a:rPr lang="en-US" altLang="zh-CN" sz="2000" i="1" kern="0" dirty="0">
                <a:latin typeface="Times New Roman" panose="02020603050405020304" pitchFamily="18" charset="0"/>
                <a:ea typeface="宋体" panose="02010600030101010101" pitchFamily="2" charset="-122"/>
              </a:rPr>
              <a:t>W</a:t>
            </a:r>
            <a:r>
              <a:rPr lang="zh-CN" altLang="en-US" sz="2000" kern="0" dirty="0">
                <a:latin typeface="Times New Roman" panose="02020603050405020304" pitchFamily="18" charset="0"/>
                <a:ea typeface="宋体" panose="02010600030101010101" pitchFamily="2" charset="-122"/>
              </a:rPr>
              <a:t>与</a:t>
            </a:r>
            <a:r>
              <a:rPr lang="en-US" altLang="zh-CN" sz="2000" kern="0" dirty="0">
                <a:latin typeface="Times New Roman" panose="02020603050405020304" pitchFamily="18" charset="0"/>
                <a:ea typeface="宋体" panose="02010600030101010101" pitchFamily="2" charset="-122"/>
              </a:rPr>
              <a:t>(</a:t>
            </a:r>
            <a:r>
              <a:rPr lang="en-US" altLang="zh-CN" sz="2000" i="1" kern="0" dirty="0">
                <a:latin typeface="Times New Roman" panose="02020603050405020304" pitchFamily="18" charset="0"/>
                <a:ea typeface="宋体" panose="02010600030101010101" pitchFamily="2" charset="-122"/>
              </a:rPr>
              <a:t>x-x</a:t>
            </a:r>
            <a:r>
              <a:rPr lang="en-US" altLang="zh-CN" sz="2000" i="1" kern="0" baseline="-25000" dirty="0">
                <a:latin typeface="Times New Roman" panose="02020603050405020304" pitchFamily="18" charset="0"/>
                <a:ea typeface="宋体" panose="02010600030101010101" pitchFamily="2" charset="-122"/>
              </a:rPr>
              <a:t>0</a:t>
            </a:r>
            <a:r>
              <a:rPr lang="en-US" altLang="zh-CN" sz="2000" kern="0" dirty="0">
                <a:latin typeface="Times New Roman" panose="02020603050405020304" pitchFamily="18" charset="0"/>
                <a:ea typeface="宋体" panose="02010600030101010101" pitchFamily="2" charset="-122"/>
              </a:rPr>
              <a:t>)</a:t>
            </a:r>
            <a:r>
              <a:rPr lang="zh-CN" altLang="en-US" sz="2000" kern="0" dirty="0">
                <a:latin typeface="Times New Roman" panose="02020603050405020304" pitchFamily="18" charset="0"/>
                <a:ea typeface="宋体" panose="02010600030101010101" pitchFamily="2" charset="-122"/>
              </a:rPr>
              <a:t>正交，决策面通过 </a:t>
            </a:r>
            <a:r>
              <a:rPr lang="en-US" altLang="zh-CN" sz="2000" i="1" kern="0" dirty="0">
                <a:latin typeface="Times New Roman" panose="02020603050405020304" pitchFamily="18" charset="0"/>
                <a:ea typeface="宋体" panose="02010600030101010101" pitchFamily="2" charset="-122"/>
              </a:rPr>
              <a:t>x</a:t>
            </a:r>
            <a:r>
              <a:rPr lang="en-US" altLang="zh-CN" sz="2000" i="1" kern="0" baseline="-25000" dirty="0">
                <a:latin typeface="Times New Roman" panose="02020603050405020304" pitchFamily="18" charset="0"/>
                <a:ea typeface="宋体" panose="02010600030101010101" pitchFamily="2" charset="-122"/>
              </a:rPr>
              <a:t>0 </a:t>
            </a:r>
            <a:r>
              <a:rPr lang="zh-CN" altLang="en-US" sz="2000" kern="0" dirty="0">
                <a:latin typeface="Times New Roman" panose="02020603050405020304" pitchFamily="18" charset="0"/>
                <a:ea typeface="宋体" panose="02010600030101010101" pitchFamily="2" charset="-122"/>
              </a:rPr>
              <a:t>点但不与均值向量连线 </a:t>
            </a:r>
            <a:r>
              <a:rPr lang="en-US" altLang="zh-CN" sz="2000" kern="0" dirty="0">
                <a:latin typeface="Times New Roman" panose="02020603050405020304" pitchFamily="18" charset="0"/>
                <a:ea typeface="宋体" panose="02010600030101010101" pitchFamily="2" charset="-122"/>
              </a:rPr>
              <a:t>(</a:t>
            </a:r>
            <a:r>
              <a:rPr lang="en-US" altLang="zh-CN" sz="2000" i="1" kern="0" dirty="0">
                <a:latin typeface="Times New Roman" panose="02020603050405020304" pitchFamily="18" charset="0"/>
                <a:ea typeface="宋体" panose="02010600030101010101" pitchFamily="2" charset="-122"/>
              </a:rPr>
              <a:t>µ</a:t>
            </a:r>
            <a:r>
              <a:rPr lang="en-US" altLang="zh-CN" sz="2000" i="1" kern="0" baseline="-25000" dirty="0" err="1">
                <a:latin typeface="Times New Roman" panose="02020603050405020304" pitchFamily="18" charset="0"/>
                <a:ea typeface="宋体" panose="02010600030101010101" pitchFamily="2" charset="-122"/>
              </a:rPr>
              <a:t>i</a:t>
            </a:r>
            <a:r>
              <a:rPr lang="en-US" altLang="zh-CN" sz="2000" i="1" kern="0" dirty="0">
                <a:latin typeface="Times New Roman" panose="02020603050405020304" pitchFamily="18" charset="0"/>
                <a:ea typeface="宋体" panose="02010600030101010101" pitchFamily="2" charset="-122"/>
              </a:rPr>
              <a:t>-µ</a:t>
            </a:r>
            <a:r>
              <a:rPr lang="en-US" altLang="zh-CN" sz="2000" i="1" kern="0" baseline="-25000" dirty="0">
                <a:latin typeface="Times New Roman" panose="02020603050405020304" pitchFamily="18" charset="0"/>
                <a:ea typeface="宋体" panose="02010600030101010101" pitchFamily="2" charset="-122"/>
              </a:rPr>
              <a:t>j</a:t>
            </a:r>
            <a:r>
              <a:rPr lang="en-US" altLang="zh-CN" sz="2000" kern="0" dirty="0">
                <a:latin typeface="Times New Roman" panose="02020603050405020304" pitchFamily="18" charset="0"/>
                <a:ea typeface="宋体" panose="02010600030101010101" pitchFamily="2" charset="-122"/>
              </a:rPr>
              <a:t>) </a:t>
            </a:r>
            <a:r>
              <a:rPr lang="zh-CN" altLang="en-US" sz="2000" kern="0" dirty="0">
                <a:latin typeface="Times New Roman" panose="02020603050405020304" pitchFamily="18" charset="0"/>
                <a:ea typeface="宋体" panose="02010600030101010101" pitchFamily="2" charset="-122"/>
              </a:rPr>
              <a:t>正交。</a:t>
            </a:r>
          </a:p>
        </p:txBody>
      </p:sp>
      <p:graphicFrame>
        <p:nvGraphicFramePr>
          <p:cNvPr id="13" name="Object 13"/>
          <p:cNvGraphicFramePr>
            <a:graphicFrameLocks noGrp="1" noChangeAspect="1"/>
          </p:cNvGraphicFramePr>
          <p:nvPr>
            <p:ph sz="quarter" idx="4294967295"/>
            <p:extLst>
              <p:ext uri="{D42A27DB-BD31-4B8C-83A1-F6EECF244321}">
                <p14:modId xmlns:p14="http://schemas.microsoft.com/office/powerpoint/2010/main" val="217855531"/>
              </p:ext>
            </p:extLst>
          </p:nvPr>
        </p:nvGraphicFramePr>
        <p:xfrm>
          <a:off x="1996613" y="2576655"/>
          <a:ext cx="2855913" cy="460375"/>
        </p:xfrm>
        <a:graphic>
          <a:graphicData uri="http://schemas.openxmlformats.org/presentationml/2006/ole">
            <mc:AlternateContent xmlns:mc="http://schemas.openxmlformats.org/markup-compatibility/2006">
              <mc:Choice xmlns:v="urn:schemas-microsoft-com:vml" Requires="v">
                <p:oleObj spid="_x0000_s70817" name="Equation" r:id="rId4" imgW="1574640" imgH="253800" progId="Equation.DSMT4">
                  <p:embed/>
                </p:oleObj>
              </mc:Choice>
              <mc:Fallback>
                <p:oleObj name="Equation" r:id="rId4" imgW="1574640" imgH="253800" progId="Equation.DSMT4">
                  <p:embed/>
                  <p:pic>
                    <p:nvPicPr>
                      <p:cNvPr id="0" name="Picture 149"/>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6613" y="2576655"/>
                        <a:ext cx="2855913"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6"/>
          <p:cNvGraphicFramePr>
            <a:graphicFrameLocks noGrp="1" noChangeAspect="1"/>
          </p:cNvGraphicFramePr>
          <p:nvPr>
            <p:ph sz="quarter" idx="4294967295"/>
            <p:extLst>
              <p:ext uri="{D42A27DB-BD31-4B8C-83A1-F6EECF244321}">
                <p14:modId xmlns:p14="http://schemas.microsoft.com/office/powerpoint/2010/main" val="2207286191"/>
              </p:ext>
            </p:extLst>
          </p:nvPr>
        </p:nvGraphicFramePr>
        <p:xfrm>
          <a:off x="5822523" y="2378007"/>
          <a:ext cx="5532466" cy="845885"/>
        </p:xfrm>
        <a:graphic>
          <a:graphicData uri="http://schemas.openxmlformats.org/presentationml/2006/ole">
            <mc:AlternateContent xmlns:mc="http://schemas.openxmlformats.org/markup-compatibility/2006">
              <mc:Choice xmlns:v="urn:schemas-microsoft-com:vml" Requires="v">
                <p:oleObj spid="_x0000_s70818" name="Equation" r:id="rId6" imgW="3073400" imgH="469900" progId="Equation.DSMT4">
                  <p:embed/>
                </p:oleObj>
              </mc:Choice>
              <mc:Fallback>
                <p:oleObj name="Equation" r:id="rId6" imgW="3073400" imgH="469900" progId="Equation.DSMT4">
                  <p:embed/>
                  <p:pic>
                    <p:nvPicPr>
                      <p:cNvPr id="0" name="Picture 150"/>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22523" y="2378007"/>
                        <a:ext cx="5532466" cy="8458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11"/>
          <p:cNvGraphicFramePr>
            <a:graphicFrameLocks noChangeAspect="1"/>
          </p:cNvGraphicFramePr>
          <p:nvPr>
            <p:extLst>
              <p:ext uri="{D42A27DB-BD31-4B8C-83A1-F6EECF244321}">
                <p14:modId xmlns:p14="http://schemas.microsoft.com/office/powerpoint/2010/main" val="3698525912"/>
              </p:ext>
            </p:extLst>
          </p:nvPr>
        </p:nvGraphicFramePr>
        <p:xfrm>
          <a:off x="4900975" y="1700808"/>
          <a:ext cx="1843097" cy="473228"/>
        </p:xfrm>
        <a:graphic>
          <a:graphicData uri="http://schemas.openxmlformats.org/presentationml/2006/ole">
            <mc:AlternateContent xmlns:mc="http://schemas.openxmlformats.org/markup-compatibility/2006">
              <mc:Choice xmlns:v="urn:schemas-microsoft-com:vml" Requires="v">
                <p:oleObj spid="_x0000_s70819" name="Equation" r:id="rId8" imgW="939392" imgH="241195" progId="Equation.DSMT4">
                  <p:embed/>
                </p:oleObj>
              </mc:Choice>
              <mc:Fallback>
                <p:oleObj name="Equation" r:id="rId8" imgW="939392" imgH="241195" progId="Equation.DSMT4">
                  <p:embed/>
                  <p:pic>
                    <p:nvPicPr>
                      <p:cNvPr id="0" name="Picture 15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00975" y="1700808"/>
                        <a:ext cx="1843097" cy="473228"/>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Rectangle 3"/>
          <p:cNvSpPr txBox="1">
            <a:spLocks noChangeArrowheads="1"/>
          </p:cNvSpPr>
          <p:nvPr/>
        </p:nvSpPr>
        <p:spPr bwMode="gray">
          <a:xfrm>
            <a:off x="407368" y="1628800"/>
            <a:ext cx="1566843" cy="6367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20000"/>
              </a:lnSpc>
              <a:spcBef>
                <a:spcPts val="0"/>
              </a:spcBef>
              <a:buNone/>
            </a:pPr>
            <a:r>
              <a:rPr lang="en-US" altLang="zh-CN" b="1" kern="0" dirty="0">
                <a:solidFill>
                  <a:srgbClr val="FF0000"/>
                </a:solidFill>
                <a:latin typeface="Times New Roman" panose="02020603050405020304" pitchFamily="18" charset="0"/>
                <a:ea typeface="黑体" panose="02010609060101010101" pitchFamily="49" charset="-122"/>
              </a:rPr>
              <a:t>(2) </a:t>
            </a:r>
            <a:r>
              <a:rPr lang="en-US" altLang="zh-CN" b="1" dirty="0">
                <a:solidFill>
                  <a:srgbClr val="FF0000"/>
                </a:solidFill>
                <a:latin typeface="Symbol" pitchFamily="18" charset="2"/>
                <a:ea typeface="黑体" pitchFamily="2" charset="-122"/>
              </a:rPr>
              <a:t>S</a:t>
            </a:r>
            <a:r>
              <a:rPr lang="en-US" altLang="zh-CN" b="1" i="1" baseline="-25000" dirty="0">
                <a:solidFill>
                  <a:srgbClr val="FF0000"/>
                </a:solidFill>
                <a:latin typeface="Times New Roman" pitchFamily="18" charset="0"/>
                <a:ea typeface="黑体" pitchFamily="2" charset="-122"/>
              </a:rPr>
              <a:t>i </a:t>
            </a:r>
            <a:r>
              <a:rPr lang="en-US" altLang="zh-CN" b="1" dirty="0">
                <a:solidFill>
                  <a:srgbClr val="FF0000"/>
                </a:solidFill>
                <a:latin typeface="Times New Roman" pitchFamily="18" charset="0"/>
                <a:ea typeface="黑体" pitchFamily="2" charset="-122"/>
              </a:rPr>
              <a:t>=</a:t>
            </a:r>
            <a:r>
              <a:rPr lang="en-US" altLang="zh-CN" b="1" dirty="0">
                <a:solidFill>
                  <a:srgbClr val="FF0000"/>
                </a:solidFill>
                <a:latin typeface="Symbol" pitchFamily="18" charset="2"/>
                <a:ea typeface="黑体" pitchFamily="2" charset="-122"/>
              </a:rPr>
              <a:t>S</a:t>
            </a:r>
            <a:endParaRPr lang="en-US" altLang="zh-CN" b="1" kern="0" dirty="0">
              <a:solidFill>
                <a:srgbClr val="FF0000"/>
              </a:solidFill>
              <a:latin typeface="Times New Roman" panose="02020603050405020304" pitchFamily="18" charset="0"/>
              <a:ea typeface="黑体" panose="02010609060101010101" pitchFamily="49" charset="-122"/>
            </a:endParaRPr>
          </a:p>
        </p:txBody>
      </p:sp>
      <p:sp>
        <p:nvSpPr>
          <p:cNvPr id="2" name="文本框 1"/>
          <p:cNvSpPr txBox="1"/>
          <p:nvPr/>
        </p:nvSpPr>
        <p:spPr>
          <a:xfrm>
            <a:off x="2975089" y="1736708"/>
            <a:ext cx="1877437" cy="430887"/>
          </a:xfrm>
          <a:prstGeom prst="rect">
            <a:avLst/>
          </a:prstGeom>
          <a:noFill/>
        </p:spPr>
        <p:txBody>
          <a:bodyPr wrap="none" rtlCol="0">
            <a:spAutoFit/>
          </a:bodyPr>
          <a:lstStyle/>
          <a:p>
            <a:r>
              <a:rPr lang="zh-CN" altLang="en-US" sz="2200" b="1" dirty="0">
                <a:solidFill>
                  <a:srgbClr val="FF0000"/>
                </a:solidFill>
              </a:rPr>
              <a:t>决策面方程：</a:t>
            </a:r>
          </a:p>
        </p:txBody>
      </p:sp>
    </p:spTree>
    <p:extLst>
      <p:ext uri="{BB962C8B-B14F-4D97-AF65-F5344CB8AC3E}">
        <p14:creationId xmlns:p14="http://schemas.microsoft.com/office/powerpoint/2010/main" val="416546435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7" descr="D:\文书工作\讲课\本科教学\MATLAB\show_18_11.bmp"/>
          <p:cNvPicPr>
            <a:picLocks noChangeArrowheads="1"/>
          </p:cNvPicPr>
          <p:nvPr/>
        </p:nvPicPr>
        <p:blipFill>
          <a:blip r:embed="rId3"/>
          <a:srcRect/>
          <a:stretch>
            <a:fillRect/>
          </a:stretch>
        </p:blipFill>
        <p:spPr bwMode="auto">
          <a:xfrm>
            <a:off x="84942" y="2908441"/>
            <a:ext cx="3178180" cy="2371209"/>
          </a:xfrm>
          <a:prstGeom prst="rect">
            <a:avLst/>
          </a:prstGeom>
          <a:noFill/>
        </p:spPr>
      </p:pic>
      <p:pic>
        <p:nvPicPr>
          <p:cNvPr id="16" name="Picture 5" descr="D:\文书工作\讲课\本科教学\MATLAB\show_18_5_5.bmp"/>
          <p:cNvPicPr>
            <a:picLocks noChangeAspect="1" noChangeArrowheads="1"/>
          </p:cNvPicPr>
          <p:nvPr/>
        </p:nvPicPr>
        <p:blipFill>
          <a:blip r:embed="rId4"/>
          <a:srcRect/>
          <a:stretch>
            <a:fillRect/>
          </a:stretch>
        </p:blipFill>
        <p:spPr bwMode="auto">
          <a:xfrm>
            <a:off x="5947827" y="2862143"/>
            <a:ext cx="3223343" cy="2417507"/>
          </a:xfrm>
          <a:prstGeom prst="rect">
            <a:avLst/>
          </a:prstGeom>
          <a:noFill/>
        </p:spPr>
      </p:pic>
      <p:pic>
        <p:nvPicPr>
          <p:cNvPr id="17" name="Picture 4" descr="D:\文书工作\讲课\本科教学\MATLAB\show_18_5_7.bmp"/>
          <p:cNvPicPr>
            <a:picLocks noChangeAspect="1" noChangeArrowheads="1"/>
          </p:cNvPicPr>
          <p:nvPr/>
        </p:nvPicPr>
        <p:blipFill>
          <a:blip r:embed="rId5"/>
          <a:srcRect/>
          <a:stretch>
            <a:fillRect/>
          </a:stretch>
        </p:blipFill>
        <p:spPr bwMode="auto">
          <a:xfrm>
            <a:off x="8910359" y="2852936"/>
            <a:ext cx="3162305" cy="2371729"/>
          </a:xfrm>
          <a:prstGeom prst="rect">
            <a:avLst/>
          </a:prstGeom>
          <a:noFill/>
        </p:spPr>
      </p:pic>
      <p:pic>
        <p:nvPicPr>
          <p:cNvPr id="19" name="Picture 6" descr="D:\文书工作\讲课\本科教学\MATLAB\show_18_5_3.bmp"/>
          <p:cNvPicPr>
            <a:picLocks noChangeAspect="1" noChangeArrowheads="1"/>
          </p:cNvPicPr>
          <p:nvPr/>
        </p:nvPicPr>
        <p:blipFill>
          <a:blip r:embed="rId6"/>
          <a:srcRect/>
          <a:stretch>
            <a:fillRect/>
          </a:stretch>
        </p:blipFill>
        <p:spPr bwMode="auto">
          <a:xfrm>
            <a:off x="2985295" y="2914882"/>
            <a:ext cx="3240359" cy="2371209"/>
          </a:xfrm>
          <a:prstGeom prst="rect">
            <a:avLst/>
          </a:prstGeom>
          <a:noFill/>
        </p:spPr>
      </p:pic>
      <p:pic>
        <p:nvPicPr>
          <p:cNvPr id="9" name="图片 8"/>
          <p:cNvPicPr>
            <a:picLocks noChangeAspect="1"/>
          </p:cNvPicPr>
          <p:nvPr/>
        </p:nvPicPr>
        <p:blipFill>
          <a:blip r:embed="rId7"/>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68</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052736"/>
            <a:ext cx="736611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正态分布概率模型下的最小错误率贝叶斯决策</a:t>
            </a:r>
          </a:p>
        </p:txBody>
      </p:sp>
      <p:graphicFrame>
        <p:nvGraphicFramePr>
          <p:cNvPr id="13" name="Object 13"/>
          <p:cNvGraphicFramePr>
            <a:graphicFrameLocks noGrp="1" noChangeAspect="1"/>
          </p:cNvGraphicFramePr>
          <p:nvPr>
            <p:ph sz="quarter" idx="4294967295"/>
            <p:extLst>
              <p:ext uri="{D42A27DB-BD31-4B8C-83A1-F6EECF244321}">
                <p14:modId xmlns:p14="http://schemas.microsoft.com/office/powerpoint/2010/main" val="4283369426"/>
              </p:ext>
            </p:extLst>
          </p:nvPr>
        </p:nvGraphicFramePr>
        <p:xfrm>
          <a:off x="2045062" y="2320553"/>
          <a:ext cx="2855913" cy="460375"/>
        </p:xfrm>
        <a:graphic>
          <a:graphicData uri="http://schemas.openxmlformats.org/presentationml/2006/ole">
            <mc:AlternateContent xmlns:mc="http://schemas.openxmlformats.org/markup-compatibility/2006">
              <mc:Choice xmlns:v="urn:schemas-microsoft-com:vml" Requires="v">
                <p:oleObj spid="_x0000_s71814" name="Equation" r:id="rId8" imgW="1574640" imgH="253800" progId="Equation.DSMT4">
                  <p:embed/>
                </p:oleObj>
              </mc:Choice>
              <mc:Fallback>
                <p:oleObj name="Equation" r:id="rId8" imgW="1574640" imgH="253800" progId="Equation.DSMT4">
                  <p:embed/>
                  <p:pic>
                    <p:nvPicPr>
                      <p:cNvPr id="0" name="Picture 122"/>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45062" y="2320553"/>
                        <a:ext cx="2855913"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6"/>
          <p:cNvGraphicFramePr>
            <a:graphicFrameLocks noGrp="1" noChangeAspect="1"/>
          </p:cNvGraphicFramePr>
          <p:nvPr>
            <p:ph sz="quarter" idx="4294967295"/>
            <p:extLst>
              <p:ext uri="{D42A27DB-BD31-4B8C-83A1-F6EECF244321}">
                <p14:modId xmlns:p14="http://schemas.microsoft.com/office/powerpoint/2010/main" val="1801177549"/>
              </p:ext>
            </p:extLst>
          </p:nvPr>
        </p:nvGraphicFramePr>
        <p:xfrm>
          <a:off x="5809153" y="2132856"/>
          <a:ext cx="5532466" cy="845885"/>
        </p:xfrm>
        <a:graphic>
          <a:graphicData uri="http://schemas.openxmlformats.org/presentationml/2006/ole">
            <mc:AlternateContent xmlns:mc="http://schemas.openxmlformats.org/markup-compatibility/2006">
              <mc:Choice xmlns:v="urn:schemas-microsoft-com:vml" Requires="v">
                <p:oleObj spid="_x0000_s71815" name="Equation" r:id="rId10" imgW="3073400" imgH="469900" progId="Equation.DSMT4">
                  <p:embed/>
                </p:oleObj>
              </mc:Choice>
              <mc:Fallback>
                <p:oleObj name="Equation" r:id="rId10" imgW="3073400" imgH="469900" progId="Equation.DSMT4">
                  <p:embed/>
                  <p:pic>
                    <p:nvPicPr>
                      <p:cNvPr id="0" name="Picture 123"/>
                      <p:cNvPicPr>
                        <a:picLocks noGrp="1"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09153" y="2132856"/>
                        <a:ext cx="5532466" cy="8458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11"/>
          <p:cNvGraphicFramePr>
            <a:graphicFrameLocks noChangeAspect="1"/>
          </p:cNvGraphicFramePr>
          <p:nvPr/>
        </p:nvGraphicFramePr>
        <p:xfrm>
          <a:off x="4900975" y="1700808"/>
          <a:ext cx="1843097" cy="473228"/>
        </p:xfrm>
        <a:graphic>
          <a:graphicData uri="http://schemas.openxmlformats.org/presentationml/2006/ole">
            <mc:AlternateContent xmlns:mc="http://schemas.openxmlformats.org/markup-compatibility/2006">
              <mc:Choice xmlns:v="urn:schemas-microsoft-com:vml" Requires="v">
                <p:oleObj spid="_x0000_s71816" name="Equation" r:id="rId12" imgW="939392" imgH="241195" progId="Equation.DSMT4">
                  <p:embed/>
                </p:oleObj>
              </mc:Choice>
              <mc:Fallback>
                <p:oleObj name="Equation" r:id="rId12" imgW="939392" imgH="241195" progId="Equation.DSMT4">
                  <p:embed/>
                  <p:pic>
                    <p:nvPicPr>
                      <p:cNvPr id="0" name="Picture 1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900975" y="1700808"/>
                        <a:ext cx="1843097" cy="473228"/>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Rectangle 3"/>
          <p:cNvSpPr txBox="1">
            <a:spLocks noChangeArrowheads="1"/>
          </p:cNvSpPr>
          <p:nvPr/>
        </p:nvSpPr>
        <p:spPr bwMode="gray">
          <a:xfrm>
            <a:off x="407368" y="1628800"/>
            <a:ext cx="1566843" cy="6367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20000"/>
              </a:lnSpc>
              <a:spcBef>
                <a:spcPts val="0"/>
              </a:spcBef>
              <a:buNone/>
            </a:pPr>
            <a:r>
              <a:rPr lang="en-US" altLang="zh-CN" b="1" kern="0" dirty="0">
                <a:solidFill>
                  <a:srgbClr val="FF0000"/>
                </a:solidFill>
                <a:latin typeface="Times New Roman" panose="02020603050405020304" pitchFamily="18" charset="0"/>
                <a:ea typeface="黑体" panose="02010609060101010101" pitchFamily="49" charset="-122"/>
              </a:rPr>
              <a:t>(2) </a:t>
            </a:r>
            <a:r>
              <a:rPr lang="en-US" altLang="zh-CN" b="1" dirty="0">
                <a:solidFill>
                  <a:srgbClr val="FF0000"/>
                </a:solidFill>
                <a:latin typeface="Symbol" pitchFamily="18" charset="2"/>
                <a:ea typeface="黑体" pitchFamily="2" charset="-122"/>
              </a:rPr>
              <a:t>S</a:t>
            </a:r>
            <a:r>
              <a:rPr lang="en-US" altLang="zh-CN" b="1" i="1" baseline="-25000" dirty="0">
                <a:solidFill>
                  <a:srgbClr val="FF0000"/>
                </a:solidFill>
                <a:latin typeface="Times New Roman" pitchFamily="18" charset="0"/>
                <a:ea typeface="黑体" pitchFamily="2" charset="-122"/>
              </a:rPr>
              <a:t>i </a:t>
            </a:r>
            <a:r>
              <a:rPr lang="en-US" altLang="zh-CN" b="1" dirty="0">
                <a:solidFill>
                  <a:srgbClr val="FF0000"/>
                </a:solidFill>
                <a:latin typeface="Times New Roman" pitchFamily="18" charset="0"/>
                <a:ea typeface="黑体" pitchFamily="2" charset="-122"/>
              </a:rPr>
              <a:t>=</a:t>
            </a:r>
            <a:r>
              <a:rPr lang="en-US" altLang="zh-CN" b="1" dirty="0">
                <a:solidFill>
                  <a:srgbClr val="FF0000"/>
                </a:solidFill>
                <a:latin typeface="Symbol" pitchFamily="18" charset="2"/>
                <a:ea typeface="黑体" pitchFamily="2" charset="-122"/>
              </a:rPr>
              <a:t>S</a:t>
            </a:r>
            <a:endParaRPr lang="en-US" altLang="zh-CN" b="1" kern="0" dirty="0">
              <a:solidFill>
                <a:srgbClr val="FF0000"/>
              </a:solidFill>
              <a:latin typeface="Times New Roman" panose="02020603050405020304" pitchFamily="18" charset="0"/>
              <a:ea typeface="黑体" panose="02010609060101010101" pitchFamily="49" charset="-122"/>
            </a:endParaRPr>
          </a:p>
        </p:txBody>
      </p:sp>
      <p:sp>
        <p:nvSpPr>
          <p:cNvPr id="2" name="文本框 1"/>
          <p:cNvSpPr txBox="1"/>
          <p:nvPr/>
        </p:nvSpPr>
        <p:spPr>
          <a:xfrm>
            <a:off x="2975089" y="1736708"/>
            <a:ext cx="1877437" cy="430887"/>
          </a:xfrm>
          <a:prstGeom prst="rect">
            <a:avLst/>
          </a:prstGeom>
          <a:noFill/>
        </p:spPr>
        <p:txBody>
          <a:bodyPr wrap="none" rtlCol="0">
            <a:spAutoFit/>
          </a:bodyPr>
          <a:lstStyle/>
          <a:p>
            <a:r>
              <a:rPr lang="zh-CN" altLang="en-US" sz="2200" b="1" dirty="0">
                <a:solidFill>
                  <a:srgbClr val="FF0000"/>
                </a:solidFill>
              </a:rPr>
              <a:t>决策面方程：</a:t>
            </a:r>
          </a:p>
        </p:txBody>
      </p:sp>
      <p:sp>
        <p:nvSpPr>
          <p:cNvPr id="20" name="Rectangle 15"/>
          <p:cNvSpPr>
            <a:spLocks noChangeArrowheads="1"/>
          </p:cNvSpPr>
          <p:nvPr/>
        </p:nvSpPr>
        <p:spPr bwMode="auto">
          <a:xfrm>
            <a:off x="4741992" y="3105251"/>
            <a:ext cx="1318097" cy="584775"/>
          </a:xfrm>
          <a:prstGeom prst="rect">
            <a:avLst/>
          </a:prstGeom>
          <a:noFill/>
          <a:ln w="9525">
            <a:noFill/>
            <a:miter lim="800000"/>
            <a:headEnd/>
            <a:tailEnd/>
          </a:ln>
          <a:effectLst/>
        </p:spPr>
        <p:txBody>
          <a:bodyPr wrap="square">
            <a:spAutoFit/>
          </a:bodyPr>
          <a:lstStyle/>
          <a:p>
            <a:r>
              <a:rPr lang="en-US" altLang="zh-CN" sz="1600" i="1" dirty="0">
                <a:solidFill>
                  <a:schemeClr val="tx1"/>
                </a:solidFill>
              </a:rPr>
              <a:t>P</a:t>
            </a:r>
            <a:r>
              <a:rPr lang="en-US" altLang="zh-CN" sz="1600" dirty="0">
                <a:solidFill>
                  <a:schemeClr val="tx1"/>
                </a:solidFill>
              </a:rPr>
              <a:t>(</a:t>
            </a:r>
            <a:r>
              <a:rPr lang="en-US" altLang="zh-CN" sz="1600" i="1" dirty="0">
                <a:solidFill>
                  <a:schemeClr val="tx1"/>
                </a:solidFill>
              </a:rPr>
              <a:t>ω</a:t>
            </a:r>
            <a:r>
              <a:rPr lang="en-US" altLang="zh-CN" sz="1600" baseline="-25000" dirty="0">
                <a:solidFill>
                  <a:schemeClr val="tx1"/>
                </a:solidFill>
              </a:rPr>
              <a:t>1</a:t>
            </a:r>
            <a:r>
              <a:rPr lang="en-US" altLang="zh-CN" sz="1600" dirty="0">
                <a:solidFill>
                  <a:schemeClr val="tx1"/>
                </a:solidFill>
              </a:rPr>
              <a:t>)</a:t>
            </a:r>
            <a:r>
              <a:rPr lang="zh-CN" altLang="en-US" sz="1600" dirty="0">
                <a:solidFill>
                  <a:srgbClr val="000000"/>
                </a:solidFill>
              </a:rPr>
              <a:t>＝</a:t>
            </a:r>
            <a:r>
              <a:rPr lang="en-US" altLang="zh-CN" sz="1600" dirty="0">
                <a:solidFill>
                  <a:srgbClr val="000000"/>
                </a:solidFill>
              </a:rPr>
              <a:t>0.7 </a:t>
            </a:r>
          </a:p>
          <a:p>
            <a:r>
              <a:rPr lang="en-US" altLang="zh-CN" sz="1600" i="1" dirty="0">
                <a:solidFill>
                  <a:srgbClr val="000000"/>
                </a:solidFill>
              </a:rPr>
              <a:t>P</a:t>
            </a:r>
            <a:r>
              <a:rPr lang="en-US" altLang="zh-CN" sz="1600" dirty="0">
                <a:solidFill>
                  <a:srgbClr val="000000"/>
                </a:solidFill>
              </a:rPr>
              <a:t>(</a:t>
            </a:r>
            <a:r>
              <a:rPr lang="en-US" altLang="zh-CN" sz="1600" i="1" dirty="0">
                <a:solidFill>
                  <a:srgbClr val="000000"/>
                </a:solidFill>
              </a:rPr>
              <a:t>ω</a:t>
            </a:r>
            <a:r>
              <a:rPr lang="en-US" altLang="zh-CN" sz="1600" baseline="-25000" dirty="0">
                <a:solidFill>
                  <a:srgbClr val="000000"/>
                </a:solidFill>
              </a:rPr>
              <a:t>2</a:t>
            </a:r>
            <a:r>
              <a:rPr lang="en-US" altLang="zh-CN" sz="1600" dirty="0">
                <a:solidFill>
                  <a:srgbClr val="000000"/>
                </a:solidFill>
              </a:rPr>
              <a:t>)</a:t>
            </a:r>
            <a:r>
              <a:rPr lang="zh-CN" altLang="en-US" sz="1600" dirty="0">
                <a:solidFill>
                  <a:srgbClr val="000000"/>
                </a:solidFill>
              </a:rPr>
              <a:t>＝</a:t>
            </a:r>
            <a:r>
              <a:rPr lang="en-US" altLang="zh-CN" sz="1600" dirty="0">
                <a:solidFill>
                  <a:srgbClr val="000000"/>
                </a:solidFill>
              </a:rPr>
              <a:t>0.3</a:t>
            </a:r>
          </a:p>
        </p:txBody>
      </p:sp>
      <p:sp>
        <p:nvSpPr>
          <p:cNvPr id="21" name="Rectangle 15"/>
          <p:cNvSpPr>
            <a:spLocks noChangeArrowheads="1"/>
          </p:cNvSpPr>
          <p:nvPr/>
        </p:nvSpPr>
        <p:spPr bwMode="auto">
          <a:xfrm>
            <a:off x="1753341" y="3123659"/>
            <a:ext cx="1292992" cy="584775"/>
          </a:xfrm>
          <a:prstGeom prst="rect">
            <a:avLst/>
          </a:prstGeom>
          <a:noFill/>
          <a:ln w="9525">
            <a:noFill/>
            <a:miter lim="800000"/>
            <a:headEnd/>
            <a:tailEnd/>
          </a:ln>
          <a:effectLst/>
        </p:spPr>
        <p:txBody>
          <a:bodyPr wrap="square">
            <a:spAutoFit/>
          </a:bodyPr>
          <a:lstStyle/>
          <a:p>
            <a:r>
              <a:rPr lang="en-US" altLang="zh-CN" sz="1600" i="1" dirty="0">
                <a:solidFill>
                  <a:schemeClr val="tx1"/>
                </a:solidFill>
              </a:rPr>
              <a:t>P</a:t>
            </a:r>
            <a:r>
              <a:rPr lang="en-US" altLang="zh-CN" sz="1600" dirty="0">
                <a:solidFill>
                  <a:schemeClr val="tx1"/>
                </a:solidFill>
              </a:rPr>
              <a:t>(</a:t>
            </a:r>
            <a:r>
              <a:rPr lang="en-US" altLang="zh-CN" sz="1600" i="1" dirty="0">
                <a:solidFill>
                  <a:schemeClr val="tx1"/>
                </a:solidFill>
              </a:rPr>
              <a:t>ω</a:t>
            </a:r>
            <a:r>
              <a:rPr lang="en-US" altLang="zh-CN" sz="1600" baseline="-25000" dirty="0">
                <a:solidFill>
                  <a:schemeClr val="tx1"/>
                </a:solidFill>
              </a:rPr>
              <a:t>1</a:t>
            </a:r>
            <a:r>
              <a:rPr lang="en-US" altLang="zh-CN" sz="1600" dirty="0">
                <a:solidFill>
                  <a:schemeClr val="tx1"/>
                </a:solidFill>
              </a:rPr>
              <a:t>)</a:t>
            </a:r>
            <a:r>
              <a:rPr lang="zh-CN" altLang="en-US" sz="1600" dirty="0">
                <a:solidFill>
                  <a:srgbClr val="000000"/>
                </a:solidFill>
              </a:rPr>
              <a:t>＝</a:t>
            </a:r>
            <a:r>
              <a:rPr lang="en-US" altLang="zh-CN" sz="1600" dirty="0">
                <a:solidFill>
                  <a:srgbClr val="000000"/>
                </a:solidFill>
              </a:rPr>
              <a:t>0.5 </a:t>
            </a:r>
          </a:p>
          <a:p>
            <a:r>
              <a:rPr lang="en-US" altLang="zh-CN" sz="1600" i="1" dirty="0">
                <a:solidFill>
                  <a:srgbClr val="000000"/>
                </a:solidFill>
              </a:rPr>
              <a:t>P</a:t>
            </a:r>
            <a:r>
              <a:rPr lang="en-US" altLang="zh-CN" sz="1600" dirty="0">
                <a:solidFill>
                  <a:srgbClr val="000000"/>
                </a:solidFill>
              </a:rPr>
              <a:t>(</a:t>
            </a:r>
            <a:r>
              <a:rPr lang="en-US" altLang="zh-CN" sz="1600" i="1" dirty="0">
                <a:solidFill>
                  <a:srgbClr val="000000"/>
                </a:solidFill>
              </a:rPr>
              <a:t>ω</a:t>
            </a:r>
            <a:r>
              <a:rPr lang="en-US" altLang="zh-CN" sz="1600" baseline="-25000" dirty="0">
                <a:solidFill>
                  <a:srgbClr val="000000"/>
                </a:solidFill>
              </a:rPr>
              <a:t>2</a:t>
            </a:r>
            <a:r>
              <a:rPr lang="en-US" altLang="zh-CN" sz="1600" dirty="0">
                <a:solidFill>
                  <a:srgbClr val="000000"/>
                </a:solidFill>
              </a:rPr>
              <a:t>)</a:t>
            </a:r>
            <a:r>
              <a:rPr lang="zh-CN" altLang="en-US" sz="1600" dirty="0">
                <a:solidFill>
                  <a:srgbClr val="000000"/>
                </a:solidFill>
              </a:rPr>
              <a:t>＝</a:t>
            </a:r>
            <a:r>
              <a:rPr lang="en-US" altLang="zh-CN" sz="1600" dirty="0">
                <a:solidFill>
                  <a:srgbClr val="000000"/>
                </a:solidFill>
              </a:rPr>
              <a:t>0.5</a:t>
            </a:r>
          </a:p>
        </p:txBody>
      </p:sp>
      <p:sp>
        <p:nvSpPr>
          <p:cNvPr id="22" name="Rectangle 15"/>
          <p:cNvSpPr>
            <a:spLocks noChangeArrowheads="1"/>
          </p:cNvSpPr>
          <p:nvPr/>
        </p:nvSpPr>
        <p:spPr bwMode="auto">
          <a:xfrm>
            <a:off x="7684880" y="3064923"/>
            <a:ext cx="1265179" cy="584775"/>
          </a:xfrm>
          <a:prstGeom prst="rect">
            <a:avLst/>
          </a:prstGeom>
          <a:noFill/>
          <a:ln w="9525">
            <a:noFill/>
            <a:miter lim="800000"/>
            <a:headEnd/>
            <a:tailEnd/>
          </a:ln>
          <a:effectLst/>
        </p:spPr>
        <p:txBody>
          <a:bodyPr wrap="square">
            <a:spAutoFit/>
          </a:bodyPr>
          <a:lstStyle/>
          <a:p>
            <a:r>
              <a:rPr lang="en-US" altLang="zh-CN" sz="1600" i="1" dirty="0">
                <a:solidFill>
                  <a:schemeClr val="tx1"/>
                </a:solidFill>
              </a:rPr>
              <a:t>P</a:t>
            </a:r>
            <a:r>
              <a:rPr lang="en-US" altLang="zh-CN" sz="1600" dirty="0">
                <a:solidFill>
                  <a:schemeClr val="tx1"/>
                </a:solidFill>
              </a:rPr>
              <a:t>(</a:t>
            </a:r>
            <a:r>
              <a:rPr lang="en-US" altLang="zh-CN" sz="1600" i="1" dirty="0">
                <a:solidFill>
                  <a:schemeClr val="tx1"/>
                </a:solidFill>
              </a:rPr>
              <a:t>ω</a:t>
            </a:r>
            <a:r>
              <a:rPr lang="en-US" altLang="zh-CN" sz="1600" baseline="-25000" dirty="0">
                <a:solidFill>
                  <a:schemeClr val="tx1"/>
                </a:solidFill>
              </a:rPr>
              <a:t>1</a:t>
            </a:r>
            <a:r>
              <a:rPr lang="en-US" altLang="zh-CN" sz="1600" dirty="0">
                <a:solidFill>
                  <a:schemeClr val="tx1"/>
                </a:solidFill>
              </a:rPr>
              <a:t>)</a:t>
            </a:r>
            <a:r>
              <a:rPr lang="zh-CN" altLang="en-US" sz="1600" dirty="0">
                <a:solidFill>
                  <a:srgbClr val="000000"/>
                </a:solidFill>
              </a:rPr>
              <a:t>＝</a:t>
            </a:r>
            <a:r>
              <a:rPr lang="en-US" altLang="zh-CN" sz="1600" dirty="0">
                <a:solidFill>
                  <a:srgbClr val="000000"/>
                </a:solidFill>
              </a:rPr>
              <a:t>0.9 </a:t>
            </a:r>
          </a:p>
          <a:p>
            <a:r>
              <a:rPr lang="en-US" altLang="zh-CN" sz="1600" i="1" dirty="0">
                <a:solidFill>
                  <a:srgbClr val="000000"/>
                </a:solidFill>
              </a:rPr>
              <a:t>P</a:t>
            </a:r>
            <a:r>
              <a:rPr lang="en-US" altLang="zh-CN" sz="1600" dirty="0">
                <a:solidFill>
                  <a:srgbClr val="000000"/>
                </a:solidFill>
              </a:rPr>
              <a:t>(</a:t>
            </a:r>
            <a:r>
              <a:rPr lang="en-US" altLang="zh-CN" sz="1600" i="1" dirty="0">
                <a:solidFill>
                  <a:srgbClr val="000000"/>
                </a:solidFill>
              </a:rPr>
              <a:t>ω</a:t>
            </a:r>
            <a:r>
              <a:rPr lang="en-US" altLang="zh-CN" sz="1600" baseline="-25000" dirty="0">
                <a:solidFill>
                  <a:srgbClr val="000000"/>
                </a:solidFill>
              </a:rPr>
              <a:t>2</a:t>
            </a:r>
            <a:r>
              <a:rPr lang="en-US" altLang="zh-CN" sz="1600" dirty="0">
                <a:solidFill>
                  <a:srgbClr val="000000"/>
                </a:solidFill>
              </a:rPr>
              <a:t>)</a:t>
            </a:r>
            <a:r>
              <a:rPr lang="zh-CN" altLang="en-US" sz="1600" dirty="0">
                <a:solidFill>
                  <a:srgbClr val="000000"/>
                </a:solidFill>
              </a:rPr>
              <a:t>＝</a:t>
            </a:r>
            <a:r>
              <a:rPr lang="en-US" altLang="zh-CN" sz="1600" dirty="0">
                <a:solidFill>
                  <a:srgbClr val="000000"/>
                </a:solidFill>
              </a:rPr>
              <a:t>0.1</a:t>
            </a:r>
          </a:p>
        </p:txBody>
      </p:sp>
      <p:sp>
        <p:nvSpPr>
          <p:cNvPr id="23" name="Rectangle 15"/>
          <p:cNvSpPr>
            <a:spLocks noChangeArrowheads="1"/>
          </p:cNvSpPr>
          <p:nvPr/>
        </p:nvSpPr>
        <p:spPr bwMode="auto">
          <a:xfrm>
            <a:off x="10539400" y="3064922"/>
            <a:ext cx="1511865" cy="584775"/>
          </a:xfrm>
          <a:prstGeom prst="rect">
            <a:avLst/>
          </a:prstGeom>
          <a:noFill/>
          <a:ln w="9525">
            <a:noFill/>
            <a:miter lim="800000"/>
            <a:headEnd/>
            <a:tailEnd/>
          </a:ln>
          <a:effectLst/>
        </p:spPr>
        <p:txBody>
          <a:bodyPr wrap="square">
            <a:spAutoFit/>
          </a:bodyPr>
          <a:lstStyle/>
          <a:p>
            <a:r>
              <a:rPr lang="en-US" altLang="zh-CN" sz="1600" i="1" dirty="0">
                <a:solidFill>
                  <a:schemeClr val="tx1"/>
                </a:solidFill>
              </a:rPr>
              <a:t>P</a:t>
            </a:r>
            <a:r>
              <a:rPr lang="en-US" altLang="zh-CN" sz="1600" dirty="0">
                <a:solidFill>
                  <a:schemeClr val="tx1"/>
                </a:solidFill>
              </a:rPr>
              <a:t>(</a:t>
            </a:r>
            <a:r>
              <a:rPr lang="en-US" altLang="zh-CN" sz="1600" i="1" dirty="0">
                <a:solidFill>
                  <a:schemeClr val="tx1"/>
                </a:solidFill>
              </a:rPr>
              <a:t>ω</a:t>
            </a:r>
            <a:r>
              <a:rPr lang="en-US" altLang="zh-CN" sz="1600" baseline="-25000" dirty="0">
                <a:solidFill>
                  <a:schemeClr val="tx1"/>
                </a:solidFill>
              </a:rPr>
              <a:t>1</a:t>
            </a:r>
            <a:r>
              <a:rPr lang="en-US" altLang="zh-CN" sz="1600" dirty="0">
                <a:solidFill>
                  <a:schemeClr val="tx1"/>
                </a:solidFill>
              </a:rPr>
              <a:t>)</a:t>
            </a:r>
            <a:r>
              <a:rPr lang="zh-CN" altLang="en-US" sz="1600" dirty="0">
                <a:solidFill>
                  <a:srgbClr val="000000"/>
                </a:solidFill>
              </a:rPr>
              <a:t>＝</a:t>
            </a:r>
            <a:r>
              <a:rPr lang="en-US" altLang="zh-CN" sz="1600" dirty="0">
                <a:solidFill>
                  <a:srgbClr val="000000"/>
                </a:solidFill>
              </a:rPr>
              <a:t>0.99 </a:t>
            </a:r>
          </a:p>
          <a:p>
            <a:r>
              <a:rPr lang="en-US" altLang="zh-CN" sz="1600" i="1" dirty="0">
                <a:solidFill>
                  <a:srgbClr val="000000"/>
                </a:solidFill>
              </a:rPr>
              <a:t>P</a:t>
            </a:r>
            <a:r>
              <a:rPr lang="en-US" altLang="zh-CN" sz="1600" dirty="0">
                <a:solidFill>
                  <a:srgbClr val="000000"/>
                </a:solidFill>
              </a:rPr>
              <a:t>(</a:t>
            </a:r>
            <a:r>
              <a:rPr lang="en-US" altLang="zh-CN" sz="1600" i="1" dirty="0">
                <a:solidFill>
                  <a:srgbClr val="000000"/>
                </a:solidFill>
              </a:rPr>
              <a:t>ω</a:t>
            </a:r>
            <a:r>
              <a:rPr lang="en-US" altLang="zh-CN" sz="1600" baseline="-25000" dirty="0">
                <a:solidFill>
                  <a:srgbClr val="000000"/>
                </a:solidFill>
              </a:rPr>
              <a:t>2</a:t>
            </a:r>
            <a:r>
              <a:rPr lang="en-US" altLang="zh-CN" sz="1600" dirty="0">
                <a:solidFill>
                  <a:srgbClr val="000000"/>
                </a:solidFill>
              </a:rPr>
              <a:t>)</a:t>
            </a:r>
            <a:r>
              <a:rPr lang="zh-CN" altLang="en-US" sz="1600" dirty="0">
                <a:solidFill>
                  <a:srgbClr val="000000"/>
                </a:solidFill>
              </a:rPr>
              <a:t>＝</a:t>
            </a:r>
            <a:r>
              <a:rPr lang="en-US" altLang="zh-CN" sz="1600" dirty="0">
                <a:solidFill>
                  <a:srgbClr val="000000"/>
                </a:solidFill>
              </a:rPr>
              <a:t>0.01</a:t>
            </a:r>
          </a:p>
        </p:txBody>
      </p:sp>
      <p:sp>
        <p:nvSpPr>
          <p:cNvPr id="4" name="矩形 3"/>
          <p:cNvSpPr/>
          <p:nvPr/>
        </p:nvSpPr>
        <p:spPr>
          <a:xfrm>
            <a:off x="2513250" y="5316544"/>
            <a:ext cx="9055358" cy="1089529"/>
          </a:xfrm>
          <a:prstGeom prst="rect">
            <a:avLst/>
          </a:prstGeom>
        </p:spPr>
        <p:txBody>
          <a:bodyPr wrap="square">
            <a:spAutoFit/>
          </a:bodyPr>
          <a:lstStyle/>
          <a:p>
            <a:pPr marL="285750" indent="-285750">
              <a:lnSpc>
                <a:spcPct val="120000"/>
              </a:lnSpc>
              <a:buFont typeface="Arial" panose="020B0604020202020204" pitchFamily="34" charset="0"/>
              <a:buChar char="•"/>
            </a:pPr>
            <a:r>
              <a:rPr lang="zh-CN" altLang="en-US" dirty="0">
                <a:latin typeface="+mj-ea"/>
              </a:rPr>
              <a:t>若先验概率相等，则交点在均值向量连线的中点上；</a:t>
            </a:r>
          </a:p>
          <a:p>
            <a:pPr marL="285750" indent="-285750">
              <a:lnSpc>
                <a:spcPct val="120000"/>
              </a:lnSpc>
              <a:buFont typeface="Arial" panose="020B0604020202020204" pitchFamily="34" charset="0"/>
              <a:buChar char="•"/>
            </a:pPr>
            <a:r>
              <a:rPr lang="zh-CN" altLang="en-US" dirty="0">
                <a:latin typeface="+mj-ea"/>
              </a:rPr>
              <a:t>若先验概率不相等则向先验概率小的均值点偏移。</a:t>
            </a:r>
          </a:p>
          <a:p>
            <a:pPr marL="285750" indent="-285750">
              <a:lnSpc>
                <a:spcPct val="120000"/>
              </a:lnSpc>
              <a:buFont typeface="Arial" panose="020B0604020202020204" pitchFamily="34" charset="0"/>
              <a:buChar char="•"/>
            </a:pPr>
            <a:r>
              <a:rPr lang="zh-CN" altLang="en-US" dirty="0">
                <a:latin typeface="+mj-ea"/>
              </a:rPr>
              <a:t>若先验概率相差较大，判别边界不会落入球状高斯分布的中心点之间。</a:t>
            </a:r>
          </a:p>
        </p:txBody>
      </p:sp>
    </p:spTree>
    <p:extLst>
      <p:ext uri="{BB962C8B-B14F-4D97-AF65-F5344CB8AC3E}">
        <p14:creationId xmlns:p14="http://schemas.microsoft.com/office/powerpoint/2010/main" val="21606542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69</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052736"/>
            <a:ext cx="736611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正态分布概率模型下的最小错误率贝叶斯决策</a:t>
            </a:r>
          </a:p>
        </p:txBody>
      </p:sp>
      <p:sp>
        <p:nvSpPr>
          <p:cNvPr id="16" name="Rectangle 3"/>
          <p:cNvSpPr txBox="1">
            <a:spLocks noChangeArrowheads="1"/>
          </p:cNvSpPr>
          <p:nvPr/>
        </p:nvSpPr>
        <p:spPr bwMode="gray">
          <a:xfrm>
            <a:off x="322833" y="1700808"/>
            <a:ext cx="11533807" cy="475404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nSpc>
                <a:spcPct val="140000"/>
              </a:lnSpc>
              <a:spcBef>
                <a:spcPts val="0"/>
              </a:spcBef>
              <a:buFontTx/>
              <a:buNone/>
            </a:pPr>
            <a:r>
              <a:rPr lang="zh-CN" altLang="en-US" sz="2200" kern="0" dirty="0">
                <a:latin typeface="Times New Roman" panose="02020603050405020304" pitchFamily="18" charset="0"/>
                <a:ea typeface="黑体" panose="02010609060101010101" pitchFamily="49" charset="-122"/>
              </a:rPr>
              <a:t>例 </a:t>
            </a:r>
            <a:r>
              <a:rPr lang="en-US" altLang="zh-CN" sz="2200" kern="0" dirty="0">
                <a:latin typeface="Times New Roman" panose="02020603050405020304" pitchFamily="18" charset="0"/>
                <a:ea typeface="黑体" panose="02010609060101010101" pitchFamily="49" charset="-122"/>
              </a:rPr>
              <a:t>13.6  </a:t>
            </a:r>
            <a:r>
              <a:rPr lang="zh-CN" altLang="en-US" sz="2200" kern="0" dirty="0">
                <a:latin typeface="Times New Roman" panose="02020603050405020304" pitchFamily="18" charset="0"/>
                <a:ea typeface="黑体" panose="02010609060101010101" pitchFamily="49" charset="-122"/>
              </a:rPr>
              <a:t>已知两类问题，协方差 </a:t>
            </a:r>
            <a:r>
              <a:rPr lang="el-GR" altLang="zh-CN" sz="2200" kern="0" dirty="0">
                <a:latin typeface="Times New Roman" panose="02020603050405020304" pitchFamily="18" charset="0"/>
                <a:ea typeface="黑体" panose="02010609060101010101" pitchFamily="49" charset="-122"/>
              </a:rPr>
              <a:t>Σ</a:t>
            </a:r>
            <a:r>
              <a:rPr lang="en-US" altLang="zh-CN" sz="2200" kern="0" dirty="0">
                <a:latin typeface="Times New Roman" panose="02020603050405020304" pitchFamily="18" charset="0"/>
                <a:ea typeface="黑体" panose="02010609060101010101" pitchFamily="49" charset="-122"/>
              </a:rPr>
              <a:t> </a:t>
            </a:r>
            <a:r>
              <a:rPr lang="zh-CN" altLang="en-US" sz="2200" kern="0" dirty="0">
                <a:latin typeface="Times New Roman" panose="02020603050405020304" pitchFamily="18" charset="0"/>
                <a:ea typeface="黑体" panose="02010609060101010101" pitchFamily="49" charset="-122"/>
              </a:rPr>
              <a:t>相同，均值向量不同。先验概率相等，</a:t>
            </a:r>
          </a:p>
          <a:p>
            <a:pPr marL="0" indent="0">
              <a:lnSpc>
                <a:spcPct val="140000"/>
              </a:lnSpc>
              <a:spcBef>
                <a:spcPts val="1800"/>
              </a:spcBef>
              <a:buFontTx/>
              <a:buNone/>
            </a:pPr>
            <a:r>
              <a:rPr lang="zh-CN" altLang="en-US" sz="2200" kern="0" dirty="0">
                <a:latin typeface="Times New Roman" panose="02020603050405020304" pitchFamily="18" charset="0"/>
                <a:ea typeface="黑体" panose="02010609060101010101" pitchFamily="49" charset="-122"/>
              </a:rPr>
              <a:t>                                       要求根据</a:t>
            </a:r>
            <a:r>
              <a:rPr lang="en-US" altLang="zh-CN" sz="2200" kern="0" dirty="0">
                <a:latin typeface="Times New Roman" panose="02020603050405020304" pitchFamily="18" charset="0"/>
                <a:ea typeface="黑体" panose="02010609060101010101" pitchFamily="49" charset="-122"/>
              </a:rPr>
              <a:t>Bayes</a:t>
            </a:r>
            <a:r>
              <a:rPr lang="zh-CN" altLang="en-US" sz="2200" kern="0" dirty="0">
                <a:latin typeface="Times New Roman" panose="02020603050405020304" pitchFamily="18" charset="0"/>
                <a:ea typeface="黑体" panose="02010609060101010101" pitchFamily="49" charset="-122"/>
              </a:rPr>
              <a:t>决策，对样本</a:t>
            </a:r>
            <a:r>
              <a:rPr lang="en-US" altLang="zh-CN" sz="2200" i="1" kern="0" dirty="0">
                <a:latin typeface="Times New Roman" panose="02020603050405020304" pitchFamily="18" charset="0"/>
                <a:ea typeface="黑体" panose="02010609060101010101" pitchFamily="49" charset="-122"/>
              </a:rPr>
              <a:t>x</a:t>
            </a:r>
            <a:r>
              <a:rPr lang="en-US" altLang="zh-CN" sz="2200" kern="0" dirty="0">
                <a:latin typeface="Times New Roman" panose="02020603050405020304" pitchFamily="18" charset="0"/>
                <a:ea typeface="黑体" panose="02010609060101010101" pitchFamily="49" charset="-122"/>
              </a:rPr>
              <a:t>=[1.0, 2.2]</a:t>
            </a:r>
            <a:r>
              <a:rPr lang="en-US" altLang="zh-CN" sz="2200" kern="0" baseline="30000" dirty="0">
                <a:latin typeface="Times New Roman" panose="02020603050405020304" pitchFamily="18" charset="0"/>
                <a:ea typeface="黑体" panose="02010609060101010101" pitchFamily="49" charset="-122"/>
              </a:rPr>
              <a:t>T</a:t>
            </a:r>
            <a:r>
              <a:rPr lang="zh-CN" altLang="en-US" sz="2200" kern="0" dirty="0">
                <a:latin typeface="Times New Roman" panose="02020603050405020304" pitchFamily="18" charset="0"/>
                <a:ea typeface="黑体" panose="02010609060101010101" pitchFamily="49" charset="-122"/>
              </a:rPr>
              <a:t>分类。</a:t>
            </a:r>
          </a:p>
          <a:p>
            <a:pPr marL="0" indent="0" algn="just">
              <a:lnSpc>
                <a:spcPct val="140000"/>
              </a:lnSpc>
              <a:spcBef>
                <a:spcPts val="1200"/>
              </a:spcBef>
              <a:buFontTx/>
              <a:buNone/>
            </a:pPr>
            <a:r>
              <a:rPr lang="zh-CN" altLang="en-US" sz="2200" kern="0" dirty="0">
                <a:latin typeface="Times New Roman" panose="02020603050405020304" pitchFamily="18" charset="0"/>
                <a:ea typeface="黑体" panose="02010609060101010101" pitchFamily="49" charset="-122"/>
              </a:rPr>
              <a:t>解</a:t>
            </a:r>
            <a:r>
              <a:rPr lang="en-US" altLang="zh-CN" sz="2200" kern="0" dirty="0">
                <a:latin typeface="Times New Roman" panose="02020603050405020304" pitchFamily="18" charset="0"/>
                <a:ea typeface="黑体" panose="02010609060101010101" pitchFamily="49" charset="-122"/>
              </a:rPr>
              <a:t>:</a:t>
            </a:r>
            <a:r>
              <a:rPr lang="zh-CN" altLang="en-US" sz="2200" kern="0" dirty="0">
                <a:latin typeface="Times New Roman" panose="02020603050405020304" pitchFamily="18" charset="0"/>
                <a:ea typeface="黑体" panose="02010609060101010101" pitchFamily="49" charset="-122"/>
              </a:rPr>
              <a:t>分别计算对两个均值向量的马氏距离，得</a:t>
            </a:r>
          </a:p>
          <a:p>
            <a:pPr marL="0" indent="0">
              <a:lnSpc>
                <a:spcPct val="140000"/>
              </a:lnSpc>
              <a:spcBef>
                <a:spcPts val="0"/>
              </a:spcBef>
              <a:buFontTx/>
              <a:buNone/>
            </a:pPr>
            <a:endParaRPr lang="zh-CN" altLang="en-US" sz="2200" kern="0" dirty="0">
              <a:latin typeface="Times New Roman" panose="02020603050405020304" pitchFamily="18" charset="0"/>
              <a:ea typeface="黑体" panose="02010609060101010101" pitchFamily="49" charset="-122"/>
            </a:endParaRPr>
          </a:p>
          <a:p>
            <a:pPr marL="0" indent="0">
              <a:lnSpc>
                <a:spcPct val="140000"/>
              </a:lnSpc>
              <a:spcBef>
                <a:spcPts val="0"/>
              </a:spcBef>
              <a:buFontTx/>
              <a:buNone/>
            </a:pPr>
            <a:endParaRPr lang="en-US" altLang="zh-CN" sz="2200" kern="0" dirty="0">
              <a:latin typeface="Times New Roman" panose="02020603050405020304" pitchFamily="18" charset="0"/>
              <a:ea typeface="黑体" panose="02010609060101010101" pitchFamily="49" charset="-122"/>
            </a:endParaRPr>
          </a:p>
          <a:p>
            <a:pPr marL="0" indent="0">
              <a:lnSpc>
                <a:spcPct val="140000"/>
              </a:lnSpc>
              <a:spcBef>
                <a:spcPts val="0"/>
              </a:spcBef>
              <a:buFontTx/>
              <a:buNone/>
            </a:pPr>
            <a:endParaRPr lang="en-US" altLang="zh-CN" sz="2200" kern="0" dirty="0">
              <a:latin typeface="Times New Roman" panose="02020603050405020304" pitchFamily="18" charset="0"/>
              <a:ea typeface="黑体" panose="02010609060101010101" pitchFamily="49" charset="-122"/>
            </a:endParaRPr>
          </a:p>
          <a:p>
            <a:pPr marL="0" indent="0">
              <a:lnSpc>
                <a:spcPct val="140000"/>
              </a:lnSpc>
              <a:spcBef>
                <a:spcPts val="0"/>
              </a:spcBef>
              <a:buFontTx/>
              <a:buNone/>
            </a:pPr>
            <a:endParaRPr lang="en-US" altLang="zh-CN" sz="2200" kern="0" dirty="0">
              <a:latin typeface="Times New Roman" panose="02020603050405020304" pitchFamily="18" charset="0"/>
              <a:ea typeface="黑体" panose="02010609060101010101" pitchFamily="49" charset="-122"/>
            </a:endParaRPr>
          </a:p>
          <a:p>
            <a:pPr marL="0" indent="0">
              <a:lnSpc>
                <a:spcPct val="140000"/>
              </a:lnSpc>
              <a:spcBef>
                <a:spcPts val="0"/>
              </a:spcBef>
              <a:buFontTx/>
              <a:buNone/>
            </a:pPr>
            <a:endParaRPr lang="zh-CN" altLang="en-US" sz="2200" kern="0" dirty="0">
              <a:latin typeface="Times New Roman" panose="02020603050405020304" pitchFamily="18" charset="0"/>
              <a:ea typeface="黑体" panose="02010609060101010101" pitchFamily="49" charset="-122"/>
            </a:endParaRPr>
          </a:p>
          <a:p>
            <a:pPr marL="0" indent="0">
              <a:lnSpc>
                <a:spcPct val="140000"/>
              </a:lnSpc>
              <a:spcBef>
                <a:spcPts val="0"/>
              </a:spcBef>
              <a:buFont typeface="Wingdings" pitchFamily="2" charset="2"/>
              <a:buNone/>
            </a:pPr>
            <a:r>
              <a:rPr lang="zh-CN" altLang="en-US" sz="2200" kern="0" dirty="0">
                <a:latin typeface="Times New Roman" panose="02020603050405020304" pitchFamily="18" charset="0"/>
                <a:ea typeface="黑体" panose="02010609060101010101" pitchFamily="49" charset="-122"/>
              </a:rPr>
              <a:t>样本</a:t>
            </a:r>
            <a:r>
              <a:rPr lang="en-US" altLang="zh-CN" sz="2200" kern="0" dirty="0">
                <a:latin typeface="Times New Roman" panose="02020603050405020304" pitchFamily="18" charset="0"/>
                <a:ea typeface="黑体" panose="02010609060101010101" pitchFamily="49" charset="-122"/>
              </a:rPr>
              <a:t>x</a:t>
            </a:r>
            <a:r>
              <a:rPr lang="zh-CN" altLang="en-US" sz="2200" kern="0" dirty="0">
                <a:latin typeface="Times New Roman" panose="02020603050405020304" pitchFamily="18" charset="0"/>
                <a:ea typeface="黑体" panose="02010609060101010101" pitchFamily="49" charset="-122"/>
              </a:rPr>
              <a:t>应属于距离近的类， </a:t>
            </a:r>
            <a:r>
              <a:rPr lang="en-US" altLang="zh-CN" sz="2200" i="1" kern="0" dirty="0">
                <a:latin typeface="Times New Roman" panose="02020603050405020304" pitchFamily="18" charset="0"/>
                <a:ea typeface="黑体" panose="02010609060101010101" pitchFamily="49" charset="-122"/>
              </a:rPr>
              <a:t>x</a:t>
            </a:r>
            <a:r>
              <a:rPr lang="zh-CN" altLang="en-US" sz="2200" kern="0" dirty="0">
                <a:latin typeface="Times New Roman" panose="02020603050405020304" pitchFamily="18" charset="0"/>
                <a:ea typeface="黑体" panose="02010609060101010101" pitchFamily="49" charset="-122"/>
              </a:rPr>
              <a:t>＝</a:t>
            </a:r>
            <a:r>
              <a:rPr lang="en-US" altLang="zh-CN" sz="2200" kern="0" dirty="0">
                <a:latin typeface="Times New Roman" panose="02020603050405020304" pitchFamily="18" charset="0"/>
                <a:ea typeface="黑体" panose="02010609060101010101" pitchFamily="49" charset="-122"/>
              </a:rPr>
              <a:t>[1.0</a:t>
            </a:r>
            <a:r>
              <a:rPr lang="zh-CN" altLang="en-US" sz="2200" kern="0" dirty="0">
                <a:latin typeface="Times New Roman" panose="02020603050405020304" pitchFamily="18" charset="0"/>
                <a:ea typeface="黑体" panose="02010609060101010101" pitchFamily="49" charset="-122"/>
              </a:rPr>
              <a:t>，</a:t>
            </a:r>
            <a:r>
              <a:rPr lang="en-US" altLang="zh-CN" sz="2200" kern="0" dirty="0">
                <a:latin typeface="Times New Roman" panose="02020603050405020304" pitchFamily="18" charset="0"/>
                <a:ea typeface="黑体" panose="02010609060101010101" pitchFamily="49" charset="-122"/>
              </a:rPr>
              <a:t>2.2]</a:t>
            </a:r>
            <a:r>
              <a:rPr lang="en-US" altLang="zh-CN" sz="2200" kern="0" baseline="30000" dirty="0">
                <a:latin typeface="Times New Roman" panose="02020603050405020304" pitchFamily="18" charset="0"/>
                <a:ea typeface="黑体" panose="02010609060101010101" pitchFamily="49" charset="-122"/>
              </a:rPr>
              <a:t>T</a:t>
            </a:r>
            <a:r>
              <a:rPr lang="zh-CN" altLang="en-US" sz="2200" kern="0" dirty="0">
                <a:latin typeface="Times New Roman" panose="02020603050405020304" pitchFamily="18" charset="0"/>
                <a:ea typeface="黑体" panose="02010609060101010101" pitchFamily="49" charset="-122"/>
              </a:rPr>
              <a:t>属于第一类。</a:t>
            </a:r>
          </a:p>
        </p:txBody>
      </p:sp>
      <p:graphicFrame>
        <p:nvGraphicFramePr>
          <p:cNvPr id="23" name="Object 1024"/>
          <p:cNvGraphicFramePr>
            <a:graphicFrameLocks noChangeAspect="1"/>
          </p:cNvGraphicFramePr>
          <p:nvPr/>
        </p:nvGraphicFramePr>
        <p:xfrm>
          <a:off x="579438" y="2244725"/>
          <a:ext cx="2482850" cy="790575"/>
        </p:xfrm>
        <a:graphic>
          <a:graphicData uri="http://schemas.openxmlformats.org/presentationml/2006/ole">
            <mc:AlternateContent xmlns:mc="http://schemas.openxmlformats.org/markup-compatibility/2006">
              <mc:Choice xmlns:v="urn:schemas-microsoft-com:vml" Requires="v">
                <p:oleObj spid="_x0000_s72874" name="公式" r:id="rId4" imgW="1434960" imgH="457200" progId="Equation.DSMT4">
                  <p:embed/>
                </p:oleObj>
              </mc:Choice>
              <mc:Fallback>
                <p:oleObj name="公式" r:id="rId4" imgW="1434960" imgH="457200" progId="Equation.DSMT4">
                  <p:embed/>
                  <p:pic>
                    <p:nvPicPr>
                      <p:cNvPr id="0" name="Picture 15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438" y="2244725"/>
                        <a:ext cx="2482850" cy="790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1025"/>
          <p:cNvGraphicFramePr>
            <a:graphicFrameLocks noChangeAspect="1"/>
          </p:cNvGraphicFramePr>
          <p:nvPr/>
        </p:nvGraphicFramePr>
        <p:xfrm>
          <a:off x="2273312" y="4430936"/>
          <a:ext cx="7632848" cy="1484165"/>
        </p:xfrm>
        <a:graphic>
          <a:graphicData uri="http://schemas.openxmlformats.org/presentationml/2006/ole">
            <mc:AlternateContent xmlns:mc="http://schemas.openxmlformats.org/markup-compatibility/2006">
              <mc:Choice xmlns:v="urn:schemas-microsoft-com:vml" Requires="v">
                <p:oleObj spid="_x0000_s72875" name="Equation" r:id="rId6" imgW="4838700" imgH="939800" progId="Equation.DSMT4">
                  <p:embed/>
                </p:oleObj>
              </mc:Choice>
              <mc:Fallback>
                <p:oleObj name="Equation" r:id="rId6" imgW="4838700" imgH="939800" progId="Equation.DSMT4">
                  <p:embed/>
                  <p:pic>
                    <p:nvPicPr>
                      <p:cNvPr id="0" name="Picture 15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73312" y="4430936"/>
                        <a:ext cx="7632848" cy="14841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5"/>
          <p:cNvGraphicFramePr>
            <a:graphicFrameLocks noChangeAspect="1"/>
          </p:cNvGraphicFramePr>
          <p:nvPr/>
        </p:nvGraphicFramePr>
        <p:xfrm>
          <a:off x="4472229" y="3589331"/>
          <a:ext cx="2199835" cy="719946"/>
        </p:xfrm>
        <a:graphic>
          <a:graphicData uri="http://schemas.openxmlformats.org/presentationml/2006/ole">
            <mc:AlternateContent xmlns:mc="http://schemas.openxmlformats.org/markup-compatibility/2006">
              <mc:Choice xmlns:v="urn:schemas-microsoft-com:vml" Requires="v">
                <p:oleObj spid="_x0000_s72876" name="Equation" r:id="rId8" imgW="1396800" imgH="457200" progId="Equation.DSMT4">
                  <p:embed/>
                </p:oleObj>
              </mc:Choice>
              <mc:Fallback>
                <p:oleObj name="Equation" r:id="rId8" imgW="1396800" imgH="457200" progId="Equation.DSMT4">
                  <p:embed/>
                  <p:pic>
                    <p:nvPicPr>
                      <p:cNvPr id="0" name="Picture 15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72229" y="3589331"/>
                        <a:ext cx="2199835" cy="7199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Object 1024"/>
          <p:cNvGraphicFramePr>
            <a:graphicFrameLocks noChangeAspect="1"/>
          </p:cNvGraphicFramePr>
          <p:nvPr/>
        </p:nvGraphicFramePr>
        <p:xfrm>
          <a:off x="8976320" y="1735118"/>
          <a:ext cx="3076575" cy="482600"/>
        </p:xfrm>
        <a:graphic>
          <a:graphicData uri="http://schemas.openxmlformats.org/presentationml/2006/ole">
            <mc:AlternateContent xmlns:mc="http://schemas.openxmlformats.org/markup-compatibility/2006">
              <mc:Choice xmlns:v="urn:schemas-microsoft-com:vml" Requires="v">
                <p:oleObj spid="_x0000_s72877" name="公式" r:id="rId10" imgW="1777680" imgH="279360" progId="Equation.DSMT4">
                  <p:embed/>
                </p:oleObj>
              </mc:Choice>
              <mc:Fallback>
                <p:oleObj name="公式" r:id="rId10" imgW="1777680" imgH="279360" progId="Equation.DSMT4">
                  <p:embed/>
                  <p:pic>
                    <p:nvPicPr>
                      <p:cNvPr id="0" name="Picture 15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976320" y="1735118"/>
                        <a:ext cx="3076575"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77867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
                                            <p:txEl>
                                              <p:pRg st="2" end="2"/>
                                            </p:txEl>
                                          </p:spTgt>
                                        </p:tgtEl>
                                        <p:attrNameLst>
                                          <p:attrName>style.visibility</p:attrName>
                                        </p:attrNameLst>
                                      </p:cBhvr>
                                      <p:to>
                                        <p:strVal val="visible"/>
                                      </p:to>
                                    </p:set>
                                    <p:animEffect transition="in" filter="wipe(down)">
                                      <p:cBhvr>
                                        <p:cTn id="7" dur="500"/>
                                        <p:tgtEl>
                                          <p:spTgt spid="1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down)">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down)">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6">
                                            <p:txEl>
                                              <p:pRg st="8" end="8"/>
                                            </p:txEl>
                                          </p:spTgt>
                                        </p:tgtEl>
                                        <p:attrNameLst>
                                          <p:attrName>style.visibility</p:attrName>
                                        </p:attrNameLst>
                                      </p:cBhvr>
                                      <p:to>
                                        <p:strVal val="visible"/>
                                      </p:to>
                                    </p:set>
                                    <p:animEffect transition="in" filter="wipe(down)">
                                      <p:cBhvr>
                                        <p:cTn id="22" dur="500"/>
                                        <p:tgtEl>
                                          <p:spTgt spid="1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allAtOnce"/>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p:nvPr/>
        </p:nvSpPr>
        <p:spPr>
          <a:xfrm>
            <a:off x="349724" y="5388216"/>
            <a:ext cx="11489581" cy="720080"/>
          </a:xfrm>
          <a:prstGeom prst="rect">
            <a:avLst/>
          </a:prstGeom>
          <a:solidFill>
            <a:schemeClr val="accent5"/>
          </a:solidFill>
        </p:spPr>
        <p:txBody>
          <a:bodyPr wrap="square" rtlCol="0" anchor="ctr">
            <a:spAutoFit/>
          </a:bodyPr>
          <a:lstStyle/>
          <a:p>
            <a:pPr algn="ctr"/>
            <a:endParaRPr lang="zh-CN" altLang="en-US" sz="2400" kern="100" dirty="0">
              <a:ea typeface="宋体"/>
              <a:cs typeface="Times New Roman"/>
            </a:endParaRPr>
          </a:p>
        </p:txBody>
      </p:sp>
      <p:sp>
        <p:nvSpPr>
          <p:cNvPr id="27" name="Rectangle 3"/>
          <p:cNvSpPr txBox="1">
            <a:spLocks noChangeArrowheads="1"/>
          </p:cNvSpPr>
          <p:nvPr/>
        </p:nvSpPr>
        <p:spPr bwMode="gray">
          <a:xfrm>
            <a:off x="323575" y="2221599"/>
            <a:ext cx="11431939" cy="4254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nSpc>
                <a:spcPct val="120000"/>
              </a:lnSpc>
              <a:spcBef>
                <a:spcPts val="1200"/>
              </a:spcBef>
              <a:buNone/>
            </a:pPr>
            <a:r>
              <a:rPr lang="zh-CN" altLang="en-US" sz="2200" kern="0" dirty="0">
                <a:solidFill>
                  <a:srgbClr val="FF6600"/>
                </a:solidFill>
                <a:latin typeface="Times New Roman" panose="02020603050405020304" pitchFamily="18" charset="0"/>
                <a:ea typeface="黑体" panose="02010609060101010101" pitchFamily="49" charset="-122"/>
              </a:rPr>
              <a:t>判别函数：</a:t>
            </a:r>
          </a:p>
        </p:txBody>
      </p:sp>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70</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052736"/>
            <a:ext cx="736611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正态分布概率模型下的最小错误率贝叶斯决策</a:t>
            </a:r>
          </a:p>
        </p:txBody>
      </p:sp>
      <p:sp>
        <p:nvSpPr>
          <p:cNvPr id="11" name="Rectangle 3"/>
          <p:cNvSpPr txBox="1">
            <a:spLocks noChangeArrowheads="1"/>
          </p:cNvSpPr>
          <p:nvPr/>
        </p:nvSpPr>
        <p:spPr bwMode="gray">
          <a:xfrm>
            <a:off x="349725" y="1566720"/>
            <a:ext cx="5743307" cy="6367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20000"/>
              </a:lnSpc>
              <a:spcBef>
                <a:spcPts val="0"/>
              </a:spcBef>
              <a:buNone/>
            </a:pPr>
            <a:r>
              <a:rPr lang="en-US" altLang="zh-CN" b="1" kern="0" dirty="0">
                <a:solidFill>
                  <a:srgbClr val="FF0000"/>
                </a:solidFill>
                <a:latin typeface="Times New Roman" panose="02020603050405020304" pitchFamily="18" charset="0"/>
                <a:ea typeface="黑体" panose="02010609060101010101" pitchFamily="49" charset="-122"/>
              </a:rPr>
              <a:t>(3) </a:t>
            </a:r>
            <a:r>
              <a:rPr lang="en-US" altLang="zh-CN" b="1" dirty="0">
                <a:solidFill>
                  <a:srgbClr val="FF0000"/>
                </a:solidFill>
                <a:latin typeface="Symbol" pitchFamily="18" charset="2"/>
                <a:ea typeface="黑体" pitchFamily="2" charset="-122"/>
              </a:rPr>
              <a:t>S</a:t>
            </a:r>
            <a:r>
              <a:rPr lang="en-US" altLang="zh-CN" b="1" i="1" baseline="-25000" dirty="0">
                <a:solidFill>
                  <a:srgbClr val="FF0000"/>
                </a:solidFill>
                <a:latin typeface="Times New Roman" pitchFamily="18" charset="0"/>
                <a:ea typeface="黑体" pitchFamily="2" charset="-122"/>
              </a:rPr>
              <a:t>i </a:t>
            </a:r>
            <a:r>
              <a:rPr lang="en-US" altLang="zh-CN" b="1" dirty="0">
                <a:solidFill>
                  <a:srgbClr val="FF0000"/>
                </a:solidFill>
                <a:latin typeface="Times New Roman" pitchFamily="18" charset="0"/>
                <a:ea typeface="黑体" pitchFamily="2" charset="-122"/>
              </a:rPr>
              <a:t>≠ </a:t>
            </a:r>
            <a:r>
              <a:rPr lang="en-US" altLang="zh-CN" b="1" dirty="0" err="1">
                <a:solidFill>
                  <a:srgbClr val="FF0000"/>
                </a:solidFill>
                <a:latin typeface="Symbol" pitchFamily="18" charset="2"/>
                <a:ea typeface="黑体" pitchFamily="2" charset="-122"/>
              </a:rPr>
              <a:t>S</a:t>
            </a:r>
            <a:r>
              <a:rPr lang="en-US" altLang="zh-CN" b="1" i="1" baseline="-25000" dirty="0" err="1">
                <a:solidFill>
                  <a:srgbClr val="FF0000"/>
                </a:solidFill>
                <a:latin typeface="Times New Roman" pitchFamily="18" charset="0"/>
                <a:ea typeface="黑体" pitchFamily="2" charset="-122"/>
              </a:rPr>
              <a:t>j</a:t>
            </a:r>
            <a:r>
              <a:rPr lang="en-US" altLang="zh-CN" b="1" i="1" baseline="-25000" dirty="0">
                <a:solidFill>
                  <a:srgbClr val="FF0000"/>
                </a:solidFill>
                <a:latin typeface="Times New Roman" pitchFamily="18" charset="0"/>
                <a:ea typeface="黑体" pitchFamily="2" charset="-122"/>
              </a:rPr>
              <a:t> </a:t>
            </a:r>
            <a:r>
              <a:rPr lang="en-US" altLang="zh-CN" b="1" dirty="0">
                <a:solidFill>
                  <a:srgbClr val="FF0000"/>
                </a:solidFill>
                <a:latin typeface="Symbol" pitchFamily="18" charset="2"/>
                <a:ea typeface="黑体" pitchFamily="2" charset="-122"/>
              </a:rPr>
              <a:t>,  </a:t>
            </a:r>
            <a:r>
              <a:rPr lang="en-US" altLang="zh-CN" b="1" i="1" baseline="-25000" dirty="0">
                <a:solidFill>
                  <a:srgbClr val="FF0000"/>
                </a:solidFill>
                <a:latin typeface="Times New Roman" pitchFamily="18" charset="0"/>
                <a:ea typeface="黑体" pitchFamily="2" charset="-122"/>
              </a:rPr>
              <a:t> </a:t>
            </a:r>
            <a:r>
              <a:rPr lang="en-US" altLang="zh-CN" b="1" i="1" dirty="0" err="1">
                <a:solidFill>
                  <a:srgbClr val="FF0000"/>
                </a:solidFill>
                <a:latin typeface="Times New Roman" pitchFamily="18" charset="0"/>
                <a:ea typeface="黑体" pitchFamily="2" charset="-122"/>
              </a:rPr>
              <a:t>i</a:t>
            </a:r>
            <a:r>
              <a:rPr lang="en-US" altLang="zh-CN" b="1" i="1" dirty="0">
                <a:solidFill>
                  <a:srgbClr val="FF0000"/>
                </a:solidFill>
                <a:latin typeface="Times New Roman" pitchFamily="18" charset="0"/>
                <a:ea typeface="黑体" pitchFamily="2" charset="-122"/>
              </a:rPr>
              <a:t>, j </a:t>
            </a:r>
            <a:r>
              <a:rPr lang="en-US" altLang="zh-CN" b="1" dirty="0">
                <a:solidFill>
                  <a:srgbClr val="FF0000"/>
                </a:solidFill>
                <a:latin typeface="Times New Roman" pitchFamily="18" charset="0"/>
                <a:ea typeface="黑体" pitchFamily="2" charset="-122"/>
              </a:rPr>
              <a:t>=1, 2,···,</a:t>
            </a:r>
            <a:r>
              <a:rPr lang="en-US" altLang="zh-CN" b="1" i="1" dirty="0">
                <a:solidFill>
                  <a:srgbClr val="FF0000"/>
                </a:solidFill>
                <a:latin typeface="Times New Roman" pitchFamily="18" charset="0"/>
                <a:ea typeface="黑体" pitchFamily="2" charset="-122"/>
              </a:rPr>
              <a:t>c</a:t>
            </a:r>
            <a:r>
              <a:rPr lang="en-US" altLang="zh-CN" b="1" baseline="-25000" dirty="0">
                <a:solidFill>
                  <a:srgbClr val="FF0000"/>
                </a:solidFill>
                <a:ea typeface="黑体" pitchFamily="2" charset="-122"/>
              </a:rPr>
              <a:t> </a:t>
            </a:r>
            <a:endParaRPr lang="en-US" altLang="zh-CN" b="1" kern="0" dirty="0">
              <a:solidFill>
                <a:srgbClr val="FF0000"/>
              </a:solidFill>
              <a:latin typeface="Times New Roman" panose="02020603050405020304" pitchFamily="18" charset="0"/>
              <a:ea typeface="黑体" panose="02010609060101010101" pitchFamily="49" charset="-122"/>
            </a:endParaRPr>
          </a:p>
        </p:txBody>
      </p:sp>
      <p:graphicFrame>
        <p:nvGraphicFramePr>
          <p:cNvPr id="12" name="Object 10"/>
          <p:cNvGraphicFramePr>
            <a:graphicFrameLocks noChangeAspect="1"/>
          </p:cNvGraphicFramePr>
          <p:nvPr>
            <p:extLst>
              <p:ext uri="{D42A27DB-BD31-4B8C-83A1-F6EECF244321}">
                <p14:modId xmlns:p14="http://schemas.microsoft.com/office/powerpoint/2010/main" val="1368823373"/>
              </p:ext>
            </p:extLst>
          </p:nvPr>
        </p:nvGraphicFramePr>
        <p:xfrm>
          <a:off x="4439816" y="1555819"/>
          <a:ext cx="5544615" cy="599256"/>
        </p:xfrm>
        <a:graphic>
          <a:graphicData uri="http://schemas.openxmlformats.org/presentationml/2006/ole">
            <mc:AlternateContent xmlns:mc="http://schemas.openxmlformats.org/markup-compatibility/2006">
              <mc:Choice xmlns:v="urn:schemas-microsoft-com:vml" Requires="v">
                <p:oleObj spid="_x0000_s73853" name="公式" r:id="rId4" imgW="4051300" imgH="393700" progId="Equation.3">
                  <p:embed/>
                </p:oleObj>
              </mc:Choice>
              <mc:Fallback>
                <p:oleObj name="公式" r:id="rId4" imgW="4051300" imgH="393700" progId="Equation.3">
                  <p:embed/>
                  <p:pic>
                    <p:nvPicPr>
                      <p:cNvPr id="0" name="Picture 1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39816" y="1555819"/>
                        <a:ext cx="5544615" cy="599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1025"/>
          <p:cNvGraphicFramePr>
            <a:graphicFrameLocks noChangeAspect="1"/>
          </p:cNvGraphicFramePr>
          <p:nvPr>
            <p:extLst>
              <p:ext uri="{D42A27DB-BD31-4B8C-83A1-F6EECF244321}">
                <p14:modId xmlns:p14="http://schemas.microsoft.com/office/powerpoint/2010/main" val="3750608828"/>
              </p:ext>
            </p:extLst>
          </p:nvPr>
        </p:nvGraphicFramePr>
        <p:xfrm>
          <a:off x="1473200" y="2174064"/>
          <a:ext cx="10704512" cy="1770684"/>
        </p:xfrm>
        <a:graphic>
          <a:graphicData uri="http://schemas.openxmlformats.org/presentationml/2006/ole">
            <mc:AlternateContent xmlns:mc="http://schemas.openxmlformats.org/markup-compatibility/2006">
              <mc:Choice xmlns:v="urn:schemas-microsoft-com:vml" Requires="v">
                <p:oleObj spid="_x0000_s73854" name="Equation" r:id="rId6" imgW="6324480" imgH="1054080" progId="Equation.DSMT4">
                  <p:embed/>
                </p:oleObj>
              </mc:Choice>
              <mc:Fallback>
                <p:oleObj name="Equation" r:id="rId6" imgW="6324480" imgH="1054080" progId="Equation.DSMT4">
                  <p:embed/>
                  <p:pic>
                    <p:nvPicPr>
                      <p:cNvPr id="0" name="Picture 1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3200" y="2174064"/>
                        <a:ext cx="10704512" cy="17706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3"/>
          <p:cNvSpPr txBox="1">
            <a:spLocks noChangeArrowheads="1"/>
          </p:cNvSpPr>
          <p:nvPr/>
        </p:nvSpPr>
        <p:spPr bwMode="gray">
          <a:xfrm>
            <a:off x="450102" y="3905288"/>
            <a:ext cx="11431939" cy="4254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nSpc>
                <a:spcPct val="120000"/>
              </a:lnSpc>
              <a:spcBef>
                <a:spcPts val="0"/>
              </a:spcBef>
              <a:buFontTx/>
              <a:buNone/>
            </a:pPr>
            <a:r>
              <a:rPr lang="zh-CN" altLang="en-US" sz="2200" kern="0" dirty="0">
                <a:latin typeface="Times New Roman" panose="02020603050405020304" pitchFamily="18" charset="0"/>
                <a:ea typeface="黑体" panose="02010609060101010101" pitchFamily="49" charset="-122"/>
              </a:rPr>
              <a:t>若决策域 </a:t>
            </a:r>
            <a:r>
              <a:rPr lang="en-US" altLang="zh-CN" sz="2200" kern="0" dirty="0" err="1">
                <a:latin typeface="Times New Roman" panose="02020603050405020304" pitchFamily="18" charset="0"/>
                <a:ea typeface="黑体" panose="02010609060101010101" pitchFamily="49" charset="-122"/>
              </a:rPr>
              <a:t>Ri</a:t>
            </a:r>
            <a:r>
              <a:rPr lang="en-US" altLang="zh-CN" sz="2200" i="1" kern="0" dirty="0">
                <a:latin typeface="Times New Roman" panose="02020603050405020304" pitchFamily="18" charset="0"/>
                <a:ea typeface="黑体" panose="02010609060101010101" pitchFamily="49" charset="-122"/>
              </a:rPr>
              <a:t> </a:t>
            </a:r>
            <a:r>
              <a:rPr lang="zh-CN" altLang="en-US" sz="2200" kern="0" dirty="0">
                <a:latin typeface="Times New Roman" panose="02020603050405020304" pitchFamily="18" charset="0"/>
                <a:ea typeface="黑体" panose="02010609060101010101" pitchFamily="49" charset="-122"/>
              </a:rPr>
              <a:t>和 </a:t>
            </a:r>
            <a:r>
              <a:rPr lang="en-US" altLang="zh-CN" sz="2200" kern="0" dirty="0" err="1">
                <a:latin typeface="Times New Roman" panose="02020603050405020304" pitchFamily="18" charset="0"/>
                <a:ea typeface="黑体" panose="02010609060101010101" pitchFamily="49" charset="-122"/>
              </a:rPr>
              <a:t>R</a:t>
            </a:r>
            <a:r>
              <a:rPr lang="en-US" altLang="zh-CN" sz="2200" i="1" kern="0" dirty="0" err="1">
                <a:latin typeface="Times New Roman" panose="02020603050405020304" pitchFamily="18" charset="0"/>
                <a:ea typeface="黑体" panose="02010609060101010101" pitchFamily="49" charset="-122"/>
              </a:rPr>
              <a:t>j</a:t>
            </a:r>
            <a:r>
              <a:rPr lang="en-US" altLang="zh-CN" sz="2200" i="1" kern="0" dirty="0">
                <a:latin typeface="Times New Roman" panose="02020603050405020304" pitchFamily="18" charset="0"/>
                <a:ea typeface="黑体" panose="02010609060101010101" pitchFamily="49" charset="-122"/>
              </a:rPr>
              <a:t> </a:t>
            </a:r>
            <a:r>
              <a:rPr lang="zh-CN" altLang="en-US" sz="2200" kern="0" dirty="0">
                <a:latin typeface="Times New Roman" panose="02020603050405020304" pitchFamily="18" charset="0"/>
                <a:ea typeface="黑体" panose="02010609060101010101" pitchFamily="49" charset="-122"/>
              </a:rPr>
              <a:t>毗邻，则决策面方程为：</a:t>
            </a:r>
          </a:p>
        </p:txBody>
      </p:sp>
      <p:sp>
        <p:nvSpPr>
          <p:cNvPr id="18" name="Rectangle 3"/>
          <p:cNvSpPr txBox="1">
            <a:spLocks noChangeArrowheads="1"/>
          </p:cNvSpPr>
          <p:nvPr/>
        </p:nvSpPr>
        <p:spPr bwMode="gray">
          <a:xfrm>
            <a:off x="6256931" y="2778576"/>
            <a:ext cx="3744416" cy="425455"/>
          </a:xfrm>
          <a:prstGeom prst="rect">
            <a:avLst/>
          </a:prstGeom>
          <a:solidFill>
            <a:schemeClr val="accent1"/>
          </a:solid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nSpc>
                <a:spcPct val="120000"/>
              </a:lnSpc>
              <a:spcBef>
                <a:spcPts val="0"/>
              </a:spcBef>
              <a:buFontTx/>
              <a:buNone/>
            </a:pPr>
            <a:r>
              <a:rPr lang="zh-CN" altLang="en-US" sz="2200" kern="0" dirty="0">
                <a:latin typeface="Times New Roman" panose="02020603050405020304" pitchFamily="18" charset="0"/>
                <a:ea typeface="黑体" panose="02010609060101010101" pitchFamily="49" charset="-122"/>
              </a:rPr>
              <a:t>这是</a:t>
            </a:r>
            <a:r>
              <a:rPr lang="en-US" altLang="zh-CN" sz="2200" i="1" kern="0" dirty="0">
                <a:latin typeface="Times New Roman" panose="02020603050405020304" pitchFamily="18" charset="0"/>
                <a:ea typeface="黑体" panose="02010609060101010101" pitchFamily="49" charset="-122"/>
              </a:rPr>
              <a:t>x</a:t>
            </a:r>
            <a:r>
              <a:rPr lang="zh-CN" altLang="en-US" sz="2200" kern="0" dirty="0">
                <a:latin typeface="Times New Roman" panose="02020603050405020304" pitchFamily="18" charset="0"/>
                <a:ea typeface="黑体" panose="02010609060101010101" pitchFamily="49" charset="-122"/>
              </a:rPr>
              <a:t>的一个非线性二次形式</a:t>
            </a:r>
          </a:p>
        </p:txBody>
      </p:sp>
      <p:sp>
        <p:nvSpPr>
          <p:cNvPr id="4" name="矩形 3"/>
          <p:cNvSpPr/>
          <p:nvPr/>
        </p:nvSpPr>
        <p:spPr>
          <a:xfrm>
            <a:off x="2611040" y="2835728"/>
            <a:ext cx="1944216" cy="425455"/>
          </a:xfrm>
          <a:prstGeom prst="rect">
            <a:avLst/>
          </a:prstGeom>
          <a:ln w="31750">
            <a:solidFill>
              <a:srgbClr val="FF0000"/>
            </a:solidFill>
          </a:ln>
        </p:spPr>
        <p:txBody>
          <a:bodyPr wrap="none" rtlCol="0" anchor="ctr">
            <a:spAutoFit/>
          </a:bodyPr>
          <a:lstStyle/>
          <a:p>
            <a:pPr algn="ctr"/>
            <a:endParaRPr lang="zh-CN" altLang="en-US" sz="2400" kern="100" dirty="0">
              <a:ea typeface="宋体"/>
              <a:cs typeface="Times New Roman"/>
            </a:endParaRPr>
          </a:p>
        </p:txBody>
      </p:sp>
      <p:graphicFrame>
        <p:nvGraphicFramePr>
          <p:cNvPr id="22" name="Object 4"/>
          <p:cNvGraphicFramePr>
            <a:graphicFrameLocks noChangeAspect="1"/>
          </p:cNvGraphicFramePr>
          <p:nvPr>
            <p:extLst>
              <p:ext uri="{D42A27DB-BD31-4B8C-83A1-F6EECF244321}">
                <p14:modId xmlns:p14="http://schemas.microsoft.com/office/powerpoint/2010/main" val="2693026608"/>
              </p:ext>
            </p:extLst>
          </p:nvPr>
        </p:nvGraphicFramePr>
        <p:xfrm>
          <a:off x="3698970" y="4401102"/>
          <a:ext cx="4788123" cy="937939"/>
        </p:xfrm>
        <a:graphic>
          <a:graphicData uri="http://schemas.openxmlformats.org/presentationml/2006/ole">
            <mc:AlternateContent xmlns:mc="http://schemas.openxmlformats.org/markup-compatibility/2006">
              <mc:Choice xmlns:v="urn:schemas-microsoft-com:vml" Requires="v">
                <p:oleObj spid="_x0000_s73855" name="公式" r:id="rId8" imgW="2590560" imgH="507960" progId="Equation.3">
                  <p:embed/>
                </p:oleObj>
              </mc:Choice>
              <mc:Fallback>
                <p:oleObj name="公式" r:id="rId8" imgW="2590560" imgH="507960" progId="Equation.3">
                  <p:embed/>
                  <p:pic>
                    <p:nvPicPr>
                      <p:cNvPr id="0" name="Picture 1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98970" y="4401102"/>
                        <a:ext cx="4788123" cy="9379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ectangle 3"/>
          <p:cNvSpPr txBox="1">
            <a:spLocks noChangeArrowheads="1"/>
          </p:cNvSpPr>
          <p:nvPr/>
        </p:nvSpPr>
        <p:spPr bwMode="gray">
          <a:xfrm>
            <a:off x="450101" y="5503818"/>
            <a:ext cx="11389205" cy="950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eaLnBrk="1" hangingPunct="1">
              <a:buNone/>
            </a:pPr>
            <a:r>
              <a:rPr lang="zh-CN" altLang="en-US" sz="2200" kern="0" dirty="0"/>
              <a:t>其决策面是二次曲线</a:t>
            </a:r>
            <a:r>
              <a:rPr lang="en-US" altLang="zh-CN" sz="2200" kern="0" dirty="0"/>
              <a:t>(</a:t>
            </a:r>
            <a:r>
              <a:rPr lang="zh-CN" altLang="en-US" sz="2200" kern="0" dirty="0"/>
              <a:t>椭圆、双曲线、抛物线、一对直线</a:t>
            </a:r>
            <a:r>
              <a:rPr lang="en-US" altLang="zh-CN" sz="2200" kern="0" dirty="0"/>
              <a:t>)</a:t>
            </a:r>
            <a:r>
              <a:rPr lang="zh-CN" altLang="en-US" sz="2200" kern="0" dirty="0"/>
              <a:t>，</a:t>
            </a:r>
            <a:r>
              <a:rPr lang="en-US" altLang="zh-CN" sz="2200" kern="0" dirty="0"/>
              <a:t>Bayes</a:t>
            </a:r>
            <a:r>
              <a:rPr lang="zh-CN" altLang="en-US" sz="2200" kern="0" dirty="0"/>
              <a:t>分类器是二次曲线分类器。</a:t>
            </a:r>
          </a:p>
        </p:txBody>
      </p:sp>
    </p:spTree>
    <p:extLst>
      <p:ext uri="{BB962C8B-B14F-4D97-AF65-F5344CB8AC3E}">
        <p14:creationId xmlns:p14="http://schemas.microsoft.com/office/powerpoint/2010/main" val="37096893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71</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052736"/>
            <a:ext cx="736611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正态分布概率模型下的最小错误率贝叶斯决策</a:t>
            </a:r>
          </a:p>
        </p:txBody>
      </p:sp>
      <p:sp>
        <p:nvSpPr>
          <p:cNvPr id="11" name="Rectangle 3"/>
          <p:cNvSpPr txBox="1">
            <a:spLocks noChangeArrowheads="1"/>
          </p:cNvSpPr>
          <p:nvPr/>
        </p:nvSpPr>
        <p:spPr bwMode="gray">
          <a:xfrm>
            <a:off x="349725" y="1566720"/>
            <a:ext cx="5743307" cy="6367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20000"/>
              </a:lnSpc>
              <a:spcBef>
                <a:spcPts val="0"/>
              </a:spcBef>
              <a:buNone/>
            </a:pPr>
            <a:r>
              <a:rPr lang="en-US" altLang="zh-CN" b="1" kern="0" dirty="0">
                <a:solidFill>
                  <a:srgbClr val="FF0000"/>
                </a:solidFill>
                <a:latin typeface="Times New Roman" panose="02020603050405020304" pitchFamily="18" charset="0"/>
                <a:ea typeface="黑体" panose="02010609060101010101" pitchFamily="49" charset="-122"/>
              </a:rPr>
              <a:t>(3) </a:t>
            </a:r>
            <a:r>
              <a:rPr lang="en-US" altLang="zh-CN" b="1" dirty="0">
                <a:solidFill>
                  <a:srgbClr val="FF0000"/>
                </a:solidFill>
                <a:latin typeface="Symbol" pitchFamily="18" charset="2"/>
                <a:ea typeface="黑体" pitchFamily="2" charset="-122"/>
              </a:rPr>
              <a:t>S</a:t>
            </a:r>
            <a:r>
              <a:rPr lang="en-US" altLang="zh-CN" b="1" i="1" baseline="-25000" dirty="0">
                <a:solidFill>
                  <a:srgbClr val="FF0000"/>
                </a:solidFill>
                <a:latin typeface="Times New Roman" pitchFamily="18" charset="0"/>
                <a:ea typeface="黑体" pitchFamily="2" charset="-122"/>
              </a:rPr>
              <a:t>i </a:t>
            </a:r>
            <a:r>
              <a:rPr lang="en-US" altLang="zh-CN" b="1" dirty="0">
                <a:solidFill>
                  <a:srgbClr val="FF0000"/>
                </a:solidFill>
                <a:latin typeface="Times New Roman" pitchFamily="18" charset="0"/>
                <a:ea typeface="黑体" pitchFamily="2" charset="-122"/>
              </a:rPr>
              <a:t>≠ </a:t>
            </a:r>
            <a:r>
              <a:rPr lang="en-US" altLang="zh-CN" b="1" dirty="0" err="1">
                <a:solidFill>
                  <a:srgbClr val="FF0000"/>
                </a:solidFill>
                <a:latin typeface="Symbol" pitchFamily="18" charset="2"/>
                <a:ea typeface="黑体" pitchFamily="2" charset="-122"/>
              </a:rPr>
              <a:t>S</a:t>
            </a:r>
            <a:r>
              <a:rPr lang="en-US" altLang="zh-CN" b="1" i="1" baseline="-25000" dirty="0" err="1">
                <a:solidFill>
                  <a:srgbClr val="FF0000"/>
                </a:solidFill>
                <a:latin typeface="Times New Roman" pitchFamily="18" charset="0"/>
                <a:ea typeface="黑体" pitchFamily="2" charset="-122"/>
              </a:rPr>
              <a:t>j</a:t>
            </a:r>
            <a:r>
              <a:rPr lang="en-US" altLang="zh-CN" b="1" i="1" baseline="-25000" dirty="0">
                <a:solidFill>
                  <a:srgbClr val="FF0000"/>
                </a:solidFill>
                <a:latin typeface="Times New Roman" pitchFamily="18" charset="0"/>
                <a:ea typeface="黑体" pitchFamily="2" charset="-122"/>
              </a:rPr>
              <a:t> </a:t>
            </a:r>
            <a:r>
              <a:rPr lang="en-US" altLang="zh-CN" b="1" dirty="0">
                <a:solidFill>
                  <a:srgbClr val="FF0000"/>
                </a:solidFill>
                <a:latin typeface="Symbol" pitchFamily="18" charset="2"/>
                <a:ea typeface="黑体" pitchFamily="2" charset="-122"/>
              </a:rPr>
              <a:t>,  </a:t>
            </a:r>
            <a:r>
              <a:rPr lang="en-US" altLang="zh-CN" b="1" i="1" baseline="-25000" dirty="0">
                <a:solidFill>
                  <a:srgbClr val="FF0000"/>
                </a:solidFill>
                <a:latin typeface="Times New Roman" pitchFamily="18" charset="0"/>
                <a:ea typeface="黑体" pitchFamily="2" charset="-122"/>
              </a:rPr>
              <a:t> </a:t>
            </a:r>
            <a:r>
              <a:rPr lang="en-US" altLang="zh-CN" b="1" i="1" dirty="0" err="1">
                <a:solidFill>
                  <a:srgbClr val="FF0000"/>
                </a:solidFill>
                <a:latin typeface="Times New Roman" pitchFamily="18" charset="0"/>
                <a:ea typeface="黑体" pitchFamily="2" charset="-122"/>
              </a:rPr>
              <a:t>i</a:t>
            </a:r>
            <a:r>
              <a:rPr lang="en-US" altLang="zh-CN" b="1" i="1" dirty="0">
                <a:solidFill>
                  <a:srgbClr val="FF0000"/>
                </a:solidFill>
                <a:latin typeface="Times New Roman" pitchFamily="18" charset="0"/>
                <a:ea typeface="黑体" pitchFamily="2" charset="-122"/>
              </a:rPr>
              <a:t>, j </a:t>
            </a:r>
            <a:r>
              <a:rPr lang="en-US" altLang="zh-CN" b="1" dirty="0">
                <a:solidFill>
                  <a:srgbClr val="FF0000"/>
                </a:solidFill>
                <a:latin typeface="Times New Roman" pitchFamily="18" charset="0"/>
                <a:ea typeface="黑体" pitchFamily="2" charset="-122"/>
              </a:rPr>
              <a:t>=1, 2,···,</a:t>
            </a:r>
            <a:r>
              <a:rPr lang="en-US" altLang="zh-CN" b="1" i="1" dirty="0">
                <a:solidFill>
                  <a:srgbClr val="FF0000"/>
                </a:solidFill>
                <a:latin typeface="Times New Roman" pitchFamily="18" charset="0"/>
                <a:ea typeface="黑体" pitchFamily="2" charset="-122"/>
              </a:rPr>
              <a:t>c</a:t>
            </a:r>
            <a:r>
              <a:rPr lang="en-US" altLang="zh-CN" b="1" baseline="-25000" dirty="0">
                <a:solidFill>
                  <a:srgbClr val="FF0000"/>
                </a:solidFill>
                <a:ea typeface="黑体" pitchFamily="2" charset="-122"/>
              </a:rPr>
              <a:t> </a:t>
            </a:r>
            <a:endParaRPr lang="en-US" altLang="zh-CN" b="1" kern="0" dirty="0">
              <a:solidFill>
                <a:srgbClr val="FF0000"/>
              </a:solidFill>
              <a:latin typeface="Times New Roman" panose="02020603050405020304" pitchFamily="18" charset="0"/>
              <a:ea typeface="黑体" panose="02010609060101010101" pitchFamily="49" charset="-122"/>
            </a:endParaRPr>
          </a:p>
        </p:txBody>
      </p:sp>
      <p:pic>
        <p:nvPicPr>
          <p:cNvPr id="19" name="Picture 9" descr="2007-08-19 07;57;18"/>
          <p:cNvPicPr>
            <a:picLocks noChangeAspect="1" noChangeArrowheads="1"/>
          </p:cNvPicPr>
          <p:nvPr/>
        </p:nvPicPr>
        <p:blipFill>
          <a:blip r:embed="rId3">
            <a:lum contrast="24000"/>
          </a:blip>
          <a:srcRect l="18208" r="18607" b="7434"/>
          <a:stretch>
            <a:fillRect/>
          </a:stretch>
        </p:blipFill>
        <p:spPr bwMode="auto">
          <a:xfrm>
            <a:off x="7696860" y="811077"/>
            <a:ext cx="3757613" cy="5545137"/>
          </a:xfrm>
          <a:prstGeom prst="rect">
            <a:avLst/>
          </a:prstGeom>
          <a:noFill/>
          <a:ln w="9525">
            <a:noFill/>
            <a:miter lim="800000"/>
            <a:headEnd/>
            <a:tailEnd/>
          </a:ln>
        </p:spPr>
      </p:pic>
      <p:pic>
        <p:nvPicPr>
          <p:cNvPr id="20" name="Picture 8" descr="2007-08-19 07;57;18"/>
          <p:cNvPicPr>
            <a:picLocks noChangeAspect="1" noChangeArrowheads="1"/>
          </p:cNvPicPr>
          <p:nvPr/>
        </p:nvPicPr>
        <p:blipFill>
          <a:blip r:embed="rId4">
            <a:lum contrast="54000"/>
          </a:blip>
          <a:srcRect l="51025"/>
          <a:stretch>
            <a:fillRect/>
          </a:stretch>
        </p:blipFill>
        <p:spPr bwMode="auto">
          <a:xfrm>
            <a:off x="407369" y="2156796"/>
            <a:ext cx="4910342" cy="4080516"/>
          </a:xfrm>
          <a:prstGeom prst="rect">
            <a:avLst/>
          </a:prstGeom>
          <a:noFill/>
          <a:ln w="9525">
            <a:noFill/>
            <a:miter lim="800000"/>
            <a:headEnd/>
            <a:tailEnd/>
          </a:ln>
        </p:spPr>
      </p:pic>
      <p:sp>
        <p:nvSpPr>
          <p:cNvPr id="21" name="Rectangle 11"/>
          <p:cNvSpPr>
            <a:spLocks noChangeArrowheads="1"/>
          </p:cNvSpPr>
          <p:nvPr/>
        </p:nvSpPr>
        <p:spPr bwMode="auto">
          <a:xfrm>
            <a:off x="6469852" y="3304250"/>
            <a:ext cx="1008062" cy="430887"/>
          </a:xfrm>
          <a:prstGeom prst="rect">
            <a:avLst/>
          </a:prstGeom>
          <a:noFill/>
          <a:ln w="9525">
            <a:noFill/>
            <a:miter lim="800000"/>
            <a:headEnd/>
            <a:tailEnd/>
          </a:ln>
        </p:spPr>
        <p:txBody>
          <a:bodyPr>
            <a:spAutoFit/>
          </a:bodyPr>
          <a:lstStyle/>
          <a:p>
            <a:r>
              <a:rPr lang="zh-CN" altLang="en-US" sz="2200" dirty="0">
                <a:solidFill>
                  <a:schemeClr val="tx1"/>
                </a:solidFill>
              </a:rPr>
              <a:t>二维</a:t>
            </a:r>
          </a:p>
        </p:txBody>
      </p:sp>
      <p:sp>
        <p:nvSpPr>
          <p:cNvPr id="24" name="Rectangle 12"/>
          <p:cNvSpPr>
            <a:spLocks noChangeArrowheads="1"/>
          </p:cNvSpPr>
          <p:nvPr/>
        </p:nvSpPr>
        <p:spPr bwMode="auto">
          <a:xfrm>
            <a:off x="945252" y="3305023"/>
            <a:ext cx="1079500" cy="430887"/>
          </a:xfrm>
          <a:prstGeom prst="rect">
            <a:avLst/>
          </a:prstGeom>
          <a:noFill/>
          <a:ln w="9525">
            <a:noFill/>
            <a:miter lim="800000"/>
            <a:headEnd/>
            <a:tailEnd/>
          </a:ln>
        </p:spPr>
        <p:txBody>
          <a:bodyPr>
            <a:spAutoFit/>
          </a:bodyPr>
          <a:lstStyle/>
          <a:p>
            <a:r>
              <a:rPr lang="zh-CN" altLang="en-US" sz="2200" dirty="0">
                <a:solidFill>
                  <a:schemeClr val="tx1"/>
                </a:solidFill>
              </a:rPr>
              <a:t>一维</a:t>
            </a:r>
          </a:p>
        </p:txBody>
      </p:sp>
      <p:pic>
        <p:nvPicPr>
          <p:cNvPr id="25" name="Picture 13" descr="2007-08-19 07;57;18"/>
          <p:cNvPicPr>
            <a:picLocks noChangeAspect="1" noChangeArrowheads="1"/>
          </p:cNvPicPr>
          <p:nvPr/>
        </p:nvPicPr>
        <p:blipFill>
          <a:blip r:embed="rId5">
            <a:lum contrast="24000"/>
          </a:blip>
          <a:srcRect l="2835" t="93703"/>
          <a:stretch>
            <a:fillRect/>
          </a:stretch>
        </p:blipFill>
        <p:spPr bwMode="auto">
          <a:xfrm>
            <a:off x="5991225" y="6423542"/>
            <a:ext cx="6200775" cy="404813"/>
          </a:xfrm>
          <a:prstGeom prst="rect">
            <a:avLst/>
          </a:prstGeom>
          <a:noFill/>
          <a:ln w="9525">
            <a:noFill/>
            <a:miter lim="800000"/>
            <a:headEnd/>
            <a:tailEnd/>
          </a:ln>
        </p:spPr>
      </p:pic>
    </p:spTree>
    <p:extLst>
      <p:ext uri="{BB962C8B-B14F-4D97-AF65-F5344CB8AC3E}">
        <p14:creationId xmlns:p14="http://schemas.microsoft.com/office/powerpoint/2010/main" val="30043006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72</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052736"/>
            <a:ext cx="736611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正态分布概率模型下的最小错误率贝叶斯决策</a:t>
            </a:r>
          </a:p>
        </p:txBody>
      </p:sp>
      <p:sp>
        <p:nvSpPr>
          <p:cNvPr id="11" name="Rectangle 3"/>
          <p:cNvSpPr txBox="1">
            <a:spLocks noChangeArrowheads="1"/>
          </p:cNvSpPr>
          <p:nvPr/>
        </p:nvSpPr>
        <p:spPr bwMode="gray">
          <a:xfrm>
            <a:off x="349725" y="1566720"/>
            <a:ext cx="5743307" cy="6367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20000"/>
              </a:lnSpc>
              <a:spcBef>
                <a:spcPts val="0"/>
              </a:spcBef>
              <a:buNone/>
            </a:pPr>
            <a:r>
              <a:rPr lang="en-US" altLang="zh-CN" b="1" kern="0" dirty="0">
                <a:solidFill>
                  <a:srgbClr val="FF0000"/>
                </a:solidFill>
                <a:latin typeface="Times New Roman" panose="02020603050405020304" pitchFamily="18" charset="0"/>
                <a:ea typeface="黑体" panose="02010609060101010101" pitchFamily="49" charset="-122"/>
              </a:rPr>
              <a:t>(3) </a:t>
            </a:r>
            <a:r>
              <a:rPr lang="en-US" altLang="zh-CN" b="1" dirty="0">
                <a:solidFill>
                  <a:srgbClr val="FF0000"/>
                </a:solidFill>
                <a:latin typeface="Symbol" pitchFamily="18" charset="2"/>
                <a:ea typeface="黑体" pitchFamily="2" charset="-122"/>
              </a:rPr>
              <a:t>S</a:t>
            </a:r>
            <a:r>
              <a:rPr lang="en-US" altLang="zh-CN" b="1" i="1" baseline="-25000" dirty="0">
                <a:solidFill>
                  <a:srgbClr val="FF0000"/>
                </a:solidFill>
                <a:latin typeface="Times New Roman" pitchFamily="18" charset="0"/>
                <a:ea typeface="黑体" pitchFamily="2" charset="-122"/>
              </a:rPr>
              <a:t>i </a:t>
            </a:r>
            <a:r>
              <a:rPr lang="en-US" altLang="zh-CN" b="1" dirty="0">
                <a:solidFill>
                  <a:srgbClr val="FF0000"/>
                </a:solidFill>
                <a:latin typeface="Times New Roman" pitchFamily="18" charset="0"/>
                <a:ea typeface="黑体" pitchFamily="2" charset="-122"/>
              </a:rPr>
              <a:t>≠ </a:t>
            </a:r>
            <a:r>
              <a:rPr lang="en-US" altLang="zh-CN" b="1" dirty="0" err="1">
                <a:solidFill>
                  <a:srgbClr val="FF0000"/>
                </a:solidFill>
                <a:latin typeface="Symbol" pitchFamily="18" charset="2"/>
                <a:ea typeface="黑体" pitchFamily="2" charset="-122"/>
              </a:rPr>
              <a:t>S</a:t>
            </a:r>
            <a:r>
              <a:rPr lang="en-US" altLang="zh-CN" b="1" i="1" baseline="-25000" dirty="0" err="1">
                <a:solidFill>
                  <a:srgbClr val="FF0000"/>
                </a:solidFill>
                <a:latin typeface="Times New Roman" pitchFamily="18" charset="0"/>
                <a:ea typeface="黑体" pitchFamily="2" charset="-122"/>
              </a:rPr>
              <a:t>j</a:t>
            </a:r>
            <a:r>
              <a:rPr lang="en-US" altLang="zh-CN" b="1" i="1" baseline="-25000" dirty="0">
                <a:solidFill>
                  <a:srgbClr val="FF0000"/>
                </a:solidFill>
                <a:latin typeface="Times New Roman" pitchFamily="18" charset="0"/>
                <a:ea typeface="黑体" pitchFamily="2" charset="-122"/>
              </a:rPr>
              <a:t> </a:t>
            </a:r>
            <a:r>
              <a:rPr lang="en-US" altLang="zh-CN" b="1" dirty="0">
                <a:solidFill>
                  <a:srgbClr val="FF0000"/>
                </a:solidFill>
                <a:latin typeface="Symbol" pitchFamily="18" charset="2"/>
                <a:ea typeface="黑体" pitchFamily="2" charset="-122"/>
              </a:rPr>
              <a:t>,  </a:t>
            </a:r>
            <a:r>
              <a:rPr lang="en-US" altLang="zh-CN" b="1" i="1" baseline="-25000" dirty="0">
                <a:solidFill>
                  <a:srgbClr val="FF0000"/>
                </a:solidFill>
                <a:latin typeface="Times New Roman" pitchFamily="18" charset="0"/>
                <a:ea typeface="黑体" pitchFamily="2" charset="-122"/>
              </a:rPr>
              <a:t> </a:t>
            </a:r>
            <a:r>
              <a:rPr lang="en-US" altLang="zh-CN" b="1" i="1" dirty="0" err="1">
                <a:solidFill>
                  <a:srgbClr val="FF0000"/>
                </a:solidFill>
                <a:latin typeface="Times New Roman" pitchFamily="18" charset="0"/>
                <a:ea typeface="黑体" pitchFamily="2" charset="-122"/>
              </a:rPr>
              <a:t>i</a:t>
            </a:r>
            <a:r>
              <a:rPr lang="en-US" altLang="zh-CN" b="1" i="1" dirty="0">
                <a:solidFill>
                  <a:srgbClr val="FF0000"/>
                </a:solidFill>
                <a:latin typeface="Times New Roman" pitchFamily="18" charset="0"/>
                <a:ea typeface="黑体" pitchFamily="2" charset="-122"/>
              </a:rPr>
              <a:t>, j </a:t>
            </a:r>
            <a:r>
              <a:rPr lang="en-US" altLang="zh-CN" b="1" dirty="0">
                <a:solidFill>
                  <a:srgbClr val="FF0000"/>
                </a:solidFill>
                <a:latin typeface="Times New Roman" pitchFamily="18" charset="0"/>
                <a:ea typeface="黑体" pitchFamily="2" charset="-122"/>
              </a:rPr>
              <a:t>=1, 2,···,</a:t>
            </a:r>
            <a:r>
              <a:rPr lang="en-US" altLang="zh-CN" b="1" i="1" dirty="0">
                <a:solidFill>
                  <a:srgbClr val="FF0000"/>
                </a:solidFill>
                <a:latin typeface="Times New Roman" pitchFamily="18" charset="0"/>
                <a:ea typeface="黑体" pitchFamily="2" charset="-122"/>
              </a:rPr>
              <a:t>c</a:t>
            </a:r>
            <a:r>
              <a:rPr lang="en-US" altLang="zh-CN" b="1" baseline="-25000" dirty="0">
                <a:solidFill>
                  <a:srgbClr val="FF0000"/>
                </a:solidFill>
                <a:ea typeface="黑体" pitchFamily="2" charset="-122"/>
              </a:rPr>
              <a:t> </a:t>
            </a:r>
            <a:endParaRPr lang="en-US" altLang="zh-CN" b="1" kern="0" dirty="0">
              <a:solidFill>
                <a:srgbClr val="FF0000"/>
              </a:solidFill>
              <a:latin typeface="Times New Roman" panose="02020603050405020304" pitchFamily="18" charset="0"/>
              <a:ea typeface="黑体" panose="02010609060101010101" pitchFamily="49" charset="-122"/>
            </a:endParaRPr>
          </a:p>
        </p:txBody>
      </p:sp>
      <p:pic>
        <p:nvPicPr>
          <p:cNvPr id="13" name="Picture 6" descr="2007-08-19 06;06;48"/>
          <p:cNvPicPr>
            <a:picLocks noChangeAspect="1" noChangeArrowheads="1"/>
          </p:cNvPicPr>
          <p:nvPr/>
        </p:nvPicPr>
        <p:blipFill>
          <a:blip r:embed="rId3" cstate="print">
            <a:lum contrast="24000"/>
          </a:blip>
          <a:srcRect l="2670" r="5460" b="7381"/>
          <a:stretch>
            <a:fillRect/>
          </a:stretch>
        </p:blipFill>
        <p:spPr bwMode="auto">
          <a:xfrm>
            <a:off x="7718813" y="960951"/>
            <a:ext cx="4417207" cy="5313431"/>
          </a:xfrm>
          <a:prstGeom prst="rect">
            <a:avLst/>
          </a:prstGeom>
          <a:noFill/>
          <a:ln w="9525">
            <a:noFill/>
            <a:miter lim="800000"/>
            <a:headEnd/>
            <a:tailEnd/>
          </a:ln>
        </p:spPr>
      </p:pic>
      <p:sp>
        <p:nvSpPr>
          <p:cNvPr id="14" name="Rectangle 7"/>
          <p:cNvSpPr>
            <a:spLocks noChangeArrowheads="1"/>
          </p:cNvSpPr>
          <p:nvPr/>
        </p:nvSpPr>
        <p:spPr bwMode="auto">
          <a:xfrm>
            <a:off x="6395417" y="3153773"/>
            <a:ext cx="1008063" cy="430887"/>
          </a:xfrm>
          <a:prstGeom prst="rect">
            <a:avLst/>
          </a:prstGeom>
          <a:noFill/>
          <a:ln w="9525">
            <a:noFill/>
            <a:miter lim="800000"/>
            <a:headEnd/>
            <a:tailEnd/>
          </a:ln>
        </p:spPr>
        <p:txBody>
          <a:bodyPr>
            <a:spAutoFit/>
          </a:bodyPr>
          <a:lstStyle/>
          <a:p>
            <a:r>
              <a:rPr lang="zh-CN" altLang="en-US" sz="2200" dirty="0">
                <a:solidFill>
                  <a:schemeClr val="tx1"/>
                </a:solidFill>
              </a:rPr>
              <a:t>三维</a:t>
            </a:r>
          </a:p>
        </p:txBody>
      </p:sp>
      <p:pic>
        <p:nvPicPr>
          <p:cNvPr id="16" name="Picture 8" descr="2007-08-19 06;06;48"/>
          <p:cNvPicPr>
            <a:picLocks noChangeAspect="1" noChangeArrowheads="1"/>
          </p:cNvPicPr>
          <p:nvPr/>
        </p:nvPicPr>
        <p:blipFill>
          <a:blip r:embed="rId4" cstate="print">
            <a:lum contrast="24000"/>
          </a:blip>
          <a:srcRect t="93727" r="2333" b="601"/>
          <a:stretch>
            <a:fillRect/>
          </a:stretch>
        </p:blipFill>
        <p:spPr bwMode="auto">
          <a:xfrm>
            <a:off x="6126982" y="6430691"/>
            <a:ext cx="6048375" cy="419100"/>
          </a:xfrm>
          <a:prstGeom prst="rect">
            <a:avLst/>
          </a:prstGeom>
          <a:noFill/>
          <a:ln w="9525">
            <a:noFill/>
            <a:miter lim="800000"/>
            <a:headEnd/>
            <a:tailEnd/>
          </a:ln>
        </p:spPr>
      </p:pic>
    </p:spTree>
    <p:extLst>
      <p:ext uri="{BB962C8B-B14F-4D97-AF65-F5344CB8AC3E}">
        <p14:creationId xmlns:p14="http://schemas.microsoft.com/office/powerpoint/2010/main" val="33718154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73</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13.4 </a:t>
            </a:r>
            <a:r>
              <a:rPr lang="zh-CN" altLang="zh-CN" dirty="0"/>
              <a:t>正态分布的统计决策</a:t>
            </a:r>
          </a:p>
        </p:txBody>
      </p:sp>
      <p:sp>
        <p:nvSpPr>
          <p:cNvPr id="42" name="矩形 41"/>
          <p:cNvSpPr/>
          <p:nvPr/>
        </p:nvSpPr>
        <p:spPr>
          <a:xfrm>
            <a:off x="352694" y="1052736"/>
            <a:ext cx="7366119"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正态分布概率模型下的最小错误率贝叶斯决策</a:t>
            </a:r>
          </a:p>
        </p:txBody>
      </p:sp>
      <p:sp>
        <p:nvSpPr>
          <p:cNvPr id="8" name="Rectangle 3"/>
          <p:cNvSpPr txBox="1">
            <a:spLocks noChangeArrowheads="1"/>
          </p:cNvSpPr>
          <p:nvPr/>
        </p:nvSpPr>
        <p:spPr bwMode="gray">
          <a:xfrm>
            <a:off x="119336" y="5987783"/>
            <a:ext cx="8286808" cy="4655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eaLnBrk="1" hangingPunct="1">
              <a:buFont typeface="Arial" panose="020B0604020202020204" pitchFamily="34" charset="0"/>
              <a:buChar char="•"/>
            </a:pPr>
            <a:r>
              <a:rPr lang="zh-CN" altLang="en-US" sz="2200" kern="0" dirty="0">
                <a:latin typeface="黑体" pitchFamily="2" charset="-122"/>
                <a:ea typeface="黑体" pitchFamily="2" charset="-122"/>
              </a:rPr>
              <a:t>根据决策面方程得到的二次曲线分别是</a:t>
            </a:r>
            <a:r>
              <a:rPr lang="zh-CN" altLang="en-US" sz="2200" kern="0" dirty="0">
                <a:ea typeface="黑体" pitchFamily="2" charset="-122"/>
              </a:rPr>
              <a:t>椭圆和双曲线。</a:t>
            </a:r>
          </a:p>
        </p:txBody>
      </p:sp>
      <p:graphicFrame>
        <p:nvGraphicFramePr>
          <p:cNvPr id="11" name="Object 5"/>
          <p:cNvGraphicFramePr>
            <a:graphicFrameLocks noChangeAspect="1"/>
          </p:cNvGraphicFramePr>
          <p:nvPr>
            <p:extLst>
              <p:ext uri="{D42A27DB-BD31-4B8C-83A1-F6EECF244321}">
                <p14:modId xmlns:p14="http://schemas.microsoft.com/office/powerpoint/2010/main" val="4022352336"/>
              </p:ext>
            </p:extLst>
          </p:nvPr>
        </p:nvGraphicFramePr>
        <p:xfrm>
          <a:off x="349725" y="2114749"/>
          <a:ext cx="6842176" cy="2042394"/>
        </p:xfrm>
        <a:graphic>
          <a:graphicData uri="http://schemas.openxmlformats.org/presentationml/2006/ole">
            <mc:AlternateContent xmlns:mc="http://schemas.openxmlformats.org/markup-compatibility/2006">
              <mc:Choice xmlns:v="urn:schemas-microsoft-com:vml" Requires="v">
                <p:oleObj spid="_x0000_s74868" name="Equation" r:id="rId4" imgW="4114800" imgH="1231560" progId="Equation.DSMT4">
                  <p:embed/>
                </p:oleObj>
              </mc:Choice>
              <mc:Fallback>
                <p:oleObj name="Equation" r:id="rId4" imgW="4114800" imgH="1231560" progId="Equation.DSMT4">
                  <p:embed/>
                  <p:pic>
                    <p:nvPicPr>
                      <p:cNvPr id="0" name="Picture 10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725" y="2114749"/>
                        <a:ext cx="6842176" cy="20423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 name="Picture 7" descr="李2"/>
          <p:cNvPicPr>
            <a:picLocks noChangeAspect="1" noChangeArrowheads="1"/>
          </p:cNvPicPr>
          <p:nvPr/>
        </p:nvPicPr>
        <p:blipFill>
          <a:blip r:embed="rId6" cstate="print"/>
          <a:srcRect l="52788" t="4930" r="2757" b="23827"/>
          <a:stretch>
            <a:fillRect/>
          </a:stretch>
        </p:blipFill>
        <p:spPr bwMode="auto">
          <a:xfrm>
            <a:off x="2787369" y="4203162"/>
            <a:ext cx="1923993" cy="1743660"/>
          </a:xfrm>
          <a:prstGeom prst="rect">
            <a:avLst/>
          </a:prstGeom>
          <a:noFill/>
          <a:ln w="9525">
            <a:noFill/>
            <a:miter lim="800000"/>
            <a:headEnd/>
            <a:tailEnd/>
          </a:ln>
        </p:spPr>
      </p:pic>
      <p:pic>
        <p:nvPicPr>
          <p:cNvPr id="13" name="Picture 8" descr="李2"/>
          <p:cNvPicPr>
            <a:picLocks noChangeAspect="1" noChangeArrowheads="1"/>
          </p:cNvPicPr>
          <p:nvPr/>
        </p:nvPicPr>
        <p:blipFill>
          <a:blip r:embed="rId7" cstate="print"/>
          <a:srcRect l="1302" t="4655" r="54051" b="22141"/>
          <a:stretch>
            <a:fillRect/>
          </a:stretch>
        </p:blipFill>
        <p:spPr bwMode="auto">
          <a:xfrm>
            <a:off x="587398" y="4208119"/>
            <a:ext cx="1955080" cy="1813169"/>
          </a:xfrm>
          <a:prstGeom prst="rect">
            <a:avLst/>
          </a:prstGeom>
          <a:noFill/>
          <a:ln w="9525">
            <a:noFill/>
            <a:miter lim="800000"/>
            <a:headEnd/>
            <a:tailEnd/>
          </a:ln>
        </p:spPr>
      </p:pic>
      <p:sp>
        <p:nvSpPr>
          <p:cNvPr id="16" name="Rectangle 3"/>
          <p:cNvSpPr txBox="1">
            <a:spLocks noChangeArrowheads="1"/>
          </p:cNvSpPr>
          <p:nvPr/>
        </p:nvSpPr>
        <p:spPr bwMode="gray">
          <a:xfrm>
            <a:off x="349725" y="1484784"/>
            <a:ext cx="5743307" cy="6367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lnSpc>
                <a:spcPct val="120000"/>
              </a:lnSpc>
              <a:spcBef>
                <a:spcPts val="0"/>
              </a:spcBef>
              <a:buNone/>
            </a:pPr>
            <a:r>
              <a:rPr lang="en-US" altLang="zh-CN" b="1" kern="0" dirty="0">
                <a:solidFill>
                  <a:srgbClr val="FF0000"/>
                </a:solidFill>
                <a:latin typeface="Times New Roman" panose="02020603050405020304" pitchFamily="18" charset="0"/>
                <a:ea typeface="黑体" panose="02010609060101010101" pitchFamily="49" charset="-122"/>
              </a:rPr>
              <a:t>(3) </a:t>
            </a:r>
            <a:r>
              <a:rPr lang="en-US" altLang="zh-CN" b="1" dirty="0">
                <a:solidFill>
                  <a:srgbClr val="FF0000"/>
                </a:solidFill>
                <a:latin typeface="Symbol" pitchFamily="18" charset="2"/>
                <a:ea typeface="黑体" pitchFamily="2" charset="-122"/>
              </a:rPr>
              <a:t>S</a:t>
            </a:r>
            <a:r>
              <a:rPr lang="en-US" altLang="zh-CN" b="1" i="1" baseline="-25000" dirty="0">
                <a:solidFill>
                  <a:srgbClr val="FF0000"/>
                </a:solidFill>
                <a:latin typeface="Times New Roman" pitchFamily="18" charset="0"/>
                <a:ea typeface="黑体" pitchFamily="2" charset="-122"/>
              </a:rPr>
              <a:t>i </a:t>
            </a:r>
            <a:r>
              <a:rPr lang="en-US" altLang="zh-CN" b="1" dirty="0">
                <a:solidFill>
                  <a:srgbClr val="FF0000"/>
                </a:solidFill>
                <a:latin typeface="Times New Roman" pitchFamily="18" charset="0"/>
                <a:ea typeface="黑体" pitchFamily="2" charset="-122"/>
              </a:rPr>
              <a:t>≠ </a:t>
            </a:r>
            <a:r>
              <a:rPr lang="en-US" altLang="zh-CN" b="1" dirty="0" err="1">
                <a:solidFill>
                  <a:srgbClr val="FF0000"/>
                </a:solidFill>
                <a:latin typeface="Symbol" pitchFamily="18" charset="2"/>
                <a:ea typeface="黑体" pitchFamily="2" charset="-122"/>
              </a:rPr>
              <a:t>S</a:t>
            </a:r>
            <a:r>
              <a:rPr lang="en-US" altLang="zh-CN" b="1" i="1" baseline="-25000" dirty="0" err="1">
                <a:solidFill>
                  <a:srgbClr val="FF0000"/>
                </a:solidFill>
                <a:latin typeface="Times New Roman" pitchFamily="18" charset="0"/>
                <a:ea typeface="黑体" pitchFamily="2" charset="-122"/>
              </a:rPr>
              <a:t>j</a:t>
            </a:r>
            <a:r>
              <a:rPr lang="en-US" altLang="zh-CN" b="1" i="1" baseline="-25000" dirty="0">
                <a:solidFill>
                  <a:srgbClr val="FF0000"/>
                </a:solidFill>
                <a:latin typeface="Times New Roman" pitchFamily="18" charset="0"/>
                <a:ea typeface="黑体" pitchFamily="2" charset="-122"/>
              </a:rPr>
              <a:t> </a:t>
            </a:r>
            <a:r>
              <a:rPr lang="en-US" altLang="zh-CN" b="1" dirty="0">
                <a:solidFill>
                  <a:srgbClr val="FF0000"/>
                </a:solidFill>
                <a:latin typeface="Symbol" pitchFamily="18" charset="2"/>
                <a:ea typeface="黑体" pitchFamily="2" charset="-122"/>
              </a:rPr>
              <a:t>,  </a:t>
            </a:r>
            <a:r>
              <a:rPr lang="en-US" altLang="zh-CN" b="1" i="1" baseline="-25000" dirty="0">
                <a:solidFill>
                  <a:srgbClr val="FF0000"/>
                </a:solidFill>
                <a:latin typeface="Times New Roman" pitchFamily="18" charset="0"/>
                <a:ea typeface="黑体" pitchFamily="2" charset="-122"/>
              </a:rPr>
              <a:t> </a:t>
            </a:r>
            <a:r>
              <a:rPr lang="en-US" altLang="zh-CN" b="1" i="1" dirty="0" err="1">
                <a:solidFill>
                  <a:srgbClr val="FF0000"/>
                </a:solidFill>
                <a:latin typeface="Times New Roman" pitchFamily="18" charset="0"/>
                <a:ea typeface="黑体" pitchFamily="2" charset="-122"/>
              </a:rPr>
              <a:t>i</a:t>
            </a:r>
            <a:r>
              <a:rPr lang="en-US" altLang="zh-CN" b="1" i="1" dirty="0">
                <a:solidFill>
                  <a:srgbClr val="FF0000"/>
                </a:solidFill>
                <a:latin typeface="Times New Roman" pitchFamily="18" charset="0"/>
                <a:ea typeface="黑体" pitchFamily="2" charset="-122"/>
              </a:rPr>
              <a:t>, j </a:t>
            </a:r>
            <a:r>
              <a:rPr lang="en-US" altLang="zh-CN" b="1" dirty="0">
                <a:solidFill>
                  <a:srgbClr val="FF0000"/>
                </a:solidFill>
                <a:latin typeface="Times New Roman" pitchFamily="18" charset="0"/>
                <a:ea typeface="黑体" pitchFamily="2" charset="-122"/>
              </a:rPr>
              <a:t>=1, 2,···,</a:t>
            </a:r>
            <a:r>
              <a:rPr lang="en-US" altLang="zh-CN" b="1" i="1" dirty="0">
                <a:solidFill>
                  <a:srgbClr val="FF0000"/>
                </a:solidFill>
                <a:latin typeface="Times New Roman" pitchFamily="18" charset="0"/>
                <a:ea typeface="黑体" pitchFamily="2" charset="-122"/>
              </a:rPr>
              <a:t>c</a:t>
            </a:r>
            <a:r>
              <a:rPr lang="en-US" altLang="zh-CN" b="1" baseline="-25000" dirty="0">
                <a:solidFill>
                  <a:srgbClr val="FF0000"/>
                </a:solidFill>
                <a:ea typeface="黑体" pitchFamily="2" charset="-122"/>
              </a:rPr>
              <a:t> </a:t>
            </a:r>
            <a:endParaRPr lang="en-US" altLang="zh-CN" b="1" kern="0" dirty="0">
              <a:solidFill>
                <a:srgbClr val="FF0000"/>
              </a:solidFill>
              <a:latin typeface="Times New Roman" panose="02020603050405020304" pitchFamily="18" charset="0"/>
              <a:ea typeface="黑体" panose="02010609060101010101" pitchFamily="49" charset="-122"/>
            </a:endParaRPr>
          </a:p>
        </p:txBody>
      </p:sp>
      <p:sp>
        <p:nvSpPr>
          <p:cNvPr id="17" name="Rectangle 2"/>
          <p:cNvSpPr>
            <a:spLocks noGrp="1" noChangeArrowheads="1"/>
          </p:cNvSpPr>
          <p:nvPr>
            <p:ph type="title" idx="4294967295"/>
          </p:nvPr>
        </p:nvSpPr>
        <p:spPr bwMode="auto">
          <a:xfrm>
            <a:off x="7595221" y="1581832"/>
            <a:ext cx="4414103" cy="1079500"/>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lnSpc>
                <a:spcPct val="120000"/>
              </a:lnSpc>
            </a:pPr>
            <a:r>
              <a:rPr lang="zh-CN" altLang="en-US" sz="1800" dirty="0">
                <a:solidFill>
                  <a:srgbClr val="FF0000"/>
                </a:solidFill>
                <a:latin typeface="黑体" panose="02010609060101010101" pitchFamily="49" charset="-122"/>
                <a:ea typeface="黑体" panose="02010609060101010101" pitchFamily="49" charset="-122"/>
              </a:rPr>
              <a:t>两类</a:t>
            </a:r>
            <a:r>
              <a:rPr lang="zh-CN" altLang="en-US" sz="1800" dirty="0">
                <a:solidFill>
                  <a:srgbClr val="000000"/>
                </a:solidFill>
                <a:latin typeface="黑体" panose="02010609060101010101" pitchFamily="49" charset="-122"/>
                <a:ea typeface="黑体" panose="02010609060101010101" pitchFamily="49" charset="-122"/>
              </a:rPr>
              <a:t>二维正态分布的决策面问题，由</a:t>
            </a:r>
            <a:r>
              <a:rPr lang="zh-CN" altLang="en-US" sz="1800" dirty="0">
                <a:solidFill>
                  <a:srgbClr val="00B0F0"/>
                </a:solidFill>
                <a:latin typeface="黑体" panose="02010609060101010101" pitchFamily="49" charset="-122"/>
                <a:ea typeface="黑体" panose="02010609060101010101" pitchFamily="49" charset="-122"/>
              </a:rPr>
              <a:t>协方差</a:t>
            </a:r>
            <a:r>
              <a:rPr lang="el-GR" altLang="zh-CN" sz="1800" dirty="0">
                <a:solidFill>
                  <a:srgbClr val="00B0F0"/>
                </a:solidFill>
                <a:latin typeface="黑体" panose="02010609060101010101" pitchFamily="49" charset="-122"/>
                <a:ea typeface="黑体" panose="02010609060101010101" pitchFamily="49" charset="-122"/>
              </a:rPr>
              <a:t>Σ</a:t>
            </a:r>
            <a:r>
              <a:rPr lang="zh-CN" altLang="en-US" sz="1800" dirty="0">
                <a:solidFill>
                  <a:srgbClr val="00B0F0"/>
                </a:solidFill>
                <a:latin typeface="黑体" panose="02010609060101010101" pitchFamily="49" charset="-122"/>
                <a:ea typeface="黑体" panose="02010609060101010101" pitchFamily="49" charset="-122"/>
              </a:rPr>
              <a:t>和均值向量</a:t>
            </a:r>
            <a:r>
              <a:rPr lang="el-GR" altLang="zh-CN" sz="1800" dirty="0">
                <a:solidFill>
                  <a:srgbClr val="00B0F0"/>
                </a:solidFill>
                <a:latin typeface="黑体" panose="02010609060101010101" pitchFamily="49" charset="-122"/>
                <a:ea typeface="黑体" panose="02010609060101010101" pitchFamily="49" charset="-122"/>
              </a:rPr>
              <a:t>μ</a:t>
            </a:r>
            <a:r>
              <a:rPr lang="zh-CN" altLang="en-US" sz="1800" dirty="0">
                <a:solidFill>
                  <a:srgbClr val="00B0F0"/>
                </a:solidFill>
                <a:latin typeface="黑体" panose="02010609060101010101" pitchFamily="49" charset="-122"/>
                <a:ea typeface="黑体" panose="02010609060101010101" pitchFamily="49" charset="-122"/>
              </a:rPr>
              <a:t>可根据判别函数和决策面方程计算决策面。</a:t>
            </a:r>
          </a:p>
        </p:txBody>
      </p:sp>
      <p:graphicFrame>
        <p:nvGraphicFramePr>
          <p:cNvPr id="18" name="Object 5"/>
          <p:cNvGraphicFramePr>
            <a:graphicFrameLocks noChangeAspect="1"/>
          </p:cNvGraphicFramePr>
          <p:nvPr>
            <p:extLst>
              <p:ext uri="{D42A27DB-BD31-4B8C-83A1-F6EECF244321}">
                <p14:modId xmlns:p14="http://schemas.microsoft.com/office/powerpoint/2010/main" val="1132752584"/>
              </p:ext>
            </p:extLst>
          </p:nvPr>
        </p:nvGraphicFramePr>
        <p:xfrm>
          <a:off x="7542621" y="5414073"/>
          <a:ext cx="4510684" cy="1037055"/>
        </p:xfrm>
        <a:graphic>
          <a:graphicData uri="http://schemas.openxmlformats.org/presentationml/2006/ole">
            <mc:AlternateContent xmlns:mc="http://schemas.openxmlformats.org/markup-compatibility/2006">
              <mc:Choice xmlns:v="urn:schemas-microsoft-com:vml" Requires="v">
                <p:oleObj spid="_x0000_s74869" name="Equation" r:id="rId8" imgW="2984500" imgH="685800" progId="Equation.DSMT4">
                  <p:embed/>
                </p:oleObj>
              </mc:Choice>
              <mc:Fallback>
                <p:oleObj name="Equation" r:id="rId8" imgW="2984500" imgH="685800" progId="Equation.DSMT4">
                  <p:embed/>
                  <p:pic>
                    <p:nvPicPr>
                      <p:cNvPr id="0" name="Picture 10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42621" y="5414073"/>
                        <a:ext cx="4510684" cy="10370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6"/>
          <p:cNvGraphicFramePr>
            <a:graphicFrameLocks noChangeAspect="1"/>
          </p:cNvGraphicFramePr>
          <p:nvPr>
            <p:extLst>
              <p:ext uri="{D42A27DB-BD31-4B8C-83A1-F6EECF244321}">
                <p14:modId xmlns:p14="http://schemas.microsoft.com/office/powerpoint/2010/main" val="3299010287"/>
              </p:ext>
            </p:extLst>
          </p:nvPr>
        </p:nvGraphicFramePr>
        <p:xfrm>
          <a:off x="7420346" y="2799437"/>
          <a:ext cx="4749805" cy="2327781"/>
        </p:xfrm>
        <a:graphic>
          <a:graphicData uri="http://schemas.openxmlformats.org/presentationml/2006/ole">
            <mc:AlternateContent xmlns:mc="http://schemas.openxmlformats.org/markup-compatibility/2006">
              <mc:Choice xmlns:v="urn:schemas-microsoft-com:vml" Requires="v">
                <p:oleObj spid="_x0000_s74870" name="公式" r:id="rId10" imgW="3657600" imgH="1803400" progId="Equation.3">
                  <p:embed/>
                </p:oleObj>
              </mc:Choice>
              <mc:Fallback>
                <p:oleObj name="公式" r:id="rId10" imgW="3657600" imgH="1803400" progId="Equation.3">
                  <p:embed/>
                  <p:pic>
                    <p:nvPicPr>
                      <p:cNvPr id="0" name="Picture 10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20346" y="2799437"/>
                        <a:ext cx="4749805" cy="23277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5" name="直接连接符 4"/>
          <p:cNvCxnSpPr/>
          <p:nvPr/>
        </p:nvCxnSpPr>
        <p:spPr>
          <a:xfrm>
            <a:off x="7320136" y="1700808"/>
            <a:ext cx="0" cy="4286975"/>
          </a:xfrm>
          <a:prstGeom prst="line">
            <a:avLst/>
          </a:prstGeom>
          <a:ln w="34925">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01766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55440" y="1556792"/>
            <a:ext cx="10369152" cy="3416320"/>
          </a:xfrm>
          <a:prstGeom prst="rect">
            <a:avLst/>
          </a:prstGeom>
          <a:noFill/>
        </p:spPr>
        <p:txBody>
          <a:bodyPr wrap="square" rtlCol="0">
            <a:spAutoFit/>
          </a:bodyPr>
          <a:lstStyle/>
          <a:p>
            <a:pPr>
              <a:lnSpc>
                <a:spcPct val="150000"/>
              </a:lnSpc>
            </a:pPr>
            <a:r>
              <a:rPr lang="en-US" altLang="zh-CN" sz="2400" b="1" dirty="0">
                <a:latin typeface="宋体" pitchFamily="2" charset="-122"/>
                <a:ea typeface="宋体" pitchFamily="2" charset="-122"/>
              </a:rPr>
              <a:t>13.1 </a:t>
            </a:r>
            <a:r>
              <a:rPr lang="zh-CN" altLang="zh-CN" sz="2400" b="1" dirty="0">
                <a:latin typeface="宋体" pitchFamily="2" charset="-122"/>
                <a:ea typeface="宋体" pitchFamily="2" charset="-122"/>
              </a:rPr>
              <a:t>最小错误率贝叶斯决策</a:t>
            </a:r>
          </a:p>
          <a:p>
            <a:pPr>
              <a:lnSpc>
                <a:spcPct val="150000"/>
              </a:lnSpc>
            </a:pPr>
            <a:r>
              <a:rPr lang="en-US" altLang="zh-CN" sz="2400" b="1" dirty="0">
                <a:latin typeface="宋体" pitchFamily="2" charset="-122"/>
                <a:ea typeface="宋体" pitchFamily="2" charset="-122"/>
              </a:rPr>
              <a:t>13.2 </a:t>
            </a:r>
            <a:r>
              <a:rPr lang="zh-CN" altLang="zh-CN" sz="2400" b="1" dirty="0">
                <a:latin typeface="宋体" pitchFamily="2" charset="-122"/>
                <a:ea typeface="宋体" pitchFamily="2" charset="-122"/>
              </a:rPr>
              <a:t>最小风险贝叶斯决策</a:t>
            </a:r>
          </a:p>
          <a:p>
            <a:pPr>
              <a:lnSpc>
                <a:spcPct val="150000"/>
              </a:lnSpc>
            </a:pPr>
            <a:r>
              <a:rPr lang="en-US" altLang="zh-CN" sz="2400" b="1" dirty="0">
                <a:latin typeface="宋体" pitchFamily="2" charset="-122"/>
                <a:ea typeface="宋体" pitchFamily="2" charset="-122"/>
              </a:rPr>
              <a:t>13.3 </a:t>
            </a:r>
            <a:r>
              <a:rPr lang="zh-CN" altLang="zh-CN" sz="2400" b="1" dirty="0">
                <a:latin typeface="宋体" pitchFamily="2" charset="-122"/>
                <a:ea typeface="宋体" pitchFamily="2" charset="-122"/>
              </a:rPr>
              <a:t>两类错误率、</a:t>
            </a:r>
            <a:r>
              <a:rPr lang="en-US" altLang="zh-CN" sz="2400" b="1" dirty="0" err="1">
                <a:latin typeface="宋体" pitchFamily="2" charset="-122"/>
                <a:ea typeface="宋体" pitchFamily="2" charset="-122"/>
              </a:rPr>
              <a:t>Neyman</a:t>
            </a:r>
            <a:r>
              <a:rPr lang="en-US" altLang="zh-CN" sz="2400" b="1" dirty="0">
                <a:latin typeface="宋体" pitchFamily="2" charset="-122"/>
                <a:ea typeface="宋体" pitchFamily="2" charset="-122"/>
              </a:rPr>
              <a:t>-Pearson</a:t>
            </a:r>
            <a:r>
              <a:rPr lang="zh-CN" altLang="zh-CN" sz="2400" b="1" dirty="0">
                <a:latin typeface="宋体" pitchFamily="2" charset="-122"/>
                <a:ea typeface="宋体" pitchFamily="2" charset="-122"/>
              </a:rPr>
              <a:t>决策和</a:t>
            </a:r>
            <a:r>
              <a:rPr lang="en-US" altLang="zh-CN" sz="2400" b="1" dirty="0">
                <a:latin typeface="宋体" pitchFamily="2" charset="-122"/>
                <a:ea typeface="宋体" pitchFamily="2" charset="-122"/>
              </a:rPr>
              <a:t>ROC</a:t>
            </a:r>
            <a:r>
              <a:rPr lang="zh-CN" altLang="zh-CN" sz="2400" b="1" dirty="0">
                <a:latin typeface="宋体" pitchFamily="2" charset="-122"/>
                <a:ea typeface="宋体" pitchFamily="2" charset="-122"/>
              </a:rPr>
              <a:t>曲线</a:t>
            </a:r>
          </a:p>
          <a:p>
            <a:pPr>
              <a:lnSpc>
                <a:spcPct val="150000"/>
              </a:lnSpc>
            </a:pPr>
            <a:r>
              <a:rPr lang="en-US" altLang="zh-CN" sz="2400" b="1" dirty="0">
                <a:latin typeface="宋体" pitchFamily="2" charset="-122"/>
                <a:ea typeface="宋体" pitchFamily="2" charset="-122"/>
              </a:rPr>
              <a:t>13.4 </a:t>
            </a:r>
            <a:r>
              <a:rPr lang="zh-CN" altLang="zh-CN" sz="2400" b="1" dirty="0">
                <a:latin typeface="宋体" pitchFamily="2" charset="-122"/>
                <a:ea typeface="宋体" pitchFamily="2" charset="-122"/>
              </a:rPr>
              <a:t>正态分布的统计决策</a:t>
            </a:r>
          </a:p>
          <a:p>
            <a:pPr>
              <a:lnSpc>
                <a:spcPct val="150000"/>
              </a:lnSpc>
            </a:pPr>
            <a:r>
              <a:rPr lang="en-US" altLang="zh-CN" sz="2400" b="1" dirty="0">
                <a:solidFill>
                  <a:srgbClr val="FF0000"/>
                </a:solidFill>
                <a:latin typeface="宋体" pitchFamily="2" charset="-122"/>
                <a:ea typeface="宋体" pitchFamily="2" charset="-122"/>
              </a:rPr>
              <a:t>13.5 </a:t>
            </a:r>
            <a:r>
              <a:rPr lang="zh-CN" altLang="zh-CN" sz="2400" b="1" dirty="0">
                <a:solidFill>
                  <a:srgbClr val="FF0000"/>
                </a:solidFill>
                <a:latin typeface="宋体" pitchFamily="2" charset="-122"/>
                <a:ea typeface="宋体" pitchFamily="2" charset="-122"/>
              </a:rPr>
              <a:t>关于分类器的错误率</a:t>
            </a:r>
          </a:p>
          <a:p>
            <a:pPr>
              <a:lnSpc>
                <a:spcPct val="150000"/>
              </a:lnSpc>
            </a:pPr>
            <a:r>
              <a:rPr lang="en-US" altLang="zh-CN" sz="2400" b="1" dirty="0">
                <a:latin typeface="宋体" pitchFamily="2" charset="-122"/>
                <a:ea typeface="宋体" pitchFamily="2" charset="-122"/>
              </a:rPr>
              <a:t>13.6 </a:t>
            </a:r>
            <a:r>
              <a:rPr lang="zh-CN" altLang="zh-CN" sz="2400" b="1" dirty="0">
                <a:latin typeface="宋体" pitchFamily="2" charset="-122"/>
                <a:ea typeface="宋体" pitchFamily="2" charset="-122"/>
              </a:rPr>
              <a:t>离散概率模型下的统计决策</a:t>
            </a:r>
          </a:p>
        </p:txBody>
      </p:sp>
      <p:sp>
        <p:nvSpPr>
          <p:cNvPr id="8" name="Freeform 6"/>
          <p:cNvSpPr>
            <a:spLocks/>
          </p:cNvSpPr>
          <p:nvPr/>
        </p:nvSpPr>
        <p:spPr bwMode="auto">
          <a:xfrm>
            <a:off x="0" y="5589240"/>
            <a:ext cx="12192000" cy="864096"/>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p>
        </p:txBody>
      </p:sp>
      <p:sp>
        <p:nvSpPr>
          <p:cNvPr id="9" name="Freeform 7"/>
          <p:cNvSpPr>
            <a:spLocks/>
          </p:cNvSpPr>
          <p:nvPr/>
        </p:nvSpPr>
        <p:spPr bwMode="auto">
          <a:xfrm>
            <a:off x="-24680" y="5425669"/>
            <a:ext cx="12216680" cy="357166"/>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solidFill>
                <a:schemeClr val="tx2">
                  <a:lumMod val="20000"/>
                  <a:lumOff val="80000"/>
                </a:schemeClr>
              </a:solidFill>
            </a:endParaRPr>
          </a:p>
        </p:txBody>
      </p:sp>
      <p:pic>
        <p:nvPicPr>
          <p:cNvPr id="3" name="图片 2"/>
          <p:cNvPicPr>
            <a:picLocks noChangeAspect="1"/>
          </p:cNvPicPr>
          <p:nvPr/>
        </p:nvPicPr>
        <p:blipFill>
          <a:blip r:embed="rId3"/>
          <a:stretch>
            <a:fillRect/>
          </a:stretch>
        </p:blipFill>
        <p:spPr>
          <a:xfrm>
            <a:off x="0" y="6468398"/>
            <a:ext cx="1349719" cy="404664"/>
          </a:xfrm>
          <a:prstGeom prst="rect">
            <a:avLst/>
          </a:prstGeom>
        </p:spPr>
      </p:pic>
      <p:sp>
        <p:nvSpPr>
          <p:cNvPr id="6" name="文本框 5"/>
          <p:cNvSpPr txBox="1"/>
          <p:nvPr/>
        </p:nvSpPr>
        <p:spPr>
          <a:xfrm>
            <a:off x="-24680" y="6436962"/>
            <a:ext cx="5472608" cy="461665"/>
          </a:xfrm>
          <a:prstGeom prst="rect">
            <a:avLst/>
          </a:prstGeom>
          <a:noFill/>
        </p:spPr>
        <p:txBody>
          <a:bodyPr wrap="square" rtlCol="0">
            <a:spAutoFit/>
          </a:bodyPr>
          <a:lstStyle/>
          <a:p>
            <a:r>
              <a:rPr lang="zh-CN" altLang="en-US" sz="2400" b="1" dirty="0">
                <a:solidFill>
                  <a:srgbClr val="0000FF"/>
                </a:solidFill>
              </a:rPr>
              <a:t>人工智能与自动化学院        </a:t>
            </a:r>
          </a:p>
        </p:txBody>
      </p:sp>
      <p:sp>
        <p:nvSpPr>
          <p:cNvPr id="7" name="灯片编号占位符 6">
            <a:extLst>
              <a:ext uri="{FF2B5EF4-FFF2-40B4-BE49-F238E27FC236}">
                <a16:creationId xmlns:a16="http://schemas.microsoft.com/office/drawing/2014/main" id="{57A11AAC-03BE-45BB-A5C8-11C5A0B0B16C}"/>
              </a:ext>
            </a:extLst>
          </p:cNvPr>
          <p:cNvSpPr>
            <a:spLocks noGrp="1"/>
          </p:cNvSpPr>
          <p:nvPr>
            <p:ph type="sldNum" sz="quarter" idx="11"/>
          </p:nvPr>
        </p:nvSpPr>
        <p:spPr/>
        <p:txBody>
          <a:bodyPr/>
          <a:lstStyle/>
          <a:p>
            <a:pPr>
              <a:defRPr/>
            </a:pPr>
            <a:fld id="{31E287EE-1289-4991-82CE-EFE584F53F4F}" type="slidenum">
              <a:rPr lang="en-US" altLang="zh-CN" smtClean="0"/>
              <a:pPr>
                <a:defRPr/>
              </a:pPr>
              <a:t>74</a:t>
            </a:fld>
            <a:endParaRPr lang="en-US" altLang="zh-CN" dirty="0"/>
          </a:p>
        </p:txBody>
      </p:sp>
      <p:sp>
        <p:nvSpPr>
          <p:cNvPr id="10"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zh-CN" altLang="en-US" kern="0" dirty="0"/>
              <a:t>第</a:t>
            </a:r>
            <a:r>
              <a:rPr lang="en-US" altLang="zh-CN" kern="0" dirty="0"/>
              <a:t>13</a:t>
            </a:r>
            <a:r>
              <a:rPr lang="zh-CN" altLang="en-US" kern="0" dirty="0"/>
              <a:t>章 </a:t>
            </a:r>
            <a:r>
              <a:rPr lang="zh-CN" altLang="zh-CN" dirty="0"/>
              <a:t>基于统计决策的概率分类方法</a:t>
            </a:r>
          </a:p>
        </p:txBody>
      </p:sp>
    </p:spTree>
    <p:extLst>
      <p:ext uri="{BB962C8B-B14F-4D97-AF65-F5344CB8AC3E}">
        <p14:creationId xmlns:p14="http://schemas.microsoft.com/office/powerpoint/2010/main" val="29735734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Box 6"/>
          <p:cNvSpPr txBox="1">
            <a:spLocks noChangeArrowheads="1"/>
          </p:cNvSpPr>
          <p:nvPr/>
        </p:nvSpPr>
        <p:spPr bwMode="auto">
          <a:xfrm>
            <a:off x="407368" y="1015060"/>
            <a:ext cx="11449272" cy="1272271"/>
          </a:xfrm>
          <a:prstGeom prst="rect">
            <a:avLst/>
          </a:prstGeom>
          <a:noFill/>
          <a:ln w="12700" cap="sq">
            <a:noFill/>
            <a:miter lim="800000"/>
            <a:headEnd type="none" w="sm" len="sm"/>
            <a:tailEnd type="none" w="sm" len="sm"/>
          </a:ln>
          <a:effectLst/>
        </p:spPr>
        <p:txBody>
          <a:bodyPr wrap="square">
            <a:spAutoFit/>
          </a:bodyPr>
          <a:lstStyle/>
          <a:p>
            <a:pPr marL="342900" indent="-342900">
              <a:lnSpc>
                <a:spcPct val="120000"/>
              </a:lnSpc>
              <a:buFont typeface="Arial" panose="020B0604020202020204" pitchFamily="34" charset="0"/>
              <a:buChar char="•"/>
            </a:pPr>
            <a:r>
              <a:rPr lang="zh-CN" altLang="en-US" sz="2200" dirty="0">
                <a:latin typeface="Times New Roman" panose="02020603050405020304" pitchFamily="18" charset="0"/>
                <a:ea typeface="黑体" panose="02010609060101010101" pitchFamily="49" charset="-122"/>
              </a:rPr>
              <a:t>在类条件概率密度及先验概率已知的条件下进行分类决策，其错误率是确定的。</a:t>
            </a:r>
            <a:endParaRPr lang="en-US" altLang="zh-CN" sz="2200" dirty="0">
              <a:latin typeface="Times New Roman" panose="02020603050405020304" pitchFamily="18" charset="0"/>
              <a:ea typeface="黑体" panose="02010609060101010101" pitchFamily="49" charset="-122"/>
            </a:endParaRPr>
          </a:p>
          <a:p>
            <a:pPr marL="342900" indent="-342900">
              <a:lnSpc>
                <a:spcPct val="120000"/>
              </a:lnSpc>
              <a:buFont typeface="Arial" panose="020B0604020202020204" pitchFamily="34" charset="0"/>
              <a:buChar char="•"/>
            </a:pPr>
            <a:r>
              <a:rPr lang="zh-CN" altLang="en-US" sz="2200" dirty="0">
                <a:solidFill>
                  <a:schemeClr val="tx1"/>
                </a:solidFill>
                <a:latin typeface="Times New Roman" panose="02020603050405020304" pitchFamily="18" charset="0"/>
                <a:ea typeface="黑体" panose="02010609060101010101" pitchFamily="49" charset="-122"/>
              </a:rPr>
              <a:t>在分类器设计完成之后，通常以错误率的大小来衡量其性能的优劣。</a:t>
            </a:r>
            <a:endParaRPr lang="en-US" altLang="zh-CN" sz="2200" dirty="0">
              <a:solidFill>
                <a:schemeClr val="tx1"/>
              </a:solidFill>
              <a:latin typeface="Times New Roman" panose="02020603050405020304" pitchFamily="18" charset="0"/>
              <a:ea typeface="黑体" panose="02010609060101010101" pitchFamily="49" charset="-122"/>
            </a:endParaRPr>
          </a:p>
          <a:p>
            <a:pPr marL="342900" indent="-342900">
              <a:lnSpc>
                <a:spcPct val="120000"/>
              </a:lnSpc>
              <a:buFont typeface="Arial" panose="020B0604020202020204" pitchFamily="34" charset="0"/>
              <a:buChar char="•"/>
            </a:pPr>
            <a:r>
              <a:rPr lang="zh-CN" altLang="en-US" sz="2200" dirty="0">
                <a:latin typeface="Times New Roman" panose="02020603050405020304" pitchFamily="18" charset="0"/>
                <a:ea typeface="黑体" panose="02010609060101010101" pitchFamily="49" charset="-122"/>
              </a:rPr>
              <a:t>错误率是模式识别的重要参数。</a:t>
            </a:r>
            <a:endParaRPr lang="zh-CN" altLang="en-US" sz="2200" dirty="0">
              <a:solidFill>
                <a:schemeClr val="tx1"/>
              </a:solidFill>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75</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13.5 </a:t>
            </a:r>
            <a:r>
              <a:rPr lang="zh-CN" altLang="zh-CN" dirty="0"/>
              <a:t>关于分类器的错误率</a:t>
            </a:r>
          </a:p>
        </p:txBody>
      </p:sp>
      <p:sp>
        <p:nvSpPr>
          <p:cNvPr id="16" name="Rectangle 3"/>
          <p:cNvSpPr txBox="1">
            <a:spLocks noChangeArrowheads="1"/>
          </p:cNvSpPr>
          <p:nvPr/>
        </p:nvSpPr>
        <p:spPr bwMode="auto">
          <a:xfrm>
            <a:off x="407368" y="2355732"/>
            <a:ext cx="4104456" cy="3656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R="0" lvl="0" algn="l" defTabSz="914400" rtl="0" eaLnBrk="0" fontAlgn="base" latinLnBrk="0" hangingPunct="0">
              <a:lnSpc>
                <a:spcPct val="100000"/>
              </a:lnSpc>
              <a:spcBef>
                <a:spcPct val="20000"/>
              </a:spcBef>
              <a:spcAft>
                <a:spcPct val="0"/>
              </a:spcAft>
              <a:buClr>
                <a:schemeClr val="tx2"/>
              </a:buClr>
              <a:buSzPct val="50000"/>
              <a:tabLst/>
              <a:defRPr/>
            </a:pPr>
            <a:r>
              <a:rPr kumimoji="0" lang="zh-CN" altLang="en-US" sz="2200" b="0" i="0" u="none" strike="noStrike" kern="1200" cap="none" spc="0" normalizeH="0" baseline="0" noProof="0" dirty="0">
                <a:ln>
                  <a:noFill/>
                </a:ln>
                <a:solidFill>
                  <a:srgbClr val="FF0000"/>
                </a:solidFill>
                <a:effectLst/>
                <a:uLnTx/>
                <a:uFillTx/>
                <a:latin typeface="+mj-ea"/>
                <a:ea typeface="+mj-ea"/>
                <a:cs typeface="+mn-cs"/>
              </a:rPr>
              <a:t>最小错误率贝叶斯决策的错误率</a:t>
            </a:r>
          </a:p>
        </p:txBody>
      </p:sp>
      <p:graphicFrame>
        <p:nvGraphicFramePr>
          <p:cNvPr id="17" name="Object 4"/>
          <p:cNvGraphicFramePr>
            <a:graphicFrameLocks noChangeAspect="1"/>
          </p:cNvGraphicFramePr>
          <p:nvPr>
            <p:extLst>
              <p:ext uri="{D42A27DB-BD31-4B8C-83A1-F6EECF244321}">
                <p14:modId xmlns:p14="http://schemas.microsoft.com/office/powerpoint/2010/main" val="302998552"/>
              </p:ext>
            </p:extLst>
          </p:nvPr>
        </p:nvGraphicFramePr>
        <p:xfrm>
          <a:off x="4575102" y="2326403"/>
          <a:ext cx="4543767" cy="1001852"/>
        </p:xfrm>
        <a:graphic>
          <a:graphicData uri="http://schemas.openxmlformats.org/presentationml/2006/ole">
            <mc:AlternateContent xmlns:mc="http://schemas.openxmlformats.org/markup-compatibility/2006">
              <mc:Choice xmlns:v="urn:schemas-microsoft-com:vml" Requires="v">
                <p:oleObj spid="_x0000_s38020" name="Equation" r:id="rId4" imgW="2476500" imgH="546100" progId="Equation.DSMT4">
                  <p:embed/>
                </p:oleObj>
              </mc:Choice>
              <mc:Fallback>
                <p:oleObj name="Equation" r:id="rId4" imgW="2476500" imgH="546100" progId="Equation.DSMT4">
                  <p:embed/>
                  <p:pic>
                    <p:nvPicPr>
                      <p:cNvPr id="0" name="Picture 1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5102" y="2326403"/>
                        <a:ext cx="4543767" cy="10018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 Box 6"/>
          <p:cNvSpPr txBox="1">
            <a:spLocks noChangeArrowheads="1"/>
          </p:cNvSpPr>
          <p:nvPr/>
        </p:nvSpPr>
        <p:spPr bwMode="auto">
          <a:xfrm>
            <a:off x="403003" y="3298382"/>
            <a:ext cx="8280920" cy="849528"/>
          </a:xfrm>
          <a:prstGeom prst="rect">
            <a:avLst/>
          </a:prstGeom>
          <a:noFill/>
          <a:ln w="12700" cap="sq">
            <a:noFill/>
            <a:miter lim="800000"/>
            <a:headEnd type="none" w="sm" len="sm"/>
            <a:tailEnd type="none" w="sm" len="sm"/>
          </a:ln>
          <a:effectLst/>
        </p:spPr>
        <p:txBody>
          <a:bodyPr wrap="square">
            <a:spAutoFit/>
          </a:bodyPr>
          <a:lstStyle/>
          <a:p>
            <a:pPr marL="342900" indent="-342900">
              <a:lnSpc>
                <a:spcPct val="130000"/>
              </a:lnSpc>
              <a:buFont typeface="Wingdings" panose="05000000000000000000" pitchFamily="2" charset="2"/>
              <a:buChar char="ü"/>
            </a:pPr>
            <a:r>
              <a:rPr lang="en-US" altLang="zh-CN" sz="2000" i="1" dirty="0">
                <a:solidFill>
                  <a:srgbClr val="996600"/>
                </a:solidFill>
                <a:latin typeface="Times New Roman" panose="02020603050405020304" pitchFamily="18" charset="0"/>
                <a:ea typeface="黑体" panose="02010609060101010101" pitchFamily="49" charset="-122"/>
              </a:rPr>
              <a:t>x </a:t>
            </a:r>
            <a:r>
              <a:rPr lang="zh-CN" altLang="en-US" sz="2000" dirty="0">
                <a:solidFill>
                  <a:srgbClr val="996600"/>
                </a:solidFill>
                <a:latin typeface="Times New Roman" panose="02020603050405020304" pitchFamily="18" charset="0"/>
                <a:ea typeface="黑体" panose="02010609060101010101" pitchFamily="49" charset="-122"/>
              </a:rPr>
              <a:t>为多维向量时，要进行多重积分，当概率密度表达式复杂式，难于计算，并且，积分范围中判决区域的不连续也导致直接的计算困难。</a:t>
            </a:r>
          </a:p>
        </p:txBody>
      </p:sp>
      <p:sp>
        <p:nvSpPr>
          <p:cNvPr id="19" name="Text Box 7"/>
          <p:cNvSpPr txBox="1">
            <a:spLocks noChangeArrowheads="1"/>
          </p:cNvSpPr>
          <p:nvPr/>
        </p:nvSpPr>
        <p:spPr bwMode="auto">
          <a:xfrm>
            <a:off x="403003" y="4339306"/>
            <a:ext cx="2956693" cy="1726627"/>
          </a:xfrm>
          <a:prstGeom prst="rect">
            <a:avLst/>
          </a:prstGeom>
          <a:noFill/>
          <a:ln w="12700" cap="sq">
            <a:noFill/>
            <a:miter lim="800000"/>
            <a:headEnd type="none" w="sm" len="sm"/>
            <a:tailEnd type="none" w="sm" len="sm"/>
          </a:ln>
          <a:effectLst/>
        </p:spPr>
        <p:txBody>
          <a:bodyPr wrap="square">
            <a:spAutoFit/>
          </a:bodyPr>
          <a:lstStyle/>
          <a:p>
            <a:r>
              <a:rPr lang="zh-CN" altLang="en-US" sz="2200" b="1" dirty="0">
                <a:solidFill>
                  <a:srgbClr val="0000FF"/>
                </a:solidFill>
                <a:latin typeface="Times New Roman" panose="02020603050405020304" pitchFamily="18" charset="0"/>
                <a:ea typeface="黑体" panose="02010609060101010101" pitchFamily="49" charset="-122"/>
              </a:rPr>
              <a:t>错误率计算途径：</a:t>
            </a:r>
          </a:p>
          <a:p>
            <a:pPr>
              <a:lnSpc>
                <a:spcPct val="120000"/>
              </a:lnSpc>
              <a:spcBef>
                <a:spcPts val="600"/>
              </a:spcBef>
            </a:pPr>
            <a:r>
              <a:rPr lang="zh-CN" altLang="en-US" sz="2200" dirty="0">
                <a:solidFill>
                  <a:schemeClr val="tx1"/>
                </a:solidFill>
                <a:latin typeface="Times New Roman" panose="02020603050405020304" pitchFamily="18" charset="0"/>
                <a:ea typeface="黑体" panose="02010609060101010101" pitchFamily="49" charset="-122"/>
              </a:rPr>
              <a:t>（</a:t>
            </a:r>
            <a:r>
              <a:rPr lang="en-US" altLang="zh-CN" sz="2200" dirty="0">
                <a:solidFill>
                  <a:schemeClr val="tx1"/>
                </a:solidFill>
                <a:latin typeface="Times New Roman" panose="02020603050405020304" pitchFamily="18" charset="0"/>
                <a:ea typeface="黑体" panose="02010609060101010101" pitchFamily="49" charset="-122"/>
              </a:rPr>
              <a:t>1</a:t>
            </a:r>
            <a:r>
              <a:rPr lang="zh-CN" altLang="en-US" sz="2200" dirty="0">
                <a:solidFill>
                  <a:schemeClr val="tx1"/>
                </a:solidFill>
                <a:latin typeface="Times New Roman" panose="02020603050405020304" pitchFamily="18" charset="0"/>
                <a:ea typeface="黑体" panose="02010609060101010101" pitchFamily="49" charset="-122"/>
              </a:rPr>
              <a:t>）理论计算</a:t>
            </a:r>
          </a:p>
          <a:p>
            <a:pPr>
              <a:lnSpc>
                <a:spcPct val="120000"/>
              </a:lnSpc>
            </a:pPr>
            <a:r>
              <a:rPr lang="zh-CN" altLang="en-US" sz="2200" dirty="0">
                <a:solidFill>
                  <a:schemeClr val="tx1"/>
                </a:solidFill>
                <a:latin typeface="Times New Roman" panose="02020603050405020304" pitchFamily="18" charset="0"/>
                <a:ea typeface="黑体" panose="02010609060101010101" pitchFamily="49" charset="-122"/>
              </a:rPr>
              <a:t>（</a:t>
            </a:r>
            <a:r>
              <a:rPr lang="en-US" altLang="zh-CN" sz="2200" dirty="0">
                <a:solidFill>
                  <a:schemeClr val="tx1"/>
                </a:solidFill>
                <a:latin typeface="Times New Roman" panose="02020603050405020304" pitchFamily="18" charset="0"/>
                <a:ea typeface="黑体" panose="02010609060101010101" pitchFamily="49" charset="-122"/>
              </a:rPr>
              <a:t>2</a:t>
            </a:r>
            <a:r>
              <a:rPr lang="zh-CN" altLang="en-US" sz="2200" dirty="0">
                <a:solidFill>
                  <a:schemeClr val="tx1"/>
                </a:solidFill>
                <a:latin typeface="Times New Roman" panose="02020603050405020304" pitchFamily="18" charset="0"/>
                <a:ea typeface="黑体" panose="02010609060101010101" pitchFamily="49" charset="-122"/>
              </a:rPr>
              <a:t>）计算错误率上界</a:t>
            </a:r>
          </a:p>
          <a:p>
            <a:pPr>
              <a:lnSpc>
                <a:spcPct val="120000"/>
              </a:lnSpc>
            </a:pPr>
            <a:r>
              <a:rPr lang="zh-CN" altLang="en-US" sz="2200" dirty="0">
                <a:solidFill>
                  <a:schemeClr val="tx1"/>
                </a:solidFill>
                <a:latin typeface="Times New Roman" panose="02020603050405020304" pitchFamily="18" charset="0"/>
                <a:ea typeface="黑体" panose="02010609060101010101" pitchFamily="49" charset="-122"/>
              </a:rPr>
              <a:t>（</a:t>
            </a:r>
            <a:r>
              <a:rPr lang="en-US" altLang="zh-CN" sz="2200" dirty="0">
                <a:solidFill>
                  <a:schemeClr val="tx1"/>
                </a:solidFill>
                <a:latin typeface="Times New Roman" panose="02020603050405020304" pitchFamily="18" charset="0"/>
                <a:ea typeface="黑体" panose="02010609060101010101" pitchFamily="49" charset="-122"/>
              </a:rPr>
              <a:t>3</a:t>
            </a:r>
            <a:r>
              <a:rPr lang="zh-CN" altLang="en-US" sz="2200" dirty="0">
                <a:solidFill>
                  <a:schemeClr val="tx1"/>
                </a:solidFill>
                <a:latin typeface="Times New Roman" panose="02020603050405020304" pitchFamily="18" charset="0"/>
                <a:ea typeface="黑体" panose="02010609060101010101" pitchFamily="49" charset="-122"/>
              </a:rPr>
              <a:t>）实验估计</a:t>
            </a:r>
          </a:p>
        </p:txBody>
      </p:sp>
      <p:sp>
        <p:nvSpPr>
          <p:cNvPr id="21" name="AutoShape 9"/>
          <p:cNvSpPr>
            <a:spLocks noChangeArrowheads="1"/>
          </p:cNvSpPr>
          <p:nvPr/>
        </p:nvSpPr>
        <p:spPr bwMode="auto">
          <a:xfrm>
            <a:off x="8909720" y="2738648"/>
            <a:ext cx="2946920" cy="1361527"/>
          </a:xfrm>
          <a:prstGeom prst="wedgeRoundRectCallout">
            <a:avLst>
              <a:gd name="adj1" fmla="val -66269"/>
              <a:gd name="adj2" fmla="val -25026"/>
              <a:gd name="adj3" fmla="val 16667"/>
            </a:avLst>
          </a:prstGeom>
          <a:solidFill>
            <a:schemeClr val="accent6">
              <a:lumMod val="20000"/>
              <a:lumOff val="80000"/>
            </a:schemeClr>
          </a:solidFill>
          <a:ln w="12700" cap="sq">
            <a:solidFill>
              <a:schemeClr val="bg2">
                <a:lumMod val="50000"/>
              </a:schemeClr>
            </a:solidFill>
            <a:miter lim="800000"/>
            <a:headEnd type="none" w="sm" len="sm"/>
            <a:tailEnd type="none" w="sm" len="sm"/>
          </a:ln>
          <a:effectLst/>
        </p:spPr>
        <p:txBody>
          <a:bodyPr/>
          <a:lstStyle/>
          <a:p>
            <a:pPr algn="ctr"/>
            <a:r>
              <a:rPr lang="zh-CN" altLang="en-US" dirty="0">
                <a:solidFill>
                  <a:schemeClr val="tx1"/>
                </a:solidFill>
                <a:latin typeface="Times New Roman" panose="02020603050405020304" pitchFamily="18" charset="0"/>
                <a:ea typeface="黑体" panose="02010609060101010101" pitchFamily="49" charset="-122"/>
              </a:rPr>
              <a:t>最小错误率贝叶斯决策可保证决策的错误率在统计意义上是最小的，但分类器性能比较需知道大小？</a:t>
            </a:r>
          </a:p>
          <a:p>
            <a:pPr algn="ctr"/>
            <a:endParaRPr lang="en-US" altLang="zh-CN" dirty="0">
              <a:solidFill>
                <a:schemeClr val="tx1"/>
              </a:solidFill>
              <a:latin typeface="Times New Roman" panose="02020603050405020304" pitchFamily="18" charset="0"/>
              <a:ea typeface="黑体" panose="02010609060101010101" pitchFamily="49" charset="-122"/>
            </a:endParaRPr>
          </a:p>
        </p:txBody>
      </p:sp>
      <p:sp>
        <p:nvSpPr>
          <p:cNvPr id="24" name="AutoShape 9"/>
          <p:cNvSpPr>
            <a:spLocks noChangeArrowheads="1"/>
          </p:cNvSpPr>
          <p:nvPr/>
        </p:nvSpPr>
        <p:spPr bwMode="auto">
          <a:xfrm>
            <a:off x="3614427" y="4285644"/>
            <a:ext cx="5504441" cy="1331242"/>
          </a:xfrm>
          <a:prstGeom prst="wedgeRoundRectCallout">
            <a:avLst>
              <a:gd name="adj1" fmla="val -64986"/>
              <a:gd name="adj2" fmla="val -4927"/>
              <a:gd name="adj3" fmla="val 16667"/>
            </a:avLst>
          </a:prstGeom>
          <a:solidFill>
            <a:srgbClr val="FFCCFF"/>
          </a:solidFill>
          <a:ln w="12700" cap="sq">
            <a:solidFill>
              <a:schemeClr val="bg2">
                <a:lumMod val="50000"/>
              </a:schemeClr>
            </a:solidFill>
            <a:miter lim="800000"/>
            <a:headEnd type="none" w="sm" len="sm"/>
            <a:tailEnd type="none" w="sm" len="sm"/>
          </a:ln>
          <a:effectLst/>
        </p:spPr>
        <p:txBody>
          <a:bodyPr/>
          <a:lstStyle/>
          <a:p>
            <a:pPr marL="0" indent="0">
              <a:lnSpc>
                <a:spcPct val="120000"/>
              </a:lnSpc>
              <a:spcBef>
                <a:spcPts val="1200"/>
              </a:spcBef>
              <a:buNone/>
            </a:pPr>
            <a:r>
              <a:rPr lang="zh-CN" altLang="en-US" kern="0" dirty="0">
                <a:latin typeface="Times New Roman" panose="02020603050405020304" pitchFamily="18" charset="0"/>
                <a:ea typeface="黑体" panose="02010609060101010101" pitchFamily="49" charset="-122"/>
              </a:rPr>
              <a:t>只能在某些特殊情况下才能实现错误率的理论计算：</a:t>
            </a:r>
            <a:endParaRPr lang="en-US" altLang="zh-CN" kern="0" dirty="0">
              <a:latin typeface="Times New Roman" panose="02020603050405020304" pitchFamily="18" charset="0"/>
              <a:ea typeface="黑体" panose="02010609060101010101" pitchFamily="49" charset="-122"/>
            </a:endParaRPr>
          </a:p>
          <a:p>
            <a:pPr marL="285750" indent="-285750">
              <a:lnSpc>
                <a:spcPct val="120000"/>
              </a:lnSpc>
              <a:spcBef>
                <a:spcPts val="1200"/>
              </a:spcBef>
              <a:buFont typeface="Arial" panose="020B0604020202020204" pitchFamily="34" charset="0"/>
              <a:buChar char="•"/>
            </a:pPr>
            <a:r>
              <a:rPr lang="zh-CN" altLang="en-US" kern="0" dirty="0">
                <a:latin typeface="Times New Roman" panose="02020603050405020304" pitchFamily="18" charset="0"/>
                <a:ea typeface="黑体" panose="02010609060101010101" pitchFamily="49" charset="-122"/>
              </a:rPr>
              <a:t>正态分布且等协方差阵（ </a:t>
            </a:r>
            <a:r>
              <a:rPr lang="zh-CN" altLang="en-US" kern="0" dirty="0">
                <a:latin typeface="Times New Roman" panose="02020603050405020304" pitchFamily="18" charset="0"/>
                <a:ea typeface="黑体" panose="02010609060101010101" pitchFamily="49" charset="-122"/>
                <a:sym typeface="Symbol" pitchFamily="18" charset="2"/>
              </a:rPr>
              <a:t></a:t>
            </a:r>
            <a:r>
              <a:rPr lang="en-US" altLang="zh-CN" kern="0" baseline="-25000" dirty="0" err="1">
                <a:latin typeface="Times New Roman" panose="02020603050405020304" pitchFamily="18" charset="0"/>
                <a:ea typeface="黑体" panose="02010609060101010101" pitchFamily="49" charset="-122"/>
                <a:sym typeface="Symbol" pitchFamily="18" charset="2"/>
              </a:rPr>
              <a:t>i</a:t>
            </a:r>
            <a:r>
              <a:rPr lang="en-US" altLang="zh-CN" kern="0" dirty="0">
                <a:latin typeface="Times New Roman" panose="02020603050405020304" pitchFamily="18" charset="0"/>
                <a:ea typeface="黑体" panose="02010609060101010101" pitchFamily="49" charset="-122"/>
                <a:sym typeface="Symbol" pitchFamily="18" charset="2"/>
              </a:rPr>
              <a:t> </a:t>
            </a:r>
            <a:r>
              <a:rPr lang="zh-CN" altLang="en-US" kern="0" dirty="0">
                <a:latin typeface="Times New Roman" panose="02020603050405020304" pitchFamily="18" charset="0"/>
                <a:ea typeface="黑体" panose="02010609060101010101" pitchFamily="49" charset="-122"/>
                <a:sym typeface="Symbol" pitchFamily="18" charset="2"/>
              </a:rPr>
              <a:t>＝ </a:t>
            </a:r>
            <a:r>
              <a:rPr lang="en-US" altLang="zh-CN" kern="0" baseline="-25000" dirty="0">
                <a:latin typeface="Times New Roman" panose="02020603050405020304" pitchFamily="18" charset="0"/>
                <a:ea typeface="黑体" panose="02010609060101010101" pitchFamily="49" charset="-122"/>
                <a:sym typeface="Symbol" pitchFamily="18" charset="2"/>
              </a:rPr>
              <a:t>j</a:t>
            </a:r>
            <a:r>
              <a:rPr lang="en-US" altLang="zh-CN" kern="0" dirty="0">
                <a:latin typeface="Times New Roman" panose="02020603050405020304" pitchFamily="18" charset="0"/>
                <a:ea typeface="黑体" panose="02010609060101010101" pitchFamily="49" charset="-122"/>
                <a:sym typeface="Symbol" pitchFamily="18" charset="2"/>
              </a:rPr>
              <a:t>= )</a:t>
            </a:r>
          </a:p>
          <a:p>
            <a:pPr marL="285750" indent="-285750">
              <a:lnSpc>
                <a:spcPct val="120000"/>
              </a:lnSpc>
              <a:buFont typeface="Arial" panose="020B0604020202020204" pitchFamily="34" charset="0"/>
              <a:buChar char="•"/>
            </a:pPr>
            <a:r>
              <a:rPr lang="zh-CN" altLang="en-US" kern="0" dirty="0">
                <a:latin typeface="Times New Roman" panose="02020603050405020304" pitchFamily="18" charset="0"/>
                <a:ea typeface="黑体" panose="02010609060101010101" pitchFamily="49" charset="-122"/>
                <a:sym typeface="Symbol" pitchFamily="18" charset="2"/>
              </a:rPr>
              <a:t>随机变量各分量独立，且维数足够大 </a:t>
            </a:r>
          </a:p>
        </p:txBody>
      </p:sp>
    </p:spTree>
    <p:extLst>
      <p:ext uri="{BB962C8B-B14F-4D97-AF65-F5344CB8AC3E}">
        <p14:creationId xmlns:p14="http://schemas.microsoft.com/office/powerpoint/2010/main" val="13752426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76</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13.5 </a:t>
            </a:r>
            <a:r>
              <a:rPr lang="zh-CN" altLang="zh-CN" dirty="0"/>
              <a:t>关于分类器的错误率</a:t>
            </a:r>
          </a:p>
        </p:txBody>
      </p:sp>
      <p:sp>
        <p:nvSpPr>
          <p:cNvPr id="12" name="矩形 11"/>
          <p:cNvSpPr/>
          <p:nvPr/>
        </p:nvSpPr>
        <p:spPr>
          <a:xfrm>
            <a:off x="352694" y="1052736"/>
            <a:ext cx="3775393"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正态模式分类的错误率</a:t>
            </a:r>
          </a:p>
        </p:txBody>
      </p:sp>
      <p:sp>
        <p:nvSpPr>
          <p:cNvPr id="14" name="Rectangle 2"/>
          <p:cNvSpPr txBox="1">
            <a:spLocks noChangeArrowheads="1"/>
          </p:cNvSpPr>
          <p:nvPr/>
        </p:nvSpPr>
        <p:spPr bwMode="gray">
          <a:xfrm>
            <a:off x="352694" y="1702231"/>
            <a:ext cx="11503946" cy="50263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Font typeface="Wingdings" pitchFamily="2" charset="2"/>
              <a:buNone/>
            </a:pPr>
            <a:r>
              <a:rPr lang="zh-CN" altLang="en-US" sz="2200" kern="0" dirty="0">
                <a:latin typeface="黑体" pitchFamily="2" charset="-122"/>
                <a:ea typeface="黑体" pitchFamily="2" charset="-122"/>
              </a:rPr>
              <a:t>考虑两类问题，设两类模式为协方差阵相等的多变量正态分布，它们的密度函数分别为</a:t>
            </a:r>
            <a:endParaRPr lang="en-US" altLang="zh-CN" sz="2200" kern="0" dirty="0">
              <a:latin typeface="黑体" pitchFamily="2" charset="-122"/>
              <a:ea typeface="黑体" pitchFamily="2" charset="-122"/>
            </a:endParaRPr>
          </a:p>
        </p:txBody>
      </p:sp>
      <p:graphicFrame>
        <p:nvGraphicFramePr>
          <p:cNvPr id="23" name="Object 4"/>
          <p:cNvGraphicFramePr>
            <a:graphicFrameLocks noChangeAspect="1"/>
          </p:cNvGraphicFramePr>
          <p:nvPr>
            <p:extLst>
              <p:ext uri="{D42A27DB-BD31-4B8C-83A1-F6EECF244321}">
                <p14:modId xmlns:p14="http://schemas.microsoft.com/office/powerpoint/2010/main" val="3898551394"/>
              </p:ext>
            </p:extLst>
          </p:nvPr>
        </p:nvGraphicFramePr>
        <p:xfrm>
          <a:off x="3048000" y="2214563"/>
          <a:ext cx="2344738" cy="503237"/>
        </p:xfrm>
        <a:graphic>
          <a:graphicData uri="http://schemas.openxmlformats.org/presentationml/2006/ole">
            <mc:AlternateContent xmlns:mc="http://schemas.openxmlformats.org/markup-compatibility/2006">
              <mc:Choice xmlns:v="urn:schemas-microsoft-com:vml" Requires="v">
                <p:oleObj spid="_x0000_s80210" name="Equation" r:id="rId4" imgW="1002960" imgH="215640" progId="Equation.DSMT4">
                  <p:embed/>
                </p:oleObj>
              </mc:Choice>
              <mc:Fallback>
                <p:oleObj name="Equation" r:id="rId4" imgW="1002960" imgH="215640" progId="Equation.DSMT4">
                  <p:embed/>
                  <p:pic>
                    <p:nvPicPr>
                      <p:cNvPr id="0" name="Picture 29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2214563"/>
                        <a:ext cx="2344738"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7"/>
          <p:cNvGraphicFramePr>
            <a:graphicFrameLocks noChangeAspect="1"/>
          </p:cNvGraphicFramePr>
          <p:nvPr>
            <p:extLst>
              <p:ext uri="{D42A27DB-BD31-4B8C-83A1-F6EECF244321}">
                <p14:modId xmlns:p14="http://schemas.microsoft.com/office/powerpoint/2010/main" val="3531498633"/>
              </p:ext>
            </p:extLst>
          </p:nvPr>
        </p:nvGraphicFramePr>
        <p:xfrm>
          <a:off x="4727848" y="3964652"/>
          <a:ext cx="4602163" cy="720725"/>
        </p:xfrm>
        <a:graphic>
          <a:graphicData uri="http://schemas.openxmlformats.org/presentationml/2006/ole">
            <mc:AlternateContent xmlns:mc="http://schemas.openxmlformats.org/markup-compatibility/2006">
              <mc:Choice xmlns:v="urn:schemas-microsoft-com:vml" Requires="v">
                <p:oleObj spid="_x0000_s80211" name="Equation" r:id="rId6" imgW="2654300" imgH="342900" progId="Equation.DSMT4">
                  <p:embed/>
                </p:oleObj>
              </mc:Choice>
              <mc:Fallback>
                <p:oleObj name="Equation" r:id="rId6" imgW="2654300" imgH="342900" progId="Equation.DSMT4">
                  <p:embed/>
                  <p:pic>
                    <p:nvPicPr>
                      <p:cNvPr id="0" name="Picture 29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27848" y="3964652"/>
                        <a:ext cx="46021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 name="Object 8"/>
          <p:cNvGraphicFramePr>
            <a:graphicFrameLocks noChangeAspect="1"/>
          </p:cNvGraphicFramePr>
          <p:nvPr>
            <p:extLst>
              <p:ext uri="{D42A27DB-BD31-4B8C-83A1-F6EECF244321}">
                <p14:modId xmlns:p14="http://schemas.microsoft.com/office/powerpoint/2010/main" val="4129713674"/>
              </p:ext>
            </p:extLst>
          </p:nvPr>
        </p:nvGraphicFramePr>
        <p:xfrm>
          <a:off x="4626696" y="4631053"/>
          <a:ext cx="4674739" cy="716278"/>
        </p:xfrm>
        <a:graphic>
          <a:graphicData uri="http://schemas.openxmlformats.org/presentationml/2006/ole">
            <mc:AlternateContent xmlns:mc="http://schemas.openxmlformats.org/markup-compatibility/2006">
              <mc:Choice xmlns:v="urn:schemas-microsoft-com:vml" Requires="v">
                <p:oleObj spid="_x0000_s80212" name="Equation" r:id="rId8" imgW="2324100" imgH="342900" progId="Equation.DSMT4">
                  <p:embed/>
                </p:oleObj>
              </mc:Choice>
              <mc:Fallback>
                <p:oleObj name="Equation" r:id="rId8" imgW="2324100" imgH="342900" progId="Equation.DSMT4">
                  <p:embed/>
                  <p:pic>
                    <p:nvPicPr>
                      <p:cNvPr id="0" name="Picture 30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26696" y="4631053"/>
                        <a:ext cx="4674739" cy="7162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Object 9"/>
          <p:cNvGraphicFramePr>
            <a:graphicFrameLocks noChangeAspect="1"/>
          </p:cNvGraphicFramePr>
          <p:nvPr>
            <p:extLst>
              <p:ext uri="{D42A27DB-BD31-4B8C-83A1-F6EECF244321}">
                <p14:modId xmlns:p14="http://schemas.microsoft.com/office/powerpoint/2010/main" val="2302232116"/>
              </p:ext>
            </p:extLst>
          </p:nvPr>
        </p:nvGraphicFramePr>
        <p:xfrm>
          <a:off x="6018848" y="2215080"/>
          <a:ext cx="2453416" cy="565848"/>
        </p:xfrm>
        <a:graphic>
          <a:graphicData uri="http://schemas.openxmlformats.org/presentationml/2006/ole">
            <mc:AlternateContent xmlns:mc="http://schemas.openxmlformats.org/markup-compatibility/2006">
              <mc:Choice xmlns:v="urn:schemas-microsoft-com:vml" Requires="v">
                <p:oleObj spid="_x0000_s80213" name="Equation" r:id="rId10" imgW="1054100" imgH="241300" progId="Equation.DSMT4">
                  <p:embed/>
                </p:oleObj>
              </mc:Choice>
              <mc:Fallback>
                <p:oleObj name="Equation" r:id="rId10" imgW="1054100" imgH="241300" progId="Equation.DSMT4">
                  <p:embed/>
                  <p:pic>
                    <p:nvPicPr>
                      <p:cNvPr id="0" name="Picture 30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18848" y="2215080"/>
                        <a:ext cx="2453416" cy="5658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7" name="Group 12"/>
          <p:cNvGrpSpPr>
            <a:grpSpLocks/>
          </p:cNvGrpSpPr>
          <p:nvPr/>
        </p:nvGrpSpPr>
        <p:grpSpPr bwMode="auto">
          <a:xfrm>
            <a:off x="407368" y="3501008"/>
            <a:ext cx="7261225" cy="539750"/>
            <a:chOff x="476" y="2478"/>
            <a:chExt cx="4574" cy="340"/>
          </a:xfrm>
        </p:grpSpPr>
        <p:graphicFrame>
          <p:nvGraphicFramePr>
            <p:cNvPr id="28" name="Object 6"/>
            <p:cNvGraphicFramePr>
              <a:graphicFrameLocks noChangeAspect="1"/>
            </p:cNvGraphicFramePr>
            <p:nvPr>
              <p:extLst>
                <p:ext uri="{D42A27DB-BD31-4B8C-83A1-F6EECF244321}">
                  <p14:modId xmlns:p14="http://schemas.microsoft.com/office/powerpoint/2010/main" val="3436061324"/>
                </p:ext>
              </p:extLst>
            </p:nvPr>
          </p:nvGraphicFramePr>
          <p:xfrm>
            <a:off x="2122" y="2489"/>
            <a:ext cx="2928" cy="329"/>
          </p:xfrm>
          <a:graphic>
            <a:graphicData uri="http://schemas.openxmlformats.org/presentationml/2006/ole">
              <mc:AlternateContent xmlns:mc="http://schemas.openxmlformats.org/markup-compatibility/2006">
                <mc:Choice xmlns:v="urn:schemas-microsoft-com:vml" Requires="v">
                  <p:oleObj spid="_x0000_s80214" name="Equation" r:id="rId12" imgW="2146300" imgH="241300" progId="Equation.DSMT4">
                    <p:embed/>
                  </p:oleObj>
                </mc:Choice>
                <mc:Fallback>
                  <p:oleObj name="Equation" r:id="rId12" imgW="2146300" imgH="241300" progId="Equation.DSMT4">
                    <p:embed/>
                    <p:pic>
                      <p:nvPicPr>
                        <p:cNvPr id="0" name="Picture 30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22" y="2489"/>
                          <a:ext cx="2928"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 name="Rectangle 11"/>
            <p:cNvSpPr>
              <a:spLocks noChangeArrowheads="1"/>
            </p:cNvSpPr>
            <p:nvPr/>
          </p:nvSpPr>
          <p:spPr bwMode="auto">
            <a:xfrm>
              <a:off x="476" y="2478"/>
              <a:ext cx="1005" cy="305"/>
            </a:xfrm>
            <a:prstGeom prst="rect">
              <a:avLst/>
            </a:prstGeom>
            <a:noFill/>
            <a:ln w="9525">
              <a:noFill/>
              <a:miter lim="800000"/>
              <a:headEnd/>
              <a:tailEnd/>
            </a:ln>
            <a:effectLst/>
          </p:spPr>
          <p:txBody>
            <a:bodyPr wrap="none">
              <a:spAutoFit/>
            </a:bodyPr>
            <a:lstStyle/>
            <a:p>
              <a:pPr>
                <a:lnSpc>
                  <a:spcPct val="130000"/>
                </a:lnSpc>
                <a:spcBef>
                  <a:spcPct val="20000"/>
                </a:spcBef>
              </a:pPr>
              <a:r>
                <a:rPr lang="zh-CN" altLang="en-US" sz="2200" dirty="0">
                  <a:solidFill>
                    <a:schemeClr val="tx1"/>
                  </a:solidFill>
                  <a:ea typeface="黑体" pitchFamily="2" charset="-122"/>
                </a:rPr>
                <a:t>对数似然比</a:t>
              </a:r>
            </a:p>
          </p:txBody>
        </p:sp>
      </p:grpSp>
      <p:graphicFrame>
        <p:nvGraphicFramePr>
          <p:cNvPr id="30" name="Object 10"/>
          <p:cNvGraphicFramePr>
            <a:graphicFrameLocks noChangeAspect="1"/>
          </p:cNvGraphicFramePr>
          <p:nvPr>
            <p:extLst>
              <p:ext uri="{D42A27DB-BD31-4B8C-83A1-F6EECF244321}">
                <p14:modId xmlns:p14="http://schemas.microsoft.com/office/powerpoint/2010/main" val="1169961834"/>
              </p:ext>
            </p:extLst>
          </p:nvPr>
        </p:nvGraphicFramePr>
        <p:xfrm>
          <a:off x="6908728" y="2757573"/>
          <a:ext cx="5163936" cy="746323"/>
        </p:xfrm>
        <a:graphic>
          <a:graphicData uri="http://schemas.openxmlformats.org/presentationml/2006/ole">
            <mc:AlternateContent xmlns:mc="http://schemas.openxmlformats.org/markup-compatibility/2006">
              <mc:Choice xmlns:v="urn:schemas-microsoft-com:vml" Requires="v">
                <p:oleObj spid="_x0000_s80215" name="Equation" r:id="rId14" imgW="3314700" imgH="469900" progId="Equation.DSMT4">
                  <p:embed/>
                </p:oleObj>
              </mc:Choice>
              <mc:Fallback>
                <p:oleObj name="Equation" r:id="rId14" imgW="3314700" imgH="469900" progId="Equation.DSMT4">
                  <p:embed/>
                  <p:pic>
                    <p:nvPicPr>
                      <p:cNvPr id="0" name="Picture 30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908728" y="2757573"/>
                        <a:ext cx="5163936" cy="746323"/>
                      </a:xfrm>
                      <a:prstGeom prst="rect">
                        <a:avLst/>
                      </a:prstGeom>
                      <a:solidFill>
                        <a:srgbClr val="F8EEE1"/>
                      </a:solidFill>
                    </p:spPr>
                  </p:pic>
                </p:oleObj>
              </mc:Fallback>
            </mc:AlternateContent>
          </a:graphicData>
        </a:graphic>
      </p:graphicFrame>
      <p:grpSp>
        <p:nvGrpSpPr>
          <p:cNvPr id="4" name="组合 3"/>
          <p:cNvGrpSpPr/>
          <p:nvPr/>
        </p:nvGrpSpPr>
        <p:grpSpPr>
          <a:xfrm>
            <a:off x="479376" y="5501216"/>
            <a:ext cx="11421252" cy="539991"/>
            <a:chOff x="479376" y="5501216"/>
            <a:chExt cx="11421252" cy="539991"/>
          </a:xfrm>
        </p:grpSpPr>
        <p:sp>
          <p:nvSpPr>
            <p:cNvPr id="32" name="Rectangle 26"/>
            <p:cNvSpPr>
              <a:spLocks noChangeArrowheads="1"/>
            </p:cNvSpPr>
            <p:nvPr/>
          </p:nvSpPr>
          <p:spPr bwMode="auto">
            <a:xfrm>
              <a:off x="494833" y="5501216"/>
              <a:ext cx="11405795" cy="460511"/>
            </a:xfrm>
            <a:prstGeom prst="rect">
              <a:avLst/>
            </a:prstGeom>
            <a:solidFill>
              <a:schemeClr val="bg2"/>
            </a:solidFill>
            <a:ln w="9525">
              <a:noFill/>
              <a:miter lim="800000"/>
              <a:headEnd/>
              <a:tailEnd/>
            </a:ln>
            <a:effectLst/>
          </p:spPr>
          <p:txBody>
            <a:bodyPr wrap="square" anchor="ctr">
              <a:spAutoFit/>
            </a:bodyPr>
            <a:lstStyle/>
            <a:p>
              <a:pPr>
                <a:lnSpc>
                  <a:spcPct val="120000"/>
                </a:lnSpc>
              </a:pPr>
              <a:r>
                <a:rPr lang="zh-CN" altLang="en-US" sz="2200" dirty="0">
                  <a:solidFill>
                    <a:schemeClr val="tx1"/>
                  </a:solidFill>
                  <a:ea typeface="黑体" panose="02010609060101010101" pitchFamily="49" charset="-122"/>
                  <a:cs typeface="Times New Roman" pitchFamily="18" charset="0"/>
                </a:rPr>
                <a:t>         是    </a:t>
              </a:r>
              <a:r>
                <a:rPr lang="zh-CN" altLang="en-US" sz="2200" dirty="0">
                  <a:solidFill>
                    <a:schemeClr val="tx1"/>
                  </a:solidFill>
                  <a:ea typeface="黑体" panose="02010609060101010101" pitchFamily="49" charset="-122"/>
                </a:rPr>
                <a:t>的线性函数，而    的各分量是正态分布的，故              是正态分布的随机变量。 </a:t>
              </a:r>
            </a:p>
          </p:txBody>
        </p:sp>
        <p:graphicFrame>
          <p:nvGraphicFramePr>
            <p:cNvPr id="33" name="Object 24"/>
            <p:cNvGraphicFramePr>
              <a:graphicFrameLocks noChangeAspect="1"/>
            </p:cNvGraphicFramePr>
            <p:nvPr>
              <p:extLst>
                <p:ext uri="{D42A27DB-BD31-4B8C-83A1-F6EECF244321}">
                  <p14:modId xmlns:p14="http://schemas.microsoft.com/office/powerpoint/2010/main" val="2516927806"/>
                </p:ext>
              </p:extLst>
            </p:nvPr>
          </p:nvGraphicFramePr>
          <p:xfrm>
            <a:off x="479376" y="5544941"/>
            <a:ext cx="720080" cy="496266"/>
          </p:xfrm>
          <a:graphic>
            <a:graphicData uri="http://schemas.openxmlformats.org/presentationml/2006/ole">
              <mc:AlternateContent xmlns:mc="http://schemas.openxmlformats.org/markup-compatibility/2006">
                <mc:Choice xmlns:v="urn:schemas-microsoft-com:vml" Requires="v">
                  <p:oleObj spid="_x0000_s80216" name="Equation" r:id="rId16" imgW="330057" imgH="203112" progId="Equation.DSMT4">
                    <p:embed/>
                  </p:oleObj>
                </mc:Choice>
                <mc:Fallback>
                  <p:oleObj name="Equation" r:id="rId16" imgW="330057" imgH="203112" progId="Equation.DSMT4">
                    <p:embed/>
                    <p:pic>
                      <p:nvPicPr>
                        <p:cNvPr id="0" name="Picture 30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9376" y="5544941"/>
                          <a:ext cx="720080" cy="4962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Object 23"/>
            <p:cNvGraphicFramePr>
              <a:graphicFrameLocks noChangeAspect="1"/>
            </p:cNvGraphicFramePr>
            <p:nvPr>
              <p:extLst>
                <p:ext uri="{D42A27DB-BD31-4B8C-83A1-F6EECF244321}">
                  <p14:modId xmlns:p14="http://schemas.microsoft.com/office/powerpoint/2010/main" val="1531482656"/>
                </p:ext>
              </p:extLst>
            </p:nvPr>
          </p:nvGraphicFramePr>
          <p:xfrm>
            <a:off x="1596168" y="5603311"/>
            <a:ext cx="330000" cy="277812"/>
          </p:xfrm>
          <a:graphic>
            <a:graphicData uri="http://schemas.openxmlformats.org/presentationml/2006/ole">
              <mc:AlternateContent xmlns:mc="http://schemas.openxmlformats.org/markup-compatibility/2006">
                <mc:Choice xmlns:v="urn:schemas-microsoft-com:vml" Requires="v">
                  <p:oleObj spid="_x0000_s80217" name="Equation" r:id="rId18" imgW="114102" imgH="126780" progId="Equation.DSMT4">
                    <p:embed/>
                  </p:oleObj>
                </mc:Choice>
                <mc:Fallback>
                  <p:oleObj name="Equation" r:id="rId18" imgW="114102" imgH="126780" progId="Equation.DSMT4">
                    <p:embed/>
                    <p:pic>
                      <p:nvPicPr>
                        <p:cNvPr id="0" name="Picture 30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96168" y="5603311"/>
                          <a:ext cx="330000" cy="277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Object 22"/>
            <p:cNvGraphicFramePr>
              <a:graphicFrameLocks noChangeAspect="1"/>
            </p:cNvGraphicFramePr>
            <p:nvPr>
              <p:extLst>
                <p:ext uri="{D42A27DB-BD31-4B8C-83A1-F6EECF244321}">
                  <p14:modId xmlns:p14="http://schemas.microsoft.com/office/powerpoint/2010/main" val="4245145528"/>
                </p:ext>
              </p:extLst>
            </p:nvPr>
          </p:nvGraphicFramePr>
          <p:xfrm>
            <a:off x="3825834" y="5621141"/>
            <a:ext cx="332185" cy="277812"/>
          </p:xfrm>
          <a:graphic>
            <a:graphicData uri="http://schemas.openxmlformats.org/presentationml/2006/ole">
              <mc:AlternateContent xmlns:mc="http://schemas.openxmlformats.org/markup-compatibility/2006">
                <mc:Choice xmlns:v="urn:schemas-microsoft-com:vml" Requires="v">
                  <p:oleObj spid="_x0000_s80218" name="Equation" r:id="rId20" imgW="114102" imgH="126780" progId="Equation.DSMT4">
                    <p:embed/>
                  </p:oleObj>
                </mc:Choice>
                <mc:Fallback>
                  <p:oleObj name="Equation" r:id="rId20" imgW="114102" imgH="126780" progId="Equation.DSMT4">
                    <p:embed/>
                    <p:pic>
                      <p:nvPicPr>
                        <p:cNvPr id="0" name="Picture 30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825834" y="5621141"/>
                          <a:ext cx="332185" cy="277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Object 21"/>
            <p:cNvGraphicFramePr>
              <a:graphicFrameLocks noChangeAspect="1"/>
            </p:cNvGraphicFramePr>
            <p:nvPr>
              <p:extLst>
                <p:ext uri="{D42A27DB-BD31-4B8C-83A1-F6EECF244321}">
                  <p14:modId xmlns:p14="http://schemas.microsoft.com/office/powerpoint/2010/main" val="3281046155"/>
                </p:ext>
              </p:extLst>
            </p:nvPr>
          </p:nvGraphicFramePr>
          <p:xfrm>
            <a:off x="7600893" y="5518239"/>
            <a:ext cx="856860" cy="483615"/>
          </p:xfrm>
          <a:graphic>
            <a:graphicData uri="http://schemas.openxmlformats.org/presentationml/2006/ole">
              <mc:AlternateContent xmlns:mc="http://schemas.openxmlformats.org/markup-compatibility/2006">
                <mc:Choice xmlns:v="urn:schemas-microsoft-com:vml" Requires="v">
                  <p:oleObj spid="_x0000_s80219" name="Equation" r:id="rId22" imgW="330057" imgH="203112" progId="Equation.DSMT4">
                    <p:embed/>
                  </p:oleObj>
                </mc:Choice>
                <mc:Fallback>
                  <p:oleObj name="Equation" r:id="rId22" imgW="330057" imgH="203112" progId="Equation.DSMT4">
                    <p:embed/>
                    <p:pic>
                      <p:nvPicPr>
                        <p:cNvPr id="0" name="Picture 30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600893" y="5518239"/>
                          <a:ext cx="856860" cy="4836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122414875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104112" y="4797152"/>
            <a:ext cx="1723456" cy="385090"/>
          </a:xfrm>
          <a:prstGeom prst="rect">
            <a:avLst/>
          </a:prstGeom>
          <a:solidFill>
            <a:schemeClr val="accent6">
              <a:lumMod val="20000"/>
              <a:lumOff val="80000"/>
            </a:schemeClr>
          </a:solidFill>
        </p:spPr>
        <p:txBody>
          <a:bodyPr wrap="none" rtlCol="0" anchor="ctr">
            <a:spAutoFit/>
          </a:bodyPr>
          <a:lstStyle/>
          <a:p>
            <a:pPr algn="ctr"/>
            <a:endParaRPr lang="zh-CN" altLang="en-US" sz="2400" kern="100" dirty="0">
              <a:ea typeface="宋体"/>
              <a:cs typeface="Times New Roman"/>
            </a:endParaRPr>
          </a:p>
        </p:txBody>
      </p:sp>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77</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13.5 </a:t>
            </a:r>
            <a:r>
              <a:rPr lang="zh-CN" altLang="zh-CN" dirty="0"/>
              <a:t>关于分类器的错误率</a:t>
            </a:r>
          </a:p>
        </p:txBody>
      </p:sp>
      <p:sp>
        <p:nvSpPr>
          <p:cNvPr id="12" name="矩形 11"/>
          <p:cNvSpPr/>
          <p:nvPr/>
        </p:nvSpPr>
        <p:spPr>
          <a:xfrm>
            <a:off x="352694" y="1052736"/>
            <a:ext cx="3775393"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正态模式分类的错误率</a:t>
            </a:r>
          </a:p>
        </p:txBody>
      </p:sp>
      <p:graphicFrame>
        <p:nvGraphicFramePr>
          <p:cNvPr id="22" name="Object 4"/>
          <p:cNvGraphicFramePr>
            <a:graphicFrameLocks noChangeAspect="1"/>
          </p:cNvGraphicFramePr>
          <p:nvPr>
            <p:extLst>
              <p:ext uri="{D42A27DB-BD31-4B8C-83A1-F6EECF244321}">
                <p14:modId xmlns:p14="http://schemas.microsoft.com/office/powerpoint/2010/main" val="195029547"/>
              </p:ext>
            </p:extLst>
          </p:nvPr>
        </p:nvGraphicFramePr>
        <p:xfrm>
          <a:off x="1913830" y="2782008"/>
          <a:ext cx="8485342" cy="718285"/>
        </p:xfrm>
        <a:graphic>
          <a:graphicData uri="http://schemas.openxmlformats.org/presentationml/2006/ole">
            <mc:AlternateContent xmlns:mc="http://schemas.openxmlformats.org/markup-compatibility/2006">
              <mc:Choice xmlns:v="urn:schemas-microsoft-com:vml" Requires="v">
                <p:oleObj spid="_x0000_s81122" name="Equation" r:id="rId4" imgW="4038600" imgH="342900" progId="Equation.DSMT4">
                  <p:embed/>
                </p:oleObj>
              </mc:Choice>
              <mc:Fallback>
                <p:oleObj name="Equation" r:id="rId4" imgW="4038600" imgH="342900" progId="Equation.DSMT4">
                  <p:embed/>
                  <p:pic>
                    <p:nvPicPr>
                      <p:cNvPr id="0" name="Picture 19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3830" y="2782008"/>
                        <a:ext cx="8485342" cy="7182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Object 6"/>
          <p:cNvGraphicFramePr>
            <a:graphicFrameLocks noChangeAspect="1"/>
          </p:cNvGraphicFramePr>
          <p:nvPr>
            <p:extLst>
              <p:ext uri="{D42A27DB-BD31-4B8C-83A1-F6EECF244321}">
                <p14:modId xmlns:p14="http://schemas.microsoft.com/office/powerpoint/2010/main" val="2743256631"/>
              </p:ext>
            </p:extLst>
          </p:nvPr>
        </p:nvGraphicFramePr>
        <p:xfrm>
          <a:off x="5493444" y="3386136"/>
          <a:ext cx="2341882" cy="751669"/>
        </p:xfrm>
        <a:graphic>
          <a:graphicData uri="http://schemas.openxmlformats.org/presentationml/2006/ole">
            <mc:AlternateContent xmlns:mc="http://schemas.openxmlformats.org/markup-compatibility/2006">
              <mc:Choice xmlns:v="urn:schemas-microsoft-com:vml" Requires="v">
                <p:oleObj spid="_x0000_s81123" name="Equation" r:id="rId6" imgW="1066800" imgH="342900" progId="Equation.DSMT4">
                  <p:embed/>
                </p:oleObj>
              </mc:Choice>
              <mc:Fallback>
                <p:oleObj name="Equation" r:id="rId6" imgW="1066800" imgH="342900" progId="Equation.DSMT4">
                  <p:embed/>
                  <p:pic>
                    <p:nvPicPr>
                      <p:cNvPr id="0" name="Picture 19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93444" y="3386136"/>
                        <a:ext cx="2341882" cy="7516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Object 5"/>
          <p:cNvGraphicFramePr>
            <a:graphicFrameLocks noChangeAspect="1"/>
          </p:cNvGraphicFramePr>
          <p:nvPr>
            <p:extLst>
              <p:ext uri="{D42A27DB-BD31-4B8C-83A1-F6EECF244321}">
                <p14:modId xmlns:p14="http://schemas.microsoft.com/office/powerpoint/2010/main" val="2873399199"/>
              </p:ext>
            </p:extLst>
          </p:nvPr>
        </p:nvGraphicFramePr>
        <p:xfrm>
          <a:off x="1941190" y="3528466"/>
          <a:ext cx="2886026" cy="497865"/>
        </p:xfrm>
        <a:graphic>
          <a:graphicData uri="http://schemas.openxmlformats.org/presentationml/2006/ole">
            <mc:AlternateContent xmlns:mc="http://schemas.openxmlformats.org/markup-compatibility/2006">
              <mc:Choice xmlns:v="urn:schemas-microsoft-com:vml" Requires="v">
                <p:oleObj spid="_x0000_s81124" name="Equation" r:id="rId8" imgW="1447172" imgH="215806" progId="Equation.DSMT4">
                  <p:embed/>
                </p:oleObj>
              </mc:Choice>
              <mc:Fallback>
                <p:oleObj name="Equation" r:id="rId8" imgW="1447172" imgH="215806" progId="Equation.DSMT4">
                  <p:embed/>
                  <p:pic>
                    <p:nvPicPr>
                      <p:cNvPr id="0" name="Picture 20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41190" y="3528466"/>
                        <a:ext cx="2886026" cy="4978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 name="Text Box 13"/>
          <p:cNvSpPr txBox="1">
            <a:spLocks noChangeArrowheads="1"/>
          </p:cNvSpPr>
          <p:nvPr/>
        </p:nvSpPr>
        <p:spPr bwMode="auto">
          <a:xfrm>
            <a:off x="1159590" y="3570488"/>
            <a:ext cx="565420" cy="430887"/>
          </a:xfrm>
          <a:prstGeom prst="rect">
            <a:avLst/>
          </a:prstGeom>
          <a:noFill/>
          <a:ln w="9525">
            <a:noFill/>
            <a:miter lim="800000"/>
            <a:headEnd/>
            <a:tailEnd/>
          </a:ln>
          <a:effectLst/>
        </p:spPr>
        <p:txBody>
          <a:bodyPr>
            <a:spAutoFit/>
          </a:bodyPr>
          <a:lstStyle/>
          <a:p>
            <a:pPr>
              <a:spcBef>
                <a:spcPct val="50000"/>
              </a:spcBef>
            </a:pPr>
            <a:r>
              <a:rPr lang="zh-CN" altLang="en-US" sz="2200" dirty="0">
                <a:solidFill>
                  <a:schemeClr val="tx1"/>
                </a:solidFill>
                <a:latin typeface="黑体" panose="02010609060101010101" pitchFamily="49" charset="-122"/>
                <a:ea typeface="黑体" panose="02010609060101010101" pitchFamily="49" charset="-122"/>
              </a:rPr>
              <a:t>令</a:t>
            </a:r>
          </a:p>
        </p:txBody>
      </p:sp>
      <p:sp>
        <p:nvSpPr>
          <p:cNvPr id="39" name="Rectangle 25"/>
          <p:cNvSpPr>
            <a:spLocks noChangeArrowheads="1"/>
          </p:cNvSpPr>
          <p:nvPr/>
        </p:nvSpPr>
        <p:spPr bwMode="auto">
          <a:xfrm>
            <a:off x="199382" y="4081890"/>
            <a:ext cx="9144000"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40" name="Object 33"/>
          <p:cNvGraphicFramePr>
            <a:graphicFrameLocks noChangeAspect="1"/>
          </p:cNvGraphicFramePr>
          <p:nvPr>
            <p:extLst>
              <p:ext uri="{D42A27DB-BD31-4B8C-83A1-F6EECF244321}">
                <p14:modId xmlns:p14="http://schemas.microsoft.com/office/powerpoint/2010/main" val="61377418"/>
              </p:ext>
            </p:extLst>
          </p:nvPr>
        </p:nvGraphicFramePr>
        <p:xfrm>
          <a:off x="3215680" y="1605358"/>
          <a:ext cx="5611888" cy="749722"/>
        </p:xfrm>
        <a:graphic>
          <a:graphicData uri="http://schemas.openxmlformats.org/presentationml/2006/ole">
            <mc:AlternateContent xmlns:mc="http://schemas.openxmlformats.org/markup-compatibility/2006">
              <mc:Choice xmlns:v="urn:schemas-microsoft-com:vml" Requires="v">
                <p:oleObj spid="_x0000_s81125" name="Equation" r:id="rId10" imgW="2565400" imgH="342900" progId="Equation.DSMT4">
                  <p:embed/>
                </p:oleObj>
              </mc:Choice>
              <mc:Fallback>
                <p:oleObj name="Equation" r:id="rId10" imgW="2565400" imgH="342900" progId="Equation.DSMT4">
                  <p:embed/>
                  <p:pic>
                    <p:nvPicPr>
                      <p:cNvPr id="0" name="Picture 20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15680" y="1605358"/>
                        <a:ext cx="5611888" cy="749722"/>
                      </a:xfrm>
                      <a:prstGeom prst="rect">
                        <a:avLst/>
                      </a:prstGeom>
                      <a:noFill/>
                      <a:ln w="31750">
                        <a:solidFill>
                          <a:srgbClr val="FF3399"/>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 name="矩形 40"/>
          <p:cNvSpPr/>
          <p:nvPr/>
        </p:nvSpPr>
        <p:spPr>
          <a:xfrm>
            <a:off x="407368" y="2363168"/>
            <a:ext cx="748923" cy="430887"/>
          </a:xfrm>
          <a:prstGeom prst="rect">
            <a:avLst/>
          </a:prstGeom>
        </p:spPr>
        <p:txBody>
          <a:bodyPr wrap="none">
            <a:spAutoFit/>
          </a:bodyPr>
          <a:lstStyle/>
          <a:p>
            <a:r>
              <a:rPr lang="zh-CN" altLang="en-US" sz="2200" dirty="0">
                <a:latin typeface="黑体" panose="02010609060101010101" pitchFamily="49" charset="-122"/>
                <a:ea typeface="黑体" panose="02010609060101010101" pitchFamily="49" charset="-122"/>
              </a:rPr>
              <a:t>如果</a:t>
            </a:r>
          </a:p>
        </p:txBody>
      </p:sp>
      <p:graphicFrame>
        <p:nvGraphicFramePr>
          <p:cNvPr id="42" name="Object 11"/>
          <p:cNvGraphicFramePr>
            <a:graphicFrameLocks noChangeAspect="1"/>
          </p:cNvGraphicFramePr>
          <p:nvPr>
            <p:extLst>
              <p:ext uri="{D42A27DB-BD31-4B8C-83A1-F6EECF244321}">
                <p14:modId xmlns:p14="http://schemas.microsoft.com/office/powerpoint/2010/main" val="4067312784"/>
              </p:ext>
            </p:extLst>
          </p:nvPr>
        </p:nvGraphicFramePr>
        <p:xfrm>
          <a:off x="1105865" y="2370660"/>
          <a:ext cx="2851477" cy="506205"/>
        </p:xfrm>
        <a:graphic>
          <a:graphicData uri="http://schemas.openxmlformats.org/presentationml/2006/ole">
            <mc:AlternateContent xmlns:mc="http://schemas.openxmlformats.org/markup-compatibility/2006">
              <mc:Choice xmlns:v="urn:schemas-microsoft-com:vml" Requires="v">
                <p:oleObj spid="_x0000_s81126" name="Equation" r:id="rId12" imgW="1269449" imgH="215806" progId="Equation.DSMT4">
                  <p:embed/>
                </p:oleObj>
              </mc:Choice>
              <mc:Fallback>
                <p:oleObj name="Equation" r:id="rId12" imgW="1269449" imgH="215806" progId="Equation.DSMT4">
                  <p:embed/>
                  <p:pic>
                    <p:nvPicPr>
                      <p:cNvPr id="0" name="Picture 20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05865" y="2370660"/>
                        <a:ext cx="2851477" cy="5062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 name="Object 7"/>
          <p:cNvGraphicFramePr>
            <a:graphicFrameLocks noChangeAspect="1"/>
          </p:cNvGraphicFramePr>
          <p:nvPr>
            <p:extLst>
              <p:ext uri="{D42A27DB-BD31-4B8C-83A1-F6EECF244321}">
                <p14:modId xmlns:p14="http://schemas.microsoft.com/office/powerpoint/2010/main" val="3462853135"/>
              </p:ext>
            </p:extLst>
          </p:nvPr>
        </p:nvGraphicFramePr>
        <p:xfrm>
          <a:off x="1835386" y="4193364"/>
          <a:ext cx="8563786" cy="1977757"/>
        </p:xfrm>
        <a:graphic>
          <a:graphicData uri="http://schemas.openxmlformats.org/presentationml/2006/ole">
            <mc:AlternateContent xmlns:mc="http://schemas.openxmlformats.org/markup-compatibility/2006">
              <mc:Choice xmlns:v="urn:schemas-microsoft-com:vml" Requires="v">
                <p:oleObj spid="_x0000_s81127" name="Equation" r:id="rId14" imgW="4089240" imgH="952200" progId="Equation.DSMT4">
                  <p:embed/>
                </p:oleObj>
              </mc:Choice>
              <mc:Fallback>
                <p:oleObj name="Equation" r:id="rId14" imgW="4089240" imgH="952200" progId="Equation.DSMT4">
                  <p:embed/>
                  <p:pic>
                    <p:nvPicPr>
                      <p:cNvPr id="0" name="Picture 20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35386" y="4193364"/>
                        <a:ext cx="8563786" cy="19777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4" name="Group 20"/>
          <p:cNvGrpSpPr>
            <a:grpSpLocks/>
          </p:cNvGrpSpPr>
          <p:nvPr/>
        </p:nvGrpSpPr>
        <p:grpSpPr bwMode="auto">
          <a:xfrm>
            <a:off x="7104112" y="5215652"/>
            <a:ext cx="3151187" cy="790575"/>
            <a:chOff x="2517" y="3113"/>
            <a:chExt cx="1985" cy="498"/>
          </a:xfrm>
        </p:grpSpPr>
        <p:graphicFrame>
          <p:nvGraphicFramePr>
            <p:cNvPr id="45" name="Object 16"/>
            <p:cNvGraphicFramePr>
              <a:graphicFrameLocks noChangeAspect="1"/>
            </p:cNvGraphicFramePr>
            <p:nvPr/>
          </p:nvGraphicFramePr>
          <p:xfrm>
            <a:off x="4332" y="3430"/>
            <a:ext cx="170" cy="181"/>
          </p:xfrm>
          <a:graphic>
            <a:graphicData uri="http://schemas.openxmlformats.org/presentationml/2006/ole">
              <mc:AlternateContent xmlns:mc="http://schemas.openxmlformats.org/markup-compatibility/2006">
                <mc:Choice xmlns:v="urn:schemas-microsoft-com:vml" Requires="v">
                  <p:oleObj spid="_x0000_s81128" name="公式" r:id="rId16" imgW="139639" imgH="152334" progId="Equation.3">
                    <p:embed/>
                  </p:oleObj>
                </mc:Choice>
                <mc:Fallback>
                  <p:oleObj name="公式" r:id="rId16" imgW="139639" imgH="152334" progId="Equation.3">
                    <p:embed/>
                    <p:pic>
                      <p:nvPicPr>
                        <p:cNvPr id="0" name="Picture 20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332" y="3430"/>
                          <a:ext cx="170" cy="1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 name="Line 18"/>
            <p:cNvSpPr>
              <a:spLocks noChangeShapeType="1"/>
            </p:cNvSpPr>
            <p:nvPr/>
          </p:nvSpPr>
          <p:spPr bwMode="auto">
            <a:xfrm>
              <a:off x="2517" y="3113"/>
              <a:ext cx="1089" cy="0"/>
            </a:xfrm>
            <a:prstGeom prst="line">
              <a:avLst/>
            </a:prstGeom>
            <a:noFill/>
            <a:ln w="9525">
              <a:solidFill>
                <a:schemeClr val="tx1"/>
              </a:solidFill>
              <a:round/>
              <a:headEnd/>
              <a:tailEnd/>
            </a:ln>
            <a:effectLst/>
          </p:spPr>
          <p:txBody>
            <a:bodyPr/>
            <a:lstStyle/>
            <a:p>
              <a:endParaRPr lang="zh-CN" altLang="en-US"/>
            </a:p>
          </p:txBody>
        </p:sp>
        <p:sp>
          <p:nvSpPr>
            <p:cNvPr id="47" name="Line 19"/>
            <p:cNvSpPr>
              <a:spLocks noChangeShapeType="1"/>
            </p:cNvSpPr>
            <p:nvPr/>
          </p:nvSpPr>
          <p:spPr bwMode="auto">
            <a:xfrm>
              <a:off x="3288" y="3113"/>
              <a:ext cx="1044" cy="391"/>
            </a:xfrm>
            <a:prstGeom prst="line">
              <a:avLst/>
            </a:prstGeom>
            <a:noFill/>
            <a:ln w="9525">
              <a:solidFill>
                <a:schemeClr val="tx1"/>
              </a:solidFill>
              <a:round/>
              <a:headEnd type="triangle" w="med" len="med"/>
              <a:tailEnd/>
            </a:ln>
            <a:effectLst/>
          </p:spPr>
          <p:txBody>
            <a:bodyPr/>
            <a:lstStyle/>
            <a:p>
              <a:endParaRPr lang="zh-CN" altLang="en-US"/>
            </a:p>
          </p:txBody>
        </p:sp>
      </p:grpSp>
    </p:spTree>
    <p:extLst>
      <p:ext uri="{BB962C8B-B14F-4D97-AF65-F5344CB8AC3E}">
        <p14:creationId xmlns:p14="http://schemas.microsoft.com/office/powerpoint/2010/main" val="365827627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78</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13.5 </a:t>
            </a:r>
            <a:r>
              <a:rPr lang="zh-CN" altLang="zh-CN" dirty="0"/>
              <a:t>关于分类器的错误率</a:t>
            </a:r>
          </a:p>
        </p:txBody>
      </p:sp>
      <p:sp>
        <p:nvSpPr>
          <p:cNvPr id="12" name="矩形 11"/>
          <p:cNvSpPr/>
          <p:nvPr/>
        </p:nvSpPr>
        <p:spPr>
          <a:xfrm>
            <a:off x="352694" y="1052736"/>
            <a:ext cx="3775393"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正态模式分类的错误率</a:t>
            </a:r>
          </a:p>
        </p:txBody>
      </p:sp>
      <p:graphicFrame>
        <p:nvGraphicFramePr>
          <p:cNvPr id="40" name="Object 33"/>
          <p:cNvGraphicFramePr>
            <a:graphicFrameLocks noChangeAspect="1"/>
          </p:cNvGraphicFramePr>
          <p:nvPr>
            <p:extLst>
              <p:ext uri="{D42A27DB-BD31-4B8C-83A1-F6EECF244321}">
                <p14:modId xmlns:p14="http://schemas.microsoft.com/office/powerpoint/2010/main" val="3619867528"/>
              </p:ext>
            </p:extLst>
          </p:nvPr>
        </p:nvGraphicFramePr>
        <p:xfrm>
          <a:off x="352694" y="1524081"/>
          <a:ext cx="5611888" cy="749722"/>
        </p:xfrm>
        <a:graphic>
          <a:graphicData uri="http://schemas.openxmlformats.org/presentationml/2006/ole">
            <mc:AlternateContent xmlns:mc="http://schemas.openxmlformats.org/markup-compatibility/2006">
              <mc:Choice xmlns:v="urn:schemas-microsoft-com:vml" Requires="v">
                <p:oleObj spid="_x0000_s82210" name="Equation" r:id="rId4" imgW="2565400" imgH="342900" progId="Equation.DSMT4">
                  <p:embed/>
                </p:oleObj>
              </mc:Choice>
              <mc:Fallback>
                <p:oleObj name="Equation" r:id="rId4" imgW="2565400" imgH="342900" progId="Equation.DSMT4">
                  <p:embed/>
                  <p:pic>
                    <p:nvPicPr>
                      <p:cNvPr id="0" name="Picture 25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2694" y="1524081"/>
                        <a:ext cx="5611888" cy="749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oleObj>
              </mc:Fallback>
            </mc:AlternateContent>
          </a:graphicData>
        </a:graphic>
      </p:graphicFrame>
      <p:graphicFrame>
        <p:nvGraphicFramePr>
          <p:cNvPr id="21" name="Object 13"/>
          <p:cNvGraphicFramePr>
            <a:graphicFrameLocks noChangeAspect="1"/>
          </p:cNvGraphicFramePr>
          <p:nvPr>
            <p:extLst>
              <p:ext uri="{D42A27DB-BD31-4B8C-83A1-F6EECF244321}">
                <p14:modId xmlns:p14="http://schemas.microsoft.com/office/powerpoint/2010/main" val="2334743351"/>
              </p:ext>
            </p:extLst>
          </p:nvPr>
        </p:nvGraphicFramePr>
        <p:xfrm>
          <a:off x="407368" y="2243375"/>
          <a:ext cx="1875515" cy="636335"/>
        </p:xfrm>
        <a:graphic>
          <a:graphicData uri="http://schemas.openxmlformats.org/presentationml/2006/ole">
            <mc:AlternateContent xmlns:mc="http://schemas.openxmlformats.org/markup-compatibility/2006">
              <mc:Choice xmlns:v="urn:schemas-microsoft-com:vml" Requires="v">
                <p:oleObj spid="_x0000_s82211" name="Equation" r:id="rId6" imgW="1155700" imgH="393700" progId="Equation.DSMT4">
                  <p:embed/>
                </p:oleObj>
              </mc:Choice>
              <mc:Fallback>
                <p:oleObj name="Equation" r:id="rId6" imgW="1155700" imgH="393700" progId="Equation.DSMT4">
                  <p:embed/>
                  <p:pic>
                    <p:nvPicPr>
                      <p:cNvPr id="0" name="Picture 25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7368" y="2243375"/>
                        <a:ext cx="1875515" cy="636335"/>
                      </a:xfrm>
                      <a:prstGeom prst="rect">
                        <a:avLst/>
                      </a:prstGeom>
                      <a:solidFill>
                        <a:srgbClr val="F8EEE1"/>
                      </a:solidFill>
                    </p:spPr>
                  </p:pic>
                </p:oleObj>
              </mc:Fallback>
            </mc:AlternateContent>
          </a:graphicData>
        </a:graphic>
      </p:graphicFrame>
      <p:graphicFrame>
        <p:nvGraphicFramePr>
          <p:cNvPr id="23" name="Object 14"/>
          <p:cNvGraphicFramePr>
            <a:graphicFrameLocks noChangeAspect="1"/>
          </p:cNvGraphicFramePr>
          <p:nvPr>
            <p:extLst>
              <p:ext uri="{D42A27DB-BD31-4B8C-83A1-F6EECF244321}">
                <p14:modId xmlns:p14="http://schemas.microsoft.com/office/powerpoint/2010/main" val="778760884"/>
              </p:ext>
            </p:extLst>
          </p:nvPr>
        </p:nvGraphicFramePr>
        <p:xfrm>
          <a:off x="2949665" y="2314814"/>
          <a:ext cx="3607163" cy="565170"/>
        </p:xfrm>
        <a:graphic>
          <a:graphicData uri="http://schemas.openxmlformats.org/presentationml/2006/ole">
            <mc:AlternateContent xmlns:mc="http://schemas.openxmlformats.org/markup-compatibility/2006">
              <mc:Choice xmlns:v="urn:schemas-microsoft-com:vml" Requires="v">
                <p:oleObj spid="_x0000_s82212" name="Equation" r:id="rId8" imgW="1688367" imgH="266584" progId="Equation.DSMT4">
                  <p:embed/>
                </p:oleObj>
              </mc:Choice>
              <mc:Fallback>
                <p:oleObj name="Equation" r:id="rId8" imgW="1688367" imgH="266584" progId="Equation.DSMT4">
                  <p:embed/>
                  <p:pic>
                    <p:nvPicPr>
                      <p:cNvPr id="0" name="Picture 25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49665" y="2314814"/>
                        <a:ext cx="3607163" cy="565170"/>
                      </a:xfrm>
                      <a:prstGeom prst="rect">
                        <a:avLst/>
                      </a:prstGeom>
                      <a:solidFill>
                        <a:srgbClr val="F8EEE1"/>
                      </a:solidFill>
                    </p:spPr>
                  </p:pic>
                </p:oleObj>
              </mc:Fallback>
            </mc:AlternateContent>
          </a:graphicData>
        </a:graphic>
      </p:graphicFrame>
      <p:graphicFrame>
        <p:nvGraphicFramePr>
          <p:cNvPr id="24" name="Object 16"/>
          <p:cNvGraphicFramePr>
            <a:graphicFrameLocks noChangeAspect="1"/>
          </p:cNvGraphicFramePr>
          <p:nvPr>
            <p:extLst>
              <p:ext uri="{D42A27DB-BD31-4B8C-83A1-F6EECF244321}">
                <p14:modId xmlns:p14="http://schemas.microsoft.com/office/powerpoint/2010/main" val="1719787894"/>
              </p:ext>
            </p:extLst>
          </p:nvPr>
        </p:nvGraphicFramePr>
        <p:xfrm>
          <a:off x="345079" y="3717211"/>
          <a:ext cx="2861463" cy="796363"/>
        </p:xfrm>
        <a:graphic>
          <a:graphicData uri="http://schemas.openxmlformats.org/presentationml/2006/ole">
            <mc:AlternateContent xmlns:mc="http://schemas.openxmlformats.org/markup-compatibility/2006">
              <mc:Choice xmlns:v="urn:schemas-microsoft-com:vml" Requires="v">
                <p:oleObj spid="_x0000_s82213" name="Equation" r:id="rId10" imgW="1320800" imgH="368300" progId="Equation.DSMT4">
                  <p:embed/>
                </p:oleObj>
              </mc:Choice>
              <mc:Fallback>
                <p:oleObj name="Equation" r:id="rId10" imgW="1320800" imgH="368300" progId="Equation.DSMT4">
                  <p:embed/>
                  <p:pic>
                    <p:nvPicPr>
                      <p:cNvPr id="0" name="Picture 25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5079" y="3717211"/>
                        <a:ext cx="2861463" cy="796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17"/>
          <p:cNvGraphicFramePr>
            <a:graphicFrameLocks noChangeAspect="1"/>
          </p:cNvGraphicFramePr>
          <p:nvPr>
            <p:extLst>
              <p:ext uri="{D42A27DB-BD31-4B8C-83A1-F6EECF244321}">
                <p14:modId xmlns:p14="http://schemas.microsoft.com/office/powerpoint/2010/main" val="3378662361"/>
              </p:ext>
            </p:extLst>
          </p:nvPr>
        </p:nvGraphicFramePr>
        <p:xfrm>
          <a:off x="357158" y="3149525"/>
          <a:ext cx="1214446" cy="472202"/>
        </p:xfrm>
        <a:graphic>
          <a:graphicData uri="http://schemas.openxmlformats.org/presentationml/2006/ole">
            <mc:AlternateContent xmlns:mc="http://schemas.openxmlformats.org/markup-compatibility/2006">
              <mc:Choice xmlns:v="urn:schemas-microsoft-com:vml" Requires="v">
                <p:oleObj spid="_x0000_s82214" name="Equation" r:id="rId12" imgW="520474" imgH="203112" progId="Equation.DSMT4">
                  <p:embed/>
                </p:oleObj>
              </mc:Choice>
              <mc:Fallback>
                <p:oleObj name="Equation" r:id="rId12" imgW="520474" imgH="203112" progId="Equation.DSMT4">
                  <p:embed/>
                  <p:pic>
                    <p:nvPicPr>
                      <p:cNvPr id="0" name="Picture 25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7158" y="3149525"/>
                        <a:ext cx="1214446" cy="4722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Rectangle 26"/>
          <p:cNvSpPr>
            <a:spLocks noChangeArrowheads="1"/>
          </p:cNvSpPr>
          <p:nvPr/>
        </p:nvSpPr>
        <p:spPr bwMode="auto">
          <a:xfrm>
            <a:off x="1571604" y="3142129"/>
            <a:ext cx="7000924" cy="430887"/>
          </a:xfrm>
          <a:prstGeom prst="rect">
            <a:avLst/>
          </a:prstGeom>
          <a:noFill/>
          <a:ln w="9525">
            <a:noFill/>
            <a:miter lim="800000"/>
            <a:headEnd/>
            <a:tailEnd/>
          </a:ln>
          <a:effectLst/>
        </p:spPr>
        <p:txBody>
          <a:bodyPr wrap="square" anchor="ctr">
            <a:spAutoFit/>
          </a:bodyPr>
          <a:lstStyle/>
          <a:p>
            <a:r>
              <a:rPr lang="zh-CN" altLang="en-US" sz="2200" dirty="0">
                <a:solidFill>
                  <a:schemeClr val="tx1"/>
                </a:solidFill>
                <a:latin typeface="Times New Roman" panose="02020603050405020304" pitchFamily="18" charset="0"/>
                <a:ea typeface="黑体" panose="02010609060101010101" pitchFamily="49" charset="-122"/>
                <a:cs typeface="Times New Roman" pitchFamily="18" charset="0"/>
              </a:rPr>
              <a:t>是服从正态分布                        的一维随机变量。</a:t>
            </a:r>
            <a:endParaRPr lang="zh-CN" altLang="en-US" sz="2200" dirty="0">
              <a:solidFill>
                <a:schemeClr val="tx1"/>
              </a:solidFill>
              <a:latin typeface="Times New Roman" panose="02020603050405020304" pitchFamily="18" charset="0"/>
              <a:ea typeface="黑体" panose="02010609060101010101" pitchFamily="49" charset="-122"/>
            </a:endParaRPr>
          </a:p>
        </p:txBody>
      </p:sp>
      <p:graphicFrame>
        <p:nvGraphicFramePr>
          <p:cNvPr id="27" name="Object 18"/>
          <p:cNvGraphicFramePr>
            <a:graphicFrameLocks noChangeAspect="1"/>
          </p:cNvGraphicFramePr>
          <p:nvPr>
            <p:extLst>
              <p:ext uri="{D42A27DB-BD31-4B8C-83A1-F6EECF244321}">
                <p14:modId xmlns:p14="http://schemas.microsoft.com/office/powerpoint/2010/main" val="2206381813"/>
              </p:ext>
            </p:extLst>
          </p:nvPr>
        </p:nvGraphicFramePr>
        <p:xfrm>
          <a:off x="3710184" y="3038411"/>
          <a:ext cx="1521720" cy="788034"/>
        </p:xfrm>
        <a:graphic>
          <a:graphicData uri="http://schemas.openxmlformats.org/presentationml/2006/ole">
            <mc:AlternateContent xmlns:mc="http://schemas.openxmlformats.org/markup-compatibility/2006">
              <mc:Choice xmlns:v="urn:schemas-microsoft-com:vml" Requires="v">
                <p:oleObj spid="_x0000_s82215" name="Equation" r:id="rId14" imgW="711200" imgH="368300" progId="Equation.DSMT4">
                  <p:embed/>
                </p:oleObj>
              </mc:Choice>
              <mc:Fallback>
                <p:oleObj name="Equation" r:id="rId14" imgW="711200" imgH="368300" progId="Equation.DSMT4">
                  <p:embed/>
                  <p:pic>
                    <p:nvPicPr>
                      <p:cNvPr id="0" name="Picture 25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10184" y="3038411"/>
                        <a:ext cx="1521720" cy="7880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19"/>
          <p:cNvGraphicFramePr>
            <a:graphicFrameLocks noChangeAspect="1"/>
          </p:cNvGraphicFramePr>
          <p:nvPr>
            <p:extLst>
              <p:ext uri="{D42A27DB-BD31-4B8C-83A1-F6EECF244321}">
                <p14:modId xmlns:p14="http://schemas.microsoft.com/office/powerpoint/2010/main" val="4215783136"/>
              </p:ext>
            </p:extLst>
          </p:nvPr>
        </p:nvGraphicFramePr>
        <p:xfrm>
          <a:off x="2351584" y="4532533"/>
          <a:ext cx="4231159" cy="1056707"/>
        </p:xfrm>
        <a:graphic>
          <a:graphicData uri="http://schemas.openxmlformats.org/presentationml/2006/ole">
            <mc:AlternateContent xmlns:mc="http://schemas.openxmlformats.org/markup-compatibility/2006">
              <mc:Choice xmlns:v="urn:schemas-microsoft-com:vml" Requires="v">
                <p:oleObj spid="_x0000_s82216" name="Equation" r:id="rId16" imgW="1981200" imgH="495300" progId="Equation.DSMT4">
                  <p:embed/>
                </p:oleObj>
              </mc:Choice>
              <mc:Fallback>
                <p:oleObj name="Equation" r:id="rId16" imgW="1981200" imgH="495300" progId="Equation.DSMT4">
                  <p:embed/>
                  <p:pic>
                    <p:nvPicPr>
                      <p:cNvPr id="0" name="Picture 26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51584" y="4532533"/>
                        <a:ext cx="4231159" cy="10567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矩形 28"/>
          <p:cNvSpPr/>
          <p:nvPr/>
        </p:nvSpPr>
        <p:spPr>
          <a:xfrm>
            <a:off x="335232" y="4821726"/>
            <a:ext cx="1877437" cy="430887"/>
          </a:xfrm>
          <a:prstGeom prst="rect">
            <a:avLst/>
          </a:prstGeom>
        </p:spPr>
        <p:txBody>
          <a:bodyPr wrap="none">
            <a:spAutoFit/>
          </a:bodyPr>
          <a:lstStyle/>
          <a:p>
            <a:r>
              <a:rPr lang="zh-CN" altLang="en-US" sz="2200" dirty="0">
                <a:solidFill>
                  <a:schemeClr val="tx1"/>
                </a:solidFill>
                <a:latin typeface="黑体" panose="02010609060101010101" pitchFamily="49" charset="-122"/>
                <a:ea typeface="黑体" panose="02010609060101010101" pitchFamily="49" charset="-122"/>
              </a:rPr>
              <a:t>对应判决门限</a:t>
            </a:r>
          </a:p>
        </p:txBody>
      </p:sp>
      <p:graphicFrame>
        <p:nvGraphicFramePr>
          <p:cNvPr id="30" name="Object 20"/>
          <p:cNvGraphicFramePr>
            <a:graphicFrameLocks noChangeAspect="1"/>
          </p:cNvGraphicFramePr>
          <p:nvPr>
            <p:extLst>
              <p:ext uri="{D42A27DB-BD31-4B8C-83A1-F6EECF244321}">
                <p14:modId xmlns:p14="http://schemas.microsoft.com/office/powerpoint/2010/main" val="472622385"/>
              </p:ext>
            </p:extLst>
          </p:nvPr>
        </p:nvGraphicFramePr>
        <p:xfrm>
          <a:off x="4131293" y="3717211"/>
          <a:ext cx="3109220" cy="796363"/>
        </p:xfrm>
        <a:graphic>
          <a:graphicData uri="http://schemas.openxmlformats.org/presentationml/2006/ole">
            <mc:AlternateContent xmlns:mc="http://schemas.openxmlformats.org/markup-compatibility/2006">
              <mc:Choice xmlns:v="urn:schemas-microsoft-com:vml" Requires="v">
                <p:oleObj spid="_x0000_s82217" name="Equation" r:id="rId18" imgW="1435100" imgH="368300" progId="Equation.DSMT4">
                  <p:embed/>
                </p:oleObj>
              </mc:Choice>
              <mc:Fallback>
                <p:oleObj name="Equation" r:id="rId18" imgW="1435100" imgH="368300" progId="Equation.DSMT4">
                  <p:embed/>
                  <p:pic>
                    <p:nvPicPr>
                      <p:cNvPr id="0" name="Picture 26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131293" y="3717211"/>
                        <a:ext cx="3109220" cy="796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组合 3"/>
          <p:cNvGrpSpPr/>
          <p:nvPr/>
        </p:nvGrpSpPr>
        <p:grpSpPr>
          <a:xfrm>
            <a:off x="6700886" y="3812931"/>
            <a:ext cx="5587802" cy="2619690"/>
            <a:chOff x="5398874" y="2470768"/>
            <a:chExt cx="6913563" cy="3240088"/>
          </a:xfrm>
        </p:grpSpPr>
        <p:sp>
          <p:nvSpPr>
            <p:cNvPr id="32" name="Line 19"/>
            <p:cNvSpPr>
              <a:spLocks noChangeShapeType="1"/>
            </p:cNvSpPr>
            <p:nvPr/>
          </p:nvSpPr>
          <p:spPr bwMode="auto">
            <a:xfrm>
              <a:off x="5398874" y="5062838"/>
              <a:ext cx="6593067" cy="0"/>
            </a:xfrm>
            <a:prstGeom prst="line">
              <a:avLst/>
            </a:prstGeom>
            <a:noFill/>
            <a:ln w="9525">
              <a:solidFill>
                <a:srgbClr val="000000"/>
              </a:solidFill>
              <a:round/>
              <a:headEnd/>
              <a:tailEnd type="triangle" w="med" len="med"/>
            </a:ln>
          </p:spPr>
          <p:txBody>
            <a:bodyPr/>
            <a:lstStyle/>
            <a:p>
              <a:endParaRPr lang="zh-CN" altLang="en-US" sz="2000">
                <a:solidFill>
                  <a:schemeClr val="tx1"/>
                </a:solidFill>
                <a:latin typeface="Times New Roman" panose="02020603050405020304" pitchFamily="18" charset="0"/>
              </a:endParaRPr>
            </a:p>
          </p:txBody>
        </p:sp>
        <p:sp>
          <p:nvSpPr>
            <p:cNvPr id="33" name="Line 20"/>
            <p:cNvSpPr>
              <a:spLocks noChangeShapeType="1"/>
            </p:cNvSpPr>
            <p:nvPr/>
          </p:nvSpPr>
          <p:spPr bwMode="auto">
            <a:xfrm flipV="1">
              <a:off x="8489374" y="2470768"/>
              <a:ext cx="0" cy="2592070"/>
            </a:xfrm>
            <a:prstGeom prst="line">
              <a:avLst/>
            </a:prstGeom>
            <a:noFill/>
            <a:ln w="9525">
              <a:solidFill>
                <a:srgbClr val="000000"/>
              </a:solidFill>
              <a:round/>
              <a:headEnd/>
              <a:tailEnd type="triangle" w="med" len="med"/>
            </a:ln>
          </p:spPr>
          <p:txBody>
            <a:bodyPr/>
            <a:lstStyle/>
            <a:p>
              <a:endParaRPr lang="zh-CN" altLang="en-US" sz="2000">
                <a:solidFill>
                  <a:schemeClr val="tx1"/>
                </a:solidFill>
                <a:latin typeface="Times New Roman" panose="02020603050405020304" pitchFamily="18" charset="0"/>
              </a:endParaRPr>
            </a:p>
          </p:txBody>
        </p:sp>
        <p:sp>
          <p:nvSpPr>
            <p:cNvPr id="34" name="Freeform 21"/>
            <p:cNvSpPr>
              <a:spLocks/>
            </p:cNvSpPr>
            <p:nvPr/>
          </p:nvSpPr>
          <p:spPr bwMode="auto">
            <a:xfrm>
              <a:off x="5729672" y="3423409"/>
              <a:ext cx="3286232" cy="1214341"/>
            </a:xfrm>
            <a:custGeom>
              <a:avLst/>
              <a:gdLst/>
              <a:ahLst/>
              <a:cxnLst>
                <a:cxn ang="0">
                  <a:pos x="0" y="872"/>
                </a:cxn>
                <a:cxn ang="0">
                  <a:pos x="720" y="716"/>
                </a:cxn>
                <a:cxn ang="0">
                  <a:pos x="1080" y="248"/>
                </a:cxn>
                <a:cxn ang="0">
                  <a:pos x="1419" y="1"/>
                </a:cxn>
                <a:cxn ang="0">
                  <a:pos x="1803" y="253"/>
                </a:cxn>
                <a:cxn ang="0">
                  <a:pos x="2199" y="697"/>
                </a:cxn>
                <a:cxn ang="0">
                  <a:pos x="2871" y="877"/>
                </a:cxn>
              </a:cxnLst>
              <a:rect l="0" t="0" r="r" b="b"/>
              <a:pathLst>
                <a:path w="2871" h="877">
                  <a:moveTo>
                    <a:pt x="0" y="872"/>
                  </a:moveTo>
                  <a:cubicBezTo>
                    <a:pt x="270" y="846"/>
                    <a:pt x="540" y="820"/>
                    <a:pt x="720" y="716"/>
                  </a:cubicBezTo>
                  <a:cubicBezTo>
                    <a:pt x="900" y="612"/>
                    <a:pt x="964" y="367"/>
                    <a:pt x="1080" y="248"/>
                  </a:cubicBezTo>
                  <a:cubicBezTo>
                    <a:pt x="1196" y="129"/>
                    <a:pt x="1299" y="0"/>
                    <a:pt x="1419" y="1"/>
                  </a:cubicBezTo>
                  <a:cubicBezTo>
                    <a:pt x="1539" y="2"/>
                    <a:pt x="1673" y="137"/>
                    <a:pt x="1803" y="253"/>
                  </a:cubicBezTo>
                  <a:cubicBezTo>
                    <a:pt x="1933" y="369"/>
                    <a:pt x="2021" y="593"/>
                    <a:pt x="2199" y="697"/>
                  </a:cubicBezTo>
                  <a:cubicBezTo>
                    <a:pt x="2377" y="801"/>
                    <a:pt x="2731" y="840"/>
                    <a:pt x="2871" y="877"/>
                  </a:cubicBezTo>
                </a:path>
              </a:pathLst>
            </a:custGeom>
            <a:noFill/>
            <a:ln w="9525">
              <a:solidFill>
                <a:srgbClr val="000000"/>
              </a:solidFill>
              <a:round/>
              <a:headEnd/>
              <a:tailEnd/>
            </a:ln>
          </p:spPr>
          <p:txBody>
            <a:bodyPr/>
            <a:lstStyle/>
            <a:p>
              <a:endParaRPr lang="zh-CN" altLang="en-US" sz="2000">
                <a:solidFill>
                  <a:schemeClr val="tx1"/>
                </a:solidFill>
                <a:latin typeface="Times New Roman" panose="02020603050405020304" pitchFamily="18" charset="0"/>
              </a:endParaRPr>
            </a:p>
          </p:txBody>
        </p:sp>
        <p:sp>
          <p:nvSpPr>
            <p:cNvPr id="35" name="Freeform 22"/>
            <p:cNvSpPr>
              <a:spLocks/>
            </p:cNvSpPr>
            <p:nvPr/>
          </p:nvSpPr>
          <p:spPr bwMode="auto">
            <a:xfrm>
              <a:off x="7894167" y="3412332"/>
              <a:ext cx="3286232" cy="1214341"/>
            </a:xfrm>
            <a:custGeom>
              <a:avLst/>
              <a:gdLst/>
              <a:ahLst/>
              <a:cxnLst>
                <a:cxn ang="0">
                  <a:pos x="0" y="872"/>
                </a:cxn>
                <a:cxn ang="0">
                  <a:pos x="720" y="716"/>
                </a:cxn>
                <a:cxn ang="0">
                  <a:pos x="1080" y="248"/>
                </a:cxn>
                <a:cxn ang="0">
                  <a:pos x="1419" y="1"/>
                </a:cxn>
                <a:cxn ang="0">
                  <a:pos x="1803" y="253"/>
                </a:cxn>
                <a:cxn ang="0">
                  <a:pos x="2199" y="697"/>
                </a:cxn>
                <a:cxn ang="0">
                  <a:pos x="2871" y="877"/>
                </a:cxn>
              </a:cxnLst>
              <a:rect l="0" t="0" r="r" b="b"/>
              <a:pathLst>
                <a:path w="2871" h="877">
                  <a:moveTo>
                    <a:pt x="0" y="872"/>
                  </a:moveTo>
                  <a:cubicBezTo>
                    <a:pt x="270" y="846"/>
                    <a:pt x="540" y="820"/>
                    <a:pt x="720" y="716"/>
                  </a:cubicBezTo>
                  <a:cubicBezTo>
                    <a:pt x="900" y="612"/>
                    <a:pt x="964" y="367"/>
                    <a:pt x="1080" y="248"/>
                  </a:cubicBezTo>
                  <a:cubicBezTo>
                    <a:pt x="1196" y="129"/>
                    <a:pt x="1299" y="0"/>
                    <a:pt x="1419" y="1"/>
                  </a:cubicBezTo>
                  <a:cubicBezTo>
                    <a:pt x="1539" y="2"/>
                    <a:pt x="1673" y="137"/>
                    <a:pt x="1803" y="253"/>
                  </a:cubicBezTo>
                  <a:cubicBezTo>
                    <a:pt x="1933" y="369"/>
                    <a:pt x="2021" y="593"/>
                    <a:pt x="2199" y="697"/>
                  </a:cubicBezTo>
                  <a:cubicBezTo>
                    <a:pt x="2377" y="801"/>
                    <a:pt x="2731" y="840"/>
                    <a:pt x="2871" y="877"/>
                  </a:cubicBezTo>
                </a:path>
              </a:pathLst>
            </a:custGeom>
            <a:noFill/>
            <a:ln w="9525">
              <a:solidFill>
                <a:srgbClr val="000000"/>
              </a:solidFill>
              <a:round/>
              <a:headEnd/>
              <a:tailEnd/>
            </a:ln>
          </p:spPr>
          <p:txBody>
            <a:bodyPr/>
            <a:lstStyle/>
            <a:p>
              <a:endParaRPr lang="zh-CN" altLang="en-US" sz="2000">
                <a:solidFill>
                  <a:schemeClr val="tx1"/>
                </a:solidFill>
                <a:latin typeface="Times New Roman" panose="02020603050405020304" pitchFamily="18" charset="0"/>
              </a:endParaRPr>
            </a:p>
          </p:txBody>
        </p:sp>
        <p:sp>
          <p:nvSpPr>
            <p:cNvPr id="36" name="Text Box 23"/>
            <p:cNvSpPr txBox="1">
              <a:spLocks noChangeArrowheads="1"/>
            </p:cNvSpPr>
            <p:nvPr/>
          </p:nvSpPr>
          <p:spPr bwMode="auto">
            <a:xfrm>
              <a:off x="9244830" y="2803085"/>
              <a:ext cx="801241" cy="526168"/>
            </a:xfrm>
            <a:prstGeom prst="rect">
              <a:avLst/>
            </a:prstGeom>
            <a:noFill/>
            <a:ln w="9525">
              <a:noFill/>
              <a:miter lim="800000"/>
              <a:headEnd/>
              <a:tailEnd/>
            </a:ln>
          </p:spPr>
          <p:txBody>
            <a:bodyPr lIns="0" tIns="0" rIns="0" bIns="0"/>
            <a:lstStyle/>
            <a:p>
              <a:pPr algn="just"/>
              <a:r>
                <a:rPr lang="en-US" altLang="zh-CN" sz="2000" b="0" i="1">
                  <a:solidFill>
                    <a:schemeClr val="tx1"/>
                  </a:solidFill>
                  <a:latin typeface="Times New Roman" panose="02020603050405020304" pitchFamily="18" charset="0"/>
                </a:rPr>
                <a:t>x</a:t>
              </a:r>
              <a:r>
                <a:rPr lang="en-US" altLang="zh-CN" sz="2000" b="0">
                  <a:solidFill>
                    <a:schemeClr val="tx1"/>
                  </a:solidFill>
                  <a:latin typeface="Times New Roman" panose="02020603050405020304" pitchFamily="18" charset="0"/>
                  <a:sym typeface="Symbol" pitchFamily="18" charset="2"/>
                </a:rPr>
                <a:t></a:t>
              </a:r>
              <a:r>
                <a:rPr lang="en-US" altLang="zh-CN" sz="2000" b="0" i="1">
                  <a:solidFill>
                    <a:schemeClr val="tx1"/>
                  </a:solidFill>
                  <a:latin typeface="Times New Roman" panose="02020603050405020304" pitchFamily="18" charset="0"/>
                  <a:sym typeface="Symbol" pitchFamily="18" charset="2"/>
                </a:rPr>
                <a:t></a:t>
              </a:r>
              <a:r>
                <a:rPr lang="en-US" altLang="zh-CN" sz="2000" b="0" i="1" baseline="-25000">
                  <a:solidFill>
                    <a:schemeClr val="tx1"/>
                  </a:solidFill>
                  <a:latin typeface="Times New Roman" panose="02020603050405020304" pitchFamily="18" charset="0"/>
                </a:rPr>
                <a:t>i</a:t>
              </a:r>
              <a:endParaRPr lang="en-US" altLang="zh-CN" sz="2000">
                <a:solidFill>
                  <a:schemeClr val="tx1"/>
                </a:solidFill>
                <a:latin typeface="Times New Roman" panose="02020603050405020304" pitchFamily="18" charset="0"/>
              </a:endParaRPr>
            </a:p>
          </p:txBody>
        </p:sp>
        <p:sp>
          <p:nvSpPr>
            <p:cNvPr id="48" name="Text Box 24"/>
            <p:cNvSpPr txBox="1">
              <a:spLocks noChangeArrowheads="1"/>
            </p:cNvSpPr>
            <p:nvPr/>
          </p:nvSpPr>
          <p:spPr bwMode="auto">
            <a:xfrm>
              <a:off x="8420696" y="5129302"/>
              <a:ext cx="389174" cy="526168"/>
            </a:xfrm>
            <a:prstGeom prst="rect">
              <a:avLst/>
            </a:prstGeom>
            <a:noFill/>
            <a:ln w="9525">
              <a:noFill/>
              <a:miter lim="800000"/>
              <a:headEnd/>
              <a:tailEnd/>
            </a:ln>
          </p:spPr>
          <p:txBody>
            <a:bodyPr lIns="0" tIns="0" rIns="0" bIns="0"/>
            <a:lstStyle/>
            <a:p>
              <a:pPr algn="just"/>
              <a:r>
                <a:rPr lang="en-US" altLang="zh-CN" sz="2000" b="0" i="1">
                  <a:solidFill>
                    <a:schemeClr val="tx1"/>
                  </a:solidFill>
                  <a:latin typeface="Times New Roman" panose="02020603050405020304" pitchFamily="18" charset="0"/>
                </a:rPr>
                <a:t>0</a:t>
              </a:r>
              <a:endParaRPr lang="en-US" altLang="zh-CN" sz="2000">
                <a:solidFill>
                  <a:schemeClr val="tx1"/>
                </a:solidFill>
                <a:latin typeface="Times New Roman" panose="02020603050405020304" pitchFamily="18" charset="0"/>
              </a:endParaRPr>
            </a:p>
          </p:txBody>
        </p:sp>
        <p:sp>
          <p:nvSpPr>
            <p:cNvPr id="49" name="Text Box 25"/>
            <p:cNvSpPr txBox="1">
              <a:spLocks noChangeArrowheads="1"/>
            </p:cNvSpPr>
            <p:nvPr/>
          </p:nvSpPr>
          <p:spPr bwMode="auto">
            <a:xfrm>
              <a:off x="9290615" y="5129302"/>
              <a:ext cx="686778" cy="526168"/>
            </a:xfrm>
            <a:prstGeom prst="rect">
              <a:avLst/>
            </a:prstGeom>
            <a:noFill/>
            <a:ln w="9525">
              <a:noFill/>
              <a:miter lim="800000"/>
              <a:headEnd/>
              <a:tailEnd/>
            </a:ln>
          </p:spPr>
          <p:txBody>
            <a:bodyPr lIns="0" tIns="0" rIns="0" bIns="0"/>
            <a:lstStyle/>
            <a:p>
              <a:pPr algn="just"/>
              <a:r>
                <a:rPr lang="en-US" altLang="zh-CN" sz="2000" b="0" i="1" dirty="0">
                  <a:solidFill>
                    <a:schemeClr val="tx1"/>
                  </a:solidFill>
                  <a:latin typeface="Times New Roman" panose="02020603050405020304" pitchFamily="18" charset="0"/>
                </a:rPr>
                <a:t>r</a:t>
              </a:r>
              <a:r>
                <a:rPr lang="en-US" altLang="zh-CN" sz="2000" b="0" i="1" baseline="-25000" dirty="0">
                  <a:solidFill>
                    <a:schemeClr val="tx1"/>
                  </a:solidFill>
                  <a:latin typeface="Times New Roman" panose="02020603050405020304" pitchFamily="18" charset="0"/>
                </a:rPr>
                <a:t>ij</a:t>
              </a:r>
              <a:r>
                <a:rPr lang="en-US" altLang="zh-CN" sz="2000" b="0" i="1" baseline="30000" dirty="0">
                  <a:solidFill>
                    <a:schemeClr val="tx1"/>
                  </a:solidFill>
                  <a:latin typeface="Times New Roman" panose="02020603050405020304" pitchFamily="18" charset="0"/>
                </a:rPr>
                <a:t>2</a:t>
              </a:r>
              <a:r>
                <a:rPr lang="en-US" altLang="zh-CN" sz="2000" b="0" dirty="0">
                  <a:solidFill>
                    <a:schemeClr val="tx1"/>
                  </a:solidFill>
                  <a:latin typeface="Times New Roman" panose="02020603050405020304" pitchFamily="18" charset="0"/>
                </a:rPr>
                <a:t>/</a:t>
              </a:r>
              <a:r>
                <a:rPr lang="en-US" altLang="zh-CN" sz="2000" b="0" i="1" dirty="0">
                  <a:solidFill>
                    <a:schemeClr val="tx1"/>
                  </a:solidFill>
                  <a:latin typeface="Times New Roman" panose="02020603050405020304" pitchFamily="18" charset="0"/>
                </a:rPr>
                <a:t>2</a:t>
              </a:r>
              <a:endParaRPr lang="en-US" altLang="zh-CN" sz="2000" dirty="0">
                <a:solidFill>
                  <a:schemeClr val="tx1"/>
                </a:solidFill>
                <a:latin typeface="Times New Roman" panose="02020603050405020304" pitchFamily="18" charset="0"/>
              </a:endParaRPr>
            </a:p>
          </p:txBody>
        </p:sp>
        <p:sp>
          <p:nvSpPr>
            <p:cNvPr id="50" name="Text Box 26"/>
            <p:cNvSpPr txBox="1">
              <a:spLocks noChangeArrowheads="1"/>
            </p:cNvSpPr>
            <p:nvPr/>
          </p:nvSpPr>
          <p:spPr bwMode="auto">
            <a:xfrm>
              <a:off x="6978463" y="2830778"/>
              <a:ext cx="801241" cy="526168"/>
            </a:xfrm>
            <a:prstGeom prst="rect">
              <a:avLst/>
            </a:prstGeom>
            <a:noFill/>
            <a:ln w="9525">
              <a:noFill/>
              <a:miter lim="800000"/>
              <a:headEnd/>
              <a:tailEnd/>
            </a:ln>
          </p:spPr>
          <p:txBody>
            <a:bodyPr lIns="0" tIns="0" rIns="0" bIns="0"/>
            <a:lstStyle/>
            <a:p>
              <a:pPr algn="just"/>
              <a:r>
                <a:rPr lang="en-US" altLang="zh-CN" sz="2000" b="0" i="1" dirty="0">
                  <a:solidFill>
                    <a:schemeClr val="tx1"/>
                  </a:solidFill>
                  <a:latin typeface="Times New Roman" panose="02020603050405020304" pitchFamily="18" charset="0"/>
                </a:rPr>
                <a:t>x</a:t>
              </a:r>
              <a:r>
                <a:rPr lang="en-US" altLang="zh-CN" sz="2000" b="0" dirty="0">
                  <a:solidFill>
                    <a:schemeClr val="tx1"/>
                  </a:solidFill>
                  <a:latin typeface="Times New Roman" panose="02020603050405020304" pitchFamily="18" charset="0"/>
                  <a:sym typeface="Symbol" pitchFamily="18" charset="2"/>
                </a:rPr>
                <a:t></a:t>
              </a:r>
              <a:r>
                <a:rPr lang="en-US" altLang="zh-CN" sz="2000" b="0" i="1" dirty="0">
                  <a:solidFill>
                    <a:schemeClr val="tx1"/>
                  </a:solidFill>
                  <a:latin typeface="Times New Roman" panose="02020603050405020304" pitchFamily="18" charset="0"/>
                  <a:sym typeface="Symbol" pitchFamily="18" charset="2"/>
                </a:rPr>
                <a:t></a:t>
              </a:r>
              <a:r>
                <a:rPr lang="en-US" altLang="zh-CN" sz="2000" b="0" i="1" baseline="-25000" dirty="0">
                  <a:solidFill>
                    <a:schemeClr val="tx1"/>
                  </a:solidFill>
                  <a:latin typeface="Times New Roman" panose="02020603050405020304" pitchFamily="18" charset="0"/>
                </a:rPr>
                <a:t>j</a:t>
              </a:r>
              <a:endParaRPr lang="en-US" altLang="zh-CN" sz="2000" dirty="0">
                <a:solidFill>
                  <a:schemeClr val="tx1"/>
                </a:solidFill>
                <a:latin typeface="Times New Roman" panose="02020603050405020304" pitchFamily="18" charset="0"/>
              </a:endParaRPr>
            </a:p>
          </p:txBody>
        </p:sp>
        <p:sp>
          <p:nvSpPr>
            <p:cNvPr id="51" name="Text Box 27"/>
            <p:cNvSpPr txBox="1">
              <a:spLocks noChangeArrowheads="1"/>
            </p:cNvSpPr>
            <p:nvPr/>
          </p:nvSpPr>
          <p:spPr bwMode="auto">
            <a:xfrm>
              <a:off x="6978463" y="5101609"/>
              <a:ext cx="915704" cy="526168"/>
            </a:xfrm>
            <a:prstGeom prst="rect">
              <a:avLst/>
            </a:prstGeom>
            <a:noFill/>
            <a:ln w="9525">
              <a:noFill/>
              <a:miter lim="800000"/>
              <a:headEnd/>
              <a:tailEnd/>
            </a:ln>
          </p:spPr>
          <p:txBody>
            <a:bodyPr lIns="0" tIns="0" rIns="0" bIns="0"/>
            <a:lstStyle/>
            <a:p>
              <a:pPr algn="just"/>
              <a:r>
                <a:rPr lang="en-US" altLang="zh-CN" sz="2000" b="0" dirty="0">
                  <a:solidFill>
                    <a:schemeClr val="tx1"/>
                  </a:solidFill>
                  <a:latin typeface="Times New Roman" panose="02020603050405020304" pitchFamily="18" charset="0"/>
                </a:rPr>
                <a:t>-</a:t>
              </a:r>
              <a:r>
                <a:rPr lang="en-US" altLang="zh-CN" sz="2000" b="0" i="1" dirty="0">
                  <a:solidFill>
                    <a:schemeClr val="tx1"/>
                  </a:solidFill>
                  <a:latin typeface="Times New Roman" panose="02020603050405020304" pitchFamily="18" charset="0"/>
                </a:rPr>
                <a:t>r</a:t>
              </a:r>
              <a:r>
                <a:rPr lang="en-US" altLang="zh-CN" sz="2000" b="0" i="1" baseline="-25000" dirty="0">
                  <a:solidFill>
                    <a:schemeClr val="tx1"/>
                  </a:solidFill>
                  <a:latin typeface="Times New Roman" panose="02020603050405020304" pitchFamily="18" charset="0"/>
                </a:rPr>
                <a:t>ij</a:t>
              </a:r>
              <a:r>
                <a:rPr lang="en-US" altLang="zh-CN" sz="2000" b="0" i="1" baseline="30000" dirty="0">
                  <a:solidFill>
                    <a:schemeClr val="tx1"/>
                  </a:solidFill>
                  <a:latin typeface="Times New Roman" panose="02020603050405020304" pitchFamily="18" charset="0"/>
                </a:rPr>
                <a:t>2</a:t>
              </a:r>
              <a:r>
                <a:rPr lang="en-US" altLang="zh-CN" sz="2000" b="0" dirty="0">
                  <a:solidFill>
                    <a:schemeClr val="tx1"/>
                  </a:solidFill>
                  <a:latin typeface="Times New Roman" panose="02020603050405020304" pitchFamily="18" charset="0"/>
                </a:rPr>
                <a:t>/</a:t>
              </a:r>
              <a:r>
                <a:rPr lang="en-US" altLang="zh-CN" sz="2000" b="0" i="1" dirty="0">
                  <a:solidFill>
                    <a:schemeClr val="tx1"/>
                  </a:solidFill>
                  <a:latin typeface="Times New Roman" panose="02020603050405020304" pitchFamily="18" charset="0"/>
                </a:rPr>
                <a:t>2</a:t>
              </a:r>
              <a:endParaRPr lang="en-US" altLang="zh-CN" sz="2000" dirty="0">
                <a:solidFill>
                  <a:schemeClr val="tx1"/>
                </a:solidFill>
                <a:latin typeface="Times New Roman" panose="02020603050405020304" pitchFamily="18" charset="0"/>
              </a:endParaRPr>
            </a:p>
          </p:txBody>
        </p:sp>
        <p:sp>
          <p:nvSpPr>
            <p:cNvPr id="52" name="Line 29"/>
            <p:cNvSpPr>
              <a:spLocks noChangeShapeType="1"/>
            </p:cNvSpPr>
            <p:nvPr/>
          </p:nvSpPr>
          <p:spPr bwMode="auto">
            <a:xfrm flipH="1">
              <a:off x="7367637" y="3440025"/>
              <a:ext cx="0" cy="1606197"/>
            </a:xfrm>
            <a:prstGeom prst="line">
              <a:avLst/>
            </a:prstGeom>
            <a:noFill/>
            <a:ln w="9525">
              <a:solidFill>
                <a:srgbClr val="000000"/>
              </a:solidFill>
              <a:prstDash val="dash"/>
              <a:round/>
              <a:headEnd/>
              <a:tailEnd/>
            </a:ln>
          </p:spPr>
          <p:txBody>
            <a:bodyPr/>
            <a:lstStyle/>
            <a:p>
              <a:endParaRPr lang="zh-CN" altLang="en-US" sz="2000">
                <a:solidFill>
                  <a:schemeClr val="tx1"/>
                </a:solidFill>
                <a:latin typeface="Times New Roman" panose="02020603050405020304" pitchFamily="18" charset="0"/>
              </a:endParaRPr>
            </a:p>
          </p:txBody>
        </p:sp>
        <p:sp>
          <p:nvSpPr>
            <p:cNvPr id="53" name="Line 30"/>
            <p:cNvSpPr>
              <a:spLocks noChangeShapeType="1"/>
            </p:cNvSpPr>
            <p:nvPr/>
          </p:nvSpPr>
          <p:spPr bwMode="auto">
            <a:xfrm flipH="1">
              <a:off x="9519541" y="3467718"/>
              <a:ext cx="0" cy="1606197"/>
            </a:xfrm>
            <a:prstGeom prst="line">
              <a:avLst/>
            </a:prstGeom>
            <a:noFill/>
            <a:ln w="9525">
              <a:solidFill>
                <a:srgbClr val="000000"/>
              </a:solidFill>
              <a:prstDash val="dash"/>
              <a:round/>
              <a:headEnd/>
              <a:tailEnd/>
            </a:ln>
          </p:spPr>
          <p:txBody>
            <a:bodyPr/>
            <a:lstStyle/>
            <a:p>
              <a:endParaRPr lang="zh-CN" altLang="en-US" sz="2000">
                <a:solidFill>
                  <a:schemeClr val="tx1"/>
                </a:solidFill>
                <a:latin typeface="Times New Roman" panose="02020603050405020304" pitchFamily="18" charset="0"/>
              </a:endParaRPr>
            </a:p>
          </p:txBody>
        </p:sp>
        <p:sp>
          <p:nvSpPr>
            <p:cNvPr id="54" name="Line 31"/>
            <p:cNvSpPr>
              <a:spLocks noChangeShapeType="1"/>
            </p:cNvSpPr>
            <p:nvPr/>
          </p:nvSpPr>
          <p:spPr bwMode="auto">
            <a:xfrm flipH="1">
              <a:off x="8077307" y="4243124"/>
              <a:ext cx="0" cy="858485"/>
            </a:xfrm>
            <a:prstGeom prst="line">
              <a:avLst/>
            </a:prstGeom>
            <a:noFill/>
            <a:ln w="9525">
              <a:solidFill>
                <a:srgbClr val="000000"/>
              </a:solidFill>
              <a:prstDash val="dash"/>
              <a:round/>
              <a:headEnd/>
              <a:tailEnd/>
            </a:ln>
          </p:spPr>
          <p:txBody>
            <a:bodyPr/>
            <a:lstStyle/>
            <a:p>
              <a:endParaRPr lang="zh-CN" altLang="en-US" sz="2000">
                <a:solidFill>
                  <a:schemeClr val="tx1"/>
                </a:solidFill>
                <a:latin typeface="Times New Roman" panose="02020603050405020304" pitchFamily="18" charset="0"/>
              </a:endParaRPr>
            </a:p>
          </p:txBody>
        </p:sp>
        <p:sp>
          <p:nvSpPr>
            <p:cNvPr id="55" name="Text Box 32"/>
            <p:cNvSpPr txBox="1">
              <a:spLocks noChangeArrowheads="1"/>
            </p:cNvSpPr>
            <p:nvPr/>
          </p:nvSpPr>
          <p:spPr bwMode="auto">
            <a:xfrm>
              <a:off x="10160533" y="3440025"/>
              <a:ext cx="1098844" cy="526168"/>
            </a:xfrm>
            <a:prstGeom prst="rect">
              <a:avLst/>
            </a:prstGeom>
            <a:noFill/>
            <a:ln w="9525">
              <a:noFill/>
              <a:miter lim="800000"/>
              <a:headEnd/>
              <a:tailEnd/>
            </a:ln>
          </p:spPr>
          <p:txBody>
            <a:bodyPr lIns="0" tIns="0" rIns="0" bIns="0"/>
            <a:lstStyle/>
            <a:p>
              <a:pPr algn="just"/>
              <a:r>
                <a:rPr lang="en-US" altLang="zh-CN" sz="2000" b="0" i="1">
                  <a:solidFill>
                    <a:schemeClr val="tx1"/>
                  </a:solidFill>
                  <a:latin typeface="Times New Roman" panose="02020603050405020304" pitchFamily="18" charset="0"/>
                </a:rPr>
                <a:t>p</a:t>
              </a:r>
              <a:r>
                <a:rPr lang="en-US" altLang="zh-CN" sz="2000" b="0">
                  <a:solidFill>
                    <a:schemeClr val="tx1"/>
                  </a:solidFill>
                  <a:latin typeface="Times New Roman" panose="02020603050405020304" pitchFamily="18" charset="0"/>
                </a:rPr>
                <a:t>(</a:t>
              </a:r>
              <a:r>
                <a:rPr lang="en-US" altLang="zh-CN" sz="2000" b="0" i="1">
                  <a:solidFill>
                    <a:schemeClr val="tx1"/>
                  </a:solidFill>
                  <a:latin typeface="Times New Roman" panose="02020603050405020304" pitchFamily="18" charset="0"/>
                </a:rPr>
                <a:t>L</a:t>
              </a:r>
              <a:r>
                <a:rPr lang="en-US" altLang="zh-CN" sz="2000" b="0" i="1" baseline="-25000">
                  <a:solidFill>
                    <a:schemeClr val="tx1"/>
                  </a:solidFill>
                  <a:latin typeface="Times New Roman" panose="02020603050405020304" pitchFamily="18" charset="0"/>
                </a:rPr>
                <a:t>ij</a:t>
              </a:r>
              <a:r>
                <a:rPr lang="en-US" altLang="zh-CN" sz="2000" b="0">
                  <a:solidFill>
                    <a:schemeClr val="tx1"/>
                  </a:solidFill>
                  <a:latin typeface="Times New Roman" panose="02020603050405020304" pitchFamily="18" charset="0"/>
                </a:rPr>
                <a:t>|</a:t>
              </a:r>
              <a:r>
                <a:rPr lang="en-US" altLang="zh-CN" sz="2000" b="0" i="1">
                  <a:solidFill>
                    <a:schemeClr val="tx1"/>
                  </a:solidFill>
                  <a:latin typeface="Times New Roman" panose="02020603050405020304" pitchFamily="18" charset="0"/>
                  <a:sym typeface="Symbol" pitchFamily="18" charset="2"/>
                </a:rPr>
                <a:t></a:t>
              </a:r>
              <a:r>
                <a:rPr lang="en-US" altLang="zh-CN" sz="2000" b="0" i="1" baseline="-25000">
                  <a:solidFill>
                    <a:schemeClr val="tx1"/>
                  </a:solidFill>
                  <a:latin typeface="Times New Roman" panose="02020603050405020304" pitchFamily="18" charset="0"/>
                </a:rPr>
                <a:t>i</a:t>
              </a:r>
              <a:r>
                <a:rPr lang="en-US" altLang="zh-CN" sz="2000" b="0">
                  <a:solidFill>
                    <a:schemeClr val="tx1"/>
                  </a:solidFill>
                  <a:latin typeface="Times New Roman" panose="02020603050405020304" pitchFamily="18" charset="0"/>
                </a:rPr>
                <a:t>)</a:t>
              </a:r>
              <a:endParaRPr lang="en-US" altLang="zh-CN" sz="2000">
                <a:solidFill>
                  <a:schemeClr val="tx1"/>
                </a:solidFill>
                <a:latin typeface="Times New Roman" panose="02020603050405020304" pitchFamily="18" charset="0"/>
              </a:endParaRPr>
            </a:p>
          </p:txBody>
        </p:sp>
        <p:sp>
          <p:nvSpPr>
            <p:cNvPr id="56" name="Text Box 33"/>
            <p:cNvSpPr txBox="1">
              <a:spLocks noChangeArrowheads="1"/>
            </p:cNvSpPr>
            <p:nvPr/>
          </p:nvSpPr>
          <p:spPr bwMode="auto">
            <a:xfrm>
              <a:off x="11808800" y="5184688"/>
              <a:ext cx="503637" cy="526168"/>
            </a:xfrm>
            <a:prstGeom prst="rect">
              <a:avLst/>
            </a:prstGeom>
            <a:noFill/>
            <a:ln w="9525">
              <a:noFill/>
              <a:miter lim="800000"/>
              <a:headEnd/>
              <a:tailEnd/>
            </a:ln>
          </p:spPr>
          <p:txBody>
            <a:bodyPr lIns="0" tIns="0" rIns="0" bIns="0"/>
            <a:lstStyle/>
            <a:p>
              <a:pPr algn="just"/>
              <a:r>
                <a:rPr lang="en-US" altLang="zh-CN" sz="2000" b="0" i="1">
                  <a:solidFill>
                    <a:schemeClr val="tx1"/>
                  </a:solidFill>
                  <a:latin typeface="Times New Roman" panose="02020603050405020304" pitchFamily="18" charset="0"/>
                </a:rPr>
                <a:t>L</a:t>
              </a:r>
              <a:r>
                <a:rPr lang="en-US" altLang="zh-CN" sz="2000" b="0" i="1" baseline="-25000">
                  <a:solidFill>
                    <a:schemeClr val="tx1"/>
                  </a:solidFill>
                  <a:latin typeface="Times New Roman" panose="02020603050405020304" pitchFamily="18" charset="0"/>
                </a:rPr>
                <a:t>ij</a:t>
              </a:r>
              <a:endParaRPr lang="en-US" altLang="zh-CN" sz="2000">
                <a:solidFill>
                  <a:schemeClr val="tx1"/>
                </a:solidFill>
                <a:latin typeface="Times New Roman" panose="02020603050405020304" pitchFamily="18" charset="0"/>
              </a:endParaRPr>
            </a:p>
          </p:txBody>
        </p:sp>
        <p:sp>
          <p:nvSpPr>
            <p:cNvPr id="57" name="Text Box 34"/>
            <p:cNvSpPr txBox="1">
              <a:spLocks noChangeArrowheads="1"/>
            </p:cNvSpPr>
            <p:nvPr/>
          </p:nvSpPr>
          <p:spPr bwMode="auto">
            <a:xfrm>
              <a:off x="5788048" y="3495411"/>
              <a:ext cx="1098844" cy="526168"/>
            </a:xfrm>
            <a:prstGeom prst="rect">
              <a:avLst/>
            </a:prstGeom>
            <a:noFill/>
            <a:ln w="9525">
              <a:noFill/>
              <a:miter lim="800000"/>
              <a:headEnd/>
              <a:tailEnd/>
            </a:ln>
          </p:spPr>
          <p:txBody>
            <a:bodyPr lIns="0" tIns="0" rIns="0" bIns="0"/>
            <a:lstStyle/>
            <a:p>
              <a:pPr algn="just"/>
              <a:r>
                <a:rPr lang="en-US" altLang="zh-CN" sz="2000" b="0" i="1">
                  <a:solidFill>
                    <a:schemeClr val="tx1"/>
                  </a:solidFill>
                  <a:latin typeface="Times New Roman" panose="02020603050405020304" pitchFamily="18" charset="0"/>
                </a:rPr>
                <a:t>p</a:t>
              </a:r>
              <a:r>
                <a:rPr lang="en-US" altLang="zh-CN" sz="2000" b="0">
                  <a:solidFill>
                    <a:schemeClr val="tx1"/>
                  </a:solidFill>
                  <a:latin typeface="Times New Roman" panose="02020603050405020304" pitchFamily="18" charset="0"/>
                </a:rPr>
                <a:t>(</a:t>
              </a:r>
              <a:r>
                <a:rPr lang="en-US" altLang="zh-CN" sz="2000" b="0" i="1">
                  <a:solidFill>
                    <a:schemeClr val="tx1"/>
                  </a:solidFill>
                  <a:latin typeface="Times New Roman" panose="02020603050405020304" pitchFamily="18" charset="0"/>
                </a:rPr>
                <a:t>L</a:t>
              </a:r>
              <a:r>
                <a:rPr lang="en-US" altLang="zh-CN" sz="2000" b="0" i="1" baseline="-25000">
                  <a:solidFill>
                    <a:schemeClr val="tx1"/>
                  </a:solidFill>
                  <a:latin typeface="Times New Roman" panose="02020603050405020304" pitchFamily="18" charset="0"/>
                </a:rPr>
                <a:t>ij</a:t>
              </a:r>
              <a:r>
                <a:rPr lang="en-US" altLang="zh-CN" sz="2000" b="0">
                  <a:solidFill>
                    <a:schemeClr val="tx1"/>
                  </a:solidFill>
                  <a:latin typeface="Times New Roman" panose="02020603050405020304" pitchFamily="18" charset="0"/>
                </a:rPr>
                <a:t>|</a:t>
              </a:r>
              <a:r>
                <a:rPr lang="en-US" altLang="zh-CN" sz="2000" b="0" i="1">
                  <a:solidFill>
                    <a:schemeClr val="tx1"/>
                  </a:solidFill>
                  <a:latin typeface="Times New Roman" panose="02020603050405020304" pitchFamily="18" charset="0"/>
                  <a:sym typeface="Symbol" pitchFamily="18" charset="2"/>
                </a:rPr>
                <a:t></a:t>
              </a:r>
              <a:r>
                <a:rPr lang="en-US" altLang="zh-CN" sz="2000" b="0" i="1" baseline="-25000">
                  <a:solidFill>
                    <a:schemeClr val="tx1"/>
                  </a:solidFill>
                  <a:latin typeface="Times New Roman" panose="02020603050405020304" pitchFamily="18" charset="0"/>
                </a:rPr>
                <a:t>j</a:t>
              </a:r>
              <a:r>
                <a:rPr lang="en-US" altLang="zh-CN" sz="2000" b="0">
                  <a:solidFill>
                    <a:schemeClr val="tx1"/>
                  </a:solidFill>
                  <a:latin typeface="Times New Roman" panose="02020603050405020304" pitchFamily="18" charset="0"/>
                </a:rPr>
                <a:t>)</a:t>
              </a:r>
              <a:endParaRPr lang="en-US" altLang="zh-CN" sz="2000">
                <a:solidFill>
                  <a:schemeClr val="tx1"/>
                </a:solidFill>
                <a:latin typeface="Times New Roman" panose="02020603050405020304" pitchFamily="18" charset="0"/>
              </a:endParaRPr>
            </a:p>
          </p:txBody>
        </p:sp>
        <p:graphicFrame>
          <p:nvGraphicFramePr>
            <p:cNvPr id="58" name="Object 4"/>
            <p:cNvGraphicFramePr>
              <a:graphicFrameLocks noChangeAspect="1"/>
            </p:cNvGraphicFramePr>
            <p:nvPr>
              <p:extLst>
                <p:ext uri="{D42A27DB-BD31-4B8C-83A1-F6EECF244321}">
                  <p14:modId xmlns:p14="http://schemas.microsoft.com/office/powerpoint/2010/main" val="1049974044"/>
                </p:ext>
              </p:extLst>
            </p:nvPr>
          </p:nvGraphicFramePr>
          <p:xfrm>
            <a:off x="7854730" y="5139352"/>
            <a:ext cx="428706" cy="458790"/>
          </p:xfrm>
          <a:graphic>
            <a:graphicData uri="http://schemas.openxmlformats.org/presentationml/2006/ole">
              <mc:AlternateContent xmlns:mc="http://schemas.openxmlformats.org/markup-compatibility/2006">
                <mc:Choice xmlns:v="urn:schemas-microsoft-com:vml" Requires="v">
                  <p:oleObj spid="_x0000_s82218" name="Equation" r:id="rId20" imgW="152268" imgH="203024" progId="Equation.DSMT4">
                    <p:embed/>
                  </p:oleObj>
                </mc:Choice>
                <mc:Fallback>
                  <p:oleObj name="Equation" r:id="rId20" imgW="152268" imgH="203024" progId="Equation.DSMT4">
                    <p:embed/>
                    <p:pic>
                      <p:nvPicPr>
                        <p:cNvPr id="0" name="Picture 26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854730" y="5139352"/>
                          <a:ext cx="428706" cy="458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294286701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79</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13.5 </a:t>
            </a:r>
            <a:r>
              <a:rPr lang="zh-CN" altLang="zh-CN" dirty="0"/>
              <a:t>关于分类器的错误率</a:t>
            </a:r>
          </a:p>
        </p:txBody>
      </p:sp>
      <p:sp>
        <p:nvSpPr>
          <p:cNvPr id="12" name="矩形 11"/>
          <p:cNvSpPr/>
          <p:nvPr/>
        </p:nvSpPr>
        <p:spPr>
          <a:xfrm>
            <a:off x="352694" y="1052736"/>
            <a:ext cx="3775393"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正态模式分类的错误率</a:t>
            </a:r>
          </a:p>
        </p:txBody>
      </p:sp>
      <p:graphicFrame>
        <p:nvGraphicFramePr>
          <p:cNvPr id="38" name="Object 4"/>
          <p:cNvGraphicFramePr>
            <a:graphicFrameLocks noChangeAspect="1"/>
          </p:cNvGraphicFramePr>
          <p:nvPr>
            <p:extLst>
              <p:ext uri="{D42A27DB-BD31-4B8C-83A1-F6EECF244321}">
                <p14:modId xmlns:p14="http://schemas.microsoft.com/office/powerpoint/2010/main" val="3026341973"/>
              </p:ext>
            </p:extLst>
          </p:nvPr>
        </p:nvGraphicFramePr>
        <p:xfrm>
          <a:off x="352694" y="2751261"/>
          <a:ext cx="7219950" cy="893763"/>
        </p:xfrm>
        <a:graphic>
          <a:graphicData uri="http://schemas.openxmlformats.org/presentationml/2006/ole">
            <mc:AlternateContent xmlns:mc="http://schemas.openxmlformats.org/markup-compatibility/2006">
              <mc:Choice xmlns:v="urn:schemas-microsoft-com:vml" Requires="v">
                <p:oleObj spid="_x0000_s83267" name="Equation" r:id="rId4" imgW="3568700" imgH="444500" progId="Equation.DSMT4">
                  <p:embed/>
                </p:oleObj>
              </mc:Choice>
              <mc:Fallback>
                <p:oleObj name="Equation" r:id="rId4" imgW="3568700" imgH="444500" progId="Equation.DSMT4">
                  <p:embed/>
                  <p:pic>
                    <p:nvPicPr>
                      <p:cNvPr id="0" name="Picture 28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2694" y="2751261"/>
                        <a:ext cx="7219950" cy="893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组合 1"/>
          <p:cNvGrpSpPr/>
          <p:nvPr/>
        </p:nvGrpSpPr>
        <p:grpSpPr>
          <a:xfrm>
            <a:off x="407368" y="2268777"/>
            <a:ext cx="6553862" cy="534906"/>
            <a:chOff x="407368" y="2483460"/>
            <a:chExt cx="6553862" cy="534906"/>
          </a:xfrm>
        </p:grpSpPr>
        <p:sp>
          <p:nvSpPr>
            <p:cNvPr id="39" name="Rectangle 11"/>
            <p:cNvSpPr>
              <a:spLocks noChangeArrowheads="1"/>
            </p:cNvSpPr>
            <p:nvPr/>
          </p:nvSpPr>
          <p:spPr bwMode="auto">
            <a:xfrm>
              <a:off x="407368" y="2529142"/>
              <a:ext cx="1030288" cy="430213"/>
            </a:xfrm>
            <a:prstGeom prst="rect">
              <a:avLst/>
            </a:prstGeom>
            <a:noFill/>
            <a:ln w="9525">
              <a:noFill/>
              <a:miter lim="800000"/>
              <a:headEnd/>
              <a:tailEnd/>
            </a:ln>
            <a:effectLst/>
          </p:spPr>
          <p:txBody>
            <a:bodyPr wrap="none" anchor="ctr">
              <a:spAutoFit/>
            </a:bodyPr>
            <a:lstStyle/>
            <a:p>
              <a:r>
                <a:rPr lang="zh-CN" altLang="en-US" sz="2200" dirty="0">
                  <a:solidFill>
                    <a:schemeClr val="tx1"/>
                  </a:solidFill>
                  <a:latin typeface="黑体" pitchFamily="2" charset="-122"/>
                  <a:ea typeface="黑体" pitchFamily="2" charset="-122"/>
                  <a:cs typeface="Times New Roman" pitchFamily="18" charset="0"/>
                </a:rPr>
                <a:t>将属于</a:t>
              </a:r>
            </a:p>
          </p:txBody>
        </p:sp>
        <p:graphicFrame>
          <p:nvGraphicFramePr>
            <p:cNvPr id="41" name="Object 12"/>
            <p:cNvGraphicFramePr>
              <a:graphicFrameLocks noChangeAspect="1"/>
            </p:cNvGraphicFramePr>
            <p:nvPr>
              <p:extLst>
                <p:ext uri="{D42A27DB-BD31-4B8C-83A1-F6EECF244321}">
                  <p14:modId xmlns:p14="http://schemas.microsoft.com/office/powerpoint/2010/main" val="245831195"/>
                </p:ext>
              </p:extLst>
            </p:nvPr>
          </p:nvGraphicFramePr>
          <p:xfrm>
            <a:off x="1370056" y="2483460"/>
            <a:ext cx="406400" cy="513492"/>
          </p:xfrm>
          <a:graphic>
            <a:graphicData uri="http://schemas.openxmlformats.org/presentationml/2006/ole">
              <mc:AlternateContent xmlns:mc="http://schemas.openxmlformats.org/markup-compatibility/2006">
                <mc:Choice xmlns:v="urn:schemas-microsoft-com:vml" Requires="v">
                  <p:oleObj spid="_x0000_s83268" name="公式" r:id="rId6" imgW="177646" imgH="228402" progId="Equation.3">
                    <p:embed/>
                  </p:oleObj>
                </mc:Choice>
                <mc:Fallback>
                  <p:oleObj name="公式" r:id="rId6" imgW="177646" imgH="228402" progId="Equation.3">
                    <p:embed/>
                    <p:pic>
                      <p:nvPicPr>
                        <p:cNvPr id="0" name="Picture 28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0056" y="2483460"/>
                          <a:ext cx="406400" cy="5134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 name="Rectangle 13"/>
            <p:cNvSpPr>
              <a:spLocks noChangeArrowheads="1"/>
            </p:cNvSpPr>
            <p:nvPr/>
          </p:nvSpPr>
          <p:spPr bwMode="auto">
            <a:xfrm>
              <a:off x="1703512" y="2529142"/>
              <a:ext cx="2724150" cy="430213"/>
            </a:xfrm>
            <a:prstGeom prst="rect">
              <a:avLst/>
            </a:prstGeom>
            <a:noFill/>
            <a:ln w="9525">
              <a:noFill/>
              <a:miter lim="800000"/>
              <a:headEnd/>
              <a:tailEnd/>
            </a:ln>
            <a:effectLst/>
          </p:spPr>
          <p:txBody>
            <a:bodyPr wrap="none" anchor="ctr">
              <a:spAutoFit/>
            </a:bodyPr>
            <a:lstStyle/>
            <a:p>
              <a:r>
                <a:rPr lang="zh-CN" altLang="en-US" sz="2200" dirty="0">
                  <a:solidFill>
                    <a:schemeClr val="tx1"/>
                  </a:solidFill>
                  <a:latin typeface="黑体" pitchFamily="2" charset="-122"/>
                  <a:ea typeface="黑体" pitchFamily="2" charset="-122"/>
                  <a:cs typeface="Times New Roman" pitchFamily="18" charset="0"/>
                </a:rPr>
                <a:t>类的模式误判为属于</a:t>
              </a:r>
            </a:p>
          </p:txBody>
        </p:sp>
        <p:graphicFrame>
          <p:nvGraphicFramePr>
            <p:cNvPr id="43" name="Object 14"/>
            <p:cNvGraphicFramePr>
              <a:graphicFrameLocks noChangeAspect="1"/>
            </p:cNvGraphicFramePr>
            <p:nvPr>
              <p:extLst>
                <p:ext uri="{D42A27DB-BD31-4B8C-83A1-F6EECF244321}">
                  <p14:modId xmlns:p14="http://schemas.microsoft.com/office/powerpoint/2010/main" val="2835021978"/>
                </p:ext>
              </p:extLst>
            </p:nvPr>
          </p:nvGraphicFramePr>
          <p:xfrm>
            <a:off x="4397921" y="2504696"/>
            <a:ext cx="431800" cy="513670"/>
          </p:xfrm>
          <a:graphic>
            <a:graphicData uri="http://schemas.openxmlformats.org/presentationml/2006/ole">
              <mc:AlternateContent xmlns:mc="http://schemas.openxmlformats.org/markup-compatibility/2006">
                <mc:Choice xmlns:v="urn:schemas-microsoft-com:vml" Requires="v">
                  <p:oleObj spid="_x0000_s83269" name="公式" r:id="rId8" imgW="203112" imgH="241195" progId="Equation.3">
                    <p:embed/>
                  </p:oleObj>
                </mc:Choice>
                <mc:Fallback>
                  <p:oleObj name="公式" r:id="rId8" imgW="203112" imgH="241195" progId="Equation.3">
                    <p:embed/>
                    <p:pic>
                      <p:nvPicPr>
                        <p:cNvPr id="0" name="Picture 28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97921" y="2504696"/>
                          <a:ext cx="431800" cy="5136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 name="Rectangle 15"/>
            <p:cNvSpPr>
              <a:spLocks noChangeArrowheads="1"/>
            </p:cNvSpPr>
            <p:nvPr/>
          </p:nvSpPr>
          <p:spPr bwMode="auto">
            <a:xfrm>
              <a:off x="4802230" y="2529142"/>
              <a:ext cx="2159000" cy="430213"/>
            </a:xfrm>
            <a:prstGeom prst="rect">
              <a:avLst/>
            </a:prstGeom>
            <a:noFill/>
            <a:ln w="9525">
              <a:noFill/>
              <a:miter lim="800000"/>
              <a:headEnd/>
              <a:tailEnd/>
            </a:ln>
            <a:effectLst/>
          </p:spPr>
          <p:txBody>
            <a:bodyPr wrap="none" anchor="ctr">
              <a:spAutoFit/>
            </a:bodyPr>
            <a:lstStyle/>
            <a:p>
              <a:r>
                <a:rPr lang="zh-CN" altLang="en-US" sz="2200" dirty="0">
                  <a:solidFill>
                    <a:schemeClr val="tx1"/>
                  </a:solidFill>
                  <a:latin typeface="黑体" pitchFamily="2" charset="-122"/>
                  <a:ea typeface="黑体" pitchFamily="2" charset="-122"/>
                  <a:cs typeface="Times New Roman" pitchFamily="18" charset="0"/>
                </a:rPr>
                <a:t>类的错误概率为</a:t>
              </a:r>
            </a:p>
          </p:txBody>
        </p:sp>
      </p:grpSp>
      <p:graphicFrame>
        <p:nvGraphicFramePr>
          <p:cNvPr id="46" name="Object 10"/>
          <p:cNvGraphicFramePr>
            <a:graphicFrameLocks noChangeAspect="1"/>
          </p:cNvGraphicFramePr>
          <p:nvPr>
            <p:extLst>
              <p:ext uri="{D42A27DB-BD31-4B8C-83A1-F6EECF244321}">
                <p14:modId xmlns:p14="http://schemas.microsoft.com/office/powerpoint/2010/main" val="1135302219"/>
              </p:ext>
            </p:extLst>
          </p:nvPr>
        </p:nvGraphicFramePr>
        <p:xfrm>
          <a:off x="376883" y="4005064"/>
          <a:ext cx="7246938" cy="889000"/>
        </p:xfrm>
        <a:graphic>
          <a:graphicData uri="http://schemas.openxmlformats.org/presentationml/2006/ole">
            <mc:AlternateContent xmlns:mc="http://schemas.openxmlformats.org/markup-compatibility/2006">
              <mc:Choice xmlns:v="urn:schemas-microsoft-com:vml" Requires="v">
                <p:oleObj spid="_x0000_s83270" name="Equation" r:id="rId10" imgW="3721100" imgH="457200" progId="Equation.DSMT4">
                  <p:embed/>
                </p:oleObj>
              </mc:Choice>
              <mc:Fallback>
                <p:oleObj name="Equation" r:id="rId10" imgW="3721100" imgH="457200" progId="Equation.DSMT4">
                  <p:embed/>
                  <p:pic>
                    <p:nvPicPr>
                      <p:cNvPr id="0" name="Picture 28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6883" y="4005064"/>
                        <a:ext cx="7246938"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 name="Rectangle 17"/>
          <p:cNvSpPr>
            <a:spLocks noChangeArrowheads="1"/>
          </p:cNvSpPr>
          <p:nvPr/>
        </p:nvSpPr>
        <p:spPr bwMode="auto">
          <a:xfrm>
            <a:off x="380837" y="3604766"/>
            <a:ext cx="1030288" cy="430213"/>
          </a:xfrm>
          <a:prstGeom prst="rect">
            <a:avLst/>
          </a:prstGeom>
          <a:noFill/>
          <a:ln w="9525">
            <a:noFill/>
            <a:miter lim="800000"/>
            <a:headEnd/>
            <a:tailEnd/>
          </a:ln>
          <a:effectLst/>
        </p:spPr>
        <p:txBody>
          <a:bodyPr wrap="none" anchor="ctr">
            <a:spAutoFit/>
          </a:bodyPr>
          <a:lstStyle/>
          <a:p>
            <a:r>
              <a:rPr lang="zh-CN" altLang="en-US" sz="2200">
                <a:solidFill>
                  <a:schemeClr val="tx1"/>
                </a:solidFill>
                <a:latin typeface="黑体" pitchFamily="2" charset="-122"/>
                <a:ea typeface="黑体" pitchFamily="2" charset="-122"/>
                <a:cs typeface="Times New Roman" pitchFamily="18" charset="0"/>
              </a:rPr>
              <a:t>将属于</a:t>
            </a:r>
          </a:p>
        </p:txBody>
      </p:sp>
      <p:graphicFrame>
        <p:nvGraphicFramePr>
          <p:cNvPr id="59" name="Object 18"/>
          <p:cNvGraphicFramePr>
            <a:graphicFrameLocks noChangeAspect="1"/>
          </p:cNvGraphicFramePr>
          <p:nvPr>
            <p:extLst>
              <p:ext uri="{D42A27DB-BD31-4B8C-83A1-F6EECF244321}">
                <p14:modId xmlns:p14="http://schemas.microsoft.com/office/powerpoint/2010/main" val="1044753032"/>
              </p:ext>
            </p:extLst>
          </p:nvPr>
        </p:nvGraphicFramePr>
        <p:xfrm>
          <a:off x="4397212" y="3587304"/>
          <a:ext cx="377825" cy="477838"/>
        </p:xfrm>
        <a:graphic>
          <a:graphicData uri="http://schemas.openxmlformats.org/presentationml/2006/ole">
            <mc:AlternateContent xmlns:mc="http://schemas.openxmlformats.org/markup-compatibility/2006">
              <mc:Choice xmlns:v="urn:schemas-microsoft-com:vml" Requires="v">
                <p:oleObj spid="_x0000_s83271" name="公式" r:id="rId12" imgW="177646" imgH="228402" progId="Equation.3">
                  <p:embed/>
                </p:oleObj>
              </mc:Choice>
              <mc:Fallback>
                <p:oleObj name="公式" r:id="rId12" imgW="177646" imgH="228402" progId="Equation.3">
                  <p:embed/>
                  <p:pic>
                    <p:nvPicPr>
                      <p:cNvPr id="0" name="Picture 28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97212" y="3587304"/>
                        <a:ext cx="377825" cy="477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 name="Rectangle 19"/>
          <p:cNvSpPr>
            <a:spLocks noChangeArrowheads="1"/>
          </p:cNvSpPr>
          <p:nvPr/>
        </p:nvSpPr>
        <p:spPr bwMode="auto">
          <a:xfrm>
            <a:off x="1703225" y="3604766"/>
            <a:ext cx="2724150" cy="430213"/>
          </a:xfrm>
          <a:prstGeom prst="rect">
            <a:avLst/>
          </a:prstGeom>
          <a:noFill/>
          <a:ln w="9525">
            <a:noFill/>
            <a:miter lim="800000"/>
            <a:headEnd/>
            <a:tailEnd/>
          </a:ln>
          <a:effectLst/>
        </p:spPr>
        <p:txBody>
          <a:bodyPr wrap="none" anchor="ctr">
            <a:spAutoFit/>
          </a:bodyPr>
          <a:lstStyle/>
          <a:p>
            <a:r>
              <a:rPr lang="zh-CN" altLang="en-US" sz="2200" dirty="0">
                <a:solidFill>
                  <a:schemeClr val="tx1"/>
                </a:solidFill>
                <a:latin typeface="黑体" pitchFamily="2" charset="-122"/>
                <a:ea typeface="黑体" pitchFamily="2" charset="-122"/>
                <a:cs typeface="Times New Roman" pitchFamily="18" charset="0"/>
              </a:rPr>
              <a:t>类的模式误判为属于</a:t>
            </a:r>
          </a:p>
        </p:txBody>
      </p:sp>
      <p:graphicFrame>
        <p:nvGraphicFramePr>
          <p:cNvPr id="61" name="Object 20"/>
          <p:cNvGraphicFramePr>
            <a:graphicFrameLocks noChangeAspect="1"/>
          </p:cNvGraphicFramePr>
          <p:nvPr>
            <p:extLst>
              <p:ext uri="{D42A27DB-BD31-4B8C-83A1-F6EECF244321}">
                <p14:modId xmlns:p14="http://schemas.microsoft.com/office/powerpoint/2010/main" val="4266156863"/>
              </p:ext>
            </p:extLst>
          </p:nvPr>
        </p:nvGraphicFramePr>
        <p:xfrm>
          <a:off x="1342862" y="3573016"/>
          <a:ext cx="433388" cy="515938"/>
        </p:xfrm>
        <a:graphic>
          <a:graphicData uri="http://schemas.openxmlformats.org/presentationml/2006/ole">
            <mc:AlternateContent xmlns:mc="http://schemas.openxmlformats.org/markup-compatibility/2006">
              <mc:Choice xmlns:v="urn:schemas-microsoft-com:vml" Requires="v">
                <p:oleObj spid="_x0000_s83272" name="公式" r:id="rId14" imgW="203112" imgH="241195" progId="Equation.3">
                  <p:embed/>
                </p:oleObj>
              </mc:Choice>
              <mc:Fallback>
                <p:oleObj name="公式" r:id="rId14" imgW="203112" imgH="241195" progId="Equation.3">
                  <p:embed/>
                  <p:pic>
                    <p:nvPicPr>
                      <p:cNvPr id="0" name="Picture 28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42862" y="3573016"/>
                        <a:ext cx="433388" cy="515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 name="Rectangle 21"/>
          <p:cNvSpPr>
            <a:spLocks noChangeArrowheads="1"/>
          </p:cNvSpPr>
          <p:nvPr/>
        </p:nvSpPr>
        <p:spPr bwMode="auto">
          <a:xfrm>
            <a:off x="4727412" y="3585716"/>
            <a:ext cx="2159000" cy="430213"/>
          </a:xfrm>
          <a:prstGeom prst="rect">
            <a:avLst/>
          </a:prstGeom>
          <a:noFill/>
          <a:ln w="9525">
            <a:noFill/>
            <a:miter lim="800000"/>
            <a:headEnd/>
            <a:tailEnd/>
          </a:ln>
          <a:effectLst/>
        </p:spPr>
        <p:txBody>
          <a:bodyPr wrap="none" anchor="ctr">
            <a:spAutoFit/>
          </a:bodyPr>
          <a:lstStyle/>
          <a:p>
            <a:r>
              <a:rPr lang="zh-CN" altLang="en-US" sz="2200" dirty="0">
                <a:solidFill>
                  <a:schemeClr val="tx1"/>
                </a:solidFill>
                <a:latin typeface="黑体" pitchFamily="2" charset="-122"/>
                <a:ea typeface="黑体" pitchFamily="2" charset="-122"/>
                <a:cs typeface="Times New Roman" pitchFamily="18" charset="0"/>
              </a:rPr>
              <a:t>类的错误概率为</a:t>
            </a:r>
          </a:p>
        </p:txBody>
      </p:sp>
      <p:graphicFrame>
        <p:nvGraphicFramePr>
          <p:cNvPr id="63" name="Object 8"/>
          <p:cNvGraphicFramePr>
            <a:graphicFrameLocks noChangeAspect="1"/>
          </p:cNvGraphicFramePr>
          <p:nvPr>
            <p:extLst>
              <p:ext uri="{D42A27DB-BD31-4B8C-83A1-F6EECF244321}">
                <p14:modId xmlns:p14="http://schemas.microsoft.com/office/powerpoint/2010/main" val="1167628472"/>
              </p:ext>
            </p:extLst>
          </p:nvPr>
        </p:nvGraphicFramePr>
        <p:xfrm>
          <a:off x="3885244" y="1484784"/>
          <a:ext cx="3075986" cy="863076"/>
        </p:xfrm>
        <a:graphic>
          <a:graphicData uri="http://schemas.openxmlformats.org/presentationml/2006/ole">
            <mc:AlternateContent xmlns:mc="http://schemas.openxmlformats.org/markup-compatibility/2006">
              <mc:Choice xmlns:v="urn:schemas-microsoft-com:vml" Requires="v">
                <p:oleObj spid="_x0000_s83273" name="公式" r:id="rId16" imgW="1714500" imgH="482600" progId="Equation.3">
                  <p:embed/>
                </p:oleObj>
              </mc:Choice>
              <mc:Fallback>
                <p:oleObj name="公式" r:id="rId16" imgW="1714500" imgH="482600" progId="Equation.3">
                  <p:embed/>
                  <p:pic>
                    <p:nvPicPr>
                      <p:cNvPr id="0" name="Picture 28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85244" y="1484784"/>
                        <a:ext cx="3075986" cy="8630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4" name="Object 11"/>
          <p:cNvGraphicFramePr>
            <a:graphicFrameLocks noChangeAspect="1"/>
          </p:cNvGraphicFramePr>
          <p:nvPr>
            <p:extLst>
              <p:ext uri="{D42A27DB-BD31-4B8C-83A1-F6EECF244321}">
                <p14:modId xmlns:p14="http://schemas.microsoft.com/office/powerpoint/2010/main" val="4043698258"/>
              </p:ext>
            </p:extLst>
          </p:nvPr>
        </p:nvGraphicFramePr>
        <p:xfrm>
          <a:off x="7718979" y="1542851"/>
          <a:ext cx="3355421" cy="714380"/>
        </p:xfrm>
        <a:graphic>
          <a:graphicData uri="http://schemas.openxmlformats.org/presentationml/2006/ole">
            <mc:AlternateContent xmlns:mc="http://schemas.openxmlformats.org/markup-compatibility/2006">
              <mc:Choice xmlns:v="urn:schemas-microsoft-com:vml" Requires="v">
                <p:oleObj spid="_x0000_s83274" name="Equation" r:id="rId18" imgW="1968500" imgH="419100" progId="Equation.DSMT4">
                  <p:embed/>
                </p:oleObj>
              </mc:Choice>
              <mc:Fallback>
                <p:oleObj name="Equation" r:id="rId18" imgW="1968500" imgH="419100" progId="Equation.DSMT4">
                  <p:embed/>
                  <p:pic>
                    <p:nvPicPr>
                      <p:cNvPr id="0" name="Picture 29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718979" y="1542851"/>
                        <a:ext cx="3355421" cy="7143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 name="Object 13"/>
          <p:cNvGraphicFramePr>
            <a:graphicFrameLocks noChangeAspect="1"/>
          </p:cNvGraphicFramePr>
          <p:nvPr>
            <p:extLst>
              <p:ext uri="{D42A27DB-BD31-4B8C-83A1-F6EECF244321}">
                <p14:modId xmlns:p14="http://schemas.microsoft.com/office/powerpoint/2010/main" val="1914556862"/>
              </p:ext>
            </p:extLst>
          </p:nvPr>
        </p:nvGraphicFramePr>
        <p:xfrm>
          <a:off x="456020" y="1538230"/>
          <a:ext cx="2829182" cy="787380"/>
        </p:xfrm>
        <a:graphic>
          <a:graphicData uri="http://schemas.openxmlformats.org/presentationml/2006/ole">
            <mc:AlternateContent xmlns:mc="http://schemas.openxmlformats.org/markup-compatibility/2006">
              <mc:Choice xmlns:v="urn:schemas-microsoft-com:vml" Requires="v">
                <p:oleObj spid="_x0000_s83275" name="Equation" r:id="rId20" imgW="1320800" imgH="368300" progId="Equation.DSMT4">
                  <p:embed/>
                </p:oleObj>
              </mc:Choice>
              <mc:Fallback>
                <p:oleObj name="Equation" r:id="rId20" imgW="1320800" imgH="368300" progId="Equation.DSMT4">
                  <p:embed/>
                  <p:pic>
                    <p:nvPicPr>
                      <p:cNvPr id="0" name="Picture 29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56020" y="1538230"/>
                        <a:ext cx="2829182" cy="7873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 name="Object 5"/>
          <p:cNvGraphicFramePr>
            <a:graphicFrameLocks noChangeAspect="1"/>
          </p:cNvGraphicFramePr>
          <p:nvPr>
            <p:extLst>
              <p:ext uri="{D42A27DB-BD31-4B8C-83A1-F6EECF244321}">
                <p14:modId xmlns:p14="http://schemas.microsoft.com/office/powerpoint/2010/main" val="1695778959"/>
              </p:ext>
            </p:extLst>
          </p:nvPr>
        </p:nvGraphicFramePr>
        <p:xfrm>
          <a:off x="352530" y="4977546"/>
          <a:ext cx="11504110" cy="1547798"/>
        </p:xfrm>
        <a:graphic>
          <a:graphicData uri="http://schemas.openxmlformats.org/presentationml/2006/ole">
            <mc:AlternateContent xmlns:mc="http://schemas.openxmlformats.org/markup-compatibility/2006">
              <mc:Choice xmlns:v="urn:schemas-microsoft-com:vml" Requires="v">
                <p:oleObj spid="_x0000_s83276" name="Equation" r:id="rId22" imgW="5181480" imgH="698400" progId="Equation.DSMT4">
                  <p:embed/>
                </p:oleObj>
              </mc:Choice>
              <mc:Fallback>
                <p:oleObj name="Equation" r:id="rId22" imgW="5181480" imgH="698400" progId="Equation.DSMT4">
                  <p:embed/>
                  <p:pic>
                    <p:nvPicPr>
                      <p:cNvPr id="0" name="Picture 29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52530" y="4977546"/>
                        <a:ext cx="11504110" cy="15477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 name="Rectangle 11"/>
          <p:cNvSpPr>
            <a:spLocks noChangeArrowheads="1"/>
          </p:cNvSpPr>
          <p:nvPr/>
        </p:nvSpPr>
        <p:spPr bwMode="auto">
          <a:xfrm>
            <a:off x="376883" y="4871305"/>
            <a:ext cx="2181995" cy="429903"/>
          </a:xfrm>
          <a:prstGeom prst="rect">
            <a:avLst/>
          </a:prstGeom>
          <a:noFill/>
          <a:ln w="9525">
            <a:noFill/>
            <a:miter lim="800000"/>
            <a:headEnd/>
            <a:tailEnd/>
          </a:ln>
          <a:effectLst/>
        </p:spPr>
        <p:txBody>
          <a:bodyPr/>
          <a:lstStyle/>
          <a:p>
            <a:pPr marL="342900" indent="-342900">
              <a:spcBef>
                <a:spcPct val="20000"/>
              </a:spcBef>
              <a:buClr>
                <a:schemeClr val="folHlink"/>
              </a:buClr>
              <a:buSzPct val="60000"/>
              <a:buFont typeface="Wingdings" pitchFamily="2" charset="2"/>
              <a:buNone/>
            </a:pPr>
            <a:r>
              <a:rPr lang="zh-CN" altLang="en-US" sz="2200" b="0" dirty="0">
                <a:solidFill>
                  <a:schemeClr val="tx1"/>
                </a:solidFill>
                <a:latin typeface="黑体" pitchFamily="2" charset="-122"/>
                <a:ea typeface="黑体" pitchFamily="2" charset="-122"/>
              </a:rPr>
              <a:t>总的误判概率为</a:t>
            </a:r>
            <a:endParaRPr lang="en-US" altLang="zh-CN" sz="2200" b="0" dirty="0">
              <a:solidFill>
                <a:schemeClr val="tx1"/>
              </a:solidFill>
              <a:latin typeface="黑体" pitchFamily="2" charset="-122"/>
              <a:ea typeface="黑体" pitchFamily="2" charset="-122"/>
            </a:endParaRPr>
          </a:p>
        </p:txBody>
      </p:sp>
    </p:spTree>
    <p:extLst>
      <p:ext uri="{BB962C8B-B14F-4D97-AF65-F5344CB8AC3E}">
        <p14:creationId xmlns:p14="http://schemas.microsoft.com/office/powerpoint/2010/main" val="12904380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80</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13.5 </a:t>
            </a:r>
            <a:r>
              <a:rPr lang="zh-CN" altLang="zh-CN" dirty="0"/>
              <a:t>关于分类器的错误率</a:t>
            </a:r>
          </a:p>
        </p:txBody>
      </p:sp>
      <p:sp>
        <p:nvSpPr>
          <p:cNvPr id="12" name="矩形 11"/>
          <p:cNvSpPr/>
          <p:nvPr/>
        </p:nvSpPr>
        <p:spPr>
          <a:xfrm>
            <a:off x="352694" y="1052736"/>
            <a:ext cx="3775393"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正态模式分类的错误率</a:t>
            </a:r>
          </a:p>
        </p:txBody>
      </p:sp>
      <p:graphicFrame>
        <p:nvGraphicFramePr>
          <p:cNvPr id="27" name="Object 5"/>
          <p:cNvGraphicFramePr>
            <a:graphicFrameLocks noChangeAspect="1"/>
          </p:cNvGraphicFramePr>
          <p:nvPr>
            <p:extLst>
              <p:ext uri="{D42A27DB-BD31-4B8C-83A1-F6EECF244321}">
                <p14:modId xmlns:p14="http://schemas.microsoft.com/office/powerpoint/2010/main" val="1735229439"/>
              </p:ext>
            </p:extLst>
          </p:nvPr>
        </p:nvGraphicFramePr>
        <p:xfrm>
          <a:off x="361563" y="2197062"/>
          <a:ext cx="5886886" cy="1736691"/>
        </p:xfrm>
        <a:graphic>
          <a:graphicData uri="http://schemas.openxmlformats.org/presentationml/2006/ole">
            <mc:AlternateContent xmlns:mc="http://schemas.openxmlformats.org/markup-compatibility/2006">
              <mc:Choice xmlns:v="urn:schemas-microsoft-com:vml" Requires="v">
                <p:oleObj spid="_x0000_s84162" name="Equation" r:id="rId4" imgW="2755900" imgH="825500" progId="Equation.DSMT4">
                  <p:embed/>
                </p:oleObj>
              </mc:Choice>
              <mc:Fallback>
                <p:oleObj name="Equation" r:id="rId4" imgW="2755900" imgH="825500" progId="Equation.DSMT4">
                  <p:embed/>
                  <p:pic>
                    <p:nvPicPr>
                      <p:cNvPr id="0" name="Picture 17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1563" y="2197062"/>
                        <a:ext cx="5886886" cy="17366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组合 3"/>
          <p:cNvGrpSpPr/>
          <p:nvPr/>
        </p:nvGrpSpPr>
        <p:grpSpPr>
          <a:xfrm>
            <a:off x="302438" y="1528216"/>
            <a:ext cx="8534400" cy="654489"/>
            <a:chOff x="302438" y="1528216"/>
            <a:chExt cx="8534400" cy="654489"/>
          </a:xfrm>
        </p:grpSpPr>
        <p:sp>
          <p:nvSpPr>
            <p:cNvPr id="25" name="Rectangle 2"/>
            <p:cNvSpPr txBox="1">
              <a:spLocks noChangeArrowheads="1"/>
            </p:cNvSpPr>
            <p:nvPr/>
          </p:nvSpPr>
          <p:spPr bwMode="gray">
            <a:xfrm>
              <a:off x="302438" y="1617117"/>
              <a:ext cx="8534400" cy="5032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Font typeface="Wingdings" pitchFamily="2" charset="2"/>
                <a:buNone/>
              </a:pPr>
              <a:r>
                <a:rPr lang="zh-CN" altLang="en-US" sz="2200" kern="0" dirty="0">
                  <a:latin typeface="黑体" panose="02010609060101010101" pitchFamily="49" charset="-122"/>
                  <a:ea typeface="黑体" panose="02010609060101010101" pitchFamily="49" charset="-122"/>
                </a:rPr>
                <a:t>如果               ，</a:t>
              </a:r>
              <a:r>
                <a:rPr lang="en-US" altLang="zh-CN" sz="2200" kern="0" dirty="0">
                  <a:latin typeface="黑体" panose="02010609060101010101" pitchFamily="49" charset="-122"/>
                  <a:ea typeface="黑体" panose="02010609060101010101" pitchFamily="49" charset="-122"/>
                </a:rPr>
                <a:t>0–1 </a:t>
              </a:r>
              <a:r>
                <a:rPr lang="zh-CN" altLang="en-US" sz="2200" kern="0" dirty="0">
                  <a:latin typeface="黑体" panose="02010609060101010101" pitchFamily="49" charset="-122"/>
                  <a:ea typeface="黑体" panose="02010609060101010101" pitchFamily="49" charset="-122"/>
                </a:rPr>
                <a:t>损失函数，此时        。</a:t>
              </a:r>
              <a:endParaRPr lang="en-US" altLang="zh-CN" sz="2200" kern="0" dirty="0">
                <a:latin typeface="黑体" panose="02010609060101010101" pitchFamily="49" charset="-122"/>
                <a:ea typeface="黑体" panose="02010609060101010101" pitchFamily="49" charset="-122"/>
              </a:endParaRPr>
            </a:p>
          </p:txBody>
        </p:sp>
        <p:graphicFrame>
          <p:nvGraphicFramePr>
            <p:cNvPr id="26" name="Object 4"/>
            <p:cNvGraphicFramePr>
              <a:graphicFrameLocks noChangeAspect="1"/>
            </p:cNvGraphicFramePr>
            <p:nvPr>
              <p:extLst>
                <p:ext uri="{D42A27DB-BD31-4B8C-83A1-F6EECF244321}">
                  <p14:modId xmlns:p14="http://schemas.microsoft.com/office/powerpoint/2010/main" val="383891329"/>
                </p:ext>
              </p:extLst>
            </p:nvPr>
          </p:nvGraphicFramePr>
          <p:xfrm>
            <a:off x="983432" y="1528216"/>
            <a:ext cx="1975476" cy="654489"/>
          </p:xfrm>
          <a:graphic>
            <a:graphicData uri="http://schemas.openxmlformats.org/presentationml/2006/ole">
              <mc:AlternateContent xmlns:mc="http://schemas.openxmlformats.org/markup-compatibility/2006">
                <mc:Choice xmlns:v="urn:schemas-microsoft-com:vml" Requires="v">
                  <p:oleObj spid="_x0000_s84163" name="公式" r:id="rId6" imgW="1180588" imgH="393529" progId="Equation.3">
                    <p:embed/>
                  </p:oleObj>
                </mc:Choice>
                <mc:Fallback>
                  <p:oleObj name="公式" r:id="rId6" imgW="1180588" imgH="393529" progId="Equation.3">
                    <p:embed/>
                    <p:pic>
                      <p:nvPicPr>
                        <p:cNvPr id="0" name="Picture 17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3432" y="1528216"/>
                          <a:ext cx="1975476" cy="6544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14"/>
            <p:cNvGraphicFramePr>
              <a:graphicFrameLocks noChangeAspect="1"/>
            </p:cNvGraphicFramePr>
            <p:nvPr>
              <p:extLst>
                <p:ext uri="{D42A27DB-BD31-4B8C-83A1-F6EECF244321}">
                  <p14:modId xmlns:p14="http://schemas.microsoft.com/office/powerpoint/2010/main" val="59593984"/>
                </p:ext>
              </p:extLst>
            </p:nvPr>
          </p:nvGraphicFramePr>
          <p:xfrm>
            <a:off x="6043107" y="1636129"/>
            <a:ext cx="1013897" cy="464769"/>
          </p:xfrm>
          <a:graphic>
            <a:graphicData uri="http://schemas.openxmlformats.org/presentationml/2006/ole">
              <mc:AlternateContent xmlns:mc="http://schemas.openxmlformats.org/markup-compatibility/2006">
                <mc:Choice xmlns:v="urn:schemas-microsoft-com:vml" Requires="v">
                  <p:oleObj spid="_x0000_s84164" name="Equation" r:id="rId8" imgW="355292" imgH="203024" progId="Equation.DSMT4">
                    <p:embed/>
                  </p:oleObj>
                </mc:Choice>
                <mc:Fallback>
                  <p:oleObj name="Equation" r:id="rId8" imgW="355292" imgH="203024" progId="Equation.DSMT4">
                    <p:embed/>
                    <p:pic>
                      <p:nvPicPr>
                        <p:cNvPr id="0" name="Picture 17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43107" y="1636129"/>
                          <a:ext cx="1013897" cy="4647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9" name="Line 19"/>
          <p:cNvSpPr>
            <a:spLocks noChangeShapeType="1"/>
          </p:cNvSpPr>
          <p:nvPr/>
        </p:nvSpPr>
        <p:spPr bwMode="auto">
          <a:xfrm>
            <a:off x="5303117" y="5778529"/>
            <a:ext cx="6593067" cy="0"/>
          </a:xfrm>
          <a:prstGeom prst="line">
            <a:avLst/>
          </a:prstGeom>
          <a:noFill/>
          <a:ln w="9525">
            <a:solidFill>
              <a:srgbClr val="000000"/>
            </a:solidFill>
            <a:round/>
            <a:headEnd/>
            <a:tailEnd type="triangle" w="med" len="med"/>
          </a:ln>
        </p:spPr>
        <p:txBody>
          <a:bodyPr/>
          <a:lstStyle/>
          <a:p>
            <a:endParaRPr lang="zh-CN" altLang="en-US" sz="2200">
              <a:solidFill>
                <a:schemeClr val="tx1"/>
              </a:solidFill>
              <a:latin typeface="Times New Roman" panose="02020603050405020304" pitchFamily="18" charset="0"/>
            </a:endParaRPr>
          </a:p>
        </p:txBody>
      </p:sp>
      <p:sp>
        <p:nvSpPr>
          <p:cNvPr id="30" name="Line 20"/>
          <p:cNvSpPr>
            <a:spLocks noChangeShapeType="1"/>
          </p:cNvSpPr>
          <p:nvPr/>
        </p:nvSpPr>
        <p:spPr bwMode="auto">
          <a:xfrm flipV="1">
            <a:off x="8374951" y="3186459"/>
            <a:ext cx="0" cy="2592070"/>
          </a:xfrm>
          <a:prstGeom prst="line">
            <a:avLst/>
          </a:prstGeom>
          <a:noFill/>
          <a:ln w="9525">
            <a:solidFill>
              <a:srgbClr val="000000"/>
            </a:solidFill>
            <a:round/>
            <a:headEnd/>
            <a:tailEnd type="triangle" w="med" len="med"/>
          </a:ln>
        </p:spPr>
        <p:txBody>
          <a:bodyPr/>
          <a:lstStyle/>
          <a:p>
            <a:endParaRPr lang="zh-CN" altLang="en-US" sz="2200">
              <a:solidFill>
                <a:schemeClr val="tx1"/>
              </a:solidFill>
              <a:latin typeface="Times New Roman" panose="02020603050405020304" pitchFamily="18" charset="0"/>
            </a:endParaRPr>
          </a:p>
        </p:txBody>
      </p:sp>
      <p:sp>
        <p:nvSpPr>
          <p:cNvPr id="31" name="Freeform 22"/>
          <p:cNvSpPr>
            <a:spLocks/>
          </p:cNvSpPr>
          <p:nvPr/>
        </p:nvSpPr>
        <p:spPr bwMode="auto">
          <a:xfrm>
            <a:off x="6231811" y="3854779"/>
            <a:ext cx="4286280" cy="1928826"/>
          </a:xfrm>
          <a:custGeom>
            <a:avLst/>
            <a:gdLst/>
            <a:ahLst/>
            <a:cxnLst>
              <a:cxn ang="0">
                <a:pos x="0" y="872"/>
              </a:cxn>
              <a:cxn ang="0">
                <a:pos x="720" y="716"/>
              </a:cxn>
              <a:cxn ang="0">
                <a:pos x="1080" y="248"/>
              </a:cxn>
              <a:cxn ang="0">
                <a:pos x="1419" y="1"/>
              </a:cxn>
              <a:cxn ang="0">
                <a:pos x="1803" y="253"/>
              </a:cxn>
              <a:cxn ang="0">
                <a:pos x="2199" y="697"/>
              </a:cxn>
              <a:cxn ang="0">
                <a:pos x="2871" y="877"/>
              </a:cxn>
            </a:cxnLst>
            <a:rect l="0" t="0" r="r" b="b"/>
            <a:pathLst>
              <a:path w="2871" h="877">
                <a:moveTo>
                  <a:pt x="0" y="872"/>
                </a:moveTo>
                <a:cubicBezTo>
                  <a:pt x="270" y="846"/>
                  <a:pt x="540" y="820"/>
                  <a:pt x="720" y="716"/>
                </a:cubicBezTo>
                <a:cubicBezTo>
                  <a:pt x="900" y="612"/>
                  <a:pt x="964" y="367"/>
                  <a:pt x="1080" y="248"/>
                </a:cubicBezTo>
                <a:cubicBezTo>
                  <a:pt x="1196" y="129"/>
                  <a:pt x="1299" y="0"/>
                  <a:pt x="1419" y="1"/>
                </a:cubicBezTo>
                <a:cubicBezTo>
                  <a:pt x="1539" y="2"/>
                  <a:pt x="1673" y="137"/>
                  <a:pt x="1803" y="253"/>
                </a:cubicBezTo>
                <a:cubicBezTo>
                  <a:pt x="1933" y="369"/>
                  <a:pt x="2021" y="593"/>
                  <a:pt x="2199" y="697"/>
                </a:cubicBezTo>
                <a:cubicBezTo>
                  <a:pt x="2377" y="801"/>
                  <a:pt x="2731" y="840"/>
                  <a:pt x="2871" y="877"/>
                </a:cubicBezTo>
              </a:path>
            </a:pathLst>
          </a:custGeom>
          <a:noFill/>
          <a:ln w="9525">
            <a:solidFill>
              <a:srgbClr val="000000"/>
            </a:solidFill>
            <a:round/>
            <a:headEnd/>
            <a:tailEnd/>
          </a:ln>
        </p:spPr>
        <p:txBody>
          <a:bodyPr/>
          <a:lstStyle/>
          <a:p>
            <a:endParaRPr lang="zh-CN" altLang="en-US" sz="2200">
              <a:solidFill>
                <a:schemeClr val="tx1"/>
              </a:solidFill>
              <a:latin typeface="Times New Roman" panose="02020603050405020304" pitchFamily="18" charset="0"/>
            </a:endParaRPr>
          </a:p>
        </p:txBody>
      </p:sp>
      <p:sp>
        <p:nvSpPr>
          <p:cNvPr id="32" name="Text Box 24"/>
          <p:cNvSpPr txBox="1">
            <a:spLocks noChangeArrowheads="1"/>
          </p:cNvSpPr>
          <p:nvPr/>
        </p:nvSpPr>
        <p:spPr bwMode="auto">
          <a:xfrm>
            <a:off x="8324939" y="5844993"/>
            <a:ext cx="389174" cy="526168"/>
          </a:xfrm>
          <a:prstGeom prst="rect">
            <a:avLst/>
          </a:prstGeom>
          <a:noFill/>
          <a:ln w="9525">
            <a:noFill/>
            <a:miter lim="800000"/>
            <a:headEnd/>
            <a:tailEnd/>
          </a:ln>
        </p:spPr>
        <p:txBody>
          <a:bodyPr lIns="0" tIns="0" rIns="0" bIns="0"/>
          <a:lstStyle/>
          <a:p>
            <a:pPr algn="just"/>
            <a:r>
              <a:rPr lang="en-US" altLang="zh-CN" sz="2200" b="0" i="1">
                <a:solidFill>
                  <a:schemeClr val="tx1"/>
                </a:solidFill>
                <a:latin typeface="Times New Roman" panose="02020603050405020304" pitchFamily="18" charset="0"/>
              </a:rPr>
              <a:t>0</a:t>
            </a:r>
            <a:endParaRPr lang="en-US" altLang="zh-CN" sz="2200">
              <a:solidFill>
                <a:schemeClr val="tx1"/>
              </a:solidFill>
              <a:latin typeface="Times New Roman" panose="02020603050405020304" pitchFamily="18" charset="0"/>
            </a:endParaRPr>
          </a:p>
        </p:txBody>
      </p:sp>
      <p:sp>
        <p:nvSpPr>
          <p:cNvPr id="33" name="Text Box 25"/>
          <p:cNvSpPr txBox="1">
            <a:spLocks noChangeArrowheads="1"/>
          </p:cNvSpPr>
          <p:nvPr/>
        </p:nvSpPr>
        <p:spPr bwMode="auto">
          <a:xfrm>
            <a:off x="9017893" y="5855043"/>
            <a:ext cx="686778" cy="526168"/>
          </a:xfrm>
          <a:prstGeom prst="rect">
            <a:avLst/>
          </a:prstGeom>
          <a:noFill/>
          <a:ln w="9525">
            <a:noFill/>
            <a:miter lim="800000"/>
            <a:headEnd/>
            <a:tailEnd/>
          </a:ln>
        </p:spPr>
        <p:txBody>
          <a:bodyPr lIns="0" tIns="0" rIns="0" bIns="0"/>
          <a:lstStyle/>
          <a:p>
            <a:pPr algn="just"/>
            <a:r>
              <a:rPr lang="en-US" altLang="zh-CN" sz="2200" b="0" i="1" dirty="0" err="1">
                <a:solidFill>
                  <a:schemeClr val="tx1"/>
                </a:solidFill>
                <a:latin typeface="Times New Roman" panose="02020603050405020304" pitchFamily="18" charset="0"/>
              </a:rPr>
              <a:t>r</a:t>
            </a:r>
            <a:r>
              <a:rPr lang="en-US" altLang="zh-CN" sz="2200" b="0" i="1" baseline="-25000" dirty="0" err="1">
                <a:solidFill>
                  <a:schemeClr val="tx1"/>
                </a:solidFill>
                <a:latin typeface="Times New Roman" panose="02020603050405020304" pitchFamily="18" charset="0"/>
              </a:rPr>
              <a:t>ij</a:t>
            </a:r>
            <a:r>
              <a:rPr lang="en-US" altLang="zh-CN" sz="2200" b="0" dirty="0">
                <a:solidFill>
                  <a:schemeClr val="tx1"/>
                </a:solidFill>
                <a:latin typeface="Times New Roman" panose="02020603050405020304" pitchFamily="18" charset="0"/>
              </a:rPr>
              <a:t>/</a:t>
            </a:r>
            <a:r>
              <a:rPr lang="en-US" altLang="zh-CN" sz="2200" b="0" i="1" dirty="0">
                <a:solidFill>
                  <a:schemeClr val="tx1"/>
                </a:solidFill>
                <a:latin typeface="Times New Roman" panose="02020603050405020304" pitchFamily="18" charset="0"/>
              </a:rPr>
              <a:t>2</a:t>
            </a:r>
            <a:endParaRPr lang="en-US" altLang="zh-CN" sz="2200" dirty="0">
              <a:solidFill>
                <a:schemeClr val="tx1"/>
              </a:solidFill>
              <a:latin typeface="Times New Roman" panose="02020603050405020304" pitchFamily="18" charset="0"/>
            </a:endParaRPr>
          </a:p>
        </p:txBody>
      </p:sp>
      <p:sp>
        <p:nvSpPr>
          <p:cNvPr id="34" name="Text Box 27"/>
          <p:cNvSpPr txBox="1">
            <a:spLocks noChangeArrowheads="1"/>
          </p:cNvSpPr>
          <p:nvPr/>
        </p:nvSpPr>
        <p:spPr bwMode="auto">
          <a:xfrm>
            <a:off x="7231943" y="5855043"/>
            <a:ext cx="915704" cy="526168"/>
          </a:xfrm>
          <a:prstGeom prst="rect">
            <a:avLst/>
          </a:prstGeom>
          <a:noFill/>
          <a:ln w="9525">
            <a:noFill/>
            <a:miter lim="800000"/>
            <a:headEnd/>
            <a:tailEnd/>
          </a:ln>
        </p:spPr>
        <p:txBody>
          <a:bodyPr lIns="0" tIns="0" rIns="0" bIns="0"/>
          <a:lstStyle/>
          <a:p>
            <a:pPr algn="just"/>
            <a:r>
              <a:rPr lang="en-US" altLang="zh-CN" sz="2200" b="0" dirty="0">
                <a:solidFill>
                  <a:schemeClr val="tx1"/>
                </a:solidFill>
                <a:latin typeface="Times New Roman" panose="02020603050405020304" pitchFamily="18" charset="0"/>
              </a:rPr>
              <a:t>-</a:t>
            </a:r>
            <a:r>
              <a:rPr lang="en-US" altLang="zh-CN" sz="2200" b="0" i="1" dirty="0" err="1">
                <a:solidFill>
                  <a:schemeClr val="tx1"/>
                </a:solidFill>
                <a:latin typeface="Times New Roman" panose="02020603050405020304" pitchFamily="18" charset="0"/>
              </a:rPr>
              <a:t>r</a:t>
            </a:r>
            <a:r>
              <a:rPr lang="en-US" altLang="zh-CN" sz="2200" b="0" i="1" baseline="-25000" dirty="0" err="1">
                <a:solidFill>
                  <a:schemeClr val="tx1"/>
                </a:solidFill>
                <a:latin typeface="Times New Roman" panose="02020603050405020304" pitchFamily="18" charset="0"/>
              </a:rPr>
              <a:t>ij</a:t>
            </a:r>
            <a:r>
              <a:rPr lang="en-US" altLang="zh-CN" sz="2200" b="0" dirty="0">
                <a:solidFill>
                  <a:schemeClr val="tx1"/>
                </a:solidFill>
                <a:latin typeface="Times New Roman" panose="02020603050405020304" pitchFamily="18" charset="0"/>
              </a:rPr>
              <a:t>/</a:t>
            </a:r>
            <a:r>
              <a:rPr lang="en-US" altLang="zh-CN" sz="2200" b="0" i="1" dirty="0">
                <a:solidFill>
                  <a:schemeClr val="tx1"/>
                </a:solidFill>
                <a:latin typeface="Times New Roman" panose="02020603050405020304" pitchFamily="18" charset="0"/>
              </a:rPr>
              <a:t>2</a:t>
            </a:r>
            <a:endParaRPr lang="en-US" altLang="zh-CN" sz="2200" dirty="0">
              <a:solidFill>
                <a:schemeClr val="tx1"/>
              </a:solidFill>
              <a:latin typeface="Times New Roman" panose="02020603050405020304" pitchFamily="18" charset="0"/>
            </a:endParaRPr>
          </a:p>
        </p:txBody>
      </p:sp>
      <p:sp>
        <p:nvSpPr>
          <p:cNvPr id="35" name="Line 31"/>
          <p:cNvSpPr>
            <a:spLocks noChangeShapeType="1"/>
          </p:cNvSpPr>
          <p:nvPr/>
        </p:nvSpPr>
        <p:spPr bwMode="auto">
          <a:xfrm flipH="1">
            <a:off x="9232207" y="4926349"/>
            <a:ext cx="0" cy="858485"/>
          </a:xfrm>
          <a:prstGeom prst="line">
            <a:avLst/>
          </a:prstGeom>
          <a:noFill/>
          <a:ln w="9525">
            <a:solidFill>
              <a:srgbClr val="000000"/>
            </a:solidFill>
            <a:prstDash val="dash"/>
            <a:round/>
            <a:headEnd/>
            <a:tailEnd/>
          </a:ln>
        </p:spPr>
        <p:txBody>
          <a:bodyPr/>
          <a:lstStyle/>
          <a:p>
            <a:endParaRPr lang="zh-CN" altLang="en-US" sz="2200">
              <a:solidFill>
                <a:schemeClr val="tx1"/>
              </a:solidFill>
              <a:latin typeface="Times New Roman" panose="02020603050405020304" pitchFamily="18" charset="0"/>
            </a:endParaRPr>
          </a:p>
        </p:txBody>
      </p:sp>
      <p:sp>
        <p:nvSpPr>
          <p:cNvPr id="36" name="Text Box 33"/>
          <p:cNvSpPr txBox="1">
            <a:spLocks noChangeArrowheads="1"/>
          </p:cNvSpPr>
          <p:nvPr/>
        </p:nvSpPr>
        <p:spPr bwMode="auto">
          <a:xfrm>
            <a:off x="11713043" y="5848763"/>
            <a:ext cx="503637" cy="526168"/>
          </a:xfrm>
          <a:prstGeom prst="rect">
            <a:avLst/>
          </a:prstGeom>
          <a:noFill/>
          <a:ln w="9525">
            <a:noFill/>
            <a:miter lim="800000"/>
            <a:headEnd/>
            <a:tailEnd/>
          </a:ln>
        </p:spPr>
        <p:txBody>
          <a:bodyPr lIns="0" tIns="0" rIns="0" bIns="0"/>
          <a:lstStyle/>
          <a:p>
            <a:pPr algn="just"/>
            <a:r>
              <a:rPr lang="en-US" altLang="zh-CN" sz="2200" i="1" dirty="0">
                <a:solidFill>
                  <a:schemeClr val="tx1"/>
                </a:solidFill>
                <a:latin typeface="Times New Roman" panose="02020603050405020304" pitchFamily="18" charset="0"/>
              </a:rPr>
              <a:t>y</a:t>
            </a:r>
          </a:p>
        </p:txBody>
      </p:sp>
      <p:graphicFrame>
        <p:nvGraphicFramePr>
          <p:cNvPr id="37" name="Object 4"/>
          <p:cNvGraphicFramePr>
            <a:graphicFrameLocks noChangeAspect="1"/>
          </p:cNvGraphicFramePr>
          <p:nvPr>
            <p:extLst>
              <p:ext uri="{D42A27DB-BD31-4B8C-83A1-F6EECF244321}">
                <p14:modId xmlns:p14="http://schemas.microsoft.com/office/powerpoint/2010/main" val="3771646868"/>
              </p:ext>
            </p:extLst>
          </p:nvPr>
        </p:nvGraphicFramePr>
        <p:xfrm>
          <a:off x="8435271" y="3068960"/>
          <a:ext cx="2334307" cy="824732"/>
        </p:xfrm>
        <a:graphic>
          <a:graphicData uri="http://schemas.openxmlformats.org/presentationml/2006/ole">
            <mc:AlternateContent xmlns:mc="http://schemas.openxmlformats.org/markup-compatibility/2006">
              <mc:Choice xmlns:v="urn:schemas-microsoft-com:vml" Requires="v">
                <p:oleObj spid="_x0000_s84165" name="Equation" r:id="rId10" imgW="952087" imgH="418918" progId="Equation.DSMT4">
                  <p:embed/>
                </p:oleObj>
              </mc:Choice>
              <mc:Fallback>
                <p:oleObj name="Equation" r:id="rId10" imgW="952087" imgH="418918" progId="Equation.DSMT4">
                  <p:embed/>
                  <p:pic>
                    <p:nvPicPr>
                      <p:cNvPr id="0" name="Picture 17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35271" y="3068960"/>
                        <a:ext cx="2334307" cy="8247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 name="Line 31"/>
          <p:cNvSpPr>
            <a:spLocks noChangeShapeType="1"/>
          </p:cNvSpPr>
          <p:nvPr/>
        </p:nvSpPr>
        <p:spPr bwMode="auto">
          <a:xfrm flipH="1">
            <a:off x="7589133" y="4926349"/>
            <a:ext cx="0" cy="858485"/>
          </a:xfrm>
          <a:prstGeom prst="line">
            <a:avLst/>
          </a:prstGeom>
          <a:noFill/>
          <a:ln w="9525">
            <a:solidFill>
              <a:srgbClr val="000000"/>
            </a:solidFill>
            <a:prstDash val="dash"/>
            <a:round/>
            <a:headEnd/>
            <a:tailEnd/>
          </a:ln>
        </p:spPr>
        <p:txBody>
          <a:bodyPr/>
          <a:lstStyle/>
          <a:p>
            <a:endParaRPr lang="zh-CN" altLang="en-US" sz="2200">
              <a:solidFill>
                <a:schemeClr val="tx1"/>
              </a:solidFill>
              <a:latin typeface="Times New Roman" panose="02020603050405020304" pitchFamily="18" charset="0"/>
            </a:endParaRPr>
          </a:p>
        </p:txBody>
      </p:sp>
      <p:graphicFrame>
        <p:nvGraphicFramePr>
          <p:cNvPr id="45" name="Object 16"/>
          <p:cNvGraphicFramePr>
            <a:graphicFrameLocks noChangeAspect="1"/>
          </p:cNvGraphicFramePr>
          <p:nvPr>
            <p:extLst>
              <p:ext uri="{D42A27DB-BD31-4B8C-83A1-F6EECF244321}">
                <p14:modId xmlns:p14="http://schemas.microsoft.com/office/powerpoint/2010/main" val="1555415167"/>
              </p:ext>
            </p:extLst>
          </p:nvPr>
        </p:nvGraphicFramePr>
        <p:xfrm>
          <a:off x="5714965" y="4734653"/>
          <a:ext cx="1285884" cy="704174"/>
        </p:xfrm>
        <a:graphic>
          <a:graphicData uri="http://schemas.openxmlformats.org/presentationml/2006/ole">
            <mc:AlternateContent xmlns:mc="http://schemas.openxmlformats.org/markup-compatibility/2006">
              <mc:Choice xmlns:v="urn:schemas-microsoft-com:vml" Requires="v">
                <p:oleObj spid="_x0000_s84166" name="Equation" r:id="rId12" imgW="672808" imgH="368140" progId="Equation.DSMT4">
                  <p:embed/>
                </p:oleObj>
              </mc:Choice>
              <mc:Fallback>
                <p:oleObj name="Equation" r:id="rId12" imgW="672808" imgH="368140" progId="Equation.DSMT4">
                  <p:embed/>
                  <p:pic>
                    <p:nvPicPr>
                      <p:cNvPr id="0" name="Picture 17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14965" y="4734653"/>
                        <a:ext cx="1285884" cy="7041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 name="Object 17"/>
          <p:cNvGraphicFramePr>
            <a:graphicFrameLocks noChangeAspect="1"/>
          </p:cNvGraphicFramePr>
          <p:nvPr>
            <p:extLst>
              <p:ext uri="{D42A27DB-BD31-4B8C-83A1-F6EECF244321}">
                <p14:modId xmlns:p14="http://schemas.microsoft.com/office/powerpoint/2010/main" val="2931140172"/>
              </p:ext>
            </p:extLst>
          </p:nvPr>
        </p:nvGraphicFramePr>
        <p:xfrm>
          <a:off x="9730296" y="4686240"/>
          <a:ext cx="1611141" cy="734491"/>
        </p:xfrm>
        <a:graphic>
          <a:graphicData uri="http://schemas.openxmlformats.org/presentationml/2006/ole">
            <mc:AlternateContent xmlns:mc="http://schemas.openxmlformats.org/markup-compatibility/2006">
              <mc:Choice xmlns:v="urn:schemas-microsoft-com:vml" Requires="v">
                <p:oleObj spid="_x0000_s84167" name="Equation" r:id="rId14" imgW="863225" imgH="393529" progId="Equation.DSMT4">
                  <p:embed/>
                </p:oleObj>
              </mc:Choice>
              <mc:Fallback>
                <p:oleObj name="Equation" r:id="rId14" imgW="863225" imgH="393529" progId="Equation.DSMT4">
                  <p:embed/>
                  <p:pic>
                    <p:nvPicPr>
                      <p:cNvPr id="0" name="Picture 17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730296" y="4686240"/>
                        <a:ext cx="1611141" cy="7344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49" name="直接连接符 48"/>
          <p:cNvCxnSpPr/>
          <p:nvPr/>
        </p:nvCxnSpPr>
        <p:spPr>
          <a:xfrm rot="16200000" flipH="1">
            <a:off x="7017629" y="5283539"/>
            <a:ext cx="285752" cy="285752"/>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rot="5400000">
            <a:off x="9446521" y="5283539"/>
            <a:ext cx="214314" cy="214314"/>
          </a:xfrm>
          <a:prstGeom prst="line">
            <a:avLst/>
          </a:prstGeom>
        </p:spPr>
        <p:style>
          <a:lnRef idx="1">
            <a:schemeClr val="accent1"/>
          </a:lnRef>
          <a:fillRef idx="0">
            <a:schemeClr val="accent1"/>
          </a:fillRef>
          <a:effectRef idx="0">
            <a:schemeClr val="accent1"/>
          </a:effectRef>
          <a:fontRef idx="minor">
            <a:schemeClr val="tx1"/>
          </a:fontRef>
        </p:style>
      </p:cxnSp>
      <p:sp>
        <p:nvSpPr>
          <p:cNvPr id="56" name="矩形 55"/>
          <p:cNvSpPr/>
          <p:nvPr/>
        </p:nvSpPr>
        <p:spPr>
          <a:xfrm rot="1377651">
            <a:off x="9863766" y="2473323"/>
            <a:ext cx="1214410" cy="369332"/>
          </a:xfrm>
          <a:prstGeom prst="rect">
            <a:avLst/>
          </a:prstGeom>
        </p:spPr>
        <p:txBody>
          <a:bodyPr wrap="square">
            <a:spAutoFit/>
          </a:bodyPr>
          <a:lstStyle/>
          <a:p>
            <a:r>
              <a:rPr lang="zh-CN" altLang="en-US" dirty="0"/>
              <a:t>对称函数</a:t>
            </a:r>
          </a:p>
        </p:txBody>
      </p:sp>
      <p:sp>
        <p:nvSpPr>
          <p:cNvPr id="57" name="右箭头 56"/>
          <p:cNvSpPr/>
          <p:nvPr/>
        </p:nvSpPr>
        <p:spPr>
          <a:xfrm rot="6498106">
            <a:off x="10188647" y="2848220"/>
            <a:ext cx="241141" cy="154022"/>
          </a:xfrm>
          <a:prstGeom prst="rightArrow">
            <a:avLst/>
          </a:prstGeom>
          <a:solidFill>
            <a:srgbClr val="FF9966"/>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303801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81</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13.5 </a:t>
            </a:r>
            <a:r>
              <a:rPr lang="zh-CN" altLang="zh-CN" dirty="0"/>
              <a:t>关于分类器的错误率</a:t>
            </a:r>
          </a:p>
        </p:txBody>
      </p:sp>
      <p:sp>
        <p:nvSpPr>
          <p:cNvPr id="12" name="矩形 11"/>
          <p:cNvSpPr/>
          <p:nvPr/>
        </p:nvSpPr>
        <p:spPr>
          <a:xfrm>
            <a:off x="352694" y="1052736"/>
            <a:ext cx="3775393"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正态模式分类的错误率</a:t>
            </a:r>
          </a:p>
        </p:txBody>
      </p:sp>
      <p:graphicFrame>
        <p:nvGraphicFramePr>
          <p:cNvPr id="27" name="Object 5"/>
          <p:cNvGraphicFramePr>
            <a:graphicFrameLocks noChangeAspect="1"/>
          </p:cNvGraphicFramePr>
          <p:nvPr/>
        </p:nvGraphicFramePr>
        <p:xfrm>
          <a:off x="361563" y="2197062"/>
          <a:ext cx="5886886" cy="1736691"/>
        </p:xfrm>
        <a:graphic>
          <a:graphicData uri="http://schemas.openxmlformats.org/presentationml/2006/ole">
            <mc:AlternateContent xmlns:mc="http://schemas.openxmlformats.org/markup-compatibility/2006">
              <mc:Choice xmlns:v="urn:schemas-microsoft-com:vml" Requires="v">
                <p:oleObj spid="_x0000_s85414" name="Equation" r:id="rId4" imgW="2755900" imgH="825500" progId="Equation.DSMT4">
                  <p:embed/>
                </p:oleObj>
              </mc:Choice>
              <mc:Fallback>
                <p:oleObj name="Equation" r:id="rId4" imgW="2755900" imgH="825500" progId="Equation.DSMT4">
                  <p:embed/>
                  <p:pic>
                    <p:nvPicPr>
                      <p:cNvPr id="0" name="Picture 36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1563" y="2197062"/>
                        <a:ext cx="5886886" cy="17366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组合 3"/>
          <p:cNvGrpSpPr/>
          <p:nvPr/>
        </p:nvGrpSpPr>
        <p:grpSpPr>
          <a:xfrm>
            <a:off x="302438" y="1528216"/>
            <a:ext cx="8534400" cy="654489"/>
            <a:chOff x="302438" y="1528216"/>
            <a:chExt cx="8534400" cy="654489"/>
          </a:xfrm>
        </p:grpSpPr>
        <p:sp>
          <p:nvSpPr>
            <p:cNvPr id="25" name="Rectangle 2"/>
            <p:cNvSpPr txBox="1">
              <a:spLocks noChangeArrowheads="1"/>
            </p:cNvSpPr>
            <p:nvPr/>
          </p:nvSpPr>
          <p:spPr bwMode="gray">
            <a:xfrm>
              <a:off x="302438" y="1617117"/>
              <a:ext cx="8534400" cy="5032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Font typeface="Wingdings" pitchFamily="2" charset="2"/>
                <a:buNone/>
              </a:pPr>
              <a:r>
                <a:rPr lang="zh-CN" altLang="en-US" sz="2200" kern="0" dirty="0">
                  <a:latin typeface="黑体" panose="02010609060101010101" pitchFamily="49" charset="-122"/>
                  <a:ea typeface="黑体" panose="02010609060101010101" pitchFamily="49" charset="-122"/>
                </a:rPr>
                <a:t>如果               ，</a:t>
              </a:r>
              <a:r>
                <a:rPr lang="en-US" altLang="zh-CN" sz="2200" kern="0" dirty="0">
                  <a:latin typeface="黑体" panose="02010609060101010101" pitchFamily="49" charset="-122"/>
                  <a:ea typeface="黑体" panose="02010609060101010101" pitchFamily="49" charset="-122"/>
                </a:rPr>
                <a:t>0–1 </a:t>
              </a:r>
              <a:r>
                <a:rPr lang="zh-CN" altLang="en-US" sz="2200" kern="0" dirty="0">
                  <a:latin typeface="黑体" panose="02010609060101010101" pitchFamily="49" charset="-122"/>
                  <a:ea typeface="黑体" panose="02010609060101010101" pitchFamily="49" charset="-122"/>
                </a:rPr>
                <a:t>损失函数，此时        。</a:t>
              </a:r>
              <a:endParaRPr lang="en-US" altLang="zh-CN" sz="2200" kern="0" dirty="0">
                <a:latin typeface="黑体" panose="02010609060101010101" pitchFamily="49" charset="-122"/>
                <a:ea typeface="黑体" panose="02010609060101010101" pitchFamily="49" charset="-122"/>
              </a:endParaRPr>
            </a:p>
          </p:txBody>
        </p:sp>
        <p:graphicFrame>
          <p:nvGraphicFramePr>
            <p:cNvPr id="26" name="Object 4"/>
            <p:cNvGraphicFramePr>
              <a:graphicFrameLocks noChangeAspect="1"/>
            </p:cNvGraphicFramePr>
            <p:nvPr/>
          </p:nvGraphicFramePr>
          <p:xfrm>
            <a:off x="983432" y="1528216"/>
            <a:ext cx="1975476" cy="654489"/>
          </p:xfrm>
          <a:graphic>
            <a:graphicData uri="http://schemas.openxmlformats.org/presentationml/2006/ole">
              <mc:AlternateContent xmlns:mc="http://schemas.openxmlformats.org/markup-compatibility/2006">
                <mc:Choice xmlns:v="urn:schemas-microsoft-com:vml" Requires="v">
                  <p:oleObj spid="_x0000_s85415" name="公式" r:id="rId6" imgW="1180588" imgH="393529" progId="Equation.3">
                    <p:embed/>
                  </p:oleObj>
                </mc:Choice>
                <mc:Fallback>
                  <p:oleObj name="公式" r:id="rId6" imgW="1180588" imgH="393529" progId="Equation.3">
                    <p:embed/>
                    <p:pic>
                      <p:nvPicPr>
                        <p:cNvPr id="0" name="Picture 36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3432" y="1528216"/>
                          <a:ext cx="1975476" cy="6544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14"/>
            <p:cNvGraphicFramePr>
              <a:graphicFrameLocks noChangeAspect="1"/>
            </p:cNvGraphicFramePr>
            <p:nvPr/>
          </p:nvGraphicFramePr>
          <p:xfrm>
            <a:off x="6043107" y="1636129"/>
            <a:ext cx="1013897" cy="464769"/>
          </p:xfrm>
          <a:graphic>
            <a:graphicData uri="http://schemas.openxmlformats.org/presentationml/2006/ole">
              <mc:AlternateContent xmlns:mc="http://schemas.openxmlformats.org/markup-compatibility/2006">
                <mc:Choice xmlns:v="urn:schemas-microsoft-com:vml" Requires="v">
                  <p:oleObj spid="_x0000_s85416" name="Equation" r:id="rId8" imgW="355292" imgH="203024" progId="Equation.DSMT4">
                    <p:embed/>
                  </p:oleObj>
                </mc:Choice>
                <mc:Fallback>
                  <p:oleObj name="Equation" r:id="rId8" imgW="355292" imgH="203024" progId="Equation.DSMT4">
                    <p:embed/>
                    <p:pic>
                      <p:nvPicPr>
                        <p:cNvPr id="0" name="Picture 36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43107" y="1636129"/>
                          <a:ext cx="1013897" cy="4647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9" name="Line 19"/>
          <p:cNvSpPr>
            <a:spLocks noChangeShapeType="1"/>
          </p:cNvSpPr>
          <p:nvPr/>
        </p:nvSpPr>
        <p:spPr bwMode="auto">
          <a:xfrm>
            <a:off x="7057004" y="3306608"/>
            <a:ext cx="4953593" cy="0"/>
          </a:xfrm>
          <a:prstGeom prst="line">
            <a:avLst/>
          </a:prstGeom>
          <a:noFill/>
          <a:ln w="9525">
            <a:solidFill>
              <a:srgbClr val="000000"/>
            </a:solidFill>
            <a:round/>
            <a:headEnd/>
            <a:tailEnd type="triangle" w="med" len="med"/>
          </a:ln>
        </p:spPr>
        <p:txBody>
          <a:bodyPr/>
          <a:lstStyle/>
          <a:p>
            <a:endParaRPr lang="zh-CN" altLang="en-US" sz="2200">
              <a:solidFill>
                <a:schemeClr val="tx1"/>
              </a:solidFill>
              <a:latin typeface="Times New Roman" panose="02020603050405020304" pitchFamily="18" charset="0"/>
            </a:endParaRPr>
          </a:p>
        </p:txBody>
      </p:sp>
      <p:sp>
        <p:nvSpPr>
          <p:cNvPr id="30" name="Line 20"/>
          <p:cNvSpPr>
            <a:spLocks noChangeShapeType="1"/>
          </p:cNvSpPr>
          <p:nvPr/>
        </p:nvSpPr>
        <p:spPr bwMode="auto">
          <a:xfrm flipH="1" flipV="1">
            <a:off x="9467576" y="1028764"/>
            <a:ext cx="194" cy="2277843"/>
          </a:xfrm>
          <a:prstGeom prst="line">
            <a:avLst/>
          </a:prstGeom>
          <a:noFill/>
          <a:ln w="9525">
            <a:solidFill>
              <a:srgbClr val="000000"/>
            </a:solidFill>
            <a:round/>
            <a:headEnd/>
            <a:tailEnd type="triangle" w="med" len="med"/>
          </a:ln>
        </p:spPr>
        <p:txBody>
          <a:bodyPr/>
          <a:lstStyle/>
          <a:p>
            <a:endParaRPr lang="zh-CN" altLang="en-US" sz="2200">
              <a:solidFill>
                <a:schemeClr val="tx1"/>
              </a:solidFill>
              <a:latin typeface="Times New Roman" panose="02020603050405020304" pitchFamily="18" charset="0"/>
            </a:endParaRPr>
          </a:p>
        </p:txBody>
      </p:sp>
      <p:sp>
        <p:nvSpPr>
          <p:cNvPr id="31" name="Freeform 22"/>
          <p:cNvSpPr>
            <a:spLocks/>
          </p:cNvSpPr>
          <p:nvPr/>
        </p:nvSpPr>
        <p:spPr bwMode="auto">
          <a:xfrm>
            <a:off x="7324630" y="1382858"/>
            <a:ext cx="4286280" cy="1928826"/>
          </a:xfrm>
          <a:custGeom>
            <a:avLst/>
            <a:gdLst/>
            <a:ahLst/>
            <a:cxnLst>
              <a:cxn ang="0">
                <a:pos x="0" y="872"/>
              </a:cxn>
              <a:cxn ang="0">
                <a:pos x="720" y="716"/>
              </a:cxn>
              <a:cxn ang="0">
                <a:pos x="1080" y="248"/>
              </a:cxn>
              <a:cxn ang="0">
                <a:pos x="1419" y="1"/>
              </a:cxn>
              <a:cxn ang="0">
                <a:pos x="1803" y="253"/>
              </a:cxn>
              <a:cxn ang="0">
                <a:pos x="2199" y="697"/>
              </a:cxn>
              <a:cxn ang="0">
                <a:pos x="2871" y="877"/>
              </a:cxn>
            </a:cxnLst>
            <a:rect l="0" t="0" r="r" b="b"/>
            <a:pathLst>
              <a:path w="2871" h="877">
                <a:moveTo>
                  <a:pt x="0" y="872"/>
                </a:moveTo>
                <a:cubicBezTo>
                  <a:pt x="270" y="846"/>
                  <a:pt x="540" y="820"/>
                  <a:pt x="720" y="716"/>
                </a:cubicBezTo>
                <a:cubicBezTo>
                  <a:pt x="900" y="612"/>
                  <a:pt x="964" y="367"/>
                  <a:pt x="1080" y="248"/>
                </a:cubicBezTo>
                <a:cubicBezTo>
                  <a:pt x="1196" y="129"/>
                  <a:pt x="1299" y="0"/>
                  <a:pt x="1419" y="1"/>
                </a:cubicBezTo>
                <a:cubicBezTo>
                  <a:pt x="1539" y="2"/>
                  <a:pt x="1673" y="137"/>
                  <a:pt x="1803" y="253"/>
                </a:cubicBezTo>
                <a:cubicBezTo>
                  <a:pt x="1933" y="369"/>
                  <a:pt x="2021" y="593"/>
                  <a:pt x="2199" y="697"/>
                </a:cubicBezTo>
                <a:cubicBezTo>
                  <a:pt x="2377" y="801"/>
                  <a:pt x="2731" y="840"/>
                  <a:pt x="2871" y="877"/>
                </a:cubicBezTo>
              </a:path>
            </a:pathLst>
          </a:custGeom>
          <a:noFill/>
          <a:ln w="9525">
            <a:solidFill>
              <a:srgbClr val="000000"/>
            </a:solidFill>
            <a:round/>
            <a:headEnd/>
            <a:tailEnd/>
          </a:ln>
        </p:spPr>
        <p:txBody>
          <a:bodyPr/>
          <a:lstStyle/>
          <a:p>
            <a:endParaRPr lang="zh-CN" altLang="en-US" sz="2200">
              <a:solidFill>
                <a:schemeClr val="tx1"/>
              </a:solidFill>
              <a:latin typeface="Times New Roman" panose="02020603050405020304" pitchFamily="18" charset="0"/>
            </a:endParaRPr>
          </a:p>
        </p:txBody>
      </p:sp>
      <p:sp>
        <p:nvSpPr>
          <p:cNvPr id="32" name="Text Box 24"/>
          <p:cNvSpPr txBox="1">
            <a:spLocks noChangeArrowheads="1"/>
          </p:cNvSpPr>
          <p:nvPr/>
        </p:nvSpPr>
        <p:spPr bwMode="auto">
          <a:xfrm>
            <a:off x="9417758" y="3373072"/>
            <a:ext cx="389174" cy="526168"/>
          </a:xfrm>
          <a:prstGeom prst="rect">
            <a:avLst/>
          </a:prstGeom>
          <a:noFill/>
          <a:ln w="9525">
            <a:noFill/>
            <a:miter lim="800000"/>
            <a:headEnd/>
            <a:tailEnd/>
          </a:ln>
        </p:spPr>
        <p:txBody>
          <a:bodyPr lIns="0" tIns="0" rIns="0" bIns="0"/>
          <a:lstStyle/>
          <a:p>
            <a:pPr algn="just"/>
            <a:r>
              <a:rPr lang="en-US" altLang="zh-CN" sz="2200" b="0" i="1">
                <a:solidFill>
                  <a:schemeClr val="tx1"/>
                </a:solidFill>
                <a:latin typeface="Times New Roman" panose="02020603050405020304" pitchFamily="18" charset="0"/>
              </a:rPr>
              <a:t>0</a:t>
            </a:r>
            <a:endParaRPr lang="en-US" altLang="zh-CN" sz="2200">
              <a:solidFill>
                <a:schemeClr val="tx1"/>
              </a:solidFill>
              <a:latin typeface="Times New Roman" panose="02020603050405020304" pitchFamily="18" charset="0"/>
            </a:endParaRPr>
          </a:p>
        </p:txBody>
      </p:sp>
      <p:sp>
        <p:nvSpPr>
          <p:cNvPr id="33" name="Text Box 25"/>
          <p:cNvSpPr txBox="1">
            <a:spLocks noChangeArrowheads="1"/>
          </p:cNvSpPr>
          <p:nvPr/>
        </p:nvSpPr>
        <p:spPr bwMode="auto">
          <a:xfrm>
            <a:off x="10110712" y="3383122"/>
            <a:ext cx="686778" cy="526168"/>
          </a:xfrm>
          <a:prstGeom prst="rect">
            <a:avLst/>
          </a:prstGeom>
          <a:noFill/>
          <a:ln w="9525">
            <a:noFill/>
            <a:miter lim="800000"/>
            <a:headEnd/>
            <a:tailEnd/>
          </a:ln>
        </p:spPr>
        <p:txBody>
          <a:bodyPr lIns="0" tIns="0" rIns="0" bIns="0"/>
          <a:lstStyle/>
          <a:p>
            <a:pPr algn="just"/>
            <a:r>
              <a:rPr lang="en-US" altLang="zh-CN" sz="2200" b="0" i="1" dirty="0" err="1">
                <a:solidFill>
                  <a:schemeClr val="tx1"/>
                </a:solidFill>
                <a:latin typeface="Times New Roman" panose="02020603050405020304" pitchFamily="18" charset="0"/>
              </a:rPr>
              <a:t>r</a:t>
            </a:r>
            <a:r>
              <a:rPr lang="en-US" altLang="zh-CN" sz="2200" b="0" i="1" baseline="-25000" dirty="0" err="1">
                <a:solidFill>
                  <a:schemeClr val="tx1"/>
                </a:solidFill>
                <a:latin typeface="Times New Roman" panose="02020603050405020304" pitchFamily="18" charset="0"/>
              </a:rPr>
              <a:t>ij</a:t>
            </a:r>
            <a:r>
              <a:rPr lang="en-US" altLang="zh-CN" sz="2200" b="0" dirty="0">
                <a:solidFill>
                  <a:schemeClr val="tx1"/>
                </a:solidFill>
                <a:latin typeface="Times New Roman" panose="02020603050405020304" pitchFamily="18" charset="0"/>
              </a:rPr>
              <a:t>/</a:t>
            </a:r>
            <a:r>
              <a:rPr lang="en-US" altLang="zh-CN" sz="2200" b="0" i="1" dirty="0">
                <a:solidFill>
                  <a:schemeClr val="tx1"/>
                </a:solidFill>
                <a:latin typeface="Times New Roman" panose="02020603050405020304" pitchFamily="18" charset="0"/>
              </a:rPr>
              <a:t>2</a:t>
            </a:r>
            <a:endParaRPr lang="en-US" altLang="zh-CN" sz="2200" dirty="0">
              <a:solidFill>
                <a:schemeClr val="tx1"/>
              </a:solidFill>
              <a:latin typeface="Times New Roman" panose="02020603050405020304" pitchFamily="18" charset="0"/>
            </a:endParaRPr>
          </a:p>
        </p:txBody>
      </p:sp>
      <p:sp>
        <p:nvSpPr>
          <p:cNvPr id="35" name="Line 31"/>
          <p:cNvSpPr>
            <a:spLocks noChangeShapeType="1"/>
          </p:cNvSpPr>
          <p:nvPr/>
        </p:nvSpPr>
        <p:spPr bwMode="auto">
          <a:xfrm flipH="1">
            <a:off x="10325026" y="2454428"/>
            <a:ext cx="0" cy="858485"/>
          </a:xfrm>
          <a:prstGeom prst="line">
            <a:avLst/>
          </a:prstGeom>
          <a:noFill/>
          <a:ln w="9525">
            <a:solidFill>
              <a:srgbClr val="000000"/>
            </a:solidFill>
            <a:prstDash val="dash"/>
            <a:round/>
            <a:headEnd/>
            <a:tailEnd/>
          </a:ln>
        </p:spPr>
        <p:txBody>
          <a:bodyPr/>
          <a:lstStyle/>
          <a:p>
            <a:endParaRPr lang="zh-CN" altLang="en-US" sz="2200">
              <a:solidFill>
                <a:schemeClr val="tx1"/>
              </a:solidFill>
              <a:latin typeface="Times New Roman" panose="02020603050405020304" pitchFamily="18" charset="0"/>
            </a:endParaRPr>
          </a:p>
        </p:txBody>
      </p:sp>
      <p:sp>
        <p:nvSpPr>
          <p:cNvPr id="36" name="Text Box 33"/>
          <p:cNvSpPr txBox="1">
            <a:spLocks noChangeArrowheads="1"/>
          </p:cNvSpPr>
          <p:nvPr/>
        </p:nvSpPr>
        <p:spPr bwMode="auto">
          <a:xfrm>
            <a:off x="11827456" y="3376842"/>
            <a:ext cx="503637" cy="526168"/>
          </a:xfrm>
          <a:prstGeom prst="rect">
            <a:avLst/>
          </a:prstGeom>
          <a:noFill/>
          <a:ln w="9525">
            <a:noFill/>
            <a:miter lim="800000"/>
            <a:headEnd/>
            <a:tailEnd/>
          </a:ln>
        </p:spPr>
        <p:txBody>
          <a:bodyPr lIns="0" tIns="0" rIns="0" bIns="0"/>
          <a:lstStyle/>
          <a:p>
            <a:pPr algn="just"/>
            <a:r>
              <a:rPr lang="en-US" altLang="zh-CN" sz="2200" i="1" dirty="0">
                <a:solidFill>
                  <a:schemeClr val="tx1"/>
                </a:solidFill>
                <a:latin typeface="Times New Roman" panose="02020603050405020304" pitchFamily="18" charset="0"/>
              </a:rPr>
              <a:t>y</a:t>
            </a:r>
          </a:p>
        </p:txBody>
      </p:sp>
      <p:graphicFrame>
        <p:nvGraphicFramePr>
          <p:cNvPr id="37" name="Object 4"/>
          <p:cNvGraphicFramePr>
            <a:graphicFrameLocks noChangeAspect="1"/>
          </p:cNvGraphicFramePr>
          <p:nvPr>
            <p:extLst>
              <p:ext uri="{D42A27DB-BD31-4B8C-83A1-F6EECF244321}">
                <p14:modId xmlns:p14="http://schemas.microsoft.com/office/powerpoint/2010/main" val="2214215180"/>
              </p:ext>
            </p:extLst>
          </p:nvPr>
        </p:nvGraphicFramePr>
        <p:xfrm>
          <a:off x="9649406" y="908720"/>
          <a:ext cx="2178050" cy="825500"/>
        </p:xfrm>
        <a:graphic>
          <a:graphicData uri="http://schemas.openxmlformats.org/presentationml/2006/ole">
            <mc:AlternateContent xmlns:mc="http://schemas.openxmlformats.org/markup-compatibility/2006">
              <mc:Choice xmlns:v="urn:schemas-microsoft-com:vml" Requires="v">
                <p:oleObj spid="_x0000_s85417" name="Equation" r:id="rId10" imgW="888840" imgH="419040" progId="Equation.DSMT4">
                  <p:embed/>
                </p:oleObj>
              </mc:Choice>
              <mc:Fallback>
                <p:oleObj name="Equation" r:id="rId10" imgW="888840" imgH="419040" progId="Equation.DSMT4">
                  <p:embed/>
                  <p:pic>
                    <p:nvPicPr>
                      <p:cNvPr id="0" name="Picture 36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649406" y="908720"/>
                        <a:ext cx="2178050"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50" name="直接连接符 49"/>
          <p:cNvCxnSpPr/>
          <p:nvPr/>
        </p:nvCxnSpPr>
        <p:spPr>
          <a:xfrm rot="5400000">
            <a:off x="10539340" y="2811618"/>
            <a:ext cx="214314" cy="214314"/>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39" name="Object 6"/>
          <p:cNvGraphicFramePr>
            <a:graphicFrameLocks noChangeAspect="1"/>
          </p:cNvGraphicFramePr>
          <p:nvPr>
            <p:extLst>
              <p:ext uri="{D42A27DB-BD31-4B8C-83A1-F6EECF244321}">
                <p14:modId xmlns:p14="http://schemas.microsoft.com/office/powerpoint/2010/main" val="2787105589"/>
              </p:ext>
            </p:extLst>
          </p:nvPr>
        </p:nvGraphicFramePr>
        <p:xfrm>
          <a:off x="450949" y="3926180"/>
          <a:ext cx="3145074" cy="942980"/>
        </p:xfrm>
        <a:graphic>
          <a:graphicData uri="http://schemas.openxmlformats.org/presentationml/2006/ole">
            <mc:AlternateContent xmlns:mc="http://schemas.openxmlformats.org/markup-compatibility/2006">
              <mc:Choice xmlns:v="urn:schemas-microsoft-com:vml" Requires="v">
                <p:oleObj spid="_x0000_s85418" name="Equation" r:id="rId12" imgW="1459866" imgH="444307" progId="Equation.DSMT4">
                  <p:embed/>
                </p:oleObj>
              </mc:Choice>
              <mc:Fallback>
                <p:oleObj name="Equation" r:id="rId12" imgW="1459866" imgH="444307" progId="Equation.DSMT4">
                  <p:embed/>
                  <p:pic>
                    <p:nvPicPr>
                      <p:cNvPr id="0" name="Picture 37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0949" y="3926180"/>
                        <a:ext cx="3145074" cy="942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 name="Object 17"/>
          <p:cNvGraphicFramePr>
            <a:graphicFrameLocks noChangeAspect="1"/>
          </p:cNvGraphicFramePr>
          <p:nvPr>
            <p:extLst>
              <p:ext uri="{D42A27DB-BD31-4B8C-83A1-F6EECF244321}">
                <p14:modId xmlns:p14="http://schemas.microsoft.com/office/powerpoint/2010/main" val="4219088325"/>
              </p:ext>
            </p:extLst>
          </p:nvPr>
        </p:nvGraphicFramePr>
        <p:xfrm>
          <a:off x="10867774" y="2458516"/>
          <a:ext cx="581298" cy="394452"/>
        </p:xfrm>
        <a:graphic>
          <a:graphicData uri="http://schemas.openxmlformats.org/presentationml/2006/ole">
            <mc:AlternateContent xmlns:mc="http://schemas.openxmlformats.org/markup-compatibility/2006">
              <mc:Choice xmlns:v="urn:schemas-microsoft-com:vml" Requires="v">
                <p:oleObj spid="_x0000_s85419" name="Equation" r:id="rId14" imgW="279400" imgH="190500" progId="Equation.DSMT4">
                  <p:embed/>
                </p:oleObj>
              </mc:Choice>
              <mc:Fallback>
                <p:oleObj name="Equation" r:id="rId14" imgW="279400" imgH="190500" progId="Equation.DSMT4">
                  <p:embed/>
                  <p:pic>
                    <p:nvPicPr>
                      <p:cNvPr id="0" name="Picture 37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867774" y="2458516"/>
                        <a:ext cx="581298" cy="394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3" name="Group 10"/>
          <p:cNvGrpSpPr>
            <a:grpSpLocks/>
          </p:cNvGrpSpPr>
          <p:nvPr/>
        </p:nvGrpSpPr>
        <p:grpSpPr bwMode="auto">
          <a:xfrm>
            <a:off x="8220000" y="3979440"/>
            <a:ext cx="3276600" cy="2432050"/>
            <a:chOff x="3569" y="1104"/>
            <a:chExt cx="2064" cy="1532"/>
          </a:xfrm>
        </p:grpSpPr>
        <p:sp>
          <p:nvSpPr>
            <p:cNvPr id="54" name="Text Box 11"/>
            <p:cNvSpPr txBox="1">
              <a:spLocks noChangeArrowheads="1"/>
            </p:cNvSpPr>
            <p:nvPr/>
          </p:nvSpPr>
          <p:spPr bwMode="auto">
            <a:xfrm>
              <a:off x="3744" y="2112"/>
              <a:ext cx="432" cy="233"/>
            </a:xfrm>
            <a:prstGeom prst="rect">
              <a:avLst/>
            </a:prstGeom>
            <a:noFill/>
            <a:ln w="9525">
              <a:noFill/>
              <a:miter lim="800000"/>
              <a:headEnd/>
              <a:tailEnd/>
            </a:ln>
            <a:effectLst/>
          </p:spPr>
          <p:txBody>
            <a:bodyPr>
              <a:spAutoFit/>
            </a:bodyPr>
            <a:lstStyle/>
            <a:p>
              <a:pPr eaLnBrk="0" hangingPunct="0">
                <a:spcBef>
                  <a:spcPct val="50000"/>
                </a:spcBef>
              </a:pPr>
              <a:endParaRPr kumimoji="1" lang="zh-CN" altLang="en-US" b="0">
                <a:latin typeface="Times New Roman" panose="02020603050405020304" pitchFamily="18" charset="0"/>
                <a:cs typeface="Times New Roman" panose="02020603050405020304" pitchFamily="18" charset="0"/>
              </a:endParaRPr>
            </a:p>
          </p:txBody>
        </p:sp>
        <p:sp>
          <p:nvSpPr>
            <p:cNvPr id="55" name="Line 12"/>
            <p:cNvSpPr>
              <a:spLocks noChangeShapeType="1"/>
            </p:cNvSpPr>
            <p:nvPr/>
          </p:nvSpPr>
          <p:spPr bwMode="auto">
            <a:xfrm flipV="1">
              <a:off x="3792" y="1104"/>
              <a:ext cx="0" cy="1344"/>
            </a:xfrm>
            <a:prstGeom prst="line">
              <a:avLst/>
            </a:prstGeom>
            <a:noFill/>
            <a:ln w="9525">
              <a:solidFill>
                <a:schemeClr val="tx1"/>
              </a:solidFill>
              <a:round/>
              <a:headEnd/>
              <a:tailEnd type="triangle" w="med" len="me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8" name="Line 13"/>
            <p:cNvSpPr>
              <a:spLocks noChangeShapeType="1"/>
            </p:cNvSpPr>
            <p:nvPr/>
          </p:nvSpPr>
          <p:spPr bwMode="auto">
            <a:xfrm>
              <a:off x="3792" y="2448"/>
              <a:ext cx="1584" cy="0"/>
            </a:xfrm>
            <a:prstGeom prst="line">
              <a:avLst/>
            </a:prstGeom>
            <a:noFill/>
            <a:ln w="9525">
              <a:solidFill>
                <a:schemeClr val="tx1"/>
              </a:solidFill>
              <a:round/>
              <a:headEnd/>
              <a:tailEnd type="triangle" w="med" len="me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9" name="Freeform 14"/>
            <p:cNvSpPr>
              <a:spLocks/>
            </p:cNvSpPr>
            <p:nvPr/>
          </p:nvSpPr>
          <p:spPr bwMode="auto">
            <a:xfrm>
              <a:off x="3840" y="1296"/>
              <a:ext cx="1296" cy="1104"/>
            </a:xfrm>
            <a:custGeom>
              <a:avLst/>
              <a:gdLst/>
              <a:ahLst/>
              <a:cxnLst>
                <a:cxn ang="0">
                  <a:pos x="0" y="0"/>
                </a:cxn>
                <a:cxn ang="0">
                  <a:pos x="252" y="816"/>
                </a:cxn>
                <a:cxn ang="0">
                  <a:pos x="1296" y="1104"/>
                </a:cxn>
              </a:cxnLst>
              <a:rect l="0" t="0" r="r" b="b"/>
              <a:pathLst>
                <a:path w="1296" h="1104">
                  <a:moveTo>
                    <a:pt x="0" y="0"/>
                  </a:moveTo>
                  <a:cubicBezTo>
                    <a:pt x="42" y="136"/>
                    <a:pt x="36" y="632"/>
                    <a:pt x="252" y="816"/>
                  </a:cubicBezTo>
                  <a:cubicBezTo>
                    <a:pt x="468" y="1000"/>
                    <a:pt x="1078" y="1044"/>
                    <a:pt x="1296" y="1104"/>
                  </a:cubicBezTo>
                </a:path>
              </a:pathLst>
            </a:custGeom>
            <a:noFill/>
            <a:ln w="9525">
              <a:solidFill>
                <a:schemeClr val="tx1"/>
              </a:solidFill>
              <a:round/>
              <a:headEnd/>
              <a:tailE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graphicFrame>
          <p:nvGraphicFramePr>
            <p:cNvPr id="60" name="Object 15"/>
            <p:cNvGraphicFramePr>
              <a:graphicFrameLocks noChangeAspect="1"/>
            </p:cNvGraphicFramePr>
            <p:nvPr>
              <p:extLst>
                <p:ext uri="{D42A27DB-BD31-4B8C-83A1-F6EECF244321}">
                  <p14:modId xmlns:p14="http://schemas.microsoft.com/office/powerpoint/2010/main" val="2273400414"/>
                </p:ext>
              </p:extLst>
            </p:nvPr>
          </p:nvGraphicFramePr>
          <p:xfrm>
            <a:off x="5395" y="2304"/>
            <a:ext cx="238" cy="283"/>
          </p:xfrm>
          <a:graphic>
            <a:graphicData uri="http://schemas.openxmlformats.org/presentationml/2006/ole">
              <mc:AlternateContent xmlns:mc="http://schemas.openxmlformats.org/markup-compatibility/2006">
                <mc:Choice xmlns:v="urn:schemas-microsoft-com:vml" Requires="v">
                  <p:oleObj spid="_x0000_s85420" name="公式" r:id="rId16" imgW="164957" imgH="253780" progId="Equation.3">
                    <p:embed/>
                  </p:oleObj>
                </mc:Choice>
                <mc:Fallback>
                  <p:oleObj name="公式" r:id="rId16" imgW="164957" imgH="253780" progId="Equation.3">
                    <p:embed/>
                    <p:pic>
                      <p:nvPicPr>
                        <p:cNvPr id="0" name="Picture 37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395" y="2304"/>
                          <a:ext cx="238" cy="2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 name="Object 16"/>
            <p:cNvGraphicFramePr>
              <a:graphicFrameLocks noChangeAspect="1"/>
            </p:cNvGraphicFramePr>
            <p:nvPr>
              <p:extLst>
                <p:ext uri="{D42A27DB-BD31-4B8C-83A1-F6EECF244321}">
                  <p14:modId xmlns:p14="http://schemas.microsoft.com/office/powerpoint/2010/main" val="864388485"/>
                </p:ext>
              </p:extLst>
            </p:nvPr>
          </p:nvGraphicFramePr>
          <p:xfrm>
            <a:off x="3941" y="1127"/>
            <a:ext cx="589" cy="217"/>
          </p:xfrm>
          <a:graphic>
            <a:graphicData uri="http://schemas.openxmlformats.org/presentationml/2006/ole">
              <mc:AlternateContent xmlns:mc="http://schemas.openxmlformats.org/markup-compatibility/2006">
                <mc:Choice xmlns:v="urn:schemas-microsoft-com:vml" Requires="v">
                  <p:oleObj spid="_x0000_s85421" name="公式" r:id="rId18" imgW="545760" imgH="203040" progId="Equation.3">
                    <p:embed/>
                  </p:oleObj>
                </mc:Choice>
                <mc:Fallback>
                  <p:oleObj name="公式" r:id="rId18" imgW="545760" imgH="203040" progId="Equation.3">
                    <p:embed/>
                    <p:pic>
                      <p:nvPicPr>
                        <p:cNvPr id="0" name="Picture 37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941" y="1127"/>
                          <a:ext cx="589" cy="2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2" name="Object 17"/>
            <p:cNvGraphicFramePr>
              <a:graphicFrameLocks noChangeAspect="1"/>
            </p:cNvGraphicFramePr>
            <p:nvPr>
              <p:extLst>
                <p:ext uri="{D42A27DB-BD31-4B8C-83A1-F6EECF244321}">
                  <p14:modId xmlns:p14="http://schemas.microsoft.com/office/powerpoint/2010/main" val="2935085799"/>
                </p:ext>
              </p:extLst>
            </p:nvPr>
          </p:nvGraphicFramePr>
          <p:xfrm>
            <a:off x="5057" y="2466"/>
            <a:ext cx="252" cy="169"/>
          </p:xfrm>
          <a:graphic>
            <a:graphicData uri="http://schemas.openxmlformats.org/presentationml/2006/ole">
              <mc:AlternateContent xmlns:mc="http://schemas.openxmlformats.org/markup-compatibility/2006">
                <mc:Choice xmlns:v="urn:schemas-microsoft-com:vml" Requires="v">
                  <p:oleObj spid="_x0000_s85422" name="公式" r:id="rId20" imgW="202936" imgH="177569" progId="Equation.3">
                    <p:embed/>
                  </p:oleObj>
                </mc:Choice>
                <mc:Fallback>
                  <p:oleObj name="公式" r:id="rId20" imgW="202936" imgH="177569" progId="Equation.3">
                    <p:embed/>
                    <p:pic>
                      <p:nvPicPr>
                        <p:cNvPr id="0" name="Picture 37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057" y="2466"/>
                          <a:ext cx="252" cy="1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3" name="Object 18"/>
            <p:cNvGraphicFramePr>
              <a:graphicFrameLocks noChangeAspect="1"/>
            </p:cNvGraphicFramePr>
            <p:nvPr>
              <p:extLst>
                <p:ext uri="{D42A27DB-BD31-4B8C-83A1-F6EECF244321}">
                  <p14:modId xmlns:p14="http://schemas.microsoft.com/office/powerpoint/2010/main" val="246089720"/>
                </p:ext>
              </p:extLst>
            </p:nvPr>
          </p:nvGraphicFramePr>
          <p:xfrm>
            <a:off x="3569" y="1248"/>
            <a:ext cx="223" cy="182"/>
          </p:xfrm>
          <a:graphic>
            <a:graphicData uri="http://schemas.openxmlformats.org/presentationml/2006/ole">
              <mc:AlternateContent xmlns:mc="http://schemas.openxmlformats.org/markup-compatibility/2006">
                <mc:Choice xmlns:v="urn:schemas-microsoft-com:vml" Requires="v">
                  <p:oleObj spid="_x0000_s85423" name="公式" r:id="rId22" imgW="202936" imgH="177569" progId="Equation.3">
                    <p:embed/>
                  </p:oleObj>
                </mc:Choice>
                <mc:Fallback>
                  <p:oleObj name="公式" r:id="rId22" imgW="202936" imgH="177569" progId="Equation.3">
                    <p:embed/>
                    <p:pic>
                      <p:nvPicPr>
                        <p:cNvPr id="0" name="Picture 37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569" y="1248"/>
                          <a:ext cx="223" cy="1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4" name="Object 19"/>
            <p:cNvGraphicFramePr>
              <a:graphicFrameLocks noChangeAspect="1"/>
            </p:cNvGraphicFramePr>
            <p:nvPr/>
          </p:nvGraphicFramePr>
          <p:xfrm>
            <a:off x="3612" y="2208"/>
            <a:ext cx="151" cy="169"/>
          </p:xfrm>
          <a:graphic>
            <a:graphicData uri="http://schemas.openxmlformats.org/presentationml/2006/ole">
              <mc:AlternateContent xmlns:mc="http://schemas.openxmlformats.org/markup-compatibility/2006">
                <mc:Choice xmlns:v="urn:schemas-microsoft-com:vml" Requires="v">
                  <p:oleObj spid="_x0000_s85424" name="公式" r:id="rId24" imgW="114151" imgH="164885" progId="Equation.3">
                    <p:embed/>
                  </p:oleObj>
                </mc:Choice>
                <mc:Fallback>
                  <p:oleObj name="公式" r:id="rId24" imgW="114151" imgH="164885" progId="Equation.3">
                    <p:embed/>
                    <p:pic>
                      <p:nvPicPr>
                        <p:cNvPr id="0" name="Picture 37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612" y="2208"/>
                          <a:ext cx="151" cy="1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 name="Object 20"/>
            <p:cNvGraphicFramePr>
              <a:graphicFrameLocks noChangeAspect="1"/>
            </p:cNvGraphicFramePr>
            <p:nvPr>
              <p:extLst>
                <p:ext uri="{D42A27DB-BD31-4B8C-83A1-F6EECF244321}">
                  <p14:modId xmlns:p14="http://schemas.microsoft.com/office/powerpoint/2010/main" val="1878650216"/>
                </p:ext>
              </p:extLst>
            </p:nvPr>
          </p:nvGraphicFramePr>
          <p:xfrm>
            <a:off x="4564" y="2477"/>
            <a:ext cx="223" cy="159"/>
          </p:xfrm>
          <a:graphic>
            <a:graphicData uri="http://schemas.openxmlformats.org/presentationml/2006/ole">
              <mc:AlternateContent xmlns:mc="http://schemas.openxmlformats.org/markup-compatibility/2006">
                <mc:Choice xmlns:v="urn:schemas-microsoft-com:vml" Requires="v">
                  <p:oleObj spid="_x0000_s85425" name="公式" r:id="rId26" imgW="177492" imgH="164814" progId="Equation.3">
                    <p:embed/>
                  </p:oleObj>
                </mc:Choice>
                <mc:Fallback>
                  <p:oleObj name="公式" r:id="rId26" imgW="177492" imgH="164814" progId="Equation.3">
                    <p:embed/>
                    <p:pic>
                      <p:nvPicPr>
                        <p:cNvPr id="0" name="Picture 377"/>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564" y="2477"/>
                          <a:ext cx="223" cy="1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66" name="Rectangle 2"/>
          <p:cNvSpPr txBox="1">
            <a:spLocks noChangeArrowheads="1"/>
          </p:cNvSpPr>
          <p:nvPr/>
        </p:nvSpPr>
        <p:spPr bwMode="gray">
          <a:xfrm>
            <a:off x="361562" y="4908343"/>
            <a:ext cx="8197369" cy="13289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nSpc>
                <a:spcPct val="130000"/>
              </a:lnSpc>
              <a:spcBef>
                <a:spcPts val="0"/>
              </a:spcBef>
              <a:buFont typeface="Wingdings" pitchFamily="2" charset="2"/>
              <a:buNone/>
            </a:pPr>
            <a:r>
              <a:rPr lang="zh-CN" altLang="en-US" sz="2200" kern="0" dirty="0">
                <a:latin typeface="黑体" panose="02010609060101010101" pitchFamily="49" charset="-122"/>
                <a:ea typeface="黑体" panose="02010609060101010101" pitchFamily="49" charset="-122"/>
              </a:rPr>
              <a:t>上式表明了误判概率与两类的马氏距离的关系：</a:t>
            </a:r>
          </a:p>
          <a:p>
            <a:pPr>
              <a:lnSpc>
                <a:spcPct val="130000"/>
              </a:lnSpc>
              <a:spcBef>
                <a:spcPts val="0"/>
              </a:spcBef>
              <a:buFont typeface="Wingdings" pitchFamily="2" charset="2"/>
              <a:buNone/>
            </a:pPr>
            <a:r>
              <a:rPr lang="zh-CN" altLang="en-US" sz="2200" kern="0" dirty="0">
                <a:solidFill>
                  <a:schemeClr val="accent6">
                    <a:lumMod val="75000"/>
                  </a:schemeClr>
                </a:solidFill>
                <a:latin typeface="黑体" panose="02010609060101010101" pitchFamily="49" charset="-122"/>
                <a:ea typeface="黑体" panose="02010609060101010101" pitchFamily="49" charset="-122"/>
              </a:rPr>
              <a:t>     随   的增大而单调递减，只要两类马氏距离足够大，其</a:t>
            </a:r>
            <a:endParaRPr lang="en-US" altLang="zh-CN" sz="2200" kern="0" dirty="0">
              <a:solidFill>
                <a:schemeClr val="accent6">
                  <a:lumMod val="75000"/>
                </a:schemeClr>
              </a:solidFill>
              <a:latin typeface="黑体" panose="02010609060101010101" pitchFamily="49" charset="-122"/>
              <a:ea typeface="黑体" panose="02010609060101010101" pitchFamily="49" charset="-122"/>
            </a:endParaRPr>
          </a:p>
          <a:p>
            <a:pPr>
              <a:lnSpc>
                <a:spcPct val="130000"/>
              </a:lnSpc>
              <a:spcBef>
                <a:spcPts val="0"/>
              </a:spcBef>
              <a:buFont typeface="Wingdings" pitchFamily="2" charset="2"/>
              <a:buNone/>
            </a:pPr>
            <a:r>
              <a:rPr lang="zh-CN" altLang="en-US" sz="2200" kern="0" dirty="0">
                <a:solidFill>
                  <a:schemeClr val="accent6">
                    <a:lumMod val="75000"/>
                  </a:schemeClr>
                </a:solidFill>
                <a:latin typeface="黑体" panose="02010609060101010101" pitchFamily="49" charset="-122"/>
                <a:ea typeface="黑体" panose="02010609060101010101" pitchFamily="49" charset="-122"/>
              </a:rPr>
              <a:t>误判概率可足够小。</a:t>
            </a:r>
          </a:p>
        </p:txBody>
      </p:sp>
      <p:graphicFrame>
        <p:nvGraphicFramePr>
          <p:cNvPr id="67" name="Object 8"/>
          <p:cNvGraphicFramePr>
            <a:graphicFrameLocks noChangeAspect="1"/>
          </p:cNvGraphicFramePr>
          <p:nvPr>
            <p:extLst>
              <p:ext uri="{D42A27DB-BD31-4B8C-83A1-F6EECF244321}">
                <p14:modId xmlns:p14="http://schemas.microsoft.com/office/powerpoint/2010/main" val="1350959800"/>
              </p:ext>
            </p:extLst>
          </p:nvPr>
        </p:nvGraphicFramePr>
        <p:xfrm>
          <a:off x="1465586" y="5302375"/>
          <a:ext cx="423862" cy="563809"/>
        </p:xfrm>
        <a:graphic>
          <a:graphicData uri="http://schemas.openxmlformats.org/presentationml/2006/ole">
            <mc:AlternateContent xmlns:mc="http://schemas.openxmlformats.org/markup-compatibility/2006">
              <mc:Choice xmlns:v="urn:schemas-microsoft-com:vml" Requires="v">
                <p:oleObj spid="_x0000_s85426" name="公式" r:id="rId28" imgW="190335" imgH="266469" progId="Equation.3">
                  <p:embed/>
                </p:oleObj>
              </mc:Choice>
              <mc:Fallback>
                <p:oleObj name="公式" r:id="rId28" imgW="190335" imgH="266469" progId="Equation.3">
                  <p:embed/>
                  <p:pic>
                    <p:nvPicPr>
                      <p:cNvPr id="0" name="Picture 378"/>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465586" y="5302375"/>
                        <a:ext cx="423862" cy="5638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8" name="Object 9"/>
          <p:cNvGraphicFramePr>
            <a:graphicFrameLocks noChangeAspect="1"/>
          </p:cNvGraphicFramePr>
          <p:nvPr>
            <p:extLst>
              <p:ext uri="{D42A27DB-BD31-4B8C-83A1-F6EECF244321}">
                <p14:modId xmlns:p14="http://schemas.microsoft.com/office/powerpoint/2010/main" val="2069945984"/>
              </p:ext>
            </p:extLst>
          </p:nvPr>
        </p:nvGraphicFramePr>
        <p:xfrm>
          <a:off x="464508" y="5415831"/>
          <a:ext cx="662940" cy="385889"/>
        </p:xfrm>
        <a:graphic>
          <a:graphicData uri="http://schemas.openxmlformats.org/presentationml/2006/ole">
            <mc:AlternateContent xmlns:mc="http://schemas.openxmlformats.org/markup-compatibility/2006">
              <mc:Choice xmlns:v="urn:schemas-microsoft-com:vml" Requires="v">
                <p:oleObj spid="_x0000_s85427" name="公式" r:id="rId30" imgW="330057" imgH="203112" progId="Equation.3">
                  <p:embed/>
                </p:oleObj>
              </mc:Choice>
              <mc:Fallback>
                <p:oleObj name="公式" r:id="rId30" imgW="330057" imgH="203112" progId="Equation.3">
                  <p:embed/>
                  <p:pic>
                    <p:nvPicPr>
                      <p:cNvPr id="0" name="Picture 379"/>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64508" y="5415831"/>
                        <a:ext cx="662940" cy="3858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677199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216585" y="3903268"/>
            <a:ext cx="3712064" cy="2334044"/>
          </a:xfrm>
          <a:prstGeom prst="rect">
            <a:avLst/>
          </a:prstGeom>
          <a:solidFill>
            <a:schemeClr val="accent6">
              <a:lumMod val="20000"/>
              <a:lumOff val="80000"/>
            </a:schemeClr>
          </a:solidFill>
        </p:spPr>
        <p:txBody>
          <a:bodyPr wrap="square" rtlCol="0" anchor="ctr">
            <a:spAutoFit/>
          </a:bodyPr>
          <a:lstStyle/>
          <a:p>
            <a:pPr algn="ctr"/>
            <a:endParaRPr lang="zh-CN" altLang="en-US" sz="2400" kern="100" dirty="0">
              <a:ea typeface="宋体"/>
              <a:cs typeface="Times New Roman"/>
            </a:endParaRPr>
          </a:p>
        </p:txBody>
      </p:sp>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82</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13.5 </a:t>
            </a:r>
            <a:r>
              <a:rPr lang="zh-CN" altLang="zh-CN" dirty="0"/>
              <a:t>关于分类器的错误率</a:t>
            </a:r>
          </a:p>
        </p:txBody>
      </p:sp>
      <p:sp>
        <p:nvSpPr>
          <p:cNvPr id="12" name="矩形 11"/>
          <p:cNvSpPr/>
          <p:nvPr/>
        </p:nvSpPr>
        <p:spPr>
          <a:xfrm>
            <a:off x="352694" y="1052736"/>
            <a:ext cx="3775393"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正态模式分类的错误率</a:t>
            </a:r>
          </a:p>
        </p:txBody>
      </p:sp>
      <p:graphicFrame>
        <p:nvGraphicFramePr>
          <p:cNvPr id="27" name="Object 5"/>
          <p:cNvGraphicFramePr>
            <a:graphicFrameLocks noChangeAspect="1"/>
          </p:cNvGraphicFramePr>
          <p:nvPr/>
        </p:nvGraphicFramePr>
        <p:xfrm>
          <a:off x="361563" y="2197062"/>
          <a:ext cx="5886886" cy="1736691"/>
        </p:xfrm>
        <a:graphic>
          <a:graphicData uri="http://schemas.openxmlformats.org/presentationml/2006/ole">
            <mc:AlternateContent xmlns:mc="http://schemas.openxmlformats.org/markup-compatibility/2006">
              <mc:Choice xmlns:v="urn:schemas-microsoft-com:vml" Requires="v">
                <p:oleObj spid="_x0000_s86395" name="Equation" r:id="rId4" imgW="2755900" imgH="825500" progId="Equation.DSMT4">
                  <p:embed/>
                </p:oleObj>
              </mc:Choice>
              <mc:Fallback>
                <p:oleObj name="Equation" r:id="rId4" imgW="2755900" imgH="825500" progId="Equation.DSMT4">
                  <p:embed/>
                  <p:pic>
                    <p:nvPicPr>
                      <p:cNvPr id="0" name="Picture 3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1563" y="2197062"/>
                        <a:ext cx="5886886" cy="17366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组合 3"/>
          <p:cNvGrpSpPr/>
          <p:nvPr/>
        </p:nvGrpSpPr>
        <p:grpSpPr>
          <a:xfrm>
            <a:off x="302438" y="1528216"/>
            <a:ext cx="8534400" cy="654489"/>
            <a:chOff x="302438" y="1528216"/>
            <a:chExt cx="8534400" cy="654489"/>
          </a:xfrm>
        </p:grpSpPr>
        <p:sp>
          <p:nvSpPr>
            <p:cNvPr id="25" name="Rectangle 2"/>
            <p:cNvSpPr txBox="1">
              <a:spLocks noChangeArrowheads="1"/>
            </p:cNvSpPr>
            <p:nvPr/>
          </p:nvSpPr>
          <p:spPr bwMode="gray">
            <a:xfrm>
              <a:off x="302438" y="1617117"/>
              <a:ext cx="8534400" cy="5032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Font typeface="Wingdings" pitchFamily="2" charset="2"/>
                <a:buNone/>
              </a:pPr>
              <a:r>
                <a:rPr lang="zh-CN" altLang="en-US" sz="2200" kern="0" dirty="0">
                  <a:latin typeface="黑体" panose="02010609060101010101" pitchFamily="49" charset="-122"/>
                  <a:ea typeface="黑体" panose="02010609060101010101" pitchFamily="49" charset="-122"/>
                </a:rPr>
                <a:t>如果               ，</a:t>
              </a:r>
              <a:r>
                <a:rPr lang="en-US" altLang="zh-CN" sz="2200" kern="0" dirty="0">
                  <a:latin typeface="黑体" panose="02010609060101010101" pitchFamily="49" charset="-122"/>
                  <a:ea typeface="黑体" panose="02010609060101010101" pitchFamily="49" charset="-122"/>
                </a:rPr>
                <a:t>0–1 </a:t>
              </a:r>
              <a:r>
                <a:rPr lang="zh-CN" altLang="en-US" sz="2200" kern="0" dirty="0">
                  <a:latin typeface="黑体" panose="02010609060101010101" pitchFamily="49" charset="-122"/>
                  <a:ea typeface="黑体" panose="02010609060101010101" pitchFamily="49" charset="-122"/>
                </a:rPr>
                <a:t>损失函数，此时        。</a:t>
              </a:r>
              <a:endParaRPr lang="en-US" altLang="zh-CN" sz="2200" kern="0" dirty="0">
                <a:latin typeface="黑体" panose="02010609060101010101" pitchFamily="49" charset="-122"/>
                <a:ea typeface="黑体" panose="02010609060101010101" pitchFamily="49" charset="-122"/>
              </a:endParaRPr>
            </a:p>
          </p:txBody>
        </p:sp>
        <p:graphicFrame>
          <p:nvGraphicFramePr>
            <p:cNvPr id="26" name="Object 4"/>
            <p:cNvGraphicFramePr>
              <a:graphicFrameLocks noChangeAspect="1"/>
            </p:cNvGraphicFramePr>
            <p:nvPr/>
          </p:nvGraphicFramePr>
          <p:xfrm>
            <a:off x="983432" y="1528216"/>
            <a:ext cx="1975476" cy="654489"/>
          </p:xfrm>
          <a:graphic>
            <a:graphicData uri="http://schemas.openxmlformats.org/presentationml/2006/ole">
              <mc:AlternateContent xmlns:mc="http://schemas.openxmlformats.org/markup-compatibility/2006">
                <mc:Choice xmlns:v="urn:schemas-microsoft-com:vml" Requires="v">
                  <p:oleObj spid="_x0000_s86396" name="公式" r:id="rId6" imgW="1180588" imgH="393529" progId="Equation.3">
                    <p:embed/>
                  </p:oleObj>
                </mc:Choice>
                <mc:Fallback>
                  <p:oleObj name="公式" r:id="rId6" imgW="1180588" imgH="393529" progId="Equation.3">
                    <p:embed/>
                    <p:pic>
                      <p:nvPicPr>
                        <p:cNvPr id="0" name="Picture 3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3432" y="1528216"/>
                          <a:ext cx="1975476" cy="6544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14"/>
            <p:cNvGraphicFramePr>
              <a:graphicFrameLocks noChangeAspect="1"/>
            </p:cNvGraphicFramePr>
            <p:nvPr/>
          </p:nvGraphicFramePr>
          <p:xfrm>
            <a:off x="6043107" y="1636129"/>
            <a:ext cx="1013897" cy="464769"/>
          </p:xfrm>
          <a:graphic>
            <a:graphicData uri="http://schemas.openxmlformats.org/presentationml/2006/ole">
              <mc:AlternateContent xmlns:mc="http://schemas.openxmlformats.org/markup-compatibility/2006">
                <mc:Choice xmlns:v="urn:schemas-microsoft-com:vml" Requires="v">
                  <p:oleObj spid="_x0000_s86397" name="Equation" r:id="rId8" imgW="355292" imgH="203024" progId="Equation.DSMT4">
                    <p:embed/>
                  </p:oleObj>
                </mc:Choice>
                <mc:Fallback>
                  <p:oleObj name="Equation" r:id="rId8" imgW="355292" imgH="203024" progId="Equation.DSMT4">
                    <p:embed/>
                    <p:pic>
                      <p:nvPicPr>
                        <p:cNvPr id="0" name="Picture 3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43107" y="1636129"/>
                          <a:ext cx="1013897" cy="4647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9" name="Object 6"/>
          <p:cNvGraphicFramePr>
            <a:graphicFrameLocks noChangeAspect="1"/>
          </p:cNvGraphicFramePr>
          <p:nvPr/>
        </p:nvGraphicFramePr>
        <p:xfrm>
          <a:off x="450949" y="3926180"/>
          <a:ext cx="3145074" cy="942980"/>
        </p:xfrm>
        <a:graphic>
          <a:graphicData uri="http://schemas.openxmlformats.org/presentationml/2006/ole">
            <mc:AlternateContent xmlns:mc="http://schemas.openxmlformats.org/markup-compatibility/2006">
              <mc:Choice xmlns:v="urn:schemas-microsoft-com:vml" Requires="v">
                <p:oleObj spid="_x0000_s86398" name="Equation" r:id="rId10" imgW="1459866" imgH="444307" progId="Equation.DSMT4">
                  <p:embed/>
                </p:oleObj>
              </mc:Choice>
              <mc:Fallback>
                <p:oleObj name="Equation" r:id="rId10" imgW="1459866" imgH="444307" progId="Equation.DSMT4">
                  <p:embed/>
                  <p:pic>
                    <p:nvPicPr>
                      <p:cNvPr id="0" name="Picture 33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0949" y="3926180"/>
                        <a:ext cx="3145074" cy="942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3" name="Group 10"/>
          <p:cNvGrpSpPr>
            <a:grpSpLocks/>
          </p:cNvGrpSpPr>
          <p:nvPr/>
        </p:nvGrpSpPr>
        <p:grpSpPr bwMode="auto">
          <a:xfrm>
            <a:off x="8220000" y="1052736"/>
            <a:ext cx="3276600" cy="2432050"/>
            <a:chOff x="3569" y="1104"/>
            <a:chExt cx="2064" cy="1532"/>
          </a:xfrm>
        </p:grpSpPr>
        <p:sp>
          <p:nvSpPr>
            <p:cNvPr id="54" name="Text Box 11"/>
            <p:cNvSpPr txBox="1">
              <a:spLocks noChangeArrowheads="1"/>
            </p:cNvSpPr>
            <p:nvPr/>
          </p:nvSpPr>
          <p:spPr bwMode="auto">
            <a:xfrm>
              <a:off x="3744" y="2112"/>
              <a:ext cx="432" cy="233"/>
            </a:xfrm>
            <a:prstGeom prst="rect">
              <a:avLst/>
            </a:prstGeom>
            <a:noFill/>
            <a:ln w="9525">
              <a:noFill/>
              <a:miter lim="800000"/>
              <a:headEnd/>
              <a:tailEnd/>
            </a:ln>
            <a:effectLst/>
          </p:spPr>
          <p:txBody>
            <a:bodyPr>
              <a:spAutoFit/>
            </a:bodyPr>
            <a:lstStyle/>
            <a:p>
              <a:pPr eaLnBrk="0" hangingPunct="0">
                <a:spcBef>
                  <a:spcPct val="50000"/>
                </a:spcBef>
              </a:pPr>
              <a:endParaRPr kumimoji="1" lang="zh-CN" altLang="en-US" b="0">
                <a:latin typeface="Times New Roman" panose="02020603050405020304" pitchFamily="18" charset="0"/>
                <a:cs typeface="Times New Roman" panose="02020603050405020304" pitchFamily="18" charset="0"/>
              </a:endParaRPr>
            </a:p>
          </p:txBody>
        </p:sp>
        <p:sp>
          <p:nvSpPr>
            <p:cNvPr id="55" name="Line 12"/>
            <p:cNvSpPr>
              <a:spLocks noChangeShapeType="1"/>
            </p:cNvSpPr>
            <p:nvPr/>
          </p:nvSpPr>
          <p:spPr bwMode="auto">
            <a:xfrm flipV="1">
              <a:off x="3792" y="1104"/>
              <a:ext cx="0" cy="1344"/>
            </a:xfrm>
            <a:prstGeom prst="line">
              <a:avLst/>
            </a:prstGeom>
            <a:noFill/>
            <a:ln w="9525">
              <a:solidFill>
                <a:schemeClr val="tx1"/>
              </a:solidFill>
              <a:round/>
              <a:headEnd/>
              <a:tailEnd type="triangle" w="med" len="me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8" name="Line 13"/>
            <p:cNvSpPr>
              <a:spLocks noChangeShapeType="1"/>
            </p:cNvSpPr>
            <p:nvPr/>
          </p:nvSpPr>
          <p:spPr bwMode="auto">
            <a:xfrm>
              <a:off x="3792" y="2448"/>
              <a:ext cx="1584" cy="0"/>
            </a:xfrm>
            <a:prstGeom prst="line">
              <a:avLst/>
            </a:prstGeom>
            <a:noFill/>
            <a:ln w="9525">
              <a:solidFill>
                <a:schemeClr val="tx1"/>
              </a:solidFill>
              <a:round/>
              <a:headEnd/>
              <a:tailEnd type="triangle" w="med" len="me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9" name="Freeform 14"/>
            <p:cNvSpPr>
              <a:spLocks/>
            </p:cNvSpPr>
            <p:nvPr/>
          </p:nvSpPr>
          <p:spPr bwMode="auto">
            <a:xfrm>
              <a:off x="3840" y="1296"/>
              <a:ext cx="1296" cy="1104"/>
            </a:xfrm>
            <a:custGeom>
              <a:avLst/>
              <a:gdLst/>
              <a:ahLst/>
              <a:cxnLst>
                <a:cxn ang="0">
                  <a:pos x="0" y="0"/>
                </a:cxn>
                <a:cxn ang="0">
                  <a:pos x="252" y="816"/>
                </a:cxn>
                <a:cxn ang="0">
                  <a:pos x="1296" y="1104"/>
                </a:cxn>
              </a:cxnLst>
              <a:rect l="0" t="0" r="r" b="b"/>
              <a:pathLst>
                <a:path w="1296" h="1104">
                  <a:moveTo>
                    <a:pt x="0" y="0"/>
                  </a:moveTo>
                  <a:cubicBezTo>
                    <a:pt x="42" y="136"/>
                    <a:pt x="36" y="632"/>
                    <a:pt x="252" y="816"/>
                  </a:cubicBezTo>
                  <a:cubicBezTo>
                    <a:pt x="468" y="1000"/>
                    <a:pt x="1078" y="1044"/>
                    <a:pt x="1296" y="1104"/>
                  </a:cubicBezTo>
                </a:path>
              </a:pathLst>
            </a:custGeom>
            <a:noFill/>
            <a:ln w="9525">
              <a:solidFill>
                <a:schemeClr val="tx1"/>
              </a:solidFill>
              <a:round/>
              <a:headEnd/>
              <a:tailEn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graphicFrame>
          <p:nvGraphicFramePr>
            <p:cNvPr id="60" name="Object 15"/>
            <p:cNvGraphicFramePr>
              <a:graphicFrameLocks noChangeAspect="1"/>
            </p:cNvGraphicFramePr>
            <p:nvPr/>
          </p:nvGraphicFramePr>
          <p:xfrm>
            <a:off x="5395" y="2304"/>
            <a:ext cx="238" cy="283"/>
          </p:xfrm>
          <a:graphic>
            <a:graphicData uri="http://schemas.openxmlformats.org/presentationml/2006/ole">
              <mc:AlternateContent xmlns:mc="http://schemas.openxmlformats.org/markup-compatibility/2006">
                <mc:Choice xmlns:v="urn:schemas-microsoft-com:vml" Requires="v">
                  <p:oleObj spid="_x0000_s86399" name="公式" r:id="rId12" imgW="164957" imgH="253780" progId="Equation.3">
                    <p:embed/>
                  </p:oleObj>
                </mc:Choice>
                <mc:Fallback>
                  <p:oleObj name="公式" r:id="rId12" imgW="164957" imgH="253780" progId="Equation.3">
                    <p:embed/>
                    <p:pic>
                      <p:nvPicPr>
                        <p:cNvPr id="0" name="Picture 33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95" y="2304"/>
                          <a:ext cx="238" cy="2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 name="Object 16"/>
            <p:cNvGraphicFramePr>
              <a:graphicFrameLocks noChangeAspect="1"/>
            </p:cNvGraphicFramePr>
            <p:nvPr/>
          </p:nvGraphicFramePr>
          <p:xfrm>
            <a:off x="3941" y="1127"/>
            <a:ext cx="589" cy="217"/>
          </p:xfrm>
          <a:graphic>
            <a:graphicData uri="http://schemas.openxmlformats.org/presentationml/2006/ole">
              <mc:AlternateContent xmlns:mc="http://schemas.openxmlformats.org/markup-compatibility/2006">
                <mc:Choice xmlns:v="urn:schemas-microsoft-com:vml" Requires="v">
                  <p:oleObj spid="_x0000_s86400" name="公式" r:id="rId14" imgW="545760" imgH="203040" progId="Equation.3">
                    <p:embed/>
                  </p:oleObj>
                </mc:Choice>
                <mc:Fallback>
                  <p:oleObj name="公式" r:id="rId14" imgW="545760" imgH="203040" progId="Equation.3">
                    <p:embed/>
                    <p:pic>
                      <p:nvPicPr>
                        <p:cNvPr id="0" name="Picture 33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41" y="1127"/>
                          <a:ext cx="589" cy="2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2" name="Object 17"/>
            <p:cNvGraphicFramePr>
              <a:graphicFrameLocks noChangeAspect="1"/>
            </p:cNvGraphicFramePr>
            <p:nvPr/>
          </p:nvGraphicFramePr>
          <p:xfrm>
            <a:off x="5057" y="2466"/>
            <a:ext cx="252" cy="169"/>
          </p:xfrm>
          <a:graphic>
            <a:graphicData uri="http://schemas.openxmlformats.org/presentationml/2006/ole">
              <mc:AlternateContent xmlns:mc="http://schemas.openxmlformats.org/markup-compatibility/2006">
                <mc:Choice xmlns:v="urn:schemas-microsoft-com:vml" Requires="v">
                  <p:oleObj spid="_x0000_s86401" name="公式" r:id="rId16" imgW="202936" imgH="177569" progId="Equation.3">
                    <p:embed/>
                  </p:oleObj>
                </mc:Choice>
                <mc:Fallback>
                  <p:oleObj name="公式" r:id="rId16" imgW="202936" imgH="177569" progId="Equation.3">
                    <p:embed/>
                    <p:pic>
                      <p:nvPicPr>
                        <p:cNvPr id="0" name="Picture 33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057" y="2466"/>
                          <a:ext cx="252" cy="1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3" name="Object 18"/>
            <p:cNvGraphicFramePr>
              <a:graphicFrameLocks noChangeAspect="1"/>
            </p:cNvGraphicFramePr>
            <p:nvPr/>
          </p:nvGraphicFramePr>
          <p:xfrm>
            <a:off x="3569" y="1248"/>
            <a:ext cx="223" cy="182"/>
          </p:xfrm>
          <a:graphic>
            <a:graphicData uri="http://schemas.openxmlformats.org/presentationml/2006/ole">
              <mc:AlternateContent xmlns:mc="http://schemas.openxmlformats.org/markup-compatibility/2006">
                <mc:Choice xmlns:v="urn:schemas-microsoft-com:vml" Requires="v">
                  <p:oleObj spid="_x0000_s86402" name="公式" r:id="rId18" imgW="202936" imgH="177569" progId="Equation.3">
                    <p:embed/>
                  </p:oleObj>
                </mc:Choice>
                <mc:Fallback>
                  <p:oleObj name="公式" r:id="rId18" imgW="202936" imgH="177569" progId="Equation.3">
                    <p:embed/>
                    <p:pic>
                      <p:nvPicPr>
                        <p:cNvPr id="0" name="Picture 33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569" y="1248"/>
                          <a:ext cx="223" cy="1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4" name="Object 19"/>
            <p:cNvGraphicFramePr>
              <a:graphicFrameLocks noChangeAspect="1"/>
            </p:cNvGraphicFramePr>
            <p:nvPr/>
          </p:nvGraphicFramePr>
          <p:xfrm>
            <a:off x="3612" y="2208"/>
            <a:ext cx="151" cy="169"/>
          </p:xfrm>
          <a:graphic>
            <a:graphicData uri="http://schemas.openxmlformats.org/presentationml/2006/ole">
              <mc:AlternateContent xmlns:mc="http://schemas.openxmlformats.org/markup-compatibility/2006">
                <mc:Choice xmlns:v="urn:schemas-microsoft-com:vml" Requires="v">
                  <p:oleObj spid="_x0000_s86403" name="公式" r:id="rId20" imgW="114151" imgH="164885" progId="Equation.3">
                    <p:embed/>
                  </p:oleObj>
                </mc:Choice>
                <mc:Fallback>
                  <p:oleObj name="公式" r:id="rId20" imgW="114151" imgH="164885" progId="Equation.3">
                    <p:embed/>
                    <p:pic>
                      <p:nvPicPr>
                        <p:cNvPr id="0" name="Picture 33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612" y="2208"/>
                          <a:ext cx="151" cy="1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 name="Object 20"/>
            <p:cNvGraphicFramePr>
              <a:graphicFrameLocks noChangeAspect="1"/>
            </p:cNvGraphicFramePr>
            <p:nvPr/>
          </p:nvGraphicFramePr>
          <p:xfrm>
            <a:off x="4564" y="2477"/>
            <a:ext cx="223" cy="159"/>
          </p:xfrm>
          <a:graphic>
            <a:graphicData uri="http://schemas.openxmlformats.org/presentationml/2006/ole">
              <mc:AlternateContent xmlns:mc="http://schemas.openxmlformats.org/markup-compatibility/2006">
                <mc:Choice xmlns:v="urn:schemas-microsoft-com:vml" Requires="v">
                  <p:oleObj spid="_x0000_s86404" name="公式" r:id="rId22" imgW="177492" imgH="164814" progId="Equation.3">
                    <p:embed/>
                  </p:oleObj>
                </mc:Choice>
                <mc:Fallback>
                  <p:oleObj name="公式" r:id="rId22" imgW="177492" imgH="164814" progId="Equation.3">
                    <p:embed/>
                    <p:pic>
                      <p:nvPicPr>
                        <p:cNvPr id="0" name="Picture 33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564" y="2477"/>
                          <a:ext cx="223" cy="1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66" name="Rectangle 2"/>
          <p:cNvSpPr txBox="1">
            <a:spLocks noChangeArrowheads="1"/>
          </p:cNvSpPr>
          <p:nvPr/>
        </p:nvSpPr>
        <p:spPr bwMode="gray">
          <a:xfrm>
            <a:off x="361562" y="4908343"/>
            <a:ext cx="7750661" cy="13289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nSpc>
                <a:spcPct val="130000"/>
              </a:lnSpc>
              <a:spcBef>
                <a:spcPts val="0"/>
              </a:spcBef>
              <a:buFont typeface="Wingdings" pitchFamily="2" charset="2"/>
              <a:buNone/>
            </a:pPr>
            <a:r>
              <a:rPr lang="zh-CN" altLang="en-US" sz="2200" kern="0" dirty="0">
                <a:latin typeface="黑体" panose="02010609060101010101" pitchFamily="49" charset="-122"/>
                <a:ea typeface="黑体" panose="02010609060101010101" pitchFamily="49" charset="-122"/>
              </a:rPr>
              <a:t>上式表明了误判概率与两类的马氏距离的关系：</a:t>
            </a:r>
          </a:p>
          <a:p>
            <a:pPr>
              <a:lnSpc>
                <a:spcPct val="130000"/>
              </a:lnSpc>
              <a:spcBef>
                <a:spcPts val="0"/>
              </a:spcBef>
              <a:buFont typeface="Wingdings" pitchFamily="2" charset="2"/>
              <a:buNone/>
            </a:pPr>
            <a:r>
              <a:rPr lang="zh-CN" altLang="en-US" sz="2200" kern="0" dirty="0">
                <a:solidFill>
                  <a:schemeClr val="accent6">
                    <a:lumMod val="75000"/>
                  </a:schemeClr>
                </a:solidFill>
                <a:latin typeface="黑体" panose="02010609060101010101" pitchFamily="49" charset="-122"/>
                <a:ea typeface="黑体" panose="02010609060101010101" pitchFamily="49" charset="-122"/>
              </a:rPr>
              <a:t>     随   的增大而单调递减，只要两类马氏距离足够大，其</a:t>
            </a:r>
            <a:endParaRPr lang="en-US" altLang="zh-CN" sz="2200" kern="0" dirty="0">
              <a:solidFill>
                <a:schemeClr val="accent6">
                  <a:lumMod val="75000"/>
                </a:schemeClr>
              </a:solidFill>
              <a:latin typeface="黑体" panose="02010609060101010101" pitchFamily="49" charset="-122"/>
              <a:ea typeface="黑体" panose="02010609060101010101" pitchFamily="49" charset="-122"/>
            </a:endParaRPr>
          </a:p>
          <a:p>
            <a:pPr>
              <a:lnSpc>
                <a:spcPct val="130000"/>
              </a:lnSpc>
              <a:spcBef>
                <a:spcPts val="0"/>
              </a:spcBef>
              <a:buFont typeface="Wingdings" pitchFamily="2" charset="2"/>
              <a:buNone/>
            </a:pPr>
            <a:r>
              <a:rPr lang="zh-CN" altLang="en-US" sz="2200" kern="0" dirty="0">
                <a:solidFill>
                  <a:schemeClr val="accent6">
                    <a:lumMod val="75000"/>
                  </a:schemeClr>
                </a:solidFill>
                <a:latin typeface="黑体" panose="02010609060101010101" pitchFamily="49" charset="-122"/>
                <a:ea typeface="黑体" panose="02010609060101010101" pitchFamily="49" charset="-122"/>
              </a:rPr>
              <a:t>误判概率可足够小。</a:t>
            </a:r>
          </a:p>
        </p:txBody>
      </p:sp>
      <p:graphicFrame>
        <p:nvGraphicFramePr>
          <p:cNvPr id="67" name="Object 8"/>
          <p:cNvGraphicFramePr>
            <a:graphicFrameLocks noChangeAspect="1"/>
          </p:cNvGraphicFramePr>
          <p:nvPr/>
        </p:nvGraphicFramePr>
        <p:xfrm>
          <a:off x="1465586" y="5302375"/>
          <a:ext cx="423862" cy="563809"/>
        </p:xfrm>
        <a:graphic>
          <a:graphicData uri="http://schemas.openxmlformats.org/presentationml/2006/ole">
            <mc:AlternateContent xmlns:mc="http://schemas.openxmlformats.org/markup-compatibility/2006">
              <mc:Choice xmlns:v="urn:schemas-microsoft-com:vml" Requires="v">
                <p:oleObj spid="_x0000_s86405" name="公式" r:id="rId24" imgW="190335" imgH="266469" progId="Equation.3">
                  <p:embed/>
                </p:oleObj>
              </mc:Choice>
              <mc:Fallback>
                <p:oleObj name="公式" r:id="rId24" imgW="190335" imgH="266469" progId="Equation.3">
                  <p:embed/>
                  <p:pic>
                    <p:nvPicPr>
                      <p:cNvPr id="0" name="Picture 33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465586" y="5302375"/>
                        <a:ext cx="423862" cy="5638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8" name="Object 9"/>
          <p:cNvGraphicFramePr>
            <a:graphicFrameLocks noChangeAspect="1"/>
          </p:cNvGraphicFramePr>
          <p:nvPr/>
        </p:nvGraphicFramePr>
        <p:xfrm>
          <a:off x="464508" y="5415831"/>
          <a:ext cx="662940" cy="385889"/>
        </p:xfrm>
        <a:graphic>
          <a:graphicData uri="http://schemas.openxmlformats.org/presentationml/2006/ole">
            <mc:AlternateContent xmlns:mc="http://schemas.openxmlformats.org/markup-compatibility/2006">
              <mc:Choice xmlns:v="urn:schemas-microsoft-com:vml" Requires="v">
                <p:oleObj spid="_x0000_s86406" name="公式" r:id="rId26" imgW="330057" imgH="203112" progId="Equation.3">
                  <p:embed/>
                </p:oleObj>
              </mc:Choice>
              <mc:Fallback>
                <p:oleObj name="公式" r:id="rId26" imgW="330057" imgH="203112" progId="Equation.3">
                  <p:embed/>
                  <p:pic>
                    <p:nvPicPr>
                      <p:cNvPr id="0" name="Picture 33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64508" y="5415831"/>
                        <a:ext cx="662940" cy="3858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 name="Rectangle 2"/>
          <p:cNvSpPr txBox="1">
            <a:spLocks noChangeArrowheads="1"/>
          </p:cNvSpPr>
          <p:nvPr/>
        </p:nvSpPr>
        <p:spPr bwMode="auto">
          <a:xfrm>
            <a:off x="8040216" y="3892848"/>
            <a:ext cx="4151784" cy="2500204"/>
          </a:xfrm>
          <a:prstGeom prst="rect">
            <a:avLst/>
          </a:prstGeo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SzPct val="100000"/>
              <a:buFont typeface="Arial" panose="020B0604020202020204" pitchFamily="34" charset="0"/>
              <a:buChar char="•"/>
              <a:tabLst/>
              <a:defRPr/>
            </a:pPr>
            <a:r>
              <a:rPr kumimoji="0" lang="zh-CN" altLang="en-US" sz="22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如果</a:t>
            </a:r>
            <a:r>
              <a:rPr kumimoji="0" lang="zh-CN" altLang="en-US" sz="2200" b="0" dirty="0">
                <a:solidFill>
                  <a:schemeClr val="tx1"/>
                </a:solidFill>
                <a:latin typeface="Times New Roman" panose="02020603050405020304" pitchFamily="18" charset="0"/>
                <a:ea typeface="黑体" panose="02010609060101010101" pitchFamily="49" charset="-122"/>
              </a:rPr>
              <a:t>协方差阵</a:t>
            </a:r>
            <a:r>
              <a:rPr kumimoji="0" lang="el-GR" altLang="zh-CN" sz="2200" b="0" dirty="0">
                <a:solidFill>
                  <a:schemeClr val="tx1"/>
                </a:solidFill>
                <a:latin typeface="Times New Roman" panose="02020603050405020304" pitchFamily="18" charset="0"/>
                <a:ea typeface="黑体" panose="02010609060101010101" pitchFamily="49" charset="-122"/>
              </a:rPr>
              <a:t>Σ</a:t>
            </a:r>
            <a:r>
              <a:rPr kumimoji="0" lang="zh-CN" altLang="en-US" sz="2200" b="0" dirty="0">
                <a:solidFill>
                  <a:schemeClr val="tx1"/>
                </a:solidFill>
                <a:latin typeface="Times New Roman" panose="02020603050405020304" pitchFamily="18" charset="0"/>
                <a:ea typeface="黑体" panose="02010609060101010101" pitchFamily="49" charset="-122"/>
              </a:rPr>
              <a:t>是对角阵</a:t>
            </a:r>
            <a:endParaRPr kumimoji="0" lang="en-US" altLang="zh-CN" sz="22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endParaRPr>
          </a:p>
          <a:p>
            <a:pPr marL="342900" marR="0" lvl="0" indent="-342900" algn="l" defTabSz="914400" rtl="0" eaLnBrk="0" fontAlgn="base" latinLnBrk="0" hangingPunct="0">
              <a:lnSpc>
                <a:spcPct val="100000"/>
              </a:lnSpc>
              <a:spcBef>
                <a:spcPct val="20000"/>
              </a:spcBef>
              <a:spcAft>
                <a:spcPct val="0"/>
              </a:spcAft>
              <a:buClr>
                <a:schemeClr val="tx2"/>
              </a:buClr>
              <a:buSzPct val="50000"/>
              <a:buFont typeface="Wingdings" pitchFamily="2" charset="2"/>
              <a:buNone/>
              <a:tabLst/>
              <a:defRPr/>
            </a:pPr>
            <a:endParaRPr kumimoji="0" lang="en-US" altLang="zh-CN" sz="2200" b="0" dirty="0">
              <a:solidFill>
                <a:schemeClr val="tx1"/>
              </a:solidFill>
              <a:latin typeface="Times New Roman" panose="02020603050405020304" pitchFamily="18" charset="0"/>
              <a:ea typeface="黑体" panose="02010609060101010101" pitchFamily="49" charset="-122"/>
            </a:endParaRPr>
          </a:p>
          <a:p>
            <a:pPr marL="342900" marR="0" lvl="0" indent="-342900" algn="l" defTabSz="914400" rtl="0" eaLnBrk="0" fontAlgn="base" latinLnBrk="0" hangingPunct="0">
              <a:lnSpc>
                <a:spcPct val="100000"/>
              </a:lnSpc>
              <a:spcBef>
                <a:spcPct val="20000"/>
              </a:spcBef>
              <a:spcAft>
                <a:spcPct val="0"/>
              </a:spcAft>
              <a:buClr>
                <a:schemeClr val="tx2"/>
              </a:buClr>
              <a:buSzPct val="50000"/>
              <a:buFont typeface="Wingdings" pitchFamily="2" charset="2"/>
              <a:buNone/>
              <a:tabLst/>
              <a:defRPr/>
            </a:pPr>
            <a:endParaRPr kumimoji="0" lang="en-US" altLang="zh-CN" sz="22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endParaRPr>
          </a:p>
          <a:p>
            <a:pPr marL="342900" marR="0" lvl="0" indent="-342900" algn="l" defTabSz="914400" rtl="0" eaLnBrk="0" fontAlgn="base" latinLnBrk="0" hangingPunct="0">
              <a:lnSpc>
                <a:spcPct val="100000"/>
              </a:lnSpc>
              <a:spcBef>
                <a:spcPct val="20000"/>
              </a:spcBef>
              <a:spcAft>
                <a:spcPct val="0"/>
              </a:spcAft>
              <a:buClr>
                <a:schemeClr val="tx2"/>
              </a:buClr>
              <a:buSzPct val="50000"/>
              <a:buFont typeface="Wingdings" pitchFamily="2" charset="2"/>
              <a:buNone/>
              <a:tabLst/>
              <a:defRPr/>
            </a:pPr>
            <a:endParaRPr kumimoji="0" lang="en-US" altLang="zh-CN" sz="2200" b="0" dirty="0">
              <a:solidFill>
                <a:schemeClr val="tx1"/>
              </a:solidFill>
              <a:latin typeface="Times New Roman" panose="02020603050405020304" pitchFamily="18" charset="0"/>
              <a:ea typeface="黑体" panose="02010609060101010101" pitchFamily="49" charset="-122"/>
            </a:endParaRPr>
          </a:p>
          <a:p>
            <a:pPr marL="342900" marR="0" lvl="0" indent="-342900" algn="l" defTabSz="914400" rtl="0" eaLnBrk="0" fontAlgn="base" latinLnBrk="0" hangingPunct="0">
              <a:lnSpc>
                <a:spcPct val="100000"/>
              </a:lnSpc>
              <a:spcBef>
                <a:spcPct val="20000"/>
              </a:spcBef>
              <a:spcAft>
                <a:spcPct val="0"/>
              </a:spcAft>
              <a:buClr>
                <a:schemeClr val="tx2"/>
              </a:buClr>
              <a:buSzPct val="50000"/>
              <a:buFont typeface="Wingdings" pitchFamily="2" charset="2"/>
              <a:buNone/>
              <a:tabLst/>
              <a:defRPr/>
            </a:pPr>
            <a:endParaRPr kumimoji="0" lang="en-US" altLang="zh-CN" sz="22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endParaRPr>
          </a:p>
          <a:p>
            <a:pPr marL="342900" marR="0" lvl="0" indent="-342900" algn="l" defTabSz="914400" rtl="0" eaLnBrk="0" fontAlgn="base" latinLnBrk="0" hangingPunct="0">
              <a:lnSpc>
                <a:spcPct val="100000"/>
              </a:lnSpc>
              <a:spcBef>
                <a:spcPct val="20000"/>
              </a:spcBef>
              <a:spcAft>
                <a:spcPct val="0"/>
              </a:spcAft>
              <a:buClr>
                <a:schemeClr val="tx2"/>
              </a:buClr>
              <a:buSzPct val="50000"/>
              <a:buFont typeface="Wingdings" pitchFamily="2" charset="2"/>
              <a:buNone/>
              <a:tabLst/>
              <a:defRPr/>
            </a:pPr>
            <a:r>
              <a:rPr kumimoji="0" lang="zh-CN" altLang="en-US" sz="22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此时，马氏距离等于欧氏</a:t>
            </a:r>
            <a:r>
              <a:rPr lang="zh-CN" altLang="en-US" sz="2200" dirty="0">
                <a:latin typeface="Times New Roman" panose="02020603050405020304" pitchFamily="18" charset="0"/>
                <a:ea typeface="黑体" panose="02010609060101010101" pitchFamily="49" charset="-122"/>
              </a:rPr>
              <a:t>距离</a:t>
            </a:r>
            <a:r>
              <a:rPr kumimoji="0" lang="zh-CN" altLang="en-US" sz="22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rPr>
              <a:t>。</a:t>
            </a:r>
          </a:p>
        </p:txBody>
      </p:sp>
      <p:graphicFrame>
        <p:nvGraphicFramePr>
          <p:cNvPr id="40" name="Object 2"/>
          <p:cNvGraphicFramePr>
            <a:graphicFrameLocks noChangeAspect="1"/>
          </p:cNvGraphicFramePr>
          <p:nvPr>
            <p:extLst>
              <p:ext uri="{D42A27DB-BD31-4B8C-83A1-F6EECF244321}">
                <p14:modId xmlns:p14="http://schemas.microsoft.com/office/powerpoint/2010/main" val="2624356306"/>
              </p:ext>
            </p:extLst>
          </p:nvPr>
        </p:nvGraphicFramePr>
        <p:xfrm>
          <a:off x="8667960" y="4396954"/>
          <a:ext cx="2314612" cy="1316195"/>
        </p:xfrm>
        <a:graphic>
          <a:graphicData uri="http://schemas.openxmlformats.org/presentationml/2006/ole">
            <mc:AlternateContent xmlns:mc="http://schemas.openxmlformats.org/markup-compatibility/2006">
              <mc:Choice xmlns:v="urn:schemas-microsoft-com:vml" Requires="v">
                <p:oleObj spid="_x0000_s86407" name="Equation" r:id="rId28" imgW="1447172" imgH="672808" progId="Equation.DSMT4">
                  <p:embed/>
                </p:oleObj>
              </mc:Choice>
              <mc:Fallback>
                <p:oleObj name="Equation" r:id="rId28" imgW="1447172" imgH="672808" progId="Equation.DSMT4">
                  <p:embed/>
                  <p:pic>
                    <p:nvPicPr>
                      <p:cNvPr id="0" name="Picture 339"/>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667960" y="4396954"/>
                        <a:ext cx="2314612" cy="13161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478362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83</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13.5 </a:t>
            </a:r>
            <a:r>
              <a:rPr lang="zh-CN" altLang="zh-CN" dirty="0"/>
              <a:t>关于分类器的错误率</a:t>
            </a:r>
          </a:p>
        </p:txBody>
      </p:sp>
      <p:sp>
        <p:nvSpPr>
          <p:cNvPr id="12" name="矩形 11"/>
          <p:cNvSpPr/>
          <p:nvPr/>
        </p:nvSpPr>
        <p:spPr>
          <a:xfrm>
            <a:off x="352694" y="1052736"/>
            <a:ext cx="4173404" cy="523220"/>
          </a:xfrm>
          <a:prstGeom prst="rect">
            <a:avLst/>
          </a:prstGeom>
        </p:spPr>
        <p:txBody>
          <a:bodyPr wrap="square">
            <a:spAutoFit/>
          </a:bodyPr>
          <a:lstStyle/>
          <a:p>
            <a:r>
              <a:rPr lang="zh-CN" altLang="en-US" sz="2800" b="1" dirty="0">
                <a:solidFill>
                  <a:srgbClr val="0000FF"/>
                </a:solidFill>
                <a:latin typeface="Arial" panose="020B0604020202020204" pitchFamily="34" charset="0"/>
                <a:sym typeface="Symbol" pitchFamily="18" charset="2"/>
              </a:rPr>
              <a:t>独立随机变量</a:t>
            </a:r>
            <a:r>
              <a:rPr lang="zh-CN" altLang="en-US" sz="2800" b="1" dirty="0">
                <a:solidFill>
                  <a:srgbClr val="0000FF"/>
                </a:solidFill>
                <a:latin typeface="Arial" panose="020B0604020202020204" pitchFamily="34" charset="0"/>
              </a:rPr>
              <a:t>的错误率</a:t>
            </a:r>
          </a:p>
        </p:txBody>
      </p:sp>
      <p:sp>
        <p:nvSpPr>
          <p:cNvPr id="30" name="Rectangle 3"/>
          <p:cNvSpPr txBox="1">
            <a:spLocks noChangeArrowheads="1"/>
          </p:cNvSpPr>
          <p:nvPr/>
        </p:nvSpPr>
        <p:spPr bwMode="gray">
          <a:xfrm>
            <a:off x="335360" y="1700807"/>
            <a:ext cx="11449272" cy="129614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lvl="1" indent="0">
              <a:lnSpc>
                <a:spcPct val="120000"/>
              </a:lnSpc>
              <a:spcBef>
                <a:spcPts val="0"/>
              </a:spcBef>
              <a:buNone/>
            </a:pPr>
            <a:r>
              <a:rPr lang="zh-CN" altLang="en-US" sz="2200" kern="0" dirty="0">
                <a:latin typeface="Times New Roman" panose="02020603050405020304" pitchFamily="18" charset="0"/>
                <a:ea typeface="黑体" panose="02010609060101010101" pitchFamily="49" charset="-122"/>
                <a:sym typeface="Symbol" pitchFamily="18" charset="2"/>
              </a:rPr>
              <a:t>由于 </a:t>
            </a:r>
            <a:r>
              <a:rPr lang="en-US" altLang="zh-CN" sz="2200" i="1" kern="0" dirty="0">
                <a:latin typeface="Times New Roman" panose="02020603050405020304" pitchFamily="18" charset="0"/>
                <a:ea typeface="黑体" panose="02010609060101010101" pitchFamily="49" charset="-122"/>
                <a:sym typeface="Symbol" pitchFamily="18" charset="2"/>
              </a:rPr>
              <a:t>x </a:t>
            </a:r>
            <a:r>
              <a:rPr lang="zh-CN" altLang="en-US" sz="2200" kern="0" dirty="0">
                <a:latin typeface="Times New Roman" panose="02020603050405020304" pitchFamily="18" charset="0"/>
                <a:ea typeface="黑体" panose="02010609060101010101" pitchFamily="49" charset="-122"/>
                <a:sym typeface="Symbol" pitchFamily="18" charset="2"/>
              </a:rPr>
              <a:t>各分量独立，其概率密度为各分量的边缘概率密度的乘积，通过采用负对数似然比决策，使得似然比 </a:t>
            </a:r>
            <a:r>
              <a:rPr lang="el-GR" altLang="zh-CN" sz="2200" i="1" kern="0" dirty="0">
                <a:latin typeface="Times New Roman" panose="02020603050405020304" pitchFamily="18" charset="0"/>
                <a:ea typeface="黑体" panose="02010609060101010101" pitchFamily="49" charset="-122"/>
                <a:sym typeface="Symbol" pitchFamily="18" charset="2"/>
              </a:rPr>
              <a:t>θ</a:t>
            </a:r>
            <a:r>
              <a:rPr lang="en-US" altLang="zh-CN" sz="2200" kern="0" dirty="0">
                <a:latin typeface="Times New Roman" panose="02020603050405020304" pitchFamily="18" charset="0"/>
                <a:ea typeface="黑体" panose="02010609060101010101" pitchFamily="49" charset="-122"/>
                <a:sym typeface="Symbol" pitchFamily="18" charset="2"/>
              </a:rPr>
              <a:t>(X) </a:t>
            </a:r>
            <a:r>
              <a:rPr lang="zh-CN" altLang="en-US" sz="2200" kern="0" dirty="0">
                <a:latin typeface="Times New Roman" panose="02020603050405020304" pitchFamily="18" charset="0"/>
                <a:ea typeface="黑体" panose="02010609060101010101" pitchFamily="49" charset="-122"/>
                <a:sym typeface="Symbol" pitchFamily="18" charset="2"/>
              </a:rPr>
              <a:t>为各随机变量 </a:t>
            </a:r>
            <a:r>
              <a:rPr lang="el-GR" altLang="zh-CN" sz="2200" i="1" kern="0" dirty="0">
                <a:latin typeface="Times New Roman" panose="02020603050405020304" pitchFamily="18" charset="0"/>
                <a:ea typeface="黑体" panose="02010609060101010101" pitchFamily="49" charset="-122"/>
                <a:sym typeface="Symbol" pitchFamily="18" charset="2"/>
              </a:rPr>
              <a:t>θ</a:t>
            </a:r>
            <a:r>
              <a:rPr lang="en-US" altLang="zh-CN" sz="2200" kern="0" dirty="0">
                <a:latin typeface="Times New Roman" panose="02020603050405020304" pitchFamily="18" charset="0"/>
                <a:ea typeface="黑体" panose="02010609060101010101" pitchFamily="49" charset="-122"/>
                <a:sym typeface="Symbol" pitchFamily="18" charset="2"/>
              </a:rPr>
              <a:t>(</a:t>
            </a:r>
            <a:r>
              <a:rPr lang="en-US" altLang="zh-CN" sz="2200" i="1" kern="0" dirty="0">
                <a:latin typeface="Times New Roman" panose="02020603050405020304" pitchFamily="18" charset="0"/>
                <a:ea typeface="黑体" panose="02010609060101010101" pitchFamily="49" charset="-122"/>
                <a:sym typeface="Symbol" pitchFamily="18" charset="2"/>
              </a:rPr>
              <a:t>x</a:t>
            </a:r>
            <a:r>
              <a:rPr lang="en-US" altLang="zh-CN" sz="2200" i="1" kern="0" baseline="-25000" dirty="0">
                <a:latin typeface="Times New Roman" panose="02020603050405020304" pitchFamily="18" charset="0"/>
                <a:ea typeface="黑体" panose="02010609060101010101" pitchFamily="49" charset="-122"/>
                <a:sym typeface="Symbol" pitchFamily="18" charset="2"/>
              </a:rPr>
              <a:t>i</a:t>
            </a:r>
            <a:r>
              <a:rPr lang="en-US" altLang="zh-CN" sz="2200" kern="0" dirty="0">
                <a:latin typeface="Times New Roman" panose="02020603050405020304" pitchFamily="18" charset="0"/>
                <a:ea typeface="黑体" panose="02010609060101010101" pitchFamily="49" charset="-122"/>
                <a:sym typeface="Symbol" pitchFamily="18" charset="2"/>
              </a:rPr>
              <a:t>) </a:t>
            </a:r>
            <a:r>
              <a:rPr lang="zh-CN" altLang="en-US" sz="2200" kern="0" dirty="0">
                <a:latin typeface="Times New Roman" panose="02020603050405020304" pitchFamily="18" charset="0"/>
                <a:ea typeface="黑体" panose="02010609060101010101" pitchFamily="49" charset="-122"/>
                <a:sym typeface="Symbol" pitchFamily="18" charset="2"/>
              </a:rPr>
              <a:t>之和</a:t>
            </a:r>
            <a:r>
              <a:rPr lang="en-US" altLang="zh-CN" sz="2200" kern="0" dirty="0">
                <a:latin typeface="Times New Roman" panose="02020603050405020304" pitchFamily="18" charset="0"/>
                <a:ea typeface="黑体" panose="02010609060101010101" pitchFamily="49" charset="-122"/>
                <a:sym typeface="Symbol" pitchFamily="18" charset="2"/>
              </a:rPr>
              <a:t>,</a:t>
            </a:r>
            <a:r>
              <a:rPr lang="zh-CN" altLang="en-US" sz="2200" kern="0" dirty="0">
                <a:latin typeface="Times New Roman" panose="02020603050405020304" pitchFamily="18" charset="0"/>
                <a:ea typeface="黑体" panose="02010609060101010101" pitchFamily="49" charset="-122"/>
                <a:sym typeface="Symbol" pitchFamily="18" charset="2"/>
              </a:rPr>
              <a:t>当维数足够大数，由中心极限定理，随机变量 </a:t>
            </a:r>
            <a:r>
              <a:rPr lang="el-GR" altLang="zh-CN" sz="2200" i="1" kern="0" dirty="0">
                <a:latin typeface="Times New Roman" panose="02020603050405020304" pitchFamily="18" charset="0"/>
                <a:ea typeface="黑体" panose="02010609060101010101" pitchFamily="49" charset="-122"/>
                <a:sym typeface="Symbol" pitchFamily="18" charset="2"/>
              </a:rPr>
              <a:t>θ</a:t>
            </a:r>
            <a:r>
              <a:rPr lang="en-US" altLang="zh-CN" sz="2200" kern="0" dirty="0">
                <a:latin typeface="Times New Roman" panose="02020603050405020304" pitchFamily="18" charset="0"/>
                <a:ea typeface="黑体" panose="02010609060101010101" pitchFamily="49" charset="-122"/>
                <a:sym typeface="Symbol" pitchFamily="18" charset="2"/>
              </a:rPr>
              <a:t>(X) </a:t>
            </a:r>
            <a:r>
              <a:rPr lang="zh-CN" altLang="en-US" sz="2200" kern="0" dirty="0">
                <a:latin typeface="Times New Roman" panose="02020603050405020304" pitchFamily="18" charset="0"/>
                <a:ea typeface="黑体" panose="02010609060101010101" pitchFamily="49" charset="-122"/>
                <a:sym typeface="Symbol" pitchFamily="18" charset="2"/>
              </a:rPr>
              <a:t>服从正态分布，从而错误率计算转化为对一维正态分布随机变量 </a:t>
            </a:r>
            <a:r>
              <a:rPr lang="el-GR" altLang="zh-CN" sz="2200" i="1" kern="0" dirty="0">
                <a:latin typeface="Times New Roman" panose="02020603050405020304" pitchFamily="18" charset="0"/>
                <a:ea typeface="黑体" panose="02010609060101010101" pitchFamily="49" charset="-122"/>
                <a:sym typeface="Symbol" pitchFamily="18" charset="2"/>
              </a:rPr>
              <a:t>θ</a:t>
            </a:r>
            <a:r>
              <a:rPr lang="en-US" altLang="zh-CN" sz="2200" kern="0" dirty="0">
                <a:latin typeface="Times New Roman" panose="02020603050405020304" pitchFamily="18" charset="0"/>
                <a:ea typeface="黑体" panose="02010609060101010101" pitchFamily="49" charset="-122"/>
                <a:sym typeface="Symbol" pitchFamily="18" charset="2"/>
              </a:rPr>
              <a:t>(X) </a:t>
            </a:r>
            <a:r>
              <a:rPr lang="zh-CN" altLang="en-US" sz="2200" kern="0" dirty="0">
                <a:latin typeface="Times New Roman" panose="02020603050405020304" pitchFamily="18" charset="0"/>
                <a:ea typeface="黑体" panose="02010609060101010101" pitchFamily="49" charset="-122"/>
                <a:sym typeface="Symbol" pitchFamily="18" charset="2"/>
              </a:rPr>
              <a:t>的的积分计算。</a:t>
            </a:r>
          </a:p>
        </p:txBody>
      </p:sp>
      <p:graphicFrame>
        <p:nvGraphicFramePr>
          <p:cNvPr id="31" name="Object 2"/>
          <p:cNvGraphicFramePr>
            <a:graphicFrameLocks noChangeAspect="1"/>
          </p:cNvGraphicFramePr>
          <p:nvPr/>
        </p:nvGraphicFramePr>
        <p:xfrm>
          <a:off x="403227" y="3156870"/>
          <a:ext cx="6628878" cy="2432370"/>
        </p:xfrm>
        <a:graphic>
          <a:graphicData uri="http://schemas.openxmlformats.org/presentationml/2006/ole">
            <mc:AlternateContent xmlns:mc="http://schemas.openxmlformats.org/markup-compatibility/2006">
              <mc:Choice xmlns:v="urn:schemas-microsoft-com:vml" Requires="v">
                <p:oleObj spid="_x0000_s88118" name="Equation" r:id="rId4" imgW="3149600" imgH="1155700" progId="Equation.DSMT4">
                  <p:embed/>
                </p:oleObj>
              </mc:Choice>
              <mc:Fallback>
                <p:oleObj name="Equation" r:id="rId4" imgW="3149600" imgH="1155700" progId="Equation.DSMT4">
                  <p:embed/>
                  <p:pic>
                    <p:nvPicPr>
                      <p:cNvPr id="0" name="Picture 4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227" y="3156870"/>
                        <a:ext cx="6628878" cy="24323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Object 3"/>
          <p:cNvGraphicFramePr>
            <a:graphicFrameLocks noChangeAspect="1"/>
          </p:cNvGraphicFramePr>
          <p:nvPr/>
        </p:nvGraphicFramePr>
        <p:xfrm>
          <a:off x="3575720" y="3668504"/>
          <a:ext cx="1714512" cy="397588"/>
        </p:xfrm>
        <a:graphic>
          <a:graphicData uri="http://schemas.openxmlformats.org/presentationml/2006/ole">
            <mc:AlternateContent xmlns:mc="http://schemas.openxmlformats.org/markup-compatibility/2006">
              <mc:Choice xmlns:v="urn:schemas-microsoft-com:vml" Requires="v">
                <p:oleObj spid="_x0000_s88119" name="Equation" r:id="rId6" imgW="876300" imgH="203200" progId="Equation.DSMT4">
                  <p:embed/>
                </p:oleObj>
              </mc:Choice>
              <mc:Fallback>
                <p:oleObj name="Equation" r:id="rId6" imgW="876300" imgH="203200" progId="Equation.DSMT4">
                  <p:embed/>
                  <p:pic>
                    <p:nvPicPr>
                      <p:cNvPr id="0" name="Picture 4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75720" y="3668504"/>
                        <a:ext cx="1714512" cy="397588"/>
                      </a:xfrm>
                      <a:prstGeom prst="rect">
                        <a:avLst/>
                      </a:prstGeom>
                      <a:solidFill>
                        <a:srgbClr val="F8EEE1"/>
                      </a:solidFill>
                    </p:spPr>
                  </p:pic>
                </p:oleObj>
              </mc:Fallback>
            </mc:AlternateContent>
          </a:graphicData>
        </a:graphic>
      </p:graphicFrame>
    </p:spTree>
    <p:extLst>
      <p:ext uri="{BB962C8B-B14F-4D97-AF65-F5344CB8AC3E}">
        <p14:creationId xmlns:p14="http://schemas.microsoft.com/office/powerpoint/2010/main" val="69197199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84</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13.5 </a:t>
            </a:r>
            <a:r>
              <a:rPr lang="zh-CN" altLang="zh-CN" dirty="0"/>
              <a:t>关于分类器的错误率</a:t>
            </a:r>
          </a:p>
        </p:txBody>
      </p:sp>
      <p:sp>
        <p:nvSpPr>
          <p:cNvPr id="12" name="矩形 11"/>
          <p:cNvSpPr/>
          <p:nvPr/>
        </p:nvSpPr>
        <p:spPr>
          <a:xfrm>
            <a:off x="352694" y="1052736"/>
            <a:ext cx="4173404" cy="523220"/>
          </a:xfrm>
          <a:prstGeom prst="rect">
            <a:avLst/>
          </a:prstGeom>
        </p:spPr>
        <p:txBody>
          <a:bodyPr wrap="square">
            <a:spAutoFit/>
          </a:bodyPr>
          <a:lstStyle/>
          <a:p>
            <a:r>
              <a:rPr lang="zh-CN" altLang="en-US" sz="2800" b="1" dirty="0">
                <a:solidFill>
                  <a:srgbClr val="0000FF"/>
                </a:solidFill>
                <a:latin typeface="Arial" panose="020B0604020202020204" pitchFamily="34" charset="0"/>
                <a:sym typeface="Symbol" pitchFamily="18" charset="2"/>
              </a:rPr>
              <a:t>独立随机变量</a:t>
            </a:r>
            <a:r>
              <a:rPr lang="zh-CN" altLang="en-US" sz="2800" b="1" dirty="0">
                <a:solidFill>
                  <a:srgbClr val="0000FF"/>
                </a:solidFill>
                <a:latin typeface="Arial" panose="020B0604020202020204" pitchFamily="34" charset="0"/>
              </a:rPr>
              <a:t>的错误率</a:t>
            </a:r>
          </a:p>
        </p:txBody>
      </p:sp>
      <p:graphicFrame>
        <p:nvGraphicFramePr>
          <p:cNvPr id="11" name="Object 8"/>
          <p:cNvGraphicFramePr>
            <a:graphicFrameLocks noGrp="1" noChangeAspect="1"/>
          </p:cNvGraphicFramePr>
          <p:nvPr>
            <p:ph idx="1"/>
            <p:extLst>
              <p:ext uri="{D42A27DB-BD31-4B8C-83A1-F6EECF244321}">
                <p14:modId xmlns:p14="http://schemas.microsoft.com/office/powerpoint/2010/main" val="772186659"/>
              </p:ext>
            </p:extLst>
          </p:nvPr>
        </p:nvGraphicFramePr>
        <p:xfrm>
          <a:off x="407369" y="1855788"/>
          <a:ext cx="7786730" cy="2586893"/>
        </p:xfrm>
        <a:graphic>
          <a:graphicData uri="http://schemas.openxmlformats.org/presentationml/2006/ole">
            <mc:AlternateContent xmlns:mc="http://schemas.openxmlformats.org/markup-compatibility/2006">
              <mc:Choice xmlns:v="urn:schemas-microsoft-com:vml" Requires="v">
                <p:oleObj spid="_x0000_s89165" name="Equation" r:id="rId4" imgW="3860800" imgH="1282700" progId="Equation.DSMT4">
                  <p:embed/>
                </p:oleObj>
              </mc:Choice>
              <mc:Fallback>
                <p:oleObj name="Equation" r:id="rId4" imgW="3860800" imgH="1282700" progId="Equation.DSMT4">
                  <p:embed/>
                  <p:pic>
                    <p:nvPicPr>
                      <p:cNvPr id="0" name="Picture 65"/>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369" y="1855788"/>
                        <a:ext cx="7786730" cy="25868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3"/>
          <p:cNvGraphicFramePr>
            <a:graphicFrameLocks noChangeAspect="1"/>
          </p:cNvGraphicFramePr>
          <p:nvPr>
            <p:extLst>
              <p:ext uri="{D42A27DB-BD31-4B8C-83A1-F6EECF244321}">
                <p14:modId xmlns:p14="http://schemas.microsoft.com/office/powerpoint/2010/main" val="745581645"/>
              </p:ext>
            </p:extLst>
          </p:nvPr>
        </p:nvGraphicFramePr>
        <p:xfrm>
          <a:off x="351925" y="4722513"/>
          <a:ext cx="8643998" cy="1371961"/>
        </p:xfrm>
        <a:graphic>
          <a:graphicData uri="http://schemas.openxmlformats.org/presentationml/2006/ole">
            <mc:AlternateContent xmlns:mc="http://schemas.openxmlformats.org/markup-compatibility/2006">
              <mc:Choice xmlns:v="urn:schemas-microsoft-com:vml" Requires="v">
                <p:oleObj spid="_x0000_s89166" name="Equation" r:id="rId6" imgW="4241800" imgH="673100" progId="Equation.DSMT4">
                  <p:embed/>
                </p:oleObj>
              </mc:Choice>
              <mc:Fallback>
                <p:oleObj name="Equation" r:id="rId6" imgW="4241800" imgH="673100" progId="Equation.DSMT4">
                  <p:embed/>
                  <p:pic>
                    <p:nvPicPr>
                      <p:cNvPr id="0" name="Picture 6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1925" y="4722513"/>
                        <a:ext cx="8643998" cy="1371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4"/>
          <p:cNvGraphicFramePr>
            <a:graphicFrameLocks noChangeAspect="1"/>
          </p:cNvGraphicFramePr>
          <p:nvPr>
            <p:extLst>
              <p:ext uri="{D42A27DB-BD31-4B8C-83A1-F6EECF244321}">
                <p14:modId xmlns:p14="http://schemas.microsoft.com/office/powerpoint/2010/main" val="978739838"/>
              </p:ext>
            </p:extLst>
          </p:nvPr>
        </p:nvGraphicFramePr>
        <p:xfrm>
          <a:off x="6384032" y="2928206"/>
          <a:ext cx="1714500" cy="396875"/>
        </p:xfrm>
        <a:graphic>
          <a:graphicData uri="http://schemas.openxmlformats.org/presentationml/2006/ole">
            <mc:AlternateContent xmlns:mc="http://schemas.openxmlformats.org/markup-compatibility/2006">
              <mc:Choice xmlns:v="urn:schemas-microsoft-com:vml" Requires="v">
                <p:oleObj spid="_x0000_s89167" name="Equation" r:id="rId8" imgW="876300" imgH="203200" progId="Equation.DSMT4">
                  <p:embed/>
                </p:oleObj>
              </mc:Choice>
              <mc:Fallback>
                <p:oleObj name="Equation" r:id="rId8" imgW="876300" imgH="203200" progId="Equation.DSMT4">
                  <p:embed/>
                  <p:pic>
                    <p:nvPicPr>
                      <p:cNvPr id="0" name="Picture 6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84032" y="2928206"/>
                        <a:ext cx="1714500" cy="396875"/>
                      </a:xfrm>
                      <a:prstGeom prst="rect">
                        <a:avLst/>
                      </a:prstGeom>
                      <a:solidFill>
                        <a:srgbClr val="F8EEE1"/>
                      </a:solidFill>
                    </p:spPr>
                  </p:pic>
                </p:oleObj>
              </mc:Fallback>
            </mc:AlternateContent>
          </a:graphicData>
        </a:graphic>
      </p:graphicFrame>
    </p:spTree>
    <p:extLst>
      <p:ext uri="{BB962C8B-B14F-4D97-AF65-F5344CB8AC3E}">
        <p14:creationId xmlns:p14="http://schemas.microsoft.com/office/powerpoint/2010/main" val="41681323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85</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13.5 </a:t>
            </a:r>
            <a:r>
              <a:rPr lang="zh-CN" altLang="zh-CN" dirty="0"/>
              <a:t>关于分类器的错误率</a:t>
            </a:r>
          </a:p>
        </p:txBody>
      </p:sp>
      <p:sp>
        <p:nvSpPr>
          <p:cNvPr id="12" name="矩形 11"/>
          <p:cNvSpPr/>
          <p:nvPr/>
        </p:nvSpPr>
        <p:spPr>
          <a:xfrm>
            <a:off x="352694" y="1052736"/>
            <a:ext cx="4173404" cy="523220"/>
          </a:xfrm>
          <a:prstGeom prst="rect">
            <a:avLst/>
          </a:prstGeom>
        </p:spPr>
        <p:txBody>
          <a:bodyPr wrap="square">
            <a:spAutoFit/>
          </a:bodyPr>
          <a:lstStyle/>
          <a:p>
            <a:r>
              <a:rPr lang="zh-CN" altLang="en-US" sz="2800" b="1" dirty="0">
                <a:solidFill>
                  <a:srgbClr val="0000FF"/>
                </a:solidFill>
                <a:latin typeface="Arial" panose="020B0604020202020204" pitchFamily="34" charset="0"/>
                <a:sym typeface="Symbol" pitchFamily="18" charset="2"/>
              </a:rPr>
              <a:t>独立随机变量</a:t>
            </a:r>
            <a:r>
              <a:rPr lang="zh-CN" altLang="en-US" sz="2800" b="1" dirty="0">
                <a:solidFill>
                  <a:srgbClr val="0000FF"/>
                </a:solidFill>
                <a:latin typeface="Arial" panose="020B0604020202020204" pitchFamily="34" charset="0"/>
              </a:rPr>
              <a:t>的错误率</a:t>
            </a:r>
          </a:p>
        </p:txBody>
      </p:sp>
      <p:graphicFrame>
        <p:nvGraphicFramePr>
          <p:cNvPr id="17" name="Object 4"/>
          <p:cNvGraphicFramePr>
            <a:graphicFrameLocks noChangeAspect="1"/>
          </p:cNvGraphicFramePr>
          <p:nvPr>
            <p:extLst>
              <p:ext uri="{D42A27DB-BD31-4B8C-83A1-F6EECF244321}">
                <p14:modId xmlns:p14="http://schemas.microsoft.com/office/powerpoint/2010/main" val="3233649109"/>
              </p:ext>
            </p:extLst>
          </p:nvPr>
        </p:nvGraphicFramePr>
        <p:xfrm>
          <a:off x="2024198" y="2175768"/>
          <a:ext cx="7194550" cy="965200"/>
        </p:xfrm>
        <a:graphic>
          <a:graphicData uri="http://schemas.openxmlformats.org/presentationml/2006/ole">
            <mc:AlternateContent xmlns:mc="http://schemas.openxmlformats.org/markup-compatibility/2006">
              <mc:Choice xmlns:v="urn:schemas-microsoft-com:vml" Requires="v">
                <p:oleObj spid="_x0000_s90314" name="Equation" r:id="rId4" imgW="3289300" imgH="444500" progId="Equation.DSMT4">
                  <p:embed/>
                </p:oleObj>
              </mc:Choice>
              <mc:Fallback>
                <p:oleObj name="Equation" r:id="rId4" imgW="3289300" imgH="444500" progId="Equation.DSMT4">
                  <p:embed/>
                  <p:pic>
                    <p:nvPicPr>
                      <p:cNvPr id="0" name="Picture 17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24198" y="2175768"/>
                        <a:ext cx="7194550" cy="9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 name="组合 3"/>
          <p:cNvGrpSpPr/>
          <p:nvPr/>
        </p:nvGrpSpPr>
        <p:grpSpPr>
          <a:xfrm>
            <a:off x="338803" y="1685648"/>
            <a:ext cx="6548611" cy="474087"/>
            <a:chOff x="338803" y="1685648"/>
            <a:chExt cx="6548611" cy="474087"/>
          </a:xfrm>
        </p:grpSpPr>
        <p:sp>
          <p:nvSpPr>
            <p:cNvPr id="18" name="Rectangle 11"/>
            <p:cNvSpPr>
              <a:spLocks noChangeArrowheads="1"/>
            </p:cNvSpPr>
            <p:nvPr/>
          </p:nvSpPr>
          <p:spPr bwMode="auto">
            <a:xfrm>
              <a:off x="338803" y="1698685"/>
              <a:ext cx="1031051" cy="430887"/>
            </a:xfrm>
            <a:prstGeom prst="rect">
              <a:avLst/>
            </a:prstGeom>
            <a:noFill/>
            <a:ln w="9525">
              <a:noFill/>
              <a:miter lim="800000"/>
              <a:headEnd/>
              <a:tailEnd/>
            </a:ln>
            <a:effectLst/>
          </p:spPr>
          <p:txBody>
            <a:bodyPr wrap="none" anchor="ctr">
              <a:spAutoFit/>
            </a:bodyPr>
            <a:lstStyle/>
            <a:p>
              <a:r>
                <a:rPr lang="zh-CN" altLang="en-US" sz="2200" dirty="0">
                  <a:solidFill>
                    <a:schemeClr val="tx1"/>
                  </a:solidFill>
                  <a:latin typeface="Times New Roman" panose="02020603050405020304" pitchFamily="18" charset="0"/>
                  <a:ea typeface="黑体" pitchFamily="2" charset="-122"/>
                  <a:cs typeface="Times New Roman" pitchFamily="18" charset="0"/>
                </a:rPr>
                <a:t>将属于</a:t>
              </a:r>
            </a:p>
          </p:txBody>
        </p:sp>
        <p:graphicFrame>
          <p:nvGraphicFramePr>
            <p:cNvPr id="19" name="Object 12"/>
            <p:cNvGraphicFramePr>
              <a:graphicFrameLocks noChangeAspect="1"/>
            </p:cNvGraphicFramePr>
            <p:nvPr>
              <p:extLst>
                <p:ext uri="{D42A27DB-BD31-4B8C-83A1-F6EECF244321}">
                  <p14:modId xmlns:p14="http://schemas.microsoft.com/office/powerpoint/2010/main" val="1384843614"/>
                </p:ext>
              </p:extLst>
            </p:nvPr>
          </p:nvGraphicFramePr>
          <p:xfrm>
            <a:off x="1290338" y="1700518"/>
            <a:ext cx="319555" cy="403762"/>
          </p:xfrm>
          <a:graphic>
            <a:graphicData uri="http://schemas.openxmlformats.org/presentationml/2006/ole">
              <mc:AlternateContent xmlns:mc="http://schemas.openxmlformats.org/markup-compatibility/2006">
                <mc:Choice xmlns:v="urn:schemas-microsoft-com:vml" Requires="v">
                  <p:oleObj spid="_x0000_s90315" name="公式" r:id="rId6" imgW="177646" imgH="228402" progId="Equation.3">
                    <p:embed/>
                  </p:oleObj>
                </mc:Choice>
                <mc:Fallback>
                  <p:oleObj name="公式" r:id="rId6" imgW="177646" imgH="228402" progId="Equation.3">
                    <p:embed/>
                    <p:pic>
                      <p:nvPicPr>
                        <p:cNvPr id="0" name="Picture 17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0338" y="1700518"/>
                          <a:ext cx="319555" cy="403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Rectangle 13"/>
            <p:cNvSpPr>
              <a:spLocks noChangeArrowheads="1"/>
            </p:cNvSpPr>
            <p:nvPr/>
          </p:nvSpPr>
          <p:spPr bwMode="auto">
            <a:xfrm>
              <a:off x="1631504" y="1698685"/>
              <a:ext cx="2723823" cy="430887"/>
            </a:xfrm>
            <a:prstGeom prst="rect">
              <a:avLst/>
            </a:prstGeom>
            <a:noFill/>
            <a:ln w="9525">
              <a:noFill/>
              <a:miter lim="800000"/>
              <a:headEnd/>
              <a:tailEnd/>
            </a:ln>
            <a:effectLst/>
          </p:spPr>
          <p:txBody>
            <a:bodyPr wrap="none" anchor="ctr">
              <a:spAutoFit/>
            </a:bodyPr>
            <a:lstStyle/>
            <a:p>
              <a:r>
                <a:rPr lang="zh-CN" altLang="en-US" sz="2200" dirty="0">
                  <a:solidFill>
                    <a:schemeClr val="tx1"/>
                  </a:solidFill>
                  <a:latin typeface="Times New Roman" panose="02020603050405020304" pitchFamily="18" charset="0"/>
                  <a:ea typeface="黑体" pitchFamily="2" charset="-122"/>
                  <a:cs typeface="Times New Roman" pitchFamily="18" charset="0"/>
                </a:rPr>
                <a:t>类的模式误判为属于</a:t>
              </a:r>
            </a:p>
          </p:txBody>
        </p:sp>
        <p:graphicFrame>
          <p:nvGraphicFramePr>
            <p:cNvPr id="21" name="Object 14"/>
            <p:cNvGraphicFramePr>
              <a:graphicFrameLocks noChangeAspect="1"/>
            </p:cNvGraphicFramePr>
            <p:nvPr>
              <p:extLst>
                <p:ext uri="{D42A27DB-BD31-4B8C-83A1-F6EECF244321}">
                  <p14:modId xmlns:p14="http://schemas.microsoft.com/office/powerpoint/2010/main" val="900932799"/>
                </p:ext>
              </p:extLst>
            </p:nvPr>
          </p:nvGraphicFramePr>
          <p:xfrm>
            <a:off x="4339513" y="1685648"/>
            <a:ext cx="373170" cy="443924"/>
          </p:xfrm>
          <a:graphic>
            <a:graphicData uri="http://schemas.openxmlformats.org/presentationml/2006/ole">
              <mc:AlternateContent xmlns:mc="http://schemas.openxmlformats.org/markup-compatibility/2006">
                <mc:Choice xmlns:v="urn:schemas-microsoft-com:vml" Requires="v">
                  <p:oleObj spid="_x0000_s90316" name="公式" r:id="rId8" imgW="203112" imgH="241195" progId="Equation.3">
                    <p:embed/>
                  </p:oleObj>
                </mc:Choice>
                <mc:Fallback>
                  <p:oleObj name="公式" r:id="rId8" imgW="203112" imgH="241195" progId="Equation.3">
                    <p:embed/>
                    <p:pic>
                      <p:nvPicPr>
                        <p:cNvPr id="0" name="Picture 17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39513" y="1685648"/>
                          <a:ext cx="373170" cy="4439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Rectangle 15"/>
            <p:cNvSpPr>
              <a:spLocks noChangeArrowheads="1"/>
            </p:cNvSpPr>
            <p:nvPr/>
          </p:nvSpPr>
          <p:spPr bwMode="auto">
            <a:xfrm>
              <a:off x="4727848" y="1728848"/>
              <a:ext cx="2159566" cy="430887"/>
            </a:xfrm>
            <a:prstGeom prst="rect">
              <a:avLst/>
            </a:prstGeom>
            <a:noFill/>
            <a:ln w="9525">
              <a:noFill/>
              <a:miter lim="800000"/>
              <a:headEnd/>
              <a:tailEnd/>
            </a:ln>
            <a:effectLst/>
          </p:spPr>
          <p:txBody>
            <a:bodyPr wrap="none" anchor="ctr">
              <a:spAutoFit/>
            </a:bodyPr>
            <a:lstStyle/>
            <a:p>
              <a:r>
                <a:rPr lang="zh-CN" altLang="en-US" sz="2200" dirty="0">
                  <a:solidFill>
                    <a:schemeClr val="tx1"/>
                  </a:solidFill>
                  <a:latin typeface="Times New Roman" panose="02020603050405020304" pitchFamily="18" charset="0"/>
                  <a:ea typeface="黑体" pitchFamily="2" charset="-122"/>
                  <a:cs typeface="Times New Roman" pitchFamily="18" charset="0"/>
                </a:rPr>
                <a:t>类的错误概率为</a:t>
              </a:r>
            </a:p>
          </p:txBody>
        </p:sp>
      </p:grpSp>
      <p:graphicFrame>
        <p:nvGraphicFramePr>
          <p:cNvPr id="24" name="Object 10"/>
          <p:cNvGraphicFramePr>
            <a:graphicFrameLocks noChangeAspect="1"/>
          </p:cNvGraphicFramePr>
          <p:nvPr>
            <p:extLst>
              <p:ext uri="{D42A27DB-BD31-4B8C-83A1-F6EECF244321}">
                <p14:modId xmlns:p14="http://schemas.microsoft.com/office/powerpoint/2010/main" val="1780621392"/>
              </p:ext>
            </p:extLst>
          </p:nvPr>
        </p:nvGraphicFramePr>
        <p:xfrm>
          <a:off x="1755911" y="3668885"/>
          <a:ext cx="7527926" cy="984251"/>
        </p:xfrm>
        <a:graphic>
          <a:graphicData uri="http://schemas.openxmlformats.org/presentationml/2006/ole">
            <mc:AlternateContent xmlns:mc="http://schemas.openxmlformats.org/markup-compatibility/2006">
              <mc:Choice xmlns:v="urn:schemas-microsoft-com:vml" Requires="v">
                <p:oleObj spid="_x0000_s90317" name="Equation" r:id="rId10" imgW="3492500" imgH="457200" progId="Equation.DSMT4">
                  <p:embed/>
                </p:oleObj>
              </mc:Choice>
              <mc:Fallback>
                <p:oleObj name="Equation" r:id="rId10" imgW="3492500" imgH="457200" progId="Equation.DSMT4">
                  <p:embed/>
                  <p:pic>
                    <p:nvPicPr>
                      <p:cNvPr id="0" name="Picture 17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55911" y="3668885"/>
                        <a:ext cx="7527926" cy="984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 name="组合 4"/>
          <p:cNvGrpSpPr/>
          <p:nvPr/>
        </p:nvGrpSpPr>
        <p:grpSpPr>
          <a:xfrm>
            <a:off x="368569" y="3202772"/>
            <a:ext cx="6518845" cy="473650"/>
            <a:chOff x="368569" y="3202772"/>
            <a:chExt cx="6518845" cy="473650"/>
          </a:xfrm>
        </p:grpSpPr>
        <p:sp>
          <p:nvSpPr>
            <p:cNvPr id="25" name="Rectangle 17"/>
            <p:cNvSpPr>
              <a:spLocks noChangeArrowheads="1"/>
            </p:cNvSpPr>
            <p:nvPr/>
          </p:nvSpPr>
          <p:spPr bwMode="auto">
            <a:xfrm>
              <a:off x="368569" y="3218647"/>
              <a:ext cx="1031051" cy="430887"/>
            </a:xfrm>
            <a:prstGeom prst="rect">
              <a:avLst/>
            </a:prstGeom>
            <a:noFill/>
            <a:ln w="9525">
              <a:noFill/>
              <a:miter lim="800000"/>
              <a:headEnd/>
              <a:tailEnd/>
            </a:ln>
            <a:effectLst/>
          </p:spPr>
          <p:txBody>
            <a:bodyPr wrap="none" anchor="ctr">
              <a:spAutoFit/>
            </a:bodyPr>
            <a:lstStyle/>
            <a:p>
              <a:r>
                <a:rPr lang="zh-CN" altLang="en-US" sz="2200" dirty="0">
                  <a:solidFill>
                    <a:schemeClr val="tx1"/>
                  </a:solidFill>
                  <a:latin typeface="Times New Roman" panose="02020603050405020304" pitchFamily="18" charset="0"/>
                  <a:ea typeface="黑体" pitchFamily="2" charset="-122"/>
                  <a:cs typeface="Times New Roman" pitchFamily="18" charset="0"/>
                </a:rPr>
                <a:t>将属于</a:t>
              </a:r>
            </a:p>
          </p:txBody>
        </p:sp>
        <p:graphicFrame>
          <p:nvGraphicFramePr>
            <p:cNvPr id="26" name="Object 18"/>
            <p:cNvGraphicFramePr>
              <a:graphicFrameLocks noChangeAspect="1"/>
            </p:cNvGraphicFramePr>
            <p:nvPr>
              <p:extLst>
                <p:ext uri="{D42A27DB-BD31-4B8C-83A1-F6EECF244321}">
                  <p14:modId xmlns:p14="http://schemas.microsoft.com/office/powerpoint/2010/main" val="3814028002"/>
                </p:ext>
              </p:extLst>
            </p:nvPr>
          </p:nvGraphicFramePr>
          <p:xfrm>
            <a:off x="4355327" y="3229739"/>
            <a:ext cx="386584" cy="439146"/>
          </p:xfrm>
          <a:graphic>
            <a:graphicData uri="http://schemas.openxmlformats.org/presentationml/2006/ole">
              <mc:AlternateContent xmlns:mc="http://schemas.openxmlformats.org/markup-compatibility/2006">
                <mc:Choice xmlns:v="urn:schemas-microsoft-com:vml" Requires="v">
                  <p:oleObj spid="_x0000_s90318" name="公式" r:id="rId12" imgW="177646" imgH="228402" progId="Equation.3">
                    <p:embed/>
                  </p:oleObj>
                </mc:Choice>
                <mc:Fallback>
                  <p:oleObj name="公式" r:id="rId12" imgW="177646" imgH="228402" progId="Equation.3">
                    <p:embed/>
                    <p:pic>
                      <p:nvPicPr>
                        <p:cNvPr id="0" name="Picture 17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55327" y="3229739"/>
                          <a:ext cx="386584" cy="4391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Rectangle 19"/>
            <p:cNvSpPr>
              <a:spLocks noChangeArrowheads="1"/>
            </p:cNvSpPr>
            <p:nvPr/>
          </p:nvSpPr>
          <p:spPr bwMode="auto">
            <a:xfrm>
              <a:off x="1703512" y="3218647"/>
              <a:ext cx="2723823" cy="430887"/>
            </a:xfrm>
            <a:prstGeom prst="rect">
              <a:avLst/>
            </a:prstGeom>
            <a:noFill/>
            <a:ln w="9525">
              <a:noFill/>
              <a:miter lim="800000"/>
              <a:headEnd/>
              <a:tailEnd/>
            </a:ln>
            <a:effectLst/>
          </p:spPr>
          <p:txBody>
            <a:bodyPr wrap="none" anchor="ctr">
              <a:spAutoFit/>
            </a:bodyPr>
            <a:lstStyle/>
            <a:p>
              <a:r>
                <a:rPr lang="zh-CN" altLang="en-US" sz="2200" dirty="0">
                  <a:solidFill>
                    <a:schemeClr val="tx1"/>
                  </a:solidFill>
                  <a:latin typeface="Times New Roman" panose="02020603050405020304" pitchFamily="18" charset="0"/>
                  <a:ea typeface="黑体" pitchFamily="2" charset="-122"/>
                  <a:cs typeface="Times New Roman" pitchFamily="18" charset="0"/>
                </a:rPr>
                <a:t>类的模式误判为属于</a:t>
              </a:r>
            </a:p>
          </p:txBody>
        </p:sp>
        <p:graphicFrame>
          <p:nvGraphicFramePr>
            <p:cNvPr id="28" name="Object 20"/>
            <p:cNvGraphicFramePr>
              <a:graphicFrameLocks noChangeAspect="1"/>
            </p:cNvGraphicFramePr>
            <p:nvPr>
              <p:extLst>
                <p:ext uri="{D42A27DB-BD31-4B8C-83A1-F6EECF244321}">
                  <p14:modId xmlns:p14="http://schemas.microsoft.com/office/powerpoint/2010/main" val="3880702468"/>
                </p:ext>
              </p:extLst>
            </p:nvPr>
          </p:nvGraphicFramePr>
          <p:xfrm>
            <a:off x="1317555" y="3218647"/>
            <a:ext cx="428022" cy="457775"/>
          </p:xfrm>
          <a:graphic>
            <a:graphicData uri="http://schemas.openxmlformats.org/presentationml/2006/ole">
              <mc:AlternateContent xmlns:mc="http://schemas.openxmlformats.org/markup-compatibility/2006">
                <mc:Choice xmlns:v="urn:schemas-microsoft-com:vml" Requires="v">
                  <p:oleObj spid="_x0000_s90319" name="公式" r:id="rId14" imgW="203112" imgH="241195" progId="Equation.3">
                    <p:embed/>
                  </p:oleObj>
                </mc:Choice>
                <mc:Fallback>
                  <p:oleObj name="公式" r:id="rId14" imgW="203112" imgH="241195" progId="Equation.3">
                    <p:embed/>
                    <p:pic>
                      <p:nvPicPr>
                        <p:cNvPr id="0" name="Picture 17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17555" y="3218647"/>
                          <a:ext cx="428022" cy="457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Rectangle 21"/>
            <p:cNvSpPr>
              <a:spLocks noChangeArrowheads="1"/>
            </p:cNvSpPr>
            <p:nvPr/>
          </p:nvSpPr>
          <p:spPr bwMode="auto">
            <a:xfrm>
              <a:off x="4727848" y="3202772"/>
              <a:ext cx="2159566" cy="430887"/>
            </a:xfrm>
            <a:prstGeom prst="rect">
              <a:avLst/>
            </a:prstGeom>
            <a:noFill/>
            <a:ln w="9525">
              <a:noFill/>
              <a:miter lim="800000"/>
              <a:headEnd/>
              <a:tailEnd/>
            </a:ln>
            <a:effectLst/>
          </p:spPr>
          <p:txBody>
            <a:bodyPr wrap="none" anchor="ctr">
              <a:spAutoFit/>
            </a:bodyPr>
            <a:lstStyle/>
            <a:p>
              <a:r>
                <a:rPr lang="zh-CN" altLang="en-US" sz="2200" dirty="0">
                  <a:solidFill>
                    <a:schemeClr val="tx1"/>
                  </a:solidFill>
                  <a:latin typeface="Times New Roman" panose="02020603050405020304" pitchFamily="18" charset="0"/>
                  <a:ea typeface="黑体" pitchFamily="2" charset="-122"/>
                  <a:cs typeface="Times New Roman" pitchFamily="18" charset="0"/>
                </a:rPr>
                <a:t>类的错误概率为</a:t>
              </a:r>
            </a:p>
          </p:txBody>
        </p:sp>
      </p:grpSp>
      <p:graphicFrame>
        <p:nvGraphicFramePr>
          <p:cNvPr id="30" name="Object 5"/>
          <p:cNvGraphicFramePr>
            <a:graphicFrameLocks noChangeAspect="1"/>
          </p:cNvGraphicFramePr>
          <p:nvPr>
            <p:extLst>
              <p:ext uri="{D42A27DB-BD31-4B8C-83A1-F6EECF244321}">
                <p14:modId xmlns:p14="http://schemas.microsoft.com/office/powerpoint/2010/main" val="3088395103"/>
              </p:ext>
            </p:extLst>
          </p:nvPr>
        </p:nvGraphicFramePr>
        <p:xfrm>
          <a:off x="2860539" y="4941168"/>
          <a:ext cx="5521868" cy="1463134"/>
        </p:xfrm>
        <a:graphic>
          <a:graphicData uri="http://schemas.openxmlformats.org/presentationml/2006/ole">
            <mc:AlternateContent xmlns:mc="http://schemas.openxmlformats.org/markup-compatibility/2006">
              <mc:Choice xmlns:v="urn:schemas-microsoft-com:vml" Requires="v">
                <p:oleObj spid="_x0000_s90320" name="Equation" r:id="rId16" imgW="2628720" imgH="698400" progId="Equation.DSMT4">
                  <p:embed/>
                </p:oleObj>
              </mc:Choice>
              <mc:Fallback>
                <p:oleObj name="Equation" r:id="rId16" imgW="2628720" imgH="698400" progId="Equation.DSMT4">
                  <p:embed/>
                  <p:pic>
                    <p:nvPicPr>
                      <p:cNvPr id="0" name="Picture 17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60539" y="4941168"/>
                        <a:ext cx="5521868" cy="14631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Rectangle 11"/>
          <p:cNvSpPr>
            <a:spLocks noChangeArrowheads="1"/>
          </p:cNvSpPr>
          <p:nvPr/>
        </p:nvSpPr>
        <p:spPr bwMode="auto">
          <a:xfrm>
            <a:off x="386466" y="4509120"/>
            <a:ext cx="3261262" cy="528069"/>
          </a:xfrm>
          <a:prstGeom prst="rect">
            <a:avLst/>
          </a:prstGeom>
          <a:noFill/>
          <a:ln w="9525">
            <a:noFill/>
            <a:miter lim="800000"/>
            <a:headEnd/>
            <a:tailEnd/>
          </a:ln>
          <a:effectLst/>
        </p:spPr>
        <p:txBody>
          <a:bodyPr/>
          <a:lstStyle/>
          <a:p>
            <a:pPr marL="342900" indent="-342900">
              <a:spcBef>
                <a:spcPct val="20000"/>
              </a:spcBef>
              <a:buClr>
                <a:schemeClr val="folHlink"/>
              </a:buClr>
              <a:buSzPct val="60000"/>
              <a:buFont typeface="Wingdings" pitchFamily="2" charset="2"/>
              <a:buNone/>
            </a:pPr>
            <a:r>
              <a:rPr lang="zh-CN" altLang="en-US" sz="2200" b="0" dirty="0">
                <a:solidFill>
                  <a:schemeClr val="tx1"/>
                </a:solidFill>
                <a:latin typeface="Times New Roman" panose="02020603050405020304" pitchFamily="18" charset="0"/>
                <a:ea typeface="黑体" pitchFamily="2" charset="-122"/>
              </a:rPr>
              <a:t>于是，总的误判概率为</a:t>
            </a:r>
            <a:endParaRPr lang="en-US" altLang="zh-CN" sz="2200" b="0" dirty="0">
              <a:solidFill>
                <a:schemeClr val="tx1"/>
              </a:solidFill>
              <a:latin typeface="Times New Roman" panose="02020603050405020304" pitchFamily="18" charset="0"/>
              <a:ea typeface="黑体" pitchFamily="2" charset="-122"/>
            </a:endParaRPr>
          </a:p>
        </p:txBody>
      </p:sp>
      <p:graphicFrame>
        <p:nvGraphicFramePr>
          <p:cNvPr id="33" name="Object 12"/>
          <p:cNvGraphicFramePr>
            <a:graphicFrameLocks noChangeAspect="1"/>
          </p:cNvGraphicFramePr>
          <p:nvPr>
            <p:extLst>
              <p:ext uri="{D42A27DB-BD31-4B8C-83A1-F6EECF244321}">
                <p14:modId xmlns:p14="http://schemas.microsoft.com/office/powerpoint/2010/main" val="75338831"/>
              </p:ext>
            </p:extLst>
          </p:nvPr>
        </p:nvGraphicFramePr>
        <p:xfrm>
          <a:off x="9048328" y="5533951"/>
          <a:ext cx="2724144" cy="764354"/>
        </p:xfrm>
        <a:graphic>
          <a:graphicData uri="http://schemas.openxmlformats.org/presentationml/2006/ole">
            <mc:AlternateContent xmlns:mc="http://schemas.openxmlformats.org/markup-compatibility/2006">
              <mc:Choice xmlns:v="urn:schemas-microsoft-com:vml" Requires="v">
                <p:oleObj spid="_x0000_s90321" name="公式" r:id="rId18" imgW="1714500" imgH="482600" progId="Equation.3">
                  <p:embed/>
                </p:oleObj>
              </mc:Choice>
              <mc:Fallback>
                <p:oleObj name="公式" r:id="rId18" imgW="1714500" imgH="482600" progId="Equation.3">
                  <p:embed/>
                  <p:pic>
                    <p:nvPicPr>
                      <p:cNvPr id="0" name="Picture 17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048328" y="5533951"/>
                        <a:ext cx="2724144" cy="7643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3624049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55440" y="1556792"/>
            <a:ext cx="10369152" cy="3416320"/>
          </a:xfrm>
          <a:prstGeom prst="rect">
            <a:avLst/>
          </a:prstGeom>
          <a:noFill/>
        </p:spPr>
        <p:txBody>
          <a:bodyPr wrap="square" rtlCol="0">
            <a:spAutoFit/>
          </a:bodyPr>
          <a:lstStyle/>
          <a:p>
            <a:pPr>
              <a:lnSpc>
                <a:spcPct val="150000"/>
              </a:lnSpc>
            </a:pPr>
            <a:r>
              <a:rPr lang="en-US" altLang="zh-CN" sz="2400" b="1" dirty="0">
                <a:latin typeface="宋体" pitchFamily="2" charset="-122"/>
                <a:ea typeface="宋体" pitchFamily="2" charset="-122"/>
              </a:rPr>
              <a:t>13.1 </a:t>
            </a:r>
            <a:r>
              <a:rPr lang="zh-CN" altLang="zh-CN" sz="2400" b="1" dirty="0">
                <a:latin typeface="宋体" pitchFamily="2" charset="-122"/>
                <a:ea typeface="宋体" pitchFamily="2" charset="-122"/>
              </a:rPr>
              <a:t>最小错误率贝叶斯决策</a:t>
            </a:r>
          </a:p>
          <a:p>
            <a:pPr>
              <a:lnSpc>
                <a:spcPct val="150000"/>
              </a:lnSpc>
            </a:pPr>
            <a:r>
              <a:rPr lang="en-US" altLang="zh-CN" sz="2400" b="1" dirty="0">
                <a:latin typeface="宋体" pitchFamily="2" charset="-122"/>
                <a:ea typeface="宋体" pitchFamily="2" charset="-122"/>
              </a:rPr>
              <a:t>13.2 </a:t>
            </a:r>
            <a:r>
              <a:rPr lang="zh-CN" altLang="zh-CN" sz="2400" b="1" dirty="0">
                <a:latin typeface="宋体" pitchFamily="2" charset="-122"/>
                <a:ea typeface="宋体" pitchFamily="2" charset="-122"/>
              </a:rPr>
              <a:t>最小风险贝叶斯决策</a:t>
            </a:r>
          </a:p>
          <a:p>
            <a:pPr>
              <a:lnSpc>
                <a:spcPct val="150000"/>
              </a:lnSpc>
            </a:pPr>
            <a:r>
              <a:rPr lang="en-US" altLang="zh-CN" sz="2400" b="1" dirty="0">
                <a:latin typeface="宋体" pitchFamily="2" charset="-122"/>
                <a:ea typeface="宋体" pitchFamily="2" charset="-122"/>
              </a:rPr>
              <a:t>13.3 </a:t>
            </a:r>
            <a:r>
              <a:rPr lang="zh-CN" altLang="zh-CN" sz="2400" b="1" dirty="0">
                <a:latin typeface="宋体" pitchFamily="2" charset="-122"/>
                <a:ea typeface="宋体" pitchFamily="2" charset="-122"/>
              </a:rPr>
              <a:t>两类错误率、</a:t>
            </a:r>
            <a:r>
              <a:rPr lang="en-US" altLang="zh-CN" sz="2400" b="1" dirty="0" err="1">
                <a:latin typeface="宋体" pitchFamily="2" charset="-122"/>
                <a:ea typeface="宋体" pitchFamily="2" charset="-122"/>
              </a:rPr>
              <a:t>Neyman</a:t>
            </a:r>
            <a:r>
              <a:rPr lang="en-US" altLang="zh-CN" sz="2400" b="1" dirty="0">
                <a:latin typeface="宋体" pitchFamily="2" charset="-122"/>
                <a:ea typeface="宋体" pitchFamily="2" charset="-122"/>
              </a:rPr>
              <a:t>-Pearson</a:t>
            </a:r>
            <a:r>
              <a:rPr lang="zh-CN" altLang="zh-CN" sz="2400" b="1" dirty="0">
                <a:latin typeface="宋体" pitchFamily="2" charset="-122"/>
                <a:ea typeface="宋体" pitchFamily="2" charset="-122"/>
              </a:rPr>
              <a:t>决策和</a:t>
            </a:r>
            <a:r>
              <a:rPr lang="en-US" altLang="zh-CN" sz="2400" b="1" dirty="0">
                <a:latin typeface="宋体" pitchFamily="2" charset="-122"/>
                <a:ea typeface="宋体" pitchFamily="2" charset="-122"/>
              </a:rPr>
              <a:t>ROC</a:t>
            </a:r>
            <a:r>
              <a:rPr lang="zh-CN" altLang="zh-CN" sz="2400" b="1" dirty="0">
                <a:latin typeface="宋体" pitchFamily="2" charset="-122"/>
                <a:ea typeface="宋体" pitchFamily="2" charset="-122"/>
              </a:rPr>
              <a:t>曲线</a:t>
            </a:r>
          </a:p>
          <a:p>
            <a:pPr>
              <a:lnSpc>
                <a:spcPct val="150000"/>
              </a:lnSpc>
            </a:pPr>
            <a:r>
              <a:rPr lang="en-US" altLang="zh-CN" sz="2400" b="1" dirty="0">
                <a:latin typeface="宋体" pitchFamily="2" charset="-122"/>
                <a:ea typeface="宋体" pitchFamily="2" charset="-122"/>
              </a:rPr>
              <a:t>13.4 </a:t>
            </a:r>
            <a:r>
              <a:rPr lang="zh-CN" altLang="zh-CN" sz="2400" b="1" dirty="0">
                <a:latin typeface="宋体" pitchFamily="2" charset="-122"/>
                <a:ea typeface="宋体" pitchFamily="2" charset="-122"/>
              </a:rPr>
              <a:t>正态分布的统计决策</a:t>
            </a:r>
          </a:p>
          <a:p>
            <a:pPr>
              <a:lnSpc>
                <a:spcPct val="150000"/>
              </a:lnSpc>
            </a:pPr>
            <a:r>
              <a:rPr lang="en-US" altLang="zh-CN" sz="2400" b="1" dirty="0">
                <a:latin typeface="宋体" pitchFamily="2" charset="-122"/>
                <a:ea typeface="宋体" pitchFamily="2" charset="-122"/>
              </a:rPr>
              <a:t>13.5 </a:t>
            </a:r>
            <a:r>
              <a:rPr lang="zh-CN" altLang="zh-CN" sz="2400" b="1" dirty="0">
                <a:latin typeface="宋体" pitchFamily="2" charset="-122"/>
                <a:ea typeface="宋体" pitchFamily="2" charset="-122"/>
              </a:rPr>
              <a:t>关于分类器的错误率</a:t>
            </a:r>
          </a:p>
          <a:p>
            <a:pPr>
              <a:lnSpc>
                <a:spcPct val="150000"/>
              </a:lnSpc>
            </a:pPr>
            <a:r>
              <a:rPr lang="en-US" altLang="zh-CN" sz="2400" b="1" dirty="0">
                <a:solidFill>
                  <a:srgbClr val="FF0000"/>
                </a:solidFill>
                <a:latin typeface="宋体" pitchFamily="2" charset="-122"/>
                <a:ea typeface="宋体" pitchFamily="2" charset="-122"/>
              </a:rPr>
              <a:t>13.6 </a:t>
            </a:r>
            <a:r>
              <a:rPr lang="zh-CN" altLang="zh-CN" sz="2400" b="1" dirty="0">
                <a:solidFill>
                  <a:srgbClr val="FF0000"/>
                </a:solidFill>
                <a:latin typeface="宋体" pitchFamily="2" charset="-122"/>
                <a:ea typeface="宋体" pitchFamily="2" charset="-122"/>
              </a:rPr>
              <a:t>离散概率模型下的统计决策</a:t>
            </a:r>
          </a:p>
        </p:txBody>
      </p:sp>
      <p:sp>
        <p:nvSpPr>
          <p:cNvPr id="8" name="Freeform 6"/>
          <p:cNvSpPr>
            <a:spLocks/>
          </p:cNvSpPr>
          <p:nvPr/>
        </p:nvSpPr>
        <p:spPr bwMode="auto">
          <a:xfrm>
            <a:off x="0" y="5589240"/>
            <a:ext cx="12192000" cy="864096"/>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p>
        </p:txBody>
      </p:sp>
      <p:sp>
        <p:nvSpPr>
          <p:cNvPr id="9" name="Freeform 7"/>
          <p:cNvSpPr>
            <a:spLocks/>
          </p:cNvSpPr>
          <p:nvPr/>
        </p:nvSpPr>
        <p:spPr bwMode="auto">
          <a:xfrm>
            <a:off x="-24680" y="5425669"/>
            <a:ext cx="12216680" cy="357166"/>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tx2">
              <a:lumMod val="40000"/>
              <a:lumOff val="6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solidFill>
                <a:schemeClr val="tx2">
                  <a:lumMod val="20000"/>
                  <a:lumOff val="80000"/>
                </a:schemeClr>
              </a:solidFill>
            </a:endParaRPr>
          </a:p>
        </p:txBody>
      </p:sp>
      <p:pic>
        <p:nvPicPr>
          <p:cNvPr id="3" name="图片 2"/>
          <p:cNvPicPr>
            <a:picLocks noChangeAspect="1"/>
          </p:cNvPicPr>
          <p:nvPr/>
        </p:nvPicPr>
        <p:blipFill>
          <a:blip r:embed="rId3"/>
          <a:stretch>
            <a:fillRect/>
          </a:stretch>
        </p:blipFill>
        <p:spPr>
          <a:xfrm>
            <a:off x="0" y="6468398"/>
            <a:ext cx="1349719" cy="404664"/>
          </a:xfrm>
          <a:prstGeom prst="rect">
            <a:avLst/>
          </a:prstGeom>
        </p:spPr>
      </p:pic>
      <p:sp>
        <p:nvSpPr>
          <p:cNvPr id="6" name="文本框 5"/>
          <p:cNvSpPr txBox="1"/>
          <p:nvPr/>
        </p:nvSpPr>
        <p:spPr>
          <a:xfrm>
            <a:off x="-24680" y="6436962"/>
            <a:ext cx="5472608" cy="461665"/>
          </a:xfrm>
          <a:prstGeom prst="rect">
            <a:avLst/>
          </a:prstGeom>
          <a:noFill/>
        </p:spPr>
        <p:txBody>
          <a:bodyPr wrap="square" rtlCol="0">
            <a:spAutoFit/>
          </a:bodyPr>
          <a:lstStyle/>
          <a:p>
            <a:r>
              <a:rPr lang="zh-CN" altLang="en-US" sz="2400" b="1" dirty="0">
                <a:solidFill>
                  <a:srgbClr val="0000FF"/>
                </a:solidFill>
              </a:rPr>
              <a:t>人工智能与自动化学院        </a:t>
            </a:r>
          </a:p>
        </p:txBody>
      </p:sp>
      <p:sp>
        <p:nvSpPr>
          <p:cNvPr id="7" name="灯片编号占位符 6">
            <a:extLst>
              <a:ext uri="{FF2B5EF4-FFF2-40B4-BE49-F238E27FC236}">
                <a16:creationId xmlns:a16="http://schemas.microsoft.com/office/drawing/2014/main" id="{57A11AAC-03BE-45BB-A5C8-11C5A0B0B16C}"/>
              </a:ext>
            </a:extLst>
          </p:cNvPr>
          <p:cNvSpPr>
            <a:spLocks noGrp="1"/>
          </p:cNvSpPr>
          <p:nvPr>
            <p:ph type="sldNum" sz="quarter" idx="11"/>
          </p:nvPr>
        </p:nvSpPr>
        <p:spPr/>
        <p:txBody>
          <a:bodyPr/>
          <a:lstStyle/>
          <a:p>
            <a:pPr>
              <a:defRPr/>
            </a:pPr>
            <a:fld id="{31E287EE-1289-4991-82CE-EFE584F53F4F}" type="slidenum">
              <a:rPr lang="en-US" altLang="zh-CN" smtClean="0"/>
              <a:pPr>
                <a:defRPr/>
              </a:pPr>
              <a:t>86</a:t>
            </a:fld>
            <a:endParaRPr lang="en-US" altLang="zh-CN" dirty="0"/>
          </a:p>
        </p:txBody>
      </p:sp>
      <p:sp>
        <p:nvSpPr>
          <p:cNvPr id="10"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698477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zh-CN" altLang="en-US" kern="0" dirty="0"/>
              <a:t>第</a:t>
            </a:r>
            <a:r>
              <a:rPr lang="en-US" altLang="zh-CN" kern="0" dirty="0"/>
              <a:t>13</a:t>
            </a:r>
            <a:r>
              <a:rPr lang="zh-CN" altLang="en-US" kern="0" dirty="0"/>
              <a:t>章 </a:t>
            </a:r>
            <a:r>
              <a:rPr lang="zh-CN" altLang="zh-CN" dirty="0"/>
              <a:t>基于统计决策的概率分类方法</a:t>
            </a:r>
          </a:p>
        </p:txBody>
      </p:sp>
    </p:spTree>
    <p:extLst>
      <p:ext uri="{BB962C8B-B14F-4D97-AF65-F5344CB8AC3E}">
        <p14:creationId xmlns:p14="http://schemas.microsoft.com/office/powerpoint/2010/main" val="142156972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 Box 5"/>
          <p:cNvSpPr txBox="1">
            <a:spLocks noChangeArrowheads="1"/>
          </p:cNvSpPr>
          <p:nvPr/>
        </p:nvSpPr>
        <p:spPr bwMode="auto">
          <a:xfrm>
            <a:off x="407368" y="2850843"/>
            <a:ext cx="11449272" cy="1514261"/>
          </a:xfrm>
          <a:prstGeom prst="rect">
            <a:avLst/>
          </a:prstGeom>
          <a:noFill/>
          <a:ln w="9525">
            <a:noFill/>
            <a:miter lim="800000"/>
            <a:headEnd/>
            <a:tailEnd/>
          </a:ln>
          <a:effectLst/>
        </p:spPr>
        <p:txBody>
          <a:bodyPr wrap="square">
            <a:spAutoFit/>
          </a:bodyPr>
          <a:lstStyle/>
          <a:p>
            <a:pPr marL="342900" indent="-342900" algn="just">
              <a:lnSpc>
                <a:spcPct val="140000"/>
              </a:lnSpc>
              <a:buFont typeface="Arial" panose="020B0604020202020204" pitchFamily="34" charset="0"/>
              <a:buChar char="•"/>
            </a:pPr>
            <a:r>
              <a:rPr lang="zh-CN" altLang="en-US" sz="2200" b="0" dirty="0">
                <a:solidFill>
                  <a:srgbClr val="0000FF"/>
                </a:solidFill>
                <a:latin typeface="Times New Roman" panose="02020603050405020304" pitchFamily="18" charset="0"/>
                <a:ea typeface="黑体" panose="02010609060101010101" pitchFamily="49" charset="-122"/>
              </a:rPr>
              <a:t>在这种情况下，               变得奇异化，积分形式                      转变为求和形式</a:t>
            </a:r>
            <a:endParaRPr lang="en-US" altLang="zh-CN" sz="2200" b="0" dirty="0">
              <a:solidFill>
                <a:srgbClr val="0000FF"/>
              </a:solidFill>
              <a:latin typeface="Times New Roman" panose="02020603050405020304" pitchFamily="18" charset="0"/>
              <a:ea typeface="黑体" panose="02010609060101010101" pitchFamily="49" charset="-122"/>
            </a:endParaRPr>
          </a:p>
          <a:p>
            <a:pPr marL="342900" indent="-342900" algn="just">
              <a:lnSpc>
                <a:spcPct val="140000"/>
              </a:lnSpc>
              <a:buFont typeface="Arial" panose="020B0604020202020204" pitchFamily="34" charset="0"/>
              <a:buChar char="•"/>
            </a:pPr>
            <a:r>
              <a:rPr lang="zh-CN" altLang="en-US" sz="2200" dirty="0">
                <a:solidFill>
                  <a:srgbClr val="0000FF"/>
                </a:solidFill>
                <a:latin typeface="Times New Roman" panose="02020603050405020304" pitchFamily="18" charset="0"/>
                <a:ea typeface="黑体" panose="02010609060101010101" pitchFamily="49" charset="-122"/>
              </a:rPr>
              <a:t>概率密度函数         换成 概率分布函数</a:t>
            </a:r>
            <a:endParaRPr lang="en-US" altLang="zh-CN" sz="2200" dirty="0">
              <a:solidFill>
                <a:srgbClr val="0000FF"/>
              </a:solidFill>
              <a:latin typeface="Times New Roman" panose="02020603050405020304" pitchFamily="18" charset="0"/>
              <a:ea typeface="黑体" panose="02010609060101010101" pitchFamily="49" charset="-122"/>
            </a:endParaRPr>
          </a:p>
          <a:p>
            <a:pPr marL="342900" indent="-342900" algn="just">
              <a:lnSpc>
                <a:spcPct val="140000"/>
              </a:lnSpc>
              <a:buFont typeface="Arial" panose="020B0604020202020204" pitchFamily="34" charset="0"/>
              <a:buChar char="•"/>
            </a:pPr>
            <a:r>
              <a:rPr lang="zh-CN" altLang="en-US" sz="2200" dirty="0">
                <a:solidFill>
                  <a:srgbClr val="0000FF"/>
                </a:solidFill>
                <a:latin typeface="Times New Roman" panose="02020603050405020304" pitchFamily="18" charset="0"/>
                <a:ea typeface="黑体" panose="02010609060101010101" pitchFamily="49" charset="-122"/>
              </a:rPr>
              <a:t>其它方面与连续的情况基本相同，这里不一一赘述</a:t>
            </a:r>
          </a:p>
        </p:txBody>
      </p:sp>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87</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22882"/>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13.6 </a:t>
            </a:r>
            <a:r>
              <a:rPr lang="zh-CN" altLang="zh-CN" dirty="0"/>
              <a:t>离散概率模型下的统计决策</a:t>
            </a:r>
          </a:p>
        </p:txBody>
      </p:sp>
      <p:sp>
        <p:nvSpPr>
          <p:cNvPr id="14" name="Text Box 5"/>
          <p:cNvSpPr txBox="1">
            <a:spLocks noChangeArrowheads="1"/>
          </p:cNvSpPr>
          <p:nvPr/>
        </p:nvSpPr>
        <p:spPr bwMode="auto">
          <a:xfrm>
            <a:off x="407368" y="1265788"/>
            <a:ext cx="11449272" cy="1514261"/>
          </a:xfrm>
          <a:prstGeom prst="rect">
            <a:avLst/>
          </a:prstGeom>
          <a:noFill/>
          <a:ln w="9525">
            <a:noFill/>
            <a:miter lim="800000"/>
            <a:headEnd/>
            <a:tailEnd/>
          </a:ln>
          <a:effectLst/>
        </p:spPr>
        <p:txBody>
          <a:bodyPr wrap="square">
            <a:spAutoFit/>
          </a:bodyPr>
          <a:lstStyle/>
          <a:p>
            <a:pPr algn="just">
              <a:lnSpc>
                <a:spcPct val="140000"/>
              </a:lnSpc>
            </a:pPr>
            <a:r>
              <a:rPr lang="zh-CN" altLang="en-US" sz="2200" b="0" dirty="0">
                <a:solidFill>
                  <a:schemeClr val="tx1"/>
                </a:solidFill>
                <a:latin typeface="Times New Roman" panose="02020603050405020304" pitchFamily="18" charset="0"/>
                <a:ea typeface="黑体" panose="02010609060101010101" pitchFamily="49" charset="-122"/>
              </a:rPr>
              <a:t>到目前为止所讨论的特征向量 </a:t>
            </a:r>
            <a:r>
              <a:rPr lang="en-US" altLang="zh-CN" sz="2200" b="0" i="1" dirty="0">
                <a:solidFill>
                  <a:schemeClr val="tx1"/>
                </a:solidFill>
                <a:latin typeface="Times New Roman" panose="02020603050405020304" pitchFamily="18" charset="0"/>
                <a:ea typeface="黑体" panose="02010609060101010101" pitchFamily="49" charset="-122"/>
              </a:rPr>
              <a:t>x</a:t>
            </a:r>
            <a:r>
              <a:rPr lang="en-US" altLang="zh-CN" sz="2200" b="0" dirty="0">
                <a:solidFill>
                  <a:schemeClr val="tx1"/>
                </a:solidFill>
                <a:latin typeface="Times New Roman" panose="02020603050405020304" pitchFamily="18" charset="0"/>
                <a:ea typeface="黑体" panose="02010609060101010101" pitchFamily="49" charset="-122"/>
              </a:rPr>
              <a:t> </a:t>
            </a:r>
            <a:r>
              <a:rPr lang="zh-CN" altLang="en-US" sz="2200" b="0" dirty="0">
                <a:solidFill>
                  <a:schemeClr val="tx1"/>
                </a:solidFill>
                <a:latin typeface="Times New Roman" panose="02020603050405020304" pitchFamily="18" charset="0"/>
                <a:ea typeface="黑体" panose="02010609060101010101" pitchFamily="49" charset="-122"/>
              </a:rPr>
              <a:t>可以为 </a:t>
            </a:r>
            <a:r>
              <a:rPr lang="en-US" altLang="zh-CN" sz="2200" b="0" i="1" dirty="0">
                <a:solidFill>
                  <a:schemeClr val="tx1"/>
                </a:solidFill>
                <a:latin typeface="Times New Roman" panose="02020603050405020304" pitchFamily="18" charset="0"/>
                <a:ea typeface="黑体" panose="02010609060101010101" pitchFamily="49" charset="-122"/>
              </a:rPr>
              <a:t>d</a:t>
            </a:r>
            <a:r>
              <a:rPr lang="en-US" altLang="zh-CN" sz="2200" b="0" dirty="0">
                <a:solidFill>
                  <a:schemeClr val="tx1"/>
                </a:solidFill>
                <a:latin typeface="Times New Roman" panose="02020603050405020304" pitchFamily="18" charset="0"/>
                <a:ea typeface="黑体" panose="02010609060101010101" pitchFamily="49" charset="-122"/>
              </a:rPr>
              <a:t> </a:t>
            </a:r>
            <a:r>
              <a:rPr lang="zh-CN" altLang="en-US" sz="2200" b="0" dirty="0">
                <a:solidFill>
                  <a:schemeClr val="tx1"/>
                </a:solidFill>
                <a:latin typeface="Times New Roman" panose="02020603050405020304" pitchFamily="18" charset="0"/>
                <a:ea typeface="黑体" panose="02010609060101010101" pitchFamily="49" charset="-122"/>
              </a:rPr>
              <a:t>维欧氏空间中的任意一点。但是，在许多实际应用中，</a:t>
            </a:r>
            <a:r>
              <a:rPr lang="en-US" altLang="zh-CN" sz="2200" b="0" i="1" dirty="0">
                <a:solidFill>
                  <a:schemeClr val="tx1"/>
                </a:solidFill>
                <a:latin typeface="Times New Roman" panose="02020603050405020304" pitchFamily="18" charset="0"/>
                <a:ea typeface="黑体" panose="02010609060101010101" pitchFamily="49" charset="-122"/>
              </a:rPr>
              <a:t>x </a:t>
            </a:r>
            <a:r>
              <a:rPr lang="zh-CN" altLang="en-US" sz="2200" b="0" dirty="0">
                <a:solidFill>
                  <a:schemeClr val="tx1"/>
                </a:solidFill>
                <a:latin typeface="Times New Roman" panose="02020603050405020304" pitchFamily="18" charset="0"/>
                <a:ea typeface="黑体" panose="02010609060101010101" pitchFamily="49" charset="-122"/>
              </a:rPr>
              <a:t>中的元素可能是二进制，三进制或者更高的离散整数值，以至于 </a:t>
            </a:r>
            <a:r>
              <a:rPr lang="en-US" altLang="zh-CN" sz="2200" b="0" i="1" dirty="0">
                <a:solidFill>
                  <a:schemeClr val="tx1"/>
                </a:solidFill>
                <a:latin typeface="Times New Roman" panose="02020603050405020304" pitchFamily="18" charset="0"/>
                <a:ea typeface="黑体" panose="02010609060101010101" pitchFamily="49" charset="-122"/>
              </a:rPr>
              <a:t>x </a:t>
            </a:r>
            <a:r>
              <a:rPr lang="zh-CN" altLang="en-US" sz="2200" b="0" dirty="0">
                <a:solidFill>
                  <a:schemeClr val="tx1"/>
                </a:solidFill>
                <a:latin typeface="Times New Roman" panose="02020603050405020304" pitchFamily="18" charset="0"/>
                <a:ea typeface="黑体" panose="02010609060101010101" pitchFamily="49" charset="-122"/>
              </a:rPr>
              <a:t>可以被认为是 </a:t>
            </a:r>
            <a:r>
              <a:rPr lang="en-US" altLang="zh-CN" sz="2200" b="0" i="1" dirty="0">
                <a:solidFill>
                  <a:schemeClr val="tx1"/>
                </a:solidFill>
                <a:latin typeface="Times New Roman" panose="02020603050405020304" pitchFamily="18" charset="0"/>
                <a:ea typeface="黑体" panose="02010609060101010101" pitchFamily="49" charset="-122"/>
              </a:rPr>
              <a:t>m </a:t>
            </a:r>
            <a:r>
              <a:rPr lang="zh-CN" altLang="en-US" sz="2200" b="0" dirty="0">
                <a:solidFill>
                  <a:schemeClr val="tx1"/>
                </a:solidFill>
                <a:latin typeface="Times New Roman" panose="02020603050405020304" pitchFamily="18" charset="0"/>
                <a:ea typeface="黑体" panose="02010609060101010101" pitchFamily="49" charset="-122"/>
              </a:rPr>
              <a:t>个离散值                  中的一个。</a:t>
            </a:r>
          </a:p>
        </p:txBody>
      </p:sp>
      <p:graphicFrame>
        <p:nvGraphicFramePr>
          <p:cNvPr id="16" name="Object 9"/>
          <p:cNvGraphicFramePr>
            <a:graphicFrameLocks noGrp="1" noChangeAspect="1"/>
          </p:cNvGraphicFramePr>
          <p:nvPr>
            <p:ph idx="1"/>
            <p:extLst>
              <p:ext uri="{D42A27DB-BD31-4B8C-83A1-F6EECF244321}">
                <p14:modId xmlns:p14="http://schemas.microsoft.com/office/powerpoint/2010/main" val="565916337"/>
              </p:ext>
            </p:extLst>
          </p:nvPr>
        </p:nvGraphicFramePr>
        <p:xfrm>
          <a:off x="6672064" y="2872356"/>
          <a:ext cx="1454739" cy="500066"/>
        </p:xfrm>
        <a:graphic>
          <a:graphicData uri="http://schemas.openxmlformats.org/presentationml/2006/ole">
            <mc:AlternateContent xmlns:mc="http://schemas.openxmlformats.org/markup-compatibility/2006">
              <mc:Choice xmlns:v="urn:schemas-microsoft-com:vml" Requires="v">
                <p:oleObj spid="_x0000_s39222" name="公式" r:id="rId4" imgW="812447" imgH="279279" progId="Equation.3">
                  <p:embed/>
                </p:oleObj>
              </mc:Choice>
              <mc:Fallback>
                <p:oleObj name="公式" r:id="rId4" imgW="812447" imgH="279279" progId="Equation.3">
                  <p:embed/>
                  <p:pic>
                    <p:nvPicPr>
                      <p:cNvPr id="0" name="Picture 286"/>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72064" y="2872356"/>
                        <a:ext cx="1454739" cy="500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14"/>
          <p:cNvGraphicFramePr>
            <a:graphicFrameLocks noChangeAspect="1"/>
          </p:cNvGraphicFramePr>
          <p:nvPr>
            <p:extLst>
              <p:ext uri="{D42A27DB-BD31-4B8C-83A1-F6EECF244321}">
                <p14:modId xmlns:p14="http://schemas.microsoft.com/office/powerpoint/2010/main" val="3130556596"/>
              </p:ext>
            </p:extLst>
          </p:nvPr>
        </p:nvGraphicFramePr>
        <p:xfrm>
          <a:off x="10222717" y="2900932"/>
          <a:ext cx="1259595" cy="566817"/>
        </p:xfrm>
        <a:graphic>
          <a:graphicData uri="http://schemas.openxmlformats.org/presentationml/2006/ole">
            <mc:AlternateContent xmlns:mc="http://schemas.openxmlformats.org/markup-compatibility/2006">
              <mc:Choice xmlns:v="urn:schemas-microsoft-com:vml" Requires="v">
                <p:oleObj spid="_x0000_s39223" name="公式" r:id="rId6" imgW="761669" imgH="342751" progId="Equation.3">
                  <p:embed/>
                </p:oleObj>
              </mc:Choice>
              <mc:Fallback>
                <p:oleObj name="公式" r:id="rId6" imgW="761669" imgH="342751" progId="Equation.3">
                  <p:embed/>
                  <p:pic>
                    <p:nvPicPr>
                      <p:cNvPr id="0" name="Picture 28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22717" y="2900932"/>
                        <a:ext cx="1259595" cy="5668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8"/>
          <p:cNvGraphicFramePr>
            <a:graphicFrameLocks noChangeAspect="1"/>
          </p:cNvGraphicFramePr>
          <p:nvPr>
            <p:extLst>
              <p:ext uri="{D42A27DB-BD31-4B8C-83A1-F6EECF244321}">
                <p14:modId xmlns:p14="http://schemas.microsoft.com/office/powerpoint/2010/main" val="4138782445"/>
              </p:ext>
            </p:extLst>
          </p:nvPr>
        </p:nvGraphicFramePr>
        <p:xfrm>
          <a:off x="1370056" y="2236437"/>
          <a:ext cx="1297150" cy="467283"/>
        </p:xfrm>
        <a:graphic>
          <a:graphicData uri="http://schemas.openxmlformats.org/presentationml/2006/ole">
            <mc:AlternateContent xmlns:mc="http://schemas.openxmlformats.org/markup-compatibility/2006">
              <mc:Choice xmlns:v="urn:schemas-microsoft-com:vml" Requires="v">
                <p:oleObj spid="_x0000_s39224" name="公式" r:id="rId8" imgW="634725" imgH="228501" progId="Equation.3">
                  <p:embed/>
                </p:oleObj>
              </mc:Choice>
              <mc:Fallback>
                <p:oleObj name="公式" r:id="rId8" imgW="634725" imgH="228501" progId="Equation.3">
                  <p:embed/>
                  <p:pic>
                    <p:nvPicPr>
                      <p:cNvPr id="0" name="Picture 28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70056" y="2236437"/>
                        <a:ext cx="1297150" cy="4672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22"/>
          <p:cNvGraphicFramePr>
            <a:graphicFrameLocks noChangeAspect="1"/>
          </p:cNvGraphicFramePr>
          <p:nvPr>
            <p:extLst>
              <p:ext uri="{D42A27DB-BD31-4B8C-83A1-F6EECF244321}">
                <p14:modId xmlns:p14="http://schemas.microsoft.com/office/powerpoint/2010/main" val="3224692192"/>
              </p:ext>
            </p:extLst>
          </p:nvPr>
        </p:nvGraphicFramePr>
        <p:xfrm>
          <a:off x="2775660" y="2959893"/>
          <a:ext cx="1016084" cy="419772"/>
        </p:xfrm>
        <a:graphic>
          <a:graphicData uri="http://schemas.openxmlformats.org/presentationml/2006/ole">
            <mc:AlternateContent xmlns:mc="http://schemas.openxmlformats.org/markup-compatibility/2006">
              <mc:Choice xmlns:v="urn:schemas-microsoft-com:vml" Requires="v">
                <p:oleObj spid="_x0000_s39225" name="公式" r:id="rId10" imgW="583947" imgH="241195" progId="Equation.3">
                  <p:embed/>
                </p:oleObj>
              </mc:Choice>
              <mc:Fallback>
                <p:oleObj name="公式" r:id="rId10" imgW="583947" imgH="241195" progId="Equation.3">
                  <p:embed/>
                  <p:pic>
                    <p:nvPicPr>
                      <p:cNvPr id="0" name="Picture 28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75660" y="2959893"/>
                        <a:ext cx="1016084" cy="4197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27"/>
          <p:cNvGraphicFramePr>
            <a:graphicFrameLocks noChangeAspect="1"/>
          </p:cNvGraphicFramePr>
          <p:nvPr>
            <p:extLst>
              <p:ext uri="{D42A27DB-BD31-4B8C-83A1-F6EECF244321}">
                <p14:modId xmlns:p14="http://schemas.microsoft.com/office/powerpoint/2010/main" val="1472856924"/>
              </p:ext>
            </p:extLst>
          </p:nvPr>
        </p:nvGraphicFramePr>
        <p:xfrm>
          <a:off x="2545892" y="3422107"/>
          <a:ext cx="540357" cy="360238"/>
        </p:xfrm>
        <a:graphic>
          <a:graphicData uri="http://schemas.openxmlformats.org/presentationml/2006/ole">
            <mc:AlternateContent xmlns:mc="http://schemas.openxmlformats.org/markup-compatibility/2006">
              <mc:Choice xmlns:v="urn:schemas-microsoft-com:vml" Requires="v">
                <p:oleObj spid="_x0000_s39226" name="Equation" r:id="rId12" imgW="304536" imgH="203024" progId="Equation.DSMT4">
                  <p:embed/>
                </p:oleObj>
              </mc:Choice>
              <mc:Fallback>
                <p:oleObj name="Equation" r:id="rId12" imgW="304536" imgH="203024" progId="Equation.DSMT4">
                  <p:embed/>
                  <p:pic>
                    <p:nvPicPr>
                      <p:cNvPr id="0" name="Picture 29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45892" y="3422107"/>
                        <a:ext cx="540357" cy="360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28"/>
          <p:cNvGraphicFramePr>
            <a:graphicFrameLocks noChangeAspect="1"/>
          </p:cNvGraphicFramePr>
          <p:nvPr>
            <p:extLst>
              <p:ext uri="{D42A27DB-BD31-4B8C-83A1-F6EECF244321}">
                <p14:modId xmlns:p14="http://schemas.microsoft.com/office/powerpoint/2010/main" val="2596918678"/>
              </p:ext>
            </p:extLst>
          </p:nvPr>
        </p:nvGraphicFramePr>
        <p:xfrm>
          <a:off x="5560144" y="3436395"/>
          <a:ext cx="607864" cy="405243"/>
        </p:xfrm>
        <a:graphic>
          <a:graphicData uri="http://schemas.openxmlformats.org/presentationml/2006/ole">
            <mc:AlternateContent xmlns:mc="http://schemas.openxmlformats.org/markup-compatibility/2006">
              <mc:Choice xmlns:v="urn:schemas-microsoft-com:vml" Requires="v">
                <p:oleObj spid="_x0000_s39227" name="Equation" r:id="rId14" imgW="304536" imgH="203024" progId="Equation.DSMT4">
                  <p:embed/>
                </p:oleObj>
              </mc:Choice>
              <mc:Fallback>
                <p:oleObj name="Equation" r:id="rId14" imgW="304536" imgH="203024" progId="Equation.DSMT4">
                  <p:embed/>
                  <p:pic>
                    <p:nvPicPr>
                      <p:cNvPr id="0" name="Picture 29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60144" y="3436395"/>
                        <a:ext cx="607864" cy="4052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5475550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28"/>
          <p:cNvSpPr>
            <a:spLocks noChangeArrowheads="1"/>
          </p:cNvSpPr>
          <p:nvPr/>
        </p:nvSpPr>
        <p:spPr bwMode="auto">
          <a:xfrm>
            <a:off x="339950" y="2926105"/>
            <a:ext cx="7858180" cy="430887"/>
          </a:xfrm>
          <a:prstGeom prst="rect">
            <a:avLst/>
          </a:prstGeom>
          <a:noFill/>
          <a:ln w="9525">
            <a:noFill/>
            <a:miter lim="800000"/>
            <a:headEnd/>
            <a:tailEnd/>
          </a:ln>
          <a:effectLst/>
        </p:spPr>
        <p:txBody>
          <a:bodyPr wrap="square">
            <a:spAutoFit/>
          </a:bodyPr>
          <a:lstStyle/>
          <a:p>
            <a:r>
              <a:rPr lang="zh-CN" altLang="en-US" sz="2200" b="0" dirty="0">
                <a:solidFill>
                  <a:schemeClr val="tx1"/>
                </a:solidFill>
                <a:latin typeface="Times New Roman" panose="02020603050405020304" pitchFamily="18" charset="0"/>
                <a:ea typeface="黑体" panose="02010609060101010101" pitchFamily="49" charset="-122"/>
              </a:rPr>
              <a:t>假设条件独立，可将</a:t>
            </a:r>
            <a:r>
              <a:rPr lang="en-US" altLang="zh-CN" sz="2200" b="0" i="1" dirty="0">
                <a:solidFill>
                  <a:schemeClr val="tx1"/>
                </a:solidFill>
                <a:latin typeface="Times New Roman" panose="02020603050405020304" pitchFamily="18" charset="0"/>
                <a:ea typeface="黑体" panose="02010609060101010101" pitchFamily="49" charset="-122"/>
              </a:rPr>
              <a:t>x</a:t>
            </a:r>
            <a:r>
              <a:rPr lang="zh-CN" altLang="en-US" sz="2200" b="0" dirty="0">
                <a:solidFill>
                  <a:schemeClr val="tx1"/>
                </a:solidFill>
                <a:latin typeface="Times New Roman" panose="02020603050405020304" pitchFamily="18" charset="0"/>
                <a:ea typeface="黑体" panose="02010609060101010101" pitchFamily="49" charset="-122"/>
              </a:rPr>
              <a:t>元素的概率写为              ，即</a:t>
            </a:r>
          </a:p>
        </p:txBody>
      </p:sp>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88</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72565"/>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13.6 </a:t>
            </a:r>
            <a:r>
              <a:rPr lang="zh-CN" altLang="zh-CN" dirty="0"/>
              <a:t>离散概率模型下的统计决策</a:t>
            </a:r>
          </a:p>
        </p:txBody>
      </p:sp>
      <p:sp>
        <p:nvSpPr>
          <p:cNvPr id="20" name="矩形 19"/>
          <p:cNvSpPr/>
          <p:nvPr/>
        </p:nvSpPr>
        <p:spPr>
          <a:xfrm>
            <a:off x="304132" y="1052736"/>
            <a:ext cx="2698175" cy="523220"/>
          </a:xfrm>
          <a:prstGeom prst="rect">
            <a:avLst/>
          </a:prstGeom>
        </p:spPr>
        <p:txBody>
          <a:bodyPr wrap="none">
            <a:spAutoFit/>
          </a:bodyPr>
          <a:lstStyle/>
          <a:p>
            <a:r>
              <a:rPr lang="zh-CN" altLang="en-US" sz="2800" b="1" dirty="0">
                <a:solidFill>
                  <a:srgbClr val="0000FF"/>
                </a:solidFill>
                <a:latin typeface="Arial" panose="020B0604020202020204" pitchFamily="34" charset="0"/>
              </a:rPr>
              <a:t>独立的二值特征</a:t>
            </a:r>
          </a:p>
        </p:txBody>
      </p:sp>
      <p:sp>
        <p:nvSpPr>
          <p:cNvPr id="21" name="Text Box 9"/>
          <p:cNvSpPr txBox="1">
            <a:spLocks noChangeArrowheads="1"/>
          </p:cNvSpPr>
          <p:nvPr/>
        </p:nvSpPr>
        <p:spPr bwMode="auto">
          <a:xfrm>
            <a:off x="304132" y="1556792"/>
            <a:ext cx="9248252" cy="904863"/>
          </a:xfrm>
          <a:prstGeom prst="rect">
            <a:avLst/>
          </a:prstGeom>
          <a:noFill/>
          <a:ln w="9525">
            <a:noFill/>
            <a:miter lim="800000"/>
            <a:headEnd/>
            <a:tailEnd/>
          </a:ln>
          <a:effectLst/>
        </p:spPr>
        <p:txBody>
          <a:bodyPr wrap="square">
            <a:spAutoFit/>
          </a:bodyPr>
          <a:lstStyle/>
          <a:p>
            <a:pPr>
              <a:lnSpc>
                <a:spcPct val="120000"/>
              </a:lnSpc>
            </a:pPr>
            <a:r>
              <a:rPr lang="zh-CN" altLang="en-US" sz="2200" b="0" dirty="0">
                <a:solidFill>
                  <a:schemeClr val="tx1"/>
                </a:solidFill>
                <a:latin typeface="Times New Roman" panose="02020603050405020304" pitchFamily="18" charset="0"/>
                <a:ea typeface="黑体" panose="02010609060101010101" pitchFamily="49" charset="-122"/>
              </a:rPr>
              <a:t>考虑两类问题，其中特征向量的元素为二值的，并且条件独立。</a:t>
            </a:r>
          </a:p>
          <a:p>
            <a:pPr>
              <a:lnSpc>
                <a:spcPct val="120000"/>
              </a:lnSpc>
            </a:pPr>
            <a:r>
              <a:rPr lang="zh-CN" altLang="en-US" sz="2200" b="0" dirty="0">
                <a:solidFill>
                  <a:schemeClr val="tx1"/>
                </a:solidFill>
                <a:latin typeface="Times New Roman" panose="02020603050405020304" pitchFamily="18" charset="0"/>
                <a:ea typeface="黑体" panose="02010609060101010101" pitchFamily="49" charset="-122"/>
              </a:rPr>
              <a:t>令                          ，其中</a:t>
            </a:r>
            <a:r>
              <a:rPr lang="en-US" altLang="zh-CN" sz="2200" b="0" dirty="0">
                <a:solidFill>
                  <a:schemeClr val="tx1"/>
                </a:solidFill>
                <a:latin typeface="Times New Roman" panose="02020603050405020304" pitchFamily="18" charset="0"/>
                <a:ea typeface="黑体" panose="02010609060101010101" pitchFamily="49" charset="-122"/>
              </a:rPr>
              <a:t>,</a:t>
            </a:r>
            <a:r>
              <a:rPr lang="zh-CN" altLang="en-US" sz="2200" b="0" dirty="0">
                <a:solidFill>
                  <a:schemeClr val="tx1"/>
                </a:solidFill>
                <a:latin typeface="Times New Roman" panose="02020603050405020304" pitchFamily="18" charset="0"/>
                <a:ea typeface="黑体" panose="02010609060101010101" pitchFamily="49" charset="-122"/>
              </a:rPr>
              <a:t>       可能为 </a:t>
            </a:r>
            <a:r>
              <a:rPr lang="en-US" altLang="zh-CN" sz="2200" b="0" dirty="0">
                <a:solidFill>
                  <a:schemeClr val="tx1"/>
                </a:solidFill>
                <a:latin typeface="Times New Roman" panose="02020603050405020304" pitchFamily="18" charset="0"/>
                <a:ea typeface="黑体" panose="02010609060101010101" pitchFamily="49" charset="-122"/>
              </a:rPr>
              <a:t>0 </a:t>
            </a:r>
            <a:r>
              <a:rPr lang="zh-CN" altLang="en-US" sz="2200" b="0" dirty="0">
                <a:solidFill>
                  <a:schemeClr val="tx1"/>
                </a:solidFill>
                <a:latin typeface="Times New Roman" panose="02020603050405020304" pitchFamily="18" charset="0"/>
                <a:ea typeface="黑体" panose="02010609060101010101" pitchFamily="49" charset="-122"/>
              </a:rPr>
              <a:t>或 </a:t>
            </a:r>
            <a:r>
              <a:rPr lang="en-US" altLang="zh-CN" sz="2200" b="0" dirty="0">
                <a:solidFill>
                  <a:schemeClr val="tx1"/>
                </a:solidFill>
                <a:latin typeface="Times New Roman" panose="02020603050405020304" pitchFamily="18" charset="0"/>
                <a:ea typeface="黑体" panose="02010609060101010101" pitchFamily="49" charset="-122"/>
              </a:rPr>
              <a:t>1 </a:t>
            </a:r>
            <a:r>
              <a:rPr lang="zh-CN" altLang="en-US" sz="2200" b="0" dirty="0">
                <a:solidFill>
                  <a:schemeClr val="tx1"/>
                </a:solidFill>
                <a:latin typeface="Times New Roman" panose="02020603050405020304" pitchFamily="18" charset="0"/>
                <a:ea typeface="黑体" panose="02010609060101010101" pitchFamily="49" charset="-122"/>
              </a:rPr>
              <a:t>，且</a:t>
            </a:r>
            <a:r>
              <a:rPr lang="zh-CN" altLang="en-US" sz="2200" dirty="0">
                <a:latin typeface="Times New Roman" panose="02020603050405020304" pitchFamily="18" charset="0"/>
                <a:ea typeface="黑体" panose="02010609060101010101" pitchFamily="49" charset="-122"/>
              </a:rPr>
              <a:t>：</a:t>
            </a:r>
            <a:endParaRPr lang="zh-CN" altLang="en-US" sz="2200" b="0" dirty="0">
              <a:solidFill>
                <a:schemeClr val="tx1"/>
              </a:solidFill>
              <a:latin typeface="Times New Roman" panose="02020603050405020304" pitchFamily="18" charset="0"/>
              <a:ea typeface="黑体" panose="02010609060101010101" pitchFamily="49" charset="-122"/>
            </a:endParaRPr>
          </a:p>
        </p:txBody>
      </p:sp>
      <p:graphicFrame>
        <p:nvGraphicFramePr>
          <p:cNvPr id="23" name="Object 14"/>
          <p:cNvGraphicFramePr>
            <a:graphicFrameLocks noChangeAspect="1"/>
          </p:cNvGraphicFramePr>
          <p:nvPr>
            <p:extLst>
              <p:ext uri="{D42A27DB-BD31-4B8C-83A1-F6EECF244321}">
                <p14:modId xmlns:p14="http://schemas.microsoft.com/office/powerpoint/2010/main" val="1750679786"/>
              </p:ext>
            </p:extLst>
          </p:nvPr>
        </p:nvGraphicFramePr>
        <p:xfrm>
          <a:off x="757879" y="1972254"/>
          <a:ext cx="1766887" cy="449262"/>
        </p:xfrm>
        <a:graphic>
          <a:graphicData uri="http://schemas.openxmlformats.org/presentationml/2006/ole">
            <mc:AlternateContent xmlns:mc="http://schemas.openxmlformats.org/markup-compatibility/2006">
              <mc:Choice xmlns:v="urn:schemas-microsoft-com:vml" Requires="v">
                <p:oleObj spid="_x0000_s76136" name="Equation" r:id="rId4" imgW="901309" imgH="228501" progId="Equation.DSMT4">
                  <p:embed/>
                </p:oleObj>
              </mc:Choice>
              <mc:Fallback>
                <p:oleObj name="Equation" r:id="rId4" imgW="901309" imgH="228501" progId="Equation.DSMT4">
                  <p:embed/>
                  <p:pic>
                    <p:nvPicPr>
                      <p:cNvPr id="0" name="Picture 3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7879" y="1972254"/>
                        <a:ext cx="1766887"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 name="Object 17"/>
          <p:cNvGraphicFramePr>
            <a:graphicFrameLocks noChangeAspect="1"/>
          </p:cNvGraphicFramePr>
          <p:nvPr>
            <p:extLst>
              <p:ext uri="{D42A27DB-BD31-4B8C-83A1-F6EECF244321}">
                <p14:modId xmlns:p14="http://schemas.microsoft.com/office/powerpoint/2010/main" val="1197007026"/>
              </p:ext>
            </p:extLst>
          </p:nvPr>
        </p:nvGraphicFramePr>
        <p:xfrm>
          <a:off x="3565302" y="1965430"/>
          <a:ext cx="298450" cy="449262"/>
        </p:xfrm>
        <a:graphic>
          <a:graphicData uri="http://schemas.openxmlformats.org/presentationml/2006/ole">
            <mc:AlternateContent xmlns:mc="http://schemas.openxmlformats.org/markup-compatibility/2006">
              <mc:Choice xmlns:v="urn:schemas-microsoft-com:vml" Requires="v">
                <p:oleObj spid="_x0000_s76137" name="Equation" r:id="rId6" imgW="152334" imgH="228501" progId="Equation.DSMT4">
                  <p:embed/>
                </p:oleObj>
              </mc:Choice>
              <mc:Fallback>
                <p:oleObj name="Equation" r:id="rId6" imgW="152334" imgH="228501" progId="Equation.DSMT4">
                  <p:embed/>
                  <p:pic>
                    <p:nvPicPr>
                      <p:cNvPr id="0" name="Picture 3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65302" y="1965430"/>
                        <a:ext cx="29845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 name="Object 20"/>
          <p:cNvGraphicFramePr>
            <a:graphicFrameLocks noChangeAspect="1"/>
          </p:cNvGraphicFramePr>
          <p:nvPr>
            <p:extLst>
              <p:ext uri="{D42A27DB-BD31-4B8C-83A1-F6EECF244321}">
                <p14:modId xmlns:p14="http://schemas.microsoft.com/office/powerpoint/2010/main" val="3326408552"/>
              </p:ext>
            </p:extLst>
          </p:nvPr>
        </p:nvGraphicFramePr>
        <p:xfrm>
          <a:off x="5057229" y="2954681"/>
          <a:ext cx="958868" cy="393275"/>
        </p:xfrm>
        <a:graphic>
          <a:graphicData uri="http://schemas.openxmlformats.org/presentationml/2006/ole">
            <mc:AlternateContent xmlns:mc="http://schemas.openxmlformats.org/markup-compatibility/2006">
              <mc:Choice xmlns:v="urn:schemas-microsoft-com:vml" Requires="v">
                <p:oleObj spid="_x0000_s76138" name="Equation" r:id="rId8" imgW="558800" imgH="228600" progId="Equation.DSMT4">
                  <p:embed/>
                </p:oleObj>
              </mc:Choice>
              <mc:Fallback>
                <p:oleObj name="Equation" r:id="rId8" imgW="558800" imgH="228600" progId="Equation.DSMT4">
                  <p:embed/>
                  <p:pic>
                    <p:nvPicPr>
                      <p:cNvPr id="0" name="Picture 3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57229" y="2954681"/>
                        <a:ext cx="958868" cy="393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23"/>
          <p:cNvGraphicFramePr>
            <a:graphicFrameLocks noChangeAspect="1"/>
          </p:cNvGraphicFramePr>
          <p:nvPr>
            <p:extLst>
              <p:ext uri="{D42A27DB-BD31-4B8C-83A1-F6EECF244321}">
                <p14:modId xmlns:p14="http://schemas.microsoft.com/office/powerpoint/2010/main" val="3610816128"/>
              </p:ext>
            </p:extLst>
          </p:nvPr>
        </p:nvGraphicFramePr>
        <p:xfrm>
          <a:off x="3515766" y="2420888"/>
          <a:ext cx="2089150" cy="449263"/>
        </p:xfrm>
        <a:graphic>
          <a:graphicData uri="http://schemas.openxmlformats.org/presentationml/2006/ole">
            <mc:AlternateContent xmlns:mc="http://schemas.openxmlformats.org/markup-compatibility/2006">
              <mc:Choice xmlns:v="urn:schemas-microsoft-com:vml" Requires="v">
                <p:oleObj spid="_x0000_s76139" name="Equation" r:id="rId10" imgW="1066800" imgH="228600" progId="Equation.DSMT4">
                  <p:embed/>
                </p:oleObj>
              </mc:Choice>
              <mc:Fallback>
                <p:oleObj name="Equation" r:id="rId10" imgW="1066800" imgH="228600" progId="Equation.DSMT4">
                  <p:embed/>
                  <p:pic>
                    <p:nvPicPr>
                      <p:cNvPr id="0" name="Picture 3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15766" y="2420888"/>
                        <a:ext cx="2089150" cy="44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 name="Object 27"/>
          <p:cNvGraphicFramePr>
            <a:graphicFrameLocks noChangeAspect="1"/>
          </p:cNvGraphicFramePr>
          <p:nvPr>
            <p:extLst>
              <p:ext uri="{D42A27DB-BD31-4B8C-83A1-F6EECF244321}">
                <p14:modId xmlns:p14="http://schemas.microsoft.com/office/powerpoint/2010/main" val="401911429"/>
              </p:ext>
            </p:extLst>
          </p:nvPr>
        </p:nvGraphicFramePr>
        <p:xfrm>
          <a:off x="6016096" y="2420888"/>
          <a:ext cx="2063750" cy="449262"/>
        </p:xfrm>
        <a:graphic>
          <a:graphicData uri="http://schemas.openxmlformats.org/presentationml/2006/ole">
            <mc:AlternateContent xmlns:mc="http://schemas.openxmlformats.org/markup-compatibility/2006">
              <mc:Choice xmlns:v="urn:schemas-microsoft-com:vml" Requires="v">
                <p:oleObj spid="_x0000_s76140" name="Equation" r:id="rId12" imgW="1054100" imgH="228600" progId="Equation.DSMT4">
                  <p:embed/>
                </p:oleObj>
              </mc:Choice>
              <mc:Fallback>
                <p:oleObj name="Equation" r:id="rId12" imgW="1054100" imgH="228600" progId="Equation.DSMT4">
                  <p:embed/>
                  <p:pic>
                    <p:nvPicPr>
                      <p:cNvPr id="0" name="Picture 3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16096" y="2420888"/>
                        <a:ext cx="206375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 name="Object 31"/>
          <p:cNvGraphicFramePr>
            <a:graphicFrameLocks noChangeAspect="1"/>
          </p:cNvGraphicFramePr>
          <p:nvPr>
            <p:extLst>
              <p:ext uri="{D42A27DB-BD31-4B8C-83A1-F6EECF244321}">
                <p14:modId xmlns:p14="http://schemas.microsoft.com/office/powerpoint/2010/main" val="3714451327"/>
              </p:ext>
            </p:extLst>
          </p:nvPr>
        </p:nvGraphicFramePr>
        <p:xfrm>
          <a:off x="1390199" y="3334601"/>
          <a:ext cx="3336925" cy="847725"/>
        </p:xfrm>
        <a:graphic>
          <a:graphicData uri="http://schemas.openxmlformats.org/presentationml/2006/ole">
            <mc:AlternateContent xmlns:mc="http://schemas.openxmlformats.org/markup-compatibility/2006">
              <mc:Choice xmlns:v="urn:schemas-microsoft-com:vml" Requires="v">
                <p:oleObj spid="_x0000_s76141" name="Equation" r:id="rId14" imgW="1701800" imgH="431800" progId="Equation.DSMT4">
                  <p:embed/>
                </p:oleObj>
              </mc:Choice>
              <mc:Fallback>
                <p:oleObj name="Equation" r:id="rId14" imgW="1701800" imgH="431800" progId="Equation.DSMT4">
                  <p:embed/>
                  <p:pic>
                    <p:nvPicPr>
                      <p:cNvPr id="0" name="Picture 3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90199" y="3334601"/>
                        <a:ext cx="3336925"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 name="Object 34"/>
          <p:cNvGraphicFramePr>
            <a:graphicFrameLocks noChangeAspect="1"/>
          </p:cNvGraphicFramePr>
          <p:nvPr>
            <p:extLst>
              <p:ext uri="{D42A27DB-BD31-4B8C-83A1-F6EECF244321}">
                <p14:modId xmlns:p14="http://schemas.microsoft.com/office/powerpoint/2010/main" val="1304471047"/>
              </p:ext>
            </p:extLst>
          </p:nvPr>
        </p:nvGraphicFramePr>
        <p:xfrm>
          <a:off x="1354723" y="4182326"/>
          <a:ext cx="3311525" cy="847725"/>
        </p:xfrm>
        <a:graphic>
          <a:graphicData uri="http://schemas.openxmlformats.org/presentationml/2006/ole">
            <mc:AlternateContent xmlns:mc="http://schemas.openxmlformats.org/markup-compatibility/2006">
              <mc:Choice xmlns:v="urn:schemas-microsoft-com:vml" Requires="v">
                <p:oleObj spid="_x0000_s76142" name="Equation" r:id="rId16" imgW="1688367" imgH="431613" progId="Equation.DSMT4">
                  <p:embed/>
                </p:oleObj>
              </mc:Choice>
              <mc:Fallback>
                <p:oleObj name="Equation" r:id="rId16" imgW="1688367" imgH="431613" progId="Equation.DSMT4">
                  <p:embed/>
                  <p:pic>
                    <p:nvPicPr>
                      <p:cNvPr id="0" name="Picture 32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54723" y="4182326"/>
                        <a:ext cx="3311525"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 name="Object 10"/>
          <p:cNvGraphicFramePr>
            <a:graphicFrameLocks noChangeAspect="1"/>
          </p:cNvGraphicFramePr>
          <p:nvPr>
            <p:extLst>
              <p:ext uri="{D42A27DB-BD31-4B8C-83A1-F6EECF244321}">
                <p14:modId xmlns:p14="http://schemas.microsoft.com/office/powerpoint/2010/main" val="1506465591"/>
              </p:ext>
            </p:extLst>
          </p:nvPr>
        </p:nvGraphicFramePr>
        <p:xfrm>
          <a:off x="6482708" y="3468858"/>
          <a:ext cx="4351338" cy="449263"/>
        </p:xfrm>
        <a:graphic>
          <a:graphicData uri="http://schemas.openxmlformats.org/presentationml/2006/ole">
            <mc:AlternateContent xmlns:mc="http://schemas.openxmlformats.org/markup-compatibility/2006">
              <mc:Choice xmlns:v="urn:schemas-microsoft-com:vml" Requires="v">
                <p:oleObj spid="_x0000_s76143" name="Equation" r:id="rId18" imgW="2222500" imgH="228600" progId="Equation.DSMT4">
                  <p:embed/>
                </p:oleObj>
              </mc:Choice>
              <mc:Fallback>
                <p:oleObj name="Equation" r:id="rId18" imgW="2222500" imgH="228600" progId="Equation.DSMT4">
                  <p:embed/>
                  <p:pic>
                    <p:nvPicPr>
                      <p:cNvPr id="0" name="Picture 32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482708" y="3468858"/>
                        <a:ext cx="4351338" cy="44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 name="Object 11"/>
          <p:cNvGraphicFramePr>
            <a:graphicFrameLocks noChangeAspect="1"/>
          </p:cNvGraphicFramePr>
          <p:nvPr>
            <p:extLst>
              <p:ext uri="{D42A27DB-BD31-4B8C-83A1-F6EECF244321}">
                <p14:modId xmlns:p14="http://schemas.microsoft.com/office/powerpoint/2010/main" val="3668279676"/>
              </p:ext>
            </p:extLst>
          </p:nvPr>
        </p:nvGraphicFramePr>
        <p:xfrm>
          <a:off x="6482708" y="4052297"/>
          <a:ext cx="3316287" cy="1798637"/>
        </p:xfrm>
        <a:graphic>
          <a:graphicData uri="http://schemas.openxmlformats.org/presentationml/2006/ole">
            <mc:AlternateContent xmlns:mc="http://schemas.openxmlformats.org/markup-compatibility/2006">
              <mc:Choice xmlns:v="urn:schemas-microsoft-com:vml" Requires="v">
                <p:oleObj spid="_x0000_s76144" name="Equation" r:id="rId20" imgW="1828800" imgH="990360" progId="Equation.DSMT4">
                  <p:embed/>
                </p:oleObj>
              </mc:Choice>
              <mc:Fallback>
                <p:oleObj name="Equation" r:id="rId20" imgW="1828800" imgH="990360" progId="Equation.DSMT4">
                  <p:embed/>
                  <p:pic>
                    <p:nvPicPr>
                      <p:cNvPr id="0" name="Picture 32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482708" y="4052297"/>
                        <a:ext cx="3316287" cy="1798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右弧形箭头 36"/>
          <p:cNvSpPr/>
          <p:nvPr/>
        </p:nvSpPr>
        <p:spPr>
          <a:xfrm rot="9924736" flipH="1" flipV="1">
            <a:off x="8389010" y="2459946"/>
            <a:ext cx="438992" cy="901066"/>
          </a:xfrm>
          <a:prstGeom prst="curvedLeftArrow">
            <a:avLst/>
          </a:prstGeom>
          <a:solidFill>
            <a:srgbClr val="66CCFF"/>
          </a:solidFill>
          <a:ln>
            <a:solidFill>
              <a:srgbClr val="66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aphicFrame>
        <p:nvGraphicFramePr>
          <p:cNvPr id="38" name="Object 39"/>
          <p:cNvGraphicFramePr>
            <a:graphicFrameLocks noChangeAspect="1"/>
          </p:cNvGraphicFramePr>
          <p:nvPr>
            <p:extLst>
              <p:ext uri="{D42A27DB-BD31-4B8C-83A1-F6EECF244321}">
                <p14:modId xmlns:p14="http://schemas.microsoft.com/office/powerpoint/2010/main" val="3565770992"/>
              </p:ext>
            </p:extLst>
          </p:nvPr>
        </p:nvGraphicFramePr>
        <p:xfrm>
          <a:off x="1154454" y="5447596"/>
          <a:ext cx="3808413" cy="871538"/>
        </p:xfrm>
        <a:graphic>
          <a:graphicData uri="http://schemas.openxmlformats.org/presentationml/2006/ole">
            <mc:AlternateContent xmlns:mc="http://schemas.openxmlformats.org/markup-compatibility/2006">
              <mc:Choice xmlns:v="urn:schemas-microsoft-com:vml" Requires="v">
                <p:oleObj spid="_x0000_s76145" name="Equation" r:id="rId22" imgW="1943100" imgH="444500" progId="Equation.DSMT4">
                  <p:embed/>
                </p:oleObj>
              </mc:Choice>
              <mc:Fallback>
                <p:oleObj name="Equation" r:id="rId22" imgW="1943100" imgH="444500" progId="Equation.DSMT4">
                  <p:embed/>
                  <p:pic>
                    <p:nvPicPr>
                      <p:cNvPr id="0" name="Picture 32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154454" y="5447596"/>
                        <a:ext cx="3808413" cy="871538"/>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左大括号 3"/>
          <p:cNvSpPr/>
          <p:nvPr/>
        </p:nvSpPr>
        <p:spPr>
          <a:xfrm>
            <a:off x="1154435" y="3741955"/>
            <a:ext cx="155448" cy="914400"/>
          </a:xfrm>
          <a:prstGeom prst="leftBrac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Rectangle 36"/>
          <p:cNvSpPr>
            <a:spLocks noChangeArrowheads="1"/>
          </p:cNvSpPr>
          <p:nvPr/>
        </p:nvSpPr>
        <p:spPr bwMode="auto">
          <a:xfrm>
            <a:off x="451480" y="5003672"/>
            <a:ext cx="1877437" cy="430887"/>
          </a:xfrm>
          <a:prstGeom prst="rect">
            <a:avLst/>
          </a:prstGeom>
          <a:noFill/>
          <a:ln w="9525">
            <a:noFill/>
            <a:miter lim="800000"/>
            <a:headEnd/>
            <a:tailEnd/>
          </a:ln>
          <a:effectLst/>
        </p:spPr>
        <p:txBody>
          <a:bodyPr wrap="none">
            <a:spAutoFit/>
          </a:bodyPr>
          <a:lstStyle/>
          <a:p>
            <a:r>
              <a:rPr lang="zh-CN" altLang="en-US" sz="2200" b="0" dirty="0">
                <a:solidFill>
                  <a:schemeClr val="tx1"/>
                </a:solidFill>
                <a:latin typeface="黑体" panose="02010609060101010101" pitchFamily="49" charset="-122"/>
                <a:ea typeface="黑体" panose="02010609060101010101" pitchFamily="49" charset="-122"/>
              </a:rPr>
              <a:t>那么似然比为</a:t>
            </a:r>
          </a:p>
        </p:txBody>
      </p:sp>
      <p:sp>
        <p:nvSpPr>
          <p:cNvPr id="6" name="右箭头 5"/>
          <p:cNvSpPr/>
          <p:nvPr/>
        </p:nvSpPr>
        <p:spPr>
          <a:xfrm>
            <a:off x="5140812" y="3602842"/>
            <a:ext cx="928208" cy="222500"/>
          </a:xfrm>
          <a:prstGeom prst="rightArrow">
            <a:avLst/>
          </a:prstGeom>
          <a:solidFill>
            <a:srgbClr val="0000FF"/>
          </a:solidFill>
        </p:spPr>
        <p:txBody>
          <a:bodyPr wrap="none" rtlCol="0" anchor="ctr">
            <a:spAutoFit/>
          </a:bodyPr>
          <a:lstStyle/>
          <a:p>
            <a:pPr algn="ctr"/>
            <a:endParaRPr lang="zh-CN" altLang="en-US" sz="2400" kern="100" dirty="0">
              <a:ea typeface="宋体"/>
              <a:cs typeface="Times New Roman"/>
            </a:endParaRPr>
          </a:p>
        </p:txBody>
      </p:sp>
      <p:sp>
        <p:nvSpPr>
          <p:cNvPr id="40" name="左大括号 39"/>
          <p:cNvSpPr/>
          <p:nvPr/>
        </p:nvSpPr>
        <p:spPr>
          <a:xfrm flipH="1">
            <a:off x="11108528" y="3602842"/>
            <a:ext cx="139206" cy="1986398"/>
          </a:xfrm>
          <a:prstGeom prst="leftBrac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1" name="右弧形箭头 40"/>
          <p:cNvSpPr/>
          <p:nvPr/>
        </p:nvSpPr>
        <p:spPr>
          <a:xfrm rot="7953770" flipV="1">
            <a:off x="5328768" y="4063264"/>
            <a:ext cx="349318" cy="1241027"/>
          </a:xfrm>
          <a:prstGeom prst="curvedLeftArrow">
            <a:avLst/>
          </a:prstGeom>
          <a:solidFill>
            <a:srgbClr val="66CCFF"/>
          </a:solidFill>
          <a:ln>
            <a:solidFill>
              <a:srgbClr val="66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306978516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89</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72565"/>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13.6 </a:t>
            </a:r>
            <a:r>
              <a:rPr lang="zh-CN" altLang="zh-CN" dirty="0"/>
              <a:t>离散概率模型下的统计决策</a:t>
            </a:r>
          </a:p>
        </p:txBody>
      </p:sp>
      <p:sp>
        <p:nvSpPr>
          <p:cNvPr id="20" name="矩形 19"/>
          <p:cNvSpPr/>
          <p:nvPr/>
        </p:nvSpPr>
        <p:spPr>
          <a:xfrm>
            <a:off x="304132" y="1052736"/>
            <a:ext cx="2698175" cy="523220"/>
          </a:xfrm>
          <a:prstGeom prst="rect">
            <a:avLst/>
          </a:prstGeom>
        </p:spPr>
        <p:txBody>
          <a:bodyPr wrap="none">
            <a:spAutoFit/>
          </a:bodyPr>
          <a:lstStyle/>
          <a:p>
            <a:r>
              <a:rPr lang="zh-CN" altLang="en-US" sz="2800" b="1" dirty="0">
                <a:solidFill>
                  <a:srgbClr val="0000FF"/>
                </a:solidFill>
                <a:latin typeface="Times New Roman" panose="02020603050405020304" pitchFamily="18" charset="0"/>
                <a:ea typeface="黑体" panose="02010609060101010101" pitchFamily="49" charset="-122"/>
              </a:rPr>
              <a:t>独立的二值特征</a:t>
            </a:r>
          </a:p>
        </p:txBody>
      </p:sp>
      <p:sp>
        <p:nvSpPr>
          <p:cNvPr id="25" name="Rectangle 14"/>
          <p:cNvSpPr>
            <a:spLocks noChangeArrowheads="1"/>
          </p:cNvSpPr>
          <p:nvPr/>
        </p:nvSpPr>
        <p:spPr bwMode="auto">
          <a:xfrm>
            <a:off x="290216" y="1705341"/>
            <a:ext cx="4980851" cy="430887"/>
          </a:xfrm>
          <a:prstGeom prst="rect">
            <a:avLst/>
          </a:prstGeom>
          <a:noFill/>
          <a:ln w="9525">
            <a:noFill/>
            <a:miter lim="800000"/>
            <a:headEnd/>
            <a:tailEnd/>
          </a:ln>
          <a:effectLst/>
        </p:spPr>
        <p:txBody>
          <a:bodyPr wrap="none">
            <a:spAutoFit/>
          </a:bodyPr>
          <a:lstStyle/>
          <a:p>
            <a:r>
              <a:rPr lang="zh-CN" altLang="en-US" sz="2200" b="0" dirty="0">
                <a:solidFill>
                  <a:schemeClr val="tx1"/>
                </a:solidFill>
                <a:latin typeface="Times New Roman" panose="02020603050405020304" pitchFamily="18" charset="0"/>
                <a:ea typeface="黑体" panose="02010609060101010101" pitchFamily="49" charset="-122"/>
              </a:rPr>
              <a:t>基于最小错误率贝叶斯准则的判决函数</a:t>
            </a:r>
          </a:p>
        </p:txBody>
      </p:sp>
      <p:graphicFrame>
        <p:nvGraphicFramePr>
          <p:cNvPr id="26" name="Object 15"/>
          <p:cNvGraphicFramePr>
            <a:graphicFrameLocks noChangeAspect="1"/>
          </p:cNvGraphicFramePr>
          <p:nvPr>
            <p:extLst>
              <p:ext uri="{D42A27DB-BD31-4B8C-83A1-F6EECF244321}">
                <p14:modId xmlns:p14="http://schemas.microsoft.com/office/powerpoint/2010/main" val="388602868"/>
              </p:ext>
            </p:extLst>
          </p:nvPr>
        </p:nvGraphicFramePr>
        <p:xfrm>
          <a:off x="4170859" y="2276872"/>
          <a:ext cx="5275263" cy="809625"/>
        </p:xfrm>
        <a:graphic>
          <a:graphicData uri="http://schemas.openxmlformats.org/presentationml/2006/ole">
            <mc:AlternateContent xmlns:mc="http://schemas.openxmlformats.org/markup-compatibility/2006">
              <mc:Choice xmlns:v="urn:schemas-microsoft-com:vml" Requires="v">
                <p:oleObj spid="_x0000_s77028" name="Equation" r:id="rId4" imgW="2895600" imgH="444500" progId="Equation.DSMT4">
                  <p:embed/>
                </p:oleObj>
              </mc:Choice>
              <mc:Fallback>
                <p:oleObj name="Equation" r:id="rId4" imgW="2895600" imgH="444500" progId="Equation.DSMT4">
                  <p:embed/>
                  <p:pic>
                    <p:nvPicPr>
                      <p:cNvPr id="0" name="Picture 20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70859" y="2276872"/>
                        <a:ext cx="5275263" cy="809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Object 18"/>
          <p:cNvGraphicFramePr>
            <a:graphicFrameLocks noChangeAspect="1"/>
          </p:cNvGraphicFramePr>
          <p:nvPr>
            <p:extLst>
              <p:ext uri="{D42A27DB-BD31-4B8C-83A1-F6EECF244321}">
                <p14:modId xmlns:p14="http://schemas.microsoft.com/office/powerpoint/2010/main" val="503590127"/>
              </p:ext>
            </p:extLst>
          </p:nvPr>
        </p:nvGraphicFramePr>
        <p:xfrm>
          <a:off x="5311595" y="1522029"/>
          <a:ext cx="3286148" cy="771850"/>
        </p:xfrm>
        <a:graphic>
          <a:graphicData uri="http://schemas.openxmlformats.org/presentationml/2006/ole">
            <mc:AlternateContent xmlns:mc="http://schemas.openxmlformats.org/markup-compatibility/2006">
              <mc:Choice xmlns:v="urn:schemas-microsoft-com:vml" Requires="v">
                <p:oleObj spid="_x0000_s77029" name="Equation" r:id="rId6" imgW="1841500" imgH="431800" progId="Equation.DSMT4">
                  <p:embed/>
                </p:oleObj>
              </mc:Choice>
              <mc:Fallback>
                <p:oleObj name="Equation" r:id="rId6" imgW="1841500" imgH="431800" progId="Equation.DSMT4">
                  <p:embed/>
                  <p:pic>
                    <p:nvPicPr>
                      <p:cNvPr id="0" name="Picture 20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11595" y="1522029"/>
                        <a:ext cx="3286148" cy="77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 name="Object 22"/>
          <p:cNvGraphicFramePr>
            <a:graphicFrameLocks noGrp="1" noChangeAspect="1"/>
          </p:cNvGraphicFramePr>
          <p:nvPr>
            <p:ph/>
            <p:extLst>
              <p:ext uri="{D42A27DB-BD31-4B8C-83A1-F6EECF244321}">
                <p14:modId xmlns:p14="http://schemas.microsoft.com/office/powerpoint/2010/main" val="3015997795"/>
              </p:ext>
            </p:extLst>
          </p:nvPr>
        </p:nvGraphicFramePr>
        <p:xfrm>
          <a:off x="1191899" y="3501008"/>
          <a:ext cx="2357454" cy="862092"/>
        </p:xfrm>
        <a:graphic>
          <a:graphicData uri="http://schemas.openxmlformats.org/presentationml/2006/ole">
            <mc:AlternateContent xmlns:mc="http://schemas.openxmlformats.org/markup-compatibility/2006">
              <mc:Choice xmlns:v="urn:schemas-microsoft-com:vml" Requires="v">
                <p:oleObj spid="_x0000_s77030" name="Equation" r:id="rId8" imgW="1180588" imgH="431613" progId="Equation.DSMT4">
                  <p:embed/>
                </p:oleObj>
              </mc:Choice>
              <mc:Fallback>
                <p:oleObj name="Equation" r:id="rId8" imgW="1180588" imgH="431613" progId="Equation.DSMT4">
                  <p:embed/>
                  <p:pic>
                    <p:nvPicPr>
                      <p:cNvPr id="0" name="Picture 206"/>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91899" y="3501008"/>
                        <a:ext cx="2357454" cy="86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 name="Rectangle 23"/>
          <p:cNvSpPr>
            <a:spLocks noChangeArrowheads="1"/>
          </p:cNvSpPr>
          <p:nvPr/>
        </p:nvSpPr>
        <p:spPr bwMode="auto">
          <a:xfrm>
            <a:off x="379785" y="4440967"/>
            <a:ext cx="6215106" cy="430887"/>
          </a:xfrm>
          <a:prstGeom prst="rect">
            <a:avLst/>
          </a:prstGeom>
          <a:noFill/>
          <a:ln w="9525">
            <a:noFill/>
            <a:miter lim="800000"/>
            <a:headEnd/>
            <a:tailEnd/>
          </a:ln>
          <a:effectLst/>
        </p:spPr>
        <p:txBody>
          <a:bodyPr wrap="square">
            <a:spAutoFit/>
          </a:bodyPr>
          <a:lstStyle/>
          <a:p>
            <a:r>
              <a:rPr lang="zh-CN" altLang="en-US" sz="2200" b="0" dirty="0">
                <a:solidFill>
                  <a:schemeClr val="tx1"/>
                </a:solidFill>
                <a:latin typeface="Times New Roman" panose="02020603050405020304" pitchFamily="18" charset="0"/>
                <a:ea typeface="黑体" panose="02010609060101010101" pitchFamily="49" charset="-122"/>
              </a:rPr>
              <a:t>若 </a:t>
            </a:r>
            <a:r>
              <a:rPr lang="en-US" altLang="zh-CN" sz="2200" b="0" i="1" dirty="0">
                <a:solidFill>
                  <a:schemeClr val="tx1"/>
                </a:solidFill>
                <a:latin typeface="Times New Roman" panose="02020603050405020304" pitchFamily="18" charset="0"/>
                <a:ea typeface="黑体" panose="02010609060101010101" pitchFamily="49" charset="-122"/>
              </a:rPr>
              <a:t>g</a:t>
            </a:r>
            <a:r>
              <a:rPr lang="en-US" altLang="zh-CN" sz="2200" b="0" dirty="0">
                <a:solidFill>
                  <a:schemeClr val="tx1"/>
                </a:solidFill>
                <a:latin typeface="Times New Roman" panose="02020603050405020304" pitchFamily="18" charset="0"/>
                <a:ea typeface="黑体" panose="02010609060101010101" pitchFamily="49" charset="-122"/>
              </a:rPr>
              <a:t>(x)&gt;0</a:t>
            </a:r>
            <a:r>
              <a:rPr lang="zh-CN" altLang="en-US" sz="2200" b="0" dirty="0">
                <a:solidFill>
                  <a:schemeClr val="tx1"/>
                </a:solidFill>
                <a:latin typeface="Times New Roman" panose="02020603050405020304" pitchFamily="18" charset="0"/>
                <a:ea typeface="黑体" panose="02010609060101010101" pitchFamily="49" charset="-122"/>
              </a:rPr>
              <a:t>判别为 </a:t>
            </a:r>
            <a:r>
              <a:rPr lang="el-GR" altLang="zh-CN" sz="2200" b="0" i="1" dirty="0">
                <a:solidFill>
                  <a:schemeClr val="tx1"/>
                </a:solidFill>
                <a:latin typeface="Times New Roman" panose="02020603050405020304" pitchFamily="18" charset="0"/>
                <a:ea typeface="黑体" panose="02010609060101010101" pitchFamily="49" charset="-122"/>
              </a:rPr>
              <a:t>ω</a:t>
            </a:r>
            <a:r>
              <a:rPr lang="en-US" altLang="zh-CN" sz="1200" b="0" dirty="0">
                <a:solidFill>
                  <a:schemeClr val="tx1"/>
                </a:solidFill>
                <a:latin typeface="Times New Roman" panose="02020603050405020304" pitchFamily="18" charset="0"/>
                <a:ea typeface="黑体" panose="02010609060101010101" pitchFamily="49" charset="-122"/>
              </a:rPr>
              <a:t>1</a:t>
            </a:r>
            <a:r>
              <a:rPr lang="zh-CN" altLang="en-US" sz="2200" b="0" dirty="0">
                <a:solidFill>
                  <a:schemeClr val="tx1"/>
                </a:solidFill>
                <a:latin typeface="Times New Roman" panose="02020603050405020304" pitchFamily="18" charset="0"/>
                <a:ea typeface="黑体" panose="02010609060101010101" pitchFamily="49" charset="-122"/>
              </a:rPr>
              <a:t>，否则为 </a:t>
            </a:r>
            <a:r>
              <a:rPr lang="el-GR" altLang="zh-CN" sz="2200" b="0" i="1" dirty="0">
                <a:solidFill>
                  <a:schemeClr val="tx1"/>
                </a:solidFill>
                <a:latin typeface="Times New Roman" panose="02020603050405020304" pitchFamily="18" charset="0"/>
                <a:ea typeface="黑体" panose="02010609060101010101" pitchFamily="49" charset="-122"/>
              </a:rPr>
              <a:t>ω</a:t>
            </a:r>
            <a:r>
              <a:rPr lang="en-US" altLang="zh-CN" sz="1200" b="0" dirty="0">
                <a:solidFill>
                  <a:schemeClr val="tx1"/>
                </a:solidFill>
                <a:latin typeface="Times New Roman" panose="02020603050405020304" pitchFamily="18" charset="0"/>
                <a:ea typeface="黑体" panose="02010609060101010101" pitchFamily="49" charset="-122"/>
              </a:rPr>
              <a:t>2</a:t>
            </a:r>
            <a:r>
              <a:rPr lang="zh-CN" altLang="en-US" sz="2200" b="0" dirty="0">
                <a:solidFill>
                  <a:schemeClr val="tx1"/>
                </a:solidFill>
                <a:latin typeface="Times New Roman" panose="02020603050405020304" pitchFamily="18" charset="0"/>
                <a:ea typeface="黑体" panose="02010609060101010101" pitchFamily="49" charset="-122"/>
              </a:rPr>
              <a:t>。</a:t>
            </a:r>
          </a:p>
        </p:txBody>
      </p:sp>
      <p:sp>
        <p:nvSpPr>
          <p:cNvPr id="44" name="Text Box 24"/>
          <p:cNvSpPr txBox="1">
            <a:spLocks noChangeArrowheads="1"/>
          </p:cNvSpPr>
          <p:nvPr/>
        </p:nvSpPr>
        <p:spPr bwMode="auto">
          <a:xfrm>
            <a:off x="290216" y="3109864"/>
            <a:ext cx="6518275" cy="461665"/>
          </a:xfrm>
          <a:prstGeom prst="rect">
            <a:avLst/>
          </a:prstGeom>
          <a:noFill/>
          <a:ln w="9525">
            <a:noFill/>
            <a:miter lim="800000"/>
            <a:headEnd/>
            <a:tailEnd/>
          </a:ln>
          <a:effectLst/>
        </p:spPr>
        <p:txBody>
          <a:bodyPr>
            <a:spAutoFit/>
          </a:bodyPr>
          <a:lstStyle/>
          <a:p>
            <a:r>
              <a:rPr lang="zh-CN" altLang="en-US" sz="2400" b="0" dirty="0">
                <a:solidFill>
                  <a:schemeClr val="tx1"/>
                </a:solidFill>
                <a:latin typeface="+mn-ea"/>
                <a:ea typeface="+mn-ea"/>
              </a:rPr>
              <a:t>注意判决函数对</a:t>
            </a:r>
            <a:r>
              <a:rPr lang="en-US" altLang="zh-CN" sz="2400" b="0" dirty="0">
                <a:solidFill>
                  <a:schemeClr val="tx1"/>
                </a:solidFill>
                <a:latin typeface="+mn-ea"/>
                <a:ea typeface="+mn-ea"/>
              </a:rPr>
              <a:t>x</a:t>
            </a:r>
            <a:r>
              <a:rPr lang="en-US" altLang="zh-CN" sz="2400" b="0" baseline="-25000" dirty="0">
                <a:solidFill>
                  <a:schemeClr val="tx1"/>
                </a:solidFill>
                <a:latin typeface="+mn-ea"/>
                <a:ea typeface="+mn-ea"/>
              </a:rPr>
              <a:t>i</a:t>
            </a:r>
            <a:r>
              <a:rPr lang="zh-CN" altLang="en-US" sz="2400" b="0" dirty="0">
                <a:solidFill>
                  <a:schemeClr val="tx1"/>
                </a:solidFill>
                <a:latin typeface="+mn-ea"/>
                <a:ea typeface="+mn-ea"/>
              </a:rPr>
              <a:t>是线性的，可改写为</a:t>
            </a:r>
          </a:p>
        </p:txBody>
      </p:sp>
      <p:sp>
        <p:nvSpPr>
          <p:cNvPr id="45" name="Rectangle 25"/>
          <p:cNvSpPr>
            <a:spLocks noChangeArrowheads="1"/>
          </p:cNvSpPr>
          <p:nvPr/>
        </p:nvSpPr>
        <p:spPr bwMode="auto">
          <a:xfrm>
            <a:off x="4632901" y="3697863"/>
            <a:ext cx="1031051" cy="430887"/>
          </a:xfrm>
          <a:prstGeom prst="rect">
            <a:avLst/>
          </a:prstGeom>
          <a:noFill/>
          <a:ln w="9525">
            <a:noFill/>
            <a:miter lim="800000"/>
            <a:headEnd/>
            <a:tailEnd/>
          </a:ln>
          <a:effectLst/>
        </p:spPr>
        <p:txBody>
          <a:bodyPr wrap="none">
            <a:spAutoFit/>
          </a:bodyPr>
          <a:lstStyle/>
          <a:p>
            <a:r>
              <a:rPr lang="zh-CN" altLang="en-US" sz="2200" b="0" dirty="0">
                <a:solidFill>
                  <a:schemeClr val="tx1"/>
                </a:solidFill>
                <a:latin typeface="Times New Roman" panose="02020603050405020304" pitchFamily="18" charset="0"/>
                <a:ea typeface="黑体" panose="02010609060101010101" pitchFamily="49" charset="-122"/>
              </a:rPr>
              <a:t>其中，</a:t>
            </a:r>
          </a:p>
        </p:txBody>
      </p:sp>
      <p:graphicFrame>
        <p:nvGraphicFramePr>
          <p:cNvPr id="47" name="Object 6"/>
          <p:cNvGraphicFramePr>
            <a:graphicFrameLocks noChangeAspect="1"/>
          </p:cNvGraphicFramePr>
          <p:nvPr>
            <p:extLst>
              <p:ext uri="{D42A27DB-BD31-4B8C-83A1-F6EECF244321}">
                <p14:modId xmlns:p14="http://schemas.microsoft.com/office/powerpoint/2010/main" val="1507193188"/>
              </p:ext>
            </p:extLst>
          </p:nvPr>
        </p:nvGraphicFramePr>
        <p:xfrm>
          <a:off x="5455756" y="3566199"/>
          <a:ext cx="3347144" cy="779472"/>
        </p:xfrm>
        <a:graphic>
          <a:graphicData uri="http://schemas.openxmlformats.org/presentationml/2006/ole">
            <mc:AlternateContent xmlns:mc="http://schemas.openxmlformats.org/markup-compatibility/2006">
              <mc:Choice xmlns:v="urn:schemas-microsoft-com:vml" Requires="v">
                <p:oleObj spid="_x0000_s77031" name="Equation" r:id="rId10" imgW="1854200" imgH="431800" progId="Equation.DSMT4">
                  <p:embed/>
                </p:oleObj>
              </mc:Choice>
              <mc:Fallback>
                <p:oleObj name="Equation" r:id="rId10" imgW="1854200" imgH="431800" progId="Equation.DSMT4">
                  <p:embed/>
                  <p:pic>
                    <p:nvPicPr>
                      <p:cNvPr id="0" name="Picture 20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55756" y="3566199"/>
                        <a:ext cx="3347144" cy="779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 name="Object 7"/>
          <p:cNvGraphicFramePr>
            <a:graphicFrameLocks noChangeAspect="1"/>
          </p:cNvGraphicFramePr>
          <p:nvPr>
            <p:extLst>
              <p:ext uri="{D42A27DB-BD31-4B8C-83A1-F6EECF244321}">
                <p14:modId xmlns:p14="http://schemas.microsoft.com/office/powerpoint/2010/main" val="284422057"/>
              </p:ext>
            </p:extLst>
          </p:nvPr>
        </p:nvGraphicFramePr>
        <p:xfrm>
          <a:off x="8988478" y="3546514"/>
          <a:ext cx="2786082" cy="733179"/>
        </p:xfrm>
        <a:graphic>
          <a:graphicData uri="http://schemas.openxmlformats.org/presentationml/2006/ole">
            <mc:AlternateContent xmlns:mc="http://schemas.openxmlformats.org/markup-compatibility/2006">
              <mc:Choice xmlns:v="urn:schemas-microsoft-com:vml" Requires="v">
                <p:oleObj spid="_x0000_s77032" name="Equation" r:id="rId12" imgW="1688367" imgH="444307" progId="Equation.DSMT4">
                  <p:embed/>
                </p:oleObj>
              </mc:Choice>
              <mc:Fallback>
                <p:oleObj name="Equation" r:id="rId12" imgW="1688367" imgH="444307" progId="Equation.DSMT4">
                  <p:embed/>
                  <p:pic>
                    <p:nvPicPr>
                      <p:cNvPr id="0" name="Picture 20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988478" y="3546514"/>
                        <a:ext cx="2786082" cy="733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 name="Object 8"/>
          <p:cNvGraphicFramePr>
            <a:graphicFrameLocks noChangeAspect="1"/>
          </p:cNvGraphicFramePr>
          <p:nvPr>
            <p:extLst>
              <p:ext uri="{D42A27DB-BD31-4B8C-83A1-F6EECF244321}">
                <p14:modId xmlns:p14="http://schemas.microsoft.com/office/powerpoint/2010/main" val="2814549823"/>
              </p:ext>
            </p:extLst>
          </p:nvPr>
        </p:nvGraphicFramePr>
        <p:xfrm>
          <a:off x="8894841" y="1002745"/>
          <a:ext cx="2879719" cy="659011"/>
        </p:xfrm>
        <a:graphic>
          <a:graphicData uri="http://schemas.openxmlformats.org/presentationml/2006/ole">
            <mc:AlternateContent xmlns:mc="http://schemas.openxmlformats.org/markup-compatibility/2006">
              <mc:Choice xmlns:v="urn:schemas-microsoft-com:vml" Requires="v">
                <p:oleObj spid="_x0000_s77033" name="Equation" r:id="rId14" imgW="1943100" imgH="444500" progId="Equation.DSMT4">
                  <p:embed/>
                </p:oleObj>
              </mc:Choice>
              <mc:Fallback>
                <p:oleObj name="Equation" r:id="rId14" imgW="1943100" imgH="444500" progId="Equation.DSMT4">
                  <p:embed/>
                  <p:pic>
                    <p:nvPicPr>
                      <p:cNvPr id="0" name="Picture 20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894841" y="1002745"/>
                        <a:ext cx="2879719" cy="659011"/>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 name="左弧形箭头 49"/>
          <p:cNvSpPr/>
          <p:nvPr/>
        </p:nvSpPr>
        <p:spPr>
          <a:xfrm rot="3899470">
            <a:off x="7843152" y="242595"/>
            <a:ext cx="292716" cy="165853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latin typeface="Times New Roman" panose="02020603050405020304" pitchFamily="18" charset="0"/>
              <a:ea typeface="黑体" panose="02010609060101010101" pitchFamily="49" charset="-122"/>
            </a:endParaRPr>
          </a:p>
        </p:txBody>
      </p:sp>
      <p:sp>
        <p:nvSpPr>
          <p:cNvPr id="51" name="Text Box 17"/>
          <p:cNvSpPr txBox="1">
            <a:spLocks noChangeArrowheads="1"/>
          </p:cNvSpPr>
          <p:nvPr/>
        </p:nvSpPr>
        <p:spPr bwMode="auto">
          <a:xfrm>
            <a:off x="348406" y="5100199"/>
            <a:ext cx="11426154" cy="904863"/>
          </a:xfrm>
          <a:prstGeom prst="rect">
            <a:avLst/>
          </a:prstGeom>
          <a:noFill/>
          <a:ln w="9525">
            <a:noFill/>
            <a:miter lim="800000"/>
            <a:headEnd/>
            <a:tailEnd/>
          </a:ln>
          <a:effectLst/>
        </p:spPr>
        <p:txBody>
          <a:bodyPr wrap="square">
            <a:spAutoFit/>
          </a:bodyPr>
          <a:lstStyle/>
          <a:p>
            <a:pPr marL="271463" indent="-271463">
              <a:lnSpc>
                <a:spcPct val="120000"/>
              </a:lnSpc>
              <a:buFontTx/>
              <a:buChar char="•"/>
            </a:pPr>
            <a:r>
              <a:rPr lang="en-US" altLang="zh-CN" sz="2200" i="1" dirty="0">
                <a:latin typeface="Times New Roman" panose="02020603050405020304" pitchFamily="18" charset="0"/>
                <a:ea typeface="黑体" panose="02010609060101010101" pitchFamily="49" charset="-122"/>
              </a:rPr>
              <a:t>g</a:t>
            </a:r>
            <a:r>
              <a:rPr lang="en-US" altLang="zh-CN" sz="2200" dirty="0">
                <a:latin typeface="Times New Roman" panose="02020603050405020304" pitchFamily="18" charset="0"/>
                <a:ea typeface="黑体" panose="02010609060101010101" pitchFamily="49" charset="-122"/>
              </a:rPr>
              <a:t>(</a:t>
            </a:r>
            <a:r>
              <a:rPr lang="en-US" altLang="zh-CN" sz="2200" i="1" dirty="0">
                <a:latin typeface="Times New Roman" panose="02020603050405020304" pitchFamily="18" charset="0"/>
                <a:ea typeface="黑体" panose="02010609060101010101" pitchFamily="49" charset="-122"/>
              </a:rPr>
              <a:t>x</a:t>
            </a:r>
            <a:r>
              <a:rPr lang="en-US" altLang="zh-CN" sz="2200" dirty="0">
                <a:latin typeface="Times New Roman" panose="02020603050405020304" pitchFamily="18" charset="0"/>
                <a:ea typeface="黑体" panose="02010609060101010101" pitchFamily="49" charset="-122"/>
              </a:rPr>
              <a:t>)</a:t>
            </a:r>
            <a:r>
              <a:rPr lang="zh-CN" altLang="en-US" sz="2200" dirty="0">
                <a:latin typeface="Times New Roman" panose="02020603050405020304" pitchFamily="18" charset="0"/>
                <a:ea typeface="黑体" panose="02010609060101010101" pitchFamily="49" charset="-122"/>
              </a:rPr>
              <a:t>可以看作是</a:t>
            </a:r>
            <a:r>
              <a:rPr lang="en-US" altLang="zh-CN" sz="2200" i="1" dirty="0">
                <a:latin typeface="Times New Roman" panose="02020603050405020304" pitchFamily="18" charset="0"/>
                <a:ea typeface="黑体" panose="02010609060101010101" pitchFamily="49" charset="-122"/>
              </a:rPr>
              <a:t>x</a:t>
            </a:r>
            <a:r>
              <a:rPr lang="zh-CN" altLang="en-US" sz="2200" dirty="0">
                <a:latin typeface="Times New Roman" panose="02020603050405020304" pitchFamily="18" charset="0"/>
                <a:ea typeface="黑体" panose="02010609060101010101" pitchFamily="49" charset="-122"/>
              </a:rPr>
              <a:t>的各分量的加权组合</a:t>
            </a:r>
            <a:endParaRPr lang="en-US" altLang="zh-CN" sz="2200" dirty="0">
              <a:latin typeface="Times New Roman" panose="02020603050405020304" pitchFamily="18" charset="0"/>
              <a:ea typeface="黑体" panose="02010609060101010101" pitchFamily="49" charset="-122"/>
            </a:endParaRPr>
          </a:p>
          <a:p>
            <a:pPr marL="271463" indent="-271463">
              <a:lnSpc>
                <a:spcPct val="120000"/>
              </a:lnSpc>
              <a:buFontTx/>
              <a:buChar char="•"/>
            </a:pPr>
            <a:r>
              <a:rPr lang="zh-CN" altLang="en-US" sz="2200" b="0" dirty="0">
                <a:solidFill>
                  <a:schemeClr val="tx1"/>
                </a:solidFill>
                <a:latin typeface="Times New Roman" panose="02020603050405020304" pitchFamily="18" charset="0"/>
                <a:ea typeface="黑体" panose="02010609060101010101" pitchFamily="49" charset="-122"/>
              </a:rPr>
              <a:t>特征独立的条件产生线性分类器，而如果特征不独立将产生复杂的分类器</a:t>
            </a:r>
          </a:p>
        </p:txBody>
      </p:sp>
    </p:spTree>
    <p:extLst>
      <p:ext uri="{BB962C8B-B14F-4D97-AF65-F5344CB8AC3E}">
        <p14:creationId xmlns:p14="http://schemas.microsoft.com/office/powerpoint/2010/main" val="20017278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90</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72565"/>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13.6 </a:t>
            </a:r>
            <a:r>
              <a:rPr lang="zh-CN" altLang="zh-CN" dirty="0"/>
              <a:t>离散概率模型下的统计决策</a:t>
            </a:r>
          </a:p>
        </p:txBody>
      </p:sp>
      <p:sp>
        <p:nvSpPr>
          <p:cNvPr id="21" name="Rectangle 2"/>
          <p:cNvSpPr>
            <a:spLocks noGrp="1" noChangeArrowheads="1"/>
          </p:cNvSpPr>
          <p:nvPr>
            <p:ph type="title"/>
          </p:nvPr>
        </p:nvSpPr>
        <p:spPr>
          <a:xfrm>
            <a:off x="424372" y="978563"/>
            <a:ext cx="8229600" cy="690274"/>
          </a:xfrm>
        </p:spPr>
        <p:txBody>
          <a:bodyPr/>
          <a:lstStyle/>
          <a:p>
            <a:r>
              <a:rPr lang="zh-CN" altLang="en-US" sz="2200" dirty="0">
                <a:latin typeface="Times New Roman" panose="02020603050405020304" pitchFamily="18" charset="0"/>
              </a:rPr>
              <a:t>例</a:t>
            </a:r>
            <a:r>
              <a:rPr lang="en-US" altLang="zh-CN" sz="2200" dirty="0">
                <a:latin typeface="Times New Roman" panose="02020603050405020304" pitchFamily="18" charset="0"/>
              </a:rPr>
              <a:t>13.8 </a:t>
            </a:r>
            <a:r>
              <a:rPr lang="zh-CN" altLang="en-US" sz="2200" dirty="0">
                <a:latin typeface="Times New Roman" panose="02020603050405020304" pitchFamily="18" charset="0"/>
              </a:rPr>
              <a:t>三维二值特征的贝叶斯决策</a:t>
            </a:r>
          </a:p>
        </p:txBody>
      </p:sp>
      <p:graphicFrame>
        <p:nvGraphicFramePr>
          <p:cNvPr id="22" name="Object 3"/>
          <p:cNvGraphicFramePr>
            <a:graphicFrameLocks noGrp="1" noChangeAspect="1"/>
          </p:cNvGraphicFramePr>
          <p:nvPr>
            <p:ph sz="half" idx="1"/>
          </p:nvPr>
        </p:nvGraphicFramePr>
        <p:xfrm>
          <a:off x="2419350" y="3832225"/>
          <a:ext cx="114300" cy="184150"/>
        </p:xfrm>
        <a:graphic>
          <a:graphicData uri="http://schemas.openxmlformats.org/presentationml/2006/ole">
            <mc:AlternateContent xmlns:mc="http://schemas.openxmlformats.org/markup-compatibility/2006">
              <mc:Choice xmlns:v="urn:schemas-microsoft-com:vml" Requires="v">
                <p:oleObj spid="_x0000_s78096" name="方程式" r:id="rId4" imgW="114151" imgH="215619" progId="Equation.3">
                  <p:embed/>
                </p:oleObj>
              </mc:Choice>
              <mc:Fallback>
                <p:oleObj name="方程式" r:id="rId4" imgW="114151" imgH="215619" progId="Equation.3">
                  <p:embed/>
                  <p:pic>
                    <p:nvPicPr>
                      <p:cNvPr id="0" name="Picture 240"/>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9350" y="3832225"/>
                        <a:ext cx="114300" cy="184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3" name="Picture 4" descr="A1F8D121"/>
          <p:cNvPicPr>
            <a:picLocks noChangeAspect="1" noChangeArrowheads="1"/>
          </p:cNvPicPr>
          <p:nvPr/>
        </p:nvPicPr>
        <p:blipFill>
          <a:blip r:embed="rId6"/>
          <a:srcRect r="50450"/>
          <a:stretch>
            <a:fillRect/>
          </a:stretch>
        </p:blipFill>
        <p:spPr bwMode="auto">
          <a:xfrm>
            <a:off x="7760360" y="2050315"/>
            <a:ext cx="4025900" cy="4108450"/>
          </a:xfrm>
          <a:prstGeom prst="rect">
            <a:avLst/>
          </a:prstGeom>
          <a:noFill/>
        </p:spPr>
      </p:pic>
      <p:graphicFrame>
        <p:nvGraphicFramePr>
          <p:cNvPr id="28" name="Object 5"/>
          <p:cNvGraphicFramePr>
            <a:graphicFrameLocks noChangeAspect="1"/>
          </p:cNvGraphicFramePr>
          <p:nvPr>
            <p:extLst>
              <p:ext uri="{D42A27DB-BD31-4B8C-83A1-F6EECF244321}">
                <p14:modId xmlns:p14="http://schemas.microsoft.com/office/powerpoint/2010/main" val="2531258924"/>
              </p:ext>
            </p:extLst>
          </p:nvPr>
        </p:nvGraphicFramePr>
        <p:xfrm>
          <a:off x="9080500" y="2992438"/>
          <a:ext cx="247650" cy="19050"/>
        </p:xfrm>
        <a:graphic>
          <a:graphicData uri="http://schemas.openxmlformats.org/presentationml/2006/ole">
            <mc:AlternateContent xmlns:mc="http://schemas.openxmlformats.org/markup-compatibility/2006">
              <mc:Choice xmlns:v="urn:schemas-microsoft-com:vml" Requires="v">
                <p:oleObj spid="_x0000_s78097" name="公式" r:id="rId7" imgW="3060360" imgH="228600" progId="Equation.3">
                  <p:embed/>
                </p:oleObj>
              </mc:Choice>
              <mc:Fallback>
                <p:oleObj name="公式" r:id="rId7" imgW="3060360" imgH="228600" progId="Equation.3">
                  <p:embed/>
                  <p:pic>
                    <p:nvPicPr>
                      <p:cNvPr id="0" name="Picture 2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80500" y="2992438"/>
                        <a:ext cx="247650" cy="19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Object 5"/>
          <p:cNvGraphicFramePr>
            <a:graphicFrameLocks noChangeAspect="1"/>
          </p:cNvGraphicFramePr>
          <p:nvPr>
            <p:extLst>
              <p:ext uri="{D42A27DB-BD31-4B8C-83A1-F6EECF244321}">
                <p14:modId xmlns:p14="http://schemas.microsoft.com/office/powerpoint/2010/main" val="1417494250"/>
              </p:ext>
            </p:extLst>
          </p:nvPr>
        </p:nvGraphicFramePr>
        <p:xfrm>
          <a:off x="6507163" y="3001963"/>
          <a:ext cx="241300" cy="19050"/>
        </p:xfrm>
        <a:graphic>
          <a:graphicData uri="http://schemas.openxmlformats.org/presentationml/2006/ole">
            <mc:AlternateContent xmlns:mc="http://schemas.openxmlformats.org/markup-compatibility/2006">
              <mc:Choice xmlns:v="urn:schemas-microsoft-com:vml" Requires="v">
                <p:oleObj spid="_x0000_s78098" name="公式" r:id="rId9" imgW="2984400" imgH="228600" progId="Equation.3">
                  <p:embed/>
                </p:oleObj>
              </mc:Choice>
              <mc:Fallback>
                <p:oleObj name="公式" r:id="rId9" imgW="2984400" imgH="228600" progId="Equation.3">
                  <p:embed/>
                  <p:pic>
                    <p:nvPicPr>
                      <p:cNvPr id="0" name="Picture 24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07163" y="3001963"/>
                        <a:ext cx="241300" cy="19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464892100"/>
              </p:ext>
            </p:extLst>
          </p:nvPr>
        </p:nvGraphicFramePr>
        <p:xfrm>
          <a:off x="4888216" y="1117606"/>
          <a:ext cx="5744288" cy="439988"/>
        </p:xfrm>
        <a:graphic>
          <a:graphicData uri="http://schemas.openxmlformats.org/presentationml/2006/ole">
            <mc:AlternateContent xmlns:mc="http://schemas.openxmlformats.org/markup-compatibility/2006">
              <mc:Choice xmlns:v="urn:schemas-microsoft-com:vml" Requires="v">
                <p:oleObj spid="_x0000_s78099" name="公式" r:id="rId11" imgW="2984400" imgH="228600" progId="Equation.3">
                  <p:embed/>
                </p:oleObj>
              </mc:Choice>
              <mc:Fallback>
                <p:oleObj name="公式" r:id="rId11" imgW="2984400" imgH="228600" progId="Equation.3">
                  <p:embed/>
                  <p:pic>
                    <p:nvPicPr>
                      <p:cNvPr id="0" name="Picture 24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88216" y="1117606"/>
                        <a:ext cx="5744288" cy="439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Object 22"/>
          <p:cNvGraphicFramePr>
            <a:graphicFrameLocks noChangeAspect="1"/>
          </p:cNvGraphicFramePr>
          <p:nvPr>
            <p:extLst>
              <p:ext uri="{D42A27DB-BD31-4B8C-83A1-F6EECF244321}">
                <p14:modId xmlns:p14="http://schemas.microsoft.com/office/powerpoint/2010/main" val="1142527734"/>
              </p:ext>
            </p:extLst>
          </p:nvPr>
        </p:nvGraphicFramePr>
        <p:xfrm>
          <a:off x="436382" y="1668837"/>
          <a:ext cx="2357454" cy="862092"/>
        </p:xfrm>
        <a:graphic>
          <a:graphicData uri="http://schemas.openxmlformats.org/presentationml/2006/ole">
            <mc:AlternateContent xmlns:mc="http://schemas.openxmlformats.org/markup-compatibility/2006">
              <mc:Choice xmlns:v="urn:schemas-microsoft-com:vml" Requires="v">
                <p:oleObj spid="_x0000_s78100" name="Equation" r:id="rId13" imgW="1180588" imgH="431613" progId="Equation.DSMT4">
                  <p:embed/>
                </p:oleObj>
              </mc:Choice>
              <mc:Fallback>
                <p:oleObj name="Equation" r:id="rId13" imgW="1180588" imgH="431613" progId="Equation.DSMT4">
                  <p:embed/>
                  <p:pic>
                    <p:nvPicPr>
                      <p:cNvPr id="0" name="Picture 24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6382" y="1668837"/>
                        <a:ext cx="2357454" cy="86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 name="Object 6"/>
          <p:cNvGraphicFramePr>
            <a:graphicFrameLocks noChangeAspect="1"/>
          </p:cNvGraphicFramePr>
          <p:nvPr>
            <p:extLst>
              <p:ext uri="{D42A27DB-BD31-4B8C-83A1-F6EECF244321}">
                <p14:modId xmlns:p14="http://schemas.microsoft.com/office/powerpoint/2010/main" val="3378079856"/>
              </p:ext>
            </p:extLst>
          </p:nvPr>
        </p:nvGraphicFramePr>
        <p:xfrm>
          <a:off x="436382" y="2549240"/>
          <a:ext cx="3347144" cy="779472"/>
        </p:xfrm>
        <a:graphic>
          <a:graphicData uri="http://schemas.openxmlformats.org/presentationml/2006/ole">
            <mc:AlternateContent xmlns:mc="http://schemas.openxmlformats.org/markup-compatibility/2006">
              <mc:Choice xmlns:v="urn:schemas-microsoft-com:vml" Requires="v">
                <p:oleObj spid="_x0000_s78101" name="Equation" r:id="rId15" imgW="1854200" imgH="431800" progId="Equation.DSMT4">
                  <p:embed/>
                </p:oleObj>
              </mc:Choice>
              <mc:Fallback>
                <p:oleObj name="Equation" r:id="rId15" imgW="1854200" imgH="431800" progId="Equation.DSMT4">
                  <p:embed/>
                  <p:pic>
                    <p:nvPicPr>
                      <p:cNvPr id="0" name="Picture 24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6382" y="2549240"/>
                        <a:ext cx="3347144" cy="779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 name="Object 7"/>
          <p:cNvGraphicFramePr>
            <a:graphicFrameLocks noChangeAspect="1"/>
          </p:cNvGraphicFramePr>
          <p:nvPr>
            <p:extLst>
              <p:ext uri="{D42A27DB-BD31-4B8C-83A1-F6EECF244321}">
                <p14:modId xmlns:p14="http://schemas.microsoft.com/office/powerpoint/2010/main" val="1698589836"/>
              </p:ext>
            </p:extLst>
          </p:nvPr>
        </p:nvGraphicFramePr>
        <p:xfrm>
          <a:off x="436382" y="3477366"/>
          <a:ext cx="2786082" cy="733179"/>
        </p:xfrm>
        <a:graphic>
          <a:graphicData uri="http://schemas.openxmlformats.org/presentationml/2006/ole">
            <mc:AlternateContent xmlns:mc="http://schemas.openxmlformats.org/markup-compatibility/2006">
              <mc:Choice xmlns:v="urn:schemas-microsoft-com:vml" Requires="v">
                <p:oleObj spid="_x0000_s78102" name="Equation" r:id="rId17" imgW="1688367" imgH="444307" progId="Equation.DSMT4">
                  <p:embed/>
                </p:oleObj>
              </mc:Choice>
              <mc:Fallback>
                <p:oleObj name="Equation" r:id="rId17" imgW="1688367" imgH="444307" progId="Equation.DSMT4">
                  <p:embed/>
                  <p:pic>
                    <p:nvPicPr>
                      <p:cNvPr id="0" name="Picture 24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36382" y="3477366"/>
                        <a:ext cx="2786082" cy="733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027398765"/>
              </p:ext>
            </p:extLst>
          </p:nvPr>
        </p:nvGraphicFramePr>
        <p:xfrm>
          <a:off x="3573540" y="4354139"/>
          <a:ext cx="3800188" cy="1595141"/>
        </p:xfrm>
        <a:graphic>
          <a:graphicData uri="http://schemas.openxmlformats.org/presentationml/2006/ole">
            <mc:AlternateContent xmlns:mc="http://schemas.openxmlformats.org/markup-compatibility/2006">
              <mc:Choice xmlns:v="urn:schemas-microsoft-com:vml" Requires="v">
                <p:oleObj spid="_x0000_s78103" name="公式" r:id="rId19" imgW="2057400" imgH="863280" progId="Equation.3">
                  <p:embed/>
                </p:oleObj>
              </mc:Choice>
              <mc:Fallback>
                <p:oleObj name="公式" r:id="rId19" imgW="2057400" imgH="863280" progId="Equation.3">
                  <p:embed/>
                  <p:pic>
                    <p:nvPicPr>
                      <p:cNvPr id="0" name="Picture 24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573540" y="4354139"/>
                        <a:ext cx="3800188" cy="15951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870633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20337" y="6454851"/>
            <a:ext cx="1349719" cy="404664"/>
          </a:xfrm>
          <a:prstGeom prst="rect">
            <a:avLst/>
          </a:prstGeom>
        </p:spPr>
      </p:pic>
      <p:sp>
        <p:nvSpPr>
          <p:cNvPr id="10" name="文本框 9"/>
          <p:cNvSpPr txBox="1"/>
          <p:nvPr/>
        </p:nvSpPr>
        <p:spPr>
          <a:xfrm>
            <a:off x="-24680" y="6436540"/>
            <a:ext cx="5112568" cy="461665"/>
          </a:xfrm>
          <a:prstGeom prst="rect">
            <a:avLst/>
          </a:prstGeom>
          <a:noFill/>
        </p:spPr>
        <p:txBody>
          <a:bodyPr wrap="square" rtlCol="0">
            <a:spAutoFit/>
          </a:bodyPr>
          <a:lstStyle/>
          <a:p>
            <a:pPr>
              <a:defRPr/>
            </a:pPr>
            <a:r>
              <a:rPr lang="zh-CN" altLang="en-US" sz="2400" b="1" dirty="0">
                <a:solidFill>
                  <a:srgbClr val="0000FF"/>
                </a:solidFill>
              </a:rPr>
              <a:t>人工智能与自动化学院    </a:t>
            </a:r>
          </a:p>
        </p:txBody>
      </p:sp>
      <p:sp>
        <p:nvSpPr>
          <p:cNvPr id="3" name="灯片编号占位符 2">
            <a:extLst>
              <a:ext uri="{FF2B5EF4-FFF2-40B4-BE49-F238E27FC236}">
                <a16:creationId xmlns:a16="http://schemas.microsoft.com/office/drawing/2014/main" id="{89E48CC0-79A6-4F46-9DBC-B02B83C10A66}"/>
              </a:ext>
            </a:extLst>
          </p:cNvPr>
          <p:cNvSpPr>
            <a:spLocks noGrp="1"/>
          </p:cNvSpPr>
          <p:nvPr>
            <p:ph type="sldNum" sz="quarter" idx="11"/>
          </p:nvPr>
        </p:nvSpPr>
        <p:spPr/>
        <p:txBody>
          <a:bodyPr/>
          <a:lstStyle/>
          <a:p>
            <a:pPr>
              <a:defRPr/>
            </a:pPr>
            <a:fld id="{31E287EE-1289-4991-82CE-EFE584F53F4F}" type="slidenum">
              <a:rPr lang="en-US" altLang="zh-CN" smtClean="0"/>
              <a:pPr>
                <a:defRPr/>
              </a:pPr>
              <a:t>91</a:t>
            </a:fld>
            <a:endParaRPr lang="en-US" altLang="zh-CN" dirty="0"/>
          </a:p>
        </p:txBody>
      </p:sp>
      <p:sp>
        <p:nvSpPr>
          <p:cNvPr id="15" name="标题 1">
            <a:extLst>
              <a:ext uri="{FF2B5EF4-FFF2-40B4-BE49-F238E27FC236}">
                <a16:creationId xmlns:a16="http://schemas.microsoft.com/office/drawing/2014/main" id="{A09096AF-27B2-499C-A21C-C65C892B8B1D}"/>
              </a:ext>
            </a:extLst>
          </p:cNvPr>
          <p:cNvSpPr txBox="1">
            <a:spLocks/>
          </p:cNvSpPr>
          <p:nvPr/>
        </p:nvSpPr>
        <p:spPr bwMode="black">
          <a:xfrm>
            <a:off x="407368" y="172565"/>
            <a:ext cx="10225136"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eaLnBrk="1" fontAlgn="base" hangingPunct="1">
              <a:spcBef>
                <a:spcPct val="0"/>
              </a:spcBef>
              <a:spcAft>
                <a:spcPct val="0"/>
              </a:spcAft>
              <a:defRPr sz="3200">
                <a:solidFill>
                  <a:schemeClr val="tx2"/>
                </a:solidFill>
                <a:latin typeface="Arial" charset="0"/>
              </a:defRPr>
            </a:lvl6pPr>
            <a:lvl7pPr marL="914400" algn="l" rtl="0" eaLnBrk="1" fontAlgn="base" hangingPunct="1">
              <a:spcBef>
                <a:spcPct val="0"/>
              </a:spcBef>
              <a:spcAft>
                <a:spcPct val="0"/>
              </a:spcAft>
              <a:defRPr sz="3200">
                <a:solidFill>
                  <a:schemeClr val="tx2"/>
                </a:solidFill>
                <a:latin typeface="Arial" charset="0"/>
              </a:defRPr>
            </a:lvl7pPr>
            <a:lvl8pPr marL="1371600" algn="l" rtl="0" eaLnBrk="1" fontAlgn="base" hangingPunct="1">
              <a:spcBef>
                <a:spcPct val="0"/>
              </a:spcBef>
              <a:spcAft>
                <a:spcPct val="0"/>
              </a:spcAft>
              <a:defRPr sz="3200">
                <a:solidFill>
                  <a:schemeClr val="tx2"/>
                </a:solidFill>
                <a:latin typeface="Arial" charset="0"/>
              </a:defRPr>
            </a:lvl8pPr>
            <a:lvl9pPr marL="1828800" algn="l" rtl="0" eaLnBrk="1" fontAlgn="base" hangingPunct="1">
              <a:spcBef>
                <a:spcPct val="0"/>
              </a:spcBef>
              <a:spcAft>
                <a:spcPct val="0"/>
              </a:spcAft>
              <a:defRPr sz="3200">
                <a:solidFill>
                  <a:schemeClr val="tx2"/>
                </a:solidFill>
                <a:latin typeface="Arial" charset="0"/>
              </a:defRPr>
            </a:lvl9pPr>
          </a:lstStyle>
          <a:p>
            <a:r>
              <a:rPr lang="en-US" altLang="zh-CN" dirty="0"/>
              <a:t>13.6 </a:t>
            </a:r>
            <a:r>
              <a:rPr lang="zh-CN" altLang="zh-CN" dirty="0"/>
              <a:t>离散概率模型下的统计决策</a:t>
            </a:r>
          </a:p>
        </p:txBody>
      </p:sp>
      <p:sp>
        <p:nvSpPr>
          <p:cNvPr id="21" name="Rectangle 2"/>
          <p:cNvSpPr>
            <a:spLocks noGrp="1" noChangeArrowheads="1"/>
          </p:cNvSpPr>
          <p:nvPr>
            <p:ph type="title"/>
          </p:nvPr>
        </p:nvSpPr>
        <p:spPr>
          <a:xfrm>
            <a:off x="424372" y="978563"/>
            <a:ext cx="8229600" cy="690274"/>
          </a:xfrm>
        </p:spPr>
        <p:txBody>
          <a:bodyPr/>
          <a:lstStyle/>
          <a:p>
            <a:r>
              <a:rPr lang="zh-CN" altLang="en-US" sz="2200" dirty="0">
                <a:latin typeface="Times New Roman" panose="02020603050405020304" pitchFamily="18" charset="0"/>
              </a:rPr>
              <a:t>例</a:t>
            </a:r>
            <a:r>
              <a:rPr lang="en-US" altLang="zh-CN" sz="2200" dirty="0">
                <a:latin typeface="Times New Roman" panose="02020603050405020304" pitchFamily="18" charset="0"/>
              </a:rPr>
              <a:t>13.8 </a:t>
            </a:r>
            <a:r>
              <a:rPr lang="zh-CN" altLang="en-US" sz="2200" dirty="0">
                <a:latin typeface="Times New Roman" panose="02020603050405020304" pitchFamily="18" charset="0"/>
              </a:rPr>
              <a:t>三维二值特征的贝叶斯决策</a:t>
            </a:r>
          </a:p>
        </p:txBody>
      </p:sp>
      <p:graphicFrame>
        <p:nvGraphicFramePr>
          <p:cNvPr id="22" name="Object 3"/>
          <p:cNvGraphicFramePr>
            <a:graphicFrameLocks noGrp="1" noChangeAspect="1"/>
          </p:cNvGraphicFramePr>
          <p:nvPr>
            <p:ph sz="half" idx="1"/>
          </p:nvPr>
        </p:nvGraphicFramePr>
        <p:xfrm>
          <a:off x="2419350" y="3832225"/>
          <a:ext cx="114300" cy="184150"/>
        </p:xfrm>
        <a:graphic>
          <a:graphicData uri="http://schemas.openxmlformats.org/presentationml/2006/ole">
            <mc:AlternateContent xmlns:mc="http://schemas.openxmlformats.org/markup-compatibility/2006">
              <mc:Choice xmlns:v="urn:schemas-microsoft-com:vml" Requires="v">
                <p:oleObj spid="_x0000_s79114" name="方程式" r:id="rId4" imgW="114151" imgH="215619" progId="Equation.3">
                  <p:embed/>
                </p:oleObj>
              </mc:Choice>
              <mc:Fallback>
                <p:oleObj name="方程式" r:id="rId4" imgW="114151" imgH="215619" progId="Equation.3">
                  <p:embed/>
                  <p:pic>
                    <p:nvPicPr>
                      <p:cNvPr id="0" name="Picture 234"/>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9350" y="3832225"/>
                        <a:ext cx="114300" cy="184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5"/>
          <p:cNvGraphicFramePr>
            <a:graphicFrameLocks noChangeAspect="1"/>
          </p:cNvGraphicFramePr>
          <p:nvPr/>
        </p:nvGraphicFramePr>
        <p:xfrm>
          <a:off x="9080500" y="2992438"/>
          <a:ext cx="247650" cy="19050"/>
        </p:xfrm>
        <a:graphic>
          <a:graphicData uri="http://schemas.openxmlformats.org/presentationml/2006/ole">
            <mc:AlternateContent xmlns:mc="http://schemas.openxmlformats.org/markup-compatibility/2006">
              <mc:Choice xmlns:v="urn:schemas-microsoft-com:vml" Requires="v">
                <p:oleObj spid="_x0000_s79115" name="公式" r:id="rId6" imgW="3060360" imgH="228600" progId="Equation.3">
                  <p:embed/>
                </p:oleObj>
              </mc:Choice>
              <mc:Fallback>
                <p:oleObj name="公式" r:id="rId6" imgW="3060360" imgH="228600" progId="Equation.3">
                  <p:embed/>
                  <p:pic>
                    <p:nvPicPr>
                      <p:cNvPr id="0" name="Picture 2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80500" y="2992438"/>
                        <a:ext cx="247650" cy="19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Object 5"/>
          <p:cNvGraphicFramePr>
            <a:graphicFrameLocks noChangeAspect="1"/>
          </p:cNvGraphicFramePr>
          <p:nvPr/>
        </p:nvGraphicFramePr>
        <p:xfrm>
          <a:off x="6507163" y="3001963"/>
          <a:ext cx="241300" cy="19050"/>
        </p:xfrm>
        <a:graphic>
          <a:graphicData uri="http://schemas.openxmlformats.org/presentationml/2006/ole">
            <mc:AlternateContent xmlns:mc="http://schemas.openxmlformats.org/markup-compatibility/2006">
              <mc:Choice xmlns:v="urn:schemas-microsoft-com:vml" Requires="v">
                <p:oleObj spid="_x0000_s79116" name="公式" r:id="rId8" imgW="2984400" imgH="228600" progId="Equation.3">
                  <p:embed/>
                </p:oleObj>
              </mc:Choice>
              <mc:Fallback>
                <p:oleObj name="公式" r:id="rId8" imgW="2984400" imgH="228600" progId="Equation.3">
                  <p:embed/>
                  <p:pic>
                    <p:nvPicPr>
                      <p:cNvPr id="0" name="Picture 23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07163" y="3001963"/>
                        <a:ext cx="241300" cy="19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333303628"/>
              </p:ext>
            </p:extLst>
          </p:nvPr>
        </p:nvGraphicFramePr>
        <p:xfrm>
          <a:off x="4727848" y="1117606"/>
          <a:ext cx="7286625" cy="439738"/>
        </p:xfrm>
        <a:graphic>
          <a:graphicData uri="http://schemas.openxmlformats.org/presentationml/2006/ole">
            <mc:AlternateContent xmlns:mc="http://schemas.openxmlformats.org/markup-compatibility/2006">
              <mc:Choice xmlns:v="urn:schemas-microsoft-com:vml" Requires="v">
                <p:oleObj spid="_x0000_s79117" name="公式" r:id="rId10" imgW="3784320" imgH="228600" progId="Equation.3">
                  <p:embed/>
                </p:oleObj>
              </mc:Choice>
              <mc:Fallback>
                <p:oleObj name="公式" r:id="rId10" imgW="3784320" imgH="228600" progId="Equation.3">
                  <p:embed/>
                  <p:pic>
                    <p:nvPicPr>
                      <p:cNvPr id="0" name="Picture 23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27848" y="1117606"/>
                        <a:ext cx="7286625" cy="439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Object 22"/>
          <p:cNvGraphicFramePr>
            <a:graphicFrameLocks noChangeAspect="1"/>
          </p:cNvGraphicFramePr>
          <p:nvPr/>
        </p:nvGraphicFramePr>
        <p:xfrm>
          <a:off x="436382" y="1668837"/>
          <a:ext cx="2357454" cy="862092"/>
        </p:xfrm>
        <a:graphic>
          <a:graphicData uri="http://schemas.openxmlformats.org/presentationml/2006/ole">
            <mc:AlternateContent xmlns:mc="http://schemas.openxmlformats.org/markup-compatibility/2006">
              <mc:Choice xmlns:v="urn:schemas-microsoft-com:vml" Requires="v">
                <p:oleObj spid="_x0000_s79118" name="Equation" r:id="rId12" imgW="1180588" imgH="431613" progId="Equation.DSMT4">
                  <p:embed/>
                </p:oleObj>
              </mc:Choice>
              <mc:Fallback>
                <p:oleObj name="Equation" r:id="rId12" imgW="1180588" imgH="431613" progId="Equation.DSMT4">
                  <p:embed/>
                  <p:pic>
                    <p:nvPicPr>
                      <p:cNvPr id="0" name="Picture 23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6382" y="1668837"/>
                        <a:ext cx="2357454" cy="86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 name="Object 6"/>
          <p:cNvGraphicFramePr>
            <a:graphicFrameLocks noChangeAspect="1"/>
          </p:cNvGraphicFramePr>
          <p:nvPr/>
        </p:nvGraphicFramePr>
        <p:xfrm>
          <a:off x="436382" y="2549240"/>
          <a:ext cx="3347144" cy="779472"/>
        </p:xfrm>
        <a:graphic>
          <a:graphicData uri="http://schemas.openxmlformats.org/presentationml/2006/ole">
            <mc:AlternateContent xmlns:mc="http://schemas.openxmlformats.org/markup-compatibility/2006">
              <mc:Choice xmlns:v="urn:schemas-microsoft-com:vml" Requires="v">
                <p:oleObj spid="_x0000_s79119" name="Equation" r:id="rId14" imgW="1854200" imgH="431800" progId="Equation.DSMT4">
                  <p:embed/>
                </p:oleObj>
              </mc:Choice>
              <mc:Fallback>
                <p:oleObj name="Equation" r:id="rId14" imgW="1854200" imgH="431800" progId="Equation.DSMT4">
                  <p:embed/>
                  <p:pic>
                    <p:nvPicPr>
                      <p:cNvPr id="0" name="Picture 23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6382" y="2549240"/>
                        <a:ext cx="3347144" cy="779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 name="Object 7"/>
          <p:cNvGraphicFramePr>
            <a:graphicFrameLocks noChangeAspect="1"/>
          </p:cNvGraphicFramePr>
          <p:nvPr/>
        </p:nvGraphicFramePr>
        <p:xfrm>
          <a:off x="436382" y="3477366"/>
          <a:ext cx="2786082" cy="733179"/>
        </p:xfrm>
        <a:graphic>
          <a:graphicData uri="http://schemas.openxmlformats.org/presentationml/2006/ole">
            <mc:AlternateContent xmlns:mc="http://schemas.openxmlformats.org/markup-compatibility/2006">
              <mc:Choice xmlns:v="urn:schemas-microsoft-com:vml" Requires="v">
                <p:oleObj spid="_x0000_s79120" name="Equation" r:id="rId16" imgW="1688367" imgH="444307" progId="Equation.DSMT4">
                  <p:embed/>
                </p:oleObj>
              </mc:Choice>
              <mc:Fallback>
                <p:oleObj name="Equation" r:id="rId16" imgW="1688367" imgH="444307" progId="Equation.DSMT4">
                  <p:embed/>
                  <p:pic>
                    <p:nvPicPr>
                      <p:cNvPr id="0" name="Picture 24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36382" y="3477366"/>
                        <a:ext cx="2786082" cy="733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2292897074"/>
              </p:ext>
            </p:extLst>
          </p:nvPr>
        </p:nvGraphicFramePr>
        <p:xfrm>
          <a:off x="3494866" y="3899123"/>
          <a:ext cx="4265494" cy="2096599"/>
        </p:xfrm>
        <a:graphic>
          <a:graphicData uri="http://schemas.openxmlformats.org/presentationml/2006/ole">
            <mc:AlternateContent xmlns:mc="http://schemas.openxmlformats.org/markup-compatibility/2006">
              <mc:Choice xmlns:v="urn:schemas-microsoft-com:vml" Requires="v">
                <p:oleObj spid="_x0000_s79121" name="公式" r:id="rId18" imgW="2247840" imgH="1104840" progId="Equation.3">
                  <p:embed/>
                </p:oleObj>
              </mc:Choice>
              <mc:Fallback>
                <p:oleObj name="公式" r:id="rId18" imgW="2247840" imgH="1104840" progId="Equation.3">
                  <p:embed/>
                  <p:pic>
                    <p:nvPicPr>
                      <p:cNvPr id="0" name="Picture 24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94866" y="3899123"/>
                        <a:ext cx="4265494" cy="20965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7" name="Picture 3" descr="A1F8D121"/>
          <p:cNvPicPr>
            <a:picLocks noChangeAspect="1" noChangeArrowheads="1"/>
          </p:cNvPicPr>
          <p:nvPr/>
        </p:nvPicPr>
        <p:blipFill>
          <a:blip r:embed="rId20"/>
          <a:srcRect l="49081" r="1955"/>
          <a:stretch>
            <a:fillRect/>
          </a:stretch>
        </p:blipFill>
        <p:spPr bwMode="auto">
          <a:xfrm>
            <a:off x="8032762" y="2057200"/>
            <a:ext cx="3978275" cy="4108450"/>
          </a:xfrm>
          <a:prstGeom prst="rect">
            <a:avLst/>
          </a:prstGeom>
          <a:noFill/>
        </p:spPr>
      </p:pic>
    </p:spTree>
    <p:extLst>
      <p:ext uri="{BB962C8B-B14F-4D97-AF65-F5344CB8AC3E}">
        <p14:creationId xmlns:p14="http://schemas.microsoft.com/office/powerpoint/2010/main" val="223702128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8"/>
          <p:cNvSpPr>
            <a:spLocks noGrp="1" noChangeArrowheads="1"/>
          </p:cNvSpPr>
          <p:nvPr>
            <p:ph type="ctrTitle"/>
          </p:nvPr>
        </p:nvSpPr>
        <p:spPr>
          <a:xfrm>
            <a:off x="3667126" y="2286000"/>
            <a:ext cx="6215063" cy="533400"/>
          </a:xfrm>
        </p:spPr>
        <p:txBody>
          <a:bodyPr/>
          <a:lstStyle/>
          <a:p>
            <a:pPr eaLnBrk="1" hangingPunct="1"/>
            <a:r>
              <a:rPr lang="en-US" altLang="zh-CN" sz="5000" dirty="0">
                <a:ea typeface="宋体" pitchFamily="2" charset="-122"/>
              </a:rPr>
              <a:t>Ending</a:t>
            </a:r>
          </a:p>
        </p:txBody>
      </p:sp>
    </p:spTree>
    <p:extLst>
      <p:ext uri="{BB962C8B-B14F-4D97-AF65-F5344CB8AC3E}">
        <p14:creationId xmlns:p14="http://schemas.microsoft.com/office/powerpoint/2010/main" val="4261398194"/>
      </p:ext>
    </p:extLst>
  </p:cSld>
  <p:clrMapOvr>
    <a:masterClrMapping/>
  </p:clrMapOvr>
</p:sld>
</file>

<file path=ppt/theme/theme1.xml><?xml version="1.0" encoding="utf-8"?>
<a:theme xmlns:a="http://schemas.openxmlformats.org/drawingml/2006/main" name="589tgp_health_light">
  <a:themeElements>
    <a:clrScheme name="s2 1">
      <a:dk1>
        <a:srgbClr val="000000"/>
      </a:dk1>
      <a:lt1>
        <a:srgbClr val="FFFFFF"/>
      </a:lt1>
      <a:dk2>
        <a:srgbClr val="5EB2B6"/>
      </a:dk2>
      <a:lt2>
        <a:srgbClr val="DED9CC"/>
      </a:lt2>
      <a:accent1>
        <a:srgbClr val="9FD56D"/>
      </a:accent1>
      <a:accent2>
        <a:srgbClr val="F4BC72"/>
      </a:accent2>
      <a:accent3>
        <a:srgbClr val="FFFFFF"/>
      </a:accent3>
      <a:accent4>
        <a:srgbClr val="000000"/>
      </a:accent4>
      <a:accent5>
        <a:srgbClr val="CDE7BA"/>
      </a:accent5>
      <a:accent6>
        <a:srgbClr val="DDAA67"/>
      </a:accent6>
      <a:hlink>
        <a:srgbClr val="F18FAB"/>
      </a:hlink>
      <a:folHlink>
        <a:srgbClr val="84A3E8"/>
      </a:folHlink>
    </a:clrScheme>
    <a:fontScheme name="s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a:defRPr sz="2400" kern="100" dirty="0" smtClean="0">
            <a:ea typeface="宋体"/>
            <a:cs typeface="Times New Roman"/>
          </a:defRPr>
        </a:defPPr>
      </a:lstStyle>
    </a:spDef>
    <a:lnDef>
      <a:spPr>
        <a:ln>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400" dirty="0" smtClean="0"/>
        </a:defPPr>
      </a:lstStyle>
    </a:txDef>
  </a:objectDefaults>
  <a:extraClrSchemeLst>
    <a:extraClrScheme>
      <a:clrScheme name="s2 1">
        <a:dk1>
          <a:srgbClr val="000000"/>
        </a:dk1>
        <a:lt1>
          <a:srgbClr val="FFFFFF"/>
        </a:lt1>
        <a:dk2>
          <a:srgbClr val="5EB2B6"/>
        </a:dk2>
        <a:lt2>
          <a:srgbClr val="DED9CC"/>
        </a:lt2>
        <a:accent1>
          <a:srgbClr val="9FD56D"/>
        </a:accent1>
        <a:accent2>
          <a:srgbClr val="F4BC72"/>
        </a:accent2>
        <a:accent3>
          <a:srgbClr val="FFFFFF"/>
        </a:accent3>
        <a:accent4>
          <a:srgbClr val="000000"/>
        </a:accent4>
        <a:accent5>
          <a:srgbClr val="CDE7BA"/>
        </a:accent5>
        <a:accent6>
          <a:srgbClr val="DDAA67"/>
        </a:accent6>
        <a:hlink>
          <a:srgbClr val="F18FAB"/>
        </a:hlink>
        <a:folHlink>
          <a:srgbClr val="84A3E8"/>
        </a:folHlink>
      </a:clrScheme>
      <a:clrMap bg1="lt1" tx1="dk1" bg2="lt2" tx2="dk2" accent1="accent1" accent2="accent2" accent3="accent3" accent4="accent4" accent5="accent5" accent6="accent6" hlink="hlink" folHlink="folHlink"/>
    </a:extraClrScheme>
    <a:extraClrScheme>
      <a:clrScheme name="s2 2">
        <a:dk1>
          <a:srgbClr val="000000"/>
        </a:dk1>
        <a:lt1>
          <a:srgbClr val="FFFFFF"/>
        </a:lt1>
        <a:dk2>
          <a:srgbClr val="EA9148"/>
        </a:dk2>
        <a:lt2>
          <a:srgbClr val="DED9CC"/>
        </a:lt2>
        <a:accent1>
          <a:srgbClr val="E878C8"/>
        </a:accent1>
        <a:accent2>
          <a:srgbClr val="7DD7E9"/>
        </a:accent2>
        <a:accent3>
          <a:srgbClr val="FFFFFF"/>
        </a:accent3>
        <a:accent4>
          <a:srgbClr val="000000"/>
        </a:accent4>
        <a:accent5>
          <a:srgbClr val="F2BEE0"/>
        </a:accent5>
        <a:accent6>
          <a:srgbClr val="71C3D3"/>
        </a:accent6>
        <a:hlink>
          <a:srgbClr val="98E8B3"/>
        </a:hlink>
        <a:folHlink>
          <a:srgbClr val="E6C686"/>
        </a:folHlink>
      </a:clrScheme>
      <a:clrMap bg1="lt1" tx1="dk1" bg2="lt2" tx2="dk2" accent1="accent1" accent2="accent2" accent3="accent3" accent4="accent4" accent5="accent5" accent6="accent6" hlink="hlink" folHlink="folHlink"/>
    </a:extraClrScheme>
    <a:extraClrScheme>
      <a:clrScheme name="s2 3">
        <a:dk1>
          <a:srgbClr val="000000"/>
        </a:dk1>
        <a:lt1>
          <a:srgbClr val="FFFFFF"/>
        </a:lt1>
        <a:dk2>
          <a:srgbClr val="C889CD"/>
        </a:dk2>
        <a:lt2>
          <a:srgbClr val="DED9CC"/>
        </a:lt2>
        <a:accent1>
          <a:srgbClr val="72AFD8"/>
        </a:accent1>
        <a:accent2>
          <a:srgbClr val="80CAB1"/>
        </a:accent2>
        <a:accent3>
          <a:srgbClr val="FFFFFF"/>
        </a:accent3>
        <a:accent4>
          <a:srgbClr val="000000"/>
        </a:accent4>
        <a:accent5>
          <a:srgbClr val="BCD4E9"/>
        </a:accent5>
        <a:accent6>
          <a:srgbClr val="73B7A0"/>
        </a:accent6>
        <a:hlink>
          <a:srgbClr val="E1995D"/>
        </a:hlink>
        <a:folHlink>
          <a:srgbClr val="E5879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589tgp_health_light</Template>
  <TotalTime>6842</TotalTime>
  <Words>7273</Words>
  <Application>Microsoft Office PowerPoint</Application>
  <PresentationFormat>宽屏</PresentationFormat>
  <Paragraphs>929</Paragraphs>
  <Slides>92</Slides>
  <Notes>9</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vt:i4>
      </vt:variant>
      <vt:variant>
        <vt:lpstr>幻灯片标题</vt:lpstr>
      </vt:variant>
      <vt:variant>
        <vt:i4>92</vt:i4>
      </vt:variant>
    </vt:vector>
  </HeadingPairs>
  <TitlesOfParts>
    <vt:vector size="109" baseType="lpstr">
      <vt:lpstr>方正姚体</vt:lpstr>
      <vt:lpstr>黑体</vt:lpstr>
      <vt:lpstr>宋体</vt:lpstr>
      <vt:lpstr>微软雅黑</vt:lpstr>
      <vt:lpstr>新宋体</vt:lpstr>
      <vt:lpstr>Arial</vt:lpstr>
      <vt:lpstr>Calibri</vt:lpstr>
      <vt:lpstr>Cambria Math</vt:lpstr>
      <vt:lpstr>Symbol</vt:lpstr>
      <vt:lpstr>Times New Roman</vt:lpstr>
      <vt:lpstr>Wingdings</vt:lpstr>
      <vt:lpstr>Wingdings 2</vt:lpstr>
      <vt:lpstr>589tgp_health_light</vt:lpstr>
      <vt:lpstr>位图图像</vt:lpstr>
      <vt:lpstr>Equation</vt:lpstr>
      <vt:lpstr>公式</vt:lpstr>
      <vt:lpstr>方程式</vt:lpstr>
      <vt:lpstr>模式识别与机器学习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优点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    </vt:lpstr>
      <vt:lpstr>    </vt:lpstr>
      <vt:lpstr>    </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两类二维正态分布的决策面问题，由协方差Σ和均值向量μ可根据判别函数和决策面方程计算决策面。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例13.8 三维二值特征的贝叶斯决策</vt:lpstr>
      <vt:lpstr>例13.8 三维二值特征的贝叶斯决策</vt:lpstr>
      <vt:lpstr>Ending</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Yan-Wu Wang</dc:creator>
  <cp:lastModifiedBy>chenwei</cp:lastModifiedBy>
  <cp:revision>706</cp:revision>
  <dcterms:created xsi:type="dcterms:W3CDTF">2013-04-13T01:42:00Z</dcterms:created>
  <dcterms:modified xsi:type="dcterms:W3CDTF">2023-12-03T05:45:25Z</dcterms:modified>
</cp:coreProperties>
</file>
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915" r:id="rId2"/>
  </p:sldMasterIdLst>
  <p:notesMasterIdLst>
    <p:notesMasterId r:id="rId79"/>
  </p:notesMasterIdLst>
  <p:handoutMasterIdLst>
    <p:handoutMasterId r:id="rId80"/>
  </p:handoutMasterIdLst>
  <p:sldIdLst>
    <p:sldId id="279" r:id="rId3"/>
    <p:sldId id="335" r:id="rId4"/>
    <p:sldId id="683" r:id="rId5"/>
    <p:sldId id="684" r:id="rId6"/>
    <p:sldId id="685" r:id="rId7"/>
    <p:sldId id="709" r:id="rId8"/>
    <p:sldId id="710" r:id="rId9"/>
    <p:sldId id="686" r:id="rId10"/>
    <p:sldId id="688" r:id="rId11"/>
    <p:sldId id="689" r:id="rId12"/>
    <p:sldId id="690" r:id="rId13"/>
    <p:sldId id="691" r:id="rId14"/>
    <p:sldId id="692" r:id="rId15"/>
    <p:sldId id="693" r:id="rId16"/>
    <p:sldId id="694" r:id="rId17"/>
    <p:sldId id="695" r:id="rId18"/>
    <p:sldId id="696" r:id="rId19"/>
    <p:sldId id="697" r:id="rId20"/>
    <p:sldId id="698" r:id="rId21"/>
    <p:sldId id="699" r:id="rId22"/>
    <p:sldId id="700" r:id="rId23"/>
    <p:sldId id="701" r:id="rId24"/>
    <p:sldId id="702" r:id="rId25"/>
    <p:sldId id="703" r:id="rId26"/>
    <p:sldId id="704" r:id="rId27"/>
    <p:sldId id="705" r:id="rId28"/>
    <p:sldId id="707" r:id="rId29"/>
    <p:sldId id="633" r:id="rId30"/>
    <p:sldId id="634" r:id="rId31"/>
    <p:sldId id="635" r:id="rId32"/>
    <p:sldId id="638" r:id="rId33"/>
    <p:sldId id="639" r:id="rId34"/>
    <p:sldId id="728" r:id="rId35"/>
    <p:sldId id="640" r:id="rId36"/>
    <p:sldId id="641" r:id="rId37"/>
    <p:sldId id="642" r:id="rId38"/>
    <p:sldId id="643" r:id="rId39"/>
    <p:sldId id="644" r:id="rId40"/>
    <p:sldId id="673" r:id="rId41"/>
    <p:sldId id="645" r:id="rId42"/>
    <p:sldId id="646" r:id="rId43"/>
    <p:sldId id="647" r:id="rId44"/>
    <p:sldId id="648" r:id="rId45"/>
    <p:sldId id="654" r:id="rId46"/>
    <p:sldId id="655" r:id="rId47"/>
    <p:sldId id="656" r:id="rId48"/>
    <p:sldId id="657" r:id="rId49"/>
    <p:sldId id="658" r:id="rId50"/>
    <p:sldId id="676" r:id="rId51"/>
    <p:sldId id="659" r:id="rId52"/>
    <p:sldId id="660" r:id="rId53"/>
    <p:sldId id="661" r:id="rId54"/>
    <p:sldId id="662" r:id="rId55"/>
    <p:sldId id="666" r:id="rId56"/>
    <p:sldId id="667" r:id="rId57"/>
    <p:sldId id="598" r:id="rId58"/>
    <p:sldId id="602" r:id="rId59"/>
    <p:sldId id="606" r:id="rId60"/>
    <p:sldId id="663" r:id="rId61"/>
    <p:sldId id="664" r:id="rId62"/>
    <p:sldId id="665" r:id="rId63"/>
    <p:sldId id="611" r:id="rId64"/>
    <p:sldId id="712" r:id="rId65"/>
    <p:sldId id="614" r:id="rId66"/>
    <p:sldId id="668" r:id="rId67"/>
    <p:sldId id="669" r:id="rId68"/>
    <p:sldId id="670" r:id="rId69"/>
    <p:sldId id="671" r:id="rId70"/>
    <p:sldId id="730" r:id="rId71"/>
    <p:sldId id="615" r:id="rId72"/>
    <p:sldId id="729" r:id="rId73"/>
    <p:sldId id="713" r:id="rId74"/>
    <p:sldId id="714" r:id="rId75"/>
    <p:sldId id="715" r:id="rId76"/>
    <p:sldId id="716" r:id="rId77"/>
    <p:sldId id="717" r:id="rId78"/>
  </p:sldIdLst>
  <p:sldSz cx="12192000" cy="6858000"/>
  <p:notesSz cx="6858000" cy="99472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3"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45AD56"/>
    <a:srgbClr val="418D91"/>
    <a:srgbClr val="FF9999"/>
    <a:srgbClr val="F0F7EB"/>
    <a:srgbClr val="DFEFD4"/>
    <a:srgbClr val="006F6F"/>
    <a:srgbClr val="367376"/>
    <a:srgbClr val="FF7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56" autoAdjust="0"/>
    <p:restoredTop sz="76183" autoAdjust="0"/>
  </p:normalViewPr>
  <p:slideViewPr>
    <p:cSldViewPr>
      <p:cViewPr>
        <p:scale>
          <a:sx n="79" d="100"/>
          <a:sy n="79" d="100"/>
        </p:scale>
        <p:origin x="57"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D4C98E-D40F-462B-9BB3-6122BC606E3A}" type="doc">
      <dgm:prSet loTypeId="urn:microsoft.com/office/officeart/2005/8/layout/chevron1" loCatId="process" qsTypeId="urn:microsoft.com/office/officeart/2005/8/quickstyle/simple1" qsCatId="simple" csTypeId="urn:microsoft.com/office/officeart/2005/8/colors/accent6_3" csCatId="accent6" phldr="1"/>
      <dgm:spPr/>
    </dgm:pt>
    <dgm:pt modelId="{E0BD13EB-7F1B-4782-9D45-3AF5817840C5}">
      <dgm:prSet phldrT="[文本]" custT="1"/>
      <dgm:spPr/>
      <dgm:t>
        <a:bodyPr/>
        <a:lstStyle/>
        <a:p>
          <a:r>
            <a:rPr lang="en-US" altLang="zh-CN" sz="2000" dirty="0">
              <a:solidFill>
                <a:schemeClr val="tx1"/>
              </a:solidFill>
            </a:rPr>
            <a:t>PAC</a:t>
          </a:r>
          <a:endParaRPr lang="zh-CN" altLang="en-US" sz="2000" dirty="0">
            <a:solidFill>
              <a:schemeClr val="tx1"/>
            </a:solidFill>
          </a:endParaRPr>
        </a:p>
      </dgm:t>
    </dgm:pt>
    <dgm:pt modelId="{E686C07E-718B-4F6C-B0A1-E9B72D881F03}" type="parTrans" cxnId="{721C3C7B-2AD2-469C-A75B-211A1EA292D8}">
      <dgm:prSet/>
      <dgm:spPr/>
      <dgm:t>
        <a:bodyPr/>
        <a:lstStyle/>
        <a:p>
          <a:endParaRPr lang="zh-CN" altLang="en-US" sz="1800"/>
        </a:p>
      </dgm:t>
    </dgm:pt>
    <dgm:pt modelId="{8EFDA245-66BD-4515-A493-392304B16ED3}" type="sibTrans" cxnId="{721C3C7B-2AD2-469C-A75B-211A1EA292D8}">
      <dgm:prSet/>
      <dgm:spPr/>
      <dgm:t>
        <a:bodyPr/>
        <a:lstStyle/>
        <a:p>
          <a:endParaRPr lang="zh-CN" altLang="en-US" sz="1800"/>
        </a:p>
      </dgm:t>
    </dgm:pt>
    <dgm:pt modelId="{93D9C0DA-B924-4502-8B48-1876553BB19E}">
      <dgm:prSet phldrT="[文本]" custT="1"/>
      <dgm:spPr/>
      <dgm:t>
        <a:bodyPr/>
        <a:lstStyle/>
        <a:p>
          <a:r>
            <a:rPr lang="en-US" altLang="zh-CN" sz="2000" dirty="0">
              <a:solidFill>
                <a:schemeClr val="tx1"/>
              </a:solidFill>
            </a:rPr>
            <a:t>Bootstrap</a:t>
          </a:r>
          <a:endParaRPr lang="zh-CN" altLang="en-US" sz="2000" dirty="0">
            <a:solidFill>
              <a:schemeClr val="tx1"/>
            </a:solidFill>
          </a:endParaRPr>
        </a:p>
      </dgm:t>
    </dgm:pt>
    <dgm:pt modelId="{38EB5C0C-EBAD-4A45-BA51-103A54F4E2ED}" type="parTrans" cxnId="{D15E2000-E5B0-40FE-A8D2-38E962424BD2}">
      <dgm:prSet/>
      <dgm:spPr/>
      <dgm:t>
        <a:bodyPr/>
        <a:lstStyle/>
        <a:p>
          <a:endParaRPr lang="zh-CN" altLang="en-US" sz="1800"/>
        </a:p>
      </dgm:t>
    </dgm:pt>
    <dgm:pt modelId="{FBBD41F9-E9BC-4D44-BF00-EB8335891F4B}" type="sibTrans" cxnId="{D15E2000-E5B0-40FE-A8D2-38E962424BD2}">
      <dgm:prSet/>
      <dgm:spPr/>
      <dgm:t>
        <a:bodyPr/>
        <a:lstStyle/>
        <a:p>
          <a:endParaRPr lang="zh-CN" altLang="en-US" sz="1800"/>
        </a:p>
      </dgm:t>
    </dgm:pt>
    <dgm:pt modelId="{CCE259B6-3AD2-4760-9D63-8D837536C05E}">
      <dgm:prSet phldrT="[文本]" custT="1"/>
      <dgm:spPr/>
      <dgm:t>
        <a:bodyPr/>
        <a:lstStyle/>
        <a:p>
          <a:r>
            <a:rPr lang="en-US" altLang="zh-CN" sz="2000" dirty="0">
              <a:solidFill>
                <a:schemeClr val="tx1"/>
              </a:solidFill>
            </a:rPr>
            <a:t>Bagging</a:t>
          </a:r>
          <a:endParaRPr lang="zh-CN" altLang="en-US" sz="2000" dirty="0">
            <a:solidFill>
              <a:schemeClr val="tx1"/>
            </a:solidFill>
          </a:endParaRPr>
        </a:p>
      </dgm:t>
    </dgm:pt>
    <dgm:pt modelId="{D9889980-C3A0-4811-8FCF-4AC34E75E0A7}" type="parTrans" cxnId="{1A5A1DB0-DFD5-447A-A158-ED06DA76288E}">
      <dgm:prSet/>
      <dgm:spPr/>
      <dgm:t>
        <a:bodyPr/>
        <a:lstStyle/>
        <a:p>
          <a:endParaRPr lang="zh-CN" altLang="en-US" sz="1800"/>
        </a:p>
      </dgm:t>
    </dgm:pt>
    <dgm:pt modelId="{2C2F80EA-25DF-4D57-9CA7-207570C436E3}" type="sibTrans" cxnId="{1A5A1DB0-DFD5-447A-A158-ED06DA76288E}">
      <dgm:prSet/>
      <dgm:spPr/>
      <dgm:t>
        <a:bodyPr/>
        <a:lstStyle/>
        <a:p>
          <a:endParaRPr lang="zh-CN" altLang="en-US" sz="1800"/>
        </a:p>
      </dgm:t>
    </dgm:pt>
    <dgm:pt modelId="{8041F1A6-0E8B-4E70-98E7-723B8A20CE0A}" type="pres">
      <dgm:prSet presAssocID="{06D4C98E-D40F-462B-9BB3-6122BC606E3A}" presName="Name0" presStyleCnt="0">
        <dgm:presLayoutVars>
          <dgm:dir/>
          <dgm:animLvl val="lvl"/>
          <dgm:resizeHandles val="exact"/>
        </dgm:presLayoutVars>
      </dgm:prSet>
      <dgm:spPr/>
    </dgm:pt>
    <dgm:pt modelId="{BF8A5E94-8C7B-4E52-9E9D-B2455F7992D5}" type="pres">
      <dgm:prSet presAssocID="{E0BD13EB-7F1B-4782-9D45-3AF5817840C5}" presName="parTxOnly" presStyleLbl="node1" presStyleIdx="0" presStyleCnt="3" custScaleX="82503">
        <dgm:presLayoutVars>
          <dgm:chMax val="0"/>
          <dgm:chPref val="0"/>
          <dgm:bulletEnabled val="1"/>
        </dgm:presLayoutVars>
      </dgm:prSet>
      <dgm:spPr/>
    </dgm:pt>
    <dgm:pt modelId="{BBA327AC-F251-40EE-820B-C718D9652597}" type="pres">
      <dgm:prSet presAssocID="{8EFDA245-66BD-4515-A493-392304B16ED3}" presName="parTxOnlySpace" presStyleCnt="0"/>
      <dgm:spPr/>
    </dgm:pt>
    <dgm:pt modelId="{FC0DE912-B866-43B2-BE35-3C02800E377E}" type="pres">
      <dgm:prSet presAssocID="{93D9C0DA-B924-4502-8B48-1876553BB19E}" presName="parTxOnly" presStyleLbl="node1" presStyleIdx="1" presStyleCnt="3" custScaleX="95748" custLinFactNeighborX="-64135" custLinFactNeighborY="0">
        <dgm:presLayoutVars>
          <dgm:chMax val="0"/>
          <dgm:chPref val="0"/>
          <dgm:bulletEnabled val="1"/>
        </dgm:presLayoutVars>
      </dgm:prSet>
      <dgm:spPr/>
    </dgm:pt>
    <dgm:pt modelId="{E1A9186F-47F4-467B-A0F2-3FF414CC55DF}" type="pres">
      <dgm:prSet presAssocID="{FBBD41F9-E9BC-4D44-BF00-EB8335891F4B}" presName="parTxOnlySpace" presStyleCnt="0"/>
      <dgm:spPr/>
    </dgm:pt>
    <dgm:pt modelId="{F0560825-64C1-487F-8574-D47D20B6D5A4}" type="pres">
      <dgm:prSet presAssocID="{CCE259B6-3AD2-4760-9D63-8D837536C05E}" presName="parTxOnly" presStyleLbl="node1" presStyleIdx="2" presStyleCnt="3" custScaleX="89281" custLinFactX="-5895" custLinFactNeighborX="-100000" custLinFactNeighborY="0">
        <dgm:presLayoutVars>
          <dgm:chMax val="0"/>
          <dgm:chPref val="0"/>
          <dgm:bulletEnabled val="1"/>
        </dgm:presLayoutVars>
      </dgm:prSet>
      <dgm:spPr/>
    </dgm:pt>
  </dgm:ptLst>
  <dgm:cxnLst>
    <dgm:cxn modelId="{D15E2000-E5B0-40FE-A8D2-38E962424BD2}" srcId="{06D4C98E-D40F-462B-9BB3-6122BC606E3A}" destId="{93D9C0DA-B924-4502-8B48-1876553BB19E}" srcOrd="1" destOrd="0" parTransId="{38EB5C0C-EBAD-4A45-BA51-103A54F4E2ED}" sibTransId="{FBBD41F9-E9BC-4D44-BF00-EB8335891F4B}"/>
    <dgm:cxn modelId="{61265C78-E63A-4E13-83E8-B9B4F63D28F8}" type="presOf" srcId="{93D9C0DA-B924-4502-8B48-1876553BB19E}" destId="{FC0DE912-B866-43B2-BE35-3C02800E377E}" srcOrd="0" destOrd="0" presId="urn:microsoft.com/office/officeart/2005/8/layout/chevron1"/>
    <dgm:cxn modelId="{721C3C7B-2AD2-469C-A75B-211A1EA292D8}" srcId="{06D4C98E-D40F-462B-9BB3-6122BC606E3A}" destId="{E0BD13EB-7F1B-4782-9D45-3AF5817840C5}" srcOrd="0" destOrd="0" parTransId="{E686C07E-718B-4F6C-B0A1-E9B72D881F03}" sibTransId="{8EFDA245-66BD-4515-A493-392304B16ED3}"/>
    <dgm:cxn modelId="{BA4F63A7-A3BF-4097-A140-CF597D501399}" type="presOf" srcId="{CCE259B6-3AD2-4760-9D63-8D837536C05E}" destId="{F0560825-64C1-487F-8574-D47D20B6D5A4}" srcOrd="0" destOrd="0" presId="urn:microsoft.com/office/officeart/2005/8/layout/chevron1"/>
    <dgm:cxn modelId="{1A5A1DB0-DFD5-447A-A158-ED06DA76288E}" srcId="{06D4C98E-D40F-462B-9BB3-6122BC606E3A}" destId="{CCE259B6-3AD2-4760-9D63-8D837536C05E}" srcOrd="2" destOrd="0" parTransId="{D9889980-C3A0-4811-8FCF-4AC34E75E0A7}" sibTransId="{2C2F80EA-25DF-4D57-9CA7-207570C436E3}"/>
    <dgm:cxn modelId="{143A90EE-9446-4733-9327-DD0A3EAB2813}" type="presOf" srcId="{06D4C98E-D40F-462B-9BB3-6122BC606E3A}" destId="{8041F1A6-0E8B-4E70-98E7-723B8A20CE0A}" srcOrd="0" destOrd="0" presId="urn:microsoft.com/office/officeart/2005/8/layout/chevron1"/>
    <dgm:cxn modelId="{50563DF8-AF87-4DE0-8E4B-744E0985FBC6}" type="presOf" srcId="{E0BD13EB-7F1B-4782-9D45-3AF5817840C5}" destId="{BF8A5E94-8C7B-4E52-9E9D-B2455F7992D5}" srcOrd="0" destOrd="0" presId="urn:microsoft.com/office/officeart/2005/8/layout/chevron1"/>
    <dgm:cxn modelId="{744C74F6-A8DA-489A-B69A-BD75C7C418CA}" type="presParOf" srcId="{8041F1A6-0E8B-4E70-98E7-723B8A20CE0A}" destId="{BF8A5E94-8C7B-4E52-9E9D-B2455F7992D5}" srcOrd="0" destOrd="0" presId="urn:microsoft.com/office/officeart/2005/8/layout/chevron1"/>
    <dgm:cxn modelId="{B81B8417-0199-4261-B7A2-A4BCC797C8E3}" type="presParOf" srcId="{8041F1A6-0E8B-4E70-98E7-723B8A20CE0A}" destId="{BBA327AC-F251-40EE-820B-C718D9652597}" srcOrd="1" destOrd="0" presId="urn:microsoft.com/office/officeart/2005/8/layout/chevron1"/>
    <dgm:cxn modelId="{A16609CF-C3E5-4BCF-83FF-6F6D6C82FD8D}" type="presParOf" srcId="{8041F1A6-0E8B-4E70-98E7-723B8A20CE0A}" destId="{FC0DE912-B866-43B2-BE35-3C02800E377E}" srcOrd="2" destOrd="0" presId="urn:microsoft.com/office/officeart/2005/8/layout/chevron1"/>
    <dgm:cxn modelId="{D858B0FB-7C27-4A9B-860A-4DDC12847C60}" type="presParOf" srcId="{8041F1A6-0E8B-4E70-98E7-723B8A20CE0A}" destId="{E1A9186F-47F4-467B-A0F2-3FF414CC55DF}" srcOrd="3" destOrd="0" presId="urn:microsoft.com/office/officeart/2005/8/layout/chevron1"/>
    <dgm:cxn modelId="{9084C074-866D-4696-B5AE-1CED880076F3}" type="presParOf" srcId="{8041F1A6-0E8B-4E70-98E7-723B8A20CE0A}" destId="{F0560825-64C1-487F-8574-D47D20B6D5A4}"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8A5E94-8C7B-4E52-9E9D-B2455F7992D5}">
      <dsp:nvSpPr>
        <dsp:cNvPr id="0" name=""/>
        <dsp:cNvSpPr/>
      </dsp:nvSpPr>
      <dsp:spPr>
        <a:xfrm>
          <a:off x="1356" y="1393958"/>
          <a:ext cx="2032920" cy="985622"/>
        </a:xfrm>
        <a:prstGeom prst="chevron">
          <a:avLst/>
        </a:prstGeom>
        <a:solidFill>
          <a:schemeClr val="accent6">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tx1"/>
              </a:solidFill>
            </a:rPr>
            <a:t>PAC</a:t>
          </a:r>
          <a:endParaRPr lang="zh-CN" altLang="en-US" sz="2000" kern="1200" dirty="0">
            <a:solidFill>
              <a:schemeClr val="tx1"/>
            </a:solidFill>
          </a:endParaRPr>
        </a:p>
      </dsp:txBody>
      <dsp:txXfrm>
        <a:off x="494167" y="1393958"/>
        <a:ext cx="1047298" cy="985622"/>
      </dsp:txXfrm>
    </dsp:sp>
    <dsp:sp modelId="{FC0DE912-B866-43B2-BE35-3C02800E377E}">
      <dsp:nvSpPr>
        <dsp:cNvPr id="0" name=""/>
        <dsp:cNvSpPr/>
      </dsp:nvSpPr>
      <dsp:spPr>
        <a:xfrm>
          <a:off x="1629838" y="1393958"/>
          <a:ext cx="2359284" cy="985622"/>
        </a:xfrm>
        <a:prstGeom prst="chevron">
          <a:avLst/>
        </a:prstGeom>
        <a:solidFill>
          <a:schemeClr val="accent6">
            <a:shade val="80000"/>
            <a:hueOff val="-113119"/>
            <a:satOff val="4145"/>
            <a:lumOff val="105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tx1"/>
              </a:solidFill>
            </a:rPr>
            <a:t>Bootstrap</a:t>
          </a:r>
          <a:endParaRPr lang="zh-CN" altLang="en-US" sz="2000" kern="1200" dirty="0">
            <a:solidFill>
              <a:schemeClr val="tx1"/>
            </a:solidFill>
          </a:endParaRPr>
        </a:p>
      </dsp:txBody>
      <dsp:txXfrm>
        <a:off x="2122649" y="1393958"/>
        <a:ext cx="1373662" cy="985622"/>
      </dsp:txXfrm>
    </dsp:sp>
    <dsp:sp modelId="{F0560825-64C1-487F-8574-D47D20B6D5A4}">
      <dsp:nvSpPr>
        <dsp:cNvPr id="0" name=""/>
        <dsp:cNvSpPr/>
      </dsp:nvSpPr>
      <dsp:spPr>
        <a:xfrm>
          <a:off x="3509088" y="1393958"/>
          <a:ext cx="2199934" cy="985622"/>
        </a:xfrm>
        <a:prstGeom prst="chevron">
          <a:avLst/>
        </a:prstGeom>
        <a:solidFill>
          <a:schemeClr val="accent6">
            <a:shade val="80000"/>
            <a:hueOff val="-226237"/>
            <a:satOff val="8291"/>
            <a:lumOff val="211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tx1"/>
              </a:solidFill>
            </a:rPr>
            <a:t>Bagging</a:t>
          </a:r>
          <a:endParaRPr lang="zh-CN" altLang="en-US" sz="2000" kern="1200" dirty="0">
            <a:solidFill>
              <a:schemeClr val="tx1"/>
            </a:solidFill>
          </a:endParaRPr>
        </a:p>
      </dsp:txBody>
      <dsp:txXfrm>
        <a:off x="4001899" y="1393958"/>
        <a:ext cx="1214312" cy="98562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2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10.wmf"/><Relationship Id="rId4" Type="http://schemas.openxmlformats.org/officeDocument/2006/relationships/image" Target="../media/image2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2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4" Type="http://schemas.openxmlformats.org/officeDocument/2006/relationships/image" Target="../media/image58.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CB6546D7-55A0-4F6B-B749-794C1FA7637D}" type="datetimeFigureOut">
              <a:rPr lang="zh-CN" altLang="en-US"/>
              <a:pPr>
                <a:defRPr/>
              </a:pPr>
              <a:t>2023/9/22</a:t>
            </a:fld>
            <a:endParaRPr lang="zh-CN" altLang="en-US"/>
          </a:p>
        </p:txBody>
      </p:sp>
      <p:sp>
        <p:nvSpPr>
          <p:cNvPr id="4" name="页脚占位符 3"/>
          <p:cNvSpPr>
            <a:spLocks noGrp="1"/>
          </p:cNvSpPr>
          <p:nvPr>
            <p:ph type="ftr" sz="quarter" idx="2"/>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E21E670D-491D-4C99-822F-11ABADEE1618}" type="datetimeFigureOut">
              <a:rPr lang="zh-CN" altLang="en-US"/>
              <a:pPr>
                <a:defRPr/>
              </a:pPr>
              <a:t>2023/9/22</a:t>
            </a:fld>
            <a:endParaRPr lang="zh-CN" altLang="en-US"/>
          </a:p>
        </p:txBody>
      </p:sp>
      <p:sp>
        <p:nvSpPr>
          <p:cNvPr id="4" name="幻灯片图像占位符 3"/>
          <p:cNvSpPr>
            <a:spLocks noGrp="1" noRot="1" noChangeAspect="1"/>
          </p:cNvSpPr>
          <p:nvPr>
            <p:ph type="sldImg" idx="2"/>
          </p:nvPr>
        </p:nvSpPr>
        <p:spPr>
          <a:xfrm>
            <a:off x="112713" y="746125"/>
            <a:ext cx="6632575" cy="3732213"/>
          </a:xfrm>
          <a:prstGeom prst="rect">
            <a:avLst/>
          </a:prstGeom>
          <a:noFill/>
          <a:ln w="12700">
            <a:solidFill>
              <a:prstClr val="black"/>
            </a:solidFill>
          </a:ln>
        </p:spPr>
        <p:txBody>
          <a:bodyPr vert="horz" lIns="88651" tIns="44326" rIns="88651" bIns="44326" rtlCol="0" anchor="ctr"/>
          <a:lstStyle/>
          <a:p>
            <a:pPr lvl="0"/>
            <a:endParaRPr lang="zh-CN" altLang="en-US" noProof="0"/>
          </a:p>
        </p:txBody>
      </p:sp>
      <p:sp>
        <p:nvSpPr>
          <p:cNvPr id="5" name="备注占位符 4"/>
          <p:cNvSpPr>
            <a:spLocks noGrp="1"/>
          </p:cNvSpPr>
          <p:nvPr>
            <p:ph type="body" sz="quarter" idx="3"/>
          </p:nvPr>
        </p:nvSpPr>
        <p:spPr>
          <a:xfrm>
            <a:off x="686098" y="4725286"/>
            <a:ext cx="5485805" cy="4475286"/>
          </a:xfrm>
          <a:prstGeom prst="rect">
            <a:avLst/>
          </a:prstGeom>
        </p:spPr>
        <p:txBody>
          <a:bodyPr vert="horz" lIns="88651" tIns="44326" rIns="88651" bIns="44326"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r>
              <a:rPr lang="zh-CN" altLang="en-US" dirty="0"/>
              <a:t>机器学习，数据挖掘</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194646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err="1"/>
              <a:t>Zlm</a:t>
            </a:r>
            <a:r>
              <a:rPr lang="zh-CN" altLang="en-US" dirty="0"/>
              <a:t>每一条推理过程对应树上的一条路径</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a:t>
            </a:fld>
            <a:endParaRPr lang="zh-CN" altLang="en-US"/>
          </a:p>
        </p:txBody>
      </p:sp>
    </p:spTree>
    <p:extLst>
      <p:ext uri="{BB962C8B-B14F-4D97-AF65-F5344CB8AC3E}">
        <p14:creationId xmlns:p14="http://schemas.microsoft.com/office/powerpoint/2010/main" val="4110564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a:t>
            </a:fld>
            <a:endParaRPr lang="zh-CN" altLang="en-US"/>
          </a:p>
        </p:txBody>
      </p:sp>
    </p:spTree>
    <p:extLst>
      <p:ext uri="{BB962C8B-B14F-4D97-AF65-F5344CB8AC3E}">
        <p14:creationId xmlns:p14="http://schemas.microsoft.com/office/powerpoint/2010/main" val="2853100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a:t>zlm2021</a:t>
            </a:r>
            <a:r>
              <a:rPr lang="zh-CN" altLang="en-US" dirty="0"/>
              <a:t>两页合成一页。</a:t>
            </a:r>
            <a:endParaRPr lang="en-US" altLang="zh-CN" dirty="0"/>
          </a:p>
          <a:p>
            <a:pPr defTabSz="886511">
              <a:defRPr/>
            </a:pPr>
            <a:r>
              <a:rPr lang="zh-CN" altLang="en-US" dirty="0"/>
              <a:t>选择</a:t>
            </a:r>
            <a:r>
              <a:rPr lang="en-US" altLang="zh-CN" dirty="0"/>
              <a:t>(a)</a:t>
            </a:r>
            <a:r>
              <a:rPr lang="zh-CN" altLang="en-US" dirty="0"/>
              <a:t>时，如果我们选择按照多数服从少数的方法，则会产生</a:t>
            </a:r>
            <a:r>
              <a:rPr lang="en-US" altLang="zh-CN" dirty="0"/>
              <a:t>5</a:t>
            </a:r>
            <a:r>
              <a:rPr lang="zh-CN" altLang="en-US" dirty="0"/>
              <a:t>个错误的分类。</a:t>
            </a:r>
          </a:p>
          <a:p>
            <a:r>
              <a:rPr lang="en-US" altLang="zh-CN" dirty="0" err="1"/>
              <a:t>Zlm</a:t>
            </a:r>
            <a:r>
              <a:rPr lang="zh-CN" altLang="en-US" dirty="0"/>
              <a:t>改为少数服从多数</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7</a:t>
            </a:fld>
            <a:endParaRPr lang="zh-CN" altLang="en-US"/>
          </a:p>
        </p:txBody>
      </p:sp>
    </p:spTree>
    <p:extLst>
      <p:ext uri="{BB962C8B-B14F-4D97-AF65-F5344CB8AC3E}">
        <p14:creationId xmlns:p14="http://schemas.microsoft.com/office/powerpoint/2010/main" val="916740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补充关于随机变量的信息熵的含义</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11</a:t>
            </a:fld>
            <a:endParaRPr lang="zh-CN" altLang="en-US"/>
          </a:p>
        </p:txBody>
      </p:sp>
    </p:spTree>
    <p:extLst>
      <p:ext uri="{BB962C8B-B14F-4D97-AF65-F5344CB8AC3E}">
        <p14:creationId xmlns:p14="http://schemas.microsoft.com/office/powerpoint/2010/main" val="1053106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pPr defTabSz="886511">
              <a:defRPr/>
            </a:pPr>
            <a:r>
              <a:rPr lang="en-US" altLang="zh-CN" dirty="0" err="1">
                <a:solidFill>
                  <a:srgbClr val="FF0000"/>
                </a:solidFill>
              </a:rPr>
              <a:t>zlm</a:t>
            </a:r>
            <a:endParaRPr lang="en-US" altLang="zh-CN" dirty="0">
              <a:solidFill>
                <a:srgbClr val="FF0000"/>
              </a:solidFill>
            </a:endParaRPr>
          </a:p>
          <a:p>
            <a:pPr defTabSz="886511">
              <a:defRPr/>
            </a:pPr>
            <a:r>
              <a:rPr lang="zh-CN" altLang="en-US" dirty="0">
                <a:solidFill>
                  <a:srgbClr val="FF0000"/>
                </a:solidFill>
              </a:rPr>
              <a:t>信息增益：</a:t>
            </a:r>
            <a:r>
              <a:rPr lang="zh-CN" altLang="en-US" dirty="0"/>
              <a:t>前后信息的差值，在决策树分类问题中，就是决策树在进行属性选择划分前和划分后的信息差值。</a:t>
            </a:r>
            <a:endParaRPr lang="en-US" altLang="zh-CN" dirty="0"/>
          </a:p>
          <a:p>
            <a:pPr>
              <a:buFontTx/>
              <a:buNone/>
            </a:pPr>
            <a:r>
              <a:rPr lang="en-US" altLang="zh-CN" dirty="0" err="1"/>
              <a:t>InfoGain</a:t>
            </a:r>
            <a:r>
              <a:rPr lang="en-US" altLang="zh-CN" dirty="0"/>
              <a:t> (Y | X) = H(Y) – H(Y|X) </a:t>
            </a:r>
          </a:p>
          <a:p>
            <a:r>
              <a:rPr lang="en-US" altLang="zh-CN" dirty="0"/>
              <a:t>Also written as </a:t>
            </a:r>
            <a:r>
              <a:rPr lang="en-US" altLang="zh-CN" dirty="0" err="1"/>
              <a:t>InfoGain</a:t>
            </a:r>
            <a:r>
              <a:rPr lang="en-US" altLang="zh-CN" dirty="0"/>
              <a:t> (Y, X)</a:t>
            </a:r>
          </a:p>
          <a:p>
            <a:pPr defTabSz="886511">
              <a:defRPr/>
            </a:pPr>
            <a:r>
              <a:rPr lang="en-US" altLang="zh-CN" dirty="0">
                <a:solidFill>
                  <a:srgbClr val="FF0000"/>
                </a:solidFill>
              </a:rPr>
              <a:t>Y</a:t>
            </a:r>
            <a:r>
              <a:rPr lang="zh-CN" altLang="en-US" dirty="0">
                <a:solidFill>
                  <a:srgbClr val="FF0000"/>
                </a:solidFill>
              </a:rPr>
              <a:t>：某个节点的样本</a:t>
            </a:r>
            <a:endParaRPr lang="en-US" altLang="zh-CN" dirty="0">
              <a:solidFill>
                <a:srgbClr val="FF0000"/>
              </a:solidFill>
            </a:endParaRPr>
          </a:p>
          <a:p>
            <a:pPr defTabSz="886511">
              <a:defRPr/>
            </a:pPr>
            <a:r>
              <a:rPr lang="en-US" altLang="zh-CN" dirty="0">
                <a:solidFill>
                  <a:srgbClr val="FF0000"/>
                </a:solidFill>
              </a:rPr>
              <a:t>X</a:t>
            </a:r>
            <a:r>
              <a:rPr lang="zh-CN" altLang="en-US" dirty="0">
                <a:solidFill>
                  <a:srgbClr val="FF0000"/>
                </a:solidFill>
              </a:rPr>
              <a:t>：这个节点的某个属性</a:t>
            </a:r>
          </a:p>
          <a:p>
            <a:pPr defTabSz="886511">
              <a:defRPr/>
            </a:pPr>
            <a:endParaRPr lang="en-US" altLang="zh-CN" dirty="0">
              <a:solidFill>
                <a:srgbClr val="FF0000"/>
              </a:solidFill>
            </a:endParaRPr>
          </a:p>
          <a:p>
            <a:pPr defTabSz="886511">
              <a:defRPr/>
            </a:pPr>
            <a:r>
              <a:rPr lang="zh-CN" altLang="en-US" dirty="0">
                <a:solidFill>
                  <a:srgbClr val="FF0000"/>
                </a:solidFill>
              </a:rPr>
              <a:t>信息增益大的特征具有更强的分类能力。</a:t>
            </a:r>
            <a:endParaRPr lang="en-US" altLang="zh-CN"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12</a:t>
            </a:fld>
            <a:endParaRPr lang="zh-CN" altLang="en-US">
              <a:solidFill>
                <a:prstClr val="black"/>
              </a:solidFill>
            </a:endParaRPr>
          </a:p>
        </p:txBody>
      </p:sp>
    </p:spTree>
    <p:extLst>
      <p:ext uri="{BB962C8B-B14F-4D97-AF65-F5344CB8AC3E}">
        <p14:creationId xmlns:p14="http://schemas.microsoft.com/office/powerpoint/2010/main" val="3911433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err="1"/>
              <a:t>Zlm</a:t>
            </a:r>
            <a:r>
              <a:rPr lang="en-US" altLang="zh-CN" dirty="0"/>
              <a:t>,</a:t>
            </a:r>
            <a:r>
              <a:rPr lang="zh-CN" altLang="en-US" dirty="0"/>
              <a:t>在</a:t>
            </a:r>
            <a:r>
              <a:rPr lang="en-US" altLang="zh-CN" dirty="0"/>
              <a:t>I(S1,S2)</a:t>
            </a:r>
            <a:r>
              <a:rPr lang="zh-CN" altLang="en-US" dirty="0"/>
              <a:t>函数中加入方括号区别于</a:t>
            </a:r>
            <a:r>
              <a:rPr lang="en-US" altLang="zh-CN" dirty="0" err="1"/>
              <a:t>infoGain</a:t>
            </a:r>
            <a:r>
              <a:rPr lang="zh-CN" altLang="en-US" dirty="0"/>
              <a:t>（</a:t>
            </a:r>
            <a:r>
              <a:rPr lang="en-US" altLang="zh-CN" dirty="0"/>
              <a:t>S,A</a:t>
            </a:r>
            <a:r>
              <a:rPr lang="zh-CN" altLang="en-US" dirty="0"/>
              <a:t>）</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13</a:t>
            </a:fld>
            <a:endParaRPr lang="zh-CN" altLang="en-US">
              <a:solidFill>
                <a:prstClr val="black"/>
              </a:solidFill>
            </a:endParaRPr>
          </a:p>
        </p:txBody>
      </p:sp>
    </p:spTree>
    <p:extLst>
      <p:ext uri="{BB962C8B-B14F-4D97-AF65-F5344CB8AC3E}">
        <p14:creationId xmlns:p14="http://schemas.microsoft.com/office/powerpoint/2010/main" val="2441944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思考继续完成完整的决策树？</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24</a:t>
            </a:fld>
            <a:endParaRPr lang="zh-CN" altLang="en-US"/>
          </a:p>
        </p:txBody>
      </p:sp>
    </p:spTree>
    <p:extLst>
      <p:ext uri="{BB962C8B-B14F-4D97-AF65-F5344CB8AC3E}">
        <p14:creationId xmlns:p14="http://schemas.microsoft.com/office/powerpoint/2010/main" val="1372827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pPr>
              <a:buFont typeface="Arial" charset="0"/>
              <a:buNone/>
            </a:pPr>
            <a:fld id="{E3775EBC-6141-45C6-A0BF-D68F28703F49}" type="slidenum">
              <a:rPr lang="en-US" altLang="zh-CN" smtClean="0">
                <a:solidFill>
                  <a:prstClr val="black"/>
                </a:solidFill>
              </a:rPr>
              <a:pPr>
                <a:buFont typeface="Arial" charset="0"/>
                <a:buNone/>
              </a:pPr>
              <a:t>25</a:t>
            </a:fld>
            <a:endParaRPr lang="en-US" altLang="zh-CN">
              <a:solidFill>
                <a:prstClr val="black"/>
              </a:solidFill>
            </a:endParaRPr>
          </a:p>
        </p:txBody>
      </p:sp>
      <p:sp>
        <p:nvSpPr>
          <p:cNvPr id="74755" name="Rectangle 2"/>
          <p:cNvSpPr>
            <a:spLocks noGrp="1" noRot="1" noChangeAspect="1" noChangeArrowheads="1" noTextEdit="1"/>
          </p:cNvSpPr>
          <p:nvPr>
            <p:ph type="sldImg"/>
          </p:nvPr>
        </p:nvSpPr>
        <p:spPr>
          <a:xfrm>
            <a:off x="111125" y="742950"/>
            <a:ext cx="6635750" cy="3733800"/>
          </a:xfrm>
          <a:solidFill>
            <a:srgbClr val="FFFFFF"/>
          </a:solidFill>
        </p:spPr>
      </p:sp>
      <p:sp>
        <p:nvSpPr>
          <p:cNvPr id="74756" name="Rectangle 3"/>
          <p:cNvSpPr>
            <a:spLocks noGrp="1" noChangeArrowheads="1"/>
          </p:cNvSpPr>
          <p:nvPr>
            <p:ph type="body" idx="1"/>
          </p:nvPr>
        </p:nvSpPr>
        <p:spPr>
          <a:xfrm>
            <a:off x="914401" y="4756041"/>
            <a:ext cx="5029200" cy="4478001"/>
          </a:xfrm>
          <a:solidFill>
            <a:srgbClr val="FFFFFF"/>
          </a:solidFill>
          <a:ln>
            <a:solidFill>
              <a:srgbClr val="000000"/>
            </a:solidFill>
          </a:ln>
        </p:spPr>
        <p:txBody>
          <a:bodyPr lIns="96382" tIns="48190" rIns="96382" bIns="48190"/>
          <a:lstStyle/>
          <a:p>
            <a:endParaRPr lang="zh-CN" altLang="zh-CN"/>
          </a:p>
        </p:txBody>
      </p:sp>
    </p:spTree>
    <p:extLst>
      <p:ext uri="{BB962C8B-B14F-4D97-AF65-F5344CB8AC3E}">
        <p14:creationId xmlns:p14="http://schemas.microsoft.com/office/powerpoint/2010/main" val="1118359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最大信息增益选择特征属性  的 缺点？？？</a:t>
            </a:r>
            <a:r>
              <a:rPr lang="en-US" altLang="zh-CN" dirty="0" err="1"/>
              <a:t>Zlm</a:t>
            </a:r>
            <a:endParaRPr lang="en-US" altLang="zh-CN" dirty="0"/>
          </a:p>
          <a:p>
            <a:r>
              <a:rPr lang="zh-CN" altLang="en-US" dirty="0"/>
              <a:t>一种特殊情况，如每个人的学号是唯一的，用信息增益来选特征的时候，必然会选用它做划分属性，此时很显然信息增益最大</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26</a:t>
            </a:fld>
            <a:endParaRPr lang="zh-CN" altLang="en-US">
              <a:solidFill>
                <a:prstClr val="black"/>
              </a:solidFill>
            </a:endParaRPr>
          </a:p>
        </p:txBody>
      </p:sp>
    </p:spTree>
    <p:extLst>
      <p:ext uri="{BB962C8B-B14F-4D97-AF65-F5344CB8AC3E}">
        <p14:creationId xmlns:p14="http://schemas.microsoft.com/office/powerpoint/2010/main" val="1506645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fontScale="77500" lnSpcReduction="20000"/>
          </a:bodyPr>
          <a:lstStyle/>
          <a:p>
            <a:r>
              <a:rPr lang="zh-CN" altLang="en-US" b="1" dirty="0"/>
              <a:t>（</a:t>
            </a:r>
            <a:r>
              <a:rPr lang="en-US" altLang="zh-CN" b="1" dirty="0"/>
              <a:t>2</a:t>
            </a:r>
            <a:r>
              <a:rPr lang="zh-CN" altLang="en-US" b="1" dirty="0"/>
              <a:t>）</a:t>
            </a:r>
            <a:r>
              <a:rPr lang="en-US" altLang="zh-CN" b="1" dirty="0"/>
              <a:t>C4.5</a:t>
            </a:r>
            <a:r>
              <a:rPr lang="zh-CN" altLang="en-US" b="1" dirty="0"/>
              <a:t>算法原理</a:t>
            </a:r>
            <a:endParaRPr lang="zh-CN" altLang="en-US" dirty="0"/>
          </a:p>
          <a:p>
            <a:r>
              <a:rPr lang="en-US" altLang="zh-CN" dirty="0"/>
              <a:t>C4.5</a:t>
            </a:r>
            <a:r>
              <a:rPr lang="zh-CN" altLang="en-US" dirty="0"/>
              <a:t>算法是对</a:t>
            </a:r>
            <a:r>
              <a:rPr lang="en-US" altLang="zh-CN" dirty="0"/>
              <a:t>ID3</a:t>
            </a:r>
            <a:r>
              <a:rPr lang="zh-CN" altLang="en-US" dirty="0"/>
              <a:t>算法做了改进，在生成决策树过程中采用信息增益比来选择特征。我们知道信息增益会偏向取值较多的特征，使用信息增益比可以对这一问题进行校正。</a:t>
            </a:r>
          </a:p>
          <a:p>
            <a:r>
              <a:rPr lang="zh-CN" altLang="en-US" dirty="0"/>
              <a:t>信息增益比定义：特征</a:t>
            </a:r>
            <a:r>
              <a:rPr lang="en-US" altLang="zh-CN" dirty="0"/>
              <a:t>A</a:t>
            </a:r>
            <a:r>
              <a:rPr lang="zh-CN" altLang="en-US" dirty="0"/>
              <a:t>对训练数据集</a:t>
            </a:r>
            <a:r>
              <a:rPr lang="en-US" altLang="zh-CN" dirty="0"/>
              <a:t>D</a:t>
            </a:r>
            <a:r>
              <a:rPr lang="zh-CN" altLang="en-US" dirty="0"/>
              <a:t>的信息增益比</a:t>
            </a:r>
            <a:r>
              <a:rPr lang="en-US" altLang="zh-CN" dirty="0" err="1"/>
              <a:t>GainRatio</a:t>
            </a:r>
            <a:r>
              <a:rPr lang="en-US" altLang="zh-CN" dirty="0"/>
              <a:t>(D,A)</a:t>
            </a:r>
            <a:r>
              <a:rPr lang="zh-CN" altLang="en-US" dirty="0"/>
              <a:t>定义为其信息增益</a:t>
            </a:r>
            <a:r>
              <a:rPr lang="en-US" altLang="zh-CN" dirty="0"/>
              <a:t>Gain(D,A)</a:t>
            </a:r>
            <a:r>
              <a:rPr lang="zh-CN" altLang="en-US" dirty="0"/>
              <a:t>与训练数据集</a:t>
            </a:r>
            <a:r>
              <a:rPr lang="en-US" altLang="zh-CN" dirty="0"/>
              <a:t>D</a:t>
            </a:r>
            <a:r>
              <a:rPr lang="zh-CN" altLang="en-US" dirty="0"/>
              <a:t>的经验熵</a:t>
            </a:r>
            <a:r>
              <a:rPr lang="en-US" altLang="zh-CN" dirty="0"/>
              <a:t>H(D)</a:t>
            </a:r>
            <a:r>
              <a:rPr lang="zh-CN" altLang="en-US" dirty="0"/>
              <a:t>之比。</a:t>
            </a:r>
          </a:p>
          <a:p>
            <a:r>
              <a:rPr lang="en-US" altLang="zh-CN" dirty="0"/>
              <a:t>C4.5</a:t>
            </a:r>
            <a:r>
              <a:rPr lang="zh-CN" altLang="en-US" dirty="0"/>
              <a:t>算法过程与</a:t>
            </a:r>
            <a:r>
              <a:rPr lang="en-US" altLang="zh-CN" dirty="0"/>
              <a:t>ID3</a:t>
            </a:r>
            <a:r>
              <a:rPr lang="zh-CN" altLang="en-US" dirty="0"/>
              <a:t>算法一样，区别就是将选择特征的方法由信息增益改成</a:t>
            </a:r>
            <a:r>
              <a:rPr lang="zh-CN" altLang="en-US" b="1" dirty="0"/>
              <a:t>信息增益比</a:t>
            </a:r>
            <a:r>
              <a:rPr lang="zh-CN" altLang="en-US" dirty="0"/>
              <a:t>。</a:t>
            </a:r>
          </a:p>
          <a:p>
            <a:r>
              <a:rPr lang="zh-CN" altLang="en-US" b="1" dirty="0"/>
              <a:t> </a:t>
            </a:r>
          </a:p>
          <a:p>
            <a:r>
              <a:rPr lang="zh-CN" altLang="en-US" b="1" dirty="0"/>
              <a:t>（</a:t>
            </a:r>
            <a:r>
              <a:rPr lang="en-US" altLang="zh-CN" b="1" dirty="0"/>
              <a:t>3</a:t>
            </a:r>
            <a:r>
              <a:rPr lang="zh-CN" altLang="en-US" b="1" dirty="0"/>
              <a:t>）</a:t>
            </a:r>
            <a:r>
              <a:rPr lang="en-US" altLang="zh-CN" b="1" dirty="0"/>
              <a:t>CART</a:t>
            </a:r>
            <a:r>
              <a:rPr lang="zh-CN" altLang="en-US" b="1" dirty="0"/>
              <a:t>算法原理</a:t>
            </a:r>
            <a:endParaRPr lang="zh-CN" altLang="en-US" dirty="0"/>
          </a:p>
          <a:p>
            <a:r>
              <a:rPr lang="zh-CN" altLang="en-US" b="1" dirty="0"/>
              <a:t>基尼指数</a:t>
            </a:r>
            <a:r>
              <a:rPr lang="en-US" altLang="zh-CN" b="1" dirty="0"/>
              <a:t>Gini(D)</a:t>
            </a:r>
            <a:r>
              <a:rPr lang="zh-CN" altLang="en-US" dirty="0"/>
              <a:t>表示集合</a:t>
            </a:r>
            <a:r>
              <a:rPr lang="en-US" altLang="zh-CN" dirty="0"/>
              <a:t>D</a:t>
            </a:r>
            <a:r>
              <a:rPr lang="zh-CN" altLang="en-US" dirty="0"/>
              <a:t>的不确定性，基尼指数</a:t>
            </a:r>
            <a:r>
              <a:rPr lang="en-US" altLang="zh-CN" dirty="0"/>
              <a:t>Gini(D,A)</a:t>
            </a:r>
            <a:r>
              <a:rPr lang="zh-CN" altLang="en-US" dirty="0"/>
              <a:t>表示经</a:t>
            </a:r>
            <a:r>
              <a:rPr lang="en-US" altLang="zh-CN" dirty="0"/>
              <a:t>A=a</a:t>
            </a:r>
            <a:r>
              <a:rPr lang="zh-CN" altLang="en-US" dirty="0"/>
              <a:t>分割后集合</a:t>
            </a:r>
            <a:r>
              <a:rPr lang="en-US" altLang="zh-CN" dirty="0"/>
              <a:t>D</a:t>
            </a:r>
            <a:r>
              <a:rPr lang="zh-CN" altLang="en-US" dirty="0"/>
              <a:t>的不确定性。基尼指数值越大，样本集合的不确定性也就越大，这一点跟熵相似。</a:t>
            </a:r>
          </a:p>
          <a:p>
            <a:endParaRPr lang="en-US" altLang="zh-CN" dirty="0"/>
          </a:p>
          <a:p>
            <a:r>
              <a:rPr lang="en-US" altLang="zh-CN" dirty="0"/>
              <a:t>2. C4.5</a:t>
            </a:r>
          </a:p>
          <a:p>
            <a:r>
              <a:rPr lang="en-US" altLang="zh-CN" dirty="0"/>
              <a:t>ID3</a:t>
            </a:r>
            <a:r>
              <a:rPr lang="zh-CN" altLang="en-US" dirty="0"/>
              <a:t>算法有两个明显的缺点：</a:t>
            </a:r>
            <a:r>
              <a:rPr lang="en-US" altLang="zh-CN" dirty="0"/>
              <a:t>1</a:t>
            </a:r>
            <a:r>
              <a:rPr lang="zh-CN" altLang="en-US" dirty="0"/>
              <a:t>）使用信息增益进行特征选择，但信息增益是一个绝对的概念，与训练集本身的离散程度有很大的关系，当训练集本身离散程度很高时，其可改进的空间更大，能够获得的信息增益更大，反之更小，这会导致很难在开始训练前就确定一个较为合理的阈值</a:t>
            </a:r>
            <a:r>
              <a:rPr lang="en-US" altLang="zh-CN" dirty="0"/>
              <a:t>ϵ \epsilonϵ</a:t>
            </a:r>
            <a:r>
              <a:rPr lang="zh-CN" altLang="en-US" dirty="0"/>
              <a:t>。</a:t>
            </a:r>
            <a:r>
              <a:rPr lang="en-US" altLang="zh-CN" dirty="0"/>
              <a:t>2</a:t>
            </a:r>
            <a:r>
              <a:rPr lang="zh-CN" altLang="en-US" dirty="0"/>
              <a:t>）需要一直进行到没有特征可选为止，特征很多时树深度可能很深，无关紧要的特征也会被精确分析，从而导致过拟合。</a:t>
            </a:r>
            <a:endParaRPr lang="en-US" altLang="zh-CN" dirty="0"/>
          </a:p>
          <a:p>
            <a:r>
              <a:rPr lang="zh-CN" altLang="en-US" dirty="0"/>
              <a:t>因此，</a:t>
            </a:r>
            <a:r>
              <a:rPr lang="en-US" altLang="zh-CN" dirty="0"/>
              <a:t>C4.5</a:t>
            </a:r>
            <a:r>
              <a:rPr lang="zh-CN" altLang="en-US" dirty="0"/>
              <a:t>算法做出了两个改进。</a:t>
            </a:r>
            <a:r>
              <a:rPr lang="en-US" altLang="zh-CN" dirty="0"/>
              <a:t>2.1 </a:t>
            </a:r>
            <a:r>
              <a:rPr lang="zh-CN" altLang="en-US" dirty="0"/>
              <a:t>使用信息增益比</a:t>
            </a:r>
            <a:endParaRPr lang="en-US" altLang="zh-CN" dirty="0"/>
          </a:p>
          <a:p>
            <a:r>
              <a:rPr lang="en-US" altLang="zh-CN" b="1" dirty="0"/>
              <a:t>2.2 </a:t>
            </a:r>
            <a:r>
              <a:rPr lang="zh-CN" altLang="en-US" b="1" dirty="0"/>
              <a:t>剪枝</a:t>
            </a:r>
          </a:p>
          <a:p>
            <a:r>
              <a:rPr lang="zh-CN" altLang="en-US" dirty="0"/>
              <a:t>既然知道了过拟合产生的原因是为了精确拟合训练集而形成了过于复杂的模型，那么剪枝就是要控制模型的复杂度，通过以下正则化的损失函数公式来实现：</a:t>
            </a:r>
          </a:p>
          <a:p>
            <a:endParaRPr lang="zh-CN" altLang="en-US" dirty="0"/>
          </a:p>
          <a:p>
            <a:r>
              <a:rPr lang="en-US" altLang="zh-CN" dirty="0"/>
              <a:t>————————————————</a:t>
            </a:r>
          </a:p>
          <a:p>
            <a:r>
              <a:rPr lang="zh-CN" altLang="en-US" dirty="0"/>
              <a:t>版权声明：本文为</a:t>
            </a:r>
            <a:r>
              <a:rPr lang="en-US" altLang="zh-CN" dirty="0"/>
              <a:t>CSDN</a:t>
            </a:r>
            <a:r>
              <a:rPr lang="zh-CN" altLang="en-US" dirty="0"/>
              <a:t>博主「小白白白又白</a:t>
            </a:r>
            <a:r>
              <a:rPr lang="en-US" altLang="zh-CN" dirty="0" err="1"/>
              <a:t>cdllp</a:t>
            </a:r>
            <a:r>
              <a:rPr lang="zh-CN" altLang="en-US" dirty="0"/>
              <a:t>」的原创文章，遵循</a:t>
            </a:r>
            <a:r>
              <a:rPr lang="en-US" altLang="zh-CN" dirty="0"/>
              <a:t>CC 4.0 BY-SA</a:t>
            </a:r>
            <a:r>
              <a:rPr lang="zh-CN" altLang="en-US" dirty="0"/>
              <a:t>版权协议，转载请附上原文出处链接及本声明。</a:t>
            </a:r>
          </a:p>
          <a:p>
            <a:r>
              <a:rPr lang="zh-CN" altLang="en-US" dirty="0"/>
              <a:t>原文链接：</a:t>
            </a:r>
            <a:r>
              <a:rPr lang="en-US" altLang="zh-CN" dirty="0"/>
              <a:t>https://blog.csdn.net/weixin_39750084/article/details/83449866</a:t>
            </a:r>
          </a:p>
          <a:p>
            <a:endParaRPr lang="en-US" altLang="zh-CN" dirty="0"/>
          </a:p>
          <a:p>
            <a:endParaRPr lang="en-US" altLang="zh-CN" dirty="0"/>
          </a:p>
          <a:p>
            <a:r>
              <a:rPr lang="zh-CN" altLang="en-US" dirty="0"/>
              <a:t>不同于前两种算法预测结果为分类结果，</a:t>
            </a:r>
            <a:r>
              <a:rPr lang="en-US" altLang="zh-CN" dirty="0"/>
              <a:t>CART</a:t>
            </a:r>
            <a:r>
              <a:rPr lang="zh-CN" altLang="en-US" dirty="0"/>
              <a:t>的预测结果为概率值。并且改进了前两种算法中的一个缺点：使用信息增益或信息增益比时，可选值多的特征往往有更高的信息增益，这个可以自己做一下实验。所以在</a:t>
            </a:r>
            <a:r>
              <a:rPr lang="en-US" altLang="zh-CN" dirty="0"/>
              <a:t>CART</a:t>
            </a:r>
            <a:r>
              <a:rPr lang="zh-CN" altLang="en-US" dirty="0"/>
              <a:t>树中，不再采用信息增益或信息增益比，而是在做回归时采用平方误差最小化准则，在做分类时采用基尼指数最小化准则</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27</a:t>
            </a:fld>
            <a:endParaRPr lang="zh-CN" altLang="en-US"/>
          </a:p>
        </p:txBody>
      </p:sp>
    </p:spTree>
    <p:extLst>
      <p:ext uri="{BB962C8B-B14F-4D97-AF65-F5344CB8AC3E}">
        <p14:creationId xmlns:p14="http://schemas.microsoft.com/office/powerpoint/2010/main" val="840562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err="1"/>
              <a:t>zlm</a:t>
            </a:r>
            <a:r>
              <a:rPr lang="zh-CN" altLang="en-US" dirty="0"/>
              <a:t>和下一页合并。此处的定义描述不太清楚，是否换成李航书上的？</a:t>
            </a:r>
            <a:endParaRPr lang="en-US" altLang="zh-CN" dirty="0"/>
          </a:p>
          <a:p>
            <a:r>
              <a:rPr lang="zh-CN" altLang="en-US" dirty="0"/>
              <a:t>李航书上的定义更清晰：</a:t>
            </a:r>
            <a:endParaRPr lang="en-US" altLang="zh-CN" dirty="0"/>
          </a:p>
          <a:p>
            <a:r>
              <a:rPr lang="zh-CN" altLang="en-US" dirty="0"/>
              <a:t>计算各特征的基尼指数，选取最优特征及最优切分点</a:t>
            </a:r>
            <a:endParaRPr lang="en-US" altLang="zh-CN" dirty="0"/>
          </a:p>
          <a:p>
            <a:r>
              <a:rPr lang="zh-CN" altLang="en-US" dirty="0"/>
              <a:t>比较数据集在不同的特征</a:t>
            </a:r>
            <a:r>
              <a:rPr lang="en-US" altLang="zh-CN" dirty="0"/>
              <a:t>Ai</a:t>
            </a:r>
            <a:r>
              <a:rPr lang="zh-CN" altLang="en-US" dirty="0"/>
              <a:t>及特征取值</a:t>
            </a:r>
            <a:r>
              <a:rPr lang="en-US" altLang="zh-CN" dirty="0"/>
              <a:t>x</a:t>
            </a:r>
            <a:r>
              <a:rPr lang="zh-CN" altLang="en-US" dirty="0"/>
              <a:t>的切分下的基尼指数</a:t>
            </a:r>
            <a:r>
              <a:rPr lang="en-US" altLang="zh-CN" dirty="0"/>
              <a:t>Gini</a:t>
            </a:r>
            <a:r>
              <a:rPr lang="zh-CN" altLang="en-US" dirty="0"/>
              <a:t>（</a:t>
            </a:r>
            <a:r>
              <a:rPr lang="en-US" altLang="zh-CN" dirty="0" err="1"/>
              <a:t>D,Ai</a:t>
            </a:r>
            <a:r>
              <a:rPr lang="en-US" altLang="zh-CN" dirty="0"/>
              <a:t>=x</a:t>
            </a:r>
            <a:r>
              <a:rPr lang="zh-CN" altLang="en-US" dirty="0"/>
              <a:t>）</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30</a:t>
            </a:fld>
            <a:endParaRPr lang="zh-CN" altLang="en-US"/>
          </a:p>
        </p:txBody>
      </p:sp>
    </p:spTree>
    <p:extLst>
      <p:ext uri="{BB962C8B-B14F-4D97-AF65-F5344CB8AC3E}">
        <p14:creationId xmlns:p14="http://schemas.microsoft.com/office/powerpoint/2010/main" val="1248813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两页合</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31</a:t>
            </a:fld>
            <a:endParaRPr lang="zh-CN" altLang="en-US"/>
          </a:p>
        </p:txBody>
      </p:sp>
    </p:spTree>
    <p:extLst>
      <p:ext uri="{BB962C8B-B14F-4D97-AF65-F5344CB8AC3E}">
        <p14:creationId xmlns:p14="http://schemas.microsoft.com/office/powerpoint/2010/main" val="673606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本例可用，</a:t>
            </a:r>
            <a:r>
              <a:rPr lang="en-US" altLang="zh-CN" dirty="0"/>
              <a:t>2021zlm</a:t>
            </a:r>
            <a:r>
              <a:rPr lang="zh-CN" altLang="en-US" dirty="0"/>
              <a:t>修改版面</a:t>
            </a:r>
          </a:p>
        </p:txBody>
      </p:sp>
      <p:sp>
        <p:nvSpPr>
          <p:cNvPr id="4" name="灯片编号占位符 3"/>
          <p:cNvSpPr>
            <a:spLocks noGrp="1"/>
          </p:cNvSpPr>
          <p:nvPr>
            <p:ph type="sldNum" sz="quarter" idx="10"/>
          </p:nvPr>
        </p:nvSpPr>
        <p:spPr/>
        <p:txBody>
          <a:bodyPr/>
          <a:lstStyle/>
          <a:p>
            <a:pPr defTabSz="886511">
              <a:defRPr/>
            </a:pPr>
            <a:fld id="{064F8E74-9C04-43EC-B268-D3C0C73A25C8}" type="slidenum">
              <a:rPr lang="zh-CN" altLang="en-US">
                <a:solidFill>
                  <a:prstClr val="black"/>
                </a:solidFill>
                <a:ea typeface="宋体" panose="02010600030101010101" pitchFamily="2" charset="-122"/>
              </a:rPr>
              <a:pPr defTabSz="886511">
                <a:defRPr/>
              </a:pPr>
              <a:t>33</a:t>
            </a:fld>
            <a:endParaRPr lang="zh-CN" altLang="en-US">
              <a:solidFill>
                <a:prstClr val="black"/>
              </a:solidFill>
              <a:ea typeface="宋体" panose="02010600030101010101" pitchFamily="2" charset="-122"/>
            </a:endParaRPr>
          </a:p>
        </p:txBody>
      </p:sp>
    </p:spTree>
    <p:extLst>
      <p:ext uri="{BB962C8B-B14F-4D97-AF65-F5344CB8AC3E}">
        <p14:creationId xmlns:p14="http://schemas.microsoft.com/office/powerpoint/2010/main" val="298411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信息增益的计算见上一一节的最后三页</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34</a:t>
            </a:fld>
            <a:endParaRPr lang="zh-CN" altLang="en-US"/>
          </a:p>
        </p:txBody>
      </p:sp>
    </p:spTree>
    <p:extLst>
      <p:ext uri="{BB962C8B-B14F-4D97-AF65-F5344CB8AC3E}">
        <p14:creationId xmlns:p14="http://schemas.microsoft.com/office/powerpoint/2010/main" val="2934013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err="1"/>
              <a:t>Zlm</a:t>
            </a:r>
            <a:r>
              <a:rPr lang="zh-CN" altLang="en-US" dirty="0"/>
              <a:t>：编码时除了四个属性的编码所需的比特数，还需要</a:t>
            </a:r>
            <a:r>
              <a:rPr lang="en-US" altLang="zh-CN" dirty="0"/>
              <a:t>20</a:t>
            </a:r>
            <a:r>
              <a:rPr lang="zh-CN" altLang="en-US" dirty="0"/>
              <a:t>个比特数，每个比特数表示</a:t>
            </a:r>
            <a:r>
              <a:rPr lang="en-US" altLang="zh-CN" dirty="0"/>
              <a:t>1,0</a:t>
            </a:r>
            <a:r>
              <a:rPr lang="zh-CN" altLang="en-US" dirty="0"/>
              <a:t>，或</a:t>
            </a:r>
            <a:r>
              <a:rPr lang="en-US" altLang="zh-CN" dirty="0"/>
              <a:t>P</a:t>
            </a:r>
            <a:r>
              <a:rPr lang="zh-CN" altLang="en-US" dirty="0"/>
              <a:t>、</a:t>
            </a:r>
            <a:r>
              <a:rPr lang="en-US" altLang="zh-CN" dirty="0"/>
              <a:t>N</a:t>
            </a:r>
            <a:r>
              <a:rPr lang="zh-CN" altLang="en-US" dirty="0"/>
              <a:t>。</a:t>
            </a:r>
            <a:endParaRPr lang="en-US" altLang="zh-CN" dirty="0"/>
          </a:p>
          <a:p>
            <a:r>
              <a:rPr lang="zh-CN" altLang="en-US" dirty="0">
                <a:latin typeface="Times New Roman" pitchFamily="18" charset="0"/>
                <a:ea typeface="楷体_GB2312" pitchFamily="49" charset="-122"/>
              </a:rPr>
              <a:t>表示根节点上的</a:t>
            </a:r>
            <a:r>
              <a:rPr lang="en-US" altLang="zh-CN" dirty="0">
                <a:latin typeface="Times New Roman" pitchFamily="18" charset="0"/>
                <a:ea typeface="楷体_GB2312" pitchFamily="49" charset="-122"/>
              </a:rPr>
              <a:t>Outlook</a:t>
            </a:r>
            <a:r>
              <a:rPr lang="zh-CN" altLang="en-US" dirty="0">
                <a:latin typeface="Times New Roman" pitchFamily="18" charset="0"/>
                <a:ea typeface="楷体_GB2312" pitchFamily="49" charset="-122"/>
              </a:rPr>
              <a:t>需要两个比特</a:t>
            </a:r>
            <a:r>
              <a:rPr lang="en-US" altLang="zh-CN" dirty="0">
                <a:latin typeface="Times New Roman" pitchFamily="18" charset="0"/>
                <a:ea typeface="楷体_GB2312" pitchFamily="49" charset="-122"/>
              </a:rPr>
              <a:t>( </a:t>
            </a:r>
            <a:r>
              <a:rPr lang="zh-CN" altLang="en-US" dirty="0">
                <a:latin typeface="Times New Roman" pitchFamily="18" charset="0"/>
                <a:ea typeface="楷体_GB2312" pitchFamily="49" charset="-122"/>
              </a:rPr>
              <a:t>有四种可能 </a:t>
            </a:r>
            <a:r>
              <a:rPr lang="en-US" altLang="zh-CN" dirty="0">
                <a:latin typeface="Times New Roman" pitchFamily="18" charset="0"/>
                <a:ea typeface="楷体_GB2312" pitchFamily="49" charset="-122"/>
              </a:rPr>
              <a:t>)</a:t>
            </a:r>
            <a:r>
              <a:rPr lang="zh-CN" altLang="en-US" dirty="0">
                <a:latin typeface="Times New Roman" pitchFamily="18" charset="0"/>
                <a:ea typeface="楷体_GB2312" pitchFamily="49" charset="-122"/>
              </a:rPr>
              <a:t>；表示下一层的属性</a:t>
            </a:r>
            <a:r>
              <a:rPr lang="en-US" altLang="zh-CN" dirty="0">
                <a:latin typeface="Times New Roman" pitchFamily="18" charset="0"/>
                <a:ea typeface="楷体_GB2312" pitchFamily="49" charset="-122"/>
              </a:rPr>
              <a:t>Humidity</a:t>
            </a:r>
            <a:r>
              <a:rPr lang="zh-CN" altLang="en-US" dirty="0">
                <a:latin typeface="Times New Roman" pitchFamily="18" charset="0"/>
                <a:ea typeface="楷体_GB2312" pitchFamily="49" charset="-122"/>
              </a:rPr>
              <a:t>需要</a:t>
            </a:r>
            <a:r>
              <a:rPr lang="en-US" altLang="zh-CN" dirty="0">
                <a:latin typeface="Times New Roman" pitchFamily="18" charset="0"/>
                <a:ea typeface="楷体_GB2312" pitchFamily="49" charset="-122"/>
              </a:rPr>
              <a:t>log</a:t>
            </a:r>
            <a:r>
              <a:rPr lang="en-US" altLang="zh-CN" baseline="-25000" dirty="0">
                <a:latin typeface="Times New Roman" pitchFamily="18" charset="0"/>
                <a:ea typeface="楷体_GB2312" pitchFamily="49" charset="-122"/>
              </a:rPr>
              <a:t>2</a:t>
            </a:r>
            <a:r>
              <a:rPr lang="en-US" altLang="zh-CN" dirty="0">
                <a:latin typeface="Times New Roman" pitchFamily="18" charset="0"/>
                <a:ea typeface="楷体_GB2312" pitchFamily="49" charset="-122"/>
              </a:rPr>
              <a:t>3</a:t>
            </a:r>
            <a:r>
              <a:rPr lang="zh-CN" altLang="en-US" dirty="0">
                <a:latin typeface="Times New Roman" pitchFamily="18" charset="0"/>
                <a:ea typeface="楷体_GB2312" pitchFamily="49" charset="-122"/>
              </a:rPr>
              <a:t>个比特</a:t>
            </a:r>
            <a:r>
              <a:rPr lang="en-US" altLang="zh-CN" dirty="0">
                <a:latin typeface="Times New Roman" pitchFamily="18" charset="0"/>
                <a:ea typeface="楷体_GB2312" pitchFamily="49" charset="-122"/>
              </a:rPr>
              <a:t>( Outlook</a:t>
            </a:r>
            <a:r>
              <a:rPr lang="zh-CN" altLang="en-US" dirty="0">
                <a:latin typeface="Times New Roman" pitchFamily="18" charset="0"/>
                <a:ea typeface="楷体_GB2312" pitchFamily="49" charset="-122"/>
              </a:rPr>
              <a:t>已被选出</a:t>
            </a:r>
            <a:r>
              <a:rPr lang="en-US" altLang="zh-CN" dirty="0">
                <a:latin typeface="Times New Roman" pitchFamily="18" charset="0"/>
                <a:ea typeface="楷体_GB2312" pitchFamily="49" charset="-122"/>
              </a:rPr>
              <a:t>)</a:t>
            </a:r>
            <a:r>
              <a:rPr lang="zh-CN" altLang="en-US" dirty="0">
                <a:latin typeface="Times New Roman" pitchFamily="18" charset="0"/>
                <a:ea typeface="楷体_GB2312" pitchFamily="49" charset="-122"/>
              </a:rPr>
              <a:t>；表示属性</a:t>
            </a:r>
            <a:r>
              <a:rPr lang="en-US" altLang="zh-CN" dirty="0">
                <a:latin typeface="Times New Roman" pitchFamily="18" charset="0"/>
                <a:ea typeface="楷体_GB2312" pitchFamily="49" charset="-122"/>
              </a:rPr>
              <a:t>Windy</a:t>
            </a:r>
            <a:r>
              <a:rPr lang="zh-CN" altLang="en-US" dirty="0">
                <a:latin typeface="Times New Roman" pitchFamily="18" charset="0"/>
                <a:ea typeface="楷体_GB2312" pitchFamily="49" charset="-122"/>
              </a:rPr>
              <a:t>需要</a:t>
            </a:r>
            <a:r>
              <a:rPr lang="en-US" altLang="zh-CN" dirty="0">
                <a:latin typeface="Times New Roman" pitchFamily="18" charset="0"/>
                <a:ea typeface="楷体_GB2312" pitchFamily="49" charset="-122"/>
              </a:rPr>
              <a:t>1</a:t>
            </a:r>
            <a:r>
              <a:rPr lang="zh-CN" altLang="en-US" dirty="0">
                <a:latin typeface="Times New Roman" pitchFamily="18" charset="0"/>
                <a:ea typeface="楷体_GB2312" pitchFamily="49" charset="-122"/>
              </a:rPr>
              <a:t>个比特；表示</a:t>
            </a:r>
            <a:r>
              <a:rPr lang="en-US" altLang="zh-CN" dirty="0">
                <a:latin typeface="Times New Roman" pitchFamily="18" charset="0"/>
                <a:ea typeface="楷体_GB2312" pitchFamily="49" charset="-122"/>
              </a:rPr>
              <a:t>Temperature</a:t>
            </a:r>
            <a:r>
              <a:rPr lang="zh-CN" altLang="en-US" dirty="0">
                <a:latin typeface="Times New Roman" pitchFamily="18" charset="0"/>
                <a:ea typeface="楷体_GB2312" pitchFamily="49" charset="-122"/>
              </a:rPr>
              <a:t>需要</a:t>
            </a:r>
            <a:r>
              <a:rPr lang="en-US" altLang="zh-CN" dirty="0">
                <a:latin typeface="Times New Roman" pitchFamily="18" charset="0"/>
                <a:ea typeface="楷体_GB2312" pitchFamily="49" charset="-122"/>
              </a:rPr>
              <a:t>1</a:t>
            </a:r>
            <a:r>
              <a:rPr lang="zh-CN" altLang="en-US" dirty="0">
                <a:latin typeface="Times New Roman" pitchFamily="18" charset="0"/>
                <a:ea typeface="楷体_GB2312" pitchFamily="49" charset="-122"/>
              </a:rPr>
              <a:t>个比特</a:t>
            </a:r>
            <a:r>
              <a:rPr lang="en-US" altLang="zh-CN" dirty="0">
                <a:latin typeface="Times New Roman" pitchFamily="18" charset="0"/>
                <a:ea typeface="楷体_GB2312" pitchFamily="49" charset="-122"/>
              </a:rPr>
              <a:t>( </a:t>
            </a:r>
            <a:r>
              <a:rPr lang="zh-CN" altLang="en-US" dirty="0">
                <a:latin typeface="Times New Roman" pitchFamily="18" charset="0"/>
                <a:ea typeface="楷体_GB2312" pitchFamily="49" charset="-122"/>
              </a:rPr>
              <a:t>其实一个都不需要 </a:t>
            </a:r>
            <a:r>
              <a:rPr lang="en-US" altLang="zh-CN" dirty="0">
                <a:latin typeface="Times New Roman" pitchFamily="18" charset="0"/>
                <a:ea typeface="楷体_GB2312" pitchFamily="49" charset="-122"/>
              </a:rPr>
              <a:t>)</a:t>
            </a:r>
            <a:r>
              <a:rPr lang="zh-CN" altLang="en-US" dirty="0">
                <a:latin typeface="Times New Roman" pitchFamily="18" charset="0"/>
                <a:ea typeface="楷体_GB2312" pitchFamily="49" charset="-122"/>
              </a:rPr>
              <a:t>。</a:t>
            </a:r>
            <a:endParaRPr lang="en-US" altLang="zh-CN" dirty="0">
              <a:latin typeface="Times New Roman" pitchFamily="18" charset="0"/>
              <a:ea typeface="楷体_GB2312" pitchFamily="49" charset="-122"/>
            </a:endParaRPr>
          </a:p>
          <a:p>
            <a:r>
              <a:rPr lang="zh-CN" altLang="en-US" dirty="0">
                <a:latin typeface="Times New Roman" pitchFamily="18" charset="0"/>
                <a:ea typeface="楷体_GB2312" pitchFamily="49" charset="-122"/>
              </a:rPr>
              <a:t>原因？？？？</a:t>
            </a:r>
            <a:endParaRPr lang="en-US" altLang="zh-CN" dirty="0">
              <a:latin typeface="Times New Roman" pitchFamily="18" charset="0"/>
              <a:ea typeface="楷体_GB2312" pitchFamily="49" charset="-122"/>
            </a:endParaRPr>
          </a:p>
          <a:p>
            <a:r>
              <a:rPr lang="zh-CN" altLang="en-US" dirty="0">
                <a:latin typeface="Times New Roman" pitchFamily="18" charset="0"/>
                <a:ea typeface="楷体_GB2312" pitchFamily="49" charset="-122"/>
              </a:rPr>
              <a:t>一共有四种属性</a:t>
            </a:r>
            <a:endParaRPr lang="en-US" altLang="zh-CN" dirty="0">
              <a:latin typeface="Times New Roman" pitchFamily="18" charset="0"/>
              <a:ea typeface="楷体_GB2312" pitchFamily="49" charset="-122"/>
            </a:endParaRPr>
          </a:p>
          <a:p>
            <a:r>
              <a:rPr lang="en-US" altLang="zh-CN" dirty="0">
                <a:latin typeface="Times New Roman" pitchFamily="18" charset="0"/>
                <a:ea typeface="楷体_GB2312" pitchFamily="49" charset="-122"/>
              </a:rPr>
              <a:t>1</a:t>
            </a:r>
            <a:r>
              <a:rPr lang="zh-CN" altLang="en-US" dirty="0">
                <a:latin typeface="Times New Roman" pitchFamily="18" charset="0"/>
                <a:ea typeface="楷体_GB2312" pitchFamily="49" charset="-122"/>
              </a:rPr>
              <a:t>）第一次确定</a:t>
            </a:r>
            <a:r>
              <a:rPr lang="en-US" altLang="zh-CN" dirty="0">
                <a:latin typeface="Times New Roman" pitchFamily="18" charset="0"/>
                <a:ea typeface="楷体_GB2312" pitchFamily="49" charset="-122"/>
              </a:rPr>
              <a:t>outlook</a:t>
            </a:r>
            <a:r>
              <a:rPr lang="zh-CN" altLang="en-US" dirty="0">
                <a:latin typeface="Times New Roman" pitchFamily="18" charset="0"/>
                <a:ea typeface="楷体_GB2312" pitchFamily="49" charset="-122"/>
              </a:rPr>
              <a:t>属性时，属性的总可能性为</a:t>
            </a:r>
            <a:r>
              <a:rPr lang="en-US" altLang="zh-CN" dirty="0">
                <a:latin typeface="Times New Roman" pitchFamily="18" charset="0"/>
                <a:ea typeface="楷体_GB2312" pitchFamily="49" charset="-122"/>
              </a:rPr>
              <a:t>4</a:t>
            </a:r>
            <a:r>
              <a:rPr lang="zh-CN" altLang="en-US" dirty="0">
                <a:latin typeface="Times New Roman" pitchFamily="18" charset="0"/>
                <a:ea typeface="楷体_GB2312" pitchFamily="49" charset="-122"/>
              </a:rPr>
              <a:t>，故需要表达这四种可能需要</a:t>
            </a:r>
            <a:r>
              <a:rPr lang="en-US" altLang="zh-CN" dirty="0">
                <a:latin typeface="Times New Roman" pitchFamily="18" charset="0"/>
                <a:ea typeface="楷体_GB2312" pitchFamily="49" charset="-122"/>
              </a:rPr>
              <a:t>log</a:t>
            </a:r>
            <a:r>
              <a:rPr lang="en-US" altLang="zh-CN" baseline="-25000" dirty="0">
                <a:latin typeface="Times New Roman" pitchFamily="18" charset="0"/>
                <a:ea typeface="楷体_GB2312" pitchFamily="49" charset="-122"/>
              </a:rPr>
              <a:t>2</a:t>
            </a:r>
            <a:r>
              <a:rPr lang="en-US" altLang="zh-CN" dirty="0">
                <a:latin typeface="Times New Roman" pitchFamily="18" charset="0"/>
                <a:ea typeface="楷体_GB2312" pitchFamily="49" charset="-122"/>
              </a:rPr>
              <a:t>4=2</a:t>
            </a:r>
            <a:r>
              <a:rPr lang="zh-CN" altLang="en-US" dirty="0">
                <a:latin typeface="Times New Roman" pitchFamily="18" charset="0"/>
                <a:ea typeface="楷体_GB2312" pitchFamily="49" charset="-122"/>
              </a:rPr>
              <a:t>；</a:t>
            </a:r>
            <a:endParaRPr lang="en-US" altLang="zh-CN" dirty="0">
              <a:latin typeface="Times New Roman" pitchFamily="18" charset="0"/>
              <a:ea typeface="楷体_GB2312" pitchFamily="49" charset="-122"/>
            </a:endParaRPr>
          </a:p>
          <a:p>
            <a:r>
              <a:rPr lang="en-US" altLang="zh-CN" dirty="0">
                <a:latin typeface="Times New Roman" pitchFamily="18" charset="0"/>
                <a:ea typeface="楷体_GB2312" pitchFamily="49" charset="-122"/>
              </a:rPr>
              <a:t>2</a:t>
            </a:r>
            <a:r>
              <a:rPr lang="zh-CN" altLang="en-US" dirty="0">
                <a:latin typeface="Times New Roman" pitchFamily="18" charset="0"/>
                <a:ea typeface="楷体_GB2312" pitchFamily="49" charset="-122"/>
              </a:rPr>
              <a:t>）依次删选属性时，每一个中间节点可能性依次为</a:t>
            </a:r>
            <a:r>
              <a:rPr lang="en-US" altLang="zh-CN" dirty="0">
                <a:latin typeface="Times New Roman" pitchFamily="18" charset="0"/>
                <a:ea typeface="楷体_GB2312" pitchFamily="49" charset="-122"/>
              </a:rPr>
              <a:t>3/2/1</a:t>
            </a:r>
            <a:r>
              <a:rPr lang="zh-CN" altLang="en-US" dirty="0">
                <a:latin typeface="Times New Roman" pitchFamily="18" charset="0"/>
                <a:ea typeface="楷体_GB2312" pitchFamily="49" charset="-122"/>
              </a:rPr>
              <a:t>种，需要</a:t>
            </a:r>
            <a:r>
              <a:rPr lang="en-US" altLang="zh-CN" dirty="0">
                <a:latin typeface="Times New Roman" pitchFamily="18" charset="0"/>
                <a:ea typeface="楷体_GB2312" pitchFamily="49" charset="-122"/>
              </a:rPr>
              <a:t>log</a:t>
            </a:r>
            <a:r>
              <a:rPr lang="en-US" altLang="zh-CN" baseline="-25000" dirty="0">
                <a:latin typeface="Times New Roman" pitchFamily="18" charset="0"/>
                <a:ea typeface="楷体_GB2312" pitchFamily="49" charset="-122"/>
              </a:rPr>
              <a:t>2</a:t>
            </a:r>
            <a:r>
              <a:rPr lang="en-US" altLang="zh-CN" dirty="0">
                <a:latin typeface="Times New Roman" pitchFamily="18" charset="0"/>
                <a:ea typeface="楷体_GB2312" pitchFamily="49" charset="-122"/>
              </a:rPr>
              <a:t>3</a:t>
            </a:r>
            <a:r>
              <a:rPr lang="zh-CN" altLang="en-US" dirty="0">
                <a:latin typeface="Times New Roman" pitchFamily="18" charset="0"/>
                <a:ea typeface="楷体_GB2312" pitchFamily="49" charset="-122"/>
              </a:rPr>
              <a:t>、</a:t>
            </a:r>
            <a:r>
              <a:rPr lang="en-US" altLang="zh-CN" dirty="0">
                <a:latin typeface="Times New Roman" pitchFamily="18" charset="0"/>
                <a:ea typeface="楷体_GB2312" pitchFamily="49" charset="-122"/>
              </a:rPr>
              <a:t>log</a:t>
            </a:r>
            <a:r>
              <a:rPr lang="en-US" altLang="zh-CN" baseline="-25000" dirty="0">
                <a:latin typeface="Times New Roman" pitchFamily="18" charset="0"/>
                <a:ea typeface="楷体_GB2312" pitchFamily="49" charset="-122"/>
              </a:rPr>
              <a:t>2</a:t>
            </a:r>
            <a:r>
              <a:rPr lang="en-US" altLang="zh-CN" dirty="0">
                <a:latin typeface="Times New Roman" pitchFamily="18" charset="0"/>
                <a:ea typeface="楷体_GB2312" pitchFamily="49" charset="-122"/>
              </a:rPr>
              <a:t>2</a:t>
            </a:r>
            <a:r>
              <a:rPr lang="zh-CN" altLang="en-US" dirty="0">
                <a:latin typeface="Times New Roman" pitchFamily="18" charset="0"/>
                <a:ea typeface="楷体_GB2312" pitchFamily="49" charset="-122"/>
              </a:rPr>
              <a:t>、</a:t>
            </a:r>
            <a:r>
              <a:rPr lang="en-US" altLang="zh-CN" dirty="0">
                <a:latin typeface="Times New Roman" pitchFamily="18" charset="0"/>
                <a:ea typeface="楷体_GB2312" pitchFamily="49" charset="-122"/>
              </a:rPr>
              <a:t>log</a:t>
            </a:r>
            <a:r>
              <a:rPr lang="en-US" altLang="zh-CN" baseline="-25000" dirty="0">
                <a:latin typeface="Times New Roman" pitchFamily="18" charset="0"/>
                <a:ea typeface="楷体_GB2312" pitchFamily="49" charset="-122"/>
              </a:rPr>
              <a:t>2</a:t>
            </a:r>
            <a:r>
              <a:rPr lang="en-US" altLang="zh-CN" dirty="0">
                <a:latin typeface="Times New Roman" pitchFamily="18" charset="0"/>
                <a:ea typeface="楷体_GB2312" pitchFamily="49" charset="-122"/>
              </a:rPr>
              <a:t>0</a:t>
            </a:r>
            <a:r>
              <a:rPr lang="zh-CN" altLang="en-US" dirty="0">
                <a:latin typeface="Times New Roman" pitchFamily="18" charset="0"/>
                <a:ea typeface="楷体_GB2312" pitchFamily="49" charset="-122"/>
              </a:rPr>
              <a:t>个比特</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41</a:t>
            </a:fld>
            <a:endParaRPr lang="zh-CN" altLang="en-US"/>
          </a:p>
        </p:txBody>
      </p:sp>
    </p:spTree>
    <p:extLst>
      <p:ext uri="{BB962C8B-B14F-4D97-AF65-F5344CB8AC3E}">
        <p14:creationId xmlns:p14="http://schemas.microsoft.com/office/powerpoint/2010/main" val="1243242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latin typeface="Times New Roman" pitchFamily="18" charset="0"/>
                <a:ea typeface="楷体_GB2312" pitchFamily="49" charset="-122"/>
                <a:cs typeface="Tahoma" pitchFamily="34" charset="0"/>
                <a:sym typeface="Symbol" pitchFamily="18" charset="2"/>
              </a:rPr>
              <a:t>接下来对仅有的一个例外编码，我们就指定它在</a:t>
            </a:r>
            <a:r>
              <a:rPr lang="en-US" altLang="zh-CN" dirty="0">
                <a:latin typeface="Times New Roman" pitchFamily="18" charset="0"/>
                <a:ea typeface="楷体_GB2312" pitchFamily="49" charset="-122"/>
                <a:cs typeface="Tahoma" pitchFamily="34" charset="0"/>
                <a:sym typeface="Symbol" pitchFamily="18" charset="2"/>
              </a:rPr>
              <a:t>54 (3*3*2*3 ) </a:t>
            </a:r>
            <a:r>
              <a:rPr lang="zh-CN" altLang="en-US" dirty="0">
                <a:latin typeface="Times New Roman" pitchFamily="18" charset="0"/>
                <a:ea typeface="楷体_GB2312" pitchFamily="49" charset="-122"/>
                <a:cs typeface="Tahoma" pitchFamily="34" charset="0"/>
                <a:sym typeface="Symbol" pitchFamily="18" charset="2"/>
              </a:rPr>
              <a:t>种可能性中的位置，</a:t>
            </a:r>
            <a:endParaRPr lang="en-US" altLang="zh-CN" dirty="0">
              <a:latin typeface="Times New Roman" pitchFamily="18" charset="0"/>
              <a:ea typeface="楷体_GB2312" pitchFamily="49" charset="-122"/>
              <a:cs typeface="Tahoma" pitchFamily="34" charset="0"/>
              <a:sym typeface="Symbol" pitchFamily="18" charset="2"/>
            </a:endParaRPr>
          </a:p>
          <a:p>
            <a:pPr rtl="0" eaLnBrk="1" fontAlgn="base" latinLnBrk="0" hangingPunct="1"/>
            <a:r>
              <a:rPr lang="en-US" altLang="zh-CN" dirty="0">
                <a:latin typeface="Times New Roman" pitchFamily="18" charset="0"/>
                <a:ea typeface="楷体_GB2312" pitchFamily="49" charset="-122"/>
                <a:cs typeface="Tahoma" pitchFamily="34" charset="0"/>
                <a:sym typeface="Symbol" pitchFamily="18" charset="2"/>
              </a:rPr>
              <a:t>Why</a:t>
            </a:r>
            <a:r>
              <a:rPr lang="zh-CN" altLang="en-US" dirty="0">
                <a:latin typeface="Times New Roman" pitchFamily="18" charset="0"/>
                <a:ea typeface="楷体_GB2312" pitchFamily="49" charset="-122"/>
                <a:cs typeface="Tahoma" pitchFamily="34" charset="0"/>
                <a:sym typeface="Symbol" pitchFamily="18" charset="2"/>
              </a:rPr>
              <a:t>？</a:t>
            </a:r>
            <a:endParaRPr lang="en-US" altLang="zh-CN" dirty="0">
              <a:latin typeface="Times New Roman" pitchFamily="18" charset="0"/>
              <a:ea typeface="楷体_GB2312" pitchFamily="49" charset="-122"/>
              <a:cs typeface="Tahoma" pitchFamily="34" charset="0"/>
              <a:sym typeface="Symbol" pitchFamily="18" charset="2"/>
            </a:endParaRPr>
          </a:p>
          <a:p>
            <a:pPr rtl="0" eaLnBrk="1" fontAlgn="base" latinLnBrk="0" hangingPunct="1"/>
            <a:r>
              <a:rPr lang="zh-CN" altLang="en-US" dirty="0">
                <a:latin typeface="Times New Roman" pitchFamily="18" charset="0"/>
                <a:ea typeface="楷体_GB2312" pitchFamily="49" charset="-122"/>
                <a:cs typeface="Tahoma" pitchFamily="34" charset="0"/>
                <a:sym typeface="Symbol" pitchFamily="18" charset="2"/>
              </a:rPr>
              <a:t>此处</a:t>
            </a:r>
            <a:r>
              <a:rPr lang="en-US" altLang="zh-CN" dirty="0">
                <a:latin typeface="Times New Roman" pitchFamily="18" charset="0"/>
                <a:ea typeface="楷体_GB2312" pitchFamily="49" charset="-122"/>
                <a:cs typeface="Tahoma" pitchFamily="34" charset="0"/>
                <a:sym typeface="Symbol" pitchFamily="18" charset="2"/>
              </a:rPr>
              <a:t>54</a:t>
            </a:r>
            <a:r>
              <a:rPr lang="zh-CN" altLang="en-US" dirty="0">
                <a:latin typeface="Times New Roman" pitchFamily="18" charset="0"/>
                <a:ea typeface="楷体_GB2312" pitchFamily="49" charset="-122"/>
                <a:cs typeface="Tahoma" pitchFamily="34" charset="0"/>
                <a:sym typeface="Symbol" pitchFamily="18" charset="2"/>
              </a:rPr>
              <a:t>种可能性的计算依据：</a:t>
            </a:r>
            <a:r>
              <a:rPr lang="en-US" altLang="zh-CN" b="1" dirty="0"/>
              <a:t>Outlook</a:t>
            </a:r>
            <a:r>
              <a:rPr lang="zh-CN" altLang="en-US" b="1" dirty="0"/>
              <a:t>、</a:t>
            </a:r>
            <a:r>
              <a:rPr lang="en-US" altLang="zh-CN" b="1" dirty="0"/>
              <a:t>Temperature</a:t>
            </a:r>
            <a:r>
              <a:rPr lang="zh-CN" altLang="en-US" b="1" dirty="0"/>
              <a:t>、</a:t>
            </a:r>
            <a:r>
              <a:rPr lang="en-US" altLang="zh-CN" b="1" dirty="0"/>
              <a:t>Humidity</a:t>
            </a:r>
            <a:r>
              <a:rPr lang="zh-CN" altLang="en-US" b="1" dirty="0"/>
              <a:t>、</a:t>
            </a:r>
            <a:r>
              <a:rPr lang="en-US" altLang="zh-CN" b="1" dirty="0"/>
              <a:t>Windy</a:t>
            </a:r>
            <a:r>
              <a:rPr lang="zh-CN" altLang="en-US" b="1" dirty="0"/>
              <a:t>的属性的可能取值个数依次为</a:t>
            </a:r>
            <a:r>
              <a:rPr lang="en-US" altLang="zh-CN" b="1" dirty="0"/>
              <a:t>3</a:t>
            </a:r>
            <a:r>
              <a:rPr lang="zh-CN" altLang="zh-CN" b="1" dirty="0"/>
              <a:t>个</a:t>
            </a:r>
            <a:r>
              <a:rPr lang="zh-CN" altLang="en-US" b="1" dirty="0"/>
              <a:t>、</a:t>
            </a:r>
            <a:r>
              <a:rPr lang="en-US" altLang="zh-CN" b="1" dirty="0"/>
              <a:t>3</a:t>
            </a:r>
            <a:r>
              <a:rPr lang="zh-CN" altLang="zh-CN" b="1" dirty="0"/>
              <a:t>个</a:t>
            </a:r>
            <a:r>
              <a:rPr lang="zh-CN" altLang="en-US" b="1" dirty="0"/>
              <a:t>、</a:t>
            </a:r>
            <a:r>
              <a:rPr lang="en-US" altLang="zh-CN" b="1" dirty="0"/>
              <a:t>2</a:t>
            </a:r>
            <a:r>
              <a:rPr lang="zh-CN" altLang="zh-CN" b="1" dirty="0"/>
              <a:t>个</a:t>
            </a:r>
            <a:r>
              <a:rPr lang="zh-CN" altLang="en-US" b="1" dirty="0"/>
              <a:t>、</a:t>
            </a:r>
            <a:r>
              <a:rPr lang="en-US" altLang="zh-CN" b="1" dirty="0"/>
              <a:t>3</a:t>
            </a:r>
            <a:r>
              <a:rPr lang="zh-CN" altLang="zh-CN" b="1" dirty="0"/>
              <a:t>个</a:t>
            </a:r>
            <a:r>
              <a:rPr lang="zh-CN" altLang="en-US" b="1" dirty="0"/>
              <a:t>，总共有</a:t>
            </a:r>
            <a:r>
              <a:rPr lang="en-US" altLang="zh-CN" dirty="0">
                <a:latin typeface="Times New Roman" pitchFamily="18" charset="0"/>
                <a:ea typeface="楷体_GB2312" pitchFamily="49" charset="-122"/>
                <a:cs typeface="Tahoma" pitchFamily="34" charset="0"/>
                <a:sym typeface="Symbol" pitchFamily="18" charset="2"/>
              </a:rPr>
              <a:t>54 (3*3*2*3 ) </a:t>
            </a:r>
            <a:r>
              <a:rPr lang="zh-CN" altLang="en-US" dirty="0">
                <a:latin typeface="Times New Roman" pitchFamily="18" charset="0"/>
                <a:ea typeface="楷体_GB2312" pitchFamily="49" charset="-122"/>
                <a:cs typeface="Tahoma" pitchFamily="34" charset="0"/>
                <a:sym typeface="Symbol" pitchFamily="18" charset="2"/>
              </a:rPr>
              <a:t>种可能性。</a:t>
            </a:r>
            <a:endParaRPr lang="zh-CN" altLang="zh-CN" dirty="0"/>
          </a:p>
          <a:p>
            <a:pPr rtl="0" eaLnBrk="1" fontAlgn="base" latinLnBrk="0" hangingPunct="1"/>
            <a:endParaRPr lang="zh-CN" altLang="zh-CN" dirty="0"/>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42</a:t>
            </a:fld>
            <a:endParaRPr lang="zh-CN" altLang="en-US"/>
          </a:p>
        </p:txBody>
      </p:sp>
    </p:spTree>
    <p:extLst>
      <p:ext uri="{BB962C8B-B14F-4D97-AF65-F5344CB8AC3E}">
        <p14:creationId xmlns:p14="http://schemas.microsoft.com/office/powerpoint/2010/main" val="2971953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预剪枝方法中的第二种</a:t>
            </a:r>
            <a:r>
              <a:rPr lang="en-US" altLang="zh-CN" dirty="0"/>
              <a:t>x2</a:t>
            </a:r>
            <a:r>
              <a:rPr lang="zh-CN" altLang="en-US" dirty="0"/>
              <a:t>表示什么？？</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43</a:t>
            </a:fld>
            <a:endParaRPr lang="zh-CN" altLang="en-US"/>
          </a:p>
        </p:txBody>
      </p:sp>
    </p:spTree>
    <p:extLst>
      <p:ext uri="{BB962C8B-B14F-4D97-AF65-F5344CB8AC3E}">
        <p14:creationId xmlns:p14="http://schemas.microsoft.com/office/powerpoint/2010/main" val="4962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112713" y="746125"/>
            <a:ext cx="6632575" cy="3732213"/>
          </a:xfrm>
          <a:ln>
            <a:solidFill>
              <a:srgbClr val="000000"/>
            </a:solidFill>
          </a:ln>
        </p:spPr>
      </p:sp>
      <p:sp>
        <p:nvSpPr>
          <p:cNvPr id="41987" name="备注占位符 2"/>
          <p:cNvSpPr>
            <a:spLocks noGrp="1"/>
          </p:cNvSpPr>
          <p:nvPr>
            <p:ph type="body" idx="1"/>
          </p:nvPr>
        </p:nvSpPr>
        <p:spPr>
          <a:noFill/>
          <a:ln/>
        </p:spPr>
        <p:txBody>
          <a:bodyPr/>
          <a:lstStyle/>
          <a:p>
            <a:r>
              <a:rPr lang="zh-CN" altLang="en-US" dirty="0"/>
              <a:t>计算属性</a:t>
            </a:r>
            <a:r>
              <a:rPr lang="en-US" altLang="zh-CN" i="1" dirty="0">
                <a:latin typeface="Times New Roman" pitchFamily="18" charset="0"/>
                <a:ea typeface="微软雅黑" pitchFamily="34" charset="-122"/>
                <a:cs typeface="Times New Roman" pitchFamily="18" charset="0"/>
              </a:rPr>
              <a:t>Temperature</a:t>
            </a:r>
            <a:r>
              <a:rPr lang="zh-CN" altLang="en-US" dirty="0"/>
              <a:t>在不同取值进行切分情况下的基尼指数，确定选择特征属性</a:t>
            </a:r>
            <a:r>
              <a:rPr lang="en-US" altLang="zh-CN" i="1" dirty="0">
                <a:latin typeface="Times New Roman" pitchFamily="18" charset="0"/>
                <a:ea typeface="微软雅黑" pitchFamily="34" charset="-122"/>
                <a:cs typeface="Times New Roman" pitchFamily="18" charset="0"/>
              </a:rPr>
              <a:t>Temperature</a:t>
            </a:r>
            <a:r>
              <a:rPr lang="zh-CN" altLang="en-US" i="1" dirty="0">
                <a:latin typeface="Times New Roman" pitchFamily="18" charset="0"/>
                <a:ea typeface="微软雅黑" pitchFamily="34" charset="-122"/>
                <a:cs typeface="Times New Roman" pitchFamily="18" charset="0"/>
              </a:rPr>
              <a:t>时 的最优切分点</a:t>
            </a:r>
            <a:endParaRPr lang="en-US" altLang="zh-CN" dirty="0"/>
          </a:p>
          <a:p>
            <a:r>
              <a:rPr lang="en-US" altLang="zh-CN" dirty="0"/>
              <a:t>cool</a:t>
            </a:r>
            <a:r>
              <a:rPr lang="zh-CN" altLang="en-US" dirty="0"/>
              <a:t>（</a:t>
            </a:r>
            <a:r>
              <a:rPr lang="en-US" altLang="zh-CN" dirty="0"/>
              <a:t>3Y</a:t>
            </a:r>
            <a:r>
              <a:rPr lang="zh-CN" altLang="en-US" dirty="0"/>
              <a:t>，</a:t>
            </a:r>
            <a:r>
              <a:rPr lang="en-US" altLang="zh-CN" dirty="0"/>
              <a:t>1N</a:t>
            </a:r>
            <a:r>
              <a:rPr lang="zh-CN" altLang="en-US" dirty="0"/>
              <a:t>）共</a:t>
            </a:r>
            <a:r>
              <a:rPr lang="en-US" altLang="zh-CN" dirty="0"/>
              <a:t>4</a:t>
            </a:r>
            <a:r>
              <a:rPr lang="zh-CN" altLang="en-US" dirty="0"/>
              <a:t>个样本</a:t>
            </a:r>
            <a:r>
              <a:rPr lang="en-US" altLang="zh-CN" dirty="0"/>
              <a:t>, mild</a:t>
            </a:r>
            <a:r>
              <a:rPr lang="zh-CN" altLang="en-US" dirty="0"/>
              <a:t>（</a:t>
            </a:r>
            <a:r>
              <a:rPr lang="en-US" altLang="zh-CN" dirty="0"/>
              <a:t>4Y</a:t>
            </a:r>
            <a:r>
              <a:rPr lang="zh-CN" altLang="en-US" dirty="0"/>
              <a:t>，</a:t>
            </a:r>
            <a:r>
              <a:rPr lang="en-US" altLang="zh-CN" dirty="0"/>
              <a:t>2N</a:t>
            </a:r>
            <a:r>
              <a:rPr lang="zh-CN" altLang="en-US" dirty="0"/>
              <a:t>）共</a:t>
            </a:r>
            <a:r>
              <a:rPr lang="en-US" altLang="zh-CN" dirty="0"/>
              <a:t>6</a:t>
            </a:r>
            <a:r>
              <a:rPr lang="zh-CN" altLang="en-US" dirty="0"/>
              <a:t>个样本，</a:t>
            </a:r>
            <a:r>
              <a:rPr lang="en-US" altLang="zh-CN" dirty="0"/>
              <a:t>Hot</a:t>
            </a:r>
            <a:r>
              <a:rPr lang="zh-CN" altLang="en-US" dirty="0"/>
              <a:t>（</a:t>
            </a:r>
            <a:r>
              <a:rPr lang="en-US" altLang="zh-CN" dirty="0"/>
              <a:t>2Y</a:t>
            </a:r>
            <a:r>
              <a:rPr lang="zh-CN" altLang="en-US" dirty="0"/>
              <a:t>，</a:t>
            </a:r>
            <a:r>
              <a:rPr lang="en-US" altLang="zh-CN" dirty="0"/>
              <a:t>2N</a:t>
            </a:r>
            <a:r>
              <a:rPr lang="zh-CN" altLang="en-US" dirty="0"/>
              <a:t>） 共</a:t>
            </a:r>
            <a:r>
              <a:rPr lang="en-US" altLang="zh-CN" dirty="0"/>
              <a:t>4</a:t>
            </a:r>
            <a:r>
              <a:rPr lang="zh-CN" altLang="en-US" dirty="0"/>
              <a:t>个样本</a:t>
            </a:r>
          </a:p>
        </p:txBody>
      </p:sp>
      <p:sp>
        <p:nvSpPr>
          <p:cNvPr id="41988" name="灯片编号占位符 3"/>
          <p:cNvSpPr>
            <a:spLocks noGrp="1"/>
          </p:cNvSpPr>
          <p:nvPr>
            <p:ph type="sldNum" sz="quarter" idx="5"/>
          </p:nvPr>
        </p:nvSpPr>
        <p:spPr>
          <a:noFill/>
        </p:spPr>
        <p:txBody>
          <a:bodyPr/>
          <a:lstStyle/>
          <a:p>
            <a:pPr>
              <a:buFont typeface="Arial" charset="0"/>
              <a:buNone/>
            </a:pPr>
            <a:fld id="{3569886F-8C5D-4CA5-A20A-D3D10B25FC96}" type="slidenum">
              <a:rPr lang="ko-KR" altLang="en-US" smtClean="0"/>
              <a:pPr>
                <a:buFont typeface="Arial" charset="0"/>
                <a:buNone/>
              </a:pPr>
              <a:t>55</a:t>
            </a:fld>
            <a:endParaRPr lang="ko-KR" altLang="en-US"/>
          </a:p>
        </p:txBody>
      </p:sp>
    </p:spTree>
    <p:extLst>
      <p:ext uri="{BB962C8B-B14F-4D97-AF65-F5344CB8AC3E}">
        <p14:creationId xmlns:p14="http://schemas.microsoft.com/office/powerpoint/2010/main" val="2356467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合并</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56</a:t>
            </a:fld>
            <a:endParaRPr lang="zh-CN" altLang="en-US"/>
          </a:p>
        </p:txBody>
      </p:sp>
    </p:spTree>
    <p:extLst>
      <p:ext uri="{BB962C8B-B14F-4D97-AF65-F5344CB8AC3E}">
        <p14:creationId xmlns:p14="http://schemas.microsoft.com/office/powerpoint/2010/main" val="438978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86511">
              <a:defRPr/>
            </a:pPr>
            <a:r>
              <a:rPr lang="zh-CN" altLang="en-US" dirty="0"/>
              <a:t>合并</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57</a:t>
            </a:fld>
            <a:endParaRPr lang="zh-CN" altLang="en-US"/>
          </a:p>
        </p:txBody>
      </p:sp>
    </p:spTree>
    <p:extLst>
      <p:ext uri="{BB962C8B-B14F-4D97-AF65-F5344CB8AC3E}">
        <p14:creationId xmlns:p14="http://schemas.microsoft.com/office/powerpoint/2010/main" val="2519336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86511">
              <a:defRPr/>
            </a:pPr>
            <a:r>
              <a:rPr lang="zh-CN" altLang="en-US" dirty="0"/>
              <a:t>合并</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58</a:t>
            </a:fld>
            <a:endParaRPr lang="zh-CN" altLang="en-US"/>
          </a:p>
        </p:txBody>
      </p:sp>
    </p:spTree>
    <p:extLst>
      <p:ext uri="{BB962C8B-B14F-4D97-AF65-F5344CB8AC3E}">
        <p14:creationId xmlns:p14="http://schemas.microsoft.com/office/powerpoint/2010/main" val="1282221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a:t>α</a:t>
            </a:r>
            <a:r>
              <a:rPr lang="zh-CN" altLang="en-US" dirty="0"/>
              <a:t>则表示剪枝后树的复杂度降低程度与代价间的关系</a:t>
            </a:r>
            <a:endParaRPr lang="en-US" altLang="zh-CN" dirty="0"/>
          </a:p>
          <a:p>
            <a:r>
              <a:rPr lang="en-US" altLang="zh-CN" dirty="0"/>
              <a:t>CCP</a:t>
            </a:r>
            <a:r>
              <a:rPr lang="zh-CN" altLang="en-US" dirty="0"/>
              <a:t>算法为子树</a:t>
            </a:r>
            <a:r>
              <a:rPr lang="en-US" altLang="zh-CN" dirty="0"/>
              <a:t>T </a:t>
            </a:r>
            <a:r>
              <a:rPr lang="en-US" altLang="zh-CN" dirty="0" err="1"/>
              <a:t>t</a:t>
            </a:r>
            <a:r>
              <a:rPr lang="en-US" altLang="zh-CN" dirty="0"/>
              <a:t> </a:t>
            </a:r>
            <a:r>
              <a:rPr lang="zh-CN" altLang="en-US" dirty="0"/>
              <a:t>定义了代价和复杂度，以及一个衡量代价与复杂度之间关系的参数</a:t>
            </a:r>
            <a:r>
              <a:rPr lang="en-US" altLang="zh-CN" dirty="0"/>
              <a:t>α</a:t>
            </a:r>
            <a:r>
              <a:rPr lang="zh-CN" altLang="en-US" dirty="0"/>
              <a:t>。</a:t>
            </a:r>
            <a:endParaRPr lang="en-US" altLang="zh-CN" dirty="0"/>
          </a:p>
          <a:p>
            <a:r>
              <a:rPr lang="zh-CN" altLang="en-US" dirty="0"/>
              <a:t>代价指的是在剪枝过程中因子树</a:t>
            </a:r>
            <a:r>
              <a:rPr lang="en-US" altLang="zh-CN" dirty="0"/>
              <a:t>T </a:t>
            </a:r>
            <a:r>
              <a:rPr lang="en-US" altLang="zh-CN" dirty="0" err="1"/>
              <a:t>t</a:t>
            </a:r>
            <a:r>
              <a:rPr lang="en-US" altLang="zh-CN" dirty="0"/>
              <a:t> </a:t>
            </a:r>
            <a:r>
              <a:rPr lang="zh-CN" altLang="en-US" dirty="0"/>
              <a:t>被叶节点替代而增加的错分样本</a:t>
            </a:r>
            <a:r>
              <a:rPr lang="en-US" altLang="zh-CN" dirty="0"/>
              <a:t>;</a:t>
            </a:r>
          </a:p>
          <a:p>
            <a:r>
              <a:rPr lang="zh-CN" altLang="en-US" dirty="0"/>
              <a:t>复杂度表示剪枝后子树</a:t>
            </a:r>
            <a:r>
              <a:rPr lang="en-US" altLang="zh-CN" dirty="0"/>
              <a:t>T </a:t>
            </a:r>
            <a:r>
              <a:rPr lang="en-US" altLang="zh-CN" dirty="0" err="1"/>
              <a:t>t</a:t>
            </a:r>
            <a:r>
              <a:rPr lang="zh-CN" altLang="en-US" dirty="0"/>
              <a:t>减少的叶结点数</a:t>
            </a:r>
            <a:r>
              <a:rPr lang="en-US" altLang="zh-CN" dirty="0"/>
              <a:t>;</a:t>
            </a:r>
          </a:p>
          <a:p>
            <a:r>
              <a:rPr lang="en-US" altLang="zh-CN" dirty="0"/>
              <a:t>α</a:t>
            </a:r>
            <a:r>
              <a:rPr lang="zh-CN" altLang="en-US" dirty="0"/>
              <a:t>则表示剪枝后树的复杂度降低程度与代价间的关系，定义为</a:t>
            </a:r>
            <a:r>
              <a:rPr lang="en-US" altLang="zh-CN" dirty="0"/>
              <a:t>:</a:t>
            </a:r>
          </a:p>
          <a:p>
            <a:r>
              <a:rPr lang="en-US" altLang="zh-CN" dirty="0"/>
              <a:t>C(t)</a:t>
            </a:r>
            <a:r>
              <a:rPr lang="zh-CN" altLang="en-US" dirty="0"/>
              <a:t>为节点的预测误差：</a:t>
            </a:r>
            <a:r>
              <a:rPr lang="en-US" altLang="zh-CN" i="1" dirty="0"/>
              <a:t>C</a:t>
            </a:r>
            <a:r>
              <a:rPr lang="en-US" altLang="zh-CN" dirty="0"/>
              <a:t>(</a:t>
            </a:r>
            <a:r>
              <a:rPr lang="en-US" altLang="zh-CN" i="1" dirty="0"/>
              <a:t>t</a:t>
            </a:r>
            <a:r>
              <a:rPr lang="en-US" altLang="zh-CN" dirty="0"/>
              <a:t>)=</a:t>
            </a:r>
            <a:r>
              <a:rPr lang="en-US" altLang="zh-CN" i="1" dirty="0"/>
              <a:t>Et</a:t>
            </a:r>
            <a:r>
              <a:rPr lang="en-US" altLang="zh-CN" dirty="0"/>
              <a:t>​/</a:t>
            </a:r>
            <a:r>
              <a:rPr lang="en-US" altLang="zh-CN" i="1" dirty="0"/>
              <a:t>N</a:t>
            </a:r>
            <a:endParaRPr lang="en-US" altLang="zh-CN" dirty="0"/>
          </a:p>
          <a:p>
            <a:r>
              <a:rPr lang="en-US" altLang="zh-CN" dirty="0"/>
              <a:t>C(Tt​ )</a:t>
            </a:r>
            <a:r>
              <a:rPr lang="zh-CN" altLang="en-US" dirty="0"/>
              <a:t>为子树</a:t>
            </a:r>
            <a:r>
              <a:rPr lang="en-US" altLang="zh-CN" dirty="0"/>
              <a:t>T </a:t>
            </a:r>
            <a:r>
              <a:rPr lang="en-US" altLang="zh-CN" dirty="0" err="1"/>
              <a:t>t</a:t>
            </a:r>
            <a:r>
              <a:rPr lang="en-US" altLang="zh-CN" dirty="0"/>
              <a:t> </a:t>
            </a:r>
            <a:r>
              <a:rPr lang="zh-CN" altLang="en-US" dirty="0"/>
              <a:t>预测误差：</a:t>
            </a:r>
            <a:r>
              <a:rPr lang="en-US" altLang="zh-CN" i="1" dirty="0"/>
              <a:t>C</a:t>
            </a:r>
            <a:r>
              <a:rPr lang="en-US" altLang="zh-CN" dirty="0"/>
              <a:t>(</a:t>
            </a:r>
            <a:r>
              <a:rPr lang="en-US" altLang="zh-CN" i="1" dirty="0"/>
              <a:t>Tt</a:t>
            </a:r>
            <a:r>
              <a:rPr lang="en-US" altLang="zh-CN" dirty="0"/>
              <a:t>​)=</a:t>
            </a:r>
            <a:r>
              <a:rPr lang="en-US" altLang="zh-CN" i="1" dirty="0" err="1"/>
              <a:t>ETt</a:t>
            </a:r>
            <a:r>
              <a:rPr lang="en-US" altLang="zh-CN" dirty="0"/>
              <a:t>​​​/</a:t>
            </a:r>
            <a:r>
              <a:rPr lang="en-US" altLang="zh-CN" i="1" dirty="0"/>
              <a:t>N</a:t>
            </a:r>
            <a:br>
              <a:rPr lang="en-US" altLang="zh-CN" dirty="0"/>
            </a:br>
            <a:endParaRPr lang="zh-CN" altLang="en-US" dirty="0"/>
          </a:p>
          <a:p>
            <a:r>
              <a:rPr lang="zh-CN" altLang="en-US" dirty="0"/>
              <a:t>原文链接：</a:t>
            </a:r>
            <a:r>
              <a:rPr lang="en-US" altLang="zh-CN" dirty="0"/>
              <a:t>https://blog.csdn.net/sheepy123/article/details/89850764</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60</a:t>
            </a:fld>
            <a:endParaRPr lang="zh-CN" altLang="en-US"/>
          </a:p>
        </p:txBody>
      </p:sp>
    </p:spTree>
    <p:extLst>
      <p:ext uri="{BB962C8B-B14F-4D97-AF65-F5344CB8AC3E}">
        <p14:creationId xmlns:p14="http://schemas.microsoft.com/office/powerpoint/2010/main" val="3164523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思考：剪枝后的节点输出结果怎么判断？？直接少数服从多数输出</a:t>
            </a:r>
            <a:endParaRPr lang="en-US" altLang="zh-CN" dirty="0"/>
          </a:p>
          <a:p>
            <a:endParaRPr lang="en-US" altLang="zh-CN" dirty="0"/>
          </a:p>
          <a:p>
            <a:r>
              <a:rPr lang="zh-CN" altLang="en-US" dirty="0"/>
              <a:t>如果属性有缺失，结果要怎么输出？</a:t>
            </a:r>
            <a:r>
              <a:rPr lang="en-US" altLang="zh-CN" dirty="0"/>
              <a:t>1</a:t>
            </a:r>
            <a:r>
              <a:rPr lang="zh-CN" altLang="en-US" dirty="0"/>
              <a:t>、少数服从多数；</a:t>
            </a:r>
            <a:r>
              <a:rPr lang="en-US" altLang="zh-CN" dirty="0"/>
              <a:t>2</a:t>
            </a:r>
            <a:r>
              <a:rPr lang="zh-CN" altLang="en-US" dirty="0"/>
              <a:t>、如果是回归：可以参考其他数据在节点向左和向右输出的比例，然后将其按照左右两边都输出最后进行加权</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61</a:t>
            </a:fld>
            <a:endParaRPr lang="zh-CN" altLang="en-US"/>
          </a:p>
        </p:txBody>
      </p:sp>
    </p:spTree>
    <p:extLst>
      <p:ext uri="{BB962C8B-B14F-4D97-AF65-F5344CB8AC3E}">
        <p14:creationId xmlns:p14="http://schemas.microsoft.com/office/powerpoint/2010/main" val="7454316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随机森林实用、常用算法</a:t>
            </a:r>
            <a:endParaRPr lang="en-US" altLang="zh-CN" dirty="0"/>
          </a:p>
          <a:p>
            <a:pPr defTabSz="886511">
              <a:defRPr/>
            </a:pPr>
            <a:r>
              <a:rPr kumimoji="1" lang="en-US" altLang="zh-CN" b="1" dirty="0">
                <a:solidFill>
                  <a:srgbClr val="418D91"/>
                </a:solidFill>
                <a:ea typeface="新細明體" pitchFamily="18" charset="-120"/>
              </a:rPr>
              <a:t>Probably Approximately </a:t>
            </a:r>
            <a:r>
              <a:rPr kumimoji="1" lang="en-US" altLang="zh-CN" b="1" dirty="0" err="1">
                <a:solidFill>
                  <a:srgbClr val="418D91"/>
                </a:solidFill>
                <a:ea typeface="新細明體" pitchFamily="18" charset="-120"/>
              </a:rPr>
              <a:t>Corerct</a:t>
            </a:r>
            <a:r>
              <a:rPr kumimoji="1" lang="en-US" altLang="zh-CN" b="1" dirty="0">
                <a:solidFill>
                  <a:srgbClr val="418D91"/>
                </a:solidFill>
                <a:ea typeface="新細明體" pitchFamily="18" charset="-120"/>
              </a:rPr>
              <a:t> </a:t>
            </a:r>
            <a:r>
              <a:rPr kumimoji="1" lang="zh-CN" altLang="en-US" b="1" dirty="0">
                <a:solidFill>
                  <a:srgbClr val="418D91"/>
                </a:solidFill>
                <a:ea typeface="新細明體" pitchFamily="18" charset="-120"/>
              </a:rPr>
              <a:t>满足一定条件的弱学习算法的集成能得到强分类器</a:t>
            </a:r>
            <a:endParaRPr kumimoji="1" lang="en-US" altLang="zh-CN" b="1" dirty="0">
              <a:solidFill>
                <a:srgbClr val="418D91"/>
              </a:solidFill>
              <a:ea typeface="新細明體" pitchFamily="18" charset="-120"/>
            </a:endParaRPr>
          </a:p>
          <a:p>
            <a:pPr defTabSz="886511">
              <a:defRPr/>
            </a:pPr>
            <a:endParaRPr kumimoji="1" lang="en-US" altLang="zh-CN" b="1" dirty="0">
              <a:solidFill>
                <a:srgbClr val="418D91"/>
              </a:solidFill>
              <a:ea typeface="新細明體" pitchFamily="18" charset="-120"/>
            </a:endParaRPr>
          </a:p>
          <a:p>
            <a:pPr defTabSz="886511">
              <a:defRPr/>
            </a:pPr>
            <a:r>
              <a:rPr kumimoji="1" lang="en-US" altLang="zh-CN" b="1" dirty="0">
                <a:solidFill>
                  <a:srgbClr val="418D91"/>
                </a:solidFill>
                <a:ea typeface="新細明體" pitchFamily="18" charset="-120"/>
              </a:rPr>
              <a:t>Bootstrap</a:t>
            </a:r>
            <a:r>
              <a:rPr kumimoji="1" lang="zh-CN" altLang="en-US" b="1" dirty="0">
                <a:solidFill>
                  <a:srgbClr val="418D91"/>
                </a:solidFill>
                <a:ea typeface="新細明體" pitchFamily="18" charset="-120"/>
              </a:rPr>
              <a:t>其中的一种常见方法：</a:t>
            </a:r>
            <a:r>
              <a:rPr kumimoji="1" lang="en-US" altLang="zh-CN" b="1" dirty="0">
                <a:solidFill>
                  <a:srgbClr val="418D91"/>
                </a:solidFill>
                <a:ea typeface="新細明體" pitchFamily="18" charset="-120"/>
              </a:rPr>
              <a:t>0.6325</a:t>
            </a:r>
            <a:r>
              <a:rPr kumimoji="1" lang="zh-CN" altLang="en-US" b="1" dirty="0">
                <a:solidFill>
                  <a:srgbClr val="418D91"/>
                </a:solidFill>
                <a:ea typeface="新細明體" pitchFamily="18" charset="-120"/>
              </a:rPr>
              <a:t>自助法</a:t>
            </a:r>
            <a:endParaRPr kumimoji="1" lang="en-US" altLang="zh-CN" b="1" dirty="0">
              <a:solidFill>
                <a:srgbClr val="418D91"/>
              </a:solidFill>
              <a:ea typeface="新細明體" pitchFamily="18" charset="-120"/>
            </a:endParaRPr>
          </a:p>
          <a:p>
            <a:pPr defTabSz="886511">
              <a:defRPr/>
            </a:pPr>
            <a:endParaRPr kumimoji="1" lang="en-US" altLang="zh-CN" b="1" dirty="0">
              <a:solidFill>
                <a:srgbClr val="418D91"/>
              </a:solidFill>
              <a:ea typeface="新細明體" pitchFamily="18" charset="-120"/>
            </a:endParaRPr>
          </a:p>
          <a:p>
            <a:pPr defTabSz="886511">
              <a:defRPr/>
            </a:pPr>
            <a:r>
              <a:rPr kumimoji="1" lang="en-US" altLang="zh-CN" b="1" dirty="0">
                <a:solidFill>
                  <a:srgbClr val="418D91"/>
                </a:solidFill>
                <a:ea typeface="新細明體" pitchFamily="18" charset="-120"/>
              </a:rPr>
              <a:t>Bootstrap aggregation</a:t>
            </a:r>
            <a:endParaRPr lang="zh-CN" altLang="en-US" dirty="0">
              <a:solidFill>
                <a:srgbClr val="418D91"/>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63</a:t>
            </a:fld>
            <a:endParaRPr lang="zh-CN" altLang="en-US"/>
          </a:p>
        </p:txBody>
      </p:sp>
    </p:spTree>
    <p:extLst>
      <p:ext uri="{BB962C8B-B14F-4D97-AF65-F5344CB8AC3E}">
        <p14:creationId xmlns:p14="http://schemas.microsoft.com/office/powerpoint/2010/main" val="2327975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解决过拟合的问题：（决策树分类面特别复杂）。可以不用剪枝。通过随机的方式避免过拟合。随机的方式使得决策树较弱了可以不用剪枝。</a:t>
            </a:r>
            <a:endParaRPr lang="en-US" altLang="zh-CN" dirty="0"/>
          </a:p>
          <a:p>
            <a:endParaRPr lang="en-US" altLang="zh-CN" dirty="0"/>
          </a:p>
          <a:p>
            <a:pPr marL="443255" lvl="1"/>
            <a:r>
              <a:rPr lang="zh-CN" altLang="en-US" dirty="0"/>
              <a:t>随机森林有</a:t>
            </a:r>
            <a:r>
              <a:rPr lang="zh-CN" altLang="en-US" dirty="0">
                <a:solidFill>
                  <a:srgbClr val="FF0000"/>
                </a:solidFill>
              </a:rPr>
              <a:t>两个重要参数</a:t>
            </a:r>
            <a:r>
              <a:rPr lang="zh-CN" altLang="en-US" dirty="0"/>
              <a:t>：</a:t>
            </a:r>
            <a:endParaRPr lang="en-US" altLang="zh-CN" dirty="0"/>
          </a:p>
          <a:p>
            <a:pPr marL="443255" lvl="1"/>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a:t>
            </a:r>
            <a:r>
              <a:rPr lang="en-US" altLang="zh-CN" dirty="0">
                <a:sym typeface="Wingdings" panose="05000000000000000000" pitchFamily="2" charset="2"/>
              </a:rPr>
              <a:t>k</a:t>
            </a:r>
            <a:r>
              <a:rPr lang="zh-CN" altLang="en-US" dirty="0">
                <a:sym typeface="Wingdings" panose="05000000000000000000" pitchFamily="2" charset="2"/>
              </a:rPr>
              <a:t>：树节点预选的属性（变量）个数</a:t>
            </a:r>
            <a:endParaRPr lang="en-US" altLang="zh-CN" dirty="0">
              <a:sym typeface="Wingdings" panose="05000000000000000000" pitchFamily="2" charset="2"/>
            </a:endParaRPr>
          </a:p>
          <a:p>
            <a:pPr marL="443255" lvl="1"/>
            <a:r>
              <a:rPr lang="zh-CN" altLang="en-US" dirty="0">
                <a:sym typeface="Wingdings" panose="05000000000000000000" pitchFamily="2" charset="2"/>
              </a:rPr>
              <a:t>（</a:t>
            </a:r>
            <a:r>
              <a:rPr lang="en-US" altLang="zh-CN" dirty="0">
                <a:sym typeface="Wingdings" panose="05000000000000000000" pitchFamily="2" charset="2"/>
              </a:rPr>
              <a:t>2</a:t>
            </a:r>
            <a:r>
              <a:rPr lang="zh-CN" altLang="en-US" dirty="0">
                <a:sym typeface="Wingdings" panose="05000000000000000000" pitchFamily="2" charset="2"/>
              </a:rPr>
              <a:t>）</a:t>
            </a:r>
            <a:r>
              <a:rPr lang="en-US" altLang="zh-CN" dirty="0">
                <a:sym typeface="Wingdings" panose="05000000000000000000" pitchFamily="2" charset="2"/>
              </a:rPr>
              <a:t>m</a:t>
            </a:r>
            <a:r>
              <a:rPr lang="zh-CN" altLang="en-US" dirty="0">
                <a:sym typeface="Wingdings" panose="05000000000000000000" pitchFamily="2" charset="2"/>
              </a:rPr>
              <a:t>：随机森林中树的个数</a:t>
            </a:r>
            <a:endParaRPr lang="en-US" altLang="zh-CN" dirty="0">
              <a:sym typeface="Wingdings" panose="05000000000000000000" pitchFamily="2" charset="2"/>
            </a:endParaRPr>
          </a:p>
          <a:p>
            <a:pPr marL="443255" lvl="1"/>
            <a:endParaRPr lang="zh-CN" altLang="zh-CN" dirty="0"/>
          </a:p>
          <a:p>
            <a:r>
              <a:rPr lang="zh-CN" altLang="en-US" dirty="0"/>
              <a:t>集成学习需要增加模型之间的多样性。</a:t>
            </a:r>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64</a:t>
            </a:fld>
            <a:endParaRPr lang="zh-CN" altLang="en-US"/>
          </a:p>
        </p:txBody>
      </p:sp>
    </p:spTree>
    <p:extLst>
      <p:ext uri="{BB962C8B-B14F-4D97-AF65-F5344CB8AC3E}">
        <p14:creationId xmlns:p14="http://schemas.microsoft.com/office/powerpoint/2010/main" val="2896087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分类问题：少数服从多数</a:t>
            </a:r>
            <a:endParaRPr lang="en-US" altLang="zh-CN" dirty="0"/>
          </a:p>
          <a:p>
            <a:r>
              <a:rPr lang="zh-CN" altLang="en-US" dirty="0"/>
              <a:t>回归问题：取平均</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66</a:t>
            </a:fld>
            <a:endParaRPr lang="zh-CN" altLang="en-US"/>
          </a:p>
        </p:txBody>
      </p:sp>
    </p:spTree>
    <p:extLst>
      <p:ext uri="{BB962C8B-B14F-4D97-AF65-F5344CB8AC3E}">
        <p14:creationId xmlns:p14="http://schemas.microsoft.com/office/powerpoint/2010/main" val="993045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72</a:t>
            </a:fld>
            <a:endParaRPr lang="zh-CN" altLang="en-US"/>
          </a:p>
        </p:txBody>
      </p:sp>
    </p:spTree>
    <p:extLst>
      <p:ext uri="{BB962C8B-B14F-4D97-AF65-F5344CB8AC3E}">
        <p14:creationId xmlns:p14="http://schemas.microsoft.com/office/powerpoint/2010/main" val="31239644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本例可用，</a:t>
            </a:r>
            <a:r>
              <a:rPr lang="en-US" altLang="zh-CN" dirty="0"/>
              <a:t>2021zlm</a:t>
            </a:r>
            <a:r>
              <a:rPr lang="zh-CN" altLang="en-US" dirty="0"/>
              <a:t>修改版面，此处</a:t>
            </a:r>
            <a:r>
              <a:rPr lang="en-US" altLang="zh-CN" dirty="0"/>
              <a:t>H</a:t>
            </a:r>
            <a:r>
              <a:rPr lang="zh-CN" altLang="en-US" dirty="0"/>
              <a:t>（</a:t>
            </a:r>
            <a:r>
              <a:rPr lang="en-US" altLang="zh-CN" dirty="0"/>
              <a:t>D</a:t>
            </a:r>
            <a:r>
              <a:rPr lang="zh-CN" altLang="en-US" dirty="0"/>
              <a:t>），后面要用。</a:t>
            </a:r>
            <a:endParaRPr lang="en-US" altLang="zh-CN" dirty="0"/>
          </a:p>
          <a:p>
            <a:r>
              <a:rPr lang="zh-CN" altLang="en-US" dirty="0"/>
              <a:t>本例数据可作为习题用</a:t>
            </a:r>
            <a:r>
              <a:rPr lang="en-US" altLang="zh-CN" dirty="0"/>
              <a:t>zlm2021</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74</a:t>
            </a:fld>
            <a:endParaRPr lang="zh-CN" altLang="en-US">
              <a:solidFill>
                <a:prstClr val="black"/>
              </a:solidFill>
            </a:endParaRPr>
          </a:p>
        </p:txBody>
      </p:sp>
    </p:spTree>
    <p:extLst>
      <p:ext uri="{BB962C8B-B14F-4D97-AF65-F5344CB8AC3E}">
        <p14:creationId xmlns:p14="http://schemas.microsoft.com/office/powerpoint/2010/main" val="816135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本例可用，</a:t>
            </a:r>
            <a:r>
              <a:rPr lang="en-US" altLang="zh-CN" dirty="0"/>
              <a:t>2021zlm</a:t>
            </a:r>
            <a:r>
              <a:rPr lang="zh-CN" altLang="en-US" dirty="0"/>
              <a:t>修改版面</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75</a:t>
            </a:fld>
            <a:endParaRPr lang="zh-CN" altLang="en-US">
              <a:solidFill>
                <a:prstClr val="black"/>
              </a:solidFill>
            </a:endParaRPr>
          </a:p>
        </p:txBody>
      </p:sp>
    </p:spTree>
    <p:extLst>
      <p:ext uri="{BB962C8B-B14F-4D97-AF65-F5344CB8AC3E}">
        <p14:creationId xmlns:p14="http://schemas.microsoft.com/office/powerpoint/2010/main" val="28740389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根节点的</a:t>
            </a:r>
            <a:r>
              <a:rPr lang="en-US" altLang="zh-CN" dirty="0"/>
              <a:t>E</a:t>
            </a:r>
            <a:r>
              <a:rPr lang="zh-CN" altLang="en-US" dirty="0"/>
              <a:t>为</a:t>
            </a:r>
            <a:r>
              <a:rPr lang="en-US" altLang="zh-CN" dirty="0"/>
              <a:t>H(S),</a:t>
            </a:r>
            <a:r>
              <a:rPr lang="zh-CN" altLang="en-US" dirty="0"/>
              <a:t>子节点的</a:t>
            </a:r>
            <a:r>
              <a:rPr lang="en-US" altLang="zh-CN" dirty="0"/>
              <a:t>E</a:t>
            </a:r>
            <a:r>
              <a:rPr lang="zh-CN" altLang="en-US" dirty="0"/>
              <a:t>为</a:t>
            </a:r>
            <a:r>
              <a:rPr lang="en-US" altLang="zh-CN" dirty="0"/>
              <a:t>H</a:t>
            </a:r>
            <a:r>
              <a:rPr lang="zh-CN" altLang="en-US" dirty="0"/>
              <a:t>（</a:t>
            </a:r>
            <a:r>
              <a:rPr lang="en-US" altLang="zh-CN" dirty="0"/>
              <a:t>Sa</a:t>
            </a:r>
            <a:r>
              <a:rPr lang="zh-CN" altLang="en-US" dirty="0"/>
              <a:t>）</a:t>
            </a:r>
            <a:endParaRPr lang="en-US" altLang="zh-CN" dirty="0"/>
          </a:p>
          <a:p>
            <a:r>
              <a:rPr lang="en-US" altLang="zh-CN" dirty="0" err="1"/>
              <a:t>Zlm</a:t>
            </a:r>
            <a:r>
              <a:rPr lang="zh-CN" altLang="en-US" dirty="0"/>
              <a:t>调整</a:t>
            </a:r>
            <a:r>
              <a:rPr lang="en-US" altLang="zh-CN" dirty="0"/>
              <a:t>2021</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solidFill>
                  <a:prstClr val="black"/>
                </a:solidFill>
              </a:rPr>
              <a:pPr>
                <a:defRPr/>
              </a:pPr>
              <a:t>76</a:t>
            </a:fld>
            <a:endParaRPr lang="zh-CN" altLang="en-US">
              <a:solidFill>
                <a:prstClr val="black"/>
              </a:solidFill>
            </a:endParaRPr>
          </a:p>
        </p:txBody>
      </p:sp>
    </p:spTree>
    <p:extLst>
      <p:ext uri="{BB962C8B-B14F-4D97-AF65-F5344CB8AC3E}">
        <p14:creationId xmlns:p14="http://schemas.microsoft.com/office/powerpoint/2010/main" val="65203287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2.xml"/><Relationship Id="rId16" Type="http://schemas.openxmlformats.org/officeDocument/2006/relationships/oleObject" Target="../embeddings/oleObject4.bin"/><Relationship Id="rId1" Type="http://schemas.openxmlformats.org/officeDocument/2006/relationships/vmlDrawing" Target="../drawings/vmlDrawing4.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1"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33924" name="位图图像" r:id="rId16" imgW="2247619" imgH="1685714" progId="PBrush">
                  <p:embed/>
                </p:oleObj>
              </mc:Choice>
              <mc:Fallback>
                <p:oleObj name="位图图像" r:id="rId16" imgW="2247619" imgH="1685714" progId="PBrush">
                  <p:embed/>
                  <p:pic>
                    <p:nvPicPr>
                      <p:cNvPr id="0" name="Picture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endParaRPr lang="zh-CN" altLang="zh-CN"/>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zh-CN"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6DC78509-6893-4A13-B64D-66FBEF57937E}" type="slidenum">
              <a:rPr lang="zh-CN" altLang="zh-CN"/>
              <a:pPr/>
              <a:t>‹#›</a:t>
            </a:fld>
            <a:endParaRPr lang="zh-CN" altLang="zh-CN"/>
          </a:p>
        </p:txBody>
      </p:sp>
    </p:spTree>
    <p:extLst>
      <p:ext uri="{BB962C8B-B14F-4D97-AF65-F5344CB8AC3E}">
        <p14:creationId xmlns:p14="http://schemas.microsoft.com/office/powerpoint/2010/main" val="3621595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245225"/>
            <a:ext cx="2844800" cy="476250"/>
          </a:xfrm>
        </p:spPr>
        <p:txBody>
          <a:bodyPr/>
          <a:lstStyle>
            <a:lvl1pPr>
              <a:defRPr/>
            </a:lvl1pPr>
          </a:lstStyle>
          <a:p>
            <a:endParaRPr lang="zh-CN" altLang="zh-CN"/>
          </a:p>
        </p:txBody>
      </p:sp>
      <p:sp>
        <p:nvSpPr>
          <p:cNvPr id="6" name="页脚占位符 5"/>
          <p:cNvSpPr>
            <a:spLocks noGrp="1"/>
          </p:cNvSpPr>
          <p:nvPr>
            <p:ph type="ftr" sz="quarter" idx="11"/>
          </p:nvPr>
        </p:nvSpPr>
        <p:spPr>
          <a:xfrm>
            <a:off x="4165600" y="6245225"/>
            <a:ext cx="3860800" cy="476250"/>
          </a:xfrm>
        </p:spPr>
        <p:txBody>
          <a:bodyPr/>
          <a:lstStyle>
            <a:lvl1pPr>
              <a:defRPr/>
            </a:lvl1pPr>
          </a:lstStyle>
          <a:p>
            <a:endParaRPr lang="zh-CN" altLang="zh-CN"/>
          </a:p>
        </p:txBody>
      </p:sp>
      <p:sp>
        <p:nvSpPr>
          <p:cNvPr id="7" name="灯片编号占位符 6"/>
          <p:cNvSpPr>
            <a:spLocks noGrp="1"/>
          </p:cNvSpPr>
          <p:nvPr>
            <p:ph type="sldNum" sz="quarter" idx="12"/>
          </p:nvPr>
        </p:nvSpPr>
        <p:spPr>
          <a:xfrm>
            <a:off x="8737600" y="6245225"/>
            <a:ext cx="2844800" cy="476250"/>
          </a:xfrm>
        </p:spPr>
        <p:txBody>
          <a:bodyPr/>
          <a:lstStyle>
            <a:lvl1pPr>
              <a:defRPr/>
            </a:lvl1pPr>
          </a:lstStyle>
          <a:p>
            <a:fld id="{8863B22E-6A07-4FB1-AB14-E229E6B704DF}" type="slidenum">
              <a:rPr lang="zh-CN" altLang="zh-CN"/>
              <a:pPr/>
              <a:t>‹#›</a:t>
            </a:fld>
            <a:endParaRPr lang="zh-CN" altLang="zh-CN"/>
          </a:p>
        </p:txBody>
      </p:sp>
    </p:spTree>
    <p:extLst>
      <p:ext uri="{BB962C8B-B14F-4D97-AF65-F5344CB8AC3E}">
        <p14:creationId xmlns:p14="http://schemas.microsoft.com/office/powerpoint/2010/main" val="1625437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3"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solidFill>
                    <a:srgbClr val="000000"/>
                  </a:solidFill>
                </a:endParaRPr>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22"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72" y="4598995"/>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72" y="6100770"/>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6" y="5386395"/>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6" y="6127757"/>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72" y="5357820"/>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2" y="34925"/>
          <a:ext cx="2063749" cy="1162050"/>
        </p:xfrm>
        <a:graphic>
          <a:graphicData uri="http://schemas.openxmlformats.org/presentationml/2006/ole">
            <mc:AlternateContent xmlns:mc="http://schemas.openxmlformats.org/markup-compatibility/2006">
              <mc:Choice xmlns:v="urn:schemas-microsoft-com:vml" Requires="v">
                <p:oleObj spid="_x0000_s514136" name="位图图像" r:id="rId16" imgW="2247619" imgH="1685714" progId="PBrush">
                  <p:embed/>
                </p:oleObj>
              </mc:Choice>
              <mc:Fallback>
                <p:oleObj name="位图图像" r:id="rId16" imgW="2247619" imgH="1685714" progId="PBrush">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2"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3" y="6596070"/>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70"/>
            <a:ext cx="1117600" cy="261937"/>
          </a:xfrm>
        </p:spPr>
        <p:txBody>
          <a:bodyPr/>
          <a:lstStyle>
            <a:lvl1pPr>
              <a:defRPr/>
            </a:lvl1pPr>
          </a:lstStyle>
          <a:p>
            <a:pPr>
              <a:defRPr/>
            </a:pPr>
            <a:fld id="{A6901B15-51C5-4543-8646-27AED7159C2B}" type="slidenum">
              <a:rPr lang="en-US" altLang="zh-CN">
                <a:solidFill>
                  <a:srgbClr val="000000"/>
                </a:solidFill>
              </a:rPr>
              <a:pPr>
                <a:defRPr/>
              </a:pPr>
              <a:t>‹#›</a:t>
            </a:fld>
            <a:endParaRPr lang="en-US" altLang="zh-CN">
              <a:solidFill>
                <a:srgbClr val="000000"/>
              </a:solidFill>
            </a:endParaRPr>
          </a:p>
        </p:txBody>
      </p:sp>
      <p:sp>
        <p:nvSpPr>
          <p:cNvPr id="17" name="Rectangle 374"/>
          <p:cNvSpPr>
            <a:spLocks noGrp="1" noChangeArrowheads="1"/>
          </p:cNvSpPr>
          <p:nvPr>
            <p:ph type="dt" sz="half" idx="12"/>
          </p:nvPr>
        </p:nvSpPr>
        <p:spPr>
          <a:xfrm>
            <a:off x="0" y="6596070"/>
            <a:ext cx="2540000" cy="261937"/>
          </a:xfrm>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7575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5"/>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2822787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7"/>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854427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807003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solidFill>
                  <a:srgbClr val="000000"/>
                </a:solidFill>
              </a:rPr>
              <a:pPr>
                <a:defRPr/>
              </a:pPr>
              <a:t>‹#›</a:t>
            </a:fld>
            <a:endParaRPr lang="en-US" altLang="zh-CN">
              <a:solidFill>
                <a:srgbClr val="000000"/>
              </a:solidFill>
            </a:endParaRPr>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40343530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solidFill>
                  <a:srgbClr val="000000"/>
                </a:solidFill>
              </a:rPr>
              <a:pPr>
                <a:defRPr/>
              </a:pPr>
              <a:t>‹#›</a:t>
            </a:fld>
            <a:endParaRPr lang="en-US" altLang="zh-CN">
              <a:solidFill>
                <a:srgbClr val="000000"/>
              </a:solidFill>
            </a:endParaRPr>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4248587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solidFill>
                  <a:srgbClr val="000000"/>
                </a:solidFill>
              </a:rPr>
              <a:pPr>
                <a:defRPr/>
              </a:pPr>
              <a:t>‹#›</a:t>
            </a:fld>
            <a:endParaRPr lang="en-US" altLang="zh-CN">
              <a:solidFill>
                <a:srgbClr val="000000"/>
              </a:solidFill>
            </a:endParaRPr>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73608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10094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941441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028821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715324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95"/>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endParaRPr lang="zh-CN" altLang="zh-CN">
              <a:solidFill>
                <a:srgbClr val="000000"/>
              </a:solidFill>
            </a:endParaRPr>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zh-CN" altLang="zh-CN">
              <a:solidFill>
                <a:srgbClr val="000000"/>
              </a:solidFill>
            </a:endParaRPr>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6DC78509-6893-4A13-B64D-66FBEF57937E}"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1936687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245225"/>
            <a:ext cx="2844800" cy="476250"/>
          </a:xfrm>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a:xfrm>
            <a:off x="4165600" y="6245225"/>
            <a:ext cx="3860800" cy="476250"/>
          </a:xfrm>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a:xfrm>
            <a:off x="8737600" y="6245225"/>
            <a:ext cx="2844800" cy="476250"/>
          </a:xfrm>
        </p:spPr>
        <p:txBody>
          <a:bodyPr/>
          <a:lstStyle>
            <a:lvl1pPr>
              <a:defRPr/>
            </a:lvl1pPr>
          </a:lstStyle>
          <a:p>
            <a:fld id="{8863B22E-6A07-4FB1-AB14-E229E6B704DF}"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705748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oleObject" Target="../embeddings/oleObject3.bin"/><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vmlDrawing" Target="../drawings/vmlDrawing3.v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0" y="800101"/>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6"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156" name="位图图像" r:id="rId17" imgW="2247619" imgH="1685714" progId="PBrush">
                  <p:embed/>
                </p:oleObj>
              </mc:Choice>
              <mc:Fallback>
                <p:oleObj name="位图图像" r:id="rId17" imgW="2247619" imgH="1685714" progId="PBrush">
                  <p:embed/>
                  <p:pic>
                    <p:nvPicPr>
                      <p:cNvPr id="0" name="Picture 3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4" r:id="rId12"/>
    <p:sldLayoutId id="2147483929" r:id="rId13"/>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solidFill>
                <a:srgbClr val="000000"/>
              </a:solidFill>
              <a:ea typeface="宋体" pitchFamily="2" charset="-122"/>
            </a:endParaRPr>
          </a:p>
        </p:txBody>
      </p:sp>
      <p:sp>
        <p:nvSpPr>
          <p:cNvPr id="1029" name="Rectangle 5"/>
          <p:cNvSpPr>
            <a:spLocks noGrp="1" noChangeArrowheads="1"/>
          </p:cNvSpPr>
          <p:nvPr>
            <p:ph type="ftr" sz="quarter" idx="3"/>
          </p:nvPr>
        </p:nvSpPr>
        <p:spPr bwMode="gray">
          <a:xfrm>
            <a:off x="7620000" y="6483357"/>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solidFill>
                <a:srgbClr val="000000"/>
              </a:solidFill>
            </a:endParaRPr>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solidFill>
                  <a:srgbClr val="000000"/>
                </a:solidFill>
              </a:rPr>
              <a:pPr>
                <a:defRPr/>
              </a:pPr>
              <a:t>‹#›</a:t>
            </a:fld>
            <a:endParaRPr lang="en-US" altLang="zh-CN">
              <a:solidFill>
                <a:srgbClr val="000000"/>
              </a:solidFill>
            </a:endParaRPr>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solidFill>
                <a:srgbClr val="000000"/>
              </a:solidFill>
            </a:endParaRPr>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1" y="800104"/>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solidFill>
                    <a:srgbClr val="000000"/>
                  </a:solidFill>
                </a:endParaRPr>
              </a:p>
            </p:txBody>
          </p:sp>
        </p:grpSp>
        <p:pic>
          <p:nvPicPr>
            <p:cNvPr id="1036" name="Picture 195" descr="Untitled-4 copy"/>
            <p:cNvPicPr>
              <a:picLocks noChangeAspect="1" noChangeArrowheads="1"/>
            </p:cNvPicPr>
            <p:nvPr userDrawn="1"/>
          </p:nvPicPr>
          <p:blipFill>
            <a:blip r:embed="rId16"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4"/>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513112" name="位图图像" r:id="rId17" imgW="2247619" imgH="1685714" progId="PBrush">
                  <p:embed/>
                </p:oleObj>
              </mc:Choice>
              <mc:Fallback>
                <p:oleObj name="位图图像" r:id="rId17" imgW="2247619" imgH="1685714" progId="PBrush">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extLst>
      <p:ext uri="{BB962C8B-B14F-4D97-AF65-F5344CB8AC3E}">
        <p14:creationId xmlns:p14="http://schemas.microsoft.com/office/powerpoint/2010/main" val="2171459809"/>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189" algn="l" rtl="0" eaLnBrk="1" fontAlgn="base" hangingPunct="1">
        <a:spcBef>
          <a:spcPct val="0"/>
        </a:spcBef>
        <a:spcAft>
          <a:spcPct val="0"/>
        </a:spcAft>
        <a:defRPr sz="3200">
          <a:solidFill>
            <a:schemeClr val="tx2"/>
          </a:solidFill>
          <a:latin typeface="Arial" charset="0"/>
        </a:defRPr>
      </a:lvl6pPr>
      <a:lvl7pPr marL="914377" algn="l" rtl="0" eaLnBrk="1" fontAlgn="base" hangingPunct="1">
        <a:spcBef>
          <a:spcPct val="0"/>
        </a:spcBef>
        <a:spcAft>
          <a:spcPct val="0"/>
        </a:spcAft>
        <a:defRPr sz="3200">
          <a:solidFill>
            <a:schemeClr val="tx2"/>
          </a:solidFill>
          <a:latin typeface="Arial" charset="0"/>
        </a:defRPr>
      </a:lvl7pPr>
      <a:lvl8pPr marL="1371566" algn="l" rtl="0" eaLnBrk="1" fontAlgn="base" hangingPunct="1">
        <a:spcBef>
          <a:spcPct val="0"/>
        </a:spcBef>
        <a:spcAft>
          <a:spcPct val="0"/>
        </a:spcAft>
        <a:defRPr sz="3200">
          <a:solidFill>
            <a:schemeClr val="tx2"/>
          </a:solidFill>
          <a:latin typeface="Arial" charset="0"/>
        </a:defRPr>
      </a:lvl8pPr>
      <a:lvl9pPr marL="1828754" algn="l" rtl="0" eaLnBrk="1" fontAlgn="base" hangingPunct="1">
        <a:spcBef>
          <a:spcPct val="0"/>
        </a:spcBef>
        <a:spcAft>
          <a:spcPct val="0"/>
        </a:spcAft>
        <a:defRPr sz="3200">
          <a:solidFill>
            <a:schemeClr val="tx2"/>
          </a:solidFill>
          <a:latin typeface="Arial" charset="0"/>
        </a:defRPr>
      </a:lvl9pPr>
    </p:titleStyle>
    <p:bodyStyle>
      <a:lvl1pPr marL="342891" indent="-342891"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2971" indent="-228594" algn="l" rtl="0" eaLnBrk="0" fontAlgn="base" hangingPunct="0">
        <a:spcBef>
          <a:spcPct val="20000"/>
        </a:spcBef>
        <a:spcAft>
          <a:spcPct val="0"/>
        </a:spcAft>
        <a:buClr>
          <a:schemeClr val="accent2"/>
        </a:buClr>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2.wmf"/><Relationship Id="rId2" Type="http://schemas.openxmlformats.org/officeDocument/2006/relationships/slideLayout" Target="../slideLayouts/slideLayout15.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5.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5.xml"/><Relationship Id="rId1" Type="http://schemas.openxmlformats.org/officeDocument/2006/relationships/vmlDrawing" Target="../drawings/vmlDrawing8.vml"/><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5.xml"/><Relationship Id="rId1" Type="http://schemas.openxmlformats.org/officeDocument/2006/relationships/vmlDrawing" Target="../drawings/vmlDrawing9.vml"/><Relationship Id="rId4" Type="http://schemas.openxmlformats.org/officeDocument/2006/relationships/image" Target="../media/image13.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5.xml"/><Relationship Id="rId1" Type="http://schemas.openxmlformats.org/officeDocument/2006/relationships/vmlDrawing" Target="../drawings/vmlDrawing10.vml"/><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5.xml"/><Relationship Id="rId1" Type="http://schemas.openxmlformats.org/officeDocument/2006/relationships/vmlDrawing" Target="../drawings/vmlDrawing11.vml"/><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5.xml"/><Relationship Id="rId1" Type="http://schemas.openxmlformats.org/officeDocument/2006/relationships/vmlDrawing" Target="../drawings/vmlDrawing12.vml"/><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5.xml"/><Relationship Id="rId1" Type="http://schemas.openxmlformats.org/officeDocument/2006/relationships/vmlDrawing" Target="../drawings/vmlDrawing13.vml"/><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9.bin"/><Relationship Id="rId5" Type="http://schemas.openxmlformats.org/officeDocument/2006/relationships/image" Target="../media/image19.wmf"/><Relationship Id="rId4"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3" Type="http://schemas.openxmlformats.org/officeDocument/2006/relationships/hyperlink" Target="http://images.cnblogs.com/cnblogs_com/superhuake/201207/201207252246296022.pn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2.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33.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slide" Target="slide50.xml"/><Relationship Id="rId3" Type="http://schemas.openxmlformats.org/officeDocument/2006/relationships/notesSlide" Target="../notesSlides/notesSlide14.xml"/><Relationship Id="rId7" Type="http://schemas.openxmlformats.org/officeDocument/2006/relationships/oleObject" Target="../embeddings/oleObject23.bin"/><Relationship Id="rId12"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23.wmf"/><Relationship Id="rId11" Type="http://schemas.openxmlformats.org/officeDocument/2006/relationships/oleObject" Target="../embeddings/oleObject25.bin"/><Relationship Id="rId5" Type="http://schemas.openxmlformats.org/officeDocument/2006/relationships/oleObject" Target="../embeddings/oleObject22.bin"/><Relationship Id="rId15" Type="http://schemas.openxmlformats.org/officeDocument/2006/relationships/image" Target="../media/image10.wmf"/><Relationship Id="rId10" Type="http://schemas.openxmlformats.org/officeDocument/2006/relationships/image" Target="../media/image25.wmf"/><Relationship Id="rId4" Type="http://schemas.openxmlformats.org/officeDocument/2006/relationships/image" Target="../media/image27.jpeg"/><Relationship Id="rId9" Type="http://schemas.openxmlformats.org/officeDocument/2006/relationships/oleObject" Target="../embeddings/oleObject24.bin"/><Relationship Id="rId14" Type="http://schemas.openxmlformats.org/officeDocument/2006/relationships/oleObject" Target="../embeddings/oleObject26.bin"/></Relationships>
</file>

<file path=ppt/slides/_rels/slide3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15.xml"/><Relationship Id="rId7" Type="http://schemas.openxmlformats.org/officeDocument/2006/relationships/slide" Target="slide14.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29.png"/><Relationship Id="rId5" Type="http://schemas.openxmlformats.org/officeDocument/2006/relationships/image" Target="../media/image28.wmf"/><Relationship Id="rId4" Type="http://schemas.openxmlformats.org/officeDocument/2006/relationships/oleObject" Target="../embeddings/oleObject27.bin"/><Relationship Id="rId9" Type="http://schemas.openxmlformats.org/officeDocument/2006/relationships/image" Target="../media/image310.png"/></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4.wmf"/></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7.wmf"/><Relationship Id="rId4" Type="http://schemas.openxmlformats.org/officeDocument/2006/relationships/oleObject" Target="../embeddings/oleObject29.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31.bin"/><Relationship Id="rId5" Type="http://schemas.openxmlformats.org/officeDocument/2006/relationships/image" Target="../media/image20.wmf"/><Relationship Id="rId4" Type="http://schemas.openxmlformats.org/officeDocument/2006/relationships/oleObject" Target="../embeddings/oleObject30.bin"/></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19.xml"/><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33.bin"/><Relationship Id="rId5" Type="http://schemas.openxmlformats.org/officeDocument/2006/relationships/image" Target="../media/image46.wmf"/><Relationship Id="rId4" Type="http://schemas.openxmlformats.org/officeDocument/2006/relationships/oleObject" Target="../embeddings/oleObject32.bin"/><Relationship Id="rId9" Type="http://schemas.openxmlformats.org/officeDocument/2006/relationships/image" Target="../media/image48.wmf"/></Relationships>
</file>

<file path=ppt/slides/_rels/slide5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jpeg"/></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5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36.bin"/><Relationship Id="rId5" Type="http://schemas.openxmlformats.org/officeDocument/2006/relationships/image" Target="../media/image57.wmf"/><Relationship Id="rId4" Type="http://schemas.openxmlformats.org/officeDocument/2006/relationships/oleObject" Target="../embeddings/oleObject35.bin"/></Relationships>
</file>

<file path=ppt/slides/_rels/slide61.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notesSlide" Target="../notesSlides/notesSlide24.xml"/><Relationship Id="rId7" Type="http://schemas.openxmlformats.org/officeDocument/2006/relationships/oleObject" Target="../embeddings/oleObject38.bin"/><Relationship Id="rId12"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59.wmf"/><Relationship Id="rId11" Type="http://schemas.openxmlformats.org/officeDocument/2006/relationships/oleObject" Target="../embeddings/oleObject40.bin"/><Relationship Id="rId5" Type="http://schemas.openxmlformats.org/officeDocument/2006/relationships/oleObject" Target="../embeddings/oleObject37.bin"/><Relationship Id="rId10" Type="http://schemas.openxmlformats.org/officeDocument/2006/relationships/image" Target="../media/image61.wmf"/><Relationship Id="rId4" Type="http://schemas.openxmlformats.org/officeDocument/2006/relationships/image" Target="../media/image62.png"/><Relationship Id="rId9" Type="http://schemas.openxmlformats.org/officeDocument/2006/relationships/oleObject" Target="../embeddings/oleObject39.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12.wmf"/><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oleObject" Target="../embeddings/oleObject42.bin"/><Relationship Id="rId5" Type="http://schemas.openxmlformats.org/officeDocument/2006/relationships/image" Target="../media/image11.wmf"/><Relationship Id="rId4" Type="http://schemas.openxmlformats.org/officeDocument/2006/relationships/oleObject" Target="../embeddings/oleObject41.bin"/></Relationships>
</file>

<file path=ppt/slides/_rels/slide75.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slide" Target="slide50.xml"/><Relationship Id="rId3" Type="http://schemas.openxmlformats.org/officeDocument/2006/relationships/notesSlide" Target="../notesSlides/notesSlide30.xml"/><Relationship Id="rId7" Type="http://schemas.openxmlformats.org/officeDocument/2006/relationships/oleObject" Target="../embeddings/oleObject44.bin"/><Relationship Id="rId12"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65.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67.wmf"/><Relationship Id="rId4" Type="http://schemas.openxmlformats.org/officeDocument/2006/relationships/image" Target="../media/image27.jpeg"/><Relationship Id="rId9" Type="http://schemas.openxmlformats.org/officeDocument/2006/relationships/oleObject" Target="../embeddings/oleObject45.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10.wmf"/><Relationship Id="rId4" Type="http://schemas.openxmlformats.org/officeDocument/2006/relationships/oleObject" Target="../embeddings/oleObject4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2166938" y="2071688"/>
            <a:ext cx="8001000" cy="747712"/>
          </a:xfrm>
        </p:spPr>
        <p:txBody>
          <a:bodyPr/>
          <a:lstStyle/>
          <a:p>
            <a:pPr>
              <a:lnSpc>
                <a:spcPct val="65000"/>
              </a:lnSpc>
              <a:spcBef>
                <a:spcPct val="50000"/>
              </a:spcBef>
              <a:defRPr/>
            </a:pPr>
            <a:r>
              <a:rPr lang="zh-CN" altLang="en-US" sz="4400" dirty="0">
                <a:latin typeface="方正姚体" pitchFamily="2" charset="-122"/>
                <a:ea typeface="方正姚体" pitchFamily="2" charset="-122"/>
                <a:cs typeface="+mn-cs"/>
              </a:rPr>
              <a:t>模式识别</a:t>
            </a:r>
            <a:endParaRPr lang="zh-CN" altLang="en-GB" sz="4400" dirty="0">
              <a:latin typeface="方正姚体" pitchFamily="2" charset="-122"/>
              <a:ea typeface="方正姚体" pitchFamily="2" charset="-122"/>
              <a:cs typeface="+mn-cs"/>
            </a:endParaRPr>
          </a:p>
        </p:txBody>
      </p:sp>
      <p:sp>
        <p:nvSpPr>
          <p:cNvPr id="4" name="矩形 3"/>
          <p:cNvSpPr/>
          <p:nvPr/>
        </p:nvSpPr>
        <p:spPr>
          <a:xfrm>
            <a:off x="4667240" y="3244335"/>
            <a:ext cx="4357718" cy="1200329"/>
          </a:xfrm>
          <a:prstGeom prst="rect">
            <a:avLst/>
          </a:prstGeom>
        </p:spPr>
        <p:txBody>
          <a:bodyPr wrap="square">
            <a:spAutoFit/>
          </a:bodyPr>
          <a:lstStyle/>
          <a:p>
            <a:r>
              <a:rPr lang="zh-CN" altLang="en-US" sz="3600" b="1" dirty="0"/>
              <a:t>集成学习 </a:t>
            </a:r>
            <a:endParaRPr lang="en-US" altLang="zh-CN" sz="3600" b="1" dirty="0"/>
          </a:p>
          <a:p>
            <a:r>
              <a:rPr lang="en-US" altLang="zh-CN" sz="3600" b="1" dirty="0"/>
              <a:t>                     </a:t>
            </a:r>
            <a:endParaRPr lang="zh-CN" alt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第十二章 集成学习</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1524354" y="5425002"/>
            <a:ext cx="9143646"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sp>
        <p:nvSpPr>
          <p:cNvPr id="3" name="矩形 2"/>
          <p:cNvSpPr/>
          <p:nvPr/>
        </p:nvSpPr>
        <p:spPr>
          <a:xfrm>
            <a:off x="3309918" y="1571612"/>
            <a:ext cx="5818968" cy="1569660"/>
          </a:xfrm>
          <a:prstGeom prst="rect">
            <a:avLst/>
          </a:prstGeom>
        </p:spPr>
        <p:txBody>
          <a:bodyPr wrap="square">
            <a:spAutoFit/>
          </a:bodyPr>
          <a:lstStyle/>
          <a:p>
            <a:pPr>
              <a:lnSpc>
                <a:spcPct val="150000"/>
              </a:lnSpc>
            </a:pPr>
            <a:r>
              <a:rPr lang="en-US" sz="3200" b="1" dirty="0"/>
              <a:t>12.</a:t>
            </a:r>
            <a:r>
              <a:rPr lang="en-US" altLang="zh-CN" sz="3200" b="1" dirty="0"/>
              <a:t>4</a:t>
            </a:r>
            <a:r>
              <a:rPr lang="en-US" sz="3200" b="1" dirty="0"/>
              <a:t>  </a:t>
            </a:r>
            <a:r>
              <a:rPr lang="zh-CN" altLang="en-US" sz="3200" b="1" dirty="0"/>
              <a:t>决策树</a:t>
            </a:r>
          </a:p>
          <a:p>
            <a:pPr>
              <a:lnSpc>
                <a:spcPct val="150000"/>
              </a:lnSpc>
            </a:pPr>
            <a:r>
              <a:rPr lang="en-US" sz="3200" b="1" dirty="0"/>
              <a:t>12.</a:t>
            </a:r>
            <a:r>
              <a:rPr lang="en-US" altLang="zh-CN" sz="3200" b="1" dirty="0"/>
              <a:t>5</a:t>
            </a:r>
            <a:r>
              <a:rPr lang="en-US" sz="3200" b="1" dirty="0"/>
              <a:t>  </a:t>
            </a:r>
            <a:r>
              <a:rPr lang="zh-CN" altLang="en-US" sz="3200" b="1" dirty="0"/>
              <a:t>随机森林</a:t>
            </a:r>
            <a:endParaRPr lang="en-US" altLang="zh-CN" sz="3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5"/>
          <p:cNvSpPr txBox="1">
            <a:spLocks noChangeArrowheads="1"/>
          </p:cNvSpPr>
          <p:nvPr/>
        </p:nvSpPr>
        <p:spPr bwMode="auto">
          <a:xfrm>
            <a:off x="5353522" y="180550"/>
            <a:ext cx="3057525" cy="584200"/>
          </a:xfrm>
          <a:prstGeom prst="rect">
            <a:avLst/>
          </a:prstGeom>
          <a:noFill/>
          <a:ln w="9525">
            <a:noFill/>
            <a:miter lim="800000"/>
            <a:headEnd/>
            <a:tailEnd/>
          </a:ln>
        </p:spPr>
        <p:txBody>
          <a:bodyPr wrap="none">
            <a:spAutoFit/>
          </a:bodyPr>
          <a:lstStyle/>
          <a:p>
            <a:r>
              <a:rPr lang="zh-CN" altLang="en-US" sz="3200" dirty="0">
                <a:solidFill>
                  <a:srgbClr val="000000"/>
                </a:solidFill>
              </a:rPr>
              <a:t>决策树基本概念</a:t>
            </a:r>
          </a:p>
        </p:txBody>
      </p:sp>
      <p:sp>
        <p:nvSpPr>
          <p:cNvPr id="14339" name="Text Box 6"/>
          <p:cNvSpPr txBox="1">
            <a:spLocks noChangeArrowheads="1"/>
          </p:cNvSpPr>
          <p:nvPr/>
        </p:nvSpPr>
        <p:spPr bwMode="auto">
          <a:xfrm>
            <a:off x="394494" y="960058"/>
            <a:ext cx="2338388" cy="523875"/>
          </a:xfrm>
          <a:prstGeom prst="rect">
            <a:avLst/>
          </a:prstGeom>
          <a:noFill/>
          <a:ln w="9525">
            <a:noFill/>
            <a:miter lim="800000"/>
            <a:headEnd/>
            <a:tailEnd/>
          </a:ln>
        </p:spPr>
        <p:txBody>
          <a:bodyPr wrap="none">
            <a:spAutoFit/>
          </a:bodyPr>
          <a:lstStyle/>
          <a:p>
            <a:r>
              <a:rPr lang="zh-CN" altLang="en-US" sz="2800" dirty="0">
                <a:solidFill>
                  <a:srgbClr val="000000"/>
                </a:solidFill>
              </a:rPr>
              <a:t>关于分类问题</a:t>
            </a:r>
          </a:p>
        </p:txBody>
      </p:sp>
      <p:graphicFrame>
        <p:nvGraphicFramePr>
          <p:cNvPr id="749645" name="Group 77"/>
          <p:cNvGraphicFramePr>
            <a:graphicFrameLocks noGrp="1"/>
          </p:cNvGraphicFramePr>
          <p:nvPr>
            <p:extLst>
              <p:ext uri="{D42A27DB-BD31-4B8C-83A1-F6EECF244321}">
                <p14:modId xmlns:p14="http://schemas.microsoft.com/office/powerpoint/2010/main" val="828910988"/>
              </p:ext>
            </p:extLst>
          </p:nvPr>
        </p:nvGraphicFramePr>
        <p:xfrm>
          <a:off x="1814513" y="1495186"/>
          <a:ext cx="8785225" cy="2897823"/>
        </p:xfrm>
        <a:graphic>
          <a:graphicData uri="http://schemas.openxmlformats.org/drawingml/2006/table">
            <a:tbl>
              <a:tblPr/>
              <a:tblGrid>
                <a:gridCol w="976313">
                  <a:extLst>
                    <a:ext uri="{9D8B030D-6E8A-4147-A177-3AD203B41FA5}">
                      <a16:colId xmlns:a16="http://schemas.microsoft.com/office/drawing/2014/main" val="20000"/>
                    </a:ext>
                  </a:extLst>
                </a:gridCol>
                <a:gridCol w="974725">
                  <a:extLst>
                    <a:ext uri="{9D8B030D-6E8A-4147-A177-3AD203B41FA5}">
                      <a16:colId xmlns:a16="http://schemas.microsoft.com/office/drawing/2014/main" val="20001"/>
                    </a:ext>
                  </a:extLst>
                </a:gridCol>
                <a:gridCol w="977900">
                  <a:extLst>
                    <a:ext uri="{9D8B030D-6E8A-4147-A177-3AD203B41FA5}">
                      <a16:colId xmlns:a16="http://schemas.microsoft.com/office/drawing/2014/main" val="20002"/>
                    </a:ext>
                  </a:extLst>
                </a:gridCol>
                <a:gridCol w="976312">
                  <a:extLst>
                    <a:ext uri="{9D8B030D-6E8A-4147-A177-3AD203B41FA5}">
                      <a16:colId xmlns:a16="http://schemas.microsoft.com/office/drawing/2014/main" val="20003"/>
                    </a:ext>
                  </a:extLst>
                </a:gridCol>
                <a:gridCol w="974725">
                  <a:extLst>
                    <a:ext uri="{9D8B030D-6E8A-4147-A177-3AD203B41FA5}">
                      <a16:colId xmlns:a16="http://schemas.microsoft.com/office/drawing/2014/main" val="20004"/>
                    </a:ext>
                  </a:extLst>
                </a:gridCol>
                <a:gridCol w="976313">
                  <a:extLst>
                    <a:ext uri="{9D8B030D-6E8A-4147-A177-3AD203B41FA5}">
                      <a16:colId xmlns:a16="http://schemas.microsoft.com/office/drawing/2014/main" val="20005"/>
                    </a:ext>
                  </a:extLst>
                </a:gridCol>
                <a:gridCol w="977900">
                  <a:extLst>
                    <a:ext uri="{9D8B030D-6E8A-4147-A177-3AD203B41FA5}">
                      <a16:colId xmlns:a16="http://schemas.microsoft.com/office/drawing/2014/main" val="20006"/>
                    </a:ext>
                  </a:extLst>
                </a:gridCol>
                <a:gridCol w="974725">
                  <a:extLst>
                    <a:ext uri="{9D8B030D-6E8A-4147-A177-3AD203B41FA5}">
                      <a16:colId xmlns:a16="http://schemas.microsoft.com/office/drawing/2014/main" val="20007"/>
                    </a:ext>
                  </a:extLst>
                </a:gridCol>
                <a:gridCol w="976312">
                  <a:extLst>
                    <a:ext uri="{9D8B030D-6E8A-4147-A177-3AD203B41FA5}">
                      <a16:colId xmlns:a16="http://schemas.microsoft.com/office/drawing/2014/main" val="20008"/>
                    </a:ext>
                  </a:extLst>
                </a:gridCol>
              </a:tblGrid>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体温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表皮覆盖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胎生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水生动物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飞行动物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有腿</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冬眠</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类标号</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8163">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人类</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恒温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毛发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哺乳动物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海龟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冷血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鳞片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爬行类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8163">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鸽子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恒温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羽毛</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鸟类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恒温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毛发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800" b="0" i="0" u="none" strike="noStrike" cap="none" normalizeH="0" baseline="0">
                          <a:ln>
                            <a:noFill/>
                          </a:ln>
                          <a:solidFill>
                            <a:schemeClr val="tx1"/>
                          </a:solidFill>
                          <a:effectLst/>
                          <a:latin typeface="Times New Roman" pitchFamily="18" charset="0"/>
                          <a:ea typeface="宋体" pitchFamily="2" charset="-122"/>
                        </a:rPr>
                        <a:t>哺乳类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402" name="Oval 78"/>
          <p:cNvSpPr>
            <a:spLocks noChangeArrowheads="1"/>
          </p:cNvSpPr>
          <p:nvPr/>
        </p:nvSpPr>
        <p:spPr bwMode="auto">
          <a:xfrm>
            <a:off x="1563688" y="1207849"/>
            <a:ext cx="7885113" cy="3299590"/>
          </a:xfrm>
          <a:prstGeom prst="ellipse">
            <a:avLst/>
          </a:prstGeom>
          <a:noFill/>
          <a:ln w="12700">
            <a:solidFill>
              <a:srgbClr val="CC0099"/>
            </a:solidFill>
            <a:round/>
            <a:headEnd/>
            <a:tailEnd/>
          </a:ln>
        </p:spPr>
        <p:txBody>
          <a:bodyPr wrap="none" anchor="ctr"/>
          <a:lstStyle/>
          <a:p>
            <a:endParaRPr lang="zh-CN" altLang="en-US">
              <a:solidFill>
                <a:srgbClr val="000000"/>
              </a:solidFill>
            </a:endParaRPr>
          </a:p>
        </p:txBody>
      </p:sp>
      <p:sp>
        <p:nvSpPr>
          <p:cNvPr id="14403" name="Oval 79"/>
          <p:cNvSpPr>
            <a:spLocks noChangeArrowheads="1"/>
          </p:cNvSpPr>
          <p:nvPr/>
        </p:nvSpPr>
        <p:spPr bwMode="auto">
          <a:xfrm>
            <a:off x="9736138" y="988773"/>
            <a:ext cx="720725" cy="3487320"/>
          </a:xfrm>
          <a:prstGeom prst="ellipse">
            <a:avLst/>
          </a:prstGeom>
          <a:noFill/>
          <a:ln w="28575">
            <a:solidFill>
              <a:srgbClr val="33CCFF"/>
            </a:solidFill>
            <a:round/>
            <a:headEnd/>
            <a:tailEnd/>
          </a:ln>
        </p:spPr>
        <p:txBody>
          <a:bodyPr wrap="none" anchor="ctr"/>
          <a:lstStyle/>
          <a:p>
            <a:pPr algn="ctr"/>
            <a:endParaRPr lang="zh-CN" altLang="zh-CN">
              <a:solidFill>
                <a:srgbClr val="000000"/>
              </a:solidFill>
            </a:endParaRPr>
          </a:p>
        </p:txBody>
      </p:sp>
      <p:sp>
        <p:nvSpPr>
          <p:cNvPr id="14404" name="Text Box 80"/>
          <p:cNvSpPr txBox="1">
            <a:spLocks noChangeArrowheads="1"/>
          </p:cNvSpPr>
          <p:nvPr/>
        </p:nvSpPr>
        <p:spPr bwMode="auto">
          <a:xfrm>
            <a:off x="5353522" y="1166617"/>
            <a:ext cx="338554" cy="369332"/>
          </a:xfrm>
          <a:prstGeom prst="rect">
            <a:avLst/>
          </a:prstGeom>
          <a:noFill/>
          <a:ln w="9525">
            <a:noFill/>
            <a:miter lim="800000"/>
            <a:headEnd/>
            <a:tailEnd/>
          </a:ln>
        </p:spPr>
        <p:txBody>
          <a:bodyPr wrap="none">
            <a:spAutoFit/>
          </a:bodyPr>
          <a:lstStyle/>
          <a:p>
            <a:r>
              <a:rPr lang="en-US" altLang="zh-CN">
                <a:solidFill>
                  <a:srgbClr val="000000"/>
                </a:solidFill>
              </a:rPr>
              <a:t>X</a:t>
            </a:r>
          </a:p>
        </p:txBody>
      </p:sp>
      <p:sp>
        <p:nvSpPr>
          <p:cNvPr id="14405" name="Text Box 82"/>
          <p:cNvSpPr txBox="1">
            <a:spLocks noChangeArrowheads="1"/>
          </p:cNvSpPr>
          <p:nvPr/>
        </p:nvSpPr>
        <p:spPr bwMode="auto">
          <a:xfrm>
            <a:off x="9928224" y="1060126"/>
            <a:ext cx="300082" cy="369332"/>
          </a:xfrm>
          <a:prstGeom prst="rect">
            <a:avLst/>
          </a:prstGeom>
          <a:noFill/>
          <a:ln w="9525">
            <a:noFill/>
            <a:miter lim="800000"/>
            <a:headEnd/>
            <a:tailEnd/>
          </a:ln>
        </p:spPr>
        <p:txBody>
          <a:bodyPr wrap="none">
            <a:spAutoFit/>
          </a:bodyPr>
          <a:lstStyle/>
          <a:p>
            <a:r>
              <a:rPr lang="en-US" altLang="zh-CN" dirty="0">
                <a:solidFill>
                  <a:srgbClr val="000000"/>
                </a:solidFill>
              </a:rPr>
              <a:t>y</a:t>
            </a:r>
          </a:p>
        </p:txBody>
      </p:sp>
      <p:sp>
        <p:nvSpPr>
          <p:cNvPr id="14406" name="Text Box 83"/>
          <p:cNvSpPr txBox="1">
            <a:spLocks noChangeArrowheads="1"/>
          </p:cNvSpPr>
          <p:nvPr/>
        </p:nvSpPr>
        <p:spPr bwMode="auto">
          <a:xfrm>
            <a:off x="889127" y="6273095"/>
            <a:ext cx="2031325" cy="461665"/>
          </a:xfrm>
          <a:prstGeom prst="rect">
            <a:avLst/>
          </a:prstGeom>
          <a:noFill/>
          <a:ln w="9525">
            <a:noFill/>
            <a:miter lim="800000"/>
            <a:headEnd/>
            <a:tailEnd/>
          </a:ln>
        </p:spPr>
        <p:txBody>
          <a:bodyPr wrap="none">
            <a:spAutoFit/>
          </a:bodyPr>
          <a:lstStyle/>
          <a:p>
            <a:r>
              <a:rPr lang="zh-CN" altLang="en-US" sz="2400" dirty="0">
                <a:solidFill>
                  <a:srgbClr val="000000"/>
                </a:solidFill>
              </a:rPr>
              <a:t>分类与回归：</a:t>
            </a:r>
          </a:p>
        </p:txBody>
      </p:sp>
      <p:sp>
        <p:nvSpPr>
          <p:cNvPr id="14407" name="Text Box 84"/>
          <p:cNvSpPr txBox="1">
            <a:spLocks noChangeArrowheads="1"/>
          </p:cNvSpPr>
          <p:nvPr/>
        </p:nvSpPr>
        <p:spPr bwMode="auto">
          <a:xfrm>
            <a:off x="2788545" y="6273095"/>
            <a:ext cx="6889750" cy="457200"/>
          </a:xfrm>
          <a:prstGeom prst="rect">
            <a:avLst/>
          </a:prstGeom>
          <a:noFill/>
          <a:ln w="9525">
            <a:noFill/>
            <a:miter lim="800000"/>
            <a:headEnd/>
            <a:tailEnd/>
          </a:ln>
        </p:spPr>
        <p:txBody>
          <a:bodyPr wrap="none">
            <a:spAutoFit/>
          </a:bodyPr>
          <a:lstStyle/>
          <a:p>
            <a:r>
              <a:rPr lang="zh-CN" altLang="en-US" sz="2400" dirty="0">
                <a:solidFill>
                  <a:srgbClr val="000000"/>
                </a:solidFill>
              </a:rPr>
              <a:t>分类目标属性</a:t>
            </a:r>
            <a:r>
              <a:rPr lang="en-US" altLang="zh-CN" sz="2400" dirty="0">
                <a:solidFill>
                  <a:srgbClr val="000000"/>
                </a:solidFill>
              </a:rPr>
              <a:t>y</a:t>
            </a:r>
            <a:r>
              <a:rPr lang="zh-CN" altLang="en-US" sz="2400" dirty="0">
                <a:solidFill>
                  <a:srgbClr val="000000"/>
                </a:solidFill>
              </a:rPr>
              <a:t>是离散的，回归目标属性</a:t>
            </a:r>
            <a:r>
              <a:rPr lang="en-US" altLang="zh-CN" sz="2400" dirty="0">
                <a:solidFill>
                  <a:srgbClr val="000000"/>
                </a:solidFill>
              </a:rPr>
              <a:t>y</a:t>
            </a:r>
            <a:r>
              <a:rPr lang="zh-CN" altLang="en-US" sz="2400" dirty="0">
                <a:solidFill>
                  <a:srgbClr val="000000"/>
                </a:solidFill>
              </a:rPr>
              <a:t>是连续的</a:t>
            </a:r>
          </a:p>
        </p:txBody>
      </p:sp>
      <p:sp>
        <p:nvSpPr>
          <p:cNvPr id="11" name="灯片编号占位符 10"/>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3</a:t>
            </a:fld>
            <a:endParaRPr lang="en-US" altLang="zh-CN">
              <a:solidFill>
                <a:srgbClr val="000000"/>
              </a:solidFill>
            </a:endParaRPr>
          </a:p>
        </p:txBody>
      </p:sp>
      <p:sp>
        <p:nvSpPr>
          <p:cNvPr id="12" name="Rectangle 2"/>
          <p:cNvSpPr txBox="1">
            <a:spLocks noChangeArrowheads="1"/>
          </p:cNvSpPr>
          <p:nvPr/>
        </p:nvSpPr>
        <p:spPr>
          <a:xfrm>
            <a:off x="1828800" y="152401"/>
            <a:ext cx="61722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solidFill>
                  <a:srgbClr val="000000"/>
                </a:solidFill>
              </a:rPr>
              <a:t>12.4 </a:t>
            </a:r>
            <a:r>
              <a:rPr lang="zh-CN" altLang="en-US" kern="0" dirty="0">
                <a:solidFill>
                  <a:srgbClr val="000000"/>
                </a:solidFill>
              </a:rPr>
              <a:t>决策树</a:t>
            </a:r>
            <a:endParaRPr lang="en-US" altLang="zh-CN" kern="0" dirty="0">
              <a:solidFill>
                <a:srgbClr val="000000"/>
              </a:solidFill>
            </a:endParaRPr>
          </a:p>
        </p:txBody>
      </p:sp>
      <p:sp>
        <p:nvSpPr>
          <p:cNvPr id="13" name="Text Box 15"/>
          <p:cNvSpPr txBox="1">
            <a:spLocks noChangeArrowheads="1"/>
          </p:cNvSpPr>
          <p:nvPr/>
        </p:nvSpPr>
        <p:spPr bwMode="auto">
          <a:xfrm>
            <a:off x="396008" y="4541821"/>
            <a:ext cx="10729192" cy="707886"/>
          </a:xfrm>
          <a:prstGeom prst="rect">
            <a:avLst/>
          </a:prstGeom>
          <a:noFill/>
          <a:ln w="9525">
            <a:noFill/>
            <a:miter lim="800000"/>
            <a:headEnd/>
            <a:tailEnd/>
          </a:ln>
        </p:spPr>
        <p:txBody>
          <a:bodyPr wrap="square">
            <a:spAutoFit/>
          </a:bodyPr>
          <a:lstStyle/>
          <a:p>
            <a:pPr algn="just"/>
            <a:r>
              <a:rPr lang="en-US" altLang="zh-CN" sz="2000" dirty="0">
                <a:solidFill>
                  <a:srgbClr val="000000"/>
                </a:solidFill>
              </a:rPr>
              <a:t>       </a:t>
            </a:r>
            <a:r>
              <a:rPr lang="zh-CN" altLang="en-US" sz="2000" dirty="0">
                <a:solidFill>
                  <a:srgbClr val="000000"/>
                </a:solidFill>
              </a:rPr>
              <a:t>分类任务的输入数据是记录的集合，每条记录也称为实例或者样例。用</a:t>
            </a:r>
            <a:r>
              <a:rPr lang="en-US" altLang="zh-CN" sz="2000" dirty="0">
                <a:solidFill>
                  <a:srgbClr val="000000"/>
                </a:solidFill>
              </a:rPr>
              <a:t>(</a:t>
            </a:r>
            <a:r>
              <a:rPr lang="en-US" altLang="zh-CN" sz="2000" dirty="0" err="1">
                <a:solidFill>
                  <a:srgbClr val="000000"/>
                </a:solidFill>
              </a:rPr>
              <a:t>x,y</a:t>
            </a:r>
            <a:r>
              <a:rPr lang="en-US" altLang="zh-CN" sz="2000" dirty="0">
                <a:solidFill>
                  <a:srgbClr val="000000"/>
                </a:solidFill>
              </a:rPr>
              <a:t>)</a:t>
            </a:r>
            <a:r>
              <a:rPr lang="zh-CN" altLang="en-US" sz="2000" dirty="0">
                <a:solidFill>
                  <a:srgbClr val="000000"/>
                </a:solidFill>
              </a:rPr>
              <a:t>表示，其中，</a:t>
            </a:r>
            <a:r>
              <a:rPr lang="en-US" altLang="zh-CN" sz="2000" dirty="0">
                <a:solidFill>
                  <a:srgbClr val="000000"/>
                </a:solidFill>
              </a:rPr>
              <a:t>x</a:t>
            </a:r>
            <a:r>
              <a:rPr lang="zh-CN" altLang="en-US" sz="2000" dirty="0">
                <a:solidFill>
                  <a:srgbClr val="000000"/>
                </a:solidFill>
              </a:rPr>
              <a:t>是属性集合，</a:t>
            </a:r>
            <a:r>
              <a:rPr lang="en-US" altLang="zh-CN" sz="2000" dirty="0">
                <a:solidFill>
                  <a:srgbClr val="000000"/>
                </a:solidFill>
              </a:rPr>
              <a:t>y</a:t>
            </a:r>
            <a:r>
              <a:rPr lang="zh-CN" altLang="en-US" sz="2000" dirty="0">
                <a:solidFill>
                  <a:srgbClr val="000000"/>
                </a:solidFill>
              </a:rPr>
              <a:t>是一个特殊的属性，指出样例的类标号（也称为分类属性或者目标属性）。</a:t>
            </a:r>
          </a:p>
        </p:txBody>
      </p:sp>
      <p:sp>
        <p:nvSpPr>
          <p:cNvPr id="14" name="Text Box 14"/>
          <p:cNvSpPr txBox="1">
            <a:spLocks noChangeArrowheads="1"/>
          </p:cNvSpPr>
          <p:nvPr/>
        </p:nvSpPr>
        <p:spPr bwMode="auto">
          <a:xfrm>
            <a:off x="431205" y="5508987"/>
            <a:ext cx="10801200" cy="830997"/>
          </a:xfrm>
          <a:prstGeom prst="rect">
            <a:avLst/>
          </a:prstGeom>
          <a:noFill/>
          <a:ln w="9525">
            <a:noFill/>
            <a:miter lim="800000"/>
            <a:headEnd/>
            <a:tailEnd/>
          </a:ln>
        </p:spPr>
        <p:txBody>
          <a:bodyPr wrap="square">
            <a:spAutoFit/>
          </a:bodyPr>
          <a:lstStyle/>
          <a:p>
            <a:pPr algn="just"/>
            <a:r>
              <a:rPr lang="en-US" altLang="zh-CN" sz="2400" dirty="0">
                <a:solidFill>
                  <a:srgbClr val="000000"/>
                </a:solidFill>
              </a:rPr>
              <a:t>     </a:t>
            </a:r>
            <a:r>
              <a:rPr lang="zh-CN" altLang="en-US" sz="2400" dirty="0">
                <a:solidFill>
                  <a:srgbClr val="000000"/>
                </a:solidFill>
              </a:rPr>
              <a:t>分类（</a:t>
            </a:r>
            <a:r>
              <a:rPr lang="en-US" altLang="zh-CN" sz="2400" dirty="0">
                <a:solidFill>
                  <a:srgbClr val="000000"/>
                </a:solidFill>
              </a:rPr>
              <a:t>Classification</a:t>
            </a:r>
            <a:r>
              <a:rPr lang="zh-CN" altLang="en-US" sz="2400" dirty="0">
                <a:solidFill>
                  <a:srgbClr val="000000"/>
                </a:solidFill>
              </a:rPr>
              <a:t>）任务就是通过学习获得</a:t>
            </a:r>
            <a:r>
              <a:rPr lang="zh-CN" altLang="en-US" sz="2400" dirty="0">
                <a:solidFill>
                  <a:srgbClr val="FF0000"/>
                </a:solidFill>
              </a:rPr>
              <a:t>目标函数</a:t>
            </a:r>
            <a:r>
              <a:rPr lang="en-US" altLang="zh-CN" sz="2400" dirty="0">
                <a:solidFill>
                  <a:srgbClr val="000000"/>
                </a:solidFill>
              </a:rPr>
              <a:t>f, </a:t>
            </a:r>
            <a:r>
              <a:rPr lang="zh-CN" altLang="en-US" sz="2400" dirty="0">
                <a:solidFill>
                  <a:srgbClr val="000000"/>
                </a:solidFill>
              </a:rPr>
              <a:t>将每个属性集</a:t>
            </a:r>
            <a:r>
              <a:rPr lang="en-US" altLang="zh-CN" sz="2400" dirty="0">
                <a:solidFill>
                  <a:srgbClr val="000000"/>
                </a:solidFill>
              </a:rPr>
              <a:t>x</a:t>
            </a:r>
            <a:r>
              <a:rPr lang="zh-CN" altLang="en-US" sz="2400" dirty="0">
                <a:solidFill>
                  <a:srgbClr val="000000"/>
                </a:solidFill>
              </a:rPr>
              <a:t>映射到一个预先定义好的类标号</a:t>
            </a:r>
            <a:r>
              <a:rPr lang="en-US" altLang="zh-CN" sz="2400" dirty="0">
                <a:solidFill>
                  <a:srgbClr val="000000"/>
                </a:solidFill>
              </a:rPr>
              <a:t>y</a:t>
            </a:r>
            <a:r>
              <a:rPr lang="zh-CN" altLang="en-US" sz="2400" dirty="0">
                <a:solidFill>
                  <a:srgbClr val="000000"/>
                </a:solidFill>
              </a:rPr>
              <a:t>。</a:t>
            </a:r>
          </a:p>
        </p:txBody>
      </p:sp>
      <p:sp>
        <p:nvSpPr>
          <p:cNvPr id="2" name="矩形 1"/>
          <p:cNvSpPr/>
          <p:nvPr/>
        </p:nvSpPr>
        <p:spPr>
          <a:xfrm>
            <a:off x="8220338" y="5202057"/>
            <a:ext cx="3031599" cy="369332"/>
          </a:xfrm>
          <a:prstGeom prst="rect">
            <a:avLst/>
          </a:prstGeom>
        </p:spPr>
        <p:txBody>
          <a:bodyPr wrap="none">
            <a:spAutoFit/>
          </a:bodyPr>
          <a:lstStyle/>
          <a:p>
            <a:pPr>
              <a:buFont typeface="Wingdings" pitchFamily="2" charset="2"/>
              <a:buNone/>
            </a:pPr>
            <a:r>
              <a:rPr lang="zh-CN" altLang="en-US" dirty="0">
                <a:solidFill>
                  <a:srgbClr val="0000FF"/>
                </a:solidFill>
              </a:rPr>
              <a:t>本文中“属性”和“特征”可互换</a:t>
            </a:r>
            <a:endParaRPr lang="en-US" altLang="zh-CN" dirty="0">
              <a:solidFill>
                <a:srgbClr val="0000FF"/>
              </a:solidFill>
            </a:endParaRPr>
          </a:p>
        </p:txBody>
      </p:sp>
    </p:spTree>
    <p:extLst>
      <p:ext uri="{BB962C8B-B14F-4D97-AF65-F5344CB8AC3E}">
        <p14:creationId xmlns:p14="http://schemas.microsoft.com/office/powerpoint/2010/main" val="1235443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5"/>
          <p:cNvSpPr txBox="1">
            <a:spLocks noChangeArrowheads="1"/>
          </p:cNvSpPr>
          <p:nvPr/>
        </p:nvSpPr>
        <p:spPr bwMode="auto">
          <a:xfrm>
            <a:off x="4646614" y="1052513"/>
            <a:ext cx="3057525" cy="584200"/>
          </a:xfrm>
          <a:prstGeom prst="rect">
            <a:avLst/>
          </a:prstGeom>
          <a:noFill/>
          <a:ln w="9525">
            <a:noFill/>
            <a:miter lim="800000"/>
            <a:headEnd/>
            <a:tailEnd/>
          </a:ln>
        </p:spPr>
        <p:txBody>
          <a:bodyPr wrap="none">
            <a:spAutoFit/>
          </a:bodyPr>
          <a:lstStyle/>
          <a:p>
            <a:r>
              <a:rPr lang="zh-CN" altLang="en-US" sz="3200">
                <a:solidFill>
                  <a:srgbClr val="000000"/>
                </a:solidFill>
              </a:rPr>
              <a:t>决策树基本概念</a:t>
            </a:r>
          </a:p>
        </p:txBody>
      </p:sp>
      <p:sp>
        <p:nvSpPr>
          <p:cNvPr id="16387" name="Text Box 6"/>
          <p:cNvSpPr txBox="1">
            <a:spLocks noChangeArrowheads="1"/>
          </p:cNvSpPr>
          <p:nvPr/>
        </p:nvSpPr>
        <p:spPr bwMode="auto">
          <a:xfrm>
            <a:off x="767408" y="1636713"/>
            <a:ext cx="1262062" cy="523875"/>
          </a:xfrm>
          <a:prstGeom prst="rect">
            <a:avLst/>
          </a:prstGeom>
          <a:noFill/>
          <a:ln w="9525">
            <a:noFill/>
            <a:miter lim="800000"/>
            <a:headEnd/>
            <a:tailEnd/>
          </a:ln>
        </p:spPr>
        <p:txBody>
          <a:bodyPr wrap="none">
            <a:spAutoFit/>
          </a:bodyPr>
          <a:lstStyle/>
          <a:p>
            <a:r>
              <a:rPr lang="zh-CN" altLang="en-US" sz="2800" dirty="0">
                <a:solidFill>
                  <a:srgbClr val="000000"/>
                </a:solidFill>
              </a:rPr>
              <a:t>决策树</a:t>
            </a:r>
          </a:p>
        </p:txBody>
      </p:sp>
      <p:sp>
        <p:nvSpPr>
          <p:cNvPr id="16388" name="Text Box 7"/>
          <p:cNvSpPr txBox="1">
            <a:spLocks noChangeArrowheads="1"/>
          </p:cNvSpPr>
          <p:nvPr/>
        </p:nvSpPr>
        <p:spPr bwMode="auto">
          <a:xfrm>
            <a:off x="767408" y="2214563"/>
            <a:ext cx="11017224" cy="1200329"/>
          </a:xfrm>
          <a:prstGeom prst="rect">
            <a:avLst/>
          </a:prstGeom>
          <a:noFill/>
          <a:ln w="9525">
            <a:noFill/>
            <a:miter lim="800000"/>
            <a:headEnd/>
            <a:tailEnd/>
          </a:ln>
        </p:spPr>
        <p:txBody>
          <a:bodyPr wrap="square">
            <a:spAutoFit/>
          </a:bodyPr>
          <a:lstStyle/>
          <a:p>
            <a:r>
              <a:rPr lang="en-US" altLang="zh-CN" sz="2400" dirty="0">
                <a:solidFill>
                  <a:srgbClr val="000000"/>
                </a:solidFill>
              </a:rPr>
              <a:t>        </a:t>
            </a:r>
            <a:r>
              <a:rPr lang="zh-CN" altLang="en-US" sz="2400" dirty="0">
                <a:solidFill>
                  <a:srgbClr val="000000"/>
                </a:solidFill>
              </a:rPr>
              <a:t>决策树是一种典型的分类方法，首先对数据进行处理，利用归纳算法生成可读的规则和决策树，然后使用决策对新数据进行分析。</a:t>
            </a:r>
            <a:endParaRPr lang="en-US" altLang="zh-CN" sz="2400" dirty="0">
              <a:solidFill>
                <a:srgbClr val="000000"/>
              </a:solidFill>
            </a:endParaRPr>
          </a:p>
          <a:p>
            <a:r>
              <a:rPr lang="en-US" altLang="zh-CN" sz="2400" dirty="0">
                <a:solidFill>
                  <a:srgbClr val="000000"/>
                </a:solidFill>
              </a:rPr>
              <a:t>        </a:t>
            </a:r>
            <a:r>
              <a:rPr lang="zh-CN" altLang="en-US" sz="2400" dirty="0">
                <a:solidFill>
                  <a:srgbClr val="000000"/>
                </a:solidFill>
              </a:rPr>
              <a:t>本质上</a:t>
            </a:r>
            <a:r>
              <a:rPr lang="zh-CN" altLang="en-US" sz="2400" dirty="0">
                <a:solidFill>
                  <a:srgbClr val="0000FF"/>
                </a:solidFill>
              </a:rPr>
              <a:t>决策树是通过一系列规则对数据进行分类的过程</a:t>
            </a:r>
            <a:r>
              <a:rPr lang="zh-CN" altLang="en-US" sz="2400" dirty="0">
                <a:solidFill>
                  <a:srgbClr val="000000"/>
                </a:solidFill>
              </a:rPr>
              <a:t>。</a:t>
            </a:r>
          </a:p>
        </p:txBody>
      </p:sp>
      <p:sp>
        <p:nvSpPr>
          <p:cNvPr id="16389" name="Text Box 8"/>
          <p:cNvSpPr txBox="1">
            <a:spLocks noChangeArrowheads="1"/>
          </p:cNvSpPr>
          <p:nvPr/>
        </p:nvSpPr>
        <p:spPr bwMode="auto">
          <a:xfrm>
            <a:off x="717080" y="4390707"/>
            <a:ext cx="10916592" cy="1938992"/>
          </a:xfrm>
          <a:prstGeom prst="rect">
            <a:avLst/>
          </a:prstGeom>
          <a:noFill/>
          <a:ln w="9525">
            <a:noFill/>
            <a:miter lim="800000"/>
            <a:headEnd/>
            <a:tailEnd/>
          </a:ln>
        </p:spPr>
        <p:txBody>
          <a:bodyPr wrap="square">
            <a:spAutoFit/>
          </a:bodyPr>
          <a:lstStyle/>
          <a:p>
            <a:r>
              <a:rPr lang="zh-CN" altLang="en-US" sz="2400" dirty="0">
                <a:solidFill>
                  <a:srgbClr val="000000"/>
                </a:solidFill>
              </a:rPr>
              <a:t>决策树的优点</a:t>
            </a:r>
          </a:p>
          <a:p>
            <a:r>
              <a:rPr lang="en-US" altLang="zh-CN" sz="2400" dirty="0">
                <a:solidFill>
                  <a:srgbClr val="000000"/>
                </a:solidFill>
              </a:rPr>
              <a:t>1</a:t>
            </a:r>
            <a:r>
              <a:rPr lang="zh-CN" altLang="en-US" sz="2400" dirty="0">
                <a:solidFill>
                  <a:srgbClr val="000000"/>
                </a:solidFill>
              </a:rPr>
              <a:t>、推理过程容易理解，决策推理过程可以表示成</a:t>
            </a:r>
            <a:r>
              <a:rPr lang="en-US" altLang="zh-CN" sz="2400" dirty="0">
                <a:solidFill>
                  <a:srgbClr val="000000"/>
                </a:solidFill>
              </a:rPr>
              <a:t>If Then</a:t>
            </a:r>
            <a:r>
              <a:rPr lang="zh-CN" altLang="en-US" sz="2400" dirty="0">
                <a:solidFill>
                  <a:srgbClr val="000000"/>
                </a:solidFill>
              </a:rPr>
              <a:t>形式；</a:t>
            </a:r>
          </a:p>
          <a:p>
            <a:r>
              <a:rPr lang="en-US" altLang="zh-CN" sz="2400" dirty="0">
                <a:solidFill>
                  <a:srgbClr val="000000"/>
                </a:solidFill>
              </a:rPr>
              <a:t>2</a:t>
            </a:r>
            <a:r>
              <a:rPr lang="zh-CN" altLang="en-US" sz="2400" dirty="0">
                <a:solidFill>
                  <a:srgbClr val="000000"/>
                </a:solidFill>
              </a:rPr>
              <a:t>、推理过程完全依赖于属性变量的取值特点；</a:t>
            </a:r>
          </a:p>
          <a:p>
            <a:r>
              <a:rPr lang="en-US" altLang="zh-CN" sz="2400" dirty="0">
                <a:solidFill>
                  <a:srgbClr val="000000"/>
                </a:solidFill>
              </a:rPr>
              <a:t>3</a:t>
            </a:r>
            <a:r>
              <a:rPr lang="zh-CN" altLang="en-US" sz="2400" dirty="0">
                <a:solidFill>
                  <a:srgbClr val="000000"/>
                </a:solidFill>
              </a:rPr>
              <a:t>、可自动忽略对目标变量没有贡献的属性变量，也为判断属性变量的重要性，减少变量的数目提供参考。</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4</a:t>
            </a:fld>
            <a:endParaRPr lang="en-US" altLang="zh-CN">
              <a:solidFill>
                <a:srgbClr val="000000"/>
              </a:solidFill>
            </a:endParaRPr>
          </a:p>
        </p:txBody>
      </p:sp>
      <p:sp>
        <p:nvSpPr>
          <p:cNvPr id="7" name="Rectangle 2"/>
          <p:cNvSpPr txBox="1">
            <a:spLocks noChangeArrowheads="1"/>
          </p:cNvSpPr>
          <p:nvPr/>
        </p:nvSpPr>
        <p:spPr>
          <a:xfrm>
            <a:off x="1828800" y="152401"/>
            <a:ext cx="61722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solidFill>
                  <a:srgbClr val="000000"/>
                </a:solidFill>
              </a:rPr>
              <a:t>12.4 </a:t>
            </a:r>
            <a:r>
              <a:rPr lang="zh-CN" altLang="en-US" kern="0" dirty="0">
                <a:solidFill>
                  <a:srgbClr val="000000"/>
                </a:solidFill>
              </a:rPr>
              <a:t>决策树</a:t>
            </a:r>
            <a:endParaRPr lang="en-US" altLang="zh-CN" kern="0" dirty="0">
              <a:solidFill>
                <a:srgbClr val="000000"/>
              </a:solidFill>
            </a:endParaRPr>
          </a:p>
        </p:txBody>
      </p:sp>
      <p:sp>
        <p:nvSpPr>
          <p:cNvPr id="8" name="Text Box 8"/>
          <p:cNvSpPr txBox="1">
            <a:spLocks noChangeArrowheads="1"/>
          </p:cNvSpPr>
          <p:nvPr/>
        </p:nvSpPr>
        <p:spPr bwMode="auto">
          <a:xfrm>
            <a:off x="1487488" y="3566473"/>
            <a:ext cx="7879080" cy="461665"/>
          </a:xfrm>
          <a:prstGeom prst="rect">
            <a:avLst/>
          </a:prstGeom>
          <a:noFill/>
          <a:ln w="9525">
            <a:noFill/>
            <a:miter lim="800000"/>
            <a:headEnd/>
            <a:tailEnd/>
          </a:ln>
        </p:spPr>
        <p:txBody>
          <a:bodyPr wrap="none">
            <a:spAutoFit/>
          </a:bodyPr>
          <a:lstStyle/>
          <a:p>
            <a:r>
              <a:rPr lang="zh-CN" altLang="en-US" sz="2400" dirty="0">
                <a:solidFill>
                  <a:srgbClr val="FF0000"/>
                </a:solidFill>
              </a:rPr>
              <a:t>决策树的构建过程</a:t>
            </a:r>
            <a:r>
              <a:rPr lang="zh-CN" altLang="en-US" sz="2400" dirty="0">
                <a:solidFill>
                  <a:srgbClr val="000000"/>
                </a:solidFill>
              </a:rPr>
              <a:t>就是选取特征和确定决策规则的过程。</a:t>
            </a:r>
          </a:p>
        </p:txBody>
      </p:sp>
    </p:spTree>
    <p:extLst>
      <p:ext uri="{BB962C8B-B14F-4D97-AF65-F5344CB8AC3E}">
        <p14:creationId xmlns:p14="http://schemas.microsoft.com/office/powerpoint/2010/main" val="4066920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7"/>
          <p:cNvSpPr txBox="1">
            <a:spLocks noChangeArrowheads="1"/>
          </p:cNvSpPr>
          <p:nvPr/>
        </p:nvSpPr>
        <p:spPr bwMode="auto">
          <a:xfrm>
            <a:off x="5016500" y="836613"/>
            <a:ext cx="2236788" cy="584200"/>
          </a:xfrm>
          <a:prstGeom prst="rect">
            <a:avLst/>
          </a:prstGeom>
          <a:noFill/>
          <a:ln w="9525">
            <a:noFill/>
            <a:miter lim="800000"/>
            <a:headEnd/>
            <a:tailEnd/>
          </a:ln>
        </p:spPr>
        <p:txBody>
          <a:bodyPr wrap="none">
            <a:spAutoFit/>
          </a:bodyPr>
          <a:lstStyle/>
          <a:p>
            <a:r>
              <a:rPr lang="zh-CN" altLang="en-US" sz="3200" dirty="0">
                <a:solidFill>
                  <a:srgbClr val="000000"/>
                </a:solidFill>
              </a:rPr>
              <a:t>决策树算法</a:t>
            </a:r>
          </a:p>
        </p:txBody>
      </p:sp>
      <p:sp>
        <p:nvSpPr>
          <p:cNvPr id="17411" name="Text Box 8"/>
          <p:cNvSpPr txBox="1">
            <a:spLocks noChangeArrowheads="1"/>
          </p:cNvSpPr>
          <p:nvPr/>
        </p:nvSpPr>
        <p:spPr bwMode="auto">
          <a:xfrm>
            <a:off x="1703388" y="1404939"/>
            <a:ext cx="4133850" cy="523875"/>
          </a:xfrm>
          <a:prstGeom prst="rect">
            <a:avLst/>
          </a:prstGeom>
          <a:noFill/>
          <a:ln w="9525">
            <a:noFill/>
            <a:miter lim="800000"/>
            <a:headEnd/>
            <a:tailEnd/>
          </a:ln>
        </p:spPr>
        <p:txBody>
          <a:bodyPr wrap="none">
            <a:spAutoFit/>
          </a:bodyPr>
          <a:lstStyle/>
          <a:p>
            <a:r>
              <a:rPr lang="zh-CN" altLang="en-US" sz="2800" dirty="0">
                <a:solidFill>
                  <a:srgbClr val="000000"/>
                </a:solidFill>
              </a:rPr>
              <a:t>与决策树相关的重要算法</a:t>
            </a:r>
          </a:p>
        </p:txBody>
      </p:sp>
      <p:sp>
        <p:nvSpPr>
          <p:cNvPr id="17412" name="Rectangle 9"/>
          <p:cNvSpPr>
            <a:spLocks noChangeArrowheads="1"/>
          </p:cNvSpPr>
          <p:nvPr/>
        </p:nvSpPr>
        <p:spPr bwMode="auto">
          <a:xfrm>
            <a:off x="1524000" y="2636839"/>
            <a:ext cx="8929688" cy="2308225"/>
          </a:xfrm>
          <a:prstGeom prst="rect">
            <a:avLst/>
          </a:prstGeom>
          <a:noFill/>
          <a:ln w="9525">
            <a:noFill/>
            <a:miter lim="800000"/>
            <a:headEnd/>
            <a:tailEnd/>
          </a:ln>
        </p:spPr>
        <p:txBody>
          <a:bodyPr>
            <a:spAutoFit/>
          </a:bodyPr>
          <a:lstStyle/>
          <a:p>
            <a:pPr lvl="1"/>
            <a:r>
              <a:rPr lang="en-US" altLang="zh-CN" sz="2400" dirty="0">
                <a:solidFill>
                  <a:srgbClr val="000000"/>
                </a:solidFill>
              </a:rPr>
              <a:t>1</a:t>
            </a:r>
            <a:r>
              <a:rPr lang="zh-CN" altLang="en-US" sz="2400" dirty="0">
                <a:solidFill>
                  <a:srgbClr val="000000"/>
                </a:solidFill>
              </a:rPr>
              <a:t>、</a:t>
            </a:r>
            <a:r>
              <a:rPr lang="en-US" altLang="zh-CN" sz="2400" dirty="0">
                <a:solidFill>
                  <a:srgbClr val="000000"/>
                </a:solidFill>
              </a:rPr>
              <a:t>CLS</a:t>
            </a:r>
            <a:r>
              <a:rPr lang="zh-CN" altLang="en-US" sz="2400" dirty="0">
                <a:solidFill>
                  <a:srgbClr val="000000"/>
                </a:solidFill>
              </a:rPr>
              <a:t>学习系统 </a:t>
            </a:r>
            <a:r>
              <a:rPr lang="en-US" altLang="zh-CN" sz="2400" dirty="0">
                <a:solidFill>
                  <a:srgbClr val="000000"/>
                </a:solidFill>
              </a:rPr>
              <a:t>(</a:t>
            </a:r>
            <a:r>
              <a:rPr lang="en-US" altLang="zh-CN" sz="2400" dirty="0" err="1">
                <a:solidFill>
                  <a:srgbClr val="000000"/>
                </a:solidFill>
              </a:rPr>
              <a:t>Hunt,Marin</a:t>
            </a:r>
            <a:r>
              <a:rPr lang="zh-CN" altLang="en-US" sz="2400" dirty="0">
                <a:solidFill>
                  <a:srgbClr val="000000"/>
                </a:solidFill>
              </a:rPr>
              <a:t>和</a:t>
            </a:r>
            <a:r>
              <a:rPr lang="en-US" altLang="zh-CN" sz="2400" dirty="0">
                <a:solidFill>
                  <a:srgbClr val="000000"/>
                </a:solidFill>
              </a:rPr>
              <a:t>Stone ,1966</a:t>
            </a:r>
            <a:r>
              <a:rPr lang="zh-CN" altLang="en-US" sz="2400" dirty="0">
                <a:solidFill>
                  <a:srgbClr val="000000"/>
                </a:solidFill>
              </a:rPr>
              <a:t>年</a:t>
            </a:r>
            <a:r>
              <a:rPr lang="en-US" altLang="zh-CN" sz="2400" dirty="0">
                <a:solidFill>
                  <a:srgbClr val="000000"/>
                </a:solidFill>
              </a:rPr>
              <a:t>)</a:t>
            </a:r>
            <a:endParaRPr lang="zh-CN" altLang="en-US" sz="2400" dirty="0">
              <a:solidFill>
                <a:srgbClr val="000000"/>
              </a:solidFill>
            </a:endParaRPr>
          </a:p>
          <a:p>
            <a:pPr lvl="1"/>
            <a:r>
              <a:rPr lang="en-US" altLang="zh-CN" sz="2400" dirty="0">
                <a:solidFill>
                  <a:srgbClr val="000000"/>
                </a:solidFill>
              </a:rPr>
              <a:t>2</a:t>
            </a:r>
            <a:r>
              <a:rPr lang="zh-CN" altLang="en-US" sz="2400" dirty="0">
                <a:solidFill>
                  <a:srgbClr val="000000"/>
                </a:solidFill>
              </a:rPr>
              <a:t>、</a:t>
            </a:r>
            <a:r>
              <a:rPr lang="en-US" altLang="zh-CN" sz="2400" dirty="0">
                <a:solidFill>
                  <a:srgbClr val="0000FF"/>
                </a:solidFill>
              </a:rPr>
              <a:t>ID3</a:t>
            </a:r>
            <a:r>
              <a:rPr lang="zh-CN" altLang="en-US" sz="2400" dirty="0">
                <a:solidFill>
                  <a:srgbClr val="0000FF"/>
                </a:solidFill>
              </a:rPr>
              <a:t>算法 </a:t>
            </a:r>
            <a:r>
              <a:rPr lang="en-US" altLang="zh-CN" sz="2400" dirty="0">
                <a:solidFill>
                  <a:srgbClr val="0000FF"/>
                </a:solidFill>
              </a:rPr>
              <a:t>(J.R. Quinlan,1986</a:t>
            </a:r>
            <a:r>
              <a:rPr lang="zh-CN" altLang="en-US" sz="2400" dirty="0">
                <a:solidFill>
                  <a:srgbClr val="0000FF"/>
                </a:solidFill>
              </a:rPr>
              <a:t>年</a:t>
            </a:r>
            <a:r>
              <a:rPr lang="en-US" altLang="zh-CN" sz="2400" dirty="0">
                <a:solidFill>
                  <a:srgbClr val="0000FF"/>
                </a:solidFill>
              </a:rPr>
              <a:t>)</a:t>
            </a:r>
            <a:endParaRPr lang="zh-CN" altLang="en-US" sz="2400" dirty="0">
              <a:solidFill>
                <a:srgbClr val="0000FF"/>
              </a:solidFill>
            </a:endParaRPr>
          </a:p>
          <a:p>
            <a:pPr lvl="1"/>
            <a:r>
              <a:rPr lang="en-US" altLang="zh-CN" sz="2400" dirty="0">
                <a:solidFill>
                  <a:srgbClr val="000000"/>
                </a:solidFill>
              </a:rPr>
              <a:t>3</a:t>
            </a:r>
            <a:r>
              <a:rPr lang="zh-CN" altLang="en-US" sz="2400" dirty="0">
                <a:solidFill>
                  <a:srgbClr val="000000"/>
                </a:solidFill>
              </a:rPr>
              <a:t>、</a:t>
            </a:r>
            <a:r>
              <a:rPr lang="en-US" altLang="zh-CN" sz="2400" dirty="0">
                <a:solidFill>
                  <a:srgbClr val="000000"/>
                </a:solidFill>
              </a:rPr>
              <a:t>ID4</a:t>
            </a:r>
            <a:r>
              <a:rPr lang="zh-CN" altLang="en-US" sz="2400" dirty="0">
                <a:solidFill>
                  <a:srgbClr val="000000"/>
                </a:solidFill>
              </a:rPr>
              <a:t>算法 </a:t>
            </a:r>
            <a:r>
              <a:rPr lang="en-US" altLang="zh-CN" sz="2400" dirty="0">
                <a:solidFill>
                  <a:srgbClr val="000000"/>
                </a:solidFill>
              </a:rPr>
              <a:t>(</a:t>
            </a:r>
            <a:r>
              <a:rPr lang="en-US" altLang="zh-CN" sz="2400" dirty="0" err="1">
                <a:solidFill>
                  <a:srgbClr val="000000"/>
                </a:solidFill>
              </a:rPr>
              <a:t>Schlimmer</a:t>
            </a:r>
            <a:r>
              <a:rPr lang="en-US" altLang="zh-CN" sz="2400" dirty="0">
                <a:solidFill>
                  <a:srgbClr val="000000"/>
                </a:solidFill>
              </a:rPr>
              <a:t> </a:t>
            </a:r>
            <a:r>
              <a:rPr lang="zh-CN" altLang="en-US" sz="2400" dirty="0">
                <a:solidFill>
                  <a:srgbClr val="000000"/>
                </a:solidFill>
              </a:rPr>
              <a:t>和</a:t>
            </a:r>
            <a:r>
              <a:rPr lang="en-US" altLang="zh-CN" sz="2400" dirty="0">
                <a:solidFill>
                  <a:srgbClr val="000000"/>
                </a:solidFill>
              </a:rPr>
              <a:t>Fisher ,1986</a:t>
            </a:r>
            <a:r>
              <a:rPr lang="zh-CN" altLang="en-US" sz="2400" dirty="0">
                <a:solidFill>
                  <a:srgbClr val="000000"/>
                </a:solidFill>
              </a:rPr>
              <a:t>年</a:t>
            </a:r>
            <a:r>
              <a:rPr lang="en-US" altLang="zh-CN" sz="2400" dirty="0">
                <a:solidFill>
                  <a:srgbClr val="000000"/>
                </a:solidFill>
              </a:rPr>
              <a:t>)</a:t>
            </a:r>
            <a:endParaRPr lang="zh-CN" altLang="en-US" sz="2400" dirty="0">
              <a:solidFill>
                <a:srgbClr val="000000"/>
              </a:solidFill>
            </a:endParaRPr>
          </a:p>
          <a:p>
            <a:pPr lvl="1"/>
            <a:r>
              <a:rPr lang="en-US" altLang="zh-CN" sz="2400" dirty="0">
                <a:solidFill>
                  <a:srgbClr val="000000"/>
                </a:solidFill>
              </a:rPr>
              <a:t>4</a:t>
            </a:r>
            <a:r>
              <a:rPr lang="zh-CN" altLang="en-US" sz="2400" dirty="0">
                <a:solidFill>
                  <a:srgbClr val="000000"/>
                </a:solidFill>
              </a:rPr>
              <a:t>、</a:t>
            </a:r>
            <a:r>
              <a:rPr lang="en-US" altLang="zh-CN" sz="2400" dirty="0">
                <a:solidFill>
                  <a:srgbClr val="000000"/>
                </a:solidFill>
              </a:rPr>
              <a:t>ID5</a:t>
            </a:r>
            <a:r>
              <a:rPr lang="zh-CN" altLang="en-US" sz="2400" dirty="0">
                <a:solidFill>
                  <a:srgbClr val="000000"/>
                </a:solidFill>
              </a:rPr>
              <a:t>算法 </a:t>
            </a:r>
            <a:r>
              <a:rPr lang="en-US" altLang="zh-CN" sz="2400" dirty="0">
                <a:solidFill>
                  <a:srgbClr val="000000"/>
                </a:solidFill>
              </a:rPr>
              <a:t>(Utgoff,1988</a:t>
            </a:r>
            <a:r>
              <a:rPr lang="zh-CN" altLang="en-US" sz="2400" dirty="0">
                <a:solidFill>
                  <a:srgbClr val="000000"/>
                </a:solidFill>
              </a:rPr>
              <a:t>年</a:t>
            </a:r>
            <a:r>
              <a:rPr lang="en-US" altLang="zh-CN" sz="2400" dirty="0">
                <a:solidFill>
                  <a:srgbClr val="000000"/>
                </a:solidFill>
              </a:rPr>
              <a:t>)</a:t>
            </a:r>
            <a:endParaRPr lang="zh-CN" altLang="en-US" sz="2400" dirty="0">
              <a:solidFill>
                <a:srgbClr val="000000"/>
              </a:solidFill>
            </a:endParaRPr>
          </a:p>
          <a:p>
            <a:pPr lvl="1"/>
            <a:r>
              <a:rPr lang="en-US" altLang="zh-CN" sz="2400" dirty="0">
                <a:solidFill>
                  <a:srgbClr val="000000"/>
                </a:solidFill>
              </a:rPr>
              <a:t>5</a:t>
            </a:r>
            <a:r>
              <a:rPr lang="zh-CN" altLang="en-US" sz="2400" dirty="0">
                <a:solidFill>
                  <a:srgbClr val="000000"/>
                </a:solidFill>
              </a:rPr>
              <a:t>、</a:t>
            </a:r>
            <a:r>
              <a:rPr lang="en-US" altLang="zh-CN" sz="2400" dirty="0">
                <a:solidFill>
                  <a:srgbClr val="0000FF"/>
                </a:solidFill>
              </a:rPr>
              <a:t>C4.5</a:t>
            </a:r>
            <a:r>
              <a:rPr lang="zh-CN" altLang="en-US" sz="2400" dirty="0">
                <a:solidFill>
                  <a:srgbClr val="0000FF"/>
                </a:solidFill>
              </a:rPr>
              <a:t>算法 </a:t>
            </a:r>
            <a:r>
              <a:rPr lang="en-US" altLang="zh-CN" sz="2400" dirty="0">
                <a:solidFill>
                  <a:srgbClr val="0000FF"/>
                </a:solidFill>
              </a:rPr>
              <a:t>(J.R. Quinlan,1993</a:t>
            </a:r>
            <a:r>
              <a:rPr lang="zh-CN" altLang="en-US" sz="2400" dirty="0">
                <a:solidFill>
                  <a:srgbClr val="0000FF"/>
                </a:solidFill>
              </a:rPr>
              <a:t>年</a:t>
            </a:r>
            <a:r>
              <a:rPr lang="en-US" altLang="zh-CN" sz="2400" dirty="0">
                <a:solidFill>
                  <a:srgbClr val="0000FF"/>
                </a:solidFill>
              </a:rPr>
              <a:t>)</a:t>
            </a:r>
            <a:endParaRPr lang="zh-CN" altLang="en-US" sz="2400" dirty="0">
              <a:solidFill>
                <a:srgbClr val="0000FF"/>
              </a:solidFill>
            </a:endParaRPr>
          </a:p>
          <a:p>
            <a:pPr lvl="1"/>
            <a:r>
              <a:rPr lang="en-US" altLang="zh-CN" sz="2400" dirty="0">
                <a:solidFill>
                  <a:srgbClr val="000000"/>
                </a:solidFill>
              </a:rPr>
              <a:t>6</a:t>
            </a:r>
            <a:r>
              <a:rPr lang="zh-CN" altLang="en-US" sz="2400" dirty="0">
                <a:solidFill>
                  <a:srgbClr val="000000"/>
                </a:solidFill>
              </a:rPr>
              <a:t>、</a:t>
            </a:r>
            <a:r>
              <a:rPr lang="en-US" altLang="zh-CN" sz="2400" dirty="0">
                <a:solidFill>
                  <a:srgbClr val="0000FF"/>
                </a:solidFill>
              </a:rPr>
              <a:t>CART</a:t>
            </a:r>
            <a:r>
              <a:rPr lang="zh-CN" altLang="en-US" sz="2400" dirty="0">
                <a:solidFill>
                  <a:srgbClr val="0000FF"/>
                </a:solidFill>
              </a:rPr>
              <a:t>算法</a:t>
            </a:r>
            <a:r>
              <a:rPr lang="en-US" altLang="zh-CN" sz="2400" dirty="0">
                <a:solidFill>
                  <a:srgbClr val="000000"/>
                </a:solidFill>
              </a:rPr>
              <a:t> (</a:t>
            </a:r>
            <a:r>
              <a:rPr lang="en-US" altLang="zh-CN" sz="2400" dirty="0" err="1">
                <a:solidFill>
                  <a:srgbClr val="000000"/>
                </a:solidFill>
              </a:rPr>
              <a:t>Breiman</a:t>
            </a:r>
            <a:r>
              <a:rPr lang="zh-CN" altLang="en-US" sz="2400" dirty="0">
                <a:solidFill>
                  <a:srgbClr val="000000"/>
                </a:solidFill>
              </a:rPr>
              <a:t>，</a:t>
            </a:r>
            <a:r>
              <a:rPr lang="en-US" altLang="zh-CN" sz="2400" dirty="0">
                <a:solidFill>
                  <a:srgbClr val="000000"/>
                </a:solidFill>
              </a:rPr>
              <a:t>1984)</a:t>
            </a:r>
            <a:endParaRPr lang="zh-CN" altLang="en-US" sz="2400" dirty="0">
              <a:solidFill>
                <a:srgbClr val="000000"/>
              </a:solidFill>
            </a:endParaRPr>
          </a:p>
        </p:txBody>
      </p:sp>
      <p:sp>
        <p:nvSpPr>
          <p:cNvPr id="17413" name="Text Box 10"/>
          <p:cNvSpPr txBox="1">
            <a:spLocks noChangeArrowheads="1"/>
          </p:cNvSpPr>
          <p:nvPr/>
        </p:nvSpPr>
        <p:spPr bwMode="auto">
          <a:xfrm>
            <a:off x="4181475" y="1916113"/>
            <a:ext cx="3498850" cy="457200"/>
          </a:xfrm>
          <a:prstGeom prst="rect">
            <a:avLst/>
          </a:prstGeom>
          <a:noFill/>
          <a:ln w="9525">
            <a:noFill/>
            <a:miter lim="800000"/>
            <a:headEnd/>
            <a:tailEnd/>
          </a:ln>
        </p:spPr>
        <p:txBody>
          <a:bodyPr wrap="none">
            <a:spAutoFit/>
          </a:bodyPr>
          <a:lstStyle/>
          <a:p>
            <a:r>
              <a:rPr lang="en-US" altLang="zh-CN" sz="2400" dirty="0">
                <a:solidFill>
                  <a:srgbClr val="000000"/>
                </a:solidFill>
              </a:rPr>
              <a:t>CLS, ID3</a:t>
            </a:r>
            <a:r>
              <a:rPr lang="zh-CN" altLang="en-US" sz="2400" dirty="0">
                <a:solidFill>
                  <a:srgbClr val="000000"/>
                </a:solidFill>
              </a:rPr>
              <a:t>，</a:t>
            </a:r>
            <a:r>
              <a:rPr lang="en-US" altLang="zh-CN" sz="2400" dirty="0">
                <a:solidFill>
                  <a:srgbClr val="000000"/>
                </a:solidFill>
              </a:rPr>
              <a:t>C4.5</a:t>
            </a:r>
            <a:r>
              <a:rPr lang="zh-CN" altLang="en-US" sz="2400" dirty="0">
                <a:solidFill>
                  <a:srgbClr val="000000"/>
                </a:solidFill>
              </a:rPr>
              <a:t>，</a:t>
            </a:r>
            <a:r>
              <a:rPr lang="en-US" altLang="zh-CN" sz="2400" dirty="0">
                <a:solidFill>
                  <a:srgbClr val="000000"/>
                </a:solidFill>
              </a:rPr>
              <a:t>CART</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5</a:t>
            </a:fld>
            <a:endParaRPr lang="en-US" altLang="zh-CN">
              <a:solidFill>
                <a:srgbClr val="000000"/>
              </a:solidFill>
            </a:endParaRPr>
          </a:p>
        </p:txBody>
      </p:sp>
      <p:sp>
        <p:nvSpPr>
          <p:cNvPr id="7" name="Rectangle 2"/>
          <p:cNvSpPr txBox="1">
            <a:spLocks noChangeArrowheads="1"/>
          </p:cNvSpPr>
          <p:nvPr/>
        </p:nvSpPr>
        <p:spPr>
          <a:xfrm>
            <a:off x="1828800" y="152401"/>
            <a:ext cx="61722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solidFill>
                  <a:srgbClr val="000000"/>
                </a:solidFill>
              </a:rPr>
              <a:t>12.4 </a:t>
            </a:r>
            <a:r>
              <a:rPr lang="zh-CN" altLang="en-US" kern="0" dirty="0">
                <a:solidFill>
                  <a:srgbClr val="000000"/>
                </a:solidFill>
              </a:rPr>
              <a:t>决策树</a:t>
            </a:r>
            <a:endParaRPr lang="en-US" altLang="zh-CN" kern="0" dirty="0">
              <a:solidFill>
                <a:srgbClr val="000000"/>
              </a:solidFill>
            </a:endParaRPr>
          </a:p>
        </p:txBody>
      </p:sp>
    </p:spTree>
    <p:extLst>
      <p:ext uri="{BB962C8B-B14F-4D97-AF65-F5344CB8AC3E}">
        <p14:creationId xmlns:p14="http://schemas.microsoft.com/office/powerpoint/2010/main" val="413030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7"/>
          <p:cNvSpPr txBox="1">
            <a:spLocks noChangeArrowheads="1"/>
          </p:cNvSpPr>
          <p:nvPr/>
        </p:nvSpPr>
        <p:spPr bwMode="auto">
          <a:xfrm>
            <a:off x="4800600" y="404813"/>
            <a:ext cx="1962150" cy="519112"/>
          </a:xfrm>
          <a:prstGeom prst="rect">
            <a:avLst/>
          </a:prstGeom>
          <a:noFill/>
          <a:ln w="9525">
            <a:noFill/>
            <a:miter lim="800000"/>
            <a:headEnd/>
            <a:tailEnd/>
          </a:ln>
        </p:spPr>
        <p:txBody>
          <a:bodyPr wrap="none">
            <a:spAutoFit/>
          </a:bodyPr>
          <a:lstStyle/>
          <a:p>
            <a:r>
              <a:rPr lang="zh-CN" altLang="en-US" sz="2800"/>
              <a:t>决策树算法</a:t>
            </a:r>
          </a:p>
        </p:txBody>
      </p:sp>
      <p:graphicFrame>
        <p:nvGraphicFramePr>
          <p:cNvPr id="918536" name="Group 8"/>
          <p:cNvGraphicFramePr>
            <a:graphicFrameLocks noGrp="1"/>
          </p:cNvGraphicFramePr>
          <p:nvPr/>
        </p:nvGraphicFramePr>
        <p:xfrm>
          <a:off x="3792538" y="908050"/>
          <a:ext cx="6697662" cy="5608320"/>
        </p:xfrm>
        <a:graphic>
          <a:graphicData uri="http://schemas.openxmlformats.org/drawingml/2006/table">
            <a:tbl>
              <a:tblPr/>
              <a:tblGrid>
                <a:gridCol w="1060450">
                  <a:extLst>
                    <a:ext uri="{9D8B030D-6E8A-4147-A177-3AD203B41FA5}">
                      <a16:colId xmlns:a16="http://schemas.microsoft.com/office/drawing/2014/main" val="20000"/>
                    </a:ext>
                  </a:extLst>
                </a:gridCol>
                <a:gridCol w="1060450">
                  <a:extLst>
                    <a:ext uri="{9D8B030D-6E8A-4147-A177-3AD203B41FA5}">
                      <a16:colId xmlns:a16="http://schemas.microsoft.com/office/drawing/2014/main" val="20001"/>
                    </a:ext>
                  </a:extLst>
                </a:gridCol>
                <a:gridCol w="1060450">
                  <a:extLst>
                    <a:ext uri="{9D8B030D-6E8A-4147-A177-3AD203B41FA5}">
                      <a16:colId xmlns:a16="http://schemas.microsoft.com/office/drawing/2014/main" val="20002"/>
                    </a:ext>
                  </a:extLst>
                </a:gridCol>
                <a:gridCol w="1350962">
                  <a:extLst>
                    <a:ext uri="{9D8B030D-6E8A-4147-A177-3AD203B41FA5}">
                      <a16:colId xmlns:a16="http://schemas.microsoft.com/office/drawing/2014/main" val="20003"/>
                    </a:ext>
                  </a:extLst>
                </a:gridCol>
                <a:gridCol w="1157288">
                  <a:extLst>
                    <a:ext uri="{9D8B030D-6E8A-4147-A177-3AD203B41FA5}">
                      <a16:colId xmlns:a16="http://schemas.microsoft.com/office/drawing/2014/main" val="20004"/>
                    </a:ext>
                  </a:extLst>
                </a:gridCol>
                <a:gridCol w="1008062">
                  <a:extLst>
                    <a:ext uri="{9D8B030D-6E8A-4147-A177-3AD203B41FA5}">
                      <a16:colId xmlns:a16="http://schemas.microsoft.com/office/drawing/2014/main" val="20005"/>
                    </a:ext>
                  </a:extLst>
                </a:gridCol>
              </a:tblGrid>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Age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Has-job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Own_house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Credit_rating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Young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Young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Young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Young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Young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Middle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Middle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Middle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Middle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Excellent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Middle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Excellent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Old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Excellent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Old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Old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Good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Old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Excellent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40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Old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fair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52348" name="Text Box 129"/>
          <p:cNvSpPr txBox="1">
            <a:spLocks noChangeArrowheads="1"/>
          </p:cNvSpPr>
          <p:nvPr/>
        </p:nvSpPr>
        <p:spPr bwMode="auto">
          <a:xfrm>
            <a:off x="1682750" y="2525714"/>
            <a:ext cx="1338828" cy="646331"/>
          </a:xfrm>
          <a:prstGeom prst="rect">
            <a:avLst/>
          </a:prstGeom>
          <a:noFill/>
          <a:ln w="9525">
            <a:noFill/>
            <a:miter lim="800000"/>
            <a:headEnd/>
            <a:tailEnd/>
          </a:ln>
        </p:spPr>
        <p:txBody>
          <a:bodyPr wrap="none">
            <a:spAutoFit/>
          </a:bodyPr>
          <a:lstStyle/>
          <a:p>
            <a:r>
              <a:rPr lang="zh-CN" altLang="en-US"/>
              <a:t>例申请贷款</a:t>
            </a:r>
          </a:p>
          <a:p>
            <a:r>
              <a:rPr lang="zh-CN" altLang="en-US"/>
              <a:t>的数据集合</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6</a:t>
            </a:fld>
            <a:endParaRPr lang="en-US" altLang="zh-CN"/>
          </a:p>
        </p:txBody>
      </p:sp>
    </p:spTree>
    <p:extLst>
      <p:ext uri="{BB962C8B-B14F-4D97-AF65-F5344CB8AC3E}">
        <p14:creationId xmlns:p14="http://schemas.microsoft.com/office/powerpoint/2010/main" val="123243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5"/>
          <p:cNvSpPr txBox="1">
            <a:spLocks noChangeArrowheads="1"/>
          </p:cNvSpPr>
          <p:nvPr/>
        </p:nvSpPr>
        <p:spPr bwMode="auto">
          <a:xfrm>
            <a:off x="5075238" y="476251"/>
            <a:ext cx="1962150" cy="519113"/>
          </a:xfrm>
          <a:prstGeom prst="rect">
            <a:avLst/>
          </a:prstGeom>
          <a:noFill/>
          <a:ln w="9525">
            <a:noFill/>
            <a:miter lim="800000"/>
            <a:headEnd/>
            <a:tailEnd/>
          </a:ln>
        </p:spPr>
        <p:txBody>
          <a:bodyPr wrap="none">
            <a:spAutoFit/>
          </a:bodyPr>
          <a:lstStyle/>
          <a:p>
            <a:r>
              <a:rPr lang="zh-CN" altLang="en-US" sz="2800">
                <a:solidFill>
                  <a:srgbClr val="000000"/>
                </a:solidFill>
              </a:rPr>
              <a:t>决策树算法</a:t>
            </a:r>
          </a:p>
        </p:txBody>
      </p:sp>
      <p:sp>
        <p:nvSpPr>
          <p:cNvPr id="53251" name="Text Box 6"/>
          <p:cNvSpPr txBox="1">
            <a:spLocks noChangeArrowheads="1"/>
          </p:cNvSpPr>
          <p:nvPr/>
        </p:nvSpPr>
        <p:spPr bwMode="auto">
          <a:xfrm>
            <a:off x="4735367" y="3222567"/>
            <a:ext cx="3621089" cy="400110"/>
          </a:xfrm>
          <a:prstGeom prst="rect">
            <a:avLst/>
          </a:prstGeom>
          <a:noFill/>
          <a:ln w="9525">
            <a:noFill/>
            <a:miter lim="800000"/>
            <a:headEnd/>
            <a:tailEnd/>
          </a:ln>
        </p:spPr>
        <p:txBody>
          <a:bodyPr wrap="square">
            <a:spAutoFit/>
          </a:bodyPr>
          <a:lstStyle/>
          <a:p>
            <a:r>
              <a:rPr lang="zh-CN" altLang="en-US" sz="2000" dirty="0">
                <a:solidFill>
                  <a:srgbClr val="000000"/>
                </a:solidFill>
              </a:rPr>
              <a:t>上例可能的两种根节点</a:t>
            </a:r>
          </a:p>
        </p:txBody>
      </p:sp>
      <p:sp>
        <p:nvSpPr>
          <p:cNvPr id="53252" name="Text Box 7"/>
          <p:cNvSpPr txBox="1">
            <a:spLocks noChangeArrowheads="1"/>
          </p:cNvSpPr>
          <p:nvPr/>
        </p:nvSpPr>
        <p:spPr bwMode="auto">
          <a:xfrm>
            <a:off x="3505201" y="1052514"/>
            <a:ext cx="857250" cy="314325"/>
          </a:xfrm>
          <a:prstGeom prst="rect">
            <a:avLst/>
          </a:prstGeom>
          <a:solidFill>
            <a:srgbClr val="66FFFF"/>
          </a:solidFill>
          <a:ln w="9525">
            <a:solidFill>
              <a:srgbClr val="000000"/>
            </a:solidFill>
            <a:miter lim="800000"/>
            <a:headEnd/>
            <a:tailEnd/>
          </a:ln>
        </p:spPr>
        <p:txBody>
          <a:bodyPr>
            <a:spAutoFit/>
          </a:bodyPr>
          <a:lstStyle/>
          <a:p>
            <a:pPr algn="ctr">
              <a:spcBef>
                <a:spcPct val="50000"/>
              </a:spcBef>
            </a:pPr>
            <a:r>
              <a:rPr lang="en-US" altLang="zh-CN" sz="1400">
                <a:solidFill>
                  <a:srgbClr val="000000"/>
                </a:solidFill>
              </a:rPr>
              <a:t>Age</a:t>
            </a:r>
            <a:r>
              <a:rPr lang="zh-CN" altLang="en-US" sz="1400">
                <a:solidFill>
                  <a:srgbClr val="000000"/>
                </a:solidFill>
              </a:rPr>
              <a:t>？</a:t>
            </a:r>
          </a:p>
        </p:txBody>
      </p:sp>
      <p:sp>
        <p:nvSpPr>
          <p:cNvPr id="53253" name="Line 8"/>
          <p:cNvSpPr>
            <a:spLocks noChangeShapeType="1"/>
          </p:cNvSpPr>
          <p:nvPr/>
        </p:nvSpPr>
        <p:spPr bwMode="auto">
          <a:xfrm flipH="1">
            <a:off x="2800351" y="1357313"/>
            <a:ext cx="106680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53254" name="Line 9"/>
          <p:cNvSpPr>
            <a:spLocks noChangeShapeType="1"/>
          </p:cNvSpPr>
          <p:nvPr/>
        </p:nvSpPr>
        <p:spPr bwMode="auto">
          <a:xfrm>
            <a:off x="3867151" y="1357313"/>
            <a:ext cx="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53255" name="Line 10"/>
          <p:cNvSpPr>
            <a:spLocks noChangeShapeType="1"/>
          </p:cNvSpPr>
          <p:nvPr/>
        </p:nvSpPr>
        <p:spPr bwMode="auto">
          <a:xfrm>
            <a:off x="3911601" y="1379538"/>
            <a:ext cx="112395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53256" name="Text Box 11"/>
          <p:cNvSpPr txBox="1">
            <a:spLocks noChangeArrowheads="1"/>
          </p:cNvSpPr>
          <p:nvPr/>
        </p:nvSpPr>
        <p:spPr bwMode="auto">
          <a:xfrm>
            <a:off x="2611440" y="1484313"/>
            <a:ext cx="742511" cy="338554"/>
          </a:xfrm>
          <a:prstGeom prst="rect">
            <a:avLst/>
          </a:prstGeom>
          <a:noFill/>
          <a:ln w="9525">
            <a:noFill/>
            <a:miter lim="800000"/>
            <a:headEnd/>
            <a:tailEnd/>
          </a:ln>
        </p:spPr>
        <p:txBody>
          <a:bodyPr wrap="none">
            <a:spAutoFit/>
          </a:bodyPr>
          <a:lstStyle/>
          <a:p>
            <a:r>
              <a:rPr lang="en-US" altLang="zh-CN" sz="1600">
                <a:solidFill>
                  <a:srgbClr val="000000"/>
                </a:solidFill>
              </a:rPr>
              <a:t>young</a:t>
            </a:r>
          </a:p>
        </p:txBody>
      </p:sp>
      <p:sp>
        <p:nvSpPr>
          <p:cNvPr id="53257" name="Text Box 12"/>
          <p:cNvSpPr txBox="1">
            <a:spLocks noChangeArrowheads="1"/>
          </p:cNvSpPr>
          <p:nvPr/>
        </p:nvSpPr>
        <p:spPr bwMode="auto">
          <a:xfrm>
            <a:off x="3259140" y="1917701"/>
            <a:ext cx="787395" cy="338554"/>
          </a:xfrm>
          <a:prstGeom prst="rect">
            <a:avLst/>
          </a:prstGeom>
          <a:noFill/>
          <a:ln w="9525">
            <a:noFill/>
            <a:miter lim="800000"/>
            <a:headEnd/>
            <a:tailEnd/>
          </a:ln>
        </p:spPr>
        <p:txBody>
          <a:bodyPr wrap="none">
            <a:spAutoFit/>
          </a:bodyPr>
          <a:lstStyle/>
          <a:p>
            <a:r>
              <a:rPr lang="en-US" altLang="zh-CN" sz="1600">
                <a:solidFill>
                  <a:srgbClr val="000000"/>
                </a:solidFill>
              </a:rPr>
              <a:t>middle</a:t>
            </a:r>
          </a:p>
        </p:txBody>
      </p:sp>
      <p:sp>
        <p:nvSpPr>
          <p:cNvPr id="53258" name="Text Box 13"/>
          <p:cNvSpPr txBox="1">
            <a:spLocks noChangeArrowheads="1"/>
          </p:cNvSpPr>
          <p:nvPr/>
        </p:nvSpPr>
        <p:spPr bwMode="auto">
          <a:xfrm>
            <a:off x="4483101" y="1484313"/>
            <a:ext cx="457176" cy="338554"/>
          </a:xfrm>
          <a:prstGeom prst="rect">
            <a:avLst/>
          </a:prstGeom>
          <a:noFill/>
          <a:ln w="9525">
            <a:noFill/>
            <a:miter lim="800000"/>
            <a:headEnd/>
            <a:tailEnd/>
          </a:ln>
        </p:spPr>
        <p:txBody>
          <a:bodyPr wrap="none">
            <a:spAutoFit/>
          </a:bodyPr>
          <a:lstStyle/>
          <a:p>
            <a:r>
              <a:rPr lang="en-US" altLang="zh-CN" sz="1600">
                <a:solidFill>
                  <a:srgbClr val="000000"/>
                </a:solidFill>
              </a:rPr>
              <a:t>old</a:t>
            </a:r>
          </a:p>
        </p:txBody>
      </p:sp>
      <p:sp>
        <p:nvSpPr>
          <p:cNvPr id="53259" name="Rectangle 14"/>
          <p:cNvSpPr>
            <a:spLocks noChangeArrowheads="1"/>
          </p:cNvSpPr>
          <p:nvPr/>
        </p:nvSpPr>
        <p:spPr bwMode="auto">
          <a:xfrm>
            <a:off x="2395540" y="2278063"/>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a:solidFill>
                  <a:srgbClr val="000000"/>
                </a:solidFill>
              </a:rPr>
              <a:t>No:3</a:t>
            </a:r>
          </a:p>
          <a:p>
            <a:pPr algn="ctr"/>
            <a:r>
              <a:rPr lang="en-US" altLang="zh-CN" sz="1600">
                <a:solidFill>
                  <a:srgbClr val="000000"/>
                </a:solidFill>
              </a:rPr>
              <a:t>Yes:2</a:t>
            </a:r>
          </a:p>
        </p:txBody>
      </p:sp>
      <p:sp>
        <p:nvSpPr>
          <p:cNvPr id="53260" name="Rectangle 15"/>
          <p:cNvSpPr>
            <a:spLocks noChangeArrowheads="1"/>
          </p:cNvSpPr>
          <p:nvPr/>
        </p:nvSpPr>
        <p:spPr bwMode="auto">
          <a:xfrm>
            <a:off x="3546477" y="2276476"/>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a:solidFill>
                  <a:srgbClr val="000000"/>
                </a:solidFill>
              </a:rPr>
              <a:t>No:2</a:t>
            </a:r>
          </a:p>
          <a:p>
            <a:pPr algn="ctr"/>
            <a:r>
              <a:rPr lang="en-US" altLang="zh-CN" sz="1600">
                <a:solidFill>
                  <a:srgbClr val="000000"/>
                </a:solidFill>
              </a:rPr>
              <a:t>Yes:3</a:t>
            </a:r>
          </a:p>
        </p:txBody>
      </p:sp>
      <p:sp>
        <p:nvSpPr>
          <p:cNvPr id="53261" name="Rectangle 16"/>
          <p:cNvSpPr>
            <a:spLocks noChangeArrowheads="1"/>
          </p:cNvSpPr>
          <p:nvPr/>
        </p:nvSpPr>
        <p:spPr bwMode="auto">
          <a:xfrm>
            <a:off x="4629152" y="2276476"/>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a:solidFill>
                  <a:srgbClr val="000000"/>
                </a:solidFill>
              </a:rPr>
              <a:t>No:4</a:t>
            </a:r>
          </a:p>
          <a:p>
            <a:pPr algn="ctr"/>
            <a:r>
              <a:rPr lang="en-US" altLang="zh-CN" sz="1600">
                <a:solidFill>
                  <a:srgbClr val="000000"/>
                </a:solidFill>
              </a:rPr>
              <a:t>Yes:1</a:t>
            </a:r>
          </a:p>
        </p:txBody>
      </p:sp>
      <p:sp>
        <p:nvSpPr>
          <p:cNvPr id="53262" name="Text Box 17"/>
          <p:cNvSpPr txBox="1">
            <a:spLocks noChangeArrowheads="1"/>
          </p:cNvSpPr>
          <p:nvPr/>
        </p:nvSpPr>
        <p:spPr bwMode="auto">
          <a:xfrm>
            <a:off x="7219951" y="1052514"/>
            <a:ext cx="1366838" cy="314325"/>
          </a:xfrm>
          <a:prstGeom prst="rect">
            <a:avLst/>
          </a:prstGeom>
          <a:solidFill>
            <a:srgbClr val="66FFFF"/>
          </a:solidFill>
          <a:ln w="9525">
            <a:solidFill>
              <a:srgbClr val="000000"/>
            </a:solidFill>
            <a:miter lim="800000"/>
            <a:headEnd/>
            <a:tailEnd/>
          </a:ln>
        </p:spPr>
        <p:txBody>
          <a:bodyPr>
            <a:spAutoFit/>
          </a:bodyPr>
          <a:lstStyle/>
          <a:p>
            <a:pPr algn="ctr">
              <a:spcBef>
                <a:spcPct val="50000"/>
              </a:spcBef>
            </a:pPr>
            <a:r>
              <a:rPr lang="en-US" altLang="zh-CN" sz="1400">
                <a:solidFill>
                  <a:srgbClr val="000000"/>
                </a:solidFill>
              </a:rPr>
              <a:t>Own_house</a:t>
            </a:r>
            <a:r>
              <a:rPr lang="zh-CN" altLang="en-US" sz="1400">
                <a:solidFill>
                  <a:srgbClr val="000000"/>
                </a:solidFill>
              </a:rPr>
              <a:t>？</a:t>
            </a:r>
          </a:p>
        </p:txBody>
      </p:sp>
      <p:sp>
        <p:nvSpPr>
          <p:cNvPr id="53263" name="Line 18"/>
          <p:cNvSpPr>
            <a:spLocks noChangeShapeType="1"/>
          </p:cNvSpPr>
          <p:nvPr/>
        </p:nvSpPr>
        <p:spPr bwMode="auto">
          <a:xfrm flipH="1">
            <a:off x="6810376" y="1357313"/>
            <a:ext cx="106680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53264" name="Line 19"/>
          <p:cNvSpPr>
            <a:spLocks noChangeShapeType="1"/>
          </p:cNvSpPr>
          <p:nvPr/>
        </p:nvSpPr>
        <p:spPr bwMode="auto">
          <a:xfrm>
            <a:off x="7896226" y="1357313"/>
            <a:ext cx="112395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53265" name="Text Box 20"/>
          <p:cNvSpPr txBox="1">
            <a:spLocks noChangeArrowheads="1"/>
          </p:cNvSpPr>
          <p:nvPr/>
        </p:nvSpPr>
        <p:spPr bwMode="auto">
          <a:xfrm>
            <a:off x="6643689" y="1557338"/>
            <a:ext cx="538930" cy="338554"/>
          </a:xfrm>
          <a:prstGeom prst="rect">
            <a:avLst/>
          </a:prstGeom>
          <a:noFill/>
          <a:ln w="9525">
            <a:noFill/>
            <a:miter lim="800000"/>
            <a:headEnd/>
            <a:tailEnd/>
          </a:ln>
        </p:spPr>
        <p:txBody>
          <a:bodyPr wrap="none">
            <a:spAutoFit/>
          </a:bodyPr>
          <a:lstStyle/>
          <a:p>
            <a:r>
              <a:rPr lang="en-US" altLang="zh-CN" sz="1600">
                <a:solidFill>
                  <a:srgbClr val="000000"/>
                </a:solidFill>
              </a:rPr>
              <a:t>true</a:t>
            </a:r>
          </a:p>
        </p:txBody>
      </p:sp>
      <p:sp>
        <p:nvSpPr>
          <p:cNvPr id="53266" name="Text Box 21"/>
          <p:cNvSpPr txBox="1">
            <a:spLocks noChangeArrowheads="1"/>
          </p:cNvSpPr>
          <p:nvPr/>
        </p:nvSpPr>
        <p:spPr bwMode="auto">
          <a:xfrm>
            <a:off x="8659815" y="1508126"/>
            <a:ext cx="617477" cy="338554"/>
          </a:xfrm>
          <a:prstGeom prst="rect">
            <a:avLst/>
          </a:prstGeom>
          <a:noFill/>
          <a:ln w="9525">
            <a:noFill/>
            <a:miter lim="800000"/>
            <a:headEnd/>
            <a:tailEnd/>
          </a:ln>
        </p:spPr>
        <p:txBody>
          <a:bodyPr wrap="none">
            <a:spAutoFit/>
          </a:bodyPr>
          <a:lstStyle/>
          <a:p>
            <a:r>
              <a:rPr lang="en-US" altLang="zh-CN" sz="1600">
                <a:solidFill>
                  <a:srgbClr val="000000"/>
                </a:solidFill>
              </a:rPr>
              <a:t>false</a:t>
            </a:r>
          </a:p>
        </p:txBody>
      </p:sp>
      <p:sp>
        <p:nvSpPr>
          <p:cNvPr id="53267" name="Rectangle 22"/>
          <p:cNvSpPr>
            <a:spLocks noChangeArrowheads="1"/>
          </p:cNvSpPr>
          <p:nvPr/>
        </p:nvSpPr>
        <p:spPr bwMode="auto">
          <a:xfrm>
            <a:off x="6429377" y="2276476"/>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a:solidFill>
                  <a:srgbClr val="000000"/>
                </a:solidFill>
              </a:rPr>
              <a:t>No:0</a:t>
            </a:r>
          </a:p>
          <a:p>
            <a:pPr algn="ctr"/>
            <a:r>
              <a:rPr lang="en-US" altLang="zh-CN" sz="1600">
                <a:solidFill>
                  <a:srgbClr val="000000"/>
                </a:solidFill>
              </a:rPr>
              <a:t>Yes:6</a:t>
            </a:r>
          </a:p>
        </p:txBody>
      </p:sp>
      <p:sp>
        <p:nvSpPr>
          <p:cNvPr id="53268" name="Rectangle 23"/>
          <p:cNvSpPr>
            <a:spLocks noChangeArrowheads="1"/>
          </p:cNvSpPr>
          <p:nvPr/>
        </p:nvSpPr>
        <p:spPr bwMode="auto">
          <a:xfrm>
            <a:off x="8588377" y="2276476"/>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a:solidFill>
                  <a:srgbClr val="000000"/>
                </a:solidFill>
              </a:rPr>
              <a:t>No:6</a:t>
            </a:r>
          </a:p>
          <a:p>
            <a:pPr algn="ctr"/>
            <a:r>
              <a:rPr lang="en-US" altLang="zh-CN" sz="1600">
                <a:solidFill>
                  <a:srgbClr val="000000"/>
                </a:solidFill>
              </a:rPr>
              <a:t>Yes:3</a:t>
            </a:r>
          </a:p>
        </p:txBody>
      </p:sp>
      <p:sp>
        <p:nvSpPr>
          <p:cNvPr id="53269" name="Text Box 24"/>
          <p:cNvSpPr txBox="1">
            <a:spLocks noChangeArrowheads="1"/>
          </p:cNvSpPr>
          <p:nvPr/>
        </p:nvSpPr>
        <p:spPr bwMode="auto">
          <a:xfrm>
            <a:off x="2142964" y="3615263"/>
            <a:ext cx="8805894" cy="1015663"/>
          </a:xfrm>
          <a:prstGeom prst="rect">
            <a:avLst/>
          </a:prstGeom>
          <a:noFill/>
          <a:ln w="9525">
            <a:noFill/>
            <a:miter lim="800000"/>
            <a:headEnd/>
            <a:tailEnd/>
          </a:ln>
        </p:spPr>
        <p:txBody>
          <a:bodyPr wrap="square">
            <a:spAutoFit/>
          </a:bodyPr>
          <a:lstStyle/>
          <a:p>
            <a:r>
              <a:rPr lang="zh-CN" altLang="en-US" sz="2000" dirty="0">
                <a:solidFill>
                  <a:srgbClr val="7030A0"/>
                </a:solidFill>
              </a:rPr>
              <a:t>若采用</a:t>
            </a:r>
            <a:r>
              <a:rPr lang="en-US" altLang="zh-CN" sz="2000" dirty="0">
                <a:solidFill>
                  <a:srgbClr val="7030A0"/>
                </a:solidFill>
              </a:rPr>
              <a:t>Age</a:t>
            </a:r>
            <a:r>
              <a:rPr lang="zh-CN" altLang="en-US" sz="2000" dirty="0">
                <a:solidFill>
                  <a:srgbClr val="7030A0"/>
                </a:solidFill>
              </a:rPr>
              <a:t>或</a:t>
            </a:r>
            <a:r>
              <a:rPr lang="en-US" altLang="zh-CN" sz="2000" dirty="0" err="1">
                <a:solidFill>
                  <a:srgbClr val="7030A0"/>
                </a:solidFill>
              </a:rPr>
              <a:t>Own_house</a:t>
            </a:r>
            <a:r>
              <a:rPr lang="zh-CN" altLang="en-US" sz="2000" dirty="0">
                <a:solidFill>
                  <a:srgbClr val="7030A0"/>
                </a:solidFill>
              </a:rPr>
              <a:t>作为根节点。根节点的可能取值构成了根节点分支。对每个分支，列出该分支上每个类（</a:t>
            </a:r>
            <a:r>
              <a:rPr lang="en-US" altLang="zh-CN" sz="2000" dirty="0">
                <a:solidFill>
                  <a:srgbClr val="7030A0"/>
                </a:solidFill>
              </a:rPr>
              <a:t>Yes</a:t>
            </a:r>
            <a:r>
              <a:rPr lang="zh-CN" altLang="en-US" sz="2000" dirty="0">
                <a:solidFill>
                  <a:srgbClr val="7030A0"/>
                </a:solidFill>
              </a:rPr>
              <a:t>或</a:t>
            </a:r>
            <a:r>
              <a:rPr lang="en-US" altLang="zh-CN" sz="2000" dirty="0">
                <a:solidFill>
                  <a:srgbClr val="7030A0"/>
                </a:solidFill>
              </a:rPr>
              <a:t>No</a:t>
            </a:r>
            <a:r>
              <a:rPr lang="zh-CN" altLang="en-US" sz="2000" dirty="0">
                <a:solidFill>
                  <a:srgbClr val="7030A0"/>
                </a:solidFill>
              </a:rPr>
              <a:t>）的训练数据的数目。</a:t>
            </a:r>
            <a:endParaRPr lang="en-US" altLang="zh-CN" sz="2000" dirty="0">
              <a:solidFill>
                <a:srgbClr val="7030A0"/>
              </a:solidFill>
            </a:endParaRPr>
          </a:p>
          <a:p>
            <a:endParaRPr lang="en-US" altLang="zh-CN" sz="2000" dirty="0">
              <a:solidFill>
                <a:srgbClr val="7030A0"/>
              </a:solidFill>
            </a:endParaRPr>
          </a:p>
        </p:txBody>
      </p:sp>
      <p:sp>
        <p:nvSpPr>
          <p:cNvPr id="53270" name="Text Box 25"/>
          <p:cNvSpPr txBox="1">
            <a:spLocks noChangeArrowheads="1"/>
          </p:cNvSpPr>
          <p:nvPr/>
        </p:nvSpPr>
        <p:spPr bwMode="auto">
          <a:xfrm>
            <a:off x="3598865" y="3221038"/>
            <a:ext cx="840295" cy="400110"/>
          </a:xfrm>
          <a:prstGeom prst="rect">
            <a:avLst/>
          </a:prstGeom>
          <a:noFill/>
          <a:ln w="9525">
            <a:noFill/>
            <a:miter lim="800000"/>
            <a:headEnd/>
            <a:tailEnd/>
          </a:ln>
        </p:spPr>
        <p:txBody>
          <a:bodyPr wrap="none">
            <a:spAutoFit/>
          </a:bodyPr>
          <a:lstStyle/>
          <a:p>
            <a:r>
              <a:rPr lang="zh-CN" altLang="en-US" sz="2000">
                <a:solidFill>
                  <a:srgbClr val="000000"/>
                </a:solidFill>
              </a:rPr>
              <a:t>（</a:t>
            </a:r>
            <a:r>
              <a:rPr lang="en-US" altLang="zh-CN" sz="2000">
                <a:solidFill>
                  <a:srgbClr val="000000"/>
                </a:solidFill>
              </a:rPr>
              <a:t>a</a:t>
            </a:r>
            <a:r>
              <a:rPr lang="zh-CN" altLang="en-US" sz="2000">
                <a:solidFill>
                  <a:srgbClr val="000000"/>
                </a:solidFill>
              </a:rPr>
              <a:t>）</a:t>
            </a:r>
          </a:p>
        </p:txBody>
      </p:sp>
      <p:sp>
        <p:nvSpPr>
          <p:cNvPr id="53271" name="Text Box 26"/>
          <p:cNvSpPr txBox="1">
            <a:spLocks noChangeArrowheads="1"/>
          </p:cNvSpPr>
          <p:nvPr/>
        </p:nvSpPr>
        <p:spPr bwMode="auto">
          <a:xfrm>
            <a:off x="7507290" y="3149602"/>
            <a:ext cx="833437" cy="396875"/>
          </a:xfrm>
          <a:prstGeom prst="rect">
            <a:avLst/>
          </a:prstGeom>
          <a:noFill/>
          <a:ln w="9525">
            <a:noFill/>
            <a:miter lim="800000"/>
            <a:headEnd/>
            <a:tailEnd/>
          </a:ln>
        </p:spPr>
        <p:txBody>
          <a:bodyPr wrap="none">
            <a:spAutoFit/>
          </a:bodyPr>
          <a:lstStyle/>
          <a:p>
            <a:r>
              <a:rPr lang="zh-CN" altLang="en-US" sz="2000">
                <a:solidFill>
                  <a:srgbClr val="000000"/>
                </a:solidFill>
              </a:rPr>
              <a:t>（</a:t>
            </a:r>
            <a:r>
              <a:rPr lang="en-US" altLang="zh-CN" sz="2000">
                <a:solidFill>
                  <a:srgbClr val="000000"/>
                </a:solidFill>
              </a:rPr>
              <a:t>b</a:t>
            </a:r>
            <a:r>
              <a:rPr lang="zh-CN" altLang="en-US" sz="2000">
                <a:solidFill>
                  <a:srgbClr val="000000"/>
                </a:solidFill>
              </a:rPr>
              <a:t>）</a:t>
            </a:r>
          </a:p>
        </p:txBody>
      </p:sp>
      <p:sp>
        <p:nvSpPr>
          <p:cNvPr id="29" name="灯片编号占位符 28"/>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
        <p:nvSpPr>
          <p:cNvPr id="26" name="Text Box 25"/>
          <p:cNvSpPr txBox="1">
            <a:spLocks noChangeArrowheads="1"/>
          </p:cNvSpPr>
          <p:nvPr/>
        </p:nvSpPr>
        <p:spPr bwMode="auto">
          <a:xfrm>
            <a:off x="427250" y="4241136"/>
            <a:ext cx="11200331" cy="1323439"/>
          </a:xfrm>
          <a:prstGeom prst="rect">
            <a:avLst/>
          </a:prstGeom>
          <a:noFill/>
          <a:ln w="9525">
            <a:noFill/>
            <a:miter lim="800000"/>
            <a:headEnd/>
            <a:tailEnd/>
          </a:ln>
        </p:spPr>
        <p:txBody>
          <a:bodyPr wrap="square">
            <a:spAutoFit/>
          </a:bodyPr>
          <a:lstStyle/>
          <a:p>
            <a:pPr algn="just"/>
            <a:r>
              <a:rPr lang="zh-CN" altLang="en-US" sz="2000" dirty="0">
                <a:solidFill>
                  <a:srgbClr val="000000"/>
                </a:solidFill>
              </a:rPr>
              <a:t>从</a:t>
            </a:r>
            <a:r>
              <a:rPr lang="zh-CN" altLang="en-US" sz="2000" dirty="0"/>
              <a:t>少数服从多数</a:t>
            </a:r>
            <a:r>
              <a:rPr lang="zh-CN" altLang="en-US" sz="2000" dirty="0">
                <a:solidFill>
                  <a:srgbClr val="000000"/>
                </a:solidFill>
              </a:rPr>
              <a:t>分类预测的观点来看，</a:t>
            </a:r>
            <a:r>
              <a:rPr lang="en-US" altLang="zh-CN" sz="2000" dirty="0">
                <a:solidFill>
                  <a:srgbClr val="000000"/>
                </a:solidFill>
              </a:rPr>
              <a:t>(b)</a:t>
            </a:r>
            <a:r>
              <a:rPr lang="zh-CN" altLang="en-US" sz="2000" dirty="0">
                <a:solidFill>
                  <a:srgbClr val="000000"/>
                </a:solidFill>
              </a:rPr>
              <a:t> 比</a:t>
            </a:r>
            <a:r>
              <a:rPr lang="en-US" altLang="zh-CN" sz="2000" dirty="0">
                <a:solidFill>
                  <a:srgbClr val="000000"/>
                </a:solidFill>
              </a:rPr>
              <a:t>(a)</a:t>
            </a:r>
            <a:r>
              <a:rPr lang="zh-CN" altLang="en-US" sz="2000" dirty="0">
                <a:solidFill>
                  <a:srgbClr val="000000"/>
                </a:solidFill>
              </a:rPr>
              <a:t>好，</a:t>
            </a:r>
            <a:r>
              <a:rPr lang="en-US" altLang="zh-CN" sz="2000" dirty="0">
                <a:solidFill>
                  <a:srgbClr val="000000"/>
                </a:solidFill>
              </a:rPr>
              <a:t>(b)</a:t>
            </a:r>
            <a:r>
              <a:rPr lang="zh-CN" altLang="en-US" sz="2000" dirty="0">
                <a:solidFill>
                  <a:srgbClr val="000000"/>
                </a:solidFill>
              </a:rPr>
              <a:t>比</a:t>
            </a:r>
            <a:r>
              <a:rPr lang="en-US" altLang="zh-CN" sz="2000" dirty="0">
                <a:solidFill>
                  <a:srgbClr val="000000"/>
                </a:solidFill>
              </a:rPr>
              <a:t>(a)</a:t>
            </a:r>
            <a:r>
              <a:rPr lang="zh-CN" altLang="en-US" sz="2000" dirty="0">
                <a:solidFill>
                  <a:srgbClr val="000000"/>
                </a:solidFill>
              </a:rPr>
              <a:t>犯错的可能性要小。</a:t>
            </a:r>
            <a:endParaRPr lang="en-US" altLang="zh-CN" sz="2000" dirty="0">
              <a:solidFill>
                <a:srgbClr val="000000"/>
              </a:solidFill>
            </a:endParaRPr>
          </a:p>
          <a:p>
            <a:pPr algn="just"/>
            <a:r>
              <a:rPr lang="zh-CN" altLang="en-US" sz="2000" dirty="0"/>
              <a:t>选择</a:t>
            </a:r>
            <a:r>
              <a:rPr lang="en-US" altLang="zh-CN" sz="2000" dirty="0"/>
              <a:t>(b)</a:t>
            </a:r>
            <a:r>
              <a:rPr lang="zh-CN" altLang="en-US" sz="2000" dirty="0"/>
              <a:t>时，当</a:t>
            </a:r>
            <a:r>
              <a:rPr lang="en-US" altLang="zh-CN" sz="2000" dirty="0" err="1"/>
              <a:t>Own_house</a:t>
            </a:r>
            <a:r>
              <a:rPr lang="en-US" altLang="zh-CN" sz="2000" dirty="0"/>
              <a:t>=true</a:t>
            </a:r>
            <a:r>
              <a:rPr lang="zh-CN" altLang="en-US" sz="2000" dirty="0"/>
              <a:t>时，每个样例都分配到</a:t>
            </a:r>
            <a:r>
              <a:rPr lang="en-US" altLang="zh-CN" sz="2000" dirty="0"/>
              <a:t>yes</a:t>
            </a:r>
            <a:r>
              <a:rPr lang="zh-CN" altLang="en-US" sz="2000" dirty="0"/>
              <a:t>类中。在</a:t>
            </a:r>
            <a:r>
              <a:rPr lang="en-US" altLang="zh-CN" sz="2000" dirty="0" err="1"/>
              <a:t>Own_house</a:t>
            </a:r>
            <a:r>
              <a:rPr lang="en-US" altLang="zh-CN" sz="2000" dirty="0"/>
              <a:t>=false</a:t>
            </a:r>
            <a:r>
              <a:rPr lang="zh-CN" altLang="en-US" sz="2000" dirty="0"/>
              <a:t>时，如果将它们都归类到</a:t>
            </a:r>
            <a:r>
              <a:rPr lang="en-US" altLang="zh-CN" sz="2000" dirty="0"/>
              <a:t>No</a:t>
            </a:r>
            <a:r>
              <a:rPr lang="zh-CN" altLang="en-US" sz="2000" dirty="0"/>
              <a:t>类中，则整个分类会有三个错误。</a:t>
            </a:r>
          </a:p>
          <a:p>
            <a:pPr algn="just"/>
            <a:r>
              <a:rPr lang="zh-CN" altLang="en-US" sz="2000" dirty="0"/>
              <a:t>选择</a:t>
            </a:r>
            <a:r>
              <a:rPr lang="en-US" altLang="zh-CN" sz="2000" dirty="0"/>
              <a:t>(a)</a:t>
            </a:r>
            <a:r>
              <a:rPr lang="zh-CN" altLang="en-US" sz="2000" dirty="0"/>
              <a:t>时，如果按照少数服从多数的方法，则会产生</a:t>
            </a:r>
            <a:r>
              <a:rPr lang="en-US" altLang="zh-CN" sz="2000" dirty="0"/>
              <a:t>5</a:t>
            </a:r>
            <a:r>
              <a:rPr lang="zh-CN" altLang="en-US" sz="2000" dirty="0"/>
              <a:t>个错误的分类。</a:t>
            </a:r>
          </a:p>
        </p:txBody>
      </p:sp>
      <p:sp>
        <p:nvSpPr>
          <p:cNvPr id="28" name="Text Box 26"/>
          <p:cNvSpPr txBox="1">
            <a:spLocks noChangeArrowheads="1"/>
          </p:cNvSpPr>
          <p:nvPr/>
        </p:nvSpPr>
        <p:spPr bwMode="auto">
          <a:xfrm>
            <a:off x="360365" y="5643702"/>
            <a:ext cx="5570756" cy="400110"/>
          </a:xfrm>
          <a:prstGeom prst="rect">
            <a:avLst/>
          </a:prstGeom>
          <a:noFill/>
          <a:ln w="9525">
            <a:noFill/>
            <a:miter lim="800000"/>
            <a:headEnd/>
            <a:tailEnd/>
          </a:ln>
        </p:spPr>
        <p:txBody>
          <a:bodyPr wrap="none">
            <a:spAutoFit/>
          </a:bodyPr>
          <a:lstStyle/>
          <a:p>
            <a:r>
              <a:rPr lang="zh-CN" altLang="en-US" sz="2000" dirty="0"/>
              <a:t>说明，节点（特征）的选择对结果是有影响的。</a:t>
            </a:r>
          </a:p>
        </p:txBody>
      </p:sp>
      <p:sp>
        <p:nvSpPr>
          <p:cNvPr id="27" name="Text Box 8"/>
          <p:cNvSpPr txBox="1">
            <a:spLocks noChangeArrowheads="1"/>
          </p:cNvSpPr>
          <p:nvPr/>
        </p:nvSpPr>
        <p:spPr bwMode="auto">
          <a:xfrm>
            <a:off x="4056061" y="5974476"/>
            <a:ext cx="7879080" cy="461665"/>
          </a:xfrm>
          <a:prstGeom prst="rect">
            <a:avLst/>
          </a:prstGeom>
          <a:noFill/>
          <a:ln w="9525">
            <a:noFill/>
            <a:miter lim="800000"/>
            <a:headEnd/>
            <a:tailEnd/>
          </a:ln>
        </p:spPr>
        <p:txBody>
          <a:bodyPr wrap="none">
            <a:spAutoFit/>
          </a:bodyPr>
          <a:lstStyle/>
          <a:p>
            <a:r>
              <a:rPr lang="zh-CN" altLang="en-US" sz="2400" dirty="0">
                <a:solidFill>
                  <a:srgbClr val="FF0000"/>
                </a:solidFill>
              </a:rPr>
              <a:t>决策树的构建过程</a:t>
            </a:r>
            <a:r>
              <a:rPr lang="zh-CN" altLang="en-US" sz="2400" dirty="0">
                <a:solidFill>
                  <a:srgbClr val="000000"/>
                </a:solidFill>
              </a:rPr>
              <a:t>就是选取特征和确定决策规则的过程。</a:t>
            </a:r>
          </a:p>
        </p:txBody>
      </p:sp>
    </p:spTree>
    <p:extLst>
      <p:ext uri="{BB962C8B-B14F-4D97-AF65-F5344CB8AC3E}">
        <p14:creationId xmlns:p14="http://schemas.microsoft.com/office/powerpoint/2010/main" val="2562724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7"/>
          <p:cNvSpPr txBox="1">
            <a:spLocks noChangeArrowheads="1"/>
          </p:cNvSpPr>
          <p:nvPr/>
        </p:nvSpPr>
        <p:spPr bwMode="auto">
          <a:xfrm>
            <a:off x="4952992" y="357166"/>
            <a:ext cx="2236788" cy="584200"/>
          </a:xfrm>
          <a:prstGeom prst="rect">
            <a:avLst/>
          </a:prstGeom>
          <a:noFill/>
          <a:ln w="9525">
            <a:noFill/>
            <a:miter lim="800000"/>
            <a:headEnd/>
            <a:tailEnd/>
          </a:ln>
        </p:spPr>
        <p:txBody>
          <a:bodyPr wrap="none">
            <a:spAutoFit/>
          </a:bodyPr>
          <a:lstStyle/>
          <a:p>
            <a:r>
              <a:rPr lang="zh-CN" altLang="en-US" sz="3200" dirty="0">
                <a:solidFill>
                  <a:srgbClr val="000000"/>
                </a:solidFill>
              </a:rPr>
              <a:t>决策树算法</a:t>
            </a:r>
          </a:p>
        </p:txBody>
      </p:sp>
      <p:graphicFrame>
        <p:nvGraphicFramePr>
          <p:cNvPr id="795779" name="Group 131"/>
          <p:cNvGraphicFramePr>
            <a:graphicFrameLocks noGrp="1"/>
          </p:cNvGraphicFramePr>
          <p:nvPr>
            <p:extLst>
              <p:ext uri="{D42A27DB-BD31-4B8C-83A1-F6EECF244321}">
                <p14:modId xmlns:p14="http://schemas.microsoft.com/office/powerpoint/2010/main" val="3494944450"/>
              </p:ext>
            </p:extLst>
          </p:nvPr>
        </p:nvGraphicFramePr>
        <p:xfrm>
          <a:off x="2351584" y="1561931"/>
          <a:ext cx="4514850" cy="5090160"/>
        </p:xfrm>
        <a:graphic>
          <a:graphicData uri="http://schemas.openxmlformats.org/drawingml/2006/table">
            <a:tbl>
              <a:tblPr/>
              <a:tblGrid>
                <a:gridCol w="5111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1543050">
                  <a:extLst>
                    <a:ext uri="{9D8B030D-6E8A-4147-A177-3AD203B41FA5}">
                      <a16:colId xmlns:a16="http://schemas.microsoft.com/office/drawing/2014/main" val="20005"/>
                    </a:ext>
                  </a:extLst>
                </a:gridCol>
              </a:tblGrid>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Times New Roman" pitchFamily="18" charset="0"/>
                          <a:ea typeface="宋体"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dirty="0">
                          <a:ln>
                            <a:noFill/>
                          </a:ln>
                          <a:solidFill>
                            <a:schemeClr val="bg1"/>
                          </a:solidFill>
                          <a:effectLst/>
                          <a:latin typeface="Times New Roman" pitchFamily="18" charset="0"/>
                          <a:ea typeface="宋体"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8556" name="Text Box 129"/>
          <p:cNvSpPr txBox="1">
            <a:spLocks noChangeArrowheads="1"/>
          </p:cNvSpPr>
          <p:nvPr/>
        </p:nvSpPr>
        <p:spPr bwMode="auto">
          <a:xfrm>
            <a:off x="7178489" y="1844824"/>
            <a:ext cx="3643312" cy="4524375"/>
          </a:xfrm>
          <a:prstGeom prst="rect">
            <a:avLst/>
          </a:prstGeom>
          <a:solidFill>
            <a:schemeClr val="bg1"/>
          </a:solidFill>
          <a:ln w="9525">
            <a:noFill/>
            <a:miter lim="800000"/>
            <a:headEnd/>
            <a:tailEnd/>
          </a:ln>
        </p:spPr>
        <p:txBody>
          <a:bodyPr>
            <a:spAutoFit/>
          </a:bodyPr>
          <a:lstStyle/>
          <a:p>
            <a:pPr>
              <a:spcBef>
                <a:spcPct val="50000"/>
              </a:spcBef>
            </a:pPr>
            <a:r>
              <a:rPr lang="zh-CN" altLang="en-US" sz="2400" dirty="0">
                <a:solidFill>
                  <a:srgbClr val="000000"/>
                </a:solidFill>
              </a:rPr>
              <a:t>假定公司收集了左表数据，那么对于任意给定的客人（测试样例），你能帮助公司将这位客人归类吗？</a:t>
            </a:r>
          </a:p>
          <a:p>
            <a:pPr>
              <a:spcBef>
                <a:spcPct val="50000"/>
              </a:spcBef>
            </a:pPr>
            <a:r>
              <a:rPr lang="zh-CN" altLang="en-US" sz="2400" dirty="0">
                <a:solidFill>
                  <a:srgbClr val="000000"/>
                </a:solidFill>
              </a:rPr>
              <a:t>即：</a:t>
            </a:r>
            <a:r>
              <a:rPr lang="zh-CN" altLang="en-US" sz="2400" dirty="0">
                <a:solidFill>
                  <a:srgbClr val="0000FF"/>
                </a:solidFill>
              </a:rPr>
              <a:t>你能预测这位客人是属于“买”计算机的那一类，还是属于“不买”计算机的那一类？</a:t>
            </a:r>
          </a:p>
          <a:p>
            <a:pPr>
              <a:spcBef>
                <a:spcPct val="50000"/>
              </a:spcBef>
            </a:pPr>
            <a:r>
              <a:rPr lang="zh-CN" altLang="en-US" sz="2400" dirty="0">
                <a:solidFill>
                  <a:srgbClr val="000000"/>
                </a:solidFill>
              </a:rPr>
              <a:t>又：你需要多少有关这位客人的信息才能回答这个问题？</a:t>
            </a:r>
          </a:p>
        </p:txBody>
      </p:sp>
      <p:sp>
        <p:nvSpPr>
          <p:cNvPr id="18557" name="Text Box 132"/>
          <p:cNvSpPr txBox="1">
            <a:spLocks noChangeArrowheads="1"/>
          </p:cNvSpPr>
          <p:nvPr/>
        </p:nvSpPr>
        <p:spPr bwMode="auto">
          <a:xfrm>
            <a:off x="1991544" y="989935"/>
            <a:ext cx="2012950" cy="457200"/>
          </a:xfrm>
          <a:prstGeom prst="rect">
            <a:avLst/>
          </a:prstGeom>
          <a:noFill/>
          <a:ln w="9525">
            <a:noFill/>
            <a:miter lim="800000"/>
            <a:headEnd/>
            <a:tailEnd/>
          </a:ln>
        </p:spPr>
        <p:txBody>
          <a:bodyPr wrap="none">
            <a:spAutoFit/>
          </a:bodyPr>
          <a:lstStyle/>
          <a:p>
            <a:r>
              <a:rPr lang="zh-CN" altLang="en-US" sz="2400" dirty="0">
                <a:solidFill>
                  <a:srgbClr val="000000"/>
                </a:solidFill>
              </a:rPr>
              <a:t>决策树的用途</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8</a:t>
            </a:fld>
            <a:endParaRPr lang="en-US" altLang="zh-CN">
              <a:solidFill>
                <a:srgbClr val="000000"/>
              </a:solidFill>
            </a:endParaRPr>
          </a:p>
        </p:txBody>
      </p:sp>
    </p:spTree>
    <p:extLst>
      <p:ext uri="{BB962C8B-B14F-4D97-AF65-F5344CB8AC3E}">
        <p14:creationId xmlns:p14="http://schemas.microsoft.com/office/powerpoint/2010/main" val="776706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285" name="Group 165"/>
          <p:cNvGraphicFramePr>
            <a:graphicFrameLocks noGrp="1"/>
          </p:cNvGraphicFramePr>
          <p:nvPr/>
        </p:nvGraphicFramePr>
        <p:xfrm>
          <a:off x="1617663" y="1341438"/>
          <a:ext cx="4838700" cy="5090160"/>
        </p:xfrm>
        <a:graphic>
          <a:graphicData uri="http://schemas.openxmlformats.org/drawingml/2006/table">
            <a:tbl>
              <a:tblPr/>
              <a:tblGrid>
                <a:gridCol w="479425">
                  <a:extLst>
                    <a:ext uri="{9D8B030D-6E8A-4147-A177-3AD203B41FA5}">
                      <a16:colId xmlns:a16="http://schemas.microsoft.com/office/drawing/2014/main" val="20000"/>
                    </a:ext>
                  </a:extLst>
                </a:gridCol>
                <a:gridCol w="604837">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781041">
                  <a:extLst>
                    <a:ext uri="{9D8B030D-6E8A-4147-A177-3AD203B41FA5}">
                      <a16:colId xmlns:a16="http://schemas.microsoft.com/office/drawing/2014/main" val="20004"/>
                    </a:ext>
                  </a:extLst>
                </a:gridCol>
                <a:gridCol w="1646247">
                  <a:extLst>
                    <a:ext uri="{9D8B030D-6E8A-4147-A177-3AD203B41FA5}">
                      <a16:colId xmlns:a16="http://schemas.microsoft.com/office/drawing/2014/main" val="20005"/>
                    </a:ext>
                  </a:extLst>
                </a:gridCol>
              </a:tblGrid>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Times New Roman" pitchFamily="18" charset="0"/>
                          <a:ea typeface="宋体"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Times New Roman" pitchFamily="18" charset="0"/>
                          <a:ea typeface="宋体"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dirty="0">
                          <a:ln>
                            <a:noFill/>
                          </a:ln>
                          <a:solidFill>
                            <a:schemeClr val="bg1"/>
                          </a:solidFill>
                          <a:effectLst/>
                          <a:latin typeface="Times New Roman" pitchFamily="18" charset="0"/>
                          <a:ea typeface="宋体"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CC0099"/>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CC0099"/>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accent1">
                              <a:lumMod val="50000"/>
                            </a:schemeClr>
                          </a:solidFill>
                          <a:effectLst/>
                          <a:latin typeface="Times New Roman" pitchFamily="18" charset="0"/>
                          <a:ea typeface="宋体"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rgbClr val="00B050"/>
                          </a:solidFill>
                          <a:effectLst/>
                          <a:latin typeface="Times New Roman" pitchFamily="18" charset="0"/>
                          <a:ea typeface="宋体"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00B050"/>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00B050"/>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accent1">
                              <a:lumMod val="50000"/>
                            </a:schemeClr>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CC0099"/>
                          </a:solidFill>
                          <a:effectLst/>
                          <a:latin typeface="Times New Roman" pitchFamily="18" charset="0"/>
                          <a:ea typeface="宋体"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CC0099"/>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rgbClr val="CC0099"/>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CC0099"/>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CC0099"/>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accent1">
                              <a:lumMod val="50000"/>
                            </a:schemeClr>
                          </a:solidFill>
                          <a:effectLst/>
                          <a:latin typeface="Times New Roman" pitchFamily="18" charset="0"/>
                          <a:ea typeface="宋体"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accent1">
                              <a:lumMod val="50000"/>
                            </a:schemeClr>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accent1">
                              <a:lumMod val="50000"/>
                            </a:schemeClr>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accent1">
                              <a:lumMod val="50000"/>
                            </a:schemeClr>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accent1">
                              <a:lumMod val="50000"/>
                            </a:schemeClr>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accent1">
                              <a:lumMod val="50000"/>
                            </a:schemeClr>
                          </a:solidFill>
                          <a:effectLst/>
                          <a:latin typeface="Times New Roman" pitchFamily="18" charset="0"/>
                          <a:ea typeface="宋体"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accent1">
                              <a:lumMod val="50000"/>
                            </a:schemeClr>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rgbClr val="00B050"/>
                          </a:solidFill>
                          <a:effectLst/>
                          <a:latin typeface="Times New Roman" pitchFamily="18" charset="0"/>
                          <a:ea typeface="宋体"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rgbClr val="00B050"/>
                          </a:solidFill>
                          <a:effectLst/>
                          <a:latin typeface="Times New Roman" pitchFamily="18" charset="0"/>
                          <a:ea typeface="宋体"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rgbClr val="00B050"/>
                          </a:solidFill>
                          <a:effectLst/>
                          <a:latin typeface="Times New Roman" pitchFamily="18" charset="0"/>
                          <a:ea typeface="宋体"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rgbClr val="00B050"/>
                          </a:solidFill>
                          <a:effectLst/>
                          <a:latin typeface="Times New Roman" pitchFamily="18" charset="0"/>
                          <a:ea typeface="宋体"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20603" name="Text Box 128"/>
          <p:cNvSpPr txBox="1">
            <a:spLocks noChangeArrowheads="1"/>
          </p:cNvSpPr>
          <p:nvPr/>
        </p:nvSpPr>
        <p:spPr bwMode="auto">
          <a:xfrm>
            <a:off x="6794500" y="1152525"/>
            <a:ext cx="3581400" cy="519113"/>
          </a:xfrm>
          <a:prstGeom prst="rect">
            <a:avLst/>
          </a:prstGeom>
          <a:solidFill>
            <a:srgbClr val="FF6600"/>
          </a:solidFill>
          <a:ln w="9525">
            <a:noFill/>
            <a:miter lim="800000"/>
            <a:headEnd/>
            <a:tailEnd/>
          </a:ln>
        </p:spPr>
        <p:txBody>
          <a:bodyPr>
            <a:spAutoFit/>
          </a:bodyPr>
          <a:lstStyle/>
          <a:p>
            <a:pPr>
              <a:spcBef>
                <a:spcPct val="50000"/>
              </a:spcBef>
            </a:pPr>
            <a:r>
              <a:rPr lang="zh-CN" altLang="en-US" sz="2800">
                <a:solidFill>
                  <a:srgbClr val="FFFFFF"/>
                </a:solidFill>
              </a:rPr>
              <a:t>谁在买计算机？</a:t>
            </a:r>
          </a:p>
        </p:txBody>
      </p:sp>
      <p:grpSp>
        <p:nvGrpSpPr>
          <p:cNvPr id="7" name="组合 6"/>
          <p:cNvGrpSpPr/>
          <p:nvPr/>
        </p:nvGrpSpPr>
        <p:grpSpPr>
          <a:xfrm>
            <a:off x="6499225" y="2486025"/>
            <a:ext cx="4133850" cy="2743200"/>
            <a:chOff x="4975225" y="2486025"/>
            <a:chExt cx="4133850" cy="2743200"/>
          </a:xfrm>
        </p:grpSpPr>
        <p:sp>
          <p:nvSpPr>
            <p:cNvPr id="20604" name="Text Box 129"/>
            <p:cNvSpPr txBox="1">
              <a:spLocks noChangeArrowheads="1"/>
            </p:cNvSpPr>
            <p:nvPr/>
          </p:nvSpPr>
          <p:spPr bwMode="auto">
            <a:xfrm>
              <a:off x="6518275" y="2486025"/>
              <a:ext cx="85725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a:solidFill>
                    <a:srgbClr val="000000"/>
                  </a:solidFill>
                </a:rPr>
                <a:t>年龄？</a:t>
              </a:r>
            </a:p>
          </p:txBody>
        </p:sp>
        <p:sp>
          <p:nvSpPr>
            <p:cNvPr id="20605" name="Text Box 130"/>
            <p:cNvSpPr txBox="1">
              <a:spLocks noChangeArrowheads="1"/>
            </p:cNvSpPr>
            <p:nvPr/>
          </p:nvSpPr>
          <p:spPr bwMode="auto">
            <a:xfrm>
              <a:off x="5356225" y="3705225"/>
              <a:ext cx="91440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a:solidFill>
                    <a:srgbClr val="000000"/>
                  </a:solidFill>
                </a:rPr>
                <a:t>学生？</a:t>
              </a:r>
            </a:p>
          </p:txBody>
        </p:sp>
        <p:sp>
          <p:nvSpPr>
            <p:cNvPr id="20606" name="Text Box 131"/>
            <p:cNvSpPr txBox="1">
              <a:spLocks noChangeArrowheads="1"/>
            </p:cNvSpPr>
            <p:nvPr/>
          </p:nvSpPr>
          <p:spPr bwMode="auto">
            <a:xfrm>
              <a:off x="7737475" y="3705225"/>
              <a:ext cx="83820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a:solidFill>
                    <a:srgbClr val="000000"/>
                  </a:solidFill>
                </a:rPr>
                <a:t>信誉？</a:t>
              </a:r>
            </a:p>
          </p:txBody>
        </p:sp>
        <p:grpSp>
          <p:nvGrpSpPr>
            <p:cNvPr id="2" name="Group 132"/>
            <p:cNvGrpSpPr>
              <a:grpSpLocks/>
            </p:cNvGrpSpPr>
            <p:nvPr/>
          </p:nvGrpSpPr>
          <p:grpSpPr bwMode="auto">
            <a:xfrm>
              <a:off x="6442075" y="3684588"/>
              <a:ext cx="914400" cy="381000"/>
              <a:chOff x="4080" y="2435"/>
              <a:chExt cx="576" cy="240"/>
            </a:xfrm>
          </p:grpSpPr>
          <p:sp>
            <p:nvSpPr>
              <p:cNvPr id="20636" name="Oval 133"/>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0637" name="Text Box 134"/>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sp>
          <p:nvSpPr>
            <p:cNvPr id="20608" name="Line 135"/>
            <p:cNvSpPr>
              <a:spLocks noChangeShapeType="1"/>
            </p:cNvSpPr>
            <p:nvPr/>
          </p:nvSpPr>
          <p:spPr bwMode="auto">
            <a:xfrm flipH="1">
              <a:off x="5813425" y="2790825"/>
              <a:ext cx="106680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09" name="Line 136"/>
            <p:cNvSpPr>
              <a:spLocks noChangeShapeType="1"/>
            </p:cNvSpPr>
            <p:nvPr/>
          </p:nvSpPr>
          <p:spPr bwMode="auto">
            <a:xfrm>
              <a:off x="6880225" y="2790825"/>
              <a:ext cx="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0" name="Line 137"/>
            <p:cNvSpPr>
              <a:spLocks noChangeShapeType="1"/>
            </p:cNvSpPr>
            <p:nvPr/>
          </p:nvSpPr>
          <p:spPr bwMode="auto">
            <a:xfrm>
              <a:off x="6899275" y="2790825"/>
              <a:ext cx="112395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1" name="Line 138"/>
            <p:cNvSpPr>
              <a:spLocks noChangeShapeType="1"/>
            </p:cNvSpPr>
            <p:nvPr/>
          </p:nvSpPr>
          <p:spPr bwMode="auto">
            <a:xfrm flipH="1">
              <a:off x="5432425" y="4086225"/>
              <a:ext cx="3048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2" name="Line 139"/>
            <p:cNvSpPr>
              <a:spLocks noChangeShapeType="1"/>
            </p:cNvSpPr>
            <p:nvPr/>
          </p:nvSpPr>
          <p:spPr bwMode="auto">
            <a:xfrm>
              <a:off x="5889625" y="4086225"/>
              <a:ext cx="4572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3" name="Line 140"/>
            <p:cNvSpPr>
              <a:spLocks noChangeShapeType="1"/>
            </p:cNvSpPr>
            <p:nvPr/>
          </p:nvSpPr>
          <p:spPr bwMode="auto">
            <a:xfrm flipH="1">
              <a:off x="7642225" y="4086225"/>
              <a:ext cx="3810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4" name="Line 141"/>
            <p:cNvSpPr>
              <a:spLocks noChangeShapeType="1"/>
            </p:cNvSpPr>
            <p:nvPr/>
          </p:nvSpPr>
          <p:spPr bwMode="auto">
            <a:xfrm>
              <a:off x="8175625" y="4086225"/>
              <a:ext cx="4572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0615" name="Rectangle 142"/>
            <p:cNvSpPr>
              <a:spLocks noChangeArrowheads="1"/>
            </p:cNvSpPr>
            <p:nvPr/>
          </p:nvSpPr>
          <p:spPr bwMode="auto">
            <a:xfrm>
              <a:off x="5813425" y="2992438"/>
              <a:ext cx="361950" cy="304800"/>
            </a:xfrm>
            <a:prstGeom prst="rect">
              <a:avLst/>
            </a:prstGeom>
            <a:noFill/>
            <a:ln w="9525">
              <a:noFill/>
              <a:miter lim="800000"/>
              <a:headEnd/>
              <a:tailEnd/>
            </a:ln>
          </p:spPr>
          <p:txBody>
            <a:bodyPr wrap="none">
              <a:spAutoFit/>
            </a:bodyPr>
            <a:lstStyle/>
            <a:p>
              <a:r>
                <a:rPr lang="zh-CN" altLang="en-US" sz="1400">
                  <a:solidFill>
                    <a:srgbClr val="000000"/>
                  </a:solidFill>
                </a:rPr>
                <a:t>青</a:t>
              </a:r>
            </a:p>
          </p:txBody>
        </p:sp>
        <p:sp>
          <p:nvSpPr>
            <p:cNvPr id="20616" name="Rectangle 143"/>
            <p:cNvSpPr>
              <a:spLocks noChangeArrowheads="1"/>
            </p:cNvSpPr>
            <p:nvPr/>
          </p:nvSpPr>
          <p:spPr bwMode="auto">
            <a:xfrm>
              <a:off x="6575425" y="3144838"/>
              <a:ext cx="361950" cy="304800"/>
            </a:xfrm>
            <a:prstGeom prst="rect">
              <a:avLst/>
            </a:prstGeom>
            <a:noFill/>
            <a:ln w="9525">
              <a:noFill/>
              <a:miter lim="800000"/>
              <a:headEnd/>
              <a:tailEnd/>
            </a:ln>
          </p:spPr>
          <p:txBody>
            <a:bodyPr wrap="none">
              <a:spAutoFit/>
            </a:bodyPr>
            <a:lstStyle/>
            <a:p>
              <a:r>
                <a:rPr lang="zh-CN" altLang="en-US" sz="1400">
                  <a:solidFill>
                    <a:srgbClr val="000000"/>
                  </a:solidFill>
                </a:rPr>
                <a:t>中</a:t>
              </a:r>
            </a:p>
          </p:txBody>
        </p:sp>
        <p:sp>
          <p:nvSpPr>
            <p:cNvPr id="20617" name="Rectangle 144"/>
            <p:cNvSpPr>
              <a:spLocks noChangeArrowheads="1"/>
            </p:cNvSpPr>
            <p:nvPr/>
          </p:nvSpPr>
          <p:spPr bwMode="auto">
            <a:xfrm>
              <a:off x="7432675" y="3068638"/>
              <a:ext cx="361950" cy="304800"/>
            </a:xfrm>
            <a:prstGeom prst="rect">
              <a:avLst/>
            </a:prstGeom>
            <a:noFill/>
            <a:ln w="9525">
              <a:noFill/>
              <a:miter lim="800000"/>
              <a:headEnd/>
              <a:tailEnd/>
            </a:ln>
          </p:spPr>
          <p:txBody>
            <a:bodyPr wrap="none">
              <a:spAutoFit/>
            </a:bodyPr>
            <a:lstStyle/>
            <a:p>
              <a:r>
                <a:rPr lang="zh-CN" altLang="en-US" sz="1400">
                  <a:solidFill>
                    <a:srgbClr val="000000"/>
                  </a:solidFill>
                </a:rPr>
                <a:t>老</a:t>
              </a:r>
            </a:p>
          </p:txBody>
        </p:sp>
        <p:sp>
          <p:nvSpPr>
            <p:cNvPr id="20618" name="Rectangle 145"/>
            <p:cNvSpPr>
              <a:spLocks noChangeArrowheads="1"/>
            </p:cNvSpPr>
            <p:nvPr/>
          </p:nvSpPr>
          <p:spPr bwMode="auto">
            <a:xfrm>
              <a:off x="5260975" y="4267200"/>
              <a:ext cx="361950" cy="304800"/>
            </a:xfrm>
            <a:prstGeom prst="rect">
              <a:avLst/>
            </a:prstGeom>
            <a:noFill/>
            <a:ln w="9525">
              <a:noFill/>
              <a:miter lim="800000"/>
              <a:headEnd/>
              <a:tailEnd/>
            </a:ln>
          </p:spPr>
          <p:txBody>
            <a:bodyPr wrap="none">
              <a:spAutoFit/>
            </a:bodyPr>
            <a:lstStyle/>
            <a:p>
              <a:r>
                <a:rPr lang="zh-CN" altLang="en-US" sz="1400">
                  <a:solidFill>
                    <a:srgbClr val="000000"/>
                  </a:solidFill>
                </a:rPr>
                <a:t>否</a:t>
              </a:r>
            </a:p>
          </p:txBody>
        </p:sp>
        <p:sp>
          <p:nvSpPr>
            <p:cNvPr id="20619" name="Rectangle 146"/>
            <p:cNvSpPr>
              <a:spLocks noChangeArrowheads="1"/>
            </p:cNvSpPr>
            <p:nvPr/>
          </p:nvSpPr>
          <p:spPr bwMode="auto">
            <a:xfrm>
              <a:off x="5988050" y="4259263"/>
              <a:ext cx="361950" cy="304800"/>
            </a:xfrm>
            <a:prstGeom prst="rect">
              <a:avLst/>
            </a:prstGeom>
            <a:noFill/>
            <a:ln w="9525">
              <a:noFill/>
              <a:miter lim="800000"/>
              <a:headEnd/>
              <a:tailEnd/>
            </a:ln>
          </p:spPr>
          <p:txBody>
            <a:bodyPr wrap="none">
              <a:spAutoFit/>
            </a:bodyPr>
            <a:lstStyle/>
            <a:p>
              <a:r>
                <a:rPr lang="zh-CN" altLang="en-US" sz="1400">
                  <a:solidFill>
                    <a:srgbClr val="000000"/>
                  </a:solidFill>
                </a:rPr>
                <a:t>是</a:t>
              </a:r>
            </a:p>
          </p:txBody>
        </p:sp>
        <p:sp>
          <p:nvSpPr>
            <p:cNvPr id="20620" name="Rectangle 147"/>
            <p:cNvSpPr>
              <a:spLocks noChangeArrowheads="1"/>
            </p:cNvSpPr>
            <p:nvPr/>
          </p:nvSpPr>
          <p:spPr bwMode="auto">
            <a:xfrm>
              <a:off x="7432675" y="4287838"/>
              <a:ext cx="361950" cy="304800"/>
            </a:xfrm>
            <a:prstGeom prst="rect">
              <a:avLst/>
            </a:prstGeom>
            <a:noFill/>
            <a:ln w="9525">
              <a:noFill/>
              <a:miter lim="800000"/>
              <a:headEnd/>
              <a:tailEnd/>
            </a:ln>
          </p:spPr>
          <p:txBody>
            <a:bodyPr wrap="none">
              <a:spAutoFit/>
            </a:bodyPr>
            <a:lstStyle/>
            <a:p>
              <a:r>
                <a:rPr lang="zh-CN" altLang="en-US" sz="1400">
                  <a:solidFill>
                    <a:srgbClr val="000000"/>
                  </a:solidFill>
                </a:rPr>
                <a:t>优</a:t>
              </a:r>
            </a:p>
          </p:txBody>
        </p:sp>
        <p:sp>
          <p:nvSpPr>
            <p:cNvPr id="20621" name="Rectangle 148"/>
            <p:cNvSpPr>
              <a:spLocks noChangeArrowheads="1"/>
            </p:cNvSpPr>
            <p:nvPr/>
          </p:nvSpPr>
          <p:spPr bwMode="auto">
            <a:xfrm>
              <a:off x="8347075" y="4287838"/>
              <a:ext cx="361950" cy="304800"/>
            </a:xfrm>
            <a:prstGeom prst="rect">
              <a:avLst/>
            </a:prstGeom>
            <a:noFill/>
            <a:ln w="9525">
              <a:noFill/>
              <a:miter lim="800000"/>
              <a:headEnd/>
              <a:tailEnd/>
            </a:ln>
          </p:spPr>
          <p:txBody>
            <a:bodyPr wrap="none">
              <a:spAutoFit/>
            </a:bodyPr>
            <a:lstStyle/>
            <a:p>
              <a:r>
                <a:rPr lang="zh-CN" altLang="en-US" sz="1400">
                  <a:solidFill>
                    <a:srgbClr val="000000"/>
                  </a:solidFill>
                </a:rPr>
                <a:t>良</a:t>
              </a:r>
            </a:p>
          </p:txBody>
        </p:sp>
        <p:grpSp>
          <p:nvGrpSpPr>
            <p:cNvPr id="3" name="Group 149"/>
            <p:cNvGrpSpPr>
              <a:grpSpLocks/>
            </p:cNvGrpSpPr>
            <p:nvPr/>
          </p:nvGrpSpPr>
          <p:grpSpPr bwMode="auto">
            <a:xfrm>
              <a:off x="4975225" y="4827588"/>
              <a:ext cx="914400" cy="381000"/>
              <a:chOff x="3156" y="3155"/>
              <a:chExt cx="576" cy="240"/>
            </a:xfrm>
          </p:grpSpPr>
          <p:sp>
            <p:nvSpPr>
              <p:cNvPr id="20634" name="Oval 150"/>
              <p:cNvSpPr>
                <a:spLocks noChangeArrowheads="1"/>
              </p:cNvSpPr>
              <p:nvPr/>
            </p:nvSpPr>
            <p:spPr bwMode="auto">
              <a:xfrm>
                <a:off x="3156" y="315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0635" name="Text Box 151"/>
              <p:cNvSpPr txBox="1">
                <a:spLocks noChangeArrowheads="1"/>
              </p:cNvSpPr>
              <p:nvPr/>
            </p:nvSpPr>
            <p:spPr bwMode="auto">
              <a:xfrm>
                <a:off x="3252" y="3174"/>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不买</a:t>
                </a:r>
              </a:p>
            </p:txBody>
          </p:sp>
        </p:grpSp>
        <p:grpSp>
          <p:nvGrpSpPr>
            <p:cNvPr id="4" name="Group 152"/>
            <p:cNvGrpSpPr>
              <a:grpSpLocks/>
            </p:cNvGrpSpPr>
            <p:nvPr/>
          </p:nvGrpSpPr>
          <p:grpSpPr bwMode="auto">
            <a:xfrm>
              <a:off x="8194675" y="4829175"/>
              <a:ext cx="914400" cy="381000"/>
              <a:chOff x="4080" y="2435"/>
              <a:chExt cx="576" cy="240"/>
            </a:xfrm>
          </p:grpSpPr>
          <p:sp>
            <p:nvSpPr>
              <p:cNvPr id="20632" name="Oval 153"/>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0633" name="Text Box 154"/>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grpSp>
          <p:nvGrpSpPr>
            <p:cNvPr id="5" name="Group 155"/>
            <p:cNvGrpSpPr>
              <a:grpSpLocks/>
            </p:cNvGrpSpPr>
            <p:nvPr/>
          </p:nvGrpSpPr>
          <p:grpSpPr bwMode="auto">
            <a:xfrm>
              <a:off x="5983288" y="4827588"/>
              <a:ext cx="914400" cy="381000"/>
              <a:chOff x="4080" y="2435"/>
              <a:chExt cx="576" cy="240"/>
            </a:xfrm>
          </p:grpSpPr>
          <p:sp>
            <p:nvSpPr>
              <p:cNvPr id="20630" name="Oval 156"/>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0631" name="Text Box 157"/>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grpSp>
          <p:nvGrpSpPr>
            <p:cNvPr id="6" name="Group 158"/>
            <p:cNvGrpSpPr>
              <a:grpSpLocks/>
            </p:cNvGrpSpPr>
            <p:nvPr/>
          </p:nvGrpSpPr>
          <p:grpSpPr bwMode="auto">
            <a:xfrm>
              <a:off x="7127875" y="4848225"/>
              <a:ext cx="914400" cy="381000"/>
              <a:chOff x="4512" y="3168"/>
              <a:chExt cx="576" cy="240"/>
            </a:xfrm>
          </p:grpSpPr>
          <p:sp>
            <p:nvSpPr>
              <p:cNvPr id="20628" name="Oval 159"/>
              <p:cNvSpPr>
                <a:spLocks noChangeArrowheads="1"/>
              </p:cNvSpPr>
              <p:nvPr/>
            </p:nvSpPr>
            <p:spPr bwMode="auto">
              <a:xfrm>
                <a:off x="4512" y="3168"/>
                <a:ext cx="576" cy="240"/>
              </a:xfrm>
              <a:prstGeom prst="ellipse">
                <a:avLst/>
              </a:prstGeom>
              <a:solidFill>
                <a:srgbClr val="B4B6B0"/>
              </a:solidFill>
              <a:ln w="9525">
                <a:solidFill>
                  <a:schemeClr val="tx1"/>
                </a:solidFill>
                <a:round/>
                <a:headEnd/>
                <a:tailEnd/>
              </a:ln>
            </p:spPr>
            <p:txBody>
              <a:bodyPr wrap="none" anchor="ctr"/>
              <a:lstStyle/>
              <a:p>
                <a:endParaRPr lang="zh-CN" altLang="en-US">
                  <a:solidFill>
                    <a:srgbClr val="000000"/>
                  </a:solidFill>
                </a:endParaRPr>
              </a:p>
            </p:txBody>
          </p:sp>
          <p:sp>
            <p:nvSpPr>
              <p:cNvPr id="20629" name="Text Box 160"/>
              <p:cNvSpPr txBox="1">
                <a:spLocks noChangeArrowheads="1"/>
              </p:cNvSpPr>
              <p:nvPr/>
            </p:nvSpPr>
            <p:spPr bwMode="auto">
              <a:xfrm>
                <a:off x="4608" y="3187"/>
                <a:ext cx="384" cy="192"/>
              </a:xfrm>
              <a:prstGeom prst="rect">
                <a:avLst/>
              </a:prstGeom>
              <a:solidFill>
                <a:srgbClr val="B4B6B0"/>
              </a:solidFill>
              <a:ln w="9525">
                <a:noFill/>
                <a:miter lim="800000"/>
                <a:headEnd/>
                <a:tailEnd/>
              </a:ln>
            </p:spPr>
            <p:txBody>
              <a:bodyPr>
                <a:spAutoFit/>
              </a:bodyPr>
              <a:lstStyle/>
              <a:p>
                <a:pPr>
                  <a:spcBef>
                    <a:spcPct val="50000"/>
                  </a:spcBef>
                </a:pPr>
                <a:r>
                  <a:rPr lang="zh-CN" altLang="en-US" sz="1400">
                    <a:solidFill>
                      <a:srgbClr val="000000"/>
                    </a:solidFill>
                  </a:rPr>
                  <a:t>不买</a:t>
                </a:r>
              </a:p>
            </p:txBody>
          </p:sp>
        </p:grpSp>
      </p:grpSp>
      <p:sp>
        <p:nvSpPr>
          <p:cNvPr id="20626" name="Text Box 161"/>
          <p:cNvSpPr txBox="1">
            <a:spLocks noChangeArrowheads="1"/>
          </p:cNvSpPr>
          <p:nvPr/>
        </p:nvSpPr>
        <p:spPr bwMode="auto">
          <a:xfrm>
            <a:off x="839416" y="884238"/>
            <a:ext cx="2012950" cy="457200"/>
          </a:xfrm>
          <a:prstGeom prst="rect">
            <a:avLst/>
          </a:prstGeom>
          <a:noFill/>
          <a:ln w="9525">
            <a:noFill/>
            <a:miter lim="800000"/>
            <a:headEnd/>
            <a:tailEnd/>
          </a:ln>
        </p:spPr>
        <p:txBody>
          <a:bodyPr wrap="none">
            <a:spAutoFit/>
          </a:bodyPr>
          <a:lstStyle/>
          <a:p>
            <a:r>
              <a:rPr lang="zh-CN" altLang="en-US" sz="2400">
                <a:solidFill>
                  <a:srgbClr val="000000"/>
                </a:solidFill>
              </a:rPr>
              <a:t>决策树的用途</a:t>
            </a:r>
          </a:p>
        </p:txBody>
      </p:sp>
      <p:sp>
        <p:nvSpPr>
          <p:cNvPr id="20627" name="Text Box 162"/>
          <p:cNvSpPr txBox="1">
            <a:spLocks noChangeArrowheads="1"/>
          </p:cNvSpPr>
          <p:nvPr/>
        </p:nvSpPr>
        <p:spPr bwMode="auto">
          <a:xfrm>
            <a:off x="4800600" y="357166"/>
            <a:ext cx="2236788" cy="584200"/>
          </a:xfrm>
          <a:prstGeom prst="rect">
            <a:avLst/>
          </a:prstGeom>
          <a:noFill/>
          <a:ln w="9525">
            <a:noFill/>
            <a:miter lim="800000"/>
            <a:headEnd/>
            <a:tailEnd/>
          </a:ln>
        </p:spPr>
        <p:txBody>
          <a:bodyPr wrap="none">
            <a:spAutoFit/>
          </a:bodyPr>
          <a:lstStyle/>
          <a:p>
            <a:r>
              <a:rPr lang="zh-CN" altLang="en-US" sz="3200" dirty="0">
                <a:solidFill>
                  <a:srgbClr val="000000"/>
                </a:solidFill>
              </a:rPr>
              <a:t>决策树算法</a:t>
            </a:r>
          </a:p>
        </p:txBody>
      </p:sp>
      <p:sp>
        <p:nvSpPr>
          <p:cNvPr id="38" name="灯片编号占位符 37"/>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9</a:t>
            </a:fld>
            <a:endParaRPr lang="en-US" altLang="zh-CN">
              <a:solidFill>
                <a:srgbClr val="000000"/>
              </a:solidFill>
            </a:endParaRPr>
          </a:p>
        </p:txBody>
      </p:sp>
    </p:spTree>
    <p:extLst>
      <p:ext uri="{BB962C8B-B14F-4D97-AF65-F5344CB8AC3E}">
        <p14:creationId xmlns:p14="http://schemas.microsoft.com/office/powerpoint/2010/main" val="3300886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7"/>
          <p:cNvSpPr txBox="1">
            <a:spLocks noChangeArrowheads="1"/>
          </p:cNvSpPr>
          <p:nvPr/>
        </p:nvSpPr>
        <p:spPr bwMode="auto">
          <a:xfrm>
            <a:off x="4800600" y="344470"/>
            <a:ext cx="2236788" cy="584200"/>
          </a:xfrm>
          <a:prstGeom prst="rect">
            <a:avLst/>
          </a:prstGeom>
          <a:noFill/>
          <a:ln w="9525">
            <a:noFill/>
            <a:miter lim="800000"/>
            <a:headEnd/>
            <a:tailEnd/>
          </a:ln>
        </p:spPr>
        <p:txBody>
          <a:bodyPr wrap="none">
            <a:spAutoFit/>
          </a:bodyPr>
          <a:lstStyle/>
          <a:p>
            <a:r>
              <a:rPr lang="zh-CN" altLang="en-US" sz="3200" dirty="0">
                <a:solidFill>
                  <a:srgbClr val="000000"/>
                </a:solidFill>
              </a:rPr>
              <a:t>决策树算法</a:t>
            </a:r>
          </a:p>
        </p:txBody>
      </p:sp>
      <p:sp>
        <p:nvSpPr>
          <p:cNvPr id="21507" name="Text Box 8"/>
          <p:cNvSpPr txBox="1">
            <a:spLocks noChangeArrowheads="1"/>
          </p:cNvSpPr>
          <p:nvPr/>
        </p:nvSpPr>
        <p:spPr bwMode="auto">
          <a:xfrm>
            <a:off x="1030784" y="1014784"/>
            <a:ext cx="2338387" cy="523875"/>
          </a:xfrm>
          <a:prstGeom prst="rect">
            <a:avLst/>
          </a:prstGeom>
          <a:noFill/>
          <a:ln w="9525">
            <a:noFill/>
            <a:miter lim="800000"/>
            <a:headEnd/>
            <a:tailEnd/>
          </a:ln>
        </p:spPr>
        <p:txBody>
          <a:bodyPr wrap="none">
            <a:spAutoFit/>
          </a:bodyPr>
          <a:lstStyle/>
          <a:p>
            <a:r>
              <a:rPr lang="zh-CN" altLang="en-US" sz="2800" dirty="0">
                <a:solidFill>
                  <a:srgbClr val="000000"/>
                </a:solidFill>
              </a:rPr>
              <a:t>决策树的表示</a:t>
            </a:r>
          </a:p>
        </p:txBody>
      </p:sp>
      <p:sp>
        <p:nvSpPr>
          <p:cNvPr id="21508" name="Text Box 9"/>
          <p:cNvSpPr txBox="1">
            <a:spLocks noChangeArrowheads="1"/>
          </p:cNvSpPr>
          <p:nvPr/>
        </p:nvSpPr>
        <p:spPr bwMode="auto">
          <a:xfrm>
            <a:off x="4485145" y="1018770"/>
            <a:ext cx="6956425" cy="461962"/>
          </a:xfrm>
          <a:prstGeom prst="rect">
            <a:avLst/>
          </a:prstGeom>
          <a:noFill/>
          <a:ln w="9525">
            <a:noFill/>
            <a:miter lim="800000"/>
            <a:headEnd/>
            <a:tailEnd/>
          </a:ln>
        </p:spPr>
        <p:txBody>
          <a:bodyPr wrap="none">
            <a:spAutoFit/>
          </a:bodyPr>
          <a:lstStyle/>
          <a:p>
            <a:r>
              <a:rPr lang="zh-CN" altLang="en-US" sz="2400" dirty="0">
                <a:solidFill>
                  <a:srgbClr val="000000"/>
                </a:solidFill>
              </a:rPr>
              <a:t>决策树的基本组成部分：决策结点、分支和叶子。</a:t>
            </a:r>
          </a:p>
        </p:txBody>
      </p:sp>
      <p:sp>
        <p:nvSpPr>
          <p:cNvPr id="21509" name="Text Box 10"/>
          <p:cNvSpPr txBox="1">
            <a:spLocks noChangeArrowheads="1"/>
          </p:cNvSpPr>
          <p:nvPr/>
        </p:nvSpPr>
        <p:spPr bwMode="auto">
          <a:xfrm>
            <a:off x="1777008" y="1556792"/>
            <a:ext cx="85725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dirty="0">
                <a:solidFill>
                  <a:srgbClr val="000000"/>
                </a:solidFill>
              </a:rPr>
              <a:t>年龄？</a:t>
            </a:r>
          </a:p>
        </p:txBody>
      </p:sp>
      <p:sp>
        <p:nvSpPr>
          <p:cNvPr id="21510" name="Text Box 11"/>
          <p:cNvSpPr txBox="1">
            <a:spLocks noChangeArrowheads="1"/>
          </p:cNvSpPr>
          <p:nvPr/>
        </p:nvSpPr>
        <p:spPr bwMode="auto">
          <a:xfrm>
            <a:off x="614958" y="2775992"/>
            <a:ext cx="91440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dirty="0">
                <a:solidFill>
                  <a:srgbClr val="000000"/>
                </a:solidFill>
              </a:rPr>
              <a:t>学生？</a:t>
            </a:r>
          </a:p>
        </p:txBody>
      </p:sp>
      <p:sp>
        <p:nvSpPr>
          <p:cNvPr id="21511" name="Text Box 12"/>
          <p:cNvSpPr txBox="1">
            <a:spLocks noChangeArrowheads="1"/>
          </p:cNvSpPr>
          <p:nvPr/>
        </p:nvSpPr>
        <p:spPr bwMode="auto">
          <a:xfrm>
            <a:off x="2996208" y="2775992"/>
            <a:ext cx="838200" cy="314325"/>
          </a:xfrm>
          <a:prstGeom prst="rect">
            <a:avLst/>
          </a:prstGeom>
          <a:solidFill>
            <a:srgbClr val="66FFFF"/>
          </a:solidFill>
          <a:ln w="9525">
            <a:solidFill>
              <a:srgbClr val="000000"/>
            </a:solidFill>
            <a:miter lim="800000"/>
            <a:headEnd/>
            <a:tailEnd/>
          </a:ln>
        </p:spPr>
        <p:txBody>
          <a:bodyPr>
            <a:spAutoFit/>
          </a:bodyPr>
          <a:lstStyle/>
          <a:p>
            <a:pPr>
              <a:spcBef>
                <a:spcPct val="50000"/>
              </a:spcBef>
            </a:pPr>
            <a:r>
              <a:rPr lang="zh-CN" altLang="en-US" sz="1400">
                <a:solidFill>
                  <a:srgbClr val="000000"/>
                </a:solidFill>
              </a:rPr>
              <a:t>信誉？</a:t>
            </a:r>
          </a:p>
        </p:txBody>
      </p:sp>
      <p:grpSp>
        <p:nvGrpSpPr>
          <p:cNvPr id="2" name="Group 13"/>
          <p:cNvGrpSpPr>
            <a:grpSpLocks/>
          </p:cNvGrpSpPr>
          <p:nvPr/>
        </p:nvGrpSpPr>
        <p:grpSpPr bwMode="auto">
          <a:xfrm>
            <a:off x="1700808" y="2755354"/>
            <a:ext cx="914400" cy="381000"/>
            <a:chOff x="4080" y="2435"/>
            <a:chExt cx="576" cy="240"/>
          </a:xfrm>
        </p:grpSpPr>
        <p:sp>
          <p:nvSpPr>
            <p:cNvPr id="21541" name="Oval 14"/>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1542" name="Text Box 15"/>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sp>
        <p:nvSpPr>
          <p:cNvPr id="21513" name="Line 16"/>
          <p:cNvSpPr>
            <a:spLocks noChangeShapeType="1"/>
          </p:cNvSpPr>
          <p:nvPr/>
        </p:nvSpPr>
        <p:spPr bwMode="auto">
          <a:xfrm flipH="1">
            <a:off x="1072158" y="1861591"/>
            <a:ext cx="106680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4" name="Line 17"/>
          <p:cNvSpPr>
            <a:spLocks noChangeShapeType="1"/>
          </p:cNvSpPr>
          <p:nvPr/>
        </p:nvSpPr>
        <p:spPr bwMode="auto">
          <a:xfrm>
            <a:off x="2138958" y="1861591"/>
            <a:ext cx="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5" name="Line 18"/>
          <p:cNvSpPr>
            <a:spLocks noChangeShapeType="1"/>
          </p:cNvSpPr>
          <p:nvPr/>
        </p:nvSpPr>
        <p:spPr bwMode="auto">
          <a:xfrm>
            <a:off x="2158008" y="1861591"/>
            <a:ext cx="112395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6" name="Line 19"/>
          <p:cNvSpPr>
            <a:spLocks noChangeShapeType="1"/>
          </p:cNvSpPr>
          <p:nvPr/>
        </p:nvSpPr>
        <p:spPr bwMode="auto">
          <a:xfrm flipH="1">
            <a:off x="691158" y="3156991"/>
            <a:ext cx="3048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7" name="Line 20"/>
          <p:cNvSpPr>
            <a:spLocks noChangeShapeType="1"/>
          </p:cNvSpPr>
          <p:nvPr/>
        </p:nvSpPr>
        <p:spPr bwMode="auto">
          <a:xfrm>
            <a:off x="1148358" y="3156991"/>
            <a:ext cx="4572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8" name="Line 21"/>
          <p:cNvSpPr>
            <a:spLocks noChangeShapeType="1"/>
          </p:cNvSpPr>
          <p:nvPr/>
        </p:nvSpPr>
        <p:spPr bwMode="auto">
          <a:xfrm flipH="1">
            <a:off x="2900958" y="3156991"/>
            <a:ext cx="3810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19" name="Line 22"/>
          <p:cNvSpPr>
            <a:spLocks noChangeShapeType="1"/>
          </p:cNvSpPr>
          <p:nvPr/>
        </p:nvSpPr>
        <p:spPr bwMode="auto">
          <a:xfrm>
            <a:off x="3434358" y="3156991"/>
            <a:ext cx="457200" cy="7620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21520" name="Rectangle 23"/>
          <p:cNvSpPr>
            <a:spLocks noChangeArrowheads="1"/>
          </p:cNvSpPr>
          <p:nvPr/>
        </p:nvSpPr>
        <p:spPr bwMode="auto">
          <a:xfrm>
            <a:off x="1072158" y="2063204"/>
            <a:ext cx="361950" cy="304800"/>
          </a:xfrm>
          <a:prstGeom prst="rect">
            <a:avLst/>
          </a:prstGeom>
          <a:noFill/>
          <a:ln w="9525">
            <a:noFill/>
            <a:miter lim="800000"/>
            <a:headEnd/>
            <a:tailEnd/>
          </a:ln>
        </p:spPr>
        <p:txBody>
          <a:bodyPr wrap="none">
            <a:spAutoFit/>
          </a:bodyPr>
          <a:lstStyle/>
          <a:p>
            <a:r>
              <a:rPr lang="zh-CN" altLang="en-US" sz="1400">
                <a:solidFill>
                  <a:srgbClr val="000000"/>
                </a:solidFill>
              </a:rPr>
              <a:t>青</a:t>
            </a:r>
          </a:p>
        </p:txBody>
      </p:sp>
      <p:sp>
        <p:nvSpPr>
          <p:cNvPr id="21521" name="Rectangle 24"/>
          <p:cNvSpPr>
            <a:spLocks noChangeArrowheads="1"/>
          </p:cNvSpPr>
          <p:nvPr/>
        </p:nvSpPr>
        <p:spPr bwMode="auto">
          <a:xfrm>
            <a:off x="1834158" y="2215604"/>
            <a:ext cx="361950" cy="304800"/>
          </a:xfrm>
          <a:prstGeom prst="rect">
            <a:avLst/>
          </a:prstGeom>
          <a:noFill/>
          <a:ln w="9525">
            <a:noFill/>
            <a:miter lim="800000"/>
            <a:headEnd/>
            <a:tailEnd/>
          </a:ln>
        </p:spPr>
        <p:txBody>
          <a:bodyPr wrap="none">
            <a:spAutoFit/>
          </a:bodyPr>
          <a:lstStyle/>
          <a:p>
            <a:r>
              <a:rPr lang="zh-CN" altLang="en-US" sz="1400">
                <a:solidFill>
                  <a:srgbClr val="000000"/>
                </a:solidFill>
              </a:rPr>
              <a:t>中</a:t>
            </a:r>
          </a:p>
        </p:txBody>
      </p:sp>
      <p:sp>
        <p:nvSpPr>
          <p:cNvPr id="21522" name="Rectangle 25"/>
          <p:cNvSpPr>
            <a:spLocks noChangeArrowheads="1"/>
          </p:cNvSpPr>
          <p:nvPr/>
        </p:nvSpPr>
        <p:spPr bwMode="auto">
          <a:xfrm>
            <a:off x="2691408" y="2139404"/>
            <a:ext cx="361950" cy="304800"/>
          </a:xfrm>
          <a:prstGeom prst="rect">
            <a:avLst/>
          </a:prstGeom>
          <a:noFill/>
          <a:ln w="9525">
            <a:noFill/>
            <a:miter lim="800000"/>
            <a:headEnd/>
            <a:tailEnd/>
          </a:ln>
        </p:spPr>
        <p:txBody>
          <a:bodyPr wrap="none">
            <a:spAutoFit/>
          </a:bodyPr>
          <a:lstStyle/>
          <a:p>
            <a:r>
              <a:rPr lang="zh-CN" altLang="en-US" sz="1400">
                <a:solidFill>
                  <a:srgbClr val="000000"/>
                </a:solidFill>
              </a:rPr>
              <a:t>老</a:t>
            </a:r>
          </a:p>
        </p:txBody>
      </p:sp>
      <p:sp>
        <p:nvSpPr>
          <p:cNvPr id="21523" name="Rectangle 26"/>
          <p:cNvSpPr>
            <a:spLocks noChangeArrowheads="1"/>
          </p:cNvSpPr>
          <p:nvPr/>
        </p:nvSpPr>
        <p:spPr bwMode="auto">
          <a:xfrm>
            <a:off x="519708" y="3337966"/>
            <a:ext cx="361950" cy="304800"/>
          </a:xfrm>
          <a:prstGeom prst="rect">
            <a:avLst/>
          </a:prstGeom>
          <a:noFill/>
          <a:ln w="9525">
            <a:noFill/>
            <a:miter lim="800000"/>
            <a:headEnd/>
            <a:tailEnd/>
          </a:ln>
        </p:spPr>
        <p:txBody>
          <a:bodyPr wrap="none">
            <a:spAutoFit/>
          </a:bodyPr>
          <a:lstStyle/>
          <a:p>
            <a:r>
              <a:rPr lang="zh-CN" altLang="en-US" sz="1400">
                <a:solidFill>
                  <a:srgbClr val="000000"/>
                </a:solidFill>
              </a:rPr>
              <a:t>否</a:t>
            </a:r>
          </a:p>
        </p:txBody>
      </p:sp>
      <p:sp>
        <p:nvSpPr>
          <p:cNvPr id="21524" name="Rectangle 27"/>
          <p:cNvSpPr>
            <a:spLocks noChangeArrowheads="1"/>
          </p:cNvSpPr>
          <p:nvPr/>
        </p:nvSpPr>
        <p:spPr bwMode="auto">
          <a:xfrm>
            <a:off x="1246783" y="3330029"/>
            <a:ext cx="361950" cy="304800"/>
          </a:xfrm>
          <a:prstGeom prst="rect">
            <a:avLst/>
          </a:prstGeom>
          <a:noFill/>
          <a:ln w="9525">
            <a:noFill/>
            <a:miter lim="800000"/>
            <a:headEnd/>
            <a:tailEnd/>
          </a:ln>
        </p:spPr>
        <p:txBody>
          <a:bodyPr wrap="none">
            <a:spAutoFit/>
          </a:bodyPr>
          <a:lstStyle/>
          <a:p>
            <a:r>
              <a:rPr lang="zh-CN" altLang="en-US" sz="1400">
                <a:solidFill>
                  <a:srgbClr val="000000"/>
                </a:solidFill>
              </a:rPr>
              <a:t>是</a:t>
            </a:r>
          </a:p>
        </p:txBody>
      </p:sp>
      <p:sp>
        <p:nvSpPr>
          <p:cNvPr id="21525" name="Rectangle 28"/>
          <p:cNvSpPr>
            <a:spLocks noChangeArrowheads="1"/>
          </p:cNvSpPr>
          <p:nvPr/>
        </p:nvSpPr>
        <p:spPr bwMode="auto">
          <a:xfrm>
            <a:off x="2691408" y="3358604"/>
            <a:ext cx="361950" cy="304800"/>
          </a:xfrm>
          <a:prstGeom prst="rect">
            <a:avLst/>
          </a:prstGeom>
          <a:noFill/>
          <a:ln w="9525">
            <a:noFill/>
            <a:miter lim="800000"/>
            <a:headEnd/>
            <a:tailEnd/>
          </a:ln>
        </p:spPr>
        <p:txBody>
          <a:bodyPr wrap="none">
            <a:spAutoFit/>
          </a:bodyPr>
          <a:lstStyle/>
          <a:p>
            <a:r>
              <a:rPr lang="zh-CN" altLang="en-US" sz="1400">
                <a:solidFill>
                  <a:srgbClr val="000000"/>
                </a:solidFill>
              </a:rPr>
              <a:t>优</a:t>
            </a:r>
          </a:p>
        </p:txBody>
      </p:sp>
      <p:sp>
        <p:nvSpPr>
          <p:cNvPr id="21526" name="Rectangle 29"/>
          <p:cNvSpPr>
            <a:spLocks noChangeArrowheads="1"/>
          </p:cNvSpPr>
          <p:nvPr/>
        </p:nvSpPr>
        <p:spPr bwMode="auto">
          <a:xfrm>
            <a:off x="3605808" y="3358604"/>
            <a:ext cx="361950" cy="304800"/>
          </a:xfrm>
          <a:prstGeom prst="rect">
            <a:avLst/>
          </a:prstGeom>
          <a:noFill/>
          <a:ln w="9525">
            <a:noFill/>
            <a:miter lim="800000"/>
            <a:headEnd/>
            <a:tailEnd/>
          </a:ln>
        </p:spPr>
        <p:txBody>
          <a:bodyPr wrap="none">
            <a:spAutoFit/>
          </a:bodyPr>
          <a:lstStyle/>
          <a:p>
            <a:r>
              <a:rPr lang="zh-CN" altLang="en-US" sz="1400">
                <a:solidFill>
                  <a:srgbClr val="000000"/>
                </a:solidFill>
              </a:rPr>
              <a:t>良</a:t>
            </a:r>
          </a:p>
        </p:txBody>
      </p:sp>
      <p:grpSp>
        <p:nvGrpSpPr>
          <p:cNvPr id="3" name="Group 30"/>
          <p:cNvGrpSpPr>
            <a:grpSpLocks/>
          </p:cNvGrpSpPr>
          <p:nvPr/>
        </p:nvGrpSpPr>
        <p:grpSpPr bwMode="auto">
          <a:xfrm>
            <a:off x="233958" y="3898354"/>
            <a:ext cx="914400" cy="381000"/>
            <a:chOff x="3156" y="3155"/>
            <a:chExt cx="576" cy="240"/>
          </a:xfrm>
        </p:grpSpPr>
        <p:sp>
          <p:nvSpPr>
            <p:cNvPr id="21539" name="Oval 31"/>
            <p:cNvSpPr>
              <a:spLocks noChangeArrowheads="1"/>
            </p:cNvSpPr>
            <p:nvPr/>
          </p:nvSpPr>
          <p:spPr bwMode="auto">
            <a:xfrm>
              <a:off x="3156" y="315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1540" name="Text Box 32"/>
            <p:cNvSpPr txBox="1">
              <a:spLocks noChangeArrowheads="1"/>
            </p:cNvSpPr>
            <p:nvPr/>
          </p:nvSpPr>
          <p:spPr bwMode="auto">
            <a:xfrm>
              <a:off x="3252" y="3174"/>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不买</a:t>
              </a:r>
            </a:p>
          </p:txBody>
        </p:sp>
      </p:grpSp>
      <p:grpSp>
        <p:nvGrpSpPr>
          <p:cNvPr id="4" name="Group 33"/>
          <p:cNvGrpSpPr>
            <a:grpSpLocks/>
          </p:cNvGrpSpPr>
          <p:nvPr/>
        </p:nvGrpSpPr>
        <p:grpSpPr bwMode="auto">
          <a:xfrm>
            <a:off x="3453408" y="3899941"/>
            <a:ext cx="914400" cy="381000"/>
            <a:chOff x="4080" y="2435"/>
            <a:chExt cx="576" cy="240"/>
          </a:xfrm>
        </p:grpSpPr>
        <p:sp>
          <p:nvSpPr>
            <p:cNvPr id="21537" name="Oval 34"/>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1538" name="Text Box 35"/>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grpSp>
        <p:nvGrpSpPr>
          <p:cNvPr id="5" name="Group 36"/>
          <p:cNvGrpSpPr>
            <a:grpSpLocks/>
          </p:cNvGrpSpPr>
          <p:nvPr/>
        </p:nvGrpSpPr>
        <p:grpSpPr bwMode="auto">
          <a:xfrm>
            <a:off x="1242021" y="3898354"/>
            <a:ext cx="914400" cy="381000"/>
            <a:chOff x="4080" y="2435"/>
            <a:chExt cx="576" cy="240"/>
          </a:xfrm>
        </p:grpSpPr>
        <p:sp>
          <p:nvSpPr>
            <p:cNvPr id="21535" name="Oval 37"/>
            <p:cNvSpPr>
              <a:spLocks noChangeArrowheads="1"/>
            </p:cNvSpPr>
            <p:nvPr/>
          </p:nvSpPr>
          <p:spPr bwMode="auto">
            <a:xfrm>
              <a:off x="4080" y="2435"/>
              <a:ext cx="576" cy="240"/>
            </a:xfrm>
            <a:prstGeom prst="ellipse">
              <a:avLst/>
            </a:prstGeom>
            <a:solidFill>
              <a:srgbClr val="66FFFF"/>
            </a:solidFill>
            <a:ln w="9525">
              <a:solidFill>
                <a:schemeClr val="tx1"/>
              </a:solidFill>
              <a:round/>
              <a:headEnd/>
              <a:tailEnd/>
            </a:ln>
          </p:spPr>
          <p:txBody>
            <a:bodyPr wrap="none" anchor="ctr"/>
            <a:lstStyle/>
            <a:p>
              <a:endParaRPr lang="zh-CN" altLang="en-US">
                <a:solidFill>
                  <a:srgbClr val="000000"/>
                </a:solidFill>
              </a:endParaRPr>
            </a:p>
          </p:txBody>
        </p:sp>
        <p:sp>
          <p:nvSpPr>
            <p:cNvPr id="21536" name="Text Box 38"/>
            <p:cNvSpPr txBox="1">
              <a:spLocks noChangeArrowheads="1"/>
            </p:cNvSpPr>
            <p:nvPr/>
          </p:nvSpPr>
          <p:spPr bwMode="auto">
            <a:xfrm>
              <a:off x="4224" y="2448"/>
              <a:ext cx="384" cy="192"/>
            </a:xfrm>
            <a:prstGeom prst="rect">
              <a:avLst/>
            </a:prstGeom>
            <a:noFill/>
            <a:ln w="9525">
              <a:noFill/>
              <a:miter lim="800000"/>
              <a:headEnd/>
              <a:tailEnd/>
            </a:ln>
          </p:spPr>
          <p:txBody>
            <a:bodyPr>
              <a:spAutoFit/>
            </a:bodyPr>
            <a:lstStyle/>
            <a:p>
              <a:pPr>
                <a:spcBef>
                  <a:spcPct val="50000"/>
                </a:spcBef>
              </a:pPr>
              <a:r>
                <a:rPr lang="zh-CN" altLang="en-US" sz="1400">
                  <a:solidFill>
                    <a:srgbClr val="000000"/>
                  </a:solidFill>
                </a:rPr>
                <a:t>买</a:t>
              </a:r>
            </a:p>
          </p:txBody>
        </p:sp>
      </p:grpSp>
      <p:grpSp>
        <p:nvGrpSpPr>
          <p:cNvPr id="6" name="Group 39"/>
          <p:cNvGrpSpPr>
            <a:grpSpLocks/>
          </p:cNvGrpSpPr>
          <p:nvPr/>
        </p:nvGrpSpPr>
        <p:grpSpPr bwMode="auto">
          <a:xfrm>
            <a:off x="2386608" y="3918991"/>
            <a:ext cx="914400" cy="381000"/>
            <a:chOff x="4512" y="3168"/>
            <a:chExt cx="576" cy="240"/>
          </a:xfrm>
        </p:grpSpPr>
        <p:sp>
          <p:nvSpPr>
            <p:cNvPr id="21533" name="Oval 40"/>
            <p:cNvSpPr>
              <a:spLocks noChangeArrowheads="1"/>
            </p:cNvSpPr>
            <p:nvPr/>
          </p:nvSpPr>
          <p:spPr bwMode="auto">
            <a:xfrm>
              <a:off x="4512" y="3168"/>
              <a:ext cx="576" cy="240"/>
            </a:xfrm>
            <a:prstGeom prst="ellipse">
              <a:avLst/>
            </a:prstGeom>
            <a:solidFill>
              <a:srgbClr val="B4B6B0"/>
            </a:solidFill>
            <a:ln w="9525">
              <a:solidFill>
                <a:schemeClr val="tx1"/>
              </a:solidFill>
              <a:round/>
              <a:headEnd/>
              <a:tailEnd/>
            </a:ln>
          </p:spPr>
          <p:txBody>
            <a:bodyPr wrap="none" anchor="ctr"/>
            <a:lstStyle/>
            <a:p>
              <a:endParaRPr lang="zh-CN" altLang="en-US">
                <a:solidFill>
                  <a:srgbClr val="000000"/>
                </a:solidFill>
              </a:endParaRPr>
            </a:p>
          </p:txBody>
        </p:sp>
        <p:sp>
          <p:nvSpPr>
            <p:cNvPr id="21534" name="Text Box 41"/>
            <p:cNvSpPr txBox="1">
              <a:spLocks noChangeArrowheads="1"/>
            </p:cNvSpPr>
            <p:nvPr/>
          </p:nvSpPr>
          <p:spPr bwMode="auto">
            <a:xfrm>
              <a:off x="4608" y="3187"/>
              <a:ext cx="384" cy="192"/>
            </a:xfrm>
            <a:prstGeom prst="rect">
              <a:avLst/>
            </a:prstGeom>
            <a:solidFill>
              <a:srgbClr val="B4B6B0"/>
            </a:solidFill>
            <a:ln w="9525">
              <a:noFill/>
              <a:miter lim="800000"/>
              <a:headEnd/>
              <a:tailEnd/>
            </a:ln>
          </p:spPr>
          <p:txBody>
            <a:bodyPr>
              <a:spAutoFit/>
            </a:bodyPr>
            <a:lstStyle/>
            <a:p>
              <a:pPr>
                <a:spcBef>
                  <a:spcPct val="50000"/>
                </a:spcBef>
              </a:pPr>
              <a:r>
                <a:rPr lang="zh-CN" altLang="en-US" sz="1400">
                  <a:solidFill>
                    <a:srgbClr val="000000"/>
                  </a:solidFill>
                </a:rPr>
                <a:t>不买</a:t>
              </a:r>
            </a:p>
          </p:txBody>
        </p:sp>
      </p:grpSp>
      <p:sp>
        <p:nvSpPr>
          <p:cNvPr id="21531" name="Text Box 42"/>
          <p:cNvSpPr txBox="1">
            <a:spLocks noChangeArrowheads="1"/>
          </p:cNvSpPr>
          <p:nvPr/>
        </p:nvSpPr>
        <p:spPr bwMode="auto">
          <a:xfrm>
            <a:off x="4387553" y="1604585"/>
            <a:ext cx="7490383" cy="2308324"/>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Ø"/>
            </a:pPr>
            <a:r>
              <a:rPr lang="zh-CN" altLang="en-US" sz="2400" dirty="0">
                <a:solidFill>
                  <a:srgbClr val="000000"/>
                </a:solidFill>
              </a:rPr>
              <a:t>决策树中最上面的结点称为</a:t>
            </a:r>
            <a:r>
              <a:rPr lang="zh-CN" altLang="en-US" sz="2400" dirty="0">
                <a:solidFill>
                  <a:srgbClr val="0000FF"/>
                </a:solidFill>
              </a:rPr>
              <a:t>根结点</a:t>
            </a:r>
            <a:r>
              <a:rPr lang="zh-CN" altLang="en-US" sz="2400" dirty="0">
                <a:solidFill>
                  <a:srgbClr val="000000"/>
                </a:solidFill>
              </a:rPr>
              <a:t>。是整个决策树的开始。</a:t>
            </a:r>
            <a:endParaRPr lang="en-US" altLang="zh-CN" sz="2400" dirty="0">
              <a:solidFill>
                <a:srgbClr val="000000"/>
              </a:solidFill>
            </a:endParaRPr>
          </a:p>
          <a:p>
            <a:pPr marL="342900" indent="-342900">
              <a:buFont typeface="Wingdings" panose="05000000000000000000" pitchFamily="2" charset="2"/>
              <a:buChar char="Ø"/>
            </a:pPr>
            <a:r>
              <a:rPr lang="zh-CN" altLang="en-US" sz="2400" dirty="0">
                <a:solidFill>
                  <a:srgbClr val="000000"/>
                </a:solidFill>
              </a:rPr>
              <a:t>每个分支是一个新的决策结点，或者是树的叶子。</a:t>
            </a:r>
          </a:p>
          <a:p>
            <a:pPr marL="342900" indent="-342900">
              <a:buFont typeface="Wingdings" panose="05000000000000000000" pitchFamily="2" charset="2"/>
              <a:buChar char="Ø"/>
            </a:pPr>
            <a:r>
              <a:rPr lang="zh-CN" altLang="en-US" sz="2400" dirty="0">
                <a:solidFill>
                  <a:srgbClr val="000000"/>
                </a:solidFill>
              </a:rPr>
              <a:t>每个决策结点代表一个问题或者决策，通常对应待分类对象的属性。</a:t>
            </a:r>
            <a:endParaRPr lang="en-US" altLang="zh-CN" sz="2400" dirty="0">
              <a:solidFill>
                <a:srgbClr val="000000"/>
              </a:solidFill>
            </a:endParaRPr>
          </a:p>
          <a:p>
            <a:pPr marL="342900" indent="-342900">
              <a:buFont typeface="Wingdings" panose="05000000000000000000" pitchFamily="2" charset="2"/>
              <a:buChar char="Ø"/>
            </a:pPr>
            <a:r>
              <a:rPr lang="zh-CN" altLang="en-US" sz="2400" dirty="0">
                <a:solidFill>
                  <a:srgbClr val="000000"/>
                </a:solidFill>
              </a:rPr>
              <a:t>每个叶结点代表一种可能的分类结果。</a:t>
            </a:r>
          </a:p>
        </p:txBody>
      </p:sp>
      <p:sp>
        <p:nvSpPr>
          <p:cNvPr id="21532" name="Text Box 43"/>
          <p:cNvSpPr txBox="1">
            <a:spLocks noChangeArrowheads="1"/>
          </p:cNvSpPr>
          <p:nvPr/>
        </p:nvSpPr>
        <p:spPr bwMode="auto">
          <a:xfrm>
            <a:off x="428328" y="5274617"/>
            <a:ext cx="10852248" cy="1200329"/>
          </a:xfrm>
          <a:prstGeom prst="rect">
            <a:avLst/>
          </a:prstGeom>
          <a:noFill/>
          <a:ln w="9525">
            <a:noFill/>
            <a:miter lim="800000"/>
            <a:headEnd/>
            <a:tailEnd/>
          </a:ln>
        </p:spPr>
        <p:txBody>
          <a:bodyPr wrap="square">
            <a:spAutoFit/>
          </a:bodyPr>
          <a:lstStyle/>
          <a:p>
            <a:r>
              <a:rPr lang="zh-CN" altLang="en-US" sz="2400" dirty="0">
                <a:solidFill>
                  <a:srgbClr val="0000FF"/>
                </a:solidFill>
              </a:rPr>
              <a:t>利用决策树进行分类的过程</a:t>
            </a:r>
            <a:r>
              <a:rPr lang="zh-CN" altLang="en-US" sz="2400" dirty="0">
                <a:solidFill>
                  <a:srgbClr val="000000"/>
                </a:solidFill>
              </a:rPr>
              <a:t>，即是利用若干变量来判断属性类别：</a:t>
            </a:r>
            <a:r>
              <a:rPr lang="en-US" altLang="zh-CN" sz="2400" dirty="0">
                <a:solidFill>
                  <a:srgbClr val="000000"/>
                </a:solidFill>
              </a:rPr>
              <a:t>        </a:t>
            </a:r>
          </a:p>
          <a:p>
            <a:r>
              <a:rPr lang="zh-CN" altLang="en-US" sz="2400" dirty="0">
                <a:solidFill>
                  <a:srgbClr val="000000"/>
                </a:solidFill>
              </a:rPr>
              <a:t>      沿决策树从上到下的遍历过程中，每个结点上都有一个测试。对每个结点上问题的不同测试输出导致不同的分枝，最后会到达一个叶子结点。</a:t>
            </a:r>
            <a:endParaRPr lang="en-US" altLang="zh-CN" sz="2400" dirty="0">
              <a:solidFill>
                <a:srgbClr val="000000"/>
              </a:solidFill>
            </a:endParaRPr>
          </a:p>
        </p:txBody>
      </p:sp>
      <p:sp>
        <p:nvSpPr>
          <p:cNvPr id="39" name="灯片编号占位符 38"/>
          <p:cNvSpPr>
            <a:spLocks noGrp="1"/>
          </p:cNvSpPr>
          <p:nvPr>
            <p:ph type="sldNum" sz="quarter" idx="11"/>
          </p:nvPr>
        </p:nvSpPr>
        <p:spPr/>
        <p:txBody>
          <a:bodyPr/>
          <a:lstStyle/>
          <a:p>
            <a:pPr>
              <a:defRPr/>
            </a:pPr>
            <a:fld id="{8EDB171D-A1F9-42E8-BD2B-16AA89E5910B}" type="slidenum">
              <a:rPr lang="en-US" altLang="zh-CN" smtClean="0">
                <a:solidFill>
                  <a:srgbClr val="000000"/>
                </a:solidFill>
              </a:rPr>
              <a:pPr>
                <a:defRPr/>
              </a:pPr>
              <a:t>10</a:t>
            </a:fld>
            <a:endParaRPr lang="en-US" altLang="zh-CN">
              <a:solidFill>
                <a:srgbClr val="000000"/>
              </a:solidFill>
            </a:endParaRPr>
          </a:p>
        </p:txBody>
      </p:sp>
      <p:sp>
        <p:nvSpPr>
          <p:cNvPr id="40" name="Text Box 8"/>
          <p:cNvSpPr txBox="1">
            <a:spLocks noChangeArrowheads="1"/>
          </p:cNvSpPr>
          <p:nvPr/>
        </p:nvSpPr>
        <p:spPr bwMode="auto">
          <a:xfrm>
            <a:off x="428328" y="4683421"/>
            <a:ext cx="7879080" cy="461665"/>
          </a:xfrm>
          <a:prstGeom prst="rect">
            <a:avLst/>
          </a:prstGeom>
          <a:noFill/>
          <a:ln w="9525">
            <a:noFill/>
            <a:miter lim="800000"/>
            <a:headEnd/>
            <a:tailEnd/>
          </a:ln>
        </p:spPr>
        <p:txBody>
          <a:bodyPr wrap="none">
            <a:spAutoFit/>
          </a:bodyPr>
          <a:lstStyle/>
          <a:p>
            <a:r>
              <a:rPr lang="zh-CN" altLang="en-US" sz="2400" dirty="0">
                <a:solidFill>
                  <a:srgbClr val="FF0000"/>
                </a:solidFill>
              </a:rPr>
              <a:t>决策树的构建过程</a:t>
            </a:r>
            <a:r>
              <a:rPr lang="zh-CN" altLang="en-US" sz="2400" dirty="0">
                <a:solidFill>
                  <a:srgbClr val="000000"/>
                </a:solidFill>
              </a:rPr>
              <a:t>就是选取特征和确定决策规则的过程。</a:t>
            </a:r>
          </a:p>
        </p:txBody>
      </p:sp>
    </p:spTree>
    <p:extLst>
      <p:ext uri="{BB962C8B-B14F-4D97-AF65-F5344CB8AC3E}">
        <p14:creationId xmlns:p14="http://schemas.microsoft.com/office/powerpoint/2010/main" val="4239811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1344" y="-171400"/>
            <a:ext cx="9309720" cy="1143000"/>
          </a:xfrm>
        </p:spPr>
        <p:txBody>
          <a:bodyPr/>
          <a:lstStyle/>
          <a:p>
            <a:pPr>
              <a:lnSpc>
                <a:spcPct val="150000"/>
              </a:lnSpc>
            </a:pPr>
            <a:r>
              <a:rPr lang="zh-CN" altLang="en-US" sz="3600" b="1" dirty="0">
                <a:solidFill>
                  <a:schemeClr val="tx1"/>
                </a:solidFill>
                <a:latin typeface="Times New Roman" pitchFamily="18" charset="0"/>
                <a:cs typeface="Times New Roman" pitchFamily="18" charset="0"/>
              </a:rPr>
              <a:t>训练集的熵</a:t>
            </a:r>
            <a:r>
              <a:rPr lang="en-US" altLang="zh-CN" sz="3600" b="1" dirty="0">
                <a:solidFill>
                  <a:schemeClr val="tx1"/>
                </a:solidFill>
                <a:latin typeface="Times New Roman" pitchFamily="18" charset="0"/>
                <a:cs typeface="Times New Roman" pitchFamily="18" charset="0"/>
              </a:rPr>
              <a:t>H(S) -Entropy of a training set</a:t>
            </a:r>
          </a:p>
        </p:txBody>
      </p:sp>
      <p:sp>
        <p:nvSpPr>
          <p:cNvPr id="9219" name="Rectangle 3"/>
          <p:cNvSpPr>
            <a:spLocks noGrp="1" noChangeArrowheads="1"/>
          </p:cNvSpPr>
          <p:nvPr>
            <p:ph type="body" sz="half" idx="1"/>
          </p:nvPr>
        </p:nvSpPr>
        <p:spPr>
          <a:xfrm>
            <a:off x="767408" y="3971256"/>
            <a:ext cx="10116776" cy="2520280"/>
          </a:xfrm>
        </p:spPr>
        <p:txBody>
          <a:bodyPr/>
          <a:lstStyle/>
          <a:p>
            <a:pPr algn="just">
              <a:defRPr/>
            </a:pPr>
            <a:r>
              <a:rPr lang="en-US" altLang="zh-CN" sz="2400" dirty="0"/>
              <a:t>S</a:t>
            </a:r>
            <a:r>
              <a:rPr lang="zh-CN" altLang="en-US" sz="2400" dirty="0"/>
              <a:t>是训练样本中的实例集</a:t>
            </a:r>
            <a:endParaRPr lang="en-US" altLang="zh-CN" sz="2400" dirty="0"/>
          </a:p>
          <a:p>
            <a:pPr algn="just">
              <a:defRPr/>
            </a:pPr>
            <a:r>
              <a:rPr lang="zh-CN" altLang="en-US" sz="2400" dirty="0"/>
              <a:t>对某个节点上的样本，熵是测量节点上的特征对样本分类的“不纯度”的一种方法。</a:t>
            </a:r>
            <a:endParaRPr lang="en-US" altLang="zh-CN" sz="2400" dirty="0"/>
          </a:p>
          <a:p>
            <a:pPr lvl="1" algn="just">
              <a:defRPr/>
            </a:pPr>
            <a:r>
              <a:rPr lang="zh-CN" altLang="en-US" sz="2400" dirty="0">
                <a:cs typeface="+mn-cs"/>
              </a:rPr>
              <a:t>当结点很纯时，希望其度量值应为</a:t>
            </a:r>
            <a:r>
              <a:rPr lang="en-US" altLang="zh-CN" sz="2400" dirty="0">
                <a:cs typeface="+mn-cs"/>
              </a:rPr>
              <a:t>0</a:t>
            </a:r>
          </a:p>
          <a:p>
            <a:pPr lvl="1" algn="just">
              <a:defRPr/>
            </a:pPr>
            <a:r>
              <a:rPr lang="zh-CN" altLang="en-US" sz="2400" dirty="0">
                <a:cs typeface="+mn-cs"/>
              </a:rPr>
              <a:t>当不纯性最大时（比如所有类都有同样的可能），其度量值应最大</a:t>
            </a:r>
          </a:p>
          <a:p>
            <a:pPr lvl="1" algn="just">
              <a:defRPr/>
            </a:pPr>
            <a:r>
              <a:rPr lang="zh-CN" altLang="en-US" sz="2400" dirty="0">
                <a:cs typeface="+mn-cs"/>
              </a:rPr>
              <a:t>度量应该服从多级特性，这样决策树才能分阶段建立起来</a:t>
            </a:r>
            <a:endParaRPr lang="en-US" altLang="zh-CN" sz="2400" dirty="0">
              <a:cs typeface="+mn-cs"/>
            </a:endParaRPr>
          </a:p>
        </p:txBody>
      </p:sp>
      <p:sp>
        <p:nvSpPr>
          <p:cNvPr id="9222" name="Text Box 6"/>
          <p:cNvSpPr txBox="1">
            <a:spLocks noChangeArrowheads="1"/>
          </p:cNvSpPr>
          <p:nvPr/>
        </p:nvSpPr>
        <p:spPr bwMode="auto">
          <a:xfrm>
            <a:off x="1355086" y="2285287"/>
            <a:ext cx="3898824" cy="5232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CN" sz="2800" dirty="0">
                <a:solidFill>
                  <a:srgbClr val="000000"/>
                </a:solidFill>
              </a:rPr>
              <a:t>H(S)=-</a:t>
            </a:r>
            <a:r>
              <a:rPr lang="en-US" altLang="zh-CN" sz="2800" dirty="0">
                <a:solidFill>
                  <a:srgbClr val="000000"/>
                </a:solidFill>
                <a:latin typeface="Symbol" pitchFamily="18" charset="2"/>
                <a:sym typeface="Symbol" pitchFamily="18" charset="2"/>
              </a:rPr>
              <a:t></a:t>
            </a:r>
            <a:r>
              <a:rPr lang="en-US" altLang="zh-CN" sz="2800" baseline="-25000" dirty="0" err="1">
                <a:solidFill>
                  <a:srgbClr val="000000"/>
                </a:solidFill>
                <a:sym typeface="Symbol" pitchFamily="18" charset="2"/>
              </a:rPr>
              <a:t>i</a:t>
            </a:r>
            <a:r>
              <a:rPr lang="en-US" altLang="zh-CN" sz="2800" dirty="0">
                <a:solidFill>
                  <a:srgbClr val="000000"/>
                </a:solidFill>
              </a:rPr>
              <a:t> P(c</a:t>
            </a:r>
            <a:r>
              <a:rPr lang="en-US" altLang="zh-CN" sz="2800" baseline="-25000" dirty="0">
                <a:solidFill>
                  <a:srgbClr val="000000"/>
                </a:solidFill>
              </a:rPr>
              <a:t>i</a:t>
            </a:r>
            <a:r>
              <a:rPr lang="en-US" altLang="zh-CN" sz="2800" dirty="0">
                <a:solidFill>
                  <a:srgbClr val="000000"/>
                </a:solidFill>
              </a:rPr>
              <a:t>) log</a:t>
            </a:r>
            <a:r>
              <a:rPr lang="en-US" altLang="zh-CN" sz="2800" baseline="-25000" dirty="0">
                <a:solidFill>
                  <a:srgbClr val="000000"/>
                </a:solidFill>
              </a:rPr>
              <a:t>2</a:t>
            </a:r>
            <a:r>
              <a:rPr lang="en-US" altLang="zh-CN" sz="2800" dirty="0">
                <a:solidFill>
                  <a:srgbClr val="000000"/>
                </a:solidFill>
              </a:rPr>
              <a:t> P(c</a:t>
            </a:r>
            <a:r>
              <a:rPr lang="en-US" altLang="zh-CN" sz="2800" baseline="-25000" dirty="0">
                <a:solidFill>
                  <a:srgbClr val="000000"/>
                </a:solidFill>
              </a:rPr>
              <a:t>i</a:t>
            </a:r>
            <a:r>
              <a:rPr lang="en-US" altLang="zh-CN" sz="2800" dirty="0">
                <a:solidFill>
                  <a:srgbClr val="000000"/>
                </a:solidFill>
              </a:rPr>
              <a:t>)</a:t>
            </a:r>
          </a:p>
        </p:txBody>
      </p:sp>
      <p:sp>
        <p:nvSpPr>
          <p:cNvPr id="5" name="灯片编号占位符 4"/>
          <p:cNvSpPr>
            <a:spLocks noGrp="1"/>
          </p:cNvSpPr>
          <p:nvPr>
            <p:ph type="sldNum" sz="quarter" idx="12"/>
          </p:nvPr>
        </p:nvSpPr>
        <p:spPr>
          <a:xfrm>
            <a:off x="9043392" y="6465888"/>
            <a:ext cx="2133600" cy="476250"/>
          </a:xfrm>
        </p:spPr>
        <p:txBody>
          <a:bodyPr/>
          <a:lstStyle/>
          <a:p>
            <a:fld id="{8863B22E-6A07-4FB1-AB14-E229E6B704DF}" type="slidenum">
              <a:rPr lang="zh-CN" altLang="zh-CN" smtClean="0">
                <a:solidFill>
                  <a:srgbClr val="000000"/>
                </a:solidFill>
              </a:rPr>
              <a:pPr/>
              <a:t>11</a:t>
            </a:fld>
            <a:endParaRPr lang="zh-CN" altLang="zh-CN">
              <a:solidFill>
                <a:srgbClr val="000000"/>
              </a:solidFill>
            </a:endParaRPr>
          </a:p>
        </p:txBody>
      </p:sp>
      <p:sp>
        <p:nvSpPr>
          <p:cNvPr id="2" name="矩形 1"/>
          <p:cNvSpPr/>
          <p:nvPr/>
        </p:nvSpPr>
        <p:spPr>
          <a:xfrm>
            <a:off x="262348" y="1424294"/>
            <a:ext cx="8337109" cy="830997"/>
          </a:xfrm>
          <a:prstGeom prst="rect">
            <a:avLst/>
          </a:prstGeom>
        </p:spPr>
        <p:txBody>
          <a:bodyPr wrap="square">
            <a:spAutoFit/>
          </a:bodyPr>
          <a:lstStyle/>
          <a:p>
            <a:pPr>
              <a:defRPr/>
            </a:pPr>
            <a:r>
              <a:rPr lang="en-US" altLang="zh-CN" sz="2400" dirty="0"/>
              <a:t>  P(c</a:t>
            </a:r>
            <a:r>
              <a:rPr lang="en-US" altLang="zh-CN" sz="2400" baseline="-25000" dirty="0"/>
              <a:t>i</a:t>
            </a:r>
            <a:r>
              <a:rPr lang="en-US" altLang="zh-CN" sz="2400" dirty="0"/>
              <a:t>)</a:t>
            </a:r>
            <a:r>
              <a:rPr lang="zh-CN" altLang="en-US" sz="2400" dirty="0"/>
              <a:t>是</a:t>
            </a:r>
            <a:r>
              <a:rPr lang="en-US" altLang="zh-CN" sz="2400" dirty="0"/>
              <a:t>S</a:t>
            </a:r>
            <a:r>
              <a:rPr lang="zh-CN" altLang="en-US" sz="2400" dirty="0"/>
              <a:t>属于</a:t>
            </a:r>
            <a:r>
              <a:rPr lang="en-US" altLang="zh-CN" sz="2400" dirty="0"/>
              <a:t>c</a:t>
            </a:r>
            <a:r>
              <a:rPr lang="en-US" altLang="zh-CN" sz="2400" baseline="-25000" dirty="0"/>
              <a:t>i</a:t>
            </a:r>
            <a:r>
              <a:rPr lang="zh-CN" altLang="en-US" sz="2400" dirty="0"/>
              <a:t>类的概率（“熵”描述了用来预测的信息位数</a:t>
            </a:r>
            <a:r>
              <a:rPr lang="en-US" altLang="zh-CN" sz="2400" dirty="0"/>
              <a:t>),</a:t>
            </a:r>
            <a:r>
              <a:rPr lang="zh-CN" altLang="en-US" sz="2400" dirty="0"/>
              <a:t>训练集的</a:t>
            </a:r>
            <a:r>
              <a:rPr lang="zh-CN" altLang="en-US" sz="2400" dirty="0">
                <a:solidFill>
                  <a:srgbClr val="000000"/>
                </a:solidFill>
              </a:rPr>
              <a:t>熵记作</a:t>
            </a:r>
            <a:r>
              <a:rPr lang="en-US" altLang="zh-CN" sz="2400" dirty="0">
                <a:solidFill>
                  <a:srgbClr val="000000"/>
                </a:solidFill>
              </a:rPr>
              <a:t>H(S):</a:t>
            </a:r>
            <a:endParaRPr lang="en-US" altLang="zh-CN" sz="2400" dirty="0"/>
          </a:p>
        </p:txBody>
      </p:sp>
      <p:sp>
        <p:nvSpPr>
          <p:cNvPr id="3" name="矩形 2"/>
          <p:cNvSpPr/>
          <p:nvPr/>
        </p:nvSpPr>
        <p:spPr>
          <a:xfrm>
            <a:off x="1729437" y="2887743"/>
            <a:ext cx="6233534" cy="830997"/>
          </a:xfrm>
          <a:prstGeom prst="rect">
            <a:avLst/>
          </a:prstGeom>
        </p:spPr>
        <p:txBody>
          <a:bodyPr wrap="square">
            <a:spAutoFit/>
          </a:bodyPr>
          <a:lstStyle/>
          <a:p>
            <a:pPr marL="88900" lvl="1" indent="-11113">
              <a:buNone/>
              <a:defRPr/>
            </a:pPr>
            <a:r>
              <a:rPr lang="zh-CN" altLang="en-US" sz="2400" dirty="0">
                <a:solidFill>
                  <a:srgbClr val="0000FF"/>
                </a:solidFill>
              </a:rPr>
              <a:t>“熵”是随机变量不确定性的一种度量方法。熵值越大，随机变量的不确定性越大</a:t>
            </a:r>
            <a:endParaRPr lang="zh-CN" altLang="en-US" sz="2400" dirty="0"/>
          </a:p>
        </p:txBody>
      </p:sp>
      <p:sp>
        <p:nvSpPr>
          <p:cNvPr id="4" name="矩形 3"/>
          <p:cNvSpPr/>
          <p:nvPr/>
        </p:nvSpPr>
        <p:spPr>
          <a:xfrm>
            <a:off x="6200353" y="2371462"/>
            <a:ext cx="1678665" cy="400110"/>
          </a:xfrm>
          <a:prstGeom prst="rect">
            <a:avLst/>
          </a:prstGeom>
        </p:spPr>
        <p:txBody>
          <a:bodyPr wrap="none">
            <a:spAutoFit/>
          </a:bodyPr>
          <a:lstStyle/>
          <a:p>
            <a:r>
              <a:rPr lang="zh-CN" altLang="en-US" sz="2000" dirty="0">
                <a:solidFill>
                  <a:srgbClr val="000000"/>
                </a:solidFill>
              </a:rPr>
              <a:t>熵 </a:t>
            </a:r>
            <a:r>
              <a:rPr lang="en-US" altLang="zh-CN" sz="2000" dirty="0">
                <a:solidFill>
                  <a:srgbClr val="000000"/>
                </a:solidFill>
              </a:rPr>
              <a:t>/ </a:t>
            </a:r>
            <a:r>
              <a:rPr lang="zh-CN" altLang="en-US" sz="2000" dirty="0">
                <a:solidFill>
                  <a:srgbClr val="000000"/>
                </a:solidFill>
              </a:rPr>
              <a:t>熵不纯度</a:t>
            </a:r>
            <a:endParaRPr lang="zh-CN" altLang="en-US" sz="2000" dirty="0"/>
          </a:p>
        </p:txBody>
      </p:sp>
      <p:sp>
        <p:nvSpPr>
          <p:cNvPr id="6" name="矩形 5"/>
          <p:cNvSpPr/>
          <p:nvPr/>
        </p:nvSpPr>
        <p:spPr>
          <a:xfrm>
            <a:off x="436960" y="962537"/>
            <a:ext cx="6203942" cy="461665"/>
          </a:xfrm>
          <a:prstGeom prst="rect">
            <a:avLst/>
          </a:prstGeom>
        </p:spPr>
        <p:txBody>
          <a:bodyPr wrap="none">
            <a:spAutoFit/>
          </a:bodyPr>
          <a:lstStyle/>
          <a:p>
            <a:pPr>
              <a:defRPr/>
            </a:pPr>
            <a:r>
              <a:rPr lang="en-US" altLang="zh-CN" sz="2400" dirty="0">
                <a:solidFill>
                  <a:srgbClr val="0000FF"/>
                </a:solidFill>
              </a:rPr>
              <a:t>ID3</a:t>
            </a:r>
            <a:r>
              <a:rPr lang="zh-CN" altLang="en-US" sz="2400" dirty="0">
                <a:solidFill>
                  <a:srgbClr val="0000FF"/>
                </a:solidFill>
              </a:rPr>
              <a:t>算法的基础：香农信息论中的熵的定义。</a:t>
            </a:r>
            <a:endParaRPr lang="en-US" altLang="zh-CN" sz="2400" dirty="0">
              <a:solidFill>
                <a:srgbClr val="0000FF"/>
              </a:solidFill>
            </a:endParaRPr>
          </a:p>
        </p:txBody>
      </p:sp>
      <p:pic>
        <p:nvPicPr>
          <p:cNvPr id="7" name="图片 6"/>
          <p:cNvPicPr>
            <a:picLocks noChangeAspect="1"/>
          </p:cNvPicPr>
          <p:nvPr/>
        </p:nvPicPr>
        <p:blipFill>
          <a:blip r:embed="rId3"/>
          <a:stretch>
            <a:fillRect/>
          </a:stretch>
        </p:blipFill>
        <p:spPr>
          <a:xfrm>
            <a:off x="8312101" y="1094103"/>
            <a:ext cx="3596182" cy="3009202"/>
          </a:xfrm>
          <a:prstGeom prst="rect">
            <a:avLst/>
          </a:prstGeom>
        </p:spPr>
      </p:pic>
    </p:spTree>
    <p:extLst>
      <p:ext uri="{BB962C8B-B14F-4D97-AF65-F5344CB8AC3E}">
        <p14:creationId xmlns:p14="http://schemas.microsoft.com/office/powerpoint/2010/main" val="175784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sz="half" idx="4294967295"/>
          </p:nvPr>
        </p:nvSpPr>
        <p:spPr>
          <a:xfrm>
            <a:off x="191344" y="2359574"/>
            <a:ext cx="9244797" cy="4244553"/>
          </a:xfrm>
        </p:spPr>
        <p:txBody>
          <a:bodyPr/>
          <a:lstStyle/>
          <a:p>
            <a:pPr>
              <a:lnSpc>
                <a:spcPct val="90000"/>
              </a:lnSpc>
            </a:pPr>
            <a:r>
              <a:rPr lang="zh-CN" altLang="en-US" sz="2400" dirty="0">
                <a:solidFill>
                  <a:srgbClr val="FF0000"/>
                </a:solidFill>
              </a:rPr>
              <a:t>信息增益</a:t>
            </a:r>
            <a:r>
              <a:rPr lang="en-US" altLang="zh-CN" sz="2400" dirty="0" err="1"/>
              <a:t>InfoGain</a:t>
            </a:r>
            <a:r>
              <a:rPr lang="en-US" altLang="zh-CN" sz="2400" dirty="0"/>
              <a:t>(S, A)</a:t>
            </a:r>
            <a:r>
              <a:rPr lang="zh-CN" altLang="en-US" sz="2400" dirty="0"/>
              <a:t>：表示得知属性</a:t>
            </a:r>
            <a:r>
              <a:rPr lang="en-US" altLang="zh-CN" sz="2400" dirty="0"/>
              <a:t>A</a:t>
            </a:r>
            <a:r>
              <a:rPr lang="zh-CN" altLang="en-US" sz="2400" dirty="0"/>
              <a:t>的信息，使得类的信息的不确定性减少</a:t>
            </a:r>
            <a:r>
              <a:rPr lang="en-US" altLang="zh-CN" sz="2400" dirty="0"/>
              <a:t>(</a:t>
            </a:r>
            <a:r>
              <a:rPr lang="zh-CN" altLang="en-US" sz="2400" dirty="0"/>
              <a:t>即熵减少）的程度。</a:t>
            </a:r>
            <a:endParaRPr lang="en-US" altLang="zh-CN" sz="2400" dirty="0"/>
          </a:p>
          <a:p>
            <a:pPr>
              <a:lnSpc>
                <a:spcPct val="90000"/>
              </a:lnSpc>
            </a:pPr>
            <a:endParaRPr lang="en-US" altLang="zh-CN" sz="2400" dirty="0"/>
          </a:p>
          <a:p>
            <a:pPr>
              <a:lnSpc>
                <a:spcPct val="90000"/>
              </a:lnSpc>
            </a:pPr>
            <a:endParaRPr lang="en-US" altLang="zh-CN" sz="2400" dirty="0"/>
          </a:p>
          <a:p>
            <a:pPr>
              <a:lnSpc>
                <a:spcPct val="90000"/>
              </a:lnSpc>
            </a:pPr>
            <a:endParaRPr lang="en-US" altLang="zh-CN" sz="2400" dirty="0"/>
          </a:p>
          <a:p>
            <a:pPr>
              <a:lnSpc>
                <a:spcPct val="90000"/>
              </a:lnSpc>
            </a:pPr>
            <a:endParaRPr lang="en-US" altLang="zh-CN" sz="2400" dirty="0"/>
          </a:p>
          <a:p>
            <a:pPr>
              <a:buFontTx/>
              <a:buNone/>
            </a:pPr>
            <a:endParaRPr lang="en-US" altLang="zh-CN" sz="2400" dirty="0"/>
          </a:p>
          <a:p>
            <a:pPr>
              <a:lnSpc>
                <a:spcPct val="90000"/>
              </a:lnSpc>
            </a:pPr>
            <a:r>
              <a:rPr lang="zh-CN" altLang="en-US" sz="2400" dirty="0">
                <a:solidFill>
                  <a:srgbClr val="FF0000"/>
                </a:solidFill>
              </a:rPr>
              <a:t>信息增益大的特征具有更强的分类能力，可以选取信息增益最大的特征属性作为划分的最优特征属性</a:t>
            </a:r>
            <a:r>
              <a:rPr lang="en-US" altLang="zh-CN" sz="2400" dirty="0">
                <a:solidFill>
                  <a:srgbClr val="FF0000"/>
                </a:solidFill>
              </a:rPr>
              <a:t>A</a:t>
            </a:r>
            <a:r>
              <a:rPr lang="zh-CN" altLang="en-US" sz="2400" dirty="0">
                <a:solidFill>
                  <a:srgbClr val="FF0000"/>
                </a:solidFill>
              </a:rPr>
              <a:t>。</a:t>
            </a:r>
            <a:endParaRPr lang="en-US" altLang="zh-CN" sz="2400" dirty="0"/>
          </a:p>
        </p:txBody>
      </p:sp>
      <p:sp>
        <p:nvSpPr>
          <p:cNvPr id="3075" name="Rectangle 2"/>
          <p:cNvSpPr>
            <a:spLocks noGrp="1" noChangeArrowheads="1"/>
          </p:cNvSpPr>
          <p:nvPr>
            <p:ph type="title"/>
          </p:nvPr>
        </p:nvSpPr>
        <p:spPr/>
        <p:txBody>
          <a:bodyPr/>
          <a:lstStyle/>
          <a:p>
            <a:r>
              <a:rPr lang="zh-CN" altLang="en-US" sz="3600" dirty="0">
                <a:solidFill>
                  <a:srgbClr val="FF0000"/>
                </a:solidFill>
              </a:rPr>
              <a:t>信息增益</a:t>
            </a:r>
            <a:r>
              <a:rPr lang="en-US" altLang="zh-CN" sz="3600" dirty="0"/>
              <a:t>Information Gain</a:t>
            </a:r>
          </a:p>
        </p:txBody>
      </p:sp>
      <p:graphicFrame>
        <p:nvGraphicFramePr>
          <p:cNvPr id="10244" name="Object 2"/>
          <p:cNvGraphicFramePr>
            <a:graphicFrameLocks noGrp="1" noChangeAspect="1"/>
          </p:cNvGraphicFramePr>
          <p:nvPr>
            <p:ph idx="1"/>
            <p:extLst>
              <p:ext uri="{D42A27DB-BD31-4B8C-83A1-F6EECF244321}">
                <p14:modId xmlns:p14="http://schemas.microsoft.com/office/powerpoint/2010/main" val="588397262"/>
              </p:ext>
            </p:extLst>
          </p:nvPr>
        </p:nvGraphicFramePr>
        <p:xfrm>
          <a:off x="4727848" y="3154823"/>
          <a:ext cx="5688632" cy="1888343"/>
        </p:xfrm>
        <a:graphic>
          <a:graphicData uri="http://schemas.openxmlformats.org/presentationml/2006/ole">
            <mc:AlternateContent xmlns:mc="http://schemas.openxmlformats.org/markup-compatibility/2006">
              <mc:Choice xmlns:v="urn:schemas-microsoft-com:vml" Requires="v">
                <p:oleObj spid="_x0000_s515167" name="Equation" r:id="rId4" imgW="3060700" imgH="1016000" progId="Equation.DSMT4">
                  <p:embed/>
                </p:oleObj>
              </mc:Choice>
              <mc:Fallback>
                <p:oleObj name="Equation" r:id="rId4" imgW="3060700" imgH="1016000"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7848" y="3154823"/>
                        <a:ext cx="5688632" cy="1888343"/>
                      </a:xfrm>
                      <a:prstGeom prst="rect">
                        <a:avLst/>
                      </a:prstGeom>
                      <a:noFill/>
                    </p:spPr>
                  </p:pic>
                </p:oleObj>
              </mc:Fallback>
            </mc:AlternateContent>
          </a:graphicData>
        </a:graphic>
      </p:graphicFrame>
      <p:sp>
        <p:nvSpPr>
          <p:cNvPr id="5" name="灯片编号占位符 4"/>
          <p:cNvSpPr>
            <a:spLocks noGrp="1"/>
          </p:cNvSpPr>
          <p:nvPr>
            <p:ph type="sldNum" sz="quarter" idx="11"/>
          </p:nvPr>
        </p:nvSpPr>
        <p:spPr/>
        <p:txBody>
          <a:bodyPr/>
          <a:lstStyle/>
          <a:p>
            <a:fld id="{8863B22E-6A07-4FB1-AB14-E229E6B704DF}" type="slidenum">
              <a:rPr lang="zh-CN" altLang="zh-CN" smtClean="0"/>
              <a:pPr/>
              <a:t>12</a:t>
            </a:fld>
            <a:endParaRPr lang="zh-CN" altLang="zh-CN"/>
          </a:p>
        </p:txBody>
      </p:sp>
      <p:sp>
        <p:nvSpPr>
          <p:cNvPr id="3" name="矩形 2"/>
          <p:cNvSpPr/>
          <p:nvPr/>
        </p:nvSpPr>
        <p:spPr>
          <a:xfrm>
            <a:off x="551384" y="995942"/>
            <a:ext cx="10910688" cy="830997"/>
          </a:xfrm>
          <a:prstGeom prst="rect">
            <a:avLst/>
          </a:prstGeom>
        </p:spPr>
        <p:txBody>
          <a:bodyPr wrap="square">
            <a:spAutoFit/>
          </a:bodyPr>
          <a:lstStyle/>
          <a:p>
            <a:r>
              <a:rPr lang="en-US" altLang="zh-CN" sz="2400" dirty="0" err="1">
                <a:solidFill>
                  <a:srgbClr val="0000FF"/>
                </a:solidFill>
              </a:rPr>
              <a:t>InfoGain</a:t>
            </a:r>
            <a:r>
              <a:rPr lang="en-US" altLang="zh-CN" sz="2400" dirty="0">
                <a:solidFill>
                  <a:srgbClr val="0000FF"/>
                </a:solidFill>
              </a:rPr>
              <a:t> (S | A) = H(S) – H(S | A)  </a:t>
            </a:r>
          </a:p>
          <a:p>
            <a:r>
              <a:rPr lang="en-US" altLang="zh-CN" sz="2400" dirty="0">
                <a:solidFill>
                  <a:srgbClr val="0000FF"/>
                </a:solidFill>
              </a:rPr>
              <a:t> </a:t>
            </a:r>
            <a:r>
              <a:rPr lang="zh-CN" altLang="en-US" sz="2400" dirty="0">
                <a:solidFill>
                  <a:srgbClr val="0000FF"/>
                </a:solidFill>
              </a:rPr>
              <a:t>也记作</a:t>
            </a:r>
            <a:r>
              <a:rPr lang="en-US" altLang="zh-CN" sz="2400" dirty="0" err="1">
                <a:solidFill>
                  <a:srgbClr val="0000FF"/>
                </a:solidFill>
              </a:rPr>
              <a:t>InfoGain</a:t>
            </a:r>
            <a:r>
              <a:rPr lang="en-US" altLang="zh-CN" sz="2400" dirty="0">
                <a:solidFill>
                  <a:srgbClr val="0000FF"/>
                </a:solidFill>
              </a:rPr>
              <a:t> (S, A)</a:t>
            </a:r>
          </a:p>
        </p:txBody>
      </p:sp>
      <p:sp>
        <p:nvSpPr>
          <p:cNvPr id="4" name="矩形 3"/>
          <p:cNvSpPr/>
          <p:nvPr/>
        </p:nvSpPr>
        <p:spPr>
          <a:xfrm>
            <a:off x="845895" y="1848778"/>
            <a:ext cx="6096000" cy="369332"/>
          </a:xfrm>
          <a:prstGeom prst="rect">
            <a:avLst/>
          </a:prstGeom>
        </p:spPr>
        <p:txBody>
          <a:bodyPr>
            <a:spAutoFit/>
          </a:bodyPr>
          <a:lstStyle/>
          <a:p>
            <a:r>
              <a:rPr lang="en-US" altLang="zh-CN" dirty="0">
                <a:solidFill>
                  <a:srgbClr val="0000FF"/>
                </a:solidFill>
              </a:rPr>
              <a:t>S</a:t>
            </a:r>
            <a:r>
              <a:rPr lang="zh-CN" altLang="en-US" dirty="0">
                <a:solidFill>
                  <a:srgbClr val="0000FF"/>
                </a:solidFill>
              </a:rPr>
              <a:t>：某个节点的样本；</a:t>
            </a:r>
            <a:r>
              <a:rPr lang="en-US" altLang="zh-CN" dirty="0">
                <a:solidFill>
                  <a:srgbClr val="0000FF"/>
                </a:solidFill>
              </a:rPr>
              <a:t>A</a:t>
            </a:r>
            <a:r>
              <a:rPr lang="zh-CN" altLang="en-US" dirty="0">
                <a:solidFill>
                  <a:srgbClr val="0000FF"/>
                </a:solidFill>
              </a:rPr>
              <a:t>：这个节点的某个属性</a:t>
            </a:r>
          </a:p>
        </p:txBody>
      </p:sp>
      <p:sp>
        <p:nvSpPr>
          <p:cNvPr id="6" name="矩形 5"/>
          <p:cNvSpPr/>
          <p:nvPr/>
        </p:nvSpPr>
        <p:spPr>
          <a:xfrm>
            <a:off x="5896295" y="1079608"/>
            <a:ext cx="5933444" cy="110799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eaLnBrk="0" hangingPunct="0">
              <a:spcBef>
                <a:spcPct val="30000"/>
              </a:spcBef>
              <a:defRPr/>
            </a:pPr>
            <a:r>
              <a:rPr lang="zh-CN" altLang="en-US" sz="2000" dirty="0">
                <a:solidFill>
                  <a:srgbClr val="000000"/>
                </a:solidFill>
              </a:rPr>
              <a:t>信息增益指前后信息的差值。</a:t>
            </a:r>
            <a:endParaRPr lang="en-US" altLang="zh-CN" sz="2000" dirty="0">
              <a:solidFill>
                <a:srgbClr val="000000"/>
              </a:solidFill>
            </a:endParaRPr>
          </a:p>
          <a:p>
            <a:pPr eaLnBrk="0" hangingPunct="0">
              <a:spcBef>
                <a:spcPct val="30000"/>
              </a:spcBef>
              <a:defRPr/>
            </a:pPr>
            <a:r>
              <a:rPr lang="zh-CN" altLang="en-US" sz="2000" dirty="0">
                <a:solidFill>
                  <a:srgbClr val="000000"/>
                </a:solidFill>
              </a:rPr>
              <a:t>在决策树分类中，指决策树在进行属性划分前、后的信息差值</a:t>
            </a:r>
            <a:endParaRPr lang="en-US" altLang="zh-CN" sz="2000" dirty="0">
              <a:solidFill>
                <a:srgbClr val="000000"/>
              </a:solidFill>
            </a:endParaRPr>
          </a:p>
        </p:txBody>
      </p:sp>
      <p:sp>
        <p:nvSpPr>
          <p:cNvPr id="2" name="矩形 1"/>
          <p:cNvSpPr/>
          <p:nvPr/>
        </p:nvSpPr>
        <p:spPr>
          <a:xfrm>
            <a:off x="5231904" y="6507420"/>
            <a:ext cx="3467616" cy="341632"/>
          </a:xfrm>
          <a:prstGeom prst="rect">
            <a:avLst/>
          </a:prstGeom>
        </p:spPr>
        <p:txBody>
          <a:bodyPr wrap="none">
            <a:spAutoFit/>
          </a:bodyPr>
          <a:lstStyle/>
          <a:p>
            <a:pPr>
              <a:lnSpc>
                <a:spcPct val="90000"/>
              </a:lnSpc>
            </a:pPr>
            <a:r>
              <a:rPr lang="en-US" altLang="zh-CN" dirty="0"/>
              <a:t>ID3--</a:t>
            </a:r>
            <a:r>
              <a:rPr lang="zh-CN" altLang="en-US" dirty="0">
                <a:solidFill>
                  <a:srgbClr val="FF0000"/>
                </a:solidFill>
              </a:rPr>
              <a:t>最大信息增益选择特征属性</a:t>
            </a:r>
            <a:endParaRPr lang="en-US" altLang="zh-CN" dirty="0">
              <a:solidFill>
                <a:srgbClr val="FF0000"/>
              </a:solidFill>
            </a:endParaRPr>
          </a:p>
        </p:txBody>
      </p:sp>
      <p:sp>
        <p:nvSpPr>
          <p:cNvPr id="7" name="矩形 6"/>
          <p:cNvSpPr/>
          <p:nvPr/>
        </p:nvSpPr>
        <p:spPr>
          <a:xfrm>
            <a:off x="371376" y="3802115"/>
            <a:ext cx="4297855" cy="923330"/>
          </a:xfrm>
          <a:prstGeom prst="rect">
            <a:avLst/>
          </a:prstGeom>
          <a:ln>
            <a:solidFill>
              <a:srgbClr val="FF9999"/>
            </a:solidFill>
          </a:ln>
        </p:spPr>
        <p:txBody>
          <a:bodyPr wrap="square">
            <a:spAutoFit/>
          </a:bodyPr>
          <a:lstStyle/>
          <a:p>
            <a:pPr algn="just"/>
            <a:r>
              <a:rPr lang="zh-CN" altLang="en-US" dirty="0"/>
              <a:t> </a:t>
            </a:r>
            <a:r>
              <a:rPr lang="en-US" altLang="zh-CN" dirty="0"/>
              <a:t>|</a:t>
            </a:r>
            <a:r>
              <a:rPr lang="en-US" altLang="zh-CN" i="1" dirty="0"/>
              <a:t>S</a:t>
            </a:r>
            <a:r>
              <a:rPr lang="en-US" altLang="zh-CN" dirty="0"/>
              <a:t>|</a:t>
            </a:r>
            <a:r>
              <a:rPr lang="zh-CN" altLang="en-US" dirty="0"/>
              <a:t>表示划分前的实例个数，</a:t>
            </a:r>
            <a:r>
              <a:rPr lang="en-US" altLang="zh-CN" dirty="0"/>
              <a:t>|</a:t>
            </a:r>
            <a:r>
              <a:rPr lang="en-US" altLang="zh-CN" i="1" dirty="0"/>
              <a:t>S</a:t>
            </a:r>
            <a:r>
              <a:rPr lang="en-US" altLang="zh-CN" baseline="-25000" dirty="0"/>
              <a:t>a</a:t>
            </a:r>
            <a:r>
              <a:rPr lang="en-US" altLang="zh-CN" dirty="0"/>
              <a:t>|</a:t>
            </a:r>
            <a:r>
              <a:rPr lang="zh-CN" altLang="en-US" dirty="0"/>
              <a:t>表示划分后某个分支的实例个数， </a:t>
            </a:r>
            <a:r>
              <a:rPr lang="en-US" altLang="zh-CN" dirty="0"/>
              <a:t>S</a:t>
            </a:r>
            <a:r>
              <a:rPr lang="en-US" altLang="zh-CN" baseline="-25000" dirty="0"/>
              <a:t>a</a:t>
            </a:r>
            <a:r>
              <a:rPr lang="zh-CN" altLang="en-US" dirty="0"/>
              <a:t>是</a:t>
            </a:r>
            <a:r>
              <a:rPr lang="en-US" altLang="zh-CN" dirty="0"/>
              <a:t>S</a:t>
            </a:r>
            <a:r>
              <a:rPr lang="zh-CN" altLang="en-US" dirty="0"/>
              <a:t>的一个子集（</a:t>
            </a:r>
            <a:r>
              <a:rPr lang="en-US" altLang="zh-CN" dirty="0"/>
              <a:t>S</a:t>
            </a:r>
            <a:r>
              <a:rPr lang="zh-CN" altLang="en-US" dirty="0"/>
              <a:t>中属性</a:t>
            </a:r>
            <a:r>
              <a:rPr lang="en-US" altLang="zh-CN" dirty="0"/>
              <a:t>A</a:t>
            </a:r>
            <a:r>
              <a:rPr lang="zh-CN" altLang="en-US" dirty="0"/>
              <a:t>取值为</a:t>
            </a:r>
            <a:r>
              <a:rPr lang="en-US" altLang="zh-CN" dirty="0"/>
              <a:t>a</a:t>
            </a:r>
            <a:r>
              <a:rPr lang="zh-CN" altLang="en-US" dirty="0"/>
              <a:t>的数据子集）。</a:t>
            </a:r>
          </a:p>
        </p:txBody>
      </p:sp>
      <p:sp>
        <p:nvSpPr>
          <p:cNvPr id="8" name="矩形 7"/>
          <p:cNvSpPr/>
          <p:nvPr/>
        </p:nvSpPr>
        <p:spPr>
          <a:xfrm>
            <a:off x="2063552" y="5949280"/>
            <a:ext cx="7766248" cy="40011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altLang="zh-CN" sz="2000" dirty="0" err="1"/>
              <a:t>InfoGain</a:t>
            </a:r>
            <a:r>
              <a:rPr lang="en-US" altLang="zh-CN" sz="2000" dirty="0"/>
              <a:t>(S</a:t>
            </a:r>
            <a:r>
              <a:rPr lang="zh-CN" altLang="en-US" sz="2000" dirty="0"/>
              <a:t>，</a:t>
            </a:r>
            <a:r>
              <a:rPr lang="en-US" altLang="zh-CN" sz="2000" dirty="0"/>
              <a:t>A) </a:t>
            </a:r>
            <a:r>
              <a:rPr lang="zh-CN" altLang="en-US" sz="2000" dirty="0"/>
              <a:t>越大，说明选择的测试属性对分类提供的信息越多</a:t>
            </a:r>
          </a:p>
        </p:txBody>
      </p:sp>
      <p:sp>
        <p:nvSpPr>
          <p:cNvPr id="9" name="矩形 8"/>
          <p:cNvSpPr/>
          <p:nvPr/>
        </p:nvSpPr>
        <p:spPr>
          <a:xfrm>
            <a:off x="2567608" y="3132278"/>
            <a:ext cx="2140394" cy="369332"/>
          </a:xfrm>
          <a:prstGeom prst="rect">
            <a:avLst/>
          </a:prstGeom>
        </p:spPr>
        <p:txBody>
          <a:bodyPr wrap="none">
            <a:spAutoFit/>
          </a:bodyPr>
          <a:lstStyle/>
          <a:p>
            <a:r>
              <a:rPr lang="zh-CN" altLang="en-US" dirty="0"/>
              <a:t>简记：</a:t>
            </a:r>
            <a:r>
              <a:rPr lang="en-US" altLang="zh-CN" dirty="0"/>
              <a:t>Gain(S, A) =</a:t>
            </a:r>
            <a:endParaRPr lang="zh-CN" altLang="en-US" dirty="0"/>
          </a:p>
        </p:txBody>
      </p:sp>
    </p:spTree>
    <p:extLst>
      <p:ext uri="{BB962C8B-B14F-4D97-AF65-F5344CB8AC3E}">
        <p14:creationId xmlns:p14="http://schemas.microsoft.com/office/powerpoint/2010/main" val="4219527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6509" name="Group 141"/>
          <p:cNvGraphicFramePr>
            <a:graphicFrameLocks noGrp="1"/>
          </p:cNvGraphicFramePr>
          <p:nvPr>
            <p:extLst>
              <p:ext uri="{D42A27DB-BD31-4B8C-83A1-F6EECF244321}">
                <p14:modId xmlns:p14="http://schemas.microsoft.com/office/powerpoint/2010/main" val="2763096767"/>
              </p:ext>
            </p:extLst>
          </p:nvPr>
        </p:nvGraphicFramePr>
        <p:xfrm>
          <a:off x="583439" y="1026377"/>
          <a:ext cx="4537075" cy="5290187"/>
        </p:xfrm>
        <a:graphic>
          <a:graphicData uri="http://schemas.openxmlformats.org/drawingml/2006/table">
            <a:tbl>
              <a:tblPr/>
              <a:tblGrid>
                <a:gridCol w="512762">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3">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349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56443" name="Text Box 131"/>
          <p:cNvSpPr txBox="1">
            <a:spLocks noChangeArrowheads="1"/>
          </p:cNvSpPr>
          <p:nvPr/>
        </p:nvSpPr>
        <p:spPr bwMode="auto">
          <a:xfrm>
            <a:off x="5492750" y="1018848"/>
            <a:ext cx="5200463"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1</a:t>
            </a:r>
            <a:r>
              <a:rPr lang="zh-CN" altLang="en-US" sz="2000" dirty="0">
                <a:solidFill>
                  <a:srgbClr val="FF0000"/>
                </a:solidFill>
              </a:rPr>
              <a:t>步：计算不考虑任何特征时决策属性的熵</a:t>
            </a:r>
          </a:p>
        </p:txBody>
      </p:sp>
      <p:sp>
        <p:nvSpPr>
          <p:cNvPr id="56444" name="Text Box 134"/>
          <p:cNvSpPr txBox="1">
            <a:spLocks noChangeArrowheads="1"/>
          </p:cNvSpPr>
          <p:nvPr/>
        </p:nvSpPr>
        <p:spPr bwMode="auto">
          <a:xfrm>
            <a:off x="6579002" y="2348675"/>
            <a:ext cx="3819847" cy="3046988"/>
          </a:xfrm>
          <a:prstGeom prst="rect">
            <a:avLst/>
          </a:prstGeom>
          <a:noFill/>
          <a:ln w="9525">
            <a:noFill/>
            <a:miter lim="800000"/>
            <a:headEnd/>
            <a:tailEnd/>
          </a:ln>
        </p:spPr>
        <p:txBody>
          <a:bodyPr wrap="square">
            <a:spAutoFit/>
          </a:bodyPr>
          <a:lstStyle/>
          <a:p>
            <a:r>
              <a:rPr lang="zh-CN" altLang="en-US" sz="1600" dirty="0">
                <a:solidFill>
                  <a:srgbClr val="000000"/>
                </a:solidFill>
              </a:rPr>
              <a:t>决策属性“买计算机？”。</a:t>
            </a:r>
            <a:endParaRPr lang="en-US" altLang="zh-CN" sz="1600" dirty="0">
              <a:solidFill>
                <a:srgbClr val="000000"/>
              </a:solidFill>
            </a:endParaRPr>
          </a:p>
          <a:p>
            <a:r>
              <a:rPr lang="zh-CN" altLang="en-US" sz="1600" dirty="0">
                <a:solidFill>
                  <a:srgbClr val="000000"/>
                </a:solidFill>
              </a:rPr>
              <a:t>该属性将数据分两类：买</a:t>
            </a:r>
            <a:r>
              <a:rPr lang="en-US" altLang="zh-CN" sz="1600" dirty="0">
                <a:solidFill>
                  <a:srgbClr val="000000"/>
                </a:solidFill>
              </a:rPr>
              <a:t>/</a:t>
            </a:r>
            <a:r>
              <a:rPr lang="zh-CN" altLang="en-US" sz="1600" dirty="0">
                <a:solidFill>
                  <a:srgbClr val="000000"/>
                </a:solidFill>
              </a:rPr>
              <a:t>不买</a:t>
            </a:r>
          </a:p>
          <a:p>
            <a:r>
              <a:rPr lang="en-US" altLang="zh-CN" sz="1600" dirty="0">
                <a:solidFill>
                  <a:srgbClr val="000000"/>
                </a:solidFill>
              </a:rPr>
              <a:t>         S1(</a:t>
            </a:r>
            <a:r>
              <a:rPr lang="zh-CN" altLang="en-US" sz="1600" dirty="0">
                <a:solidFill>
                  <a:srgbClr val="000000"/>
                </a:solidFill>
              </a:rPr>
              <a:t>买</a:t>
            </a:r>
            <a:r>
              <a:rPr lang="en-US" altLang="zh-CN" sz="1600" dirty="0">
                <a:solidFill>
                  <a:srgbClr val="000000"/>
                </a:solidFill>
              </a:rPr>
              <a:t>)=641            </a:t>
            </a:r>
          </a:p>
          <a:p>
            <a:r>
              <a:rPr lang="en-US" altLang="zh-CN" sz="1600" dirty="0">
                <a:solidFill>
                  <a:srgbClr val="000000"/>
                </a:solidFill>
              </a:rPr>
              <a:t>         S2</a:t>
            </a:r>
            <a:r>
              <a:rPr lang="zh-CN" altLang="en-US" sz="1600" dirty="0">
                <a:solidFill>
                  <a:srgbClr val="000000"/>
                </a:solidFill>
              </a:rPr>
              <a:t>（不买）</a:t>
            </a:r>
            <a:r>
              <a:rPr lang="en-US" altLang="zh-CN" sz="1600" dirty="0">
                <a:solidFill>
                  <a:srgbClr val="000000"/>
                </a:solidFill>
              </a:rPr>
              <a:t>= 383</a:t>
            </a:r>
          </a:p>
          <a:p>
            <a:r>
              <a:rPr lang="en-US" altLang="zh-CN" sz="1600" dirty="0">
                <a:solidFill>
                  <a:srgbClr val="000000"/>
                </a:solidFill>
              </a:rPr>
              <a:t>         S=S1+S2=1024</a:t>
            </a:r>
          </a:p>
          <a:p>
            <a:endParaRPr lang="en-US" altLang="zh-CN" sz="1600" dirty="0">
              <a:solidFill>
                <a:srgbClr val="000000"/>
              </a:solidFill>
            </a:endParaRPr>
          </a:p>
          <a:p>
            <a:r>
              <a:rPr lang="en-US" altLang="zh-CN" sz="1600" dirty="0">
                <a:solidFill>
                  <a:srgbClr val="000000"/>
                </a:solidFill>
              </a:rPr>
              <a:t>P2=383/1024=0.3740</a:t>
            </a:r>
          </a:p>
          <a:p>
            <a:endParaRPr lang="en-US" altLang="zh-CN" sz="1600" dirty="0">
              <a:solidFill>
                <a:srgbClr val="000000"/>
              </a:solidFill>
            </a:endParaRPr>
          </a:p>
          <a:p>
            <a:r>
              <a:rPr lang="en-US" altLang="zh-CN" sz="1600" dirty="0">
                <a:solidFill>
                  <a:srgbClr val="0000FF"/>
                </a:solidFill>
              </a:rPr>
              <a:t>H(S) = I([S1,S2]) = I([641,383])</a:t>
            </a:r>
          </a:p>
          <a:p>
            <a:r>
              <a:rPr lang="en-US" altLang="zh-CN" sz="1600" dirty="0">
                <a:solidFill>
                  <a:srgbClr val="000000"/>
                </a:solidFill>
              </a:rPr>
              <a:t>        = E(P1,P2)</a:t>
            </a:r>
          </a:p>
          <a:p>
            <a:r>
              <a:rPr lang="en-US" altLang="zh-CN" sz="1600" dirty="0">
                <a:solidFill>
                  <a:srgbClr val="000000"/>
                </a:solidFill>
              </a:rPr>
              <a:t>        = -P1Log</a:t>
            </a:r>
            <a:r>
              <a:rPr lang="en-US" altLang="zh-CN" sz="1600" baseline="-25000" dirty="0">
                <a:solidFill>
                  <a:srgbClr val="000000"/>
                </a:solidFill>
              </a:rPr>
              <a:t>2</a:t>
            </a:r>
            <a:r>
              <a:rPr lang="en-US" altLang="zh-CN" sz="1600" dirty="0">
                <a:solidFill>
                  <a:srgbClr val="000000"/>
                </a:solidFill>
              </a:rPr>
              <a:t>P1-P2Log</a:t>
            </a:r>
            <a:r>
              <a:rPr lang="en-US" altLang="zh-CN" sz="1600" baseline="-25000" dirty="0">
                <a:solidFill>
                  <a:srgbClr val="000000"/>
                </a:solidFill>
              </a:rPr>
              <a:t>2</a:t>
            </a:r>
            <a:r>
              <a:rPr lang="en-US" altLang="zh-CN" sz="1600" dirty="0">
                <a:solidFill>
                  <a:srgbClr val="000000"/>
                </a:solidFill>
              </a:rPr>
              <a:t>P2 </a:t>
            </a:r>
          </a:p>
          <a:p>
            <a:r>
              <a:rPr lang="en-US" altLang="zh-CN" sz="1600" dirty="0">
                <a:solidFill>
                  <a:srgbClr val="000000"/>
                </a:solidFill>
              </a:rPr>
              <a:t>        </a:t>
            </a:r>
            <a:r>
              <a:rPr lang="en-US" altLang="zh-CN" sz="1600" dirty="0">
                <a:solidFill>
                  <a:srgbClr val="0000FF"/>
                </a:solidFill>
              </a:rPr>
              <a:t>=0.9537</a:t>
            </a:r>
          </a:p>
        </p:txBody>
      </p:sp>
      <p:sp>
        <p:nvSpPr>
          <p:cNvPr id="56445" name="Text Box 135"/>
          <p:cNvSpPr txBox="1">
            <a:spLocks noChangeArrowheads="1"/>
          </p:cNvSpPr>
          <p:nvPr/>
        </p:nvSpPr>
        <p:spPr bwMode="auto">
          <a:xfrm>
            <a:off x="4511675" y="357167"/>
            <a:ext cx="1962150" cy="519113"/>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13</a:t>
            </a:fld>
            <a:endParaRPr lang="en-US" altLang="zh-CN" dirty="0"/>
          </a:p>
        </p:txBody>
      </p:sp>
      <p:sp>
        <p:nvSpPr>
          <p:cNvPr id="7" name="Text Box 6"/>
          <p:cNvSpPr txBox="1">
            <a:spLocks noChangeArrowheads="1"/>
          </p:cNvSpPr>
          <p:nvPr/>
        </p:nvSpPr>
        <p:spPr bwMode="auto">
          <a:xfrm>
            <a:off x="6640737" y="5506066"/>
            <a:ext cx="4131259" cy="923330"/>
          </a:xfrm>
          <a:prstGeom prst="rect">
            <a:avLst/>
          </a:prstGeom>
          <a:noFill/>
          <a:ln w="9525">
            <a:solidFill>
              <a:srgbClr val="FF0000"/>
            </a:solidFill>
            <a:miter lim="800000"/>
            <a:headEnd/>
            <a:tailEnd/>
          </a:ln>
        </p:spPr>
        <p:txBody>
          <a:bodyPr wrap="none">
            <a:spAutoFit/>
          </a:bodyPr>
          <a:lstStyle/>
          <a:p>
            <a:r>
              <a:rPr lang="en-US" altLang="zh-CN" dirty="0">
                <a:solidFill>
                  <a:srgbClr val="0000FF"/>
                </a:solidFill>
              </a:rPr>
              <a:t>H(S=</a:t>
            </a:r>
            <a:r>
              <a:rPr lang="zh-CN" altLang="en-US" dirty="0">
                <a:solidFill>
                  <a:srgbClr val="0000FF"/>
                </a:solidFill>
              </a:rPr>
              <a:t>买计算机？</a:t>
            </a:r>
            <a:r>
              <a:rPr lang="en-US" altLang="zh-CN" dirty="0">
                <a:solidFill>
                  <a:srgbClr val="0000FF"/>
                </a:solidFill>
              </a:rPr>
              <a:t>)</a:t>
            </a:r>
          </a:p>
          <a:p>
            <a:r>
              <a:rPr lang="en-US" altLang="zh-CN" dirty="0">
                <a:solidFill>
                  <a:srgbClr val="0000FF"/>
                </a:solidFill>
              </a:rPr>
              <a:t> = -</a:t>
            </a:r>
            <a:r>
              <a:rPr lang="en-US" altLang="zh-CN" dirty="0">
                <a:solidFill>
                  <a:srgbClr val="0000FF"/>
                </a:solidFill>
                <a:latin typeface="Symbol" pitchFamily="18" charset="2"/>
                <a:sym typeface="Symbol" pitchFamily="18" charset="2"/>
              </a:rPr>
              <a:t></a:t>
            </a:r>
            <a:r>
              <a:rPr lang="en-US" altLang="zh-CN" baseline="-25000" dirty="0" err="1">
                <a:solidFill>
                  <a:srgbClr val="0000FF"/>
                </a:solidFill>
                <a:sym typeface="Symbol" pitchFamily="18" charset="2"/>
              </a:rPr>
              <a:t>i</a:t>
            </a:r>
            <a:r>
              <a:rPr lang="en-US" altLang="zh-CN" dirty="0">
                <a:solidFill>
                  <a:srgbClr val="0000FF"/>
                </a:solidFill>
              </a:rPr>
              <a:t> P</a:t>
            </a:r>
            <a:r>
              <a:rPr lang="en-US" altLang="zh-CN" baseline="-25000" dirty="0">
                <a:solidFill>
                  <a:srgbClr val="0000FF"/>
                </a:solidFill>
              </a:rPr>
              <a:t>2 </a:t>
            </a:r>
            <a:r>
              <a:rPr lang="en-US" altLang="zh-CN" dirty="0">
                <a:solidFill>
                  <a:srgbClr val="0000FF"/>
                </a:solidFill>
              </a:rPr>
              <a:t>(c</a:t>
            </a:r>
            <a:r>
              <a:rPr lang="en-US" altLang="zh-CN" baseline="-25000" dirty="0">
                <a:solidFill>
                  <a:srgbClr val="0000FF"/>
                </a:solidFill>
              </a:rPr>
              <a:t>i</a:t>
            </a:r>
            <a:r>
              <a:rPr lang="en-US" altLang="zh-CN" dirty="0">
                <a:solidFill>
                  <a:srgbClr val="0000FF"/>
                </a:solidFill>
              </a:rPr>
              <a:t>) log</a:t>
            </a:r>
            <a:r>
              <a:rPr lang="en-US" altLang="zh-CN" baseline="-25000" dirty="0">
                <a:solidFill>
                  <a:srgbClr val="0000FF"/>
                </a:solidFill>
              </a:rPr>
              <a:t>2</a:t>
            </a:r>
            <a:r>
              <a:rPr lang="en-US" altLang="zh-CN" dirty="0">
                <a:solidFill>
                  <a:srgbClr val="0000FF"/>
                </a:solidFill>
              </a:rPr>
              <a:t>P(c</a:t>
            </a:r>
            <a:r>
              <a:rPr lang="en-US" altLang="zh-CN" baseline="-25000" dirty="0">
                <a:solidFill>
                  <a:srgbClr val="0000FF"/>
                </a:solidFill>
              </a:rPr>
              <a:t>i</a:t>
            </a:r>
            <a:r>
              <a:rPr lang="en-US" altLang="zh-CN" dirty="0">
                <a:solidFill>
                  <a:srgbClr val="0000FF"/>
                </a:solidFill>
              </a:rPr>
              <a:t>)</a:t>
            </a:r>
          </a:p>
          <a:p>
            <a:r>
              <a:rPr lang="en-US" altLang="zh-CN" dirty="0">
                <a:solidFill>
                  <a:srgbClr val="0000FF"/>
                </a:solidFill>
              </a:rPr>
              <a:t>= -P(</a:t>
            </a:r>
            <a:r>
              <a:rPr lang="zh-CN" altLang="en-US" dirty="0">
                <a:solidFill>
                  <a:srgbClr val="0000FF"/>
                </a:solidFill>
              </a:rPr>
              <a:t>买</a:t>
            </a:r>
            <a:r>
              <a:rPr lang="en-US" altLang="zh-CN" dirty="0">
                <a:solidFill>
                  <a:srgbClr val="0000FF"/>
                </a:solidFill>
              </a:rPr>
              <a:t>) log</a:t>
            </a:r>
            <a:r>
              <a:rPr lang="en-US" altLang="zh-CN" baseline="-25000" dirty="0">
                <a:solidFill>
                  <a:srgbClr val="0000FF"/>
                </a:solidFill>
              </a:rPr>
              <a:t>2</a:t>
            </a:r>
            <a:r>
              <a:rPr lang="en-US" altLang="zh-CN" dirty="0">
                <a:solidFill>
                  <a:srgbClr val="0000FF"/>
                </a:solidFill>
              </a:rPr>
              <a:t>P(</a:t>
            </a:r>
            <a:r>
              <a:rPr lang="zh-CN" altLang="en-US" dirty="0">
                <a:solidFill>
                  <a:srgbClr val="0000FF"/>
                </a:solidFill>
              </a:rPr>
              <a:t>买</a:t>
            </a:r>
            <a:r>
              <a:rPr lang="en-US" altLang="zh-CN" dirty="0">
                <a:solidFill>
                  <a:srgbClr val="0000FF"/>
                </a:solidFill>
              </a:rPr>
              <a:t>)- P(</a:t>
            </a:r>
            <a:r>
              <a:rPr lang="zh-CN" altLang="en-US" dirty="0">
                <a:solidFill>
                  <a:srgbClr val="0000FF"/>
                </a:solidFill>
              </a:rPr>
              <a:t>不买</a:t>
            </a:r>
            <a:r>
              <a:rPr lang="en-US" altLang="zh-CN" dirty="0">
                <a:solidFill>
                  <a:srgbClr val="0000FF"/>
                </a:solidFill>
              </a:rPr>
              <a:t>) log</a:t>
            </a:r>
            <a:r>
              <a:rPr lang="en-US" altLang="zh-CN" baseline="-25000" dirty="0">
                <a:solidFill>
                  <a:srgbClr val="0000FF"/>
                </a:solidFill>
              </a:rPr>
              <a:t>2</a:t>
            </a:r>
            <a:r>
              <a:rPr lang="en-US" altLang="zh-CN" dirty="0">
                <a:solidFill>
                  <a:srgbClr val="0000FF"/>
                </a:solidFill>
              </a:rPr>
              <a:t>P(</a:t>
            </a:r>
            <a:r>
              <a:rPr lang="zh-CN" altLang="en-US" dirty="0">
                <a:solidFill>
                  <a:srgbClr val="0000FF"/>
                </a:solidFill>
              </a:rPr>
              <a:t>不买</a:t>
            </a:r>
            <a:r>
              <a:rPr lang="en-US" altLang="zh-CN" dirty="0">
                <a:solidFill>
                  <a:srgbClr val="0000FF"/>
                </a:solidFill>
              </a:rPr>
              <a:t>)</a:t>
            </a:r>
          </a:p>
        </p:txBody>
      </p:sp>
      <p:sp>
        <p:nvSpPr>
          <p:cNvPr id="8" name="Rectangle 2"/>
          <p:cNvSpPr>
            <a:spLocks noChangeArrowheads="1"/>
          </p:cNvSpPr>
          <p:nvPr/>
        </p:nvSpPr>
        <p:spPr bwMode="auto">
          <a:xfrm>
            <a:off x="6524626" y="1395709"/>
            <a:ext cx="5616624" cy="923330"/>
          </a:xfrm>
          <a:prstGeom prst="rect">
            <a:avLst/>
          </a:prstGeom>
          <a:noFill/>
          <a:ln w="9525">
            <a:noFill/>
            <a:miter lim="800000"/>
            <a:headEnd/>
            <a:tailEnd/>
          </a:ln>
        </p:spPr>
        <p:txBody>
          <a:bodyPr wrap="square" anchor="ctr">
            <a:spAutoFit/>
          </a:bodyPr>
          <a:lstStyle/>
          <a:p>
            <a:pPr eaLnBrk="0" hangingPunct="0"/>
            <a:r>
              <a:rPr lang="zh-CN" altLang="en-US" dirty="0">
                <a:solidFill>
                  <a:srgbClr val="362E2B"/>
                </a:solidFill>
                <a:cs typeface="Arial" charset="0"/>
              </a:rPr>
              <a:t>共</a:t>
            </a:r>
            <a:r>
              <a:rPr lang="en-US" altLang="zh-CN" dirty="0">
                <a:solidFill>
                  <a:srgbClr val="362E2B"/>
                </a:solidFill>
                <a:cs typeface="Arial" charset="0"/>
              </a:rPr>
              <a:t>1024</a:t>
            </a:r>
            <a:r>
              <a:rPr lang="zh-CN" altLang="en-US" dirty="0">
                <a:solidFill>
                  <a:srgbClr val="362E2B"/>
                </a:solidFill>
                <a:cs typeface="Arial" charset="0"/>
              </a:rPr>
              <a:t>个实例：</a:t>
            </a:r>
            <a:r>
              <a:rPr lang="en-US" altLang="zh-CN" dirty="0">
                <a:solidFill>
                  <a:srgbClr val="362E2B"/>
                </a:solidFill>
                <a:cs typeface="Arial" charset="0"/>
              </a:rPr>
              <a:t>641</a:t>
            </a:r>
            <a:r>
              <a:rPr lang="zh-CN" altLang="en-US" dirty="0">
                <a:solidFill>
                  <a:srgbClr val="362E2B"/>
                </a:solidFill>
                <a:cs typeface="Arial" charset="0"/>
              </a:rPr>
              <a:t>个正例（买），</a:t>
            </a:r>
            <a:endParaRPr lang="en-US" altLang="zh-CN" dirty="0">
              <a:solidFill>
                <a:srgbClr val="362E2B"/>
              </a:solidFill>
              <a:cs typeface="Arial" charset="0"/>
            </a:endParaRPr>
          </a:p>
          <a:p>
            <a:pPr eaLnBrk="0" hangingPunct="0"/>
            <a:r>
              <a:rPr lang="en-US" altLang="zh-CN" dirty="0">
                <a:solidFill>
                  <a:srgbClr val="362E2B"/>
                </a:solidFill>
                <a:cs typeface="Arial" charset="0"/>
              </a:rPr>
              <a:t>                         383</a:t>
            </a:r>
            <a:r>
              <a:rPr lang="zh-CN" altLang="en-US" dirty="0">
                <a:solidFill>
                  <a:srgbClr val="362E2B"/>
                </a:solidFill>
                <a:cs typeface="Arial" charset="0"/>
              </a:rPr>
              <a:t>个负例（不买）</a:t>
            </a:r>
            <a:endParaRPr lang="en-US" altLang="zh-CN" dirty="0">
              <a:solidFill>
                <a:srgbClr val="362E2B"/>
              </a:solidFill>
              <a:cs typeface="Arial" charset="0"/>
            </a:endParaRPr>
          </a:p>
          <a:p>
            <a:pPr eaLnBrk="0" hangingPunct="0"/>
            <a:r>
              <a:rPr lang="zh-CN" altLang="en-US" dirty="0">
                <a:solidFill>
                  <a:srgbClr val="362E2B"/>
                </a:solidFill>
                <a:cs typeface="Arial" charset="0"/>
              </a:rPr>
              <a:t>当前数据</a:t>
            </a:r>
            <a:r>
              <a:rPr lang="en-US" altLang="zh-CN" dirty="0">
                <a:solidFill>
                  <a:srgbClr val="362E2B"/>
                </a:solidFill>
                <a:cs typeface="Arial" charset="0"/>
              </a:rPr>
              <a:t>S</a:t>
            </a:r>
            <a:r>
              <a:rPr lang="zh-CN" altLang="en-US" dirty="0">
                <a:solidFill>
                  <a:srgbClr val="362E2B"/>
                </a:solidFill>
                <a:cs typeface="Arial" charset="0"/>
              </a:rPr>
              <a:t>（原始状态）的信息量（熵）：</a:t>
            </a:r>
            <a:endParaRPr lang="zh-CN" altLang="en-US" dirty="0">
              <a:solidFill>
                <a:srgbClr val="000000"/>
              </a:solidFill>
            </a:endParaRPr>
          </a:p>
        </p:txBody>
      </p:sp>
      <p:graphicFrame>
        <p:nvGraphicFramePr>
          <p:cNvPr id="9" name="Object 3"/>
          <p:cNvGraphicFramePr>
            <a:graphicFrameLocks noChangeAspect="1"/>
          </p:cNvGraphicFramePr>
          <p:nvPr>
            <p:extLst>
              <p:ext uri="{D42A27DB-BD31-4B8C-83A1-F6EECF244321}">
                <p14:modId xmlns:p14="http://schemas.microsoft.com/office/powerpoint/2010/main" val="198086366"/>
              </p:ext>
            </p:extLst>
          </p:nvPr>
        </p:nvGraphicFramePr>
        <p:xfrm>
          <a:off x="12576720" y="3272498"/>
          <a:ext cx="5435347" cy="1199341"/>
        </p:xfrm>
        <a:graphic>
          <a:graphicData uri="http://schemas.openxmlformats.org/presentationml/2006/ole">
            <mc:AlternateContent xmlns:mc="http://schemas.openxmlformats.org/markup-compatibility/2006">
              <mc:Choice xmlns:v="urn:schemas-microsoft-com:vml" Requires="v">
                <p:oleObj spid="_x0000_s516272" name="Equation" r:id="rId4" imgW="2031840" imgH="609480" progId="Equation.DSMT4">
                  <p:embed/>
                </p:oleObj>
              </mc:Choice>
              <mc:Fallback>
                <p:oleObj name="Equation" r:id="rId4" imgW="2031840" imgH="609480" progId="Equation.DSMT4">
                  <p:embed/>
                  <p:pic>
                    <p:nvPicPr>
                      <p:cNvPr id="0" name=""/>
                      <p:cNvPicPr>
                        <a:picLocks noChangeAspect="1" noChangeArrowheads="1"/>
                      </p:cNvPicPr>
                      <p:nvPr/>
                    </p:nvPicPr>
                    <p:blipFill>
                      <a:blip r:embed="rId5"/>
                      <a:srcRect/>
                      <a:stretch>
                        <a:fillRect/>
                      </a:stretch>
                    </p:blipFill>
                    <p:spPr bwMode="auto">
                      <a:xfrm>
                        <a:off x="12576720" y="3272498"/>
                        <a:ext cx="5435347" cy="1199341"/>
                      </a:xfrm>
                      <a:prstGeom prst="rect">
                        <a:avLst/>
                      </a:prstGeom>
                      <a:noFill/>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3197078705"/>
              </p:ext>
            </p:extLst>
          </p:nvPr>
        </p:nvGraphicFramePr>
        <p:xfrm>
          <a:off x="12864752" y="4972942"/>
          <a:ext cx="5335587" cy="944563"/>
        </p:xfrm>
        <a:graphic>
          <a:graphicData uri="http://schemas.openxmlformats.org/presentationml/2006/ole">
            <mc:AlternateContent xmlns:mc="http://schemas.openxmlformats.org/markup-compatibility/2006">
              <mc:Choice xmlns:v="urn:schemas-microsoft-com:vml" Requires="v">
                <p:oleObj spid="_x0000_s516273" name="Equation" r:id="rId6" imgW="2438280" imgH="431640" progId="Equation.DSMT4">
                  <p:embed/>
                </p:oleObj>
              </mc:Choice>
              <mc:Fallback>
                <p:oleObj name="Equation" r:id="rId6" imgW="2438280" imgH="431640" progId="Equation.DSMT4">
                  <p:embed/>
                  <p:pic>
                    <p:nvPicPr>
                      <p:cNvPr id="0" name=""/>
                      <p:cNvPicPr>
                        <a:picLocks noChangeAspect="1" noChangeArrowheads="1"/>
                      </p:cNvPicPr>
                      <p:nvPr/>
                    </p:nvPicPr>
                    <p:blipFill>
                      <a:blip r:embed="rId7"/>
                      <a:srcRect/>
                      <a:stretch>
                        <a:fillRect/>
                      </a:stretch>
                    </p:blipFill>
                    <p:spPr bwMode="auto">
                      <a:xfrm>
                        <a:off x="12864752" y="4972942"/>
                        <a:ext cx="5335587" cy="944563"/>
                      </a:xfrm>
                      <a:prstGeom prst="rect">
                        <a:avLst/>
                      </a:prstGeom>
                      <a:noFill/>
                      <a:ln>
                        <a:noFill/>
                      </a:ln>
                      <a:effectLst/>
                    </p:spPr>
                  </p:pic>
                </p:oleObj>
              </mc:Fallback>
            </mc:AlternateContent>
          </a:graphicData>
        </a:graphic>
      </p:graphicFrame>
      <p:sp>
        <p:nvSpPr>
          <p:cNvPr id="11" name="Text Box 6"/>
          <p:cNvSpPr txBox="1">
            <a:spLocks noChangeArrowheads="1"/>
          </p:cNvSpPr>
          <p:nvPr/>
        </p:nvSpPr>
        <p:spPr bwMode="auto">
          <a:xfrm>
            <a:off x="7049626" y="311533"/>
            <a:ext cx="3363421"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CN" sz="2400" dirty="0">
                <a:solidFill>
                  <a:srgbClr val="000000"/>
                </a:solidFill>
              </a:rPr>
              <a:t>H(S)=-</a:t>
            </a:r>
            <a:r>
              <a:rPr lang="en-US" altLang="zh-CN" sz="2400" dirty="0">
                <a:solidFill>
                  <a:srgbClr val="000000"/>
                </a:solidFill>
                <a:latin typeface="Symbol" pitchFamily="18" charset="2"/>
                <a:sym typeface="Symbol" pitchFamily="18" charset="2"/>
              </a:rPr>
              <a:t></a:t>
            </a:r>
            <a:r>
              <a:rPr lang="en-US" altLang="zh-CN" sz="2400" baseline="-25000" dirty="0" err="1">
                <a:solidFill>
                  <a:srgbClr val="000000"/>
                </a:solidFill>
                <a:sym typeface="Symbol" pitchFamily="18" charset="2"/>
              </a:rPr>
              <a:t>i</a:t>
            </a:r>
            <a:r>
              <a:rPr lang="en-US" altLang="zh-CN" sz="2400" dirty="0">
                <a:solidFill>
                  <a:srgbClr val="000000"/>
                </a:solidFill>
              </a:rPr>
              <a:t> P(c</a:t>
            </a:r>
            <a:r>
              <a:rPr lang="en-US" altLang="zh-CN" sz="2400" baseline="-25000" dirty="0">
                <a:solidFill>
                  <a:srgbClr val="000000"/>
                </a:solidFill>
              </a:rPr>
              <a:t>i</a:t>
            </a:r>
            <a:r>
              <a:rPr lang="en-US" altLang="zh-CN" sz="2400" dirty="0">
                <a:solidFill>
                  <a:srgbClr val="000000"/>
                </a:solidFill>
              </a:rPr>
              <a:t>) log</a:t>
            </a:r>
            <a:r>
              <a:rPr lang="en-US" altLang="zh-CN" sz="2400" baseline="-25000" dirty="0">
                <a:solidFill>
                  <a:srgbClr val="000000"/>
                </a:solidFill>
              </a:rPr>
              <a:t>2</a:t>
            </a:r>
            <a:r>
              <a:rPr lang="en-US" altLang="zh-CN" sz="2400" dirty="0">
                <a:solidFill>
                  <a:srgbClr val="000000"/>
                </a:solidFill>
              </a:rPr>
              <a:t> P(c</a:t>
            </a:r>
            <a:r>
              <a:rPr lang="en-US" altLang="zh-CN" sz="2400" baseline="-25000" dirty="0">
                <a:solidFill>
                  <a:srgbClr val="000000"/>
                </a:solidFill>
              </a:rPr>
              <a:t>i</a:t>
            </a:r>
            <a:r>
              <a:rPr lang="en-US" altLang="zh-CN" sz="2400" dirty="0">
                <a:solidFill>
                  <a:srgbClr val="000000"/>
                </a:solidFill>
              </a:rPr>
              <a:t>)</a:t>
            </a:r>
          </a:p>
        </p:txBody>
      </p:sp>
    </p:spTree>
    <p:extLst>
      <p:ext uri="{BB962C8B-B14F-4D97-AF65-F5344CB8AC3E}">
        <p14:creationId xmlns:p14="http://schemas.microsoft.com/office/powerpoint/2010/main" val="2036136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7399" name="Group 7"/>
          <p:cNvGraphicFramePr>
            <a:graphicFrameLocks noGrp="1"/>
          </p:cNvGraphicFramePr>
          <p:nvPr>
            <p:extLst>
              <p:ext uri="{D42A27DB-BD31-4B8C-83A1-F6EECF244321}">
                <p14:modId xmlns:p14="http://schemas.microsoft.com/office/powerpoint/2010/main" val="3039591272"/>
              </p:ext>
            </p:extLst>
          </p:nvPr>
        </p:nvGraphicFramePr>
        <p:xfrm>
          <a:off x="479376" y="1029473"/>
          <a:ext cx="4537075" cy="5272724"/>
        </p:xfrm>
        <a:graphic>
          <a:graphicData uri="http://schemas.openxmlformats.org/drawingml/2006/table">
            <a:tbl>
              <a:tblPr/>
              <a:tblGrid>
                <a:gridCol w="512762">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3">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extLst>
                  <a:ext uri="{0D108BD9-81ED-4DB2-BD59-A6C34878D82A}">
                    <a16:rowId xmlns:a16="http://schemas.microsoft.com/office/drawing/2014/main" val="10015"/>
                  </a:ext>
                </a:extLst>
              </a:tr>
            </a:tbl>
          </a:graphicData>
        </a:graphic>
      </p:graphicFrame>
      <p:sp>
        <p:nvSpPr>
          <p:cNvPr id="57467" name="Text Box 128"/>
          <p:cNvSpPr txBox="1">
            <a:spLocks noChangeArrowheads="1"/>
          </p:cNvSpPr>
          <p:nvPr/>
        </p:nvSpPr>
        <p:spPr bwMode="auto">
          <a:xfrm>
            <a:off x="5421168" y="958922"/>
            <a:ext cx="4914946"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a:t>
            </a:r>
          </a:p>
        </p:txBody>
      </p:sp>
      <p:sp>
        <p:nvSpPr>
          <p:cNvPr id="57468" name="Text Box 129"/>
          <p:cNvSpPr txBox="1">
            <a:spLocks noChangeArrowheads="1"/>
          </p:cNvSpPr>
          <p:nvPr/>
        </p:nvSpPr>
        <p:spPr bwMode="auto">
          <a:xfrm>
            <a:off x="6367706" y="1961782"/>
            <a:ext cx="4067176" cy="1938992"/>
          </a:xfrm>
          <a:prstGeom prst="rect">
            <a:avLst/>
          </a:prstGeom>
          <a:noFill/>
          <a:ln w="9525">
            <a:noFill/>
            <a:miter lim="800000"/>
            <a:headEnd/>
            <a:tailEnd/>
          </a:ln>
        </p:spPr>
        <p:txBody>
          <a:bodyPr wrap="square">
            <a:spAutoFit/>
          </a:bodyPr>
          <a:lstStyle/>
          <a:p>
            <a:r>
              <a:rPr lang="zh-CN" altLang="en-US" sz="2000" dirty="0">
                <a:solidFill>
                  <a:srgbClr val="000000"/>
                </a:solidFill>
              </a:rPr>
              <a:t>条件属性共有</a:t>
            </a:r>
            <a:r>
              <a:rPr lang="en-US" altLang="zh-CN" sz="2000" dirty="0">
                <a:solidFill>
                  <a:srgbClr val="000000"/>
                </a:solidFill>
              </a:rPr>
              <a:t>4</a:t>
            </a:r>
            <a:r>
              <a:rPr lang="zh-CN" altLang="en-US" sz="2000" dirty="0">
                <a:solidFill>
                  <a:srgbClr val="000000"/>
                </a:solidFill>
              </a:rPr>
              <a:t>个。分别是年龄、</a:t>
            </a:r>
          </a:p>
          <a:p>
            <a:r>
              <a:rPr lang="zh-CN" altLang="en-US" sz="2000" dirty="0">
                <a:solidFill>
                  <a:srgbClr val="000000"/>
                </a:solidFill>
              </a:rPr>
              <a:t>收入、学生、信誉。</a:t>
            </a:r>
            <a:endParaRPr lang="en-US" altLang="zh-CN" sz="2000" dirty="0">
              <a:solidFill>
                <a:srgbClr val="000000"/>
              </a:solidFill>
            </a:endParaRPr>
          </a:p>
          <a:p>
            <a:endParaRPr lang="zh-CN" altLang="en-US" sz="2000" dirty="0">
              <a:solidFill>
                <a:srgbClr val="000000"/>
              </a:solidFill>
            </a:endParaRPr>
          </a:p>
          <a:p>
            <a:r>
              <a:rPr lang="zh-CN" altLang="en-US" sz="2000" dirty="0">
                <a:solidFill>
                  <a:srgbClr val="000000"/>
                </a:solidFill>
              </a:rPr>
              <a:t>分别计算不同属性划分时的信息增益。</a:t>
            </a:r>
          </a:p>
          <a:p>
            <a:endParaRPr lang="en-US" altLang="zh-CN" sz="2000" dirty="0">
              <a:solidFill>
                <a:srgbClr val="000000"/>
              </a:solidFill>
            </a:endParaRPr>
          </a:p>
        </p:txBody>
      </p:sp>
      <p:sp>
        <p:nvSpPr>
          <p:cNvPr id="57469" name="Text Box 130"/>
          <p:cNvSpPr txBox="1">
            <a:spLocks noChangeArrowheads="1"/>
          </p:cNvSpPr>
          <p:nvPr/>
        </p:nvSpPr>
        <p:spPr bwMode="auto">
          <a:xfrm>
            <a:off x="4800600" y="428604"/>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14</a:t>
            </a:fld>
            <a:endParaRPr lang="en-US" altLang="zh-CN"/>
          </a:p>
        </p:txBody>
      </p:sp>
      <p:graphicFrame>
        <p:nvGraphicFramePr>
          <p:cNvPr id="7" name="Object 1"/>
          <p:cNvGraphicFramePr>
            <a:graphicFrameLocks noChangeAspect="1"/>
          </p:cNvGraphicFramePr>
          <p:nvPr>
            <p:extLst>
              <p:ext uri="{D42A27DB-BD31-4B8C-83A1-F6EECF244321}">
                <p14:modId xmlns:p14="http://schemas.microsoft.com/office/powerpoint/2010/main" val="176101618"/>
              </p:ext>
            </p:extLst>
          </p:nvPr>
        </p:nvGraphicFramePr>
        <p:xfrm>
          <a:off x="7320136" y="100924"/>
          <a:ext cx="2983608" cy="655359"/>
        </p:xfrm>
        <a:graphic>
          <a:graphicData uri="http://schemas.openxmlformats.org/presentationml/2006/ole">
            <mc:AlternateContent xmlns:mc="http://schemas.openxmlformats.org/markup-compatibility/2006">
              <mc:Choice xmlns:v="urn:schemas-microsoft-com:vml" Requires="v">
                <p:oleObj spid="_x0000_s517210" name="Equation" r:id="rId3" imgW="1943100" imgH="431800" progId="Equation.DSMT4">
                  <p:embed/>
                </p:oleObj>
              </mc:Choice>
              <mc:Fallback>
                <p:oleObj name="Equation" r:id="rId3" imgW="1943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36" y="100924"/>
                        <a:ext cx="2983608" cy="655359"/>
                      </a:xfrm>
                      <a:prstGeom prst="rect">
                        <a:avLst/>
                      </a:prstGeom>
                      <a:noFill/>
                      <a:ln w="9525">
                        <a:solidFill>
                          <a:srgbClr val="FF0000"/>
                        </a:solidFill>
                        <a:miter lim="800000"/>
                        <a:headEnd/>
                        <a:tailEnd/>
                      </a:ln>
                    </p:spPr>
                  </p:pic>
                </p:oleObj>
              </mc:Fallback>
            </mc:AlternateContent>
          </a:graphicData>
        </a:graphic>
      </p:graphicFrame>
    </p:spTree>
    <p:extLst>
      <p:ext uri="{BB962C8B-B14F-4D97-AF65-F5344CB8AC3E}">
        <p14:creationId xmlns:p14="http://schemas.microsoft.com/office/powerpoint/2010/main" val="2407180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8552" name="Group 136"/>
          <p:cNvGraphicFramePr>
            <a:graphicFrameLocks noGrp="1"/>
          </p:cNvGraphicFramePr>
          <p:nvPr>
            <p:extLst>
              <p:ext uri="{D42A27DB-BD31-4B8C-83A1-F6EECF244321}">
                <p14:modId xmlns:p14="http://schemas.microsoft.com/office/powerpoint/2010/main" val="3598180434"/>
              </p:ext>
            </p:extLst>
          </p:nvPr>
        </p:nvGraphicFramePr>
        <p:xfrm>
          <a:off x="874382" y="1055779"/>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bg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58491" name="Text Box 128"/>
          <p:cNvSpPr txBox="1">
            <a:spLocks noChangeArrowheads="1"/>
          </p:cNvSpPr>
          <p:nvPr/>
        </p:nvSpPr>
        <p:spPr bwMode="auto">
          <a:xfrm>
            <a:off x="6021919" y="1326662"/>
            <a:ext cx="3889206"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2-1</a:t>
            </a:r>
            <a:r>
              <a:rPr lang="zh-CN" altLang="en-US" sz="2000" dirty="0">
                <a:solidFill>
                  <a:srgbClr val="FF0000"/>
                </a:solidFill>
              </a:rPr>
              <a:t>步计算利用年龄划分时的熵</a:t>
            </a:r>
          </a:p>
        </p:txBody>
      </p:sp>
      <p:sp>
        <p:nvSpPr>
          <p:cNvPr id="58492" name="Text Box 129"/>
          <p:cNvSpPr txBox="1">
            <a:spLocks noChangeArrowheads="1"/>
          </p:cNvSpPr>
          <p:nvPr/>
        </p:nvSpPr>
        <p:spPr bwMode="auto">
          <a:xfrm>
            <a:off x="5804148" y="1804187"/>
            <a:ext cx="4981569" cy="4339650"/>
          </a:xfrm>
          <a:prstGeom prst="rect">
            <a:avLst/>
          </a:prstGeom>
          <a:noFill/>
          <a:ln w="9525">
            <a:noFill/>
            <a:miter lim="800000"/>
            <a:headEnd/>
            <a:tailEnd/>
          </a:ln>
        </p:spPr>
        <p:txBody>
          <a:bodyPr wrap="square">
            <a:spAutoFit/>
          </a:bodyPr>
          <a:lstStyle/>
          <a:p>
            <a:r>
              <a:rPr lang="zh-CN" altLang="en-US" sz="2000" dirty="0">
                <a:solidFill>
                  <a:srgbClr val="000000"/>
                </a:solidFill>
              </a:rPr>
              <a:t>年龄共分三个组： 青年、中年、老年</a:t>
            </a:r>
            <a:endParaRPr lang="en-US" altLang="zh-CN" sz="2000" dirty="0">
              <a:solidFill>
                <a:srgbClr val="000000"/>
              </a:solidFill>
            </a:endParaRPr>
          </a:p>
          <a:p>
            <a:endParaRPr lang="zh-CN" altLang="en-US" sz="2000" dirty="0">
              <a:solidFill>
                <a:srgbClr val="000000"/>
              </a:solidFill>
            </a:endParaRPr>
          </a:p>
          <a:p>
            <a:r>
              <a:rPr lang="zh-CN" altLang="en-US" sz="2000" dirty="0">
                <a:solidFill>
                  <a:srgbClr val="0000FF"/>
                </a:solidFill>
              </a:rPr>
              <a:t>年龄 取值 为“青年“时</a:t>
            </a:r>
            <a:r>
              <a:rPr lang="zh-CN" altLang="en-US" sz="2000" dirty="0">
                <a:solidFill>
                  <a:srgbClr val="000000"/>
                </a:solidFill>
              </a:rPr>
              <a:t>：</a:t>
            </a:r>
            <a:endParaRPr lang="en-US" altLang="zh-CN" sz="2000" dirty="0">
              <a:solidFill>
                <a:srgbClr val="000000"/>
              </a:solidFill>
            </a:endParaRPr>
          </a:p>
          <a:p>
            <a:endParaRPr lang="en-US" altLang="zh-CN" dirty="0">
              <a:solidFill>
                <a:srgbClr val="000000"/>
              </a:solidFill>
            </a:endParaRPr>
          </a:p>
          <a:p>
            <a:r>
              <a:rPr lang="zh-CN" altLang="en-US" dirty="0">
                <a:solidFill>
                  <a:srgbClr val="000000"/>
                </a:solidFill>
              </a:rPr>
              <a:t>青年买与不买比例为</a:t>
            </a:r>
            <a:r>
              <a:rPr lang="en-US" altLang="zh-CN" dirty="0">
                <a:solidFill>
                  <a:srgbClr val="000000"/>
                </a:solidFill>
              </a:rPr>
              <a:t>128/256</a:t>
            </a:r>
          </a:p>
          <a:p>
            <a:r>
              <a:rPr lang="en-US" altLang="zh-CN" dirty="0">
                <a:solidFill>
                  <a:srgbClr val="000000"/>
                </a:solidFill>
              </a:rPr>
              <a:t>S1(</a:t>
            </a:r>
            <a:r>
              <a:rPr lang="zh-CN" altLang="en-US" dirty="0">
                <a:solidFill>
                  <a:srgbClr val="000000"/>
                </a:solidFill>
              </a:rPr>
              <a:t>买</a:t>
            </a:r>
            <a:r>
              <a:rPr lang="en-US" altLang="zh-CN" dirty="0">
                <a:solidFill>
                  <a:srgbClr val="000000"/>
                </a:solidFill>
              </a:rPr>
              <a:t>)=128            </a:t>
            </a:r>
          </a:p>
          <a:p>
            <a:r>
              <a:rPr lang="en-US" altLang="zh-CN" dirty="0">
                <a:solidFill>
                  <a:srgbClr val="000000"/>
                </a:solidFill>
              </a:rPr>
              <a:t>S2</a:t>
            </a:r>
            <a:r>
              <a:rPr lang="zh-CN" altLang="en-US" dirty="0">
                <a:solidFill>
                  <a:srgbClr val="000000"/>
                </a:solidFill>
              </a:rPr>
              <a:t>（不买）</a:t>
            </a:r>
            <a:r>
              <a:rPr lang="en-US" altLang="zh-CN" dirty="0">
                <a:solidFill>
                  <a:srgbClr val="000000"/>
                </a:solidFill>
              </a:rPr>
              <a:t>= 256</a:t>
            </a:r>
          </a:p>
          <a:p>
            <a:r>
              <a:rPr lang="en-US" altLang="zh-CN" dirty="0">
                <a:solidFill>
                  <a:srgbClr val="000000"/>
                </a:solidFill>
              </a:rPr>
              <a:t>S=S1+S2=384</a:t>
            </a:r>
          </a:p>
          <a:p>
            <a:endParaRPr lang="en-US" altLang="zh-CN" dirty="0">
              <a:solidFill>
                <a:srgbClr val="000000"/>
              </a:solidFill>
            </a:endParaRPr>
          </a:p>
          <a:p>
            <a:r>
              <a:rPr lang="en-US" altLang="zh-CN" dirty="0">
                <a:solidFill>
                  <a:srgbClr val="000000"/>
                </a:solidFill>
              </a:rPr>
              <a:t>P1=128/384,       P2=256/384</a:t>
            </a:r>
          </a:p>
          <a:p>
            <a:endParaRPr lang="en-US" altLang="zh-CN" dirty="0">
              <a:solidFill>
                <a:srgbClr val="000000"/>
              </a:solidFill>
            </a:endParaRPr>
          </a:p>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青年买计算机？</a:t>
            </a:r>
            <a:r>
              <a:rPr lang="en-US" altLang="zh-CN" dirty="0">
                <a:solidFill>
                  <a:srgbClr val="000000"/>
                </a:solidFill>
              </a:rPr>
              <a:t>)=</a:t>
            </a:r>
          </a:p>
          <a:p>
            <a:r>
              <a:rPr lang="en-US" altLang="zh-CN" dirty="0">
                <a:solidFill>
                  <a:srgbClr val="000000"/>
                </a:solidFill>
              </a:rPr>
              <a:t>I([S1,S2]) = I([128,256])</a:t>
            </a:r>
          </a:p>
          <a:p>
            <a:r>
              <a:rPr lang="en-US" altLang="zh-CN" dirty="0">
                <a:solidFill>
                  <a:srgbClr val="000000"/>
                </a:solidFill>
              </a:rPr>
              <a:t>                = -(P1Log</a:t>
            </a:r>
            <a:r>
              <a:rPr lang="en-US" altLang="zh-CN" baseline="-25000" dirty="0">
                <a:solidFill>
                  <a:srgbClr val="000000"/>
                </a:solidFill>
              </a:rPr>
              <a:t>2</a:t>
            </a:r>
            <a:r>
              <a:rPr lang="en-US" altLang="zh-CN" dirty="0">
                <a:solidFill>
                  <a:srgbClr val="000000"/>
                </a:solidFill>
              </a:rPr>
              <a:t>P1+P2Log</a:t>
            </a:r>
            <a:r>
              <a:rPr lang="en-US" altLang="zh-CN" baseline="-25000" dirty="0">
                <a:solidFill>
                  <a:srgbClr val="000000"/>
                </a:solidFill>
              </a:rPr>
              <a:t>2</a:t>
            </a:r>
            <a:r>
              <a:rPr lang="en-US" altLang="zh-CN" dirty="0">
                <a:solidFill>
                  <a:srgbClr val="000000"/>
                </a:solidFill>
              </a:rPr>
              <a:t>P2)</a:t>
            </a:r>
          </a:p>
          <a:p>
            <a:r>
              <a:rPr lang="en-US" altLang="zh-CN" dirty="0">
                <a:solidFill>
                  <a:srgbClr val="000000"/>
                </a:solidFill>
              </a:rPr>
              <a:t>                = 0.9183</a:t>
            </a:r>
          </a:p>
        </p:txBody>
      </p:sp>
      <p:sp>
        <p:nvSpPr>
          <p:cNvPr id="58493" name="Text Box 130"/>
          <p:cNvSpPr txBox="1">
            <a:spLocks noChangeArrowheads="1"/>
          </p:cNvSpPr>
          <p:nvPr/>
        </p:nvSpPr>
        <p:spPr bwMode="auto">
          <a:xfrm>
            <a:off x="4800600" y="409558"/>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15</a:t>
            </a:fld>
            <a:endParaRPr lang="en-US" altLang="zh-CN"/>
          </a:p>
        </p:txBody>
      </p:sp>
      <p:sp>
        <p:nvSpPr>
          <p:cNvPr id="7" name="矩形 6"/>
          <p:cNvSpPr/>
          <p:nvPr/>
        </p:nvSpPr>
        <p:spPr>
          <a:xfrm>
            <a:off x="9408368" y="5959171"/>
            <a:ext cx="2571538" cy="369332"/>
          </a:xfrm>
          <a:prstGeom prst="rect">
            <a:avLst/>
          </a:prstGeom>
          <a:solidFill>
            <a:schemeClr val="bg1"/>
          </a:solidFill>
          <a:ln>
            <a:solidFill>
              <a:srgbClr val="FF0000"/>
            </a:solidFill>
          </a:ln>
        </p:spPr>
        <p:txBody>
          <a:bodyPr wrap="none">
            <a:spAutoFit/>
          </a:bodyPr>
          <a:lstStyle/>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青年买计算机？</a:t>
            </a:r>
            <a:r>
              <a:rPr lang="en-US" altLang="zh-CN" dirty="0">
                <a:solidFill>
                  <a:srgbClr val="000000"/>
                </a:solidFill>
              </a:rPr>
              <a:t>)</a:t>
            </a:r>
            <a:endParaRPr lang="zh-CN" altLang="en-US" dirty="0">
              <a:solidFill>
                <a:srgbClr val="000000"/>
              </a:solidFill>
            </a:endParaRPr>
          </a:p>
        </p:txBody>
      </p:sp>
      <p:graphicFrame>
        <p:nvGraphicFramePr>
          <p:cNvPr id="8" name="Object 1"/>
          <p:cNvGraphicFramePr>
            <a:graphicFrameLocks noChangeAspect="1"/>
          </p:cNvGraphicFramePr>
          <p:nvPr/>
        </p:nvGraphicFramePr>
        <p:xfrm>
          <a:off x="6747140" y="241246"/>
          <a:ext cx="2735535" cy="600869"/>
        </p:xfrm>
        <a:graphic>
          <a:graphicData uri="http://schemas.openxmlformats.org/presentationml/2006/ole">
            <mc:AlternateContent xmlns:mc="http://schemas.openxmlformats.org/markup-compatibility/2006">
              <mc:Choice xmlns:v="urn:schemas-microsoft-com:vml" Requires="v">
                <p:oleObj spid="_x0000_s518234" name="Equation" r:id="rId3" imgW="1943100" imgH="431800" progId="Equation.DSMT4">
                  <p:embed/>
                </p:oleObj>
              </mc:Choice>
              <mc:Fallback>
                <p:oleObj name="Equation" r:id="rId3" imgW="1943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140" y="241246"/>
                        <a:ext cx="2735535" cy="600869"/>
                      </a:xfrm>
                      <a:prstGeom prst="rect">
                        <a:avLst/>
                      </a:prstGeom>
                      <a:noFill/>
                      <a:ln w="9525">
                        <a:solidFill>
                          <a:srgbClr val="FF0000"/>
                        </a:solidFill>
                        <a:miter lim="800000"/>
                        <a:headEnd/>
                        <a:tailEnd/>
                      </a:ln>
                    </p:spPr>
                  </p:pic>
                </p:oleObj>
              </mc:Fallback>
            </mc:AlternateContent>
          </a:graphicData>
        </a:graphic>
      </p:graphicFrame>
      <p:sp>
        <p:nvSpPr>
          <p:cNvPr id="9" name="Text Box 128"/>
          <p:cNvSpPr txBox="1">
            <a:spLocks noChangeArrowheads="1"/>
          </p:cNvSpPr>
          <p:nvPr/>
        </p:nvSpPr>
        <p:spPr bwMode="auto">
          <a:xfrm>
            <a:off x="5421168" y="958922"/>
            <a:ext cx="5653232"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计算利用不同属性进行划分时的熵（续）</a:t>
            </a:r>
          </a:p>
        </p:txBody>
      </p:sp>
    </p:spTree>
    <p:extLst>
      <p:ext uri="{BB962C8B-B14F-4D97-AF65-F5344CB8AC3E}">
        <p14:creationId xmlns:p14="http://schemas.microsoft.com/office/powerpoint/2010/main" val="2100053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0469" name="Group 5"/>
          <p:cNvGraphicFramePr>
            <a:graphicFrameLocks noGrp="1"/>
          </p:cNvGraphicFramePr>
          <p:nvPr>
            <p:extLst>
              <p:ext uri="{D42A27DB-BD31-4B8C-83A1-F6EECF244321}">
                <p14:modId xmlns:p14="http://schemas.microsoft.com/office/powerpoint/2010/main" val="1883037192"/>
              </p:ext>
            </p:extLst>
          </p:nvPr>
        </p:nvGraphicFramePr>
        <p:xfrm>
          <a:off x="572676" y="1108604"/>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59515" name="Text Box 126"/>
          <p:cNvSpPr txBox="1">
            <a:spLocks noChangeArrowheads="1"/>
          </p:cNvSpPr>
          <p:nvPr/>
        </p:nvSpPr>
        <p:spPr bwMode="auto">
          <a:xfrm>
            <a:off x="6077516" y="1318061"/>
            <a:ext cx="3889206"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2-2</a:t>
            </a:r>
            <a:r>
              <a:rPr lang="zh-CN" altLang="en-US" sz="2000" dirty="0">
                <a:solidFill>
                  <a:srgbClr val="FF0000"/>
                </a:solidFill>
              </a:rPr>
              <a:t>步计算利用年龄划分时的熵</a:t>
            </a:r>
          </a:p>
        </p:txBody>
      </p:sp>
      <p:sp>
        <p:nvSpPr>
          <p:cNvPr id="59516" name="Text Box 127"/>
          <p:cNvSpPr txBox="1">
            <a:spLocks noChangeArrowheads="1"/>
          </p:cNvSpPr>
          <p:nvPr/>
        </p:nvSpPr>
        <p:spPr bwMode="auto">
          <a:xfrm>
            <a:off x="6077516" y="1781970"/>
            <a:ext cx="4824536" cy="4647426"/>
          </a:xfrm>
          <a:prstGeom prst="rect">
            <a:avLst/>
          </a:prstGeom>
          <a:noFill/>
          <a:ln w="9525">
            <a:noFill/>
            <a:miter lim="800000"/>
            <a:headEnd/>
            <a:tailEnd/>
          </a:ln>
        </p:spPr>
        <p:txBody>
          <a:bodyPr wrap="square">
            <a:spAutoFit/>
          </a:bodyPr>
          <a:lstStyle/>
          <a:p>
            <a:r>
              <a:rPr lang="zh-CN" altLang="en-US" sz="2000" dirty="0">
                <a:solidFill>
                  <a:srgbClr val="000000"/>
                </a:solidFill>
              </a:rPr>
              <a:t>年龄共分三个组： 青年、中年、老年</a:t>
            </a:r>
            <a:endParaRPr lang="en-US" altLang="zh-CN" sz="2000" dirty="0">
              <a:solidFill>
                <a:srgbClr val="000000"/>
              </a:solidFill>
            </a:endParaRPr>
          </a:p>
          <a:p>
            <a:endParaRPr lang="en-US" altLang="zh-CN" sz="2000" dirty="0">
              <a:solidFill>
                <a:srgbClr val="000000"/>
              </a:solidFill>
            </a:endParaRPr>
          </a:p>
          <a:p>
            <a:r>
              <a:rPr lang="zh-CN" altLang="en-US" sz="2000" dirty="0">
                <a:solidFill>
                  <a:srgbClr val="0000FF"/>
                </a:solidFill>
              </a:rPr>
              <a:t>年龄 取值 为“中年“时：</a:t>
            </a:r>
            <a:endParaRPr lang="zh-CN" altLang="en-US" sz="2000" dirty="0">
              <a:solidFill>
                <a:srgbClr val="000000"/>
              </a:solidFill>
            </a:endParaRPr>
          </a:p>
          <a:p>
            <a:endParaRPr lang="en-US" altLang="zh-CN" sz="2000" dirty="0">
              <a:solidFill>
                <a:srgbClr val="000000"/>
              </a:solidFill>
            </a:endParaRPr>
          </a:p>
          <a:p>
            <a:r>
              <a:rPr lang="zh-CN" altLang="en-US" dirty="0">
                <a:solidFill>
                  <a:srgbClr val="000000"/>
                </a:solidFill>
              </a:rPr>
              <a:t>中年买与不买比例为</a:t>
            </a:r>
            <a:r>
              <a:rPr lang="en-US" altLang="zh-CN" dirty="0">
                <a:solidFill>
                  <a:srgbClr val="000000"/>
                </a:solidFill>
              </a:rPr>
              <a:t>256/0</a:t>
            </a:r>
          </a:p>
          <a:p>
            <a:r>
              <a:rPr lang="en-US" altLang="zh-CN" dirty="0">
                <a:solidFill>
                  <a:srgbClr val="000000"/>
                </a:solidFill>
              </a:rPr>
              <a:t>S1(</a:t>
            </a:r>
            <a:r>
              <a:rPr lang="zh-CN" altLang="en-US" dirty="0">
                <a:solidFill>
                  <a:srgbClr val="000000"/>
                </a:solidFill>
              </a:rPr>
              <a:t>买</a:t>
            </a:r>
            <a:r>
              <a:rPr lang="en-US" altLang="zh-CN" dirty="0">
                <a:solidFill>
                  <a:srgbClr val="000000"/>
                </a:solidFill>
              </a:rPr>
              <a:t>)=256       </a:t>
            </a:r>
          </a:p>
          <a:p>
            <a:r>
              <a:rPr lang="en-US" altLang="zh-CN" dirty="0">
                <a:solidFill>
                  <a:srgbClr val="000000"/>
                </a:solidFill>
              </a:rPr>
              <a:t>S2</a:t>
            </a:r>
            <a:r>
              <a:rPr lang="zh-CN" altLang="en-US" dirty="0">
                <a:solidFill>
                  <a:srgbClr val="000000"/>
                </a:solidFill>
              </a:rPr>
              <a:t>（不买）</a:t>
            </a:r>
            <a:r>
              <a:rPr lang="en-US" altLang="zh-CN" dirty="0">
                <a:solidFill>
                  <a:srgbClr val="000000"/>
                </a:solidFill>
              </a:rPr>
              <a:t>= 0</a:t>
            </a:r>
          </a:p>
          <a:p>
            <a:r>
              <a:rPr lang="en-US" altLang="zh-CN" dirty="0">
                <a:solidFill>
                  <a:srgbClr val="000000"/>
                </a:solidFill>
              </a:rPr>
              <a:t>S=S1+S2=256</a:t>
            </a:r>
          </a:p>
          <a:p>
            <a:endParaRPr lang="en-US" altLang="zh-CN" dirty="0">
              <a:solidFill>
                <a:srgbClr val="000000"/>
              </a:solidFill>
            </a:endParaRPr>
          </a:p>
          <a:p>
            <a:r>
              <a:rPr lang="en-US" altLang="zh-CN" dirty="0">
                <a:solidFill>
                  <a:srgbClr val="000000"/>
                </a:solidFill>
              </a:rPr>
              <a:t>P1=256/256</a:t>
            </a:r>
          </a:p>
          <a:p>
            <a:r>
              <a:rPr lang="en-US" altLang="zh-CN" dirty="0">
                <a:solidFill>
                  <a:srgbClr val="000000"/>
                </a:solidFill>
              </a:rPr>
              <a:t>P2=0/256</a:t>
            </a:r>
          </a:p>
          <a:p>
            <a:endParaRPr lang="en-US" altLang="zh-CN" dirty="0">
              <a:solidFill>
                <a:srgbClr val="000000"/>
              </a:solidFill>
            </a:endParaRPr>
          </a:p>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中年买计算机？</a:t>
            </a:r>
            <a:r>
              <a:rPr lang="en-US" altLang="zh-CN" dirty="0">
                <a:solidFill>
                  <a:srgbClr val="000000"/>
                </a:solidFill>
              </a:rPr>
              <a:t>) =</a:t>
            </a:r>
            <a:endParaRPr lang="zh-CN" altLang="en-US" dirty="0">
              <a:solidFill>
                <a:srgbClr val="000000"/>
              </a:solidFill>
            </a:endParaRPr>
          </a:p>
          <a:p>
            <a:r>
              <a:rPr lang="en-US" altLang="zh-CN" dirty="0">
                <a:solidFill>
                  <a:srgbClr val="000000"/>
                </a:solidFill>
              </a:rPr>
              <a:t>I([S1,S2]) = I([256</a:t>
            </a:r>
            <a:r>
              <a:rPr lang="zh-CN" altLang="en-US" dirty="0">
                <a:solidFill>
                  <a:srgbClr val="000000"/>
                </a:solidFill>
              </a:rPr>
              <a:t>，</a:t>
            </a:r>
            <a:r>
              <a:rPr lang="en-US" altLang="zh-CN" dirty="0">
                <a:solidFill>
                  <a:srgbClr val="000000"/>
                </a:solidFill>
              </a:rPr>
              <a:t>0])</a:t>
            </a:r>
          </a:p>
          <a:p>
            <a:r>
              <a:rPr lang="en-US" altLang="zh-CN" dirty="0">
                <a:solidFill>
                  <a:srgbClr val="000000"/>
                </a:solidFill>
              </a:rPr>
              <a:t>    =-(P1Log</a:t>
            </a:r>
            <a:r>
              <a:rPr lang="en-US" altLang="zh-CN" baseline="-25000" dirty="0">
                <a:solidFill>
                  <a:srgbClr val="000000"/>
                </a:solidFill>
              </a:rPr>
              <a:t>2</a:t>
            </a:r>
            <a:r>
              <a:rPr lang="en-US" altLang="zh-CN" dirty="0">
                <a:solidFill>
                  <a:srgbClr val="000000"/>
                </a:solidFill>
              </a:rPr>
              <a:t>P1+P2Log</a:t>
            </a:r>
            <a:r>
              <a:rPr lang="en-US" altLang="zh-CN" baseline="-25000" dirty="0">
                <a:solidFill>
                  <a:srgbClr val="000000"/>
                </a:solidFill>
              </a:rPr>
              <a:t>2</a:t>
            </a:r>
            <a:r>
              <a:rPr lang="en-US" altLang="zh-CN" dirty="0">
                <a:solidFill>
                  <a:srgbClr val="000000"/>
                </a:solidFill>
              </a:rPr>
              <a:t>P2)</a:t>
            </a:r>
          </a:p>
          <a:p>
            <a:r>
              <a:rPr lang="en-US" altLang="zh-CN" dirty="0">
                <a:solidFill>
                  <a:srgbClr val="000000"/>
                </a:solidFill>
              </a:rPr>
              <a:t>    =0</a:t>
            </a:r>
          </a:p>
        </p:txBody>
      </p:sp>
      <p:sp>
        <p:nvSpPr>
          <p:cNvPr id="59517" name="Text Box 128"/>
          <p:cNvSpPr txBox="1">
            <a:spLocks noChangeArrowheads="1"/>
          </p:cNvSpPr>
          <p:nvPr/>
        </p:nvSpPr>
        <p:spPr bwMode="auto">
          <a:xfrm>
            <a:off x="4800600" y="357166"/>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16</a:t>
            </a:fld>
            <a:endParaRPr lang="en-US" altLang="zh-CN"/>
          </a:p>
        </p:txBody>
      </p:sp>
      <p:sp>
        <p:nvSpPr>
          <p:cNvPr id="7" name="矩形 6"/>
          <p:cNvSpPr/>
          <p:nvPr/>
        </p:nvSpPr>
        <p:spPr>
          <a:xfrm>
            <a:off x="9482675" y="6011996"/>
            <a:ext cx="2494594" cy="369332"/>
          </a:xfrm>
          <a:prstGeom prst="rect">
            <a:avLst/>
          </a:prstGeom>
          <a:solidFill>
            <a:schemeClr val="bg1"/>
          </a:solidFill>
          <a:ln>
            <a:solidFill>
              <a:srgbClr val="FF0000"/>
            </a:solidFill>
          </a:ln>
        </p:spPr>
        <p:txBody>
          <a:bodyPr wrap="none">
            <a:spAutoFit/>
          </a:bodyPr>
          <a:lstStyle/>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中年买计算机？</a:t>
            </a:r>
            <a:r>
              <a:rPr lang="en-US" altLang="zh-CN" dirty="0">
                <a:solidFill>
                  <a:srgbClr val="000000"/>
                </a:solidFill>
              </a:rPr>
              <a:t>)</a:t>
            </a:r>
            <a:endParaRPr lang="zh-CN" altLang="en-US" dirty="0">
              <a:solidFill>
                <a:srgbClr val="000000"/>
              </a:solidFill>
            </a:endParaRPr>
          </a:p>
        </p:txBody>
      </p:sp>
      <p:graphicFrame>
        <p:nvGraphicFramePr>
          <p:cNvPr id="9" name="Object 1"/>
          <p:cNvGraphicFramePr>
            <a:graphicFrameLocks noChangeAspect="1"/>
          </p:cNvGraphicFramePr>
          <p:nvPr/>
        </p:nvGraphicFramePr>
        <p:xfrm>
          <a:off x="6747140" y="241246"/>
          <a:ext cx="2735535" cy="600869"/>
        </p:xfrm>
        <a:graphic>
          <a:graphicData uri="http://schemas.openxmlformats.org/presentationml/2006/ole">
            <mc:AlternateContent xmlns:mc="http://schemas.openxmlformats.org/markup-compatibility/2006">
              <mc:Choice xmlns:v="urn:schemas-microsoft-com:vml" Requires="v">
                <p:oleObj spid="_x0000_s519257" name="Equation" r:id="rId3" imgW="1943100" imgH="431800" progId="Equation.DSMT4">
                  <p:embed/>
                </p:oleObj>
              </mc:Choice>
              <mc:Fallback>
                <p:oleObj name="Equation" r:id="rId3" imgW="1943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140" y="241246"/>
                        <a:ext cx="2735535" cy="600869"/>
                      </a:xfrm>
                      <a:prstGeom prst="rect">
                        <a:avLst/>
                      </a:prstGeom>
                      <a:noFill/>
                      <a:ln w="9525">
                        <a:solidFill>
                          <a:srgbClr val="FF0000"/>
                        </a:solidFill>
                        <a:miter lim="800000"/>
                        <a:headEnd/>
                        <a:tailEnd/>
                      </a:ln>
                    </p:spPr>
                  </p:pic>
                </p:oleObj>
              </mc:Fallback>
            </mc:AlternateContent>
          </a:graphicData>
        </a:graphic>
      </p:graphicFrame>
      <p:sp>
        <p:nvSpPr>
          <p:cNvPr id="10" name="Text Box 128"/>
          <p:cNvSpPr txBox="1">
            <a:spLocks noChangeArrowheads="1"/>
          </p:cNvSpPr>
          <p:nvPr/>
        </p:nvSpPr>
        <p:spPr bwMode="auto">
          <a:xfrm>
            <a:off x="5421168" y="958922"/>
            <a:ext cx="5653232"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计算利用不同属性进行划分时的熵（续）</a:t>
            </a:r>
          </a:p>
        </p:txBody>
      </p:sp>
    </p:spTree>
    <p:extLst>
      <p:ext uri="{BB962C8B-B14F-4D97-AF65-F5344CB8AC3E}">
        <p14:creationId xmlns:p14="http://schemas.microsoft.com/office/powerpoint/2010/main" val="3420516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1493" name="Group 5"/>
          <p:cNvGraphicFramePr>
            <a:graphicFrameLocks noGrp="1"/>
          </p:cNvGraphicFramePr>
          <p:nvPr>
            <p:extLst>
              <p:ext uri="{D42A27DB-BD31-4B8C-83A1-F6EECF244321}">
                <p14:modId xmlns:p14="http://schemas.microsoft.com/office/powerpoint/2010/main" val="3436163259"/>
              </p:ext>
            </p:extLst>
          </p:nvPr>
        </p:nvGraphicFramePr>
        <p:xfrm>
          <a:off x="551384" y="1099873"/>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accent1">
                        <a:lumMod val="40000"/>
                        <a:lumOff val="60000"/>
                      </a:schemeClr>
                    </a:solid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15"/>
                  </a:ext>
                </a:extLst>
              </a:tr>
            </a:tbl>
          </a:graphicData>
        </a:graphic>
      </p:graphicFrame>
      <p:sp>
        <p:nvSpPr>
          <p:cNvPr id="60539" name="Text Box 126"/>
          <p:cNvSpPr txBox="1">
            <a:spLocks noChangeArrowheads="1"/>
          </p:cNvSpPr>
          <p:nvPr/>
        </p:nvSpPr>
        <p:spPr bwMode="auto">
          <a:xfrm>
            <a:off x="6428454" y="1315350"/>
            <a:ext cx="3376245"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2-3</a:t>
            </a:r>
            <a:r>
              <a:rPr lang="zh-CN" altLang="en-US" sz="2000" dirty="0">
                <a:solidFill>
                  <a:srgbClr val="FF0000"/>
                </a:solidFill>
              </a:rPr>
              <a:t>步计算年龄划分时的熵</a:t>
            </a:r>
          </a:p>
        </p:txBody>
      </p:sp>
      <p:sp>
        <p:nvSpPr>
          <p:cNvPr id="60540" name="Text Box 127"/>
          <p:cNvSpPr txBox="1">
            <a:spLocks noChangeArrowheads="1"/>
          </p:cNvSpPr>
          <p:nvPr/>
        </p:nvSpPr>
        <p:spPr bwMode="auto">
          <a:xfrm>
            <a:off x="5543097" y="1781970"/>
            <a:ext cx="5328592" cy="4647426"/>
          </a:xfrm>
          <a:prstGeom prst="rect">
            <a:avLst/>
          </a:prstGeom>
          <a:noFill/>
          <a:ln w="9525">
            <a:noFill/>
            <a:miter lim="800000"/>
            <a:headEnd/>
            <a:tailEnd/>
          </a:ln>
        </p:spPr>
        <p:txBody>
          <a:bodyPr wrap="square">
            <a:spAutoFit/>
          </a:bodyPr>
          <a:lstStyle/>
          <a:p>
            <a:r>
              <a:rPr lang="zh-CN" altLang="en-US" sz="2000" dirty="0">
                <a:solidFill>
                  <a:srgbClr val="000000"/>
                </a:solidFill>
              </a:rPr>
              <a:t>年龄共分三个组： 青年、中年、老年</a:t>
            </a:r>
          </a:p>
          <a:p>
            <a:endParaRPr lang="en-US" altLang="zh-CN" sz="2000" dirty="0">
              <a:solidFill>
                <a:srgbClr val="0000FF"/>
              </a:solidFill>
            </a:endParaRPr>
          </a:p>
          <a:p>
            <a:r>
              <a:rPr lang="zh-CN" altLang="en-US" sz="2000" dirty="0">
                <a:solidFill>
                  <a:srgbClr val="0000FF"/>
                </a:solidFill>
              </a:rPr>
              <a:t>年龄 取值 为“老年”时：</a:t>
            </a:r>
            <a:endParaRPr lang="zh-CN" altLang="en-US" sz="2000" dirty="0">
              <a:solidFill>
                <a:srgbClr val="000000"/>
              </a:solidFill>
            </a:endParaRPr>
          </a:p>
          <a:p>
            <a:endParaRPr lang="en-US" altLang="zh-CN" sz="2000" dirty="0">
              <a:solidFill>
                <a:srgbClr val="000000"/>
              </a:solidFill>
            </a:endParaRPr>
          </a:p>
          <a:p>
            <a:r>
              <a:rPr lang="zh-CN" altLang="en-US" dirty="0">
                <a:solidFill>
                  <a:srgbClr val="000000"/>
                </a:solidFill>
              </a:rPr>
              <a:t>老年买与不买比例为</a:t>
            </a:r>
            <a:r>
              <a:rPr lang="en-US" altLang="zh-CN" dirty="0">
                <a:solidFill>
                  <a:srgbClr val="000000"/>
                </a:solidFill>
              </a:rPr>
              <a:t>257/127</a:t>
            </a:r>
          </a:p>
          <a:p>
            <a:r>
              <a:rPr lang="en-US" altLang="zh-CN" dirty="0">
                <a:solidFill>
                  <a:srgbClr val="000000"/>
                </a:solidFill>
              </a:rPr>
              <a:t>S1(</a:t>
            </a:r>
            <a:r>
              <a:rPr lang="zh-CN" altLang="en-US" dirty="0">
                <a:solidFill>
                  <a:srgbClr val="000000"/>
                </a:solidFill>
              </a:rPr>
              <a:t>买</a:t>
            </a:r>
            <a:r>
              <a:rPr lang="en-US" altLang="zh-CN" dirty="0">
                <a:solidFill>
                  <a:srgbClr val="000000"/>
                </a:solidFill>
              </a:rPr>
              <a:t>) = 257            </a:t>
            </a:r>
          </a:p>
          <a:p>
            <a:r>
              <a:rPr lang="en-US" altLang="zh-CN" dirty="0">
                <a:solidFill>
                  <a:srgbClr val="000000"/>
                </a:solidFill>
              </a:rPr>
              <a:t>S2</a:t>
            </a:r>
            <a:r>
              <a:rPr lang="zh-CN" altLang="en-US" dirty="0">
                <a:solidFill>
                  <a:srgbClr val="000000"/>
                </a:solidFill>
              </a:rPr>
              <a:t>（不买）</a:t>
            </a:r>
            <a:r>
              <a:rPr lang="en-US" altLang="zh-CN" dirty="0">
                <a:solidFill>
                  <a:srgbClr val="000000"/>
                </a:solidFill>
              </a:rPr>
              <a:t>= 127</a:t>
            </a:r>
          </a:p>
          <a:p>
            <a:r>
              <a:rPr lang="en-US" altLang="zh-CN" dirty="0">
                <a:solidFill>
                  <a:srgbClr val="000000"/>
                </a:solidFill>
              </a:rPr>
              <a:t>S = S1 + S2= 384</a:t>
            </a:r>
          </a:p>
          <a:p>
            <a:endParaRPr lang="en-US" altLang="zh-CN" dirty="0">
              <a:solidFill>
                <a:srgbClr val="000000"/>
              </a:solidFill>
            </a:endParaRPr>
          </a:p>
          <a:p>
            <a:r>
              <a:rPr lang="en-US" altLang="zh-CN" dirty="0">
                <a:solidFill>
                  <a:srgbClr val="000000"/>
                </a:solidFill>
              </a:rPr>
              <a:t>P1=257/384</a:t>
            </a:r>
          </a:p>
          <a:p>
            <a:r>
              <a:rPr lang="en-US" altLang="zh-CN" dirty="0">
                <a:solidFill>
                  <a:srgbClr val="000000"/>
                </a:solidFill>
              </a:rPr>
              <a:t>P2=127/384</a:t>
            </a:r>
          </a:p>
          <a:p>
            <a:endParaRPr lang="en-US" altLang="zh-CN" dirty="0">
              <a:solidFill>
                <a:srgbClr val="000000"/>
              </a:solidFill>
            </a:endParaRPr>
          </a:p>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老年买计算机？</a:t>
            </a:r>
            <a:r>
              <a:rPr lang="en-US" altLang="zh-CN" dirty="0">
                <a:solidFill>
                  <a:srgbClr val="000000"/>
                </a:solidFill>
              </a:rPr>
              <a:t>) =</a:t>
            </a:r>
            <a:endParaRPr lang="zh-CN" altLang="en-US" dirty="0">
              <a:solidFill>
                <a:srgbClr val="000000"/>
              </a:solidFill>
            </a:endParaRPr>
          </a:p>
          <a:p>
            <a:r>
              <a:rPr lang="en-US" altLang="zh-CN" dirty="0">
                <a:solidFill>
                  <a:srgbClr val="000000"/>
                </a:solidFill>
              </a:rPr>
              <a:t>I([S1,S2] ) = I([257</a:t>
            </a:r>
            <a:r>
              <a:rPr lang="zh-CN" altLang="en-US" dirty="0">
                <a:solidFill>
                  <a:srgbClr val="000000"/>
                </a:solidFill>
              </a:rPr>
              <a:t>，</a:t>
            </a:r>
            <a:r>
              <a:rPr lang="en-US" altLang="zh-CN" dirty="0">
                <a:solidFill>
                  <a:srgbClr val="000000"/>
                </a:solidFill>
              </a:rPr>
              <a:t>127])</a:t>
            </a:r>
          </a:p>
          <a:p>
            <a:r>
              <a:rPr lang="en-US" altLang="zh-CN" dirty="0">
                <a:solidFill>
                  <a:srgbClr val="000000"/>
                </a:solidFill>
              </a:rPr>
              <a:t>                 = -(P1Log</a:t>
            </a:r>
            <a:r>
              <a:rPr lang="en-US" altLang="zh-CN" baseline="-25000" dirty="0">
                <a:solidFill>
                  <a:srgbClr val="000000"/>
                </a:solidFill>
              </a:rPr>
              <a:t>2</a:t>
            </a:r>
            <a:r>
              <a:rPr lang="en-US" altLang="zh-CN" dirty="0">
                <a:solidFill>
                  <a:srgbClr val="000000"/>
                </a:solidFill>
              </a:rPr>
              <a:t>P1+P2Log</a:t>
            </a:r>
            <a:r>
              <a:rPr lang="en-US" altLang="zh-CN" baseline="-25000" dirty="0">
                <a:solidFill>
                  <a:srgbClr val="000000"/>
                </a:solidFill>
              </a:rPr>
              <a:t>2</a:t>
            </a:r>
            <a:r>
              <a:rPr lang="en-US" altLang="zh-CN" dirty="0">
                <a:solidFill>
                  <a:srgbClr val="000000"/>
                </a:solidFill>
              </a:rPr>
              <a:t>P2)</a:t>
            </a:r>
          </a:p>
          <a:p>
            <a:r>
              <a:rPr lang="en-US" altLang="zh-CN" dirty="0">
                <a:solidFill>
                  <a:srgbClr val="000000"/>
                </a:solidFill>
              </a:rPr>
              <a:t>                  = 0.9157</a:t>
            </a:r>
          </a:p>
        </p:txBody>
      </p:sp>
      <p:sp>
        <p:nvSpPr>
          <p:cNvPr id="60541" name="Text Box 128"/>
          <p:cNvSpPr txBox="1">
            <a:spLocks noChangeArrowheads="1"/>
          </p:cNvSpPr>
          <p:nvPr/>
        </p:nvSpPr>
        <p:spPr bwMode="auto">
          <a:xfrm>
            <a:off x="4800600" y="357166"/>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17</a:t>
            </a:fld>
            <a:endParaRPr lang="en-US" altLang="zh-CN"/>
          </a:p>
        </p:txBody>
      </p:sp>
      <p:sp>
        <p:nvSpPr>
          <p:cNvPr id="7" name="矩形 6"/>
          <p:cNvSpPr/>
          <p:nvPr/>
        </p:nvSpPr>
        <p:spPr>
          <a:xfrm>
            <a:off x="9624392" y="6013162"/>
            <a:ext cx="2494594" cy="369332"/>
          </a:xfrm>
          <a:prstGeom prst="rect">
            <a:avLst/>
          </a:prstGeom>
          <a:solidFill>
            <a:schemeClr val="bg1"/>
          </a:solidFill>
          <a:ln>
            <a:solidFill>
              <a:srgbClr val="FF0000"/>
            </a:solidFill>
          </a:ln>
        </p:spPr>
        <p:txBody>
          <a:bodyPr wrap="none">
            <a:spAutoFit/>
          </a:bodyPr>
          <a:lstStyle/>
          <a:p>
            <a:r>
              <a:rPr lang="en-US" altLang="zh-CN" dirty="0">
                <a:solidFill>
                  <a:srgbClr val="000000"/>
                </a:solidFill>
              </a:rPr>
              <a:t>H(S</a:t>
            </a:r>
            <a:r>
              <a:rPr lang="en-US" altLang="zh-CN" baseline="-25000" dirty="0">
                <a:solidFill>
                  <a:srgbClr val="000000"/>
                </a:solidFill>
              </a:rPr>
              <a:t>a</a:t>
            </a:r>
            <a:r>
              <a:rPr lang="en-US" altLang="zh-CN" dirty="0">
                <a:solidFill>
                  <a:srgbClr val="000000"/>
                </a:solidFill>
              </a:rPr>
              <a:t>=</a:t>
            </a:r>
            <a:r>
              <a:rPr lang="zh-CN" altLang="en-US" dirty="0">
                <a:solidFill>
                  <a:srgbClr val="000000"/>
                </a:solidFill>
              </a:rPr>
              <a:t>老年买计算机？</a:t>
            </a:r>
            <a:r>
              <a:rPr lang="en-US" altLang="zh-CN" dirty="0">
                <a:solidFill>
                  <a:srgbClr val="000000"/>
                </a:solidFill>
              </a:rPr>
              <a:t>)</a:t>
            </a:r>
            <a:endParaRPr lang="zh-CN" altLang="en-US" dirty="0">
              <a:solidFill>
                <a:srgbClr val="000000"/>
              </a:solidFill>
            </a:endParaRPr>
          </a:p>
        </p:txBody>
      </p:sp>
      <p:graphicFrame>
        <p:nvGraphicFramePr>
          <p:cNvPr id="8" name="Object 1"/>
          <p:cNvGraphicFramePr>
            <a:graphicFrameLocks noChangeAspect="1"/>
          </p:cNvGraphicFramePr>
          <p:nvPr/>
        </p:nvGraphicFramePr>
        <p:xfrm>
          <a:off x="6747140" y="241246"/>
          <a:ext cx="2735535" cy="600869"/>
        </p:xfrm>
        <a:graphic>
          <a:graphicData uri="http://schemas.openxmlformats.org/presentationml/2006/ole">
            <mc:AlternateContent xmlns:mc="http://schemas.openxmlformats.org/markup-compatibility/2006">
              <mc:Choice xmlns:v="urn:schemas-microsoft-com:vml" Requires="v">
                <p:oleObj spid="_x0000_s520282" name="Equation" r:id="rId3" imgW="1943100" imgH="431800" progId="Equation.DSMT4">
                  <p:embed/>
                </p:oleObj>
              </mc:Choice>
              <mc:Fallback>
                <p:oleObj name="Equation" r:id="rId3" imgW="1943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140" y="241246"/>
                        <a:ext cx="2735535" cy="600869"/>
                      </a:xfrm>
                      <a:prstGeom prst="rect">
                        <a:avLst/>
                      </a:prstGeom>
                      <a:noFill/>
                      <a:ln w="9525">
                        <a:solidFill>
                          <a:srgbClr val="FF0000"/>
                        </a:solidFill>
                        <a:miter lim="800000"/>
                        <a:headEnd/>
                        <a:tailEnd/>
                      </a:ln>
                    </p:spPr>
                  </p:pic>
                </p:oleObj>
              </mc:Fallback>
            </mc:AlternateContent>
          </a:graphicData>
        </a:graphic>
      </p:graphicFrame>
      <p:sp>
        <p:nvSpPr>
          <p:cNvPr id="9" name="Text Box 128"/>
          <p:cNvSpPr txBox="1">
            <a:spLocks noChangeArrowheads="1"/>
          </p:cNvSpPr>
          <p:nvPr/>
        </p:nvSpPr>
        <p:spPr bwMode="auto">
          <a:xfrm>
            <a:off x="5421168" y="958922"/>
            <a:ext cx="5653232"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计算利用不同属性进行划分时的熵（续）</a:t>
            </a:r>
          </a:p>
        </p:txBody>
      </p:sp>
    </p:spTree>
    <p:extLst>
      <p:ext uri="{BB962C8B-B14F-4D97-AF65-F5344CB8AC3E}">
        <p14:creationId xmlns:p14="http://schemas.microsoft.com/office/powerpoint/2010/main" val="31733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2517" name="Group 5"/>
          <p:cNvGraphicFramePr>
            <a:graphicFrameLocks noGrp="1"/>
          </p:cNvGraphicFramePr>
          <p:nvPr>
            <p:extLst>
              <p:ext uri="{D42A27DB-BD31-4B8C-83A1-F6EECF244321}">
                <p14:modId xmlns:p14="http://schemas.microsoft.com/office/powerpoint/2010/main" val="2209860936"/>
              </p:ext>
            </p:extLst>
          </p:nvPr>
        </p:nvGraphicFramePr>
        <p:xfrm>
          <a:off x="563735" y="1052736"/>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extLst>
                  <a:ext uri="{0D108BD9-81ED-4DB2-BD59-A6C34878D82A}">
                    <a16:rowId xmlns:a16="http://schemas.microsoft.com/office/drawing/2014/main" val="10015"/>
                  </a:ext>
                </a:extLst>
              </a:tr>
            </a:tbl>
          </a:graphicData>
        </a:graphic>
      </p:graphicFrame>
      <p:sp>
        <p:nvSpPr>
          <p:cNvPr id="61563" name="Text Box 126"/>
          <p:cNvSpPr txBox="1">
            <a:spLocks noChangeArrowheads="1"/>
          </p:cNvSpPr>
          <p:nvPr/>
        </p:nvSpPr>
        <p:spPr bwMode="auto">
          <a:xfrm>
            <a:off x="6246583" y="1292888"/>
            <a:ext cx="3376245"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2-4</a:t>
            </a:r>
            <a:r>
              <a:rPr lang="zh-CN" altLang="en-US" sz="2000" dirty="0">
                <a:solidFill>
                  <a:srgbClr val="FF0000"/>
                </a:solidFill>
              </a:rPr>
              <a:t>步计算年龄划分时的熵</a:t>
            </a:r>
          </a:p>
        </p:txBody>
      </p:sp>
      <p:sp>
        <p:nvSpPr>
          <p:cNvPr id="61564" name="Text Box 127"/>
          <p:cNvSpPr txBox="1">
            <a:spLocks noChangeArrowheads="1"/>
          </p:cNvSpPr>
          <p:nvPr/>
        </p:nvSpPr>
        <p:spPr bwMode="auto">
          <a:xfrm>
            <a:off x="5741099" y="1660993"/>
            <a:ext cx="4132819" cy="1477328"/>
          </a:xfrm>
          <a:prstGeom prst="rect">
            <a:avLst/>
          </a:prstGeom>
          <a:noFill/>
          <a:ln w="9525">
            <a:noFill/>
            <a:miter lim="800000"/>
            <a:headEnd/>
            <a:tailEnd/>
          </a:ln>
        </p:spPr>
        <p:txBody>
          <a:bodyPr wrap="square">
            <a:spAutoFit/>
          </a:bodyPr>
          <a:lstStyle/>
          <a:p>
            <a:r>
              <a:rPr lang="zh-CN" altLang="en-US" dirty="0">
                <a:solidFill>
                  <a:srgbClr val="000000"/>
                </a:solidFill>
              </a:rPr>
              <a:t>年龄共分三个组： 青年、中年、老年</a:t>
            </a:r>
            <a:endParaRPr lang="en-US" altLang="zh-CN" dirty="0">
              <a:solidFill>
                <a:srgbClr val="000000"/>
              </a:solidFill>
            </a:endParaRPr>
          </a:p>
          <a:p>
            <a:r>
              <a:rPr lang="zh-CN" altLang="en-US" dirty="0">
                <a:solidFill>
                  <a:srgbClr val="000000"/>
                </a:solidFill>
              </a:rPr>
              <a:t>各占比例</a:t>
            </a:r>
          </a:p>
          <a:p>
            <a:r>
              <a:rPr lang="zh-CN" altLang="en-US" dirty="0">
                <a:solidFill>
                  <a:srgbClr val="000000"/>
                </a:solidFill>
              </a:rPr>
              <a:t>青年组 </a:t>
            </a:r>
            <a:r>
              <a:rPr lang="en-US" altLang="zh-CN" dirty="0">
                <a:solidFill>
                  <a:srgbClr val="000000"/>
                </a:solidFill>
              </a:rPr>
              <a:t>384/1024=0.375</a:t>
            </a:r>
          </a:p>
          <a:p>
            <a:r>
              <a:rPr lang="zh-CN" altLang="en-US" dirty="0">
                <a:solidFill>
                  <a:srgbClr val="000000"/>
                </a:solidFill>
              </a:rPr>
              <a:t>中年组 </a:t>
            </a:r>
            <a:r>
              <a:rPr lang="en-US" altLang="zh-CN" dirty="0">
                <a:solidFill>
                  <a:srgbClr val="000000"/>
                </a:solidFill>
              </a:rPr>
              <a:t>256/1024=0.25</a:t>
            </a:r>
          </a:p>
          <a:p>
            <a:r>
              <a:rPr lang="zh-CN" altLang="en-US" dirty="0">
                <a:solidFill>
                  <a:srgbClr val="000000"/>
                </a:solidFill>
              </a:rPr>
              <a:t>老年组 </a:t>
            </a:r>
            <a:r>
              <a:rPr lang="en-US" altLang="zh-CN" dirty="0">
                <a:solidFill>
                  <a:srgbClr val="000000"/>
                </a:solidFill>
              </a:rPr>
              <a:t>384/1024=0.375</a:t>
            </a:r>
          </a:p>
        </p:txBody>
      </p:sp>
      <p:sp>
        <p:nvSpPr>
          <p:cNvPr id="61565" name="Text Box 128"/>
          <p:cNvSpPr txBox="1">
            <a:spLocks noChangeArrowheads="1"/>
          </p:cNvSpPr>
          <p:nvPr/>
        </p:nvSpPr>
        <p:spPr bwMode="auto">
          <a:xfrm>
            <a:off x="4800600" y="428604"/>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18</a:t>
            </a:fld>
            <a:endParaRPr lang="en-US" altLang="zh-CN"/>
          </a:p>
        </p:txBody>
      </p:sp>
      <p:graphicFrame>
        <p:nvGraphicFramePr>
          <p:cNvPr id="467969" name="Object 1"/>
          <p:cNvGraphicFramePr>
            <a:graphicFrameLocks noChangeAspect="1"/>
          </p:cNvGraphicFramePr>
          <p:nvPr>
            <p:extLst>
              <p:ext uri="{D42A27DB-BD31-4B8C-83A1-F6EECF244321}">
                <p14:modId xmlns:p14="http://schemas.microsoft.com/office/powerpoint/2010/main" val="2467197023"/>
              </p:ext>
            </p:extLst>
          </p:nvPr>
        </p:nvGraphicFramePr>
        <p:xfrm>
          <a:off x="8462217" y="3072223"/>
          <a:ext cx="3295650" cy="723900"/>
        </p:xfrm>
        <a:graphic>
          <a:graphicData uri="http://schemas.openxmlformats.org/presentationml/2006/ole">
            <mc:AlternateContent xmlns:mc="http://schemas.openxmlformats.org/markup-compatibility/2006">
              <mc:Choice xmlns:v="urn:schemas-microsoft-com:vml" Requires="v">
                <p:oleObj spid="_x0000_s521307" name="Equation" r:id="rId3" imgW="1943100" imgH="431800" progId="Equation.DSMT4">
                  <p:embed/>
                </p:oleObj>
              </mc:Choice>
              <mc:Fallback>
                <p:oleObj name="Equation" r:id="rId3" imgW="1943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2217" y="3072223"/>
                        <a:ext cx="3295650" cy="723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5929158" y="5365103"/>
            <a:ext cx="4572000" cy="1200329"/>
          </a:xfrm>
          <a:prstGeom prst="rect">
            <a:avLst/>
          </a:prstGeom>
        </p:spPr>
        <p:txBody>
          <a:bodyPr>
            <a:spAutoFit/>
          </a:bodyPr>
          <a:lstStyle/>
          <a:p>
            <a:r>
              <a:rPr lang="en-US" altLang="zh-CN" dirty="0">
                <a:solidFill>
                  <a:srgbClr val="0000FF"/>
                </a:solidFill>
              </a:rPr>
              <a:t>G</a:t>
            </a:r>
            <a:r>
              <a:rPr lang="zh-CN" altLang="en-US" dirty="0">
                <a:solidFill>
                  <a:srgbClr val="0000FF"/>
                </a:solidFill>
              </a:rPr>
              <a:t>（年龄信息增益）</a:t>
            </a:r>
            <a:r>
              <a:rPr lang="en-US" altLang="zh-CN" dirty="0">
                <a:solidFill>
                  <a:srgbClr val="0000FF"/>
                </a:solidFill>
              </a:rPr>
              <a:t>= </a:t>
            </a:r>
            <a:r>
              <a:rPr lang="en-US" altLang="zh-CN" dirty="0" err="1">
                <a:solidFill>
                  <a:srgbClr val="0000FF"/>
                </a:solidFill>
              </a:rPr>
              <a:t>InfoGain</a:t>
            </a:r>
            <a:r>
              <a:rPr lang="zh-CN" altLang="en-US" dirty="0">
                <a:solidFill>
                  <a:srgbClr val="0000FF"/>
                </a:solidFill>
              </a:rPr>
              <a:t>（</a:t>
            </a:r>
            <a:r>
              <a:rPr lang="en-US" altLang="zh-CN" dirty="0">
                <a:solidFill>
                  <a:srgbClr val="0000FF"/>
                </a:solidFill>
              </a:rPr>
              <a:t>S,</a:t>
            </a:r>
            <a:r>
              <a:rPr lang="zh-CN" altLang="en-US" dirty="0">
                <a:solidFill>
                  <a:srgbClr val="0000FF"/>
                </a:solidFill>
              </a:rPr>
              <a:t>年龄）</a:t>
            </a:r>
          </a:p>
          <a:p>
            <a:r>
              <a:rPr lang="zh-CN" altLang="en-US" dirty="0">
                <a:solidFill>
                  <a:srgbClr val="000000"/>
                </a:solidFill>
              </a:rPr>
              <a:t>                               </a:t>
            </a:r>
            <a:r>
              <a:rPr lang="en-US" altLang="zh-CN" dirty="0">
                <a:solidFill>
                  <a:srgbClr val="0000FF"/>
                </a:solidFill>
              </a:rPr>
              <a:t>= H(S)-H(S|</a:t>
            </a:r>
            <a:r>
              <a:rPr lang="zh-CN" altLang="en-US" dirty="0">
                <a:solidFill>
                  <a:srgbClr val="0000FF"/>
                </a:solidFill>
              </a:rPr>
              <a:t>年龄</a:t>
            </a:r>
            <a:r>
              <a:rPr lang="en-US" altLang="zh-CN" dirty="0">
                <a:solidFill>
                  <a:srgbClr val="0000FF"/>
                </a:solidFill>
              </a:rPr>
              <a:t>)</a:t>
            </a:r>
          </a:p>
          <a:p>
            <a:r>
              <a:rPr lang="en-US" altLang="zh-CN" dirty="0">
                <a:solidFill>
                  <a:srgbClr val="000000"/>
                </a:solidFill>
              </a:rPr>
              <a:t>                               =0.9537-0.6877</a:t>
            </a:r>
          </a:p>
          <a:p>
            <a:r>
              <a:rPr lang="en-US" altLang="zh-CN" dirty="0">
                <a:solidFill>
                  <a:srgbClr val="000000"/>
                </a:solidFill>
              </a:rPr>
              <a:t>                               </a:t>
            </a:r>
            <a:r>
              <a:rPr lang="en-US" altLang="zh-CN" dirty="0">
                <a:solidFill>
                  <a:srgbClr val="0000FF"/>
                </a:solidFill>
              </a:rPr>
              <a:t>=0.2660             </a:t>
            </a:r>
            <a:r>
              <a:rPr lang="zh-CN" altLang="en-US" dirty="0">
                <a:solidFill>
                  <a:srgbClr val="FF0000"/>
                </a:solidFill>
              </a:rPr>
              <a:t>（</a:t>
            </a:r>
            <a:r>
              <a:rPr lang="en-US" altLang="zh-CN" dirty="0">
                <a:solidFill>
                  <a:srgbClr val="FF0000"/>
                </a:solidFill>
              </a:rPr>
              <a:t>1</a:t>
            </a:r>
            <a:r>
              <a:rPr lang="zh-CN" altLang="en-US" dirty="0">
                <a:solidFill>
                  <a:srgbClr val="FF0000"/>
                </a:solidFill>
              </a:rPr>
              <a:t>）</a:t>
            </a:r>
          </a:p>
        </p:txBody>
      </p:sp>
      <p:sp>
        <p:nvSpPr>
          <p:cNvPr id="3" name="矩形 2"/>
          <p:cNvSpPr/>
          <p:nvPr/>
        </p:nvSpPr>
        <p:spPr>
          <a:xfrm>
            <a:off x="5864757" y="4166399"/>
            <a:ext cx="4290390" cy="830997"/>
          </a:xfrm>
          <a:prstGeom prst="rect">
            <a:avLst/>
          </a:prstGeom>
        </p:spPr>
        <p:txBody>
          <a:bodyPr wrap="square">
            <a:spAutoFit/>
          </a:bodyPr>
          <a:lstStyle/>
          <a:p>
            <a:r>
              <a:rPr lang="en-US" altLang="zh-CN" sz="1600" dirty="0">
                <a:solidFill>
                  <a:srgbClr val="0000FF"/>
                </a:solidFill>
              </a:rPr>
              <a:t>H</a:t>
            </a:r>
            <a:r>
              <a:rPr lang="zh-CN" altLang="en-US" sz="1600" dirty="0">
                <a:solidFill>
                  <a:srgbClr val="0000FF"/>
                </a:solidFill>
              </a:rPr>
              <a:t>（</a:t>
            </a:r>
            <a:r>
              <a:rPr lang="en-US" altLang="zh-CN" sz="1600" dirty="0">
                <a:solidFill>
                  <a:srgbClr val="0000FF"/>
                </a:solidFill>
              </a:rPr>
              <a:t>S | </a:t>
            </a:r>
            <a:r>
              <a:rPr lang="zh-CN" altLang="en-US" sz="1600" dirty="0">
                <a:solidFill>
                  <a:srgbClr val="0000FF"/>
                </a:solidFill>
              </a:rPr>
              <a:t>年龄）</a:t>
            </a:r>
            <a:r>
              <a:rPr lang="en-US" altLang="zh-CN" sz="1600" dirty="0">
                <a:solidFill>
                  <a:srgbClr val="0000FF"/>
                </a:solidFill>
              </a:rPr>
              <a:t>= E</a:t>
            </a:r>
            <a:r>
              <a:rPr lang="zh-CN" altLang="en-US" sz="1600" dirty="0">
                <a:solidFill>
                  <a:srgbClr val="0000FF"/>
                </a:solidFill>
              </a:rPr>
              <a:t>（年龄）</a:t>
            </a:r>
            <a:endParaRPr lang="en-US" altLang="zh-CN" sz="1600" dirty="0">
              <a:solidFill>
                <a:srgbClr val="0000FF"/>
              </a:solidFill>
            </a:endParaRPr>
          </a:p>
          <a:p>
            <a:r>
              <a:rPr lang="en-US" altLang="zh-CN" sz="1600" dirty="0">
                <a:solidFill>
                  <a:srgbClr val="0000FF"/>
                </a:solidFill>
              </a:rPr>
              <a:t>= </a:t>
            </a:r>
            <a:r>
              <a:rPr lang="en-US" altLang="zh-CN" sz="1600" dirty="0">
                <a:solidFill>
                  <a:srgbClr val="000000"/>
                </a:solidFill>
              </a:rPr>
              <a:t>0.375*0.9183+ 0.25*0+ 0.375*0.9157</a:t>
            </a:r>
          </a:p>
          <a:p>
            <a:r>
              <a:rPr lang="en-US" altLang="zh-CN" sz="1600" dirty="0">
                <a:solidFill>
                  <a:srgbClr val="000000"/>
                </a:solidFill>
              </a:rPr>
              <a:t>=0.6877</a:t>
            </a:r>
          </a:p>
        </p:txBody>
      </p:sp>
      <p:sp>
        <p:nvSpPr>
          <p:cNvPr id="4" name="矩形 3"/>
          <p:cNvSpPr/>
          <p:nvPr/>
        </p:nvSpPr>
        <p:spPr>
          <a:xfrm>
            <a:off x="5260503" y="3782454"/>
            <a:ext cx="3416320" cy="369332"/>
          </a:xfrm>
          <a:prstGeom prst="rect">
            <a:avLst/>
          </a:prstGeom>
        </p:spPr>
        <p:txBody>
          <a:bodyPr wrap="none">
            <a:spAutoFit/>
          </a:bodyPr>
          <a:lstStyle/>
          <a:p>
            <a:r>
              <a:rPr lang="zh-CN" altLang="en-US" dirty="0">
                <a:solidFill>
                  <a:srgbClr val="000000"/>
                </a:solidFill>
              </a:rPr>
              <a:t>计算年龄划分时的平均信息期望</a:t>
            </a:r>
            <a:endParaRPr lang="en-US" altLang="zh-CN" dirty="0">
              <a:solidFill>
                <a:srgbClr val="000000"/>
              </a:solidFill>
            </a:endParaRPr>
          </a:p>
        </p:txBody>
      </p:sp>
      <p:sp>
        <p:nvSpPr>
          <p:cNvPr id="5" name="矩形 4"/>
          <p:cNvSpPr/>
          <p:nvPr/>
        </p:nvSpPr>
        <p:spPr>
          <a:xfrm>
            <a:off x="5260503" y="5000199"/>
            <a:ext cx="2954655" cy="369332"/>
          </a:xfrm>
          <a:prstGeom prst="rect">
            <a:avLst/>
          </a:prstGeom>
        </p:spPr>
        <p:txBody>
          <a:bodyPr wrap="none">
            <a:spAutoFit/>
          </a:bodyPr>
          <a:lstStyle/>
          <a:p>
            <a:r>
              <a:rPr lang="zh-CN" altLang="en-US" dirty="0">
                <a:solidFill>
                  <a:srgbClr val="000000"/>
                </a:solidFill>
              </a:rPr>
              <a:t>计算年龄划分时的信息增益</a:t>
            </a:r>
            <a:endParaRPr lang="zh-CN" altLang="en-US" dirty="0"/>
          </a:p>
        </p:txBody>
      </p:sp>
      <p:sp>
        <p:nvSpPr>
          <p:cNvPr id="12" name="Text Box 128"/>
          <p:cNvSpPr txBox="1">
            <a:spLocks noChangeArrowheads="1"/>
          </p:cNvSpPr>
          <p:nvPr/>
        </p:nvSpPr>
        <p:spPr bwMode="auto">
          <a:xfrm>
            <a:off x="5421168" y="958922"/>
            <a:ext cx="5653232"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计算利用不同属性进行划分时的熵（续）</a:t>
            </a:r>
          </a:p>
        </p:txBody>
      </p:sp>
    </p:spTree>
    <p:extLst>
      <p:ext uri="{BB962C8B-B14F-4D97-AF65-F5344CB8AC3E}">
        <p14:creationId xmlns:p14="http://schemas.microsoft.com/office/powerpoint/2010/main" val="639112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4565" name="Group 5"/>
          <p:cNvGraphicFramePr>
            <a:graphicFrameLocks noGrp="1"/>
          </p:cNvGraphicFramePr>
          <p:nvPr>
            <p:extLst>
              <p:ext uri="{D42A27DB-BD31-4B8C-83A1-F6EECF244321}">
                <p14:modId xmlns:p14="http://schemas.microsoft.com/office/powerpoint/2010/main" val="4038540173"/>
              </p:ext>
            </p:extLst>
          </p:nvPr>
        </p:nvGraphicFramePr>
        <p:xfrm>
          <a:off x="623392" y="1101109"/>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extLst>
                  <a:ext uri="{0D108BD9-81ED-4DB2-BD59-A6C34878D82A}">
                    <a16:rowId xmlns:a16="http://schemas.microsoft.com/office/drawing/2014/main" val="10015"/>
                  </a:ext>
                </a:extLst>
              </a:tr>
            </a:tbl>
          </a:graphicData>
        </a:graphic>
      </p:graphicFrame>
      <p:sp>
        <p:nvSpPr>
          <p:cNvPr id="63611" name="Text Box 126"/>
          <p:cNvSpPr txBox="1">
            <a:spLocks noChangeArrowheads="1"/>
          </p:cNvSpPr>
          <p:nvPr/>
        </p:nvSpPr>
        <p:spPr bwMode="auto">
          <a:xfrm>
            <a:off x="5474171" y="3034692"/>
            <a:ext cx="3148619"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4</a:t>
            </a:r>
            <a:r>
              <a:rPr lang="zh-CN" altLang="en-US" sz="2000" dirty="0">
                <a:solidFill>
                  <a:srgbClr val="FF0000"/>
                </a:solidFill>
              </a:rPr>
              <a:t>步计算学生划分时的熵</a:t>
            </a:r>
          </a:p>
        </p:txBody>
      </p:sp>
      <p:sp>
        <p:nvSpPr>
          <p:cNvPr id="63612" name="Text Box 127"/>
          <p:cNvSpPr txBox="1">
            <a:spLocks noChangeArrowheads="1"/>
          </p:cNvSpPr>
          <p:nvPr/>
        </p:nvSpPr>
        <p:spPr bwMode="auto">
          <a:xfrm>
            <a:off x="6693834" y="3430938"/>
            <a:ext cx="4102405" cy="1323439"/>
          </a:xfrm>
          <a:prstGeom prst="rect">
            <a:avLst/>
          </a:prstGeom>
          <a:noFill/>
          <a:ln w="9525">
            <a:noFill/>
            <a:miter lim="800000"/>
            <a:headEnd/>
            <a:tailEnd/>
          </a:ln>
        </p:spPr>
        <p:txBody>
          <a:bodyPr wrap="none">
            <a:spAutoFit/>
          </a:bodyPr>
          <a:lstStyle/>
          <a:p>
            <a:r>
              <a:rPr lang="zh-CN" altLang="en-US" sz="2000" dirty="0">
                <a:solidFill>
                  <a:srgbClr val="000000"/>
                </a:solidFill>
              </a:rPr>
              <a:t>按学生共分二个组： 学生、非学生</a:t>
            </a:r>
          </a:p>
          <a:p>
            <a:r>
              <a:rPr lang="en-US" altLang="zh-CN" sz="2000" dirty="0">
                <a:solidFill>
                  <a:srgbClr val="000000"/>
                </a:solidFill>
              </a:rPr>
              <a:t>E</a:t>
            </a:r>
            <a:r>
              <a:rPr lang="zh-CN" altLang="en-US" sz="2000" dirty="0">
                <a:solidFill>
                  <a:srgbClr val="000000"/>
                </a:solidFill>
              </a:rPr>
              <a:t>（学生）</a:t>
            </a:r>
            <a:r>
              <a:rPr lang="en-US" altLang="zh-CN" sz="2000" dirty="0">
                <a:solidFill>
                  <a:srgbClr val="000000"/>
                </a:solidFill>
              </a:rPr>
              <a:t>=0.7811</a:t>
            </a:r>
          </a:p>
          <a:p>
            <a:r>
              <a:rPr lang="zh-CN" altLang="en-US" sz="2000" dirty="0">
                <a:solidFill>
                  <a:srgbClr val="0000FF"/>
                </a:solidFill>
              </a:rPr>
              <a:t>学生信息增益</a:t>
            </a:r>
            <a:r>
              <a:rPr lang="en-US" altLang="zh-CN" sz="2000" dirty="0">
                <a:solidFill>
                  <a:srgbClr val="000000"/>
                </a:solidFill>
              </a:rPr>
              <a:t>=0.9537-0.7811</a:t>
            </a:r>
          </a:p>
          <a:p>
            <a:r>
              <a:rPr lang="en-US" altLang="zh-CN" sz="2000" dirty="0">
                <a:solidFill>
                  <a:srgbClr val="000000"/>
                </a:solidFill>
              </a:rPr>
              <a:t>                        =</a:t>
            </a:r>
            <a:r>
              <a:rPr lang="en-US" altLang="zh-CN" sz="2000" dirty="0">
                <a:solidFill>
                  <a:srgbClr val="0000FF"/>
                </a:solidFill>
              </a:rPr>
              <a:t>0.1726</a:t>
            </a:r>
            <a:r>
              <a:rPr lang="en-US" altLang="zh-CN" sz="2000" dirty="0">
                <a:solidFill>
                  <a:srgbClr val="000000"/>
                </a:solidFill>
              </a:rPr>
              <a:t>  </a:t>
            </a: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p>
        </p:txBody>
      </p:sp>
      <p:sp>
        <p:nvSpPr>
          <p:cNvPr id="63613" name="Text Box 128"/>
          <p:cNvSpPr txBox="1">
            <a:spLocks noChangeArrowheads="1"/>
          </p:cNvSpPr>
          <p:nvPr/>
        </p:nvSpPr>
        <p:spPr bwMode="auto">
          <a:xfrm>
            <a:off x="4800600" y="428604"/>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6" name="灯片编号占位符 5"/>
          <p:cNvSpPr>
            <a:spLocks noGrp="1"/>
          </p:cNvSpPr>
          <p:nvPr>
            <p:ph type="sldNum" sz="quarter" idx="11"/>
          </p:nvPr>
        </p:nvSpPr>
        <p:spPr/>
        <p:txBody>
          <a:bodyPr/>
          <a:lstStyle/>
          <a:p>
            <a:pPr>
              <a:defRPr/>
            </a:pPr>
            <a:fld id="{8EDB171D-A1F9-42E8-BD2B-16AA89E5910B}" type="slidenum">
              <a:rPr lang="en-US" altLang="zh-CN" smtClean="0"/>
              <a:pPr>
                <a:defRPr/>
              </a:pPr>
              <a:t>19</a:t>
            </a:fld>
            <a:endParaRPr lang="en-US" altLang="zh-CN"/>
          </a:p>
        </p:txBody>
      </p:sp>
      <p:sp>
        <p:nvSpPr>
          <p:cNvPr id="10" name="Text Box 126"/>
          <p:cNvSpPr txBox="1">
            <a:spLocks noChangeArrowheads="1"/>
          </p:cNvSpPr>
          <p:nvPr/>
        </p:nvSpPr>
        <p:spPr bwMode="auto">
          <a:xfrm>
            <a:off x="5447927" y="1531511"/>
            <a:ext cx="3148619"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3</a:t>
            </a:r>
            <a:r>
              <a:rPr lang="zh-CN" altLang="en-US" sz="2000" dirty="0">
                <a:solidFill>
                  <a:srgbClr val="FF0000"/>
                </a:solidFill>
              </a:rPr>
              <a:t>步计算收入划分时的熵</a:t>
            </a:r>
          </a:p>
        </p:txBody>
      </p:sp>
      <p:sp>
        <p:nvSpPr>
          <p:cNvPr id="11" name="Text Box 127"/>
          <p:cNvSpPr txBox="1">
            <a:spLocks noChangeArrowheads="1"/>
          </p:cNvSpPr>
          <p:nvPr/>
        </p:nvSpPr>
        <p:spPr bwMode="auto">
          <a:xfrm>
            <a:off x="6762750" y="1902336"/>
            <a:ext cx="3964574" cy="1477328"/>
          </a:xfrm>
          <a:prstGeom prst="rect">
            <a:avLst/>
          </a:prstGeom>
          <a:noFill/>
          <a:ln w="9525">
            <a:noFill/>
            <a:miter lim="800000"/>
            <a:headEnd/>
            <a:tailEnd/>
          </a:ln>
        </p:spPr>
        <p:txBody>
          <a:bodyPr wrap="square">
            <a:spAutoFit/>
          </a:bodyPr>
          <a:lstStyle/>
          <a:p>
            <a:r>
              <a:rPr lang="zh-CN" altLang="en-US" dirty="0">
                <a:solidFill>
                  <a:srgbClr val="000000"/>
                </a:solidFill>
              </a:rPr>
              <a:t>按收入共分三个组： 高、中、低</a:t>
            </a:r>
          </a:p>
          <a:p>
            <a:r>
              <a:rPr lang="en-US" altLang="zh-CN" dirty="0">
                <a:solidFill>
                  <a:srgbClr val="000000"/>
                </a:solidFill>
              </a:rPr>
              <a:t>E</a:t>
            </a:r>
            <a:r>
              <a:rPr lang="zh-CN" altLang="en-US" dirty="0">
                <a:solidFill>
                  <a:srgbClr val="000000"/>
                </a:solidFill>
              </a:rPr>
              <a:t>（收入）</a:t>
            </a:r>
            <a:r>
              <a:rPr lang="en-US" altLang="zh-CN" dirty="0">
                <a:solidFill>
                  <a:srgbClr val="000000"/>
                </a:solidFill>
              </a:rPr>
              <a:t>= 0.9361</a:t>
            </a:r>
          </a:p>
          <a:p>
            <a:r>
              <a:rPr lang="zh-CN" altLang="en-US" dirty="0">
                <a:solidFill>
                  <a:srgbClr val="0000FF"/>
                </a:solidFill>
              </a:rPr>
              <a:t>收入信息增益 </a:t>
            </a:r>
            <a:r>
              <a:rPr lang="en-US" altLang="zh-CN" dirty="0">
                <a:solidFill>
                  <a:srgbClr val="000000"/>
                </a:solidFill>
              </a:rPr>
              <a:t>=0.9537-0.9361 </a:t>
            </a:r>
          </a:p>
          <a:p>
            <a:r>
              <a:rPr lang="en-US" altLang="zh-CN" dirty="0">
                <a:solidFill>
                  <a:srgbClr val="000000"/>
                </a:solidFill>
              </a:rPr>
              <a:t>                       =</a:t>
            </a:r>
            <a:r>
              <a:rPr lang="en-US" altLang="zh-CN" dirty="0">
                <a:solidFill>
                  <a:srgbClr val="0000FF"/>
                </a:solidFill>
              </a:rPr>
              <a:t>0.0176</a:t>
            </a:r>
            <a:r>
              <a:rPr lang="en-US" altLang="zh-CN" dirty="0">
                <a:solidFill>
                  <a:srgbClr val="000000"/>
                </a:solidFill>
              </a:rPr>
              <a:t>        </a:t>
            </a:r>
            <a:r>
              <a:rPr lang="en-US" altLang="zh-CN" dirty="0">
                <a:solidFill>
                  <a:srgbClr val="FF0000"/>
                </a:solidFill>
              </a:rPr>
              <a:t>(2)</a:t>
            </a:r>
          </a:p>
          <a:p>
            <a:endParaRPr lang="en-US" altLang="zh-CN" dirty="0">
              <a:solidFill>
                <a:srgbClr val="FF0000"/>
              </a:solidFill>
            </a:endParaRPr>
          </a:p>
        </p:txBody>
      </p:sp>
      <p:sp>
        <p:nvSpPr>
          <p:cNvPr id="12" name="Text Box 126"/>
          <p:cNvSpPr txBox="1">
            <a:spLocks noChangeArrowheads="1"/>
          </p:cNvSpPr>
          <p:nvPr/>
        </p:nvSpPr>
        <p:spPr bwMode="auto">
          <a:xfrm>
            <a:off x="5504245" y="4603936"/>
            <a:ext cx="2379177" cy="400110"/>
          </a:xfrm>
          <a:prstGeom prst="rect">
            <a:avLst/>
          </a:prstGeom>
          <a:noFill/>
          <a:ln w="9525">
            <a:noFill/>
            <a:miter lim="800000"/>
            <a:headEnd/>
            <a:tailEnd/>
          </a:ln>
        </p:spPr>
        <p:txBody>
          <a:bodyPr wrap="none">
            <a:spAutoFit/>
          </a:bodyPr>
          <a:lstStyle/>
          <a:p>
            <a:r>
              <a:rPr lang="zh-CN" altLang="en-US" sz="2000" dirty="0">
                <a:solidFill>
                  <a:srgbClr val="FF0000"/>
                </a:solidFill>
              </a:rPr>
              <a:t>第</a:t>
            </a:r>
            <a:r>
              <a:rPr lang="en-US" altLang="zh-CN" sz="2000" dirty="0">
                <a:solidFill>
                  <a:srgbClr val="FF0000"/>
                </a:solidFill>
              </a:rPr>
              <a:t>5</a:t>
            </a:r>
            <a:r>
              <a:rPr lang="zh-CN" altLang="en-US" sz="2000" dirty="0">
                <a:solidFill>
                  <a:srgbClr val="FF0000"/>
                </a:solidFill>
              </a:rPr>
              <a:t>步计算信誉的熵</a:t>
            </a:r>
          </a:p>
        </p:txBody>
      </p:sp>
      <p:sp>
        <p:nvSpPr>
          <p:cNvPr id="13" name="Text Box 127"/>
          <p:cNvSpPr txBox="1">
            <a:spLocks noChangeArrowheads="1"/>
          </p:cNvSpPr>
          <p:nvPr/>
        </p:nvSpPr>
        <p:spPr bwMode="auto">
          <a:xfrm>
            <a:off x="6693833" y="5040844"/>
            <a:ext cx="3607078" cy="1323439"/>
          </a:xfrm>
          <a:prstGeom prst="rect">
            <a:avLst/>
          </a:prstGeom>
          <a:noFill/>
          <a:ln w="9525">
            <a:noFill/>
            <a:miter lim="800000"/>
            <a:headEnd/>
            <a:tailEnd/>
          </a:ln>
        </p:spPr>
        <p:txBody>
          <a:bodyPr wrap="none">
            <a:spAutoFit/>
          </a:bodyPr>
          <a:lstStyle/>
          <a:p>
            <a:r>
              <a:rPr lang="zh-CN" altLang="en-US" sz="2000" dirty="0">
                <a:solidFill>
                  <a:srgbClr val="000000"/>
                </a:solidFill>
              </a:rPr>
              <a:t>按信誉分二个组： 良好，优秀</a:t>
            </a:r>
          </a:p>
          <a:p>
            <a:r>
              <a:rPr lang="en-US" altLang="zh-CN" sz="2000" dirty="0">
                <a:solidFill>
                  <a:srgbClr val="000000"/>
                </a:solidFill>
              </a:rPr>
              <a:t>E</a:t>
            </a:r>
            <a:r>
              <a:rPr lang="zh-CN" altLang="en-US" sz="2000" dirty="0">
                <a:solidFill>
                  <a:srgbClr val="000000"/>
                </a:solidFill>
              </a:rPr>
              <a:t>（信誉）</a:t>
            </a:r>
            <a:r>
              <a:rPr lang="en-US" altLang="zh-CN" sz="2000" dirty="0">
                <a:solidFill>
                  <a:srgbClr val="000000"/>
                </a:solidFill>
              </a:rPr>
              <a:t>= 0.9048</a:t>
            </a:r>
          </a:p>
          <a:p>
            <a:r>
              <a:rPr lang="zh-CN" altLang="en-US" sz="2000" dirty="0">
                <a:solidFill>
                  <a:srgbClr val="0000FF"/>
                </a:solidFill>
              </a:rPr>
              <a:t>信誉信息增益</a:t>
            </a:r>
            <a:r>
              <a:rPr lang="en-US" altLang="zh-CN" sz="2000" dirty="0">
                <a:solidFill>
                  <a:srgbClr val="000000"/>
                </a:solidFill>
              </a:rPr>
              <a:t>=0.9537-0.9048</a:t>
            </a:r>
          </a:p>
          <a:p>
            <a:r>
              <a:rPr lang="en-US" altLang="zh-CN" sz="2000" dirty="0">
                <a:solidFill>
                  <a:srgbClr val="000000"/>
                </a:solidFill>
              </a:rPr>
              <a:t>                        =</a:t>
            </a:r>
            <a:r>
              <a:rPr lang="en-US" altLang="zh-CN" sz="2000" dirty="0">
                <a:solidFill>
                  <a:srgbClr val="0000FF"/>
                </a:solidFill>
              </a:rPr>
              <a:t>0.0453</a:t>
            </a:r>
            <a:r>
              <a:rPr lang="en-US" altLang="zh-CN" sz="2000" dirty="0">
                <a:solidFill>
                  <a:srgbClr val="000000"/>
                </a:solidFill>
              </a:rPr>
              <a:t>  </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p>
        </p:txBody>
      </p:sp>
      <p:sp>
        <p:nvSpPr>
          <p:cNvPr id="15" name="Text Box 128"/>
          <p:cNvSpPr txBox="1">
            <a:spLocks noChangeArrowheads="1"/>
          </p:cNvSpPr>
          <p:nvPr/>
        </p:nvSpPr>
        <p:spPr bwMode="auto">
          <a:xfrm>
            <a:off x="5979968" y="960664"/>
            <a:ext cx="5653232" cy="400110"/>
          </a:xfrm>
          <a:prstGeom prst="rect">
            <a:avLst/>
          </a:prstGeom>
          <a:noFill/>
          <a:ln w="9525">
            <a:noFill/>
            <a:miter lim="800000"/>
            <a:headEnd/>
            <a:tailEnd/>
          </a:ln>
        </p:spPr>
        <p:txBody>
          <a:bodyPr wrap="square">
            <a:spAutoFit/>
          </a:bodyPr>
          <a:lstStyle/>
          <a:p>
            <a:r>
              <a:rPr lang="zh-CN" altLang="en-US" sz="2000" dirty="0">
                <a:solidFill>
                  <a:srgbClr val="FF0000"/>
                </a:solidFill>
              </a:rPr>
              <a:t>计算利用不同属性进行划分时的熵（续）</a:t>
            </a:r>
          </a:p>
        </p:txBody>
      </p:sp>
    </p:spTree>
    <p:extLst>
      <p:ext uri="{BB962C8B-B14F-4D97-AF65-F5344CB8AC3E}">
        <p14:creationId xmlns:p14="http://schemas.microsoft.com/office/powerpoint/2010/main" val="2488943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6614" name="Group 6"/>
          <p:cNvGraphicFramePr>
            <a:graphicFrameLocks noGrp="1"/>
          </p:cNvGraphicFramePr>
          <p:nvPr>
            <p:extLst>
              <p:ext uri="{D42A27DB-BD31-4B8C-83A1-F6EECF244321}">
                <p14:modId xmlns:p14="http://schemas.microsoft.com/office/powerpoint/2010/main" val="3393563203"/>
              </p:ext>
            </p:extLst>
          </p:nvPr>
        </p:nvGraphicFramePr>
        <p:xfrm>
          <a:off x="1273175" y="995852"/>
          <a:ext cx="4537075" cy="5272724"/>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extLst>
                  <a:ext uri="{0D108BD9-81ED-4DB2-BD59-A6C34878D82A}">
                    <a16:rowId xmlns:a16="http://schemas.microsoft.com/office/drawing/2014/main" val="10015"/>
                  </a:ext>
                </a:extLst>
              </a:tr>
            </a:tbl>
          </a:graphicData>
        </a:graphic>
      </p:graphicFrame>
      <p:sp>
        <p:nvSpPr>
          <p:cNvPr id="65659" name="Text Box 127"/>
          <p:cNvSpPr txBox="1">
            <a:spLocks noChangeArrowheads="1"/>
          </p:cNvSpPr>
          <p:nvPr/>
        </p:nvSpPr>
        <p:spPr bwMode="auto">
          <a:xfrm>
            <a:off x="6096000" y="1131457"/>
            <a:ext cx="3073277" cy="461665"/>
          </a:xfrm>
          <a:prstGeom prst="rect">
            <a:avLst/>
          </a:prstGeom>
          <a:noFill/>
          <a:ln w="9525">
            <a:noFill/>
            <a:miter lim="800000"/>
            <a:headEnd/>
            <a:tailEnd/>
          </a:ln>
        </p:spPr>
        <p:txBody>
          <a:bodyPr wrap="none">
            <a:spAutoFit/>
          </a:bodyPr>
          <a:lstStyle/>
          <a:p>
            <a:r>
              <a:rPr lang="zh-CN" altLang="en-US" sz="2400" dirty="0">
                <a:solidFill>
                  <a:srgbClr val="FF0000"/>
                </a:solidFill>
              </a:rPr>
              <a:t>第</a:t>
            </a:r>
            <a:r>
              <a:rPr lang="en-US" altLang="zh-CN" sz="2400" dirty="0">
                <a:solidFill>
                  <a:srgbClr val="FF0000"/>
                </a:solidFill>
              </a:rPr>
              <a:t>6</a:t>
            </a:r>
            <a:r>
              <a:rPr lang="zh-CN" altLang="en-US" sz="2400" dirty="0">
                <a:solidFill>
                  <a:srgbClr val="FF0000"/>
                </a:solidFill>
              </a:rPr>
              <a:t>步 计算选择节点  </a:t>
            </a:r>
          </a:p>
        </p:txBody>
      </p:sp>
      <p:sp>
        <p:nvSpPr>
          <p:cNvPr id="65660" name="Text Box 128"/>
          <p:cNvSpPr txBox="1">
            <a:spLocks noChangeArrowheads="1"/>
          </p:cNvSpPr>
          <p:nvPr/>
        </p:nvSpPr>
        <p:spPr bwMode="auto">
          <a:xfrm>
            <a:off x="6816469" y="1612470"/>
            <a:ext cx="3717877" cy="3785652"/>
          </a:xfrm>
          <a:prstGeom prst="rect">
            <a:avLst/>
          </a:prstGeom>
          <a:noFill/>
          <a:ln w="9525">
            <a:noFill/>
            <a:miter lim="800000"/>
            <a:headEnd/>
            <a:tailEnd/>
          </a:ln>
        </p:spPr>
        <p:txBody>
          <a:bodyPr wrap="none">
            <a:spAutoFit/>
          </a:bodyPr>
          <a:lstStyle/>
          <a:p>
            <a:endParaRPr lang="en-US" altLang="zh-CN" sz="2000" dirty="0">
              <a:solidFill>
                <a:srgbClr val="000000"/>
              </a:solidFill>
            </a:endParaRPr>
          </a:p>
          <a:p>
            <a:r>
              <a:rPr lang="zh-CN" altLang="en-US" sz="2000" dirty="0">
                <a:solidFill>
                  <a:srgbClr val="000000"/>
                </a:solidFill>
              </a:rPr>
              <a:t>年龄信息增益  </a:t>
            </a:r>
            <a:r>
              <a:rPr lang="en-US" altLang="zh-CN" sz="2000" dirty="0">
                <a:solidFill>
                  <a:srgbClr val="000000"/>
                </a:solidFill>
              </a:rPr>
              <a:t>=0.9537-0.6877</a:t>
            </a:r>
          </a:p>
          <a:p>
            <a:r>
              <a:rPr lang="en-US" altLang="zh-CN" sz="2000" dirty="0">
                <a:solidFill>
                  <a:srgbClr val="000000"/>
                </a:solidFill>
              </a:rPr>
              <a:t>                        =0.2660  </a:t>
            </a:r>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a:t>
            </a:r>
          </a:p>
          <a:p>
            <a:endParaRPr lang="zh-CN" altLang="en-US" sz="2000" dirty="0">
              <a:solidFill>
                <a:srgbClr val="000000"/>
              </a:solidFill>
            </a:endParaRPr>
          </a:p>
          <a:p>
            <a:r>
              <a:rPr lang="zh-CN" altLang="en-US" sz="2000" dirty="0">
                <a:solidFill>
                  <a:srgbClr val="000000"/>
                </a:solidFill>
              </a:rPr>
              <a:t>收入信息增益 </a:t>
            </a:r>
            <a:r>
              <a:rPr lang="en-US" altLang="zh-CN" sz="2000" dirty="0">
                <a:solidFill>
                  <a:srgbClr val="000000"/>
                </a:solidFill>
              </a:rPr>
              <a:t>=0.9537-0.9361</a:t>
            </a:r>
          </a:p>
          <a:p>
            <a:r>
              <a:rPr lang="en-US" altLang="zh-CN" sz="2000" dirty="0">
                <a:solidFill>
                  <a:srgbClr val="000000"/>
                </a:solidFill>
              </a:rPr>
              <a:t>                       =0.0176    </a:t>
            </a: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p>
          <a:p>
            <a:endParaRPr lang="zh-CN" altLang="en-US" sz="2000" dirty="0">
              <a:solidFill>
                <a:srgbClr val="FF0000"/>
              </a:solidFill>
            </a:endParaRPr>
          </a:p>
          <a:p>
            <a:r>
              <a:rPr lang="zh-CN" altLang="en-US" sz="2000" dirty="0">
                <a:solidFill>
                  <a:srgbClr val="000000"/>
                </a:solidFill>
              </a:rPr>
              <a:t>学生信息增益  </a:t>
            </a:r>
            <a:r>
              <a:rPr lang="en-US" altLang="zh-CN" sz="2000" dirty="0">
                <a:solidFill>
                  <a:srgbClr val="000000"/>
                </a:solidFill>
              </a:rPr>
              <a:t>= 0.9537-0.7811</a:t>
            </a:r>
          </a:p>
          <a:p>
            <a:r>
              <a:rPr lang="en-US" altLang="zh-CN" sz="2000" dirty="0">
                <a:solidFill>
                  <a:srgbClr val="000000"/>
                </a:solidFill>
              </a:rPr>
              <a:t>                        =0.1726   </a:t>
            </a: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endParaRPr lang="zh-CN" altLang="en-US" sz="2000" dirty="0">
              <a:solidFill>
                <a:srgbClr val="000000"/>
              </a:solidFill>
            </a:endParaRPr>
          </a:p>
          <a:p>
            <a:endParaRPr lang="zh-CN" altLang="en-US" sz="2000" dirty="0">
              <a:solidFill>
                <a:srgbClr val="000000"/>
              </a:solidFill>
            </a:endParaRPr>
          </a:p>
          <a:p>
            <a:r>
              <a:rPr lang="zh-CN" altLang="en-US" sz="2000" dirty="0">
                <a:solidFill>
                  <a:srgbClr val="000000"/>
                </a:solidFill>
              </a:rPr>
              <a:t>信誉信息增益 </a:t>
            </a:r>
            <a:r>
              <a:rPr lang="en-US" altLang="zh-CN" sz="2000" dirty="0">
                <a:solidFill>
                  <a:srgbClr val="000000"/>
                </a:solidFill>
              </a:rPr>
              <a:t>= 0.9537-0.9048</a:t>
            </a:r>
          </a:p>
          <a:p>
            <a:r>
              <a:rPr lang="en-US" altLang="zh-CN" sz="2000" dirty="0">
                <a:solidFill>
                  <a:srgbClr val="000000"/>
                </a:solidFill>
              </a:rPr>
              <a:t>                        =0.0453   </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p>
        </p:txBody>
      </p:sp>
      <p:sp>
        <p:nvSpPr>
          <p:cNvPr id="65662" name="Text Box 130"/>
          <p:cNvSpPr txBox="1">
            <a:spLocks noChangeArrowheads="1"/>
          </p:cNvSpPr>
          <p:nvPr/>
        </p:nvSpPr>
        <p:spPr bwMode="auto">
          <a:xfrm>
            <a:off x="4800600" y="428604"/>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7" name="灯片编号占位符 6"/>
          <p:cNvSpPr>
            <a:spLocks noGrp="1"/>
          </p:cNvSpPr>
          <p:nvPr>
            <p:ph type="sldNum" sz="quarter" idx="11"/>
          </p:nvPr>
        </p:nvSpPr>
        <p:spPr/>
        <p:txBody>
          <a:bodyPr/>
          <a:lstStyle/>
          <a:p>
            <a:pPr>
              <a:defRPr/>
            </a:pPr>
            <a:fld id="{8EDB171D-A1F9-42E8-BD2B-16AA89E5910B}" type="slidenum">
              <a:rPr lang="en-US" altLang="zh-CN" smtClean="0"/>
              <a:pPr>
                <a:defRPr/>
              </a:pPr>
              <a:t>20</a:t>
            </a:fld>
            <a:endParaRPr lang="en-US" altLang="zh-CN"/>
          </a:p>
        </p:txBody>
      </p:sp>
      <p:sp>
        <p:nvSpPr>
          <p:cNvPr id="8" name="椭圆 7"/>
          <p:cNvSpPr/>
          <p:nvPr/>
        </p:nvSpPr>
        <p:spPr>
          <a:xfrm>
            <a:off x="6744072" y="1934326"/>
            <a:ext cx="3923928" cy="649188"/>
          </a:xfrm>
          <a:prstGeom prst="ellipse">
            <a:avLst/>
          </a:prstGeom>
          <a:ln>
            <a:solidFill>
              <a:srgbClr val="FF0000"/>
            </a:solidFill>
          </a:ln>
        </p:spPr>
        <p:txBody>
          <a:bodyPr wrap="square" rtlCol="0" anchor="ctr">
            <a:spAutoFit/>
          </a:bodyPr>
          <a:lstStyle/>
          <a:p>
            <a:pPr algn="ctr"/>
            <a:endParaRPr lang="zh-CN" altLang="en-US" sz="2400" kern="100" dirty="0">
              <a:solidFill>
                <a:srgbClr val="000000"/>
              </a:solidFill>
              <a:ea typeface="宋体"/>
              <a:cs typeface="Times New Roman"/>
            </a:endParaRPr>
          </a:p>
        </p:txBody>
      </p:sp>
      <p:sp>
        <p:nvSpPr>
          <p:cNvPr id="2" name="矩形 1"/>
          <p:cNvSpPr/>
          <p:nvPr/>
        </p:nvSpPr>
        <p:spPr>
          <a:xfrm>
            <a:off x="6697694" y="5590594"/>
            <a:ext cx="3551207" cy="646331"/>
          </a:xfrm>
          <a:prstGeom prst="rect">
            <a:avLst/>
          </a:prstGeom>
          <a:solidFill>
            <a:schemeClr val="accent2">
              <a:lumMod val="60000"/>
              <a:lumOff val="40000"/>
            </a:schemeClr>
          </a:solidFill>
        </p:spPr>
        <p:txBody>
          <a:bodyPr wrap="square">
            <a:spAutoFit/>
          </a:bodyPr>
          <a:lstStyle/>
          <a:p>
            <a:r>
              <a:rPr lang="zh-CN" altLang="en-US" dirty="0">
                <a:solidFill>
                  <a:srgbClr val="000000"/>
                </a:solidFill>
              </a:rPr>
              <a:t>最大信息增益选择特征属性年龄作为节点（选择划分节点的属性）</a:t>
            </a:r>
            <a:endParaRPr lang="en-US" altLang="zh-CN" dirty="0">
              <a:solidFill>
                <a:srgbClr val="000000"/>
              </a:solidFill>
            </a:endParaRPr>
          </a:p>
        </p:txBody>
      </p:sp>
    </p:spTree>
    <p:extLst>
      <p:ext uri="{BB962C8B-B14F-4D97-AF65-F5344CB8AC3E}">
        <p14:creationId xmlns:p14="http://schemas.microsoft.com/office/powerpoint/2010/main" val="3374099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7785" name="Group 153"/>
          <p:cNvGraphicFramePr>
            <a:graphicFrameLocks noGrp="1"/>
          </p:cNvGraphicFramePr>
          <p:nvPr>
            <p:extLst>
              <p:ext uri="{D42A27DB-BD31-4B8C-83A1-F6EECF244321}">
                <p14:modId xmlns:p14="http://schemas.microsoft.com/office/powerpoint/2010/main" val="2951617777"/>
              </p:ext>
            </p:extLst>
          </p:nvPr>
        </p:nvGraphicFramePr>
        <p:xfrm>
          <a:off x="1487685" y="3233613"/>
          <a:ext cx="4537075" cy="2107248"/>
        </p:xfrm>
        <a:graphic>
          <a:graphicData uri="http://schemas.openxmlformats.org/drawingml/2006/table">
            <a:tbl>
              <a:tblPr/>
              <a:tblGrid>
                <a:gridCol w="512762">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3">
                  <a:extLst>
                    <a:ext uri="{9D8B030D-6E8A-4147-A177-3AD203B41FA5}">
                      <a16:colId xmlns:a16="http://schemas.microsoft.com/office/drawing/2014/main" val="20004"/>
                    </a:ext>
                  </a:extLst>
                </a:gridCol>
                <a:gridCol w="1549400">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dirty="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6613" name="Rectangle 126"/>
          <p:cNvSpPr>
            <a:spLocks noChangeArrowheads="1"/>
          </p:cNvSpPr>
          <p:nvPr/>
        </p:nvSpPr>
        <p:spPr bwMode="auto">
          <a:xfrm>
            <a:off x="7752755" y="2419723"/>
            <a:ext cx="1223963" cy="503237"/>
          </a:xfrm>
          <a:prstGeom prst="rect">
            <a:avLst/>
          </a:prstGeom>
          <a:solidFill>
            <a:schemeClr val="accent1"/>
          </a:solidFill>
          <a:ln w="9525">
            <a:solidFill>
              <a:schemeClr val="tx1"/>
            </a:solidFill>
            <a:miter lim="800000"/>
            <a:headEnd/>
            <a:tailEnd/>
          </a:ln>
        </p:spPr>
        <p:txBody>
          <a:bodyPr wrap="none" anchor="ctr"/>
          <a:lstStyle/>
          <a:p>
            <a:pPr algn="ctr"/>
            <a:r>
              <a:rPr lang="zh-CN" altLang="en-US">
                <a:solidFill>
                  <a:srgbClr val="000000"/>
                </a:solidFill>
              </a:rPr>
              <a:t>年龄</a:t>
            </a:r>
          </a:p>
        </p:txBody>
      </p:sp>
      <p:sp>
        <p:nvSpPr>
          <p:cNvPr id="66614" name="Line 128"/>
          <p:cNvSpPr>
            <a:spLocks noChangeShapeType="1"/>
          </p:cNvSpPr>
          <p:nvPr/>
        </p:nvSpPr>
        <p:spPr bwMode="auto">
          <a:xfrm flipH="1">
            <a:off x="6889155" y="2924548"/>
            <a:ext cx="1439861" cy="959881"/>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66615" name="Line 129"/>
          <p:cNvSpPr>
            <a:spLocks noChangeShapeType="1"/>
          </p:cNvSpPr>
          <p:nvPr/>
        </p:nvSpPr>
        <p:spPr bwMode="auto">
          <a:xfrm>
            <a:off x="8329017" y="2924548"/>
            <a:ext cx="0" cy="1152525"/>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66616" name="Line 130"/>
          <p:cNvSpPr>
            <a:spLocks noChangeShapeType="1"/>
          </p:cNvSpPr>
          <p:nvPr/>
        </p:nvSpPr>
        <p:spPr bwMode="auto">
          <a:xfrm>
            <a:off x="8329017" y="2924547"/>
            <a:ext cx="1511300" cy="863600"/>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66617" name="Text Box 131"/>
          <p:cNvSpPr txBox="1">
            <a:spLocks noChangeArrowheads="1"/>
          </p:cNvSpPr>
          <p:nvPr/>
        </p:nvSpPr>
        <p:spPr bwMode="auto">
          <a:xfrm>
            <a:off x="6673254" y="2995984"/>
            <a:ext cx="646331" cy="369332"/>
          </a:xfrm>
          <a:prstGeom prst="rect">
            <a:avLst/>
          </a:prstGeom>
          <a:noFill/>
          <a:ln w="9525">
            <a:noFill/>
            <a:miter lim="800000"/>
            <a:headEnd/>
            <a:tailEnd/>
          </a:ln>
        </p:spPr>
        <p:txBody>
          <a:bodyPr wrap="none">
            <a:spAutoFit/>
          </a:bodyPr>
          <a:lstStyle/>
          <a:p>
            <a:r>
              <a:rPr lang="zh-CN" altLang="en-US">
                <a:solidFill>
                  <a:srgbClr val="000000"/>
                </a:solidFill>
              </a:rPr>
              <a:t>青年</a:t>
            </a:r>
          </a:p>
        </p:txBody>
      </p:sp>
      <p:sp>
        <p:nvSpPr>
          <p:cNvPr id="66618" name="Text Box 132"/>
          <p:cNvSpPr txBox="1">
            <a:spLocks noChangeArrowheads="1"/>
          </p:cNvSpPr>
          <p:nvPr/>
        </p:nvSpPr>
        <p:spPr bwMode="auto">
          <a:xfrm>
            <a:off x="8291819" y="3458502"/>
            <a:ext cx="646331" cy="369332"/>
          </a:xfrm>
          <a:prstGeom prst="rect">
            <a:avLst/>
          </a:prstGeom>
          <a:noFill/>
          <a:ln w="9525">
            <a:noFill/>
            <a:miter lim="800000"/>
            <a:headEnd/>
            <a:tailEnd/>
          </a:ln>
        </p:spPr>
        <p:txBody>
          <a:bodyPr wrap="none">
            <a:spAutoFit/>
          </a:bodyPr>
          <a:lstStyle/>
          <a:p>
            <a:r>
              <a:rPr lang="zh-CN" altLang="en-US" dirty="0">
                <a:solidFill>
                  <a:srgbClr val="000000"/>
                </a:solidFill>
              </a:rPr>
              <a:t>中年</a:t>
            </a:r>
          </a:p>
        </p:txBody>
      </p:sp>
      <p:sp>
        <p:nvSpPr>
          <p:cNvPr id="66619" name="Text Box 133"/>
          <p:cNvSpPr txBox="1">
            <a:spLocks noChangeArrowheads="1"/>
          </p:cNvSpPr>
          <p:nvPr/>
        </p:nvSpPr>
        <p:spPr bwMode="auto">
          <a:xfrm>
            <a:off x="9335580" y="3202915"/>
            <a:ext cx="646331" cy="369332"/>
          </a:xfrm>
          <a:prstGeom prst="rect">
            <a:avLst/>
          </a:prstGeom>
          <a:noFill/>
          <a:ln w="9525">
            <a:noFill/>
            <a:miter lim="800000"/>
            <a:headEnd/>
            <a:tailEnd/>
          </a:ln>
        </p:spPr>
        <p:txBody>
          <a:bodyPr wrap="none">
            <a:spAutoFit/>
          </a:bodyPr>
          <a:lstStyle/>
          <a:p>
            <a:r>
              <a:rPr lang="zh-CN" altLang="en-US" dirty="0">
                <a:solidFill>
                  <a:srgbClr val="000000"/>
                </a:solidFill>
              </a:rPr>
              <a:t>老年</a:t>
            </a:r>
          </a:p>
        </p:txBody>
      </p:sp>
      <p:sp>
        <p:nvSpPr>
          <p:cNvPr id="66620" name="Oval 134"/>
          <p:cNvSpPr>
            <a:spLocks noChangeArrowheads="1"/>
          </p:cNvSpPr>
          <p:nvPr/>
        </p:nvSpPr>
        <p:spPr bwMode="auto">
          <a:xfrm>
            <a:off x="6312893" y="3788148"/>
            <a:ext cx="719137" cy="1512887"/>
          </a:xfrm>
          <a:prstGeom prst="ellipse">
            <a:avLst/>
          </a:prstGeom>
          <a:solidFill>
            <a:schemeClr val="hlink"/>
          </a:solidFill>
          <a:ln w="9525">
            <a:solidFill>
              <a:schemeClr val="tx1"/>
            </a:solidFill>
            <a:round/>
            <a:headEnd/>
            <a:tailEnd/>
          </a:ln>
        </p:spPr>
        <p:txBody>
          <a:bodyPr wrap="none" anchor="ctr"/>
          <a:lstStyle/>
          <a:p>
            <a:endParaRPr lang="zh-CN" altLang="en-US">
              <a:solidFill>
                <a:srgbClr val="000000"/>
              </a:solidFill>
            </a:endParaRPr>
          </a:p>
        </p:txBody>
      </p:sp>
      <p:sp>
        <p:nvSpPr>
          <p:cNvPr id="66621" name="Text Box 135"/>
          <p:cNvSpPr txBox="1">
            <a:spLocks noChangeArrowheads="1"/>
          </p:cNvSpPr>
          <p:nvPr/>
        </p:nvSpPr>
        <p:spPr bwMode="auto">
          <a:xfrm>
            <a:off x="6379764" y="4205620"/>
            <a:ext cx="646331" cy="646331"/>
          </a:xfrm>
          <a:prstGeom prst="rect">
            <a:avLst/>
          </a:prstGeom>
          <a:noFill/>
          <a:ln w="9525">
            <a:noFill/>
            <a:miter lim="800000"/>
            <a:headEnd/>
            <a:tailEnd/>
          </a:ln>
        </p:spPr>
        <p:txBody>
          <a:bodyPr wrap="none">
            <a:spAutoFit/>
          </a:bodyPr>
          <a:lstStyle/>
          <a:p>
            <a:r>
              <a:rPr lang="zh-CN" altLang="en-US">
                <a:solidFill>
                  <a:srgbClr val="000000"/>
                </a:solidFill>
              </a:rPr>
              <a:t>买</a:t>
            </a:r>
            <a:r>
              <a:rPr lang="en-US" altLang="zh-CN">
                <a:solidFill>
                  <a:srgbClr val="000000"/>
                </a:solidFill>
              </a:rPr>
              <a:t>/</a:t>
            </a:r>
          </a:p>
          <a:p>
            <a:r>
              <a:rPr lang="zh-CN" altLang="en-US">
                <a:solidFill>
                  <a:srgbClr val="000000"/>
                </a:solidFill>
              </a:rPr>
              <a:t>不买</a:t>
            </a:r>
          </a:p>
        </p:txBody>
      </p:sp>
      <p:sp>
        <p:nvSpPr>
          <p:cNvPr id="66622" name="Oval 136"/>
          <p:cNvSpPr>
            <a:spLocks noChangeArrowheads="1"/>
          </p:cNvSpPr>
          <p:nvPr/>
        </p:nvSpPr>
        <p:spPr bwMode="auto">
          <a:xfrm>
            <a:off x="7824192" y="4077072"/>
            <a:ext cx="1008062" cy="792162"/>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66623" name="Text Box 137"/>
          <p:cNvSpPr txBox="1">
            <a:spLocks noChangeArrowheads="1"/>
          </p:cNvSpPr>
          <p:nvPr/>
        </p:nvSpPr>
        <p:spPr bwMode="auto">
          <a:xfrm>
            <a:off x="8041679" y="4267572"/>
            <a:ext cx="415498" cy="369332"/>
          </a:xfrm>
          <a:prstGeom prst="rect">
            <a:avLst/>
          </a:prstGeom>
          <a:noFill/>
          <a:ln w="9525">
            <a:noFill/>
            <a:miter lim="800000"/>
            <a:headEnd/>
            <a:tailEnd/>
          </a:ln>
        </p:spPr>
        <p:txBody>
          <a:bodyPr wrap="none">
            <a:spAutoFit/>
          </a:bodyPr>
          <a:lstStyle/>
          <a:p>
            <a:r>
              <a:rPr lang="zh-CN" altLang="en-US">
                <a:solidFill>
                  <a:srgbClr val="000000"/>
                </a:solidFill>
              </a:rPr>
              <a:t>买</a:t>
            </a:r>
          </a:p>
        </p:txBody>
      </p:sp>
      <p:sp>
        <p:nvSpPr>
          <p:cNvPr id="66624" name="Oval 138"/>
          <p:cNvSpPr>
            <a:spLocks noChangeArrowheads="1"/>
          </p:cNvSpPr>
          <p:nvPr/>
        </p:nvSpPr>
        <p:spPr bwMode="auto">
          <a:xfrm>
            <a:off x="9408518" y="3788148"/>
            <a:ext cx="719137" cy="1512887"/>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66625" name="Text Box 139"/>
          <p:cNvSpPr txBox="1">
            <a:spLocks noChangeArrowheads="1"/>
          </p:cNvSpPr>
          <p:nvPr/>
        </p:nvSpPr>
        <p:spPr bwMode="auto">
          <a:xfrm>
            <a:off x="9444920" y="4183216"/>
            <a:ext cx="646331" cy="646331"/>
          </a:xfrm>
          <a:prstGeom prst="rect">
            <a:avLst/>
          </a:prstGeom>
          <a:noFill/>
          <a:ln w="9525">
            <a:noFill/>
            <a:miter lim="800000"/>
            <a:headEnd/>
            <a:tailEnd/>
          </a:ln>
        </p:spPr>
        <p:txBody>
          <a:bodyPr wrap="none">
            <a:spAutoFit/>
          </a:bodyPr>
          <a:lstStyle/>
          <a:p>
            <a:r>
              <a:rPr lang="zh-CN" altLang="en-US" dirty="0">
                <a:solidFill>
                  <a:srgbClr val="000000"/>
                </a:solidFill>
              </a:rPr>
              <a:t>买</a:t>
            </a:r>
            <a:r>
              <a:rPr lang="en-US" altLang="zh-CN" dirty="0">
                <a:solidFill>
                  <a:srgbClr val="000000"/>
                </a:solidFill>
              </a:rPr>
              <a:t>/</a:t>
            </a:r>
          </a:p>
          <a:p>
            <a:r>
              <a:rPr lang="zh-CN" altLang="en-US" dirty="0">
                <a:solidFill>
                  <a:srgbClr val="000000"/>
                </a:solidFill>
              </a:rPr>
              <a:t>不买</a:t>
            </a:r>
          </a:p>
        </p:txBody>
      </p:sp>
      <p:sp>
        <p:nvSpPr>
          <p:cNvPr id="66626" name="Line 140"/>
          <p:cNvSpPr>
            <a:spLocks noChangeShapeType="1"/>
          </p:cNvSpPr>
          <p:nvPr/>
        </p:nvSpPr>
        <p:spPr bwMode="auto">
          <a:xfrm flipH="1">
            <a:off x="6096992" y="5301035"/>
            <a:ext cx="576262" cy="792163"/>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66627" name="Line 141"/>
          <p:cNvSpPr>
            <a:spLocks noChangeShapeType="1"/>
          </p:cNvSpPr>
          <p:nvPr/>
        </p:nvSpPr>
        <p:spPr bwMode="auto">
          <a:xfrm>
            <a:off x="9768880" y="5301034"/>
            <a:ext cx="360363" cy="935038"/>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66628" name="Line 142"/>
          <p:cNvSpPr>
            <a:spLocks noChangeShapeType="1"/>
          </p:cNvSpPr>
          <p:nvPr/>
        </p:nvSpPr>
        <p:spPr bwMode="auto">
          <a:xfrm>
            <a:off x="7681317" y="4869234"/>
            <a:ext cx="1223962" cy="0"/>
          </a:xfrm>
          <a:prstGeom prst="line">
            <a:avLst/>
          </a:prstGeom>
          <a:noFill/>
          <a:ln w="9525">
            <a:solidFill>
              <a:schemeClr val="tx1"/>
            </a:solidFill>
            <a:round/>
            <a:headEnd/>
            <a:tailEnd/>
          </a:ln>
        </p:spPr>
        <p:txBody>
          <a:bodyPr/>
          <a:lstStyle/>
          <a:p>
            <a:endParaRPr lang="zh-CN" altLang="en-US">
              <a:solidFill>
                <a:srgbClr val="000000"/>
              </a:solidFill>
            </a:endParaRPr>
          </a:p>
        </p:txBody>
      </p:sp>
      <p:sp>
        <p:nvSpPr>
          <p:cNvPr id="66629" name="Text Box 143"/>
          <p:cNvSpPr txBox="1">
            <a:spLocks noChangeArrowheads="1"/>
          </p:cNvSpPr>
          <p:nvPr/>
        </p:nvSpPr>
        <p:spPr bwMode="auto">
          <a:xfrm>
            <a:off x="7968654" y="4829547"/>
            <a:ext cx="646331" cy="369332"/>
          </a:xfrm>
          <a:prstGeom prst="rect">
            <a:avLst/>
          </a:prstGeom>
          <a:noFill/>
          <a:ln w="9525">
            <a:noFill/>
            <a:miter lim="800000"/>
            <a:headEnd/>
            <a:tailEnd/>
          </a:ln>
        </p:spPr>
        <p:txBody>
          <a:bodyPr wrap="none">
            <a:spAutoFit/>
          </a:bodyPr>
          <a:lstStyle/>
          <a:p>
            <a:r>
              <a:rPr lang="zh-CN" altLang="en-US">
                <a:solidFill>
                  <a:srgbClr val="000000"/>
                </a:solidFill>
              </a:rPr>
              <a:t>叶子</a:t>
            </a:r>
          </a:p>
        </p:txBody>
      </p:sp>
      <p:sp>
        <p:nvSpPr>
          <p:cNvPr id="66630" name="AutoShape 154"/>
          <p:cNvSpPr>
            <a:spLocks noChangeArrowheads="1"/>
          </p:cNvSpPr>
          <p:nvPr/>
        </p:nvSpPr>
        <p:spPr bwMode="auto">
          <a:xfrm>
            <a:off x="6023968" y="3427785"/>
            <a:ext cx="1152525" cy="288925"/>
          </a:xfrm>
          <a:prstGeom prst="rightArrow">
            <a:avLst>
              <a:gd name="adj1" fmla="val 50000"/>
              <a:gd name="adj2" fmla="val 99725"/>
            </a:avLst>
          </a:prstGeom>
          <a:solidFill>
            <a:schemeClr val="hlink"/>
          </a:solidFill>
          <a:ln w="9525">
            <a:solidFill>
              <a:schemeClr val="tx1"/>
            </a:solidFill>
            <a:miter lim="800000"/>
            <a:headEnd/>
            <a:tailEnd/>
          </a:ln>
        </p:spPr>
        <p:txBody>
          <a:bodyPr wrap="none" anchor="ctr"/>
          <a:lstStyle/>
          <a:p>
            <a:endParaRPr lang="zh-CN" altLang="en-US">
              <a:solidFill>
                <a:srgbClr val="000000"/>
              </a:solidFill>
            </a:endParaRPr>
          </a:p>
        </p:txBody>
      </p:sp>
      <p:sp>
        <p:nvSpPr>
          <p:cNvPr id="66631" name="Text Box 155"/>
          <p:cNvSpPr txBox="1">
            <a:spLocks noChangeArrowheads="1"/>
          </p:cNvSpPr>
          <p:nvPr/>
        </p:nvSpPr>
        <p:spPr bwMode="auto">
          <a:xfrm>
            <a:off x="4800600" y="428604"/>
            <a:ext cx="1962150" cy="519112"/>
          </a:xfrm>
          <a:prstGeom prst="rect">
            <a:avLst/>
          </a:prstGeom>
          <a:noFill/>
          <a:ln w="9525">
            <a:noFill/>
            <a:miter lim="800000"/>
            <a:headEnd/>
            <a:tailEnd/>
          </a:ln>
        </p:spPr>
        <p:txBody>
          <a:bodyPr wrap="none">
            <a:spAutoFit/>
          </a:bodyPr>
          <a:lstStyle/>
          <a:p>
            <a:r>
              <a:rPr lang="zh-CN" altLang="en-US" sz="2800" dirty="0">
                <a:solidFill>
                  <a:srgbClr val="000000"/>
                </a:solidFill>
              </a:rPr>
              <a:t>决策树算法</a:t>
            </a:r>
          </a:p>
        </p:txBody>
      </p:sp>
      <p:sp>
        <p:nvSpPr>
          <p:cNvPr id="22" name="灯片编号占位符 21"/>
          <p:cNvSpPr>
            <a:spLocks noGrp="1"/>
          </p:cNvSpPr>
          <p:nvPr>
            <p:ph type="sldNum" sz="quarter" idx="11"/>
          </p:nvPr>
        </p:nvSpPr>
        <p:spPr/>
        <p:txBody>
          <a:bodyPr/>
          <a:lstStyle/>
          <a:p>
            <a:pPr>
              <a:defRPr/>
            </a:pPr>
            <a:fld id="{8EDB171D-A1F9-42E8-BD2B-16AA89E5910B}" type="slidenum">
              <a:rPr lang="en-US" altLang="zh-CN" smtClean="0"/>
              <a:pPr>
                <a:defRPr/>
              </a:pPr>
              <a:t>21</a:t>
            </a:fld>
            <a:endParaRPr lang="en-US" altLang="zh-CN"/>
          </a:p>
        </p:txBody>
      </p:sp>
      <p:sp>
        <p:nvSpPr>
          <p:cNvPr id="2" name="矩形 1"/>
          <p:cNvSpPr/>
          <p:nvPr/>
        </p:nvSpPr>
        <p:spPr>
          <a:xfrm>
            <a:off x="906700" y="1218254"/>
            <a:ext cx="8933617" cy="1938992"/>
          </a:xfrm>
          <a:prstGeom prst="rect">
            <a:avLst/>
          </a:prstGeom>
        </p:spPr>
        <p:txBody>
          <a:bodyPr wrap="square">
            <a:spAutoFit/>
          </a:bodyPr>
          <a:lstStyle/>
          <a:p>
            <a:r>
              <a:rPr lang="zh-CN" altLang="en-US" sz="2000" dirty="0">
                <a:solidFill>
                  <a:srgbClr val="000000"/>
                </a:solidFill>
              </a:rPr>
              <a:t>选择信息增益最大的特征“年龄”作为节点，该特征的不同取值建立子节点（将训练数据集分为三个子集）；</a:t>
            </a:r>
            <a:endParaRPr lang="en-US" altLang="zh-CN" sz="2000" dirty="0">
              <a:solidFill>
                <a:srgbClr val="000000"/>
              </a:solidFill>
            </a:endParaRPr>
          </a:p>
          <a:p>
            <a:r>
              <a:rPr lang="zh-CN" altLang="en-US" sz="2000" dirty="0">
                <a:solidFill>
                  <a:srgbClr val="000000"/>
                </a:solidFill>
              </a:rPr>
              <a:t>对各子节点递归的进行上述节点选取的操作，构建决策树；</a:t>
            </a:r>
            <a:endParaRPr lang="en-US" altLang="zh-CN" sz="2000" dirty="0">
              <a:solidFill>
                <a:srgbClr val="000000"/>
              </a:solidFill>
            </a:endParaRPr>
          </a:p>
          <a:p>
            <a:r>
              <a:rPr lang="zh-CN" altLang="en-US" sz="2000" dirty="0">
                <a:solidFill>
                  <a:srgbClr val="000000"/>
                </a:solidFill>
              </a:rPr>
              <a:t>直到所有特恒的信息增益都很小或没有特征可选为止。</a:t>
            </a:r>
            <a:endParaRPr lang="en-US" altLang="zh-CN" sz="2000" dirty="0">
              <a:solidFill>
                <a:srgbClr val="000000"/>
              </a:solidFill>
            </a:endParaRPr>
          </a:p>
          <a:p>
            <a:r>
              <a:rPr lang="zh-CN" altLang="en-US" sz="2000" dirty="0">
                <a:solidFill>
                  <a:srgbClr val="000000"/>
                </a:solidFill>
              </a:rPr>
              <a:t>最后得到一个决策树。</a:t>
            </a:r>
            <a:endParaRPr lang="en-US" altLang="zh-CN" sz="2000" dirty="0">
              <a:solidFill>
                <a:srgbClr val="000000"/>
              </a:solidFill>
            </a:endParaRPr>
          </a:p>
          <a:p>
            <a:endParaRPr lang="zh-CN" altLang="en-US" sz="2000" dirty="0">
              <a:solidFill>
                <a:srgbClr val="000000"/>
              </a:solidFill>
            </a:endParaRPr>
          </a:p>
        </p:txBody>
      </p:sp>
    </p:spTree>
    <p:extLst>
      <p:ext uri="{BB962C8B-B14F-4D97-AF65-F5344CB8AC3E}">
        <p14:creationId xmlns:p14="http://schemas.microsoft.com/office/powerpoint/2010/main" val="2515276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85" name="Group 5"/>
          <p:cNvGraphicFramePr>
            <a:graphicFrameLocks noGrp="1"/>
          </p:cNvGraphicFramePr>
          <p:nvPr>
            <p:extLst>
              <p:ext uri="{D42A27DB-BD31-4B8C-83A1-F6EECF244321}">
                <p14:modId xmlns:p14="http://schemas.microsoft.com/office/powerpoint/2010/main" val="3669863787"/>
              </p:ext>
            </p:extLst>
          </p:nvPr>
        </p:nvGraphicFramePr>
        <p:xfrm>
          <a:off x="550502" y="2639476"/>
          <a:ext cx="4000128" cy="2107248"/>
        </p:xfrm>
        <a:graphic>
          <a:graphicData uri="http://schemas.openxmlformats.org/drawingml/2006/table">
            <a:tbl>
              <a:tblPr/>
              <a:tblGrid>
                <a:gridCol w="512763">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1012453">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8661" name="Rectangle 56"/>
          <p:cNvSpPr>
            <a:spLocks noChangeArrowheads="1"/>
          </p:cNvSpPr>
          <p:nvPr/>
        </p:nvSpPr>
        <p:spPr bwMode="auto">
          <a:xfrm>
            <a:off x="4800600" y="2425692"/>
            <a:ext cx="5099602"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000" dirty="0">
                <a:solidFill>
                  <a:srgbClr val="000000"/>
                </a:solidFill>
              </a:rPr>
              <a:t>如果选择收入作为下一节点：分高、中、低</a:t>
            </a:r>
            <a:endParaRPr lang="en-US" altLang="zh-CN" sz="2000" dirty="0">
              <a:solidFill>
                <a:srgbClr val="000000"/>
              </a:solidFill>
            </a:endParaRPr>
          </a:p>
        </p:txBody>
      </p:sp>
      <p:sp>
        <p:nvSpPr>
          <p:cNvPr id="68662" name="Rectangle 57"/>
          <p:cNvSpPr>
            <a:spLocks noChangeArrowheads="1"/>
          </p:cNvSpPr>
          <p:nvPr/>
        </p:nvSpPr>
        <p:spPr bwMode="auto">
          <a:xfrm>
            <a:off x="695400" y="5141782"/>
            <a:ext cx="10225136" cy="1335087"/>
          </a:xfrm>
          <a:prstGeom prst="rect">
            <a:avLst/>
          </a:prstGeom>
          <a:noFill/>
          <a:ln w="9525">
            <a:noFill/>
            <a:miter lim="800000"/>
            <a:headEnd/>
            <a:tailEnd/>
          </a:ln>
        </p:spPr>
        <p:txBody>
          <a:bodyPr/>
          <a:lstStyle/>
          <a:p>
            <a:pPr marL="342900" indent="-342900" eaLnBrk="0" hangingPunct="0">
              <a:buSzPct val="70000"/>
            </a:pPr>
            <a:r>
              <a:rPr lang="zh-CN" altLang="en-US" sz="2000" dirty="0">
                <a:solidFill>
                  <a:srgbClr val="000000"/>
                </a:solidFill>
                <a:latin typeface="华文新魏" pitchFamily="2" charset="-122"/>
              </a:rPr>
              <a:t> </a:t>
            </a:r>
          </a:p>
          <a:p>
            <a:pPr marL="342900" indent="-342900" eaLnBrk="0" hangingPunct="0">
              <a:buSzPct val="70000"/>
            </a:pPr>
            <a:r>
              <a:rPr lang="zh-CN" altLang="en-US" sz="2000" dirty="0">
                <a:solidFill>
                  <a:srgbClr val="000000"/>
                </a:solidFill>
                <a:latin typeface="华文新魏" pitchFamily="2" charset="-122"/>
              </a:rPr>
              <a:t>	</a:t>
            </a:r>
            <a:r>
              <a:rPr lang="en-US" altLang="zh-CN" sz="2000" dirty="0">
                <a:solidFill>
                  <a:srgbClr val="0000FF"/>
                </a:solidFill>
              </a:rPr>
              <a:t>H</a:t>
            </a:r>
            <a:r>
              <a:rPr lang="zh-CN" altLang="en-US" sz="2000" dirty="0">
                <a:solidFill>
                  <a:srgbClr val="0000FF"/>
                </a:solidFill>
              </a:rPr>
              <a:t>（</a:t>
            </a:r>
            <a:r>
              <a:rPr lang="en-US" altLang="zh-CN" sz="2000" dirty="0">
                <a:solidFill>
                  <a:srgbClr val="0000FF"/>
                </a:solidFill>
              </a:rPr>
              <a:t>S | </a:t>
            </a:r>
            <a:r>
              <a:rPr lang="zh-CN" altLang="en-US" sz="2000" dirty="0">
                <a:solidFill>
                  <a:srgbClr val="0000FF"/>
                </a:solidFill>
              </a:rPr>
              <a:t>收入）</a:t>
            </a:r>
            <a:r>
              <a:rPr lang="en-US" altLang="zh-CN" sz="2000" dirty="0">
                <a:solidFill>
                  <a:srgbClr val="0000FF"/>
                </a:solidFill>
              </a:rPr>
              <a:t>= E</a:t>
            </a:r>
            <a:r>
              <a:rPr lang="zh-CN" altLang="en-US" sz="2000" dirty="0">
                <a:solidFill>
                  <a:srgbClr val="0000FF"/>
                </a:solidFill>
              </a:rPr>
              <a:t>（收入）</a:t>
            </a:r>
            <a:r>
              <a:rPr lang="en-US" altLang="zh-CN" sz="2000" dirty="0">
                <a:solidFill>
                  <a:srgbClr val="000000"/>
                </a:solidFill>
                <a:latin typeface="华文新魏" pitchFamily="2" charset="-122"/>
              </a:rPr>
              <a:t>= 0.3333 * 0 + 0.5 * 0.9183 + 0.1667 * 0 = 0.4592</a:t>
            </a:r>
          </a:p>
          <a:p>
            <a:pPr marL="342900" indent="-342900">
              <a:spcBef>
                <a:spcPct val="20000"/>
              </a:spcBef>
              <a:buSzPct val="70000"/>
            </a:pPr>
            <a:r>
              <a:rPr lang="en-US" altLang="zh-CN" sz="2000" dirty="0" err="1">
                <a:solidFill>
                  <a:srgbClr val="0000FF"/>
                </a:solidFill>
                <a:latin typeface="华文新魏" pitchFamily="2" charset="-122"/>
              </a:rPr>
              <a:t>InfoGain</a:t>
            </a:r>
            <a:r>
              <a:rPr lang="en-US" altLang="zh-CN" sz="2000" dirty="0">
                <a:solidFill>
                  <a:srgbClr val="0000FF"/>
                </a:solidFill>
                <a:latin typeface="华文新魏" pitchFamily="2" charset="-122"/>
              </a:rPr>
              <a:t>(</a:t>
            </a:r>
            <a:r>
              <a:rPr lang="zh-CN" altLang="en-US" sz="2000" dirty="0">
                <a:solidFill>
                  <a:srgbClr val="0000FF"/>
                </a:solidFill>
                <a:latin typeface="华文新魏" pitchFamily="2" charset="-122"/>
              </a:rPr>
              <a:t>收入</a:t>
            </a:r>
            <a:r>
              <a:rPr lang="en-US" altLang="zh-CN" sz="2000" dirty="0">
                <a:solidFill>
                  <a:srgbClr val="0000FF"/>
                </a:solidFill>
                <a:latin typeface="华文新魏" pitchFamily="2" charset="-122"/>
              </a:rPr>
              <a:t>) </a:t>
            </a:r>
            <a:r>
              <a:rPr lang="en-US" altLang="zh-CN" sz="2000" dirty="0">
                <a:solidFill>
                  <a:srgbClr val="000000"/>
                </a:solidFill>
                <a:latin typeface="华文新魏" pitchFamily="2" charset="-122"/>
              </a:rPr>
              <a:t>= </a:t>
            </a:r>
            <a:r>
              <a:rPr lang="en-US" altLang="zh-CN" sz="2000" dirty="0">
                <a:solidFill>
                  <a:srgbClr val="FF0000"/>
                </a:solidFill>
                <a:latin typeface="华文新魏" pitchFamily="2" charset="-122"/>
              </a:rPr>
              <a:t>I(128, 256) </a:t>
            </a:r>
            <a:r>
              <a:rPr lang="en-US" altLang="zh-CN" sz="2000" dirty="0">
                <a:solidFill>
                  <a:srgbClr val="000000"/>
                </a:solidFill>
                <a:latin typeface="华文新魏" pitchFamily="2" charset="-122"/>
              </a:rPr>
              <a:t>- E(</a:t>
            </a:r>
            <a:r>
              <a:rPr lang="zh-CN" altLang="en-US" sz="2000" dirty="0">
                <a:solidFill>
                  <a:srgbClr val="000000"/>
                </a:solidFill>
                <a:latin typeface="华文新魏" pitchFamily="2" charset="-122"/>
              </a:rPr>
              <a:t>收入</a:t>
            </a:r>
            <a:r>
              <a:rPr lang="en-US" altLang="zh-CN" sz="2000" dirty="0">
                <a:solidFill>
                  <a:srgbClr val="000000"/>
                </a:solidFill>
                <a:latin typeface="华文新魏" pitchFamily="2" charset="-122"/>
              </a:rPr>
              <a:t>)= </a:t>
            </a:r>
            <a:r>
              <a:rPr lang="en-US" altLang="zh-CN" sz="2000" dirty="0">
                <a:solidFill>
                  <a:srgbClr val="FF0000"/>
                </a:solidFill>
                <a:latin typeface="华文新魏" pitchFamily="2" charset="-122"/>
              </a:rPr>
              <a:t>0.9183</a:t>
            </a:r>
            <a:r>
              <a:rPr lang="en-US" altLang="zh-CN" sz="2000" dirty="0">
                <a:solidFill>
                  <a:srgbClr val="000000"/>
                </a:solidFill>
                <a:latin typeface="华文新魏" pitchFamily="2" charset="-122"/>
              </a:rPr>
              <a:t> </a:t>
            </a:r>
            <a:r>
              <a:rPr lang="en-US" altLang="zh-CN" sz="2000" dirty="0">
                <a:solidFill>
                  <a:srgbClr val="000000"/>
                </a:solidFill>
              </a:rPr>
              <a:t>–</a:t>
            </a:r>
            <a:r>
              <a:rPr lang="en-US" altLang="zh-CN" sz="2000" dirty="0">
                <a:solidFill>
                  <a:srgbClr val="000000"/>
                </a:solidFill>
                <a:latin typeface="华文新魏" pitchFamily="2" charset="-122"/>
              </a:rPr>
              <a:t> 0.4592 = </a:t>
            </a:r>
            <a:r>
              <a:rPr lang="en-US" altLang="zh-CN" sz="2000" dirty="0">
                <a:solidFill>
                  <a:srgbClr val="0000FF"/>
                </a:solidFill>
                <a:latin typeface="华文新魏" pitchFamily="2" charset="-122"/>
              </a:rPr>
              <a:t>0.4591</a:t>
            </a:r>
          </a:p>
        </p:txBody>
      </p:sp>
      <p:sp>
        <p:nvSpPr>
          <p:cNvPr id="68663" name="Text Box 58"/>
          <p:cNvSpPr txBox="1">
            <a:spLocks noChangeArrowheads="1"/>
          </p:cNvSpPr>
          <p:nvPr/>
        </p:nvSpPr>
        <p:spPr bwMode="auto">
          <a:xfrm>
            <a:off x="6141774" y="2935661"/>
            <a:ext cx="5832648" cy="2308324"/>
          </a:xfrm>
          <a:prstGeom prst="rect">
            <a:avLst/>
          </a:prstGeom>
          <a:noFill/>
          <a:ln w="12700">
            <a:noFill/>
            <a:miter lim="800000"/>
            <a:headEnd type="none" w="sm" len="sm"/>
            <a:tailEnd type="none" w="sm" len="sm"/>
          </a:ln>
        </p:spPr>
        <p:txBody>
          <a:bodyPr wrap="square">
            <a:spAutoFit/>
          </a:bodyPr>
          <a:lstStyle/>
          <a:p>
            <a:pPr>
              <a:lnSpc>
                <a:spcPct val="90000"/>
              </a:lnSpc>
            </a:pPr>
            <a:r>
              <a:rPr lang="en-US" altLang="zh-CN" sz="2000" dirty="0">
                <a:solidFill>
                  <a:srgbClr val="000000"/>
                </a:solidFill>
              </a:rPr>
              <a:t>H(S</a:t>
            </a:r>
            <a:r>
              <a:rPr lang="en-US" altLang="zh-CN" sz="2000" baseline="-25000" dirty="0">
                <a:solidFill>
                  <a:srgbClr val="000000"/>
                </a:solidFill>
              </a:rPr>
              <a:t>a</a:t>
            </a:r>
            <a:r>
              <a:rPr lang="en-US" altLang="zh-CN" sz="2000" dirty="0">
                <a:solidFill>
                  <a:srgbClr val="000000"/>
                </a:solidFill>
              </a:rPr>
              <a:t>=</a:t>
            </a:r>
            <a:r>
              <a:rPr lang="zh-CN" altLang="en-US" sz="2000" dirty="0">
                <a:solidFill>
                  <a:srgbClr val="000000"/>
                </a:solidFill>
              </a:rPr>
              <a:t>收入高 买计算机？</a:t>
            </a:r>
            <a:r>
              <a:rPr lang="en-US" altLang="zh-CN" sz="2000" dirty="0">
                <a:solidFill>
                  <a:srgbClr val="000000"/>
                </a:solidFill>
              </a:rPr>
              <a:t>) = </a:t>
            </a:r>
            <a:r>
              <a:rPr lang="en-US" altLang="zh-CN" sz="2000" dirty="0">
                <a:solidFill>
                  <a:srgbClr val="000000"/>
                </a:solidFill>
                <a:latin typeface="华文新魏" pitchFamily="2" charset="-122"/>
              </a:rPr>
              <a:t>I([0,128])=0 </a:t>
            </a:r>
          </a:p>
          <a:p>
            <a:pPr>
              <a:lnSpc>
                <a:spcPct val="90000"/>
              </a:lnSpc>
            </a:pPr>
            <a:r>
              <a:rPr lang="zh-CN" altLang="en-US" sz="2000" dirty="0">
                <a:solidFill>
                  <a:srgbClr val="000000"/>
                </a:solidFill>
                <a:latin typeface="华文新魏" pitchFamily="2" charset="-122"/>
              </a:rPr>
              <a:t>比例</a:t>
            </a:r>
            <a:r>
              <a:rPr lang="en-US" altLang="zh-CN" sz="2000" dirty="0">
                <a:solidFill>
                  <a:srgbClr val="000000"/>
                </a:solidFill>
                <a:latin typeface="华文新魏" pitchFamily="2" charset="-122"/>
              </a:rPr>
              <a:t>: 128/384=0.3333</a:t>
            </a:r>
          </a:p>
          <a:p>
            <a:pPr>
              <a:lnSpc>
                <a:spcPct val="90000"/>
              </a:lnSpc>
            </a:pPr>
            <a:endParaRPr lang="en-US" altLang="zh-CN" sz="2000" dirty="0">
              <a:solidFill>
                <a:srgbClr val="000000"/>
              </a:solidFill>
              <a:latin typeface="华文新魏" pitchFamily="2" charset="-122"/>
            </a:endParaRPr>
          </a:p>
          <a:p>
            <a:pPr>
              <a:lnSpc>
                <a:spcPct val="90000"/>
              </a:lnSpc>
              <a:buClr>
                <a:srgbClr val="F4BC72"/>
              </a:buClr>
            </a:pPr>
            <a:r>
              <a:rPr lang="en-US" altLang="zh-CN" sz="2000" dirty="0">
                <a:solidFill>
                  <a:srgbClr val="000000"/>
                </a:solidFill>
              </a:rPr>
              <a:t>H(S</a:t>
            </a:r>
            <a:r>
              <a:rPr lang="en-US" altLang="zh-CN" sz="2000" baseline="-25000" dirty="0">
                <a:solidFill>
                  <a:srgbClr val="000000"/>
                </a:solidFill>
              </a:rPr>
              <a:t>a</a:t>
            </a:r>
            <a:r>
              <a:rPr lang="en-US" altLang="zh-CN" sz="2000" dirty="0">
                <a:solidFill>
                  <a:srgbClr val="000000"/>
                </a:solidFill>
              </a:rPr>
              <a:t>=</a:t>
            </a:r>
            <a:r>
              <a:rPr lang="zh-CN" altLang="en-US" sz="2000" dirty="0">
                <a:solidFill>
                  <a:srgbClr val="000000"/>
                </a:solidFill>
              </a:rPr>
              <a:t>收入中 买计算机？</a:t>
            </a:r>
            <a:r>
              <a:rPr lang="en-US" altLang="zh-CN" sz="2000" dirty="0">
                <a:solidFill>
                  <a:srgbClr val="000000"/>
                </a:solidFill>
              </a:rPr>
              <a:t>) = </a:t>
            </a:r>
            <a:r>
              <a:rPr lang="en-US" altLang="zh-CN" sz="2000" dirty="0">
                <a:solidFill>
                  <a:srgbClr val="000000"/>
                </a:solidFill>
                <a:latin typeface="华文新魏" pitchFamily="2" charset="-122"/>
              </a:rPr>
              <a:t>I([64,128])=0.9183  </a:t>
            </a:r>
          </a:p>
          <a:p>
            <a:pPr>
              <a:lnSpc>
                <a:spcPct val="90000"/>
              </a:lnSpc>
              <a:buClr>
                <a:srgbClr val="F4BC72"/>
              </a:buClr>
              <a:buFont typeface="Wingdings" pitchFamily="2" charset="2"/>
              <a:buNone/>
            </a:pPr>
            <a:r>
              <a:rPr lang="zh-CN" altLang="en-US" sz="2000" dirty="0">
                <a:solidFill>
                  <a:srgbClr val="000000"/>
                </a:solidFill>
                <a:latin typeface="华文新魏" pitchFamily="2" charset="-122"/>
              </a:rPr>
              <a:t>比例</a:t>
            </a:r>
            <a:r>
              <a:rPr lang="en-US" altLang="zh-CN" sz="2000" dirty="0">
                <a:solidFill>
                  <a:srgbClr val="000000"/>
                </a:solidFill>
                <a:latin typeface="华文新魏" pitchFamily="2" charset="-122"/>
              </a:rPr>
              <a:t>: 192/384=0.5</a:t>
            </a:r>
          </a:p>
          <a:p>
            <a:pPr>
              <a:lnSpc>
                <a:spcPct val="90000"/>
              </a:lnSpc>
              <a:buClr>
                <a:srgbClr val="F4BC72"/>
              </a:buClr>
              <a:buFont typeface="Wingdings" pitchFamily="2" charset="2"/>
              <a:buNone/>
            </a:pPr>
            <a:endParaRPr lang="en-US" altLang="zh-CN" sz="2000" dirty="0">
              <a:solidFill>
                <a:srgbClr val="000000"/>
              </a:solidFill>
              <a:latin typeface="华文新魏" pitchFamily="2" charset="-122"/>
            </a:endParaRPr>
          </a:p>
          <a:p>
            <a:pPr>
              <a:lnSpc>
                <a:spcPct val="90000"/>
              </a:lnSpc>
              <a:buClr>
                <a:srgbClr val="F4BC72"/>
              </a:buClr>
              <a:buFont typeface="Wingdings" pitchFamily="2" charset="2"/>
              <a:buNone/>
            </a:pPr>
            <a:r>
              <a:rPr lang="en-US" altLang="zh-CN" sz="2000" dirty="0">
                <a:solidFill>
                  <a:srgbClr val="000000"/>
                </a:solidFill>
              </a:rPr>
              <a:t>H(S</a:t>
            </a:r>
            <a:r>
              <a:rPr lang="en-US" altLang="zh-CN" sz="2000" baseline="-25000" dirty="0">
                <a:solidFill>
                  <a:srgbClr val="000000"/>
                </a:solidFill>
              </a:rPr>
              <a:t>a</a:t>
            </a:r>
            <a:r>
              <a:rPr lang="en-US" altLang="zh-CN" sz="2000" dirty="0">
                <a:solidFill>
                  <a:srgbClr val="000000"/>
                </a:solidFill>
              </a:rPr>
              <a:t>=</a:t>
            </a:r>
            <a:r>
              <a:rPr lang="zh-CN" altLang="en-US" sz="2000" dirty="0">
                <a:solidFill>
                  <a:srgbClr val="000000"/>
                </a:solidFill>
              </a:rPr>
              <a:t>收入低 买计算机？</a:t>
            </a:r>
            <a:r>
              <a:rPr lang="en-US" altLang="zh-CN" sz="2000" dirty="0">
                <a:solidFill>
                  <a:srgbClr val="000000"/>
                </a:solidFill>
              </a:rPr>
              <a:t>) = </a:t>
            </a:r>
            <a:r>
              <a:rPr lang="en-US" altLang="zh-CN" sz="2000" dirty="0">
                <a:solidFill>
                  <a:srgbClr val="000000"/>
                </a:solidFill>
                <a:latin typeface="华文新魏" pitchFamily="2" charset="-122"/>
              </a:rPr>
              <a:t>I([64,0])=0</a:t>
            </a:r>
          </a:p>
          <a:p>
            <a:pPr>
              <a:lnSpc>
                <a:spcPct val="90000"/>
              </a:lnSpc>
              <a:buClr>
                <a:srgbClr val="F4BC72"/>
              </a:buClr>
              <a:buFont typeface="Wingdings" pitchFamily="2" charset="2"/>
              <a:buNone/>
            </a:pPr>
            <a:r>
              <a:rPr lang="zh-CN" altLang="en-US" sz="2000" dirty="0">
                <a:solidFill>
                  <a:srgbClr val="000000"/>
                </a:solidFill>
                <a:latin typeface="华文新魏" pitchFamily="2" charset="-122"/>
              </a:rPr>
              <a:t>比例</a:t>
            </a:r>
            <a:r>
              <a:rPr lang="en-US" altLang="zh-CN" sz="2000" dirty="0">
                <a:solidFill>
                  <a:srgbClr val="000000"/>
                </a:solidFill>
                <a:latin typeface="华文新魏" pitchFamily="2" charset="-122"/>
              </a:rPr>
              <a:t>: 64/384=0.1667 </a:t>
            </a:r>
          </a:p>
        </p:txBody>
      </p:sp>
      <p:sp>
        <p:nvSpPr>
          <p:cNvPr id="68664" name="Text Box 59"/>
          <p:cNvSpPr txBox="1">
            <a:spLocks noChangeArrowheads="1"/>
          </p:cNvSpPr>
          <p:nvPr/>
        </p:nvSpPr>
        <p:spPr bwMode="auto">
          <a:xfrm>
            <a:off x="4026563" y="6389608"/>
            <a:ext cx="646331" cy="369332"/>
          </a:xfrm>
          <a:prstGeom prst="rect">
            <a:avLst/>
          </a:prstGeom>
          <a:noFill/>
          <a:ln w="9525">
            <a:noFill/>
            <a:miter lim="800000"/>
            <a:headEnd/>
            <a:tailEnd/>
          </a:ln>
        </p:spPr>
        <p:txBody>
          <a:bodyPr wrap="none">
            <a:spAutoFit/>
          </a:bodyPr>
          <a:lstStyle/>
          <a:p>
            <a:r>
              <a:rPr lang="zh-CN" altLang="en-US" dirty="0">
                <a:solidFill>
                  <a:srgbClr val="FF0000"/>
                </a:solidFill>
              </a:rPr>
              <a:t>注意</a:t>
            </a:r>
          </a:p>
        </p:txBody>
      </p:sp>
      <p:sp>
        <p:nvSpPr>
          <p:cNvPr id="68665" name="Line 60"/>
          <p:cNvSpPr>
            <a:spLocks noChangeShapeType="1"/>
          </p:cNvSpPr>
          <p:nvPr/>
        </p:nvSpPr>
        <p:spPr bwMode="auto">
          <a:xfrm flipH="1" flipV="1">
            <a:off x="3348044" y="6181677"/>
            <a:ext cx="576263" cy="360362"/>
          </a:xfrm>
          <a:prstGeom prst="line">
            <a:avLst/>
          </a:prstGeom>
          <a:noFill/>
          <a:ln w="9525">
            <a:solidFill>
              <a:srgbClr val="FF0000"/>
            </a:solidFill>
            <a:round/>
            <a:headEnd/>
            <a:tailEnd type="triangle" w="med" len="med"/>
          </a:ln>
        </p:spPr>
        <p:txBody>
          <a:bodyPr/>
          <a:lstStyle/>
          <a:p>
            <a:endParaRPr lang="zh-CN" altLang="en-US">
              <a:solidFill>
                <a:srgbClr val="000000"/>
              </a:solidFill>
            </a:endParaRPr>
          </a:p>
        </p:txBody>
      </p:sp>
      <p:sp>
        <p:nvSpPr>
          <p:cNvPr id="68666" name="Line 61"/>
          <p:cNvSpPr>
            <a:spLocks noChangeShapeType="1"/>
          </p:cNvSpPr>
          <p:nvPr/>
        </p:nvSpPr>
        <p:spPr bwMode="auto">
          <a:xfrm flipV="1">
            <a:off x="4778542" y="6142474"/>
            <a:ext cx="1008063" cy="431800"/>
          </a:xfrm>
          <a:prstGeom prst="line">
            <a:avLst/>
          </a:prstGeom>
          <a:noFill/>
          <a:ln w="9525">
            <a:solidFill>
              <a:srgbClr val="FF0000"/>
            </a:solidFill>
            <a:round/>
            <a:headEnd/>
            <a:tailEnd type="triangle" w="med" len="med"/>
          </a:ln>
        </p:spPr>
        <p:txBody>
          <a:bodyPr/>
          <a:lstStyle/>
          <a:p>
            <a:endParaRPr lang="zh-CN" altLang="en-US">
              <a:solidFill>
                <a:srgbClr val="000000"/>
              </a:solidFill>
            </a:endParaRPr>
          </a:p>
        </p:txBody>
      </p:sp>
      <p:sp>
        <p:nvSpPr>
          <p:cNvPr id="68667" name="Text Box 62"/>
          <p:cNvSpPr txBox="1">
            <a:spLocks noChangeArrowheads="1"/>
          </p:cNvSpPr>
          <p:nvPr/>
        </p:nvSpPr>
        <p:spPr bwMode="auto">
          <a:xfrm>
            <a:off x="4800600" y="428604"/>
            <a:ext cx="3416320" cy="523220"/>
          </a:xfrm>
          <a:prstGeom prst="rect">
            <a:avLst/>
          </a:prstGeom>
          <a:noFill/>
          <a:ln w="9525">
            <a:noFill/>
            <a:miter lim="800000"/>
            <a:headEnd/>
            <a:tailEnd/>
          </a:ln>
        </p:spPr>
        <p:txBody>
          <a:bodyPr wrap="none">
            <a:spAutoFit/>
          </a:bodyPr>
          <a:lstStyle/>
          <a:p>
            <a:r>
              <a:rPr lang="zh-CN" altLang="en-US" sz="2800" dirty="0">
                <a:solidFill>
                  <a:srgbClr val="000000"/>
                </a:solidFill>
              </a:rPr>
              <a:t>决策树算法（例续）</a:t>
            </a:r>
          </a:p>
        </p:txBody>
      </p:sp>
      <p:sp>
        <p:nvSpPr>
          <p:cNvPr id="10" name="灯片编号占位符 9"/>
          <p:cNvSpPr>
            <a:spLocks noGrp="1"/>
          </p:cNvSpPr>
          <p:nvPr>
            <p:ph type="sldNum" sz="quarter" idx="11"/>
          </p:nvPr>
        </p:nvSpPr>
        <p:spPr/>
        <p:txBody>
          <a:bodyPr/>
          <a:lstStyle/>
          <a:p>
            <a:pPr>
              <a:defRPr/>
            </a:pPr>
            <a:fld id="{8EDB171D-A1F9-42E8-BD2B-16AA89E5910B}" type="slidenum">
              <a:rPr lang="en-US" altLang="zh-CN" smtClean="0"/>
              <a:pPr>
                <a:defRPr/>
              </a:pPr>
              <a:t>22</a:t>
            </a:fld>
            <a:endParaRPr lang="en-US" altLang="zh-CN"/>
          </a:p>
        </p:txBody>
      </p:sp>
      <p:sp>
        <p:nvSpPr>
          <p:cNvPr id="2" name="矩形 1"/>
          <p:cNvSpPr/>
          <p:nvPr/>
        </p:nvSpPr>
        <p:spPr>
          <a:xfrm>
            <a:off x="5074825" y="2995477"/>
            <a:ext cx="415498" cy="369332"/>
          </a:xfrm>
          <a:prstGeom prst="rect">
            <a:avLst/>
          </a:prstGeom>
        </p:spPr>
        <p:txBody>
          <a:bodyPr wrap="none">
            <a:spAutoFit/>
          </a:bodyPr>
          <a:lstStyle/>
          <a:p>
            <a:r>
              <a:rPr lang="zh-CN" altLang="en-US" dirty="0">
                <a:solidFill>
                  <a:srgbClr val="000000"/>
                </a:solidFill>
              </a:rPr>
              <a:t>高</a:t>
            </a:r>
          </a:p>
        </p:txBody>
      </p:sp>
      <p:sp>
        <p:nvSpPr>
          <p:cNvPr id="3" name="矩形 2"/>
          <p:cNvSpPr/>
          <p:nvPr/>
        </p:nvSpPr>
        <p:spPr>
          <a:xfrm>
            <a:off x="5087837" y="3789040"/>
            <a:ext cx="415498" cy="369332"/>
          </a:xfrm>
          <a:prstGeom prst="rect">
            <a:avLst/>
          </a:prstGeom>
        </p:spPr>
        <p:txBody>
          <a:bodyPr wrap="none">
            <a:spAutoFit/>
          </a:bodyPr>
          <a:lstStyle/>
          <a:p>
            <a:r>
              <a:rPr lang="zh-CN" altLang="en-US" dirty="0">
                <a:solidFill>
                  <a:srgbClr val="000000"/>
                </a:solidFill>
              </a:rPr>
              <a:t>中</a:t>
            </a:r>
          </a:p>
        </p:txBody>
      </p:sp>
      <p:sp>
        <p:nvSpPr>
          <p:cNvPr id="4" name="矩形 3"/>
          <p:cNvSpPr/>
          <p:nvPr/>
        </p:nvSpPr>
        <p:spPr>
          <a:xfrm>
            <a:off x="5087837" y="4596425"/>
            <a:ext cx="415498" cy="369332"/>
          </a:xfrm>
          <a:prstGeom prst="rect">
            <a:avLst/>
          </a:prstGeom>
        </p:spPr>
        <p:txBody>
          <a:bodyPr wrap="none">
            <a:spAutoFit/>
          </a:bodyPr>
          <a:lstStyle/>
          <a:p>
            <a:r>
              <a:rPr lang="zh-CN" altLang="en-US" dirty="0">
                <a:solidFill>
                  <a:srgbClr val="000000"/>
                </a:solidFill>
              </a:rPr>
              <a:t>低</a:t>
            </a:r>
            <a:endParaRPr lang="en-US" altLang="zh-CN" dirty="0">
              <a:solidFill>
                <a:srgbClr val="000000"/>
              </a:solidFill>
            </a:endParaRPr>
          </a:p>
        </p:txBody>
      </p:sp>
      <p:sp>
        <p:nvSpPr>
          <p:cNvPr id="14" name="Rectangle 56"/>
          <p:cNvSpPr>
            <a:spLocks noChangeArrowheads="1"/>
          </p:cNvSpPr>
          <p:nvPr/>
        </p:nvSpPr>
        <p:spPr bwMode="auto">
          <a:xfrm>
            <a:off x="153990" y="947716"/>
            <a:ext cx="8810090" cy="1323439"/>
          </a:xfrm>
          <a:prstGeom prst="rect">
            <a:avLst/>
          </a:prstGeom>
          <a:noFill/>
          <a:ln w="9525">
            <a:noFill/>
            <a:miter lim="800000"/>
            <a:headEnd/>
            <a:tailEnd/>
          </a:ln>
        </p:spPr>
        <p:txBody>
          <a:bodyPr wrap="square">
            <a:spAutoFit/>
          </a:bodyPr>
          <a:lstStyle/>
          <a:p>
            <a:r>
              <a:rPr lang="zh-CN" altLang="en-US" sz="2000" dirty="0">
                <a:solidFill>
                  <a:srgbClr val="000000"/>
                </a:solidFill>
              </a:rPr>
              <a:t>青年买与不买比例为</a:t>
            </a:r>
            <a:r>
              <a:rPr lang="en-US" altLang="zh-CN" sz="2000" dirty="0">
                <a:solidFill>
                  <a:srgbClr val="000000"/>
                </a:solidFill>
              </a:rPr>
              <a:t>128/256</a:t>
            </a:r>
          </a:p>
          <a:p>
            <a:r>
              <a:rPr lang="en-US" altLang="zh-CN" sz="2000" dirty="0">
                <a:solidFill>
                  <a:srgbClr val="000000"/>
                </a:solidFill>
              </a:rPr>
              <a:t>S1(</a:t>
            </a:r>
            <a:r>
              <a:rPr lang="zh-CN" altLang="en-US" sz="2000" dirty="0">
                <a:solidFill>
                  <a:srgbClr val="000000"/>
                </a:solidFill>
              </a:rPr>
              <a:t>买</a:t>
            </a:r>
            <a:r>
              <a:rPr lang="en-US" altLang="zh-CN" sz="2000" dirty="0">
                <a:solidFill>
                  <a:srgbClr val="000000"/>
                </a:solidFill>
              </a:rPr>
              <a:t>)=128          S2</a:t>
            </a:r>
            <a:r>
              <a:rPr lang="zh-CN" altLang="en-US" sz="2000" dirty="0">
                <a:solidFill>
                  <a:srgbClr val="000000"/>
                </a:solidFill>
              </a:rPr>
              <a:t>（不买）</a:t>
            </a:r>
            <a:r>
              <a:rPr lang="en-US" altLang="zh-CN" sz="2000" dirty="0">
                <a:solidFill>
                  <a:srgbClr val="000000"/>
                </a:solidFill>
              </a:rPr>
              <a:t>= 256 </a:t>
            </a:r>
            <a:r>
              <a:rPr lang="zh-CN" altLang="en-US" sz="2000" dirty="0">
                <a:solidFill>
                  <a:srgbClr val="000000"/>
                </a:solidFill>
              </a:rPr>
              <a:t>、</a:t>
            </a:r>
            <a:r>
              <a:rPr lang="en-US" altLang="zh-CN" sz="2000" dirty="0">
                <a:solidFill>
                  <a:srgbClr val="000000"/>
                </a:solidFill>
              </a:rPr>
              <a:t> S=S1+S2=384</a:t>
            </a:r>
          </a:p>
          <a:p>
            <a:r>
              <a:rPr lang="zh-CN" altLang="en-US" sz="2000" dirty="0">
                <a:solidFill>
                  <a:srgbClr val="000000"/>
                </a:solidFill>
              </a:rPr>
              <a:t>买：</a:t>
            </a:r>
            <a:r>
              <a:rPr lang="en-US" altLang="zh-CN" sz="2000" dirty="0">
                <a:solidFill>
                  <a:srgbClr val="000000"/>
                </a:solidFill>
              </a:rPr>
              <a:t>P1=128/384         </a:t>
            </a:r>
            <a:r>
              <a:rPr lang="zh-CN" altLang="en-US" sz="2000" dirty="0">
                <a:solidFill>
                  <a:srgbClr val="000000"/>
                </a:solidFill>
              </a:rPr>
              <a:t>不买：</a:t>
            </a:r>
            <a:r>
              <a:rPr lang="en-US" altLang="zh-CN" sz="2000" dirty="0">
                <a:solidFill>
                  <a:srgbClr val="000000"/>
                </a:solidFill>
              </a:rPr>
              <a:t>P2=256/384</a:t>
            </a:r>
          </a:p>
          <a:p>
            <a:r>
              <a:rPr lang="en-US" altLang="zh-CN" sz="2000" dirty="0">
                <a:solidFill>
                  <a:srgbClr val="0000FF"/>
                </a:solidFill>
              </a:rPr>
              <a:t>H(S) =   I([S1,S2])= I([128,256]) = -(P1Log</a:t>
            </a:r>
            <a:r>
              <a:rPr lang="en-US" altLang="zh-CN" sz="2000" baseline="-25000" dirty="0">
                <a:solidFill>
                  <a:srgbClr val="0000FF"/>
                </a:solidFill>
              </a:rPr>
              <a:t>2</a:t>
            </a:r>
            <a:r>
              <a:rPr lang="en-US" altLang="zh-CN" sz="2000" dirty="0">
                <a:solidFill>
                  <a:srgbClr val="0000FF"/>
                </a:solidFill>
              </a:rPr>
              <a:t>P1+P2Log</a:t>
            </a:r>
            <a:r>
              <a:rPr lang="en-US" altLang="zh-CN" sz="2000" baseline="-25000" dirty="0">
                <a:solidFill>
                  <a:srgbClr val="0000FF"/>
                </a:solidFill>
              </a:rPr>
              <a:t>2</a:t>
            </a:r>
            <a:r>
              <a:rPr lang="en-US" altLang="zh-CN" sz="2000" dirty="0">
                <a:solidFill>
                  <a:srgbClr val="0000FF"/>
                </a:solidFill>
              </a:rPr>
              <a:t>P2)=</a:t>
            </a:r>
            <a:r>
              <a:rPr lang="en-US" altLang="zh-CN" sz="2000" dirty="0">
                <a:solidFill>
                  <a:srgbClr val="FF0000"/>
                </a:solidFill>
              </a:rPr>
              <a:t>0.9183</a:t>
            </a:r>
          </a:p>
        </p:txBody>
      </p:sp>
      <p:graphicFrame>
        <p:nvGraphicFramePr>
          <p:cNvPr id="16" name="Object 2"/>
          <p:cNvGraphicFramePr>
            <a:graphicFrameLocks noGrp="1" noChangeAspect="1"/>
          </p:cNvGraphicFramePr>
          <p:nvPr>
            <p:ph idx="1"/>
            <p:extLst>
              <p:ext uri="{D42A27DB-BD31-4B8C-83A1-F6EECF244321}">
                <p14:modId xmlns:p14="http://schemas.microsoft.com/office/powerpoint/2010/main" val="210609820"/>
              </p:ext>
            </p:extLst>
          </p:nvPr>
        </p:nvGraphicFramePr>
        <p:xfrm>
          <a:off x="7550150" y="1111064"/>
          <a:ext cx="4559300" cy="1162050"/>
        </p:xfrm>
        <a:graphic>
          <a:graphicData uri="http://schemas.openxmlformats.org/presentationml/2006/ole">
            <mc:AlternateContent xmlns:mc="http://schemas.openxmlformats.org/markup-compatibility/2006">
              <mc:Choice xmlns:v="urn:schemas-microsoft-com:vml" Requires="v">
                <p:oleObj spid="_x0000_s522332" name="Equation" r:id="rId3" imgW="2590560" imgH="660240" progId="Equation.DSMT4">
                  <p:embed/>
                </p:oleObj>
              </mc:Choice>
              <mc:Fallback>
                <p:oleObj name="Equation" r:id="rId3" imgW="2590560" imgH="660240" progId="Equation.DSMT4">
                  <p:embed/>
                  <p:pic>
                    <p:nvPicPr>
                      <p:cNvPr id="0" name=""/>
                      <p:cNvPicPr>
                        <a:picLocks noGrp="1" noChangeAspect="1" noChangeArrowheads="1"/>
                      </p:cNvPicPr>
                      <p:nvPr/>
                    </p:nvPicPr>
                    <p:blipFill>
                      <a:blip r:embed="rId4"/>
                      <a:srcRect/>
                      <a:stretch>
                        <a:fillRect/>
                      </a:stretch>
                    </p:blipFill>
                    <p:spPr bwMode="auto">
                      <a:xfrm>
                        <a:off x="7550150" y="1111064"/>
                        <a:ext cx="4559300" cy="1162050"/>
                      </a:xfrm>
                      <a:prstGeom prst="rect">
                        <a:avLst/>
                      </a:prstGeom>
                      <a:noFill/>
                    </p:spPr>
                  </p:pic>
                </p:oleObj>
              </mc:Fallback>
            </mc:AlternateContent>
          </a:graphicData>
        </a:graphic>
      </p:graphicFrame>
      <p:sp>
        <p:nvSpPr>
          <p:cNvPr id="18" name="矩形 17"/>
          <p:cNvSpPr/>
          <p:nvPr/>
        </p:nvSpPr>
        <p:spPr>
          <a:xfrm>
            <a:off x="162399" y="5081212"/>
            <a:ext cx="5032147" cy="369332"/>
          </a:xfrm>
          <a:prstGeom prst="rect">
            <a:avLst/>
          </a:prstGeom>
        </p:spPr>
        <p:txBody>
          <a:bodyPr wrap="none">
            <a:spAutoFit/>
          </a:bodyPr>
          <a:lstStyle/>
          <a:p>
            <a:r>
              <a:rPr lang="zh-CN" altLang="en-US" dirty="0">
                <a:solidFill>
                  <a:srgbClr val="000000"/>
                </a:solidFill>
              </a:rPr>
              <a:t>计算收入划分时的平均信息期望</a:t>
            </a:r>
            <a:r>
              <a:rPr lang="zh-CN" altLang="en-US" dirty="0">
                <a:solidFill>
                  <a:srgbClr val="000000"/>
                </a:solidFill>
                <a:latin typeface="华文新魏" pitchFamily="2" charset="-122"/>
              </a:rPr>
              <a:t>（加权总和）：</a:t>
            </a:r>
            <a:endParaRPr lang="en-US" altLang="zh-CN" dirty="0">
              <a:solidFill>
                <a:srgbClr val="000000"/>
              </a:solidFill>
            </a:endParaRPr>
          </a:p>
        </p:txBody>
      </p:sp>
      <p:sp>
        <p:nvSpPr>
          <p:cNvPr id="6" name="矩形 5"/>
          <p:cNvSpPr/>
          <p:nvPr/>
        </p:nvSpPr>
        <p:spPr>
          <a:xfrm>
            <a:off x="2381289" y="4746724"/>
            <a:ext cx="338554" cy="369332"/>
          </a:xfrm>
          <a:prstGeom prst="rect">
            <a:avLst/>
          </a:prstGeom>
        </p:spPr>
        <p:txBody>
          <a:bodyPr wrap="none">
            <a:spAutoFit/>
          </a:bodyPr>
          <a:lstStyle/>
          <a:p>
            <a:r>
              <a:rPr lang="en-US" altLang="zh-CN" dirty="0">
                <a:solidFill>
                  <a:srgbClr val="0000FF"/>
                </a:solidFill>
              </a:rPr>
              <a:t>S</a:t>
            </a:r>
            <a:endParaRPr lang="zh-CN" altLang="en-US" dirty="0"/>
          </a:p>
        </p:txBody>
      </p:sp>
      <p:sp>
        <p:nvSpPr>
          <p:cNvPr id="8" name="矩形 7"/>
          <p:cNvSpPr/>
          <p:nvPr/>
        </p:nvSpPr>
        <p:spPr>
          <a:xfrm>
            <a:off x="1127448" y="2425692"/>
            <a:ext cx="360040" cy="2540065"/>
          </a:xfrm>
          <a:prstGeom prst="rect">
            <a:avLst/>
          </a:prstGeom>
          <a:solidFill>
            <a:schemeClr val="accent1">
              <a:alpha val="63000"/>
            </a:schemeClr>
          </a:solidFill>
          <a:ln cmpd="sng">
            <a:solidFill>
              <a:schemeClr val="accent5">
                <a:shade val="95000"/>
                <a:satMod val="105000"/>
              </a:schemeClr>
            </a:solidFill>
          </a:ln>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4235409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973656" y="3132309"/>
            <a:ext cx="811428" cy="322032"/>
          </a:xfrm>
          <a:prstGeom prst="rect">
            <a:avLst/>
          </a:prstGeom>
          <a:solidFill>
            <a:schemeClr val="accent1">
              <a:lumMod val="20000"/>
              <a:lumOff val="80000"/>
            </a:schemeClr>
          </a:solidFill>
        </p:spPr>
        <p:txBody>
          <a:bodyPr wrap="square" rtlCol="0" anchor="ctr">
            <a:spAutoFit/>
          </a:bodyPr>
          <a:lstStyle/>
          <a:p>
            <a:pPr algn="ctr"/>
            <a:endParaRPr lang="zh-CN" altLang="en-US" sz="2400" kern="100" dirty="0">
              <a:solidFill>
                <a:srgbClr val="000000"/>
              </a:solidFill>
              <a:ea typeface="宋体"/>
              <a:cs typeface="Times New Roman"/>
            </a:endParaRPr>
          </a:p>
        </p:txBody>
      </p:sp>
      <p:graphicFrame>
        <p:nvGraphicFramePr>
          <p:cNvPr id="839685" name="Group 5"/>
          <p:cNvGraphicFramePr>
            <a:graphicFrameLocks noGrp="1"/>
          </p:cNvGraphicFramePr>
          <p:nvPr>
            <p:extLst>
              <p:ext uri="{D42A27DB-BD31-4B8C-83A1-F6EECF244321}">
                <p14:modId xmlns:p14="http://schemas.microsoft.com/office/powerpoint/2010/main" val="3693234994"/>
              </p:ext>
            </p:extLst>
          </p:nvPr>
        </p:nvGraphicFramePr>
        <p:xfrm>
          <a:off x="191344" y="1379993"/>
          <a:ext cx="3888432" cy="2300929"/>
        </p:xfrm>
        <a:graphic>
          <a:graphicData uri="http://schemas.openxmlformats.org/drawingml/2006/table">
            <a:tbl>
              <a:tblPr/>
              <a:tblGrid>
                <a:gridCol w="489876">
                  <a:extLst>
                    <a:ext uri="{9D8B030D-6E8A-4147-A177-3AD203B41FA5}">
                      <a16:colId xmlns:a16="http://schemas.microsoft.com/office/drawing/2014/main" val="20000"/>
                    </a:ext>
                  </a:extLst>
                </a:gridCol>
                <a:gridCol w="533858">
                  <a:extLst>
                    <a:ext uri="{9D8B030D-6E8A-4147-A177-3AD203B41FA5}">
                      <a16:colId xmlns:a16="http://schemas.microsoft.com/office/drawing/2014/main" val="20001"/>
                    </a:ext>
                  </a:extLst>
                </a:gridCol>
                <a:gridCol w="585424">
                  <a:extLst>
                    <a:ext uri="{9D8B030D-6E8A-4147-A177-3AD203B41FA5}">
                      <a16:colId xmlns:a16="http://schemas.microsoft.com/office/drawing/2014/main" val="20002"/>
                    </a:ext>
                  </a:extLst>
                </a:gridCol>
                <a:gridCol w="585424">
                  <a:extLst>
                    <a:ext uri="{9D8B030D-6E8A-4147-A177-3AD203B41FA5}">
                      <a16:colId xmlns:a16="http://schemas.microsoft.com/office/drawing/2014/main" val="20003"/>
                    </a:ext>
                  </a:extLst>
                </a:gridCol>
                <a:gridCol w="659738">
                  <a:extLst>
                    <a:ext uri="{9D8B030D-6E8A-4147-A177-3AD203B41FA5}">
                      <a16:colId xmlns:a16="http://schemas.microsoft.com/office/drawing/2014/main" val="20004"/>
                    </a:ext>
                  </a:extLst>
                </a:gridCol>
                <a:gridCol w="1034112">
                  <a:extLst>
                    <a:ext uri="{9D8B030D-6E8A-4147-A177-3AD203B41FA5}">
                      <a16:colId xmlns:a16="http://schemas.microsoft.com/office/drawing/2014/main" val="20005"/>
                    </a:ext>
                  </a:extLst>
                </a:gridCol>
              </a:tblGrid>
              <a:tr h="56578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466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841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6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6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6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9685" name="Rectangle 56"/>
          <p:cNvSpPr>
            <a:spLocks noChangeArrowheads="1"/>
          </p:cNvSpPr>
          <p:nvPr/>
        </p:nvSpPr>
        <p:spPr bwMode="auto">
          <a:xfrm>
            <a:off x="4679568" y="1343698"/>
            <a:ext cx="5077445"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000" dirty="0">
                <a:solidFill>
                  <a:srgbClr val="000000"/>
                </a:solidFill>
              </a:rPr>
              <a:t>如果选择学生作为下一节点，分是、否</a:t>
            </a:r>
            <a:endParaRPr lang="en-US" altLang="zh-CN" sz="2000" dirty="0">
              <a:solidFill>
                <a:srgbClr val="000000"/>
              </a:solidFill>
            </a:endParaRPr>
          </a:p>
        </p:txBody>
      </p:sp>
      <p:sp>
        <p:nvSpPr>
          <p:cNvPr id="69686" name="Rectangle 57"/>
          <p:cNvSpPr>
            <a:spLocks noChangeArrowheads="1"/>
          </p:cNvSpPr>
          <p:nvPr/>
        </p:nvSpPr>
        <p:spPr bwMode="auto">
          <a:xfrm>
            <a:off x="4661049" y="2424496"/>
            <a:ext cx="8382000" cy="1335087"/>
          </a:xfrm>
          <a:prstGeom prst="rect">
            <a:avLst/>
          </a:prstGeom>
          <a:noFill/>
          <a:ln w="9525">
            <a:noFill/>
            <a:miter lim="800000"/>
            <a:headEnd/>
            <a:tailEnd/>
          </a:ln>
        </p:spPr>
        <p:txBody>
          <a:bodyPr/>
          <a:lstStyle/>
          <a:p>
            <a:pPr marL="342900" indent="-342900" eaLnBrk="0" hangingPunct="0">
              <a:buSzPct val="70000"/>
            </a:pPr>
            <a:r>
              <a:rPr lang="zh-CN" altLang="en-US" sz="2000" dirty="0">
                <a:solidFill>
                  <a:srgbClr val="000000"/>
                </a:solidFill>
                <a:latin typeface="华文新魏" pitchFamily="2" charset="-122"/>
              </a:rPr>
              <a:t>平均信息期望（加权总和）： </a:t>
            </a:r>
          </a:p>
          <a:p>
            <a:pPr marL="342900" indent="-342900" eaLnBrk="0" hangingPunct="0">
              <a:buSzPct val="70000"/>
            </a:pPr>
            <a:r>
              <a:rPr lang="zh-CN" altLang="en-US" sz="2000" dirty="0">
                <a:solidFill>
                  <a:srgbClr val="000000"/>
                </a:solidFill>
                <a:latin typeface="华文新魏" pitchFamily="2" charset="-122"/>
              </a:rPr>
              <a:t>	</a:t>
            </a:r>
            <a:r>
              <a:rPr lang="en-US" altLang="zh-CN" sz="2000" dirty="0">
                <a:solidFill>
                  <a:srgbClr val="000000"/>
                </a:solidFill>
                <a:latin typeface="华文新魏" pitchFamily="2" charset="-122"/>
              </a:rPr>
              <a:t>E(</a:t>
            </a:r>
            <a:r>
              <a:rPr lang="zh-CN" altLang="en-US" sz="2000" dirty="0">
                <a:solidFill>
                  <a:srgbClr val="000000"/>
                </a:solidFill>
                <a:latin typeface="华文新魏" pitchFamily="2" charset="-122"/>
              </a:rPr>
              <a:t>学生）</a:t>
            </a:r>
            <a:r>
              <a:rPr lang="en-US" altLang="zh-CN" sz="2000" dirty="0">
                <a:solidFill>
                  <a:srgbClr val="000000"/>
                </a:solidFill>
                <a:latin typeface="华文新魏" pitchFamily="2" charset="-122"/>
              </a:rPr>
              <a:t>= 0.3333 * 0 + 0.667 * 0 = 0</a:t>
            </a:r>
          </a:p>
        </p:txBody>
      </p:sp>
      <p:sp>
        <p:nvSpPr>
          <p:cNvPr id="69687" name="Text Box 58"/>
          <p:cNvSpPr txBox="1">
            <a:spLocks noChangeArrowheads="1"/>
          </p:cNvSpPr>
          <p:nvPr/>
        </p:nvSpPr>
        <p:spPr bwMode="auto">
          <a:xfrm>
            <a:off x="5079848" y="1820574"/>
            <a:ext cx="3255894" cy="646331"/>
          </a:xfrm>
          <a:prstGeom prst="rect">
            <a:avLst/>
          </a:prstGeom>
          <a:noFill/>
          <a:ln w="12700">
            <a:noFill/>
            <a:miter lim="800000"/>
            <a:headEnd type="none" w="sm" len="sm"/>
            <a:tailEnd type="none" w="sm" len="sm"/>
          </a:ln>
        </p:spPr>
        <p:txBody>
          <a:bodyPr wrap="square">
            <a:spAutoFit/>
          </a:bodyPr>
          <a:lstStyle/>
          <a:p>
            <a:pPr>
              <a:lnSpc>
                <a:spcPct val="90000"/>
              </a:lnSpc>
            </a:pPr>
            <a:r>
              <a:rPr lang="en-US" altLang="zh-CN" sz="2000" dirty="0">
                <a:solidFill>
                  <a:srgbClr val="000000"/>
                </a:solidFill>
                <a:latin typeface="华文新魏" pitchFamily="2" charset="-122"/>
              </a:rPr>
              <a:t>I(128,0)=0 </a:t>
            </a:r>
          </a:p>
          <a:p>
            <a:pPr>
              <a:lnSpc>
                <a:spcPct val="90000"/>
              </a:lnSpc>
            </a:pPr>
            <a:r>
              <a:rPr lang="zh-CN" altLang="en-US" sz="2000" dirty="0">
                <a:solidFill>
                  <a:srgbClr val="000000"/>
                </a:solidFill>
                <a:latin typeface="华文新魏" pitchFamily="2" charset="-122"/>
              </a:rPr>
              <a:t>比例</a:t>
            </a:r>
            <a:r>
              <a:rPr lang="en-US" altLang="zh-CN" sz="2000" dirty="0">
                <a:solidFill>
                  <a:srgbClr val="000000"/>
                </a:solidFill>
                <a:latin typeface="华文新魏" pitchFamily="2" charset="-122"/>
              </a:rPr>
              <a:t>:128/384 = 0.3333</a:t>
            </a:r>
          </a:p>
        </p:txBody>
      </p:sp>
      <p:sp>
        <p:nvSpPr>
          <p:cNvPr id="69691" name="Text Box 62"/>
          <p:cNvSpPr txBox="1">
            <a:spLocks noChangeArrowheads="1"/>
          </p:cNvSpPr>
          <p:nvPr/>
        </p:nvSpPr>
        <p:spPr bwMode="auto">
          <a:xfrm>
            <a:off x="4800600" y="428604"/>
            <a:ext cx="3416320" cy="523220"/>
          </a:xfrm>
          <a:prstGeom prst="rect">
            <a:avLst/>
          </a:prstGeom>
          <a:noFill/>
          <a:ln w="9525">
            <a:noFill/>
            <a:miter lim="800000"/>
            <a:headEnd/>
            <a:tailEnd/>
          </a:ln>
        </p:spPr>
        <p:txBody>
          <a:bodyPr wrap="none">
            <a:spAutoFit/>
          </a:bodyPr>
          <a:lstStyle/>
          <a:p>
            <a:r>
              <a:rPr lang="zh-CN" altLang="en-US" sz="2800" dirty="0">
                <a:solidFill>
                  <a:srgbClr val="000000"/>
                </a:solidFill>
              </a:rPr>
              <a:t>决策树算法（例续）</a:t>
            </a:r>
          </a:p>
        </p:txBody>
      </p:sp>
      <p:sp>
        <p:nvSpPr>
          <p:cNvPr id="10" name="灯片编号占位符 9"/>
          <p:cNvSpPr>
            <a:spLocks noGrp="1"/>
          </p:cNvSpPr>
          <p:nvPr>
            <p:ph type="sldNum" sz="quarter" idx="11"/>
          </p:nvPr>
        </p:nvSpPr>
        <p:spPr/>
        <p:txBody>
          <a:bodyPr/>
          <a:lstStyle/>
          <a:p>
            <a:pPr>
              <a:defRPr/>
            </a:pPr>
            <a:fld id="{8EDB171D-A1F9-42E8-BD2B-16AA89E5910B}" type="slidenum">
              <a:rPr lang="en-US" altLang="zh-CN" smtClean="0"/>
              <a:pPr>
                <a:defRPr/>
              </a:pPr>
              <a:t>23</a:t>
            </a:fld>
            <a:endParaRPr lang="en-US" altLang="zh-CN"/>
          </a:p>
        </p:txBody>
      </p:sp>
      <p:sp>
        <p:nvSpPr>
          <p:cNvPr id="2" name="矩形 1"/>
          <p:cNvSpPr/>
          <p:nvPr/>
        </p:nvSpPr>
        <p:spPr>
          <a:xfrm>
            <a:off x="4664115" y="1732947"/>
            <a:ext cx="415498" cy="369332"/>
          </a:xfrm>
          <a:prstGeom prst="rect">
            <a:avLst/>
          </a:prstGeom>
        </p:spPr>
        <p:txBody>
          <a:bodyPr wrap="none">
            <a:spAutoFit/>
          </a:bodyPr>
          <a:lstStyle/>
          <a:p>
            <a:r>
              <a:rPr lang="zh-CN" altLang="en-US" dirty="0">
                <a:solidFill>
                  <a:srgbClr val="000000"/>
                </a:solidFill>
              </a:rPr>
              <a:t>是</a:t>
            </a:r>
          </a:p>
        </p:txBody>
      </p:sp>
      <p:sp>
        <p:nvSpPr>
          <p:cNvPr id="3" name="矩形 2"/>
          <p:cNvSpPr/>
          <p:nvPr/>
        </p:nvSpPr>
        <p:spPr>
          <a:xfrm>
            <a:off x="8046159" y="1777000"/>
            <a:ext cx="415498" cy="369332"/>
          </a:xfrm>
          <a:prstGeom prst="rect">
            <a:avLst/>
          </a:prstGeom>
        </p:spPr>
        <p:txBody>
          <a:bodyPr wrap="none">
            <a:spAutoFit/>
          </a:bodyPr>
          <a:lstStyle/>
          <a:p>
            <a:r>
              <a:rPr lang="zh-CN" altLang="en-US" dirty="0">
                <a:solidFill>
                  <a:srgbClr val="000000"/>
                </a:solidFill>
              </a:rPr>
              <a:t>否</a:t>
            </a:r>
          </a:p>
        </p:txBody>
      </p:sp>
      <p:sp>
        <p:nvSpPr>
          <p:cNvPr id="4" name="矩形 3"/>
          <p:cNvSpPr/>
          <p:nvPr/>
        </p:nvSpPr>
        <p:spPr>
          <a:xfrm>
            <a:off x="1677797" y="930009"/>
            <a:ext cx="7948313" cy="400110"/>
          </a:xfrm>
          <a:prstGeom prst="rect">
            <a:avLst/>
          </a:prstGeom>
        </p:spPr>
        <p:txBody>
          <a:bodyPr wrap="square">
            <a:spAutoFit/>
          </a:bodyPr>
          <a:lstStyle/>
          <a:p>
            <a:pPr marL="342900" indent="-342900">
              <a:spcBef>
                <a:spcPct val="20000"/>
              </a:spcBef>
              <a:buSzPct val="70000"/>
            </a:pPr>
            <a:r>
              <a:rPr lang="en-US" altLang="zh-CN" sz="2000" dirty="0" err="1">
                <a:solidFill>
                  <a:srgbClr val="0000FF"/>
                </a:solidFill>
                <a:latin typeface="华文新魏" pitchFamily="2" charset="-122"/>
              </a:rPr>
              <a:t>InfoGain</a:t>
            </a:r>
            <a:r>
              <a:rPr lang="en-US" altLang="zh-CN" sz="2000" dirty="0">
                <a:solidFill>
                  <a:srgbClr val="0000FF"/>
                </a:solidFill>
                <a:latin typeface="华文新魏" pitchFamily="2" charset="-122"/>
              </a:rPr>
              <a:t>(</a:t>
            </a:r>
            <a:r>
              <a:rPr lang="zh-CN" altLang="en-US" sz="2000" dirty="0">
                <a:solidFill>
                  <a:srgbClr val="0000FF"/>
                </a:solidFill>
                <a:latin typeface="华文新魏" pitchFamily="2" charset="-122"/>
              </a:rPr>
              <a:t>收入</a:t>
            </a:r>
            <a:r>
              <a:rPr lang="en-US" altLang="zh-CN" sz="2000" dirty="0">
                <a:solidFill>
                  <a:srgbClr val="0000FF"/>
                </a:solidFill>
                <a:latin typeface="华文新魏" pitchFamily="2" charset="-122"/>
              </a:rPr>
              <a:t>) </a:t>
            </a:r>
            <a:r>
              <a:rPr lang="en-US" altLang="zh-CN" sz="2000" dirty="0">
                <a:solidFill>
                  <a:srgbClr val="000000"/>
                </a:solidFill>
                <a:latin typeface="华文新魏" pitchFamily="2" charset="-122"/>
              </a:rPr>
              <a:t>= </a:t>
            </a:r>
            <a:r>
              <a:rPr lang="en-US" altLang="zh-CN" sz="2000" dirty="0">
                <a:solidFill>
                  <a:srgbClr val="FF0000"/>
                </a:solidFill>
                <a:latin typeface="华文新魏" pitchFamily="2" charset="-122"/>
              </a:rPr>
              <a:t>I(128, 256) </a:t>
            </a:r>
            <a:r>
              <a:rPr lang="en-US" altLang="zh-CN" sz="2000" dirty="0">
                <a:solidFill>
                  <a:srgbClr val="000000"/>
                </a:solidFill>
                <a:latin typeface="华文新魏" pitchFamily="2" charset="-122"/>
              </a:rPr>
              <a:t>- E(</a:t>
            </a:r>
            <a:r>
              <a:rPr lang="zh-CN" altLang="en-US" sz="2000" dirty="0">
                <a:solidFill>
                  <a:srgbClr val="000000"/>
                </a:solidFill>
                <a:latin typeface="华文新魏" pitchFamily="2" charset="-122"/>
              </a:rPr>
              <a:t>收入</a:t>
            </a:r>
            <a:r>
              <a:rPr lang="en-US" altLang="zh-CN" sz="2000" dirty="0">
                <a:solidFill>
                  <a:srgbClr val="000000"/>
                </a:solidFill>
                <a:latin typeface="华文新魏" pitchFamily="2" charset="-122"/>
              </a:rPr>
              <a:t>)= </a:t>
            </a:r>
            <a:r>
              <a:rPr lang="en-US" altLang="zh-CN" sz="2000" dirty="0">
                <a:solidFill>
                  <a:srgbClr val="FF0000"/>
                </a:solidFill>
                <a:latin typeface="华文新魏" pitchFamily="2" charset="-122"/>
              </a:rPr>
              <a:t>0.9183</a:t>
            </a:r>
            <a:r>
              <a:rPr lang="en-US" altLang="zh-CN" sz="2000" dirty="0">
                <a:solidFill>
                  <a:srgbClr val="000000"/>
                </a:solidFill>
                <a:latin typeface="华文新魏" pitchFamily="2" charset="-122"/>
              </a:rPr>
              <a:t> </a:t>
            </a:r>
            <a:r>
              <a:rPr lang="en-US" altLang="zh-CN" sz="2000" dirty="0">
                <a:solidFill>
                  <a:srgbClr val="000000"/>
                </a:solidFill>
              </a:rPr>
              <a:t>–</a:t>
            </a:r>
            <a:r>
              <a:rPr lang="en-US" altLang="zh-CN" sz="2000" dirty="0">
                <a:solidFill>
                  <a:srgbClr val="000000"/>
                </a:solidFill>
                <a:latin typeface="华文新魏" pitchFamily="2" charset="-122"/>
              </a:rPr>
              <a:t> 0.4592 = </a:t>
            </a:r>
            <a:r>
              <a:rPr lang="en-US" altLang="zh-CN" sz="2000" dirty="0">
                <a:solidFill>
                  <a:srgbClr val="0000FF"/>
                </a:solidFill>
                <a:latin typeface="华文新魏" pitchFamily="2" charset="-122"/>
              </a:rPr>
              <a:t>0.4591</a:t>
            </a:r>
          </a:p>
        </p:txBody>
      </p:sp>
      <p:sp>
        <p:nvSpPr>
          <p:cNvPr id="14" name="Rectangle 56"/>
          <p:cNvSpPr>
            <a:spLocks noChangeArrowheads="1"/>
          </p:cNvSpPr>
          <p:nvPr/>
        </p:nvSpPr>
        <p:spPr bwMode="auto">
          <a:xfrm>
            <a:off x="4658658" y="3653751"/>
            <a:ext cx="4562904"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000" dirty="0">
                <a:solidFill>
                  <a:srgbClr val="000000"/>
                </a:solidFill>
              </a:rPr>
              <a:t>如果选择信誉作为下一节点，分优、良</a:t>
            </a:r>
            <a:endParaRPr lang="en-US" altLang="zh-CN" sz="2000" dirty="0">
              <a:solidFill>
                <a:srgbClr val="000000"/>
              </a:solidFill>
            </a:endParaRPr>
          </a:p>
        </p:txBody>
      </p:sp>
      <p:sp>
        <p:nvSpPr>
          <p:cNvPr id="15" name="Text Box 58"/>
          <p:cNvSpPr txBox="1">
            <a:spLocks noChangeArrowheads="1"/>
          </p:cNvSpPr>
          <p:nvPr/>
        </p:nvSpPr>
        <p:spPr bwMode="auto">
          <a:xfrm>
            <a:off x="615117" y="4152128"/>
            <a:ext cx="8928992" cy="646331"/>
          </a:xfrm>
          <a:prstGeom prst="rect">
            <a:avLst/>
          </a:prstGeom>
          <a:noFill/>
          <a:ln w="12700">
            <a:noFill/>
            <a:miter lim="800000"/>
            <a:headEnd type="none" w="sm" len="sm"/>
            <a:tailEnd type="none" w="sm" len="sm"/>
          </a:ln>
        </p:spPr>
        <p:txBody>
          <a:bodyPr wrap="square">
            <a:spAutoFit/>
          </a:bodyPr>
          <a:lstStyle/>
          <a:p>
            <a:pPr>
              <a:lnSpc>
                <a:spcPct val="90000"/>
              </a:lnSpc>
            </a:pPr>
            <a:r>
              <a:rPr lang="zh-CN" altLang="en-US" sz="2000" dirty="0">
                <a:solidFill>
                  <a:srgbClr val="000000"/>
                </a:solidFill>
              </a:rPr>
              <a:t>优</a:t>
            </a:r>
            <a:r>
              <a:rPr lang="zh-CN" altLang="en-US" sz="2000" dirty="0">
                <a:solidFill>
                  <a:srgbClr val="000000"/>
                </a:solidFill>
                <a:latin typeface="华文新魏" pitchFamily="2" charset="-122"/>
              </a:rPr>
              <a:t>：</a:t>
            </a:r>
            <a:r>
              <a:rPr lang="en-US" altLang="zh-CN" sz="2000" dirty="0">
                <a:solidFill>
                  <a:srgbClr val="000000"/>
                </a:solidFill>
                <a:latin typeface="华文新魏" pitchFamily="2" charset="-122"/>
              </a:rPr>
              <a:t>I(64,64)= </a:t>
            </a:r>
            <a:r>
              <a:rPr lang="en-US" altLang="zh-CN" sz="2000" dirty="0">
                <a:solidFill>
                  <a:srgbClr val="000000"/>
                </a:solidFill>
              </a:rPr>
              <a:t>-2×</a:t>
            </a:r>
            <a:r>
              <a:rPr lang="zh-CN" altLang="en-US" sz="2000" dirty="0">
                <a:solidFill>
                  <a:srgbClr val="000000"/>
                </a:solidFill>
              </a:rPr>
              <a:t>（</a:t>
            </a:r>
            <a:r>
              <a:rPr lang="en-US" altLang="zh-CN" sz="2000" dirty="0">
                <a:solidFill>
                  <a:srgbClr val="000000"/>
                </a:solidFill>
              </a:rPr>
              <a:t>0.5Log</a:t>
            </a:r>
            <a:r>
              <a:rPr lang="en-US" altLang="zh-CN" sz="2000" baseline="-25000" dirty="0">
                <a:solidFill>
                  <a:srgbClr val="000000"/>
                </a:solidFill>
              </a:rPr>
              <a:t>2</a:t>
            </a:r>
            <a:r>
              <a:rPr lang="en-US" altLang="zh-CN" sz="2000" dirty="0">
                <a:solidFill>
                  <a:srgbClr val="000000"/>
                </a:solidFill>
              </a:rPr>
              <a:t>0.5</a:t>
            </a:r>
            <a:r>
              <a:rPr lang="zh-CN" altLang="en-US" sz="2000" dirty="0">
                <a:solidFill>
                  <a:srgbClr val="000000"/>
                </a:solidFill>
              </a:rPr>
              <a:t>）</a:t>
            </a:r>
            <a:r>
              <a:rPr lang="en-US" altLang="zh-CN" sz="2000" dirty="0">
                <a:solidFill>
                  <a:srgbClr val="000000"/>
                </a:solidFill>
              </a:rPr>
              <a:t>= 1 </a:t>
            </a:r>
            <a:r>
              <a:rPr lang="zh-CN" altLang="en-US" sz="2000" dirty="0">
                <a:solidFill>
                  <a:srgbClr val="000000"/>
                </a:solidFill>
                <a:latin typeface="华文新魏" pitchFamily="2" charset="-122"/>
              </a:rPr>
              <a:t>，比例</a:t>
            </a:r>
            <a:r>
              <a:rPr lang="en-US" altLang="zh-CN" sz="2000" dirty="0">
                <a:solidFill>
                  <a:srgbClr val="000000"/>
                </a:solidFill>
                <a:latin typeface="华文新魏" pitchFamily="2" charset="-122"/>
              </a:rPr>
              <a:t>:128/384 = 0.3333</a:t>
            </a:r>
          </a:p>
          <a:p>
            <a:pPr>
              <a:lnSpc>
                <a:spcPct val="90000"/>
              </a:lnSpc>
              <a:buClr>
                <a:srgbClr val="F4BC72"/>
              </a:buClr>
            </a:pPr>
            <a:r>
              <a:rPr lang="zh-CN" altLang="en-US" sz="2000" dirty="0">
                <a:solidFill>
                  <a:srgbClr val="000000"/>
                </a:solidFill>
              </a:rPr>
              <a:t>良</a:t>
            </a:r>
            <a:r>
              <a:rPr lang="zh-CN" altLang="en-US" sz="2000" dirty="0">
                <a:solidFill>
                  <a:srgbClr val="000000"/>
                </a:solidFill>
                <a:latin typeface="华文新魏" pitchFamily="2" charset="-122"/>
              </a:rPr>
              <a:t>：</a:t>
            </a:r>
            <a:r>
              <a:rPr lang="en-US" altLang="zh-CN" sz="2000" dirty="0">
                <a:solidFill>
                  <a:srgbClr val="000000"/>
                </a:solidFill>
                <a:latin typeface="华文新魏" pitchFamily="2" charset="-122"/>
              </a:rPr>
              <a:t>I(64,192)= 0.8113 </a:t>
            </a:r>
            <a:r>
              <a:rPr lang="zh-CN" altLang="en-US" sz="2000" dirty="0">
                <a:solidFill>
                  <a:srgbClr val="000000"/>
                </a:solidFill>
                <a:latin typeface="华文新魏" pitchFamily="2" charset="-122"/>
              </a:rPr>
              <a:t>，                        比例</a:t>
            </a:r>
            <a:r>
              <a:rPr lang="en-US" altLang="zh-CN" sz="2000" dirty="0">
                <a:solidFill>
                  <a:srgbClr val="000000"/>
                </a:solidFill>
                <a:latin typeface="华文新魏" pitchFamily="2" charset="-122"/>
              </a:rPr>
              <a:t>: 256/384= 0.667</a:t>
            </a:r>
          </a:p>
        </p:txBody>
      </p:sp>
      <p:sp>
        <p:nvSpPr>
          <p:cNvPr id="6" name="云形 5"/>
          <p:cNvSpPr/>
          <p:nvPr/>
        </p:nvSpPr>
        <p:spPr>
          <a:xfrm>
            <a:off x="10143176" y="3259004"/>
            <a:ext cx="2048824" cy="796469"/>
          </a:xfrm>
          <a:prstGeom prst="cloud">
            <a:avLst/>
          </a:prstGeom>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zh-CN" altLang="en-US" sz="1400" kern="100" dirty="0">
                <a:solidFill>
                  <a:srgbClr val="000000"/>
                </a:solidFill>
                <a:ea typeface="宋体"/>
                <a:cs typeface="Times New Roman"/>
              </a:rPr>
              <a:t>此值最大，其他可不用计算</a:t>
            </a:r>
          </a:p>
        </p:txBody>
      </p:sp>
      <p:graphicFrame>
        <p:nvGraphicFramePr>
          <p:cNvPr id="20" name="Object 3"/>
          <p:cNvGraphicFramePr>
            <a:graphicFrameLocks noChangeAspect="1"/>
          </p:cNvGraphicFramePr>
          <p:nvPr>
            <p:extLst>
              <p:ext uri="{D42A27DB-BD31-4B8C-83A1-F6EECF244321}">
                <p14:modId xmlns:p14="http://schemas.microsoft.com/office/powerpoint/2010/main" val="1110704225"/>
              </p:ext>
            </p:extLst>
          </p:nvPr>
        </p:nvGraphicFramePr>
        <p:xfrm>
          <a:off x="4748540" y="4624873"/>
          <a:ext cx="7265924" cy="669925"/>
        </p:xfrm>
        <a:graphic>
          <a:graphicData uri="http://schemas.openxmlformats.org/presentationml/2006/ole">
            <mc:AlternateContent xmlns:mc="http://schemas.openxmlformats.org/markup-compatibility/2006">
              <mc:Choice xmlns:v="urn:schemas-microsoft-com:vml" Requires="v">
                <p:oleObj spid="_x0000_s523355" name="Equation" r:id="rId3" imgW="4140000" imgH="431640" progId="Equation.DSMT4">
                  <p:embed/>
                </p:oleObj>
              </mc:Choice>
              <mc:Fallback>
                <p:oleObj name="Equation" r:id="rId3" imgW="4140000" imgH="431640" progId="Equation.DSMT4">
                  <p:embed/>
                  <p:pic>
                    <p:nvPicPr>
                      <p:cNvPr id="0" name=""/>
                      <p:cNvPicPr>
                        <a:picLocks noChangeAspect="1" noChangeArrowheads="1"/>
                      </p:cNvPicPr>
                      <p:nvPr/>
                    </p:nvPicPr>
                    <p:blipFill>
                      <a:blip r:embed="rId4"/>
                      <a:srcRect/>
                      <a:stretch>
                        <a:fillRect/>
                      </a:stretch>
                    </p:blipFill>
                    <p:spPr bwMode="auto">
                      <a:xfrm>
                        <a:off x="4748540" y="4624873"/>
                        <a:ext cx="7265924" cy="669925"/>
                      </a:xfrm>
                      <a:prstGeom prst="rect">
                        <a:avLst/>
                      </a:prstGeom>
                      <a:noFill/>
                    </p:spPr>
                  </p:pic>
                </p:oleObj>
              </mc:Fallback>
            </mc:AlternateContent>
          </a:graphicData>
        </a:graphic>
      </p:graphicFrame>
      <p:sp>
        <p:nvSpPr>
          <p:cNvPr id="7" name="矩形 6"/>
          <p:cNvSpPr/>
          <p:nvPr/>
        </p:nvSpPr>
        <p:spPr>
          <a:xfrm>
            <a:off x="1514409" y="5531154"/>
            <a:ext cx="5758308" cy="400110"/>
          </a:xfrm>
          <a:prstGeom prst="rect">
            <a:avLst/>
          </a:prstGeom>
        </p:spPr>
        <p:txBody>
          <a:bodyPr wrap="none">
            <a:spAutoFit/>
          </a:bodyPr>
          <a:lstStyle/>
          <a:p>
            <a:pPr marL="342900" indent="-342900" eaLnBrk="0" hangingPunct="0">
              <a:buSzPct val="70000"/>
            </a:pPr>
            <a:r>
              <a:rPr lang="en-US" altLang="zh-CN" sz="2000" dirty="0">
                <a:solidFill>
                  <a:srgbClr val="000000"/>
                </a:solidFill>
                <a:latin typeface="华文新魏" pitchFamily="2" charset="-122"/>
              </a:rPr>
              <a:t>E(</a:t>
            </a:r>
            <a:r>
              <a:rPr lang="zh-CN" altLang="en-US" sz="2000" dirty="0">
                <a:solidFill>
                  <a:srgbClr val="000000"/>
                </a:solidFill>
                <a:latin typeface="华文新魏" pitchFamily="2" charset="-122"/>
              </a:rPr>
              <a:t>信誉）</a:t>
            </a:r>
            <a:r>
              <a:rPr lang="en-US" altLang="zh-CN" sz="2000" dirty="0">
                <a:solidFill>
                  <a:srgbClr val="000000"/>
                </a:solidFill>
                <a:latin typeface="华文新魏" pitchFamily="2" charset="-122"/>
              </a:rPr>
              <a:t>= 0.3333 * 1  + 0.667 * 0.8113 = 0.8744</a:t>
            </a:r>
          </a:p>
        </p:txBody>
      </p:sp>
      <p:sp>
        <p:nvSpPr>
          <p:cNvPr id="8" name="矩形 7"/>
          <p:cNvSpPr/>
          <p:nvPr/>
        </p:nvSpPr>
        <p:spPr>
          <a:xfrm>
            <a:off x="1514409" y="5916089"/>
            <a:ext cx="8587872" cy="707886"/>
          </a:xfrm>
          <a:prstGeom prst="rect">
            <a:avLst/>
          </a:prstGeom>
        </p:spPr>
        <p:txBody>
          <a:bodyPr wrap="square">
            <a:spAutoFit/>
          </a:bodyPr>
          <a:lstStyle/>
          <a:p>
            <a:r>
              <a:rPr lang="en-US" altLang="zh-CN" sz="2000" dirty="0" err="1">
                <a:solidFill>
                  <a:srgbClr val="0000FF"/>
                </a:solidFill>
                <a:latin typeface="华文新魏" pitchFamily="2" charset="-122"/>
              </a:rPr>
              <a:t>infoGain</a:t>
            </a:r>
            <a:r>
              <a:rPr lang="en-US" altLang="zh-CN" sz="2000" dirty="0">
                <a:solidFill>
                  <a:srgbClr val="0000FF"/>
                </a:solidFill>
                <a:latin typeface="华文新魏" pitchFamily="2" charset="-122"/>
              </a:rPr>
              <a:t>(</a:t>
            </a:r>
            <a:r>
              <a:rPr lang="zh-CN" altLang="en-US" sz="2000" dirty="0">
                <a:solidFill>
                  <a:srgbClr val="0000FF"/>
                </a:solidFill>
                <a:latin typeface="华文新魏" pitchFamily="2" charset="-122"/>
              </a:rPr>
              <a:t>信誉</a:t>
            </a:r>
            <a:r>
              <a:rPr lang="en-US" altLang="zh-CN" sz="2000" dirty="0">
                <a:solidFill>
                  <a:srgbClr val="0000FF"/>
                </a:solidFill>
                <a:latin typeface="华文新魏" pitchFamily="2" charset="-122"/>
              </a:rPr>
              <a:t>) </a:t>
            </a:r>
            <a:r>
              <a:rPr lang="en-US" altLang="zh-CN" sz="2000" dirty="0">
                <a:solidFill>
                  <a:srgbClr val="000000"/>
                </a:solidFill>
                <a:latin typeface="华文新魏" pitchFamily="2" charset="-122"/>
              </a:rPr>
              <a:t>= </a:t>
            </a:r>
            <a:r>
              <a:rPr lang="en-US" altLang="zh-CN" sz="2000" dirty="0">
                <a:solidFill>
                  <a:srgbClr val="FF0000"/>
                </a:solidFill>
                <a:latin typeface="华文新魏" pitchFamily="2" charset="-122"/>
              </a:rPr>
              <a:t>I(128, 256) </a:t>
            </a:r>
            <a:r>
              <a:rPr lang="en-US" altLang="zh-CN" sz="2000" dirty="0">
                <a:solidFill>
                  <a:srgbClr val="000000"/>
                </a:solidFill>
                <a:latin typeface="华文新魏" pitchFamily="2" charset="-122"/>
              </a:rPr>
              <a:t>- E(</a:t>
            </a:r>
            <a:r>
              <a:rPr lang="zh-CN" altLang="en-US" sz="2000" dirty="0">
                <a:solidFill>
                  <a:srgbClr val="000000"/>
                </a:solidFill>
                <a:latin typeface="华文新魏" pitchFamily="2" charset="-122"/>
              </a:rPr>
              <a:t>信誉</a:t>
            </a:r>
            <a:r>
              <a:rPr lang="en-US" altLang="zh-CN" sz="2000" dirty="0">
                <a:solidFill>
                  <a:srgbClr val="000000"/>
                </a:solidFill>
                <a:latin typeface="华文新魏" pitchFamily="2" charset="-122"/>
              </a:rPr>
              <a:t>)=</a:t>
            </a:r>
            <a:r>
              <a:rPr lang="en-US" altLang="zh-CN" sz="2000" dirty="0">
                <a:solidFill>
                  <a:srgbClr val="FF0000"/>
                </a:solidFill>
                <a:latin typeface="华文新魏" pitchFamily="2" charset="-122"/>
              </a:rPr>
              <a:t> 0.9183 - </a:t>
            </a:r>
            <a:r>
              <a:rPr lang="en-US" altLang="zh-CN" sz="2000" dirty="0">
                <a:solidFill>
                  <a:srgbClr val="000000"/>
                </a:solidFill>
                <a:latin typeface="华文新魏" pitchFamily="2" charset="-122"/>
              </a:rPr>
              <a:t>0.8744 = </a:t>
            </a:r>
            <a:r>
              <a:rPr lang="en-US" altLang="zh-CN" sz="2000" dirty="0">
                <a:solidFill>
                  <a:srgbClr val="0000FF"/>
                </a:solidFill>
                <a:latin typeface="华文新魏" pitchFamily="2" charset="-122"/>
              </a:rPr>
              <a:t>0.0439</a:t>
            </a:r>
          </a:p>
          <a:p>
            <a:r>
              <a:rPr lang="en-US" altLang="zh-CN" sz="2000" dirty="0">
                <a:solidFill>
                  <a:srgbClr val="FF0000"/>
                </a:solidFill>
                <a:latin typeface="华文新魏" pitchFamily="2" charset="-122"/>
              </a:rPr>
              <a:t> </a:t>
            </a:r>
            <a:endParaRPr lang="zh-CN" altLang="en-US" sz="2000" dirty="0">
              <a:solidFill>
                <a:srgbClr val="000000"/>
              </a:solidFill>
            </a:endParaRPr>
          </a:p>
        </p:txBody>
      </p:sp>
      <p:sp>
        <p:nvSpPr>
          <p:cNvPr id="9" name="矩形 8"/>
          <p:cNvSpPr/>
          <p:nvPr/>
        </p:nvSpPr>
        <p:spPr>
          <a:xfrm>
            <a:off x="4509257" y="3111906"/>
            <a:ext cx="7415325" cy="369332"/>
          </a:xfrm>
          <a:prstGeom prst="rect">
            <a:avLst/>
          </a:prstGeom>
        </p:spPr>
        <p:txBody>
          <a:bodyPr wrap="square">
            <a:spAutoFit/>
          </a:bodyPr>
          <a:lstStyle/>
          <a:p>
            <a:pPr marL="342900" indent="-342900">
              <a:spcBef>
                <a:spcPct val="20000"/>
              </a:spcBef>
              <a:buSzPct val="70000"/>
            </a:pPr>
            <a:r>
              <a:rPr lang="en-US" altLang="zh-CN" dirty="0" err="1">
                <a:solidFill>
                  <a:srgbClr val="0000FF"/>
                </a:solidFill>
                <a:latin typeface="华文新魏" pitchFamily="2" charset="-122"/>
              </a:rPr>
              <a:t>infoGain</a:t>
            </a:r>
            <a:r>
              <a:rPr lang="en-US" altLang="zh-CN" dirty="0">
                <a:solidFill>
                  <a:srgbClr val="0000FF"/>
                </a:solidFill>
                <a:latin typeface="华文新魏" pitchFamily="2" charset="-122"/>
              </a:rPr>
              <a:t>(</a:t>
            </a:r>
            <a:r>
              <a:rPr lang="zh-CN" altLang="en-US" dirty="0">
                <a:solidFill>
                  <a:srgbClr val="0000FF"/>
                </a:solidFill>
                <a:latin typeface="华文新魏" pitchFamily="2" charset="-122"/>
              </a:rPr>
              <a:t>学生</a:t>
            </a:r>
            <a:r>
              <a:rPr lang="en-US" altLang="zh-CN" dirty="0">
                <a:solidFill>
                  <a:srgbClr val="0000FF"/>
                </a:solidFill>
                <a:latin typeface="华文新魏" pitchFamily="2" charset="-122"/>
              </a:rPr>
              <a:t>) </a:t>
            </a:r>
            <a:r>
              <a:rPr lang="en-US" altLang="zh-CN" dirty="0">
                <a:solidFill>
                  <a:srgbClr val="000000"/>
                </a:solidFill>
                <a:latin typeface="华文新魏" pitchFamily="2" charset="-122"/>
              </a:rPr>
              <a:t>= </a:t>
            </a:r>
            <a:r>
              <a:rPr lang="en-US" altLang="zh-CN" dirty="0">
                <a:solidFill>
                  <a:srgbClr val="FF0000"/>
                </a:solidFill>
                <a:latin typeface="华文新魏" pitchFamily="2" charset="-122"/>
              </a:rPr>
              <a:t>I(128, 256) </a:t>
            </a:r>
            <a:r>
              <a:rPr lang="en-US" altLang="zh-CN" dirty="0">
                <a:solidFill>
                  <a:srgbClr val="000000"/>
                </a:solidFill>
                <a:latin typeface="华文新魏" pitchFamily="2" charset="-122"/>
              </a:rPr>
              <a:t>- E(</a:t>
            </a:r>
            <a:r>
              <a:rPr lang="zh-CN" altLang="en-US" dirty="0">
                <a:solidFill>
                  <a:srgbClr val="000000"/>
                </a:solidFill>
                <a:latin typeface="华文新魏" pitchFamily="2" charset="-122"/>
              </a:rPr>
              <a:t>学生</a:t>
            </a:r>
            <a:r>
              <a:rPr lang="en-US" altLang="zh-CN" dirty="0">
                <a:solidFill>
                  <a:srgbClr val="000000"/>
                </a:solidFill>
                <a:latin typeface="华文新魏" pitchFamily="2" charset="-122"/>
              </a:rPr>
              <a:t>)=</a:t>
            </a:r>
            <a:r>
              <a:rPr lang="en-US" altLang="zh-CN" dirty="0">
                <a:solidFill>
                  <a:srgbClr val="FF0000"/>
                </a:solidFill>
                <a:latin typeface="华文新魏" pitchFamily="2" charset="-122"/>
              </a:rPr>
              <a:t>0.9183</a:t>
            </a:r>
            <a:r>
              <a:rPr lang="en-US" altLang="zh-CN" dirty="0">
                <a:solidFill>
                  <a:srgbClr val="000000"/>
                </a:solidFill>
                <a:latin typeface="华文新魏" pitchFamily="2" charset="-122"/>
              </a:rPr>
              <a:t> </a:t>
            </a:r>
            <a:r>
              <a:rPr lang="en-US" altLang="zh-CN" dirty="0">
                <a:solidFill>
                  <a:srgbClr val="000000"/>
                </a:solidFill>
              </a:rPr>
              <a:t>–</a:t>
            </a:r>
            <a:r>
              <a:rPr lang="en-US" altLang="zh-CN" dirty="0">
                <a:solidFill>
                  <a:srgbClr val="000000"/>
                </a:solidFill>
                <a:latin typeface="华文新魏" pitchFamily="2" charset="-122"/>
              </a:rPr>
              <a:t> </a:t>
            </a:r>
            <a:r>
              <a:rPr lang="en-US" altLang="zh-CN" dirty="0">
                <a:solidFill>
                  <a:srgbClr val="0070C0"/>
                </a:solidFill>
                <a:latin typeface="华文新魏" pitchFamily="2" charset="-122"/>
              </a:rPr>
              <a:t>0</a:t>
            </a:r>
            <a:r>
              <a:rPr lang="en-US" altLang="zh-CN" dirty="0">
                <a:solidFill>
                  <a:srgbClr val="000000"/>
                </a:solidFill>
                <a:latin typeface="华文新魏" pitchFamily="2" charset="-122"/>
              </a:rPr>
              <a:t> = </a:t>
            </a:r>
            <a:r>
              <a:rPr lang="en-US" altLang="zh-CN" dirty="0">
                <a:solidFill>
                  <a:srgbClr val="0000FF"/>
                </a:solidFill>
                <a:latin typeface="华文新魏" pitchFamily="2" charset="-122"/>
              </a:rPr>
              <a:t>0.9183</a:t>
            </a:r>
          </a:p>
        </p:txBody>
      </p:sp>
      <p:sp>
        <p:nvSpPr>
          <p:cNvPr id="25" name="矩形 24"/>
          <p:cNvSpPr/>
          <p:nvPr/>
        </p:nvSpPr>
        <p:spPr>
          <a:xfrm>
            <a:off x="5254163" y="6417230"/>
            <a:ext cx="5760639" cy="369332"/>
          </a:xfrm>
          <a:prstGeom prst="rect">
            <a:avLst/>
          </a:prstGeom>
          <a:solidFill>
            <a:schemeClr val="accent2">
              <a:lumMod val="60000"/>
              <a:lumOff val="40000"/>
            </a:schemeClr>
          </a:solidFill>
        </p:spPr>
        <p:txBody>
          <a:bodyPr wrap="square">
            <a:spAutoFit/>
          </a:bodyPr>
          <a:lstStyle/>
          <a:p>
            <a:r>
              <a:rPr lang="zh-CN" altLang="en-US" dirty="0">
                <a:solidFill>
                  <a:srgbClr val="000000"/>
                </a:solidFill>
              </a:rPr>
              <a:t>最大信息增益选择特征学生作为青年下的下一划分节点</a:t>
            </a:r>
            <a:endParaRPr lang="en-US" altLang="zh-CN" dirty="0">
              <a:solidFill>
                <a:srgbClr val="000000"/>
              </a:solidFill>
            </a:endParaRPr>
          </a:p>
        </p:txBody>
      </p:sp>
      <p:sp>
        <p:nvSpPr>
          <p:cNvPr id="21" name="矩形 20"/>
          <p:cNvSpPr/>
          <p:nvPr/>
        </p:nvSpPr>
        <p:spPr>
          <a:xfrm>
            <a:off x="647498" y="1163585"/>
            <a:ext cx="445959" cy="2697463"/>
          </a:xfrm>
          <a:prstGeom prst="rect">
            <a:avLst/>
          </a:prstGeom>
          <a:solidFill>
            <a:schemeClr val="accent1">
              <a:alpha val="63000"/>
            </a:schemeClr>
          </a:solidFill>
          <a:ln cmpd="sng">
            <a:solidFill>
              <a:schemeClr val="accent5">
                <a:shade val="95000"/>
                <a:satMod val="105000"/>
              </a:schemeClr>
            </a:solidFill>
          </a:ln>
        </p:spPr>
        <p:txBody>
          <a:bodyPr wrap="square" rtlCol="0" anchor="ctr">
            <a:spAutoFit/>
          </a:bodyPr>
          <a:lstStyle/>
          <a:p>
            <a:pPr algn="ctr"/>
            <a:endParaRPr lang="zh-CN" altLang="en-US" sz="2400" kern="100" dirty="0">
              <a:ea typeface="宋体"/>
              <a:cs typeface="Times New Roman"/>
            </a:endParaRPr>
          </a:p>
        </p:txBody>
      </p:sp>
      <p:sp>
        <p:nvSpPr>
          <p:cNvPr id="11" name="矩形 10"/>
          <p:cNvSpPr/>
          <p:nvPr/>
        </p:nvSpPr>
        <p:spPr>
          <a:xfrm>
            <a:off x="8585200" y="1899903"/>
            <a:ext cx="6096000" cy="590931"/>
          </a:xfrm>
          <a:prstGeom prst="rect">
            <a:avLst/>
          </a:prstGeom>
        </p:spPr>
        <p:txBody>
          <a:bodyPr>
            <a:spAutoFit/>
          </a:bodyPr>
          <a:lstStyle/>
          <a:p>
            <a:pPr>
              <a:lnSpc>
                <a:spcPct val="90000"/>
              </a:lnSpc>
              <a:buClr>
                <a:srgbClr val="F4BC72"/>
              </a:buClr>
              <a:buFont typeface="Wingdings" pitchFamily="2" charset="2"/>
              <a:buNone/>
            </a:pPr>
            <a:r>
              <a:rPr lang="en-US" altLang="zh-CN" dirty="0">
                <a:solidFill>
                  <a:srgbClr val="000000"/>
                </a:solidFill>
                <a:latin typeface="华文新魏" pitchFamily="2" charset="-122"/>
              </a:rPr>
              <a:t>I(0,256)=0 </a:t>
            </a:r>
          </a:p>
          <a:p>
            <a:pPr>
              <a:lnSpc>
                <a:spcPct val="90000"/>
              </a:lnSpc>
              <a:buClr>
                <a:srgbClr val="F4BC72"/>
              </a:buClr>
              <a:buFont typeface="Wingdings" pitchFamily="2" charset="2"/>
              <a:buNone/>
            </a:pPr>
            <a:r>
              <a:rPr lang="zh-CN" altLang="en-US" dirty="0">
                <a:solidFill>
                  <a:srgbClr val="000000"/>
                </a:solidFill>
                <a:latin typeface="华文新魏" pitchFamily="2" charset="-122"/>
              </a:rPr>
              <a:t>比例</a:t>
            </a:r>
            <a:r>
              <a:rPr lang="en-US" altLang="zh-CN" dirty="0">
                <a:solidFill>
                  <a:srgbClr val="000000"/>
                </a:solidFill>
                <a:latin typeface="华文新魏" pitchFamily="2" charset="-122"/>
              </a:rPr>
              <a:t>: 256/384=0.667</a:t>
            </a:r>
          </a:p>
        </p:txBody>
      </p:sp>
      <p:sp>
        <p:nvSpPr>
          <p:cNvPr id="22" name="矩形 21"/>
          <p:cNvSpPr/>
          <p:nvPr/>
        </p:nvSpPr>
        <p:spPr>
          <a:xfrm>
            <a:off x="1914459" y="3686141"/>
            <a:ext cx="338554" cy="369332"/>
          </a:xfrm>
          <a:prstGeom prst="rect">
            <a:avLst/>
          </a:prstGeom>
        </p:spPr>
        <p:txBody>
          <a:bodyPr wrap="none">
            <a:spAutoFit/>
          </a:bodyPr>
          <a:lstStyle/>
          <a:p>
            <a:r>
              <a:rPr lang="en-US" altLang="zh-CN" dirty="0">
                <a:solidFill>
                  <a:srgbClr val="0000FF"/>
                </a:solidFill>
              </a:rPr>
              <a:t>S</a:t>
            </a:r>
            <a:endParaRPr lang="zh-CN" altLang="en-US" dirty="0"/>
          </a:p>
        </p:txBody>
      </p:sp>
      <p:sp>
        <p:nvSpPr>
          <p:cNvPr id="12" name="矩形 11"/>
          <p:cNvSpPr/>
          <p:nvPr/>
        </p:nvSpPr>
        <p:spPr>
          <a:xfrm>
            <a:off x="1514409" y="5153998"/>
            <a:ext cx="3241593" cy="369332"/>
          </a:xfrm>
          <a:prstGeom prst="rect">
            <a:avLst/>
          </a:prstGeom>
        </p:spPr>
        <p:txBody>
          <a:bodyPr wrap="none">
            <a:spAutoFit/>
          </a:bodyPr>
          <a:lstStyle/>
          <a:p>
            <a:pPr marL="342900" indent="-342900" eaLnBrk="0" hangingPunct="0">
              <a:buSzPct val="70000"/>
            </a:pPr>
            <a:r>
              <a:rPr lang="zh-CN" altLang="en-US" dirty="0">
                <a:solidFill>
                  <a:srgbClr val="000000"/>
                </a:solidFill>
                <a:latin typeface="华文新魏" pitchFamily="2" charset="-122"/>
              </a:rPr>
              <a:t>平均信息期望（加权总和）： </a:t>
            </a:r>
          </a:p>
        </p:txBody>
      </p:sp>
    </p:spTree>
    <p:extLst>
      <p:ext uri="{BB962C8B-B14F-4D97-AF65-F5344CB8AC3E}">
        <p14:creationId xmlns:p14="http://schemas.microsoft.com/office/powerpoint/2010/main" val="2233868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0830" name="Group 126"/>
          <p:cNvGraphicFramePr>
            <a:graphicFrameLocks noGrp="1"/>
          </p:cNvGraphicFramePr>
          <p:nvPr>
            <p:extLst>
              <p:ext uri="{D42A27DB-BD31-4B8C-83A1-F6EECF244321}">
                <p14:modId xmlns:p14="http://schemas.microsoft.com/office/powerpoint/2010/main" val="2682832882"/>
              </p:ext>
            </p:extLst>
          </p:nvPr>
        </p:nvGraphicFramePr>
        <p:xfrm>
          <a:off x="469112" y="406628"/>
          <a:ext cx="4032250" cy="5272724"/>
        </p:xfrm>
        <a:graphic>
          <a:graphicData uri="http://schemas.openxmlformats.org/drawingml/2006/table">
            <a:tbl>
              <a:tblPr/>
              <a:tblGrid>
                <a:gridCol w="586328">
                  <a:extLst>
                    <a:ext uri="{9D8B030D-6E8A-4147-A177-3AD203B41FA5}">
                      <a16:colId xmlns:a16="http://schemas.microsoft.com/office/drawing/2014/main" val="20000"/>
                    </a:ext>
                  </a:extLst>
                </a:gridCol>
                <a:gridCol w="366172">
                  <a:extLst>
                    <a:ext uri="{9D8B030D-6E8A-4147-A177-3AD203B41FA5}">
                      <a16:colId xmlns:a16="http://schemas.microsoft.com/office/drawing/2014/main" val="20001"/>
                    </a:ext>
                  </a:extLst>
                </a:gridCol>
                <a:gridCol w="544513">
                  <a:extLst>
                    <a:ext uri="{9D8B030D-6E8A-4147-A177-3AD203B41FA5}">
                      <a16:colId xmlns:a16="http://schemas.microsoft.com/office/drawing/2014/main" val="20002"/>
                    </a:ext>
                  </a:extLst>
                </a:gridCol>
                <a:gridCol w="544512">
                  <a:extLst>
                    <a:ext uri="{9D8B030D-6E8A-4147-A177-3AD203B41FA5}">
                      <a16:colId xmlns:a16="http://schemas.microsoft.com/office/drawing/2014/main" val="20003"/>
                    </a:ext>
                  </a:extLst>
                </a:gridCol>
                <a:gridCol w="614363">
                  <a:extLst>
                    <a:ext uri="{9D8B030D-6E8A-4147-A177-3AD203B41FA5}">
                      <a16:colId xmlns:a16="http://schemas.microsoft.com/office/drawing/2014/main" val="20004"/>
                    </a:ext>
                  </a:extLst>
                </a:gridCol>
                <a:gridCol w="1376362">
                  <a:extLst>
                    <a:ext uri="{9D8B030D-6E8A-4147-A177-3AD203B41FA5}">
                      <a16:colId xmlns:a16="http://schemas.microsoft.com/office/drawing/2014/main" val="20005"/>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计数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bg1"/>
                          </a:solidFill>
                          <a:effectLst/>
                          <a:latin typeface="华文新魏" pitchFamily="2" charset="-122"/>
                          <a:ea typeface="华文新魏" pitchFamily="2"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学生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bg1"/>
                          </a:solidFill>
                          <a:effectLst/>
                          <a:latin typeface="华文新魏" pitchFamily="2" charset="-122"/>
                          <a:ea typeface="华文新魏" pitchFamily="2" charset="-122"/>
                        </a:rPr>
                        <a:t>信誉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1" i="0" u="none" strike="noStrike" cap="none" normalizeH="0" baseline="0" dirty="0">
                          <a:ln>
                            <a:noFill/>
                          </a:ln>
                          <a:solidFill>
                            <a:schemeClr val="bg1"/>
                          </a:solidFill>
                          <a:effectLst/>
                          <a:latin typeface="华文新魏" pitchFamily="2" charset="-122"/>
                          <a:ea typeface="华文新魏" pitchFamily="2" charset="-122"/>
                        </a:rPr>
                        <a:t>归类：买计算机？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32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63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不买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en-US" altLang="zh-CN" sz="1400" b="0" i="0" u="none" strike="noStrike" cap="none" normalizeH="0" baseline="0">
                          <a:ln>
                            <a:noFill/>
                          </a:ln>
                          <a:solidFill>
                            <a:schemeClr val="tx1"/>
                          </a:solidFill>
                          <a:effectLst/>
                          <a:latin typeface="华文新魏" pitchFamily="2" charset="-122"/>
                          <a:ea typeface="华文新魏" pitchFamily="2" charset="-122"/>
                        </a:rPr>
                        <a:t>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a:ln>
                            <a:noFill/>
                          </a:ln>
                          <a:solidFill>
                            <a:schemeClr val="tx1"/>
                          </a:solidFill>
                          <a:effectLst/>
                          <a:latin typeface="华文新魏" pitchFamily="2" charset="-122"/>
                          <a:ea typeface="华文新魏" pitchFamily="2"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itchFamily="2" charset="2"/>
                        <a:buNone/>
                        <a:tabLst/>
                      </a:pPr>
                      <a:r>
                        <a:rPr kumimoji="1" lang="zh-CN" altLang="en-US" sz="1400" b="0" i="0" u="none" strike="noStrike" cap="none" normalizeH="0" baseline="0" dirty="0">
                          <a:ln>
                            <a:noFill/>
                          </a:ln>
                          <a:solidFill>
                            <a:schemeClr val="tx1"/>
                          </a:solidFill>
                          <a:effectLst/>
                          <a:latin typeface="华文新魏" pitchFamily="2" charset="-122"/>
                          <a:ea typeface="华文新魏" pitchFamily="2" charset="-122"/>
                        </a:rPr>
                        <a:t>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extLst>
                  <a:ext uri="{0D108BD9-81ED-4DB2-BD59-A6C34878D82A}">
                    <a16:rowId xmlns:a16="http://schemas.microsoft.com/office/drawing/2014/main" val="10015"/>
                  </a:ext>
                </a:extLst>
              </a:tr>
            </a:tbl>
          </a:graphicData>
        </a:graphic>
      </p:graphicFrame>
      <p:sp>
        <p:nvSpPr>
          <p:cNvPr id="70779" name="Rectangle 127"/>
          <p:cNvSpPr>
            <a:spLocks noChangeArrowheads="1"/>
          </p:cNvSpPr>
          <p:nvPr/>
        </p:nvSpPr>
        <p:spPr bwMode="auto">
          <a:xfrm>
            <a:off x="7824788" y="1052514"/>
            <a:ext cx="1223962" cy="503237"/>
          </a:xfrm>
          <a:prstGeom prst="rect">
            <a:avLst/>
          </a:prstGeom>
          <a:solidFill>
            <a:schemeClr val="accent1"/>
          </a:solidFill>
          <a:ln w="9525">
            <a:solidFill>
              <a:schemeClr val="tx1"/>
            </a:solidFill>
            <a:miter lim="800000"/>
            <a:headEnd/>
            <a:tailEnd/>
          </a:ln>
        </p:spPr>
        <p:txBody>
          <a:bodyPr wrap="none" anchor="ctr"/>
          <a:lstStyle/>
          <a:p>
            <a:pPr algn="ctr"/>
            <a:r>
              <a:rPr lang="zh-CN" altLang="en-US">
                <a:solidFill>
                  <a:srgbClr val="000000"/>
                </a:solidFill>
              </a:rPr>
              <a:t>年龄</a:t>
            </a:r>
          </a:p>
        </p:txBody>
      </p:sp>
      <p:sp>
        <p:nvSpPr>
          <p:cNvPr id="70780" name="Line 128"/>
          <p:cNvSpPr>
            <a:spLocks noChangeShapeType="1"/>
          </p:cNvSpPr>
          <p:nvPr/>
        </p:nvSpPr>
        <p:spPr bwMode="auto">
          <a:xfrm flipH="1">
            <a:off x="6816726" y="1557339"/>
            <a:ext cx="1584325" cy="935037"/>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81" name="Line 129"/>
          <p:cNvSpPr>
            <a:spLocks noChangeShapeType="1"/>
          </p:cNvSpPr>
          <p:nvPr/>
        </p:nvSpPr>
        <p:spPr bwMode="auto">
          <a:xfrm>
            <a:off x="8401050" y="1557339"/>
            <a:ext cx="0" cy="1152525"/>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82" name="Line 130"/>
          <p:cNvSpPr>
            <a:spLocks noChangeShapeType="1"/>
          </p:cNvSpPr>
          <p:nvPr/>
        </p:nvSpPr>
        <p:spPr bwMode="auto">
          <a:xfrm>
            <a:off x="8401050" y="1557338"/>
            <a:ext cx="1511300" cy="863600"/>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83" name="Text Box 131"/>
          <p:cNvSpPr txBox="1">
            <a:spLocks noChangeArrowheads="1"/>
          </p:cNvSpPr>
          <p:nvPr/>
        </p:nvSpPr>
        <p:spPr bwMode="auto">
          <a:xfrm>
            <a:off x="6745288" y="1628775"/>
            <a:ext cx="646331" cy="369332"/>
          </a:xfrm>
          <a:prstGeom prst="rect">
            <a:avLst/>
          </a:prstGeom>
          <a:noFill/>
          <a:ln w="9525">
            <a:noFill/>
            <a:miter lim="800000"/>
            <a:headEnd/>
            <a:tailEnd/>
          </a:ln>
        </p:spPr>
        <p:txBody>
          <a:bodyPr wrap="none">
            <a:spAutoFit/>
          </a:bodyPr>
          <a:lstStyle/>
          <a:p>
            <a:r>
              <a:rPr lang="zh-CN" altLang="en-US">
                <a:solidFill>
                  <a:srgbClr val="000000"/>
                </a:solidFill>
              </a:rPr>
              <a:t>青年</a:t>
            </a:r>
          </a:p>
        </p:txBody>
      </p:sp>
      <p:sp>
        <p:nvSpPr>
          <p:cNvPr id="70784" name="Text Box 132"/>
          <p:cNvSpPr txBox="1">
            <a:spLocks noChangeArrowheads="1"/>
          </p:cNvSpPr>
          <p:nvPr/>
        </p:nvSpPr>
        <p:spPr bwMode="auto">
          <a:xfrm>
            <a:off x="7967663" y="1892300"/>
            <a:ext cx="646331" cy="369332"/>
          </a:xfrm>
          <a:prstGeom prst="rect">
            <a:avLst/>
          </a:prstGeom>
          <a:noFill/>
          <a:ln w="9525">
            <a:noFill/>
            <a:miter lim="800000"/>
            <a:headEnd/>
            <a:tailEnd/>
          </a:ln>
        </p:spPr>
        <p:txBody>
          <a:bodyPr wrap="none">
            <a:spAutoFit/>
          </a:bodyPr>
          <a:lstStyle/>
          <a:p>
            <a:r>
              <a:rPr lang="zh-CN" altLang="en-US">
                <a:solidFill>
                  <a:srgbClr val="000000"/>
                </a:solidFill>
              </a:rPr>
              <a:t>中年</a:t>
            </a:r>
          </a:p>
        </p:txBody>
      </p:sp>
      <p:sp>
        <p:nvSpPr>
          <p:cNvPr id="70785" name="Text Box 133"/>
          <p:cNvSpPr txBox="1">
            <a:spLocks noChangeArrowheads="1"/>
          </p:cNvSpPr>
          <p:nvPr/>
        </p:nvSpPr>
        <p:spPr bwMode="auto">
          <a:xfrm>
            <a:off x="9118600" y="1628775"/>
            <a:ext cx="646331" cy="369332"/>
          </a:xfrm>
          <a:prstGeom prst="rect">
            <a:avLst/>
          </a:prstGeom>
          <a:noFill/>
          <a:ln w="9525">
            <a:noFill/>
            <a:miter lim="800000"/>
            <a:headEnd/>
            <a:tailEnd/>
          </a:ln>
        </p:spPr>
        <p:txBody>
          <a:bodyPr wrap="none">
            <a:spAutoFit/>
          </a:bodyPr>
          <a:lstStyle/>
          <a:p>
            <a:r>
              <a:rPr lang="zh-CN" altLang="en-US">
                <a:solidFill>
                  <a:srgbClr val="000000"/>
                </a:solidFill>
              </a:rPr>
              <a:t>老年</a:t>
            </a:r>
          </a:p>
        </p:txBody>
      </p:sp>
      <p:sp>
        <p:nvSpPr>
          <p:cNvPr id="70786" name="Oval 134"/>
          <p:cNvSpPr>
            <a:spLocks noChangeArrowheads="1"/>
          </p:cNvSpPr>
          <p:nvPr/>
        </p:nvSpPr>
        <p:spPr bwMode="auto">
          <a:xfrm>
            <a:off x="6384925" y="2420939"/>
            <a:ext cx="719138" cy="1512887"/>
          </a:xfrm>
          <a:prstGeom prst="ellipse">
            <a:avLst/>
          </a:prstGeom>
          <a:solidFill>
            <a:schemeClr val="hlink"/>
          </a:solidFill>
          <a:ln w="9525">
            <a:solidFill>
              <a:schemeClr val="tx1"/>
            </a:solidFill>
            <a:round/>
            <a:headEnd/>
            <a:tailEnd/>
          </a:ln>
        </p:spPr>
        <p:txBody>
          <a:bodyPr wrap="none" anchor="ctr"/>
          <a:lstStyle/>
          <a:p>
            <a:endParaRPr lang="zh-CN" altLang="en-US">
              <a:solidFill>
                <a:srgbClr val="000000"/>
              </a:solidFill>
            </a:endParaRPr>
          </a:p>
        </p:txBody>
      </p:sp>
      <p:sp>
        <p:nvSpPr>
          <p:cNvPr id="70787" name="Text Box 135"/>
          <p:cNvSpPr txBox="1">
            <a:spLocks noChangeArrowheads="1"/>
          </p:cNvSpPr>
          <p:nvPr/>
        </p:nvSpPr>
        <p:spPr bwMode="auto">
          <a:xfrm>
            <a:off x="6420534" y="2971840"/>
            <a:ext cx="646331" cy="369332"/>
          </a:xfrm>
          <a:prstGeom prst="rect">
            <a:avLst/>
          </a:prstGeom>
          <a:noFill/>
          <a:ln w="9525">
            <a:noFill/>
            <a:miter lim="800000"/>
            <a:headEnd/>
            <a:tailEnd/>
          </a:ln>
        </p:spPr>
        <p:txBody>
          <a:bodyPr wrap="none">
            <a:spAutoFit/>
          </a:bodyPr>
          <a:lstStyle/>
          <a:p>
            <a:r>
              <a:rPr lang="zh-CN" altLang="en-US" dirty="0">
                <a:solidFill>
                  <a:srgbClr val="000000"/>
                </a:solidFill>
              </a:rPr>
              <a:t>学生</a:t>
            </a:r>
          </a:p>
        </p:txBody>
      </p:sp>
      <p:sp>
        <p:nvSpPr>
          <p:cNvPr id="70788" name="Oval 136"/>
          <p:cNvSpPr>
            <a:spLocks noChangeArrowheads="1"/>
          </p:cNvSpPr>
          <p:nvPr/>
        </p:nvSpPr>
        <p:spPr bwMode="auto">
          <a:xfrm>
            <a:off x="7896226" y="2709863"/>
            <a:ext cx="1008063" cy="792162"/>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70789" name="Text Box 137"/>
          <p:cNvSpPr txBox="1">
            <a:spLocks noChangeArrowheads="1"/>
          </p:cNvSpPr>
          <p:nvPr/>
        </p:nvSpPr>
        <p:spPr bwMode="auto">
          <a:xfrm>
            <a:off x="8113713" y="2900363"/>
            <a:ext cx="415498" cy="369332"/>
          </a:xfrm>
          <a:prstGeom prst="rect">
            <a:avLst/>
          </a:prstGeom>
          <a:noFill/>
          <a:ln w="9525">
            <a:noFill/>
            <a:miter lim="800000"/>
            <a:headEnd/>
            <a:tailEnd/>
          </a:ln>
        </p:spPr>
        <p:txBody>
          <a:bodyPr wrap="none">
            <a:spAutoFit/>
          </a:bodyPr>
          <a:lstStyle/>
          <a:p>
            <a:r>
              <a:rPr lang="zh-CN" altLang="en-US">
                <a:solidFill>
                  <a:srgbClr val="000000"/>
                </a:solidFill>
              </a:rPr>
              <a:t>买</a:t>
            </a:r>
          </a:p>
        </p:txBody>
      </p:sp>
      <p:sp>
        <p:nvSpPr>
          <p:cNvPr id="70790" name="Oval 138"/>
          <p:cNvSpPr>
            <a:spLocks noChangeArrowheads="1"/>
          </p:cNvSpPr>
          <p:nvPr/>
        </p:nvSpPr>
        <p:spPr bwMode="auto">
          <a:xfrm>
            <a:off x="9480550" y="2420939"/>
            <a:ext cx="719138" cy="1512887"/>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70791" name="Text Box 139"/>
          <p:cNvSpPr txBox="1">
            <a:spLocks noChangeArrowheads="1"/>
          </p:cNvSpPr>
          <p:nvPr/>
        </p:nvSpPr>
        <p:spPr bwMode="auto">
          <a:xfrm>
            <a:off x="9409113" y="2789238"/>
            <a:ext cx="646331" cy="369332"/>
          </a:xfrm>
          <a:prstGeom prst="rect">
            <a:avLst/>
          </a:prstGeom>
          <a:noFill/>
          <a:ln w="9525">
            <a:noFill/>
            <a:miter lim="800000"/>
            <a:headEnd/>
            <a:tailEnd/>
          </a:ln>
        </p:spPr>
        <p:txBody>
          <a:bodyPr wrap="none">
            <a:spAutoFit/>
          </a:bodyPr>
          <a:lstStyle/>
          <a:p>
            <a:r>
              <a:rPr lang="zh-CN" altLang="en-US">
                <a:solidFill>
                  <a:srgbClr val="000000"/>
                </a:solidFill>
              </a:rPr>
              <a:t>信誉</a:t>
            </a:r>
          </a:p>
        </p:txBody>
      </p:sp>
      <p:sp>
        <p:nvSpPr>
          <p:cNvPr id="70792" name="Line 140"/>
          <p:cNvSpPr>
            <a:spLocks noChangeShapeType="1"/>
          </p:cNvSpPr>
          <p:nvPr/>
        </p:nvSpPr>
        <p:spPr bwMode="auto">
          <a:xfrm flipH="1">
            <a:off x="6169026" y="3933826"/>
            <a:ext cx="576263" cy="792163"/>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93" name="Line 141"/>
          <p:cNvSpPr>
            <a:spLocks noChangeShapeType="1"/>
          </p:cNvSpPr>
          <p:nvPr/>
        </p:nvSpPr>
        <p:spPr bwMode="auto">
          <a:xfrm>
            <a:off x="9840913" y="3933825"/>
            <a:ext cx="360362" cy="935038"/>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94" name="Line 142"/>
          <p:cNvSpPr>
            <a:spLocks noChangeShapeType="1"/>
          </p:cNvSpPr>
          <p:nvPr/>
        </p:nvSpPr>
        <p:spPr bwMode="auto">
          <a:xfrm>
            <a:off x="7753351" y="3502025"/>
            <a:ext cx="1223963" cy="0"/>
          </a:xfrm>
          <a:prstGeom prst="line">
            <a:avLst/>
          </a:prstGeom>
          <a:noFill/>
          <a:ln w="9525">
            <a:solidFill>
              <a:schemeClr val="tx1"/>
            </a:solidFill>
            <a:round/>
            <a:headEnd/>
            <a:tailEnd/>
          </a:ln>
        </p:spPr>
        <p:txBody>
          <a:bodyPr/>
          <a:lstStyle/>
          <a:p>
            <a:endParaRPr lang="zh-CN" altLang="en-US">
              <a:solidFill>
                <a:srgbClr val="000000"/>
              </a:solidFill>
            </a:endParaRPr>
          </a:p>
        </p:txBody>
      </p:sp>
      <p:sp>
        <p:nvSpPr>
          <p:cNvPr id="70795" name="Text Box 143"/>
          <p:cNvSpPr txBox="1">
            <a:spLocks noChangeArrowheads="1"/>
          </p:cNvSpPr>
          <p:nvPr/>
        </p:nvSpPr>
        <p:spPr bwMode="auto">
          <a:xfrm>
            <a:off x="8040688" y="3462338"/>
            <a:ext cx="646331" cy="369332"/>
          </a:xfrm>
          <a:prstGeom prst="rect">
            <a:avLst/>
          </a:prstGeom>
          <a:noFill/>
          <a:ln w="9525">
            <a:noFill/>
            <a:miter lim="800000"/>
            <a:headEnd/>
            <a:tailEnd/>
          </a:ln>
        </p:spPr>
        <p:txBody>
          <a:bodyPr wrap="none">
            <a:spAutoFit/>
          </a:bodyPr>
          <a:lstStyle/>
          <a:p>
            <a:r>
              <a:rPr lang="zh-CN" altLang="en-US">
                <a:solidFill>
                  <a:srgbClr val="000000"/>
                </a:solidFill>
              </a:rPr>
              <a:t>叶子</a:t>
            </a:r>
          </a:p>
        </p:txBody>
      </p:sp>
      <p:sp>
        <p:nvSpPr>
          <p:cNvPr id="70796" name="Line 145"/>
          <p:cNvSpPr>
            <a:spLocks noChangeShapeType="1"/>
          </p:cNvSpPr>
          <p:nvPr/>
        </p:nvSpPr>
        <p:spPr bwMode="auto">
          <a:xfrm>
            <a:off x="6743700" y="3933826"/>
            <a:ext cx="431800" cy="790575"/>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97" name="Line 146"/>
          <p:cNvSpPr>
            <a:spLocks noChangeShapeType="1"/>
          </p:cNvSpPr>
          <p:nvPr/>
        </p:nvSpPr>
        <p:spPr bwMode="auto">
          <a:xfrm flipH="1">
            <a:off x="9264651" y="3933825"/>
            <a:ext cx="576263" cy="863600"/>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798" name="Text Box 147"/>
          <p:cNvSpPr txBox="1">
            <a:spLocks noChangeArrowheads="1"/>
          </p:cNvSpPr>
          <p:nvPr/>
        </p:nvSpPr>
        <p:spPr bwMode="auto">
          <a:xfrm>
            <a:off x="5951538" y="3933825"/>
            <a:ext cx="415498" cy="369332"/>
          </a:xfrm>
          <a:prstGeom prst="rect">
            <a:avLst/>
          </a:prstGeom>
          <a:noFill/>
          <a:ln w="9525">
            <a:noFill/>
            <a:miter lim="800000"/>
            <a:headEnd/>
            <a:tailEnd/>
          </a:ln>
        </p:spPr>
        <p:txBody>
          <a:bodyPr wrap="none">
            <a:spAutoFit/>
          </a:bodyPr>
          <a:lstStyle/>
          <a:p>
            <a:r>
              <a:rPr lang="zh-CN" altLang="en-US">
                <a:solidFill>
                  <a:srgbClr val="000000"/>
                </a:solidFill>
              </a:rPr>
              <a:t>否</a:t>
            </a:r>
          </a:p>
        </p:txBody>
      </p:sp>
      <p:sp>
        <p:nvSpPr>
          <p:cNvPr id="70799" name="Text Box 148"/>
          <p:cNvSpPr txBox="1">
            <a:spLocks noChangeArrowheads="1"/>
          </p:cNvSpPr>
          <p:nvPr/>
        </p:nvSpPr>
        <p:spPr bwMode="auto">
          <a:xfrm>
            <a:off x="6888163" y="3933825"/>
            <a:ext cx="415498" cy="369332"/>
          </a:xfrm>
          <a:prstGeom prst="rect">
            <a:avLst/>
          </a:prstGeom>
          <a:noFill/>
          <a:ln w="9525">
            <a:noFill/>
            <a:miter lim="800000"/>
            <a:headEnd/>
            <a:tailEnd/>
          </a:ln>
        </p:spPr>
        <p:txBody>
          <a:bodyPr wrap="none">
            <a:spAutoFit/>
          </a:bodyPr>
          <a:lstStyle/>
          <a:p>
            <a:r>
              <a:rPr lang="zh-CN" altLang="en-US">
                <a:solidFill>
                  <a:srgbClr val="000000"/>
                </a:solidFill>
              </a:rPr>
              <a:t>是</a:t>
            </a:r>
          </a:p>
        </p:txBody>
      </p:sp>
      <p:sp>
        <p:nvSpPr>
          <p:cNvPr id="70800" name="Text Box 149"/>
          <p:cNvSpPr txBox="1">
            <a:spLocks noChangeArrowheads="1"/>
          </p:cNvSpPr>
          <p:nvPr/>
        </p:nvSpPr>
        <p:spPr bwMode="auto">
          <a:xfrm>
            <a:off x="9207500" y="3933825"/>
            <a:ext cx="415498" cy="369332"/>
          </a:xfrm>
          <a:prstGeom prst="rect">
            <a:avLst/>
          </a:prstGeom>
          <a:noFill/>
          <a:ln w="9525">
            <a:noFill/>
            <a:miter lim="800000"/>
            <a:headEnd/>
            <a:tailEnd/>
          </a:ln>
        </p:spPr>
        <p:txBody>
          <a:bodyPr wrap="none">
            <a:spAutoFit/>
          </a:bodyPr>
          <a:lstStyle/>
          <a:p>
            <a:r>
              <a:rPr lang="zh-CN" altLang="en-US">
                <a:solidFill>
                  <a:srgbClr val="000000"/>
                </a:solidFill>
              </a:rPr>
              <a:t>优</a:t>
            </a:r>
          </a:p>
        </p:txBody>
      </p:sp>
      <p:sp>
        <p:nvSpPr>
          <p:cNvPr id="70801" name="Text Box 150"/>
          <p:cNvSpPr txBox="1">
            <a:spLocks noChangeArrowheads="1"/>
          </p:cNvSpPr>
          <p:nvPr/>
        </p:nvSpPr>
        <p:spPr bwMode="auto">
          <a:xfrm>
            <a:off x="9999663" y="3933825"/>
            <a:ext cx="415498" cy="369332"/>
          </a:xfrm>
          <a:prstGeom prst="rect">
            <a:avLst/>
          </a:prstGeom>
          <a:noFill/>
          <a:ln w="9525">
            <a:noFill/>
            <a:miter lim="800000"/>
            <a:headEnd/>
            <a:tailEnd/>
          </a:ln>
        </p:spPr>
        <p:txBody>
          <a:bodyPr wrap="none">
            <a:spAutoFit/>
          </a:bodyPr>
          <a:lstStyle/>
          <a:p>
            <a:r>
              <a:rPr lang="zh-CN" altLang="en-US">
                <a:solidFill>
                  <a:srgbClr val="000000"/>
                </a:solidFill>
              </a:rPr>
              <a:t>良</a:t>
            </a:r>
          </a:p>
        </p:txBody>
      </p:sp>
      <p:sp>
        <p:nvSpPr>
          <p:cNvPr id="70802" name="Oval 151"/>
          <p:cNvSpPr>
            <a:spLocks noChangeArrowheads="1"/>
          </p:cNvSpPr>
          <p:nvPr/>
        </p:nvSpPr>
        <p:spPr bwMode="auto">
          <a:xfrm>
            <a:off x="6743701" y="4724401"/>
            <a:ext cx="1008063" cy="792163"/>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70803" name="Text Box 152"/>
          <p:cNvSpPr txBox="1">
            <a:spLocks noChangeArrowheads="1"/>
          </p:cNvSpPr>
          <p:nvPr/>
        </p:nvSpPr>
        <p:spPr bwMode="auto">
          <a:xfrm>
            <a:off x="6961188" y="4914900"/>
            <a:ext cx="415498" cy="369332"/>
          </a:xfrm>
          <a:prstGeom prst="rect">
            <a:avLst/>
          </a:prstGeom>
          <a:noFill/>
          <a:ln w="9525">
            <a:noFill/>
            <a:miter lim="800000"/>
            <a:headEnd/>
            <a:tailEnd/>
          </a:ln>
        </p:spPr>
        <p:txBody>
          <a:bodyPr wrap="none">
            <a:spAutoFit/>
          </a:bodyPr>
          <a:lstStyle/>
          <a:p>
            <a:r>
              <a:rPr lang="zh-CN" altLang="en-US">
                <a:solidFill>
                  <a:srgbClr val="000000"/>
                </a:solidFill>
              </a:rPr>
              <a:t>买</a:t>
            </a:r>
          </a:p>
        </p:txBody>
      </p:sp>
      <p:sp>
        <p:nvSpPr>
          <p:cNvPr id="70804" name="Oval 153"/>
          <p:cNvSpPr>
            <a:spLocks noChangeArrowheads="1"/>
          </p:cNvSpPr>
          <p:nvPr/>
        </p:nvSpPr>
        <p:spPr bwMode="auto">
          <a:xfrm>
            <a:off x="5664201" y="4724401"/>
            <a:ext cx="1008063" cy="792163"/>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70805" name="Text Box 154"/>
          <p:cNvSpPr txBox="1">
            <a:spLocks noChangeArrowheads="1"/>
          </p:cNvSpPr>
          <p:nvPr/>
        </p:nvSpPr>
        <p:spPr bwMode="auto">
          <a:xfrm>
            <a:off x="5735638" y="4868863"/>
            <a:ext cx="646331" cy="369332"/>
          </a:xfrm>
          <a:prstGeom prst="rect">
            <a:avLst/>
          </a:prstGeom>
          <a:noFill/>
          <a:ln w="9525">
            <a:noFill/>
            <a:miter lim="800000"/>
            <a:headEnd/>
            <a:tailEnd/>
          </a:ln>
        </p:spPr>
        <p:txBody>
          <a:bodyPr wrap="none">
            <a:spAutoFit/>
          </a:bodyPr>
          <a:lstStyle/>
          <a:p>
            <a:r>
              <a:rPr lang="zh-CN" altLang="en-US" dirty="0">
                <a:solidFill>
                  <a:srgbClr val="000000"/>
                </a:solidFill>
              </a:rPr>
              <a:t>不买</a:t>
            </a:r>
          </a:p>
        </p:txBody>
      </p:sp>
      <p:sp>
        <p:nvSpPr>
          <p:cNvPr id="70806" name="Oval 159"/>
          <p:cNvSpPr>
            <a:spLocks noChangeArrowheads="1"/>
          </p:cNvSpPr>
          <p:nvPr/>
        </p:nvSpPr>
        <p:spPr bwMode="auto">
          <a:xfrm>
            <a:off x="8831264" y="4797425"/>
            <a:ext cx="719137" cy="1512888"/>
          </a:xfrm>
          <a:prstGeom prst="ellipse">
            <a:avLst/>
          </a:prstGeom>
          <a:solidFill>
            <a:schemeClr val="hlink"/>
          </a:solidFill>
          <a:ln w="9525">
            <a:solidFill>
              <a:schemeClr val="tx1"/>
            </a:solidFill>
            <a:round/>
            <a:headEnd/>
            <a:tailEnd/>
          </a:ln>
        </p:spPr>
        <p:txBody>
          <a:bodyPr wrap="none" anchor="ctr"/>
          <a:lstStyle/>
          <a:p>
            <a:endParaRPr lang="zh-CN" altLang="en-US">
              <a:solidFill>
                <a:srgbClr val="000000"/>
              </a:solidFill>
            </a:endParaRPr>
          </a:p>
        </p:txBody>
      </p:sp>
      <p:sp>
        <p:nvSpPr>
          <p:cNvPr id="70807" name="Text Box 160"/>
          <p:cNvSpPr txBox="1">
            <a:spLocks noChangeArrowheads="1"/>
          </p:cNvSpPr>
          <p:nvPr/>
        </p:nvSpPr>
        <p:spPr bwMode="auto">
          <a:xfrm>
            <a:off x="8831263" y="5157789"/>
            <a:ext cx="646331" cy="646331"/>
          </a:xfrm>
          <a:prstGeom prst="rect">
            <a:avLst/>
          </a:prstGeom>
          <a:noFill/>
          <a:ln w="9525">
            <a:noFill/>
            <a:miter lim="800000"/>
            <a:headEnd/>
            <a:tailEnd/>
          </a:ln>
        </p:spPr>
        <p:txBody>
          <a:bodyPr wrap="square">
            <a:spAutoFit/>
          </a:bodyPr>
          <a:lstStyle/>
          <a:p>
            <a:r>
              <a:rPr lang="zh-CN" altLang="en-US" dirty="0">
                <a:solidFill>
                  <a:srgbClr val="000000"/>
                </a:solidFill>
              </a:rPr>
              <a:t>买</a:t>
            </a:r>
            <a:r>
              <a:rPr lang="en-US" altLang="zh-CN" dirty="0">
                <a:solidFill>
                  <a:srgbClr val="000000"/>
                </a:solidFill>
              </a:rPr>
              <a:t>/</a:t>
            </a:r>
          </a:p>
          <a:p>
            <a:r>
              <a:rPr lang="zh-CN" altLang="en-US" dirty="0">
                <a:solidFill>
                  <a:srgbClr val="000000"/>
                </a:solidFill>
              </a:rPr>
              <a:t>不买</a:t>
            </a:r>
          </a:p>
        </p:txBody>
      </p:sp>
      <p:sp>
        <p:nvSpPr>
          <p:cNvPr id="70808" name="Oval 161"/>
          <p:cNvSpPr>
            <a:spLocks noChangeArrowheads="1"/>
          </p:cNvSpPr>
          <p:nvPr/>
        </p:nvSpPr>
        <p:spPr bwMode="auto">
          <a:xfrm>
            <a:off x="9625013" y="4868863"/>
            <a:ext cx="1008062" cy="792162"/>
          </a:xfrm>
          <a:prstGeom prst="ellipse">
            <a:avLst/>
          </a:prstGeom>
          <a:solidFill>
            <a:schemeClr val="accent1"/>
          </a:solidFill>
          <a:ln w="9525">
            <a:solidFill>
              <a:schemeClr val="tx1"/>
            </a:solidFill>
            <a:round/>
            <a:headEnd/>
            <a:tailEnd/>
          </a:ln>
        </p:spPr>
        <p:txBody>
          <a:bodyPr wrap="none" anchor="ctr"/>
          <a:lstStyle/>
          <a:p>
            <a:endParaRPr lang="zh-CN" altLang="en-US">
              <a:solidFill>
                <a:srgbClr val="000000"/>
              </a:solidFill>
            </a:endParaRPr>
          </a:p>
        </p:txBody>
      </p:sp>
      <p:sp>
        <p:nvSpPr>
          <p:cNvPr id="70809" name="Text Box 162"/>
          <p:cNvSpPr txBox="1">
            <a:spLocks noChangeArrowheads="1"/>
          </p:cNvSpPr>
          <p:nvPr/>
        </p:nvSpPr>
        <p:spPr bwMode="auto">
          <a:xfrm>
            <a:off x="9842500" y="5059363"/>
            <a:ext cx="415498" cy="369332"/>
          </a:xfrm>
          <a:prstGeom prst="rect">
            <a:avLst/>
          </a:prstGeom>
          <a:noFill/>
          <a:ln w="9525">
            <a:noFill/>
            <a:miter lim="800000"/>
            <a:headEnd/>
            <a:tailEnd/>
          </a:ln>
        </p:spPr>
        <p:txBody>
          <a:bodyPr wrap="none">
            <a:spAutoFit/>
          </a:bodyPr>
          <a:lstStyle/>
          <a:p>
            <a:r>
              <a:rPr lang="zh-CN" altLang="en-US">
                <a:solidFill>
                  <a:srgbClr val="000000"/>
                </a:solidFill>
              </a:rPr>
              <a:t>买</a:t>
            </a:r>
          </a:p>
        </p:txBody>
      </p:sp>
      <p:sp>
        <p:nvSpPr>
          <p:cNvPr id="70810" name="Line 163"/>
          <p:cNvSpPr>
            <a:spLocks noChangeShapeType="1"/>
          </p:cNvSpPr>
          <p:nvPr/>
        </p:nvSpPr>
        <p:spPr bwMode="auto">
          <a:xfrm flipH="1">
            <a:off x="8401050" y="6308726"/>
            <a:ext cx="719138" cy="288925"/>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70811" name="Line 164"/>
          <p:cNvSpPr>
            <a:spLocks noChangeShapeType="1"/>
          </p:cNvSpPr>
          <p:nvPr/>
        </p:nvSpPr>
        <p:spPr bwMode="auto">
          <a:xfrm>
            <a:off x="9696450" y="5661025"/>
            <a:ext cx="971550" cy="0"/>
          </a:xfrm>
          <a:prstGeom prst="line">
            <a:avLst/>
          </a:prstGeom>
          <a:noFill/>
          <a:ln w="9525">
            <a:solidFill>
              <a:schemeClr val="tx1"/>
            </a:solidFill>
            <a:round/>
            <a:headEnd/>
            <a:tailEnd/>
          </a:ln>
        </p:spPr>
        <p:txBody>
          <a:bodyPr/>
          <a:lstStyle/>
          <a:p>
            <a:endParaRPr lang="zh-CN" altLang="en-US">
              <a:solidFill>
                <a:srgbClr val="000000"/>
              </a:solidFill>
            </a:endParaRPr>
          </a:p>
        </p:txBody>
      </p:sp>
      <p:sp>
        <p:nvSpPr>
          <p:cNvPr id="70812" name="Text Box 165"/>
          <p:cNvSpPr txBox="1">
            <a:spLocks noChangeArrowheads="1"/>
          </p:cNvSpPr>
          <p:nvPr/>
        </p:nvSpPr>
        <p:spPr bwMode="auto">
          <a:xfrm>
            <a:off x="9767888" y="5635625"/>
            <a:ext cx="646331" cy="369332"/>
          </a:xfrm>
          <a:prstGeom prst="rect">
            <a:avLst/>
          </a:prstGeom>
          <a:noFill/>
          <a:ln w="9525">
            <a:noFill/>
            <a:miter lim="800000"/>
            <a:headEnd/>
            <a:tailEnd/>
          </a:ln>
        </p:spPr>
        <p:txBody>
          <a:bodyPr wrap="none">
            <a:spAutoFit/>
          </a:bodyPr>
          <a:lstStyle/>
          <a:p>
            <a:r>
              <a:rPr lang="zh-CN" altLang="en-US">
                <a:solidFill>
                  <a:srgbClr val="000000"/>
                </a:solidFill>
              </a:rPr>
              <a:t>叶子</a:t>
            </a:r>
          </a:p>
        </p:txBody>
      </p:sp>
      <p:sp>
        <p:nvSpPr>
          <p:cNvPr id="70813" name="Line 166"/>
          <p:cNvSpPr>
            <a:spLocks noChangeShapeType="1"/>
          </p:cNvSpPr>
          <p:nvPr/>
        </p:nvSpPr>
        <p:spPr bwMode="auto">
          <a:xfrm>
            <a:off x="6743700" y="5541963"/>
            <a:ext cx="971550" cy="0"/>
          </a:xfrm>
          <a:prstGeom prst="line">
            <a:avLst/>
          </a:prstGeom>
          <a:noFill/>
          <a:ln w="9525">
            <a:solidFill>
              <a:schemeClr val="tx1"/>
            </a:solidFill>
            <a:round/>
            <a:headEnd/>
            <a:tailEnd/>
          </a:ln>
        </p:spPr>
        <p:txBody>
          <a:bodyPr/>
          <a:lstStyle/>
          <a:p>
            <a:endParaRPr lang="zh-CN" altLang="en-US">
              <a:solidFill>
                <a:srgbClr val="000000"/>
              </a:solidFill>
            </a:endParaRPr>
          </a:p>
        </p:txBody>
      </p:sp>
      <p:sp>
        <p:nvSpPr>
          <p:cNvPr id="70814" name="Text Box 167"/>
          <p:cNvSpPr txBox="1">
            <a:spLocks noChangeArrowheads="1"/>
          </p:cNvSpPr>
          <p:nvPr/>
        </p:nvSpPr>
        <p:spPr bwMode="auto">
          <a:xfrm>
            <a:off x="6815138" y="5516563"/>
            <a:ext cx="646331" cy="369332"/>
          </a:xfrm>
          <a:prstGeom prst="rect">
            <a:avLst/>
          </a:prstGeom>
          <a:noFill/>
          <a:ln w="9525">
            <a:noFill/>
            <a:miter lim="800000"/>
            <a:headEnd/>
            <a:tailEnd/>
          </a:ln>
        </p:spPr>
        <p:txBody>
          <a:bodyPr wrap="none">
            <a:spAutoFit/>
          </a:bodyPr>
          <a:lstStyle/>
          <a:p>
            <a:r>
              <a:rPr lang="zh-CN" altLang="en-US">
                <a:solidFill>
                  <a:srgbClr val="000000"/>
                </a:solidFill>
              </a:rPr>
              <a:t>叶子</a:t>
            </a:r>
          </a:p>
        </p:txBody>
      </p:sp>
      <p:sp>
        <p:nvSpPr>
          <p:cNvPr id="70815" name="Line 168"/>
          <p:cNvSpPr>
            <a:spLocks noChangeShapeType="1"/>
          </p:cNvSpPr>
          <p:nvPr/>
        </p:nvSpPr>
        <p:spPr bwMode="auto">
          <a:xfrm>
            <a:off x="5735638" y="5541963"/>
            <a:ext cx="971550" cy="0"/>
          </a:xfrm>
          <a:prstGeom prst="line">
            <a:avLst/>
          </a:prstGeom>
          <a:noFill/>
          <a:ln w="9525">
            <a:solidFill>
              <a:schemeClr val="tx1"/>
            </a:solidFill>
            <a:round/>
            <a:headEnd/>
            <a:tailEnd/>
          </a:ln>
        </p:spPr>
        <p:txBody>
          <a:bodyPr/>
          <a:lstStyle/>
          <a:p>
            <a:endParaRPr lang="zh-CN" altLang="en-US">
              <a:solidFill>
                <a:srgbClr val="000000"/>
              </a:solidFill>
            </a:endParaRPr>
          </a:p>
        </p:txBody>
      </p:sp>
      <p:sp>
        <p:nvSpPr>
          <p:cNvPr id="70816" name="Text Box 169"/>
          <p:cNvSpPr txBox="1">
            <a:spLocks noChangeArrowheads="1"/>
          </p:cNvSpPr>
          <p:nvPr/>
        </p:nvSpPr>
        <p:spPr bwMode="auto">
          <a:xfrm>
            <a:off x="5807075" y="5516563"/>
            <a:ext cx="646331" cy="369332"/>
          </a:xfrm>
          <a:prstGeom prst="rect">
            <a:avLst/>
          </a:prstGeom>
          <a:noFill/>
          <a:ln w="9525">
            <a:noFill/>
            <a:miter lim="800000"/>
            <a:headEnd/>
            <a:tailEnd/>
          </a:ln>
        </p:spPr>
        <p:txBody>
          <a:bodyPr wrap="none">
            <a:spAutoFit/>
          </a:bodyPr>
          <a:lstStyle/>
          <a:p>
            <a:r>
              <a:rPr lang="zh-CN" altLang="en-US">
                <a:solidFill>
                  <a:srgbClr val="000000"/>
                </a:solidFill>
              </a:rPr>
              <a:t>叶子</a:t>
            </a:r>
          </a:p>
        </p:txBody>
      </p:sp>
      <p:sp>
        <p:nvSpPr>
          <p:cNvPr id="70817" name="Text Box 170"/>
          <p:cNvSpPr txBox="1">
            <a:spLocks noChangeArrowheads="1"/>
          </p:cNvSpPr>
          <p:nvPr/>
        </p:nvSpPr>
        <p:spPr bwMode="auto">
          <a:xfrm>
            <a:off x="5735638" y="333376"/>
            <a:ext cx="1962150" cy="519113"/>
          </a:xfrm>
          <a:prstGeom prst="rect">
            <a:avLst/>
          </a:prstGeom>
          <a:noFill/>
          <a:ln w="9525">
            <a:noFill/>
            <a:miter lim="800000"/>
            <a:headEnd/>
            <a:tailEnd/>
          </a:ln>
        </p:spPr>
        <p:txBody>
          <a:bodyPr wrap="none">
            <a:spAutoFit/>
          </a:bodyPr>
          <a:lstStyle/>
          <a:p>
            <a:r>
              <a:rPr lang="zh-CN" altLang="en-US" sz="2800">
                <a:solidFill>
                  <a:srgbClr val="000000"/>
                </a:solidFill>
              </a:rPr>
              <a:t>决策树算法</a:t>
            </a:r>
          </a:p>
        </p:txBody>
      </p:sp>
      <p:sp>
        <p:nvSpPr>
          <p:cNvPr id="42" name="灯片编号占位符 41"/>
          <p:cNvSpPr>
            <a:spLocks noGrp="1"/>
          </p:cNvSpPr>
          <p:nvPr>
            <p:ph type="sldNum" sz="quarter" idx="11"/>
          </p:nvPr>
        </p:nvSpPr>
        <p:spPr/>
        <p:txBody>
          <a:bodyPr/>
          <a:lstStyle/>
          <a:p>
            <a:pPr>
              <a:defRPr/>
            </a:pPr>
            <a:fld id="{8EDB171D-A1F9-42E8-BD2B-16AA89E5910B}" type="slidenum">
              <a:rPr lang="en-US" altLang="zh-CN" smtClean="0"/>
              <a:pPr>
                <a:defRPr/>
              </a:pPr>
              <a:t>24</a:t>
            </a:fld>
            <a:endParaRPr lang="en-US" altLang="zh-CN"/>
          </a:p>
        </p:txBody>
      </p:sp>
    </p:spTree>
    <p:extLst>
      <p:ext uri="{BB962C8B-B14F-4D97-AF65-F5344CB8AC3E}">
        <p14:creationId xmlns:p14="http://schemas.microsoft.com/office/powerpoint/2010/main" val="3792243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dirty="0"/>
              <a:t>决策树建立步骤（</a:t>
            </a:r>
            <a:r>
              <a:rPr lang="en-US" altLang="zh-CN" dirty="0"/>
              <a:t>ID3</a:t>
            </a:r>
            <a:r>
              <a:rPr lang="zh-CN" altLang="en-US" dirty="0"/>
              <a:t>）</a:t>
            </a:r>
          </a:p>
        </p:txBody>
      </p:sp>
      <p:sp>
        <p:nvSpPr>
          <p:cNvPr id="64517" name="Rectangle 3"/>
          <p:cNvSpPr>
            <a:spLocks noGrp="1" noChangeArrowheads="1"/>
          </p:cNvSpPr>
          <p:nvPr>
            <p:ph idx="1"/>
          </p:nvPr>
        </p:nvSpPr>
        <p:spPr>
          <a:xfrm>
            <a:off x="1828800" y="1066800"/>
            <a:ext cx="9091736" cy="5334000"/>
          </a:xfrm>
        </p:spPr>
        <p:txBody>
          <a:bodyPr/>
          <a:lstStyle/>
          <a:p>
            <a:pPr marL="533400" indent="-533400">
              <a:buNone/>
              <a:defRPr/>
            </a:pPr>
            <a:r>
              <a:rPr lang="en-US" altLang="zh-CN" sz="2400" dirty="0"/>
              <a:t>1)</a:t>
            </a:r>
            <a:r>
              <a:rPr lang="zh-CN" altLang="en-US" sz="2400" dirty="0"/>
              <a:t>决定分类属性</a:t>
            </a:r>
          </a:p>
          <a:p>
            <a:pPr marL="533400" indent="-533400">
              <a:buNone/>
              <a:defRPr/>
            </a:pPr>
            <a:r>
              <a:rPr lang="en-US" altLang="zh-CN" sz="2400" dirty="0"/>
              <a:t>2)</a:t>
            </a:r>
            <a:r>
              <a:rPr lang="zh-CN" altLang="en-US" sz="2400" dirty="0"/>
              <a:t>对目前的数据表，建立一个节点</a:t>
            </a:r>
            <a:r>
              <a:rPr lang="en-US" altLang="zh-CN" sz="2400" dirty="0"/>
              <a:t>N</a:t>
            </a:r>
            <a:r>
              <a:rPr lang="zh-CN" altLang="en-US" sz="2400" dirty="0"/>
              <a:t>。</a:t>
            </a:r>
          </a:p>
          <a:p>
            <a:pPr marL="533400" indent="-533400">
              <a:buNone/>
              <a:defRPr/>
            </a:pPr>
            <a:r>
              <a:rPr lang="en-US" altLang="zh-CN" sz="2400" dirty="0"/>
              <a:t>3)</a:t>
            </a:r>
            <a:r>
              <a:rPr lang="zh-CN" altLang="en-US" sz="2400" dirty="0"/>
              <a:t>如果数据表中的数据都属于同一类，</a:t>
            </a:r>
            <a:r>
              <a:rPr lang="en-US" altLang="zh-CN" sz="2400" dirty="0"/>
              <a:t>N</a:t>
            </a:r>
            <a:r>
              <a:rPr lang="zh-CN" altLang="en-US" sz="2400" dirty="0"/>
              <a:t>就是树叶，在树叶上标上所属的那一类。</a:t>
            </a:r>
          </a:p>
          <a:p>
            <a:pPr marL="533400" indent="-533400">
              <a:buNone/>
              <a:defRPr/>
            </a:pPr>
            <a:r>
              <a:rPr lang="en-US" altLang="zh-CN" sz="2400" dirty="0"/>
              <a:t>4)</a:t>
            </a:r>
            <a:r>
              <a:rPr lang="zh-CN" altLang="en-US" sz="2400" dirty="0"/>
              <a:t>如果数据表中没有其他属性可以考虑，</a:t>
            </a:r>
            <a:r>
              <a:rPr lang="en-US" altLang="zh-CN" sz="2400" dirty="0"/>
              <a:t>N</a:t>
            </a:r>
            <a:r>
              <a:rPr lang="zh-CN" altLang="en-US" sz="2400" dirty="0"/>
              <a:t>也是树叶，按照少数服从多数的原则在树叶上标上所属类别。</a:t>
            </a:r>
          </a:p>
          <a:p>
            <a:pPr marL="533400" indent="-533400">
              <a:buNone/>
              <a:defRPr/>
            </a:pPr>
            <a:r>
              <a:rPr lang="en-US" altLang="zh-CN" sz="2400" dirty="0"/>
              <a:t>5)</a:t>
            </a:r>
            <a:r>
              <a:rPr lang="zh-CN" altLang="en-US" sz="2400" dirty="0"/>
              <a:t>否则，根据</a:t>
            </a:r>
            <a:r>
              <a:rPr lang="zh-CN" altLang="en-US" sz="2400" dirty="0">
                <a:solidFill>
                  <a:srgbClr val="FF0000"/>
                </a:solidFill>
              </a:rPr>
              <a:t>最大信息增益</a:t>
            </a:r>
            <a:r>
              <a:rPr lang="en-US" altLang="zh-CN" sz="2400" dirty="0">
                <a:solidFill>
                  <a:srgbClr val="FF0000"/>
                </a:solidFill>
              </a:rPr>
              <a:t>Gain</a:t>
            </a:r>
            <a:r>
              <a:rPr lang="zh-CN" altLang="en-US" sz="2400" dirty="0"/>
              <a:t>值（或最小平均信息期望值</a:t>
            </a:r>
            <a:r>
              <a:rPr lang="en-US" altLang="zh-CN" sz="2400" dirty="0"/>
              <a:t>E</a:t>
            </a:r>
            <a:r>
              <a:rPr lang="zh-CN" altLang="en-US" sz="2400" dirty="0"/>
              <a:t>）选出一个最佳属性作为节点</a:t>
            </a:r>
            <a:r>
              <a:rPr lang="en-US" altLang="zh-CN" sz="2400" dirty="0"/>
              <a:t>N</a:t>
            </a:r>
            <a:r>
              <a:rPr lang="zh-CN" altLang="en-US" sz="2400" dirty="0"/>
              <a:t>的测试属性。</a:t>
            </a:r>
          </a:p>
          <a:p>
            <a:pPr marL="533400" indent="-533400">
              <a:buNone/>
              <a:defRPr/>
            </a:pPr>
            <a:r>
              <a:rPr lang="en-US" altLang="zh-CN" sz="2400" dirty="0"/>
              <a:t>6)</a:t>
            </a:r>
            <a:r>
              <a:rPr lang="zh-CN" altLang="en-US" sz="2400" dirty="0"/>
              <a:t>节点属性选定以后，对于该属性的每一个值：</a:t>
            </a:r>
          </a:p>
          <a:p>
            <a:pPr marL="514350" indent="-457200">
              <a:buFont typeface="Wingdings" pitchFamily="2" charset="2"/>
              <a:buChar char="w"/>
              <a:defRPr/>
            </a:pPr>
            <a:r>
              <a:rPr lang="zh-CN" altLang="en-US" sz="2200" dirty="0">
                <a:latin typeface="黑体" pitchFamily="49" charset="-122"/>
                <a:ea typeface="黑体" pitchFamily="49" charset="-122"/>
              </a:rPr>
              <a:t>从</a:t>
            </a:r>
            <a:r>
              <a:rPr lang="en-US" altLang="zh-CN" sz="2200" dirty="0">
                <a:latin typeface="黑体" pitchFamily="49" charset="-122"/>
                <a:ea typeface="黑体" pitchFamily="49" charset="-122"/>
              </a:rPr>
              <a:t>N</a:t>
            </a:r>
            <a:r>
              <a:rPr lang="zh-CN" altLang="en-US" sz="2200" dirty="0">
                <a:latin typeface="黑体" pitchFamily="49" charset="-122"/>
                <a:ea typeface="黑体" pitchFamily="49" charset="-122"/>
              </a:rPr>
              <a:t>生成一个分支， 并将数据表中与该分支有关的数据收集形成分支节点的数据表，在表中删除节点属性那一栏。</a:t>
            </a:r>
          </a:p>
          <a:p>
            <a:pPr marL="514350" indent="-457200">
              <a:buFont typeface="Wingdings" pitchFamily="2" charset="2"/>
              <a:buChar char="w"/>
              <a:defRPr/>
            </a:pPr>
            <a:r>
              <a:rPr lang="zh-CN" altLang="en-US" sz="2200" dirty="0">
                <a:latin typeface="黑体" pitchFamily="49" charset="-122"/>
                <a:ea typeface="黑体" pitchFamily="49" charset="-122"/>
              </a:rPr>
              <a:t>如果分支数据表非空，则运用以上算法从该节点建立子树。</a:t>
            </a:r>
          </a:p>
        </p:txBody>
      </p:sp>
      <p:sp>
        <p:nvSpPr>
          <p:cNvPr id="4" name="灯片编号占位符 3"/>
          <p:cNvSpPr>
            <a:spLocks noGrp="1"/>
          </p:cNvSpPr>
          <p:nvPr>
            <p:ph type="sldNum" sz="quarter" idx="11"/>
          </p:nvPr>
        </p:nvSpPr>
        <p:spPr/>
        <p:txBody>
          <a:bodyPr/>
          <a:lstStyle/>
          <a:p>
            <a:pPr>
              <a:defRPr/>
            </a:pPr>
            <a:fld id="{8EDB171D-A1F9-42E8-BD2B-16AA89E5910B}" type="slidenum">
              <a:rPr lang="en-US" altLang="zh-CN" smtClean="0"/>
              <a:pPr>
                <a:defRPr/>
              </a:pPr>
              <a:t>25</a:t>
            </a:fld>
            <a:endParaRPr lang="en-US" altLang="zh-CN"/>
          </a:p>
        </p:txBody>
      </p:sp>
      <p:cxnSp>
        <p:nvCxnSpPr>
          <p:cNvPr id="6" name="直接箭头连接符 5"/>
          <p:cNvCxnSpPr/>
          <p:nvPr/>
        </p:nvCxnSpPr>
        <p:spPr>
          <a:xfrm flipH="1" flipV="1">
            <a:off x="3287688" y="4725144"/>
            <a:ext cx="2880320" cy="5760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01938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solidFill>
                  <a:srgbClr val="000000"/>
                </a:solidFill>
              </a:rPr>
              <a:t>决策树算法</a:t>
            </a:r>
          </a:p>
        </p:txBody>
      </p:sp>
      <p:sp>
        <p:nvSpPr>
          <p:cNvPr id="72707" name="Text Box 8"/>
          <p:cNvSpPr txBox="1">
            <a:spLocks noChangeArrowheads="1"/>
          </p:cNvSpPr>
          <p:nvPr/>
        </p:nvSpPr>
        <p:spPr bwMode="auto">
          <a:xfrm>
            <a:off x="1883713" y="1011005"/>
            <a:ext cx="2463800" cy="584200"/>
          </a:xfrm>
          <a:prstGeom prst="rect">
            <a:avLst/>
          </a:prstGeom>
          <a:noFill/>
          <a:ln w="9525">
            <a:noFill/>
            <a:miter lim="800000"/>
            <a:headEnd/>
            <a:tailEnd/>
          </a:ln>
        </p:spPr>
        <p:txBody>
          <a:bodyPr wrap="none">
            <a:spAutoFit/>
          </a:bodyPr>
          <a:lstStyle/>
          <a:p>
            <a:r>
              <a:rPr lang="en-US" altLang="zh-CN" sz="3200" dirty="0">
                <a:solidFill>
                  <a:srgbClr val="000000"/>
                </a:solidFill>
              </a:rPr>
              <a:t>ID3</a:t>
            </a:r>
            <a:r>
              <a:rPr lang="zh-CN" altLang="en-US" sz="3200" dirty="0">
                <a:solidFill>
                  <a:srgbClr val="000000"/>
                </a:solidFill>
              </a:rPr>
              <a:t>算法小结</a:t>
            </a:r>
          </a:p>
        </p:txBody>
      </p:sp>
      <p:sp>
        <p:nvSpPr>
          <p:cNvPr id="72708" name="Text Box 9"/>
          <p:cNvSpPr txBox="1">
            <a:spLocks noChangeArrowheads="1"/>
          </p:cNvSpPr>
          <p:nvPr/>
        </p:nvSpPr>
        <p:spPr bwMode="auto">
          <a:xfrm>
            <a:off x="1112262" y="1659084"/>
            <a:ext cx="9726175" cy="1938992"/>
          </a:xfrm>
          <a:prstGeom prst="rect">
            <a:avLst/>
          </a:prstGeom>
          <a:noFill/>
          <a:ln w="9525">
            <a:noFill/>
            <a:miter lim="800000"/>
            <a:headEnd/>
            <a:tailEnd/>
          </a:ln>
        </p:spPr>
        <p:txBody>
          <a:bodyPr wrap="square">
            <a:spAutoFit/>
          </a:bodyPr>
          <a:lstStyle/>
          <a:p>
            <a:pPr algn="just"/>
            <a:r>
              <a:rPr lang="en-US" altLang="zh-CN" sz="2400" dirty="0">
                <a:solidFill>
                  <a:srgbClr val="000000"/>
                </a:solidFill>
              </a:rPr>
              <a:t>        ID3</a:t>
            </a:r>
            <a:r>
              <a:rPr lang="zh-CN" altLang="en-US" sz="2400" dirty="0">
                <a:solidFill>
                  <a:srgbClr val="000000"/>
                </a:solidFill>
              </a:rPr>
              <a:t>算法是一种经典的决策树学习算法，由</a:t>
            </a:r>
            <a:r>
              <a:rPr lang="en-US" altLang="zh-CN" sz="2400" dirty="0">
                <a:solidFill>
                  <a:srgbClr val="000000"/>
                </a:solidFill>
              </a:rPr>
              <a:t>Quinlan</a:t>
            </a:r>
            <a:r>
              <a:rPr lang="zh-CN" altLang="en-US" sz="2400" dirty="0">
                <a:solidFill>
                  <a:srgbClr val="000000"/>
                </a:solidFill>
              </a:rPr>
              <a:t>于</a:t>
            </a:r>
            <a:r>
              <a:rPr lang="en-US" altLang="zh-CN" sz="2400" dirty="0">
                <a:solidFill>
                  <a:srgbClr val="000000"/>
                </a:solidFill>
              </a:rPr>
              <a:t>1979</a:t>
            </a:r>
            <a:r>
              <a:rPr lang="zh-CN" altLang="en-US" sz="2400" dirty="0">
                <a:solidFill>
                  <a:srgbClr val="000000"/>
                </a:solidFill>
              </a:rPr>
              <a:t>年提出。</a:t>
            </a:r>
            <a:endParaRPr lang="en-US" altLang="zh-CN" sz="2400" dirty="0">
              <a:solidFill>
                <a:srgbClr val="000000"/>
              </a:solidFill>
            </a:endParaRPr>
          </a:p>
          <a:p>
            <a:pPr algn="just"/>
            <a:r>
              <a:rPr lang="zh-CN" altLang="en-US" sz="2400" dirty="0">
                <a:solidFill>
                  <a:srgbClr val="000000"/>
                </a:solidFill>
              </a:rPr>
              <a:t>         基本思想：以信息熵为度量，用于决策树节点的属性选择，每次优先选取信息量最多的属性，亦即能使熵值变为最小的属性，以构造一颗熵值下降最快的决策树，到叶子节点处的熵值为</a:t>
            </a:r>
            <a:r>
              <a:rPr lang="en-US" altLang="zh-CN" sz="2400" dirty="0">
                <a:solidFill>
                  <a:srgbClr val="000000"/>
                </a:solidFill>
              </a:rPr>
              <a:t>0</a:t>
            </a:r>
            <a:r>
              <a:rPr lang="zh-CN" altLang="en-US" sz="2400" dirty="0">
                <a:solidFill>
                  <a:srgbClr val="000000"/>
                </a:solidFill>
              </a:rPr>
              <a:t>。此时，每个叶子节点对应的实例集中的实例属于同一类。</a:t>
            </a:r>
          </a:p>
        </p:txBody>
      </p:sp>
      <p:sp>
        <p:nvSpPr>
          <p:cNvPr id="5" name="灯片编号占位符 4"/>
          <p:cNvSpPr>
            <a:spLocks noGrp="1"/>
          </p:cNvSpPr>
          <p:nvPr>
            <p:ph type="sldNum" sz="quarter" idx="11"/>
          </p:nvPr>
        </p:nvSpPr>
        <p:spPr/>
        <p:txBody>
          <a:bodyPr/>
          <a:lstStyle/>
          <a:p>
            <a:pPr>
              <a:defRPr/>
            </a:pPr>
            <a:fld id="{8EDB171D-A1F9-42E8-BD2B-16AA89E5910B}" type="slidenum">
              <a:rPr lang="en-US" altLang="zh-CN" smtClean="0"/>
              <a:pPr>
                <a:defRPr/>
              </a:pPr>
              <a:t>26</a:t>
            </a:fld>
            <a:endParaRPr lang="en-US" altLang="zh-CN"/>
          </a:p>
        </p:txBody>
      </p:sp>
      <p:sp>
        <p:nvSpPr>
          <p:cNvPr id="2" name="矩形 1"/>
          <p:cNvSpPr/>
          <p:nvPr/>
        </p:nvSpPr>
        <p:spPr>
          <a:xfrm>
            <a:off x="1959144" y="3899100"/>
            <a:ext cx="8725606" cy="1200329"/>
          </a:xfrm>
          <a:prstGeom prst="rect">
            <a:avLst/>
          </a:prstGeom>
        </p:spPr>
        <p:txBody>
          <a:bodyPr wrap="square">
            <a:spAutoFit/>
          </a:bodyPr>
          <a:lstStyle/>
          <a:p>
            <a:r>
              <a:rPr lang="en-US" altLang="zh-CN" sz="2400" dirty="0">
                <a:solidFill>
                  <a:srgbClr val="FF0000"/>
                </a:solidFill>
              </a:rPr>
              <a:t>ID3</a:t>
            </a:r>
            <a:r>
              <a:rPr lang="zh-CN" altLang="en-US" sz="2400" dirty="0">
                <a:solidFill>
                  <a:srgbClr val="FF0000"/>
                </a:solidFill>
              </a:rPr>
              <a:t>采用信息增益做度量时存在的问题</a:t>
            </a:r>
            <a:r>
              <a:rPr lang="en-US" altLang="zh-CN" sz="2400" dirty="0">
                <a:solidFill>
                  <a:srgbClr val="FF0000"/>
                </a:solidFill>
              </a:rPr>
              <a:t>:</a:t>
            </a:r>
          </a:p>
          <a:p>
            <a:pPr lvl="1"/>
            <a:r>
              <a:rPr lang="zh-CN" altLang="en-US" sz="2400" dirty="0"/>
              <a:t>以信息增益作为划分训练数据集的特征更偏向于选择取值较多的特征属性。</a:t>
            </a:r>
            <a:endParaRPr lang="en-US" altLang="zh-CN" sz="2400" dirty="0"/>
          </a:p>
        </p:txBody>
      </p:sp>
      <p:sp>
        <p:nvSpPr>
          <p:cNvPr id="3" name="矩形 2"/>
          <p:cNvSpPr/>
          <p:nvPr/>
        </p:nvSpPr>
        <p:spPr>
          <a:xfrm>
            <a:off x="1893559" y="5348347"/>
            <a:ext cx="9049134" cy="830997"/>
          </a:xfrm>
          <a:prstGeom prst="rect">
            <a:avLst/>
          </a:prstGeom>
        </p:spPr>
        <p:txBody>
          <a:bodyPr wrap="square">
            <a:spAutoFit/>
          </a:bodyPr>
          <a:lstStyle/>
          <a:p>
            <a:pPr marL="0" lvl="1"/>
            <a:r>
              <a:rPr lang="en-US" altLang="zh-CN" sz="2400" dirty="0">
                <a:solidFill>
                  <a:srgbClr val="FF0000"/>
                </a:solidFill>
              </a:rPr>
              <a:t>C4.5</a:t>
            </a:r>
            <a:r>
              <a:rPr lang="zh-CN" altLang="en-US" sz="2400" dirty="0">
                <a:solidFill>
                  <a:srgbClr val="FF0000"/>
                </a:solidFill>
              </a:rPr>
              <a:t>算法</a:t>
            </a:r>
            <a:r>
              <a:rPr lang="en-US" altLang="zh-CN" sz="2400" dirty="0">
                <a:solidFill>
                  <a:srgbClr val="FF0000"/>
                </a:solidFill>
              </a:rPr>
              <a:t>-</a:t>
            </a:r>
            <a:r>
              <a:rPr lang="zh-CN" altLang="en-US" sz="2400" dirty="0">
                <a:solidFill>
                  <a:srgbClr val="0000FF"/>
                </a:solidFill>
              </a:rPr>
              <a:t>信息增益比</a:t>
            </a:r>
            <a:r>
              <a:rPr lang="zh-CN" altLang="en-US" sz="2400" dirty="0">
                <a:solidFill>
                  <a:srgbClr val="FF0000"/>
                </a:solidFill>
              </a:rPr>
              <a:t>替代</a:t>
            </a:r>
            <a:r>
              <a:rPr lang="zh-CN" altLang="en-US" sz="2400" dirty="0">
                <a:solidFill>
                  <a:srgbClr val="0000FF"/>
                </a:solidFill>
              </a:rPr>
              <a:t>信息增益</a:t>
            </a:r>
            <a:endParaRPr lang="en-US" altLang="zh-CN" sz="2400" dirty="0">
              <a:solidFill>
                <a:srgbClr val="0000FF"/>
              </a:solidFill>
            </a:endParaRPr>
          </a:p>
          <a:p>
            <a:pPr marL="0" lvl="1"/>
            <a:r>
              <a:rPr lang="zh-CN" altLang="en-US" sz="2400" dirty="0"/>
              <a:t>使用信息增益比可对此问题进行校正（特征属性选取的另一准则）</a:t>
            </a:r>
            <a:endParaRPr lang="en-US" altLang="zh-CN" sz="2400" dirty="0">
              <a:solidFill>
                <a:srgbClr val="FF0000"/>
              </a:solidFill>
            </a:endParaRPr>
          </a:p>
        </p:txBody>
      </p:sp>
      <p:sp>
        <p:nvSpPr>
          <p:cNvPr id="4" name="下箭头 3"/>
          <p:cNvSpPr/>
          <p:nvPr/>
        </p:nvSpPr>
        <p:spPr>
          <a:xfrm>
            <a:off x="1801005" y="4869160"/>
            <a:ext cx="550580" cy="526938"/>
          </a:xfrm>
          <a:prstGeom prst="downArrow">
            <a:avLst/>
          </a:prstGeom>
          <a:solidFill>
            <a:schemeClr val="accent1"/>
          </a:solidFill>
          <a:ln cmpd="sng">
            <a:solidFill>
              <a:schemeClr val="accent5">
                <a:shade val="95000"/>
                <a:satMod val="105000"/>
              </a:schemeClr>
            </a:solidFill>
          </a:ln>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1606166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zh-CN"/>
              <a:t>Common algorithms</a:t>
            </a:r>
          </a:p>
        </p:txBody>
      </p:sp>
      <p:sp>
        <p:nvSpPr>
          <p:cNvPr id="50179" name="Rectangle 3"/>
          <p:cNvSpPr>
            <a:spLocks noGrp="1" noChangeArrowheads="1"/>
          </p:cNvSpPr>
          <p:nvPr>
            <p:ph type="body" idx="1"/>
          </p:nvPr>
        </p:nvSpPr>
        <p:spPr>
          <a:xfrm>
            <a:off x="1631504" y="1772816"/>
            <a:ext cx="11277600" cy="5334000"/>
          </a:xfrm>
        </p:spPr>
        <p:txBody>
          <a:bodyPr/>
          <a:lstStyle/>
          <a:p>
            <a:r>
              <a:rPr lang="en-US" altLang="zh-CN" dirty="0"/>
              <a:t>ID3     </a:t>
            </a:r>
            <a:r>
              <a:rPr lang="zh-CN" altLang="en-US" dirty="0"/>
              <a:t>（利用信息增益 选取 特征属性）</a:t>
            </a:r>
            <a:endParaRPr lang="en-US" altLang="zh-CN" dirty="0"/>
          </a:p>
          <a:p>
            <a:r>
              <a:rPr lang="en-US" altLang="zh-CN" dirty="0"/>
              <a:t>C4.5    (</a:t>
            </a:r>
            <a:r>
              <a:rPr lang="zh-CN" altLang="en-US" dirty="0"/>
              <a:t>利用信息增益比 选取 特征属性</a:t>
            </a:r>
            <a:r>
              <a:rPr lang="en-US" altLang="zh-CN" dirty="0"/>
              <a:t>)</a:t>
            </a:r>
          </a:p>
          <a:p>
            <a:r>
              <a:rPr lang="en-US" altLang="zh-CN" dirty="0"/>
              <a:t>CART  (classification and regression tree)</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spTree>
    <p:extLst>
      <p:ext uri="{BB962C8B-B14F-4D97-AF65-F5344CB8AC3E}">
        <p14:creationId xmlns:p14="http://schemas.microsoft.com/office/powerpoint/2010/main" val="3229329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775520" y="69177"/>
            <a:ext cx="6172200" cy="563563"/>
          </a:xfrm>
        </p:spPr>
        <p:txBody>
          <a:bodyPr/>
          <a:lstStyle/>
          <a:p>
            <a:r>
              <a:rPr lang="en-US" altLang="zh-CN" sz="3600" dirty="0">
                <a:solidFill>
                  <a:srgbClr val="FF0000"/>
                </a:solidFill>
              </a:rPr>
              <a:t>C4.5</a:t>
            </a:r>
          </a:p>
        </p:txBody>
      </p:sp>
      <p:sp>
        <p:nvSpPr>
          <p:cNvPr id="28675" name="Rectangle 3"/>
          <p:cNvSpPr>
            <a:spLocks noGrp="1" noChangeArrowheads="1"/>
          </p:cNvSpPr>
          <p:nvPr>
            <p:ph type="body" idx="1"/>
          </p:nvPr>
        </p:nvSpPr>
        <p:spPr>
          <a:xfrm>
            <a:off x="1487488" y="1340768"/>
            <a:ext cx="8229600" cy="3886200"/>
          </a:xfrm>
        </p:spPr>
        <p:txBody>
          <a:bodyPr/>
          <a:lstStyle/>
          <a:p>
            <a:r>
              <a:rPr lang="en-US" altLang="zh-CN" sz="2400" dirty="0"/>
              <a:t>An extension of ID3:</a:t>
            </a:r>
          </a:p>
          <a:p>
            <a:r>
              <a:rPr lang="en-US" altLang="zh-CN" sz="2400" dirty="0"/>
              <a:t>C4.5</a:t>
            </a:r>
            <a:r>
              <a:rPr lang="zh-CN" altLang="en-US" sz="2400" dirty="0"/>
              <a:t>决策树在</a:t>
            </a:r>
            <a:r>
              <a:rPr lang="en-US" altLang="zh-CN" sz="2400" dirty="0"/>
              <a:t>ID3</a:t>
            </a:r>
            <a:r>
              <a:rPr lang="zh-CN" altLang="en-US" sz="2400" dirty="0"/>
              <a:t>决策树的基础之上稍作改进，继承了</a:t>
            </a:r>
            <a:r>
              <a:rPr lang="en-US" altLang="zh-CN" sz="2400" dirty="0"/>
              <a:t>ID3</a:t>
            </a:r>
            <a:r>
              <a:rPr lang="zh-CN" altLang="en-US" sz="2400" dirty="0"/>
              <a:t>算法的优点，同时在以下方面做了改进：</a:t>
            </a:r>
            <a:endParaRPr lang="en-US" altLang="zh-CN" sz="2400" dirty="0"/>
          </a:p>
          <a:p>
            <a:endParaRPr lang="en-US" altLang="zh-CN" sz="2400" dirty="0"/>
          </a:p>
          <a:p>
            <a:pPr>
              <a:buFont typeface="Wingdings" pitchFamily="2" charset="2"/>
              <a:buNone/>
            </a:pPr>
            <a:r>
              <a:rPr lang="zh-CN" altLang="en-US" sz="2400" dirty="0"/>
              <a:t>    </a:t>
            </a:r>
            <a:r>
              <a:rPr lang="en-US" altLang="zh-CN" sz="2400" dirty="0"/>
              <a:t>1)</a:t>
            </a:r>
            <a:r>
              <a:rPr lang="zh-CN" altLang="en-US" sz="2400" dirty="0"/>
              <a:t>用</a:t>
            </a:r>
            <a:r>
              <a:rPr lang="zh-CN" altLang="en-US" sz="2400" dirty="0">
                <a:solidFill>
                  <a:srgbClr val="FF0000"/>
                </a:solidFill>
              </a:rPr>
              <a:t>信息增益率</a:t>
            </a:r>
            <a:r>
              <a:rPr lang="zh-CN" altLang="en-US" sz="2400" dirty="0"/>
              <a:t>来选择属性，克服了用信息增益选择属性时偏向选择取值多的属性的不足</a:t>
            </a:r>
            <a:endParaRPr lang="en-US" altLang="zh-CN" sz="2400" dirty="0"/>
          </a:p>
          <a:p>
            <a:pPr>
              <a:buFont typeface="Wingdings" pitchFamily="2" charset="2"/>
              <a:buNone/>
            </a:pPr>
            <a:br>
              <a:rPr lang="zh-CN" altLang="en-US" sz="2400" dirty="0"/>
            </a:br>
            <a:r>
              <a:rPr lang="en-US" altLang="zh-CN" sz="2400" dirty="0"/>
              <a:t>2)</a:t>
            </a:r>
            <a:r>
              <a:rPr lang="zh-CN" altLang="en-US" sz="2400" dirty="0"/>
              <a:t>在树构造过程中进行</a:t>
            </a:r>
            <a:r>
              <a:rPr lang="zh-CN" altLang="en-US" sz="2400" dirty="0">
                <a:solidFill>
                  <a:srgbClr val="0000FF"/>
                </a:solidFill>
              </a:rPr>
              <a:t>剪枝</a:t>
            </a:r>
            <a:endParaRPr lang="en-US" altLang="zh-CN" sz="2400" dirty="0"/>
          </a:p>
          <a:p>
            <a:pPr>
              <a:buFont typeface="Wingdings" pitchFamily="2" charset="2"/>
              <a:buNone/>
            </a:pPr>
            <a:br>
              <a:rPr lang="zh-CN" altLang="en-US" sz="2400" dirty="0"/>
            </a:br>
            <a:r>
              <a:rPr lang="en-US" altLang="zh-CN" sz="2400" dirty="0"/>
              <a:t>3)</a:t>
            </a:r>
            <a:r>
              <a:rPr lang="zh-CN" altLang="en-US" sz="2400" dirty="0"/>
              <a:t>能够完成</a:t>
            </a:r>
            <a:r>
              <a:rPr lang="zh-CN" altLang="en-US" sz="2400" dirty="0">
                <a:solidFill>
                  <a:srgbClr val="0000FF"/>
                </a:solidFill>
              </a:rPr>
              <a:t>对连续属性</a:t>
            </a:r>
            <a:r>
              <a:rPr lang="zh-CN" altLang="en-US" sz="2400" dirty="0"/>
              <a:t>的</a:t>
            </a:r>
            <a:r>
              <a:rPr lang="zh-CN" altLang="en-US" sz="2400" dirty="0">
                <a:solidFill>
                  <a:srgbClr val="0000FF"/>
                </a:solidFill>
              </a:rPr>
              <a:t>离散化处理</a:t>
            </a:r>
            <a:endParaRPr lang="en-US" altLang="zh-CN" sz="2400" dirty="0">
              <a:solidFill>
                <a:srgbClr val="0000FF"/>
              </a:solidFill>
            </a:endParaRPr>
          </a:p>
          <a:p>
            <a:pPr>
              <a:buFont typeface="Wingdings" pitchFamily="2" charset="2"/>
              <a:buNone/>
            </a:pPr>
            <a:br>
              <a:rPr lang="zh-CN" altLang="en-US" sz="2400" dirty="0"/>
            </a:br>
            <a:r>
              <a:rPr lang="en-US" altLang="zh-CN" sz="2400" dirty="0"/>
              <a:t>4)</a:t>
            </a:r>
            <a:r>
              <a:rPr lang="zh-CN" altLang="en-US" sz="2400" dirty="0"/>
              <a:t>能够对</a:t>
            </a:r>
            <a:r>
              <a:rPr lang="zh-CN" altLang="en-US" sz="2400" dirty="0">
                <a:solidFill>
                  <a:srgbClr val="0000FF"/>
                </a:solidFill>
              </a:rPr>
              <a:t>不完整数据</a:t>
            </a:r>
            <a:r>
              <a:rPr lang="zh-CN" altLang="en-US" sz="2400" dirty="0"/>
              <a:t>进行处理</a:t>
            </a:r>
            <a:endParaRPr lang="en-US" altLang="zh-CN" sz="2400" dirty="0"/>
          </a:p>
        </p:txBody>
      </p:sp>
      <p:sp>
        <p:nvSpPr>
          <p:cNvPr id="4"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p:cNvSpPr/>
          <p:nvPr/>
        </p:nvSpPr>
        <p:spPr>
          <a:xfrm>
            <a:off x="8628836" y="3817397"/>
            <a:ext cx="2100785" cy="1123771"/>
          </a:xfrm>
          <a:prstGeom prst="ellipse">
            <a:avLst/>
          </a:prstGeom>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sp>
        <p:nvSpPr>
          <p:cNvPr id="1028" name="内容占位符 2"/>
          <p:cNvSpPr>
            <a:spLocks noGrp="1"/>
          </p:cNvSpPr>
          <p:nvPr>
            <p:ph idx="1"/>
          </p:nvPr>
        </p:nvSpPr>
        <p:spPr>
          <a:xfrm>
            <a:off x="551384" y="1161292"/>
            <a:ext cx="8856984" cy="3886200"/>
          </a:xfrm>
        </p:spPr>
        <p:txBody>
          <a:bodyPr/>
          <a:lstStyle/>
          <a:p>
            <a:r>
              <a:rPr lang="zh-CN" altLang="en-US" sz="2400" dirty="0">
                <a:solidFill>
                  <a:srgbClr val="FF0000"/>
                </a:solidFill>
              </a:rPr>
              <a:t>信息增益比</a:t>
            </a:r>
            <a:r>
              <a:rPr lang="en-US" altLang="zh-CN" sz="2400" dirty="0">
                <a:solidFill>
                  <a:srgbClr val="FF0000"/>
                </a:solidFill>
              </a:rPr>
              <a:t>/</a:t>
            </a:r>
            <a:r>
              <a:rPr lang="zh-CN" altLang="en-US" sz="2400" dirty="0">
                <a:solidFill>
                  <a:srgbClr val="FF0000"/>
                </a:solidFill>
              </a:rPr>
              <a:t>增益率</a:t>
            </a:r>
            <a:r>
              <a:rPr lang="zh-CN" altLang="en-US" sz="2400" dirty="0"/>
              <a:t>度量是用信息增益度量</a:t>
            </a:r>
            <a:r>
              <a:rPr lang="en-US" altLang="zh-CN" sz="2400" dirty="0"/>
              <a:t>Gain(S</a:t>
            </a:r>
            <a:r>
              <a:rPr lang="en-US" sz="2400" dirty="0"/>
              <a:t>，</a:t>
            </a:r>
            <a:r>
              <a:rPr lang="en-US" altLang="zh-CN" sz="2400" dirty="0"/>
              <a:t>A)</a:t>
            </a:r>
            <a:r>
              <a:rPr lang="zh-CN" altLang="en-US" sz="2400" dirty="0"/>
              <a:t>和分裂信息度量</a:t>
            </a:r>
            <a:r>
              <a:rPr lang="en-US" altLang="zh-CN" sz="2400" dirty="0" err="1"/>
              <a:t>SplitInfo</a:t>
            </a:r>
            <a:r>
              <a:rPr lang="en-US" altLang="zh-CN" sz="2400" dirty="0"/>
              <a:t>(S,A)</a:t>
            </a:r>
            <a:r>
              <a:rPr lang="zh-CN" altLang="en-US" sz="2400" dirty="0"/>
              <a:t>来共同定义的，定义如下：</a:t>
            </a:r>
            <a:endParaRPr lang="en-US" altLang="zh-CN" sz="2400" dirty="0"/>
          </a:p>
          <a:p>
            <a:endParaRPr lang="en-US" altLang="zh-CN" sz="2400" dirty="0"/>
          </a:p>
          <a:p>
            <a:endParaRPr lang="en-US" altLang="zh-CN" sz="2400" dirty="0"/>
          </a:p>
          <a:p>
            <a:pPr>
              <a:buFont typeface="Wingdings" pitchFamily="2" charset="2"/>
              <a:buNone/>
            </a:pPr>
            <a:r>
              <a:rPr lang="zh-CN" altLang="en-US" sz="2400" dirty="0"/>
              <a:t>  </a:t>
            </a:r>
            <a:endParaRPr lang="en-US" altLang="zh-CN" sz="2400" dirty="0"/>
          </a:p>
          <a:p>
            <a:pPr>
              <a:buFont typeface="Wingdings" pitchFamily="2" charset="2"/>
              <a:buNone/>
            </a:pPr>
            <a:endParaRPr lang="en-US" altLang="zh-CN" sz="2400" dirty="0"/>
          </a:p>
          <a:p>
            <a:pPr>
              <a:buFont typeface="Wingdings" pitchFamily="2" charset="2"/>
              <a:buNone/>
            </a:pPr>
            <a:r>
              <a:rPr lang="zh-CN" altLang="en-US" sz="2400" dirty="0"/>
              <a:t> </a:t>
            </a:r>
            <a:endParaRPr lang="en-US" altLang="zh-CN" sz="2400" dirty="0"/>
          </a:p>
          <a:p>
            <a:endParaRPr lang="en-US" altLang="zh-CN" sz="2400" dirty="0"/>
          </a:p>
          <a:p>
            <a:pPr>
              <a:buFont typeface="Wingdings" pitchFamily="2" charset="2"/>
              <a:buNone/>
            </a:pPr>
            <a:endParaRPr lang="en-US" altLang="zh-CN" sz="2400" dirty="0"/>
          </a:p>
          <a:p>
            <a:endParaRPr lang="zh-CN" altLang="en-US" sz="2400" dirty="0"/>
          </a:p>
        </p:txBody>
      </p:sp>
      <p:sp>
        <p:nvSpPr>
          <p:cNvPr id="1029" name="Rectangle 2"/>
          <p:cNvSpPr>
            <a:spLocks noGrp="1" noChangeArrowheads="1"/>
          </p:cNvSpPr>
          <p:nvPr>
            <p:ph type="title"/>
          </p:nvPr>
        </p:nvSpPr>
        <p:spPr>
          <a:xfrm>
            <a:off x="1860550" y="46283"/>
            <a:ext cx="8229600" cy="685800"/>
          </a:xfrm>
        </p:spPr>
        <p:txBody>
          <a:bodyPr/>
          <a:lstStyle/>
          <a:p>
            <a:r>
              <a:rPr lang="en-US" altLang="zh-CN" sz="3600" dirty="0">
                <a:solidFill>
                  <a:srgbClr val="FF0000"/>
                </a:solidFill>
              </a:rPr>
              <a:t>C4.5</a:t>
            </a:r>
          </a:p>
        </p:txBody>
      </p:sp>
      <p:sp>
        <p:nvSpPr>
          <p:cNvPr id="6"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graphicFrame>
        <p:nvGraphicFramePr>
          <p:cNvPr id="10244" name="Object 2"/>
          <p:cNvGraphicFramePr>
            <a:graphicFrameLocks noChangeAspect="1"/>
          </p:cNvGraphicFramePr>
          <p:nvPr>
            <p:extLst>
              <p:ext uri="{D42A27DB-BD31-4B8C-83A1-F6EECF244321}">
                <p14:modId xmlns:p14="http://schemas.microsoft.com/office/powerpoint/2010/main" val="987190042"/>
              </p:ext>
            </p:extLst>
          </p:nvPr>
        </p:nvGraphicFramePr>
        <p:xfrm>
          <a:off x="4284371" y="4016493"/>
          <a:ext cx="6445250" cy="754062"/>
        </p:xfrm>
        <a:graphic>
          <a:graphicData uri="http://schemas.openxmlformats.org/presentationml/2006/ole">
            <mc:AlternateContent xmlns:mc="http://schemas.openxmlformats.org/markup-compatibility/2006">
              <mc:Choice xmlns:v="urn:schemas-microsoft-com:vml" Requires="v">
                <p:oleObj spid="_x0000_s412996" name="Equation" r:id="rId3" imgW="3797280" imgH="444240" progId="Equation.DSMT4">
                  <p:embed/>
                </p:oleObj>
              </mc:Choice>
              <mc:Fallback>
                <p:oleObj name="Equation" r:id="rId3" imgW="3797280" imgH="444240" progId="Equation.DSMT4">
                  <p:embed/>
                  <p:pic>
                    <p:nvPicPr>
                      <p:cNvPr id="0" name="Picture 13"/>
                      <p:cNvPicPr>
                        <a:picLocks noChangeAspect="1" noChangeArrowheads="1"/>
                      </p:cNvPicPr>
                      <p:nvPr/>
                    </p:nvPicPr>
                    <p:blipFill>
                      <a:blip r:embed="rId4"/>
                      <a:srcRect/>
                      <a:stretch>
                        <a:fillRect/>
                      </a:stretch>
                    </p:blipFill>
                    <p:spPr bwMode="auto">
                      <a:xfrm>
                        <a:off x="4284371" y="4016493"/>
                        <a:ext cx="6445250" cy="754062"/>
                      </a:xfrm>
                      <a:prstGeom prst="rect">
                        <a:avLst/>
                      </a:prstGeom>
                      <a:noFill/>
                      <a:ln w="9525">
                        <a:solidFill>
                          <a:srgbClr val="FF0000"/>
                        </a:solidFill>
                        <a:miter lim="800000"/>
                        <a:headEnd/>
                        <a:tailEnd/>
                      </a:ln>
                    </p:spPr>
                  </p:pic>
                </p:oleObj>
              </mc:Fallback>
            </mc:AlternateContent>
          </a:graphicData>
        </a:graphic>
      </p:graphicFrame>
      <p:sp>
        <p:nvSpPr>
          <p:cNvPr id="2" name="矩形 1"/>
          <p:cNvSpPr/>
          <p:nvPr/>
        </p:nvSpPr>
        <p:spPr>
          <a:xfrm>
            <a:off x="734844" y="4840803"/>
            <a:ext cx="7200800" cy="461665"/>
          </a:xfrm>
          <a:prstGeom prst="rect">
            <a:avLst/>
          </a:prstGeom>
        </p:spPr>
        <p:txBody>
          <a:bodyPr wrap="square">
            <a:spAutoFit/>
          </a:bodyPr>
          <a:lstStyle/>
          <a:p>
            <a:r>
              <a:rPr lang="zh-CN" altLang="en-US" sz="2400" dirty="0"/>
              <a:t> 这里 </a:t>
            </a:r>
            <a:r>
              <a:rPr lang="en-US" altLang="zh-CN" sz="2400" dirty="0"/>
              <a:t>S</a:t>
            </a:r>
            <a:r>
              <a:rPr lang="en-US" altLang="zh-CN" sz="2400" baseline="-25000" dirty="0"/>
              <a:t>a</a:t>
            </a:r>
            <a:r>
              <a:rPr lang="zh-CN" altLang="en-US" sz="2400" dirty="0"/>
              <a:t>是一个</a:t>
            </a:r>
            <a:r>
              <a:rPr lang="en-US" altLang="zh-CN" sz="2400" dirty="0"/>
              <a:t>S</a:t>
            </a:r>
            <a:r>
              <a:rPr lang="zh-CN" altLang="en-US" sz="2400" dirty="0"/>
              <a:t>的子集，其中</a:t>
            </a:r>
            <a:r>
              <a:rPr lang="en-US" altLang="zh-CN" sz="2400" dirty="0"/>
              <a:t>A</a:t>
            </a:r>
            <a:r>
              <a:rPr lang="zh-CN" altLang="en-US" sz="2400" dirty="0"/>
              <a:t>这个属性有值</a:t>
            </a:r>
            <a:r>
              <a:rPr lang="en-US" altLang="zh-CN" sz="2400" dirty="0"/>
              <a:t>a</a:t>
            </a:r>
            <a:r>
              <a:rPr lang="zh-CN" altLang="en-US" sz="2400" dirty="0"/>
              <a:t>。</a:t>
            </a:r>
          </a:p>
        </p:txBody>
      </p:sp>
      <p:sp>
        <p:nvSpPr>
          <p:cNvPr id="11" name="Text Box 6"/>
          <p:cNvSpPr txBox="1">
            <a:spLocks noChangeArrowheads="1"/>
          </p:cNvSpPr>
          <p:nvPr/>
        </p:nvSpPr>
        <p:spPr bwMode="auto">
          <a:xfrm>
            <a:off x="4295800" y="5635907"/>
            <a:ext cx="4424609" cy="584775"/>
          </a:xfrm>
          <a:prstGeom prst="rect">
            <a:avLst/>
          </a:prstGeom>
          <a:noFill/>
          <a:ln>
            <a:headEnd/>
            <a:tailEnd/>
          </a:ln>
        </p:spPr>
        <p:style>
          <a:lnRef idx="1">
            <a:schemeClr val="accent5"/>
          </a:lnRef>
          <a:fillRef idx="2">
            <a:schemeClr val="accent5"/>
          </a:fillRef>
          <a:effectRef idx="1">
            <a:schemeClr val="accent5"/>
          </a:effectRef>
          <a:fontRef idx="minor">
            <a:schemeClr val="dk1"/>
          </a:fontRef>
        </p:style>
        <p:txBody>
          <a:bodyPr wrap="none">
            <a:spAutoFit/>
          </a:bodyPr>
          <a:lstStyle/>
          <a:p>
            <a:r>
              <a:rPr lang="en-US" altLang="zh-CN" sz="3200" dirty="0">
                <a:solidFill>
                  <a:srgbClr val="000000"/>
                </a:solidFill>
              </a:rPr>
              <a:t>H(S)=-</a:t>
            </a:r>
            <a:r>
              <a:rPr lang="en-US" altLang="zh-CN" sz="3200" dirty="0">
                <a:solidFill>
                  <a:srgbClr val="000000"/>
                </a:solidFill>
                <a:latin typeface="Symbol" pitchFamily="18" charset="2"/>
                <a:sym typeface="Symbol" pitchFamily="18" charset="2"/>
              </a:rPr>
              <a:t></a:t>
            </a:r>
            <a:r>
              <a:rPr lang="en-US" altLang="zh-CN" sz="3200" baseline="-25000" dirty="0" err="1">
                <a:solidFill>
                  <a:srgbClr val="000000"/>
                </a:solidFill>
                <a:sym typeface="Symbol" pitchFamily="18" charset="2"/>
              </a:rPr>
              <a:t>i</a:t>
            </a:r>
            <a:r>
              <a:rPr lang="en-US" altLang="zh-CN" sz="3200" dirty="0">
                <a:solidFill>
                  <a:srgbClr val="000000"/>
                </a:solidFill>
              </a:rPr>
              <a:t> P(c</a:t>
            </a:r>
            <a:r>
              <a:rPr lang="en-US" altLang="zh-CN" sz="3200" baseline="-25000" dirty="0">
                <a:solidFill>
                  <a:srgbClr val="000000"/>
                </a:solidFill>
              </a:rPr>
              <a:t>i</a:t>
            </a:r>
            <a:r>
              <a:rPr lang="en-US" altLang="zh-CN" sz="3200" dirty="0">
                <a:solidFill>
                  <a:srgbClr val="000000"/>
                </a:solidFill>
              </a:rPr>
              <a:t>) log</a:t>
            </a:r>
            <a:r>
              <a:rPr lang="en-US" altLang="zh-CN" sz="3200" baseline="-25000" dirty="0">
                <a:solidFill>
                  <a:srgbClr val="000000"/>
                </a:solidFill>
              </a:rPr>
              <a:t>2</a:t>
            </a:r>
            <a:r>
              <a:rPr lang="en-US" altLang="zh-CN" sz="3200" dirty="0">
                <a:solidFill>
                  <a:srgbClr val="000000"/>
                </a:solidFill>
              </a:rPr>
              <a:t> P(c</a:t>
            </a:r>
            <a:r>
              <a:rPr lang="en-US" altLang="zh-CN" sz="3200" baseline="-25000" dirty="0">
                <a:solidFill>
                  <a:srgbClr val="000000"/>
                </a:solidFill>
              </a:rPr>
              <a:t>i</a:t>
            </a:r>
            <a:r>
              <a:rPr lang="en-US" altLang="zh-CN" sz="3200" dirty="0">
                <a:solidFill>
                  <a:srgbClr val="000000"/>
                </a:solidFill>
              </a:rPr>
              <a:t>)</a:t>
            </a:r>
          </a:p>
        </p:txBody>
      </p:sp>
      <p:graphicFrame>
        <p:nvGraphicFramePr>
          <p:cNvPr id="12" name="Object 2"/>
          <p:cNvGraphicFramePr>
            <a:graphicFrameLocks noChangeAspect="1"/>
          </p:cNvGraphicFramePr>
          <p:nvPr>
            <p:extLst>
              <p:ext uri="{D42A27DB-BD31-4B8C-83A1-F6EECF244321}">
                <p14:modId xmlns:p14="http://schemas.microsoft.com/office/powerpoint/2010/main" val="177241228"/>
              </p:ext>
            </p:extLst>
          </p:nvPr>
        </p:nvGraphicFramePr>
        <p:xfrm>
          <a:off x="1807506" y="2060848"/>
          <a:ext cx="8185150" cy="1143000"/>
        </p:xfrm>
        <a:graphic>
          <a:graphicData uri="http://schemas.openxmlformats.org/presentationml/2006/ole">
            <mc:AlternateContent xmlns:mc="http://schemas.openxmlformats.org/markup-compatibility/2006">
              <mc:Choice xmlns:v="urn:schemas-microsoft-com:vml" Requires="v">
                <p:oleObj spid="_x0000_s412997" name="Equation" r:id="rId5" imgW="4724280" imgH="660240" progId="Equation.DSMT4">
                  <p:embed/>
                </p:oleObj>
              </mc:Choice>
              <mc:Fallback>
                <p:oleObj name="Equation" r:id="rId5" imgW="4724280" imgH="660240" progId="Equation.DSMT4">
                  <p:embed/>
                  <p:pic>
                    <p:nvPicPr>
                      <p:cNvPr id="0" name=""/>
                      <p:cNvPicPr>
                        <a:picLocks noGrp="1" noChangeAspect="1" noChangeArrowheads="1"/>
                      </p:cNvPicPr>
                      <p:nvPr/>
                    </p:nvPicPr>
                    <p:blipFill>
                      <a:blip r:embed="rId6"/>
                      <a:srcRect/>
                      <a:stretch>
                        <a:fillRect/>
                      </a:stretch>
                    </p:blipFill>
                    <p:spPr bwMode="auto">
                      <a:xfrm>
                        <a:off x="1807506" y="2060848"/>
                        <a:ext cx="818515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388592" y="3145143"/>
            <a:ext cx="4939009" cy="707886"/>
          </a:xfrm>
          <a:prstGeom prst="rect">
            <a:avLst/>
          </a:prstGeom>
          <a:ln>
            <a:solidFill>
              <a:schemeClr val="accent1"/>
            </a:solidFill>
          </a:ln>
        </p:spPr>
        <p:txBody>
          <a:bodyPr wrap="square">
            <a:spAutoFit/>
          </a:bodyPr>
          <a:lstStyle/>
          <a:p>
            <a:pPr>
              <a:buFont typeface="Wingdings" pitchFamily="2" charset="2"/>
              <a:buNone/>
            </a:pPr>
            <a:r>
              <a:rPr lang="zh-CN" altLang="en-US" sz="2000" dirty="0"/>
              <a:t>其中，分裂信息度量被定义为</a:t>
            </a:r>
            <a:r>
              <a:rPr lang="en-US" altLang="zh-CN" sz="2000" dirty="0"/>
              <a:t>(</a:t>
            </a:r>
            <a:r>
              <a:rPr lang="zh-CN" altLang="en-US" sz="2000" dirty="0"/>
              <a:t>分裂信息用来衡量属性分裂数据的广度和均匀</a:t>
            </a:r>
            <a:r>
              <a:rPr lang="en-US" altLang="zh-CN" sz="2000" dirty="0"/>
              <a:t>)</a:t>
            </a:r>
          </a:p>
        </p:txBody>
      </p:sp>
      <p:graphicFrame>
        <p:nvGraphicFramePr>
          <p:cNvPr id="14" name="Object 2"/>
          <p:cNvGraphicFramePr>
            <a:graphicFrameLocks noChangeAspect="1"/>
          </p:cNvGraphicFramePr>
          <p:nvPr>
            <p:extLst>
              <p:ext uri="{D42A27DB-BD31-4B8C-83A1-F6EECF244321}">
                <p14:modId xmlns:p14="http://schemas.microsoft.com/office/powerpoint/2010/main" val="2147857220"/>
              </p:ext>
            </p:extLst>
          </p:nvPr>
        </p:nvGraphicFramePr>
        <p:xfrm>
          <a:off x="3422724" y="7045415"/>
          <a:ext cx="5543550" cy="768350"/>
        </p:xfrm>
        <a:graphic>
          <a:graphicData uri="http://schemas.openxmlformats.org/presentationml/2006/ole">
            <mc:AlternateContent xmlns:mc="http://schemas.openxmlformats.org/markup-compatibility/2006">
              <mc:Choice xmlns:v="urn:schemas-microsoft-com:vml" Requires="v">
                <p:oleObj spid="_x0000_s412998" name="Equation" r:id="rId7" imgW="3200400" imgH="444240" progId="Equation.DSMT4">
                  <p:embed/>
                </p:oleObj>
              </mc:Choice>
              <mc:Fallback>
                <p:oleObj name="Equation" r:id="rId7" imgW="3200400" imgH="444240" progId="Equation.DSMT4">
                  <p:embed/>
                  <p:pic>
                    <p:nvPicPr>
                      <p:cNvPr id="0" name=""/>
                      <p:cNvPicPr>
                        <a:picLocks noGrp="1" noChangeAspect="1" noChangeArrowheads="1"/>
                      </p:cNvPicPr>
                      <p:nvPr/>
                    </p:nvPicPr>
                    <p:blipFill>
                      <a:blip r:embed="rId8"/>
                      <a:srcRect/>
                      <a:stretch>
                        <a:fillRect/>
                      </a:stretch>
                    </p:blipFill>
                    <p:spPr bwMode="auto">
                      <a:xfrm>
                        <a:off x="3422724" y="7045415"/>
                        <a:ext cx="5543550"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7" name="直接连接符 16"/>
          <p:cNvCxnSpPr/>
          <p:nvPr/>
        </p:nvCxnSpPr>
        <p:spPr>
          <a:xfrm>
            <a:off x="3967354" y="2808376"/>
            <a:ext cx="1523618" cy="0"/>
          </a:xfrm>
          <a:prstGeom prst="line">
            <a:avLst/>
          </a:prstGeom>
          <a:ln w="19050">
            <a:tailEnd type="none" w="lg" len="med"/>
          </a:ln>
        </p:spPr>
        <p:style>
          <a:lnRef idx="3">
            <a:schemeClr val="accent1"/>
          </a:lnRef>
          <a:fillRef idx="0">
            <a:schemeClr val="accent1"/>
          </a:fillRef>
          <a:effectRef idx="2">
            <a:schemeClr val="accent1"/>
          </a:effectRef>
          <a:fontRef idx="minor">
            <a:schemeClr val="tx1"/>
          </a:fontRef>
        </p:style>
      </p:cxnSp>
      <p:cxnSp>
        <p:nvCxnSpPr>
          <p:cNvPr id="25" name="直接连接符 24"/>
          <p:cNvCxnSpPr/>
          <p:nvPr/>
        </p:nvCxnSpPr>
        <p:spPr>
          <a:xfrm>
            <a:off x="6148064" y="2880384"/>
            <a:ext cx="720080" cy="0"/>
          </a:xfrm>
          <a:prstGeom prst="line">
            <a:avLst/>
          </a:prstGeom>
          <a:ln w="19050">
            <a:tailEnd type="none" w="lg" len="med"/>
          </a:ln>
        </p:spPr>
        <p:style>
          <a:lnRef idx="3">
            <a:schemeClr val="accent1"/>
          </a:lnRef>
          <a:fillRef idx="0">
            <a:schemeClr val="accent1"/>
          </a:fillRef>
          <a:effectRef idx="2">
            <a:schemeClr val="accent1"/>
          </a:effectRef>
          <a:fontRef idx="minor">
            <a:schemeClr val="tx1"/>
          </a:fontRef>
        </p:style>
      </p:cxnSp>
      <p:cxnSp>
        <p:nvCxnSpPr>
          <p:cNvPr id="28" name="直接连接符 27"/>
          <p:cNvCxnSpPr/>
          <p:nvPr/>
        </p:nvCxnSpPr>
        <p:spPr>
          <a:xfrm>
            <a:off x="7297626" y="3254966"/>
            <a:ext cx="2532175" cy="0"/>
          </a:xfrm>
          <a:prstGeom prst="line">
            <a:avLst/>
          </a:prstGeom>
          <a:ln w="19050">
            <a:tailEnd type="none" w="lg" len="med"/>
          </a:ln>
        </p:spPr>
        <p:style>
          <a:lnRef idx="3">
            <a:schemeClr val="accent1"/>
          </a:lnRef>
          <a:fillRef idx="0">
            <a:schemeClr val="accent1"/>
          </a:fillRef>
          <a:effectRef idx="2">
            <a:schemeClr val="accent1"/>
          </a:effectRef>
          <a:fontRef idx="minor">
            <a:schemeClr val="tx1"/>
          </a:fontRef>
        </p:style>
      </p:cxnSp>
      <p:sp>
        <p:nvSpPr>
          <p:cNvPr id="15" name="矩形 14"/>
          <p:cNvSpPr/>
          <p:nvPr/>
        </p:nvSpPr>
        <p:spPr>
          <a:xfrm>
            <a:off x="8482446" y="4997914"/>
            <a:ext cx="3690434" cy="400110"/>
          </a:xfrm>
          <a:prstGeom prst="rect">
            <a:avLst/>
          </a:prstGeom>
        </p:spPr>
        <p:txBody>
          <a:bodyPr wrap="none">
            <a:spAutoFit/>
          </a:bodyPr>
          <a:lstStyle/>
          <a:p>
            <a:r>
              <a:rPr lang="zh-CN" altLang="en-US" sz="2000" dirty="0">
                <a:solidFill>
                  <a:srgbClr val="000000"/>
                </a:solidFill>
              </a:rPr>
              <a:t>属性</a:t>
            </a:r>
            <a:r>
              <a:rPr lang="en-US" altLang="zh-CN" sz="2000" dirty="0">
                <a:solidFill>
                  <a:srgbClr val="000000"/>
                </a:solidFill>
              </a:rPr>
              <a:t>A</a:t>
            </a:r>
            <a:r>
              <a:rPr lang="zh-CN" altLang="en-US" sz="2000" dirty="0">
                <a:solidFill>
                  <a:srgbClr val="000000"/>
                </a:solidFill>
              </a:rPr>
              <a:t>做划分时的平均信息期望</a:t>
            </a:r>
            <a:endParaRPr lang="en-US" altLang="zh-CN" sz="2000" dirty="0">
              <a:solidFill>
                <a:srgbClr val="000000"/>
              </a:solidFill>
            </a:endParaRPr>
          </a:p>
        </p:txBody>
      </p:sp>
      <p:sp>
        <p:nvSpPr>
          <p:cNvPr id="5" name="右箭头 4"/>
          <p:cNvSpPr/>
          <p:nvPr/>
        </p:nvSpPr>
        <p:spPr>
          <a:xfrm>
            <a:off x="695400" y="3845264"/>
            <a:ext cx="978408" cy="484632"/>
          </a:xfrm>
          <a:prstGeom prst="rightArrow">
            <a:avLst/>
          </a:prstGeom>
        </p:spPr>
        <p:txBody>
          <a:bodyPr wrap="none" rtlCol="0" anchor="ctr">
            <a:spAutoFit/>
          </a:bodyPr>
          <a:lstStyle/>
          <a:p>
            <a:pPr algn="ctr"/>
            <a:endParaRPr lang="zh-CN" altLang="en-US" sz="2400" kern="100" dirty="0">
              <a:ea typeface="宋体"/>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Box 4"/>
          <p:cNvSpPr txBox="1">
            <a:spLocks noChangeArrowheads="1"/>
          </p:cNvSpPr>
          <p:nvPr/>
        </p:nvSpPr>
        <p:spPr bwMode="auto">
          <a:xfrm>
            <a:off x="2095500" y="950908"/>
            <a:ext cx="8072438" cy="584775"/>
          </a:xfrm>
          <a:prstGeom prst="rect">
            <a:avLst/>
          </a:prstGeom>
          <a:noFill/>
          <a:ln w="9525">
            <a:noFill/>
            <a:miter lim="800000"/>
            <a:headEnd/>
            <a:tailEnd/>
          </a:ln>
        </p:spPr>
        <p:txBody>
          <a:bodyPr>
            <a:spAutoFit/>
          </a:bodyPr>
          <a:lstStyle/>
          <a:p>
            <a:pPr latinLnBrk="1">
              <a:defRPr/>
            </a:pPr>
            <a:r>
              <a:rPr lang="zh-CN" altLang="en-US" sz="3200" dirty="0"/>
              <a:t>另一个度量指标</a:t>
            </a:r>
            <a:r>
              <a:rPr lang="en-US" altLang="zh-CN" sz="3200" dirty="0"/>
              <a:t>--</a:t>
            </a:r>
            <a:r>
              <a:rPr lang="en-US" sz="3200" dirty="0">
                <a:solidFill>
                  <a:srgbClr val="FF0000"/>
                </a:solidFill>
              </a:rPr>
              <a:t>Gini</a:t>
            </a:r>
            <a:r>
              <a:rPr lang="zh-CN" altLang="en-US" sz="3200" dirty="0">
                <a:solidFill>
                  <a:srgbClr val="FF0000"/>
                </a:solidFill>
              </a:rPr>
              <a:t>指标（</a:t>
            </a:r>
            <a:r>
              <a:rPr lang="en-US" altLang="zh-CN" sz="3200" dirty="0">
                <a:solidFill>
                  <a:srgbClr val="FF0000"/>
                </a:solidFill>
              </a:rPr>
              <a:t> CART</a:t>
            </a:r>
            <a:r>
              <a:rPr lang="zh-CN" altLang="en-US" sz="3200" dirty="0">
                <a:solidFill>
                  <a:srgbClr val="FF0000"/>
                </a:solidFill>
              </a:rPr>
              <a:t>算法）</a:t>
            </a:r>
            <a:endParaRPr lang="en-US" altLang="zh-CN" sz="3200" dirty="0">
              <a:solidFill>
                <a:srgbClr val="FF0000"/>
              </a:solidFill>
              <a:latin typeface="+mn-ea"/>
              <a:cs typeface="Times New Roman" pitchFamily="18" charset="0"/>
            </a:endParaRPr>
          </a:p>
        </p:txBody>
      </p:sp>
      <p:graphicFrame>
        <p:nvGraphicFramePr>
          <p:cNvPr id="2050" name="Object 6"/>
          <p:cNvGraphicFramePr>
            <a:graphicFrameLocks noChangeAspect="1"/>
          </p:cNvGraphicFramePr>
          <p:nvPr>
            <p:extLst>
              <p:ext uri="{D42A27DB-BD31-4B8C-83A1-F6EECF244321}">
                <p14:modId xmlns:p14="http://schemas.microsoft.com/office/powerpoint/2010/main" val="293862950"/>
              </p:ext>
            </p:extLst>
          </p:nvPr>
        </p:nvGraphicFramePr>
        <p:xfrm>
          <a:off x="5669989" y="1725824"/>
          <a:ext cx="2786062" cy="982663"/>
        </p:xfrm>
        <a:graphic>
          <a:graphicData uri="http://schemas.openxmlformats.org/presentationml/2006/ole">
            <mc:AlternateContent xmlns:mc="http://schemas.openxmlformats.org/markup-compatibility/2006">
              <mc:Choice xmlns:v="urn:schemas-microsoft-com:vml" Requires="v">
                <p:oleObj spid="_x0000_s413910" name="Equation" r:id="rId4" imgW="1511300" imgH="533400" progId="Equation.DSMT4">
                  <p:embed/>
                </p:oleObj>
              </mc:Choice>
              <mc:Fallback>
                <p:oleObj name="Equation" r:id="rId4" imgW="1511300" imgH="53340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9989" y="1725824"/>
                        <a:ext cx="2786062" cy="982663"/>
                      </a:xfrm>
                      <a:prstGeom prst="rect">
                        <a:avLst/>
                      </a:prstGeom>
                      <a:noFill/>
                      <a:ln>
                        <a:solidFill>
                          <a:srgbClr val="FF0000"/>
                        </a:solidFill>
                      </a:ln>
                      <a:effectLst/>
                    </p:spPr>
                  </p:pic>
                </p:oleObj>
              </mc:Fallback>
            </mc:AlternateContent>
          </a:graphicData>
        </a:graphic>
      </p:graphicFrame>
      <p:sp>
        <p:nvSpPr>
          <p:cNvPr id="3077" name="TextBox 12"/>
          <p:cNvSpPr txBox="1">
            <a:spLocks noChangeArrowheads="1"/>
          </p:cNvSpPr>
          <p:nvPr/>
        </p:nvSpPr>
        <p:spPr bwMode="auto">
          <a:xfrm>
            <a:off x="359758" y="2907395"/>
            <a:ext cx="4746266" cy="830997"/>
          </a:xfrm>
          <a:prstGeom prst="rect">
            <a:avLst/>
          </a:prstGeom>
          <a:noFill/>
          <a:ln w="9525">
            <a:noFill/>
            <a:miter lim="800000"/>
            <a:headEnd/>
            <a:tailEnd/>
          </a:ln>
        </p:spPr>
        <p:txBody>
          <a:bodyPr wrap="square">
            <a:spAutoFit/>
          </a:bodyPr>
          <a:lstStyle/>
          <a:p>
            <a:pPr latinLnBrk="1">
              <a:defRPr/>
            </a:pPr>
            <a:r>
              <a:rPr lang="zh-CN" altLang="en-US" sz="2400" dirty="0">
                <a:latin typeface="+mn-ea"/>
                <a:cs typeface="Times New Roman" pitchFamily="18" charset="0"/>
              </a:rPr>
              <a:t>如果集合分成</a:t>
            </a:r>
            <a:r>
              <a:rPr lang="en-US" altLang="zh-CN" sz="2400" i="1" dirty="0">
                <a:latin typeface="Californian FB" pitchFamily="18" charset="0"/>
                <a:cs typeface="Times New Roman" pitchFamily="18" charset="0"/>
              </a:rPr>
              <a:t>l</a:t>
            </a:r>
            <a:r>
              <a:rPr lang="zh-CN" altLang="en-US" sz="2400" dirty="0">
                <a:latin typeface="+mn-ea"/>
                <a:cs typeface="Times New Roman" pitchFamily="18" charset="0"/>
              </a:rPr>
              <a:t>个部分，那么关于</a:t>
            </a:r>
            <a:r>
              <a:rPr lang="zh-CN" altLang="en-US" sz="2400" dirty="0">
                <a:solidFill>
                  <a:srgbClr val="FF0000"/>
                </a:solidFill>
                <a:latin typeface="+mn-ea"/>
                <a:cs typeface="Times New Roman" pitchFamily="18" charset="0"/>
              </a:rPr>
              <a:t>分割</a:t>
            </a:r>
            <a:r>
              <a:rPr lang="en-US" altLang="zh-CN" sz="2400" i="1" dirty="0">
                <a:solidFill>
                  <a:srgbClr val="FF0000"/>
                </a:solidFill>
                <a:latin typeface="+mn-ea"/>
                <a:cs typeface="Times New Roman" pitchFamily="18" charset="0"/>
              </a:rPr>
              <a:t>V </a:t>
            </a:r>
            <a:r>
              <a:rPr lang="zh-CN" altLang="en-US" sz="2400" dirty="0">
                <a:solidFill>
                  <a:srgbClr val="FF0000"/>
                </a:solidFill>
                <a:latin typeface="+mn-ea"/>
                <a:cs typeface="Times New Roman" pitchFamily="18" charset="0"/>
              </a:rPr>
              <a:t>的平均</a:t>
            </a:r>
            <a:r>
              <a:rPr lang="en-US" altLang="zh-CN" sz="2400" i="1" dirty="0" err="1">
                <a:solidFill>
                  <a:srgbClr val="FF0000"/>
                </a:solidFill>
                <a:latin typeface="+mn-ea"/>
                <a:cs typeface="Times New Roman" pitchFamily="18" charset="0"/>
              </a:rPr>
              <a:t>Gini</a:t>
            </a:r>
            <a:r>
              <a:rPr lang="zh-CN" altLang="en-US" sz="2400" dirty="0">
                <a:solidFill>
                  <a:srgbClr val="FF0000"/>
                </a:solidFill>
                <a:latin typeface="+mn-ea"/>
                <a:cs typeface="Times New Roman" pitchFamily="18" charset="0"/>
              </a:rPr>
              <a:t>指标</a:t>
            </a:r>
            <a:r>
              <a:rPr lang="zh-CN" altLang="en-US" sz="2400" dirty="0">
                <a:latin typeface="+mn-ea"/>
                <a:cs typeface="Times New Roman" pitchFamily="18" charset="0"/>
              </a:rPr>
              <a:t>定义为：</a:t>
            </a:r>
          </a:p>
        </p:txBody>
      </p:sp>
      <p:graphicFrame>
        <p:nvGraphicFramePr>
          <p:cNvPr id="2051" name="Object 10"/>
          <p:cNvGraphicFramePr>
            <a:graphicFrameLocks noChangeAspect="1"/>
          </p:cNvGraphicFramePr>
          <p:nvPr>
            <p:extLst>
              <p:ext uri="{D42A27DB-BD31-4B8C-83A1-F6EECF244321}">
                <p14:modId xmlns:p14="http://schemas.microsoft.com/office/powerpoint/2010/main" val="1315491448"/>
              </p:ext>
            </p:extLst>
          </p:nvPr>
        </p:nvGraphicFramePr>
        <p:xfrm>
          <a:off x="5312802" y="2883278"/>
          <a:ext cx="3500437" cy="1000125"/>
        </p:xfrm>
        <a:graphic>
          <a:graphicData uri="http://schemas.openxmlformats.org/presentationml/2006/ole">
            <mc:AlternateContent xmlns:mc="http://schemas.openxmlformats.org/markup-compatibility/2006">
              <mc:Choice xmlns:v="urn:schemas-microsoft-com:vml" Requires="v">
                <p:oleObj spid="_x0000_s413911" name="Equation" r:id="rId6" imgW="1866090" imgH="533169" progId="Equation.DSMT4">
                  <p:embed/>
                </p:oleObj>
              </mc:Choice>
              <mc:Fallback>
                <p:oleObj name="Equation" r:id="rId6" imgW="1866090" imgH="533169"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2802" y="2883278"/>
                        <a:ext cx="3500437" cy="1000125"/>
                      </a:xfrm>
                      <a:prstGeom prst="rect">
                        <a:avLst/>
                      </a:prstGeom>
                      <a:noFill/>
                      <a:ln>
                        <a:solidFill>
                          <a:srgbClr val="FF0000"/>
                        </a:solidFill>
                      </a:ln>
                      <a:effectLst/>
                    </p:spPr>
                  </p:pic>
                </p:oleObj>
              </mc:Fallback>
            </mc:AlternateContent>
          </a:graphicData>
        </a:graphic>
      </p:graphicFrame>
      <p:sp>
        <p:nvSpPr>
          <p:cNvPr id="8"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9" name="灯片编号占位符 8"/>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sp>
        <p:nvSpPr>
          <p:cNvPr id="2" name="矩形 1"/>
          <p:cNvSpPr/>
          <p:nvPr/>
        </p:nvSpPr>
        <p:spPr>
          <a:xfrm>
            <a:off x="357878" y="1573969"/>
            <a:ext cx="5180034" cy="1200329"/>
          </a:xfrm>
          <a:prstGeom prst="rect">
            <a:avLst/>
          </a:prstGeom>
        </p:spPr>
        <p:txBody>
          <a:bodyPr wrap="square">
            <a:spAutoFit/>
          </a:bodyPr>
          <a:lstStyle/>
          <a:p>
            <a:pPr latinLnBrk="1">
              <a:defRPr/>
            </a:pPr>
            <a:r>
              <a:rPr lang="zh-CN" altLang="en-US" sz="2400" dirty="0">
                <a:latin typeface="+mn-ea"/>
                <a:cs typeface="Times New Roman" pitchFamily="18" charset="0"/>
              </a:rPr>
              <a:t>假设某节点</a:t>
            </a:r>
            <a:r>
              <a:rPr lang="en-US" altLang="zh-CN" sz="2400" i="1" dirty="0">
                <a:latin typeface="+mn-ea"/>
                <a:cs typeface="Times New Roman" pitchFamily="18" charset="0"/>
              </a:rPr>
              <a:t>v</a:t>
            </a:r>
            <a:r>
              <a:rPr lang="zh-CN" altLang="en-US" sz="2400" dirty="0">
                <a:latin typeface="+mn-ea"/>
                <a:cs typeface="Times New Roman" pitchFamily="18" charset="0"/>
              </a:rPr>
              <a:t>处的数据样本集合</a:t>
            </a:r>
            <a:r>
              <a:rPr lang="en-US" altLang="zh-CN" sz="2400" i="1" dirty="0" err="1">
                <a:latin typeface="+mn-ea"/>
                <a:cs typeface="Times New Roman" pitchFamily="18" charset="0"/>
              </a:rPr>
              <a:t>S</a:t>
            </a:r>
            <a:r>
              <a:rPr lang="en-US" altLang="zh-CN" sz="2400" i="1" baseline="-25000" dirty="0" err="1">
                <a:latin typeface="+mn-ea"/>
                <a:cs typeface="Times New Roman" pitchFamily="18" charset="0"/>
              </a:rPr>
              <a:t>v</a:t>
            </a:r>
            <a:r>
              <a:rPr lang="zh-CN" altLang="en-US" sz="2400" dirty="0">
                <a:latin typeface="+mn-ea"/>
                <a:cs typeface="Times New Roman" pitchFamily="18" charset="0"/>
              </a:rPr>
              <a:t>包含</a:t>
            </a:r>
            <a:r>
              <a:rPr lang="en-US" altLang="zh-CN" sz="2400" i="1" dirty="0">
                <a:latin typeface="+mn-ea"/>
                <a:cs typeface="Times New Roman" pitchFamily="18" charset="0"/>
              </a:rPr>
              <a:t>c</a:t>
            </a:r>
            <a:r>
              <a:rPr lang="zh-CN" altLang="en-US" sz="2400" dirty="0">
                <a:latin typeface="+mn-ea"/>
                <a:cs typeface="Times New Roman" pitchFamily="18" charset="0"/>
              </a:rPr>
              <a:t>个类别的记录，其中，</a:t>
            </a:r>
            <a:r>
              <a:rPr lang="en-US" altLang="zh-CN" sz="2400" i="1" dirty="0">
                <a:latin typeface="+mn-ea"/>
                <a:cs typeface="Times New Roman" pitchFamily="18" charset="0"/>
              </a:rPr>
              <a:t>p</a:t>
            </a:r>
            <a:r>
              <a:rPr lang="en-US" altLang="zh-CN" sz="2400" i="1" baseline="-25000" dirty="0">
                <a:latin typeface="+mn-ea"/>
                <a:cs typeface="Times New Roman" pitchFamily="18" charset="0"/>
              </a:rPr>
              <a:t>i</a:t>
            </a:r>
            <a:r>
              <a:rPr lang="zh-CN" altLang="en-US" sz="2400" dirty="0">
                <a:latin typeface="+mn-ea"/>
                <a:cs typeface="Times New Roman" pitchFamily="18" charset="0"/>
              </a:rPr>
              <a:t>为类别</a:t>
            </a:r>
            <a:r>
              <a:rPr lang="en-US" altLang="zh-CN" sz="2400" i="1" dirty="0" err="1">
                <a:latin typeface="+mn-ea"/>
                <a:cs typeface="Times New Roman" pitchFamily="18" charset="0"/>
              </a:rPr>
              <a:t>i</a:t>
            </a:r>
            <a:r>
              <a:rPr lang="zh-CN" altLang="en-US" sz="2400" dirty="0">
                <a:latin typeface="+mn-ea"/>
                <a:cs typeface="Times New Roman" pitchFamily="18" charset="0"/>
              </a:rPr>
              <a:t>在节点</a:t>
            </a:r>
            <a:r>
              <a:rPr lang="en-US" altLang="zh-CN" sz="2400" i="1" dirty="0">
                <a:latin typeface="+mn-ea"/>
                <a:cs typeface="Times New Roman" pitchFamily="18" charset="0"/>
              </a:rPr>
              <a:t>v</a:t>
            </a:r>
            <a:r>
              <a:rPr lang="zh-CN" altLang="en-US" sz="2400" dirty="0">
                <a:latin typeface="+mn-ea"/>
                <a:cs typeface="Times New Roman" pitchFamily="18" charset="0"/>
              </a:rPr>
              <a:t>处的概率，</a:t>
            </a:r>
            <a:r>
              <a:rPr lang="en-US" altLang="zh-CN" sz="2400" i="1" dirty="0">
                <a:solidFill>
                  <a:srgbClr val="FF0000"/>
                </a:solidFill>
                <a:latin typeface="+mn-ea"/>
                <a:cs typeface="Times New Roman" pitchFamily="18" charset="0"/>
              </a:rPr>
              <a:t>Gini</a:t>
            </a:r>
            <a:r>
              <a:rPr lang="zh-CN" altLang="en-US" sz="2400" dirty="0">
                <a:solidFill>
                  <a:srgbClr val="FF0000"/>
                </a:solidFill>
                <a:latin typeface="+mn-ea"/>
                <a:cs typeface="Times New Roman" pitchFamily="18" charset="0"/>
              </a:rPr>
              <a:t>指标</a:t>
            </a:r>
            <a:r>
              <a:rPr lang="zh-CN" altLang="en-US" sz="2400" dirty="0">
                <a:latin typeface="+mn-ea"/>
                <a:cs typeface="Times New Roman" pitchFamily="18" charset="0"/>
              </a:rPr>
              <a:t>定义为：</a:t>
            </a:r>
          </a:p>
        </p:txBody>
      </p:sp>
      <p:sp>
        <p:nvSpPr>
          <p:cNvPr id="10" name="Text Box 36"/>
          <p:cNvSpPr txBox="1">
            <a:spLocks noChangeArrowheads="1"/>
          </p:cNvSpPr>
          <p:nvPr/>
        </p:nvSpPr>
        <p:spPr bwMode="auto">
          <a:xfrm>
            <a:off x="6003590" y="4669796"/>
            <a:ext cx="4475264" cy="1323439"/>
          </a:xfrm>
          <a:prstGeom prst="rect">
            <a:avLst/>
          </a:prstGeom>
          <a:noFill/>
          <a:ln w="9525">
            <a:noFill/>
            <a:miter lim="800000"/>
            <a:headEnd/>
            <a:tailEnd/>
          </a:ln>
        </p:spPr>
        <p:txBody>
          <a:bodyPr wrap="none">
            <a:spAutoFit/>
          </a:bodyPr>
          <a:lstStyle/>
          <a:p>
            <a:r>
              <a:rPr lang="zh-CN" altLang="en-US" sz="2000" dirty="0">
                <a:latin typeface="Times New Roman" pitchFamily="18" charset="0"/>
                <a:cs typeface="Times New Roman" pitchFamily="18" charset="0"/>
                <a:sym typeface="宋体" pitchFamily="2" charset="-122"/>
              </a:rPr>
              <a:t>Gini(</a:t>
            </a:r>
            <a:r>
              <a:rPr lang="en-US" altLang="zh-CN" sz="2000" dirty="0">
                <a:latin typeface="Times New Roman" pitchFamily="18" charset="0"/>
                <a:cs typeface="Times New Roman" pitchFamily="18" charset="0"/>
                <a:sym typeface="宋体" pitchFamily="2" charset="-122"/>
              </a:rPr>
              <a:t>Wind/strong</a:t>
            </a:r>
            <a:r>
              <a:rPr lang="zh-CN" altLang="en-US" sz="2000" dirty="0">
                <a:latin typeface="Times New Roman" pitchFamily="18" charset="0"/>
                <a:cs typeface="Times New Roman" pitchFamily="18" charset="0"/>
                <a:sym typeface="宋体" pitchFamily="2" charset="-122"/>
              </a:rPr>
              <a:t>)=1-(3/</a:t>
            </a:r>
            <a:r>
              <a:rPr lang="en-US" altLang="zh-CN" sz="2000" dirty="0">
                <a:latin typeface="Times New Roman" pitchFamily="18" charset="0"/>
                <a:cs typeface="Times New Roman" pitchFamily="18" charset="0"/>
                <a:sym typeface="宋体" pitchFamily="2" charset="-122"/>
              </a:rPr>
              <a:t>6</a:t>
            </a:r>
            <a:r>
              <a:rPr lang="zh-CN" altLang="en-US" sz="2000" dirty="0">
                <a:latin typeface="Times New Roman" pitchFamily="18" charset="0"/>
                <a:cs typeface="Times New Roman" pitchFamily="18" charset="0"/>
                <a:sym typeface="宋体" pitchFamily="2" charset="-122"/>
              </a:rPr>
              <a:t>)</a:t>
            </a:r>
            <a:r>
              <a:rPr lang="zh-CN" altLang="en-US" sz="2000" dirty="0">
                <a:latin typeface="Times New Roman" pitchFamily="18" charset="0"/>
                <a:cs typeface="Times New Roman" pitchFamily="18" charset="0"/>
                <a:sym typeface="Arial" charset="0"/>
              </a:rPr>
              <a:t>²-(</a:t>
            </a:r>
            <a:r>
              <a:rPr lang="en-US" altLang="zh-CN" sz="2000" dirty="0">
                <a:latin typeface="Times New Roman" pitchFamily="18" charset="0"/>
                <a:cs typeface="Times New Roman" pitchFamily="18" charset="0"/>
                <a:sym typeface="Arial" charset="0"/>
              </a:rPr>
              <a:t>3</a:t>
            </a:r>
            <a:r>
              <a:rPr lang="zh-CN" altLang="en-US" sz="2000" dirty="0">
                <a:latin typeface="Times New Roman" pitchFamily="18" charset="0"/>
                <a:cs typeface="Times New Roman" pitchFamily="18" charset="0"/>
                <a:sym typeface="Arial" charset="0"/>
              </a:rPr>
              <a:t>/</a:t>
            </a:r>
            <a:r>
              <a:rPr lang="en-US" altLang="zh-CN" sz="2000" dirty="0">
                <a:latin typeface="Times New Roman" pitchFamily="18" charset="0"/>
                <a:cs typeface="Times New Roman" pitchFamily="18" charset="0"/>
                <a:sym typeface="Arial" charset="0"/>
              </a:rPr>
              <a:t>6</a:t>
            </a:r>
            <a:r>
              <a:rPr lang="zh-CN" altLang="en-US" sz="2000" dirty="0">
                <a:latin typeface="Times New Roman" pitchFamily="18" charset="0"/>
                <a:cs typeface="Times New Roman" pitchFamily="18" charset="0"/>
                <a:sym typeface="Arial" charset="0"/>
              </a:rPr>
              <a:t>)² =0</a:t>
            </a:r>
            <a:r>
              <a:rPr lang="en-US" altLang="zh-CN" sz="2000" dirty="0">
                <a:latin typeface="Times New Roman" pitchFamily="18" charset="0"/>
                <a:cs typeface="Times New Roman" pitchFamily="18" charset="0"/>
                <a:sym typeface="Arial" charset="0"/>
              </a:rPr>
              <a:t>.5</a:t>
            </a:r>
            <a:endParaRPr lang="zh-CN" altLang="en-US" sz="2000" dirty="0">
              <a:latin typeface="Times New Roman" pitchFamily="18" charset="0"/>
              <a:cs typeface="Times New Roman" pitchFamily="18" charset="0"/>
              <a:sym typeface="Arial" charset="0"/>
            </a:endParaRPr>
          </a:p>
          <a:p>
            <a:r>
              <a:rPr lang="zh-CN" altLang="en-US" sz="2000" dirty="0">
                <a:latin typeface="Times New Roman" pitchFamily="18" charset="0"/>
                <a:cs typeface="Times New Roman" pitchFamily="18" charset="0"/>
                <a:sym typeface="宋体" pitchFamily="2" charset="-122"/>
              </a:rPr>
              <a:t>Gini(</a:t>
            </a:r>
            <a:r>
              <a:rPr lang="en-US" altLang="zh-CN" sz="2000" dirty="0">
                <a:latin typeface="Times New Roman" pitchFamily="18" charset="0"/>
                <a:cs typeface="Times New Roman" pitchFamily="18" charset="0"/>
                <a:sym typeface="宋体" pitchFamily="2" charset="-122"/>
              </a:rPr>
              <a:t>Wind/weak</a:t>
            </a:r>
            <a:r>
              <a:rPr lang="zh-CN" altLang="en-US" sz="2000" dirty="0">
                <a:latin typeface="Times New Roman" pitchFamily="18" charset="0"/>
                <a:cs typeface="Times New Roman" pitchFamily="18" charset="0"/>
                <a:sym typeface="宋体" pitchFamily="2" charset="-122"/>
              </a:rPr>
              <a:t>) =1-(</a:t>
            </a:r>
            <a:r>
              <a:rPr lang="en-US" altLang="zh-CN" sz="2000" dirty="0">
                <a:latin typeface="Times New Roman" pitchFamily="18" charset="0"/>
                <a:cs typeface="Times New Roman" pitchFamily="18" charset="0"/>
                <a:sym typeface="宋体" pitchFamily="2" charset="-122"/>
              </a:rPr>
              <a:t>2</a:t>
            </a:r>
            <a:r>
              <a:rPr lang="zh-CN" altLang="en-US" sz="2000" dirty="0">
                <a:latin typeface="Times New Roman" pitchFamily="18" charset="0"/>
                <a:cs typeface="Times New Roman" pitchFamily="18" charset="0"/>
                <a:sym typeface="宋体" pitchFamily="2" charset="-122"/>
              </a:rPr>
              <a:t>/</a:t>
            </a:r>
            <a:r>
              <a:rPr lang="en-US" altLang="zh-CN" sz="2000" dirty="0">
                <a:latin typeface="Times New Roman" pitchFamily="18" charset="0"/>
                <a:cs typeface="Times New Roman" pitchFamily="18" charset="0"/>
                <a:sym typeface="宋体" pitchFamily="2" charset="-122"/>
              </a:rPr>
              <a:t>8</a:t>
            </a:r>
            <a:r>
              <a:rPr lang="zh-CN" altLang="en-US" sz="2000" dirty="0">
                <a:latin typeface="Times New Roman" pitchFamily="18" charset="0"/>
                <a:cs typeface="Times New Roman" pitchFamily="18" charset="0"/>
                <a:sym typeface="宋体" pitchFamily="2" charset="-122"/>
              </a:rPr>
              <a:t>)²-(</a:t>
            </a:r>
            <a:r>
              <a:rPr lang="en-US" altLang="zh-CN" sz="2000" dirty="0">
                <a:latin typeface="Times New Roman" pitchFamily="18" charset="0"/>
                <a:cs typeface="Times New Roman" pitchFamily="18" charset="0"/>
                <a:sym typeface="宋体" pitchFamily="2" charset="-122"/>
              </a:rPr>
              <a:t>6</a:t>
            </a:r>
            <a:r>
              <a:rPr lang="zh-CN" altLang="en-US" sz="2000" dirty="0">
                <a:latin typeface="Times New Roman" pitchFamily="18" charset="0"/>
                <a:cs typeface="Times New Roman" pitchFamily="18" charset="0"/>
                <a:sym typeface="宋体" pitchFamily="2" charset="-122"/>
              </a:rPr>
              <a:t>/</a:t>
            </a:r>
            <a:r>
              <a:rPr lang="en-US" altLang="zh-CN" sz="2000" dirty="0">
                <a:latin typeface="Times New Roman" pitchFamily="18" charset="0"/>
                <a:cs typeface="Times New Roman" pitchFamily="18" charset="0"/>
                <a:sym typeface="宋体" pitchFamily="2" charset="-122"/>
              </a:rPr>
              <a:t>8</a:t>
            </a:r>
            <a:r>
              <a:rPr lang="zh-CN" altLang="en-US" sz="2000" dirty="0">
                <a:latin typeface="Times New Roman" pitchFamily="18" charset="0"/>
                <a:cs typeface="Times New Roman" pitchFamily="18" charset="0"/>
                <a:sym typeface="宋体" pitchFamily="2" charset="-122"/>
              </a:rPr>
              <a:t>)² =0.</a:t>
            </a:r>
            <a:r>
              <a:rPr lang="en-US" altLang="zh-CN" sz="2000" dirty="0">
                <a:latin typeface="Times New Roman" pitchFamily="18" charset="0"/>
                <a:cs typeface="Times New Roman" pitchFamily="18" charset="0"/>
                <a:sym typeface="宋体" pitchFamily="2" charset="-122"/>
              </a:rPr>
              <a:t>375</a:t>
            </a:r>
          </a:p>
          <a:p>
            <a:endParaRPr lang="en-US" altLang="zh-CN" sz="2000" dirty="0">
              <a:latin typeface="Times New Roman" pitchFamily="18" charset="0"/>
              <a:cs typeface="Times New Roman" pitchFamily="18" charset="0"/>
              <a:sym typeface="宋体" pitchFamily="2" charset="-122"/>
            </a:endParaRPr>
          </a:p>
          <a:p>
            <a:r>
              <a:rPr lang="zh-CN" altLang="en-US" sz="2000" dirty="0">
                <a:latin typeface="Times New Roman" pitchFamily="18" charset="0"/>
                <a:cs typeface="Times New Roman" pitchFamily="18" charset="0"/>
                <a:sym typeface="宋体" pitchFamily="2" charset="-122"/>
              </a:rPr>
              <a:t>Gini</a:t>
            </a:r>
            <a:r>
              <a:rPr lang="en-US" altLang="zh-CN" sz="2000" dirty="0">
                <a:latin typeface="Times New Roman" pitchFamily="18" charset="0"/>
                <a:cs typeface="Times New Roman" pitchFamily="18" charset="0"/>
                <a:sym typeface="宋体" pitchFamily="2" charset="-122"/>
              </a:rPr>
              <a:t>(Wind)</a:t>
            </a:r>
            <a:r>
              <a:rPr lang="zh-CN" altLang="en-US" sz="2000" dirty="0">
                <a:latin typeface="Times New Roman" pitchFamily="18" charset="0"/>
                <a:cs typeface="Times New Roman" pitchFamily="18" charset="0"/>
                <a:sym typeface="宋体" pitchFamily="2" charset="-122"/>
              </a:rPr>
              <a:t>=</a:t>
            </a:r>
            <a:r>
              <a:rPr lang="en-US" altLang="zh-CN" sz="2000" dirty="0">
                <a:latin typeface="Times New Roman" pitchFamily="18" charset="0"/>
                <a:cs typeface="Times New Roman" pitchFamily="18" charset="0"/>
                <a:sym typeface="宋体" pitchFamily="2" charset="-122"/>
              </a:rPr>
              <a:t>6/14</a:t>
            </a:r>
            <a:r>
              <a:rPr lang="zh-CN" altLang="en-US" sz="2000" dirty="0">
                <a:latin typeface="Times New Roman" pitchFamily="18" charset="0"/>
                <a:cs typeface="Times New Roman" pitchFamily="18" charset="0"/>
                <a:sym typeface="宋体" pitchFamily="2" charset="-122"/>
              </a:rPr>
              <a:t>×0</a:t>
            </a:r>
            <a:r>
              <a:rPr lang="en-US" altLang="zh-CN" sz="2000" dirty="0">
                <a:latin typeface="Times New Roman" pitchFamily="18" charset="0"/>
                <a:cs typeface="Times New Roman" pitchFamily="18" charset="0"/>
                <a:sym typeface="宋体" pitchFamily="2" charset="-122"/>
              </a:rPr>
              <a:t>.5</a:t>
            </a:r>
            <a:r>
              <a:rPr lang="zh-CN" altLang="en-US" sz="2000" dirty="0">
                <a:latin typeface="Times New Roman" pitchFamily="18" charset="0"/>
                <a:cs typeface="Times New Roman" pitchFamily="18" charset="0"/>
                <a:sym typeface="宋体" pitchFamily="2" charset="-122"/>
              </a:rPr>
              <a:t>+</a:t>
            </a:r>
            <a:r>
              <a:rPr lang="en-US" altLang="zh-CN" sz="2000" dirty="0">
                <a:latin typeface="Times New Roman" pitchFamily="18" charset="0"/>
                <a:cs typeface="Times New Roman" pitchFamily="18" charset="0"/>
                <a:sym typeface="宋体" pitchFamily="2" charset="-122"/>
              </a:rPr>
              <a:t>8/14</a:t>
            </a:r>
            <a:r>
              <a:rPr lang="zh-CN" altLang="en-US" sz="2000" dirty="0">
                <a:latin typeface="Times New Roman" pitchFamily="18" charset="0"/>
                <a:cs typeface="Times New Roman" pitchFamily="18" charset="0"/>
                <a:sym typeface="宋体" pitchFamily="2" charset="-122"/>
              </a:rPr>
              <a:t>×0.</a:t>
            </a:r>
            <a:r>
              <a:rPr lang="en-US" altLang="zh-CN" sz="2000" dirty="0">
                <a:latin typeface="Times New Roman" pitchFamily="18" charset="0"/>
                <a:cs typeface="Times New Roman" pitchFamily="18" charset="0"/>
                <a:sym typeface="宋体" pitchFamily="2" charset="-122"/>
              </a:rPr>
              <a:t>375</a:t>
            </a:r>
            <a:r>
              <a:rPr lang="zh-CN" altLang="en-US" sz="2000" dirty="0">
                <a:latin typeface="Times New Roman" pitchFamily="18" charset="0"/>
                <a:cs typeface="Times New Roman" pitchFamily="18" charset="0"/>
                <a:sym typeface="宋体" pitchFamily="2" charset="-122"/>
              </a:rPr>
              <a:t>=0.</a:t>
            </a:r>
            <a:r>
              <a:rPr lang="en-US" altLang="zh-CN" sz="2000" dirty="0">
                <a:latin typeface="Times New Roman" pitchFamily="18" charset="0"/>
                <a:cs typeface="Times New Roman" pitchFamily="18" charset="0"/>
                <a:sym typeface="宋体" pitchFamily="2" charset="-122"/>
              </a:rPr>
              <a:t>429</a:t>
            </a:r>
            <a:endParaRPr lang="zh-CN" altLang="en-US" sz="2000" dirty="0">
              <a:latin typeface="Times New Roman" pitchFamily="18" charset="0"/>
              <a:cs typeface="Times New Roman" pitchFamily="18" charset="0"/>
              <a:sym typeface="宋体" pitchFamily="2" charset="-122"/>
            </a:endParaRPr>
          </a:p>
        </p:txBody>
      </p:sp>
      <p:sp>
        <p:nvSpPr>
          <p:cNvPr id="3078" name="矩形 6"/>
          <p:cNvSpPr>
            <a:spLocks noChangeArrowheads="1"/>
          </p:cNvSpPr>
          <p:nvPr/>
        </p:nvSpPr>
        <p:spPr bwMode="auto">
          <a:xfrm>
            <a:off x="4727004" y="5910532"/>
            <a:ext cx="5940997" cy="830997"/>
          </a:xfrm>
          <a:prstGeom prst="rect">
            <a:avLst/>
          </a:prstGeom>
          <a:solidFill>
            <a:schemeClr val="bg1"/>
          </a:solidFill>
          <a:ln w="9525">
            <a:noFill/>
            <a:miter lim="800000"/>
            <a:headEnd/>
            <a:tailEnd/>
          </a:ln>
        </p:spPr>
        <p:txBody>
          <a:bodyPr wrap="square">
            <a:spAutoFit/>
          </a:bodyPr>
          <a:lstStyle/>
          <a:p>
            <a:pPr latinLnBrk="1">
              <a:defRPr/>
            </a:pPr>
            <a:r>
              <a:rPr lang="zh-CN" altLang="en-US" sz="2400" dirty="0">
                <a:solidFill>
                  <a:srgbClr val="FF0000"/>
                </a:solidFill>
                <a:latin typeface="+mn-ea"/>
              </a:rPr>
              <a:t>基尼指数值越大样本集合的不确定性越大。</a:t>
            </a:r>
            <a:endParaRPr lang="en-US" altLang="zh-CN" sz="2400" dirty="0">
              <a:solidFill>
                <a:srgbClr val="FF0000"/>
              </a:solidFill>
              <a:latin typeface="+mn-ea"/>
            </a:endParaRPr>
          </a:p>
          <a:p>
            <a:pPr latinLnBrk="1">
              <a:defRPr/>
            </a:pPr>
            <a:r>
              <a:rPr lang="zh-CN" altLang="en-US" sz="2400" dirty="0">
                <a:solidFill>
                  <a:srgbClr val="FF0000"/>
                </a:solidFill>
                <a:latin typeface="+mn-ea"/>
              </a:rPr>
              <a:t>具有最低基尼指数的属性是最好的属性。</a:t>
            </a:r>
          </a:p>
        </p:txBody>
      </p:sp>
      <p:grpSp>
        <p:nvGrpSpPr>
          <p:cNvPr id="4" name="组合 3"/>
          <p:cNvGrpSpPr/>
          <p:nvPr/>
        </p:nvGrpSpPr>
        <p:grpSpPr>
          <a:xfrm>
            <a:off x="1604034" y="3861710"/>
            <a:ext cx="2949575" cy="2307593"/>
            <a:chOff x="8400867" y="2076179"/>
            <a:chExt cx="2949575" cy="2307593"/>
          </a:xfrm>
        </p:grpSpPr>
        <p:grpSp>
          <p:nvGrpSpPr>
            <p:cNvPr id="3" name="组合 2"/>
            <p:cNvGrpSpPr/>
            <p:nvPr/>
          </p:nvGrpSpPr>
          <p:grpSpPr>
            <a:xfrm>
              <a:off x="8400867" y="2296209"/>
              <a:ext cx="2949575" cy="2087563"/>
              <a:chOff x="8400867" y="2296209"/>
              <a:chExt cx="2949575" cy="2087563"/>
            </a:xfrm>
          </p:grpSpPr>
          <p:sp>
            <p:nvSpPr>
              <p:cNvPr id="12" name="Text Box 17"/>
              <p:cNvSpPr txBox="1">
                <a:spLocks noChangeArrowheads="1"/>
              </p:cNvSpPr>
              <p:nvPr/>
            </p:nvSpPr>
            <p:spPr bwMode="auto">
              <a:xfrm>
                <a:off x="9191442" y="2296209"/>
                <a:ext cx="1366838" cy="314325"/>
              </a:xfrm>
              <a:prstGeom prst="rect">
                <a:avLst/>
              </a:prstGeom>
              <a:solidFill>
                <a:srgbClr val="66FFFF"/>
              </a:solidFill>
              <a:ln w="9525">
                <a:solidFill>
                  <a:srgbClr val="000000"/>
                </a:solidFill>
                <a:miter lim="800000"/>
                <a:headEnd/>
                <a:tailEnd/>
              </a:ln>
            </p:spPr>
            <p:txBody>
              <a:bodyPr>
                <a:spAutoFit/>
              </a:bodyPr>
              <a:lstStyle/>
              <a:p>
                <a:pPr algn="ctr">
                  <a:spcBef>
                    <a:spcPct val="50000"/>
                  </a:spcBef>
                </a:pPr>
                <a:r>
                  <a:rPr lang="en-US" altLang="zh-CN" sz="1400" dirty="0">
                    <a:solidFill>
                      <a:srgbClr val="000000"/>
                    </a:solidFill>
                  </a:rPr>
                  <a:t>Wind</a:t>
                </a:r>
                <a:r>
                  <a:rPr lang="zh-CN" altLang="en-US" sz="1400" dirty="0">
                    <a:solidFill>
                      <a:srgbClr val="000000"/>
                    </a:solidFill>
                  </a:rPr>
                  <a:t>？</a:t>
                </a:r>
              </a:p>
            </p:txBody>
          </p:sp>
          <p:sp>
            <p:nvSpPr>
              <p:cNvPr id="13" name="Line 18"/>
              <p:cNvSpPr>
                <a:spLocks noChangeShapeType="1"/>
              </p:cNvSpPr>
              <p:nvPr/>
            </p:nvSpPr>
            <p:spPr bwMode="auto">
              <a:xfrm flipH="1">
                <a:off x="8781867" y="2601009"/>
                <a:ext cx="106680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14" name="Line 19"/>
              <p:cNvSpPr>
                <a:spLocks noChangeShapeType="1"/>
              </p:cNvSpPr>
              <p:nvPr/>
            </p:nvSpPr>
            <p:spPr bwMode="auto">
              <a:xfrm>
                <a:off x="9867717" y="2601009"/>
                <a:ext cx="1123950" cy="914400"/>
              </a:xfrm>
              <a:prstGeom prst="line">
                <a:avLst/>
              </a:prstGeom>
              <a:noFill/>
              <a:ln w="19050">
                <a:solidFill>
                  <a:schemeClr val="tx1"/>
                </a:solidFill>
                <a:round/>
                <a:headEnd/>
                <a:tailEnd/>
              </a:ln>
            </p:spPr>
            <p:txBody>
              <a:bodyPr wrap="none"/>
              <a:lstStyle/>
              <a:p>
                <a:endParaRPr lang="zh-CN" altLang="en-US">
                  <a:solidFill>
                    <a:srgbClr val="000000"/>
                  </a:solidFill>
                </a:endParaRPr>
              </a:p>
            </p:txBody>
          </p:sp>
          <p:sp>
            <p:nvSpPr>
              <p:cNvPr id="15" name="Text Box 20"/>
              <p:cNvSpPr txBox="1">
                <a:spLocks noChangeArrowheads="1"/>
              </p:cNvSpPr>
              <p:nvPr/>
            </p:nvSpPr>
            <p:spPr bwMode="auto">
              <a:xfrm>
                <a:off x="8615180" y="2801034"/>
                <a:ext cx="788999" cy="338554"/>
              </a:xfrm>
              <a:prstGeom prst="rect">
                <a:avLst/>
              </a:prstGeom>
              <a:noFill/>
              <a:ln w="9525">
                <a:noFill/>
                <a:miter lim="800000"/>
                <a:headEnd/>
                <a:tailEnd/>
              </a:ln>
            </p:spPr>
            <p:txBody>
              <a:bodyPr wrap="none">
                <a:spAutoFit/>
              </a:bodyPr>
              <a:lstStyle/>
              <a:p>
                <a:r>
                  <a:rPr lang="en-US" altLang="zh-CN" sz="1600" dirty="0">
                    <a:solidFill>
                      <a:srgbClr val="000000"/>
                    </a:solidFill>
                  </a:rPr>
                  <a:t>Strong</a:t>
                </a:r>
              </a:p>
            </p:txBody>
          </p:sp>
          <p:sp>
            <p:nvSpPr>
              <p:cNvPr id="16" name="Text Box 21"/>
              <p:cNvSpPr txBox="1">
                <a:spLocks noChangeArrowheads="1"/>
              </p:cNvSpPr>
              <p:nvPr/>
            </p:nvSpPr>
            <p:spPr bwMode="auto">
              <a:xfrm>
                <a:off x="10631305" y="2751822"/>
                <a:ext cx="662361" cy="338554"/>
              </a:xfrm>
              <a:prstGeom prst="rect">
                <a:avLst/>
              </a:prstGeom>
              <a:noFill/>
              <a:ln w="9525">
                <a:noFill/>
                <a:miter lim="800000"/>
                <a:headEnd/>
                <a:tailEnd/>
              </a:ln>
            </p:spPr>
            <p:txBody>
              <a:bodyPr wrap="none">
                <a:spAutoFit/>
              </a:bodyPr>
              <a:lstStyle/>
              <a:p>
                <a:r>
                  <a:rPr lang="en-US" altLang="zh-CN" sz="1600" dirty="0">
                    <a:solidFill>
                      <a:srgbClr val="000000"/>
                    </a:solidFill>
                  </a:rPr>
                  <a:t>weak</a:t>
                </a:r>
              </a:p>
            </p:txBody>
          </p:sp>
          <p:sp>
            <p:nvSpPr>
              <p:cNvPr id="17" name="Rectangle 22"/>
              <p:cNvSpPr>
                <a:spLocks noChangeArrowheads="1"/>
              </p:cNvSpPr>
              <p:nvPr/>
            </p:nvSpPr>
            <p:spPr bwMode="auto">
              <a:xfrm>
                <a:off x="8400867" y="3520172"/>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dirty="0">
                    <a:solidFill>
                      <a:srgbClr val="000000"/>
                    </a:solidFill>
                  </a:rPr>
                  <a:t>Yes:3</a:t>
                </a:r>
              </a:p>
              <a:p>
                <a:pPr algn="ctr"/>
                <a:r>
                  <a:rPr lang="en-US" altLang="zh-CN" sz="1600" dirty="0">
                    <a:solidFill>
                      <a:srgbClr val="000000"/>
                    </a:solidFill>
                  </a:rPr>
                  <a:t>No:3</a:t>
                </a:r>
              </a:p>
            </p:txBody>
          </p:sp>
          <p:sp>
            <p:nvSpPr>
              <p:cNvPr id="18" name="Rectangle 23"/>
              <p:cNvSpPr>
                <a:spLocks noChangeArrowheads="1"/>
              </p:cNvSpPr>
              <p:nvPr/>
            </p:nvSpPr>
            <p:spPr bwMode="auto">
              <a:xfrm>
                <a:off x="10559867" y="3520172"/>
                <a:ext cx="790575" cy="863600"/>
              </a:xfrm>
              <a:prstGeom prst="rect">
                <a:avLst/>
              </a:prstGeom>
              <a:solidFill>
                <a:schemeClr val="accent1"/>
              </a:solidFill>
              <a:ln w="9525">
                <a:solidFill>
                  <a:schemeClr val="tx1"/>
                </a:solidFill>
                <a:miter lim="800000"/>
                <a:headEnd/>
                <a:tailEnd/>
              </a:ln>
            </p:spPr>
            <p:txBody>
              <a:bodyPr wrap="none" anchor="ctr"/>
              <a:lstStyle/>
              <a:p>
                <a:pPr algn="ctr"/>
                <a:r>
                  <a:rPr lang="en-US" altLang="zh-CN" sz="1600" dirty="0">
                    <a:solidFill>
                      <a:srgbClr val="000000"/>
                    </a:solidFill>
                  </a:rPr>
                  <a:t>Yes:6</a:t>
                </a:r>
              </a:p>
              <a:p>
                <a:pPr algn="ctr"/>
                <a:r>
                  <a:rPr lang="en-US" altLang="zh-CN" sz="1600" dirty="0">
                    <a:solidFill>
                      <a:srgbClr val="000000"/>
                    </a:solidFill>
                  </a:rPr>
                  <a:t>No:2</a:t>
                </a:r>
              </a:p>
            </p:txBody>
          </p:sp>
        </p:grpSp>
        <p:sp>
          <p:nvSpPr>
            <p:cNvPr id="20" name="Rectangle 22"/>
            <p:cNvSpPr>
              <a:spLocks noChangeArrowheads="1"/>
            </p:cNvSpPr>
            <p:nvPr/>
          </p:nvSpPr>
          <p:spPr bwMode="auto">
            <a:xfrm>
              <a:off x="10452163" y="2076179"/>
              <a:ext cx="863600" cy="619865"/>
            </a:xfrm>
            <a:prstGeom prst="rect">
              <a:avLst/>
            </a:prstGeom>
            <a:noFill/>
            <a:ln w="9525">
              <a:noFill/>
              <a:miter lim="800000"/>
              <a:headEnd/>
              <a:tailEnd/>
            </a:ln>
          </p:spPr>
          <p:txBody>
            <a:bodyPr wrap="none" anchor="ctr"/>
            <a:lstStyle/>
            <a:p>
              <a:pPr algn="ctr"/>
              <a:r>
                <a:rPr lang="en-US" altLang="zh-CN" sz="1600" dirty="0">
                  <a:solidFill>
                    <a:srgbClr val="000000"/>
                  </a:solidFill>
                </a:rPr>
                <a:t>Yes:9</a:t>
              </a:r>
            </a:p>
            <a:p>
              <a:pPr algn="ctr"/>
              <a:r>
                <a:rPr lang="en-US" altLang="zh-CN" sz="1600" dirty="0">
                  <a:solidFill>
                    <a:srgbClr val="000000"/>
                  </a:solidFill>
                </a:rPr>
                <a:t>No:5</a:t>
              </a:r>
            </a:p>
          </p:txBody>
        </p:sp>
      </p:grpSp>
      <p:graphicFrame>
        <p:nvGraphicFramePr>
          <p:cNvPr id="11" name="Group 2"/>
          <p:cNvGraphicFramePr>
            <a:graphicFrameLocks noGrp="1"/>
          </p:cNvGraphicFramePr>
          <p:nvPr>
            <p:ph sz="half" idx="1"/>
            <p:extLst>
              <p:ext uri="{D42A27DB-BD31-4B8C-83A1-F6EECF244321}">
                <p14:modId xmlns:p14="http://schemas.microsoft.com/office/powerpoint/2010/main" val="1671315282"/>
              </p:ext>
            </p:extLst>
          </p:nvPr>
        </p:nvGraphicFramePr>
        <p:xfrm>
          <a:off x="12344696" y="5321817"/>
          <a:ext cx="3717972" cy="1043034"/>
        </p:xfrm>
        <a:graphic>
          <a:graphicData uri="http://schemas.openxmlformats.org/drawingml/2006/table">
            <a:tbl>
              <a:tblPr/>
              <a:tblGrid>
                <a:gridCol w="1028375">
                  <a:extLst>
                    <a:ext uri="{9D8B030D-6E8A-4147-A177-3AD203B41FA5}">
                      <a16:colId xmlns:a16="http://schemas.microsoft.com/office/drawing/2014/main" val="20000"/>
                    </a:ext>
                  </a:extLst>
                </a:gridCol>
                <a:gridCol w="1423904">
                  <a:extLst>
                    <a:ext uri="{9D8B030D-6E8A-4147-A177-3AD203B41FA5}">
                      <a16:colId xmlns:a16="http://schemas.microsoft.com/office/drawing/2014/main" val="20001"/>
                    </a:ext>
                  </a:extLst>
                </a:gridCol>
                <a:gridCol w="1265693">
                  <a:extLst>
                    <a:ext uri="{9D8B030D-6E8A-4147-A177-3AD203B41FA5}">
                      <a16:colId xmlns:a16="http://schemas.microsoft.com/office/drawing/2014/main" val="20002"/>
                    </a:ext>
                  </a:extLst>
                </a:gridCol>
              </a:tblGrid>
              <a:tr h="342489">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endParaRPr kumimoji="0" lang="zh-CN" altLang="zh-CN" sz="1400" b="1"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25400" cap="flat" cmpd="sng" algn="ctr">
                      <a:solidFill>
                        <a:srgbClr val="9BBB59"/>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defRPr/>
                      </a:pPr>
                      <a:r>
                        <a:rPr kumimoji="0" lang="en-US" altLang="zh-CN" sz="1400" b="1" i="0" u="none" strike="noStrike" cap="none" normalizeH="0" baseline="0" dirty="0">
                          <a:ln>
                            <a:noFill/>
                          </a:ln>
                          <a:solidFill>
                            <a:srgbClr val="000000"/>
                          </a:solidFill>
                          <a:effectLst/>
                          <a:latin typeface="Calibri" pitchFamily="34" charset="0"/>
                          <a:ea typeface="微软雅黑" pitchFamily="34" charset="-122"/>
                        </a:rPr>
                        <a:t>Wind(Strong)</a:t>
                      </a:r>
                      <a:endParaRPr kumimoji="0" lang="zh-CN" altLang="en-US" sz="1400" b="1"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25400" cap="flat" cmpd="sng" algn="ctr">
                      <a:solidFill>
                        <a:srgbClr val="9BBB59"/>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defRPr/>
                      </a:pPr>
                      <a:r>
                        <a:rPr kumimoji="0" lang="en-US" altLang="zh-CN" sz="1400" b="1" i="0" u="none" strike="noStrike" cap="none" normalizeH="0" baseline="0" dirty="0">
                          <a:ln>
                            <a:noFill/>
                          </a:ln>
                          <a:solidFill>
                            <a:srgbClr val="000000"/>
                          </a:solidFill>
                          <a:effectLst/>
                          <a:latin typeface="Calibri" pitchFamily="34" charset="0"/>
                          <a:ea typeface="微软雅黑" pitchFamily="34" charset="-122"/>
                        </a:rPr>
                        <a:t>Wind(Weak)</a:t>
                      </a:r>
                      <a:endParaRPr kumimoji="0" lang="zh-CN" sz="1400" b="1"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25400" cap="flat" cmpd="sng" algn="ctr">
                      <a:solidFill>
                        <a:srgbClr val="9BBB5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8056">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en-US" altLang="zh-CN" sz="1400" b="1" i="0" u="none" strike="noStrike" cap="none" normalizeH="0" baseline="0" dirty="0">
                          <a:ln>
                            <a:noFill/>
                          </a:ln>
                          <a:solidFill>
                            <a:srgbClr val="000000"/>
                          </a:solidFill>
                          <a:effectLst/>
                          <a:latin typeface="Calibri" pitchFamily="34" charset="0"/>
                          <a:ea typeface="微软雅黑" pitchFamily="34" charset="-122"/>
                        </a:rPr>
                        <a:t>Play(Yes)</a:t>
                      </a:r>
                      <a:endParaRPr kumimoji="0" lang="zh-CN" sz="1400" b="1"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254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solidFill>
                      <a:srgbClr val="9BBB59">
                        <a:alpha val="20000"/>
                      </a:srgbClr>
                    </a:solid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zh-CN" altLang="en-US" sz="1400" b="0" i="0" u="none" strike="noStrike" cap="none" normalizeH="0" baseline="0" dirty="0">
                          <a:ln>
                            <a:noFill/>
                          </a:ln>
                          <a:solidFill>
                            <a:srgbClr val="000000"/>
                          </a:solidFill>
                          <a:effectLst/>
                          <a:latin typeface="Calibri" pitchFamily="34" charset="0"/>
                          <a:ea typeface="微软雅黑" pitchFamily="34" charset="-122"/>
                        </a:rPr>
                        <a:t> 3</a:t>
                      </a: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254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solidFill>
                      <a:srgbClr val="9BBB59">
                        <a:alpha val="20000"/>
                      </a:srgbClr>
                    </a:solid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en-US" altLang="zh-CN" sz="1400" b="0" i="0" u="none" strike="noStrike" cap="none" normalizeH="0" baseline="0" dirty="0">
                          <a:ln>
                            <a:noFill/>
                          </a:ln>
                          <a:solidFill>
                            <a:srgbClr val="000000"/>
                          </a:solidFill>
                          <a:effectLst/>
                          <a:latin typeface="Calibri" pitchFamily="34" charset="0"/>
                          <a:ea typeface="微软雅黑" pitchFamily="34" charset="-122"/>
                        </a:rPr>
                        <a:t>6</a:t>
                      </a:r>
                      <a:endParaRPr kumimoji="0" lang="zh-CN" altLang="en-US" sz="1400" b="0"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254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solidFill>
                      <a:srgbClr val="9BBB59">
                        <a:alpha val="20000"/>
                      </a:srgbClr>
                    </a:solidFill>
                  </a:tcPr>
                </a:tc>
                <a:extLst>
                  <a:ext uri="{0D108BD9-81ED-4DB2-BD59-A6C34878D82A}">
                    <a16:rowId xmlns:a16="http://schemas.microsoft.com/office/drawing/2014/main" val="10001"/>
                  </a:ext>
                </a:extLst>
              </a:tr>
              <a:tr h="342489">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en-US" altLang="zh-CN" sz="1400" b="1" i="0" u="none" strike="noStrike" cap="none" normalizeH="0" baseline="0" dirty="0">
                          <a:ln>
                            <a:noFill/>
                          </a:ln>
                          <a:solidFill>
                            <a:srgbClr val="000000"/>
                          </a:solidFill>
                          <a:effectLst/>
                          <a:latin typeface="Calibri" pitchFamily="34" charset="0"/>
                          <a:ea typeface="微软雅黑" pitchFamily="34" charset="-122"/>
                        </a:rPr>
                        <a:t>Play(No)</a:t>
                      </a:r>
                      <a:endParaRPr kumimoji="0" lang="zh-CN" altLang="en-US" sz="1400" b="1"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en-US" altLang="zh-CN" sz="1400" b="0" i="0" u="none" strike="noStrike" cap="none" normalizeH="0" baseline="0" dirty="0">
                          <a:ln>
                            <a:noFill/>
                          </a:ln>
                          <a:solidFill>
                            <a:srgbClr val="000000"/>
                          </a:solidFill>
                          <a:effectLst/>
                          <a:latin typeface="Calibri" pitchFamily="34" charset="0"/>
                          <a:ea typeface="微软雅黑" pitchFamily="34" charset="-122"/>
                        </a:rPr>
                        <a:t>3</a:t>
                      </a:r>
                      <a:endParaRPr kumimoji="0" lang="zh-CN" altLang="en-US" sz="1400" b="0"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40000"/>
                        </a:spcAft>
                        <a:buClrTx/>
                        <a:buSzTx/>
                        <a:buFont typeface="Wingdings" pitchFamily="2" charset="2"/>
                        <a:buNone/>
                        <a:tabLst/>
                      </a:pPr>
                      <a:r>
                        <a:rPr kumimoji="0" lang="en-US" altLang="zh-CN" sz="1400" b="0" i="0" u="none" strike="noStrike" cap="none" normalizeH="0" baseline="0" dirty="0">
                          <a:ln>
                            <a:noFill/>
                          </a:ln>
                          <a:solidFill>
                            <a:srgbClr val="000000"/>
                          </a:solidFill>
                          <a:effectLst/>
                          <a:latin typeface="Calibri" pitchFamily="34" charset="0"/>
                          <a:ea typeface="微软雅黑" pitchFamily="34" charset="-122"/>
                        </a:rPr>
                        <a:t>2</a:t>
                      </a:r>
                      <a:endParaRPr kumimoji="0" lang="zh-CN" altLang="en-US" sz="1400" b="0" i="0" u="none" strike="noStrike" cap="none" normalizeH="0" baseline="0" dirty="0">
                        <a:ln>
                          <a:noFill/>
                        </a:ln>
                        <a:solidFill>
                          <a:srgbClr val="000000"/>
                        </a:solidFill>
                        <a:effectLst/>
                        <a:latin typeface="Calibri" pitchFamily="34" charset="0"/>
                        <a:ea typeface="微软雅黑" pitchFamily="34" charset="-122"/>
                      </a:endParaRPr>
                    </a:p>
                  </a:txBody>
                  <a:tcPr anchor="ctr" anchorCtr="1" horzOverflow="overflow">
                    <a:lnL w="12700" cap="flat" cmpd="sng" algn="ctr">
                      <a:solidFill>
                        <a:srgbClr val="9BBB59"/>
                      </a:solidFill>
                      <a:prstDash val="solid"/>
                      <a:round/>
                      <a:headEnd type="none" w="med" len="med"/>
                      <a:tailEnd type="none" w="med" len="med"/>
                    </a:lnL>
                    <a:lnR w="12700" cap="flat" cmpd="sng" algn="ctr">
                      <a:solidFill>
                        <a:srgbClr val="9BBB59"/>
                      </a:solidFill>
                      <a:prstDash val="solid"/>
                      <a:round/>
                      <a:headEnd type="none" w="med" len="med"/>
                      <a:tailEnd type="none" w="med" len="med"/>
                    </a:lnR>
                    <a:lnT w="12700" cap="flat" cmpd="sng" algn="ctr">
                      <a:solidFill>
                        <a:srgbClr val="9BBB59"/>
                      </a:solidFill>
                      <a:prstDash val="solid"/>
                      <a:round/>
                      <a:headEnd type="none" w="med" len="med"/>
                      <a:tailEnd type="none" w="med" len="med"/>
                    </a:lnT>
                    <a:lnB w="12700" cap="flat" cmpd="sng" algn="ctr">
                      <a:solidFill>
                        <a:srgbClr val="9BBB5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矩形 4"/>
          <p:cNvSpPr/>
          <p:nvPr/>
        </p:nvSpPr>
        <p:spPr>
          <a:xfrm>
            <a:off x="5333739" y="5331515"/>
            <a:ext cx="3499676" cy="369332"/>
          </a:xfrm>
          <a:prstGeom prst="rect">
            <a:avLst/>
          </a:prstGeom>
        </p:spPr>
        <p:txBody>
          <a:bodyPr wrap="none">
            <a:spAutoFit/>
          </a:bodyPr>
          <a:lstStyle/>
          <a:p>
            <a:r>
              <a:rPr lang="zh-CN" altLang="en-US" dirty="0">
                <a:solidFill>
                  <a:srgbClr val="FF0000"/>
                </a:solidFill>
                <a:latin typeface="+mn-ea"/>
                <a:cs typeface="Times New Roman" pitchFamily="18" charset="0"/>
              </a:rPr>
              <a:t>分割</a:t>
            </a:r>
            <a:r>
              <a:rPr lang="en-US" altLang="zh-CN" i="1" dirty="0">
                <a:solidFill>
                  <a:srgbClr val="FF0000"/>
                </a:solidFill>
                <a:latin typeface="+mn-ea"/>
                <a:cs typeface="Times New Roman" pitchFamily="18" charset="0"/>
              </a:rPr>
              <a:t>V=wind </a:t>
            </a:r>
            <a:r>
              <a:rPr lang="zh-CN" altLang="en-US" dirty="0">
                <a:solidFill>
                  <a:srgbClr val="FF0000"/>
                </a:solidFill>
                <a:latin typeface="+mn-ea"/>
                <a:cs typeface="Times New Roman" pitchFamily="18" charset="0"/>
              </a:rPr>
              <a:t>时的平均</a:t>
            </a:r>
            <a:r>
              <a:rPr lang="en-US" altLang="zh-CN" i="1" dirty="0">
                <a:solidFill>
                  <a:srgbClr val="FF0000"/>
                </a:solidFill>
                <a:latin typeface="+mn-ea"/>
                <a:cs typeface="Times New Roman" pitchFamily="18" charset="0"/>
              </a:rPr>
              <a:t>Gini</a:t>
            </a:r>
            <a:r>
              <a:rPr lang="zh-CN" altLang="en-US" dirty="0">
                <a:solidFill>
                  <a:srgbClr val="FF0000"/>
                </a:solidFill>
                <a:latin typeface="+mn-ea"/>
                <a:cs typeface="Times New Roman" pitchFamily="18" charset="0"/>
              </a:rPr>
              <a:t>指标：</a:t>
            </a:r>
            <a:endParaRPr lang="zh-CN" altLang="en-US" dirty="0"/>
          </a:p>
        </p:txBody>
      </p:sp>
      <p:sp>
        <p:nvSpPr>
          <p:cNvPr id="6" name="矩形 5"/>
          <p:cNvSpPr/>
          <p:nvPr/>
        </p:nvSpPr>
        <p:spPr>
          <a:xfrm>
            <a:off x="5112277" y="3950472"/>
            <a:ext cx="5493812" cy="369332"/>
          </a:xfrm>
          <a:prstGeom prst="rect">
            <a:avLst/>
          </a:prstGeom>
        </p:spPr>
        <p:txBody>
          <a:bodyPr wrap="none">
            <a:spAutoFit/>
          </a:bodyPr>
          <a:lstStyle/>
          <a:p>
            <a:r>
              <a:rPr lang="zh-CN" altLang="en-US" dirty="0"/>
              <a:t>计算各特征的基尼指数，选取最优特征及最优切分点</a:t>
            </a:r>
            <a:endParaRPr lang="en-US" altLang="zh-CN" dirty="0"/>
          </a:p>
        </p:txBody>
      </p:sp>
      <p:sp>
        <p:nvSpPr>
          <p:cNvPr id="7" name="矩形 6"/>
          <p:cNvSpPr/>
          <p:nvPr/>
        </p:nvSpPr>
        <p:spPr>
          <a:xfrm>
            <a:off x="5122426" y="4319804"/>
            <a:ext cx="6683410" cy="369332"/>
          </a:xfrm>
          <a:prstGeom prst="rect">
            <a:avLst/>
          </a:prstGeom>
        </p:spPr>
        <p:txBody>
          <a:bodyPr wrap="square">
            <a:spAutoFit/>
          </a:bodyPr>
          <a:lstStyle/>
          <a:p>
            <a:r>
              <a:rPr lang="zh-CN" altLang="en-US" dirty="0"/>
              <a:t>比较数据集在不同的特征</a:t>
            </a:r>
            <a:r>
              <a:rPr lang="en-US" altLang="zh-CN" dirty="0"/>
              <a:t>Ai</a:t>
            </a:r>
            <a:r>
              <a:rPr lang="zh-CN" altLang="en-US" dirty="0"/>
              <a:t>及特征取值</a:t>
            </a:r>
            <a:r>
              <a:rPr lang="en-US" altLang="zh-CN" dirty="0"/>
              <a:t>x</a:t>
            </a:r>
            <a:r>
              <a:rPr lang="zh-CN" altLang="en-US" dirty="0"/>
              <a:t>的切分下的基尼指数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3" descr="image">
            <a:hlinkClick r:id="rId3"/>
          </p:cNvPr>
          <p:cNvPicPr>
            <a:picLocks noChangeAspect="1" noChangeArrowheads="1"/>
          </p:cNvPicPr>
          <p:nvPr/>
        </p:nvPicPr>
        <p:blipFill>
          <a:blip r:embed="rId4" cstate="print"/>
          <a:srcRect/>
          <a:stretch>
            <a:fillRect/>
          </a:stretch>
        </p:blipFill>
        <p:spPr bwMode="auto">
          <a:xfrm>
            <a:off x="5447928" y="931840"/>
            <a:ext cx="6278000" cy="5665512"/>
          </a:xfrm>
          <a:prstGeom prst="rect">
            <a:avLst/>
          </a:prstGeom>
          <a:noFill/>
          <a:ln w="9525">
            <a:noFill/>
            <a:miter lim="800000"/>
            <a:headEnd/>
            <a:tailEnd/>
          </a:ln>
        </p:spPr>
      </p:pic>
      <p:sp>
        <p:nvSpPr>
          <p:cNvPr id="5" name="Rectangle 2"/>
          <p:cNvSpPr txBox="1">
            <a:spLocks noChangeArrowheads="1"/>
          </p:cNvSpPr>
          <p:nvPr/>
        </p:nvSpPr>
        <p:spPr bwMode="auto">
          <a:xfrm>
            <a:off x="7683431" y="355862"/>
            <a:ext cx="3393829" cy="685800"/>
          </a:xfrm>
          <a:prstGeom prst="rect">
            <a:avLst/>
          </a:prstGeom>
          <a:noFill/>
          <a:ln w="9525">
            <a:noFill/>
            <a:miter lim="800000"/>
            <a:headEnd/>
            <a:tailEnd/>
          </a:ln>
        </p:spPr>
        <p:txBody>
          <a:bodyPr anchor="ctr"/>
          <a:lstStyle/>
          <a:p>
            <a:pPr eaLnBrk="0" hangingPunct="0">
              <a:defRPr/>
            </a:pPr>
            <a:r>
              <a:rPr lang="en-US" altLang="zh-CN" sz="2800" kern="0" dirty="0">
                <a:solidFill>
                  <a:srgbClr val="FF0000"/>
                </a:solidFill>
                <a:latin typeface="+mj-lt"/>
                <a:ea typeface="+mj-ea"/>
                <a:cs typeface="+mj-cs"/>
              </a:rPr>
              <a:t>C4.5</a:t>
            </a:r>
            <a:r>
              <a:rPr lang="zh-CN" altLang="en-US" sz="2800" dirty="0">
                <a:solidFill>
                  <a:srgbClr val="FF0000"/>
                </a:solidFill>
              </a:rPr>
              <a:t>算法基本流程</a:t>
            </a:r>
            <a:endParaRPr lang="en-US" altLang="zh-CN" sz="2800" kern="0" dirty="0">
              <a:solidFill>
                <a:srgbClr val="FF0000"/>
              </a:solidFill>
              <a:latin typeface="+mj-lt"/>
              <a:ea typeface="+mj-ea"/>
              <a:cs typeface="+mj-cs"/>
            </a:endParaRPr>
          </a:p>
        </p:txBody>
      </p:sp>
      <p:sp>
        <p:nvSpPr>
          <p:cNvPr id="21508" name="矩形 3"/>
          <p:cNvSpPr>
            <a:spLocks noChangeArrowheads="1"/>
          </p:cNvSpPr>
          <p:nvPr/>
        </p:nvSpPr>
        <p:spPr bwMode="auto">
          <a:xfrm>
            <a:off x="9193957" y="2313595"/>
            <a:ext cx="2759918"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1600" dirty="0"/>
              <a:t>如果</a:t>
            </a:r>
            <a:r>
              <a:rPr lang="en-US" altLang="zh-CN" sz="1600" dirty="0"/>
              <a:t>D</a:t>
            </a:r>
            <a:r>
              <a:rPr lang="zh-CN" altLang="en-US" sz="1600" dirty="0"/>
              <a:t>是</a:t>
            </a:r>
            <a:r>
              <a:rPr lang="en-US" altLang="zh-CN" sz="1600" dirty="0"/>
              <a:t>”</a:t>
            </a:r>
            <a:r>
              <a:rPr lang="zh-CN" altLang="en-US" sz="1600" dirty="0"/>
              <a:t>纯粹</a:t>
            </a:r>
            <a:r>
              <a:rPr lang="en-US" altLang="zh-CN" sz="1600" dirty="0"/>
              <a:t>”</a:t>
            </a:r>
            <a:r>
              <a:rPr lang="zh-CN" altLang="en-US" sz="1600" dirty="0"/>
              <a:t>的或满足其他停止条件则终止</a:t>
            </a:r>
          </a:p>
        </p:txBody>
      </p:sp>
      <p:sp>
        <p:nvSpPr>
          <p:cNvPr id="21509" name="矩形 5"/>
          <p:cNvSpPr>
            <a:spLocks noChangeArrowheads="1"/>
          </p:cNvSpPr>
          <p:nvPr/>
        </p:nvSpPr>
        <p:spPr bwMode="auto">
          <a:xfrm>
            <a:off x="8832304" y="3544482"/>
            <a:ext cx="3208838" cy="338554"/>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1600" dirty="0"/>
              <a:t>如果按照</a:t>
            </a:r>
            <a:r>
              <a:rPr lang="en-US" altLang="zh-CN" sz="1600" dirty="0"/>
              <a:t>a</a:t>
            </a:r>
            <a:r>
              <a:rPr lang="zh-CN" altLang="en-US" sz="1600" dirty="0"/>
              <a:t>劈开</a:t>
            </a:r>
            <a:r>
              <a:rPr lang="en-US" altLang="zh-CN" sz="1600" dirty="0"/>
              <a:t>,</a:t>
            </a:r>
            <a:r>
              <a:rPr lang="zh-CN" altLang="en-US" sz="1600" dirty="0"/>
              <a:t>计算信息衡量标准</a:t>
            </a:r>
          </a:p>
        </p:txBody>
      </p:sp>
      <p:sp>
        <p:nvSpPr>
          <p:cNvPr id="6"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sp>
        <p:nvSpPr>
          <p:cNvPr id="8" name="内容占位符 2"/>
          <p:cNvSpPr>
            <a:spLocks noGrp="1"/>
          </p:cNvSpPr>
          <p:nvPr>
            <p:ph idx="1"/>
          </p:nvPr>
        </p:nvSpPr>
        <p:spPr>
          <a:xfrm>
            <a:off x="407368" y="1084524"/>
            <a:ext cx="4824536" cy="3886200"/>
          </a:xfrm>
        </p:spPr>
        <p:txBody>
          <a:bodyPr/>
          <a:lstStyle/>
          <a:p>
            <a:pPr marL="0" indent="381000">
              <a:buNone/>
            </a:pPr>
            <a:r>
              <a:rPr lang="en-US" altLang="zh-CN" sz="2400" dirty="0"/>
              <a:t>C4.5</a:t>
            </a:r>
            <a:r>
              <a:rPr lang="zh-CN" altLang="en-US" sz="2400" dirty="0"/>
              <a:t>算法</a:t>
            </a:r>
            <a:endParaRPr lang="en-US" altLang="zh-CN" sz="2400" dirty="0"/>
          </a:p>
          <a:p>
            <a:pPr marL="0" indent="381000">
              <a:buNone/>
            </a:pPr>
            <a:r>
              <a:rPr lang="zh-CN" altLang="en-US" sz="2400" dirty="0"/>
              <a:t>优点：产生的分类规则易于理解，准确率较高。</a:t>
            </a:r>
            <a:endParaRPr lang="en-US" altLang="zh-CN" sz="2400" dirty="0"/>
          </a:p>
          <a:p>
            <a:pPr marL="0" indent="381000">
              <a:buNone/>
            </a:pPr>
            <a:r>
              <a:rPr lang="zh-CN" altLang="en-US" sz="2400" dirty="0"/>
              <a:t>缺点：在构造树的过程中，需要对数据集进行多次的顺序扫描和排序，因而导致算法的低效。此外，</a:t>
            </a:r>
            <a:r>
              <a:rPr lang="en-US" altLang="zh-CN" sz="2400" dirty="0"/>
              <a:t>C4.5</a:t>
            </a:r>
            <a:r>
              <a:rPr lang="zh-CN" altLang="en-US" sz="2400" dirty="0"/>
              <a:t>适合于能够驻留于内存的数据集，当训练集大得无法在内存容纳时程序无法运行。</a:t>
            </a:r>
            <a:endParaRPr lang="en-US" altLang="zh-CN" sz="2400" dirty="0"/>
          </a:p>
          <a:p>
            <a:pPr>
              <a:buFont typeface="Wingdings" pitchFamily="2" charset="2"/>
              <a:buNone/>
            </a:pPr>
            <a:endParaRPr lang="en-US" altLang="zh-CN" sz="2400" dirty="0"/>
          </a:p>
          <a:p>
            <a:r>
              <a:rPr lang="en-US" altLang="zh-CN" sz="2400" dirty="0"/>
              <a:t>C4.5</a:t>
            </a:r>
            <a:r>
              <a:rPr lang="zh-CN" altLang="en-US" sz="2400" dirty="0"/>
              <a:t>并不是一个算法，而是一组算法</a:t>
            </a:r>
            <a:r>
              <a:rPr lang="en-US" altLang="zh-CN" sz="2400" dirty="0"/>
              <a:t>—C4.5</a:t>
            </a:r>
            <a:r>
              <a:rPr lang="zh-CN" altLang="en-US" sz="2400" dirty="0"/>
              <a:t>，非剪枝</a:t>
            </a:r>
            <a:r>
              <a:rPr lang="en-US" altLang="zh-CN" sz="2400" dirty="0"/>
              <a:t>C4.5</a:t>
            </a:r>
            <a:r>
              <a:rPr lang="zh-CN" altLang="en-US" sz="2400" dirty="0"/>
              <a:t>和</a:t>
            </a:r>
            <a:r>
              <a:rPr lang="en-US" altLang="zh-CN" sz="2400" dirty="0"/>
              <a:t>C4.5</a:t>
            </a:r>
            <a:r>
              <a:rPr lang="zh-CN" altLang="en-US" sz="2400" dirty="0"/>
              <a:t>规则。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3"/>
          <p:cNvSpPr>
            <a:spLocks noChangeArrowheads="1"/>
          </p:cNvSpPr>
          <p:nvPr/>
        </p:nvSpPr>
        <p:spPr bwMode="auto">
          <a:xfrm>
            <a:off x="263352" y="991449"/>
            <a:ext cx="2691763" cy="584775"/>
          </a:xfrm>
          <a:prstGeom prst="rect">
            <a:avLst/>
          </a:prstGeom>
          <a:noFill/>
          <a:ln w="9525">
            <a:noFill/>
            <a:miter lim="800000"/>
            <a:headEnd/>
            <a:tailEnd/>
          </a:ln>
        </p:spPr>
        <p:txBody>
          <a:bodyPr wrap="none">
            <a:spAutoFit/>
          </a:bodyPr>
          <a:lstStyle/>
          <a:p>
            <a:pPr latinLnBrk="1">
              <a:defRPr/>
            </a:pPr>
            <a:r>
              <a:rPr lang="en-US" altLang="zh-CN" sz="3200" dirty="0">
                <a:latin typeface="+mn-ea"/>
                <a:cs typeface="Times New Roman" pitchFamily="18" charset="0"/>
              </a:rPr>
              <a:t>C4.5</a:t>
            </a:r>
            <a:r>
              <a:rPr lang="zh-CN" altLang="en-US" sz="3200" dirty="0">
                <a:latin typeface="+mn-ea"/>
                <a:cs typeface="Times New Roman" pitchFamily="18" charset="0"/>
              </a:rPr>
              <a:t>算法举例</a:t>
            </a:r>
          </a:p>
        </p:txBody>
      </p:sp>
      <p:sp>
        <p:nvSpPr>
          <p:cNvPr id="22531" name="TextBox 5"/>
          <p:cNvSpPr txBox="1">
            <a:spLocks noChangeArrowheads="1"/>
          </p:cNvSpPr>
          <p:nvPr/>
        </p:nvSpPr>
        <p:spPr bwMode="auto">
          <a:xfrm>
            <a:off x="78285" y="5500688"/>
            <a:ext cx="3089275" cy="461962"/>
          </a:xfrm>
          <a:prstGeom prst="rect">
            <a:avLst/>
          </a:prstGeom>
          <a:noFill/>
          <a:ln w="9525">
            <a:noFill/>
            <a:miter lim="800000"/>
            <a:headEnd/>
            <a:tailEnd/>
          </a:ln>
        </p:spPr>
        <p:txBody>
          <a:bodyPr wrap="none">
            <a:spAutoFit/>
          </a:bodyPr>
          <a:lstStyle/>
          <a:p>
            <a:pPr>
              <a:defRPr/>
            </a:pPr>
            <a:r>
              <a:rPr lang="en-US" altLang="zh-CN" sz="2400" dirty="0">
                <a:latin typeface="+mn-ea"/>
                <a:cs typeface="Times New Roman" pitchFamily="18" charset="0"/>
              </a:rPr>
              <a:t>•</a:t>
            </a:r>
            <a:r>
              <a:rPr lang="zh-CN" altLang="en-US" sz="2400" dirty="0">
                <a:latin typeface="+mn-ea"/>
                <a:cs typeface="Times New Roman" pitchFamily="18" charset="0"/>
              </a:rPr>
              <a:t>如何得到信息增益？</a:t>
            </a:r>
          </a:p>
        </p:txBody>
      </p:sp>
      <p:graphicFrame>
        <p:nvGraphicFramePr>
          <p:cNvPr id="7" name="表格 6"/>
          <p:cNvGraphicFramePr>
            <a:graphicFrameLocks noGrp="1"/>
          </p:cNvGraphicFramePr>
          <p:nvPr>
            <p:extLst>
              <p:ext uri="{D42A27DB-BD31-4B8C-83A1-F6EECF244321}">
                <p14:modId xmlns:p14="http://schemas.microsoft.com/office/powerpoint/2010/main" val="2083417484"/>
              </p:ext>
            </p:extLst>
          </p:nvPr>
        </p:nvGraphicFramePr>
        <p:xfrm>
          <a:off x="353546" y="1660912"/>
          <a:ext cx="5762624" cy="3661416"/>
        </p:xfrm>
        <a:graphic>
          <a:graphicData uri="http://schemas.openxmlformats.org/drawingml/2006/table">
            <a:tbl>
              <a:tblPr/>
              <a:tblGrid>
                <a:gridCol w="80999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gridCol w="1169283">
                  <a:extLst>
                    <a:ext uri="{9D8B030D-6E8A-4147-A177-3AD203B41FA5}">
                      <a16:colId xmlns:a16="http://schemas.microsoft.com/office/drawing/2014/main" val="20002"/>
                    </a:ext>
                  </a:extLst>
                </a:gridCol>
                <a:gridCol w="990273">
                  <a:extLst>
                    <a:ext uri="{9D8B030D-6E8A-4147-A177-3AD203B41FA5}">
                      <a16:colId xmlns:a16="http://schemas.microsoft.com/office/drawing/2014/main" val="20003"/>
                    </a:ext>
                  </a:extLst>
                </a:gridCol>
                <a:gridCol w="723661">
                  <a:extLst>
                    <a:ext uri="{9D8B030D-6E8A-4147-A177-3AD203B41FA5}">
                      <a16:colId xmlns:a16="http://schemas.microsoft.com/office/drawing/2014/main" val="20004"/>
                    </a:ext>
                  </a:extLst>
                </a:gridCol>
                <a:gridCol w="1169283">
                  <a:extLst>
                    <a:ext uri="{9D8B030D-6E8A-4147-A177-3AD203B41FA5}">
                      <a16:colId xmlns:a16="http://schemas.microsoft.com/office/drawing/2014/main" val="20005"/>
                    </a:ext>
                  </a:extLst>
                </a:gridCol>
              </a:tblGrid>
              <a:tr h="180340">
                <a:tc>
                  <a:txBody>
                    <a:bodyPr/>
                    <a:lstStyle/>
                    <a:p>
                      <a:pPr algn="ctr">
                        <a:spcAft>
                          <a:spcPts val="0"/>
                        </a:spcAft>
                      </a:pPr>
                      <a:r>
                        <a:rPr lang="en-US" sz="1600" kern="100" dirty="0">
                          <a:latin typeface="Times New Roman"/>
                          <a:ea typeface="宋体"/>
                          <a:cs typeface="Times New Roman"/>
                        </a:rPr>
                        <a:t>Day</a:t>
                      </a:r>
                      <a:endParaRPr lang="zh-CN" sz="1050" kern="100" dirty="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Outlook</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Temperature</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Humidity</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Wind</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Play Tennis</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340">
                <a:tc>
                  <a:txBody>
                    <a:bodyPr/>
                    <a:lstStyle/>
                    <a:p>
                      <a:pPr algn="ctr">
                        <a:spcAft>
                          <a:spcPts val="0"/>
                        </a:spcAft>
                      </a:pPr>
                      <a:r>
                        <a:rPr lang="en-US" sz="1600" kern="100">
                          <a:latin typeface="Times New Roman"/>
                          <a:ea typeface="宋体"/>
                          <a:cs typeface="Times New Roman"/>
                        </a:rPr>
                        <a:t>D1</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dirty="0">
                          <a:solidFill>
                            <a:schemeClr val="tx1"/>
                          </a:solidFill>
                          <a:latin typeface="Times New Roman"/>
                          <a:ea typeface="宋体"/>
                          <a:cs typeface="Times New Roman"/>
                        </a:rPr>
                        <a:t>85</a:t>
                      </a:r>
                      <a:endParaRPr lang="zh-CN" sz="1050" kern="100" dirty="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latin typeface="Times New Roman"/>
                          <a:ea typeface="宋体"/>
                          <a:cs typeface="Times New Roman"/>
                        </a:rPr>
                        <a:t>85</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latin typeface="Times New Roman"/>
                          <a:ea typeface="宋体"/>
                          <a:cs typeface="Times New Roman"/>
                        </a:rPr>
                        <a:t>No</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80340">
                <a:tc>
                  <a:txBody>
                    <a:bodyPr/>
                    <a:lstStyle/>
                    <a:p>
                      <a:pPr algn="ctr">
                        <a:spcAft>
                          <a:spcPts val="0"/>
                        </a:spcAft>
                      </a:pPr>
                      <a:r>
                        <a:rPr lang="en-US" sz="1600" kern="100">
                          <a:latin typeface="Times New Roman"/>
                          <a:ea typeface="宋体"/>
                          <a:cs typeface="Times New Roman"/>
                        </a:rPr>
                        <a:t>D2</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80</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90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180340">
                <a:tc>
                  <a:txBody>
                    <a:bodyPr/>
                    <a:lstStyle/>
                    <a:p>
                      <a:pPr algn="ctr">
                        <a:spcAft>
                          <a:spcPts val="0"/>
                        </a:spcAft>
                      </a:pPr>
                      <a:r>
                        <a:rPr lang="en-US" sz="1600" kern="100">
                          <a:latin typeface="Times New Roman"/>
                          <a:ea typeface="宋体"/>
                          <a:cs typeface="Times New Roman"/>
                        </a:rPr>
                        <a:t>D3</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83</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78</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180340">
                <a:tc>
                  <a:txBody>
                    <a:bodyPr/>
                    <a:lstStyle/>
                    <a:p>
                      <a:pPr algn="ctr">
                        <a:spcAft>
                          <a:spcPts val="0"/>
                        </a:spcAft>
                      </a:pPr>
                      <a:r>
                        <a:rPr lang="en-US" sz="1600" kern="100">
                          <a:latin typeface="Times New Roman"/>
                          <a:ea typeface="宋体"/>
                          <a:cs typeface="Times New Roman"/>
                        </a:rPr>
                        <a:t>D4</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70</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96</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180340">
                <a:tc>
                  <a:txBody>
                    <a:bodyPr/>
                    <a:lstStyle/>
                    <a:p>
                      <a:pPr algn="ctr">
                        <a:spcAft>
                          <a:spcPts val="0"/>
                        </a:spcAft>
                      </a:pPr>
                      <a:r>
                        <a:rPr lang="en-US" sz="1600" kern="100">
                          <a:latin typeface="Times New Roman"/>
                          <a:ea typeface="宋体"/>
                          <a:cs typeface="Times New Roman"/>
                        </a:rPr>
                        <a:t>D5</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68</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80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180340">
                <a:tc>
                  <a:txBody>
                    <a:bodyPr/>
                    <a:lstStyle/>
                    <a:p>
                      <a:pPr algn="ctr">
                        <a:spcAft>
                          <a:spcPts val="0"/>
                        </a:spcAft>
                      </a:pPr>
                      <a:r>
                        <a:rPr lang="en-US" sz="1600" kern="100">
                          <a:latin typeface="Times New Roman"/>
                          <a:ea typeface="宋体"/>
                          <a:cs typeface="Times New Roman"/>
                        </a:rPr>
                        <a:t>D6</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65</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70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r h="180340">
                <a:tc>
                  <a:txBody>
                    <a:bodyPr/>
                    <a:lstStyle/>
                    <a:p>
                      <a:pPr algn="ctr">
                        <a:spcAft>
                          <a:spcPts val="0"/>
                        </a:spcAft>
                      </a:pPr>
                      <a:r>
                        <a:rPr lang="en-US" sz="1600" kern="100">
                          <a:latin typeface="Times New Roman"/>
                          <a:ea typeface="宋体"/>
                          <a:cs typeface="Times New Roman"/>
                        </a:rPr>
                        <a:t>D7</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64</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65</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7"/>
                  </a:ext>
                </a:extLst>
              </a:tr>
              <a:tr h="180340">
                <a:tc>
                  <a:txBody>
                    <a:bodyPr/>
                    <a:lstStyle/>
                    <a:p>
                      <a:pPr algn="ctr">
                        <a:spcAft>
                          <a:spcPts val="0"/>
                        </a:spcAft>
                      </a:pPr>
                      <a:r>
                        <a:rPr lang="en-US" sz="1600" kern="100">
                          <a:latin typeface="Times New Roman"/>
                          <a:ea typeface="宋体"/>
                          <a:cs typeface="Times New Roman"/>
                        </a:rPr>
                        <a:t>D8</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72</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95</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8"/>
                  </a:ext>
                </a:extLst>
              </a:tr>
              <a:tr h="205744">
                <a:tc>
                  <a:txBody>
                    <a:bodyPr/>
                    <a:lstStyle/>
                    <a:p>
                      <a:pPr algn="ctr">
                        <a:spcAft>
                          <a:spcPts val="0"/>
                        </a:spcAft>
                      </a:pPr>
                      <a:r>
                        <a:rPr lang="en-US" sz="1600" kern="100">
                          <a:latin typeface="Times New Roman"/>
                          <a:ea typeface="宋体"/>
                          <a:cs typeface="Times New Roman"/>
                        </a:rPr>
                        <a:t>D9</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69</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70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9"/>
                  </a:ext>
                </a:extLst>
              </a:tr>
              <a:tr h="247656">
                <a:tc>
                  <a:txBody>
                    <a:bodyPr/>
                    <a:lstStyle/>
                    <a:p>
                      <a:pPr algn="ctr">
                        <a:spcAft>
                          <a:spcPts val="0"/>
                        </a:spcAft>
                      </a:pPr>
                      <a:r>
                        <a:rPr lang="en-US" sz="1600" kern="100">
                          <a:latin typeface="Times New Roman"/>
                          <a:ea typeface="宋体"/>
                          <a:cs typeface="Times New Roman"/>
                        </a:rPr>
                        <a:t>D10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75</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80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0"/>
                  </a:ext>
                </a:extLst>
              </a:tr>
              <a:tr h="180340">
                <a:tc>
                  <a:txBody>
                    <a:bodyPr/>
                    <a:lstStyle/>
                    <a:p>
                      <a:pPr algn="ctr">
                        <a:spcAft>
                          <a:spcPts val="0"/>
                        </a:spcAft>
                      </a:pPr>
                      <a:r>
                        <a:rPr lang="en-US" sz="1600" kern="100">
                          <a:latin typeface="Times New Roman"/>
                          <a:ea typeface="宋体"/>
                          <a:cs typeface="Times New Roman"/>
                        </a:rPr>
                        <a:t>D11</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75</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70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1"/>
                  </a:ext>
                </a:extLst>
              </a:tr>
              <a:tr h="180340">
                <a:tc>
                  <a:txBody>
                    <a:bodyPr/>
                    <a:lstStyle/>
                    <a:p>
                      <a:pPr algn="ctr">
                        <a:spcAft>
                          <a:spcPts val="0"/>
                        </a:spcAft>
                      </a:pPr>
                      <a:r>
                        <a:rPr lang="en-US" sz="1600" kern="100">
                          <a:latin typeface="Times New Roman"/>
                          <a:ea typeface="宋体"/>
                          <a:cs typeface="Times New Roman"/>
                        </a:rPr>
                        <a:t>D12</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marL="0" algn="ctr" defTabSz="914400" rtl="0" eaLnBrk="1" latinLnBrk="1" hangingPunct="1">
                        <a:spcAft>
                          <a:spcPts val="0"/>
                        </a:spcAft>
                      </a:pPr>
                      <a:r>
                        <a:rPr lang="en-US" sz="1600" kern="100" dirty="0">
                          <a:solidFill>
                            <a:schemeClr val="tx1"/>
                          </a:solidFill>
                          <a:latin typeface="Times New Roman"/>
                          <a:ea typeface="宋体"/>
                          <a:cs typeface="Times New Roman"/>
                        </a:rPr>
                        <a:t>72</a:t>
                      </a:r>
                      <a:endParaRPr lang="zh-CN" sz="1600" kern="100" dirty="0">
                        <a:solidFill>
                          <a:schemeClr val="tx1"/>
                        </a:solidFill>
                        <a:latin typeface="Times New Roman"/>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90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2"/>
                  </a:ext>
                </a:extLst>
              </a:tr>
              <a:tr h="180340">
                <a:tc>
                  <a:txBody>
                    <a:bodyPr/>
                    <a:lstStyle/>
                    <a:p>
                      <a:pPr algn="ctr">
                        <a:spcAft>
                          <a:spcPts val="0"/>
                        </a:spcAft>
                      </a:pPr>
                      <a:r>
                        <a:rPr lang="en-US" sz="1600" kern="100">
                          <a:latin typeface="Times New Roman"/>
                          <a:ea typeface="宋体"/>
                          <a:cs typeface="Times New Roman"/>
                        </a:rPr>
                        <a:t>D13</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81</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75</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3"/>
                  </a:ext>
                </a:extLst>
              </a:tr>
              <a:tr h="180340">
                <a:tc>
                  <a:txBody>
                    <a:bodyPr/>
                    <a:lstStyle/>
                    <a:p>
                      <a:pPr algn="ctr">
                        <a:spcAft>
                          <a:spcPts val="0"/>
                        </a:spcAft>
                      </a:pPr>
                      <a:r>
                        <a:rPr lang="en-US" sz="1600" kern="100">
                          <a:latin typeface="Times New Roman"/>
                          <a:ea typeface="宋体"/>
                          <a:cs typeface="Times New Roman"/>
                        </a:rPr>
                        <a:t>D14</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solidFill>
                            <a:schemeClr val="tx1"/>
                          </a:solidFill>
                          <a:latin typeface="Times New Roman"/>
                          <a:ea typeface="宋体"/>
                          <a:cs typeface="Times New Roman"/>
                        </a:rPr>
                        <a:t>71</a:t>
                      </a:r>
                      <a:endParaRPr lang="zh-CN" sz="1050" kern="100" dirty="0">
                        <a:solidFill>
                          <a:schemeClr val="tx1"/>
                        </a:solidFill>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80</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宋体"/>
                          <a:cs typeface="Times New Roman"/>
                        </a:rPr>
                        <a:t>No</a:t>
                      </a:r>
                      <a:endParaRPr lang="zh-CN" sz="1050" kern="100" dirty="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6"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32</a:t>
            </a:fld>
            <a:endParaRPr lang="en-US" altLang="zh-CN" dirty="0"/>
          </a:p>
        </p:txBody>
      </p:sp>
      <p:sp>
        <p:nvSpPr>
          <p:cNvPr id="2" name="下箭头 1"/>
          <p:cNvSpPr/>
          <p:nvPr/>
        </p:nvSpPr>
        <p:spPr>
          <a:xfrm>
            <a:off x="3355244" y="5268293"/>
            <a:ext cx="366960" cy="550962"/>
          </a:xfrm>
          <a:prstGeom prst="downArrow">
            <a:avLst/>
          </a:prstGeom>
          <a:solidFill>
            <a:schemeClr val="accent1">
              <a:lumMod val="75000"/>
            </a:schemeClr>
          </a:solidFill>
        </p:spPr>
        <p:txBody>
          <a:bodyPr wrap="none" rtlCol="0" anchor="ctr">
            <a:spAutoFit/>
          </a:bodyPr>
          <a:lstStyle/>
          <a:p>
            <a:pPr algn="ctr"/>
            <a:endParaRPr lang="zh-CN" altLang="en-US" sz="2400" kern="100" dirty="0">
              <a:ea typeface="宋体"/>
              <a:cs typeface="Times New Roman"/>
            </a:endParaRPr>
          </a:p>
        </p:txBody>
      </p:sp>
      <p:sp>
        <p:nvSpPr>
          <p:cNvPr id="9" name="下箭头 8"/>
          <p:cNvSpPr/>
          <p:nvPr/>
        </p:nvSpPr>
        <p:spPr>
          <a:xfrm>
            <a:off x="4363356" y="5257909"/>
            <a:ext cx="366960" cy="550962"/>
          </a:xfrm>
          <a:prstGeom prst="downArrow">
            <a:avLst/>
          </a:prstGeom>
          <a:solidFill>
            <a:schemeClr val="accent1">
              <a:lumMod val="75000"/>
            </a:schemeClr>
          </a:solidFill>
        </p:spPr>
        <p:txBody>
          <a:bodyPr wrap="none" rtlCol="0" anchor="ctr">
            <a:spAutoFit/>
          </a:bodyPr>
          <a:lstStyle/>
          <a:p>
            <a:pPr algn="ctr"/>
            <a:endParaRPr lang="zh-CN" altLang="en-US" sz="2400" kern="100" dirty="0">
              <a:ea typeface="宋体"/>
              <a:cs typeface="Times New Roman"/>
            </a:endParaRPr>
          </a:p>
        </p:txBody>
      </p:sp>
      <p:sp>
        <p:nvSpPr>
          <p:cNvPr id="3" name="文本框 2"/>
          <p:cNvSpPr txBox="1"/>
          <p:nvPr/>
        </p:nvSpPr>
        <p:spPr bwMode="auto">
          <a:xfrm>
            <a:off x="3234858" y="5808762"/>
            <a:ext cx="723276" cy="307777"/>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zh-CN" altLang="en-US" sz="1400" dirty="0">
                <a:solidFill>
                  <a:schemeClr val="tx1"/>
                </a:solidFill>
                <a:ea typeface="新細明體" pitchFamily="18" charset="-120"/>
              </a:rPr>
              <a:t>连续值</a:t>
            </a:r>
          </a:p>
        </p:txBody>
      </p:sp>
      <p:sp>
        <p:nvSpPr>
          <p:cNvPr id="10" name="文本框 9"/>
          <p:cNvSpPr txBox="1"/>
          <p:nvPr/>
        </p:nvSpPr>
        <p:spPr bwMode="auto">
          <a:xfrm>
            <a:off x="4185198" y="5776088"/>
            <a:ext cx="723275" cy="307777"/>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zh-CN" altLang="en-US" sz="1400" dirty="0">
                <a:solidFill>
                  <a:schemeClr val="tx1"/>
                </a:solidFill>
                <a:ea typeface="新細明體" pitchFamily="18" charset="-120"/>
              </a:rPr>
              <a:t>离散值</a:t>
            </a:r>
          </a:p>
        </p:txBody>
      </p:sp>
      <p:graphicFrame>
        <p:nvGraphicFramePr>
          <p:cNvPr id="11" name="Object 3"/>
          <p:cNvGraphicFramePr>
            <a:graphicFrameLocks noChangeAspect="1"/>
          </p:cNvGraphicFramePr>
          <p:nvPr>
            <p:extLst>
              <p:ext uri="{D42A27DB-BD31-4B8C-83A1-F6EECF244321}">
                <p14:modId xmlns:p14="http://schemas.microsoft.com/office/powerpoint/2010/main" val="2931657652"/>
              </p:ext>
            </p:extLst>
          </p:nvPr>
        </p:nvGraphicFramePr>
        <p:xfrm>
          <a:off x="5975351" y="2607275"/>
          <a:ext cx="5775325" cy="1200150"/>
        </p:xfrm>
        <a:graphic>
          <a:graphicData uri="http://schemas.openxmlformats.org/presentationml/2006/ole">
            <mc:AlternateContent xmlns:mc="http://schemas.openxmlformats.org/markup-compatibility/2006">
              <mc:Choice xmlns:v="urn:schemas-microsoft-com:vml" Requires="v">
                <p:oleObj spid="_x0000_s535612" name="Equation" r:id="rId3" imgW="2158920" imgH="609480" progId="Equation.DSMT4">
                  <p:embed/>
                </p:oleObj>
              </mc:Choice>
              <mc:Fallback>
                <p:oleObj name="Equation" r:id="rId3" imgW="2158920" imgH="609480" progId="Equation.DSMT4">
                  <p:embed/>
                  <p:pic>
                    <p:nvPicPr>
                      <p:cNvPr id="1026" name="Object 3"/>
                      <p:cNvPicPr>
                        <a:picLocks noChangeAspect="1" noChangeArrowheads="1"/>
                      </p:cNvPicPr>
                      <p:nvPr/>
                    </p:nvPicPr>
                    <p:blipFill>
                      <a:blip r:embed="rId4"/>
                      <a:srcRect/>
                      <a:stretch>
                        <a:fillRect/>
                      </a:stretch>
                    </p:blipFill>
                    <p:spPr bwMode="auto">
                      <a:xfrm>
                        <a:off x="5975351" y="2607275"/>
                        <a:ext cx="5775325" cy="1200150"/>
                      </a:xfrm>
                      <a:prstGeom prst="rect">
                        <a:avLst/>
                      </a:prstGeom>
                      <a:noFill/>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3609205959"/>
              </p:ext>
            </p:extLst>
          </p:nvPr>
        </p:nvGraphicFramePr>
        <p:xfrm>
          <a:off x="6822804" y="3933056"/>
          <a:ext cx="5335587" cy="944563"/>
        </p:xfrm>
        <a:graphic>
          <a:graphicData uri="http://schemas.openxmlformats.org/presentationml/2006/ole">
            <mc:AlternateContent xmlns:mc="http://schemas.openxmlformats.org/markup-compatibility/2006">
              <mc:Choice xmlns:v="urn:schemas-microsoft-com:vml" Requires="v">
                <p:oleObj spid="_x0000_s535613" name="Equation" r:id="rId5" imgW="2438280" imgH="431640" progId="Equation.DSMT4">
                  <p:embed/>
                </p:oleObj>
              </mc:Choice>
              <mc:Fallback>
                <p:oleObj name="Equation" r:id="rId5" imgW="2438280" imgH="431640" progId="Equation.DSMT4">
                  <p:embed/>
                  <p:pic>
                    <p:nvPicPr>
                      <p:cNvPr id="1027" name="Object 4"/>
                      <p:cNvPicPr>
                        <a:picLocks noChangeAspect="1" noChangeArrowheads="1"/>
                      </p:cNvPicPr>
                      <p:nvPr/>
                    </p:nvPicPr>
                    <p:blipFill>
                      <a:blip r:embed="rId6"/>
                      <a:srcRect/>
                      <a:stretch>
                        <a:fillRect/>
                      </a:stretch>
                    </p:blipFill>
                    <p:spPr bwMode="auto">
                      <a:xfrm>
                        <a:off x="6822804" y="3933056"/>
                        <a:ext cx="5335587" cy="944563"/>
                      </a:xfrm>
                      <a:prstGeom prst="rect">
                        <a:avLst/>
                      </a:prstGeom>
                      <a:noFill/>
                      <a:ln>
                        <a:noFill/>
                      </a:ln>
                      <a:effectLst/>
                    </p:spPr>
                  </p:pic>
                </p:oleObj>
              </mc:Fallback>
            </mc:AlternateContent>
          </a:graphicData>
        </a:graphic>
      </p:graphicFrame>
      <p:sp>
        <p:nvSpPr>
          <p:cNvPr id="14" name="Rectangle 2"/>
          <p:cNvSpPr>
            <a:spLocks noChangeArrowheads="1"/>
          </p:cNvSpPr>
          <p:nvPr/>
        </p:nvSpPr>
        <p:spPr bwMode="auto">
          <a:xfrm>
            <a:off x="6559711" y="1283836"/>
            <a:ext cx="5616624" cy="1323439"/>
          </a:xfrm>
          <a:prstGeom prst="rect">
            <a:avLst/>
          </a:prstGeom>
          <a:noFill/>
          <a:ln w="9525">
            <a:noFill/>
            <a:miter lim="800000"/>
            <a:headEnd/>
            <a:tailEnd/>
          </a:ln>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共</a:t>
            </a:r>
            <a:r>
              <a:rPr kumimoji="0" lang="zh-CN" altLang="zh-CN" sz="2000" b="0" i="0" u="none" strike="noStrike" kern="1200" cap="none" spc="0" normalizeH="0" baseline="0" noProof="0" dirty="0">
                <a:ln>
                  <a:noFill/>
                </a:ln>
                <a:solidFill>
                  <a:srgbClr val="362E2B"/>
                </a:solidFill>
                <a:effectLst/>
                <a:uLnTx/>
                <a:uFillTx/>
                <a:latin typeface="Arial" charset="0"/>
                <a:ea typeface="+mn-ea"/>
                <a:cs typeface="Arial" charset="0"/>
              </a:rPr>
              <a:t>14</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个实例：</a:t>
            </a:r>
            <a:r>
              <a:rPr kumimoji="0" lang="zh-CN" altLang="zh-CN" sz="2000" b="0" i="0" u="none" strike="noStrike" kern="1200" cap="none" spc="0" normalizeH="0" baseline="0" noProof="0" dirty="0">
                <a:ln>
                  <a:noFill/>
                </a:ln>
                <a:solidFill>
                  <a:srgbClr val="362E2B"/>
                </a:solidFill>
                <a:effectLst/>
                <a:uLnTx/>
                <a:uFillTx/>
                <a:latin typeface="Arial" charset="0"/>
                <a:ea typeface="+mn-ea"/>
                <a:cs typeface="Arial" charset="0"/>
              </a:rPr>
              <a:t>9</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个正例（</a:t>
            </a:r>
            <a:r>
              <a:rPr kumimoji="0" lang="zh-CN" altLang="zh-CN" sz="2000" b="0" i="0" u="none" strike="noStrike" kern="1200" cap="none" spc="0" normalizeH="0" baseline="0" noProof="0" dirty="0">
                <a:ln>
                  <a:noFill/>
                </a:ln>
                <a:solidFill>
                  <a:srgbClr val="362E2B"/>
                </a:solidFill>
                <a:effectLst/>
                <a:uLnTx/>
                <a:uFillTx/>
                <a:latin typeface="Arial" charset="0"/>
                <a:ea typeface="+mn-ea"/>
                <a:cs typeface="Arial" charset="0"/>
              </a:rPr>
              <a:t>yes</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a:t>
            </a:r>
            <a:r>
              <a:rPr kumimoji="0" lang="zh-CN" altLang="zh-CN" sz="2000" b="0" i="0" u="none" strike="noStrike" kern="1200" cap="none" spc="0" normalizeH="0" baseline="0" noProof="0" dirty="0">
                <a:ln>
                  <a:noFill/>
                </a:ln>
                <a:solidFill>
                  <a:srgbClr val="362E2B"/>
                </a:solidFill>
                <a:effectLst/>
                <a:uLnTx/>
                <a:uFillTx/>
                <a:latin typeface="Arial" charset="0"/>
                <a:ea typeface="+mn-ea"/>
                <a:cs typeface="Arial" charset="0"/>
              </a:rPr>
              <a:t>5</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个负例（</a:t>
            </a:r>
            <a:r>
              <a:rPr kumimoji="0" lang="zh-CN" altLang="zh-CN" sz="2000" b="0" i="0" u="none" strike="noStrike" kern="1200" cap="none" spc="0" normalizeH="0" baseline="0" noProof="0" dirty="0">
                <a:ln>
                  <a:noFill/>
                </a:ln>
                <a:solidFill>
                  <a:srgbClr val="362E2B"/>
                </a:solidFill>
                <a:effectLst/>
                <a:uLnTx/>
                <a:uFillTx/>
                <a:latin typeface="Arial" charset="0"/>
                <a:ea typeface="+mn-ea"/>
                <a:cs typeface="Arial" charset="0"/>
              </a:rPr>
              <a:t>no</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a:t>
            </a:r>
            <a:endParaRPr kumimoji="0" lang="zh-CN" altLang="en-US"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000" b="0" i="0" u="none" strike="noStrike" kern="1200" cap="none" spc="0" normalizeH="0" baseline="0" noProof="0" dirty="0">
              <a:ln>
                <a:noFill/>
              </a:ln>
              <a:solidFill>
                <a:srgbClr val="362E2B"/>
              </a:solidFill>
              <a:effectLst/>
              <a:uLnTx/>
              <a:uFillTx/>
              <a:latin typeface="Arial"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当前数据</a:t>
            </a:r>
            <a:r>
              <a:rPr kumimoji="0" lang="en-US" altLang="zh-CN" sz="2000" b="0" i="0" u="none" strike="noStrike" kern="1200" cap="none" spc="0" normalizeH="0" baseline="0" noProof="0" dirty="0">
                <a:ln>
                  <a:noFill/>
                </a:ln>
                <a:solidFill>
                  <a:srgbClr val="362E2B"/>
                </a:solidFill>
                <a:effectLst/>
                <a:uLnTx/>
                <a:uFillTx/>
                <a:latin typeface="Arial" charset="0"/>
                <a:ea typeface="+mn-ea"/>
                <a:cs typeface="Arial" charset="0"/>
              </a:rPr>
              <a:t>S</a:t>
            </a:r>
            <a: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t>（原始状态）的信息量用熵来计算：</a:t>
            </a:r>
            <a:br>
              <a:rPr kumimoji="0" lang="zh-CN" altLang="en-US" sz="2000" b="0" i="0" u="none" strike="noStrike" kern="1200" cap="none" spc="0" normalizeH="0" baseline="0" noProof="0" dirty="0">
                <a:ln>
                  <a:noFill/>
                </a:ln>
                <a:solidFill>
                  <a:srgbClr val="362E2B"/>
                </a:solidFill>
                <a:effectLst/>
                <a:uLnTx/>
                <a:uFillTx/>
                <a:latin typeface="Arial" charset="0"/>
                <a:ea typeface="+mn-ea"/>
                <a:cs typeface="Arial" charset="0"/>
              </a:rPr>
            </a:br>
            <a:endParaRPr kumimoji="0" lang="zh-CN" altLang="en-US" sz="2000" b="0" i="0" u="none" strike="noStrike" kern="1200" cap="none" spc="0" normalizeH="0" baseline="0" noProof="0" dirty="0">
              <a:ln>
                <a:noFill/>
              </a:ln>
              <a:solidFill>
                <a:srgbClr val="000000"/>
              </a:solidFill>
              <a:effectLst/>
              <a:uLnTx/>
              <a:uFillTx/>
              <a:latin typeface="Arial" charset="0"/>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2" descr="c:\users\by\appdata\roaming\360se6\User Data\temp\2012072319214689.gif"/>
          <p:cNvPicPr>
            <a:picLocks noChangeAspect="1" noChangeArrowheads="1"/>
          </p:cNvPicPr>
          <p:nvPr/>
        </p:nvPicPr>
        <p:blipFill>
          <a:blip r:embed="rId4" cstate="print"/>
          <a:srcRect/>
          <a:stretch>
            <a:fillRect/>
          </a:stretch>
        </p:blipFill>
        <p:spPr bwMode="auto">
          <a:xfrm>
            <a:off x="-856911" y="763831"/>
            <a:ext cx="7853013" cy="4646553"/>
          </a:xfrm>
          <a:prstGeom prst="rect">
            <a:avLst/>
          </a:prstGeom>
          <a:noFill/>
          <a:ln w="9525">
            <a:noFill/>
            <a:miter lim="800000"/>
            <a:headEnd/>
            <a:tailEnd/>
          </a:ln>
        </p:spPr>
      </p:pic>
      <p:sp>
        <p:nvSpPr>
          <p:cNvPr id="2055" name="标题 1"/>
          <p:cNvSpPr>
            <a:spLocks noGrp="1"/>
          </p:cNvSpPr>
          <p:nvPr>
            <p:ph type="title"/>
          </p:nvPr>
        </p:nvSpPr>
        <p:spPr>
          <a:xfrm>
            <a:off x="34712" y="203941"/>
            <a:ext cx="8229600" cy="614363"/>
          </a:xfrm>
        </p:spPr>
        <p:txBody>
          <a:bodyPr/>
          <a:lstStyle/>
          <a:p>
            <a:r>
              <a:rPr lang="zh-CN" altLang="en-US" sz="2400" dirty="0">
                <a:solidFill>
                  <a:srgbClr val="FF0000"/>
                </a:solidFill>
              </a:rPr>
              <a:t>续上</a:t>
            </a:r>
            <a:r>
              <a:rPr lang="zh-CN" altLang="en-US" sz="2400" dirty="0"/>
              <a:t>：选取</a:t>
            </a:r>
            <a:r>
              <a:rPr lang="en-US" altLang="zh-CN" sz="2400" dirty="0"/>
              <a:t>Outlook</a:t>
            </a:r>
            <a:r>
              <a:rPr lang="zh-CN" altLang="en-US" sz="2400" dirty="0"/>
              <a:t>属性来划分，见下图</a:t>
            </a:r>
          </a:p>
        </p:txBody>
      </p:sp>
      <p:sp>
        <p:nvSpPr>
          <p:cNvPr id="2056" name="内容占位符 2"/>
          <p:cNvSpPr>
            <a:spLocks noGrp="1"/>
          </p:cNvSpPr>
          <p:nvPr>
            <p:ph idx="1"/>
          </p:nvPr>
        </p:nvSpPr>
        <p:spPr>
          <a:xfrm>
            <a:off x="5230113" y="1720307"/>
            <a:ext cx="6709713" cy="4867275"/>
          </a:xfrm>
        </p:spPr>
        <p:txBody>
          <a:bodyPr/>
          <a:lstStyle/>
          <a:p>
            <a:r>
              <a:rPr lang="zh-CN" altLang="en-US" sz="2400" dirty="0"/>
              <a:t>在用</a:t>
            </a:r>
            <a:r>
              <a:rPr lang="en-US" altLang="zh-CN" sz="2400" dirty="0"/>
              <a:t>Outlook</a:t>
            </a:r>
            <a:r>
              <a:rPr lang="zh-CN" altLang="en-US" sz="2400" dirty="0"/>
              <a:t>属性划分后，可以看到数据被分成三份，则各分支的信息（熵）计算如下：</a:t>
            </a:r>
          </a:p>
        </p:txBody>
      </p:sp>
      <p:graphicFrame>
        <p:nvGraphicFramePr>
          <p:cNvPr id="2050" name="Object 3"/>
          <p:cNvGraphicFramePr>
            <a:graphicFrameLocks noChangeAspect="1"/>
          </p:cNvGraphicFramePr>
          <p:nvPr>
            <p:extLst>
              <p:ext uri="{D42A27DB-BD31-4B8C-83A1-F6EECF244321}">
                <p14:modId xmlns:p14="http://schemas.microsoft.com/office/powerpoint/2010/main" val="2149578644"/>
              </p:ext>
            </p:extLst>
          </p:nvPr>
        </p:nvGraphicFramePr>
        <p:xfrm>
          <a:off x="5932488" y="2595563"/>
          <a:ext cx="5910262" cy="658812"/>
        </p:xfrm>
        <a:graphic>
          <a:graphicData uri="http://schemas.openxmlformats.org/presentationml/2006/ole">
            <mc:AlternateContent xmlns:mc="http://schemas.openxmlformats.org/markup-compatibility/2006">
              <mc:Choice xmlns:v="urn:schemas-microsoft-com:vml" Requires="v">
                <p:oleObj spid="_x0000_s537741" name="Equation" r:id="rId5" imgW="2844720" imgH="431640" progId="Equation.DSMT4">
                  <p:embed/>
                </p:oleObj>
              </mc:Choice>
              <mc:Fallback>
                <p:oleObj name="Equation" r:id="rId5" imgW="2844720" imgH="431640" progId="Equation.DSMT4">
                  <p:embed/>
                  <p:pic>
                    <p:nvPicPr>
                      <p:cNvPr id="2050" name="Object 3"/>
                      <p:cNvPicPr>
                        <a:picLocks noChangeAspect="1" noChangeArrowheads="1"/>
                      </p:cNvPicPr>
                      <p:nvPr/>
                    </p:nvPicPr>
                    <p:blipFill>
                      <a:blip r:embed="rId6"/>
                      <a:srcRect/>
                      <a:stretch>
                        <a:fillRect/>
                      </a:stretch>
                    </p:blipFill>
                    <p:spPr bwMode="auto">
                      <a:xfrm>
                        <a:off x="5932488" y="2595563"/>
                        <a:ext cx="5910262" cy="658812"/>
                      </a:xfrm>
                      <a:prstGeom prst="rect">
                        <a:avLst/>
                      </a:prstGeom>
                      <a:noFill/>
                    </p:spPr>
                  </p:pic>
                </p:oleObj>
              </mc:Fallback>
            </mc:AlternateContent>
          </a:graphicData>
        </a:graphic>
      </p:graphicFrame>
      <p:graphicFrame>
        <p:nvGraphicFramePr>
          <p:cNvPr id="2051" name="Object 4"/>
          <p:cNvGraphicFramePr>
            <a:graphicFrameLocks noChangeAspect="1"/>
          </p:cNvGraphicFramePr>
          <p:nvPr>
            <p:extLst>
              <p:ext uri="{D42A27DB-BD31-4B8C-83A1-F6EECF244321}">
                <p14:modId xmlns:p14="http://schemas.microsoft.com/office/powerpoint/2010/main" val="705508335"/>
              </p:ext>
            </p:extLst>
          </p:nvPr>
        </p:nvGraphicFramePr>
        <p:xfrm>
          <a:off x="5921375" y="3344863"/>
          <a:ext cx="5326063" cy="642937"/>
        </p:xfrm>
        <a:graphic>
          <a:graphicData uri="http://schemas.openxmlformats.org/presentationml/2006/ole">
            <mc:AlternateContent xmlns:mc="http://schemas.openxmlformats.org/markup-compatibility/2006">
              <mc:Choice xmlns:v="urn:schemas-microsoft-com:vml" Requires="v">
                <p:oleObj spid="_x0000_s537742" name="Equation" r:id="rId7" imgW="2628720" imgH="431640" progId="Equation.DSMT4">
                  <p:embed/>
                </p:oleObj>
              </mc:Choice>
              <mc:Fallback>
                <p:oleObj name="Equation" r:id="rId7" imgW="2628720" imgH="431640" progId="Equation.DSMT4">
                  <p:embed/>
                  <p:pic>
                    <p:nvPicPr>
                      <p:cNvPr id="2051" name="Object 4"/>
                      <p:cNvPicPr>
                        <a:picLocks noChangeAspect="1" noChangeArrowheads="1"/>
                      </p:cNvPicPr>
                      <p:nvPr/>
                    </p:nvPicPr>
                    <p:blipFill>
                      <a:blip r:embed="rId8"/>
                      <a:srcRect/>
                      <a:stretch>
                        <a:fillRect/>
                      </a:stretch>
                    </p:blipFill>
                    <p:spPr bwMode="auto">
                      <a:xfrm>
                        <a:off x="5921375" y="3344863"/>
                        <a:ext cx="5326063" cy="642937"/>
                      </a:xfrm>
                      <a:prstGeom prst="rect">
                        <a:avLst/>
                      </a:prstGeom>
                      <a:noFill/>
                    </p:spPr>
                  </p:pic>
                </p:oleObj>
              </mc:Fallback>
            </mc:AlternateContent>
          </a:graphicData>
        </a:graphic>
      </p:graphicFrame>
      <p:graphicFrame>
        <p:nvGraphicFramePr>
          <p:cNvPr id="2052" name="Object 5"/>
          <p:cNvGraphicFramePr>
            <a:graphicFrameLocks noChangeAspect="1"/>
          </p:cNvGraphicFramePr>
          <p:nvPr>
            <p:extLst>
              <p:ext uri="{D42A27DB-BD31-4B8C-83A1-F6EECF244321}">
                <p14:modId xmlns:p14="http://schemas.microsoft.com/office/powerpoint/2010/main" val="627127528"/>
              </p:ext>
            </p:extLst>
          </p:nvPr>
        </p:nvGraphicFramePr>
        <p:xfrm>
          <a:off x="5938838" y="4216400"/>
          <a:ext cx="5851525" cy="652463"/>
        </p:xfrm>
        <a:graphic>
          <a:graphicData uri="http://schemas.openxmlformats.org/presentationml/2006/ole">
            <mc:AlternateContent xmlns:mc="http://schemas.openxmlformats.org/markup-compatibility/2006">
              <mc:Choice xmlns:v="urn:schemas-microsoft-com:vml" Requires="v">
                <p:oleObj spid="_x0000_s537743" name="Equation" r:id="rId9" imgW="2844720" imgH="431640" progId="Equation.DSMT4">
                  <p:embed/>
                </p:oleObj>
              </mc:Choice>
              <mc:Fallback>
                <p:oleObj name="Equation" r:id="rId9" imgW="2844720" imgH="431640" progId="Equation.DSMT4">
                  <p:embed/>
                  <p:pic>
                    <p:nvPicPr>
                      <p:cNvPr id="2052" name="Object 5"/>
                      <p:cNvPicPr>
                        <a:picLocks noChangeAspect="1" noChangeArrowheads="1"/>
                      </p:cNvPicPr>
                      <p:nvPr/>
                    </p:nvPicPr>
                    <p:blipFill>
                      <a:blip r:embed="rId10"/>
                      <a:srcRect/>
                      <a:stretch>
                        <a:fillRect/>
                      </a:stretch>
                    </p:blipFill>
                    <p:spPr bwMode="auto">
                      <a:xfrm>
                        <a:off x="5938838" y="4216400"/>
                        <a:ext cx="5851525" cy="652463"/>
                      </a:xfrm>
                      <a:prstGeom prst="rect">
                        <a:avLst/>
                      </a:prstGeom>
                      <a:noFill/>
                    </p:spPr>
                  </p:pic>
                </p:oleObj>
              </mc:Fallback>
            </mc:AlternateContent>
          </a:graphicData>
        </a:graphic>
      </p:graphicFrame>
      <p:graphicFrame>
        <p:nvGraphicFramePr>
          <p:cNvPr id="2053" name="Object 6"/>
          <p:cNvGraphicFramePr>
            <a:graphicFrameLocks noChangeAspect="1"/>
          </p:cNvGraphicFramePr>
          <p:nvPr>
            <p:extLst>
              <p:ext uri="{D42A27DB-BD31-4B8C-83A1-F6EECF244321}">
                <p14:modId xmlns:p14="http://schemas.microsoft.com/office/powerpoint/2010/main" val="3645020902"/>
              </p:ext>
            </p:extLst>
          </p:nvPr>
        </p:nvGraphicFramePr>
        <p:xfrm>
          <a:off x="1984375" y="4995863"/>
          <a:ext cx="9685338" cy="722312"/>
        </p:xfrm>
        <a:graphic>
          <a:graphicData uri="http://schemas.openxmlformats.org/presentationml/2006/ole">
            <mc:AlternateContent xmlns:mc="http://schemas.openxmlformats.org/markup-compatibility/2006">
              <mc:Choice xmlns:v="urn:schemas-microsoft-com:vml" Requires="v">
                <p:oleObj spid="_x0000_s537744" name="Equation" r:id="rId11" imgW="3886200" imgH="393480" progId="Equation.DSMT4">
                  <p:embed/>
                </p:oleObj>
              </mc:Choice>
              <mc:Fallback>
                <p:oleObj name="Equation" r:id="rId11" imgW="3886200" imgH="393480" progId="Equation.DSMT4">
                  <p:embed/>
                  <p:pic>
                    <p:nvPicPr>
                      <p:cNvPr id="2053" name="Object 6"/>
                      <p:cNvPicPr>
                        <a:picLocks noChangeAspect="1" noChangeArrowheads="1"/>
                      </p:cNvPicPr>
                      <p:nvPr/>
                    </p:nvPicPr>
                    <p:blipFill>
                      <a:blip r:embed="rId12"/>
                      <a:srcRect/>
                      <a:stretch>
                        <a:fillRect/>
                      </a:stretch>
                    </p:blipFill>
                    <p:spPr bwMode="auto">
                      <a:xfrm>
                        <a:off x="1984375" y="4995863"/>
                        <a:ext cx="9685338" cy="722312"/>
                      </a:xfrm>
                      <a:prstGeom prst="rect">
                        <a:avLst/>
                      </a:prstGeom>
                      <a:noFill/>
                    </p:spPr>
                  </p:pic>
                </p:oleObj>
              </mc:Fallback>
            </mc:AlternateContent>
          </a:graphicData>
        </a:graphic>
      </p:graphicFrame>
      <p:sp>
        <p:nvSpPr>
          <p:cNvPr id="10" name="灯片编号占位符 9"/>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31E287EE-1289-4991-82CE-EFE584F53F4F}" type="slidenum">
              <a:rPr kumimoji="0" lang="en-US" altLang="zh-CN" sz="2000" b="1" i="0" u="none" strike="noStrike" kern="1200" cap="none" spc="0" normalizeH="0" baseline="0" noProof="0" smtClean="0">
                <a:ln>
                  <a:noFill/>
                </a:ln>
                <a:solidFill>
                  <a:srgbClr val="7030A0"/>
                </a:solidFill>
                <a:effectLst/>
                <a:uLnTx/>
                <a:uFillTx/>
                <a:latin typeface="Times New Roman" pitchFamily="18" charset="0"/>
                <a:ea typeface="宋体" charset="-122"/>
                <a:cs typeface="Times New Roman" pitchFamily="18" charset="0"/>
              </a:rPr>
              <a:pPr marL="0" marR="0" lvl="0" indent="0" algn="ctr" defTabSz="914400" rtl="0" eaLnBrk="1" fontAlgn="base" latinLnBrk="0" hangingPunct="1">
                <a:lnSpc>
                  <a:spcPct val="100000"/>
                </a:lnSpc>
                <a:spcBef>
                  <a:spcPct val="0"/>
                </a:spcBef>
                <a:spcAft>
                  <a:spcPct val="0"/>
                </a:spcAft>
                <a:buClrTx/>
                <a:buSzTx/>
                <a:buFontTx/>
                <a:buNone/>
                <a:tabLst/>
                <a:defRPr/>
              </a:pPr>
              <a:t>33</a:t>
            </a:fld>
            <a:endParaRPr kumimoji="0" lang="en-US" altLang="zh-CN" sz="2000" b="1" i="0" u="none" strike="noStrike" kern="1200" cap="none" spc="0" normalizeH="0" baseline="0" noProof="0" dirty="0">
              <a:ln>
                <a:noFill/>
              </a:ln>
              <a:solidFill>
                <a:srgbClr val="7030A0"/>
              </a:solidFill>
              <a:effectLst/>
              <a:uLnTx/>
              <a:uFillTx/>
              <a:latin typeface="Times New Roman" pitchFamily="18" charset="0"/>
              <a:ea typeface="宋体" charset="-122"/>
              <a:cs typeface="Times New Roman" pitchFamily="18" charset="0"/>
            </a:endParaRPr>
          </a:p>
        </p:txBody>
      </p:sp>
      <p:sp>
        <p:nvSpPr>
          <p:cNvPr id="11" name="矩形 10"/>
          <p:cNvSpPr/>
          <p:nvPr/>
        </p:nvSpPr>
        <p:spPr>
          <a:xfrm>
            <a:off x="10632510" y="6429396"/>
            <a:ext cx="671979" cy="369332"/>
          </a:xfrm>
          <a:prstGeom prst="rect">
            <a:avLst/>
          </a:prstGeom>
          <a:ln>
            <a:solidFill>
              <a:srgbClr val="FF0000"/>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Arial" charset="0"/>
                <a:ea typeface="+mn-ea"/>
                <a:cs typeface="+mn-cs"/>
                <a:hlinkClick r:id="rId13" action="ppaction://hlinksldjump"/>
              </a:rPr>
              <a:t>back</a:t>
            </a:r>
            <a:endParaRPr kumimoji="0" lang="zh-CN" altLang="en-US" sz="1800" b="0" i="0" u="none" strike="noStrike" kern="1200" cap="none" spc="0" normalizeH="0" baseline="0" noProof="0" dirty="0">
              <a:ln>
                <a:noFill/>
              </a:ln>
              <a:solidFill>
                <a:srgbClr val="FF0000"/>
              </a:solidFill>
              <a:effectLst/>
              <a:uLnTx/>
              <a:uFillTx/>
              <a:latin typeface="Arial" charset="0"/>
              <a:ea typeface="+mn-ea"/>
              <a:cs typeface="+mn-cs"/>
            </a:endParaRPr>
          </a:p>
        </p:txBody>
      </p:sp>
      <p:sp>
        <p:nvSpPr>
          <p:cNvPr id="12" name="矩形 11"/>
          <p:cNvSpPr/>
          <p:nvPr/>
        </p:nvSpPr>
        <p:spPr>
          <a:xfrm>
            <a:off x="1416438" y="4696643"/>
            <a:ext cx="4402167" cy="400110"/>
          </a:xfrm>
          <a:prstGeom prst="rect">
            <a:avLst/>
          </a:prstGeom>
        </p:spPr>
        <p:txBody>
          <a:bodyPr wrap="none">
            <a:spAutoFit/>
          </a:bodyPr>
          <a:lstStyle/>
          <a:p>
            <a:r>
              <a:rPr lang="zh-CN" altLang="en-US" sz="2000" dirty="0">
                <a:solidFill>
                  <a:srgbClr val="000000"/>
                </a:solidFill>
              </a:rPr>
              <a:t>属性</a:t>
            </a:r>
            <a:r>
              <a:rPr lang="en-US" altLang="zh-CN" sz="2000" dirty="0">
                <a:solidFill>
                  <a:srgbClr val="000000"/>
                </a:solidFill>
              </a:rPr>
              <a:t>Outlook</a:t>
            </a:r>
            <a:r>
              <a:rPr lang="zh-CN" altLang="en-US" sz="2000" dirty="0">
                <a:solidFill>
                  <a:srgbClr val="000000"/>
                </a:solidFill>
              </a:rPr>
              <a:t>做划后的平均信息期望：</a:t>
            </a:r>
            <a:endParaRPr lang="en-US" altLang="zh-CN" sz="2000" dirty="0">
              <a:solidFill>
                <a:srgbClr val="000000"/>
              </a:solidFill>
            </a:endParaRPr>
          </a:p>
        </p:txBody>
      </p:sp>
      <p:sp>
        <p:nvSpPr>
          <p:cNvPr id="13" name="矩形 12"/>
          <p:cNvSpPr/>
          <p:nvPr/>
        </p:nvSpPr>
        <p:spPr>
          <a:xfrm>
            <a:off x="743977" y="5844650"/>
            <a:ext cx="10560512" cy="40011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err="1">
                <a:ln>
                  <a:noFill/>
                </a:ln>
                <a:solidFill>
                  <a:srgbClr val="000000"/>
                </a:solidFill>
                <a:effectLst/>
                <a:uLnTx/>
                <a:uFillTx/>
                <a:latin typeface="Arial" charset="0"/>
                <a:ea typeface="+mn-ea"/>
                <a:cs typeface="+mn-cs"/>
              </a:rPr>
              <a:t>InfoGain</a:t>
            </a:r>
            <a:r>
              <a:rPr kumimoji="0" lang="en-US" altLang="zh-CN" sz="2000" b="0" i="0" u="none" strike="noStrike" kern="1200" cap="none" spc="0" normalizeH="0" baseline="0" noProof="0" dirty="0">
                <a:ln>
                  <a:noFill/>
                </a:ln>
                <a:solidFill>
                  <a:srgbClr val="000000"/>
                </a:solidFill>
                <a:effectLst/>
                <a:uLnTx/>
                <a:uFillTx/>
                <a:latin typeface="Arial" charset="0"/>
                <a:ea typeface="+mn-ea"/>
                <a:cs typeface="+mn-cs"/>
              </a:rPr>
              <a:t> (S, </a:t>
            </a:r>
            <a:r>
              <a:rPr kumimoji="0" lang="en-US" altLang="zh-CN" sz="2000" b="1" i="0" u="none" strike="noStrike" kern="1200" cap="none" spc="0" normalizeH="0" baseline="0" noProof="0" dirty="0">
                <a:ln>
                  <a:noFill/>
                </a:ln>
                <a:solidFill>
                  <a:srgbClr val="000000"/>
                </a:solidFill>
                <a:effectLst/>
                <a:uLnTx/>
                <a:uFillTx/>
                <a:latin typeface="Arial" charset="0"/>
                <a:ea typeface="+mn-ea"/>
                <a:cs typeface="+mn-cs"/>
              </a:rPr>
              <a:t>Outlook</a:t>
            </a:r>
            <a:r>
              <a:rPr kumimoji="0" lang="en-US" altLang="zh-CN" sz="2000" b="0" i="0" u="none" strike="noStrike" kern="1200" cap="none" spc="0" normalizeH="0" baseline="0" noProof="0" dirty="0">
                <a:ln>
                  <a:noFill/>
                </a:ln>
                <a:solidFill>
                  <a:srgbClr val="000000"/>
                </a:solidFill>
                <a:effectLst/>
                <a:uLnTx/>
                <a:uFillTx/>
                <a:latin typeface="Arial" charset="0"/>
                <a:ea typeface="+mn-ea"/>
                <a:cs typeface="+mn-cs"/>
              </a:rPr>
              <a:t>)=0.940-(5/14)*0.971-(4/14)*0- (5/14)*0.971 = 0.940-0.693 =0.247</a:t>
            </a:r>
          </a:p>
        </p:txBody>
      </p:sp>
      <p:graphicFrame>
        <p:nvGraphicFramePr>
          <p:cNvPr id="17" name="Object 2"/>
          <p:cNvGraphicFramePr>
            <a:graphicFrameLocks noChangeAspect="1"/>
          </p:cNvGraphicFramePr>
          <p:nvPr>
            <p:extLst>
              <p:ext uri="{D42A27DB-BD31-4B8C-83A1-F6EECF244321}">
                <p14:modId xmlns:p14="http://schemas.microsoft.com/office/powerpoint/2010/main" val="2874936319"/>
              </p:ext>
            </p:extLst>
          </p:nvPr>
        </p:nvGraphicFramePr>
        <p:xfrm>
          <a:off x="5802199" y="82029"/>
          <a:ext cx="4568053" cy="1516366"/>
        </p:xfrm>
        <a:graphic>
          <a:graphicData uri="http://schemas.openxmlformats.org/presentationml/2006/ole">
            <mc:AlternateContent xmlns:mc="http://schemas.openxmlformats.org/markup-compatibility/2006">
              <mc:Choice xmlns:v="urn:schemas-microsoft-com:vml" Requires="v">
                <p:oleObj spid="_x0000_s537745" name="Equation" r:id="rId14" imgW="3060700" imgH="1016000" progId="">
                  <p:embed/>
                </p:oleObj>
              </mc:Choice>
              <mc:Fallback>
                <p:oleObj name="Equation" r:id="rId14" imgW="3060700" imgH="1016000" progId="">
                  <p:embed/>
                  <p:pic>
                    <p:nvPicPr>
                      <p:cNvPr id="32" name="Object 2"/>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02199" y="82029"/>
                        <a:ext cx="4568053" cy="1516366"/>
                      </a:xfrm>
                      <a:prstGeom prst="rect">
                        <a:avLst/>
                      </a:prstGeom>
                      <a:noFill/>
                    </p:spPr>
                  </p:pic>
                </p:oleObj>
              </mc:Fallback>
            </mc:AlternateContent>
          </a:graphicData>
        </a:graphic>
      </p:graphicFrame>
    </p:spTree>
    <p:extLst>
      <p:ext uri="{BB962C8B-B14F-4D97-AF65-F5344CB8AC3E}">
        <p14:creationId xmlns:p14="http://schemas.microsoft.com/office/powerpoint/2010/main" val="632858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矩形 3"/>
          <p:cNvSpPr>
            <a:spLocks noChangeArrowheads="1"/>
          </p:cNvSpPr>
          <p:nvPr/>
        </p:nvSpPr>
        <p:spPr bwMode="auto">
          <a:xfrm>
            <a:off x="483912" y="930250"/>
            <a:ext cx="7759180" cy="1200150"/>
          </a:xfrm>
          <a:prstGeom prst="rect">
            <a:avLst/>
          </a:prstGeom>
          <a:noFill/>
          <a:ln w="9525">
            <a:noFill/>
            <a:miter lim="800000"/>
            <a:headEnd/>
            <a:tailEnd/>
          </a:ln>
        </p:spPr>
        <p:txBody>
          <a:bodyPr wrap="square">
            <a:spAutoFit/>
          </a:bodyPr>
          <a:lstStyle/>
          <a:p>
            <a:pPr>
              <a:defRPr/>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计算</a:t>
            </a:r>
            <a:r>
              <a:rPr lang="en-US" altLang="zh-CN" sz="2400" i="1" dirty="0">
                <a:latin typeface="Times New Roman" pitchFamily="18" charset="0"/>
                <a:cs typeface="Times New Roman" pitchFamily="18" charset="0"/>
              </a:rPr>
              <a:t>Outlook</a:t>
            </a:r>
            <a:r>
              <a:rPr lang="zh-CN" altLang="en-US" sz="2400" dirty="0">
                <a:latin typeface="Times New Roman" pitchFamily="18" charset="0"/>
                <a:cs typeface="Times New Roman" pitchFamily="18" charset="0"/>
              </a:rPr>
              <a:t>的</a:t>
            </a:r>
            <a:r>
              <a:rPr lang="en-US" altLang="zh-CN" sz="2400" i="1" dirty="0" err="1">
                <a:latin typeface="Times New Roman" pitchFamily="18" charset="0"/>
                <a:cs typeface="Times New Roman" pitchFamily="18" charset="0"/>
              </a:rPr>
              <a:t>GainRatio</a:t>
            </a:r>
            <a:endParaRPr lang="en-US" altLang="zh-CN" sz="2400" i="1" dirty="0">
              <a:latin typeface="Times New Roman" pitchFamily="18" charset="0"/>
              <a:cs typeface="Times New Roman" pitchFamily="18" charset="0"/>
            </a:endParaRPr>
          </a:p>
          <a:p>
            <a:pPr>
              <a:defRPr/>
            </a:pPr>
            <a:r>
              <a:rPr lang="en-US" altLang="zh-CN" sz="2400" i="1" dirty="0">
                <a:latin typeface="Times New Roman" pitchFamily="18" charset="0"/>
                <a:cs typeface="Times New Roman" pitchFamily="18" charset="0"/>
              </a:rPr>
              <a:t>   Sunny</a:t>
            </a:r>
            <a:r>
              <a:rPr lang="en-US" altLang="zh-CN" sz="2400" dirty="0">
                <a:latin typeface="Times New Roman" pitchFamily="18" charset="0"/>
                <a:cs typeface="Times New Roman" pitchFamily="18" charset="0"/>
              </a:rPr>
              <a:t>:5</a:t>
            </a:r>
            <a:r>
              <a:rPr lang="zh-CN" altLang="en-US" sz="2400" dirty="0">
                <a:latin typeface="Times New Roman" pitchFamily="18" charset="0"/>
                <a:cs typeface="Times New Roman" pitchFamily="18" charset="0"/>
              </a:rPr>
              <a:t>，</a:t>
            </a:r>
            <a:r>
              <a:rPr lang="en-US" altLang="zh-CN" sz="2400" i="1" dirty="0">
                <a:latin typeface="Times New Roman" pitchFamily="18" charset="0"/>
                <a:cs typeface="Times New Roman" pitchFamily="18" charset="0"/>
              </a:rPr>
              <a:t>Overcast</a:t>
            </a:r>
            <a:r>
              <a:rPr lang="en-US" altLang="zh-CN" sz="2400" dirty="0">
                <a:latin typeface="Times New Roman" pitchFamily="18" charset="0"/>
                <a:cs typeface="Times New Roman" pitchFamily="18" charset="0"/>
              </a:rPr>
              <a:t>:4</a:t>
            </a:r>
            <a:r>
              <a:rPr lang="zh-CN" altLang="en-US" sz="2400" dirty="0">
                <a:latin typeface="Times New Roman" pitchFamily="18" charset="0"/>
                <a:cs typeface="Times New Roman" pitchFamily="18" charset="0"/>
              </a:rPr>
              <a:t> ， </a:t>
            </a:r>
            <a:r>
              <a:rPr lang="en-US" altLang="zh-CN" sz="2400" i="1" dirty="0">
                <a:latin typeface="Times New Roman" pitchFamily="18" charset="0"/>
                <a:cs typeface="Times New Roman" pitchFamily="18" charset="0"/>
              </a:rPr>
              <a:t>Rain</a:t>
            </a:r>
            <a:r>
              <a:rPr lang="en-US" altLang="zh-CN" sz="2400" dirty="0">
                <a:latin typeface="Times New Roman" pitchFamily="18" charset="0"/>
                <a:cs typeface="Times New Roman" pitchFamily="18" charset="0"/>
              </a:rPr>
              <a:t>:5</a:t>
            </a:r>
          </a:p>
          <a:p>
            <a:pPr>
              <a:defRPr/>
            </a:pPr>
            <a:endParaRPr lang="zh-CN" altLang="en-US" sz="2400" dirty="0">
              <a:latin typeface="Times New Roman" pitchFamily="18" charset="0"/>
              <a:cs typeface="Times New Roman" pitchFamily="18" charset="0"/>
            </a:endParaRPr>
          </a:p>
        </p:txBody>
      </p:sp>
      <p:graphicFrame>
        <p:nvGraphicFramePr>
          <p:cNvPr id="4098" name="Object 3"/>
          <p:cNvGraphicFramePr>
            <a:graphicFrameLocks noChangeAspect="1"/>
          </p:cNvGraphicFramePr>
          <p:nvPr>
            <p:extLst>
              <p:ext uri="{D42A27DB-BD31-4B8C-83A1-F6EECF244321}">
                <p14:modId xmlns:p14="http://schemas.microsoft.com/office/powerpoint/2010/main" val="3345136062"/>
              </p:ext>
            </p:extLst>
          </p:nvPr>
        </p:nvGraphicFramePr>
        <p:xfrm>
          <a:off x="2938746" y="1565165"/>
          <a:ext cx="6002337" cy="1673225"/>
        </p:xfrm>
        <a:graphic>
          <a:graphicData uri="http://schemas.openxmlformats.org/presentationml/2006/ole">
            <mc:AlternateContent xmlns:mc="http://schemas.openxmlformats.org/markup-compatibility/2006">
              <mc:Choice xmlns:v="urn:schemas-microsoft-com:vml" Requires="v">
                <p:oleObj spid="_x0000_s415848" name="Equation" r:id="rId4" imgW="3962160" imgH="1104840" progId="Equation.DSMT4">
                  <p:embed/>
                </p:oleObj>
              </mc:Choice>
              <mc:Fallback>
                <p:oleObj name="Equation" r:id="rId4" imgW="3962160" imgH="1104840" progId="Equation.DSMT4">
                  <p:embed/>
                  <p:pic>
                    <p:nvPicPr>
                      <p:cNvPr id="0" name="Picture 5"/>
                      <p:cNvPicPr>
                        <a:picLocks noChangeAspect="1" noChangeArrowheads="1"/>
                      </p:cNvPicPr>
                      <p:nvPr/>
                    </p:nvPicPr>
                    <p:blipFill>
                      <a:blip r:embed="rId5"/>
                      <a:srcRect/>
                      <a:stretch>
                        <a:fillRect/>
                      </a:stretch>
                    </p:blipFill>
                    <p:spPr bwMode="auto">
                      <a:xfrm>
                        <a:off x="2938746" y="1565165"/>
                        <a:ext cx="6002337"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0" name="TextBox 6"/>
          <p:cNvSpPr txBox="1">
            <a:spLocks noChangeArrowheads="1"/>
          </p:cNvSpPr>
          <p:nvPr/>
        </p:nvSpPr>
        <p:spPr bwMode="auto">
          <a:xfrm>
            <a:off x="9808021" y="2741743"/>
            <a:ext cx="1851789" cy="369332"/>
          </a:xfrm>
          <a:prstGeom prst="rect">
            <a:avLst/>
          </a:prstGeom>
          <a:noFill/>
          <a:ln w="9525">
            <a:noFill/>
            <a:miter lim="800000"/>
            <a:headEnd/>
            <a:tailEnd/>
          </a:ln>
        </p:spPr>
        <p:txBody>
          <a:bodyPr wrap="none">
            <a:spAutoFit/>
          </a:bodyPr>
          <a:lstStyle/>
          <a:p>
            <a:r>
              <a:rPr lang="zh-CN" altLang="en-US" dirty="0">
                <a:solidFill>
                  <a:srgbClr val="FF0000"/>
                </a:solidFill>
                <a:latin typeface="微软雅黑" pitchFamily="34" charset="-122"/>
                <a:ea typeface="微软雅黑" pitchFamily="34" charset="-122"/>
              </a:rPr>
              <a:t>属性</a:t>
            </a:r>
            <a:r>
              <a:rPr lang="en-US" altLang="zh-CN" i="1" dirty="0">
                <a:solidFill>
                  <a:srgbClr val="FF0000"/>
                </a:solidFill>
                <a:latin typeface="Times New Roman" pitchFamily="18" charset="0"/>
                <a:ea typeface="微软雅黑" pitchFamily="34" charset="-122"/>
                <a:cs typeface="Times New Roman" pitchFamily="18" charset="0"/>
              </a:rPr>
              <a:t>Outlook</a:t>
            </a:r>
            <a:r>
              <a:rPr lang="zh-CN" altLang="en-US" dirty="0">
                <a:solidFill>
                  <a:srgbClr val="FF0000"/>
                </a:solidFill>
                <a:latin typeface="微软雅黑" pitchFamily="34" charset="-122"/>
                <a:ea typeface="微软雅黑" pitchFamily="34" charset="-122"/>
              </a:rPr>
              <a:t>的熵</a:t>
            </a:r>
          </a:p>
        </p:txBody>
      </p:sp>
      <p:pic>
        <p:nvPicPr>
          <p:cNvPr id="4102" name="Picture 5"/>
          <p:cNvPicPr>
            <a:picLocks noChangeAspect="1" noChangeArrowheads="1"/>
          </p:cNvPicPr>
          <p:nvPr/>
        </p:nvPicPr>
        <p:blipFill>
          <a:blip r:embed="rId6" cstate="print"/>
          <a:srcRect/>
          <a:stretch>
            <a:fillRect/>
          </a:stretch>
        </p:blipFill>
        <p:spPr bwMode="auto">
          <a:xfrm>
            <a:off x="9386889" y="2040584"/>
            <a:ext cx="638175" cy="590550"/>
          </a:xfrm>
          <a:prstGeom prst="rect">
            <a:avLst/>
          </a:prstGeom>
          <a:noFill/>
          <a:ln w="9525">
            <a:noFill/>
            <a:miter lim="800000"/>
            <a:headEnd/>
            <a:tailEnd/>
          </a:ln>
        </p:spPr>
      </p:pic>
      <p:sp>
        <p:nvSpPr>
          <p:cNvPr id="7175" name="矩形 11"/>
          <p:cNvSpPr>
            <a:spLocks noChangeArrowheads="1"/>
          </p:cNvSpPr>
          <p:nvPr/>
        </p:nvSpPr>
        <p:spPr bwMode="auto">
          <a:xfrm>
            <a:off x="475206" y="3853699"/>
            <a:ext cx="8143875" cy="1569660"/>
          </a:xfrm>
          <a:prstGeom prst="rect">
            <a:avLst/>
          </a:prstGeom>
          <a:solidFill>
            <a:schemeClr val="bg1"/>
          </a:solidFill>
          <a:ln w="9525">
            <a:noFill/>
            <a:miter lim="800000"/>
            <a:headEnd/>
            <a:tailEnd/>
          </a:ln>
        </p:spPr>
        <p:txBody>
          <a:bodyPr>
            <a:spAutoFit/>
          </a:bodyPr>
          <a:lstStyle/>
          <a:p>
            <a:pPr>
              <a:defRPr/>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计算</a:t>
            </a:r>
            <a:r>
              <a:rPr lang="en-US" altLang="zh-CN" sz="2400" i="1" dirty="0">
                <a:latin typeface="Times New Roman" pitchFamily="18" charset="0"/>
                <a:cs typeface="Times New Roman" pitchFamily="18" charset="0"/>
              </a:rPr>
              <a:t>Temperature</a:t>
            </a:r>
            <a:r>
              <a:rPr lang="zh-CN" altLang="en-US" sz="2400" dirty="0">
                <a:latin typeface="Times New Roman" pitchFamily="18" charset="0"/>
                <a:cs typeface="Times New Roman" pitchFamily="18" charset="0"/>
              </a:rPr>
              <a:t>的</a:t>
            </a:r>
            <a:r>
              <a:rPr lang="en-US" altLang="zh-CN" sz="2400" i="1" dirty="0" err="1">
                <a:latin typeface="Times New Roman" pitchFamily="18" charset="0"/>
                <a:cs typeface="Times New Roman" pitchFamily="18" charset="0"/>
              </a:rPr>
              <a:t>GainRatio</a:t>
            </a:r>
            <a:endParaRPr lang="en-US" altLang="zh-CN" sz="2400" i="1" dirty="0">
              <a:latin typeface="Times New Roman" pitchFamily="18" charset="0"/>
              <a:cs typeface="Times New Roman" pitchFamily="18" charset="0"/>
            </a:endParaRPr>
          </a:p>
          <a:p>
            <a:pPr>
              <a:defRPr/>
            </a:pPr>
            <a:endParaRPr lang="en-US" altLang="zh-CN" sz="2400" i="1" dirty="0">
              <a:latin typeface="Times New Roman" pitchFamily="18" charset="0"/>
              <a:cs typeface="Times New Roman" pitchFamily="18" charset="0"/>
            </a:endParaRPr>
          </a:p>
          <a:p>
            <a:pPr>
              <a:defRPr/>
            </a:pPr>
            <a:endParaRPr lang="en-US" altLang="zh-CN" sz="2400" i="1" dirty="0">
              <a:latin typeface="Times New Roman" pitchFamily="18" charset="0"/>
              <a:cs typeface="Times New Roman" pitchFamily="18" charset="0"/>
            </a:endParaRPr>
          </a:p>
          <a:p>
            <a:pPr>
              <a:defRPr/>
            </a:pPr>
            <a:endParaRPr lang="zh-CN" altLang="en-US" sz="2400" i="1" dirty="0">
              <a:latin typeface="Times New Roman" pitchFamily="18" charset="0"/>
              <a:cs typeface="Times New Roman" pitchFamily="18" charset="0"/>
            </a:endParaRPr>
          </a:p>
        </p:txBody>
      </p:sp>
      <p:sp>
        <p:nvSpPr>
          <p:cNvPr id="11" name="Text Box 7"/>
          <p:cNvSpPr txBox="1">
            <a:spLocks noChangeArrowheads="1"/>
          </p:cNvSpPr>
          <p:nvPr/>
        </p:nvSpPr>
        <p:spPr bwMode="auto">
          <a:xfrm>
            <a:off x="4706938" y="198421"/>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sp>
        <p:nvSpPr>
          <p:cNvPr id="13" name="矩形 12">
            <a:hlinkClick r:id="rId7" action="ppaction://hlinksldjump"/>
          </p:cNvPr>
          <p:cNvSpPr/>
          <p:nvPr/>
        </p:nvSpPr>
        <p:spPr>
          <a:xfrm>
            <a:off x="8737532" y="4012396"/>
            <a:ext cx="1287532" cy="369332"/>
          </a:xfrm>
          <a:prstGeom prst="rect">
            <a:avLst/>
          </a:prstGeom>
          <a:ln>
            <a:solidFill>
              <a:srgbClr val="FF0000"/>
            </a:solidFill>
          </a:ln>
        </p:spPr>
        <p:txBody>
          <a:bodyPr wrap="none">
            <a:spAutoFit/>
          </a:bodyPr>
          <a:lstStyle/>
          <a:p>
            <a:r>
              <a:rPr lang="en-US" altLang="zh-CN" dirty="0"/>
              <a:t>0.94-0.693</a:t>
            </a:r>
            <a:endParaRPr lang="zh-CN" altLang="en-US" dirty="0"/>
          </a:p>
        </p:txBody>
      </p:sp>
      <p:cxnSp>
        <p:nvCxnSpPr>
          <p:cNvPr id="15" name="直接箭头连接符 14"/>
          <p:cNvCxnSpPr/>
          <p:nvPr/>
        </p:nvCxnSpPr>
        <p:spPr>
          <a:xfrm flipV="1">
            <a:off x="9220380" y="3842340"/>
            <a:ext cx="0" cy="1489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415748" name="Picture 4"/>
          <p:cNvPicPr>
            <a:picLocks noChangeAspect="1" noChangeArrowheads="1"/>
          </p:cNvPicPr>
          <p:nvPr/>
        </p:nvPicPr>
        <p:blipFill>
          <a:blip r:embed="rId8" cstate="print"/>
          <a:srcRect/>
          <a:stretch>
            <a:fillRect/>
          </a:stretch>
        </p:blipFill>
        <p:spPr bwMode="auto">
          <a:xfrm>
            <a:off x="1676442" y="4430607"/>
            <a:ext cx="7704856" cy="746211"/>
          </a:xfrm>
          <a:prstGeom prst="rect">
            <a:avLst/>
          </a:prstGeom>
          <a:noFill/>
          <a:ln w="9525">
            <a:solidFill>
              <a:schemeClr val="accent2">
                <a:lumMod val="75000"/>
              </a:schemeClr>
            </a:solidFill>
            <a:miter lim="800000"/>
            <a:headEnd/>
            <a:tailEnd/>
          </a:ln>
        </p:spPr>
      </p:pic>
      <p:sp>
        <p:nvSpPr>
          <p:cNvPr id="2" name="矩形 1"/>
          <p:cNvSpPr/>
          <p:nvPr/>
        </p:nvSpPr>
        <p:spPr>
          <a:xfrm>
            <a:off x="7044958" y="6323508"/>
            <a:ext cx="2723823"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dirty="0"/>
              <a:t>对连续属性的离散化处理</a:t>
            </a:r>
          </a:p>
        </p:txBody>
      </p:sp>
      <mc:AlternateContent xmlns:mc="http://schemas.openxmlformats.org/markup-compatibility/2006" xmlns:a14="http://schemas.microsoft.com/office/drawing/2010/main">
        <mc:Choice Requires="a14">
          <p:sp>
            <p:nvSpPr>
              <p:cNvPr id="7" name="矩形 6"/>
              <p:cNvSpPr/>
              <p:nvPr/>
            </p:nvSpPr>
            <p:spPr>
              <a:xfrm>
                <a:off x="1159353" y="3467423"/>
                <a:ext cx="10441160"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000" i="1" smtClean="0">
                              <a:latin typeface="Cambria Math" panose="02040503050406030204" pitchFamily="18" charset="0"/>
                            </a:rPr>
                          </m:ctrlPr>
                        </m:dPr>
                        <m:e>
                          <m:r>
                            <a:rPr lang="zh-CN" altLang="en-US" sz="2000" i="1">
                              <a:latin typeface="Cambria Math" panose="02040503050406030204" pitchFamily="18" charset="0"/>
                            </a:rPr>
                            <m:t>𝐺𝑎𝑖𝑛𝑅𝑎𝑡𝑖𝑜</m:t>
                          </m:r>
                          <m:r>
                            <a:rPr lang="zh-CN" altLang="en-US" sz="2000">
                              <a:latin typeface="Cambria Math" panose="02040503050406030204" pitchFamily="18" charset="0"/>
                            </a:rPr>
                            <m:t>=</m:t>
                          </m:r>
                          <m:r>
                            <a:rPr lang="zh-CN" altLang="en-US" sz="2000" i="1">
                              <a:latin typeface="Cambria Math" panose="02040503050406030204" pitchFamily="18" charset="0"/>
                            </a:rPr>
                            <m:t>𝐺𝑎𝑖𝑛</m:t>
                          </m:r>
                          <m:r>
                            <a:rPr lang="zh-CN" altLang="en-US" sz="2000">
                              <a:latin typeface="Cambria Math" panose="02040503050406030204" pitchFamily="18" charset="0"/>
                            </a:rPr>
                            <m:t>(</m:t>
                          </m:r>
                          <m:r>
                            <a:rPr lang="zh-CN" altLang="en-US" sz="2000" i="1">
                              <a:latin typeface="Cambria Math" panose="02040503050406030204" pitchFamily="18" charset="0"/>
                            </a:rPr>
                            <m:t>𝑆</m:t>
                          </m:r>
                          <m:r>
                            <a:rPr lang="zh-CN" altLang="en-US" sz="2000">
                              <a:latin typeface="Cambria Math" panose="02040503050406030204" pitchFamily="18" charset="0"/>
                            </a:rPr>
                            <m:t>,</m:t>
                          </m:r>
                          <m:r>
                            <a:rPr lang="zh-CN" altLang="en-US" sz="2000" i="1">
                              <a:latin typeface="Cambria Math" panose="02040503050406030204" pitchFamily="18" charset="0"/>
                            </a:rPr>
                            <m:t>𝑂𝑢𝑡𝑙𝑜𝑜𝑘</m:t>
                          </m:r>
                          <m:f>
                            <m:fPr>
                              <m:type m:val="lin"/>
                              <m:ctrlPr>
                                <a:rPr lang="zh-CN" altLang="en-US" sz="2000" i="1">
                                  <a:latin typeface="Cambria Math" panose="02040503050406030204" pitchFamily="18" charset="0"/>
                                </a:rPr>
                              </m:ctrlPr>
                            </m:fPr>
                            <m:num>
                              <m:r>
                                <a:rPr lang="zh-CN" altLang="en-US" sz="2000">
                                  <a:latin typeface="Cambria Math" panose="02040503050406030204" pitchFamily="18" charset="0"/>
                                </a:rPr>
                                <m:t>)</m:t>
                              </m:r>
                              <m:r>
                                <a:rPr lang="en-US" altLang="zh-CN" sz="2000" b="0" i="1" smtClean="0">
                                  <a:latin typeface="Cambria Math" panose="02040503050406030204" pitchFamily="18" charset="0"/>
                                </a:rPr>
                                <m:t> </m:t>
                              </m:r>
                            </m:num>
                            <m:den>
                              <m:r>
                                <a:rPr lang="en-US" altLang="zh-CN" sz="2000" b="0" i="1" smtClean="0">
                                  <a:latin typeface="Cambria Math" panose="02040503050406030204" pitchFamily="18" charset="0"/>
                                </a:rPr>
                                <m:t> </m:t>
                              </m:r>
                              <m:r>
                                <a:rPr lang="zh-CN" altLang="en-US" sz="2000" i="1">
                                  <a:latin typeface="Cambria Math" panose="02040503050406030204" pitchFamily="18" charset="0"/>
                                </a:rPr>
                                <m:t>𝑆</m:t>
                              </m:r>
                            </m:den>
                          </m:f>
                          <m:r>
                            <a:rPr lang="zh-CN" altLang="en-US" sz="2000" i="1">
                              <a:latin typeface="Cambria Math" panose="02040503050406030204" pitchFamily="18" charset="0"/>
                            </a:rPr>
                            <m:t>𝑝𝑙𝑖𝑡𝐼𝑛𝑓𝑜𝑟𝑚𝑎𝑡𝑖𝑜𝑛</m:t>
                          </m:r>
                          <m:r>
                            <a:rPr lang="zh-CN" altLang="en-US" sz="2000">
                              <a:latin typeface="Cambria Math" panose="02040503050406030204" pitchFamily="18" charset="0"/>
                            </a:rPr>
                            <m:t>(</m:t>
                          </m:r>
                          <m:r>
                            <a:rPr lang="zh-CN" altLang="en-US" sz="2000" i="1">
                              <a:latin typeface="Cambria Math" panose="02040503050406030204" pitchFamily="18" charset="0"/>
                            </a:rPr>
                            <m:t>𝑆</m:t>
                          </m:r>
                          <m:r>
                            <a:rPr lang="zh-CN" altLang="en-US" sz="2000">
                              <a:latin typeface="Cambria Math" panose="02040503050406030204" pitchFamily="18" charset="0"/>
                            </a:rPr>
                            <m:t>,</m:t>
                          </m:r>
                          <m:r>
                            <a:rPr lang="zh-CN" altLang="en-US" sz="2000" i="1">
                              <a:latin typeface="Cambria Math" panose="02040503050406030204" pitchFamily="18" charset="0"/>
                            </a:rPr>
                            <m:t>𝑂𝑢𝑡𝑙𝑜𝑜𝑘</m:t>
                          </m:r>
                        </m:e>
                      </m:d>
                      <m:r>
                        <a:rPr lang="zh-CN" altLang="en-US" sz="2000">
                          <a:latin typeface="Cambria Math" panose="02040503050406030204" pitchFamily="18" charset="0"/>
                        </a:rPr>
                        <m:t>=</m:t>
                      </m:r>
                      <m:f>
                        <m:fPr>
                          <m:type m:val="lin"/>
                          <m:ctrlPr>
                            <a:rPr lang="zh-CN" altLang="en-US" sz="2000" i="1">
                              <a:latin typeface="Cambria Math" panose="02040503050406030204" pitchFamily="18" charset="0"/>
                            </a:rPr>
                          </m:ctrlPr>
                        </m:fPr>
                        <m:num>
                          <m:r>
                            <a:rPr lang="zh-CN" altLang="en-US" sz="2000">
                              <a:latin typeface="Cambria Math" panose="02040503050406030204" pitchFamily="18" charset="0"/>
                            </a:rPr>
                            <m:t>0.247</m:t>
                          </m:r>
                        </m:num>
                        <m:den>
                          <m:r>
                            <a:rPr lang="zh-CN" altLang="en-US" sz="2000">
                              <a:latin typeface="Cambria Math" panose="02040503050406030204" pitchFamily="18" charset="0"/>
                            </a:rPr>
                            <m:t>1.577</m:t>
                          </m:r>
                        </m:den>
                      </m:f>
                      <m:r>
                        <a:rPr lang="zh-CN" altLang="en-US" sz="2000">
                          <a:latin typeface="Cambria Math" panose="02040503050406030204" pitchFamily="18" charset="0"/>
                        </a:rPr>
                        <m:t>≐0.156</m:t>
                      </m:r>
                    </m:oMath>
                  </m:oMathPara>
                </a14:m>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1159353" y="3467423"/>
                <a:ext cx="10441160" cy="400110"/>
              </a:xfrm>
              <a:prstGeom prst="rect">
                <a:avLst/>
              </a:prstGeom>
              <a:blipFill>
                <a:blip r:embed="rId9"/>
                <a:stretch>
                  <a:fillRect t="-124615" b="-196923"/>
                </a:stretch>
              </a:blipFill>
            </p:spPr>
            <p:txBody>
              <a:bodyPr/>
              <a:lstStyle/>
              <a:p>
                <a:r>
                  <a:rPr lang="zh-CN" altLang="en-US">
                    <a:noFill/>
                  </a:rPr>
                  <a:t> </a:t>
                </a:r>
              </a:p>
            </p:txBody>
          </p:sp>
        </mc:Fallback>
      </mc:AlternateContent>
      <p:sp>
        <p:nvSpPr>
          <p:cNvPr id="8" name="矩形 7"/>
          <p:cNvSpPr/>
          <p:nvPr/>
        </p:nvSpPr>
        <p:spPr>
          <a:xfrm>
            <a:off x="1060708" y="5348247"/>
            <a:ext cx="9673207" cy="954107"/>
          </a:xfrm>
          <a:prstGeom prst="rect">
            <a:avLst/>
          </a:prstGeom>
        </p:spPr>
        <p:txBody>
          <a:bodyPr wrap="square">
            <a:spAutoFit/>
          </a:bodyPr>
          <a:lstStyle/>
          <a:p>
            <a:pPr>
              <a:defRPr/>
            </a:pPr>
            <a:r>
              <a:rPr lang="zh-CN" altLang="en-US" sz="2800" dirty="0"/>
              <a:t>那么可以看到有</a:t>
            </a:r>
            <a:r>
              <a:rPr lang="zh-CN" altLang="zh-CN" sz="2800" dirty="0"/>
              <a:t>13</a:t>
            </a:r>
            <a:r>
              <a:rPr lang="zh-CN" altLang="en-US" sz="2800" dirty="0"/>
              <a:t>个可能的候选阈值点，比如</a:t>
            </a:r>
            <a:r>
              <a:rPr lang="zh-CN" altLang="zh-CN" sz="2800" dirty="0"/>
              <a:t>middle[64,65], middle[65,68]….,middle[83,85]</a:t>
            </a:r>
            <a:r>
              <a:rPr lang="zh-CN" altLang="en-US" sz="2800" dirty="0"/>
              <a:t>。那么最优的阈值该选多少呢？</a:t>
            </a:r>
            <a:endParaRPr lang="en-US" altLang="zh-CN" sz="2800" i="1"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矩形 11"/>
          <p:cNvSpPr>
            <a:spLocks noChangeArrowheads="1"/>
          </p:cNvSpPr>
          <p:nvPr/>
        </p:nvSpPr>
        <p:spPr bwMode="auto">
          <a:xfrm>
            <a:off x="2095501" y="1011261"/>
            <a:ext cx="8143875" cy="5632311"/>
          </a:xfrm>
          <a:prstGeom prst="rect">
            <a:avLst/>
          </a:prstGeom>
          <a:noFill/>
          <a:ln w="9525">
            <a:noFill/>
            <a:miter lim="800000"/>
            <a:headEnd/>
            <a:tailEnd/>
          </a:ln>
        </p:spPr>
        <p:txBody>
          <a:bodyPr>
            <a:spAutoFit/>
          </a:bodyPr>
          <a:lstStyle/>
          <a:p>
            <a:pPr>
              <a:defRPr/>
            </a:pPr>
            <a:r>
              <a:rPr lang="zh-CN" altLang="en-US" sz="2400" dirty="0"/>
              <a:t>以</a:t>
            </a:r>
            <a:r>
              <a:rPr lang="zh-CN" altLang="zh-CN" sz="2400" dirty="0"/>
              <a:t>middle[71,72]</a:t>
            </a:r>
            <a:r>
              <a:rPr lang="zh-CN" altLang="en-US" sz="2400" dirty="0"/>
              <a:t>为例，如下图中红线所示。</a:t>
            </a:r>
            <a:endParaRPr lang="en-US" altLang="zh-CN" sz="2400" dirty="0"/>
          </a:p>
          <a:p>
            <a:pPr>
              <a:defRPr/>
            </a:pPr>
            <a:endParaRPr lang="en-US" altLang="zh-CN" sz="2400" dirty="0"/>
          </a:p>
          <a:p>
            <a:pPr>
              <a:defRPr/>
            </a:pPr>
            <a:endParaRPr lang="en-US" altLang="zh-CN" sz="2400" dirty="0"/>
          </a:p>
          <a:p>
            <a:pPr>
              <a:defRPr/>
            </a:pPr>
            <a:endParaRPr lang="en-US" altLang="zh-CN" sz="2400" dirty="0"/>
          </a:p>
          <a:p>
            <a:pPr>
              <a:defRPr/>
            </a:pPr>
            <a:endParaRPr lang="en-US" altLang="zh-CN" sz="2400" dirty="0"/>
          </a:p>
          <a:p>
            <a:pPr>
              <a:defRPr/>
            </a:pPr>
            <a:r>
              <a:rPr lang="en-US" altLang="zh-CN" sz="2400" dirty="0" err="1"/>
              <a:t>E.g.:temperature</a:t>
            </a:r>
            <a:r>
              <a:rPr lang="en-US" altLang="zh-CN" sz="2400" dirty="0"/>
              <a:t>&lt;71.5:yes/4,no/2</a:t>
            </a:r>
          </a:p>
          <a:p>
            <a:pPr>
              <a:defRPr/>
            </a:pPr>
            <a:r>
              <a:rPr lang="en-US" altLang="zh-CN" sz="2400" dirty="0"/>
              <a:t>        temperature&gt;=71.5:yes/5,no/3</a:t>
            </a:r>
          </a:p>
          <a:p>
            <a:pPr>
              <a:defRPr/>
            </a:pPr>
            <a:r>
              <a:rPr lang="en-US" altLang="zh-CN" sz="2400" dirty="0"/>
              <a:t>Info([4,2],[5,3])=6/14*Info([4,2])+8/14Info([5,3])=0.939 </a:t>
            </a:r>
          </a:p>
          <a:p>
            <a:pPr>
              <a:defRPr/>
            </a:pPr>
            <a:r>
              <a:rPr lang="zh-CN" altLang="en-US" sz="2400" dirty="0"/>
              <a:t>此时信息增益为</a:t>
            </a:r>
            <a:r>
              <a:rPr lang="zh-CN" altLang="zh-CN" sz="2400" dirty="0"/>
              <a:t>0.939</a:t>
            </a:r>
            <a:r>
              <a:rPr lang="zh-CN" altLang="en-US" sz="2400" dirty="0"/>
              <a:t>。</a:t>
            </a:r>
            <a:endParaRPr lang="en-US" altLang="zh-CN" sz="2400" dirty="0"/>
          </a:p>
          <a:p>
            <a:pPr>
              <a:defRPr/>
            </a:pPr>
            <a:endParaRPr lang="en-US" altLang="zh-CN" sz="2400" dirty="0"/>
          </a:p>
          <a:p>
            <a:pPr>
              <a:defRPr/>
            </a:pPr>
            <a:r>
              <a:rPr lang="zh-CN" altLang="en-US" sz="2400" dirty="0"/>
              <a:t>计算过程需要对每个候选分割阈值进行增益或熵的计算，选择信息增益最大的那个分裂点，即最优的阈值，我们需要算</a:t>
            </a:r>
            <a:r>
              <a:rPr lang="zh-CN" altLang="zh-CN" sz="2400" dirty="0"/>
              <a:t>N-1</a:t>
            </a:r>
            <a:r>
              <a:rPr lang="zh-CN" altLang="en-US" sz="2400" dirty="0"/>
              <a:t>次增益或熵（上例需要</a:t>
            </a:r>
            <a:r>
              <a:rPr lang="zh-CN" altLang="zh-CN" sz="2400" dirty="0"/>
              <a:t>13</a:t>
            </a:r>
            <a:r>
              <a:rPr lang="zh-CN" altLang="en-US" sz="2400" dirty="0"/>
              <a:t>次计算）。</a:t>
            </a:r>
            <a:endParaRPr lang="en-US" altLang="zh-CN" sz="2400" dirty="0"/>
          </a:p>
          <a:p>
            <a:pPr>
              <a:defRPr/>
            </a:pPr>
            <a:r>
              <a:rPr lang="en-US" altLang="zh-CN" sz="2400" dirty="0"/>
              <a:t>     </a:t>
            </a:r>
            <a:r>
              <a:rPr lang="zh-CN" altLang="en-US" sz="2400" dirty="0">
                <a:solidFill>
                  <a:srgbClr val="FF0000"/>
                </a:solidFill>
              </a:rPr>
              <a:t>能不能减少计算量</a:t>
            </a:r>
            <a:r>
              <a:rPr lang="en-US" altLang="zh-CN" sz="2400" dirty="0">
                <a:solidFill>
                  <a:srgbClr val="FF0000"/>
                </a:solidFill>
              </a:rPr>
              <a:t>?</a:t>
            </a:r>
          </a:p>
          <a:p>
            <a:pPr>
              <a:defRPr/>
            </a:pPr>
            <a:r>
              <a:rPr lang="en-US" altLang="zh-CN" sz="2400" dirty="0"/>
              <a:t>       </a:t>
            </a:r>
            <a:endParaRPr lang="zh-CN" altLang="en-US" sz="2400" i="1" dirty="0">
              <a:latin typeface="Times New Roman" pitchFamily="18" charset="0"/>
              <a:cs typeface="Times New Roman" pitchFamily="18" charset="0"/>
            </a:endParaRPr>
          </a:p>
        </p:txBody>
      </p:sp>
      <p:pic>
        <p:nvPicPr>
          <p:cNvPr id="23556" name="Picture 4" descr="1647473038704645424"/>
          <p:cNvPicPr>
            <a:picLocks noChangeAspect="1" noChangeArrowheads="1"/>
          </p:cNvPicPr>
          <p:nvPr/>
        </p:nvPicPr>
        <p:blipFill>
          <a:blip r:embed="rId2" cstate="print"/>
          <a:srcRect/>
          <a:stretch>
            <a:fillRect/>
          </a:stretch>
        </p:blipFill>
        <p:spPr bwMode="auto">
          <a:xfrm>
            <a:off x="2095501" y="1556793"/>
            <a:ext cx="8358187" cy="1306513"/>
          </a:xfrm>
          <a:prstGeom prst="rect">
            <a:avLst/>
          </a:prstGeom>
          <a:noFill/>
          <a:ln w="9525">
            <a:noFill/>
            <a:miter lim="800000"/>
            <a:headEnd/>
            <a:tailEnd/>
          </a:ln>
        </p:spPr>
      </p:pic>
      <p:sp>
        <p:nvSpPr>
          <p:cNvPr id="5"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35</a:t>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p:cNvSpPr>
            <a:spLocks noGrp="1"/>
          </p:cNvSpPr>
          <p:nvPr>
            <p:ph idx="1"/>
          </p:nvPr>
        </p:nvSpPr>
        <p:spPr>
          <a:xfrm>
            <a:off x="1526142" y="2500312"/>
            <a:ext cx="9548257" cy="3929084"/>
          </a:xfrm>
          <a:solidFill>
            <a:schemeClr val="bg1"/>
          </a:solidFill>
        </p:spPr>
        <p:txBody>
          <a:bodyPr/>
          <a:lstStyle/>
          <a:p>
            <a:r>
              <a:rPr lang="zh-CN" altLang="en-US" sz="2400" dirty="0"/>
              <a:t>本来有</a:t>
            </a:r>
            <a:r>
              <a:rPr lang="en-US" altLang="zh-CN" sz="2400" dirty="0"/>
              <a:t>13</a:t>
            </a:r>
            <a:r>
              <a:rPr lang="zh-CN" altLang="en-US" sz="2400" dirty="0"/>
              <a:t>种离散化的情况，现在只需计算</a:t>
            </a:r>
            <a:r>
              <a:rPr lang="en-US" altLang="zh-CN" sz="2400" dirty="0"/>
              <a:t>7</a:t>
            </a:r>
            <a:r>
              <a:rPr lang="zh-CN" altLang="en-US" sz="2400" dirty="0"/>
              <a:t>种。</a:t>
            </a:r>
            <a:endParaRPr lang="en-US" altLang="zh-CN" sz="2400" dirty="0"/>
          </a:p>
          <a:p>
            <a:pPr>
              <a:buFont typeface="Wingdings" pitchFamily="2" charset="2"/>
              <a:buNone/>
            </a:pPr>
            <a:r>
              <a:rPr lang="zh-CN" altLang="en-US" sz="2400" dirty="0"/>
              <a:t>     如果利用</a:t>
            </a:r>
            <a:r>
              <a:rPr lang="zh-CN" altLang="en-US" sz="2400" dirty="0">
                <a:solidFill>
                  <a:srgbClr val="FF0000"/>
                </a:solidFill>
              </a:rPr>
              <a:t>增益率</a:t>
            </a:r>
            <a:r>
              <a:rPr lang="zh-CN" altLang="en-US" sz="2400" dirty="0"/>
              <a:t>来选择连续值属性的分界点，会导致一些</a:t>
            </a:r>
            <a:r>
              <a:rPr lang="zh-CN" altLang="en-US" sz="2400" dirty="0">
                <a:solidFill>
                  <a:srgbClr val="FF0000"/>
                </a:solidFill>
              </a:rPr>
              <a:t>副作用</a:t>
            </a:r>
            <a:r>
              <a:rPr lang="zh-CN" altLang="en-US" sz="2400" dirty="0"/>
              <a:t>。分界点将样本分成两个部分，这两个部分的样本个数之比也会影响增益率。根据增益率公式，我们可以发现，当分界点能够把样本分成数量相等的两个子集时（我们称此时的分界点为</a:t>
            </a:r>
            <a:r>
              <a:rPr lang="zh-CN" altLang="en-US" sz="2400" dirty="0">
                <a:solidFill>
                  <a:srgbClr val="FF0000"/>
                </a:solidFill>
              </a:rPr>
              <a:t>等分分界点</a:t>
            </a:r>
            <a:r>
              <a:rPr lang="zh-CN" altLang="en-US" sz="2400" dirty="0"/>
              <a:t>），增益率的抑制会被最大化，因此等分分界点被过分抑制了。</a:t>
            </a:r>
            <a:r>
              <a:rPr lang="zh-CN" altLang="en-US" sz="2400" dirty="0">
                <a:solidFill>
                  <a:srgbClr val="0000FF"/>
                </a:solidFill>
              </a:rPr>
              <a:t>子集样本个数能够影响分界点，显然不合理</a:t>
            </a:r>
            <a:r>
              <a:rPr lang="zh-CN" altLang="en-US" sz="2400" dirty="0"/>
              <a:t>。因此</a:t>
            </a:r>
            <a:r>
              <a:rPr lang="zh-CN" altLang="en-US" sz="2400" dirty="0">
                <a:solidFill>
                  <a:srgbClr val="FF0000"/>
                </a:solidFill>
              </a:rPr>
              <a:t>在决定分界点时还是采用增益</a:t>
            </a:r>
            <a:r>
              <a:rPr lang="zh-CN" altLang="en-US" sz="2400" dirty="0"/>
              <a:t>这个指标，而</a:t>
            </a:r>
            <a:r>
              <a:rPr lang="zh-CN" altLang="en-US" sz="2400" dirty="0">
                <a:solidFill>
                  <a:srgbClr val="FF0000"/>
                </a:solidFill>
              </a:rPr>
              <a:t>选择属性的时候才使用增益率</a:t>
            </a:r>
            <a:r>
              <a:rPr lang="zh-CN" altLang="en-US" sz="2400" dirty="0"/>
              <a:t>这个指标。这个改进能够很好抑制连续值属性的倾向。当然还有其它方法也可以抑制这种倾向，比如</a:t>
            </a:r>
            <a:r>
              <a:rPr lang="en-US" altLang="zh-CN" sz="2400" dirty="0"/>
              <a:t>MDL</a:t>
            </a:r>
            <a:r>
              <a:rPr lang="zh-CN" altLang="en-US" sz="2400" dirty="0"/>
              <a:t>。</a:t>
            </a:r>
          </a:p>
        </p:txBody>
      </p:sp>
      <p:pic>
        <p:nvPicPr>
          <p:cNvPr id="24579" name="Picture 7"/>
          <p:cNvPicPr>
            <a:picLocks noChangeAspect="1" noChangeArrowheads="1"/>
          </p:cNvPicPr>
          <p:nvPr/>
        </p:nvPicPr>
        <p:blipFill>
          <a:blip r:embed="rId2" cstate="print"/>
          <a:srcRect/>
          <a:stretch>
            <a:fillRect/>
          </a:stretch>
        </p:blipFill>
        <p:spPr bwMode="auto">
          <a:xfrm>
            <a:off x="2095650" y="1504107"/>
            <a:ext cx="8143875" cy="771525"/>
          </a:xfrm>
          <a:prstGeom prst="rect">
            <a:avLst/>
          </a:prstGeom>
          <a:noFill/>
          <a:ln w="9525">
            <a:noFill/>
            <a:miter lim="800000"/>
            <a:headEnd/>
            <a:tailEnd/>
          </a:ln>
        </p:spPr>
      </p:pic>
      <p:sp>
        <p:nvSpPr>
          <p:cNvPr id="24580" name="矩形 4"/>
          <p:cNvSpPr>
            <a:spLocks noChangeArrowheads="1"/>
          </p:cNvSpPr>
          <p:nvPr/>
        </p:nvSpPr>
        <p:spPr bwMode="auto">
          <a:xfrm>
            <a:off x="1819052" y="116632"/>
            <a:ext cx="8001000" cy="1200150"/>
          </a:xfrm>
          <a:prstGeom prst="rect">
            <a:avLst/>
          </a:prstGeom>
          <a:solidFill>
            <a:schemeClr val="bg1"/>
          </a:solidFill>
          <a:ln w="9525">
            <a:noFill/>
            <a:miter lim="800000"/>
            <a:headEnd/>
            <a:tailEnd/>
          </a:ln>
        </p:spPr>
        <p:txBody>
          <a:bodyPr>
            <a:spAutoFit/>
          </a:bodyPr>
          <a:lstStyle/>
          <a:p>
            <a:r>
              <a:rPr lang="zh-CN" altLang="en-US" sz="2400" dirty="0"/>
              <a:t>如何减少计算量</a:t>
            </a:r>
            <a:r>
              <a:rPr lang="en-US" altLang="zh-CN" sz="2400" dirty="0"/>
              <a:t>?</a:t>
            </a:r>
          </a:p>
          <a:p>
            <a:r>
              <a:rPr lang="zh-CN" altLang="en-US" sz="2400" dirty="0"/>
              <a:t>        </a:t>
            </a:r>
            <a:r>
              <a:rPr lang="en-US" altLang="zh-CN" sz="2400" dirty="0"/>
              <a:t>-&gt;</a:t>
            </a:r>
            <a:r>
              <a:rPr lang="zh-CN" altLang="en-US" sz="2400" dirty="0"/>
              <a:t>对连续属性先排序</a:t>
            </a:r>
            <a:r>
              <a:rPr lang="en-US" altLang="zh-CN" sz="2400" dirty="0"/>
              <a:t>,</a:t>
            </a:r>
            <a:r>
              <a:rPr lang="zh-CN" altLang="en-US" sz="2400" dirty="0"/>
              <a:t>只有在决策属性发生改变的地方才需要试探性的</a:t>
            </a:r>
            <a:r>
              <a:rPr lang="en-US" altLang="zh-CN" sz="2400" dirty="0"/>
              <a:t>split.</a:t>
            </a:r>
            <a:r>
              <a:rPr lang="en-US" altLang="zh-CN" sz="2400" i="1" dirty="0">
                <a:latin typeface="Times New Roman" pitchFamily="18" charset="0"/>
                <a:cs typeface="Times New Roman" pitchFamily="18" charset="0"/>
              </a:rPr>
              <a:t>       </a:t>
            </a:r>
            <a:endParaRPr lang="zh-CN" altLang="en-US" sz="2400" i="1" dirty="0">
              <a:latin typeface="Times New Roman" pitchFamily="18" charset="0"/>
              <a:cs typeface="Times New Roman" pitchFamily="18" charset="0"/>
            </a:endParaRP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36</a:t>
            </a:fld>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839416" y="904705"/>
            <a:ext cx="9098636" cy="5470525"/>
          </a:xfrm>
        </p:spPr>
        <p:txBody>
          <a:bodyPr/>
          <a:lstStyle/>
          <a:p>
            <a:pPr>
              <a:lnSpc>
                <a:spcPct val="90000"/>
              </a:lnSpc>
              <a:buFontTx/>
              <a:buNone/>
              <a:defRPr/>
            </a:pPr>
            <a:r>
              <a:rPr lang="en-US" altLang="zh-CN" sz="3600" b="1" dirty="0">
                <a:solidFill>
                  <a:schemeClr val="accent1">
                    <a:lumMod val="50000"/>
                  </a:schemeClr>
                </a:solidFill>
                <a:latin typeface="楷体_GB2312" pitchFamily="49" charset="-122"/>
                <a:ea typeface="楷体_GB2312" pitchFamily="49" charset="-122"/>
              </a:rPr>
              <a:t>     </a:t>
            </a:r>
            <a:r>
              <a:rPr lang="zh-CN" altLang="en-US" b="1" dirty="0">
                <a:solidFill>
                  <a:schemeClr val="accent1">
                    <a:lumMod val="50000"/>
                  </a:schemeClr>
                </a:solidFill>
                <a:latin typeface="楷体_GB2312" pitchFamily="49" charset="-122"/>
                <a:ea typeface="楷体_GB2312" pitchFamily="49" charset="-122"/>
              </a:rPr>
              <a:t>最小描述长度（</a:t>
            </a:r>
            <a:r>
              <a:rPr lang="en-US" altLang="zh-CN" b="1" dirty="0">
                <a:solidFill>
                  <a:schemeClr val="accent1">
                    <a:lumMod val="50000"/>
                  </a:schemeClr>
                </a:solidFill>
                <a:latin typeface="楷体_GB2312" pitchFamily="49" charset="-122"/>
                <a:ea typeface="楷体_GB2312" pitchFamily="49" charset="-122"/>
              </a:rPr>
              <a:t>MDL</a:t>
            </a:r>
            <a:r>
              <a:rPr lang="zh-CN" altLang="en-US" b="1" dirty="0">
                <a:solidFill>
                  <a:schemeClr val="accent1">
                    <a:lumMod val="50000"/>
                  </a:schemeClr>
                </a:solidFill>
                <a:latin typeface="楷体_GB2312" pitchFamily="49" charset="-122"/>
                <a:ea typeface="楷体_GB2312" pitchFamily="49" charset="-122"/>
              </a:rPr>
              <a:t>）基本概念</a:t>
            </a:r>
          </a:p>
          <a:p>
            <a:pPr>
              <a:lnSpc>
                <a:spcPct val="90000"/>
              </a:lnSpc>
              <a:buFontTx/>
              <a:buNone/>
              <a:defRPr/>
            </a:pPr>
            <a:r>
              <a:rPr lang="zh-CN" altLang="en-US" b="1" dirty="0">
                <a:solidFill>
                  <a:schemeClr val="accent1">
                    <a:lumMod val="50000"/>
                  </a:schemeClr>
                </a:solidFill>
                <a:latin typeface="楷体_GB2312" pitchFamily="49" charset="-122"/>
                <a:ea typeface="楷体_GB2312" pitchFamily="49" charset="-122"/>
              </a:rPr>
              <a:t>最小描述长度准则</a:t>
            </a:r>
          </a:p>
          <a:p>
            <a:pPr>
              <a:lnSpc>
                <a:spcPct val="90000"/>
              </a:lnSpc>
              <a:buFontTx/>
              <a:buNone/>
              <a:defRPr/>
            </a:pPr>
            <a:r>
              <a:rPr lang="zh-CN" altLang="en-US" sz="2400" dirty="0">
                <a:latin typeface="楷体_GB2312" pitchFamily="49" charset="-122"/>
                <a:ea typeface="楷体_GB2312" pitchFamily="49" charset="-122"/>
              </a:rPr>
              <a:t>  解释一组数据的最好理论，应该使得下面两项之和最小：</a:t>
            </a:r>
          </a:p>
          <a:p>
            <a:pPr>
              <a:lnSpc>
                <a:spcPct val="90000"/>
              </a:lnSpc>
              <a:buFontTx/>
              <a:buNone/>
              <a:defRPr/>
            </a:pPr>
            <a:r>
              <a:rPr lang="zh-CN" altLang="en-US" sz="2400" b="1" dirty="0">
                <a:solidFill>
                  <a:srgbClr val="00FFFF"/>
                </a:solidFill>
                <a:ea typeface="楷体_GB2312" pitchFamily="49" charset="-122"/>
                <a:cs typeface="Tahoma" pitchFamily="34" charset="0"/>
                <a:sym typeface="Symbol" pitchFamily="18" charset="2"/>
              </a:rPr>
              <a:t>      </a:t>
            </a:r>
            <a:r>
              <a:rPr lang="zh-CN" altLang="en-US" sz="2400" dirty="0">
                <a:ea typeface="楷体_GB2312" pitchFamily="49" charset="-122"/>
                <a:cs typeface="Tahoma" pitchFamily="34" charset="0"/>
                <a:sym typeface="Symbol" pitchFamily="18" charset="2"/>
              </a:rPr>
              <a:t>描述理论所需要的比特长度；</a:t>
            </a:r>
          </a:p>
          <a:p>
            <a:pPr>
              <a:lnSpc>
                <a:spcPct val="90000"/>
              </a:lnSpc>
              <a:buFontTx/>
              <a:buNone/>
              <a:defRPr/>
            </a:pPr>
            <a:r>
              <a:rPr lang="zh-CN" altLang="en-US" b="1" dirty="0">
                <a:solidFill>
                  <a:srgbClr val="00FFFF"/>
                </a:solidFill>
                <a:ea typeface="楷体_GB2312" pitchFamily="49" charset="-122"/>
                <a:cs typeface="Tahoma" pitchFamily="34" charset="0"/>
                <a:sym typeface="Symbol" pitchFamily="18" charset="2"/>
              </a:rPr>
              <a:t>     </a:t>
            </a:r>
            <a:r>
              <a:rPr lang="zh-CN" altLang="en-US" sz="2400" b="1" dirty="0">
                <a:solidFill>
                  <a:srgbClr val="00FFFF"/>
                </a:solidFill>
                <a:ea typeface="楷体_GB2312" pitchFamily="49" charset="-122"/>
                <a:cs typeface="Tahoma" pitchFamily="34" charset="0"/>
                <a:sym typeface="Symbol" pitchFamily="18" charset="2"/>
              </a:rPr>
              <a:t></a:t>
            </a:r>
            <a:r>
              <a:rPr lang="zh-CN" altLang="en-US" sz="2400" dirty="0">
                <a:ea typeface="楷体_GB2312" pitchFamily="49" charset="-122"/>
                <a:cs typeface="Tahoma" pitchFamily="34" charset="0"/>
                <a:sym typeface="Symbol" pitchFamily="18" charset="2"/>
              </a:rPr>
              <a:t>在理论的协助下，对数据编码所需要的比特长度。</a:t>
            </a:r>
          </a:p>
          <a:p>
            <a:pPr>
              <a:lnSpc>
                <a:spcPct val="90000"/>
              </a:lnSpc>
              <a:buFontTx/>
              <a:buNone/>
              <a:defRPr/>
            </a:pPr>
            <a:r>
              <a:rPr lang="zh-CN" altLang="en-US" sz="2400" dirty="0">
                <a:ea typeface="楷体_GB2312" pitchFamily="49" charset="-122"/>
                <a:cs typeface="Tahoma" pitchFamily="34" charset="0"/>
                <a:sym typeface="Symbol" pitchFamily="18" charset="2"/>
              </a:rPr>
              <a:t>      </a:t>
            </a:r>
            <a:r>
              <a:rPr lang="zh-CN" altLang="en-US" sz="2400" b="1" dirty="0">
                <a:solidFill>
                  <a:schemeClr val="tx1">
                    <a:lumMod val="85000"/>
                    <a:lumOff val="15000"/>
                  </a:schemeClr>
                </a:solidFill>
                <a:ea typeface="楷体_GB2312" pitchFamily="49" charset="-122"/>
                <a:cs typeface="Tahoma" pitchFamily="34" charset="0"/>
                <a:sym typeface="Symbol" pitchFamily="18" charset="2"/>
              </a:rPr>
              <a:t>（最小描述长度也称为</a:t>
            </a:r>
            <a:r>
              <a:rPr lang="zh-CN" altLang="en-US" sz="2400" b="1" dirty="0">
                <a:solidFill>
                  <a:srgbClr val="FF0000"/>
                </a:solidFill>
                <a:ea typeface="楷体_GB2312" pitchFamily="49" charset="-122"/>
                <a:cs typeface="Tahoma" pitchFamily="34" charset="0"/>
                <a:sym typeface="Symbol" pitchFamily="18" charset="2"/>
              </a:rPr>
              <a:t>给定数据的随机复杂性</a:t>
            </a:r>
            <a:r>
              <a:rPr lang="en-US" altLang="zh-CN" sz="2400" b="1" dirty="0">
                <a:solidFill>
                  <a:schemeClr val="tx1">
                    <a:lumMod val="85000"/>
                    <a:lumOff val="15000"/>
                  </a:schemeClr>
                </a:solidFill>
                <a:latin typeface="楷体_GB2312" pitchFamily="49" charset="-122"/>
                <a:ea typeface="楷体_GB2312" pitchFamily="49" charset="-122"/>
                <a:cs typeface="Tahoma" pitchFamily="34" charset="0"/>
                <a:sym typeface="Symbol" pitchFamily="18" charset="2"/>
              </a:rPr>
              <a:t>)</a:t>
            </a:r>
          </a:p>
          <a:p>
            <a:pPr>
              <a:lnSpc>
                <a:spcPct val="90000"/>
              </a:lnSpc>
              <a:buFontTx/>
              <a:buNone/>
              <a:defRPr/>
            </a:pPr>
            <a:endParaRPr lang="en-US" altLang="zh-CN" sz="2400" b="1" dirty="0">
              <a:solidFill>
                <a:srgbClr val="FFFF66"/>
              </a:solidFill>
              <a:latin typeface="楷体_GB2312" pitchFamily="49" charset="-122"/>
              <a:ea typeface="楷体_GB2312" pitchFamily="49" charset="-122"/>
              <a:cs typeface="Tahoma" pitchFamily="34" charset="0"/>
              <a:sym typeface="Symbol" pitchFamily="18" charset="2"/>
            </a:endParaRPr>
          </a:p>
          <a:p>
            <a:pPr>
              <a:lnSpc>
                <a:spcPct val="90000"/>
              </a:lnSpc>
              <a:buFontTx/>
              <a:buNone/>
              <a:defRPr/>
            </a:pPr>
            <a:r>
              <a:rPr lang="zh-CN" altLang="en-US" b="1" dirty="0">
                <a:solidFill>
                  <a:schemeClr val="accent1">
                    <a:lumMod val="50000"/>
                  </a:schemeClr>
                </a:solidFill>
                <a:latin typeface="楷体_GB2312" pitchFamily="49" charset="-122"/>
                <a:ea typeface="楷体_GB2312" pitchFamily="49" charset="-122"/>
                <a:cs typeface="Tahoma" pitchFamily="34" charset="0"/>
                <a:sym typeface="Symbol" pitchFamily="18" charset="2"/>
              </a:rPr>
              <a:t>决策树中的</a:t>
            </a:r>
            <a:r>
              <a:rPr lang="zh-CN" altLang="en-US" b="1" dirty="0">
                <a:solidFill>
                  <a:schemeClr val="accent1">
                    <a:lumMod val="50000"/>
                  </a:schemeClr>
                </a:solidFill>
                <a:ea typeface="楷体_GB2312" pitchFamily="49" charset="-122"/>
                <a:cs typeface="Tahoma" pitchFamily="34" charset="0"/>
                <a:sym typeface="Symbol" pitchFamily="18" charset="2"/>
              </a:rPr>
              <a:t>最小描述长度准则</a:t>
            </a:r>
            <a:r>
              <a:rPr lang="zh-CN" altLang="en-US" sz="2400" b="1" dirty="0">
                <a:solidFill>
                  <a:schemeClr val="accent1">
                    <a:lumMod val="50000"/>
                  </a:schemeClr>
                </a:solidFill>
                <a:ea typeface="楷体_GB2312" pitchFamily="49" charset="-122"/>
                <a:cs typeface="Tahoma" pitchFamily="34" charset="0"/>
                <a:sym typeface="Symbol" pitchFamily="18" charset="2"/>
              </a:rPr>
              <a:t> </a:t>
            </a:r>
          </a:p>
          <a:p>
            <a:pPr>
              <a:lnSpc>
                <a:spcPct val="90000"/>
              </a:lnSpc>
              <a:buFontTx/>
              <a:buNone/>
              <a:defRPr/>
            </a:pPr>
            <a:r>
              <a:rPr lang="zh-CN" altLang="en-US" sz="2400" b="1" dirty="0">
                <a:solidFill>
                  <a:srgbClr val="FFFF66"/>
                </a:solidFill>
                <a:ea typeface="楷体_GB2312" pitchFamily="49" charset="-122"/>
                <a:cs typeface="Tahoma" pitchFamily="34" charset="0"/>
                <a:sym typeface="Symbol" pitchFamily="18" charset="2"/>
              </a:rPr>
              <a:t>    </a:t>
            </a:r>
            <a:r>
              <a:rPr lang="zh-CN" altLang="en-US" sz="2400" dirty="0">
                <a:ea typeface="楷体_GB2312" pitchFamily="49" charset="-122"/>
                <a:cs typeface="Tahoma" pitchFamily="34" charset="0"/>
                <a:sym typeface="Symbol" pitchFamily="18" charset="2"/>
              </a:rPr>
              <a:t>我们应该寻求这样一种合理且较小的树，使得训练样本的大多数数据符合这棵树，把</a:t>
            </a:r>
            <a:r>
              <a:rPr lang="zh-CN" altLang="en-US" sz="2400" dirty="0">
                <a:solidFill>
                  <a:srgbClr val="0000FF"/>
                </a:solidFill>
                <a:ea typeface="楷体_GB2312" pitchFamily="49" charset="-122"/>
                <a:cs typeface="Tahoma" pitchFamily="34" charset="0"/>
                <a:sym typeface="Symbol" pitchFamily="18" charset="2"/>
              </a:rPr>
              <a:t>样本中不符合的数据作为例外编码</a:t>
            </a:r>
            <a:r>
              <a:rPr lang="zh-CN" altLang="en-US" sz="2400" dirty="0">
                <a:ea typeface="楷体_GB2312" pitchFamily="49" charset="-122"/>
                <a:cs typeface="Tahoma" pitchFamily="34" charset="0"/>
                <a:sym typeface="Symbol" pitchFamily="18" charset="2"/>
              </a:rPr>
              <a:t>，使得下面</a:t>
            </a:r>
            <a:r>
              <a:rPr lang="zh-CN" altLang="en-US" sz="2400" dirty="0">
                <a:solidFill>
                  <a:srgbClr val="FF0000"/>
                </a:solidFill>
                <a:ea typeface="楷体_GB2312" pitchFamily="49" charset="-122"/>
                <a:cs typeface="Tahoma" pitchFamily="34" charset="0"/>
                <a:sym typeface="Symbol" pitchFamily="18" charset="2"/>
              </a:rPr>
              <a:t>两项最小</a:t>
            </a:r>
            <a:r>
              <a:rPr lang="zh-CN" altLang="en-US" sz="2400" dirty="0">
                <a:ea typeface="楷体_GB2312" pitchFamily="49" charset="-122"/>
                <a:cs typeface="Tahoma" pitchFamily="34" charset="0"/>
                <a:sym typeface="Symbol" pitchFamily="18" charset="2"/>
              </a:rPr>
              <a:t>：</a:t>
            </a:r>
          </a:p>
          <a:p>
            <a:pPr>
              <a:lnSpc>
                <a:spcPct val="90000"/>
              </a:lnSpc>
              <a:buFontTx/>
              <a:buNone/>
              <a:defRPr/>
            </a:pPr>
            <a:r>
              <a:rPr lang="zh-CN" altLang="en-US" sz="2400" b="1" dirty="0">
                <a:solidFill>
                  <a:srgbClr val="00FFFF"/>
                </a:solidFill>
                <a:ea typeface="楷体_GB2312" pitchFamily="49" charset="-122"/>
                <a:cs typeface="Tahoma" pitchFamily="34" charset="0"/>
                <a:sym typeface="Symbol" pitchFamily="18" charset="2"/>
              </a:rPr>
              <a:t>      </a:t>
            </a:r>
            <a:r>
              <a:rPr lang="zh-CN" altLang="en-US" sz="2400" dirty="0">
                <a:ea typeface="楷体_GB2312" pitchFamily="49" charset="-122"/>
                <a:cs typeface="Tahoma" pitchFamily="34" charset="0"/>
                <a:sym typeface="Symbol" pitchFamily="18" charset="2"/>
              </a:rPr>
              <a:t>编码决策树所需的比特，它代表了猜想；</a:t>
            </a:r>
          </a:p>
          <a:p>
            <a:pPr>
              <a:lnSpc>
                <a:spcPct val="90000"/>
              </a:lnSpc>
              <a:buFontTx/>
              <a:buNone/>
              <a:defRPr/>
            </a:pPr>
            <a:r>
              <a:rPr lang="zh-CN" altLang="en-US" sz="2400" b="1" dirty="0">
                <a:solidFill>
                  <a:srgbClr val="00FFFF"/>
                </a:solidFill>
                <a:ea typeface="楷体_GB2312" pitchFamily="49" charset="-122"/>
                <a:cs typeface="Tahoma" pitchFamily="34" charset="0"/>
                <a:sym typeface="Symbol" pitchFamily="18" charset="2"/>
              </a:rPr>
              <a:t>      </a:t>
            </a:r>
            <a:r>
              <a:rPr lang="zh-CN" altLang="en-US" sz="2400" dirty="0">
                <a:ea typeface="楷体_GB2312" pitchFamily="49" charset="-122"/>
                <a:cs typeface="Tahoma" pitchFamily="34" charset="0"/>
                <a:sym typeface="Symbol" pitchFamily="18" charset="2"/>
              </a:rPr>
              <a:t>编码例外实例所需要的比特。</a:t>
            </a:r>
          </a:p>
        </p:txBody>
      </p:sp>
      <p:sp>
        <p:nvSpPr>
          <p:cNvPr id="25603" name="矩形 2"/>
          <p:cNvSpPr>
            <a:spLocks noChangeArrowheads="1"/>
          </p:cNvSpPr>
          <p:nvPr/>
        </p:nvSpPr>
        <p:spPr bwMode="auto">
          <a:xfrm>
            <a:off x="8739207" y="928671"/>
            <a:ext cx="1214437" cy="646113"/>
          </a:xfrm>
          <a:prstGeom prst="rect">
            <a:avLst/>
          </a:prstGeom>
          <a:noFill/>
          <a:ln w="9525">
            <a:solidFill>
              <a:srgbClr val="FF0000"/>
            </a:solidFill>
            <a:miter lim="800000"/>
            <a:headEnd/>
            <a:tailEnd/>
          </a:ln>
        </p:spPr>
        <p:txBody>
          <a:bodyPr>
            <a:spAutoFit/>
          </a:bodyPr>
          <a:lstStyle/>
          <a:p>
            <a:pPr algn="ctr"/>
            <a:r>
              <a:rPr lang="en-US" altLang="zh-CN" sz="3600" b="1">
                <a:solidFill>
                  <a:srgbClr val="C00000"/>
                </a:solidFill>
                <a:latin typeface="楷体_GB2312" pitchFamily="49" charset="-122"/>
                <a:ea typeface="楷体_GB2312" pitchFamily="49" charset="-122"/>
              </a:rPr>
              <a:t>MDL</a:t>
            </a:r>
            <a:endParaRPr lang="zh-CN" altLang="en-US" sz="3600">
              <a:solidFill>
                <a:srgbClr val="C00000"/>
              </a:solidFill>
            </a:endParaRPr>
          </a:p>
        </p:txBody>
      </p:sp>
      <p:sp>
        <p:nvSpPr>
          <p:cNvPr id="4"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37</a:t>
            </a:fld>
            <a:endParaRPr lang="en-US" altLang="zh-CN" dirty="0"/>
          </a:p>
        </p:txBody>
      </p:sp>
      <p:sp>
        <p:nvSpPr>
          <p:cNvPr id="6" name="矩形 2"/>
          <p:cNvSpPr>
            <a:spLocks noChangeArrowheads="1"/>
          </p:cNvSpPr>
          <p:nvPr/>
        </p:nvSpPr>
        <p:spPr bwMode="auto">
          <a:xfrm>
            <a:off x="9027814" y="116632"/>
            <a:ext cx="1214437" cy="646113"/>
          </a:xfrm>
          <a:prstGeom prst="rect">
            <a:avLst/>
          </a:prstGeom>
          <a:noFill/>
          <a:ln w="9525">
            <a:solidFill>
              <a:srgbClr val="FF0000"/>
            </a:solidFill>
            <a:miter lim="800000"/>
            <a:headEnd/>
            <a:tailEnd/>
          </a:ln>
        </p:spPr>
        <p:txBody>
          <a:bodyPr>
            <a:spAutoFit/>
          </a:bodyPr>
          <a:lstStyle/>
          <a:p>
            <a:pPr algn="ctr"/>
            <a:r>
              <a:rPr lang="zh-CN" altLang="en-US" sz="3600" b="1" dirty="0">
                <a:solidFill>
                  <a:srgbClr val="FF0000"/>
                </a:solidFill>
                <a:latin typeface="楷体_GB2312" pitchFamily="49" charset="-122"/>
                <a:ea typeface="楷体_GB2312" pitchFamily="49" charset="-122"/>
              </a:rPr>
              <a:t>自习</a:t>
            </a:r>
            <a:endParaRPr lang="zh-CN" altLang="en-US" sz="3600"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1702172" y="299255"/>
            <a:ext cx="8229600" cy="6308725"/>
          </a:xfrm>
        </p:spPr>
        <p:txBody>
          <a:bodyPr/>
          <a:lstStyle/>
          <a:p>
            <a:pPr>
              <a:buFontTx/>
              <a:buNone/>
              <a:defRPr/>
            </a:pPr>
            <a:r>
              <a:rPr lang="en-US" altLang="zh-CN" b="1" dirty="0">
                <a:solidFill>
                  <a:schemeClr val="hlink"/>
                </a:solidFill>
                <a:latin typeface="楷体_GB2312" pitchFamily="49" charset="-122"/>
                <a:ea typeface="楷体_GB2312" pitchFamily="49" charset="-122"/>
              </a:rPr>
              <a:t>    </a:t>
            </a:r>
            <a:r>
              <a:rPr lang="zh-CN" altLang="en-US" b="1" dirty="0">
                <a:solidFill>
                  <a:srgbClr val="0070C0"/>
                </a:solidFill>
                <a:latin typeface="楷体_GB2312" pitchFamily="49" charset="-122"/>
                <a:ea typeface="楷体_GB2312" pitchFamily="49" charset="-122"/>
              </a:rPr>
              <a:t>最小描述长度（</a:t>
            </a:r>
            <a:r>
              <a:rPr lang="en-US" altLang="zh-CN" b="1" dirty="0">
                <a:solidFill>
                  <a:srgbClr val="0070C0"/>
                </a:solidFill>
                <a:latin typeface="楷体_GB2312" pitchFamily="49" charset="-122"/>
                <a:ea typeface="楷体_GB2312" pitchFamily="49" charset="-122"/>
              </a:rPr>
              <a:t>MDL</a:t>
            </a:r>
            <a:r>
              <a:rPr lang="zh-CN" altLang="en-US" b="1" dirty="0">
                <a:solidFill>
                  <a:srgbClr val="0070C0"/>
                </a:solidFill>
                <a:latin typeface="楷体_GB2312" pitchFamily="49" charset="-122"/>
                <a:ea typeface="楷体_GB2312" pitchFamily="49" charset="-122"/>
              </a:rPr>
              <a:t>）基本概念（续）</a:t>
            </a: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endParaRPr lang="zh-CN" altLang="en-US" sz="2400" b="1" dirty="0">
              <a:solidFill>
                <a:schemeClr val="accent1">
                  <a:lumMod val="50000"/>
                </a:schemeClr>
              </a:solidFill>
              <a:latin typeface="楷体_GB2312" pitchFamily="49" charset="-122"/>
              <a:ea typeface="楷体_GB2312" pitchFamily="49" charset="-122"/>
            </a:endParaRPr>
          </a:p>
          <a:p>
            <a:pPr>
              <a:buFontTx/>
              <a:buNone/>
              <a:defRPr/>
            </a:pPr>
            <a:r>
              <a:rPr lang="zh-CN" altLang="en-US" sz="2400" b="1" dirty="0">
                <a:solidFill>
                  <a:schemeClr val="accent1">
                    <a:lumMod val="50000"/>
                  </a:schemeClr>
                </a:solidFill>
                <a:latin typeface="楷体_GB2312" pitchFamily="49" charset="-122"/>
                <a:ea typeface="楷体_GB2312" pitchFamily="49" charset="-122"/>
              </a:rPr>
              <a:t>                       </a:t>
            </a:r>
          </a:p>
          <a:p>
            <a:pPr>
              <a:buFontTx/>
              <a:buNone/>
              <a:defRPr/>
            </a:pPr>
            <a:r>
              <a:rPr lang="zh-CN" altLang="en-US" sz="2400" b="1" dirty="0">
                <a:solidFill>
                  <a:schemeClr val="accent1">
                    <a:lumMod val="50000"/>
                  </a:schemeClr>
                </a:solidFill>
                <a:latin typeface="楷体_GB2312" pitchFamily="49" charset="-122"/>
                <a:ea typeface="楷体_GB2312" pitchFamily="49" charset="-122"/>
              </a:rPr>
              <a:t>                      </a:t>
            </a:r>
            <a:endParaRPr lang="en-US" altLang="zh-CN" sz="2400" b="1" dirty="0">
              <a:solidFill>
                <a:schemeClr val="accent1">
                  <a:lumMod val="50000"/>
                </a:schemeClr>
              </a:solidFill>
              <a:latin typeface="楷体_GB2312" pitchFamily="49" charset="-122"/>
              <a:ea typeface="楷体_GB2312" pitchFamily="49" charset="-122"/>
            </a:endParaRPr>
          </a:p>
        </p:txBody>
      </p:sp>
      <p:graphicFrame>
        <p:nvGraphicFramePr>
          <p:cNvPr id="13360" name="Group 48"/>
          <p:cNvGraphicFramePr>
            <a:graphicFrameLocks noGrp="1"/>
          </p:cNvGraphicFramePr>
          <p:nvPr>
            <p:extLst>
              <p:ext uri="{D42A27DB-BD31-4B8C-83A1-F6EECF244321}">
                <p14:modId xmlns:p14="http://schemas.microsoft.com/office/powerpoint/2010/main" val="1789853033"/>
              </p:ext>
            </p:extLst>
          </p:nvPr>
        </p:nvGraphicFramePr>
        <p:xfrm>
          <a:off x="2128416" y="2924944"/>
          <a:ext cx="8091488" cy="3055956"/>
        </p:xfrm>
        <a:graphic>
          <a:graphicData uri="http://schemas.openxmlformats.org/drawingml/2006/table">
            <a:tbl>
              <a:tblPr/>
              <a:tblGrid>
                <a:gridCol w="1154789">
                  <a:extLst>
                    <a:ext uri="{9D8B030D-6E8A-4147-A177-3AD203B41FA5}">
                      <a16:colId xmlns:a16="http://schemas.microsoft.com/office/drawing/2014/main" val="20000"/>
                    </a:ext>
                  </a:extLst>
                </a:gridCol>
                <a:gridCol w="1662896">
                  <a:extLst>
                    <a:ext uri="{9D8B030D-6E8A-4147-A177-3AD203B41FA5}">
                      <a16:colId xmlns:a16="http://schemas.microsoft.com/office/drawing/2014/main" val="20001"/>
                    </a:ext>
                  </a:extLst>
                </a:gridCol>
                <a:gridCol w="1949603">
                  <a:extLst>
                    <a:ext uri="{9D8B030D-6E8A-4147-A177-3AD203B41FA5}">
                      <a16:colId xmlns:a16="http://schemas.microsoft.com/office/drawing/2014/main" val="20002"/>
                    </a:ext>
                  </a:extLst>
                </a:gridCol>
                <a:gridCol w="1301328">
                  <a:extLst>
                    <a:ext uri="{9D8B030D-6E8A-4147-A177-3AD203B41FA5}">
                      <a16:colId xmlns:a16="http://schemas.microsoft.com/office/drawing/2014/main" val="20003"/>
                    </a:ext>
                  </a:extLst>
                </a:gridCol>
                <a:gridCol w="1228058">
                  <a:extLst>
                    <a:ext uri="{9D8B030D-6E8A-4147-A177-3AD203B41FA5}">
                      <a16:colId xmlns:a16="http://schemas.microsoft.com/office/drawing/2014/main" val="20004"/>
                    </a:ext>
                  </a:extLst>
                </a:gridCol>
                <a:gridCol w="794814">
                  <a:extLst>
                    <a:ext uri="{9D8B030D-6E8A-4147-A177-3AD203B41FA5}">
                      <a16:colId xmlns:a16="http://schemas.microsoft.com/office/drawing/2014/main" val="20005"/>
                    </a:ext>
                  </a:extLst>
                </a:gridCol>
              </a:tblGrid>
              <a:tr h="38199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2400" b="1" i="0" u="none" strike="noStrike" cap="none" normalizeH="0" baseline="0" dirty="0">
                          <a:ln>
                            <a:noFill/>
                          </a:ln>
                          <a:solidFill>
                            <a:srgbClr val="0000CC"/>
                          </a:solidFill>
                          <a:effectLst/>
                          <a:latin typeface="Times New Roman" pitchFamily="18" charset="0"/>
                          <a:ea typeface="楷体_GB2312" pitchFamily="49" charset="-122"/>
                        </a:rPr>
                        <a:t>属性</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dirty="0">
                          <a:ln>
                            <a:noFill/>
                          </a:ln>
                          <a:solidFill>
                            <a:srgbClr val="0000CC"/>
                          </a:solidFill>
                          <a:effectLst/>
                          <a:latin typeface="Times New Roman" pitchFamily="18" charset="0"/>
                          <a:ea typeface="楷体_GB2312" pitchFamily="49" charset="-122"/>
                        </a:rPr>
                        <a:t>Outlook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dirty="0">
                          <a:ln>
                            <a:noFill/>
                          </a:ln>
                          <a:solidFill>
                            <a:srgbClr val="0000CC"/>
                          </a:solidFill>
                          <a:effectLst/>
                          <a:latin typeface="Times New Roman" pitchFamily="18" charset="0"/>
                          <a:ea typeface="楷体_GB2312" pitchFamily="49" charset="-122"/>
                        </a:rPr>
                        <a:t>Temperature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dirty="0">
                          <a:ln>
                            <a:noFill/>
                          </a:ln>
                          <a:solidFill>
                            <a:srgbClr val="0000CC"/>
                          </a:solidFill>
                          <a:effectLst/>
                          <a:latin typeface="Times New Roman" pitchFamily="18" charset="0"/>
                          <a:ea typeface="楷体_GB2312" pitchFamily="49" charset="-122"/>
                        </a:rPr>
                        <a:t>Humidity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dirty="0">
                          <a:ln>
                            <a:noFill/>
                          </a:ln>
                          <a:solidFill>
                            <a:srgbClr val="0000CC"/>
                          </a:solidFill>
                          <a:effectLst/>
                          <a:latin typeface="Times New Roman" pitchFamily="18" charset="0"/>
                          <a:ea typeface="楷体_GB2312" pitchFamily="49" charset="-122"/>
                        </a:rPr>
                        <a:t>Windy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zh-CN" altLang="en-US" sz="2400" b="1" i="0" u="none" strike="noStrike" cap="none" normalizeH="0" baseline="0">
                          <a:ln>
                            <a:noFill/>
                          </a:ln>
                          <a:solidFill>
                            <a:srgbClr val="0000CC"/>
                          </a:solidFill>
                          <a:effectLst/>
                          <a:latin typeface="Times New Roman" pitchFamily="18" charset="0"/>
                          <a:ea typeface="楷体_GB2312" pitchFamily="49" charset="-122"/>
                        </a:rPr>
                        <a:t>类</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04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Overcast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Hot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High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Not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N</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99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Sunny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Mild </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Normal    </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Very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P</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99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99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8</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Rain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Hot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High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dirty="0">
                          <a:ln>
                            <a:noFill/>
                          </a:ln>
                          <a:solidFill>
                            <a:srgbClr val="FF6600"/>
                          </a:solidFill>
                          <a:effectLst/>
                          <a:latin typeface="Times New Roman" pitchFamily="18" charset="0"/>
                          <a:ea typeface="宋体" pitchFamily="2" charset="-122"/>
                        </a:rPr>
                        <a:t>Not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P</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04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vert="eaVert"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358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24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Rain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Mild </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High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Very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N</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358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a:ln>
                            <a:noFill/>
                          </a:ln>
                          <a:solidFill>
                            <a:srgbClr val="0000CC"/>
                          </a:solidFill>
                          <a:effectLst/>
                          <a:latin typeface="楷体_GB2312" pitchFamily="49" charset="-122"/>
                          <a:ea typeface="楷体_GB2312" pitchFamily="49" charset="-122"/>
                        </a:rPr>
                        <a:t>24</a:t>
                      </a:r>
                      <a:r>
                        <a:rPr kumimoji="0" lang="zh-CN" altLang="en-US" sz="2000" b="1" i="0" u="none" strike="noStrike" cap="none" normalizeH="0" baseline="0">
                          <a:ln>
                            <a:noFill/>
                          </a:ln>
                          <a:solidFill>
                            <a:srgbClr val="0000CC"/>
                          </a:solidFill>
                          <a:effectLst/>
                          <a:latin typeface="楷体_GB2312" pitchFamily="49" charset="-122"/>
                          <a:ea typeface="楷体_GB2312" pitchFamily="49" charset="-122"/>
                        </a:rPr>
                        <a:t>条记录</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dirty="0">
                          <a:ln>
                            <a:noFill/>
                          </a:ln>
                          <a:solidFill>
                            <a:srgbClr val="0000CC"/>
                          </a:solidFill>
                          <a:effectLst/>
                          <a:latin typeface="楷体_GB2312" pitchFamily="49" charset="-122"/>
                          <a:ea typeface="楷体_GB2312" pitchFamily="49" charset="-122"/>
                        </a:rPr>
                        <a:t>3</a:t>
                      </a:r>
                      <a:r>
                        <a:rPr kumimoji="0" lang="zh-CN" altLang="en-US" sz="2000" b="1" i="0" u="none" strike="noStrike" cap="none" normalizeH="0" baseline="0" dirty="0">
                          <a:ln>
                            <a:noFill/>
                          </a:ln>
                          <a:solidFill>
                            <a:srgbClr val="0000CC"/>
                          </a:solidFill>
                          <a:effectLst/>
                          <a:latin typeface="楷体_GB2312" pitchFamily="49" charset="-122"/>
                          <a:ea typeface="楷体_GB2312" pitchFamily="49" charset="-122"/>
                        </a:rPr>
                        <a:t>个属性值</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dirty="0">
                          <a:ln>
                            <a:noFill/>
                          </a:ln>
                          <a:solidFill>
                            <a:srgbClr val="0000CC"/>
                          </a:solidFill>
                          <a:effectLst/>
                          <a:latin typeface="楷体_GB2312" pitchFamily="49" charset="-122"/>
                          <a:ea typeface="楷体_GB2312" pitchFamily="49" charset="-122"/>
                        </a:rPr>
                        <a:t>3</a:t>
                      </a:r>
                      <a:r>
                        <a:rPr kumimoji="0" lang="zh-CN" altLang="en-US" sz="2000" b="1" i="0" u="none" strike="noStrike" cap="none" normalizeH="0" baseline="0" dirty="0">
                          <a:ln>
                            <a:noFill/>
                          </a:ln>
                          <a:solidFill>
                            <a:srgbClr val="0000CC"/>
                          </a:solidFill>
                          <a:effectLst/>
                          <a:latin typeface="楷体_GB2312" pitchFamily="49" charset="-122"/>
                          <a:ea typeface="楷体_GB2312" pitchFamily="49" charset="-122"/>
                        </a:rPr>
                        <a:t>个属性值</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dirty="0">
                          <a:ln>
                            <a:noFill/>
                          </a:ln>
                          <a:solidFill>
                            <a:srgbClr val="0000CC"/>
                          </a:solidFill>
                          <a:effectLst/>
                          <a:latin typeface="楷体_GB2312" pitchFamily="49" charset="-122"/>
                          <a:ea typeface="楷体_GB2312" pitchFamily="49" charset="-122"/>
                        </a:rPr>
                        <a:t>2</a:t>
                      </a:r>
                      <a:r>
                        <a:rPr kumimoji="0" lang="zh-CN" altLang="en-US" sz="2000" b="1" i="0" u="none" strike="noStrike" cap="none" normalizeH="0" baseline="0" dirty="0">
                          <a:ln>
                            <a:noFill/>
                          </a:ln>
                          <a:solidFill>
                            <a:srgbClr val="0000CC"/>
                          </a:solidFill>
                          <a:effectLst/>
                          <a:latin typeface="楷体_GB2312" pitchFamily="49" charset="-122"/>
                          <a:ea typeface="楷体_GB2312" pitchFamily="49" charset="-122"/>
                        </a:rPr>
                        <a:t>个属性值</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dirty="0">
                          <a:ln>
                            <a:noFill/>
                          </a:ln>
                          <a:solidFill>
                            <a:srgbClr val="0000CC"/>
                          </a:solidFill>
                          <a:effectLst/>
                          <a:latin typeface="楷体_GB2312" pitchFamily="49" charset="-122"/>
                          <a:ea typeface="楷体_GB2312" pitchFamily="49" charset="-122"/>
                        </a:rPr>
                        <a:t>3</a:t>
                      </a:r>
                      <a:r>
                        <a:rPr kumimoji="0" lang="zh-CN" altLang="en-US" sz="2000" b="1" i="0" u="none" strike="noStrike" cap="none" normalizeH="0" baseline="0" dirty="0">
                          <a:ln>
                            <a:noFill/>
                          </a:ln>
                          <a:solidFill>
                            <a:srgbClr val="0000CC"/>
                          </a:solidFill>
                          <a:effectLst/>
                          <a:latin typeface="楷体_GB2312" pitchFamily="49" charset="-122"/>
                          <a:ea typeface="楷体_GB2312" pitchFamily="49" charset="-122"/>
                        </a:rPr>
                        <a:t>个属性值</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tabLst/>
                      </a:pPr>
                      <a:r>
                        <a:rPr kumimoji="0" lang="en-US" altLang="zh-CN" sz="2000" b="1" i="0" u="none" strike="noStrike" cap="none" normalizeH="0" baseline="0" dirty="0">
                          <a:ln>
                            <a:noFill/>
                          </a:ln>
                          <a:solidFill>
                            <a:srgbClr val="0000CC"/>
                          </a:solidFill>
                          <a:effectLst/>
                          <a:latin typeface="楷体_GB2312" pitchFamily="49" charset="-122"/>
                          <a:ea typeface="楷体_GB2312" pitchFamily="49" charset="-122"/>
                        </a:rPr>
                        <a:t>2</a:t>
                      </a:r>
                      <a:r>
                        <a:rPr kumimoji="0" lang="zh-CN" altLang="en-US" sz="2000" b="1" i="0" u="none" strike="noStrike" cap="none" normalizeH="0" baseline="0" dirty="0">
                          <a:ln>
                            <a:noFill/>
                          </a:ln>
                          <a:solidFill>
                            <a:srgbClr val="0000CC"/>
                          </a:solidFill>
                          <a:effectLst/>
                          <a:latin typeface="楷体_GB2312" pitchFamily="49" charset="-122"/>
                          <a:ea typeface="楷体_GB2312" pitchFamily="49" charset="-122"/>
                        </a:rPr>
                        <a:t>个类</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6692" name="矩形 3"/>
          <p:cNvSpPr>
            <a:spLocks noChangeArrowheads="1"/>
          </p:cNvSpPr>
          <p:nvPr/>
        </p:nvSpPr>
        <p:spPr bwMode="auto">
          <a:xfrm>
            <a:off x="5816973" y="6059508"/>
            <a:ext cx="714375" cy="369888"/>
          </a:xfrm>
          <a:prstGeom prst="rect">
            <a:avLst/>
          </a:prstGeom>
          <a:noFill/>
          <a:ln w="9525">
            <a:noFill/>
            <a:miter lim="800000"/>
            <a:headEnd/>
            <a:tailEnd/>
          </a:ln>
        </p:spPr>
        <p:txBody>
          <a:bodyPr>
            <a:spAutoFit/>
          </a:bodyPr>
          <a:lstStyle/>
          <a:p>
            <a:r>
              <a:rPr lang="zh-CN" altLang="en-US" b="1" dirty="0">
                <a:solidFill>
                  <a:srgbClr val="0070C0"/>
                </a:solidFill>
                <a:latin typeface="楷体_GB2312" pitchFamily="49" charset="-122"/>
                <a:ea typeface="楷体_GB2312" pitchFamily="49" charset="-122"/>
              </a:rPr>
              <a:t>表</a:t>
            </a:r>
            <a:r>
              <a:rPr lang="en-US" altLang="zh-CN" b="1" dirty="0">
                <a:solidFill>
                  <a:srgbClr val="0070C0"/>
                </a:solidFill>
                <a:latin typeface="楷体_GB2312" pitchFamily="49" charset="-122"/>
                <a:ea typeface="楷体_GB2312" pitchFamily="49" charset="-122"/>
              </a:rPr>
              <a:t>1</a:t>
            </a:r>
            <a:endParaRPr lang="zh-CN" altLang="en-US" dirty="0"/>
          </a:p>
        </p:txBody>
      </p:sp>
      <p:sp>
        <p:nvSpPr>
          <p:cNvPr id="26693" name="矩形 4"/>
          <p:cNvSpPr>
            <a:spLocks noChangeArrowheads="1"/>
          </p:cNvSpPr>
          <p:nvPr/>
        </p:nvSpPr>
        <p:spPr bwMode="auto">
          <a:xfrm>
            <a:off x="9239273" y="928671"/>
            <a:ext cx="1214437" cy="646113"/>
          </a:xfrm>
          <a:prstGeom prst="rect">
            <a:avLst/>
          </a:prstGeom>
          <a:noFill/>
          <a:ln w="9525">
            <a:solidFill>
              <a:srgbClr val="FF0000"/>
            </a:solidFill>
            <a:miter lim="800000"/>
            <a:headEnd/>
            <a:tailEnd/>
          </a:ln>
        </p:spPr>
        <p:txBody>
          <a:bodyPr>
            <a:spAutoFit/>
          </a:bodyPr>
          <a:lstStyle/>
          <a:p>
            <a:pPr algn="ctr"/>
            <a:r>
              <a:rPr lang="en-US" altLang="zh-CN" sz="3600" b="1">
                <a:solidFill>
                  <a:srgbClr val="C00000"/>
                </a:solidFill>
                <a:latin typeface="楷体_GB2312" pitchFamily="49" charset="-122"/>
                <a:ea typeface="楷体_GB2312" pitchFamily="49" charset="-122"/>
              </a:rPr>
              <a:t>MDL</a:t>
            </a:r>
            <a:endParaRPr lang="zh-CN" altLang="en-US" sz="3600">
              <a:solidFill>
                <a:srgbClr val="C00000"/>
              </a:solidFill>
            </a:endParaRP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2" name="矩形 1"/>
          <p:cNvSpPr/>
          <p:nvPr/>
        </p:nvSpPr>
        <p:spPr>
          <a:xfrm>
            <a:off x="2639616" y="2291782"/>
            <a:ext cx="3613490" cy="523220"/>
          </a:xfrm>
          <a:prstGeom prst="rect">
            <a:avLst/>
          </a:prstGeom>
        </p:spPr>
        <p:txBody>
          <a:bodyPr wrap="none">
            <a:spAutoFit/>
          </a:bodyPr>
          <a:lstStyle/>
          <a:p>
            <a:pPr>
              <a:buFontTx/>
              <a:buNone/>
              <a:defRPr/>
            </a:pPr>
            <a:r>
              <a:rPr lang="en-US" altLang="zh-CN" sz="2800" b="1" dirty="0">
                <a:solidFill>
                  <a:schemeClr val="accent1">
                    <a:lumMod val="50000"/>
                  </a:schemeClr>
                </a:solidFill>
                <a:latin typeface="楷体_GB2312" pitchFamily="49" charset="-122"/>
                <a:ea typeface="楷体_GB2312" pitchFamily="49" charset="-122"/>
              </a:rPr>
              <a:t>MDL</a:t>
            </a:r>
            <a:r>
              <a:rPr lang="zh-CN" altLang="en-US" sz="2800" b="1" dirty="0">
                <a:solidFill>
                  <a:schemeClr val="accent1">
                    <a:lumMod val="50000"/>
                  </a:schemeClr>
                </a:solidFill>
                <a:latin typeface="楷体_GB2312" pitchFamily="49" charset="-122"/>
                <a:ea typeface="楷体_GB2312" pitchFamily="49" charset="-122"/>
              </a:rPr>
              <a:t>决策树编码示例：</a:t>
            </a:r>
          </a:p>
        </p:txBody>
      </p:sp>
      <p:sp>
        <p:nvSpPr>
          <p:cNvPr id="3" name="矩形 2"/>
          <p:cNvSpPr/>
          <p:nvPr/>
        </p:nvSpPr>
        <p:spPr>
          <a:xfrm>
            <a:off x="868463" y="996827"/>
            <a:ext cx="7848872" cy="1335750"/>
          </a:xfrm>
          <a:prstGeom prst="rect">
            <a:avLst/>
          </a:prstGeom>
        </p:spPr>
        <p:txBody>
          <a:bodyPr wrap="square">
            <a:spAutoFit/>
          </a:bodyPr>
          <a:lstStyle/>
          <a:p>
            <a:pPr marL="342900" indent="-342900" eaLnBrk="0" hangingPunct="0">
              <a:spcBef>
                <a:spcPct val="20000"/>
              </a:spcBef>
              <a:buClr>
                <a:srgbClr val="5EB2B6"/>
              </a:buClr>
              <a:defRPr/>
            </a:pPr>
            <a:r>
              <a:rPr lang="zh-CN" altLang="en-US" sz="2800" b="1" kern="0" dirty="0">
                <a:solidFill>
                  <a:srgbClr val="0070C0"/>
                </a:solidFill>
                <a:latin typeface="楷体_GB2312" pitchFamily="49" charset="-122"/>
                <a:ea typeface="楷体_GB2312" pitchFamily="49" charset="-122"/>
                <a:cs typeface="Tahoma" pitchFamily="34" charset="0"/>
                <a:sym typeface="Symbol" pitchFamily="18" charset="2"/>
              </a:rPr>
              <a:t>决策树中的</a:t>
            </a:r>
            <a:r>
              <a:rPr lang="zh-CN" altLang="en-US" sz="2800" b="1" kern="0" dirty="0">
                <a:solidFill>
                  <a:srgbClr val="0070C0"/>
                </a:solidFill>
                <a:latin typeface="Arial"/>
                <a:ea typeface="楷体_GB2312" pitchFamily="49" charset="-122"/>
                <a:cs typeface="Tahoma" pitchFamily="34" charset="0"/>
                <a:sym typeface="Symbol" pitchFamily="18" charset="2"/>
              </a:rPr>
              <a:t>最小描述长度</a:t>
            </a:r>
            <a:r>
              <a:rPr lang="zh-CN" altLang="en-US" sz="2800" b="1" kern="0" dirty="0">
                <a:solidFill>
                  <a:srgbClr val="0070C0"/>
                </a:solidFill>
                <a:latin typeface="楷体_GB2312" pitchFamily="49" charset="-122"/>
                <a:ea typeface="楷体_GB2312" pitchFamily="49" charset="-122"/>
              </a:rPr>
              <a:t>（</a:t>
            </a:r>
            <a:r>
              <a:rPr lang="en-US" altLang="zh-CN" sz="2800" b="1" kern="0" dirty="0">
                <a:solidFill>
                  <a:srgbClr val="0070C0"/>
                </a:solidFill>
                <a:latin typeface="楷体_GB2312" pitchFamily="49" charset="-122"/>
                <a:ea typeface="楷体_GB2312" pitchFamily="49" charset="-122"/>
              </a:rPr>
              <a:t>MDL</a:t>
            </a:r>
            <a:r>
              <a:rPr lang="zh-CN" altLang="en-US" sz="2800" b="1" kern="0" dirty="0">
                <a:solidFill>
                  <a:srgbClr val="0070C0"/>
                </a:solidFill>
                <a:latin typeface="楷体_GB2312" pitchFamily="49" charset="-122"/>
                <a:ea typeface="楷体_GB2312" pitchFamily="49" charset="-122"/>
              </a:rPr>
              <a:t>）</a:t>
            </a:r>
            <a:r>
              <a:rPr lang="zh-CN" altLang="en-US" sz="2800" b="1" kern="0" dirty="0">
                <a:solidFill>
                  <a:srgbClr val="0070C0"/>
                </a:solidFill>
                <a:latin typeface="Arial"/>
                <a:ea typeface="楷体_GB2312" pitchFamily="49" charset="-122"/>
                <a:cs typeface="Tahoma" pitchFamily="34" charset="0"/>
                <a:sym typeface="Symbol" pitchFamily="18" charset="2"/>
              </a:rPr>
              <a:t>准则（续）</a:t>
            </a:r>
          </a:p>
          <a:p>
            <a:pPr marL="342900" indent="-342900" eaLnBrk="0" hangingPunct="0">
              <a:spcBef>
                <a:spcPct val="20000"/>
              </a:spcBef>
              <a:buClr>
                <a:srgbClr val="5EB2B6"/>
              </a:buClr>
              <a:defRPr/>
            </a:pPr>
            <a:r>
              <a:rPr lang="zh-CN" altLang="en-US" sz="2400" b="1" kern="0" dirty="0">
                <a:solidFill>
                  <a:srgbClr val="F18FAB"/>
                </a:solidFill>
                <a:latin typeface="Arial"/>
                <a:ea typeface="楷体_GB2312" pitchFamily="49" charset="-122"/>
                <a:cs typeface="Tahoma" pitchFamily="34" charset="0"/>
                <a:sym typeface="Symbol" pitchFamily="18" charset="2"/>
              </a:rPr>
              <a:t>         </a:t>
            </a:r>
            <a:r>
              <a:rPr lang="zh-CN" altLang="en-US" sz="2400" kern="0" dirty="0">
                <a:solidFill>
                  <a:srgbClr val="000000"/>
                </a:solidFill>
                <a:latin typeface="Arial"/>
                <a:ea typeface="楷体_GB2312" pitchFamily="49" charset="-122"/>
                <a:cs typeface="Tahoma" pitchFamily="34" charset="0"/>
                <a:sym typeface="Symbol" pitchFamily="18" charset="2"/>
              </a:rPr>
              <a:t>在决策树学习中，最小化决策树编码对应于简化决策树，而最小化编码例外对应于增加决策树的正确率。</a:t>
            </a:r>
            <a:r>
              <a:rPr lang="zh-CN" altLang="en-US" sz="2400" b="1" kern="0" dirty="0">
                <a:solidFill>
                  <a:srgbClr val="9FD56D">
                    <a:lumMod val="50000"/>
                  </a:srgbClr>
                </a:solidFill>
                <a:latin typeface="楷体_GB2312" pitchFamily="49" charset="-122"/>
                <a:ea typeface="楷体_GB2312" pitchFamily="49" charset="-122"/>
              </a:rPr>
              <a:t> </a:t>
            </a:r>
          </a:p>
        </p:txBody>
      </p:sp>
      <p:sp>
        <p:nvSpPr>
          <p:cNvPr id="9" name="矩形 2"/>
          <p:cNvSpPr>
            <a:spLocks noChangeArrowheads="1"/>
          </p:cNvSpPr>
          <p:nvPr/>
        </p:nvSpPr>
        <p:spPr bwMode="auto">
          <a:xfrm>
            <a:off x="9027814" y="116632"/>
            <a:ext cx="1214437" cy="646113"/>
          </a:xfrm>
          <a:prstGeom prst="rect">
            <a:avLst/>
          </a:prstGeom>
          <a:noFill/>
          <a:ln w="9525">
            <a:solidFill>
              <a:srgbClr val="FF0000"/>
            </a:solidFill>
            <a:miter lim="800000"/>
            <a:headEnd/>
            <a:tailEnd/>
          </a:ln>
        </p:spPr>
        <p:txBody>
          <a:bodyPr>
            <a:spAutoFit/>
          </a:bodyPr>
          <a:lstStyle/>
          <a:p>
            <a:pPr algn="ctr"/>
            <a:r>
              <a:rPr lang="zh-CN" altLang="en-US" sz="3600" b="1" dirty="0">
                <a:solidFill>
                  <a:srgbClr val="FF0000"/>
                </a:solidFill>
                <a:latin typeface="楷体_GB2312" pitchFamily="49" charset="-122"/>
                <a:ea typeface="楷体_GB2312" pitchFamily="49" charset="-122"/>
              </a:rPr>
              <a:t>自习</a:t>
            </a:r>
            <a:endParaRPr lang="zh-CN" altLang="en-US" sz="36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39</a:t>
            </a:fld>
            <a:endParaRPr lang="en-US" altLang="zh-CN" dirty="0"/>
          </a:p>
        </p:txBody>
      </p:sp>
      <p:pic>
        <p:nvPicPr>
          <p:cNvPr id="509954" name="Picture 2"/>
          <p:cNvPicPr>
            <a:picLocks noChangeAspect="1" noChangeArrowheads="1"/>
          </p:cNvPicPr>
          <p:nvPr/>
        </p:nvPicPr>
        <p:blipFill>
          <a:blip r:embed="rId2" cstate="print"/>
          <a:srcRect/>
          <a:stretch>
            <a:fillRect/>
          </a:stretch>
        </p:blipFill>
        <p:spPr bwMode="auto">
          <a:xfrm>
            <a:off x="2279576" y="188640"/>
            <a:ext cx="7296150" cy="6324600"/>
          </a:xfrm>
          <a:prstGeom prst="rect">
            <a:avLst/>
          </a:prstGeom>
          <a:noFill/>
          <a:ln w="9525">
            <a:noFill/>
            <a:miter lim="800000"/>
            <a:headEnd/>
            <a:tailEnd/>
          </a:ln>
        </p:spPr>
      </p:pic>
      <p:sp>
        <p:nvSpPr>
          <p:cNvPr id="5" name="矩形 2"/>
          <p:cNvSpPr>
            <a:spLocks noChangeArrowheads="1"/>
          </p:cNvSpPr>
          <p:nvPr/>
        </p:nvSpPr>
        <p:spPr bwMode="auto">
          <a:xfrm>
            <a:off x="9570338" y="188640"/>
            <a:ext cx="1214437" cy="523220"/>
          </a:xfrm>
          <a:prstGeom prst="rect">
            <a:avLst/>
          </a:prstGeom>
          <a:noFill/>
          <a:ln w="9525">
            <a:solidFill>
              <a:srgbClr val="FF0000"/>
            </a:solidFill>
            <a:miter lim="800000"/>
            <a:headEnd/>
            <a:tailEnd/>
          </a:ln>
        </p:spPr>
        <p:txBody>
          <a:bodyPr>
            <a:spAutoFit/>
          </a:bodyPr>
          <a:lstStyle/>
          <a:p>
            <a:pPr algn="ctr"/>
            <a:r>
              <a:rPr lang="zh-CN" altLang="en-US" sz="2800" b="1" dirty="0">
                <a:solidFill>
                  <a:srgbClr val="FF0000"/>
                </a:solidFill>
                <a:latin typeface="楷体_GB2312" pitchFamily="49" charset="-122"/>
                <a:ea typeface="楷体_GB2312" pitchFamily="49" charset="-122"/>
              </a:rPr>
              <a:t>自习</a:t>
            </a:r>
            <a:endParaRPr lang="zh-CN" altLang="en-US" sz="2800"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1524000" y="928670"/>
            <a:ext cx="9144000" cy="5929330"/>
          </a:xfrm>
        </p:spPr>
        <p:txBody>
          <a:bodyPr/>
          <a:lstStyle/>
          <a:p>
            <a:pPr>
              <a:buFontTx/>
              <a:buNone/>
            </a:pPr>
            <a:r>
              <a:rPr lang="en-US" altLang="zh-CN" b="1" dirty="0">
                <a:solidFill>
                  <a:srgbClr val="FFFF66"/>
                </a:solidFill>
                <a:latin typeface="楷体_GB2312" pitchFamily="49" charset="-122"/>
                <a:ea typeface="楷体_GB2312" pitchFamily="49" charset="-122"/>
              </a:rPr>
              <a:t>  </a:t>
            </a:r>
            <a:r>
              <a:rPr lang="zh-CN" altLang="en-US" b="1" dirty="0">
                <a:solidFill>
                  <a:srgbClr val="0070C0"/>
                </a:solidFill>
                <a:latin typeface="楷体_GB2312" pitchFamily="49" charset="-122"/>
                <a:ea typeface="楷体_GB2312" pitchFamily="49" charset="-122"/>
              </a:rPr>
              <a:t>由表</a:t>
            </a:r>
            <a:r>
              <a:rPr lang="en-US" altLang="zh-CN" b="1" dirty="0">
                <a:solidFill>
                  <a:srgbClr val="0070C0"/>
                </a:solidFill>
                <a:latin typeface="楷体_GB2312" pitchFamily="49" charset="-122"/>
                <a:ea typeface="楷体_GB2312" pitchFamily="49" charset="-122"/>
              </a:rPr>
              <a:t>1</a:t>
            </a:r>
            <a:r>
              <a:rPr lang="zh-CN" altLang="en-US" b="1" dirty="0">
                <a:solidFill>
                  <a:srgbClr val="0070C0"/>
                </a:solidFill>
                <a:latin typeface="楷体_GB2312" pitchFamily="49" charset="-122"/>
                <a:ea typeface="楷体_GB2312" pitchFamily="49" charset="-122"/>
              </a:rPr>
              <a:t>生成的决策树         将记录</a:t>
            </a:r>
            <a:r>
              <a:rPr lang="en-US" altLang="zh-CN" b="1" dirty="0">
                <a:solidFill>
                  <a:srgbClr val="0070C0"/>
                </a:solidFill>
                <a:latin typeface="楷体_GB2312" pitchFamily="49" charset="-122"/>
                <a:ea typeface="楷体_GB2312" pitchFamily="49" charset="-122"/>
              </a:rPr>
              <a:t>8</a:t>
            </a:r>
            <a:r>
              <a:rPr lang="zh-CN" altLang="en-US" b="1" dirty="0">
                <a:solidFill>
                  <a:srgbClr val="0070C0"/>
                </a:solidFill>
                <a:latin typeface="楷体_GB2312" pitchFamily="49" charset="-122"/>
                <a:ea typeface="楷体_GB2312" pitchFamily="49" charset="-122"/>
              </a:rPr>
              <a:t>的类标签改为</a:t>
            </a:r>
            <a:r>
              <a:rPr lang="en-US" altLang="zh-CN" b="1" dirty="0">
                <a:solidFill>
                  <a:srgbClr val="0070C0"/>
                </a:solidFill>
                <a:latin typeface="楷体_GB2312" pitchFamily="49" charset="-122"/>
                <a:ea typeface="楷体_GB2312" pitchFamily="49" charset="-122"/>
              </a:rPr>
              <a:t>N</a:t>
            </a:r>
          </a:p>
          <a:p>
            <a:pPr>
              <a:buFontTx/>
              <a:buNone/>
            </a:pPr>
            <a:r>
              <a:rPr lang="en-US" altLang="zh-CN" b="1" dirty="0">
                <a:solidFill>
                  <a:srgbClr val="0070C0"/>
                </a:solidFill>
                <a:latin typeface="楷体_GB2312" pitchFamily="49" charset="-122"/>
                <a:ea typeface="楷体_GB2312" pitchFamily="49" charset="-122"/>
              </a:rPr>
              <a:t>                            </a:t>
            </a:r>
            <a:r>
              <a:rPr lang="zh-CN" altLang="en-US" b="1" dirty="0">
                <a:solidFill>
                  <a:srgbClr val="0070C0"/>
                </a:solidFill>
                <a:latin typeface="楷体_GB2312" pitchFamily="49" charset="-122"/>
                <a:ea typeface="楷体_GB2312" pitchFamily="49" charset="-122"/>
              </a:rPr>
              <a:t>的决策树   </a:t>
            </a:r>
          </a:p>
          <a:p>
            <a:pPr>
              <a:buFontTx/>
              <a:buNone/>
            </a:pPr>
            <a:endParaRPr lang="zh-CN" altLang="en-US" b="1" dirty="0">
              <a:solidFill>
                <a:srgbClr val="0070C0"/>
              </a:solidFill>
              <a:latin typeface="Times New Roman" pitchFamily="18" charset="0"/>
              <a:ea typeface="楷体_GB2312" pitchFamily="49" charset="-122"/>
            </a:endParaRPr>
          </a:p>
          <a:p>
            <a:pPr>
              <a:buFontTx/>
              <a:buNone/>
            </a:pPr>
            <a:r>
              <a:rPr lang="en-US" altLang="zh-CN" sz="1800" b="1" dirty="0">
                <a:solidFill>
                  <a:srgbClr val="0070C0"/>
                </a:solidFill>
              </a:rPr>
              <a:t>Sunny</a:t>
            </a:r>
          </a:p>
          <a:p>
            <a:pPr>
              <a:buFontTx/>
              <a:buNone/>
            </a:pPr>
            <a:r>
              <a:rPr lang="en-US" altLang="zh-CN" sz="1800" b="1" dirty="0">
                <a:solidFill>
                  <a:srgbClr val="0070C0"/>
                </a:solidFill>
              </a:rPr>
              <a:t>              Overcast           Rain                             Sunny       Overcast         Rain</a:t>
            </a:r>
          </a:p>
          <a:p>
            <a:pPr>
              <a:buFontTx/>
              <a:buNone/>
            </a:pPr>
            <a:endParaRPr lang="en-US" altLang="zh-CN" sz="1800" b="1" dirty="0">
              <a:solidFill>
                <a:srgbClr val="0070C0"/>
              </a:solidFill>
            </a:endParaRPr>
          </a:p>
          <a:p>
            <a:pPr>
              <a:buFontTx/>
              <a:buNone/>
            </a:pPr>
            <a:endParaRPr lang="en-US" altLang="zh-CN" sz="1800" b="1" dirty="0">
              <a:solidFill>
                <a:srgbClr val="0070C0"/>
              </a:solidFill>
            </a:endParaRPr>
          </a:p>
          <a:p>
            <a:pPr>
              <a:buFontTx/>
              <a:buNone/>
            </a:pPr>
            <a:r>
              <a:rPr lang="en-US" altLang="zh-CN" sz="1800" b="1" dirty="0">
                <a:solidFill>
                  <a:srgbClr val="0070C0"/>
                </a:solidFill>
              </a:rPr>
              <a:t>       High      Normal                                                                                                </a:t>
            </a:r>
          </a:p>
          <a:p>
            <a:pPr>
              <a:buFontTx/>
              <a:buNone/>
            </a:pPr>
            <a:r>
              <a:rPr lang="en-US" altLang="zh-CN" sz="1800" b="1" dirty="0">
                <a:solidFill>
                  <a:srgbClr val="0070C0"/>
                </a:solidFill>
              </a:rPr>
              <a:t>                                    Not   Medium   Very               High                    Normal</a:t>
            </a:r>
          </a:p>
          <a:p>
            <a:pPr>
              <a:buFontTx/>
              <a:buNone/>
            </a:pPr>
            <a:endParaRPr lang="en-US" altLang="zh-CN" sz="1800" b="1" dirty="0">
              <a:solidFill>
                <a:srgbClr val="0070C0"/>
              </a:solidFill>
            </a:endParaRPr>
          </a:p>
          <a:p>
            <a:pPr>
              <a:buFontTx/>
              <a:buNone/>
            </a:pPr>
            <a:endParaRPr lang="en-US" altLang="zh-CN" sz="1800" b="1" dirty="0">
              <a:solidFill>
                <a:srgbClr val="0070C0"/>
              </a:solidFill>
            </a:endParaRPr>
          </a:p>
          <a:p>
            <a:pPr>
              <a:buFontTx/>
              <a:buNone/>
            </a:pPr>
            <a:endParaRPr lang="en-US" altLang="zh-CN" sz="1800" b="1" dirty="0">
              <a:solidFill>
                <a:srgbClr val="0070C0"/>
              </a:solidFill>
            </a:endParaRPr>
          </a:p>
          <a:p>
            <a:pPr>
              <a:buFontTx/>
              <a:buNone/>
            </a:pPr>
            <a:r>
              <a:rPr lang="en-US" altLang="zh-CN" sz="1800" b="1" dirty="0">
                <a:solidFill>
                  <a:srgbClr val="0070C0"/>
                </a:solidFill>
              </a:rPr>
              <a:t>                  Cool       Mild      Hot</a:t>
            </a:r>
          </a:p>
          <a:p>
            <a:pPr>
              <a:buFontTx/>
              <a:buNone/>
            </a:pPr>
            <a:endParaRPr lang="en-US" altLang="zh-CN" sz="1800" b="1" dirty="0">
              <a:solidFill>
                <a:srgbClr val="0070C0"/>
              </a:solidFill>
            </a:endParaRPr>
          </a:p>
          <a:p>
            <a:pPr>
              <a:buFontTx/>
              <a:buNone/>
            </a:pPr>
            <a:endParaRPr lang="en-US" altLang="zh-CN" sz="1800" b="1" dirty="0">
              <a:solidFill>
                <a:srgbClr val="0070C0"/>
              </a:solidFill>
            </a:endParaRPr>
          </a:p>
          <a:p>
            <a:pPr>
              <a:buFontTx/>
              <a:buNone/>
            </a:pPr>
            <a:r>
              <a:rPr lang="en-US" altLang="zh-CN" sz="2000" b="1" dirty="0">
                <a:solidFill>
                  <a:srgbClr val="0070C0"/>
                </a:solidFill>
              </a:rPr>
              <a:t>                           </a:t>
            </a:r>
            <a:r>
              <a:rPr lang="zh-CN" altLang="en-US" sz="2000" b="1" dirty="0">
                <a:solidFill>
                  <a:srgbClr val="0070C0"/>
                </a:solidFill>
              </a:rPr>
              <a:t>图</a:t>
            </a:r>
            <a:r>
              <a:rPr lang="en-US" altLang="zh-CN" sz="2000" b="1" dirty="0">
                <a:solidFill>
                  <a:srgbClr val="0070C0"/>
                </a:solidFill>
              </a:rPr>
              <a:t>1                                                       </a:t>
            </a:r>
            <a:r>
              <a:rPr lang="zh-CN" altLang="en-US" sz="2000" b="1" dirty="0">
                <a:solidFill>
                  <a:srgbClr val="0070C0"/>
                </a:solidFill>
              </a:rPr>
              <a:t>图</a:t>
            </a:r>
            <a:r>
              <a:rPr lang="en-US" altLang="zh-CN" sz="2000" b="1" dirty="0">
                <a:solidFill>
                  <a:srgbClr val="0070C0"/>
                </a:solidFill>
              </a:rPr>
              <a:t>2</a:t>
            </a:r>
          </a:p>
        </p:txBody>
      </p:sp>
      <p:sp>
        <p:nvSpPr>
          <p:cNvPr id="5124" name="Oval 26"/>
          <p:cNvSpPr>
            <a:spLocks noChangeArrowheads="1"/>
          </p:cNvSpPr>
          <p:nvPr/>
        </p:nvSpPr>
        <p:spPr bwMode="auto">
          <a:xfrm>
            <a:off x="2497139" y="1844676"/>
            <a:ext cx="1368425" cy="360363"/>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Outlook</a:t>
            </a:r>
          </a:p>
        </p:txBody>
      </p:sp>
      <p:sp>
        <p:nvSpPr>
          <p:cNvPr id="5125" name="Line 27"/>
          <p:cNvSpPr>
            <a:spLocks noChangeShapeType="1"/>
          </p:cNvSpPr>
          <p:nvPr/>
        </p:nvSpPr>
        <p:spPr bwMode="auto">
          <a:xfrm>
            <a:off x="3073400" y="2205038"/>
            <a:ext cx="0" cy="792162"/>
          </a:xfrm>
          <a:prstGeom prst="line">
            <a:avLst/>
          </a:prstGeom>
          <a:noFill/>
          <a:ln w="38100">
            <a:solidFill>
              <a:schemeClr val="tx1"/>
            </a:solidFill>
            <a:round/>
            <a:headEnd/>
            <a:tailEnd/>
          </a:ln>
        </p:spPr>
        <p:txBody>
          <a:bodyPr/>
          <a:lstStyle/>
          <a:p>
            <a:endParaRPr lang="zh-CN" altLang="en-US"/>
          </a:p>
        </p:txBody>
      </p:sp>
      <p:sp>
        <p:nvSpPr>
          <p:cNvPr id="5126" name="Oval 28"/>
          <p:cNvSpPr>
            <a:spLocks noChangeArrowheads="1"/>
          </p:cNvSpPr>
          <p:nvPr/>
        </p:nvSpPr>
        <p:spPr bwMode="auto">
          <a:xfrm>
            <a:off x="1776413" y="2997201"/>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P</a:t>
            </a:r>
          </a:p>
        </p:txBody>
      </p:sp>
      <p:sp>
        <p:nvSpPr>
          <p:cNvPr id="5127" name="Oval 29"/>
          <p:cNvSpPr>
            <a:spLocks noChangeArrowheads="1"/>
          </p:cNvSpPr>
          <p:nvPr/>
        </p:nvSpPr>
        <p:spPr bwMode="auto">
          <a:xfrm>
            <a:off x="4008439" y="2997201"/>
            <a:ext cx="1368425" cy="360363"/>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Windy</a:t>
            </a:r>
          </a:p>
        </p:txBody>
      </p:sp>
      <p:sp>
        <p:nvSpPr>
          <p:cNvPr id="5128" name="Oval 30"/>
          <p:cNvSpPr>
            <a:spLocks noChangeArrowheads="1"/>
          </p:cNvSpPr>
          <p:nvPr/>
        </p:nvSpPr>
        <p:spPr bwMode="auto">
          <a:xfrm>
            <a:off x="2425701" y="2997201"/>
            <a:ext cx="1368425" cy="360363"/>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Humidity</a:t>
            </a:r>
          </a:p>
        </p:txBody>
      </p:sp>
      <p:sp>
        <p:nvSpPr>
          <p:cNvPr id="5129" name="Line 31"/>
          <p:cNvSpPr>
            <a:spLocks noChangeShapeType="1"/>
          </p:cNvSpPr>
          <p:nvPr/>
        </p:nvSpPr>
        <p:spPr bwMode="auto">
          <a:xfrm>
            <a:off x="3576639" y="2205038"/>
            <a:ext cx="865187" cy="792162"/>
          </a:xfrm>
          <a:prstGeom prst="line">
            <a:avLst/>
          </a:prstGeom>
          <a:noFill/>
          <a:ln w="38100">
            <a:solidFill>
              <a:schemeClr val="tx1"/>
            </a:solidFill>
            <a:round/>
            <a:headEnd/>
            <a:tailEnd/>
          </a:ln>
        </p:spPr>
        <p:txBody>
          <a:bodyPr/>
          <a:lstStyle/>
          <a:p>
            <a:endParaRPr lang="zh-CN" altLang="en-US"/>
          </a:p>
        </p:txBody>
      </p:sp>
      <p:sp>
        <p:nvSpPr>
          <p:cNvPr id="5130" name="Line 32"/>
          <p:cNvSpPr>
            <a:spLocks noChangeShapeType="1"/>
          </p:cNvSpPr>
          <p:nvPr/>
        </p:nvSpPr>
        <p:spPr bwMode="auto">
          <a:xfrm flipH="1">
            <a:off x="1992314" y="2205038"/>
            <a:ext cx="649287" cy="792162"/>
          </a:xfrm>
          <a:prstGeom prst="line">
            <a:avLst/>
          </a:prstGeom>
          <a:noFill/>
          <a:ln w="38100">
            <a:solidFill>
              <a:schemeClr val="tx1"/>
            </a:solidFill>
            <a:round/>
            <a:headEnd/>
            <a:tailEnd/>
          </a:ln>
        </p:spPr>
        <p:txBody>
          <a:bodyPr/>
          <a:lstStyle/>
          <a:p>
            <a:endParaRPr lang="zh-CN" altLang="en-US"/>
          </a:p>
        </p:txBody>
      </p:sp>
      <p:sp>
        <p:nvSpPr>
          <p:cNvPr id="5131" name="Line 33"/>
          <p:cNvSpPr>
            <a:spLocks noChangeShapeType="1"/>
          </p:cNvSpPr>
          <p:nvPr/>
        </p:nvSpPr>
        <p:spPr bwMode="auto">
          <a:xfrm flipH="1">
            <a:off x="2351088" y="3357563"/>
            <a:ext cx="431800" cy="647700"/>
          </a:xfrm>
          <a:prstGeom prst="line">
            <a:avLst/>
          </a:prstGeom>
          <a:noFill/>
          <a:ln w="38100">
            <a:solidFill>
              <a:schemeClr val="tx1"/>
            </a:solidFill>
            <a:round/>
            <a:headEnd/>
            <a:tailEnd/>
          </a:ln>
        </p:spPr>
        <p:txBody>
          <a:bodyPr/>
          <a:lstStyle/>
          <a:p>
            <a:endParaRPr lang="zh-CN" altLang="en-US"/>
          </a:p>
        </p:txBody>
      </p:sp>
      <p:sp>
        <p:nvSpPr>
          <p:cNvPr id="5132" name="Line 34"/>
          <p:cNvSpPr>
            <a:spLocks noChangeShapeType="1"/>
          </p:cNvSpPr>
          <p:nvPr/>
        </p:nvSpPr>
        <p:spPr bwMode="auto">
          <a:xfrm>
            <a:off x="3143251" y="3357563"/>
            <a:ext cx="360363" cy="576262"/>
          </a:xfrm>
          <a:prstGeom prst="line">
            <a:avLst/>
          </a:prstGeom>
          <a:noFill/>
          <a:ln w="38100">
            <a:solidFill>
              <a:schemeClr val="tx1"/>
            </a:solidFill>
            <a:round/>
            <a:headEnd/>
            <a:tailEnd/>
          </a:ln>
        </p:spPr>
        <p:txBody>
          <a:bodyPr/>
          <a:lstStyle/>
          <a:p>
            <a:endParaRPr lang="zh-CN" altLang="en-US"/>
          </a:p>
        </p:txBody>
      </p:sp>
      <p:sp>
        <p:nvSpPr>
          <p:cNvPr id="5133" name="Oval 35"/>
          <p:cNvSpPr>
            <a:spLocks noChangeArrowheads="1"/>
          </p:cNvSpPr>
          <p:nvPr/>
        </p:nvSpPr>
        <p:spPr bwMode="auto">
          <a:xfrm>
            <a:off x="3359151" y="4508501"/>
            <a:ext cx="1368425" cy="360363"/>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Temp</a:t>
            </a:r>
          </a:p>
        </p:txBody>
      </p:sp>
      <p:sp>
        <p:nvSpPr>
          <p:cNvPr id="5134" name="Oval 36"/>
          <p:cNvSpPr>
            <a:spLocks noChangeArrowheads="1"/>
          </p:cNvSpPr>
          <p:nvPr/>
        </p:nvSpPr>
        <p:spPr bwMode="auto">
          <a:xfrm>
            <a:off x="4729163" y="4076701"/>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35" name="Oval 37"/>
          <p:cNvSpPr>
            <a:spLocks noChangeArrowheads="1"/>
          </p:cNvSpPr>
          <p:nvPr/>
        </p:nvSpPr>
        <p:spPr bwMode="auto">
          <a:xfrm>
            <a:off x="2063751" y="3933826"/>
            <a:ext cx="360363"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36" name="Oval 38"/>
          <p:cNvSpPr>
            <a:spLocks noChangeArrowheads="1"/>
          </p:cNvSpPr>
          <p:nvPr/>
        </p:nvSpPr>
        <p:spPr bwMode="auto">
          <a:xfrm>
            <a:off x="3359151" y="3933826"/>
            <a:ext cx="360363"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P</a:t>
            </a:r>
          </a:p>
        </p:txBody>
      </p:sp>
      <p:sp>
        <p:nvSpPr>
          <p:cNvPr id="5137" name="Oval 41"/>
          <p:cNvSpPr>
            <a:spLocks noChangeArrowheads="1"/>
          </p:cNvSpPr>
          <p:nvPr/>
        </p:nvSpPr>
        <p:spPr bwMode="auto">
          <a:xfrm>
            <a:off x="5808663" y="4364039"/>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dirty="0">
                <a:solidFill>
                  <a:srgbClr val="C00000"/>
                </a:solidFill>
              </a:rPr>
              <a:t>N</a:t>
            </a:r>
          </a:p>
        </p:txBody>
      </p:sp>
      <p:sp>
        <p:nvSpPr>
          <p:cNvPr id="5138" name="Line 42"/>
          <p:cNvSpPr>
            <a:spLocks noChangeShapeType="1"/>
          </p:cNvSpPr>
          <p:nvPr/>
        </p:nvSpPr>
        <p:spPr bwMode="auto">
          <a:xfrm flipH="1">
            <a:off x="3000375" y="4868863"/>
            <a:ext cx="719138" cy="792162"/>
          </a:xfrm>
          <a:prstGeom prst="line">
            <a:avLst/>
          </a:prstGeom>
          <a:noFill/>
          <a:ln w="38100">
            <a:solidFill>
              <a:schemeClr val="tx1"/>
            </a:solidFill>
            <a:round/>
            <a:headEnd/>
            <a:tailEnd/>
          </a:ln>
        </p:spPr>
        <p:txBody>
          <a:bodyPr/>
          <a:lstStyle/>
          <a:p>
            <a:endParaRPr lang="zh-CN" altLang="en-US"/>
          </a:p>
        </p:txBody>
      </p:sp>
      <p:sp>
        <p:nvSpPr>
          <p:cNvPr id="5139" name="Line 43"/>
          <p:cNvSpPr>
            <a:spLocks noChangeShapeType="1"/>
          </p:cNvSpPr>
          <p:nvPr/>
        </p:nvSpPr>
        <p:spPr bwMode="auto">
          <a:xfrm>
            <a:off x="3935413" y="4868864"/>
            <a:ext cx="0" cy="865187"/>
          </a:xfrm>
          <a:prstGeom prst="line">
            <a:avLst/>
          </a:prstGeom>
          <a:noFill/>
          <a:ln w="38100">
            <a:solidFill>
              <a:schemeClr val="tx1"/>
            </a:solidFill>
            <a:round/>
            <a:headEnd/>
            <a:tailEnd/>
          </a:ln>
        </p:spPr>
        <p:txBody>
          <a:bodyPr/>
          <a:lstStyle/>
          <a:p>
            <a:endParaRPr lang="zh-CN" altLang="en-US"/>
          </a:p>
        </p:txBody>
      </p:sp>
      <p:sp>
        <p:nvSpPr>
          <p:cNvPr id="5140" name="Line 44"/>
          <p:cNvSpPr>
            <a:spLocks noChangeShapeType="1"/>
          </p:cNvSpPr>
          <p:nvPr/>
        </p:nvSpPr>
        <p:spPr bwMode="auto">
          <a:xfrm>
            <a:off x="4367213" y="4868863"/>
            <a:ext cx="360362" cy="792162"/>
          </a:xfrm>
          <a:prstGeom prst="line">
            <a:avLst/>
          </a:prstGeom>
          <a:noFill/>
          <a:ln w="38100">
            <a:solidFill>
              <a:schemeClr val="tx1"/>
            </a:solidFill>
            <a:round/>
            <a:headEnd/>
            <a:tailEnd/>
          </a:ln>
        </p:spPr>
        <p:txBody>
          <a:bodyPr/>
          <a:lstStyle/>
          <a:p>
            <a:endParaRPr lang="zh-CN" altLang="en-US"/>
          </a:p>
        </p:txBody>
      </p:sp>
      <p:sp>
        <p:nvSpPr>
          <p:cNvPr id="5141" name="Oval 45"/>
          <p:cNvSpPr>
            <a:spLocks noChangeArrowheads="1"/>
          </p:cNvSpPr>
          <p:nvPr/>
        </p:nvSpPr>
        <p:spPr bwMode="auto">
          <a:xfrm>
            <a:off x="4656138" y="5661026"/>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P</a:t>
            </a:r>
          </a:p>
        </p:txBody>
      </p:sp>
      <p:sp>
        <p:nvSpPr>
          <p:cNvPr id="5142" name="Oval 46"/>
          <p:cNvSpPr>
            <a:spLocks noChangeArrowheads="1"/>
          </p:cNvSpPr>
          <p:nvPr/>
        </p:nvSpPr>
        <p:spPr bwMode="auto">
          <a:xfrm>
            <a:off x="2711451" y="5589589"/>
            <a:ext cx="360363"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43" name="Line 47"/>
          <p:cNvSpPr>
            <a:spLocks noChangeShapeType="1"/>
          </p:cNvSpPr>
          <p:nvPr/>
        </p:nvSpPr>
        <p:spPr bwMode="auto">
          <a:xfrm flipH="1">
            <a:off x="4008439" y="3357564"/>
            <a:ext cx="287337" cy="1150937"/>
          </a:xfrm>
          <a:prstGeom prst="line">
            <a:avLst/>
          </a:prstGeom>
          <a:noFill/>
          <a:ln w="38100">
            <a:solidFill>
              <a:schemeClr val="tx1"/>
            </a:solidFill>
            <a:round/>
            <a:headEnd/>
            <a:tailEnd/>
          </a:ln>
        </p:spPr>
        <p:txBody>
          <a:bodyPr/>
          <a:lstStyle/>
          <a:p>
            <a:endParaRPr lang="zh-CN" altLang="en-US"/>
          </a:p>
        </p:txBody>
      </p:sp>
      <p:sp>
        <p:nvSpPr>
          <p:cNvPr id="5144" name="Line 48"/>
          <p:cNvSpPr>
            <a:spLocks noChangeShapeType="1"/>
          </p:cNvSpPr>
          <p:nvPr/>
        </p:nvSpPr>
        <p:spPr bwMode="auto">
          <a:xfrm>
            <a:off x="4729164" y="3355976"/>
            <a:ext cx="142875" cy="720725"/>
          </a:xfrm>
          <a:prstGeom prst="line">
            <a:avLst/>
          </a:prstGeom>
          <a:noFill/>
          <a:ln w="38100">
            <a:solidFill>
              <a:schemeClr val="tx1"/>
            </a:solidFill>
            <a:round/>
            <a:headEnd/>
            <a:tailEnd/>
          </a:ln>
        </p:spPr>
        <p:txBody>
          <a:bodyPr/>
          <a:lstStyle/>
          <a:p>
            <a:endParaRPr lang="zh-CN" altLang="en-US"/>
          </a:p>
        </p:txBody>
      </p:sp>
      <p:sp>
        <p:nvSpPr>
          <p:cNvPr id="5145" name="Line 49"/>
          <p:cNvSpPr>
            <a:spLocks noChangeShapeType="1"/>
          </p:cNvSpPr>
          <p:nvPr/>
        </p:nvSpPr>
        <p:spPr bwMode="auto">
          <a:xfrm>
            <a:off x="5160964" y="3355975"/>
            <a:ext cx="719137" cy="1081088"/>
          </a:xfrm>
          <a:prstGeom prst="line">
            <a:avLst/>
          </a:prstGeom>
          <a:noFill/>
          <a:ln w="38100">
            <a:solidFill>
              <a:schemeClr val="tx1"/>
            </a:solidFill>
            <a:round/>
            <a:headEnd/>
            <a:tailEnd/>
          </a:ln>
        </p:spPr>
        <p:txBody>
          <a:bodyPr/>
          <a:lstStyle/>
          <a:p>
            <a:endParaRPr lang="zh-CN" altLang="en-US"/>
          </a:p>
        </p:txBody>
      </p:sp>
      <p:sp>
        <p:nvSpPr>
          <p:cNvPr id="5146" name="Oval 50"/>
          <p:cNvSpPr>
            <a:spLocks noChangeArrowheads="1"/>
          </p:cNvSpPr>
          <p:nvPr/>
        </p:nvSpPr>
        <p:spPr bwMode="auto">
          <a:xfrm>
            <a:off x="3721101" y="5732464"/>
            <a:ext cx="360363"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47" name="Line 51"/>
          <p:cNvSpPr>
            <a:spLocks noChangeShapeType="1"/>
          </p:cNvSpPr>
          <p:nvPr/>
        </p:nvSpPr>
        <p:spPr bwMode="auto">
          <a:xfrm>
            <a:off x="6456363" y="0"/>
            <a:ext cx="0" cy="6858000"/>
          </a:xfrm>
          <a:prstGeom prst="line">
            <a:avLst/>
          </a:prstGeom>
          <a:noFill/>
          <a:ln w="38100">
            <a:solidFill>
              <a:srgbClr val="CCFFCC"/>
            </a:solidFill>
            <a:round/>
            <a:headEnd/>
            <a:tailEnd/>
          </a:ln>
        </p:spPr>
        <p:txBody>
          <a:bodyPr/>
          <a:lstStyle/>
          <a:p>
            <a:endParaRPr lang="zh-CN" altLang="en-US"/>
          </a:p>
        </p:txBody>
      </p:sp>
      <p:sp>
        <p:nvSpPr>
          <p:cNvPr id="5148" name="Oval 52"/>
          <p:cNvSpPr>
            <a:spLocks noChangeArrowheads="1"/>
          </p:cNvSpPr>
          <p:nvPr/>
        </p:nvSpPr>
        <p:spPr bwMode="auto">
          <a:xfrm>
            <a:off x="7824789" y="1916113"/>
            <a:ext cx="1368425" cy="360362"/>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Outlook</a:t>
            </a:r>
          </a:p>
        </p:txBody>
      </p:sp>
      <p:sp>
        <p:nvSpPr>
          <p:cNvPr id="5149" name="Line 53"/>
          <p:cNvSpPr>
            <a:spLocks noChangeShapeType="1"/>
          </p:cNvSpPr>
          <p:nvPr/>
        </p:nvSpPr>
        <p:spPr bwMode="auto">
          <a:xfrm flipH="1">
            <a:off x="6959600" y="2276476"/>
            <a:ext cx="1081088" cy="936625"/>
          </a:xfrm>
          <a:prstGeom prst="line">
            <a:avLst/>
          </a:prstGeom>
          <a:noFill/>
          <a:ln w="38100">
            <a:solidFill>
              <a:schemeClr val="tx1"/>
            </a:solidFill>
            <a:round/>
            <a:headEnd/>
            <a:tailEnd/>
          </a:ln>
        </p:spPr>
        <p:txBody>
          <a:bodyPr/>
          <a:lstStyle/>
          <a:p>
            <a:endParaRPr lang="zh-CN" altLang="en-US"/>
          </a:p>
        </p:txBody>
      </p:sp>
      <p:sp>
        <p:nvSpPr>
          <p:cNvPr id="5150" name="Line 54"/>
          <p:cNvSpPr>
            <a:spLocks noChangeShapeType="1"/>
          </p:cNvSpPr>
          <p:nvPr/>
        </p:nvSpPr>
        <p:spPr bwMode="auto">
          <a:xfrm>
            <a:off x="8472488" y="2349500"/>
            <a:ext cx="0" cy="863600"/>
          </a:xfrm>
          <a:prstGeom prst="line">
            <a:avLst/>
          </a:prstGeom>
          <a:noFill/>
          <a:ln w="38100">
            <a:solidFill>
              <a:schemeClr val="tx1"/>
            </a:solidFill>
            <a:round/>
            <a:headEnd/>
            <a:tailEnd/>
          </a:ln>
        </p:spPr>
        <p:txBody>
          <a:bodyPr/>
          <a:lstStyle/>
          <a:p>
            <a:endParaRPr lang="zh-CN" altLang="en-US"/>
          </a:p>
        </p:txBody>
      </p:sp>
      <p:sp>
        <p:nvSpPr>
          <p:cNvPr id="5151" name="Line 55"/>
          <p:cNvSpPr>
            <a:spLocks noChangeShapeType="1"/>
          </p:cNvSpPr>
          <p:nvPr/>
        </p:nvSpPr>
        <p:spPr bwMode="auto">
          <a:xfrm>
            <a:off x="8904288" y="2205038"/>
            <a:ext cx="1079500" cy="1079500"/>
          </a:xfrm>
          <a:prstGeom prst="line">
            <a:avLst/>
          </a:prstGeom>
          <a:noFill/>
          <a:ln w="38100">
            <a:solidFill>
              <a:schemeClr val="tx1"/>
            </a:solidFill>
            <a:round/>
            <a:headEnd/>
            <a:tailEnd/>
          </a:ln>
        </p:spPr>
        <p:txBody>
          <a:bodyPr/>
          <a:lstStyle/>
          <a:p>
            <a:endParaRPr lang="zh-CN" altLang="en-US"/>
          </a:p>
        </p:txBody>
      </p:sp>
      <p:sp>
        <p:nvSpPr>
          <p:cNvPr id="5152" name="Oval 56"/>
          <p:cNvSpPr>
            <a:spLocks noChangeArrowheads="1"/>
          </p:cNvSpPr>
          <p:nvPr/>
        </p:nvSpPr>
        <p:spPr bwMode="auto">
          <a:xfrm>
            <a:off x="7248526" y="4437064"/>
            <a:ext cx="360363"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53" name="Oval 57"/>
          <p:cNvSpPr>
            <a:spLocks noChangeArrowheads="1"/>
          </p:cNvSpPr>
          <p:nvPr/>
        </p:nvSpPr>
        <p:spPr bwMode="auto">
          <a:xfrm>
            <a:off x="9840913" y="3284539"/>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N</a:t>
            </a:r>
          </a:p>
        </p:txBody>
      </p:sp>
      <p:sp>
        <p:nvSpPr>
          <p:cNvPr id="5154" name="Oval 58"/>
          <p:cNvSpPr>
            <a:spLocks noChangeArrowheads="1"/>
          </p:cNvSpPr>
          <p:nvPr/>
        </p:nvSpPr>
        <p:spPr bwMode="auto">
          <a:xfrm>
            <a:off x="9120188" y="4437064"/>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P</a:t>
            </a:r>
          </a:p>
        </p:txBody>
      </p:sp>
      <p:sp>
        <p:nvSpPr>
          <p:cNvPr id="5155" name="Oval 59"/>
          <p:cNvSpPr>
            <a:spLocks noChangeArrowheads="1"/>
          </p:cNvSpPr>
          <p:nvPr/>
        </p:nvSpPr>
        <p:spPr bwMode="auto">
          <a:xfrm>
            <a:off x="6672263" y="3141664"/>
            <a:ext cx="360362" cy="358775"/>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P</a:t>
            </a:r>
          </a:p>
        </p:txBody>
      </p:sp>
      <p:sp>
        <p:nvSpPr>
          <p:cNvPr id="5156" name="Oval 60"/>
          <p:cNvSpPr>
            <a:spLocks noChangeArrowheads="1"/>
          </p:cNvSpPr>
          <p:nvPr/>
        </p:nvSpPr>
        <p:spPr bwMode="auto">
          <a:xfrm>
            <a:off x="7751764" y="3213101"/>
            <a:ext cx="1368425" cy="360363"/>
          </a:xfrm>
          <a:prstGeom prst="ellipse">
            <a:avLst/>
          </a:prstGeom>
          <a:solidFill>
            <a:schemeClr val="accent1"/>
          </a:solidFill>
          <a:ln w="9525">
            <a:solidFill>
              <a:schemeClr val="tx1"/>
            </a:solidFill>
            <a:round/>
            <a:headEnd/>
            <a:tailEnd/>
          </a:ln>
        </p:spPr>
        <p:txBody>
          <a:bodyPr wrap="none" anchor="ctr"/>
          <a:lstStyle/>
          <a:p>
            <a:pPr algn="ctr"/>
            <a:r>
              <a:rPr lang="en-US" altLang="zh-CN" b="1">
                <a:solidFill>
                  <a:srgbClr val="C00000"/>
                </a:solidFill>
              </a:rPr>
              <a:t>Humidity</a:t>
            </a:r>
          </a:p>
        </p:txBody>
      </p:sp>
      <p:sp>
        <p:nvSpPr>
          <p:cNvPr id="5157" name="Line 61"/>
          <p:cNvSpPr>
            <a:spLocks noChangeShapeType="1"/>
          </p:cNvSpPr>
          <p:nvPr/>
        </p:nvSpPr>
        <p:spPr bwMode="auto">
          <a:xfrm flipH="1">
            <a:off x="7535863" y="3644901"/>
            <a:ext cx="647700" cy="792163"/>
          </a:xfrm>
          <a:prstGeom prst="line">
            <a:avLst/>
          </a:prstGeom>
          <a:noFill/>
          <a:ln w="38100">
            <a:solidFill>
              <a:schemeClr val="tx1"/>
            </a:solidFill>
            <a:round/>
            <a:headEnd/>
            <a:tailEnd/>
          </a:ln>
        </p:spPr>
        <p:txBody>
          <a:bodyPr/>
          <a:lstStyle/>
          <a:p>
            <a:endParaRPr lang="zh-CN" altLang="en-US"/>
          </a:p>
        </p:txBody>
      </p:sp>
      <p:sp>
        <p:nvSpPr>
          <p:cNvPr id="5158" name="Line 62"/>
          <p:cNvSpPr>
            <a:spLocks noChangeShapeType="1"/>
          </p:cNvSpPr>
          <p:nvPr/>
        </p:nvSpPr>
        <p:spPr bwMode="auto">
          <a:xfrm>
            <a:off x="8688389" y="3573463"/>
            <a:ext cx="503237" cy="863600"/>
          </a:xfrm>
          <a:prstGeom prst="line">
            <a:avLst/>
          </a:prstGeom>
          <a:noFill/>
          <a:ln w="38100">
            <a:solidFill>
              <a:schemeClr val="tx1"/>
            </a:solidFill>
            <a:round/>
            <a:headEnd/>
            <a:tailEnd/>
          </a:ln>
        </p:spPr>
        <p:txBody>
          <a:bodyPr/>
          <a:lstStyle/>
          <a:p>
            <a:endParaRPr lang="zh-CN" altLang="en-US"/>
          </a:p>
        </p:txBody>
      </p:sp>
      <p:graphicFrame>
        <p:nvGraphicFramePr>
          <p:cNvPr id="5122" name="Object 39"/>
          <p:cNvGraphicFramePr>
            <a:graphicFrameLocks noChangeAspect="1"/>
          </p:cNvGraphicFramePr>
          <p:nvPr/>
        </p:nvGraphicFramePr>
        <p:xfrm>
          <a:off x="10239375" y="3286125"/>
          <a:ext cx="228600" cy="642938"/>
        </p:xfrm>
        <a:graphic>
          <a:graphicData uri="http://schemas.openxmlformats.org/presentationml/2006/ole">
            <mc:AlternateContent xmlns:mc="http://schemas.openxmlformats.org/markup-compatibility/2006">
              <mc:Choice xmlns:v="urn:schemas-microsoft-com:vml" Requires="v">
                <p:oleObj spid="_x0000_s416869" name="Equation" r:id="rId3" imgW="139639" imgH="393529" progId="Equation.DSMT4">
                  <p:embed/>
                </p:oleObj>
              </mc:Choice>
              <mc:Fallback>
                <p:oleObj name="Equation" r:id="rId3" imgW="139639" imgH="393529"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9375" y="3286125"/>
                        <a:ext cx="2286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59" name="矩形 40"/>
          <p:cNvSpPr>
            <a:spLocks noChangeArrowheads="1"/>
          </p:cNvSpPr>
          <p:nvPr/>
        </p:nvSpPr>
        <p:spPr bwMode="auto">
          <a:xfrm>
            <a:off x="5810249" y="1"/>
            <a:ext cx="1214437" cy="646113"/>
          </a:xfrm>
          <a:prstGeom prst="rect">
            <a:avLst/>
          </a:prstGeom>
          <a:noFill/>
          <a:ln w="9525">
            <a:solidFill>
              <a:srgbClr val="FF0000"/>
            </a:solidFill>
            <a:miter lim="800000"/>
            <a:headEnd/>
            <a:tailEnd/>
          </a:ln>
        </p:spPr>
        <p:txBody>
          <a:bodyPr>
            <a:spAutoFit/>
          </a:bodyPr>
          <a:lstStyle/>
          <a:p>
            <a:pPr algn="ctr"/>
            <a:r>
              <a:rPr lang="en-US" altLang="zh-CN" sz="3600" b="1">
                <a:solidFill>
                  <a:srgbClr val="C00000"/>
                </a:solidFill>
                <a:latin typeface="楷体_GB2312" pitchFamily="49" charset="-122"/>
                <a:ea typeface="楷体_GB2312" pitchFamily="49" charset="-122"/>
              </a:rPr>
              <a:t>MDL</a:t>
            </a:r>
            <a:endParaRPr lang="zh-CN" altLang="en-US" sz="3600">
              <a:solidFill>
                <a:srgbClr val="C00000"/>
              </a:solidFill>
            </a:endParaRPr>
          </a:p>
        </p:txBody>
      </p:sp>
      <p:sp>
        <p:nvSpPr>
          <p:cNvPr id="40" name="椭圆 39"/>
          <p:cNvSpPr>
            <a:spLocks noChangeArrowheads="1"/>
          </p:cNvSpPr>
          <p:nvPr/>
        </p:nvSpPr>
        <p:spPr bwMode="auto">
          <a:xfrm>
            <a:off x="4452938" y="5500688"/>
            <a:ext cx="857250" cy="785812"/>
          </a:xfrm>
          <a:prstGeom prst="ellipse">
            <a:avLst/>
          </a:prstGeom>
          <a:noFill/>
          <a:ln w="9525" algn="ctr">
            <a:solidFill>
              <a:srgbClr val="FF3300"/>
            </a:solidFill>
            <a:round/>
            <a:headEnd/>
            <a:tailEnd/>
          </a:ln>
        </p:spPr>
        <p:txBody>
          <a:bodyPr/>
          <a:lstStyle/>
          <a:p>
            <a:endParaRPr lang="zh-CN" altLang="en-US"/>
          </a:p>
        </p:txBody>
      </p:sp>
      <p:sp>
        <p:nvSpPr>
          <p:cNvPr id="41" name="灯片编号占位符 40"/>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sp>
        <p:nvSpPr>
          <p:cNvPr id="42" name="矩形 2"/>
          <p:cNvSpPr>
            <a:spLocks noChangeArrowheads="1"/>
          </p:cNvSpPr>
          <p:nvPr/>
        </p:nvSpPr>
        <p:spPr bwMode="auto">
          <a:xfrm>
            <a:off x="9027814" y="116632"/>
            <a:ext cx="1214437" cy="646113"/>
          </a:xfrm>
          <a:prstGeom prst="rect">
            <a:avLst/>
          </a:prstGeom>
          <a:noFill/>
          <a:ln w="9525">
            <a:solidFill>
              <a:srgbClr val="FF0000"/>
            </a:solidFill>
            <a:miter lim="800000"/>
            <a:headEnd/>
            <a:tailEnd/>
          </a:ln>
        </p:spPr>
        <p:txBody>
          <a:bodyPr>
            <a:spAutoFit/>
          </a:bodyPr>
          <a:lstStyle/>
          <a:p>
            <a:pPr algn="ctr"/>
            <a:r>
              <a:rPr lang="zh-CN" altLang="en-US" sz="3600" b="1" dirty="0">
                <a:solidFill>
                  <a:srgbClr val="FF0000"/>
                </a:solidFill>
                <a:latin typeface="楷体_GB2312" pitchFamily="49" charset="-122"/>
                <a:ea typeface="楷体_GB2312" pitchFamily="49" charset="-122"/>
              </a:rPr>
              <a:t>自习</a:t>
            </a:r>
            <a:endParaRPr lang="zh-CN" altLang="en-US" sz="3600"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1981201" y="571481"/>
            <a:ext cx="8435975" cy="5903913"/>
          </a:xfrm>
          <a:solidFill>
            <a:schemeClr val="bg1"/>
          </a:solidFill>
        </p:spPr>
        <p:txBody>
          <a:bodyPr/>
          <a:lstStyle/>
          <a:p>
            <a:pPr>
              <a:buFontTx/>
              <a:buNone/>
            </a:pPr>
            <a:r>
              <a:rPr lang="zh-CN" altLang="en-US" sz="2400" dirty="0">
                <a:latin typeface="Times New Roman" pitchFamily="18" charset="0"/>
                <a:ea typeface="楷体_GB2312" pitchFamily="49" charset="-122"/>
              </a:rPr>
              <a:t>由上图可以看出，仅仅一条噪声数据导致了决策树很大不同。 </a:t>
            </a:r>
          </a:p>
          <a:p>
            <a:pPr>
              <a:buFontTx/>
              <a:buNone/>
            </a:pPr>
            <a:r>
              <a:rPr lang="zh-CN" altLang="en-US" sz="2400" b="1" dirty="0">
                <a:solidFill>
                  <a:srgbClr val="00FFFF"/>
                </a:solidFill>
                <a:ea typeface="楷体_GB2312" pitchFamily="49" charset="-122"/>
                <a:cs typeface="Tahoma" pitchFamily="34" charset="0"/>
                <a:sym typeface="Symbol" pitchFamily="18" charset="2"/>
              </a:rPr>
              <a:t></a:t>
            </a:r>
            <a:r>
              <a:rPr lang="zh-CN" altLang="en-US" sz="2400" dirty="0">
                <a:latin typeface="Times New Roman" pitchFamily="18" charset="0"/>
                <a:ea typeface="楷体_GB2312" pitchFamily="49" charset="-122"/>
              </a:rPr>
              <a:t>我们对图</a:t>
            </a:r>
            <a:r>
              <a:rPr lang="en-US" altLang="zh-CN" sz="2400" dirty="0">
                <a:latin typeface="Times New Roman" pitchFamily="18" charset="0"/>
                <a:ea typeface="楷体_GB2312" pitchFamily="49" charset="-122"/>
              </a:rPr>
              <a:t>1 </a:t>
            </a:r>
            <a:r>
              <a:rPr lang="zh-CN" altLang="en-US" sz="2400" dirty="0">
                <a:latin typeface="Times New Roman" pitchFamily="18" charset="0"/>
                <a:ea typeface="楷体_GB2312" pitchFamily="49" charset="-122"/>
              </a:rPr>
              <a:t>的决策树</a:t>
            </a:r>
            <a:r>
              <a:rPr lang="zh-CN" altLang="en-US" sz="2400" b="1" dirty="0">
                <a:solidFill>
                  <a:srgbClr val="C00000"/>
                </a:solidFill>
                <a:latin typeface="Times New Roman" pitchFamily="18" charset="0"/>
                <a:ea typeface="楷体_GB2312" pitchFamily="49" charset="-122"/>
              </a:rPr>
              <a:t>直接编码</a:t>
            </a:r>
            <a:r>
              <a:rPr lang="zh-CN" altLang="en-US" sz="2400" dirty="0">
                <a:latin typeface="Times New Roman" pitchFamily="18" charset="0"/>
                <a:ea typeface="楷体_GB2312" pitchFamily="49" charset="-122"/>
              </a:rPr>
              <a:t>。如果采用深度优先遍历对其</a:t>
            </a:r>
          </a:p>
          <a:p>
            <a:pPr>
              <a:buFontTx/>
              <a:buNone/>
            </a:pPr>
            <a:r>
              <a:rPr lang="zh-CN" altLang="en-US" sz="2400" dirty="0">
                <a:latin typeface="Times New Roman" pitchFamily="18" charset="0"/>
                <a:ea typeface="楷体_GB2312" pitchFamily="49" charset="-122"/>
              </a:rPr>
              <a:t>    进行存储，可以表示为：</a:t>
            </a:r>
          </a:p>
          <a:p>
            <a:pPr algn="dist">
              <a:buFontTx/>
              <a:buNone/>
            </a:pPr>
            <a:r>
              <a:rPr lang="en-US" altLang="zh-CN" sz="2400" b="1" dirty="0">
                <a:latin typeface="Times New Roman" pitchFamily="18" charset="0"/>
                <a:ea typeface="楷体_GB2312" pitchFamily="49" charset="-122"/>
              </a:rPr>
              <a:t>1 </a:t>
            </a:r>
            <a:r>
              <a:rPr lang="en-US" altLang="zh-CN" sz="2400" b="1" dirty="0">
                <a:solidFill>
                  <a:srgbClr val="FF6600"/>
                </a:solidFill>
                <a:latin typeface="Times New Roman" pitchFamily="18" charset="0"/>
                <a:ea typeface="楷体_GB2312" pitchFamily="49" charset="-122"/>
              </a:rPr>
              <a:t>Outlook</a:t>
            </a:r>
            <a:r>
              <a:rPr lang="en-US" altLang="zh-CN" sz="2400" b="1" dirty="0">
                <a:latin typeface="Times New Roman" pitchFamily="18" charset="0"/>
                <a:ea typeface="楷体_GB2312" pitchFamily="49" charset="-122"/>
              </a:rPr>
              <a:t> 0 P 1 </a:t>
            </a:r>
            <a:r>
              <a:rPr lang="en-US" altLang="zh-CN" sz="2400" b="1" dirty="0">
                <a:solidFill>
                  <a:srgbClr val="FF6600"/>
                </a:solidFill>
                <a:latin typeface="Times New Roman" pitchFamily="18" charset="0"/>
                <a:ea typeface="楷体_GB2312" pitchFamily="49" charset="-122"/>
              </a:rPr>
              <a:t>Humidity</a:t>
            </a:r>
            <a:r>
              <a:rPr lang="en-US" altLang="zh-CN" sz="2400" b="1" dirty="0">
                <a:latin typeface="Times New Roman" pitchFamily="18" charset="0"/>
                <a:ea typeface="楷体_GB2312" pitchFamily="49" charset="-122"/>
              </a:rPr>
              <a:t> 0 N 0 P 1 </a:t>
            </a:r>
            <a:r>
              <a:rPr lang="en-US" altLang="zh-CN" sz="2400" b="1" dirty="0">
                <a:solidFill>
                  <a:srgbClr val="FF6600"/>
                </a:solidFill>
                <a:latin typeface="Times New Roman" pitchFamily="18" charset="0"/>
                <a:ea typeface="楷体_GB2312" pitchFamily="49" charset="-122"/>
              </a:rPr>
              <a:t>Windy</a:t>
            </a:r>
          </a:p>
          <a:p>
            <a:pPr algn="dist">
              <a:buFontTx/>
              <a:buNone/>
            </a:pPr>
            <a:r>
              <a:rPr lang="en-US" altLang="zh-CN" sz="2400" b="1" dirty="0">
                <a:latin typeface="Times New Roman" pitchFamily="18" charset="0"/>
                <a:ea typeface="楷体_GB2312" pitchFamily="49" charset="-122"/>
              </a:rPr>
              <a:t> 0 N 0 N 1 </a:t>
            </a:r>
            <a:r>
              <a:rPr lang="en-US" altLang="zh-CN" sz="2400" b="1" dirty="0">
                <a:solidFill>
                  <a:srgbClr val="FF6600"/>
                </a:solidFill>
                <a:latin typeface="Times New Roman" pitchFamily="18" charset="0"/>
                <a:ea typeface="楷体_GB2312" pitchFamily="49" charset="-122"/>
              </a:rPr>
              <a:t>Temperature</a:t>
            </a:r>
            <a:r>
              <a:rPr lang="en-US" altLang="zh-CN" sz="2400" b="1" dirty="0">
                <a:latin typeface="Times New Roman" pitchFamily="18" charset="0"/>
                <a:ea typeface="楷体_GB2312" pitchFamily="49" charset="-122"/>
              </a:rPr>
              <a:t> 0 N 0 N 0 P</a:t>
            </a:r>
          </a:p>
        </p:txBody>
      </p:sp>
      <p:sp>
        <p:nvSpPr>
          <p:cNvPr id="27651" name="矩形 2"/>
          <p:cNvSpPr>
            <a:spLocks noChangeArrowheads="1"/>
          </p:cNvSpPr>
          <p:nvPr/>
        </p:nvSpPr>
        <p:spPr bwMode="auto">
          <a:xfrm>
            <a:off x="8310579" y="1"/>
            <a:ext cx="1214437" cy="646113"/>
          </a:xfrm>
          <a:prstGeom prst="rect">
            <a:avLst/>
          </a:prstGeom>
          <a:noFill/>
          <a:ln w="9525">
            <a:solidFill>
              <a:srgbClr val="FF0000"/>
            </a:solidFill>
            <a:miter lim="800000"/>
            <a:headEnd/>
            <a:tailEnd/>
          </a:ln>
        </p:spPr>
        <p:txBody>
          <a:bodyPr>
            <a:spAutoFit/>
          </a:bodyPr>
          <a:lstStyle/>
          <a:p>
            <a:pPr algn="ctr"/>
            <a:r>
              <a:rPr lang="en-US" altLang="zh-CN" sz="3600" b="1">
                <a:solidFill>
                  <a:srgbClr val="C00000"/>
                </a:solidFill>
                <a:latin typeface="楷体_GB2312" pitchFamily="49" charset="-122"/>
                <a:ea typeface="楷体_GB2312" pitchFamily="49" charset="-122"/>
              </a:rPr>
              <a:t>MDL</a:t>
            </a:r>
            <a:endParaRPr lang="zh-CN" altLang="en-US" sz="3600">
              <a:solidFill>
                <a:srgbClr val="C00000"/>
              </a:solidFill>
            </a:endParaRPr>
          </a:p>
        </p:txBody>
      </p:sp>
      <p:sp>
        <p:nvSpPr>
          <p:cNvPr id="27653" name="矩形 4"/>
          <p:cNvSpPr>
            <a:spLocks noChangeArrowheads="1"/>
          </p:cNvSpPr>
          <p:nvPr/>
        </p:nvSpPr>
        <p:spPr bwMode="auto">
          <a:xfrm>
            <a:off x="1678131" y="2689741"/>
            <a:ext cx="5786469" cy="3785652"/>
          </a:xfrm>
          <a:prstGeom prst="rect">
            <a:avLst/>
          </a:prstGeom>
          <a:solidFill>
            <a:schemeClr val="bg1"/>
          </a:solidFill>
          <a:ln w="9525">
            <a:noFill/>
            <a:miter lim="800000"/>
            <a:headEnd/>
            <a:tailEnd/>
          </a:ln>
        </p:spPr>
        <p:txBody>
          <a:bodyPr wrap="square">
            <a:spAutoFit/>
          </a:bodyPr>
          <a:lstStyle/>
          <a:p>
            <a:pPr>
              <a:buFontTx/>
              <a:buNone/>
            </a:pPr>
            <a:r>
              <a:rPr lang="en-US" altLang="zh-CN" sz="2400" dirty="0">
                <a:latin typeface="Times New Roman" pitchFamily="18" charset="0"/>
                <a:ea typeface="楷体_GB2312" pitchFamily="49" charset="-122"/>
              </a:rPr>
              <a:t> </a:t>
            </a:r>
            <a:r>
              <a:rPr lang="zh-CN" altLang="en-US" sz="2400" dirty="0">
                <a:latin typeface="Times New Roman" pitchFamily="18" charset="0"/>
                <a:ea typeface="楷体_GB2312" pitchFamily="49" charset="-122"/>
              </a:rPr>
              <a:t>用</a:t>
            </a:r>
            <a:r>
              <a:rPr lang="en-US" altLang="zh-CN" sz="2400" dirty="0">
                <a:latin typeface="Times New Roman" pitchFamily="18" charset="0"/>
                <a:ea typeface="楷体_GB2312" pitchFamily="49" charset="-122"/>
              </a:rPr>
              <a:t>1</a:t>
            </a:r>
            <a:r>
              <a:rPr lang="zh-CN" altLang="en-US" sz="2400" dirty="0">
                <a:latin typeface="Times New Roman" pitchFamily="18" charset="0"/>
                <a:ea typeface="楷体_GB2312" pitchFamily="49" charset="-122"/>
              </a:rPr>
              <a:t>表示下一个节点是内节点，然后记下节点的相应属性；用</a:t>
            </a:r>
            <a:r>
              <a:rPr lang="en-US" altLang="zh-CN" sz="2400" dirty="0">
                <a:latin typeface="Times New Roman" pitchFamily="18" charset="0"/>
                <a:ea typeface="楷体_GB2312" pitchFamily="49" charset="-122"/>
              </a:rPr>
              <a:t>0</a:t>
            </a:r>
            <a:r>
              <a:rPr lang="zh-CN" altLang="en-US" sz="2400" dirty="0">
                <a:latin typeface="Times New Roman" pitchFamily="18" charset="0"/>
                <a:ea typeface="楷体_GB2312" pitchFamily="49" charset="-122"/>
              </a:rPr>
              <a:t>表示下一个节点是叶节点，并用</a:t>
            </a:r>
            <a:r>
              <a:rPr lang="en-US" altLang="zh-CN" sz="2400" b="1" dirty="0">
                <a:latin typeface="Times New Roman" pitchFamily="18" charset="0"/>
                <a:ea typeface="楷体_GB2312" pitchFamily="49" charset="-122"/>
              </a:rPr>
              <a:t>N</a:t>
            </a:r>
            <a:r>
              <a:rPr lang="zh-CN" altLang="en-US" sz="2400" dirty="0">
                <a:latin typeface="Times New Roman" pitchFamily="18" charset="0"/>
                <a:ea typeface="楷体_GB2312" pitchFamily="49" charset="-122"/>
              </a:rPr>
              <a:t>或</a:t>
            </a:r>
            <a:r>
              <a:rPr lang="en-US" altLang="zh-CN" sz="2400" b="1" dirty="0">
                <a:latin typeface="Times New Roman" pitchFamily="18" charset="0"/>
                <a:ea typeface="楷体_GB2312" pitchFamily="49" charset="-122"/>
              </a:rPr>
              <a:t>P</a:t>
            </a:r>
            <a:r>
              <a:rPr lang="zh-CN" altLang="en-US" sz="2400" dirty="0">
                <a:latin typeface="Times New Roman" pitchFamily="18" charset="0"/>
                <a:ea typeface="楷体_GB2312" pitchFamily="49" charset="-122"/>
              </a:rPr>
              <a:t>记下节点的类属性。</a:t>
            </a:r>
            <a:endParaRPr lang="en-US" altLang="zh-CN" sz="2400" dirty="0">
              <a:latin typeface="Times New Roman" pitchFamily="18" charset="0"/>
              <a:ea typeface="楷体_GB2312" pitchFamily="49" charset="-122"/>
            </a:endParaRPr>
          </a:p>
          <a:p>
            <a:pPr algn="just">
              <a:buFontTx/>
              <a:buNone/>
            </a:pPr>
            <a:r>
              <a:rPr lang="en-US" altLang="zh-CN" sz="2400" dirty="0">
                <a:latin typeface="Times New Roman" pitchFamily="18" charset="0"/>
                <a:ea typeface="楷体_GB2312" pitchFamily="49" charset="-122"/>
              </a:rPr>
              <a:t>   </a:t>
            </a:r>
            <a:r>
              <a:rPr lang="zh-CN" altLang="en-US" sz="2400" dirty="0">
                <a:latin typeface="Times New Roman" pitchFamily="18" charset="0"/>
                <a:ea typeface="楷体_GB2312" pitchFamily="49" charset="-122"/>
              </a:rPr>
              <a:t>表示根节点上的</a:t>
            </a:r>
            <a:r>
              <a:rPr lang="en-US" altLang="zh-CN" sz="2400" dirty="0">
                <a:latin typeface="Times New Roman" pitchFamily="18" charset="0"/>
                <a:ea typeface="楷体_GB2312" pitchFamily="49" charset="-122"/>
              </a:rPr>
              <a:t>Outlook</a:t>
            </a:r>
            <a:r>
              <a:rPr lang="zh-CN" altLang="en-US" sz="2400" dirty="0">
                <a:latin typeface="Times New Roman" pitchFamily="18" charset="0"/>
                <a:ea typeface="楷体_GB2312" pitchFamily="49" charset="-122"/>
              </a:rPr>
              <a:t>需要两个比特</a:t>
            </a:r>
            <a:r>
              <a:rPr lang="en-US" altLang="zh-CN" sz="2400" dirty="0">
                <a:latin typeface="Times New Roman" pitchFamily="18" charset="0"/>
                <a:ea typeface="楷体_GB2312" pitchFamily="49" charset="-122"/>
              </a:rPr>
              <a:t>( </a:t>
            </a:r>
            <a:r>
              <a:rPr lang="zh-CN" altLang="en-US" sz="2400" dirty="0">
                <a:latin typeface="Times New Roman" pitchFamily="18" charset="0"/>
                <a:ea typeface="楷体_GB2312" pitchFamily="49" charset="-122"/>
              </a:rPr>
              <a:t>有四种可能 </a:t>
            </a:r>
            <a:r>
              <a:rPr lang="en-US" altLang="zh-CN" sz="2400" dirty="0">
                <a:latin typeface="Times New Roman" pitchFamily="18" charset="0"/>
                <a:ea typeface="楷体_GB2312" pitchFamily="49" charset="-122"/>
              </a:rPr>
              <a:t>)</a:t>
            </a:r>
            <a:r>
              <a:rPr lang="zh-CN" altLang="en-US" sz="2400" dirty="0">
                <a:latin typeface="Times New Roman" pitchFamily="18" charset="0"/>
                <a:ea typeface="楷体_GB2312" pitchFamily="49" charset="-122"/>
              </a:rPr>
              <a:t>；表示下一层的属性</a:t>
            </a:r>
            <a:r>
              <a:rPr lang="en-US" altLang="zh-CN" sz="2400" dirty="0">
                <a:latin typeface="Times New Roman" pitchFamily="18" charset="0"/>
                <a:ea typeface="楷体_GB2312" pitchFamily="49" charset="-122"/>
              </a:rPr>
              <a:t>Humidity</a:t>
            </a:r>
            <a:r>
              <a:rPr lang="zh-CN" altLang="en-US" sz="2400" dirty="0">
                <a:latin typeface="Times New Roman" pitchFamily="18" charset="0"/>
                <a:ea typeface="楷体_GB2312" pitchFamily="49" charset="-122"/>
              </a:rPr>
              <a:t>需要</a:t>
            </a:r>
            <a:r>
              <a:rPr lang="en-US" altLang="zh-CN" sz="2400" dirty="0">
                <a:latin typeface="Times New Roman" pitchFamily="18" charset="0"/>
                <a:ea typeface="楷体_GB2312" pitchFamily="49" charset="-122"/>
              </a:rPr>
              <a:t>log</a:t>
            </a:r>
            <a:r>
              <a:rPr lang="en-US" altLang="zh-CN" sz="2400" baseline="-25000" dirty="0">
                <a:latin typeface="Times New Roman" pitchFamily="18" charset="0"/>
                <a:ea typeface="楷体_GB2312" pitchFamily="49" charset="-122"/>
              </a:rPr>
              <a:t>2</a:t>
            </a:r>
            <a:r>
              <a:rPr lang="en-US" altLang="zh-CN" sz="2400" dirty="0">
                <a:latin typeface="Times New Roman" pitchFamily="18" charset="0"/>
                <a:ea typeface="楷体_GB2312" pitchFamily="49" charset="-122"/>
              </a:rPr>
              <a:t>3</a:t>
            </a:r>
            <a:r>
              <a:rPr lang="zh-CN" altLang="en-US" sz="2400" dirty="0">
                <a:latin typeface="Times New Roman" pitchFamily="18" charset="0"/>
                <a:ea typeface="楷体_GB2312" pitchFamily="49" charset="-122"/>
              </a:rPr>
              <a:t>个比特</a:t>
            </a:r>
            <a:r>
              <a:rPr lang="en-US" altLang="zh-CN" sz="2400" dirty="0">
                <a:latin typeface="Times New Roman" pitchFamily="18" charset="0"/>
                <a:ea typeface="楷体_GB2312" pitchFamily="49" charset="-122"/>
              </a:rPr>
              <a:t>( Outlook</a:t>
            </a:r>
            <a:r>
              <a:rPr lang="zh-CN" altLang="en-US" sz="2400" dirty="0">
                <a:latin typeface="Times New Roman" pitchFamily="18" charset="0"/>
                <a:ea typeface="楷体_GB2312" pitchFamily="49" charset="-122"/>
              </a:rPr>
              <a:t>已被选出</a:t>
            </a:r>
            <a:r>
              <a:rPr lang="en-US" altLang="zh-CN" sz="2400" dirty="0">
                <a:latin typeface="Times New Roman" pitchFamily="18" charset="0"/>
                <a:ea typeface="楷体_GB2312" pitchFamily="49" charset="-122"/>
              </a:rPr>
              <a:t>)</a:t>
            </a:r>
            <a:r>
              <a:rPr lang="zh-CN" altLang="en-US" sz="2400" dirty="0">
                <a:latin typeface="Times New Roman" pitchFamily="18" charset="0"/>
                <a:ea typeface="楷体_GB2312" pitchFamily="49" charset="-122"/>
              </a:rPr>
              <a:t>；表示属性</a:t>
            </a:r>
            <a:r>
              <a:rPr lang="en-US" altLang="zh-CN" sz="2400" dirty="0">
                <a:latin typeface="Times New Roman" pitchFamily="18" charset="0"/>
                <a:ea typeface="楷体_GB2312" pitchFamily="49" charset="-122"/>
              </a:rPr>
              <a:t>Windy</a:t>
            </a:r>
            <a:r>
              <a:rPr lang="zh-CN" altLang="en-US" sz="2400" dirty="0">
                <a:latin typeface="Times New Roman" pitchFamily="18" charset="0"/>
                <a:ea typeface="楷体_GB2312" pitchFamily="49" charset="-122"/>
              </a:rPr>
              <a:t>需要</a:t>
            </a:r>
            <a:r>
              <a:rPr lang="en-US" altLang="zh-CN" sz="2400" dirty="0">
                <a:latin typeface="Times New Roman" pitchFamily="18" charset="0"/>
                <a:ea typeface="楷体_GB2312" pitchFamily="49" charset="-122"/>
              </a:rPr>
              <a:t>1</a:t>
            </a:r>
            <a:r>
              <a:rPr lang="zh-CN" altLang="en-US" sz="2400" dirty="0">
                <a:latin typeface="Times New Roman" pitchFamily="18" charset="0"/>
                <a:ea typeface="楷体_GB2312" pitchFamily="49" charset="-122"/>
              </a:rPr>
              <a:t>个比特；表示</a:t>
            </a:r>
            <a:r>
              <a:rPr lang="en-US" altLang="zh-CN" sz="2400" dirty="0">
                <a:latin typeface="Times New Roman" pitchFamily="18" charset="0"/>
                <a:ea typeface="楷体_GB2312" pitchFamily="49" charset="-122"/>
              </a:rPr>
              <a:t>Temperature</a:t>
            </a:r>
            <a:r>
              <a:rPr lang="zh-CN" altLang="en-US" sz="2400" dirty="0">
                <a:latin typeface="Times New Roman" pitchFamily="18" charset="0"/>
                <a:ea typeface="楷体_GB2312" pitchFamily="49" charset="-122"/>
              </a:rPr>
              <a:t>需要</a:t>
            </a:r>
            <a:r>
              <a:rPr lang="en-US" altLang="zh-CN" sz="2400" dirty="0">
                <a:latin typeface="Times New Roman" pitchFamily="18" charset="0"/>
                <a:ea typeface="楷体_GB2312" pitchFamily="49" charset="-122"/>
              </a:rPr>
              <a:t>1</a:t>
            </a:r>
            <a:r>
              <a:rPr lang="zh-CN" altLang="en-US" sz="2400" dirty="0">
                <a:latin typeface="Times New Roman" pitchFamily="18" charset="0"/>
                <a:ea typeface="楷体_GB2312" pitchFamily="49" charset="-122"/>
              </a:rPr>
              <a:t>个比特</a:t>
            </a:r>
            <a:r>
              <a:rPr lang="en-US" altLang="zh-CN" sz="2400" dirty="0">
                <a:latin typeface="Times New Roman" pitchFamily="18" charset="0"/>
                <a:ea typeface="楷体_GB2312" pitchFamily="49" charset="-122"/>
              </a:rPr>
              <a:t>( </a:t>
            </a:r>
            <a:r>
              <a:rPr lang="zh-CN" altLang="en-US" sz="2400" dirty="0">
                <a:latin typeface="Times New Roman" pitchFamily="18" charset="0"/>
                <a:ea typeface="楷体_GB2312" pitchFamily="49" charset="-122"/>
              </a:rPr>
              <a:t>其实一个都不需要 </a:t>
            </a:r>
            <a:r>
              <a:rPr lang="en-US" altLang="zh-CN" sz="2400" dirty="0">
                <a:latin typeface="Times New Roman" pitchFamily="18" charset="0"/>
                <a:ea typeface="楷体_GB2312" pitchFamily="49" charset="-122"/>
              </a:rPr>
              <a:t>)</a:t>
            </a:r>
            <a:r>
              <a:rPr lang="zh-CN" altLang="en-US" sz="2400" dirty="0">
                <a:latin typeface="Times New Roman" pitchFamily="18" charset="0"/>
                <a:ea typeface="楷体_GB2312" pitchFamily="49" charset="-122"/>
              </a:rPr>
              <a:t>。这样总共需要</a:t>
            </a:r>
            <a:r>
              <a:rPr lang="en-US" altLang="zh-CN" sz="2400" dirty="0">
                <a:latin typeface="Times New Roman" pitchFamily="18" charset="0"/>
                <a:ea typeface="楷体_GB2312" pitchFamily="49" charset="-122"/>
              </a:rPr>
              <a:t>25.585</a:t>
            </a:r>
            <a:r>
              <a:rPr lang="zh-CN" altLang="en-US" sz="2400" dirty="0">
                <a:latin typeface="Times New Roman" pitchFamily="18" charset="0"/>
                <a:ea typeface="楷体_GB2312" pitchFamily="49" charset="-122"/>
              </a:rPr>
              <a:t>个比特。</a:t>
            </a:r>
            <a:endParaRPr lang="en-US" altLang="zh-CN" sz="2400" dirty="0">
              <a:latin typeface="Times New Roman" pitchFamily="18" charset="0"/>
              <a:ea typeface="楷体_GB2312" pitchFamily="49" charset="-122"/>
            </a:endParaRPr>
          </a:p>
          <a:p>
            <a:pPr>
              <a:buFontTx/>
              <a:buNone/>
            </a:pPr>
            <a:r>
              <a:rPr lang="en-US" altLang="zh-CN" sz="2400" dirty="0">
                <a:latin typeface="Times New Roman" pitchFamily="18" charset="0"/>
                <a:ea typeface="楷体_GB2312" pitchFamily="49" charset="-122"/>
              </a:rPr>
              <a:t>                  20+2+log</a:t>
            </a:r>
            <a:r>
              <a:rPr lang="en-US" altLang="zh-CN" sz="2400" baseline="-25000" dirty="0">
                <a:latin typeface="Times New Roman" pitchFamily="18" charset="0"/>
                <a:ea typeface="楷体_GB2312" pitchFamily="49" charset="-122"/>
              </a:rPr>
              <a:t>2</a:t>
            </a:r>
            <a:r>
              <a:rPr lang="en-US" altLang="zh-CN" sz="2400" dirty="0">
                <a:latin typeface="Times New Roman" pitchFamily="18" charset="0"/>
                <a:ea typeface="楷体_GB2312" pitchFamily="49" charset="-122"/>
              </a:rPr>
              <a:t>3+1+1=25.585</a:t>
            </a:r>
            <a:r>
              <a:rPr lang="zh-CN" altLang="en-US" sz="2400" dirty="0">
                <a:latin typeface="Times New Roman" pitchFamily="18" charset="0"/>
                <a:ea typeface="楷体_GB2312" pitchFamily="49" charset="-122"/>
              </a:rPr>
              <a:t>  </a:t>
            </a:r>
            <a:endParaRPr lang="zh-CN" altLang="en-US" sz="2400" dirty="0"/>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p:pic>
        <p:nvPicPr>
          <p:cNvPr id="497665" name="Picture 1"/>
          <p:cNvPicPr>
            <a:picLocks noChangeAspect="1" noChangeArrowheads="1"/>
          </p:cNvPicPr>
          <p:nvPr/>
        </p:nvPicPr>
        <p:blipFill>
          <a:blip r:embed="rId3" cstate="print"/>
          <a:srcRect/>
          <a:stretch>
            <a:fillRect/>
          </a:stretch>
        </p:blipFill>
        <p:spPr bwMode="auto">
          <a:xfrm>
            <a:off x="7475886" y="3003086"/>
            <a:ext cx="3074869" cy="3140571"/>
          </a:xfrm>
          <a:prstGeom prst="rect">
            <a:avLst/>
          </a:prstGeom>
          <a:noFill/>
          <a:ln w="9525">
            <a:noFill/>
            <a:miter lim="800000"/>
            <a:headEnd/>
            <a:tailEnd/>
          </a:ln>
        </p:spPr>
      </p:pic>
      <p:sp>
        <p:nvSpPr>
          <p:cNvPr id="2" name="矩形 1"/>
          <p:cNvSpPr/>
          <p:nvPr/>
        </p:nvSpPr>
        <p:spPr>
          <a:xfrm>
            <a:off x="2843543" y="1902025"/>
            <a:ext cx="184731" cy="461665"/>
          </a:xfrm>
          <a:prstGeom prst="rect">
            <a:avLst/>
          </a:prstGeom>
          <a:ln>
            <a:solidFill>
              <a:srgbClr val="0000FF"/>
            </a:solidFill>
            <a:prstDash val="dash"/>
          </a:ln>
        </p:spPr>
        <p:txBody>
          <a:bodyPr wrap="none" rtlCol="0" anchor="ctr">
            <a:spAutoFit/>
          </a:bodyPr>
          <a:lstStyle/>
          <a:p>
            <a:pPr algn="ctr"/>
            <a:endParaRPr lang="zh-CN" altLang="en-US" sz="2400" kern="100" dirty="0">
              <a:ea typeface="宋体"/>
              <a:cs typeface="Times New Roman"/>
            </a:endParaRPr>
          </a:p>
        </p:txBody>
      </p:sp>
      <p:sp>
        <p:nvSpPr>
          <p:cNvPr id="9" name="矩形 8"/>
          <p:cNvSpPr/>
          <p:nvPr/>
        </p:nvSpPr>
        <p:spPr>
          <a:xfrm>
            <a:off x="3935760" y="1887789"/>
            <a:ext cx="792088" cy="461665"/>
          </a:xfrm>
          <a:prstGeom prst="rect">
            <a:avLst/>
          </a:prstGeom>
          <a:ln>
            <a:solidFill>
              <a:srgbClr val="0000FF"/>
            </a:solidFill>
            <a:prstDash val="dash"/>
          </a:ln>
        </p:spPr>
        <p:txBody>
          <a:bodyPr wrap="square" rtlCol="0" anchor="ctr">
            <a:spAutoFit/>
          </a:bodyPr>
          <a:lstStyle/>
          <a:p>
            <a:pPr algn="ctr"/>
            <a:endParaRPr lang="zh-CN" altLang="en-US" sz="2400" kern="100" dirty="0">
              <a:ea typeface="宋体"/>
              <a:cs typeface="Times New Roman"/>
            </a:endParaRPr>
          </a:p>
        </p:txBody>
      </p:sp>
      <p:sp>
        <p:nvSpPr>
          <p:cNvPr id="10" name="矩形 9"/>
          <p:cNvSpPr/>
          <p:nvPr/>
        </p:nvSpPr>
        <p:spPr>
          <a:xfrm>
            <a:off x="4779268" y="1894907"/>
            <a:ext cx="3909020" cy="461665"/>
          </a:xfrm>
          <a:prstGeom prst="rect">
            <a:avLst/>
          </a:prstGeom>
          <a:ln>
            <a:solidFill>
              <a:srgbClr val="0000FF"/>
            </a:solidFill>
            <a:prstDash val="dash"/>
          </a:ln>
        </p:spPr>
        <p:txBody>
          <a:bodyPr wrap="square" rtlCol="0" anchor="ctr">
            <a:spAutoFit/>
          </a:bodyPr>
          <a:lstStyle/>
          <a:p>
            <a:pPr algn="ctr"/>
            <a:endParaRPr lang="zh-CN" altLang="en-US" sz="2400" kern="100" dirty="0">
              <a:ea typeface="宋体"/>
              <a:cs typeface="Times New Roman"/>
            </a:endParaRPr>
          </a:p>
        </p:txBody>
      </p:sp>
      <p:sp>
        <p:nvSpPr>
          <p:cNvPr id="12" name="矩形 2"/>
          <p:cNvSpPr>
            <a:spLocks noChangeArrowheads="1"/>
          </p:cNvSpPr>
          <p:nvPr/>
        </p:nvSpPr>
        <p:spPr bwMode="auto">
          <a:xfrm>
            <a:off x="10910010" y="1268760"/>
            <a:ext cx="1214437" cy="523220"/>
          </a:xfrm>
          <a:prstGeom prst="rect">
            <a:avLst/>
          </a:prstGeom>
          <a:noFill/>
          <a:ln w="9525">
            <a:solidFill>
              <a:srgbClr val="FF0000"/>
            </a:solidFill>
            <a:miter lim="800000"/>
            <a:headEnd/>
            <a:tailEnd/>
          </a:ln>
        </p:spPr>
        <p:txBody>
          <a:bodyPr>
            <a:spAutoFit/>
          </a:bodyPr>
          <a:lstStyle/>
          <a:p>
            <a:pPr algn="ctr"/>
            <a:r>
              <a:rPr lang="zh-CN" altLang="en-US" sz="2800" b="1" dirty="0">
                <a:solidFill>
                  <a:srgbClr val="FF0000"/>
                </a:solidFill>
                <a:latin typeface="楷体_GB2312" pitchFamily="49" charset="-122"/>
                <a:ea typeface="楷体_GB2312" pitchFamily="49" charset="-122"/>
              </a:rPr>
              <a:t>自习</a:t>
            </a:r>
            <a:endParaRPr lang="zh-CN" altLang="en-US" sz="2800"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1774826" y="393169"/>
            <a:ext cx="8893175" cy="5399087"/>
          </a:xfrm>
          <a:solidFill>
            <a:schemeClr val="bg1"/>
          </a:solidFill>
        </p:spPr>
        <p:txBody>
          <a:bodyPr/>
          <a:lstStyle/>
          <a:p>
            <a:pPr>
              <a:buFontTx/>
              <a:buNone/>
            </a:pPr>
            <a:r>
              <a:rPr lang="en-US" altLang="zh-CN" b="1" dirty="0">
                <a:solidFill>
                  <a:srgbClr val="00FFFF"/>
                </a:solidFill>
                <a:ea typeface="楷体_GB2312" pitchFamily="49" charset="-122"/>
                <a:cs typeface="Tahoma" pitchFamily="34" charset="0"/>
                <a:sym typeface="Symbol" pitchFamily="18" charset="2"/>
              </a:rPr>
              <a:t>  </a:t>
            </a:r>
            <a:r>
              <a:rPr lang="zh-CN" altLang="en-US" sz="2400" dirty="0">
                <a:latin typeface="Times New Roman" pitchFamily="18" charset="0"/>
                <a:ea typeface="楷体_GB2312" pitchFamily="49" charset="-122"/>
                <a:cs typeface="Tahoma" pitchFamily="34" charset="0"/>
                <a:sym typeface="Symbol" pitchFamily="18" charset="2"/>
              </a:rPr>
              <a:t>假设经过剪枝后的决策树如图</a:t>
            </a:r>
            <a:r>
              <a:rPr lang="en-US" altLang="zh-CN" sz="2400" dirty="0">
                <a:latin typeface="Times New Roman" pitchFamily="18" charset="0"/>
                <a:ea typeface="楷体_GB2312" pitchFamily="49" charset="-122"/>
                <a:cs typeface="Tahoma" pitchFamily="34" charset="0"/>
                <a:sym typeface="Symbol" pitchFamily="18" charset="2"/>
              </a:rPr>
              <a:t>2</a:t>
            </a:r>
            <a:r>
              <a:rPr lang="zh-CN" altLang="en-US" sz="2400" dirty="0">
                <a:latin typeface="Times New Roman" pitchFamily="18" charset="0"/>
                <a:ea typeface="楷体_GB2312" pitchFamily="49" charset="-122"/>
                <a:cs typeface="Tahoma" pitchFamily="34" charset="0"/>
                <a:sym typeface="Symbol" pitchFamily="18" charset="2"/>
              </a:rPr>
              <a:t>所示，此时最右边的叶节点</a:t>
            </a:r>
          </a:p>
          <a:p>
            <a:pPr>
              <a:buFontTx/>
              <a:buNone/>
            </a:pPr>
            <a:r>
              <a:rPr lang="zh-CN" altLang="en-US" sz="2400" dirty="0">
                <a:latin typeface="Times New Roman" pitchFamily="18" charset="0"/>
                <a:ea typeface="楷体_GB2312" pitchFamily="49" charset="-122"/>
                <a:cs typeface="Tahoma" pitchFamily="34" charset="0"/>
                <a:sym typeface="Symbol" pitchFamily="18" charset="2"/>
              </a:rPr>
              <a:t>的 </a:t>
            </a:r>
            <a:r>
              <a:rPr lang="en-US" altLang="zh-CN" sz="2400" dirty="0">
                <a:latin typeface="Times New Roman" pitchFamily="18" charset="0"/>
                <a:ea typeface="楷体_GB2312" pitchFamily="49" charset="-122"/>
                <a:cs typeface="Tahoma" pitchFamily="34" charset="0"/>
                <a:sym typeface="Symbol" pitchFamily="18" charset="2"/>
              </a:rPr>
              <a:t>8 </a:t>
            </a:r>
            <a:r>
              <a:rPr lang="zh-CN" altLang="en-US" sz="2400" dirty="0">
                <a:latin typeface="Times New Roman" pitchFamily="18" charset="0"/>
                <a:ea typeface="楷体_GB2312" pitchFamily="49" charset="-122"/>
                <a:cs typeface="Tahoma" pitchFamily="34" charset="0"/>
                <a:sym typeface="Symbol" pitchFamily="18" charset="2"/>
              </a:rPr>
              <a:t>条数据中有</a:t>
            </a:r>
            <a:r>
              <a:rPr lang="en-US" altLang="zh-CN" sz="2400" dirty="0">
                <a:latin typeface="Times New Roman" pitchFamily="18" charset="0"/>
                <a:ea typeface="楷体_GB2312" pitchFamily="49" charset="-122"/>
                <a:cs typeface="Tahoma" pitchFamily="34" charset="0"/>
                <a:sym typeface="Symbol" pitchFamily="18" charset="2"/>
              </a:rPr>
              <a:t>1</a:t>
            </a:r>
            <a:r>
              <a:rPr lang="zh-CN" altLang="en-US" sz="2400" dirty="0">
                <a:latin typeface="Times New Roman" pitchFamily="18" charset="0"/>
                <a:ea typeface="楷体_GB2312" pitchFamily="49" charset="-122"/>
                <a:cs typeface="Tahoma" pitchFamily="34" charset="0"/>
                <a:sym typeface="Symbol" pitchFamily="18" charset="2"/>
              </a:rPr>
              <a:t>条是被错误分类的。按照</a:t>
            </a:r>
            <a:r>
              <a:rPr lang="zh-CN" altLang="en-US" sz="2400" b="1" dirty="0">
                <a:solidFill>
                  <a:srgbClr val="C00000"/>
                </a:solidFill>
                <a:latin typeface="Times New Roman" pitchFamily="18" charset="0"/>
                <a:ea typeface="楷体_GB2312" pitchFamily="49" charset="-122"/>
                <a:cs typeface="Tahoma" pitchFamily="34" charset="0"/>
                <a:sym typeface="Symbol" pitchFamily="18" charset="2"/>
              </a:rPr>
              <a:t>“树</a:t>
            </a:r>
            <a:r>
              <a:rPr lang="en-US" altLang="zh-CN" sz="2400" b="1" dirty="0">
                <a:solidFill>
                  <a:srgbClr val="C00000"/>
                </a:solidFill>
                <a:latin typeface="Times New Roman" pitchFamily="18" charset="0"/>
                <a:ea typeface="楷体_GB2312" pitchFamily="49" charset="-122"/>
                <a:cs typeface="Tahoma" pitchFamily="34" charset="0"/>
                <a:sym typeface="Symbol" pitchFamily="18" charset="2"/>
              </a:rPr>
              <a:t>+</a:t>
            </a:r>
            <a:r>
              <a:rPr lang="zh-CN" altLang="en-US" sz="2400" b="1" dirty="0">
                <a:solidFill>
                  <a:srgbClr val="C00000"/>
                </a:solidFill>
                <a:latin typeface="Times New Roman" pitchFamily="18" charset="0"/>
                <a:ea typeface="楷体_GB2312" pitchFamily="49" charset="-122"/>
                <a:cs typeface="Tahoma" pitchFamily="34" charset="0"/>
                <a:sym typeface="Symbol" pitchFamily="18" charset="2"/>
              </a:rPr>
              <a:t>例外”编码</a:t>
            </a:r>
          </a:p>
          <a:p>
            <a:pPr>
              <a:buFontTx/>
              <a:buNone/>
            </a:pPr>
            <a:r>
              <a:rPr lang="zh-CN" altLang="en-US" sz="2400" dirty="0">
                <a:latin typeface="Times New Roman" pitchFamily="18" charset="0"/>
                <a:ea typeface="楷体_GB2312" pitchFamily="49" charset="-122"/>
                <a:cs typeface="Tahoma" pitchFamily="34" charset="0"/>
                <a:sym typeface="Symbol" pitchFamily="18" charset="2"/>
              </a:rPr>
              <a:t>时，首先要对图</a:t>
            </a:r>
            <a:r>
              <a:rPr lang="en-US" altLang="zh-CN" sz="2400" dirty="0">
                <a:latin typeface="Times New Roman" pitchFamily="18" charset="0"/>
                <a:ea typeface="楷体_GB2312" pitchFamily="49" charset="-122"/>
                <a:cs typeface="Tahoma" pitchFamily="34" charset="0"/>
                <a:sym typeface="Symbol" pitchFamily="18" charset="2"/>
              </a:rPr>
              <a:t>2 </a:t>
            </a:r>
            <a:r>
              <a:rPr lang="zh-CN" altLang="en-US" sz="2400" dirty="0">
                <a:latin typeface="Times New Roman" pitchFamily="18" charset="0"/>
                <a:ea typeface="楷体_GB2312" pitchFamily="49" charset="-122"/>
                <a:cs typeface="Tahoma" pitchFamily="34" charset="0"/>
                <a:sym typeface="Symbol" pitchFamily="18" charset="2"/>
              </a:rPr>
              <a:t>编码，需要</a:t>
            </a:r>
            <a:r>
              <a:rPr lang="en-US" altLang="zh-CN" sz="2400" dirty="0">
                <a:latin typeface="Times New Roman" pitchFamily="18" charset="0"/>
                <a:ea typeface="楷体_GB2312" pitchFamily="49" charset="-122"/>
                <a:cs typeface="Tahoma" pitchFamily="34" charset="0"/>
                <a:sym typeface="Symbol" pitchFamily="18" charset="2"/>
              </a:rPr>
              <a:t>13.585</a:t>
            </a:r>
            <a:r>
              <a:rPr lang="zh-CN" altLang="en-US" sz="2400" dirty="0">
                <a:latin typeface="Times New Roman" pitchFamily="18" charset="0"/>
                <a:ea typeface="楷体_GB2312" pitchFamily="49" charset="-122"/>
                <a:cs typeface="Tahoma" pitchFamily="34" charset="0"/>
                <a:sym typeface="Symbol" pitchFamily="18" charset="2"/>
              </a:rPr>
              <a:t>个比特。</a:t>
            </a:r>
            <a:r>
              <a:rPr lang="en-US" altLang="zh-CN" sz="2400" dirty="0">
                <a:latin typeface="Times New Roman" pitchFamily="18" charset="0"/>
                <a:ea typeface="楷体_GB2312" pitchFamily="49" charset="-122"/>
                <a:cs typeface="Tahoma" pitchFamily="34" charset="0"/>
                <a:sym typeface="Symbol" pitchFamily="18" charset="2"/>
              </a:rPr>
              <a:t>10+2+</a:t>
            </a:r>
            <a:r>
              <a:rPr lang="en-US" altLang="zh-CN" sz="2400" dirty="0">
                <a:latin typeface="Times New Roman" pitchFamily="18" charset="0"/>
                <a:ea typeface="楷体_GB2312" pitchFamily="49" charset="-122"/>
                <a:cs typeface="Tahoma" pitchFamily="34" charset="0"/>
              </a:rPr>
              <a:t>log</a:t>
            </a:r>
            <a:r>
              <a:rPr lang="en-US" altLang="zh-CN" sz="2400" baseline="-25000" dirty="0">
                <a:latin typeface="Times New Roman" pitchFamily="18" charset="0"/>
                <a:ea typeface="楷体_GB2312" pitchFamily="49" charset="-122"/>
                <a:cs typeface="Tahoma" pitchFamily="34" charset="0"/>
              </a:rPr>
              <a:t>2</a:t>
            </a:r>
            <a:r>
              <a:rPr lang="en-US" altLang="zh-CN" sz="2400" dirty="0">
                <a:latin typeface="Times New Roman" pitchFamily="18" charset="0"/>
                <a:ea typeface="楷体_GB2312" pitchFamily="49" charset="-122"/>
                <a:cs typeface="Tahoma" pitchFamily="34" charset="0"/>
              </a:rPr>
              <a:t>3=13.585</a:t>
            </a:r>
            <a:endParaRPr lang="en-US" altLang="zh-CN" sz="2400" dirty="0">
              <a:latin typeface="Times New Roman" pitchFamily="18" charset="0"/>
              <a:ea typeface="楷体_GB2312" pitchFamily="49" charset="-122"/>
              <a:cs typeface="Tahoma" pitchFamily="34" charset="0"/>
              <a:sym typeface="Symbol" pitchFamily="18" charset="2"/>
            </a:endParaRPr>
          </a:p>
          <a:p>
            <a:pPr algn="dist">
              <a:buFontTx/>
              <a:buNone/>
            </a:pPr>
            <a:r>
              <a:rPr lang="en-US" altLang="zh-CN" sz="2400" b="1" dirty="0">
                <a:latin typeface="Times New Roman" pitchFamily="18" charset="0"/>
                <a:ea typeface="楷体_GB2312" pitchFamily="49" charset="-122"/>
                <a:cs typeface="Tahoma" pitchFamily="34" charset="0"/>
              </a:rPr>
              <a:t>1 </a:t>
            </a:r>
            <a:r>
              <a:rPr lang="en-US" altLang="zh-CN" sz="2400" b="1" dirty="0">
                <a:solidFill>
                  <a:srgbClr val="FF6600"/>
                </a:solidFill>
                <a:latin typeface="Times New Roman" pitchFamily="18" charset="0"/>
                <a:ea typeface="楷体_GB2312" pitchFamily="49" charset="-122"/>
                <a:cs typeface="Tahoma" pitchFamily="34" charset="0"/>
              </a:rPr>
              <a:t>Outlook</a:t>
            </a:r>
            <a:r>
              <a:rPr lang="en-US" altLang="zh-CN" sz="2400" b="1" dirty="0">
                <a:latin typeface="Times New Roman" pitchFamily="18" charset="0"/>
                <a:ea typeface="楷体_GB2312" pitchFamily="49" charset="-122"/>
                <a:cs typeface="Tahoma" pitchFamily="34" charset="0"/>
              </a:rPr>
              <a:t> 0 P 1 </a:t>
            </a:r>
            <a:r>
              <a:rPr lang="en-US" altLang="zh-CN" sz="2400" b="1" dirty="0">
                <a:solidFill>
                  <a:srgbClr val="FF6600"/>
                </a:solidFill>
                <a:latin typeface="Times New Roman" pitchFamily="18" charset="0"/>
                <a:ea typeface="楷体_GB2312" pitchFamily="49" charset="-122"/>
                <a:cs typeface="Tahoma" pitchFamily="34" charset="0"/>
              </a:rPr>
              <a:t>Humidity</a:t>
            </a:r>
            <a:r>
              <a:rPr lang="en-US" altLang="zh-CN" sz="2400" b="1" dirty="0">
                <a:latin typeface="Times New Roman" pitchFamily="18" charset="0"/>
                <a:ea typeface="楷体_GB2312" pitchFamily="49" charset="-122"/>
                <a:cs typeface="Tahoma" pitchFamily="34" charset="0"/>
              </a:rPr>
              <a:t> 0 N 0 P 0 N</a:t>
            </a:r>
          </a:p>
          <a:p>
            <a:pPr>
              <a:buFontTx/>
              <a:buNone/>
            </a:pPr>
            <a:r>
              <a:rPr lang="zh-CN" altLang="en-US" sz="2400" dirty="0">
                <a:latin typeface="Times New Roman" pitchFamily="18" charset="0"/>
                <a:ea typeface="楷体_GB2312" pitchFamily="49" charset="-122"/>
                <a:cs typeface="Tahoma" pitchFamily="34" charset="0"/>
                <a:sym typeface="Symbol" pitchFamily="18" charset="2"/>
              </a:rPr>
              <a:t>    接下来对仅有的一个例外编码，指定它在</a:t>
            </a:r>
            <a:r>
              <a:rPr lang="en-US" altLang="zh-CN" sz="2400" dirty="0">
                <a:latin typeface="Times New Roman" pitchFamily="18" charset="0"/>
                <a:ea typeface="楷体_GB2312" pitchFamily="49" charset="-122"/>
                <a:cs typeface="Tahoma" pitchFamily="34" charset="0"/>
                <a:sym typeface="Symbol" pitchFamily="18" charset="2"/>
              </a:rPr>
              <a:t>54 (3*3*2*3 ) </a:t>
            </a:r>
            <a:r>
              <a:rPr lang="zh-CN" altLang="en-US" sz="2400" dirty="0">
                <a:latin typeface="Times New Roman" pitchFamily="18" charset="0"/>
                <a:ea typeface="楷体_GB2312" pitchFamily="49" charset="-122"/>
                <a:cs typeface="Tahoma" pitchFamily="34" charset="0"/>
                <a:sym typeface="Symbol" pitchFamily="18" charset="2"/>
              </a:rPr>
              <a:t>种可能性中的位置，这需要</a:t>
            </a:r>
            <a:r>
              <a:rPr lang="en-US" altLang="zh-CN" sz="2400" dirty="0">
                <a:latin typeface="Times New Roman" pitchFamily="18" charset="0"/>
                <a:ea typeface="楷体_GB2312" pitchFamily="49" charset="-122"/>
                <a:cs typeface="Tahoma" pitchFamily="34" charset="0"/>
              </a:rPr>
              <a:t>log</a:t>
            </a:r>
            <a:r>
              <a:rPr lang="en-US" altLang="zh-CN" sz="2400" baseline="-25000" dirty="0">
                <a:latin typeface="Times New Roman" pitchFamily="18" charset="0"/>
                <a:ea typeface="楷体_GB2312" pitchFamily="49" charset="-122"/>
                <a:cs typeface="Tahoma" pitchFamily="34" charset="0"/>
              </a:rPr>
              <a:t>2</a:t>
            </a:r>
            <a:r>
              <a:rPr lang="en-US" altLang="zh-CN" sz="2400" dirty="0">
                <a:latin typeface="Times New Roman" pitchFamily="18" charset="0"/>
                <a:ea typeface="楷体_GB2312" pitchFamily="49" charset="-122"/>
                <a:cs typeface="Tahoma" pitchFamily="34" charset="0"/>
              </a:rPr>
              <a:t>54=5.75</a:t>
            </a:r>
            <a:r>
              <a:rPr lang="zh-CN" altLang="en-US" sz="2400" dirty="0">
                <a:latin typeface="Times New Roman" pitchFamily="18" charset="0"/>
                <a:ea typeface="楷体_GB2312" pitchFamily="49" charset="-122"/>
                <a:cs typeface="Tahoma" pitchFamily="34" charset="0"/>
              </a:rPr>
              <a:t>个比特。因此总共需要</a:t>
            </a:r>
            <a:r>
              <a:rPr lang="en-US" altLang="zh-CN" sz="2400" dirty="0">
                <a:latin typeface="Times New Roman" pitchFamily="18" charset="0"/>
                <a:ea typeface="楷体_GB2312" pitchFamily="49" charset="-122"/>
                <a:cs typeface="Tahoma" pitchFamily="34" charset="0"/>
              </a:rPr>
              <a:t>19.335</a:t>
            </a:r>
            <a:r>
              <a:rPr lang="zh-CN" altLang="en-US" sz="2400" dirty="0">
                <a:latin typeface="Times New Roman" pitchFamily="18" charset="0"/>
                <a:ea typeface="楷体_GB2312" pitchFamily="49" charset="-122"/>
                <a:cs typeface="Tahoma" pitchFamily="34" charset="0"/>
              </a:rPr>
              <a:t>比特。明显可以发现该编码方案优于对整棵树编码。</a:t>
            </a:r>
            <a:endParaRPr lang="en-US" altLang="zh-CN" sz="2400" dirty="0">
              <a:latin typeface="Times New Roman" pitchFamily="18" charset="0"/>
              <a:ea typeface="楷体_GB2312" pitchFamily="49" charset="-122"/>
              <a:cs typeface="Tahoma" pitchFamily="34" charset="0"/>
            </a:endParaRPr>
          </a:p>
          <a:p>
            <a:pPr>
              <a:buFontTx/>
              <a:buNone/>
            </a:pPr>
            <a:endParaRPr lang="en-US" altLang="zh-CN" sz="2400" dirty="0">
              <a:latin typeface="Times New Roman" pitchFamily="18" charset="0"/>
              <a:ea typeface="楷体_GB2312" pitchFamily="49" charset="-122"/>
              <a:cs typeface="Tahoma" pitchFamily="34" charset="0"/>
            </a:endParaRPr>
          </a:p>
          <a:p>
            <a:pPr>
              <a:buFontTx/>
              <a:buNone/>
            </a:pPr>
            <a:endParaRPr lang="zh-CN" altLang="en-US" sz="2400" dirty="0">
              <a:latin typeface="Times New Roman" pitchFamily="18" charset="0"/>
              <a:ea typeface="楷体_GB2312" pitchFamily="49" charset="-122"/>
              <a:cs typeface="Tahoma" pitchFamily="34" charset="0"/>
            </a:endParaRPr>
          </a:p>
          <a:p>
            <a:pPr>
              <a:buFontTx/>
              <a:buNone/>
            </a:pPr>
            <a:r>
              <a:rPr lang="zh-CN" altLang="en-US" sz="2400" dirty="0">
                <a:latin typeface="Times New Roman" pitchFamily="18" charset="0"/>
                <a:ea typeface="楷体_GB2312" pitchFamily="49" charset="-122"/>
                <a:cs typeface="Tahoma" pitchFamily="34" charset="0"/>
              </a:rPr>
              <a:t> </a:t>
            </a:r>
          </a:p>
        </p:txBody>
      </p:sp>
      <p:sp>
        <p:nvSpPr>
          <p:cNvPr id="28675" name="矩形 2"/>
          <p:cNvSpPr>
            <a:spLocks noChangeArrowheads="1"/>
          </p:cNvSpPr>
          <p:nvPr/>
        </p:nvSpPr>
        <p:spPr bwMode="auto">
          <a:xfrm>
            <a:off x="1524001" y="-16152"/>
            <a:ext cx="1214437" cy="584775"/>
          </a:xfrm>
          <a:prstGeom prst="rect">
            <a:avLst/>
          </a:prstGeom>
          <a:noFill/>
          <a:ln w="9525">
            <a:solidFill>
              <a:srgbClr val="FF0000"/>
            </a:solidFill>
            <a:miter lim="800000"/>
            <a:headEnd/>
            <a:tailEnd/>
          </a:ln>
        </p:spPr>
        <p:txBody>
          <a:bodyPr>
            <a:spAutoFit/>
          </a:bodyPr>
          <a:lstStyle/>
          <a:p>
            <a:pPr algn="ctr"/>
            <a:r>
              <a:rPr lang="en-US" altLang="zh-CN" sz="3200" b="1" dirty="0">
                <a:solidFill>
                  <a:srgbClr val="C00000"/>
                </a:solidFill>
                <a:latin typeface="楷体_GB2312" pitchFamily="49" charset="-122"/>
                <a:ea typeface="楷体_GB2312" pitchFamily="49" charset="-122"/>
              </a:rPr>
              <a:t>MDL</a:t>
            </a:r>
            <a:endParaRPr lang="zh-CN" altLang="en-US" sz="3200" dirty="0">
              <a:solidFill>
                <a:srgbClr val="C00000"/>
              </a:solidFill>
            </a:endParaRPr>
          </a:p>
        </p:txBody>
      </p:sp>
      <p:pic>
        <p:nvPicPr>
          <p:cNvPr id="28676" name="Picture 4"/>
          <p:cNvPicPr>
            <a:picLocks noChangeAspect="1" noChangeArrowheads="1"/>
          </p:cNvPicPr>
          <p:nvPr/>
        </p:nvPicPr>
        <p:blipFill>
          <a:blip r:embed="rId3" cstate="print"/>
          <a:srcRect/>
          <a:stretch>
            <a:fillRect/>
          </a:stretch>
        </p:blipFill>
        <p:spPr bwMode="auto">
          <a:xfrm>
            <a:off x="7223126" y="3929063"/>
            <a:ext cx="3444875" cy="2697162"/>
          </a:xfrm>
          <a:prstGeom prst="rect">
            <a:avLst/>
          </a:prstGeom>
          <a:noFill/>
          <a:ln w="9525">
            <a:noFill/>
            <a:miter lim="800000"/>
            <a:headEnd/>
            <a:tailEnd/>
          </a:ln>
        </p:spPr>
      </p:pic>
      <p:sp>
        <p:nvSpPr>
          <p:cNvPr id="5" name="矩形 4"/>
          <p:cNvSpPr/>
          <p:nvPr/>
        </p:nvSpPr>
        <p:spPr>
          <a:xfrm>
            <a:off x="1774825" y="3531128"/>
            <a:ext cx="5429250" cy="2678112"/>
          </a:xfrm>
          <a:prstGeom prst="rect">
            <a:avLst/>
          </a:prstGeom>
        </p:spPr>
        <p:txBody>
          <a:bodyPr>
            <a:spAutoFit/>
          </a:bodyPr>
          <a:lstStyle/>
          <a:p>
            <a:pPr algn="just">
              <a:buFontTx/>
              <a:buNone/>
              <a:defRPr/>
            </a:pPr>
            <a:r>
              <a:rPr lang="zh-CN" altLang="en-US" sz="2400" b="1" dirty="0">
                <a:solidFill>
                  <a:srgbClr val="C00000"/>
                </a:solidFill>
                <a:latin typeface="+mn-ea"/>
                <a:cs typeface="Tahoma" pitchFamily="34" charset="0"/>
              </a:rPr>
              <a:t>总结：</a:t>
            </a:r>
            <a:r>
              <a:rPr lang="zh-CN" altLang="en-US" sz="2400" dirty="0">
                <a:latin typeface="+mn-ea"/>
                <a:cs typeface="Tahoma" pitchFamily="34" charset="0"/>
              </a:rPr>
              <a:t>可选择最小描述长度准则用于树生成时的测试属性 </a:t>
            </a:r>
            <a:r>
              <a:rPr lang="en-US" altLang="zh-CN" sz="2400" dirty="0">
                <a:latin typeface="+mn-ea"/>
                <a:cs typeface="Tahoma" pitchFamily="34" charset="0"/>
              </a:rPr>
              <a:t>( </a:t>
            </a:r>
            <a:r>
              <a:rPr lang="zh-CN" altLang="en-US" sz="2400" dirty="0">
                <a:latin typeface="+mn-ea"/>
                <a:cs typeface="Tahoma" pitchFamily="34" charset="0"/>
              </a:rPr>
              <a:t>如同</a:t>
            </a:r>
            <a:r>
              <a:rPr lang="en-US" altLang="zh-CN" sz="2400" dirty="0" err="1">
                <a:latin typeface="+mn-ea"/>
                <a:cs typeface="Tahoma" pitchFamily="34" charset="0"/>
              </a:rPr>
              <a:t>Gini</a:t>
            </a:r>
            <a:r>
              <a:rPr lang="zh-CN" altLang="en-US" sz="2400" dirty="0">
                <a:latin typeface="+mn-ea"/>
                <a:cs typeface="Tahoma" pitchFamily="34" charset="0"/>
              </a:rPr>
              <a:t>系数、信息熵</a:t>
            </a:r>
            <a:r>
              <a:rPr lang="en-US" altLang="zh-CN" sz="2400" dirty="0">
                <a:latin typeface="+mn-ea"/>
                <a:cs typeface="Tahoma" pitchFamily="34" charset="0"/>
              </a:rPr>
              <a:t>)</a:t>
            </a:r>
            <a:r>
              <a:rPr lang="zh-CN" altLang="en-US" sz="2400" dirty="0">
                <a:latin typeface="+mn-ea"/>
                <a:cs typeface="Tahoma" pitchFamily="34" charset="0"/>
              </a:rPr>
              <a:t>，使得每次树扩展时总的“树</a:t>
            </a:r>
            <a:r>
              <a:rPr lang="en-US" altLang="zh-CN" sz="2400" dirty="0">
                <a:latin typeface="+mn-ea"/>
                <a:cs typeface="Tahoma" pitchFamily="34" charset="0"/>
              </a:rPr>
              <a:t>+</a:t>
            </a:r>
            <a:r>
              <a:rPr lang="zh-CN" altLang="en-US" sz="2400" dirty="0">
                <a:latin typeface="+mn-ea"/>
                <a:cs typeface="Tahoma" pitchFamily="34" charset="0"/>
              </a:rPr>
              <a:t>例外”描述长度</a:t>
            </a:r>
            <a:r>
              <a:rPr lang="en-US" altLang="zh-CN" sz="2400" dirty="0">
                <a:latin typeface="+mn-ea"/>
                <a:cs typeface="Tahoma" pitchFamily="34" charset="0"/>
              </a:rPr>
              <a:t>( total description length, TDL) </a:t>
            </a:r>
            <a:r>
              <a:rPr lang="zh-CN" altLang="en-US" sz="2400" dirty="0">
                <a:latin typeface="+mn-ea"/>
                <a:cs typeface="Tahoma" pitchFamily="34" charset="0"/>
              </a:rPr>
              <a:t>增加最小。</a:t>
            </a:r>
            <a:endParaRPr lang="en-US" altLang="zh-CN" sz="2400" dirty="0">
              <a:latin typeface="+mn-ea"/>
              <a:cs typeface="Tahoma" pitchFamily="34" charset="0"/>
            </a:endParaRPr>
          </a:p>
          <a:p>
            <a:pPr algn="just">
              <a:buFontTx/>
              <a:buNone/>
              <a:defRPr/>
            </a:pPr>
            <a:r>
              <a:rPr lang="zh-CN" altLang="en-US" sz="2400" dirty="0">
                <a:latin typeface="+mn-ea"/>
                <a:cs typeface="Tahoma" pitchFamily="34" charset="0"/>
              </a:rPr>
              <a:t>  待树生成后，进行自下而上的剪枝，直到继续剪枝不能减少</a:t>
            </a:r>
            <a:r>
              <a:rPr lang="en-US" altLang="zh-CN" sz="2400" dirty="0">
                <a:latin typeface="+mn-ea"/>
                <a:cs typeface="Tahoma" pitchFamily="34" charset="0"/>
              </a:rPr>
              <a:t>TDL</a:t>
            </a:r>
            <a:r>
              <a:rPr lang="zh-CN" altLang="en-US" sz="2400" dirty="0">
                <a:latin typeface="+mn-ea"/>
                <a:cs typeface="Tahoma" pitchFamily="34" charset="0"/>
              </a:rPr>
              <a:t>为止。</a:t>
            </a: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sp>
        <p:nvSpPr>
          <p:cNvPr id="7" name="矩形 2"/>
          <p:cNvSpPr>
            <a:spLocks noChangeArrowheads="1"/>
          </p:cNvSpPr>
          <p:nvPr/>
        </p:nvSpPr>
        <p:spPr bwMode="auto">
          <a:xfrm>
            <a:off x="10910010" y="1268760"/>
            <a:ext cx="1214437" cy="523220"/>
          </a:xfrm>
          <a:prstGeom prst="rect">
            <a:avLst/>
          </a:prstGeom>
          <a:noFill/>
          <a:ln w="9525">
            <a:solidFill>
              <a:srgbClr val="FF0000"/>
            </a:solidFill>
            <a:miter lim="800000"/>
            <a:headEnd/>
            <a:tailEnd/>
          </a:ln>
        </p:spPr>
        <p:txBody>
          <a:bodyPr>
            <a:spAutoFit/>
          </a:bodyPr>
          <a:lstStyle/>
          <a:p>
            <a:pPr algn="ctr"/>
            <a:r>
              <a:rPr lang="zh-CN" altLang="en-US" sz="2800" b="1" dirty="0">
                <a:solidFill>
                  <a:srgbClr val="FF0000"/>
                </a:solidFill>
                <a:latin typeface="楷体_GB2312" pitchFamily="49" charset="-122"/>
                <a:ea typeface="楷体_GB2312" pitchFamily="49" charset="-122"/>
              </a:rPr>
              <a:t>自习</a:t>
            </a:r>
            <a:endParaRPr lang="zh-CN" altLang="en-US" sz="2800"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矩形 4"/>
          <p:cNvSpPr>
            <a:spLocks noChangeArrowheads="1"/>
          </p:cNvSpPr>
          <p:nvPr/>
        </p:nvSpPr>
        <p:spPr bwMode="auto">
          <a:xfrm>
            <a:off x="1685926" y="103884"/>
            <a:ext cx="8143875" cy="6370975"/>
          </a:xfrm>
          <a:prstGeom prst="rect">
            <a:avLst/>
          </a:prstGeom>
          <a:solidFill>
            <a:schemeClr val="bg1"/>
          </a:solidFill>
          <a:ln w="9525">
            <a:noFill/>
            <a:miter lim="800000"/>
            <a:headEnd/>
            <a:tailEnd/>
          </a:ln>
        </p:spPr>
        <p:txBody>
          <a:bodyPr>
            <a:spAutoFit/>
          </a:bodyPr>
          <a:lstStyle/>
          <a:p>
            <a:pPr latinLnBrk="1">
              <a:defRPr/>
            </a:pPr>
            <a:r>
              <a:rPr lang="en-US" altLang="zh-CN" sz="2400" dirty="0">
                <a:latin typeface="+mn-ea"/>
                <a:cs typeface="Times New Roman" pitchFamily="18" charset="0"/>
              </a:rPr>
              <a:t>• </a:t>
            </a:r>
            <a:r>
              <a:rPr lang="zh-CN" altLang="en-US" sz="2400" dirty="0">
                <a:solidFill>
                  <a:srgbClr val="FF0000"/>
                </a:solidFill>
                <a:latin typeface="+mn-ea"/>
                <a:cs typeface="Times New Roman" pitchFamily="18" charset="0"/>
              </a:rPr>
              <a:t>如何防止决策树和训练样本集的过度拟合</a:t>
            </a:r>
            <a:endParaRPr lang="en-US" altLang="zh-CN" sz="2400" dirty="0">
              <a:solidFill>
                <a:srgbClr val="FF0000"/>
              </a:solidFill>
              <a:latin typeface="+mn-ea"/>
              <a:cs typeface="Times New Roman" pitchFamily="18" charset="0"/>
            </a:endParaRPr>
          </a:p>
          <a:p>
            <a:pPr latinLnBrk="1">
              <a:defRPr/>
            </a:pPr>
            <a:endParaRPr lang="en-US" altLang="zh-CN" sz="2400" dirty="0">
              <a:solidFill>
                <a:srgbClr val="FF0000"/>
              </a:solidFill>
              <a:latin typeface="+mn-ea"/>
              <a:cs typeface="Times New Roman" pitchFamily="18" charset="0"/>
            </a:endParaRPr>
          </a:p>
          <a:p>
            <a:pPr latinLnBrk="1">
              <a:defRPr/>
            </a:pPr>
            <a:r>
              <a:rPr lang="zh-CN" altLang="en-US" sz="2400" dirty="0">
                <a:latin typeface="+mn-ea"/>
                <a:cs typeface="Times New Roman" pitchFamily="18" charset="0"/>
              </a:rPr>
              <a:t> </a:t>
            </a:r>
            <a:r>
              <a:rPr lang="zh-CN" altLang="en-US" sz="2400" dirty="0">
                <a:solidFill>
                  <a:srgbClr val="FF0000"/>
                </a:solidFill>
                <a:latin typeface="+mn-ea"/>
                <a:cs typeface="Times New Roman" pitchFamily="18" charset="0"/>
              </a:rPr>
              <a:t> ①预剪枝</a:t>
            </a:r>
            <a:r>
              <a:rPr lang="zh-CN" altLang="en-US" sz="2400" dirty="0">
                <a:latin typeface="+mn-ea"/>
                <a:cs typeface="Times New Roman" pitchFamily="18" charset="0"/>
              </a:rPr>
              <a:t>：在建树过程中判断当前节点是否需要继续划分的剪枝方法</a:t>
            </a:r>
            <a:endParaRPr lang="en-US" altLang="zh-CN" sz="2400" dirty="0">
              <a:latin typeface="+mn-ea"/>
              <a:cs typeface="Times New Roman" pitchFamily="18" charset="0"/>
            </a:endParaRPr>
          </a:p>
          <a:p>
            <a:pPr latinLnBrk="1">
              <a:defRPr/>
            </a:pPr>
            <a:r>
              <a:rPr lang="en-US" altLang="zh-CN" sz="2400" dirty="0">
                <a:latin typeface="+mn-ea"/>
                <a:cs typeface="Times New Roman" pitchFamily="18" charset="0"/>
              </a:rPr>
              <a:t>      1</a:t>
            </a:r>
            <a:r>
              <a:rPr lang="zh-CN" altLang="en-US" sz="2400" dirty="0">
                <a:latin typeface="+mn-ea"/>
                <a:cs typeface="Times New Roman" pitchFamily="18" charset="0"/>
              </a:rPr>
              <a:t>）信息增益</a:t>
            </a:r>
            <a:endParaRPr lang="en-US" altLang="zh-CN" sz="2400" dirty="0">
              <a:latin typeface="+mn-ea"/>
              <a:cs typeface="Times New Roman" pitchFamily="18" charset="0"/>
            </a:endParaRPr>
          </a:p>
          <a:p>
            <a:pPr latinLnBrk="1">
              <a:defRPr/>
            </a:pPr>
            <a:r>
              <a:rPr lang="en-US" altLang="zh-CN" sz="2400" dirty="0">
                <a:latin typeface="+mn-ea"/>
                <a:cs typeface="Times New Roman" pitchFamily="18" charset="0"/>
              </a:rPr>
              <a:t>      2</a:t>
            </a:r>
            <a:r>
              <a:rPr lang="zh-CN" altLang="en-US" sz="2400" dirty="0">
                <a:latin typeface="+mn-ea"/>
                <a:cs typeface="Times New Roman" pitchFamily="18" charset="0"/>
              </a:rPr>
              <a:t>）     信息</a:t>
            </a:r>
            <a:endParaRPr lang="en-US" altLang="zh-CN" sz="2400" dirty="0">
              <a:latin typeface="+mn-ea"/>
              <a:cs typeface="Times New Roman" pitchFamily="18" charset="0"/>
            </a:endParaRPr>
          </a:p>
          <a:p>
            <a:pPr latinLnBrk="1">
              <a:defRPr/>
            </a:pPr>
            <a:r>
              <a:rPr lang="en-US" altLang="zh-CN" sz="2400" dirty="0">
                <a:latin typeface="+mn-ea"/>
                <a:cs typeface="Times New Roman" pitchFamily="18" charset="0"/>
              </a:rPr>
              <a:t>  </a:t>
            </a:r>
            <a:r>
              <a:rPr lang="en-US" altLang="zh-CN" sz="2400" dirty="0">
                <a:solidFill>
                  <a:srgbClr val="FF0000"/>
                </a:solidFill>
                <a:latin typeface="+mn-ea"/>
                <a:cs typeface="Times New Roman" pitchFamily="18" charset="0"/>
              </a:rPr>
              <a:t>②</a:t>
            </a:r>
            <a:r>
              <a:rPr lang="zh-CN" altLang="en-US" sz="2400" dirty="0">
                <a:solidFill>
                  <a:srgbClr val="FF0000"/>
                </a:solidFill>
                <a:latin typeface="+mn-ea"/>
                <a:cs typeface="Times New Roman" pitchFamily="18" charset="0"/>
              </a:rPr>
              <a:t>后剪枝</a:t>
            </a:r>
            <a:r>
              <a:rPr lang="zh-CN" altLang="en-US" sz="2400" dirty="0">
                <a:latin typeface="+mn-ea"/>
                <a:cs typeface="Times New Roman" pitchFamily="18" charset="0"/>
              </a:rPr>
              <a:t>：待决策树“充分生长”后，再判断是否将某些分支变成节点</a:t>
            </a:r>
            <a:endParaRPr lang="en-US" altLang="zh-CN" sz="2400" dirty="0">
              <a:latin typeface="+mn-ea"/>
              <a:cs typeface="Times New Roman" pitchFamily="18" charset="0"/>
            </a:endParaRPr>
          </a:p>
          <a:p>
            <a:pPr latinLnBrk="1">
              <a:defRPr/>
            </a:pPr>
            <a:r>
              <a:rPr lang="en-US" altLang="zh-CN" sz="2400" dirty="0">
                <a:latin typeface="+mn-ea"/>
                <a:cs typeface="Times New Roman" pitchFamily="18" charset="0"/>
              </a:rPr>
              <a:t>     1</a:t>
            </a:r>
            <a:r>
              <a:rPr lang="zh-CN" altLang="en-US" sz="2400" dirty="0">
                <a:latin typeface="+mn-ea"/>
                <a:cs typeface="Times New Roman" pitchFamily="18" charset="0"/>
              </a:rPr>
              <a:t>）错误分类率</a:t>
            </a:r>
            <a:endParaRPr lang="en-US" altLang="zh-CN" sz="2400" dirty="0">
              <a:latin typeface="+mn-ea"/>
              <a:cs typeface="Times New Roman" pitchFamily="18" charset="0"/>
            </a:endParaRPr>
          </a:p>
          <a:p>
            <a:pPr latinLnBrk="1">
              <a:defRPr/>
            </a:pPr>
            <a:r>
              <a:rPr lang="en-US" altLang="zh-CN" sz="2400" dirty="0">
                <a:latin typeface="+mn-ea"/>
                <a:cs typeface="Times New Roman" pitchFamily="18" charset="0"/>
              </a:rPr>
              <a:t>     2</a:t>
            </a:r>
            <a:r>
              <a:rPr lang="zh-CN" altLang="en-US" sz="2400" dirty="0">
                <a:latin typeface="+mn-ea"/>
                <a:cs typeface="Times New Roman" pitchFamily="18" charset="0"/>
              </a:rPr>
              <a:t>）决策树编码长度</a:t>
            </a:r>
            <a:endParaRPr lang="en-US" altLang="zh-CN" sz="2400" dirty="0">
              <a:latin typeface="+mn-ea"/>
              <a:cs typeface="Times New Roman" pitchFamily="18" charset="0"/>
            </a:endParaRPr>
          </a:p>
          <a:p>
            <a:pPr latinLnBrk="1">
              <a:defRPr/>
            </a:pPr>
            <a:endParaRPr lang="en-US" altLang="zh-CN" sz="2400" dirty="0">
              <a:latin typeface="+mn-ea"/>
              <a:cs typeface="Times New Roman" pitchFamily="18" charset="0"/>
            </a:endParaRPr>
          </a:p>
          <a:p>
            <a:pPr latinLnBrk="1">
              <a:defRPr/>
            </a:pPr>
            <a:r>
              <a:rPr lang="en-US" sz="2400" dirty="0"/>
              <a:t>C4.5</a:t>
            </a:r>
            <a:r>
              <a:rPr lang="zh-CN" altLang="en-US" sz="2400" dirty="0"/>
              <a:t>采用悲观剪枝法，它使用训练集生成决策树又用它来进行剪枝，不需要独立的剪枝集。</a:t>
            </a:r>
            <a:endParaRPr lang="en-US" altLang="zh-CN" sz="2400" dirty="0"/>
          </a:p>
          <a:p>
            <a:pPr latinLnBrk="1">
              <a:defRPr/>
            </a:pPr>
            <a:endParaRPr lang="en-US" altLang="zh-CN" sz="2400" dirty="0"/>
          </a:p>
          <a:p>
            <a:pPr latinLnBrk="1">
              <a:defRPr/>
            </a:pPr>
            <a:r>
              <a:rPr lang="en-US" altLang="zh-CN" sz="2400" dirty="0"/>
              <a:t>PEP</a:t>
            </a:r>
            <a:r>
              <a:rPr lang="zh-CN" altLang="en-US" sz="2400" dirty="0"/>
              <a:t>后剪枝技术由</a:t>
            </a:r>
            <a:r>
              <a:rPr lang="en-US" altLang="zh-CN" sz="2400" dirty="0"/>
              <a:t>Quinlan</a:t>
            </a:r>
            <a:r>
              <a:rPr lang="zh-CN" altLang="en-US" sz="2400" dirty="0"/>
              <a:t>提出，不需要像</a:t>
            </a:r>
            <a:r>
              <a:rPr lang="en-US" altLang="zh-CN" sz="2400" dirty="0"/>
              <a:t>REP(</a:t>
            </a:r>
            <a:r>
              <a:rPr lang="zh-CN" altLang="en-US" sz="2400" dirty="0"/>
              <a:t>错误率降低修剪</a:t>
            </a:r>
            <a:r>
              <a:rPr lang="en-US" altLang="zh-CN" sz="2400" dirty="0"/>
              <a:t>)</a:t>
            </a:r>
            <a:r>
              <a:rPr lang="zh-CN" altLang="en-US" sz="2400" dirty="0"/>
              <a:t>那样需要用部分样本作为测试数据，而是完全使用训练数据来生成决策树，又用这些训练数据来完成剪枝。</a:t>
            </a:r>
            <a:endParaRPr lang="zh-CN" altLang="en-US" sz="2400" dirty="0">
              <a:latin typeface="+mn-ea"/>
              <a:cs typeface="Times New Roman" pitchFamily="18" charset="0"/>
            </a:endParaRPr>
          </a:p>
        </p:txBody>
      </p:sp>
      <p:graphicFrame>
        <p:nvGraphicFramePr>
          <p:cNvPr id="6146" name="Object 3"/>
          <p:cNvGraphicFramePr>
            <a:graphicFrameLocks noChangeAspect="1"/>
          </p:cNvGraphicFramePr>
          <p:nvPr>
            <p:extLst>
              <p:ext uri="{D42A27DB-BD31-4B8C-83A1-F6EECF244321}">
                <p14:modId xmlns:p14="http://schemas.microsoft.com/office/powerpoint/2010/main" val="901933720"/>
              </p:ext>
            </p:extLst>
          </p:nvPr>
        </p:nvGraphicFramePr>
        <p:xfrm>
          <a:off x="2783632" y="1916832"/>
          <a:ext cx="357188" cy="392112"/>
        </p:xfrm>
        <a:graphic>
          <a:graphicData uri="http://schemas.openxmlformats.org/presentationml/2006/ole">
            <mc:AlternateContent xmlns:mc="http://schemas.openxmlformats.org/markup-compatibility/2006">
              <mc:Choice xmlns:v="urn:schemas-microsoft-com:vml" Requires="v">
                <p:oleObj spid="_x0000_s417895" name="Equation" r:id="rId4" imgW="253890" imgH="279279" progId="Equation.DSMT4">
                  <p:embed/>
                </p:oleObj>
              </mc:Choice>
              <mc:Fallback>
                <p:oleObj name="Equation" r:id="rId4" imgW="253890" imgH="279279" progId="Equation.DSMT4">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632" y="1916832"/>
                        <a:ext cx="357188"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TextBox 3"/>
          <p:cNvSpPr txBox="1">
            <a:spLocks noChangeArrowheads="1"/>
          </p:cNvSpPr>
          <p:nvPr/>
        </p:nvSpPr>
        <p:spPr bwMode="auto">
          <a:xfrm>
            <a:off x="9802813" y="6215063"/>
            <a:ext cx="453970" cy="369332"/>
          </a:xfrm>
          <a:prstGeom prst="rect">
            <a:avLst/>
          </a:prstGeom>
          <a:noFill/>
          <a:ln w="9525">
            <a:noFill/>
            <a:miter lim="800000"/>
            <a:headEnd/>
            <a:tailEnd/>
          </a:ln>
        </p:spPr>
        <p:txBody>
          <a:bodyPr wrap="none">
            <a:spAutoFit/>
          </a:bodyPr>
          <a:lstStyle/>
          <a:p>
            <a:r>
              <a:rPr lang="en-US" altLang="zh-CN">
                <a:latin typeface="微软雅黑" pitchFamily="34" charset="-122"/>
                <a:ea typeface="微软雅黑" pitchFamily="34" charset="-122"/>
              </a:rPr>
              <a:t>20</a:t>
            </a:r>
            <a:endParaRPr lang="zh-CN" altLang="en-US">
              <a:latin typeface="微软雅黑" pitchFamily="34" charset="-122"/>
              <a:ea typeface="微软雅黑" pitchFamily="34" charset="-122"/>
            </a:endParaRP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43</a:t>
            </a:fld>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703512" y="332657"/>
            <a:ext cx="8246150" cy="563563"/>
          </a:xfrm>
        </p:spPr>
        <p:txBody>
          <a:bodyPr/>
          <a:lstStyle/>
          <a:p>
            <a:r>
              <a:rPr lang="en-US" altLang="zh-CN" sz="2400" dirty="0"/>
              <a:t>CART(classification and regression tree)</a:t>
            </a:r>
            <a:br>
              <a:rPr lang="en-US" altLang="zh-CN" sz="2400" dirty="0"/>
            </a:br>
            <a:endParaRPr lang="en-US" altLang="zh-CN" sz="2400" dirty="0"/>
          </a:p>
        </p:txBody>
      </p:sp>
      <p:sp>
        <p:nvSpPr>
          <p:cNvPr id="29699" name="Rectangle 3"/>
          <p:cNvSpPr>
            <a:spLocks noGrp="1" noChangeArrowheads="1"/>
          </p:cNvSpPr>
          <p:nvPr>
            <p:ph type="body" idx="1"/>
          </p:nvPr>
        </p:nvSpPr>
        <p:spPr>
          <a:xfrm>
            <a:off x="2081213" y="1196752"/>
            <a:ext cx="8229600" cy="3886200"/>
          </a:xfrm>
        </p:spPr>
        <p:txBody>
          <a:bodyPr/>
          <a:lstStyle/>
          <a:p>
            <a:r>
              <a:rPr lang="en-US" altLang="zh-CN" sz="2400" dirty="0"/>
              <a:t>CART Proposed by </a:t>
            </a:r>
            <a:r>
              <a:rPr lang="en-US" altLang="zh-CN" sz="2400" dirty="0" err="1"/>
              <a:t>Breiman</a:t>
            </a:r>
            <a:r>
              <a:rPr lang="en-US" altLang="zh-CN" sz="2400" dirty="0"/>
              <a:t> et. al. (1984)</a:t>
            </a:r>
          </a:p>
          <a:p>
            <a:r>
              <a:rPr lang="en-US" altLang="zh-CN" sz="2400" dirty="0"/>
              <a:t>Constant numerical values in leaves   </a:t>
            </a:r>
            <a:r>
              <a:rPr lang="zh-CN" altLang="en-US" sz="2400" dirty="0"/>
              <a:t>叶节点的常量值 </a:t>
            </a:r>
            <a:endParaRPr lang="en-US" altLang="zh-CN" sz="2400" dirty="0"/>
          </a:p>
          <a:p>
            <a:r>
              <a:rPr lang="en-US" altLang="zh-CN" sz="2400" dirty="0"/>
              <a:t>Variance as measure of impurity </a:t>
            </a:r>
            <a:r>
              <a:rPr lang="zh-CN" altLang="en-US" sz="2400" dirty="0"/>
              <a:t>方差作为杂质测量标准</a:t>
            </a:r>
            <a:endParaRPr lang="en-US" altLang="zh-CN" sz="2400" dirty="0"/>
          </a:p>
          <a:p>
            <a:endParaRPr lang="en-US" altLang="zh-CN" sz="2400" dirty="0"/>
          </a:p>
          <a:p>
            <a:pPr>
              <a:buFontTx/>
              <a:buNone/>
            </a:pPr>
            <a:r>
              <a:rPr lang="zh-CN" altLang="en-US" sz="2400" dirty="0"/>
              <a:t>    </a:t>
            </a:r>
            <a:endParaRPr lang="en-US" altLang="zh-CN" sz="2400" dirty="0"/>
          </a:p>
        </p:txBody>
      </p:sp>
      <p:sp>
        <p:nvSpPr>
          <p:cNvPr id="4" name="Rectangle 3"/>
          <p:cNvSpPr txBox="1">
            <a:spLocks noRot="1" noChangeArrowheads="1"/>
          </p:cNvSpPr>
          <p:nvPr/>
        </p:nvSpPr>
        <p:spPr bwMode="auto">
          <a:xfrm>
            <a:off x="2075658" y="2862956"/>
            <a:ext cx="8283575" cy="192881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defRPr/>
            </a:pPr>
            <a:r>
              <a:rPr lang="zh-CN" altLang="en-US" sz="2400" kern="0" dirty="0">
                <a:latin typeface="+mn-lt"/>
              </a:rPr>
              <a:t>是一种产生</a:t>
            </a:r>
            <a:r>
              <a:rPr lang="zh-CN" altLang="en-US" sz="2400" kern="0" dirty="0">
                <a:solidFill>
                  <a:srgbClr val="FF0000"/>
                </a:solidFill>
                <a:latin typeface="+mn-lt"/>
              </a:rPr>
              <a:t>二叉决策树</a:t>
            </a:r>
            <a:r>
              <a:rPr lang="zh-CN" altLang="en-US" sz="2400" kern="0" dirty="0">
                <a:latin typeface="+mn-lt"/>
              </a:rPr>
              <a:t>的技术</a:t>
            </a:r>
            <a:endParaRPr lang="en-US" altLang="zh-CN" sz="2400" kern="0" dirty="0">
              <a:latin typeface="+mn-lt"/>
            </a:endParaRPr>
          </a:p>
          <a:p>
            <a:pPr marL="342900" indent="-342900" eaLnBrk="0" hangingPunct="0">
              <a:spcBef>
                <a:spcPct val="20000"/>
              </a:spcBef>
              <a:buClr>
                <a:schemeClr val="bg2"/>
              </a:buClr>
              <a:buSzPct val="75000"/>
              <a:buFont typeface="Wingdings" pitchFamily="2" charset="2"/>
              <a:buChar char="n"/>
              <a:defRPr/>
            </a:pPr>
            <a:endParaRPr lang="en-US" altLang="zh-CN" sz="2400" kern="0" dirty="0">
              <a:latin typeface="+mn-lt"/>
            </a:endParaRPr>
          </a:p>
          <a:p>
            <a:pPr marL="342900" indent="-342900" eaLnBrk="0" hangingPunct="0">
              <a:spcBef>
                <a:spcPct val="20000"/>
              </a:spcBef>
              <a:buClr>
                <a:schemeClr val="bg2"/>
              </a:buClr>
              <a:buSzPct val="75000"/>
              <a:buFont typeface="Wingdings" pitchFamily="2" charset="2"/>
              <a:buChar char="n"/>
              <a:defRPr/>
            </a:pPr>
            <a:r>
              <a:rPr lang="zh-CN" altLang="en-US" sz="2400" kern="0" dirty="0">
                <a:latin typeface="+mn-lt"/>
              </a:rPr>
              <a:t>两个重要的思想</a:t>
            </a:r>
            <a:r>
              <a:rPr lang="en-US" altLang="zh-CN" sz="2400" kern="0" dirty="0">
                <a:latin typeface="+mn-lt"/>
              </a:rPr>
              <a:t>:</a:t>
            </a:r>
          </a:p>
          <a:p>
            <a:pPr marL="342900" indent="-342900" eaLnBrk="0" hangingPunct="0">
              <a:spcBef>
                <a:spcPct val="20000"/>
              </a:spcBef>
              <a:buClr>
                <a:schemeClr val="bg2"/>
              </a:buClr>
              <a:buSzPct val="75000"/>
              <a:defRPr/>
            </a:pPr>
            <a:r>
              <a:rPr lang="en-US" altLang="zh-CN" sz="2400" kern="0" dirty="0">
                <a:latin typeface="+mn-lt"/>
              </a:rPr>
              <a:t>    </a:t>
            </a:r>
            <a:r>
              <a:rPr lang="zh-CN" altLang="en-US" sz="2400" kern="0" dirty="0">
                <a:latin typeface="+mn-lt"/>
              </a:rPr>
              <a:t>（</a:t>
            </a:r>
            <a:r>
              <a:rPr lang="en-US" altLang="zh-CN" sz="2400" kern="0" dirty="0">
                <a:latin typeface="+mn-lt"/>
              </a:rPr>
              <a:t>1</a:t>
            </a:r>
            <a:r>
              <a:rPr lang="zh-CN" altLang="en-US" sz="2400" kern="0" dirty="0">
                <a:latin typeface="+mn-lt"/>
              </a:rPr>
              <a:t>）递归地划分自变量空间</a:t>
            </a:r>
            <a:r>
              <a:rPr lang="en-US" altLang="zh-CN" sz="2400" kern="0" dirty="0">
                <a:latin typeface="+mn-lt"/>
              </a:rPr>
              <a:t>;</a:t>
            </a:r>
          </a:p>
          <a:p>
            <a:pPr marL="342900" indent="-342900" eaLnBrk="0" hangingPunct="0">
              <a:spcBef>
                <a:spcPct val="20000"/>
              </a:spcBef>
              <a:buClr>
                <a:schemeClr val="bg2"/>
              </a:buClr>
              <a:buSzPct val="75000"/>
              <a:defRPr/>
            </a:pPr>
            <a:r>
              <a:rPr lang="en-US" altLang="zh-CN" sz="2400" kern="0" dirty="0">
                <a:latin typeface="+mn-lt"/>
              </a:rPr>
              <a:t>    </a:t>
            </a:r>
            <a:r>
              <a:rPr lang="zh-CN" altLang="en-US" sz="2400" kern="0" dirty="0">
                <a:latin typeface="+mn-lt"/>
              </a:rPr>
              <a:t>（</a:t>
            </a:r>
            <a:r>
              <a:rPr lang="en-US" altLang="zh-CN" sz="2400" kern="0" dirty="0">
                <a:latin typeface="+mn-lt"/>
              </a:rPr>
              <a:t>2</a:t>
            </a:r>
            <a:r>
              <a:rPr lang="zh-CN" altLang="en-US" sz="2400" kern="0" dirty="0">
                <a:latin typeface="+mn-lt"/>
              </a:rPr>
              <a:t>）用验证数据进行剪枝</a:t>
            </a:r>
            <a:r>
              <a:rPr lang="en-US" altLang="zh-CN" sz="2400" kern="0" dirty="0">
                <a:latin typeface="+mn-lt"/>
              </a:rPr>
              <a:t>.</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a:xfrm>
            <a:off x="1845742" y="1"/>
            <a:ext cx="8540750" cy="968375"/>
          </a:xfrm>
        </p:spPr>
        <p:txBody>
          <a:bodyPr/>
          <a:lstStyle/>
          <a:p>
            <a:r>
              <a:rPr lang="en-US" altLang="zh-CN" dirty="0"/>
              <a:t>CART</a:t>
            </a:r>
            <a:r>
              <a:rPr lang="zh-CN" altLang="en-US" dirty="0">
                <a:solidFill>
                  <a:srgbClr val="2608DC"/>
                </a:solidFill>
              </a:rPr>
              <a:t>一递归划分自变量空间</a:t>
            </a:r>
          </a:p>
        </p:txBody>
      </p:sp>
      <p:sp>
        <p:nvSpPr>
          <p:cNvPr id="30723" name="Rectangle 3"/>
          <p:cNvSpPr>
            <a:spLocks noGrp="1" noRot="1" noChangeArrowheads="1"/>
          </p:cNvSpPr>
          <p:nvPr>
            <p:ph type="body" idx="1"/>
          </p:nvPr>
        </p:nvSpPr>
        <p:spPr>
          <a:xfrm>
            <a:off x="1524001" y="1071563"/>
            <a:ext cx="8729663" cy="3886200"/>
          </a:xfrm>
        </p:spPr>
        <p:txBody>
          <a:bodyPr/>
          <a:lstStyle/>
          <a:p>
            <a:r>
              <a:rPr lang="zh-CN" altLang="en-US" sz="2400" dirty="0"/>
              <a:t>递归划分  </a:t>
            </a:r>
          </a:p>
          <a:p>
            <a:pPr>
              <a:buFont typeface="Wingdings" pitchFamily="2" charset="2"/>
              <a:buNone/>
            </a:pPr>
            <a:r>
              <a:rPr lang="zh-CN" altLang="en-US" sz="2400" dirty="0"/>
              <a:t>         用</a:t>
            </a:r>
            <a:r>
              <a:rPr lang="en-US" altLang="zh-CN" sz="2400" dirty="0"/>
              <a:t>Y</a:t>
            </a:r>
            <a:r>
              <a:rPr lang="zh-CN" altLang="en-US" sz="2400" dirty="0"/>
              <a:t>表示因变量</a:t>
            </a:r>
            <a:r>
              <a:rPr lang="en-US" altLang="zh-CN" sz="2400" dirty="0"/>
              <a:t>(</a:t>
            </a:r>
            <a:r>
              <a:rPr lang="zh-CN" altLang="en-US" sz="2400" dirty="0"/>
              <a:t>分类变量</a:t>
            </a:r>
            <a:r>
              <a:rPr lang="en-US" altLang="zh-CN" sz="2400" dirty="0"/>
              <a:t>)</a:t>
            </a:r>
            <a:r>
              <a:rPr lang="zh-CN" altLang="en-US" sz="2400" dirty="0"/>
              <a:t>，用</a:t>
            </a:r>
            <a:r>
              <a:rPr lang="en-US" altLang="zh-CN" sz="2400" dirty="0"/>
              <a:t>X1,X2,…,XP</a:t>
            </a:r>
            <a:r>
              <a:rPr lang="zh-CN" altLang="en-US" sz="2400" dirty="0"/>
              <a:t>表示自变量，通过递归的方式把关于</a:t>
            </a:r>
            <a:r>
              <a:rPr lang="en-US" altLang="zh-CN" sz="2400" dirty="0"/>
              <a:t>X</a:t>
            </a:r>
            <a:r>
              <a:rPr lang="zh-CN" altLang="en-US" sz="2400" dirty="0"/>
              <a:t>的</a:t>
            </a:r>
            <a:r>
              <a:rPr lang="en-US" altLang="zh-CN" sz="2400" dirty="0"/>
              <a:t>P</a:t>
            </a:r>
            <a:r>
              <a:rPr lang="zh-CN" altLang="en-US" sz="2400" dirty="0"/>
              <a:t>维空间划分为不重叠的矩形</a:t>
            </a:r>
            <a:r>
              <a:rPr lang="en-US" altLang="zh-CN" sz="2400" dirty="0"/>
              <a:t>.</a:t>
            </a:r>
          </a:p>
        </p:txBody>
      </p:sp>
      <p:sp>
        <p:nvSpPr>
          <p:cNvPr id="4" name="Rectangle 3"/>
          <p:cNvSpPr txBox="1">
            <a:spLocks noRot="1" noChangeArrowheads="1"/>
          </p:cNvSpPr>
          <p:nvPr/>
        </p:nvSpPr>
        <p:spPr bwMode="auto">
          <a:xfrm>
            <a:off x="1824906" y="2396184"/>
            <a:ext cx="8153400" cy="340836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defRPr/>
            </a:pPr>
            <a:r>
              <a:rPr lang="zh-CN" altLang="en-US" sz="2400" kern="0" dirty="0">
                <a:solidFill>
                  <a:srgbClr val="0000FF"/>
                </a:solidFill>
                <a:latin typeface="+mn-lt"/>
              </a:rPr>
              <a:t>划分步骤</a:t>
            </a:r>
            <a:r>
              <a:rPr lang="en-US" altLang="zh-CN" sz="2400" kern="0" dirty="0">
                <a:solidFill>
                  <a:srgbClr val="0000FF"/>
                </a:solidFill>
                <a:latin typeface="+mn-lt"/>
              </a:rPr>
              <a:t>:</a:t>
            </a:r>
          </a:p>
          <a:p>
            <a:pPr marL="342900" indent="-342900" eaLnBrk="0" hangingPunct="0">
              <a:spcBef>
                <a:spcPct val="20000"/>
              </a:spcBef>
              <a:buClr>
                <a:schemeClr val="bg2"/>
              </a:buClr>
              <a:buSzPct val="75000"/>
              <a:defRPr/>
            </a:pPr>
            <a:r>
              <a:rPr lang="en-US" altLang="zh-CN" sz="2400" kern="0" dirty="0">
                <a:latin typeface="+mn-lt"/>
              </a:rPr>
              <a:t>   </a:t>
            </a:r>
            <a:r>
              <a:rPr lang="zh-CN" altLang="en-US" sz="2400" kern="0" dirty="0">
                <a:latin typeface="+mn-lt"/>
              </a:rPr>
              <a:t>（</a:t>
            </a:r>
            <a:r>
              <a:rPr lang="en-US" altLang="zh-CN" sz="2400" kern="0" dirty="0">
                <a:latin typeface="+mn-lt"/>
              </a:rPr>
              <a:t>1</a:t>
            </a:r>
            <a:r>
              <a:rPr lang="zh-CN" altLang="en-US" sz="2400" kern="0" dirty="0">
                <a:latin typeface="+mn-lt"/>
              </a:rPr>
              <a:t>）选择一个自变量，例如</a:t>
            </a:r>
            <a:r>
              <a:rPr lang="en-US" altLang="zh-CN" sz="2400" kern="0" dirty="0">
                <a:latin typeface="+mn-lt"/>
              </a:rPr>
              <a:t>Xi</a:t>
            </a:r>
            <a:r>
              <a:rPr lang="zh-CN" altLang="en-US" sz="2400" kern="0" dirty="0">
                <a:latin typeface="+mn-lt"/>
              </a:rPr>
              <a:t>和</a:t>
            </a:r>
            <a:r>
              <a:rPr lang="en-US" altLang="zh-CN" sz="2400" kern="0" dirty="0">
                <a:latin typeface="+mn-lt"/>
              </a:rPr>
              <a:t>Xi</a:t>
            </a:r>
            <a:r>
              <a:rPr lang="zh-CN" altLang="en-US" sz="2400" kern="0" dirty="0">
                <a:latin typeface="+mn-lt"/>
              </a:rPr>
              <a:t>的一个值</a:t>
            </a:r>
            <a:r>
              <a:rPr lang="en-US" altLang="zh-CN" sz="2400" kern="0" dirty="0">
                <a:latin typeface="+mn-lt"/>
              </a:rPr>
              <a:t>Si,</a:t>
            </a:r>
            <a:r>
              <a:rPr lang="zh-CN" altLang="en-US" sz="2400" kern="0" dirty="0">
                <a:latin typeface="+mn-lt"/>
              </a:rPr>
              <a:t>若选择</a:t>
            </a:r>
            <a:r>
              <a:rPr lang="en-US" altLang="zh-CN" sz="2400" kern="0" dirty="0">
                <a:latin typeface="+mn-lt"/>
              </a:rPr>
              <a:t>Si</a:t>
            </a:r>
            <a:r>
              <a:rPr lang="zh-CN" altLang="en-US" sz="2400" kern="0" dirty="0">
                <a:latin typeface="+mn-lt"/>
              </a:rPr>
              <a:t>把</a:t>
            </a:r>
            <a:r>
              <a:rPr lang="en-US" altLang="zh-CN" sz="2400" kern="0" dirty="0">
                <a:latin typeface="+mn-lt"/>
              </a:rPr>
              <a:t>P</a:t>
            </a:r>
            <a:r>
              <a:rPr lang="zh-CN" altLang="en-US" sz="2400" kern="0" dirty="0">
                <a:latin typeface="+mn-lt"/>
              </a:rPr>
              <a:t>维空间分为两部分：一部分包含的点都满足</a:t>
            </a:r>
            <a:r>
              <a:rPr lang="en-US" altLang="zh-CN" sz="2400" kern="0" dirty="0">
                <a:latin typeface="+mn-lt"/>
              </a:rPr>
              <a:t>Xi&lt;=Si; </a:t>
            </a:r>
            <a:r>
              <a:rPr lang="zh-CN" altLang="en-US" sz="2400" kern="0" dirty="0">
                <a:latin typeface="+mn-lt"/>
              </a:rPr>
              <a:t>另一部分包含的点满足</a:t>
            </a:r>
            <a:r>
              <a:rPr lang="en-US" altLang="zh-CN" sz="2400" kern="0" dirty="0">
                <a:latin typeface="+mn-lt"/>
              </a:rPr>
              <a:t>Xi&gt;Si.</a:t>
            </a:r>
          </a:p>
          <a:p>
            <a:pPr marL="342900" indent="-342900" eaLnBrk="0" hangingPunct="0">
              <a:spcBef>
                <a:spcPct val="20000"/>
              </a:spcBef>
              <a:buClr>
                <a:schemeClr val="bg2"/>
              </a:buClr>
              <a:buSzPct val="75000"/>
              <a:defRPr/>
            </a:pPr>
            <a:r>
              <a:rPr lang="zh-CN" altLang="en-US" sz="2400" kern="0" dirty="0">
                <a:latin typeface="+mn-lt"/>
              </a:rPr>
              <a:t>   （</a:t>
            </a:r>
            <a:r>
              <a:rPr lang="en-US" altLang="zh-CN" sz="2400" kern="0" dirty="0">
                <a:latin typeface="+mn-lt"/>
              </a:rPr>
              <a:t>2</a:t>
            </a:r>
            <a:r>
              <a:rPr lang="zh-CN" altLang="en-US" sz="2400" kern="0" dirty="0">
                <a:latin typeface="+mn-lt"/>
              </a:rPr>
              <a:t>）将上步中得到的两部分中的一个部分</a:t>
            </a:r>
            <a:r>
              <a:rPr lang="en-US" altLang="zh-CN" sz="2400" kern="0" dirty="0">
                <a:latin typeface="+mn-lt"/>
              </a:rPr>
              <a:t>,</a:t>
            </a:r>
            <a:r>
              <a:rPr lang="zh-CN" altLang="en-US" sz="2400" kern="0" dirty="0">
                <a:latin typeface="+mn-lt"/>
              </a:rPr>
              <a:t>通过选择一个变量和该变量的划分值以相似的方式再划分</a:t>
            </a:r>
            <a:r>
              <a:rPr lang="en-US" altLang="zh-CN" sz="2400" kern="0" dirty="0">
                <a:latin typeface="+mn-lt"/>
              </a:rPr>
              <a:t>.</a:t>
            </a:r>
          </a:p>
          <a:p>
            <a:pPr marL="342900" indent="-342900" eaLnBrk="0" hangingPunct="0">
              <a:spcBef>
                <a:spcPct val="20000"/>
              </a:spcBef>
              <a:buClr>
                <a:schemeClr val="bg2"/>
              </a:buClr>
              <a:buSzPct val="75000"/>
              <a:defRPr/>
            </a:pPr>
            <a:r>
              <a:rPr lang="zh-CN" altLang="en-US" sz="2400" kern="0" dirty="0">
                <a:latin typeface="+mn-lt"/>
              </a:rPr>
              <a:t>     重复上述步骤，直至把整个</a:t>
            </a:r>
            <a:r>
              <a:rPr lang="en-US" altLang="zh-CN" sz="2400" kern="0" dirty="0">
                <a:latin typeface="+mn-lt"/>
              </a:rPr>
              <a:t>X</a:t>
            </a:r>
            <a:r>
              <a:rPr lang="zh-CN" altLang="en-US" sz="2400" kern="0" dirty="0">
                <a:latin typeface="+mn-lt"/>
              </a:rPr>
              <a:t>空间划分成的每个小矩形都尽可能的是同构的</a:t>
            </a:r>
            <a:r>
              <a:rPr lang="en-US" altLang="zh-CN" sz="2400" kern="0" dirty="0">
                <a:latin typeface="+mn-lt"/>
              </a:rPr>
              <a:t>.</a:t>
            </a:r>
          </a:p>
          <a:p>
            <a:pPr marL="342900" indent="-342900" eaLnBrk="0" hangingPunct="0">
              <a:spcBef>
                <a:spcPct val="20000"/>
              </a:spcBef>
              <a:buClr>
                <a:schemeClr val="bg2"/>
              </a:buClr>
              <a:buSzPct val="75000"/>
              <a:defRPr/>
            </a:pPr>
            <a:r>
              <a:rPr lang="en-US" altLang="zh-CN" sz="2400" kern="0" dirty="0"/>
              <a:t>    </a:t>
            </a:r>
            <a:r>
              <a:rPr lang="zh-CN" altLang="en-US" sz="2400" kern="0" dirty="0">
                <a:solidFill>
                  <a:srgbClr val="FF0000"/>
                </a:solidFill>
              </a:rPr>
              <a:t>划分点搜索准则为</a:t>
            </a:r>
            <a:r>
              <a:rPr lang="en-US" altLang="zh-CN" sz="2400" kern="0" dirty="0" err="1">
                <a:solidFill>
                  <a:srgbClr val="FF0000"/>
                </a:solidFill>
              </a:rPr>
              <a:t>Gini</a:t>
            </a:r>
            <a:r>
              <a:rPr lang="zh-CN" altLang="en-US" sz="2400" kern="0" dirty="0">
                <a:solidFill>
                  <a:srgbClr val="FF0000"/>
                </a:solidFill>
              </a:rPr>
              <a:t>指数</a:t>
            </a:r>
            <a:endParaRPr lang="en-US" altLang="zh-CN" sz="2400" kern="0" dirty="0">
              <a:solidFill>
                <a:srgbClr val="FF0000"/>
              </a:solidFill>
              <a:latin typeface="+mn-lt"/>
            </a:endParaRP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4"/>
          <p:cNvPicPr>
            <a:picLocks noChangeAspect="1" noChangeArrowheads="1"/>
          </p:cNvPicPr>
          <p:nvPr/>
        </p:nvPicPr>
        <p:blipFill>
          <a:blip r:embed="rId2" cstate="print"/>
          <a:srcRect/>
          <a:stretch>
            <a:fillRect/>
          </a:stretch>
        </p:blipFill>
        <p:spPr bwMode="auto">
          <a:xfrm>
            <a:off x="4367809" y="1886607"/>
            <a:ext cx="6073613" cy="5230103"/>
          </a:xfrm>
          <a:prstGeom prst="rect">
            <a:avLst/>
          </a:prstGeom>
          <a:noFill/>
          <a:ln w="9525">
            <a:noFill/>
            <a:miter lim="800000"/>
            <a:headEnd/>
            <a:tailEnd/>
          </a:ln>
        </p:spPr>
      </p:pic>
      <p:sp>
        <p:nvSpPr>
          <p:cNvPr id="31746" name="Rectangle 3"/>
          <p:cNvSpPr>
            <a:spLocks noGrp="1" noRot="1" noChangeArrowheads="1"/>
          </p:cNvSpPr>
          <p:nvPr>
            <p:ph type="body" idx="1"/>
          </p:nvPr>
        </p:nvSpPr>
        <p:spPr>
          <a:xfrm>
            <a:off x="1524000" y="877239"/>
            <a:ext cx="9144000" cy="1738313"/>
          </a:xfrm>
        </p:spPr>
        <p:txBody>
          <a:bodyPr/>
          <a:lstStyle/>
          <a:p>
            <a:pPr>
              <a:buNone/>
            </a:pPr>
            <a:r>
              <a:rPr lang="zh-CN" altLang="en-US" sz="2400" dirty="0"/>
              <a:t>例</a:t>
            </a:r>
            <a:r>
              <a:rPr lang="en-US" altLang="zh-CN" sz="2400" b="1" dirty="0"/>
              <a:t>1</a:t>
            </a:r>
            <a:r>
              <a:rPr lang="zh-CN" altLang="en-US" sz="2400" dirty="0"/>
              <a:t>   割草机制造商意欲发现一个把城市中的家庭分成那些愿意购买乘式割草机和不愿意购买的两类的方法。在这个城市的家庭中随机抽取</a:t>
            </a:r>
            <a:r>
              <a:rPr lang="en-US" altLang="zh-CN" sz="2400" dirty="0"/>
              <a:t>12</a:t>
            </a:r>
            <a:r>
              <a:rPr lang="zh-CN" altLang="en-US" sz="2400" dirty="0"/>
              <a:t>个拥有者和</a:t>
            </a:r>
            <a:r>
              <a:rPr lang="en-US" altLang="zh-CN" sz="2400" dirty="0"/>
              <a:t>12</a:t>
            </a:r>
            <a:r>
              <a:rPr lang="zh-CN" altLang="en-US" sz="2400" dirty="0"/>
              <a:t>个非拥有者</a:t>
            </a:r>
            <a:r>
              <a:rPr lang="zh-CN" altLang="en-US" sz="2400" kern="1200" dirty="0">
                <a:solidFill>
                  <a:srgbClr val="000000"/>
                </a:solidFill>
                <a:latin typeface="Arial" charset="0"/>
              </a:rPr>
              <a:t>的家庭作为样本。</a:t>
            </a:r>
            <a:endParaRPr lang="en-US" altLang="zh-CN" sz="2400" i="1" dirty="0">
              <a:solidFill>
                <a:srgbClr val="D80C38"/>
              </a:solidFill>
            </a:endParaRPr>
          </a:p>
        </p:txBody>
      </p:sp>
      <p:sp>
        <p:nvSpPr>
          <p:cNvPr id="31748" name="矩形 3"/>
          <p:cNvSpPr>
            <a:spLocks noChangeArrowheads="1"/>
          </p:cNvSpPr>
          <p:nvPr/>
        </p:nvSpPr>
        <p:spPr bwMode="auto">
          <a:xfrm>
            <a:off x="1637005" y="2132856"/>
            <a:ext cx="2844378" cy="2677656"/>
          </a:xfrm>
          <a:prstGeom prst="rect">
            <a:avLst/>
          </a:prstGeom>
          <a:noFill/>
          <a:ln w="9525">
            <a:noFill/>
            <a:miter lim="800000"/>
            <a:headEnd/>
            <a:tailEnd/>
          </a:ln>
        </p:spPr>
        <p:txBody>
          <a:bodyPr wrap="square">
            <a:spAutoFit/>
          </a:bodyPr>
          <a:lstStyle/>
          <a:p>
            <a:r>
              <a:rPr lang="zh-CN" altLang="en-US" sz="2400" dirty="0"/>
              <a:t>这些数据如图所示。这里的自变量是收入（</a:t>
            </a:r>
            <a:r>
              <a:rPr lang="en-US" altLang="zh-CN" sz="2400" dirty="0"/>
              <a:t>X1</a:t>
            </a:r>
            <a:r>
              <a:rPr lang="zh-CN" altLang="en-US" sz="2400" dirty="0"/>
              <a:t>）和草地面积（</a:t>
            </a:r>
            <a:r>
              <a:rPr lang="en-US" altLang="zh-CN" sz="2400" dirty="0"/>
              <a:t>X2</a:t>
            </a:r>
            <a:r>
              <a:rPr lang="zh-CN" altLang="en-US" sz="2400" dirty="0"/>
              <a:t>）。</a:t>
            </a:r>
            <a:endParaRPr lang="en-US" altLang="zh-CN" sz="2400" dirty="0"/>
          </a:p>
          <a:p>
            <a:r>
              <a:rPr lang="zh-CN" altLang="en-US" sz="2400" dirty="0"/>
              <a:t>类别变量</a:t>
            </a:r>
            <a:r>
              <a:rPr lang="en-US" altLang="zh-CN" sz="2400" dirty="0"/>
              <a:t>Y</a:t>
            </a:r>
            <a:r>
              <a:rPr lang="zh-CN" altLang="en-US" sz="2400" dirty="0"/>
              <a:t>有两个类别：拥有者和非拥有者。</a:t>
            </a:r>
            <a:endParaRPr lang="en-US" altLang="zh-CN" sz="2400" i="1" dirty="0">
              <a:solidFill>
                <a:srgbClr val="D80C38"/>
              </a:solidFill>
            </a:endParaRPr>
          </a:p>
        </p:txBody>
      </p:sp>
      <p:sp>
        <p:nvSpPr>
          <p:cNvPr id="5" name="灯片编号占位符 4"/>
          <p:cNvSpPr>
            <a:spLocks noGrp="1"/>
          </p:cNvSpPr>
          <p:nvPr>
            <p:ph type="sldNum" sz="quarter" idx="11"/>
          </p:nvPr>
        </p:nvSpPr>
        <p:spPr>
          <a:solidFill>
            <a:schemeClr val="bg1"/>
          </a:solidFill>
        </p:spPr>
        <p:txBody>
          <a:bodyPr/>
          <a:lstStyle/>
          <a:p>
            <a:pPr>
              <a:defRPr/>
            </a:pPr>
            <a:fld id="{31E287EE-1289-4991-82CE-EFE584F53F4F}" type="slidenum">
              <a:rPr lang="en-US" altLang="zh-CN" smtClean="0"/>
              <a:pPr>
                <a:defRPr/>
              </a:pPr>
              <a:t>46</a:t>
            </a:fld>
            <a:endParaRPr lang="en-US" altLang="zh-CN" dirty="0"/>
          </a:p>
        </p:txBody>
      </p:sp>
      <p:sp>
        <p:nvSpPr>
          <p:cNvPr id="2" name="矩形 1"/>
          <p:cNvSpPr/>
          <p:nvPr/>
        </p:nvSpPr>
        <p:spPr>
          <a:xfrm>
            <a:off x="1919536" y="260648"/>
            <a:ext cx="3861826" cy="523220"/>
          </a:xfrm>
          <a:prstGeom prst="rect">
            <a:avLst/>
          </a:prstGeom>
        </p:spPr>
        <p:txBody>
          <a:bodyPr wrap="none">
            <a:spAutoFit/>
          </a:bodyPr>
          <a:lstStyle/>
          <a:p>
            <a:r>
              <a:rPr lang="en-US" altLang="zh-CN" sz="2800" dirty="0">
                <a:solidFill>
                  <a:srgbClr val="0000FF"/>
                </a:solidFill>
              </a:rPr>
              <a:t> </a:t>
            </a:r>
            <a:r>
              <a:rPr lang="en-US" altLang="zh-CN" sz="2800" dirty="0"/>
              <a:t>CART-</a:t>
            </a:r>
            <a:r>
              <a:rPr lang="zh-CN" altLang="en-US" sz="2800" dirty="0">
                <a:solidFill>
                  <a:srgbClr val="0000FF"/>
                </a:solidFill>
              </a:rPr>
              <a:t>递归划分的过程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Rot="1" noChangeArrowheads="1"/>
          </p:cNvSpPr>
          <p:nvPr>
            <p:ph type="body" idx="1"/>
          </p:nvPr>
        </p:nvSpPr>
        <p:spPr>
          <a:xfrm>
            <a:off x="1666876" y="142875"/>
            <a:ext cx="8786813" cy="1428750"/>
          </a:xfrm>
          <a:solidFill>
            <a:schemeClr val="bg1"/>
          </a:solidFill>
        </p:spPr>
        <p:txBody>
          <a:bodyPr/>
          <a:lstStyle/>
          <a:p>
            <a:pPr>
              <a:buFont typeface="Wingdings" pitchFamily="2" charset="2"/>
              <a:buNone/>
            </a:pPr>
            <a:r>
              <a:rPr lang="en-US" altLang="zh-CN" sz="2400" dirty="0"/>
              <a:t>CART</a:t>
            </a:r>
            <a:r>
              <a:rPr lang="zh-CN" altLang="en-US" sz="2400" dirty="0"/>
              <a:t>如何选择划分点</a:t>
            </a:r>
            <a:r>
              <a:rPr lang="en-US" altLang="zh-CN" sz="2400" dirty="0"/>
              <a:t>?</a:t>
            </a:r>
          </a:p>
          <a:p>
            <a:r>
              <a:rPr lang="zh-CN" altLang="en-US" sz="2400" dirty="0"/>
              <a:t>对于连续值处理引进“分裂点”的思想，假设样本集中某个属性共</a:t>
            </a:r>
            <a:r>
              <a:rPr lang="zh-CN" altLang="zh-CN" sz="2400" dirty="0"/>
              <a:t>n</a:t>
            </a:r>
            <a:r>
              <a:rPr lang="zh-CN" altLang="en-US" sz="2400" dirty="0"/>
              <a:t>个连续值，则有</a:t>
            </a:r>
            <a:r>
              <a:rPr lang="zh-CN" altLang="zh-CN" sz="2400" dirty="0"/>
              <a:t>n-1</a:t>
            </a:r>
            <a:r>
              <a:rPr lang="zh-CN" altLang="en-US" sz="2400" dirty="0"/>
              <a:t>个分裂点，每个“分裂点”为相邻两个连续值的均值 </a:t>
            </a:r>
            <a:r>
              <a:rPr lang="zh-CN" altLang="zh-CN" sz="2400" dirty="0"/>
              <a:t>(a[i] + a[i+1]) / 2</a:t>
            </a:r>
            <a:r>
              <a:rPr lang="zh-CN" altLang="en-US" sz="2400" dirty="0"/>
              <a:t>。</a:t>
            </a:r>
          </a:p>
          <a:p>
            <a:pPr>
              <a:buFont typeface="Wingdings" pitchFamily="2" charset="2"/>
              <a:buNone/>
            </a:pPr>
            <a:endParaRPr lang="en-US" altLang="zh-CN" sz="2400" dirty="0"/>
          </a:p>
          <a:p>
            <a:pPr>
              <a:buFont typeface="Wingdings" pitchFamily="2" charset="2"/>
              <a:buNone/>
            </a:pPr>
            <a:r>
              <a:rPr lang="en-US" altLang="zh-CN" sz="2400" dirty="0"/>
              <a:t>   </a:t>
            </a:r>
          </a:p>
        </p:txBody>
      </p:sp>
      <p:pic>
        <p:nvPicPr>
          <p:cNvPr id="32771" name="Picture 4"/>
          <p:cNvPicPr>
            <a:picLocks noChangeAspect="1" noChangeArrowheads="1"/>
          </p:cNvPicPr>
          <p:nvPr/>
        </p:nvPicPr>
        <p:blipFill>
          <a:blip r:embed="rId2" cstate="print"/>
          <a:srcRect/>
          <a:stretch>
            <a:fillRect/>
          </a:stretch>
        </p:blipFill>
        <p:spPr bwMode="auto">
          <a:xfrm>
            <a:off x="4881564" y="2476500"/>
            <a:ext cx="5786437" cy="4381500"/>
          </a:xfrm>
          <a:prstGeom prst="rect">
            <a:avLst/>
          </a:prstGeom>
          <a:noFill/>
          <a:ln w="9525">
            <a:noFill/>
            <a:miter lim="800000"/>
            <a:headEnd/>
            <a:tailEnd/>
          </a:ln>
        </p:spPr>
      </p:pic>
      <p:sp>
        <p:nvSpPr>
          <p:cNvPr id="32772" name="矩形 5"/>
          <p:cNvSpPr>
            <a:spLocks noChangeArrowheads="1"/>
          </p:cNvSpPr>
          <p:nvPr/>
        </p:nvSpPr>
        <p:spPr bwMode="auto">
          <a:xfrm>
            <a:off x="1738313" y="3357563"/>
            <a:ext cx="3143250" cy="1200150"/>
          </a:xfrm>
          <a:prstGeom prst="rect">
            <a:avLst/>
          </a:prstGeom>
          <a:noFill/>
          <a:ln w="9525">
            <a:noFill/>
            <a:miter lim="800000"/>
            <a:headEnd/>
            <a:tailEnd/>
          </a:ln>
        </p:spPr>
        <p:txBody>
          <a:bodyPr>
            <a:spAutoFit/>
          </a:bodyPr>
          <a:lstStyle/>
          <a:p>
            <a:r>
              <a:rPr lang="zh-CN" altLang="en-US"/>
              <a:t>选择草地面积变量</a:t>
            </a:r>
            <a:r>
              <a:rPr lang="en-US" altLang="zh-CN"/>
              <a:t>X2=19</a:t>
            </a:r>
            <a:r>
              <a:rPr lang="zh-CN" altLang="en-US"/>
              <a:t>做第一次分割</a:t>
            </a:r>
            <a:r>
              <a:rPr lang="en-US" altLang="zh-CN"/>
              <a:t>,</a:t>
            </a:r>
            <a:r>
              <a:rPr lang="zh-CN" altLang="en-US"/>
              <a:t>由</a:t>
            </a:r>
            <a:r>
              <a:rPr lang="en-US" altLang="zh-CN"/>
              <a:t>(X1,X2)</a:t>
            </a:r>
            <a:r>
              <a:rPr lang="zh-CN" altLang="en-US"/>
              <a:t>组成的空间被分成</a:t>
            </a:r>
            <a:r>
              <a:rPr lang="en-US" altLang="zh-CN"/>
              <a:t>X2&lt;=19</a:t>
            </a:r>
            <a:r>
              <a:rPr lang="zh-CN" altLang="en-US"/>
              <a:t>和</a:t>
            </a:r>
            <a:r>
              <a:rPr lang="en-US" altLang="zh-CN"/>
              <a:t>X2&gt;19</a:t>
            </a:r>
            <a:r>
              <a:rPr lang="zh-CN" altLang="en-US"/>
              <a:t>的两个矩形</a:t>
            </a:r>
            <a:r>
              <a:rPr lang="en-US" altLang="zh-CN"/>
              <a:t>.</a:t>
            </a:r>
            <a:endParaRPr lang="zh-CN" altLang="en-US"/>
          </a:p>
        </p:txBody>
      </p:sp>
      <p:sp>
        <p:nvSpPr>
          <p:cNvPr id="32773" name="矩形 6"/>
          <p:cNvSpPr>
            <a:spLocks noChangeArrowheads="1"/>
          </p:cNvSpPr>
          <p:nvPr/>
        </p:nvSpPr>
        <p:spPr bwMode="auto">
          <a:xfrm>
            <a:off x="1809751" y="1785938"/>
            <a:ext cx="6143625" cy="830262"/>
          </a:xfrm>
          <a:prstGeom prst="rect">
            <a:avLst/>
          </a:prstGeom>
          <a:noFill/>
          <a:ln w="9525">
            <a:noFill/>
            <a:miter lim="800000"/>
            <a:headEnd/>
            <a:tailEnd/>
          </a:ln>
        </p:spPr>
        <p:txBody>
          <a:bodyPr>
            <a:spAutoFit/>
          </a:bodyPr>
          <a:lstStyle/>
          <a:p>
            <a:pPr>
              <a:buFont typeface="Wingdings" pitchFamily="2" charset="2"/>
              <a:buNone/>
            </a:pPr>
            <a:r>
              <a:rPr lang="en-US" altLang="zh-CN" sz="2400" dirty="0"/>
              <a:t>   X1</a:t>
            </a:r>
            <a:r>
              <a:rPr lang="zh-CN" altLang="en-US" sz="2400" dirty="0"/>
              <a:t>可能划分点是</a:t>
            </a:r>
            <a:r>
              <a:rPr lang="en-US" altLang="zh-CN" sz="2400" dirty="0"/>
              <a:t>{38.1,45.3,50.1…,109.5};</a:t>
            </a:r>
          </a:p>
          <a:p>
            <a:pPr>
              <a:buFont typeface="Wingdings" pitchFamily="2" charset="2"/>
              <a:buNone/>
            </a:pPr>
            <a:r>
              <a:rPr lang="en-US" altLang="zh-CN" sz="2400" dirty="0"/>
              <a:t>   X2</a:t>
            </a:r>
            <a:r>
              <a:rPr lang="zh-CN" altLang="en-US" sz="2400" dirty="0"/>
              <a:t>可能划分点是</a:t>
            </a:r>
            <a:r>
              <a:rPr lang="en-US" altLang="zh-CN" sz="2400" dirty="0"/>
              <a:t>{16.4,15.4,16.2…23}.</a:t>
            </a: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Rot="1" noChangeArrowheads="1"/>
          </p:cNvSpPr>
          <p:nvPr>
            <p:ph type="body" idx="1"/>
          </p:nvPr>
        </p:nvSpPr>
        <p:spPr>
          <a:xfrm>
            <a:off x="1702564" y="69238"/>
            <a:ext cx="8786813" cy="1428750"/>
          </a:xfrm>
          <a:solidFill>
            <a:schemeClr val="bg1"/>
          </a:solidFill>
        </p:spPr>
        <p:txBody>
          <a:bodyPr/>
          <a:lstStyle/>
          <a:p>
            <a:pPr>
              <a:buFont typeface="Wingdings" pitchFamily="2" charset="2"/>
              <a:buNone/>
            </a:pPr>
            <a:r>
              <a:rPr lang="en-US" altLang="zh-CN" sz="2400" dirty="0"/>
              <a:t>CART</a:t>
            </a:r>
            <a:r>
              <a:rPr lang="zh-CN" altLang="en-US" sz="2400" dirty="0"/>
              <a:t>如何选择划分点</a:t>
            </a:r>
            <a:r>
              <a:rPr lang="en-US" altLang="zh-CN" sz="2400" dirty="0"/>
              <a:t>?</a:t>
            </a:r>
          </a:p>
        </p:txBody>
      </p:sp>
      <p:pic>
        <p:nvPicPr>
          <p:cNvPr id="12293" name="Picture 4"/>
          <p:cNvPicPr>
            <a:picLocks noChangeAspect="1" noChangeArrowheads="1"/>
          </p:cNvPicPr>
          <p:nvPr/>
        </p:nvPicPr>
        <p:blipFill>
          <a:blip r:embed="rId3" cstate="print"/>
          <a:srcRect/>
          <a:stretch>
            <a:fillRect/>
          </a:stretch>
        </p:blipFill>
        <p:spPr bwMode="auto">
          <a:xfrm>
            <a:off x="4884516" y="2301198"/>
            <a:ext cx="5786437" cy="4381500"/>
          </a:xfrm>
          <a:prstGeom prst="rect">
            <a:avLst/>
          </a:prstGeom>
          <a:noFill/>
          <a:ln w="9525">
            <a:noFill/>
            <a:miter lim="800000"/>
            <a:headEnd/>
            <a:tailEnd/>
          </a:ln>
        </p:spPr>
      </p:pic>
      <p:sp>
        <p:nvSpPr>
          <p:cNvPr id="12295" name="矩形 5"/>
          <p:cNvSpPr>
            <a:spLocks noChangeArrowheads="1"/>
          </p:cNvSpPr>
          <p:nvPr/>
        </p:nvSpPr>
        <p:spPr bwMode="auto">
          <a:xfrm>
            <a:off x="1741265" y="2922260"/>
            <a:ext cx="3143250" cy="1200150"/>
          </a:xfrm>
          <a:prstGeom prst="rect">
            <a:avLst/>
          </a:prstGeom>
          <a:noFill/>
          <a:ln w="9525">
            <a:noFill/>
            <a:miter lim="800000"/>
            <a:headEnd/>
            <a:tailEnd/>
          </a:ln>
        </p:spPr>
        <p:txBody>
          <a:bodyPr>
            <a:spAutoFit/>
          </a:bodyPr>
          <a:lstStyle/>
          <a:p>
            <a:r>
              <a:rPr lang="zh-CN" altLang="en-US" dirty="0"/>
              <a:t>选择草地面积变量</a:t>
            </a:r>
            <a:r>
              <a:rPr lang="en-US" altLang="zh-CN" dirty="0"/>
              <a:t>X2=19</a:t>
            </a:r>
            <a:r>
              <a:rPr lang="zh-CN" altLang="en-US" dirty="0"/>
              <a:t>做第一次分割</a:t>
            </a:r>
            <a:r>
              <a:rPr lang="en-US" altLang="zh-CN" dirty="0"/>
              <a:t>,</a:t>
            </a:r>
            <a:r>
              <a:rPr lang="zh-CN" altLang="en-US" dirty="0"/>
              <a:t>由</a:t>
            </a:r>
            <a:r>
              <a:rPr lang="en-US" altLang="zh-CN" dirty="0"/>
              <a:t>(X1,X2)</a:t>
            </a:r>
            <a:r>
              <a:rPr lang="zh-CN" altLang="en-US" dirty="0"/>
              <a:t>组成的空间被分成</a:t>
            </a:r>
            <a:r>
              <a:rPr lang="en-US" altLang="zh-CN" dirty="0"/>
              <a:t>X2&lt;=19</a:t>
            </a:r>
            <a:r>
              <a:rPr lang="zh-CN" altLang="en-US" dirty="0"/>
              <a:t>和</a:t>
            </a:r>
            <a:r>
              <a:rPr lang="en-US" altLang="zh-CN" dirty="0"/>
              <a:t>X2&gt;19</a:t>
            </a:r>
            <a:r>
              <a:rPr lang="zh-CN" altLang="en-US" dirty="0"/>
              <a:t>的两个矩形</a:t>
            </a:r>
            <a:r>
              <a:rPr lang="en-US" altLang="zh-CN" dirty="0"/>
              <a:t>.</a:t>
            </a:r>
            <a:endParaRPr lang="zh-CN" altLang="en-US" dirty="0"/>
          </a:p>
        </p:txBody>
      </p:sp>
      <p:graphicFrame>
        <p:nvGraphicFramePr>
          <p:cNvPr id="12290" name="Object 10"/>
          <p:cNvGraphicFramePr>
            <a:graphicFrameLocks noChangeAspect="1"/>
          </p:cNvGraphicFramePr>
          <p:nvPr>
            <p:extLst>
              <p:ext uri="{D42A27DB-BD31-4B8C-83A1-F6EECF244321}">
                <p14:modId xmlns:p14="http://schemas.microsoft.com/office/powerpoint/2010/main" val="3058931246"/>
              </p:ext>
            </p:extLst>
          </p:nvPr>
        </p:nvGraphicFramePr>
        <p:xfrm>
          <a:off x="7855422" y="1062191"/>
          <a:ext cx="2500312" cy="714375"/>
        </p:xfrm>
        <a:graphic>
          <a:graphicData uri="http://schemas.openxmlformats.org/presentationml/2006/ole">
            <mc:AlternateContent xmlns:mc="http://schemas.openxmlformats.org/markup-compatibility/2006">
              <mc:Choice xmlns:v="urn:schemas-microsoft-com:vml" Requires="v">
                <p:oleObj spid="_x0000_s424135" name="Equation" r:id="rId4" imgW="1866090" imgH="533169" progId="Equation.DSMT4">
                  <p:embed/>
                </p:oleObj>
              </mc:Choice>
              <mc:Fallback>
                <p:oleObj name="Equation" r:id="rId4" imgW="1866090" imgH="533169" progId="Equation.DSMT4">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5422" y="1062191"/>
                        <a:ext cx="2500312"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sp>
        <p:nvSpPr>
          <p:cNvPr id="12294" name="矩形 4"/>
          <p:cNvSpPr>
            <a:spLocks noChangeArrowheads="1"/>
          </p:cNvSpPr>
          <p:nvPr/>
        </p:nvSpPr>
        <p:spPr bwMode="auto">
          <a:xfrm>
            <a:off x="1926110" y="522585"/>
            <a:ext cx="8429625" cy="2492990"/>
          </a:xfrm>
          <a:prstGeom prst="rect">
            <a:avLst/>
          </a:prstGeom>
          <a:noFill/>
          <a:ln w="9525">
            <a:noFill/>
            <a:miter lim="800000"/>
            <a:headEnd/>
            <a:tailEnd/>
          </a:ln>
        </p:spPr>
        <p:txBody>
          <a:bodyPr wrap="square">
            <a:spAutoFit/>
          </a:bodyPr>
          <a:lstStyle/>
          <a:p>
            <a:pPr>
              <a:buFont typeface="Wingdings" pitchFamily="2" charset="2"/>
              <a:buNone/>
            </a:pPr>
            <a:r>
              <a:rPr lang="en-US" altLang="zh-CN" sz="2400" dirty="0"/>
              <a:t> </a:t>
            </a:r>
            <a:r>
              <a:rPr lang="zh-CN" altLang="en-US" sz="2400" dirty="0"/>
              <a:t>这些划分点按照能减少杂质的多少来分级</a:t>
            </a:r>
            <a:r>
              <a:rPr lang="en-US" altLang="zh-CN" sz="2400" dirty="0"/>
              <a:t>.</a:t>
            </a:r>
          </a:p>
          <a:p>
            <a:pPr>
              <a:buFont typeface="Wingdings" pitchFamily="2" charset="2"/>
              <a:buNone/>
            </a:pPr>
            <a:r>
              <a:rPr lang="en-US" altLang="zh-CN" sz="2400" dirty="0"/>
              <a:t>   </a:t>
            </a:r>
            <a:r>
              <a:rPr lang="zh-CN" altLang="en-US" sz="2400" dirty="0"/>
              <a:t>杂质度量方法</a:t>
            </a:r>
            <a:r>
              <a:rPr lang="en-US" altLang="zh-CN" sz="2400" dirty="0"/>
              <a:t>:</a:t>
            </a:r>
            <a:r>
              <a:rPr lang="en-US" altLang="zh-CN" sz="2400" dirty="0" err="1"/>
              <a:t>Gini</a:t>
            </a:r>
            <a:r>
              <a:rPr lang="zh-CN" altLang="en-US" sz="2400" dirty="0"/>
              <a:t>指标</a:t>
            </a:r>
            <a:r>
              <a:rPr lang="en-US" altLang="zh-CN" sz="2400" dirty="0"/>
              <a:t>.</a:t>
            </a:r>
          </a:p>
          <a:p>
            <a:pPr>
              <a:buFont typeface="Wingdings" pitchFamily="2" charset="2"/>
              <a:buNone/>
            </a:pPr>
            <a:r>
              <a:rPr lang="en-US" altLang="zh-CN" sz="2400" dirty="0"/>
              <a:t>  </a:t>
            </a:r>
          </a:p>
          <a:p>
            <a:pPr>
              <a:lnSpc>
                <a:spcPct val="150000"/>
              </a:lnSpc>
              <a:buFont typeface="Wingdings" pitchFamily="2" charset="2"/>
              <a:buNone/>
            </a:pPr>
            <a:r>
              <a:rPr lang="en-US" altLang="zh-CN" sz="2400" dirty="0"/>
              <a:t>  </a:t>
            </a:r>
            <a:r>
              <a:rPr lang="zh-CN" altLang="en-US" sz="2400" dirty="0"/>
              <a:t>其中</a:t>
            </a:r>
            <a:r>
              <a:rPr lang="en-US" altLang="zh-CN" sz="2400" dirty="0"/>
              <a:t>K=1,2,…C,</a:t>
            </a:r>
            <a:r>
              <a:rPr lang="zh-CN" altLang="en-US" sz="2400" dirty="0"/>
              <a:t>来表示类</a:t>
            </a:r>
            <a:r>
              <a:rPr lang="en-US" altLang="zh-CN" sz="2400" dirty="0"/>
              <a:t>,  </a:t>
            </a:r>
            <a:r>
              <a:rPr lang="en-US" altLang="zh-CN" sz="2400" dirty="0" err="1"/>
              <a:t>Pk</a:t>
            </a:r>
            <a:r>
              <a:rPr lang="zh-CN" altLang="en-US" sz="2400" dirty="0"/>
              <a:t>是观测点中属于类</a:t>
            </a:r>
            <a:r>
              <a:rPr lang="en-US" altLang="zh-CN" sz="2400" dirty="0"/>
              <a:t>K</a:t>
            </a:r>
            <a:r>
              <a:rPr lang="zh-CN" altLang="en-US" sz="2400" dirty="0"/>
              <a:t>的比例</a:t>
            </a:r>
            <a:r>
              <a:rPr lang="en-US" altLang="zh-CN" sz="2400" dirty="0"/>
              <a:t>.</a:t>
            </a:r>
          </a:p>
          <a:p>
            <a:pPr>
              <a:buFont typeface="Wingdings" pitchFamily="2" charset="2"/>
              <a:buNone/>
            </a:pPr>
            <a:r>
              <a:rPr lang="en-US" altLang="zh-CN" sz="2400" dirty="0"/>
              <a:t>   </a:t>
            </a:r>
          </a:p>
          <a:p>
            <a:pPr>
              <a:buFont typeface="Wingdings" pitchFamily="2" charset="2"/>
              <a:buNone/>
            </a:pPr>
            <a:endParaRPr lang="en-US" altLang="zh-CN" sz="2400" dirty="0"/>
          </a:p>
        </p:txBody>
      </p:sp>
      <p:graphicFrame>
        <p:nvGraphicFramePr>
          <p:cNvPr id="423940" name="Object 4"/>
          <p:cNvGraphicFramePr>
            <a:graphicFrameLocks noChangeAspect="1"/>
          </p:cNvGraphicFramePr>
          <p:nvPr>
            <p:extLst>
              <p:ext uri="{D42A27DB-BD31-4B8C-83A1-F6EECF244321}">
                <p14:modId xmlns:p14="http://schemas.microsoft.com/office/powerpoint/2010/main" val="335624772"/>
              </p:ext>
            </p:extLst>
          </p:nvPr>
        </p:nvGraphicFramePr>
        <p:xfrm>
          <a:off x="5553944" y="1062191"/>
          <a:ext cx="1989212" cy="699403"/>
        </p:xfrm>
        <a:graphic>
          <a:graphicData uri="http://schemas.openxmlformats.org/presentationml/2006/ole">
            <mc:AlternateContent xmlns:mc="http://schemas.openxmlformats.org/markup-compatibility/2006">
              <mc:Choice xmlns:v="urn:schemas-microsoft-com:vml" Requires="v">
                <p:oleObj spid="_x0000_s424136" name="Equation" r:id="rId6" imgW="1511300" imgH="533400" progId="Equation.DSMT4">
                  <p:embed/>
                </p:oleObj>
              </mc:Choice>
              <mc:Fallback>
                <p:oleObj name="Equation" r:id="rId6" imgW="1511300" imgH="533400" progId="Equation.DSMT4">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3944" y="1062191"/>
                        <a:ext cx="1989212" cy="699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a:xfrm>
            <a:off x="1738313" y="214313"/>
            <a:ext cx="8540750" cy="608012"/>
          </a:xfrm>
        </p:spPr>
        <p:txBody>
          <a:bodyPr/>
          <a:lstStyle/>
          <a:p>
            <a:r>
              <a:rPr lang="zh-CN" altLang="en-US" sz="1800"/>
              <a:t>选择收入变量</a:t>
            </a:r>
            <a:r>
              <a:rPr lang="en-US" altLang="zh-CN" sz="1800"/>
              <a:t>X1=84.75</a:t>
            </a:r>
          </a:p>
        </p:txBody>
      </p:sp>
      <p:pic>
        <p:nvPicPr>
          <p:cNvPr id="33795" name="Picture 4"/>
          <p:cNvPicPr>
            <a:picLocks noGrp="1" noChangeAspect="1" noChangeArrowheads="1"/>
          </p:cNvPicPr>
          <p:nvPr>
            <p:ph type="body" idx="1"/>
          </p:nvPr>
        </p:nvPicPr>
        <p:blipFill>
          <a:blip r:embed="rId2" cstate="print"/>
          <a:srcRect/>
          <a:stretch>
            <a:fillRect/>
          </a:stretch>
        </p:blipFill>
        <p:spPr>
          <a:xfrm>
            <a:off x="4500564" y="1"/>
            <a:ext cx="6167437" cy="4379913"/>
          </a:xfrm>
          <a:noFill/>
        </p:spPr>
      </p:pic>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49</a:t>
            </a:fld>
            <a:endParaRPr lang="en-US" altLang="zh-CN" dirty="0"/>
          </a:p>
        </p:txBody>
      </p:sp>
    </p:spTree>
    <p:extLst>
      <p:ext uri="{BB962C8B-B14F-4D97-AF65-F5344CB8AC3E}">
        <p14:creationId xmlns:p14="http://schemas.microsoft.com/office/powerpoint/2010/main" val="6574721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a:xfrm>
            <a:off x="1738313" y="214313"/>
            <a:ext cx="8540750" cy="608012"/>
          </a:xfrm>
        </p:spPr>
        <p:txBody>
          <a:bodyPr/>
          <a:lstStyle/>
          <a:p>
            <a:r>
              <a:rPr lang="zh-CN" altLang="en-US" sz="1800"/>
              <a:t>选择收入变量</a:t>
            </a:r>
            <a:r>
              <a:rPr lang="en-US" altLang="zh-CN" sz="1800"/>
              <a:t>X1=84.75</a:t>
            </a:r>
          </a:p>
        </p:txBody>
      </p:sp>
      <p:pic>
        <p:nvPicPr>
          <p:cNvPr id="33795" name="Picture 4"/>
          <p:cNvPicPr>
            <a:picLocks noGrp="1" noChangeAspect="1" noChangeArrowheads="1"/>
          </p:cNvPicPr>
          <p:nvPr>
            <p:ph type="body" idx="1"/>
          </p:nvPr>
        </p:nvPicPr>
        <p:blipFill>
          <a:blip r:embed="rId2" cstate="print"/>
          <a:srcRect/>
          <a:stretch>
            <a:fillRect/>
          </a:stretch>
        </p:blipFill>
        <p:spPr>
          <a:xfrm>
            <a:off x="4500564" y="1"/>
            <a:ext cx="6167437" cy="4379913"/>
          </a:xfrm>
          <a:noFill/>
        </p:spPr>
      </p:pic>
      <p:pic>
        <p:nvPicPr>
          <p:cNvPr id="4" name="Picture 4"/>
          <p:cNvPicPr>
            <a:picLocks noChangeAspect="1" noChangeArrowheads="1"/>
          </p:cNvPicPr>
          <p:nvPr/>
        </p:nvPicPr>
        <p:blipFill>
          <a:blip r:embed="rId3" cstate="print"/>
          <a:srcRect/>
          <a:stretch>
            <a:fillRect/>
          </a:stretch>
        </p:blipFill>
        <p:spPr bwMode="auto">
          <a:xfrm>
            <a:off x="1524001" y="2309814"/>
            <a:ext cx="6226175" cy="4548187"/>
          </a:xfrm>
          <a:prstGeom prst="rect">
            <a:avLst/>
          </a:prstGeom>
          <a:noFill/>
          <a:ln w="9525">
            <a:noFill/>
            <a:miter lim="800000"/>
            <a:headEnd/>
            <a:tailEnd/>
          </a:ln>
        </p:spPr>
      </p:pic>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50</a:t>
            </a:fld>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a:xfrm>
            <a:off x="1822450" y="228601"/>
            <a:ext cx="8540750" cy="823913"/>
          </a:xfrm>
          <a:solidFill>
            <a:schemeClr val="bg1"/>
          </a:solidFill>
        </p:spPr>
        <p:txBody>
          <a:bodyPr/>
          <a:lstStyle/>
          <a:p>
            <a:r>
              <a:rPr lang="zh-CN" altLang="en-US" sz="2400" dirty="0"/>
              <a:t>我们能看到递归划分是如何精炼候选矩形</a:t>
            </a:r>
            <a:r>
              <a:rPr lang="en-US" altLang="zh-CN" sz="2400" dirty="0"/>
              <a:t>,</a:t>
            </a:r>
            <a:r>
              <a:rPr lang="zh-CN" altLang="en-US" sz="2400" dirty="0"/>
              <a:t>使之变得更纯的算法过程</a:t>
            </a:r>
            <a:r>
              <a:rPr lang="en-US" altLang="zh-CN" sz="2400" dirty="0"/>
              <a:t>.</a:t>
            </a:r>
            <a:r>
              <a:rPr lang="zh-CN" altLang="en-US" sz="2400" dirty="0"/>
              <a:t>最后阶段的递归分析如图</a:t>
            </a:r>
            <a:r>
              <a:rPr lang="en-US" altLang="zh-CN" sz="2400" dirty="0"/>
              <a:t>5</a:t>
            </a:r>
            <a:r>
              <a:rPr lang="zh-CN" altLang="en-US" sz="2400" dirty="0"/>
              <a:t>所示</a:t>
            </a:r>
          </a:p>
        </p:txBody>
      </p:sp>
      <p:pic>
        <p:nvPicPr>
          <p:cNvPr id="34819" name="Picture 4"/>
          <p:cNvPicPr>
            <a:picLocks noGrp="1" noChangeAspect="1" noChangeArrowheads="1"/>
          </p:cNvPicPr>
          <p:nvPr>
            <p:ph type="body" idx="1"/>
          </p:nvPr>
        </p:nvPicPr>
        <p:blipFill>
          <a:blip r:embed="rId2" cstate="print"/>
          <a:srcRect/>
          <a:stretch>
            <a:fillRect/>
          </a:stretch>
        </p:blipFill>
        <p:spPr>
          <a:xfrm>
            <a:off x="1992314" y="1125538"/>
            <a:ext cx="8207375" cy="5256212"/>
          </a:xfrm>
          <a:noFill/>
        </p:spPr>
      </p:pic>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51</a:t>
            </a:fld>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a:xfrm>
            <a:off x="1703512" y="4465"/>
            <a:ext cx="8521700" cy="1357312"/>
          </a:xfrm>
          <a:solidFill>
            <a:schemeClr val="bg1"/>
          </a:solidFill>
        </p:spPr>
        <p:txBody>
          <a:bodyPr/>
          <a:lstStyle/>
          <a:p>
            <a:r>
              <a:rPr lang="zh-CN" altLang="en-US" sz="2400" dirty="0"/>
              <a:t>这个方法被称为分类树的原因是每次划分都可以描述为把一个节点分成两个后续节点</a:t>
            </a:r>
            <a:r>
              <a:rPr lang="en-US" altLang="zh-CN" sz="2400" dirty="0"/>
              <a:t>.</a:t>
            </a:r>
            <a:r>
              <a:rPr lang="zh-CN" altLang="en-US" sz="2400" dirty="0"/>
              <a:t>第一次分裂表示为树的根节点的分支</a:t>
            </a:r>
            <a:r>
              <a:rPr lang="en-US" altLang="zh-CN" sz="2400" dirty="0"/>
              <a:t>,</a:t>
            </a:r>
            <a:r>
              <a:rPr lang="zh-CN" altLang="en-US" sz="2400" dirty="0"/>
              <a:t>如图</a:t>
            </a:r>
            <a:endParaRPr lang="en-US" altLang="zh-CN" sz="2400" dirty="0"/>
          </a:p>
        </p:txBody>
      </p:sp>
      <p:pic>
        <p:nvPicPr>
          <p:cNvPr id="35843" name="Picture 4"/>
          <p:cNvPicPr>
            <a:picLocks noGrp="1" noChangeAspect="1" noChangeArrowheads="1"/>
          </p:cNvPicPr>
          <p:nvPr>
            <p:ph type="body" idx="1"/>
          </p:nvPr>
        </p:nvPicPr>
        <p:blipFill>
          <a:blip r:embed="rId2" cstate="print"/>
          <a:srcRect/>
          <a:stretch>
            <a:fillRect/>
          </a:stretch>
        </p:blipFill>
        <p:spPr>
          <a:xfrm>
            <a:off x="2567609" y="851918"/>
            <a:ext cx="6079635" cy="3240360"/>
          </a:xfrm>
          <a:noFill/>
        </p:spPr>
      </p:pic>
      <p:pic>
        <p:nvPicPr>
          <p:cNvPr id="35844" name="Picture 4"/>
          <p:cNvPicPr>
            <a:picLocks noChangeAspect="1" noChangeArrowheads="1"/>
          </p:cNvPicPr>
          <p:nvPr/>
        </p:nvPicPr>
        <p:blipFill>
          <a:blip r:embed="rId3" cstate="print"/>
          <a:srcRect/>
          <a:stretch>
            <a:fillRect/>
          </a:stretch>
        </p:blipFill>
        <p:spPr bwMode="auto">
          <a:xfrm>
            <a:off x="4295800" y="3573016"/>
            <a:ext cx="6256708" cy="3429000"/>
          </a:xfrm>
          <a:prstGeom prst="rect">
            <a:avLst/>
          </a:prstGeom>
          <a:noFill/>
          <a:ln w="9525">
            <a:noFill/>
            <a:miter lim="800000"/>
            <a:headEnd/>
            <a:tailEnd/>
          </a:ln>
        </p:spPr>
      </p:pic>
      <p:sp>
        <p:nvSpPr>
          <p:cNvPr id="5" name="Rectangle 2"/>
          <p:cNvSpPr txBox="1">
            <a:spLocks noRot="1" noChangeArrowheads="1"/>
          </p:cNvSpPr>
          <p:nvPr/>
        </p:nvSpPr>
        <p:spPr bwMode="auto">
          <a:xfrm>
            <a:off x="1809751" y="4071939"/>
            <a:ext cx="8234363" cy="752475"/>
          </a:xfrm>
          <a:prstGeom prst="rect">
            <a:avLst/>
          </a:prstGeom>
          <a:noFill/>
          <a:ln w="9525">
            <a:noFill/>
            <a:miter lim="800000"/>
            <a:headEnd/>
            <a:tailEnd/>
          </a:ln>
        </p:spPr>
        <p:txBody>
          <a:bodyPr anchor="ctr"/>
          <a:lstStyle/>
          <a:p>
            <a:pPr eaLnBrk="0" hangingPunct="0">
              <a:buFontTx/>
              <a:buNone/>
              <a:defRPr/>
            </a:pPr>
            <a:r>
              <a:rPr lang="zh-CN" altLang="en-US" sz="2400" kern="0">
                <a:latin typeface="+mj-lt"/>
                <a:ea typeface="+mj-ea"/>
                <a:cs typeface="+mj-cs"/>
              </a:rPr>
              <a:t>树的前三次划分如图</a:t>
            </a:r>
            <a:endParaRPr lang="en-US" altLang="zh-CN" sz="2400" kern="0" dirty="0">
              <a:latin typeface="+mj-lt"/>
              <a:ea typeface="+mj-ea"/>
              <a:cs typeface="+mj-cs"/>
            </a:endParaRP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52</a:t>
            </a:fld>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Grp="1" noChangeAspect="1" noChangeArrowheads="1"/>
          </p:cNvPicPr>
          <p:nvPr>
            <p:ph type="body" idx="1"/>
          </p:nvPr>
        </p:nvPicPr>
        <p:blipFill>
          <a:blip r:embed="rId2" cstate="print"/>
          <a:srcRect/>
          <a:stretch>
            <a:fillRect/>
          </a:stretch>
        </p:blipFill>
        <p:spPr>
          <a:xfrm>
            <a:off x="2896765" y="-99392"/>
            <a:ext cx="7685511" cy="6957392"/>
          </a:xfrm>
          <a:noFill/>
        </p:spPr>
      </p:pic>
      <p:sp>
        <p:nvSpPr>
          <p:cNvPr id="36867" name="Rectangle 2"/>
          <p:cNvSpPr>
            <a:spLocks noGrp="1" noRot="1" noChangeArrowheads="1"/>
          </p:cNvSpPr>
          <p:nvPr>
            <p:ph type="title"/>
          </p:nvPr>
        </p:nvSpPr>
        <p:spPr>
          <a:xfrm>
            <a:off x="1631505" y="188641"/>
            <a:ext cx="8370887" cy="536575"/>
          </a:xfrm>
        </p:spPr>
        <p:txBody>
          <a:bodyPr/>
          <a:lstStyle/>
          <a:p>
            <a:r>
              <a:rPr lang="zh-CN" altLang="en-US" sz="2800" dirty="0"/>
              <a:t>整个树如下</a:t>
            </a:r>
            <a:endParaRPr lang="en-US" altLang="zh-CN" sz="28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53</a:t>
            </a:fld>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93484586"/>
              </p:ext>
            </p:extLst>
          </p:nvPr>
        </p:nvGraphicFramePr>
        <p:xfrm>
          <a:off x="3094038" y="1621851"/>
          <a:ext cx="5762624" cy="3657600"/>
        </p:xfrm>
        <a:graphic>
          <a:graphicData uri="http://schemas.openxmlformats.org/drawingml/2006/table">
            <a:tbl>
              <a:tblPr/>
              <a:tblGrid>
                <a:gridCol w="80999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gridCol w="1169283">
                  <a:extLst>
                    <a:ext uri="{9D8B030D-6E8A-4147-A177-3AD203B41FA5}">
                      <a16:colId xmlns:a16="http://schemas.microsoft.com/office/drawing/2014/main" val="20002"/>
                    </a:ext>
                  </a:extLst>
                </a:gridCol>
                <a:gridCol w="990273">
                  <a:extLst>
                    <a:ext uri="{9D8B030D-6E8A-4147-A177-3AD203B41FA5}">
                      <a16:colId xmlns:a16="http://schemas.microsoft.com/office/drawing/2014/main" val="20003"/>
                    </a:ext>
                  </a:extLst>
                </a:gridCol>
                <a:gridCol w="723661">
                  <a:extLst>
                    <a:ext uri="{9D8B030D-6E8A-4147-A177-3AD203B41FA5}">
                      <a16:colId xmlns:a16="http://schemas.microsoft.com/office/drawing/2014/main" val="20004"/>
                    </a:ext>
                  </a:extLst>
                </a:gridCol>
                <a:gridCol w="1169283">
                  <a:extLst>
                    <a:ext uri="{9D8B030D-6E8A-4147-A177-3AD203B41FA5}">
                      <a16:colId xmlns:a16="http://schemas.microsoft.com/office/drawing/2014/main" val="20005"/>
                    </a:ext>
                  </a:extLst>
                </a:gridCol>
              </a:tblGrid>
              <a:tr h="180340">
                <a:tc>
                  <a:txBody>
                    <a:bodyPr/>
                    <a:lstStyle/>
                    <a:p>
                      <a:pPr algn="ctr">
                        <a:spcAft>
                          <a:spcPts val="0"/>
                        </a:spcAft>
                      </a:pPr>
                      <a:r>
                        <a:rPr lang="en-US" sz="1600" kern="100" dirty="0">
                          <a:latin typeface="Times New Roman"/>
                          <a:ea typeface="宋体"/>
                          <a:cs typeface="Times New Roman"/>
                        </a:rPr>
                        <a:t>Day</a:t>
                      </a:r>
                      <a:endParaRPr lang="zh-CN" sz="1050" kern="100" dirty="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Outlook</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Temperature</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Humidity</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a:latin typeface="Times New Roman"/>
                          <a:ea typeface="宋体"/>
                          <a:cs typeface="Times New Roman"/>
                        </a:rPr>
                        <a:t>Wind</a:t>
                      </a:r>
                      <a:endParaRPr lang="zh-CN" sz="1050" kern="100" dirty="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Times New Roman"/>
                          <a:ea typeface="宋体"/>
                          <a:cs typeface="Times New Roman"/>
                        </a:rPr>
                        <a:t>Play Tennis</a:t>
                      </a:r>
                      <a:endParaRPr lang="zh-CN" sz="1050" kern="100">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340">
                <a:tc>
                  <a:txBody>
                    <a:bodyPr/>
                    <a:lstStyle/>
                    <a:p>
                      <a:pPr algn="ctr">
                        <a:spcAft>
                          <a:spcPts val="0"/>
                        </a:spcAft>
                      </a:pPr>
                      <a:r>
                        <a:rPr lang="en-US" sz="1600" kern="100" dirty="0">
                          <a:solidFill>
                            <a:schemeClr val="tx1"/>
                          </a:solidFill>
                          <a:latin typeface="Times New Roman"/>
                          <a:ea typeface="宋体"/>
                          <a:cs typeface="Times New Roman"/>
                        </a:rPr>
                        <a:t>D1</a:t>
                      </a:r>
                      <a:endParaRPr lang="zh-CN" sz="1050" kern="100" dirty="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dirty="0">
                          <a:solidFill>
                            <a:schemeClr val="tx1"/>
                          </a:solidFill>
                          <a:latin typeface="Times New Roman"/>
                          <a:ea typeface="宋体"/>
                          <a:cs typeface="Times New Roman"/>
                        </a:rPr>
                        <a:t>Sunny</a:t>
                      </a:r>
                      <a:endParaRPr lang="zh-CN" sz="1050" kern="100" dirty="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dirty="0">
                          <a:solidFill>
                            <a:schemeClr val="tx1"/>
                          </a:solidFill>
                          <a:latin typeface="Times New Roman"/>
                          <a:ea typeface="宋体"/>
                          <a:cs typeface="Times New Roman"/>
                        </a:rPr>
                        <a:t>Hot</a:t>
                      </a:r>
                      <a:endParaRPr lang="zh-CN" sz="1050" kern="100" dirty="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solidFill>
                            <a:schemeClr val="tx1"/>
                          </a:solidFill>
                          <a:latin typeface="Times New Roman"/>
                          <a:ea typeface="宋体"/>
                          <a:cs typeface="Times New Roman"/>
                        </a:rPr>
                        <a:t>High</a:t>
                      </a:r>
                      <a:endParaRPr lang="zh-CN" sz="1050" kern="10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solidFill>
                            <a:schemeClr val="tx1"/>
                          </a:solidFill>
                          <a:latin typeface="Times New Roman"/>
                          <a:ea typeface="宋体"/>
                          <a:cs typeface="Times New Roman"/>
                        </a:rPr>
                        <a:t>Weak</a:t>
                      </a:r>
                      <a:endParaRPr lang="zh-CN" sz="1050" kern="10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100">
                          <a:solidFill>
                            <a:schemeClr val="tx1"/>
                          </a:solidFill>
                          <a:latin typeface="Times New Roman"/>
                          <a:ea typeface="宋体"/>
                          <a:cs typeface="Times New Roman"/>
                        </a:rPr>
                        <a:t>No</a:t>
                      </a:r>
                      <a:endParaRPr lang="zh-CN" sz="1050" kern="100">
                        <a:solidFill>
                          <a:schemeClr val="tx1"/>
                        </a:solidFill>
                        <a:latin typeface="Calibri"/>
                        <a:ea typeface="宋体"/>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80340">
                <a:tc>
                  <a:txBody>
                    <a:bodyPr/>
                    <a:lstStyle/>
                    <a:p>
                      <a:pPr algn="ctr">
                        <a:spcAft>
                          <a:spcPts val="0"/>
                        </a:spcAft>
                      </a:pPr>
                      <a:r>
                        <a:rPr lang="en-US" sz="1600" kern="100">
                          <a:solidFill>
                            <a:schemeClr val="tx1"/>
                          </a:solidFill>
                          <a:latin typeface="Times New Roman"/>
                          <a:ea typeface="宋体"/>
                          <a:cs typeface="Times New Roman"/>
                        </a:rPr>
                        <a:t>D2</a:t>
                      </a:r>
                      <a:endParaRPr lang="zh-CN" sz="1050" kern="10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solidFill>
                            <a:schemeClr val="tx1"/>
                          </a:solidFill>
                          <a:latin typeface="Times New Roman"/>
                          <a:ea typeface="宋体"/>
                          <a:cs typeface="Times New Roman"/>
                        </a:rPr>
                        <a:t>Sunny</a:t>
                      </a:r>
                      <a:endParaRPr lang="zh-CN" sz="1050" kern="10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Hot</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High</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Strong</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solidFill>
                            <a:schemeClr val="tx1"/>
                          </a:solidFill>
                          <a:latin typeface="Times New Roman"/>
                          <a:ea typeface="宋体"/>
                          <a:cs typeface="Times New Roman"/>
                        </a:rPr>
                        <a:t>No</a:t>
                      </a:r>
                      <a:endParaRPr lang="zh-CN" sz="1050" kern="100" dirty="0">
                        <a:solidFill>
                          <a:schemeClr val="tx1"/>
                        </a:solidFill>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180340">
                <a:tc>
                  <a:txBody>
                    <a:bodyPr/>
                    <a:lstStyle/>
                    <a:p>
                      <a:pPr algn="ctr">
                        <a:spcAft>
                          <a:spcPts val="0"/>
                        </a:spcAft>
                      </a:pPr>
                      <a:r>
                        <a:rPr lang="en-US" sz="1600" kern="100">
                          <a:latin typeface="Times New Roman"/>
                          <a:ea typeface="宋体"/>
                          <a:cs typeface="Times New Roman"/>
                        </a:rPr>
                        <a:t>D3</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Hot</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High</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180340">
                <a:tc>
                  <a:txBody>
                    <a:bodyPr/>
                    <a:lstStyle/>
                    <a:p>
                      <a:pPr algn="ctr">
                        <a:spcAft>
                          <a:spcPts val="0"/>
                        </a:spcAft>
                      </a:pPr>
                      <a:r>
                        <a:rPr lang="en-US" sz="1600" kern="100" dirty="0">
                          <a:latin typeface="Times New Roman"/>
                          <a:ea typeface="宋体"/>
                          <a:cs typeface="Times New Roman"/>
                        </a:rPr>
                        <a:t>D4</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Rain</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Mild</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High</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180340">
                <a:tc>
                  <a:txBody>
                    <a:bodyPr/>
                    <a:lstStyle/>
                    <a:p>
                      <a:pPr algn="ctr">
                        <a:spcAft>
                          <a:spcPts val="0"/>
                        </a:spcAft>
                      </a:pPr>
                      <a:r>
                        <a:rPr lang="en-US" sz="1600" kern="100">
                          <a:latin typeface="Times New Roman"/>
                          <a:ea typeface="宋体"/>
                          <a:cs typeface="Times New Roman"/>
                        </a:rPr>
                        <a:t>D5</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Rain</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Cool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Normal</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180340">
                <a:tc>
                  <a:txBody>
                    <a:bodyPr/>
                    <a:lstStyle/>
                    <a:p>
                      <a:pPr algn="ctr">
                        <a:spcAft>
                          <a:spcPts val="0"/>
                        </a:spcAft>
                      </a:pPr>
                      <a:r>
                        <a:rPr lang="en-US" sz="1600" kern="100">
                          <a:latin typeface="Times New Roman"/>
                          <a:ea typeface="宋体"/>
                          <a:cs typeface="Times New Roman"/>
                        </a:rPr>
                        <a:t>D6</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Cool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Normal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r h="180340">
                <a:tc>
                  <a:txBody>
                    <a:bodyPr/>
                    <a:lstStyle/>
                    <a:p>
                      <a:pPr algn="ctr">
                        <a:spcAft>
                          <a:spcPts val="0"/>
                        </a:spcAft>
                      </a:pPr>
                      <a:r>
                        <a:rPr lang="en-US" sz="1600" kern="100">
                          <a:latin typeface="Times New Roman"/>
                          <a:ea typeface="宋体"/>
                          <a:cs typeface="Times New Roman"/>
                        </a:rPr>
                        <a:t>D7</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Cool</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Normal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Strong</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Yes</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7"/>
                  </a:ext>
                </a:extLst>
              </a:tr>
              <a:tr h="180340">
                <a:tc>
                  <a:txBody>
                    <a:bodyPr/>
                    <a:lstStyle/>
                    <a:p>
                      <a:pPr algn="ctr">
                        <a:spcAft>
                          <a:spcPts val="0"/>
                        </a:spcAft>
                      </a:pPr>
                      <a:r>
                        <a:rPr lang="en-US" sz="1600" kern="100" dirty="0">
                          <a:latin typeface="Times New Roman"/>
                          <a:ea typeface="宋体"/>
                          <a:cs typeface="Times New Roman"/>
                        </a:rPr>
                        <a:t>D8</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Sunny</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Mild</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High</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8"/>
                  </a:ext>
                </a:extLst>
              </a:tr>
              <a:tr h="180340">
                <a:tc>
                  <a:txBody>
                    <a:bodyPr/>
                    <a:lstStyle/>
                    <a:p>
                      <a:pPr algn="ctr">
                        <a:spcAft>
                          <a:spcPts val="0"/>
                        </a:spcAft>
                      </a:pPr>
                      <a:r>
                        <a:rPr lang="en-US" sz="1600" kern="100">
                          <a:latin typeface="Times New Roman"/>
                          <a:ea typeface="宋体"/>
                          <a:cs typeface="Times New Roman"/>
                        </a:rPr>
                        <a:t>D9</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Sunny</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Cool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Normal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Weak</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Yes</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9"/>
                  </a:ext>
                </a:extLst>
              </a:tr>
              <a:tr h="180340">
                <a:tc>
                  <a:txBody>
                    <a:bodyPr/>
                    <a:lstStyle/>
                    <a:p>
                      <a:pPr algn="ctr">
                        <a:spcAft>
                          <a:spcPts val="0"/>
                        </a:spcAft>
                      </a:pPr>
                      <a:r>
                        <a:rPr lang="en-US" sz="1600" kern="100">
                          <a:latin typeface="Times New Roman"/>
                          <a:ea typeface="宋体"/>
                          <a:cs typeface="Times New Roman"/>
                        </a:rPr>
                        <a:t>D10</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Rain</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Mild</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Normal</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Yes</a:t>
                      </a:r>
                      <a:endParaRPr lang="zh-CN" sz="1050" kern="10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0"/>
                  </a:ext>
                </a:extLst>
              </a:tr>
              <a:tr h="180340">
                <a:tc>
                  <a:txBody>
                    <a:bodyPr/>
                    <a:lstStyle/>
                    <a:p>
                      <a:pPr algn="ctr">
                        <a:spcAft>
                          <a:spcPts val="0"/>
                        </a:spcAft>
                      </a:pPr>
                      <a:r>
                        <a:rPr lang="en-US" sz="1600" kern="100" dirty="0">
                          <a:latin typeface="Times New Roman"/>
                          <a:ea typeface="宋体"/>
                          <a:cs typeface="Times New Roman"/>
                        </a:rPr>
                        <a:t>D11</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Sunny</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Mild</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Normal</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Strong</a:t>
                      </a:r>
                      <a:endParaRPr lang="zh-CN" sz="1050" kern="100" dirty="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Yes</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1"/>
                  </a:ext>
                </a:extLst>
              </a:tr>
              <a:tr h="180340">
                <a:tc>
                  <a:txBody>
                    <a:bodyPr/>
                    <a:lstStyle/>
                    <a:p>
                      <a:pPr algn="ctr">
                        <a:spcAft>
                          <a:spcPts val="0"/>
                        </a:spcAft>
                      </a:pPr>
                      <a:r>
                        <a:rPr lang="en-US" sz="1600" kern="100">
                          <a:latin typeface="Times New Roman"/>
                          <a:ea typeface="宋体"/>
                          <a:cs typeface="Times New Roman"/>
                        </a:rPr>
                        <a:t>D12</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Mild</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High</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Strong</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Yes</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2"/>
                  </a:ext>
                </a:extLst>
              </a:tr>
              <a:tr h="180340">
                <a:tc>
                  <a:txBody>
                    <a:bodyPr/>
                    <a:lstStyle/>
                    <a:p>
                      <a:pPr algn="ctr">
                        <a:spcAft>
                          <a:spcPts val="0"/>
                        </a:spcAft>
                      </a:pPr>
                      <a:r>
                        <a:rPr lang="en-US" sz="1600" kern="100">
                          <a:latin typeface="Times New Roman"/>
                          <a:ea typeface="宋体"/>
                          <a:cs typeface="Times New Roman"/>
                        </a:rPr>
                        <a:t>D13</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Overcast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Hot</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Normal</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a:latin typeface="Times New Roman"/>
                          <a:ea typeface="宋体"/>
                          <a:cs typeface="Times New Roman"/>
                        </a:rPr>
                        <a:t>Weak</a:t>
                      </a:r>
                      <a:endParaRPr lang="zh-CN" sz="1050" kern="100">
                        <a:latin typeface="Calibri"/>
                        <a:ea typeface="宋体"/>
                        <a:cs typeface="Times New Roman"/>
                      </a:endParaRPr>
                    </a:p>
                  </a:txBody>
                  <a:tcPr marL="68580" marR="68580" marT="0" marB="0">
                    <a:lnL>
                      <a:noFill/>
                    </a:lnL>
                    <a:lnR>
                      <a:noFill/>
                    </a:lnR>
                    <a:lnT>
                      <a:noFill/>
                    </a:lnT>
                    <a:lnB>
                      <a:noFill/>
                    </a:lnB>
                  </a:tcPr>
                </a:tc>
                <a:tc>
                  <a:txBody>
                    <a:bodyPr/>
                    <a:lstStyle/>
                    <a:p>
                      <a:pPr algn="ctr">
                        <a:spcAft>
                          <a:spcPts val="0"/>
                        </a:spcAft>
                      </a:pPr>
                      <a:r>
                        <a:rPr lang="en-US" sz="1600" kern="100" dirty="0">
                          <a:latin typeface="Times New Roman"/>
                          <a:ea typeface="宋体"/>
                          <a:cs typeface="Times New Roman"/>
                        </a:rPr>
                        <a:t>Yes</a:t>
                      </a:r>
                      <a:endParaRPr lang="zh-CN" sz="1050" kern="100" dirty="0">
                        <a:latin typeface="Calibri"/>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3"/>
                  </a:ext>
                </a:extLst>
              </a:tr>
              <a:tr h="180340">
                <a:tc>
                  <a:txBody>
                    <a:bodyPr/>
                    <a:lstStyle/>
                    <a:p>
                      <a:pPr algn="ctr">
                        <a:spcAft>
                          <a:spcPts val="0"/>
                        </a:spcAft>
                      </a:pPr>
                      <a:r>
                        <a:rPr lang="en-US" sz="1600" kern="100" dirty="0">
                          <a:latin typeface="Times New Roman"/>
                          <a:ea typeface="宋体"/>
                          <a:cs typeface="Times New Roman"/>
                        </a:rPr>
                        <a:t>D14</a:t>
                      </a:r>
                      <a:endParaRPr lang="zh-CN" sz="1050" kern="100" dirty="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宋体"/>
                          <a:cs typeface="Times New Roman"/>
                        </a:rPr>
                        <a:t>Rain</a:t>
                      </a:r>
                      <a:endParaRPr lang="zh-CN" sz="1050" kern="100" dirty="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Mild</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High</a:t>
                      </a:r>
                      <a:endParaRPr lang="zh-CN" sz="1050" kern="10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宋体"/>
                          <a:cs typeface="Times New Roman"/>
                        </a:rPr>
                        <a:t>Strong</a:t>
                      </a:r>
                      <a:endParaRPr lang="zh-CN" sz="1050" kern="100" dirty="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宋体"/>
                          <a:cs typeface="Times New Roman"/>
                        </a:rPr>
                        <a:t>No</a:t>
                      </a:r>
                      <a:endParaRPr lang="zh-CN" sz="1050" kern="100" dirty="0">
                        <a:latin typeface="Calibri"/>
                        <a:ea typeface="宋体"/>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39009" name="矩形 4"/>
          <p:cNvSpPr>
            <a:spLocks noChangeArrowheads="1"/>
          </p:cNvSpPr>
          <p:nvPr/>
        </p:nvSpPr>
        <p:spPr bwMode="auto">
          <a:xfrm>
            <a:off x="2095500" y="928704"/>
            <a:ext cx="7734300" cy="523220"/>
          </a:xfrm>
          <a:prstGeom prst="rect">
            <a:avLst/>
          </a:prstGeom>
          <a:noFill/>
          <a:ln w="9525">
            <a:noFill/>
            <a:miter lim="800000"/>
            <a:headEnd/>
            <a:tailEnd/>
          </a:ln>
        </p:spPr>
        <p:txBody>
          <a:bodyPr wrap="square">
            <a:spAutoFit/>
          </a:bodyPr>
          <a:lstStyle/>
          <a:p>
            <a:r>
              <a:rPr lang="en-US" altLang="zh-CN" sz="2800" dirty="0"/>
              <a:t>CART</a:t>
            </a:r>
            <a:r>
              <a:rPr lang="zh-CN" altLang="en-US" sz="2800" dirty="0"/>
              <a:t>算法对离散值</a:t>
            </a:r>
            <a:r>
              <a:rPr lang="en-US" altLang="zh-CN" sz="2800" dirty="0" err="1"/>
              <a:t>Gini</a:t>
            </a:r>
            <a:r>
              <a:rPr lang="zh-CN" altLang="en-US" sz="2800" dirty="0"/>
              <a:t>指数的计算二叉树？</a:t>
            </a:r>
            <a:endParaRPr lang="en-US" altLang="zh-CN" sz="2800" dirty="0"/>
          </a:p>
        </p:txBody>
      </p:sp>
      <p:sp>
        <p:nvSpPr>
          <p:cNvPr id="5" name="Text Box 7"/>
          <p:cNvSpPr txBox="1">
            <a:spLocks noChangeArrowheads="1"/>
          </p:cNvSpPr>
          <p:nvPr/>
        </p:nvSpPr>
        <p:spPr bwMode="auto">
          <a:xfrm>
            <a:off x="4729164" y="285728"/>
            <a:ext cx="2492375" cy="646112"/>
          </a:xfrm>
          <a:prstGeom prst="rect">
            <a:avLst/>
          </a:prstGeom>
          <a:noFill/>
          <a:ln w="9525">
            <a:noFill/>
            <a:miter lim="800000"/>
            <a:headEnd/>
            <a:tailEnd/>
          </a:ln>
        </p:spPr>
        <p:txBody>
          <a:bodyPr wrap="none">
            <a:spAutoFit/>
          </a:bodyPr>
          <a:lstStyle/>
          <a:p>
            <a:r>
              <a:rPr lang="zh-CN" altLang="en-US" sz="3600" dirty="0"/>
              <a:t>决策树算法</a:t>
            </a: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54</a:t>
            </a:fld>
            <a:endParaRPr lang="en-US" altLang="zh-CN" dirty="0"/>
          </a:p>
        </p:txBody>
      </p:sp>
      <p:sp>
        <p:nvSpPr>
          <p:cNvPr id="2" name="矩形 1"/>
          <p:cNvSpPr/>
          <p:nvPr/>
        </p:nvSpPr>
        <p:spPr>
          <a:xfrm>
            <a:off x="2492748" y="5506066"/>
            <a:ext cx="6965205" cy="923330"/>
          </a:xfrm>
          <a:prstGeom prst="rect">
            <a:avLst/>
          </a:prstGeom>
        </p:spPr>
        <p:txBody>
          <a:bodyPr wrap="square">
            <a:spAutoFit/>
          </a:bodyPr>
          <a:lstStyle/>
          <a:p>
            <a:r>
              <a:rPr lang="zh-CN" altLang="en-US" dirty="0"/>
              <a:t>在属性取值为多值的情况下，需计算属性在不同取值进行切分情况下的基尼指数，取</a:t>
            </a:r>
            <a:r>
              <a:rPr lang="zh-CN" altLang="en-US" dirty="0">
                <a:solidFill>
                  <a:srgbClr val="7030A0"/>
                </a:solidFill>
              </a:rPr>
              <a:t>基尼指数最小的值对应的属性取值为该属性 的</a:t>
            </a:r>
            <a:r>
              <a:rPr lang="zh-CN" altLang="en-US" i="1" dirty="0">
                <a:solidFill>
                  <a:srgbClr val="7030A0"/>
                </a:solidFill>
                <a:latin typeface="Times New Roman" pitchFamily="18" charset="0"/>
                <a:ea typeface="微软雅黑" pitchFamily="34" charset="-122"/>
                <a:cs typeface="Times New Roman" pitchFamily="18" charset="0"/>
              </a:rPr>
              <a:t>最优切分点（最优切分）</a:t>
            </a:r>
            <a:endParaRPr lang="en-US" altLang="zh-CN" dirty="0">
              <a:solidFill>
                <a:srgbClr val="7030A0"/>
              </a:solidFill>
            </a:endParaRPr>
          </a:p>
        </p:txBody>
      </p:sp>
      <p:sp>
        <p:nvSpPr>
          <p:cNvPr id="3" name="下箭头 2"/>
          <p:cNvSpPr/>
          <p:nvPr/>
        </p:nvSpPr>
        <p:spPr>
          <a:xfrm flipV="1">
            <a:off x="5303912" y="5168120"/>
            <a:ext cx="432048" cy="402187"/>
          </a:xfrm>
          <a:prstGeom prst="downArrow">
            <a:avLst>
              <a:gd name="adj1" fmla="val 39907"/>
              <a:gd name="adj2" fmla="val 50000"/>
            </a:avLst>
          </a:prstGeom>
          <a:solidFill>
            <a:schemeClr val="accent1">
              <a:lumMod val="60000"/>
              <a:lumOff val="40000"/>
            </a:schemeClr>
          </a:solidFill>
        </p:spPr>
        <p:txBody>
          <a:bodyPr wrap="square" rtlCol="0" anchor="ctr">
            <a:spAutoFit/>
          </a:bodyPr>
          <a:lstStyle/>
          <a:p>
            <a:pPr algn="ctr"/>
            <a:endParaRPr lang="zh-CN" altLang="en-US" sz="2400" kern="100" dirty="0">
              <a:ea typeface="宋体"/>
              <a:cs typeface="Times New Roman"/>
            </a:endParaRPr>
          </a:p>
        </p:txBody>
      </p:sp>
      <p:sp>
        <p:nvSpPr>
          <p:cNvPr id="8" name="下箭头 7"/>
          <p:cNvSpPr/>
          <p:nvPr/>
        </p:nvSpPr>
        <p:spPr>
          <a:xfrm flipV="1">
            <a:off x="4151784" y="5215211"/>
            <a:ext cx="360040" cy="355096"/>
          </a:xfrm>
          <a:prstGeom prst="downArrow">
            <a:avLst/>
          </a:prstGeom>
          <a:solidFill>
            <a:schemeClr val="accent1">
              <a:lumMod val="60000"/>
              <a:lumOff val="40000"/>
            </a:schemeClr>
          </a:solidFill>
        </p:spPr>
        <p:txBody>
          <a:bodyPr wrap="square" rtlCol="0" anchor="ctr">
            <a:spAutoFit/>
          </a:bodyPr>
          <a:lstStyle/>
          <a:p>
            <a:pPr algn="ctr"/>
            <a:endParaRPr lang="zh-CN" altLang="en-US" sz="2400" kern="100" dirty="0">
              <a:ea typeface="宋体"/>
              <a:cs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矩形 3"/>
          <p:cNvSpPr>
            <a:spLocks noChangeArrowheads="1"/>
          </p:cNvSpPr>
          <p:nvPr/>
        </p:nvSpPr>
        <p:spPr bwMode="auto">
          <a:xfrm>
            <a:off x="1611934" y="571501"/>
            <a:ext cx="8484567" cy="830997"/>
          </a:xfrm>
          <a:prstGeom prst="rect">
            <a:avLst/>
          </a:prstGeom>
          <a:solidFill>
            <a:schemeClr val="bg1"/>
          </a:solidFill>
          <a:ln w="9525">
            <a:noFill/>
            <a:miter lim="800000"/>
            <a:headEnd/>
            <a:tailEnd/>
          </a:ln>
        </p:spPr>
        <p:txBody>
          <a:bodyPr wrap="square">
            <a:spAutoFit/>
          </a:bodyPr>
          <a:lstStyle/>
          <a:p>
            <a:r>
              <a:rPr lang="en-US" altLang="zh-CN" sz="2400" dirty="0">
                <a:latin typeface="微软雅黑" pitchFamily="34" charset="-122"/>
                <a:ea typeface="微软雅黑" pitchFamily="34" charset="-122"/>
                <a:cs typeface="Times New Roman" pitchFamily="18" charset="0"/>
              </a:rPr>
              <a:t>• </a:t>
            </a:r>
            <a:r>
              <a:rPr lang="zh-CN" altLang="en-US" sz="2400" dirty="0">
                <a:latin typeface="微软雅黑" pitchFamily="34" charset="-122"/>
                <a:ea typeface="微软雅黑" pitchFamily="34" charset="-122"/>
                <a:cs typeface="Times New Roman" pitchFamily="18" charset="0"/>
              </a:rPr>
              <a:t>以</a:t>
            </a:r>
            <a:r>
              <a:rPr lang="en-US" altLang="zh-CN" sz="2400" i="1" dirty="0">
                <a:latin typeface="Times New Roman" pitchFamily="18" charset="0"/>
                <a:ea typeface="微软雅黑" pitchFamily="34" charset="-122"/>
                <a:cs typeface="Times New Roman" pitchFamily="18" charset="0"/>
              </a:rPr>
              <a:t>Temperature</a:t>
            </a:r>
            <a:r>
              <a:rPr lang="zh-CN" altLang="en-US" sz="2400" dirty="0">
                <a:latin typeface="微软雅黑" pitchFamily="34" charset="-122"/>
                <a:ea typeface="微软雅黑" pitchFamily="34" charset="-122"/>
                <a:cs typeface="Times New Roman" pitchFamily="18" charset="0"/>
              </a:rPr>
              <a:t>为例，内含三种属性</a:t>
            </a:r>
            <a:r>
              <a:rPr lang="en-US" altLang="zh-CN" sz="2400" dirty="0">
                <a:latin typeface="微软雅黑" pitchFamily="34" charset="-122"/>
                <a:ea typeface="微软雅黑" pitchFamily="34" charset="-122"/>
                <a:cs typeface="Times New Roman" pitchFamily="18" charset="0"/>
              </a:rPr>
              <a:t>{Cool</a:t>
            </a:r>
            <a:r>
              <a:rPr lang="zh-CN" altLang="en-US" sz="2400" dirty="0">
                <a:latin typeface="微软雅黑" pitchFamily="34" charset="-122"/>
                <a:ea typeface="微软雅黑" pitchFamily="34" charset="-122"/>
                <a:cs typeface="Times New Roman" pitchFamily="18" charset="0"/>
              </a:rPr>
              <a:t>，</a:t>
            </a:r>
            <a:r>
              <a:rPr lang="en-US" altLang="zh-CN" sz="2400" dirty="0">
                <a:latin typeface="微软雅黑" pitchFamily="34" charset="-122"/>
                <a:ea typeface="微软雅黑" pitchFamily="34" charset="-122"/>
                <a:cs typeface="Times New Roman" pitchFamily="18" charset="0"/>
              </a:rPr>
              <a:t>Mild</a:t>
            </a:r>
            <a:r>
              <a:rPr lang="zh-CN" altLang="en-US" sz="2400" dirty="0">
                <a:latin typeface="微软雅黑" pitchFamily="34" charset="-122"/>
                <a:ea typeface="微软雅黑" pitchFamily="34" charset="-122"/>
                <a:cs typeface="Times New Roman" pitchFamily="18" charset="0"/>
              </a:rPr>
              <a:t>，</a:t>
            </a:r>
            <a:r>
              <a:rPr lang="en-US" altLang="zh-CN" sz="2400" dirty="0">
                <a:latin typeface="微软雅黑" pitchFamily="34" charset="-122"/>
                <a:ea typeface="微软雅黑" pitchFamily="34" charset="-122"/>
                <a:cs typeface="Times New Roman" pitchFamily="18" charset="0"/>
              </a:rPr>
              <a:t>Hot}</a:t>
            </a:r>
            <a:r>
              <a:rPr lang="zh-CN" altLang="en-US" sz="2400" dirty="0">
                <a:latin typeface="微软雅黑" pitchFamily="34" charset="-122"/>
                <a:ea typeface="微软雅黑" pitchFamily="34" charset="-122"/>
                <a:cs typeface="Times New Roman" pitchFamily="18" charset="0"/>
              </a:rPr>
              <a:t>， 共有</a:t>
            </a:r>
            <a:r>
              <a:rPr lang="en-US" altLang="zh-CN" sz="2400" dirty="0">
                <a:latin typeface="微软雅黑" pitchFamily="34" charset="-122"/>
                <a:ea typeface="微软雅黑" pitchFamily="34" charset="-122"/>
                <a:cs typeface="Times New Roman" pitchFamily="18" charset="0"/>
              </a:rPr>
              <a:t>2</a:t>
            </a:r>
            <a:r>
              <a:rPr lang="en-US" altLang="zh-CN" sz="2400" baseline="30000" dirty="0">
                <a:latin typeface="微软雅黑" pitchFamily="34" charset="-122"/>
                <a:ea typeface="微软雅黑" pitchFamily="34" charset="-122"/>
                <a:cs typeface="Times New Roman" pitchFamily="18" charset="0"/>
              </a:rPr>
              <a:t>3</a:t>
            </a:r>
            <a:r>
              <a:rPr lang="zh-CN" altLang="en-US" sz="2400" dirty="0">
                <a:latin typeface="微软雅黑" pitchFamily="34" charset="-122"/>
                <a:ea typeface="微软雅黑" pitchFamily="34" charset="-122"/>
                <a:cs typeface="Times New Roman" pitchFamily="18" charset="0"/>
              </a:rPr>
              <a:t>个子集，去除子集  </a:t>
            </a:r>
            <a:r>
              <a:rPr lang="en-US" altLang="zh-CN" sz="2400" dirty="0">
                <a:latin typeface="微软雅黑" pitchFamily="34" charset="-122"/>
                <a:ea typeface="微软雅黑" pitchFamily="34" charset="-122"/>
                <a:cs typeface="Times New Roman" pitchFamily="18" charset="0"/>
              </a:rPr>
              <a:t>{Cool</a:t>
            </a:r>
            <a:r>
              <a:rPr lang="zh-CN" altLang="en-US" sz="2400" dirty="0">
                <a:latin typeface="微软雅黑" pitchFamily="34" charset="-122"/>
                <a:ea typeface="微软雅黑" pitchFamily="34" charset="-122"/>
                <a:cs typeface="Times New Roman" pitchFamily="18" charset="0"/>
              </a:rPr>
              <a:t>，</a:t>
            </a:r>
            <a:r>
              <a:rPr lang="en-US" altLang="zh-CN" sz="2400" dirty="0">
                <a:latin typeface="微软雅黑" pitchFamily="34" charset="-122"/>
                <a:ea typeface="微软雅黑" pitchFamily="34" charset="-122"/>
                <a:cs typeface="Times New Roman" pitchFamily="18" charset="0"/>
              </a:rPr>
              <a:t>Mild</a:t>
            </a:r>
            <a:r>
              <a:rPr lang="zh-CN" altLang="en-US" sz="2400" dirty="0">
                <a:latin typeface="微软雅黑" pitchFamily="34" charset="-122"/>
                <a:ea typeface="微软雅黑" pitchFamily="34" charset="-122"/>
                <a:cs typeface="Times New Roman" pitchFamily="18" charset="0"/>
              </a:rPr>
              <a:t>，</a:t>
            </a:r>
            <a:r>
              <a:rPr lang="en-US" altLang="zh-CN" sz="2400" dirty="0">
                <a:latin typeface="微软雅黑" pitchFamily="34" charset="-122"/>
                <a:ea typeface="微软雅黑" pitchFamily="34" charset="-122"/>
                <a:cs typeface="Times New Roman" pitchFamily="18" charset="0"/>
              </a:rPr>
              <a:t>Hot}</a:t>
            </a:r>
            <a:r>
              <a:rPr lang="zh-CN" altLang="en-US" sz="2400" dirty="0">
                <a:latin typeface="微软雅黑" pitchFamily="34" charset="-122"/>
                <a:ea typeface="微软雅黑" pitchFamily="34" charset="-122"/>
                <a:cs typeface="Times New Roman" pitchFamily="18" charset="0"/>
              </a:rPr>
              <a:t>和</a:t>
            </a:r>
            <a:r>
              <a:rPr lang="en-US" altLang="zh-CN" sz="2400" dirty="0">
                <a:latin typeface="微软雅黑" pitchFamily="34" charset="-122"/>
                <a:ea typeface="微软雅黑" pitchFamily="34" charset="-122"/>
                <a:cs typeface="Times New Roman" pitchFamily="18" charset="0"/>
              </a:rPr>
              <a:t>{   }</a:t>
            </a:r>
            <a:r>
              <a:rPr lang="zh-CN" altLang="en-US" sz="2400" dirty="0">
                <a:latin typeface="微软雅黑" pitchFamily="34" charset="-122"/>
                <a:ea typeface="微软雅黑" pitchFamily="34" charset="-122"/>
                <a:cs typeface="Times New Roman" pitchFamily="18" charset="0"/>
              </a:rPr>
              <a:t>（未分裂）</a:t>
            </a:r>
            <a:endParaRPr lang="zh-CN" altLang="en-US" sz="2400" baseline="-25000" dirty="0">
              <a:ea typeface="微软雅黑" pitchFamily="34" charset="-122"/>
              <a:cs typeface="Times New Roman" pitchFamily="18" charset="0"/>
            </a:endParaRPr>
          </a:p>
        </p:txBody>
      </p:sp>
      <p:graphicFrame>
        <p:nvGraphicFramePr>
          <p:cNvPr id="15362" name="Object 2"/>
          <p:cNvGraphicFramePr>
            <a:graphicFrameLocks noChangeAspect="1"/>
          </p:cNvGraphicFramePr>
          <p:nvPr>
            <p:extLst>
              <p:ext uri="{D42A27DB-BD31-4B8C-83A1-F6EECF244321}">
                <p14:modId xmlns:p14="http://schemas.microsoft.com/office/powerpoint/2010/main" val="1297775506"/>
              </p:ext>
            </p:extLst>
          </p:nvPr>
        </p:nvGraphicFramePr>
        <p:xfrm>
          <a:off x="8003705" y="988313"/>
          <a:ext cx="357187" cy="357188"/>
        </p:xfrm>
        <a:graphic>
          <a:graphicData uri="http://schemas.openxmlformats.org/presentationml/2006/ole">
            <mc:AlternateContent xmlns:mc="http://schemas.openxmlformats.org/markup-compatibility/2006">
              <mc:Choice xmlns:v="urn:schemas-microsoft-com:vml" Requires="v">
                <p:oleObj spid="_x0000_s427310" name="Equation" r:id="rId4" imgW="203024" imgH="203024" progId="Equation.DSMT4">
                  <p:embed/>
                </p:oleObj>
              </mc:Choice>
              <mc:Fallback>
                <p:oleObj name="Equation" r:id="rId4" imgW="203024" imgH="203024" progId="Equation.DSMT4">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3705" y="988313"/>
                        <a:ext cx="357187"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7" name="Group 47"/>
          <p:cNvGraphicFramePr>
            <a:graphicFrameLocks noGrp="1"/>
          </p:cNvGraphicFramePr>
          <p:nvPr>
            <p:extLst>
              <p:ext uri="{D42A27DB-BD31-4B8C-83A1-F6EECF244321}">
                <p14:modId xmlns:p14="http://schemas.microsoft.com/office/powerpoint/2010/main" val="778677594"/>
              </p:ext>
            </p:extLst>
          </p:nvPr>
        </p:nvGraphicFramePr>
        <p:xfrm>
          <a:off x="1874838" y="2298700"/>
          <a:ext cx="2428875" cy="3657600"/>
        </p:xfrm>
        <a:graphic>
          <a:graphicData uri="http://schemas.openxmlformats.org/drawingml/2006/table">
            <a:tbl>
              <a:tblPr/>
              <a:tblGrid>
                <a:gridCol w="1169988">
                  <a:extLst>
                    <a:ext uri="{9D8B030D-6E8A-4147-A177-3AD203B41FA5}">
                      <a16:colId xmlns:a16="http://schemas.microsoft.com/office/drawing/2014/main" val="20000"/>
                    </a:ext>
                  </a:extLst>
                </a:gridCol>
                <a:gridCol w="1258887">
                  <a:extLst>
                    <a:ext uri="{9D8B030D-6E8A-4147-A177-3AD203B41FA5}">
                      <a16:colId xmlns:a16="http://schemas.microsoft.com/office/drawing/2014/main" val="20001"/>
                    </a:ext>
                  </a:extLst>
                </a:gridCol>
              </a:tblGrid>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Temperature</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Play Tennis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Cool</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Cool</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Cool</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Cool</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Mild</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Hot</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1"/>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Hot</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2"/>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Hot</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Hot</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Yes</a:t>
                      </a:r>
                      <a:endParaRPr kumimoji="0" lang="zh-CN" altLang="zh-CN" sz="1000" b="0" i="0" u="none" strike="noStrike" cap="none" normalizeH="0" baseline="0" dirty="0">
                        <a:ln>
                          <a:noFill/>
                        </a:ln>
                        <a:solidFill>
                          <a:schemeClr val="tx1"/>
                        </a:solidFill>
                        <a:effectLst/>
                        <a:latin typeface="Calibri" pitchFamily="34" charset="0"/>
                        <a:ea typeface="宋体" pitchFamily="2" charset="-122"/>
                        <a:cs typeface="Times New Roman" pitchFamily="18" charset="0"/>
                      </a:endParaRPr>
                    </a:p>
                  </a:txBody>
                  <a:tcPr marL="68580" marR="6858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graphicFrame>
        <p:nvGraphicFramePr>
          <p:cNvPr id="15363" name="Object 3"/>
          <p:cNvGraphicFramePr>
            <a:graphicFrameLocks noChangeAspect="1"/>
          </p:cNvGraphicFramePr>
          <p:nvPr>
            <p:extLst>
              <p:ext uri="{D42A27DB-BD31-4B8C-83A1-F6EECF244321}">
                <p14:modId xmlns:p14="http://schemas.microsoft.com/office/powerpoint/2010/main" val="668251435"/>
              </p:ext>
            </p:extLst>
          </p:nvPr>
        </p:nvGraphicFramePr>
        <p:xfrm>
          <a:off x="4626104" y="1866902"/>
          <a:ext cx="5021262" cy="2471737"/>
        </p:xfrm>
        <a:graphic>
          <a:graphicData uri="http://schemas.openxmlformats.org/presentationml/2006/ole">
            <mc:AlternateContent xmlns:mc="http://schemas.openxmlformats.org/markup-compatibility/2006">
              <mc:Choice xmlns:v="urn:schemas-microsoft-com:vml" Requires="v">
                <p:oleObj spid="_x0000_s427311" name="Equation" r:id="rId6" imgW="3327400" imgH="1638300" progId="Equation.DSMT4">
                  <p:embed/>
                </p:oleObj>
              </mc:Choice>
              <mc:Fallback>
                <p:oleObj name="Equation" r:id="rId6" imgW="3327400" imgH="1638300" progId="Equation.DSMT4">
                  <p:embed/>
                  <p:pic>
                    <p:nvPicPr>
                      <p:cNvPr id="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6104" y="1866902"/>
                        <a:ext cx="5021262" cy="247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4" name="Object 5"/>
          <p:cNvGraphicFramePr>
            <a:graphicFrameLocks noChangeAspect="1"/>
          </p:cNvGraphicFramePr>
          <p:nvPr>
            <p:extLst>
              <p:ext uri="{D42A27DB-BD31-4B8C-83A1-F6EECF244321}">
                <p14:modId xmlns:p14="http://schemas.microsoft.com/office/powerpoint/2010/main" val="1248838062"/>
              </p:ext>
            </p:extLst>
          </p:nvPr>
        </p:nvGraphicFramePr>
        <p:xfrm>
          <a:off x="4683126" y="4785847"/>
          <a:ext cx="5565775" cy="1770063"/>
        </p:xfrm>
        <a:graphic>
          <a:graphicData uri="http://schemas.openxmlformats.org/presentationml/2006/ole">
            <mc:AlternateContent xmlns:mc="http://schemas.openxmlformats.org/markup-compatibility/2006">
              <mc:Choice xmlns:v="urn:schemas-microsoft-com:vml" Requires="v">
                <p:oleObj spid="_x0000_s427312" name="Equation" r:id="rId8" imgW="3594100" imgH="1143000" progId="Equation.DSMT4">
                  <p:embed/>
                </p:oleObj>
              </mc:Choice>
              <mc:Fallback>
                <p:oleObj name="Equation" r:id="rId8" imgW="3594100" imgH="1143000" progId="Equation.DSMT4">
                  <p:embed/>
                  <p:pic>
                    <p:nvPicPr>
                      <p:cNvPr id="0"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26" y="4785847"/>
                        <a:ext cx="5565775" cy="177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400" name="TextBox 9"/>
          <p:cNvSpPr txBox="1">
            <a:spLocks noChangeArrowheads="1"/>
          </p:cNvSpPr>
          <p:nvPr/>
        </p:nvSpPr>
        <p:spPr bwMode="auto">
          <a:xfrm>
            <a:off x="4953000" y="4357688"/>
            <a:ext cx="646331" cy="369332"/>
          </a:xfrm>
          <a:prstGeom prst="rect">
            <a:avLst/>
          </a:prstGeom>
          <a:noFill/>
          <a:ln w="9525">
            <a:noFill/>
            <a:miter lim="800000"/>
            <a:headEnd/>
            <a:tailEnd/>
          </a:ln>
        </p:spPr>
        <p:txBody>
          <a:bodyPr wrap="none">
            <a:spAutoFit/>
          </a:bodyPr>
          <a:lstStyle/>
          <a:p>
            <a:r>
              <a:rPr lang="zh-CN" altLang="en-US">
                <a:latin typeface="微软雅黑" pitchFamily="34" charset="-122"/>
                <a:ea typeface="微软雅黑" pitchFamily="34" charset="-122"/>
              </a:rPr>
              <a:t>同理</a:t>
            </a:r>
          </a:p>
        </p:txBody>
      </p:sp>
      <p:sp>
        <p:nvSpPr>
          <p:cNvPr id="15401" name="矩形 10"/>
          <p:cNvSpPr>
            <a:spLocks noChangeArrowheads="1"/>
          </p:cNvSpPr>
          <p:nvPr/>
        </p:nvSpPr>
        <p:spPr bwMode="auto">
          <a:xfrm>
            <a:off x="2238375" y="1857375"/>
            <a:ext cx="1701800" cy="369888"/>
          </a:xfrm>
          <a:prstGeom prst="rect">
            <a:avLst/>
          </a:prstGeom>
          <a:noFill/>
          <a:ln w="9525">
            <a:noFill/>
            <a:miter lim="800000"/>
            <a:headEnd/>
            <a:tailEnd/>
          </a:ln>
        </p:spPr>
        <p:txBody>
          <a:bodyPr wrap="none">
            <a:spAutoFit/>
          </a:bodyPr>
          <a:lstStyle/>
          <a:p>
            <a:r>
              <a:rPr lang="en-US" altLang="zh-CN">
                <a:latin typeface="微软雅黑" pitchFamily="34" charset="-122"/>
                <a:ea typeface="微软雅黑" pitchFamily="34" charset="-122"/>
              </a:rPr>
              <a:t>CART</a:t>
            </a:r>
            <a:r>
              <a:rPr lang="zh-CN" altLang="en-US">
                <a:latin typeface="微软雅黑" pitchFamily="34" charset="-122"/>
                <a:ea typeface="微软雅黑" pitchFamily="34" charset="-122"/>
              </a:rPr>
              <a:t>分类举例</a:t>
            </a:r>
            <a:endParaRPr lang="zh-CN" altLang="en-US"/>
          </a:p>
        </p:txBody>
      </p:sp>
      <p:cxnSp>
        <p:nvCxnSpPr>
          <p:cNvPr id="15" name="直接箭头连接符 14"/>
          <p:cNvCxnSpPr/>
          <p:nvPr/>
        </p:nvCxnSpPr>
        <p:spPr>
          <a:xfrm>
            <a:off x="1845469" y="5013176"/>
            <a:ext cx="500063" cy="158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2381250" y="1785939"/>
            <a:ext cx="8001000" cy="7143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5400000" flipH="1" flipV="1">
            <a:off x="2016126" y="4192550"/>
            <a:ext cx="4859337"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405" name="矩形 12"/>
          <p:cNvSpPr>
            <a:spLocks noChangeArrowheads="1"/>
          </p:cNvSpPr>
          <p:nvPr/>
        </p:nvSpPr>
        <p:spPr bwMode="auto">
          <a:xfrm>
            <a:off x="1611934" y="44451"/>
            <a:ext cx="4056063" cy="523875"/>
          </a:xfrm>
          <a:prstGeom prst="rect">
            <a:avLst/>
          </a:prstGeom>
          <a:noFill/>
          <a:ln w="9525">
            <a:noFill/>
            <a:miter lim="800000"/>
            <a:headEnd/>
            <a:tailEnd/>
          </a:ln>
        </p:spPr>
        <p:txBody>
          <a:bodyPr wrap="none">
            <a:spAutoFit/>
          </a:bodyPr>
          <a:lstStyle/>
          <a:p>
            <a:r>
              <a:rPr lang="zh-CN" altLang="en-US" sz="2800" dirty="0"/>
              <a:t>对离散值</a:t>
            </a:r>
            <a:r>
              <a:rPr lang="en-US" altLang="zh-CN" sz="2800" dirty="0" err="1"/>
              <a:t>Gini</a:t>
            </a:r>
            <a:r>
              <a:rPr lang="zh-CN" altLang="en-US" sz="2800" dirty="0"/>
              <a:t>指数的计算</a:t>
            </a:r>
            <a:endParaRPr lang="en-US" altLang="zh-CN" sz="2800" dirty="0"/>
          </a:p>
        </p:txBody>
      </p:sp>
      <p:sp>
        <p:nvSpPr>
          <p:cNvPr id="13" name="灯片编号占位符 12"/>
          <p:cNvSpPr>
            <a:spLocks noGrp="1"/>
          </p:cNvSpPr>
          <p:nvPr>
            <p:ph type="sldNum" sz="quarter" idx="11"/>
          </p:nvPr>
        </p:nvSpPr>
        <p:spPr/>
        <p:txBody>
          <a:bodyPr/>
          <a:lstStyle/>
          <a:p>
            <a:pPr>
              <a:defRPr/>
            </a:pPr>
            <a:fld id="{31E287EE-1289-4991-82CE-EFE584F53F4F}" type="slidenum">
              <a:rPr lang="en-US" altLang="zh-CN" smtClean="0"/>
              <a:pPr>
                <a:defRPr/>
              </a:pPr>
              <a:t>55</a:t>
            </a:fld>
            <a:endParaRPr lang="en-US" altLang="zh-CN" dirty="0"/>
          </a:p>
        </p:txBody>
      </p:sp>
      <p:sp>
        <p:nvSpPr>
          <p:cNvPr id="14" name="椭圆 13"/>
          <p:cNvSpPr/>
          <p:nvPr/>
        </p:nvSpPr>
        <p:spPr>
          <a:xfrm>
            <a:off x="4808539" y="3711541"/>
            <a:ext cx="711397" cy="649188"/>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2" name="矩形标注 1"/>
          <p:cNvSpPr/>
          <p:nvPr/>
        </p:nvSpPr>
        <p:spPr>
          <a:xfrm>
            <a:off x="9341155" y="2136340"/>
            <a:ext cx="184731" cy="461665"/>
          </a:xfrm>
          <a:prstGeom prst="wedgeRectCallout">
            <a:avLst/>
          </a:prstGeom>
        </p:spPr>
        <p:txBody>
          <a:bodyPr wrap="none" rtlCol="0" anchor="ctr">
            <a:spAutoFit/>
          </a:bodyPr>
          <a:lstStyle/>
          <a:p>
            <a:pPr algn="ctr"/>
            <a:endParaRPr lang="zh-CN" altLang="en-US" sz="2400" kern="100" dirty="0">
              <a:ea typeface="宋体"/>
              <a:cs typeface="Times New Roman"/>
            </a:endParaRPr>
          </a:p>
        </p:txBody>
      </p:sp>
      <p:sp>
        <p:nvSpPr>
          <p:cNvPr id="3" name="矩形标注 2"/>
          <p:cNvSpPr/>
          <p:nvPr/>
        </p:nvSpPr>
        <p:spPr>
          <a:xfrm>
            <a:off x="8003704" y="1776324"/>
            <a:ext cx="2664296" cy="1200329"/>
          </a:xfrm>
          <a:prstGeom prst="wedgeRectCallout">
            <a:avLst>
              <a:gd name="adj1" fmla="val -54215"/>
              <a:gd name="adj2" fmla="val 24728"/>
            </a:avLst>
          </a:prstGeom>
          <a:solidFill>
            <a:schemeClr val="accent1">
              <a:lumMod val="60000"/>
              <a:lumOff val="40000"/>
            </a:schemeClr>
          </a:solidFill>
        </p:spPr>
        <p:txBody>
          <a:bodyPr wrap="square" rtlCol="0" anchor="ctr">
            <a:spAutoFit/>
          </a:bodyPr>
          <a:lstStyle/>
          <a:p>
            <a:pPr algn="ctr"/>
            <a:r>
              <a:rPr lang="en-US" altLang="zh-CN" dirty="0"/>
              <a:t>V1</a:t>
            </a:r>
            <a:r>
              <a:rPr lang="zh-CN" altLang="en-US" dirty="0"/>
              <a:t>：</a:t>
            </a:r>
            <a:r>
              <a:rPr lang="en-US" altLang="zh-CN" dirty="0"/>
              <a:t>{cool</a:t>
            </a:r>
            <a:r>
              <a:rPr lang="zh-CN" altLang="en-US" dirty="0"/>
              <a:t> </a:t>
            </a:r>
            <a:r>
              <a:rPr lang="en-US" altLang="zh-CN" dirty="0"/>
              <a:t>(3Y</a:t>
            </a:r>
            <a:r>
              <a:rPr lang="zh-CN" altLang="en-US" dirty="0"/>
              <a:t>，</a:t>
            </a:r>
            <a:r>
              <a:rPr lang="en-US" altLang="zh-CN" dirty="0"/>
              <a:t>1N</a:t>
            </a:r>
            <a:r>
              <a:rPr lang="zh-CN" altLang="en-US" dirty="0"/>
              <a:t> </a:t>
            </a:r>
            <a:r>
              <a:rPr lang="en-US" altLang="zh-CN" dirty="0"/>
              <a:t>)</a:t>
            </a:r>
            <a:r>
              <a:rPr lang="zh-CN" altLang="en-US" dirty="0"/>
              <a:t>，   </a:t>
            </a:r>
            <a:r>
              <a:rPr lang="en-US" altLang="zh-CN" dirty="0"/>
              <a:t>mild</a:t>
            </a:r>
            <a:r>
              <a:rPr lang="zh-CN" altLang="en-US" dirty="0"/>
              <a:t>（</a:t>
            </a:r>
            <a:r>
              <a:rPr lang="en-US" altLang="zh-CN" dirty="0"/>
              <a:t>4Y</a:t>
            </a:r>
            <a:r>
              <a:rPr lang="zh-CN" altLang="en-US" dirty="0"/>
              <a:t>，</a:t>
            </a:r>
            <a:r>
              <a:rPr lang="en-US" altLang="zh-CN" dirty="0"/>
              <a:t>2N</a:t>
            </a:r>
            <a:r>
              <a:rPr lang="zh-CN" altLang="en-US" dirty="0"/>
              <a:t>）</a:t>
            </a:r>
            <a:r>
              <a:rPr lang="en-US" altLang="zh-CN" dirty="0"/>
              <a:t>}</a:t>
            </a:r>
          </a:p>
          <a:p>
            <a:pPr algn="ctr"/>
            <a:endParaRPr lang="en-US" altLang="zh-CN" dirty="0"/>
          </a:p>
          <a:p>
            <a:pPr algn="ctr"/>
            <a:r>
              <a:rPr lang="en-US" altLang="zh-CN" dirty="0"/>
              <a:t>V2</a:t>
            </a:r>
            <a:r>
              <a:rPr lang="zh-CN" altLang="en-US" dirty="0"/>
              <a:t>：</a:t>
            </a:r>
            <a:r>
              <a:rPr lang="en-US" altLang="zh-CN" dirty="0"/>
              <a:t>{Hot</a:t>
            </a:r>
            <a:r>
              <a:rPr lang="zh-CN" altLang="en-US" dirty="0"/>
              <a:t>（</a:t>
            </a:r>
            <a:r>
              <a:rPr lang="en-US" altLang="zh-CN" dirty="0"/>
              <a:t>2Y</a:t>
            </a:r>
            <a:r>
              <a:rPr lang="zh-CN" altLang="en-US" dirty="0"/>
              <a:t>，</a:t>
            </a:r>
            <a:r>
              <a:rPr lang="en-US" altLang="zh-CN" dirty="0"/>
              <a:t>2N</a:t>
            </a:r>
            <a:r>
              <a:rPr lang="zh-CN" altLang="en-US" dirty="0"/>
              <a:t>） </a:t>
            </a:r>
            <a:r>
              <a:rPr lang="en-US" altLang="zh-CN" dirty="0"/>
              <a:t>}</a:t>
            </a:r>
            <a:endParaRPr lang="zh-CN" altLang="en-US" kern="100" dirty="0">
              <a:ea typeface="宋体"/>
              <a:cs typeface="Times New Roman"/>
            </a:endParaRPr>
          </a:p>
        </p:txBody>
      </p:sp>
      <p:sp>
        <p:nvSpPr>
          <p:cNvPr id="4" name="矩形 3"/>
          <p:cNvSpPr/>
          <p:nvPr/>
        </p:nvSpPr>
        <p:spPr>
          <a:xfrm>
            <a:off x="1055440" y="1378799"/>
            <a:ext cx="9501631" cy="707886"/>
          </a:xfrm>
          <a:prstGeom prst="rect">
            <a:avLst/>
          </a:prstGeom>
        </p:spPr>
        <p:txBody>
          <a:bodyPr wrap="square">
            <a:spAutoFit/>
          </a:bodyPr>
          <a:lstStyle/>
          <a:p>
            <a:r>
              <a:rPr lang="zh-CN" altLang="en-US" sz="2000" dirty="0">
                <a:solidFill>
                  <a:srgbClr val="7030A0"/>
                </a:solidFill>
              </a:rPr>
              <a:t>计算属性</a:t>
            </a:r>
            <a:r>
              <a:rPr lang="en-US" altLang="zh-CN" sz="2000" i="1" dirty="0">
                <a:solidFill>
                  <a:srgbClr val="7030A0"/>
                </a:solidFill>
                <a:latin typeface="Times New Roman" pitchFamily="18" charset="0"/>
                <a:ea typeface="微软雅黑" pitchFamily="34" charset="-122"/>
                <a:cs typeface="Times New Roman" pitchFamily="18" charset="0"/>
              </a:rPr>
              <a:t>Temperature</a:t>
            </a:r>
            <a:r>
              <a:rPr lang="zh-CN" altLang="en-US" sz="2000" dirty="0">
                <a:solidFill>
                  <a:srgbClr val="7030A0"/>
                </a:solidFill>
              </a:rPr>
              <a:t>在不同取值进行切分情况下的基尼指数</a:t>
            </a:r>
            <a:r>
              <a:rPr lang="en-US" altLang="zh-CN" sz="2000" dirty="0">
                <a:solidFill>
                  <a:srgbClr val="7030A0"/>
                </a:solidFill>
              </a:rPr>
              <a:t>,</a:t>
            </a:r>
            <a:r>
              <a:rPr lang="zh-CN" altLang="en-US" sz="2000" dirty="0">
                <a:solidFill>
                  <a:srgbClr val="7030A0"/>
                </a:solidFill>
              </a:rPr>
              <a:t>确定</a:t>
            </a:r>
            <a:r>
              <a:rPr lang="zh-CN" altLang="en-US" sz="2000" i="1" dirty="0">
                <a:solidFill>
                  <a:srgbClr val="7030A0"/>
                </a:solidFill>
                <a:latin typeface="Times New Roman" pitchFamily="18" charset="0"/>
                <a:ea typeface="微软雅黑" pitchFamily="34" charset="-122"/>
                <a:cs typeface="Times New Roman" pitchFamily="18" charset="0"/>
              </a:rPr>
              <a:t>最优切分点</a:t>
            </a:r>
            <a:endParaRPr lang="en-US" altLang="zh-CN" sz="2000" dirty="0">
              <a:solidFill>
                <a:srgbClr val="7030A0"/>
              </a:solidFill>
            </a:endParaRPr>
          </a:p>
          <a:p>
            <a:endParaRPr lang="zh-CN" altLang="en-US" sz="2000" dirty="0">
              <a:solidFill>
                <a:srgbClr val="7030A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t>决策树的例子</a:t>
            </a:r>
          </a:p>
        </p:txBody>
      </p:sp>
      <p:sp>
        <p:nvSpPr>
          <p:cNvPr id="27651" name="Rectangle 3"/>
          <p:cNvSpPr>
            <a:spLocks noGrp="1" noChangeArrowheads="1"/>
          </p:cNvSpPr>
          <p:nvPr>
            <p:ph type="body" idx="1"/>
          </p:nvPr>
        </p:nvSpPr>
        <p:spPr/>
        <p:txBody>
          <a:bodyPr/>
          <a:lstStyle/>
          <a:p>
            <a:r>
              <a:rPr lang="zh-CN"/>
              <a:t>对于下面的数据，希望分割成红色和绿色两个类</a:t>
            </a:r>
          </a:p>
        </p:txBody>
      </p:sp>
      <p:pic>
        <p:nvPicPr>
          <p:cNvPr id="27652" name="Picture 4" descr="1"/>
          <p:cNvPicPr>
            <a:picLocks noChangeAspect="1" noChangeArrowheads="1"/>
          </p:cNvPicPr>
          <p:nvPr/>
        </p:nvPicPr>
        <p:blipFill>
          <a:blip r:embed="rId3" cstate="print"/>
          <a:srcRect/>
          <a:stretch>
            <a:fillRect/>
          </a:stretch>
        </p:blipFill>
        <p:spPr bwMode="auto">
          <a:xfrm>
            <a:off x="45070" y="1700808"/>
            <a:ext cx="4032250" cy="3673475"/>
          </a:xfrm>
          <a:prstGeom prst="rect">
            <a:avLst/>
          </a:prstGeom>
          <a:noFill/>
          <a:ln w="9525" cmpd="sng">
            <a:noFill/>
            <a:miter lim="800000"/>
            <a:headEnd/>
            <a:tailEnd/>
          </a:ln>
        </p:spPr>
      </p:pic>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56</a:t>
            </a:fld>
            <a:endParaRPr lang="en-US" altLang="zh-CN" dirty="0"/>
          </a:p>
        </p:txBody>
      </p:sp>
      <p:pic>
        <p:nvPicPr>
          <p:cNvPr id="7" name="Picture 3" descr="2"/>
          <p:cNvPicPr>
            <a:picLocks noChangeAspect="1" noChangeArrowheads="1"/>
          </p:cNvPicPr>
          <p:nvPr/>
        </p:nvPicPr>
        <p:blipFill>
          <a:blip r:embed="rId4" cstate="print"/>
          <a:srcRect/>
          <a:stretch>
            <a:fillRect/>
          </a:stretch>
        </p:blipFill>
        <p:spPr bwMode="auto">
          <a:xfrm>
            <a:off x="3925712" y="1715106"/>
            <a:ext cx="3760939" cy="3673475"/>
          </a:xfrm>
          <a:prstGeom prst="rect">
            <a:avLst/>
          </a:prstGeom>
          <a:noFill/>
          <a:ln w="9525" cmpd="sng">
            <a:noFill/>
            <a:miter lim="800000"/>
            <a:headEnd/>
            <a:tailEnd/>
          </a:ln>
        </p:spPr>
      </p:pic>
      <p:pic>
        <p:nvPicPr>
          <p:cNvPr id="8" name="Picture 3" descr="3"/>
          <p:cNvPicPr>
            <a:picLocks noChangeAspect="1" noChangeArrowheads="1"/>
          </p:cNvPicPr>
          <p:nvPr/>
        </p:nvPicPr>
        <p:blipFill>
          <a:blip r:embed="rId5" cstate="print"/>
          <a:srcRect/>
          <a:stretch>
            <a:fillRect/>
          </a:stretch>
        </p:blipFill>
        <p:spPr bwMode="auto">
          <a:xfrm>
            <a:off x="7686651" y="1654743"/>
            <a:ext cx="3815804" cy="3719540"/>
          </a:xfrm>
          <a:prstGeom prst="rect">
            <a:avLst/>
          </a:prstGeom>
          <a:noFill/>
          <a:ln w="9525" cmpd="sng">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t>决策树的生成过程</a:t>
            </a:r>
          </a:p>
        </p:txBody>
      </p:sp>
      <p:pic>
        <p:nvPicPr>
          <p:cNvPr id="31747" name="Picture 3" descr="5"/>
          <p:cNvPicPr>
            <a:picLocks noChangeAspect="1" noChangeArrowheads="1"/>
          </p:cNvPicPr>
          <p:nvPr/>
        </p:nvPicPr>
        <p:blipFill>
          <a:blip r:embed="rId3" cstate="print"/>
          <a:srcRect/>
          <a:stretch>
            <a:fillRect/>
          </a:stretch>
        </p:blipFill>
        <p:spPr bwMode="auto">
          <a:xfrm>
            <a:off x="3702968" y="1570485"/>
            <a:ext cx="3744416" cy="3896217"/>
          </a:xfrm>
          <a:prstGeom prst="rect">
            <a:avLst/>
          </a:prstGeom>
          <a:noFill/>
          <a:ln w="9525" cmpd="sng">
            <a:noFill/>
            <a:miter lim="800000"/>
            <a:headEnd/>
            <a:tailEnd/>
          </a:ln>
        </p:spPr>
      </p:pic>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57</a:t>
            </a:fld>
            <a:endParaRPr lang="en-US" altLang="zh-CN" dirty="0"/>
          </a:p>
        </p:txBody>
      </p:sp>
      <p:pic>
        <p:nvPicPr>
          <p:cNvPr id="6" name="Picture 3" descr="6"/>
          <p:cNvPicPr>
            <a:picLocks noChangeAspect="1" noChangeArrowheads="1"/>
          </p:cNvPicPr>
          <p:nvPr/>
        </p:nvPicPr>
        <p:blipFill>
          <a:blip r:embed="rId4" cstate="print"/>
          <a:srcRect/>
          <a:stretch>
            <a:fillRect/>
          </a:stretch>
        </p:blipFill>
        <p:spPr bwMode="auto">
          <a:xfrm>
            <a:off x="7464153" y="1466563"/>
            <a:ext cx="3895818" cy="4122677"/>
          </a:xfrm>
          <a:prstGeom prst="rect">
            <a:avLst/>
          </a:prstGeom>
          <a:noFill/>
          <a:ln w="9525" cmpd="sng">
            <a:noFill/>
            <a:miter lim="800000"/>
            <a:headEnd/>
            <a:tailEnd/>
          </a:ln>
        </p:spPr>
      </p:pic>
      <p:pic>
        <p:nvPicPr>
          <p:cNvPr id="9" name="Picture 4" descr="4"/>
          <p:cNvPicPr>
            <a:picLocks noChangeAspect="1" noChangeArrowheads="1"/>
          </p:cNvPicPr>
          <p:nvPr/>
        </p:nvPicPr>
        <p:blipFill>
          <a:blip r:embed="rId5" cstate="print"/>
          <a:srcRect/>
          <a:stretch>
            <a:fillRect/>
          </a:stretch>
        </p:blipFill>
        <p:spPr bwMode="auto">
          <a:xfrm>
            <a:off x="119336" y="1628800"/>
            <a:ext cx="3892185" cy="3779589"/>
          </a:xfrm>
          <a:prstGeom prst="rect">
            <a:avLst/>
          </a:prstGeom>
          <a:noFill/>
          <a:ln w="9525" cmpd="sng">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t>决策树的生成过程</a:t>
            </a:r>
          </a:p>
        </p:txBody>
      </p:sp>
      <p:pic>
        <p:nvPicPr>
          <p:cNvPr id="35843" name="Picture 3" descr="9"/>
          <p:cNvPicPr>
            <a:picLocks noChangeAspect="1" noChangeArrowheads="1"/>
          </p:cNvPicPr>
          <p:nvPr/>
        </p:nvPicPr>
        <p:blipFill>
          <a:blip r:embed="rId3" cstate="print"/>
          <a:srcRect/>
          <a:stretch>
            <a:fillRect/>
          </a:stretch>
        </p:blipFill>
        <p:spPr bwMode="auto">
          <a:xfrm>
            <a:off x="6816080" y="1566864"/>
            <a:ext cx="4632325" cy="4518025"/>
          </a:xfrm>
          <a:prstGeom prst="rect">
            <a:avLst/>
          </a:prstGeom>
          <a:noFill/>
          <a:ln w="9525">
            <a:noFill/>
            <a:miter lim="800000"/>
            <a:headEnd/>
            <a:tailEnd/>
          </a:ln>
        </p:spPr>
      </p:pic>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58</a:t>
            </a:fld>
            <a:endParaRPr lang="en-US" altLang="zh-CN" dirty="0"/>
          </a:p>
        </p:txBody>
      </p:sp>
      <p:pic>
        <p:nvPicPr>
          <p:cNvPr id="6" name="Picture 3" descr="7"/>
          <p:cNvPicPr>
            <a:picLocks noChangeAspect="1" noChangeArrowheads="1"/>
          </p:cNvPicPr>
          <p:nvPr/>
        </p:nvPicPr>
        <p:blipFill>
          <a:blip r:embed="rId4" cstate="print"/>
          <a:srcRect/>
          <a:stretch>
            <a:fillRect/>
          </a:stretch>
        </p:blipFill>
        <p:spPr bwMode="auto">
          <a:xfrm>
            <a:off x="1127448" y="1545532"/>
            <a:ext cx="4386263" cy="4286250"/>
          </a:xfrm>
          <a:prstGeom prst="rect">
            <a:avLst/>
          </a:prstGeom>
          <a:noFill/>
          <a:ln w="9525" cmpd="sng">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a:xfrm>
            <a:off x="407368" y="931559"/>
            <a:ext cx="8229600" cy="614363"/>
          </a:xfrm>
        </p:spPr>
        <p:txBody>
          <a:bodyPr/>
          <a:lstStyle/>
          <a:p>
            <a:r>
              <a:rPr lang="zh-CN" altLang="en-US" dirty="0">
                <a:solidFill>
                  <a:srgbClr val="2608DC"/>
                </a:solidFill>
              </a:rPr>
              <a:t>用验证数据进行剪枝</a:t>
            </a:r>
          </a:p>
        </p:txBody>
      </p:sp>
      <p:sp>
        <p:nvSpPr>
          <p:cNvPr id="37891" name="Rectangle 3"/>
          <p:cNvSpPr>
            <a:spLocks noGrp="1" noRot="1" noChangeArrowheads="1"/>
          </p:cNvSpPr>
          <p:nvPr>
            <p:ph type="body" idx="1"/>
          </p:nvPr>
        </p:nvSpPr>
        <p:spPr>
          <a:xfrm>
            <a:off x="1127448" y="1714521"/>
            <a:ext cx="9289032" cy="3886200"/>
          </a:xfrm>
        </p:spPr>
        <p:txBody>
          <a:bodyPr/>
          <a:lstStyle/>
          <a:p>
            <a:pPr algn="just">
              <a:lnSpc>
                <a:spcPct val="80000"/>
              </a:lnSpc>
            </a:pPr>
            <a:r>
              <a:rPr lang="en-US" altLang="zh-CN" sz="2400" dirty="0"/>
              <a:t>CART</a:t>
            </a:r>
            <a:r>
              <a:rPr lang="zh-CN" altLang="en-US" sz="2400" dirty="0"/>
              <a:t>过程中第二个关键的思想是用独立的验证数据集对根据训练集生成的树进行剪枝</a:t>
            </a:r>
            <a:r>
              <a:rPr lang="en-US" altLang="zh-CN" sz="2400" dirty="0"/>
              <a:t>.</a:t>
            </a:r>
          </a:p>
          <a:p>
            <a:pPr>
              <a:lnSpc>
                <a:spcPct val="80000"/>
              </a:lnSpc>
              <a:buFont typeface="Wingdings" pitchFamily="2" charset="2"/>
              <a:buNone/>
            </a:pPr>
            <a:endParaRPr lang="en-US" altLang="zh-CN" sz="2400" dirty="0"/>
          </a:p>
          <a:p>
            <a:pPr>
              <a:lnSpc>
                <a:spcPct val="80000"/>
              </a:lnSpc>
            </a:pPr>
            <a:r>
              <a:rPr lang="en-US" altLang="zh-CN" sz="2400" dirty="0"/>
              <a:t>CART</a:t>
            </a:r>
            <a:r>
              <a:rPr lang="zh-CN" altLang="en-US" sz="2400" dirty="0"/>
              <a:t>剪枝目的：生成一个具有</a:t>
            </a:r>
            <a:r>
              <a:rPr lang="zh-CN" altLang="en-US" sz="2400" dirty="0">
                <a:solidFill>
                  <a:srgbClr val="FF0000"/>
                </a:solidFill>
              </a:rPr>
              <a:t>最小错误的树</a:t>
            </a:r>
            <a:r>
              <a:rPr lang="en-US" altLang="zh-CN" sz="2400" dirty="0"/>
              <a:t>.</a:t>
            </a:r>
          </a:p>
          <a:p>
            <a:r>
              <a:rPr lang="en-US" altLang="zh-CN" sz="2400" dirty="0"/>
              <a:t>CART </a:t>
            </a:r>
            <a:r>
              <a:rPr lang="zh-CN" altLang="en-US" sz="2400" dirty="0"/>
              <a:t>剪枝方法   </a:t>
            </a:r>
          </a:p>
          <a:p>
            <a:pPr>
              <a:buFont typeface="Wingdings" pitchFamily="2" charset="2"/>
              <a:buNone/>
            </a:pPr>
            <a:r>
              <a:rPr lang="zh-CN" altLang="en-US" sz="2400" dirty="0"/>
              <a:t>     用“成本复杂性”标准来剪枝，成本复杂性标准是分类树的简单误分</a:t>
            </a:r>
            <a:r>
              <a:rPr lang="en-US" altLang="zh-CN" sz="2400" dirty="0"/>
              <a:t>(</a:t>
            </a:r>
            <a:r>
              <a:rPr lang="zh-CN" altLang="en-US" sz="2400" dirty="0"/>
              <a:t>基于验证数据的</a:t>
            </a:r>
            <a:r>
              <a:rPr lang="en-US" altLang="zh-CN" sz="2400" dirty="0"/>
              <a:t>) </a:t>
            </a:r>
            <a:r>
              <a:rPr lang="zh-CN" altLang="en-US" sz="2400" dirty="0"/>
              <a:t>加上一个对树的大小的惩罚因素</a:t>
            </a:r>
            <a:r>
              <a:rPr lang="en-US" altLang="zh-CN" sz="2400" dirty="0"/>
              <a:t>.</a:t>
            </a:r>
          </a:p>
          <a:p>
            <a:pPr>
              <a:buFont typeface="Wingdings" pitchFamily="2" charset="2"/>
              <a:buNone/>
            </a:pPr>
            <a:r>
              <a:rPr lang="en-US" altLang="zh-CN" sz="2400" dirty="0"/>
              <a:t>    </a:t>
            </a:r>
            <a:r>
              <a:rPr lang="zh-CN" altLang="en-US" sz="2400" dirty="0"/>
              <a:t>即成本复杂性标准为</a:t>
            </a:r>
            <a:r>
              <a:rPr lang="en-US" altLang="zh-CN" sz="2400" dirty="0"/>
              <a:t>Err(T)+</a:t>
            </a:r>
            <a:r>
              <a:rPr lang="en-US" altLang="zh-CN" sz="2400" dirty="0" err="1"/>
              <a:t>α|L</a:t>
            </a:r>
            <a:r>
              <a:rPr lang="en-US" altLang="zh-CN" sz="2400" dirty="0"/>
              <a:t>(T)|</a:t>
            </a:r>
            <a:r>
              <a:rPr lang="zh-CN" altLang="en-US" sz="2400" dirty="0"/>
              <a:t>，其中</a:t>
            </a:r>
            <a:r>
              <a:rPr lang="en-US" altLang="zh-CN" sz="2400" dirty="0"/>
              <a:t>:</a:t>
            </a:r>
          </a:p>
          <a:p>
            <a:pPr>
              <a:buFont typeface="Wingdings" pitchFamily="2" charset="2"/>
              <a:buNone/>
            </a:pPr>
            <a:r>
              <a:rPr lang="en-US" altLang="zh-CN" sz="2400" dirty="0"/>
              <a:t>                Err(T)</a:t>
            </a:r>
            <a:r>
              <a:rPr lang="zh-CN" altLang="en-US" sz="2400" dirty="0"/>
              <a:t>是验证数据被树误分部分</a:t>
            </a:r>
            <a:r>
              <a:rPr lang="en-US" altLang="zh-CN" sz="2400" dirty="0"/>
              <a:t>;</a:t>
            </a:r>
          </a:p>
          <a:p>
            <a:pPr>
              <a:buFont typeface="Wingdings" pitchFamily="2" charset="2"/>
              <a:buNone/>
            </a:pPr>
            <a:r>
              <a:rPr lang="en-US" altLang="zh-CN" sz="2400" dirty="0"/>
              <a:t>                L(T)</a:t>
            </a:r>
            <a:r>
              <a:rPr lang="zh-CN" altLang="en-US" sz="2400" dirty="0"/>
              <a:t>是树</a:t>
            </a:r>
            <a:r>
              <a:rPr lang="en-US" altLang="zh-CN" sz="2400" dirty="0"/>
              <a:t>T</a:t>
            </a:r>
            <a:r>
              <a:rPr lang="zh-CN" altLang="en-US" sz="2400" dirty="0"/>
              <a:t>的叶节点数</a:t>
            </a:r>
            <a:r>
              <a:rPr lang="en-US" altLang="zh-CN" sz="2400" dirty="0"/>
              <a:t>;</a:t>
            </a:r>
          </a:p>
          <a:p>
            <a:pPr>
              <a:buFont typeface="Wingdings" pitchFamily="2" charset="2"/>
              <a:buNone/>
            </a:pPr>
            <a:r>
              <a:rPr lang="en-US" altLang="zh-CN" sz="2400" dirty="0"/>
              <a:t>               α</a:t>
            </a:r>
            <a:r>
              <a:rPr lang="zh-CN" altLang="en-US" sz="2400" dirty="0"/>
              <a:t>是每个节点惩罚成本</a:t>
            </a:r>
            <a:r>
              <a:rPr lang="en-US" altLang="zh-CN" sz="2400" dirty="0"/>
              <a:t>, α</a:t>
            </a:r>
            <a:r>
              <a:rPr lang="zh-CN" altLang="en-US" sz="2400" dirty="0"/>
              <a:t>的值大于等于</a:t>
            </a:r>
            <a:r>
              <a:rPr lang="en-US" altLang="zh-CN" sz="2400" dirty="0"/>
              <a:t>0</a:t>
            </a:r>
          </a:p>
          <a:p>
            <a:pPr>
              <a:lnSpc>
                <a:spcPct val="80000"/>
              </a:lnSpc>
            </a:pPr>
            <a:endParaRPr lang="en-US" altLang="zh-CN" sz="2400" dirty="0"/>
          </a:p>
          <a:p>
            <a:pPr>
              <a:lnSpc>
                <a:spcPct val="80000"/>
              </a:lnSpc>
              <a:buFont typeface="Wingdings" pitchFamily="2" charset="2"/>
              <a:buNone/>
            </a:pPr>
            <a:endParaRPr lang="en-US" altLang="zh-CN" sz="2400" dirty="0"/>
          </a:p>
        </p:txBody>
      </p:sp>
      <p:sp>
        <p:nvSpPr>
          <p:cNvPr id="4" name="Text Box 7"/>
          <p:cNvSpPr txBox="1">
            <a:spLocks noChangeArrowheads="1"/>
          </p:cNvSpPr>
          <p:nvPr/>
        </p:nvSpPr>
        <p:spPr bwMode="auto">
          <a:xfrm>
            <a:off x="1981201" y="68061"/>
            <a:ext cx="5870197" cy="646331"/>
          </a:xfrm>
          <a:prstGeom prst="rect">
            <a:avLst/>
          </a:prstGeom>
          <a:noFill/>
          <a:ln w="9525">
            <a:noFill/>
            <a:miter lim="800000"/>
            <a:headEnd/>
            <a:tailEnd/>
          </a:ln>
        </p:spPr>
        <p:txBody>
          <a:bodyPr wrap="none">
            <a:spAutoFit/>
          </a:bodyPr>
          <a:lstStyle/>
          <a:p>
            <a:r>
              <a:rPr lang="zh-CN" altLang="en-US" sz="3600" dirty="0">
                <a:solidFill>
                  <a:srgbClr val="FF0000"/>
                </a:solidFill>
              </a:rPr>
              <a:t>决策树算法</a:t>
            </a:r>
            <a:r>
              <a:rPr lang="en-US" altLang="zh-CN" sz="3600" dirty="0">
                <a:solidFill>
                  <a:srgbClr val="FF0000"/>
                </a:solidFill>
              </a:rPr>
              <a:t>- CART</a:t>
            </a:r>
            <a:r>
              <a:rPr lang="zh-CN" altLang="en-US" sz="3600" dirty="0">
                <a:solidFill>
                  <a:srgbClr val="FF0000"/>
                </a:solidFill>
              </a:rPr>
              <a:t>（剪枝）</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59</a:t>
            </a:fld>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Rot="1" noChangeArrowheads="1"/>
          </p:cNvSpPr>
          <p:nvPr>
            <p:ph type="body" idx="1"/>
          </p:nvPr>
        </p:nvSpPr>
        <p:spPr>
          <a:xfrm>
            <a:off x="879494" y="1048207"/>
            <a:ext cx="9335266" cy="5549900"/>
          </a:xfrm>
        </p:spPr>
        <p:txBody>
          <a:bodyPr/>
          <a:lstStyle/>
          <a:p>
            <a:pPr algn="just">
              <a:lnSpc>
                <a:spcPct val="90000"/>
              </a:lnSpc>
            </a:pPr>
            <a:r>
              <a:rPr lang="en-US" altLang="zh-CN" sz="2400" dirty="0"/>
              <a:t>CCP</a:t>
            </a:r>
            <a:r>
              <a:rPr lang="zh-CN" altLang="en-US" sz="2400" dirty="0"/>
              <a:t> </a:t>
            </a:r>
            <a:r>
              <a:rPr lang="en-US" altLang="zh-CN" sz="2400" dirty="0"/>
              <a:t>(Cost-Complexity Pruning) </a:t>
            </a:r>
            <a:r>
              <a:rPr lang="zh-CN" altLang="en-US" sz="2400" dirty="0"/>
              <a:t>计算代价复杂度剪枝</a:t>
            </a:r>
            <a:endParaRPr lang="en-US" altLang="zh-CN" sz="2400" dirty="0"/>
          </a:p>
          <a:p>
            <a:pPr marL="0" indent="0" algn="just">
              <a:lnSpc>
                <a:spcPct val="90000"/>
              </a:lnSpc>
              <a:buNone/>
            </a:pPr>
            <a:r>
              <a:rPr lang="en-US" altLang="zh-CN" sz="2400" dirty="0"/>
              <a:t> </a:t>
            </a:r>
          </a:p>
          <a:p>
            <a:pPr algn="just"/>
            <a:r>
              <a:rPr lang="zh-CN" altLang="en-US" sz="2400" dirty="0"/>
              <a:t>对于分类回归树中的每一个非叶子节点计算它的表面误差率增益值</a:t>
            </a:r>
            <a:r>
              <a:rPr lang="en-US" altLang="zh-CN" sz="2400" dirty="0"/>
              <a:t>α</a:t>
            </a:r>
            <a:r>
              <a:rPr lang="zh-CN" altLang="en-US" sz="2400" dirty="0"/>
              <a:t>。</a:t>
            </a:r>
            <a:endParaRPr lang="en-US" altLang="zh-CN" sz="2400" dirty="0"/>
          </a:p>
          <a:p>
            <a:pPr algn="just"/>
            <a:endParaRPr lang="en-US" altLang="zh-CN" sz="2400" dirty="0"/>
          </a:p>
          <a:p>
            <a:pPr algn="just"/>
            <a:endParaRPr lang="en-US" altLang="zh-CN" sz="2400" dirty="0"/>
          </a:p>
          <a:p>
            <a:pPr algn="just"/>
            <a:r>
              <a:rPr lang="zh-CN" altLang="en-US" sz="2400" dirty="0"/>
              <a:t>       是子树中包含的叶子节点个数</a:t>
            </a:r>
            <a:r>
              <a:rPr lang="en-US" altLang="zh-CN" sz="2400" dirty="0"/>
              <a:t>;</a:t>
            </a:r>
          </a:p>
          <a:p>
            <a:pPr algn="just"/>
            <a:r>
              <a:rPr lang="en-US" altLang="zh-CN" sz="2400" dirty="0">
                <a:solidFill>
                  <a:srgbClr val="FF0000"/>
                </a:solidFill>
              </a:rPr>
              <a:t>R(t)</a:t>
            </a:r>
            <a:r>
              <a:rPr lang="zh-CN" altLang="en-US" sz="2400" dirty="0">
                <a:solidFill>
                  <a:srgbClr val="FF0000"/>
                </a:solidFill>
              </a:rPr>
              <a:t>是节点</a:t>
            </a:r>
            <a:r>
              <a:rPr lang="en-US" altLang="zh-CN" sz="2400" dirty="0">
                <a:solidFill>
                  <a:srgbClr val="FF0000"/>
                </a:solidFill>
              </a:rPr>
              <a:t>t</a:t>
            </a:r>
            <a:r>
              <a:rPr lang="zh-CN" altLang="en-US" sz="2400" dirty="0">
                <a:solidFill>
                  <a:srgbClr val="FF0000"/>
                </a:solidFill>
              </a:rPr>
              <a:t>的误差代价</a:t>
            </a:r>
            <a:r>
              <a:rPr lang="en-US" altLang="zh-CN" sz="2400" dirty="0"/>
              <a:t>(</a:t>
            </a:r>
            <a:r>
              <a:rPr lang="zh-CN" altLang="en-US" sz="2400" kern="1200" dirty="0"/>
              <a:t>节点的预测误差</a:t>
            </a:r>
            <a:r>
              <a:rPr lang="en-US" altLang="zh-CN" sz="2400" dirty="0"/>
              <a:t>)</a:t>
            </a:r>
            <a:r>
              <a:rPr lang="zh-CN" altLang="en-US" sz="2400" dirty="0"/>
              <a:t>，如果该节点被剪枝</a:t>
            </a:r>
            <a:r>
              <a:rPr lang="en-US" altLang="zh-CN" sz="2400" dirty="0"/>
              <a:t>, R(t)=r(t)*p(t)</a:t>
            </a:r>
            <a:r>
              <a:rPr lang="zh-CN" altLang="en-US" sz="2400" dirty="0"/>
              <a:t>；   其中， </a:t>
            </a:r>
            <a:r>
              <a:rPr lang="en-US" altLang="zh-CN" sz="2400" dirty="0"/>
              <a:t>r(t)</a:t>
            </a:r>
            <a:r>
              <a:rPr lang="zh-CN" altLang="en-US" sz="2400" dirty="0"/>
              <a:t>是节点</a:t>
            </a:r>
            <a:r>
              <a:rPr lang="en-US" altLang="zh-CN" sz="2400" dirty="0"/>
              <a:t>t</a:t>
            </a:r>
            <a:r>
              <a:rPr lang="zh-CN" altLang="en-US" sz="2400" dirty="0"/>
              <a:t>的误差率</a:t>
            </a:r>
            <a:r>
              <a:rPr lang="en-US" altLang="zh-CN" sz="2400" dirty="0"/>
              <a:t>; p(t)</a:t>
            </a:r>
            <a:r>
              <a:rPr lang="zh-CN" altLang="en-US" sz="2400" dirty="0"/>
              <a:t>是节点</a:t>
            </a:r>
            <a:r>
              <a:rPr lang="en-US" altLang="zh-CN" sz="2400" dirty="0"/>
              <a:t>t</a:t>
            </a:r>
            <a:r>
              <a:rPr lang="zh-CN" altLang="en-US" sz="2400" dirty="0"/>
              <a:t>上的数据占所有数据的比例。</a:t>
            </a:r>
          </a:p>
          <a:p>
            <a:pPr algn="just"/>
            <a:r>
              <a:rPr lang="en-US" altLang="zh-CN" sz="2400" dirty="0">
                <a:solidFill>
                  <a:srgbClr val="FF0000"/>
                </a:solidFill>
              </a:rPr>
              <a:t>R(T</a:t>
            </a:r>
            <a:r>
              <a:rPr lang="en-US" altLang="zh-CN" sz="1800" dirty="0">
                <a:solidFill>
                  <a:srgbClr val="FF0000"/>
                </a:solidFill>
              </a:rPr>
              <a:t>t</a:t>
            </a:r>
            <a:r>
              <a:rPr lang="en-US" altLang="zh-CN" sz="2400" dirty="0">
                <a:solidFill>
                  <a:srgbClr val="FF0000"/>
                </a:solidFill>
              </a:rPr>
              <a:t>)</a:t>
            </a:r>
            <a:r>
              <a:rPr lang="zh-CN" altLang="en-US" sz="2400" dirty="0">
                <a:solidFill>
                  <a:srgbClr val="FF0000"/>
                </a:solidFill>
              </a:rPr>
              <a:t>是子树</a:t>
            </a:r>
            <a:r>
              <a:rPr lang="en-US" altLang="zh-CN" sz="2400" dirty="0">
                <a:solidFill>
                  <a:srgbClr val="FF0000"/>
                </a:solidFill>
              </a:rPr>
              <a:t>T</a:t>
            </a:r>
            <a:r>
              <a:rPr lang="en-US" altLang="zh-CN" sz="2400" baseline="-25000" dirty="0">
                <a:solidFill>
                  <a:srgbClr val="FF0000"/>
                </a:solidFill>
              </a:rPr>
              <a:t>t</a:t>
            </a:r>
            <a:r>
              <a:rPr lang="zh-CN" altLang="en-US" sz="2400" dirty="0">
                <a:solidFill>
                  <a:srgbClr val="FF0000"/>
                </a:solidFill>
              </a:rPr>
              <a:t>的误差代价</a:t>
            </a:r>
            <a:r>
              <a:rPr lang="en-US" altLang="zh-CN" sz="2400" dirty="0"/>
              <a:t>(</a:t>
            </a:r>
            <a:r>
              <a:rPr lang="zh-CN" altLang="en-US" sz="2400" dirty="0"/>
              <a:t>子树的预测误差</a:t>
            </a:r>
            <a:r>
              <a:rPr lang="en-US" altLang="zh-CN" sz="2400" dirty="0"/>
              <a:t>)</a:t>
            </a:r>
            <a:r>
              <a:rPr lang="zh-CN" altLang="en-US" sz="2400" dirty="0"/>
              <a:t>，如果该节点不被剪枝。它等于子树</a:t>
            </a:r>
            <a:r>
              <a:rPr lang="en-US" altLang="zh-CN" sz="2400" dirty="0"/>
              <a:t>T</a:t>
            </a:r>
            <a:r>
              <a:rPr lang="en-US" altLang="zh-CN" sz="2400" baseline="-25000" dirty="0"/>
              <a:t>t</a:t>
            </a:r>
            <a:r>
              <a:rPr lang="zh-CN" altLang="en-US" sz="2400" dirty="0"/>
              <a:t>上所有叶子节点的误差代价之和</a:t>
            </a:r>
            <a:endParaRPr lang="en-US" altLang="zh-CN" sz="2400" dirty="0"/>
          </a:p>
        </p:txBody>
      </p:sp>
      <p:graphicFrame>
        <p:nvGraphicFramePr>
          <p:cNvPr id="13314" name="Object 2"/>
          <p:cNvGraphicFramePr>
            <a:graphicFrameLocks noChangeAspect="1"/>
          </p:cNvGraphicFramePr>
          <p:nvPr>
            <p:extLst>
              <p:ext uri="{D42A27DB-BD31-4B8C-83A1-F6EECF244321}">
                <p14:modId xmlns:p14="http://schemas.microsoft.com/office/powerpoint/2010/main" val="3794980185"/>
              </p:ext>
            </p:extLst>
          </p:nvPr>
        </p:nvGraphicFramePr>
        <p:xfrm>
          <a:off x="2946211" y="2398118"/>
          <a:ext cx="1970088" cy="909637"/>
        </p:xfrm>
        <a:graphic>
          <a:graphicData uri="http://schemas.openxmlformats.org/presentationml/2006/ole">
            <mc:AlternateContent xmlns:mc="http://schemas.openxmlformats.org/markup-compatibility/2006">
              <mc:Choice xmlns:v="urn:schemas-microsoft-com:vml" Requires="v">
                <p:oleObj spid="_x0000_s425166" name="Equation" r:id="rId4" imgW="1346200" imgH="622300" progId="Equation.DSMT4">
                  <p:embed/>
                </p:oleObj>
              </mc:Choice>
              <mc:Fallback>
                <p:oleObj name="Equation" r:id="rId4" imgW="1346200" imgH="62230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6211" y="2398118"/>
                        <a:ext cx="1970088" cy="9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5" name="Object 3"/>
          <p:cNvGraphicFramePr>
            <a:graphicFrameLocks noChangeAspect="1"/>
          </p:cNvGraphicFramePr>
          <p:nvPr>
            <p:extLst>
              <p:ext uri="{D42A27DB-BD31-4B8C-83A1-F6EECF244321}">
                <p14:modId xmlns:p14="http://schemas.microsoft.com/office/powerpoint/2010/main" val="4204133956"/>
              </p:ext>
            </p:extLst>
          </p:nvPr>
        </p:nvGraphicFramePr>
        <p:xfrm>
          <a:off x="1199456" y="3429000"/>
          <a:ext cx="571500" cy="571500"/>
        </p:xfrm>
        <a:graphic>
          <a:graphicData uri="http://schemas.openxmlformats.org/presentationml/2006/ole">
            <mc:AlternateContent xmlns:mc="http://schemas.openxmlformats.org/markup-compatibility/2006">
              <mc:Choice xmlns:v="urn:schemas-microsoft-com:vml" Requires="v">
                <p:oleObj spid="_x0000_s425167" name="Equation" r:id="rId6" imgW="355292" imgH="355292" progId="Equation.DSMT4">
                  <p:embed/>
                </p:oleObj>
              </mc:Choice>
              <mc:Fallback>
                <p:oleObj name="Equation" r:id="rId6" imgW="355292" imgH="355292"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9456" y="3429000"/>
                        <a:ext cx="571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60</a:t>
            </a:fld>
            <a:endParaRPr lang="en-US" altLang="zh-CN" dirty="0"/>
          </a:p>
        </p:txBody>
      </p:sp>
      <p:sp>
        <p:nvSpPr>
          <p:cNvPr id="7" name="Text Box 7"/>
          <p:cNvSpPr txBox="1">
            <a:spLocks noChangeArrowheads="1"/>
          </p:cNvSpPr>
          <p:nvPr/>
        </p:nvSpPr>
        <p:spPr bwMode="auto">
          <a:xfrm>
            <a:off x="1981201" y="68061"/>
            <a:ext cx="5870197" cy="646331"/>
          </a:xfrm>
          <a:prstGeom prst="rect">
            <a:avLst/>
          </a:prstGeom>
          <a:noFill/>
          <a:ln w="9525">
            <a:noFill/>
            <a:miter lim="800000"/>
            <a:headEnd/>
            <a:tailEnd/>
          </a:ln>
        </p:spPr>
        <p:txBody>
          <a:bodyPr wrap="none">
            <a:spAutoFit/>
          </a:bodyPr>
          <a:lstStyle/>
          <a:p>
            <a:r>
              <a:rPr lang="zh-CN" altLang="en-US" sz="3600" dirty="0">
                <a:solidFill>
                  <a:srgbClr val="FF0000"/>
                </a:solidFill>
              </a:rPr>
              <a:t>决策树算法</a:t>
            </a:r>
            <a:r>
              <a:rPr lang="en-US" altLang="zh-CN" sz="3600" dirty="0">
                <a:solidFill>
                  <a:srgbClr val="FF0000"/>
                </a:solidFill>
              </a:rPr>
              <a:t>- CART</a:t>
            </a:r>
            <a:r>
              <a:rPr lang="zh-CN" altLang="en-US" sz="3600" dirty="0">
                <a:solidFill>
                  <a:srgbClr val="FF0000"/>
                </a:solidFill>
              </a:rPr>
              <a:t>（剪枝）</a:t>
            </a:r>
          </a:p>
        </p:txBody>
      </p:sp>
      <p:sp>
        <p:nvSpPr>
          <p:cNvPr id="2" name="矩形 1"/>
          <p:cNvSpPr/>
          <p:nvPr/>
        </p:nvSpPr>
        <p:spPr>
          <a:xfrm>
            <a:off x="7285352" y="2529770"/>
            <a:ext cx="2944688" cy="646331"/>
          </a:xfrm>
          <a:prstGeom prst="rect">
            <a:avLst/>
          </a:prstGeom>
          <a:ln cmpd="sng">
            <a:solidFill>
              <a:srgbClr val="FF0000"/>
            </a:solidFill>
            <a:prstDash val="dash"/>
          </a:ln>
        </p:spPr>
        <p:txBody>
          <a:bodyPr wrap="square">
            <a:spAutoFit/>
          </a:bodyPr>
          <a:lstStyle/>
          <a:p>
            <a:r>
              <a:rPr lang="en-US" altLang="zh-CN" dirty="0"/>
              <a:t>α</a:t>
            </a:r>
            <a:r>
              <a:rPr lang="zh-CN" altLang="en-US" dirty="0"/>
              <a:t>则表示剪枝后树的复杂度降低程度与代价间的关系</a:t>
            </a:r>
          </a:p>
        </p:txBody>
      </p:sp>
      <p:sp>
        <p:nvSpPr>
          <p:cNvPr id="8" name="矩形 2"/>
          <p:cNvSpPr>
            <a:spLocks noChangeArrowheads="1"/>
          </p:cNvSpPr>
          <p:nvPr/>
        </p:nvSpPr>
        <p:spPr bwMode="auto">
          <a:xfrm>
            <a:off x="10910010" y="1268760"/>
            <a:ext cx="1214437" cy="523220"/>
          </a:xfrm>
          <a:prstGeom prst="rect">
            <a:avLst/>
          </a:prstGeom>
          <a:noFill/>
          <a:ln w="9525">
            <a:solidFill>
              <a:srgbClr val="FF0000"/>
            </a:solidFill>
            <a:miter lim="800000"/>
            <a:headEnd/>
            <a:tailEnd/>
          </a:ln>
        </p:spPr>
        <p:txBody>
          <a:bodyPr>
            <a:spAutoFit/>
          </a:bodyPr>
          <a:lstStyle/>
          <a:p>
            <a:pPr algn="ctr"/>
            <a:r>
              <a:rPr lang="zh-CN" altLang="en-US" sz="2800" b="1" dirty="0">
                <a:solidFill>
                  <a:srgbClr val="FF0000"/>
                </a:solidFill>
                <a:latin typeface="楷体_GB2312" pitchFamily="49" charset="-122"/>
                <a:ea typeface="楷体_GB2312" pitchFamily="49" charset="-122"/>
              </a:rPr>
              <a:t>自习</a:t>
            </a:r>
            <a:endParaRPr lang="zh-CN" altLang="en-US" sz="2800"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p:cNvSpPr>
            <a:spLocks noGrp="1"/>
          </p:cNvSpPr>
          <p:nvPr>
            <p:ph type="title"/>
          </p:nvPr>
        </p:nvSpPr>
        <p:spPr>
          <a:xfrm>
            <a:off x="1881188" y="116632"/>
            <a:ext cx="8501062" cy="2714646"/>
          </a:xfrm>
          <a:solidFill>
            <a:schemeClr val="bg1"/>
          </a:solidFill>
        </p:spPr>
        <p:txBody>
          <a:bodyPr/>
          <a:lstStyle/>
          <a:p>
            <a:r>
              <a:rPr lang="zh-CN" altLang="en-US" sz="2400" dirty="0"/>
              <a:t>比如有个非叶子节点</a:t>
            </a:r>
            <a:r>
              <a:rPr lang="en-US" altLang="zh-CN" sz="2400" dirty="0"/>
              <a:t>t4</a:t>
            </a:r>
            <a:r>
              <a:rPr lang="zh-CN" altLang="en-US" sz="2400" dirty="0"/>
              <a:t>如图所示</a:t>
            </a:r>
            <a:r>
              <a:rPr lang="en-US" altLang="zh-CN" sz="2400" dirty="0"/>
              <a:t>:</a:t>
            </a:r>
            <a:br>
              <a:rPr lang="en-US" altLang="zh-CN" sz="2400" dirty="0"/>
            </a:br>
            <a:r>
              <a:rPr lang="zh-CN" altLang="en-US" sz="2400" dirty="0"/>
              <a:t>已知所有的数据总共有</a:t>
            </a:r>
            <a:r>
              <a:rPr lang="en-US" altLang="zh-CN" sz="2400" dirty="0"/>
              <a:t>60</a:t>
            </a:r>
            <a:r>
              <a:rPr lang="zh-CN" altLang="en-US" sz="2400" dirty="0"/>
              <a:t>条，则节点</a:t>
            </a:r>
            <a:r>
              <a:rPr lang="en-US" altLang="zh-CN" sz="2400" dirty="0"/>
              <a:t>t4</a:t>
            </a:r>
            <a:r>
              <a:rPr lang="zh-CN" altLang="en-US" sz="2400" dirty="0"/>
              <a:t>的节点误差代价为：</a:t>
            </a:r>
            <a:br>
              <a:rPr lang="en-US" altLang="zh-CN" sz="2400" dirty="0"/>
            </a:br>
            <a:br>
              <a:rPr lang="en-US" altLang="zh-CN" sz="2400" dirty="0"/>
            </a:br>
            <a:br>
              <a:rPr lang="zh-CN" altLang="en-US" sz="2400" dirty="0"/>
            </a:br>
            <a:r>
              <a:rPr lang="zh-CN" altLang="en-US" sz="2400" dirty="0"/>
              <a:t>子树误差代价为：</a:t>
            </a:r>
            <a:br>
              <a:rPr lang="en-US" altLang="zh-CN" sz="2400" dirty="0"/>
            </a:br>
            <a:br>
              <a:rPr lang="en-US" altLang="zh-CN" sz="2400" dirty="0"/>
            </a:br>
            <a:br>
              <a:rPr lang="zh-CN" altLang="en-US" sz="2400" dirty="0"/>
            </a:br>
            <a:endParaRPr lang="zh-CN" altLang="en-US" sz="2400" dirty="0"/>
          </a:p>
        </p:txBody>
      </p:sp>
      <p:pic>
        <p:nvPicPr>
          <p:cNvPr id="14343" name="Picture 2"/>
          <p:cNvPicPr>
            <a:picLocks noChangeAspect="1" noChangeArrowheads="1"/>
          </p:cNvPicPr>
          <p:nvPr/>
        </p:nvPicPr>
        <p:blipFill>
          <a:blip r:embed="rId4" cstate="print"/>
          <a:srcRect/>
          <a:stretch>
            <a:fillRect/>
          </a:stretch>
        </p:blipFill>
        <p:spPr bwMode="auto">
          <a:xfrm>
            <a:off x="6318250" y="2435990"/>
            <a:ext cx="4349750" cy="4038600"/>
          </a:xfrm>
          <a:prstGeom prst="rect">
            <a:avLst/>
          </a:prstGeom>
          <a:noFill/>
          <a:ln w="9525">
            <a:noFill/>
            <a:miter lim="800000"/>
            <a:headEnd/>
            <a:tailEnd/>
          </a:ln>
        </p:spPr>
      </p:pic>
      <p:graphicFrame>
        <p:nvGraphicFramePr>
          <p:cNvPr id="14338" name="Object 3"/>
          <p:cNvGraphicFramePr>
            <a:graphicFrameLocks noChangeAspect="1"/>
          </p:cNvGraphicFramePr>
          <p:nvPr>
            <p:extLst>
              <p:ext uri="{D42A27DB-BD31-4B8C-83A1-F6EECF244321}">
                <p14:modId xmlns:p14="http://schemas.microsoft.com/office/powerpoint/2010/main" val="2451373684"/>
              </p:ext>
            </p:extLst>
          </p:nvPr>
        </p:nvGraphicFramePr>
        <p:xfrm>
          <a:off x="2095501" y="831029"/>
          <a:ext cx="3736975" cy="706437"/>
        </p:xfrm>
        <a:graphic>
          <a:graphicData uri="http://schemas.openxmlformats.org/presentationml/2006/ole">
            <mc:AlternateContent xmlns:mc="http://schemas.openxmlformats.org/markup-compatibility/2006">
              <mc:Choice xmlns:v="urn:schemas-microsoft-com:vml" Requires="v">
                <p:oleObj spid="_x0000_s426386" name="Equation" r:id="rId5" imgW="2552700" imgH="482600" progId="Equation.DSMT4">
                  <p:embed/>
                </p:oleObj>
              </mc:Choice>
              <mc:Fallback>
                <p:oleObj name="Equation" r:id="rId5" imgW="2552700" imgH="482600" progId="Equation.DSMT4">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5501" y="831029"/>
                        <a:ext cx="3736975"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4"/>
          <p:cNvGraphicFramePr>
            <a:graphicFrameLocks noChangeAspect="1"/>
          </p:cNvGraphicFramePr>
          <p:nvPr>
            <p:extLst>
              <p:ext uri="{D42A27DB-BD31-4B8C-83A1-F6EECF244321}">
                <p14:modId xmlns:p14="http://schemas.microsoft.com/office/powerpoint/2010/main" val="576514721"/>
              </p:ext>
            </p:extLst>
          </p:nvPr>
        </p:nvGraphicFramePr>
        <p:xfrm>
          <a:off x="1952625" y="1902591"/>
          <a:ext cx="5911850" cy="779463"/>
        </p:xfrm>
        <a:graphic>
          <a:graphicData uri="http://schemas.openxmlformats.org/presentationml/2006/ole">
            <mc:AlternateContent xmlns:mc="http://schemas.openxmlformats.org/markup-compatibility/2006">
              <mc:Choice xmlns:v="urn:schemas-microsoft-com:vml" Requires="v">
                <p:oleObj spid="_x0000_s426387" name="Equation" r:id="rId7" imgW="4038600" imgH="533400" progId="Equation.DSMT4">
                  <p:embed/>
                </p:oleObj>
              </mc:Choice>
              <mc:Fallback>
                <p:oleObj name="Equation" r:id="rId7" imgW="4038600" imgH="533400" progId="Equation.DSMT4">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625" y="1902591"/>
                        <a:ext cx="591185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4" name="矩形 6"/>
          <p:cNvSpPr>
            <a:spLocks noChangeArrowheads="1"/>
          </p:cNvSpPr>
          <p:nvPr/>
        </p:nvSpPr>
        <p:spPr bwMode="auto">
          <a:xfrm>
            <a:off x="1952625" y="2688404"/>
            <a:ext cx="4572000" cy="3786187"/>
          </a:xfrm>
          <a:prstGeom prst="rect">
            <a:avLst/>
          </a:prstGeom>
          <a:noFill/>
          <a:ln w="9525">
            <a:noFill/>
            <a:miter lim="800000"/>
            <a:headEnd/>
            <a:tailEnd/>
          </a:ln>
        </p:spPr>
        <p:txBody>
          <a:bodyPr>
            <a:spAutoFit/>
          </a:bodyPr>
          <a:lstStyle/>
          <a:p>
            <a:r>
              <a:rPr lang="zh-CN" altLang="en-US" sz="2400"/>
              <a:t>以</a:t>
            </a:r>
            <a:r>
              <a:rPr lang="en-US" altLang="zh-CN" sz="2400"/>
              <a:t>t4</a:t>
            </a:r>
            <a:r>
              <a:rPr lang="zh-CN" altLang="en-US" sz="2400"/>
              <a:t>为根节点的子树上叶子节点有</a:t>
            </a:r>
            <a:r>
              <a:rPr lang="en-US" altLang="zh-CN" sz="2400"/>
              <a:t>3</a:t>
            </a:r>
            <a:r>
              <a:rPr lang="zh-CN" altLang="en-US" sz="2400"/>
              <a:t>个，最终：</a:t>
            </a:r>
            <a:endParaRPr lang="en-US" altLang="zh-CN" sz="2400"/>
          </a:p>
          <a:p>
            <a:br>
              <a:rPr lang="en-US" altLang="zh-CN" sz="2400"/>
            </a:br>
            <a:br>
              <a:rPr lang="en-US" altLang="zh-CN" sz="2400"/>
            </a:br>
            <a:br>
              <a:rPr lang="zh-CN" altLang="en-US" sz="2400"/>
            </a:br>
            <a:r>
              <a:rPr lang="zh-CN" altLang="en-US" sz="2400"/>
              <a:t>找到</a:t>
            </a:r>
            <a:r>
              <a:rPr lang="en-US" altLang="zh-CN" sz="2400"/>
              <a:t>α</a:t>
            </a:r>
            <a:r>
              <a:rPr lang="zh-CN" altLang="en-US" sz="2400"/>
              <a:t>值最小的非叶子节点，令其左右孩子为</a:t>
            </a:r>
            <a:r>
              <a:rPr lang="en-US" altLang="zh-CN" sz="2400"/>
              <a:t>NULL</a:t>
            </a:r>
            <a:r>
              <a:rPr lang="zh-CN" altLang="en-US" sz="2400"/>
              <a:t>。当多个非叶子节点的</a:t>
            </a:r>
            <a:r>
              <a:rPr lang="en-US" altLang="zh-CN" sz="2400"/>
              <a:t>α</a:t>
            </a:r>
            <a:r>
              <a:rPr lang="zh-CN" altLang="en-US" sz="2400"/>
              <a:t>值同时达到最小时，取         最大的进行剪枝。</a:t>
            </a:r>
            <a:br>
              <a:rPr lang="zh-CN" altLang="en-US" sz="2400"/>
            </a:br>
            <a:endParaRPr lang="zh-CN" altLang="en-US" sz="2400"/>
          </a:p>
        </p:txBody>
      </p:sp>
      <p:graphicFrame>
        <p:nvGraphicFramePr>
          <p:cNvPr id="14340" name="Object 5"/>
          <p:cNvGraphicFramePr>
            <a:graphicFrameLocks noChangeAspect="1"/>
          </p:cNvGraphicFramePr>
          <p:nvPr>
            <p:extLst>
              <p:ext uri="{D42A27DB-BD31-4B8C-83A1-F6EECF244321}">
                <p14:modId xmlns:p14="http://schemas.microsoft.com/office/powerpoint/2010/main" val="2450893235"/>
              </p:ext>
            </p:extLst>
          </p:nvPr>
        </p:nvGraphicFramePr>
        <p:xfrm>
          <a:off x="2166938" y="3617090"/>
          <a:ext cx="4017962" cy="909638"/>
        </p:xfrm>
        <a:graphic>
          <a:graphicData uri="http://schemas.openxmlformats.org/presentationml/2006/ole">
            <mc:AlternateContent xmlns:mc="http://schemas.openxmlformats.org/markup-compatibility/2006">
              <mc:Choice xmlns:v="urn:schemas-microsoft-com:vml" Requires="v">
                <p:oleObj spid="_x0000_s426388" name="Equation" r:id="rId9" imgW="2743200" imgH="622300" progId="Equation.DSMT4">
                  <p:embed/>
                </p:oleObj>
              </mc:Choice>
              <mc:Fallback>
                <p:oleObj name="Equation" r:id="rId9" imgW="2743200" imgH="622300" progId="Equation.DSMT4">
                  <p:embed/>
                  <p:pic>
                    <p:nvPicPr>
                      <p:cNvPr id="0"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6938" y="3617090"/>
                        <a:ext cx="4017962" cy="90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1" name="Object 6"/>
          <p:cNvGraphicFramePr>
            <a:graphicFrameLocks noChangeAspect="1"/>
          </p:cNvGraphicFramePr>
          <p:nvPr>
            <p:extLst>
              <p:ext uri="{D42A27DB-BD31-4B8C-83A1-F6EECF244321}">
                <p14:modId xmlns:p14="http://schemas.microsoft.com/office/powerpoint/2010/main" val="3119123585"/>
              </p:ext>
            </p:extLst>
          </p:nvPr>
        </p:nvGraphicFramePr>
        <p:xfrm>
          <a:off x="2452688" y="5617340"/>
          <a:ext cx="571500" cy="571500"/>
        </p:xfrm>
        <a:graphic>
          <a:graphicData uri="http://schemas.openxmlformats.org/presentationml/2006/ole">
            <mc:AlternateContent xmlns:mc="http://schemas.openxmlformats.org/markup-compatibility/2006">
              <mc:Choice xmlns:v="urn:schemas-microsoft-com:vml" Requires="v">
                <p:oleObj spid="_x0000_s426389" name="Equation" r:id="rId11" imgW="355292" imgH="355292" progId="Equation.DSMT4">
                  <p:embed/>
                </p:oleObj>
              </mc:Choice>
              <mc:Fallback>
                <p:oleObj name="Equation" r:id="rId11" imgW="355292" imgH="355292" progId="Equation.DSMT4">
                  <p:embed/>
                  <p:pic>
                    <p:nvPicPr>
                      <p:cNvPr id="0"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52688" y="5617340"/>
                        <a:ext cx="571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灯片编号占位符 8"/>
          <p:cNvSpPr>
            <a:spLocks noGrp="1"/>
          </p:cNvSpPr>
          <p:nvPr>
            <p:ph type="sldNum" sz="quarter" idx="11"/>
          </p:nvPr>
        </p:nvSpPr>
        <p:spPr/>
        <p:txBody>
          <a:bodyPr/>
          <a:lstStyle/>
          <a:p>
            <a:pPr>
              <a:defRPr/>
            </a:pPr>
            <a:fld id="{31E287EE-1289-4991-82CE-EFE584F53F4F}" type="slidenum">
              <a:rPr lang="en-US" altLang="zh-CN" smtClean="0"/>
              <a:pPr>
                <a:defRPr/>
              </a:pPr>
              <a:t>61</a:t>
            </a:fld>
            <a:endParaRPr lang="en-US" altLang="zh-CN" dirty="0"/>
          </a:p>
        </p:txBody>
      </p:sp>
      <p:sp>
        <p:nvSpPr>
          <p:cNvPr id="10" name="矩形 2"/>
          <p:cNvSpPr>
            <a:spLocks noChangeArrowheads="1"/>
          </p:cNvSpPr>
          <p:nvPr/>
        </p:nvSpPr>
        <p:spPr bwMode="auto">
          <a:xfrm>
            <a:off x="10910010" y="1268760"/>
            <a:ext cx="1214437" cy="523220"/>
          </a:xfrm>
          <a:prstGeom prst="rect">
            <a:avLst/>
          </a:prstGeom>
          <a:noFill/>
          <a:ln w="9525">
            <a:solidFill>
              <a:srgbClr val="FF0000"/>
            </a:solidFill>
            <a:miter lim="800000"/>
            <a:headEnd/>
            <a:tailEnd/>
          </a:ln>
        </p:spPr>
        <p:txBody>
          <a:bodyPr>
            <a:spAutoFit/>
          </a:bodyPr>
          <a:lstStyle/>
          <a:p>
            <a:pPr algn="ctr"/>
            <a:r>
              <a:rPr lang="zh-CN" altLang="en-US" sz="2800" b="1" dirty="0">
                <a:solidFill>
                  <a:srgbClr val="FF0000"/>
                </a:solidFill>
                <a:latin typeface="楷体_GB2312" pitchFamily="49" charset="-122"/>
                <a:ea typeface="楷体_GB2312" pitchFamily="49" charset="-122"/>
              </a:rPr>
              <a:t>自习</a:t>
            </a:r>
            <a:endParaRPr lang="zh-CN" altLang="en-US" sz="2800" dirty="0">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t>三种决策树学习算法</a:t>
            </a:r>
          </a:p>
        </p:txBody>
      </p:sp>
      <p:sp>
        <p:nvSpPr>
          <p:cNvPr id="26627" name="Rectangle 3"/>
          <p:cNvSpPr>
            <a:spLocks noGrp="1" noChangeArrowheads="1"/>
          </p:cNvSpPr>
          <p:nvPr>
            <p:ph type="body" idx="1"/>
          </p:nvPr>
        </p:nvSpPr>
        <p:spPr>
          <a:xfrm>
            <a:off x="1828800" y="1066800"/>
            <a:ext cx="8839200" cy="5334000"/>
          </a:xfrm>
        </p:spPr>
        <p:txBody>
          <a:bodyPr/>
          <a:lstStyle/>
          <a:p>
            <a:pPr>
              <a:lnSpc>
                <a:spcPct val="150000"/>
              </a:lnSpc>
            </a:pPr>
            <a:r>
              <a:rPr lang="zh-CN" altLang="zh-CN" sz="2600" dirty="0"/>
              <a:t>ID3</a:t>
            </a:r>
            <a:r>
              <a:rPr lang="en-US" altLang="zh-CN" sz="2600" dirty="0"/>
              <a:t> </a:t>
            </a:r>
            <a:r>
              <a:rPr lang="zh-CN" altLang="en-US" sz="2600" dirty="0"/>
              <a:t>：  利用信息增益来进行特征选择的决策树学习过程</a:t>
            </a:r>
          </a:p>
          <a:p>
            <a:pPr>
              <a:lnSpc>
                <a:spcPct val="150000"/>
              </a:lnSpc>
            </a:pPr>
            <a:r>
              <a:rPr lang="zh-CN" altLang="zh-CN" sz="2600" dirty="0"/>
              <a:t>C4.5</a:t>
            </a:r>
            <a:r>
              <a:rPr lang="zh-CN" altLang="en-US" sz="2600" dirty="0"/>
              <a:t>：</a:t>
            </a:r>
            <a:r>
              <a:rPr lang="en-US" altLang="zh-CN" sz="2600" dirty="0"/>
              <a:t> </a:t>
            </a:r>
            <a:r>
              <a:rPr lang="zh-CN" altLang="en-US" sz="2600" dirty="0"/>
              <a:t>信息增益率  </a:t>
            </a:r>
            <a:r>
              <a:rPr lang="zh-CN" altLang="zh-CN" sz="2600" dirty="0"/>
              <a:t>g</a:t>
            </a:r>
            <a:r>
              <a:rPr lang="zh-CN" altLang="zh-CN" sz="2600" baseline="-25000" dirty="0"/>
              <a:t>r</a:t>
            </a:r>
            <a:r>
              <a:rPr lang="zh-CN" altLang="zh-CN" sz="2600" dirty="0"/>
              <a:t>(D,A) = g(D,A) / H(A)</a:t>
            </a:r>
          </a:p>
          <a:p>
            <a:pPr>
              <a:lnSpc>
                <a:spcPct val="150000"/>
              </a:lnSpc>
            </a:pPr>
            <a:r>
              <a:rPr lang="zh-CN" altLang="zh-CN" sz="2600" dirty="0"/>
              <a:t>CART</a:t>
            </a:r>
            <a:r>
              <a:rPr lang="zh-CN" altLang="en-US" sz="2600" dirty="0"/>
              <a:t>：基尼指数</a:t>
            </a:r>
          </a:p>
          <a:p>
            <a:pPr marL="0" indent="0">
              <a:lnSpc>
                <a:spcPct val="150000"/>
              </a:lnSpc>
              <a:buNone/>
            </a:pPr>
            <a:endParaRPr lang="en-US" altLang="zh-CN" sz="2600" dirty="0"/>
          </a:p>
          <a:p>
            <a:pPr marL="0" indent="0">
              <a:lnSpc>
                <a:spcPct val="150000"/>
              </a:lnSpc>
              <a:buNone/>
            </a:pPr>
            <a:r>
              <a:rPr lang="zh-CN" altLang="en-US" sz="2600" dirty="0"/>
              <a:t>总结：一个属性的信息增益越大，表明属性对样本的熵减少的能力更强，这个属性使得数据由不确定性变成确定性的能力越强。</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62</a:t>
            </a:fld>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9925" y="983063"/>
            <a:ext cx="6172200" cy="563563"/>
          </a:xfrm>
        </p:spPr>
        <p:txBody>
          <a:bodyPr/>
          <a:lstStyle/>
          <a:p>
            <a:r>
              <a:rPr lang="zh-CN" altLang="en-US" dirty="0"/>
              <a:t>随机森林的思想来源</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897118231"/>
              </p:ext>
            </p:extLst>
          </p:nvPr>
        </p:nvGraphicFramePr>
        <p:xfrm>
          <a:off x="1149434" y="1700808"/>
          <a:ext cx="6102040" cy="3773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63</a:t>
            </a:fld>
            <a:endParaRPr lang="en-US" altLang="zh-CN" dirty="0"/>
          </a:p>
        </p:txBody>
      </p:sp>
      <p:sp>
        <p:nvSpPr>
          <p:cNvPr id="8" name="任意多边形 7"/>
          <p:cNvSpPr/>
          <p:nvPr/>
        </p:nvSpPr>
        <p:spPr>
          <a:xfrm rot="10800000">
            <a:off x="9439064" y="3155530"/>
            <a:ext cx="1619672" cy="864096"/>
          </a:xfrm>
          <a:custGeom>
            <a:avLst/>
            <a:gdLst>
              <a:gd name="connsiteX0" fmla="*/ 0 w 1814506"/>
              <a:gd name="connsiteY0" fmla="*/ 0 h 725802"/>
              <a:gd name="connsiteX1" fmla="*/ 1451605 w 1814506"/>
              <a:gd name="connsiteY1" fmla="*/ 0 h 725802"/>
              <a:gd name="connsiteX2" fmla="*/ 1814506 w 1814506"/>
              <a:gd name="connsiteY2" fmla="*/ 362901 h 725802"/>
              <a:gd name="connsiteX3" fmla="*/ 1451605 w 1814506"/>
              <a:gd name="connsiteY3" fmla="*/ 725802 h 725802"/>
              <a:gd name="connsiteX4" fmla="*/ 0 w 1814506"/>
              <a:gd name="connsiteY4" fmla="*/ 725802 h 725802"/>
              <a:gd name="connsiteX5" fmla="*/ 362901 w 1814506"/>
              <a:gd name="connsiteY5" fmla="*/ 362901 h 725802"/>
              <a:gd name="connsiteX6" fmla="*/ 0 w 1814506"/>
              <a:gd name="connsiteY6" fmla="*/ 0 h 725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506" h="725802">
                <a:moveTo>
                  <a:pt x="0" y="0"/>
                </a:moveTo>
                <a:lnTo>
                  <a:pt x="1451605" y="0"/>
                </a:lnTo>
                <a:lnTo>
                  <a:pt x="1814506" y="362901"/>
                </a:lnTo>
                <a:lnTo>
                  <a:pt x="1451605" y="725802"/>
                </a:lnTo>
                <a:lnTo>
                  <a:pt x="0" y="725802"/>
                </a:lnTo>
                <a:lnTo>
                  <a:pt x="362901" y="362901"/>
                </a:lnTo>
                <a:lnTo>
                  <a:pt x="0" y="0"/>
                </a:lnTo>
                <a:close/>
              </a:path>
            </a:pathLst>
          </a:cu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spcFirstLastPara="0" vert="horz" wrap="square" lIns="434910" tIns="24003" rIns="386904" bIns="24003" numCol="1" spcCol="1270" anchor="ctr" anchorCtr="0">
            <a:noAutofit/>
          </a:bodyPr>
          <a:lstStyle/>
          <a:p>
            <a:pPr algn="ctr" defTabSz="800100">
              <a:lnSpc>
                <a:spcPct val="90000"/>
              </a:lnSpc>
              <a:spcAft>
                <a:spcPct val="35000"/>
              </a:spcAft>
            </a:pPr>
            <a:endParaRPr lang="zh-CN" altLang="en-US" dirty="0"/>
          </a:p>
        </p:txBody>
      </p:sp>
      <p:sp>
        <p:nvSpPr>
          <p:cNvPr id="11" name="文本框 10"/>
          <p:cNvSpPr txBox="1"/>
          <p:nvPr/>
        </p:nvSpPr>
        <p:spPr bwMode="auto">
          <a:xfrm>
            <a:off x="9746343" y="3402912"/>
            <a:ext cx="825868" cy="369332"/>
          </a:xfrm>
          <a:prstGeom prst="rect">
            <a:avLst/>
          </a:prstGeom>
          <a:noFill/>
          <a:ln w="38100">
            <a:noFill/>
            <a:miter lim="800000"/>
            <a:headEnd/>
            <a:tailEnd/>
          </a:ln>
          <a:effectLst/>
        </p:spPr>
        <p:txBody>
          <a:bodyPr wrap="none" rtlCol="0">
            <a:spAutoFit/>
          </a:bodyPr>
          <a:lstStyle/>
          <a:p>
            <a:pPr algn="ctr"/>
            <a:r>
              <a:rPr kumimoji="1" lang="en-US" altLang="zh-CN" b="1" dirty="0">
                <a:ea typeface="新細明體" pitchFamily="18" charset="-120"/>
              </a:rPr>
              <a:t>CART</a:t>
            </a:r>
            <a:endParaRPr kumimoji="1" lang="zh-CN" altLang="en-US" b="1" dirty="0">
              <a:ea typeface="新細明體" pitchFamily="18" charset="-120"/>
            </a:endParaRPr>
          </a:p>
        </p:txBody>
      </p:sp>
      <p:sp>
        <p:nvSpPr>
          <p:cNvPr id="12" name="文本框 11"/>
          <p:cNvSpPr txBox="1"/>
          <p:nvPr/>
        </p:nvSpPr>
        <p:spPr bwMode="auto">
          <a:xfrm>
            <a:off x="6894778" y="3325968"/>
            <a:ext cx="2544287" cy="52322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rtlCol="0">
            <a:spAutoFit/>
          </a:bodyPr>
          <a:lstStyle/>
          <a:p>
            <a:pPr algn="ctr"/>
            <a:r>
              <a:rPr kumimoji="1" lang="en-US" altLang="zh-CN" sz="2800" dirty="0">
                <a:ln w="0"/>
                <a:effectLst>
                  <a:outerShdw blurRad="38100" dist="19050" dir="2700000" algn="tl" rotWithShape="0">
                    <a:schemeClr val="dk1">
                      <a:alpha val="40000"/>
                    </a:schemeClr>
                  </a:outerShdw>
                </a:effectLst>
                <a:ea typeface="新細明體" pitchFamily="18" charset="-120"/>
              </a:rPr>
              <a:t>Random forest</a:t>
            </a:r>
            <a:endParaRPr kumimoji="1" lang="zh-CN" altLang="en-US" sz="2800" dirty="0">
              <a:ln w="0"/>
              <a:effectLst>
                <a:outerShdw blurRad="38100" dist="19050" dir="2700000" algn="tl" rotWithShape="0">
                  <a:schemeClr val="dk1">
                    <a:alpha val="40000"/>
                  </a:schemeClr>
                </a:outerShdw>
              </a:effectLst>
              <a:ea typeface="新細明體" pitchFamily="18" charset="-120"/>
            </a:endParaRPr>
          </a:p>
        </p:txBody>
      </p:sp>
      <p:sp>
        <p:nvSpPr>
          <p:cNvPr id="13" name="文本框 12"/>
          <p:cNvSpPr txBox="1"/>
          <p:nvPr/>
        </p:nvSpPr>
        <p:spPr bwMode="auto">
          <a:xfrm>
            <a:off x="6560807" y="1605734"/>
            <a:ext cx="1420582" cy="584775"/>
          </a:xfrm>
          <a:prstGeom prst="rect">
            <a:avLst/>
          </a:prstGeom>
          <a:noFill/>
          <a:ln w="38100">
            <a:noFill/>
            <a:miter lim="800000"/>
            <a:headEnd/>
            <a:tailEnd/>
          </a:ln>
          <a:effectLst/>
        </p:spPr>
        <p:txBody>
          <a:bodyPr wrap="none" rtlCol="0">
            <a:spAutoFit/>
          </a:bodyPr>
          <a:lstStyle/>
          <a:p>
            <a:pPr algn="ctr"/>
            <a:r>
              <a:rPr kumimoji="1" lang="zh-CN" altLang="en-US" sz="3200" b="1" dirty="0">
                <a:ea typeface="新細明體" pitchFamily="18" charset="-120"/>
              </a:rPr>
              <a:t>发展线</a:t>
            </a:r>
          </a:p>
        </p:txBody>
      </p:sp>
      <p:sp>
        <p:nvSpPr>
          <p:cNvPr id="14" name="文本框 13"/>
          <p:cNvSpPr txBox="1"/>
          <p:nvPr/>
        </p:nvSpPr>
        <p:spPr bwMode="auto">
          <a:xfrm>
            <a:off x="1645623" y="5732260"/>
            <a:ext cx="8480206" cy="523220"/>
          </a:xfrm>
          <a:prstGeom prst="rect">
            <a:avLst/>
          </a:prstGeom>
          <a:noFill/>
          <a:ln w="38100">
            <a:noFill/>
            <a:miter lim="800000"/>
            <a:headEnd/>
            <a:tailEnd/>
          </a:ln>
          <a:effectLst/>
        </p:spPr>
        <p:txBody>
          <a:bodyPr wrap="none" rtlCol="0">
            <a:spAutoFit/>
          </a:bodyPr>
          <a:lstStyle/>
          <a:p>
            <a:pPr algn="ctr"/>
            <a:r>
              <a:rPr kumimoji="1" lang="zh-CN" altLang="en-US" sz="2800" b="1" dirty="0">
                <a:solidFill>
                  <a:srgbClr val="FF0000"/>
                </a:solidFill>
                <a:ea typeface="新細明體" pitchFamily="18" charset="-120"/>
              </a:rPr>
              <a:t>用随机抽取的方法训练出一群决策树来完成分类任务</a:t>
            </a:r>
          </a:p>
        </p:txBody>
      </p:sp>
      <p:sp>
        <p:nvSpPr>
          <p:cNvPr id="15" name="Rectangle 2"/>
          <p:cNvSpPr txBox="1">
            <a:spLocks noChangeArrowheads="1"/>
          </p:cNvSpPr>
          <p:nvPr/>
        </p:nvSpPr>
        <p:spPr bwMode="black">
          <a:xfrm>
            <a:off x="1828800" y="152401"/>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12.5 </a:t>
            </a:r>
            <a:r>
              <a:rPr lang="zh-CN" altLang="en-US" kern="0" dirty="0"/>
              <a:t>随机森林</a:t>
            </a:r>
          </a:p>
        </p:txBody>
      </p:sp>
      <p:sp>
        <p:nvSpPr>
          <p:cNvPr id="16" name="矩形 15"/>
          <p:cNvSpPr/>
          <p:nvPr/>
        </p:nvSpPr>
        <p:spPr>
          <a:xfrm>
            <a:off x="1496368" y="2379574"/>
            <a:ext cx="3715504" cy="369332"/>
          </a:xfrm>
          <a:prstGeom prst="rect">
            <a:avLst/>
          </a:prstGeom>
        </p:spPr>
        <p:txBody>
          <a:bodyPr wrap="none">
            <a:spAutoFit/>
          </a:bodyPr>
          <a:lstStyle/>
          <a:p>
            <a:r>
              <a:rPr kumimoji="1" lang="en-US" altLang="zh-CN" b="1" dirty="0">
                <a:solidFill>
                  <a:srgbClr val="0000FF"/>
                </a:solidFill>
                <a:ea typeface="新細明體" pitchFamily="18" charset="-120"/>
              </a:rPr>
              <a:t>Probably Approximately </a:t>
            </a:r>
            <a:r>
              <a:rPr kumimoji="1" lang="en-US" altLang="zh-CN" b="1" dirty="0" err="1">
                <a:solidFill>
                  <a:srgbClr val="0000FF"/>
                </a:solidFill>
                <a:ea typeface="新細明體" pitchFamily="18" charset="-120"/>
              </a:rPr>
              <a:t>Corerct</a:t>
            </a:r>
            <a:endParaRPr lang="zh-CN" altLang="en-US" dirty="0">
              <a:solidFill>
                <a:srgbClr val="0000FF"/>
              </a:solidFill>
            </a:endParaRPr>
          </a:p>
        </p:txBody>
      </p:sp>
      <p:sp>
        <p:nvSpPr>
          <p:cNvPr id="17" name="矩形 16"/>
          <p:cNvSpPr/>
          <p:nvPr/>
        </p:nvSpPr>
        <p:spPr>
          <a:xfrm>
            <a:off x="2965165" y="4469215"/>
            <a:ext cx="8077401" cy="1015663"/>
          </a:xfrm>
          <a:prstGeom prst="rect">
            <a:avLst/>
          </a:prstGeom>
        </p:spPr>
        <p:txBody>
          <a:bodyPr wrap="square">
            <a:spAutoFit/>
          </a:bodyPr>
          <a:lstStyle/>
          <a:p>
            <a:r>
              <a:rPr kumimoji="1" lang="zh-CN" altLang="en-US" sz="2000" dirty="0">
                <a:solidFill>
                  <a:srgbClr val="0000FF"/>
                </a:solidFill>
                <a:latin typeface="微软雅黑" panose="020B0503020204020204" pitchFamily="34" charset="-122"/>
                <a:ea typeface="微软雅黑" panose="020B0503020204020204" pitchFamily="34" charset="-122"/>
              </a:rPr>
              <a:t>有放回的重采样：</a:t>
            </a:r>
            <a:endParaRPr kumimoji="1" lang="en-US" altLang="zh-CN" sz="2000" dirty="0">
              <a:solidFill>
                <a:srgbClr val="0000FF"/>
              </a:solidFill>
              <a:latin typeface="微软雅黑" panose="020B0503020204020204" pitchFamily="34" charset="-122"/>
              <a:ea typeface="微软雅黑" panose="020B0503020204020204" pitchFamily="34" charset="-122"/>
            </a:endParaRPr>
          </a:p>
          <a:p>
            <a:r>
              <a:rPr kumimoji="1" lang="en-US" altLang="zh-CN" sz="2000" dirty="0">
                <a:solidFill>
                  <a:srgbClr val="0000FF"/>
                </a:solidFill>
                <a:latin typeface="微软雅黑" panose="020B0503020204020204" pitchFamily="34" charset="-122"/>
                <a:ea typeface="微软雅黑" panose="020B0503020204020204" pitchFamily="34" charset="-122"/>
              </a:rPr>
              <a:t>1</a:t>
            </a:r>
            <a:r>
              <a:rPr kumimoji="1" lang="zh-CN" altLang="en-US" sz="2000" dirty="0">
                <a:solidFill>
                  <a:srgbClr val="0000FF"/>
                </a:solidFill>
                <a:latin typeface="微软雅黑" panose="020B0503020204020204" pitchFamily="34" charset="-122"/>
                <a:ea typeface="微软雅黑" panose="020B0503020204020204" pitchFamily="34" charset="-122"/>
              </a:rPr>
              <a:t>、样本的多样性</a:t>
            </a:r>
            <a:endParaRPr kumimoji="1" lang="en-US" altLang="zh-CN" sz="2000" dirty="0">
              <a:solidFill>
                <a:srgbClr val="0000FF"/>
              </a:solidFill>
              <a:latin typeface="微软雅黑" panose="020B0503020204020204" pitchFamily="34" charset="-122"/>
              <a:ea typeface="微软雅黑" panose="020B0503020204020204" pitchFamily="34" charset="-122"/>
            </a:endParaRPr>
          </a:p>
          <a:p>
            <a:r>
              <a:rPr kumimoji="1" lang="en-US" altLang="zh-CN" sz="2000" dirty="0">
                <a:solidFill>
                  <a:srgbClr val="0000FF"/>
                </a:solidFill>
                <a:latin typeface="微软雅黑" panose="020B0503020204020204" pitchFamily="34" charset="-122"/>
                <a:ea typeface="微软雅黑" panose="020B0503020204020204" pitchFamily="34" charset="-122"/>
              </a:rPr>
              <a:t>2</a:t>
            </a:r>
            <a:r>
              <a:rPr kumimoji="1" lang="zh-CN" altLang="en-US" sz="2000" dirty="0">
                <a:solidFill>
                  <a:srgbClr val="0000FF"/>
                </a:solidFill>
                <a:latin typeface="微软雅黑" panose="020B0503020204020204" pitchFamily="34" charset="-122"/>
                <a:ea typeface="微软雅黑" panose="020B0503020204020204" pitchFamily="34" charset="-122"/>
              </a:rPr>
              <a:t>、有些样本可能永远不会被采样到。这部分样本可以作为验证集</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18" name="矩形 17"/>
          <p:cNvSpPr/>
          <p:nvPr/>
        </p:nvSpPr>
        <p:spPr>
          <a:xfrm>
            <a:off x="1274439" y="4469215"/>
            <a:ext cx="1579278" cy="369332"/>
          </a:xfrm>
          <a:prstGeom prst="rect">
            <a:avLst/>
          </a:prstGeom>
        </p:spPr>
        <p:txBody>
          <a:bodyPr wrap="none">
            <a:spAutoFit/>
          </a:bodyPr>
          <a:lstStyle/>
          <a:p>
            <a:r>
              <a:rPr kumimoji="1" lang="zh-CN" altLang="en-US" b="1" dirty="0">
                <a:solidFill>
                  <a:srgbClr val="45AD56"/>
                </a:solidFill>
                <a:ea typeface="新細明體" pitchFamily="18" charset="-120"/>
              </a:rPr>
              <a:t>一种学习模型</a:t>
            </a:r>
            <a:endParaRPr lang="zh-CN" altLang="en-US" dirty="0">
              <a:solidFill>
                <a:srgbClr val="45AD56"/>
              </a:solidFill>
            </a:endParaRPr>
          </a:p>
        </p:txBody>
      </p:sp>
      <p:sp>
        <p:nvSpPr>
          <p:cNvPr id="19" name="矩形 18"/>
          <p:cNvSpPr/>
          <p:nvPr/>
        </p:nvSpPr>
        <p:spPr>
          <a:xfrm>
            <a:off x="4589498" y="2752924"/>
            <a:ext cx="2454518" cy="369332"/>
          </a:xfrm>
          <a:prstGeom prst="rect">
            <a:avLst/>
          </a:prstGeom>
        </p:spPr>
        <p:txBody>
          <a:bodyPr wrap="none">
            <a:spAutoFit/>
          </a:bodyPr>
          <a:lstStyle/>
          <a:p>
            <a:r>
              <a:rPr lang="en-US" altLang="zh-CN" dirty="0">
                <a:solidFill>
                  <a:srgbClr val="0000FF"/>
                </a:solidFill>
              </a:rPr>
              <a:t>Bootstrap aggregation</a:t>
            </a:r>
          </a:p>
        </p:txBody>
      </p:sp>
    </p:spTree>
    <p:extLst>
      <p:ext uri="{BB962C8B-B14F-4D97-AF65-F5344CB8AC3E}">
        <p14:creationId xmlns:p14="http://schemas.microsoft.com/office/powerpoint/2010/main" val="4593286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zh-CN" dirty="0"/>
              <a:t>12.5 </a:t>
            </a:r>
            <a:r>
              <a:rPr lang="zh-CN" altLang="en-US" dirty="0"/>
              <a:t>随机森林</a:t>
            </a:r>
            <a:endParaRPr lang="zh-CN" dirty="0"/>
          </a:p>
        </p:txBody>
      </p:sp>
      <p:sp>
        <p:nvSpPr>
          <p:cNvPr id="44035" name="Rectangle 3"/>
          <p:cNvSpPr>
            <a:spLocks noGrp="1" noChangeArrowheads="1"/>
          </p:cNvSpPr>
          <p:nvPr>
            <p:ph type="body" idx="1"/>
          </p:nvPr>
        </p:nvSpPr>
        <p:spPr>
          <a:xfrm>
            <a:off x="1199456" y="908720"/>
            <a:ext cx="9577064" cy="5334000"/>
          </a:xfrm>
        </p:spPr>
        <p:txBody>
          <a:bodyPr/>
          <a:lstStyle/>
          <a:p>
            <a:pPr algn="just"/>
            <a:r>
              <a:rPr lang="zh-CN" dirty="0"/>
              <a:t>随机森林在</a:t>
            </a:r>
            <a:r>
              <a:rPr lang="zh-CN" altLang="zh-CN" dirty="0"/>
              <a:t>bagging</a:t>
            </a:r>
            <a:r>
              <a:rPr lang="zh-CN" dirty="0"/>
              <a:t>基础上做了修改。</a:t>
            </a:r>
            <a:endParaRPr lang="en-US" altLang="zh-CN" dirty="0"/>
          </a:p>
          <a:p>
            <a:pPr marL="0" indent="0" algn="just">
              <a:buNone/>
            </a:pPr>
            <a:r>
              <a:rPr lang="zh-CN" altLang="en-US" dirty="0">
                <a:solidFill>
                  <a:srgbClr val="FF0000"/>
                </a:solidFill>
              </a:rPr>
              <a:t>    两次随机抽取（核心思想）</a:t>
            </a:r>
            <a:endParaRPr lang="en-US" altLang="zh-CN" dirty="0">
              <a:solidFill>
                <a:srgbClr val="FF0000"/>
              </a:solidFill>
            </a:endParaRPr>
          </a:p>
          <a:p>
            <a:pPr lvl="1" algn="just"/>
            <a:r>
              <a:rPr lang="zh-CN" altLang="zh-CN" dirty="0"/>
              <a:t>从样本集中用Bootstrap</a:t>
            </a:r>
            <a:r>
              <a:rPr lang="zh-CN" altLang="en-US" dirty="0"/>
              <a:t>（</a:t>
            </a:r>
            <a:r>
              <a:rPr lang="zh-CN" altLang="en-US" dirty="0">
                <a:solidFill>
                  <a:srgbClr val="0000FF"/>
                </a:solidFill>
              </a:rPr>
              <a:t>随机有放回</a:t>
            </a:r>
            <a:r>
              <a:rPr lang="zh-CN" altLang="zh-CN" dirty="0">
                <a:solidFill>
                  <a:srgbClr val="0000FF"/>
                </a:solidFill>
              </a:rPr>
              <a:t>采样</a:t>
            </a:r>
            <a:r>
              <a:rPr lang="zh-CN" altLang="en-US" dirty="0">
                <a:solidFill>
                  <a:srgbClr val="0000FF"/>
                </a:solidFill>
              </a:rPr>
              <a:t>）</a:t>
            </a:r>
            <a:r>
              <a:rPr lang="zh-CN" altLang="zh-CN" dirty="0"/>
              <a:t>选出n个样本；</a:t>
            </a:r>
            <a:endParaRPr lang="en-US" altLang="zh-CN" dirty="0"/>
          </a:p>
          <a:p>
            <a:pPr lvl="1" algn="just"/>
            <a:r>
              <a:rPr lang="zh-CN" dirty="0"/>
              <a:t>从所有属性中</a:t>
            </a:r>
            <a:r>
              <a:rPr lang="zh-CN" dirty="0">
                <a:solidFill>
                  <a:srgbClr val="0000FF"/>
                </a:solidFill>
              </a:rPr>
              <a:t>随机选择</a:t>
            </a:r>
            <a:r>
              <a:rPr lang="zh-CN" altLang="zh-CN" dirty="0">
                <a:solidFill>
                  <a:srgbClr val="0000FF"/>
                </a:solidFill>
              </a:rPr>
              <a:t>k</a:t>
            </a:r>
            <a:r>
              <a:rPr lang="zh-CN" dirty="0">
                <a:solidFill>
                  <a:srgbClr val="0000FF"/>
                </a:solidFill>
              </a:rPr>
              <a:t>个属性</a:t>
            </a:r>
            <a:r>
              <a:rPr lang="zh-CN" altLang="en-US" dirty="0">
                <a:solidFill>
                  <a:srgbClr val="0000FF"/>
                </a:solidFill>
              </a:rPr>
              <a:t>（特征）</a:t>
            </a:r>
            <a:r>
              <a:rPr lang="zh-CN" dirty="0"/>
              <a:t>，选择最佳分割属性作为节点建立</a:t>
            </a:r>
            <a:r>
              <a:rPr lang="zh-CN" altLang="zh-CN" dirty="0"/>
              <a:t>CART</a:t>
            </a:r>
            <a:r>
              <a:rPr lang="zh-CN" dirty="0"/>
              <a:t>决策树；</a:t>
            </a:r>
            <a:endParaRPr lang="en-US" altLang="zh-CN" dirty="0"/>
          </a:p>
          <a:p>
            <a:pPr lvl="1" algn="just"/>
            <a:r>
              <a:rPr lang="zh-CN" dirty="0"/>
              <a:t>重复以上两步</a:t>
            </a:r>
            <a:r>
              <a:rPr lang="zh-CN" altLang="zh-CN" dirty="0"/>
              <a:t>m</a:t>
            </a:r>
            <a:r>
              <a:rPr lang="zh-CN" dirty="0"/>
              <a:t>次，即建立了</a:t>
            </a:r>
            <a:r>
              <a:rPr lang="zh-CN" altLang="zh-CN" dirty="0"/>
              <a:t>m</a:t>
            </a:r>
            <a:r>
              <a:rPr lang="zh-CN" dirty="0"/>
              <a:t>棵</a:t>
            </a:r>
            <a:r>
              <a:rPr lang="zh-CN" altLang="zh-CN" dirty="0"/>
              <a:t>CART</a:t>
            </a:r>
            <a:r>
              <a:rPr lang="zh-CN" dirty="0"/>
              <a:t>决策树</a:t>
            </a:r>
          </a:p>
          <a:p>
            <a:pPr lvl="1" algn="just"/>
            <a:r>
              <a:rPr lang="zh-CN" dirty="0"/>
              <a:t>这</a:t>
            </a:r>
            <a:r>
              <a:rPr lang="zh-CN" altLang="zh-CN" dirty="0"/>
              <a:t>m</a:t>
            </a:r>
            <a:r>
              <a:rPr lang="zh-CN" dirty="0"/>
              <a:t>个</a:t>
            </a:r>
            <a:r>
              <a:rPr lang="zh-CN" altLang="zh-CN" dirty="0"/>
              <a:t>CART</a:t>
            </a:r>
            <a:r>
              <a:rPr lang="zh-CN" altLang="en-US" dirty="0"/>
              <a:t>决策树</a:t>
            </a:r>
            <a:r>
              <a:rPr lang="zh-CN" dirty="0"/>
              <a:t>形成随机森林，通过投票表决结果，决定数据属于哪一类</a:t>
            </a:r>
            <a:r>
              <a:rPr lang="zh-CN" altLang="en-US" dirty="0"/>
              <a:t>。</a:t>
            </a:r>
            <a:endParaRPr lang="en-US" altLang="zh-CN" dirty="0"/>
          </a:p>
          <a:p>
            <a:pPr lvl="1" algn="just"/>
            <a:endParaRPr lang="zh-CN" dirty="0"/>
          </a:p>
          <a:p>
            <a:pPr marL="457200" lvl="1" indent="0" algn="just">
              <a:buNone/>
            </a:pPr>
            <a:r>
              <a:rPr lang="zh-CN" altLang="en-US" dirty="0"/>
              <a:t>随机森林有</a:t>
            </a:r>
            <a:r>
              <a:rPr lang="zh-CN" altLang="en-US" dirty="0">
                <a:solidFill>
                  <a:srgbClr val="FF0000"/>
                </a:solidFill>
              </a:rPr>
              <a:t>两个重要参数</a:t>
            </a:r>
            <a:r>
              <a:rPr lang="zh-CN" altLang="en-US" dirty="0"/>
              <a:t>：</a:t>
            </a:r>
            <a:endParaRPr lang="en-US" altLang="zh-CN" dirty="0"/>
          </a:p>
          <a:p>
            <a:pPr marL="457200" lvl="1" indent="0" algn="just">
              <a:buNone/>
            </a:pP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a:t>
            </a:r>
            <a:r>
              <a:rPr lang="en-US" altLang="zh-CN" dirty="0">
                <a:sym typeface="Wingdings" panose="05000000000000000000" pitchFamily="2" charset="2"/>
              </a:rPr>
              <a:t>k</a:t>
            </a:r>
            <a:r>
              <a:rPr lang="zh-CN" altLang="en-US" dirty="0">
                <a:sym typeface="Wingdings" panose="05000000000000000000" pitchFamily="2" charset="2"/>
              </a:rPr>
              <a:t>：树节点预选的属性（变量）个数</a:t>
            </a:r>
            <a:endParaRPr lang="en-US" altLang="zh-CN" dirty="0">
              <a:sym typeface="Wingdings" panose="05000000000000000000" pitchFamily="2" charset="2"/>
            </a:endParaRPr>
          </a:p>
          <a:p>
            <a:pPr marL="457200" lvl="1" indent="0" algn="just">
              <a:buNone/>
            </a:pPr>
            <a:r>
              <a:rPr lang="zh-CN" altLang="en-US" dirty="0">
                <a:sym typeface="Wingdings" panose="05000000000000000000" pitchFamily="2" charset="2"/>
              </a:rPr>
              <a:t>（</a:t>
            </a:r>
            <a:r>
              <a:rPr lang="en-US" altLang="zh-CN" dirty="0">
                <a:sym typeface="Wingdings" panose="05000000000000000000" pitchFamily="2" charset="2"/>
              </a:rPr>
              <a:t>2</a:t>
            </a:r>
            <a:r>
              <a:rPr lang="zh-CN" altLang="en-US" dirty="0">
                <a:sym typeface="Wingdings" panose="05000000000000000000" pitchFamily="2" charset="2"/>
              </a:rPr>
              <a:t>）</a:t>
            </a:r>
            <a:r>
              <a:rPr lang="en-US" altLang="zh-CN" dirty="0">
                <a:sym typeface="Wingdings" panose="05000000000000000000" pitchFamily="2" charset="2"/>
              </a:rPr>
              <a:t>m</a:t>
            </a:r>
            <a:r>
              <a:rPr lang="zh-CN" altLang="en-US" dirty="0">
                <a:sym typeface="Wingdings" panose="05000000000000000000" pitchFamily="2" charset="2"/>
              </a:rPr>
              <a:t>：随机森林中树的个数</a:t>
            </a:r>
            <a:endParaRPr lang="zh-CN" altLang="zh-CN" dirty="0"/>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64</a:t>
            </a:fld>
            <a:endParaRPr lang="en-US" altLang="zh-CN" dirty="0"/>
          </a:p>
        </p:txBody>
      </p:sp>
      <p:sp>
        <p:nvSpPr>
          <p:cNvPr id="2" name="矩形 1">
            <a:extLst>
              <a:ext uri="{FF2B5EF4-FFF2-40B4-BE49-F238E27FC236}">
                <a16:creationId xmlns:a16="http://schemas.microsoft.com/office/drawing/2014/main" id="{F5E8F10A-1BCF-49F8-B42A-B1B6D845CEB2}"/>
              </a:ext>
            </a:extLst>
          </p:cNvPr>
          <p:cNvSpPr/>
          <p:nvPr/>
        </p:nvSpPr>
        <p:spPr>
          <a:xfrm>
            <a:off x="191345" y="2924944"/>
            <a:ext cx="1008112" cy="369332"/>
          </a:xfrm>
          <a:prstGeom prst="rect">
            <a:avLst/>
          </a:prstGeom>
        </p:spPr>
        <p:txBody>
          <a:bodyPr wrap="square">
            <a:spAutoFit/>
          </a:bodyPr>
          <a:lstStyle/>
          <a:p>
            <a:r>
              <a:rPr lang="zh-CN" altLang="en-US" dirty="0">
                <a:solidFill>
                  <a:srgbClr val="FF0000"/>
                </a:solidFill>
              </a:rPr>
              <a:t>方式一</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3472" y="967931"/>
            <a:ext cx="9145016" cy="5463787"/>
          </a:xfrm>
          <a:solidFill>
            <a:schemeClr val="bg1"/>
          </a:solidFill>
        </p:spPr>
        <p:txBody>
          <a:bodyPr/>
          <a:lstStyle/>
          <a:p>
            <a:pPr algn="just"/>
            <a:r>
              <a:rPr lang="zh-CN" altLang="en-US" sz="2400" dirty="0"/>
              <a:t>随机森林，指的是利用多棵树对样本进行训练并预测的一种分类器。该分类器最早由</a:t>
            </a:r>
            <a:r>
              <a:rPr lang="en-US" altLang="zh-CN" sz="2400" dirty="0"/>
              <a:t>Leo </a:t>
            </a:r>
            <a:r>
              <a:rPr lang="en-US" altLang="zh-CN" sz="2400" dirty="0" err="1"/>
              <a:t>Breiman</a:t>
            </a:r>
            <a:r>
              <a:rPr lang="zh-CN" altLang="en-US" sz="2400" dirty="0"/>
              <a:t>和</a:t>
            </a:r>
            <a:r>
              <a:rPr lang="en-US" altLang="zh-CN" sz="2400" dirty="0"/>
              <a:t>Adele Cutler</a:t>
            </a:r>
            <a:r>
              <a:rPr lang="zh-CN" altLang="en-US" sz="2400" dirty="0"/>
              <a:t>提出，并被注册成了商标。</a:t>
            </a:r>
            <a:endParaRPr lang="en-US" altLang="zh-CN" sz="2400" dirty="0"/>
          </a:p>
          <a:p>
            <a:pPr algn="just"/>
            <a:r>
              <a:rPr lang="zh-CN" altLang="en-US" sz="2400" dirty="0"/>
              <a:t>简单来说，</a:t>
            </a:r>
            <a:r>
              <a:rPr lang="zh-CN" altLang="en-US" sz="2400" dirty="0">
                <a:solidFill>
                  <a:srgbClr val="FF0000"/>
                </a:solidFill>
              </a:rPr>
              <a:t>随机森林就是由多棵</a:t>
            </a:r>
            <a:r>
              <a:rPr lang="en-US" altLang="zh-CN" sz="2400" dirty="0">
                <a:solidFill>
                  <a:srgbClr val="FF0000"/>
                </a:solidFill>
              </a:rPr>
              <a:t>CART</a:t>
            </a:r>
            <a:r>
              <a:rPr lang="zh-CN" altLang="en-US" sz="2400" dirty="0">
                <a:solidFill>
                  <a:srgbClr val="FF0000"/>
                </a:solidFill>
              </a:rPr>
              <a:t>构成的</a:t>
            </a:r>
            <a:r>
              <a:rPr lang="zh-CN" altLang="en-US" sz="2400" dirty="0"/>
              <a:t>。对于每棵树，它们使用的训练集是从总的训练集中有放回采样出来的，这意味着，总的训练集中的有些样本可能多次出现在一棵树的训练集中，也可能从未出现在一棵树的训练集中。</a:t>
            </a:r>
            <a:r>
              <a:rPr lang="zh-CN" altLang="en-US" sz="2400" dirty="0">
                <a:solidFill>
                  <a:srgbClr val="FF0000"/>
                </a:solidFill>
              </a:rPr>
              <a:t>在训练每棵树的节点时</a:t>
            </a:r>
            <a:r>
              <a:rPr lang="zh-CN" altLang="en-US" sz="2400" dirty="0"/>
              <a:t>，使用的特征是从所有特征中按照一定比例随机地无放回的抽取的，根据</a:t>
            </a:r>
            <a:r>
              <a:rPr lang="en-US" altLang="zh-CN" sz="2400" dirty="0"/>
              <a:t>Leo </a:t>
            </a:r>
            <a:r>
              <a:rPr lang="en-US" altLang="zh-CN" sz="2400" dirty="0" err="1"/>
              <a:t>Breiman</a:t>
            </a:r>
            <a:r>
              <a:rPr lang="zh-CN" altLang="en-US" sz="2400" dirty="0"/>
              <a:t>的建议，假设总的特征数量为</a:t>
            </a:r>
            <a:r>
              <a:rPr lang="en-US" altLang="zh-CN" sz="2400" dirty="0"/>
              <a:t>M</a:t>
            </a:r>
            <a:r>
              <a:rPr lang="zh-CN" altLang="en-US" sz="2400" dirty="0"/>
              <a:t>，这个比例可以是</a:t>
            </a:r>
            <a:r>
              <a:rPr lang="en-US" altLang="zh-CN" sz="2400" dirty="0" err="1"/>
              <a:t>sqrt</a:t>
            </a:r>
            <a:r>
              <a:rPr lang="en-US" altLang="zh-CN" sz="2400" dirty="0"/>
              <a:t>(M), 1/2sqrt(M), 2sqrt(M)</a:t>
            </a:r>
            <a:r>
              <a:rPr lang="zh-CN" altLang="en-US" sz="2400" dirty="0"/>
              <a:t>。</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65</a:t>
            </a:fld>
            <a:endParaRPr lang="en-US" altLang="zh-CN" dirty="0"/>
          </a:p>
        </p:txBody>
      </p:sp>
      <p:sp>
        <p:nvSpPr>
          <p:cNvPr id="5" name="Rectangle 2"/>
          <p:cNvSpPr>
            <a:spLocks noGrp="1" noChangeArrowheads="1"/>
          </p:cNvSpPr>
          <p:nvPr>
            <p:ph type="title"/>
          </p:nvPr>
        </p:nvSpPr>
        <p:spPr>
          <a:xfrm>
            <a:off x="1847528" y="1"/>
            <a:ext cx="6172200" cy="563563"/>
          </a:xfrm>
        </p:spPr>
        <p:txBody>
          <a:bodyPr/>
          <a:lstStyle/>
          <a:p>
            <a:r>
              <a:rPr lang="en-US" altLang="zh-CN" dirty="0"/>
              <a:t>12.5 </a:t>
            </a:r>
            <a:r>
              <a:rPr lang="zh-CN" altLang="en-US" dirty="0"/>
              <a:t>随机森林</a:t>
            </a:r>
            <a:endParaRPr 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2688" y="738763"/>
            <a:ext cx="11809312" cy="4464496"/>
          </a:xfrm>
          <a:solidFill>
            <a:schemeClr val="bg1"/>
          </a:solidFill>
        </p:spPr>
        <p:txBody>
          <a:bodyPr/>
          <a:lstStyle/>
          <a:p>
            <a:pPr algn="just">
              <a:buNone/>
            </a:pPr>
            <a:r>
              <a:rPr lang="zh-CN" altLang="en-US" sz="2000" b="1" dirty="0"/>
              <a:t>随机森林的训练过程：</a:t>
            </a:r>
          </a:p>
          <a:p>
            <a:pPr algn="just"/>
            <a:r>
              <a:rPr lang="en-US" altLang="zh-CN" sz="2000" dirty="0"/>
              <a:t>(1)</a:t>
            </a:r>
            <a:r>
              <a:rPr lang="zh-CN" altLang="en-US" sz="2000" dirty="0"/>
              <a:t>给定训练集</a:t>
            </a:r>
            <a:r>
              <a:rPr lang="en-US" altLang="zh-CN" sz="2000" dirty="0"/>
              <a:t>S</a:t>
            </a:r>
            <a:r>
              <a:rPr lang="zh-CN" altLang="en-US" sz="2000" dirty="0"/>
              <a:t>，测试集</a:t>
            </a:r>
            <a:r>
              <a:rPr lang="en-US" altLang="zh-CN" sz="2000" dirty="0"/>
              <a:t>T</a:t>
            </a:r>
            <a:r>
              <a:rPr lang="zh-CN" altLang="en-US" sz="2000" dirty="0"/>
              <a:t>，特征维数</a:t>
            </a:r>
            <a:r>
              <a:rPr lang="en-US" altLang="zh-CN" sz="2000" dirty="0"/>
              <a:t>F</a:t>
            </a:r>
            <a:r>
              <a:rPr lang="zh-CN" altLang="en-US" sz="2000" dirty="0"/>
              <a:t>。</a:t>
            </a:r>
            <a:endParaRPr lang="en-US" altLang="zh-CN" sz="2000" dirty="0"/>
          </a:p>
          <a:p>
            <a:pPr marL="0" indent="0" algn="just">
              <a:buNone/>
            </a:pPr>
            <a:r>
              <a:rPr lang="en-US" altLang="zh-CN" sz="2000" dirty="0"/>
              <a:t>   </a:t>
            </a:r>
            <a:r>
              <a:rPr lang="zh-CN" altLang="en-US" sz="2000" dirty="0"/>
              <a:t>确定参数：使用到的</a:t>
            </a:r>
            <a:r>
              <a:rPr lang="en-US" altLang="zh-CN" sz="2000" dirty="0"/>
              <a:t>CART</a:t>
            </a:r>
            <a:r>
              <a:rPr lang="zh-CN" altLang="en-US" sz="2000" dirty="0"/>
              <a:t>的数量</a:t>
            </a:r>
            <a:r>
              <a:rPr lang="en-US" altLang="zh-CN" sz="2000" dirty="0"/>
              <a:t>t</a:t>
            </a:r>
            <a:r>
              <a:rPr lang="zh-CN" altLang="en-US" sz="2000" dirty="0"/>
              <a:t>，每棵树的深度</a:t>
            </a:r>
            <a:r>
              <a:rPr lang="en-US" altLang="zh-CN" sz="2000" dirty="0"/>
              <a:t>d</a:t>
            </a:r>
            <a:r>
              <a:rPr lang="zh-CN" altLang="en-US" sz="2000" dirty="0"/>
              <a:t>，每个节点使用到的特征数量</a:t>
            </a:r>
            <a:r>
              <a:rPr lang="en-US" altLang="zh-CN" sz="2000" dirty="0"/>
              <a:t>f</a:t>
            </a:r>
            <a:r>
              <a:rPr lang="zh-CN" altLang="en-US" sz="2000" dirty="0"/>
              <a:t>；终止条件：节点上最少样本数</a:t>
            </a:r>
            <a:r>
              <a:rPr lang="en-US" altLang="zh-CN" sz="2000" dirty="0"/>
              <a:t>s</a:t>
            </a:r>
            <a:r>
              <a:rPr lang="zh-CN" altLang="en-US" sz="2000" dirty="0"/>
              <a:t>，节点上最少的信息增益</a:t>
            </a:r>
            <a:r>
              <a:rPr lang="en-US" altLang="zh-CN" sz="2000" dirty="0"/>
              <a:t>m</a:t>
            </a:r>
            <a:r>
              <a:rPr lang="zh-CN" altLang="en-US" sz="2000" dirty="0"/>
              <a:t>。</a:t>
            </a:r>
          </a:p>
          <a:p>
            <a:pPr marL="0" indent="0">
              <a:buNone/>
            </a:pPr>
            <a:r>
              <a:rPr lang="zh-CN" altLang="en-US" sz="2000" dirty="0"/>
              <a:t>对于第</a:t>
            </a:r>
            <a:r>
              <a:rPr lang="en-US" altLang="zh-CN" sz="2000" dirty="0" err="1"/>
              <a:t>i</a:t>
            </a:r>
            <a:r>
              <a:rPr lang="zh-CN" altLang="en-US" sz="2000" dirty="0"/>
              <a:t>棵树，</a:t>
            </a:r>
            <a:r>
              <a:rPr lang="en-US" altLang="zh-CN" sz="2000" dirty="0" err="1"/>
              <a:t>i</a:t>
            </a:r>
            <a:r>
              <a:rPr lang="en-US" altLang="zh-CN" sz="2000" dirty="0"/>
              <a:t>=1,…,t</a:t>
            </a:r>
            <a:r>
              <a:rPr lang="zh-CN" altLang="en-US" sz="2000" dirty="0"/>
              <a:t>：</a:t>
            </a:r>
          </a:p>
          <a:p>
            <a:r>
              <a:rPr lang="en-US" altLang="zh-CN" sz="2000" dirty="0"/>
              <a:t>(2)</a:t>
            </a:r>
            <a:r>
              <a:rPr lang="zh-CN" altLang="en-US" sz="2000" dirty="0"/>
              <a:t>从</a:t>
            </a:r>
            <a:r>
              <a:rPr lang="en-US" altLang="zh-CN" sz="2000" dirty="0"/>
              <a:t>S</a:t>
            </a:r>
            <a:r>
              <a:rPr lang="zh-CN" altLang="en-US" sz="2000" dirty="0"/>
              <a:t>中有放回的抽取大小和</a:t>
            </a:r>
            <a:r>
              <a:rPr lang="en-US" altLang="zh-CN" sz="2000" dirty="0"/>
              <a:t>S</a:t>
            </a:r>
            <a:r>
              <a:rPr lang="zh-CN" altLang="en-US" sz="2000" dirty="0"/>
              <a:t>一样的训练集</a:t>
            </a:r>
            <a:r>
              <a:rPr lang="en-US" altLang="zh-CN" sz="2000" dirty="0"/>
              <a:t>S(</a:t>
            </a:r>
            <a:r>
              <a:rPr lang="en-US" altLang="zh-CN" sz="2000" dirty="0" err="1"/>
              <a:t>i</a:t>
            </a:r>
            <a:r>
              <a:rPr lang="en-US" altLang="zh-CN" sz="2000" dirty="0"/>
              <a:t>)</a:t>
            </a:r>
            <a:r>
              <a:rPr lang="zh-CN" altLang="en-US" sz="2000" dirty="0"/>
              <a:t>，作为根节点的样本，从根节点开始训练</a:t>
            </a:r>
          </a:p>
          <a:p>
            <a:r>
              <a:rPr lang="en-US" altLang="zh-CN" sz="2000" dirty="0"/>
              <a:t>(3)</a:t>
            </a:r>
            <a:r>
              <a:rPr lang="zh-CN" altLang="en-US" sz="2000" dirty="0"/>
              <a:t>如果当前节点上达到终止条件，则设置当前节点为叶子节点。</a:t>
            </a:r>
            <a:endParaRPr lang="en-US" altLang="zh-CN"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66</a:t>
            </a:fld>
            <a:endParaRPr lang="en-US" altLang="zh-CN" dirty="0"/>
          </a:p>
        </p:txBody>
      </p:sp>
      <p:sp>
        <p:nvSpPr>
          <p:cNvPr id="5" name="Rectangle 2"/>
          <p:cNvSpPr>
            <a:spLocks noGrp="1" noChangeArrowheads="1"/>
          </p:cNvSpPr>
          <p:nvPr>
            <p:ph type="title"/>
          </p:nvPr>
        </p:nvSpPr>
        <p:spPr>
          <a:xfrm>
            <a:off x="1847528" y="1"/>
            <a:ext cx="6172200" cy="563563"/>
          </a:xfrm>
        </p:spPr>
        <p:txBody>
          <a:bodyPr/>
          <a:lstStyle/>
          <a:p>
            <a:r>
              <a:rPr lang="en-US" altLang="zh-CN" dirty="0"/>
              <a:t>12.5 </a:t>
            </a:r>
            <a:r>
              <a:rPr lang="zh-CN" altLang="en-US" dirty="0"/>
              <a:t>随机森林</a:t>
            </a:r>
            <a:endParaRPr lang="zh-CN" dirty="0"/>
          </a:p>
        </p:txBody>
      </p:sp>
      <p:sp>
        <p:nvSpPr>
          <p:cNvPr id="6" name="矩形 5"/>
          <p:cNvSpPr/>
          <p:nvPr/>
        </p:nvSpPr>
        <p:spPr>
          <a:xfrm>
            <a:off x="375078" y="5755903"/>
            <a:ext cx="9577064" cy="769441"/>
          </a:xfrm>
          <a:prstGeom prst="rect">
            <a:avLst/>
          </a:prstGeom>
        </p:spPr>
        <p:txBody>
          <a:bodyPr wrap="square">
            <a:spAutoFit/>
          </a:bodyPr>
          <a:lstStyle/>
          <a:p>
            <a:pPr marL="342900" indent="-342900" eaLnBrk="0" hangingPunct="0">
              <a:spcBef>
                <a:spcPct val="20000"/>
              </a:spcBef>
              <a:buClr>
                <a:schemeClr val="tx2"/>
              </a:buClr>
              <a:buFont typeface="Wingdings" pitchFamily="2" charset="2"/>
              <a:buChar char="v"/>
            </a:pPr>
            <a:r>
              <a:rPr lang="en-US" altLang="zh-CN" sz="2000" dirty="0">
                <a:latin typeface="+mn-lt"/>
              </a:rPr>
              <a:t>(4)</a:t>
            </a:r>
            <a:r>
              <a:rPr lang="zh-CN" altLang="en-US" sz="2000" dirty="0">
                <a:latin typeface="+mn-lt"/>
              </a:rPr>
              <a:t>重复（</a:t>
            </a:r>
            <a:r>
              <a:rPr lang="en-US" altLang="zh-CN" sz="2000" dirty="0">
                <a:latin typeface="+mn-lt"/>
              </a:rPr>
              <a:t>2</a:t>
            </a:r>
            <a:r>
              <a:rPr lang="zh-CN" altLang="en-US" sz="2000" dirty="0">
                <a:latin typeface="+mn-lt"/>
              </a:rPr>
              <a:t>）</a:t>
            </a:r>
            <a:r>
              <a:rPr lang="en-US" altLang="zh-CN" sz="2000" dirty="0">
                <a:latin typeface="+mn-lt"/>
              </a:rPr>
              <a:t>(3)</a:t>
            </a:r>
            <a:r>
              <a:rPr lang="zh-CN" altLang="en-US" sz="2000" dirty="0">
                <a:latin typeface="+mn-lt"/>
              </a:rPr>
              <a:t>直到所有节点都训练过了或者被标记为叶子节点。完成一颗树</a:t>
            </a:r>
          </a:p>
          <a:p>
            <a:pPr marL="342900" indent="-342900" eaLnBrk="0" hangingPunct="0">
              <a:spcBef>
                <a:spcPct val="20000"/>
              </a:spcBef>
              <a:buClr>
                <a:schemeClr val="tx2"/>
              </a:buClr>
              <a:buFont typeface="Wingdings" pitchFamily="2" charset="2"/>
              <a:buChar char="v"/>
            </a:pPr>
            <a:r>
              <a:rPr lang="en-US" altLang="zh-CN" sz="2000" dirty="0">
                <a:latin typeface="+mn-lt"/>
              </a:rPr>
              <a:t>(5)</a:t>
            </a:r>
            <a:r>
              <a:rPr lang="zh-CN" altLang="en-US" sz="2000" dirty="0">
                <a:latin typeface="+mn-lt"/>
              </a:rPr>
              <a:t>重复</a:t>
            </a:r>
            <a:r>
              <a:rPr lang="en-US" altLang="zh-CN" sz="2000" dirty="0">
                <a:latin typeface="+mn-lt"/>
              </a:rPr>
              <a:t>(2),(3),(4)</a:t>
            </a:r>
            <a:r>
              <a:rPr lang="zh-CN" altLang="en-US" sz="2000" dirty="0">
                <a:latin typeface="+mn-lt"/>
              </a:rPr>
              <a:t>直到所有</a:t>
            </a:r>
            <a:r>
              <a:rPr lang="en-US" altLang="zh-CN" sz="2000" dirty="0">
                <a:latin typeface="+mn-lt"/>
              </a:rPr>
              <a:t>CART</a:t>
            </a:r>
            <a:r>
              <a:rPr lang="zh-CN" altLang="en-US" sz="2000" dirty="0">
                <a:latin typeface="+mn-lt"/>
              </a:rPr>
              <a:t>树都被训练过。</a:t>
            </a:r>
            <a:endParaRPr lang="en-US" altLang="zh-CN" sz="2000" dirty="0">
              <a:latin typeface="+mn-lt"/>
            </a:endParaRPr>
          </a:p>
        </p:txBody>
      </p:sp>
      <p:sp>
        <p:nvSpPr>
          <p:cNvPr id="7" name="矩形 6"/>
          <p:cNvSpPr/>
          <p:nvPr/>
        </p:nvSpPr>
        <p:spPr>
          <a:xfrm>
            <a:off x="695400" y="3256915"/>
            <a:ext cx="11305256" cy="2554545"/>
          </a:xfrm>
          <a:prstGeom prst="rect">
            <a:avLst/>
          </a:prstGeom>
        </p:spPr>
        <p:txBody>
          <a:bodyPr wrap="square">
            <a:spAutoFit/>
          </a:bodyPr>
          <a:lstStyle/>
          <a:p>
            <a:pPr marL="0" indent="0">
              <a:buNone/>
            </a:pPr>
            <a:r>
              <a:rPr lang="zh-CN" altLang="en-US" sz="2000" dirty="0"/>
              <a:t>如果是</a:t>
            </a:r>
            <a:r>
              <a:rPr lang="zh-CN" altLang="en-US" sz="2000" dirty="0">
                <a:solidFill>
                  <a:srgbClr val="FF0000"/>
                </a:solidFill>
              </a:rPr>
              <a:t>分类问题</a:t>
            </a:r>
            <a:r>
              <a:rPr lang="zh-CN" altLang="en-US" sz="2000" dirty="0"/>
              <a:t>，该叶子节点的预测输出为当前节点样本集合中数量最多的那一类</a:t>
            </a:r>
            <a:r>
              <a:rPr lang="en-US" altLang="zh-CN" sz="2000" dirty="0"/>
              <a:t>c(j)</a:t>
            </a:r>
            <a:r>
              <a:rPr lang="zh-CN" altLang="en-US" sz="2000" dirty="0"/>
              <a:t>，概率</a:t>
            </a:r>
            <a:r>
              <a:rPr lang="en-US" altLang="zh-CN" sz="2000" dirty="0"/>
              <a:t>p</a:t>
            </a:r>
            <a:r>
              <a:rPr lang="zh-CN" altLang="en-US" sz="2000" dirty="0"/>
              <a:t>为</a:t>
            </a:r>
            <a:r>
              <a:rPr lang="en-US" altLang="zh-CN" sz="2000" dirty="0"/>
              <a:t>c(j)</a:t>
            </a:r>
            <a:r>
              <a:rPr lang="zh-CN" altLang="en-US" sz="2000" dirty="0"/>
              <a:t>占当前样本集的比例；如果是</a:t>
            </a:r>
            <a:r>
              <a:rPr lang="zh-CN" altLang="en-US" sz="2000" dirty="0">
                <a:solidFill>
                  <a:srgbClr val="FF0000"/>
                </a:solidFill>
              </a:rPr>
              <a:t>回归问题</a:t>
            </a:r>
            <a:r>
              <a:rPr lang="zh-CN" altLang="en-US" sz="2000" dirty="0"/>
              <a:t>，预测输出为当前节点样本集各个样本值的平均值。</a:t>
            </a:r>
            <a:endParaRPr lang="en-US" altLang="zh-CN" sz="2000" dirty="0"/>
          </a:p>
          <a:p>
            <a:pPr marL="0" indent="0">
              <a:buNone/>
            </a:pPr>
            <a:endParaRPr lang="en-US" altLang="zh-CN" sz="2000" dirty="0"/>
          </a:p>
          <a:p>
            <a:pPr marL="0" indent="0">
              <a:buNone/>
            </a:pPr>
            <a:r>
              <a:rPr lang="zh-CN" altLang="en-US" sz="2000" dirty="0"/>
              <a:t>然后继续训练其他节点。若当前节点没有达到终止条件，则</a:t>
            </a:r>
            <a:r>
              <a:rPr lang="zh-CN" altLang="en-US" sz="2000" dirty="0">
                <a:solidFill>
                  <a:srgbClr val="00B0F0"/>
                </a:solidFill>
              </a:rPr>
              <a:t>从</a:t>
            </a:r>
            <a:r>
              <a:rPr lang="en-US" altLang="zh-CN" sz="2000" dirty="0">
                <a:solidFill>
                  <a:srgbClr val="00B0F0"/>
                </a:solidFill>
              </a:rPr>
              <a:t>F</a:t>
            </a:r>
            <a:r>
              <a:rPr lang="zh-CN" altLang="en-US" sz="2000" dirty="0">
                <a:solidFill>
                  <a:srgbClr val="00B0F0"/>
                </a:solidFill>
              </a:rPr>
              <a:t>维特征中无放回的随机选取</a:t>
            </a:r>
            <a:r>
              <a:rPr lang="en-US" altLang="zh-CN" sz="2000" dirty="0">
                <a:solidFill>
                  <a:srgbClr val="00B0F0"/>
                </a:solidFill>
              </a:rPr>
              <a:t>f</a:t>
            </a:r>
            <a:r>
              <a:rPr lang="zh-CN" altLang="en-US" sz="2000" dirty="0">
                <a:solidFill>
                  <a:srgbClr val="00B0F0"/>
                </a:solidFill>
              </a:rPr>
              <a:t>维特征</a:t>
            </a:r>
            <a:r>
              <a:rPr lang="zh-CN" altLang="en-US" sz="2000" dirty="0"/>
              <a:t>。</a:t>
            </a:r>
            <a:r>
              <a:rPr lang="zh-CN" altLang="en-US" sz="2000" dirty="0">
                <a:solidFill>
                  <a:schemeClr val="bg1">
                    <a:lumMod val="75000"/>
                  </a:schemeClr>
                </a:solidFill>
              </a:rPr>
              <a:t>利用这</a:t>
            </a:r>
            <a:r>
              <a:rPr lang="en-US" altLang="zh-CN" sz="2000" dirty="0">
                <a:solidFill>
                  <a:schemeClr val="bg1">
                    <a:lumMod val="75000"/>
                  </a:schemeClr>
                </a:solidFill>
              </a:rPr>
              <a:t>f</a:t>
            </a:r>
            <a:r>
              <a:rPr lang="zh-CN" altLang="en-US" sz="2000" dirty="0">
                <a:solidFill>
                  <a:schemeClr val="bg1">
                    <a:lumMod val="75000"/>
                  </a:schemeClr>
                </a:solidFill>
              </a:rPr>
              <a:t>维特征，寻找分类效果最好的一维特征</a:t>
            </a:r>
            <a:r>
              <a:rPr lang="en-US" altLang="zh-CN" sz="2000" dirty="0">
                <a:solidFill>
                  <a:schemeClr val="bg1">
                    <a:lumMod val="75000"/>
                  </a:schemeClr>
                </a:solidFill>
              </a:rPr>
              <a:t>k</a:t>
            </a:r>
            <a:r>
              <a:rPr lang="zh-CN" altLang="en-US" sz="2000" dirty="0">
                <a:solidFill>
                  <a:schemeClr val="bg1">
                    <a:lumMod val="75000"/>
                  </a:schemeClr>
                </a:solidFill>
              </a:rPr>
              <a:t>及其阈值</a:t>
            </a:r>
            <a:r>
              <a:rPr lang="en-US" altLang="zh-CN" sz="2000" dirty="0" err="1">
                <a:solidFill>
                  <a:schemeClr val="bg1">
                    <a:lumMod val="75000"/>
                  </a:schemeClr>
                </a:solidFill>
              </a:rPr>
              <a:t>th</a:t>
            </a:r>
            <a:r>
              <a:rPr lang="zh-CN" altLang="en-US" sz="2000" dirty="0">
                <a:solidFill>
                  <a:schemeClr val="bg1">
                    <a:lumMod val="75000"/>
                  </a:schemeClr>
                </a:solidFill>
              </a:rPr>
              <a:t>，当前节点上样本第</a:t>
            </a:r>
            <a:r>
              <a:rPr lang="en-US" altLang="zh-CN" sz="2000" dirty="0">
                <a:solidFill>
                  <a:schemeClr val="bg1">
                    <a:lumMod val="75000"/>
                  </a:schemeClr>
                </a:solidFill>
              </a:rPr>
              <a:t>k</a:t>
            </a:r>
            <a:r>
              <a:rPr lang="zh-CN" altLang="en-US" sz="2000" dirty="0">
                <a:solidFill>
                  <a:schemeClr val="bg1">
                    <a:lumMod val="75000"/>
                  </a:schemeClr>
                </a:solidFill>
              </a:rPr>
              <a:t>维特征小于</a:t>
            </a:r>
            <a:r>
              <a:rPr lang="en-US" altLang="zh-CN" sz="2000" dirty="0" err="1">
                <a:solidFill>
                  <a:schemeClr val="bg1">
                    <a:lumMod val="75000"/>
                  </a:schemeClr>
                </a:solidFill>
              </a:rPr>
              <a:t>th</a:t>
            </a:r>
            <a:r>
              <a:rPr lang="zh-CN" altLang="en-US" sz="2000" dirty="0">
                <a:solidFill>
                  <a:schemeClr val="bg1">
                    <a:lumMod val="75000"/>
                  </a:schemeClr>
                </a:solidFill>
              </a:rPr>
              <a:t>的样本被划分到左节点，其余的被划分到右节点</a:t>
            </a:r>
            <a:r>
              <a:rPr lang="zh-CN" altLang="en-US" sz="2000" dirty="0">
                <a:solidFill>
                  <a:srgbClr val="00B0F0"/>
                </a:solidFill>
              </a:rPr>
              <a:t>（很容易理解，如果下一次该节点选出来的那一个属性是刚刚其父节点分裂时用过的属性，则该节点已经达到了叶子节点，无须继续分裂了）</a:t>
            </a:r>
            <a:r>
              <a:rPr lang="zh-CN" altLang="en-US" sz="2000" dirty="0"/>
              <a:t>。继续训练其他节点。</a:t>
            </a:r>
          </a:p>
        </p:txBody>
      </p:sp>
      <p:sp>
        <p:nvSpPr>
          <p:cNvPr id="8" name="矩形 7">
            <a:extLst>
              <a:ext uri="{FF2B5EF4-FFF2-40B4-BE49-F238E27FC236}">
                <a16:creationId xmlns:a16="http://schemas.microsoft.com/office/drawing/2014/main" id="{0BED1571-8F1F-40B8-A3C2-5FF5B9D831F9}"/>
              </a:ext>
            </a:extLst>
          </p:cNvPr>
          <p:cNvSpPr/>
          <p:nvPr/>
        </p:nvSpPr>
        <p:spPr>
          <a:xfrm>
            <a:off x="7515672" y="551174"/>
            <a:ext cx="1008112" cy="369332"/>
          </a:xfrm>
          <a:prstGeom prst="rect">
            <a:avLst/>
          </a:prstGeom>
        </p:spPr>
        <p:txBody>
          <a:bodyPr wrap="square">
            <a:spAutoFit/>
          </a:bodyPr>
          <a:lstStyle/>
          <a:p>
            <a:r>
              <a:rPr lang="zh-CN" altLang="en-US" dirty="0">
                <a:solidFill>
                  <a:srgbClr val="FF0000"/>
                </a:solidFill>
              </a:rPr>
              <a:t>方式二</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87488" y="1340768"/>
            <a:ext cx="9826352" cy="4726806"/>
          </a:xfrm>
          <a:solidFill>
            <a:schemeClr val="bg1"/>
          </a:solidFill>
        </p:spPr>
        <p:txBody>
          <a:bodyPr/>
          <a:lstStyle/>
          <a:p>
            <a:pPr>
              <a:buNone/>
            </a:pPr>
            <a:r>
              <a:rPr lang="zh-CN" altLang="en-US" sz="2400" dirty="0">
                <a:solidFill>
                  <a:srgbClr val="FF0000"/>
                </a:solidFill>
              </a:rPr>
              <a:t>利用随机森林的预测过程</a:t>
            </a:r>
            <a:r>
              <a:rPr lang="zh-CN" altLang="en-US" sz="2400" dirty="0"/>
              <a:t>如下：</a:t>
            </a:r>
          </a:p>
          <a:p>
            <a:r>
              <a:rPr lang="zh-CN" altLang="en-US" sz="2400" dirty="0"/>
              <a:t>对于第</a:t>
            </a:r>
            <a:r>
              <a:rPr lang="en-US" altLang="zh-CN" sz="2400" dirty="0"/>
              <a:t>1-t</a:t>
            </a:r>
            <a:r>
              <a:rPr lang="zh-CN" altLang="en-US" sz="2400" dirty="0"/>
              <a:t>棵树，</a:t>
            </a:r>
            <a:r>
              <a:rPr lang="en-US" altLang="zh-CN" sz="2400" dirty="0" err="1"/>
              <a:t>i</a:t>
            </a:r>
            <a:r>
              <a:rPr lang="en-US" altLang="zh-CN" sz="2400" dirty="0"/>
              <a:t>=1-t</a:t>
            </a:r>
            <a:r>
              <a:rPr lang="zh-CN" altLang="en-US" sz="2400" dirty="0"/>
              <a:t>：</a:t>
            </a:r>
            <a:endParaRPr lang="en-US" altLang="zh-CN" sz="2400" dirty="0"/>
          </a:p>
          <a:p>
            <a:pPr marL="0" indent="0">
              <a:buNone/>
            </a:pPr>
            <a:endParaRPr lang="zh-CN" altLang="en-US" sz="2400" dirty="0"/>
          </a:p>
          <a:p>
            <a:pPr marL="0" indent="0">
              <a:buNone/>
            </a:pPr>
            <a:r>
              <a:rPr lang="en-US" altLang="zh-CN" sz="2400" dirty="0"/>
              <a:t>(1) </a:t>
            </a:r>
            <a:r>
              <a:rPr lang="zh-CN" altLang="en-US" sz="2400" dirty="0"/>
              <a:t>从当前树的根节点开始，根据当前节点的阈值</a:t>
            </a:r>
            <a:r>
              <a:rPr lang="en-US" altLang="zh-CN" sz="2400" dirty="0" err="1"/>
              <a:t>th</a:t>
            </a:r>
            <a:r>
              <a:rPr lang="zh-CN" altLang="en-US" sz="2400" dirty="0"/>
              <a:t>，判断是进入左节点</a:t>
            </a:r>
            <a:r>
              <a:rPr lang="en-US" altLang="zh-CN" sz="2400" dirty="0"/>
              <a:t>(&lt;</a:t>
            </a:r>
            <a:r>
              <a:rPr lang="en-US" altLang="zh-CN" sz="2400" dirty="0" err="1"/>
              <a:t>th</a:t>
            </a:r>
            <a:r>
              <a:rPr lang="en-US" altLang="zh-CN" sz="2400" dirty="0"/>
              <a:t>)</a:t>
            </a:r>
            <a:r>
              <a:rPr lang="zh-CN" altLang="en-US" sz="2400" dirty="0"/>
              <a:t>还是进入右节点</a:t>
            </a:r>
            <a:r>
              <a:rPr lang="en-US" altLang="zh-CN" sz="2400" dirty="0"/>
              <a:t>(&gt;=</a:t>
            </a:r>
            <a:r>
              <a:rPr lang="en-US" altLang="zh-CN" sz="2400" dirty="0" err="1"/>
              <a:t>th</a:t>
            </a:r>
            <a:r>
              <a:rPr lang="en-US" altLang="zh-CN" sz="2400" dirty="0"/>
              <a:t>)</a:t>
            </a:r>
            <a:r>
              <a:rPr lang="zh-CN" altLang="en-US" sz="2400" dirty="0"/>
              <a:t>，直到到达某个叶子节点，并输出预测值。</a:t>
            </a:r>
            <a:endParaRPr lang="en-US" altLang="zh-CN" sz="2400" dirty="0"/>
          </a:p>
          <a:p>
            <a:pPr marL="0" indent="0">
              <a:buNone/>
            </a:pPr>
            <a:endParaRPr lang="zh-CN" altLang="en-US" sz="2400" dirty="0"/>
          </a:p>
          <a:p>
            <a:pPr marL="0" indent="0">
              <a:buNone/>
            </a:pPr>
            <a:r>
              <a:rPr lang="en-US" altLang="zh-CN" sz="2400" dirty="0"/>
              <a:t>(2) </a:t>
            </a:r>
            <a:r>
              <a:rPr lang="zh-CN" altLang="en-US" sz="2400" dirty="0"/>
              <a:t>重复执行</a:t>
            </a:r>
            <a:r>
              <a:rPr lang="en-US" altLang="zh-CN" sz="2400" dirty="0"/>
              <a:t>(1)</a:t>
            </a:r>
            <a:r>
              <a:rPr lang="zh-CN" altLang="en-US" sz="2400" dirty="0"/>
              <a:t>直到所有</a:t>
            </a:r>
            <a:r>
              <a:rPr lang="en-US" altLang="zh-CN" sz="2400" dirty="0"/>
              <a:t>t</a:t>
            </a:r>
            <a:r>
              <a:rPr lang="zh-CN" altLang="en-US" sz="2400" dirty="0"/>
              <a:t>棵树都输出了预测值。</a:t>
            </a:r>
            <a:endParaRPr lang="en-US" altLang="zh-CN" sz="2400" dirty="0"/>
          </a:p>
          <a:p>
            <a:pPr marL="0" indent="0">
              <a:buNone/>
            </a:pPr>
            <a:r>
              <a:rPr lang="zh-CN" altLang="en-US" sz="2400" dirty="0"/>
              <a:t>如果是</a:t>
            </a:r>
            <a:r>
              <a:rPr lang="zh-CN" altLang="en-US" sz="2400" dirty="0">
                <a:solidFill>
                  <a:srgbClr val="FF0000"/>
                </a:solidFill>
              </a:rPr>
              <a:t>分类问题</a:t>
            </a:r>
            <a:r>
              <a:rPr lang="zh-CN" altLang="en-US" sz="2400" dirty="0"/>
              <a:t>，则输出为所有树中预测概率总和最大的那一个类，即对每个</a:t>
            </a:r>
            <a:r>
              <a:rPr lang="en-US" altLang="zh-CN" sz="2400" dirty="0"/>
              <a:t>c(j)</a:t>
            </a:r>
            <a:r>
              <a:rPr lang="zh-CN" altLang="en-US" sz="2400" dirty="0"/>
              <a:t>的</a:t>
            </a:r>
            <a:r>
              <a:rPr lang="en-US" altLang="zh-CN" sz="2400" dirty="0"/>
              <a:t>p</a:t>
            </a:r>
            <a:r>
              <a:rPr lang="zh-CN" altLang="en-US" sz="2400" dirty="0"/>
              <a:t>进行累计；</a:t>
            </a:r>
            <a:endParaRPr lang="en-US" altLang="zh-CN" sz="2400" dirty="0"/>
          </a:p>
          <a:p>
            <a:pPr marL="0" indent="0">
              <a:buNone/>
            </a:pPr>
            <a:r>
              <a:rPr lang="zh-CN" altLang="en-US" sz="2400" dirty="0"/>
              <a:t>如果是</a:t>
            </a:r>
            <a:r>
              <a:rPr lang="zh-CN" altLang="en-US" sz="2400" dirty="0">
                <a:solidFill>
                  <a:srgbClr val="FF0000"/>
                </a:solidFill>
              </a:rPr>
              <a:t>回归问题</a:t>
            </a:r>
            <a:r>
              <a:rPr lang="zh-CN" altLang="en-US" sz="2400" dirty="0"/>
              <a:t>，则输出为所有树的输出的平均值。</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67</a:t>
            </a:fld>
            <a:endParaRPr lang="en-US" altLang="zh-CN" dirty="0"/>
          </a:p>
        </p:txBody>
      </p:sp>
      <p:sp>
        <p:nvSpPr>
          <p:cNvPr id="5" name="Rectangle 2"/>
          <p:cNvSpPr>
            <a:spLocks noGrp="1" noChangeArrowheads="1"/>
          </p:cNvSpPr>
          <p:nvPr>
            <p:ph type="title"/>
          </p:nvPr>
        </p:nvSpPr>
        <p:spPr>
          <a:xfrm>
            <a:off x="1847528" y="1"/>
            <a:ext cx="6172200" cy="563563"/>
          </a:xfrm>
        </p:spPr>
        <p:txBody>
          <a:bodyPr/>
          <a:lstStyle/>
          <a:p>
            <a:r>
              <a:rPr lang="en-US" altLang="zh-CN" dirty="0"/>
              <a:t>12.5 </a:t>
            </a:r>
            <a:r>
              <a:rPr lang="zh-CN" altLang="en-US" dirty="0"/>
              <a:t>随机森林</a:t>
            </a:r>
            <a:endParaRPr 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052736"/>
            <a:ext cx="9610328" cy="5376660"/>
          </a:xfrm>
          <a:solidFill>
            <a:schemeClr val="bg1"/>
          </a:solidFill>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注：有关分类效果的评判标准，因为使用的是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CART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，因此使用的也是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CART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的评判标准，和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C3.0,C4.5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都不相同。</a:t>
            </a:r>
          </a:p>
          <a:p>
            <a:pPr algn="just"/>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对于分类问题（将某个样本划分到某一类），也就是离散变量问题，</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CART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值作为评判标准。定义为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Gini=1-∑(P(</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P(</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为当前节点上数据集中第</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类样本的比例。例如：分为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类，当前节点上有</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个样本，属于第一类的样本有</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70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个，属于第二类的样本有</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30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个，则</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=1-0.7×07-0.3×03=0.42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，可以看出，</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类别分布越平均，</a:t>
            </a:r>
            <a:r>
              <a:rPr lang="en-US" altLang="zh-CN" sz="24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值越大；类分布越不均匀，</a:t>
            </a:r>
            <a:r>
              <a:rPr lang="en-US" altLang="zh-CN" sz="24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值越小。</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在寻找最佳的分类特征和阈值时，评判标准为：</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argmax</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Gini-GiniLeft-GiniRight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），即寻找最佳的特征</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f</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和阈值</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th</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，使得当前节点的</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值减去左子节点的</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和右子节点的</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Gini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值最大。</a:t>
            </a:r>
          </a:p>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对于回归问题，相对更加简单，直接使用</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argmax</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Var-VarLeft-VarRight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作为评判标准，即当前节点训练集的方差</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Var</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减去减去左子节点的方差</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VarLeft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和右子节点的方差</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VarRight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值最大。</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68</a:t>
            </a:fld>
            <a:endParaRPr lang="en-US" altLang="zh-CN" dirty="0"/>
          </a:p>
        </p:txBody>
      </p:sp>
      <p:sp>
        <p:nvSpPr>
          <p:cNvPr id="5" name="Rectangle 2"/>
          <p:cNvSpPr>
            <a:spLocks noGrp="1" noChangeArrowheads="1"/>
          </p:cNvSpPr>
          <p:nvPr>
            <p:ph type="title"/>
          </p:nvPr>
        </p:nvSpPr>
        <p:spPr>
          <a:xfrm>
            <a:off x="1847528" y="1"/>
            <a:ext cx="6172200" cy="563563"/>
          </a:xfrm>
        </p:spPr>
        <p:txBody>
          <a:bodyPr/>
          <a:lstStyle/>
          <a:p>
            <a:r>
              <a:rPr lang="en-US" altLang="zh-CN" dirty="0"/>
              <a:t>12.5 </a:t>
            </a:r>
            <a:r>
              <a:rPr lang="zh-CN" altLang="en-US" dirty="0"/>
              <a:t>随机森林</a:t>
            </a:r>
            <a:endParaRPr 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5CE82F5-D3D0-47C4-AF18-1D18D8D20D65}"/>
              </a:ext>
            </a:extLst>
          </p:cNvPr>
          <p:cNvSpPr>
            <a:spLocks noGrp="1"/>
          </p:cNvSpPr>
          <p:nvPr>
            <p:ph idx="1"/>
          </p:nvPr>
        </p:nvSpPr>
        <p:spPr/>
        <p:txBody>
          <a:bodyPr/>
          <a:lstStyle/>
          <a:p>
            <a:pPr marL="0" indent="0">
              <a:buNone/>
            </a:pPr>
            <a:r>
              <a:rPr lang="zh-CN" altLang="en-US" sz="2400" b="1" dirty="0">
                <a:solidFill>
                  <a:srgbClr val="FF0000"/>
                </a:solidFill>
              </a:rPr>
              <a:t>优点</a:t>
            </a:r>
            <a:endParaRPr lang="zh-CN" altLang="en-US" sz="2400" dirty="0">
              <a:solidFill>
                <a:srgbClr val="FF0000"/>
              </a:solidFill>
            </a:endParaRPr>
          </a:p>
          <a:p>
            <a:r>
              <a:rPr lang="zh-CN" altLang="en-US" sz="2000" dirty="0"/>
              <a:t>训练速度比较快，容易做成并行方法，实现起来比较简单</a:t>
            </a:r>
          </a:p>
          <a:p>
            <a:r>
              <a:rPr lang="zh-CN" altLang="en-US" sz="2000" dirty="0"/>
              <a:t>对于不平衡的数据集来说，它可以平衡误差。</a:t>
            </a:r>
          </a:p>
          <a:p>
            <a:r>
              <a:rPr lang="zh-CN" altLang="en-US" sz="2000" dirty="0"/>
              <a:t>不容易过拟合，在当前所有算法中，具有极好的准确率；</a:t>
            </a:r>
          </a:p>
          <a:p>
            <a:r>
              <a:rPr lang="zh-CN" altLang="en-US" sz="2000" dirty="0"/>
              <a:t>能够有效地运行在大数据集上；</a:t>
            </a:r>
          </a:p>
          <a:p>
            <a:r>
              <a:rPr lang="zh-CN" altLang="en-US" sz="2000" dirty="0"/>
              <a:t>能够处理具有高维特征的输入样本，而且不需要降维；</a:t>
            </a:r>
          </a:p>
          <a:p>
            <a:r>
              <a:rPr lang="zh-CN" altLang="en-US" sz="2000" dirty="0"/>
              <a:t>能够评估各个特征在分类问题上的重要性；</a:t>
            </a:r>
          </a:p>
          <a:p>
            <a:r>
              <a:rPr lang="zh-CN" altLang="en-US" sz="2000" dirty="0"/>
              <a:t>在生成过程中，能够获取到内部生成误差的一种无偏估计；</a:t>
            </a:r>
          </a:p>
          <a:p>
            <a:r>
              <a:rPr lang="zh-CN" altLang="en-US" sz="2000" dirty="0"/>
              <a:t>对于缺省值问题也能够获得很好得结果。</a:t>
            </a:r>
            <a:endParaRPr lang="en-US" altLang="zh-CN" sz="2000" dirty="0"/>
          </a:p>
          <a:p>
            <a:pPr marL="0" indent="0">
              <a:buNone/>
            </a:pPr>
            <a:endParaRPr lang="en-US" altLang="zh-CN" sz="2000" b="1" dirty="0"/>
          </a:p>
          <a:p>
            <a:pPr marL="0" indent="0">
              <a:buNone/>
            </a:pPr>
            <a:r>
              <a:rPr lang="zh-CN" altLang="en-US" sz="2400" b="1" dirty="0">
                <a:solidFill>
                  <a:srgbClr val="FF0000"/>
                </a:solidFill>
              </a:rPr>
              <a:t>缺点</a:t>
            </a:r>
            <a:endParaRPr lang="zh-CN" altLang="en-US" sz="2400" dirty="0">
              <a:solidFill>
                <a:srgbClr val="FF0000"/>
              </a:solidFill>
            </a:endParaRPr>
          </a:p>
          <a:p>
            <a:r>
              <a:rPr lang="zh-CN" altLang="en-US" sz="2000" dirty="0"/>
              <a:t>随机森林已经被证明在某些噪音较大的分类或回归问题上会过拟合。</a:t>
            </a:r>
          </a:p>
          <a:p>
            <a:r>
              <a:rPr lang="zh-CN" altLang="en-US" sz="2000" dirty="0"/>
              <a:t>对于多分类变量问题，无法提高基学习器的准确性</a:t>
            </a:r>
          </a:p>
        </p:txBody>
      </p:sp>
      <p:sp>
        <p:nvSpPr>
          <p:cNvPr id="4" name="灯片编号占位符 3">
            <a:extLst>
              <a:ext uri="{FF2B5EF4-FFF2-40B4-BE49-F238E27FC236}">
                <a16:creationId xmlns:a16="http://schemas.microsoft.com/office/drawing/2014/main" id="{ADADBDF3-FB20-428E-8610-E1B581E1DCAF}"/>
              </a:ext>
            </a:extLst>
          </p:cNvPr>
          <p:cNvSpPr>
            <a:spLocks noGrp="1"/>
          </p:cNvSpPr>
          <p:nvPr>
            <p:ph type="sldNum" sz="quarter" idx="11"/>
          </p:nvPr>
        </p:nvSpPr>
        <p:spPr/>
        <p:txBody>
          <a:bodyPr/>
          <a:lstStyle/>
          <a:p>
            <a:pPr>
              <a:defRPr/>
            </a:pPr>
            <a:fld id="{31E287EE-1289-4991-82CE-EFE584F53F4F}" type="slidenum">
              <a:rPr lang="en-US" altLang="zh-CN" smtClean="0"/>
              <a:pPr>
                <a:defRPr/>
              </a:pPr>
              <a:t>69</a:t>
            </a:fld>
            <a:endParaRPr lang="en-US" altLang="zh-CN" dirty="0"/>
          </a:p>
        </p:txBody>
      </p:sp>
      <p:sp>
        <p:nvSpPr>
          <p:cNvPr id="5" name="Rectangle 2">
            <a:extLst>
              <a:ext uri="{FF2B5EF4-FFF2-40B4-BE49-F238E27FC236}">
                <a16:creationId xmlns:a16="http://schemas.microsoft.com/office/drawing/2014/main" id="{D6DB57CD-04D0-41BD-9632-77BA3B160AF7}"/>
              </a:ext>
            </a:extLst>
          </p:cNvPr>
          <p:cNvSpPr txBox="1">
            <a:spLocks noChangeArrowheads="1"/>
          </p:cNvSpPr>
          <p:nvPr/>
        </p:nvSpPr>
        <p:spPr bwMode="black">
          <a:xfrm>
            <a:off x="1847528" y="1"/>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a:t>12.5 </a:t>
            </a:r>
            <a:r>
              <a:rPr lang="zh-CN" altLang="en-US" kern="0"/>
              <a:t>随机森林</a:t>
            </a:r>
            <a:endParaRPr lang="zh-CN" kern="0" dirty="0"/>
          </a:p>
        </p:txBody>
      </p:sp>
    </p:spTree>
    <p:extLst>
      <p:ext uri="{BB962C8B-B14F-4D97-AF65-F5344CB8AC3E}">
        <p14:creationId xmlns:p14="http://schemas.microsoft.com/office/powerpoint/2010/main" val="1396833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zh-CN" dirty="0"/>
              <a:t>16.6 </a:t>
            </a:r>
            <a:r>
              <a:rPr lang="zh-CN" altLang="en-US" dirty="0"/>
              <a:t>实例分析</a:t>
            </a:r>
            <a:r>
              <a:rPr lang="zh-CN" dirty="0"/>
              <a:t>：</a:t>
            </a:r>
            <a:r>
              <a:rPr lang="zh-CN" altLang="zh-CN" dirty="0"/>
              <a:t>Kinect</a:t>
            </a:r>
          </a:p>
        </p:txBody>
      </p:sp>
      <p:pic>
        <p:nvPicPr>
          <p:cNvPr id="45059" name="Picture 3"/>
          <p:cNvPicPr>
            <a:picLocks noChangeAspect="1" noChangeArrowheads="1"/>
          </p:cNvPicPr>
          <p:nvPr/>
        </p:nvPicPr>
        <p:blipFill>
          <a:blip r:embed="rId2" cstate="print"/>
          <a:srcRect/>
          <a:stretch>
            <a:fillRect/>
          </a:stretch>
        </p:blipFill>
        <p:spPr bwMode="auto">
          <a:xfrm>
            <a:off x="767408" y="980728"/>
            <a:ext cx="4460875" cy="5057775"/>
          </a:xfrm>
          <a:prstGeom prst="rect">
            <a:avLst/>
          </a:prstGeom>
          <a:noFill/>
          <a:ln w="9525" cmpd="sng">
            <a:noFill/>
            <a:miter lim="800000"/>
            <a:headEnd/>
            <a:tailEnd/>
          </a:ln>
        </p:spPr>
      </p:pic>
      <p:sp>
        <p:nvSpPr>
          <p:cNvPr id="45060" name="Text Box 4"/>
          <p:cNvSpPr txBox="1">
            <a:spLocks noChangeArrowheads="1"/>
          </p:cNvSpPr>
          <p:nvPr/>
        </p:nvSpPr>
        <p:spPr bwMode="auto">
          <a:xfrm>
            <a:off x="6168008" y="4544118"/>
            <a:ext cx="5634434" cy="707886"/>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chemeClr val="tx2"/>
                </a:solidFill>
                <a:latin typeface="Times New Roman" panose="02020603050405020304" pitchFamily="18" charset="0"/>
                <a:cs typeface="Times New Roman" panose="02020603050405020304" pitchFamily="18" charset="0"/>
              </a:rPr>
              <a:t>Real-Time Human Pose Recognition in Parts from Single Depth Images, </a:t>
            </a:r>
            <a:r>
              <a:rPr lang="en-US" sz="2000" dirty="0">
                <a:solidFill>
                  <a:schemeClr val="tx2"/>
                </a:solidFill>
                <a:latin typeface="Times New Roman" panose="02020603050405020304" pitchFamily="18" charset="0"/>
                <a:cs typeface="Times New Roman" panose="02020603050405020304" pitchFamily="18" charset="0"/>
              </a:rPr>
              <a:t>Jamie </a:t>
            </a:r>
            <a:r>
              <a:rPr lang="en-US" sz="2000" dirty="0" err="1">
                <a:solidFill>
                  <a:schemeClr val="tx2"/>
                </a:solidFill>
                <a:latin typeface="Times New Roman" panose="02020603050405020304" pitchFamily="18" charset="0"/>
                <a:cs typeface="Times New Roman" panose="02020603050405020304" pitchFamily="18" charset="0"/>
              </a:rPr>
              <a:t>Shotton</a:t>
            </a:r>
            <a:r>
              <a:rPr lang="zh-CN" altLang="en-US" sz="2000" dirty="0">
                <a:solidFill>
                  <a:schemeClr val="tx2"/>
                </a:solidFill>
                <a:latin typeface="Times New Roman" panose="02020603050405020304" pitchFamily="18" charset="0"/>
                <a:cs typeface="Times New Roman" panose="02020603050405020304" pitchFamily="18" charset="0"/>
              </a:rPr>
              <a:t> etc,2001,</a:t>
            </a:r>
          </a:p>
        </p:txBody>
      </p:sp>
      <p:pic>
        <p:nvPicPr>
          <p:cNvPr id="45061" name="Picture 5"/>
          <p:cNvPicPr>
            <a:picLocks noChangeAspect="1" noChangeArrowheads="1"/>
          </p:cNvPicPr>
          <p:nvPr/>
        </p:nvPicPr>
        <p:blipFill>
          <a:blip r:embed="rId3" cstate="print"/>
          <a:srcRect/>
          <a:stretch>
            <a:fillRect/>
          </a:stretch>
        </p:blipFill>
        <p:spPr bwMode="auto">
          <a:xfrm>
            <a:off x="6312024" y="1268760"/>
            <a:ext cx="3997325" cy="2722562"/>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其它</a:t>
            </a:r>
          </a:p>
        </p:txBody>
      </p:sp>
      <p:sp>
        <p:nvSpPr>
          <p:cNvPr id="3" name="内容占位符 2"/>
          <p:cNvSpPr>
            <a:spLocks noGrp="1"/>
          </p:cNvSpPr>
          <p:nvPr>
            <p:ph idx="1"/>
          </p:nvPr>
        </p:nvSpPr>
        <p:spPr/>
        <p:txBody>
          <a:bodyPr/>
          <a:lstStyle/>
          <a:p>
            <a:r>
              <a:rPr lang="en-US" altLang="zh-CN" dirty="0"/>
              <a:t>Boosting tree(</a:t>
            </a:r>
            <a:r>
              <a:rPr lang="zh-CN" altLang="en-US" dirty="0"/>
              <a:t>提升树</a:t>
            </a:r>
            <a:r>
              <a:rPr lang="en-US" altLang="zh-CN" dirty="0"/>
              <a:t>)</a:t>
            </a:r>
            <a:r>
              <a:rPr lang="zh-CN" altLang="en-US" dirty="0"/>
              <a:t>：以决策树为基函数的提升方法；以分类树或回归树为基本分类器的提升方法。</a:t>
            </a:r>
            <a:endParaRPr lang="en-US" altLang="zh-CN" dirty="0"/>
          </a:p>
          <a:p>
            <a:r>
              <a:rPr lang="zh-CN" altLang="en-US" dirty="0"/>
              <a:t>提升树被认为是统计学习中性能最好的方法之一。</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71</a:t>
            </a:fld>
            <a:endParaRPr lang="en-US" altLang="zh-CN" dirty="0"/>
          </a:p>
        </p:txBody>
      </p:sp>
    </p:spTree>
    <p:extLst>
      <p:ext uri="{BB962C8B-B14F-4D97-AF65-F5344CB8AC3E}">
        <p14:creationId xmlns:p14="http://schemas.microsoft.com/office/powerpoint/2010/main" val="20680884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ending</a:t>
            </a:r>
            <a:br>
              <a:rPr lang="zh-CN" altLang="en-US" dirty="0"/>
            </a:br>
            <a:endParaRPr lang="zh-CN" altLang="en-US" dirty="0"/>
          </a:p>
        </p:txBody>
      </p:sp>
      <p:sp>
        <p:nvSpPr>
          <p:cNvPr id="7" name="文本占位符 6"/>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72</a:t>
            </a:fld>
            <a:endParaRPr lang="en-US" altLang="zh-CN" dirty="0"/>
          </a:p>
        </p:txBody>
      </p:sp>
    </p:spTree>
    <p:extLst>
      <p:ext uri="{BB962C8B-B14F-4D97-AF65-F5344CB8AC3E}">
        <p14:creationId xmlns:p14="http://schemas.microsoft.com/office/powerpoint/2010/main" val="29697004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后面三页为练习用数据</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73</a:t>
            </a:fld>
            <a:endParaRPr lang="en-US" altLang="zh-CN" dirty="0"/>
          </a:p>
        </p:txBody>
      </p:sp>
    </p:spTree>
    <p:extLst>
      <p:ext uri="{BB962C8B-B14F-4D97-AF65-F5344CB8AC3E}">
        <p14:creationId xmlns:p14="http://schemas.microsoft.com/office/powerpoint/2010/main" val="21905008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标题 1"/>
          <p:cNvSpPr>
            <a:spLocks noGrp="1"/>
          </p:cNvSpPr>
          <p:nvPr>
            <p:ph type="title"/>
          </p:nvPr>
        </p:nvSpPr>
        <p:spPr>
          <a:xfrm>
            <a:off x="263352" y="267706"/>
            <a:ext cx="9991992" cy="714380"/>
          </a:xfrm>
          <a:solidFill>
            <a:schemeClr val="bg1"/>
          </a:solidFill>
        </p:spPr>
        <p:txBody>
          <a:bodyPr/>
          <a:lstStyle/>
          <a:p>
            <a:r>
              <a:rPr lang="zh-CN" altLang="en-US" sz="2400" b="1" dirty="0">
                <a:solidFill>
                  <a:srgbClr val="FF0000"/>
                </a:solidFill>
              </a:rPr>
              <a:t>例：</a:t>
            </a:r>
            <a:r>
              <a:rPr lang="zh-CN" altLang="en-US" sz="2400" b="1" dirty="0">
                <a:solidFill>
                  <a:schemeClr val="tx1"/>
                </a:solidFill>
              </a:rPr>
              <a:t>如下表所述的天气数据，学习目标是 </a:t>
            </a:r>
            <a:r>
              <a:rPr lang="zh-CN" altLang="en-US" sz="2400" b="1" dirty="0">
                <a:solidFill>
                  <a:srgbClr val="FF0000"/>
                </a:solidFill>
              </a:rPr>
              <a:t>预测</a:t>
            </a:r>
            <a:r>
              <a:rPr lang="en-US" altLang="zh-CN" sz="2400" b="1" dirty="0">
                <a:solidFill>
                  <a:srgbClr val="FF0000"/>
                </a:solidFill>
              </a:rPr>
              <a:t>Play or not play</a:t>
            </a:r>
            <a:r>
              <a:rPr lang="en-US" altLang="zh-CN" sz="2400" b="1" dirty="0">
                <a:solidFill>
                  <a:schemeClr val="tx1"/>
                </a:solidFill>
              </a:rPr>
              <a:t>?</a:t>
            </a:r>
            <a:endParaRPr lang="zh-CN" altLang="en-US" sz="2400" b="1" dirty="0">
              <a:solidFill>
                <a:schemeClr val="tx1"/>
              </a:solidFill>
            </a:endParaRPr>
          </a:p>
        </p:txBody>
      </p:sp>
      <p:graphicFrame>
        <p:nvGraphicFramePr>
          <p:cNvPr id="5" name="内容占位符 4"/>
          <p:cNvGraphicFramePr>
            <a:graphicFrameLocks noGrp="1"/>
          </p:cNvGraphicFramePr>
          <p:nvPr>
            <p:ph sz="half" idx="2"/>
          </p:nvPr>
        </p:nvGraphicFramePr>
        <p:xfrm>
          <a:off x="47328" y="1071572"/>
          <a:ext cx="6618502" cy="5453773"/>
        </p:xfrm>
        <a:graphic>
          <a:graphicData uri="http://schemas.openxmlformats.org/drawingml/2006/table">
            <a:tbl>
              <a:tblPr/>
              <a:tblGrid>
                <a:gridCol w="1670574">
                  <a:extLst>
                    <a:ext uri="{9D8B030D-6E8A-4147-A177-3AD203B41FA5}">
                      <a16:colId xmlns:a16="http://schemas.microsoft.com/office/drawing/2014/main" val="20000"/>
                    </a:ext>
                  </a:extLst>
                </a:gridCol>
                <a:gridCol w="1684725">
                  <a:extLst>
                    <a:ext uri="{9D8B030D-6E8A-4147-A177-3AD203B41FA5}">
                      <a16:colId xmlns:a16="http://schemas.microsoft.com/office/drawing/2014/main" val="20001"/>
                    </a:ext>
                  </a:extLst>
                </a:gridCol>
                <a:gridCol w="1214217">
                  <a:extLst>
                    <a:ext uri="{9D8B030D-6E8A-4147-A177-3AD203B41FA5}">
                      <a16:colId xmlns:a16="http://schemas.microsoft.com/office/drawing/2014/main" val="20002"/>
                    </a:ext>
                  </a:extLst>
                </a:gridCol>
                <a:gridCol w="1047258">
                  <a:extLst>
                    <a:ext uri="{9D8B030D-6E8A-4147-A177-3AD203B41FA5}">
                      <a16:colId xmlns:a16="http://schemas.microsoft.com/office/drawing/2014/main" val="20003"/>
                    </a:ext>
                  </a:extLst>
                </a:gridCol>
                <a:gridCol w="1001728">
                  <a:extLst>
                    <a:ext uri="{9D8B030D-6E8A-4147-A177-3AD203B41FA5}">
                      <a16:colId xmlns:a16="http://schemas.microsoft.com/office/drawing/2014/main" val="20004"/>
                    </a:ext>
                  </a:extLst>
                </a:gridCol>
              </a:tblGrid>
              <a:tr h="378261">
                <a:tc>
                  <a:txBody>
                    <a:bodyPr/>
                    <a:lstStyle/>
                    <a:p>
                      <a:pPr algn="ctr"/>
                      <a:r>
                        <a:rPr lang="en-US" sz="1600" b="1" dirty="0"/>
                        <a:t>Outlook</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Temperature</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Humidity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Windy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Play?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0"/>
                  </a:ext>
                </a:extLst>
              </a:tr>
              <a:tr h="360463">
                <a:tc>
                  <a:txBody>
                    <a:bodyPr/>
                    <a:lstStyle/>
                    <a:p>
                      <a:pPr algn="ctr"/>
                      <a:r>
                        <a:rPr lang="en-US" sz="1600" dirty="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1"/>
                  </a:ext>
                </a:extLst>
              </a:tr>
              <a:tr h="360463">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2"/>
                  </a:ext>
                </a:extLst>
              </a:tr>
              <a:tr h="360463">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3"/>
                  </a:ext>
                </a:extLst>
              </a:tr>
              <a:tr h="360463">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4"/>
                  </a:ext>
                </a:extLst>
              </a:tr>
              <a:tr h="360463">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5"/>
                  </a:ext>
                </a:extLst>
              </a:tr>
              <a:tr h="360463">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6"/>
                  </a:ext>
                </a:extLst>
              </a:tr>
              <a:tr h="360463">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7"/>
                  </a:ext>
                </a:extLst>
              </a:tr>
              <a:tr h="360463">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8"/>
                  </a:ext>
                </a:extLst>
              </a:tr>
              <a:tr h="360463">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9"/>
                  </a:ext>
                </a:extLst>
              </a:tr>
              <a:tr h="360463">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0"/>
                  </a:ext>
                </a:extLst>
              </a:tr>
              <a:tr h="360463">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1"/>
                  </a:ext>
                </a:extLst>
              </a:tr>
              <a:tr h="371695">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2"/>
                  </a:ext>
                </a:extLst>
              </a:tr>
              <a:tr h="378261">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3"/>
                  </a:ext>
                </a:extLst>
              </a:tr>
              <a:tr h="360463">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4"/>
                  </a:ext>
                </a:extLst>
              </a:tr>
            </a:tbl>
          </a:graphicData>
        </a:graphic>
      </p:graphicFrame>
      <p:sp>
        <p:nvSpPr>
          <p:cNvPr id="1105" name="Rectangle 1"/>
          <p:cNvSpPr>
            <a:spLocks noChangeArrowheads="1"/>
          </p:cNvSpPr>
          <p:nvPr/>
        </p:nvSpPr>
        <p:spPr bwMode="auto">
          <a:xfrm>
            <a:off x="1524004" y="-323163"/>
            <a:ext cx="184731" cy="646331"/>
          </a:xfrm>
          <a:prstGeom prst="rect">
            <a:avLst/>
          </a:prstGeom>
          <a:noFill/>
          <a:ln w="9525">
            <a:noFill/>
            <a:miter lim="800000"/>
            <a:headEnd/>
            <a:tailEnd/>
          </a:ln>
        </p:spPr>
        <p:txBody>
          <a:bodyPr wrap="none" anchor="ctr">
            <a:spAutoFit/>
          </a:bodyPr>
          <a:lstStyle/>
          <a:p>
            <a:pPr eaLnBrk="0" hangingPunct="0"/>
            <a:br>
              <a:rPr lang="zh-CN" altLang="zh-CN">
                <a:solidFill>
                  <a:srgbClr val="000000"/>
                </a:solidFill>
              </a:rPr>
            </a:br>
            <a:endParaRPr lang="zh-CN" altLang="zh-CN">
              <a:solidFill>
                <a:srgbClr val="000000"/>
              </a:solidFill>
            </a:endParaRPr>
          </a:p>
        </p:txBody>
      </p:sp>
      <p:sp>
        <p:nvSpPr>
          <p:cNvPr id="1106" name="Rectangle 2"/>
          <p:cNvSpPr>
            <a:spLocks noChangeArrowheads="1"/>
          </p:cNvSpPr>
          <p:nvPr/>
        </p:nvSpPr>
        <p:spPr bwMode="auto">
          <a:xfrm>
            <a:off x="6691211" y="1803079"/>
            <a:ext cx="5616624" cy="1323439"/>
          </a:xfrm>
          <a:prstGeom prst="rect">
            <a:avLst/>
          </a:prstGeom>
          <a:noFill/>
          <a:ln w="9525">
            <a:noFill/>
            <a:miter lim="800000"/>
            <a:headEnd/>
            <a:tailEnd/>
          </a:ln>
        </p:spPr>
        <p:txBody>
          <a:bodyPr wrap="square" anchor="ctr">
            <a:spAutoFit/>
          </a:bodyPr>
          <a:lstStyle/>
          <a:p>
            <a:pPr eaLnBrk="0" hangingPunct="0"/>
            <a:r>
              <a:rPr lang="zh-CN" altLang="en-US" sz="2000" dirty="0">
                <a:solidFill>
                  <a:srgbClr val="362E2B"/>
                </a:solidFill>
                <a:cs typeface="Arial" charset="0"/>
              </a:rPr>
              <a:t>共</a:t>
            </a:r>
            <a:r>
              <a:rPr lang="zh-CN" altLang="zh-CN" sz="2000" dirty="0">
                <a:solidFill>
                  <a:srgbClr val="362E2B"/>
                </a:solidFill>
                <a:cs typeface="Arial" charset="0"/>
              </a:rPr>
              <a:t>14</a:t>
            </a:r>
            <a:r>
              <a:rPr lang="zh-CN" altLang="en-US" sz="2000" dirty="0">
                <a:solidFill>
                  <a:srgbClr val="362E2B"/>
                </a:solidFill>
                <a:cs typeface="Arial" charset="0"/>
              </a:rPr>
              <a:t>个实例：</a:t>
            </a:r>
            <a:r>
              <a:rPr lang="zh-CN" altLang="zh-CN" sz="2000" dirty="0">
                <a:solidFill>
                  <a:srgbClr val="362E2B"/>
                </a:solidFill>
                <a:cs typeface="Arial" charset="0"/>
              </a:rPr>
              <a:t>9</a:t>
            </a:r>
            <a:r>
              <a:rPr lang="zh-CN" altLang="en-US" sz="2000" dirty="0">
                <a:solidFill>
                  <a:srgbClr val="362E2B"/>
                </a:solidFill>
                <a:cs typeface="Arial" charset="0"/>
              </a:rPr>
              <a:t>个正例（</a:t>
            </a:r>
            <a:r>
              <a:rPr lang="zh-CN" altLang="zh-CN" sz="2000" dirty="0">
                <a:solidFill>
                  <a:srgbClr val="362E2B"/>
                </a:solidFill>
                <a:cs typeface="Arial" charset="0"/>
              </a:rPr>
              <a:t>yes</a:t>
            </a:r>
            <a:r>
              <a:rPr lang="zh-CN" altLang="en-US" sz="2000" dirty="0">
                <a:solidFill>
                  <a:srgbClr val="362E2B"/>
                </a:solidFill>
                <a:cs typeface="Arial" charset="0"/>
              </a:rPr>
              <a:t>），</a:t>
            </a:r>
            <a:r>
              <a:rPr lang="zh-CN" altLang="zh-CN" sz="2000" dirty="0">
                <a:solidFill>
                  <a:srgbClr val="362E2B"/>
                </a:solidFill>
                <a:cs typeface="Arial" charset="0"/>
              </a:rPr>
              <a:t>5</a:t>
            </a:r>
            <a:r>
              <a:rPr lang="zh-CN" altLang="en-US" sz="2000" dirty="0">
                <a:solidFill>
                  <a:srgbClr val="362E2B"/>
                </a:solidFill>
                <a:cs typeface="Arial" charset="0"/>
              </a:rPr>
              <a:t>个负例（</a:t>
            </a:r>
            <a:r>
              <a:rPr lang="zh-CN" altLang="zh-CN" sz="2000" dirty="0">
                <a:solidFill>
                  <a:srgbClr val="362E2B"/>
                </a:solidFill>
                <a:cs typeface="Arial" charset="0"/>
              </a:rPr>
              <a:t>no</a:t>
            </a:r>
            <a:r>
              <a:rPr lang="zh-CN" altLang="en-US" sz="2000" dirty="0">
                <a:solidFill>
                  <a:srgbClr val="362E2B"/>
                </a:solidFill>
                <a:cs typeface="Arial" charset="0"/>
              </a:rPr>
              <a:t>）</a:t>
            </a:r>
            <a:endParaRPr lang="zh-CN" altLang="en-US" sz="2000" dirty="0">
              <a:solidFill>
                <a:srgbClr val="000000"/>
              </a:solidFill>
            </a:endParaRPr>
          </a:p>
          <a:p>
            <a:pPr eaLnBrk="0" hangingPunct="0"/>
            <a:endParaRPr lang="en-US" altLang="zh-CN" sz="2000" dirty="0">
              <a:solidFill>
                <a:srgbClr val="362E2B"/>
              </a:solidFill>
              <a:cs typeface="Arial" charset="0"/>
            </a:endParaRPr>
          </a:p>
          <a:p>
            <a:pPr eaLnBrk="0" hangingPunct="0"/>
            <a:r>
              <a:rPr lang="zh-CN" altLang="en-US" sz="2000" dirty="0">
                <a:solidFill>
                  <a:srgbClr val="362E2B"/>
                </a:solidFill>
                <a:cs typeface="Arial" charset="0"/>
              </a:rPr>
              <a:t>当前数据</a:t>
            </a:r>
            <a:r>
              <a:rPr lang="en-US" altLang="zh-CN" sz="2000" dirty="0">
                <a:solidFill>
                  <a:srgbClr val="362E2B"/>
                </a:solidFill>
                <a:cs typeface="Arial" charset="0"/>
              </a:rPr>
              <a:t>D</a:t>
            </a:r>
            <a:r>
              <a:rPr lang="zh-CN" altLang="en-US" sz="2000" dirty="0">
                <a:solidFill>
                  <a:srgbClr val="362E2B"/>
                </a:solidFill>
                <a:cs typeface="Arial" charset="0"/>
              </a:rPr>
              <a:t>（原始状态）的信息量用熵来计算：</a:t>
            </a:r>
            <a:br>
              <a:rPr lang="zh-CN" altLang="en-US" sz="2000" dirty="0">
                <a:solidFill>
                  <a:srgbClr val="362E2B"/>
                </a:solidFill>
                <a:cs typeface="Arial" charset="0"/>
              </a:rPr>
            </a:br>
            <a:endParaRPr lang="zh-CN" altLang="en-US" sz="2000" dirty="0">
              <a:solidFill>
                <a:srgbClr val="000000"/>
              </a:solidFill>
            </a:endParaRPr>
          </a:p>
        </p:txBody>
      </p:sp>
      <p:graphicFrame>
        <p:nvGraphicFramePr>
          <p:cNvPr id="1026" name="Object 3"/>
          <p:cNvGraphicFramePr>
            <a:graphicFrameLocks noChangeAspect="1"/>
          </p:cNvGraphicFramePr>
          <p:nvPr/>
        </p:nvGraphicFramePr>
        <p:xfrm>
          <a:off x="6744074" y="3823698"/>
          <a:ext cx="5435347" cy="1199341"/>
        </p:xfrm>
        <a:graphic>
          <a:graphicData uri="http://schemas.openxmlformats.org/presentationml/2006/ole">
            <mc:AlternateContent xmlns:mc="http://schemas.openxmlformats.org/markup-compatibility/2006">
              <mc:Choice xmlns:v="urn:schemas-microsoft-com:vml" Requires="v">
                <p:oleObj spid="_x0000_s525424" name="Equation" r:id="rId4" imgW="2031840" imgH="609480" progId="Equation.DSMT4">
                  <p:embed/>
                </p:oleObj>
              </mc:Choice>
              <mc:Fallback>
                <p:oleObj name="Equation" r:id="rId4" imgW="2031840" imgH="609480" progId="Equation.DSMT4">
                  <p:embed/>
                  <p:pic>
                    <p:nvPicPr>
                      <p:cNvPr id="1026" name="Object 3"/>
                      <p:cNvPicPr>
                        <a:picLocks noChangeAspect="1" noChangeArrowheads="1"/>
                      </p:cNvPicPr>
                      <p:nvPr/>
                    </p:nvPicPr>
                    <p:blipFill>
                      <a:blip r:embed="rId5"/>
                      <a:srcRect/>
                      <a:stretch>
                        <a:fillRect/>
                      </a:stretch>
                    </p:blipFill>
                    <p:spPr bwMode="auto">
                      <a:xfrm>
                        <a:off x="6744074" y="3823698"/>
                        <a:ext cx="5435347" cy="1199341"/>
                      </a:xfrm>
                      <a:prstGeom prst="rect">
                        <a:avLst/>
                      </a:prstGeom>
                      <a:noFill/>
                    </p:spPr>
                  </p:pic>
                </p:oleObj>
              </mc:Fallback>
            </mc:AlternateContent>
          </a:graphicData>
        </a:graphic>
      </p:graphicFrame>
      <p:graphicFrame>
        <p:nvGraphicFramePr>
          <p:cNvPr id="1027" name="Object 4"/>
          <p:cNvGraphicFramePr>
            <a:graphicFrameLocks noChangeAspect="1"/>
          </p:cNvGraphicFramePr>
          <p:nvPr/>
        </p:nvGraphicFramePr>
        <p:xfrm>
          <a:off x="6737079" y="5162552"/>
          <a:ext cx="5335587" cy="944563"/>
        </p:xfrm>
        <a:graphic>
          <a:graphicData uri="http://schemas.openxmlformats.org/presentationml/2006/ole">
            <mc:AlternateContent xmlns:mc="http://schemas.openxmlformats.org/markup-compatibility/2006">
              <mc:Choice xmlns:v="urn:schemas-microsoft-com:vml" Requires="v">
                <p:oleObj spid="_x0000_s525425" name="Equation" r:id="rId6" imgW="2438280" imgH="431640" progId="Equation.DSMT4">
                  <p:embed/>
                </p:oleObj>
              </mc:Choice>
              <mc:Fallback>
                <p:oleObj name="Equation" r:id="rId6" imgW="2438280" imgH="431640" progId="Equation.DSMT4">
                  <p:embed/>
                  <p:pic>
                    <p:nvPicPr>
                      <p:cNvPr id="1027" name="Object 4"/>
                      <p:cNvPicPr>
                        <a:picLocks noChangeAspect="1" noChangeArrowheads="1"/>
                      </p:cNvPicPr>
                      <p:nvPr/>
                    </p:nvPicPr>
                    <p:blipFill>
                      <a:blip r:embed="rId7"/>
                      <a:srcRect/>
                      <a:stretch>
                        <a:fillRect/>
                      </a:stretch>
                    </p:blipFill>
                    <p:spPr bwMode="auto">
                      <a:xfrm>
                        <a:off x="6737079" y="5162552"/>
                        <a:ext cx="5335587" cy="944563"/>
                      </a:xfrm>
                      <a:prstGeom prst="rect">
                        <a:avLst/>
                      </a:prstGeom>
                      <a:noFill/>
                      <a:ln>
                        <a:noFill/>
                      </a:ln>
                      <a:effectLst/>
                    </p:spPr>
                  </p:pic>
                </p:oleObj>
              </mc:Fallback>
            </mc:AlternateContent>
          </a:graphicData>
        </a:graphic>
      </p:graphicFrame>
      <p:sp>
        <p:nvSpPr>
          <p:cNvPr id="8" name="灯片编号占位符 7"/>
          <p:cNvSpPr>
            <a:spLocks noGrp="1"/>
          </p:cNvSpPr>
          <p:nvPr>
            <p:ph type="sldNum" sz="quarter" idx="12"/>
          </p:nvPr>
        </p:nvSpPr>
        <p:spPr/>
        <p:txBody>
          <a:bodyPr/>
          <a:lstStyle/>
          <a:p>
            <a:fld id="{8863B22E-6A07-4FB1-AB14-E229E6B704DF}" type="slidenum">
              <a:rPr lang="zh-CN" altLang="zh-CN" smtClean="0">
                <a:solidFill>
                  <a:srgbClr val="000000"/>
                </a:solidFill>
              </a:rPr>
              <a:pPr/>
              <a:t>74</a:t>
            </a:fld>
            <a:endParaRPr lang="zh-CN" altLang="zh-CN" dirty="0">
              <a:solidFill>
                <a:srgbClr val="000000"/>
              </a:solidFill>
            </a:endParaRPr>
          </a:p>
        </p:txBody>
      </p:sp>
    </p:spTree>
    <p:extLst>
      <p:ext uri="{BB962C8B-B14F-4D97-AF65-F5344CB8AC3E}">
        <p14:creationId xmlns:p14="http://schemas.microsoft.com/office/powerpoint/2010/main" val="20436199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2" descr="c:\users\by\appdata\roaming\360se6\User Data\temp\2012072319214689.gif"/>
          <p:cNvPicPr>
            <a:picLocks noChangeAspect="1" noChangeArrowheads="1"/>
          </p:cNvPicPr>
          <p:nvPr/>
        </p:nvPicPr>
        <p:blipFill>
          <a:blip r:embed="rId4" cstate="print"/>
          <a:srcRect/>
          <a:stretch>
            <a:fillRect/>
          </a:stretch>
        </p:blipFill>
        <p:spPr bwMode="auto">
          <a:xfrm>
            <a:off x="-848185" y="900094"/>
            <a:ext cx="7853013" cy="4646553"/>
          </a:xfrm>
          <a:prstGeom prst="rect">
            <a:avLst/>
          </a:prstGeom>
          <a:noFill/>
          <a:ln w="9525">
            <a:noFill/>
            <a:miter lim="800000"/>
            <a:headEnd/>
            <a:tailEnd/>
          </a:ln>
        </p:spPr>
      </p:pic>
      <p:sp>
        <p:nvSpPr>
          <p:cNvPr id="2055" name="标题 1"/>
          <p:cNvSpPr>
            <a:spLocks noGrp="1"/>
          </p:cNvSpPr>
          <p:nvPr>
            <p:ph type="title"/>
          </p:nvPr>
        </p:nvSpPr>
        <p:spPr>
          <a:xfrm>
            <a:off x="562171" y="149468"/>
            <a:ext cx="8229600" cy="614363"/>
          </a:xfrm>
        </p:spPr>
        <p:txBody>
          <a:bodyPr/>
          <a:lstStyle/>
          <a:p>
            <a:r>
              <a:rPr lang="zh-CN" altLang="en-US" sz="2400" dirty="0">
                <a:solidFill>
                  <a:srgbClr val="FF0000"/>
                </a:solidFill>
              </a:rPr>
              <a:t>续上</a:t>
            </a:r>
            <a:r>
              <a:rPr lang="zh-CN" altLang="en-US" sz="2400" dirty="0"/>
              <a:t>：选取</a:t>
            </a:r>
            <a:r>
              <a:rPr lang="en-US" altLang="zh-CN" sz="2400" dirty="0"/>
              <a:t>Outlook</a:t>
            </a:r>
            <a:r>
              <a:rPr lang="zh-CN" altLang="en-US" sz="2400" dirty="0"/>
              <a:t>属性来划分，见下图</a:t>
            </a:r>
          </a:p>
        </p:txBody>
      </p:sp>
      <p:sp>
        <p:nvSpPr>
          <p:cNvPr id="2056" name="内容占位符 2"/>
          <p:cNvSpPr>
            <a:spLocks noGrp="1"/>
          </p:cNvSpPr>
          <p:nvPr>
            <p:ph idx="1"/>
          </p:nvPr>
        </p:nvSpPr>
        <p:spPr>
          <a:xfrm>
            <a:off x="5362956" y="1293013"/>
            <a:ext cx="6709713" cy="4867275"/>
          </a:xfrm>
        </p:spPr>
        <p:txBody>
          <a:bodyPr/>
          <a:lstStyle/>
          <a:p>
            <a:r>
              <a:rPr lang="zh-CN" altLang="en-US" sz="2400" dirty="0"/>
              <a:t>在用</a:t>
            </a:r>
            <a:r>
              <a:rPr lang="en-US" altLang="zh-CN" sz="2400" dirty="0"/>
              <a:t>Outlook</a:t>
            </a:r>
            <a:r>
              <a:rPr lang="zh-CN" altLang="en-US" sz="2400" dirty="0"/>
              <a:t>属性划分后，可以看到数据被分成三份，则各分支的信息（熵）计算如下：</a:t>
            </a:r>
          </a:p>
        </p:txBody>
      </p:sp>
      <p:graphicFrame>
        <p:nvGraphicFramePr>
          <p:cNvPr id="2050" name="Object 3"/>
          <p:cNvGraphicFramePr>
            <a:graphicFrameLocks noChangeAspect="1"/>
          </p:cNvGraphicFramePr>
          <p:nvPr/>
        </p:nvGraphicFramePr>
        <p:xfrm>
          <a:off x="5577012" y="2710557"/>
          <a:ext cx="6385219" cy="659587"/>
        </p:xfrm>
        <a:graphic>
          <a:graphicData uri="http://schemas.openxmlformats.org/presentationml/2006/ole">
            <mc:AlternateContent xmlns:mc="http://schemas.openxmlformats.org/markup-compatibility/2006">
              <mc:Choice xmlns:v="urn:schemas-microsoft-com:vml" Requires="v">
                <p:oleObj spid="_x0000_s526554" name="Equation" r:id="rId5" imgW="3073400" imgH="431800" progId="Equation.DSMT4">
                  <p:embed/>
                </p:oleObj>
              </mc:Choice>
              <mc:Fallback>
                <p:oleObj name="Equation" r:id="rId5" imgW="3073400" imgH="431800" progId="Equation.DSMT4">
                  <p:embed/>
                  <p:pic>
                    <p:nvPicPr>
                      <p:cNvPr id="205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7012" y="2710557"/>
                        <a:ext cx="6385219" cy="659587"/>
                      </a:xfrm>
                      <a:prstGeom prst="rect">
                        <a:avLst/>
                      </a:prstGeom>
                      <a:noFill/>
                    </p:spPr>
                  </p:pic>
                </p:oleObj>
              </mc:Fallback>
            </mc:AlternateContent>
          </a:graphicData>
        </a:graphic>
      </p:graphicFrame>
      <p:graphicFrame>
        <p:nvGraphicFramePr>
          <p:cNvPr id="2051" name="Object 4"/>
          <p:cNvGraphicFramePr>
            <a:graphicFrameLocks noChangeAspect="1"/>
          </p:cNvGraphicFramePr>
          <p:nvPr/>
        </p:nvGraphicFramePr>
        <p:xfrm>
          <a:off x="5567540" y="3653988"/>
          <a:ext cx="5761555" cy="642939"/>
        </p:xfrm>
        <a:graphic>
          <a:graphicData uri="http://schemas.openxmlformats.org/presentationml/2006/ole">
            <mc:AlternateContent xmlns:mc="http://schemas.openxmlformats.org/markup-compatibility/2006">
              <mc:Choice xmlns:v="urn:schemas-microsoft-com:vml" Requires="v">
                <p:oleObj spid="_x0000_s526555" name="Equation" r:id="rId7" imgW="2844800" imgH="431800" progId="Equation.DSMT4">
                  <p:embed/>
                </p:oleObj>
              </mc:Choice>
              <mc:Fallback>
                <p:oleObj name="Equation" r:id="rId7" imgW="2844800" imgH="431800" progId="Equation.DSMT4">
                  <p:embed/>
                  <p:pic>
                    <p:nvPicPr>
                      <p:cNvPr id="2051"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7540" y="3653988"/>
                        <a:ext cx="5761555" cy="642939"/>
                      </a:xfrm>
                      <a:prstGeom prst="rect">
                        <a:avLst/>
                      </a:prstGeom>
                      <a:noFill/>
                    </p:spPr>
                  </p:pic>
                </p:oleObj>
              </mc:Fallback>
            </mc:AlternateContent>
          </a:graphicData>
        </a:graphic>
      </p:graphicFrame>
      <p:graphicFrame>
        <p:nvGraphicFramePr>
          <p:cNvPr id="2052" name="Object 5"/>
          <p:cNvGraphicFramePr>
            <a:graphicFrameLocks noChangeAspect="1"/>
          </p:cNvGraphicFramePr>
          <p:nvPr/>
        </p:nvGraphicFramePr>
        <p:xfrm>
          <a:off x="5567540" y="4368788"/>
          <a:ext cx="6323445" cy="653205"/>
        </p:xfrm>
        <a:graphic>
          <a:graphicData uri="http://schemas.openxmlformats.org/presentationml/2006/ole">
            <mc:AlternateContent xmlns:mc="http://schemas.openxmlformats.org/markup-compatibility/2006">
              <mc:Choice xmlns:v="urn:schemas-microsoft-com:vml" Requires="v">
                <p:oleObj spid="_x0000_s526556" name="Equation" r:id="rId9" imgW="3073400" imgH="431800" progId="Equation.DSMT4">
                  <p:embed/>
                </p:oleObj>
              </mc:Choice>
              <mc:Fallback>
                <p:oleObj name="Equation" r:id="rId9" imgW="3073400" imgH="431800" progId="Equation.DSMT4">
                  <p:embed/>
                  <p:pic>
                    <p:nvPicPr>
                      <p:cNvPr id="2052"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7540" y="4368788"/>
                        <a:ext cx="6323445" cy="653205"/>
                      </a:xfrm>
                      <a:prstGeom prst="rect">
                        <a:avLst/>
                      </a:prstGeom>
                      <a:noFill/>
                    </p:spPr>
                  </p:pic>
                </p:oleObj>
              </mc:Fallback>
            </mc:AlternateContent>
          </a:graphicData>
        </a:graphic>
      </p:graphicFrame>
      <p:sp>
        <p:nvSpPr>
          <p:cNvPr id="2057" name="矩形 7"/>
          <p:cNvSpPr>
            <a:spLocks noChangeArrowheads="1"/>
          </p:cNvSpPr>
          <p:nvPr/>
        </p:nvSpPr>
        <p:spPr bwMode="auto">
          <a:xfrm>
            <a:off x="2639618" y="5021991"/>
            <a:ext cx="2723823" cy="369332"/>
          </a:xfrm>
          <a:prstGeom prst="rect">
            <a:avLst/>
          </a:prstGeom>
          <a:noFill/>
          <a:ln w="9525">
            <a:noFill/>
            <a:miter lim="800000"/>
            <a:headEnd/>
            <a:tailEnd/>
          </a:ln>
        </p:spPr>
        <p:txBody>
          <a:bodyPr wrap="none">
            <a:spAutoFit/>
          </a:bodyPr>
          <a:lstStyle/>
          <a:p>
            <a:r>
              <a:rPr lang="zh-CN" altLang="en-US" dirty="0">
                <a:solidFill>
                  <a:srgbClr val="000000"/>
                </a:solidFill>
              </a:rPr>
              <a:t>划分后的信息总量应为：</a:t>
            </a:r>
          </a:p>
        </p:txBody>
      </p:sp>
      <p:graphicFrame>
        <p:nvGraphicFramePr>
          <p:cNvPr id="2053" name="Object 6"/>
          <p:cNvGraphicFramePr>
            <a:graphicFrameLocks noChangeAspect="1"/>
          </p:cNvGraphicFramePr>
          <p:nvPr/>
        </p:nvGraphicFramePr>
        <p:xfrm>
          <a:off x="853384" y="5291103"/>
          <a:ext cx="10223664" cy="723065"/>
        </p:xfrm>
        <a:graphic>
          <a:graphicData uri="http://schemas.openxmlformats.org/presentationml/2006/ole">
            <mc:AlternateContent xmlns:mc="http://schemas.openxmlformats.org/markup-compatibility/2006">
              <mc:Choice xmlns:v="urn:schemas-microsoft-com:vml" Requires="v">
                <p:oleObj spid="_x0000_s526557" name="Equation" r:id="rId11" imgW="4102100" imgH="393700" progId="Equation.DSMT4">
                  <p:embed/>
                </p:oleObj>
              </mc:Choice>
              <mc:Fallback>
                <p:oleObj name="Equation" r:id="rId11" imgW="4102100" imgH="393700" progId="Equation.DSMT4">
                  <p:embed/>
                  <p:pic>
                    <p:nvPicPr>
                      <p:cNvPr id="2053"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3384" y="5291103"/>
                        <a:ext cx="10223664" cy="723065"/>
                      </a:xfrm>
                      <a:prstGeom prst="rect">
                        <a:avLst/>
                      </a:prstGeom>
                      <a:noFill/>
                    </p:spPr>
                  </p:pic>
                </p:oleObj>
              </mc:Fallback>
            </mc:AlternateContent>
          </a:graphicData>
        </a:graphic>
      </p:graphicFrame>
      <p:sp>
        <p:nvSpPr>
          <p:cNvPr id="10" name="灯片编号占位符 9"/>
          <p:cNvSpPr>
            <a:spLocks noGrp="1"/>
          </p:cNvSpPr>
          <p:nvPr>
            <p:ph type="sldNum" sz="quarter" idx="11"/>
          </p:nvPr>
        </p:nvSpPr>
        <p:spPr/>
        <p:txBody>
          <a:bodyPr/>
          <a:lstStyle/>
          <a:p>
            <a:pPr>
              <a:defRPr/>
            </a:pPr>
            <a:fld id="{31E287EE-1289-4991-82CE-EFE584F53F4F}" type="slidenum">
              <a:rPr lang="en-US" altLang="zh-CN" smtClean="0"/>
              <a:pPr>
                <a:defRPr/>
              </a:pPr>
              <a:t>75</a:t>
            </a:fld>
            <a:endParaRPr lang="en-US" altLang="zh-CN" dirty="0"/>
          </a:p>
        </p:txBody>
      </p:sp>
      <p:sp>
        <p:nvSpPr>
          <p:cNvPr id="11" name="矩形 10"/>
          <p:cNvSpPr/>
          <p:nvPr/>
        </p:nvSpPr>
        <p:spPr>
          <a:xfrm>
            <a:off x="10632510" y="6429396"/>
            <a:ext cx="671979" cy="369332"/>
          </a:xfrm>
          <a:prstGeom prst="rect">
            <a:avLst/>
          </a:prstGeom>
          <a:ln>
            <a:solidFill>
              <a:srgbClr val="FF0000"/>
            </a:solidFill>
          </a:ln>
        </p:spPr>
        <p:txBody>
          <a:bodyPr wrap="none">
            <a:spAutoFit/>
          </a:bodyPr>
          <a:lstStyle/>
          <a:p>
            <a:r>
              <a:rPr lang="en-US" altLang="zh-CN" dirty="0">
                <a:solidFill>
                  <a:srgbClr val="FF0000"/>
                </a:solidFill>
                <a:hlinkClick r:id="rId13" action="ppaction://hlinksldjump"/>
              </a:rPr>
              <a:t>back</a:t>
            </a:r>
            <a:endParaRPr lang="zh-CN" altLang="en-US" dirty="0">
              <a:solidFill>
                <a:srgbClr val="FF0000"/>
              </a:solidFill>
            </a:endParaRPr>
          </a:p>
        </p:txBody>
      </p:sp>
    </p:spTree>
    <p:extLst>
      <p:ext uri="{BB962C8B-B14F-4D97-AF65-F5344CB8AC3E}">
        <p14:creationId xmlns:p14="http://schemas.microsoft.com/office/powerpoint/2010/main" val="20128489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12936" y="-272110"/>
            <a:ext cx="8229600" cy="1143000"/>
          </a:xfrm>
        </p:spPr>
        <p:txBody>
          <a:bodyPr/>
          <a:lstStyle/>
          <a:p>
            <a:r>
              <a:rPr lang="zh-CN" altLang="en-US" dirty="0"/>
              <a:t>续：</a:t>
            </a:r>
            <a:endParaRPr lang="en-US" altLang="zh-CN" dirty="0"/>
          </a:p>
        </p:txBody>
      </p:sp>
      <p:grpSp>
        <p:nvGrpSpPr>
          <p:cNvPr id="4" name="组合 3"/>
          <p:cNvGrpSpPr/>
          <p:nvPr/>
        </p:nvGrpSpPr>
        <p:grpSpPr>
          <a:xfrm>
            <a:off x="4766058" y="1827652"/>
            <a:ext cx="4106863" cy="3904500"/>
            <a:chOff x="4859809" y="1400312"/>
            <a:chExt cx="4106863" cy="3904500"/>
          </a:xfrm>
        </p:grpSpPr>
        <p:grpSp>
          <p:nvGrpSpPr>
            <p:cNvPr id="2" name="Group 25"/>
            <p:cNvGrpSpPr>
              <a:grpSpLocks/>
            </p:cNvGrpSpPr>
            <p:nvPr/>
          </p:nvGrpSpPr>
          <p:grpSpPr bwMode="auto">
            <a:xfrm>
              <a:off x="5184453" y="1400312"/>
              <a:ext cx="2573338" cy="2524126"/>
              <a:chOff x="340" y="993"/>
              <a:chExt cx="1621" cy="1590"/>
            </a:xfrm>
          </p:grpSpPr>
          <p:sp>
            <p:nvSpPr>
              <p:cNvPr id="33811" name="Text Box 4"/>
              <p:cNvSpPr txBox="1">
                <a:spLocks noChangeArrowheads="1"/>
              </p:cNvSpPr>
              <p:nvPr/>
            </p:nvSpPr>
            <p:spPr bwMode="auto">
              <a:xfrm>
                <a:off x="930" y="1434"/>
                <a:ext cx="738" cy="233"/>
              </a:xfrm>
              <a:prstGeom prst="rect">
                <a:avLst/>
              </a:prstGeom>
              <a:noFill/>
              <a:ln w="9525">
                <a:noFill/>
                <a:miter lim="800000"/>
                <a:headEnd/>
                <a:tailEnd/>
              </a:ln>
            </p:spPr>
            <p:txBody>
              <a:bodyPr wrap="none">
                <a:spAutoFit/>
              </a:bodyPr>
              <a:lstStyle/>
              <a:p>
                <a:pPr algn="ctr"/>
                <a:r>
                  <a:rPr lang="en-US" altLang="zh-CN" b="1" dirty="0">
                    <a:solidFill>
                      <a:srgbClr val="000000"/>
                    </a:solidFill>
                  </a:rPr>
                  <a:t>Humidity</a:t>
                </a:r>
                <a:endParaRPr lang="en-US" altLang="zh-CN" dirty="0">
                  <a:solidFill>
                    <a:srgbClr val="000000"/>
                  </a:solidFill>
                </a:endParaRPr>
              </a:p>
            </p:txBody>
          </p:sp>
          <p:sp>
            <p:nvSpPr>
              <p:cNvPr id="33812" name="Line 5"/>
              <p:cNvSpPr>
                <a:spLocks noChangeShapeType="1"/>
              </p:cNvSpPr>
              <p:nvPr/>
            </p:nvSpPr>
            <p:spPr bwMode="auto">
              <a:xfrm flipH="1">
                <a:off x="782" y="1813"/>
                <a:ext cx="433" cy="351"/>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33813" name="Line 6"/>
              <p:cNvSpPr>
                <a:spLocks noChangeShapeType="1"/>
              </p:cNvSpPr>
              <p:nvPr/>
            </p:nvSpPr>
            <p:spPr bwMode="auto">
              <a:xfrm>
                <a:off x="1215" y="1813"/>
                <a:ext cx="360" cy="307"/>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33814" name="Text Box 7"/>
              <p:cNvSpPr txBox="1">
                <a:spLocks noChangeArrowheads="1"/>
              </p:cNvSpPr>
              <p:nvPr/>
            </p:nvSpPr>
            <p:spPr bwMode="auto">
              <a:xfrm>
                <a:off x="556" y="1648"/>
                <a:ext cx="415" cy="233"/>
              </a:xfrm>
              <a:prstGeom prst="rect">
                <a:avLst/>
              </a:prstGeom>
              <a:noFill/>
              <a:ln w="9525">
                <a:noFill/>
                <a:miter lim="800000"/>
                <a:headEnd/>
                <a:tailEnd/>
              </a:ln>
            </p:spPr>
            <p:txBody>
              <a:bodyPr wrap="none">
                <a:spAutoFit/>
              </a:bodyPr>
              <a:lstStyle/>
              <a:p>
                <a:r>
                  <a:rPr lang="en-US" altLang="zh-CN">
                    <a:solidFill>
                      <a:srgbClr val="000000"/>
                    </a:solidFill>
                  </a:rPr>
                  <a:t>High</a:t>
                </a:r>
              </a:p>
            </p:txBody>
          </p:sp>
          <p:sp>
            <p:nvSpPr>
              <p:cNvPr id="33815" name="Text Box 8"/>
              <p:cNvSpPr txBox="1">
                <a:spLocks noChangeArrowheads="1"/>
              </p:cNvSpPr>
              <p:nvPr/>
            </p:nvSpPr>
            <p:spPr bwMode="auto">
              <a:xfrm>
                <a:off x="1493" y="1737"/>
                <a:ext cx="383" cy="233"/>
              </a:xfrm>
              <a:prstGeom prst="rect">
                <a:avLst/>
              </a:prstGeom>
              <a:noFill/>
              <a:ln w="9525">
                <a:noFill/>
                <a:miter lim="800000"/>
                <a:headEnd/>
                <a:tailEnd/>
              </a:ln>
            </p:spPr>
            <p:txBody>
              <a:bodyPr wrap="none">
                <a:spAutoFit/>
              </a:bodyPr>
              <a:lstStyle/>
              <a:p>
                <a:r>
                  <a:rPr lang="en-US" altLang="zh-CN">
                    <a:solidFill>
                      <a:srgbClr val="000000"/>
                    </a:solidFill>
                  </a:rPr>
                  <a:t>Low</a:t>
                </a:r>
              </a:p>
            </p:txBody>
          </p:sp>
          <p:sp>
            <p:nvSpPr>
              <p:cNvPr id="33816" name="Text Box 9"/>
              <p:cNvSpPr txBox="1">
                <a:spLocks noChangeArrowheads="1"/>
              </p:cNvSpPr>
              <p:nvPr/>
            </p:nvSpPr>
            <p:spPr bwMode="auto">
              <a:xfrm>
                <a:off x="942" y="993"/>
                <a:ext cx="714" cy="407"/>
              </a:xfrm>
              <a:prstGeom prst="rect">
                <a:avLst/>
              </a:prstGeom>
              <a:noFill/>
              <a:ln w="9525">
                <a:noFill/>
                <a:miter lim="800000"/>
                <a:headEnd/>
                <a:tailEnd/>
              </a:ln>
            </p:spPr>
            <p:txBody>
              <a:bodyPr wrap="none">
                <a:spAutoFit/>
              </a:bodyPr>
              <a:lstStyle/>
              <a:p>
                <a:r>
                  <a:rPr lang="en-US" altLang="zh-CN" dirty="0">
                    <a:solidFill>
                      <a:srgbClr val="000000"/>
                    </a:solidFill>
                  </a:rPr>
                  <a:t>S=[9+,5-]</a:t>
                </a:r>
              </a:p>
              <a:p>
                <a:r>
                  <a:rPr lang="en-US" altLang="zh-CN" dirty="0">
                    <a:solidFill>
                      <a:srgbClr val="FF0000"/>
                    </a:solidFill>
                  </a:rPr>
                  <a:t>E=0.940</a:t>
                </a:r>
              </a:p>
            </p:txBody>
          </p:sp>
          <p:sp>
            <p:nvSpPr>
              <p:cNvPr id="33817" name="Text Box 10"/>
              <p:cNvSpPr txBox="1">
                <a:spLocks noChangeArrowheads="1"/>
              </p:cNvSpPr>
              <p:nvPr/>
            </p:nvSpPr>
            <p:spPr bwMode="auto">
              <a:xfrm>
                <a:off x="340" y="2176"/>
                <a:ext cx="862" cy="407"/>
              </a:xfrm>
              <a:prstGeom prst="rect">
                <a:avLst/>
              </a:prstGeom>
              <a:noFill/>
              <a:ln w="9525">
                <a:noFill/>
                <a:miter lim="800000"/>
                <a:headEnd/>
                <a:tailEnd/>
              </a:ln>
            </p:spPr>
            <p:txBody>
              <a:bodyPr>
                <a:spAutoFit/>
              </a:bodyPr>
              <a:lstStyle/>
              <a:p>
                <a:r>
                  <a:rPr lang="en-US" altLang="zh-CN">
                    <a:solidFill>
                      <a:srgbClr val="000000"/>
                    </a:solidFill>
                  </a:rPr>
                  <a:t>[3+,4-]</a:t>
                </a:r>
              </a:p>
              <a:p>
                <a:endParaRPr lang="en-US" altLang="zh-CN">
                  <a:solidFill>
                    <a:srgbClr val="000000"/>
                  </a:solidFill>
                </a:endParaRPr>
              </a:p>
            </p:txBody>
          </p:sp>
          <p:sp>
            <p:nvSpPr>
              <p:cNvPr id="33818" name="Text Box 11"/>
              <p:cNvSpPr txBox="1">
                <a:spLocks noChangeArrowheads="1"/>
              </p:cNvSpPr>
              <p:nvPr/>
            </p:nvSpPr>
            <p:spPr bwMode="auto">
              <a:xfrm>
                <a:off x="1429" y="2205"/>
                <a:ext cx="532" cy="233"/>
              </a:xfrm>
              <a:prstGeom prst="rect">
                <a:avLst/>
              </a:prstGeom>
              <a:noFill/>
              <a:ln w="9525">
                <a:noFill/>
                <a:miter lim="800000"/>
                <a:headEnd/>
                <a:tailEnd/>
              </a:ln>
            </p:spPr>
            <p:txBody>
              <a:bodyPr wrap="none">
                <a:spAutoFit/>
              </a:bodyPr>
              <a:lstStyle/>
              <a:p>
                <a:r>
                  <a:rPr lang="en-US" altLang="zh-CN" dirty="0">
                    <a:solidFill>
                      <a:srgbClr val="000000"/>
                    </a:solidFill>
                  </a:rPr>
                  <a:t>[6+,1-]</a:t>
                </a:r>
              </a:p>
            </p:txBody>
          </p:sp>
        </p:grpSp>
        <p:sp>
          <p:nvSpPr>
            <p:cNvPr id="72716" name="Text Box 12"/>
            <p:cNvSpPr txBox="1">
              <a:spLocks noChangeArrowheads="1"/>
            </p:cNvSpPr>
            <p:nvPr/>
          </p:nvSpPr>
          <p:spPr bwMode="auto">
            <a:xfrm>
              <a:off x="4859809" y="4289149"/>
              <a:ext cx="4106863" cy="1015663"/>
            </a:xfrm>
            <a:prstGeom prst="rect">
              <a:avLst/>
            </a:prstGeom>
            <a:noFill/>
            <a:ln w="9525">
              <a:noFill/>
              <a:miter lim="800000"/>
              <a:headEnd/>
              <a:tailEnd/>
            </a:ln>
          </p:spPr>
          <p:txBody>
            <a:bodyPr>
              <a:spAutoFit/>
            </a:bodyPr>
            <a:lstStyle/>
            <a:p>
              <a:r>
                <a:rPr lang="en-US" altLang="zh-CN" sz="2000" dirty="0" err="1">
                  <a:solidFill>
                    <a:srgbClr val="000000"/>
                  </a:solidFill>
                </a:rPr>
                <a:t>InfoGain</a:t>
              </a:r>
              <a:r>
                <a:rPr lang="en-US" altLang="zh-CN" sz="2000" dirty="0">
                  <a:solidFill>
                    <a:srgbClr val="000000"/>
                  </a:solidFill>
                </a:rPr>
                <a:t> (S, </a:t>
              </a:r>
              <a:r>
                <a:rPr lang="en-US" altLang="zh-CN" sz="2000" b="1" dirty="0">
                  <a:solidFill>
                    <a:srgbClr val="000000"/>
                  </a:solidFill>
                </a:rPr>
                <a:t>Humidity</a:t>
              </a:r>
              <a:r>
                <a:rPr lang="en-US" altLang="zh-CN" sz="2000" dirty="0">
                  <a:solidFill>
                    <a:srgbClr val="000000"/>
                  </a:solidFill>
                </a:rPr>
                <a:t>)</a:t>
              </a:r>
            </a:p>
            <a:p>
              <a:r>
                <a:rPr lang="en-US" altLang="zh-CN" sz="2000" dirty="0">
                  <a:solidFill>
                    <a:srgbClr val="000000"/>
                  </a:solidFill>
                </a:rPr>
                <a:t>=0.940-(7/14)*0.985-(7/14)*0.592</a:t>
              </a:r>
            </a:p>
            <a:p>
              <a:r>
                <a:rPr lang="en-US" altLang="zh-CN" sz="2000" dirty="0">
                  <a:solidFill>
                    <a:srgbClr val="000000"/>
                  </a:solidFill>
                </a:rPr>
                <a:t>=0.151</a:t>
              </a:r>
            </a:p>
          </p:txBody>
        </p:sp>
        <p:sp>
          <p:nvSpPr>
            <p:cNvPr id="72731" name="Text Box 27"/>
            <p:cNvSpPr txBox="1">
              <a:spLocks noChangeArrowheads="1"/>
            </p:cNvSpPr>
            <p:nvPr/>
          </p:nvSpPr>
          <p:spPr bwMode="auto">
            <a:xfrm>
              <a:off x="5116377" y="3896982"/>
              <a:ext cx="1050288" cy="369332"/>
            </a:xfrm>
            <a:prstGeom prst="rect">
              <a:avLst/>
            </a:prstGeom>
            <a:noFill/>
            <a:ln w="9525">
              <a:noFill/>
              <a:miter lim="800000"/>
              <a:headEnd/>
              <a:tailEnd/>
            </a:ln>
          </p:spPr>
          <p:txBody>
            <a:bodyPr wrap="none">
              <a:spAutoFit/>
            </a:bodyPr>
            <a:lstStyle/>
            <a:p>
              <a:r>
                <a:rPr lang="en-US" altLang="zh-CN" dirty="0">
                  <a:solidFill>
                    <a:srgbClr val="000000"/>
                  </a:solidFill>
                </a:rPr>
                <a:t>E=0.985</a:t>
              </a:r>
            </a:p>
          </p:txBody>
        </p:sp>
        <p:sp>
          <p:nvSpPr>
            <p:cNvPr id="72732" name="Text Box 28"/>
            <p:cNvSpPr txBox="1">
              <a:spLocks noChangeArrowheads="1"/>
            </p:cNvSpPr>
            <p:nvPr/>
          </p:nvSpPr>
          <p:spPr bwMode="auto">
            <a:xfrm>
              <a:off x="6877674" y="3885007"/>
              <a:ext cx="1050288" cy="369332"/>
            </a:xfrm>
            <a:prstGeom prst="rect">
              <a:avLst/>
            </a:prstGeom>
            <a:noFill/>
            <a:ln w="9525">
              <a:noFill/>
              <a:miter lim="800000"/>
              <a:headEnd/>
              <a:tailEnd/>
            </a:ln>
          </p:spPr>
          <p:txBody>
            <a:bodyPr wrap="none">
              <a:spAutoFit/>
            </a:bodyPr>
            <a:lstStyle/>
            <a:p>
              <a:r>
                <a:rPr lang="en-US" altLang="zh-CN" dirty="0">
                  <a:solidFill>
                    <a:srgbClr val="000000"/>
                  </a:solidFill>
                </a:rPr>
                <a:t>E=0.592</a:t>
              </a:r>
            </a:p>
          </p:txBody>
        </p:sp>
      </p:grpSp>
      <p:grpSp>
        <p:nvGrpSpPr>
          <p:cNvPr id="5" name="组合 4"/>
          <p:cNvGrpSpPr/>
          <p:nvPr/>
        </p:nvGrpSpPr>
        <p:grpSpPr>
          <a:xfrm>
            <a:off x="8709372" y="1550193"/>
            <a:ext cx="3929063" cy="4168658"/>
            <a:chOff x="8067482" y="1339472"/>
            <a:chExt cx="3929063" cy="4168658"/>
          </a:xfrm>
        </p:grpSpPr>
        <p:grpSp>
          <p:nvGrpSpPr>
            <p:cNvPr id="3" name="Group 26"/>
            <p:cNvGrpSpPr>
              <a:grpSpLocks/>
            </p:cNvGrpSpPr>
            <p:nvPr/>
          </p:nvGrpSpPr>
          <p:grpSpPr bwMode="auto">
            <a:xfrm>
              <a:off x="8108794" y="1339472"/>
              <a:ext cx="2513013" cy="2355850"/>
              <a:chOff x="2872" y="954"/>
              <a:chExt cx="1583" cy="1484"/>
            </a:xfrm>
          </p:grpSpPr>
          <p:sp>
            <p:nvSpPr>
              <p:cNvPr id="33803" name="Text Box 16"/>
              <p:cNvSpPr txBox="1">
                <a:spLocks noChangeArrowheads="1"/>
              </p:cNvSpPr>
              <p:nvPr/>
            </p:nvSpPr>
            <p:spPr bwMode="auto">
              <a:xfrm>
                <a:off x="3557" y="1429"/>
                <a:ext cx="551" cy="233"/>
              </a:xfrm>
              <a:prstGeom prst="rect">
                <a:avLst/>
              </a:prstGeom>
              <a:noFill/>
              <a:ln w="9525">
                <a:noFill/>
                <a:miter lim="800000"/>
                <a:headEnd/>
                <a:tailEnd/>
              </a:ln>
            </p:spPr>
            <p:txBody>
              <a:bodyPr wrap="none">
                <a:spAutoFit/>
              </a:bodyPr>
              <a:lstStyle/>
              <a:p>
                <a:r>
                  <a:rPr lang="en-US" altLang="zh-CN" b="1" dirty="0">
                    <a:solidFill>
                      <a:srgbClr val="000000"/>
                    </a:solidFill>
                  </a:rPr>
                  <a:t>Windy</a:t>
                </a:r>
              </a:p>
            </p:txBody>
          </p:sp>
          <p:sp>
            <p:nvSpPr>
              <p:cNvPr id="33804" name="Line 17"/>
              <p:cNvSpPr>
                <a:spLocks noChangeShapeType="1"/>
              </p:cNvSpPr>
              <p:nvPr/>
            </p:nvSpPr>
            <p:spPr bwMode="auto">
              <a:xfrm flipH="1">
                <a:off x="3314" y="1813"/>
                <a:ext cx="433" cy="351"/>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33805" name="Line 18"/>
              <p:cNvSpPr>
                <a:spLocks noChangeShapeType="1"/>
              </p:cNvSpPr>
              <p:nvPr/>
            </p:nvSpPr>
            <p:spPr bwMode="auto">
              <a:xfrm>
                <a:off x="3747" y="1813"/>
                <a:ext cx="360" cy="307"/>
              </a:xfrm>
              <a:prstGeom prst="line">
                <a:avLst/>
              </a:prstGeom>
              <a:noFill/>
              <a:ln w="9525">
                <a:solidFill>
                  <a:schemeClr val="tx1"/>
                </a:solidFill>
                <a:round/>
                <a:headEnd/>
                <a:tailEnd type="triangle" w="med" len="med"/>
              </a:ln>
            </p:spPr>
            <p:txBody>
              <a:bodyPr/>
              <a:lstStyle/>
              <a:p>
                <a:endParaRPr lang="zh-CN" altLang="en-US">
                  <a:solidFill>
                    <a:srgbClr val="000000"/>
                  </a:solidFill>
                </a:endParaRPr>
              </a:p>
            </p:txBody>
          </p:sp>
          <p:sp>
            <p:nvSpPr>
              <p:cNvPr id="33806" name="Text Box 19"/>
              <p:cNvSpPr txBox="1">
                <a:spLocks noChangeArrowheads="1"/>
              </p:cNvSpPr>
              <p:nvPr/>
            </p:nvSpPr>
            <p:spPr bwMode="auto">
              <a:xfrm>
                <a:off x="3088" y="1648"/>
                <a:ext cx="353" cy="233"/>
              </a:xfrm>
              <a:prstGeom prst="rect">
                <a:avLst/>
              </a:prstGeom>
              <a:noFill/>
              <a:ln w="9525">
                <a:noFill/>
                <a:miter lim="800000"/>
                <a:headEnd/>
                <a:tailEnd/>
              </a:ln>
            </p:spPr>
            <p:txBody>
              <a:bodyPr wrap="none">
                <a:spAutoFit/>
              </a:bodyPr>
              <a:lstStyle/>
              <a:p>
                <a:r>
                  <a:rPr lang="en-US" altLang="zh-CN">
                    <a:solidFill>
                      <a:srgbClr val="000000"/>
                    </a:solidFill>
                  </a:rPr>
                  <a:t>Yes</a:t>
                </a:r>
              </a:p>
            </p:txBody>
          </p:sp>
          <p:sp>
            <p:nvSpPr>
              <p:cNvPr id="33807" name="Text Box 20"/>
              <p:cNvSpPr txBox="1">
                <a:spLocks noChangeArrowheads="1"/>
              </p:cNvSpPr>
              <p:nvPr/>
            </p:nvSpPr>
            <p:spPr bwMode="auto">
              <a:xfrm>
                <a:off x="4025" y="1738"/>
                <a:ext cx="302" cy="233"/>
              </a:xfrm>
              <a:prstGeom prst="rect">
                <a:avLst/>
              </a:prstGeom>
              <a:noFill/>
              <a:ln w="9525">
                <a:noFill/>
                <a:miter lim="800000"/>
                <a:headEnd/>
                <a:tailEnd/>
              </a:ln>
            </p:spPr>
            <p:txBody>
              <a:bodyPr wrap="none">
                <a:spAutoFit/>
              </a:bodyPr>
              <a:lstStyle/>
              <a:p>
                <a:r>
                  <a:rPr lang="en-US" altLang="zh-CN">
                    <a:solidFill>
                      <a:srgbClr val="000000"/>
                    </a:solidFill>
                  </a:rPr>
                  <a:t>No</a:t>
                </a:r>
              </a:p>
            </p:txBody>
          </p:sp>
          <p:sp>
            <p:nvSpPr>
              <p:cNvPr id="33808" name="Text Box 21"/>
              <p:cNvSpPr txBox="1">
                <a:spLocks noChangeArrowheads="1"/>
              </p:cNvSpPr>
              <p:nvPr/>
            </p:nvSpPr>
            <p:spPr bwMode="auto">
              <a:xfrm>
                <a:off x="3404" y="954"/>
                <a:ext cx="905" cy="407"/>
              </a:xfrm>
              <a:prstGeom prst="rect">
                <a:avLst/>
              </a:prstGeom>
              <a:noFill/>
              <a:ln w="9525">
                <a:noFill/>
                <a:miter lim="800000"/>
                <a:headEnd/>
                <a:tailEnd/>
              </a:ln>
            </p:spPr>
            <p:txBody>
              <a:bodyPr>
                <a:spAutoFit/>
              </a:bodyPr>
              <a:lstStyle/>
              <a:p>
                <a:r>
                  <a:rPr lang="en-US" altLang="zh-CN" dirty="0">
                    <a:solidFill>
                      <a:srgbClr val="000000"/>
                    </a:solidFill>
                  </a:rPr>
                  <a:t>S=[9+,5-]</a:t>
                </a:r>
              </a:p>
              <a:p>
                <a:r>
                  <a:rPr lang="en-US" altLang="zh-CN" dirty="0">
                    <a:solidFill>
                      <a:srgbClr val="FF0000"/>
                    </a:solidFill>
                  </a:rPr>
                  <a:t>E=0.940</a:t>
                </a:r>
              </a:p>
            </p:txBody>
          </p:sp>
          <p:sp>
            <p:nvSpPr>
              <p:cNvPr id="33809" name="Text Box 22"/>
              <p:cNvSpPr txBox="1">
                <a:spLocks noChangeArrowheads="1"/>
              </p:cNvSpPr>
              <p:nvPr/>
            </p:nvSpPr>
            <p:spPr bwMode="auto">
              <a:xfrm>
                <a:off x="2872" y="2176"/>
                <a:ext cx="532" cy="233"/>
              </a:xfrm>
              <a:prstGeom prst="rect">
                <a:avLst/>
              </a:prstGeom>
              <a:noFill/>
              <a:ln w="9525">
                <a:noFill/>
                <a:miter lim="800000"/>
                <a:headEnd/>
                <a:tailEnd/>
              </a:ln>
            </p:spPr>
            <p:txBody>
              <a:bodyPr wrap="none">
                <a:spAutoFit/>
              </a:bodyPr>
              <a:lstStyle/>
              <a:p>
                <a:r>
                  <a:rPr lang="en-US" altLang="zh-CN">
                    <a:solidFill>
                      <a:srgbClr val="000000"/>
                    </a:solidFill>
                  </a:rPr>
                  <a:t>[6+,2-]</a:t>
                </a:r>
              </a:p>
            </p:txBody>
          </p:sp>
          <p:sp>
            <p:nvSpPr>
              <p:cNvPr id="33810" name="Text Box 23"/>
              <p:cNvSpPr txBox="1">
                <a:spLocks noChangeArrowheads="1"/>
              </p:cNvSpPr>
              <p:nvPr/>
            </p:nvSpPr>
            <p:spPr bwMode="auto">
              <a:xfrm>
                <a:off x="3923" y="2205"/>
                <a:ext cx="532" cy="233"/>
              </a:xfrm>
              <a:prstGeom prst="rect">
                <a:avLst/>
              </a:prstGeom>
              <a:noFill/>
              <a:ln w="9525">
                <a:noFill/>
                <a:miter lim="800000"/>
                <a:headEnd/>
                <a:tailEnd/>
              </a:ln>
            </p:spPr>
            <p:txBody>
              <a:bodyPr wrap="none">
                <a:spAutoFit/>
              </a:bodyPr>
              <a:lstStyle/>
              <a:p>
                <a:r>
                  <a:rPr lang="en-US" altLang="zh-CN" dirty="0">
                    <a:solidFill>
                      <a:srgbClr val="000000"/>
                    </a:solidFill>
                  </a:rPr>
                  <a:t>[3+,3-]</a:t>
                </a:r>
              </a:p>
            </p:txBody>
          </p:sp>
        </p:grpSp>
        <p:sp>
          <p:nvSpPr>
            <p:cNvPr id="72728" name="Text Box 24"/>
            <p:cNvSpPr txBox="1">
              <a:spLocks noChangeArrowheads="1"/>
            </p:cNvSpPr>
            <p:nvPr/>
          </p:nvSpPr>
          <p:spPr bwMode="auto">
            <a:xfrm>
              <a:off x="8067482" y="4492467"/>
              <a:ext cx="3929063" cy="1015663"/>
            </a:xfrm>
            <a:prstGeom prst="rect">
              <a:avLst/>
            </a:prstGeom>
            <a:noFill/>
            <a:ln w="9525">
              <a:noFill/>
              <a:miter lim="800000"/>
              <a:headEnd/>
              <a:tailEnd/>
            </a:ln>
          </p:spPr>
          <p:txBody>
            <a:bodyPr>
              <a:spAutoFit/>
            </a:bodyPr>
            <a:lstStyle/>
            <a:p>
              <a:r>
                <a:rPr lang="en-US" altLang="zh-CN" sz="2000" dirty="0" err="1">
                  <a:solidFill>
                    <a:srgbClr val="000000"/>
                  </a:solidFill>
                </a:rPr>
                <a:t>InfoGain</a:t>
              </a:r>
              <a:r>
                <a:rPr lang="en-US" altLang="zh-CN" sz="2000" dirty="0">
                  <a:solidFill>
                    <a:srgbClr val="000000"/>
                  </a:solidFill>
                </a:rPr>
                <a:t>(S, </a:t>
              </a:r>
              <a:r>
                <a:rPr lang="en-US" altLang="zh-CN" sz="2000" b="1" dirty="0">
                  <a:solidFill>
                    <a:srgbClr val="000000"/>
                  </a:solidFill>
                </a:rPr>
                <a:t>Windy</a:t>
              </a:r>
              <a:r>
                <a:rPr lang="en-US" altLang="zh-CN" sz="2000" dirty="0">
                  <a:solidFill>
                    <a:srgbClr val="000000"/>
                  </a:solidFill>
                </a:rPr>
                <a:t>)</a:t>
              </a:r>
            </a:p>
            <a:p>
              <a:r>
                <a:rPr lang="en-US" altLang="zh-CN" sz="2000" dirty="0">
                  <a:solidFill>
                    <a:srgbClr val="000000"/>
                  </a:solidFill>
                </a:rPr>
                <a:t>=0.940-(8/14)*0.811-(6/14)*1.0</a:t>
              </a:r>
            </a:p>
            <a:p>
              <a:r>
                <a:rPr lang="en-US" altLang="zh-CN" sz="2000" dirty="0">
                  <a:solidFill>
                    <a:srgbClr val="000000"/>
                  </a:solidFill>
                </a:rPr>
                <a:t>=0.048</a:t>
              </a:r>
            </a:p>
          </p:txBody>
        </p:sp>
        <p:sp>
          <p:nvSpPr>
            <p:cNvPr id="72733" name="Text Box 29"/>
            <p:cNvSpPr txBox="1">
              <a:spLocks noChangeArrowheads="1"/>
            </p:cNvSpPr>
            <p:nvPr/>
          </p:nvSpPr>
          <p:spPr bwMode="auto">
            <a:xfrm>
              <a:off x="8089626" y="3848557"/>
              <a:ext cx="1033168" cy="369332"/>
            </a:xfrm>
            <a:prstGeom prst="rect">
              <a:avLst/>
            </a:prstGeom>
            <a:noFill/>
            <a:ln w="9525">
              <a:noFill/>
              <a:miter lim="800000"/>
              <a:headEnd/>
              <a:tailEnd/>
            </a:ln>
          </p:spPr>
          <p:txBody>
            <a:bodyPr wrap="none">
              <a:spAutoFit/>
            </a:bodyPr>
            <a:lstStyle/>
            <a:p>
              <a:r>
                <a:rPr lang="en-US" altLang="zh-CN" dirty="0">
                  <a:solidFill>
                    <a:srgbClr val="000000"/>
                  </a:solidFill>
                </a:rPr>
                <a:t>E=0.811</a:t>
              </a:r>
            </a:p>
          </p:txBody>
        </p:sp>
        <p:sp>
          <p:nvSpPr>
            <p:cNvPr id="72734" name="Text Box 30"/>
            <p:cNvSpPr txBox="1">
              <a:spLocks noChangeArrowheads="1"/>
            </p:cNvSpPr>
            <p:nvPr/>
          </p:nvSpPr>
          <p:spPr bwMode="auto">
            <a:xfrm>
              <a:off x="9777257" y="3830260"/>
              <a:ext cx="922047" cy="369332"/>
            </a:xfrm>
            <a:prstGeom prst="rect">
              <a:avLst/>
            </a:prstGeom>
            <a:noFill/>
            <a:ln w="9525">
              <a:noFill/>
              <a:miter lim="800000"/>
              <a:headEnd/>
              <a:tailEnd/>
            </a:ln>
          </p:spPr>
          <p:txBody>
            <a:bodyPr wrap="none">
              <a:spAutoFit/>
            </a:bodyPr>
            <a:lstStyle/>
            <a:p>
              <a:r>
                <a:rPr lang="en-US" altLang="zh-CN" dirty="0">
                  <a:solidFill>
                    <a:srgbClr val="000000"/>
                  </a:solidFill>
                </a:rPr>
                <a:t>E=1.00</a:t>
              </a:r>
            </a:p>
          </p:txBody>
        </p:sp>
      </p:grpSp>
      <p:sp>
        <p:nvSpPr>
          <p:cNvPr id="27" name="灯片编号占位符 26"/>
          <p:cNvSpPr>
            <a:spLocks noGrp="1"/>
          </p:cNvSpPr>
          <p:nvPr>
            <p:ph type="sldNum" sz="quarter" idx="11"/>
          </p:nvPr>
        </p:nvSpPr>
        <p:spPr/>
        <p:txBody>
          <a:bodyPr/>
          <a:lstStyle/>
          <a:p>
            <a:pPr>
              <a:defRPr/>
            </a:pPr>
            <a:fld id="{31E287EE-1289-4991-82CE-EFE584F53F4F}" type="slidenum">
              <a:rPr lang="en-US" altLang="zh-CN" smtClean="0"/>
              <a:pPr>
                <a:defRPr/>
              </a:pPr>
              <a:t>76</a:t>
            </a:fld>
            <a:endParaRPr lang="en-US" altLang="zh-CN" dirty="0"/>
          </a:p>
        </p:txBody>
      </p:sp>
      <p:graphicFrame>
        <p:nvGraphicFramePr>
          <p:cNvPr id="29" name="内容占位符 4"/>
          <p:cNvGraphicFramePr>
            <a:graphicFrameLocks noGrp="1"/>
          </p:cNvGraphicFramePr>
          <p:nvPr>
            <p:ph sz="half" idx="4294967295"/>
            <p:extLst>
              <p:ext uri="{D42A27DB-BD31-4B8C-83A1-F6EECF244321}">
                <p14:modId xmlns:p14="http://schemas.microsoft.com/office/powerpoint/2010/main" val="3260733294"/>
              </p:ext>
            </p:extLst>
          </p:nvPr>
        </p:nvGraphicFramePr>
        <p:xfrm>
          <a:off x="-10072" y="627010"/>
          <a:ext cx="4795500" cy="4877716"/>
        </p:xfrm>
        <a:graphic>
          <a:graphicData uri="http://schemas.openxmlformats.org/drawingml/2006/table">
            <a:tbl>
              <a:tblPr/>
              <a:tblGrid>
                <a:gridCol w="107837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936367">
                  <a:extLst>
                    <a:ext uri="{9D8B030D-6E8A-4147-A177-3AD203B41FA5}">
                      <a16:colId xmlns:a16="http://schemas.microsoft.com/office/drawing/2014/main" val="20002"/>
                    </a:ext>
                  </a:extLst>
                </a:gridCol>
                <a:gridCol w="758801">
                  <a:extLst>
                    <a:ext uri="{9D8B030D-6E8A-4147-A177-3AD203B41FA5}">
                      <a16:colId xmlns:a16="http://schemas.microsoft.com/office/drawing/2014/main" val="20003"/>
                    </a:ext>
                  </a:extLst>
                </a:gridCol>
                <a:gridCol w="725812">
                  <a:extLst>
                    <a:ext uri="{9D8B030D-6E8A-4147-A177-3AD203B41FA5}">
                      <a16:colId xmlns:a16="http://schemas.microsoft.com/office/drawing/2014/main" val="20004"/>
                    </a:ext>
                  </a:extLst>
                </a:gridCol>
              </a:tblGrid>
              <a:tr h="338307">
                <a:tc>
                  <a:txBody>
                    <a:bodyPr/>
                    <a:lstStyle/>
                    <a:p>
                      <a:pPr algn="ctr"/>
                      <a:r>
                        <a:rPr lang="en-US" sz="1600" b="1" dirty="0"/>
                        <a:t>Outlook</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Temperature</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Humidity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Windy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b="1" dirty="0"/>
                        <a:t>Play?</a:t>
                      </a:r>
                      <a:endParaRPr lang="en-US" sz="1600" dirty="0"/>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0"/>
                  </a:ext>
                </a:extLst>
              </a:tr>
              <a:tr h="322389">
                <a:tc>
                  <a:txBody>
                    <a:bodyPr/>
                    <a:lstStyle/>
                    <a:p>
                      <a:pPr algn="ctr"/>
                      <a:r>
                        <a:rPr lang="en-US" sz="1600" dirty="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1"/>
                  </a:ext>
                </a:extLst>
              </a:tr>
              <a:tr h="322389">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2"/>
                  </a:ext>
                </a:extLst>
              </a:tr>
              <a:tr h="322389">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3"/>
                  </a:ext>
                </a:extLst>
              </a:tr>
              <a:tr h="322389">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4"/>
                  </a:ext>
                </a:extLst>
              </a:tr>
              <a:tr h="322389">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5"/>
                  </a:ext>
                </a:extLst>
              </a:tr>
              <a:tr h="322389">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6"/>
                  </a:ext>
                </a:extLst>
              </a:tr>
              <a:tr h="322389">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7"/>
                  </a:ext>
                </a:extLst>
              </a:tr>
              <a:tr h="322389">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8"/>
                  </a:ext>
                </a:extLst>
              </a:tr>
              <a:tr h="322389">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cool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09"/>
                  </a:ext>
                </a:extLst>
              </a:tr>
              <a:tr h="322389">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0"/>
                  </a:ext>
                </a:extLst>
              </a:tr>
              <a:tr h="322389">
                <a:tc>
                  <a:txBody>
                    <a:bodyPr/>
                    <a:lstStyle/>
                    <a:p>
                      <a:pPr algn="ctr"/>
                      <a:r>
                        <a:rPr lang="en-US" sz="1600"/>
                        <a:t>sunny</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1"/>
                  </a:ext>
                </a:extLst>
              </a:tr>
              <a:tr h="332434">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2"/>
                  </a:ext>
                </a:extLst>
              </a:tr>
              <a:tr h="338307">
                <a:tc>
                  <a:txBody>
                    <a:bodyPr/>
                    <a:lstStyle/>
                    <a:p>
                      <a:pPr algn="ctr"/>
                      <a:r>
                        <a:rPr lang="en-US" sz="1600"/>
                        <a:t>overcast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a:t>hot</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normal</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false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yes</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3"/>
                  </a:ext>
                </a:extLst>
              </a:tr>
              <a:tr h="322389">
                <a:tc>
                  <a:txBody>
                    <a:bodyPr/>
                    <a:lstStyle/>
                    <a:p>
                      <a:pPr algn="ctr"/>
                      <a:r>
                        <a:rPr lang="en-US" sz="1600"/>
                        <a:t>rain</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mild</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high</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true</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tc>
                  <a:txBody>
                    <a:bodyPr/>
                    <a:lstStyle/>
                    <a:p>
                      <a:pPr algn="ctr"/>
                      <a:r>
                        <a:rPr lang="en-US" sz="1600" dirty="0"/>
                        <a:t>no</a:t>
                      </a:r>
                    </a:p>
                  </a:txBody>
                  <a:tcPr marL="14233" marR="14233" marT="14233" marB="14233">
                    <a:lnL>
                      <a:noFill/>
                    </a:lnL>
                    <a:lnR>
                      <a:noFill/>
                    </a:lnR>
                    <a:lnT>
                      <a:noFill/>
                    </a:lnT>
                    <a:lnB>
                      <a:noFill/>
                    </a:lnB>
                    <a:gradFill>
                      <a:gsLst>
                        <a:gs pos="0">
                          <a:srgbClr val="8488C4"/>
                        </a:gs>
                        <a:gs pos="53000">
                          <a:srgbClr val="D4DEFF"/>
                        </a:gs>
                        <a:gs pos="83000">
                          <a:srgbClr val="D4DEFF"/>
                        </a:gs>
                        <a:gs pos="100000">
                          <a:srgbClr val="96AB94"/>
                        </a:gs>
                      </a:gsLst>
                      <a:lin ang="5400000" scaled="0"/>
                    </a:gradFill>
                  </a:tcPr>
                </a:tc>
                <a:extLst>
                  <a:ext uri="{0D108BD9-81ED-4DB2-BD59-A6C34878D82A}">
                    <a16:rowId xmlns:a16="http://schemas.microsoft.com/office/drawing/2014/main" val="10014"/>
                  </a:ext>
                </a:extLst>
              </a:tr>
            </a:tbl>
          </a:graphicData>
        </a:graphic>
      </p:graphicFrame>
      <p:graphicFrame>
        <p:nvGraphicFramePr>
          <p:cNvPr id="32" name="Object 2"/>
          <p:cNvGraphicFramePr>
            <a:graphicFrameLocks noGrp="1" noChangeAspect="1"/>
          </p:cNvGraphicFramePr>
          <p:nvPr>
            <p:ph idx="1"/>
            <p:extLst>
              <p:ext uri="{D42A27DB-BD31-4B8C-83A1-F6EECF244321}">
                <p14:modId xmlns:p14="http://schemas.microsoft.com/office/powerpoint/2010/main" val="1338938501"/>
              </p:ext>
            </p:extLst>
          </p:nvPr>
        </p:nvGraphicFramePr>
        <p:xfrm>
          <a:off x="5090702" y="96429"/>
          <a:ext cx="4568053" cy="1516366"/>
        </p:xfrm>
        <a:graphic>
          <a:graphicData uri="http://schemas.openxmlformats.org/presentationml/2006/ole">
            <mc:AlternateContent xmlns:mc="http://schemas.openxmlformats.org/markup-compatibility/2006">
              <mc:Choice xmlns:v="urn:schemas-microsoft-com:vml" Requires="v">
                <p:oleObj spid="_x0000_s527417" name="Equation" r:id="rId4" imgW="3060700" imgH="1016000" progId="">
                  <p:embed/>
                </p:oleObj>
              </mc:Choice>
              <mc:Fallback>
                <p:oleObj name="Equation" r:id="rId4" imgW="3060700" imgH="1016000" progId="">
                  <p:embed/>
                  <p:pic>
                    <p:nvPicPr>
                      <p:cNvPr id="32"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90702" y="96429"/>
                        <a:ext cx="4568053" cy="1516366"/>
                      </a:xfrm>
                      <a:prstGeom prst="rect">
                        <a:avLst/>
                      </a:prstGeom>
                      <a:noFill/>
                    </p:spPr>
                  </p:pic>
                </p:oleObj>
              </mc:Fallback>
            </mc:AlternateContent>
          </a:graphicData>
        </a:graphic>
      </p:graphicFrame>
      <p:sp>
        <p:nvSpPr>
          <p:cNvPr id="33" name="矩形 32"/>
          <p:cNvSpPr/>
          <p:nvPr/>
        </p:nvSpPr>
        <p:spPr>
          <a:xfrm>
            <a:off x="512936" y="5731140"/>
            <a:ext cx="10560512" cy="369332"/>
          </a:xfrm>
          <a:prstGeom prst="rect">
            <a:avLst/>
          </a:prstGeom>
        </p:spPr>
        <p:txBody>
          <a:bodyPr wrap="square">
            <a:spAutoFit/>
          </a:bodyPr>
          <a:lstStyle/>
          <a:p>
            <a:r>
              <a:rPr lang="en-US" altLang="zh-CN" dirty="0" err="1">
                <a:solidFill>
                  <a:srgbClr val="000000"/>
                </a:solidFill>
              </a:rPr>
              <a:t>InfoGain</a:t>
            </a:r>
            <a:r>
              <a:rPr lang="en-US" altLang="zh-CN" dirty="0">
                <a:solidFill>
                  <a:srgbClr val="000000"/>
                </a:solidFill>
              </a:rPr>
              <a:t> (S, </a:t>
            </a:r>
            <a:r>
              <a:rPr lang="en-US" altLang="zh-CN" b="1" dirty="0">
                <a:solidFill>
                  <a:srgbClr val="000000"/>
                </a:solidFill>
              </a:rPr>
              <a:t>Outlook</a:t>
            </a:r>
            <a:r>
              <a:rPr lang="en-US" altLang="zh-CN" dirty="0">
                <a:solidFill>
                  <a:srgbClr val="000000"/>
                </a:solidFill>
              </a:rPr>
              <a:t>)=0.940-(5/14)*0.971-(4/14)*0- (5/14)*0.971 = 0.940-0.693 =0.247</a:t>
            </a:r>
          </a:p>
        </p:txBody>
      </p:sp>
      <p:sp>
        <p:nvSpPr>
          <p:cNvPr id="6" name="矩形 5"/>
          <p:cNvSpPr/>
          <p:nvPr/>
        </p:nvSpPr>
        <p:spPr>
          <a:xfrm>
            <a:off x="528464" y="6097440"/>
            <a:ext cx="3764685" cy="369332"/>
          </a:xfrm>
          <a:prstGeom prst="rect">
            <a:avLst/>
          </a:prstGeom>
        </p:spPr>
        <p:txBody>
          <a:bodyPr wrap="none">
            <a:spAutoFit/>
          </a:bodyPr>
          <a:lstStyle/>
          <a:p>
            <a:r>
              <a:rPr lang="en-US" altLang="zh-CN" dirty="0" err="1">
                <a:solidFill>
                  <a:srgbClr val="000000"/>
                </a:solidFill>
              </a:rPr>
              <a:t>InfoGain</a:t>
            </a:r>
            <a:r>
              <a:rPr lang="en-US" altLang="zh-CN" dirty="0">
                <a:solidFill>
                  <a:srgbClr val="000000"/>
                </a:solidFill>
              </a:rPr>
              <a:t> (S, </a:t>
            </a:r>
            <a:r>
              <a:rPr lang="en-US" altLang="zh-CN" b="1" dirty="0">
                <a:solidFill>
                  <a:srgbClr val="000000"/>
                </a:solidFill>
              </a:rPr>
              <a:t>Temperature</a:t>
            </a:r>
            <a:r>
              <a:rPr lang="en-US" altLang="zh-CN" dirty="0">
                <a:solidFill>
                  <a:srgbClr val="000000"/>
                </a:solidFill>
              </a:rPr>
              <a:t>)=</a:t>
            </a:r>
            <a:r>
              <a:rPr lang="zh-CN" altLang="en-US" dirty="0">
                <a:solidFill>
                  <a:srgbClr val="000000"/>
                </a:solidFill>
              </a:rPr>
              <a:t>？？？</a:t>
            </a:r>
          </a:p>
        </p:txBody>
      </p:sp>
    </p:spTree>
    <p:extLst>
      <p:ext uri="{BB962C8B-B14F-4D97-AF65-F5344CB8AC3E}">
        <p14:creationId xmlns:p14="http://schemas.microsoft.com/office/powerpoint/2010/main" val="1205341723"/>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bwMode="auto">
        <a:solidFill>
          <a:schemeClr val="tx1"/>
        </a:solidFill>
        <a:ln w="38100">
          <a:solidFill>
            <a:schemeClr val="bg2"/>
          </a:solidFill>
          <a:miter lim="800000"/>
          <a:headEnd/>
          <a:tailEnd/>
        </a:ln>
        <a:effectLst>
          <a:outerShdw dist="107763" dir="2700000" algn="ctr" rotWithShape="0">
            <a:schemeClr val="bg2">
              <a:alpha val="50000"/>
            </a:schemeClr>
          </a:outerShdw>
        </a:effectLst>
      </a:spPr>
      <a:bodyPr>
        <a:spAutoFit/>
      </a:bodyPr>
      <a:lstStyle>
        <a:defPPr algn="ctr">
          <a:defRPr kumimoji="1" sz="1400">
            <a:solidFill>
              <a:schemeClr val="bg2"/>
            </a:solidFill>
            <a:ea typeface="新細明體" pitchFamily="18" charset="-120"/>
          </a:defRPr>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cmpd="sng">
          <a:solidFill>
            <a:schemeClr val="accent5">
              <a:shade val="95000"/>
              <a:satMod val="105000"/>
            </a:schemeClr>
          </a:solidFill>
        </a:ln>
      </a:spPr>
      <a:bodyPr wrap="square" rtlCol="0" anchor="ctr">
        <a:spAutoFit/>
      </a:bodyPr>
      <a:lstStyle>
        <a:defPPr algn="ct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bwMode="auto">
        <a:solidFill>
          <a:schemeClr val="tx1"/>
        </a:solidFill>
        <a:ln w="38100">
          <a:solidFill>
            <a:schemeClr val="bg2"/>
          </a:solidFill>
          <a:miter lim="800000"/>
          <a:headEnd/>
          <a:tailEnd/>
        </a:ln>
        <a:effectLst>
          <a:outerShdw dist="107763" dir="2700000" algn="ctr" rotWithShape="0">
            <a:schemeClr val="bg2">
              <a:alpha val="50000"/>
            </a:schemeClr>
          </a:outerShdw>
        </a:effectLst>
      </a:spPr>
      <a:bodyPr>
        <a:spAutoFit/>
      </a:bodyPr>
      <a:lstStyle>
        <a:defPPr algn="ctr">
          <a:defRPr kumimoji="1" sz="1400">
            <a:solidFill>
              <a:schemeClr val="bg2"/>
            </a:solidFill>
            <a:ea typeface="新細明體" pitchFamily="18" charset="-120"/>
          </a:defRPr>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589tgp_health_light</Template>
  <TotalTime>6527</TotalTime>
  <Words>11174</Words>
  <Application>Microsoft Office PowerPoint</Application>
  <PresentationFormat>宽屏</PresentationFormat>
  <Paragraphs>2694</Paragraphs>
  <Slides>76</Slides>
  <Notes>31</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76</vt:i4>
      </vt:variant>
    </vt:vector>
  </HeadingPairs>
  <TitlesOfParts>
    <vt:vector size="92" baseType="lpstr">
      <vt:lpstr>方正姚体</vt:lpstr>
      <vt:lpstr>黑体</vt:lpstr>
      <vt:lpstr>华文新魏</vt:lpstr>
      <vt:lpstr>楷体_GB2312</vt:lpstr>
      <vt:lpstr>微软雅黑</vt:lpstr>
      <vt:lpstr>Arial</vt:lpstr>
      <vt:lpstr>Calibri</vt:lpstr>
      <vt:lpstr>Californian FB</vt:lpstr>
      <vt:lpstr>Cambria Math</vt:lpstr>
      <vt:lpstr>Symbol</vt:lpstr>
      <vt:lpstr>Times New Roman</vt:lpstr>
      <vt:lpstr>Wingdings</vt:lpstr>
      <vt:lpstr>589tgp_health_light</vt:lpstr>
      <vt:lpstr>1_589tgp_health_light</vt:lpstr>
      <vt:lpstr>位图图像</vt:lpstr>
      <vt:lpstr>Equation</vt:lpstr>
      <vt:lpstr>模式识别</vt:lpstr>
      <vt:lpstr>第十二章 集成学习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训练集的熵H(S) -Entropy of a training set</vt:lpstr>
      <vt:lpstr>信息增益Information Gain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决策树建立步骤（ID3）</vt:lpstr>
      <vt:lpstr>PowerPoint 演示文稿</vt:lpstr>
      <vt:lpstr>Common algorithms</vt:lpstr>
      <vt:lpstr>C4.5</vt:lpstr>
      <vt:lpstr>C4.5</vt:lpstr>
      <vt:lpstr>PowerPoint 演示文稿</vt:lpstr>
      <vt:lpstr>PowerPoint 演示文稿</vt:lpstr>
      <vt:lpstr>PowerPoint 演示文稿</vt:lpstr>
      <vt:lpstr>续上：选取Outlook属性来划分，见下图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CART(classification and regression tree) </vt:lpstr>
      <vt:lpstr>CART一递归划分自变量空间</vt:lpstr>
      <vt:lpstr>PowerPoint 演示文稿</vt:lpstr>
      <vt:lpstr>PowerPoint 演示文稿</vt:lpstr>
      <vt:lpstr>PowerPoint 演示文稿</vt:lpstr>
      <vt:lpstr>选择收入变量X1=84.75</vt:lpstr>
      <vt:lpstr>选择收入变量X1=84.75</vt:lpstr>
      <vt:lpstr>我们能看到递归划分是如何精炼候选矩形,使之变得更纯的算法过程.最后阶段的递归分析如图5所示</vt:lpstr>
      <vt:lpstr>这个方法被称为分类树的原因是每次划分都可以描述为把一个节点分成两个后续节点.第一次分裂表示为树的根节点的分支,如图</vt:lpstr>
      <vt:lpstr>整个树如下</vt:lpstr>
      <vt:lpstr>PowerPoint 演示文稿</vt:lpstr>
      <vt:lpstr>PowerPoint 演示文稿</vt:lpstr>
      <vt:lpstr>决策树的例子</vt:lpstr>
      <vt:lpstr>决策树的生成过程</vt:lpstr>
      <vt:lpstr>决策树的生成过程</vt:lpstr>
      <vt:lpstr>用验证数据进行剪枝</vt:lpstr>
      <vt:lpstr>PowerPoint 演示文稿</vt:lpstr>
      <vt:lpstr>比如有个非叶子节点t4如图所示: 已知所有的数据总共有60条，则节点t4的节点误差代价为：   子树误差代价为：   </vt:lpstr>
      <vt:lpstr>三种决策树学习算法</vt:lpstr>
      <vt:lpstr>随机森林的思想来源</vt:lpstr>
      <vt:lpstr>12.5 随机森林</vt:lpstr>
      <vt:lpstr>12.5 随机森林</vt:lpstr>
      <vt:lpstr>12.5 随机森林</vt:lpstr>
      <vt:lpstr>12.5 随机森林</vt:lpstr>
      <vt:lpstr>12.5 随机森林</vt:lpstr>
      <vt:lpstr>PowerPoint 演示文稿</vt:lpstr>
      <vt:lpstr>16.6 实例分析：Kinect</vt:lpstr>
      <vt:lpstr>其它</vt:lpstr>
      <vt:lpstr>ending </vt:lpstr>
      <vt:lpstr>PowerPoint 演示文稿</vt:lpstr>
      <vt:lpstr>例：如下表所述的天气数据，学习目标是 预测Play or not play?</vt:lpstr>
      <vt:lpstr>续上：选取Outlook属性来划分，见下图</vt:lpstr>
      <vt:lpstr>续：</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646</cp:revision>
  <cp:lastPrinted>2022-09-23T08:24:35Z</cp:lastPrinted>
  <dcterms:created xsi:type="dcterms:W3CDTF">2013-04-13T01:42:00Z</dcterms:created>
  <dcterms:modified xsi:type="dcterms:W3CDTF">2023-09-22T11:16:09Z</dcterms:modified>
</cp:coreProperties>
</file>
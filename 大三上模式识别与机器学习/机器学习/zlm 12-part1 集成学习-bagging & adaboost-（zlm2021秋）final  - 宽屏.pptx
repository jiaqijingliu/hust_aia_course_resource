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heme/themeOverride1.xml" ContentType="application/vnd.openxmlformats-officedocument.themeOverr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916" r:id="rId2"/>
    <p:sldMasterId id="2147483928" r:id="rId3"/>
  </p:sldMasterIdLst>
  <p:notesMasterIdLst>
    <p:notesMasterId r:id="rId59"/>
  </p:notesMasterIdLst>
  <p:handoutMasterIdLst>
    <p:handoutMasterId r:id="rId60"/>
  </p:handoutMasterIdLst>
  <p:sldIdLst>
    <p:sldId id="558" r:id="rId4"/>
    <p:sldId id="335" r:id="rId5"/>
    <p:sldId id="429" r:id="rId6"/>
    <p:sldId id="431" r:id="rId7"/>
    <p:sldId id="433" r:id="rId8"/>
    <p:sldId id="434" r:id="rId9"/>
    <p:sldId id="436" r:id="rId10"/>
    <p:sldId id="437" r:id="rId11"/>
    <p:sldId id="438" r:id="rId12"/>
    <p:sldId id="441" r:id="rId13"/>
    <p:sldId id="477" r:id="rId14"/>
    <p:sldId id="478" r:id="rId15"/>
    <p:sldId id="465" r:id="rId16"/>
    <p:sldId id="476" r:id="rId17"/>
    <p:sldId id="479" r:id="rId18"/>
    <p:sldId id="569" r:id="rId19"/>
    <p:sldId id="491" r:id="rId20"/>
    <p:sldId id="481" r:id="rId21"/>
    <p:sldId id="483" r:id="rId22"/>
    <p:sldId id="485" r:id="rId23"/>
    <p:sldId id="633" r:id="rId24"/>
    <p:sldId id="634" r:id="rId25"/>
    <p:sldId id="635" r:id="rId26"/>
    <p:sldId id="636" r:id="rId27"/>
    <p:sldId id="486" r:id="rId28"/>
    <p:sldId id="487" r:id="rId29"/>
    <p:sldId id="531" r:id="rId30"/>
    <p:sldId id="468" r:id="rId31"/>
    <p:sldId id="492" r:id="rId32"/>
    <p:sldId id="494" r:id="rId33"/>
    <p:sldId id="496" r:id="rId34"/>
    <p:sldId id="498" r:id="rId35"/>
    <p:sldId id="572" r:id="rId36"/>
    <p:sldId id="573" r:id="rId37"/>
    <p:sldId id="574" r:id="rId38"/>
    <p:sldId id="575" r:id="rId39"/>
    <p:sldId id="576" r:id="rId40"/>
    <p:sldId id="577" r:id="rId41"/>
    <p:sldId id="578" r:id="rId42"/>
    <p:sldId id="579" r:id="rId43"/>
    <p:sldId id="580" r:id="rId44"/>
    <p:sldId id="581" r:id="rId45"/>
    <p:sldId id="582" r:id="rId46"/>
    <p:sldId id="583" r:id="rId47"/>
    <p:sldId id="585" r:id="rId48"/>
    <p:sldId id="586" r:id="rId49"/>
    <p:sldId id="587" r:id="rId50"/>
    <p:sldId id="560" r:id="rId51"/>
    <p:sldId id="561" r:id="rId52"/>
    <p:sldId id="562" r:id="rId53"/>
    <p:sldId id="563" r:id="rId54"/>
    <p:sldId id="564" r:id="rId55"/>
    <p:sldId id="621" r:id="rId56"/>
    <p:sldId id="571" r:id="rId57"/>
    <p:sldId id="632" r:id="rId58"/>
  </p:sldIdLst>
  <p:sldSz cx="12192000" cy="6858000"/>
  <p:notesSz cx="7099300" cy="10234613"/>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0F7EB"/>
    <a:srgbClr val="DFEFD4"/>
    <a:srgbClr val="006F6F"/>
    <a:srgbClr val="367376"/>
    <a:srgbClr val="418D91"/>
    <a:srgbClr val="FF7A00"/>
    <a:srgbClr val="80808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835" autoAdjust="0"/>
    <p:restoredTop sz="90582" autoAdjust="0"/>
  </p:normalViewPr>
  <p:slideViewPr>
    <p:cSldViewPr>
      <p:cViewPr varScale="1">
        <p:scale>
          <a:sx n="78" d="100"/>
          <a:sy n="78" d="100"/>
        </p:scale>
        <p:origin x="48" y="453"/>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9" d="100"/>
          <a:sy n="49" d="100"/>
        </p:scale>
        <p:origin x="2632" y="52"/>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5" Type="http://schemas.openxmlformats.org/officeDocument/2006/relationships/slide" Target="slides/slide2.xml"/><Relationship Id="rId61" Type="http://schemas.openxmlformats.org/officeDocument/2006/relationships/presProps" Target="pres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4"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 Id="rId5" Type="http://schemas.openxmlformats.org/officeDocument/2006/relationships/image" Target="../media/image24.wmf"/><Relationship Id="rId4"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32.wmf"/><Relationship Id="rId1" Type="http://schemas.openxmlformats.org/officeDocument/2006/relationships/image" Target="../media/image31.wmf"/><Relationship Id="rId4" Type="http://schemas.openxmlformats.org/officeDocument/2006/relationships/image" Target="../media/image33.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88.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94.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96.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97.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99.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01.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03.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07.wmf"/><Relationship Id="rId7" Type="http://schemas.openxmlformats.org/officeDocument/2006/relationships/image" Target="../media/image111.wmf"/><Relationship Id="rId2" Type="http://schemas.openxmlformats.org/officeDocument/2006/relationships/image" Target="../media/image106.wmf"/><Relationship Id="rId1" Type="http://schemas.openxmlformats.org/officeDocument/2006/relationships/image" Target="../media/image105.wmf"/><Relationship Id="rId6" Type="http://schemas.openxmlformats.org/officeDocument/2006/relationships/image" Target="../media/image110.wmf"/><Relationship Id="rId5" Type="http://schemas.openxmlformats.org/officeDocument/2006/relationships/image" Target="../media/image109.wmf"/><Relationship Id="rId4" Type="http://schemas.openxmlformats.org/officeDocument/2006/relationships/image" Target="../media/image108.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14.wmf"/><Relationship Id="rId2" Type="http://schemas.openxmlformats.org/officeDocument/2006/relationships/image" Target="../media/image113.wmf"/><Relationship Id="rId1" Type="http://schemas.openxmlformats.org/officeDocument/2006/relationships/image" Target="../media/image112.wmf"/><Relationship Id="rId6" Type="http://schemas.openxmlformats.org/officeDocument/2006/relationships/image" Target="../media/image117.wmf"/><Relationship Id="rId5" Type="http://schemas.openxmlformats.org/officeDocument/2006/relationships/image" Target="../media/image116.wmf"/><Relationship Id="rId4" Type="http://schemas.openxmlformats.org/officeDocument/2006/relationships/image" Target="../media/image115.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25.wmf"/><Relationship Id="rId3" Type="http://schemas.openxmlformats.org/officeDocument/2006/relationships/image" Target="../media/image120.wmf"/><Relationship Id="rId7" Type="http://schemas.openxmlformats.org/officeDocument/2006/relationships/image" Target="../media/image124.wmf"/><Relationship Id="rId2" Type="http://schemas.openxmlformats.org/officeDocument/2006/relationships/image" Target="../media/image119.wmf"/><Relationship Id="rId1" Type="http://schemas.openxmlformats.org/officeDocument/2006/relationships/image" Target="../media/image118.wmf"/><Relationship Id="rId6" Type="http://schemas.openxmlformats.org/officeDocument/2006/relationships/image" Target="../media/image123.wmf"/><Relationship Id="rId11" Type="http://schemas.openxmlformats.org/officeDocument/2006/relationships/image" Target="../media/image128.wmf"/><Relationship Id="rId5" Type="http://schemas.openxmlformats.org/officeDocument/2006/relationships/image" Target="../media/image122.wmf"/><Relationship Id="rId10" Type="http://schemas.openxmlformats.org/officeDocument/2006/relationships/image" Target="../media/image127.wmf"/><Relationship Id="rId4" Type="http://schemas.openxmlformats.org/officeDocument/2006/relationships/image" Target="../media/image121.wmf"/><Relationship Id="rId9" Type="http://schemas.openxmlformats.org/officeDocument/2006/relationships/image" Target="../media/image126.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image" Target="../media/image130.wmf"/><Relationship Id="rId1" Type="http://schemas.openxmlformats.org/officeDocument/2006/relationships/image" Target="../media/image129.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40.wmf"/><Relationship Id="rId13" Type="http://schemas.openxmlformats.org/officeDocument/2006/relationships/image" Target="../media/image145.wmf"/><Relationship Id="rId18" Type="http://schemas.openxmlformats.org/officeDocument/2006/relationships/image" Target="../media/image150.wmf"/><Relationship Id="rId3" Type="http://schemas.openxmlformats.org/officeDocument/2006/relationships/image" Target="../media/image135.wmf"/><Relationship Id="rId7" Type="http://schemas.openxmlformats.org/officeDocument/2006/relationships/image" Target="../media/image139.wmf"/><Relationship Id="rId12" Type="http://schemas.openxmlformats.org/officeDocument/2006/relationships/image" Target="../media/image144.wmf"/><Relationship Id="rId17" Type="http://schemas.openxmlformats.org/officeDocument/2006/relationships/image" Target="../media/image149.wmf"/><Relationship Id="rId2" Type="http://schemas.openxmlformats.org/officeDocument/2006/relationships/image" Target="../media/image134.wmf"/><Relationship Id="rId16" Type="http://schemas.openxmlformats.org/officeDocument/2006/relationships/image" Target="../media/image148.wmf"/><Relationship Id="rId1" Type="http://schemas.openxmlformats.org/officeDocument/2006/relationships/image" Target="../media/image133.wmf"/><Relationship Id="rId6" Type="http://schemas.openxmlformats.org/officeDocument/2006/relationships/image" Target="../media/image138.wmf"/><Relationship Id="rId11" Type="http://schemas.openxmlformats.org/officeDocument/2006/relationships/image" Target="../media/image143.wmf"/><Relationship Id="rId5" Type="http://schemas.openxmlformats.org/officeDocument/2006/relationships/image" Target="../media/image137.wmf"/><Relationship Id="rId15" Type="http://schemas.openxmlformats.org/officeDocument/2006/relationships/image" Target="../media/image147.wmf"/><Relationship Id="rId10" Type="http://schemas.openxmlformats.org/officeDocument/2006/relationships/image" Target="../media/image142.wmf"/><Relationship Id="rId19" Type="http://schemas.openxmlformats.org/officeDocument/2006/relationships/image" Target="../media/image151.wmf"/><Relationship Id="rId4" Type="http://schemas.openxmlformats.org/officeDocument/2006/relationships/image" Target="../media/image136.wmf"/><Relationship Id="rId9" Type="http://schemas.openxmlformats.org/officeDocument/2006/relationships/image" Target="../media/image141.wmf"/><Relationship Id="rId14" Type="http://schemas.openxmlformats.org/officeDocument/2006/relationships/image" Target="../media/image146.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57.wmf"/><Relationship Id="rId2" Type="http://schemas.openxmlformats.org/officeDocument/2006/relationships/image" Target="../media/image11.wmf"/><Relationship Id="rId1" Type="http://schemas.openxmlformats.org/officeDocument/2006/relationships/image" Target="../media/image156.wmf"/><Relationship Id="rId4" Type="http://schemas.openxmlformats.org/officeDocument/2006/relationships/image" Target="../media/image158.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60.wmf"/><Relationship Id="rId2" Type="http://schemas.openxmlformats.org/officeDocument/2006/relationships/image" Target="../media/image11.wmf"/><Relationship Id="rId1" Type="http://schemas.openxmlformats.org/officeDocument/2006/relationships/image" Target="../media/image159.wmf"/><Relationship Id="rId4" Type="http://schemas.openxmlformats.org/officeDocument/2006/relationships/image" Target="../media/image161.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63.wmf"/><Relationship Id="rId7" Type="http://schemas.openxmlformats.org/officeDocument/2006/relationships/image" Target="../media/image167.wmf"/><Relationship Id="rId2" Type="http://schemas.openxmlformats.org/officeDocument/2006/relationships/image" Target="../media/image158.wmf"/><Relationship Id="rId1" Type="http://schemas.openxmlformats.org/officeDocument/2006/relationships/image" Target="../media/image162.wmf"/><Relationship Id="rId6" Type="http://schemas.openxmlformats.org/officeDocument/2006/relationships/image" Target="../media/image166.wmf"/><Relationship Id="rId5" Type="http://schemas.openxmlformats.org/officeDocument/2006/relationships/image" Target="../media/image165.wmf"/><Relationship Id="rId4" Type="http://schemas.openxmlformats.org/officeDocument/2006/relationships/image" Target="../media/image164.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70.wmf"/><Relationship Id="rId2" Type="http://schemas.openxmlformats.org/officeDocument/2006/relationships/image" Target="../media/image169.wmf"/><Relationship Id="rId1" Type="http://schemas.openxmlformats.org/officeDocument/2006/relationships/image" Target="../media/image168.wmf"/><Relationship Id="rId5" Type="http://schemas.openxmlformats.org/officeDocument/2006/relationships/image" Target="../media/image172.wmf"/><Relationship Id="rId4" Type="http://schemas.openxmlformats.org/officeDocument/2006/relationships/image" Target="../media/image171.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72.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181.wmf"/><Relationship Id="rId13" Type="http://schemas.openxmlformats.org/officeDocument/2006/relationships/image" Target="../media/image185.wmf"/><Relationship Id="rId3" Type="http://schemas.openxmlformats.org/officeDocument/2006/relationships/image" Target="../media/image176.wmf"/><Relationship Id="rId7" Type="http://schemas.openxmlformats.org/officeDocument/2006/relationships/image" Target="../media/image180.wmf"/><Relationship Id="rId12" Type="http://schemas.openxmlformats.org/officeDocument/2006/relationships/image" Target="../media/image184.wmf"/><Relationship Id="rId2" Type="http://schemas.openxmlformats.org/officeDocument/2006/relationships/image" Target="../media/image175.wmf"/><Relationship Id="rId1" Type="http://schemas.openxmlformats.org/officeDocument/2006/relationships/image" Target="../media/image174.wmf"/><Relationship Id="rId6" Type="http://schemas.openxmlformats.org/officeDocument/2006/relationships/image" Target="../media/image179.wmf"/><Relationship Id="rId11" Type="http://schemas.openxmlformats.org/officeDocument/2006/relationships/image" Target="../media/image183.wmf"/><Relationship Id="rId5" Type="http://schemas.openxmlformats.org/officeDocument/2006/relationships/image" Target="../media/image178.wmf"/><Relationship Id="rId10" Type="http://schemas.openxmlformats.org/officeDocument/2006/relationships/image" Target="../media/image182.wmf"/><Relationship Id="rId4" Type="http://schemas.openxmlformats.org/officeDocument/2006/relationships/image" Target="../media/image177.wmf"/><Relationship Id="rId9" Type="http://schemas.openxmlformats.org/officeDocument/2006/relationships/image" Target="../media/image11.wmf"/><Relationship Id="rId14" Type="http://schemas.openxmlformats.org/officeDocument/2006/relationships/image" Target="../media/image18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672" cy="511054"/>
          </a:xfrm>
          <a:prstGeom prst="rect">
            <a:avLst/>
          </a:prstGeom>
        </p:spPr>
        <p:txBody>
          <a:bodyPr vert="horz" lIns="91440" tIns="45720" rIns="91440" bIns="45720" rtlCol="0"/>
          <a:lstStyle>
            <a:lvl1pPr algn="l">
              <a:defRPr sz="1200">
                <a:latin typeface="Arial" charset="0"/>
              </a:defRPr>
            </a:lvl1pPr>
          </a:lstStyle>
          <a:p>
            <a:pPr>
              <a:defRPr/>
            </a:pPr>
            <a:endParaRPr lang="zh-CN" altLang="en-US"/>
          </a:p>
        </p:txBody>
      </p:sp>
      <p:sp>
        <p:nvSpPr>
          <p:cNvPr id="3" name="日期占位符 2"/>
          <p:cNvSpPr>
            <a:spLocks noGrp="1"/>
          </p:cNvSpPr>
          <p:nvPr>
            <p:ph type="dt" sz="quarter" idx="1"/>
          </p:nvPr>
        </p:nvSpPr>
        <p:spPr>
          <a:xfrm>
            <a:off x="4021088" y="0"/>
            <a:ext cx="3076672" cy="511054"/>
          </a:xfrm>
          <a:prstGeom prst="rect">
            <a:avLst/>
          </a:prstGeom>
        </p:spPr>
        <p:txBody>
          <a:bodyPr vert="horz" lIns="91440" tIns="45720" rIns="91440" bIns="45720" rtlCol="0"/>
          <a:lstStyle>
            <a:lvl1pPr algn="r">
              <a:defRPr sz="1200">
                <a:latin typeface="Arial" charset="0"/>
              </a:defRPr>
            </a:lvl1pPr>
          </a:lstStyle>
          <a:p>
            <a:pPr>
              <a:defRPr/>
            </a:pPr>
            <a:fld id="{CB6546D7-55A0-4F6B-B749-794C1FA7637D}" type="datetimeFigureOut">
              <a:rPr lang="zh-CN" altLang="en-US"/>
              <a:pPr>
                <a:defRPr/>
              </a:pPr>
              <a:t>2023/9/25</a:t>
            </a:fld>
            <a:endParaRPr lang="zh-CN" altLang="en-US"/>
          </a:p>
        </p:txBody>
      </p:sp>
      <p:sp>
        <p:nvSpPr>
          <p:cNvPr id="4" name="页脚占位符 3"/>
          <p:cNvSpPr>
            <a:spLocks noGrp="1"/>
          </p:cNvSpPr>
          <p:nvPr>
            <p:ph type="ftr" sz="quarter" idx="2"/>
          </p:nvPr>
        </p:nvSpPr>
        <p:spPr>
          <a:xfrm>
            <a:off x="0" y="9721868"/>
            <a:ext cx="3076672" cy="511054"/>
          </a:xfrm>
          <a:prstGeom prst="rect">
            <a:avLst/>
          </a:prstGeom>
        </p:spPr>
        <p:txBody>
          <a:bodyPr vert="horz" lIns="91440" tIns="45720" rIns="91440" bIns="45720" rtlCol="0" anchor="b"/>
          <a:lstStyle>
            <a:lvl1pPr algn="l">
              <a:defRPr sz="1200">
                <a:latin typeface="Arial" charset="0"/>
              </a:defRPr>
            </a:lvl1pPr>
          </a:lstStyle>
          <a:p>
            <a:pPr>
              <a:defRPr/>
            </a:pPr>
            <a:endParaRPr lang="zh-CN" altLang="en-US"/>
          </a:p>
        </p:txBody>
      </p:sp>
      <p:sp>
        <p:nvSpPr>
          <p:cNvPr id="5" name="灯片编号占位符 4"/>
          <p:cNvSpPr>
            <a:spLocks noGrp="1"/>
          </p:cNvSpPr>
          <p:nvPr>
            <p:ph type="sldNum" sz="quarter" idx="3"/>
          </p:nvPr>
        </p:nvSpPr>
        <p:spPr>
          <a:xfrm>
            <a:off x="4021088" y="9721868"/>
            <a:ext cx="3076672" cy="511054"/>
          </a:xfrm>
          <a:prstGeom prst="rect">
            <a:avLst/>
          </a:prstGeom>
        </p:spPr>
        <p:txBody>
          <a:bodyPr vert="horz" lIns="91440" tIns="45720" rIns="91440" bIns="45720" rtlCol="0" anchor="b"/>
          <a:lstStyle>
            <a:lvl1pPr algn="r">
              <a:defRPr sz="1200">
                <a:latin typeface="Arial" charset="0"/>
              </a:defRPr>
            </a:lvl1pPr>
          </a:lstStyle>
          <a:p>
            <a:pPr>
              <a:defRPr/>
            </a:pPr>
            <a:fld id="{6B24D7E3-83D9-45BB-8074-07FABBCF58D9}" type="slidenum">
              <a:rPr lang="zh-CN" altLang="en-US"/>
              <a:pPr>
                <a:defRPr/>
              </a:pPr>
              <a:t>‹#›</a:t>
            </a:fld>
            <a:endParaRPr lang="zh-CN" altLang="en-US"/>
          </a:p>
        </p:txBody>
      </p:sp>
    </p:spTree>
    <p:extLst>
      <p:ext uri="{BB962C8B-B14F-4D97-AF65-F5344CB8AC3E}">
        <p14:creationId xmlns:p14="http://schemas.microsoft.com/office/powerpoint/2010/main" val="226698539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672" cy="511054"/>
          </a:xfrm>
          <a:prstGeom prst="rect">
            <a:avLst/>
          </a:prstGeom>
        </p:spPr>
        <p:txBody>
          <a:bodyPr vert="horz" lIns="91440" tIns="45720" rIns="91440" bIns="45720" rtlCol="0"/>
          <a:lstStyle>
            <a:lvl1pPr algn="l">
              <a:defRPr sz="1200">
                <a:latin typeface="Arial" charset="0"/>
              </a:defRPr>
            </a:lvl1pPr>
          </a:lstStyle>
          <a:p>
            <a:pPr>
              <a:defRPr/>
            </a:pPr>
            <a:endParaRPr lang="zh-CN" altLang="en-US"/>
          </a:p>
        </p:txBody>
      </p:sp>
      <p:sp>
        <p:nvSpPr>
          <p:cNvPr id="3" name="日期占位符 2"/>
          <p:cNvSpPr>
            <a:spLocks noGrp="1"/>
          </p:cNvSpPr>
          <p:nvPr>
            <p:ph type="dt" idx="1"/>
          </p:nvPr>
        </p:nvSpPr>
        <p:spPr>
          <a:xfrm>
            <a:off x="4021088" y="0"/>
            <a:ext cx="3076672" cy="511054"/>
          </a:xfrm>
          <a:prstGeom prst="rect">
            <a:avLst/>
          </a:prstGeom>
        </p:spPr>
        <p:txBody>
          <a:bodyPr vert="horz" lIns="91440" tIns="45720" rIns="91440" bIns="45720" rtlCol="0"/>
          <a:lstStyle>
            <a:lvl1pPr algn="r">
              <a:defRPr sz="1200">
                <a:latin typeface="Arial" charset="0"/>
              </a:defRPr>
            </a:lvl1pPr>
          </a:lstStyle>
          <a:p>
            <a:pPr>
              <a:defRPr/>
            </a:pPr>
            <a:fld id="{E21E670D-491D-4C99-822F-11ABADEE1618}" type="datetimeFigureOut">
              <a:rPr lang="zh-CN" altLang="en-US"/>
              <a:pPr>
                <a:defRPr/>
              </a:pPr>
              <a:t>2023/9/25</a:t>
            </a:fld>
            <a:endParaRPr lang="zh-CN" altLang="en-US"/>
          </a:p>
        </p:txBody>
      </p:sp>
      <p:sp>
        <p:nvSpPr>
          <p:cNvPr id="4" name="幻灯片图像占位符 3"/>
          <p:cNvSpPr>
            <a:spLocks noGrp="1" noRot="1" noChangeAspect="1"/>
          </p:cNvSpPr>
          <p:nvPr>
            <p:ph type="sldImg" idx="2"/>
          </p:nvPr>
        </p:nvSpPr>
        <p:spPr>
          <a:xfrm>
            <a:off x="138113" y="768350"/>
            <a:ext cx="6823075" cy="3838575"/>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710239" y="4861781"/>
            <a:ext cx="5678824" cy="460456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721868"/>
            <a:ext cx="3076672" cy="511054"/>
          </a:xfrm>
          <a:prstGeom prst="rect">
            <a:avLst/>
          </a:prstGeom>
        </p:spPr>
        <p:txBody>
          <a:bodyPr vert="horz" lIns="91440" tIns="45720" rIns="91440" bIns="45720" rtlCol="0" anchor="b"/>
          <a:lstStyle>
            <a:lvl1pPr algn="l">
              <a:defRPr sz="1200">
                <a:latin typeface="Arial" charset="0"/>
              </a:defRPr>
            </a:lvl1pPr>
          </a:lstStyle>
          <a:p>
            <a:pPr>
              <a:defRPr/>
            </a:pPr>
            <a:endParaRPr lang="zh-CN" altLang="en-US"/>
          </a:p>
        </p:txBody>
      </p:sp>
      <p:sp>
        <p:nvSpPr>
          <p:cNvPr id="7" name="灯片编号占位符 6"/>
          <p:cNvSpPr>
            <a:spLocks noGrp="1"/>
          </p:cNvSpPr>
          <p:nvPr>
            <p:ph type="sldNum" sz="quarter" idx="5"/>
          </p:nvPr>
        </p:nvSpPr>
        <p:spPr>
          <a:xfrm>
            <a:off x="4021088" y="9721868"/>
            <a:ext cx="3076672" cy="511054"/>
          </a:xfrm>
          <a:prstGeom prst="rect">
            <a:avLst/>
          </a:prstGeom>
        </p:spPr>
        <p:txBody>
          <a:bodyPr vert="horz" lIns="91440" tIns="45720" rIns="91440" bIns="45720" rtlCol="0" anchor="b"/>
          <a:lstStyle>
            <a:lvl1pPr algn="r">
              <a:defRPr sz="1200">
                <a:latin typeface="Arial" charset="0"/>
              </a:defRPr>
            </a:lvl1pPr>
          </a:lstStyle>
          <a:p>
            <a:pPr>
              <a:defRPr/>
            </a:pPr>
            <a:fld id="{064F8E74-9C04-43EC-B268-D3C0C73A25C8}" type="slidenum">
              <a:rPr lang="zh-CN" altLang="en-US"/>
              <a:pPr>
                <a:defRPr/>
              </a:pPr>
              <a:t>‹#›</a:t>
            </a:fld>
            <a:endParaRPr lang="zh-CN" altLang="en-US"/>
          </a:p>
        </p:txBody>
      </p:sp>
    </p:spTree>
    <p:extLst>
      <p:ext uri="{BB962C8B-B14F-4D97-AF65-F5344CB8AC3E}">
        <p14:creationId xmlns:p14="http://schemas.microsoft.com/office/powerpoint/2010/main" val="40811230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41.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2</a:t>
            </a:fld>
            <a:endParaRPr lang="zh-CN" altLang="en-US"/>
          </a:p>
        </p:txBody>
      </p:sp>
    </p:spTree>
    <p:extLst>
      <p:ext uri="{BB962C8B-B14F-4D97-AF65-F5344CB8AC3E}">
        <p14:creationId xmlns:p14="http://schemas.microsoft.com/office/powerpoint/2010/main" val="19464601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Zlm</a:t>
            </a:r>
            <a:r>
              <a:rPr lang="zh-CN" altLang="en-US" dirty="0"/>
              <a:t>合并前三页</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4</a:t>
            </a:fld>
            <a:endParaRPr lang="zh-CN" altLang="en-US"/>
          </a:p>
        </p:txBody>
      </p:sp>
    </p:spTree>
    <p:extLst>
      <p:ext uri="{BB962C8B-B14F-4D97-AF65-F5344CB8AC3E}">
        <p14:creationId xmlns:p14="http://schemas.microsoft.com/office/powerpoint/2010/main" val="2704063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r>
              <a:rPr lang="zh-CN" altLang="en-US" dirty="0"/>
              <a:t>怎么理解</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6</a:t>
            </a:fld>
            <a:endParaRPr lang="zh-CN" altLang="en-US"/>
          </a:p>
        </p:txBody>
      </p:sp>
    </p:spTree>
    <p:extLst>
      <p:ext uri="{BB962C8B-B14F-4D97-AF65-F5344CB8AC3E}">
        <p14:creationId xmlns:p14="http://schemas.microsoft.com/office/powerpoint/2010/main" val="10232312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r>
              <a:rPr lang="zh-CN" altLang="en-US" dirty="0"/>
              <a:t>怎么理解？</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7</a:t>
            </a:fld>
            <a:endParaRPr lang="zh-CN" altLang="en-US"/>
          </a:p>
        </p:txBody>
      </p:sp>
    </p:spTree>
    <p:extLst>
      <p:ext uri="{BB962C8B-B14F-4D97-AF65-F5344CB8AC3E}">
        <p14:creationId xmlns:p14="http://schemas.microsoft.com/office/powerpoint/2010/main" val="1868282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a:t>
                </a:r>
                <a:r>
                  <a:rPr lang="en-US" altLang="zh-CN" dirty="0"/>
                  <a:t>4</a:t>
                </a:r>
                <a:r>
                  <a:rPr lang="zh-CN" altLang="en-US" dirty="0"/>
                  <a:t>处的更新策略按照严格意义上的更新定义应该有根号？？？</a:t>
                </a:r>
                <a:r>
                  <a:rPr lang="en-US" altLang="zh-TW" dirty="0">
                    <a:ea typeface="新細明體" pitchFamily="18" charset="-120"/>
                  </a:rPr>
                  <a:t>Compute the hypothesis weight </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严谨的的策略是正确划分的样本权值变小（除以 根号（</a:t>
                </a:r>
                <a:r>
                  <a:rPr lang="en-US" altLang="zh-CN" dirty="0"/>
                  <a:t>1-</a:t>
                </a:r>
                <a:r>
                  <a:rPr lang="el-GR" altLang="zh-CN" sz="1200" dirty="0"/>
                  <a:t>ε</a:t>
                </a:r>
                <a:r>
                  <a:rPr lang="en-US" altLang="zh-CN" sz="1200" baseline="-25000" dirty="0"/>
                  <a:t>t </a:t>
                </a:r>
                <a:r>
                  <a:rPr lang="zh-CN" altLang="en-US" dirty="0"/>
                  <a:t>）</a:t>
                </a:r>
                <a:r>
                  <a:rPr lang="en-US" altLang="zh-CN" dirty="0"/>
                  <a:t>/</a:t>
                </a:r>
                <a:r>
                  <a:rPr lang="el-GR" altLang="zh-CN" sz="1200" dirty="0"/>
                  <a:t>ε</a:t>
                </a:r>
                <a:r>
                  <a:rPr lang="en-US" altLang="zh-CN" sz="1200" baseline="-25000" dirty="0"/>
                  <a:t>t</a:t>
                </a:r>
                <a:r>
                  <a:rPr lang="zh-CN" altLang="en-US" dirty="0"/>
                  <a:t>），。</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两相比较，误分类样本的权值被放大（</a:t>
                </a:r>
                <a:r>
                  <a:rPr lang="en-US" altLang="zh-CN" dirty="0"/>
                  <a:t>1-</a:t>
                </a:r>
                <a:r>
                  <a:rPr lang="el-GR" altLang="zh-CN" sz="1200" dirty="0"/>
                  <a:t>ε</a:t>
                </a:r>
                <a:r>
                  <a:rPr lang="en-US" altLang="zh-CN" sz="1200" baseline="-25000" dirty="0"/>
                  <a:t>t </a:t>
                </a:r>
                <a:r>
                  <a:rPr lang="zh-CN" altLang="en-US" dirty="0"/>
                  <a:t>）</a:t>
                </a:r>
                <a:r>
                  <a:rPr lang="en-US" altLang="zh-CN" dirty="0"/>
                  <a:t>/</a:t>
                </a:r>
                <a:r>
                  <a:rPr lang="el-GR" altLang="zh-CN" sz="1200" dirty="0"/>
                  <a:t>ε</a:t>
                </a:r>
                <a:r>
                  <a:rPr lang="en-US" altLang="zh-CN" sz="1200" baseline="-25000" dirty="0"/>
                  <a:t>t</a:t>
                </a:r>
                <a:r>
                  <a:rPr lang="zh-CN" altLang="en-US" sz="1200" baseline="0" dirty="0"/>
                  <a:t>倍；</a:t>
                </a:r>
                <a:endParaRPr lang="en-US" altLang="zh-CN" dirty="0"/>
              </a:p>
              <a:p>
                <a:r>
                  <a:rPr lang="zh-CN" altLang="en-US" dirty="0"/>
                  <a:t>故可用一种简化计算的更新样本权值分布的策略：正确划分的样本权值保持不变，错误的样本权值变大</a:t>
                </a:r>
                <a:r>
                  <a:rPr lang="zh-CN" altLang="el-GR" dirty="0"/>
                  <a:t>（</a:t>
                </a:r>
                <a:r>
                  <a:rPr lang="el-GR" altLang="zh-CN" dirty="0"/>
                  <a:t>1-ε</a:t>
                </a:r>
                <a:r>
                  <a:rPr lang="en-US" altLang="zh-CN" dirty="0"/>
                  <a:t>t </a:t>
                </a:r>
                <a:r>
                  <a:rPr lang="zh-CN" altLang="en-US" dirty="0"/>
                  <a:t>）</a:t>
                </a:r>
                <a:r>
                  <a:rPr lang="en-US" altLang="zh-CN" dirty="0"/>
                  <a:t>/</a:t>
                </a:r>
                <a:r>
                  <a:rPr lang="el-GR" altLang="zh-CN" dirty="0"/>
                  <a:t>ε</a:t>
                </a:r>
                <a:r>
                  <a:rPr lang="en-US" altLang="zh-CN" dirty="0"/>
                  <a:t>t</a:t>
                </a:r>
                <a:r>
                  <a:rPr lang="zh-CN" altLang="en-US" dirty="0"/>
                  <a:t>倍。</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14:m>
                  <m:oMath xmlns:m="http://schemas.openxmlformats.org/officeDocument/2006/math">
                    <m:sSub>
                      <m:sSubPr>
                        <m:ctrlPr>
                          <a:rPr lang="en-US" altLang="zh-TW" sz="1200" i="1" smtClean="0">
                            <a:latin typeface="Cambria Math" panose="02040503050406030204" pitchFamily="18" charset="0"/>
                          </a:rPr>
                        </m:ctrlPr>
                      </m:sSubPr>
                      <m:e>
                        <m:r>
                          <a:rPr lang="en-US" altLang="zh-TW" sz="1200" b="0" i="1" smtClean="0">
                            <a:latin typeface="Cambria Math" panose="02040503050406030204" pitchFamily="18" charset="0"/>
                          </a:rPr>
                          <m:t>𝑍</m:t>
                        </m:r>
                      </m:e>
                      <m:sub>
                        <m:r>
                          <m:rPr>
                            <m:sty m:val="p"/>
                          </m:rPr>
                          <a:rPr lang="en-US" altLang="zh-CN" sz="1200" i="1">
                            <a:latin typeface="Cambria Math" panose="02040503050406030204" pitchFamily="18" charset="0"/>
                          </a:rPr>
                          <m:t>t</m:t>
                        </m:r>
                      </m:sub>
                    </m:sSub>
                    <m:r>
                      <a:rPr lang="en-US" altLang="zh-TW" sz="1200" b="0" i="1" smtClean="0">
                        <a:latin typeface="Cambria Math" panose="02040503050406030204" pitchFamily="18" charset="0"/>
                      </a:rPr>
                      <m:t>=</m:t>
                    </m:r>
                    <m:nary>
                      <m:naryPr>
                        <m:chr m:val="∑"/>
                        <m:supHide m:val="on"/>
                        <m:ctrlPr>
                          <a:rPr lang="en-US" altLang="zh-TW" sz="1200" b="0" i="1" smtClean="0">
                            <a:latin typeface="Cambria Math" panose="02040503050406030204" pitchFamily="18" charset="0"/>
                          </a:rPr>
                        </m:ctrlPr>
                      </m:naryPr>
                      <m:sub>
                        <m:r>
                          <m:rPr>
                            <m:brk m:alnAt="7"/>
                          </m:rPr>
                          <a:rPr lang="en-US" altLang="zh-TW" sz="1200" b="0" i="1" smtClean="0">
                            <a:latin typeface="Cambria Math" panose="02040503050406030204" pitchFamily="18" charset="0"/>
                          </a:rPr>
                          <m:t>𝑖</m:t>
                        </m:r>
                        <m:r>
                          <a:rPr lang="en-US" altLang="zh-TW" sz="1200" b="0" i="1" smtClean="0">
                            <a:latin typeface="Cambria Math" panose="02040503050406030204" pitchFamily="18" charset="0"/>
                          </a:rPr>
                          <m:t>=1,…,</m:t>
                        </m:r>
                        <m:r>
                          <m:rPr>
                            <m:sty m:val="p"/>
                          </m:rPr>
                          <a:rPr lang="en-US" altLang="zh-CN" sz="1200" i="1">
                            <a:latin typeface="Cambria Math" panose="02040503050406030204" pitchFamily="18" charset="0"/>
                          </a:rPr>
                          <m:t>m</m:t>
                        </m:r>
                      </m:sub>
                      <m:sup/>
                      <m:e>
                        <m:sSubSup>
                          <m:sSubSupPr>
                            <m:ctrlPr>
                              <a:rPr lang="en-US" altLang="zh-TW" sz="1200" i="1">
                                <a:latin typeface="Cambria Math" panose="02040503050406030204" pitchFamily="18" charset="0"/>
                              </a:rPr>
                            </m:ctrlPr>
                          </m:sSubSupPr>
                          <m:e>
                            <m:r>
                              <m:rPr>
                                <m:sty m:val="p"/>
                              </m:rPr>
                              <a:rPr lang="en-US" altLang="zh-CN" sz="1200" i="1">
                                <a:latin typeface="Cambria Math" panose="02040503050406030204" pitchFamily="18" charset="0"/>
                              </a:rPr>
                              <m:t>D</m:t>
                            </m:r>
                          </m:e>
                          <m:sub>
                            <m:r>
                              <m:rPr>
                                <m:sty m:val="p"/>
                              </m:rPr>
                              <a:rPr lang="en-US" altLang="zh-CN" sz="1200" i="1">
                                <a:latin typeface="Cambria Math" panose="02040503050406030204" pitchFamily="18" charset="0"/>
                              </a:rPr>
                              <m:t>t</m:t>
                            </m:r>
                          </m:sub>
                          <m:sup/>
                        </m:sSubSup>
                        <m:r>
                          <a:rPr lang="en-US" altLang="zh-TW" sz="1200" i="1">
                            <a:latin typeface="Cambria Math" panose="02040503050406030204" pitchFamily="18" charset="0"/>
                          </a:rPr>
                          <m:t>(</m:t>
                        </m:r>
                        <m:r>
                          <a:rPr lang="en-US" altLang="zh-TW" sz="1200" i="1">
                            <a:latin typeface="Cambria Math" panose="02040503050406030204" pitchFamily="18" charset="0"/>
                          </a:rPr>
                          <m:t>𝑖</m:t>
                        </m:r>
                        <m:r>
                          <a:rPr lang="en-US" altLang="zh-TW" sz="1200" i="1">
                            <a:latin typeface="Cambria Math" panose="02040503050406030204" pitchFamily="18" charset="0"/>
                          </a:rPr>
                          <m:t>)</m:t>
                        </m:r>
                      </m:e>
                    </m:nary>
                  </m:oMath>
                </a14:m>
                <a:r>
                  <a:rPr lang="en-US" altLang="zh-CN" dirty="0">
                    <a:ea typeface="新細明體" pitchFamily="18" charset="-120"/>
                  </a:rPr>
                  <a:t>D</a:t>
                </a:r>
                <a:r>
                  <a:rPr lang="en-US" altLang="zh-CN" baseline="-25000" dirty="0">
                    <a:ea typeface="新細明體" pitchFamily="18" charset="-120"/>
                  </a:rPr>
                  <a:t>t+1</a:t>
                </a:r>
                <a:r>
                  <a:rPr lang="zh-CN" altLang="en-US" dirty="0">
                    <a:ea typeface="新細明體" pitchFamily="18" charset="-120"/>
                  </a:rPr>
                  <a:t>归一化  确保</a:t>
                </a:r>
                <a:r>
                  <a:rPr lang="en-US" altLang="zh-CN" dirty="0">
                    <a:ea typeface="新細明體" pitchFamily="18" charset="-120"/>
                  </a:rPr>
                  <a:t>D</a:t>
                </a:r>
                <a:r>
                  <a:rPr lang="en-US" altLang="zh-CN" baseline="-25000" dirty="0">
                    <a:ea typeface="新細明體" pitchFamily="18" charset="-120"/>
                  </a:rPr>
                  <a:t>t+1</a:t>
                </a:r>
                <a:r>
                  <a:rPr lang="zh-CN" altLang="en-US" dirty="0">
                    <a:ea typeface="新細明體" pitchFamily="18" charset="-120"/>
                  </a:rPr>
                  <a:t>是一个分布。</a:t>
                </a:r>
                <a:endParaRPr lang="en-US" altLang="zh-CN" dirty="0">
                  <a:ea typeface="新細明體" pitchFamily="18" charset="-12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ea typeface="新細明體" pitchFamily="18" charset="-120"/>
                  </a:rPr>
                  <a:t>终止条件：</a:t>
                </a:r>
                <a:r>
                  <a:rPr lang="en-US" altLang="zh-CN" dirty="0">
                    <a:ea typeface="新細明體" pitchFamily="18" charset="-120"/>
                  </a:rPr>
                  <a:t>1. </a:t>
                </a:r>
                <a:r>
                  <a:rPr lang="zh-CN" altLang="en-US" dirty="0">
                    <a:ea typeface="新細明體" pitchFamily="18" charset="-120"/>
                  </a:rPr>
                  <a:t>合成后分类器在训练集上无错分样本；</a:t>
                </a:r>
                <a:r>
                  <a:rPr lang="en-US" altLang="zh-CN" dirty="0">
                    <a:ea typeface="新細明體" pitchFamily="18" charset="-120"/>
                  </a:rPr>
                  <a:t>2</a:t>
                </a:r>
                <a:r>
                  <a:rPr lang="zh-CN" altLang="en-US" dirty="0">
                    <a:ea typeface="新細明體" pitchFamily="18" charset="-120"/>
                  </a:rPr>
                  <a:t>、达到学习轮数</a:t>
                </a:r>
                <a:endParaRPr lang="en-US" altLang="zh-CN" dirty="0">
                  <a:ea typeface="新細明體" pitchFamily="18" charset="-120"/>
                </a:endParaRPr>
              </a:p>
              <a:p>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a:t>
                </a:r>
                <a:r>
                  <a:rPr lang="en-US" altLang="zh-CN" dirty="0" smtClean="0"/>
                  <a:t>4</a:t>
                </a:r>
                <a:r>
                  <a:rPr lang="zh-CN" altLang="en-US" dirty="0" smtClean="0"/>
                  <a:t>处的更新</a:t>
                </a:r>
                <a:r>
                  <a:rPr lang="zh-CN" altLang="en-US" dirty="0" smtClean="0"/>
                  <a:t>策略按照严格意义上的更新定义应该</a:t>
                </a:r>
                <a:r>
                  <a:rPr lang="zh-CN" altLang="en-US" dirty="0" smtClean="0"/>
                  <a:t>有根号？？</a:t>
                </a:r>
                <a:r>
                  <a:rPr lang="zh-CN" altLang="en-US" dirty="0" smtClean="0"/>
                  <a:t>？</a:t>
                </a:r>
                <a:r>
                  <a:rPr lang="en-US" altLang="zh-TW" dirty="0" smtClean="0">
                    <a:ea typeface="新細明體" pitchFamily="18" charset="-120"/>
                  </a:rPr>
                  <a:t>Compute the hypothesis weight </a:t>
                </a:r>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严谨的的策略是正确划分的样本权值变小（除以 根号（</a:t>
                </a:r>
                <a:r>
                  <a:rPr lang="en-US" altLang="zh-CN" dirty="0" smtClean="0"/>
                  <a:t>1-</a:t>
                </a:r>
                <a:r>
                  <a:rPr lang="el-GR" altLang="zh-CN" sz="1200" dirty="0" smtClean="0"/>
                  <a:t>ε</a:t>
                </a:r>
                <a:r>
                  <a:rPr lang="en-US" altLang="zh-CN" sz="1200" baseline="-25000" dirty="0" smtClean="0"/>
                  <a:t>t </a:t>
                </a:r>
                <a:r>
                  <a:rPr lang="zh-CN" altLang="en-US" dirty="0" smtClean="0"/>
                  <a:t>）</a:t>
                </a:r>
                <a:r>
                  <a:rPr lang="en-US" altLang="zh-CN" dirty="0" smtClean="0"/>
                  <a:t>/</a:t>
                </a:r>
                <a:r>
                  <a:rPr lang="el-GR" altLang="zh-CN" sz="1200" dirty="0" smtClean="0"/>
                  <a:t>ε</a:t>
                </a:r>
                <a:r>
                  <a:rPr lang="en-US" altLang="zh-CN" sz="1200" baseline="-25000" dirty="0" smtClean="0"/>
                  <a:t>t</a:t>
                </a:r>
                <a:r>
                  <a:rPr lang="zh-CN" altLang="en-US" dirty="0" smtClean="0"/>
                  <a:t>），。</a:t>
                </a:r>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两相比较，误分类样本的权值被放大（</a:t>
                </a:r>
                <a:r>
                  <a:rPr lang="en-US" altLang="zh-CN" dirty="0" smtClean="0"/>
                  <a:t>1-</a:t>
                </a:r>
                <a:r>
                  <a:rPr lang="el-GR" altLang="zh-CN" sz="1200" dirty="0" smtClean="0"/>
                  <a:t>ε</a:t>
                </a:r>
                <a:r>
                  <a:rPr lang="en-US" altLang="zh-CN" sz="1200" baseline="-25000" dirty="0" smtClean="0"/>
                  <a:t>t </a:t>
                </a:r>
                <a:r>
                  <a:rPr lang="zh-CN" altLang="en-US" dirty="0" smtClean="0"/>
                  <a:t>）</a:t>
                </a:r>
                <a:r>
                  <a:rPr lang="en-US" altLang="zh-CN" dirty="0" smtClean="0"/>
                  <a:t>/</a:t>
                </a:r>
                <a:r>
                  <a:rPr lang="el-GR" altLang="zh-CN" sz="1200" dirty="0" smtClean="0"/>
                  <a:t>ε</a:t>
                </a:r>
                <a:r>
                  <a:rPr lang="en-US" altLang="zh-CN" sz="1200" baseline="-25000" dirty="0" smtClean="0"/>
                  <a:t>t</a:t>
                </a:r>
                <a:r>
                  <a:rPr lang="zh-CN" altLang="en-US" sz="1200" baseline="0" dirty="0" smtClean="0"/>
                  <a:t>倍；</a:t>
                </a:r>
                <a:endParaRPr lang="en-US" altLang="zh-CN" dirty="0" smtClean="0"/>
              </a:p>
              <a:p>
                <a:r>
                  <a:rPr lang="zh-CN" altLang="en-US" dirty="0" smtClean="0"/>
                  <a:t>故可用一种简化计算的更新样本权值分布的策略：正确划分的样本权值保持不变，错误的样本权值变大</a:t>
                </a:r>
                <a:r>
                  <a:rPr lang="zh-CN" altLang="el-GR" dirty="0" smtClean="0"/>
                  <a:t>（</a:t>
                </a:r>
                <a:r>
                  <a:rPr lang="el-GR" altLang="zh-CN" dirty="0" smtClean="0"/>
                  <a:t>1-ε</a:t>
                </a:r>
                <a:r>
                  <a:rPr lang="en-US" altLang="zh-CN" dirty="0" smtClean="0"/>
                  <a:t>t </a:t>
                </a:r>
                <a:r>
                  <a:rPr lang="zh-CN" altLang="en-US" dirty="0" smtClean="0"/>
                  <a:t>）</a:t>
                </a:r>
                <a:r>
                  <a:rPr lang="en-US" altLang="zh-CN" dirty="0" smtClean="0"/>
                  <a:t>/</a:t>
                </a:r>
                <a:r>
                  <a:rPr lang="el-GR" altLang="zh-CN" dirty="0" smtClean="0"/>
                  <a:t>ε</a:t>
                </a:r>
                <a:r>
                  <a:rPr lang="en-US" altLang="zh-CN" dirty="0" smtClean="0"/>
                  <a:t>t</a:t>
                </a:r>
                <a:r>
                  <a:rPr lang="zh-CN" altLang="en-US" dirty="0" smtClean="0"/>
                  <a:t>倍。</a:t>
                </a:r>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sz="1200" b="0" i="0" smtClean="0">
                    <a:latin typeface="Cambria Math" panose="02040503050406030204" pitchFamily="18" charset="0"/>
                  </a:rPr>
                  <a:t>𝑍</a:t>
                </a:r>
                <a:r>
                  <a:rPr lang="en-US" altLang="zh-TW" sz="1200" b="0" i="0" smtClean="0">
                    <a:latin typeface="Cambria Math" panose="02040503050406030204" pitchFamily="18" charset="0"/>
                  </a:rPr>
                  <a:t>_</a:t>
                </a:r>
                <a:r>
                  <a:rPr lang="en-US" altLang="zh-CN" sz="1200" i="0">
                    <a:latin typeface="Cambria Math" panose="02040503050406030204" pitchFamily="18" charset="0"/>
                  </a:rPr>
                  <a:t>t</a:t>
                </a:r>
                <a:r>
                  <a:rPr lang="en-US" altLang="zh-TW" sz="1200" b="0" i="0" smtClean="0">
                    <a:latin typeface="Cambria Math" panose="02040503050406030204" pitchFamily="18" charset="0"/>
                  </a:rPr>
                  <a:t>=∑</a:t>
                </a:r>
                <a:r>
                  <a:rPr lang="en-US" altLang="zh-CN" sz="1200" b="0" i="0">
                    <a:latin typeface="Cambria Math" panose="02040503050406030204" pitchFamily="18" charset="0"/>
                  </a:rPr>
                  <a:t>_</a:t>
                </a:r>
                <a:r>
                  <a:rPr lang="en-US" altLang="zh-TW" sz="1200" b="0" i="0" smtClean="0">
                    <a:latin typeface="Cambria Math" panose="02040503050406030204" pitchFamily="18" charset="0"/>
                  </a:rPr>
                  <a:t>(𝑖=1,…,</a:t>
                </a:r>
                <a:r>
                  <a:rPr lang="en-US" altLang="zh-CN" sz="1200" i="0">
                    <a:latin typeface="Cambria Math" panose="02040503050406030204" pitchFamily="18" charset="0"/>
                  </a:rPr>
                  <a:t>m</a:t>
                </a:r>
                <a:r>
                  <a:rPr lang="en-US" altLang="zh-TW" sz="1200" b="0" i="0" smtClean="0">
                    <a:latin typeface="Cambria Math" panose="02040503050406030204" pitchFamily="18" charset="0"/>
                  </a:rPr>
                  <a:t>)</a:t>
                </a:r>
                <a:r>
                  <a:rPr lang="en-US" altLang="zh-TW" sz="1200" b="0" i="0">
                    <a:latin typeface="Cambria Math" panose="02040503050406030204" pitchFamily="18" charset="0"/>
                  </a:rPr>
                  <a:t>▒</a:t>
                </a:r>
                <a:r>
                  <a:rPr lang="en-US" altLang="zh-TW" sz="1200" b="0" i="0" smtClean="0">
                    <a:latin typeface="Cambria Math" panose="02040503050406030204" pitchFamily="18" charset="0"/>
                  </a:rPr>
                  <a:t>〖</a:t>
                </a:r>
                <a:r>
                  <a:rPr lang="en-US" altLang="zh-CN" sz="1200" i="0">
                    <a:latin typeface="Cambria Math" panose="02040503050406030204" pitchFamily="18" charset="0"/>
                  </a:rPr>
                  <a:t>D</a:t>
                </a:r>
                <a:r>
                  <a:rPr lang="en-US" altLang="zh-TW" sz="1200" i="0">
                    <a:latin typeface="Cambria Math" panose="02040503050406030204" pitchFamily="18" charset="0"/>
                  </a:rPr>
                  <a:t>_</a:t>
                </a:r>
                <a:r>
                  <a:rPr lang="en-US" altLang="zh-CN" sz="1200" i="0">
                    <a:latin typeface="Cambria Math" panose="02040503050406030204" pitchFamily="18" charset="0"/>
                  </a:rPr>
                  <a:t>t^ </a:t>
                </a:r>
                <a:r>
                  <a:rPr lang="en-US" altLang="zh-TW" sz="1200" i="0">
                    <a:latin typeface="Cambria Math" panose="02040503050406030204" pitchFamily="18" charset="0"/>
                  </a:rPr>
                  <a:t> (𝑖)</a:t>
                </a:r>
                <a:r>
                  <a:rPr lang="en-US" altLang="zh-TW" sz="1200" b="0" i="0" smtClean="0">
                    <a:latin typeface="Cambria Math" panose="02040503050406030204" pitchFamily="18" charset="0"/>
                  </a:rPr>
                  <a:t>〗</a:t>
                </a:r>
                <a:r>
                  <a:rPr lang="en-US" altLang="zh-CN" dirty="0" smtClean="0">
                    <a:ea typeface="新細明體" pitchFamily="18" charset="-120"/>
                  </a:rPr>
                  <a:t>D</a:t>
                </a:r>
                <a:r>
                  <a:rPr lang="en-US" altLang="zh-CN" baseline="-25000" dirty="0" smtClean="0">
                    <a:ea typeface="新細明體" pitchFamily="18" charset="-120"/>
                  </a:rPr>
                  <a:t>t+1</a:t>
                </a:r>
                <a:r>
                  <a:rPr lang="zh-CN" altLang="en-US" dirty="0" smtClean="0">
                    <a:ea typeface="新細明體" pitchFamily="18" charset="-120"/>
                  </a:rPr>
                  <a:t>归一化  确保</a:t>
                </a:r>
                <a:r>
                  <a:rPr lang="en-US" altLang="zh-CN" dirty="0" smtClean="0">
                    <a:ea typeface="新細明體" pitchFamily="18" charset="-120"/>
                  </a:rPr>
                  <a:t>D</a:t>
                </a:r>
                <a:r>
                  <a:rPr lang="en-US" altLang="zh-CN" baseline="-25000" dirty="0" smtClean="0">
                    <a:ea typeface="新細明體" pitchFamily="18" charset="-120"/>
                  </a:rPr>
                  <a:t>t+1</a:t>
                </a:r>
                <a:r>
                  <a:rPr lang="zh-CN" altLang="en-US" dirty="0" smtClean="0">
                    <a:ea typeface="新細明體" pitchFamily="18" charset="-120"/>
                  </a:rPr>
                  <a:t>是一个分布。</a:t>
                </a:r>
                <a:endParaRPr lang="en-US" altLang="zh-CN" dirty="0" smtClean="0">
                  <a:ea typeface="新細明體" pitchFamily="18" charset="-12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ea typeface="新細明體" pitchFamily="18" charset="-120"/>
                  </a:rPr>
                  <a:t>终止条件：</a:t>
                </a:r>
                <a:r>
                  <a:rPr lang="en-US" altLang="zh-CN" dirty="0" smtClean="0">
                    <a:ea typeface="新細明體" pitchFamily="18" charset="-120"/>
                  </a:rPr>
                  <a:t>1. </a:t>
                </a:r>
                <a:r>
                  <a:rPr lang="zh-CN" altLang="en-US" dirty="0" smtClean="0">
                    <a:ea typeface="新細明體" pitchFamily="18" charset="-120"/>
                  </a:rPr>
                  <a:t>合成后分类器在训练集上无错分样本；</a:t>
                </a:r>
                <a:r>
                  <a:rPr lang="en-US" altLang="zh-CN" dirty="0" smtClean="0">
                    <a:ea typeface="新細明體" pitchFamily="18" charset="-120"/>
                  </a:rPr>
                  <a:t>2</a:t>
                </a:r>
                <a:r>
                  <a:rPr lang="zh-CN" altLang="en-US" dirty="0" smtClean="0">
                    <a:ea typeface="新細明體" pitchFamily="18" charset="-120"/>
                  </a:rPr>
                  <a:t>、达到学习轮数</a:t>
                </a:r>
                <a:endParaRPr lang="en-US" altLang="zh-CN" dirty="0" smtClean="0">
                  <a:ea typeface="新細明體" pitchFamily="18" charset="-120"/>
                </a:endParaRPr>
              </a:p>
              <a:p>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12</a:t>
            </a:fld>
            <a:endParaRPr lang="zh-CN" altLang="en-US"/>
          </a:p>
        </p:txBody>
      </p:sp>
    </p:spTree>
    <p:extLst>
      <p:ext uri="{BB962C8B-B14F-4D97-AF65-F5344CB8AC3E}">
        <p14:creationId xmlns:p14="http://schemas.microsoft.com/office/powerpoint/2010/main" val="3369161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15</a:t>
            </a:fld>
            <a:endParaRPr lang="zh-CN" altLang="en-US"/>
          </a:p>
        </p:txBody>
      </p:sp>
    </p:spTree>
    <p:extLst>
      <p:ext uri="{BB962C8B-B14F-4D97-AF65-F5344CB8AC3E}">
        <p14:creationId xmlns:p14="http://schemas.microsoft.com/office/powerpoint/2010/main" val="1569174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dirty="0"/>
              <a:t>根据分类的错误率，得到一个新的样本分布</a:t>
            </a:r>
            <a:r>
              <a:rPr lang="en-US" altLang="zh-CN" sz="1200" b="1" dirty="0"/>
              <a:t>(</a:t>
            </a:r>
            <a:r>
              <a:rPr lang="zh-CN" altLang="en-US" sz="1200" b="1" dirty="0"/>
              <a:t>样本中每个元素的权重分布</a:t>
            </a:r>
            <a:r>
              <a:rPr lang="en-US" altLang="zh-CN" sz="1200" b="1" dirty="0"/>
              <a:t>)D</a:t>
            </a:r>
            <a:r>
              <a:rPr lang="en-US" altLang="zh-CN" sz="1200" b="1" baseline="-25000" dirty="0"/>
              <a:t>2</a:t>
            </a:r>
            <a:r>
              <a:rPr lang="zh-CN" altLang="en-US" sz="1200" b="1" dirty="0"/>
              <a:t>，一个子分类器</a:t>
            </a:r>
            <a:r>
              <a:rPr lang="en-US" altLang="zh-CN" sz="1200" b="1" dirty="0"/>
              <a:t>h</a:t>
            </a:r>
            <a:r>
              <a:rPr lang="en-US" altLang="zh-CN" sz="1200" b="1" baseline="-25000" dirty="0"/>
              <a:t>1</a:t>
            </a:r>
            <a:r>
              <a:rPr lang="zh-CN" altLang="en-US" sz="1200" b="1" dirty="0"/>
              <a:t>。</a:t>
            </a:r>
            <a:endParaRPr lang="en-US" altLang="zh-CN" sz="1200" b="1"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遍历不同的直线划分情况下分类的误差率。选取使训练数据集上分类误差率最低的</a:t>
            </a:r>
            <a:r>
              <a:rPr lang="en-US" altLang="zh-CN" dirty="0"/>
              <a:t>h1</a:t>
            </a:r>
            <a:r>
              <a:rPr lang="zh-CN" altLang="en-US" dirty="0"/>
              <a:t>划分。</a:t>
            </a:r>
          </a:p>
          <a:p>
            <a:endParaRPr lang="en-US" altLang="zh-CN" dirty="0"/>
          </a:p>
          <a:p>
            <a:r>
              <a:rPr lang="zh-CN" altLang="en-US" dirty="0"/>
              <a:t>采用</a:t>
            </a:r>
            <a:r>
              <a:rPr lang="en-US" altLang="zh-CN" dirty="0"/>
              <a:t>h1</a:t>
            </a:r>
            <a:r>
              <a:rPr lang="zh-CN" altLang="en-US" dirty="0"/>
              <a:t>使该分类器在训练数据集上分类误差率最低</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16</a:t>
            </a:fld>
            <a:endParaRPr lang="zh-CN" altLang="en-US"/>
          </a:p>
        </p:txBody>
      </p:sp>
    </p:spTree>
    <p:extLst>
      <p:ext uri="{BB962C8B-B14F-4D97-AF65-F5344CB8AC3E}">
        <p14:creationId xmlns:p14="http://schemas.microsoft.com/office/powerpoint/2010/main" val="4016840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r>
              <a:rPr lang="zh-CN" altLang="en-US" dirty="0"/>
              <a:t>？？此图怎么理解，</a:t>
            </a:r>
            <a:r>
              <a:rPr lang="en-US" altLang="zh-CN" dirty="0" err="1"/>
              <a:t>zlm</a:t>
            </a:r>
            <a:r>
              <a:rPr lang="en-US" altLang="zh-CN" dirty="0"/>
              <a:t>,</a:t>
            </a:r>
            <a:r>
              <a:rPr lang="zh-CN" altLang="en-US" dirty="0"/>
              <a:t>图中加上归一化 </a:t>
            </a:r>
            <a:r>
              <a:rPr lang="en-US" altLang="zh-CN" dirty="0"/>
              <a:t>0.233</a:t>
            </a:r>
            <a:r>
              <a:rPr lang="zh-CN" altLang="en-US" dirty="0"/>
              <a:t>*</a:t>
            </a:r>
            <a:r>
              <a:rPr lang="en-US" altLang="zh-CN" dirty="0"/>
              <a:t>3+0.1</a:t>
            </a:r>
            <a:r>
              <a:rPr lang="zh-CN" altLang="en-US" dirty="0"/>
              <a:t>*</a:t>
            </a:r>
            <a:r>
              <a:rPr lang="en-US" altLang="zh-CN" dirty="0"/>
              <a:t>7=1.399</a:t>
            </a:r>
            <a:r>
              <a:rPr lang="en-US" altLang="zh-CN" baseline="0" dirty="0"/>
              <a:t> , </a:t>
            </a:r>
            <a:r>
              <a:rPr lang="zh-CN" altLang="en-US" baseline="0" dirty="0"/>
              <a:t>权值归一化 </a:t>
            </a:r>
            <a:r>
              <a:rPr lang="en-US" altLang="zh-CN" baseline="0" dirty="0"/>
              <a:t>0.233/1.399=0.1665, 0.1/1.399=0.0714</a:t>
            </a:r>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17</a:t>
            </a:fld>
            <a:endParaRPr lang="zh-CN" altLang="en-US"/>
          </a:p>
        </p:txBody>
      </p:sp>
    </p:spTree>
    <p:extLst>
      <p:ext uri="{BB962C8B-B14F-4D97-AF65-F5344CB8AC3E}">
        <p14:creationId xmlns:p14="http://schemas.microsoft.com/office/powerpoint/2010/main" val="4963380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Tw</a:t>
            </a:r>
            <a:r>
              <a:rPr lang="zh-CN" altLang="en-US" dirty="0"/>
              <a:t>李宏毅机器学习</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21</a:t>
            </a:fld>
            <a:endParaRPr lang="zh-CN" altLang="en-US"/>
          </a:p>
        </p:txBody>
      </p:sp>
    </p:spTree>
    <p:extLst>
      <p:ext uri="{BB962C8B-B14F-4D97-AF65-F5344CB8AC3E}">
        <p14:creationId xmlns:p14="http://schemas.microsoft.com/office/powerpoint/2010/main" val="2159555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64F8E74-9C04-43EC-B268-D3C0C73A25C8}" type="slidenum">
              <a:rPr kumimoji="0" lang="zh-CN" altLang="en-US" sz="1200" b="0" i="0" u="none" strike="noStrike" kern="1200" cap="none" spc="0" normalizeH="0" baseline="0" noProof="0" smtClean="0">
                <a:ln>
                  <a:noFill/>
                </a:ln>
                <a:solidFill>
                  <a:prstClr val="black"/>
                </a:solidFill>
                <a:effectLst/>
                <a:uLnTx/>
                <a:uFillTx/>
                <a:latin typeface="Arial"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24511075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r>
              <a:rPr lang="zh-CN" altLang="en-US" dirty="0"/>
              <a:t>可证的说明，作为附录大家自行学习</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26</a:t>
            </a:fld>
            <a:endParaRPr lang="zh-CN" altLang="en-US"/>
          </a:p>
        </p:txBody>
      </p:sp>
    </p:spTree>
    <p:extLst>
      <p:ext uri="{BB962C8B-B14F-4D97-AF65-F5344CB8AC3E}">
        <p14:creationId xmlns:p14="http://schemas.microsoft.com/office/powerpoint/2010/main" val="17063089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34</a:t>
            </a:fld>
            <a:endParaRPr lang="zh-CN" altLang="en-US"/>
          </a:p>
        </p:txBody>
      </p:sp>
    </p:spTree>
    <p:extLst>
      <p:ext uri="{BB962C8B-B14F-4D97-AF65-F5344CB8AC3E}">
        <p14:creationId xmlns:p14="http://schemas.microsoft.com/office/powerpoint/2010/main" val="25565214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normAutofit/>
          </a:bodyPr>
          <a:lstStyle/>
          <a:p>
            <a:r>
              <a:rPr kumimoji="0" lang="zh-CN" altLang="en-US" sz="1200" b="1" i="0" u="none" strike="noStrike" kern="0" cap="none" spc="0" normalizeH="0" baseline="0" noProof="0" dirty="0">
                <a:ln>
                  <a:noFill/>
                </a:ln>
                <a:solidFill>
                  <a:schemeClr val="tx1"/>
                </a:solidFill>
                <a:effectLst/>
                <a:uLnTx/>
                <a:uFillTx/>
                <a:latin typeface="+mn-lt"/>
                <a:ea typeface="+mn-ea"/>
                <a:cs typeface="+mn-cs"/>
              </a:rPr>
              <a:t>——也就是说这个阈值对应的弱分类器将当前元素前的所有元素分类为人脸（或非人脸），而把当前元素后（含）的所有元素分类为非人脸（或人脸）</a:t>
            </a:r>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39</a:t>
            </a:fld>
            <a:endParaRPr lang="zh-CN" altLang="en-US"/>
          </a:p>
        </p:txBody>
      </p:sp>
    </p:spTree>
    <p:extLst>
      <p:ext uri="{BB962C8B-B14F-4D97-AF65-F5344CB8AC3E}">
        <p14:creationId xmlns:p14="http://schemas.microsoft.com/office/powerpoint/2010/main" val="18198954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1506" name="Rectangle 2"/>
          <p:cNvSpPr>
            <a:spLocks noGrp="1" noRot="1" noChangeAspect="1" noChangeArrowheads="1"/>
          </p:cNvSpPr>
          <p:nvPr>
            <p:ph type="sldImg"/>
          </p:nvPr>
        </p:nvSpPr>
        <p:spPr>
          <a:xfrm>
            <a:off x="409575" y="754063"/>
            <a:ext cx="5854700" cy="3294062"/>
          </a:xfrm>
          <a:ln/>
          <a:extLst>
            <a:ext uri="{91240B29-F687-4F45-9708-019B960494DF}">
              <a14:hiddenLine xmlns:a14="http://schemas.microsoft.com/office/drawing/2010/main" w="1" cmpd="sng">
                <a:solidFill>
                  <a:schemeClr val="tx1"/>
                </a:solidFill>
                <a:miter lim="800000"/>
                <a:headEnd/>
                <a:tailEnd/>
              </a14:hiddenLine>
            </a:ext>
          </a:extLst>
        </p:spPr>
      </p:sp>
      <p:sp>
        <p:nvSpPr>
          <p:cNvPr id="21507" name="Rectangle 3"/>
          <p:cNvSpPr>
            <a:spLocks noGrp="1" noChangeArrowheads="1"/>
          </p:cNvSpPr>
          <p:nvPr>
            <p:ph type="body" idx="1"/>
          </p:nvPr>
        </p:nvSpPr>
        <p:spPr>
          <a:ln/>
          <a:extLst>
            <a:ext uri="{91240B29-F687-4F45-9708-019B960494DF}">
              <a14:hiddenLine xmlns:a14="http://schemas.microsoft.com/office/drawing/2010/main" w="1" cmpd="sng">
                <a:solidFill>
                  <a:schemeClr val="tx1"/>
                </a:solidFill>
                <a:miter lim="800000"/>
                <a:headEnd/>
                <a:tailEnd/>
              </a14:hiddenLine>
            </a:ext>
          </a:extLst>
        </p:spPr>
        <p:txBody>
          <a:bodyPr/>
          <a:lstStyle/>
          <a:p>
            <a:endParaRPr lang="zh-CN" altLang="en-US"/>
          </a:p>
          <a:p>
            <a:endParaRPr lang="zh-CN" altLang="en-US"/>
          </a:p>
        </p:txBody>
      </p:sp>
    </p:spTree>
    <p:extLst>
      <p:ext uri="{BB962C8B-B14F-4D97-AF65-F5344CB8AC3E}">
        <p14:creationId xmlns:p14="http://schemas.microsoft.com/office/powerpoint/2010/main" val="858366792"/>
      </p:ext>
    </p:extLst>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latin typeface="宋体" panose="02010600030101010101" pitchFamily="2" charset="-122"/>
                <a:ea typeface="+mn-ea"/>
              </a:rPr>
              <a:t>原</a:t>
            </a:r>
            <a:r>
              <a:rPr lang="en-US" altLang="zh-CN" sz="1200" dirty="0" err="1">
                <a:latin typeface="宋体" panose="02010600030101010101" pitchFamily="2" charset="-122"/>
                <a:ea typeface="+mn-ea"/>
              </a:rPr>
              <a:t>ppt</a:t>
            </a:r>
            <a:r>
              <a:rPr lang="zh-CN" altLang="en-US" sz="1200" dirty="0">
                <a:latin typeface="宋体" panose="02010600030101010101" pitchFamily="2" charset="-122"/>
                <a:ea typeface="+mn-ea"/>
              </a:rPr>
              <a:t>是：其中  </a:t>
            </a:r>
            <a:r>
              <a:rPr lang="en-US" altLang="zh-CN" sz="1200" dirty="0">
                <a:latin typeface="宋体" panose="02010600030101010101" pitchFamily="2" charset="-122"/>
                <a:ea typeface="+mn-ea"/>
              </a:rPr>
              <a:t>e=</a:t>
            </a:r>
            <a:r>
              <a:rPr lang="zh-CN" altLang="en-US" sz="1200" dirty="0">
                <a:latin typeface="宋体" panose="02010600030101010101" pitchFamily="2" charset="-122"/>
                <a:ea typeface="+mn-ea"/>
              </a:rPr>
              <a:t>  </a:t>
            </a:r>
            <a:r>
              <a:rPr lang="en-US" altLang="zh-CN" sz="1200" dirty="0">
                <a:latin typeface="宋体" panose="02010600030101010101" pitchFamily="2" charset="-122"/>
                <a:ea typeface="+mn-ea"/>
              </a:rPr>
              <a:t>0</a:t>
            </a:r>
            <a:r>
              <a:rPr lang="zh-CN" altLang="en-US" sz="1200" dirty="0">
                <a:latin typeface="宋体" panose="02010600030101010101" pitchFamily="2" charset="-122"/>
                <a:ea typeface="+mn-ea"/>
              </a:rPr>
              <a:t>  表示   被正确分类，  </a:t>
            </a:r>
            <a:r>
              <a:rPr lang="en-US" altLang="zh-CN" sz="1200" dirty="0">
                <a:latin typeface="宋体" panose="02010600030101010101" pitchFamily="2" charset="-122"/>
                <a:ea typeface="+mn-ea"/>
              </a:rPr>
              <a:t>e=</a:t>
            </a:r>
            <a:r>
              <a:rPr lang="zh-CN" altLang="en-US" sz="1200" dirty="0">
                <a:latin typeface="宋体" panose="02010600030101010101" pitchFamily="2" charset="-122"/>
                <a:ea typeface="+mn-ea"/>
              </a:rPr>
              <a:t>  </a:t>
            </a:r>
            <a:r>
              <a:rPr lang="en-US" altLang="zh-CN" sz="1200" dirty="0">
                <a:latin typeface="宋体" panose="02010600030101010101" pitchFamily="2" charset="-122"/>
                <a:ea typeface="+mn-ea"/>
              </a:rPr>
              <a:t>1</a:t>
            </a:r>
            <a:r>
              <a:rPr lang="zh-CN" altLang="en-US" sz="1200" dirty="0">
                <a:latin typeface="宋体" panose="02010600030101010101" pitchFamily="2" charset="-122"/>
                <a:ea typeface="+mn-ea"/>
              </a:rPr>
              <a:t> 表示   被错误分类。  </a:t>
            </a:r>
            <a:endParaRPr lang="en-US" altLang="zh-CN" sz="1200" dirty="0">
              <a:latin typeface="宋体" panose="02010600030101010101" pitchFamily="2" charset="-122"/>
              <a:ea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latin typeface="宋体" panose="02010600030101010101" pitchFamily="2" charset="-122"/>
                <a:ea typeface="+mn-ea"/>
              </a:rPr>
              <a:t>此处写反了？？？？</a:t>
            </a:r>
            <a:r>
              <a:rPr lang="en-US" altLang="zh-CN" sz="1200" dirty="0" err="1">
                <a:latin typeface="宋体" panose="02010600030101010101" pitchFamily="2" charset="-122"/>
                <a:ea typeface="+mn-ea"/>
              </a:rPr>
              <a:t>Zlm</a:t>
            </a:r>
            <a:r>
              <a:rPr lang="zh-CN" altLang="en-US" sz="1200" dirty="0">
                <a:latin typeface="宋体" panose="02010600030101010101" pitchFamily="2" charset="-122"/>
                <a:ea typeface="+mn-ea"/>
              </a:rPr>
              <a:t>正确（此处的策略是减少正确分类样本的权重，优点：为了减少计算量？？）</a:t>
            </a:r>
          </a:p>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42</a:t>
            </a:fld>
            <a:endParaRPr lang="zh-CN" altLang="en-US"/>
          </a:p>
        </p:txBody>
      </p:sp>
    </p:spTree>
    <p:extLst>
      <p:ext uri="{BB962C8B-B14F-4D97-AF65-F5344CB8AC3E}">
        <p14:creationId xmlns:p14="http://schemas.microsoft.com/office/powerpoint/2010/main" val="33759945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前后两页合</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44</a:t>
            </a:fld>
            <a:endParaRPr lang="zh-CN" altLang="en-US"/>
          </a:p>
        </p:txBody>
      </p:sp>
    </p:spTree>
    <p:extLst>
      <p:ext uri="{BB962C8B-B14F-4D97-AF65-F5344CB8AC3E}">
        <p14:creationId xmlns:p14="http://schemas.microsoft.com/office/powerpoint/2010/main" val="4914587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45</a:t>
            </a:fld>
            <a:endParaRPr lang="zh-CN" altLang="en-US"/>
          </a:p>
        </p:txBody>
      </p:sp>
    </p:spTree>
    <p:extLst>
      <p:ext uri="{BB962C8B-B14F-4D97-AF65-F5344CB8AC3E}">
        <p14:creationId xmlns:p14="http://schemas.microsoft.com/office/powerpoint/2010/main" val="1817961728"/>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hyperlink" Target="http://pic.hust.edu.cn/single/index/_class/3/1376?c=&#21326;&#20013;&#22823;&#19968;&#26223;" TargetMode="External"/><Relationship Id="rId13"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4.jpeg"/><Relationship Id="rId12" Type="http://schemas.openxmlformats.org/officeDocument/2006/relationships/hyperlink" Target="http://pic.hust.edu.cn/single/index/_class/4/1421?c=&#21326;&#20013;&#22823;&#19968;&#26223;" TargetMode="External"/><Relationship Id="rId17" Type="http://schemas.openxmlformats.org/officeDocument/2006/relationships/image" Target="../media/image1.png"/><Relationship Id="rId2" Type="http://schemas.openxmlformats.org/officeDocument/2006/relationships/slideMaster" Target="../slideMasters/slideMaster1.xml"/><Relationship Id="rId16" Type="http://schemas.openxmlformats.org/officeDocument/2006/relationships/oleObject" Target="../embeddings/oleObject2.bin"/><Relationship Id="rId1" Type="http://schemas.openxmlformats.org/officeDocument/2006/relationships/vmlDrawing" Target="../drawings/vmlDrawing2.vml"/><Relationship Id="rId6" Type="http://schemas.openxmlformats.org/officeDocument/2006/relationships/hyperlink" Target="http://pic.hust.edu.cn/single/index/_class/2/1296?c=&#21326;&#20013;&#22823;&#19968;&#26223;" TargetMode="External"/><Relationship Id="rId11" Type="http://schemas.openxmlformats.org/officeDocument/2006/relationships/image" Target="../media/image6.jpeg"/><Relationship Id="rId5" Type="http://schemas.openxmlformats.org/officeDocument/2006/relationships/image" Target="../media/image3.jpeg"/><Relationship Id="rId15" Type="http://schemas.openxmlformats.org/officeDocument/2006/relationships/image" Target="../media/image8.jpeg"/><Relationship Id="rId10" Type="http://schemas.openxmlformats.org/officeDocument/2006/relationships/hyperlink" Target="http://pic.hust.edu.cn/single/index/_class/3/1394?c=&#21326;&#20013;&#22823;&#19968;&#26223;" TargetMode="External"/><Relationship Id="rId4" Type="http://schemas.openxmlformats.org/officeDocument/2006/relationships/hyperlink" Target="http://pic.hust.edu.cn/single/index/_class/0/803?c=&#21326;&#20013;&#22823;&#19968;&#26223;" TargetMode="External"/><Relationship Id="rId9" Type="http://schemas.openxmlformats.org/officeDocument/2006/relationships/image" Target="../media/image5.jpeg"/><Relationship Id="rId14" Type="http://schemas.openxmlformats.org/officeDocument/2006/relationships/hyperlink" Target="http://pic.hust.edu.cn/single/index/_class/4/1428?c=&#21326;&#20013;&#22823;&#19968;&#26223;"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hyperlink" Target="http://pic.hust.edu.cn/single/index/_class/3/1376?c=&#21326;&#20013;&#22823;&#19968;&#26223;" TargetMode="External"/><Relationship Id="rId13"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4.jpeg"/><Relationship Id="rId12" Type="http://schemas.openxmlformats.org/officeDocument/2006/relationships/hyperlink" Target="http://pic.hust.edu.cn/single/index/_class/4/1421?c=&#21326;&#20013;&#22823;&#19968;&#26223;" TargetMode="External"/><Relationship Id="rId17" Type="http://schemas.openxmlformats.org/officeDocument/2006/relationships/image" Target="../media/image1.png"/><Relationship Id="rId2" Type="http://schemas.openxmlformats.org/officeDocument/2006/relationships/slideMaster" Target="../slideMasters/slideMaster2.xml"/><Relationship Id="rId16" Type="http://schemas.openxmlformats.org/officeDocument/2006/relationships/oleObject" Target="../embeddings/oleObject4.bin"/><Relationship Id="rId1" Type="http://schemas.openxmlformats.org/officeDocument/2006/relationships/vmlDrawing" Target="../drawings/vmlDrawing4.vml"/><Relationship Id="rId6" Type="http://schemas.openxmlformats.org/officeDocument/2006/relationships/hyperlink" Target="http://pic.hust.edu.cn/single/index/_class/2/1296?c=&#21326;&#20013;&#22823;&#19968;&#26223;" TargetMode="External"/><Relationship Id="rId11" Type="http://schemas.openxmlformats.org/officeDocument/2006/relationships/image" Target="../media/image6.jpeg"/><Relationship Id="rId5" Type="http://schemas.openxmlformats.org/officeDocument/2006/relationships/image" Target="../media/image3.jpeg"/><Relationship Id="rId15" Type="http://schemas.openxmlformats.org/officeDocument/2006/relationships/image" Target="../media/image8.jpeg"/><Relationship Id="rId10" Type="http://schemas.openxmlformats.org/officeDocument/2006/relationships/hyperlink" Target="http://pic.hust.edu.cn/single/index/_class/3/1394?c=&#21326;&#20013;&#22823;&#19968;&#26223;" TargetMode="External"/><Relationship Id="rId4" Type="http://schemas.openxmlformats.org/officeDocument/2006/relationships/hyperlink" Target="http://pic.hust.edu.cn/single/index/_class/0/803?c=&#21326;&#20013;&#22823;&#19968;&#26223;" TargetMode="External"/><Relationship Id="rId9" Type="http://schemas.openxmlformats.org/officeDocument/2006/relationships/image" Target="../media/image5.jpeg"/><Relationship Id="rId14" Type="http://schemas.openxmlformats.org/officeDocument/2006/relationships/hyperlink" Target="http://pic.hust.edu.cn/single/index/_class/4/1428?c=&#21326;&#20013;&#22823;&#19968;&#26223;"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bwMode="gray">
      <p:bgPr>
        <a:solidFill>
          <a:schemeClr val="bg1"/>
        </a:solidFill>
        <a:effectLst/>
      </p:bgPr>
    </p:bg>
    <p:spTree>
      <p:nvGrpSpPr>
        <p:cNvPr id="1" name=""/>
        <p:cNvGrpSpPr/>
        <p:nvPr/>
      </p:nvGrpSpPr>
      <p:grpSpPr>
        <a:xfrm>
          <a:off x="0" y="0"/>
          <a:ext cx="0" cy="0"/>
          <a:chOff x="0" y="0"/>
          <a:chExt cx="0" cy="0"/>
        </a:xfrm>
      </p:grpSpPr>
      <p:grpSp>
        <p:nvGrpSpPr>
          <p:cNvPr id="3" name="Group 372"/>
          <p:cNvGrpSpPr>
            <a:grpSpLocks/>
          </p:cNvGrpSpPr>
          <p:nvPr/>
        </p:nvGrpSpPr>
        <p:grpSpPr bwMode="auto">
          <a:xfrm>
            <a:off x="762003" y="2786063"/>
            <a:ext cx="11010900" cy="119062"/>
            <a:chOff x="288" y="1248"/>
            <a:chExt cx="5229" cy="96"/>
          </a:xfrm>
        </p:grpSpPr>
        <p:grpSp>
          <p:nvGrpSpPr>
            <p:cNvPr id="4" name="Group 368"/>
            <p:cNvGrpSpPr>
              <a:grpSpLocks/>
            </p:cNvGrpSpPr>
            <p:nvPr userDrawn="1"/>
          </p:nvGrpSpPr>
          <p:grpSpPr bwMode="auto">
            <a:xfrm>
              <a:off x="288" y="1248"/>
              <a:ext cx="5228" cy="96"/>
              <a:chOff x="192" y="498"/>
              <a:chExt cx="5376" cy="78"/>
            </a:xfrm>
          </p:grpSpPr>
          <p:sp>
            <p:nvSpPr>
              <p:cNvPr id="6" name="Rectangle 369"/>
              <p:cNvSpPr>
                <a:spLocks noChangeArrowheads="1"/>
              </p:cNvSpPr>
              <p:nvPr userDrawn="1"/>
            </p:nvSpPr>
            <p:spPr bwMode="gray">
              <a:xfrm>
                <a:off x="192" y="498"/>
                <a:ext cx="1488" cy="78"/>
              </a:xfrm>
              <a:prstGeom prst="rect">
                <a:avLst/>
              </a:prstGeom>
              <a:solidFill>
                <a:schemeClr val="tx2"/>
              </a:solidFill>
              <a:ln w="9525">
                <a:noFill/>
                <a:miter lim="800000"/>
                <a:headEnd/>
                <a:tailEnd/>
              </a:ln>
              <a:effectLst/>
            </p:spPr>
            <p:txBody>
              <a:bodyPr wrap="none" anchor="ctr"/>
              <a:lstStyle/>
              <a:p>
                <a:pPr>
                  <a:defRPr/>
                </a:pPr>
                <a:endParaRPr lang="zh-CN" altLang="en-US">
                  <a:ea typeface="宋体" pitchFamily="2" charset="-122"/>
                </a:endParaRPr>
              </a:p>
            </p:txBody>
          </p:sp>
          <p:sp>
            <p:nvSpPr>
              <p:cNvPr id="7" name="Line 370"/>
              <p:cNvSpPr>
                <a:spLocks noChangeShapeType="1"/>
              </p:cNvSpPr>
              <p:nvPr userDrawn="1"/>
            </p:nvSpPr>
            <p:spPr bwMode="gray">
              <a:xfrm>
                <a:off x="192" y="576"/>
                <a:ext cx="5376" cy="0"/>
              </a:xfrm>
              <a:prstGeom prst="line">
                <a:avLst/>
              </a:prstGeom>
              <a:noFill/>
              <a:ln w="19050">
                <a:solidFill>
                  <a:schemeClr val="tx2"/>
                </a:solidFill>
                <a:round/>
                <a:headEnd/>
                <a:tailEnd/>
              </a:ln>
              <a:effectLst/>
            </p:spPr>
            <p:txBody>
              <a:bodyPr/>
              <a:lstStyle/>
              <a:p>
                <a:pPr>
                  <a:defRPr/>
                </a:pPr>
                <a:endParaRPr lang="zh-CN" altLang="en-US"/>
              </a:p>
            </p:txBody>
          </p:sp>
        </p:grpSp>
        <p:pic>
          <p:nvPicPr>
            <p:cNvPr id="5" name="Picture 371" descr="Untitled-4 copy"/>
            <p:cNvPicPr>
              <a:picLocks noChangeAspect="1" noChangeArrowheads="1"/>
            </p:cNvPicPr>
            <p:nvPr userDrawn="1"/>
          </p:nvPicPr>
          <p:blipFill>
            <a:blip r:embed="rId3" cstate="print"/>
            <a:srcRect/>
            <a:stretch>
              <a:fillRect/>
            </a:stretch>
          </p:blipFill>
          <p:spPr bwMode="gray">
            <a:xfrm>
              <a:off x="346" y="1254"/>
              <a:ext cx="71" cy="77"/>
            </a:xfrm>
            <a:prstGeom prst="rect">
              <a:avLst/>
            </a:prstGeom>
            <a:noFill/>
            <a:ln w="9525">
              <a:noFill/>
              <a:miter lim="800000"/>
              <a:headEnd/>
              <a:tailEnd/>
            </a:ln>
          </p:spPr>
        </p:pic>
      </p:grpSp>
      <p:pic>
        <p:nvPicPr>
          <p:cNvPr id="8" name="Picture 429" descr="http://pic.hust.edu.cn/pic/nav/803.jpg">
            <a:hlinkClick r:id="rId4"/>
          </p:cNvPr>
          <p:cNvPicPr>
            <a:picLocks noChangeAspect="1" noChangeArrowheads="1"/>
          </p:cNvPicPr>
          <p:nvPr userDrawn="1"/>
        </p:nvPicPr>
        <p:blipFill>
          <a:blip r:embed="rId5" cstate="print"/>
          <a:srcRect/>
          <a:stretch>
            <a:fillRect/>
          </a:stretch>
        </p:blipFill>
        <p:spPr bwMode="auto">
          <a:xfrm>
            <a:off x="7177622" y="6143625"/>
            <a:ext cx="1680633" cy="757238"/>
          </a:xfrm>
          <a:prstGeom prst="rect">
            <a:avLst/>
          </a:prstGeom>
          <a:noFill/>
          <a:ln w="9525">
            <a:noFill/>
            <a:miter lim="800000"/>
            <a:headEnd/>
            <a:tailEnd/>
          </a:ln>
        </p:spPr>
      </p:pic>
      <p:pic>
        <p:nvPicPr>
          <p:cNvPr id="9" name="Picture 433" descr="http://pic.hust.edu.cn/pic/nav/1296.jpg">
            <a:hlinkClick r:id="rId6"/>
          </p:cNvPr>
          <p:cNvPicPr>
            <a:picLocks noChangeAspect="1" noChangeArrowheads="1"/>
          </p:cNvPicPr>
          <p:nvPr userDrawn="1"/>
        </p:nvPicPr>
        <p:blipFill>
          <a:blip r:embed="rId7" cstate="print"/>
          <a:srcRect/>
          <a:stretch>
            <a:fillRect/>
          </a:stretch>
        </p:blipFill>
        <p:spPr bwMode="auto">
          <a:xfrm>
            <a:off x="10511372" y="4598995"/>
            <a:ext cx="1680633" cy="758825"/>
          </a:xfrm>
          <a:prstGeom prst="rect">
            <a:avLst/>
          </a:prstGeom>
          <a:noFill/>
          <a:ln w="9525">
            <a:noFill/>
            <a:miter lim="800000"/>
            <a:headEnd/>
            <a:tailEnd/>
          </a:ln>
        </p:spPr>
      </p:pic>
      <p:pic>
        <p:nvPicPr>
          <p:cNvPr id="10" name="Picture 435" descr="http://pic.hust.edu.cn/pic/nav/1376.jpg">
            <a:hlinkClick r:id="rId8"/>
          </p:cNvPr>
          <p:cNvPicPr>
            <a:picLocks noChangeAspect="1" noChangeArrowheads="1"/>
          </p:cNvPicPr>
          <p:nvPr userDrawn="1"/>
        </p:nvPicPr>
        <p:blipFill>
          <a:blip r:embed="rId9" cstate="print"/>
          <a:srcRect/>
          <a:stretch>
            <a:fillRect/>
          </a:stretch>
        </p:blipFill>
        <p:spPr bwMode="auto">
          <a:xfrm>
            <a:off x="10511372" y="6100770"/>
            <a:ext cx="1680633" cy="757237"/>
          </a:xfrm>
          <a:prstGeom prst="rect">
            <a:avLst/>
          </a:prstGeom>
          <a:noFill/>
          <a:ln w="9525">
            <a:noFill/>
            <a:miter lim="800000"/>
            <a:headEnd/>
            <a:tailEnd/>
          </a:ln>
        </p:spPr>
      </p:pic>
      <p:pic>
        <p:nvPicPr>
          <p:cNvPr id="11" name="Picture 437" descr="http://pic.hust.edu.cn/pic/nav/1394.jpg">
            <a:hlinkClick r:id="rId10"/>
          </p:cNvPr>
          <p:cNvPicPr>
            <a:picLocks noChangeAspect="1" noChangeArrowheads="1"/>
          </p:cNvPicPr>
          <p:nvPr userDrawn="1"/>
        </p:nvPicPr>
        <p:blipFill>
          <a:blip r:embed="rId11" cstate="print"/>
          <a:srcRect/>
          <a:stretch>
            <a:fillRect/>
          </a:stretch>
        </p:blipFill>
        <p:spPr bwMode="auto">
          <a:xfrm>
            <a:off x="8858256" y="5386395"/>
            <a:ext cx="1680633" cy="757237"/>
          </a:xfrm>
          <a:prstGeom prst="rect">
            <a:avLst/>
          </a:prstGeom>
          <a:noFill/>
          <a:ln w="9525">
            <a:noFill/>
            <a:miter lim="800000"/>
            <a:headEnd/>
            <a:tailEnd/>
          </a:ln>
        </p:spPr>
      </p:pic>
      <p:pic>
        <p:nvPicPr>
          <p:cNvPr id="12" name="Picture 439" descr="http://pic.hust.edu.cn/pic/nav/1421.jpg">
            <a:hlinkClick r:id="rId12"/>
          </p:cNvPr>
          <p:cNvPicPr>
            <a:picLocks noChangeAspect="1" noChangeArrowheads="1"/>
          </p:cNvPicPr>
          <p:nvPr userDrawn="1"/>
        </p:nvPicPr>
        <p:blipFill>
          <a:blip r:embed="rId13" cstate="print"/>
          <a:srcRect/>
          <a:stretch>
            <a:fillRect/>
          </a:stretch>
        </p:blipFill>
        <p:spPr bwMode="auto">
          <a:xfrm>
            <a:off x="8858256" y="6127757"/>
            <a:ext cx="1680633" cy="758825"/>
          </a:xfrm>
          <a:prstGeom prst="rect">
            <a:avLst/>
          </a:prstGeom>
          <a:noFill/>
          <a:ln w="9525">
            <a:noFill/>
            <a:miter lim="800000"/>
            <a:headEnd/>
            <a:tailEnd/>
          </a:ln>
        </p:spPr>
      </p:pic>
      <p:pic>
        <p:nvPicPr>
          <p:cNvPr id="13" name="Picture 441" descr="http://pic.hust.edu.cn/pic/nav/1428.jpg">
            <a:hlinkClick r:id="rId14"/>
          </p:cNvPr>
          <p:cNvPicPr>
            <a:picLocks noChangeAspect="1" noChangeArrowheads="1"/>
          </p:cNvPicPr>
          <p:nvPr userDrawn="1"/>
        </p:nvPicPr>
        <p:blipFill>
          <a:blip r:embed="rId15" cstate="print"/>
          <a:srcRect/>
          <a:stretch>
            <a:fillRect/>
          </a:stretch>
        </p:blipFill>
        <p:spPr bwMode="auto">
          <a:xfrm>
            <a:off x="10511372" y="5357820"/>
            <a:ext cx="1680633" cy="757237"/>
          </a:xfrm>
          <a:prstGeom prst="rect">
            <a:avLst/>
          </a:prstGeom>
          <a:noFill/>
          <a:ln w="9525">
            <a:noFill/>
            <a:miter lim="800000"/>
            <a:headEnd/>
            <a:tailEnd/>
          </a:ln>
        </p:spPr>
      </p:pic>
      <p:graphicFrame>
        <p:nvGraphicFramePr>
          <p:cNvPr id="14" name="Object 442"/>
          <p:cNvGraphicFramePr>
            <a:graphicFrameLocks noChangeAspect="1"/>
          </p:cNvGraphicFramePr>
          <p:nvPr/>
        </p:nvGraphicFramePr>
        <p:xfrm>
          <a:off x="95252" y="34925"/>
          <a:ext cx="2063749" cy="1162050"/>
        </p:xfrm>
        <a:graphic>
          <a:graphicData uri="http://schemas.openxmlformats.org/presentationml/2006/ole">
            <mc:AlternateContent xmlns:mc="http://schemas.openxmlformats.org/markup-compatibility/2006">
              <mc:Choice xmlns:v="urn:schemas-microsoft-com:vml" Requires="v">
                <p:oleObj spid="_x0000_s33932" name="位图图像" r:id="rId16" imgW="2247619" imgH="1685714" progId="PBrush">
                  <p:embed/>
                </p:oleObj>
              </mc:Choice>
              <mc:Fallback>
                <p:oleObj name="位图图像" r:id="rId16" imgW="2247619" imgH="1685714" progId="PBrush">
                  <p:embed/>
                  <p:pic>
                    <p:nvPicPr>
                      <p:cNvPr id="0" name="Picture 3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5252" y="34925"/>
                        <a:ext cx="2063749"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4" name="Rectangle 2"/>
          <p:cNvSpPr>
            <a:spLocks noGrp="1" noChangeArrowheads="1"/>
          </p:cNvSpPr>
          <p:nvPr>
            <p:ph type="ctrTitle"/>
          </p:nvPr>
        </p:nvSpPr>
        <p:spPr bwMode="gray">
          <a:xfrm>
            <a:off x="857213" y="2285992"/>
            <a:ext cx="10668000" cy="533400"/>
          </a:xfrm>
        </p:spPr>
        <p:txBody>
          <a:bodyPr/>
          <a:lstStyle>
            <a:lvl1pPr algn="r">
              <a:defRPr sz="4800" b="1">
                <a:solidFill>
                  <a:schemeClr val="tx1"/>
                </a:solidFill>
              </a:defRPr>
            </a:lvl1pPr>
          </a:lstStyle>
          <a:p>
            <a:r>
              <a:rPr lang="zh-CN" altLang="en-US" dirty="0"/>
              <a:t>单击此处编辑母版标题样式</a:t>
            </a:r>
            <a:endParaRPr lang="en-US" altLang="zh-CN" dirty="0"/>
          </a:p>
        </p:txBody>
      </p:sp>
      <p:sp>
        <p:nvSpPr>
          <p:cNvPr id="15" name="Rectangle 5"/>
          <p:cNvSpPr>
            <a:spLocks noGrp="1" noChangeArrowheads="1"/>
          </p:cNvSpPr>
          <p:nvPr>
            <p:ph type="ftr" sz="quarter" idx="10"/>
          </p:nvPr>
        </p:nvSpPr>
        <p:spPr>
          <a:xfrm>
            <a:off x="2743203" y="6596070"/>
            <a:ext cx="1191684" cy="244475"/>
          </a:xfrm>
        </p:spPr>
        <p:txBody>
          <a:bodyPr/>
          <a:lstStyle>
            <a:lvl1pPr algn="ctr">
              <a:defRPr sz="1200">
                <a:solidFill>
                  <a:srgbClr val="000000"/>
                </a:solidFill>
              </a:defRPr>
            </a:lvl1pPr>
          </a:lstStyle>
          <a:p>
            <a:pPr>
              <a:defRPr/>
            </a:pPr>
            <a:endParaRPr lang="zh-CN" altLang="zh-CN"/>
          </a:p>
        </p:txBody>
      </p:sp>
      <p:sp>
        <p:nvSpPr>
          <p:cNvPr id="16" name="Rectangle 373"/>
          <p:cNvSpPr>
            <a:spLocks noGrp="1" noChangeArrowheads="1"/>
          </p:cNvSpPr>
          <p:nvPr>
            <p:ph type="sldNum" sz="quarter" idx="11"/>
          </p:nvPr>
        </p:nvSpPr>
        <p:spPr>
          <a:xfrm>
            <a:off x="4064000" y="6596070"/>
            <a:ext cx="1117600" cy="261937"/>
          </a:xfrm>
        </p:spPr>
        <p:txBody>
          <a:bodyPr/>
          <a:lstStyle>
            <a:lvl1pPr>
              <a:defRPr/>
            </a:lvl1pPr>
          </a:lstStyle>
          <a:p>
            <a:pPr>
              <a:defRPr/>
            </a:pPr>
            <a:fld id="{A6901B15-51C5-4543-8646-27AED7159C2B}" type="slidenum">
              <a:rPr lang="en-US" altLang="zh-CN"/>
              <a:pPr>
                <a:defRPr/>
              </a:pPr>
              <a:t>‹#›</a:t>
            </a:fld>
            <a:endParaRPr lang="en-US" altLang="zh-CN"/>
          </a:p>
        </p:txBody>
      </p:sp>
      <p:sp>
        <p:nvSpPr>
          <p:cNvPr id="17" name="Rectangle 374"/>
          <p:cNvSpPr>
            <a:spLocks noGrp="1" noChangeArrowheads="1"/>
          </p:cNvSpPr>
          <p:nvPr>
            <p:ph type="dt" sz="half" idx="12"/>
          </p:nvPr>
        </p:nvSpPr>
        <p:spPr>
          <a:xfrm>
            <a:off x="0" y="6596070"/>
            <a:ext cx="2540000" cy="261937"/>
          </a:xfrm>
        </p:spPr>
        <p:txBody>
          <a:bodyPr/>
          <a:lstStyle>
            <a:lvl1pPr>
              <a:defRPr/>
            </a:lvl1pPr>
          </a:lstStyle>
          <a:p>
            <a:pPr>
              <a:defRPr/>
            </a:pPr>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TextBox 6"/>
          <p:cNvSpPr txBox="1"/>
          <p:nvPr userDrawn="1"/>
        </p:nvSpPr>
        <p:spPr>
          <a:xfrm>
            <a:off x="0" y="6457915"/>
            <a:ext cx="12192000" cy="400110"/>
          </a:xfrm>
          <a:prstGeom prst="rect">
            <a:avLst/>
          </a:prstGeom>
          <a:solidFill>
            <a:schemeClr val="tx2">
              <a:alpha val="32000"/>
            </a:schemeClr>
          </a:solidFill>
        </p:spPr>
        <p:txBody>
          <a:bodyPr wrap="square" rtlCol="0">
            <a:spAutoFit/>
          </a:bodyPr>
          <a:lstStyle/>
          <a:p>
            <a:r>
              <a:rPr lang="zh-CN" altLang="en-US" sz="2000" b="1" dirty="0">
                <a:solidFill>
                  <a:srgbClr val="7030A0"/>
                </a:solidFill>
              </a:rPr>
              <a:t>人工智能与自动化学院</a:t>
            </a:r>
          </a:p>
        </p:txBody>
      </p:sp>
      <p:sp>
        <p:nvSpPr>
          <p:cNvPr id="2" name="标题 1"/>
          <p:cNvSpPr>
            <a:spLocks noGrp="1"/>
          </p:cNvSpPr>
          <p:nvPr>
            <p:ph type="title"/>
          </p:nvPr>
        </p:nvSpPr>
        <p:spPr/>
        <p:txBody>
          <a:bodyPr/>
          <a:lstStyle>
            <a:lvl1pPr>
              <a:defRPr b="1">
                <a:solidFill>
                  <a:schemeClr val="tx1"/>
                </a:solidFill>
                <a:latin typeface="黑体" pitchFamily="49" charset="-122"/>
                <a:ea typeface="黑体" pitchFamily="49" charset="-122"/>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xfrm>
            <a:off x="11074400" y="6429396"/>
            <a:ext cx="1117600" cy="357166"/>
          </a:xfrm>
          <a:ln/>
        </p:spPr>
        <p:txBody>
          <a:bodyPr/>
          <a:lstStyle>
            <a:lvl1pPr>
              <a:defRPr sz="2000" b="1">
                <a:solidFill>
                  <a:srgbClr val="7030A0"/>
                </a:solidFill>
                <a:latin typeface="Times New Roman" pitchFamily="18" charset="0"/>
                <a:cs typeface="Times New Roman" pitchFamily="18" charset="0"/>
              </a:defRPr>
            </a:lvl1pPr>
          </a:lstStyle>
          <a:p>
            <a:pPr>
              <a:defRPr/>
            </a:pPr>
            <a:fld id="{31E287EE-1289-4991-82CE-EFE584F53F4F}" type="slidenum">
              <a:rPr lang="en-US" altLang="zh-CN" smtClean="0"/>
              <a:pPr>
                <a:defRPr/>
              </a:pPr>
              <a:t>‹#›</a:t>
            </a:fld>
            <a:endParaRPr lang="en-US" altLang="zh-CN" dirty="0"/>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7"/>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189" indent="0">
              <a:buNone/>
              <a:defRPr sz="1800"/>
            </a:lvl2pPr>
            <a:lvl3pPr marL="914377" indent="0">
              <a:buNone/>
              <a:defRPr sz="1600"/>
            </a:lvl3pPr>
            <a:lvl4pPr marL="1371566" indent="0">
              <a:buNone/>
              <a:defRPr sz="1400"/>
            </a:lvl4pPr>
            <a:lvl5pPr marL="1828754" indent="0">
              <a:buNone/>
              <a:defRPr sz="1400"/>
            </a:lvl5pPr>
            <a:lvl6pPr marL="2285943" indent="0">
              <a:buNone/>
              <a:defRPr sz="1400"/>
            </a:lvl6pPr>
            <a:lvl7pPr marL="2743131" indent="0">
              <a:buNone/>
              <a:defRPr sz="1400"/>
            </a:lvl7pPr>
            <a:lvl8pPr marL="3200320" indent="0">
              <a:buNone/>
              <a:defRPr sz="1400"/>
            </a:lvl8pPr>
            <a:lvl9pPr marL="3657509" indent="0">
              <a:buNone/>
              <a:defRPr sz="1400"/>
            </a:lvl9pPr>
          </a:lstStyle>
          <a:p>
            <a:pPr lvl="0"/>
            <a:r>
              <a:rPr lang="zh-CN" altLang="en-US"/>
              <a:t>单击此处编辑母版文本样式</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ln/>
        </p:spPr>
        <p:txBody>
          <a:bodyPr/>
          <a:lstStyle>
            <a:lvl1pPr>
              <a:defRPr/>
            </a:lvl1pPr>
          </a:lstStyle>
          <a:p>
            <a:pPr>
              <a:defRPr/>
            </a:pPr>
            <a:fld id="{89531B8F-3516-42C3-83A0-0BE91B683E0A}" type="slidenum">
              <a:rPr lang="en-US" altLang="zh-CN"/>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06400" y="1066800"/>
            <a:ext cx="55372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46800" y="1066800"/>
            <a:ext cx="55372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1"/>
          </p:nvPr>
        </p:nvSpPr>
        <p:spPr>
          <a:ln/>
        </p:spPr>
        <p:txBody>
          <a:bodyPr/>
          <a:lstStyle>
            <a:lvl1pPr>
              <a:defRPr/>
            </a:lvl1pPr>
          </a:lstStyle>
          <a:p>
            <a:pPr>
              <a:defRPr/>
            </a:pPr>
            <a:fld id="{CA6EEC58-89F5-441E-A838-5B7BA2476FEC}" type="slidenum">
              <a:rPr lang="en-US" altLang="zh-CN"/>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72" y="1535113"/>
            <a:ext cx="5389033"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72"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8" name="Rectangle 6"/>
          <p:cNvSpPr>
            <a:spLocks noGrp="1" noChangeArrowheads="1"/>
          </p:cNvSpPr>
          <p:nvPr>
            <p:ph type="sldNum" sz="quarter" idx="11"/>
          </p:nvPr>
        </p:nvSpPr>
        <p:spPr>
          <a:ln/>
        </p:spPr>
        <p:txBody>
          <a:bodyPr/>
          <a:lstStyle>
            <a:lvl1pPr>
              <a:defRPr/>
            </a:lvl1pPr>
          </a:lstStyle>
          <a:p>
            <a:pPr>
              <a:defRPr/>
            </a:pPr>
            <a:fld id="{6AD9BBF3-2E5D-4C72-85D8-0F814F1E616B}" type="slidenum">
              <a:rPr lang="en-US" altLang="zh-CN"/>
              <a:pPr>
                <a:defRPr/>
              </a:pPr>
              <a:t>‹#›</a:t>
            </a:fld>
            <a:endParaRPr lang="en-US" altLang="zh-CN"/>
          </a:p>
        </p:txBody>
      </p:sp>
      <p:sp>
        <p:nvSpPr>
          <p:cNvPr id="9"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4" name="Rectangle 6"/>
          <p:cNvSpPr>
            <a:spLocks noGrp="1" noChangeArrowheads="1"/>
          </p:cNvSpPr>
          <p:nvPr>
            <p:ph type="sldNum" sz="quarter" idx="11"/>
          </p:nvPr>
        </p:nvSpPr>
        <p:spPr>
          <a:ln/>
        </p:spPr>
        <p:txBody>
          <a:bodyPr/>
          <a:lstStyle>
            <a:lvl1pPr>
              <a:defRPr/>
            </a:lvl1pPr>
          </a:lstStyle>
          <a:p>
            <a:pPr>
              <a:defRPr/>
            </a:pPr>
            <a:fld id="{8916E4C9-78BD-4F77-9C38-0D0B943F93F0}" type="slidenum">
              <a:rPr lang="en-US" altLang="zh-CN"/>
              <a:pPr>
                <a:defRPr/>
              </a:pPr>
              <a:t>‹#›</a:t>
            </a:fld>
            <a:endParaRPr lang="en-US" altLang="zh-CN"/>
          </a:p>
        </p:txBody>
      </p:sp>
      <p:sp>
        <p:nvSpPr>
          <p:cNvPr id="5"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3" name="Rectangle 6"/>
          <p:cNvSpPr>
            <a:spLocks noGrp="1" noChangeArrowheads="1"/>
          </p:cNvSpPr>
          <p:nvPr>
            <p:ph type="sldNum" sz="quarter" idx="11"/>
          </p:nvPr>
        </p:nvSpPr>
        <p:spPr>
          <a:ln/>
        </p:spPr>
        <p:txBody>
          <a:bodyPr/>
          <a:lstStyle>
            <a:lvl1pPr>
              <a:defRPr/>
            </a:lvl1pPr>
          </a:lstStyle>
          <a:p>
            <a:pPr>
              <a:defRPr/>
            </a:pPr>
            <a:fld id="{8EDB171D-A1F9-42E8-BD2B-16AA89E5910B}" type="slidenum">
              <a:rPr lang="en-US" altLang="zh-CN"/>
              <a:pPr>
                <a:defRPr/>
              </a:pPr>
              <a:t>‹#›</a:t>
            </a:fld>
            <a:endParaRPr lang="en-US" altLang="zh-CN"/>
          </a:p>
        </p:txBody>
      </p:sp>
      <p:sp>
        <p:nvSpPr>
          <p:cNvPr id="4"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7"/>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3" y="1435103"/>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1"/>
          </p:nvPr>
        </p:nvSpPr>
        <p:spPr>
          <a:ln/>
        </p:spPr>
        <p:txBody>
          <a:bodyPr/>
          <a:lstStyle>
            <a:lvl1pPr>
              <a:defRPr/>
            </a:lvl1pPr>
          </a:lstStyle>
          <a:p>
            <a:pPr>
              <a:defRPr/>
            </a:pPr>
            <a:fld id="{C13011E7-3EAE-47CA-A409-CC810C5F1C95}" type="slidenum">
              <a:rPr lang="en-US" altLang="zh-CN"/>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1"/>
          </p:nvPr>
        </p:nvSpPr>
        <p:spPr>
          <a:ln/>
        </p:spPr>
        <p:txBody>
          <a:bodyPr/>
          <a:lstStyle>
            <a:lvl1pPr>
              <a:defRPr/>
            </a:lvl1pPr>
          </a:lstStyle>
          <a:p>
            <a:pPr>
              <a:defRPr/>
            </a:pPr>
            <a:fld id="{85E88B96-F116-4CAD-A388-A6B52ED373EE}" type="slidenum">
              <a:rPr lang="en-US" altLang="zh-CN"/>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ln/>
        </p:spPr>
        <p:txBody>
          <a:bodyPr/>
          <a:lstStyle>
            <a:lvl1pPr>
              <a:defRPr/>
            </a:lvl1pPr>
          </a:lstStyle>
          <a:p>
            <a:pPr>
              <a:defRPr/>
            </a:pPr>
            <a:fld id="{6B664153-0567-4266-A1CF-C85856699692}" type="slidenum">
              <a:rPr lang="en-US" altLang="zh-CN"/>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64600" y="152400"/>
            <a:ext cx="281940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06400" y="152400"/>
            <a:ext cx="825500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ln/>
        </p:spPr>
        <p:txBody>
          <a:bodyPr/>
          <a:lstStyle>
            <a:lvl1pPr>
              <a:defRPr/>
            </a:lvl1pPr>
          </a:lstStyle>
          <a:p>
            <a:pPr>
              <a:defRPr/>
            </a:pPr>
            <a:fld id="{6D014B58-9775-4ADF-8599-FCF19B567336}" type="slidenum">
              <a:rPr lang="en-US" altLang="zh-CN"/>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6"/>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0"/>
            <a:ext cx="53848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38595"/>
            <a:ext cx="53848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609600" y="6245225"/>
            <a:ext cx="2844800" cy="476250"/>
          </a:xfrm>
        </p:spPr>
        <p:txBody>
          <a:bodyPr/>
          <a:lstStyle>
            <a:lvl1pPr>
              <a:defRPr/>
            </a:lvl1pPr>
          </a:lstStyle>
          <a:p>
            <a:endParaRPr lang="zh-CN" altLang="zh-CN"/>
          </a:p>
        </p:txBody>
      </p:sp>
      <p:sp>
        <p:nvSpPr>
          <p:cNvPr id="7" name="页脚占位符 6"/>
          <p:cNvSpPr>
            <a:spLocks noGrp="1"/>
          </p:cNvSpPr>
          <p:nvPr>
            <p:ph type="ftr" sz="quarter" idx="11"/>
          </p:nvPr>
        </p:nvSpPr>
        <p:spPr>
          <a:xfrm>
            <a:off x="4165600" y="6245225"/>
            <a:ext cx="3860800" cy="476250"/>
          </a:xfrm>
        </p:spPr>
        <p:txBody>
          <a:bodyPr/>
          <a:lstStyle>
            <a:lvl1pPr>
              <a:defRPr/>
            </a:lvl1pPr>
          </a:lstStyle>
          <a:p>
            <a:endParaRPr lang="zh-CN" altLang="zh-CN"/>
          </a:p>
        </p:txBody>
      </p:sp>
      <p:sp>
        <p:nvSpPr>
          <p:cNvPr id="8" name="灯片编号占位符 7"/>
          <p:cNvSpPr>
            <a:spLocks noGrp="1"/>
          </p:cNvSpPr>
          <p:nvPr>
            <p:ph type="sldNum" sz="quarter" idx="12"/>
          </p:nvPr>
        </p:nvSpPr>
        <p:spPr>
          <a:xfrm>
            <a:off x="8737600" y="6245225"/>
            <a:ext cx="2844800" cy="476250"/>
          </a:xfrm>
        </p:spPr>
        <p:txBody>
          <a:bodyPr/>
          <a:lstStyle>
            <a:lvl1pPr>
              <a:defRPr/>
            </a:lvl1pPr>
          </a:lstStyle>
          <a:p>
            <a:fld id="{6DC78509-6893-4A13-B64D-66FBEF57937E}" type="slidenum">
              <a:rPr lang="zh-CN" altLang="zh-CN"/>
              <a:pPr/>
              <a:t>‹#›</a:t>
            </a:fld>
            <a:endParaRPr lang="zh-CN" altLang="zh-CN"/>
          </a:p>
        </p:txBody>
      </p:sp>
    </p:spTree>
    <p:extLst>
      <p:ext uri="{BB962C8B-B14F-4D97-AF65-F5344CB8AC3E}">
        <p14:creationId xmlns:p14="http://schemas.microsoft.com/office/powerpoint/2010/main" val="36215954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bwMode="gray">
      <p:bgPr>
        <a:solidFill>
          <a:schemeClr val="bg1"/>
        </a:solidFill>
        <a:effectLst/>
      </p:bgPr>
    </p:bg>
    <p:spTree>
      <p:nvGrpSpPr>
        <p:cNvPr id="1" name=""/>
        <p:cNvGrpSpPr/>
        <p:nvPr/>
      </p:nvGrpSpPr>
      <p:grpSpPr>
        <a:xfrm>
          <a:off x="0" y="0"/>
          <a:ext cx="0" cy="0"/>
          <a:chOff x="0" y="0"/>
          <a:chExt cx="0" cy="0"/>
        </a:xfrm>
      </p:grpSpPr>
      <p:grpSp>
        <p:nvGrpSpPr>
          <p:cNvPr id="3" name="Group 372"/>
          <p:cNvGrpSpPr>
            <a:grpSpLocks/>
          </p:cNvGrpSpPr>
          <p:nvPr/>
        </p:nvGrpSpPr>
        <p:grpSpPr bwMode="auto">
          <a:xfrm>
            <a:off x="762003" y="2786063"/>
            <a:ext cx="11010900" cy="119062"/>
            <a:chOff x="288" y="1248"/>
            <a:chExt cx="5229" cy="96"/>
          </a:xfrm>
        </p:grpSpPr>
        <p:grpSp>
          <p:nvGrpSpPr>
            <p:cNvPr id="4" name="Group 368"/>
            <p:cNvGrpSpPr>
              <a:grpSpLocks/>
            </p:cNvGrpSpPr>
            <p:nvPr userDrawn="1"/>
          </p:nvGrpSpPr>
          <p:grpSpPr bwMode="auto">
            <a:xfrm>
              <a:off x="288" y="1248"/>
              <a:ext cx="5228" cy="96"/>
              <a:chOff x="192" y="498"/>
              <a:chExt cx="5376" cy="78"/>
            </a:xfrm>
          </p:grpSpPr>
          <p:sp>
            <p:nvSpPr>
              <p:cNvPr id="6" name="Rectangle 369"/>
              <p:cNvSpPr>
                <a:spLocks noChangeArrowheads="1"/>
              </p:cNvSpPr>
              <p:nvPr userDrawn="1"/>
            </p:nvSpPr>
            <p:spPr bwMode="gray">
              <a:xfrm>
                <a:off x="192" y="498"/>
                <a:ext cx="1488" cy="78"/>
              </a:xfrm>
              <a:prstGeom prst="rect">
                <a:avLst/>
              </a:prstGeom>
              <a:solidFill>
                <a:schemeClr val="tx2"/>
              </a:solidFill>
              <a:ln w="9525">
                <a:noFill/>
                <a:miter lim="800000"/>
                <a:headEnd/>
                <a:tailEnd/>
              </a:ln>
              <a:effectLst/>
            </p:spPr>
            <p:txBody>
              <a:bodyPr wrap="none" anchor="ctr"/>
              <a:lstStyle/>
              <a:p>
                <a:pPr>
                  <a:defRPr/>
                </a:pPr>
                <a:endParaRPr lang="zh-CN" altLang="en-US">
                  <a:solidFill>
                    <a:srgbClr val="000000"/>
                  </a:solidFill>
                  <a:ea typeface="宋体" pitchFamily="2" charset="-122"/>
                </a:endParaRPr>
              </a:p>
            </p:txBody>
          </p:sp>
          <p:sp>
            <p:nvSpPr>
              <p:cNvPr id="7" name="Line 370"/>
              <p:cNvSpPr>
                <a:spLocks noChangeShapeType="1"/>
              </p:cNvSpPr>
              <p:nvPr userDrawn="1"/>
            </p:nvSpPr>
            <p:spPr bwMode="gray">
              <a:xfrm>
                <a:off x="192" y="576"/>
                <a:ext cx="5376" cy="0"/>
              </a:xfrm>
              <a:prstGeom prst="line">
                <a:avLst/>
              </a:prstGeom>
              <a:noFill/>
              <a:ln w="19050">
                <a:solidFill>
                  <a:schemeClr val="tx2"/>
                </a:solidFill>
                <a:round/>
                <a:headEnd/>
                <a:tailEnd/>
              </a:ln>
              <a:effectLst/>
            </p:spPr>
            <p:txBody>
              <a:bodyPr/>
              <a:lstStyle/>
              <a:p>
                <a:pPr>
                  <a:defRPr/>
                </a:pPr>
                <a:endParaRPr lang="zh-CN" altLang="en-US">
                  <a:solidFill>
                    <a:srgbClr val="000000"/>
                  </a:solidFill>
                </a:endParaRPr>
              </a:p>
            </p:txBody>
          </p:sp>
        </p:grpSp>
        <p:pic>
          <p:nvPicPr>
            <p:cNvPr id="5" name="Picture 371" descr="Untitled-4 copy"/>
            <p:cNvPicPr>
              <a:picLocks noChangeAspect="1" noChangeArrowheads="1"/>
            </p:cNvPicPr>
            <p:nvPr userDrawn="1"/>
          </p:nvPicPr>
          <p:blipFill>
            <a:blip r:embed="rId3"/>
            <a:srcRect/>
            <a:stretch>
              <a:fillRect/>
            </a:stretch>
          </p:blipFill>
          <p:spPr bwMode="gray">
            <a:xfrm>
              <a:off x="346" y="1254"/>
              <a:ext cx="71" cy="77"/>
            </a:xfrm>
            <a:prstGeom prst="rect">
              <a:avLst/>
            </a:prstGeom>
            <a:noFill/>
            <a:ln w="9525">
              <a:noFill/>
              <a:miter lim="800000"/>
              <a:headEnd/>
              <a:tailEnd/>
            </a:ln>
          </p:spPr>
        </p:pic>
      </p:grpSp>
      <p:pic>
        <p:nvPicPr>
          <p:cNvPr id="8" name="Picture 429" descr="http://pic.hust.edu.cn/pic/nav/803.jpg">
            <a:hlinkClick r:id="rId4"/>
          </p:cNvPr>
          <p:cNvPicPr>
            <a:picLocks noChangeAspect="1" noChangeArrowheads="1"/>
          </p:cNvPicPr>
          <p:nvPr userDrawn="1"/>
        </p:nvPicPr>
        <p:blipFill>
          <a:blip r:embed="rId5"/>
          <a:srcRect/>
          <a:stretch>
            <a:fillRect/>
          </a:stretch>
        </p:blipFill>
        <p:spPr bwMode="auto">
          <a:xfrm>
            <a:off x="7177622" y="6143625"/>
            <a:ext cx="1680633" cy="757238"/>
          </a:xfrm>
          <a:prstGeom prst="rect">
            <a:avLst/>
          </a:prstGeom>
          <a:noFill/>
          <a:ln w="9525">
            <a:noFill/>
            <a:miter lim="800000"/>
            <a:headEnd/>
            <a:tailEnd/>
          </a:ln>
        </p:spPr>
      </p:pic>
      <p:pic>
        <p:nvPicPr>
          <p:cNvPr id="9" name="Picture 433" descr="http://pic.hust.edu.cn/pic/nav/1296.jpg">
            <a:hlinkClick r:id="rId6"/>
          </p:cNvPr>
          <p:cNvPicPr>
            <a:picLocks noChangeAspect="1" noChangeArrowheads="1"/>
          </p:cNvPicPr>
          <p:nvPr userDrawn="1"/>
        </p:nvPicPr>
        <p:blipFill>
          <a:blip r:embed="rId7"/>
          <a:srcRect/>
          <a:stretch>
            <a:fillRect/>
          </a:stretch>
        </p:blipFill>
        <p:spPr bwMode="auto">
          <a:xfrm>
            <a:off x="10511372" y="4598995"/>
            <a:ext cx="1680633" cy="758825"/>
          </a:xfrm>
          <a:prstGeom prst="rect">
            <a:avLst/>
          </a:prstGeom>
          <a:noFill/>
          <a:ln w="9525">
            <a:noFill/>
            <a:miter lim="800000"/>
            <a:headEnd/>
            <a:tailEnd/>
          </a:ln>
        </p:spPr>
      </p:pic>
      <p:pic>
        <p:nvPicPr>
          <p:cNvPr id="10" name="Picture 435" descr="http://pic.hust.edu.cn/pic/nav/1376.jpg">
            <a:hlinkClick r:id="rId8"/>
          </p:cNvPr>
          <p:cNvPicPr>
            <a:picLocks noChangeAspect="1" noChangeArrowheads="1"/>
          </p:cNvPicPr>
          <p:nvPr userDrawn="1"/>
        </p:nvPicPr>
        <p:blipFill>
          <a:blip r:embed="rId9"/>
          <a:srcRect/>
          <a:stretch>
            <a:fillRect/>
          </a:stretch>
        </p:blipFill>
        <p:spPr bwMode="auto">
          <a:xfrm>
            <a:off x="10511372" y="6100770"/>
            <a:ext cx="1680633" cy="757237"/>
          </a:xfrm>
          <a:prstGeom prst="rect">
            <a:avLst/>
          </a:prstGeom>
          <a:noFill/>
          <a:ln w="9525">
            <a:noFill/>
            <a:miter lim="800000"/>
            <a:headEnd/>
            <a:tailEnd/>
          </a:ln>
        </p:spPr>
      </p:pic>
      <p:pic>
        <p:nvPicPr>
          <p:cNvPr id="11" name="Picture 437" descr="http://pic.hust.edu.cn/pic/nav/1394.jpg">
            <a:hlinkClick r:id="rId10"/>
          </p:cNvPr>
          <p:cNvPicPr>
            <a:picLocks noChangeAspect="1" noChangeArrowheads="1"/>
          </p:cNvPicPr>
          <p:nvPr userDrawn="1"/>
        </p:nvPicPr>
        <p:blipFill>
          <a:blip r:embed="rId11"/>
          <a:srcRect/>
          <a:stretch>
            <a:fillRect/>
          </a:stretch>
        </p:blipFill>
        <p:spPr bwMode="auto">
          <a:xfrm>
            <a:off x="8858256" y="5386395"/>
            <a:ext cx="1680633" cy="757237"/>
          </a:xfrm>
          <a:prstGeom prst="rect">
            <a:avLst/>
          </a:prstGeom>
          <a:noFill/>
          <a:ln w="9525">
            <a:noFill/>
            <a:miter lim="800000"/>
            <a:headEnd/>
            <a:tailEnd/>
          </a:ln>
        </p:spPr>
      </p:pic>
      <p:pic>
        <p:nvPicPr>
          <p:cNvPr id="12" name="Picture 439" descr="http://pic.hust.edu.cn/pic/nav/1421.jpg">
            <a:hlinkClick r:id="rId12"/>
          </p:cNvPr>
          <p:cNvPicPr>
            <a:picLocks noChangeAspect="1" noChangeArrowheads="1"/>
          </p:cNvPicPr>
          <p:nvPr userDrawn="1"/>
        </p:nvPicPr>
        <p:blipFill>
          <a:blip r:embed="rId13"/>
          <a:srcRect/>
          <a:stretch>
            <a:fillRect/>
          </a:stretch>
        </p:blipFill>
        <p:spPr bwMode="auto">
          <a:xfrm>
            <a:off x="8858256" y="6127757"/>
            <a:ext cx="1680633" cy="758825"/>
          </a:xfrm>
          <a:prstGeom prst="rect">
            <a:avLst/>
          </a:prstGeom>
          <a:noFill/>
          <a:ln w="9525">
            <a:noFill/>
            <a:miter lim="800000"/>
            <a:headEnd/>
            <a:tailEnd/>
          </a:ln>
        </p:spPr>
      </p:pic>
      <p:pic>
        <p:nvPicPr>
          <p:cNvPr id="13" name="Picture 441" descr="http://pic.hust.edu.cn/pic/nav/1428.jpg">
            <a:hlinkClick r:id="rId14"/>
          </p:cNvPr>
          <p:cNvPicPr>
            <a:picLocks noChangeAspect="1" noChangeArrowheads="1"/>
          </p:cNvPicPr>
          <p:nvPr userDrawn="1"/>
        </p:nvPicPr>
        <p:blipFill>
          <a:blip r:embed="rId15"/>
          <a:srcRect/>
          <a:stretch>
            <a:fillRect/>
          </a:stretch>
        </p:blipFill>
        <p:spPr bwMode="auto">
          <a:xfrm>
            <a:off x="10511372" y="5357820"/>
            <a:ext cx="1680633" cy="757237"/>
          </a:xfrm>
          <a:prstGeom prst="rect">
            <a:avLst/>
          </a:prstGeom>
          <a:noFill/>
          <a:ln w="9525">
            <a:noFill/>
            <a:miter lim="800000"/>
            <a:headEnd/>
            <a:tailEnd/>
          </a:ln>
        </p:spPr>
      </p:pic>
      <p:graphicFrame>
        <p:nvGraphicFramePr>
          <p:cNvPr id="14" name="Object 442"/>
          <p:cNvGraphicFramePr>
            <a:graphicFrameLocks noChangeAspect="1"/>
          </p:cNvGraphicFramePr>
          <p:nvPr/>
        </p:nvGraphicFramePr>
        <p:xfrm>
          <a:off x="95252" y="34925"/>
          <a:ext cx="2063749" cy="1162050"/>
        </p:xfrm>
        <a:graphic>
          <a:graphicData uri="http://schemas.openxmlformats.org/presentationml/2006/ole">
            <mc:AlternateContent xmlns:mc="http://schemas.openxmlformats.org/markup-compatibility/2006">
              <mc:Choice xmlns:v="urn:schemas-microsoft-com:vml" Requires="v">
                <p:oleObj spid="_x0000_s333916" name="位图图像" r:id="rId16" imgW="2247619" imgH="1685714" progId="PBrush">
                  <p:embed/>
                </p:oleObj>
              </mc:Choice>
              <mc:Fallback>
                <p:oleObj name="位图图像" r:id="rId16" imgW="2247619" imgH="1685714" progId="PBrush">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5252" y="34925"/>
                        <a:ext cx="2063749"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4" name="Rectangle 2"/>
          <p:cNvSpPr>
            <a:spLocks noGrp="1" noChangeArrowheads="1"/>
          </p:cNvSpPr>
          <p:nvPr>
            <p:ph type="ctrTitle"/>
          </p:nvPr>
        </p:nvSpPr>
        <p:spPr bwMode="gray">
          <a:xfrm>
            <a:off x="857213" y="2285992"/>
            <a:ext cx="10668000" cy="533400"/>
          </a:xfrm>
        </p:spPr>
        <p:txBody>
          <a:bodyPr/>
          <a:lstStyle>
            <a:lvl1pPr algn="r">
              <a:defRPr sz="4800" b="1">
                <a:solidFill>
                  <a:schemeClr val="tx1"/>
                </a:solidFill>
              </a:defRPr>
            </a:lvl1pPr>
          </a:lstStyle>
          <a:p>
            <a:r>
              <a:rPr lang="zh-CN" altLang="en-US" dirty="0"/>
              <a:t>单击此处编辑母版标题样式</a:t>
            </a:r>
            <a:endParaRPr lang="en-US" altLang="zh-CN" dirty="0"/>
          </a:p>
        </p:txBody>
      </p:sp>
      <p:sp>
        <p:nvSpPr>
          <p:cNvPr id="15" name="Rectangle 5"/>
          <p:cNvSpPr>
            <a:spLocks noGrp="1" noChangeArrowheads="1"/>
          </p:cNvSpPr>
          <p:nvPr>
            <p:ph type="ftr" sz="quarter" idx="10"/>
          </p:nvPr>
        </p:nvSpPr>
        <p:spPr>
          <a:xfrm>
            <a:off x="2743203" y="6596070"/>
            <a:ext cx="1191684" cy="244475"/>
          </a:xfrm>
        </p:spPr>
        <p:txBody>
          <a:bodyPr/>
          <a:lstStyle>
            <a:lvl1pPr algn="ctr">
              <a:defRPr sz="1200">
                <a:solidFill>
                  <a:srgbClr val="000000"/>
                </a:solidFill>
              </a:defRPr>
            </a:lvl1pPr>
          </a:lstStyle>
          <a:p>
            <a:pPr>
              <a:defRPr/>
            </a:pPr>
            <a:r>
              <a:rPr lang="en-US" altLang="zh-CN"/>
              <a:t>1</a:t>
            </a:r>
            <a:endParaRPr lang="zh-CN" altLang="zh-CN"/>
          </a:p>
        </p:txBody>
      </p:sp>
      <p:sp>
        <p:nvSpPr>
          <p:cNvPr id="16" name="Rectangle 373"/>
          <p:cNvSpPr>
            <a:spLocks noGrp="1" noChangeArrowheads="1"/>
          </p:cNvSpPr>
          <p:nvPr>
            <p:ph type="sldNum" sz="quarter" idx="11"/>
          </p:nvPr>
        </p:nvSpPr>
        <p:spPr>
          <a:xfrm>
            <a:off x="4064000" y="6596070"/>
            <a:ext cx="1117600" cy="261937"/>
          </a:xfrm>
        </p:spPr>
        <p:txBody>
          <a:bodyPr/>
          <a:lstStyle>
            <a:lvl1pPr>
              <a:defRPr/>
            </a:lvl1pPr>
          </a:lstStyle>
          <a:p>
            <a:pPr>
              <a:defRPr/>
            </a:pPr>
            <a:fld id="{A6901B15-51C5-4543-8646-27AED7159C2B}" type="slidenum">
              <a:rPr lang="en-US" altLang="zh-CN">
                <a:solidFill>
                  <a:srgbClr val="000000"/>
                </a:solidFill>
              </a:rPr>
              <a:pPr>
                <a:defRPr/>
              </a:pPr>
              <a:t>‹#›</a:t>
            </a:fld>
            <a:endParaRPr lang="en-US" altLang="zh-CN">
              <a:solidFill>
                <a:srgbClr val="000000"/>
              </a:solidFill>
            </a:endParaRPr>
          </a:p>
        </p:txBody>
      </p:sp>
      <p:sp>
        <p:nvSpPr>
          <p:cNvPr id="17" name="Rectangle 374"/>
          <p:cNvSpPr>
            <a:spLocks noGrp="1" noChangeArrowheads="1"/>
          </p:cNvSpPr>
          <p:nvPr>
            <p:ph type="dt" sz="half" idx="12"/>
          </p:nvPr>
        </p:nvSpPr>
        <p:spPr>
          <a:xfrm>
            <a:off x="0" y="6596070"/>
            <a:ext cx="2540000" cy="261937"/>
          </a:xfrm>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8473268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TextBox 6"/>
          <p:cNvSpPr txBox="1"/>
          <p:nvPr userDrawn="1"/>
        </p:nvSpPr>
        <p:spPr>
          <a:xfrm>
            <a:off x="0" y="6457915"/>
            <a:ext cx="12192000" cy="400110"/>
          </a:xfrm>
          <a:prstGeom prst="rect">
            <a:avLst/>
          </a:prstGeom>
          <a:solidFill>
            <a:schemeClr val="tx2">
              <a:alpha val="32000"/>
            </a:schemeClr>
          </a:solidFill>
        </p:spPr>
        <p:txBody>
          <a:bodyPr wrap="square" rtlCol="0">
            <a:spAutoFit/>
          </a:bodyPr>
          <a:lstStyle/>
          <a:p>
            <a:r>
              <a:rPr lang="zh-CN" altLang="en-US" sz="2000" b="1" dirty="0">
                <a:solidFill>
                  <a:srgbClr val="7030A0"/>
                </a:solidFill>
              </a:rPr>
              <a:t>自动化学院</a:t>
            </a:r>
          </a:p>
        </p:txBody>
      </p:sp>
      <p:sp>
        <p:nvSpPr>
          <p:cNvPr id="2" name="标题 1"/>
          <p:cNvSpPr>
            <a:spLocks noGrp="1"/>
          </p:cNvSpPr>
          <p:nvPr>
            <p:ph type="title"/>
          </p:nvPr>
        </p:nvSpPr>
        <p:spPr/>
        <p:txBody>
          <a:bodyPr/>
          <a:lstStyle>
            <a:lvl1pPr>
              <a:defRPr b="1">
                <a:solidFill>
                  <a:schemeClr val="tx1"/>
                </a:solidFill>
                <a:latin typeface="黑体" pitchFamily="49" charset="-122"/>
                <a:ea typeface="黑体" pitchFamily="49" charset="-122"/>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r>
              <a:rPr lang="en-US" altLang="zh-CN">
                <a:solidFill>
                  <a:srgbClr val="000000"/>
                </a:solidFill>
              </a:rPr>
              <a:t>1</a:t>
            </a:r>
            <a:endParaRPr lang="zh-CN" altLang="zh-CN">
              <a:solidFill>
                <a:srgbClr val="000000"/>
              </a:solidFill>
            </a:endParaRPr>
          </a:p>
        </p:txBody>
      </p:sp>
      <p:sp>
        <p:nvSpPr>
          <p:cNvPr id="5" name="Rectangle 6"/>
          <p:cNvSpPr>
            <a:spLocks noGrp="1" noChangeArrowheads="1"/>
          </p:cNvSpPr>
          <p:nvPr>
            <p:ph type="sldNum" sz="quarter" idx="11"/>
          </p:nvPr>
        </p:nvSpPr>
        <p:spPr>
          <a:xfrm>
            <a:off x="11074400" y="6429396"/>
            <a:ext cx="1117600" cy="357166"/>
          </a:xfrm>
          <a:ln/>
        </p:spPr>
        <p:txBody>
          <a:bodyPr/>
          <a:lstStyle>
            <a:lvl1pPr>
              <a:defRPr sz="2000" b="1">
                <a:solidFill>
                  <a:srgbClr val="7030A0"/>
                </a:solidFill>
                <a:latin typeface="Times New Roman" pitchFamily="18" charset="0"/>
                <a:cs typeface="Times New Roman" pitchFamily="18" charset="0"/>
              </a:defRPr>
            </a:lvl1pPr>
          </a:lstStyle>
          <a:p>
            <a:pPr>
              <a:defRPr/>
            </a:pPr>
            <a:fld id="{31E287EE-1289-4991-82CE-EFE584F53F4F}" type="slidenum">
              <a:rPr lang="en-US" altLang="zh-CN" smtClean="0"/>
              <a:pPr>
                <a:defRPr/>
              </a:pPr>
              <a:t>‹#›</a:t>
            </a:fld>
            <a:endParaRPr lang="en-US" altLang="zh-CN" dirty="0"/>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17885115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7"/>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189" indent="0">
              <a:buNone/>
              <a:defRPr sz="1800"/>
            </a:lvl2pPr>
            <a:lvl3pPr marL="914377" indent="0">
              <a:buNone/>
              <a:defRPr sz="1600"/>
            </a:lvl3pPr>
            <a:lvl4pPr marL="1371566" indent="0">
              <a:buNone/>
              <a:defRPr sz="1400"/>
            </a:lvl4pPr>
            <a:lvl5pPr marL="1828754" indent="0">
              <a:buNone/>
              <a:defRPr sz="1400"/>
            </a:lvl5pPr>
            <a:lvl6pPr marL="2285943" indent="0">
              <a:buNone/>
              <a:defRPr sz="1400"/>
            </a:lvl6pPr>
            <a:lvl7pPr marL="2743131" indent="0">
              <a:buNone/>
              <a:defRPr sz="1400"/>
            </a:lvl7pPr>
            <a:lvl8pPr marL="3200320" indent="0">
              <a:buNone/>
              <a:defRPr sz="1400"/>
            </a:lvl8pPr>
            <a:lvl9pPr marL="3657509" indent="0">
              <a:buNone/>
              <a:defRPr sz="1400"/>
            </a:lvl9pPr>
          </a:lstStyle>
          <a:p>
            <a:pPr lvl="0"/>
            <a:r>
              <a:rPr lang="zh-CN" altLang="en-US"/>
              <a:t>单击此处编辑母版文本样式</a:t>
            </a:r>
          </a:p>
        </p:txBody>
      </p:sp>
      <p:sp>
        <p:nvSpPr>
          <p:cNvPr id="4" name="Rectangle 5"/>
          <p:cNvSpPr>
            <a:spLocks noGrp="1" noChangeArrowheads="1"/>
          </p:cNvSpPr>
          <p:nvPr>
            <p:ph type="ftr" sz="quarter" idx="10"/>
          </p:nvPr>
        </p:nvSpPr>
        <p:spPr>
          <a:ln/>
        </p:spPr>
        <p:txBody>
          <a:bodyPr/>
          <a:lstStyle>
            <a:lvl1pPr>
              <a:defRPr/>
            </a:lvl1pPr>
          </a:lstStyle>
          <a:p>
            <a:pPr>
              <a:defRPr/>
            </a:pPr>
            <a:r>
              <a:rPr lang="en-US" altLang="zh-CN">
                <a:solidFill>
                  <a:srgbClr val="000000"/>
                </a:solidFill>
              </a:rPr>
              <a:t>1</a:t>
            </a:r>
            <a:endParaRPr lang="zh-CN" altLang="zh-CN">
              <a:solidFill>
                <a:srgbClr val="000000"/>
              </a:solidFill>
            </a:endParaRPr>
          </a:p>
        </p:txBody>
      </p:sp>
      <p:sp>
        <p:nvSpPr>
          <p:cNvPr id="5" name="Rectangle 6"/>
          <p:cNvSpPr>
            <a:spLocks noGrp="1" noChangeArrowheads="1"/>
          </p:cNvSpPr>
          <p:nvPr>
            <p:ph type="sldNum" sz="quarter" idx="11"/>
          </p:nvPr>
        </p:nvSpPr>
        <p:spPr>
          <a:ln/>
        </p:spPr>
        <p:txBody>
          <a:bodyPr/>
          <a:lstStyle>
            <a:lvl1pPr>
              <a:defRPr/>
            </a:lvl1pPr>
          </a:lstStyle>
          <a:p>
            <a:pPr>
              <a:defRPr/>
            </a:pPr>
            <a:fld id="{89531B8F-3516-42C3-83A0-0BE91B683E0A}" type="slidenum">
              <a:rPr lang="en-US" altLang="zh-CN">
                <a:solidFill>
                  <a:srgbClr val="000000"/>
                </a:solidFill>
              </a:rPr>
              <a:pPr>
                <a:defRPr/>
              </a:pPr>
              <a:t>‹#›</a:t>
            </a:fld>
            <a:endParaRPr lang="en-US" altLang="zh-CN">
              <a:solidFill>
                <a:srgbClr val="000000"/>
              </a:solidFill>
            </a:endParaRPr>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37224511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06400" y="1066800"/>
            <a:ext cx="55372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46800" y="1066800"/>
            <a:ext cx="55372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ftr" sz="quarter" idx="10"/>
          </p:nvPr>
        </p:nvSpPr>
        <p:spPr>
          <a:ln/>
        </p:spPr>
        <p:txBody>
          <a:bodyPr/>
          <a:lstStyle>
            <a:lvl1pPr>
              <a:defRPr/>
            </a:lvl1pPr>
          </a:lstStyle>
          <a:p>
            <a:pPr>
              <a:defRPr/>
            </a:pPr>
            <a:r>
              <a:rPr lang="en-US" altLang="zh-CN">
                <a:solidFill>
                  <a:srgbClr val="000000"/>
                </a:solidFill>
              </a:rPr>
              <a:t>1</a:t>
            </a:r>
            <a:endParaRPr lang="zh-CN" altLang="zh-CN">
              <a:solidFill>
                <a:srgbClr val="000000"/>
              </a:solidFill>
            </a:endParaRPr>
          </a:p>
        </p:txBody>
      </p:sp>
      <p:sp>
        <p:nvSpPr>
          <p:cNvPr id="6" name="Rectangle 6"/>
          <p:cNvSpPr>
            <a:spLocks noGrp="1" noChangeArrowheads="1"/>
          </p:cNvSpPr>
          <p:nvPr>
            <p:ph type="sldNum" sz="quarter" idx="11"/>
          </p:nvPr>
        </p:nvSpPr>
        <p:spPr>
          <a:ln/>
        </p:spPr>
        <p:txBody>
          <a:bodyPr/>
          <a:lstStyle>
            <a:lvl1pPr>
              <a:defRPr/>
            </a:lvl1pPr>
          </a:lstStyle>
          <a:p>
            <a:pPr>
              <a:defRPr/>
            </a:pPr>
            <a:fld id="{CA6EEC58-89F5-441E-A838-5B7BA2476FEC}" type="slidenum">
              <a:rPr lang="en-US" altLang="zh-CN">
                <a:solidFill>
                  <a:srgbClr val="000000"/>
                </a:solidFill>
              </a:rPr>
              <a:pPr>
                <a:defRPr/>
              </a:pPr>
              <a:t>‹#›</a:t>
            </a:fld>
            <a:endParaRPr lang="en-US" altLang="zh-CN">
              <a:solidFill>
                <a:srgbClr val="000000"/>
              </a:solidFill>
            </a:endParaRPr>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1258832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72" y="1535113"/>
            <a:ext cx="5389033"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72"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ftr" sz="quarter" idx="10"/>
          </p:nvPr>
        </p:nvSpPr>
        <p:spPr>
          <a:ln/>
        </p:spPr>
        <p:txBody>
          <a:bodyPr/>
          <a:lstStyle>
            <a:lvl1pPr>
              <a:defRPr/>
            </a:lvl1pPr>
          </a:lstStyle>
          <a:p>
            <a:pPr>
              <a:defRPr/>
            </a:pPr>
            <a:r>
              <a:rPr lang="en-US" altLang="zh-CN">
                <a:solidFill>
                  <a:srgbClr val="000000"/>
                </a:solidFill>
              </a:rPr>
              <a:t>1</a:t>
            </a:r>
            <a:endParaRPr lang="zh-CN" altLang="zh-CN">
              <a:solidFill>
                <a:srgbClr val="000000"/>
              </a:solidFill>
            </a:endParaRPr>
          </a:p>
        </p:txBody>
      </p:sp>
      <p:sp>
        <p:nvSpPr>
          <p:cNvPr id="8" name="Rectangle 6"/>
          <p:cNvSpPr>
            <a:spLocks noGrp="1" noChangeArrowheads="1"/>
          </p:cNvSpPr>
          <p:nvPr>
            <p:ph type="sldNum" sz="quarter" idx="11"/>
          </p:nvPr>
        </p:nvSpPr>
        <p:spPr>
          <a:ln/>
        </p:spPr>
        <p:txBody>
          <a:bodyPr/>
          <a:lstStyle>
            <a:lvl1pPr>
              <a:defRPr/>
            </a:lvl1pPr>
          </a:lstStyle>
          <a:p>
            <a:pPr>
              <a:defRPr/>
            </a:pPr>
            <a:fld id="{6AD9BBF3-2E5D-4C72-85D8-0F814F1E616B}" type="slidenum">
              <a:rPr lang="en-US" altLang="zh-CN">
                <a:solidFill>
                  <a:srgbClr val="000000"/>
                </a:solidFill>
              </a:rPr>
              <a:pPr>
                <a:defRPr/>
              </a:pPr>
              <a:t>‹#›</a:t>
            </a:fld>
            <a:endParaRPr lang="en-US" altLang="zh-CN">
              <a:solidFill>
                <a:srgbClr val="000000"/>
              </a:solidFill>
            </a:endParaRPr>
          </a:p>
        </p:txBody>
      </p:sp>
      <p:sp>
        <p:nvSpPr>
          <p:cNvPr id="9" name="Rectangle 4"/>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12347974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ftr" sz="quarter" idx="10"/>
          </p:nvPr>
        </p:nvSpPr>
        <p:spPr>
          <a:ln/>
        </p:spPr>
        <p:txBody>
          <a:bodyPr/>
          <a:lstStyle>
            <a:lvl1pPr>
              <a:defRPr/>
            </a:lvl1pPr>
          </a:lstStyle>
          <a:p>
            <a:pPr>
              <a:defRPr/>
            </a:pPr>
            <a:r>
              <a:rPr lang="en-US" altLang="zh-CN">
                <a:solidFill>
                  <a:srgbClr val="000000"/>
                </a:solidFill>
              </a:rPr>
              <a:t>1</a:t>
            </a:r>
            <a:endParaRPr lang="zh-CN" altLang="zh-CN">
              <a:solidFill>
                <a:srgbClr val="000000"/>
              </a:solidFill>
            </a:endParaRPr>
          </a:p>
        </p:txBody>
      </p:sp>
      <p:sp>
        <p:nvSpPr>
          <p:cNvPr id="4" name="Rectangle 6"/>
          <p:cNvSpPr>
            <a:spLocks noGrp="1" noChangeArrowheads="1"/>
          </p:cNvSpPr>
          <p:nvPr>
            <p:ph type="sldNum" sz="quarter" idx="11"/>
          </p:nvPr>
        </p:nvSpPr>
        <p:spPr>
          <a:ln/>
        </p:spPr>
        <p:txBody>
          <a:bodyPr/>
          <a:lstStyle>
            <a:lvl1pPr>
              <a:defRPr/>
            </a:lvl1pPr>
          </a:lstStyle>
          <a:p>
            <a:pPr>
              <a:defRPr/>
            </a:pPr>
            <a:fld id="{8916E4C9-78BD-4F77-9C38-0D0B943F93F0}" type="slidenum">
              <a:rPr lang="en-US" altLang="zh-CN">
                <a:solidFill>
                  <a:srgbClr val="000000"/>
                </a:solidFill>
              </a:rPr>
              <a:pPr>
                <a:defRPr/>
              </a:pPr>
              <a:t>‹#›</a:t>
            </a:fld>
            <a:endParaRPr lang="en-US" altLang="zh-CN">
              <a:solidFill>
                <a:srgbClr val="000000"/>
              </a:solidFill>
            </a:endParaRPr>
          </a:p>
        </p:txBody>
      </p:sp>
      <p:sp>
        <p:nvSpPr>
          <p:cNvPr id="5" name="Rectangle 4"/>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34169187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altLang="zh-CN">
                <a:solidFill>
                  <a:srgbClr val="000000"/>
                </a:solidFill>
              </a:rPr>
              <a:t>1</a:t>
            </a:r>
            <a:endParaRPr lang="zh-CN" altLang="zh-CN">
              <a:solidFill>
                <a:srgbClr val="000000"/>
              </a:solidFill>
            </a:endParaRPr>
          </a:p>
        </p:txBody>
      </p:sp>
      <p:sp>
        <p:nvSpPr>
          <p:cNvPr id="3" name="Rectangle 6"/>
          <p:cNvSpPr>
            <a:spLocks noGrp="1" noChangeArrowheads="1"/>
          </p:cNvSpPr>
          <p:nvPr>
            <p:ph type="sldNum" sz="quarter" idx="11"/>
          </p:nvPr>
        </p:nvSpPr>
        <p:spPr>
          <a:ln/>
        </p:spPr>
        <p:txBody>
          <a:bodyPr/>
          <a:lstStyle>
            <a:lvl1pPr>
              <a:defRPr/>
            </a:lvl1pPr>
          </a:lstStyle>
          <a:p>
            <a:pPr>
              <a:defRPr/>
            </a:pPr>
            <a:fld id="{8EDB171D-A1F9-42E8-BD2B-16AA89E5910B}" type="slidenum">
              <a:rPr lang="en-US" altLang="zh-CN">
                <a:solidFill>
                  <a:srgbClr val="000000"/>
                </a:solidFill>
              </a:rPr>
              <a:pPr>
                <a:defRPr/>
              </a:pPr>
              <a:t>‹#›</a:t>
            </a:fld>
            <a:endParaRPr lang="en-US" altLang="zh-CN">
              <a:solidFill>
                <a:srgbClr val="000000"/>
              </a:solidFill>
            </a:endParaRPr>
          </a:p>
        </p:txBody>
      </p:sp>
      <p:sp>
        <p:nvSpPr>
          <p:cNvPr id="4" name="Rectangle 4"/>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27378420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7"/>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3" y="1435103"/>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a:defRPr/>
            </a:pPr>
            <a:r>
              <a:rPr lang="en-US" altLang="zh-CN">
                <a:solidFill>
                  <a:srgbClr val="000000"/>
                </a:solidFill>
              </a:rPr>
              <a:t>1</a:t>
            </a:r>
            <a:endParaRPr lang="zh-CN" altLang="zh-CN">
              <a:solidFill>
                <a:srgbClr val="000000"/>
              </a:solidFill>
            </a:endParaRPr>
          </a:p>
        </p:txBody>
      </p:sp>
      <p:sp>
        <p:nvSpPr>
          <p:cNvPr id="6" name="Rectangle 6"/>
          <p:cNvSpPr>
            <a:spLocks noGrp="1" noChangeArrowheads="1"/>
          </p:cNvSpPr>
          <p:nvPr>
            <p:ph type="sldNum" sz="quarter" idx="11"/>
          </p:nvPr>
        </p:nvSpPr>
        <p:spPr>
          <a:ln/>
        </p:spPr>
        <p:txBody>
          <a:bodyPr/>
          <a:lstStyle>
            <a:lvl1pPr>
              <a:defRPr/>
            </a:lvl1pPr>
          </a:lstStyle>
          <a:p>
            <a:pPr>
              <a:defRPr/>
            </a:pPr>
            <a:fld id="{C13011E7-3EAE-47CA-A409-CC810C5F1C95}" type="slidenum">
              <a:rPr lang="en-US" altLang="zh-CN">
                <a:solidFill>
                  <a:srgbClr val="000000"/>
                </a:solidFill>
              </a:rPr>
              <a:pPr>
                <a:defRPr/>
              </a:pPr>
              <a:t>‹#›</a:t>
            </a:fld>
            <a:endParaRPr lang="en-US" altLang="zh-CN">
              <a:solidFill>
                <a:srgbClr val="000000"/>
              </a:solidFill>
            </a:endParaRPr>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10661895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a:defRPr/>
            </a:pPr>
            <a:r>
              <a:rPr lang="en-US" altLang="zh-CN">
                <a:solidFill>
                  <a:srgbClr val="000000"/>
                </a:solidFill>
              </a:rPr>
              <a:t>1</a:t>
            </a:r>
            <a:endParaRPr lang="zh-CN" altLang="zh-CN">
              <a:solidFill>
                <a:srgbClr val="000000"/>
              </a:solidFill>
            </a:endParaRPr>
          </a:p>
        </p:txBody>
      </p:sp>
      <p:sp>
        <p:nvSpPr>
          <p:cNvPr id="6" name="Rectangle 6"/>
          <p:cNvSpPr>
            <a:spLocks noGrp="1" noChangeArrowheads="1"/>
          </p:cNvSpPr>
          <p:nvPr>
            <p:ph type="sldNum" sz="quarter" idx="11"/>
          </p:nvPr>
        </p:nvSpPr>
        <p:spPr>
          <a:ln/>
        </p:spPr>
        <p:txBody>
          <a:bodyPr/>
          <a:lstStyle>
            <a:lvl1pPr>
              <a:defRPr/>
            </a:lvl1pPr>
          </a:lstStyle>
          <a:p>
            <a:pPr>
              <a:defRPr/>
            </a:pPr>
            <a:fld id="{85E88B96-F116-4CAD-A388-A6B52ED373EE}" type="slidenum">
              <a:rPr lang="en-US" altLang="zh-CN">
                <a:solidFill>
                  <a:srgbClr val="000000"/>
                </a:solidFill>
              </a:rPr>
              <a:pPr>
                <a:defRPr/>
              </a:pPr>
              <a:t>‹#›</a:t>
            </a:fld>
            <a:endParaRPr lang="en-US" altLang="zh-CN">
              <a:solidFill>
                <a:srgbClr val="000000"/>
              </a:solidFill>
            </a:endParaRPr>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31869876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r>
              <a:rPr lang="en-US" altLang="zh-CN">
                <a:solidFill>
                  <a:srgbClr val="000000"/>
                </a:solidFill>
              </a:rPr>
              <a:t>1</a:t>
            </a:r>
            <a:endParaRPr lang="zh-CN" altLang="zh-CN">
              <a:solidFill>
                <a:srgbClr val="000000"/>
              </a:solidFill>
            </a:endParaRPr>
          </a:p>
        </p:txBody>
      </p:sp>
      <p:sp>
        <p:nvSpPr>
          <p:cNvPr id="5" name="Rectangle 6"/>
          <p:cNvSpPr>
            <a:spLocks noGrp="1" noChangeArrowheads="1"/>
          </p:cNvSpPr>
          <p:nvPr>
            <p:ph type="sldNum" sz="quarter" idx="11"/>
          </p:nvPr>
        </p:nvSpPr>
        <p:spPr>
          <a:ln/>
        </p:spPr>
        <p:txBody>
          <a:bodyPr/>
          <a:lstStyle>
            <a:lvl1pPr>
              <a:defRPr/>
            </a:lvl1pPr>
          </a:lstStyle>
          <a:p>
            <a:pPr>
              <a:defRPr/>
            </a:pPr>
            <a:fld id="{6B664153-0567-4266-A1CF-C85856699692}" type="slidenum">
              <a:rPr lang="en-US" altLang="zh-CN">
                <a:solidFill>
                  <a:srgbClr val="000000"/>
                </a:solidFill>
              </a:rPr>
              <a:pPr>
                <a:defRPr/>
              </a:pPr>
              <a:t>‹#›</a:t>
            </a:fld>
            <a:endParaRPr lang="en-US" altLang="zh-CN">
              <a:solidFill>
                <a:srgbClr val="000000"/>
              </a:solidFill>
            </a:endParaRPr>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7252322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64600" y="152400"/>
            <a:ext cx="281940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06400" y="152400"/>
            <a:ext cx="825500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r>
              <a:rPr lang="en-US" altLang="zh-CN">
                <a:solidFill>
                  <a:srgbClr val="000000"/>
                </a:solidFill>
              </a:rPr>
              <a:t>1</a:t>
            </a:r>
            <a:endParaRPr lang="zh-CN" altLang="zh-CN">
              <a:solidFill>
                <a:srgbClr val="000000"/>
              </a:solidFill>
            </a:endParaRPr>
          </a:p>
        </p:txBody>
      </p:sp>
      <p:sp>
        <p:nvSpPr>
          <p:cNvPr id="5" name="Rectangle 6"/>
          <p:cNvSpPr>
            <a:spLocks noGrp="1" noChangeArrowheads="1"/>
          </p:cNvSpPr>
          <p:nvPr>
            <p:ph type="sldNum" sz="quarter" idx="11"/>
          </p:nvPr>
        </p:nvSpPr>
        <p:spPr>
          <a:ln/>
        </p:spPr>
        <p:txBody>
          <a:bodyPr/>
          <a:lstStyle>
            <a:lvl1pPr>
              <a:defRPr/>
            </a:lvl1pPr>
          </a:lstStyle>
          <a:p>
            <a:pPr>
              <a:defRPr/>
            </a:pPr>
            <a:fld id="{6D014B58-9775-4ADF-8599-FCF19B567336}" type="slidenum">
              <a:rPr lang="en-US" altLang="zh-CN">
                <a:solidFill>
                  <a:srgbClr val="000000"/>
                </a:solidFill>
              </a:rPr>
              <a:pPr>
                <a:defRPr/>
              </a:pPr>
              <a:t>‹#›</a:t>
            </a:fld>
            <a:endParaRPr lang="en-US" altLang="zh-CN">
              <a:solidFill>
                <a:srgbClr val="000000"/>
              </a:solidFill>
            </a:endParaRPr>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19643615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10FFD87-4730-4E38-9CDA-89C007C09183}"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l" defTabSz="457200" rtl="0" eaLnBrk="1" fontAlgn="auto" latinLnBrk="0" hangingPunct="1">
                <a:lnSpc>
                  <a:spcPct val="100000"/>
                </a:lnSpc>
                <a:spcBef>
                  <a:spcPts val="0"/>
                </a:spcBef>
                <a:spcAft>
                  <a:spcPts val="0"/>
                </a:spcAft>
                <a:buClrTx/>
                <a:buSzTx/>
                <a:buFontTx/>
                <a:buNone/>
                <a:tabLst/>
                <a:defRPr/>
              </a:pPr>
              <a:t>2023/9/25</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1BD349C-D663-4592-A09C-DDAEC02164B8}" type="slidenum">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Tree>
    <p:extLst>
      <p:ext uri="{BB962C8B-B14F-4D97-AF65-F5344CB8AC3E}">
        <p14:creationId xmlns:p14="http://schemas.microsoft.com/office/powerpoint/2010/main" val="24858549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10FFD87-4730-4E38-9CDA-89C007C09183}"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l" defTabSz="457200" rtl="0" eaLnBrk="1" fontAlgn="auto" latinLnBrk="0" hangingPunct="1">
                <a:lnSpc>
                  <a:spcPct val="100000"/>
                </a:lnSpc>
                <a:spcBef>
                  <a:spcPts val="0"/>
                </a:spcBef>
                <a:spcAft>
                  <a:spcPts val="0"/>
                </a:spcAft>
                <a:buClrTx/>
                <a:buSzTx/>
                <a:buFontTx/>
                <a:buNone/>
                <a:tabLst/>
                <a:defRPr/>
              </a:pPr>
              <a:t>2023/9/25</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1BD349C-D663-4592-A09C-DDAEC02164B8}" type="slidenum">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Tree>
    <p:extLst>
      <p:ext uri="{BB962C8B-B14F-4D97-AF65-F5344CB8AC3E}">
        <p14:creationId xmlns:p14="http://schemas.microsoft.com/office/powerpoint/2010/main" val="29369271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10FFD87-4730-4E38-9CDA-89C007C09183}"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l" defTabSz="457200" rtl="0" eaLnBrk="1" fontAlgn="auto" latinLnBrk="0" hangingPunct="1">
                <a:lnSpc>
                  <a:spcPct val="100000"/>
                </a:lnSpc>
                <a:spcBef>
                  <a:spcPts val="0"/>
                </a:spcBef>
                <a:spcAft>
                  <a:spcPts val="0"/>
                </a:spcAft>
                <a:buClrTx/>
                <a:buSzTx/>
                <a:buFontTx/>
                <a:buNone/>
                <a:tabLst/>
                <a:defRPr/>
              </a:pPr>
              <a:t>2023/9/25</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1BD349C-D663-4592-A09C-DDAEC02164B8}" type="slidenum">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Tree>
    <p:extLst>
      <p:ext uri="{BB962C8B-B14F-4D97-AF65-F5344CB8AC3E}">
        <p14:creationId xmlns:p14="http://schemas.microsoft.com/office/powerpoint/2010/main" val="33559390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10FFD87-4730-4E38-9CDA-89C007C09183}"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l" defTabSz="457200" rtl="0" eaLnBrk="1" fontAlgn="auto" latinLnBrk="0" hangingPunct="1">
                <a:lnSpc>
                  <a:spcPct val="100000"/>
                </a:lnSpc>
                <a:spcBef>
                  <a:spcPts val="0"/>
                </a:spcBef>
                <a:spcAft>
                  <a:spcPts val="0"/>
                </a:spcAft>
                <a:buClrTx/>
                <a:buSzTx/>
                <a:buFontTx/>
                <a:buNone/>
                <a:tabLst/>
                <a:defRPr/>
              </a:pPr>
              <a:t>2023/9/25</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1BD349C-D663-4592-A09C-DDAEC02164B8}" type="slidenum">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Tree>
    <p:extLst>
      <p:ext uri="{BB962C8B-B14F-4D97-AF65-F5344CB8AC3E}">
        <p14:creationId xmlns:p14="http://schemas.microsoft.com/office/powerpoint/2010/main" val="4401015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839789"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6172201"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10FFD87-4730-4E38-9CDA-89C007C09183}"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l" defTabSz="457200" rtl="0" eaLnBrk="1" fontAlgn="auto" latinLnBrk="0" hangingPunct="1">
                <a:lnSpc>
                  <a:spcPct val="100000"/>
                </a:lnSpc>
                <a:spcBef>
                  <a:spcPts val="0"/>
                </a:spcBef>
                <a:spcAft>
                  <a:spcPts val="0"/>
                </a:spcAft>
                <a:buClrTx/>
                <a:buSzTx/>
                <a:buFontTx/>
                <a:buNone/>
                <a:tabLst/>
                <a:defRPr/>
              </a:pPr>
              <a:t>2023/9/25</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8" name="Footer Placeholder 7"/>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9" name="Slide Number Placeholder 8"/>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1BD349C-D663-4592-A09C-DDAEC02164B8}" type="slidenum">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Tree>
    <p:extLst>
      <p:ext uri="{BB962C8B-B14F-4D97-AF65-F5344CB8AC3E}">
        <p14:creationId xmlns:p14="http://schemas.microsoft.com/office/powerpoint/2010/main" val="22252582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10FFD87-4730-4E38-9CDA-89C007C09183}"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l" defTabSz="457200" rtl="0" eaLnBrk="1" fontAlgn="auto" latinLnBrk="0" hangingPunct="1">
                <a:lnSpc>
                  <a:spcPct val="100000"/>
                </a:lnSpc>
                <a:spcBef>
                  <a:spcPts val="0"/>
                </a:spcBef>
                <a:spcAft>
                  <a:spcPts val="0"/>
                </a:spcAft>
                <a:buClrTx/>
                <a:buSzTx/>
                <a:buFontTx/>
                <a:buNone/>
                <a:tabLst/>
                <a:defRPr/>
              </a:pPr>
              <a:t>2023/9/25</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4" name="Footer Placeholder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1BD349C-D663-4592-A09C-DDAEC02164B8}" type="slidenum">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Tree>
    <p:extLst>
      <p:ext uri="{BB962C8B-B14F-4D97-AF65-F5344CB8AC3E}">
        <p14:creationId xmlns:p14="http://schemas.microsoft.com/office/powerpoint/2010/main" val="4286080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10FFD87-4730-4E38-9CDA-89C007C09183}"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l" defTabSz="457200" rtl="0" eaLnBrk="1" fontAlgn="auto" latinLnBrk="0" hangingPunct="1">
                <a:lnSpc>
                  <a:spcPct val="100000"/>
                </a:lnSpc>
                <a:spcBef>
                  <a:spcPts val="0"/>
                </a:spcBef>
                <a:spcAft>
                  <a:spcPts val="0"/>
                </a:spcAft>
                <a:buClrTx/>
                <a:buSzTx/>
                <a:buFontTx/>
                <a:buNone/>
                <a:tabLst/>
                <a:defRPr/>
              </a:pPr>
              <a:t>2023/9/25</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3" name="Footer Placeholder 2"/>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1BD349C-D663-4592-A09C-DDAEC02164B8}" type="slidenum">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Tree>
    <p:extLst>
      <p:ext uri="{BB962C8B-B14F-4D97-AF65-F5344CB8AC3E}">
        <p14:creationId xmlns:p14="http://schemas.microsoft.com/office/powerpoint/2010/main" val="28195576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10FFD87-4730-4E38-9CDA-89C007C09183}"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l" defTabSz="457200" rtl="0" eaLnBrk="1" fontAlgn="auto" latinLnBrk="0" hangingPunct="1">
                <a:lnSpc>
                  <a:spcPct val="100000"/>
                </a:lnSpc>
                <a:spcBef>
                  <a:spcPts val="0"/>
                </a:spcBef>
                <a:spcAft>
                  <a:spcPts val="0"/>
                </a:spcAft>
                <a:buClrTx/>
                <a:buSzTx/>
                <a:buFontTx/>
                <a:buNone/>
                <a:tabLst/>
                <a:defRPr/>
              </a:pPr>
              <a:t>2023/9/25</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1BD349C-D663-4592-A09C-DDAEC02164B8}" type="slidenum">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Tree>
    <p:extLst>
      <p:ext uri="{BB962C8B-B14F-4D97-AF65-F5344CB8AC3E}">
        <p14:creationId xmlns:p14="http://schemas.microsoft.com/office/powerpoint/2010/main" val="22849505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10FFD87-4730-4E38-9CDA-89C007C09183}"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l" defTabSz="457200" rtl="0" eaLnBrk="1" fontAlgn="auto" latinLnBrk="0" hangingPunct="1">
                <a:lnSpc>
                  <a:spcPct val="100000"/>
                </a:lnSpc>
                <a:spcBef>
                  <a:spcPts val="0"/>
                </a:spcBef>
                <a:spcAft>
                  <a:spcPts val="0"/>
                </a:spcAft>
                <a:buClrTx/>
                <a:buSzTx/>
                <a:buFontTx/>
                <a:buNone/>
                <a:tabLst/>
                <a:defRPr/>
              </a:pPr>
              <a:t>2023/9/25</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1BD349C-D663-4592-A09C-DDAEC02164B8}" type="slidenum">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Tree>
    <p:extLst>
      <p:ext uri="{BB962C8B-B14F-4D97-AF65-F5344CB8AC3E}">
        <p14:creationId xmlns:p14="http://schemas.microsoft.com/office/powerpoint/2010/main" val="30856158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10FFD87-4730-4E38-9CDA-89C007C09183}"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l" defTabSz="457200" rtl="0" eaLnBrk="1" fontAlgn="auto" latinLnBrk="0" hangingPunct="1">
                <a:lnSpc>
                  <a:spcPct val="100000"/>
                </a:lnSpc>
                <a:spcBef>
                  <a:spcPts val="0"/>
                </a:spcBef>
                <a:spcAft>
                  <a:spcPts val="0"/>
                </a:spcAft>
                <a:buClrTx/>
                <a:buSzTx/>
                <a:buFontTx/>
                <a:buNone/>
                <a:tabLst/>
                <a:defRPr/>
              </a:pPr>
              <a:t>2023/9/25</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1BD349C-D663-4592-A09C-DDAEC02164B8}" type="slidenum">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Tree>
    <p:extLst>
      <p:ext uri="{BB962C8B-B14F-4D97-AF65-F5344CB8AC3E}">
        <p14:creationId xmlns:p14="http://schemas.microsoft.com/office/powerpoint/2010/main" val="35634252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10FFD87-4730-4E38-9CDA-89C007C09183}"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l" defTabSz="457200" rtl="0" eaLnBrk="1" fontAlgn="auto" latinLnBrk="0" hangingPunct="1">
                <a:lnSpc>
                  <a:spcPct val="100000"/>
                </a:lnSpc>
                <a:spcBef>
                  <a:spcPts val="0"/>
                </a:spcBef>
                <a:spcAft>
                  <a:spcPts val="0"/>
                </a:spcAft>
                <a:buClrTx/>
                <a:buSzTx/>
                <a:buFontTx/>
                <a:buNone/>
                <a:tabLst/>
                <a:defRPr/>
              </a:pPr>
              <a:t>2023/9/25</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1BD349C-D663-4592-A09C-DDAEC02164B8}" type="slidenum">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Tree>
    <p:extLst>
      <p:ext uri="{BB962C8B-B14F-4D97-AF65-F5344CB8AC3E}">
        <p14:creationId xmlns:p14="http://schemas.microsoft.com/office/powerpoint/2010/main" val="2119854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vmlDrawing" Target="../drawings/vmlDrawing3.v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image" Target="../media/image1.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oleObject" Target="../embeddings/oleObject3.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150" name="Freeform 126"/>
          <p:cNvSpPr>
            <a:spLocks/>
          </p:cNvSpPr>
          <p:nvPr/>
        </p:nvSpPr>
        <p:spPr bwMode="gray">
          <a:xfrm>
            <a:off x="-16933" y="342900"/>
            <a:ext cx="8043333" cy="679450"/>
          </a:xfrm>
          <a:custGeom>
            <a:avLst/>
            <a:gdLst/>
            <a:ahLst/>
            <a:cxnLst>
              <a:cxn ang="0">
                <a:pos x="0" y="0"/>
              </a:cxn>
              <a:cxn ang="0">
                <a:pos x="3800" y="0"/>
              </a:cxn>
              <a:cxn ang="0">
                <a:pos x="3456" y="428"/>
              </a:cxn>
            </a:cxnLst>
            <a:rect l="0" t="0" r="r" b="b"/>
            <a:pathLst>
              <a:path w="3800" h="428">
                <a:moveTo>
                  <a:pt x="0" y="0"/>
                </a:moveTo>
                <a:lnTo>
                  <a:pt x="3800" y="0"/>
                </a:lnTo>
                <a:lnTo>
                  <a:pt x="3456" y="428"/>
                </a:lnTo>
              </a:path>
            </a:pathLst>
          </a:custGeom>
          <a:noFill/>
          <a:ln w="9525">
            <a:noFill/>
            <a:round/>
            <a:headEnd/>
            <a:tailEnd/>
          </a:ln>
          <a:effectLst/>
        </p:spPr>
        <p:txBody>
          <a:bodyPr wrap="none" anchor="ctr"/>
          <a:lstStyle/>
          <a:p>
            <a:pPr>
              <a:defRPr/>
            </a:pPr>
            <a:endParaRPr lang="zh-CN" altLang="en-US">
              <a:ea typeface="宋体" pitchFamily="2" charset="-122"/>
            </a:endParaRPr>
          </a:p>
        </p:txBody>
      </p:sp>
      <p:sp>
        <p:nvSpPr>
          <p:cNvPr id="1029" name="Rectangle 5"/>
          <p:cNvSpPr>
            <a:spLocks noGrp="1" noChangeArrowheads="1"/>
          </p:cNvSpPr>
          <p:nvPr>
            <p:ph type="ftr" sz="quarter" idx="3"/>
          </p:nvPr>
        </p:nvSpPr>
        <p:spPr bwMode="gray">
          <a:xfrm>
            <a:off x="7620000" y="6483357"/>
            <a:ext cx="28448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b="1">
                <a:latin typeface="Arial" charset="0"/>
                <a:ea typeface="宋体" pitchFamily="2" charset="-122"/>
              </a:defRPr>
            </a:lvl1pPr>
          </a:lstStyle>
          <a:p>
            <a:pPr>
              <a:defRPr/>
            </a:pPr>
            <a:endParaRPr lang="zh-CN" altLang="zh-CN"/>
          </a:p>
        </p:txBody>
      </p:sp>
      <p:sp>
        <p:nvSpPr>
          <p:cNvPr id="1030" name="Rectangle 6"/>
          <p:cNvSpPr>
            <a:spLocks noGrp="1" noChangeArrowheads="1"/>
          </p:cNvSpPr>
          <p:nvPr>
            <p:ph type="sldNum" sz="quarter" idx="4"/>
          </p:nvPr>
        </p:nvSpPr>
        <p:spPr bwMode="gray">
          <a:xfrm>
            <a:off x="10566400" y="6477000"/>
            <a:ext cx="11176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atin typeface="Arial" charset="0"/>
                <a:ea typeface="宋体" charset="-122"/>
              </a:defRPr>
            </a:lvl1pPr>
          </a:lstStyle>
          <a:p>
            <a:pPr>
              <a:defRPr/>
            </a:pPr>
            <a:fld id="{063D80F8-DC27-48CA-A22D-C490E6572308}" type="slidenum">
              <a:rPr lang="en-US" altLang="zh-CN"/>
              <a:pPr>
                <a:defRPr/>
              </a:pPr>
              <a:t>‹#›</a:t>
            </a:fld>
            <a:endParaRPr lang="en-US" altLang="zh-CN"/>
          </a:p>
        </p:txBody>
      </p:sp>
      <p:sp>
        <p:nvSpPr>
          <p:cNvPr id="1028" name="Rectangle 4"/>
          <p:cNvSpPr>
            <a:spLocks noGrp="1" noChangeArrowheads="1"/>
          </p:cNvSpPr>
          <p:nvPr>
            <p:ph type="dt" sz="half" idx="2"/>
          </p:nvPr>
        </p:nvSpPr>
        <p:spPr bwMode="gray">
          <a:xfrm>
            <a:off x="4978400" y="6477000"/>
            <a:ext cx="25400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ea typeface="宋体" charset="-122"/>
              </a:defRPr>
            </a:lvl1pPr>
          </a:lstStyle>
          <a:p>
            <a:pPr>
              <a:defRPr/>
            </a:pPr>
            <a:endParaRPr lang="en-US" altLang="zh-CN"/>
          </a:p>
        </p:txBody>
      </p:sp>
      <p:sp>
        <p:nvSpPr>
          <p:cNvPr id="1032" name="Rectangle 3"/>
          <p:cNvSpPr>
            <a:spLocks noGrp="1" noChangeArrowheads="1"/>
          </p:cNvSpPr>
          <p:nvPr>
            <p:ph type="body" idx="1"/>
          </p:nvPr>
        </p:nvSpPr>
        <p:spPr bwMode="gray">
          <a:xfrm>
            <a:off x="406400" y="1066800"/>
            <a:ext cx="112776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grpSp>
        <p:nvGrpSpPr>
          <p:cNvPr id="1033" name="Group 191"/>
          <p:cNvGrpSpPr>
            <a:grpSpLocks/>
          </p:cNvGrpSpPr>
          <p:nvPr/>
        </p:nvGrpSpPr>
        <p:grpSpPr bwMode="auto">
          <a:xfrm>
            <a:off x="406401" y="800104"/>
            <a:ext cx="11169651" cy="131763"/>
            <a:chOff x="192" y="498"/>
            <a:chExt cx="5376" cy="78"/>
          </a:xfrm>
        </p:grpSpPr>
        <p:grpSp>
          <p:nvGrpSpPr>
            <p:cNvPr id="1035" name="Group 192"/>
            <p:cNvGrpSpPr>
              <a:grpSpLocks/>
            </p:cNvGrpSpPr>
            <p:nvPr userDrawn="1"/>
          </p:nvGrpSpPr>
          <p:grpSpPr bwMode="auto">
            <a:xfrm>
              <a:off x="192" y="498"/>
              <a:ext cx="5376" cy="78"/>
              <a:chOff x="192" y="498"/>
              <a:chExt cx="5376" cy="78"/>
            </a:xfrm>
          </p:grpSpPr>
          <p:sp>
            <p:nvSpPr>
              <p:cNvPr id="1217" name="Rectangle 193"/>
              <p:cNvSpPr>
                <a:spLocks noChangeArrowheads="1"/>
              </p:cNvSpPr>
              <p:nvPr userDrawn="1"/>
            </p:nvSpPr>
            <p:spPr bwMode="gray">
              <a:xfrm>
                <a:off x="192" y="498"/>
                <a:ext cx="1488" cy="78"/>
              </a:xfrm>
              <a:prstGeom prst="rect">
                <a:avLst/>
              </a:prstGeom>
              <a:solidFill>
                <a:schemeClr val="tx2"/>
              </a:solidFill>
              <a:ln w="9525">
                <a:noFill/>
                <a:miter lim="800000"/>
                <a:headEnd/>
                <a:tailEnd/>
              </a:ln>
              <a:effectLst/>
            </p:spPr>
            <p:txBody>
              <a:bodyPr wrap="none" anchor="ctr"/>
              <a:lstStyle/>
              <a:p>
                <a:pPr>
                  <a:defRPr/>
                </a:pPr>
                <a:endParaRPr lang="zh-CN" altLang="en-US">
                  <a:ea typeface="宋体" pitchFamily="2" charset="-122"/>
                </a:endParaRPr>
              </a:p>
            </p:txBody>
          </p:sp>
          <p:sp>
            <p:nvSpPr>
              <p:cNvPr id="1218" name="Line 194"/>
              <p:cNvSpPr>
                <a:spLocks noChangeShapeType="1"/>
              </p:cNvSpPr>
              <p:nvPr userDrawn="1"/>
            </p:nvSpPr>
            <p:spPr bwMode="gray">
              <a:xfrm>
                <a:off x="192" y="576"/>
                <a:ext cx="5376" cy="0"/>
              </a:xfrm>
              <a:prstGeom prst="line">
                <a:avLst/>
              </a:prstGeom>
              <a:noFill/>
              <a:ln w="19050">
                <a:solidFill>
                  <a:schemeClr val="tx2"/>
                </a:solidFill>
                <a:round/>
                <a:headEnd/>
                <a:tailEnd/>
              </a:ln>
              <a:effectLst/>
            </p:spPr>
            <p:txBody>
              <a:bodyPr/>
              <a:lstStyle/>
              <a:p>
                <a:pPr>
                  <a:defRPr/>
                </a:pPr>
                <a:endParaRPr lang="zh-CN" altLang="en-US"/>
              </a:p>
            </p:txBody>
          </p:sp>
        </p:grpSp>
        <p:pic>
          <p:nvPicPr>
            <p:cNvPr id="1036" name="Picture 195" descr="Untitled-4 copy"/>
            <p:cNvPicPr>
              <a:picLocks noChangeAspect="1" noChangeArrowheads="1"/>
            </p:cNvPicPr>
            <p:nvPr userDrawn="1"/>
          </p:nvPicPr>
          <p:blipFill>
            <a:blip r:embed="rId15" cstate="print"/>
            <a:srcRect/>
            <a:stretch>
              <a:fillRect/>
            </a:stretch>
          </p:blipFill>
          <p:spPr bwMode="gray">
            <a:xfrm>
              <a:off x="300" y="504"/>
              <a:ext cx="72" cy="72"/>
            </a:xfrm>
            <a:prstGeom prst="rect">
              <a:avLst/>
            </a:prstGeom>
            <a:noFill/>
            <a:ln w="9525">
              <a:noFill/>
              <a:miter lim="800000"/>
              <a:headEnd/>
              <a:tailEnd/>
            </a:ln>
          </p:spPr>
        </p:pic>
      </p:grpSp>
      <p:sp>
        <p:nvSpPr>
          <p:cNvPr id="1034" name="Rectangle 2"/>
          <p:cNvSpPr>
            <a:spLocks noGrp="1" noChangeArrowheads="1"/>
          </p:cNvSpPr>
          <p:nvPr>
            <p:ph type="title"/>
          </p:nvPr>
        </p:nvSpPr>
        <p:spPr bwMode="black">
          <a:xfrm>
            <a:off x="406400" y="152404"/>
            <a:ext cx="8229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graphicFrame>
        <p:nvGraphicFramePr>
          <p:cNvPr id="1026" name="Object 267"/>
          <p:cNvGraphicFramePr>
            <a:graphicFrameLocks noChangeAspect="1"/>
          </p:cNvGraphicFramePr>
          <p:nvPr/>
        </p:nvGraphicFramePr>
        <p:xfrm>
          <a:off x="10621433" y="42864"/>
          <a:ext cx="1524000" cy="858837"/>
        </p:xfrm>
        <a:graphic>
          <a:graphicData uri="http://schemas.openxmlformats.org/presentationml/2006/ole">
            <mc:AlternateContent xmlns:mc="http://schemas.openxmlformats.org/markup-compatibility/2006">
              <mc:Choice xmlns:v="urn:schemas-microsoft-com:vml" Requires="v">
                <p:oleObj spid="_x0000_s1164" name="位图图像" r:id="rId16" imgW="2247619" imgH="1685714" progId="PBrush">
                  <p:embed/>
                </p:oleObj>
              </mc:Choice>
              <mc:Fallback>
                <p:oleObj name="位图图像" r:id="rId16" imgW="2247619" imgH="1685714" progId="PBrush">
                  <p:embed/>
                  <p:pic>
                    <p:nvPicPr>
                      <p:cNvPr id="0" name="Picture 3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621433" y="42864"/>
                        <a:ext cx="1524000" cy="858837"/>
                      </a:xfrm>
                      <a:prstGeom prst="rect">
                        <a:avLst/>
                      </a:prstGeom>
                      <a:noFill/>
                      <a:ln>
                        <a:noFill/>
                      </a:ln>
                      <a:effectLst/>
                      <a:extLst>
                        <a:ext uri="{909E8E84-426E-40DD-AFC4-6F175D3DCCD1}">
                          <a14:hiddenFill xmlns:a14="http://schemas.microsoft.com/office/drawing/2010/main">
                            <a:solidFill>
                              <a:srgbClr val="9FD56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DED9CC"/>
                              </a:outerShdw>
                            </a:effectLst>
                          </a14:hiddenEffects>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911" r:id="rId1"/>
    <p:sldLayoutId id="2147483901" r:id="rId2"/>
    <p:sldLayoutId id="2147483902" r:id="rId3"/>
    <p:sldLayoutId id="2147483903" r:id="rId4"/>
    <p:sldLayoutId id="2147483904" r:id="rId5"/>
    <p:sldLayoutId id="2147483905" r:id="rId6"/>
    <p:sldLayoutId id="2147483906" r:id="rId7"/>
    <p:sldLayoutId id="2147483907" r:id="rId8"/>
    <p:sldLayoutId id="2147483908" r:id="rId9"/>
    <p:sldLayoutId id="2147483909" r:id="rId10"/>
    <p:sldLayoutId id="2147483910" r:id="rId11"/>
    <p:sldLayoutId id="2147483914" r:id="rId12"/>
  </p:sldLayoutIdLst>
  <p:hf hdr="0" ftr="0" dt="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189" algn="l" rtl="0" eaLnBrk="1" fontAlgn="base" hangingPunct="1">
        <a:spcBef>
          <a:spcPct val="0"/>
        </a:spcBef>
        <a:spcAft>
          <a:spcPct val="0"/>
        </a:spcAft>
        <a:defRPr sz="3200">
          <a:solidFill>
            <a:schemeClr val="tx2"/>
          </a:solidFill>
          <a:latin typeface="Arial" charset="0"/>
        </a:defRPr>
      </a:lvl6pPr>
      <a:lvl7pPr marL="914377" algn="l" rtl="0" eaLnBrk="1" fontAlgn="base" hangingPunct="1">
        <a:spcBef>
          <a:spcPct val="0"/>
        </a:spcBef>
        <a:spcAft>
          <a:spcPct val="0"/>
        </a:spcAft>
        <a:defRPr sz="3200">
          <a:solidFill>
            <a:schemeClr val="tx2"/>
          </a:solidFill>
          <a:latin typeface="Arial" charset="0"/>
        </a:defRPr>
      </a:lvl7pPr>
      <a:lvl8pPr marL="1371566" algn="l" rtl="0" eaLnBrk="1" fontAlgn="base" hangingPunct="1">
        <a:spcBef>
          <a:spcPct val="0"/>
        </a:spcBef>
        <a:spcAft>
          <a:spcPct val="0"/>
        </a:spcAft>
        <a:defRPr sz="3200">
          <a:solidFill>
            <a:schemeClr val="tx2"/>
          </a:solidFill>
          <a:latin typeface="Arial" charset="0"/>
        </a:defRPr>
      </a:lvl8pPr>
      <a:lvl9pPr marL="1828754" algn="l" rtl="0" eaLnBrk="1" fontAlgn="base" hangingPunct="1">
        <a:spcBef>
          <a:spcPct val="0"/>
        </a:spcBef>
        <a:spcAft>
          <a:spcPct val="0"/>
        </a:spcAft>
        <a:defRPr sz="3200">
          <a:solidFill>
            <a:schemeClr val="tx2"/>
          </a:solidFill>
          <a:latin typeface="Arial" charset="0"/>
        </a:defRPr>
      </a:lvl9pPr>
    </p:titleStyle>
    <p:bodyStyle>
      <a:lvl1pPr marL="342891" indent="-342891"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32" indent="-285744"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2971" indent="-228594" algn="l" rtl="0" eaLnBrk="0" fontAlgn="base" hangingPunct="0">
        <a:spcBef>
          <a:spcPct val="20000"/>
        </a:spcBef>
        <a:spcAft>
          <a:spcPct val="0"/>
        </a:spcAft>
        <a:buClr>
          <a:schemeClr val="accent2"/>
        </a:buClr>
        <a:buChar char="•"/>
        <a:defRPr sz="2400">
          <a:solidFill>
            <a:schemeClr val="tx1"/>
          </a:solidFill>
          <a:latin typeface="+mn-lt"/>
        </a:defRPr>
      </a:lvl3pPr>
      <a:lvl4pPr marL="1600160" indent="-228594" algn="l" rtl="0" eaLnBrk="0" fontAlgn="base" hangingPunct="0">
        <a:spcBef>
          <a:spcPct val="20000"/>
        </a:spcBef>
        <a:spcAft>
          <a:spcPct val="0"/>
        </a:spcAft>
        <a:buChar char="–"/>
        <a:defRPr sz="2000">
          <a:solidFill>
            <a:schemeClr val="tx1"/>
          </a:solidFill>
          <a:latin typeface="+mn-lt"/>
        </a:defRPr>
      </a:lvl4pPr>
      <a:lvl5pPr marL="2057349" indent="-228594" algn="l" rtl="0" eaLnBrk="0" fontAlgn="base" hangingPunct="0">
        <a:spcBef>
          <a:spcPct val="20000"/>
        </a:spcBef>
        <a:spcAft>
          <a:spcPct val="0"/>
        </a:spcAft>
        <a:buChar char="»"/>
        <a:defRPr sz="2000">
          <a:solidFill>
            <a:schemeClr val="tx1"/>
          </a:solidFill>
          <a:latin typeface="+mn-lt"/>
        </a:defRPr>
      </a:lvl5pPr>
      <a:lvl6pPr marL="2514537" indent="-228594" algn="l" rtl="0" eaLnBrk="1" fontAlgn="base" hangingPunct="1">
        <a:spcBef>
          <a:spcPct val="20000"/>
        </a:spcBef>
        <a:spcAft>
          <a:spcPct val="0"/>
        </a:spcAft>
        <a:buChar char="»"/>
        <a:defRPr sz="2000">
          <a:solidFill>
            <a:schemeClr val="tx1"/>
          </a:solidFill>
          <a:latin typeface="+mn-lt"/>
        </a:defRPr>
      </a:lvl6pPr>
      <a:lvl7pPr marL="2971726" indent="-228594" algn="l" rtl="0" eaLnBrk="1" fontAlgn="base" hangingPunct="1">
        <a:spcBef>
          <a:spcPct val="20000"/>
        </a:spcBef>
        <a:spcAft>
          <a:spcPct val="0"/>
        </a:spcAft>
        <a:buChar char="»"/>
        <a:defRPr sz="2000">
          <a:solidFill>
            <a:schemeClr val="tx1"/>
          </a:solidFill>
          <a:latin typeface="+mn-lt"/>
        </a:defRPr>
      </a:lvl7pPr>
      <a:lvl8pPr marL="3428914" indent="-228594" algn="l" rtl="0" eaLnBrk="1" fontAlgn="base" hangingPunct="1">
        <a:spcBef>
          <a:spcPct val="20000"/>
        </a:spcBef>
        <a:spcAft>
          <a:spcPct val="0"/>
        </a:spcAft>
        <a:buChar char="»"/>
        <a:defRPr sz="2000">
          <a:solidFill>
            <a:schemeClr val="tx1"/>
          </a:solidFill>
          <a:latin typeface="+mn-lt"/>
        </a:defRPr>
      </a:lvl8pPr>
      <a:lvl9pPr marL="3886103" indent="-228594"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150" name="Freeform 126"/>
          <p:cNvSpPr>
            <a:spLocks/>
          </p:cNvSpPr>
          <p:nvPr/>
        </p:nvSpPr>
        <p:spPr bwMode="gray">
          <a:xfrm>
            <a:off x="-16933" y="342900"/>
            <a:ext cx="8043333" cy="679450"/>
          </a:xfrm>
          <a:custGeom>
            <a:avLst/>
            <a:gdLst/>
            <a:ahLst/>
            <a:cxnLst>
              <a:cxn ang="0">
                <a:pos x="0" y="0"/>
              </a:cxn>
              <a:cxn ang="0">
                <a:pos x="3800" y="0"/>
              </a:cxn>
              <a:cxn ang="0">
                <a:pos x="3456" y="428"/>
              </a:cxn>
            </a:cxnLst>
            <a:rect l="0" t="0" r="r" b="b"/>
            <a:pathLst>
              <a:path w="3800" h="428">
                <a:moveTo>
                  <a:pt x="0" y="0"/>
                </a:moveTo>
                <a:lnTo>
                  <a:pt x="3800" y="0"/>
                </a:lnTo>
                <a:lnTo>
                  <a:pt x="3456" y="428"/>
                </a:lnTo>
              </a:path>
            </a:pathLst>
          </a:custGeom>
          <a:noFill/>
          <a:ln w="9525">
            <a:noFill/>
            <a:round/>
            <a:headEnd/>
            <a:tailEnd/>
          </a:ln>
          <a:effectLst/>
        </p:spPr>
        <p:txBody>
          <a:bodyPr wrap="none" anchor="ctr"/>
          <a:lstStyle/>
          <a:p>
            <a:pPr>
              <a:defRPr/>
            </a:pPr>
            <a:endParaRPr lang="zh-CN" altLang="en-US">
              <a:solidFill>
                <a:srgbClr val="000000"/>
              </a:solidFill>
              <a:ea typeface="宋体" pitchFamily="2" charset="-122"/>
            </a:endParaRPr>
          </a:p>
        </p:txBody>
      </p:sp>
      <p:sp>
        <p:nvSpPr>
          <p:cNvPr id="1029" name="Rectangle 5"/>
          <p:cNvSpPr>
            <a:spLocks noGrp="1" noChangeArrowheads="1"/>
          </p:cNvSpPr>
          <p:nvPr>
            <p:ph type="ftr" sz="quarter" idx="3"/>
          </p:nvPr>
        </p:nvSpPr>
        <p:spPr bwMode="gray">
          <a:xfrm>
            <a:off x="7620000" y="6483357"/>
            <a:ext cx="28448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b="1">
                <a:latin typeface="Arial" charset="0"/>
                <a:ea typeface="宋体" pitchFamily="2" charset="-122"/>
              </a:defRPr>
            </a:lvl1pPr>
          </a:lstStyle>
          <a:p>
            <a:pPr>
              <a:defRPr/>
            </a:pPr>
            <a:r>
              <a:rPr lang="en-US" altLang="zh-CN">
                <a:solidFill>
                  <a:srgbClr val="000000"/>
                </a:solidFill>
              </a:rPr>
              <a:t>1</a:t>
            </a:r>
            <a:endParaRPr lang="zh-CN" altLang="zh-CN">
              <a:solidFill>
                <a:srgbClr val="000000"/>
              </a:solidFill>
            </a:endParaRPr>
          </a:p>
        </p:txBody>
      </p:sp>
      <p:sp>
        <p:nvSpPr>
          <p:cNvPr id="1030" name="Rectangle 6"/>
          <p:cNvSpPr>
            <a:spLocks noGrp="1" noChangeArrowheads="1"/>
          </p:cNvSpPr>
          <p:nvPr>
            <p:ph type="sldNum" sz="quarter" idx="4"/>
          </p:nvPr>
        </p:nvSpPr>
        <p:spPr bwMode="gray">
          <a:xfrm>
            <a:off x="10566400" y="6477000"/>
            <a:ext cx="11176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atin typeface="Arial" charset="0"/>
                <a:ea typeface="宋体" charset="-122"/>
              </a:defRPr>
            </a:lvl1pPr>
          </a:lstStyle>
          <a:p>
            <a:pPr>
              <a:defRPr/>
            </a:pPr>
            <a:fld id="{063D80F8-DC27-48CA-A22D-C490E6572308}" type="slidenum">
              <a:rPr lang="en-US" altLang="zh-CN">
                <a:solidFill>
                  <a:srgbClr val="000000"/>
                </a:solidFill>
              </a:rPr>
              <a:pPr>
                <a:defRPr/>
              </a:pPr>
              <a:t>‹#›</a:t>
            </a:fld>
            <a:endParaRPr lang="en-US" altLang="zh-CN">
              <a:solidFill>
                <a:srgbClr val="000000"/>
              </a:solidFill>
            </a:endParaRPr>
          </a:p>
        </p:txBody>
      </p:sp>
      <p:sp>
        <p:nvSpPr>
          <p:cNvPr id="1028" name="Rectangle 4"/>
          <p:cNvSpPr>
            <a:spLocks noGrp="1" noChangeArrowheads="1"/>
          </p:cNvSpPr>
          <p:nvPr>
            <p:ph type="dt" sz="half" idx="2"/>
          </p:nvPr>
        </p:nvSpPr>
        <p:spPr bwMode="gray">
          <a:xfrm>
            <a:off x="4978400" y="6477000"/>
            <a:ext cx="25400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ea typeface="宋体" charset="-122"/>
              </a:defRPr>
            </a:lvl1pPr>
          </a:lstStyle>
          <a:p>
            <a:pPr>
              <a:defRPr/>
            </a:pPr>
            <a:endParaRPr lang="en-US" altLang="zh-CN">
              <a:solidFill>
                <a:srgbClr val="000000"/>
              </a:solidFill>
            </a:endParaRPr>
          </a:p>
        </p:txBody>
      </p:sp>
      <p:sp>
        <p:nvSpPr>
          <p:cNvPr id="1032" name="Rectangle 3"/>
          <p:cNvSpPr>
            <a:spLocks noGrp="1" noChangeArrowheads="1"/>
          </p:cNvSpPr>
          <p:nvPr>
            <p:ph type="body" idx="1"/>
          </p:nvPr>
        </p:nvSpPr>
        <p:spPr bwMode="gray">
          <a:xfrm>
            <a:off x="406400" y="1066800"/>
            <a:ext cx="112776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grpSp>
        <p:nvGrpSpPr>
          <p:cNvPr id="1033" name="Group 191"/>
          <p:cNvGrpSpPr>
            <a:grpSpLocks/>
          </p:cNvGrpSpPr>
          <p:nvPr/>
        </p:nvGrpSpPr>
        <p:grpSpPr bwMode="auto">
          <a:xfrm>
            <a:off x="406401" y="800104"/>
            <a:ext cx="11169651" cy="131763"/>
            <a:chOff x="192" y="498"/>
            <a:chExt cx="5376" cy="78"/>
          </a:xfrm>
        </p:grpSpPr>
        <p:grpSp>
          <p:nvGrpSpPr>
            <p:cNvPr id="1035" name="Group 192"/>
            <p:cNvGrpSpPr>
              <a:grpSpLocks/>
            </p:cNvGrpSpPr>
            <p:nvPr userDrawn="1"/>
          </p:nvGrpSpPr>
          <p:grpSpPr bwMode="auto">
            <a:xfrm>
              <a:off x="192" y="498"/>
              <a:ext cx="5376" cy="78"/>
              <a:chOff x="192" y="498"/>
              <a:chExt cx="5376" cy="78"/>
            </a:xfrm>
          </p:grpSpPr>
          <p:sp>
            <p:nvSpPr>
              <p:cNvPr id="1217" name="Rectangle 193"/>
              <p:cNvSpPr>
                <a:spLocks noChangeArrowheads="1"/>
              </p:cNvSpPr>
              <p:nvPr userDrawn="1"/>
            </p:nvSpPr>
            <p:spPr bwMode="gray">
              <a:xfrm>
                <a:off x="192" y="498"/>
                <a:ext cx="1488" cy="78"/>
              </a:xfrm>
              <a:prstGeom prst="rect">
                <a:avLst/>
              </a:prstGeom>
              <a:solidFill>
                <a:schemeClr val="tx2"/>
              </a:solidFill>
              <a:ln w="9525">
                <a:noFill/>
                <a:miter lim="800000"/>
                <a:headEnd/>
                <a:tailEnd/>
              </a:ln>
              <a:effectLst/>
            </p:spPr>
            <p:txBody>
              <a:bodyPr wrap="none" anchor="ctr"/>
              <a:lstStyle/>
              <a:p>
                <a:pPr>
                  <a:defRPr/>
                </a:pPr>
                <a:endParaRPr lang="zh-CN" altLang="en-US">
                  <a:solidFill>
                    <a:srgbClr val="000000"/>
                  </a:solidFill>
                  <a:ea typeface="宋体" pitchFamily="2" charset="-122"/>
                </a:endParaRPr>
              </a:p>
            </p:txBody>
          </p:sp>
          <p:sp>
            <p:nvSpPr>
              <p:cNvPr id="1218" name="Line 194"/>
              <p:cNvSpPr>
                <a:spLocks noChangeShapeType="1"/>
              </p:cNvSpPr>
              <p:nvPr userDrawn="1"/>
            </p:nvSpPr>
            <p:spPr bwMode="gray">
              <a:xfrm>
                <a:off x="192" y="576"/>
                <a:ext cx="5376" cy="0"/>
              </a:xfrm>
              <a:prstGeom prst="line">
                <a:avLst/>
              </a:prstGeom>
              <a:noFill/>
              <a:ln w="19050">
                <a:solidFill>
                  <a:schemeClr val="tx2"/>
                </a:solidFill>
                <a:round/>
                <a:headEnd/>
                <a:tailEnd/>
              </a:ln>
              <a:effectLst/>
            </p:spPr>
            <p:txBody>
              <a:bodyPr/>
              <a:lstStyle/>
              <a:p>
                <a:pPr>
                  <a:defRPr/>
                </a:pPr>
                <a:endParaRPr lang="zh-CN" altLang="en-US">
                  <a:solidFill>
                    <a:srgbClr val="000000"/>
                  </a:solidFill>
                </a:endParaRPr>
              </a:p>
            </p:txBody>
          </p:sp>
        </p:grpSp>
        <p:pic>
          <p:nvPicPr>
            <p:cNvPr id="1036" name="Picture 195" descr="Untitled-4 copy"/>
            <p:cNvPicPr>
              <a:picLocks noChangeAspect="1" noChangeArrowheads="1"/>
            </p:cNvPicPr>
            <p:nvPr userDrawn="1"/>
          </p:nvPicPr>
          <p:blipFill>
            <a:blip r:embed="rId14"/>
            <a:srcRect/>
            <a:stretch>
              <a:fillRect/>
            </a:stretch>
          </p:blipFill>
          <p:spPr bwMode="gray">
            <a:xfrm>
              <a:off x="300" y="504"/>
              <a:ext cx="72" cy="72"/>
            </a:xfrm>
            <a:prstGeom prst="rect">
              <a:avLst/>
            </a:prstGeom>
            <a:noFill/>
            <a:ln w="9525">
              <a:noFill/>
              <a:miter lim="800000"/>
              <a:headEnd/>
              <a:tailEnd/>
            </a:ln>
          </p:spPr>
        </p:pic>
      </p:grpSp>
      <p:sp>
        <p:nvSpPr>
          <p:cNvPr id="1034" name="Rectangle 2"/>
          <p:cNvSpPr>
            <a:spLocks noGrp="1" noChangeArrowheads="1"/>
          </p:cNvSpPr>
          <p:nvPr>
            <p:ph type="title"/>
          </p:nvPr>
        </p:nvSpPr>
        <p:spPr bwMode="black">
          <a:xfrm>
            <a:off x="406400" y="152404"/>
            <a:ext cx="8229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graphicFrame>
        <p:nvGraphicFramePr>
          <p:cNvPr id="1026" name="Object 267"/>
          <p:cNvGraphicFramePr>
            <a:graphicFrameLocks noChangeAspect="1"/>
          </p:cNvGraphicFramePr>
          <p:nvPr/>
        </p:nvGraphicFramePr>
        <p:xfrm>
          <a:off x="10621433" y="42864"/>
          <a:ext cx="1524000" cy="858837"/>
        </p:xfrm>
        <a:graphic>
          <a:graphicData uri="http://schemas.openxmlformats.org/presentationml/2006/ole">
            <mc:AlternateContent xmlns:mc="http://schemas.openxmlformats.org/markup-compatibility/2006">
              <mc:Choice xmlns:v="urn:schemas-microsoft-com:vml" Requires="v">
                <p:oleObj spid="_x0000_s332892" name="位图图像" r:id="rId15" imgW="2247619" imgH="1685714" progId="PBrush">
                  <p:embed/>
                </p:oleObj>
              </mc:Choice>
              <mc:Fallback>
                <p:oleObj name="位图图像" r:id="rId15" imgW="2247619" imgH="1685714" progId="PBrush">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621433" y="42864"/>
                        <a:ext cx="1524000" cy="858837"/>
                      </a:xfrm>
                      <a:prstGeom prst="rect">
                        <a:avLst/>
                      </a:prstGeom>
                      <a:noFill/>
                      <a:ln>
                        <a:noFill/>
                      </a:ln>
                      <a:effectLst/>
                      <a:extLst>
                        <a:ext uri="{909E8E84-426E-40DD-AFC4-6F175D3DCCD1}">
                          <a14:hiddenFill xmlns:a14="http://schemas.microsoft.com/office/drawing/2010/main">
                            <a:solidFill>
                              <a:srgbClr val="9FD56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DED9CC"/>
                              </a:outerShdw>
                            </a:effectLst>
                          </a14:hiddenEffects>
                        </a:ext>
                      </a:extLst>
                    </p:spPr>
                  </p:pic>
                </p:oleObj>
              </mc:Fallback>
            </mc:AlternateContent>
          </a:graphicData>
        </a:graphic>
      </p:graphicFrame>
    </p:spTree>
    <p:extLst>
      <p:ext uri="{BB962C8B-B14F-4D97-AF65-F5344CB8AC3E}">
        <p14:creationId xmlns:p14="http://schemas.microsoft.com/office/powerpoint/2010/main" val="1502064928"/>
      </p:ext>
    </p:extLst>
  </p:cSld>
  <p:clrMap bg1="lt1" tx1="dk1" bg2="lt2" tx2="dk2" accent1="accent1" accent2="accent2" accent3="accent3" accent4="accent4" accent5="accent5" accent6="accent6" hlink="hlink" folHlink="folHlink"/>
  <p:sldLayoutIdLst>
    <p:sldLayoutId id="2147483917" r:id="rId1"/>
    <p:sldLayoutId id="2147483918" r:id="rId2"/>
    <p:sldLayoutId id="2147483919" r:id="rId3"/>
    <p:sldLayoutId id="2147483920" r:id="rId4"/>
    <p:sldLayoutId id="2147483921" r:id="rId5"/>
    <p:sldLayoutId id="2147483922" r:id="rId6"/>
    <p:sldLayoutId id="2147483923" r:id="rId7"/>
    <p:sldLayoutId id="2147483924" r:id="rId8"/>
    <p:sldLayoutId id="2147483925" r:id="rId9"/>
    <p:sldLayoutId id="2147483926" r:id="rId10"/>
    <p:sldLayoutId id="2147483927" r:id="rId11"/>
  </p:sldLayoutIdLst>
  <p:hf hdr="0" dt="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189" algn="l" rtl="0" eaLnBrk="1" fontAlgn="base" hangingPunct="1">
        <a:spcBef>
          <a:spcPct val="0"/>
        </a:spcBef>
        <a:spcAft>
          <a:spcPct val="0"/>
        </a:spcAft>
        <a:defRPr sz="3200">
          <a:solidFill>
            <a:schemeClr val="tx2"/>
          </a:solidFill>
          <a:latin typeface="Arial" charset="0"/>
        </a:defRPr>
      </a:lvl6pPr>
      <a:lvl7pPr marL="914377" algn="l" rtl="0" eaLnBrk="1" fontAlgn="base" hangingPunct="1">
        <a:spcBef>
          <a:spcPct val="0"/>
        </a:spcBef>
        <a:spcAft>
          <a:spcPct val="0"/>
        </a:spcAft>
        <a:defRPr sz="3200">
          <a:solidFill>
            <a:schemeClr val="tx2"/>
          </a:solidFill>
          <a:latin typeface="Arial" charset="0"/>
        </a:defRPr>
      </a:lvl7pPr>
      <a:lvl8pPr marL="1371566" algn="l" rtl="0" eaLnBrk="1" fontAlgn="base" hangingPunct="1">
        <a:spcBef>
          <a:spcPct val="0"/>
        </a:spcBef>
        <a:spcAft>
          <a:spcPct val="0"/>
        </a:spcAft>
        <a:defRPr sz="3200">
          <a:solidFill>
            <a:schemeClr val="tx2"/>
          </a:solidFill>
          <a:latin typeface="Arial" charset="0"/>
        </a:defRPr>
      </a:lvl8pPr>
      <a:lvl9pPr marL="1828754" algn="l" rtl="0" eaLnBrk="1" fontAlgn="base" hangingPunct="1">
        <a:spcBef>
          <a:spcPct val="0"/>
        </a:spcBef>
        <a:spcAft>
          <a:spcPct val="0"/>
        </a:spcAft>
        <a:defRPr sz="3200">
          <a:solidFill>
            <a:schemeClr val="tx2"/>
          </a:solidFill>
          <a:latin typeface="Arial" charset="0"/>
        </a:defRPr>
      </a:lvl9pPr>
    </p:titleStyle>
    <p:bodyStyle>
      <a:lvl1pPr marL="342891" indent="-342891"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32" indent="-285744"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2971" indent="-228594" algn="l" rtl="0" eaLnBrk="0" fontAlgn="base" hangingPunct="0">
        <a:spcBef>
          <a:spcPct val="20000"/>
        </a:spcBef>
        <a:spcAft>
          <a:spcPct val="0"/>
        </a:spcAft>
        <a:buClr>
          <a:schemeClr val="accent2"/>
        </a:buClr>
        <a:buChar char="•"/>
        <a:defRPr sz="2400">
          <a:solidFill>
            <a:schemeClr val="tx1"/>
          </a:solidFill>
          <a:latin typeface="+mn-lt"/>
        </a:defRPr>
      </a:lvl3pPr>
      <a:lvl4pPr marL="1600160" indent="-228594" algn="l" rtl="0" eaLnBrk="0" fontAlgn="base" hangingPunct="0">
        <a:spcBef>
          <a:spcPct val="20000"/>
        </a:spcBef>
        <a:spcAft>
          <a:spcPct val="0"/>
        </a:spcAft>
        <a:buChar char="–"/>
        <a:defRPr sz="2000">
          <a:solidFill>
            <a:schemeClr val="tx1"/>
          </a:solidFill>
          <a:latin typeface="+mn-lt"/>
        </a:defRPr>
      </a:lvl4pPr>
      <a:lvl5pPr marL="2057349" indent="-228594" algn="l" rtl="0" eaLnBrk="0" fontAlgn="base" hangingPunct="0">
        <a:spcBef>
          <a:spcPct val="20000"/>
        </a:spcBef>
        <a:spcAft>
          <a:spcPct val="0"/>
        </a:spcAft>
        <a:buChar char="»"/>
        <a:defRPr sz="2000">
          <a:solidFill>
            <a:schemeClr val="tx1"/>
          </a:solidFill>
          <a:latin typeface="+mn-lt"/>
        </a:defRPr>
      </a:lvl5pPr>
      <a:lvl6pPr marL="2514537" indent="-228594" algn="l" rtl="0" eaLnBrk="1" fontAlgn="base" hangingPunct="1">
        <a:spcBef>
          <a:spcPct val="20000"/>
        </a:spcBef>
        <a:spcAft>
          <a:spcPct val="0"/>
        </a:spcAft>
        <a:buChar char="»"/>
        <a:defRPr sz="2000">
          <a:solidFill>
            <a:schemeClr val="tx1"/>
          </a:solidFill>
          <a:latin typeface="+mn-lt"/>
        </a:defRPr>
      </a:lvl6pPr>
      <a:lvl7pPr marL="2971726" indent="-228594" algn="l" rtl="0" eaLnBrk="1" fontAlgn="base" hangingPunct="1">
        <a:spcBef>
          <a:spcPct val="20000"/>
        </a:spcBef>
        <a:spcAft>
          <a:spcPct val="0"/>
        </a:spcAft>
        <a:buChar char="»"/>
        <a:defRPr sz="2000">
          <a:solidFill>
            <a:schemeClr val="tx1"/>
          </a:solidFill>
          <a:latin typeface="+mn-lt"/>
        </a:defRPr>
      </a:lvl7pPr>
      <a:lvl8pPr marL="3428914" indent="-228594" algn="l" rtl="0" eaLnBrk="1" fontAlgn="base" hangingPunct="1">
        <a:spcBef>
          <a:spcPct val="20000"/>
        </a:spcBef>
        <a:spcAft>
          <a:spcPct val="0"/>
        </a:spcAft>
        <a:buChar char="»"/>
        <a:defRPr sz="2000">
          <a:solidFill>
            <a:schemeClr val="tx1"/>
          </a:solidFill>
          <a:latin typeface="+mn-lt"/>
        </a:defRPr>
      </a:lvl8pPr>
      <a:lvl9pPr marL="3886103" indent="-228594"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010FFD87-4730-4E38-9CDA-89C007C09183}"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l" defTabSz="457200" rtl="0" eaLnBrk="1" fontAlgn="auto" latinLnBrk="0" hangingPunct="1">
                <a:lnSpc>
                  <a:spcPct val="100000"/>
                </a:lnSpc>
                <a:spcBef>
                  <a:spcPts val="0"/>
                </a:spcBef>
                <a:spcAft>
                  <a:spcPts val="0"/>
                </a:spcAft>
                <a:buClrTx/>
                <a:buSzTx/>
                <a:buFontTx/>
                <a:buNone/>
                <a:tabLst/>
                <a:defRPr/>
              </a:pPr>
              <a:t>2023/9/25</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41BD349C-D663-4592-A09C-DDAEC02164B8}" type="slidenum">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panose="020F0502020204030204"/>
              <a:ea typeface="新細明體"/>
              <a:cs typeface="+mn-cs"/>
            </a:endParaRPr>
          </a:p>
        </p:txBody>
      </p:sp>
    </p:spTree>
    <p:extLst>
      <p:ext uri="{BB962C8B-B14F-4D97-AF65-F5344CB8AC3E}">
        <p14:creationId xmlns:p14="http://schemas.microsoft.com/office/powerpoint/2010/main" val="2478879639"/>
      </p:ext>
    </p:extLst>
  </p:cSld>
  <p:clrMap bg1="lt1" tx1="dk1" bg2="lt2" tx2="dk2" accent1="accent1" accent2="accent2" accent3="accent3" accent4="accent4" accent5="accent5" accent6="accent6" hlink="hlink" folHlink="folHlink"/>
  <p:sldLayoutIdLst>
    <p:sldLayoutId id="2147483929" r:id="rId1"/>
    <p:sldLayoutId id="2147483930" r:id="rId2"/>
    <p:sldLayoutId id="2147483931" r:id="rId3"/>
    <p:sldLayoutId id="2147483932" r:id="rId4"/>
    <p:sldLayoutId id="2147483933" r:id="rId5"/>
    <p:sldLayoutId id="2147483934" r:id="rId6"/>
    <p:sldLayoutId id="2147483935" r:id="rId7"/>
    <p:sldLayoutId id="2147483936" r:id="rId8"/>
    <p:sldLayoutId id="2147483937" r:id="rId9"/>
    <p:sldLayoutId id="2147483938" r:id="rId10"/>
    <p:sldLayoutId id="214748393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13.wmf"/><Relationship Id="rId3" Type="http://schemas.openxmlformats.org/officeDocument/2006/relationships/notesSlide" Target="../notesSlides/notesSlide5.xml"/><Relationship Id="rId7" Type="http://schemas.openxmlformats.org/officeDocument/2006/relationships/image" Target="../media/image11.wmf"/><Relationship Id="rId12" Type="http://schemas.openxmlformats.org/officeDocument/2006/relationships/oleObject" Target="../embeddings/oleObject8.bin"/><Relationship Id="rId17" Type="http://schemas.openxmlformats.org/officeDocument/2006/relationships/image" Target="../media/image19.png"/><Relationship Id="rId2" Type="http://schemas.openxmlformats.org/officeDocument/2006/relationships/slideLayout" Target="../slideLayouts/slideLayout2.xml"/><Relationship Id="rId16" Type="http://schemas.openxmlformats.org/officeDocument/2006/relationships/image" Target="../media/image18.png"/><Relationship Id="rId1" Type="http://schemas.openxmlformats.org/officeDocument/2006/relationships/vmlDrawing" Target="../drawings/vmlDrawing5.vml"/><Relationship Id="rId6" Type="http://schemas.openxmlformats.org/officeDocument/2006/relationships/oleObject" Target="../embeddings/oleObject6.bin"/><Relationship Id="rId11" Type="http://schemas.openxmlformats.org/officeDocument/2006/relationships/image" Target="../media/image15.png"/><Relationship Id="rId5" Type="http://schemas.openxmlformats.org/officeDocument/2006/relationships/image" Target="../media/image10.wmf"/><Relationship Id="rId15" Type="http://schemas.openxmlformats.org/officeDocument/2006/relationships/image" Target="../media/image17.png"/><Relationship Id="rId10" Type="http://schemas.openxmlformats.org/officeDocument/2006/relationships/image" Target="../media/image14.png"/><Relationship Id="rId4" Type="http://schemas.openxmlformats.org/officeDocument/2006/relationships/oleObject" Target="../embeddings/oleObject5.bin"/><Relationship Id="rId9" Type="http://schemas.openxmlformats.org/officeDocument/2006/relationships/image" Target="../media/image12.wmf"/><Relationship Id="rId1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27.png"/><Relationship Id="rId3" Type="http://schemas.openxmlformats.org/officeDocument/2006/relationships/notesSlide" Target="../notesSlides/notesSlide7.xml"/><Relationship Id="rId7" Type="http://schemas.openxmlformats.org/officeDocument/2006/relationships/image" Target="../media/image22.wmf"/><Relationship Id="rId12"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0.bin"/><Relationship Id="rId11" Type="http://schemas.openxmlformats.org/officeDocument/2006/relationships/image" Target="../media/image13.wmf"/><Relationship Id="rId5" Type="http://schemas.openxmlformats.org/officeDocument/2006/relationships/image" Target="../media/image21.wmf"/><Relationship Id="rId15" Type="http://schemas.openxmlformats.org/officeDocument/2006/relationships/image" Target="../media/image24.wmf"/><Relationship Id="rId10" Type="http://schemas.openxmlformats.org/officeDocument/2006/relationships/oleObject" Target="../embeddings/oleObject12.bin"/><Relationship Id="rId4" Type="http://schemas.openxmlformats.org/officeDocument/2006/relationships/oleObject" Target="../embeddings/oleObject9.bin"/><Relationship Id="rId9" Type="http://schemas.openxmlformats.org/officeDocument/2006/relationships/image" Target="../media/image23.wmf"/><Relationship Id="rId14" Type="http://schemas.openxmlformats.org/officeDocument/2006/relationships/oleObject" Target="../embeddings/oleObject13.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4.bin"/><Relationship Id="rId13" Type="http://schemas.openxmlformats.org/officeDocument/2006/relationships/image" Target="../media/image24.wmf"/><Relationship Id="rId3" Type="http://schemas.openxmlformats.org/officeDocument/2006/relationships/notesSlide" Target="../notesSlides/notesSlide8.xml"/><Relationship Id="rId7" Type="http://schemas.openxmlformats.org/officeDocument/2006/relationships/image" Target="../media/image30.png"/><Relationship Id="rId12"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9.png"/><Relationship Id="rId11" Type="http://schemas.openxmlformats.org/officeDocument/2006/relationships/image" Target="../media/image33.png"/><Relationship Id="rId5" Type="http://schemas.openxmlformats.org/officeDocument/2006/relationships/image" Target="../media/image28.png"/><Relationship Id="rId10" Type="http://schemas.openxmlformats.org/officeDocument/2006/relationships/image" Target="../media/image32.png"/><Relationship Id="rId4" Type="http://schemas.openxmlformats.org/officeDocument/2006/relationships/image" Target="../media/image25.png"/><Relationship Id="rId9" Type="http://schemas.openxmlformats.org/officeDocument/2006/relationships/image" Target="../media/image13.wmf"/></Relationships>
</file>

<file path=ppt/slides/_rels/slide18.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1.png"/><Relationship Id="rId3" Type="http://schemas.openxmlformats.org/officeDocument/2006/relationships/oleObject" Target="../embeddings/oleObject16.bin"/><Relationship Id="rId7" Type="http://schemas.openxmlformats.org/officeDocument/2006/relationships/image" Target="../media/image32.wmf"/><Relationship Id="rId12" Type="http://schemas.openxmlformats.org/officeDocument/2006/relationships/image" Target="../media/image40.png"/><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17.bin"/><Relationship Id="rId11" Type="http://schemas.openxmlformats.org/officeDocument/2006/relationships/image" Target="../media/image13.wmf"/><Relationship Id="rId5" Type="http://schemas.openxmlformats.org/officeDocument/2006/relationships/image" Target="../media/image34.png"/><Relationship Id="rId15" Type="http://schemas.openxmlformats.org/officeDocument/2006/relationships/image" Target="../media/image33.wmf"/><Relationship Id="rId10" Type="http://schemas.openxmlformats.org/officeDocument/2006/relationships/oleObject" Target="../embeddings/oleObject18.bin"/><Relationship Id="rId4" Type="http://schemas.openxmlformats.org/officeDocument/2006/relationships/image" Target="../media/image31.wmf"/><Relationship Id="rId9" Type="http://schemas.openxmlformats.org/officeDocument/2006/relationships/image" Target="../media/image36.png"/><Relationship Id="rId14" Type="http://schemas.openxmlformats.org/officeDocument/2006/relationships/oleObject" Target="../embeddings/oleObject19.bin"/></Relationships>
</file>

<file path=ppt/slides/_rels/slide19.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image" Target="../media/image42.png"/><Relationship Id="rId7"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37.wmf"/><Relationship Id="rId5" Type="http://schemas.openxmlformats.org/officeDocument/2006/relationships/oleObject" Target="../embeddings/oleObject20.bin"/><Relationship Id="rId10" Type="http://schemas.openxmlformats.org/officeDocument/2006/relationships/image" Target="../media/image39.wmf"/><Relationship Id="rId4" Type="http://schemas.openxmlformats.org/officeDocument/2006/relationships/image" Target="../media/image36.png"/><Relationship Id="rId9" Type="http://schemas.openxmlformats.org/officeDocument/2006/relationships/oleObject" Target="../embeddings/oleObject22.bin"/></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43.wmf"/><Relationship Id="rId4" Type="http://schemas.openxmlformats.org/officeDocument/2006/relationships/oleObject" Target="../embeddings/oleObject23.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notesSlide" Target="../notesSlides/notesSlide9.xml"/><Relationship Id="rId7" Type="http://schemas.openxmlformats.org/officeDocument/2006/relationships/image" Target="../media/image51.png"/><Relationship Id="rId12" Type="http://schemas.openxmlformats.org/officeDocument/2006/relationships/image" Target="../media/image54.png"/><Relationship Id="rId2" Type="http://schemas.openxmlformats.org/officeDocument/2006/relationships/slideLayout" Target="../slideLayouts/slideLayout25.xml"/><Relationship Id="rId1" Type="http://schemas.openxmlformats.org/officeDocument/2006/relationships/vmlDrawing" Target="../drawings/vmlDrawing11.vml"/><Relationship Id="rId6" Type="http://schemas.openxmlformats.org/officeDocument/2006/relationships/image" Target="../media/image50.png"/><Relationship Id="rId11" Type="http://schemas.openxmlformats.org/officeDocument/2006/relationships/image" Target="../media/image53.png"/><Relationship Id="rId5" Type="http://schemas.openxmlformats.org/officeDocument/2006/relationships/image" Target="../media/image49.png"/><Relationship Id="rId10" Type="http://schemas.openxmlformats.org/officeDocument/2006/relationships/image" Target="../media/image52.png"/><Relationship Id="rId4" Type="http://schemas.openxmlformats.org/officeDocument/2006/relationships/image" Target="../media/image48.png"/><Relationship Id="rId9" Type="http://schemas.openxmlformats.org/officeDocument/2006/relationships/image" Target="../media/image12.wmf"/></Relationships>
</file>

<file path=ppt/slides/_rels/slide22.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52.png"/><Relationship Id="rId3" Type="http://schemas.openxmlformats.org/officeDocument/2006/relationships/notesSlide" Target="../notesSlides/notesSlide10.xml"/><Relationship Id="rId7" Type="http://schemas.openxmlformats.org/officeDocument/2006/relationships/image" Target="../media/image58.png"/><Relationship Id="rId12" Type="http://schemas.openxmlformats.org/officeDocument/2006/relationships/image" Target="../media/image12.wmf"/><Relationship Id="rId2" Type="http://schemas.openxmlformats.org/officeDocument/2006/relationships/slideLayout" Target="../slideLayouts/slideLayout25.xml"/><Relationship Id="rId1" Type="http://schemas.openxmlformats.org/officeDocument/2006/relationships/vmlDrawing" Target="../drawings/vmlDrawing12.vml"/><Relationship Id="rId6" Type="http://schemas.openxmlformats.org/officeDocument/2006/relationships/image" Target="../media/image57.png"/><Relationship Id="rId11" Type="http://schemas.openxmlformats.org/officeDocument/2006/relationships/oleObject" Target="../embeddings/oleObject25.bin"/><Relationship Id="rId5" Type="http://schemas.openxmlformats.org/officeDocument/2006/relationships/image" Target="../media/image56.png"/><Relationship Id="rId15" Type="http://schemas.openxmlformats.org/officeDocument/2006/relationships/image" Target="../media/image62.png"/><Relationship Id="rId10" Type="http://schemas.openxmlformats.org/officeDocument/2006/relationships/image" Target="../media/image45.png"/><Relationship Id="rId4" Type="http://schemas.openxmlformats.org/officeDocument/2006/relationships/image" Target="../media/image55.png"/><Relationship Id="rId9" Type="http://schemas.openxmlformats.org/officeDocument/2006/relationships/image" Target="../media/image60.png"/><Relationship Id="rId14" Type="http://schemas.openxmlformats.org/officeDocument/2006/relationships/image" Target="../media/image53.png"/></Relationships>
</file>

<file path=ppt/slides/_rels/slide23.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72.png"/><Relationship Id="rId18" Type="http://schemas.openxmlformats.org/officeDocument/2006/relationships/image" Target="../media/image52.png"/><Relationship Id="rId3" Type="http://schemas.openxmlformats.org/officeDocument/2006/relationships/image" Target="../media/image63.png"/><Relationship Id="rId7" Type="http://schemas.openxmlformats.org/officeDocument/2006/relationships/image" Target="../media/image66.png"/><Relationship Id="rId12" Type="http://schemas.openxmlformats.org/officeDocument/2006/relationships/image" Target="../media/image71.png"/><Relationship Id="rId17" Type="http://schemas.openxmlformats.org/officeDocument/2006/relationships/image" Target="../media/image12.wmf"/><Relationship Id="rId2" Type="http://schemas.openxmlformats.org/officeDocument/2006/relationships/slideLayout" Target="../slideLayouts/slideLayout25.xml"/><Relationship Id="rId16" Type="http://schemas.openxmlformats.org/officeDocument/2006/relationships/oleObject" Target="../embeddings/oleObject26.bin"/><Relationship Id="rId20" Type="http://schemas.openxmlformats.org/officeDocument/2006/relationships/image" Target="../media/image75.png"/><Relationship Id="rId1" Type="http://schemas.openxmlformats.org/officeDocument/2006/relationships/vmlDrawing" Target="../drawings/vmlDrawing13.v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45.png"/><Relationship Id="rId15" Type="http://schemas.openxmlformats.org/officeDocument/2006/relationships/image" Target="../media/image47.png"/><Relationship Id="rId10" Type="http://schemas.openxmlformats.org/officeDocument/2006/relationships/image" Target="../media/image69.png"/><Relationship Id="rId19" Type="http://schemas.openxmlformats.org/officeDocument/2006/relationships/image" Target="../media/image53.png"/><Relationship Id="rId4" Type="http://schemas.openxmlformats.org/officeDocument/2006/relationships/image" Target="../media/image64.png"/><Relationship Id="rId9" Type="http://schemas.openxmlformats.org/officeDocument/2006/relationships/image" Target="../media/image68.png"/><Relationship Id="rId14" Type="http://schemas.openxmlformats.org/officeDocument/2006/relationships/image" Target="../media/image73.png"/></Relationships>
</file>

<file path=ppt/slides/_rels/slide24.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7.png"/><Relationship Id="rId7" Type="http://schemas.openxmlformats.org/officeDocument/2006/relationships/image" Target="../media/image80.png"/><Relationship Id="rId2" Type="http://schemas.openxmlformats.org/officeDocument/2006/relationships/image" Target="../media/image76.png"/><Relationship Id="rId1" Type="http://schemas.openxmlformats.org/officeDocument/2006/relationships/slideLayout" Target="../slideLayouts/slideLayout25.xml"/><Relationship Id="rId6" Type="http://schemas.openxmlformats.org/officeDocument/2006/relationships/image" Target="../media/image79.png"/><Relationship Id="rId5" Type="http://schemas.openxmlformats.org/officeDocument/2006/relationships/image" Target="../media/image78.png"/><Relationship Id="rId10" Type="http://schemas.openxmlformats.org/officeDocument/2006/relationships/image" Target="../media/image47.png"/><Relationship Id="rId4" Type="http://schemas.openxmlformats.org/officeDocument/2006/relationships/image" Target="../media/image45.png"/><Relationship Id="rId9"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48.wmf"/><Relationship Id="rId4" Type="http://schemas.openxmlformats.org/officeDocument/2006/relationships/oleObject" Target="../embeddings/oleObject27.bin"/></Relationships>
</file>

<file path=ppt/slides/_rels/slide2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86.png"/><Relationship Id="rId4" Type="http://schemas.openxmlformats.org/officeDocument/2006/relationships/image" Target="../media/image8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67.png"/><Relationship Id="rId1" Type="http://schemas.openxmlformats.org/officeDocument/2006/relationships/slideLayout" Target="../slideLayouts/slideLayout2.xml"/><Relationship Id="rId5" Type="http://schemas.openxmlformats.org/officeDocument/2006/relationships/image" Target="../media/image83.png"/><Relationship Id="rId4" Type="http://schemas.openxmlformats.org/officeDocument/2006/relationships/image" Target="../media/image82.png"/></Relationships>
</file>

<file path=ppt/slides/_rels/slide29.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9.png"/><Relationship Id="rId7" Type="http://schemas.openxmlformats.org/officeDocument/2006/relationships/image" Target="../media/image88.w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28.bin"/><Relationship Id="rId5" Type="http://schemas.openxmlformats.org/officeDocument/2006/relationships/image" Target="../media/image91.png"/><Relationship Id="rId4" Type="http://schemas.openxmlformats.org/officeDocument/2006/relationships/image" Target="../media/image90.png"/></Relationships>
</file>

<file path=ppt/slides/_rels/slide32.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95.png"/><Relationship Id="rId4" Type="http://schemas.openxmlformats.org/officeDocument/2006/relationships/image" Target="../media/image94.wmf"/></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96.wmf"/><Relationship Id="rId4" Type="http://schemas.openxmlformats.org/officeDocument/2006/relationships/oleObject" Target="../embeddings/oleObject30.bin"/></Relationships>
</file>

<file path=ppt/slides/_rels/slide35.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image" Target="../media/image97.wmf"/><Relationship Id="rId4" Type="http://schemas.openxmlformats.org/officeDocument/2006/relationships/oleObject" Target="../embeddings/oleObject31.bin"/></Relationships>
</file>

<file path=ppt/slides/_rels/slide36.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image" Target="../media/image99.wmf"/><Relationship Id="rId4" Type="http://schemas.openxmlformats.org/officeDocument/2006/relationships/oleObject" Target="../embeddings/oleObject32.bin"/></Relationships>
</file>

<file path=ppt/slides/_rels/slide37.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101.wmf"/><Relationship Id="rId4" Type="http://schemas.openxmlformats.org/officeDocument/2006/relationships/oleObject" Target="../embeddings/oleObject33.bin"/></Relationships>
</file>

<file path=ppt/slides/_rels/slide38.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image" Target="../media/image103.wmf"/><Relationship Id="rId4" Type="http://schemas.openxmlformats.org/officeDocument/2006/relationships/oleObject" Target="../embeddings/oleObject34.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image" Target="../media/image109.wmf"/><Relationship Id="rId3" Type="http://schemas.openxmlformats.org/officeDocument/2006/relationships/notesSlide" Target="../notesSlides/notesSlide13.xml"/><Relationship Id="rId7" Type="http://schemas.openxmlformats.org/officeDocument/2006/relationships/image" Target="../media/image106.wmf"/><Relationship Id="rId12" Type="http://schemas.openxmlformats.org/officeDocument/2006/relationships/oleObject" Target="../embeddings/oleObject39.bin"/><Relationship Id="rId17" Type="http://schemas.openxmlformats.org/officeDocument/2006/relationships/image" Target="../media/image111.wmf"/><Relationship Id="rId2" Type="http://schemas.openxmlformats.org/officeDocument/2006/relationships/slideLayout" Target="../slideLayouts/slideLayout2.xml"/><Relationship Id="rId16" Type="http://schemas.openxmlformats.org/officeDocument/2006/relationships/oleObject" Target="../embeddings/oleObject41.bin"/><Relationship Id="rId1" Type="http://schemas.openxmlformats.org/officeDocument/2006/relationships/vmlDrawing" Target="../drawings/vmlDrawing22.vml"/><Relationship Id="rId6" Type="http://schemas.openxmlformats.org/officeDocument/2006/relationships/oleObject" Target="../embeddings/oleObject36.bin"/><Relationship Id="rId11" Type="http://schemas.openxmlformats.org/officeDocument/2006/relationships/image" Target="../media/image108.wmf"/><Relationship Id="rId5" Type="http://schemas.openxmlformats.org/officeDocument/2006/relationships/image" Target="../media/image105.wmf"/><Relationship Id="rId15" Type="http://schemas.openxmlformats.org/officeDocument/2006/relationships/image" Target="../media/image110.wmf"/><Relationship Id="rId10" Type="http://schemas.openxmlformats.org/officeDocument/2006/relationships/oleObject" Target="../embeddings/oleObject38.bin"/><Relationship Id="rId4" Type="http://schemas.openxmlformats.org/officeDocument/2006/relationships/oleObject" Target="../embeddings/oleObject35.bin"/><Relationship Id="rId9" Type="http://schemas.openxmlformats.org/officeDocument/2006/relationships/image" Target="../media/image107.wmf"/><Relationship Id="rId14" Type="http://schemas.openxmlformats.org/officeDocument/2006/relationships/oleObject" Target="../embeddings/oleObject40.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44.bin"/><Relationship Id="rId13" Type="http://schemas.openxmlformats.org/officeDocument/2006/relationships/image" Target="../media/image116.wmf"/><Relationship Id="rId3" Type="http://schemas.openxmlformats.org/officeDocument/2006/relationships/notesSlide" Target="../notesSlides/notesSlide14.xml"/><Relationship Id="rId7" Type="http://schemas.openxmlformats.org/officeDocument/2006/relationships/image" Target="../media/image113.wmf"/><Relationship Id="rId12" Type="http://schemas.openxmlformats.org/officeDocument/2006/relationships/oleObject" Target="../embeddings/oleObject46.bin"/><Relationship Id="rId2" Type="http://schemas.openxmlformats.org/officeDocument/2006/relationships/slideLayout" Target="../slideLayouts/slideLayout2.xml"/><Relationship Id="rId16" Type="http://schemas.openxmlformats.org/officeDocument/2006/relationships/image" Target="../media/image120.png"/><Relationship Id="rId1" Type="http://schemas.openxmlformats.org/officeDocument/2006/relationships/vmlDrawing" Target="../drawings/vmlDrawing23.vml"/><Relationship Id="rId6" Type="http://schemas.openxmlformats.org/officeDocument/2006/relationships/oleObject" Target="../embeddings/oleObject43.bin"/><Relationship Id="rId11" Type="http://schemas.openxmlformats.org/officeDocument/2006/relationships/image" Target="../media/image115.wmf"/><Relationship Id="rId5" Type="http://schemas.openxmlformats.org/officeDocument/2006/relationships/image" Target="../media/image112.wmf"/><Relationship Id="rId15" Type="http://schemas.openxmlformats.org/officeDocument/2006/relationships/image" Target="../media/image117.wmf"/><Relationship Id="rId10" Type="http://schemas.openxmlformats.org/officeDocument/2006/relationships/oleObject" Target="../embeddings/oleObject45.bin"/><Relationship Id="rId4" Type="http://schemas.openxmlformats.org/officeDocument/2006/relationships/oleObject" Target="../embeddings/oleObject42.bin"/><Relationship Id="rId9" Type="http://schemas.openxmlformats.org/officeDocument/2006/relationships/image" Target="../media/image114.wmf"/><Relationship Id="rId14" Type="http://schemas.openxmlformats.org/officeDocument/2006/relationships/oleObject" Target="../embeddings/oleObject47.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50.bin"/><Relationship Id="rId13" Type="http://schemas.openxmlformats.org/officeDocument/2006/relationships/image" Target="../media/image122.wmf"/><Relationship Id="rId18" Type="http://schemas.openxmlformats.org/officeDocument/2006/relationships/oleObject" Target="../embeddings/oleObject55.bin"/><Relationship Id="rId3" Type="http://schemas.openxmlformats.org/officeDocument/2006/relationships/notesSlide" Target="../notesSlides/notesSlide15.xml"/><Relationship Id="rId21" Type="http://schemas.openxmlformats.org/officeDocument/2006/relationships/image" Target="../media/image126.wmf"/><Relationship Id="rId7" Type="http://schemas.openxmlformats.org/officeDocument/2006/relationships/image" Target="../media/image119.wmf"/><Relationship Id="rId12" Type="http://schemas.openxmlformats.org/officeDocument/2006/relationships/oleObject" Target="../embeddings/oleObject52.bin"/><Relationship Id="rId17" Type="http://schemas.openxmlformats.org/officeDocument/2006/relationships/image" Target="../media/image124.wmf"/><Relationship Id="rId25" Type="http://schemas.openxmlformats.org/officeDocument/2006/relationships/image" Target="../media/image128.wmf"/><Relationship Id="rId2" Type="http://schemas.openxmlformats.org/officeDocument/2006/relationships/slideLayout" Target="../slideLayouts/slideLayout2.xml"/><Relationship Id="rId16" Type="http://schemas.openxmlformats.org/officeDocument/2006/relationships/oleObject" Target="../embeddings/oleObject54.bin"/><Relationship Id="rId20" Type="http://schemas.openxmlformats.org/officeDocument/2006/relationships/oleObject" Target="../embeddings/oleObject56.bin"/><Relationship Id="rId1" Type="http://schemas.openxmlformats.org/officeDocument/2006/relationships/vmlDrawing" Target="../drawings/vmlDrawing24.vml"/><Relationship Id="rId6" Type="http://schemas.openxmlformats.org/officeDocument/2006/relationships/oleObject" Target="../embeddings/oleObject49.bin"/><Relationship Id="rId11" Type="http://schemas.openxmlformats.org/officeDocument/2006/relationships/image" Target="../media/image121.wmf"/><Relationship Id="rId24" Type="http://schemas.openxmlformats.org/officeDocument/2006/relationships/oleObject" Target="../embeddings/oleObject58.bin"/><Relationship Id="rId5" Type="http://schemas.openxmlformats.org/officeDocument/2006/relationships/image" Target="../media/image118.wmf"/><Relationship Id="rId15" Type="http://schemas.openxmlformats.org/officeDocument/2006/relationships/image" Target="../media/image123.wmf"/><Relationship Id="rId23" Type="http://schemas.openxmlformats.org/officeDocument/2006/relationships/image" Target="../media/image127.wmf"/><Relationship Id="rId10" Type="http://schemas.openxmlformats.org/officeDocument/2006/relationships/oleObject" Target="../embeddings/oleObject51.bin"/><Relationship Id="rId19" Type="http://schemas.openxmlformats.org/officeDocument/2006/relationships/image" Target="../media/image125.wmf"/><Relationship Id="rId4" Type="http://schemas.openxmlformats.org/officeDocument/2006/relationships/oleObject" Target="../embeddings/oleObject48.bin"/><Relationship Id="rId9" Type="http://schemas.openxmlformats.org/officeDocument/2006/relationships/image" Target="../media/image120.wmf"/><Relationship Id="rId14" Type="http://schemas.openxmlformats.org/officeDocument/2006/relationships/oleObject" Target="../embeddings/oleObject53.bin"/><Relationship Id="rId22" Type="http://schemas.openxmlformats.org/officeDocument/2006/relationships/oleObject" Target="../embeddings/oleObject57.bin"/></Relationships>
</file>

<file path=ppt/slides/_rels/slide43.xml.rels><?xml version="1.0" encoding="UTF-8" standalone="yes"?>
<Relationships xmlns="http://schemas.openxmlformats.org/package/2006/relationships"><Relationship Id="rId8" Type="http://schemas.openxmlformats.org/officeDocument/2006/relationships/image" Target="../media/image131.wmf"/><Relationship Id="rId3" Type="http://schemas.openxmlformats.org/officeDocument/2006/relationships/oleObject" Target="../embeddings/oleObject59.bin"/><Relationship Id="rId7" Type="http://schemas.openxmlformats.org/officeDocument/2006/relationships/oleObject" Target="../embeddings/oleObject61.bin"/><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image" Target="../media/image130.wmf"/><Relationship Id="rId5" Type="http://schemas.openxmlformats.org/officeDocument/2006/relationships/oleObject" Target="../embeddings/oleObject60.bin"/><Relationship Id="rId4" Type="http://schemas.openxmlformats.org/officeDocument/2006/relationships/image" Target="../media/image129.wmf"/></Relationships>
</file>

<file path=ppt/slides/_rels/slide44.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3" Type="http://schemas.openxmlformats.org/officeDocument/2006/relationships/oleObject" Target="../embeddings/oleObject65.bin"/><Relationship Id="rId18" Type="http://schemas.openxmlformats.org/officeDocument/2006/relationships/oleObject" Target="../embeddings/oleObject69.bin"/><Relationship Id="rId26" Type="http://schemas.openxmlformats.org/officeDocument/2006/relationships/oleObject" Target="../embeddings/oleObject73.bin"/><Relationship Id="rId39" Type="http://schemas.openxmlformats.org/officeDocument/2006/relationships/image" Target="../media/image147.wmf"/><Relationship Id="rId21" Type="http://schemas.openxmlformats.org/officeDocument/2006/relationships/image" Target="../media/image138.wmf"/><Relationship Id="rId34" Type="http://schemas.openxmlformats.org/officeDocument/2006/relationships/oleObject" Target="../embeddings/oleObject77.bin"/><Relationship Id="rId42" Type="http://schemas.openxmlformats.org/officeDocument/2006/relationships/oleObject" Target="../embeddings/oleObject81.bin"/><Relationship Id="rId47" Type="http://schemas.openxmlformats.org/officeDocument/2006/relationships/image" Target="../media/image150.wmf"/><Relationship Id="rId7" Type="http://schemas.openxmlformats.org/officeDocument/2006/relationships/oleObject" Target="../embeddings/oleObject62.bin"/><Relationship Id="rId2" Type="http://schemas.openxmlformats.org/officeDocument/2006/relationships/slideLayout" Target="../slideLayouts/slideLayout2.xml"/><Relationship Id="rId16" Type="http://schemas.openxmlformats.org/officeDocument/2006/relationships/oleObject" Target="../embeddings/oleObject67.bin"/><Relationship Id="rId29" Type="http://schemas.openxmlformats.org/officeDocument/2006/relationships/image" Target="../media/image142.wmf"/><Relationship Id="rId11" Type="http://schemas.openxmlformats.org/officeDocument/2006/relationships/oleObject" Target="../embeddings/oleObject64.bin"/><Relationship Id="rId24" Type="http://schemas.openxmlformats.org/officeDocument/2006/relationships/oleObject" Target="../embeddings/oleObject72.bin"/><Relationship Id="rId32" Type="http://schemas.openxmlformats.org/officeDocument/2006/relationships/oleObject" Target="../embeddings/oleObject76.bin"/><Relationship Id="rId37" Type="http://schemas.openxmlformats.org/officeDocument/2006/relationships/image" Target="../media/image146.wmf"/><Relationship Id="rId40" Type="http://schemas.openxmlformats.org/officeDocument/2006/relationships/oleObject" Target="../embeddings/oleObject80.bin"/><Relationship Id="rId45" Type="http://schemas.openxmlformats.org/officeDocument/2006/relationships/oleObject" Target="../embeddings/oleObject83.bin"/><Relationship Id="rId5" Type="http://schemas.openxmlformats.org/officeDocument/2006/relationships/image" Target="../media/image153.png"/><Relationship Id="rId15" Type="http://schemas.openxmlformats.org/officeDocument/2006/relationships/oleObject" Target="../embeddings/oleObject66.bin"/><Relationship Id="rId23" Type="http://schemas.openxmlformats.org/officeDocument/2006/relationships/image" Target="../media/image139.wmf"/><Relationship Id="rId28" Type="http://schemas.openxmlformats.org/officeDocument/2006/relationships/oleObject" Target="../embeddings/oleObject74.bin"/><Relationship Id="rId36" Type="http://schemas.openxmlformats.org/officeDocument/2006/relationships/oleObject" Target="../embeddings/oleObject78.bin"/><Relationship Id="rId49" Type="http://schemas.openxmlformats.org/officeDocument/2006/relationships/image" Target="../media/image151.wmf"/><Relationship Id="rId10" Type="http://schemas.openxmlformats.org/officeDocument/2006/relationships/image" Target="../media/image134.wmf"/><Relationship Id="rId19" Type="http://schemas.openxmlformats.org/officeDocument/2006/relationships/image" Target="../media/image137.wmf"/><Relationship Id="rId31" Type="http://schemas.openxmlformats.org/officeDocument/2006/relationships/image" Target="../media/image143.wmf"/><Relationship Id="rId44" Type="http://schemas.openxmlformats.org/officeDocument/2006/relationships/image" Target="../media/image149.wmf"/><Relationship Id="rId4" Type="http://schemas.openxmlformats.org/officeDocument/2006/relationships/image" Target="../media/image152.png"/><Relationship Id="rId9" Type="http://schemas.openxmlformats.org/officeDocument/2006/relationships/oleObject" Target="../embeddings/oleObject63.bin"/><Relationship Id="rId14" Type="http://schemas.openxmlformats.org/officeDocument/2006/relationships/image" Target="../media/image136.wmf"/><Relationship Id="rId22" Type="http://schemas.openxmlformats.org/officeDocument/2006/relationships/oleObject" Target="../embeddings/oleObject71.bin"/><Relationship Id="rId27" Type="http://schemas.openxmlformats.org/officeDocument/2006/relationships/image" Target="../media/image141.wmf"/><Relationship Id="rId30" Type="http://schemas.openxmlformats.org/officeDocument/2006/relationships/oleObject" Target="../embeddings/oleObject75.bin"/><Relationship Id="rId35" Type="http://schemas.openxmlformats.org/officeDocument/2006/relationships/image" Target="../media/image145.wmf"/><Relationship Id="rId43" Type="http://schemas.openxmlformats.org/officeDocument/2006/relationships/oleObject" Target="../embeddings/oleObject82.bin"/><Relationship Id="rId48" Type="http://schemas.openxmlformats.org/officeDocument/2006/relationships/oleObject" Target="../embeddings/oleObject85.bin"/><Relationship Id="rId8" Type="http://schemas.openxmlformats.org/officeDocument/2006/relationships/image" Target="../media/image133.wmf"/><Relationship Id="rId3" Type="http://schemas.openxmlformats.org/officeDocument/2006/relationships/notesSlide" Target="../notesSlides/notesSlide17.xml"/><Relationship Id="rId12" Type="http://schemas.openxmlformats.org/officeDocument/2006/relationships/image" Target="../media/image135.wmf"/><Relationship Id="rId17" Type="http://schemas.openxmlformats.org/officeDocument/2006/relationships/oleObject" Target="../embeddings/oleObject68.bin"/><Relationship Id="rId25" Type="http://schemas.openxmlformats.org/officeDocument/2006/relationships/image" Target="../media/image140.wmf"/><Relationship Id="rId33" Type="http://schemas.openxmlformats.org/officeDocument/2006/relationships/image" Target="../media/image144.wmf"/><Relationship Id="rId38" Type="http://schemas.openxmlformats.org/officeDocument/2006/relationships/oleObject" Target="../embeddings/oleObject79.bin"/><Relationship Id="rId46" Type="http://schemas.openxmlformats.org/officeDocument/2006/relationships/oleObject" Target="../embeddings/oleObject84.bin"/><Relationship Id="rId20" Type="http://schemas.openxmlformats.org/officeDocument/2006/relationships/oleObject" Target="../embeddings/oleObject70.bin"/><Relationship Id="rId41" Type="http://schemas.openxmlformats.org/officeDocument/2006/relationships/image" Target="../media/image148.wmf"/><Relationship Id="rId1" Type="http://schemas.openxmlformats.org/officeDocument/2006/relationships/vmlDrawing" Target="../drawings/vmlDrawing26.vml"/><Relationship Id="rId6" Type="http://schemas.openxmlformats.org/officeDocument/2006/relationships/image" Target="../media/image15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157.wmf"/><Relationship Id="rId3" Type="http://schemas.openxmlformats.org/officeDocument/2006/relationships/oleObject" Target="../embeddings/oleObject86.bin"/><Relationship Id="rId7" Type="http://schemas.openxmlformats.org/officeDocument/2006/relationships/oleObject" Target="../embeddings/oleObject88.bin"/><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image" Target="../media/image11.wmf"/><Relationship Id="rId5" Type="http://schemas.openxmlformats.org/officeDocument/2006/relationships/oleObject" Target="../embeddings/oleObject87.bin"/><Relationship Id="rId10" Type="http://schemas.openxmlformats.org/officeDocument/2006/relationships/image" Target="../media/image158.wmf"/><Relationship Id="rId4" Type="http://schemas.openxmlformats.org/officeDocument/2006/relationships/image" Target="../media/image156.wmf"/><Relationship Id="rId9" Type="http://schemas.openxmlformats.org/officeDocument/2006/relationships/oleObject" Target="../embeddings/oleObject89.bin"/></Relationships>
</file>

<file path=ppt/slides/_rels/slide49.xml.rels><?xml version="1.0" encoding="UTF-8" standalone="yes"?>
<Relationships xmlns="http://schemas.openxmlformats.org/package/2006/relationships"><Relationship Id="rId8" Type="http://schemas.openxmlformats.org/officeDocument/2006/relationships/image" Target="../media/image160.wmf"/><Relationship Id="rId3" Type="http://schemas.openxmlformats.org/officeDocument/2006/relationships/oleObject" Target="../embeddings/oleObject90.bin"/><Relationship Id="rId7" Type="http://schemas.openxmlformats.org/officeDocument/2006/relationships/oleObject" Target="../embeddings/oleObject92.bin"/><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image" Target="../media/image11.wmf"/><Relationship Id="rId5" Type="http://schemas.openxmlformats.org/officeDocument/2006/relationships/oleObject" Target="../embeddings/oleObject91.bin"/><Relationship Id="rId10" Type="http://schemas.openxmlformats.org/officeDocument/2006/relationships/image" Target="../media/image161.wmf"/><Relationship Id="rId4" Type="http://schemas.openxmlformats.org/officeDocument/2006/relationships/image" Target="../media/image159.wmf"/><Relationship Id="rId9" Type="http://schemas.openxmlformats.org/officeDocument/2006/relationships/oleObject" Target="../embeddings/oleObject93.bin"/></Relationships>
</file>

<file path=ppt/slides/_rels/slide50.xml.rels><?xml version="1.0" encoding="UTF-8" standalone="yes"?>
<Relationships xmlns="http://schemas.openxmlformats.org/package/2006/relationships"><Relationship Id="rId8" Type="http://schemas.openxmlformats.org/officeDocument/2006/relationships/image" Target="../media/image163.wmf"/><Relationship Id="rId13" Type="http://schemas.openxmlformats.org/officeDocument/2006/relationships/oleObject" Target="../embeddings/oleObject99.bin"/><Relationship Id="rId3" Type="http://schemas.openxmlformats.org/officeDocument/2006/relationships/oleObject" Target="../embeddings/oleObject94.bin"/><Relationship Id="rId7" Type="http://schemas.openxmlformats.org/officeDocument/2006/relationships/oleObject" Target="../embeddings/oleObject96.bin"/><Relationship Id="rId12" Type="http://schemas.openxmlformats.org/officeDocument/2006/relationships/image" Target="../media/image165.wmf"/><Relationship Id="rId2" Type="http://schemas.openxmlformats.org/officeDocument/2006/relationships/slideLayout" Target="../slideLayouts/slideLayout2.xml"/><Relationship Id="rId16" Type="http://schemas.openxmlformats.org/officeDocument/2006/relationships/image" Target="../media/image167.wmf"/><Relationship Id="rId1" Type="http://schemas.openxmlformats.org/officeDocument/2006/relationships/vmlDrawing" Target="../drawings/vmlDrawing29.vml"/><Relationship Id="rId6" Type="http://schemas.openxmlformats.org/officeDocument/2006/relationships/image" Target="../media/image158.wmf"/><Relationship Id="rId11" Type="http://schemas.openxmlformats.org/officeDocument/2006/relationships/oleObject" Target="../embeddings/oleObject98.bin"/><Relationship Id="rId5" Type="http://schemas.openxmlformats.org/officeDocument/2006/relationships/oleObject" Target="../embeddings/oleObject95.bin"/><Relationship Id="rId15" Type="http://schemas.openxmlformats.org/officeDocument/2006/relationships/oleObject" Target="../embeddings/oleObject100.bin"/><Relationship Id="rId10" Type="http://schemas.openxmlformats.org/officeDocument/2006/relationships/image" Target="../media/image164.wmf"/><Relationship Id="rId4" Type="http://schemas.openxmlformats.org/officeDocument/2006/relationships/image" Target="../media/image162.wmf"/><Relationship Id="rId9" Type="http://schemas.openxmlformats.org/officeDocument/2006/relationships/oleObject" Target="../embeddings/oleObject97.bin"/><Relationship Id="rId14" Type="http://schemas.openxmlformats.org/officeDocument/2006/relationships/image" Target="../media/image166.wmf"/></Relationships>
</file>

<file path=ppt/slides/_rels/slide51.xml.rels><?xml version="1.0" encoding="UTF-8" standalone="yes"?>
<Relationships xmlns="http://schemas.openxmlformats.org/package/2006/relationships"><Relationship Id="rId8" Type="http://schemas.openxmlformats.org/officeDocument/2006/relationships/image" Target="../media/image170.wmf"/><Relationship Id="rId13" Type="http://schemas.openxmlformats.org/officeDocument/2006/relationships/oleObject" Target="../embeddings/oleObject107.bin"/><Relationship Id="rId3" Type="http://schemas.openxmlformats.org/officeDocument/2006/relationships/oleObject" Target="../embeddings/oleObject101.bin"/><Relationship Id="rId7" Type="http://schemas.openxmlformats.org/officeDocument/2006/relationships/oleObject" Target="../embeddings/oleObject103.bin"/><Relationship Id="rId12" Type="http://schemas.openxmlformats.org/officeDocument/2006/relationships/oleObject" Target="../embeddings/oleObject106.bin"/><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image" Target="../media/image169.wmf"/><Relationship Id="rId11" Type="http://schemas.openxmlformats.org/officeDocument/2006/relationships/image" Target="../media/image171.wmf"/><Relationship Id="rId5" Type="http://schemas.openxmlformats.org/officeDocument/2006/relationships/oleObject" Target="../embeddings/oleObject102.bin"/><Relationship Id="rId10" Type="http://schemas.openxmlformats.org/officeDocument/2006/relationships/oleObject" Target="../embeddings/oleObject105.bin"/><Relationship Id="rId4" Type="http://schemas.openxmlformats.org/officeDocument/2006/relationships/image" Target="../media/image168.wmf"/><Relationship Id="rId9" Type="http://schemas.openxmlformats.org/officeDocument/2006/relationships/oleObject" Target="../embeddings/oleObject104.bin"/><Relationship Id="rId14" Type="http://schemas.openxmlformats.org/officeDocument/2006/relationships/image" Target="../media/image172.wmf"/></Relationships>
</file>

<file path=ppt/slides/_rels/slide52.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slideLayout" Target="../slideLayouts/slideLayout2.xml"/><Relationship Id="rId1" Type="http://schemas.openxmlformats.org/officeDocument/2006/relationships/vmlDrawing" Target="../drawings/vmlDrawing31.vml"/><Relationship Id="rId5" Type="http://schemas.openxmlformats.org/officeDocument/2006/relationships/image" Target="../media/image172.wmf"/><Relationship Id="rId4" Type="http://schemas.openxmlformats.org/officeDocument/2006/relationships/oleObject" Target="../embeddings/oleObject108.bin"/></Relationships>
</file>

<file path=ppt/slides/_rels/slide53.xml.rels><?xml version="1.0" encoding="UTF-8" standalone="yes"?>
<Relationships xmlns="http://schemas.openxmlformats.org/package/2006/relationships"><Relationship Id="rId8" Type="http://schemas.openxmlformats.org/officeDocument/2006/relationships/image" Target="../media/image176.wmf"/><Relationship Id="rId13" Type="http://schemas.openxmlformats.org/officeDocument/2006/relationships/oleObject" Target="../embeddings/oleObject114.bin"/><Relationship Id="rId18" Type="http://schemas.openxmlformats.org/officeDocument/2006/relationships/image" Target="../media/image181.wmf"/><Relationship Id="rId26" Type="http://schemas.openxmlformats.org/officeDocument/2006/relationships/image" Target="../media/image184.wmf"/><Relationship Id="rId3" Type="http://schemas.openxmlformats.org/officeDocument/2006/relationships/oleObject" Target="../embeddings/oleObject109.bin"/><Relationship Id="rId21" Type="http://schemas.openxmlformats.org/officeDocument/2006/relationships/oleObject" Target="../embeddings/oleObject118.bin"/><Relationship Id="rId7" Type="http://schemas.openxmlformats.org/officeDocument/2006/relationships/oleObject" Target="../embeddings/oleObject111.bin"/><Relationship Id="rId12" Type="http://schemas.openxmlformats.org/officeDocument/2006/relationships/image" Target="../media/image178.wmf"/><Relationship Id="rId17" Type="http://schemas.openxmlformats.org/officeDocument/2006/relationships/oleObject" Target="../embeddings/oleObject116.bin"/><Relationship Id="rId25" Type="http://schemas.openxmlformats.org/officeDocument/2006/relationships/oleObject" Target="../embeddings/oleObject120.bin"/><Relationship Id="rId2" Type="http://schemas.openxmlformats.org/officeDocument/2006/relationships/slideLayout" Target="../slideLayouts/slideLayout2.xml"/><Relationship Id="rId16" Type="http://schemas.openxmlformats.org/officeDocument/2006/relationships/image" Target="../media/image180.wmf"/><Relationship Id="rId20" Type="http://schemas.openxmlformats.org/officeDocument/2006/relationships/image" Target="../media/image11.wmf"/><Relationship Id="rId29" Type="http://schemas.openxmlformats.org/officeDocument/2006/relationships/oleObject" Target="../embeddings/oleObject122.bin"/><Relationship Id="rId1" Type="http://schemas.openxmlformats.org/officeDocument/2006/relationships/vmlDrawing" Target="../drawings/vmlDrawing32.vml"/><Relationship Id="rId6" Type="http://schemas.openxmlformats.org/officeDocument/2006/relationships/image" Target="../media/image175.wmf"/><Relationship Id="rId11" Type="http://schemas.openxmlformats.org/officeDocument/2006/relationships/oleObject" Target="../embeddings/oleObject113.bin"/><Relationship Id="rId24" Type="http://schemas.openxmlformats.org/officeDocument/2006/relationships/image" Target="../media/image183.wmf"/><Relationship Id="rId5" Type="http://schemas.openxmlformats.org/officeDocument/2006/relationships/oleObject" Target="../embeddings/oleObject110.bin"/><Relationship Id="rId15" Type="http://schemas.openxmlformats.org/officeDocument/2006/relationships/oleObject" Target="../embeddings/oleObject115.bin"/><Relationship Id="rId23" Type="http://schemas.openxmlformats.org/officeDocument/2006/relationships/oleObject" Target="../embeddings/oleObject119.bin"/><Relationship Id="rId28" Type="http://schemas.openxmlformats.org/officeDocument/2006/relationships/image" Target="../media/image185.wmf"/><Relationship Id="rId10" Type="http://schemas.openxmlformats.org/officeDocument/2006/relationships/image" Target="../media/image177.wmf"/><Relationship Id="rId19" Type="http://schemas.openxmlformats.org/officeDocument/2006/relationships/oleObject" Target="../embeddings/oleObject117.bin"/><Relationship Id="rId4" Type="http://schemas.openxmlformats.org/officeDocument/2006/relationships/image" Target="../media/image174.wmf"/><Relationship Id="rId9" Type="http://schemas.openxmlformats.org/officeDocument/2006/relationships/oleObject" Target="../embeddings/oleObject112.bin"/><Relationship Id="rId14" Type="http://schemas.openxmlformats.org/officeDocument/2006/relationships/image" Target="../media/image179.wmf"/><Relationship Id="rId22" Type="http://schemas.openxmlformats.org/officeDocument/2006/relationships/image" Target="../media/image182.wmf"/><Relationship Id="rId27" Type="http://schemas.openxmlformats.org/officeDocument/2006/relationships/oleObject" Target="../embeddings/oleObject121.bin"/><Relationship Id="rId30" Type="http://schemas.openxmlformats.org/officeDocument/2006/relationships/image" Target="../media/image186.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6" name="Rectangle 4"/>
          <p:cNvSpPr>
            <a:spLocks noGrp="1" noChangeArrowheads="1"/>
          </p:cNvSpPr>
          <p:nvPr>
            <p:ph type="ctrTitle"/>
          </p:nvPr>
        </p:nvSpPr>
        <p:spPr>
          <a:xfrm>
            <a:off x="1919536" y="1996932"/>
            <a:ext cx="7168852" cy="747712"/>
          </a:xfrm>
        </p:spPr>
        <p:txBody>
          <a:bodyPr/>
          <a:lstStyle/>
          <a:p>
            <a:pPr>
              <a:lnSpc>
                <a:spcPct val="65000"/>
              </a:lnSpc>
              <a:spcBef>
                <a:spcPct val="50000"/>
              </a:spcBef>
              <a:defRPr/>
            </a:pPr>
            <a:r>
              <a:rPr lang="zh-CN" altLang="en-US" sz="3600" dirty="0">
                <a:solidFill>
                  <a:srgbClr val="0000FF"/>
                </a:solidFill>
                <a:latin typeface="方正姚体" pitchFamily="2" charset="-122"/>
                <a:ea typeface="方正姚体" pitchFamily="2" charset="-122"/>
                <a:cs typeface="+mn-cs"/>
              </a:rPr>
              <a:t>模式识别与机器学习</a:t>
            </a:r>
            <a:endParaRPr lang="zh-CN" altLang="en-GB" sz="3600" dirty="0">
              <a:solidFill>
                <a:srgbClr val="0000FF"/>
              </a:solidFill>
              <a:latin typeface="方正姚体" pitchFamily="2" charset="-122"/>
              <a:ea typeface="方正姚体" pitchFamily="2" charset="-122"/>
              <a:cs typeface="+mn-cs"/>
            </a:endParaRPr>
          </a:p>
        </p:txBody>
      </p:sp>
      <p:sp>
        <p:nvSpPr>
          <p:cNvPr id="4100" name="TextBox 6"/>
          <p:cNvSpPr txBox="1">
            <a:spLocks noChangeArrowheads="1"/>
          </p:cNvSpPr>
          <p:nvPr/>
        </p:nvSpPr>
        <p:spPr bwMode="auto">
          <a:xfrm>
            <a:off x="6672064" y="2332"/>
            <a:ext cx="5369223" cy="646331"/>
          </a:xfrm>
          <a:prstGeom prst="rect">
            <a:avLst/>
          </a:prstGeom>
          <a:noFill/>
          <a:ln w="9525">
            <a:noFill/>
            <a:miter lim="800000"/>
            <a:headEnd/>
            <a:tailEnd/>
          </a:ln>
        </p:spPr>
        <p:txBody>
          <a:bodyPr wrap="square">
            <a:spAutoFit/>
          </a:bodyPr>
          <a:lstStyle/>
          <a:p>
            <a:pPr algn="r"/>
            <a:r>
              <a:rPr lang="zh-CN" altLang="en-US" sz="3600" b="1" dirty="0">
                <a:solidFill>
                  <a:srgbClr val="418D91"/>
                </a:solidFill>
                <a:latin typeface="黑体" pitchFamily="49" charset="-122"/>
                <a:ea typeface="黑体" pitchFamily="49" charset="-122"/>
              </a:rPr>
              <a:t>人工智能与自动化学院</a:t>
            </a:r>
          </a:p>
        </p:txBody>
      </p:sp>
      <p:sp>
        <p:nvSpPr>
          <p:cNvPr id="4" name="矩形 3"/>
          <p:cNvSpPr/>
          <p:nvPr/>
        </p:nvSpPr>
        <p:spPr>
          <a:xfrm>
            <a:off x="5231909" y="3717037"/>
            <a:ext cx="4357719" cy="1200329"/>
          </a:xfrm>
          <a:prstGeom prst="rect">
            <a:avLst/>
          </a:prstGeom>
        </p:spPr>
        <p:txBody>
          <a:bodyPr wrap="square">
            <a:spAutoFit/>
          </a:bodyPr>
          <a:lstStyle/>
          <a:p>
            <a:r>
              <a:rPr lang="zh-CN" altLang="en-US" sz="3600" b="1" dirty="0"/>
              <a:t>集成学习 </a:t>
            </a:r>
            <a:endParaRPr lang="en-US" altLang="zh-CN" sz="3600" b="1" dirty="0"/>
          </a:p>
          <a:p>
            <a:r>
              <a:rPr lang="en-US" altLang="zh-CN" sz="3600" b="1" dirty="0"/>
              <a:t>                     </a:t>
            </a:r>
            <a:endParaRPr lang="zh-CN" altLang="en-US" sz="3600" dirty="0"/>
          </a:p>
        </p:txBody>
      </p:sp>
    </p:spTree>
    <p:extLst>
      <p:ext uri="{BB962C8B-B14F-4D97-AF65-F5344CB8AC3E}">
        <p14:creationId xmlns:p14="http://schemas.microsoft.com/office/powerpoint/2010/main" val="3936469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第十二章 集成学习</a:t>
            </a:r>
          </a:p>
        </p:txBody>
      </p:sp>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2</a:t>
            </a:fld>
            <a:endParaRPr lang="en-US" altLang="zh-CN" dirty="0"/>
          </a:p>
        </p:txBody>
      </p:sp>
      <p:sp>
        <p:nvSpPr>
          <p:cNvPr id="8" name="Freeform 6"/>
          <p:cNvSpPr>
            <a:spLocks/>
          </p:cNvSpPr>
          <p:nvPr/>
        </p:nvSpPr>
        <p:spPr bwMode="auto">
          <a:xfrm>
            <a:off x="1524000" y="5589240"/>
            <a:ext cx="9144000" cy="864096"/>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tx2">
              <a:lumMod val="40000"/>
              <a:lumOff val="60000"/>
            </a:schemeClr>
          </a:solidFill>
          <a:ln w="0">
            <a:noFill/>
            <a:prstDash val="solid"/>
            <a:round/>
            <a:headEnd/>
            <a:tailEnd/>
          </a:ln>
        </p:spPr>
        <p:txBody>
          <a:bodyPr vert="horz" wrap="square" lIns="128580" tIns="64291" rIns="128580" bIns="64291" numCol="1" anchor="t" anchorCtr="0" compatLnSpc="1">
            <a:prstTxWarp prst="textNoShape">
              <a:avLst/>
            </a:prstTxWarp>
          </a:bodyPr>
          <a:lstStyle/>
          <a:p>
            <a:endParaRPr lang="zh-CN" altLang="en-US"/>
          </a:p>
        </p:txBody>
      </p:sp>
      <p:sp>
        <p:nvSpPr>
          <p:cNvPr id="9" name="Freeform 7"/>
          <p:cNvSpPr>
            <a:spLocks/>
          </p:cNvSpPr>
          <p:nvPr/>
        </p:nvSpPr>
        <p:spPr bwMode="auto">
          <a:xfrm>
            <a:off x="1524358" y="5425007"/>
            <a:ext cx="9143647" cy="296509"/>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tx2">
              <a:lumMod val="40000"/>
              <a:lumOff val="60000"/>
            </a:schemeClr>
          </a:solidFill>
          <a:ln w="0">
            <a:noFill/>
            <a:prstDash val="solid"/>
            <a:round/>
            <a:headEnd/>
            <a:tailEnd/>
          </a:ln>
        </p:spPr>
        <p:txBody>
          <a:bodyPr vert="horz" wrap="square" lIns="128580" tIns="64291" rIns="128580" bIns="64291" numCol="1" anchor="t" anchorCtr="0" compatLnSpc="1">
            <a:prstTxWarp prst="textNoShape">
              <a:avLst/>
            </a:prstTxWarp>
          </a:bodyPr>
          <a:lstStyle/>
          <a:p>
            <a:endParaRPr lang="zh-CN" altLang="en-US">
              <a:solidFill>
                <a:schemeClr val="tx2">
                  <a:lumMod val="20000"/>
                  <a:lumOff val="80000"/>
                </a:schemeClr>
              </a:solidFill>
            </a:endParaRPr>
          </a:p>
        </p:txBody>
      </p:sp>
      <p:sp>
        <p:nvSpPr>
          <p:cNvPr id="3" name="矩形 2"/>
          <p:cNvSpPr/>
          <p:nvPr/>
        </p:nvSpPr>
        <p:spPr>
          <a:xfrm>
            <a:off x="1523995" y="1340768"/>
            <a:ext cx="8424936" cy="4616648"/>
          </a:xfrm>
          <a:prstGeom prst="rect">
            <a:avLst/>
          </a:prstGeom>
        </p:spPr>
        <p:txBody>
          <a:bodyPr wrap="square">
            <a:spAutoFit/>
          </a:bodyPr>
          <a:lstStyle/>
          <a:p>
            <a:pPr>
              <a:lnSpc>
                <a:spcPct val="150000"/>
              </a:lnSpc>
            </a:pPr>
            <a:r>
              <a:rPr lang="zh-CN" altLang="en-US" sz="2800" b="1" dirty="0"/>
              <a:t>前言</a:t>
            </a:r>
            <a:endParaRPr lang="en-US" sz="2800" b="1" dirty="0"/>
          </a:p>
          <a:p>
            <a:pPr>
              <a:lnSpc>
                <a:spcPct val="150000"/>
              </a:lnSpc>
            </a:pPr>
            <a:r>
              <a:rPr lang="en-US" sz="2800" b="1" dirty="0"/>
              <a:t>12.</a:t>
            </a:r>
            <a:r>
              <a:rPr lang="en-US" altLang="zh-CN" sz="2800" b="1" dirty="0"/>
              <a:t>1</a:t>
            </a:r>
            <a:r>
              <a:rPr lang="en-US" sz="2800" b="1" dirty="0"/>
              <a:t>  Bagging</a:t>
            </a:r>
            <a:r>
              <a:rPr lang="zh-CN" altLang="en-US" sz="2800" b="1" dirty="0"/>
              <a:t>算法</a:t>
            </a:r>
          </a:p>
          <a:p>
            <a:pPr>
              <a:lnSpc>
                <a:spcPct val="150000"/>
              </a:lnSpc>
            </a:pPr>
            <a:r>
              <a:rPr lang="en-US" sz="2800" b="1" dirty="0"/>
              <a:t>12.2  </a:t>
            </a:r>
            <a:r>
              <a:rPr lang="en-US" sz="2800" b="1" dirty="0" err="1"/>
              <a:t>AdaBoost</a:t>
            </a:r>
            <a:r>
              <a:rPr lang="zh-CN" altLang="en-US" sz="2800" b="1" dirty="0"/>
              <a:t>算法</a:t>
            </a:r>
            <a:endParaRPr lang="en-US" altLang="zh-CN" sz="2800" b="1" dirty="0"/>
          </a:p>
          <a:p>
            <a:pPr>
              <a:lnSpc>
                <a:spcPct val="150000"/>
              </a:lnSpc>
            </a:pPr>
            <a:r>
              <a:rPr lang="en-US" altLang="zh-CN" sz="2800" b="1" dirty="0"/>
              <a:t>12.3  Bagging </a:t>
            </a:r>
            <a:r>
              <a:rPr lang="zh-CN" altLang="en-US" sz="2800" b="1" dirty="0"/>
              <a:t>和</a:t>
            </a:r>
            <a:r>
              <a:rPr lang="en-US" altLang="zh-CN" sz="2800" b="1" dirty="0"/>
              <a:t>boosting</a:t>
            </a:r>
            <a:r>
              <a:rPr lang="zh-CN" altLang="en-US" sz="2800" b="1" dirty="0"/>
              <a:t>的比较与实例分析</a:t>
            </a:r>
            <a:endParaRPr lang="en-US" altLang="zh-CN" sz="2800" b="1" dirty="0"/>
          </a:p>
          <a:p>
            <a:pPr>
              <a:lnSpc>
                <a:spcPct val="150000"/>
              </a:lnSpc>
            </a:pPr>
            <a:r>
              <a:rPr lang="en-US" altLang="zh-CN" sz="2800" b="1" dirty="0">
                <a:solidFill>
                  <a:srgbClr val="7030A0"/>
                </a:solidFill>
              </a:rPr>
              <a:t>12.4  </a:t>
            </a:r>
            <a:r>
              <a:rPr lang="zh-CN" altLang="en-US" sz="2800" b="1" dirty="0">
                <a:solidFill>
                  <a:srgbClr val="7030A0"/>
                </a:solidFill>
              </a:rPr>
              <a:t>决策树（见下一</a:t>
            </a:r>
            <a:r>
              <a:rPr lang="en-US" altLang="zh-CN" sz="2800" b="1" dirty="0" err="1">
                <a:solidFill>
                  <a:srgbClr val="7030A0"/>
                </a:solidFill>
              </a:rPr>
              <a:t>ppt</a:t>
            </a:r>
            <a:r>
              <a:rPr lang="zh-CN" altLang="en-US" sz="2800" b="1" dirty="0">
                <a:solidFill>
                  <a:srgbClr val="7030A0"/>
                </a:solidFill>
              </a:rPr>
              <a:t>）</a:t>
            </a:r>
            <a:endParaRPr lang="en-US" altLang="zh-CN" sz="2800" b="1" dirty="0">
              <a:solidFill>
                <a:srgbClr val="7030A0"/>
              </a:solidFill>
            </a:endParaRPr>
          </a:p>
          <a:p>
            <a:pPr>
              <a:lnSpc>
                <a:spcPct val="150000"/>
              </a:lnSpc>
            </a:pPr>
            <a:r>
              <a:rPr lang="en-US" altLang="zh-CN" sz="2800" b="1" dirty="0">
                <a:solidFill>
                  <a:srgbClr val="7030A0"/>
                </a:solidFill>
              </a:rPr>
              <a:t>12.4  </a:t>
            </a:r>
            <a:r>
              <a:rPr lang="zh-CN" altLang="en-US" sz="2800" b="1" dirty="0">
                <a:solidFill>
                  <a:srgbClr val="7030A0"/>
                </a:solidFill>
              </a:rPr>
              <a:t>随机森林（见下一</a:t>
            </a:r>
            <a:r>
              <a:rPr lang="en-US" altLang="zh-CN" sz="2800" b="1" dirty="0" err="1">
                <a:solidFill>
                  <a:srgbClr val="7030A0"/>
                </a:solidFill>
              </a:rPr>
              <a:t>ppt</a:t>
            </a:r>
            <a:r>
              <a:rPr lang="zh-CN" altLang="en-US" sz="2800" b="1" dirty="0">
                <a:solidFill>
                  <a:srgbClr val="7030A0"/>
                </a:solidFill>
              </a:rPr>
              <a:t>）</a:t>
            </a:r>
            <a:endParaRPr lang="en-US" altLang="zh-CN" sz="2800" b="1" dirty="0">
              <a:solidFill>
                <a:srgbClr val="7030A0"/>
              </a:solidFill>
            </a:endParaRPr>
          </a:p>
          <a:p>
            <a:pPr>
              <a:lnSpc>
                <a:spcPct val="150000"/>
              </a:lnSpc>
            </a:pPr>
            <a:endParaRPr lang="zh-CN" altLang="en-US" sz="2800" b="1" dirty="0">
              <a:solidFill>
                <a:srgbClr val="7030A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1026"/>
          <p:cNvSpPr>
            <a:spLocks noGrp="1" noChangeArrowheads="1"/>
          </p:cNvSpPr>
          <p:nvPr>
            <p:ph type="title"/>
          </p:nvPr>
        </p:nvSpPr>
        <p:spPr>
          <a:xfrm>
            <a:off x="479376" y="1137321"/>
            <a:ext cx="6172200" cy="563563"/>
          </a:xfrm>
        </p:spPr>
        <p:txBody>
          <a:bodyPr/>
          <a:lstStyle/>
          <a:p>
            <a:r>
              <a:rPr lang="zh-CN" altLang="en-US" dirty="0"/>
              <a:t>分类</a:t>
            </a:r>
          </a:p>
        </p:txBody>
      </p:sp>
      <p:sp>
        <p:nvSpPr>
          <p:cNvPr id="153603" name="Rectangle 1027"/>
          <p:cNvSpPr>
            <a:spLocks noGrp="1" noChangeArrowheads="1"/>
          </p:cNvSpPr>
          <p:nvPr>
            <p:ph type="body" idx="1"/>
          </p:nvPr>
        </p:nvSpPr>
        <p:spPr>
          <a:xfrm>
            <a:off x="983432" y="1844824"/>
            <a:ext cx="6970712" cy="4114800"/>
          </a:xfrm>
        </p:spPr>
        <p:txBody>
          <a:bodyPr/>
          <a:lstStyle/>
          <a:p>
            <a:r>
              <a:rPr lang="zh-CN" altLang="en-US" b="1" dirty="0"/>
              <a:t>决策树分类</a:t>
            </a:r>
            <a:r>
              <a:rPr lang="en-US" altLang="zh-CN" b="1" dirty="0"/>
              <a:t>:</a:t>
            </a:r>
          </a:p>
          <a:p>
            <a:pPr lvl="1"/>
            <a:r>
              <a:rPr lang="en-US" altLang="zh-CN" b="1" dirty="0"/>
              <a:t>ID3</a:t>
            </a:r>
          </a:p>
          <a:p>
            <a:pPr lvl="1"/>
            <a:r>
              <a:rPr lang="en-US" altLang="zh-CN" b="1" dirty="0"/>
              <a:t>C4.5</a:t>
            </a:r>
          </a:p>
          <a:p>
            <a:r>
              <a:rPr lang="zh-CN" altLang="en-US" b="1" dirty="0"/>
              <a:t>贝叶斯分类</a:t>
            </a:r>
          </a:p>
          <a:p>
            <a:r>
              <a:rPr lang="zh-CN" altLang="en-US" b="1" dirty="0"/>
              <a:t>后向传播分类</a:t>
            </a:r>
          </a:p>
          <a:p>
            <a:r>
              <a:rPr lang="zh-CN" altLang="en-US" b="1" dirty="0">
                <a:solidFill>
                  <a:srgbClr val="FF0000"/>
                </a:solidFill>
              </a:rPr>
              <a:t>其它分类</a:t>
            </a:r>
          </a:p>
        </p:txBody>
      </p:sp>
      <p:sp>
        <p:nvSpPr>
          <p:cNvPr id="4" name="矩形 3"/>
          <p:cNvSpPr/>
          <p:nvPr/>
        </p:nvSpPr>
        <p:spPr>
          <a:xfrm>
            <a:off x="2024035" y="142858"/>
            <a:ext cx="1107996" cy="646331"/>
          </a:xfrm>
          <a:prstGeom prst="rect">
            <a:avLst/>
          </a:prstGeom>
        </p:spPr>
        <p:txBody>
          <a:bodyPr wrap="none">
            <a:spAutoFit/>
          </a:bodyPr>
          <a:lstStyle/>
          <a:p>
            <a:r>
              <a:rPr lang="zh-CN" altLang="en-US" sz="3600" b="1" dirty="0"/>
              <a:t>前言</a:t>
            </a:r>
          </a:p>
        </p:txBody>
      </p:sp>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3</a:t>
            </a:fld>
            <a:endParaRPr lang="en-US" altLang="zh-CN"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638911" y="2256202"/>
            <a:ext cx="7391400" cy="1752600"/>
            <a:chOff x="2438400" y="4114800"/>
            <a:chExt cx="7391400" cy="1752600"/>
          </a:xfrm>
        </p:grpSpPr>
        <p:sp>
          <p:nvSpPr>
            <p:cNvPr id="96260" name="AutoShape 4"/>
            <p:cNvSpPr>
              <a:spLocks noChangeArrowheads="1"/>
            </p:cNvSpPr>
            <p:nvPr/>
          </p:nvSpPr>
          <p:spPr bwMode="auto">
            <a:xfrm>
              <a:off x="2438400" y="4648200"/>
              <a:ext cx="1219200" cy="914400"/>
            </a:xfrm>
            <a:prstGeom prst="can">
              <a:avLst>
                <a:gd name="adj" fmla="val 42361"/>
              </a:avLst>
            </a:prstGeom>
            <a:solidFill>
              <a:schemeClr val="bg1"/>
            </a:solidFill>
            <a:ln w="9525">
              <a:solidFill>
                <a:schemeClr val="tx1"/>
              </a:solidFill>
              <a:miter lim="800000"/>
              <a:headEnd/>
              <a:tailEnd/>
            </a:ln>
            <a:effectLst/>
          </p:spPr>
          <p:txBody>
            <a:bodyPr wrap="none" anchor="ctr"/>
            <a:lstStyle/>
            <a:p>
              <a:pPr algn="ctr" eaLnBrk="1" hangingPunct="1"/>
              <a:r>
                <a:rPr kumimoji="1" lang="zh-CN" altLang="en-US" sz="2000" dirty="0">
                  <a:latin typeface="Tahoma" pitchFamily="34" charset="0"/>
                </a:rPr>
                <a:t>数据</a:t>
              </a:r>
            </a:p>
          </p:txBody>
        </p:sp>
        <p:sp>
          <p:nvSpPr>
            <p:cNvPr id="96261" name="Line 5"/>
            <p:cNvSpPr>
              <a:spLocks noChangeShapeType="1"/>
            </p:cNvSpPr>
            <p:nvPr/>
          </p:nvSpPr>
          <p:spPr bwMode="auto">
            <a:xfrm flipV="1">
              <a:off x="3733800" y="4724400"/>
              <a:ext cx="609600" cy="22860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96262" name="Line 6"/>
            <p:cNvSpPr>
              <a:spLocks noChangeShapeType="1"/>
            </p:cNvSpPr>
            <p:nvPr/>
          </p:nvSpPr>
          <p:spPr bwMode="auto">
            <a:xfrm>
              <a:off x="3657600" y="5334000"/>
              <a:ext cx="762000" cy="15240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96263" name="AutoShape 7"/>
            <p:cNvSpPr>
              <a:spLocks noChangeArrowheads="1"/>
            </p:cNvSpPr>
            <p:nvPr/>
          </p:nvSpPr>
          <p:spPr bwMode="auto">
            <a:xfrm>
              <a:off x="4343400" y="4267200"/>
              <a:ext cx="1066800" cy="685800"/>
            </a:xfrm>
            <a:prstGeom prst="can">
              <a:avLst>
                <a:gd name="adj" fmla="val 25000"/>
              </a:avLst>
            </a:prstGeom>
            <a:solidFill>
              <a:schemeClr val="bg1"/>
            </a:solidFill>
            <a:ln w="9525">
              <a:solidFill>
                <a:schemeClr val="tx1"/>
              </a:solidFill>
              <a:round/>
              <a:headEnd/>
              <a:tailEnd/>
            </a:ln>
            <a:effectLst/>
          </p:spPr>
          <p:txBody>
            <a:bodyPr wrap="none" anchor="ctr"/>
            <a:lstStyle/>
            <a:p>
              <a:pPr algn="ctr" eaLnBrk="1" hangingPunct="1"/>
              <a:r>
                <a:rPr kumimoji="1" lang="zh-CN" altLang="en-US" sz="2000" dirty="0">
                  <a:latin typeface="Tahoma" pitchFamily="34" charset="0"/>
                </a:rPr>
                <a:t>训练集</a:t>
              </a:r>
            </a:p>
          </p:txBody>
        </p:sp>
        <p:sp>
          <p:nvSpPr>
            <p:cNvPr id="96264" name="AutoShape 8"/>
            <p:cNvSpPr>
              <a:spLocks noChangeArrowheads="1"/>
            </p:cNvSpPr>
            <p:nvPr/>
          </p:nvSpPr>
          <p:spPr bwMode="auto">
            <a:xfrm>
              <a:off x="4419600" y="5181600"/>
              <a:ext cx="1143000" cy="685800"/>
            </a:xfrm>
            <a:prstGeom prst="can">
              <a:avLst>
                <a:gd name="adj" fmla="val 25000"/>
              </a:avLst>
            </a:prstGeom>
            <a:solidFill>
              <a:schemeClr val="bg1"/>
            </a:solidFill>
            <a:ln w="9525">
              <a:solidFill>
                <a:schemeClr val="tx1"/>
              </a:solidFill>
              <a:round/>
              <a:headEnd/>
              <a:tailEnd/>
            </a:ln>
            <a:effectLst/>
          </p:spPr>
          <p:txBody>
            <a:bodyPr wrap="none" anchor="ctr"/>
            <a:lstStyle/>
            <a:p>
              <a:pPr algn="ctr" eaLnBrk="1" hangingPunct="1"/>
              <a:r>
                <a:rPr kumimoji="1" lang="zh-CN" altLang="en-US" sz="2000" dirty="0">
                  <a:latin typeface="Tahoma" pitchFamily="34" charset="0"/>
                </a:rPr>
                <a:t>测试集</a:t>
              </a:r>
            </a:p>
          </p:txBody>
        </p:sp>
        <p:sp>
          <p:nvSpPr>
            <p:cNvPr id="96265" name="Oval 9"/>
            <p:cNvSpPr>
              <a:spLocks noChangeArrowheads="1"/>
            </p:cNvSpPr>
            <p:nvPr/>
          </p:nvSpPr>
          <p:spPr bwMode="auto">
            <a:xfrm>
              <a:off x="6172204" y="4191000"/>
              <a:ext cx="1566875" cy="7620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sz="2000" dirty="0">
                  <a:latin typeface="Tahoma" pitchFamily="34" charset="0"/>
                </a:rPr>
                <a:t>导出分类法</a:t>
              </a:r>
            </a:p>
          </p:txBody>
        </p:sp>
        <p:sp>
          <p:nvSpPr>
            <p:cNvPr id="96266" name="Oval 10"/>
            <p:cNvSpPr>
              <a:spLocks noChangeArrowheads="1"/>
            </p:cNvSpPr>
            <p:nvPr/>
          </p:nvSpPr>
          <p:spPr bwMode="auto">
            <a:xfrm>
              <a:off x="8382000" y="4114800"/>
              <a:ext cx="1447800" cy="838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sz="2000" dirty="0">
                  <a:latin typeface="Tahoma" pitchFamily="34" charset="0"/>
                </a:rPr>
                <a:t>评估准确性</a:t>
              </a:r>
            </a:p>
          </p:txBody>
        </p:sp>
        <p:sp>
          <p:nvSpPr>
            <p:cNvPr id="96267" name="Line 11"/>
            <p:cNvSpPr>
              <a:spLocks noChangeShapeType="1"/>
            </p:cNvSpPr>
            <p:nvPr/>
          </p:nvSpPr>
          <p:spPr bwMode="auto">
            <a:xfrm>
              <a:off x="5469083" y="4613564"/>
              <a:ext cx="6858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96268" name="Line 12"/>
            <p:cNvSpPr>
              <a:spLocks noChangeShapeType="1"/>
            </p:cNvSpPr>
            <p:nvPr/>
          </p:nvSpPr>
          <p:spPr bwMode="auto">
            <a:xfrm>
              <a:off x="7696200" y="4648200"/>
              <a:ext cx="685800" cy="0"/>
            </a:xfrm>
            <a:prstGeom prst="line">
              <a:avLst/>
            </a:prstGeom>
            <a:noFill/>
            <a:ln w="9525">
              <a:solidFill>
                <a:schemeClr val="tx1"/>
              </a:solidFill>
              <a:round/>
              <a:headEnd/>
              <a:tailEnd type="triangle" w="med" len="med"/>
            </a:ln>
            <a:effectLst/>
          </p:spPr>
          <p:txBody>
            <a:bodyPr wrap="none" anchor="ctr"/>
            <a:lstStyle/>
            <a:p>
              <a:endParaRPr lang="zh-CN" altLang="en-US"/>
            </a:p>
          </p:txBody>
        </p:sp>
        <p:cxnSp>
          <p:nvCxnSpPr>
            <p:cNvPr id="96269" name="AutoShape 13"/>
            <p:cNvCxnSpPr>
              <a:cxnSpLocks noChangeShapeType="1"/>
              <a:stCxn id="96264" idx="4"/>
              <a:endCxn id="96266" idx="4"/>
            </p:cNvCxnSpPr>
            <p:nvPr/>
          </p:nvCxnSpPr>
          <p:spPr bwMode="auto">
            <a:xfrm flipV="1">
              <a:off x="5562601" y="4953001"/>
              <a:ext cx="3543300" cy="571500"/>
            </a:xfrm>
            <a:prstGeom prst="bentConnector2">
              <a:avLst/>
            </a:prstGeom>
            <a:noFill/>
            <a:ln w="9525">
              <a:solidFill>
                <a:schemeClr val="tx1"/>
              </a:solidFill>
              <a:miter lim="800000"/>
              <a:headEnd/>
              <a:tailEnd type="triangle" w="med" len="med"/>
            </a:ln>
            <a:effectLst/>
          </p:spPr>
        </p:cxnSp>
      </p:grpSp>
      <p:sp>
        <p:nvSpPr>
          <p:cNvPr id="14" name="灯片编号占位符 13"/>
          <p:cNvSpPr>
            <a:spLocks noGrp="1"/>
          </p:cNvSpPr>
          <p:nvPr>
            <p:ph type="sldNum" sz="quarter" idx="11"/>
          </p:nvPr>
        </p:nvSpPr>
        <p:spPr/>
        <p:txBody>
          <a:bodyPr/>
          <a:lstStyle/>
          <a:p>
            <a:pPr>
              <a:defRPr/>
            </a:pPr>
            <a:fld id="{31E287EE-1289-4991-82CE-EFE584F53F4F}" type="slidenum">
              <a:rPr lang="en-US" altLang="zh-CN" smtClean="0"/>
              <a:pPr>
                <a:defRPr/>
              </a:pPr>
              <a:t>4</a:t>
            </a:fld>
            <a:endParaRPr lang="en-US" altLang="zh-CN" dirty="0"/>
          </a:p>
        </p:txBody>
      </p:sp>
      <p:sp>
        <p:nvSpPr>
          <p:cNvPr id="15" name="Rectangle 2"/>
          <p:cNvSpPr txBox="1">
            <a:spLocks noChangeArrowheads="1"/>
          </p:cNvSpPr>
          <p:nvPr/>
        </p:nvSpPr>
        <p:spPr bwMode="black">
          <a:xfrm>
            <a:off x="228600" y="107156"/>
            <a:ext cx="8229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189" algn="l" rtl="0" eaLnBrk="1" fontAlgn="base" hangingPunct="1">
              <a:spcBef>
                <a:spcPct val="0"/>
              </a:spcBef>
              <a:spcAft>
                <a:spcPct val="0"/>
              </a:spcAft>
              <a:defRPr sz="3200">
                <a:solidFill>
                  <a:schemeClr val="tx2"/>
                </a:solidFill>
                <a:latin typeface="Arial" charset="0"/>
              </a:defRPr>
            </a:lvl6pPr>
            <a:lvl7pPr marL="914377" algn="l" rtl="0" eaLnBrk="1" fontAlgn="base" hangingPunct="1">
              <a:spcBef>
                <a:spcPct val="0"/>
              </a:spcBef>
              <a:spcAft>
                <a:spcPct val="0"/>
              </a:spcAft>
              <a:defRPr sz="3200">
                <a:solidFill>
                  <a:schemeClr val="tx2"/>
                </a:solidFill>
                <a:latin typeface="Arial" charset="0"/>
              </a:defRPr>
            </a:lvl7pPr>
            <a:lvl8pPr marL="1371566" algn="l" rtl="0" eaLnBrk="1" fontAlgn="base" hangingPunct="1">
              <a:spcBef>
                <a:spcPct val="0"/>
              </a:spcBef>
              <a:spcAft>
                <a:spcPct val="0"/>
              </a:spcAft>
              <a:defRPr sz="3200">
                <a:solidFill>
                  <a:schemeClr val="tx2"/>
                </a:solidFill>
                <a:latin typeface="Arial" charset="0"/>
              </a:defRPr>
            </a:lvl8pPr>
            <a:lvl9pPr marL="1828754" algn="l" rtl="0" eaLnBrk="1" fontAlgn="base" hangingPunct="1">
              <a:spcBef>
                <a:spcPct val="0"/>
              </a:spcBef>
              <a:spcAft>
                <a:spcPct val="0"/>
              </a:spcAft>
              <a:defRPr sz="3200">
                <a:solidFill>
                  <a:schemeClr val="tx2"/>
                </a:solidFill>
                <a:latin typeface="Arial" charset="0"/>
              </a:defRPr>
            </a:lvl9pPr>
          </a:lstStyle>
          <a:p>
            <a:r>
              <a:rPr lang="zh-CN" altLang="en-US" kern="0" dirty="0"/>
              <a:t>分类法的准确性</a:t>
            </a:r>
          </a:p>
        </p:txBody>
      </p:sp>
      <p:sp>
        <p:nvSpPr>
          <p:cNvPr id="16" name="Rectangle 3"/>
          <p:cNvSpPr txBox="1">
            <a:spLocks noChangeArrowheads="1"/>
          </p:cNvSpPr>
          <p:nvPr/>
        </p:nvSpPr>
        <p:spPr bwMode="gray">
          <a:xfrm>
            <a:off x="14561" y="908720"/>
            <a:ext cx="10978357" cy="43204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32" indent="-285744"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2971" indent="-228594" algn="l" rtl="0" eaLnBrk="0" fontAlgn="base" hangingPunct="0">
              <a:spcBef>
                <a:spcPct val="20000"/>
              </a:spcBef>
              <a:spcAft>
                <a:spcPct val="0"/>
              </a:spcAft>
              <a:buClr>
                <a:schemeClr val="accent2"/>
              </a:buClr>
              <a:buChar char="•"/>
              <a:defRPr sz="2400">
                <a:solidFill>
                  <a:schemeClr val="tx1"/>
                </a:solidFill>
                <a:latin typeface="+mn-lt"/>
              </a:defRPr>
            </a:lvl3pPr>
            <a:lvl4pPr marL="1600160" indent="-228594" algn="l" rtl="0" eaLnBrk="0" fontAlgn="base" hangingPunct="0">
              <a:spcBef>
                <a:spcPct val="20000"/>
              </a:spcBef>
              <a:spcAft>
                <a:spcPct val="0"/>
              </a:spcAft>
              <a:buChar char="–"/>
              <a:defRPr sz="2000">
                <a:solidFill>
                  <a:schemeClr val="tx1"/>
                </a:solidFill>
                <a:latin typeface="+mn-lt"/>
              </a:defRPr>
            </a:lvl4pPr>
            <a:lvl5pPr marL="2057349" indent="-228594" algn="l" rtl="0" eaLnBrk="0" fontAlgn="base" hangingPunct="0">
              <a:spcBef>
                <a:spcPct val="20000"/>
              </a:spcBef>
              <a:spcAft>
                <a:spcPct val="0"/>
              </a:spcAft>
              <a:buChar char="»"/>
              <a:defRPr sz="2000">
                <a:solidFill>
                  <a:schemeClr val="tx1"/>
                </a:solidFill>
                <a:latin typeface="+mn-lt"/>
              </a:defRPr>
            </a:lvl5pPr>
            <a:lvl6pPr marL="2514537" indent="-228594" algn="l" rtl="0" eaLnBrk="1" fontAlgn="base" hangingPunct="1">
              <a:spcBef>
                <a:spcPct val="20000"/>
              </a:spcBef>
              <a:spcAft>
                <a:spcPct val="0"/>
              </a:spcAft>
              <a:buChar char="»"/>
              <a:defRPr sz="2000">
                <a:solidFill>
                  <a:schemeClr val="tx1"/>
                </a:solidFill>
                <a:latin typeface="+mn-lt"/>
              </a:defRPr>
            </a:lvl6pPr>
            <a:lvl7pPr marL="2971726" indent="-228594" algn="l" rtl="0" eaLnBrk="1" fontAlgn="base" hangingPunct="1">
              <a:spcBef>
                <a:spcPct val="20000"/>
              </a:spcBef>
              <a:spcAft>
                <a:spcPct val="0"/>
              </a:spcAft>
              <a:buChar char="»"/>
              <a:defRPr sz="2000">
                <a:solidFill>
                  <a:schemeClr val="tx1"/>
                </a:solidFill>
                <a:latin typeface="+mn-lt"/>
              </a:defRPr>
            </a:lvl7pPr>
            <a:lvl8pPr marL="3428914" indent="-228594" algn="l" rtl="0" eaLnBrk="1" fontAlgn="base" hangingPunct="1">
              <a:spcBef>
                <a:spcPct val="20000"/>
              </a:spcBef>
              <a:spcAft>
                <a:spcPct val="0"/>
              </a:spcAft>
              <a:buChar char="»"/>
              <a:defRPr sz="2000">
                <a:solidFill>
                  <a:schemeClr val="tx1"/>
                </a:solidFill>
                <a:latin typeface="+mn-lt"/>
              </a:defRPr>
            </a:lvl8pPr>
            <a:lvl9pPr marL="3886103" indent="-228594" algn="l" rtl="0" eaLnBrk="1" fontAlgn="base" hangingPunct="1">
              <a:spcBef>
                <a:spcPct val="20000"/>
              </a:spcBef>
              <a:spcAft>
                <a:spcPct val="0"/>
              </a:spcAft>
              <a:buChar char="»"/>
              <a:defRPr sz="2000">
                <a:solidFill>
                  <a:schemeClr val="tx1"/>
                </a:solidFill>
                <a:latin typeface="+mn-lt"/>
              </a:defRPr>
            </a:lvl9pPr>
          </a:lstStyle>
          <a:p>
            <a:r>
              <a:rPr lang="zh-CN" altLang="en-US" b="1" kern="0" dirty="0">
                <a:solidFill>
                  <a:srgbClr val="FF0000"/>
                </a:solidFill>
              </a:rPr>
              <a:t>评估分类法的准确率 </a:t>
            </a:r>
          </a:p>
          <a:p>
            <a:pPr marL="560388" lvl="1" indent="-379413"/>
            <a:r>
              <a:rPr lang="zh-CN" altLang="en-US" b="1" kern="0" dirty="0">
                <a:solidFill>
                  <a:srgbClr val="0000FF"/>
                </a:solidFill>
              </a:rPr>
              <a:t>保持（</a:t>
            </a:r>
            <a:r>
              <a:rPr lang="en-US" altLang="zh-CN" b="1" kern="0" dirty="0">
                <a:solidFill>
                  <a:srgbClr val="0000FF"/>
                </a:solidFill>
              </a:rPr>
              <a:t>holdout</a:t>
            </a:r>
            <a:r>
              <a:rPr lang="zh-CN" altLang="en-US" b="1" kern="0" dirty="0"/>
              <a:t>）</a:t>
            </a:r>
            <a:endParaRPr lang="en-US" altLang="zh-CN" b="1" kern="0" dirty="0"/>
          </a:p>
          <a:p>
            <a:pPr marL="457188" lvl="1" indent="0">
              <a:lnSpc>
                <a:spcPct val="110000"/>
              </a:lnSpc>
              <a:buNone/>
            </a:pPr>
            <a:r>
              <a:rPr lang="zh-CN" altLang="en-US" sz="2000" b="1" dirty="0"/>
              <a:t>       </a:t>
            </a:r>
            <a:r>
              <a:rPr lang="en-US" altLang="zh-CN" sz="2000" b="1" dirty="0"/>
              <a:t>(1)</a:t>
            </a:r>
            <a:r>
              <a:rPr lang="zh-CN" altLang="en-US" sz="2000" b="1" dirty="0"/>
              <a:t>划分为两个独立的数据集</a:t>
            </a:r>
            <a:r>
              <a:rPr lang="en-US" altLang="zh-CN" sz="2000" b="1" dirty="0"/>
              <a:t>,</a:t>
            </a:r>
            <a:r>
              <a:rPr lang="zh-CN" altLang="en-US" sz="2000" b="1" dirty="0"/>
              <a:t> 通常：训练集 </a:t>
            </a:r>
            <a:r>
              <a:rPr lang="en-US" altLang="zh-CN" sz="2000" b="1" dirty="0"/>
              <a:t>(2/3),</a:t>
            </a:r>
            <a:r>
              <a:rPr lang="zh-CN" altLang="en-US" sz="2000" b="1" dirty="0"/>
              <a:t>测试集</a:t>
            </a:r>
            <a:r>
              <a:rPr lang="en-US" altLang="zh-CN" sz="2000" b="1" dirty="0"/>
              <a:t>(1/3)</a:t>
            </a:r>
          </a:p>
          <a:p>
            <a:pPr marL="457188" lvl="1" indent="0">
              <a:lnSpc>
                <a:spcPct val="110000"/>
              </a:lnSpc>
              <a:buNone/>
            </a:pPr>
            <a:r>
              <a:rPr lang="zh-CN" altLang="en-US" sz="2000" b="1" dirty="0"/>
              <a:t>       </a:t>
            </a:r>
            <a:r>
              <a:rPr lang="en-US" altLang="zh-CN" sz="2000" b="1" dirty="0"/>
              <a:t>(2) </a:t>
            </a:r>
            <a:r>
              <a:rPr lang="zh-CN" altLang="en-US" sz="2000" b="1" dirty="0"/>
              <a:t>变形：随机子选样</a:t>
            </a:r>
          </a:p>
          <a:p>
            <a:pPr marL="457188" lvl="1" indent="0">
              <a:buNone/>
            </a:pPr>
            <a:endParaRPr lang="en-US" altLang="zh-CN" b="1" kern="0" dirty="0"/>
          </a:p>
          <a:p>
            <a:pPr marL="457188" lvl="1" indent="0">
              <a:buNone/>
            </a:pPr>
            <a:endParaRPr lang="zh-CN" altLang="en-US" b="1" kern="0" dirty="0"/>
          </a:p>
          <a:p>
            <a:pPr marL="628650" lvl="1" indent="-361950"/>
            <a:r>
              <a:rPr lang="en-US" altLang="zh-CN" b="1" kern="0" dirty="0">
                <a:solidFill>
                  <a:srgbClr val="0000FF"/>
                </a:solidFill>
              </a:rPr>
              <a:t>K-</a:t>
            </a:r>
            <a:r>
              <a:rPr lang="zh-CN" altLang="en-US" b="1" kern="0" dirty="0">
                <a:solidFill>
                  <a:srgbClr val="0000FF"/>
                </a:solidFill>
              </a:rPr>
              <a:t>次交叉验证</a:t>
            </a:r>
            <a:r>
              <a:rPr lang="zh-CN" altLang="en-US" sz="1800" b="1" kern="0" dirty="0">
                <a:solidFill>
                  <a:srgbClr val="0000FF"/>
                </a:solidFill>
              </a:rPr>
              <a:t>（</a:t>
            </a:r>
            <a:r>
              <a:rPr lang="en-US" altLang="zh-CN" sz="1800" b="1" kern="0" dirty="0">
                <a:solidFill>
                  <a:srgbClr val="0000FF"/>
                </a:solidFill>
              </a:rPr>
              <a:t>k-fold cross validation</a:t>
            </a:r>
            <a:r>
              <a:rPr lang="zh-CN" altLang="en-US" sz="1800" b="1" kern="0" dirty="0">
                <a:solidFill>
                  <a:srgbClr val="0000FF"/>
                </a:solidFill>
              </a:rPr>
              <a:t>）</a:t>
            </a:r>
            <a:endParaRPr lang="en-US" altLang="zh-CN" sz="1800" b="1" kern="0" dirty="0">
              <a:solidFill>
                <a:srgbClr val="0000FF"/>
              </a:solidFill>
            </a:endParaRPr>
          </a:p>
          <a:p>
            <a:pPr marL="457188" lvl="1" indent="0">
              <a:lnSpc>
                <a:spcPct val="110000"/>
              </a:lnSpc>
              <a:buNone/>
            </a:pPr>
            <a:r>
              <a:rPr lang="en-US" altLang="zh-CN" sz="2000" b="1" dirty="0"/>
              <a:t>(1)</a:t>
            </a:r>
            <a:r>
              <a:rPr lang="zh-CN" altLang="en-US" sz="2000" b="1" dirty="0"/>
              <a:t>将数据集分为</a:t>
            </a:r>
            <a:r>
              <a:rPr lang="en-US" altLang="zh-CN" sz="2000" b="1" dirty="0"/>
              <a:t>k</a:t>
            </a:r>
            <a:r>
              <a:rPr lang="zh-CN" altLang="en-US" sz="2000" b="1" dirty="0"/>
              <a:t>个子集；</a:t>
            </a:r>
          </a:p>
          <a:p>
            <a:pPr marL="457188" lvl="1" indent="0">
              <a:lnSpc>
                <a:spcPct val="110000"/>
              </a:lnSpc>
              <a:buNone/>
            </a:pPr>
            <a:r>
              <a:rPr lang="en-US" altLang="zh-CN" sz="2000" b="1" dirty="0"/>
              <a:t>(2)</a:t>
            </a:r>
            <a:r>
              <a:rPr lang="zh-CN" altLang="en-US" sz="2000" b="1" dirty="0"/>
              <a:t>用</a:t>
            </a:r>
            <a:r>
              <a:rPr lang="en-US" altLang="zh-CN" sz="2000" b="1" i="1" dirty="0"/>
              <a:t>k-1</a:t>
            </a:r>
            <a:r>
              <a:rPr lang="zh-CN" altLang="en-US" sz="2000" b="1" dirty="0"/>
              <a:t>个子集作训练集，</a:t>
            </a:r>
            <a:r>
              <a:rPr lang="en-US" altLang="zh-CN" sz="2000" b="1" dirty="0"/>
              <a:t>1</a:t>
            </a:r>
            <a:r>
              <a:rPr lang="zh-CN" altLang="en-US" sz="2000" b="1" dirty="0"/>
              <a:t>个子集作测试集，然后</a:t>
            </a:r>
            <a:r>
              <a:rPr lang="en-US" altLang="zh-CN" sz="2000" b="1" dirty="0">
                <a:solidFill>
                  <a:srgbClr val="7030A0"/>
                </a:solidFill>
              </a:rPr>
              <a:t>k</a:t>
            </a:r>
            <a:r>
              <a:rPr lang="zh-CN" altLang="en-US" sz="2000" b="1" dirty="0">
                <a:solidFill>
                  <a:srgbClr val="7030A0"/>
                </a:solidFill>
              </a:rPr>
              <a:t>次交叉验证</a:t>
            </a:r>
          </a:p>
          <a:p>
            <a:pPr lvl="1"/>
            <a:endParaRPr lang="zh-CN" altLang="en-US" sz="1800" b="1" kern="0" dirty="0">
              <a:solidFill>
                <a:srgbClr val="0000FF"/>
              </a:solidFill>
            </a:endParaRPr>
          </a:p>
        </p:txBody>
      </p:sp>
      <p:sp>
        <p:nvSpPr>
          <p:cNvPr id="20" name="矩形 19"/>
          <p:cNvSpPr/>
          <p:nvPr/>
        </p:nvSpPr>
        <p:spPr>
          <a:xfrm>
            <a:off x="-168131" y="5467201"/>
            <a:ext cx="6633093" cy="701731"/>
          </a:xfrm>
          <a:prstGeom prst="rect">
            <a:avLst/>
          </a:prstGeom>
        </p:spPr>
        <p:txBody>
          <a:bodyPr wrap="square">
            <a:spAutoFit/>
          </a:bodyPr>
          <a:lstStyle/>
          <a:p>
            <a:pPr lvl="1">
              <a:lnSpc>
                <a:spcPct val="110000"/>
              </a:lnSpc>
            </a:pPr>
            <a:r>
              <a:rPr lang="zh-CN" altLang="en-US" b="1" dirty="0">
                <a:solidFill>
                  <a:srgbClr val="7030A0"/>
                </a:solidFill>
              </a:rPr>
              <a:t>根据训练集训练出模型或假设函数，把这个模型放到测试集上获得分类率，计算</a:t>
            </a:r>
            <a:r>
              <a:rPr lang="en-US" altLang="zh-CN" b="1" dirty="0">
                <a:solidFill>
                  <a:srgbClr val="7030A0"/>
                </a:solidFill>
              </a:rPr>
              <a:t>k</a:t>
            </a:r>
            <a:r>
              <a:rPr lang="zh-CN" altLang="en-US" b="1" dirty="0">
                <a:solidFill>
                  <a:srgbClr val="7030A0"/>
                </a:solidFill>
              </a:rPr>
              <a:t>次分类率的平均值，作为真实分类率。</a:t>
            </a:r>
          </a:p>
        </p:txBody>
      </p:sp>
      <p:grpSp>
        <p:nvGrpSpPr>
          <p:cNvPr id="21" name="组合 20"/>
          <p:cNvGrpSpPr/>
          <p:nvPr/>
        </p:nvGrpSpPr>
        <p:grpSpPr>
          <a:xfrm>
            <a:off x="6714504" y="4294802"/>
            <a:ext cx="4948252" cy="2143140"/>
            <a:chOff x="1695450" y="3810000"/>
            <a:chExt cx="5486400" cy="2743200"/>
          </a:xfrm>
        </p:grpSpPr>
        <p:sp>
          <p:nvSpPr>
            <p:cNvPr id="22" name="AutoShape 4"/>
            <p:cNvSpPr>
              <a:spLocks noChangeArrowheads="1"/>
            </p:cNvSpPr>
            <p:nvPr/>
          </p:nvSpPr>
          <p:spPr bwMode="auto">
            <a:xfrm>
              <a:off x="1695450" y="4648200"/>
              <a:ext cx="1219200" cy="914400"/>
            </a:xfrm>
            <a:prstGeom prst="can">
              <a:avLst>
                <a:gd name="adj" fmla="val 42361"/>
              </a:avLst>
            </a:prstGeom>
            <a:solidFill>
              <a:schemeClr val="bg1"/>
            </a:solidFill>
            <a:ln w="9525">
              <a:solidFill>
                <a:schemeClr val="tx1"/>
              </a:solidFill>
              <a:miter lim="800000"/>
              <a:headEnd/>
              <a:tailEnd/>
            </a:ln>
            <a:effectLst/>
          </p:spPr>
          <p:txBody>
            <a:bodyPr wrap="none" anchor="ctr"/>
            <a:lstStyle/>
            <a:p>
              <a:pPr eaLnBrk="1" hangingPunct="1"/>
              <a:r>
                <a:rPr kumimoji="1" lang="zh-CN" altLang="en-US" sz="2000" dirty="0">
                  <a:latin typeface="Tahoma" pitchFamily="34" charset="0"/>
                </a:rPr>
                <a:t>数据</a:t>
              </a:r>
            </a:p>
          </p:txBody>
        </p:sp>
        <p:sp>
          <p:nvSpPr>
            <p:cNvPr id="23" name="AutoShape 5"/>
            <p:cNvSpPr>
              <a:spLocks noChangeArrowheads="1"/>
            </p:cNvSpPr>
            <p:nvPr/>
          </p:nvSpPr>
          <p:spPr bwMode="auto">
            <a:xfrm>
              <a:off x="3600450" y="3810000"/>
              <a:ext cx="1066800" cy="685800"/>
            </a:xfrm>
            <a:prstGeom prst="can">
              <a:avLst>
                <a:gd name="adj" fmla="val 25000"/>
              </a:avLst>
            </a:prstGeom>
            <a:solidFill>
              <a:schemeClr val="bg1"/>
            </a:solidFill>
            <a:ln w="9525">
              <a:solidFill>
                <a:schemeClr val="tx1"/>
              </a:solidFill>
              <a:round/>
              <a:headEnd/>
              <a:tailEnd/>
            </a:ln>
            <a:effectLst/>
          </p:spPr>
          <p:txBody>
            <a:bodyPr wrap="none" anchor="ctr"/>
            <a:lstStyle/>
            <a:p>
              <a:pPr eaLnBrk="1" hangingPunct="1"/>
              <a:r>
                <a:rPr kumimoji="1" lang="en-US" altLang="zh-CN" sz="2000" dirty="0">
                  <a:latin typeface="Tahoma" pitchFamily="34" charset="0"/>
                </a:rPr>
                <a:t>S1</a:t>
              </a:r>
            </a:p>
          </p:txBody>
        </p:sp>
        <p:sp>
          <p:nvSpPr>
            <p:cNvPr id="24" name="AutoShape 6"/>
            <p:cNvSpPr>
              <a:spLocks noChangeArrowheads="1"/>
            </p:cNvSpPr>
            <p:nvPr/>
          </p:nvSpPr>
          <p:spPr bwMode="auto">
            <a:xfrm>
              <a:off x="3600450" y="4572000"/>
              <a:ext cx="1066800" cy="685800"/>
            </a:xfrm>
            <a:prstGeom prst="can">
              <a:avLst>
                <a:gd name="adj" fmla="val 25000"/>
              </a:avLst>
            </a:prstGeom>
            <a:solidFill>
              <a:schemeClr val="bg1"/>
            </a:solidFill>
            <a:ln w="9525">
              <a:solidFill>
                <a:schemeClr val="tx1"/>
              </a:solidFill>
              <a:round/>
              <a:headEnd/>
              <a:tailEnd/>
            </a:ln>
            <a:effectLst/>
          </p:spPr>
          <p:txBody>
            <a:bodyPr wrap="none" anchor="ctr"/>
            <a:lstStyle/>
            <a:p>
              <a:pPr eaLnBrk="1" hangingPunct="1"/>
              <a:r>
                <a:rPr kumimoji="1" lang="en-US" altLang="zh-CN" sz="2000">
                  <a:latin typeface="Tahoma" pitchFamily="34" charset="0"/>
                </a:rPr>
                <a:t>S2</a:t>
              </a:r>
            </a:p>
          </p:txBody>
        </p:sp>
        <p:sp>
          <p:nvSpPr>
            <p:cNvPr id="25" name="AutoShape 7"/>
            <p:cNvSpPr>
              <a:spLocks noChangeArrowheads="1"/>
            </p:cNvSpPr>
            <p:nvPr/>
          </p:nvSpPr>
          <p:spPr bwMode="auto">
            <a:xfrm>
              <a:off x="3676650" y="5867400"/>
              <a:ext cx="1066800" cy="685800"/>
            </a:xfrm>
            <a:prstGeom prst="can">
              <a:avLst>
                <a:gd name="adj" fmla="val 25000"/>
              </a:avLst>
            </a:prstGeom>
            <a:solidFill>
              <a:schemeClr val="bg1"/>
            </a:solidFill>
            <a:ln w="9525">
              <a:solidFill>
                <a:schemeClr val="tx1"/>
              </a:solidFill>
              <a:round/>
              <a:headEnd/>
              <a:tailEnd/>
            </a:ln>
            <a:effectLst/>
          </p:spPr>
          <p:txBody>
            <a:bodyPr wrap="none" anchor="ctr"/>
            <a:lstStyle/>
            <a:p>
              <a:pPr eaLnBrk="1" hangingPunct="1"/>
              <a:r>
                <a:rPr kumimoji="1" lang="en-US" altLang="zh-CN" sz="2000">
                  <a:latin typeface="Tahoma" pitchFamily="34" charset="0"/>
                </a:rPr>
                <a:t>Sk</a:t>
              </a:r>
            </a:p>
          </p:txBody>
        </p:sp>
        <p:sp>
          <p:nvSpPr>
            <p:cNvPr id="26" name="Line 8"/>
            <p:cNvSpPr>
              <a:spLocks noChangeShapeType="1"/>
            </p:cNvSpPr>
            <p:nvPr/>
          </p:nvSpPr>
          <p:spPr bwMode="auto">
            <a:xfrm flipV="1">
              <a:off x="2914650" y="4191000"/>
              <a:ext cx="609600" cy="45720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27" name="Line 9"/>
            <p:cNvSpPr>
              <a:spLocks noChangeShapeType="1"/>
            </p:cNvSpPr>
            <p:nvPr/>
          </p:nvSpPr>
          <p:spPr bwMode="auto">
            <a:xfrm flipV="1">
              <a:off x="2990850" y="4876800"/>
              <a:ext cx="609600" cy="22860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28" name="Line 10"/>
            <p:cNvSpPr>
              <a:spLocks noChangeShapeType="1"/>
            </p:cNvSpPr>
            <p:nvPr/>
          </p:nvSpPr>
          <p:spPr bwMode="auto">
            <a:xfrm>
              <a:off x="2914650" y="5410200"/>
              <a:ext cx="762000" cy="53340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29" name="Rectangle 11"/>
            <p:cNvSpPr>
              <a:spLocks noChangeArrowheads="1"/>
            </p:cNvSpPr>
            <p:nvPr/>
          </p:nvSpPr>
          <p:spPr bwMode="auto">
            <a:xfrm>
              <a:off x="3829050" y="5334000"/>
              <a:ext cx="685800" cy="457200"/>
            </a:xfrm>
            <a:prstGeom prst="rect">
              <a:avLst/>
            </a:prstGeom>
            <a:solidFill>
              <a:schemeClr val="bg1"/>
            </a:solidFill>
            <a:ln w="9525">
              <a:solidFill>
                <a:srgbClr val="FFFFFF"/>
              </a:solidFill>
              <a:miter lim="800000"/>
              <a:headEnd/>
              <a:tailEnd/>
            </a:ln>
            <a:effectLst/>
          </p:spPr>
          <p:txBody>
            <a:bodyPr wrap="none" anchor="ctr"/>
            <a:lstStyle/>
            <a:p>
              <a:pPr eaLnBrk="1" hangingPunct="1"/>
              <a:r>
                <a:rPr kumimoji="1" lang="en-US" altLang="zh-CN" sz="2800" dirty="0">
                  <a:latin typeface="Times New Roman"/>
                  <a:cs typeface="Tahoma" pitchFamily="34" charset="0"/>
                  <a:sym typeface="Wingdings" pitchFamily="2" charset="2"/>
                </a:rPr>
                <a:t>···</a:t>
              </a:r>
              <a:endParaRPr kumimoji="1" lang="en-US" altLang="zh-CN" sz="2800" dirty="0">
                <a:latin typeface="Tahoma" pitchFamily="34" charset="0"/>
                <a:cs typeface="Tahoma" pitchFamily="34" charset="0"/>
                <a:sym typeface="Wingdings" pitchFamily="2" charset="2"/>
              </a:endParaRPr>
            </a:p>
          </p:txBody>
        </p:sp>
        <p:sp>
          <p:nvSpPr>
            <p:cNvPr id="30" name="AutoShape 12"/>
            <p:cNvSpPr>
              <a:spLocks/>
            </p:cNvSpPr>
            <p:nvPr/>
          </p:nvSpPr>
          <p:spPr bwMode="auto">
            <a:xfrm>
              <a:off x="4972050" y="4953000"/>
              <a:ext cx="304800" cy="1371600"/>
            </a:xfrm>
            <a:prstGeom prst="rightBrace">
              <a:avLst>
                <a:gd name="adj1" fmla="val 37500"/>
                <a:gd name="adj2" fmla="val 50000"/>
              </a:avLst>
            </a:prstGeom>
            <a:noFill/>
            <a:ln w="9525">
              <a:solidFill>
                <a:schemeClr val="tx1"/>
              </a:solidFill>
              <a:round/>
              <a:headEnd/>
              <a:tailEnd/>
            </a:ln>
            <a:effectLst/>
          </p:spPr>
          <p:txBody>
            <a:bodyPr wrap="none" anchor="ctr"/>
            <a:lstStyle/>
            <a:p>
              <a:endParaRPr lang="zh-CN" altLang="en-US"/>
            </a:p>
          </p:txBody>
        </p:sp>
        <p:sp>
          <p:nvSpPr>
            <p:cNvPr id="31" name="AutoShape 13"/>
            <p:cNvSpPr>
              <a:spLocks noChangeArrowheads="1"/>
            </p:cNvSpPr>
            <p:nvPr/>
          </p:nvSpPr>
          <p:spPr bwMode="auto">
            <a:xfrm>
              <a:off x="6191250" y="5334000"/>
              <a:ext cx="990600" cy="685800"/>
            </a:xfrm>
            <a:prstGeom prst="can">
              <a:avLst>
                <a:gd name="adj" fmla="val 25000"/>
              </a:avLst>
            </a:prstGeom>
            <a:solidFill>
              <a:schemeClr val="bg1"/>
            </a:solidFill>
            <a:ln w="9525">
              <a:solidFill>
                <a:schemeClr val="tx1"/>
              </a:solidFill>
              <a:round/>
              <a:headEnd/>
              <a:tailEnd/>
            </a:ln>
            <a:effectLst/>
          </p:spPr>
          <p:txBody>
            <a:bodyPr wrap="none" anchor="ctr"/>
            <a:lstStyle/>
            <a:p>
              <a:pPr eaLnBrk="1" hangingPunct="1"/>
              <a:r>
                <a:rPr kumimoji="1" lang="zh-CN" altLang="en-US" sz="2000" dirty="0">
                  <a:latin typeface="Tahoma" pitchFamily="34" charset="0"/>
                </a:rPr>
                <a:t>训练集</a:t>
              </a:r>
            </a:p>
          </p:txBody>
        </p:sp>
        <p:sp>
          <p:nvSpPr>
            <p:cNvPr id="32" name="AutoShape 14"/>
            <p:cNvSpPr>
              <a:spLocks noChangeArrowheads="1"/>
            </p:cNvSpPr>
            <p:nvPr/>
          </p:nvSpPr>
          <p:spPr bwMode="auto">
            <a:xfrm>
              <a:off x="6115050" y="3810000"/>
              <a:ext cx="1066800" cy="685800"/>
            </a:xfrm>
            <a:prstGeom prst="can">
              <a:avLst>
                <a:gd name="adj" fmla="val 25000"/>
              </a:avLst>
            </a:prstGeom>
            <a:solidFill>
              <a:schemeClr val="bg1"/>
            </a:solidFill>
            <a:ln w="9525">
              <a:solidFill>
                <a:schemeClr val="tx1"/>
              </a:solidFill>
              <a:round/>
              <a:headEnd/>
              <a:tailEnd/>
            </a:ln>
            <a:effectLst/>
          </p:spPr>
          <p:txBody>
            <a:bodyPr wrap="none" anchor="ctr"/>
            <a:lstStyle/>
            <a:p>
              <a:pPr eaLnBrk="1" hangingPunct="1"/>
              <a:r>
                <a:rPr kumimoji="1" lang="zh-CN" altLang="en-US" sz="2000" dirty="0">
                  <a:latin typeface="Tahoma" pitchFamily="34" charset="0"/>
                </a:rPr>
                <a:t>测试集</a:t>
              </a:r>
            </a:p>
          </p:txBody>
        </p:sp>
        <p:sp>
          <p:nvSpPr>
            <p:cNvPr id="33" name="Line 15"/>
            <p:cNvSpPr>
              <a:spLocks noChangeShapeType="1"/>
            </p:cNvSpPr>
            <p:nvPr/>
          </p:nvSpPr>
          <p:spPr bwMode="auto">
            <a:xfrm>
              <a:off x="4819650" y="4114800"/>
              <a:ext cx="1295400" cy="0"/>
            </a:xfrm>
            <a:prstGeom prst="line">
              <a:avLst/>
            </a:prstGeom>
            <a:noFill/>
            <a:ln w="9525">
              <a:solidFill>
                <a:schemeClr val="tx1"/>
              </a:solidFill>
              <a:prstDash val="sysDot"/>
              <a:round/>
              <a:headEnd/>
              <a:tailEnd type="triangle" w="med" len="med"/>
            </a:ln>
            <a:effectLst/>
          </p:spPr>
          <p:txBody>
            <a:bodyPr wrap="none" anchor="ctr"/>
            <a:lstStyle/>
            <a:p>
              <a:endParaRPr lang="zh-CN" altLang="en-US"/>
            </a:p>
          </p:txBody>
        </p:sp>
        <p:sp>
          <p:nvSpPr>
            <p:cNvPr id="34" name="Line 16"/>
            <p:cNvSpPr>
              <a:spLocks noChangeShapeType="1"/>
            </p:cNvSpPr>
            <p:nvPr/>
          </p:nvSpPr>
          <p:spPr bwMode="auto">
            <a:xfrm>
              <a:off x="5429250" y="5638800"/>
              <a:ext cx="533400" cy="0"/>
            </a:xfrm>
            <a:prstGeom prst="line">
              <a:avLst/>
            </a:prstGeom>
            <a:noFill/>
            <a:ln w="9525">
              <a:solidFill>
                <a:schemeClr val="tx1"/>
              </a:solidFill>
              <a:prstDash val="sysDot"/>
              <a:round/>
              <a:headEnd/>
              <a:tailEnd type="triangle" w="med" len="med"/>
            </a:ln>
            <a:effectLst/>
          </p:spPr>
          <p:txBody>
            <a:bodyPr wrap="none" anchor="ctr"/>
            <a:lstStyle/>
            <a:p>
              <a:endParaRPr lang="zh-CN" altLang="en-US"/>
            </a:p>
          </p:txBody>
        </p:sp>
      </p:gr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228600" y="1026946"/>
            <a:ext cx="6172200" cy="563563"/>
          </a:xfrm>
        </p:spPr>
        <p:txBody>
          <a:bodyPr/>
          <a:lstStyle/>
          <a:p>
            <a:r>
              <a:rPr lang="zh-CN" altLang="en-US" sz="2800" dirty="0">
                <a:solidFill>
                  <a:srgbClr val="FF0000"/>
                </a:solidFill>
              </a:rPr>
              <a:t>提高分类法的准确率</a:t>
            </a:r>
          </a:p>
        </p:txBody>
      </p:sp>
      <p:sp>
        <p:nvSpPr>
          <p:cNvPr id="98307" name="Rectangle 3"/>
          <p:cNvSpPr>
            <a:spLocks noGrp="1" noChangeArrowheads="1"/>
          </p:cNvSpPr>
          <p:nvPr>
            <p:ph type="body" idx="1"/>
          </p:nvPr>
        </p:nvSpPr>
        <p:spPr>
          <a:xfrm>
            <a:off x="2063552" y="1703771"/>
            <a:ext cx="2143140" cy="1258887"/>
          </a:xfrm>
        </p:spPr>
        <p:txBody>
          <a:bodyPr/>
          <a:lstStyle/>
          <a:p>
            <a:r>
              <a:rPr lang="en-US" altLang="zh-CN" dirty="0"/>
              <a:t>Bagging </a:t>
            </a:r>
          </a:p>
          <a:p>
            <a:r>
              <a:rPr lang="en-US" altLang="zh-CN" dirty="0"/>
              <a:t>Boosting</a:t>
            </a:r>
          </a:p>
        </p:txBody>
      </p:sp>
      <p:sp>
        <p:nvSpPr>
          <p:cNvPr id="20" name="Rectangle 3"/>
          <p:cNvSpPr txBox="1">
            <a:spLocks noChangeArrowheads="1"/>
          </p:cNvSpPr>
          <p:nvPr/>
        </p:nvSpPr>
        <p:spPr bwMode="gray">
          <a:xfrm>
            <a:off x="4511824" y="1749172"/>
            <a:ext cx="6768752" cy="10371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defPPr>
              <a:defRPr lang="en-US"/>
            </a:defPPr>
            <a:lvl1pPr indent="14288" eaLnBrk="0" hangingPunct="0">
              <a:spcBef>
                <a:spcPct val="20000"/>
              </a:spcBef>
              <a:buClr>
                <a:schemeClr val="tx2"/>
              </a:buClr>
              <a:defRPr kern="0">
                <a:latin typeface="+mn-lt"/>
              </a:defRPr>
            </a:lvl1pPr>
          </a:lstStyle>
          <a:p>
            <a:r>
              <a:rPr lang="zh-CN" altLang="en-US" sz="2000" dirty="0"/>
              <a:t>    都是将已有的分类或回归算法通过一定的方式组合起来，形成一个性能更加强大的分类器，更准确的说是一种分类算法的组装方法，即将弱分类器组装成强分类器。</a:t>
            </a:r>
            <a:endParaRPr lang="en-US" altLang="zh-CN" sz="2000" dirty="0"/>
          </a:p>
        </p:txBody>
      </p:sp>
      <p:sp>
        <p:nvSpPr>
          <p:cNvPr id="22" name="Rectangle 1027"/>
          <p:cNvSpPr txBox="1">
            <a:spLocks noChangeArrowheads="1"/>
          </p:cNvSpPr>
          <p:nvPr/>
        </p:nvSpPr>
        <p:spPr bwMode="gray">
          <a:xfrm>
            <a:off x="407368" y="3770312"/>
            <a:ext cx="8858280" cy="30876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891" indent="-342891" eaLnBrk="0" hangingPunct="0">
              <a:spcBef>
                <a:spcPct val="20000"/>
              </a:spcBef>
              <a:buClr>
                <a:schemeClr val="tx2"/>
              </a:buClr>
              <a:buFont typeface="Wingdings" pitchFamily="2" charset="2"/>
              <a:buChar char="v"/>
            </a:pPr>
            <a:r>
              <a:rPr lang="en-US" altLang="zh-CN" sz="2800" b="1" kern="0" dirty="0">
                <a:solidFill>
                  <a:srgbClr val="0000FF"/>
                </a:solidFill>
                <a:latin typeface="黑体" pitchFamily="49" charset="-122"/>
                <a:ea typeface="黑体" pitchFamily="49" charset="-122"/>
              </a:rPr>
              <a:t>Bagging</a:t>
            </a:r>
            <a:r>
              <a:rPr lang="zh-CN" altLang="en-US" sz="2800" b="1" kern="0" dirty="0">
                <a:solidFill>
                  <a:srgbClr val="0000FF"/>
                </a:solidFill>
                <a:latin typeface="+mn-lt"/>
              </a:rPr>
              <a:t>基本思想</a:t>
            </a:r>
            <a:r>
              <a:rPr lang="en-US" altLang="zh-CN" sz="2800" b="1" kern="0" dirty="0">
                <a:solidFill>
                  <a:srgbClr val="0000FF"/>
                </a:solidFill>
                <a:latin typeface="+mn-lt"/>
              </a:rPr>
              <a:t>:</a:t>
            </a:r>
          </a:p>
          <a:p>
            <a:pPr marL="742932" lvl="1" indent="-285744" eaLnBrk="0" hangingPunct="0">
              <a:spcBef>
                <a:spcPct val="20000"/>
              </a:spcBef>
              <a:buClr>
                <a:schemeClr val="accent1"/>
              </a:buClr>
              <a:buFont typeface="Wingdings" pitchFamily="2" charset="2"/>
              <a:buChar char="§"/>
              <a:defRPr/>
            </a:pPr>
            <a:r>
              <a:rPr lang="zh-CN" altLang="en-US" sz="2600" b="1" kern="0" dirty="0">
                <a:latin typeface="+mn-lt"/>
              </a:rPr>
              <a:t>给定一个弱学习算法，和一个训练集</a:t>
            </a:r>
            <a:r>
              <a:rPr lang="en-US" altLang="zh-CN" sz="2600" b="1" kern="0" dirty="0">
                <a:latin typeface="+mn-lt"/>
              </a:rPr>
              <a:t>;</a:t>
            </a:r>
          </a:p>
          <a:p>
            <a:pPr marL="742932" lvl="1" indent="-285744" eaLnBrk="0" hangingPunct="0">
              <a:spcBef>
                <a:spcPct val="20000"/>
              </a:spcBef>
              <a:buClr>
                <a:schemeClr val="accent1"/>
              </a:buClr>
              <a:buFont typeface="Wingdings" pitchFamily="2" charset="2"/>
              <a:buChar char="§"/>
              <a:defRPr/>
            </a:pPr>
            <a:r>
              <a:rPr lang="zh-CN" altLang="en-US" sz="2600" b="1" kern="0" dirty="0">
                <a:latin typeface="+mn-lt"/>
              </a:rPr>
              <a:t>单个弱学习算法准确率不高</a:t>
            </a:r>
            <a:r>
              <a:rPr lang="en-US" altLang="zh-CN" sz="2600" b="1" kern="0" dirty="0">
                <a:latin typeface="+mn-lt"/>
              </a:rPr>
              <a:t>;</a:t>
            </a:r>
          </a:p>
          <a:p>
            <a:pPr marL="742932" lvl="1" indent="-285744" eaLnBrk="0" hangingPunct="0">
              <a:spcBef>
                <a:spcPct val="20000"/>
              </a:spcBef>
              <a:buClr>
                <a:schemeClr val="accent1"/>
              </a:buClr>
              <a:buFont typeface="Wingdings" pitchFamily="2" charset="2"/>
              <a:buChar char="§"/>
              <a:defRPr/>
            </a:pPr>
            <a:r>
              <a:rPr lang="zh-CN" altLang="en-US" sz="2600" b="1" kern="0" dirty="0">
                <a:latin typeface="+mn-lt"/>
              </a:rPr>
              <a:t>将该学习算法使用多次，得出预测函数序列</a:t>
            </a:r>
            <a:r>
              <a:rPr lang="en-US" altLang="zh-CN" sz="2600" b="1" kern="0" dirty="0">
                <a:latin typeface="+mn-lt"/>
              </a:rPr>
              <a:t>,</a:t>
            </a:r>
            <a:r>
              <a:rPr lang="zh-CN" altLang="en-US" sz="2600" b="1" kern="0" dirty="0">
                <a:latin typeface="+mn-lt"/>
              </a:rPr>
              <a:t>进行投票</a:t>
            </a:r>
            <a:r>
              <a:rPr lang="en-US" altLang="zh-CN" sz="2600" b="1" kern="0" dirty="0">
                <a:latin typeface="+mn-lt"/>
              </a:rPr>
              <a:t>;</a:t>
            </a:r>
          </a:p>
          <a:p>
            <a:pPr marL="742932" lvl="1" indent="-285744" eaLnBrk="0" hangingPunct="0">
              <a:spcBef>
                <a:spcPct val="20000"/>
              </a:spcBef>
              <a:buClr>
                <a:schemeClr val="accent1"/>
              </a:buClr>
              <a:buFont typeface="Wingdings" pitchFamily="2" charset="2"/>
              <a:buChar char="§"/>
              <a:defRPr/>
            </a:pPr>
            <a:r>
              <a:rPr lang="zh-CN" altLang="en-US" sz="2600" b="1" kern="0" dirty="0">
                <a:latin typeface="+mn-lt"/>
              </a:rPr>
              <a:t>最后结果准确率将得到提高</a:t>
            </a:r>
            <a:r>
              <a:rPr lang="en-US" altLang="zh-CN" sz="2600" b="1" kern="0" dirty="0">
                <a:latin typeface="+mn-lt"/>
              </a:rPr>
              <a:t>.</a:t>
            </a:r>
          </a:p>
        </p:txBody>
      </p:sp>
      <p:sp>
        <p:nvSpPr>
          <p:cNvPr id="6" name="灯片编号占位符 5"/>
          <p:cNvSpPr>
            <a:spLocks noGrp="1"/>
          </p:cNvSpPr>
          <p:nvPr>
            <p:ph type="sldNum" sz="quarter" idx="11"/>
          </p:nvPr>
        </p:nvSpPr>
        <p:spPr/>
        <p:txBody>
          <a:bodyPr/>
          <a:lstStyle/>
          <a:p>
            <a:pPr>
              <a:defRPr/>
            </a:pPr>
            <a:fld id="{31E287EE-1289-4991-82CE-EFE584F53F4F}" type="slidenum">
              <a:rPr lang="en-US" altLang="zh-CN" smtClean="0"/>
              <a:pPr>
                <a:defRPr/>
              </a:pPr>
              <a:t>5</a:t>
            </a:fld>
            <a:endParaRPr lang="en-US" altLang="zh-CN" dirty="0"/>
          </a:p>
        </p:txBody>
      </p:sp>
      <p:sp>
        <p:nvSpPr>
          <p:cNvPr id="2" name="文本框 1"/>
          <p:cNvSpPr txBox="1"/>
          <p:nvPr/>
        </p:nvSpPr>
        <p:spPr bwMode="auto">
          <a:xfrm>
            <a:off x="4836508" y="3190155"/>
            <a:ext cx="3384376" cy="466895"/>
          </a:xfrm>
          <a:prstGeom prst="rect">
            <a:avLst/>
          </a:prstGeom>
          <a:solidFill>
            <a:srgbClr val="FFC000"/>
          </a:solidFill>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t" anchorCtr="0" compatLnSpc="1">
            <a:prstTxWarp prst="textNoShape">
              <a:avLst/>
            </a:prstTxWarp>
          </a:bodyPr>
          <a:lstStyle>
            <a:defPPr>
              <a:defRPr lang="en-US"/>
            </a:defPPr>
            <a:lvl1pPr indent="14288" eaLnBrk="0" hangingPunct="0">
              <a:spcBef>
                <a:spcPct val="20000"/>
              </a:spcBef>
              <a:buClr>
                <a:schemeClr val="tx2"/>
              </a:buClr>
              <a:defRPr kern="0">
                <a:latin typeface="+mn-lt"/>
              </a:defRPr>
            </a:lvl1pPr>
          </a:lstStyle>
          <a:p>
            <a:r>
              <a:rPr lang="zh-CN" altLang="en-US" sz="2400" dirty="0">
                <a:ln w="0"/>
                <a:solidFill>
                  <a:schemeClr val="tx1"/>
                </a:solidFill>
                <a:effectLst>
                  <a:outerShdw blurRad="38100" dist="19050" dir="2700000" algn="tl" rotWithShape="0">
                    <a:schemeClr val="dk1">
                      <a:alpha val="40000"/>
                    </a:schemeClr>
                  </a:outerShdw>
                </a:effectLst>
              </a:rPr>
              <a:t>三个臭皮匠顶个诸葛亮</a:t>
            </a:r>
          </a:p>
        </p:txBody>
      </p:sp>
      <p:sp>
        <p:nvSpPr>
          <p:cNvPr id="9" name="Rectangle 2"/>
          <p:cNvSpPr txBox="1">
            <a:spLocks noChangeArrowheads="1"/>
          </p:cNvSpPr>
          <p:nvPr/>
        </p:nvSpPr>
        <p:spPr bwMode="black">
          <a:xfrm>
            <a:off x="228600" y="107156"/>
            <a:ext cx="8229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189" algn="l" rtl="0" eaLnBrk="1" fontAlgn="base" hangingPunct="1">
              <a:spcBef>
                <a:spcPct val="0"/>
              </a:spcBef>
              <a:spcAft>
                <a:spcPct val="0"/>
              </a:spcAft>
              <a:defRPr sz="3200">
                <a:solidFill>
                  <a:schemeClr val="tx2"/>
                </a:solidFill>
                <a:latin typeface="Arial" charset="0"/>
              </a:defRPr>
            </a:lvl6pPr>
            <a:lvl7pPr marL="914377" algn="l" rtl="0" eaLnBrk="1" fontAlgn="base" hangingPunct="1">
              <a:spcBef>
                <a:spcPct val="0"/>
              </a:spcBef>
              <a:spcAft>
                <a:spcPct val="0"/>
              </a:spcAft>
              <a:defRPr sz="3200">
                <a:solidFill>
                  <a:schemeClr val="tx2"/>
                </a:solidFill>
                <a:latin typeface="Arial" charset="0"/>
              </a:defRPr>
            </a:lvl7pPr>
            <a:lvl8pPr marL="1371566" algn="l" rtl="0" eaLnBrk="1" fontAlgn="base" hangingPunct="1">
              <a:spcBef>
                <a:spcPct val="0"/>
              </a:spcBef>
              <a:spcAft>
                <a:spcPct val="0"/>
              </a:spcAft>
              <a:defRPr sz="3200">
                <a:solidFill>
                  <a:schemeClr val="tx2"/>
                </a:solidFill>
                <a:latin typeface="Arial" charset="0"/>
              </a:defRPr>
            </a:lvl8pPr>
            <a:lvl9pPr marL="1828754" algn="l" rtl="0" eaLnBrk="1" fontAlgn="base" hangingPunct="1">
              <a:spcBef>
                <a:spcPct val="0"/>
              </a:spcBef>
              <a:spcAft>
                <a:spcPct val="0"/>
              </a:spcAft>
              <a:defRPr sz="3200">
                <a:solidFill>
                  <a:schemeClr val="tx2"/>
                </a:solidFill>
                <a:latin typeface="Arial" charset="0"/>
              </a:defRPr>
            </a:lvl9pPr>
          </a:lstStyle>
          <a:p>
            <a:r>
              <a:rPr lang="zh-CN" altLang="en-US" kern="0" dirty="0"/>
              <a:t>分类法的准确性</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gray">
          <a:xfrm>
            <a:off x="1775521" y="2864086"/>
            <a:ext cx="8784976" cy="3571876"/>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bodyPr>
          <a:lstStyle/>
          <a:p>
            <a:pPr marL="342891" indent="-342891" eaLnBrk="0" hangingPunct="0">
              <a:spcBef>
                <a:spcPct val="20000"/>
              </a:spcBef>
              <a:buClr>
                <a:schemeClr val="tx2"/>
              </a:buClr>
              <a:buFont typeface="Wingdings" pitchFamily="2" charset="2"/>
              <a:buChar char="v"/>
              <a:defRPr/>
            </a:pPr>
            <a:r>
              <a:rPr lang="en-US" altLang="zh-CN" sz="2800" b="1" i="1" kern="0" dirty="0">
                <a:solidFill>
                  <a:srgbClr val="0000FF"/>
                </a:solidFill>
                <a:latin typeface="+mn-lt"/>
              </a:rPr>
              <a:t> </a:t>
            </a:r>
            <a:r>
              <a:rPr lang="zh-CN" altLang="en-US" sz="2800" b="1" kern="0" dirty="0">
                <a:solidFill>
                  <a:srgbClr val="0000FF"/>
                </a:solidFill>
                <a:latin typeface="+mn-lt"/>
              </a:rPr>
              <a:t>算法</a:t>
            </a:r>
            <a:r>
              <a:rPr lang="en-US" altLang="zh-CN" sz="2800" b="1" kern="0" dirty="0">
                <a:latin typeface="+mn-lt"/>
              </a:rPr>
              <a:t>:</a:t>
            </a:r>
          </a:p>
          <a:p>
            <a:pPr marL="342891" indent="-342891" eaLnBrk="0" hangingPunct="0">
              <a:spcBef>
                <a:spcPct val="20000"/>
              </a:spcBef>
              <a:buClr>
                <a:schemeClr val="tx2"/>
              </a:buClr>
              <a:defRPr/>
            </a:pPr>
            <a:r>
              <a:rPr lang="en-US" altLang="zh-CN" sz="2800" b="1" i="1" kern="0" dirty="0">
                <a:latin typeface="+mn-lt"/>
              </a:rPr>
              <a:t>   </a:t>
            </a:r>
            <a:r>
              <a:rPr lang="en-US" altLang="zh-CN" sz="2400" b="1" i="1" kern="0" dirty="0">
                <a:latin typeface="+mn-lt"/>
              </a:rPr>
              <a:t>For  t = 1, 2, …, T Do</a:t>
            </a:r>
            <a:endParaRPr lang="en-US" altLang="zh-CN" sz="2400" b="1" kern="0" dirty="0">
              <a:latin typeface="+mn-lt"/>
            </a:endParaRPr>
          </a:p>
          <a:p>
            <a:pPr marL="342891" indent="-342891" eaLnBrk="0" hangingPunct="0">
              <a:spcBef>
                <a:spcPct val="20000"/>
              </a:spcBef>
              <a:buClr>
                <a:schemeClr val="tx2"/>
              </a:buClr>
              <a:defRPr/>
            </a:pPr>
            <a:r>
              <a:rPr lang="en-US" altLang="zh-CN" sz="2400" b="1" kern="0" dirty="0">
                <a:latin typeface="+mn-lt"/>
              </a:rPr>
              <a:t>	      </a:t>
            </a:r>
            <a:r>
              <a:rPr lang="zh-CN" altLang="en-US" sz="2400" b="1" kern="0" dirty="0">
                <a:latin typeface="+mn-lt"/>
              </a:rPr>
              <a:t>从数据集</a:t>
            </a:r>
            <a:r>
              <a:rPr lang="en-US" altLang="zh-CN" sz="2400" b="1" kern="0" dirty="0">
                <a:latin typeface="+mn-lt"/>
              </a:rPr>
              <a:t>S</a:t>
            </a:r>
            <a:r>
              <a:rPr lang="zh-CN" altLang="en-US" sz="2400" b="1" kern="0" dirty="0">
                <a:latin typeface="+mn-lt"/>
              </a:rPr>
              <a:t>中取样（</a:t>
            </a:r>
            <a:r>
              <a:rPr lang="zh-CN" altLang="en-US" sz="2400" b="1" kern="0" dirty="0">
                <a:solidFill>
                  <a:srgbClr val="0000FF"/>
                </a:solidFill>
                <a:latin typeface="+mn-lt"/>
              </a:rPr>
              <a:t>放回选样</a:t>
            </a:r>
            <a:r>
              <a:rPr lang="zh-CN" altLang="en-US" sz="2400" b="1" kern="0" dirty="0">
                <a:latin typeface="+mn-lt"/>
              </a:rPr>
              <a:t>）</a:t>
            </a:r>
          </a:p>
          <a:p>
            <a:pPr marL="342891" indent="-342891" eaLnBrk="0" hangingPunct="0">
              <a:spcBef>
                <a:spcPct val="20000"/>
              </a:spcBef>
              <a:buClr>
                <a:schemeClr val="tx2"/>
              </a:buClr>
              <a:defRPr/>
            </a:pPr>
            <a:r>
              <a:rPr lang="zh-CN" altLang="en-US" sz="2400" b="1" kern="0" dirty="0">
                <a:latin typeface="+mn-lt"/>
              </a:rPr>
              <a:t>	      训练得到模型</a:t>
            </a:r>
            <a:r>
              <a:rPr lang="en-US" altLang="zh-CN" sz="2400" b="1" kern="0" dirty="0">
                <a:latin typeface="+mn-lt"/>
              </a:rPr>
              <a:t>H</a:t>
            </a:r>
            <a:r>
              <a:rPr lang="en-US" altLang="zh-CN" sz="2400" b="1" kern="0" baseline="-25000" dirty="0">
                <a:latin typeface="+mn-lt"/>
              </a:rPr>
              <a:t>t</a:t>
            </a:r>
          </a:p>
          <a:p>
            <a:pPr marL="342891" indent="-342891" eaLnBrk="0" hangingPunct="0">
              <a:spcBef>
                <a:spcPct val="20000"/>
              </a:spcBef>
              <a:buClr>
                <a:schemeClr val="tx2"/>
              </a:buClr>
              <a:defRPr/>
            </a:pPr>
            <a:r>
              <a:rPr lang="en-US" altLang="zh-CN" sz="2400" b="1" kern="0" dirty="0">
                <a:latin typeface="+mn-lt"/>
              </a:rPr>
              <a:t>   </a:t>
            </a:r>
            <a:r>
              <a:rPr lang="zh-CN" altLang="en-US" sz="2400" b="1" kern="0" dirty="0">
                <a:latin typeface="+mn-lt"/>
              </a:rPr>
              <a:t>对未知样本</a:t>
            </a:r>
            <a:r>
              <a:rPr lang="en-US" altLang="zh-CN" sz="2400" b="1" kern="0" dirty="0">
                <a:latin typeface="+mn-lt"/>
              </a:rPr>
              <a:t>X</a:t>
            </a:r>
            <a:r>
              <a:rPr lang="zh-CN" altLang="en-US" sz="2400" b="1" kern="0" dirty="0">
                <a:latin typeface="+mn-lt"/>
              </a:rPr>
              <a:t>分类时</a:t>
            </a:r>
            <a:r>
              <a:rPr lang="en-US" altLang="zh-CN" sz="2400" b="1" kern="0" dirty="0">
                <a:latin typeface="+mn-lt"/>
              </a:rPr>
              <a:t>,</a:t>
            </a:r>
            <a:r>
              <a:rPr lang="zh-CN" altLang="en-US" sz="2400" b="1" kern="0" dirty="0">
                <a:latin typeface="+mn-lt"/>
              </a:rPr>
              <a:t>每个模型</a:t>
            </a:r>
            <a:r>
              <a:rPr lang="en-US" altLang="zh-CN" sz="2400" b="1" kern="0" dirty="0">
                <a:latin typeface="+mn-lt"/>
              </a:rPr>
              <a:t>H</a:t>
            </a:r>
            <a:r>
              <a:rPr lang="en-US" altLang="zh-CN" sz="2400" b="1" kern="0" baseline="-25000" dirty="0">
                <a:latin typeface="+mn-lt"/>
              </a:rPr>
              <a:t>t</a:t>
            </a:r>
            <a:r>
              <a:rPr lang="zh-CN" altLang="en-US" sz="2400" b="1" kern="0" dirty="0">
                <a:latin typeface="+mn-lt"/>
              </a:rPr>
              <a:t>都得出一个分类，得票最高的即为未知样本</a:t>
            </a:r>
            <a:r>
              <a:rPr lang="en-US" altLang="zh-CN" sz="2400" b="1" kern="0" dirty="0">
                <a:latin typeface="+mn-lt"/>
              </a:rPr>
              <a:t>X</a:t>
            </a:r>
            <a:r>
              <a:rPr lang="zh-CN" altLang="en-US" sz="2400" b="1" kern="0" dirty="0">
                <a:latin typeface="+mn-lt"/>
              </a:rPr>
              <a:t>的分类</a:t>
            </a:r>
          </a:p>
          <a:p>
            <a:pPr marL="342891" indent="-342891" eaLnBrk="0" hangingPunct="0">
              <a:spcBef>
                <a:spcPct val="20000"/>
              </a:spcBef>
              <a:buClr>
                <a:schemeClr val="tx2"/>
              </a:buClr>
              <a:buFont typeface="Wingdings" pitchFamily="2" charset="2"/>
              <a:buChar char="v"/>
              <a:defRPr/>
            </a:pPr>
            <a:r>
              <a:rPr lang="zh-CN" altLang="en-US" sz="2400" b="1" kern="0" dirty="0">
                <a:latin typeface="+mn-lt"/>
              </a:rPr>
              <a:t>也可通过得票的平均值用于连续值的预测 </a:t>
            </a:r>
          </a:p>
          <a:p>
            <a:pPr marL="342891" indent="-342891" eaLnBrk="0" hangingPunct="0">
              <a:spcBef>
                <a:spcPct val="20000"/>
              </a:spcBef>
              <a:buClr>
                <a:schemeClr val="tx2"/>
              </a:buClr>
              <a:defRPr/>
            </a:pPr>
            <a:r>
              <a:rPr lang="zh-CN" altLang="en-US" sz="2800" b="1" kern="0" dirty="0">
                <a:latin typeface="+mn-lt"/>
              </a:rPr>
              <a:t>  </a:t>
            </a:r>
          </a:p>
        </p:txBody>
      </p:sp>
      <p:sp>
        <p:nvSpPr>
          <p:cNvPr id="134146" name="Rectangle 1026"/>
          <p:cNvSpPr>
            <a:spLocks noGrp="1" noChangeArrowheads="1"/>
          </p:cNvSpPr>
          <p:nvPr>
            <p:ph type="title"/>
          </p:nvPr>
        </p:nvSpPr>
        <p:spPr>
          <a:xfrm>
            <a:off x="393927" y="194214"/>
            <a:ext cx="6172200" cy="563563"/>
          </a:xfrm>
        </p:spPr>
        <p:txBody>
          <a:bodyPr/>
          <a:lstStyle/>
          <a:p>
            <a:r>
              <a:rPr lang="en-US" altLang="zh-CN" dirty="0"/>
              <a:t>12.1 Bagging</a:t>
            </a:r>
          </a:p>
        </p:txBody>
      </p:sp>
      <p:grpSp>
        <p:nvGrpSpPr>
          <p:cNvPr id="5" name="组合 4"/>
          <p:cNvGrpSpPr/>
          <p:nvPr/>
        </p:nvGrpSpPr>
        <p:grpSpPr>
          <a:xfrm>
            <a:off x="3988198" y="1112390"/>
            <a:ext cx="6376983" cy="2329119"/>
            <a:chOff x="838200" y="3657600"/>
            <a:chExt cx="7162800" cy="2667000"/>
          </a:xfrm>
        </p:grpSpPr>
        <p:sp>
          <p:nvSpPr>
            <p:cNvPr id="6" name="AutoShape 4"/>
            <p:cNvSpPr>
              <a:spLocks noChangeArrowheads="1"/>
            </p:cNvSpPr>
            <p:nvPr/>
          </p:nvSpPr>
          <p:spPr bwMode="auto">
            <a:xfrm>
              <a:off x="838200" y="4343400"/>
              <a:ext cx="1371600" cy="838200"/>
            </a:xfrm>
            <a:prstGeom prst="can">
              <a:avLst>
                <a:gd name="adj" fmla="val 25000"/>
              </a:avLst>
            </a:prstGeom>
            <a:solidFill>
              <a:schemeClr val="bg1"/>
            </a:solidFill>
            <a:ln w="9525">
              <a:solidFill>
                <a:schemeClr val="tx1"/>
              </a:solidFill>
              <a:round/>
              <a:headEnd/>
              <a:tailEnd/>
            </a:ln>
            <a:effectLst/>
          </p:spPr>
          <p:txBody>
            <a:bodyPr wrap="none" anchor="ctr"/>
            <a:lstStyle/>
            <a:p>
              <a:pPr algn="ctr" eaLnBrk="1" hangingPunct="1"/>
              <a:r>
                <a:rPr kumimoji="1" lang="zh-CN" altLang="en-US" sz="2000" dirty="0">
                  <a:latin typeface="Tahoma" pitchFamily="34" charset="0"/>
                </a:rPr>
                <a:t>数据</a:t>
              </a:r>
              <a:r>
                <a:rPr kumimoji="1" lang="en-US" altLang="zh-CN" sz="2000" dirty="0">
                  <a:latin typeface="Tahoma" pitchFamily="34" charset="0"/>
                </a:rPr>
                <a:t>S</a:t>
              </a:r>
              <a:endParaRPr kumimoji="1" lang="zh-CN" altLang="en-US" sz="2000" dirty="0">
                <a:latin typeface="Tahoma" pitchFamily="34" charset="0"/>
              </a:endParaRPr>
            </a:p>
          </p:txBody>
        </p:sp>
        <p:sp>
          <p:nvSpPr>
            <p:cNvPr id="7" name="AutoShape 5"/>
            <p:cNvSpPr>
              <a:spLocks noChangeArrowheads="1"/>
            </p:cNvSpPr>
            <p:nvPr/>
          </p:nvSpPr>
          <p:spPr bwMode="auto">
            <a:xfrm>
              <a:off x="2895600" y="3657600"/>
              <a:ext cx="1066800" cy="457200"/>
            </a:xfrm>
            <a:prstGeom prst="roundRect">
              <a:avLst>
                <a:gd name="adj" fmla="val 16667"/>
              </a:avLst>
            </a:prstGeom>
            <a:solidFill>
              <a:schemeClr val="bg1"/>
            </a:solidFill>
            <a:ln w="9525">
              <a:solidFill>
                <a:schemeClr val="tx1"/>
              </a:solidFill>
              <a:round/>
              <a:headEnd/>
              <a:tailEnd/>
            </a:ln>
            <a:effectLst/>
          </p:spPr>
          <p:txBody>
            <a:bodyPr wrap="none" anchor="ctr"/>
            <a:lstStyle/>
            <a:p>
              <a:pPr algn="ctr" eaLnBrk="1" hangingPunct="1"/>
              <a:r>
                <a:rPr kumimoji="1" lang="en-US" altLang="zh-CN" sz="2000" dirty="0">
                  <a:latin typeface="Tahoma" pitchFamily="34" charset="0"/>
                </a:rPr>
                <a:t>H1</a:t>
              </a:r>
            </a:p>
          </p:txBody>
        </p:sp>
        <p:sp>
          <p:nvSpPr>
            <p:cNvPr id="8" name="AutoShape 6"/>
            <p:cNvSpPr>
              <a:spLocks noChangeArrowheads="1"/>
            </p:cNvSpPr>
            <p:nvPr/>
          </p:nvSpPr>
          <p:spPr bwMode="auto">
            <a:xfrm>
              <a:off x="2895600" y="4419600"/>
              <a:ext cx="1066800" cy="457200"/>
            </a:xfrm>
            <a:prstGeom prst="roundRect">
              <a:avLst>
                <a:gd name="adj" fmla="val 16667"/>
              </a:avLst>
            </a:prstGeom>
            <a:solidFill>
              <a:schemeClr val="bg1"/>
            </a:solidFill>
            <a:ln w="9525">
              <a:solidFill>
                <a:schemeClr val="tx1"/>
              </a:solidFill>
              <a:round/>
              <a:headEnd/>
              <a:tailEnd/>
            </a:ln>
            <a:effectLst/>
          </p:spPr>
          <p:txBody>
            <a:bodyPr wrap="none" anchor="ctr"/>
            <a:lstStyle/>
            <a:p>
              <a:pPr algn="ctr" eaLnBrk="1" hangingPunct="1"/>
              <a:r>
                <a:rPr kumimoji="1" lang="en-US" altLang="zh-CN" sz="2000" dirty="0">
                  <a:latin typeface="Tahoma" pitchFamily="34" charset="0"/>
                </a:rPr>
                <a:t>H2</a:t>
              </a:r>
            </a:p>
          </p:txBody>
        </p:sp>
        <p:sp>
          <p:nvSpPr>
            <p:cNvPr id="9" name="AutoShape 7"/>
            <p:cNvSpPr>
              <a:spLocks noChangeArrowheads="1"/>
            </p:cNvSpPr>
            <p:nvPr/>
          </p:nvSpPr>
          <p:spPr bwMode="auto">
            <a:xfrm>
              <a:off x="2895600" y="5867400"/>
              <a:ext cx="1066800" cy="457200"/>
            </a:xfrm>
            <a:prstGeom prst="roundRect">
              <a:avLst>
                <a:gd name="adj" fmla="val 16667"/>
              </a:avLst>
            </a:prstGeom>
            <a:solidFill>
              <a:schemeClr val="bg1"/>
            </a:solidFill>
            <a:ln w="9525">
              <a:solidFill>
                <a:schemeClr val="tx1"/>
              </a:solidFill>
              <a:round/>
              <a:headEnd/>
              <a:tailEnd/>
            </a:ln>
            <a:effectLst/>
          </p:spPr>
          <p:txBody>
            <a:bodyPr wrap="none" anchor="ctr"/>
            <a:lstStyle/>
            <a:p>
              <a:pPr algn="ctr" eaLnBrk="1" hangingPunct="1"/>
              <a:r>
                <a:rPr kumimoji="1" lang="en-US" altLang="zh-CN" sz="2000" dirty="0">
                  <a:latin typeface="Tahoma" pitchFamily="34" charset="0"/>
                </a:rPr>
                <a:t>Ht</a:t>
              </a:r>
            </a:p>
          </p:txBody>
        </p:sp>
        <p:sp>
          <p:nvSpPr>
            <p:cNvPr id="10" name="AutoShape 8"/>
            <p:cNvSpPr>
              <a:spLocks noChangeArrowheads="1"/>
            </p:cNvSpPr>
            <p:nvPr/>
          </p:nvSpPr>
          <p:spPr bwMode="auto">
            <a:xfrm>
              <a:off x="4724400" y="4572000"/>
              <a:ext cx="1219200" cy="609600"/>
            </a:xfrm>
            <a:prstGeom prst="roundRect">
              <a:avLst>
                <a:gd name="adj" fmla="val 16667"/>
              </a:avLst>
            </a:prstGeom>
            <a:solidFill>
              <a:schemeClr val="bg1"/>
            </a:solidFill>
            <a:ln w="9525">
              <a:solidFill>
                <a:schemeClr val="tx1"/>
              </a:solidFill>
              <a:round/>
              <a:headEnd/>
              <a:tailEnd/>
            </a:ln>
            <a:effectLst/>
          </p:spPr>
          <p:txBody>
            <a:bodyPr wrap="none" anchor="ctr"/>
            <a:lstStyle/>
            <a:p>
              <a:pPr algn="ctr" eaLnBrk="1" hangingPunct="1"/>
              <a:r>
                <a:rPr kumimoji="1" lang="zh-CN" altLang="en-US" sz="2000" dirty="0">
                  <a:latin typeface="Tahoma" pitchFamily="34" charset="0"/>
                </a:rPr>
                <a:t>组合得票</a:t>
              </a:r>
            </a:p>
          </p:txBody>
        </p:sp>
        <p:sp>
          <p:nvSpPr>
            <p:cNvPr id="12" name="Oval 10"/>
            <p:cNvSpPr>
              <a:spLocks noChangeArrowheads="1"/>
            </p:cNvSpPr>
            <p:nvPr/>
          </p:nvSpPr>
          <p:spPr bwMode="auto">
            <a:xfrm>
              <a:off x="6477000" y="4495800"/>
              <a:ext cx="1524000" cy="609600"/>
            </a:xfrm>
            <a:prstGeom prst="ellipse">
              <a:avLst/>
            </a:prstGeom>
            <a:solidFill>
              <a:schemeClr val="bg1"/>
            </a:solidFill>
            <a:ln w="9525">
              <a:solidFill>
                <a:schemeClr val="tx1"/>
              </a:solidFill>
              <a:round/>
              <a:headEnd/>
              <a:tailEnd/>
            </a:ln>
            <a:effectLst/>
          </p:spPr>
          <p:txBody>
            <a:bodyPr wrap="none" anchor="ctr"/>
            <a:lstStyle/>
            <a:p>
              <a:pPr eaLnBrk="1" hangingPunct="1"/>
              <a:r>
                <a:rPr kumimoji="1" lang="zh-CN" altLang="en-US" sz="2000" dirty="0">
                  <a:latin typeface="Tahoma" pitchFamily="34" charset="0"/>
                </a:rPr>
                <a:t>类预测</a:t>
              </a:r>
            </a:p>
          </p:txBody>
        </p:sp>
        <p:sp>
          <p:nvSpPr>
            <p:cNvPr id="13" name="Rectangle 11"/>
            <p:cNvSpPr>
              <a:spLocks noChangeArrowheads="1"/>
            </p:cNvSpPr>
            <p:nvPr/>
          </p:nvSpPr>
          <p:spPr bwMode="auto">
            <a:xfrm>
              <a:off x="3048000" y="5181600"/>
              <a:ext cx="685800" cy="457200"/>
            </a:xfrm>
            <a:prstGeom prst="rect">
              <a:avLst/>
            </a:prstGeom>
            <a:solidFill>
              <a:schemeClr val="bg1"/>
            </a:solidFill>
            <a:ln w="9525">
              <a:solidFill>
                <a:srgbClr val="FFFFFF"/>
              </a:solidFill>
              <a:miter lim="800000"/>
              <a:headEnd/>
              <a:tailEnd/>
            </a:ln>
            <a:effectLst/>
          </p:spPr>
          <p:txBody>
            <a:bodyPr wrap="none" anchor="ctr"/>
            <a:lstStyle/>
            <a:p>
              <a:pPr eaLnBrk="1" hangingPunct="1"/>
              <a:r>
                <a:rPr kumimoji="1" lang="en-US" altLang="zh-CN" sz="2800">
                  <a:latin typeface="Times New Roman"/>
                  <a:cs typeface="Tahoma" pitchFamily="34" charset="0"/>
                  <a:sym typeface="Wingdings" pitchFamily="2" charset="2"/>
                </a:rPr>
                <a:t>···</a:t>
              </a:r>
              <a:endParaRPr kumimoji="1" lang="en-US" altLang="zh-CN" sz="2800">
                <a:latin typeface="Tahoma" pitchFamily="34" charset="0"/>
                <a:cs typeface="Tahoma" pitchFamily="34" charset="0"/>
                <a:sym typeface="Wingdings" pitchFamily="2" charset="2"/>
              </a:endParaRPr>
            </a:p>
          </p:txBody>
        </p:sp>
        <p:sp>
          <p:nvSpPr>
            <p:cNvPr id="14" name="Line 12"/>
            <p:cNvSpPr>
              <a:spLocks noChangeShapeType="1"/>
            </p:cNvSpPr>
            <p:nvPr/>
          </p:nvSpPr>
          <p:spPr bwMode="auto">
            <a:xfrm flipV="1">
              <a:off x="2209800" y="3962400"/>
              <a:ext cx="685800" cy="53340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15" name="Line 13"/>
            <p:cNvSpPr>
              <a:spLocks noChangeShapeType="1"/>
            </p:cNvSpPr>
            <p:nvPr/>
          </p:nvSpPr>
          <p:spPr bwMode="auto">
            <a:xfrm flipV="1">
              <a:off x="2209800" y="4648200"/>
              <a:ext cx="685800" cy="15240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16" name="Line 14"/>
            <p:cNvSpPr>
              <a:spLocks noChangeShapeType="1"/>
            </p:cNvSpPr>
            <p:nvPr/>
          </p:nvSpPr>
          <p:spPr bwMode="auto">
            <a:xfrm>
              <a:off x="2209800" y="5105400"/>
              <a:ext cx="685800" cy="76200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17" name="Line 15"/>
            <p:cNvSpPr>
              <a:spLocks noChangeShapeType="1"/>
            </p:cNvSpPr>
            <p:nvPr/>
          </p:nvSpPr>
          <p:spPr bwMode="auto">
            <a:xfrm>
              <a:off x="3962400" y="3962400"/>
              <a:ext cx="762000" cy="68580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18" name="Line 16"/>
            <p:cNvSpPr>
              <a:spLocks noChangeShapeType="1"/>
            </p:cNvSpPr>
            <p:nvPr/>
          </p:nvSpPr>
          <p:spPr bwMode="auto">
            <a:xfrm>
              <a:off x="3962400" y="4724400"/>
              <a:ext cx="762000" cy="7620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19" name="Line 17"/>
            <p:cNvSpPr>
              <a:spLocks noChangeShapeType="1"/>
            </p:cNvSpPr>
            <p:nvPr/>
          </p:nvSpPr>
          <p:spPr bwMode="auto">
            <a:xfrm flipV="1">
              <a:off x="3962400" y="5181600"/>
              <a:ext cx="838200" cy="91440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21" name="Line 19"/>
            <p:cNvSpPr>
              <a:spLocks noChangeShapeType="1"/>
            </p:cNvSpPr>
            <p:nvPr/>
          </p:nvSpPr>
          <p:spPr bwMode="auto">
            <a:xfrm>
              <a:off x="5943600" y="4800600"/>
              <a:ext cx="533400" cy="0"/>
            </a:xfrm>
            <a:prstGeom prst="line">
              <a:avLst/>
            </a:prstGeom>
            <a:noFill/>
            <a:ln w="9525">
              <a:solidFill>
                <a:schemeClr val="tx1"/>
              </a:solidFill>
              <a:round/>
              <a:headEnd/>
              <a:tailEnd type="triangle" w="med" len="med"/>
            </a:ln>
            <a:effectLst/>
          </p:spPr>
          <p:txBody>
            <a:bodyPr wrap="none" anchor="ctr"/>
            <a:lstStyle/>
            <a:p>
              <a:endParaRPr lang="zh-CN" altLang="en-US"/>
            </a:p>
          </p:txBody>
        </p:sp>
      </p:grpSp>
      <p:sp>
        <p:nvSpPr>
          <p:cNvPr id="22" name="灯片编号占位符 21"/>
          <p:cNvSpPr>
            <a:spLocks noGrp="1"/>
          </p:cNvSpPr>
          <p:nvPr>
            <p:ph type="sldNum" sz="quarter" idx="11"/>
          </p:nvPr>
        </p:nvSpPr>
        <p:spPr/>
        <p:txBody>
          <a:bodyPr/>
          <a:lstStyle/>
          <a:p>
            <a:pPr>
              <a:defRPr/>
            </a:pPr>
            <a:fld id="{31E287EE-1289-4991-82CE-EFE584F53F4F}" type="slidenum">
              <a:rPr lang="en-US" altLang="zh-CN" smtClean="0"/>
              <a:pPr>
                <a:defRPr/>
              </a:pPr>
              <a:t>6</a:t>
            </a:fld>
            <a:endParaRPr lang="en-US" altLang="zh-CN" dirty="0"/>
          </a:p>
        </p:txBody>
      </p:sp>
      <p:pic>
        <p:nvPicPr>
          <p:cNvPr id="207873" name="Picture 1"/>
          <p:cNvPicPr>
            <a:picLocks noChangeAspect="1" noChangeArrowheads="1"/>
          </p:cNvPicPr>
          <p:nvPr/>
        </p:nvPicPr>
        <p:blipFill>
          <a:blip r:embed="rId3" cstate="print"/>
          <a:srcRect/>
          <a:stretch>
            <a:fillRect/>
          </a:stretch>
        </p:blipFill>
        <p:spPr bwMode="auto">
          <a:xfrm>
            <a:off x="3928059" y="1012617"/>
            <a:ext cx="6429420" cy="2428892"/>
          </a:xfrm>
          <a:prstGeom prst="rect">
            <a:avLst/>
          </a:prstGeom>
          <a:noFill/>
          <a:ln w="9525">
            <a:noFill/>
            <a:miter lim="800000"/>
            <a:headEnd/>
            <a:tailEnd/>
          </a:ln>
          <a:effectLst/>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6" name="Text Box 4"/>
          <p:cNvSpPr txBox="1">
            <a:spLocks noChangeArrowheads="1"/>
          </p:cNvSpPr>
          <p:nvPr/>
        </p:nvSpPr>
        <p:spPr bwMode="auto">
          <a:xfrm>
            <a:off x="7696206" y="3790937"/>
            <a:ext cx="604653" cy="707886"/>
          </a:xfrm>
          <a:prstGeom prst="rect">
            <a:avLst/>
          </a:prstGeom>
          <a:noFill/>
          <a:ln w="9525">
            <a:noFill/>
            <a:miter lim="800000"/>
            <a:headEnd/>
            <a:tailEnd/>
          </a:ln>
          <a:effectLst/>
        </p:spPr>
        <p:txBody>
          <a:bodyPr wrap="none">
            <a:spAutoFit/>
          </a:bodyPr>
          <a:lstStyle/>
          <a:p>
            <a:pPr algn="l" eaLnBrk="1" hangingPunct="1"/>
            <a:r>
              <a:rPr lang="sv-SE" sz="4000" dirty="0">
                <a:latin typeface="Tahoma" pitchFamily="34" charset="0"/>
              </a:rPr>
              <a:t>…</a:t>
            </a:r>
            <a:endParaRPr lang="en-US" altLang="zh-CN" sz="4000" dirty="0">
              <a:latin typeface="Tahoma" pitchFamily="34" charset="0"/>
            </a:endParaRPr>
          </a:p>
        </p:txBody>
      </p:sp>
      <p:grpSp>
        <p:nvGrpSpPr>
          <p:cNvPr id="2" name="Group 5"/>
          <p:cNvGrpSpPr>
            <a:grpSpLocks/>
          </p:cNvGrpSpPr>
          <p:nvPr/>
        </p:nvGrpSpPr>
        <p:grpSpPr bwMode="auto">
          <a:xfrm>
            <a:off x="2895604" y="2571736"/>
            <a:ext cx="6892925" cy="1295400"/>
            <a:chOff x="864" y="2928"/>
            <a:chExt cx="4342" cy="816"/>
          </a:xfrm>
        </p:grpSpPr>
        <p:sp>
          <p:nvSpPr>
            <p:cNvPr id="120838" name="Text Box 6"/>
            <p:cNvSpPr txBox="1">
              <a:spLocks noChangeArrowheads="1"/>
            </p:cNvSpPr>
            <p:nvPr/>
          </p:nvSpPr>
          <p:spPr bwMode="auto">
            <a:xfrm>
              <a:off x="864" y="3024"/>
              <a:ext cx="256" cy="233"/>
            </a:xfrm>
            <a:prstGeom prst="rect">
              <a:avLst/>
            </a:prstGeom>
            <a:noFill/>
            <a:ln w="38100">
              <a:solidFill>
                <a:schemeClr val="hlink"/>
              </a:solidFill>
              <a:miter lim="800000"/>
              <a:headEnd/>
              <a:tailEnd/>
            </a:ln>
            <a:effectLst/>
          </p:spPr>
          <p:txBody>
            <a:bodyPr wrap="none">
              <a:spAutoFit/>
            </a:bodyPr>
            <a:lstStyle/>
            <a:p>
              <a:pPr algn="l" eaLnBrk="1" hangingPunct="1"/>
              <a:r>
                <a:rPr lang="en-US" altLang="zh-CN" dirty="0">
                  <a:latin typeface="Tahoma" pitchFamily="34" charset="0"/>
                </a:rPr>
                <a:t>C</a:t>
              </a:r>
              <a:r>
                <a:rPr lang="en-US" altLang="zh-CN" baseline="30000" dirty="0">
                  <a:latin typeface="Tahoma" pitchFamily="34" charset="0"/>
                </a:rPr>
                <a:t>1</a:t>
              </a:r>
            </a:p>
          </p:txBody>
        </p:sp>
        <p:sp>
          <p:nvSpPr>
            <p:cNvPr id="120839" name="Text Box 7"/>
            <p:cNvSpPr txBox="1">
              <a:spLocks noChangeArrowheads="1"/>
            </p:cNvSpPr>
            <p:nvPr/>
          </p:nvSpPr>
          <p:spPr bwMode="auto">
            <a:xfrm>
              <a:off x="2352" y="3024"/>
              <a:ext cx="301" cy="233"/>
            </a:xfrm>
            <a:prstGeom prst="rect">
              <a:avLst/>
            </a:prstGeom>
            <a:noFill/>
            <a:ln w="38100">
              <a:solidFill>
                <a:schemeClr val="hlink"/>
              </a:solidFill>
              <a:miter lim="800000"/>
              <a:headEnd/>
              <a:tailEnd/>
            </a:ln>
            <a:effectLst/>
          </p:spPr>
          <p:txBody>
            <a:bodyPr wrap="none">
              <a:spAutoFit/>
            </a:bodyPr>
            <a:lstStyle/>
            <a:p>
              <a:pPr algn="l" eaLnBrk="1" hangingPunct="1"/>
              <a:r>
                <a:rPr lang="en-US" altLang="zh-CN" dirty="0">
                  <a:latin typeface="Tahoma" pitchFamily="34" charset="0"/>
                </a:rPr>
                <a:t>C</a:t>
              </a:r>
              <a:r>
                <a:rPr lang="sv-SE" baseline="30000" dirty="0">
                  <a:latin typeface="Tahoma" pitchFamily="34" charset="0"/>
                </a:rPr>
                <a:t>2</a:t>
              </a:r>
              <a:r>
                <a:rPr lang="sv-SE" dirty="0">
                  <a:latin typeface="Tahoma" pitchFamily="34" charset="0"/>
                </a:rPr>
                <a:t> </a:t>
              </a:r>
              <a:endParaRPr lang="en-US" altLang="zh-CN" dirty="0">
                <a:latin typeface="Tahoma" pitchFamily="34" charset="0"/>
              </a:endParaRPr>
            </a:p>
          </p:txBody>
        </p:sp>
        <p:sp>
          <p:nvSpPr>
            <p:cNvPr id="120840" name="Text Box 8"/>
            <p:cNvSpPr txBox="1">
              <a:spLocks noChangeArrowheads="1"/>
            </p:cNvSpPr>
            <p:nvPr/>
          </p:nvSpPr>
          <p:spPr bwMode="auto">
            <a:xfrm>
              <a:off x="4560" y="3024"/>
              <a:ext cx="290" cy="233"/>
            </a:xfrm>
            <a:prstGeom prst="rect">
              <a:avLst/>
            </a:prstGeom>
            <a:noFill/>
            <a:ln w="38100">
              <a:solidFill>
                <a:schemeClr val="hlink"/>
              </a:solidFill>
              <a:miter lim="800000"/>
              <a:headEnd/>
              <a:tailEnd/>
            </a:ln>
            <a:effectLst/>
          </p:spPr>
          <p:txBody>
            <a:bodyPr wrap="none">
              <a:spAutoFit/>
            </a:bodyPr>
            <a:lstStyle/>
            <a:p>
              <a:pPr algn="l" eaLnBrk="1" hangingPunct="1"/>
              <a:r>
                <a:rPr lang="en-US" altLang="zh-CN" dirty="0">
                  <a:latin typeface="Tahoma" pitchFamily="34" charset="0"/>
                </a:rPr>
                <a:t>C</a:t>
              </a:r>
              <a:r>
                <a:rPr lang="sv-SE" baseline="30000" dirty="0">
                  <a:latin typeface="Tahoma" pitchFamily="34" charset="0"/>
                </a:rPr>
                <a:t>T </a:t>
              </a:r>
              <a:endParaRPr lang="en-US" altLang="zh-CN" baseline="30000" dirty="0">
                <a:latin typeface="Tahoma" pitchFamily="34" charset="0"/>
              </a:endParaRPr>
            </a:p>
          </p:txBody>
        </p:sp>
        <p:sp>
          <p:nvSpPr>
            <p:cNvPr id="120841" name="Line 9"/>
            <p:cNvSpPr>
              <a:spLocks noChangeShapeType="1"/>
            </p:cNvSpPr>
            <p:nvPr/>
          </p:nvSpPr>
          <p:spPr bwMode="auto">
            <a:xfrm flipV="1">
              <a:off x="1056" y="3408"/>
              <a:ext cx="0" cy="336"/>
            </a:xfrm>
            <a:prstGeom prst="line">
              <a:avLst/>
            </a:prstGeom>
            <a:noFill/>
            <a:ln w="38100">
              <a:solidFill>
                <a:schemeClr val="folHlink"/>
              </a:solidFill>
              <a:miter lim="800000"/>
              <a:headEnd/>
              <a:tailEnd type="triangle" w="med" len="med"/>
            </a:ln>
            <a:effectLst/>
          </p:spPr>
          <p:txBody>
            <a:bodyPr wrap="none"/>
            <a:lstStyle/>
            <a:p>
              <a:endParaRPr lang="zh-CN" altLang="en-US"/>
            </a:p>
          </p:txBody>
        </p:sp>
        <p:sp>
          <p:nvSpPr>
            <p:cNvPr id="120842" name="Text Box 10"/>
            <p:cNvSpPr txBox="1">
              <a:spLocks noChangeArrowheads="1"/>
            </p:cNvSpPr>
            <p:nvPr/>
          </p:nvSpPr>
          <p:spPr bwMode="auto">
            <a:xfrm>
              <a:off x="1142" y="3429"/>
              <a:ext cx="406" cy="233"/>
            </a:xfrm>
            <a:prstGeom prst="rect">
              <a:avLst/>
            </a:prstGeom>
            <a:noFill/>
            <a:ln w="9525">
              <a:noFill/>
              <a:miter lim="800000"/>
              <a:headEnd/>
              <a:tailEnd/>
            </a:ln>
            <a:effectLst/>
          </p:spPr>
          <p:txBody>
            <a:bodyPr wrap="none">
              <a:spAutoFit/>
            </a:bodyPr>
            <a:lstStyle/>
            <a:p>
              <a:pPr algn="l" eaLnBrk="1" hangingPunct="1"/>
              <a:r>
                <a:rPr lang="sv-SE">
                  <a:latin typeface="Tahoma" pitchFamily="34" charset="0"/>
                </a:rPr>
                <a:t>train</a:t>
              </a:r>
              <a:endParaRPr lang="en-US" altLang="zh-CN">
                <a:latin typeface="Tahoma" pitchFamily="34" charset="0"/>
              </a:endParaRPr>
            </a:p>
          </p:txBody>
        </p:sp>
        <p:sp>
          <p:nvSpPr>
            <p:cNvPr id="120843" name="Line 11"/>
            <p:cNvSpPr>
              <a:spLocks noChangeShapeType="1"/>
            </p:cNvSpPr>
            <p:nvPr/>
          </p:nvSpPr>
          <p:spPr bwMode="auto">
            <a:xfrm flipV="1">
              <a:off x="2506" y="3387"/>
              <a:ext cx="0" cy="336"/>
            </a:xfrm>
            <a:prstGeom prst="line">
              <a:avLst/>
            </a:prstGeom>
            <a:noFill/>
            <a:ln w="38100">
              <a:solidFill>
                <a:schemeClr val="folHlink"/>
              </a:solidFill>
              <a:miter lim="800000"/>
              <a:headEnd/>
              <a:tailEnd type="triangle" w="med" len="med"/>
            </a:ln>
            <a:effectLst/>
          </p:spPr>
          <p:txBody>
            <a:bodyPr wrap="none"/>
            <a:lstStyle/>
            <a:p>
              <a:endParaRPr lang="zh-CN" altLang="en-US"/>
            </a:p>
          </p:txBody>
        </p:sp>
        <p:sp>
          <p:nvSpPr>
            <p:cNvPr id="120844" name="Text Box 12"/>
            <p:cNvSpPr txBox="1">
              <a:spLocks noChangeArrowheads="1"/>
            </p:cNvSpPr>
            <p:nvPr/>
          </p:nvSpPr>
          <p:spPr bwMode="auto">
            <a:xfrm>
              <a:off x="2592" y="3408"/>
              <a:ext cx="406" cy="233"/>
            </a:xfrm>
            <a:prstGeom prst="rect">
              <a:avLst/>
            </a:prstGeom>
            <a:noFill/>
            <a:ln w="9525">
              <a:noFill/>
              <a:miter lim="800000"/>
              <a:headEnd/>
              <a:tailEnd/>
            </a:ln>
            <a:effectLst/>
          </p:spPr>
          <p:txBody>
            <a:bodyPr wrap="none">
              <a:spAutoFit/>
            </a:bodyPr>
            <a:lstStyle/>
            <a:p>
              <a:pPr algn="l" eaLnBrk="1" hangingPunct="1"/>
              <a:r>
                <a:rPr lang="sv-SE">
                  <a:latin typeface="Tahoma" pitchFamily="34" charset="0"/>
                </a:rPr>
                <a:t>train</a:t>
              </a:r>
              <a:endParaRPr lang="en-US" altLang="zh-CN">
                <a:latin typeface="Tahoma" pitchFamily="34" charset="0"/>
              </a:endParaRPr>
            </a:p>
          </p:txBody>
        </p:sp>
        <p:sp>
          <p:nvSpPr>
            <p:cNvPr id="120845" name="Line 13"/>
            <p:cNvSpPr>
              <a:spLocks noChangeShapeType="1"/>
            </p:cNvSpPr>
            <p:nvPr/>
          </p:nvSpPr>
          <p:spPr bwMode="auto">
            <a:xfrm flipV="1">
              <a:off x="4714" y="3387"/>
              <a:ext cx="0" cy="336"/>
            </a:xfrm>
            <a:prstGeom prst="line">
              <a:avLst/>
            </a:prstGeom>
            <a:noFill/>
            <a:ln w="38100">
              <a:solidFill>
                <a:schemeClr val="folHlink"/>
              </a:solidFill>
              <a:miter lim="800000"/>
              <a:headEnd/>
              <a:tailEnd type="triangle" w="med" len="med"/>
            </a:ln>
            <a:effectLst/>
          </p:spPr>
          <p:txBody>
            <a:bodyPr wrap="none"/>
            <a:lstStyle/>
            <a:p>
              <a:endParaRPr lang="zh-CN" altLang="en-US"/>
            </a:p>
          </p:txBody>
        </p:sp>
        <p:sp>
          <p:nvSpPr>
            <p:cNvPr id="120846" name="Text Box 14"/>
            <p:cNvSpPr txBox="1">
              <a:spLocks noChangeArrowheads="1"/>
            </p:cNvSpPr>
            <p:nvPr/>
          </p:nvSpPr>
          <p:spPr bwMode="auto">
            <a:xfrm>
              <a:off x="4800" y="3408"/>
              <a:ext cx="406" cy="233"/>
            </a:xfrm>
            <a:prstGeom prst="rect">
              <a:avLst/>
            </a:prstGeom>
            <a:noFill/>
            <a:ln w="9525">
              <a:noFill/>
              <a:miter lim="800000"/>
              <a:headEnd/>
              <a:tailEnd/>
            </a:ln>
            <a:effectLst/>
          </p:spPr>
          <p:txBody>
            <a:bodyPr wrap="none">
              <a:spAutoFit/>
            </a:bodyPr>
            <a:lstStyle/>
            <a:p>
              <a:pPr algn="l" eaLnBrk="1" hangingPunct="1"/>
              <a:r>
                <a:rPr lang="sv-SE">
                  <a:latin typeface="Tahoma" pitchFamily="34" charset="0"/>
                </a:rPr>
                <a:t>train</a:t>
              </a:r>
              <a:endParaRPr lang="en-US" altLang="zh-CN">
                <a:latin typeface="Tahoma" pitchFamily="34" charset="0"/>
              </a:endParaRPr>
            </a:p>
          </p:txBody>
        </p:sp>
        <p:sp>
          <p:nvSpPr>
            <p:cNvPr id="120847" name="Text Box 15"/>
            <p:cNvSpPr txBox="1">
              <a:spLocks noChangeArrowheads="1"/>
            </p:cNvSpPr>
            <p:nvPr/>
          </p:nvSpPr>
          <p:spPr bwMode="auto">
            <a:xfrm>
              <a:off x="3504" y="2928"/>
              <a:ext cx="381" cy="446"/>
            </a:xfrm>
            <a:prstGeom prst="rect">
              <a:avLst/>
            </a:prstGeom>
            <a:noFill/>
            <a:ln w="9525">
              <a:noFill/>
              <a:miter lim="800000"/>
              <a:headEnd/>
              <a:tailEnd/>
            </a:ln>
            <a:effectLst/>
          </p:spPr>
          <p:txBody>
            <a:bodyPr wrap="none">
              <a:spAutoFit/>
            </a:bodyPr>
            <a:lstStyle/>
            <a:p>
              <a:pPr algn="l" eaLnBrk="1" hangingPunct="1"/>
              <a:r>
                <a:rPr lang="sv-SE" sz="4000">
                  <a:latin typeface="Tahoma" pitchFamily="34" charset="0"/>
                </a:rPr>
                <a:t>…</a:t>
              </a:r>
              <a:endParaRPr lang="en-US" altLang="zh-CN" sz="4000">
                <a:latin typeface="Tahoma" pitchFamily="34" charset="0"/>
              </a:endParaRPr>
            </a:p>
          </p:txBody>
        </p:sp>
      </p:grpSp>
      <p:grpSp>
        <p:nvGrpSpPr>
          <p:cNvPr id="3" name="Group 16"/>
          <p:cNvGrpSpPr>
            <a:grpSpLocks/>
          </p:cNvGrpSpPr>
          <p:nvPr/>
        </p:nvGrpSpPr>
        <p:grpSpPr bwMode="auto">
          <a:xfrm>
            <a:off x="1738318" y="3006717"/>
            <a:ext cx="6929439" cy="2105025"/>
            <a:chOff x="135" y="3384"/>
            <a:chExt cx="4365" cy="1326"/>
          </a:xfrm>
        </p:grpSpPr>
        <p:sp>
          <p:nvSpPr>
            <p:cNvPr id="120849" name="Rectangle 17"/>
            <p:cNvSpPr>
              <a:spLocks noChangeArrowheads="1"/>
            </p:cNvSpPr>
            <p:nvPr/>
          </p:nvSpPr>
          <p:spPr bwMode="auto">
            <a:xfrm>
              <a:off x="135" y="4374"/>
              <a:ext cx="672" cy="336"/>
            </a:xfrm>
            <a:prstGeom prst="rect">
              <a:avLst/>
            </a:prstGeom>
            <a:solidFill>
              <a:schemeClr val="accent2"/>
            </a:solidFill>
            <a:ln w="9525">
              <a:solidFill>
                <a:schemeClr val="tx1"/>
              </a:solidFill>
              <a:miter lim="800000"/>
              <a:headEnd/>
              <a:tailEnd/>
            </a:ln>
            <a:effectLst/>
          </p:spPr>
          <p:txBody>
            <a:bodyPr wrap="none" anchor="ctr"/>
            <a:lstStyle/>
            <a:p>
              <a:pPr algn="ctr" eaLnBrk="1" hangingPunct="1"/>
              <a:r>
                <a:rPr lang="sv-SE" dirty="0">
                  <a:latin typeface="Tahoma" pitchFamily="34" charset="0"/>
                </a:rPr>
                <a:t>x</a:t>
              </a:r>
              <a:endParaRPr lang="en-US" altLang="zh-CN" baseline="-25000" dirty="0">
                <a:latin typeface="Tahoma" pitchFamily="34" charset="0"/>
              </a:endParaRPr>
            </a:p>
          </p:txBody>
        </p:sp>
        <p:sp>
          <p:nvSpPr>
            <p:cNvPr id="120850" name="Line 18"/>
            <p:cNvSpPr>
              <a:spLocks noChangeShapeType="1"/>
            </p:cNvSpPr>
            <p:nvPr/>
          </p:nvSpPr>
          <p:spPr bwMode="auto">
            <a:xfrm flipV="1">
              <a:off x="540" y="3448"/>
              <a:ext cx="318" cy="926"/>
            </a:xfrm>
            <a:prstGeom prst="line">
              <a:avLst/>
            </a:prstGeom>
            <a:noFill/>
            <a:ln w="38100">
              <a:solidFill>
                <a:schemeClr val="folHlink"/>
              </a:solidFill>
              <a:miter lim="800000"/>
              <a:headEnd/>
              <a:tailEnd type="triangle" w="med" len="med"/>
            </a:ln>
            <a:effectLst/>
          </p:spPr>
          <p:txBody>
            <a:bodyPr wrap="none"/>
            <a:lstStyle/>
            <a:p>
              <a:endParaRPr lang="zh-CN" altLang="en-US"/>
            </a:p>
          </p:txBody>
        </p:sp>
        <p:sp>
          <p:nvSpPr>
            <p:cNvPr id="120851" name="Line 19"/>
            <p:cNvSpPr>
              <a:spLocks noChangeShapeType="1"/>
            </p:cNvSpPr>
            <p:nvPr/>
          </p:nvSpPr>
          <p:spPr bwMode="auto">
            <a:xfrm flipV="1">
              <a:off x="810" y="3384"/>
              <a:ext cx="1485" cy="1215"/>
            </a:xfrm>
            <a:prstGeom prst="line">
              <a:avLst/>
            </a:prstGeom>
            <a:noFill/>
            <a:ln w="38100">
              <a:solidFill>
                <a:schemeClr val="folHlink"/>
              </a:solidFill>
              <a:miter lim="800000"/>
              <a:headEnd/>
              <a:tailEnd type="triangle" w="med" len="med"/>
            </a:ln>
            <a:effectLst/>
          </p:spPr>
          <p:txBody>
            <a:bodyPr wrap="none"/>
            <a:lstStyle/>
            <a:p>
              <a:endParaRPr lang="zh-CN" altLang="en-US"/>
            </a:p>
          </p:txBody>
        </p:sp>
        <p:sp>
          <p:nvSpPr>
            <p:cNvPr id="120852" name="Line 20"/>
            <p:cNvSpPr>
              <a:spLocks noChangeShapeType="1"/>
            </p:cNvSpPr>
            <p:nvPr/>
          </p:nvSpPr>
          <p:spPr bwMode="auto">
            <a:xfrm flipV="1">
              <a:off x="855" y="3429"/>
              <a:ext cx="3645" cy="1260"/>
            </a:xfrm>
            <a:prstGeom prst="line">
              <a:avLst/>
            </a:prstGeom>
            <a:noFill/>
            <a:ln w="38100">
              <a:solidFill>
                <a:schemeClr val="folHlink"/>
              </a:solidFill>
              <a:miter lim="800000"/>
              <a:headEnd/>
              <a:tailEnd type="triangle" w="med" len="med"/>
            </a:ln>
            <a:effectLst/>
          </p:spPr>
          <p:txBody>
            <a:bodyPr wrap="none"/>
            <a:lstStyle/>
            <a:p>
              <a:endParaRPr lang="zh-CN" altLang="en-US"/>
            </a:p>
          </p:txBody>
        </p:sp>
      </p:grpSp>
      <p:grpSp>
        <p:nvGrpSpPr>
          <p:cNvPr id="4" name="Group 21"/>
          <p:cNvGrpSpPr>
            <a:grpSpLocks/>
          </p:cNvGrpSpPr>
          <p:nvPr/>
        </p:nvGrpSpPr>
        <p:grpSpPr bwMode="auto">
          <a:xfrm>
            <a:off x="3733800" y="2663811"/>
            <a:ext cx="6553200" cy="609600"/>
            <a:chOff x="1392" y="3168"/>
            <a:chExt cx="4128" cy="384"/>
          </a:xfrm>
        </p:grpSpPr>
        <p:sp>
          <p:nvSpPr>
            <p:cNvPr id="120854" name="Rectangle 22"/>
            <p:cNvSpPr>
              <a:spLocks noChangeArrowheads="1"/>
            </p:cNvSpPr>
            <p:nvPr/>
          </p:nvSpPr>
          <p:spPr bwMode="auto">
            <a:xfrm>
              <a:off x="1392" y="3168"/>
              <a:ext cx="480" cy="336"/>
            </a:xfrm>
            <a:prstGeom prst="rect">
              <a:avLst/>
            </a:prstGeom>
            <a:solidFill>
              <a:schemeClr val="accent2"/>
            </a:solidFill>
            <a:ln w="9525">
              <a:solidFill>
                <a:schemeClr val="tx1"/>
              </a:solidFill>
              <a:miter lim="800000"/>
              <a:headEnd/>
              <a:tailEnd/>
            </a:ln>
            <a:effectLst/>
          </p:spPr>
          <p:txBody>
            <a:bodyPr wrap="none" anchor="ctr"/>
            <a:lstStyle/>
            <a:p>
              <a:pPr eaLnBrk="1" hangingPunct="1"/>
              <a:r>
                <a:rPr lang="sv-SE">
                  <a:latin typeface="Tahoma" pitchFamily="34" charset="0"/>
                </a:rPr>
                <a:t>c</a:t>
              </a:r>
              <a:r>
                <a:rPr lang="sv-SE" baseline="-25000">
                  <a:latin typeface="Tahoma" pitchFamily="34" charset="0"/>
                </a:rPr>
                <a:t>1</a:t>
              </a:r>
              <a:r>
                <a:rPr lang="sv-SE">
                  <a:latin typeface="Tahoma" pitchFamily="34" charset="0"/>
                </a:rPr>
                <a:t>(x)</a:t>
              </a:r>
              <a:endParaRPr lang="en-US" altLang="zh-CN">
                <a:latin typeface="Tahoma" pitchFamily="34" charset="0"/>
              </a:endParaRPr>
            </a:p>
          </p:txBody>
        </p:sp>
        <p:sp>
          <p:nvSpPr>
            <p:cNvPr id="120855" name="Rectangle 23"/>
            <p:cNvSpPr>
              <a:spLocks noChangeArrowheads="1"/>
            </p:cNvSpPr>
            <p:nvPr/>
          </p:nvSpPr>
          <p:spPr bwMode="auto">
            <a:xfrm>
              <a:off x="2832" y="3216"/>
              <a:ext cx="480" cy="336"/>
            </a:xfrm>
            <a:prstGeom prst="rect">
              <a:avLst/>
            </a:prstGeom>
            <a:solidFill>
              <a:schemeClr val="accent2"/>
            </a:solidFill>
            <a:ln w="9525">
              <a:solidFill>
                <a:schemeClr val="tx1"/>
              </a:solidFill>
              <a:miter lim="800000"/>
              <a:headEnd/>
              <a:tailEnd/>
            </a:ln>
            <a:effectLst/>
          </p:spPr>
          <p:txBody>
            <a:bodyPr wrap="none" anchor="ctr"/>
            <a:lstStyle/>
            <a:p>
              <a:pPr eaLnBrk="1" hangingPunct="1"/>
              <a:r>
                <a:rPr lang="sv-SE">
                  <a:latin typeface="Tahoma" pitchFamily="34" charset="0"/>
                </a:rPr>
                <a:t>c</a:t>
              </a:r>
              <a:r>
                <a:rPr lang="sv-SE" baseline="-25000">
                  <a:latin typeface="Tahoma" pitchFamily="34" charset="0"/>
                </a:rPr>
                <a:t>2</a:t>
              </a:r>
              <a:r>
                <a:rPr lang="sv-SE">
                  <a:latin typeface="Tahoma" pitchFamily="34" charset="0"/>
                </a:rPr>
                <a:t>(x)</a:t>
              </a:r>
              <a:endParaRPr lang="en-US" altLang="zh-CN">
                <a:latin typeface="Tahoma" pitchFamily="34" charset="0"/>
              </a:endParaRPr>
            </a:p>
          </p:txBody>
        </p:sp>
        <p:sp>
          <p:nvSpPr>
            <p:cNvPr id="120856" name="Rectangle 24"/>
            <p:cNvSpPr>
              <a:spLocks noChangeArrowheads="1"/>
            </p:cNvSpPr>
            <p:nvPr/>
          </p:nvSpPr>
          <p:spPr bwMode="auto">
            <a:xfrm>
              <a:off x="5040" y="3216"/>
              <a:ext cx="480" cy="336"/>
            </a:xfrm>
            <a:prstGeom prst="rect">
              <a:avLst/>
            </a:prstGeom>
            <a:solidFill>
              <a:schemeClr val="accent2"/>
            </a:solidFill>
            <a:ln w="9525">
              <a:solidFill>
                <a:schemeClr val="tx1"/>
              </a:solidFill>
              <a:miter lim="800000"/>
              <a:headEnd/>
              <a:tailEnd/>
            </a:ln>
            <a:effectLst/>
          </p:spPr>
          <p:txBody>
            <a:bodyPr wrap="none" anchor="ctr"/>
            <a:lstStyle/>
            <a:p>
              <a:pPr eaLnBrk="1" hangingPunct="1"/>
              <a:r>
                <a:rPr lang="sv-SE">
                  <a:latin typeface="Tahoma" pitchFamily="34" charset="0"/>
                </a:rPr>
                <a:t>c</a:t>
              </a:r>
              <a:r>
                <a:rPr lang="sv-SE" baseline="-25000">
                  <a:latin typeface="Tahoma" pitchFamily="34" charset="0"/>
                </a:rPr>
                <a:t>T</a:t>
              </a:r>
              <a:r>
                <a:rPr lang="sv-SE">
                  <a:latin typeface="Tahoma" pitchFamily="34" charset="0"/>
                </a:rPr>
                <a:t>(x)</a:t>
              </a:r>
              <a:endParaRPr lang="en-US" altLang="zh-CN">
                <a:latin typeface="Tahoma" pitchFamily="34" charset="0"/>
              </a:endParaRPr>
            </a:p>
          </p:txBody>
        </p:sp>
      </p:grpSp>
      <p:grpSp>
        <p:nvGrpSpPr>
          <p:cNvPr id="5" name="Group 25"/>
          <p:cNvGrpSpPr>
            <a:grpSpLocks/>
          </p:cNvGrpSpPr>
          <p:nvPr/>
        </p:nvGrpSpPr>
        <p:grpSpPr bwMode="auto">
          <a:xfrm>
            <a:off x="4114800" y="1428741"/>
            <a:ext cx="5791200" cy="1311275"/>
            <a:chOff x="1632" y="2390"/>
            <a:chExt cx="3648" cy="826"/>
          </a:xfrm>
        </p:grpSpPr>
        <p:sp>
          <p:nvSpPr>
            <p:cNvPr id="120858" name="Text Box 26"/>
            <p:cNvSpPr txBox="1">
              <a:spLocks noChangeArrowheads="1"/>
            </p:cNvSpPr>
            <p:nvPr/>
          </p:nvSpPr>
          <p:spPr bwMode="auto">
            <a:xfrm>
              <a:off x="2544" y="2438"/>
              <a:ext cx="301" cy="233"/>
            </a:xfrm>
            <a:prstGeom prst="rect">
              <a:avLst/>
            </a:prstGeom>
            <a:noFill/>
            <a:ln w="38100">
              <a:solidFill>
                <a:schemeClr val="hlink"/>
              </a:solidFill>
              <a:miter lim="800000"/>
              <a:headEnd/>
              <a:tailEnd/>
            </a:ln>
            <a:effectLst/>
          </p:spPr>
          <p:txBody>
            <a:bodyPr wrap="none">
              <a:spAutoFit/>
            </a:bodyPr>
            <a:lstStyle/>
            <a:p>
              <a:pPr algn="l" eaLnBrk="1" hangingPunct="1"/>
              <a:r>
                <a:rPr lang="sv-SE">
                  <a:latin typeface="Tahoma" pitchFamily="34" charset="0"/>
                </a:rPr>
                <a:t>C</a:t>
              </a:r>
              <a:r>
                <a:rPr lang="sv-SE" baseline="30000">
                  <a:latin typeface="Tahoma" pitchFamily="34" charset="0"/>
                </a:rPr>
                <a:t>*</a:t>
              </a:r>
              <a:r>
                <a:rPr lang="sv-SE">
                  <a:latin typeface="Tahoma" pitchFamily="34" charset="0"/>
                </a:rPr>
                <a:t> </a:t>
              </a:r>
              <a:endParaRPr lang="en-US" altLang="zh-CN">
                <a:latin typeface="Tahoma" pitchFamily="34" charset="0"/>
              </a:endParaRPr>
            </a:p>
          </p:txBody>
        </p:sp>
        <p:sp>
          <p:nvSpPr>
            <p:cNvPr id="120859" name="Line 27"/>
            <p:cNvSpPr>
              <a:spLocks noChangeShapeType="1"/>
            </p:cNvSpPr>
            <p:nvPr/>
          </p:nvSpPr>
          <p:spPr bwMode="auto">
            <a:xfrm flipV="1">
              <a:off x="1632" y="2784"/>
              <a:ext cx="2736" cy="384"/>
            </a:xfrm>
            <a:prstGeom prst="line">
              <a:avLst/>
            </a:prstGeom>
            <a:noFill/>
            <a:ln w="38100">
              <a:solidFill>
                <a:schemeClr val="folHlink"/>
              </a:solidFill>
              <a:miter lim="800000"/>
              <a:headEnd/>
              <a:tailEnd type="triangle" w="med" len="med"/>
            </a:ln>
            <a:effectLst/>
          </p:spPr>
          <p:txBody>
            <a:bodyPr wrap="none"/>
            <a:lstStyle/>
            <a:p>
              <a:endParaRPr lang="zh-CN" altLang="en-US"/>
            </a:p>
          </p:txBody>
        </p:sp>
        <p:sp>
          <p:nvSpPr>
            <p:cNvPr id="120860" name="Line 28"/>
            <p:cNvSpPr>
              <a:spLocks noChangeShapeType="1"/>
            </p:cNvSpPr>
            <p:nvPr/>
          </p:nvSpPr>
          <p:spPr bwMode="auto">
            <a:xfrm flipV="1">
              <a:off x="3120" y="2784"/>
              <a:ext cx="1632" cy="432"/>
            </a:xfrm>
            <a:prstGeom prst="line">
              <a:avLst/>
            </a:prstGeom>
            <a:noFill/>
            <a:ln w="38100">
              <a:solidFill>
                <a:schemeClr val="folHlink"/>
              </a:solidFill>
              <a:miter lim="800000"/>
              <a:headEnd/>
              <a:tailEnd type="triangle" w="med" len="med"/>
            </a:ln>
            <a:effectLst/>
          </p:spPr>
          <p:txBody>
            <a:bodyPr wrap="none"/>
            <a:lstStyle/>
            <a:p>
              <a:endParaRPr lang="zh-CN" altLang="en-US"/>
            </a:p>
          </p:txBody>
        </p:sp>
        <p:sp>
          <p:nvSpPr>
            <p:cNvPr id="120861" name="Line 29"/>
            <p:cNvSpPr>
              <a:spLocks noChangeShapeType="1"/>
            </p:cNvSpPr>
            <p:nvPr/>
          </p:nvSpPr>
          <p:spPr bwMode="auto">
            <a:xfrm flipH="1" flipV="1">
              <a:off x="4944" y="2736"/>
              <a:ext cx="336" cy="480"/>
            </a:xfrm>
            <a:prstGeom prst="line">
              <a:avLst/>
            </a:prstGeom>
            <a:noFill/>
            <a:ln w="38100">
              <a:solidFill>
                <a:schemeClr val="folHlink"/>
              </a:solidFill>
              <a:miter lim="800000"/>
              <a:headEnd/>
              <a:tailEnd type="triangle" w="med" len="med"/>
            </a:ln>
            <a:effectLst/>
          </p:spPr>
          <p:txBody>
            <a:bodyPr wrap="none"/>
            <a:lstStyle/>
            <a:p>
              <a:endParaRPr lang="zh-CN" altLang="en-US"/>
            </a:p>
          </p:txBody>
        </p:sp>
        <p:sp>
          <p:nvSpPr>
            <p:cNvPr id="120862" name="Rectangle 30"/>
            <p:cNvSpPr>
              <a:spLocks noChangeArrowheads="1"/>
            </p:cNvSpPr>
            <p:nvPr/>
          </p:nvSpPr>
          <p:spPr bwMode="auto">
            <a:xfrm>
              <a:off x="3264" y="2390"/>
              <a:ext cx="2016" cy="346"/>
            </a:xfrm>
            <a:prstGeom prst="rect">
              <a:avLst/>
            </a:prstGeom>
            <a:solidFill>
              <a:schemeClr val="accent2"/>
            </a:solidFill>
            <a:ln w="9525">
              <a:solidFill>
                <a:schemeClr val="tx1"/>
              </a:solidFill>
              <a:miter lim="800000"/>
              <a:headEnd/>
              <a:tailEnd/>
            </a:ln>
            <a:effectLst/>
          </p:spPr>
          <p:txBody>
            <a:bodyPr wrap="none" anchor="ctr"/>
            <a:lstStyle/>
            <a:p>
              <a:pPr eaLnBrk="1" hangingPunct="1"/>
              <a:r>
                <a:rPr lang="sv-SE">
                  <a:latin typeface="Tahoma" pitchFamily="34" charset="0"/>
                </a:rPr>
                <a:t>c*(x) = maxcnt</a:t>
              </a:r>
              <a:r>
                <a:rPr lang="sv-SE" baseline="-25000">
                  <a:latin typeface="Tahoma" pitchFamily="34" charset="0"/>
                </a:rPr>
                <a:t>t</a:t>
              </a:r>
              <a:r>
                <a:rPr lang="sv-SE">
                  <a:latin typeface="Tahoma" pitchFamily="34" charset="0"/>
                </a:rPr>
                <a:t> c</a:t>
              </a:r>
              <a:r>
                <a:rPr lang="sv-SE" baseline="-25000">
                  <a:latin typeface="Tahoma" pitchFamily="34" charset="0"/>
                </a:rPr>
                <a:t>t</a:t>
              </a:r>
              <a:r>
                <a:rPr lang="sv-SE">
                  <a:latin typeface="Tahoma" pitchFamily="34" charset="0"/>
                </a:rPr>
                <a:t>(x)</a:t>
              </a:r>
              <a:endParaRPr lang="en-US" altLang="zh-CN">
                <a:latin typeface="Tahoma" pitchFamily="34" charset="0"/>
              </a:endParaRPr>
            </a:p>
          </p:txBody>
        </p:sp>
      </p:grpSp>
      <p:grpSp>
        <p:nvGrpSpPr>
          <p:cNvPr id="6" name="Group 31"/>
          <p:cNvGrpSpPr>
            <a:grpSpLocks/>
          </p:cNvGrpSpPr>
          <p:nvPr/>
        </p:nvGrpSpPr>
        <p:grpSpPr bwMode="auto">
          <a:xfrm>
            <a:off x="2895606" y="3943351"/>
            <a:ext cx="6342063" cy="369888"/>
            <a:chOff x="864" y="3974"/>
            <a:chExt cx="3995" cy="233"/>
          </a:xfrm>
        </p:grpSpPr>
        <p:sp>
          <p:nvSpPr>
            <p:cNvPr id="120864" name="Text Box 32"/>
            <p:cNvSpPr txBox="1">
              <a:spLocks noChangeArrowheads="1"/>
            </p:cNvSpPr>
            <p:nvPr/>
          </p:nvSpPr>
          <p:spPr bwMode="auto">
            <a:xfrm>
              <a:off x="864" y="3974"/>
              <a:ext cx="295" cy="233"/>
            </a:xfrm>
            <a:prstGeom prst="rect">
              <a:avLst/>
            </a:prstGeom>
            <a:noFill/>
            <a:ln w="38100">
              <a:solidFill>
                <a:schemeClr val="hlink"/>
              </a:solidFill>
              <a:miter lim="800000"/>
              <a:headEnd/>
              <a:tailEnd/>
            </a:ln>
            <a:effectLst/>
          </p:spPr>
          <p:txBody>
            <a:bodyPr wrap="none">
              <a:spAutoFit/>
            </a:bodyPr>
            <a:lstStyle/>
            <a:p>
              <a:pPr algn="l" eaLnBrk="1" hangingPunct="1"/>
              <a:r>
                <a:rPr lang="sv-SE">
                  <a:latin typeface="Tahoma" pitchFamily="34" charset="0"/>
                </a:rPr>
                <a:t>S</a:t>
              </a:r>
              <a:r>
                <a:rPr lang="sv-SE" baseline="-25000">
                  <a:latin typeface="Tahoma" pitchFamily="34" charset="0"/>
                </a:rPr>
                <a:t>1</a:t>
              </a:r>
              <a:r>
                <a:rPr lang="sv-SE">
                  <a:latin typeface="Tahoma" pitchFamily="34" charset="0"/>
                </a:rPr>
                <a:t> </a:t>
              </a:r>
              <a:endParaRPr lang="en-US" altLang="zh-CN">
                <a:latin typeface="Tahoma" pitchFamily="34" charset="0"/>
              </a:endParaRPr>
            </a:p>
          </p:txBody>
        </p:sp>
        <p:sp>
          <p:nvSpPr>
            <p:cNvPr id="120865" name="Text Box 33"/>
            <p:cNvSpPr txBox="1">
              <a:spLocks noChangeArrowheads="1"/>
            </p:cNvSpPr>
            <p:nvPr/>
          </p:nvSpPr>
          <p:spPr bwMode="auto">
            <a:xfrm>
              <a:off x="2352" y="3974"/>
              <a:ext cx="295" cy="233"/>
            </a:xfrm>
            <a:prstGeom prst="rect">
              <a:avLst/>
            </a:prstGeom>
            <a:noFill/>
            <a:ln w="38100">
              <a:solidFill>
                <a:schemeClr val="hlink"/>
              </a:solidFill>
              <a:miter lim="800000"/>
              <a:headEnd/>
              <a:tailEnd/>
            </a:ln>
            <a:effectLst/>
          </p:spPr>
          <p:txBody>
            <a:bodyPr wrap="none">
              <a:spAutoFit/>
            </a:bodyPr>
            <a:lstStyle/>
            <a:p>
              <a:pPr algn="l" eaLnBrk="1" hangingPunct="1"/>
              <a:r>
                <a:rPr lang="sv-SE">
                  <a:latin typeface="Tahoma" pitchFamily="34" charset="0"/>
                </a:rPr>
                <a:t>S</a:t>
              </a:r>
              <a:r>
                <a:rPr lang="sv-SE" baseline="-25000">
                  <a:latin typeface="Tahoma" pitchFamily="34" charset="0"/>
                </a:rPr>
                <a:t>2</a:t>
              </a:r>
              <a:r>
                <a:rPr lang="sv-SE">
                  <a:latin typeface="Tahoma" pitchFamily="34" charset="0"/>
                </a:rPr>
                <a:t> </a:t>
              </a:r>
              <a:endParaRPr lang="en-US" altLang="zh-CN">
                <a:latin typeface="Tahoma" pitchFamily="34" charset="0"/>
              </a:endParaRPr>
            </a:p>
          </p:txBody>
        </p:sp>
        <p:sp>
          <p:nvSpPr>
            <p:cNvPr id="120866" name="Text Box 34"/>
            <p:cNvSpPr txBox="1">
              <a:spLocks noChangeArrowheads="1"/>
            </p:cNvSpPr>
            <p:nvPr/>
          </p:nvSpPr>
          <p:spPr bwMode="auto">
            <a:xfrm>
              <a:off x="4560" y="3974"/>
              <a:ext cx="299" cy="233"/>
            </a:xfrm>
            <a:prstGeom prst="rect">
              <a:avLst/>
            </a:prstGeom>
            <a:noFill/>
            <a:ln w="38100">
              <a:solidFill>
                <a:schemeClr val="hlink"/>
              </a:solidFill>
              <a:miter lim="800000"/>
              <a:headEnd/>
              <a:tailEnd/>
            </a:ln>
            <a:effectLst/>
          </p:spPr>
          <p:txBody>
            <a:bodyPr wrap="none">
              <a:spAutoFit/>
            </a:bodyPr>
            <a:lstStyle/>
            <a:p>
              <a:pPr algn="l" eaLnBrk="1" hangingPunct="1"/>
              <a:r>
                <a:rPr lang="sv-SE">
                  <a:latin typeface="Tahoma" pitchFamily="34" charset="0"/>
                </a:rPr>
                <a:t>S</a:t>
              </a:r>
              <a:r>
                <a:rPr lang="sv-SE" baseline="-25000">
                  <a:latin typeface="Tahoma" pitchFamily="34" charset="0"/>
                </a:rPr>
                <a:t>T</a:t>
              </a:r>
              <a:r>
                <a:rPr lang="sv-SE">
                  <a:latin typeface="Tahoma" pitchFamily="34" charset="0"/>
                </a:rPr>
                <a:t> </a:t>
              </a:r>
              <a:endParaRPr lang="en-US" altLang="zh-CN">
                <a:latin typeface="Tahoma" pitchFamily="34" charset="0"/>
              </a:endParaRPr>
            </a:p>
          </p:txBody>
        </p:sp>
      </p:grpSp>
      <p:sp>
        <p:nvSpPr>
          <p:cNvPr id="34" name="灯片编号占位符 33"/>
          <p:cNvSpPr>
            <a:spLocks noGrp="1"/>
          </p:cNvSpPr>
          <p:nvPr>
            <p:ph type="sldNum" sz="quarter" idx="11"/>
          </p:nvPr>
        </p:nvSpPr>
        <p:spPr/>
        <p:txBody>
          <a:bodyPr/>
          <a:lstStyle/>
          <a:p>
            <a:pPr>
              <a:defRPr/>
            </a:pPr>
            <a:fld id="{31E287EE-1289-4991-82CE-EFE584F53F4F}" type="slidenum">
              <a:rPr lang="en-US" altLang="zh-CN" smtClean="0"/>
              <a:pPr>
                <a:defRPr/>
              </a:pPr>
              <a:t>7</a:t>
            </a:fld>
            <a:endParaRPr lang="en-US" altLang="zh-CN" dirty="0"/>
          </a:p>
        </p:txBody>
      </p:sp>
      <p:sp>
        <p:nvSpPr>
          <p:cNvPr id="36" name="Rectangle 1026"/>
          <p:cNvSpPr txBox="1">
            <a:spLocks noChangeArrowheads="1"/>
          </p:cNvSpPr>
          <p:nvPr/>
        </p:nvSpPr>
        <p:spPr bwMode="black">
          <a:xfrm>
            <a:off x="228600" y="158733"/>
            <a:ext cx="8229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12.1 Bagging</a:t>
            </a:r>
          </a:p>
        </p:txBody>
      </p:sp>
      <p:sp>
        <p:nvSpPr>
          <p:cNvPr id="7" name="矩形 6"/>
          <p:cNvSpPr/>
          <p:nvPr/>
        </p:nvSpPr>
        <p:spPr>
          <a:xfrm>
            <a:off x="3129762" y="5501746"/>
            <a:ext cx="6678431" cy="369332"/>
          </a:xfrm>
          <a:prstGeom prst="rect">
            <a:avLst/>
          </a:prstGeom>
        </p:spPr>
        <p:txBody>
          <a:bodyPr wrap="none">
            <a:spAutoFit/>
          </a:bodyPr>
          <a:lstStyle/>
          <a:p>
            <a:r>
              <a:rPr lang="zh-CN" altLang="en-US" b="1" kern="0" dirty="0"/>
              <a:t>训练各子分类器模型</a:t>
            </a:r>
            <a:r>
              <a:rPr lang="en-US" altLang="zh-CN" b="1" kern="0" dirty="0"/>
              <a:t>C</a:t>
            </a:r>
            <a:r>
              <a:rPr lang="en-US" altLang="zh-CN" b="1" kern="0" baseline="-25000" dirty="0"/>
              <a:t>i</a:t>
            </a:r>
            <a:r>
              <a:rPr lang="en-US" altLang="zh-CN" b="1" kern="0" dirty="0"/>
              <a:t>(x)</a:t>
            </a:r>
            <a:r>
              <a:rPr lang="zh-CN" altLang="en-US" b="1" kern="0" dirty="0"/>
              <a:t>时，各样本子集采用“放回选样”的方式</a:t>
            </a:r>
            <a:endParaRPr lang="zh-CN" alt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3"/>
          <p:cNvSpPr>
            <a:spLocks noGrp="1" noChangeArrowheads="1"/>
          </p:cNvSpPr>
          <p:nvPr>
            <p:ph type="body" idx="1"/>
          </p:nvPr>
        </p:nvSpPr>
        <p:spPr>
          <a:xfrm>
            <a:off x="1631504" y="1268760"/>
            <a:ext cx="8928993" cy="4114800"/>
          </a:xfrm>
        </p:spPr>
        <p:txBody>
          <a:bodyPr/>
          <a:lstStyle/>
          <a:p>
            <a:pPr marL="609585" indent="-609585">
              <a:lnSpc>
                <a:spcPct val="90000"/>
              </a:lnSpc>
            </a:pPr>
            <a:r>
              <a:rPr lang="sv-SE" b="1" dirty="0"/>
              <a:t>Bagging</a:t>
            </a:r>
            <a:r>
              <a:rPr lang="zh-CN" altLang="sv-SE" b="1" dirty="0"/>
              <a:t>要求</a:t>
            </a:r>
            <a:r>
              <a:rPr lang="zh-CN" altLang="sv-SE" b="1" dirty="0">
                <a:latin typeface="Times New Roman"/>
              </a:rPr>
              <a:t>“</a:t>
            </a:r>
            <a:r>
              <a:rPr lang="zh-CN" altLang="sv-SE" b="1" dirty="0"/>
              <a:t>不稳定</a:t>
            </a:r>
            <a:r>
              <a:rPr lang="zh-CN" altLang="sv-SE" b="1" dirty="0">
                <a:latin typeface="Times New Roman"/>
              </a:rPr>
              <a:t>”</a:t>
            </a:r>
            <a:r>
              <a:rPr lang="zh-CN" altLang="sv-SE" b="1" dirty="0"/>
              <a:t>的分类方法；</a:t>
            </a:r>
            <a:endParaRPr lang="en-US" altLang="zh-CN" b="1" dirty="0"/>
          </a:p>
          <a:p>
            <a:pPr marL="0" indent="0">
              <a:lnSpc>
                <a:spcPct val="90000"/>
              </a:lnSpc>
              <a:buNone/>
            </a:pPr>
            <a:r>
              <a:rPr lang="en-US" altLang="zh-CN" b="1" dirty="0"/>
              <a:t>      </a:t>
            </a:r>
            <a:r>
              <a:rPr lang="zh-CN" altLang="sv-SE" b="1" dirty="0"/>
              <a:t>比如：决策树，神经网络算法</a:t>
            </a:r>
            <a:endParaRPr lang="en-US" altLang="zh-CN" b="1" dirty="0"/>
          </a:p>
          <a:p>
            <a:pPr marL="609585" indent="-609585">
              <a:lnSpc>
                <a:spcPct val="90000"/>
              </a:lnSpc>
            </a:pPr>
            <a:endParaRPr lang="sv-SE" b="1" dirty="0"/>
          </a:p>
          <a:p>
            <a:pPr marL="609585" indent="-609585">
              <a:lnSpc>
                <a:spcPct val="90000"/>
              </a:lnSpc>
            </a:pPr>
            <a:r>
              <a:rPr lang="zh-CN" altLang="en-US" b="1" dirty="0"/>
              <a:t>不稳定：数据集的小的变动能够使得分类结果显著的变动。</a:t>
            </a:r>
            <a:endParaRPr lang="en-US" altLang="zh-CN" b="1" dirty="0"/>
          </a:p>
          <a:p>
            <a:pPr marL="0" indent="0">
              <a:lnSpc>
                <a:spcPct val="90000"/>
              </a:lnSpc>
              <a:buNone/>
            </a:pPr>
            <a:r>
              <a:rPr lang="sv-SE" b="1" dirty="0"/>
              <a:t> </a:t>
            </a:r>
          </a:p>
          <a:p>
            <a:pPr marL="609585" indent="-609585">
              <a:lnSpc>
                <a:spcPct val="90000"/>
              </a:lnSpc>
            </a:pPr>
            <a:r>
              <a:rPr lang="zh-CN" altLang="sv-SE" b="1" dirty="0">
                <a:latin typeface="Times New Roman"/>
              </a:rPr>
              <a:t>“</a:t>
            </a:r>
            <a:r>
              <a:rPr lang="sv-SE" b="1" dirty="0"/>
              <a:t>The vital element is the instability of the prediction method. If perturbing the learning set can cause significant changes in the predictor constructed, then bagging can improve accuracy.</a:t>
            </a:r>
            <a:r>
              <a:rPr lang="sv-SE" b="1" dirty="0">
                <a:latin typeface="Times New Roman"/>
              </a:rPr>
              <a:t>”</a:t>
            </a:r>
            <a:r>
              <a:rPr lang="sv-SE" b="1" dirty="0"/>
              <a:t>  (Breiman 1996)</a:t>
            </a:r>
          </a:p>
          <a:p>
            <a:pPr marL="609585" indent="-609585">
              <a:lnSpc>
                <a:spcPct val="90000"/>
              </a:lnSpc>
            </a:pPr>
            <a:endParaRPr lang="en-US" altLang="zh-CN" b="1"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8</a:t>
            </a:fld>
            <a:endParaRPr lang="en-US" altLang="zh-CN" dirty="0"/>
          </a:p>
        </p:txBody>
      </p:sp>
      <p:sp>
        <p:nvSpPr>
          <p:cNvPr id="6" name="Rectangle 1026"/>
          <p:cNvSpPr>
            <a:spLocks noGrp="1" noChangeArrowheads="1"/>
          </p:cNvSpPr>
          <p:nvPr>
            <p:ph type="title"/>
          </p:nvPr>
        </p:nvSpPr>
        <p:spPr>
          <a:xfrm>
            <a:off x="335360" y="188640"/>
            <a:ext cx="6172200" cy="563563"/>
          </a:xfrm>
        </p:spPr>
        <p:txBody>
          <a:bodyPr/>
          <a:lstStyle/>
          <a:p>
            <a:r>
              <a:rPr lang="en-US" altLang="zh-CN" dirty="0"/>
              <a:t>12.1 Bagging</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a:xfrm>
            <a:off x="407368" y="130289"/>
            <a:ext cx="8229600" cy="563563"/>
          </a:xfrm>
        </p:spPr>
        <p:txBody>
          <a:bodyPr/>
          <a:lstStyle/>
          <a:p>
            <a:r>
              <a:rPr lang="en-US" altLang="zh-CN" dirty="0"/>
              <a:t>12.2 Boosting</a:t>
            </a:r>
            <a:endParaRPr lang="zh-CN" altLang="en-US" dirty="0"/>
          </a:p>
        </p:txBody>
      </p:sp>
      <p:sp>
        <p:nvSpPr>
          <p:cNvPr id="146435" name="Rectangle 3"/>
          <p:cNvSpPr>
            <a:spLocks noGrp="1" noChangeArrowheads="1"/>
          </p:cNvSpPr>
          <p:nvPr>
            <p:ph type="body" idx="1"/>
          </p:nvPr>
        </p:nvSpPr>
        <p:spPr>
          <a:xfrm>
            <a:off x="407368" y="1049376"/>
            <a:ext cx="8784976" cy="4114800"/>
          </a:xfrm>
        </p:spPr>
        <p:txBody>
          <a:bodyPr/>
          <a:lstStyle/>
          <a:p>
            <a:r>
              <a:rPr lang="zh-CN" altLang="en-US" sz="3200" b="1" dirty="0">
                <a:solidFill>
                  <a:srgbClr val="FF0000"/>
                </a:solidFill>
              </a:rPr>
              <a:t>背景</a:t>
            </a:r>
            <a:endParaRPr lang="en-US" altLang="zh-CN" sz="3200" b="1" dirty="0">
              <a:solidFill>
                <a:srgbClr val="FF0000"/>
              </a:solidFill>
            </a:endParaRPr>
          </a:p>
          <a:p>
            <a:pPr>
              <a:buNone/>
            </a:pPr>
            <a:r>
              <a:rPr lang="zh-CN" altLang="en-US" sz="2400" b="1" dirty="0"/>
              <a:t>来源于</a:t>
            </a:r>
            <a:r>
              <a:rPr lang="en-US" altLang="zh-CN" sz="2400" b="1" dirty="0"/>
              <a:t>: PAC-Learning Model,    Kearns &amp; Valiant  1984 -11</a:t>
            </a:r>
          </a:p>
          <a:p>
            <a:pPr>
              <a:buNone/>
            </a:pPr>
            <a:r>
              <a:rPr lang="zh-CN" altLang="en-US" sz="2400" b="1" dirty="0"/>
              <a:t>提出问题</a:t>
            </a:r>
            <a:r>
              <a:rPr lang="en-US" altLang="zh-CN" sz="2400" b="1" dirty="0"/>
              <a:t>:</a:t>
            </a:r>
          </a:p>
          <a:p>
            <a:pPr lvl="1"/>
            <a:r>
              <a:rPr lang="zh-CN" altLang="en-US" sz="2400" b="1" dirty="0"/>
              <a:t>强学习算法</a:t>
            </a:r>
            <a:r>
              <a:rPr lang="en-US" altLang="zh-CN" sz="2400" b="1" dirty="0"/>
              <a:t>: </a:t>
            </a:r>
            <a:r>
              <a:rPr lang="zh-CN" altLang="en-US" sz="2400" b="1" dirty="0"/>
              <a:t>正确率很高的学习算法</a:t>
            </a:r>
          </a:p>
          <a:p>
            <a:pPr lvl="1"/>
            <a:r>
              <a:rPr lang="zh-CN" altLang="en-US" sz="2400" b="1" dirty="0"/>
              <a:t>弱学习算法</a:t>
            </a:r>
            <a:r>
              <a:rPr lang="en-US" altLang="zh-CN" sz="2400" b="1" dirty="0"/>
              <a:t>: </a:t>
            </a:r>
            <a:r>
              <a:rPr lang="zh-CN" altLang="en-US" sz="2400" b="1" dirty="0"/>
              <a:t>正确率不高，仅比随机猜测略好（</a:t>
            </a:r>
            <a:r>
              <a:rPr lang="en-US" altLang="zh-CN" sz="2400" b="1" dirty="0"/>
              <a:t>&gt;0.5</a:t>
            </a:r>
            <a:r>
              <a:rPr lang="zh-CN" altLang="en-US" sz="2400" b="1" dirty="0"/>
              <a:t>）</a:t>
            </a:r>
          </a:p>
          <a:p>
            <a:pPr lvl="1"/>
            <a:r>
              <a:rPr lang="zh-CN" altLang="en-US" sz="2400" b="1" dirty="0"/>
              <a:t>是否可以将弱学习算法提升为强学习算法</a:t>
            </a:r>
          </a:p>
          <a:p>
            <a:pPr>
              <a:buFont typeface="Wingdings" pitchFamily="2" charset="2"/>
              <a:buNone/>
            </a:pPr>
            <a:endParaRPr lang="en-US" altLang="zh-CN" sz="2400" b="1" dirty="0"/>
          </a:p>
        </p:txBody>
      </p:sp>
      <p:sp>
        <p:nvSpPr>
          <p:cNvPr id="4" name="Rectangle 3"/>
          <p:cNvSpPr txBox="1">
            <a:spLocks noChangeArrowheads="1"/>
          </p:cNvSpPr>
          <p:nvPr/>
        </p:nvSpPr>
        <p:spPr bwMode="gray">
          <a:xfrm>
            <a:off x="321659" y="3919986"/>
            <a:ext cx="8315309" cy="40963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891" indent="-342891" eaLnBrk="0" hangingPunct="0">
              <a:spcBef>
                <a:spcPct val="20000"/>
              </a:spcBef>
              <a:buClr>
                <a:schemeClr val="tx2"/>
              </a:buClr>
              <a:defRPr/>
            </a:pPr>
            <a:r>
              <a:rPr lang="zh-CN" altLang="en-US" sz="2000" i="1" kern="0" dirty="0">
                <a:solidFill>
                  <a:srgbClr val="0000FF"/>
                </a:solidFill>
                <a:latin typeface="+mn-lt"/>
              </a:rPr>
              <a:t>最初的</a:t>
            </a:r>
            <a:r>
              <a:rPr lang="en-US" altLang="zh-CN" sz="2000" i="1" kern="0" dirty="0">
                <a:solidFill>
                  <a:srgbClr val="0000FF"/>
                </a:solidFill>
                <a:latin typeface="+mn-lt"/>
              </a:rPr>
              <a:t>boosting</a:t>
            </a:r>
            <a:r>
              <a:rPr lang="zh-CN" altLang="en-US" sz="2000" i="1" kern="0" dirty="0">
                <a:solidFill>
                  <a:srgbClr val="0000FF"/>
                </a:solidFill>
                <a:latin typeface="+mn-lt"/>
              </a:rPr>
              <a:t>算法，   </a:t>
            </a:r>
            <a:r>
              <a:rPr lang="en-US" altLang="zh-CN" sz="2000" i="1" kern="0" dirty="0" err="1">
                <a:solidFill>
                  <a:srgbClr val="0000FF"/>
                </a:solidFill>
                <a:latin typeface="+mn-lt"/>
              </a:rPr>
              <a:t>Schapire</a:t>
            </a:r>
            <a:r>
              <a:rPr lang="en-US" altLang="zh-CN" sz="2000" i="1" kern="0" dirty="0">
                <a:solidFill>
                  <a:srgbClr val="0000FF"/>
                </a:solidFill>
                <a:latin typeface="+mn-lt"/>
              </a:rPr>
              <a:t> 1989</a:t>
            </a:r>
          </a:p>
          <a:p>
            <a:pPr marL="342891" indent="-342891" eaLnBrk="0" hangingPunct="0">
              <a:spcBef>
                <a:spcPct val="20000"/>
              </a:spcBef>
              <a:buClr>
                <a:schemeClr val="tx2"/>
              </a:buClr>
              <a:defRPr/>
            </a:pPr>
            <a:r>
              <a:rPr lang="en-US" altLang="zh-CN" sz="2000" i="1" kern="0" dirty="0" err="1">
                <a:solidFill>
                  <a:srgbClr val="0000FF"/>
                </a:solidFill>
              </a:rPr>
              <a:t>AdaBoost</a:t>
            </a:r>
            <a:r>
              <a:rPr lang="zh-CN" altLang="en-US" sz="2000" i="1" kern="0" dirty="0">
                <a:solidFill>
                  <a:srgbClr val="0000FF"/>
                </a:solidFill>
              </a:rPr>
              <a:t>算法，   </a:t>
            </a:r>
            <a:r>
              <a:rPr lang="en-US" altLang="zh-CN" sz="2000" i="1" kern="0" dirty="0">
                <a:solidFill>
                  <a:srgbClr val="0000FF"/>
                </a:solidFill>
              </a:rPr>
              <a:t>Freund and </a:t>
            </a:r>
            <a:r>
              <a:rPr lang="en-US" altLang="zh-CN" sz="2000" i="1" kern="0" dirty="0" err="1">
                <a:solidFill>
                  <a:srgbClr val="0000FF"/>
                </a:solidFill>
              </a:rPr>
              <a:t>Schapire</a:t>
            </a:r>
            <a:r>
              <a:rPr lang="en-US" altLang="zh-CN" sz="2000" i="1" kern="0" dirty="0">
                <a:solidFill>
                  <a:srgbClr val="0000FF"/>
                </a:solidFill>
              </a:rPr>
              <a:t> 1995</a:t>
            </a:r>
          </a:p>
          <a:p>
            <a:pPr marL="342891" indent="-342891" eaLnBrk="0" hangingPunct="0">
              <a:spcBef>
                <a:spcPct val="20000"/>
              </a:spcBef>
              <a:buClr>
                <a:schemeClr val="tx2"/>
              </a:buClr>
              <a:defRPr/>
            </a:pPr>
            <a:endParaRPr lang="en-US" altLang="zh-CN" sz="2000" i="1" kern="0" dirty="0">
              <a:solidFill>
                <a:srgbClr val="0000FF"/>
              </a:solidFill>
              <a:latin typeface="+mn-lt"/>
            </a:endParaRPr>
          </a:p>
        </p:txBody>
      </p:sp>
      <p:sp>
        <p:nvSpPr>
          <p:cNvPr id="5" name="Rectangle 3"/>
          <p:cNvSpPr txBox="1">
            <a:spLocks noChangeArrowheads="1"/>
          </p:cNvSpPr>
          <p:nvPr/>
        </p:nvSpPr>
        <p:spPr bwMode="gray">
          <a:xfrm>
            <a:off x="407368" y="4826014"/>
            <a:ext cx="11011982" cy="1615012"/>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bodyPr>
          <a:lstStyle/>
          <a:p>
            <a:pPr marL="342891" indent="-342891" eaLnBrk="0" hangingPunct="0">
              <a:spcBef>
                <a:spcPct val="20000"/>
              </a:spcBef>
              <a:buClr>
                <a:schemeClr val="tx2"/>
              </a:buClr>
              <a:buFont typeface="Wingdings" pitchFamily="2" charset="2"/>
              <a:buChar char="v"/>
              <a:defRPr/>
            </a:pPr>
            <a:r>
              <a:rPr lang="zh-CN" altLang="en-US" sz="2000" b="1" kern="0" dirty="0">
                <a:solidFill>
                  <a:srgbClr val="0000FF"/>
                </a:solidFill>
                <a:latin typeface="+mn-lt"/>
              </a:rPr>
              <a:t>基本思想</a:t>
            </a:r>
            <a:r>
              <a:rPr lang="zh-CN" altLang="en-US" sz="2000" b="1" kern="0" dirty="0">
                <a:latin typeface="+mn-lt"/>
              </a:rPr>
              <a:t>：</a:t>
            </a:r>
          </a:p>
          <a:p>
            <a:pPr marL="742932" lvl="1" indent="-285744" eaLnBrk="0" hangingPunct="0">
              <a:spcBef>
                <a:spcPct val="20000"/>
              </a:spcBef>
              <a:buClr>
                <a:schemeClr val="accent1"/>
              </a:buClr>
              <a:buFont typeface="Wingdings" pitchFamily="2" charset="2"/>
              <a:buChar char="§"/>
              <a:defRPr/>
            </a:pPr>
            <a:r>
              <a:rPr lang="zh-CN" altLang="en-US" sz="2000" b="1" kern="0" dirty="0">
                <a:latin typeface="+mn-lt"/>
              </a:rPr>
              <a:t>每个样本都赋予一个权重</a:t>
            </a:r>
          </a:p>
          <a:p>
            <a:pPr marL="742932" lvl="1" indent="-285744" eaLnBrk="0" hangingPunct="0">
              <a:spcBef>
                <a:spcPct val="20000"/>
              </a:spcBef>
              <a:buClr>
                <a:schemeClr val="accent1"/>
              </a:buClr>
              <a:buFont typeface="Wingdings" pitchFamily="2" charset="2"/>
              <a:buChar char="§"/>
              <a:defRPr/>
            </a:pPr>
            <a:r>
              <a:rPr lang="en-US" altLang="zh-CN" sz="2000" b="1" kern="0" dirty="0">
                <a:latin typeface="+mn-lt"/>
              </a:rPr>
              <a:t>T</a:t>
            </a:r>
            <a:r>
              <a:rPr lang="zh-CN" altLang="en-US" sz="2000" b="1" kern="0" dirty="0">
                <a:latin typeface="+mn-lt"/>
              </a:rPr>
              <a:t>次迭代，每次迭代后，对分类错误的样本加大权重，使得下一次的迭代更加关注这些样本</a:t>
            </a:r>
            <a:endParaRPr lang="en-US" altLang="zh-CN" sz="2000" b="1" kern="0" dirty="0">
              <a:latin typeface="+mn-lt"/>
            </a:endParaRPr>
          </a:p>
          <a:p>
            <a:pPr marL="342891" indent="-342891" eaLnBrk="0" hangingPunct="0">
              <a:spcBef>
                <a:spcPct val="20000"/>
              </a:spcBef>
              <a:buClr>
                <a:schemeClr val="tx2"/>
              </a:buClr>
              <a:defRPr/>
            </a:pPr>
            <a:r>
              <a:rPr lang="en-US" altLang="zh-CN" sz="2000" b="1" kern="0" dirty="0">
                <a:latin typeface="+mn-lt"/>
              </a:rPr>
              <a:t>Boosting</a:t>
            </a:r>
            <a:r>
              <a:rPr lang="zh-CN" altLang="en-US" sz="2000" b="1" kern="0" dirty="0">
                <a:latin typeface="+mn-lt"/>
              </a:rPr>
              <a:t>也要求“不稳定”的分类方法</a:t>
            </a:r>
            <a:endParaRPr lang="en-US" altLang="zh-CN" sz="2000" b="1" kern="0" dirty="0">
              <a:latin typeface="+mn-lt"/>
            </a:endParaRPr>
          </a:p>
        </p:txBody>
      </p:sp>
      <p:sp>
        <p:nvSpPr>
          <p:cNvPr id="6" name="灯片编号占位符 5"/>
          <p:cNvSpPr>
            <a:spLocks noGrp="1"/>
          </p:cNvSpPr>
          <p:nvPr>
            <p:ph type="sldNum" sz="quarter" idx="11"/>
          </p:nvPr>
        </p:nvSpPr>
        <p:spPr/>
        <p:txBody>
          <a:bodyPr/>
          <a:lstStyle/>
          <a:p>
            <a:pPr>
              <a:defRPr/>
            </a:pPr>
            <a:fld id="{31E287EE-1289-4991-82CE-EFE584F53F4F}" type="slidenum">
              <a:rPr lang="en-US" altLang="zh-CN" smtClean="0"/>
              <a:pPr>
                <a:defRPr/>
              </a:pPr>
              <a:t>9</a:t>
            </a:fld>
            <a:endParaRPr lang="en-US" altLang="zh-CN" dirty="0"/>
          </a:p>
        </p:txBody>
      </p:sp>
      <p:sp>
        <p:nvSpPr>
          <p:cNvPr id="2" name="圆角矩形标注 1"/>
          <p:cNvSpPr/>
          <p:nvPr/>
        </p:nvSpPr>
        <p:spPr>
          <a:xfrm>
            <a:off x="2324976" y="1089102"/>
            <a:ext cx="6984776" cy="510778"/>
          </a:xfrm>
          <a:prstGeom prst="wedgeRoundRectCallout">
            <a:avLst>
              <a:gd name="adj1" fmla="val -52530"/>
              <a:gd name="adj2" fmla="val 50072"/>
              <a:gd name="adj3" fmla="val 16667"/>
            </a:avLst>
          </a:prstGeom>
          <a:ln>
            <a:solidFill>
              <a:srgbClr val="92D050"/>
            </a:solidFill>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altLang="zh-CN" sz="2400" kern="100" dirty="0">
                <a:ea typeface="宋体"/>
                <a:cs typeface="Times New Roman"/>
              </a:rPr>
              <a:t>probably approximately correct</a:t>
            </a:r>
            <a:r>
              <a:rPr lang="zh-CN" altLang="en-US" sz="2400" kern="100" dirty="0">
                <a:ea typeface="宋体"/>
                <a:cs typeface="Times New Roman"/>
              </a:rPr>
              <a:t>，概率近似正确</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026"/>
          <p:cNvSpPr>
            <a:spLocks noGrp="1" noChangeArrowheads="1"/>
          </p:cNvSpPr>
          <p:nvPr>
            <p:ph type="title"/>
          </p:nvPr>
        </p:nvSpPr>
        <p:spPr/>
        <p:txBody>
          <a:bodyPr/>
          <a:lstStyle/>
          <a:p>
            <a:r>
              <a:rPr lang="en-US" altLang="zh-CN" dirty="0"/>
              <a:t>12.2 Boosting</a:t>
            </a:r>
            <a:endParaRPr lang="sv-SE" dirty="0"/>
          </a:p>
        </p:txBody>
      </p:sp>
      <p:sp>
        <p:nvSpPr>
          <p:cNvPr id="122883" name="Rectangle 1027"/>
          <p:cNvSpPr>
            <a:spLocks noGrp="1" noChangeArrowheads="1"/>
          </p:cNvSpPr>
          <p:nvPr>
            <p:ph type="body" idx="1"/>
          </p:nvPr>
        </p:nvSpPr>
        <p:spPr>
          <a:xfrm>
            <a:off x="2063552" y="1204912"/>
            <a:ext cx="7429552" cy="1981200"/>
          </a:xfrm>
        </p:spPr>
        <p:txBody>
          <a:bodyPr/>
          <a:lstStyle/>
          <a:p>
            <a:pPr>
              <a:lnSpc>
                <a:spcPct val="90000"/>
              </a:lnSpc>
            </a:pPr>
            <a:r>
              <a:rPr lang="zh-CN" altLang="en-US" b="1" dirty="0"/>
              <a:t>过程</a:t>
            </a:r>
            <a:r>
              <a:rPr lang="en-US" altLang="zh-CN" b="1" dirty="0"/>
              <a:t>:</a:t>
            </a:r>
          </a:p>
          <a:p>
            <a:pPr lvl="1">
              <a:lnSpc>
                <a:spcPct val="90000"/>
              </a:lnSpc>
            </a:pPr>
            <a:r>
              <a:rPr lang="zh-CN" altLang="en-US" sz="2400" b="1" dirty="0"/>
              <a:t>在一定的权重条件下训练数据，得出分类法</a:t>
            </a:r>
            <a:r>
              <a:rPr lang="en-US" altLang="zh-CN" sz="2400" b="1" dirty="0"/>
              <a:t>C</a:t>
            </a:r>
            <a:r>
              <a:rPr lang="en-US" altLang="zh-CN" sz="2400" b="1" baseline="30000" dirty="0"/>
              <a:t>t</a:t>
            </a:r>
          </a:p>
          <a:p>
            <a:pPr lvl="1">
              <a:lnSpc>
                <a:spcPct val="90000"/>
              </a:lnSpc>
            </a:pPr>
            <a:r>
              <a:rPr lang="zh-CN" altLang="en-US" sz="2400" b="1" dirty="0"/>
              <a:t>根据</a:t>
            </a:r>
            <a:r>
              <a:rPr lang="en-US" altLang="zh-CN" sz="2400" b="1" dirty="0"/>
              <a:t>C</a:t>
            </a:r>
            <a:r>
              <a:rPr lang="en-US" altLang="zh-CN" sz="2400" b="1" baseline="30000" dirty="0"/>
              <a:t>t</a:t>
            </a:r>
            <a:r>
              <a:rPr lang="zh-CN" altLang="en-US" sz="2400" b="1" dirty="0"/>
              <a:t>的错误率调整权重</a:t>
            </a:r>
          </a:p>
        </p:txBody>
      </p:sp>
      <p:sp>
        <p:nvSpPr>
          <p:cNvPr id="122884" name="Rectangle 1028"/>
          <p:cNvSpPr>
            <a:spLocks noChangeArrowheads="1"/>
          </p:cNvSpPr>
          <p:nvPr/>
        </p:nvSpPr>
        <p:spPr bwMode="auto">
          <a:xfrm>
            <a:off x="2286000" y="2805107"/>
            <a:ext cx="2438400" cy="1676400"/>
          </a:xfrm>
          <a:prstGeom prst="rect">
            <a:avLst/>
          </a:prstGeom>
          <a:solidFill>
            <a:schemeClr val="accent2"/>
          </a:solidFill>
          <a:ln w="9525">
            <a:solidFill>
              <a:schemeClr val="tx1"/>
            </a:solidFill>
            <a:miter lim="800000"/>
            <a:headEnd/>
            <a:tailEnd/>
          </a:ln>
          <a:effectLst/>
        </p:spPr>
        <p:txBody>
          <a:bodyPr wrap="none" anchor="ctr"/>
          <a:lstStyle/>
          <a:p>
            <a:pPr eaLnBrk="1" hangingPunct="1"/>
            <a:r>
              <a:rPr lang="en-US" altLang="zh-CN" sz="3200" dirty="0">
                <a:latin typeface="Tahoma" pitchFamily="34" charset="0"/>
              </a:rPr>
              <a:t>Set of </a:t>
            </a:r>
          </a:p>
          <a:p>
            <a:pPr eaLnBrk="1" hangingPunct="1"/>
            <a:r>
              <a:rPr lang="en-US" altLang="zh-CN" sz="3200" dirty="0">
                <a:latin typeface="Tahoma" pitchFamily="34" charset="0"/>
              </a:rPr>
              <a:t>weighted</a:t>
            </a:r>
          </a:p>
          <a:p>
            <a:pPr eaLnBrk="1" hangingPunct="1"/>
            <a:r>
              <a:rPr lang="en-US" altLang="zh-CN" sz="3200" dirty="0">
                <a:latin typeface="Tahoma" pitchFamily="34" charset="0"/>
              </a:rPr>
              <a:t>instances </a:t>
            </a:r>
          </a:p>
        </p:txBody>
      </p:sp>
      <p:sp>
        <p:nvSpPr>
          <p:cNvPr id="122885" name="Rectangle 1029"/>
          <p:cNvSpPr>
            <a:spLocks noChangeArrowheads="1"/>
          </p:cNvSpPr>
          <p:nvPr/>
        </p:nvSpPr>
        <p:spPr bwMode="auto">
          <a:xfrm>
            <a:off x="7239000" y="2805107"/>
            <a:ext cx="2590800" cy="1676400"/>
          </a:xfrm>
          <a:prstGeom prst="rect">
            <a:avLst/>
          </a:prstGeom>
          <a:solidFill>
            <a:schemeClr val="accent2"/>
          </a:solidFill>
          <a:ln w="9525">
            <a:solidFill>
              <a:schemeClr val="tx1"/>
            </a:solidFill>
            <a:miter lim="800000"/>
            <a:headEnd/>
            <a:tailEnd/>
          </a:ln>
          <a:effectLst/>
        </p:spPr>
        <p:txBody>
          <a:bodyPr wrap="none" anchor="ctr"/>
          <a:lstStyle/>
          <a:p>
            <a:pPr eaLnBrk="1" hangingPunct="1"/>
            <a:r>
              <a:rPr lang="en-US" altLang="zh-CN" sz="3200" dirty="0">
                <a:latin typeface="Tahoma" pitchFamily="34" charset="0"/>
              </a:rPr>
              <a:t>Classifier C</a:t>
            </a:r>
            <a:r>
              <a:rPr lang="en-US" altLang="zh-CN" sz="3200" baseline="30000" dirty="0">
                <a:latin typeface="Tahoma" pitchFamily="34" charset="0"/>
              </a:rPr>
              <a:t>t</a:t>
            </a:r>
            <a:r>
              <a:rPr lang="en-US" altLang="zh-CN" sz="3200" dirty="0">
                <a:latin typeface="Tahoma" pitchFamily="34" charset="0"/>
              </a:rPr>
              <a:t> </a:t>
            </a:r>
          </a:p>
        </p:txBody>
      </p:sp>
      <p:sp>
        <p:nvSpPr>
          <p:cNvPr id="122886" name="Line 1030"/>
          <p:cNvSpPr>
            <a:spLocks noChangeShapeType="1"/>
          </p:cNvSpPr>
          <p:nvPr/>
        </p:nvSpPr>
        <p:spPr bwMode="auto">
          <a:xfrm>
            <a:off x="4724400" y="3109907"/>
            <a:ext cx="2514600" cy="0"/>
          </a:xfrm>
          <a:prstGeom prst="line">
            <a:avLst/>
          </a:prstGeom>
          <a:noFill/>
          <a:ln w="57150">
            <a:solidFill>
              <a:schemeClr val="tx1"/>
            </a:solidFill>
            <a:miter lim="800000"/>
            <a:headEnd/>
            <a:tailEnd type="triangle" w="med" len="med"/>
          </a:ln>
          <a:effectLst/>
        </p:spPr>
        <p:txBody>
          <a:bodyPr wrap="none"/>
          <a:lstStyle/>
          <a:p>
            <a:endParaRPr lang="zh-CN" altLang="en-US"/>
          </a:p>
        </p:txBody>
      </p:sp>
      <p:sp>
        <p:nvSpPr>
          <p:cNvPr id="122887" name="Text Box 1031"/>
          <p:cNvSpPr txBox="1">
            <a:spLocks noChangeArrowheads="1"/>
          </p:cNvSpPr>
          <p:nvPr/>
        </p:nvSpPr>
        <p:spPr bwMode="auto">
          <a:xfrm>
            <a:off x="4800601" y="2500307"/>
            <a:ext cx="2365712" cy="523220"/>
          </a:xfrm>
          <a:prstGeom prst="rect">
            <a:avLst/>
          </a:prstGeom>
          <a:noFill/>
          <a:ln w="9525">
            <a:noFill/>
            <a:miter lim="800000"/>
            <a:headEnd/>
            <a:tailEnd/>
          </a:ln>
          <a:effectLst/>
        </p:spPr>
        <p:txBody>
          <a:bodyPr wrap="none">
            <a:spAutoFit/>
          </a:bodyPr>
          <a:lstStyle/>
          <a:p>
            <a:pPr algn="l" eaLnBrk="1" hangingPunct="1"/>
            <a:r>
              <a:rPr lang="en-US" altLang="zh-CN" sz="2800" dirty="0">
                <a:latin typeface="Tahoma" pitchFamily="34" charset="0"/>
              </a:rPr>
              <a:t>train classifier</a:t>
            </a:r>
          </a:p>
        </p:txBody>
      </p:sp>
      <p:sp>
        <p:nvSpPr>
          <p:cNvPr id="122888" name="Line 1032"/>
          <p:cNvSpPr>
            <a:spLocks noChangeShapeType="1"/>
          </p:cNvSpPr>
          <p:nvPr/>
        </p:nvSpPr>
        <p:spPr bwMode="auto">
          <a:xfrm>
            <a:off x="4724400" y="4100507"/>
            <a:ext cx="2438400" cy="0"/>
          </a:xfrm>
          <a:prstGeom prst="line">
            <a:avLst/>
          </a:prstGeom>
          <a:noFill/>
          <a:ln w="57150">
            <a:solidFill>
              <a:schemeClr val="tx1"/>
            </a:solidFill>
            <a:miter lim="800000"/>
            <a:headEnd type="triangle" w="med" len="med"/>
            <a:tailEnd/>
          </a:ln>
          <a:effectLst/>
        </p:spPr>
        <p:txBody>
          <a:bodyPr wrap="none"/>
          <a:lstStyle/>
          <a:p>
            <a:endParaRPr lang="zh-CN" altLang="en-US"/>
          </a:p>
        </p:txBody>
      </p:sp>
      <p:sp>
        <p:nvSpPr>
          <p:cNvPr id="122889" name="Text Box 1033"/>
          <p:cNvSpPr txBox="1">
            <a:spLocks noChangeArrowheads="1"/>
          </p:cNvSpPr>
          <p:nvPr/>
        </p:nvSpPr>
        <p:spPr bwMode="auto">
          <a:xfrm>
            <a:off x="4724400" y="3490911"/>
            <a:ext cx="3048000" cy="954107"/>
          </a:xfrm>
          <a:prstGeom prst="rect">
            <a:avLst/>
          </a:prstGeom>
          <a:noFill/>
          <a:ln w="9525">
            <a:noFill/>
            <a:miter lim="800000"/>
            <a:headEnd/>
            <a:tailEnd/>
          </a:ln>
          <a:effectLst/>
        </p:spPr>
        <p:txBody>
          <a:bodyPr>
            <a:spAutoFit/>
          </a:bodyPr>
          <a:lstStyle/>
          <a:p>
            <a:pPr algn="l" eaLnBrk="1" hangingPunct="1"/>
            <a:r>
              <a:rPr lang="en-US" altLang="zh-CN" sz="2800" dirty="0">
                <a:latin typeface="Tahoma" pitchFamily="34" charset="0"/>
              </a:rPr>
              <a:t> adjust weights</a:t>
            </a:r>
          </a:p>
          <a:p>
            <a:pPr algn="l" eaLnBrk="1" hangingPunct="1"/>
            <a:endParaRPr lang="en-US" altLang="zh-CN" sz="2800" dirty="0">
              <a:latin typeface="Tahoma" pitchFamily="34" charset="0"/>
            </a:endParaRPr>
          </a:p>
        </p:txBody>
      </p:sp>
      <p:sp>
        <p:nvSpPr>
          <p:cNvPr id="10" name="Rectangle 3"/>
          <p:cNvSpPr txBox="1">
            <a:spLocks noChangeArrowheads="1"/>
          </p:cNvSpPr>
          <p:nvPr/>
        </p:nvSpPr>
        <p:spPr bwMode="gray">
          <a:xfrm>
            <a:off x="2166917" y="4714884"/>
            <a:ext cx="5446713" cy="30876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891" indent="-342891" eaLnBrk="0" hangingPunct="0">
              <a:spcBef>
                <a:spcPct val="20000"/>
              </a:spcBef>
              <a:buClr>
                <a:schemeClr val="tx2"/>
              </a:buClr>
              <a:buFont typeface="Wingdings" pitchFamily="2" charset="2"/>
              <a:buChar char="v"/>
              <a:defRPr/>
            </a:pPr>
            <a:r>
              <a:rPr lang="en-US" altLang="zh-CN" sz="2800" kern="0" dirty="0" err="1">
                <a:latin typeface="+mn-lt"/>
              </a:rPr>
              <a:t>AdaBoost</a:t>
            </a:r>
            <a:endParaRPr lang="en-US" altLang="zh-CN" sz="2800" kern="0" dirty="0">
              <a:latin typeface="+mn-lt"/>
            </a:endParaRPr>
          </a:p>
          <a:p>
            <a:pPr marL="342891" indent="-342891" eaLnBrk="0" hangingPunct="0">
              <a:spcBef>
                <a:spcPct val="20000"/>
              </a:spcBef>
              <a:buClr>
                <a:schemeClr val="tx2"/>
              </a:buClr>
              <a:buFont typeface="Wingdings" pitchFamily="2" charset="2"/>
              <a:buChar char="v"/>
              <a:defRPr/>
            </a:pPr>
            <a:r>
              <a:rPr lang="en-US" altLang="zh-CN" sz="2800" kern="0" dirty="0">
                <a:latin typeface="+mn-lt"/>
              </a:rPr>
              <a:t>AdaBoost.M1</a:t>
            </a:r>
          </a:p>
          <a:p>
            <a:pPr marL="342891" indent="-342891" eaLnBrk="0" hangingPunct="0">
              <a:spcBef>
                <a:spcPct val="20000"/>
              </a:spcBef>
              <a:buClr>
                <a:schemeClr val="tx2"/>
              </a:buClr>
              <a:buFont typeface="Wingdings" pitchFamily="2" charset="2"/>
              <a:buChar char="v"/>
              <a:defRPr/>
            </a:pPr>
            <a:r>
              <a:rPr lang="en-US" altLang="zh-CN" sz="2800" kern="0" dirty="0">
                <a:latin typeface="+mn-lt"/>
              </a:rPr>
              <a:t>AdaBoost.M2</a:t>
            </a:r>
            <a:r>
              <a:rPr lang="en-US" altLang="zh-CN" sz="2800" kern="0" dirty="0">
                <a:latin typeface="Times New Roman"/>
              </a:rPr>
              <a:t>…</a:t>
            </a:r>
            <a:endParaRPr lang="en-US" altLang="zh-CN" sz="2800" kern="0" dirty="0">
              <a:latin typeface="+mn-lt"/>
            </a:endParaRPr>
          </a:p>
          <a:p>
            <a:pPr marL="342891" indent="-342891" eaLnBrk="0" hangingPunct="0">
              <a:spcBef>
                <a:spcPct val="20000"/>
              </a:spcBef>
              <a:buClr>
                <a:schemeClr val="tx2"/>
              </a:buClr>
              <a:buFont typeface="Wingdings" pitchFamily="2" charset="2"/>
              <a:buChar char="v"/>
              <a:defRPr/>
            </a:pPr>
            <a:endParaRPr lang="en-US" altLang="zh-CN" sz="2800" b="1" kern="0" dirty="0">
              <a:latin typeface="+mn-lt"/>
            </a:endParaRPr>
          </a:p>
        </p:txBody>
      </p:sp>
      <p:sp>
        <p:nvSpPr>
          <p:cNvPr id="11" name="灯片编号占位符 10"/>
          <p:cNvSpPr>
            <a:spLocks noGrp="1"/>
          </p:cNvSpPr>
          <p:nvPr>
            <p:ph type="sldNum" sz="quarter" idx="11"/>
          </p:nvPr>
        </p:nvSpPr>
        <p:spPr/>
        <p:txBody>
          <a:bodyPr/>
          <a:lstStyle/>
          <a:p>
            <a:pPr>
              <a:defRPr/>
            </a:pPr>
            <a:fld id="{31E287EE-1289-4991-82CE-EFE584F53F4F}" type="slidenum">
              <a:rPr lang="en-US" altLang="zh-CN" smtClean="0"/>
              <a:pPr>
                <a:defRPr/>
              </a:pPr>
              <a:t>10</a:t>
            </a:fld>
            <a:endParaRPr lang="en-US" altLang="zh-CN"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4"/>
          <p:cNvSpPr txBox="1">
            <a:spLocks noChangeArrowheads="1"/>
          </p:cNvSpPr>
          <p:nvPr/>
        </p:nvSpPr>
        <p:spPr bwMode="auto">
          <a:xfrm>
            <a:off x="1127448" y="994856"/>
            <a:ext cx="8877672" cy="5863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atinLnBrk="1">
              <a:spcBef>
                <a:spcPts val="0"/>
              </a:spcBef>
              <a:defRPr/>
            </a:pPr>
            <a:r>
              <a:rPr lang="zh-CN" altLang="en-US" sz="2400" dirty="0">
                <a:solidFill>
                  <a:srgbClr val="0000FF"/>
                </a:solidFill>
                <a:ea typeface="굴림" pitchFamily="34" charset="-127"/>
              </a:rPr>
              <a:t>一</a:t>
            </a:r>
            <a:r>
              <a:rPr lang="en-US" altLang="zh-CN" sz="2400" dirty="0">
                <a:solidFill>
                  <a:srgbClr val="0000FF"/>
                </a:solidFill>
                <a:ea typeface="굴림" pitchFamily="34" charset="-127"/>
              </a:rPr>
              <a:t>. </a:t>
            </a:r>
            <a:r>
              <a:rPr lang="zh-CN" altLang="en-US" sz="2400" b="1" dirty="0">
                <a:solidFill>
                  <a:srgbClr val="0000FF"/>
                </a:solidFill>
                <a:latin typeface="+mn-ea"/>
              </a:rPr>
              <a:t>样本</a:t>
            </a:r>
            <a:endParaRPr lang="en-US" altLang="zh-CN" sz="2400" b="1" dirty="0">
              <a:solidFill>
                <a:srgbClr val="0000FF"/>
              </a:solidFill>
              <a:latin typeface="+mn-ea"/>
            </a:endParaRPr>
          </a:p>
          <a:p>
            <a:pPr latinLnBrk="1">
              <a:spcBef>
                <a:spcPts val="0"/>
              </a:spcBef>
              <a:defRPr/>
            </a:pPr>
            <a:r>
              <a:rPr lang="en-US" altLang="ko-KR" sz="2000" dirty="0">
                <a:ea typeface="굴림" pitchFamily="34" charset="-127"/>
              </a:rPr>
              <a:t>Given: m examples</a:t>
            </a:r>
            <a:r>
              <a:rPr lang="en-US" altLang="ko-KR" sz="2000" dirty="0">
                <a:latin typeface="Times New Roman" pitchFamily="18" charset="0"/>
                <a:ea typeface="굴림" pitchFamily="34" charset="-127"/>
              </a:rPr>
              <a:t> (</a:t>
            </a:r>
            <a:r>
              <a:rPr lang="en-US" altLang="ko-KR" sz="3200" i="1" dirty="0">
                <a:latin typeface="Times New Roman" pitchFamily="18" charset="0"/>
                <a:ea typeface="굴림" pitchFamily="34" charset="-127"/>
              </a:rPr>
              <a:t>x</a:t>
            </a:r>
            <a:r>
              <a:rPr lang="en-US" altLang="ko-KR" sz="3200" baseline="-25000" dirty="0">
                <a:latin typeface="Times New Roman" pitchFamily="18" charset="0"/>
                <a:ea typeface="굴림" pitchFamily="34" charset="-127"/>
              </a:rPr>
              <a:t>1</a:t>
            </a:r>
            <a:r>
              <a:rPr lang="en-US" altLang="ko-KR" sz="2000" dirty="0">
                <a:latin typeface="Times New Roman" pitchFamily="18" charset="0"/>
                <a:ea typeface="굴림" pitchFamily="34" charset="-127"/>
              </a:rPr>
              <a:t>, </a:t>
            </a:r>
            <a:r>
              <a:rPr lang="en-US" altLang="ko-KR" sz="3200" i="1" dirty="0">
                <a:latin typeface="Times New Roman" pitchFamily="18" charset="0"/>
                <a:ea typeface="굴림" pitchFamily="34" charset="-127"/>
              </a:rPr>
              <a:t>y</a:t>
            </a:r>
            <a:r>
              <a:rPr lang="en-US" altLang="ko-KR" sz="3200" baseline="-25000" dirty="0">
                <a:latin typeface="Times New Roman" pitchFamily="18" charset="0"/>
                <a:ea typeface="굴림" pitchFamily="34" charset="-127"/>
              </a:rPr>
              <a:t>1</a:t>
            </a:r>
            <a:r>
              <a:rPr lang="en-US" altLang="ko-KR" sz="2000" dirty="0">
                <a:latin typeface="Times New Roman" pitchFamily="18" charset="0"/>
                <a:ea typeface="굴림" pitchFamily="34" charset="-127"/>
              </a:rPr>
              <a:t>), …, (</a:t>
            </a:r>
            <a:r>
              <a:rPr lang="en-US" altLang="ko-KR" sz="3200" i="1" dirty="0" err="1">
                <a:latin typeface="Times New Roman" pitchFamily="18" charset="0"/>
                <a:ea typeface="굴림" pitchFamily="34" charset="-127"/>
              </a:rPr>
              <a:t>x</a:t>
            </a:r>
            <a:r>
              <a:rPr lang="en-US" altLang="ko-KR" sz="3200" i="1" baseline="-25000" dirty="0" err="1">
                <a:latin typeface="Times New Roman" pitchFamily="18" charset="0"/>
                <a:ea typeface="굴림" pitchFamily="34" charset="-127"/>
              </a:rPr>
              <a:t>m</a:t>
            </a:r>
            <a:r>
              <a:rPr lang="en-US" altLang="ko-KR" sz="2000" dirty="0">
                <a:latin typeface="Times New Roman" pitchFamily="18" charset="0"/>
                <a:ea typeface="굴림" pitchFamily="34" charset="-127"/>
              </a:rPr>
              <a:t>,</a:t>
            </a:r>
            <a:r>
              <a:rPr lang="en-US" altLang="ko-KR" sz="3200" dirty="0">
                <a:latin typeface="Times New Roman" pitchFamily="18" charset="0"/>
                <a:ea typeface="굴림" pitchFamily="34" charset="-127"/>
              </a:rPr>
              <a:t> </a:t>
            </a:r>
            <a:r>
              <a:rPr lang="en-US" altLang="ko-KR" sz="3200" i="1" dirty="0" err="1">
                <a:latin typeface="Times New Roman" pitchFamily="18" charset="0"/>
                <a:ea typeface="굴림" pitchFamily="34" charset="-127"/>
              </a:rPr>
              <a:t>y</a:t>
            </a:r>
            <a:r>
              <a:rPr lang="en-US" altLang="ko-KR" sz="3200" i="1" baseline="-25000" dirty="0" err="1">
                <a:latin typeface="Times New Roman" pitchFamily="18" charset="0"/>
                <a:ea typeface="굴림" pitchFamily="34" charset="-127"/>
              </a:rPr>
              <a:t>m</a:t>
            </a:r>
            <a:r>
              <a:rPr lang="en-US" altLang="ko-KR" sz="2000" dirty="0">
                <a:latin typeface="Times New Roman" pitchFamily="18" charset="0"/>
                <a:ea typeface="굴림" pitchFamily="34" charset="-127"/>
              </a:rPr>
              <a:t>)</a:t>
            </a:r>
          </a:p>
          <a:p>
            <a:pPr latinLnBrk="1">
              <a:spcBef>
                <a:spcPts val="0"/>
              </a:spcBef>
              <a:defRPr/>
            </a:pPr>
            <a:r>
              <a:rPr lang="en-US" altLang="ko-KR" sz="2000" dirty="0">
                <a:latin typeface="Times New Roman" pitchFamily="18" charset="0"/>
                <a:ea typeface="굴림" pitchFamily="34" charset="-127"/>
              </a:rPr>
              <a:t>     </a:t>
            </a:r>
            <a:r>
              <a:rPr lang="en-US" altLang="ko-KR" sz="2000" dirty="0">
                <a:ea typeface="굴림" pitchFamily="34" charset="-127"/>
              </a:rPr>
              <a:t>where</a:t>
            </a:r>
            <a:r>
              <a:rPr lang="en-US" altLang="ko-KR" sz="2000" dirty="0">
                <a:latin typeface="Times New Roman" pitchFamily="18" charset="0"/>
                <a:ea typeface="굴림" pitchFamily="34" charset="-127"/>
              </a:rPr>
              <a:t> </a:t>
            </a:r>
            <a:r>
              <a:rPr lang="en-US" altLang="ko-KR" sz="3200" i="1" dirty="0" err="1">
                <a:latin typeface="Times New Roman" pitchFamily="18" charset="0"/>
                <a:ea typeface="굴림" pitchFamily="34" charset="-127"/>
              </a:rPr>
              <a:t>x</a:t>
            </a:r>
            <a:r>
              <a:rPr lang="en-US" altLang="ko-KR" sz="3200" i="1" baseline="-25000" dirty="0" err="1">
                <a:latin typeface="Times New Roman" pitchFamily="18" charset="0"/>
                <a:ea typeface="굴림" pitchFamily="34" charset="-127"/>
              </a:rPr>
              <a:t>i</a:t>
            </a:r>
            <a:r>
              <a:rPr lang="en-US" altLang="ko-KR" sz="2000" dirty="0" err="1">
                <a:latin typeface="Symbol" pitchFamily="18" charset="2"/>
                <a:ea typeface="굴림" pitchFamily="34" charset="-127"/>
              </a:rPr>
              <a:t>Î</a:t>
            </a:r>
            <a:r>
              <a:rPr lang="en-US" altLang="ko-KR" sz="2000" i="1" dirty="0" err="1">
                <a:latin typeface="Times New Roman" pitchFamily="18" charset="0"/>
                <a:ea typeface="굴림" pitchFamily="34" charset="-127"/>
              </a:rPr>
              <a:t>X</a:t>
            </a:r>
            <a:r>
              <a:rPr lang="en-US" altLang="ko-KR" sz="2000" dirty="0">
                <a:latin typeface="Times New Roman" pitchFamily="18" charset="0"/>
                <a:ea typeface="굴림" pitchFamily="34" charset="-127"/>
              </a:rPr>
              <a:t>, </a:t>
            </a:r>
            <a:r>
              <a:rPr lang="en-US" altLang="ko-KR" sz="3200" i="1" dirty="0" err="1">
                <a:latin typeface="Times New Roman" pitchFamily="18" charset="0"/>
                <a:ea typeface="굴림" pitchFamily="34" charset="-127"/>
              </a:rPr>
              <a:t>y</a:t>
            </a:r>
            <a:r>
              <a:rPr lang="en-US" altLang="ko-KR" sz="3200" i="1" baseline="-25000" dirty="0" err="1">
                <a:latin typeface="Times New Roman" pitchFamily="18" charset="0"/>
                <a:ea typeface="굴림" pitchFamily="34" charset="-127"/>
              </a:rPr>
              <a:t>i</a:t>
            </a:r>
            <a:r>
              <a:rPr lang="en-US" altLang="ko-KR" sz="2000" dirty="0" err="1">
                <a:latin typeface="Symbol" pitchFamily="18" charset="2"/>
                <a:ea typeface="굴림" pitchFamily="34" charset="-127"/>
              </a:rPr>
              <a:t>Î</a:t>
            </a:r>
            <a:r>
              <a:rPr lang="en-US" altLang="ko-KR" sz="2000" i="1" dirty="0" err="1">
                <a:latin typeface="Times New Roman" pitchFamily="18" charset="0"/>
                <a:ea typeface="굴림" pitchFamily="34" charset="-127"/>
              </a:rPr>
              <a:t>Y</a:t>
            </a:r>
            <a:r>
              <a:rPr lang="en-US" altLang="ko-KR" sz="2000" dirty="0">
                <a:latin typeface="Times New Roman" pitchFamily="18" charset="0"/>
                <a:ea typeface="굴림" pitchFamily="34" charset="-127"/>
              </a:rPr>
              <a:t>={-1, +1}</a:t>
            </a:r>
          </a:p>
          <a:p>
            <a:pPr latinLnBrk="1">
              <a:spcBef>
                <a:spcPts val="0"/>
              </a:spcBef>
              <a:defRPr/>
            </a:pPr>
            <a:r>
              <a:rPr lang="en-US" altLang="ko-KR" sz="3200" i="1" dirty="0">
                <a:latin typeface="Times New Roman" pitchFamily="18" charset="0"/>
                <a:ea typeface="굴림" pitchFamily="34" charset="-127"/>
              </a:rPr>
              <a:t>     x</a:t>
            </a:r>
            <a:r>
              <a:rPr lang="en-US" altLang="ko-KR" sz="3200" i="1" baseline="-25000" dirty="0">
                <a:latin typeface="Times New Roman" pitchFamily="18" charset="0"/>
                <a:ea typeface="굴림" pitchFamily="34" charset="-127"/>
              </a:rPr>
              <a:t>i</a:t>
            </a:r>
            <a:r>
              <a:rPr lang="zh-CN" altLang="en-US" sz="2400" dirty="0"/>
              <a:t>表示</a:t>
            </a:r>
            <a:r>
              <a:rPr lang="en-US" altLang="zh-CN" sz="2400" dirty="0"/>
              <a:t>X</a:t>
            </a:r>
            <a:r>
              <a:rPr lang="zh-CN" altLang="en-US" sz="2400" dirty="0"/>
              <a:t>中第</a:t>
            </a:r>
            <a:r>
              <a:rPr lang="en-US" altLang="zh-CN" sz="2400" dirty="0"/>
              <a:t>i</a:t>
            </a:r>
            <a:r>
              <a:rPr lang="zh-CN" altLang="en-US" sz="2400" dirty="0"/>
              <a:t>个元素，</a:t>
            </a:r>
            <a:endParaRPr lang="en-US" altLang="zh-CN" sz="2400" dirty="0"/>
          </a:p>
          <a:p>
            <a:pPr latinLnBrk="1">
              <a:spcBef>
                <a:spcPts val="0"/>
              </a:spcBef>
              <a:defRPr/>
            </a:pPr>
            <a:r>
              <a:rPr lang="en-US" altLang="ko-KR" sz="2400" i="1" dirty="0">
                <a:latin typeface="Times New Roman" pitchFamily="18" charset="0"/>
                <a:ea typeface="굴림" pitchFamily="34" charset="-127"/>
              </a:rPr>
              <a:t>       </a:t>
            </a:r>
            <a:r>
              <a:rPr lang="en-US" altLang="ko-KR" sz="3200" i="1" dirty="0" err="1">
                <a:latin typeface="Times New Roman" pitchFamily="18" charset="0"/>
                <a:ea typeface="굴림" pitchFamily="34" charset="-127"/>
              </a:rPr>
              <a:t>y</a:t>
            </a:r>
            <a:r>
              <a:rPr lang="en-US" altLang="ko-KR" sz="3200" i="1" baseline="-25000" dirty="0" err="1">
                <a:latin typeface="Times New Roman" pitchFamily="18" charset="0"/>
                <a:ea typeface="굴림" pitchFamily="34" charset="-127"/>
              </a:rPr>
              <a:t>i</a:t>
            </a:r>
            <a:r>
              <a:rPr lang="zh-CN" altLang="en-US" sz="2400" dirty="0"/>
              <a:t>表示与</a:t>
            </a:r>
            <a:r>
              <a:rPr lang="en-US" altLang="ko-KR" sz="3200" i="1" dirty="0">
                <a:latin typeface="Times New Roman" pitchFamily="18" charset="0"/>
                <a:ea typeface="굴림" pitchFamily="34" charset="-127"/>
              </a:rPr>
              <a:t>x</a:t>
            </a:r>
            <a:r>
              <a:rPr lang="en-US" altLang="ko-KR" sz="3200" i="1" baseline="-25000" dirty="0">
                <a:latin typeface="Times New Roman" pitchFamily="18" charset="0"/>
                <a:ea typeface="굴림" pitchFamily="34" charset="-127"/>
              </a:rPr>
              <a:t>i</a:t>
            </a:r>
            <a:r>
              <a:rPr lang="zh-CN" altLang="en-US" sz="2400" dirty="0"/>
              <a:t>对应元素的属性值，</a:t>
            </a:r>
            <a:r>
              <a:rPr lang="en-US" altLang="zh-CN" sz="2400" dirty="0"/>
              <a:t>+1</a:t>
            </a:r>
            <a:r>
              <a:rPr lang="zh-CN" altLang="en-US" sz="2400" dirty="0"/>
              <a:t>表示</a:t>
            </a:r>
            <a:r>
              <a:rPr lang="en-US" altLang="ko-KR" sz="3200" i="1" dirty="0">
                <a:latin typeface="Times New Roman" pitchFamily="18" charset="0"/>
                <a:ea typeface="굴림" pitchFamily="34" charset="-127"/>
              </a:rPr>
              <a:t>x</a:t>
            </a:r>
            <a:r>
              <a:rPr lang="en-US" altLang="ko-KR" sz="3200" i="1" baseline="-25000" dirty="0">
                <a:latin typeface="Times New Roman" pitchFamily="18" charset="0"/>
                <a:ea typeface="굴림" pitchFamily="34" charset="-127"/>
              </a:rPr>
              <a:t>i</a:t>
            </a:r>
            <a:r>
              <a:rPr lang="zh-CN" altLang="en-US" sz="2400" dirty="0"/>
              <a:t>属于某个分类，</a:t>
            </a:r>
            <a:endParaRPr lang="en-US" altLang="zh-CN" sz="2400" dirty="0"/>
          </a:p>
          <a:p>
            <a:pPr latinLnBrk="1">
              <a:spcBef>
                <a:spcPts val="0"/>
              </a:spcBef>
              <a:defRPr/>
            </a:pPr>
            <a:r>
              <a:rPr lang="en-US" altLang="zh-CN" sz="2400" dirty="0"/>
              <a:t>                                                         -1</a:t>
            </a:r>
            <a:r>
              <a:rPr lang="zh-CN" altLang="en-US" sz="2400" dirty="0"/>
              <a:t>表示</a:t>
            </a:r>
            <a:r>
              <a:rPr lang="en-US" altLang="ko-KR" sz="3200" i="1" dirty="0">
                <a:latin typeface="Times New Roman" pitchFamily="18" charset="0"/>
                <a:ea typeface="굴림" pitchFamily="34" charset="-127"/>
              </a:rPr>
              <a:t>x</a:t>
            </a:r>
            <a:r>
              <a:rPr lang="en-US" altLang="ko-KR" sz="3200" i="1" baseline="-25000" dirty="0">
                <a:latin typeface="Times New Roman" pitchFamily="18" charset="0"/>
                <a:ea typeface="굴림" pitchFamily="34" charset="-127"/>
              </a:rPr>
              <a:t>i</a:t>
            </a:r>
            <a:r>
              <a:rPr lang="zh-CN" altLang="en-US" sz="2400" dirty="0"/>
              <a:t>不属于某个分类</a:t>
            </a:r>
            <a:endParaRPr lang="en-US" altLang="zh-CN" sz="2400" dirty="0"/>
          </a:p>
          <a:p>
            <a:pPr latinLnBrk="1">
              <a:spcBef>
                <a:spcPts val="0"/>
              </a:spcBef>
              <a:defRPr/>
            </a:pPr>
            <a:endParaRPr lang="en-US" altLang="zh-CN" sz="2400" dirty="0"/>
          </a:p>
          <a:p>
            <a:pPr latinLnBrk="1">
              <a:spcBef>
                <a:spcPts val="0"/>
              </a:spcBef>
              <a:defRPr/>
            </a:pPr>
            <a:r>
              <a:rPr lang="zh-CN" altLang="en-US" sz="2400" dirty="0">
                <a:solidFill>
                  <a:srgbClr val="0000FF"/>
                </a:solidFill>
              </a:rPr>
              <a:t>二</a:t>
            </a:r>
            <a:r>
              <a:rPr lang="en-US" altLang="zh-CN" sz="2400" dirty="0">
                <a:solidFill>
                  <a:srgbClr val="0000FF"/>
                </a:solidFill>
              </a:rPr>
              <a:t>. </a:t>
            </a:r>
            <a:r>
              <a:rPr lang="zh-CN" altLang="en-US" sz="2400" b="1" dirty="0">
                <a:solidFill>
                  <a:srgbClr val="0000FF"/>
                </a:solidFill>
              </a:rPr>
              <a:t>初始化训练样本</a:t>
            </a:r>
            <a:r>
              <a:rPr lang="en-US" altLang="ko-KR" sz="3200" b="1" i="1" dirty="0">
                <a:solidFill>
                  <a:srgbClr val="0000FF"/>
                </a:solidFill>
                <a:latin typeface="Times New Roman" pitchFamily="18" charset="0"/>
                <a:ea typeface="굴림" pitchFamily="34" charset="-127"/>
              </a:rPr>
              <a:t>x</a:t>
            </a:r>
            <a:r>
              <a:rPr lang="en-US" altLang="ko-KR" sz="3200" b="1" i="1" baseline="-25000" dirty="0">
                <a:solidFill>
                  <a:srgbClr val="0000FF"/>
                </a:solidFill>
                <a:latin typeface="Times New Roman" pitchFamily="18" charset="0"/>
                <a:ea typeface="굴림" pitchFamily="34" charset="-127"/>
              </a:rPr>
              <a:t>i</a:t>
            </a:r>
            <a:r>
              <a:rPr lang="zh-CN" altLang="en-US" sz="2400" b="1" dirty="0">
                <a:solidFill>
                  <a:srgbClr val="0000FF"/>
                </a:solidFill>
              </a:rPr>
              <a:t>的权重分布</a:t>
            </a:r>
            <a:r>
              <a:rPr lang="en-US" altLang="zh-CN" sz="2400" dirty="0"/>
              <a:t>D(</a:t>
            </a:r>
            <a:r>
              <a:rPr lang="en-US" altLang="zh-CN" sz="2400" dirty="0" err="1"/>
              <a:t>i</a:t>
            </a:r>
            <a:r>
              <a:rPr lang="en-US" altLang="zh-CN" sz="2400" dirty="0"/>
              <a:t>) :i=1,……</a:t>
            </a:r>
            <a:r>
              <a:rPr lang="zh-CN" altLang="en-US" sz="2400" dirty="0"/>
              <a:t>，</a:t>
            </a:r>
            <a:r>
              <a:rPr lang="en-US" altLang="zh-CN" sz="2400" dirty="0"/>
              <a:t>m;</a:t>
            </a:r>
          </a:p>
          <a:p>
            <a:pPr latinLnBrk="1">
              <a:lnSpc>
                <a:spcPct val="150000"/>
              </a:lnSpc>
              <a:spcBef>
                <a:spcPts val="0"/>
              </a:spcBef>
              <a:defRPr/>
            </a:pPr>
            <a:r>
              <a:rPr lang="en-US" altLang="ko-KR" sz="2400" dirty="0">
                <a:latin typeface="+mn-ea"/>
              </a:rPr>
              <a:t>    (1).</a:t>
            </a:r>
            <a:r>
              <a:rPr lang="zh-CN" altLang="en-US" sz="2400" dirty="0">
                <a:latin typeface="+mn-ea"/>
              </a:rPr>
              <a:t>若正负样本数目一致，</a:t>
            </a:r>
            <a:r>
              <a:rPr lang="en-US" altLang="ko-KR" sz="2400" i="1" dirty="0">
                <a:latin typeface="+mn-ea"/>
              </a:rPr>
              <a:t>D</a:t>
            </a:r>
            <a:r>
              <a:rPr lang="en-US" altLang="ko-KR" sz="2400" baseline="-25000" dirty="0">
                <a:latin typeface="+mn-ea"/>
              </a:rPr>
              <a:t>1</a:t>
            </a:r>
            <a:r>
              <a:rPr lang="en-US" altLang="ko-KR" sz="2400" dirty="0">
                <a:latin typeface="+mn-ea"/>
              </a:rPr>
              <a:t>(</a:t>
            </a:r>
            <a:r>
              <a:rPr lang="en-US" altLang="ko-KR" sz="2400" i="1" dirty="0">
                <a:latin typeface="+mn-ea"/>
              </a:rPr>
              <a:t>i</a:t>
            </a:r>
            <a:r>
              <a:rPr lang="en-US" altLang="ko-KR" sz="2400" dirty="0">
                <a:latin typeface="+mn-ea"/>
              </a:rPr>
              <a:t>) = 1/</a:t>
            </a:r>
            <a:r>
              <a:rPr lang="en-US" altLang="ko-KR" sz="2400" i="1" dirty="0">
                <a:latin typeface="+mn-ea"/>
              </a:rPr>
              <a:t>m</a:t>
            </a:r>
          </a:p>
          <a:p>
            <a:pPr latinLnBrk="1">
              <a:lnSpc>
                <a:spcPct val="150000"/>
              </a:lnSpc>
              <a:spcBef>
                <a:spcPts val="0"/>
              </a:spcBef>
              <a:defRPr/>
            </a:pPr>
            <a:r>
              <a:rPr lang="en-US" altLang="ko-KR" sz="2400" dirty="0">
                <a:latin typeface="+mn-ea"/>
              </a:rPr>
              <a:t>    (2).</a:t>
            </a:r>
            <a:r>
              <a:rPr lang="zh-CN" altLang="en-US" sz="2400" dirty="0">
                <a:latin typeface="+mn-ea"/>
              </a:rPr>
              <a:t>若正负样本数目</a:t>
            </a:r>
            <a:r>
              <a:rPr lang="en-US" altLang="zh-CN" sz="2000" dirty="0">
                <a:latin typeface="+mn-ea"/>
              </a:rPr>
              <a:t>m</a:t>
            </a:r>
            <a:r>
              <a:rPr lang="en-US" altLang="zh-CN" sz="2000" baseline="-25000" dirty="0">
                <a:latin typeface="+mn-ea"/>
              </a:rPr>
              <a:t>+</a:t>
            </a:r>
            <a:r>
              <a:rPr lang="zh-CN" altLang="en-US" sz="2000" dirty="0">
                <a:latin typeface="+mn-ea"/>
              </a:rPr>
              <a:t>和</a:t>
            </a:r>
            <a:r>
              <a:rPr lang="en-US" altLang="zh-CN" sz="2000" dirty="0">
                <a:latin typeface="+mn-ea"/>
              </a:rPr>
              <a:t>m</a:t>
            </a:r>
            <a:r>
              <a:rPr lang="en-US" altLang="zh-CN" sz="2000" baseline="-25000" dirty="0">
                <a:latin typeface="+mn-ea"/>
              </a:rPr>
              <a:t>-</a:t>
            </a:r>
            <a:r>
              <a:rPr lang="zh-CN" altLang="en-US" sz="2000" baseline="-25000" dirty="0">
                <a:latin typeface="+mn-ea"/>
              </a:rPr>
              <a:t>，</a:t>
            </a:r>
            <a:r>
              <a:rPr lang="zh-CN" altLang="en-US" sz="2400" dirty="0">
                <a:latin typeface="+mn-ea"/>
              </a:rPr>
              <a:t>则正样本</a:t>
            </a:r>
            <a:r>
              <a:rPr lang="en-US" altLang="ko-KR" sz="2400" dirty="0">
                <a:latin typeface="+mn-ea"/>
              </a:rPr>
              <a:t>D</a:t>
            </a:r>
            <a:r>
              <a:rPr lang="en-US" altLang="ko-KR" sz="2400" baseline="-25000" dirty="0">
                <a:latin typeface="+mn-ea"/>
              </a:rPr>
              <a:t>1</a:t>
            </a:r>
            <a:r>
              <a:rPr lang="en-US" altLang="ko-KR" sz="2400" dirty="0">
                <a:latin typeface="+mn-ea"/>
              </a:rPr>
              <a:t>(i) </a:t>
            </a:r>
            <a:r>
              <a:rPr lang="en-US" altLang="ko-KR" sz="2400" b="1" dirty="0">
                <a:latin typeface="+mn-ea"/>
              </a:rPr>
              <a:t>= </a:t>
            </a:r>
            <a:r>
              <a:rPr lang="en-US" altLang="ko-KR" sz="2000" dirty="0">
                <a:latin typeface="+mn-ea"/>
              </a:rPr>
              <a:t>1/(2m</a:t>
            </a:r>
            <a:r>
              <a:rPr lang="en-US" altLang="zh-CN" sz="2000" baseline="-25000" dirty="0">
                <a:latin typeface="+mn-ea"/>
              </a:rPr>
              <a:t>+</a:t>
            </a:r>
            <a:r>
              <a:rPr lang="en-US" altLang="zh-CN" sz="2400" dirty="0">
                <a:latin typeface="+mn-ea"/>
              </a:rPr>
              <a:t>)</a:t>
            </a:r>
          </a:p>
          <a:p>
            <a:pPr latinLnBrk="1">
              <a:lnSpc>
                <a:spcPct val="150000"/>
              </a:lnSpc>
              <a:spcBef>
                <a:spcPts val="0"/>
              </a:spcBef>
              <a:defRPr/>
            </a:pPr>
            <a:r>
              <a:rPr lang="en-US" altLang="zh-CN" sz="2400" dirty="0">
                <a:latin typeface="+mn-ea"/>
              </a:rPr>
              <a:t>                                                  </a:t>
            </a:r>
            <a:r>
              <a:rPr lang="zh-CN" altLang="en-US" sz="2400" dirty="0">
                <a:latin typeface="+mn-ea"/>
              </a:rPr>
              <a:t>负样本</a:t>
            </a:r>
            <a:r>
              <a:rPr lang="en-US" altLang="ko-KR" sz="2400" dirty="0">
                <a:latin typeface="+mn-ea"/>
              </a:rPr>
              <a:t>D</a:t>
            </a:r>
            <a:r>
              <a:rPr lang="en-US" altLang="ko-KR" sz="2400" baseline="-25000" dirty="0">
                <a:latin typeface="+mn-ea"/>
              </a:rPr>
              <a:t>1</a:t>
            </a:r>
            <a:r>
              <a:rPr lang="en-US" altLang="ko-KR" sz="2400" dirty="0">
                <a:latin typeface="+mn-ea"/>
              </a:rPr>
              <a:t>(i) = </a:t>
            </a:r>
            <a:r>
              <a:rPr lang="en-US" altLang="ko-KR" sz="2000" dirty="0">
                <a:latin typeface="+mn-ea"/>
              </a:rPr>
              <a:t>1/(2m</a:t>
            </a:r>
            <a:r>
              <a:rPr lang="en-US" altLang="zh-CN" sz="2000" baseline="-25000" dirty="0">
                <a:latin typeface="+mn-ea"/>
              </a:rPr>
              <a:t>-</a:t>
            </a:r>
            <a:r>
              <a:rPr lang="en-US" altLang="zh-CN" sz="2000" dirty="0">
                <a:latin typeface="+mn-ea"/>
              </a:rPr>
              <a:t>)</a:t>
            </a:r>
            <a:endParaRPr lang="en-US" altLang="ko-KR" sz="2000" dirty="0"/>
          </a:p>
          <a:p>
            <a:pPr latinLnBrk="1">
              <a:lnSpc>
                <a:spcPct val="150000"/>
              </a:lnSpc>
              <a:spcBef>
                <a:spcPts val="0"/>
              </a:spcBef>
              <a:defRPr/>
            </a:pPr>
            <a:endParaRPr lang="en-US" altLang="ko-KR" sz="2000"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11</a:t>
            </a:fld>
            <a:endParaRPr lang="en-US" altLang="zh-CN" dirty="0"/>
          </a:p>
        </p:txBody>
      </p:sp>
      <p:sp>
        <p:nvSpPr>
          <p:cNvPr id="5" name="Rectangle 24"/>
          <p:cNvSpPr>
            <a:spLocks noChangeArrowheads="1"/>
          </p:cNvSpPr>
          <p:nvPr/>
        </p:nvSpPr>
        <p:spPr bwMode="auto">
          <a:xfrm>
            <a:off x="5439332" y="-29883"/>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800" dirty="0" err="1">
                <a:solidFill>
                  <a:srgbClr val="FF0000"/>
                </a:solidFill>
                <a:latin typeface="Times New Roman" panose="02020603050405020304" pitchFamily="18" charset="0"/>
                <a:ea typeface="新細明體" pitchFamily="18" charset="-120"/>
              </a:rPr>
              <a:t>Schapire</a:t>
            </a:r>
            <a:r>
              <a:rPr lang="en-US" altLang="zh-CN" sz="2800" dirty="0">
                <a:solidFill>
                  <a:srgbClr val="FF0000"/>
                </a:solidFill>
                <a:latin typeface="Times New Roman" panose="02020603050405020304" pitchFamily="18" charset="0"/>
                <a:ea typeface="新細明體" pitchFamily="18" charset="-120"/>
              </a:rPr>
              <a:t> </a:t>
            </a:r>
            <a:r>
              <a:rPr lang="en-US" altLang="zh-TW" sz="2800" dirty="0" err="1">
                <a:solidFill>
                  <a:srgbClr val="FF0000"/>
                </a:solidFill>
                <a:latin typeface="Times New Roman" panose="02020603050405020304" pitchFamily="18" charset="0"/>
                <a:ea typeface="新細明體" pitchFamily="18" charset="-120"/>
              </a:rPr>
              <a:t>Adaboost</a:t>
            </a:r>
            <a:r>
              <a:rPr lang="en-US" altLang="zh-TW" sz="2800" dirty="0">
                <a:solidFill>
                  <a:srgbClr val="FF0000"/>
                </a:solidFill>
                <a:latin typeface="Times New Roman" panose="02020603050405020304" pitchFamily="18" charset="0"/>
                <a:ea typeface="新細明體" pitchFamily="18" charset="-120"/>
              </a:rPr>
              <a:t> Algorithm</a:t>
            </a:r>
            <a:r>
              <a:rPr lang="zh-CN" altLang="en-US" sz="2800" dirty="0">
                <a:solidFill>
                  <a:srgbClr val="FF0000"/>
                </a:solidFill>
                <a:latin typeface="Times New Roman" panose="02020603050405020304" pitchFamily="18" charset="0"/>
                <a:ea typeface="新細明體" pitchFamily="18" charset="-120"/>
              </a:rPr>
              <a:t>（续）</a:t>
            </a:r>
            <a:endParaRPr lang="en-US" altLang="zh-TW" sz="2800" dirty="0">
              <a:solidFill>
                <a:srgbClr val="FF0000"/>
              </a:solidFill>
              <a:latin typeface="Times New Roman" panose="02020603050405020304" pitchFamily="18" charset="0"/>
              <a:ea typeface="新細明體" pitchFamily="18" charset="-120"/>
            </a:endParaRPr>
          </a:p>
        </p:txBody>
      </p:sp>
      <p:sp>
        <p:nvSpPr>
          <p:cNvPr id="7" name="Rectangle 2"/>
          <p:cNvSpPr txBox="1">
            <a:spLocks noChangeArrowheads="1"/>
          </p:cNvSpPr>
          <p:nvPr/>
        </p:nvSpPr>
        <p:spPr bwMode="black">
          <a:xfrm>
            <a:off x="208256" y="54965"/>
            <a:ext cx="6172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12.2 Boosting</a:t>
            </a:r>
            <a:r>
              <a:rPr lang="zh-CN" altLang="en-US" kern="0" dirty="0"/>
              <a:t>：</a:t>
            </a:r>
            <a:r>
              <a:rPr lang="en-US" altLang="zh-CN" kern="0" dirty="0" err="1"/>
              <a:t>AdaBoost</a:t>
            </a:r>
            <a:endParaRPr lang="en-US" altLang="zh-CN" kern="0" dirty="0"/>
          </a:p>
        </p:txBody>
      </p:sp>
    </p:spTree>
    <p:extLst>
      <p:ext uri="{BB962C8B-B14F-4D97-AF65-F5344CB8AC3E}">
        <p14:creationId xmlns:p14="http://schemas.microsoft.com/office/powerpoint/2010/main" val="1073365556"/>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4"/>
          <p:cNvSpPr txBox="1">
            <a:spLocks noChangeArrowheads="1"/>
          </p:cNvSpPr>
          <p:nvPr/>
        </p:nvSpPr>
        <p:spPr bwMode="auto">
          <a:xfrm>
            <a:off x="473798" y="937369"/>
            <a:ext cx="73152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atinLnBrk="1">
              <a:spcBef>
                <a:spcPct val="50000"/>
              </a:spcBef>
              <a:defRPr/>
            </a:pPr>
            <a:r>
              <a:rPr lang="zh-CN" altLang="en-US" sz="2000" b="1" dirty="0">
                <a:solidFill>
                  <a:srgbClr val="0000FF"/>
                </a:solidFill>
                <a:latin typeface="+mn-ea"/>
              </a:rPr>
              <a:t>三</a:t>
            </a:r>
            <a:r>
              <a:rPr lang="en-US" altLang="zh-CN" sz="2000" b="1" dirty="0">
                <a:solidFill>
                  <a:srgbClr val="0000FF"/>
                </a:solidFill>
                <a:latin typeface="+mn-ea"/>
              </a:rPr>
              <a:t>. </a:t>
            </a:r>
            <a:r>
              <a:rPr lang="zh-CN" altLang="en-US" sz="2000" b="1" dirty="0">
                <a:solidFill>
                  <a:srgbClr val="0000FF"/>
                </a:solidFill>
                <a:latin typeface="+mn-ea"/>
              </a:rPr>
              <a:t>训练弱分类器</a:t>
            </a:r>
            <a:endParaRPr lang="en-US" altLang="zh-CN" sz="2000" b="1" dirty="0">
              <a:solidFill>
                <a:srgbClr val="0000FF"/>
              </a:solidFill>
              <a:latin typeface="+mn-ea"/>
            </a:endParaRPr>
          </a:p>
        </p:txBody>
      </p:sp>
      <p:sp>
        <p:nvSpPr>
          <p:cNvPr id="11" name="Text Box 9"/>
          <p:cNvSpPr txBox="1">
            <a:spLocks noChangeArrowheads="1"/>
          </p:cNvSpPr>
          <p:nvPr/>
        </p:nvSpPr>
        <p:spPr bwMode="auto">
          <a:xfrm>
            <a:off x="499464" y="1505030"/>
            <a:ext cx="8836895" cy="4601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891" indent="-342891">
              <a:spcBef>
                <a:spcPct val="50000"/>
              </a:spcBef>
              <a:buFontTx/>
              <a:buAutoNum type="arabicPeriod"/>
              <a:defRPr/>
            </a:pPr>
            <a:r>
              <a:rPr lang="en-US" altLang="zh-TW" dirty="0">
                <a:ea typeface="新細明體" pitchFamily="18" charset="-120"/>
              </a:rPr>
              <a:t>Train learner </a:t>
            </a:r>
            <a:r>
              <a:rPr lang="en-US" altLang="zh-TW" sz="2000" b="1" i="1" dirty="0" err="1">
                <a:latin typeface="Times New Roman" pitchFamily="18" charset="0"/>
                <a:ea typeface="新細明體" pitchFamily="18" charset="-120"/>
              </a:rPr>
              <a:t>h</a:t>
            </a:r>
            <a:r>
              <a:rPr lang="en-US" altLang="zh-TW" sz="2000" b="1" i="1" baseline="-25000" dirty="0" err="1">
                <a:latin typeface="Times New Roman" pitchFamily="18" charset="0"/>
                <a:ea typeface="新細明體" pitchFamily="18" charset="-120"/>
              </a:rPr>
              <a:t>t</a:t>
            </a:r>
            <a:r>
              <a:rPr lang="en-US" altLang="zh-TW" dirty="0">
                <a:ea typeface="新細明體" pitchFamily="18" charset="-120"/>
              </a:rPr>
              <a:t> with </a:t>
            </a:r>
            <a:r>
              <a:rPr lang="en-US" altLang="zh-TW" dirty="0">
                <a:solidFill>
                  <a:srgbClr val="FF0000"/>
                </a:solidFill>
                <a:ea typeface="新細明體" pitchFamily="18" charset="-120"/>
              </a:rPr>
              <a:t>min error             </a:t>
            </a:r>
          </a:p>
          <a:p>
            <a:pPr>
              <a:spcBef>
                <a:spcPct val="50000"/>
              </a:spcBef>
              <a:defRPr/>
            </a:pPr>
            <a:r>
              <a:rPr lang="en-US" altLang="zh-TW" dirty="0">
                <a:solidFill>
                  <a:schemeClr val="accent2"/>
                </a:solidFill>
                <a:ea typeface="新細明體" pitchFamily="18" charset="-120"/>
              </a:rPr>
              <a:t>  </a:t>
            </a:r>
          </a:p>
          <a:p>
            <a:pPr>
              <a:spcBef>
                <a:spcPct val="50000"/>
              </a:spcBef>
              <a:defRPr/>
            </a:pPr>
            <a:r>
              <a:rPr lang="zh-CN" altLang="en-US" b="1" dirty="0">
                <a:ea typeface="新細明體" pitchFamily="18" charset="-120"/>
              </a:rPr>
              <a:t>     若划分正确，则不计入误差，若所有元素都被正确划分，则误差为</a:t>
            </a:r>
            <a:r>
              <a:rPr lang="en-US" altLang="zh-CN" b="1" dirty="0">
                <a:ea typeface="新細明體" pitchFamily="18" charset="-120"/>
              </a:rPr>
              <a:t>0;</a:t>
            </a:r>
          </a:p>
          <a:p>
            <a:pPr>
              <a:spcBef>
                <a:spcPct val="50000"/>
              </a:spcBef>
              <a:defRPr/>
            </a:pPr>
            <a:r>
              <a:rPr lang="zh-CN" altLang="en-US" b="1" dirty="0">
                <a:ea typeface="新細明體" pitchFamily="18" charset="-120"/>
              </a:rPr>
              <a:t>     若划分错误，则计入误差。</a:t>
            </a:r>
            <a:endParaRPr lang="en-US" altLang="zh-CN" b="1" dirty="0">
              <a:ea typeface="新細明體" pitchFamily="18" charset="-120"/>
            </a:endParaRPr>
          </a:p>
          <a:p>
            <a:pPr>
              <a:spcBef>
                <a:spcPct val="50000"/>
              </a:spcBef>
              <a:defRPr/>
            </a:pPr>
            <a:r>
              <a:rPr lang="en-US" altLang="zh-CN" dirty="0">
                <a:ea typeface="新細明體" pitchFamily="18" charset="-120"/>
              </a:rPr>
              <a:t>2. </a:t>
            </a:r>
            <a:r>
              <a:rPr lang="en-US" altLang="zh-CN" dirty="0"/>
              <a:t> If </a:t>
            </a:r>
            <a:r>
              <a:rPr lang="el-GR" altLang="zh-CN" sz="2000" dirty="0"/>
              <a:t>ε</a:t>
            </a:r>
            <a:r>
              <a:rPr lang="en-US" altLang="zh-CN" sz="2000" baseline="-25000" dirty="0"/>
              <a:t>t </a:t>
            </a:r>
            <a:r>
              <a:rPr lang="en-US" altLang="zh-CN" dirty="0"/>
              <a:t>≥ 0.5, then break</a:t>
            </a:r>
            <a:endParaRPr lang="en-US" altLang="zh-CN" dirty="0">
              <a:ea typeface="新細明體" pitchFamily="18" charset="-120"/>
            </a:endParaRPr>
          </a:p>
          <a:p>
            <a:pPr>
              <a:spcBef>
                <a:spcPct val="50000"/>
              </a:spcBef>
              <a:defRPr/>
            </a:pPr>
            <a:r>
              <a:rPr lang="en-US" altLang="zh-TW" dirty="0">
                <a:ea typeface="新細明體" pitchFamily="18" charset="-120"/>
              </a:rPr>
              <a:t>3.  </a:t>
            </a:r>
            <a:r>
              <a:rPr lang="zh-CN" altLang="en-US" b="1" dirty="0">
                <a:ea typeface="新細明體" pitchFamily="18" charset="-120"/>
              </a:rPr>
              <a:t>确定分类器</a:t>
            </a:r>
            <a:r>
              <a:rPr lang="en-US" altLang="zh-TW" b="1" i="1" dirty="0" err="1">
                <a:latin typeface="Times New Roman" pitchFamily="18" charset="0"/>
                <a:ea typeface="新細明體" pitchFamily="18" charset="-120"/>
              </a:rPr>
              <a:t>h</a:t>
            </a:r>
            <a:r>
              <a:rPr lang="en-US" altLang="zh-TW" b="1" i="1" baseline="-25000" dirty="0" err="1">
                <a:latin typeface="Times New Roman" pitchFamily="18" charset="0"/>
                <a:ea typeface="新細明體" pitchFamily="18" charset="-120"/>
              </a:rPr>
              <a:t>t</a:t>
            </a:r>
            <a:r>
              <a:rPr lang="zh-CN" altLang="en-US" b="1" dirty="0">
                <a:ea typeface="新細明體" pitchFamily="18" charset="-120"/>
              </a:rPr>
              <a:t>权重</a:t>
            </a:r>
            <a:endParaRPr lang="en-US" altLang="zh-TW" b="1" dirty="0">
              <a:ea typeface="新細明體" pitchFamily="18" charset="-120"/>
            </a:endParaRPr>
          </a:p>
          <a:p>
            <a:pPr>
              <a:spcBef>
                <a:spcPct val="50000"/>
              </a:spcBef>
              <a:defRPr/>
            </a:pPr>
            <a:endParaRPr lang="en-US" altLang="zh-TW" dirty="0">
              <a:ea typeface="新細明體" pitchFamily="18" charset="-120"/>
            </a:endParaRPr>
          </a:p>
          <a:p>
            <a:pPr>
              <a:spcBef>
                <a:spcPct val="50000"/>
              </a:spcBef>
              <a:defRPr/>
            </a:pPr>
            <a:r>
              <a:rPr lang="en-US" altLang="zh-TW" dirty="0">
                <a:ea typeface="新細明體" pitchFamily="18" charset="-120"/>
              </a:rPr>
              <a:t>4.  </a:t>
            </a:r>
            <a:r>
              <a:rPr lang="zh-CN" altLang="en-US" b="1" dirty="0">
                <a:ea typeface="新細明體" pitchFamily="18" charset="-120"/>
              </a:rPr>
              <a:t>更新样本权重值</a:t>
            </a:r>
            <a:endParaRPr lang="en-US" altLang="zh-TW" b="1" dirty="0">
              <a:ea typeface="新細明體" pitchFamily="18" charset="-120"/>
            </a:endParaRPr>
          </a:p>
          <a:p>
            <a:pPr marL="342900" indent="-342900">
              <a:spcBef>
                <a:spcPct val="50000"/>
              </a:spcBef>
              <a:buFontTx/>
              <a:buAutoNum type="arabicPeriod" startAt="5"/>
              <a:defRPr/>
            </a:pPr>
            <a:r>
              <a:rPr lang="zh-CN" altLang="en-US" b="1" dirty="0">
                <a:ea typeface="新細明體" pitchFamily="18" charset="-120"/>
              </a:rPr>
              <a:t>更新样本权重分布</a:t>
            </a:r>
            <a:endParaRPr lang="en-US" altLang="zh-CN" b="1" dirty="0">
              <a:ea typeface="新細明體" pitchFamily="18" charset="-120"/>
            </a:endParaRPr>
          </a:p>
          <a:p>
            <a:pPr>
              <a:spcBef>
                <a:spcPct val="50000"/>
              </a:spcBef>
              <a:defRPr/>
            </a:pPr>
            <a:r>
              <a:rPr lang="en-US" altLang="zh-CN" b="1" dirty="0">
                <a:ea typeface="新細明體" pitchFamily="18" charset="-120"/>
              </a:rPr>
              <a:t> (</a:t>
            </a:r>
            <a:r>
              <a:rPr lang="zh-CN" altLang="en-US" b="1" dirty="0">
                <a:ea typeface="新細明體" pitchFamily="18" charset="-120"/>
              </a:rPr>
              <a:t>样本权重</a:t>
            </a:r>
            <a:r>
              <a:rPr lang="en-US" altLang="zh-CN" dirty="0">
                <a:ea typeface="新細明體" pitchFamily="18" charset="-120"/>
              </a:rPr>
              <a:t>D</a:t>
            </a:r>
            <a:r>
              <a:rPr lang="en-US" altLang="zh-CN" baseline="-25000" dirty="0">
                <a:ea typeface="新細明體" pitchFamily="18" charset="-120"/>
              </a:rPr>
              <a:t>t+1</a:t>
            </a:r>
            <a:r>
              <a:rPr lang="zh-CN" altLang="en-US" b="1" dirty="0">
                <a:ea typeface="新細明體" pitchFamily="18" charset="-120"/>
              </a:rPr>
              <a:t>归一化</a:t>
            </a:r>
            <a:r>
              <a:rPr lang="en-US" altLang="zh-CN" b="1" dirty="0">
                <a:ea typeface="新細明體" pitchFamily="18" charset="-120"/>
              </a:rPr>
              <a:t>)</a:t>
            </a:r>
          </a:p>
          <a:p>
            <a:pPr>
              <a:spcBef>
                <a:spcPct val="50000"/>
              </a:spcBef>
              <a:defRPr/>
            </a:pPr>
            <a:endParaRPr lang="en-US" altLang="zh-TW" dirty="0">
              <a:ea typeface="新細明體" pitchFamily="18" charset="-120"/>
            </a:endParaRPr>
          </a:p>
        </p:txBody>
      </p:sp>
      <p:sp>
        <p:nvSpPr>
          <p:cNvPr id="13" name="Rectangle 24"/>
          <p:cNvSpPr>
            <a:spLocks noChangeArrowheads="1"/>
          </p:cNvSpPr>
          <p:nvPr/>
        </p:nvSpPr>
        <p:spPr bwMode="auto">
          <a:xfrm>
            <a:off x="5439332" y="-29883"/>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800" dirty="0" err="1">
                <a:solidFill>
                  <a:srgbClr val="FF0000"/>
                </a:solidFill>
                <a:latin typeface="Times New Roman" panose="02020603050405020304" pitchFamily="18" charset="0"/>
                <a:ea typeface="新細明體" pitchFamily="18" charset="-120"/>
              </a:rPr>
              <a:t>Schapire</a:t>
            </a:r>
            <a:r>
              <a:rPr lang="en-US" altLang="zh-CN" sz="2800" dirty="0">
                <a:solidFill>
                  <a:srgbClr val="FF0000"/>
                </a:solidFill>
                <a:latin typeface="Times New Roman" panose="02020603050405020304" pitchFamily="18" charset="0"/>
                <a:ea typeface="新細明體" pitchFamily="18" charset="-120"/>
              </a:rPr>
              <a:t> </a:t>
            </a:r>
            <a:r>
              <a:rPr lang="en-US" altLang="zh-TW" sz="2800" dirty="0" err="1">
                <a:solidFill>
                  <a:srgbClr val="FF0000"/>
                </a:solidFill>
                <a:latin typeface="Times New Roman" panose="02020603050405020304" pitchFamily="18" charset="0"/>
                <a:ea typeface="新細明體" pitchFamily="18" charset="-120"/>
              </a:rPr>
              <a:t>Adaboost</a:t>
            </a:r>
            <a:r>
              <a:rPr lang="en-US" altLang="zh-TW" sz="2800" dirty="0">
                <a:solidFill>
                  <a:srgbClr val="FF0000"/>
                </a:solidFill>
                <a:latin typeface="Times New Roman" panose="02020603050405020304" pitchFamily="18" charset="0"/>
                <a:ea typeface="新細明體" pitchFamily="18" charset="-120"/>
              </a:rPr>
              <a:t> Algorithm</a:t>
            </a:r>
            <a:r>
              <a:rPr lang="zh-CN" altLang="en-US" sz="2800" dirty="0">
                <a:solidFill>
                  <a:srgbClr val="FF0000"/>
                </a:solidFill>
                <a:latin typeface="Times New Roman" panose="02020603050405020304" pitchFamily="18" charset="0"/>
                <a:ea typeface="新細明體" pitchFamily="18" charset="-120"/>
              </a:rPr>
              <a:t>（续）</a:t>
            </a:r>
            <a:endParaRPr lang="en-US" altLang="zh-TW" sz="2800" dirty="0">
              <a:solidFill>
                <a:srgbClr val="FF0000"/>
              </a:solidFill>
              <a:latin typeface="Times New Roman" panose="02020603050405020304" pitchFamily="18" charset="0"/>
              <a:ea typeface="新細明體" pitchFamily="18" charset="-120"/>
            </a:endParaRPr>
          </a:p>
        </p:txBody>
      </p:sp>
      <p:graphicFrame>
        <p:nvGraphicFramePr>
          <p:cNvPr id="17415" name="Object 8"/>
          <p:cNvGraphicFramePr>
            <a:graphicFrameLocks noChangeAspect="1"/>
          </p:cNvGraphicFramePr>
          <p:nvPr>
            <p:extLst>
              <p:ext uri="{D42A27DB-BD31-4B8C-83A1-F6EECF244321}">
                <p14:modId xmlns:p14="http://schemas.microsoft.com/office/powerpoint/2010/main" val="4139886747"/>
              </p:ext>
            </p:extLst>
          </p:nvPr>
        </p:nvGraphicFramePr>
        <p:xfrm>
          <a:off x="4095193" y="1474427"/>
          <a:ext cx="2480732" cy="458675"/>
        </p:xfrm>
        <a:graphic>
          <a:graphicData uri="http://schemas.openxmlformats.org/presentationml/2006/ole">
            <mc:AlternateContent xmlns:mc="http://schemas.openxmlformats.org/markup-compatibility/2006">
              <mc:Choice xmlns:v="urn:schemas-microsoft-com:vml" Requires="v">
                <p:oleObj spid="_x0000_s172531" name="Equation" r:id="rId4" imgW="1346200" imgH="241300" progId="Equation.DSMT4">
                  <p:embed/>
                </p:oleObj>
              </mc:Choice>
              <mc:Fallback>
                <p:oleObj name="Equation" r:id="rId4" imgW="1346200" imgH="241300" progId="Equation.DSMT4">
                  <p:embed/>
                  <p:pic>
                    <p:nvPicPr>
                      <p:cNvPr id="0" name="Picture 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95193" y="1474427"/>
                        <a:ext cx="2480732" cy="458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19" name="Object 11"/>
          <p:cNvGraphicFramePr>
            <a:graphicFrameLocks noChangeAspect="1"/>
          </p:cNvGraphicFramePr>
          <p:nvPr>
            <p:extLst>
              <p:ext uri="{D42A27DB-BD31-4B8C-83A1-F6EECF244321}">
                <p14:modId xmlns:p14="http://schemas.microsoft.com/office/powerpoint/2010/main" val="2383611406"/>
              </p:ext>
            </p:extLst>
          </p:nvPr>
        </p:nvGraphicFramePr>
        <p:xfrm>
          <a:off x="3252596" y="3375050"/>
          <a:ext cx="1871578" cy="851073"/>
        </p:xfrm>
        <a:graphic>
          <a:graphicData uri="http://schemas.openxmlformats.org/presentationml/2006/ole">
            <mc:AlternateContent xmlns:mc="http://schemas.openxmlformats.org/markup-compatibility/2006">
              <mc:Choice xmlns:v="urn:schemas-microsoft-com:vml" Requires="v">
                <p:oleObj spid="_x0000_s172532" name="Equation" r:id="rId6" imgW="1054100" imgH="482600" progId="Equation.DSMT4">
                  <p:embed/>
                </p:oleObj>
              </mc:Choice>
              <mc:Fallback>
                <p:oleObj name="Equation" r:id="rId6" imgW="1054100" imgH="482600" progId="Equation.DSMT4">
                  <p:embed/>
                  <p:pic>
                    <p:nvPicPr>
                      <p:cNvPr id="0" name="Picture 4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52596" y="3375050"/>
                        <a:ext cx="1871578" cy="8510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AutoShape 19"/>
          <p:cNvSpPr>
            <a:spLocks noChangeArrowheads="1"/>
          </p:cNvSpPr>
          <p:nvPr/>
        </p:nvSpPr>
        <p:spPr bwMode="auto">
          <a:xfrm>
            <a:off x="5473568" y="2904207"/>
            <a:ext cx="2843285" cy="941687"/>
          </a:xfrm>
          <a:prstGeom prst="wedgeRoundRectCallout">
            <a:avLst>
              <a:gd name="adj1" fmla="val -63744"/>
              <a:gd name="adj2" fmla="val 33120"/>
              <a:gd name="adj3" fmla="val 16667"/>
            </a:avLst>
          </a:prstGeom>
          <a:ln>
            <a:headEnd/>
            <a:tailEnd/>
          </a:ln>
        </p:spPr>
        <p:style>
          <a:lnRef idx="1">
            <a:schemeClr val="accent1"/>
          </a:lnRef>
          <a:fillRef idx="2">
            <a:schemeClr val="accent1"/>
          </a:fillRef>
          <a:effectRef idx="1">
            <a:schemeClr val="accent1"/>
          </a:effectRef>
          <a:fontRef idx="minor">
            <a:schemeClr val="dk1"/>
          </a:fontRef>
        </p:style>
        <p:txBody>
          <a:bodyPr/>
          <a:lstStyle/>
          <a:p>
            <a:pPr algn="ctr">
              <a:defRPr/>
            </a:pPr>
            <a:r>
              <a:rPr lang="en-US" altLang="zh-TW" dirty="0">
                <a:ea typeface="新細明體" pitchFamily="18" charset="-120"/>
              </a:rPr>
              <a:t>The weight </a:t>
            </a:r>
            <a:r>
              <a:rPr lang="en-US" altLang="zh-TW" b="1" u="sng" dirty="0">
                <a:ea typeface="新細明體" pitchFamily="18" charset="-120"/>
              </a:rPr>
              <a:t>Ada</a:t>
            </a:r>
            <a:r>
              <a:rPr lang="en-US" altLang="zh-TW" dirty="0">
                <a:ea typeface="新細明體" pitchFamily="18" charset="-120"/>
              </a:rPr>
              <a:t>pts.</a:t>
            </a:r>
          </a:p>
          <a:p>
            <a:pPr algn="ctr">
              <a:defRPr/>
            </a:pPr>
            <a:r>
              <a:rPr lang="en-US" altLang="zh-TW" dirty="0">
                <a:ea typeface="新細明體" pitchFamily="18" charset="-120"/>
              </a:rPr>
              <a:t> The bigger </a:t>
            </a:r>
            <a:r>
              <a:rPr lang="en-US" altLang="zh-TW" dirty="0">
                <a:latin typeface="Symbol" pitchFamily="18" charset="2"/>
                <a:ea typeface="新細明體" pitchFamily="18" charset="-120"/>
              </a:rPr>
              <a:t>e</a:t>
            </a:r>
            <a:r>
              <a:rPr lang="en-US" altLang="zh-TW" baseline="-25000" dirty="0">
                <a:ea typeface="新細明體" pitchFamily="18" charset="-120"/>
              </a:rPr>
              <a:t>t</a:t>
            </a:r>
            <a:r>
              <a:rPr lang="en-US" altLang="zh-TW" dirty="0">
                <a:ea typeface="新細明體" pitchFamily="18" charset="-120"/>
              </a:rPr>
              <a:t> becomes</a:t>
            </a:r>
            <a:r>
              <a:rPr lang="zh-CN" altLang="en-US" dirty="0">
                <a:ea typeface="新細明體" pitchFamily="18" charset="-120"/>
              </a:rPr>
              <a:t>，</a:t>
            </a:r>
            <a:r>
              <a:rPr lang="en-US" altLang="zh-TW" dirty="0">
                <a:ea typeface="新細明體" pitchFamily="18" charset="-120"/>
              </a:rPr>
              <a:t> the smaller </a:t>
            </a:r>
            <a:r>
              <a:rPr lang="en-US" altLang="zh-TW" dirty="0">
                <a:latin typeface="Symbol" pitchFamily="18" charset="2"/>
                <a:ea typeface="新細明體" pitchFamily="18" charset="-120"/>
              </a:rPr>
              <a:t>a</a:t>
            </a:r>
            <a:r>
              <a:rPr lang="en-US" altLang="zh-TW" baseline="-25000" dirty="0">
                <a:ea typeface="新細明體" pitchFamily="18" charset="-120"/>
              </a:rPr>
              <a:t>t</a:t>
            </a:r>
            <a:r>
              <a:rPr lang="en-US" altLang="zh-TW" dirty="0">
                <a:ea typeface="新細明體" pitchFamily="18" charset="-120"/>
              </a:rPr>
              <a:t> becomes.</a:t>
            </a:r>
            <a:endParaRPr lang="en-US" altLang="zh-TW" baseline="-25000" dirty="0">
              <a:ea typeface="新細明體" pitchFamily="18" charset="-120"/>
            </a:endParaRPr>
          </a:p>
        </p:txBody>
      </p:sp>
      <p:sp>
        <p:nvSpPr>
          <p:cNvPr id="12" name="灯片编号占位符 11"/>
          <p:cNvSpPr>
            <a:spLocks noGrp="1"/>
          </p:cNvSpPr>
          <p:nvPr>
            <p:ph type="sldNum" sz="quarter" idx="11"/>
          </p:nvPr>
        </p:nvSpPr>
        <p:spPr/>
        <p:txBody>
          <a:bodyPr/>
          <a:lstStyle/>
          <a:p>
            <a:pPr>
              <a:defRPr/>
            </a:pPr>
            <a:fld id="{31E287EE-1289-4991-82CE-EFE584F53F4F}" type="slidenum">
              <a:rPr lang="en-US" altLang="zh-CN" smtClean="0"/>
              <a:pPr>
                <a:defRPr/>
              </a:pPr>
              <a:t>12</a:t>
            </a:fld>
            <a:endParaRPr lang="en-US" altLang="zh-CN" dirty="0"/>
          </a:p>
        </p:txBody>
      </p:sp>
      <p:graphicFrame>
        <p:nvGraphicFramePr>
          <p:cNvPr id="15" name="Object 9"/>
          <p:cNvGraphicFramePr>
            <a:graphicFrameLocks noChangeAspect="1"/>
          </p:cNvGraphicFramePr>
          <p:nvPr>
            <p:extLst>
              <p:ext uri="{D42A27DB-BD31-4B8C-83A1-F6EECF244321}">
                <p14:modId xmlns:p14="http://schemas.microsoft.com/office/powerpoint/2010/main" val="1382324129"/>
              </p:ext>
            </p:extLst>
          </p:nvPr>
        </p:nvGraphicFramePr>
        <p:xfrm>
          <a:off x="3565225" y="4208284"/>
          <a:ext cx="3913188" cy="842962"/>
        </p:xfrm>
        <a:graphic>
          <a:graphicData uri="http://schemas.openxmlformats.org/presentationml/2006/ole">
            <mc:AlternateContent xmlns:mc="http://schemas.openxmlformats.org/markup-compatibility/2006">
              <mc:Choice xmlns:v="urn:schemas-microsoft-com:vml" Requires="v">
                <p:oleObj spid="_x0000_s172533" name="Equation" r:id="rId8" imgW="2311200" imgH="495000" progId="Equation.DSMT4">
                  <p:embed/>
                </p:oleObj>
              </mc:Choice>
              <mc:Fallback>
                <p:oleObj name="Equation" r:id="rId8" imgW="2311200" imgH="495000" progId="Equation.DSMT4">
                  <p:embed/>
                  <p:pic>
                    <p:nvPicPr>
                      <p:cNvPr id="0" name=""/>
                      <p:cNvPicPr>
                        <a:picLocks noChangeAspect="1" noChangeArrowheads="1"/>
                      </p:cNvPicPr>
                      <p:nvPr/>
                    </p:nvPicPr>
                    <p:blipFill>
                      <a:blip r:embed="rId9"/>
                      <a:srcRect/>
                      <a:stretch>
                        <a:fillRect/>
                      </a:stretch>
                    </p:blipFill>
                    <p:spPr bwMode="auto">
                      <a:xfrm>
                        <a:off x="3565225" y="4208284"/>
                        <a:ext cx="3913188" cy="842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2" name="矩形 1"/>
              <p:cNvSpPr/>
              <p:nvPr/>
            </p:nvSpPr>
            <p:spPr>
              <a:xfrm>
                <a:off x="2873726" y="5028113"/>
                <a:ext cx="2004908" cy="6766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𝐷</m:t>
                          </m:r>
                        </m:e>
                        <m:sub>
                          <m:r>
                            <a:rPr lang="zh-CN" altLang="en-US" i="1">
                              <a:latin typeface="Cambria Math" panose="02040503050406030204" pitchFamily="18" charset="0"/>
                            </a:rPr>
                            <m:t>𝑡</m:t>
                          </m:r>
                          <m:r>
                            <a:rPr lang="zh-CN" altLang="en-US" i="0">
                              <a:latin typeface="Cambria Math" panose="02040503050406030204" pitchFamily="18" charset="0"/>
                            </a:rPr>
                            <m:t>+1</m:t>
                          </m:r>
                        </m:sub>
                      </m:sSub>
                      <m:r>
                        <a:rPr lang="zh-CN" altLang="en-US" i="0">
                          <a:latin typeface="Cambria Math" panose="02040503050406030204" pitchFamily="18" charset="0"/>
                        </a:rPr>
                        <m:t>(</m:t>
                      </m:r>
                      <m:r>
                        <a:rPr lang="zh-CN" altLang="en-US" i="1">
                          <a:latin typeface="Cambria Math" panose="02040503050406030204" pitchFamily="18" charset="0"/>
                        </a:rPr>
                        <m:t>𝑖</m:t>
                      </m:r>
                      <m:r>
                        <a:rPr lang="zh-CN" altLang="en-US" i="0">
                          <a:latin typeface="Cambria Math" panose="02040503050406030204" pitchFamily="18" charset="0"/>
                        </a:rPr>
                        <m:t>)=</m:t>
                      </m:r>
                      <m:f>
                        <m:fPr>
                          <m:ctrlPr>
                            <a:rPr lang="zh-CN" altLang="en-US" i="1">
                              <a:latin typeface="Cambria Math" panose="02040503050406030204" pitchFamily="18" charset="0"/>
                            </a:rPr>
                          </m:ctrlPr>
                        </m:fPr>
                        <m:num>
                          <m:d>
                            <m:dPr>
                              <m:beg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𝐷</m:t>
                                  </m:r>
                                </m:e>
                                <m:sub>
                                  <m:r>
                                    <a:rPr lang="zh-CN" altLang="en-US" i="1">
                                      <a:latin typeface="Cambria Math" panose="02040503050406030204" pitchFamily="18" charset="0"/>
                                    </a:rPr>
                                    <m:t>𝑡</m:t>
                                  </m:r>
                                  <m:r>
                                    <a:rPr lang="en-US" altLang="zh-CN" b="0" i="1" smtClean="0">
                                      <a:latin typeface="Cambria Math" panose="02040503050406030204" pitchFamily="18" charset="0"/>
                                    </a:rPr>
                                    <m:t>+1</m:t>
                                  </m:r>
                                </m:sub>
                              </m:sSub>
                              <m:r>
                                <a:rPr lang="zh-CN" altLang="en-US" i="0">
                                  <a:latin typeface="Cambria Math" panose="02040503050406030204" pitchFamily="18" charset="0"/>
                                </a:rPr>
                                <m:t>(</m:t>
                              </m:r>
                              <m:r>
                                <a:rPr lang="zh-CN" altLang="en-US" i="1">
                                  <a:latin typeface="Cambria Math" panose="02040503050406030204" pitchFamily="18" charset="0"/>
                                </a:rPr>
                                <m:t>𝑖</m:t>
                              </m:r>
                            </m:e>
                          </m:d>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𝑍</m:t>
                              </m:r>
                            </m:e>
                            <m:sub>
                              <m:r>
                                <a:rPr lang="zh-CN" altLang="en-US" i="1">
                                  <a:latin typeface="Cambria Math" panose="02040503050406030204" pitchFamily="18" charset="0"/>
                                </a:rPr>
                                <m:t>𝑡</m:t>
                              </m:r>
                            </m:sub>
                          </m:sSub>
                        </m:den>
                      </m:f>
                    </m:oMath>
                  </m:oMathPara>
                </a14:m>
                <a:endParaRPr lang="zh-CN" altLang="en-US" dirty="0"/>
              </a:p>
            </p:txBody>
          </p:sp>
        </mc:Choice>
        <mc:Fallback xmlns="">
          <p:sp>
            <p:nvSpPr>
              <p:cNvPr id="2" name="矩形 1"/>
              <p:cNvSpPr>
                <a:spLocks noRot="1" noChangeAspect="1" noMove="1" noResize="1" noEditPoints="1" noAdjustHandles="1" noChangeArrowheads="1" noChangeShapeType="1" noTextEdit="1"/>
              </p:cNvSpPr>
              <p:nvPr/>
            </p:nvSpPr>
            <p:spPr>
              <a:xfrm>
                <a:off x="2873726" y="5028113"/>
                <a:ext cx="2004908" cy="676660"/>
              </a:xfrm>
              <a:prstGeom prst="rect">
                <a:avLst/>
              </a:prstGeom>
              <a:blipFill>
                <a:blip r:embed="rId10"/>
                <a:stretch>
                  <a:fillRect/>
                </a:stretch>
              </a:blipFill>
            </p:spPr>
            <p:txBody>
              <a:bodyPr/>
              <a:lstStyle/>
              <a:p>
                <a:r>
                  <a:rPr lang="zh-CN" altLang="en-US">
                    <a:noFill/>
                  </a:rPr>
                  <a:t> </a:t>
                </a:r>
              </a:p>
            </p:txBody>
          </p:sp>
        </mc:Fallback>
      </mc:AlternateContent>
      <p:sp>
        <p:nvSpPr>
          <p:cNvPr id="3" name="矩形 2"/>
          <p:cNvSpPr/>
          <p:nvPr/>
        </p:nvSpPr>
        <p:spPr>
          <a:xfrm>
            <a:off x="473626" y="1207277"/>
            <a:ext cx="1576072" cy="369332"/>
          </a:xfrm>
          <a:prstGeom prst="rect">
            <a:avLst/>
          </a:prstGeom>
        </p:spPr>
        <p:txBody>
          <a:bodyPr wrap="none">
            <a:spAutoFit/>
          </a:bodyPr>
          <a:lstStyle/>
          <a:p>
            <a:pPr latinLnBrk="1">
              <a:spcBef>
                <a:spcPct val="50000"/>
              </a:spcBef>
              <a:defRPr/>
            </a:pPr>
            <a:r>
              <a:rPr lang="en-US" altLang="zh-CN" dirty="0">
                <a:latin typeface="+mn-ea"/>
              </a:rPr>
              <a:t>f</a:t>
            </a:r>
            <a:r>
              <a:rPr lang="en-US" altLang="zh-TW" dirty="0">
                <a:latin typeface="+mn-ea"/>
              </a:rPr>
              <a:t>or t=1,</a:t>
            </a:r>
            <a:r>
              <a:rPr lang="en-US" altLang="zh-CN" dirty="0">
                <a:latin typeface="+mn-ea"/>
              </a:rPr>
              <a:t>……,</a:t>
            </a:r>
            <a:r>
              <a:rPr lang="en-US" altLang="zh-TW" dirty="0">
                <a:latin typeface="+mn-ea"/>
              </a:rPr>
              <a:t>T</a:t>
            </a:r>
          </a:p>
        </p:txBody>
      </p:sp>
      <p:sp>
        <p:nvSpPr>
          <p:cNvPr id="18" name="AutoShape 19"/>
          <p:cNvSpPr>
            <a:spLocks noChangeArrowheads="1"/>
          </p:cNvSpPr>
          <p:nvPr/>
        </p:nvSpPr>
        <p:spPr bwMode="auto">
          <a:xfrm>
            <a:off x="7720487" y="4543924"/>
            <a:ext cx="2350643" cy="410079"/>
          </a:xfrm>
          <a:prstGeom prst="wedgeRoundRectCallout">
            <a:avLst>
              <a:gd name="adj1" fmla="val -59316"/>
              <a:gd name="adj2" fmla="val 30723"/>
              <a:gd name="adj3" fmla="val 16667"/>
            </a:avLst>
          </a:prstGeom>
          <a:ln>
            <a:headEnd/>
            <a:tailEnd/>
          </a:ln>
        </p:spPr>
        <p:style>
          <a:lnRef idx="1">
            <a:schemeClr val="accent1"/>
          </a:lnRef>
          <a:fillRef idx="2">
            <a:schemeClr val="accent1"/>
          </a:fillRef>
          <a:effectRef idx="1">
            <a:schemeClr val="accent1"/>
          </a:effectRef>
          <a:fontRef idx="minor">
            <a:schemeClr val="dk1"/>
          </a:fontRef>
        </p:style>
        <p:txBody>
          <a:bodyPr/>
          <a:lstStyle/>
          <a:p>
            <a:pPr algn="ctr"/>
            <a:r>
              <a:rPr lang="zh-CN" altLang="en-US" dirty="0">
                <a:ea typeface="新細明體" pitchFamily="18" charset="-120"/>
              </a:rPr>
              <a:t>错分样本的权重变大</a:t>
            </a:r>
            <a:endParaRPr lang="en-US" altLang="zh-TW" dirty="0">
              <a:ea typeface="新細明體" pitchFamily="18" charset="-120"/>
            </a:endParaRPr>
          </a:p>
        </p:txBody>
      </p:sp>
      <mc:AlternateContent xmlns:mc="http://schemas.openxmlformats.org/markup-compatibility/2006" xmlns:a14="http://schemas.microsoft.com/office/drawing/2010/main">
        <mc:Choice Requires="a14">
          <p:sp>
            <p:nvSpPr>
              <p:cNvPr id="4" name="矩形 3"/>
              <p:cNvSpPr/>
              <p:nvPr/>
            </p:nvSpPr>
            <p:spPr>
              <a:xfrm>
                <a:off x="10200456" y="4449747"/>
                <a:ext cx="1879427" cy="51918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TW" dirty="0">
                    <a:latin typeface="Symbol" pitchFamily="18" charset="2"/>
                    <a:ea typeface="新細明體" pitchFamily="18" charset="-120"/>
                  </a:rPr>
                  <a:t>e</a:t>
                </a:r>
                <a:r>
                  <a:rPr lang="en-US" altLang="zh-TW" baseline="-25000" dirty="0">
                    <a:ea typeface="新細明體" pitchFamily="18" charset="-120"/>
                  </a:rPr>
                  <a:t>t</a:t>
                </a:r>
                <a:r>
                  <a:rPr lang="en-US" altLang="zh-TW" dirty="0">
                    <a:ea typeface="新細明體" pitchFamily="18" charset="-120"/>
                  </a:rPr>
                  <a:t>&lt;0.5 </a:t>
                </a:r>
                <a14:m>
                  <m:oMath xmlns:m="http://schemas.openxmlformats.org/officeDocument/2006/math">
                    <m:r>
                      <a:rPr lang="en-US" altLang="zh-TW" i="1" dirty="0">
                        <a:latin typeface="Cambria Math" panose="02040503050406030204" pitchFamily="18" charset="0"/>
                      </a:rPr>
                      <m:t>,</m:t>
                    </m:r>
                    <m:r>
                      <a:rPr lang="en-US" altLang="zh-TW" b="0" i="1" dirty="0" smtClean="0">
                        <a:latin typeface="Cambria Math" panose="02040503050406030204" pitchFamily="18" charset="0"/>
                      </a:rPr>
                      <m:t>     </m:t>
                    </m:r>
                    <m:f>
                      <m:fPr>
                        <m:ctrlPr>
                          <a:rPr lang="zh-CN" altLang="en-US" i="1">
                            <a:latin typeface="Cambria Math" panose="02040503050406030204" pitchFamily="18" charset="0"/>
                          </a:rPr>
                        </m:ctrlPr>
                      </m:fPr>
                      <m:num>
                        <m:r>
                          <a:rPr lang="zh-CN" altLang="en-US">
                            <a:latin typeface="Cambria Math" panose="02040503050406030204" pitchFamily="18" charset="0"/>
                          </a:rPr>
                          <m:t>1</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𝜀</m:t>
                            </m:r>
                          </m:e>
                          <m:sub>
                            <m:r>
                              <a:rPr lang="zh-CN" altLang="en-US" i="1">
                                <a:latin typeface="Cambria Math" panose="02040503050406030204" pitchFamily="18" charset="0"/>
                              </a:rPr>
                              <m:t>𝑡</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𝜀</m:t>
                            </m:r>
                          </m:e>
                          <m:sub>
                            <m:r>
                              <a:rPr lang="zh-CN" altLang="en-US" i="1">
                                <a:latin typeface="Cambria Math" panose="02040503050406030204" pitchFamily="18" charset="0"/>
                              </a:rPr>
                              <m:t>𝑡</m:t>
                            </m:r>
                          </m:sub>
                        </m:sSub>
                      </m:den>
                    </m:f>
                  </m:oMath>
                </a14:m>
                <a:r>
                  <a:rPr lang="en-US" altLang="zh-CN" dirty="0"/>
                  <a:t>&gt;1</a:t>
                </a:r>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10200456" y="4449747"/>
                <a:ext cx="1879427" cy="519181"/>
              </a:xfrm>
              <a:prstGeom prst="rect">
                <a:avLst/>
              </a:prstGeom>
              <a:blipFill>
                <a:blip r:embed="rId11"/>
                <a:stretch>
                  <a:fillRect l="-1917"/>
                </a:stretch>
              </a:blipFill>
            </p:spPr>
            <p:txBody>
              <a:bodyPr/>
              <a:lstStyle/>
              <a:p>
                <a:r>
                  <a:rPr lang="zh-CN" altLang="en-US">
                    <a:noFill/>
                  </a:rPr>
                  <a:t> </a:t>
                </a:r>
              </a:p>
            </p:txBody>
          </p:sp>
        </mc:Fallback>
      </mc:AlternateContent>
      <p:sp>
        <p:nvSpPr>
          <p:cNvPr id="5" name="矩形 4"/>
          <p:cNvSpPr/>
          <p:nvPr/>
        </p:nvSpPr>
        <p:spPr>
          <a:xfrm>
            <a:off x="2006646" y="1905307"/>
            <a:ext cx="5782352" cy="369332"/>
          </a:xfrm>
          <a:prstGeom prst="rect">
            <a:avLst/>
          </a:prstGeom>
        </p:spPr>
        <p:txBody>
          <a:bodyPr wrap="none">
            <a:spAutoFit/>
          </a:bodyPr>
          <a:lstStyle/>
          <a:p>
            <a:pPr algn="ctr">
              <a:defRPr/>
            </a:pPr>
            <a:r>
              <a:rPr lang="zh-CN" altLang="en-US" dirty="0">
                <a:ea typeface="新細明體" pitchFamily="18" charset="-120"/>
              </a:rPr>
              <a:t>利用分布</a:t>
            </a:r>
            <a:r>
              <a:rPr lang="en-US" altLang="zh-TW" b="1" i="1" dirty="0">
                <a:latin typeface="Times New Roman" pitchFamily="18" charset="0"/>
                <a:ea typeface="新細明體" pitchFamily="18" charset="-120"/>
              </a:rPr>
              <a:t>D</a:t>
            </a:r>
            <a:r>
              <a:rPr lang="en-US" altLang="zh-TW" b="1" i="1" baseline="-25000" dirty="0">
                <a:latin typeface="Times New Roman" pitchFamily="18" charset="0"/>
                <a:ea typeface="新細明體" pitchFamily="18" charset="-120"/>
              </a:rPr>
              <a:t>t </a:t>
            </a:r>
            <a:r>
              <a:rPr lang="zh-CN" altLang="en-US" dirty="0">
                <a:ea typeface="新細明體" pitchFamily="18" charset="-120"/>
              </a:rPr>
              <a:t>从数据集</a:t>
            </a:r>
            <a:r>
              <a:rPr lang="en-US" altLang="zh-CN" dirty="0">
                <a:ea typeface="新細明體" pitchFamily="18" charset="-120"/>
              </a:rPr>
              <a:t>D</a:t>
            </a:r>
            <a:r>
              <a:rPr lang="zh-CN" altLang="en-US" dirty="0">
                <a:ea typeface="新細明體" pitchFamily="18" charset="-120"/>
              </a:rPr>
              <a:t>中训练分类器</a:t>
            </a:r>
            <a:r>
              <a:rPr lang="en-US" altLang="zh-TW" b="1" i="1" dirty="0" err="1">
                <a:latin typeface="Times New Roman" pitchFamily="18" charset="0"/>
                <a:ea typeface="新細明體" pitchFamily="18" charset="-120"/>
              </a:rPr>
              <a:t>h</a:t>
            </a:r>
            <a:r>
              <a:rPr lang="en-US" altLang="zh-TW" b="1" i="1" baseline="-25000" dirty="0" err="1">
                <a:latin typeface="Times New Roman" pitchFamily="18" charset="0"/>
                <a:ea typeface="新細明體" pitchFamily="18" charset="-120"/>
              </a:rPr>
              <a:t>t</a:t>
            </a:r>
            <a:r>
              <a:rPr lang="en-US" altLang="zh-TW" b="1" i="1" baseline="-25000" dirty="0">
                <a:latin typeface="Times New Roman" pitchFamily="18" charset="0"/>
                <a:ea typeface="新細明體" pitchFamily="18" charset="-120"/>
              </a:rPr>
              <a:t> </a:t>
            </a:r>
            <a:r>
              <a:rPr lang="zh-CN" altLang="en-US" dirty="0">
                <a:ea typeface="新細明體" pitchFamily="18" charset="-120"/>
              </a:rPr>
              <a:t>。计算</a:t>
            </a:r>
            <a:r>
              <a:rPr lang="en-US" altLang="zh-TW" b="1" i="1" dirty="0" err="1">
                <a:latin typeface="Times New Roman" pitchFamily="18" charset="0"/>
                <a:ea typeface="新細明體" pitchFamily="18" charset="-120"/>
              </a:rPr>
              <a:t>h</a:t>
            </a:r>
            <a:r>
              <a:rPr lang="en-US" altLang="zh-TW" b="1" i="1" baseline="-25000" dirty="0" err="1">
                <a:latin typeface="Times New Roman" pitchFamily="18" charset="0"/>
                <a:ea typeface="新細明體" pitchFamily="18" charset="-120"/>
              </a:rPr>
              <a:t>t</a:t>
            </a:r>
            <a:r>
              <a:rPr lang="en-US" altLang="zh-TW" b="1" i="1" baseline="-25000" dirty="0">
                <a:latin typeface="Times New Roman" pitchFamily="18" charset="0"/>
                <a:ea typeface="新細明體" pitchFamily="18" charset="-120"/>
              </a:rPr>
              <a:t> </a:t>
            </a:r>
            <a:r>
              <a:rPr lang="zh-CN" altLang="en-US" dirty="0">
                <a:ea typeface="新細明體" pitchFamily="18" charset="-120"/>
              </a:rPr>
              <a:t>的误差</a:t>
            </a:r>
            <a:r>
              <a:rPr lang="el-GR" altLang="zh-CN" dirty="0"/>
              <a:t>ε</a:t>
            </a:r>
            <a:r>
              <a:rPr lang="en-US" altLang="zh-CN" baseline="-25000" dirty="0"/>
              <a:t>t</a:t>
            </a:r>
            <a:endParaRPr lang="en-US" altLang="zh-TW" baseline="-25000" dirty="0">
              <a:ea typeface="新細明體" pitchFamily="18" charset="-120"/>
            </a:endParaRPr>
          </a:p>
        </p:txBody>
      </p:sp>
      <p:sp>
        <p:nvSpPr>
          <p:cNvPr id="7" name="矩形 6"/>
          <p:cNvSpPr/>
          <p:nvPr/>
        </p:nvSpPr>
        <p:spPr>
          <a:xfrm>
            <a:off x="3558136" y="907231"/>
            <a:ext cx="4903907" cy="507831"/>
          </a:xfrm>
          <a:prstGeom prst="rect">
            <a:avLst/>
          </a:prstGeom>
        </p:spPr>
        <p:txBody>
          <a:bodyPr wrap="none">
            <a:spAutoFit/>
          </a:bodyPr>
          <a:lstStyle/>
          <a:p>
            <a:pPr latinLnBrk="1">
              <a:lnSpc>
                <a:spcPct val="150000"/>
              </a:lnSpc>
              <a:spcBef>
                <a:spcPts val="0"/>
              </a:spcBef>
              <a:defRPr/>
            </a:pPr>
            <a:r>
              <a:rPr lang="zh-CN" altLang="en-US" i="1" dirty="0">
                <a:latin typeface="+mn-ea"/>
              </a:rPr>
              <a:t>输入</a:t>
            </a:r>
            <a:r>
              <a:rPr lang="en-US" altLang="ko-KR" i="1" dirty="0">
                <a:latin typeface="+mn-ea"/>
              </a:rPr>
              <a:t>M</a:t>
            </a:r>
            <a:r>
              <a:rPr lang="zh-CN" altLang="en-US" i="1" dirty="0">
                <a:latin typeface="+mn-ea"/>
              </a:rPr>
              <a:t>个样本，以及基学习算法，训练轮数</a:t>
            </a:r>
            <a:r>
              <a:rPr lang="en-US" altLang="zh-CN" i="1" dirty="0">
                <a:latin typeface="+mn-ea"/>
              </a:rPr>
              <a:t>T</a:t>
            </a:r>
            <a:r>
              <a:rPr lang="zh-CN" altLang="en-US" i="1" dirty="0">
                <a:latin typeface="+mn-ea"/>
              </a:rPr>
              <a:t>。</a:t>
            </a:r>
            <a:endParaRPr lang="en-US" altLang="zh-CN" i="1" dirty="0">
              <a:latin typeface="+mn-ea"/>
            </a:endParaRPr>
          </a:p>
        </p:txBody>
      </p:sp>
      <p:sp>
        <p:nvSpPr>
          <p:cNvPr id="9" name="矩形 8"/>
          <p:cNvSpPr/>
          <p:nvPr/>
        </p:nvSpPr>
        <p:spPr>
          <a:xfrm>
            <a:off x="8256390" y="984671"/>
            <a:ext cx="2544286" cy="369332"/>
          </a:xfrm>
          <a:prstGeom prst="rect">
            <a:avLst/>
          </a:prstGeom>
        </p:spPr>
        <p:txBody>
          <a:bodyPr wrap="none">
            <a:spAutoFit/>
          </a:bodyPr>
          <a:lstStyle/>
          <a:p>
            <a:r>
              <a:rPr lang="zh-CN" altLang="en-US" dirty="0">
                <a:ea typeface="新細明體" pitchFamily="18" charset="-120"/>
              </a:rPr>
              <a:t>初始化样本权值分布</a:t>
            </a:r>
            <a:r>
              <a:rPr lang="en-US" altLang="zh-TW" b="1" i="1" dirty="0">
                <a:latin typeface="Times New Roman" pitchFamily="18" charset="0"/>
                <a:ea typeface="新細明體" pitchFamily="18" charset="-120"/>
              </a:rPr>
              <a:t>D</a:t>
            </a:r>
            <a:r>
              <a:rPr lang="en-US" altLang="zh-TW" b="1" i="1" baseline="-25000" dirty="0">
                <a:latin typeface="Times New Roman" pitchFamily="18" charset="0"/>
                <a:ea typeface="新細明體" pitchFamily="18" charset="-120"/>
              </a:rPr>
              <a:t>1 </a:t>
            </a:r>
            <a:endParaRPr lang="zh-CN" altLang="en-US" dirty="0"/>
          </a:p>
        </p:txBody>
      </p:sp>
      <p:sp>
        <p:nvSpPr>
          <p:cNvPr id="10" name="矩形 9"/>
          <p:cNvSpPr/>
          <p:nvPr/>
        </p:nvSpPr>
        <p:spPr>
          <a:xfrm>
            <a:off x="576047" y="5640573"/>
            <a:ext cx="902811" cy="369332"/>
          </a:xfrm>
          <a:prstGeom prst="rect">
            <a:avLst/>
          </a:prstGeom>
        </p:spPr>
        <p:txBody>
          <a:bodyPr wrap="none">
            <a:spAutoFit/>
          </a:bodyPr>
          <a:lstStyle/>
          <a:p>
            <a:pPr>
              <a:spcBef>
                <a:spcPct val="50000"/>
              </a:spcBef>
              <a:defRPr/>
            </a:pPr>
            <a:r>
              <a:rPr lang="en-US" altLang="zh-CN" dirty="0">
                <a:ea typeface="新細明體" pitchFamily="18" charset="-120"/>
              </a:rPr>
              <a:t>end for</a:t>
            </a:r>
          </a:p>
        </p:txBody>
      </p:sp>
      <p:sp>
        <p:nvSpPr>
          <p:cNvPr id="17" name="矩形 16"/>
          <p:cNvSpPr/>
          <p:nvPr/>
        </p:nvSpPr>
        <p:spPr>
          <a:xfrm>
            <a:off x="554346" y="6083149"/>
            <a:ext cx="2108269" cy="369332"/>
          </a:xfrm>
          <a:prstGeom prst="rect">
            <a:avLst/>
          </a:prstGeom>
        </p:spPr>
        <p:txBody>
          <a:bodyPr wrap="none">
            <a:spAutoFit/>
          </a:bodyPr>
          <a:lstStyle/>
          <a:p>
            <a:pPr>
              <a:spcBef>
                <a:spcPct val="50000"/>
              </a:spcBef>
              <a:defRPr/>
            </a:pPr>
            <a:r>
              <a:rPr lang="zh-CN" altLang="en-US" b="1" dirty="0">
                <a:solidFill>
                  <a:srgbClr val="FF0000"/>
                </a:solidFill>
                <a:latin typeface="+mn-ea"/>
              </a:rPr>
              <a:t>最后得到强分类器</a:t>
            </a:r>
            <a:r>
              <a:rPr lang="en-US" altLang="zh-CN" b="1" dirty="0">
                <a:solidFill>
                  <a:srgbClr val="FF0000"/>
                </a:solidFill>
                <a:latin typeface="+mn-ea"/>
              </a:rPr>
              <a:t>:</a:t>
            </a:r>
          </a:p>
        </p:txBody>
      </p:sp>
      <p:sp>
        <p:nvSpPr>
          <p:cNvPr id="19" name="矩形 18"/>
          <p:cNvSpPr/>
          <p:nvPr/>
        </p:nvSpPr>
        <p:spPr>
          <a:xfrm>
            <a:off x="7170195" y="5028113"/>
            <a:ext cx="417211" cy="369332"/>
          </a:xfrm>
          <a:prstGeom prst="rect">
            <a:avLst/>
          </a:prstGeom>
        </p:spPr>
        <p:txBody>
          <a:bodyPr wrap="square">
            <a:spAutoFit/>
          </a:bodyPr>
          <a:lstStyle/>
          <a:p>
            <a:r>
              <a:rPr lang="en-US" altLang="zh-CN" dirty="0">
                <a:solidFill>
                  <a:srgbClr val="FF0000"/>
                </a:solidFill>
                <a:ea typeface="新細明體" pitchFamily="18" charset="-120"/>
              </a:rPr>
              <a:t>or</a:t>
            </a:r>
            <a:endParaRPr lang="zh-CN" altLang="en-US" dirty="0">
              <a:solidFill>
                <a:srgbClr val="FF0000"/>
              </a:solidFill>
            </a:endParaRPr>
          </a:p>
        </p:txBody>
      </p:sp>
      <p:sp>
        <p:nvSpPr>
          <p:cNvPr id="20" name="下箭头 19"/>
          <p:cNvSpPr/>
          <p:nvPr/>
        </p:nvSpPr>
        <p:spPr>
          <a:xfrm rot="10800000" flipV="1">
            <a:off x="7555552" y="5063585"/>
            <a:ext cx="278018" cy="455471"/>
          </a:xfrm>
          <a:prstGeom prst="downArrow">
            <a:avLst/>
          </a:prstGeom>
        </p:spPr>
        <p:style>
          <a:lnRef idx="1">
            <a:schemeClr val="accent1"/>
          </a:lnRef>
          <a:fillRef idx="2">
            <a:schemeClr val="accent1"/>
          </a:fillRef>
          <a:effectRef idx="1">
            <a:schemeClr val="accent1"/>
          </a:effectRef>
          <a:fontRef idx="minor">
            <a:schemeClr val="dk1"/>
          </a:fontRef>
        </p:style>
        <p:txBody>
          <a:bodyPr wrap="square" rtlCol="0" anchor="ctr">
            <a:spAutoFit/>
          </a:bodyPr>
          <a:lstStyle/>
          <a:p>
            <a:pPr algn="ctr"/>
            <a:endParaRPr lang="zh-CN" altLang="en-US" sz="2400" kern="100" dirty="0">
              <a:ea typeface="宋体"/>
              <a:cs typeface="Times New Roman"/>
            </a:endParaRPr>
          </a:p>
        </p:txBody>
      </p:sp>
      <p:sp>
        <p:nvSpPr>
          <p:cNvPr id="23" name="Rectangle 2"/>
          <p:cNvSpPr txBox="1">
            <a:spLocks noChangeArrowheads="1"/>
          </p:cNvSpPr>
          <p:nvPr/>
        </p:nvSpPr>
        <p:spPr bwMode="black">
          <a:xfrm>
            <a:off x="208256" y="54965"/>
            <a:ext cx="6172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12.2 Boosting</a:t>
            </a:r>
            <a:r>
              <a:rPr lang="zh-CN" altLang="en-US" kern="0" dirty="0"/>
              <a:t>：</a:t>
            </a:r>
            <a:r>
              <a:rPr lang="en-US" altLang="zh-CN" kern="0" dirty="0" err="1"/>
              <a:t>AdaBoost</a:t>
            </a:r>
            <a:endParaRPr lang="en-US" altLang="zh-CN" kern="0" dirty="0"/>
          </a:p>
        </p:txBody>
      </p:sp>
      <p:graphicFrame>
        <p:nvGraphicFramePr>
          <p:cNvPr id="24" name="Object 9"/>
          <p:cNvGraphicFramePr>
            <a:graphicFrameLocks noChangeAspect="1"/>
          </p:cNvGraphicFramePr>
          <p:nvPr>
            <p:extLst>
              <p:ext uri="{D42A27DB-BD31-4B8C-83A1-F6EECF244321}">
                <p14:modId xmlns:p14="http://schemas.microsoft.com/office/powerpoint/2010/main" val="3406883664"/>
              </p:ext>
            </p:extLst>
          </p:nvPr>
        </p:nvGraphicFramePr>
        <p:xfrm>
          <a:off x="7822532" y="5146009"/>
          <a:ext cx="3425756" cy="1041897"/>
        </p:xfrm>
        <a:graphic>
          <a:graphicData uri="http://schemas.openxmlformats.org/presentationml/2006/ole">
            <mc:AlternateContent xmlns:mc="http://schemas.openxmlformats.org/markup-compatibility/2006">
              <mc:Choice xmlns:v="urn:schemas-microsoft-com:vml" Requires="v">
                <p:oleObj spid="_x0000_s172534" name="Equation" r:id="rId12" imgW="2311200" imgH="698400" progId="Equation.DSMT4">
                  <p:embed/>
                </p:oleObj>
              </mc:Choice>
              <mc:Fallback>
                <p:oleObj name="Equation" r:id="rId12" imgW="2311200" imgH="698400" progId="Equation.DSMT4">
                  <p:embed/>
                  <p:pic>
                    <p:nvPicPr>
                      <p:cNvPr id="15" name="Object 9"/>
                      <p:cNvPicPr>
                        <a:picLocks noChangeAspect="1" noChangeArrowheads="1"/>
                      </p:cNvPicPr>
                      <p:nvPr/>
                    </p:nvPicPr>
                    <p:blipFill>
                      <a:blip r:embed="rId13"/>
                      <a:srcRect/>
                      <a:stretch>
                        <a:fillRect/>
                      </a:stretch>
                    </p:blipFill>
                    <p:spPr bwMode="auto">
                      <a:xfrm>
                        <a:off x="7822532" y="5146009"/>
                        <a:ext cx="3425756" cy="1041897"/>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25" name="文字方塊 10"/>
              <p:cNvSpPr txBox="1"/>
              <p:nvPr/>
            </p:nvSpPr>
            <p:spPr>
              <a:xfrm>
                <a:off x="9459189" y="2653385"/>
                <a:ext cx="2460161" cy="4472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𝑑</m:t>
                          </m:r>
                        </m:e>
                        <m:sub>
                          <m:r>
                            <a:rPr lang="en-US" altLang="zh-TW" sz="2400" i="1">
                              <a:latin typeface="Cambria Math" panose="02040503050406030204" pitchFamily="18" charset="0"/>
                              <a:ea typeface="Cambria Math" panose="02040503050406030204" pitchFamily="18" charset="0"/>
                            </a:rPr>
                            <m:t>𝑡</m:t>
                          </m:r>
                        </m:sub>
                      </m:sSub>
                      <m:r>
                        <a:rPr lang="en-US" altLang="zh-TW" sz="2400" b="0" i="1" smtClean="0">
                          <a:latin typeface="Cambria Math" panose="02040503050406030204" pitchFamily="18" charset="0"/>
                        </a:rPr>
                        <m:t>=</m:t>
                      </m:r>
                      <m:rad>
                        <m:radPr>
                          <m:degHide m:val="on"/>
                          <m:ctrlPr>
                            <a:rPr lang="en-US" altLang="zh-TW" sz="2400" b="0" i="1" smtClean="0">
                              <a:latin typeface="Cambria Math" panose="02040503050406030204" pitchFamily="18" charset="0"/>
                            </a:rPr>
                          </m:ctrlPr>
                        </m:radPr>
                        <m:deg/>
                        <m:e>
                          <m:f>
                            <m:fPr>
                              <m:type m:val="lin"/>
                              <m:ctrlPr>
                                <a:rPr lang="en-US" altLang="zh-TW" sz="2400" b="0" i="1" smtClean="0">
                                  <a:latin typeface="Cambria Math" panose="02040503050406030204" pitchFamily="18" charset="0"/>
                                </a:rPr>
                              </m:ctrlPr>
                            </m:fPr>
                            <m:num>
                              <m:d>
                                <m:dPr>
                                  <m:ctrlPr>
                                    <a:rPr lang="en-US" altLang="zh-TW" sz="2400" b="0" i="1" smtClean="0">
                                      <a:latin typeface="Cambria Math" panose="02040503050406030204" pitchFamily="18" charset="0"/>
                                    </a:rPr>
                                  </m:ctrlPr>
                                </m:dPr>
                                <m:e>
                                  <m:r>
                                    <a:rPr lang="en-US" altLang="zh-TW" sz="2400" i="1">
                                      <a:latin typeface="Cambria Math" panose="02040503050406030204" pitchFamily="18" charset="0"/>
                                    </a:rPr>
                                    <m:t>1−</m:t>
                                  </m:r>
                                  <m:sSub>
                                    <m:sSubPr>
                                      <m:ctrlPr>
                                        <a:rPr lang="en-US" altLang="zh-TW" sz="2400" i="1">
                                          <a:latin typeface="Cambria Math" panose="02040503050406030204" pitchFamily="18" charset="0"/>
                                        </a:rPr>
                                      </m:ctrlPr>
                                    </m:sSubPr>
                                    <m:e>
                                      <m:r>
                                        <a:rPr lang="zh-TW" altLang="en-US" sz="2400" i="1">
                                          <a:latin typeface="Cambria Math" panose="02040503050406030204" pitchFamily="18" charset="0"/>
                                        </a:rPr>
                                        <m:t>𝜀</m:t>
                                      </m:r>
                                    </m:e>
                                    <m:sub>
                                      <m:r>
                                        <a:rPr lang="en-US" altLang="zh-TW" sz="2400" i="1">
                                          <a:latin typeface="Cambria Math" panose="02040503050406030204" pitchFamily="18" charset="0"/>
                                        </a:rPr>
                                        <m:t>𝑡</m:t>
                                      </m:r>
                                    </m:sub>
                                  </m:sSub>
                                </m:e>
                              </m:d>
                            </m:num>
                            <m:den>
                              <m:sSub>
                                <m:sSubPr>
                                  <m:ctrlPr>
                                    <a:rPr lang="en-US" altLang="zh-TW" sz="2400" i="1">
                                      <a:latin typeface="Cambria Math" panose="02040503050406030204" pitchFamily="18" charset="0"/>
                                    </a:rPr>
                                  </m:ctrlPr>
                                </m:sSubPr>
                                <m:e>
                                  <m:r>
                                    <a:rPr lang="zh-TW" altLang="en-US" sz="2400" i="1">
                                      <a:latin typeface="Cambria Math" panose="02040503050406030204" pitchFamily="18" charset="0"/>
                                    </a:rPr>
                                    <m:t>𝜀</m:t>
                                  </m:r>
                                </m:e>
                                <m:sub>
                                  <m:r>
                                    <a:rPr lang="en-US" altLang="zh-TW" sz="2400" i="1">
                                      <a:latin typeface="Cambria Math" panose="02040503050406030204" pitchFamily="18" charset="0"/>
                                    </a:rPr>
                                    <m:t>𝑡</m:t>
                                  </m:r>
                                </m:sub>
                              </m:sSub>
                            </m:den>
                          </m:f>
                        </m:e>
                      </m:rad>
                    </m:oMath>
                  </m:oMathPara>
                </a14:m>
                <a:endParaRPr lang="zh-TW" altLang="en-US" sz="2400" dirty="0"/>
              </a:p>
            </p:txBody>
          </p:sp>
        </mc:Choice>
        <mc:Fallback xmlns="">
          <p:sp>
            <p:nvSpPr>
              <p:cNvPr id="25" name="文字方塊 10"/>
              <p:cNvSpPr txBox="1">
                <a:spLocks noRot="1" noChangeAspect="1" noMove="1" noResize="1" noEditPoints="1" noAdjustHandles="1" noChangeArrowheads="1" noChangeShapeType="1" noTextEdit="1"/>
              </p:cNvSpPr>
              <p:nvPr/>
            </p:nvSpPr>
            <p:spPr>
              <a:xfrm>
                <a:off x="9459189" y="2653385"/>
                <a:ext cx="2460161" cy="447238"/>
              </a:xfrm>
              <a:prstGeom prst="rect">
                <a:avLst/>
              </a:prstGeom>
              <a:blipFill>
                <a:blip r:embed="rId14"/>
                <a:stretch>
                  <a:fillRect b="-13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字方塊 11"/>
              <p:cNvSpPr txBox="1"/>
              <p:nvPr/>
            </p:nvSpPr>
            <p:spPr>
              <a:xfrm>
                <a:off x="9474475" y="3190816"/>
                <a:ext cx="2725409" cy="44723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zh-TW" altLang="en-US" sz="2400" i="1">
                              <a:latin typeface="Cambria Math" panose="02040503050406030204" pitchFamily="18" charset="0"/>
                            </a:rPr>
                            <m:t>𝛼</m:t>
                          </m:r>
                        </m:e>
                        <m:sub>
                          <m:r>
                            <a:rPr lang="en-US" altLang="zh-TW" sz="2400" i="1">
                              <a:latin typeface="Cambria Math" panose="02040503050406030204" pitchFamily="18" charset="0"/>
                              <a:ea typeface="Cambria Math" panose="02040503050406030204" pitchFamily="18" charset="0"/>
                            </a:rPr>
                            <m:t>𝑡</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𝑙𝑛</m:t>
                      </m:r>
                      <m:rad>
                        <m:radPr>
                          <m:degHide m:val="on"/>
                          <m:ctrlPr>
                            <a:rPr lang="en-US" altLang="zh-TW" sz="2400" b="0" i="1" smtClean="0">
                              <a:latin typeface="Cambria Math" panose="02040503050406030204" pitchFamily="18" charset="0"/>
                            </a:rPr>
                          </m:ctrlPr>
                        </m:radPr>
                        <m:deg/>
                        <m:e>
                          <m:f>
                            <m:fPr>
                              <m:type m:val="lin"/>
                              <m:ctrlPr>
                                <a:rPr lang="en-US" altLang="zh-TW" sz="2400" b="0" i="1" smtClean="0">
                                  <a:latin typeface="Cambria Math" panose="02040503050406030204" pitchFamily="18" charset="0"/>
                                </a:rPr>
                              </m:ctrlPr>
                            </m:fPr>
                            <m:num>
                              <m:d>
                                <m:dPr>
                                  <m:ctrlPr>
                                    <a:rPr lang="en-US" altLang="zh-TW" sz="2400" b="0" i="1" smtClean="0">
                                      <a:latin typeface="Cambria Math" panose="02040503050406030204" pitchFamily="18" charset="0"/>
                                    </a:rPr>
                                  </m:ctrlPr>
                                </m:dPr>
                                <m:e>
                                  <m:r>
                                    <a:rPr lang="en-US" altLang="zh-TW" sz="2400" i="1">
                                      <a:latin typeface="Cambria Math" panose="02040503050406030204" pitchFamily="18" charset="0"/>
                                    </a:rPr>
                                    <m:t>1−</m:t>
                                  </m:r>
                                  <m:sSub>
                                    <m:sSubPr>
                                      <m:ctrlPr>
                                        <a:rPr lang="en-US" altLang="zh-TW" sz="2400" i="1">
                                          <a:latin typeface="Cambria Math" panose="02040503050406030204" pitchFamily="18" charset="0"/>
                                        </a:rPr>
                                      </m:ctrlPr>
                                    </m:sSubPr>
                                    <m:e>
                                      <m:r>
                                        <a:rPr lang="zh-TW" altLang="en-US" sz="2400" i="1">
                                          <a:latin typeface="Cambria Math" panose="02040503050406030204" pitchFamily="18" charset="0"/>
                                        </a:rPr>
                                        <m:t>𝜀</m:t>
                                      </m:r>
                                    </m:e>
                                    <m:sub>
                                      <m:r>
                                        <a:rPr lang="en-US" altLang="zh-TW" sz="2400" i="1">
                                          <a:latin typeface="Cambria Math" panose="02040503050406030204" pitchFamily="18" charset="0"/>
                                        </a:rPr>
                                        <m:t>𝑡</m:t>
                                      </m:r>
                                    </m:sub>
                                  </m:sSub>
                                </m:e>
                              </m:d>
                            </m:num>
                            <m:den>
                              <m:sSub>
                                <m:sSubPr>
                                  <m:ctrlPr>
                                    <a:rPr lang="en-US" altLang="zh-TW" sz="2400" i="1">
                                      <a:latin typeface="Cambria Math" panose="02040503050406030204" pitchFamily="18" charset="0"/>
                                    </a:rPr>
                                  </m:ctrlPr>
                                </m:sSubPr>
                                <m:e>
                                  <m:r>
                                    <a:rPr lang="zh-TW" altLang="en-US" sz="2400" i="1">
                                      <a:latin typeface="Cambria Math" panose="02040503050406030204" pitchFamily="18" charset="0"/>
                                    </a:rPr>
                                    <m:t>𝜀</m:t>
                                  </m:r>
                                </m:e>
                                <m:sub>
                                  <m:r>
                                    <a:rPr lang="en-US" altLang="zh-TW" sz="2400" i="1">
                                      <a:latin typeface="Cambria Math" panose="02040503050406030204" pitchFamily="18" charset="0"/>
                                    </a:rPr>
                                    <m:t>𝑡</m:t>
                                  </m:r>
                                </m:sub>
                              </m:sSub>
                            </m:den>
                          </m:f>
                        </m:e>
                      </m:rad>
                    </m:oMath>
                  </m:oMathPara>
                </a14:m>
                <a:endParaRPr lang="zh-TW" altLang="en-US" sz="2400" dirty="0"/>
              </a:p>
            </p:txBody>
          </p:sp>
        </mc:Choice>
        <mc:Fallback xmlns="">
          <p:sp>
            <p:nvSpPr>
              <p:cNvPr id="26" name="文字方塊 11"/>
              <p:cNvSpPr txBox="1">
                <a:spLocks noRot="1" noChangeAspect="1" noMove="1" noResize="1" noEditPoints="1" noAdjustHandles="1" noChangeArrowheads="1" noChangeShapeType="1" noTextEdit="1"/>
              </p:cNvSpPr>
              <p:nvPr/>
            </p:nvSpPr>
            <p:spPr>
              <a:xfrm>
                <a:off x="9474475" y="3190816"/>
                <a:ext cx="2725409" cy="447238"/>
              </a:xfrm>
              <a:prstGeom prst="rect">
                <a:avLst/>
              </a:prstGeom>
              <a:blipFill>
                <a:blip r:embed="rId15"/>
                <a:stretch>
                  <a:fillRect b="-13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矩形 27"/>
              <p:cNvSpPr/>
              <p:nvPr/>
            </p:nvSpPr>
            <p:spPr>
              <a:xfrm>
                <a:off x="2611325" y="5763643"/>
                <a:ext cx="2967736" cy="9840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rPr>
                        <m:t>𝐻</m:t>
                      </m:r>
                      <m:d>
                        <m:dPr>
                          <m:ctrlPr>
                            <a:rPr lang="en-US" altLang="zh-TW" i="1">
                              <a:latin typeface="Cambria Math" panose="02040503050406030204" pitchFamily="18" charset="0"/>
                            </a:rPr>
                          </m:ctrlPr>
                        </m:dPr>
                        <m:e>
                          <m:r>
                            <a:rPr lang="en-US" altLang="zh-TW" i="1">
                              <a:latin typeface="Cambria Math" panose="02040503050406030204" pitchFamily="18" charset="0"/>
                            </a:rPr>
                            <m:t>𝑥</m:t>
                          </m:r>
                        </m:e>
                      </m:d>
                      <m:r>
                        <a:rPr lang="en-US" altLang="zh-TW" i="1">
                          <a:latin typeface="Cambria Math" panose="02040503050406030204" pitchFamily="18" charset="0"/>
                        </a:rPr>
                        <m:t>=</m:t>
                      </m:r>
                      <m:r>
                        <a:rPr lang="en-US" altLang="zh-TW" i="1">
                          <a:latin typeface="Cambria Math" panose="02040503050406030204" pitchFamily="18" charset="0"/>
                        </a:rPr>
                        <m:t>𝑠𝑖𝑔𝑛</m:t>
                      </m:r>
                      <m:d>
                        <m:dPr>
                          <m:ctrlPr>
                            <a:rPr lang="en-US" altLang="zh-TW" i="1">
                              <a:latin typeface="Cambria Math" panose="02040503050406030204" pitchFamily="18" charset="0"/>
                            </a:rPr>
                          </m:ctrlPr>
                        </m:dPr>
                        <m:e>
                          <m:nary>
                            <m:naryPr>
                              <m:chr m:val="∑"/>
                              <m:ctrlPr>
                                <a:rPr lang="en-US" altLang="zh-TW" i="1">
                                  <a:latin typeface="Cambria Math" panose="02040503050406030204" pitchFamily="18" charset="0"/>
                                </a:rPr>
                              </m:ctrlPr>
                            </m:naryPr>
                            <m:sub>
                              <m:r>
                                <m:rPr>
                                  <m:brk m:alnAt="23"/>
                                </m:rPr>
                                <a:rPr lang="en-US" altLang="zh-TW" i="1">
                                  <a:latin typeface="Cambria Math" panose="02040503050406030204" pitchFamily="18" charset="0"/>
                                </a:rPr>
                                <m:t>𝑡</m:t>
                              </m:r>
                              <m:r>
                                <a:rPr lang="en-US" altLang="zh-TW" i="1">
                                  <a:latin typeface="Cambria Math" panose="02040503050406030204" pitchFamily="18" charset="0"/>
                                </a:rPr>
                                <m:t>=1</m:t>
                              </m:r>
                            </m:sub>
                            <m:sup>
                              <m:r>
                                <a:rPr lang="en-US" altLang="zh-TW" i="1">
                                  <a:latin typeface="Cambria Math" panose="02040503050406030204" pitchFamily="18" charset="0"/>
                                </a:rPr>
                                <m:t>𝑇</m:t>
                              </m:r>
                            </m:sup>
                            <m:e>
                              <m:sSub>
                                <m:sSubPr>
                                  <m:ctrlPr>
                                    <a:rPr lang="en-US" altLang="zh-TW" i="1">
                                      <a:latin typeface="Cambria Math" panose="02040503050406030204" pitchFamily="18" charset="0"/>
                                    </a:rPr>
                                  </m:ctrlPr>
                                </m:sSubPr>
                                <m:e>
                                  <m:r>
                                    <a:rPr lang="zh-TW" altLang="en-US" i="1">
                                      <a:latin typeface="Cambria Math" panose="02040503050406030204" pitchFamily="18" charset="0"/>
                                    </a:rPr>
                                    <m:t>𝛼</m:t>
                                  </m:r>
                                </m:e>
                                <m:sub>
                                  <m:r>
                                    <a:rPr lang="en-US" altLang="zh-TW" i="1">
                                      <a:latin typeface="Cambria Math" panose="02040503050406030204" pitchFamily="18" charset="0"/>
                                    </a:rPr>
                                    <m:t>𝑡</m:t>
                                  </m:r>
                                </m:sub>
                              </m:sSub>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h</m:t>
                                  </m:r>
                                </m:e>
                                <m:sub>
                                  <m:r>
                                    <a:rPr lang="en-US" altLang="zh-TW" i="1">
                                      <a:latin typeface="Cambria Math" panose="02040503050406030204" pitchFamily="18" charset="0"/>
                                    </a:rPr>
                                    <m:t>𝑡</m:t>
                                  </m:r>
                                </m:sub>
                              </m:sSub>
                              <m:d>
                                <m:dPr>
                                  <m:ctrlPr>
                                    <a:rPr lang="en-US" altLang="zh-TW" i="1">
                                      <a:latin typeface="Cambria Math" panose="02040503050406030204" pitchFamily="18" charset="0"/>
                                    </a:rPr>
                                  </m:ctrlPr>
                                </m:dPr>
                                <m:e>
                                  <m:r>
                                    <a:rPr lang="en-US" altLang="zh-TW" i="1">
                                      <a:latin typeface="Cambria Math" panose="02040503050406030204" pitchFamily="18" charset="0"/>
                                    </a:rPr>
                                    <m:t>𝑥</m:t>
                                  </m:r>
                                </m:e>
                              </m:d>
                            </m:e>
                          </m:nary>
                        </m:e>
                      </m:d>
                    </m:oMath>
                  </m:oMathPara>
                </a14:m>
                <a:endParaRPr lang="zh-TW" altLang="en-US" dirty="0"/>
              </a:p>
            </p:txBody>
          </p:sp>
        </mc:Choice>
        <mc:Fallback xmlns="">
          <p:sp>
            <p:nvSpPr>
              <p:cNvPr id="28" name="矩形 27"/>
              <p:cNvSpPr>
                <a:spLocks noRot="1" noChangeAspect="1" noMove="1" noResize="1" noEditPoints="1" noAdjustHandles="1" noChangeArrowheads="1" noChangeShapeType="1" noTextEdit="1"/>
              </p:cNvSpPr>
              <p:nvPr/>
            </p:nvSpPr>
            <p:spPr>
              <a:xfrm>
                <a:off x="2611325" y="5763643"/>
                <a:ext cx="2967736" cy="984052"/>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字方塊 4"/>
              <p:cNvSpPr txBox="1"/>
              <p:nvPr/>
            </p:nvSpPr>
            <p:spPr>
              <a:xfrm>
                <a:off x="4838289" y="5245071"/>
                <a:ext cx="2088136" cy="5974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a:rPr lang="zh-CN" altLang="en-US" sz="1600" i="1">
                              <a:latin typeface="Cambria Math" panose="02040503050406030204" pitchFamily="18" charset="0"/>
                            </a:rPr>
                            <m:t>其中</m:t>
                          </m:r>
                          <m:r>
                            <a:rPr lang="zh-CN" altLang="en-US" sz="1600" i="1" smtClean="0">
                              <a:latin typeface="Cambria Math" panose="02040503050406030204" pitchFamily="18" charset="0"/>
                            </a:rPr>
                            <m:t>，</m:t>
                          </m:r>
                          <m:r>
                            <a:rPr lang="en-US" altLang="zh-TW" sz="1600" b="0" i="1" smtClean="0">
                              <a:latin typeface="Cambria Math" panose="02040503050406030204" pitchFamily="18" charset="0"/>
                            </a:rPr>
                            <m:t>𝑍</m:t>
                          </m:r>
                        </m:e>
                        <m:sub>
                          <m:r>
                            <a:rPr lang="en-US" altLang="zh-TW" sz="1600" b="0" i="1" smtClean="0">
                              <a:latin typeface="Cambria Math" panose="02040503050406030204" pitchFamily="18" charset="0"/>
                            </a:rPr>
                            <m:t>𝑡</m:t>
                          </m:r>
                        </m:sub>
                      </m:sSub>
                      <m:r>
                        <a:rPr lang="en-US" altLang="zh-TW" sz="1600" b="0" i="1" smtClean="0">
                          <a:latin typeface="Cambria Math" panose="02040503050406030204" pitchFamily="18" charset="0"/>
                        </a:rPr>
                        <m:t>=</m:t>
                      </m:r>
                      <m:nary>
                        <m:naryPr>
                          <m:chr m:val="∑"/>
                          <m:supHide m:val="on"/>
                          <m:ctrlPr>
                            <a:rPr lang="en-US" altLang="zh-TW" sz="1600" b="0" i="1" smtClean="0">
                              <a:latin typeface="Cambria Math" panose="02040503050406030204" pitchFamily="18" charset="0"/>
                            </a:rPr>
                          </m:ctrlPr>
                        </m:naryPr>
                        <m:sub>
                          <m:r>
                            <m:rPr>
                              <m:brk m:alnAt="7"/>
                            </m:rPr>
                            <a:rPr lang="en-US" altLang="zh-TW" sz="1600" b="0" i="1" smtClean="0">
                              <a:latin typeface="Cambria Math" panose="02040503050406030204" pitchFamily="18" charset="0"/>
                            </a:rPr>
                            <m:t>𝑖</m:t>
                          </m:r>
                        </m:sub>
                        <m:sup/>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𝐷</m:t>
                              </m:r>
                            </m:e>
                            <m:sub>
                              <m:r>
                                <a:rPr lang="zh-CN" altLang="en-US" sz="1600" i="1">
                                  <a:latin typeface="Cambria Math" panose="02040503050406030204" pitchFamily="18" charset="0"/>
                                </a:rPr>
                                <m:t>𝑡</m:t>
                              </m:r>
                              <m:r>
                                <a:rPr lang="en-US" altLang="zh-CN" sz="1600" i="1">
                                  <a:latin typeface="Cambria Math" panose="02040503050406030204" pitchFamily="18" charset="0"/>
                                </a:rPr>
                                <m:t>+1</m:t>
                              </m:r>
                            </m:sub>
                          </m:sSub>
                          <m:r>
                            <a:rPr lang="zh-CN" altLang="en-US" sz="1600">
                              <a:latin typeface="Cambria Math" panose="02040503050406030204" pitchFamily="18" charset="0"/>
                            </a:rPr>
                            <m:t>(</m:t>
                          </m:r>
                          <m:r>
                            <a:rPr lang="zh-CN" altLang="en-US" sz="1600" i="1">
                              <a:latin typeface="Cambria Math" panose="02040503050406030204" pitchFamily="18" charset="0"/>
                            </a:rPr>
                            <m:t>𝑖</m:t>
                          </m:r>
                          <m:r>
                            <a:rPr lang="en-US" altLang="zh-CN" sz="1600" b="0" i="1" smtClean="0">
                              <a:latin typeface="Cambria Math" panose="02040503050406030204" pitchFamily="18" charset="0"/>
                            </a:rPr>
                            <m:t>)</m:t>
                          </m:r>
                        </m:e>
                      </m:nary>
                    </m:oMath>
                  </m:oMathPara>
                </a14:m>
                <a:endParaRPr lang="zh-TW" altLang="en-US" sz="1600" dirty="0"/>
              </a:p>
            </p:txBody>
          </p:sp>
        </mc:Choice>
        <mc:Fallback xmlns="">
          <p:sp>
            <p:nvSpPr>
              <p:cNvPr id="29" name="文字方塊 4"/>
              <p:cNvSpPr txBox="1">
                <a:spLocks noRot="1" noChangeAspect="1" noMove="1" noResize="1" noEditPoints="1" noAdjustHandles="1" noChangeArrowheads="1" noChangeShapeType="1" noTextEdit="1"/>
              </p:cNvSpPr>
              <p:nvPr/>
            </p:nvSpPr>
            <p:spPr>
              <a:xfrm>
                <a:off x="4838289" y="5245071"/>
                <a:ext cx="2088136" cy="597471"/>
              </a:xfrm>
              <a:prstGeom prst="rect">
                <a:avLst/>
              </a:prstGeom>
              <a:blipFill>
                <a:blip r:embed="rId17"/>
                <a:stretch>
                  <a:fillRect/>
                </a:stretch>
              </a:blipFill>
            </p:spPr>
            <p:txBody>
              <a:bodyPr/>
              <a:lstStyle/>
              <a:p>
                <a:r>
                  <a:rPr lang="zh-CN" altLang="en-US">
                    <a:noFill/>
                  </a:rPr>
                  <a:t> </a:t>
                </a:r>
              </a:p>
            </p:txBody>
          </p:sp>
        </mc:Fallback>
      </mc:AlternateContent>
      <p:sp>
        <p:nvSpPr>
          <p:cNvPr id="30" name="矩形 29"/>
          <p:cNvSpPr/>
          <p:nvPr/>
        </p:nvSpPr>
        <p:spPr>
          <a:xfrm>
            <a:off x="6337437" y="6129832"/>
            <a:ext cx="5854563" cy="729430"/>
          </a:xfrm>
          <a:prstGeom prst="rect">
            <a:avLst/>
          </a:prstGeom>
          <a:solidFill>
            <a:srgbClr val="FFFF00"/>
          </a:solidFill>
        </p:spPr>
        <p:txBody>
          <a:bodyPr wrap="square">
            <a:spAutoFit/>
          </a:bodyPr>
          <a:lstStyle/>
          <a:p>
            <a:pPr lvl="0" eaLnBrk="0" hangingPunct="0">
              <a:spcBef>
                <a:spcPct val="30000"/>
              </a:spcBef>
              <a:defRPr/>
            </a:pPr>
            <a:r>
              <a:rPr lang="zh-CN" altLang="en-US" dirty="0">
                <a:ea typeface="新細明體" pitchFamily="18" charset="-120"/>
              </a:rPr>
              <a:t>终止条件：</a:t>
            </a:r>
            <a:r>
              <a:rPr lang="en-US" altLang="zh-CN" dirty="0">
                <a:ea typeface="新細明體" pitchFamily="18" charset="-120"/>
              </a:rPr>
              <a:t>1</a:t>
            </a:r>
            <a:r>
              <a:rPr lang="zh-CN" altLang="en-US" dirty="0">
                <a:ea typeface="新細明體" pitchFamily="18" charset="-120"/>
              </a:rPr>
              <a:t>、组合分类器</a:t>
            </a:r>
            <a:r>
              <a:rPr lang="en-US" altLang="zh-CN" dirty="0">
                <a:ea typeface="新細明體" pitchFamily="18" charset="-120"/>
              </a:rPr>
              <a:t>H(x)</a:t>
            </a:r>
            <a:r>
              <a:rPr lang="zh-CN" altLang="en-US" dirty="0">
                <a:ea typeface="新細明體" pitchFamily="18" charset="-120"/>
              </a:rPr>
              <a:t>在训练集上无错分样本；</a:t>
            </a:r>
            <a:endParaRPr lang="en-US" altLang="zh-CN" dirty="0">
              <a:ea typeface="新細明體" pitchFamily="18" charset="-120"/>
            </a:endParaRPr>
          </a:p>
          <a:p>
            <a:pPr lvl="0" eaLnBrk="0" hangingPunct="0">
              <a:spcBef>
                <a:spcPct val="30000"/>
              </a:spcBef>
              <a:defRPr/>
            </a:pPr>
            <a:r>
              <a:rPr lang="en-US" altLang="zh-CN" dirty="0">
                <a:ea typeface="新細明體" pitchFamily="18" charset="-120"/>
              </a:rPr>
              <a:t>                  2</a:t>
            </a:r>
            <a:r>
              <a:rPr lang="zh-CN" altLang="en-US" dirty="0">
                <a:ea typeface="新細明體" pitchFamily="18" charset="-120"/>
              </a:rPr>
              <a:t>、达到学习轮数</a:t>
            </a:r>
            <a:endParaRPr lang="en-US" altLang="zh-CN" dirty="0">
              <a:ea typeface="新細明體" pitchFamily="18" charset="-120"/>
            </a:endParaRPr>
          </a:p>
        </p:txBody>
      </p:sp>
    </p:spTree>
    <p:extLst>
      <p:ext uri="{BB962C8B-B14F-4D97-AF65-F5344CB8AC3E}">
        <p14:creationId xmlns:p14="http://schemas.microsoft.com/office/powerpoint/2010/main" val="344689344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13</a:t>
            </a:fld>
            <a:endParaRPr lang="en-US" altLang="zh-CN" dirty="0"/>
          </a:p>
        </p:txBody>
      </p:sp>
      <p:pic>
        <p:nvPicPr>
          <p:cNvPr id="166914" name="Picture 2" descr="E:\新建文件夹\集成学习\7acb0a46f21fbe0924d21d0060600c338744ad12.jpg"/>
          <p:cNvPicPr>
            <a:picLocks noChangeAspect="1" noChangeArrowheads="1"/>
          </p:cNvPicPr>
          <p:nvPr/>
        </p:nvPicPr>
        <p:blipFill>
          <a:blip r:embed="rId2" cstate="print"/>
          <a:srcRect/>
          <a:stretch>
            <a:fillRect/>
          </a:stretch>
        </p:blipFill>
        <p:spPr bwMode="auto">
          <a:xfrm>
            <a:off x="2855641" y="616715"/>
            <a:ext cx="6840223" cy="6416127"/>
          </a:xfrm>
          <a:prstGeom prst="rect">
            <a:avLst/>
          </a:prstGeom>
          <a:noFill/>
        </p:spPr>
      </p:pic>
      <p:sp>
        <p:nvSpPr>
          <p:cNvPr id="6" name="Rectangle 2"/>
          <p:cNvSpPr>
            <a:spLocks noGrp="1" noChangeArrowheads="1"/>
          </p:cNvSpPr>
          <p:nvPr>
            <p:ph type="title"/>
          </p:nvPr>
        </p:nvSpPr>
        <p:spPr>
          <a:xfrm>
            <a:off x="479376" y="53152"/>
            <a:ext cx="6172200" cy="563563"/>
          </a:xfrm>
        </p:spPr>
        <p:txBody>
          <a:bodyPr/>
          <a:lstStyle/>
          <a:p>
            <a:r>
              <a:rPr lang="en-US" altLang="zh-CN" dirty="0"/>
              <a:t>12.2 Boosting</a:t>
            </a:r>
            <a:r>
              <a:rPr lang="zh-CN" altLang="en-US" dirty="0"/>
              <a:t>：</a:t>
            </a:r>
            <a:r>
              <a:rPr lang="en-US" altLang="zh-CN" dirty="0" err="1"/>
              <a:t>AdaBoost</a:t>
            </a:r>
            <a:endParaRPr lang="en-US"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524000" y="1124745"/>
            <a:ext cx="8532440" cy="5870089"/>
          </a:xfrm>
        </p:spPr>
        <p:txBody>
          <a:bodyPr/>
          <a:lstStyle/>
          <a:p>
            <a:pPr marL="0" indent="0">
              <a:buNone/>
            </a:pPr>
            <a:r>
              <a:rPr lang="en-US" altLang="zh-CN" sz="2400" b="1" dirty="0" err="1"/>
              <a:t>AdaBoost</a:t>
            </a:r>
            <a:r>
              <a:rPr lang="zh-CN" altLang="en-US" sz="2400" b="1" dirty="0"/>
              <a:t>的特点</a:t>
            </a:r>
            <a:endParaRPr lang="en-US" altLang="zh-CN" sz="2400" b="1" dirty="0"/>
          </a:p>
          <a:p>
            <a:pPr marL="400041" lvl="1" indent="0">
              <a:buNone/>
            </a:pPr>
            <a:r>
              <a:rPr lang="en-US" altLang="zh-CN" sz="2000" b="1" dirty="0"/>
              <a:t>1</a:t>
            </a:r>
            <a:r>
              <a:rPr lang="zh-CN" altLang="en-US" sz="2000" b="1" dirty="0"/>
              <a:t>）每次迭代改变的是样本的分布（</a:t>
            </a:r>
            <a:r>
              <a:rPr lang="en-US" altLang="zh-CN" sz="2000" b="1" dirty="0"/>
              <a:t>re-weight)</a:t>
            </a:r>
            <a:r>
              <a:rPr lang="zh-CN" altLang="en-US" sz="2000" b="1" dirty="0"/>
              <a:t>，而不是重复采样</a:t>
            </a:r>
            <a:endParaRPr lang="en-US" altLang="zh-CN" sz="2000" b="1" dirty="0"/>
          </a:p>
          <a:p>
            <a:pPr marL="400041" lvl="1" indent="0">
              <a:buNone/>
            </a:pPr>
            <a:r>
              <a:rPr lang="en-US" altLang="zh-CN" sz="2000" b="1" dirty="0"/>
              <a:t>2</a:t>
            </a:r>
            <a:r>
              <a:rPr lang="zh-CN" altLang="en-US" sz="2000" b="1" dirty="0"/>
              <a:t>）样本分布的改变取决于样本是否被正确分类</a:t>
            </a:r>
          </a:p>
          <a:p>
            <a:pPr marL="400041" lvl="1" indent="0">
              <a:buNone/>
            </a:pPr>
            <a:r>
              <a:rPr lang="zh-CN" altLang="en-US" sz="2000" b="1" dirty="0"/>
              <a:t>      总是分类正确的样本权值低，分类错误的样本权值高</a:t>
            </a:r>
            <a:r>
              <a:rPr lang="en-US" altLang="zh-CN" sz="2000" b="1" dirty="0"/>
              <a:t>(</a:t>
            </a:r>
            <a:r>
              <a:rPr lang="zh-CN" altLang="en-US" sz="2000" b="1" dirty="0"/>
              <a:t>通常是边界附近的样本</a:t>
            </a:r>
            <a:r>
              <a:rPr lang="en-US" altLang="zh-CN" sz="2000" b="1" dirty="0"/>
              <a:t>)</a:t>
            </a:r>
            <a:endParaRPr lang="zh-CN" altLang="en-US" sz="2000" b="1" dirty="0"/>
          </a:p>
          <a:p>
            <a:pPr marL="400041" lvl="1" indent="0">
              <a:buNone/>
            </a:pPr>
            <a:r>
              <a:rPr lang="en-US" altLang="zh-CN" sz="2000" b="1" dirty="0"/>
              <a:t>3</a:t>
            </a:r>
            <a:r>
              <a:rPr lang="zh-CN" altLang="en-US" sz="2000" b="1" dirty="0"/>
              <a:t>）最终的结果是弱分类器的加权组合</a:t>
            </a:r>
          </a:p>
          <a:p>
            <a:pPr marL="400041" lvl="1" indent="0">
              <a:buNone/>
            </a:pPr>
            <a:r>
              <a:rPr lang="zh-CN" altLang="en-US" sz="2000" b="1" dirty="0"/>
              <a:t>      权值表示该弱分类器的性能</a:t>
            </a:r>
          </a:p>
          <a:p>
            <a:pPr marL="0" indent="0">
              <a:buNone/>
            </a:pPr>
            <a:r>
              <a:rPr lang="en-US" altLang="zh-CN" sz="2400" b="1" dirty="0" err="1"/>
              <a:t>AdaBoost</a:t>
            </a:r>
            <a:r>
              <a:rPr lang="zh-CN" altLang="en-US" sz="2400" b="1" dirty="0"/>
              <a:t>的优点</a:t>
            </a:r>
            <a:r>
              <a:rPr lang="en-US" altLang="zh-CN" sz="2400" b="1" dirty="0"/>
              <a:t>:</a:t>
            </a:r>
          </a:p>
          <a:p>
            <a:pPr marL="400041" lvl="1" indent="0">
              <a:buNone/>
            </a:pPr>
            <a:r>
              <a:rPr lang="en-US" altLang="zh-CN" sz="2000" b="1" dirty="0"/>
              <a:t>1)</a:t>
            </a:r>
            <a:r>
              <a:rPr lang="en-US" altLang="zh-CN" sz="2000" b="1" dirty="0" err="1"/>
              <a:t>adaboost</a:t>
            </a:r>
            <a:r>
              <a:rPr lang="zh-CN" altLang="en-US" sz="2000" b="1" dirty="0"/>
              <a:t>是一种有很高精度的分类器</a:t>
            </a:r>
          </a:p>
          <a:p>
            <a:pPr marL="400041" lvl="1" indent="0">
              <a:buNone/>
            </a:pPr>
            <a:r>
              <a:rPr lang="en-US" altLang="zh-CN" sz="2000" b="1" dirty="0"/>
              <a:t>2)</a:t>
            </a:r>
            <a:r>
              <a:rPr lang="zh-CN" altLang="en-US" sz="2000" b="1" dirty="0"/>
              <a:t>可以使用各种方法构建子分类器，</a:t>
            </a:r>
            <a:r>
              <a:rPr lang="en-US" altLang="zh-CN" sz="2000" b="1" dirty="0" err="1"/>
              <a:t>adaboost</a:t>
            </a:r>
            <a:r>
              <a:rPr lang="zh-CN" altLang="en-US" sz="2000" b="1" dirty="0"/>
              <a:t>算法提供的是框架</a:t>
            </a:r>
          </a:p>
          <a:p>
            <a:pPr marL="400041" lvl="1" indent="0">
              <a:buNone/>
            </a:pPr>
            <a:r>
              <a:rPr lang="en-US" altLang="zh-CN" sz="2000" b="1" dirty="0"/>
              <a:t>3)</a:t>
            </a:r>
            <a:r>
              <a:rPr lang="zh-CN" altLang="en-US" sz="2000" b="1" dirty="0"/>
              <a:t>当使用简单分类器时，计算出的结果是可以理解的。而且弱分类器构造极其简单</a:t>
            </a:r>
          </a:p>
          <a:p>
            <a:pPr marL="400041" lvl="1" indent="0">
              <a:buNone/>
            </a:pPr>
            <a:r>
              <a:rPr lang="en-US" altLang="zh-CN" sz="2000" b="1" dirty="0"/>
              <a:t>4)</a:t>
            </a:r>
            <a:r>
              <a:rPr lang="zh-CN" altLang="en-US" sz="2000" b="1" dirty="0"/>
              <a:t>简单，不用做特征筛选</a:t>
            </a:r>
          </a:p>
          <a:p>
            <a:endParaRPr lang="zh-CN" altLang="en-US" sz="2400" b="1"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14</a:t>
            </a:fld>
            <a:endParaRPr lang="en-US" altLang="zh-CN" dirty="0"/>
          </a:p>
        </p:txBody>
      </p:sp>
      <p:sp>
        <p:nvSpPr>
          <p:cNvPr id="6" name="Rectangle 2"/>
          <p:cNvSpPr txBox="1">
            <a:spLocks noChangeArrowheads="1"/>
          </p:cNvSpPr>
          <p:nvPr/>
        </p:nvSpPr>
        <p:spPr bwMode="black">
          <a:xfrm>
            <a:off x="1553050" y="44625"/>
            <a:ext cx="6172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12.2 Boosting</a:t>
            </a:r>
            <a:r>
              <a:rPr lang="zh-CN" altLang="en-US" kern="0" dirty="0"/>
              <a:t>：</a:t>
            </a:r>
            <a:r>
              <a:rPr lang="en-US" altLang="zh-CN" kern="0" dirty="0" err="1"/>
              <a:t>AdaBoost</a:t>
            </a:r>
            <a:endParaRPr lang="en-US" altLang="zh-CN" kern="0" dirty="0"/>
          </a:p>
        </p:txBody>
      </p:sp>
    </p:spTree>
    <p:extLst>
      <p:ext uri="{BB962C8B-B14F-4D97-AF65-F5344CB8AC3E}">
        <p14:creationId xmlns:p14="http://schemas.microsoft.com/office/powerpoint/2010/main" val="3866174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61"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57756" y="997441"/>
            <a:ext cx="4682055"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58" name="Rectangle 2"/>
          <p:cNvSpPr>
            <a:spLocks noGrp="1" noChangeArrowheads="1"/>
          </p:cNvSpPr>
          <p:nvPr>
            <p:ph type="title"/>
          </p:nvPr>
        </p:nvSpPr>
        <p:spPr>
          <a:xfrm>
            <a:off x="1847532" y="-99392"/>
            <a:ext cx="7793037" cy="1143000"/>
          </a:xfrm>
        </p:spPr>
        <p:txBody>
          <a:bodyPr/>
          <a:lstStyle/>
          <a:p>
            <a:pPr eaLnBrk="1" hangingPunct="1"/>
            <a:r>
              <a:rPr lang="zh-CN" altLang="en-US" b="1" dirty="0">
                <a:solidFill>
                  <a:srgbClr val="303030"/>
                </a:solidFill>
                <a:sym typeface="Arial" panose="020B0604020202020204" pitchFamily="34" charset="0"/>
              </a:rPr>
              <a:t> Adaboost 实例详解</a:t>
            </a:r>
            <a:endParaRPr lang="en-US" altLang="zh-CN" dirty="0"/>
          </a:p>
        </p:txBody>
      </p:sp>
      <p:sp>
        <p:nvSpPr>
          <p:cNvPr id="19459" name="TextBox 2"/>
          <p:cNvSpPr txBox="1">
            <a:spLocks noChangeArrowheads="1"/>
          </p:cNvSpPr>
          <p:nvPr/>
        </p:nvSpPr>
        <p:spPr bwMode="auto">
          <a:xfrm>
            <a:off x="429804" y="997441"/>
            <a:ext cx="37689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en-US" sz="2000" b="1" dirty="0"/>
              <a:t>例：</a:t>
            </a:r>
            <a:r>
              <a:rPr lang="en-US" altLang="zh-CN" sz="2000" b="1" dirty="0" err="1"/>
              <a:t>adaboost</a:t>
            </a:r>
            <a:r>
              <a:rPr lang="en-US" altLang="zh-CN" sz="2000" b="1" dirty="0"/>
              <a:t> </a:t>
            </a:r>
            <a:r>
              <a:rPr lang="zh-CN" altLang="en-US" sz="2000" b="1" dirty="0"/>
              <a:t>的实现过程示例</a:t>
            </a:r>
          </a:p>
        </p:txBody>
      </p:sp>
      <p:sp>
        <p:nvSpPr>
          <p:cNvPr id="19460" name="TextBox 1"/>
          <p:cNvSpPr txBox="1">
            <a:spLocks noChangeArrowheads="1"/>
          </p:cNvSpPr>
          <p:nvPr/>
        </p:nvSpPr>
        <p:spPr bwMode="auto">
          <a:xfrm>
            <a:off x="1702274" y="4258681"/>
            <a:ext cx="808355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en-US" b="1" dirty="0"/>
              <a:t>图中，“</a:t>
            </a:r>
            <a:r>
              <a:rPr lang="en-US" altLang="zh-CN" b="1" dirty="0"/>
              <a:t>+”</a:t>
            </a:r>
            <a:r>
              <a:rPr lang="zh-CN" altLang="en-US" b="1" dirty="0"/>
              <a:t>和“</a:t>
            </a:r>
            <a:r>
              <a:rPr lang="en-US" altLang="zh-CN" b="1" dirty="0"/>
              <a:t>-”</a:t>
            </a:r>
            <a:r>
              <a:rPr lang="zh-CN" altLang="en-US" b="1" dirty="0"/>
              <a:t>分别表示两种类别的训练数据。</a:t>
            </a:r>
            <a:endParaRPr lang="en-US" altLang="zh-CN" b="1" dirty="0"/>
          </a:p>
          <a:p>
            <a:pPr eaLnBrk="1" hangingPunct="1"/>
            <a:endParaRPr lang="en-US" altLang="zh-CN" b="1" dirty="0"/>
          </a:p>
        </p:txBody>
      </p:sp>
      <p:sp>
        <p:nvSpPr>
          <p:cNvPr id="6" name="灯片编号占位符 5"/>
          <p:cNvSpPr>
            <a:spLocks noGrp="1"/>
          </p:cNvSpPr>
          <p:nvPr>
            <p:ph type="sldNum" sz="quarter" idx="11"/>
          </p:nvPr>
        </p:nvSpPr>
        <p:spPr/>
        <p:txBody>
          <a:bodyPr/>
          <a:lstStyle/>
          <a:p>
            <a:pPr>
              <a:defRPr/>
            </a:pPr>
            <a:fld id="{31E287EE-1289-4991-82CE-EFE584F53F4F}" type="slidenum">
              <a:rPr lang="en-US" altLang="zh-CN" smtClean="0"/>
              <a:pPr>
                <a:defRPr/>
              </a:pPr>
              <a:t>15</a:t>
            </a:fld>
            <a:endParaRPr lang="en-US" altLang="zh-CN" dirty="0"/>
          </a:p>
        </p:txBody>
      </p:sp>
      <p:sp>
        <p:nvSpPr>
          <p:cNvPr id="2" name="矩形 1"/>
          <p:cNvSpPr/>
          <p:nvPr/>
        </p:nvSpPr>
        <p:spPr>
          <a:xfrm>
            <a:off x="1055440" y="4770709"/>
            <a:ext cx="8424936" cy="1200329"/>
          </a:xfrm>
          <a:prstGeom prst="rect">
            <a:avLst/>
          </a:prstGeom>
        </p:spPr>
        <p:txBody>
          <a:bodyPr wrap="square">
            <a:spAutoFit/>
          </a:bodyPr>
          <a:lstStyle/>
          <a:p>
            <a:pPr eaLnBrk="1" hangingPunct="1"/>
            <a:r>
              <a:rPr lang="zh-CN" altLang="en-US" b="1" dirty="0"/>
              <a:t>假设弱分类器由水平或者垂直的直线（</a:t>
            </a:r>
            <a:r>
              <a:rPr lang="en-US" altLang="zh-CN" b="1" dirty="0"/>
              <a:t>x&lt;v</a:t>
            </a:r>
            <a:r>
              <a:rPr lang="zh-CN" altLang="en-US" b="1" dirty="0"/>
              <a:t>或</a:t>
            </a:r>
            <a:r>
              <a:rPr lang="en-US" altLang="zh-CN" b="1" dirty="0"/>
              <a:t>x&gt;v</a:t>
            </a:r>
            <a:r>
              <a:rPr lang="zh-CN" altLang="en-US" b="1" dirty="0"/>
              <a:t>或</a:t>
            </a:r>
            <a:r>
              <a:rPr lang="en-US" altLang="zh-CN" b="1" dirty="0"/>
              <a:t> y&lt;v</a:t>
            </a:r>
            <a:r>
              <a:rPr lang="zh-CN" altLang="en-US" b="1" dirty="0"/>
              <a:t>或</a:t>
            </a:r>
            <a:r>
              <a:rPr lang="en-US" altLang="zh-CN" b="1" dirty="0"/>
              <a:t>y&gt;v </a:t>
            </a:r>
            <a:r>
              <a:rPr lang="zh-CN" altLang="en-US" b="1" dirty="0"/>
              <a:t>）产生，具体的直线及阈值使该分类器在训练数据集上分类误差率最低。</a:t>
            </a:r>
            <a:endParaRPr lang="en-US" altLang="zh-CN" b="1" dirty="0"/>
          </a:p>
          <a:p>
            <a:pPr eaLnBrk="1" hangingPunct="1"/>
            <a:endParaRPr lang="en-US" altLang="zh-CN" b="1" dirty="0"/>
          </a:p>
          <a:p>
            <a:pPr eaLnBrk="1" hangingPunct="1"/>
            <a:r>
              <a:rPr lang="zh-CN" altLang="en-US" b="1" dirty="0"/>
              <a:t>试用</a:t>
            </a:r>
            <a:r>
              <a:rPr lang="en-US" altLang="zh-CN" b="1" dirty="0" err="1"/>
              <a:t>AdaBoost</a:t>
            </a:r>
            <a:r>
              <a:rPr lang="zh-CN" altLang="en-US" b="1" dirty="0"/>
              <a:t>算法学习一个强分类器。</a:t>
            </a:r>
          </a:p>
        </p:txBody>
      </p:sp>
    </p:spTree>
    <p:extLst>
      <p:ext uri="{BB962C8B-B14F-4D97-AF65-F5344CB8AC3E}">
        <p14:creationId xmlns:p14="http://schemas.microsoft.com/office/powerpoint/2010/main" val="3330302629"/>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矩形 1"/>
          <p:cNvSpPr>
            <a:spLocks noChangeArrowheads="1"/>
          </p:cNvSpPr>
          <p:nvPr/>
        </p:nvSpPr>
        <p:spPr bwMode="auto">
          <a:xfrm>
            <a:off x="405903" y="989907"/>
            <a:ext cx="9527976"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ts val="0"/>
              </a:spcBef>
            </a:pPr>
            <a:r>
              <a:rPr lang="zh-CN" altLang="en-US" sz="2400" b="1" dirty="0"/>
              <a:t>   两类样本数相同。算法</a:t>
            </a:r>
            <a:r>
              <a:rPr lang="zh-CN" altLang="en-US" sz="2400" b="1" dirty="0">
                <a:solidFill>
                  <a:srgbClr val="0000FF"/>
                </a:solidFill>
              </a:rPr>
              <a:t>初始化样本权值分布</a:t>
            </a:r>
            <a:r>
              <a:rPr lang="zh-CN" altLang="en-US" sz="2400" b="1" dirty="0"/>
              <a:t>为均匀分布 </a:t>
            </a:r>
            <a:r>
              <a:rPr lang="en-US" altLang="zh-CN" sz="2400" b="1" dirty="0"/>
              <a:t>D</a:t>
            </a:r>
            <a:r>
              <a:rPr lang="en-US" altLang="zh-CN" sz="2400" b="1" baseline="-25000" dirty="0"/>
              <a:t>1</a:t>
            </a:r>
            <a:r>
              <a:rPr lang="zh-CN" altLang="en-US" sz="2400" b="1" dirty="0"/>
              <a:t>。每个点的初始权值为</a:t>
            </a:r>
            <a:r>
              <a:rPr lang="en-US" altLang="zh-CN" sz="2400" b="1" dirty="0"/>
              <a:t>0.1</a:t>
            </a:r>
            <a:r>
              <a:rPr lang="zh-CN" altLang="en-US" sz="2400" b="1" dirty="0"/>
              <a:t>。</a:t>
            </a:r>
            <a:endParaRPr lang="en-US" altLang="zh-CN" sz="2400" b="1" dirty="0"/>
          </a:p>
          <a:p>
            <a:pPr eaLnBrk="1" hangingPunct="1">
              <a:spcBef>
                <a:spcPts val="0"/>
              </a:spcBef>
            </a:pPr>
            <a:r>
              <a:rPr lang="en-US" altLang="zh-CN" sz="2400" b="1" dirty="0"/>
              <a:t>   </a:t>
            </a:r>
            <a:r>
              <a:rPr lang="zh-CN" altLang="en-US" sz="2400" dirty="0"/>
              <a:t>遍历不同直线进行划分时分类的误差率。</a:t>
            </a:r>
            <a:r>
              <a:rPr lang="zh-CN" altLang="en-US" sz="2400" dirty="0">
                <a:solidFill>
                  <a:srgbClr val="0000FF"/>
                </a:solidFill>
              </a:rPr>
              <a:t>选取使训练数据集上分类误差率最低的直线作为</a:t>
            </a:r>
            <a:r>
              <a:rPr lang="en-US" altLang="zh-CN" sz="2400" dirty="0">
                <a:solidFill>
                  <a:srgbClr val="0000FF"/>
                </a:solidFill>
              </a:rPr>
              <a:t>h1</a:t>
            </a:r>
            <a:r>
              <a:rPr lang="zh-CN" altLang="en-US" sz="2400" dirty="0">
                <a:solidFill>
                  <a:srgbClr val="0000FF"/>
                </a:solidFill>
              </a:rPr>
              <a:t>划分</a:t>
            </a:r>
            <a:r>
              <a:rPr lang="zh-CN" altLang="en-US" sz="2400" dirty="0"/>
              <a:t>。</a:t>
            </a:r>
            <a:r>
              <a:rPr lang="zh-CN" altLang="en-US" sz="2400" b="1" dirty="0"/>
              <a:t>采用</a:t>
            </a:r>
            <a:r>
              <a:rPr lang="en-US" altLang="zh-CN" sz="2400" b="1" dirty="0"/>
              <a:t>h1</a:t>
            </a:r>
            <a:r>
              <a:rPr lang="zh-CN" altLang="en-US" sz="2400" b="1" dirty="0"/>
              <a:t>划分后，有三个点划分错误，此时</a:t>
            </a:r>
            <a:r>
              <a:rPr lang="zh-CN" altLang="en-US" sz="2400" b="1" dirty="0">
                <a:solidFill>
                  <a:srgbClr val="0000FF"/>
                </a:solidFill>
              </a:rPr>
              <a:t>分类误差率</a:t>
            </a:r>
            <a:r>
              <a:rPr lang="zh-CN" altLang="en-US" sz="2400" b="1" dirty="0"/>
              <a:t>为：</a:t>
            </a:r>
            <a:endParaRPr lang="en-US" altLang="zh-CN" sz="2400" b="1" dirty="0"/>
          </a:p>
          <a:p>
            <a:pPr eaLnBrk="1" hangingPunct="1">
              <a:spcBef>
                <a:spcPts val="0"/>
              </a:spcBef>
            </a:pPr>
            <a:endParaRPr lang="en-US" altLang="zh-CN" sz="2400" b="1" dirty="0"/>
          </a:p>
          <a:p>
            <a:pPr eaLnBrk="1" hangingPunct="1">
              <a:spcBef>
                <a:spcPts val="0"/>
              </a:spcBef>
            </a:pPr>
            <a:endParaRPr lang="en-US" altLang="zh-CN" sz="2400" b="1" dirty="0">
              <a:ea typeface="新細明體" pitchFamily="18" charset="-120"/>
            </a:endParaRPr>
          </a:p>
          <a:p>
            <a:pPr eaLnBrk="1" hangingPunct="1">
              <a:spcBef>
                <a:spcPts val="0"/>
              </a:spcBef>
            </a:pPr>
            <a:r>
              <a:rPr lang="zh-CN" altLang="en-US" sz="2400" b="1" dirty="0">
                <a:solidFill>
                  <a:srgbClr val="0000FF"/>
                </a:solidFill>
                <a:ea typeface="新細明體" pitchFamily="18" charset="-120"/>
              </a:rPr>
              <a:t>确定分类器</a:t>
            </a:r>
            <a:r>
              <a:rPr lang="en-US" altLang="zh-TW" sz="2400" b="1" i="1" dirty="0" err="1">
                <a:solidFill>
                  <a:srgbClr val="0000FF"/>
                </a:solidFill>
                <a:latin typeface="Times New Roman" pitchFamily="18" charset="0"/>
                <a:ea typeface="新細明體" pitchFamily="18" charset="-120"/>
              </a:rPr>
              <a:t>h</a:t>
            </a:r>
            <a:r>
              <a:rPr lang="en-US" altLang="zh-TW" sz="2400" b="1" i="1" baseline="-25000" dirty="0" err="1">
                <a:solidFill>
                  <a:srgbClr val="0000FF"/>
                </a:solidFill>
                <a:latin typeface="Times New Roman" pitchFamily="18" charset="0"/>
                <a:ea typeface="新細明體" pitchFamily="18" charset="-120"/>
              </a:rPr>
              <a:t>t</a:t>
            </a:r>
            <a:r>
              <a:rPr lang="zh-CN" altLang="en-US" sz="2400" b="1" dirty="0">
                <a:solidFill>
                  <a:srgbClr val="0000FF"/>
                </a:solidFill>
                <a:ea typeface="新細明體" pitchFamily="18" charset="-120"/>
              </a:rPr>
              <a:t>权重</a:t>
            </a:r>
            <a:r>
              <a:rPr lang="zh-CN" altLang="en-US" sz="2400" b="1" dirty="0">
                <a:ea typeface="新細明體" pitchFamily="18" charset="-120"/>
              </a:rPr>
              <a:t>：</a:t>
            </a:r>
            <a:endParaRPr lang="en-US" altLang="zh-CN" sz="2400" b="1" dirty="0"/>
          </a:p>
          <a:p>
            <a:pPr eaLnBrk="1" hangingPunct="1">
              <a:spcBef>
                <a:spcPts val="0"/>
              </a:spcBef>
            </a:pPr>
            <a:endParaRPr lang="en-US" altLang="zh-CN" sz="2400" b="1" dirty="0"/>
          </a:p>
          <a:p>
            <a:pPr eaLnBrk="1" hangingPunct="1">
              <a:spcBef>
                <a:spcPts val="0"/>
              </a:spcBef>
            </a:pPr>
            <a:r>
              <a:rPr lang="zh-CN" altLang="en-US" sz="2400" b="1" dirty="0">
                <a:solidFill>
                  <a:srgbClr val="0000FF"/>
                </a:solidFill>
              </a:rPr>
              <a:t>更新样本权重值</a:t>
            </a:r>
            <a:r>
              <a:rPr lang="zh-CN" altLang="en-US" sz="2400" b="1" dirty="0"/>
              <a:t>：对于分类正确的</a:t>
            </a:r>
            <a:r>
              <a:rPr lang="en-US" altLang="zh-CN" sz="2400" b="1" dirty="0"/>
              <a:t>7</a:t>
            </a:r>
            <a:r>
              <a:rPr lang="zh-CN" altLang="en-US" sz="2400" b="1" dirty="0"/>
              <a:t>个点，其权值保持不变，为</a:t>
            </a:r>
            <a:r>
              <a:rPr lang="en-US" altLang="zh-CN" sz="2400" b="1" dirty="0"/>
              <a:t>0.1</a:t>
            </a:r>
            <a:r>
              <a:rPr lang="zh-CN" altLang="en-US" sz="2400" b="1" dirty="0"/>
              <a:t>；对于分类错误的</a:t>
            </a:r>
            <a:r>
              <a:rPr lang="en-US" altLang="zh-CN" sz="2400" b="1" dirty="0"/>
              <a:t>3</a:t>
            </a:r>
            <a:r>
              <a:rPr lang="zh-CN" altLang="en-US" sz="2400" b="1" dirty="0"/>
              <a:t>个点，将其权值变大，其权值为</a:t>
            </a:r>
            <a:endParaRPr lang="en-US" altLang="zh-CN" sz="2400" b="1" dirty="0"/>
          </a:p>
          <a:p>
            <a:pPr eaLnBrk="1" hangingPunct="1">
              <a:spcBef>
                <a:spcPts val="0"/>
              </a:spcBef>
            </a:pPr>
            <a:endParaRPr lang="en-US" altLang="zh-CN" sz="2400" b="1" dirty="0"/>
          </a:p>
          <a:p>
            <a:pPr eaLnBrk="1" hangingPunct="1">
              <a:spcBef>
                <a:spcPts val="0"/>
              </a:spcBef>
            </a:pPr>
            <a:endParaRPr lang="zh-CN" altLang="en-US" sz="2400" b="1" dirty="0"/>
          </a:p>
        </p:txBody>
      </p:sp>
      <p:graphicFrame>
        <p:nvGraphicFramePr>
          <p:cNvPr id="20484" name="对象 1"/>
          <p:cNvGraphicFramePr>
            <a:graphicFrameLocks noChangeAspect="1"/>
          </p:cNvGraphicFramePr>
          <p:nvPr>
            <p:extLst>
              <p:ext uri="{D42A27DB-BD31-4B8C-83A1-F6EECF244321}">
                <p14:modId xmlns:p14="http://schemas.microsoft.com/office/powerpoint/2010/main" val="2475677007"/>
              </p:ext>
            </p:extLst>
          </p:nvPr>
        </p:nvGraphicFramePr>
        <p:xfrm>
          <a:off x="2955925" y="2663825"/>
          <a:ext cx="5748338" cy="606425"/>
        </p:xfrm>
        <a:graphic>
          <a:graphicData uri="http://schemas.openxmlformats.org/presentationml/2006/ole">
            <mc:AlternateContent xmlns:mc="http://schemas.openxmlformats.org/markup-compatibility/2006">
              <mc:Choice xmlns:v="urn:schemas-microsoft-com:vml" Requires="v">
                <p:oleObj spid="_x0000_s345388" name="Equation" r:id="rId4" imgW="2895480" imgH="304560" progId="Equation.DSMT4">
                  <p:embed/>
                </p:oleObj>
              </mc:Choice>
              <mc:Fallback>
                <p:oleObj name="Equation" r:id="rId4" imgW="2895480" imgH="304560" progId="Equation.DSMT4">
                  <p:embed/>
                  <p:pic>
                    <p:nvPicPr>
                      <p:cNvPr id="0" name=""/>
                      <p:cNvPicPr>
                        <a:picLocks noChangeAspect="1" noChangeArrowheads="1"/>
                      </p:cNvPicPr>
                      <p:nvPr/>
                    </p:nvPicPr>
                    <p:blipFill>
                      <a:blip r:embed="rId5"/>
                      <a:srcRect/>
                      <a:stretch>
                        <a:fillRect/>
                      </a:stretch>
                    </p:blipFill>
                    <p:spPr bwMode="auto">
                      <a:xfrm>
                        <a:off x="2955925" y="2663825"/>
                        <a:ext cx="5748338" cy="606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5" name="对象 4"/>
          <p:cNvGraphicFramePr>
            <a:graphicFrameLocks noChangeAspect="1"/>
          </p:cNvGraphicFramePr>
          <p:nvPr>
            <p:extLst>
              <p:ext uri="{D42A27DB-BD31-4B8C-83A1-F6EECF244321}">
                <p14:modId xmlns:p14="http://schemas.microsoft.com/office/powerpoint/2010/main" val="1581977126"/>
              </p:ext>
            </p:extLst>
          </p:nvPr>
        </p:nvGraphicFramePr>
        <p:xfrm>
          <a:off x="3287688" y="3426839"/>
          <a:ext cx="4572000" cy="744537"/>
        </p:xfrm>
        <a:graphic>
          <a:graphicData uri="http://schemas.openxmlformats.org/presentationml/2006/ole">
            <mc:AlternateContent xmlns:mc="http://schemas.openxmlformats.org/markup-compatibility/2006">
              <mc:Choice xmlns:v="urn:schemas-microsoft-com:vml" Requires="v">
                <p:oleObj spid="_x0000_s345389" name="公式" r:id="rId6" imgW="2959100" imgH="482600" progId="">
                  <p:embed/>
                </p:oleObj>
              </mc:Choice>
              <mc:Fallback>
                <p:oleObj name="公式" r:id="rId6" imgW="2959100" imgH="48260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87688" y="3426839"/>
                        <a:ext cx="4572000" cy="744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6" name="对象 6"/>
          <p:cNvGraphicFramePr>
            <a:graphicFrameLocks noChangeAspect="1"/>
          </p:cNvGraphicFramePr>
          <p:nvPr>
            <p:extLst>
              <p:ext uri="{D42A27DB-BD31-4B8C-83A1-F6EECF244321}">
                <p14:modId xmlns:p14="http://schemas.microsoft.com/office/powerpoint/2010/main" val="1324029792"/>
              </p:ext>
            </p:extLst>
          </p:nvPr>
        </p:nvGraphicFramePr>
        <p:xfrm>
          <a:off x="3165372" y="5051877"/>
          <a:ext cx="4048125" cy="673100"/>
        </p:xfrm>
        <a:graphic>
          <a:graphicData uri="http://schemas.openxmlformats.org/presentationml/2006/ole">
            <mc:AlternateContent xmlns:mc="http://schemas.openxmlformats.org/markup-compatibility/2006">
              <mc:Choice xmlns:v="urn:schemas-microsoft-com:vml" Requires="v">
                <p:oleObj spid="_x0000_s345390" name="Equation" r:id="rId8" imgW="2145960" imgH="457200" progId="Equation.DSMT4">
                  <p:embed/>
                </p:oleObj>
              </mc:Choice>
              <mc:Fallback>
                <p:oleObj name="Equation" r:id="rId8" imgW="2145960" imgH="457200" progId="Equation.DSMT4">
                  <p:embed/>
                  <p:pic>
                    <p:nvPicPr>
                      <p:cNvPr id="0" name=""/>
                      <p:cNvPicPr>
                        <a:picLocks noChangeAspect="1" noChangeArrowheads="1"/>
                      </p:cNvPicPr>
                      <p:nvPr/>
                    </p:nvPicPr>
                    <p:blipFill>
                      <a:blip r:embed="rId9"/>
                      <a:srcRect/>
                      <a:stretch>
                        <a:fillRect/>
                      </a:stretch>
                    </p:blipFill>
                    <p:spPr bwMode="auto">
                      <a:xfrm>
                        <a:off x="3165372" y="5051877"/>
                        <a:ext cx="4048125"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标题 1"/>
          <p:cNvSpPr>
            <a:spLocks noGrp="1"/>
          </p:cNvSpPr>
          <p:nvPr>
            <p:ph type="title"/>
          </p:nvPr>
        </p:nvSpPr>
        <p:spPr/>
        <p:txBody>
          <a:bodyPr/>
          <a:lstStyle/>
          <a:p>
            <a:r>
              <a:rPr lang="zh-CN" altLang="en-US" dirty="0">
                <a:solidFill>
                  <a:srgbClr val="303030"/>
                </a:solidFill>
                <a:sym typeface="Arial" panose="020B0604020202020204" pitchFamily="34" charset="0"/>
              </a:rPr>
              <a:t>Adaboost 实例详解</a:t>
            </a:r>
            <a:endParaRPr lang="zh-CN" altLang="en-US" dirty="0"/>
          </a:p>
        </p:txBody>
      </p:sp>
      <p:sp>
        <p:nvSpPr>
          <p:cNvPr id="7" name="灯片编号占位符 6"/>
          <p:cNvSpPr>
            <a:spLocks noGrp="1"/>
          </p:cNvSpPr>
          <p:nvPr>
            <p:ph type="sldNum" sz="quarter" idx="11"/>
          </p:nvPr>
        </p:nvSpPr>
        <p:spPr/>
        <p:txBody>
          <a:bodyPr/>
          <a:lstStyle/>
          <a:p>
            <a:pPr>
              <a:defRPr/>
            </a:pPr>
            <a:fld id="{31E287EE-1289-4991-82CE-EFE584F53F4F}" type="slidenum">
              <a:rPr lang="en-US" altLang="zh-CN" smtClean="0"/>
              <a:pPr>
                <a:defRPr/>
              </a:pPr>
              <a:t>16</a:t>
            </a:fld>
            <a:endParaRPr lang="en-US" altLang="zh-CN" dirty="0"/>
          </a:p>
        </p:txBody>
      </p:sp>
      <p:sp>
        <p:nvSpPr>
          <p:cNvPr id="3" name="矩形 2"/>
          <p:cNvSpPr/>
          <p:nvPr/>
        </p:nvSpPr>
        <p:spPr>
          <a:xfrm>
            <a:off x="1841848" y="5816445"/>
            <a:ext cx="5112569" cy="400110"/>
          </a:xfrm>
          <a:prstGeom prst="rect">
            <a:avLst/>
          </a:prstGeom>
        </p:spPr>
        <p:txBody>
          <a:bodyPr wrap="square">
            <a:spAutoFit/>
          </a:bodyPr>
          <a:lstStyle/>
          <a:p>
            <a:r>
              <a:rPr lang="zh-CN" altLang="en-US" sz="2000" dirty="0">
                <a:solidFill>
                  <a:srgbClr val="0000FF"/>
                </a:solidFill>
              </a:rPr>
              <a:t>样本权值归一化</a:t>
            </a:r>
            <a:r>
              <a:rPr lang="zh-CN" altLang="en-US" sz="2000" dirty="0"/>
              <a:t>，得到新的</a:t>
            </a:r>
            <a:r>
              <a:rPr lang="zh-CN" altLang="en-US" sz="2000" dirty="0">
                <a:solidFill>
                  <a:srgbClr val="0000FF"/>
                </a:solidFill>
              </a:rPr>
              <a:t>样本权值分布</a:t>
            </a:r>
            <a:r>
              <a:rPr lang="en-US" altLang="zh-CN" sz="2000" dirty="0">
                <a:solidFill>
                  <a:srgbClr val="0000FF"/>
                </a:solidFill>
              </a:rPr>
              <a:t>D</a:t>
            </a:r>
            <a:r>
              <a:rPr lang="en-US" altLang="zh-CN" sz="2000" baseline="-25000" dirty="0">
                <a:solidFill>
                  <a:srgbClr val="0000FF"/>
                </a:solidFill>
              </a:rPr>
              <a:t>2</a:t>
            </a:r>
            <a:r>
              <a:rPr lang="zh-CN" altLang="en-US" sz="2000" dirty="0">
                <a:solidFill>
                  <a:srgbClr val="0000FF"/>
                </a:solidFill>
              </a:rPr>
              <a:t> </a:t>
            </a:r>
          </a:p>
        </p:txBody>
      </p:sp>
      <p:sp>
        <p:nvSpPr>
          <p:cNvPr id="4" name="文本框 3"/>
          <p:cNvSpPr txBox="1"/>
          <p:nvPr/>
        </p:nvSpPr>
        <p:spPr bwMode="auto">
          <a:xfrm>
            <a:off x="9739813" y="4368594"/>
            <a:ext cx="1893387" cy="30777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kumimoji="1" lang="zh-CN" altLang="en-US" sz="1400" dirty="0">
                <a:solidFill>
                  <a:schemeClr val="tx1"/>
                </a:solidFill>
                <a:ea typeface="新細明體" pitchFamily="18" charset="-120"/>
              </a:rPr>
              <a:t>简化的权值更新策略</a:t>
            </a:r>
          </a:p>
        </p:txBody>
      </p:sp>
      <p:graphicFrame>
        <p:nvGraphicFramePr>
          <p:cNvPr id="10" name="Object 9"/>
          <p:cNvGraphicFramePr>
            <a:graphicFrameLocks noChangeAspect="1"/>
          </p:cNvGraphicFramePr>
          <p:nvPr>
            <p:extLst>
              <p:ext uri="{D42A27DB-BD31-4B8C-83A1-F6EECF244321}">
                <p14:modId xmlns:p14="http://schemas.microsoft.com/office/powerpoint/2010/main" val="931477576"/>
              </p:ext>
            </p:extLst>
          </p:nvPr>
        </p:nvGraphicFramePr>
        <p:xfrm>
          <a:off x="8433935" y="4803063"/>
          <a:ext cx="3425756" cy="1041897"/>
        </p:xfrm>
        <a:graphic>
          <a:graphicData uri="http://schemas.openxmlformats.org/presentationml/2006/ole">
            <mc:AlternateContent xmlns:mc="http://schemas.openxmlformats.org/markup-compatibility/2006">
              <mc:Choice xmlns:v="urn:schemas-microsoft-com:vml" Requires="v">
                <p:oleObj spid="_x0000_s345391" name="Equation" r:id="rId10" imgW="2311200" imgH="698400" progId="Equation.DSMT4">
                  <p:embed/>
                </p:oleObj>
              </mc:Choice>
              <mc:Fallback>
                <p:oleObj name="Equation" r:id="rId10" imgW="2311200" imgH="698400" progId="Equation.DSMT4">
                  <p:embed/>
                  <p:pic>
                    <p:nvPicPr>
                      <p:cNvPr id="24" name="Object 9"/>
                      <p:cNvPicPr>
                        <a:picLocks noChangeAspect="1" noChangeArrowheads="1"/>
                      </p:cNvPicPr>
                      <p:nvPr/>
                    </p:nvPicPr>
                    <p:blipFill>
                      <a:blip r:embed="rId11"/>
                      <a:srcRect/>
                      <a:stretch>
                        <a:fillRect/>
                      </a:stretch>
                    </p:blipFill>
                    <p:spPr bwMode="auto">
                      <a:xfrm>
                        <a:off x="8433935" y="4803063"/>
                        <a:ext cx="3425756" cy="1041897"/>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11" name="文字方塊 11"/>
              <p:cNvSpPr txBox="1"/>
              <p:nvPr/>
            </p:nvSpPr>
            <p:spPr>
              <a:xfrm>
                <a:off x="9253311" y="3283967"/>
                <a:ext cx="2725409" cy="44723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zh-TW" altLang="en-US" sz="2400" i="1">
                              <a:latin typeface="Cambria Math" panose="02040503050406030204" pitchFamily="18" charset="0"/>
                            </a:rPr>
                            <m:t>𝛼</m:t>
                          </m:r>
                        </m:e>
                        <m:sub>
                          <m:r>
                            <a:rPr lang="en-US" altLang="zh-TW" sz="2400" i="1">
                              <a:latin typeface="Cambria Math" panose="02040503050406030204" pitchFamily="18" charset="0"/>
                              <a:ea typeface="Cambria Math" panose="02040503050406030204" pitchFamily="18" charset="0"/>
                            </a:rPr>
                            <m:t>𝑡</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𝑙𝑛</m:t>
                      </m:r>
                      <m:rad>
                        <m:radPr>
                          <m:degHide m:val="on"/>
                          <m:ctrlPr>
                            <a:rPr lang="en-US" altLang="zh-TW" sz="2400" b="0" i="1" smtClean="0">
                              <a:latin typeface="Cambria Math" panose="02040503050406030204" pitchFamily="18" charset="0"/>
                            </a:rPr>
                          </m:ctrlPr>
                        </m:radPr>
                        <m:deg/>
                        <m:e>
                          <m:f>
                            <m:fPr>
                              <m:type m:val="lin"/>
                              <m:ctrlPr>
                                <a:rPr lang="en-US" altLang="zh-TW" sz="2400" b="0" i="1" smtClean="0">
                                  <a:latin typeface="Cambria Math" panose="02040503050406030204" pitchFamily="18" charset="0"/>
                                </a:rPr>
                              </m:ctrlPr>
                            </m:fPr>
                            <m:num>
                              <m:d>
                                <m:dPr>
                                  <m:ctrlPr>
                                    <a:rPr lang="en-US" altLang="zh-TW" sz="2400" b="0" i="1" smtClean="0">
                                      <a:latin typeface="Cambria Math" panose="02040503050406030204" pitchFamily="18" charset="0"/>
                                    </a:rPr>
                                  </m:ctrlPr>
                                </m:dPr>
                                <m:e>
                                  <m:r>
                                    <a:rPr lang="en-US" altLang="zh-TW" sz="2400" i="1">
                                      <a:latin typeface="Cambria Math" panose="02040503050406030204" pitchFamily="18" charset="0"/>
                                    </a:rPr>
                                    <m:t>1−</m:t>
                                  </m:r>
                                  <m:sSub>
                                    <m:sSubPr>
                                      <m:ctrlPr>
                                        <a:rPr lang="en-US" altLang="zh-TW" sz="2400" i="1">
                                          <a:latin typeface="Cambria Math" panose="02040503050406030204" pitchFamily="18" charset="0"/>
                                        </a:rPr>
                                      </m:ctrlPr>
                                    </m:sSubPr>
                                    <m:e>
                                      <m:r>
                                        <a:rPr lang="zh-TW" altLang="en-US" sz="2400" i="1">
                                          <a:latin typeface="Cambria Math" panose="02040503050406030204" pitchFamily="18" charset="0"/>
                                        </a:rPr>
                                        <m:t>𝜀</m:t>
                                      </m:r>
                                    </m:e>
                                    <m:sub>
                                      <m:r>
                                        <a:rPr lang="en-US" altLang="zh-TW" sz="2400" i="1">
                                          <a:latin typeface="Cambria Math" panose="02040503050406030204" pitchFamily="18" charset="0"/>
                                        </a:rPr>
                                        <m:t>𝑡</m:t>
                                      </m:r>
                                    </m:sub>
                                  </m:sSub>
                                </m:e>
                              </m:d>
                            </m:num>
                            <m:den>
                              <m:sSub>
                                <m:sSubPr>
                                  <m:ctrlPr>
                                    <a:rPr lang="en-US" altLang="zh-TW" sz="2400" i="1">
                                      <a:latin typeface="Cambria Math" panose="02040503050406030204" pitchFamily="18" charset="0"/>
                                    </a:rPr>
                                  </m:ctrlPr>
                                </m:sSubPr>
                                <m:e>
                                  <m:r>
                                    <a:rPr lang="zh-TW" altLang="en-US" sz="2400" i="1">
                                      <a:latin typeface="Cambria Math" panose="02040503050406030204" pitchFamily="18" charset="0"/>
                                    </a:rPr>
                                    <m:t>𝜀</m:t>
                                  </m:r>
                                </m:e>
                                <m:sub>
                                  <m:r>
                                    <a:rPr lang="en-US" altLang="zh-TW" sz="2400" i="1">
                                      <a:latin typeface="Cambria Math" panose="02040503050406030204" pitchFamily="18" charset="0"/>
                                    </a:rPr>
                                    <m:t>𝑡</m:t>
                                  </m:r>
                                </m:sub>
                              </m:sSub>
                            </m:den>
                          </m:f>
                        </m:e>
                      </m:rad>
                    </m:oMath>
                  </m:oMathPara>
                </a14:m>
                <a:endParaRPr lang="zh-TW" altLang="en-US" sz="2400" dirty="0"/>
              </a:p>
            </p:txBody>
          </p:sp>
        </mc:Choice>
        <mc:Fallback xmlns="">
          <p:sp>
            <p:nvSpPr>
              <p:cNvPr id="11" name="文字方塊 11"/>
              <p:cNvSpPr txBox="1">
                <a:spLocks noRot="1" noChangeAspect="1" noMove="1" noResize="1" noEditPoints="1" noAdjustHandles="1" noChangeArrowheads="1" noChangeShapeType="1" noTextEdit="1"/>
              </p:cNvSpPr>
              <p:nvPr/>
            </p:nvSpPr>
            <p:spPr>
              <a:xfrm>
                <a:off x="9253311" y="3283967"/>
                <a:ext cx="2725409" cy="447238"/>
              </a:xfrm>
              <a:prstGeom prst="rect">
                <a:avLst/>
              </a:prstGeom>
              <a:blipFill>
                <a:blip r:embed="rId12"/>
                <a:stretch>
                  <a:fillRect b="-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8690567" y="5816445"/>
                <a:ext cx="3229602" cy="7645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𝐷</m:t>
                          </m:r>
                        </m:e>
                        <m:sub>
                          <m:r>
                            <a:rPr lang="zh-CN" altLang="en-US" i="1">
                              <a:latin typeface="Cambria Math" panose="02040503050406030204" pitchFamily="18" charset="0"/>
                            </a:rPr>
                            <m:t>𝑡</m:t>
                          </m:r>
                          <m:r>
                            <a:rPr lang="zh-CN" altLang="en-US" i="0">
                              <a:latin typeface="Cambria Math" panose="02040503050406030204" pitchFamily="18" charset="0"/>
                            </a:rPr>
                            <m:t>+1</m:t>
                          </m:r>
                        </m:sub>
                      </m:sSub>
                      <m:r>
                        <a:rPr lang="zh-CN" altLang="en-US" i="0">
                          <a:latin typeface="Cambria Math" panose="02040503050406030204" pitchFamily="18" charset="0"/>
                        </a:rPr>
                        <m:t>(</m:t>
                      </m:r>
                      <m:r>
                        <a:rPr lang="zh-CN" altLang="en-US" i="1">
                          <a:latin typeface="Cambria Math" panose="02040503050406030204" pitchFamily="18" charset="0"/>
                        </a:rPr>
                        <m:t>𝑖</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𝐷</m:t>
                          </m:r>
                        </m:e>
                        <m:sub>
                          <m:r>
                            <a:rPr lang="zh-CN" altLang="en-US" i="1">
                              <a:latin typeface="Cambria Math" panose="02040503050406030204" pitchFamily="18" charset="0"/>
                            </a:rPr>
                            <m:t>𝑡</m:t>
                          </m:r>
                          <m:r>
                            <a:rPr lang="zh-CN" altLang="en-US">
                              <a:latin typeface="Cambria Math" panose="02040503050406030204" pitchFamily="18" charset="0"/>
                            </a:rPr>
                            <m:t>+1</m:t>
                          </m:r>
                        </m:sub>
                      </m:sSub>
                      <m:r>
                        <a:rPr lang="zh-CN" altLang="en-US">
                          <a:latin typeface="Cambria Math" panose="02040503050406030204" pitchFamily="18" charset="0"/>
                        </a:rPr>
                        <m:t>(</m:t>
                      </m:r>
                      <m:r>
                        <a:rPr lang="zh-CN" altLang="en-US" i="1">
                          <a:latin typeface="Cambria Math" panose="02040503050406030204" pitchFamily="18" charset="0"/>
                        </a:rPr>
                        <m:t>𝑖</m:t>
                      </m:r>
                      <m:r>
                        <a:rPr lang="en-US" altLang="zh-CN" b="0" i="1" smtClean="0">
                          <a:latin typeface="Cambria Math" panose="02040503050406030204" pitchFamily="18" charset="0"/>
                        </a:rPr>
                        <m:t>)/</m:t>
                      </m:r>
                      <m:nary>
                        <m:naryPr>
                          <m:chr m:val="∑"/>
                          <m:supHide m:val="on"/>
                          <m:ctrlPr>
                            <a:rPr lang="en-US" altLang="zh-TW" i="1">
                              <a:latin typeface="Cambria Math" panose="02040503050406030204" pitchFamily="18" charset="0"/>
                            </a:rPr>
                          </m:ctrlPr>
                        </m:naryPr>
                        <m:sub>
                          <m:r>
                            <m:rPr>
                              <m:brk m:alnAt="7"/>
                            </m:rPr>
                            <a:rPr lang="en-US" altLang="zh-TW" i="1">
                              <a:latin typeface="Cambria Math" panose="02040503050406030204" pitchFamily="18" charset="0"/>
                            </a:rPr>
                            <m:t>𝑖</m:t>
                          </m:r>
                        </m:sub>
                        <m:sup/>
                        <m:e>
                          <m:sSub>
                            <m:sSubPr>
                              <m:ctrlPr>
                                <a:rPr lang="zh-CN" altLang="en-US" i="1">
                                  <a:latin typeface="Cambria Math" panose="02040503050406030204" pitchFamily="18" charset="0"/>
                                </a:rPr>
                              </m:ctrlPr>
                            </m:sSubPr>
                            <m:e>
                              <m:r>
                                <a:rPr lang="zh-CN" altLang="en-US" i="1">
                                  <a:latin typeface="Cambria Math" panose="02040503050406030204" pitchFamily="18" charset="0"/>
                                </a:rPr>
                                <m:t>𝐷</m:t>
                              </m:r>
                            </m:e>
                            <m:sub>
                              <m:r>
                                <a:rPr lang="zh-CN" altLang="en-US" i="1">
                                  <a:latin typeface="Cambria Math" panose="02040503050406030204" pitchFamily="18" charset="0"/>
                                </a:rPr>
                                <m:t>𝑡</m:t>
                              </m:r>
                              <m:r>
                                <a:rPr lang="en-US" altLang="zh-CN" i="1">
                                  <a:latin typeface="Cambria Math" panose="02040503050406030204" pitchFamily="18" charset="0"/>
                                </a:rPr>
                                <m:t>+1</m:t>
                              </m:r>
                            </m:sub>
                          </m:sSub>
                          <m:r>
                            <a:rPr lang="zh-CN" altLang="en-US">
                              <a:latin typeface="Cambria Math" panose="02040503050406030204" pitchFamily="18" charset="0"/>
                            </a:rPr>
                            <m:t>(</m:t>
                          </m:r>
                          <m:r>
                            <a:rPr lang="zh-CN" altLang="en-US" i="1">
                              <a:latin typeface="Cambria Math" panose="02040503050406030204" pitchFamily="18" charset="0"/>
                            </a:rPr>
                            <m:t>𝑖</m:t>
                          </m:r>
                          <m:r>
                            <a:rPr lang="en-US" altLang="zh-CN" i="1">
                              <a:latin typeface="Cambria Math" panose="02040503050406030204" pitchFamily="18" charset="0"/>
                            </a:rPr>
                            <m:t>)</m:t>
                          </m:r>
                        </m:e>
                      </m:nary>
                    </m:oMath>
                  </m:oMathPara>
                </a14:m>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8690567" y="5816445"/>
                <a:ext cx="3229602" cy="764568"/>
              </a:xfrm>
              <a:prstGeom prst="rect">
                <a:avLst/>
              </a:prstGeom>
              <a:blipFill>
                <a:blip r:embed="rId13"/>
                <a:stretch>
                  <a:fillRect/>
                </a:stretch>
              </a:blipFill>
            </p:spPr>
            <p:txBody>
              <a:bodyPr/>
              <a:lstStyle/>
              <a:p>
                <a:r>
                  <a:rPr lang="zh-CN" altLang="en-US">
                    <a:noFill/>
                  </a:rPr>
                  <a:t> </a:t>
                </a:r>
              </a:p>
            </p:txBody>
          </p:sp>
        </mc:Fallback>
      </mc:AlternateContent>
      <p:graphicFrame>
        <p:nvGraphicFramePr>
          <p:cNvPr id="14" name="对象 4"/>
          <p:cNvGraphicFramePr>
            <a:graphicFrameLocks noChangeAspect="1"/>
          </p:cNvGraphicFramePr>
          <p:nvPr>
            <p:extLst>
              <p:ext uri="{D42A27DB-BD31-4B8C-83A1-F6EECF244321}">
                <p14:modId xmlns:p14="http://schemas.microsoft.com/office/powerpoint/2010/main" val="3100812405"/>
              </p:ext>
            </p:extLst>
          </p:nvPr>
        </p:nvGraphicFramePr>
        <p:xfrm>
          <a:off x="10305368" y="2281135"/>
          <a:ext cx="914959" cy="765380"/>
        </p:xfrm>
        <a:graphic>
          <a:graphicData uri="http://schemas.openxmlformats.org/presentationml/2006/ole">
            <mc:AlternateContent xmlns:mc="http://schemas.openxmlformats.org/markup-compatibility/2006">
              <mc:Choice xmlns:v="urn:schemas-microsoft-com:vml" Requires="v">
                <p:oleObj spid="_x0000_s345392" name="Equation" r:id="rId14" imgW="596880" imgH="457200" progId="Equation.DSMT4">
                  <p:embed/>
                </p:oleObj>
              </mc:Choice>
              <mc:Fallback>
                <p:oleObj name="Equation" r:id="rId14" imgW="596880" imgH="457200" progId="Equation.DSMT4">
                  <p:embed/>
                  <p:pic>
                    <p:nvPicPr>
                      <p:cNvPr id="34" name="对象 4"/>
                      <p:cNvPicPr>
                        <a:picLocks noChangeAspect="1" noChangeArrowheads="1"/>
                      </p:cNvPicPr>
                      <p:nvPr/>
                    </p:nvPicPr>
                    <p:blipFill>
                      <a:blip r:embed="rId15"/>
                      <a:srcRect/>
                      <a:stretch>
                        <a:fillRect/>
                      </a:stretch>
                    </p:blipFill>
                    <p:spPr bwMode="auto">
                      <a:xfrm>
                        <a:off x="10305368" y="2281135"/>
                        <a:ext cx="914959" cy="765380"/>
                      </a:xfrm>
                      <a:prstGeom prst="rect">
                        <a:avLst/>
                      </a:prstGeom>
                      <a:solidFill>
                        <a:srgbClr val="FFFF00"/>
                      </a:solidFill>
                    </p:spPr>
                  </p:pic>
                </p:oleObj>
              </mc:Fallback>
            </mc:AlternateContent>
          </a:graphicData>
        </a:graphic>
      </p:graphicFrame>
      <p:sp>
        <p:nvSpPr>
          <p:cNvPr id="15" name="文本框 14"/>
          <p:cNvSpPr txBox="1"/>
          <p:nvPr/>
        </p:nvSpPr>
        <p:spPr bwMode="auto">
          <a:xfrm>
            <a:off x="8330307" y="471536"/>
            <a:ext cx="1893387" cy="30777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kumimoji="1" lang="zh-CN" altLang="en-US" sz="1400" dirty="0">
                <a:solidFill>
                  <a:schemeClr val="tx1"/>
                </a:solidFill>
                <a:ea typeface="新細明體" pitchFamily="18" charset="-120"/>
              </a:rPr>
              <a:t>简化的权值更新策略</a:t>
            </a:r>
          </a:p>
        </p:txBody>
      </p:sp>
    </p:spTree>
    <p:extLst>
      <p:ext uri="{BB962C8B-B14F-4D97-AF65-F5344CB8AC3E}">
        <p14:creationId xmlns:p14="http://schemas.microsoft.com/office/powerpoint/2010/main" val="358895379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17</a:t>
            </a:fld>
            <a:endParaRPr lang="en-US" altLang="zh-CN" dirty="0"/>
          </a:p>
        </p:txBody>
      </p:sp>
      <p:pic>
        <p:nvPicPr>
          <p:cNvPr id="5" name="图片 4"/>
          <p:cNvPicPr>
            <a:picLocks noChangeAspect="1"/>
          </p:cNvPicPr>
          <p:nvPr/>
        </p:nvPicPr>
        <p:blipFill>
          <a:blip r:embed="rId4" cstate="print"/>
          <a:stretch>
            <a:fillRect/>
          </a:stretch>
        </p:blipFill>
        <p:spPr>
          <a:xfrm>
            <a:off x="2115692" y="277601"/>
            <a:ext cx="3404245" cy="2979697"/>
          </a:xfrm>
          <a:prstGeom prst="rect">
            <a:avLst/>
          </a:prstGeom>
        </p:spPr>
      </p:pic>
      <p:pic>
        <p:nvPicPr>
          <p:cNvPr id="6" name="图片 5"/>
          <p:cNvPicPr>
            <a:picLocks noChangeAspect="1"/>
          </p:cNvPicPr>
          <p:nvPr/>
        </p:nvPicPr>
        <p:blipFill>
          <a:blip r:embed="rId5" cstate="print"/>
          <a:stretch>
            <a:fillRect/>
          </a:stretch>
        </p:blipFill>
        <p:spPr>
          <a:xfrm>
            <a:off x="6177607" y="5"/>
            <a:ext cx="3672408" cy="3161675"/>
          </a:xfrm>
          <a:prstGeom prst="rect">
            <a:avLst/>
          </a:prstGeom>
        </p:spPr>
      </p:pic>
      <p:pic>
        <p:nvPicPr>
          <p:cNvPr id="7" name="图片 6"/>
          <p:cNvPicPr>
            <a:picLocks noChangeAspect="1"/>
          </p:cNvPicPr>
          <p:nvPr/>
        </p:nvPicPr>
        <p:blipFill>
          <a:blip r:embed="rId6" cstate="print"/>
          <a:stretch>
            <a:fillRect/>
          </a:stretch>
        </p:blipFill>
        <p:spPr>
          <a:xfrm>
            <a:off x="1996009" y="3309072"/>
            <a:ext cx="3793171" cy="3120324"/>
          </a:xfrm>
          <a:prstGeom prst="rect">
            <a:avLst/>
          </a:prstGeom>
        </p:spPr>
      </p:pic>
      <p:pic>
        <p:nvPicPr>
          <p:cNvPr id="8" name="图片 7"/>
          <p:cNvPicPr>
            <a:picLocks noChangeAspect="1"/>
          </p:cNvPicPr>
          <p:nvPr/>
        </p:nvPicPr>
        <p:blipFill>
          <a:blip r:embed="rId7" cstate="print"/>
          <a:stretch>
            <a:fillRect/>
          </a:stretch>
        </p:blipFill>
        <p:spPr>
          <a:xfrm>
            <a:off x="6706766" y="3122283"/>
            <a:ext cx="3667125" cy="3162300"/>
          </a:xfrm>
          <a:prstGeom prst="rect">
            <a:avLst/>
          </a:prstGeom>
        </p:spPr>
      </p:pic>
      <p:sp>
        <p:nvSpPr>
          <p:cNvPr id="2" name="矩形 1"/>
          <p:cNvSpPr/>
          <p:nvPr/>
        </p:nvSpPr>
        <p:spPr>
          <a:xfrm>
            <a:off x="5508373" y="3610732"/>
            <a:ext cx="1633781" cy="646331"/>
          </a:xfrm>
          <a:prstGeom prst="rect">
            <a:avLst/>
          </a:prstGeom>
        </p:spPr>
        <p:txBody>
          <a:bodyPr wrap="none">
            <a:spAutoFit/>
          </a:bodyPr>
          <a:lstStyle/>
          <a:p>
            <a:r>
              <a:rPr lang="zh-CN" altLang="en-US" dirty="0"/>
              <a:t>权值归一化</a:t>
            </a:r>
            <a:endParaRPr lang="en-US" altLang="zh-CN" dirty="0"/>
          </a:p>
          <a:p>
            <a:r>
              <a:rPr lang="zh-CN" altLang="en-US" dirty="0"/>
              <a:t>更新权值分布 </a:t>
            </a:r>
          </a:p>
        </p:txBody>
      </p:sp>
      <p:sp>
        <p:nvSpPr>
          <p:cNvPr id="9" name="右箭头 8"/>
          <p:cNvSpPr/>
          <p:nvPr/>
        </p:nvSpPr>
        <p:spPr>
          <a:xfrm>
            <a:off x="5663952" y="4171857"/>
            <a:ext cx="936104" cy="917079"/>
          </a:xfrm>
          <a:prstGeom prst="rightArrow">
            <a:avLst/>
          </a:prstGeom>
          <a:solidFill>
            <a:schemeClr val="accent2">
              <a:lumMod val="60000"/>
              <a:lumOff val="40000"/>
            </a:schemeClr>
          </a:solidFill>
          <a:ln>
            <a:solidFill>
              <a:srgbClr val="00B050"/>
            </a:solidFill>
          </a:ln>
        </p:spPr>
        <p:txBody>
          <a:bodyPr wrap="square" rtlCol="0" anchor="ctr">
            <a:spAutoFit/>
          </a:bodyPr>
          <a:lstStyle/>
          <a:p>
            <a:pPr algn="ctr"/>
            <a:endParaRPr lang="zh-CN" altLang="en-US" sz="2400" kern="100" dirty="0">
              <a:ea typeface="宋体"/>
              <a:cs typeface="Times New Roman"/>
            </a:endParaRPr>
          </a:p>
        </p:txBody>
      </p:sp>
      <p:sp>
        <p:nvSpPr>
          <p:cNvPr id="11" name="标题 1"/>
          <p:cNvSpPr>
            <a:spLocks noGrp="1"/>
          </p:cNvSpPr>
          <p:nvPr>
            <p:ph type="title"/>
          </p:nvPr>
        </p:nvSpPr>
        <p:spPr>
          <a:xfrm>
            <a:off x="1636978" y="-92530"/>
            <a:ext cx="6172200" cy="563563"/>
          </a:xfrm>
        </p:spPr>
        <p:txBody>
          <a:bodyPr/>
          <a:lstStyle/>
          <a:p>
            <a:r>
              <a:rPr lang="zh-CN" altLang="en-US" dirty="0">
                <a:solidFill>
                  <a:srgbClr val="303030"/>
                </a:solidFill>
                <a:sym typeface="Arial" panose="020B0604020202020204" pitchFamily="34" charset="0"/>
              </a:rPr>
              <a:t>Adaboost 实例详解（续）</a:t>
            </a:r>
            <a:endParaRPr lang="zh-CN" altLang="en-US" dirty="0"/>
          </a:p>
        </p:txBody>
      </p:sp>
      <p:sp>
        <p:nvSpPr>
          <p:cNvPr id="12" name="矩形 11"/>
          <p:cNvSpPr/>
          <p:nvPr/>
        </p:nvSpPr>
        <p:spPr>
          <a:xfrm>
            <a:off x="4539812" y="5807040"/>
            <a:ext cx="3416320" cy="646331"/>
          </a:xfrm>
          <a:prstGeom prst="rect">
            <a:avLst/>
          </a:prstGeom>
        </p:spPr>
        <p:txBody>
          <a:bodyPr wrap="square">
            <a:spAutoFit/>
          </a:bodyPr>
          <a:lstStyle/>
          <a:p>
            <a:r>
              <a:rPr lang="en-US" altLang="zh-CN" dirty="0"/>
              <a:t>0.233/(0.233</a:t>
            </a:r>
            <a:r>
              <a:rPr lang="zh-CN" altLang="en-US" dirty="0"/>
              <a:t>*</a:t>
            </a:r>
            <a:r>
              <a:rPr lang="en-US" altLang="zh-CN" dirty="0"/>
              <a:t>3+0.1</a:t>
            </a:r>
            <a:r>
              <a:rPr lang="zh-CN" altLang="en-US" dirty="0"/>
              <a:t>*</a:t>
            </a:r>
            <a:r>
              <a:rPr lang="en-US" altLang="zh-CN" dirty="0"/>
              <a:t>7) = 0.1665</a:t>
            </a:r>
          </a:p>
          <a:p>
            <a:r>
              <a:rPr lang="en-US" altLang="zh-CN" dirty="0"/>
              <a:t>0.1/(0.233</a:t>
            </a:r>
            <a:r>
              <a:rPr lang="zh-CN" altLang="en-US" dirty="0"/>
              <a:t>*</a:t>
            </a:r>
            <a:r>
              <a:rPr lang="en-US" altLang="zh-CN" dirty="0"/>
              <a:t>3+0.1</a:t>
            </a:r>
            <a:r>
              <a:rPr lang="zh-CN" altLang="en-US" dirty="0"/>
              <a:t>*</a:t>
            </a:r>
            <a:r>
              <a:rPr lang="en-US" altLang="zh-CN" dirty="0"/>
              <a:t>7)     = 0.0714</a:t>
            </a:r>
            <a:endParaRPr lang="zh-CN" altLang="en-US" dirty="0"/>
          </a:p>
        </p:txBody>
      </p:sp>
      <p:sp>
        <p:nvSpPr>
          <p:cNvPr id="13" name="矩形 12"/>
          <p:cNvSpPr/>
          <p:nvPr/>
        </p:nvSpPr>
        <p:spPr>
          <a:xfrm>
            <a:off x="1524000" y="3664631"/>
            <a:ext cx="1107996" cy="369332"/>
          </a:xfrm>
          <a:prstGeom prst="rect">
            <a:avLst/>
          </a:prstGeom>
        </p:spPr>
        <p:txBody>
          <a:bodyPr wrap="none">
            <a:spAutoFit/>
          </a:bodyPr>
          <a:lstStyle/>
          <a:p>
            <a:r>
              <a:rPr lang="zh-CN" altLang="en-US" dirty="0"/>
              <a:t>更新权值</a:t>
            </a:r>
          </a:p>
        </p:txBody>
      </p:sp>
      <p:sp>
        <p:nvSpPr>
          <p:cNvPr id="14" name="文本框 13"/>
          <p:cNvSpPr txBox="1"/>
          <p:nvPr/>
        </p:nvSpPr>
        <p:spPr bwMode="auto">
          <a:xfrm>
            <a:off x="2077998" y="4353490"/>
            <a:ext cx="407484" cy="338554"/>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none" rtlCol="0">
            <a:spAutoFit/>
          </a:bodyPr>
          <a:lstStyle/>
          <a:p>
            <a:pPr algn="ctr"/>
            <a:r>
              <a:rPr kumimoji="1" lang="en-US" altLang="zh-CN" sz="1600" dirty="0">
                <a:solidFill>
                  <a:srgbClr val="00B050"/>
                </a:solidFill>
                <a:ea typeface="新細明體" pitchFamily="18" charset="-120"/>
              </a:rPr>
              <a:t>D</a:t>
            </a:r>
            <a:r>
              <a:rPr kumimoji="1" lang="en-US" altLang="zh-CN" sz="1600" baseline="-25000" dirty="0">
                <a:solidFill>
                  <a:srgbClr val="00B050"/>
                </a:solidFill>
                <a:ea typeface="新細明體" pitchFamily="18" charset="-120"/>
              </a:rPr>
              <a:t>2</a:t>
            </a:r>
            <a:endParaRPr kumimoji="1" lang="zh-CN" altLang="en-US" sz="1600" dirty="0">
              <a:solidFill>
                <a:srgbClr val="00B050"/>
              </a:solidFill>
              <a:ea typeface="新細明體" pitchFamily="18" charset="-120"/>
            </a:endParaRPr>
          </a:p>
        </p:txBody>
      </p:sp>
      <p:sp>
        <p:nvSpPr>
          <p:cNvPr id="15" name="文本框 14"/>
          <p:cNvSpPr txBox="1"/>
          <p:nvPr/>
        </p:nvSpPr>
        <p:spPr bwMode="auto">
          <a:xfrm>
            <a:off x="6734669" y="4353490"/>
            <a:ext cx="407484" cy="338554"/>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none" rtlCol="0">
            <a:spAutoFit/>
          </a:bodyPr>
          <a:lstStyle/>
          <a:p>
            <a:pPr algn="ctr"/>
            <a:r>
              <a:rPr kumimoji="1" lang="en-US" altLang="zh-CN" sz="1600" dirty="0">
                <a:solidFill>
                  <a:srgbClr val="00B050"/>
                </a:solidFill>
                <a:ea typeface="新細明體" pitchFamily="18" charset="-120"/>
              </a:rPr>
              <a:t>D</a:t>
            </a:r>
            <a:r>
              <a:rPr kumimoji="1" lang="en-US" altLang="zh-CN" sz="1600" baseline="-25000" dirty="0">
                <a:solidFill>
                  <a:srgbClr val="00B050"/>
                </a:solidFill>
                <a:ea typeface="新細明體" pitchFamily="18" charset="-120"/>
              </a:rPr>
              <a:t>2</a:t>
            </a:r>
            <a:endParaRPr kumimoji="1" lang="zh-CN" altLang="en-US" sz="1600" dirty="0">
              <a:solidFill>
                <a:srgbClr val="00B050"/>
              </a:solidFill>
              <a:ea typeface="新細明體" pitchFamily="18" charset="-120"/>
            </a:endParaRPr>
          </a:p>
        </p:txBody>
      </p:sp>
      <p:sp>
        <p:nvSpPr>
          <p:cNvPr id="16" name="矩形 15"/>
          <p:cNvSpPr/>
          <p:nvPr/>
        </p:nvSpPr>
        <p:spPr>
          <a:xfrm>
            <a:off x="3226724" y="5766762"/>
            <a:ext cx="1569660" cy="369332"/>
          </a:xfrm>
          <a:prstGeom prst="rect">
            <a:avLst/>
          </a:prstGeom>
        </p:spPr>
        <p:txBody>
          <a:bodyPr wrap="none">
            <a:spAutoFit/>
          </a:bodyPr>
          <a:lstStyle/>
          <a:p>
            <a:r>
              <a:rPr lang="zh-CN" altLang="en-US" dirty="0"/>
              <a:t>权值归一化：</a:t>
            </a:r>
            <a:endParaRPr lang="en-US" altLang="zh-CN" dirty="0"/>
          </a:p>
        </p:txBody>
      </p:sp>
      <p:graphicFrame>
        <p:nvGraphicFramePr>
          <p:cNvPr id="17" name="Object 9"/>
          <p:cNvGraphicFramePr>
            <a:graphicFrameLocks noChangeAspect="1"/>
          </p:cNvGraphicFramePr>
          <p:nvPr>
            <p:extLst>
              <p:ext uri="{D42A27DB-BD31-4B8C-83A1-F6EECF244321}">
                <p14:modId xmlns:p14="http://schemas.microsoft.com/office/powerpoint/2010/main" val="3818501854"/>
              </p:ext>
            </p:extLst>
          </p:nvPr>
        </p:nvGraphicFramePr>
        <p:xfrm>
          <a:off x="8969283" y="2450849"/>
          <a:ext cx="3216161" cy="978151"/>
        </p:xfrm>
        <a:graphic>
          <a:graphicData uri="http://schemas.openxmlformats.org/presentationml/2006/ole">
            <mc:AlternateContent xmlns:mc="http://schemas.openxmlformats.org/markup-compatibility/2006">
              <mc:Choice xmlns:v="urn:schemas-microsoft-com:vml" Requires="v">
                <p:oleObj spid="_x0000_s368695" name="Equation" r:id="rId8" imgW="2311200" imgH="698400" progId="Equation.DSMT4">
                  <p:embed/>
                </p:oleObj>
              </mc:Choice>
              <mc:Fallback>
                <p:oleObj name="Equation" r:id="rId8" imgW="2311200" imgH="698400" progId="Equation.DSMT4">
                  <p:embed/>
                  <p:pic>
                    <p:nvPicPr>
                      <p:cNvPr id="10" name="Object 9"/>
                      <p:cNvPicPr>
                        <a:picLocks noChangeAspect="1" noChangeArrowheads="1"/>
                      </p:cNvPicPr>
                      <p:nvPr/>
                    </p:nvPicPr>
                    <p:blipFill>
                      <a:blip r:embed="rId9"/>
                      <a:srcRect/>
                      <a:stretch>
                        <a:fillRect/>
                      </a:stretch>
                    </p:blipFill>
                    <p:spPr bwMode="auto">
                      <a:xfrm>
                        <a:off x="8969283" y="2450849"/>
                        <a:ext cx="3216161" cy="978151"/>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18" name="文字方塊 11"/>
              <p:cNvSpPr txBox="1"/>
              <p:nvPr/>
            </p:nvSpPr>
            <p:spPr>
              <a:xfrm>
                <a:off x="9520566" y="1337525"/>
                <a:ext cx="2725409" cy="3727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smtClean="0">
                              <a:latin typeface="Cambria Math" panose="02040503050406030204" pitchFamily="18" charset="0"/>
                              <a:ea typeface="Cambria Math" panose="02040503050406030204" pitchFamily="18" charset="0"/>
                            </a:rPr>
                          </m:ctrlPr>
                        </m:sSubPr>
                        <m:e>
                          <m:r>
                            <a:rPr lang="zh-TW" altLang="en-US" sz="2000" i="1">
                              <a:latin typeface="Cambria Math" panose="02040503050406030204" pitchFamily="18" charset="0"/>
                            </a:rPr>
                            <m:t>𝛼</m:t>
                          </m:r>
                        </m:e>
                        <m:sub>
                          <m:r>
                            <a:rPr lang="en-US" altLang="zh-TW" sz="2000" i="1">
                              <a:latin typeface="Cambria Math" panose="02040503050406030204" pitchFamily="18" charset="0"/>
                              <a:ea typeface="Cambria Math" panose="02040503050406030204" pitchFamily="18" charset="0"/>
                            </a:rPr>
                            <m:t>𝑡</m:t>
                          </m:r>
                        </m:sub>
                      </m:sSub>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𝑙𝑛</m:t>
                      </m:r>
                      <m:rad>
                        <m:radPr>
                          <m:degHide m:val="on"/>
                          <m:ctrlPr>
                            <a:rPr lang="en-US" altLang="zh-TW" sz="2000" b="0" i="1" smtClean="0">
                              <a:latin typeface="Cambria Math" panose="02040503050406030204" pitchFamily="18" charset="0"/>
                            </a:rPr>
                          </m:ctrlPr>
                        </m:radPr>
                        <m:deg/>
                        <m:e>
                          <m:f>
                            <m:fPr>
                              <m:type m:val="lin"/>
                              <m:ctrlPr>
                                <a:rPr lang="en-US" altLang="zh-TW" sz="2000" b="0" i="1" smtClean="0">
                                  <a:latin typeface="Cambria Math" panose="02040503050406030204" pitchFamily="18" charset="0"/>
                                </a:rPr>
                              </m:ctrlPr>
                            </m:fPr>
                            <m:num>
                              <m:d>
                                <m:dPr>
                                  <m:ctrlPr>
                                    <a:rPr lang="en-US" altLang="zh-TW" sz="2000" b="0" i="1" smtClean="0">
                                      <a:latin typeface="Cambria Math" panose="02040503050406030204" pitchFamily="18" charset="0"/>
                                    </a:rPr>
                                  </m:ctrlPr>
                                </m:dPr>
                                <m:e>
                                  <m:r>
                                    <a:rPr lang="en-US" altLang="zh-TW" sz="2000" i="1">
                                      <a:latin typeface="Cambria Math" panose="02040503050406030204" pitchFamily="18" charset="0"/>
                                    </a:rPr>
                                    <m:t>1−</m:t>
                                  </m:r>
                                  <m:sSub>
                                    <m:sSubPr>
                                      <m:ctrlPr>
                                        <a:rPr lang="en-US" altLang="zh-TW" sz="2000" i="1">
                                          <a:latin typeface="Cambria Math" panose="02040503050406030204" pitchFamily="18" charset="0"/>
                                        </a:rPr>
                                      </m:ctrlPr>
                                    </m:sSubPr>
                                    <m:e>
                                      <m:r>
                                        <a:rPr lang="zh-TW" altLang="en-US" sz="2000" i="1">
                                          <a:latin typeface="Cambria Math" panose="02040503050406030204" pitchFamily="18" charset="0"/>
                                        </a:rPr>
                                        <m:t>𝜀</m:t>
                                      </m:r>
                                    </m:e>
                                    <m:sub>
                                      <m:r>
                                        <a:rPr lang="en-US" altLang="zh-TW" sz="2000" i="1">
                                          <a:latin typeface="Cambria Math" panose="02040503050406030204" pitchFamily="18" charset="0"/>
                                        </a:rPr>
                                        <m:t>𝑡</m:t>
                                      </m:r>
                                    </m:sub>
                                  </m:sSub>
                                </m:e>
                              </m:d>
                            </m:num>
                            <m:den>
                              <m:sSub>
                                <m:sSubPr>
                                  <m:ctrlPr>
                                    <a:rPr lang="en-US" altLang="zh-TW" sz="2000" i="1">
                                      <a:latin typeface="Cambria Math" panose="02040503050406030204" pitchFamily="18" charset="0"/>
                                    </a:rPr>
                                  </m:ctrlPr>
                                </m:sSubPr>
                                <m:e>
                                  <m:r>
                                    <a:rPr lang="zh-TW" altLang="en-US" sz="2000" i="1">
                                      <a:latin typeface="Cambria Math" panose="02040503050406030204" pitchFamily="18" charset="0"/>
                                    </a:rPr>
                                    <m:t>𝜀</m:t>
                                  </m:r>
                                </m:e>
                                <m:sub>
                                  <m:r>
                                    <a:rPr lang="en-US" altLang="zh-TW" sz="2000" i="1">
                                      <a:latin typeface="Cambria Math" panose="02040503050406030204" pitchFamily="18" charset="0"/>
                                    </a:rPr>
                                    <m:t>𝑡</m:t>
                                  </m:r>
                                </m:sub>
                              </m:sSub>
                            </m:den>
                          </m:f>
                        </m:e>
                      </m:rad>
                    </m:oMath>
                  </m:oMathPara>
                </a14:m>
                <a:endParaRPr lang="zh-TW" altLang="en-US" sz="2000" dirty="0"/>
              </a:p>
            </p:txBody>
          </p:sp>
        </mc:Choice>
        <mc:Fallback xmlns="">
          <p:sp>
            <p:nvSpPr>
              <p:cNvPr id="18" name="文字方塊 11"/>
              <p:cNvSpPr txBox="1">
                <a:spLocks noRot="1" noChangeAspect="1" noMove="1" noResize="1" noEditPoints="1" noAdjustHandles="1" noChangeArrowheads="1" noChangeShapeType="1" noTextEdit="1"/>
              </p:cNvSpPr>
              <p:nvPr/>
            </p:nvSpPr>
            <p:spPr>
              <a:xfrm>
                <a:off x="9520566" y="1337525"/>
                <a:ext cx="2725409" cy="372731"/>
              </a:xfrm>
              <a:prstGeom prst="rect">
                <a:avLst/>
              </a:prstGeom>
              <a:blipFill>
                <a:blip r:embed="rId10"/>
                <a:stretch>
                  <a:fillRect t="-117742" r="-12304" b="-2016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8923323" y="5688803"/>
                <a:ext cx="3229602" cy="7645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𝐷</m:t>
                          </m:r>
                        </m:e>
                        <m:sub>
                          <m:r>
                            <a:rPr lang="zh-CN" altLang="en-US" i="1">
                              <a:latin typeface="Cambria Math" panose="02040503050406030204" pitchFamily="18" charset="0"/>
                            </a:rPr>
                            <m:t>𝑡</m:t>
                          </m:r>
                          <m:r>
                            <a:rPr lang="zh-CN" altLang="en-US" i="0">
                              <a:latin typeface="Cambria Math" panose="02040503050406030204" pitchFamily="18" charset="0"/>
                            </a:rPr>
                            <m:t>+1</m:t>
                          </m:r>
                        </m:sub>
                      </m:sSub>
                      <m:r>
                        <a:rPr lang="zh-CN" altLang="en-US" i="0">
                          <a:latin typeface="Cambria Math" panose="02040503050406030204" pitchFamily="18" charset="0"/>
                        </a:rPr>
                        <m:t>(</m:t>
                      </m:r>
                      <m:r>
                        <a:rPr lang="zh-CN" altLang="en-US" i="1">
                          <a:latin typeface="Cambria Math" panose="02040503050406030204" pitchFamily="18" charset="0"/>
                        </a:rPr>
                        <m:t>𝑖</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𝐷</m:t>
                          </m:r>
                        </m:e>
                        <m:sub>
                          <m:r>
                            <a:rPr lang="zh-CN" altLang="en-US" i="1">
                              <a:latin typeface="Cambria Math" panose="02040503050406030204" pitchFamily="18" charset="0"/>
                            </a:rPr>
                            <m:t>𝑡</m:t>
                          </m:r>
                          <m:r>
                            <a:rPr lang="zh-CN" altLang="en-US">
                              <a:latin typeface="Cambria Math" panose="02040503050406030204" pitchFamily="18" charset="0"/>
                            </a:rPr>
                            <m:t>+1</m:t>
                          </m:r>
                        </m:sub>
                      </m:sSub>
                      <m:r>
                        <a:rPr lang="zh-CN" altLang="en-US">
                          <a:latin typeface="Cambria Math" panose="02040503050406030204" pitchFamily="18" charset="0"/>
                        </a:rPr>
                        <m:t>(</m:t>
                      </m:r>
                      <m:r>
                        <a:rPr lang="zh-CN" altLang="en-US" i="1">
                          <a:latin typeface="Cambria Math" panose="02040503050406030204" pitchFamily="18" charset="0"/>
                        </a:rPr>
                        <m:t>𝑖</m:t>
                      </m:r>
                      <m:r>
                        <a:rPr lang="en-US" altLang="zh-CN" b="0" i="1" smtClean="0">
                          <a:latin typeface="Cambria Math" panose="02040503050406030204" pitchFamily="18" charset="0"/>
                        </a:rPr>
                        <m:t>)/</m:t>
                      </m:r>
                      <m:nary>
                        <m:naryPr>
                          <m:chr m:val="∑"/>
                          <m:supHide m:val="on"/>
                          <m:ctrlPr>
                            <a:rPr lang="en-US" altLang="zh-TW" i="1">
                              <a:latin typeface="Cambria Math" panose="02040503050406030204" pitchFamily="18" charset="0"/>
                            </a:rPr>
                          </m:ctrlPr>
                        </m:naryPr>
                        <m:sub>
                          <m:r>
                            <m:rPr>
                              <m:brk m:alnAt="7"/>
                            </m:rPr>
                            <a:rPr lang="en-US" altLang="zh-TW" i="1">
                              <a:latin typeface="Cambria Math" panose="02040503050406030204" pitchFamily="18" charset="0"/>
                            </a:rPr>
                            <m:t>𝑖</m:t>
                          </m:r>
                        </m:sub>
                        <m:sup/>
                        <m:e>
                          <m:sSub>
                            <m:sSubPr>
                              <m:ctrlPr>
                                <a:rPr lang="zh-CN" altLang="en-US" i="1">
                                  <a:latin typeface="Cambria Math" panose="02040503050406030204" pitchFamily="18" charset="0"/>
                                </a:rPr>
                              </m:ctrlPr>
                            </m:sSubPr>
                            <m:e>
                              <m:r>
                                <a:rPr lang="zh-CN" altLang="en-US" i="1">
                                  <a:latin typeface="Cambria Math" panose="02040503050406030204" pitchFamily="18" charset="0"/>
                                </a:rPr>
                                <m:t>𝐷</m:t>
                              </m:r>
                            </m:e>
                            <m:sub>
                              <m:r>
                                <a:rPr lang="zh-CN" altLang="en-US" i="1">
                                  <a:latin typeface="Cambria Math" panose="02040503050406030204" pitchFamily="18" charset="0"/>
                                </a:rPr>
                                <m:t>𝑡</m:t>
                              </m:r>
                              <m:r>
                                <a:rPr lang="en-US" altLang="zh-CN" i="1">
                                  <a:latin typeface="Cambria Math" panose="02040503050406030204" pitchFamily="18" charset="0"/>
                                </a:rPr>
                                <m:t>+1</m:t>
                              </m:r>
                            </m:sub>
                          </m:sSub>
                          <m:r>
                            <a:rPr lang="zh-CN" altLang="en-US">
                              <a:latin typeface="Cambria Math" panose="02040503050406030204" pitchFamily="18" charset="0"/>
                            </a:rPr>
                            <m:t>(</m:t>
                          </m:r>
                          <m:r>
                            <a:rPr lang="zh-CN" altLang="en-US" i="1">
                              <a:latin typeface="Cambria Math" panose="02040503050406030204" pitchFamily="18" charset="0"/>
                            </a:rPr>
                            <m:t>𝑖</m:t>
                          </m:r>
                          <m:r>
                            <a:rPr lang="en-US" altLang="zh-CN" i="1">
                              <a:latin typeface="Cambria Math" panose="02040503050406030204" pitchFamily="18" charset="0"/>
                            </a:rPr>
                            <m:t>)</m:t>
                          </m:r>
                        </m:e>
                      </m:nary>
                    </m:oMath>
                  </m:oMathPara>
                </a14:m>
                <a:endParaRPr lang="zh-CN" altLang="en-US" dirty="0"/>
              </a:p>
            </p:txBody>
          </p:sp>
        </mc:Choice>
        <mc:Fallback xmlns="">
          <p:sp>
            <p:nvSpPr>
              <p:cNvPr id="19" name="矩形 18"/>
              <p:cNvSpPr>
                <a:spLocks noRot="1" noChangeAspect="1" noMove="1" noResize="1" noEditPoints="1" noAdjustHandles="1" noChangeArrowheads="1" noChangeShapeType="1" noTextEdit="1"/>
              </p:cNvSpPr>
              <p:nvPr/>
            </p:nvSpPr>
            <p:spPr>
              <a:xfrm>
                <a:off x="8923323" y="5688803"/>
                <a:ext cx="3229602" cy="764568"/>
              </a:xfrm>
              <a:prstGeom prst="rect">
                <a:avLst/>
              </a:prstGeom>
              <a:blipFill>
                <a:blip r:embed="rId11"/>
                <a:stretch>
                  <a:fillRect/>
                </a:stretch>
              </a:blipFill>
            </p:spPr>
            <p:txBody>
              <a:bodyPr/>
              <a:lstStyle/>
              <a:p>
                <a:r>
                  <a:rPr lang="zh-CN" altLang="en-US">
                    <a:noFill/>
                  </a:rPr>
                  <a:t> </a:t>
                </a:r>
              </a:p>
            </p:txBody>
          </p:sp>
        </mc:Fallback>
      </mc:AlternateContent>
      <p:graphicFrame>
        <p:nvGraphicFramePr>
          <p:cNvPr id="20" name="对象 4"/>
          <p:cNvGraphicFramePr>
            <a:graphicFrameLocks noChangeAspect="1"/>
          </p:cNvGraphicFramePr>
          <p:nvPr>
            <p:extLst>
              <p:ext uri="{D42A27DB-BD31-4B8C-83A1-F6EECF244321}">
                <p14:modId xmlns:p14="http://schemas.microsoft.com/office/powerpoint/2010/main" val="1031985220"/>
              </p:ext>
            </p:extLst>
          </p:nvPr>
        </p:nvGraphicFramePr>
        <p:xfrm>
          <a:off x="5496828" y="2159678"/>
          <a:ext cx="914959" cy="765380"/>
        </p:xfrm>
        <a:graphic>
          <a:graphicData uri="http://schemas.openxmlformats.org/presentationml/2006/ole">
            <mc:AlternateContent xmlns:mc="http://schemas.openxmlformats.org/markup-compatibility/2006">
              <mc:Choice xmlns:v="urn:schemas-microsoft-com:vml" Requires="v">
                <p:oleObj spid="_x0000_s368696" name="Equation" r:id="rId12" imgW="596880" imgH="457200" progId="Equation.DSMT4">
                  <p:embed/>
                </p:oleObj>
              </mc:Choice>
              <mc:Fallback>
                <p:oleObj name="Equation" r:id="rId12" imgW="596880" imgH="457200" progId="Equation.DSMT4">
                  <p:embed/>
                  <p:pic>
                    <p:nvPicPr>
                      <p:cNvPr id="14" name="对象 4"/>
                      <p:cNvPicPr>
                        <a:picLocks noChangeAspect="1" noChangeArrowheads="1"/>
                      </p:cNvPicPr>
                      <p:nvPr/>
                    </p:nvPicPr>
                    <p:blipFill>
                      <a:blip r:embed="rId13"/>
                      <a:srcRect/>
                      <a:stretch>
                        <a:fillRect/>
                      </a:stretch>
                    </p:blipFill>
                    <p:spPr bwMode="auto">
                      <a:xfrm>
                        <a:off x="5496828" y="2159678"/>
                        <a:ext cx="914959" cy="765380"/>
                      </a:xfrm>
                      <a:prstGeom prst="rect">
                        <a:avLst/>
                      </a:prstGeom>
                      <a:solidFill>
                        <a:srgbClr val="FFFF00"/>
                      </a:solidFill>
                    </p:spPr>
                  </p:pic>
                </p:oleObj>
              </mc:Fallback>
            </mc:AlternateContent>
          </a:graphicData>
        </a:graphic>
      </p:graphicFrame>
      <p:sp>
        <p:nvSpPr>
          <p:cNvPr id="21" name="文本框 20"/>
          <p:cNvSpPr txBox="1"/>
          <p:nvPr/>
        </p:nvSpPr>
        <p:spPr bwMode="auto">
          <a:xfrm>
            <a:off x="8644737" y="35250"/>
            <a:ext cx="1893387" cy="30777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kumimoji="1" lang="zh-CN" altLang="en-US" sz="1400" dirty="0">
                <a:solidFill>
                  <a:schemeClr val="tx1"/>
                </a:solidFill>
                <a:ea typeface="新細明體" pitchFamily="18" charset="-120"/>
              </a:rPr>
              <a:t>简化的权值更新策略</a:t>
            </a:r>
          </a:p>
        </p:txBody>
      </p:sp>
    </p:spTree>
    <p:extLst>
      <p:ext uri="{BB962C8B-B14F-4D97-AF65-F5344CB8AC3E}">
        <p14:creationId xmlns:p14="http://schemas.microsoft.com/office/powerpoint/2010/main" val="2798321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79376" y="980734"/>
            <a:ext cx="9649072" cy="707886"/>
          </a:xfrm>
          <a:prstGeom prst="rect">
            <a:avLst/>
          </a:prstGeom>
        </p:spPr>
        <p:txBody>
          <a:bodyPr wrap="square">
            <a:spAutoFit/>
          </a:bodyPr>
          <a:lstStyle/>
          <a:p>
            <a:pPr>
              <a:spcBef>
                <a:spcPts val="0"/>
              </a:spcBef>
            </a:pPr>
            <a:r>
              <a:rPr lang="en-US" altLang="zh-CN" sz="2000" dirty="0"/>
              <a:t>t=2</a:t>
            </a:r>
            <a:r>
              <a:rPr lang="zh-CN" altLang="en-US" sz="2000" dirty="0"/>
              <a:t>，</a:t>
            </a:r>
            <a:r>
              <a:rPr lang="zh-CN" altLang="en-US" sz="2000" dirty="0">
                <a:solidFill>
                  <a:srgbClr val="0000FF"/>
                </a:solidFill>
              </a:rPr>
              <a:t>选取使训练数据集</a:t>
            </a:r>
            <a:r>
              <a:rPr lang="en-US" altLang="zh-CN" sz="2000" dirty="0">
                <a:solidFill>
                  <a:srgbClr val="0000FF"/>
                </a:solidFill>
              </a:rPr>
              <a:t>D2</a:t>
            </a:r>
            <a:r>
              <a:rPr lang="zh-CN" altLang="en-US" sz="2000" dirty="0">
                <a:solidFill>
                  <a:srgbClr val="0000FF"/>
                </a:solidFill>
              </a:rPr>
              <a:t>上分类误差率最低的直线作为</a:t>
            </a:r>
            <a:r>
              <a:rPr lang="en-US" altLang="zh-CN" sz="2000" dirty="0">
                <a:solidFill>
                  <a:srgbClr val="0000FF"/>
                </a:solidFill>
              </a:rPr>
              <a:t>h2</a:t>
            </a:r>
            <a:r>
              <a:rPr lang="zh-CN" altLang="en-US" sz="2000" dirty="0">
                <a:solidFill>
                  <a:srgbClr val="0000FF"/>
                </a:solidFill>
              </a:rPr>
              <a:t>划分</a:t>
            </a:r>
            <a:r>
              <a:rPr lang="zh-CN" altLang="en-US" sz="2000" dirty="0"/>
              <a:t>。利用</a:t>
            </a:r>
            <a:r>
              <a:rPr lang="en-US" altLang="zh-CN" sz="2000" dirty="0"/>
              <a:t>h2</a:t>
            </a:r>
            <a:r>
              <a:rPr lang="zh-CN" altLang="en-US" sz="2000" dirty="0"/>
              <a:t>划分后，有三个点划分错了，计算</a:t>
            </a:r>
            <a:r>
              <a:rPr lang="zh-CN" altLang="en-US" sz="2000" b="1" dirty="0">
                <a:solidFill>
                  <a:srgbClr val="0000FF"/>
                </a:solidFill>
              </a:rPr>
              <a:t>分类误差率：</a:t>
            </a:r>
            <a:endParaRPr lang="en-US" altLang="zh-CN" sz="2000" b="1" dirty="0">
              <a:solidFill>
                <a:srgbClr val="0000FF"/>
              </a:solidFill>
            </a:endParaRPr>
          </a:p>
        </p:txBody>
      </p:sp>
      <p:graphicFrame>
        <p:nvGraphicFramePr>
          <p:cNvPr id="6" name="对象 4"/>
          <p:cNvGraphicFramePr>
            <a:graphicFrameLocks noChangeAspect="1"/>
          </p:cNvGraphicFramePr>
          <p:nvPr>
            <p:extLst>
              <p:ext uri="{D42A27DB-BD31-4B8C-83A1-F6EECF244321}">
                <p14:modId xmlns:p14="http://schemas.microsoft.com/office/powerpoint/2010/main" val="104818496"/>
              </p:ext>
            </p:extLst>
          </p:nvPr>
        </p:nvGraphicFramePr>
        <p:xfrm>
          <a:off x="2066026" y="1675760"/>
          <a:ext cx="4946651" cy="744537"/>
        </p:xfrm>
        <a:graphic>
          <a:graphicData uri="http://schemas.openxmlformats.org/presentationml/2006/ole">
            <mc:AlternateContent xmlns:mc="http://schemas.openxmlformats.org/markup-compatibility/2006">
              <mc:Choice xmlns:v="urn:schemas-microsoft-com:vml" Requires="v">
                <p:oleObj spid="_x0000_s177461" name="公式" r:id="rId3" imgW="3200400" imgH="482600" progId="">
                  <p:embed/>
                </p:oleObj>
              </mc:Choice>
              <mc:Fallback>
                <p:oleObj name="公式" r:id="rId3" imgW="3200400" imgH="482600" progId="">
                  <p:embed/>
                  <p:pic>
                    <p:nvPicPr>
                      <p:cNvPr id="0" name="Picture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6026" y="1675760"/>
                        <a:ext cx="4946651" cy="744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标题 2"/>
          <p:cNvSpPr>
            <a:spLocks noGrp="1"/>
          </p:cNvSpPr>
          <p:nvPr>
            <p:ph type="title"/>
          </p:nvPr>
        </p:nvSpPr>
        <p:spPr/>
        <p:txBody>
          <a:bodyPr/>
          <a:lstStyle/>
          <a:p>
            <a:r>
              <a:rPr lang="zh-CN" altLang="en-US" dirty="0">
                <a:solidFill>
                  <a:srgbClr val="303030"/>
                </a:solidFill>
                <a:sym typeface="Arial" panose="020B0604020202020204" pitchFamily="34" charset="0"/>
              </a:rPr>
              <a:t>Adaboost 实例详解</a:t>
            </a:r>
            <a:r>
              <a:rPr lang="en-US" altLang="zh-CN" dirty="0">
                <a:solidFill>
                  <a:srgbClr val="303030"/>
                </a:solidFill>
                <a:sym typeface="Arial" panose="020B0604020202020204" pitchFamily="34" charset="0"/>
              </a:rPr>
              <a:t>(</a:t>
            </a:r>
            <a:r>
              <a:rPr lang="zh-CN" altLang="en-US" dirty="0">
                <a:solidFill>
                  <a:srgbClr val="303030"/>
                </a:solidFill>
                <a:sym typeface="Arial" panose="020B0604020202020204" pitchFamily="34" charset="0"/>
              </a:rPr>
              <a:t>续</a:t>
            </a:r>
            <a:r>
              <a:rPr lang="en-US" altLang="zh-CN" dirty="0">
                <a:solidFill>
                  <a:srgbClr val="303030"/>
                </a:solidFill>
                <a:sym typeface="Arial" panose="020B0604020202020204" pitchFamily="34" charset="0"/>
              </a:rPr>
              <a:t>)</a:t>
            </a:r>
            <a:endParaRPr lang="zh-CN" altLang="en-US" dirty="0"/>
          </a:p>
        </p:txBody>
      </p:sp>
      <p:pic>
        <p:nvPicPr>
          <p:cNvPr id="4" name="图片 3"/>
          <p:cNvPicPr>
            <a:picLocks noChangeAspect="1"/>
          </p:cNvPicPr>
          <p:nvPr/>
        </p:nvPicPr>
        <p:blipFill>
          <a:blip r:embed="rId5" cstate="print"/>
          <a:stretch>
            <a:fillRect/>
          </a:stretch>
        </p:blipFill>
        <p:spPr>
          <a:xfrm>
            <a:off x="1851435" y="3284988"/>
            <a:ext cx="4210051" cy="3067051"/>
          </a:xfrm>
          <a:prstGeom prst="rect">
            <a:avLst/>
          </a:prstGeom>
        </p:spPr>
      </p:pic>
      <p:sp>
        <p:nvSpPr>
          <p:cNvPr id="5" name="矩形 4"/>
          <p:cNvSpPr/>
          <p:nvPr/>
        </p:nvSpPr>
        <p:spPr>
          <a:xfrm>
            <a:off x="270699" y="2492775"/>
            <a:ext cx="3249608" cy="369332"/>
          </a:xfrm>
          <a:prstGeom prst="rect">
            <a:avLst/>
          </a:prstGeom>
        </p:spPr>
        <p:txBody>
          <a:bodyPr wrap="none">
            <a:spAutoFit/>
          </a:bodyPr>
          <a:lstStyle/>
          <a:p>
            <a:pPr>
              <a:defRPr/>
            </a:pPr>
            <a:r>
              <a:rPr lang="zh-CN" altLang="en-US" dirty="0"/>
              <a:t>对于分类错误的点，其权值为</a:t>
            </a:r>
            <a:r>
              <a:rPr lang="en-US" altLang="zh-CN" dirty="0"/>
              <a:t>:</a:t>
            </a:r>
          </a:p>
        </p:txBody>
      </p:sp>
      <p:graphicFrame>
        <p:nvGraphicFramePr>
          <p:cNvPr id="10" name="对象 6"/>
          <p:cNvGraphicFramePr>
            <a:graphicFrameLocks noChangeAspect="1"/>
          </p:cNvGraphicFramePr>
          <p:nvPr>
            <p:extLst>
              <p:ext uri="{D42A27DB-BD31-4B8C-83A1-F6EECF244321}">
                <p14:modId xmlns:p14="http://schemas.microsoft.com/office/powerpoint/2010/main" val="4040837780"/>
              </p:ext>
            </p:extLst>
          </p:nvPr>
        </p:nvGraphicFramePr>
        <p:xfrm>
          <a:off x="3548461" y="2337631"/>
          <a:ext cx="4446693" cy="731837"/>
        </p:xfrm>
        <a:graphic>
          <a:graphicData uri="http://schemas.openxmlformats.org/presentationml/2006/ole">
            <mc:AlternateContent xmlns:mc="http://schemas.openxmlformats.org/markup-compatibility/2006">
              <mc:Choice xmlns:v="urn:schemas-microsoft-com:vml" Requires="v">
                <p:oleObj spid="_x0000_s177462" name="Equation" r:id="rId6" imgW="2476440" imgH="457200" progId="Equation.DSMT4">
                  <p:embed/>
                </p:oleObj>
              </mc:Choice>
              <mc:Fallback>
                <p:oleObj name="Equation" r:id="rId6" imgW="2476440" imgH="457200" progId="Equation.DSMT4">
                  <p:embed/>
                  <p:pic>
                    <p:nvPicPr>
                      <p:cNvPr id="0" name="Picture 32"/>
                      <p:cNvPicPr>
                        <a:picLocks noChangeAspect="1" noChangeArrowheads="1"/>
                      </p:cNvPicPr>
                      <p:nvPr/>
                    </p:nvPicPr>
                    <p:blipFill>
                      <a:blip r:embed="rId7"/>
                      <a:srcRect/>
                      <a:stretch>
                        <a:fillRect/>
                      </a:stretch>
                    </p:blipFill>
                    <p:spPr bwMode="auto">
                      <a:xfrm>
                        <a:off x="3548461" y="2337631"/>
                        <a:ext cx="4446693" cy="731837"/>
                      </a:xfrm>
                      <a:prstGeom prst="rect">
                        <a:avLst/>
                      </a:prstGeom>
                      <a:noFill/>
                    </p:spPr>
                  </p:pic>
                </p:oleObj>
              </mc:Fallback>
            </mc:AlternateContent>
          </a:graphicData>
        </a:graphic>
      </p:graphicFrame>
      <p:pic>
        <p:nvPicPr>
          <p:cNvPr id="8" name="图片 7"/>
          <p:cNvPicPr>
            <a:picLocks noChangeAspect="1"/>
          </p:cNvPicPr>
          <p:nvPr/>
        </p:nvPicPr>
        <p:blipFill>
          <a:blip r:embed="rId8" cstate="print"/>
          <a:stretch>
            <a:fillRect/>
          </a:stretch>
        </p:blipFill>
        <p:spPr>
          <a:xfrm>
            <a:off x="4862110" y="3316107"/>
            <a:ext cx="2952751" cy="3028951"/>
          </a:xfrm>
          <a:prstGeom prst="rect">
            <a:avLst/>
          </a:prstGeom>
        </p:spPr>
      </p:pic>
      <p:sp>
        <p:nvSpPr>
          <p:cNvPr id="9" name="灯片编号占位符 8"/>
          <p:cNvSpPr>
            <a:spLocks noGrp="1"/>
          </p:cNvSpPr>
          <p:nvPr>
            <p:ph type="sldNum" sz="quarter" idx="11"/>
          </p:nvPr>
        </p:nvSpPr>
        <p:spPr/>
        <p:txBody>
          <a:bodyPr/>
          <a:lstStyle/>
          <a:p>
            <a:pPr>
              <a:defRPr/>
            </a:pPr>
            <a:fld id="{31E287EE-1289-4991-82CE-EFE584F53F4F}" type="slidenum">
              <a:rPr lang="en-US" altLang="zh-CN" smtClean="0"/>
              <a:pPr>
                <a:defRPr/>
              </a:pPr>
              <a:t>18</a:t>
            </a:fld>
            <a:endParaRPr lang="en-US" altLang="zh-CN" dirty="0"/>
          </a:p>
        </p:txBody>
      </p:sp>
      <p:sp>
        <p:nvSpPr>
          <p:cNvPr id="11" name="矩形 10"/>
          <p:cNvSpPr/>
          <p:nvPr/>
        </p:nvSpPr>
        <p:spPr>
          <a:xfrm>
            <a:off x="4978269" y="4838080"/>
            <a:ext cx="638016" cy="261610"/>
          </a:xfrm>
          <a:prstGeom prst="rect">
            <a:avLst/>
          </a:prstGeom>
        </p:spPr>
        <p:txBody>
          <a:bodyPr wrap="square">
            <a:spAutoFit/>
          </a:bodyPr>
          <a:lstStyle/>
          <a:p>
            <a:r>
              <a:rPr lang="en-US" altLang="zh-CN" sz="1100" dirty="0"/>
              <a:t>0.0714</a:t>
            </a:r>
            <a:endParaRPr lang="zh-CN" altLang="en-US" sz="1100" dirty="0"/>
          </a:p>
        </p:txBody>
      </p:sp>
      <p:sp>
        <p:nvSpPr>
          <p:cNvPr id="13" name="矩形 12"/>
          <p:cNvSpPr/>
          <p:nvPr/>
        </p:nvSpPr>
        <p:spPr>
          <a:xfrm>
            <a:off x="2564067" y="4710921"/>
            <a:ext cx="692243" cy="276999"/>
          </a:xfrm>
          <a:prstGeom prst="rect">
            <a:avLst/>
          </a:prstGeom>
        </p:spPr>
        <p:txBody>
          <a:bodyPr wrap="square">
            <a:spAutoFit/>
          </a:bodyPr>
          <a:lstStyle/>
          <a:p>
            <a:r>
              <a:rPr lang="en-US" altLang="zh-CN" sz="1200" dirty="0"/>
              <a:t>0.0714</a:t>
            </a:r>
            <a:endParaRPr lang="zh-CN" altLang="en-US" sz="1200" dirty="0"/>
          </a:p>
        </p:txBody>
      </p:sp>
      <p:sp>
        <p:nvSpPr>
          <p:cNvPr id="14" name="矩形 13"/>
          <p:cNvSpPr/>
          <p:nvPr/>
        </p:nvSpPr>
        <p:spPr>
          <a:xfrm>
            <a:off x="1986374" y="4838081"/>
            <a:ext cx="692243" cy="276999"/>
          </a:xfrm>
          <a:prstGeom prst="rect">
            <a:avLst/>
          </a:prstGeom>
        </p:spPr>
        <p:txBody>
          <a:bodyPr wrap="square">
            <a:spAutoFit/>
          </a:bodyPr>
          <a:lstStyle/>
          <a:p>
            <a:r>
              <a:rPr lang="en-US" altLang="zh-CN" sz="1200" dirty="0"/>
              <a:t>0.0714</a:t>
            </a:r>
            <a:endParaRPr lang="zh-CN" altLang="en-US" sz="1200" dirty="0"/>
          </a:p>
        </p:txBody>
      </p:sp>
      <p:sp>
        <p:nvSpPr>
          <p:cNvPr id="15" name="矩形 14"/>
          <p:cNvSpPr/>
          <p:nvPr/>
        </p:nvSpPr>
        <p:spPr>
          <a:xfrm>
            <a:off x="4079777" y="4077073"/>
            <a:ext cx="692243" cy="276999"/>
          </a:xfrm>
          <a:prstGeom prst="rect">
            <a:avLst/>
          </a:prstGeom>
        </p:spPr>
        <p:txBody>
          <a:bodyPr wrap="square">
            <a:spAutoFit/>
          </a:bodyPr>
          <a:lstStyle/>
          <a:p>
            <a:r>
              <a:rPr lang="en-US" altLang="zh-CN" sz="1200" dirty="0"/>
              <a:t>0.0714</a:t>
            </a:r>
            <a:endParaRPr lang="zh-CN" altLang="en-US" sz="1200" dirty="0"/>
          </a:p>
        </p:txBody>
      </p:sp>
      <p:sp>
        <p:nvSpPr>
          <p:cNvPr id="16" name="矩形 15"/>
          <p:cNvSpPr/>
          <p:nvPr/>
        </p:nvSpPr>
        <p:spPr>
          <a:xfrm>
            <a:off x="2634946" y="3728066"/>
            <a:ext cx="652743" cy="276999"/>
          </a:xfrm>
          <a:prstGeom prst="rect">
            <a:avLst/>
          </a:prstGeom>
        </p:spPr>
        <p:txBody>
          <a:bodyPr wrap="none">
            <a:spAutoFit/>
          </a:bodyPr>
          <a:lstStyle/>
          <a:p>
            <a:r>
              <a:rPr lang="en-US" altLang="zh-CN" sz="1200" dirty="0"/>
              <a:t>0.1665</a:t>
            </a:r>
          </a:p>
        </p:txBody>
      </p:sp>
      <p:sp>
        <p:nvSpPr>
          <p:cNvPr id="20" name="矩形 19"/>
          <p:cNvSpPr/>
          <p:nvPr/>
        </p:nvSpPr>
        <p:spPr>
          <a:xfrm>
            <a:off x="5507487" y="6055983"/>
            <a:ext cx="1107996" cy="369332"/>
          </a:xfrm>
          <a:prstGeom prst="rect">
            <a:avLst/>
          </a:prstGeom>
        </p:spPr>
        <p:txBody>
          <a:bodyPr wrap="none">
            <a:spAutoFit/>
          </a:bodyPr>
          <a:lstStyle/>
          <a:p>
            <a:r>
              <a:rPr lang="zh-CN" altLang="en-US" dirty="0"/>
              <a:t>更新权值</a:t>
            </a:r>
          </a:p>
        </p:txBody>
      </p:sp>
      <p:sp>
        <p:nvSpPr>
          <p:cNvPr id="21" name="文本框 20"/>
          <p:cNvSpPr txBox="1"/>
          <p:nvPr/>
        </p:nvSpPr>
        <p:spPr bwMode="auto">
          <a:xfrm>
            <a:off x="1548827" y="4533057"/>
            <a:ext cx="407484" cy="338554"/>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none" rtlCol="0">
            <a:spAutoFit/>
          </a:bodyPr>
          <a:lstStyle/>
          <a:p>
            <a:pPr algn="ctr"/>
            <a:r>
              <a:rPr kumimoji="1" lang="en-US" altLang="zh-CN" sz="1600" dirty="0">
                <a:solidFill>
                  <a:srgbClr val="00B050"/>
                </a:solidFill>
                <a:ea typeface="新細明體" pitchFamily="18" charset="-120"/>
              </a:rPr>
              <a:t>D</a:t>
            </a:r>
            <a:r>
              <a:rPr kumimoji="1" lang="en-US" altLang="zh-CN" sz="1600" baseline="-25000" dirty="0">
                <a:solidFill>
                  <a:srgbClr val="00B050"/>
                </a:solidFill>
                <a:ea typeface="新細明體" pitchFamily="18" charset="-120"/>
              </a:rPr>
              <a:t>2</a:t>
            </a:r>
            <a:endParaRPr kumimoji="1" lang="zh-CN" altLang="en-US" sz="1600" dirty="0">
              <a:solidFill>
                <a:srgbClr val="00B050"/>
              </a:solidFill>
              <a:ea typeface="新細明體" pitchFamily="18" charset="-120"/>
            </a:endParaRPr>
          </a:p>
        </p:txBody>
      </p:sp>
      <p:sp>
        <p:nvSpPr>
          <p:cNvPr id="23" name="文本框 22"/>
          <p:cNvSpPr txBox="1"/>
          <p:nvPr/>
        </p:nvSpPr>
        <p:spPr bwMode="auto">
          <a:xfrm>
            <a:off x="5006108" y="6047985"/>
            <a:ext cx="407484" cy="338554"/>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none" rtlCol="0">
            <a:spAutoFit/>
          </a:bodyPr>
          <a:lstStyle/>
          <a:p>
            <a:pPr algn="ctr"/>
            <a:r>
              <a:rPr kumimoji="1" lang="en-US" altLang="zh-CN" sz="1600" dirty="0">
                <a:solidFill>
                  <a:srgbClr val="00B050"/>
                </a:solidFill>
                <a:ea typeface="新細明體" pitchFamily="18" charset="-120"/>
              </a:rPr>
              <a:t>D</a:t>
            </a:r>
            <a:r>
              <a:rPr kumimoji="1" lang="en-US" altLang="zh-CN" sz="1600" baseline="-25000" dirty="0">
                <a:solidFill>
                  <a:srgbClr val="00B050"/>
                </a:solidFill>
                <a:ea typeface="新細明體" pitchFamily="18" charset="-120"/>
              </a:rPr>
              <a:t>3</a:t>
            </a:r>
            <a:endParaRPr kumimoji="1" lang="zh-CN" altLang="en-US" sz="1600" dirty="0">
              <a:solidFill>
                <a:srgbClr val="00B050"/>
              </a:solidFill>
              <a:ea typeface="新細明體" pitchFamily="18" charset="-120"/>
            </a:endParaRPr>
          </a:p>
        </p:txBody>
      </p:sp>
      <p:pic>
        <p:nvPicPr>
          <p:cNvPr id="24" name="图片 23"/>
          <p:cNvPicPr>
            <a:picLocks noChangeAspect="1"/>
          </p:cNvPicPr>
          <p:nvPr/>
        </p:nvPicPr>
        <p:blipFill>
          <a:blip r:embed="rId9" cstate="print"/>
          <a:stretch>
            <a:fillRect/>
          </a:stretch>
        </p:blipFill>
        <p:spPr>
          <a:xfrm>
            <a:off x="7802234" y="3284988"/>
            <a:ext cx="2953780" cy="3029519"/>
          </a:xfrm>
          <a:prstGeom prst="rect">
            <a:avLst/>
          </a:prstGeom>
        </p:spPr>
      </p:pic>
      <p:sp>
        <p:nvSpPr>
          <p:cNvPr id="25" name="矩形 24"/>
          <p:cNvSpPr/>
          <p:nvPr/>
        </p:nvSpPr>
        <p:spPr>
          <a:xfrm>
            <a:off x="8213998" y="5927794"/>
            <a:ext cx="1402948" cy="369332"/>
          </a:xfrm>
          <a:prstGeom prst="rect">
            <a:avLst/>
          </a:prstGeom>
        </p:spPr>
        <p:txBody>
          <a:bodyPr wrap="none">
            <a:spAutoFit/>
          </a:bodyPr>
          <a:lstStyle/>
          <a:p>
            <a:r>
              <a:rPr lang="zh-CN" altLang="en-US" dirty="0"/>
              <a:t>权值归一化 </a:t>
            </a:r>
          </a:p>
        </p:txBody>
      </p:sp>
      <p:sp>
        <p:nvSpPr>
          <p:cNvPr id="26" name="文本框 25"/>
          <p:cNvSpPr txBox="1"/>
          <p:nvPr/>
        </p:nvSpPr>
        <p:spPr bwMode="auto">
          <a:xfrm>
            <a:off x="7854446" y="5984642"/>
            <a:ext cx="407484" cy="338554"/>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none" rtlCol="0">
            <a:spAutoFit/>
          </a:bodyPr>
          <a:lstStyle/>
          <a:p>
            <a:pPr algn="ctr"/>
            <a:r>
              <a:rPr kumimoji="1" lang="en-US" altLang="zh-CN" sz="1600" dirty="0">
                <a:solidFill>
                  <a:srgbClr val="00B050"/>
                </a:solidFill>
                <a:ea typeface="新細明體" pitchFamily="18" charset="-120"/>
              </a:rPr>
              <a:t>D</a:t>
            </a:r>
            <a:r>
              <a:rPr kumimoji="1" lang="en-US" altLang="zh-CN" sz="1600" baseline="-25000" dirty="0">
                <a:solidFill>
                  <a:srgbClr val="00B050"/>
                </a:solidFill>
                <a:ea typeface="新細明體" pitchFamily="18" charset="-120"/>
              </a:rPr>
              <a:t>3</a:t>
            </a:r>
            <a:endParaRPr kumimoji="1" lang="zh-CN" altLang="en-US" sz="1600" dirty="0">
              <a:solidFill>
                <a:srgbClr val="00B050"/>
              </a:solidFill>
              <a:ea typeface="新細明體" pitchFamily="18" charset="-120"/>
            </a:endParaRPr>
          </a:p>
        </p:txBody>
      </p:sp>
      <p:sp>
        <p:nvSpPr>
          <p:cNvPr id="27" name="矩形 26"/>
          <p:cNvSpPr/>
          <p:nvPr/>
        </p:nvSpPr>
        <p:spPr>
          <a:xfrm>
            <a:off x="4635121" y="1358745"/>
            <a:ext cx="4075112" cy="370870"/>
          </a:xfrm>
          <a:prstGeom prst="rect">
            <a:avLst/>
          </a:prstGeom>
        </p:spPr>
        <p:txBody>
          <a:bodyPr wrap="square">
            <a:spAutoFit/>
          </a:bodyPr>
          <a:lstStyle/>
          <a:p>
            <a:pPr>
              <a:spcBef>
                <a:spcPts val="0"/>
              </a:spcBef>
            </a:pPr>
            <a:r>
              <a:rPr lang="el-GR" altLang="zh-CN" dirty="0"/>
              <a:t>ε</a:t>
            </a:r>
            <a:r>
              <a:rPr lang="en-US" altLang="zh-CN" baseline="-25000" dirty="0"/>
              <a:t>2</a:t>
            </a:r>
            <a:r>
              <a:rPr lang="en-US" altLang="zh-CN" dirty="0"/>
              <a:t>=(0.0714+0.0714+0.0714)=0.2142  </a:t>
            </a:r>
          </a:p>
        </p:txBody>
      </p:sp>
      <p:graphicFrame>
        <p:nvGraphicFramePr>
          <p:cNvPr id="28" name="Object 9"/>
          <p:cNvGraphicFramePr>
            <a:graphicFrameLocks noChangeAspect="1"/>
          </p:cNvGraphicFramePr>
          <p:nvPr>
            <p:extLst>
              <p:ext uri="{D42A27DB-BD31-4B8C-83A1-F6EECF244321}">
                <p14:modId xmlns:p14="http://schemas.microsoft.com/office/powerpoint/2010/main" val="2072575426"/>
              </p:ext>
            </p:extLst>
          </p:nvPr>
        </p:nvGraphicFramePr>
        <p:xfrm>
          <a:off x="8808004" y="2364255"/>
          <a:ext cx="3216161" cy="978151"/>
        </p:xfrm>
        <a:graphic>
          <a:graphicData uri="http://schemas.openxmlformats.org/presentationml/2006/ole">
            <mc:AlternateContent xmlns:mc="http://schemas.openxmlformats.org/markup-compatibility/2006">
              <mc:Choice xmlns:v="urn:schemas-microsoft-com:vml" Requires="v">
                <p:oleObj spid="_x0000_s177463" name="Equation" r:id="rId10" imgW="2311200" imgH="698400" progId="Equation.DSMT4">
                  <p:embed/>
                </p:oleObj>
              </mc:Choice>
              <mc:Fallback>
                <p:oleObj name="Equation" r:id="rId10" imgW="2311200" imgH="698400" progId="Equation.DSMT4">
                  <p:embed/>
                  <p:pic>
                    <p:nvPicPr>
                      <p:cNvPr id="17" name="Object 9"/>
                      <p:cNvPicPr>
                        <a:picLocks noChangeAspect="1" noChangeArrowheads="1"/>
                      </p:cNvPicPr>
                      <p:nvPr/>
                    </p:nvPicPr>
                    <p:blipFill>
                      <a:blip r:embed="rId11"/>
                      <a:srcRect/>
                      <a:stretch>
                        <a:fillRect/>
                      </a:stretch>
                    </p:blipFill>
                    <p:spPr bwMode="auto">
                      <a:xfrm>
                        <a:off x="8808004" y="2364255"/>
                        <a:ext cx="3216161" cy="978151"/>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29" name="文字方塊 11"/>
              <p:cNvSpPr txBox="1"/>
              <p:nvPr/>
            </p:nvSpPr>
            <p:spPr>
              <a:xfrm>
                <a:off x="8469215" y="1777220"/>
                <a:ext cx="2725409" cy="3727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smtClean="0">
                              <a:latin typeface="Cambria Math" panose="02040503050406030204" pitchFamily="18" charset="0"/>
                              <a:ea typeface="Cambria Math" panose="02040503050406030204" pitchFamily="18" charset="0"/>
                            </a:rPr>
                          </m:ctrlPr>
                        </m:sSubPr>
                        <m:e>
                          <m:r>
                            <a:rPr lang="zh-TW" altLang="en-US" sz="2000" i="1">
                              <a:latin typeface="Cambria Math" panose="02040503050406030204" pitchFamily="18" charset="0"/>
                            </a:rPr>
                            <m:t>𝛼</m:t>
                          </m:r>
                        </m:e>
                        <m:sub>
                          <m:r>
                            <a:rPr lang="en-US" altLang="zh-TW" sz="2000" i="1">
                              <a:latin typeface="Cambria Math" panose="02040503050406030204" pitchFamily="18" charset="0"/>
                              <a:ea typeface="Cambria Math" panose="02040503050406030204" pitchFamily="18" charset="0"/>
                            </a:rPr>
                            <m:t>𝑡</m:t>
                          </m:r>
                        </m:sub>
                      </m:sSub>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𝑙𝑛</m:t>
                      </m:r>
                      <m:rad>
                        <m:radPr>
                          <m:degHide m:val="on"/>
                          <m:ctrlPr>
                            <a:rPr lang="en-US" altLang="zh-TW" sz="2000" b="0" i="1" smtClean="0">
                              <a:latin typeface="Cambria Math" panose="02040503050406030204" pitchFamily="18" charset="0"/>
                            </a:rPr>
                          </m:ctrlPr>
                        </m:radPr>
                        <m:deg/>
                        <m:e>
                          <m:f>
                            <m:fPr>
                              <m:type m:val="lin"/>
                              <m:ctrlPr>
                                <a:rPr lang="en-US" altLang="zh-TW" sz="2000" b="0" i="1" smtClean="0">
                                  <a:latin typeface="Cambria Math" panose="02040503050406030204" pitchFamily="18" charset="0"/>
                                </a:rPr>
                              </m:ctrlPr>
                            </m:fPr>
                            <m:num>
                              <m:d>
                                <m:dPr>
                                  <m:ctrlPr>
                                    <a:rPr lang="en-US" altLang="zh-TW" sz="2000" b="0" i="1" smtClean="0">
                                      <a:latin typeface="Cambria Math" panose="02040503050406030204" pitchFamily="18" charset="0"/>
                                    </a:rPr>
                                  </m:ctrlPr>
                                </m:dPr>
                                <m:e>
                                  <m:r>
                                    <a:rPr lang="en-US" altLang="zh-TW" sz="2000" i="1">
                                      <a:latin typeface="Cambria Math" panose="02040503050406030204" pitchFamily="18" charset="0"/>
                                    </a:rPr>
                                    <m:t>1−</m:t>
                                  </m:r>
                                  <m:sSub>
                                    <m:sSubPr>
                                      <m:ctrlPr>
                                        <a:rPr lang="en-US" altLang="zh-TW" sz="2000" i="1">
                                          <a:latin typeface="Cambria Math" panose="02040503050406030204" pitchFamily="18" charset="0"/>
                                        </a:rPr>
                                      </m:ctrlPr>
                                    </m:sSubPr>
                                    <m:e>
                                      <m:r>
                                        <a:rPr lang="zh-TW" altLang="en-US" sz="2000" i="1">
                                          <a:latin typeface="Cambria Math" panose="02040503050406030204" pitchFamily="18" charset="0"/>
                                        </a:rPr>
                                        <m:t>𝜀</m:t>
                                      </m:r>
                                    </m:e>
                                    <m:sub>
                                      <m:r>
                                        <a:rPr lang="en-US" altLang="zh-TW" sz="2000" i="1">
                                          <a:latin typeface="Cambria Math" panose="02040503050406030204" pitchFamily="18" charset="0"/>
                                        </a:rPr>
                                        <m:t>𝑡</m:t>
                                      </m:r>
                                    </m:sub>
                                  </m:sSub>
                                </m:e>
                              </m:d>
                            </m:num>
                            <m:den>
                              <m:sSub>
                                <m:sSubPr>
                                  <m:ctrlPr>
                                    <a:rPr lang="en-US" altLang="zh-TW" sz="2000" i="1">
                                      <a:latin typeface="Cambria Math" panose="02040503050406030204" pitchFamily="18" charset="0"/>
                                    </a:rPr>
                                  </m:ctrlPr>
                                </m:sSubPr>
                                <m:e>
                                  <m:r>
                                    <a:rPr lang="zh-TW" altLang="en-US" sz="2000" i="1">
                                      <a:latin typeface="Cambria Math" panose="02040503050406030204" pitchFamily="18" charset="0"/>
                                    </a:rPr>
                                    <m:t>𝜀</m:t>
                                  </m:r>
                                </m:e>
                                <m:sub>
                                  <m:r>
                                    <a:rPr lang="en-US" altLang="zh-TW" sz="2000" i="1">
                                      <a:latin typeface="Cambria Math" panose="02040503050406030204" pitchFamily="18" charset="0"/>
                                    </a:rPr>
                                    <m:t>𝑡</m:t>
                                  </m:r>
                                </m:sub>
                              </m:sSub>
                            </m:den>
                          </m:f>
                        </m:e>
                      </m:rad>
                    </m:oMath>
                  </m:oMathPara>
                </a14:m>
                <a:endParaRPr lang="zh-TW" altLang="en-US" sz="2000" dirty="0"/>
              </a:p>
            </p:txBody>
          </p:sp>
        </mc:Choice>
        <mc:Fallback xmlns="">
          <p:sp>
            <p:nvSpPr>
              <p:cNvPr id="29" name="文字方塊 11"/>
              <p:cNvSpPr txBox="1">
                <a:spLocks noRot="1" noChangeAspect="1" noMove="1" noResize="1" noEditPoints="1" noAdjustHandles="1" noChangeArrowheads="1" noChangeShapeType="1" noTextEdit="1"/>
              </p:cNvSpPr>
              <p:nvPr/>
            </p:nvSpPr>
            <p:spPr>
              <a:xfrm>
                <a:off x="8469215" y="1777220"/>
                <a:ext cx="2725409" cy="372731"/>
              </a:xfrm>
              <a:prstGeom prst="rect">
                <a:avLst/>
              </a:prstGeom>
              <a:blipFill>
                <a:blip r:embed="rId12"/>
                <a:stretch>
                  <a:fillRect t="-121311" r="-12528" b="-2049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p:cNvSpPr/>
              <p:nvPr/>
            </p:nvSpPr>
            <p:spPr>
              <a:xfrm>
                <a:off x="7526412" y="6178862"/>
                <a:ext cx="3229602" cy="7645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𝐷</m:t>
                          </m:r>
                        </m:e>
                        <m:sub>
                          <m:r>
                            <a:rPr lang="zh-CN" altLang="en-US" i="1">
                              <a:latin typeface="Cambria Math" panose="02040503050406030204" pitchFamily="18" charset="0"/>
                            </a:rPr>
                            <m:t>𝑡</m:t>
                          </m:r>
                          <m:r>
                            <a:rPr lang="zh-CN" altLang="en-US" i="0">
                              <a:latin typeface="Cambria Math" panose="02040503050406030204" pitchFamily="18" charset="0"/>
                            </a:rPr>
                            <m:t>+1</m:t>
                          </m:r>
                        </m:sub>
                      </m:sSub>
                      <m:r>
                        <a:rPr lang="zh-CN" altLang="en-US" i="0">
                          <a:latin typeface="Cambria Math" panose="02040503050406030204" pitchFamily="18" charset="0"/>
                        </a:rPr>
                        <m:t>(</m:t>
                      </m:r>
                      <m:r>
                        <a:rPr lang="zh-CN" altLang="en-US" i="1">
                          <a:latin typeface="Cambria Math" panose="02040503050406030204" pitchFamily="18" charset="0"/>
                        </a:rPr>
                        <m:t>𝑖</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𝐷</m:t>
                          </m:r>
                        </m:e>
                        <m:sub>
                          <m:r>
                            <a:rPr lang="zh-CN" altLang="en-US" i="1">
                              <a:latin typeface="Cambria Math" panose="02040503050406030204" pitchFamily="18" charset="0"/>
                            </a:rPr>
                            <m:t>𝑡</m:t>
                          </m:r>
                          <m:r>
                            <a:rPr lang="zh-CN" altLang="en-US">
                              <a:latin typeface="Cambria Math" panose="02040503050406030204" pitchFamily="18" charset="0"/>
                            </a:rPr>
                            <m:t>+1</m:t>
                          </m:r>
                        </m:sub>
                      </m:sSub>
                      <m:r>
                        <a:rPr lang="zh-CN" altLang="en-US">
                          <a:latin typeface="Cambria Math" panose="02040503050406030204" pitchFamily="18" charset="0"/>
                        </a:rPr>
                        <m:t>(</m:t>
                      </m:r>
                      <m:r>
                        <a:rPr lang="zh-CN" altLang="en-US" i="1">
                          <a:latin typeface="Cambria Math" panose="02040503050406030204" pitchFamily="18" charset="0"/>
                        </a:rPr>
                        <m:t>𝑖</m:t>
                      </m:r>
                      <m:r>
                        <a:rPr lang="en-US" altLang="zh-CN" b="0" i="1" smtClean="0">
                          <a:latin typeface="Cambria Math" panose="02040503050406030204" pitchFamily="18" charset="0"/>
                        </a:rPr>
                        <m:t>)/</m:t>
                      </m:r>
                      <m:nary>
                        <m:naryPr>
                          <m:chr m:val="∑"/>
                          <m:supHide m:val="on"/>
                          <m:ctrlPr>
                            <a:rPr lang="en-US" altLang="zh-TW" i="1">
                              <a:latin typeface="Cambria Math" panose="02040503050406030204" pitchFamily="18" charset="0"/>
                            </a:rPr>
                          </m:ctrlPr>
                        </m:naryPr>
                        <m:sub>
                          <m:r>
                            <m:rPr>
                              <m:brk m:alnAt="7"/>
                            </m:rPr>
                            <a:rPr lang="en-US" altLang="zh-TW" i="1">
                              <a:latin typeface="Cambria Math" panose="02040503050406030204" pitchFamily="18" charset="0"/>
                            </a:rPr>
                            <m:t>𝑖</m:t>
                          </m:r>
                        </m:sub>
                        <m:sup/>
                        <m:e>
                          <m:sSub>
                            <m:sSubPr>
                              <m:ctrlPr>
                                <a:rPr lang="zh-CN" altLang="en-US" i="1">
                                  <a:latin typeface="Cambria Math" panose="02040503050406030204" pitchFamily="18" charset="0"/>
                                </a:rPr>
                              </m:ctrlPr>
                            </m:sSubPr>
                            <m:e>
                              <m:r>
                                <a:rPr lang="zh-CN" altLang="en-US" i="1">
                                  <a:latin typeface="Cambria Math" panose="02040503050406030204" pitchFamily="18" charset="0"/>
                                </a:rPr>
                                <m:t>𝐷</m:t>
                              </m:r>
                            </m:e>
                            <m:sub>
                              <m:r>
                                <a:rPr lang="zh-CN" altLang="en-US" i="1">
                                  <a:latin typeface="Cambria Math" panose="02040503050406030204" pitchFamily="18" charset="0"/>
                                </a:rPr>
                                <m:t>𝑡</m:t>
                              </m:r>
                              <m:r>
                                <a:rPr lang="en-US" altLang="zh-CN" i="1">
                                  <a:latin typeface="Cambria Math" panose="02040503050406030204" pitchFamily="18" charset="0"/>
                                </a:rPr>
                                <m:t>+1</m:t>
                              </m:r>
                            </m:sub>
                          </m:sSub>
                          <m:r>
                            <a:rPr lang="zh-CN" altLang="en-US">
                              <a:latin typeface="Cambria Math" panose="02040503050406030204" pitchFamily="18" charset="0"/>
                            </a:rPr>
                            <m:t>(</m:t>
                          </m:r>
                          <m:r>
                            <a:rPr lang="zh-CN" altLang="en-US" i="1">
                              <a:latin typeface="Cambria Math" panose="02040503050406030204" pitchFamily="18" charset="0"/>
                            </a:rPr>
                            <m:t>𝑖</m:t>
                          </m:r>
                          <m:r>
                            <a:rPr lang="en-US" altLang="zh-CN" i="1">
                              <a:latin typeface="Cambria Math" panose="02040503050406030204" pitchFamily="18" charset="0"/>
                            </a:rPr>
                            <m:t>)</m:t>
                          </m:r>
                        </m:e>
                      </m:nary>
                    </m:oMath>
                  </m:oMathPara>
                </a14:m>
                <a:endParaRPr lang="zh-CN" altLang="en-US" dirty="0"/>
              </a:p>
            </p:txBody>
          </p:sp>
        </mc:Choice>
        <mc:Fallback xmlns="">
          <p:sp>
            <p:nvSpPr>
              <p:cNvPr id="30" name="矩形 29"/>
              <p:cNvSpPr>
                <a:spLocks noRot="1" noChangeAspect="1" noMove="1" noResize="1" noEditPoints="1" noAdjustHandles="1" noChangeArrowheads="1" noChangeShapeType="1" noTextEdit="1"/>
              </p:cNvSpPr>
              <p:nvPr/>
            </p:nvSpPr>
            <p:spPr>
              <a:xfrm>
                <a:off x="7526412" y="6178862"/>
                <a:ext cx="3229602" cy="764568"/>
              </a:xfrm>
              <a:prstGeom prst="rect">
                <a:avLst/>
              </a:prstGeom>
              <a:blipFill>
                <a:blip r:embed="rId13"/>
                <a:stretch>
                  <a:fillRect/>
                </a:stretch>
              </a:blipFill>
            </p:spPr>
            <p:txBody>
              <a:bodyPr/>
              <a:lstStyle/>
              <a:p>
                <a:r>
                  <a:rPr lang="zh-CN" altLang="en-US">
                    <a:noFill/>
                  </a:rPr>
                  <a:t> </a:t>
                </a:r>
              </a:p>
            </p:txBody>
          </p:sp>
        </mc:Fallback>
      </mc:AlternateContent>
      <p:graphicFrame>
        <p:nvGraphicFramePr>
          <p:cNvPr id="34" name="对象 4"/>
          <p:cNvGraphicFramePr>
            <a:graphicFrameLocks noChangeAspect="1"/>
          </p:cNvGraphicFramePr>
          <p:nvPr>
            <p:extLst>
              <p:ext uri="{D42A27DB-BD31-4B8C-83A1-F6EECF244321}">
                <p14:modId xmlns:p14="http://schemas.microsoft.com/office/powerpoint/2010/main" val="3742115357"/>
              </p:ext>
            </p:extLst>
          </p:nvPr>
        </p:nvGraphicFramePr>
        <p:xfrm>
          <a:off x="4589033" y="2988014"/>
          <a:ext cx="778471" cy="625068"/>
        </p:xfrm>
        <a:graphic>
          <a:graphicData uri="http://schemas.openxmlformats.org/presentationml/2006/ole">
            <mc:AlternateContent xmlns:mc="http://schemas.openxmlformats.org/markup-compatibility/2006">
              <mc:Choice xmlns:v="urn:schemas-microsoft-com:vml" Requires="v">
                <p:oleObj spid="_x0000_s177464" name="Equation" r:id="rId14" imgW="622080" imgH="457200" progId="Equation.DSMT4">
                  <p:embed/>
                </p:oleObj>
              </mc:Choice>
              <mc:Fallback>
                <p:oleObj name="Equation" r:id="rId14" imgW="622080" imgH="457200" progId="Equation.DSMT4">
                  <p:embed/>
                  <p:pic>
                    <p:nvPicPr>
                      <p:cNvPr id="6" name="对象 4"/>
                      <p:cNvPicPr>
                        <a:picLocks noChangeAspect="1" noChangeArrowheads="1"/>
                      </p:cNvPicPr>
                      <p:nvPr/>
                    </p:nvPicPr>
                    <p:blipFill>
                      <a:blip r:embed="rId15"/>
                      <a:srcRect/>
                      <a:stretch>
                        <a:fillRect/>
                      </a:stretch>
                    </p:blipFill>
                    <p:spPr bwMode="auto">
                      <a:xfrm>
                        <a:off x="4589033" y="2988014"/>
                        <a:ext cx="778471" cy="625068"/>
                      </a:xfrm>
                      <a:prstGeom prst="rect">
                        <a:avLst/>
                      </a:prstGeom>
                      <a:solidFill>
                        <a:srgbClr val="FFFF00"/>
                      </a:solidFill>
                    </p:spPr>
                  </p:pic>
                </p:oleObj>
              </mc:Fallback>
            </mc:AlternateContent>
          </a:graphicData>
        </a:graphic>
      </p:graphicFrame>
      <p:sp>
        <p:nvSpPr>
          <p:cNvPr id="35" name="文本框 34"/>
          <p:cNvSpPr txBox="1"/>
          <p:nvPr/>
        </p:nvSpPr>
        <p:spPr bwMode="auto">
          <a:xfrm>
            <a:off x="8644737" y="35250"/>
            <a:ext cx="1893387" cy="30777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kumimoji="1" lang="zh-CN" altLang="en-US" sz="1400" dirty="0">
                <a:solidFill>
                  <a:schemeClr val="tx1"/>
                </a:solidFill>
                <a:ea typeface="新細明體" pitchFamily="18" charset="-120"/>
              </a:rPr>
              <a:t>简化的权值更新策略</a:t>
            </a:r>
          </a:p>
        </p:txBody>
      </p:sp>
    </p:spTree>
    <p:extLst>
      <p:ext uri="{BB962C8B-B14F-4D97-AF65-F5344CB8AC3E}">
        <p14:creationId xmlns:p14="http://schemas.microsoft.com/office/powerpoint/2010/main" val="323253803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30347" y="3414445"/>
            <a:ext cx="4600575" cy="3105151"/>
          </a:xfrm>
          <a:prstGeom prst="rect">
            <a:avLst/>
          </a:prstGeom>
        </p:spPr>
      </p:pic>
      <p:pic>
        <p:nvPicPr>
          <p:cNvPr id="3" name="图片 2"/>
          <p:cNvPicPr>
            <a:picLocks noChangeAspect="1"/>
          </p:cNvPicPr>
          <p:nvPr/>
        </p:nvPicPr>
        <p:blipFill>
          <a:blip r:embed="rId4" cstate="print"/>
          <a:stretch>
            <a:fillRect/>
          </a:stretch>
        </p:blipFill>
        <p:spPr>
          <a:xfrm>
            <a:off x="1657400" y="3120662"/>
            <a:ext cx="3600400" cy="3692719"/>
          </a:xfrm>
          <a:prstGeom prst="rect">
            <a:avLst/>
          </a:prstGeom>
        </p:spPr>
      </p:pic>
      <p:sp>
        <p:nvSpPr>
          <p:cNvPr id="7" name="矩形 6"/>
          <p:cNvSpPr/>
          <p:nvPr/>
        </p:nvSpPr>
        <p:spPr>
          <a:xfrm>
            <a:off x="507008" y="950571"/>
            <a:ext cx="9909472" cy="707886"/>
          </a:xfrm>
          <a:prstGeom prst="rect">
            <a:avLst/>
          </a:prstGeom>
        </p:spPr>
        <p:txBody>
          <a:bodyPr wrap="square">
            <a:spAutoFit/>
          </a:bodyPr>
          <a:lstStyle/>
          <a:p>
            <a:pPr>
              <a:spcBef>
                <a:spcPts val="0"/>
              </a:spcBef>
            </a:pPr>
            <a:r>
              <a:rPr lang="en-US" altLang="zh-CN" sz="2000" dirty="0"/>
              <a:t>t=3</a:t>
            </a:r>
            <a:r>
              <a:rPr lang="zh-CN" altLang="en-US" sz="2000" dirty="0"/>
              <a:t>，</a:t>
            </a:r>
            <a:r>
              <a:rPr lang="zh-CN" altLang="en-US" sz="2000" dirty="0">
                <a:solidFill>
                  <a:srgbClr val="0000FF"/>
                </a:solidFill>
              </a:rPr>
              <a:t>选取使训练数据集</a:t>
            </a:r>
            <a:r>
              <a:rPr lang="en-US" altLang="zh-CN" sz="2000" dirty="0">
                <a:solidFill>
                  <a:srgbClr val="0000FF"/>
                </a:solidFill>
              </a:rPr>
              <a:t>D3</a:t>
            </a:r>
            <a:r>
              <a:rPr lang="zh-CN" altLang="en-US" sz="2000" dirty="0">
                <a:solidFill>
                  <a:srgbClr val="0000FF"/>
                </a:solidFill>
              </a:rPr>
              <a:t>上分类误差率最低的直线作为</a:t>
            </a:r>
            <a:r>
              <a:rPr lang="en-US" altLang="zh-CN" sz="2000" dirty="0">
                <a:solidFill>
                  <a:srgbClr val="0000FF"/>
                </a:solidFill>
              </a:rPr>
              <a:t>h3</a:t>
            </a:r>
            <a:r>
              <a:rPr lang="zh-CN" altLang="en-US" sz="2000" dirty="0">
                <a:solidFill>
                  <a:srgbClr val="0000FF"/>
                </a:solidFill>
              </a:rPr>
              <a:t>划分</a:t>
            </a:r>
            <a:r>
              <a:rPr lang="zh-CN" altLang="en-US" sz="2000" dirty="0"/>
              <a:t>。利用</a:t>
            </a:r>
            <a:r>
              <a:rPr lang="en-US" altLang="zh-CN" sz="2000" dirty="0"/>
              <a:t>h3</a:t>
            </a:r>
            <a:r>
              <a:rPr lang="zh-CN" altLang="en-US" sz="2000" dirty="0"/>
              <a:t>进行划分后，有三个点划分错了，计算</a:t>
            </a:r>
            <a:r>
              <a:rPr lang="zh-CN" altLang="en-US" sz="2000" b="1" dirty="0">
                <a:solidFill>
                  <a:srgbClr val="0000FF"/>
                </a:solidFill>
              </a:rPr>
              <a:t>分类误差率：</a:t>
            </a:r>
            <a:endParaRPr lang="en-US" altLang="zh-CN" sz="2000" b="1" dirty="0">
              <a:solidFill>
                <a:srgbClr val="0000FF"/>
              </a:solidFill>
            </a:endParaRPr>
          </a:p>
        </p:txBody>
      </p:sp>
      <p:graphicFrame>
        <p:nvGraphicFramePr>
          <p:cNvPr id="8" name="对象 4"/>
          <p:cNvGraphicFramePr>
            <a:graphicFrameLocks noChangeAspect="1"/>
          </p:cNvGraphicFramePr>
          <p:nvPr>
            <p:extLst>
              <p:ext uri="{D42A27DB-BD31-4B8C-83A1-F6EECF244321}">
                <p14:modId xmlns:p14="http://schemas.microsoft.com/office/powerpoint/2010/main" val="4077991190"/>
              </p:ext>
            </p:extLst>
          </p:nvPr>
        </p:nvGraphicFramePr>
        <p:xfrm>
          <a:off x="1056477" y="1738509"/>
          <a:ext cx="5181600" cy="744537"/>
        </p:xfrm>
        <a:graphic>
          <a:graphicData uri="http://schemas.openxmlformats.org/presentationml/2006/ole">
            <mc:AlternateContent xmlns:mc="http://schemas.openxmlformats.org/markup-compatibility/2006">
              <mc:Choice xmlns:v="urn:schemas-microsoft-com:vml" Requires="v">
                <p:oleObj spid="_x0000_s179475" name="公式" r:id="rId5" imgW="3352800" imgH="482600" progId="">
                  <p:embed/>
                </p:oleObj>
              </mc:Choice>
              <mc:Fallback>
                <p:oleObj name="公式" r:id="rId5" imgW="3352800" imgH="482600" progId="">
                  <p:embed/>
                  <p:pic>
                    <p:nvPicPr>
                      <p:cNvPr id="0" name="Picture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6477" y="1738509"/>
                        <a:ext cx="5181600" cy="744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矩形 8"/>
          <p:cNvSpPr/>
          <p:nvPr/>
        </p:nvSpPr>
        <p:spPr>
          <a:xfrm>
            <a:off x="397669" y="2621352"/>
            <a:ext cx="3249608" cy="369332"/>
          </a:xfrm>
          <a:prstGeom prst="rect">
            <a:avLst/>
          </a:prstGeom>
        </p:spPr>
        <p:txBody>
          <a:bodyPr wrap="none">
            <a:spAutoFit/>
          </a:bodyPr>
          <a:lstStyle/>
          <a:p>
            <a:pPr>
              <a:defRPr/>
            </a:pPr>
            <a:r>
              <a:rPr lang="zh-CN" altLang="en-US" dirty="0"/>
              <a:t>对于分类错误的点，其权值为</a:t>
            </a:r>
            <a:r>
              <a:rPr lang="en-US" altLang="zh-CN" dirty="0"/>
              <a:t>:</a:t>
            </a:r>
          </a:p>
        </p:txBody>
      </p:sp>
      <p:graphicFrame>
        <p:nvGraphicFramePr>
          <p:cNvPr id="10" name="对象 6"/>
          <p:cNvGraphicFramePr>
            <a:graphicFrameLocks noChangeAspect="1"/>
          </p:cNvGraphicFramePr>
          <p:nvPr>
            <p:extLst>
              <p:ext uri="{D42A27DB-BD31-4B8C-83A1-F6EECF244321}">
                <p14:modId xmlns:p14="http://schemas.microsoft.com/office/powerpoint/2010/main" val="3148102746"/>
              </p:ext>
            </p:extLst>
          </p:nvPr>
        </p:nvGraphicFramePr>
        <p:xfrm>
          <a:off x="3647277" y="2450846"/>
          <a:ext cx="4916487" cy="731837"/>
        </p:xfrm>
        <a:graphic>
          <a:graphicData uri="http://schemas.openxmlformats.org/presentationml/2006/ole">
            <mc:AlternateContent xmlns:mc="http://schemas.openxmlformats.org/markup-compatibility/2006">
              <mc:Choice xmlns:v="urn:schemas-microsoft-com:vml" Requires="v">
                <p:oleObj spid="_x0000_s179476" name="公式" r:id="rId7" imgW="3073400" imgH="457200" progId="">
                  <p:embed/>
                </p:oleObj>
              </mc:Choice>
              <mc:Fallback>
                <p:oleObj name="公式" r:id="rId7" imgW="3073400" imgH="457200" progId="">
                  <p:embed/>
                  <p:pic>
                    <p:nvPicPr>
                      <p:cNvPr id="0" name="Picture 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47277" y="2450846"/>
                        <a:ext cx="4916487" cy="731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标题 3"/>
          <p:cNvSpPr>
            <a:spLocks noGrp="1"/>
          </p:cNvSpPr>
          <p:nvPr>
            <p:ph type="title"/>
          </p:nvPr>
        </p:nvSpPr>
        <p:spPr/>
        <p:txBody>
          <a:bodyPr/>
          <a:lstStyle/>
          <a:p>
            <a:r>
              <a:rPr lang="zh-CN" altLang="en-US" dirty="0">
                <a:solidFill>
                  <a:srgbClr val="303030"/>
                </a:solidFill>
                <a:sym typeface="Arial" panose="020B0604020202020204" pitchFamily="34" charset="0"/>
              </a:rPr>
              <a:t>Adaboost 实例详解</a:t>
            </a:r>
            <a:endParaRPr lang="zh-CN" altLang="en-US" dirty="0"/>
          </a:p>
        </p:txBody>
      </p:sp>
      <p:sp>
        <p:nvSpPr>
          <p:cNvPr id="12" name="文本框 11"/>
          <p:cNvSpPr txBox="1"/>
          <p:nvPr/>
        </p:nvSpPr>
        <p:spPr bwMode="auto">
          <a:xfrm>
            <a:off x="1828800" y="5949280"/>
            <a:ext cx="407484" cy="338554"/>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none" rtlCol="0">
            <a:spAutoFit/>
          </a:bodyPr>
          <a:lstStyle/>
          <a:p>
            <a:pPr algn="ctr"/>
            <a:r>
              <a:rPr kumimoji="1" lang="en-US" altLang="zh-CN" sz="1600" dirty="0">
                <a:solidFill>
                  <a:srgbClr val="00B050"/>
                </a:solidFill>
                <a:ea typeface="新細明體" pitchFamily="18" charset="-120"/>
              </a:rPr>
              <a:t>D</a:t>
            </a:r>
            <a:r>
              <a:rPr kumimoji="1" lang="en-US" altLang="zh-CN" sz="1600" baseline="-25000" dirty="0">
                <a:solidFill>
                  <a:srgbClr val="00B050"/>
                </a:solidFill>
                <a:ea typeface="新細明體" pitchFamily="18" charset="-120"/>
              </a:rPr>
              <a:t>3</a:t>
            </a:r>
            <a:endParaRPr kumimoji="1" lang="zh-CN" altLang="en-US" sz="1600" dirty="0">
              <a:solidFill>
                <a:srgbClr val="00B050"/>
              </a:solidFill>
              <a:ea typeface="新細明體" pitchFamily="18" charset="-120"/>
            </a:endParaRPr>
          </a:p>
        </p:txBody>
      </p:sp>
      <p:sp>
        <p:nvSpPr>
          <p:cNvPr id="5" name="矩形 4"/>
          <p:cNvSpPr/>
          <p:nvPr/>
        </p:nvSpPr>
        <p:spPr>
          <a:xfrm>
            <a:off x="4871864" y="1338399"/>
            <a:ext cx="4294765" cy="400110"/>
          </a:xfrm>
          <a:prstGeom prst="rect">
            <a:avLst/>
          </a:prstGeom>
        </p:spPr>
        <p:txBody>
          <a:bodyPr wrap="none">
            <a:spAutoFit/>
          </a:bodyPr>
          <a:lstStyle/>
          <a:p>
            <a:pPr>
              <a:spcBef>
                <a:spcPts val="0"/>
              </a:spcBef>
            </a:pPr>
            <a:r>
              <a:rPr lang="el-GR" altLang="zh-CN" sz="2000" dirty="0"/>
              <a:t>ε</a:t>
            </a:r>
            <a:r>
              <a:rPr lang="en-US" altLang="zh-CN" sz="2000" baseline="-25000" dirty="0"/>
              <a:t>3</a:t>
            </a:r>
            <a:r>
              <a:rPr lang="en-US" altLang="zh-CN" sz="2000" dirty="0"/>
              <a:t>=(0.0455+0.0455+0.0455)=0.1365</a:t>
            </a:r>
          </a:p>
        </p:txBody>
      </p:sp>
      <p:sp>
        <p:nvSpPr>
          <p:cNvPr id="13" name="文本框 12"/>
          <p:cNvSpPr txBox="1"/>
          <p:nvPr/>
        </p:nvSpPr>
        <p:spPr bwMode="auto">
          <a:xfrm>
            <a:off x="5656473" y="5949280"/>
            <a:ext cx="407484" cy="338554"/>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none" rtlCol="0">
            <a:spAutoFit/>
          </a:bodyPr>
          <a:lstStyle/>
          <a:p>
            <a:pPr algn="ctr"/>
            <a:r>
              <a:rPr kumimoji="1" lang="en-US" altLang="zh-CN" sz="1600" dirty="0">
                <a:solidFill>
                  <a:srgbClr val="00B050"/>
                </a:solidFill>
                <a:ea typeface="新細明體" pitchFamily="18" charset="-120"/>
              </a:rPr>
              <a:t>D</a:t>
            </a:r>
            <a:r>
              <a:rPr kumimoji="1" lang="en-US" altLang="zh-CN" sz="1600" baseline="-25000" dirty="0">
                <a:solidFill>
                  <a:srgbClr val="00B050"/>
                </a:solidFill>
                <a:ea typeface="新細明體" pitchFamily="18" charset="-120"/>
              </a:rPr>
              <a:t>4</a:t>
            </a:r>
            <a:endParaRPr kumimoji="1" lang="zh-CN" altLang="en-US" sz="1600" dirty="0">
              <a:solidFill>
                <a:srgbClr val="00B050"/>
              </a:solidFill>
              <a:ea typeface="新細明體" pitchFamily="18" charset="-120"/>
            </a:endParaRPr>
          </a:p>
        </p:txBody>
      </p:sp>
      <p:graphicFrame>
        <p:nvGraphicFramePr>
          <p:cNvPr id="14" name="对象 4"/>
          <p:cNvGraphicFramePr>
            <a:graphicFrameLocks noChangeAspect="1"/>
          </p:cNvGraphicFramePr>
          <p:nvPr>
            <p:extLst>
              <p:ext uri="{D42A27DB-BD31-4B8C-83A1-F6EECF244321}">
                <p14:modId xmlns:p14="http://schemas.microsoft.com/office/powerpoint/2010/main" val="177666056"/>
              </p:ext>
            </p:extLst>
          </p:nvPr>
        </p:nvGraphicFramePr>
        <p:xfrm>
          <a:off x="8830747" y="4221088"/>
          <a:ext cx="1052706" cy="864096"/>
        </p:xfrm>
        <a:graphic>
          <a:graphicData uri="http://schemas.openxmlformats.org/presentationml/2006/ole">
            <mc:AlternateContent xmlns:mc="http://schemas.openxmlformats.org/markup-compatibility/2006">
              <mc:Choice xmlns:v="urn:schemas-microsoft-com:vml" Requires="v">
                <p:oleObj spid="_x0000_s179477" name="Equation" r:id="rId9" imgW="609480" imgH="457200" progId="Equation.DSMT4">
                  <p:embed/>
                </p:oleObj>
              </mc:Choice>
              <mc:Fallback>
                <p:oleObj name="Equation" r:id="rId9" imgW="609480" imgH="457200" progId="Equation.DSMT4">
                  <p:embed/>
                  <p:pic>
                    <p:nvPicPr>
                      <p:cNvPr id="34" name="对象 4"/>
                      <p:cNvPicPr>
                        <a:picLocks noChangeAspect="1" noChangeArrowheads="1"/>
                      </p:cNvPicPr>
                      <p:nvPr/>
                    </p:nvPicPr>
                    <p:blipFill>
                      <a:blip r:embed="rId10"/>
                      <a:srcRect/>
                      <a:stretch>
                        <a:fillRect/>
                      </a:stretch>
                    </p:blipFill>
                    <p:spPr bwMode="auto">
                      <a:xfrm>
                        <a:off x="8830747" y="4221088"/>
                        <a:ext cx="1052706" cy="864096"/>
                      </a:xfrm>
                      <a:prstGeom prst="rect">
                        <a:avLst/>
                      </a:prstGeom>
                      <a:solidFill>
                        <a:srgbClr val="FFFF00"/>
                      </a:solidFill>
                    </p:spPr>
                  </p:pic>
                </p:oleObj>
              </mc:Fallback>
            </mc:AlternateContent>
          </a:graphicData>
        </a:graphic>
      </p:graphicFrame>
      <p:sp>
        <p:nvSpPr>
          <p:cNvPr id="15" name="文本框 14"/>
          <p:cNvSpPr txBox="1"/>
          <p:nvPr/>
        </p:nvSpPr>
        <p:spPr bwMode="auto">
          <a:xfrm>
            <a:off x="8644737" y="35250"/>
            <a:ext cx="1893387" cy="30777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kumimoji="1" lang="zh-CN" altLang="en-US" sz="1400" dirty="0">
                <a:solidFill>
                  <a:schemeClr val="tx1"/>
                </a:solidFill>
                <a:ea typeface="新細明體" pitchFamily="18" charset="-120"/>
              </a:rPr>
              <a:t>简化的权值更新策略</a:t>
            </a:r>
          </a:p>
        </p:txBody>
      </p:sp>
    </p:spTree>
    <p:extLst>
      <p:ext uri="{BB962C8B-B14F-4D97-AF65-F5344CB8AC3E}">
        <p14:creationId xmlns:p14="http://schemas.microsoft.com/office/powerpoint/2010/main" val="285781283"/>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0" y="0"/>
            <a:ext cx="7195852" cy="446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604" name="矩形 1"/>
          <p:cNvSpPr>
            <a:spLocks noChangeArrowheads="1"/>
          </p:cNvSpPr>
          <p:nvPr/>
        </p:nvSpPr>
        <p:spPr bwMode="auto">
          <a:xfrm>
            <a:off x="1888232" y="4781318"/>
            <a:ext cx="838200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en-US" sz="2000" b="1" dirty="0"/>
              <a:t>如：左下角区域，属于蓝色分类区的权重为</a:t>
            </a:r>
            <a:r>
              <a:rPr lang="en-US" altLang="zh-CN" sz="2000" b="1" dirty="0"/>
              <a:t>h1 </a:t>
            </a:r>
            <a:r>
              <a:rPr lang="zh-CN" altLang="en-US" sz="2000" b="1" dirty="0"/>
              <a:t>中的</a:t>
            </a:r>
            <a:r>
              <a:rPr lang="en-US" altLang="zh-CN" sz="2000" b="1" dirty="0"/>
              <a:t>0.42</a:t>
            </a:r>
            <a:r>
              <a:rPr lang="zh-CN" altLang="en-US" sz="2000" b="1" dirty="0"/>
              <a:t>和</a:t>
            </a:r>
            <a:r>
              <a:rPr lang="en-US" altLang="zh-CN" sz="2000" b="1" dirty="0"/>
              <a:t>h2 </a:t>
            </a:r>
            <a:r>
              <a:rPr lang="zh-CN" altLang="en-US" sz="2000" b="1" dirty="0"/>
              <a:t>中的</a:t>
            </a:r>
            <a:r>
              <a:rPr lang="en-US" altLang="zh-CN" sz="2000" b="1" dirty="0"/>
              <a:t>0.65</a:t>
            </a:r>
            <a:r>
              <a:rPr lang="zh-CN" altLang="en-US" sz="2000" b="1" dirty="0"/>
              <a:t>，其和为</a:t>
            </a:r>
            <a:r>
              <a:rPr lang="en-US" altLang="zh-CN" sz="2000" b="1" dirty="0"/>
              <a:t>1.07</a:t>
            </a:r>
            <a:r>
              <a:rPr lang="zh-CN" altLang="en-US" sz="2000" b="1" dirty="0"/>
              <a:t>；属于淡红色分类区域的权重为</a:t>
            </a:r>
            <a:r>
              <a:rPr lang="en-US" altLang="zh-CN" sz="2000" b="1" dirty="0"/>
              <a:t>h3 </a:t>
            </a:r>
            <a:r>
              <a:rPr lang="zh-CN" altLang="en-US" sz="2000" b="1" dirty="0"/>
              <a:t>中的</a:t>
            </a:r>
            <a:r>
              <a:rPr lang="en-US" altLang="zh-CN" sz="2000" b="1" dirty="0"/>
              <a:t>0.92</a:t>
            </a:r>
            <a:r>
              <a:rPr lang="zh-CN" altLang="en-US" sz="2000" b="1" dirty="0"/>
              <a:t>；属于淡红色分类区的权重小于属于蓝色分类区的权值，因此左下角属于蓝色分类区。</a:t>
            </a:r>
            <a:endParaRPr lang="en-US" altLang="zh-CN" sz="2000" b="1" dirty="0"/>
          </a:p>
          <a:p>
            <a:pPr eaLnBrk="1" hangingPunct="1"/>
            <a:endParaRPr lang="en-US" altLang="zh-CN" sz="2000" b="1" dirty="0"/>
          </a:p>
          <a:p>
            <a:pPr eaLnBrk="1" hangingPunct="1"/>
            <a:r>
              <a:rPr lang="zh-CN" altLang="en-US" sz="2000" b="1" dirty="0"/>
              <a:t>从结果图中看，即使是简单的分类器，组合起来也能获得很好的分类效果。</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20</a:t>
            </a:fld>
            <a:endParaRPr lang="en-US" altLang="zh-CN" dirty="0"/>
          </a:p>
        </p:txBody>
      </p:sp>
      <p:sp>
        <p:nvSpPr>
          <p:cNvPr id="2" name="矩形 1"/>
          <p:cNvSpPr/>
          <p:nvPr/>
        </p:nvSpPr>
        <p:spPr>
          <a:xfrm>
            <a:off x="6183754" y="3818166"/>
            <a:ext cx="4104456" cy="646331"/>
          </a:xfrm>
          <a:prstGeom prst="rect">
            <a:avLst/>
          </a:prstGeom>
        </p:spPr>
        <p:txBody>
          <a:bodyPr wrap="square">
            <a:spAutoFit/>
          </a:bodyPr>
          <a:lstStyle/>
          <a:p>
            <a:r>
              <a:rPr lang="zh-CN" altLang="en-US" dirty="0"/>
              <a:t>每个区域是属于哪个属性，由这个区域所在分类器的权值综合决定。</a:t>
            </a:r>
          </a:p>
        </p:txBody>
      </p:sp>
      <p:sp>
        <p:nvSpPr>
          <p:cNvPr id="3" name="矩形 2"/>
          <p:cNvSpPr/>
          <p:nvPr/>
        </p:nvSpPr>
        <p:spPr>
          <a:xfrm>
            <a:off x="2761497" y="50383"/>
            <a:ext cx="7329070" cy="729430"/>
          </a:xfrm>
          <a:prstGeom prst="rect">
            <a:avLst/>
          </a:prstGeom>
        </p:spPr>
        <p:txBody>
          <a:bodyPr wrap="square">
            <a:spAutoFit/>
          </a:bodyPr>
          <a:lstStyle/>
          <a:p>
            <a:pPr lvl="0" eaLnBrk="0" hangingPunct="0">
              <a:spcBef>
                <a:spcPct val="30000"/>
              </a:spcBef>
              <a:defRPr/>
            </a:pPr>
            <a:r>
              <a:rPr lang="zh-CN" altLang="en-US" dirty="0">
                <a:ea typeface="新細明體" pitchFamily="18" charset="-120"/>
              </a:rPr>
              <a:t>终止条件：</a:t>
            </a:r>
            <a:endParaRPr lang="en-US" altLang="zh-CN" dirty="0">
              <a:ea typeface="新細明體" pitchFamily="18" charset="-120"/>
            </a:endParaRPr>
          </a:p>
          <a:p>
            <a:pPr marL="342900" indent="-342900" eaLnBrk="0" hangingPunct="0">
              <a:spcBef>
                <a:spcPct val="30000"/>
              </a:spcBef>
              <a:buAutoNum type="arabicPeriod"/>
              <a:defRPr/>
            </a:pPr>
            <a:r>
              <a:rPr lang="zh-CN" altLang="en-US" dirty="0">
                <a:ea typeface="新細明體" pitchFamily="18" charset="-120"/>
              </a:rPr>
              <a:t>组合分类器</a:t>
            </a:r>
            <a:r>
              <a:rPr lang="en-US" altLang="zh-CN" dirty="0">
                <a:ea typeface="新細明體" pitchFamily="18" charset="-120"/>
              </a:rPr>
              <a:t>H(x)</a:t>
            </a:r>
            <a:r>
              <a:rPr lang="zh-CN" altLang="en-US" dirty="0">
                <a:ea typeface="新細明體" pitchFamily="18" charset="-120"/>
              </a:rPr>
              <a:t>在训练集上无错分样本；</a:t>
            </a:r>
            <a:r>
              <a:rPr lang="en-US" altLang="zh-CN" dirty="0">
                <a:ea typeface="新細明體" pitchFamily="18" charset="-120"/>
              </a:rPr>
              <a:t>2</a:t>
            </a:r>
            <a:r>
              <a:rPr lang="zh-CN" altLang="en-US" dirty="0">
                <a:ea typeface="新細明體" pitchFamily="18" charset="-120"/>
              </a:rPr>
              <a:t>、达到学习轮数</a:t>
            </a:r>
            <a:endParaRPr lang="en-US" altLang="zh-CN" dirty="0">
              <a:ea typeface="新細明體" pitchFamily="18" charset="-120"/>
            </a:endParaRPr>
          </a:p>
        </p:txBody>
      </p:sp>
      <p:sp>
        <p:nvSpPr>
          <p:cNvPr id="5" name="文本框 4"/>
          <p:cNvSpPr txBox="1"/>
          <p:nvPr/>
        </p:nvSpPr>
        <p:spPr bwMode="auto">
          <a:xfrm>
            <a:off x="6571655" y="2906203"/>
            <a:ext cx="3518912" cy="400110"/>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none" rtlCol="0">
            <a:spAutoFit/>
          </a:bodyPr>
          <a:lstStyle/>
          <a:p>
            <a:pPr algn="ctr"/>
            <a:r>
              <a:rPr kumimoji="1" lang="zh-CN" altLang="en-US" sz="2000" dirty="0">
                <a:solidFill>
                  <a:srgbClr val="FF0000"/>
                </a:solidFill>
                <a:ea typeface="新細明體" pitchFamily="18" charset="-120"/>
              </a:rPr>
              <a:t>此时，训练集样本都正确分类</a:t>
            </a:r>
          </a:p>
        </p:txBody>
      </p:sp>
      <p:graphicFrame>
        <p:nvGraphicFramePr>
          <p:cNvPr id="8" name="Object 17"/>
          <p:cNvGraphicFramePr>
            <a:graphicFrameLocks noChangeAspect="1"/>
          </p:cNvGraphicFramePr>
          <p:nvPr>
            <p:extLst>
              <p:ext uri="{D42A27DB-BD31-4B8C-83A1-F6EECF244321}">
                <p14:modId xmlns:p14="http://schemas.microsoft.com/office/powerpoint/2010/main" val="2727121798"/>
              </p:ext>
            </p:extLst>
          </p:nvPr>
        </p:nvGraphicFramePr>
        <p:xfrm>
          <a:off x="6538169" y="1953086"/>
          <a:ext cx="3049587" cy="841375"/>
        </p:xfrm>
        <a:graphic>
          <a:graphicData uri="http://schemas.openxmlformats.org/presentationml/2006/ole">
            <mc:AlternateContent xmlns:mc="http://schemas.openxmlformats.org/markup-compatibility/2006">
              <mc:Choice xmlns:v="urn:schemas-microsoft-com:vml" Requires="v">
                <p:oleObj spid="_x0000_s363580" name="Equation" r:id="rId4" imgW="1638000" imgH="457200" progId="Equation.DSMT4">
                  <p:embed/>
                </p:oleObj>
              </mc:Choice>
              <mc:Fallback>
                <p:oleObj name="Equation" r:id="rId4" imgW="1638000" imgH="457200" progId="Equation.DSMT4">
                  <p:embed/>
                  <p:pic>
                    <p:nvPicPr>
                      <p:cNvPr id="0" name=""/>
                      <p:cNvPicPr>
                        <a:picLocks noChangeAspect="1" noChangeArrowheads="1"/>
                      </p:cNvPicPr>
                      <p:nvPr/>
                    </p:nvPicPr>
                    <p:blipFill>
                      <a:blip r:embed="rId5"/>
                      <a:srcRect/>
                      <a:stretch>
                        <a:fillRect/>
                      </a:stretch>
                    </p:blipFill>
                    <p:spPr bwMode="auto">
                      <a:xfrm>
                        <a:off x="6538169" y="1953086"/>
                        <a:ext cx="3049587" cy="841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文本框 8"/>
          <p:cNvSpPr txBox="1"/>
          <p:nvPr/>
        </p:nvSpPr>
        <p:spPr bwMode="auto">
          <a:xfrm>
            <a:off x="8644737" y="35250"/>
            <a:ext cx="1893387" cy="30777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kumimoji="1" lang="zh-CN" altLang="en-US" sz="1400" dirty="0">
                <a:solidFill>
                  <a:schemeClr val="tx1"/>
                </a:solidFill>
                <a:ea typeface="新細明體" pitchFamily="18" charset="-120"/>
              </a:rPr>
              <a:t>简化的权值更新策略</a:t>
            </a:r>
          </a:p>
        </p:txBody>
      </p:sp>
    </p:spTree>
    <p:extLst>
      <p:ext uri="{BB962C8B-B14F-4D97-AF65-F5344CB8AC3E}">
        <p14:creationId xmlns:p14="http://schemas.microsoft.com/office/powerpoint/2010/main" val="2130088432"/>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 name="矩形 52"/>
          <p:cNvSpPr/>
          <p:nvPr/>
        </p:nvSpPr>
        <p:spPr>
          <a:xfrm>
            <a:off x="3473545" y="2293166"/>
            <a:ext cx="2081178" cy="308419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52" name="矩形 51"/>
          <p:cNvSpPr/>
          <p:nvPr/>
        </p:nvSpPr>
        <p:spPr>
          <a:xfrm>
            <a:off x="2494724" y="2276872"/>
            <a:ext cx="948409" cy="308419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2" name="標題 1"/>
          <p:cNvSpPr>
            <a:spLocks noGrp="1"/>
          </p:cNvSpPr>
          <p:nvPr>
            <p:ph type="title"/>
          </p:nvPr>
        </p:nvSpPr>
        <p:spPr/>
        <p:txBody>
          <a:bodyPr/>
          <a:lstStyle/>
          <a:p>
            <a:r>
              <a:rPr lang="en-US" altLang="zh-TW" dirty="0"/>
              <a:t>Toy Example</a:t>
            </a:r>
            <a:endParaRPr lang="zh-TW" altLang="en-US" dirty="0"/>
          </a:p>
        </p:txBody>
      </p:sp>
      <p:sp>
        <p:nvSpPr>
          <p:cNvPr id="3" name="內容版面配置區 2"/>
          <p:cNvSpPr>
            <a:spLocks noGrp="1"/>
          </p:cNvSpPr>
          <p:nvPr>
            <p:ph idx="1"/>
          </p:nvPr>
        </p:nvSpPr>
        <p:spPr/>
        <p:txBody>
          <a:bodyPr/>
          <a:lstStyle/>
          <a:p>
            <a:r>
              <a:rPr lang="en-US" altLang="zh-TW" dirty="0"/>
              <a:t>t=1</a:t>
            </a:r>
            <a:endParaRPr lang="zh-TW" altLang="en-US" dirty="0"/>
          </a:p>
        </p:txBody>
      </p:sp>
      <p:sp>
        <p:nvSpPr>
          <p:cNvPr id="5" name="文字方塊 4"/>
          <p:cNvSpPr txBox="1"/>
          <p:nvPr/>
        </p:nvSpPr>
        <p:spPr>
          <a:xfrm>
            <a:off x="4151094" y="2484746"/>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6" name="文字方塊 5"/>
          <p:cNvSpPr txBox="1"/>
          <p:nvPr/>
        </p:nvSpPr>
        <p:spPr>
          <a:xfrm>
            <a:off x="4610227" y="3007966"/>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7" name="文字方塊 6"/>
          <p:cNvSpPr txBox="1"/>
          <p:nvPr/>
        </p:nvSpPr>
        <p:spPr>
          <a:xfrm>
            <a:off x="3526979" y="2746356"/>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8" name="文字方塊 7"/>
          <p:cNvSpPr txBox="1"/>
          <p:nvPr/>
        </p:nvSpPr>
        <p:spPr>
          <a:xfrm>
            <a:off x="2849463" y="3531186"/>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9" name="文字方塊 8"/>
          <p:cNvSpPr txBox="1"/>
          <p:nvPr/>
        </p:nvSpPr>
        <p:spPr>
          <a:xfrm>
            <a:off x="2922033" y="4296323"/>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10" name="文字方塊 9"/>
          <p:cNvSpPr txBox="1"/>
          <p:nvPr/>
        </p:nvSpPr>
        <p:spPr>
          <a:xfrm>
            <a:off x="3555338" y="3482374"/>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11" name="文字方塊 10"/>
          <p:cNvSpPr txBox="1"/>
          <p:nvPr/>
        </p:nvSpPr>
        <p:spPr>
          <a:xfrm>
            <a:off x="3661866" y="4562428"/>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12" name="文字方塊 11"/>
          <p:cNvSpPr txBox="1"/>
          <p:nvPr/>
        </p:nvSpPr>
        <p:spPr>
          <a:xfrm>
            <a:off x="4206665" y="3531186"/>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13" name="文字方塊 12"/>
          <p:cNvSpPr txBox="1"/>
          <p:nvPr/>
        </p:nvSpPr>
        <p:spPr>
          <a:xfrm>
            <a:off x="5025817" y="2714341"/>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14" name="文字方塊 13"/>
          <p:cNvSpPr txBox="1"/>
          <p:nvPr/>
        </p:nvSpPr>
        <p:spPr>
          <a:xfrm>
            <a:off x="5025816" y="4296323"/>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15" name="矩形 14"/>
          <p:cNvSpPr/>
          <p:nvPr/>
        </p:nvSpPr>
        <p:spPr>
          <a:xfrm>
            <a:off x="2494723" y="2301068"/>
            <a:ext cx="3060000" cy="30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16" name="文字方塊 15"/>
          <p:cNvSpPr txBox="1"/>
          <p:nvPr/>
        </p:nvSpPr>
        <p:spPr>
          <a:xfrm>
            <a:off x="3184122" y="2810034"/>
            <a:ext cx="683273"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17" name="文字方塊 16"/>
          <p:cNvSpPr txBox="1"/>
          <p:nvPr/>
        </p:nvSpPr>
        <p:spPr>
          <a:xfrm>
            <a:off x="3799759" y="2511734"/>
            <a:ext cx="683273"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18" name="文字方塊 17"/>
          <p:cNvSpPr txBox="1"/>
          <p:nvPr/>
        </p:nvSpPr>
        <p:spPr>
          <a:xfrm>
            <a:off x="4267178" y="3014338"/>
            <a:ext cx="683273"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19" name="文字方塊 18"/>
          <p:cNvSpPr txBox="1"/>
          <p:nvPr/>
        </p:nvSpPr>
        <p:spPr>
          <a:xfrm>
            <a:off x="4695319" y="2675315"/>
            <a:ext cx="683273"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0" name="文字方塊 19"/>
          <p:cNvSpPr txBox="1"/>
          <p:nvPr/>
        </p:nvSpPr>
        <p:spPr>
          <a:xfrm>
            <a:off x="2513430" y="3553179"/>
            <a:ext cx="683273"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1" name="文字方塊 20"/>
          <p:cNvSpPr txBox="1"/>
          <p:nvPr/>
        </p:nvSpPr>
        <p:spPr>
          <a:xfrm>
            <a:off x="2579098" y="4350157"/>
            <a:ext cx="683273"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2" name="文字方塊 21"/>
          <p:cNvSpPr txBox="1"/>
          <p:nvPr/>
        </p:nvSpPr>
        <p:spPr>
          <a:xfrm>
            <a:off x="3370563" y="4617920"/>
            <a:ext cx="683273"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3" name="文字方塊 22"/>
          <p:cNvSpPr txBox="1"/>
          <p:nvPr/>
        </p:nvSpPr>
        <p:spPr>
          <a:xfrm>
            <a:off x="4700635" y="4327101"/>
            <a:ext cx="683273"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4" name="文字方塊 23"/>
          <p:cNvSpPr txBox="1"/>
          <p:nvPr/>
        </p:nvSpPr>
        <p:spPr>
          <a:xfrm>
            <a:off x="3996060" y="3768390"/>
            <a:ext cx="683273"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5" name="文字方塊 24"/>
          <p:cNvSpPr txBox="1"/>
          <p:nvPr/>
        </p:nvSpPr>
        <p:spPr>
          <a:xfrm>
            <a:off x="3333723" y="3714343"/>
            <a:ext cx="683273"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47" name="文字方塊 46"/>
          <p:cNvSpPr txBox="1"/>
          <p:nvPr/>
        </p:nvSpPr>
        <p:spPr>
          <a:xfrm>
            <a:off x="5554723" y="784598"/>
            <a:ext cx="4924600"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T=3, weak classifier = decision stump</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cxnSp>
        <p:nvCxnSpPr>
          <p:cNvPr id="50" name="直線接點 49"/>
          <p:cNvCxnSpPr/>
          <p:nvPr/>
        </p:nvCxnSpPr>
        <p:spPr>
          <a:xfrm>
            <a:off x="3443132" y="2276872"/>
            <a:ext cx="0" cy="308419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文字方塊 50"/>
              <p:cNvSpPr txBox="1"/>
              <p:nvPr/>
            </p:nvSpPr>
            <p:spPr>
              <a:xfrm>
                <a:off x="2970985" y="5425937"/>
                <a:ext cx="944294"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h</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d>
                        <m:d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d>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51" name="文字方塊 50"/>
              <p:cNvSpPr txBox="1">
                <a:spLocks noRot="1" noChangeAspect="1" noMove="1" noResize="1" noEditPoints="1" noAdjustHandles="1" noChangeArrowheads="1" noChangeShapeType="1" noTextEdit="1"/>
              </p:cNvSpPr>
              <p:nvPr/>
            </p:nvSpPr>
            <p:spPr>
              <a:xfrm>
                <a:off x="2970985" y="5425937"/>
                <a:ext cx="944294" cy="461665"/>
              </a:xfrm>
              <a:prstGeom prst="rect">
                <a:avLst/>
              </a:prstGeom>
              <a:blipFill>
                <a:blip r:embed="rId4"/>
                <a:stretch>
                  <a:fillRect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字方塊 53"/>
              <p:cNvSpPr txBox="1"/>
              <p:nvPr/>
            </p:nvSpPr>
            <p:spPr>
              <a:xfrm>
                <a:off x="5646183" y="4145058"/>
                <a:ext cx="1515798"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𝜀</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=0.30</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54" name="文字方塊 53"/>
              <p:cNvSpPr txBox="1">
                <a:spLocks noRot="1" noChangeAspect="1" noMove="1" noResize="1" noEditPoints="1" noAdjustHandles="1" noChangeArrowheads="1" noChangeShapeType="1" noTextEdit="1"/>
              </p:cNvSpPr>
              <p:nvPr/>
            </p:nvSpPr>
            <p:spPr>
              <a:xfrm>
                <a:off x="5646183" y="4145058"/>
                <a:ext cx="1515798" cy="461665"/>
              </a:xfrm>
              <a:prstGeom prst="rect">
                <a:avLst/>
              </a:prstGeom>
              <a:blipFill>
                <a:blip r:embed="rId5"/>
                <a:stretch>
                  <a:fillRect/>
                </a:stretch>
              </a:blipFill>
            </p:spPr>
            <p:txBody>
              <a:bodyPr/>
              <a:lstStyle/>
              <a:p>
                <a:r>
                  <a:rPr lang="zh-CN" altLang="en-US">
                    <a:noFill/>
                  </a:rPr>
                  <a:t> </a:t>
                </a:r>
              </a:p>
            </p:txBody>
          </p:sp>
        </mc:Fallback>
      </mc:AlternateContent>
      <p:sp>
        <p:nvSpPr>
          <p:cNvPr id="55" name="箭號: 向右 54"/>
          <p:cNvSpPr/>
          <p:nvPr/>
        </p:nvSpPr>
        <p:spPr>
          <a:xfrm>
            <a:off x="5811135" y="3482374"/>
            <a:ext cx="1160221" cy="625526"/>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mc:AlternateContent xmlns:mc="http://schemas.openxmlformats.org/markup-compatibility/2006" xmlns:a14="http://schemas.microsoft.com/office/drawing/2010/main">
        <mc:Choice Requires="a14">
          <p:sp>
            <p:nvSpPr>
              <p:cNvPr id="56" name="文字方塊 55"/>
              <p:cNvSpPr txBox="1"/>
              <p:nvPr/>
            </p:nvSpPr>
            <p:spPr>
              <a:xfrm>
                <a:off x="5639097" y="4674687"/>
                <a:ext cx="14905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𝑑</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=1.53</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56" name="文字方塊 55"/>
              <p:cNvSpPr txBox="1">
                <a:spLocks noRot="1" noChangeAspect="1" noMove="1" noResize="1" noEditPoints="1" noAdjustHandles="1" noChangeArrowheads="1" noChangeShapeType="1" noTextEdit="1"/>
              </p:cNvSpPr>
              <p:nvPr/>
            </p:nvSpPr>
            <p:spPr>
              <a:xfrm>
                <a:off x="5639097" y="4674687"/>
                <a:ext cx="1490501" cy="461665"/>
              </a:xfrm>
              <a:prstGeom prst="rect">
                <a:avLst/>
              </a:prstGeom>
              <a:blipFill>
                <a:blip r:embed="rId6"/>
                <a:stretch>
                  <a:fillRect r="-8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文字方塊 56"/>
              <p:cNvSpPr txBox="1"/>
              <p:nvPr/>
            </p:nvSpPr>
            <p:spPr>
              <a:xfrm>
                <a:off x="5646184" y="5169164"/>
                <a:ext cx="14905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𝛼</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=0.42</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57" name="文字方塊 56"/>
              <p:cNvSpPr txBox="1">
                <a:spLocks noRot="1" noChangeAspect="1" noMove="1" noResize="1" noEditPoints="1" noAdjustHandles="1" noChangeArrowheads="1" noChangeShapeType="1" noTextEdit="1"/>
              </p:cNvSpPr>
              <p:nvPr/>
            </p:nvSpPr>
            <p:spPr>
              <a:xfrm>
                <a:off x="5646184" y="5169164"/>
                <a:ext cx="1490501" cy="461665"/>
              </a:xfrm>
              <a:prstGeom prst="rect">
                <a:avLst/>
              </a:prstGeom>
              <a:blipFill>
                <a:blip r:embed="rId7"/>
                <a:stretch>
                  <a:fillRect r="-408"/>
                </a:stretch>
              </a:blipFill>
            </p:spPr>
            <p:txBody>
              <a:bodyPr/>
              <a:lstStyle/>
              <a:p>
                <a:r>
                  <a:rPr lang="zh-CN" altLang="en-US">
                    <a:noFill/>
                  </a:rPr>
                  <a:t> </a:t>
                </a:r>
              </a:p>
            </p:txBody>
          </p:sp>
        </mc:Fallback>
      </mc:AlternateContent>
      <p:sp>
        <p:nvSpPr>
          <p:cNvPr id="60" name="文字方塊 59"/>
          <p:cNvSpPr txBox="1"/>
          <p:nvPr/>
        </p:nvSpPr>
        <p:spPr>
          <a:xfrm>
            <a:off x="8916351" y="2384488"/>
            <a:ext cx="624115" cy="73866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42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42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63" name="文字方塊 62"/>
          <p:cNvSpPr txBox="1"/>
          <p:nvPr/>
        </p:nvSpPr>
        <p:spPr>
          <a:xfrm>
            <a:off x="7597861" y="3607481"/>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64" name="文字方塊 63"/>
          <p:cNvSpPr txBox="1"/>
          <p:nvPr/>
        </p:nvSpPr>
        <p:spPr>
          <a:xfrm>
            <a:off x="7619638" y="4399782"/>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65" name="文字方塊 64"/>
          <p:cNvSpPr txBox="1"/>
          <p:nvPr/>
        </p:nvSpPr>
        <p:spPr>
          <a:xfrm>
            <a:off x="8235876" y="3542428"/>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66" name="文字方塊 65"/>
          <p:cNvSpPr txBox="1"/>
          <p:nvPr/>
        </p:nvSpPr>
        <p:spPr>
          <a:xfrm>
            <a:off x="8400877" y="4651810"/>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67" name="文字方塊 66"/>
          <p:cNvSpPr txBox="1"/>
          <p:nvPr/>
        </p:nvSpPr>
        <p:spPr>
          <a:xfrm>
            <a:off x="8931567" y="3591892"/>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68" name="文字方塊 67"/>
          <p:cNvSpPr txBox="1"/>
          <p:nvPr/>
        </p:nvSpPr>
        <p:spPr>
          <a:xfrm>
            <a:off x="9735503" y="2730635"/>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69" name="文字方塊 68"/>
          <p:cNvSpPr txBox="1"/>
          <p:nvPr/>
        </p:nvSpPr>
        <p:spPr>
          <a:xfrm>
            <a:off x="9723059" y="4373266"/>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70" name="矩形 69"/>
          <p:cNvSpPr/>
          <p:nvPr/>
        </p:nvSpPr>
        <p:spPr>
          <a:xfrm>
            <a:off x="7204409" y="2317362"/>
            <a:ext cx="3060000" cy="30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71" name="文字方塊 70"/>
          <p:cNvSpPr txBox="1"/>
          <p:nvPr/>
        </p:nvSpPr>
        <p:spPr>
          <a:xfrm>
            <a:off x="7692440" y="2826328"/>
            <a:ext cx="884641"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1.53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72" name="文字方塊 71"/>
          <p:cNvSpPr txBox="1"/>
          <p:nvPr/>
        </p:nvSpPr>
        <p:spPr>
          <a:xfrm>
            <a:off x="8436519" y="2528028"/>
            <a:ext cx="75619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1.53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73" name="文字方塊 72"/>
          <p:cNvSpPr txBox="1"/>
          <p:nvPr/>
        </p:nvSpPr>
        <p:spPr>
          <a:xfrm>
            <a:off x="8836092" y="3030632"/>
            <a:ext cx="82404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1.53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74" name="文字方塊 73"/>
          <p:cNvSpPr txBox="1"/>
          <p:nvPr/>
        </p:nvSpPr>
        <p:spPr>
          <a:xfrm>
            <a:off x="9267530" y="2691609"/>
            <a:ext cx="820748"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75" name="文字方塊 74"/>
          <p:cNvSpPr txBox="1"/>
          <p:nvPr/>
        </p:nvSpPr>
        <p:spPr>
          <a:xfrm>
            <a:off x="7161982" y="3569473"/>
            <a:ext cx="744407"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76" name="文字方塊 75"/>
          <p:cNvSpPr txBox="1"/>
          <p:nvPr/>
        </p:nvSpPr>
        <p:spPr>
          <a:xfrm>
            <a:off x="7129598" y="4366451"/>
            <a:ext cx="84245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77" name="文字方塊 76"/>
          <p:cNvSpPr txBox="1"/>
          <p:nvPr/>
        </p:nvSpPr>
        <p:spPr>
          <a:xfrm>
            <a:off x="7972057" y="4634214"/>
            <a:ext cx="79146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78" name="文字方塊 77"/>
          <p:cNvSpPr txBox="1"/>
          <p:nvPr/>
        </p:nvSpPr>
        <p:spPr>
          <a:xfrm>
            <a:off x="9286462" y="4343395"/>
            <a:ext cx="807132"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79" name="文字方塊 78"/>
          <p:cNvSpPr txBox="1"/>
          <p:nvPr/>
        </p:nvSpPr>
        <p:spPr>
          <a:xfrm>
            <a:off x="8705746" y="3784684"/>
            <a:ext cx="82078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80" name="文字方塊 79"/>
          <p:cNvSpPr txBox="1"/>
          <p:nvPr/>
        </p:nvSpPr>
        <p:spPr>
          <a:xfrm>
            <a:off x="8043409" y="3730637"/>
            <a:ext cx="734907"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83" name="橢圓 82"/>
          <p:cNvSpPr/>
          <p:nvPr/>
        </p:nvSpPr>
        <p:spPr>
          <a:xfrm>
            <a:off x="3351274" y="2775435"/>
            <a:ext cx="628650" cy="49307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84" name="橢圓 83"/>
          <p:cNvSpPr/>
          <p:nvPr/>
        </p:nvSpPr>
        <p:spPr>
          <a:xfrm>
            <a:off x="3967291" y="2478346"/>
            <a:ext cx="628650" cy="49307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85" name="橢圓 84"/>
          <p:cNvSpPr/>
          <p:nvPr/>
        </p:nvSpPr>
        <p:spPr>
          <a:xfrm>
            <a:off x="4366792" y="3023039"/>
            <a:ext cx="699742" cy="49307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86" name="文字方塊 85"/>
          <p:cNvSpPr txBox="1"/>
          <p:nvPr/>
        </p:nvSpPr>
        <p:spPr>
          <a:xfrm>
            <a:off x="9358876" y="2885017"/>
            <a:ext cx="624115" cy="73866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42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42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87" name="文字方塊 86"/>
          <p:cNvSpPr txBox="1"/>
          <p:nvPr/>
        </p:nvSpPr>
        <p:spPr>
          <a:xfrm>
            <a:off x="8235876" y="2659877"/>
            <a:ext cx="624115" cy="73866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42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42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graphicFrame>
        <p:nvGraphicFramePr>
          <p:cNvPr id="58" name="Object 9"/>
          <p:cNvGraphicFramePr>
            <a:graphicFrameLocks noChangeAspect="1"/>
          </p:cNvGraphicFramePr>
          <p:nvPr>
            <p:extLst>
              <p:ext uri="{D42A27DB-BD31-4B8C-83A1-F6EECF244321}">
                <p14:modId xmlns:p14="http://schemas.microsoft.com/office/powerpoint/2010/main" val="3953256758"/>
              </p:ext>
            </p:extLst>
          </p:nvPr>
        </p:nvGraphicFramePr>
        <p:xfrm>
          <a:off x="7981171" y="5376797"/>
          <a:ext cx="3913188" cy="842962"/>
        </p:xfrm>
        <a:graphic>
          <a:graphicData uri="http://schemas.openxmlformats.org/presentationml/2006/ole">
            <mc:AlternateContent xmlns:mc="http://schemas.openxmlformats.org/markup-compatibility/2006">
              <mc:Choice xmlns:v="urn:schemas-microsoft-com:vml" Requires="v">
                <p:oleObj spid="_x0000_s369692" name="Equation" r:id="rId8" imgW="2311200" imgH="495000" progId="Equation.DSMT4">
                  <p:embed/>
                </p:oleObj>
              </mc:Choice>
              <mc:Fallback>
                <p:oleObj name="Equation" r:id="rId8" imgW="2311200" imgH="495000" progId="Equation.DSMT4">
                  <p:embed/>
                  <p:pic>
                    <p:nvPicPr>
                      <p:cNvPr id="58" name="Object 9"/>
                      <p:cNvPicPr>
                        <a:picLocks noChangeAspect="1" noChangeArrowheads="1"/>
                      </p:cNvPicPr>
                      <p:nvPr/>
                    </p:nvPicPr>
                    <p:blipFill>
                      <a:blip r:embed="rId9"/>
                      <a:srcRect/>
                      <a:stretch>
                        <a:fillRect/>
                      </a:stretch>
                    </p:blipFill>
                    <p:spPr bwMode="auto">
                      <a:xfrm>
                        <a:off x="7981171" y="5376797"/>
                        <a:ext cx="3913188" cy="842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59" name="文字方塊 10"/>
              <p:cNvSpPr txBox="1"/>
              <p:nvPr/>
            </p:nvSpPr>
            <p:spPr>
              <a:xfrm>
                <a:off x="8958289" y="1242149"/>
                <a:ext cx="2460161" cy="447238"/>
              </a:xfrm>
              <a:prstGeom prst="rect">
                <a:avLst/>
              </a:prstGeom>
              <a:no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𝑑</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𝑡</m:t>
                          </m:r>
                        </m:sub>
                      </m:s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ad>
                        <m:radPr>
                          <m:degHide m:val="on"/>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radPr>
                        <m:deg/>
                        <m:e>
                          <m:f>
                            <m:fPr>
                              <m:type m:val="lin"/>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d>
                                <m:d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𝜀</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𝑡</m:t>
                                      </m:r>
                                    </m:sub>
                                  </m:sSub>
                                </m:e>
                              </m:d>
                            </m:num>
                            <m:den>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𝜀</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𝑡</m:t>
                                  </m:r>
                                </m:sub>
                              </m:sSub>
                            </m:den>
                          </m:f>
                        </m:e>
                      </m:rad>
                    </m:oMath>
                  </m:oMathPara>
                </a14:m>
                <a:endParaRPr kumimoji="0" lang="zh-TW" altLang="en-US" sz="2400" b="0" i="0" u="none" strike="noStrike" kern="1200" cap="none" spc="0" normalizeH="0" baseline="0" noProof="0" dirty="0">
                  <a:ln>
                    <a:noFill/>
                  </a:ln>
                  <a:solidFill>
                    <a:prstClr val="black"/>
                  </a:solidFill>
                  <a:effectLst/>
                  <a:uLnTx/>
                  <a:uFillTx/>
                  <a:latin typeface="Arial" charset="0"/>
                  <a:ea typeface="新細明體"/>
                  <a:cs typeface="+mn-cs"/>
                </a:endParaRPr>
              </a:p>
            </p:txBody>
          </p:sp>
        </mc:Choice>
        <mc:Fallback xmlns="">
          <p:sp>
            <p:nvSpPr>
              <p:cNvPr id="59" name="文字方塊 10"/>
              <p:cNvSpPr txBox="1">
                <a:spLocks noRot="1" noChangeAspect="1" noMove="1" noResize="1" noEditPoints="1" noAdjustHandles="1" noChangeArrowheads="1" noChangeShapeType="1" noTextEdit="1"/>
              </p:cNvSpPr>
              <p:nvPr/>
            </p:nvSpPr>
            <p:spPr>
              <a:xfrm>
                <a:off x="8958289" y="1242149"/>
                <a:ext cx="2460161" cy="447238"/>
              </a:xfrm>
              <a:prstGeom prst="rect">
                <a:avLst/>
              </a:prstGeom>
              <a:blipFill>
                <a:blip r:embed="rId10"/>
                <a:stretch>
                  <a:fillRect b="-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文字方塊 11"/>
              <p:cNvSpPr txBox="1"/>
              <p:nvPr/>
            </p:nvSpPr>
            <p:spPr>
              <a:xfrm>
                <a:off x="8969402" y="1735644"/>
                <a:ext cx="2725409" cy="447238"/>
              </a:xfrm>
              <a:prstGeom prst="rect">
                <a:avLst/>
              </a:prstGeom>
              <a:noFill/>
            </p:spPr>
            <p:txBody>
              <a:bodyPr wrap="squar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𝛼</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𝑡</m:t>
                          </m:r>
                        </m:sub>
                      </m:s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𝑙𝑛</m:t>
                      </m:r>
                      <m:rad>
                        <m:radPr>
                          <m:degHide m:val="on"/>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radPr>
                        <m:deg/>
                        <m:e>
                          <m:f>
                            <m:fPr>
                              <m:type m:val="lin"/>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d>
                                <m:d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𝜀</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𝑡</m:t>
                                      </m:r>
                                    </m:sub>
                                  </m:sSub>
                                </m:e>
                              </m:d>
                            </m:num>
                            <m:den>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𝜀</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𝑡</m:t>
                                  </m:r>
                                </m:sub>
                              </m:sSub>
                            </m:den>
                          </m:f>
                        </m:e>
                      </m:rad>
                    </m:oMath>
                  </m:oMathPara>
                </a14:m>
                <a:endParaRPr kumimoji="0" lang="zh-TW" altLang="en-US" sz="2400" b="0" i="0" u="none" strike="noStrike" kern="1200" cap="none" spc="0" normalizeH="0" baseline="0" noProof="0" dirty="0">
                  <a:ln>
                    <a:noFill/>
                  </a:ln>
                  <a:solidFill>
                    <a:prstClr val="black"/>
                  </a:solidFill>
                  <a:effectLst/>
                  <a:uLnTx/>
                  <a:uFillTx/>
                  <a:latin typeface="Arial" charset="0"/>
                  <a:ea typeface="新細明體"/>
                  <a:cs typeface="+mn-cs"/>
                </a:endParaRPr>
              </a:p>
            </p:txBody>
          </p:sp>
        </mc:Choice>
        <mc:Fallback xmlns="">
          <p:sp>
            <p:nvSpPr>
              <p:cNvPr id="61" name="文字方塊 11"/>
              <p:cNvSpPr txBox="1">
                <a:spLocks noRot="1" noChangeAspect="1" noMove="1" noResize="1" noEditPoints="1" noAdjustHandles="1" noChangeArrowheads="1" noChangeShapeType="1" noTextEdit="1"/>
              </p:cNvSpPr>
              <p:nvPr/>
            </p:nvSpPr>
            <p:spPr>
              <a:xfrm>
                <a:off x="8969402" y="1735644"/>
                <a:ext cx="2725409" cy="447238"/>
              </a:xfrm>
              <a:prstGeom prst="rect">
                <a:avLst/>
              </a:prstGeom>
              <a:blipFill>
                <a:blip r:embed="rId11"/>
                <a:stretch>
                  <a:fillRect b="-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矩形 61"/>
              <p:cNvSpPr/>
              <p:nvPr/>
            </p:nvSpPr>
            <p:spPr>
              <a:xfrm>
                <a:off x="7925665" y="6111697"/>
                <a:ext cx="3229602" cy="764568"/>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𝐷</m:t>
                          </m:r>
                        </m:e>
                        <m:sub>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𝑡</m:t>
                          </m:r>
                          <m:r>
                            <a:rPr kumimoji="0" lang="zh-CN" altLang="en-US" sz="1800" b="0" i="0"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zh-CN" altLang="en-US" sz="1800" b="0" i="0"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𝐷</m:t>
                          </m:r>
                        </m:e>
                        <m:sub>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𝑡</m:t>
                          </m:r>
                          <m:r>
                            <a:rPr kumimoji="0" lang="zh-CN" altLang="en-US" sz="1800" b="0" i="0"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zh-CN" altLang="en-US" sz="1800" b="0" i="0"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chr m:val="∑"/>
                          <m:supHide m:val="on"/>
                          <m:ctrlP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m:rPr>
                              <m:brk m:alnAt="7"/>
                            </m:rP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up/>
                        <m:e>
                          <m:sSub>
                            <m:sSubPr>
                              <m:ctrlP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𝐷</m:t>
                              </m:r>
                            </m:e>
                            <m:sub>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𝑡</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zh-CN" altLang="en-US" sz="1800" b="0" i="0"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𝑖</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e>
                      </m:nary>
                    </m:oMath>
                  </m:oMathPara>
                </a14:m>
                <a:endParaRPr kumimoji="0" lang="zh-CN" altLang="en-US" sz="1800" b="0" i="0" u="none" strike="noStrike" kern="1200" cap="none" spc="0" normalizeH="0" baseline="0" noProof="0" dirty="0">
                  <a:ln>
                    <a:noFill/>
                  </a:ln>
                  <a:solidFill>
                    <a:prstClr val="black"/>
                  </a:solidFill>
                  <a:effectLst/>
                  <a:uLnTx/>
                  <a:uFillTx/>
                  <a:latin typeface="Arial" charset="0"/>
                  <a:ea typeface="等线" panose="02010600030101010101" pitchFamily="2" charset="-122"/>
                  <a:cs typeface="+mn-cs"/>
                </a:endParaRPr>
              </a:p>
            </p:txBody>
          </p:sp>
        </mc:Choice>
        <mc:Fallback xmlns="">
          <p:sp>
            <p:nvSpPr>
              <p:cNvPr id="62" name="矩形 61"/>
              <p:cNvSpPr>
                <a:spLocks noRot="1" noChangeAspect="1" noMove="1" noResize="1" noEditPoints="1" noAdjustHandles="1" noChangeArrowheads="1" noChangeShapeType="1" noTextEdit="1"/>
              </p:cNvSpPr>
              <p:nvPr/>
            </p:nvSpPr>
            <p:spPr>
              <a:xfrm>
                <a:off x="7925665" y="6111697"/>
                <a:ext cx="3229602" cy="764568"/>
              </a:xfrm>
              <a:prstGeom prst="rect">
                <a:avLst/>
              </a:prstGeom>
              <a:blipFill>
                <a:blip r:embed="rId12"/>
                <a:stretch>
                  <a:fillRect/>
                </a:stretch>
              </a:blipFill>
            </p:spPr>
            <p:txBody>
              <a:bodyPr/>
              <a:lstStyle/>
              <a:p>
                <a:r>
                  <a:rPr lang="zh-CN" altLang="en-US">
                    <a:noFill/>
                  </a:rPr>
                  <a:t> </a:t>
                </a:r>
              </a:p>
            </p:txBody>
          </p:sp>
        </mc:Fallback>
      </mc:AlternateContent>
      <p:sp>
        <p:nvSpPr>
          <p:cNvPr id="81" name="标题 2"/>
          <p:cNvSpPr txBox="1">
            <a:spLocks/>
          </p:cNvSpPr>
          <p:nvPr/>
        </p:nvSpPr>
        <p:spPr>
          <a:xfrm>
            <a:off x="406400" y="152404"/>
            <a:ext cx="8229600" cy="563563"/>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dirty="0">
                <a:solidFill>
                  <a:srgbClr val="303030"/>
                </a:solidFill>
                <a:sym typeface="Arial" panose="020B0604020202020204" pitchFamily="34" charset="0"/>
              </a:rPr>
              <a:t>Adaboost 实例详解</a:t>
            </a:r>
            <a:r>
              <a:rPr lang="en-US" altLang="zh-CN" dirty="0">
                <a:solidFill>
                  <a:srgbClr val="303030"/>
                </a:solidFill>
                <a:sym typeface="Arial" panose="020B0604020202020204" pitchFamily="34" charset="0"/>
              </a:rPr>
              <a:t>(</a:t>
            </a:r>
            <a:r>
              <a:rPr lang="zh-CN" altLang="en-US" dirty="0">
                <a:solidFill>
                  <a:srgbClr val="303030"/>
                </a:solidFill>
                <a:sym typeface="Arial" panose="020B0604020202020204" pitchFamily="34" charset="0"/>
              </a:rPr>
              <a:t>续</a:t>
            </a:r>
            <a:r>
              <a:rPr lang="en-US" altLang="zh-CN" dirty="0">
                <a:solidFill>
                  <a:srgbClr val="303030"/>
                </a:solidFill>
                <a:sym typeface="Arial" panose="020B0604020202020204" pitchFamily="34" charset="0"/>
              </a:rPr>
              <a:t>)</a:t>
            </a:r>
            <a:endParaRPr lang="zh-CN" altLang="en-US" dirty="0"/>
          </a:p>
        </p:txBody>
      </p:sp>
      <p:sp>
        <p:nvSpPr>
          <p:cNvPr id="4" name="文本框 3"/>
          <p:cNvSpPr txBox="1"/>
          <p:nvPr/>
        </p:nvSpPr>
        <p:spPr>
          <a:xfrm>
            <a:off x="9117411" y="280331"/>
            <a:ext cx="2723823" cy="369332"/>
          </a:xfrm>
          <a:prstGeom prst="rect">
            <a:avLst/>
          </a:prstGeom>
          <a:noFill/>
        </p:spPr>
        <p:txBody>
          <a:bodyPr wrap="none" rtlCol="0">
            <a:spAutoFit/>
          </a:bodyPr>
          <a:lstStyle/>
          <a:p>
            <a:r>
              <a:rPr lang="zh-CN" altLang="en-US" dirty="0">
                <a:solidFill>
                  <a:srgbClr val="FF0000"/>
                </a:solidFill>
              </a:rPr>
              <a:t>采用标准的权值更新规则</a:t>
            </a:r>
          </a:p>
        </p:txBody>
      </p:sp>
    </p:spTree>
    <p:extLst>
      <p:ext uri="{BB962C8B-B14F-4D97-AF65-F5344CB8AC3E}">
        <p14:creationId xmlns:p14="http://schemas.microsoft.com/office/powerpoint/2010/main" val="132772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6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74"/>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64"/>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65"/>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66"/>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67"/>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9"/>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75"/>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76"/>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77"/>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78"/>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79"/>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2" grpId="0" animBg="1"/>
      <p:bldP spid="16" grpId="0"/>
      <p:bldP spid="17" grpId="0"/>
      <p:bldP spid="18" grpId="0"/>
      <p:bldP spid="19" grpId="0"/>
      <p:bldP spid="20" grpId="0"/>
      <p:bldP spid="21" grpId="0"/>
      <p:bldP spid="22" grpId="0"/>
      <p:bldP spid="23" grpId="0"/>
      <p:bldP spid="24" grpId="0"/>
      <p:bldP spid="25" grpId="0"/>
      <p:bldP spid="47" grpId="0"/>
      <p:bldP spid="51" grpId="0"/>
      <p:bldP spid="54" grpId="0"/>
      <p:bldP spid="55" grpId="0" animBg="1"/>
      <p:bldP spid="56" grpId="0"/>
      <p:bldP spid="57" grpId="0"/>
      <p:bldP spid="60" grpId="0"/>
      <p:bldP spid="63" grpId="0"/>
      <p:bldP spid="64" grpId="0"/>
      <p:bldP spid="65" grpId="0"/>
      <p:bldP spid="66" grpId="0"/>
      <p:bldP spid="67" grpId="0"/>
      <p:bldP spid="68" grpId="0"/>
      <p:bldP spid="69" grpId="0"/>
      <p:bldP spid="70" grpId="0" animBg="1"/>
      <p:bldP spid="71" grpId="0"/>
      <p:bldP spid="72" grpId="0"/>
      <p:bldP spid="73" grpId="0"/>
      <p:bldP spid="74" grpId="0"/>
      <p:bldP spid="75" grpId="0"/>
      <p:bldP spid="76" grpId="0"/>
      <p:bldP spid="77" grpId="0"/>
      <p:bldP spid="78" grpId="0"/>
      <p:bldP spid="79" grpId="0"/>
      <p:bldP spid="80" grpId="0"/>
      <p:bldP spid="83" grpId="0" animBg="1"/>
      <p:bldP spid="84" grpId="0" animBg="1"/>
      <p:bldP spid="85" grpId="0" animBg="1"/>
      <p:bldP spid="86" grpId="0"/>
      <p:bldP spid="87" grpId="0"/>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 name="矩形 25"/>
          <p:cNvSpPr/>
          <p:nvPr/>
        </p:nvSpPr>
        <p:spPr>
          <a:xfrm>
            <a:off x="3011153" y="2872284"/>
            <a:ext cx="374931" cy="308419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27" name="矩形 26"/>
          <p:cNvSpPr/>
          <p:nvPr/>
        </p:nvSpPr>
        <p:spPr>
          <a:xfrm>
            <a:off x="336523" y="2865383"/>
            <a:ext cx="2634333" cy="308419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2" name="標題 1"/>
          <p:cNvSpPr>
            <a:spLocks noGrp="1"/>
          </p:cNvSpPr>
          <p:nvPr>
            <p:ph type="title"/>
          </p:nvPr>
        </p:nvSpPr>
        <p:spPr/>
        <p:txBody>
          <a:bodyPr/>
          <a:lstStyle/>
          <a:p>
            <a:r>
              <a:rPr lang="en-US" altLang="zh-TW" dirty="0"/>
              <a:t>Toy Example</a:t>
            </a:r>
            <a:endParaRPr lang="zh-TW" altLang="en-US" dirty="0"/>
          </a:p>
        </p:txBody>
      </p:sp>
      <p:sp>
        <p:nvSpPr>
          <p:cNvPr id="3" name="內容版面配置區 2"/>
          <p:cNvSpPr>
            <a:spLocks noGrp="1"/>
          </p:cNvSpPr>
          <p:nvPr>
            <p:ph idx="1"/>
          </p:nvPr>
        </p:nvSpPr>
        <p:spPr/>
        <p:txBody>
          <a:bodyPr/>
          <a:lstStyle/>
          <a:p>
            <a:r>
              <a:rPr lang="en-US" altLang="zh-TW" dirty="0"/>
              <a:t>t=2</a:t>
            </a:r>
            <a:endParaRPr lang="zh-TW" altLang="en-US" dirty="0"/>
          </a:p>
          <a:p>
            <a:endParaRPr lang="zh-TW" altLang="en-US" dirty="0"/>
          </a:p>
        </p:txBody>
      </p:sp>
      <p:sp>
        <p:nvSpPr>
          <p:cNvPr id="4" name="文字方塊 3"/>
          <p:cNvSpPr txBox="1"/>
          <p:nvPr/>
        </p:nvSpPr>
        <p:spPr>
          <a:xfrm>
            <a:off x="5665031" y="754173"/>
            <a:ext cx="4924600"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T=3, weak classifier = decision stump</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5" name="文字方塊 4"/>
          <p:cNvSpPr txBox="1"/>
          <p:nvPr/>
        </p:nvSpPr>
        <p:spPr>
          <a:xfrm>
            <a:off x="2050105" y="2963606"/>
            <a:ext cx="624115" cy="73866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42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42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6" name="文字方塊 5"/>
          <p:cNvSpPr txBox="1"/>
          <p:nvPr/>
        </p:nvSpPr>
        <p:spPr>
          <a:xfrm>
            <a:off x="731615" y="4186599"/>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7" name="文字方塊 6"/>
          <p:cNvSpPr txBox="1"/>
          <p:nvPr/>
        </p:nvSpPr>
        <p:spPr>
          <a:xfrm>
            <a:off x="753392" y="4978900"/>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8" name="文字方塊 7"/>
          <p:cNvSpPr txBox="1"/>
          <p:nvPr/>
        </p:nvSpPr>
        <p:spPr>
          <a:xfrm>
            <a:off x="1369630" y="4121546"/>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9" name="文字方塊 8"/>
          <p:cNvSpPr txBox="1"/>
          <p:nvPr/>
        </p:nvSpPr>
        <p:spPr>
          <a:xfrm>
            <a:off x="1534631" y="5230928"/>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10" name="文字方塊 9"/>
          <p:cNvSpPr txBox="1"/>
          <p:nvPr/>
        </p:nvSpPr>
        <p:spPr>
          <a:xfrm>
            <a:off x="2065321" y="4171010"/>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11" name="文字方塊 10"/>
          <p:cNvSpPr txBox="1"/>
          <p:nvPr/>
        </p:nvSpPr>
        <p:spPr>
          <a:xfrm>
            <a:off x="2869257" y="3309753"/>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12" name="文字方塊 11"/>
          <p:cNvSpPr txBox="1"/>
          <p:nvPr/>
        </p:nvSpPr>
        <p:spPr>
          <a:xfrm>
            <a:off x="2856813" y="4952384"/>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13" name="矩形 12"/>
          <p:cNvSpPr/>
          <p:nvPr/>
        </p:nvSpPr>
        <p:spPr>
          <a:xfrm>
            <a:off x="338163" y="2896480"/>
            <a:ext cx="3060000" cy="30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14" name="文字方塊 13"/>
          <p:cNvSpPr txBox="1"/>
          <p:nvPr/>
        </p:nvSpPr>
        <p:spPr>
          <a:xfrm>
            <a:off x="826194" y="3405446"/>
            <a:ext cx="884641"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1.53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15" name="文字方塊 14"/>
          <p:cNvSpPr txBox="1"/>
          <p:nvPr/>
        </p:nvSpPr>
        <p:spPr>
          <a:xfrm>
            <a:off x="1570273" y="3107146"/>
            <a:ext cx="75619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1.53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16" name="文字方塊 15"/>
          <p:cNvSpPr txBox="1"/>
          <p:nvPr/>
        </p:nvSpPr>
        <p:spPr>
          <a:xfrm>
            <a:off x="1969846" y="3609750"/>
            <a:ext cx="82404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1.53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17" name="文字方塊 16"/>
          <p:cNvSpPr txBox="1"/>
          <p:nvPr/>
        </p:nvSpPr>
        <p:spPr>
          <a:xfrm>
            <a:off x="2401284" y="3270727"/>
            <a:ext cx="820748"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18" name="文字方塊 17"/>
          <p:cNvSpPr txBox="1"/>
          <p:nvPr/>
        </p:nvSpPr>
        <p:spPr>
          <a:xfrm>
            <a:off x="295736" y="4148591"/>
            <a:ext cx="744407"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19" name="文字方塊 18"/>
          <p:cNvSpPr txBox="1"/>
          <p:nvPr/>
        </p:nvSpPr>
        <p:spPr>
          <a:xfrm>
            <a:off x="263352" y="4945569"/>
            <a:ext cx="84245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0" name="文字方塊 19"/>
          <p:cNvSpPr txBox="1"/>
          <p:nvPr/>
        </p:nvSpPr>
        <p:spPr>
          <a:xfrm>
            <a:off x="1105811" y="5213332"/>
            <a:ext cx="79146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1" name="文字方塊 20"/>
          <p:cNvSpPr txBox="1"/>
          <p:nvPr/>
        </p:nvSpPr>
        <p:spPr>
          <a:xfrm>
            <a:off x="2420216" y="4922513"/>
            <a:ext cx="807132"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2" name="文字方塊 21"/>
          <p:cNvSpPr txBox="1"/>
          <p:nvPr/>
        </p:nvSpPr>
        <p:spPr>
          <a:xfrm>
            <a:off x="1839500" y="4363802"/>
            <a:ext cx="82078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3" name="文字方塊 22"/>
          <p:cNvSpPr txBox="1"/>
          <p:nvPr/>
        </p:nvSpPr>
        <p:spPr>
          <a:xfrm>
            <a:off x="1177163" y="4309755"/>
            <a:ext cx="734907"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4" name="文字方塊 23"/>
          <p:cNvSpPr txBox="1"/>
          <p:nvPr/>
        </p:nvSpPr>
        <p:spPr>
          <a:xfrm>
            <a:off x="2492630" y="3464135"/>
            <a:ext cx="624115" cy="73866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42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42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25" name="文字方塊 24"/>
          <p:cNvSpPr txBox="1"/>
          <p:nvPr/>
        </p:nvSpPr>
        <p:spPr>
          <a:xfrm>
            <a:off x="1369630" y="3238995"/>
            <a:ext cx="624115" cy="73866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42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42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cxnSp>
        <p:nvCxnSpPr>
          <p:cNvPr id="28" name="直線接點 27"/>
          <p:cNvCxnSpPr/>
          <p:nvPr/>
        </p:nvCxnSpPr>
        <p:spPr>
          <a:xfrm>
            <a:off x="2970855" y="2872284"/>
            <a:ext cx="0" cy="308419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文字方塊 28"/>
              <p:cNvSpPr txBox="1"/>
              <p:nvPr/>
            </p:nvSpPr>
            <p:spPr>
              <a:xfrm>
                <a:off x="2536633" y="5908089"/>
                <a:ext cx="944294"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h</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d>
                        <m:d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d>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29" name="文字方塊 28"/>
              <p:cNvSpPr txBox="1">
                <a:spLocks noRot="1" noChangeAspect="1" noMove="1" noResize="1" noEditPoints="1" noAdjustHandles="1" noChangeArrowheads="1" noChangeShapeType="1" noTextEdit="1"/>
              </p:cNvSpPr>
              <p:nvPr/>
            </p:nvSpPr>
            <p:spPr>
              <a:xfrm>
                <a:off x="2536633" y="5908089"/>
                <a:ext cx="944294" cy="461665"/>
              </a:xfrm>
              <a:prstGeom prst="rect">
                <a:avLst/>
              </a:prstGeom>
              <a:blipFill>
                <a:blip r:embed="rId4"/>
                <a:stretch>
                  <a:fillRect l="-645"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字方塊 29"/>
              <p:cNvSpPr txBox="1"/>
              <p:nvPr/>
            </p:nvSpPr>
            <p:spPr>
              <a:xfrm>
                <a:off x="3460009" y="4608062"/>
                <a:ext cx="1552687"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𝜀</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=0.21</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30" name="文字方塊 29"/>
              <p:cNvSpPr txBox="1">
                <a:spLocks noRot="1" noChangeAspect="1" noMove="1" noResize="1" noEditPoints="1" noAdjustHandles="1" noChangeArrowheads="1" noChangeShapeType="1" noTextEdit="1"/>
              </p:cNvSpPr>
              <p:nvPr/>
            </p:nvSpPr>
            <p:spPr>
              <a:xfrm>
                <a:off x="3460009" y="4608062"/>
                <a:ext cx="1552687" cy="461665"/>
              </a:xfrm>
              <a:prstGeom prst="rect">
                <a:avLst/>
              </a:prstGeom>
              <a:blipFill>
                <a:blip r:embed="rId5"/>
                <a:stretch>
                  <a:fillRect/>
                </a:stretch>
              </a:blipFill>
            </p:spPr>
            <p:txBody>
              <a:bodyPr/>
              <a:lstStyle/>
              <a:p>
                <a:r>
                  <a:rPr lang="zh-CN" altLang="en-US">
                    <a:noFill/>
                  </a:rPr>
                  <a:t> </a:t>
                </a:r>
              </a:p>
            </p:txBody>
          </p:sp>
        </mc:Fallback>
      </mc:AlternateContent>
      <p:sp>
        <p:nvSpPr>
          <p:cNvPr id="31" name="箭號: 向右 30"/>
          <p:cNvSpPr/>
          <p:nvPr/>
        </p:nvSpPr>
        <p:spPr>
          <a:xfrm>
            <a:off x="3639475" y="3945378"/>
            <a:ext cx="1160221" cy="625526"/>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mc:AlternateContent xmlns:mc="http://schemas.openxmlformats.org/markup-compatibility/2006" xmlns:a14="http://schemas.microsoft.com/office/drawing/2010/main">
        <mc:Choice Requires="a14">
          <p:sp>
            <p:nvSpPr>
              <p:cNvPr id="32" name="文字方塊 31"/>
              <p:cNvSpPr txBox="1"/>
              <p:nvPr/>
            </p:nvSpPr>
            <p:spPr>
              <a:xfrm>
                <a:off x="3467437" y="5137691"/>
                <a:ext cx="14905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𝑑</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=1.94</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32" name="文字方塊 31"/>
              <p:cNvSpPr txBox="1">
                <a:spLocks noRot="1" noChangeAspect="1" noMove="1" noResize="1" noEditPoints="1" noAdjustHandles="1" noChangeArrowheads="1" noChangeShapeType="1" noTextEdit="1"/>
              </p:cNvSpPr>
              <p:nvPr/>
            </p:nvSpPr>
            <p:spPr>
              <a:xfrm>
                <a:off x="3467437" y="5137691"/>
                <a:ext cx="1490501" cy="461665"/>
              </a:xfrm>
              <a:prstGeom prst="rect">
                <a:avLst/>
              </a:prstGeom>
              <a:blipFill>
                <a:blip r:embed="rId6"/>
                <a:stretch>
                  <a:fillRect l="-410" r="-4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字方塊 32"/>
              <p:cNvSpPr txBox="1"/>
              <p:nvPr/>
            </p:nvSpPr>
            <p:spPr>
              <a:xfrm>
                <a:off x="3474524" y="5632168"/>
                <a:ext cx="14905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𝛼</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=0.66</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33" name="文字方塊 32"/>
              <p:cNvSpPr txBox="1">
                <a:spLocks noRot="1" noChangeAspect="1" noMove="1" noResize="1" noEditPoints="1" noAdjustHandles="1" noChangeArrowheads="1" noChangeShapeType="1" noTextEdit="1"/>
              </p:cNvSpPr>
              <p:nvPr/>
            </p:nvSpPr>
            <p:spPr>
              <a:xfrm>
                <a:off x="3474524" y="5632168"/>
                <a:ext cx="1490501" cy="461665"/>
              </a:xfrm>
              <a:prstGeom prst="rect">
                <a:avLst/>
              </a:prstGeom>
              <a:blipFill>
                <a:blip r:embed="rId7"/>
                <a:stretch>
                  <a:fillRect r="-820"/>
                </a:stretch>
              </a:blipFill>
            </p:spPr>
            <p:txBody>
              <a:bodyPr/>
              <a:lstStyle/>
              <a:p>
                <a:r>
                  <a:rPr lang="zh-CN" altLang="en-US">
                    <a:noFill/>
                  </a:rPr>
                  <a:t> </a:t>
                </a:r>
              </a:p>
            </p:txBody>
          </p:sp>
        </mc:Fallback>
      </mc:AlternateContent>
      <p:sp>
        <p:nvSpPr>
          <p:cNvPr id="34" name="橢圓 33"/>
          <p:cNvSpPr/>
          <p:nvPr/>
        </p:nvSpPr>
        <p:spPr>
          <a:xfrm>
            <a:off x="1194655" y="4388228"/>
            <a:ext cx="628650" cy="37518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35" name="橢圓 34"/>
          <p:cNvSpPr/>
          <p:nvPr/>
        </p:nvSpPr>
        <p:spPr>
          <a:xfrm>
            <a:off x="1942955" y="4424059"/>
            <a:ext cx="628650" cy="37518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36" name="橢圓 35"/>
          <p:cNvSpPr/>
          <p:nvPr/>
        </p:nvSpPr>
        <p:spPr>
          <a:xfrm>
            <a:off x="1164780" y="5256489"/>
            <a:ext cx="628650" cy="37518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37" name="文字方塊 36"/>
          <p:cNvSpPr txBox="1"/>
          <p:nvPr/>
        </p:nvSpPr>
        <p:spPr>
          <a:xfrm>
            <a:off x="6687495" y="3050959"/>
            <a:ext cx="62411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4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38" name="文字方塊 37"/>
          <p:cNvSpPr txBox="1"/>
          <p:nvPr/>
        </p:nvSpPr>
        <p:spPr>
          <a:xfrm>
            <a:off x="5339117" y="4143056"/>
            <a:ext cx="624115"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12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39" name="文字方塊 38"/>
          <p:cNvSpPr txBox="1"/>
          <p:nvPr/>
        </p:nvSpPr>
        <p:spPr>
          <a:xfrm>
            <a:off x="5360894" y="4935357"/>
            <a:ext cx="624115"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12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40" name="文字方塊 39"/>
          <p:cNvSpPr txBox="1"/>
          <p:nvPr/>
        </p:nvSpPr>
        <p:spPr>
          <a:xfrm>
            <a:off x="6122272" y="3978219"/>
            <a:ext cx="624115"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36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36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41" name="文字方塊 40"/>
          <p:cNvSpPr txBox="1"/>
          <p:nvPr/>
        </p:nvSpPr>
        <p:spPr>
          <a:xfrm>
            <a:off x="6287273" y="5087601"/>
            <a:ext cx="624115"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36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36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42" name="文字方塊 41"/>
          <p:cNvSpPr txBox="1"/>
          <p:nvPr/>
        </p:nvSpPr>
        <p:spPr>
          <a:xfrm>
            <a:off x="6817963" y="4027683"/>
            <a:ext cx="624115"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36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36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43" name="文字方塊 42"/>
          <p:cNvSpPr txBox="1"/>
          <p:nvPr/>
        </p:nvSpPr>
        <p:spPr>
          <a:xfrm>
            <a:off x="7505787" y="3280724"/>
            <a:ext cx="624115"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2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44" name="文字方塊 43"/>
          <p:cNvSpPr txBox="1"/>
          <p:nvPr/>
        </p:nvSpPr>
        <p:spPr>
          <a:xfrm>
            <a:off x="7493343" y="4923355"/>
            <a:ext cx="624115"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2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45" name="矩形 44"/>
          <p:cNvSpPr/>
          <p:nvPr/>
        </p:nvSpPr>
        <p:spPr>
          <a:xfrm>
            <a:off x="5032749" y="2852936"/>
            <a:ext cx="3060000" cy="30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46" name="文字方塊 45"/>
          <p:cNvSpPr txBox="1"/>
          <p:nvPr/>
        </p:nvSpPr>
        <p:spPr>
          <a:xfrm>
            <a:off x="5520780" y="3361902"/>
            <a:ext cx="884641"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0.78</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47" name="文字方塊 46"/>
          <p:cNvSpPr txBox="1"/>
          <p:nvPr/>
        </p:nvSpPr>
        <p:spPr>
          <a:xfrm>
            <a:off x="6264859" y="3063602"/>
            <a:ext cx="75619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0.78</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48" name="文字方塊 47"/>
          <p:cNvSpPr txBox="1"/>
          <p:nvPr/>
        </p:nvSpPr>
        <p:spPr>
          <a:xfrm>
            <a:off x="6664432" y="3566206"/>
            <a:ext cx="82404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0.78</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49" name="文字方塊 48"/>
          <p:cNvSpPr txBox="1"/>
          <p:nvPr/>
        </p:nvSpPr>
        <p:spPr>
          <a:xfrm>
            <a:off x="7125679" y="3254872"/>
            <a:ext cx="820748"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a:cs typeface="+mn-cs"/>
              </a:rPr>
              <a:t>0.33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50" name="文字方塊 49"/>
          <p:cNvSpPr txBox="1"/>
          <p:nvPr/>
        </p:nvSpPr>
        <p:spPr>
          <a:xfrm>
            <a:off x="4990322" y="4105046"/>
            <a:ext cx="744407"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a:cs typeface="+mn-cs"/>
              </a:rPr>
              <a:t>0.33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51" name="文字方塊 50"/>
          <p:cNvSpPr txBox="1"/>
          <p:nvPr/>
        </p:nvSpPr>
        <p:spPr>
          <a:xfrm>
            <a:off x="4957938" y="4902024"/>
            <a:ext cx="842459"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a:cs typeface="+mn-cs"/>
              </a:rPr>
              <a:t>0.33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52" name="文字方塊 51"/>
          <p:cNvSpPr txBox="1"/>
          <p:nvPr/>
        </p:nvSpPr>
        <p:spPr>
          <a:xfrm>
            <a:off x="5800397" y="5169788"/>
            <a:ext cx="79146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1.26</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53" name="文字方塊 52"/>
          <p:cNvSpPr txBox="1"/>
          <p:nvPr/>
        </p:nvSpPr>
        <p:spPr>
          <a:xfrm>
            <a:off x="7114802" y="4878968"/>
            <a:ext cx="807132"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a:cs typeface="+mn-cs"/>
              </a:rPr>
              <a:t>0.33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54" name="文字方塊 53"/>
          <p:cNvSpPr txBox="1"/>
          <p:nvPr/>
        </p:nvSpPr>
        <p:spPr>
          <a:xfrm>
            <a:off x="6534086" y="4320258"/>
            <a:ext cx="82078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1.26</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55" name="文字方塊 54"/>
          <p:cNvSpPr txBox="1"/>
          <p:nvPr/>
        </p:nvSpPr>
        <p:spPr>
          <a:xfrm>
            <a:off x="5871749" y="4266211"/>
            <a:ext cx="734907"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1.26</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56" name="文字方塊 55"/>
          <p:cNvSpPr txBox="1"/>
          <p:nvPr/>
        </p:nvSpPr>
        <p:spPr>
          <a:xfrm>
            <a:off x="7130020" y="3551488"/>
            <a:ext cx="62411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4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57" name="文字方塊 56"/>
          <p:cNvSpPr txBox="1"/>
          <p:nvPr/>
        </p:nvSpPr>
        <p:spPr>
          <a:xfrm>
            <a:off x="6007020" y="3326348"/>
            <a:ext cx="62411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4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mc:AlternateContent xmlns:mc="http://schemas.openxmlformats.org/markup-compatibility/2006" xmlns:a14="http://schemas.microsoft.com/office/drawing/2010/main">
        <mc:Choice Requires="a14">
          <p:sp>
            <p:nvSpPr>
              <p:cNvPr id="58" name="文字方塊 57"/>
              <p:cNvSpPr txBox="1"/>
              <p:nvPr/>
            </p:nvSpPr>
            <p:spPr>
              <a:xfrm>
                <a:off x="3338479" y="2040334"/>
                <a:ext cx="14905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𝛼</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=0.42</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58" name="文字方塊 57"/>
              <p:cNvSpPr txBox="1">
                <a:spLocks noRot="1" noChangeAspect="1" noMove="1" noResize="1" noEditPoints="1" noAdjustHandles="1" noChangeArrowheads="1" noChangeShapeType="1" noTextEdit="1"/>
              </p:cNvSpPr>
              <p:nvPr/>
            </p:nvSpPr>
            <p:spPr>
              <a:xfrm>
                <a:off x="3338479" y="2040334"/>
                <a:ext cx="1490501" cy="461665"/>
              </a:xfrm>
              <a:prstGeom prst="rect">
                <a:avLst/>
              </a:prstGeom>
              <a:blipFill>
                <a:blip r:embed="rId8"/>
                <a:stretch>
                  <a:fillRect r="-410" b="-1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文字方塊 58"/>
              <p:cNvSpPr txBox="1"/>
              <p:nvPr/>
            </p:nvSpPr>
            <p:spPr>
              <a:xfrm>
                <a:off x="3901585" y="1459857"/>
                <a:ext cx="944294"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h</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d>
                      <m:d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d>
                  </m:oMath>
                </a14:m>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59" name="文字方塊 58"/>
              <p:cNvSpPr txBox="1">
                <a:spLocks noRot="1" noChangeAspect="1" noMove="1" noResize="1" noEditPoints="1" noAdjustHandles="1" noChangeArrowheads="1" noChangeShapeType="1" noTextEdit="1"/>
              </p:cNvSpPr>
              <p:nvPr/>
            </p:nvSpPr>
            <p:spPr>
              <a:xfrm>
                <a:off x="3901585" y="1459857"/>
                <a:ext cx="944294" cy="461665"/>
              </a:xfrm>
              <a:prstGeom prst="rect">
                <a:avLst/>
              </a:prstGeom>
              <a:blipFill>
                <a:blip r:embed="rId9"/>
                <a:stretch>
                  <a:fillRect l="-1935" t="-10526" r="-18710" b="-28947"/>
                </a:stretch>
              </a:blipFill>
            </p:spPr>
            <p:txBody>
              <a:bodyPr/>
              <a:lstStyle/>
              <a:p>
                <a:r>
                  <a:rPr lang="zh-CN" altLang="en-US">
                    <a:noFill/>
                  </a:rPr>
                  <a:t> </a:t>
                </a:r>
              </a:p>
            </p:txBody>
          </p:sp>
        </mc:Fallback>
      </mc:AlternateContent>
      <p:pic>
        <p:nvPicPr>
          <p:cNvPr id="60" name="圖片 59"/>
          <p:cNvPicPr>
            <a:picLocks noChangeAspect="1"/>
          </p:cNvPicPr>
          <p:nvPr/>
        </p:nvPicPr>
        <p:blipFill>
          <a:blip r:embed="rId10"/>
          <a:stretch>
            <a:fillRect/>
          </a:stretch>
        </p:blipFill>
        <p:spPr>
          <a:xfrm>
            <a:off x="4810907" y="1383859"/>
            <a:ext cx="1250206" cy="1250206"/>
          </a:xfrm>
          <a:prstGeom prst="rect">
            <a:avLst/>
          </a:prstGeom>
        </p:spPr>
      </p:pic>
      <p:graphicFrame>
        <p:nvGraphicFramePr>
          <p:cNvPr id="61" name="Object 9"/>
          <p:cNvGraphicFramePr>
            <a:graphicFrameLocks noChangeAspect="1"/>
          </p:cNvGraphicFramePr>
          <p:nvPr/>
        </p:nvGraphicFramePr>
        <p:xfrm>
          <a:off x="8158613" y="5189584"/>
          <a:ext cx="3913188" cy="842962"/>
        </p:xfrm>
        <a:graphic>
          <a:graphicData uri="http://schemas.openxmlformats.org/presentationml/2006/ole">
            <mc:AlternateContent xmlns:mc="http://schemas.openxmlformats.org/markup-compatibility/2006">
              <mc:Choice xmlns:v="urn:schemas-microsoft-com:vml" Requires="v">
                <p:oleObj spid="_x0000_s370715" name="Equation" r:id="rId11" imgW="2311200" imgH="495000" progId="Equation.DSMT4">
                  <p:embed/>
                </p:oleObj>
              </mc:Choice>
              <mc:Fallback>
                <p:oleObj name="Equation" r:id="rId11" imgW="2311200" imgH="495000" progId="Equation.DSMT4">
                  <p:embed/>
                  <p:pic>
                    <p:nvPicPr>
                      <p:cNvPr id="61" name="Object 9"/>
                      <p:cNvPicPr>
                        <a:picLocks noChangeAspect="1" noChangeArrowheads="1"/>
                      </p:cNvPicPr>
                      <p:nvPr/>
                    </p:nvPicPr>
                    <p:blipFill>
                      <a:blip r:embed="rId12"/>
                      <a:srcRect/>
                      <a:stretch>
                        <a:fillRect/>
                      </a:stretch>
                    </p:blipFill>
                    <p:spPr bwMode="auto">
                      <a:xfrm>
                        <a:off x="8158613" y="5189584"/>
                        <a:ext cx="3913188" cy="842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62" name="文字方塊 10"/>
              <p:cNvSpPr txBox="1"/>
              <p:nvPr/>
            </p:nvSpPr>
            <p:spPr>
              <a:xfrm>
                <a:off x="8958289" y="1242149"/>
                <a:ext cx="2460161" cy="447238"/>
              </a:xfrm>
              <a:prstGeom prst="rect">
                <a:avLst/>
              </a:prstGeom>
              <a:no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𝑑</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𝑡</m:t>
                          </m:r>
                        </m:sub>
                      </m:s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ad>
                        <m:radPr>
                          <m:degHide m:val="on"/>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radPr>
                        <m:deg/>
                        <m:e>
                          <m:f>
                            <m:fPr>
                              <m:type m:val="lin"/>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d>
                                <m:d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𝜀</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𝑡</m:t>
                                      </m:r>
                                    </m:sub>
                                  </m:sSub>
                                </m:e>
                              </m:d>
                            </m:num>
                            <m:den>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𝜀</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𝑡</m:t>
                                  </m:r>
                                </m:sub>
                              </m:sSub>
                            </m:den>
                          </m:f>
                        </m:e>
                      </m:rad>
                    </m:oMath>
                  </m:oMathPara>
                </a14:m>
                <a:endParaRPr kumimoji="0" lang="zh-TW" altLang="en-US" sz="2400" b="0" i="0" u="none" strike="noStrike" kern="1200" cap="none" spc="0" normalizeH="0" baseline="0" noProof="0" dirty="0">
                  <a:ln>
                    <a:noFill/>
                  </a:ln>
                  <a:solidFill>
                    <a:prstClr val="black"/>
                  </a:solidFill>
                  <a:effectLst/>
                  <a:uLnTx/>
                  <a:uFillTx/>
                  <a:latin typeface="Arial" charset="0"/>
                  <a:ea typeface="新細明體"/>
                  <a:cs typeface="+mn-cs"/>
                </a:endParaRPr>
              </a:p>
            </p:txBody>
          </p:sp>
        </mc:Choice>
        <mc:Fallback xmlns="">
          <p:sp>
            <p:nvSpPr>
              <p:cNvPr id="62" name="文字方塊 10"/>
              <p:cNvSpPr txBox="1">
                <a:spLocks noRot="1" noChangeAspect="1" noMove="1" noResize="1" noEditPoints="1" noAdjustHandles="1" noChangeArrowheads="1" noChangeShapeType="1" noTextEdit="1"/>
              </p:cNvSpPr>
              <p:nvPr/>
            </p:nvSpPr>
            <p:spPr>
              <a:xfrm>
                <a:off x="8958289" y="1242149"/>
                <a:ext cx="2460161" cy="447238"/>
              </a:xfrm>
              <a:prstGeom prst="rect">
                <a:avLst/>
              </a:prstGeom>
              <a:blipFill>
                <a:blip r:embed="rId13"/>
                <a:stretch>
                  <a:fillRect b="-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字方塊 11"/>
              <p:cNvSpPr txBox="1"/>
              <p:nvPr/>
            </p:nvSpPr>
            <p:spPr>
              <a:xfrm>
                <a:off x="8969402" y="1735644"/>
                <a:ext cx="2725409" cy="447238"/>
              </a:xfrm>
              <a:prstGeom prst="rect">
                <a:avLst/>
              </a:prstGeom>
              <a:noFill/>
            </p:spPr>
            <p:txBody>
              <a:bodyPr wrap="squar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𝛼</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𝑡</m:t>
                          </m:r>
                        </m:sub>
                      </m:s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𝑙𝑛</m:t>
                      </m:r>
                      <m:rad>
                        <m:radPr>
                          <m:degHide m:val="on"/>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radPr>
                        <m:deg/>
                        <m:e>
                          <m:f>
                            <m:fPr>
                              <m:type m:val="lin"/>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d>
                                <m:d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𝜀</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𝑡</m:t>
                                      </m:r>
                                    </m:sub>
                                  </m:sSub>
                                </m:e>
                              </m:d>
                            </m:num>
                            <m:den>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𝜀</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𝑡</m:t>
                                  </m:r>
                                </m:sub>
                              </m:sSub>
                            </m:den>
                          </m:f>
                        </m:e>
                      </m:rad>
                    </m:oMath>
                  </m:oMathPara>
                </a14:m>
                <a:endParaRPr kumimoji="0" lang="zh-TW" altLang="en-US" sz="2400" b="0" i="0" u="none" strike="noStrike" kern="1200" cap="none" spc="0" normalizeH="0" baseline="0" noProof="0" dirty="0">
                  <a:ln>
                    <a:noFill/>
                  </a:ln>
                  <a:solidFill>
                    <a:prstClr val="black"/>
                  </a:solidFill>
                  <a:effectLst/>
                  <a:uLnTx/>
                  <a:uFillTx/>
                  <a:latin typeface="Arial" charset="0"/>
                  <a:ea typeface="新細明體"/>
                  <a:cs typeface="+mn-cs"/>
                </a:endParaRPr>
              </a:p>
            </p:txBody>
          </p:sp>
        </mc:Choice>
        <mc:Fallback xmlns="">
          <p:sp>
            <p:nvSpPr>
              <p:cNvPr id="63" name="文字方塊 11"/>
              <p:cNvSpPr txBox="1">
                <a:spLocks noRot="1" noChangeAspect="1" noMove="1" noResize="1" noEditPoints="1" noAdjustHandles="1" noChangeArrowheads="1" noChangeShapeType="1" noTextEdit="1"/>
              </p:cNvSpPr>
              <p:nvPr/>
            </p:nvSpPr>
            <p:spPr>
              <a:xfrm>
                <a:off x="8969402" y="1735644"/>
                <a:ext cx="2725409" cy="447238"/>
              </a:xfrm>
              <a:prstGeom prst="rect">
                <a:avLst/>
              </a:prstGeom>
              <a:blipFill>
                <a:blip r:embed="rId14"/>
                <a:stretch>
                  <a:fillRect b="-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矩形 63"/>
              <p:cNvSpPr/>
              <p:nvPr/>
            </p:nvSpPr>
            <p:spPr>
              <a:xfrm>
                <a:off x="8136204" y="6095211"/>
                <a:ext cx="3229602" cy="764568"/>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𝐷</m:t>
                          </m:r>
                        </m:e>
                        <m:sub>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𝑡</m:t>
                          </m:r>
                          <m:r>
                            <a:rPr kumimoji="0" lang="zh-CN" altLang="en-US" sz="1800" b="0" i="0"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zh-CN" altLang="en-US" sz="1800" b="0" i="0"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𝐷</m:t>
                          </m:r>
                        </m:e>
                        <m:sub>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𝑡</m:t>
                          </m:r>
                          <m:r>
                            <a:rPr kumimoji="0" lang="zh-CN" altLang="en-US" sz="1800" b="0" i="0"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zh-CN" altLang="en-US" sz="1800" b="0" i="0"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chr m:val="∑"/>
                          <m:supHide m:val="on"/>
                          <m:ctrlP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m:rPr>
                              <m:brk m:alnAt="7"/>
                            </m:rP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up/>
                        <m:e>
                          <m:sSub>
                            <m:sSubPr>
                              <m:ctrlP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𝐷</m:t>
                              </m:r>
                            </m:e>
                            <m:sub>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𝑡</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zh-CN" altLang="en-US" sz="1800" b="0" i="0"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𝑖</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e>
                      </m:nary>
                    </m:oMath>
                  </m:oMathPara>
                </a14:m>
                <a:endParaRPr kumimoji="0" lang="zh-CN" altLang="en-US" sz="1800" b="0" i="0" u="none" strike="noStrike" kern="1200" cap="none" spc="0" normalizeH="0" baseline="0" noProof="0" dirty="0">
                  <a:ln>
                    <a:noFill/>
                  </a:ln>
                  <a:solidFill>
                    <a:prstClr val="black"/>
                  </a:solidFill>
                  <a:effectLst/>
                  <a:uLnTx/>
                  <a:uFillTx/>
                  <a:latin typeface="Arial" charset="0"/>
                  <a:ea typeface="等线" panose="02010600030101010101" pitchFamily="2" charset="-122"/>
                  <a:cs typeface="+mn-cs"/>
                </a:endParaRPr>
              </a:p>
            </p:txBody>
          </p:sp>
        </mc:Choice>
        <mc:Fallback xmlns="">
          <p:sp>
            <p:nvSpPr>
              <p:cNvPr id="64" name="矩形 63"/>
              <p:cNvSpPr>
                <a:spLocks noRot="1" noChangeAspect="1" noMove="1" noResize="1" noEditPoints="1" noAdjustHandles="1" noChangeArrowheads="1" noChangeShapeType="1" noTextEdit="1"/>
              </p:cNvSpPr>
              <p:nvPr/>
            </p:nvSpPr>
            <p:spPr>
              <a:xfrm>
                <a:off x="8136204" y="6095211"/>
                <a:ext cx="3229602" cy="764568"/>
              </a:xfrm>
              <a:prstGeom prst="rect">
                <a:avLst/>
              </a:prstGeom>
              <a:blipFill>
                <a:blip r:embed="rId15"/>
                <a:stretch>
                  <a:fillRect/>
                </a:stretch>
              </a:blipFill>
            </p:spPr>
            <p:txBody>
              <a:bodyPr/>
              <a:lstStyle/>
              <a:p>
                <a:r>
                  <a:rPr lang="zh-CN" altLang="en-US">
                    <a:noFill/>
                  </a:rPr>
                  <a:t> </a:t>
                </a:r>
              </a:p>
            </p:txBody>
          </p:sp>
        </mc:Fallback>
      </mc:AlternateContent>
      <p:sp>
        <p:nvSpPr>
          <p:cNvPr id="65" name="文本框 64"/>
          <p:cNvSpPr txBox="1"/>
          <p:nvPr/>
        </p:nvSpPr>
        <p:spPr>
          <a:xfrm>
            <a:off x="9117411" y="280331"/>
            <a:ext cx="2723823" cy="369332"/>
          </a:xfrm>
          <a:prstGeom prst="rect">
            <a:avLst/>
          </a:prstGeom>
          <a:noFill/>
        </p:spPr>
        <p:txBody>
          <a:bodyPr wrap="none" rtlCol="0">
            <a:spAutoFit/>
          </a:bodyPr>
          <a:lstStyle/>
          <a:p>
            <a:r>
              <a:rPr lang="zh-CN" altLang="en-US" dirty="0">
                <a:solidFill>
                  <a:srgbClr val="FF0000"/>
                </a:solidFill>
              </a:rPr>
              <a:t>采用标准的权值更新规则</a:t>
            </a:r>
          </a:p>
        </p:txBody>
      </p:sp>
    </p:spTree>
    <p:extLst>
      <p:ext uri="{BB962C8B-B14F-4D97-AF65-F5344CB8AC3E}">
        <p14:creationId xmlns:p14="http://schemas.microsoft.com/office/powerpoint/2010/main" val="3406878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9" grpId="0"/>
      <p:bldP spid="30" grpId="0"/>
      <p:bldP spid="31" grpId="0" animBg="1"/>
      <p:bldP spid="32" grpId="0"/>
      <p:bldP spid="33" grpId="0"/>
      <p:bldP spid="34" grpId="0" animBg="1"/>
      <p:bldP spid="35" grpId="0" animBg="1"/>
      <p:bldP spid="36" grpId="0" animBg="1"/>
      <p:bldP spid="37" grpId="0"/>
      <p:bldP spid="38" grpId="0"/>
      <p:bldP spid="39" grpId="0"/>
      <p:bldP spid="40" grpId="0"/>
      <p:bldP spid="41" grpId="0"/>
      <p:bldP spid="42" grpId="0"/>
      <p:bldP spid="43" grpId="0"/>
      <p:bldP spid="44" grpId="0"/>
      <p:bldP spid="45" grpId="0" animBg="1"/>
      <p:bldP spid="46" grpId="0"/>
      <p:bldP spid="47" grpId="0"/>
      <p:bldP spid="48" grpId="0"/>
      <p:bldP spid="49" grpId="0"/>
      <p:bldP spid="50" grpId="0"/>
      <p:bldP spid="51" grpId="0"/>
      <p:bldP spid="52" grpId="0"/>
      <p:bldP spid="53" grpId="0"/>
      <p:bldP spid="54" grpId="0"/>
      <p:bldP spid="55" grpId="0"/>
      <p:bldP spid="56" grpId="0"/>
      <p:bldP spid="57" grpId="0"/>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 name="矩形 36"/>
          <p:cNvSpPr/>
          <p:nvPr/>
        </p:nvSpPr>
        <p:spPr>
          <a:xfrm>
            <a:off x="2425040" y="4166423"/>
            <a:ext cx="3034542" cy="1899784"/>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38" name="矩形 37"/>
          <p:cNvSpPr/>
          <p:nvPr/>
        </p:nvSpPr>
        <p:spPr>
          <a:xfrm>
            <a:off x="2411100" y="3031227"/>
            <a:ext cx="3048483" cy="109016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2" name="標題 1"/>
          <p:cNvSpPr>
            <a:spLocks noGrp="1"/>
          </p:cNvSpPr>
          <p:nvPr>
            <p:ph type="title"/>
          </p:nvPr>
        </p:nvSpPr>
        <p:spPr/>
        <p:txBody>
          <a:bodyPr/>
          <a:lstStyle/>
          <a:p>
            <a:r>
              <a:rPr lang="en-US" altLang="zh-TW" dirty="0"/>
              <a:t>Toy Example</a:t>
            </a:r>
            <a:endParaRPr lang="zh-TW" altLang="en-US" dirty="0"/>
          </a:p>
        </p:txBody>
      </p:sp>
      <p:sp>
        <p:nvSpPr>
          <p:cNvPr id="3" name="內容版面配置區 2"/>
          <p:cNvSpPr>
            <a:spLocks noGrp="1"/>
          </p:cNvSpPr>
          <p:nvPr>
            <p:ph idx="1"/>
          </p:nvPr>
        </p:nvSpPr>
        <p:spPr/>
        <p:txBody>
          <a:bodyPr/>
          <a:lstStyle/>
          <a:p>
            <a:r>
              <a:rPr lang="en-US" altLang="zh-TW" dirty="0"/>
              <a:t>t=3</a:t>
            </a:r>
            <a:endParaRPr lang="zh-TW" altLang="en-US" dirty="0"/>
          </a:p>
          <a:p>
            <a:endParaRPr lang="zh-TW" altLang="en-US" dirty="0"/>
          </a:p>
        </p:txBody>
      </p:sp>
      <mc:AlternateContent xmlns:mc="http://schemas.openxmlformats.org/markup-compatibility/2006" xmlns:a14="http://schemas.microsoft.com/office/drawing/2010/main">
        <mc:Choice Requires="a14">
          <p:sp>
            <p:nvSpPr>
              <p:cNvPr id="4" name="文字方塊 3"/>
              <p:cNvSpPr txBox="1"/>
              <p:nvPr/>
            </p:nvSpPr>
            <p:spPr>
              <a:xfrm>
                <a:off x="3201733" y="2142394"/>
                <a:ext cx="14905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𝛼</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=0.42</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4" name="文字方塊 3"/>
              <p:cNvSpPr txBox="1">
                <a:spLocks noRot="1" noChangeAspect="1" noMove="1" noResize="1" noEditPoints="1" noAdjustHandles="1" noChangeArrowheads="1" noChangeShapeType="1" noTextEdit="1"/>
              </p:cNvSpPr>
              <p:nvPr/>
            </p:nvSpPr>
            <p:spPr>
              <a:xfrm>
                <a:off x="3201733" y="2142394"/>
                <a:ext cx="1490501" cy="461665"/>
              </a:xfrm>
              <a:prstGeom prst="rect">
                <a:avLst/>
              </a:prstGeom>
              <a:blipFill>
                <a:blip r:embed="rId3"/>
                <a:stretch>
                  <a:fillRect r="-408"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字方塊 4"/>
              <p:cNvSpPr txBox="1"/>
              <p:nvPr/>
            </p:nvSpPr>
            <p:spPr>
              <a:xfrm>
                <a:off x="3764839" y="1561917"/>
                <a:ext cx="944294"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h</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d>
                      <m:d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d>
                  </m:oMath>
                </a14:m>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5" name="文字方塊 4"/>
              <p:cNvSpPr txBox="1">
                <a:spLocks noRot="1" noChangeAspect="1" noMove="1" noResize="1" noEditPoints="1" noAdjustHandles="1" noChangeArrowheads="1" noChangeShapeType="1" noTextEdit="1"/>
              </p:cNvSpPr>
              <p:nvPr/>
            </p:nvSpPr>
            <p:spPr>
              <a:xfrm>
                <a:off x="3764839" y="1561917"/>
                <a:ext cx="944294" cy="461665"/>
              </a:xfrm>
              <a:prstGeom prst="rect">
                <a:avLst/>
              </a:prstGeom>
              <a:blipFill>
                <a:blip r:embed="rId4"/>
                <a:stretch>
                  <a:fillRect l="-1948" t="-10526" r="-18831" b="-28947"/>
                </a:stretch>
              </a:blipFill>
            </p:spPr>
            <p:txBody>
              <a:bodyPr/>
              <a:lstStyle/>
              <a:p>
                <a:r>
                  <a:rPr lang="zh-CN" altLang="en-US">
                    <a:noFill/>
                  </a:rPr>
                  <a:t> </a:t>
                </a:r>
              </a:p>
            </p:txBody>
          </p:sp>
        </mc:Fallback>
      </mc:AlternateContent>
      <p:pic>
        <p:nvPicPr>
          <p:cNvPr id="6" name="圖片 5"/>
          <p:cNvPicPr>
            <a:picLocks noChangeAspect="1"/>
          </p:cNvPicPr>
          <p:nvPr/>
        </p:nvPicPr>
        <p:blipFill>
          <a:blip r:embed="rId5"/>
          <a:stretch>
            <a:fillRect/>
          </a:stretch>
        </p:blipFill>
        <p:spPr>
          <a:xfrm>
            <a:off x="4674161" y="1485919"/>
            <a:ext cx="1250206" cy="1250206"/>
          </a:xfrm>
          <a:prstGeom prst="rect">
            <a:avLst/>
          </a:prstGeom>
        </p:spPr>
      </p:pic>
      <p:sp>
        <p:nvSpPr>
          <p:cNvPr id="7" name="文字方塊 6"/>
          <p:cNvSpPr txBox="1"/>
          <p:nvPr/>
        </p:nvSpPr>
        <p:spPr>
          <a:xfrm>
            <a:off x="5665031" y="754173"/>
            <a:ext cx="4924600"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T=3, weak classifier = decision stump</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AlternateContent xmlns:mc="http://schemas.openxmlformats.org/markup-compatibility/2006" xmlns:a14="http://schemas.microsoft.com/office/drawing/2010/main">
        <mc:Choice Requires="a14">
          <p:sp>
            <p:nvSpPr>
              <p:cNvPr id="8" name="文字方塊 7"/>
              <p:cNvSpPr txBox="1"/>
              <p:nvPr/>
            </p:nvSpPr>
            <p:spPr>
              <a:xfrm>
                <a:off x="6164663" y="2110871"/>
                <a:ext cx="14905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𝛼</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=0.66</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8" name="文字方塊 7"/>
              <p:cNvSpPr txBox="1">
                <a:spLocks noRot="1" noChangeAspect="1" noMove="1" noResize="1" noEditPoints="1" noAdjustHandles="1" noChangeArrowheads="1" noChangeShapeType="1" noTextEdit="1"/>
              </p:cNvSpPr>
              <p:nvPr/>
            </p:nvSpPr>
            <p:spPr>
              <a:xfrm>
                <a:off x="6164663" y="2110871"/>
                <a:ext cx="1490501" cy="461665"/>
              </a:xfrm>
              <a:prstGeom prst="rect">
                <a:avLst/>
              </a:prstGeom>
              <a:blipFill>
                <a:blip r:embed="rId6"/>
                <a:stretch>
                  <a:fillRect r="-816"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字方塊 8"/>
              <p:cNvSpPr txBox="1"/>
              <p:nvPr/>
            </p:nvSpPr>
            <p:spPr>
              <a:xfrm>
                <a:off x="6590360" y="1530393"/>
                <a:ext cx="944294"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h</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d>
                      <m:d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d>
                  </m:oMath>
                </a14:m>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9" name="文字方塊 8"/>
              <p:cNvSpPr txBox="1">
                <a:spLocks noRot="1" noChangeAspect="1" noMove="1" noResize="1" noEditPoints="1" noAdjustHandles="1" noChangeArrowheads="1" noChangeShapeType="1" noTextEdit="1"/>
              </p:cNvSpPr>
              <p:nvPr/>
            </p:nvSpPr>
            <p:spPr>
              <a:xfrm>
                <a:off x="6590360" y="1530393"/>
                <a:ext cx="944294" cy="461665"/>
              </a:xfrm>
              <a:prstGeom prst="rect">
                <a:avLst/>
              </a:prstGeom>
              <a:blipFill>
                <a:blip r:embed="rId7"/>
                <a:stretch>
                  <a:fillRect l="-1935" t="-10526" r="-18710" b="-28947"/>
                </a:stretch>
              </a:blipFill>
            </p:spPr>
            <p:txBody>
              <a:bodyPr/>
              <a:lstStyle/>
              <a:p>
                <a:r>
                  <a:rPr lang="zh-CN" altLang="en-US">
                    <a:noFill/>
                  </a:rPr>
                  <a:t> </a:t>
                </a:r>
              </a:p>
            </p:txBody>
          </p:sp>
        </mc:Fallback>
      </mc:AlternateContent>
      <p:pic>
        <p:nvPicPr>
          <p:cNvPr id="10" name="圖片 9"/>
          <p:cNvPicPr>
            <a:picLocks noChangeAspect="1"/>
          </p:cNvPicPr>
          <p:nvPr/>
        </p:nvPicPr>
        <p:blipFill>
          <a:blip r:embed="rId8"/>
          <a:stretch>
            <a:fillRect/>
          </a:stretch>
        </p:blipFill>
        <p:spPr>
          <a:xfrm>
            <a:off x="7655164" y="1454397"/>
            <a:ext cx="1281728" cy="1281728"/>
          </a:xfrm>
          <a:prstGeom prst="rect">
            <a:avLst/>
          </a:prstGeom>
        </p:spPr>
      </p:pic>
      <p:sp>
        <p:nvSpPr>
          <p:cNvPr id="11" name="文字方塊 10"/>
          <p:cNvSpPr txBox="1"/>
          <p:nvPr/>
        </p:nvSpPr>
        <p:spPr>
          <a:xfrm>
            <a:off x="4070894" y="3204230"/>
            <a:ext cx="62411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4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12" name="文字方塊 11"/>
          <p:cNvSpPr txBox="1"/>
          <p:nvPr/>
        </p:nvSpPr>
        <p:spPr>
          <a:xfrm>
            <a:off x="2722516" y="4296327"/>
            <a:ext cx="624115"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12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13" name="文字方塊 12"/>
          <p:cNvSpPr txBox="1"/>
          <p:nvPr/>
        </p:nvSpPr>
        <p:spPr>
          <a:xfrm>
            <a:off x="2744293" y="5088628"/>
            <a:ext cx="624115"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12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14" name="文字方塊 13"/>
          <p:cNvSpPr txBox="1"/>
          <p:nvPr/>
        </p:nvSpPr>
        <p:spPr>
          <a:xfrm>
            <a:off x="3505671" y="4131490"/>
            <a:ext cx="624115"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36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36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15" name="文字方塊 14"/>
          <p:cNvSpPr txBox="1"/>
          <p:nvPr/>
        </p:nvSpPr>
        <p:spPr>
          <a:xfrm>
            <a:off x="3670672" y="5240872"/>
            <a:ext cx="624115"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36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36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16" name="文字方塊 15"/>
          <p:cNvSpPr txBox="1"/>
          <p:nvPr/>
        </p:nvSpPr>
        <p:spPr>
          <a:xfrm>
            <a:off x="4201362" y="4180954"/>
            <a:ext cx="624115"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36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36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17" name="文字方塊 16"/>
          <p:cNvSpPr txBox="1"/>
          <p:nvPr/>
        </p:nvSpPr>
        <p:spPr>
          <a:xfrm>
            <a:off x="4889186" y="3433995"/>
            <a:ext cx="624115"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2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18" name="文字方塊 17"/>
          <p:cNvSpPr txBox="1"/>
          <p:nvPr/>
        </p:nvSpPr>
        <p:spPr>
          <a:xfrm>
            <a:off x="4876742" y="5076626"/>
            <a:ext cx="624115"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2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19" name="矩形 18"/>
          <p:cNvSpPr/>
          <p:nvPr/>
        </p:nvSpPr>
        <p:spPr>
          <a:xfrm>
            <a:off x="2416148" y="3006207"/>
            <a:ext cx="3060000" cy="30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20" name="文字方塊 19"/>
          <p:cNvSpPr txBox="1"/>
          <p:nvPr/>
        </p:nvSpPr>
        <p:spPr>
          <a:xfrm>
            <a:off x="2904179" y="3515173"/>
            <a:ext cx="884641"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0.78</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1" name="文字方塊 20"/>
          <p:cNvSpPr txBox="1"/>
          <p:nvPr/>
        </p:nvSpPr>
        <p:spPr>
          <a:xfrm>
            <a:off x="3648258" y="3216873"/>
            <a:ext cx="75619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0.78</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2" name="文字方塊 21"/>
          <p:cNvSpPr txBox="1"/>
          <p:nvPr/>
        </p:nvSpPr>
        <p:spPr>
          <a:xfrm>
            <a:off x="4047831" y="3719477"/>
            <a:ext cx="82404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0.78</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3" name="文字方塊 22"/>
          <p:cNvSpPr txBox="1"/>
          <p:nvPr/>
        </p:nvSpPr>
        <p:spPr>
          <a:xfrm>
            <a:off x="4509078" y="3408143"/>
            <a:ext cx="820748"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a:cs typeface="+mn-cs"/>
              </a:rPr>
              <a:t>0.33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4" name="文字方塊 23"/>
          <p:cNvSpPr txBox="1"/>
          <p:nvPr/>
        </p:nvSpPr>
        <p:spPr>
          <a:xfrm>
            <a:off x="2373721" y="4258317"/>
            <a:ext cx="744407"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a:cs typeface="+mn-cs"/>
              </a:rPr>
              <a:t>0.33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5" name="文字方塊 24"/>
          <p:cNvSpPr txBox="1"/>
          <p:nvPr/>
        </p:nvSpPr>
        <p:spPr>
          <a:xfrm>
            <a:off x="2341337" y="5055295"/>
            <a:ext cx="842459"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a:cs typeface="+mn-cs"/>
              </a:rPr>
              <a:t>0.33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6" name="文字方塊 25"/>
          <p:cNvSpPr txBox="1"/>
          <p:nvPr/>
        </p:nvSpPr>
        <p:spPr>
          <a:xfrm>
            <a:off x="3183796" y="5323059"/>
            <a:ext cx="79146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1.26</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7" name="文字方塊 26"/>
          <p:cNvSpPr txBox="1"/>
          <p:nvPr/>
        </p:nvSpPr>
        <p:spPr>
          <a:xfrm>
            <a:off x="4498201" y="5032239"/>
            <a:ext cx="807132"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a:cs typeface="+mn-cs"/>
              </a:rPr>
              <a:t>0.33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8" name="文字方塊 27"/>
          <p:cNvSpPr txBox="1"/>
          <p:nvPr/>
        </p:nvSpPr>
        <p:spPr>
          <a:xfrm>
            <a:off x="3917485" y="4473529"/>
            <a:ext cx="82078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1.26</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9" name="文字方塊 28"/>
          <p:cNvSpPr txBox="1"/>
          <p:nvPr/>
        </p:nvSpPr>
        <p:spPr>
          <a:xfrm>
            <a:off x="3255148" y="4419482"/>
            <a:ext cx="734907"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1.26</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30" name="文字方塊 29"/>
          <p:cNvSpPr txBox="1"/>
          <p:nvPr/>
        </p:nvSpPr>
        <p:spPr>
          <a:xfrm>
            <a:off x="4513419" y="3704759"/>
            <a:ext cx="62411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4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31" name="文字方塊 30"/>
          <p:cNvSpPr txBox="1"/>
          <p:nvPr/>
        </p:nvSpPr>
        <p:spPr>
          <a:xfrm>
            <a:off x="3390419" y="3479619"/>
            <a:ext cx="62411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4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mc:AlternateContent xmlns:mc="http://schemas.openxmlformats.org/markup-compatibility/2006" xmlns:a14="http://schemas.microsoft.com/office/drawing/2010/main">
        <mc:Choice Requires="a14">
          <p:sp>
            <p:nvSpPr>
              <p:cNvPr id="32" name="文字方塊 31"/>
              <p:cNvSpPr txBox="1"/>
              <p:nvPr/>
            </p:nvSpPr>
            <p:spPr>
              <a:xfrm>
                <a:off x="5555382" y="4497452"/>
                <a:ext cx="1552687"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𝜀</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=0.13</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32" name="文字方塊 31"/>
              <p:cNvSpPr txBox="1">
                <a:spLocks noRot="1" noChangeAspect="1" noMove="1" noResize="1" noEditPoints="1" noAdjustHandles="1" noChangeArrowheads="1" noChangeShapeType="1" noTextEdit="1"/>
              </p:cNvSpPr>
              <p:nvPr/>
            </p:nvSpPr>
            <p:spPr>
              <a:xfrm>
                <a:off x="5555382" y="4497452"/>
                <a:ext cx="1552687" cy="461665"/>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字方塊 33"/>
              <p:cNvSpPr txBox="1"/>
              <p:nvPr/>
            </p:nvSpPr>
            <p:spPr>
              <a:xfrm>
                <a:off x="5562810" y="5027081"/>
                <a:ext cx="14905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𝑑</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=2.59</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34" name="文字方塊 33"/>
              <p:cNvSpPr txBox="1">
                <a:spLocks noRot="1" noChangeAspect="1" noMove="1" noResize="1" noEditPoints="1" noAdjustHandles="1" noChangeArrowheads="1" noChangeShapeType="1" noTextEdit="1"/>
              </p:cNvSpPr>
              <p:nvPr/>
            </p:nvSpPr>
            <p:spPr>
              <a:xfrm>
                <a:off x="5562810" y="5027081"/>
                <a:ext cx="1490501" cy="461665"/>
              </a:xfrm>
              <a:prstGeom prst="rect">
                <a:avLst/>
              </a:prstGeom>
              <a:blipFill>
                <a:blip r:embed="rId10"/>
                <a:stretch>
                  <a:fillRect l="-410" r="-820" b="-1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字方塊 34"/>
              <p:cNvSpPr txBox="1"/>
              <p:nvPr/>
            </p:nvSpPr>
            <p:spPr>
              <a:xfrm>
                <a:off x="5569897" y="5521558"/>
                <a:ext cx="14905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𝛼</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=0.95</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35" name="文字方塊 34"/>
              <p:cNvSpPr txBox="1">
                <a:spLocks noRot="1" noChangeAspect="1" noMove="1" noResize="1" noEditPoints="1" noAdjustHandles="1" noChangeArrowheads="1" noChangeShapeType="1" noTextEdit="1"/>
              </p:cNvSpPr>
              <p:nvPr/>
            </p:nvSpPr>
            <p:spPr>
              <a:xfrm>
                <a:off x="5569897" y="5521558"/>
                <a:ext cx="1490501" cy="461665"/>
              </a:xfrm>
              <a:prstGeom prst="rect">
                <a:avLst/>
              </a:prstGeom>
              <a:blipFill>
                <a:blip r:embed="rId11"/>
                <a:stretch>
                  <a:fillRect r="-1230" b="-1333"/>
                </a:stretch>
              </a:blipFill>
            </p:spPr>
            <p:txBody>
              <a:bodyPr/>
              <a:lstStyle/>
              <a:p>
                <a:r>
                  <a:rPr lang="zh-CN" altLang="en-US">
                    <a:noFill/>
                  </a:rPr>
                  <a:t> </a:t>
                </a:r>
              </a:p>
            </p:txBody>
          </p:sp>
        </mc:Fallback>
      </mc:AlternateContent>
      <p:cxnSp>
        <p:nvCxnSpPr>
          <p:cNvPr id="36" name="直線接點 35"/>
          <p:cNvCxnSpPr/>
          <p:nvPr/>
        </p:nvCxnSpPr>
        <p:spPr>
          <a:xfrm rot="5400000">
            <a:off x="3917484" y="2594008"/>
            <a:ext cx="0" cy="308419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橢圓 38"/>
          <p:cNvSpPr/>
          <p:nvPr/>
        </p:nvSpPr>
        <p:spPr>
          <a:xfrm>
            <a:off x="2492205" y="4226123"/>
            <a:ext cx="628650" cy="37518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40" name="橢圓 39"/>
          <p:cNvSpPr/>
          <p:nvPr/>
        </p:nvSpPr>
        <p:spPr>
          <a:xfrm>
            <a:off x="4694198" y="3402291"/>
            <a:ext cx="628650" cy="37518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41" name="橢圓 40"/>
          <p:cNvSpPr/>
          <p:nvPr/>
        </p:nvSpPr>
        <p:spPr>
          <a:xfrm>
            <a:off x="2492205" y="5020789"/>
            <a:ext cx="628650" cy="37518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mc:AlternateContent xmlns:mc="http://schemas.openxmlformats.org/markup-compatibility/2006" xmlns:a14="http://schemas.microsoft.com/office/drawing/2010/main">
        <mc:Choice Requires="a14">
          <p:sp>
            <p:nvSpPr>
              <p:cNvPr id="42" name="文字方塊 41"/>
              <p:cNvSpPr txBox="1"/>
              <p:nvPr/>
            </p:nvSpPr>
            <p:spPr>
              <a:xfrm>
                <a:off x="1514725" y="3885599"/>
                <a:ext cx="944294"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h</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d>
                        <m:d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d>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42" name="文字方塊 41"/>
              <p:cNvSpPr txBox="1">
                <a:spLocks noRot="1" noChangeAspect="1" noMove="1" noResize="1" noEditPoints="1" noAdjustHandles="1" noChangeArrowheads="1" noChangeShapeType="1" noTextEdit="1"/>
              </p:cNvSpPr>
              <p:nvPr/>
            </p:nvSpPr>
            <p:spPr>
              <a:xfrm>
                <a:off x="1514725" y="3885599"/>
                <a:ext cx="944294" cy="461665"/>
              </a:xfrm>
              <a:prstGeom prst="rect">
                <a:avLst/>
              </a:prstGeom>
              <a:blipFill>
                <a:blip r:embed="rId12"/>
                <a:stretch>
                  <a:fillRect l="-645"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字方塊 43"/>
              <p:cNvSpPr txBox="1"/>
              <p:nvPr/>
            </p:nvSpPr>
            <p:spPr>
              <a:xfrm>
                <a:off x="7359169" y="3848274"/>
                <a:ext cx="14905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𝛼</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=0.95</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44" name="文字方塊 43"/>
              <p:cNvSpPr txBox="1">
                <a:spLocks noRot="1" noChangeAspect="1" noMove="1" noResize="1" noEditPoints="1" noAdjustHandles="1" noChangeArrowheads="1" noChangeShapeType="1" noTextEdit="1"/>
              </p:cNvSpPr>
              <p:nvPr/>
            </p:nvSpPr>
            <p:spPr>
              <a:xfrm>
                <a:off x="7359169" y="3848274"/>
                <a:ext cx="1490501" cy="461665"/>
              </a:xfrm>
              <a:prstGeom prst="rect">
                <a:avLst/>
              </a:prstGeom>
              <a:blipFill>
                <a:blip r:embed="rId13"/>
                <a:stretch>
                  <a:fillRect r="-1224"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字方塊 44"/>
              <p:cNvSpPr txBox="1"/>
              <p:nvPr/>
            </p:nvSpPr>
            <p:spPr>
              <a:xfrm>
                <a:off x="7784866" y="3267796"/>
                <a:ext cx="944294"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h</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d>
                      <m:d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d>
                  </m:oMath>
                </a14:m>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45" name="文字方塊 44"/>
              <p:cNvSpPr txBox="1">
                <a:spLocks noRot="1" noChangeAspect="1" noMove="1" noResize="1" noEditPoints="1" noAdjustHandles="1" noChangeArrowheads="1" noChangeShapeType="1" noTextEdit="1"/>
              </p:cNvSpPr>
              <p:nvPr/>
            </p:nvSpPr>
            <p:spPr>
              <a:xfrm>
                <a:off x="7784866" y="3267796"/>
                <a:ext cx="944294" cy="461665"/>
              </a:xfrm>
              <a:prstGeom prst="rect">
                <a:avLst/>
              </a:prstGeom>
              <a:blipFill>
                <a:blip r:embed="rId14"/>
                <a:stretch>
                  <a:fillRect l="-1935" t="-10526" r="-18710" b="-28947"/>
                </a:stretch>
              </a:blipFill>
            </p:spPr>
            <p:txBody>
              <a:bodyPr/>
              <a:lstStyle/>
              <a:p>
                <a:r>
                  <a:rPr lang="zh-CN" altLang="en-US">
                    <a:noFill/>
                  </a:rPr>
                  <a:t> </a:t>
                </a:r>
              </a:p>
            </p:txBody>
          </p:sp>
        </mc:Fallback>
      </mc:AlternateContent>
      <p:pic>
        <p:nvPicPr>
          <p:cNvPr id="47" name="圖片 46"/>
          <p:cNvPicPr>
            <a:picLocks noChangeAspect="1"/>
          </p:cNvPicPr>
          <p:nvPr/>
        </p:nvPicPr>
        <p:blipFill>
          <a:blip r:embed="rId15"/>
          <a:stretch>
            <a:fillRect/>
          </a:stretch>
        </p:blipFill>
        <p:spPr>
          <a:xfrm>
            <a:off x="8999033" y="3152865"/>
            <a:ext cx="1298156" cy="1290118"/>
          </a:xfrm>
          <a:prstGeom prst="rect">
            <a:avLst/>
          </a:prstGeom>
        </p:spPr>
      </p:pic>
      <p:graphicFrame>
        <p:nvGraphicFramePr>
          <p:cNvPr id="46" name="Object 9"/>
          <p:cNvGraphicFramePr>
            <a:graphicFrameLocks noChangeAspect="1"/>
          </p:cNvGraphicFramePr>
          <p:nvPr/>
        </p:nvGraphicFramePr>
        <p:xfrm>
          <a:off x="8097815" y="4875759"/>
          <a:ext cx="3913188" cy="842962"/>
        </p:xfrm>
        <a:graphic>
          <a:graphicData uri="http://schemas.openxmlformats.org/presentationml/2006/ole">
            <mc:AlternateContent xmlns:mc="http://schemas.openxmlformats.org/markup-compatibility/2006">
              <mc:Choice xmlns:v="urn:schemas-microsoft-com:vml" Requires="v">
                <p:oleObj spid="_x0000_s371740" name="Equation" r:id="rId16" imgW="2311200" imgH="495000" progId="Equation.DSMT4">
                  <p:embed/>
                </p:oleObj>
              </mc:Choice>
              <mc:Fallback>
                <p:oleObj name="Equation" r:id="rId16" imgW="2311200" imgH="495000" progId="Equation.DSMT4">
                  <p:embed/>
                  <p:pic>
                    <p:nvPicPr>
                      <p:cNvPr id="46" name="Object 9"/>
                      <p:cNvPicPr>
                        <a:picLocks noChangeAspect="1" noChangeArrowheads="1"/>
                      </p:cNvPicPr>
                      <p:nvPr/>
                    </p:nvPicPr>
                    <p:blipFill>
                      <a:blip r:embed="rId17"/>
                      <a:srcRect/>
                      <a:stretch>
                        <a:fillRect/>
                      </a:stretch>
                    </p:blipFill>
                    <p:spPr bwMode="auto">
                      <a:xfrm>
                        <a:off x="8097815" y="4875759"/>
                        <a:ext cx="3913188" cy="842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48" name="文字方塊 10"/>
              <p:cNvSpPr txBox="1"/>
              <p:nvPr/>
            </p:nvSpPr>
            <p:spPr>
              <a:xfrm>
                <a:off x="8958289" y="1242149"/>
                <a:ext cx="2460161" cy="447238"/>
              </a:xfrm>
              <a:prstGeom prst="rect">
                <a:avLst/>
              </a:prstGeom>
              <a:no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𝑑</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𝑡</m:t>
                          </m:r>
                        </m:sub>
                      </m:s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ad>
                        <m:radPr>
                          <m:degHide m:val="on"/>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radPr>
                        <m:deg/>
                        <m:e>
                          <m:f>
                            <m:fPr>
                              <m:type m:val="lin"/>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d>
                                <m:d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𝜀</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𝑡</m:t>
                                      </m:r>
                                    </m:sub>
                                  </m:sSub>
                                </m:e>
                              </m:d>
                            </m:num>
                            <m:den>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𝜀</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𝑡</m:t>
                                  </m:r>
                                </m:sub>
                              </m:sSub>
                            </m:den>
                          </m:f>
                        </m:e>
                      </m:rad>
                    </m:oMath>
                  </m:oMathPara>
                </a14:m>
                <a:endParaRPr kumimoji="0" lang="zh-TW" altLang="en-US" sz="2400" b="0" i="0" u="none" strike="noStrike" kern="1200" cap="none" spc="0" normalizeH="0" baseline="0" noProof="0" dirty="0">
                  <a:ln>
                    <a:noFill/>
                  </a:ln>
                  <a:solidFill>
                    <a:prstClr val="black"/>
                  </a:solidFill>
                  <a:effectLst/>
                  <a:uLnTx/>
                  <a:uFillTx/>
                  <a:latin typeface="Arial" charset="0"/>
                  <a:ea typeface="新細明體"/>
                  <a:cs typeface="+mn-cs"/>
                </a:endParaRPr>
              </a:p>
            </p:txBody>
          </p:sp>
        </mc:Choice>
        <mc:Fallback xmlns="">
          <p:sp>
            <p:nvSpPr>
              <p:cNvPr id="48" name="文字方塊 10"/>
              <p:cNvSpPr txBox="1">
                <a:spLocks noRot="1" noChangeAspect="1" noMove="1" noResize="1" noEditPoints="1" noAdjustHandles="1" noChangeArrowheads="1" noChangeShapeType="1" noTextEdit="1"/>
              </p:cNvSpPr>
              <p:nvPr/>
            </p:nvSpPr>
            <p:spPr>
              <a:xfrm>
                <a:off x="8958289" y="1242149"/>
                <a:ext cx="2460161" cy="447238"/>
              </a:xfrm>
              <a:prstGeom prst="rect">
                <a:avLst/>
              </a:prstGeom>
              <a:blipFill>
                <a:blip r:embed="rId18"/>
                <a:stretch>
                  <a:fillRect b="-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字方塊 11"/>
              <p:cNvSpPr txBox="1"/>
              <p:nvPr/>
            </p:nvSpPr>
            <p:spPr>
              <a:xfrm>
                <a:off x="8969402" y="1735644"/>
                <a:ext cx="2725409" cy="447238"/>
              </a:xfrm>
              <a:prstGeom prst="rect">
                <a:avLst/>
              </a:prstGeom>
              <a:noFill/>
            </p:spPr>
            <p:txBody>
              <a:bodyPr wrap="squar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𝛼</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𝑡</m:t>
                          </m:r>
                        </m:sub>
                      </m:s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𝑙𝑛</m:t>
                      </m:r>
                      <m:rad>
                        <m:radPr>
                          <m:degHide m:val="on"/>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radPr>
                        <m:deg/>
                        <m:e>
                          <m:f>
                            <m:fPr>
                              <m:type m:val="lin"/>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d>
                                <m:d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𝜀</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𝑡</m:t>
                                      </m:r>
                                    </m:sub>
                                  </m:sSub>
                                </m:e>
                              </m:d>
                            </m:num>
                            <m:den>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𝜀</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𝑡</m:t>
                                  </m:r>
                                </m:sub>
                              </m:sSub>
                            </m:den>
                          </m:f>
                        </m:e>
                      </m:rad>
                    </m:oMath>
                  </m:oMathPara>
                </a14:m>
                <a:endParaRPr kumimoji="0" lang="zh-TW" altLang="en-US" sz="2400" b="0" i="0" u="none" strike="noStrike" kern="1200" cap="none" spc="0" normalizeH="0" baseline="0" noProof="0" dirty="0">
                  <a:ln>
                    <a:noFill/>
                  </a:ln>
                  <a:solidFill>
                    <a:prstClr val="black"/>
                  </a:solidFill>
                  <a:effectLst/>
                  <a:uLnTx/>
                  <a:uFillTx/>
                  <a:latin typeface="Arial" charset="0"/>
                  <a:ea typeface="新細明體"/>
                  <a:cs typeface="+mn-cs"/>
                </a:endParaRPr>
              </a:p>
            </p:txBody>
          </p:sp>
        </mc:Choice>
        <mc:Fallback xmlns="">
          <p:sp>
            <p:nvSpPr>
              <p:cNvPr id="49" name="文字方塊 11"/>
              <p:cNvSpPr txBox="1">
                <a:spLocks noRot="1" noChangeAspect="1" noMove="1" noResize="1" noEditPoints="1" noAdjustHandles="1" noChangeArrowheads="1" noChangeShapeType="1" noTextEdit="1"/>
              </p:cNvSpPr>
              <p:nvPr/>
            </p:nvSpPr>
            <p:spPr>
              <a:xfrm>
                <a:off x="8969402" y="1735644"/>
                <a:ext cx="2725409" cy="447238"/>
              </a:xfrm>
              <a:prstGeom prst="rect">
                <a:avLst/>
              </a:prstGeom>
              <a:blipFill>
                <a:blip r:embed="rId19"/>
                <a:stretch>
                  <a:fillRect b="-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矩形 49"/>
              <p:cNvSpPr/>
              <p:nvPr/>
            </p:nvSpPr>
            <p:spPr>
              <a:xfrm>
                <a:off x="8075422" y="5962405"/>
                <a:ext cx="3229602" cy="764568"/>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𝐷</m:t>
                          </m:r>
                        </m:e>
                        <m:sub>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𝑡</m:t>
                          </m:r>
                          <m:r>
                            <a:rPr kumimoji="0" lang="zh-CN" altLang="en-US" sz="1800" b="0" i="0"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zh-CN" altLang="en-US" sz="1800" b="0" i="0"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𝑖</m:t>
                      </m:r>
                      <m:r>
                        <a:rPr kumimoji="0" lang="zh-CN" altLang="en-US" sz="1800" b="0" i="0"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𝐷</m:t>
                          </m:r>
                        </m:e>
                        <m:sub>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𝑡</m:t>
                          </m:r>
                          <m:r>
                            <a:rPr kumimoji="0" lang="zh-CN" altLang="en-US" sz="1800" b="0" i="0"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zh-CN" altLang="en-US" sz="1800" b="0" i="0"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𝑖</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chr m:val="∑"/>
                          <m:supHide m:val="on"/>
                          <m:ctrlP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m:rPr>
                              <m:brk m:alnAt="7"/>
                            </m:rPr>
                            <a:rPr kumimoji="0" lang="en-US" altLang="zh-TW" sz="1800" b="0" i="1" u="none" strike="noStrike" kern="1200" cap="none" spc="0" normalizeH="0" baseline="0" noProof="0">
                              <a:ln>
                                <a:noFill/>
                              </a:ln>
                              <a:solidFill>
                                <a:prstClr val="black"/>
                              </a:solidFill>
                              <a:effectLst/>
                              <a:uLnTx/>
                              <a:uFillTx/>
                              <a:latin typeface="Cambria Math" panose="02040503050406030204" pitchFamily="18" charset="0"/>
                              <a:cs typeface="+mn-cs"/>
                            </a:rPr>
                            <m:t>𝑖</m:t>
                          </m:r>
                        </m:sub>
                        <m:sup/>
                        <m:e>
                          <m:sSub>
                            <m:sSubPr>
                              <m:ctrlP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𝐷</m:t>
                              </m:r>
                            </m:e>
                            <m:sub>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𝑡</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zh-CN" altLang="en-US" sz="1800" b="0" i="0"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𝑖</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e>
                      </m:nary>
                    </m:oMath>
                  </m:oMathPara>
                </a14:m>
                <a:endParaRPr kumimoji="0" lang="zh-CN" altLang="en-US" sz="1800" b="0" i="0" u="none" strike="noStrike" kern="1200" cap="none" spc="0" normalizeH="0" baseline="0" noProof="0" dirty="0">
                  <a:ln>
                    <a:noFill/>
                  </a:ln>
                  <a:solidFill>
                    <a:prstClr val="black"/>
                  </a:solidFill>
                  <a:effectLst/>
                  <a:uLnTx/>
                  <a:uFillTx/>
                  <a:latin typeface="Arial" charset="0"/>
                  <a:ea typeface="等线" panose="02010600030101010101" pitchFamily="2" charset="-122"/>
                  <a:cs typeface="+mn-cs"/>
                </a:endParaRPr>
              </a:p>
            </p:txBody>
          </p:sp>
        </mc:Choice>
        <mc:Fallback xmlns="">
          <p:sp>
            <p:nvSpPr>
              <p:cNvPr id="50" name="矩形 49"/>
              <p:cNvSpPr>
                <a:spLocks noRot="1" noChangeAspect="1" noMove="1" noResize="1" noEditPoints="1" noAdjustHandles="1" noChangeArrowheads="1" noChangeShapeType="1" noTextEdit="1"/>
              </p:cNvSpPr>
              <p:nvPr/>
            </p:nvSpPr>
            <p:spPr>
              <a:xfrm>
                <a:off x="8075422" y="5962405"/>
                <a:ext cx="3229602" cy="764568"/>
              </a:xfrm>
              <a:prstGeom prst="rect">
                <a:avLst/>
              </a:prstGeom>
              <a:blipFill>
                <a:blip r:embed="rId20"/>
                <a:stretch>
                  <a:fillRect/>
                </a:stretch>
              </a:blipFill>
            </p:spPr>
            <p:txBody>
              <a:bodyPr/>
              <a:lstStyle/>
              <a:p>
                <a:r>
                  <a:rPr lang="zh-CN" altLang="en-US">
                    <a:noFill/>
                  </a:rPr>
                  <a:t> </a:t>
                </a:r>
              </a:p>
            </p:txBody>
          </p:sp>
        </mc:Fallback>
      </mc:AlternateContent>
      <p:sp>
        <p:nvSpPr>
          <p:cNvPr id="51" name="文本框 50"/>
          <p:cNvSpPr txBox="1"/>
          <p:nvPr/>
        </p:nvSpPr>
        <p:spPr>
          <a:xfrm>
            <a:off x="9117411" y="280331"/>
            <a:ext cx="2723823" cy="369332"/>
          </a:xfrm>
          <a:prstGeom prst="rect">
            <a:avLst/>
          </a:prstGeom>
          <a:noFill/>
        </p:spPr>
        <p:txBody>
          <a:bodyPr wrap="none" rtlCol="0">
            <a:spAutoFit/>
          </a:bodyPr>
          <a:lstStyle/>
          <a:p>
            <a:r>
              <a:rPr lang="zh-CN" altLang="en-US" dirty="0">
                <a:solidFill>
                  <a:srgbClr val="FF0000"/>
                </a:solidFill>
              </a:rPr>
              <a:t>采用标准的权值更新规则</a:t>
            </a:r>
          </a:p>
        </p:txBody>
      </p:sp>
    </p:spTree>
    <p:extLst>
      <p:ext uri="{BB962C8B-B14F-4D97-AF65-F5344CB8AC3E}">
        <p14:creationId xmlns:p14="http://schemas.microsoft.com/office/powerpoint/2010/main" val="2364977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2" grpId="0"/>
      <p:bldP spid="34" grpId="0"/>
      <p:bldP spid="35" grpId="0"/>
      <p:bldP spid="39" grpId="0" animBg="1"/>
      <p:bldP spid="40" grpId="0" animBg="1"/>
      <p:bldP spid="41" grpId="0" animBg="1"/>
      <p:bldP spid="42" grpId="0"/>
      <p:bldP spid="44" grpId="0"/>
      <p:bldP spid="45" grpId="0"/>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 name="矩形 42"/>
          <p:cNvSpPr/>
          <p:nvPr/>
        </p:nvSpPr>
        <p:spPr>
          <a:xfrm>
            <a:off x="4626247" y="3574791"/>
            <a:ext cx="898789" cy="120021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46" name="矩形 45"/>
          <p:cNvSpPr/>
          <p:nvPr/>
        </p:nvSpPr>
        <p:spPr>
          <a:xfrm>
            <a:off x="5608169" y="4840329"/>
            <a:ext cx="1615522" cy="181778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45" name="矩形 44"/>
          <p:cNvSpPr/>
          <p:nvPr/>
        </p:nvSpPr>
        <p:spPr>
          <a:xfrm>
            <a:off x="7312100" y="4799198"/>
            <a:ext cx="380944" cy="181778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44" name="矩形 43"/>
          <p:cNvSpPr/>
          <p:nvPr/>
        </p:nvSpPr>
        <p:spPr>
          <a:xfrm>
            <a:off x="5592353" y="3555098"/>
            <a:ext cx="1626585" cy="120021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2" name="標題 1"/>
          <p:cNvSpPr>
            <a:spLocks noGrp="1"/>
          </p:cNvSpPr>
          <p:nvPr>
            <p:ph type="title"/>
          </p:nvPr>
        </p:nvSpPr>
        <p:spPr/>
        <p:txBody>
          <a:bodyPr/>
          <a:lstStyle/>
          <a:p>
            <a:r>
              <a:rPr lang="en-US" altLang="zh-TW" dirty="0"/>
              <a:t>Toy Example</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2181678" y="1444059"/>
                <a:ext cx="7886700" cy="4351338"/>
              </a:xfrm>
            </p:spPr>
            <p:txBody>
              <a:bodyPr/>
              <a:lstStyle/>
              <a:p>
                <a:r>
                  <a:rPr lang="en-US" altLang="zh-TW" dirty="0"/>
                  <a:t>Final Classifier: </a:t>
                </a:r>
                <a14:m>
                  <m:oMath xmlns:m="http://schemas.openxmlformats.org/officeDocument/2006/math">
                    <m:r>
                      <a:rPr lang="en-US" altLang="zh-TW" i="1">
                        <a:latin typeface="Cambria Math" panose="02040503050406030204" pitchFamily="18" charset="0"/>
                      </a:rPr>
                      <m:t>𝐻</m:t>
                    </m:r>
                    <m:d>
                      <m:dPr>
                        <m:ctrlPr>
                          <a:rPr lang="en-US" altLang="zh-TW" i="1">
                            <a:latin typeface="Cambria Math" panose="02040503050406030204" pitchFamily="18" charset="0"/>
                          </a:rPr>
                        </m:ctrlPr>
                      </m:dPr>
                      <m:e>
                        <m:r>
                          <a:rPr lang="en-US" altLang="zh-TW" i="1">
                            <a:latin typeface="Cambria Math" panose="02040503050406030204" pitchFamily="18" charset="0"/>
                          </a:rPr>
                          <m:t>𝑥</m:t>
                        </m:r>
                      </m:e>
                    </m:d>
                    <m:r>
                      <a:rPr lang="en-US" altLang="zh-TW" i="1">
                        <a:latin typeface="Cambria Math" panose="02040503050406030204" pitchFamily="18" charset="0"/>
                      </a:rPr>
                      <m:t>=</m:t>
                    </m:r>
                    <m:r>
                      <a:rPr lang="en-US" altLang="zh-TW" i="1">
                        <a:latin typeface="Cambria Math" panose="02040503050406030204" pitchFamily="18" charset="0"/>
                      </a:rPr>
                      <m:t>𝑠𝑖𝑔𝑛</m:t>
                    </m:r>
                    <m:d>
                      <m:dPr>
                        <m:ctrlPr>
                          <a:rPr lang="en-US" altLang="zh-TW" i="1">
                            <a:latin typeface="Cambria Math" panose="02040503050406030204" pitchFamily="18" charset="0"/>
                          </a:rPr>
                        </m:ctrlPr>
                      </m:dPr>
                      <m:e>
                        <m:nary>
                          <m:naryPr>
                            <m:chr m:val="∑"/>
                            <m:ctrlPr>
                              <a:rPr lang="en-US" altLang="zh-TW" i="1">
                                <a:latin typeface="Cambria Math" panose="02040503050406030204" pitchFamily="18" charset="0"/>
                              </a:rPr>
                            </m:ctrlPr>
                          </m:naryPr>
                          <m:sub>
                            <m:r>
                              <m:rPr>
                                <m:brk m:alnAt="23"/>
                              </m:rPr>
                              <a:rPr lang="en-US" altLang="zh-TW" i="1">
                                <a:latin typeface="Cambria Math" panose="02040503050406030204" pitchFamily="18" charset="0"/>
                              </a:rPr>
                              <m:t>𝑡</m:t>
                            </m:r>
                            <m:r>
                              <a:rPr lang="en-US" altLang="zh-TW" i="1">
                                <a:latin typeface="Cambria Math" panose="02040503050406030204" pitchFamily="18" charset="0"/>
                              </a:rPr>
                              <m:t>=1</m:t>
                            </m:r>
                          </m:sub>
                          <m:sup>
                            <m:r>
                              <a:rPr lang="en-US" altLang="zh-TW" i="1">
                                <a:latin typeface="Cambria Math" panose="02040503050406030204" pitchFamily="18" charset="0"/>
                              </a:rPr>
                              <m:t>𝑇</m:t>
                            </m:r>
                          </m:sup>
                          <m:e>
                            <m:sSub>
                              <m:sSubPr>
                                <m:ctrlPr>
                                  <a:rPr lang="en-US" altLang="zh-TW" i="1">
                                    <a:latin typeface="Cambria Math" panose="02040503050406030204" pitchFamily="18" charset="0"/>
                                  </a:rPr>
                                </m:ctrlPr>
                              </m:sSubPr>
                              <m:e>
                                <m:r>
                                  <a:rPr lang="zh-TW" altLang="en-US" i="1">
                                    <a:latin typeface="Cambria Math" panose="02040503050406030204" pitchFamily="18" charset="0"/>
                                  </a:rPr>
                                  <m:t>𝛼</m:t>
                                </m:r>
                              </m:e>
                              <m:sub>
                                <m:r>
                                  <a:rPr lang="en-US" altLang="zh-TW" i="1">
                                    <a:latin typeface="Cambria Math" panose="02040503050406030204" pitchFamily="18" charset="0"/>
                                  </a:rPr>
                                  <m:t>𝑡</m:t>
                                </m:r>
                              </m:sub>
                            </m:sSub>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h</m:t>
                                </m:r>
                              </m:e>
                              <m:sub>
                                <m:r>
                                  <a:rPr lang="en-US" altLang="zh-TW" i="1">
                                    <a:latin typeface="Cambria Math" panose="02040503050406030204" pitchFamily="18" charset="0"/>
                                  </a:rPr>
                                  <m:t>𝑡</m:t>
                                </m:r>
                              </m:sub>
                            </m:sSub>
                            <m:d>
                              <m:dPr>
                                <m:ctrlPr>
                                  <a:rPr lang="en-US" altLang="zh-TW" i="1">
                                    <a:latin typeface="Cambria Math" panose="02040503050406030204" pitchFamily="18" charset="0"/>
                                  </a:rPr>
                                </m:ctrlPr>
                              </m:dPr>
                              <m:e>
                                <m:r>
                                  <a:rPr lang="en-US" altLang="zh-TW" i="1">
                                    <a:latin typeface="Cambria Math" panose="02040503050406030204" pitchFamily="18" charset="0"/>
                                  </a:rPr>
                                  <m:t>𝑥</m:t>
                                </m:r>
                              </m:e>
                            </m:d>
                          </m:e>
                        </m:nary>
                      </m:e>
                    </m:d>
                  </m:oMath>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2181678" y="1444059"/>
                <a:ext cx="7886700" cy="4351338"/>
              </a:xfrm>
              <a:blipFill>
                <a:blip r:embed="rId2"/>
                <a:stretch>
                  <a:fillRect l="-1391" t="-22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字方塊 3"/>
              <p:cNvSpPr txBox="1"/>
              <p:nvPr/>
            </p:nvSpPr>
            <p:spPr>
              <a:xfrm>
                <a:off x="2850953" y="2441485"/>
                <a:ext cx="865827"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0.42</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4" name="文字方塊 3"/>
              <p:cNvSpPr txBox="1">
                <a:spLocks noRot="1" noChangeAspect="1" noMove="1" noResize="1" noEditPoints="1" noAdjustHandles="1" noChangeArrowheads="1" noChangeShapeType="1" noTextEdit="1"/>
              </p:cNvSpPr>
              <p:nvPr/>
            </p:nvSpPr>
            <p:spPr>
              <a:xfrm>
                <a:off x="2850953" y="2441485"/>
                <a:ext cx="865827" cy="461665"/>
              </a:xfrm>
              <a:prstGeom prst="rect">
                <a:avLst/>
              </a:prstGeom>
              <a:blipFill>
                <a:blip r:embed="rId3"/>
                <a:stretch>
                  <a:fillRect/>
                </a:stretch>
              </a:blipFill>
            </p:spPr>
            <p:txBody>
              <a:bodyPr/>
              <a:lstStyle/>
              <a:p>
                <a:r>
                  <a:rPr lang="zh-CN" altLang="en-US">
                    <a:noFill/>
                  </a:rPr>
                  <a:t> </a:t>
                </a:r>
              </a:p>
            </p:txBody>
          </p:sp>
        </mc:Fallback>
      </mc:AlternateContent>
      <p:pic>
        <p:nvPicPr>
          <p:cNvPr id="5" name="圖片 4"/>
          <p:cNvPicPr>
            <a:picLocks noChangeAspect="1"/>
          </p:cNvPicPr>
          <p:nvPr/>
        </p:nvPicPr>
        <p:blipFill>
          <a:blip r:embed="rId4"/>
          <a:stretch>
            <a:fillRect/>
          </a:stretch>
        </p:blipFill>
        <p:spPr>
          <a:xfrm>
            <a:off x="3716780" y="2062975"/>
            <a:ext cx="1250206" cy="1250206"/>
          </a:xfrm>
          <a:prstGeom prst="rect">
            <a:avLst/>
          </a:prstGeom>
        </p:spPr>
      </p:pic>
      <mc:AlternateContent xmlns:mc="http://schemas.openxmlformats.org/markup-compatibility/2006" xmlns:a14="http://schemas.microsoft.com/office/drawing/2010/main">
        <mc:Choice Requires="a14">
          <p:sp>
            <p:nvSpPr>
              <p:cNvPr id="6" name="文字方塊 5"/>
              <p:cNvSpPr txBox="1"/>
              <p:nvPr/>
            </p:nvSpPr>
            <p:spPr>
              <a:xfrm>
                <a:off x="5351863" y="2441484"/>
                <a:ext cx="78768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0.66</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6" name="文字方塊 5"/>
              <p:cNvSpPr txBox="1">
                <a:spLocks noRot="1" noChangeAspect="1" noMove="1" noResize="1" noEditPoints="1" noAdjustHandles="1" noChangeArrowheads="1" noChangeShapeType="1" noTextEdit="1"/>
              </p:cNvSpPr>
              <p:nvPr/>
            </p:nvSpPr>
            <p:spPr>
              <a:xfrm>
                <a:off x="5351863" y="2441484"/>
                <a:ext cx="787681" cy="46166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字方塊 7"/>
              <p:cNvSpPr txBox="1"/>
              <p:nvPr/>
            </p:nvSpPr>
            <p:spPr>
              <a:xfrm>
                <a:off x="7824996" y="2441484"/>
                <a:ext cx="768832"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0.95</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8" name="文字方塊 7"/>
              <p:cNvSpPr txBox="1">
                <a:spLocks noRot="1" noChangeAspect="1" noMove="1" noResize="1" noEditPoints="1" noAdjustHandles="1" noChangeArrowheads="1" noChangeShapeType="1" noTextEdit="1"/>
              </p:cNvSpPr>
              <p:nvPr/>
            </p:nvSpPr>
            <p:spPr>
              <a:xfrm>
                <a:off x="7824996" y="2441484"/>
                <a:ext cx="768832" cy="461665"/>
              </a:xfrm>
              <a:prstGeom prst="rect">
                <a:avLst/>
              </a:prstGeom>
              <a:blipFill>
                <a:blip r:embed="rId6"/>
                <a:stretch>
                  <a:fillRect l="-794" r="-2381"/>
                </a:stretch>
              </a:blipFill>
            </p:spPr>
            <p:txBody>
              <a:bodyPr/>
              <a:lstStyle/>
              <a:p>
                <a:r>
                  <a:rPr lang="zh-CN" altLang="en-US">
                    <a:noFill/>
                  </a:rPr>
                  <a:t> </a:t>
                </a:r>
              </a:p>
            </p:txBody>
          </p:sp>
        </mc:Fallback>
      </mc:AlternateContent>
      <p:sp>
        <p:nvSpPr>
          <p:cNvPr id="10" name="文字方塊 9"/>
          <p:cNvSpPr txBox="1"/>
          <p:nvPr/>
        </p:nvSpPr>
        <p:spPr>
          <a:xfrm>
            <a:off x="4870911" y="2406512"/>
            <a:ext cx="72153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11" name="文字方塊 10"/>
          <p:cNvSpPr txBox="1"/>
          <p:nvPr/>
        </p:nvSpPr>
        <p:spPr>
          <a:xfrm>
            <a:off x="7312101" y="2414697"/>
            <a:ext cx="72153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AlternateContent xmlns:mc="http://schemas.openxmlformats.org/markup-compatibility/2006" xmlns:a14="http://schemas.microsoft.com/office/drawing/2010/main">
        <mc:Choice Requires="a14">
          <p:sp>
            <p:nvSpPr>
              <p:cNvPr id="12" name="文字方塊 11"/>
              <p:cNvSpPr txBox="1"/>
              <p:nvPr/>
            </p:nvSpPr>
            <p:spPr>
              <a:xfrm>
                <a:off x="1965896" y="2441484"/>
                <a:ext cx="942309" cy="430887"/>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t>𝑠𝑖𝑔𝑛</m:t>
                      </m:r>
                      <m: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oMath>
                  </m:oMathPara>
                </a14:m>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12" name="文字方塊 11"/>
              <p:cNvSpPr txBox="1">
                <a:spLocks noRot="1" noChangeAspect="1" noMove="1" noResize="1" noEditPoints="1" noAdjustHandles="1" noChangeArrowheads="1" noChangeShapeType="1" noTextEdit="1"/>
              </p:cNvSpPr>
              <p:nvPr/>
            </p:nvSpPr>
            <p:spPr>
              <a:xfrm>
                <a:off x="1965896" y="2441484"/>
                <a:ext cx="942309" cy="43088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字方塊 12"/>
              <p:cNvSpPr txBox="1"/>
              <p:nvPr/>
            </p:nvSpPr>
            <p:spPr>
              <a:xfrm>
                <a:off x="9960004" y="2414698"/>
                <a:ext cx="230832" cy="430887"/>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oMath>
                  </m:oMathPara>
                </a14:m>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13" name="文字方塊 12"/>
              <p:cNvSpPr txBox="1">
                <a:spLocks noRot="1" noChangeAspect="1" noMove="1" noResize="1" noEditPoints="1" noAdjustHandles="1" noChangeArrowheads="1" noChangeShapeType="1" noTextEdit="1"/>
              </p:cNvSpPr>
              <p:nvPr/>
            </p:nvSpPr>
            <p:spPr>
              <a:xfrm>
                <a:off x="9960004" y="2414698"/>
                <a:ext cx="230832" cy="430887"/>
              </a:xfrm>
              <a:prstGeom prst="rect">
                <a:avLst/>
              </a:prstGeom>
              <a:blipFill>
                <a:blip r:embed="rId8"/>
                <a:stretch>
                  <a:fillRect/>
                </a:stretch>
              </a:blipFill>
            </p:spPr>
            <p:txBody>
              <a:bodyPr/>
              <a:lstStyle/>
              <a:p>
                <a:r>
                  <a:rPr lang="zh-CN" altLang="en-US">
                    <a:noFill/>
                  </a:rPr>
                  <a:t> </a:t>
                </a:r>
              </a:p>
            </p:txBody>
          </p:sp>
        </mc:Fallback>
      </mc:AlternateContent>
      <p:sp>
        <p:nvSpPr>
          <p:cNvPr id="14" name="矩形 13"/>
          <p:cNvSpPr/>
          <p:nvPr/>
        </p:nvSpPr>
        <p:spPr>
          <a:xfrm>
            <a:off x="7300697" y="3574791"/>
            <a:ext cx="380944" cy="117860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15" name="矩形 14"/>
          <p:cNvSpPr/>
          <p:nvPr/>
        </p:nvSpPr>
        <p:spPr>
          <a:xfrm>
            <a:off x="4626247" y="4835912"/>
            <a:ext cx="948409" cy="178106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a:cs typeface="+mn-cs"/>
            </a:endParaRPr>
          </a:p>
        </p:txBody>
      </p:sp>
      <p:sp>
        <p:nvSpPr>
          <p:cNvPr id="16" name="文字方塊 15"/>
          <p:cNvSpPr txBox="1"/>
          <p:nvPr/>
        </p:nvSpPr>
        <p:spPr>
          <a:xfrm>
            <a:off x="6282617" y="3740659"/>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17" name="文字方塊 16"/>
          <p:cNvSpPr txBox="1"/>
          <p:nvPr/>
        </p:nvSpPr>
        <p:spPr>
          <a:xfrm>
            <a:off x="6741750" y="4263879"/>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18" name="文字方塊 17"/>
          <p:cNvSpPr txBox="1"/>
          <p:nvPr/>
        </p:nvSpPr>
        <p:spPr>
          <a:xfrm>
            <a:off x="5658502" y="4002269"/>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19" name="文字方塊 18"/>
          <p:cNvSpPr txBox="1"/>
          <p:nvPr/>
        </p:nvSpPr>
        <p:spPr>
          <a:xfrm>
            <a:off x="4980986" y="4787099"/>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20" name="文字方塊 19"/>
          <p:cNvSpPr txBox="1"/>
          <p:nvPr/>
        </p:nvSpPr>
        <p:spPr>
          <a:xfrm>
            <a:off x="5053556" y="5552236"/>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21" name="文字方塊 20"/>
          <p:cNvSpPr txBox="1"/>
          <p:nvPr/>
        </p:nvSpPr>
        <p:spPr>
          <a:xfrm>
            <a:off x="5686861" y="4738287"/>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22" name="文字方塊 21"/>
          <p:cNvSpPr txBox="1"/>
          <p:nvPr/>
        </p:nvSpPr>
        <p:spPr>
          <a:xfrm>
            <a:off x="5793389" y="5818341"/>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23" name="文字方塊 22"/>
          <p:cNvSpPr txBox="1"/>
          <p:nvPr/>
        </p:nvSpPr>
        <p:spPr>
          <a:xfrm>
            <a:off x="6338188" y="4787099"/>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24" name="文字方塊 23"/>
          <p:cNvSpPr txBox="1"/>
          <p:nvPr/>
        </p:nvSpPr>
        <p:spPr>
          <a:xfrm>
            <a:off x="7157340" y="3970254"/>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25" name="文字方塊 24"/>
          <p:cNvSpPr txBox="1"/>
          <p:nvPr/>
        </p:nvSpPr>
        <p:spPr>
          <a:xfrm>
            <a:off x="7157339" y="5552236"/>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26" name="矩形 25"/>
          <p:cNvSpPr/>
          <p:nvPr/>
        </p:nvSpPr>
        <p:spPr>
          <a:xfrm>
            <a:off x="4626246" y="3556981"/>
            <a:ext cx="3060000" cy="30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cxnSp>
        <p:nvCxnSpPr>
          <p:cNvPr id="37" name="直線接點 36"/>
          <p:cNvCxnSpPr/>
          <p:nvPr/>
        </p:nvCxnSpPr>
        <p:spPr>
          <a:xfrm>
            <a:off x="5574655" y="3532785"/>
            <a:ext cx="0" cy="308419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線接點 40"/>
          <p:cNvCxnSpPr/>
          <p:nvPr/>
        </p:nvCxnSpPr>
        <p:spPr>
          <a:xfrm>
            <a:off x="7268558" y="3556981"/>
            <a:ext cx="0" cy="308419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線接點 41"/>
          <p:cNvCxnSpPr/>
          <p:nvPr/>
        </p:nvCxnSpPr>
        <p:spPr>
          <a:xfrm rot="5400000">
            <a:off x="6188079" y="3257099"/>
            <a:ext cx="0" cy="308419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34" name="圖片 9"/>
          <p:cNvPicPr>
            <a:picLocks noChangeAspect="1"/>
          </p:cNvPicPr>
          <p:nvPr/>
        </p:nvPicPr>
        <p:blipFill>
          <a:blip r:embed="rId9"/>
          <a:stretch>
            <a:fillRect/>
          </a:stretch>
        </p:blipFill>
        <p:spPr>
          <a:xfrm>
            <a:off x="6121116" y="2048343"/>
            <a:ext cx="1281728" cy="1281728"/>
          </a:xfrm>
          <a:prstGeom prst="rect">
            <a:avLst/>
          </a:prstGeom>
        </p:spPr>
      </p:pic>
      <p:pic>
        <p:nvPicPr>
          <p:cNvPr id="35" name="圖片 46"/>
          <p:cNvPicPr>
            <a:picLocks noChangeAspect="1"/>
          </p:cNvPicPr>
          <p:nvPr/>
        </p:nvPicPr>
        <p:blipFill>
          <a:blip r:embed="rId10"/>
          <a:stretch>
            <a:fillRect/>
          </a:stretch>
        </p:blipFill>
        <p:spPr>
          <a:xfrm>
            <a:off x="8593828" y="1985081"/>
            <a:ext cx="1298156" cy="1290118"/>
          </a:xfrm>
          <a:prstGeom prst="rect">
            <a:avLst/>
          </a:prstGeom>
        </p:spPr>
      </p:pic>
      <p:sp>
        <p:nvSpPr>
          <p:cNvPr id="36" name="文本框 35"/>
          <p:cNvSpPr txBox="1"/>
          <p:nvPr/>
        </p:nvSpPr>
        <p:spPr>
          <a:xfrm>
            <a:off x="9117411" y="280331"/>
            <a:ext cx="2723823" cy="369332"/>
          </a:xfrm>
          <a:prstGeom prst="rect">
            <a:avLst/>
          </a:prstGeom>
          <a:noFill/>
        </p:spPr>
        <p:txBody>
          <a:bodyPr wrap="none" rtlCol="0">
            <a:spAutoFit/>
          </a:bodyPr>
          <a:lstStyle/>
          <a:p>
            <a:r>
              <a:rPr lang="zh-CN" altLang="en-US" dirty="0">
                <a:solidFill>
                  <a:srgbClr val="FF0000"/>
                </a:solidFill>
              </a:rPr>
              <a:t>采用标准的权值更新规则</a:t>
            </a:r>
          </a:p>
        </p:txBody>
      </p:sp>
    </p:spTree>
    <p:extLst>
      <p:ext uri="{BB962C8B-B14F-4D97-AF65-F5344CB8AC3E}">
        <p14:creationId xmlns:p14="http://schemas.microsoft.com/office/powerpoint/2010/main" val="383265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6" grpId="0" animBg="1"/>
      <p:bldP spid="45" grpId="0" animBg="1"/>
      <p:bldP spid="44" grpId="0" animBg="1"/>
      <p:bldP spid="12" grpId="0"/>
      <p:bldP spid="13" grpId="0"/>
      <p:bldP spid="14" grpId="0" animBg="1"/>
      <p:bldP spid="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en-US" altLang="zh-CN" b="1" dirty="0" err="1">
                <a:solidFill>
                  <a:schemeClr val="tx1"/>
                </a:solidFill>
              </a:rPr>
              <a:t>Adaboost</a:t>
            </a:r>
            <a:r>
              <a:rPr lang="en-US" altLang="zh-CN" b="1" dirty="0">
                <a:solidFill>
                  <a:schemeClr val="tx1"/>
                </a:solidFill>
              </a:rPr>
              <a:t> </a:t>
            </a:r>
            <a:r>
              <a:rPr lang="zh-CN" altLang="en-US" dirty="0">
                <a:solidFill>
                  <a:schemeClr val="tx1"/>
                </a:solidFill>
              </a:rPr>
              <a:t>权值调整的原因</a:t>
            </a:r>
            <a:endParaRPr lang="zh-CN" altLang="en-US" dirty="0"/>
          </a:p>
        </p:txBody>
      </p:sp>
      <mc:AlternateContent xmlns:mc="http://schemas.openxmlformats.org/markup-compatibility/2006" xmlns:a14="http://schemas.microsoft.com/office/drawing/2010/main">
        <mc:Choice Requires="a14">
          <p:sp>
            <p:nvSpPr>
              <p:cNvPr id="26627" name="内容占位符 2"/>
              <p:cNvSpPr>
                <a:spLocks noGrp="1"/>
              </p:cNvSpPr>
              <p:nvPr>
                <p:ph idx="1"/>
              </p:nvPr>
            </p:nvSpPr>
            <p:spPr>
              <a:xfrm>
                <a:off x="1099952" y="1168770"/>
                <a:ext cx="9865096" cy="4114800"/>
              </a:xfrm>
            </p:spPr>
            <p:txBody>
              <a:bodyPr/>
              <a:lstStyle/>
              <a:p>
                <a:pPr marL="0" indent="0">
                  <a:lnSpc>
                    <a:spcPct val="150000"/>
                  </a:lnSpc>
                  <a:buNone/>
                </a:pPr>
                <a:r>
                  <a:rPr lang="zh-CN" altLang="en-US" sz="2400" b="1" dirty="0"/>
                  <a:t>      </a:t>
                </a:r>
                <a:r>
                  <a:rPr lang="zh-CN" altLang="en-US" sz="2400" b="1" dirty="0">
                    <a:latin typeface="宋体" panose="02010600030101010101" pitchFamily="2" charset="-122"/>
                    <a:ea typeface="宋体" panose="02010600030101010101" pitchFamily="2" charset="-122"/>
                  </a:rPr>
                  <a:t>注意到算法最后的表达式为</a:t>
                </a:r>
                <a14:m>
                  <m:oMath xmlns:m="http://schemas.openxmlformats.org/officeDocument/2006/math">
                    <m:r>
                      <a:rPr lang="en-US" altLang="zh-TW" sz="2400" i="1">
                        <a:latin typeface="Cambria Math" panose="02040503050406030204" pitchFamily="18" charset="0"/>
                      </a:rPr>
                      <m:t>𝐻</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𝑥</m:t>
                        </m:r>
                      </m:e>
                    </m:d>
                    <m:r>
                      <a:rPr lang="en-US" altLang="zh-TW" sz="2400" i="1">
                        <a:latin typeface="Cambria Math" panose="02040503050406030204" pitchFamily="18" charset="0"/>
                      </a:rPr>
                      <m:t>=</m:t>
                    </m:r>
                    <m:r>
                      <a:rPr lang="en-US" altLang="zh-TW" sz="2400" i="1">
                        <a:latin typeface="Cambria Math" panose="02040503050406030204" pitchFamily="18" charset="0"/>
                      </a:rPr>
                      <m:t>𝑠𝑖𝑔𝑛</m:t>
                    </m:r>
                    <m:d>
                      <m:dPr>
                        <m:ctrlPr>
                          <a:rPr lang="en-US" altLang="zh-TW" sz="2400" i="1">
                            <a:latin typeface="Cambria Math" panose="02040503050406030204" pitchFamily="18" charset="0"/>
                          </a:rPr>
                        </m:ctrlPr>
                      </m:dPr>
                      <m:e>
                        <m:nary>
                          <m:naryPr>
                            <m:chr m:val="∑"/>
                            <m:ctrlPr>
                              <a:rPr lang="en-US" altLang="zh-TW" sz="2400" i="1">
                                <a:latin typeface="Cambria Math" panose="02040503050406030204" pitchFamily="18" charset="0"/>
                              </a:rPr>
                            </m:ctrlPr>
                          </m:naryPr>
                          <m:sub>
                            <m:r>
                              <m:rPr>
                                <m:brk m:alnAt="23"/>
                              </m:rPr>
                              <a:rPr lang="en-US" altLang="zh-TW" sz="2400" i="1">
                                <a:latin typeface="Cambria Math" panose="02040503050406030204" pitchFamily="18" charset="0"/>
                              </a:rPr>
                              <m:t>𝑡</m:t>
                            </m:r>
                            <m:r>
                              <a:rPr lang="en-US" altLang="zh-TW" sz="2400" i="1">
                                <a:latin typeface="Cambria Math" panose="02040503050406030204" pitchFamily="18" charset="0"/>
                              </a:rPr>
                              <m:t>=1</m:t>
                            </m:r>
                          </m:sub>
                          <m:sup>
                            <m:r>
                              <a:rPr lang="en-US" altLang="zh-TW" sz="2400" i="1">
                                <a:latin typeface="Cambria Math" panose="02040503050406030204" pitchFamily="18" charset="0"/>
                              </a:rPr>
                              <m:t>𝑇</m:t>
                            </m:r>
                          </m:sup>
                          <m:e>
                            <m:sSub>
                              <m:sSubPr>
                                <m:ctrlPr>
                                  <a:rPr lang="en-US" altLang="zh-TW" sz="2400" i="1">
                                    <a:latin typeface="Cambria Math" panose="02040503050406030204" pitchFamily="18" charset="0"/>
                                  </a:rPr>
                                </m:ctrlPr>
                              </m:sSubPr>
                              <m:e>
                                <m:r>
                                  <a:rPr lang="zh-TW" altLang="en-US" sz="2400" i="1">
                                    <a:latin typeface="Cambria Math" panose="02040503050406030204" pitchFamily="18" charset="0"/>
                                  </a:rPr>
                                  <m:t>𝛼</m:t>
                                </m:r>
                              </m:e>
                              <m:sub>
                                <m:r>
                                  <a:rPr lang="en-US" altLang="zh-TW" sz="2400" i="1">
                                    <a:latin typeface="Cambria Math" panose="02040503050406030204" pitchFamily="18" charset="0"/>
                                  </a:rPr>
                                  <m:t>𝑡</m:t>
                                </m:r>
                              </m:sub>
                            </m:sSub>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h</m:t>
                                </m:r>
                              </m:e>
                              <m:sub>
                                <m:r>
                                  <a:rPr lang="en-US" altLang="zh-TW" sz="2400" i="1">
                                    <a:latin typeface="Cambria Math" panose="02040503050406030204" pitchFamily="18" charset="0"/>
                                  </a:rPr>
                                  <m:t>𝑡</m:t>
                                </m:r>
                              </m:sub>
                            </m:sSub>
                            <m:d>
                              <m:dPr>
                                <m:ctrlPr>
                                  <a:rPr lang="en-US" altLang="zh-TW" sz="2400" i="1">
                                    <a:latin typeface="Cambria Math" panose="02040503050406030204" pitchFamily="18" charset="0"/>
                                  </a:rPr>
                                </m:ctrlPr>
                              </m:dPr>
                              <m:e>
                                <m:r>
                                  <a:rPr lang="en-US" altLang="zh-TW" sz="2400" i="1">
                                    <a:latin typeface="Cambria Math" panose="02040503050406030204" pitchFamily="18" charset="0"/>
                                  </a:rPr>
                                  <m:t>𝑥</m:t>
                                </m:r>
                              </m:e>
                            </m:d>
                          </m:e>
                        </m:nary>
                      </m:e>
                    </m:d>
                  </m:oMath>
                </a14:m>
                <a:r>
                  <a:rPr lang="zh-CN" altLang="en-US" sz="2400" dirty="0"/>
                  <a:t>，</a:t>
                </a:r>
                <a:r>
                  <a:rPr lang="zh-CN" altLang="en-US" sz="2400" b="1" dirty="0">
                    <a:latin typeface="宋体" panose="02010600030101010101" pitchFamily="2" charset="-122"/>
                    <a:ea typeface="宋体" panose="02010600030101010101" pitchFamily="2" charset="-122"/>
                  </a:rPr>
                  <a:t>其中</a:t>
                </a:r>
                <a:r>
                  <a:rPr lang="el-GR" altLang="zh-CN" sz="2400" b="1" dirty="0">
                    <a:ea typeface="宋体" panose="02010600030101010101" pitchFamily="2" charset="-122"/>
                  </a:rPr>
                  <a:t>α</a:t>
                </a:r>
                <a:r>
                  <a:rPr lang="en-US" altLang="zh-CN" sz="2400" b="1" baseline="-25000" dirty="0">
                    <a:latin typeface="宋体" panose="02010600030101010101" pitchFamily="2" charset="-122"/>
                    <a:ea typeface="宋体" panose="02010600030101010101" pitchFamily="2" charset="-122"/>
                  </a:rPr>
                  <a:t>t</a:t>
                </a:r>
                <a:r>
                  <a:rPr lang="zh-CN" altLang="en-US" sz="2400" b="1" dirty="0">
                    <a:latin typeface="宋体" panose="02010600030101010101" pitchFamily="2" charset="-122"/>
                    <a:ea typeface="宋体" panose="02010600030101010101" pitchFamily="2" charset="-122"/>
                  </a:rPr>
                  <a:t>表示的权值，是由</a:t>
                </a:r>
                <a14:m>
                  <m:oMath xmlns:m="http://schemas.openxmlformats.org/officeDocument/2006/math">
                    <m:sSub>
                      <m:sSubPr>
                        <m:ctrlPr>
                          <a:rPr lang="en-US" altLang="zh-TW" sz="2400" i="1" kern="1200">
                            <a:solidFill>
                              <a:prstClr val="black"/>
                            </a:solidFill>
                            <a:latin typeface="Cambria Math" panose="02040503050406030204" pitchFamily="18" charset="0"/>
                            <a:ea typeface="Cambria Math" panose="02040503050406030204" pitchFamily="18" charset="0"/>
                          </a:rPr>
                        </m:ctrlPr>
                      </m:sSubPr>
                      <m:e>
                        <m:r>
                          <a:rPr lang="en-US" altLang="zh-TW" sz="2400" b="0" i="1" kern="1200" smtClean="0">
                            <a:solidFill>
                              <a:prstClr val="black"/>
                            </a:solidFill>
                            <a:latin typeface="Cambria Math" panose="02040503050406030204" pitchFamily="18" charset="0"/>
                            <a:ea typeface="Cambria Math" panose="02040503050406030204" pitchFamily="18" charset="0"/>
                          </a:rPr>
                          <m:t>  </m:t>
                        </m:r>
                        <m:r>
                          <a:rPr lang="zh-TW" altLang="en-US" sz="2400" i="1" kern="1200">
                            <a:solidFill>
                              <a:prstClr val="black"/>
                            </a:solidFill>
                            <a:latin typeface="Cambria Math" panose="02040503050406030204" pitchFamily="18" charset="0"/>
                          </a:rPr>
                          <m:t>𝛼</m:t>
                        </m:r>
                      </m:e>
                      <m:sub>
                        <m:r>
                          <a:rPr lang="en-US" altLang="zh-TW" sz="2400" i="1" kern="1200">
                            <a:solidFill>
                              <a:prstClr val="black"/>
                            </a:solidFill>
                            <a:latin typeface="Cambria Math" panose="02040503050406030204" pitchFamily="18" charset="0"/>
                            <a:ea typeface="Cambria Math" panose="02040503050406030204" pitchFamily="18" charset="0"/>
                          </a:rPr>
                          <m:t>𝑡</m:t>
                        </m:r>
                      </m:sub>
                    </m:sSub>
                    <m:r>
                      <a:rPr lang="en-US" altLang="zh-TW" sz="2400" i="1" kern="1200">
                        <a:solidFill>
                          <a:prstClr val="black"/>
                        </a:solidFill>
                        <a:latin typeface="Cambria Math" panose="02040503050406030204" pitchFamily="18" charset="0"/>
                      </a:rPr>
                      <m:t>=</m:t>
                    </m:r>
                    <m:r>
                      <a:rPr lang="en-US" altLang="zh-TW" sz="2400" i="1" kern="1200">
                        <a:solidFill>
                          <a:prstClr val="black"/>
                        </a:solidFill>
                        <a:latin typeface="Cambria Math" panose="02040503050406030204" pitchFamily="18" charset="0"/>
                      </a:rPr>
                      <m:t>𝑙𝑛</m:t>
                    </m:r>
                    <m:rad>
                      <m:radPr>
                        <m:degHide m:val="on"/>
                        <m:ctrlPr>
                          <a:rPr lang="en-US" altLang="zh-TW" sz="2400" i="1" kern="1200">
                            <a:solidFill>
                              <a:prstClr val="black"/>
                            </a:solidFill>
                            <a:latin typeface="Cambria Math" panose="02040503050406030204" pitchFamily="18" charset="0"/>
                          </a:rPr>
                        </m:ctrlPr>
                      </m:radPr>
                      <m:deg/>
                      <m:e>
                        <m:f>
                          <m:fPr>
                            <m:type m:val="lin"/>
                            <m:ctrlPr>
                              <a:rPr lang="en-US" altLang="zh-TW" sz="2400" i="1" kern="1200">
                                <a:solidFill>
                                  <a:prstClr val="black"/>
                                </a:solidFill>
                                <a:latin typeface="Cambria Math" panose="02040503050406030204" pitchFamily="18" charset="0"/>
                              </a:rPr>
                            </m:ctrlPr>
                          </m:fPr>
                          <m:num>
                            <m:d>
                              <m:dPr>
                                <m:ctrlPr>
                                  <a:rPr lang="en-US" altLang="zh-TW" sz="2400" i="1" kern="1200">
                                    <a:solidFill>
                                      <a:prstClr val="black"/>
                                    </a:solidFill>
                                    <a:latin typeface="Cambria Math" panose="02040503050406030204" pitchFamily="18" charset="0"/>
                                  </a:rPr>
                                </m:ctrlPr>
                              </m:dPr>
                              <m:e>
                                <m:r>
                                  <a:rPr lang="en-US" altLang="zh-TW" sz="2400" i="1" kern="1200">
                                    <a:solidFill>
                                      <a:prstClr val="black"/>
                                    </a:solidFill>
                                    <a:latin typeface="Cambria Math" panose="02040503050406030204" pitchFamily="18" charset="0"/>
                                  </a:rPr>
                                  <m:t>1−</m:t>
                                </m:r>
                                <m:sSub>
                                  <m:sSubPr>
                                    <m:ctrlPr>
                                      <a:rPr lang="en-US" altLang="zh-TW" sz="2400" i="1" kern="1200">
                                        <a:solidFill>
                                          <a:prstClr val="black"/>
                                        </a:solidFill>
                                        <a:latin typeface="Cambria Math" panose="02040503050406030204" pitchFamily="18" charset="0"/>
                                      </a:rPr>
                                    </m:ctrlPr>
                                  </m:sSubPr>
                                  <m:e>
                                    <m:r>
                                      <a:rPr lang="zh-TW" altLang="en-US" sz="2400" i="1" kern="1200">
                                        <a:solidFill>
                                          <a:prstClr val="black"/>
                                        </a:solidFill>
                                        <a:latin typeface="Cambria Math" panose="02040503050406030204" pitchFamily="18" charset="0"/>
                                      </a:rPr>
                                      <m:t>𝜀</m:t>
                                    </m:r>
                                  </m:e>
                                  <m:sub>
                                    <m:r>
                                      <a:rPr lang="en-US" altLang="zh-TW" sz="2400" i="1" kern="1200">
                                        <a:solidFill>
                                          <a:prstClr val="black"/>
                                        </a:solidFill>
                                        <a:latin typeface="Cambria Math" panose="02040503050406030204" pitchFamily="18" charset="0"/>
                                      </a:rPr>
                                      <m:t>𝑡</m:t>
                                    </m:r>
                                  </m:sub>
                                </m:sSub>
                              </m:e>
                            </m:d>
                          </m:num>
                          <m:den>
                            <m:sSub>
                              <m:sSubPr>
                                <m:ctrlPr>
                                  <a:rPr lang="en-US" altLang="zh-TW" sz="2400" i="1" kern="1200">
                                    <a:solidFill>
                                      <a:prstClr val="black"/>
                                    </a:solidFill>
                                    <a:latin typeface="Cambria Math" panose="02040503050406030204" pitchFamily="18" charset="0"/>
                                  </a:rPr>
                                </m:ctrlPr>
                              </m:sSubPr>
                              <m:e>
                                <m:r>
                                  <a:rPr lang="zh-TW" altLang="en-US" sz="2400" i="1" kern="1200">
                                    <a:solidFill>
                                      <a:prstClr val="black"/>
                                    </a:solidFill>
                                    <a:latin typeface="Cambria Math" panose="02040503050406030204" pitchFamily="18" charset="0"/>
                                  </a:rPr>
                                  <m:t>𝜀</m:t>
                                </m:r>
                              </m:e>
                              <m:sub>
                                <m:r>
                                  <a:rPr lang="en-US" altLang="zh-TW" sz="2400" i="1" kern="1200">
                                    <a:solidFill>
                                      <a:prstClr val="black"/>
                                    </a:solidFill>
                                    <a:latin typeface="Cambria Math" panose="02040503050406030204" pitchFamily="18" charset="0"/>
                                  </a:rPr>
                                  <m:t>𝑡</m:t>
                                </m:r>
                              </m:sub>
                            </m:sSub>
                          </m:den>
                        </m:f>
                      </m:e>
                    </m:rad>
                  </m:oMath>
                </a14:m>
                <a:r>
                  <a:rPr lang="zh-CN" altLang="en-US" sz="2400" b="1" dirty="0">
                    <a:latin typeface="宋体" panose="02010600030101010101" pitchFamily="2" charset="-122"/>
                    <a:ea typeface="宋体" panose="02010600030101010101" pitchFamily="2" charset="-122"/>
                  </a:rPr>
                  <a:t>  得到的，是关于误差的表达式。</a:t>
                </a:r>
                <a:endParaRPr lang="en-US" altLang="zh-CN" sz="2400" b="1" dirty="0">
                  <a:latin typeface="宋体" panose="02010600030101010101" pitchFamily="2" charset="-122"/>
                  <a:ea typeface="宋体" panose="02010600030101010101" pitchFamily="2" charset="-122"/>
                </a:endParaRPr>
              </a:p>
              <a:p>
                <a:pPr marL="0" indent="0">
                  <a:lnSpc>
                    <a:spcPct val="150000"/>
                  </a:lnSpc>
                  <a:buNone/>
                </a:pP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提高错误点的权值，当下一次分类器再次分错了这些点之后，会提高整体的错误率，这样就导致</a:t>
                </a:r>
                <a:r>
                  <a:rPr lang="el-GR" altLang="zh-CN" sz="2400" b="1" dirty="0">
                    <a:ea typeface="宋体" panose="02010600030101010101" pitchFamily="2" charset="-122"/>
                  </a:rPr>
                  <a:t>α</a:t>
                </a:r>
                <a:r>
                  <a:rPr lang="en-US" altLang="zh-CN" sz="2400" b="1" baseline="-25000" dirty="0">
                    <a:latin typeface="宋体" panose="02010600030101010101" pitchFamily="2" charset="-122"/>
                    <a:ea typeface="宋体" panose="02010600030101010101" pitchFamily="2" charset="-122"/>
                  </a:rPr>
                  <a:t>t</a:t>
                </a:r>
                <a:r>
                  <a:rPr lang="zh-CN" altLang="en-US" sz="2400" b="1" dirty="0">
                    <a:latin typeface="宋体" panose="02010600030101010101" pitchFamily="2" charset="-122"/>
                    <a:ea typeface="宋体" panose="02010600030101010101" pitchFamily="2" charset="-122"/>
                  </a:rPr>
                  <a:t>变的很小，最终导致这个分类器在整个混合分类器的权值变低。</a:t>
                </a:r>
                <a:endParaRPr lang="en-US" altLang="zh-CN" sz="2400" b="1" dirty="0">
                  <a:latin typeface="宋体" panose="02010600030101010101" pitchFamily="2" charset="-122"/>
                  <a:ea typeface="宋体" panose="02010600030101010101" pitchFamily="2" charset="-122"/>
                </a:endParaRPr>
              </a:p>
              <a:p>
                <a:pPr marL="0" indent="0">
                  <a:lnSpc>
                    <a:spcPct val="150000"/>
                  </a:lnSpc>
                  <a:buNone/>
                </a:pPr>
                <a:r>
                  <a:rPr lang="zh-CN" altLang="en-US" sz="2400" b="1" dirty="0">
                    <a:latin typeface="宋体" panose="02010600030101010101" pitchFamily="2" charset="-122"/>
                    <a:ea typeface="宋体" panose="02010600030101010101" pitchFamily="2" charset="-122"/>
                  </a:rPr>
                  <a:t>   即是，这种算法让优秀的分类器占整体的权值更高，而挫的分类器权值更低。符合常理。</a:t>
                </a:r>
                <a:endParaRPr lang="en-US" altLang="zh-CN" sz="2400" b="1" dirty="0">
                  <a:latin typeface="宋体" panose="02010600030101010101" pitchFamily="2" charset="-122"/>
                  <a:ea typeface="宋体" panose="02010600030101010101" pitchFamily="2" charset="-122"/>
                </a:endParaRPr>
              </a:p>
              <a:p>
                <a:pPr marL="0" indent="0">
                  <a:lnSpc>
                    <a:spcPct val="150000"/>
                  </a:lnSpc>
                  <a:buNone/>
                </a:pPr>
                <a:r>
                  <a:rPr lang="zh-CN" altLang="en-US" sz="2400" b="1" dirty="0">
                    <a:latin typeface="宋体" panose="02010600030101010101" pitchFamily="2" charset="-122"/>
                    <a:ea typeface="宋体" panose="02010600030101010101" pitchFamily="2" charset="-122"/>
                  </a:rPr>
                  <a:t>  另外，</a:t>
                </a:r>
                <a:r>
                  <a:rPr lang="en-US" altLang="zh-CN" sz="2400" b="1" dirty="0">
                    <a:latin typeface="宋体" panose="02010600030101010101" pitchFamily="2" charset="-122"/>
                    <a:ea typeface="宋体" panose="02010600030101010101" pitchFamily="2" charset="-122"/>
                  </a:rPr>
                  <a:t>h(x)</a:t>
                </a:r>
                <a:r>
                  <a:rPr lang="zh-CN" altLang="en-US" sz="2400" b="1" dirty="0">
                    <a:latin typeface="宋体" panose="02010600030101010101" pitchFamily="2" charset="-122"/>
                    <a:ea typeface="宋体" panose="02010600030101010101" pitchFamily="2" charset="-122"/>
                  </a:rPr>
                  <a:t>是</a:t>
                </a: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和</a:t>
                </a: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，不是</a:t>
                </a: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和</a:t>
                </a:r>
                <a:r>
                  <a:rPr lang="en-US" altLang="zh-CN" sz="2400" b="1" dirty="0">
                    <a:latin typeface="宋体" panose="02010600030101010101" pitchFamily="2" charset="-122"/>
                    <a:ea typeface="宋体" panose="02010600030101010101" pitchFamily="2" charset="-122"/>
                  </a:rPr>
                  <a:t>0</a:t>
                </a:r>
                <a:endParaRPr lang="zh-CN" altLang="en-US" sz="2400" b="1" dirty="0">
                  <a:latin typeface="宋体" panose="02010600030101010101" pitchFamily="2" charset="-122"/>
                  <a:ea typeface="宋体" panose="02010600030101010101" pitchFamily="2" charset="-122"/>
                </a:endParaRPr>
              </a:p>
            </p:txBody>
          </p:sp>
        </mc:Choice>
        <mc:Fallback xmlns="">
          <p:sp>
            <p:nvSpPr>
              <p:cNvPr id="26627" name="内容占位符 2"/>
              <p:cNvSpPr>
                <a:spLocks noGrp="1" noRot="1" noChangeAspect="1" noMove="1" noResize="1" noEditPoints="1" noAdjustHandles="1" noChangeArrowheads="1" noChangeShapeType="1" noTextEdit="1"/>
              </p:cNvSpPr>
              <p:nvPr>
                <p:ph idx="1"/>
              </p:nvPr>
            </p:nvSpPr>
            <p:spPr>
              <a:xfrm>
                <a:off x="1099952" y="1168770"/>
                <a:ext cx="9865096" cy="4114800"/>
              </a:xfrm>
              <a:blipFill rotWithShape="0">
                <a:blip r:embed="rId3"/>
                <a:stretch>
                  <a:fillRect l="-926" r="-865" b="-20000"/>
                </a:stretch>
              </a:blipFill>
            </p:spPr>
            <p:txBody>
              <a:bodyPr/>
              <a:lstStyle/>
              <a:p>
                <a:r>
                  <a:rPr lang="zh-CN" altLang="en-US">
                    <a:noFill/>
                  </a:rPr>
                  <a:t> </a:t>
                </a:r>
              </a:p>
            </p:txBody>
          </p:sp>
        </mc:Fallback>
      </mc:AlternateContent>
      <p:graphicFrame>
        <p:nvGraphicFramePr>
          <p:cNvPr id="26630" name="对象 2"/>
          <p:cNvGraphicFramePr>
            <a:graphicFrameLocks noChangeAspect="1"/>
          </p:cNvGraphicFramePr>
          <p:nvPr/>
        </p:nvGraphicFramePr>
        <p:xfrm>
          <a:off x="6032500" y="3321051"/>
          <a:ext cx="127000" cy="215900"/>
        </p:xfrm>
        <a:graphic>
          <a:graphicData uri="http://schemas.openxmlformats.org/presentationml/2006/ole">
            <mc:AlternateContent xmlns:mc="http://schemas.openxmlformats.org/markup-compatibility/2006">
              <mc:Choice xmlns:v="urn:schemas-microsoft-com:vml" Requires="v">
                <p:oleObj spid="_x0000_s176451" name="公式" r:id="rId4" imgW="126780" imgH="215526" progId="">
                  <p:embed/>
                </p:oleObj>
              </mc:Choice>
              <mc:Fallback>
                <p:oleObj name="公式" r:id="rId4" imgW="126780" imgH="215526" progId="">
                  <p:embed/>
                  <p:pic>
                    <p:nvPicPr>
                      <p:cNvPr id="0" name="Picture 4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2500" y="3321051"/>
                        <a:ext cx="1270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灯片编号占位符 6"/>
          <p:cNvSpPr>
            <a:spLocks noGrp="1"/>
          </p:cNvSpPr>
          <p:nvPr>
            <p:ph type="sldNum" sz="quarter" idx="11"/>
          </p:nvPr>
        </p:nvSpPr>
        <p:spPr/>
        <p:txBody>
          <a:bodyPr/>
          <a:lstStyle/>
          <a:p>
            <a:pPr>
              <a:defRPr/>
            </a:pPr>
            <a:fld id="{31E287EE-1289-4991-82CE-EFE584F53F4F}" type="slidenum">
              <a:rPr lang="en-US" altLang="zh-CN" smtClean="0"/>
              <a:pPr>
                <a:defRPr/>
              </a:pPr>
              <a:t>25</a:t>
            </a:fld>
            <a:endParaRPr lang="en-US" altLang="zh-CN" dirty="0"/>
          </a:p>
        </p:txBody>
      </p:sp>
    </p:spTree>
    <p:extLst>
      <p:ext uri="{BB962C8B-B14F-4D97-AF65-F5344CB8AC3E}">
        <p14:creationId xmlns:p14="http://schemas.microsoft.com/office/powerpoint/2010/main" val="3186953858"/>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847532" y="-99392"/>
            <a:ext cx="7793037" cy="1143000"/>
          </a:xfrm>
        </p:spPr>
        <p:txBody>
          <a:bodyPr/>
          <a:lstStyle/>
          <a:p>
            <a:pPr eaLnBrk="1" hangingPunct="1"/>
            <a:r>
              <a:rPr lang="zh-CN" altLang="en-US" b="1" dirty="0">
                <a:solidFill>
                  <a:srgbClr val="303030"/>
                </a:solidFill>
                <a:sym typeface="Arial" panose="020B0604020202020204" pitchFamily="34" charset="0"/>
              </a:rPr>
              <a:t> </a:t>
            </a:r>
            <a:r>
              <a:rPr lang="en-US" altLang="zh-CN" dirty="0" err="1"/>
              <a:t>AdaBoost</a:t>
            </a:r>
            <a:r>
              <a:rPr lang="zh-CN" altLang="en-US" b="1" dirty="0">
                <a:solidFill>
                  <a:srgbClr val="303030"/>
                </a:solidFill>
                <a:sym typeface="Arial" panose="020B0604020202020204" pitchFamily="34" charset="0"/>
              </a:rPr>
              <a:t>总结</a:t>
            </a:r>
            <a:endParaRPr lang="en-US" altLang="zh-CN" dirty="0"/>
          </a:p>
        </p:txBody>
      </p:sp>
      <p:sp>
        <p:nvSpPr>
          <p:cNvPr id="2" name="TextBox 1"/>
          <p:cNvSpPr txBox="1"/>
          <p:nvPr/>
        </p:nvSpPr>
        <p:spPr>
          <a:xfrm>
            <a:off x="335360" y="1023070"/>
            <a:ext cx="11665296" cy="3416320"/>
          </a:xfrm>
          <a:prstGeom prst="rect">
            <a:avLst/>
          </a:prstGeom>
          <a:noFill/>
        </p:spPr>
        <p:txBody>
          <a:bodyPr wrap="square">
            <a:spAutoFit/>
          </a:bodyPr>
          <a:lstStyle/>
          <a:p>
            <a:pPr algn="just">
              <a:defRPr/>
            </a:pPr>
            <a:r>
              <a:rPr lang="en-US" altLang="zh-CN" sz="2400" dirty="0" err="1"/>
              <a:t>AdaBoost</a:t>
            </a:r>
            <a:r>
              <a:rPr lang="zh-CN" altLang="en-US" sz="2400" b="1" dirty="0">
                <a:latin typeface="宋体" panose="02010600030101010101" pitchFamily="2" charset="-122"/>
                <a:ea typeface="宋体" panose="02010600030101010101" pitchFamily="2" charset="-122"/>
              </a:rPr>
              <a:t>算法的应用：</a:t>
            </a:r>
          </a:p>
          <a:p>
            <a:pPr algn="just">
              <a:defRPr/>
            </a:pPr>
            <a:r>
              <a:rPr lang="en-US" altLang="zh-CN" sz="2400" b="1" dirty="0">
                <a:latin typeface="宋体" panose="02010600030101010101" pitchFamily="2" charset="-122"/>
                <a:ea typeface="宋体" panose="02010600030101010101" pitchFamily="2" charset="-122"/>
              </a:rPr>
              <a:t>  1</a:t>
            </a:r>
            <a:r>
              <a:rPr lang="zh-CN" altLang="en-US" sz="2400" b="1" dirty="0">
                <a:latin typeface="宋体" panose="02010600030101010101" pitchFamily="2" charset="-122"/>
                <a:ea typeface="宋体" panose="02010600030101010101" pitchFamily="2" charset="-122"/>
              </a:rPr>
              <a:t>）用于二分类或多分类的应用场景</a:t>
            </a:r>
          </a:p>
          <a:p>
            <a:pPr algn="just">
              <a:defRPr/>
            </a:pPr>
            <a:r>
              <a:rPr lang="en-US" altLang="zh-CN" sz="2400" b="1" dirty="0">
                <a:latin typeface="宋体" panose="02010600030101010101" pitchFamily="2" charset="-122"/>
                <a:ea typeface="宋体" panose="02010600030101010101" pitchFamily="2" charset="-122"/>
              </a:rPr>
              <a:t>  2</a:t>
            </a:r>
            <a:r>
              <a:rPr lang="zh-CN" altLang="en-US" sz="2400" b="1" dirty="0">
                <a:latin typeface="宋体" panose="02010600030101010101" pitchFamily="2" charset="-122"/>
                <a:ea typeface="宋体" panose="02010600030101010101" pitchFamily="2" charset="-122"/>
              </a:rPr>
              <a:t>）用于做分类任务的</a:t>
            </a:r>
            <a:r>
              <a:rPr lang="en-US" altLang="zh-CN" sz="2400" b="1" dirty="0">
                <a:latin typeface="宋体" panose="02010600030101010101" pitchFamily="2" charset="-122"/>
                <a:ea typeface="宋体" panose="02010600030101010101" pitchFamily="2" charset="-122"/>
              </a:rPr>
              <a:t>baseline</a:t>
            </a:r>
            <a:r>
              <a:rPr lang="zh-CN" altLang="en-US" sz="2400" b="1" dirty="0">
                <a:latin typeface="宋体" panose="02010600030101010101" pitchFamily="2" charset="-122"/>
                <a:ea typeface="宋体" panose="02010600030101010101" pitchFamily="2" charset="-122"/>
              </a:rPr>
              <a:t>，无脑化，简单，不会</a:t>
            </a:r>
            <a:r>
              <a:rPr lang="en-US" altLang="zh-CN" sz="2400" b="1" dirty="0" err="1">
                <a:latin typeface="宋体" panose="02010600030101010101" pitchFamily="2" charset="-122"/>
                <a:ea typeface="宋体" panose="02010600030101010101" pitchFamily="2" charset="-122"/>
              </a:rPr>
              <a:t>overfitting</a:t>
            </a:r>
            <a:r>
              <a:rPr lang="zh-CN" altLang="en-US" sz="2400" b="1" dirty="0">
                <a:latin typeface="宋体" panose="02010600030101010101" pitchFamily="2" charset="-122"/>
                <a:ea typeface="宋体" panose="02010600030101010101" pitchFamily="2" charset="-122"/>
              </a:rPr>
              <a:t>，不用调分类器</a:t>
            </a:r>
          </a:p>
          <a:p>
            <a:pPr algn="just">
              <a:defRPr/>
            </a:pPr>
            <a:r>
              <a:rPr lang="en-US" altLang="zh-CN" sz="2400" b="1" dirty="0">
                <a:latin typeface="宋体" panose="02010600030101010101" pitchFamily="2" charset="-122"/>
                <a:ea typeface="宋体" panose="02010600030101010101" pitchFamily="2" charset="-122"/>
              </a:rPr>
              <a:t>  3</a:t>
            </a:r>
            <a:r>
              <a:rPr lang="zh-CN" altLang="en-US" sz="2400" b="1" dirty="0">
                <a:latin typeface="宋体" panose="02010600030101010101" pitchFamily="2" charset="-122"/>
                <a:ea typeface="宋体" panose="02010600030101010101" pitchFamily="2" charset="-122"/>
              </a:rPr>
              <a:t>）可用于特征选择（</a:t>
            </a:r>
            <a:r>
              <a:rPr lang="en-US" altLang="zh-CN" sz="2400" b="1" dirty="0">
                <a:latin typeface="宋体" panose="02010600030101010101" pitchFamily="2" charset="-122"/>
                <a:ea typeface="宋体" panose="02010600030101010101" pitchFamily="2" charset="-122"/>
              </a:rPr>
              <a:t>feature selection)</a:t>
            </a:r>
          </a:p>
          <a:p>
            <a:pPr algn="just">
              <a:defRPr/>
            </a:pPr>
            <a:r>
              <a:rPr lang="en-US" altLang="zh-CN" sz="2400" b="1" dirty="0">
                <a:latin typeface="宋体" panose="02010600030101010101" pitchFamily="2" charset="-122"/>
                <a:ea typeface="宋体" panose="02010600030101010101" pitchFamily="2" charset="-122"/>
              </a:rPr>
              <a:t>  4</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Boosting </a:t>
            </a:r>
            <a:r>
              <a:rPr lang="zh-CN" altLang="en-US" sz="2400" b="1" dirty="0">
                <a:latin typeface="宋体" panose="02010600030101010101" pitchFamily="2" charset="-122"/>
                <a:ea typeface="宋体" panose="02010600030101010101" pitchFamily="2" charset="-122"/>
              </a:rPr>
              <a:t>框架用于对</a:t>
            </a:r>
            <a:r>
              <a:rPr lang="en-US" altLang="zh-CN" sz="2400" b="1" dirty="0" err="1">
                <a:latin typeface="宋体" panose="02010600030101010101" pitchFamily="2" charset="-122"/>
                <a:ea typeface="宋体" panose="02010600030101010101" pitchFamily="2" charset="-122"/>
              </a:rPr>
              <a:t>badcase</a:t>
            </a:r>
            <a:r>
              <a:rPr lang="zh-CN" altLang="en-US" sz="2400" b="1" dirty="0">
                <a:latin typeface="宋体" panose="02010600030101010101" pitchFamily="2" charset="-122"/>
                <a:ea typeface="宋体" panose="02010600030101010101" pitchFamily="2" charset="-122"/>
              </a:rPr>
              <a:t>的修正</a:t>
            </a:r>
            <a:endParaRPr lang="en-US" altLang="zh-CN" sz="2400" b="1" dirty="0">
              <a:latin typeface="宋体" panose="02010600030101010101" pitchFamily="2" charset="-122"/>
              <a:ea typeface="宋体" panose="02010600030101010101" pitchFamily="2" charset="-122"/>
            </a:endParaRPr>
          </a:p>
          <a:p>
            <a:pPr algn="just">
              <a:defRPr/>
            </a:pPr>
            <a:endParaRPr lang="en-US" altLang="zh-CN" sz="2400" b="1" dirty="0">
              <a:latin typeface="宋体" panose="02010600030101010101" pitchFamily="2" charset="-122"/>
              <a:ea typeface="宋体" panose="02010600030101010101" pitchFamily="2" charset="-122"/>
            </a:endParaRPr>
          </a:p>
          <a:p>
            <a:pPr algn="just">
              <a:defRPr/>
            </a:pPr>
            <a:r>
              <a:rPr lang="en-US" altLang="zh-CN" sz="2400" dirty="0" err="1"/>
              <a:t>AdaBoost</a:t>
            </a:r>
            <a:r>
              <a:rPr lang="zh-CN" altLang="en-US" sz="2400" b="1" dirty="0">
                <a:latin typeface="宋体" panose="02010600030101010101" pitchFamily="2" charset="-122"/>
                <a:ea typeface="宋体" panose="02010600030101010101" pitchFamily="2" charset="-122"/>
              </a:rPr>
              <a:t>算法实现简单，应用也很简单方便的算法，只需增加新的分类器，不需变动原有分类器。</a:t>
            </a:r>
            <a:endParaRPr lang="en-US" altLang="zh-CN" sz="2400" b="1" dirty="0">
              <a:latin typeface="宋体" panose="02010600030101010101" pitchFamily="2" charset="-122"/>
              <a:ea typeface="宋体" panose="02010600030101010101" pitchFamily="2" charset="-122"/>
            </a:endParaRPr>
          </a:p>
          <a:p>
            <a:pPr algn="just">
              <a:defRPr/>
            </a:pPr>
            <a:endParaRPr lang="en-US" altLang="zh-CN" sz="2400" b="1" dirty="0">
              <a:latin typeface="宋体" panose="02010600030101010101" pitchFamily="2" charset="-122"/>
              <a:ea typeface="宋体" panose="02010600030101010101" pitchFamily="2" charset="-122"/>
            </a:endParaRPr>
          </a:p>
        </p:txBody>
      </p:sp>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26</a:t>
            </a:fld>
            <a:endParaRPr lang="en-US" altLang="zh-CN" dirty="0"/>
          </a:p>
        </p:txBody>
      </p:sp>
      <mc:AlternateContent xmlns:mc="http://schemas.openxmlformats.org/markup-compatibility/2006" xmlns:a14="http://schemas.microsoft.com/office/drawing/2010/main">
        <mc:Choice Requires="a14">
          <p:sp>
            <p:nvSpPr>
              <p:cNvPr id="6" name="文字方塊 4"/>
              <p:cNvSpPr txBox="1"/>
              <p:nvPr/>
            </p:nvSpPr>
            <p:spPr>
              <a:xfrm>
                <a:off x="551384" y="4850177"/>
                <a:ext cx="8928992" cy="830997"/>
              </a:xfrm>
              <a:prstGeom prst="rect">
                <a:avLst/>
              </a:prstGeom>
              <a:noFill/>
            </p:spPr>
            <p:txBody>
              <a:bodyPr wrap="square" rtlCol="0">
                <a:spAutoFit/>
              </a:bodyPr>
              <a:lstStyle/>
              <a:p>
                <a:r>
                  <a:rPr lang="en-US" altLang="zh-TW" sz="2400" dirty="0">
                    <a:solidFill>
                      <a:srgbClr val="0000FF"/>
                    </a:solidFill>
                  </a:rPr>
                  <a:t>As we have more and more </a:t>
                </a:r>
                <a14:m>
                  <m:oMath xmlns:m="http://schemas.openxmlformats.org/officeDocument/2006/math">
                    <m:sSub>
                      <m:sSubPr>
                        <m:ctrlPr>
                          <a:rPr lang="en-US" altLang="zh-TW" sz="2400" i="1">
                            <a:solidFill>
                              <a:srgbClr val="0000FF"/>
                            </a:solidFill>
                            <a:latin typeface="Cambria Math" panose="02040503050406030204" pitchFamily="18" charset="0"/>
                          </a:rPr>
                        </m:ctrlPr>
                      </m:sSubPr>
                      <m:e>
                        <m:r>
                          <a:rPr lang="en-US" altLang="zh-TW" sz="2400" b="0" i="1" smtClean="0">
                            <a:solidFill>
                              <a:srgbClr val="0000FF"/>
                            </a:solidFill>
                            <a:latin typeface="Cambria Math" panose="02040503050406030204" pitchFamily="18" charset="0"/>
                          </a:rPr>
                          <m:t>h</m:t>
                        </m:r>
                      </m:e>
                      <m:sub>
                        <m:r>
                          <a:rPr lang="en-US" altLang="zh-TW" sz="2400" i="1">
                            <a:solidFill>
                              <a:srgbClr val="0000FF"/>
                            </a:solidFill>
                            <a:latin typeface="Cambria Math" panose="02040503050406030204" pitchFamily="18" charset="0"/>
                          </a:rPr>
                          <m:t>𝑡</m:t>
                        </m:r>
                      </m:sub>
                    </m:sSub>
                  </m:oMath>
                </a14:m>
                <a:r>
                  <a:rPr lang="zh-TW" altLang="en-US" sz="2400" dirty="0">
                    <a:solidFill>
                      <a:srgbClr val="0000FF"/>
                    </a:solidFill>
                  </a:rPr>
                  <a:t> </a:t>
                </a:r>
                <a:r>
                  <a:rPr lang="en-US" altLang="zh-TW" sz="2400" dirty="0">
                    <a:solidFill>
                      <a:srgbClr val="0000FF"/>
                    </a:solidFill>
                  </a:rPr>
                  <a:t>(T increases), </a:t>
                </a:r>
                <a14:m>
                  <m:oMath xmlns:m="http://schemas.openxmlformats.org/officeDocument/2006/math">
                    <m:r>
                      <a:rPr lang="en-US" altLang="zh-TW" sz="2400" i="1">
                        <a:solidFill>
                          <a:srgbClr val="0000FF"/>
                        </a:solidFill>
                        <a:latin typeface="Cambria Math" panose="02040503050406030204" pitchFamily="18" charset="0"/>
                      </a:rPr>
                      <m:t>𝐻</m:t>
                    </m:r>
                    <m:d>
                      <m:dPr>
                        <m:ctrlPr>
                          <a:rPr lang="en-US" altLang="zh-TW" sz="2400" i="1">
                            <a:solidFill>
                              <a:srgbClr val="0000FF"/>
                            </a:solidFill>
                            <a:latin typeface="Cambria Math" panose="02040503050406030204" pitchFamily="18" charset="0"/>
                          </a:rPr>
                        </m:ctrlPr>
                      </m:dPr>
                      <m:e>
                        <m:r>
                          <a:rPr lang="en-US" altLang="zh-TW" sz="2400" i="1">
                            <a:solidFill>
                              <a:srgbClr val="0000FF"/>
                            </a:solidFill>
                            <a:latin typeface="Cambria Math" panose="02040503050406030204" pitchFamily="18" charset="0"/>
                          </a:rPr>
                          <m:t>𝑥</m:t>
                        </m:r>
                      </m:e>
                    </m:d>
                  </m:oMath>
                </a14:m>
                <a:r>
                  <a:rPr lang="en-US" altLang="zh-TW" sz="2400" dirty="0">
                    <a:solidFill>
                      <a:srgbClr val="0000FF"/>
                    </a:solidFill>
                  </a:rPr>
                  <a:t> achieves smaller and smaller error rate on training data. </a:t>
                </a:r>
                <a:endParaRPr lang="zh-TW" altLang="en-US" sz="2400" dirty="0">
                  <a:solidFill>
                    <a:srgbClr val="0000FF"/>
                  </a:solidFill>
                </a:endParaRPr>
              </a:p>
            </p:txBody>
          </p:sp>
        </mc:Choice>
        <mc:Fallback xmlns="">
          <p:sp>
            <p:nvSpPr>
              <p:cNvPr id="6" name="文字方塊 4"/>
              <p:cNvSpPr txBox="1">
                <a:spLocks noRot="1" noChangeAspect="1" noMove="1" noResize="1" noEditPoints="1" noAdjustHandles="1" noChangeArrowheads="1" noChangeShapeType="1" noTextEdit="1"/>
              </p:cNvSpPr>
              <p:nvPr/>
            </p:nvSpPr>
            <p:spPr>
              <a:xfrm>
                <a:off x="551384" y="4850177"/>
                <a:ext cx="8928992" cy="830997"/>
              </a:xfrm>
              <a:prstGeom prst="rect">
                <a:avLst/>
              </a:prstGeom>
              <a:blipFill>
                <a:blip r:embed="rId3"/>
                <a:stretch>
                  <a:fillRect l="-1024" t="-5147" b="-1691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6384032" y="3523599"/>
                <a:ext cx="4507388" cy="147950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rPr>
                        <m:t>𝐻</m:t>
                      </m:r>
                      <m:d>
                        <m:dPr>
                          <m:ctrlPr>
                            <a:rPr lang="en-US" altLang="zh-TW" sz="2800" i="1">
                              <a:latin typeface="Cambria Math" panose="02040503050406030204" pitchFamily="18" charset="0"/>
                            </a:rPr>
                          </m:ctrlPr>
                        </m:dPr>
                        <m:e>
                          <m:r>
                            <a:rPr lang="en-US" altLang="zh-TW" sz="2800" i="1">
                              <a:latin typeface="Cambria Math" panose="02040503050406030204" pitchFamily="18" charset="0"/>
                            </a:rPr>
                            <m:t>𝑥</m:t>
                          </m:r>
                        </m:e>
                      </m:d>
                      <m:r>
                        <a:rPr lang="en-US" altLang="zh-TW" sz="2800" i="1">
                          <a:latin typeface="Cambria Math" panose="02040503050406030204" pitchFamily="18" charset="0"/>
                        </a:rPr>
                        <m:t>=</m:t>
                      </m:r>
                      <m:r>
                        <a:rPr lang="en-US" altLang="zh-TW" sz="2800" i="1">
                          <a:latin typeface="Cambria Math" panose="02040503050406030204" pitchFamily="18" charset="0"/>
                        </a:rPr>
                        <m:t>𝑠𝑖𝑔𝑛</m:t>
                      </m:r>
                      <m:d>
                        <m:dPr>
                          <m:ctrlPr>
                            <a:rPr lang="en-US" altLang="zh-TW" sz="2800" i="1">
                              <a:latin typeface="Cambria Math" panose="02040503050406030204" pitchFamily="18" charset="0"/>
                            </a:rPr>
                          </m:ctrlPr>
                        </m:dPr>
                        <m:e>
                          <m:nary>
                            <m:naryPr>
                              <m:chr m:val="∑"/>
                              <m:ctrlPr>
                                <a:rPr lang="en-US" altLang="zh-TW" sz="2800" i="1">
                                  <a:latin typeface="Cambria Math" panose="02040503050406030204" pitchFamily="18" charset="0"/>
                                </a:rPr>
                              </m:ctrlPr>
                            </m:naryPr>
                            <m:sub>
                              <m:r>
                                <m:rPr>
                                  <m:brk m:alnAt="23"/>
                                </m:rPr>
                                <a:rPr lang="en-US" altLang="zh-TW" sz="2800" i="1">
                                  <a:latin typeface="Cambria Math" panose="02040503050406030204" pitchFamily="18" charset="0"/>
                                </a:rPr>
                                <m:t>𝑡</m:t>
                              </m:r>
                              <m:r>
                                <a:rPr lang="en-US" altLang="zh-TW" sz="2800" i="1">
                                  <a:latin typeface="Cambria Math" panose="02040503050406030204" pitchFamily="18" charset="0"/>
                                </a:rPr>
                                <m:t>=1</m:t>
                              </m:r>
                            </m:sub>
                            <m:sup>
                              <m:r>
                                <a:rPr lang="en-US" altLang="zh-TW" sz="2800" i="1">
                                  <a:latin typeface="Cambria Math" panose="02040503050406030204" pitchFamily="18" charset="0"/>
                                </a:rPr>
                                <m:t>𝑇</m:t>
                              </m:r>
                            </m:sup>
                            <m:e>
                              <m:sSub>
                                <m:sSubPr>
                                  <m:ctrlPr>
                                    <a:rPr lang="en-US" altLang="zh-TW" sz="2800" i="1">
                                      <a:latin typeface="Cambria Math" panose="02040503050406030204" pitchFamily="18" charset="0"/>
                                    </a:rPr>
                                  </m:ctrlPr>
                                </m:sSubPr>
                                <m:e>
                                  <m:r>
                                    <a:rPr lang="zh-TW" altLang="en-US" sz="2800" i="1">
                                      <a:latin typeface="Cambria Math" panose="02040503050406030204" pitchFamily="18" charset="0"/>
                                    </a:rPr>
                                    <m:t>𝛼</m:t>
                                  </m:r>
                                </m:e>
                                <m:sub>
                                  <m:r>
                                    <a:rPr lang="en-US" altLang="zh-TW" sz="2800" i="1">
                                      <a:latin typeface="Cambria Math" panose="02040503050406030204" pitchFamily="18" charset="0"/>
                                    </a:rPr>
                                    <m:t>𝑡</m:t>
                                  </m:r>
                                </m:sub>
                              </m:sSub>
                              <m:sSub>
                                <m:sSubPr>
                                  <m:ctrlPr>
                                    <a:rPr lang="en-US" altLang="zh-TW" sz="2800" i="1">
                                      <a:latin typeface="Cambria Math" panose="02040503050406030204" pitchFamily="18" charset="0"/>
                                    </a:rPr>
                                  </m:ctrlPr>
                                </m:sSubPr>
                                <m:e>
                                  <m:r>
                                    <a:rPr lang="en-US" altLang="zh-TW" sz="2800" b="0" i="1" smtClean="0">
                                      <a:latin typeface="Cambria Math" panose="02040503050406030204" pitchFamily="18" charset="0"/>
                                    </a:rPr>
                                    <m:t>h</m:t>
                                  </m:r>
                                </m:e>
                                <m:sub>
                                  <m:r>
                                    <a:rPr lang="en-US" altLang="zh-TW" sz="2800" i="1">
                                      <a:latin typeface="Cambria Math" panose="02040503050406030204" pitchFamily="18" charset="0"/>
                                    </a:rPr>
                                    <m:t>𝑡</m:t>
                                  </m:r>
                                </m:sub>
                              </m:sSub>
                              <m:d>
                                <m:dPr>
                                  <m:ctrlPr>
                                    <a:rPr lang="en-US" altLang="zh-TW" sz="2800" i="1">
                                      <a:latin typeface="Cambria Math" panose="02040503050406030204" pitchFamily="18" charset="0"/>
                                    </a:rPr>
                                  </m:ctrlPr>
                                </m:dPr>
                                <m:e>
                                  <m:r>
                                    <a:rPr lang="en-US" altLang="zh-TW" sz="2800" i="1">
                                      <a:latin typeface="Cambria Math" panose="02040503050406030204" pitchFamily="18" charset="0"/>
                                    </a:rPr>
                                    <m:t>𝑥</m:t>
                                  </m:r>
                                </m:e>
                              </m:d>
                            </m:e>
                          </m:nary>
                        </m:e>
                      </m:d>
                    </m:oMath>
                  </m:oMathPara>
                </a14:m>
                <a:endParaRPr lang="zh-TW" altLang="en-US" sz="2800" dirty="0"/>
              </a:p>
            </p:txBody>
          </p:sp>
        </mc:Choice>
        <mc:Fallback xmlns="">
          <p:sp>
            <p:nvSpPr>
              <p:cNvPr id="7" name="矩形 6"/>
              <p:cNvSpPr>
                <a:spLocks noRot="1" noChangeAspect="1" noMove="1" noResize="1" noEditPoints="1" noAdjustHandles="1" noChangeArrowheads="1" noChangeShapeType="1" noTextEdit="1"/>
              </p:cNvSpPr>
              <p:nvPr/>
            </p:nvSpPr>
            <p:spPr>
              <a:xfrm>
                <a:off x="6384032" y="3523599"/>
                <a:ext cx="4507388" cy="147950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字方塊 3"/>
              <p:cNvSpPr txBox="1"/>
              <p:nvPr/>
            </p:nvSpPr>
            <p:spPr>
              <a:xfrm>
                <a:off x="2423592" y="4033715"/>
                <a:ext cx="3206583" cy="5218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zh-TW" altLang="en-US" sz="2800" i="1">
                              <a:latin typeface="Cambria Math" panose="02040503050406030204" pitchFamily="18" charset="0"/>
                            </a:rPr>
                            <m:t>𝛼</m:t>
                          </m:r>
                        </m:e>
                        <m:sub>
                          <m:r>
                            <a:rPr lang="en-US" altLang="zh-TW" sz="2800" i="1">
                              <a:latin typeface="Cambria Math" panose="02040503050406030204" pitchFamily="18" charset="0"/>
                              <a:ea typeface="Cambria Math" panose="02040503050406030204" pitchFamily="18" charset="0"/>
                            </a:rPr>
                            <m:t>𝑡</m:t>
                          </m:r>
                        </m:sub>
                      </m:sSub>
                      <m:r>
                        <a:rPr lang="en-US" altLang="zh-TW" sz="2800" i="1">
                          <a:latin typeface="Cambria Math" panose="02040503050406030204" pitchFamily="18" charset="0"/>
                        </a:rPr>
                        <m:t>=</m:t>
                      </m:r>
                      <m:r>
                        <a:rPr lang="en-US" altLang="zh-TW" sz="2800" i="1">
                          <a:latin typeface="Cambria Math" panose="02040503050406030204" pitchFamily="18" charset="0"/>
                        </a:rPr>
                        <m:t>𝑙𝑛</m:t>
                      </m:r>
                      <m:rad>
                        <m:radPr>
                          <m:degHide m:val="on"/>
                          <m:ctrlPr>
                            <a:rPr lang="en-US" altLang="zh-TW" sz="2800" i="1">
                              <a:latin typeface="Cambria Math" panose="02040503050406030204" pitchFamily="18" charset="0"/>
                            </a:rPr>
                          </m:ctrlPr>
                        </m:radPr>
                        <m:deg/>
                        <m:e>
                          <m:f>
                            <m:fPr>
                              <m:type m:val="lin"/>
                              <m:ctrlPr>
                                <a:rPr lang="en-US" altLang="zh-TW" sz="2800" i="1">
                                  <a:latin typeface="Cambria Math" panose="02040503050406030204" pitchFamily="18" charset="0"/>
                                </a:rPr>
                              </m:ctrlPr>
                            </m:fPr>
                            <m:num>
                              <m:d>
                                <m:dPr>
                                  <m:ctrlPr>
                                    <a:rPr lang="en-US" altLang="zh-TW" sz="2800" i="1">
                                      <a:latin typeface="Cambria Math" panose="02040503050406030204" pitchFamily="18" charset="0"/>
                                    </a:rPr>
                                  </m:ctrlPr>
                                </m:dPr>
                                <m:e>
                                  <m:r>
                                    <a:rPr lang="en-US" altLang="zh-TW" sz="2800" i="1">
                                      <a:latin typeface="Cambria Math" panose="02040503050406030204" pitchFamily="18" charset="0"/>
                                    </a:rPr>
                                    <m:t>1−</m:t>
                                  </m:r>
                                  <m:sSub>
                                    <m:sSubPr>
                                      <m:ctrlPr>
                                        <a:rPr lang="en-US" altLang="zh-TW" sz="2800" i="1">
                                          <a:latin typeface="Cambria Math" panose="02040503050406030204" pitchFamily="18" charset="0"/>
                                        </a:rPr>
                                      </m:ctrlPr>
                                    </m:sSubPr>
                                    <m:e>
                                      <m:r>
                                        <a:rPr lang="zh-TW" altLang="en-US" sz="2800" i="1">
                                          <a:latin typeface="Cambria Math" panose="02040503050406030204" pitchFamily="18" charset="0"/>
                                        </a:rPr>
                                        <m:t>𝜀</m:t>
                                      </m:r>
                                    </m:e>
                                    <m:sub>
                                      <m:r>
                                        <a:rPr lang="en-US" altLang="zh-TW" sz="2800" i="1">
                                          <a:latin typeface="Cambria Math" panose="02040503050406030204" pitchFamily="18" charset="0"/>
                                        </a:rPr>
                                        <m:t>𝑡</m:t>
                                      </m:r>
                                    </m:sub>
                                  </m:sSub>
                                </m:e>
                              </m:d>
                            </m:num>
                            <m:den>
                              <m:sSub>
                                <m:sSubPr>
                                  <m:ctrlPr>
                                    <a:rPr lang="en-US" altLang="zh-TW" sz="2800" i="1">
                                      <a:latin typeface="Cambria Math" panose="02040503050406030204" pitchFamily="18" charset="0"/>
                                    </a:rPr>
                                  </m:ctrlPr>
                                </m:sSubPr>
                                <m:e>
                                  <m:r>
                                    <a:rPr lang="zh-TW" altLang="en-US" sz="2800" i="1">
                                      <a:latin typeface="Cambria Math" panose="02040503050406030204" pitchFamily="18" charset="0"/>
                                    </a:rPr>
                                    <m:t>𝜀</m:t>
                                  </m:r>
                                </m:e>
                                <m:sub>
                                  <m:r>
                                    <a:rPr lang="en-US" altLang="zh-TW" sz="2800" i="1">
                                      <a:latin typeface="Cambria Math" panose="02040503050406030204" pitchFamily="18" charset="0"/>
                                    </a:rPr>
                                    <m:t>𝑡</m:t>
                                  </m:r>
                                </m:sub>
                              </m:sSub>
                            </m:den>
                          </m:f>
                        </m:e>
                      </m:rad>
                    </m:oMath>
                  </m:oMathPara>
                </a14:m>
                <a:endParaRPr lang="zh-TW" altLang="en-US" sz="2800" dirty="0"/>
              </a:p>
            </p:txBody>
          </p:sp>
        </mc:Choice>
        <mc:Fallback xmlns="">
          <p:sp>
            <p:nvSpPr>
              <p:cNvPr id="8" name="文字方塊 3"/>
              <p:cNvSpPr txBox="1">
                <a:spLocks noRot="1" noChangeAspect="1" noMove="1" noResize="1" noEditPoints="1" noAdjustHandles="1" noChangeArrowheads="1" noChangeShapeType="1" noTextEdit="1"/>
              </p:cNvSpPr>
              <p:nvPr/>
            </p:nvSpPr>
            <p:spPr>
              <a:xfrm>
                <a:off x="2423592" y="4033715"/>
                <a:ext cx="3206583" cy="521810"/>
              </a:xfrm>
              <a:prstGeom prst="rect">
                <a:avLst/>
              </a:prstGeom>
              <a:blipFill>
                <a:blip r:embed="rId5"/>
                <a:stretch>
                  <a:fillRect/>
                </a:stretch>
              </a:blipFill>
            </p:spPr>
            <p:txBody>
              <a:bodyPr/>
              <a:lstStyle/>
              <a:p>
                <a:r>
                  <a:rPr lang="zh-CN" altLang="en-US">
                    <a:noFill/>
                  </a:rPr>
                  <a:t> </a:t>
                </a:r>
              </a:p>
            </p:txBody>
          </p:sp>
        </mc:Fallback>
      </mc:AlternateContent>
      <p:sp>
        <p:nvSpPr>
          <p:cNvPr id="3" name="矩形 2"/>
          <p:cNvSpPr/>
          <p:nvPr/>
        </p:nvSpPr>
        <p:spPr>
          <a:xfrm>
            <a:off x="543744" y="5681174"/>
            <a:ext cx="9648622" cy="707886"/>
          </a:xfrm>
          <a:prstGeom prst="rect">
            <a:avLst/>
          </a:prstGeom>
        </p:spPr>
        <p:txBody>
          <a:bodyPr wrap="square">
            <a:spAutoFit/>
          </a:bodyPr>
          <a:lstStyle/>
          <a:p>
            <a:pPr algn="just">
              <a:defRPr/>
            </a:pPr>
            <a:r>
              <a:rPr lang="en-US" altLang="zh-CN" sz="2000" b="1" dirty="0" err="1">
                <a:latin typeface="宋体" panose="02010600030101010101" pitchFamily="2" charset="-122"/>
                <a:ea typeface="宋体" panose="02010600030101010101" pitchFamily="2" charset="-122"/>
              </a:rPr>
              <a:t>Adaboost</a:t>
            </a:r>
            <a:r>
              <a:rPr lang="zh-CN" altLang="en-US" sz="2000" b="1" dirty="0">
                <a:latin typeface="宋体" panose="02010600030101010101" pitchFamily="2" charset="-122"/>
                <a:ea typeface="宋体" panose="02010600030101010101" pitchFamily="2" charset="-122"/>
              </a:rPr>
              <a:t>算法通过组合弱分类器而得到强分类器，具有</a:t>
            </a:r>
            <a:r>
              <a:rPr lang="zh-CN" altLang="en-US" sz="2000" b="1" dirty="0">
                <a:solidFill>
                  <a:srgbClr val="0000FF"/>
                </a:solidFill>
                <a:latin typeface="宋体" panose="02010600030101010101" pitchFamily="2" charset="-122"/>
                <a:ea typeface="宋体" panose="02010600030101010101" pitchFamily="2" charset="-122"/>
              </a:rPr>
              <a:t>分类错误率上界随着训练增加而稳定下降（可证）</a:t>
            </a:r>
            <a:r>
              <a:rPr lang="zh-CN" altLang="en-US" sz="2000" b="1" dirty="0">
                <a:solidFill>
                  <a:srgbClr val="FF0000"/>
                </a:solidFill>
                <a:latin typeface="宋体" panose="02010600030101010101" pitchFamily="2" charset="-122"/>
                <a:ea typeface="宋体" panose="02010600030101010101" pitchFamily="2" charset="-122"/>
              </a:rPr>
              <a:t>，不会过拟合</a:t>
            </a:r>
            <a:r>
              <a:rPr lang="zh-CN" altLang="en-US" sz="2000" b="1" dirty="0">
                <a:latin typeface="宋体" panose="02010600030101010101" pitchFamily="2" charset="-122"/>
                <a:ea typeface="宋体" panose="02010600030101010101" pitchFamily="2" charset="-122"/>
              </a:rPr>
              <a:t>等性质，适合于在各种分类场景下的应用。</a:t>
            </a:r>
          </a:p>
        </p:txBody>
      </p:sp>
    </p:spTree>
    <p:extLst>
      <p:ext uri="{BB962C8B-B14F-4D97-AF65-F5344CB8AC3E}">
        <p14:creationId xmlns:p14="http://schemas.microsoft.com/office/powerpoint/2010/main" val="3245730446"/>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a:xfrm>
            <a:off x="1828800" y="152405"/>
            <a:ext cx="7939608" cy="563563"/>
          </a:xfrm>
        </p:spPr>
        <p:txBody>
          <a:bodyPr/>
          <a:lstStyle/>
          <a:p>
            <a:r>
              <a:rPr lang="en-US" altLang="zh-CN" sz="2800" dirty="0"/>
              <a:t>12.3 Bagging </a:t>
            </a:r>
            <a:r>
              <a:rPr lang="zh-CN" altLang="en-US" sz="2800" dirty="0"/>
              <a:t>和</a:t>
            </a:r>
            <a:r>
              <a:rPr lang="en-US" altLang="zh-CN" sz="2800" dirty="0"/>
              <a:t>Boosting</a:t>
            </a:r>
            <a:r>
              <a:rPr lang="zh-CN" altLang="en-US" sz="2800" dirty="0"/>
              <a:t>的比较与实例分析</a:t>
            </a:r>
          </a:p>
        </p:txBody>
      </p:sp>
      <p:sp>
        <p:nvSpPr>
          <p:cNvPr id="174083" name="Rectangle 3"/>
          <p:cNvSpPr>
            <a:spLocks noGrp="1" noChangeArrowheads="1"/>
          </p:cNvSpPr>
          <p:nvPr>
            <p:ph type="body" idx="1"/>
          </p:nvPr>
        </p:nvSpPr>
        <p:spPr>
          <a:xfrm>
            <a:off x="1705744" y="1268760"/>
            <a:ext cx="8062664" cy="4114800"/>
          </a:xfrm>
        </p:spPr>
        <p:txBody>
          <a:bodyPr/>
          <a:lstStyle/>
          <a:p>
            <a:r>
              <a:rPr lang="zh-CN" altLang="en-US" dirty="0"/>
              <a:t>训练集</a:t>
            </a:r>
            <a:r>
              <a:rPr lang="en-US" altLang="zh-CN" dirty="0"/>
              <a:t>:</a:t>
            </a:r>
          </a:p>
          <a:p>
            <a:pPr lvl="1"/>
            <a:r>
              <a:rPr lang="en-US" altLang="zh-CN" dirty="0"/>
              <a:t>Bagging: </a:t>
            </a:r>
            <a:r>
              <a:rPr lang="zh-CN" altLang="en-US" dirty="0"/>
              <a:t>随机选择</a:t>
            </a:r>
            <a:r>
              <a:rPr lang="en-US" altLang="zh-CN" dirty="0"/>
              <a:t>,</a:t>
            </a:r>
            <a:r>
              <a:rPr lang="zh-CN" altLang="en-US" dirty="0"/>
              <a:t>各轮训练集相互独立</a:t>
            </a:r>
          </a:p>
          <a:p>
            <a:pPr lvl="1"/>
            <a:r>
              <a:rPr lang="en-US" altLang="zh-CN" dirty="0"/>
              <a:t>Boosting:</a:t>
            </a:r>
            <a:r>
              <a:rPr lang="zh-CN" altLang="en-US" dirty="0"/>
              <a:t>各轮训练集并不独立</a:t>
            </a:r>
            <a:r>
              <a:rPr lang="en-US" altLang="zh-CN" dirty="0"/>
              <a:t>,</a:t>
            </a:r>
            <a:r>
              <a:rPr lang="zh-CN" altLang="en-US" dirty="0"/>
              <a:t>它的选择与前轮的学习结果有关</a:t>
            </a:r>
          </a:p>
          <a:p>
            <a:r>
              <a:rPr lang="zh-CN" altLang="en-US" dirty="0"/>
              <a:t>预测函数</a:t>
            </a:r>
            <a:r>
              <a:rPr lang="en-US" altLang="zh-CN" dirty="0"/>
              <a:t>:</a:t>
            </a:r>
          </a:p>
          <a:p>
            <a:pPr lvl="1"/>
            <a:r>
              <a:rPr lang="en-US" altLang="zh-CN" dirty="0"/>
              <a:t>Bagging: </a:t>
            </a:r>
            <a:r>
              <a:rPr lang="zh-CN" altLang="en-US" dirty="0"/>
              <a:t>没有权重</a:t>
            </a:r>
            <a:r>
              <a:rPr lang="en-US" altLang="zh-CN" dirty="0"/>
              <a:t>;</a:t>
            </a:r>
            <a:r>
              <a:rPr lang="zh-CN" altLang="en-US" dirty="0"/>
              <a:t>可以并行生成</a:t>
            </a:r>
          </a:p>
          <a:p>
            <a:pPr lvl="1"/>
            <a:r>
              <a:rPr lang="en-US" altLang="zh-CN" dirty="0"/>
              <a:t>Boosting:</a:t>
            </a:r>
            <a:r>
              <a:rPr lang="zh-CN" altLang="en-US" dirty="0"/>
              <a:t>有权重</a:t>
            </a:r>
            <a:r>
              <a:rPr lang="en-US" altLang="zh-CN" dirty="0"/>
              <a:t>;</a:t>
            </a:r>
            <a:r>
              <a:rPr lang="zh-CN" altLang="en-US" dirty="0"/>
              <a:t>只能顺序生成</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27</a:t>
            </a:fld>
            <a:endParaRPr lang="en-US" altLang="zh-CN" dirty="0"/>
          </a:p>
        </p:txBody>
      </p:sp>
    </p:spTree>
    <p:extLst>
      <p:ext uri="{BB962C8B-B14F-4D97-AF65-F5344CB8AC3E}">
        <p14:creationId xmlns:p14="http://schemas.microsoft.com/office/powerpoint/2010/main" val="75101829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AutoShape 2"/>
          <p:cNvSpPr>
            <a:spLocks noChangeArrowheads="1"/>
          </p:cNvSpPr>
          <p:nvPr/>
        </p:nvSpPr>
        <p:spPr bwMode="auto">
          <a:xfrm>
            <a:off x="1631981" y="3881426"/>
            <a:ext cx="6553200" cy="2492375"/>
          </a:xfrm>
          <a:prstGeom prst="roundRect">
            <a:avLst>
              <a:gd name="adj" fmla="val 16667"/>
            </a:avLst>
          </a:prstGeom>
          <a:solidFill>
            <a:srgbClr val="666699"/>
          </a:solidFill>
          <a:ln w="38100">
            <a:solidFill>
              <a:schemeClr val="tx1"/>
            </a:solidFill>
            <a:round/>
            <a:headEnd/>
            <a:tailEnd/>
          </a:ln>
          <a:effectLst/>
        </p:spPr>
        <p:txBody>
          <a:bodyPr wrap="none" anchor="ctr"/>
          <a:lstStyle/>
          <a:p>
            <a:endParaRPr lang="zh-CN" altLang="en-US"/>
          </a:p>
        </p:txBody>
      </p:sp>
      <p:sp>
        <p:nvSpPr>
          <p:cNvPr id="38915" name="AutoShape 3"/>
          <p:cNvSpPr>
            <a:spLocks noChangeArrowheads="1"/>
          </p:cNvSpPr>
          <p:nvPr/>
        </p:nvSpPr>
        <p:spPr bwMode="auto">
          <a:xfrm>
            <a:off x="3971956" y="1000114"/>
            <a:ext cx="6553200" cy="5373687"/>
          </a:xfrm>
          <a:prstGeom prst="roundRect">
            <a:avLst>
              <a:gd name="adj" fmla="val 16667"/>
            </a:avLst>
          </a:prstGeom>
          <a:solidFill>
            <a:srgbClr val="666699"/>
          </a:solidFill>
          <a:ln w="38100">
            <a:solidFill>
              <a:schemeClr val="tx1"/>
            </a:solidFill>
            <a:round/>
            <a:headEnd/>
            <a:tailEnd/>
          </a:ln>
          <a:effectLst/>
        </p:spPr>
        <p:txBody>
          <a:bodyPr wrap="none" anchor="ctr"/>
          <a:lstStyle/>
          <a:p>
            <a:endParaRPr lang="zh-CN" altLang="en-US"/>
          </a:p>
        </p:txBody>
      </p:sp>
      <p:pic>
        <p:nvPicPr>
          <p:cNvPr id="38916" name="Picture 4" descr="snap"/>
          <p:cNvPicPr>
            <a:picLocks noChangeAspect="1" noChangeArrowheads="1"/>
          </p:cNvPicPr>
          <p:nvPr/>
        </p:nvPicPr>
        <p:blipFill>
          <a:blip r:embed="rId2" cstate="print"/>
          <a:srcRect/>
          <a:stretch>
            <a:fillRect/>
          </a:stretch>
        </p:blipFill>
        <p:spPr bwMode="auto">
          <a:xfrm>
            <a:off x="1882810" y="5176820"/>
            <a:ext cx="3384551" cy="990600"/>
          </a:xfrm>
          <a:prstGeom prst="rect">
            <a:avLst/>
          </a:prstGeom>
          <a:noFill/>
          <a:ln w="38100">
            <a:solidFill>
              <a:schemeClr val="bg2"/>
            </a:solidFill>
            <a:miter lim="800000"/>
            <a:headEnd/>
            <a:tailEnd/>
          </a:ln>
          <a:effectLst>
            <a:outerShdw dist="107763" dir="2700000" algn="ctr" rotWithShape="0">
              <a:srgbClr val="808080">
                <a:alpha val="50000"/>
              </a:srgbClr>
            </a:outerShdw>
          </a:effectLst>
        </p:spPr>
      </p:pic>
      <p:sp>
        <p:nvSpPr>
          <p:cNvPr id="38917" name="Rectangle 5"/>
          <p:cNvSpPr>
            <a:spLocks noChangeArrowheads="1"/>
          </p:cNvSpPr>
          <p:nvPr/>
        </p:nvSpPr>
        <p:spPr bwMode="auto">
          <a:xfrm>
            <a:off x="6275423" y="5176826"/>
            <a:ext cx="3816351" cy="936625"/>
          </a:xfrm>
          <a:prstGeom prst="rect">
            <a:avLst/>
          </a:prstGeom>
          <a:solidFill>
            <a:srgbClr val="003366"/>
          </a:solidFill>
          <a:ln w="38100">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sp>
        <p:nvSpPr>
          <p:cNvPr id="38918" name="Rectangle 6"/>
          <p:cNvSpPr>
            <a:spLocks noChangeArrowheads="1"/>
          </p:cNvSpPr>
          <p:nvPr/>
        </p:nvSpPr>
        <p:spPr bwMode="auto">
          <a:xfrm>
            <a:off x="6780249" y="1431914"/>
            <a:ext cx="2592387" cy="2376487"/>
          </a:xfrm>
          <a:prstGeom prst="rect">
            <a:avLst/>
          </a:prstGeom>
          <a:solidFill>
            <a:srgbClr val="003366"/>
          </a:solidFill>
          <a:ln w="38100">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sp>
        <p:nvSpPr>
          <p:cNvPr id="38919" name="Rectangle 7"/>
          <p:cNvSpPr>
            <a:spLocks noGrp="1" noRot="1" noChangeArrowheads="1"/>
          </p:cNvSpPr>
          <p:nvPr>
            <p:ph type="title"/>
          </p:nvPr>
        </p:nvSpPr>
        <p:spPr>
          <a:noFill/>
          <a:ln/>
        </p:spPr>
        <p:txBody>
          <a:bodyPr/>
          <a:lstStyle/>
          <a:p>
            <a:r>
              <a:rPr lang="en-US" altLang="zh-CN" dirty="0"/>
              <a:t>12.3 </a:t>
            </a:r>
            <a:r>
              <a:rPr lang="zh-CN" altLang="en-US" dirty="0"/>
              <a:t>实例分析</a:t>
            </a:r>
            <a:endParaRPr lang="zh-TW" altLang="en-US" dirty="0"/>
          </a:p>
        </p:txBody>
      </p:sp>
      <p:sp>
        <p:nvSpPr>
          <p:cNvPr id="38920" name="Homepage"/>
          <p:cNvSpPr>
            <a:spLocks noEditPoints="1" noChangeArrowheads="1"/>
          </p:cNvSpPr>
          <p:nvPr/>
        </p:nvSpPr>
        <p:spPr bwMode="auto">
          <a:xfrm>
            <a:off x="2603536" y="2008177"/>
            <a:ext cx="720725" cy="936625"/>
          </a:xfrm>
          <a:custGeom>
            <a:avLst/>
            <a:gdLst>
              <a:gd name="T0" fmla="*/ 0 w 21600"/>
              <a:gd name="T1" fmla="*/ 0 h 21600"/>
              <a:gd name="T2" fmla="*/ 10800 w 21600"/>
              <a:gd name="T3" fmla="*/ 0 h 21600"/>
              <a:gd name="T4" fmla="*/ 21600 w 21600"/>
              <a:gd name="T5" fmla="*/ 0 h 21600"/>
              <a:gd name="T6" fmla="*/ 21600 w 21600"/>
              <a:gd name="T7" fmla="*/ 10800 h 21600"/>
              <a:gd name="T8" fmla="*/ 21600 w 21600"/>
              <a:gd name="T9" fmla="*/ 21600 h 21600"/>
              <a:gd name="T10" fmla="*/ 10800 w 21600"/>
              <a:gd name="T11" fmla="*/ 21600 h 21600"/>
              <a:gd name="T12" fmla="*/ 0 w 21600"/>
              <a:gd name="T13" fmla="*/ 10800 h 21600"/>
              <a:gd name="T14" fmla="*/ 999 w 21600"/>
              <a:gd name="T15" fmla="*/ 12174 h 21600"/>
              <a:gd name="T16" fmla="*/ 20813 w 21600"/>
              <a:gd name="T17" fmla="*/ 17149 h 21600"/>
            </a:gdLst>
            <a:ahLst/>
            <a:cxnLst>
              <a:cxn ang="0">
                <a:pos x="T0" y="T1"/>
              </a:cxn>
              <a:cxn ang="0">
                <a:pos x="T2" y="T3"/>
              </a:cxn>
              <a:cxn ang="0">
                <a:pos x="T4" y="T5"/>
              </a:cxn>
              <a:cxn ang="0">
                <a:pos x="T6" y="T7"/>
              </a:cxn>
              <a:cxn ang="0">
                <a:pos x="T8" y="T9"/>
              </a:cxn>
              <a:cxn ang="0">
                <a:pos x="T10" y="T11"/>
              </a:cxn>
              <a:cxn ang="0">
                <a:pos x="T12" y="T13"/>
              </a:cxn>
            </a:cxnLst>
            <a:rect l="T14" t="T15" r="T16" b="T17"/>
            <a:pathLst>
              <a:path w="21600" h="21600" extrusionOk="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extrusionOk="0">
                <a:moveTo>
                  <a:pt x="85" y="17509"/>
                </a:moveTo>
                <a:lnTo>
                  <a:pt x="5187" y="17509"/>
                </a:lnTo>
                <a:lnTo>
                  <a:pt x="5187" y="21632"/>
                </a:lnTo>
                <a:lnTo>
                  <a:pt x="85" y="17509"/>
                </a:lnTo>
                <a:close/>
              </a:path>
              <a:path w="21600" h="21600" extrusionOk="0">
                <a:moveTo>
                  <a:pt x="5251" y="7101"/>
                </a:moveTo>
                <a:lnTo>
                  <a:pt x="5251" y="11160"/>
                </a:lnTo>
                <a:lnTo>
                  <a:pt x="16306" y="11160"/>
                </a:lnTo>
                <a:lnTo>
                  <a:pt x="16306" y="7052"/>
                </a:lnTo>
                <a:lnTo>
                  <a:pt x="16901" y="6561"/>
                </a:lnTo>
                <a:lnTo>
                  <a:pt x="15264" y="5236"/>
                </a:lnTo>
                <a:lnTo>
                  <a:pt x="15264" y="1636"/>
                </a:lnTo>
                <a:lnTo>
                  <a:pt x="13478" y="1636"/>
                </a:lnTo>
                <a:lnTo>
                  <a:pt x="13478" y="3698"/>
                </a:lnTo>
                <a:lnTo>
                  <a:pt x="11182" y="1669"/>
                </a:lnTo>
                <a:lnTo>
                  <a:pt x="4847" y="6561"/>
                </a:lnTo>
                <a:lnTo>
                  <a:pt x="5251" y="7101"/>
                </a:lnTo>
                <a:close/>
              </a:path>
              <a:path w="21600" h="21600" extrusionOk="0">
                <a:moveTo>
                  <a:pt x="9396" y="11160"/>
                </a:moveTo>
                <a:lnTo>
                  <a:pt x="9396" y="7772"/>
                </a:lnTo>
                <a:lnTo>
                  <a:pt x="11820" y="7772"/>
                </a:lnTo>
                <a:lnTo>
                  <a:pt x="11820" y="11160"/>
                </a:lnTo>
                <a:lnTo>
                  <a:pt x="9396" y="11160"/>
                </a:lnTo>
                <a:close/>
              </a:path>
            </a:pathLst>
          </a:custGeom>
          <a:solidFill>
            <a:srgbClr val="D8EBB3"/>
          </a:solidFill>
          <a:ln w="9525">
            <a:solidFill>
              <a:srgbClr val="000000"/>
            </a:solidFill>
            <a:miter lim="800000"/>
            <a:headEnd/>
            <a:tailEnd/>
          </a:ln>
          <a:effectLst>
            <a:outerShdw dist="107763" dir="2700000" algn="ctr" rotWithShape="0">
              <a:srgbClr val="808080"/>
            </a:outerShdw>
          </a:effectLst>
        </p:spPr>
        <p:txBody>
          <a:bodyPr/>
          <a:lstStyle/>
          <a:p>
            <a:endParaRPr lang="zh-CN" altLang="en-US"/>
          </a:p>
        </p:txBody>
      </p:sp>
      <p:sp>
        <p:nvSpPr>
          <p:cNvPr id="38921" name="Text Box 9"/>
          <p:cNvSpPr txBox="1">
            <a:spLocks noChangeArrowheads="1"/>
          </p:cNvSpPr>
          <p:nvPr/>
        </p:nvSpPr>
        <p:spPr bwMode="auto">
          <a:xfrm>
            <a:off x="2316201" y="3016240"/>
            <a:ext cx="902811" cy="307777"/>
          </a:xfrm>
          <a:prstGeom prst="rect">
            <a:avLst/>
          </a:prstGeom>
          <a:solidFill>
            <a:schemeClr val="bg1"/>
          </a:solidFill>
          <a:ln w="38100">
            <a:solidFill>
              <a:schemeClr val="bg2"/>
            </a:solidFill>
            <a:miter lim="800000"/>
            <a:headEnd/>
            <a:tailEnd/>
          </a:ln>
          <a:effectLst/>
        </p:spPr>
        <p:txBody>
          <a:bodyPr wrap="none">
            <a:spAutoFit/>
          </a:bodyPr>
          <a:lstStyle/>
          <a:p>
            <a:r>
              <a:rPr kumimoji="1" lang="zh-CN" altLang="en-US" sz="1400" dirty="0">
                <a:ea typeface="新細明體" pitchFamily="18" charset="-120"/>
              </a:rPr>
              <a:t>原始图像</a:t>
            </a:r>
          </a:p>
        </p:txBody>
      </p:sp>
      <p:sp>
        <p:nvSpPr>
          <p:cNvPr id="38922" name="AutoShape 10"/>
          <p:cNvSpPr>
            <a:spLocks noChangeArrowheads="1"/>
          </p:cNvSpPr>
          <p:nvPr/>
        </p:nvSpPr>
        <p:spPr bwMode="auto">
          <a:xfrm>
            <a:off x="4187861" y="2081195"/>
            <a:ext cx="1655763" cy="914400"/>
          </a:xfrm>
          <a:prstGeom prst="roundRect">
            <a:avLst>
              <a:gd name="adj" fmla="val 16667"/>
            </a:avLst>
          </a:prstGeom>
          <a:solidFill>
            <a:srgbClr val="FF660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ctr"/>
            <a:r>
              <a:rPr kumimoji="1" lang="zh-CN" altLang="en-US">
                <a:latin typeface="Garamond" pitchFamily="18" charset="0"/>
                <a:ea typeface="新細明體" pitchFamily="18" charset="-120"/>
              </a:rPr>
              <a:t>特征提取</a:t>
            </a:r>
            <a:endParaRPr kumimoji="1" lang="zh-TW" altLang="en-US">
              <a:latin typeface="Garamond" pitchFamily="18" charset="0"/>
              <a:ea typeface="新細明體" pitchFamily="18" charset="-120"/>
            </a:endParaRPr>
          </a:p>
        </p:txBody>
      </p:sp>
      <p:sp>
        <p:nvSpPr>
          <p:cNvPr id="38924" name="AutoShape 12"/>
          <p:cNvSpPr>
            <a:spLocks noChangeArrowheads="1"/>
          </p:cNvSpPr>
          <p:nvPr/>
        </p:nvSpPr>
        <p:spPr bwMode="auto">
          <a:xfrm>
            <a:off x="6996149" y="1649399"/>
            <a:ext cx="2160587" cy="503239"/>
          </a:xfrm>
          <a:prstGeom prst="roundRect">
            <a:avLst>
              <a:gd name="adj" fmla="val 16667"/>
            </a:avLst>
          </a:prstGeom>
          <a:solidFill>
            <a:srgbClr val="99CC0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ctr"/>
            <a:r>
              <a:rPr kumimoji="1" lang="en-US" altLang="zh-TW" dirty="0" err="1">
                <a:latin typeface="Garamond" pitchFamily="18" charset="0"/>
                <a:ea typeface="新細明體" pitchFamily="18" charset="-120"/>
              </a:rPr>
              <a:t>Haar</a:t>
            </a:r>
            <a:r>
              <a:rPr kumimoji="1" lang="en-US" altLang="zh-TW" dirty="0">
                <a:latin typeface="Garamond" pitchFamily="18" charset="0"/>
                <a:ea typeface="新細明體" pitchFamily="18" charset="-120"/>
              </a:rPr>
              <a:t> Basis Functions</a:t>
            </a:r>
          </a:p>
        </p:txBody>
      </p:sp>
      <p:sp>
        <p:nvSpPr>
          <p:cNvPr id="38925" name="AutoShape 13"/>
          <p:cNvSpPr>
            <a:spLocks noChangeArrowheads="1"/>
          </p:cNvSpPr>
          <p:nvPr/>
        </p:nvSpPr>
        <p:spPr bwMode="auto">
          <a:xfrm>
            <a:off x="6996149" y="2368539"/>
            <a:ext cx="2160587" cy="503237"/>
          </a:xfrm>
          <a:prstGeom prst="roundRect">
            <a:avLst>
              <a:gd name="adj" fmla="val 16667"/>
            </a:avLst>
          </a:prstGeom>
          <a:solidFill>
            <a:srgbClr val="99CC0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ctr"/>
            <a:r>
              <a:rPr kumimoji="1" lang="en-US" altLang="zh-TW" dirty="0" err="1">
                <a:latin typeface="Garamond" pitchFamily="18" charset="0"/>
                <a:ea typeface="新細明體" pitchFamily="18" charset="-120"/>
              </a:rPr>
              <a:t>Haar</a:t>
            </a:r>
            <a:r>
              <a:rPr kumimoji="1" lang="en-US" altLang="zh-TW" dirty="0">
                <a:latin typeface="Garamond" pitchFamily="18" charset="0"/>
                <a:ea typeface="新細明體" pitchFamily="18" charset="-120"/>
              </a:rPr>
              <a:t> Basis Functions</a:t>
            </a:r>
          </a:p>
        </p:txBody>
      </p:sp>
      <p:sp>
        <p:nvSpPr>
          <p:cNvPr id="38926" name="AutoShape 14"/>
          <p:cNvSpPr>
            <a:spLocks noChangeArrowheads="1"/>
          </p:cNvSpPr>
          <p:nvPr/>
        </p:nvSpPr>
        <p:spPr bwMode="auto">
          <a:xfrm>
            <a:off x="6996149" y="3089264"/>
            <a:ext cx="2160587" cy="503237"/>
          </a:xfrm>
          <a:prstGeom prst="roundRect">
            <a:avLst>
              <a:gd name="adj" fmla="val 16667"/>
            </a:avLst>
          </a:prstGeom>
          <a:solidFill>
            <a:srgbClr val="99CC0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ctr"/>
            <a:r>
              <a:rPr kumimoji="1" lang="en-US" altLang="zh-TW" dirty="0" err="1">
                <a:latin typeface="Garamond" pitchFamily="18" charset="0"/>
                <a:ea typeface="新細明體" pitchFamily="18" charset="-120"/>
              </a:rPr>
              <a:t>Haar</a:t>
            </a:r>
            <a:r>
              <a:rPr kumimoji="1" lang="en-US" altLang="zh-TW" dirty="0">
                <a:latin typeface="Garamond" pitchFamily="18" charset="0"/>
                <a:ea typeface="新細明體" pitchFamily="18" charset="-120"/>
              </a:rPr>
              <a:t> Basis Functions</a:t>
            </a:r>
          </a:p>
        </p:txBody>
      </p:sp>
      <p:sp>
        <p:nvSpPr>
          <p:cNvPr id="38927" name="Text Box 15"/>
          <p:cNvSpPr txBox="1">
            <a:spLocks noChangeArrowheads="1"/>
          </p:cNvSpPr>
          <p:nvPr/>
        </p:nvSpPr>
        <p:spPr bwMode="auto">
          <a:xfrm>
            <a:off x="7596226" y="928676"/>
            <a:ext cx="902811" cy="307777"/>
          </a:xfrm>
          <a:prstGeom prst="rect">
            <a:avLst/>
          </a:prstGeom>
          <a:solidFill>
            <a:schemeClr val="bg1"/>
          </a:solidFill>
          <a:ln w="38100">
            <a:solidFill>
              <a:schemeClr val="bg2"/>
            </a:solidFill>
            <a:miter lim="800000"/>
            <a:headEnd/>
            <a:tailEnd/>
          </a:ln>
          <a:effectLst/>
        </p:spPr>
        <p:txBody>
          <a:bodyPr wrap="none">
            <a:spAutoFit/>
          </a:bodyPr>
          <a:lstStyle/>
          <a:p>
            <a:pPr algn="ctr"/>
            <a:r>
              <a:rPr kumimoji="1" lang="zh-CN" altLang="en-US" sz="1400" dirty="0">
                <a:ea typeface="新細明體" pitchFamily="18" charset="-120"/>
              </a:rPr>
              <a:t>特征计算</a:t>
            </a:r>
          </a:p>
        </p:txBody>
      </p:sp>
      <p:sp>
        <p:nvSpPr>
          <p:cNvPr id="38928" name="AutoShape 16"/>
          <p:cNvSpPr>
            <a:spLocks noChangeArrowheads="1"/>
          </p:cNvSpPr>
          <p:nvPr/>
        </p:nvSpPr>
        <p:spPr bwMode="auto">
          <a:xfrm>
            <a:off x="6564350" y="5392725"/>
            <a:ext cx="3095625" cy="503239"/>
          </a:xfrm>
          <a:prstGeom prst="roundRect">
            <a:avLst>
              <a:gd name="adj" fmla="val 16667"/>
            </a:avLst>
          </a:prstGeom>
          <a:solidFill>
            <a:srgbClr val="FF660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ctr"/>
            <a:r>
              <a:rPr kumimoji="1" lang="en-US" altLang="zh-TW" dirty="0">
                <a:latin typeface="Garamond" pitchFamily="18" charset="0"/>
                <a:ea typeface="新細明體" pitchFamily="18" charset="-120"/>
              </a:rPr>
              <a:t> </a:t>
            </a:r>
            <a:r>
              <a:rPr kumimoji="1" lang="en-US" altLang="zh-TW" b="1" dirty="0" err="1">
                <a:latin typeface="Garamond" pitchFamily="18" charset="0"/>
                <a:ea typeface="新細明體" pitchFamily="18" charset="-120"/>
              </a:rPr>
              <a:t>Ada</a:t>
            </a:r>
            <a:r>
              <a:rPr kumimoji="1" lang="en-US" altLang="zh-TW" b="1" dirty="0">
                <a:latin typeface="Garamond" pitchFamily="18" charset="0"/>
                <a:ea typeface="新細明體" pitchFamily="18" charset="-120"/>
              </a:rPr>
              <a:t> Boost </a:t>
            </a:r>
            <a:r>
              <a:rPr kumimoji="1" lang="zh-CN" altLang="en-US" b="1" dirty="0">
                <a:latin typeface="Garamond" pitchFamily="18" charset="0"/>
                <a:ea typeface="新細明體" pitchFamily="18" charset="-120"/>
              </a:rPr>
              <a:t>训练</a:t>
            </a:r>
            <a:endParaRPr kumimoji="1" lang="zh-TW" altLang="en-US" b="1" dirty="0">
              <a:latin typeface="Garamond" pitchFamily="18" charset="0"/>
              <a:ea typeface="新細明體" pitchFamily="18" charset="-120"/>
            </a:endParaRPr>
          </a:p>
        </p:txBody>
      </p:sp>
      <p:sp>
        <p:nvSpPr>
          <p:cNvPr id="38929" name="Text Box 17"/>
          <p:cNvSpPr txBox="1">
            <a:spLocks noChangeArrowheads="1"/>
          </p:cNvSpPr>
          <p:nvPr/>
        </p:nvSpPr>
        <p:spPr bwMode="auto">
          <a:xfrm>
            <a:off x="8628101" y="4889489"/>
            <a:ext cx="902811" cy="307777"/>
          </a:xfrm>
          <a:prstGeom prst="rect">
            <a:avLst/>
          </a:prstGeom>
          <a:solidFill>
            <a:schemeClr val="bg1"/>
          </a:solidFill>
          <a:ln w="38100">
            <a:solidFill>
              <a:schemeClr val="bg2"/>
            </a:solidFill>
            <a:miter lim="800000"/>
            <a:headEnd/>
            <a:tailEnd/>
          </a:ln>
          <a:effectLst/>
        </p:spPr>
        <p:txBody>
          <a:bodyPr wrap="none">
            <a:spAutoFit/>
          </a:bodyPr>
          <a:lstStyle/>
          <a:p>
            <a:pPr algn="ctr"/>
            <a:r>
              <a:rPr kumimoji="1" lang="zh-CN" altLang="en-US" sz="1400" dirty="0">
                <a:ea typeface="新細明體" pitchFamily="18" charset="-120"/>
              </a:rPr>
              <a:t>特征选择</a:t>
            </a:r>
          </a:p>
        </p:txBody>
      </p:sp>
      <p:sp>
        <p:nvSpPr>
          <p:cNvPr id="38930" name="Text Box 18"/>
          <p:cNvSpPr txBox="1">
            <a:spLocks noChangeArrowheads="1"/>
          </p:cNvSpPr>
          <p:nvPr/>
        </p:nvSpPr>
        <p:spPr bwMode="auto">
          <a:xfrm>
            <a:off x="8367746" y="3952864"/>
            <a:ext cx="1082348" cy="307777"/>
          </a:xfrm>
          <a:prstGeom prst="rect">
            <a:avLst/>
          </a:prstGeom>
          <a:solidFill>
            <a:srgbClr val="CCFFCC"/>
          </a:solidFill>
          <a:ln w="19050">
            <a:solidFill>
              <a:schemeClr val="bg2"/>
            </a:solidFill>
            <a:prstDash val="sysDot"/>
            <a:miter lim="800000"/>
            <a:headEnd/>
            <a:tailEnd/>
          </a:ln>
          <a:effectLst/>
        </p:spPr>
        <p:txBody>
          <a:bodyPr wrap="none">
            <a:spAutoFit/>
          </a:bodyPr>
          <a:lstStyle/>
          <a:p>
            <a:pPr algn="ctr"/>
            <a:r>
              <a:rPr kumimoji="1" lang="zh-CN" altLang="en-US" sz="1400" dirty="0">
                <a:ea typeface="新細明體" pitchFamily="18" charset="-120"/>
              </a:rPr>
              <a:t>大量的特征</a:t>
            </a:r>
          </a:p>
        </p:txBody>
      </p:sp>
      <p:sp>
        <p:nvSpPr>
          <p:cNvPr id="38931" name="Line 19"/>
          <p:cNvSpPr>
            <a:spLocks noChangeShapeType="1"/>
          </p:cNvSpPr>
          <p:nvPr/>
        </p:nvSpPr>
        <p:spPr bwMode="auto">
          <a:xfrm flipH="1">
            <a:off x="5411819" y="5608620"/>
            <a:ext cx="1079500" cy="0"/>
          </a:xfrm>
          <a:prstGeom prst="line">
            <a:avLst/>
          </a:prstGeom>
          <a:noFill/>
          <a:ln w="38100">
            <a:solidFill>
              <a:schemeClr val="tx1"/>
            </a:solidFill>
            <a:round/>
            <a:headEnd/>
            <a:tailEnd type="triangle" w="med" len="med"/>
          </a:ln>
          <a:effectLst/>
        </p:spPr>
        <p:txBody>
          <a:bodyPr/>
          <a:lstStyle/>
          <a:p>
            <a:endParaRPr lang="zh-CN" altLang="en-US"/>
          </a:p>
        </p:txBody>
      </p:sp>
      <p:sp>
        <p:nvSpPr>
          <p:cNvPr id="38932" name="Line 20"/>
          <p:cNvSpPr>
            <a:spLocks noChangeShapeType="1"/>
          </p:cNvSpPr>
          <p:nvPr/>
        </p:nvSpPr>
        <p:spPr bwMode="auto">
          <a:xfrm>
            <a:off x="8004207" y="3952859"/>
            <a:ext cx="0" cy="1079500"/>
          </a:xfrm>
          <a:prstGeom prst="line">
            <a:avLst/>
          </a:prstGeom>
          <a:noFill/>
          <a:ln w="38100">
            <a:solidFill>
              <a:schemeClr val="tx1"/>
            </a:solidFill>
            <a:round/>
            <a:headEnd/>
            <a:tailEnd type="triangle" w="med" len="med"/>
          </a:ln>
          <a:effectLst/>
        </p:spPr>
        <p:txBody>
          <a:bodyPr/>
          <a:lstStyle/>
          <a:p>
            <a:endParaRPr lang="zh-CN" altLang="en-US"/>
          </a:p>
        </p:txBody>
      </p:sp>
      <p:sp>
        <p:nvSpPr>
          <p:cNvPr id="38933" name="Text Box 21"/>
          <p:cNvSpPr txBox="1">
            <a:spLocks noChangeArrowheads="1"/>
          </p:cNvSpPr>
          <p:nvPr/>
        </p:nvSpPr>
        <p:spPr bwMode="auto">
          <a:xfrm>
            <a:off x="5138770" y="4960926"/>
            <a:ext cx="1441420" cy="307777"/>
          </a:xfrm>
          <a:prstGeom prst="rect">
            <a:avLst/>
          </a:prstGeom>
          <a:solidFill>
            <a:srgbClr val="CCFFCC"/>
          </a:solidFill>
          <a:ln w="19050">
            <a:solidFill>
              <a:schemeClr val="bg2"/>
            </a:solidFill>
            <a:prstDash val="sysDot"/>
            <a:miter lim="800000"/>
            <a:headEnd/>
            <a:tailEnd/>
          </a:ln>
          <a:effectLst>
            <a:outerShdw dist="107763" dir="2700000" algn="ctr" rotWithShape="0">
              <a:schemeClr val="bg2">
                <a:alpha val="50000"/>
              </a:schemeClr>
            </a:outerShdw>
          </a:effectLst>
        </p:spPr>
        <p:txBody>
          <a:bodyPr wrap="none">
            <a:spAutoFit/>
          </a:bodyPr>
          <a:lstStyle/>
          <a:p>
            <a:pPr algn="ctr"/>
            <a:r>
              <a:rPr kumimoji="1" lang="zh-CN" altLang="en-US" sz="1400" dirty="0">
                <a:ea typeface="新細明體" pitchFamily="18" charset="-120"/>
              </a:rPr>
              <a:t>小部分特征训练</a:t>
            </a:r>
          </a:p>
        </p:txBody>
      </p:sp>
      <p:sp>
        <p:nvSpPr>
          <p:cNvPr id="38934" name="Text Box 22"/>
          <p:cNvSpPr txBox="1">
            <a:spLocks noChangeArrowheads="1"/>
          </p:cNvSpPr>
          <p:nvPr/>
        </p:nvSpPr>
        <p:spPr bwMode="auto">
          <a:xfrm>
            <a:off x="2690850" y="4737089"/>
            <a:ext cx="902811" cy="307777"/>
          </a:xfrm>
          <a:prstGeom prst="rect">
            <a:avLst/>
          </a:prstGeom>
          <a:solidFill>
            <a:schemeClr val="bg1"/>
          </a:solidFill>
          <a:ln w="38100">
            <a:solidFill>
              <a:schemeClr val="bg2"/>
            </a:solidFill>
            <a:miter lim="800000"/>
            <a:headEnd/>
            <a:tailEnd/>
          </a:ln>
          <a:effectLst>
            <a:outerShdw dist="107763" dir="2700000" algn="ctr" rotWithShape="0">
              <a:schemeClr val="bg2">
                <a:alpha val="50000"/>
              </a:schemeClr>
            </a:outerShdw>
          </a:effectLst>
        </p:spPr>
        <p:txBody>
          <a:bodyPr wrap="none">
            <a:spAutoFit/>
          </a:bodyPr>
          <a:lstStyle/>
          <a:p>
            <a:pPr algn="ctr"/>
            <a:r>
              <a:rPr kumimoji="1" lang="zh-CN" altLang="en-US" sz="1400" dirty="0">
                <a:latin typeface="Garamond" pitchFamily="18" charset="0"/>
                <a:ea typeface="新細明體" pitchFamily="18" charset="-120"/>
              </a:rPr>
              <a:t>级联结构</a:t>
            </a:r>
          </a:p>
        </p:txBody>
      </p:sp>
      <p:sp>
        <p:nvSpPr>
          <p:cNvPr id="38935" name="Line 23"/>
          <p:cNvSpPr>
            <a:spLocks noChangeShapeType="1"/>
          </p:cNvSpPr>
          <p:nvPr/>
        </p:nvSpPr>
        <p:spPr bwMode="auto">
          <a:xfrm flipV="1">
            <a:off x="5916645" y="1936739"/>
            <a:ext cx="1079500" cy="503237"/>
          </a:xfrm>
          <a:prstGeom prst="line">
            <a:avLst/>
          </a:prstGeom>
          <a:noFill/>
          <a:ln w="38100">
            <a:solidFill>
              <a:schemeClr val="tx1"/>
            </a:solidFill>
            <a:round/>
            <a:headEnd/>
            <a:tailEnd type="triangle" w="med" len="med"/>
          </a:ln>
          <a:effectLst/>
        </p:spPr>
        <p:txBody>
          <a:bodyPr/>
          <a:lstStyle/>
          <a:p>
            <a:endParaRPr lang="zh-CN" altLang="en-US"/>
          </a:p>
        </p:txBody>
      </p:sp>
      <p:sp>
        <p:nvSpPr>
          <p:cNvPr id="38936" name="Line 24"/>
          <p:cNvSpPr>
            <a:spLocks noChangeShapeType="1"/>
          </p:cNvSpPr>
          <p:nvPr/>
        </p:nvSpPr>
        <p:spPr bwMode="auto">
          <a:xfrm>
            <a:off x="5916649" y="2439977"/>
            <a:ext cx="1008063" cy="144463"/>
          </a:xfrm>
          <a:prstGeom prst="line">
            <a:avLst/>
          </a:prstGeom>
          <a:noFill/>
          <a:ln w="38100">
            <a:solidFill>
              <a:schemeClr val="tx1"/>
            </a:solidFill>
            <a:round/>
            <a:headEnd/>
            <a:tailEnd type="triangle" w="med" len="med"/>
          </a:ln>
          <a:effectLst/>
        </p:spPr>
        <p:txBody>
          <a:bodyPr/>
          <a:lstStyle/>
          <a:p>
            <a:endParaRPr lang="zh-CN" altLang="en-US"/>
          </a:p>
        </p:txBody>
      </p:sp>
      <p:sp>
        <p:nvSpPr>
          <p:cNvPr id="38937" name="Line 25"/>
          <p:cNvSpPr>
            <a:spLocks noChangeShapeType="1"/>
          </p:cNvSpPr>
          <p:nvPr/>
        </p:nvSpPr>
        <p:spPr bwMode="auto">
          <a:xfrm>
            <a:off x="5916645" y="2439977"/>
            <a:ext cx="1079500" cy="936625"/>
          </a:xfrm>
          <a:prstGeom prst="line">
            <a:avLst/>
          </a:prstGeom>
          <a:noFill/>
          <a:ln w="38100">
            <a:solidFill>
              <a:schemeClr val="tx1"/>
            </a:solidFill>
            <a:round/>
            <a:headEnd/>
            <a:tailEnd type="triangle" w="med" len="med"/>
          </a:ln>
          <a:effectLst/>
        </p:spPr>
        <p:txBody>
          <a:bodyPr/>
          <a:lstStyle/>
          <a:p>
            <a:endParaRPr lang="zh-CN" altLang="en-US"/>
          </a:p>
        </p:txBody>
      </p:sp>
      <p:sp>
        <p:nvSpPr>
          <p:cNvPr id="38938" name="Line 26"/>
          <p:cNvSpPr>
            <a:spLocks noChangeShapeType="1"/>
          </p:cNvSpPr>
          <p:nvPr/>
        </p:nvSpPr>
        <p:spPr bwMode="auto">
          <a:xfrm>
            <a:off x="3467131" y="2512995"/>
            <a:ext cx="649288" cy="0"/>
          </a:xfrm>
          <a:prstGeom prst="line">
            <a:avLst/>
          </a:prstGeom>
          <a:noFill/>
          <a:ln w="38100">
            <a:solidFill>
              <a:schemeClr val="tx1"/>
            </a:solidFill>
            <a:round/>
            <a:headEnd/>
            <a:tailEnd type="triangle" w="med" len="med"/>
          </a:ln>
          <a:effectLst/>
        </p:spPr>
        <p:txBody>
          <a:bodyPr/>
          <a:lstStyle/>
          <a:p>
            <a:endParaRPr lang="zh-CN" altLang="en-US"/>
          </a:p>
        </p:txBody>
      </p:sp>
      <p:sp>
        <p:nvSpPr>
          <p:cNvPr id="38939" name="Rectangle 27"/>
          <p:cNvSpPr>
            <a:spLocks noChangeArrowheads="1"/>
          </p:cNvSpPr>
          <p:nvPr/>
        </p:nvSpPr>
        <p:spPr bwMode="auto">
          <a:xfrm>
            <a:off x="3717960" y="3905239"/>
            <a:ext cx="287339" cy="827087"/>
          </a:xfrm>
          <a:prstGeom prst="rect">
            <a:avLst/>
          </a:prstGeom>
          <a:solidFill>
            <a:srgbClr val="666699"/>
          </a:solidFill>
          <a:ln w="38100">
            <a:noFill/>
            <a:miter lim="800000"/>
            <a:headEnd/>
            <a:tailEnd/>
          </a:ln>
          <a:effectLst/>
        </p:spPr>
        <p:txBody>
          <a:bodyPr wrap="none" anchor="ctr"/>
          <a:lstStyle/>
          <a:p>
            <a:endParaRPr lang="zh-CN" altLang="en-US"/>
          </a:p>
        </p:txBody>
      </p:sp>
      <p:sp>
        <p:nvSpPr>
          <p:cNvPr id="38940" name="Rectangle 28"/>
          <p:cNvSpPr>
            <a:spLocks noChangeArrowheads="1"/>
          </p:cNvSpPr>
          <p:nvPr/>
        </p:nvSpPr>
        <p:spPr bwMode="auto">
          <a:xfrm>
            <a:off x="3827497" y="6208702"/>
            <a:ext cx="1223963" cy="144463"/>
          </a:xfrm>
          <a:prstGeom prst="rect">
            <a:avLst/>
          </a:prstGeom>
          <a:solidFill>
            <a:srgbClr val="666699"/>
          </a:solidFill>
          <a:ln w="38100">
            <a:noFill/>
            <a:miter lim="800000"/>
            <a:headEnd/>
            <a:tailEnd/>
          </a:ln>
          <a:effectLst/>
        </p:spPr>
        <p:txBody>
          <a:bodyPr wrap="none" anchor="ctr"/>
          <a:lstStyle/>
          <a:p>
            <a:endParaRPr lang="zh-CN" altLang="en-US"/>
          </a:p>
        </p:txBody>
      </p:sp>
      <p:pic>
        <p:nvPicPr>
          <p:cNvPr id="38941" name="Picture 29" descr="snap"/>
          <p:cNvPicPr>
            <a:picLocks noChangeAspect="1" noChangeArrowheads="1"/>
          </p:cNvPicPr>
          <p:nvPr/>
        </p:nvPicPr>
        <p:blipFill>
          <a:blip r:embed="rId3" cstate="print"/>
          <a:srcRect/>
          <a:stretch>
            <a:fillRect/>
          </a:stretch>
        </p:blipFill>
        <p:spPr bwMode="auto">
          <a:xfrm>
            <a:off x="9228170" y="1649402"/>
            <a:ext cx="342900" cy="561975"/>
          </a:xfrm>
          <a:prstGeom prst="rect">
            <a:avLst/>
          </a:prstGeom>
          <a:noFill/>
        </p:spPr>
      </p:pic>
      <p:pic>
        <p:nvPicPr>
          <p:cNvPr id="38942" name="Picture 30" descr="snap"/>
          <p:cNvPicPr>
            <a:picLocks noChangeAspect="1" noChangeArrowheads="1"/>
          </p:cNvPicPr>
          <p:nvPr/>
        </p:nvPicPr>
        <p:blipFill>
          <a:blip r:embed="rId4" cstate="print"/>
          <a:srcRect/>
          <a:stretch>
            <a:fillRect/>
          </a:stretch>
        </p:blipFill>
        <p:spPr bwMode="auto">
          <a:xfrm>
            <a:off x="9299613" y="2513001"/>
            <a:ext cx="428625" cy="219075"/>
          </a:xfrm>
          <a:prstGeom prst="rect">
            <a:avLst/>
          </a:prstGeom>
          <a:noFill/>
        </p:spPr>
      </p:pic>
      <p:pic>
        <p:nvPicPr>
          <p:cNvPr id="38943" name="Picture 31" descr="snap"/>
          <p:cNvPicPr>
            <a:picLocks noChangeAspect="1" noChangeArrowheads="1"/>
          </p:cNvPicPr>
          <p:nvPr/>
        </p:nvPicPr>
        <p:blipFill>
          <a:blip r:embed="rId5" cstate="print"/>
          <a:srcRect/>
          <a:stretch>
            <a:fillRect/>
          </a:stretch>
        </p:blipFill>
        <p:spPr bwMode="auto">
          <a:xfrm>
            <a:off x="9299607" y="3160695"/>
            <a:ext cx="304800" cy="495300"/>
          </a:xfrm>
          <a:prstGeom prst="rect">
            <a:avLst/>
          </a:prstGeom>
          <a:noFill/>
        </p:spPr>
      </p:pic>
      <p:sp>
        <p:nvSpPr>
          <p:cNvPr id="31" name="灯片编号占位符 30"/>
          <p:cNvSpPr>
            <a:spLocks noGrp="1"/>
          </p:cNvSpPr>
          <p:nvPr>
            <p:ph type="sldNum" sz="quarter" idx="11"/>
          </p:nvPr>
        </p:nvSpPr>
        <p:spPr/>
        <p:txBody>
          <a:bodyPr/>
          <a:lstStyle/>
          <a:p>
            <a:pPr>
              <a:defRPr/>
            </a:pPr>
            <a:fld id="{31E287EE-1289-4991-82CE-EFE584F53F4F}" type="slidenum">
              <a:rPr lang="en-US" altLang="zh-CN" smtClean="0"/>
              <a:pPr>
                <a:defRPr/>
              </a:pPr>
              <a:t>28</a:t>
            </a:fld>
            <a:endParaRPr lang="en-US" altLang="zh-C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ltLang="zh-CN" dirty="0"/>
              <a:t>12.3 </a:t>
            </a:r>
            <a:r>
              <a:rPr lang="zh-CN" altLang="en-US" dirty="0"/>
              <a:t>实例分析</a:t>
            </a:r>
          </a:p>
        </p:txBody>
      </p:sp>
      <p:pic>
        <p:nvPicPr>
          <p:cNvPr id="4099" name="Picture 3" descr="5dd2e9274630967b4600f"/>
          <p:cNvPicPr>
            <a:picLocks noGrp="1" noChangeAspect="1" noChangeArrowheads="1"/>
          </p:cNvPicPr>
          <p:nvPr>
            <p:ph idx="1"/>
          </p:nvPr>
        </p:nvPicPr>
        <p:blipFill>
          <a:blip r:embed="rId2" cstate="print"/>
          <a:srcRect/>
          <a:stretch>
            <a:fillRect/>
          </a:stretch>
        </p:blipFill>
        <p:spPr>
          <a:xfrm>
            <a:off x="0" y="980728"/>
            <a:ext cx="6187533" cy="6239393"/>
          </a:xfrm>
          <a:ln/>
        </p:spPr>
      </p:pic>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29</a:t>
            </a:fld>
            <a:endParaRPr lang="en-US" altLang="zh-CN" dirty="0"/>
          </a:p>
        </p:txBody>
      </p:sp>
      <p:sp>
        <p:nvSpPr>
          <p:cNvPr id="5" name="Text Box 2"/>
          <p:cNvSpPr txBox="1">
            <a:spLocks noChangeArrowheads="1"/>
          </p:cNvSpPr>
          <p:nvPr/>
        </p:nvSpPr>
        <p:spPr bwMode="auto">
          <a:xfrm>
            <a:off x="7114762" y="1128233"/>
            <a:ext cx="4309830" cy="5078313"/>
          </a:xfrm>
          <a:prstGeom prst="rect">
            <a:avLst/>
          </a:prstGeom>
          <a:noFill/>
          <a:ln w="9525">
            <a:noFill/>
            <a:miter lim="800000"/>
            <a:headEnd/>
            <a:tailEnd/>
          </a:ln>
          <a:effectLst/>
        </p:spPr>
        <p:txBody>
          <a:bodyPr wrap="square">
            <a:spAutoFit/>
          </a:bodyPr>
          <a:lstStyle/>
          <a:p>
            <a:pPr algn="just"/>
            <a:r>
              <a:rPr lang="zh-CN" altLang="en-US" b="1" dirty="0">
                <a:latin typeface="宋体" panose="02010600030101010101" pitchFamily="2" charset="-122"/>
                <a:ea typeface="宋体" panose="02010600030101010101" pitchFamily="2" charset="-122"/>
              </a:rPr>
              <a:t>训练系统分为“训练部分”和“补充部分”，1-4为训练部分，5为补充部分。</a:t>
            </a:r>
            <a:endParaRPr lang="en-US" altLang="zh-CN" b="1" dirty="0">
              <a:latin typeface="宋体" panose="02010600030101010101" pitchFamily="2" charset="-122"/>
              <a:ea typeface="宋体" panose="02010600030101010101" pitchFamily="2" charset="-122"/>
            </a:endParaRPr>
          </a:p>
          <a:p>
            <a:pPr algn="just"/>
            <a:endParaRPr lang="zh-CN" altLang="en-US" b="1" dirty="0">
              <a:latin typeface="宋体" panose="02010600030101010101" pitchFamily="2" charset="-122"/>
              <a:ea typeface="宋体" panose="02010600030101010101" pitchFamily="2" charset="-122"/>
            </a:endParaRPr>
          </a:p>
          <a:p>
            <a:pPr algn="just"/>
            <a:r>
              <a:rPr lang="zh-CN" altLang="en-US" b="1" dirty="0">
                <a:latin typeface="宋体" panose="02010600030101010101" pitchFamily="2" charset="-122"/>
                <a:ea typeface="宋体" panose="02010600030101010101" pitchFamily="2" charset="-122"/>
              </a:rPr>
              <a:t>    1、以样本集为输入，在给定的矩形特征原型下，计算并获得矩形特征集;</a:t>
            </a:r>
          </a:p>
          <a:p>
            <a:pPr algn="just"/>
            <a:r>
              <a:rPr lang="zh-CN" altLang="en-US" b="1" dirty="0">
                <a:latin typeface="宋体" panose="02010600030101010101" pitchFamily="2" charset="-122"/>
                <a:ea typeface="宋体" panose="02010600030101010101" pitchFamily="2" charset="-122"/>
              </a:rPr>
              <a:t>    2、以特征集为输入，根据给定的弱学习算法，确定阈值，将特征与弱分类器一一对应，获得弱分类器集;</a:t>
            </a:r>
          </a:p>
          <a:p>
            <a:pPr algn="just"/>
            <a:r>
              <a:rPr lang="zh-CN" altLang="en-US" b="1" dirty="0">
                <a:latin typeface="宋体" panose="02010600030101010101" pitchFamily="2" charset="-122"/>
                <a:ea typeface="宋体" panose="02010600030101010101" pitchFamily="2" charset="-122"/>
              </a:rPr>
              <a:t>     3、以弱分类器集为输入，在训练检出率和误判率限制下，使用AdaBoost 算法挑选最优的弱分类器构成强分类器;</a:t>
            </a:r>
          </a:p>
          <a:p>
            <a:pPr algn="just"/>
            <a:r>
              <a:rPr lang="zh-CN" altLang="en-US" b="1" dirty="0">
                <a:latin typeface="宋体" panose="02010600030101010101" pitchFamily="2" charset="-122"/>
                <a:ea typeface="宋体" panose="02010600030101010101" pitchFamily="2" charset="-122"/>
              </a:rPr>
              <a:t>    4、以强分类器集为输入，将其组合为级联分类器;</a:t>
            </a:r>
            <a:endParaRPr lang="en-US" altLang="zh-CN" b="1" dirty="0">
              <a:latin typeface="宋体" panose="02010600030101010101" pitchFamily="2" charset="-122"/>
              <a:ea typeface="宋体" panose="02010600030101010101" pitchFamily="2" charset="-122"/>
            </a:endParaRPr>
          </a:p>
          <a:p>
            <a:pPr algn="just"/>
            <a:endParaRPr lang="zh-CN" altLang="en-US" b="1" dirty="0">
              <a:latin typeface="宋体" panose="02010600030101010101" pitchFamily="2" charset="-122"/>
              <a:ea typeface="宋体" panose="02010600030101010101" pitchFamily="2" charset="-122"/>
            </a:endParaRPr>
          </a:p>
          <a:p>
            <a:pPr algn="just"/>
            <a:r>
              <a:rPr lang="zh-CN" altLang="en-US" b="1" dirty="0">
                <a:latin typeface="宋体" panose="02010600030101010101" pitchFamily="2" charset="-122"/>
                <a:ea typeface="宋体" panose="02010600030101010101" pitchFamily="2" charset="-122"/>
              </a:rPr>
              <a:t>    5、以非人脸图片集为输入，组合强分类器为临时的级联分类器，筛选并补充非人脸样本。</a:t>
            </a:r>
          </a:p>
          <a:p>
            <a:pPr algn="just"/>
            <a:endParaRPr lang="zh-CN" altLang="en-US" b="1" dirty="0">
              <a:latin typeface="宋体" panose="02010600030101010101" pitchFamily="2" charset="-122"/>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4978" name="Picture 2" descr="I:\新建文件夹\集成学习\1338796904_2861.JPG"/>
          <p:cNvPicPr>
            <a:picLocks noChangeAspect="1" noChangeArrowheads="1"/>
          </p:cNvPicPr>
          <p:nvPr/>
        </p:nvPicPr>
        <p:blipFill>
          <a:blip r:embed="rId2" cstate="print"/>
          <a:srcRect/>
          <a:stretch>
            <a:fillRect/>
          </a:stretch>
        </p:blipFill>
        <p:spPr bwMode="auto">
          <a:xfrm>
            <a:off x="6848276" y="3655506"/>
            <a:ext cx="4211960" cy="2968819"/>
          </a:xfrm>
          <a:prstGeom prst="rect">
            <a:avLst/>
          </a:prstGeom>
          <a:noFill/>
        </p:spPr>
      </p:pic>
      <p:pic>
        <p:nvPicPr>
          <p:cNvPr id="5" name="Picture 4"/>
          <p:cNvPicPr>
            <a:picLocks noChangeAspect="1" noChangeArrowheads="1"/>
          </p:cNvPicPr>
          <p:nvPr/>
        </p:nvPicPr>
        <p:blipFill>
          <a:blip r:embed="rId3" cstate="print"/>
          <a:srcRect/>
          <a:stretch>
            <a:fillRect/>
          </a:stretch>
        </p:blipFill>
        <p:spPr bwMode="auto">
          <a:xfrm>
            <a:off x="1343472" y="3936676"/>
            <a:ext cx="5343591" cy="2245857"/>
          </a:xfrm>
          <a:prstGeom prst="rect">
            <a:avLst/>
          </a:prstGeom>
          <a:noFill/>
          <a:ln w="9525">
            <a:noFill/>
            <a:miter lim="800000"/>
            <a:headEnd/>
            <a:tailEnd/>
          </a:ln>
          <a:effectLst/>
        </p:spPr>
      </p:pic>
      <p:sp>
        <p:nvSpPr>
          <p:cNvPr id="7170" name="Rectangle 2"/>
          <p:cNvSpPr>
            <a:spLocks noGrp="1" noChangeArrowheads="1"/>
          </p:cNvSpPr>
          <p:nvPr>
            <p:ph type="title"/>
          </p:nvPr>
        </p:nvSpPr>
        <p:spPr>
          <a:xfrm>
            <a:off x="1775520" y="69953"/>
            <a:ext cx="8229600" cy="766763"/>
          </a:xfrm>
        </p:spPr>
        <p:txBody>
          <a:bodyPr/>
          <a:lstStyle/>
          <a:p>
            <a:r>
              <a:rPr lang="en-US" altLang="zh-CN" dirty="0"/>
              <a:t>12.3 </a:t>
            </a:r>
            <a:r>
              <a:rPr lang="zh-CN" altLang="en-US" dirty="0"/>
              <a:t>实例分析</a:t>
            </a:r>
            <a:r>
              <a:rPr lang="en-US" altLang="zh-CN" dirty="0"/>
              <a:t>--</a:t>
            </a:r>
            <a:r>
              <a:rPr lang="zh-CN" altLang="en-US" dirty="0"/>
              <a:t>矩形特征</a:t>
            </a:r>
          </a:p>
        </p:txBody>
      </p:sp>
      <p:sp>
        <p:nvSpPr>
          <p:cNvPr id="7171" name="Rectangle 3"/>
          <p:cNvSpPr>
            <a:spLocks noGrp="1" noChangeArrowheads="1"/>
          </p:cNvSpPr>
          <p:nvPr>
            <p:ph type="body" idx="1"/>
          </p:nvPr>
        </p:nvSpPr>
        <p:spPr>
          <a:xfrm>
            <a:off x="1343472" y="1287471"/>
            <a:ext cx="10009112" cy="4648200"/>
          </a:xfrm>
        </p:spPr>
        <p:txBody>
          <a:bodyPr/>
          <a:lstStyle/>
          <a:p>
            <a:pPr algn="just">
              <a:lnSpc>
                <a:spcPct val="90000"/>
              </a:lnSpc>
            </a:pPr>
            <a:r>
              <a:rPr lang="en-US" sz="2200" b="1" dirty="0">
                <a:latin typeface="华文宋体" panose="02010600040101010101" pitchFamily="2" charset="-122"/>
                <a:ea typeface="华文宋体" panose="02010600040101010101" pitchFamily="2" charset="-122"/>
              </a:rPr>
              <a:t>Viola</a:t>
            </a:r>
            <a:r>
              <a:rPr lang="zh-CN" altLang="en-US" sz="2200" b="1" dirty="0">
                <a:latin typeface="华文宋体" panose="02010600040101010101" pitchFamily="2" charset="-122"/>
                <a:ea typeface="华文宋体" panose="02010600040101010101" pitchFamily="2" charset="-122"/>
              </a:rPr>
              <a:t>和</a:t>
            </a:r>
            <a:r>
              <a:rPr lang="en-US" sz="2200" b="1" dirty="0" err="1">
                <a:latin typeface="华文宋体" panose="02010600040101010101" pitchFamily="2" charset="-122"/>
                <a:ea typeface="华文宋体" panose="02010600040101010101" pitchFamily="2" charset="-122"/>
              </a:rPr>
              <a:t>Jone</a:t>
            </a:r>
            <a:r>
              <a:rPr lang="zh-CN" altLang="en-US" sz="2200" b="1" dirty="0">
                <a:latin typeface="华文宋体" panose="02010600040101010101" pitchFamily="2" charset="-122"/>
                <a:ea typeface="华文宋体" panose="02010600040101010101" pitchFamily="2" charset="-122"/>
              </a:rPr>
              <a:t>将</a:t>
            </a:r>
            <a:r>
              <a:rPr lang="en-US" sz="2200" b="1" dirty="0" err="1">
                <a:latin typeface="华文宋体" panose="02010600040101010101" pitchFamily="2" charset="-122"/>
                <a:ea typeface="华文宋体" panose="02010600040101010101" pitchFamily="2" charset="-122"/>
              </a:rPr>
              <a:t>Adaboost</a:t>
            </a:r>
            <a:r>
              <a:rPr lang="zh-CN" altLang="en-US" sz="2200" b="1" dirty="0">
                <a:latin typeface="华文宋体" panose="02010600040101010101" pitchFamily="2" charset="-122"/>
                <a:ea typeface="华文宋体" panose="02010600040101010101" pitchFamily="2" charset="-122"/>
              </a:rPr>
              <a:t>应用于人脸检测，在保证检测率的同时，首次使得人脸检测达到了</a:t>
            </a:r>
            <a:r>
              <a:rPr lang="zh-CN" altLang="en-US" sz="2200" b="1" dirty="0">
                <a:solidFill>
                  <a:srgbClr val="FF0000"/>
                </a:solidFill>
                <a:latin typeface="华文宋体" panose="02010600040101010101" pitchFamily="2" charset="-122"/>
                <a:ea typeface="华文宋体" panose="02010600040101010101" pitchFamily="2" charset="-122"/>
              </a:rPr>
              <a:t>实时的速度</a:t>
            </a:r>
            <a:r>
              <a:rPr lang="zh-CN" altLang="en-US" sz="2200" b="1" dirty="0">
                <a:solidFill>
                  <a:schemeClr val="hlink"/>
                </a:solidFill>
                <a:latin typeface="华文宋体" panose="02010600040101010101" pitchFamily="2" charset="-122"/>
                <a:ea typeface="华文宋体" panose="02010600040101010101" pitchFamily="2" charset="-122"/>
              </a:rPr>
              <a:t>。</a:t>
            </a:r>
          </a:p>
          <a:p>
            <a:pPr algn="just">
              <a:lnSpc>
                <a:spcPct val="90000"/>
              </a:lnSpc>
            </a:pPr>
            <a:r>
              <a:rPr lang="zh-CN" altLang="en-US" sz="2200" b="1" dirty="0">
                <a:latin typeface="华文宋体" panose="02010600040101010101" pitchFamily="2" charset="-122"/>
                <a:ea typeface="华文宋体" panose="02010600040101010101" pitchFamily="2" charset="-122"/>
              </a:rPr>
              <a:t>为保证</a:t>
            </a:r>
            <a:r>
              <a:rPr lang="en-US" sz="2200" b="1" dirty="0" err="1">
                <a:latin typeface="华文宋体" panose="02010600040101010101" pitchFamily="2" charset="-122"/>
                <a:ea typeface="华文宋体" panose="02010600040101010101" pitchFamily="2" charset="-122"/>
              </a:rPr>
              <a:t>Adaboost</a:t>
            </a:r>
            <a:r>
              <a:rPr lang="zh-CN" altLang="en-US" sz="2200" b="1" dirty="0">
                <a:latin typeface="华文宋体" panose="02010600040101010101" pitchFamily="2" charset="-122"/>
                <a:ea typeface="华文宋体" panose="02010600040101010101" pitchFamily="2" charset="-122"/>
              </a:rPr>
              <a:t>分类器的分类能力，选择的弱分类器一般都应该尽可能简单。</a:t>
            </a:r>
          </a:p>
          <a:p>
            <a:pPr algn="just">
              <a:lnSpc>
                <a:spcPct val="90000"/>
              </a:lnSpc>
            </a:pPr>
            <a:r>
              <a:rPr lang="zh-CN" altLang="en-US" sz="2200" b="1" dirty="0">
                <a:latin typeface="华文宋体" panose="02010600040101010101" pitchFamily="2" charset="-122"/>
                <a:ea typeface="华文宋体" panose="02010600040101010101" pitchFamily="2" charset="-122"/>
              </a:rPr>
              <a:t>在基于</a:t>
            </a:r>
            <a:r>
              <a:rPr lang="en-US" sz="2200" b="1" dirty="0" err="1">
                <a:latin typeface="华文宋体" panose="02010600040101010101" pitchFamily="2" charset="-122"/>
                <a:ea typeface="华文宋体" panose="02010600040101010101" pitchFamily="2" charset="-122"/>
              </a:rPr>
              <a:t>Adaboost</a:t>
            </a:r>
            <a:r>
              <a:rPr lang="zh-CN" altLang="en-US" sz="2200" b="1" dirty="0">
                <a:latin typeface="华文宋体" panose="02010600040101010101" pitchFamily="2" charset="-122"/>
                <a:ea typeface="华文宋体" panose="02010600040101010101" pitchFamily="2" charset="-122"/>
              </a:rPr>
              <a:t>的人脸检测系统中，</a:t>
            </a:r>
            <a:r>
              <a:rPr lang="zh-CN" altLang="en-US" sz="2200" b="1" dirty="0">
                <a:solidFill>
                  <a:srgbClr val="FF0000"/>
                </a:solidFill>
                <a:latin typeface="华文宋体" panose="02010600040101010101" pitchFamily="2" charset="-122"/>
                <a:ea typeface="华文宋体" panose="02010600040101010101" pitchFamily="2" charset="-122"/>
              </a:rPr>
              <a:t>每个弱分类器都是对图像一个特征值的判断</a:t>
            </a:r>
            <a:r>
              <a:rPr lang="zh-CN" altLang="en-US" sz="2200" b="1" dirty="0">
                <a:latin typeface="华文宋体" panose="02010600040101010101" pitchFamily="2" charset="-122"/>
                <a:ea typeface="华文宋体" panose="02010600040101010101" pitchFamily="2" charset="-122"/>
              </a:rPr>
              <a:t>，常用的特征是一种基于积分图计算的</a:t>
            </a:r>
            <a:r>
              <a:rPr lang="en-US" sz="2200" b="1" dirty="0" err="1">
                <a:latin typeface="华文宋体" panose="02010600040101010101" pitchFamily="2" charset="-122"/>
                <a:ea typeface="华文宋体" panose="02010600040101010101" pitchFamily="2" charset="-122"/>
              </a:rPr>
              <a:t>Haar</a:t>
            </a:r>
            <a:r>
              <a:rPr lang="en-US" sz="2200" b="1" dirty="0">
                <a:latin typeface="华文宋体" panose="02010600040101010101" pitchFamily="2" charset="-122"/>
                <a:ea typeface="华文宋体" panose="02010600040101010101" pitchFamily="2" charset="-122"/>
              </a:rPr>
              <a:t>-like</a:t>
            </a:r>
            <a:r>
              <a:rPr lang="zh-CN" altLang="en-US" sz="2200" b="1" dirty="0">
                <a:latin typeface="华文宋体" panose="02010600040101010101" pitchFamily="2" charset="-122"/>
                <a:ea typeface="华文宋体" panose="02010600040101010101" pitchFamily="2" charset="-122"/>
              </a:rPr>
              <a:t>特征。</a:t>
            </a:r>
          </a:p>
          <a:p>
            <a:pPr algn="just">
              <a:lnSpc>
                <a:spcPct val="90000"/>
              </a:lnSpc>
            </a:pPr>
            <a:endParaRPr lang="zh-CN" altLang="en-US" sz="2200" b="1" dirty="0">
              <a:latin typeface="华文宋体" panose="02010600040101010101" pitchFamily="2" charset="-122"/>
              <a:ea typeface="华文宋体" panose="02010600040101010101" pitchFamily="2" charset="-122"/>
            </a:endParaRPr>
          </a:p>
          <a:p>
            <a:pPr algn="just">
              <a:lnSpc>
                <a:spcPct val="90000"/>
              </a:lnSpc>
            </a:pPr>
            <a:endParaRPr lang="zh-CN" altLang="en-US" sz="2200" b="1" dirty="0">
              <a:latin typeface="华文宋体" panose="02010600040101010101" pitchFamily="2" charset="-122"/>
              <a:ea typeface="华文宋体" panose="02010600040101010101" pitchFamily="2" charset="-122"/>
            </a:endParaRPr>
          </a:p>
        </p:txBody>
      </p:sp>
      <p:sp>
        <p:nvSpPr>
          <p:cNvPr id="4" name="Rectangle 3"/>
          <p:cNvSpPr txBox="1">
            <a:spLocks noChangeArrowheads="1"/>
          </p:cNvSpPr>
          <p:nvPr/>
        </p:nvSpPr>
        <p:spPr bwMode="gray">
          <a:xfrm>
            <a:off x="1343472" y="3068960"/>
            <a:ext cx="10009112" cy="25397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891" indent="-342891" algn="just" eaLnBrk="0" hangingPunct="0">
              <a:spcBef>
                <a:spcPct val="20000"/>
              </a:spcBef>
              <a:buClr>
                <a:schemeClr val="tx2"/>
              </a:buClr>
              <a:buFont typeface="Wingdings" pitchFamily="2" charset="2"/>
              <a:buChar char="v"/>
              <a:defRPr/>
            </a:pPr>
            <a:r>
              <a:rPr lang="zh-CN" altLang="en-US" sz="2200" b="1" kern="0" dirty="0">
                <a:latin typeface="宋体" panose="02010600030101010101" pitchFamily="2" charset="-122"/>
                <a:ea typeface="宋体" panose="02010600030101010101" pitchFamily="2" charset="-122"/>
              </a:rPr>
              <a:t>在</a:t>
            </a:r>
            <a:r>
              <a:rPr lang="en-US" sz="2200" b="1" kern="0" dirty="0">
                <a:latin typeface="宋体" panose="02010600030101010101" pitchFamily="2" charset="-122"/>
                <a:ea typeface="宋体" panose="02010600030101010101" pitchFamily="2" charset="-122"/>
              </a:rPr>
              <a:t>Viola</a:t>
            </a:r>
            <a:r>
              <a:rPr lang="zh-CN" altLang="en-US" sz="2200" b="1" kern="0" dirty="0">
                <a:latin typeface="宋体" panose="02010600030101010101" pitchFamily="2" charset="-122"/>
                <a:ea typeface="宋体" panose="02010600030101010101" pitchFamily="2" charset="-122"/>
              </a:rPr>
              <a:t>的方法中，使用矩形特征作为分类的依据，称为</a:t>
            </a:r>
            <a:r>
              <a:rPr lang="en-US" sz="2200" b="1" kern="0" dirty="0" err="1">
                <a:latin typeface="宋体" panose="02010600030101010101" pitchFamily="2" charset="-122"/>
                <a:ea typeface="宋体" panose="02010600030101010101" pitchFamily="2" charset="-122"/>
              </a:rPr>
              <a:t>Haar</a:t>
            </a:r>
            <a:r>
              <a:rPr lang="zh-CN" altLang="en-US" sz="2200" b="1" kern="0" dirty="0">
                <a:latin typeface="宋体" panose="02010600030101010101" pitchFamily="2" charset="-122"/>
                <a:ea typeface="宋体" panose="02010600030101010101" pitchFamily="2" charset="-122"/>
              </a:rPr>
              <a:t>特征。典型的矩阵特征由</a:t>
            </a:r>
            <a:r>
              <a:rPr lang="en-US" sz="2200" b="1" kern="0" dirty="0">
                <a:latin typeface="宋体" panose="02010600030101010101" pitchFamily="2" charset="-122"/>
                <a:ea typeface="宋体" panose="02010600030101010101" pitchFamily="2" charset="-122"/>
              </a:rPr>
              <a:t>2</a:t>
            </a:r>
            <a:r>
              <a:rPr lang="zh-CN" altLang="en-US" sz="2200" b="1" kern="0" dirty="0">
                <a:latin typeface="宋体" panose="02010600030101010101" pitchFamily="2" charset="-122"/>
                <a:ea typeface="宋体" panose="02010600030101010101" pitchFamily="2" charset="-122"/>
              </a:rPr>
              <a:t>到</a:t>
            </a:r>
            <a:r>
              <a:rPr lang="en-US" sz="2200" b="1" kern="0" dirty="0">
                <a:latin typeface="宋体" panose="02010600030101010101" pitchFamily="2" charset="-122"/>
                <a:ea typeface="宋体" panose="02010600030101010101" pitchFamily="2" charset="-122"/>
              </a:rPr>
              <a:t>4</a:t>
            </a:r>
            <a:r>
              <a:rPr lang="zh-CN" altLang="en-US" sz="2200" b="1" kern="0" dirty="0">
                <a:latin typeface="宋体" panose="02010600030101010101" pitchFamily="2" charset="-122"/>
                <a:ea typeface="宋体" panose="02010600030101010101" pitchFamily="2" charset="-122"/>
              </a:rPr>
              <a:t>个矩形组成，分别对应于边界、细线</a:t>
            </a:r>
            <a:r>
              <a:rPr lang="en-US" sz="2200" b="1" kern="0" dirty="0">
                <a:latin typeface="宋体" panose="02010600030101010101" pitchFamily="2" charset="-122"/>
                <a:ea typeface="宋体" panose="02010600030101010101" pitchFamily="2" charset="-122"/>
              </a:rPr>
              <a:t>/</a:t>
            </a:r>
            <a:r>
              <a:rPr lang="zh-CN" altLang="en-US" sz="2200" b="1" kern="0" dirty="0">
                <a:latin typeface="宋体" panose="02010600030101010101" pitchFamily="2" charset="-122"/>
                <a:ea typeface="宋体" panose="02010600030101010101" pitchFamily="2" charset="-122"/>
              </a:rPr>
              <a:t>棒或者对角线特征。</a:t>
            </a:r>
            <a:endParaRPr lang="zh-CN" altLang="en-US" sz="2200" b="1" kern="0" dirty="0">
              <a:solidFill>
                <a:srgbClr val="FF0000"/>
              </a:solidFill>
              <a:latin typeface="宋体" panose="02010600030101010101" pitchFamily="2" charset="-122"/>
              <a:ea typeface="宋体" panose="02010600030101010101" pitchFamily="2" charset="-122"/>
            </a:endParaRPr>
          </a:p>
        </p:txBody>
      </p:sp>
      <p:sp>
        <p:nvSpPr>
          <p:cNvPr id="6" name="灯片编号占位符 5"/>
          <p:cNvSpPr>
            <a:spLocks noGrp="1"/>
          </p:cNvSpPr>
          <p:nvPr>
            <p:ph type="sldNum" sz="quarter" idx="11"/>
          </p:nvPr>
        </p:nvSpPr>
        <p:spPr/>
        <p:txBody>
          <a:bodyPr/>
          <a:lstStyle/>
          <a:p>
            <a:pPr>
              <a:defRPr/>
            </a:pPr>
            <a:fld id="{31E287EE-1289-4991-82CE-EFE584F53F4F}" type="slidenum">
              <a:rPr lang="en-US" altLang="zh-CN" smtClean="0"/>
              <a:pPr>
                <a:defRPr/>
              </a:pPr>
              <a:t>30</a:t>
            </a:fld>
            <a:endParaRPr lang="en-US" altLang="zh-C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 name="Picture 4"/>
          <p:cNvPicPr>
            <a:picLocks noChangeAspect="1" noChangeArrowheads="1"/>
          </p:cNvPicPr>
          <p:nvPr/>
        </p:nvPicPr>
        <p:blipFill>
          <a:blip r:embed="rId3" cstate="print"/>
          <a:srcRect/>
          <a:stretch>
            <a:fillRect/>
          </a:stretch>
        </p:blipFill>
        <p:spPr bwMode="auto">
          <a:xfrm>
            <a:off x="3359696" y="2636912"/>
            <a:ext cx="5731768" cy="1160864"/>
          </a:xfrm>
          <a:prstGeom prst="rect">
            <a:avLst/>
          </a:prstGeom>
          <a:noFill/>
          <a:ln w="9525">
            <a:noFill/>
            <a:miter lim="800000"/>
            <a:headEnd/>
            <a:tailEnd/>
          </a:ln>
          <a:effectLst/>
        </p:spPr>
      </p:pic>
      <p:sp>
        <p:nvSpPr>
          <p:cNvPr id="9218" name="Rectangle 2"/>
          <p:cNvSpPr>
            <a:spLocks noGrp="1" noChangeArrowheads="1"/>
          </p:cNvSpPr>
          <p:nvPr>
            <p:ph type="body" idx="1"/>
          </p:nvPr>
        </p:nvSpPr>
        <p:spPr>
          <a:xfrm>
            <a:off x="1981200" y="908720"/>
            <a:ext cx="8229600" cy="5039072"/>
          </a:xfrm>
        </p:spPr>
        <p:txBody>
          <a:bodyPr/>
          <a:lstStyle/>
          <a:p>
            <a:r>
              <a:rPr lang="zh-CN" altLang="en-US" sz="2200" dirty="0">
                <a:latin typeface="宋体" panose="02010600030101010101" pitchFamily="2" charset="-122"/>
                <a:ea typeface="宋体" panose="02010600030101010101" pitchFamily="2" charset="-122"/>
              </a:rPr>
              <a:t>后来，</a:t>
            </a:r>
            <a:r>
              <a:rPr lang="en-US" sz="2200" dirty="0" err="1">
                <a:latin typeface="宋体" panose="02010600030101010101" pitchFamily="2" charset="-122"/>
                <a:ea typeface="宋体" panose="02010600030101010101" pitchFamily="2" charset="-122"/>
              </a:rPr>
              <a:t>Lienhart</a:t>
            </a:r>
            <a:r>
              <a:rPr lang="zh-CN" altLang="en-US" sz="2200" dirty="0">
                <a:latin typeface="宋体" panose="02010600030101010101" pitchFamily="2" charset="-122"/>
                <a:ea typeface="宋体" panose="02010600030101010101" pitchFamily="2" charset="-122"/>
              </a:rPr>
              <a:t>等人提出扩展的</a:t>
            </a:r>
            <a:r>
              <a:rPr lang="en-US" sz="2200" dirty="0" err="1">
                <a:latin typeface="宋体" panose="02010600030101010101" pitchFamily="2" charset="-122"/>
                <a:ea typeface="宋体" panose="02010600030101010101" pitchFamily="2" charset="-122"/>
              </a:rPr>
              <a:t>Haar</a:t>
            </a:r>
            <a:r>
              <a:rPr lang="en-US" sz="2200" dirty="0">
                <a:latin typeface="宋体" panose="02010600030101010101" pitchFamily="2" charset="-122"/>
                <a:ea typeface="宋体" panose="02010600030101010101" pitchFamily="2" charset="-122"/>
              </a:rPr>
              <a:t>-like</a:t>
            </a:r>
            <a:r>
              <a:rPr lang="zh-CN" altLang="en-US" sz="2200" dirty="0">
                <a:latin typeface="宋体" panose="02010600030101010101" pitchFamily="2" charset="-122"/>
                <a:ea typeface="宋体" panose="02010600030101010101" pitchFamily="2" charset="-122"/>
              </a:rPr>
              <a:t>特征下图所示，每个特征由</a:t>
            </a:r>
            <a:r>
              <a:rPr lang="en-US" sz="2200" dirty="0">
                <a:latin typeface="宋体" panose="02010600030101010101" pitchFamily="2" charset="-122"/>
                <a:ea typeface="宋体" panose="02010600030101010101" pitchFamily="2" charset="-122"/>
              </a:rPr>
              <a:t>2~3</a:t>
            </a:r>
            <a:r>
              <a:rPr lang="zh-CN" altLang="en-US" sz="2200" dirty="0">
                <a:latin typeface="宋体" panose="02010600030101010101" pitchFamily="2" charset="-122"/>
                <a:ea typeface="宋体" panose="02010600030101010101" pitchFamily="2" charset="-122"/>
              </a:rPr>
              <a:t>个矩形组成，分别检测边界、细线、中心特征等。</a:t>
            </a:r>
          </a:p>
          <a:p>
            <a:endParaRPr lang="zh-CN" altLang="en-US" sz="2200" dirty="0">
              <a:latin typeface="宋体" panose="02010600030101010101" pitchFamily="2" charset="-122"/>
              <a:ea typeface="宋体" panose="02010600030101010101" pitchFamily="2" charset="-122"/>
            </a:endParaRPr>
          </a:p>
        </p:txBody>
      </p:sp>
      <p:pic>
        <p:nvPicPr>
          <p:cNvPr id="9219" name="Picture 3"/>
          <p:cNvPicPr>
            <a:picLocks noChangeAspect="1" noChangeArrowheads="1"/>
          </p:cNvPicPr>
          <p:nvPr/>
        </p:nvPicPr>
        <p:blipFill>
          <a:blip r:embed="rId4" cstate="print"/>
          <a:srcRect/>
          <a:stretch>
            <a:fillRect/>
          </a:stretch>
        </p:blipFill>
        <p:spPr bwMode="auto">
          <a:xfrm>
            <a:off x="2639616" y="1628805"/>
            <a:ext cx="3380184" cy="1103735"/>
          </a:xfrm>
          <a:prstGeom prst="rect">
            <a:avLst/>
          </a:prstGeom>
          <a:noFill/>
          <a:ln w="9525">
            <a:noFill/>
            <a:miter lim="800000"/>
            <a:headEnd/>
            <a:tailEnd/>
          </a:ln>
          <a:effectLst/>
        </p:spPr>
      </p:pic>
      <p:pic>
        <p:nvPicPr>
          <p:cNvPr id="9221" name="Picture 5"/>
          <p:cNvPicPr>
            <a:picLocks noChangeAspect="1" noChangeArrowheads="1"/>
          </p:cNvPicPr>
          <p:nvPr/>
        </p:nvPicPr>
        <p:blipFill>
          <a:blip r:embed="rId5" cstate="print"/>
          <a:srcRect/>
          <a:stretch>
            <a:fillRect/>
          </a:stretch>
        </p:blipFill>
        <p:spPr bwMode="auto">
          <a:xfrm>
            <a:off x="6960096" y="1628805"/>
            <a:ext cx="2950096" cy="1097711"/>
          </a:xfrm>
          <a:prstGeom prst="rect">
            <a:avLst/>
          </a:prstGeom>
          <a:noFill/>
          <a:ln w="9525">
            <a:noFill/>
            <a:miter lim="800000"/>
            <a:headEnd/>
            <a:tailEnd/>
          </a:ln>
          <a:effectLst/>
        </p:spPr>
      </p:pic>
      <p:sp>
        <p:nvSpPr>
          <p:cNvPr id="6" name="灯片编号占位符 5"/>
          <p:cNvSpPr>
            <a:spLocks noGrp="1"/>
          </p:cNvSpPr>
          <p:nvPr>
            <p:ph type="sldNum" sz="quarter" idx="11"/>
          </p:nvPr>
        </p:nvSpPr>
        <p:spPr/>
        <p:txBody>
          <a:bodyPr/>
          <a:lstStyle/>
          <a:p>
            <a:pPr>
              <a:defRPr/>
            </a:pPr>
            <a:fld id="{31E287EE-1289-4991-82CE-EFE584F53F4F}" type="slidenum">
              <a:rPr lang="en-US" altLang="zh-CN" smtClean="0"/>
              <a:pPr>
                <a:defRPr/>
              </a:pPr>
              <a:t>31</a:t>
            </a:fld>
            <a:endParaRPr lang="en-US" altLang="zh-CN" dirty="0"/>
          </a:p>
        </p:txBody>
      </p:sp>
      <p:sp>
        <p:nvSpPr>
          <p:cNvPr id="7" name="Rectangle 2"/>
          <p:cNvSpPr>
            <a:spLocks noGrp="1" noChangeArrowheads="1"/>
          </p:cNvSpPr>
          <p:nvPr>
            <p:ph type="title"/>
          </p:nvPr>
        </p:nvSpPr>
        <p:spPr>
          <a:xfrm>
            <a:off x="1775520" y="69953"/>
            <a:ext cx="8229600" cy="766763"/>
          </a:xfrm>
        </p:spPr>
        <p:txBody>
          <a:bodyPr/>
          <a:lstStyle/>
          <a:p>
            <a:r>
              <a:rPr lang="en-US" altLang="zh-CN" dirty="0"/>
              <a:t>12.3 </a:t>
            </a:r>
            <a:r>
              <a:rPr lang="zh-CN" altLang="en-US" dirty="0"/>
              <a:t>实例分析</a:t>
            </a:r>
            <a:r>
              <a:rPr lang="en-US" altLang="zh-CN" dirty="0"/>
              <a:t>--</a:t>
            </a:r>
            <a:r>
              <a:rPr lang="zh-CN" altLang="en-US" dirty="0"/>
              <a:t>矩形特征</a:t>
            </a:r>
          </a:p>
        </p:txBody>
      </p:sp>
      <p:sp>
        <p:nvSpPr>
          <p:cNvPr id="8" name="Rectangle 2"/>
          <p:cNvSpPr txBox="1">
            <a:spLocks noChangeArrowheads="1"/>
          </p:cNvSpPr>
          <p:nvPr/>
        </p:nvSpPr>
        <p:spPr bwMode="gray">
          <a:xfrm>
            <a:off x="1919542" y="4005064"/>
            <a:ext cx="8385175" cy="10081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891" indent="-342891" eaLnBrk="0" hangingPunct="0">
              <a:lnSpc>
                <a:spcPct val="90000"/>
              </a:lnSpc>
              <a:spcBef>
                <a:spcPct val="20000"/>
              </a:spcBef>
              <a:buClr>
                <a:schemeClr val="tx2"/>
              </a:buClr>
              <a:buFont typeface="Wingdings" pitchFamily="2" charset="2"/>
              <a:buChar char="v"/>
              <a:defRPr/>
            </a:pPr>
            <a:r>
              <a:rPr lang="zh-CN" altLang="en-US" sz="2200" kern="0" dirty="0">
                <a:latin typeface="宋体" panose="02010600030101010101" pitchFamily="2" charset="-122"/>
                <a:ea typeface="宋体" panose="02010600030101010101" pitchFamily="2" charset="-122"/>
              </a:rPr>
              <a:t>在确定了特征形式后，</a:t>
            </a:r>
            <a:r>
              <a:rPr lang="en-US" sz="2200" kern="0" dirty="0" err="1">
                <a:latin typeface="宋体" panose="02010600030101010101" pitchFamily="2" charset="-122"/>
                <a:ea typeface="宋体" panose="02010600030101010101" pitchFamily="2" charset="-122"/>
              </a:rPr>
              <a:t>Harr</a:t>
            </a:r>
            <a:r>
              <a:rPr lang="en-US" sz="2200" kern="0" dirty="0">
                <a:latin typeface="宋体" panose="02010600030101010101" pitchFamily="2" charset="-122"/>
                <a:ea typeface="宋体" panose="02010600030101010101" pitchFamily="2" charset="-122"/>
              </a:rPr>
              <a:t>-like</a:t>
            </a:r>
            <a:r>
              <a:rPr lang="zh-CN" altLang="en-US" sz="2200" kern="0" dirty="0">
                <a:latin typeface="宋体" panose="02010600030101010101" pitchFamily="2" charset="-122"/>
                <a:ea typeface="宋体" panose="02010600030101010101" pitchFamily="2" charset="-122"/>
              </a:rPr>
              <a:t>特征的数量就取决于训练样本图像矩阵的大小</a:t>
            </a:r>
            <a:r>
              <a:rPr lang="zh-CN" altLang="en-US" sz="2200" kern="0" dirty="0">
                <a:latin typeface="+mn-lt"/>
              </a:rPr>
              <a:t>。</a:t>
            </a:r>
          </a:p>
        </p:txBody>
      </p:sp>
      <p:graphicFrame>
        <p:nvGraphicFramePr>
          <p:cNvPr id="253954" name="Object 2"/>
          <p:cNvGraphicFramePr>
            <a:graphicFrameLocks/>
          </p:cNvGraphicFramePr>
          <p:nvPr/>
        </p:nvGraphicFramePr>
        <p:xfrm>
          <a:off x="4295800" y="4607024"/>
          <a:ext cx="3581400" cy="838200"/>
        </p:xfrm>
        <a:graphic>
          <a:graphicData uri="http://schemas.openxmlformats.org/presentationml/2006/ole">
            <mc:AlternateContent xmlns:mc="http://schemas.openxmlformats.org/markup-compatibility/2006">
              <mc:Choice xmlns:v="urn:schemas-microsoft-com:vml" Requires="v">
                <p:oleObj spid="_x0000_s254070" r:id="rId6" imgW="2349500" imgH="444500" progId="">
                  <p:embed/>
                </p:oleObj>
              </mc:Choice>
              <mc:Fallback>
                <p:oleObj r:id="rId6" imgW="2349500" imgH="444500" progId="">
                  <p:embed/>
                  <p:pic>
                    <p:nvPicPr>
                      <p:cNvPr id="0" name="Picture 1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95800" y="4607024"/>
                        <a:ext cx="35814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4"/>
          <p:cNvSpPr txBox="1">
            <a:spLocks noChangeArrowheads="1"/>
          </p:cNvSpPr>
          <p:nvPr/>
        </p:nvSpPr>
        <p:spPr bwMode="auto">
          <a:xfrm>
            <a:off x="2063552" y="5467876"/>
            <a:ext cx="8352928" cy="769441"/>
          </a:xfrm>
          <a:prstGeom prst="rect">
            <a:avLst/>
          </a:prstGeom>
          <a:solidFill>
            <a:schemeClr val="bg1"/>
          </a:solidFill>
          <a:ln w="9525">
            <a:noFill/>
            <a:miter lim="800000"/>
            <a:headEnd/>
            <a:tailEnd/>
          </a:ln>
          <a:effectLst/>
        </p:spPr>
        <p:txBody>
          <a:bodyPr wrap="square">
            <a:spAutoFit/>
          </a:bodyPr>
          <a:lstStyle/>
          <a:p>
            <a:r>
              <a:rPr lang="zh-CN" altLang="en-US" sz="2200" dirty="0">
                <a:latin typeface="宋体" panose="02010600030101010101" pitchFamily="2" charset="-122"/>
                <a:ea typeface="宋体" panose="02010600030101010101" pitchFamily="2" charset="-122"/>
              </a:rPr>
              <a:t>m,n样本图像的宽和高，s,t表示haar矩形特征宽和高。公式表示</a:t>
            </a:r>
            <a:r>
              <a:rPr lang="zh-CN" altLang="en-US" sz="2200" dirty="0">
                <a:solidFill>
                  <a:srgbClr val="FF0000"/>
                </a:solidFill>
                <a:latin typeface="宋体" panose="02010600030101010101" pitchFamily="2" charset="-122"/>
                <a:ea typeface="宋体" panose="02010600030101010101" pitchFamily="2" charset="-122"/>
              </a:rPr>
              <a:t>样本图像逐渐缩小，滑动</a:t>
            </a:r>
            <a:r>
              <a:rPr lang="zh-CN" altLang="en-US" sz="2200" dirty="0">
                <a:latin typeface="宋体" panose="02010600030101010101" pitchFamily="2" charset="-122"/>
                <a:ea typeface="宋体" panose="02010600030101010101" pitchFamily="2" charset="-122"/>
              </a:rPr>
              <a:t>，得到的某一haar特征的总数。</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title"/>
          </p:nvPr>
        </p:nvSpPr>
        <p:spPr>
          <a:xfrm>
            <a:off x="7464152" y="1196752"/>
            <a:ext cx="3024336" cy="3096344"/>
          </a:xfrm>
        </p:spPr>
        <p:txBody>
          <a:bodyPr/>
          <a:lstStyle/>
          <a:p>
            <a:r>
              <a:rPr lang="zh-CN" altLang="en-US" sz="2000" dirty="0">
                <a:latin typeface="宋体" panose="02010600030101010101" pitchFamily="2" charset="-122"/>
                <a:ea typeface="宋体" panose="02010600030101010101" pitchFamily="2" charset="-122"/>
              </a:rPr>
              <a:t>假设训练或检测窗口大小为W*H个像素，w , h 分别为特征原型的长、 宽，所示四种特征原型对应的w / h 分别为:</a:t>
            </a:r>
            <a:br>
              <a:rPr lang="en-US" altLang="zh-CN" sz="2000" dirty="0">
                <a:latin typeface="宋体" panose="02010600030101010101" pitchFamily="2" charset="-122"/>
                <a:ea typeface="宋体" panose="02010600030101010101" pitchFamily="2" charset="-122"/>
              </a:rPr>
            </a:br>
            <a:r>
              <a:rPr lang="zh-CN" altLang="en-US" sz="2000" dirty="0">
                <a:latin typeface="宋体" panose="02010600030101010101" pitchFamily="2" charset="-122"/>
                <a:ea typeface="宋体" panose="02010600030101010101" pitchFamily="2" charset="-122"/>
              </a:rPr>
              <a:t>2/1,</a:t>
            </a:r>
            <a:br>
              <a:rPr lang="en-US" altLang="zh-CN" sz="2000" dirty="0">
                <a:latin typeface="宋体" panose="02010600030101010101" pitchFamily="2" charset="-122"/>
                <a:ea typeface="宋体" panose="02010600030101010101" pitchFamily="2" charset="-122"/>
              </a:rPr>
            </a:br>
            <a:r>
              <a:rPr lang="zh-CN" altLang="en-US" sz="2000" dirty="0">
                <a:latin typeface="宋体" panose="02010600030101010101" pitchFamily="2" charset="-122"/>
                <a:ea typeface="宋体" panose="02010600030101010101" pitchFamily="2" charset="-122"/>
              </a:rPr>
              <a:t>1/2,</a:t>
            </a:r>
            <a:br>
              <a:rPr lang="en-US" altLang="zh-CN" sz="2000" dirty="0">
                <a:latin typeface="宋体" panose="02010600030101010101" pitchFamily="2" charset="-122"/>
                <a:ea typeface="宋体" panose="02010600030101010101" pitchFamily="2" charset="-122"/>
              </a:rPr>
            </a:br>
            <a:r>
              <a:rPr lang="zh-CN" altLang="en-US" sz="2000" dirty="0">
                <a:latin typeface="宋体" panose="02010600030101010101" pitchFamily="2" charset="-122"/>
                <a:ea typeface="宋体" panose="02010600030101010101" pitchFamily="2" charset="-122"/>
              </a:rPr>
              <a:t>3/1,</a:t>
            </a:r>
            <a:br>
              <a:rPr lang="en-US" altLang="zh-CN" sz="2000" dirty="0">
                <a:latin typeface="宋体" panose="02010600030101010101" pitchFamily="2" charset="-122"/>
                <a:ea typeface="宋体" panose="02010600030101010101" pitchFamily="2" charset="-122"/>
              </a:rPr>
            </a:br>
            <a:r>
              <a:rPr lang="zh-CN" altLang="en-US" sz="2000" dirty="0">
                <a:latin typeface="宋体" panose="02010600030101010101" pitchFamily="2" charset="-122"/>
                <a:ea typeface="宋体" panose="02010600030101010101" pitchFamily="2" charset="-122"/>
              </a:rPr>
              <a:t>2/2。</a:t>
            </a:r>
          </a:p>
        </p:txBody>
      </p:sp>
      <p:pic>
        <p:nvPicPr>
          <p:cNvPr id="11266" name="Picture 2"/>
          <p:cNvPicPr>
            <a:picLocks noGrp="1" noChangeAspect="1" noChangeArrowheads="1"/>
          </p:cNvPicPr>
          <p:nvPr>
            <p:ph idx="1"/>
          </p:nvPr>
        </p:nvPicPr>
        <p:blipFill>
          <a:blip r:embed="rId2" cstate="print"/>
          <a:stretch>
            <a:fillRect/>
          </a:stretch>
        </p:blipFill>
        <p:spPr>
          <a:xfrm>
            <a:off x="1991548" y="188644"/>
            <a:ext cx="4667251" cy="1314451"/>
          </a:xfrm>
          <a:noFill/>
          <a:ln/>
        </p:spPr>
      </p:pic>
      <p:sp>
        <p:nvSpPr>
          <p:cNvPr id="5" name="灯片编号占位符 4"/>
          <p:cNvSpPr>
            <a:spLocks noGrp="1"/>
          </p:cNvSpPr>
          <p:nvPr>
            <p:ph type="sldNum" sz="quarter" idx="11"/>
          </p:nvPr>
        </p:nvSpPr>
        <p:spPr/>
        <p:txBody>
          <a:bodyPr/>
          <a:lstStyle/>
          <a:p>
            <a:pPr>
              <a:defRPr/>
            </a:pPr>
            <a:fld id="{CA6EEC58-89F5-441E-A838-5B7BA2476FEC}" type="slidenum">
              <a:rPr lang="en-US" altLang="zh-CN" smtClean="0"/>
              <a:pPr>
                <a:defRPr/>
              </a:pPr>
              <a:t>32</a:t>
            </a:fld>
            <a:endParaRPr lang="en-US" altLang="zh-CN"/>
          </a:p>
        </p:txBody>
      </p:sp>
      <p:pic>
        <p:nvPicPr>
          <p:cNvPr id="11268" name="Picture 4"/>
          <p:cNvPicPr>
            <a:picLocks noGrp="1" noChangeAspect="1" noChangeArrowheads="1"/>
          </p:cNvPicPr>
          <p:nvPr>
            <p:ph sz="half" idx="4294967295"/>
          </p:nvPr>
        </p:nvPicPr>
        <p:blipFill>
          <a:blip r:embed="rId3" cstate="print"/>
          <a:srcRect/>
          <a:stretch>
            <a:fillRect/>
          </a:stretch>
        </p:blipFill>
        <p:spPr>
          <a:xfrm>
            <a:off x="1847534" y="1628806"/>
            <a:ext cx="5522913" cy="3284537"/>
          </a:xfrm>
          <a:noFill/>
          <a:ln/>
        </p:spPr>
      </p:pic>
      <p:sp>
        <p:nvSpPr>
          <p:cNvPr id="6" name="矩形 5"/>
          <p:cNvSpPr/>
          <p:nvPr/>
        </p:nvSpPr>
        <p:spPr>
          <a:xfrm>
            <a:off x="2351584" y="5062667"/>
            <a:ext cx="7488832" cy="1092158"/>
          </a:xfrm>
          <a:prstGeom prst="rect">
            <a:avLst/>
          </a:prstGeom>
        </p:spPr>
        <p:txBody>
          <a:bodyPr wrap="square">
            <a:spAutoFit/>
          </a:bodyPr>
          <a:lstStyle/>
          <a:p>
            <a:pPr>
              <a:lnSpc>
                <a:spcPct val="90000"/>
              </a:lnSpc>
            </a:pPr>
            <a:r>
              <a:rPr lang="en-US" altLang="zh-CN" sz="2400" b="1" dirty="0" err="1">
                <a:solidFill>
                  <a:srgbClr val="0000FF"/>
                </a:solidFill>
                <a:latin typeface="黑体" panose="02010609060101010101" pitchFamily="49" charset="-122"/>
                <a:ea typeface="黑体" panose="02010609060101010101" pitchFamily="49" charset="-122"/>
              </a:rPr>
              <a:t>Adaboost</a:t>
            </a:r>
            <a:r>
              <a:rPr lang="zh-CN" altLang="en-US" sz="2400" b="1" dirty="0">
                <a:solidFill>
                  <a:srgbClr val="0000FF"/>
                </a:solidFill>
                <a:latin typeface="黑体" panose="02010609060101010101" pitchFamily="49" charset="-122"/>
                <a:ea typeface="黑体" panose="02010609060101010101" pitchFamily="49" charset="-122"/>
              </a:rPr>
              <a:t>算法通过从大量的</a:t>
            </a:r>
            <a:r>
              <a:rPr lang="en-US" altLang="zh-CN" sz="2400" b="1" dirty="0" err="1">
                <a:solidFill>
                  <a:srgbClr val="0000FF"/>
                </a:solidFill>
                <a:latin typeface="黑体" panose="02010609060101010101" pitchFamily="49" charset="-122"/>
                <a:ea typeface="黑体" panose="02010609060101010101" pitchFamily="49" charset="-122"/>
              </a:rPr>
              <a:t>haar</a:t>
            </a:r>
            <a:r>
              <a:rPr lang="zh-CN" altLang="en-US" sz="2400" b="1" dirty="0">
                <a:solidFill>
                  <a:srgbClr val="0000FF"/>
                </a:solidFill>
                <a:latin typeface="黑体" panose="02010609060101010101" pitchFamily="49" charset="-122"/>
                <a:ea typeface="黑体" panose="02010609060101010101" pitchFamily="49" charset="-122"/>
              </a:rPr>
              <a:t>特征中挑选出最优的特征，并将其转换成对应的弱分类器进行分类使用，从而达到对目标进行分类的目的。</a:t>
            </a:r>
          </a:p>
        </p:txBody>
      </p:sp>
      <p:cxnSp>
        <p:nvCxnSpPr>
          <p:cNvPr id="8" name="直接箭头连接符 7"/>
          <p:cNvCxnSpPr/>
          <p:nvPr/>
        </p:nvCxnSpPr>
        <p:spPr>
          <a:xfrm flipH="1" flipV="1">
            <a:off x="3287688" y="2492896"/>
            <a:ext cx="4248472" cy="57606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H="1" flipV="1">
            <a:off x="2495600" y="2852936"/>
            <a:ext cx="5040560" cy="50405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H="1" flipV="1">
            <a:off x="2639616" y="3501008"/>
            <a:ext cx="4968552" cy="21602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H="1">
            <a:off x="2855640" y="4005064"/>
            <a:ext cx="4608512" cy="14401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sz="half" idx="4294967295"/>
          </p:nvPr>
        </p:nvSpPr>
        <p:spPr>
          <a:xfrm>
            <a:off x="2063824" y="1052513"/>
            <a:ext cx="7848600" cy="4572000"/>
          </a:xfrm>
        </p:spPr>
        <p:txBody>
          <a:bodyPr/>
          <a:lstStyle/>
          <a:p>
            <a:pPr>
              <a:lnSpc>
                <a:spcPct val="90000"/>
              </a:lnSpc>
            </a:pPr>
            <a:r>
              <a:rPr lang="zh-CN" altLang="en-US" sz="2400" b="1" dirty="0">
                <a:latin typeface="宋体" panose="02010600030101010101" pitchFamily="2" charset="-122"/>
                <a:ea typeface="宋体" panose="02010600030101010101" pitchFamily="2" charset="-122"/>
              </a:rPr>
              <a:t>利用矩形特征来计算选取人脸的</a:t>
            </a:r>
            <a:r>
              <a:rPr lang="zh-CN" altLang="en-US" sz="2400" b="1" dirty="0">
                <a:solidFill>
                  <a:srgbClr val="FF0000"/>
                </a:solidFill>
                <a:latin typeface="宋体" panose="02010600030101010101" pitchFamily="2" charset="-122"/>
                <a:ea typeface="宋体" panose="02010600030101010101" pitchFamily="2" charset="-122"/>
              </a:rPr>
              <a:t>特征</a:t>
            </a:r>
            <a:r>
              <a:rPr lang="zh-CN" altLang="en-US" sz="2400" b="1" dirty="0">
                <a:latin typeface="宋体" panose="02010600030101010101" pitchFamily="2" charset="-122"/>
                <a:ea typeface="宋体" panose="02010600030101010101" pitchFamily="2" charset="-122"/>
              </a:rPr>
              <a:t>有一种非常快速的算法，称之为积分图。在一张积分图上，</a:t>
            </a:r>
            <a:r>
              <a:rPr lang="zh-CN" altLang="en-US" sz="2400" b="1" dirty="0">
                <a:solidFill>
                  <a:srgbClr val="FF0000"/>
                </a:solidFill>
                <a:latin typeface="宋体" panose="02010600030101010101" pitchFamily="2" charset="-122"/>
                <a:ea typeface="宋体" panose="02010600030101010101" pitchFamily="2" charset="-122"/>
              </a:rPr>
              <a:t>点i(x,y)的积分值ii(x,y)是原图像上该点的上方和左方所有点的亮度值的和。</a:t>
            </a:r>
            <a:r>
              <a:rPr lang="zh-CN" altLang="en-US" sz="2400" b="1" dirty="0">
                <a:latin typeface="宋体" panose="02010600030101010101" pitchFamily="2" charset="-122"/>
                <a:ea typeface="宋体" panose="02010600030101010101" pitchFamily="2" charset="-122"/>
              </a:rPr>
              <a:t>即：</a:t>
            </a:r>
          </a:p>
          <a:p>
            <a:pPr>
              <a:lnSpc>
                <a:spcPct val="90000"/>
              </a:lnSpc>
            </a:pPr>
            <a:endParaRPr lang="zh-CN" altLang="en-US" sz="2400" b="1" dirty="0">
              <a:latin typeface="宋体" panose="02010600030101010101" pitchFamily="2" charset="-122"/>
              <a:ea typeface="宋体" panose="02010600030101010101" pitchFamily="2" charset="-122"/>
            </a:endParaRPr>
          </a:p>
          <a:p>
            <a:pPr>
              <a:lnSpc>
                <a:spcPct val="90000"/>
              </a:lnSpc>
              <a:buFontTx/>
              <a:buNone/>
            </a:pPr>
            <a:endParaRPr lang="zh-CN" altLang="en-US" sz="2400" b="1" dirty="0">
              <a:latin typeface="宋体" panose="02010600030101010101" pitchFamily="2" charset="-122"/>
              <a:ea typeface="宋体" panose="02010600030101010101" pitchFamily="2" charset="-122"/>
            </a:endParaRPr>
          </a:p>
          <a:p>
            <a:pPr>
              <a:lnSpc>
                <a:spcPct val="90000"/>
              </a:lnSpc>
              <a:buFontTx/>
              <a:buNone/>
            </a:pPr>
            <a:r>
              <a:rPr lang="zh-CN" altLang="en-US" sz="2400" b="1" dirty="0">
                <a:latin typeface="宋体" panose="02010600030101010101" pitchFamily="2" charset="-122"/>
                <a:ea typeface="宋体" panose="02010600030101010101" pitchFamily="2" charset="-122"/>
              </a:rPr>
              <a:t>   其中ii(x,y)为积分图，i(x,y)为原始图像，x,y表示图像的像素坐标。上式表示对（x,y）左上角像素求和。</a:t>
            </a:r>
          </a:p>
          <a:p>
            <a:pPr>
              <a:lnSpc>
                <a:spcPct val="90000"/>
              </a:lnSpc>
            </a:pPr>
            <a:endParaRPr lang="zh-CN" altLang="en-US" sz="2400" b="1" dirty="0">
              <a:latin typeface="宋体" panose="02010600030101010101" pitchFamily="2" charset="-122"/>
              <a:ea typeface="宋体" panose="02010600030101010101" pitchFamily="2" charset="-122"/>
            </a:endParaRPr>
          </a:p>
        </p:txBody>
      </p:sp>
      <p:sp>
        <p:nvSpPr>
          <p:cNvPr id="12290" name="Rectangle 2"/>
          <p:cNvSpPr>
            <a:spLocks noGrp="1" noChangeArrowheads="1"/>
          </p:cNvSpPr>
          <p:nvPr>
            <p:ph type="title"/>
          </p:nvPr>
        </p:nvSpPr>
        <p:spPr>
          <a:noFill/>
        </p:spPr>
        <p:txBody>
          <a:bodyPr/>
          <a:lstStyle/>
          <a:p>
            <a:r>
              <a:rPr lang="en-US" altLang="zh-CN" b="1" dirty="0">
                <a:solidFill>
                  <a:schemeClr val="tx1"/>
                </a:solidFill>
              </a:rPr>
              <a:t>12.3 </a:t>
            </a:r>
            <a:r>
              <a:rPr lang="zh-CN" altLang="en-US" b="1" dirty="0">
                <a:solidFill>
                  <a:schemeClr val="tx1"/>
                </a:solidFill>
              </a:rPr>
              <a:t>实例分析</a:t>
            </a:r>
            <a:r>
              <a:rPr lang="en-US" altLang="zh-CN" b="1" dirty="0">
                <a:solidFill>
                  <a:schemeClr val="tx1"/>
                </a:solidFill>
              </a:rPr>
              <a:t>--</a:t>
            </a:r>
            <a:r>
              <a:rPr lang="zh-CN" altLang="en-US" b="1" dirty="0">
                <a:solidFill>
                  <a:schemeClr val="tx1"/>
                </a:solidFill>
              </a:rPr>
              <a:t>积分图</a:t>
            </a:r>
          </a:p>
        </p:txBody>
      </p:sp>
      <p:graphicFrame>
        <p:nvGraphicFramePr>
          <p:cNvPr id="12292" name="Object 4"/>
          <p:cNvGraphicFramePr>
            <a:graphicFrameLocks noGrp="1" noChangeAspect="1"/>
          </p:cNvGraphicFramePr>
          <p:nvPr>
            <p:ph idx="1"/>
          </p:nvPr>
        </p:nvGraphicFramePr>
        <p:xfrm>
          <a:off x="4511824" y="2276872"/>
          <a:ext cx="3603918" cy="916716"/>
        </p:xfrm>
        <a:graphic>
          <a:graphicData uri="http://schemas.openxmlformats.org/presentationml/2006/ole">
            <mc:AlternateContent xmlns:mc="http://schemas.openxmlformats.org/markup-compatibility/2006">
              <mc:Choice xmlns:v="urn:schemas-microsoft-com:vml" Requires="v">
                <p:oleObj spid="_x0000_s347203" r:id="rId3" imgW="1454111" imgH="369905" progId="Equation.DSMT4">
                  <p:embed/>
                </p:oleObj>
              </mc:Choice>
              <mc:Fallback>
                <p:oleObj r:id="rId3" imgW="1454111" imgH="369905" progId="Equation.DSMT4">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1824" y="2276872"/>
                        <a:ext cx="3603918" cy="9167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1"/>
          </p:nvPr>
        </p:nvSpPr>
        <p:spPr/>
        <p:txBody>
          <a:bodyPr/>
          <a:lstStyle/>
          <a:p>
            <a:fld id="{8863B22E-6A07-4FB1-AB14-E229E6B704DF}" type="slidenum">
              <a:rPr lang="zh-CN" altLang="zh-CN" smtClean="0"/>
              <a:pPr/>
              <a:t>33</a:t>
            </a:fld>
            <a:endParaRPr lang="zh-CN" altLang="zh-CN"/>
          </a:p>
        </p:txBody>
      </p:sp>
      <p:pic>
        <p:nvPicPr>
          <p:cNvPr id="6" name="Picture 2"/>
          <p:cNvPicPr>
            <a:picLocks noChangeAspect="1" noChangeArrowheads="1"/>
          </p:cNvPicPr>
          <p:nvPr/>
        </p:nvPicPr>
        <p:blipFill>
          <a:blip r:embed="rId5" cstate="print"/>
          <a:srcRect/>
          <a:stretch>
            <a:fillRect/>
          </a:stretch>
        </p:blipFill>
        <p:spPr bwMode="auto">
          <a:xfrm>
            <a:off x="3431704" y="4005064"/>
            <a:ext cx="4953000" cy="2438400"/>
          </a:xfrm>
          <a:prstGeom prst="rect">
            <a:avLst/>
          </a:prstGeom>
          <a:noFill/>
          <a:ln w="9525">
            <a:noFill/>
            <a:miter lim="800000"/>
            <a:headEnd/>
            <a:tailEnd/>
          </a:ln>
          <a:effectLst/>
        </p:spPr>
      </p:pic>
      <p:sp>
        <p:nvSpPr>
          <p:cNvPr id="2" name="矩形 1"/>
          <p:cNvSpPr/>
          <p:nvPr/>
        </p:nvSpPr>
        <p:spPr>
          <a:xfrm>
            <a:off x="8494008" y="4941168"/>
            <a:ext cx="2173993" cy="369332"/>
          </a:xfrm>
          <a:prstGeom prst="rect">
            <a:avLst/>
          </a:prstGeom>
        </p:spPr>
        <p:txBody>
          <a:bodyPr wrap="none">
            <a:spAutoFit/>
          </a:bodyPr>
          <a:lstStyle/>
          <a:p>
            <a:r>
              <a:rPr lang="en-US" altLang="zh-CN" b="1" dirty="0">
                <a:latin typeface="宋体" panose="02010600030101010101" pitchFamily="2" charset="-122"/>
                <a:ea typeface="宋体" panose="02010600030101010101" pitchFamily="2" charset="-122"/>
              </a:rPr>
              <a:t>D=(4)-(2)-(3)+(1)</a:t>
            </a:r>
            <a:endParaRPr lang="zh-CN" altLang="en-US" dirty="0"/>
          </a:p>
        </p:txBody>
      </p:sp>
    </p:spTree>
    <p:extLst>
      <p:ext uri="{BB962C8B-B14F-4D97-AF65-F5344CB8AC3E}">
        <p14:creationId xmlns:p14="http://schemas.microsoft.com/office/powerpoint/2010/main" val="20777763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type="body" sz="half" idx="4294967295"/>
          </p:nvPr>
        </p:nvSpPr>
        <p:spPr>
          <a:xfrm>
            <a:off x="1919536" y="981076"/>
            <a:ext cx="8153400" cy="4525963"/>
          </a:xfrm>
        </p:spPr>
        <p:txBody>
          <a:bodyPr/>
          <a:lstStyle/>
          <a:p>
            <a:r>
              <a:rPr lang="zh-CN" altLang="en-US" sz="2400" b="1" dirty="0">
                <a:latin typeface="宋体" panose="02010600030101010101" pitchFamily="2" charset="-122"/>
                <a:ea typeface="宋体" panose="02010600030101010101" pitchFamily="2" charset="-122"/>
              </a:rPr>
              <a:t>一个弱分类器</a:t>
            </a:r>
            <a:r>
              <a:rPr lang="en-US" sz="2400" b="1" i="1" dirty="0">
                <a:latin typeface="宋体" panose="02010600030101010101" pitchFamily="2" charset="-122"/>
                <a:ea typeface="宋体" panose="02010600030101010101" pitchFamily="2" charset="-122"/>
              </a:rPr>
              <a:t>h</a:t>
            </a:r>
            <a:r>
              <a:rPr lang="en-US" sz="2400" b="1" dirty="0">
                <a:latin typeface="宋体" panose="02010600030101010101" pitchFamily="2" charset="-122"/>
                <a:ea typeface="宋体" panose="02010600030101010101" pitchFamily="2" charset="-122"/>
              </a:rPr>
              <a:t>(</a:t>
            </a:r>
            <a:r>
              <a:rPr lang="en-US" sz="2400" b="1" i="1" dirty="0">
                <a:latin typeface="宋体" panose="02010600030101010101" pitchFamily="2" charset="-122"/>
                <a:ea typeface="宋体" panose="02010600030101010101" pitchFamily="2" charset="-122"/>
              </a:rPr>
              <a:t>x</a:t>
            </a:r>
            <a:r>
              <a:rPr lang="en-US" sz="2400" b="1" dirty="0">
                <a:latin typeface="宋体" panose="02010600030101010101" pitchFamily="2" charset="-122"/>
                <a:ea typeface="宋体" panose="02010600030101010101" pitchFamily="2" charset="-122"/>
              </a:rPr>
              <a:t>, </a:t>
            </a:r>
            <a:r>
              <a:rPr lang="en-US" sz="2400" b="1" i="1" dirty="0">
                <a:latin typeface="宋体" panose="02010600030101010101" pitchFamily="2" charset="-122"/>
                <a:ea typeface="宋体" panose="02010600030101010101" pitchFamily="2" charset="-122"/>
              </a:rPr>
              <a:t>f</a:t>
            </a:r>
            <a:r>
              <a:rPr lang="en-US" sz="2400" b="1" dirty="0">
                <a:latin typeface="宋体" panose="02010600030101010101" pitchFamily="2" charset="-122"/>
                <a:ea typeface="宋体" panose="02010600030101010101" pitchFamily="2" charset="-122"/>
              </a:rPr>
              <a:t>, </a:t>
            </a:r>
            <a:r>
              <a:rPr lang="en-US" sz="2400" b="1" i="1" dirty="0">
                <a:latin typeface="宋体" panose="02010600030101010101" pitchFamily="2" charset="-122"/>
                <a:ea typeface="宋体" panose="02010600030101010101" pitchFamily="2" charset="-122"/>
              </a:rPr>
              <a:t>p</a:t>
            </a:r>
            <a:r>
              <a:rPr lang="en-US" sz="2400" b="1" dirty="0">
                <a:latin typeface="宋体" panose="02010600030101010101" pitchFamily="2" charset="-122"/>
                <a:ea typeface="宋体" panose="02010600030101010101" pitchFamily="2" charset="-122"/>
              </a:rPr>
              <a:t>,</a:t>
            </a:r>
            <a:r>
              <a:rPr lang="el-GR" sz="2400" b="1" i="1" dirty="0">
                <a:ea typeface="宋体" panose="02010600030101010101" pitchFamily="2" charset="-122"/>
              </a:rPr>
              <a:t>θ</a:t>
            </a:r>
            <a:r>
              <a:rPr lang="en-US"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由一个特征</a:t>
            </a:r>
            <a:r>
              <a:rPr lang="en-US" sz="2400" b="1" i="1" dirty="0">
                <a:latin typeface="宋体" panose="02010600030101010101" pitchFamily="2" charset="-122"/>
                <a:ea typeface="宋体" panose="02010600030101010101" pitchFamily="2" charset="-122"/>
              </a:rPr>
              <a:t>f</a:t>
            </a:r>
            <a:r>
              <a:rPr lang="zh-CN" altLang="en-US" sz="2400" b="1" dirty="0">
                <a:latin typeface="宋体" panose="02010600030101010101" pitchFamily="2" charset="-122"/>
                <a:ea typeface="宋体" panose="02010600030101010101" pitchFamily="2" charset="-122"/>
              </a:rPr>
              <a:t>，阈值</a:t>
            </a:r>
            <a:r>
              <a:rPr lang="el-GR" sz="2400" b="1" i="1" dirty="0">
                <a:ea typeface="宋体" panose="02010600030101010101" pitchFamily="2" charset="-122"/>
              </a:rPr>
              <a:t>θ</a:t>
            </a:r>
            <a:r>
              <a:rPr lang="zh-CN" altLang="en-US" sz="2400" b="1" dirty="0">
                <a:latin typeface="宋体" panose="02010600030101010101" pitchFamily="2" charset="-122"/>
                <a:ea typeface="宋体" panose="02010600030101010101" pitchFamily="2" charset="-122"/>
              </a:rPr>
              <a:t>和指示不等号方向的</a:t>
            </a:r>
            <a:r>
              <a:rPr lang="en-US" sz="2400" b="1" i="1" dirty="0">
                <a:latin typeface="宋体" panose="02010600030101010101" pitchFamily="2" charset="-122"/>
                <a:ea typeface="宋体" panose="02010600030101010101" pitchFamily="2" charset="-122"/>
              </a:rPr>
              <a:t>p </a:t>
            </a:r>
            <a:r>
              <a:rPr lang="zh-CN" altLang="en-US" sz="2400" b="1" dirty="0">
                <a:latin typeface="宋体" panose="02010600030101010101" pitchFamily="2" charset="-122"/>
                <a:ea typeface="宋体" panose="02010600030101010101" pitchFamily="2" charset="-122"/>
              </a:rPr>
              <a:t>组成：</a:t>
            </a:r>
          </a:p>
          <a:p>
            <a:endParaRPr lang="zh-CN" altLang="en-US" sz="2400" b="1" dirty="0">
              <a:latin typeface="宋体" panose="02010600030101010101" pitchFamily="2" charset="-122"/>
              <a:ea typeface="宋体" panose="02010600030101010101" pitchFamily="2" charset="-122"/>
            </a:endParaRPr>
          </a:p>
          <a:p>
            <a:endParaRPr lang="zh-CN" altLang="en-US" sz="2400" b="1"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训练一个弱分类器（特征</a:t>
            </a:r>
            <a:r>
              <a:rPr lang="en-US" sz="2400" b="1" i="1" dirty="0">
                <a:latin typeface="宋体" panose="02010600030101010101" pitchFamily="2" charset="-122"/>
                <a:ea typeface="宋体" panose="02010600030101010101" pitchFamily="2" charset="-122"/>
              </a:rPr>
              <a:t>f</a:t>
            </a:r>
            <a:r>
              <a:rPr lang="zh-CN" altLang="en-US" sz="2400" b="1" dirty="0">
                <a:latin typeface="宋体" panose="02010600030101010101" pitchFamily="2" charset="-122"/>
                <a:ea typeface="宋体" panose="02010600030101010101" pitchFamily="2" charset="-122"/>
              </a:rPr>
              <a:t>）就是在当前权重分布的情况下，确定</a:t>
            </a:r>
            <a:r>
              <a:rPr lang="en-US" sz="2400" b="1" i="1" dirty="0">
                <a:latin typeface="宋体" panose="02010600030101010101" pitchFamily="2" charset="-122"/>
                <a:ea typeface="宋体" panose="02010600030101010101" pitchFamily="2" charset="-122"/>
              </a:rPr>
              <a:t>f </a:t>
            </a:r>
            <a:r>
              <a:rPr lang="zh-CN" altLang="en-US" sz="2400" b="1" dirty="0">
                <a:latin typeface="宋体" panose="02010600030101010101" pitchFamily="2" charset="-122"/>
                <a:ea typeface="宋体" panose="02010600030101010101" pitchFamily="2" charset="-122"/>
              </a:rPr>
              <a:t>的</a:t>
            </a:r>
            <a:r>
              <a:rPr lang="zh-CN" altLang="en-US" sz="2400" b="1" dirty="0">
                <a:highlight>
                  <a:srgbClr val="FFFF00"/>
                </a:highlight>
                <a:latin typeface="宋体" panose="02010600030101010101" pitchFamily="2" charset="-122"/>
                <a:ea typeface="宋体" panose="02010600030101010101" pitchFamily="2" charset="-122"/>
              </a:rPr>
              <a:t>最优</a:t>
            </a:r>
            <a:r>
              <a:rPr lang="zh-CN" altLang="en-US" sz="2400" b="1" dirty="0">
                <a:solidFill>
                  <a:srgbClr val="FF0000"/>
                </a:solidFill>
                <a:latin typeface="宋体" panose="02010600030101010101" pitchFamily="2" charset="-122"/>
                <a:ea typeface="宋体" panose="02010600030101010101" pitchFamily="2" charset="-122"/>
              </a:rPr>
              <a:t>阈值</a:t>
            </a:r>
            <a:r>
              <a:rPr lang="zh-CN" altLang="en-US" sz="2400" b="1" dirty="0">
                <a:latin typeface="宋体" panose="02010600030101010101" pitchFamily="2" charset="-122"/>
                <a:ea typeface="宋体" panose="02010600030101010101" pitchFamily="2" charset="-122"/>
              </a:rPr>
              <a:t>，使得这个弱分类器（特征</a:t>
            </a:r>
            <a:r>
              <a:rPr lang="en-US" sz="2400" b="1" i="1" dirty="0">
                <a:latin typeface="宋体" panose="02010600030101010101" pitchFamily="2" charset="-122"/>
                <a:ea typeface="宋体" panose="02010600030101010101" pitchFamily="2" charset="-122"/>
              </a:rPr>
              <a:t>f</a:t>
            </a:r>
            <a:r>
              <a:rPr lang="zh-CN" altLang="en-US" sz="2400" b="1" dirty="0">
                <a:latin typeface="宋体" panose="02010600030101010101" pitchFamily="2" charset="-122"/>
                <a:ea typeface="宋体" panose="02010600030101010101" pitchFamily="2" charset="-122"/>
              </a:rPr>
              <a:t>）对所有训练样本的分类误差最低。</a:t>
            </a:r>
          </a:p>
          <a:p>
            <a:endParaRPr lang="zh-CN" altLang="en-US" sz="2400" b="1" dirty="0">
              <a:latin typeface="宋体" panose="02010600030101010101" pitchFamily="2" charset="-122"/>
              <a:ea typeface="宋体" panose="02010600030101010101" pitchFamily="2" charset="-122"/>
            </a:endParaRPr>
          </a:p>
        </p:txBody>
      </p:sp>
      <p:graphicFrame>
        <p:nvGraphicFramePr>
          <p:cNvPr id="15364" name="Object 4"/>
          <p:cNvGraphicFramePr>
            <a:graphicFrameLocks noGrp="1" noChangeAspect="1"/>
          </p:cNvGraphicFramePr>
          <p:nvPr>
            <p:ph idx="1"/>
          </p:nvPr>
        </p:nvGraphicFramePr>
        <p:xfrm>
          <a:off x="4655840" y="1700808"/>
          <a:ext cx="3867588" cy="936104"/>
        </p:xfrm>
        <a:graphic>
          <a:graphicData uri="http://schemas.openxmlformats.org/presentationml/2006/ole">
            <mc:AlternateContent xmlns:mc="http://schemas.openxmlformats.org/markup-compatibility/2006">
              <mc:Choice xmlns:v="urn:schemas-microsoft-com:vml" Requires="v">
                <p:oleObj spid="_x0000_s348228" name="Equation" r:id="rId4" imgW="1993900" imgH="482600" progId="Equation.DSMT4">
                  <p:embed/>
                </p:oleObj>
              </mc:Choice>
              <mc:Fallback>
                <p:oleObj name="Equation" r:id="rId4" imgW="1993900" imgH="482600" progId="Equation.DSMT4">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5840" y="1700808"/>
                        <a:ext cx="3867588" cy="936104"/>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2"/>
          <p:cNvSpPr txBox="1">
            <a:spLocks noChangeArrowheads="1"/>
          </p:cNvSpPr>
          <p:nvPr/>
        </p:nvSpPr>
        <p:spPr bwMode="black">
          <a:xfrm>
            <a:off x="1775520" y="0"/>
            <a:ext cx="8445624" cy="8367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eaLnBrk="0" hangingPunct="0"/>
            <a:r>
              <a:rPr lang="en-US" altLang="zh-CN" sz="3200" b="1" kern="0" dirty="0">
                <a:latin typeface="+mj-lt"/>
                <a:ea typeface="+mj-ea"/>
                <a:cs typeface="+mj-cs"/>
              </a:rPr>
              <a:t>12.3 </a:t>
            </a:r>
            <a:r>
              <a:rPr lang="zh-CN" altLang="en-US" sz="3200" b="1" kern="0" dirty="0">
                <a:latin typeface="+mj-lt"/>
                <a:ea typeface="+mj-ea"/>
                <a:cs typeface="+mj-cs"/>
              </a:rPr>
              <a:t>实例分析</a:t>
            </a:r>
            <a:r>
              <a:rPr lang="en-US" altLang="zh-CN" sz="3200" b="1" kern="0" dirty="0">
                <a:latin typeface="+mj-lt"/>
                <a:ea typeface="+mj-ea"/>
                <a:cs typeface="+mj-cs"/>
              </a:rPr>
              <a:t>--</a:t>
            </a:r>
            <a:r>
              <a:rPr lang="zh-CN" altLang="en-US" sz="3200" b="1" dirty="0"/>
              <a:t>弱分类器及其选取</a:t>
            </a:r>
            <a:endParaRPr lang="zh-CN" altLang="en-US" sz="3200" b="1" kern="0" dirty="0">
              <a:latin typeface="+mj-lt"/>
              <a:ea typeface="+mj-ea"/>
              <a:cs typeface="+mj-cs"/>
            </a:endParaRPr>
          </a:p>
        </p:txBody>
      </p:sp>
      <p:sp>
        <p:nvSpPr>
          <p:cNvPr id="8" name="Rectangle 2"/>
          <p:cNvSpPr txBox="1">
            <a:spLocks noChangeArrowheads="1"/>
          </p:cNvSpPr>
          <p:nvPr/>
        </p:nvSpPr>
        <p:spPr bwMode="gray">
          <a:xfrm>
            <a:off x="1919536" y="3933056"/>
            <a:ext cx="8280920" cy="2808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000" indent="-342000" eaLnBrk="0" hangingPunct="0">
              <a:spcBef>
                <a:spcPct val="20000"/>
              </a:spcBef>
              <a:buClr>
                <a:schemeClr val="tx2"/>
              </a:buClr>
              <a:buFont typeface="Wingdings" pitchFamily="2" charset="2"/>
              <a:buChar char="v"/>
            </a:pPr>
            <a:r>
              <a:rPr lang="zh-CN" altLang="zh-CN" sz="2400" b="1" kern="0" dirty="0">
                <a:solidFill>
                  <a:srgbClr val="0070C0"/>
                </a:solidFill>
                <a:latin typeface="宋体" panose="02010600030101010101" pitchFamily="2" charset="-122"/>
                <a:ea typeface="宋体" panose="02010600030101010101" pitchFamily="2" charset="-122"/>
              </a:rPr>
              <a:t>对于每个特征 </a:t>
            </a:r>
            <a:r>
              <a:rPr lang="zh-CN" altLang="zh-CN" sz="2400" b="1" i="1" kern="0" dirty="0">
                <a:solidFill>
                  <a:srgbClr val="0070C0"/>
                </a:solidFill>
                <a:latin typeface="宋体" panose="02010600030101010101" pitchFamily="2" charset="-122"/>
                <a:ea typeface="宋体" panose="02010600030101010101" pitchFamily="2" charset="-122"/>
              </a:rPr>
              <a:t>f</a:t>
            </a:r>
            <a:r>
              <a:rPr lang="zh-CN" altLang="zh-CN" sz="2400" b="1" kern="0" dirty="0">
                <a:solidFill>
                  <a:srgbClr val="0070C0"/>
                </a:solidFill>
                <a:latin typeface="宋体" panose="02010600030101010101" pitchFamily="2" charset="-122"/>
                <a:ea typeface="宋体" panose="02010600030101010101" pitchFamily="2" charset="-122"/>
              </a:rPr>
              <a:t>，计算所有训练样本的特征值</a:t>
            </a:r>
            <a:r>
              <a:rPr lang="en-US" altLang="zh-CN" sz="2400" b="1" kern="0" dirty="0">
                <a:solidFill>
                  <a:srgbClr val="0070C0"/>
                </a:solidFill>
                <a:latin typeface="宋体" panose="02010600030101010101" pitchFamily="2" charset="-122"/>
                <a:ea typeface="宋体" panose="02010600030101010101" pitchFamily="2" charset="-122"/>
              </a:rPr>
              <a:t>f(x)</a:t>
            </a:r>
            <a:r>
              <a:rPr lang="zh-CN" altLang="zh-CN" sz="2400" b="1" kern="0" dirty="0">
                <a:solidFill>
                  <a:srgbClr val="0070C0"/>
                </a:solidFill>
                <a:latin typeface="宋体" panose="02010600030101010101" pitchFamily="2" charset="-122"/>
                <a:ea typeface="宋体" panose="02010600030101010101" pitchFamily="2" charset="-122"/>
              </a:rPr>
              <a:t>，</a:t>
            </a:r>
            <a:r>
              <a:rPr lang="zh-CN" altLang="zh-CN" sz="2400" b="1" kern="0" dirty="0">
                <a:latin typeface="宋体" panose="02010600030101010101" pitchFamily="2" charset="-122"/>
                <a:ea typeface="宋体" panose="02010600030101010101" pitchFamily="2" charset="-122"/>
              </a:rPr>
              <a:t>并将其排序。通过扫描一遍排好序的特征值，可以为这个特征确定一个</a:t>
            </a:r>
            <a:r>
              <a:rPr lang="zh-CN" altLang="zh-CN" sz="2400" b="1" kern="0" dirty="0">
                <a:highlight>
                  <a:srgbClr val="FFFF00"/>
                </a:highlight>
                <a:latin typeface="宋体" panose="02010600030101010101" pitchFamily="2" charset="-122"/>
                <a:ea typeface="宋体" panose="02010600030101010101" pitchFamily="2" charset="-122"/>
              </a:rPr>
              <a:t>最优</a:t>
            </a:r>
            <a:r>
              <a:rPr lang="zh-CN" altLang="zh-CN" sz="2400" b="1" kern="0" dirty="0">
                <a:latin typeface="宋体" panose="02010600030101010101" pitchFamily="2" charset="-122"/>
                <a:ea typeface="宋体" panose="02010600030101010101" pitchFamily="2" charset="-122"/>
              </a:rPr>
              <a:t>的阈值，从而训练成一个弱分类器</a:t>
            </a:r>
            <a:r>
              <a:rPr lang="en-US" altLang="zh-CN" sz="2400" b="1" kern="0" dirty="0">
                <a:latin typeface="宋体" panose="02010600030101010101" pitchFamily="2" charset="-122"/>
                <a:ea typeface="宋体" panose="02010600030101010101" pitchFamily="2" charset="-122"/>
              </a:rPr>
              <a:t>h</a:t>
            </a:r>
            <a:r>
              <a:rPr lang="zh-CN" altLang="zh-CN" sz="2400" b="1" kern="0" dirty="0"/>
              <a:t>。</a:t>
            </a:r>
            <a:endParaRPr lang="en-US" altLang="zh-CN" sz="2400" b="1" kern="0" dirty="0"/>
          </a:p>
          <a:p>
            <a:pPr marL="342000" indent="-342000" eaLnBrk="0" hangingPunct="0">
              <a:spcBef>
                <a:spcPct val="20000"/>
              </a:spcBef>
              <a:buClr>
                <a:schemeClr val="tx2"/>
              </a:buClr>
              <a:buFont typeface="Wingdings" pitchFamily="2" charset="2"/>
              <a:buChar char="v"/>
            </a:pPr>
            <a:r>
              <a:rPr lang="zh-CN" altLang="zh-CN" sz="2400" b="1" kern="0" dirty="0">
                <a:latin typeface="宋体" panose="02010600030101010101" pitchFamily="2" charset="-122"/>
                <a:ea typeface="宋体" panose="02010600030101010101" pitchFamily="2" charset="-122"/>
              </a:rPr>
              <a:t>选取一个</a:t>
            </a:r>
            <a:r>
              <a:rPr lang="zh-CN" altLang="zh-CN" sz="2400" b="1" kern="0" dirty="0">
                <a:highlight>
                  <a:srgbClr val="00FF00"/>
                </a:highlight>
                <a:latin typeface="宋体" panose="02010600030101010101" pitchFamily="2" charset="-122"/>
                <a:ea typeface="宋体" panose="02010600030101010101" pitchFamily="2" charset="-122"/>
              </a:rPr>
              <a:t>最佳</a:t>
            </a:r>
            <a:r>
              <a:rPr lang="zh-CN" altLang="zh-CN" sz="2400" b="1" kern="0" dirty="0">
                <a:latin typeface="宋体" panose="02010600030101010101" pitchFamily="2" charset="-122"/>
                <a:ea typeface="宋体" panose="02010600030101010101" pitchFamily="2" charset="-122"/>
              </a:rPr>
              <a:t>弱分类器</a:t>
            </a:r>
            <a:r>
              <a:rPr lang="en-US" altLang="zh-CN" sz="2400" b="1" kern="0" dirty="0">
                <a:latin typeface="宋体" panose="02010600030101010101" pitchFamily="2" charset="-122"/>
                <a:ea typeface="宋体" panose="02010600030101010101" pitchFamily="2" charset="-122"/>
              </a:rPr>
              <a:t>,</a:t>
            </a:r>
            <a:r>
              <a:rPr lang="zh-CN" altLang="zh-CN" sz="2400" b="1" kern="0" dirty="0">
                <a:latin typeface="宋体" panose="02010600030101010101" pitchFamily="2" charset="-122"/>
                <a:ea typeface="宋体" panose="02010600030101010101" pitchFamily="2" charset="-122"/>
              </a:rPr>
              <a:t>就是选择那个对所有训练样本</a:t>
            </a:r>
            <a:r>
              <a:rPr lang="en-US" altLang="zh-CN" sz="2400" b="1" kern="0" dirty="0">
                <a:latin typeface="宋体" panose="02010600030101010101" pitchFamily="2" charset="-122"/>
                <a:ea typeface="宋体" panose="02010600030101010101" pitchFamily="2" charset="-122"/>
              </a:rPr>
              <a:t>x</a:t>
            </a:r>
            <a:r>
              <a:rPr lang="zh-CN" altLang="zh-CN" sz="2400" b="1" kern="0" dirty="0">
                <a:latin typeface="宋体" panose="02010600030101010101" pitchFamily="2" charset="-122"/>
                <a:ea typeface="宋体" panose="02010600030101010101" pitchFamily="2" charset="-122"/>
              </a:rPr>
              <a:t>的</a:t>
            </a:r>
            <a:r>
              <a:rPr lang="zh-CN" altLang="zh-CN" sz="2400" b="1" kern="0" dirty="0">
                <a:solidFill>
                  <a:srgbClr val="FF0000"/>
                </a:solidFill>
                <a:latin typeface="宋体" panose="02010600030101010101" pitchFamily="2" charset="-122"/>
                <a:ea typeface="宋体" panose="02010600030101010101" pitchFamily="2" charset="-122"/>
              </a:rPr>
              <a:t>分类误差</a:t>
            </a:r>
            <a:r>
              <a:rPr lang="zh-CN" altLang="zh-CN" sz="2400" b="1" kern="0" dirty="0">
                <a:latin typeface="宋体" panose="02010600030101010101" pitchFamily="2" charset="-122"/>
                <a:ea typeface="宋体" panose="02010600030101010101" pitchFamily="2" charset="-122"/>
              </a:rPr>
              <a:t>在所有弱分类器</a:t>
            </a:r>
            <a:r>
              <a:rPr lang="en-US" altLang="zh-CN" sz="2400" b="1" kern="0" dirty="0">
                <a:latin typeface="宋体" panose="02010600030101010101" pitchFamily="2" charset="-122"/>
                <a:ea typeface="宋体" panose="02010600030101010101" pitchFamily="2" charset="-122"/>
              </a:rPr>
              <a:t>h</a:t>
            </a:r>
            <a:r>
              <a:rPr lang="zh-CN" altLang="zh-CN" sz="2400" b="1" kern="0" dirty="0">
                <a:latin typeface="宋体" panose="02010600030101010101" pitchFamily="2" charset="-122"/>
                <a:ea typeface="宋体" panose="02010600030101010101" pitchFamily="2" charset="-122"/>
              </a:rPr>
              <a:t>中</a:t>
            </a:r>
            <a:r>
              <a:rPr lang="zh-CN" altLang="zh-CN" sz="2400" b="1" kern="0" dirty="0">
                <a:solidFill>
                  <a:srgbClr val="FF0000"/>
                </a:solidFill>
                <a:latin typeface="宋体" panose="02010600030101010101" pitchFamily="2" charset="-122"/>
                <a:ea typeface="宋体" panose="02010600030101010101" pitchFamily="2" charset="-122"/>
              </a:rPr>
              <a:t>最低</a:t>
            </a:r>
            <a:r>
              <a:rPr lang="zh-CN" altLang="zh-CN" sz="2400" b="1" kern="0" dirty="0">
                <a:latin typeface="宋体" panose="02010600030101010101" pitchFamily="2" charset="-122"/>
                <a:ea typeface="宋体" panose="02010600030101010101" pitchFamily="2" charset="-122"/>
              </a:rPr>
              <a:t>的那个弱分类器（</a:t>
            </a:r>
            <a:r>
              <a:rPr lang="zh-CN" altLang="en-US" sz="2400" b="1" kern="0" dirty="0">
                <a:latin typeface="宋体" panose="02010600030101010101" pitchFamily="2" charset="-122"/>
                <a:ea typeface="宋体" panose="02010600030101010101" pitchFamily="2" charset="-122"/>
              </a:rPr>
              <a:t>所对应的</a:t>
            </a:r>
            <a:r>
              <a:rPr lang="zh-CN" altLang="zh-CN" sz="2400" b="1" kern="0" dirty="0">
                <a:solidFill>
                  <a:srgbClr val="FF0000"/>
                </a:solidFill>
                <a:latin typeface="宋体" panose="02010600030101010101" pitchFamily="2" charset="-122"/>
                <a:ea typeface="宋体" panose="02010600030101010101" pitchFamily="2" charset="-122"/>
              </a:rPr>
              <a:t>特征</a:t>
            </a:r>
            <a:r>
              <a:rPr lang="en-US" altLang="zh-CN" sz="2400" b="1" kern="0" dirty="0">
                <a:solidFill>
                  <a:srgbClr val="FF0000"/>
                </a:solidFill>
                <a:latin typeface="宋体" panose="02010600030101010101" pitchFamily="2" charset="-122"/>
                <a:ea typeface="宋体" panose="02010600030101010101" pitchFamily="2" charset="-122"/>
              </a:rPr>
              <a:t>f</a:t>
            </a:r>
            <a:r>
              <a:rPr lang="zh-CN" altLang="zh-CN" sz="2400" b="1" kern="0" dirty="0">
                <a:latin typeface="宋体" panose="02010600030101010101" pitchFamily="2" charset="-122"/>
                <a:ea typeface="宋体" panose="02010600030101010101" pitchFamily="2" charset="-122"/>
              </a:rPr>
              <a:t>）。</a:t>
            </a:r>
            <a:endParaRPr lang="en-US" altLang="zh-CN" sz="2400" b="1" kern="0" dirty="0">
              <a:latin typeface="宋体" panose="02010600030101010101" pitchFamily="2" charset="-122"/>
              <a:ea typeface="宋体" panose="02010600030101010101" pitchFamily="2" charset="-122"/>
            </a:endParaRPr>
          </a:p>
          <a:p>
            <a:pPr lvl="0" eaLnBrk="0" hangingPunct="0">
              <a:spcBef>
                <a:spcPct val="20000"/>
              </a:spcBef>
              <a:buClr>
                <a:schemeClr val="tx2"/>
              </a:buClr>
            </a:pPr>
            <a:endParaRPr lang="zh-CN" altLang="en-US" sz="2400" b="1" kern="0" dirty="0">
              <a:latin typeface="+mn-lt"/>
            </a:endParaRPr>
          </a:p>
        </p:txBody>
      </p:sp>
      <p:sp>
        <p:nvSpPr>
          <p:cNvPr id="2" name="灯片编号占位符 1"/>
          <p:cNvSpPr>
            <a:spLocks noGrp="1"/>
          </p:cNvSpPr>
          <p:nvPr>
            <p:ph type="sldNum" sz="quarter" idx="11"/>
          </p:nvPr>
        </p:nvSpPr>
        <p:spPr/>
        <p:txBody>
          <a:bodyPr/>
          <a:lstStyle/>
          <a:p>
            <a:pPr>
              <a:defRPr/>
            </a:pPr>
            <a:fld id="{31E287EE-1289-4991-82CE-EFE584F53F4F}" type="slidenum">
              <a:rPr lang="en-US" altLang="zh-CN" smtClean="0"/>
              <a:pPr>
                <a:defRPr/>
              </a:pPr>
              <a:t>34</a:t>
            </a:fld>
            <a:endParaRPr lang="en-US" altLang="zh-CN" dirty="0"/>
          </a:p>
        </p:txBody>
      </p:sp>
      <p:cxnSp>
        <p:nvCxnSpPr>
          <p:cNvPr id="4" name="直接箭头连接符 3">
            <a:extLst>
              <a:ext uri="{FF2B5EF4-FFF2-40B4-BE49-F238E27FC236}">
                <a16:creationId xmlns:a16="http://schemas.microsoft.com/office/drawing/2014/main" id="{5F67B7C1-CFCD-44B0-82C3-086176EC08CA}"/>
              </a:ext>
            </a:extLst>
          </p:cNvPr>
          <p:cNvCxnSpPr/>
          <p:nvPr/>
        </p:nvCxnSpPr>
        <p:spPr>
          <a:xfrm flipH="1">
            <a:off x="4007768" y="3429000"/>
            <a:ext cx="432048" cy="1224136"/>
          </a:xfrm>
          <a:prstGeom prst="straightConnector1">
            <a:avLst/>
          </a:prstGeom>
          <a:ln>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105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35</a:t>
            </a:fld>
            <a:endParaRPr lang="en-US" altLang="zh-CN" dirty="0"/>
          </a:p>
        </p:txBody>
      </p:sp>
      <p:sp>
        <p:nvSpPr>
          <p:cNvPr id="5" name="Rectangle 2"/>
          <p:cNvSpPr txBox="1">
            <a:spLocks noChangeArrowheads="1"/>
          </p:cNvSpPr>
          <p:nvPr/>
        </p:nvSpPr>
        <p:spPr bwMode="black">
          <a:xfrm>
            <a:off x="1775520" y="0"/>
            <a:ext cx="8445624" cy="8367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eaLnBrk="0" hangingPunct="0"/>
            <a:r>
              <a:rPr lang="en-US" altLang="zh-CN" sz="3200" b="1" kern="0" dirty="0">
                <a:latin typeface="+mj-lt"/>
                <a:ea typeface="+mj-ea"/>
                <a:cs typeface="+mj-cs"/>
              </a:rPr>
              <a:t>12.3 </a:t>
            </a:r>
            <a:r>
              <a:rPr lang="zh-CN" altLang="en-US" sz="3200" b="1" kern="0" dirty="0">
                <a:latin typeface="+mj-lt"/>
                <a:ea typeface="+mj-ea"/>
                <a:cs typeface="+mj-cs"/>
              </a:rPr>
              <a:t>实例分析</a:t>
            </a:r>
            <a:r>
              <a:rPr lang="en-US" altLang="zh-CN" sz="3200" b="1" kern="0" dirty="0">
                <a:latin typeface="+mj-lt"/>
                <a:ea typeface="+mj-ea"/>
                <a:cs typeface="+mj-cs"/>
              </a:rPr>
              <a:t>--</a:t>
            </a:r>
            <a:r>
              <a:rPr lang="zh-CN" altLang="en-US" sz="3200" b="1" dirty="0"/>
              <a:t>弱分类器及其选取</a:t>
            </a:r>
            <a:endParaRPr lang="zh-CN" altLang="en-US" sz="3200" b="1" kern="0" dirty="0">
              <a:latin typeface="+mj-lt"/>
              <a:ea typeface="+mj-ea"/>
              <a:cs typeface="+mj-cs"/>
            </a:endParaRPr>
          </a:p>
        </p:txBody>
      </p:sp>
      <p:sp>
        <p:nvSpPr>
          <p:cNvPr id="6" name="矩形 5"/>
          <p:cNvSpPr/>
          <p:nvPr/>
        </p:nvSpPr>
        <p:spPr>
          <a:xfrm>
            <a:off x="1919536" y="980728"/>
            <a:ext cx="8208912" cy="923330"/>
          </a:xfrm>
          <a:prstGeom prst="rect">
            <a:avLst/>
          </a:prstGeom>
        </p:spPr>
        <p:txBody>
          <a:bodyPr wrap="square">
            <a:spAutoFit/>
          </a:bodyPr>
          <a:lstStyle/>
          <a:p>
            <a:r>
              <a:rPr lang="zh-CN" altLang="en-US" dirty="0"/>
              <a:t>从矩形特征中随机抽取了两个特征</a:t>
            </a:r>
            <a:r>
              <a:rPr lang="en-US" altLang="zh-CN" dirty="0"/>
              <a:t>A</a:t>
            </a:r>
            <a:r>
              <a:rPr lang="zh-CN" altLang="en-US" dirty="0"/>
              <a:t>和</a:t>
            </a:r>
            <a:r>
              <a:rPr lang="en-US" altLang="zh-CN" dirty="0"/>
              <a:t>B</a:t>
            </a:r>
            <a:r>
              <a:rPr lang="zh-CN" altLang="en-US" dirty="0"/>
              <a:t>，这两个特征遍历了</a:t>
            </a:r>
            <a:r>
              <a:rPr lang="en-US" altLang="zh-CN" dirty="0"/>
              <a:t>2,706 </a:t>
            </a:r>
            <a:r>
              <a:rPr lang="zh-CN" altLang="en-US" dirty="0"/>
              <a:t>个人脸样本和</a:t>
            </a:r>
            <a:r>
              <a:rPr lang="en-US" altLang="zh-CN" dirty="0"/>
              <a:t>4,381 </a:t>
            </a:r>
            <a:r>
              <a:rPr lang="zh-CN" altLang="en-US" dirty="0"/>
              <a:t>个非人脸样本，计算了每张图像对应的特征值，最后将特征值进行了从小到大的排序，并按照这个新的顺序表绘制了分布图如下所示：</a:t>
            </a:r>
          </a:p>
        </p:txBody>
      </p:sp>
      <p:pic>
        <p:nvPicPr>
          <p:cNvPr id="257026" name="Picture 2" descr="I:\新建文件夹\集成学习\1338810531_7139.JPG"/>
          <p:cNvPicPr>
            <a:picLocks noChangeAspect="1" noChangeArrowheads="1"/>
          </p:cNvPicPr>
          <p:nvPr/>
        </p:nvPicPr>
        <p:blipFill>
          <a:blip r:embed="rId3" cstate="print"/>
          <a:srcRect/>
          <a:stretch>
            <a:fillRect/>
          </a:stretch>
        </p:blipFill>
        <p:spPr bwMode="auto">
          <a:xfrm>
            <a:off x="3215681" y="1844824"/>
            <a:ext cx="6097507" cy="5013176"/>
          </a:xfrm>
          <a:prstGeom prst="rect">
            <a:avLst/>
          </a:prstGeom>
          <a:noFill/>
        </p:spPr>
      </p:pic>
      <p:sp>
        <p:nvSpPr>
          <p:cNvPr id="8" name="矩形 7"/>
          <p:cNvSpPr/>
          <p:nvPr/>
        </p:nvSpPr>
        <p:spPr>
          <a:xfrm>
            <a:off x="9192344" y="4653137"/>
            <a:ext cx="1152128" cy="646331"/>
          </a:xfrm>
          <a:prstGeom prst="rect">
            <a:avLst/>
          </a:prstGeom>
        </p:spPr>
        <p:txBody>
          <a:bodyPr wrap="square">
            <a:spAutoFit/>
          </a:bodyPr>
          <a:lstStyle/>
          <a:p>
            <a:r>
              <a:rPr lang="en-US" altLang="zh-CN" dirty="0"/>
              <a:t>2,706 </a:t>
            </a:r>
            <a:r>
              <a:rPr lang="zh-CN" altLang="en-US" dirty="0"/>
              <a:t>个人脸样本</a:t>
            </a:r>
          </a:p>
        </p:txBody>
      </p:sp>
      <p:graphicFrame>
        <p:nvGraphicFramePr>
          <p:cNvPr id="9" name="Object 4"/>
          <p:cNvGraphicFramePr>
            <a:graphicFrameLocks noGrp="1" noChangeAspect="1"/>
          </p:cNvGraphicFramePr>
          <p:nvPr>
            <p:ph idx="1"/>
            <p:extLst>
              <p:ext uri="{D42A27DB-BD31-4B8C-83A1-F6EECF244321}">
                <p14:modId xmlns:p14="http://schemas.microsoft.com/office/powerpoint/2010/main" val="426723973"/>
              </p:ext>
            </p:extLst>
          </p:nvPr>
        </p:nvGraphicFramePr>
        <p:xfrm>
          <a:off x="2184400" y="4818063"/>
          <a:ext cx="839788" cy="442912"/>
        </p:xfrm>
        <a:graphic>
          <a:graphicData uri="http://schemas.openxmlformats.org/presentationml/2006/ole">
            <mc:AlternateContent xmlns:mc="http://schemas.openxmlformats.org/markup-compatibility/2006">
              <mc:Choice xmlns:v="urn:schemas-microsoft-com:vml" Requires="v">
                <p:oleObj spid="_x0000_s373769" name="Equation" r:id="rId4" imgW="457200" imgH="241200" progId="Equation.DSMT4">
                  <p:embed/>
                </p:oleObj>
              </mc:Choice>
              <mc:Fallback>
                <p:oleObj name="Equation" r:id="rId4" imgW="457200" imgH="241200" progId="Equation.DSMT4">
                  <p:embed/>
                  <p:pic>
                    <p:nvPicPr>
                      <p:cNvPr id="0" name=""/>
                      <p:cNvPicPr>
                        <a:picLocks noGrp="1" noChangeAspect="1" noChangeArrowheads="1"/>
                      </p:cNvPicPr>
                      <p:nvPr/>
                    </p:nvPicPr>
                    <p:blipFill>
                      <a:blip r:embed="rId5"/>
                      <a:srcRect/>
                      <a:stretch>
                        <a:fillRect/>
                      </a:stretch>
                    </p:blipFill>
                    <p:spPr bwMode="auto">
                      <a:xfrm>
                        <a:off x="2184400" y="4818063"/>
                        <a:ext cx="839788" cy="442912"/>
                      </a:xfrm>
                      <a:prstGeom prst="rect">
                        <a:avLst/>
                      </a:prstGeom>
                      <a:noFill/>
                      <a:effectLst/>
                    </p:spPr>
                  </p:pic>
                </p:oleObj>
              </mc:Fallback>
            </mc:AlternateContent>
          </a:graphicData>
        </a:graphic>
      </p:graphicFrame>
    </p:spTree>
    <p:extLst>
      <p:ext uri="{BB962C8B-B14F-4D97-AF65-F5344CB8AC3E}">
        <p14:creationId xmlns:p14="http://schemas.microsoft.com/office/powerpoint/2010/main" val="2644272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36</a:t>
            </a:fld>
            <a:endParaRPr lang="en-US" altLang="zh-CN" dirty="0"/>
          </a:p>
        </p:txBody>
      </p:sp>
      <p:sp>
        <p:nvSpPr>
          <p:cNvPr id="5" name="Rectangle 2"/>
          <p:cNvSpPr txBox="1">
            <a:spLocks noChangeArrowheads="1"/>
          </p:cNvSpPr>
          <p:nvPr/>
        </p:nvSpPr>
        <p:spPr bwMode="black">
          <a:xfrm>
            <a:off x="1775520" y="0"/>
            <a:ext cx="8445624" cy="8367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eaLnBrk="0" hangingPunct="0"/>
            <a:r>
              <a:rPr lang="en-US" altLang="zh-CN" sz="3200" b="1" kern="0" dirty="0">
                <a:latin typeface="+mj-lt"/>
                <a:ea typeface="+mj-ea"/>
                <a:cs typeface="+mj-cs"/>
              </a:rPr>
              <a:t>12.3 </a:t>
            </a:r>
            <a:r>
              <a:rPr lang="zh-CN" altLang="en-US" sz="3200" b="1" kern="0" dirty="0">
                <a:latin typeface="+mj-lt"/>
                <a:ea typeface="+mj-ea"/>
                <a:cs typeface="+mj-cs"/>
              </a:rPr>
              <a:t>实例分析</a:t>
            </a:r>
            <a:r>
              <a:rPr lang="en-US" altLang="zh-CN" sz="3200" b="1" kern="0" dirty="0">
                <a:latin typeface="+mj-lt"/>
                <a:ea typeface="+mj-ea"/>
                <a:cs typeface="+mj-cs"/>
              </a:rPr>
              <a:t>--</a:t>
            </a:r>
            <a:r>
              <a:rPr lang="zh-CN" altLang="en-US" sz="3200" b="1" dirty="0"/>
              <a:t>弱分类器及其选取</a:t>
            </a:r>
            <a:endParaRPr lang="zh-CN" altLang="en-US" sz="3200" b="1" kern="0" dirty="0">
              <a:latin typeface="+mj-lt"/>
              <a:ea typeface="+mj-ea"/>
              <a:cs typeface="+mj-cs"/>
            </a:endParaRPr>
          </a:p>
        </p:txBody>
      </p:sp>
      <p:pic>
        <p:nvPicPr>
          <p:cNvPr id="258050" name="Picture 2" descr="I:\新建文件夹\集成学习\1338810633_8240.JPG"/>
          <p:cNvPicPr>
            <a:picLocks noChangeAspect="1" noChangeArrowheads="1"/>
          </p:cNvPicPr>
          <p:nvPr/>
        </p:nvPicPr>
        <p:blipFill>
          <a:blip r:embed="rId3" cstate="print"/>
          <a:srcRect/>
          <a:stretch>
            <a:fillRect/>
          </a:stretch>
        </p:blipFill>
        <p:spPr bwMode="auto">
          <a:xfrm>
            <a:off x="2279576" y="1124744"/>
            <a:ext cx="6897638" cy="5260488"/>
          </a:xfrm>
          <a:prstGeom prst="rect">
            <a:avLst/>
          </a:prstGeom>
          <a:noFill/>
        </p:spPr>
      </p:pic>
      <p:sp>
        <p:nvSpPr>
          <p:cNvPr id="7" name="矩形 6"/>
          <p:cNvSpPr/>
          <p:nvPr/>
        </p:nvSpPr>
        <p:spPr>
          <a:xfrm>
            <a:off x="8904312" y="2852936"/>
            <a:ext cx="1152128" cy="923330"/>
          </a:xfrm>
          <a:prstGeom prst="rect">
            <a:avLst/>
          </a:prstGeom>
        </p:spPr>
        <p:txBody>
          <a:bodyPr wrap="square">
            <a:spAutoFit/>
          </a:bodyPr>
          <a:lstStyle/>
          <a:p>
            <a:r>
              <a:rPr lang="en-US" altLang="zh-CN" dirty="0"/>
              <a:t>4,381 </a:t>
            </a:r>
            <a:r>
              <a:rPr lang="zh-CN" altLang="en-US" dirty="0"/>
              <a:t>个非人脸样本</a:t>
            </a:r>
          </a:p>
        </p:txBody>
      </p:sp>
      <p:graphicFrame>
        <p:nvGraphicFramePr>
          <p:cNvPr id="6" name="Object 4"/>
          <p:cNvGraphicFramePr>
            <a:graphicFrameLocks noGrp="1" noChangeAspect="1"/>
          </p:cNvGraphicFramePr>
          <p:nvPr>
            <p:ph idx="1"/>
            <p:extLst>
              <p:ext uri="{D42A27DB-BD31-4B8C-83A1-F6EECF244321}">
                <p14:modId xmlns:p14="http://schemas.microsoft.com/office/powerpoint/2010/main" val="3078223214"/>
              </p:ext>
            </p:extLst>
          </p:nvPr>
        </p:nvGraphicFramePr>
        <p:xfrm>
          <a:off x="1387471" y="3212976"/>
          <a:ext cx="839788" cy="442913"/>
        </p:xfrm>
        <a:graphic>
          <a:graphicData uri="http://schemas.openxmlformats.org/presentationml/2006/ole">
            <mc:AlternateContent xmlns:mc="http://schemas.openxmlformats.org/markup-compatibility/2006">
              <mc:Choice xmlns:v="urn:schemas-microsoft-com:vml" Requires="v">
                <p:oleObj spid="_x0000_s374793" name="Equation" r:id="rId4" imgW="457200" imgH="241200" progId="Equation.DSMT4">
                  <p:embed/>
                </p:oleObj>
              </mc:Choice>
              <mc:Fallback>
                <p:oleObj name="Equation" r:id="rId4" imgW="457200" imgH="241200" progId="Equation.DSMT4">
                  <p:embed/>
                  <p:pic>
                    <p:nvPicPr>
                      <p:cNvPr id="0" name=""/>
                      <p:cNvPicPr>
                        <a:picLocks noGrp="1" noChangeAspect="1" noChangeArrowheads="1"/>
                      </p:cNvPicPr>
                      <p:nvPr/>
                    </p:nvPicPr>
                    <p:blipFill>
                      <a:blip r:embed="rId5"/>
                      <a:srcRect/>
                      <a:stretch>
                        <a:fillRect/>
                      </a:stretch>
                    </p:blipFill>
                    <p:spPr bwMode="auto">
                      <a:xfrm>
                        <a:off x="1387471" y="3212976"/>
                        <a:ext cx="839788" cy="442913"/>
                      </a:xfrm>
                      <a:prstGeom prst="rect">
                        <a:avLst/>
                      </a:prstGeom>
                      <a:noFill/>
                      <a:effectLst/>
                    </p:spPr>
                  </p:pic>
                </p:oleObj>
              </mc:Fallback>
            </mc:AlternateContent>
          </a:graphicData>
        </a:graphic>
      </p:graphicFrame>
    </p:spTree>
    <p:extLst>
      <p:ext uri="{BB962C8B-B14F-4D97-AF65-F5344CB8AC3E}">
        <p14:creationId xmlns:p14="http://schemas.microsoft.com/office/powerpoint/2010/main" val="34228800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37</a:t>
            </a:fld>
            <a:endParaRPr lang="en-US" altLang="zh-CN" dirty="0"/>
          </a:p>
        </p:txBody>
      </p:sp>
      <p:pic>
        <p:nvPicPr>
          <p:cNvPr id="6" name="Picture 6" descr="I:\新建文件夹\集成学习\1338810750_8476.JPG"/>
          <p:cNvPicPr>
            <a:picLocks noChangeAspect="1" noChangeArrowheads="1"/>
          </p:cNvPicPr>
          <p:nvPr/>
        </p:nvPicPr>
        <p:blipFill>
          <a:blip r:embed="rId3" cstate="print"/>
          <a:srcRect/>
          <a:stretch>
            <a:fillRect/>
          </a:stretch>
        </p:blipFill>
        <p:spPr bwMode="auto">
          <a:xfrm>
            <a:off x="2207569" y="980728"/>
            <a:ext cx="6862341" cy="5683790"/>
          </a:xfrm>
          <a:prstGeom prst="rect">
            <a:avLst/>
          </a:prstGeom>
          <a:noFill/>
        </p:spPr>
      </p:pic>
      <p:sp>
        <p:nvSpPr>
          <p:cNvPr id="7" name="矩形 6"/>
          <p:cNvSpPr/>
          <p:nvPr/>
        </p:nvSpPr>
        <p:spPr>
          <a:xfrm>
            <a:off x="8976320" y="3645025"/>
            <a:ext cx="1152128" cy="646331"/>
          </a:xfrm>
          <a:prstGeom prst="rect">
            <a:avLst/>
          </a:prstGeom>
        </p:spPr>
        <p:txBody>
          <a:bodyPr wrap="square">
            <a:spAutoFit/>
          </a:bodyPr>
          <a:lstStyle/>
          <a:p>
            <a:r>
              <a:rPr lang="en-US" altLang="zh-CN" dirty="0"/>
              <a:t>2,706 </a:t>
            </a:r>
            <a:r>
              <a:rPr lang="zh-CN" altLang="en-US" dirty="0"/>
              <a:t>个人脸样本</a:t>
            </a:r>
          </a:p>
        </p:txBody>
      </p:sp>
      <p:sp>
        <p:nvSpPr>
          <p:cNvPr id="8" name="Rectangle 2"/>
          <p:cNvSpPr txBox="1">
            <a:spLocks noChangeArrowheads="1"/>
          </p:cNvSpPr>
          <p:nvPr/>
        </p:nvSpPr>
        <p:spPr bwMode="black">
          <a:xfrm>
            <a:off x="1775520" y="0"/>
            <a:ext cx="8445624" cy="8367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eaLnBrk="0" hangingPunct="0"/>
            <a:r>
              <a:rPr lang="en-US" altLang="zh-CN" sz="3200" b="1" kern="0" dirty="0">
                <a:latin typeface="+mj-lt"/>
                <a:ea typeface="+mj-ea"/>
                <a:cs typeface="+mj-cs"/>
              </a:rPr>
              <a:t>12.3 </a:t>
            </a:r>
            <a:r>
              <a:rPr lang="zh-CN" altLang="en-US" sz="3200" b="1" kern="0" dirty="0">
                <a:latin typeface="+mj-lt"/>
                <a:ea typeface="+mj-ea"/>
                <a:cs typeface="+mj-cs"/>
              </a:rPr>
              <a:t>实例分析</a:t>
            </a:r>
            <a:r>
              <a:rPr lang="en-US" altLang="zh-CN" sz="3200" b="1" kern="0" dirty="0">
                <a:latin typeface="+mj-lt"/>
                <a:ea typeface="+mj-ea"/>
                <a:cs typeface="+mj-cs"/>
              </a:rPr>
              <a:t>--</a:t>
            </a:r>
            <a:r>
              <a:rPr lang="zh-CN" altLang="en-US" sz="3200" b="1" dirty="0"/>
              <a:t>弱分类器及其选取</a:t>
            </a:r>
            <a:endParaRPr lang="zh-CN" altLang="en-US" sz="3200" b="1" kern="0" dirty="0">
              <a:latin typeface="+mj-lt"/>
              <a:ea typeface="+mj-ea"/>
              <a:cs typeface="+mj-cs"/>
            </a:endParaRPr>
          </a:p>
        </p:txBody>
      </p:sp>
      <p:graphicFrame>
        <p:nvGraphicFramePr>
          <p:cNvPr id="9" name="Object 4"/>
          <p:cNvGraphicFramePr>
            <a:graphicFrameLocks noGrp="1" noChangeAspect="1"/>
          </p:cNvGraphicFramePr>
          <p:nvPr>
            <p:ph idx="1"/>
            <p:extLst>
              <p:ext uri="{D42A27DB-BD31-4B8C-83A1-F6EECF244321}">
                <p14:modId xmlns:p14="http://schemas.microsoft.com/office/powerpoint/2010/main" val="1957651826"/>
              </p:ext>
            </p:extLst>
          </p:nvPr>
        </p:nvGraphicFramePr>
        <p:xfrm>
          <a:off x="1055688" y="3675063"/>
          <a:ext cx="839787" cy="442912"/>
        </p:xfrm>
        <a:graphic>
          <a:graphicData uri="http://schemas.openxmlformats.org/presentationml/2006/ole">
            <mc:AlternateContent xmlns:mc="http://schemas.openxmlformats.org/markup-compatibility/2006">
              <mc:Choice xmlns:v="urn:schemas-microsoft-com:vml" Requires="v">
                <p:oleObj spid="_x0000_s375817" name="Equation" r:id="rId4" imgW="457200" imgH="241200" progId="Equation.DSMT4">
                  <p:embed/>
                </p:oleObj>
              </mc:Choice>
              <mc:Fallback>
                <p:oleObj name="Equation" r:id="rId4" imgW="457200" imgH="241200" progId="Equation.DSMT4">
                  <p:embed/>
                  <p:pic>
                    <p:nvPicPr>
                      <p:cNvPr id="0" name=""/>
                      <p:cNvPicPr>
                        <a:picLocks noGrp="1" noChangeAspect="1" noChangeArrowheads="1"/>
                      </p:cNvPicPr>
                      <p:nvPr/>
                    </p:nvPicPr>
                    <p:blipFill>
                      <a:blip r:embed="rId5"/>
                      <a:srcRect/>
                      <a:stretch>
                        <a:fillRect/>
                      </a:stretch>
                    </p:blipFill>
                    <p:spPr bwMode="auto">
                      <a:xfrm>
                        <a:off x="1055688" y="3675063"/>
                        <a:ext cx="839787" cy="442912"/>
                      </a:xfrm>
                      <a:prstGeom prst="rect">
                        <a:avLst/>
                      </a:prstGeom>
                      <a:noFill/>
                      <a:effectLst/>
                    </p:spPr>
                  </p:pic>
                </p:oleObj>
              </mc:Fallback>
            </mc:AlternateContent>
          </a:graphicData>
        </a:graphic>
      </p:graphicFrame>
    </p:spTree>
    <p:extLst>
      <p:ext uri="{BB962C8B-B14F-4D97-AF65-F5344CB8AC3E}">
        <p14:creationId xmlns:p14="http://schemas.microsoft.com/office/powerpoint/2010/main" val="15145245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38</a:t>
            </a:fld>
            <a:endParaRPr lang="en-US" altLang="zh-CN" dirty="0"/>
          </a:p>
        </p:txBody>
      </p:sp>
      <p:sp>
        <p:nvSpPr>
          <p:cNvPr id="7" name="矩形 6"/>
          <p:cNvSpPr/>
          <p:nvPr/>
        </p:nvSpPr>
        <p:spPr>
          <a:xfrm>
            <a:off x="8904312" y="2852936"/>
            <a:ext cx="1152128" cy="923330"/>
          </a:xfrm>
          <a:prstGeom prst="rect">
            <a:avLst/>
          </a:prstGeom>
        </p:spPr>
        <p:txBody>
          <a:bodyPr wrap="square">
            <a:spAutoFit/>
          </a:bodyPr>
          <a:lstStyle/>
          <a:p>
            <a:r>
              <a:rPr lang="en-US" altLang="zh-CN" dirty="0"/>
              <a:t>4,381 </a:t>
            </a:r>
            <a:r>
              <a:rPr lang="zh-CN" altLang="en-US" dirty="0"/>
              <a:t>个非人脸样本</a:t>
            </a:r>
          </a:p>
        </p:txBody>
      </p:sp>
      <p:sp>
        <p:nvSpPr>
          <p:cNvPr id="8" name="Rectangle 2"/>
          <p:cNvSpPr txBox="1">
            <a:spLocks noChangeArrowheads="1"/>
          </p:cNvSpPr>
          <p:nvPr/>
        </p:nvSpPr>
        <p:spPr bwMode="black">
          <a:xfrm>
            <a:off x="1775520" y="0"/>
            <a:ext cx="8445624" cy="8367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eaLnBrk="0" hangingPunct="0"/>
            <a:r>
              <a:rPr lang="en-US" altLang="zh-CN" sz="3200" b="1" kern="0" dirty="0">
                <a:latin typeface="+mj-lt"/>
                <a:ea typeface="+mj-ea"/>
                <a:cs typeface="+mj-cs"/>
              </a:rPr>
              <a:t>12.3 </a:t>
            </a:r>
            <a:r>
              <a:rPr lang="zh-CN" altLang="en-US" sz="3200" b="1" kern="0" dirty="0">
                <a:latin typeface="+mj-lt"/>
                <a:ea typeface="+mj-ea"/>
                <a:cs typeface="+mj-cs"/>
              </a:rPr>
              <a:t>实例分析</a:t>
            </a:r>
            <a:r>
              <a:rPr lang="en-US" altLang="zh-CN" sz="3200" b="1" kern="0" dirty="0">
                <a:latin typeface="+mj-lt"/>
                <a:ea typeface="+mj-ea"/>
                <a:cs typeface="+mj-cs"/>
              </a:rPr>
              <a:t>--</a:t>
            </a:r>
            <a:r>
              <a:rPr lang="zh-CN" altLang="en-US" sz="3200" b="1" dirty="0"/>
              <a:t>弱分类器及其选取</a:t>
            </a:r>
            <a:endParaRPr lang="zh-CN" altLang="en-US" sz="3200" b="1" kern="0" dirty="0">
              <a:latin typeface="+mj-lt"/>
              <a:ea typeface="+mj-ea"/>
              <a:cs typeface="+mj-cs"/>
            </a:endParaRPr>
          </a:p>
        </p:txBody>
      </p:sp>
      <p:pic>
        <p:nvPicPr>
          <p:cNvPr id="256002" name="Picture 2" descr="I:\新建文件夹\集成学习\1338810806_5848.JPG"/>
          <p:cNvPicPr>
            <a:picLocks noChangeAspect="1" noChangeArrowheads="1"/>
          </p:cNvPicPr>
          <p:nvPr/>
        </p:nvPicPr>
        <p:blipFill>
          <a:blip r:embed="rId3" cstate="print"/>
          <a:srcRect/>
          <a:stretch>
            <a:fillRect/>
          </a:stretch>
        </p:blipFill>
        <p:spPr bwMode="auto">
          <a:xfrm>
            <a:off x="2135561" y="1340768"/>
            <a:ext cx="6683885" cy="4968552"/>
          </a:xfrm>
          <a:prstGeom prst="rect">
            <a:avLst/>
          </a:prstGeom>
          <a:noFill/>
        </p:spPr>
      </p:pic>
      <p:graphicFrame>
        <p:nvGraphicFramePr>
          <p:cNvPr id="6" name="Object 4"/>
          <p:cNvGraphicFramePr>
            <a:graphicFrameLocks noGrp="1" noChangeAspect="1"/>
          </p:cNvGraphicFramePr>
          <p:nvPr>
            <p:ph idx="1"/>
            <p:extLst>
              <p:ext uri="{D42A27DB-BD31-4B8C-83A1-F6EECF244321}">
                <p14:modId xmlns:p14="http://schemas.microsoft.com/office/powerpoint/2010/main" val="15052026"/>
              </p:ext>
            </p:extLst>
          </p:nvPr>
        </p:nvGraphicFramePr>
        <p:xfrm>
          <a:off x="1055440" y="2996952"/>
          <a:ext cx="839787" cy="442912"/>
        </p:xfrm>
        <a:graphic>
          <a:graphicData uri="http://schemas.openxmlformats.org/presentationml/2006/ole">
            <mc:AlternateContent xmlns:mc="http://schemas.openxmlformats.org/markup-compatibility/2006">
              <mc:Choice xmlns:v="urn:schemas-microsoft-com:vml" Requires="v">
                <p:oleObj spid="_x0000_s376841" name="Equation" r:id="rId4" imgW="457200" imgH="241200" progId="Equation.DSMT4">
                  <p:embed/>
                </p:oleObj>
              </mc:Choice>
              <mc:Fallback>
                <p:oleObj name="Equation" r:id="rId4" imgW="457200" imgH="241200" progId="Equation.DSMT4">
                  <p:embed/>
                  <p:pic>
                    <p:nvPicPr>
                      <p:cNvPr id="0" name=""/>
                      <p:cNvPicPr>
                        <a:picLocks noGrp="1" noChangeAspect="1" noChangeArrowheads="1"/>
                      </p:cNvPicPr>
                      <p:nvPr/>
                    </p:nvPicPr>
                    <p:blipFill>
                      <a:blip r:embed="rId5"/>
                      <a:srcRect/>
                      <a:stretch>
                        <a:fillRect/>
                      </a:stretch>
                    </p:blipFill>
                    <p:spPr bwMode="auto">
                      <a:xfrm>
                        <a:off x="1055440" y="2996952"/>
                        <a:ext cx="839787" cy="442912"/>
                      </a:xfrm>
                      <a:prstGeom prst="rect">
                        <a:avLst/>
                      </a:prstGeom>
                      <a:noFill/>
                      <a:effectLst/>
                    </p:spPr>
                  </p:pic>
                </p:oleObj>
              </mc:Fallback>
            </mc:AlternateContent>
          </a:graphicData>
        </a:graphic>
      </p:graphicFrame>
    </p:spTree>
    <p:extLst>
      <p:ext uri="{BB962C8B-B14F-4D97-AF65-F5344CB8AC3E}">
        <p14:creationId xmlns:p14="http://schemas.microsoft.com/office/powerpoint/2010/main" val="10947494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body" sz="half" idx="4294967295"/>
          </p:nvPr>
        </p:nvSpPr>
        <p:spPr>
          <a:xfrm>
            <a:off x="1487488" y="954088"/>
            <a:ext cx="8640960" cy="5715000"/>
          </a:xfrm>
          <a:noFill/>
          <a:ln/>
        </p:spPr>
        <p:txBody>
          <a:bodyPr/>
          <a:lstStyle/>
          <a:p>
            <a:pPr marL="609600" indent="-609600">
              <a:buNone/>
            </a:pPr>
            <a:r>
              <a:rPr lang="en-US" altLang="zh-CN" sz="2400" b="1" dirty="0">
                <a:latin typeface="宋体" panose="02010600030101010101" pitchFamily="2" charset="-122"/>
                <a:ea typeface="宋体" panose="02010600030101010101" pitchFamily="2" charset="-122"/>
              </a:rPr>
              <a:t>  </a:t>
            </a:r>
            <a:r>
              <a:rPr lang="zh-CN" altLang="zh-CN" sz="2400" b="1" dirty="0">
                <a:latin typeface="宋体" panose="02010600030101010101" pitchFamily="2" charset="-122"/>
                <a:ea typeface="宋体" panose="02010600030101010101" pitchFamily="2" charset="-122"/>
              </a:rPr>
              <a:t>具体来说，对排好序的表中的每个元素，计算下面四个值：</a:t>
            </a:r>
          </a:p>
          <a:p>
            <a:pPr marL="609600" indent="-609600">
              <a:buNone/>
            </a:pPr>
            <a:r>
              <a:rPr lang="en-US" altLang="zh-CN" sz="2400" b="1" dirty="0">
                <a:latin typeface="宋体" panose="02010600030101010101" pitchFamily="2" charset="-122"/>
                <a:ea typeface="宋体" panose="02010600030101010101" pitchFamily="2" charset="-122"/>
              </a:rPr>
              <a:t>   </a:t>
            </a:r>
            <a:r>
              <a:rPr lang="zh-CN" altLang="zh-CN" sz="2400" b="1" dirty="0">
                <a:latin typeface="宋体" panose="02010600030101010101" pitchFamily="2" charset="-122"/>
                <a:ea typeface="宋体" panose="02010600030101010101" pitchFamily="2" charset="-122"/>
              </a:rPr>
              <a:t>1)</a:t>
            </a: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全部人脸样本的权重的和</a:t>
            </a: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    ；</a:t>
            </a:r>
          </a:p>
          <a:p>
            <a:pPr marL="609600" indent="-609600">
              <a:buNone/>
            </a:pPr>
            <a:r>
              <a:rPr lang="zh-CN" altLang="en-US" sz="2400" b="1" dirty="0">
                <a:latin typeface="宋体" panose="02010600030101010101" pitchFamily="2" charset="-122"/>
                <a:ea typeface="宋体" panose="02010600030101010101" pitchFamily="2" charset="-122"/>
              </a:rPr>
              <a:t>   </a:t>
            </a:r>
            <a:r>
              <a:rPr lang="zh-CN" altLang="zh-CN" sz="2400" b="1" dirty="0">
                <a:latin typeface="宋体" panose="02010600030101010101" pitchFamily="2" charset="-122"/>
                <a:ea typeface="宋体" panose="02010600030101010101" pitchFamily="2" charset="-122"/>
              </a:rPr>
              <a:t>2) </a:t>
            </a:r>
            <a:r>
              <a:rPr lang="zh-CN" altLang="en-US" sz="2400" b="1" dirty="0">
                <a:latin typeface="宋体" panose="02010600030101010101" pitchFamily="2" charset="-122"/>
                <a:ea typeface="宋体" panose="02010600030101010101" pitchFamily="2" charset="-122"/>
              </a:rPr>
              <a:t>全部非人脸样本的权重的和</a:t>
            </a: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    ；</a:t>
            </a:r>
          </a:p>
          <a:p>
            <a:pPr marL="609600" indent="-609600">
              <a:buNone/>
            </a:pPr>
            <a:r>
              <a:rPr lang="zh-CN" altLang="en-US" sz="2400" b="1" dirty="0">
                <a:latin typeface="宋体" panose="02010600030101010101" pitchFamily="2" charset="-122"/>
                <a:ea typeface="宋体" panose="02010600030101010101" pitchFamily="2" charset="-122"/>
              </a:rPr>
              <a:t>   </a:t>
            </a:r>
            <a:r>
              <a:rPr lang="zh-CN" altLang="zh-CN" sz="2400" b="1" dirty="0">
                <a:latin typeface="宋体" panose="02010600030101010101" pitchFamily="2" charset="-122"/>
                <a:ea typeface="宋体" panose="02010600030101010101" pitchFamily="2" charset="-122"/>
              </a:rPr>
              <a:t>3) </a:t>
            </a:r>
            <a:r>
              <a:rPr lang="zh-CN" altLang="en-US" sz="2400" b="1" dirty="0">
                <a:latin typeface="宋体" panose="02010600030101010101" pitchFamily="2" charset="-122"/>
                <a:ea typeface="宋体" panose="02010600030101010101" pitchFamily="2" charset="-122"/>
              </a:rPr>
              <a:t>在此元素之前的人脸样本的权重的和</a:t>
            </a: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   ；</a:t>
            </a:r>
          </a:p>
          <a:p>
            <a:pPr marL="609600" indent="-609600">
              <a:buNone/>
            </a:pPr>
            <a:r>
              <a:rPr lang="zh-CN" altLang="en-US" sz="2400" b="1" dirty="0">
                <a:latin typeface="宋体" panose="02010600030101010101" pitchFamily="2" charset="-122"/>
                <a:ea typeface="宋体" panose="02010600030101010101" pitchFamily="2" charset="-122"/>
              </a:rPr>
              <a:t>   </a:t>
            </a:r>
            <a:r>
              <a:rPr lang="zh-CN" altLang="zh-CN" sz="2400" b="1" dirty="0">
                <a:latin typeface="宋体" panose="02010600030101010101" pitchFamily="2" charset="-122"/>
                <a:ea typeface="宋体" panose="02010600030101010101" pitchFamily="2" charset="-122"/>
              </a:rPr>
              <a:t>4) </a:t>
            </a:r>
            <a:r>
              <a:rPr lang="zh-CN" altLang="en-US" sz="2400" b="1" dirty="0">
                <a:latin typeface="宋体" panose="02010600030101010101" pitchFamily="2" charset="-122"/>
                <a:ea typeface="宋体" panose="02010600030101010101" pitchFamily="2" charset="-122"/>
              </a:rPr>
              <a:t>在此元素之前的非人脸样本的权重的和</a:t>
            </a: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  ；</a:t>
            </a:r>
          </a:p>
        </p:txBody>
      </p:sp>
      <p:graphicFrame>
        <p:nvGraphicFramePr>
          <p:cNvPr id="16387" name="Object 3"/>
          <p:cNvGraphicFramePr>
            <a:graphicFrameLocks noGrp="1" noChangeAspect="1"/>
          </p:cNvGraphicFramePr>
          <p:nvPr>
            <p:ph idx="1"/>
          </p:nvPr>
        </p:nvGraphicFramePr>
        <p:xfrm>
          <a:off x="6067668" y="1340769"/>
          <a:ext cx="460380" cy="432049"/>
        </p:xfrm>
        <a:graphic>
          <a:graphicData uri="http://schemas.openxmlformats.org/presentationml/2006/ole">
            <mc:AlternateContent xmlns:mc="http://schemas.openxmlformats.org/markup-compatibility/2006">
              <mc:Choice xmlns:v="urn:schemas-microsoft-com:vml" Requires="v">
                <p:oleObj spid="_x0000_s349648" r:id="rId4" imgW="206516" imgH="193609" progId="Equation.DSMT4">
                  <p:embed/>
                </p:oleObj>
              </mc:Choice>
              <mc:Fallback>
                <p:oleObj r:id="rId4" imgW="206516" imgH="193609" progId="Equation.DSMT4">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67668" y="1340769"/>
                        <a:ext cx="460380" cy="432049"/>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灯片编号占位符 6"/>
          <p:cNvSpPr>
            <a:spLocks noGrp="1"/>
          </p:cNvSpPr>
          <p:nvPr>
            <p:ph type="sldNum" sz="quarter" idx="11"/>
          </p:nvPr>
        </p:nvSpPr>
        <p:spPr/>
        <p:txBody>
          <a:bodyPr/>
          <a:lstStyle/>
          <a:p>
            <a:pPr>
              <a:defRPr/>
            </a:pPr>
            <a:fld id="{8EDB171D-A1F9-42E8-BD2B-16AA89E5910B}" type="slidenum">
              <a:rPr lang="en-US" altLang="zh-CN" smtClean="0"/>
              <a:pPr>
                <a:defRPr/>
              </a:pPr>
              <a:t>39</a:t>
            </a:fld>
            <a:endParaRPr lang="en-US" altLang="zh-CN"/>
          </a:p>
        </p:txBody>
      </p:sp>
      <p:graphicFrame>
        <p:nvGraphicFramePr>
          <p:cNvPr id="16388" name="Object 4"/>
          <p:cNvGraphicFramePr>
            <a:graphicFrameLocks noGrp="1" noChangeAspect="1"/>
          </p:cNvGraphicFramePr>
          <p:nvPr>
            <p:ph sz="quarter" idx="4294967295"/>
          </p:nvPr>
        </p:nvGraphicFramePr>
        <p:xfrm>
          <a:off x="6358880" y="1772817"/>
          <a:ext cx="457200" cy="430213"/>
        </p:xfrm>
        <a:graphic>
          <a:graphicData uri="http://schemas.openxmlformats.org/presentationml/2006/ole">
            <mc:AlternateContent xmlns:mc="http://schemas.openxmlformats.org/markup-compatibility/2006">
              <mc:Choice xmlns:v="urn:schemas-microsoft-com:vml" Requires="v">
                <p:oleObj spid="_x0000_s349649" r:id="rId6" imgW="206516" imgH="193609" progId="Equation.DSMT4">
                  <p:embed/>
                </p:oleObj>
              </mc:Choice>
              <mc:Fallback>
                <p:oleObj r:id="rId6" imgW="206516" imgH="193609" progId="Equation.DSMT4">
                  <p:embed/>
                  <p:pic>
                    <p:nvPicPr>
                      <p:cNvPr id="0" name=""/>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58880" y="1772817"/>
                        <a:ext cx="457200" cy="430213"/>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89" name="Object 5"/>
          <p:cNvGraphicFramePr>
            <a:graphicFrameLocks noChangeAspect="1"/>
          </p:cNvGraphicFramePr>
          <p:nvPr/>
        </p:nvGraphicFramePr>
        <p:xfrm>
          <a:off x="7583016" y="2251720"/>
          <a:ext cx="457200" cy="457200"/>
        </p:xfrm>
        <a:graphic>
          <a:graphicData uri="http://schemas.openxmlformats.org/presentationml/2006/ole">
            <mc:AlternateContent xmlns:mc="http://schemas.openxmlformats.org/markup-compatibility/2006">
              <mc:Choice xmlns:v="urn:schemas-microsoft-com:vml" Requires="v">
                <p:oleObj spid="_x0000_s349650" r:id="rId8" imgW="206425" imgH="206425" progId="Equation.DSMT4">
                  <p:embed/>
                </p:oleObj>
              </mc:Choice>
              <mc:Fallback>
                <p:oleObj r:id="rId8" imgW="206425" imgH="206425"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83016" y="2251720"/>
                        <a:ext cx="457200" cy="4572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0" name="Object 6"/>
          <p:cNvGraphicFramePr>
            <a:graphicFrameLocks noChangeAspect="1"/>
          </p:cNvGraphicFramePr>
          <p:nvPr/>
        </p:nvGraphicFramePr>
        <p:xfrm>
          <a:off x="7755608" y="2683768"/>
          <a:ext cx="428625" cy="457200"/>
        </p:xfrm>
        <a:graphic>
          <a:graphicData uri="http://schemas.openxmlformats.org/presentationml/2006/ole">
            <mc:AlternateContent xmlns:mc="http://schemas.openxmlformats.org/markup-compatibility/2006">
              <mc:Choice xmlns:v="urn:schemas-microsoft-com:vml" Requires="v">
                <p:oleObj spid="_x0000_s349651" r:id="rId10" imgW="193609" imgH="206516" progId="Equation.DSMT4">
                  <p:embed/>
                </p:oleObj>
              </mc:Choice>
              <mc:Fallback>
                <p:oleObj r:id="rId10" imgW="193609" imgH="206516"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755608" y="2683768"/>
                        <a:ext cx="428625" cy="4572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Rectangle 2"/>
          <p:cNvSpPr txBox="1">
            <a:spLocks noChangeArrowheads="1"/>
          </p:cNvSpPr>
          <p:nvPr/>
        </p:nvSpPr>
        <p:spPr bwMode="black">
          <a:xfrm>
            <a:off x="1775520" y="0"/>
            <a:ext cx="8445624" cy="8367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eaLnBrk="0" hangingPunct="0"/>
            <a:r>
              <a:rPr lang="en-US" altLang="zh-CN" sz="3200" b="1" kern="0" dirty="0">
                <a:latin typeface="+mj-lt"/>
                <a:ea typeface="+mj-ea"/>
                <a:cs typeface="+mj-cs"/>
              </a:rPr>
              <a:t>12.3 </a:t>
            </a:r>
            <a:r>
              <a:rPr lang="zh-CN" altLang="en-US" sz="3200" b="1" kern="0" dirty="0">
                <a:latin typeface="+mj-lt"/>
                <a:ea typeface="+mj-ea"/>
                <a:cs typeface="+mj-cs"/>
              </a:rPr>
              <a:t>实例分析</a:t>
            </a:r>
            <a:r>
              <a:rPr lang="en-US" altLang="zh-CN" sz="3200" b="1" kern="0" dirty="0">
                <a:latin typeface="+mj-lt"/>
                <a:ea typeface="+mj-ea"/>
                <a:cs typeface="+mj-cs"/>
              </a:rPr>
              <a:t>--</a:t>
            </a:r>
            <a:r>
              <a:rPr lang="zh-CN" altLang="en-US" sz="3200" b="1" dirty="0"/>
              <a:t>弱分类器及其选取</a:t>
            </a:r>
            <a:endParaRPr lang="zh-CN" altLang="en-US" sz="3200" b="1" kern="0" dirty="0">
              <a:latin typeface="+mj-lt"/>
              <a:ea typeface="+mj-ea"/>
              <a:cs typeface="+mj-cs"/>
            </a:endParaRPr>
          </a:p>
        </p:txBody>
      </p:sp>
      <p:grpSp>
        <p:nvGrpSpPr>
          <p:cNvPr id="3" name="组合 2"/>
          <p:cNvGrpSpPr/>
          <p:nvPr/>
        </p:nvGrpSpPr>
        <p:grpSpPr>
          <a:xfrm>
            <a:off x="1631504" y="3140968"/>
            <a:ext cx="8960296" cy="1872208"/>
            <a:chOff x="107504" y="3140968"/>
            <a:chExt cx="8960296" cy="1872208"/>
          </a:xfrm>
        </p:grpSpPr>
        <p:sp>
          <p:nvSpPr>
            <p:cNvPr id="12" name="Rectangle 2"/>
            <p:cNvSpPr txBox="1">
              <a:spLocks noChangeArrowheads="1"/>
            </p:cNvSpPr>
            <p:nvPr/>
          </p:nvSpPr>
          <p:spPr>
            <a:xfrm>
              <a:off x="228600" y="3140968"/>
              <a:ext cx="8839200" cy="1872208"/>
            </a:xfrm>
            <a:prstGeom prst="rect">
              <a:avLst/>
            </a:prstGeom>
            <a:noFill/>
            <a:ln/>
          </p:spPr>
          <p:txBody>
            <a:bodyPr/>
            <a:lstStyle/>
            <a:p>
              <a:pPr marL="342900" indent="-342900" eaLnBrk="0" hangingPunct="0">
                <a:spcBef>
                  <a:spcPct val="20000"/>
                </a:spcBef>
                <a:buClr>
                  <a:schemeClr val="tx2"/>
                </a:buClr>
                <a:defRPr/>
              </a:pPr>
              <a:r>
                <a:rPr lang="zh-CN" altLang="en-US" sz="2400" b="1" kern="0" dirty="0">
                  <a:latin typeface="宋体" panose="02010600030101010101" pitchFamily="2" charset="-122"/>
                  <a:ea typeface="宋体" panose="02010600030101010101" pitchFamily="2" charset="-122"/>
                </a:rPr>
                <a:t>    这样，当选取当前元素的特征值    和它前面的一个特征值     之间的数作为阈值时，所得到的弱分类器就在当前元素处把样本分开。可以认为这个阈值所带来的</a:t>
              </a:r>
              <a:r>
                <a:rPr lang="zh-CN" altLang="en-US" sz="2400" b="1" kern="0" dirty="0">
                  <a:solidFill>
                    <a:srgbClr val="0000FF"/>
                  </a:solidFill>
                  <a:latin typeface="宋体" panose="02010600030101010101" pitchFamily="2" charset="-122"/>
                  <a:ea typeface="宋体" panose="02010600030101010101" pitchFamily="2" charset="-122"/>
                </a:rPr>
                <a:t>分类误差</a:t>
              </a:r>
              <a:r>
                <a:rPr lang="zh-CN" altLang="en-US" sz="2400" b="1" kern="0" dirty="0">
                  <a:latin typeface="宋体" panose="02010600030101010101" pitchFamily="2" charset="-122"/>
                  <a:ea typeface="宋体" panose="02010600030101010101" pitchFamily="2" charset="-122"/>
                </a:rPr>
                <a:t>为:</a:t>
              </a:r>
            </a:p>
            <a:p>
              <a:pPr marL="342900" indent="-342900" eaLnBrk="0" hangingPunct="0">
                <a:spcBef>
                  <a:spcPct val="20000"/>
                </a:spcBef>
                <a:buClr>
                  <a:schemeClr val="tx2"/>
                </a:buClr>
                <a:buFont typeface="Wingdings" pitchFamily="2" charset="2"/>
                <a:buChar char="v"/>
                <a:defRPr/>
              </a:pPr>
              <a:endParaRPr lang="zh-CN" altLang="en-US" sz="2400" b="1" kern="0" dirty="0">
                <a:latin typeface="+mn-lt"/>
              </a:endParaRPr>
            </a:p>
            <a:p>
              <a:pPr marL="342900" indent="-342900" eaLnBrk="0" hangingPunct="0">
                <a:spcBef>
                  <a:spcPct val="20000"/>
                </a:spcBef>
                <a:buClr>
                  <a:schemeClr val="tx2"/>
                </a:buClr>
                <a:buFont typeface="Wingdings" pitchFamily="2" charset="2"/>
                <a:buChar char="v"/>
                <a:defRPr/>
              </a:pPr>
              <a:endParaRPr lang="zh-CN" altLang="en-US" sz="2400" b="1" kern="0" dirty="0">
                <a:latin typeface="+mn-lt"/>
              </a:endParaRPr>
            </a:p>
            <a:p>
              <a:pPr marL="342900" indent="-342900" eaLnBrk="0" hangingPunct="0">
                <a:spcBef>
                  <a:spcPct val="20000"/>
                </a:spcBef>
                <a:buClr>
                  <a:schemeClr val="tx2"/>
                </a:buClr>
                <a:defRPr/>
              </a:pPr>
              <a:r>
                <a:rPr lang="zh-CN" altLang="en-US" sz="2400" b="1" kern="0" dirty="0">
                  <a:latin typeface="+mn-lt"/>
                </a:rPr>
                <a:t>         </a:t>
              </a:r>
              <a:endParaRPr lang="zh-CN" altLang="en-US" sz="2400" b="1" kern="0" dirty="0">
                <a:solidFill>
                  <a:schemeClr val="hlink"/>
                </a:solidFill>
                <a:latin typeface="+mn-lt"/>
              </a:endParaRPr>
            </a:p>
          </p:txBody>
        </p:sp>
        <p:graphicFrame>
          <p:nvGraphicFramePr>
            <p:cNvPr id="251911" name="Object 7"/>
            <p:cNvGraphicFramePr>
              <a:graphicFrameLocks noChangeAspect="1"/>
            </p:cNvGraphicFramePr>
            <p:nvPr/>
          </p:nvGraphicFramePr>
          <p:xfrm>
            <a:off x="5354240" y="3143374"/>
            <a:ext cx="369888" cy="501650"/>
          </p:xfrm>
          <a:graphic>
            <a:graphicData uri="http://schemas.openxmlformats.org/presentationml/2006/ole">
              <mc:AlternateContent xmlns:mc="http://schemas.openxmlformats.org/markup-compatibility/2006">
                <mc:Choice xmlns:v="urn:schemas-microsoft-com:vml" Requires="v">
                  <p:oleObj spid="_x0000_s349652" r:id="rId12" imgW="179829" imgH="244054" progId="Equation.DSMT4">
                    <p:embed/>
                  </p:oleObj>
                </mc:Choice>
                <mc:Fallback>
                  <p:oleObj r:id="rId12" imgW="179829" imgH="244054"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54240" y="3143374"/>
                          <a:ext cx="369888" cy="50165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1912" name="Object 8"/>
            <p:cNvGraphicFramePr>
              <a:graphicFrameLocks noChangeAspect="1"/>
            </p:cNvGraphicFramePr>
            <p:nvPr/>
          </p:nvGraphicFramePr>
          <p:xfrm>
            <a:off x="107504" y="3483998"/>
            <a:ext cx="552450" cy="498475"/>
          </p:xfrm>
          <a:graphic>
            <a:graphicData uri="http://schemas.openxmlformats.org/presentationml/2006/ole">
              <mc:AlternateContent xmlns:mc="http://schemas.openxmlformats.org/markup-compatibility/2006">
                <mc:Choice xmlns:v="urn:schemas-microsoft-com:vml" Requires="v">
                  <p:oleObj spid="_x0000_s349653" r:id="rId14" imgW="269862" imgH="244161" progId="Equation.DSMT4">
                    <p:embed/>
                  </p:oleObj>
                </mc:Choice>
                <mc:Fallback>
                  <p:oleObj r:id="rId14" imgW="269862" imgH="244161"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7504" y="3483998"/>
                          <a:ext cx="552450" cy="498475"/>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1914" name="Object 10"/>
            <p:cNvGraphicFramePr>
              <a:graphicFrameLocks noChangeAspect="1"/>
            </p:cNvGraphicFramePr>
            <p:nvPr/>
          </p:nvGraphicFramePr>
          <p:xfrm>
            <a:off x="988872" y="4265849"/>
            <a:ext cx="5715000" cy="533400"/>
          </p:xfrm>
          <a:graphic>
            <a:graphicData uri="http://schemas.openxmlformats.org/presentationml/2006/ole">
              <mc:AlternateContent xmlns:mc="http://schemas.openxmlformats.org/markup-compatibility/2006">
                <mc:Choice xmlns:v="urn:schemas-microsoft-com:vml" Requires="v">
                  <p:oleObj spid="_x0000_s349654" r:id="rId16" imgW="2414048" imgH="228699" progId="Equation.DSMT4">
                    <p:embed/>
                  </p:oleObj>
                </mc:Choice>
                <mc:Fallback>
                  <p:oleObj r:id="rId16" imgW="2414048" imgH="228699"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88872" y="4265849"/>
                          <a:ext cx="5715000" cy="5334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8" name="矩形 17"/>
          <p:cNvSpPr/>
          <p:nvPr/>
        </p:nvSpPr>
        <p:spPr>
          <a:xfrm>
            <a:off x="859036" y="4836623"/>
            <a:ext cx="10626328" cy="1569660"/>
          </a:xfrm>
          <a:prstGeom prst="rect">
            <a:avLst/>
          </a:prstGeom>
          <a:solidFill>
            <a:schemeClr val="bg1"/>
          </a:solidFill>
        </p:spPr>
        <p:txBody>
          <a:bodyPr wrap="square">
            <a:spAutoFit/>
          </a:bodyPr>
          <a:lstStyle/>
          <a:p>
            <a:pPr algn="just"/>
            <a:r>
              <a:rPr lang="zh-CN" altLang="en-US" sz="2400" b="1" dirty="0"/>
              <a:t> </a:t>
            </a:r>
            <a:r>
              <a:rPr lang="zh-CN" altLang="en-US" sz="2400" b="1" dirty="0">
                <a:latin typeface="宋体" panose="02010600030101010101" pitchFamily="2" charset="-122"/>
                <a:ea typeface="宋体" panose="02010600030101010101" pitchFamily="2" charset="-122"/>
              </a:rPr>
              <a:t>于是，通过把这个排序的表从头到尾扫描一遍就可以为弱分类器选择使</a:t>
            </a:r>
            <a:r>
              <a:rPr lang="zh-CN" altLang="en-US" sz="2400" b="1" dirty="0">
                <a:solidFill>
                  <a:srgbClr val="0000FF"/>
                </a:solidFill>
                <a:latin typeface="宋体" panose="02010600030101010101" pitchFamily="2" charset="-122"/>
                <a:ea typeface="宋体" panose="02010600030101010101" pitchFamily="2" charset="-122"/>
              </a:rPr>
              <a:t>分类误差最小</a:t>
            </a:r>
            <a:r>
              <a:rPr lang="zh-CN" altLang="en-US" sz="2400" b="1" dirty="0">
                <a:latin typeface="宋体" panose="02010600030101010101" pitchFamily="2" charset="-122"/>
                <a:ea typeface="宋体" panose="02010600030101010101" pitchFamily="2" charset="-122"/>
              </a:rPr>
              <a:t>的阈值（最优阈值</a:t>
            </a:r>
            <a:r>
              <a:rPr lang="en-US" altLang="zh-CN" sz="2400" b="1" dirty="0" err="1">
                <a:solidFill>
                  <a:srgbClr val="FF0000"/>
                </a:solidFill>
                <a:latin typeface="宋体" panose="02010600030101010101" pitchFamily="2" charset="-122"/>
                <a:ea typeface="宋体" panose="02010600030101010101" pitchFamily="2" charset="-122"/>
              </a:rPr>
              <a:t>F</a:t>
            </a:r>
            <a:r>
              <a:rPr lang="en-US" altLang="zh-CN" sz="2400" b="1" baseline="-25000" dirty="0" err="1">
                <a:solidFill>
                  <a:srgbClr val="FF0000"/>
                </a:solidFill>
                <a:latin typeface="宋体" panose="02010600030101010101" pitchFamily="2" charset="-122"/>
                <a:ea typeface="宋体" panose="02010600030101010101" pitchFamily="2" charset="-122"/>
              </a:rPr>
              <a:t>min</a:t>
            </a:r>
            <a:r>
              <a:rPr lang="zh-CN" altLang="en-US" sz="2400" b="1" dirty="0">
                <a:latin typeface="宋体" panose="02010600030101010101" pitchFamily="2" charset="-122"/>
                <a:ea typeface="宋体" panose="02010600030101010101" pitchFamily="2" charset="-122"/>
              </a:rPr>
              <a:t>），即是</a:t>
            </a:r>
            <a:r>
              <a:rPr lang="zh-CN" altLang="en-US" sz="2400" b="1" dirty="0">
                <a:solidFill>
                  <a:srgbClr val="0000FF"/>
                </a:solidFill>
                <a:latin typeface="宋体" panose="02010600030101010101" pitchFamily="2" charset="-122"/>
                <a:ea typeface="宋体" panose="02010600030101010101" pitchFamily="2" charset="-122"/>
              </a:rPr>
              <a:t>为这个特征选取了一个最佳弱分类器</a:t>
            </a:r>
            <a:r>
              <a:rPr lang="zh-CN" altLang="en-US"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algn="just"/>
            <a:r>
              <a:rPr lang="zh-CN" altLang="en-US" sz="2400" b="1" dirty="0">
                <a:latin typeface="宋体" panose="02010600030101010101" pitchFamily="2" charset="-122"/>
                <a:ea typeface="宋体" panose="02010600030101010101" pitchFamily="2" charset="-122"/>
              </a:rPr>
              <a:t>对于</a:t>
            </a:r>
            <a:r>
              <a:rPr lang="zh-CN" altLang="en-US" sz="2400" b="1" dirty="0">
                <a:solidFill>
                  <a:srgbClr val="FF0000"/>
                </a:solidFill>
                <a:latin typeface="宋体" panose="02010600030101010101" pitchFamily="2" charset="-122"/>
                <a:ea typeface="宋体" panose="02010600030101010101" pitchFamily="2" charset="-122"/>
              </a:rPr>
              <a:t>所有特征，应用以上寻找阈值的方法，就得到了所有特征对应的弱分类器，组成一个弱分类器集，作为训练的输入。</a:t>
            </a:r>
          </a:p>
        </p:txBody>
      </p:sp>
      <p:sp>
        <p:nvSpPr>
          <p:cNvPr id="2" name="矩形 1"/>
          <p:cNvSpPr/>
          <p:nvPr/>
        </p:nvSpPr>
        <p:spPr>
          <a:xfrm>
            <a:off x="6926145" y="1418347"/>
            <a:ext cx="2884123" cy="369332"/>
          </a:xfrm>
          <a:prstGeom prst="rect">
            <a:avLst/>
          </a:prstGeom>
        </p:spPr>
        <p:txBody>
          <a:bodyPr wrap="none">
            <a:spAutoFit/>
          </a:bodyPr>
          <a:lstStyle/>
          <a:p>
            <a:r>
              <a:rPr lang="en-US" altLang="zh-CN" dirty="0">
                <a:solidFill>
                  <a:srgbClr val="00B050"/>
                </a:solidFill>
              </a:rPr>
              <a:t>=0.5</a:t>
            </a:r>
            <a:r>
              <a:rPr lang="zh-CN" altLang="en-US" dirty="0">
                <a:solidFill>
                  <a:srgbClr val="00B050"/>
                </a:solidFill>
              </a:rPr>
              <a:t>，</a:t>
            </a:r>
            <a:r>
              <a:rPr lang="en-US" altLang="zh-CN" dirty="0">
                <a:solidFill>
                  <a:srgbClr val="00B050"/>
                </a:solidFill>
              </a:rPr>
              <a:t>B</a:t>
            </a:r>
            <a:r>
              <a:rPr lang="zh-CN" altLang="en-US" dirty="0">
                <a:solidFill>
                  <a:srgbClr val="00B050"/>
                </a:solidFill>
              </a:rPr>
              <a:t>特征每一个</a:t>
            </a:r>
            <a:r>
              <a:rPr lang="en-US" altLang="zh-CN" dirty="0">
                <a:solidFill>
                  <a:srgbClr val="00B050"/>
                </a:solidFill>
              </a:rPr>
              <a:t>1/2706</a:t>
            </a:r>
            <a:endParaRPr lang="zh-CN" altLang="en-US" dirty="0">
              <a:solidFill>
                <a:srgbClr val="00B050"/>
              </a:solidFill>
            </a:endParaRPr>
          </a:p>
        </p:txBody>
      </p:sp>
      <p:sp>
        <p:nvSpPr>
          <p:cNvPr id="15" name="矩形 14"/>
          <p:cNvSpPr/>
          <p:nvPr/>
        </p:nvSpPr>
        <p:spPr>
          <a:xfrm>
            <a:off x="7379568" y="1856893"/>
            <a:ext cx="2268570" cy="369332"/>
          </a:xfrm>
          <a:prstGeom prst="rect">
            <a:avLst/>
          </a:prstGeom>
        </p:spPr>
        <p:txBody>
          <a:bodyPr wrap="none">
            <a:spAutoFit/>
          </a:bodyPr>
          <a:lstStyle/>
          <a:p>
            <a:r>
              <a:rPr lang="en-US" altLang="zh-CN" dirty="0">
                <a:solidFill>
                  <a:srgbClr val="00B050"/>
                </a:solidFill>
              </a:rPr>
              <a:t>=0.5</a:t>
            </a:r>
            <a:r>
              <a:rPr lang="zh-CN" altLang="en-US" dirty="0">
                <a:solidFill>
                  <a:srgbClr val="00B050"/>
                </a:solidFill>
              </a:rPr>
              <a:t>，每一个</a:t>
            </a:r>
            <a:r>
              <a:rPr lang="en-US" altLang="zh-CN" dirty="0">
                <a:solidFill>
                  <a:srgbClr val="00B050"/>
                </a:solidFill>
              </a:rPr>
              <a:t>1/4381</a:t>
            </a:r>
            <a:endParaRPr lang="zh-CN" altLang="en-US" dirty="0">
              <a:solidFill>
                <a:srgbClr val="00B050"/>
              </a:solidFill>
            </a:endParaRPr>
          </a:p>
        </p:txBody>
      </p:sp>
      <p:sp>
        <p:nvSpPr>
          <p:cNvPr id="16" name="矩形 15"/>
          <p:cNvSpPr/>
          <p:nvPr/>
        </p:nvSpPr>
        <p:spPr>
          <a:xfrm>
            <a:off x="8040216" y="2279658"/>
            <a:ext cx="2595582" cy="369332"/>
          </a:xfrm>
          <a:prstGeom prst="rect">
            <a:avLst/>
          </a:prstGeom>
        </p:spPr>
        <p:txBody>
          <a:bodyPr wrap="none">
            <a:spAutoFit/>
          </a:bodyPr>
          <a:lstStyle/>
          <a:p>
            <a:r>
              <a:rPr lang="zh-CN" altLang="en-US" dirty="0">
                <a:solidFill>
                  <a:srgbClr val="00B050"/>
                </a:solidFill>
              </a:rPr>
              <a:t>阈值</a:t>
            </a:r>
            <a:r>
              <a:rPr lang="en-US" altLang="zh-CN" dirty="0">
                <a:solidFill>
                  <a:srgbClr val="00B050"/>
                </a:solidFill>
              </a:rPr>
              <a:t>=0</a:t>
            </a:r>
            <a:r>
              <a:rPr lang="zh-CN" altLang="en-US" dirty="0">
                <a:solidFill>
                  <a:srgbClr val="00B050"/>
                </a:solidFill>
              </a:rPr>
              <a:t>时，</a:t>
            </a:r>
            <a:r>
              <a:rPr lang="en-US" altLang="zh-CN" dirty="0">
                <a:solidFill>
                  <a:srgbClr val="00B050"/>
                </a:solidFill>
              </a:rPr>
              <a:t>=2500/2706</a:t>
            </a:r>
            <a:endParaRPr lang="zh-CN" altLang="en-US" dirty="0">
              <a:solidFill>
                <a:srgbClr val="00B050"/>
              </a:solidFill>
            </a:endParaRPr>
          </a:p>
        </p:txBody>
      </p:sp>
      <p:sp>
        <p:nvSpPr>
          <p:cNvPr id="17" name="矩形 16"/>
          <p:cNvSpPr/>
          <p:nvPr/>
        </p:nvSpPr>
        <p:spPr>
          <a:xfrm>
            <a:off x="8112224" y="2716783"/>
            <a:ext cx="2595582" cy="369332"/>
          </a:xfrm>
          <a:prstGeom prst="rect">
            <a:avLst/>
          </a:prstGeom>
        </p:spPr>
        <p:txBody>
          <a:bodyPr wrap="none">
            <a:spAutoFit/>
          </a:bodyPr>
          <a:lstStyle/>
          <a:p>
            <a:r>
              <a:rPr lang="zh-CN" altLang="en-US" dirty="0">
                <a:solidFill>
                  <a:srgbClr val="00B050"/>
                </a:solidFill>
              </a:rPr>
              <a:t>阈值</a:t>
            </a:r>
            <a:r>
              <a:rPr lang="en-US" altLang="zh-CN" dirty="0">
                <a:solidFill>
                  <a:srgbClr val="00B050"/>
                </a:solidFill>
              </a:rPr>
              <a:t>=0</a:t>
            </a:r>
            <a:r>
              <a:rPr lang="zh-CN" altLang="en-US" dirty="0">
                <a:solidFill>
                  <a:srgbClr val="00B050"/>
                </a:solidFill>
              </a:rPr>
              <a:t>时，</a:t>
            </a:r>
            <a:r>
              <a:rPr lang="en-US" altLang="zh-CN" dirty="0">
                <a:solidFill>
                  <a:srgbClr val="00B050"/>
                </a:solidFill>
              </a:rPr>
              <a:t>=2600/4381</a:t>
            </a:r>
            <a:endParaRPr lang="zh-CN" altLang="en-US" dirty="0">
              <a:solidFill>
                <a:srgbClr val="00B050"/>
              </a:solidFill>
            </a:endParaRPr>
          </a:p>
        </p:txBody>
      </p:sp>
      <p:sp>
        <p:nvSpPr>
          <p:cNvPr id="19" name="矩形 18"/>
          <p:cNvSpPr/>
          <p:nvPr/>
        </p:nvSpPr>
        <p:spPr>
          <a:xfrm>
            <a:off x="8677858" y="4331049"/>
            <a:ext cx="2210862" cy="369332"/>
          </a:xfrm>
          <a:prstGeom prst="rect">
            <a:avLst/>
          </a:prstGeom>
        </p:spPr>
        <p:txBody>
          <a:bodyPr wrap="none">
            <a:spAutoFit/>
          </a:bodyPr>
          <a:lstStyle/>
          <a:p>
            <a:r>
              <a:rPr lang="zh-CN" altLang="en-US" dirty="0">
                <a:solidFill>
                  <a:srgbClr val="00B050"/>
                </a:solidFill>
              </a:rPr>
              <a:t>阈值</a:t>
            </a:r>
            <a:r>
              <a:rPr lang="en-US" altLang="zh-CN" dirty="0">
                <a:solidFill>
                  <a:srgbClr val="00B050"/>
                </a:solidFill>
              </a:rPr>
              <a:t>=0</a:t>
            </a:r>
            <a:r>
              <a:rPr lang="zh-CN" altLang="en-US" dirty="0">
                <a:solidFill>
                  <a:srgbClr val="00B050"/>
                </a:solidFill>
              </a:rPr>
              <a:t>时，</a:t>
            </a:r>
            <a:r>
              <a:rPr lang="en-US" altLang="zh-CN" dirty="0">
                <a:solidFill>
                  <a:srgbClr val="00B050"/>
                </a:solidFill>
              </a:rPr>
              <a:t>=0.1696</a:t>
            </a:r>
            <a:endParaRPr lang="zh-CN" altLang="en-US" dirty="0">
              <a:solidFill>
                <a:srgbClr val="00B050"/>
              </a:solidFill>
            </a:endParaRPr>
          </a:p>
        </p:txBody>
      </p:sp>
    </p:spTree>
    <p:extLst>
      <p:ext uri="{BB962C8B-B14F-4D97-AF65-F5344CB8AC3E}">
        <p14:creationId xmlns:p14="http://schemas.microsoft.com/office/powerpoint/2010/main" val="3283338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7723584" cy="563563"/>
          </a:xfrm>
        </p:spPr>
        <p:txBody>
          <a:bodyPr/>
          <a:lstStyle/>
          <a:p>
            <a:r>
              <a:rPr lang="en-US" altLang="zh-CN" dirty="0"/>
              <a:t>12.3 </a:t>
            </a:r>
            <a:r>
              <a:rPr lang="zh-CN" altLang="en-US" dirty="0"/>
              <a:t>实例分析</a:t>
            </a:r>
            <a:r>
              <a:rPr lang="en-US" altLang="zh-CN" dirty="0"/>
              <a:t>--</a:t>
            </a:r>
            <a:r>
              <a:rPr lang="zh-CN" altLang="en-US" dirty="0"/>
              <a:t>训练强分类器</a:t>
            </a:r>
          </a:p>
        </p:txBody>
      </p:sp>
      <p:sp>
        <p:nvSpPr>
          <p:cNvPr id="3" name="内容占位符 2"/>
          <p:cNvSpPr>
            <a:spLocks noGrp="1"/>
          </p:cNvSpPr>
          <p:nvPr>
            <p:ph idx="1"/>
          </p:nvPr>
        </p:nvSpPr>
        <p:spPr/>
        <p:txBody>
          <a:bodyPr/>
          <a:lstStyle/>
          <a:p>
            <a:pPr latinLnBrk="0"/>
            <a:endParaRPr lang="zh-CN" altLang="en-US" sz="2400" b="1"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在弱分类器训练中，“每个特征</a:t>
            </a:r>
            <a:r>
              <a:rPr lang="en-US" altLang="zh-CN" sz="2400" b="1" dirty="0">
                <a:latin typeface="宋体" panose="02010600030101010101" pitchFamily="2" charset="-122"/>
                <a:ea typeface="宋体" panose="02010600030101010101" pitchFamily="2" charset="-122"/>
              </a:rPr>
              <a:t>f”</a:t>
            </a:r>
            <a:r>
              <a:rPr lang="zh-CN" altLang="en-US" sz="2400" b="1" dirty="0">
                <a:latin typeface="宋体" panose="02010600030101010101" pitchFamily="2" charset="-122"/>
                <a:ea typeface="宋体" panose="02010600030101010101" pitchFamily="2" charset="-122"/>
              </a:rPr>
              <a:t>指的是在</a:t>
            </a:r>
            <a:r>
              <a:rPr lang="en-US" altLang="zh-CN" sz="2400" b="1" dirty="0">
                <a:latin typeface="宋体" panose="02010600030101010101" pitchFamily="2" charset="-122"/>
                <a:ea typeface="宋体" panose="02010600030101010101" pitchFamily="2" charset="-122"/>
              </a:rPr>
              <a:t>20*20</a:t>
            </a:r>
            <a:r>
              <a:rPr lang="zh-CN" altLang="en-US" sz="2400" b="1" dirty="0">
                <a:latin typeface="宋体" panose="02010600030101010101" pitchFamily="2" charset="-122"/>
                <a:ea typeface="宋体" panose="02010600030101010101" pitchFamily="2" charset="-122"/>
              </a:rPr>
              <a:t>大小的训练样本中所有的可能出现的矩形特征，大概要有</a:t>
            </a:r>
            <a:r>
              <a:rPr lang="en-US" altLang="zh-CN" sz="2400" b="1" dirty="0">
                <a:latin typeface="宋体" panose="02010600030101010101" pitchFamily="2" charset="-122"/>
                <a:ea typeface="宋体" panose="02010600030101010101" pitchFamily="2" charset="-122"/>
              </a:rPr>
              <a:t>80,000</a:t>
            </a:r>
            <a:r>
              <a:rPr lang="zh-CN" altLang="en-US" sz="2400" b="1" dirty="0">
                <a:latin typeface="宋体" panose="02010600030101010101" pitchFamily="2" charset="-122"/>
                <a:ea typeface="宋体" panose="02010600030101010101" pitchFamily="2" charset="-122"/>
              </a:rPr>
              <a:t>中，所有的这些都要进行计算。也就是要计算</a:t>
            </a:r>
            <a:r>
              <a:rPr lang="en-US" altLang="zh-CN" sz="2400" b="1" dirty="0">
                <a:latin typeface="宋体" panose="02010600030101010101" pitchFamily="2" charset="-122"/>
                <a:ea typeface="宋体" panose="02010600030101010101" pitchFamily="2" charset="-122"/>
              </a:rPr>
              <a:t>80,000</a:t>
            </a:r>
            <a:r>
              <a:rPr lang="zh-CN" altLang="en-US" sz="2400" b="1" dirty="0">
                <a:latin typeface="宋体" panose="02010600030101010101" pitchFamily="2" charset="-122"/>
                <a:ea typeface="宋体" panose="02010600030101010101" pitchFamily="2" charset="-122"/>
              </a:rPr>
              <a:t>个左右的弱分类器，再选择性能好的分类器。</a:t>
            </a:r>
            <a:endParaRPr lang="en-US" altLang="zh-CN" sz="2400" b="1" dirty="0">
              <a:latin typeface="宋体" panose="02010600030101010101" pitchFamily="2" charset="-122"/>
              <a:ea typeface="宋体" panose="02010600030101010101" pitchFamily="2" charset="-122"/>
            </a:endParaRPr>
          </a:p>
          <a:p>
            <a:endParaRPr lang="en-US" altLang="zh-CN" sz="2400" b="1"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特别说明：在前期准备训练样本的时候，需要将样本归一化和灰度化到</a:t>
            </a:r>
            <a:r>
              <a:rPr lang="en-US" altLang="zh-CN" sz="2400" b="1" dirty="0">
                <a:latin typeface="宋体" panose="02010600030101010101" pitchFamily="2" charset="-122"/>
                <a:ea typeface="宋体" panose="02010600030101010101" pitchFamily="2" charset="-122"/>
              </a:rPr>
              <a:t>20*20</a:t>
            </a:r>
            <a:r>
              <a:rPr lang="zh-CN" altLang="en-US" sz="2400" b="1" dirty="0">
                <a:latin typeface="宋体" panose="02010600030101010101" pitchFamily="2" charset="-122"/>
                <a:ea typeface="宋体" panose="02010600030101010101" pitchFamily="2" charset="-122"/>
              </a:rPr>
              <a:t>的大小，这样每个样本都是灰度图像并且样本的大小一致，保证了每一个</a:t>
            </a:r>
            <a:r>
              <a:rPr lang="en-US" altLang="zh-CN" sz="2400" b="1" dirty="0" err="1">
                <a:latin typeface="宋体" panose="02010600030101010101" pitchFamily="2" charset="-122"/>
                <a:ea typeface="宋体" panose="02010600030101010101" pitchFamily="2" charset="-122"/>
              </a:rPr>
              <a:t>Haar</a:t>
            </a:r>
            <a:r>
              <a:rPr lang="zh-CN" altLang="en-US" sz="2400" b="1" dirty="0">
                <a:latin typeface="宋体" panose="02010600030101010101" pitchFamily="2" charset="-122"/>
                <a:ea typeface="宋体" panose="02010600030101010101" pitchFamily="2" charset="-122"/>
              </a:rPr>
              <a:t>特征（描述的是特征及其位置）都在每一个样本中出现。</a:t>
            </a:r>
            <a:endParaRPr lang="en-US" altLang="zh-CN" sz="2400" b="1" dirty="0">
              <a:latin typeface="宋体" panose="02010600030101010101" pitchFamily="2" charset="-122"/>
              <a:ea typeface="宋体" panose="02010600030101010101" pitchFamily="2" charset="-122"/>
            </a:endParaRPr>
          </a:p>
          <a:p>
            <a:endParaRPr lang="zh-CN" altLang="en-US" sz="2400" b="1" dirty="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40</a:t>
            </a:fld>
            <a:endParaRPr lang="en-US" altLang="zh-CN" dirty="0"/>
          </a:p>
        </p:txBody>
      </p:sp>
    </p:spTree>
    <p:extLst>
      <p:ext uri="{BB962C8B-B14F-4D97-AF65-F5344CB8AC3E}">
        <p14:creationId xmlns:p14="http://schemas.microsoft.com/office/powerpoint/2010/main" val="40826295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sz="half" idx="4294967295"/>
          </p:nvPr>
        </p:nvSpPr>
        <p:spPr>
          <a:xfrm>
            <a:off x="2063552" y="853323"/>
            <a:ext cx="8352928" cy="4525963"/>
          </a:xfrm>
        </p:spPr>
        <p:txBody>
          <a:bodyPr/>
          <a:lstStyle/>
          <a:p>
            <a:pPr>
              <a:lnSpc>
                <a:spcPct val="150000"/>
              </a:lnSpc>
              <a:buFontTx/>
              <a:buNone/>
            </a:pPr>
            <a:r>
              <a:rPr lang="zh-CN" altLang="en-US" sz="2400" dirty="0">
                <a:solidFill>
                  <a:srgbClr val="0000FF"/>
                </a:solidFill>
                <a:latin typeface="宋体" panose="02010600030101010101" pitchFamily="2" charset="-122"/>
                <a:ea typeface="宋体" panose="02010600030101010101" pitchFamily="2" charset="-122"/>
              </a:rPr>
              <a:t>输入</a:t>
            </a:r>
            <a:r>
              <a:rPr lang="zh-CN" altLang="en-US" sz="2400" dirty="0">
                <a:latin typeface="宋体" panose="02010600030101010101" pitchFamily="2" charset="-122"/>
                <a:ea typeface="宋体" panose="02010600030101010101" pitchFamily="2" charset="-122"/>
              </a:rPr>
              <a:t>：一组训练集：               ，其中   为样本描述，  为样本标识，      ；其中0，1分别表示正例子和反例。在人脸检测中，定义：0</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非人脸，1</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人脸。</a:t>
            </a:r>
          </a:p>
          <a:p>
            <a:pPr>
              <a:lnSpc>
                <a:spcPct val="150000"/>
              </a:lnSpc>
              <a:buFontTx/>
              <a:buNone/>
            </a:pPr>
            <a:r>
              <a:rPr lang="zh-CN" altLang="en-US" sz="2400" dirty="0">
                <a:solidFill>
                  <a:srgbClr val="0000FF"/>
                </a:solidFill>
                <a:latin typeface="宋体" panose="02010600030101010101" pitchFamily="2" charset="-122"/>
                <a:ea typeface="宋体" panose="02010600030101010101" pitchFamily="2" charset="-122"/>
              </a:rPr>
              <a:t>初始化</a:t>
            </a:r>
            <a:r>
              <a:rPr lang="zh-CN" altLang="en-US" sz="2400" dirty="0">
                <a:latin typeface="宋体" panose="02010600030101010101" pitchFamily="2" charset="-122"/>
                <a:ea typeface="宋体" panose="02010600030101010101" pitchFamily="2" charset="-122"/>
              </a:rPr>
              <a:t>：初始样本权值设为         (可能会导致正样本比例很小，所以常</a:t>
            </a:r>
            <a:r>
              <a:rPr lang="zh-CN" altLang="en-US" sz="2400" dirty="0">
                <a:solidFill>
                  <a:srgbClr val="FF0000"/>
                </a:solidFill>
                <a:latin typeface="宋体" panose="02010600030101010101" pitchFamily="2" charset="-122"/>
                <a:ea typeface="宋体" panose="02010600030101010101" pitchFamily="2" charset="-122"/>
              </a:rPr>
              <a:t>用正m个，负n个，则正的权重为1/2m,负的权重1/2n,使得正负比例分别为1/2)</a:t>
            </a:r>
            <a:r>
              <a:rPr lang="zh-CN" altLang="en-US" sz="2400" dirty="0">
                <a:latin typeface="宋体" panose="02010600030101010101" pitchFamily="2" charset="-122"/>
                <a:ea typeface="宋体" panose="02010600030101010101" pitchFamily="2" charset="-122"/>
              </a:rPr>
              <a:t>。</a:t>
            </a:r>
          </a:p>
        </p:txBody>
      </p:sp>
      <p:graphicFrame>
        <p:nvGraphicFramePr>
          <p:cNvPr id="20484" name="Object 4"/>
          <p:cNvGraphicFramePr>
            <a:graphicFrameLocks noGrp="1" noChangeAspect="1"/>
          </p:cNvGraphicFramePr>
          <p:nvPr>
            <p:ph idx="1"/>
          </p:nvPr>
        </p:nvGraphicFramePr>
        <p:xfrm>
          <a:off x="4655841" y="980728"/>
          <a:ext cx="2373579" cy="492372"/>
        </p:xfrm>
        <a:graphic>
          <a:graphicData uri="http://schemas.openxmlformats.org/presentationml/2006/ole">
            <mc:AlternateContent xmlns:mc="http://schemas.openxmlformats.org/markup-compatibility/2006">
              <mc:Choice xmlns:v="urn:schemas-microsoft-com:vml" Requires="v">
                <p:oleObj spid="_x0000_s350659" r:id="rId4" imgW="1109716" imgH="229597" progId="Equation.DSMT4">
                  <p:embed/>
                </p:oleObj>
              </mc:Choice>
              <mc:Fallback>
                <p:oleObj r:id="rId4" imgW="1109716" imgH="229597" progId="Equation.DSMT4">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5841" y="980728"/>
                        <a:ext cx="2373579" cy="4923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6" name="Object 6"/>
          <p:cNvGraphicFramePr>
            <a:graphicFrameLocks noGrp="1" noChangeAspect="1"/>
          </p:cNvGraphicFramePr>
          <p:nvPr>
            <p:ph sz="quarter" idx="4294967295"/>
          </p:nvPr>
        </p:nvGraphicFramePr>
        <p:xfrm>
          <a:off x="8013700" y="974725"/>
          <a:ext cx="368300" cy="552450"/>
        </p:xfrm>
        <a:graphic>
          <a:graphicData uri="http://schemas.openxmlformats.org/presentationml/2006/ole">
            <mc:AlternateContent xmlns:mc="http://schemas.openxmlformats.org/markup-compatibility/2006">
              <mc:Choice xmlns:v="urn:schemas-microsoft-com:vml" Requires="v">
                <p:oleObj spid="_x0000_s350660" name="Equation" r:id="rId6" imgW="152334" imgH="228501" progId="Equation.DSMT4">
                  <p:embed/>
                </p:oleObj>
              </mc:Choice>
              <mc:Fallback>
                <p:oleObj name="Equation" r:id="rId6" imgW="152334" imgH="228501" progId="Equation.DSMT4">
                  <p:embed/>
                  <p:pic>
                    <p:nvPicPr>
                      <p:cNvPr id="0" name=""/>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13700" y="974725"/>
                        <a:ext cx="368300"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85" name="Text Box 5"/>
          <p:cNvSpPr txBox="1">
            <a:spLocks noChangeArrowheads="1"/>
          </p:cNvSpPr>
          <p:nvPr/>
        </p:nvSpPr>
        <p:spPr bwMode="auto">
          <a:xfrm>
            <a:off x="6461125" y="4746626"/>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zh-CN"/>
          </a:p>
        </p:txBody>
      </p:sp>
      <p:graphicFrame>
        <p:nvGraphicFramePr>
          <p:cNvPr id="20487" name="Object 7"/>
          <p:cNvGraphicFramePr>
            <a:graphicFrameLocks noChangeAspect="1"/>
          </p:cNvGraphicFramePr>
          <p:nvPr/>
        </p:nvGraphicFramePr>
        <p:xfrm>
          <a:off x="2554668" y="1473100"/>
          <a:ext cx="381000" cy="571500"/>
        </p:xfrm>
        <a:graphic>
          <a:graphicData uri="http://schemas.openxmlformats.org/presentationml/2006/ole">
            <mc:AlternateContent xmlns:mc="http://schemas.openxmlformats.org/markup-compatibility/2006">
              <mc:Choice xmlns:v="urn:schemas-microsoft-com:vml" Requires="v">
                <p:oleObj spid="_x0000_s350661" r:id="rId8" imgW="154343" imgH="231514" progId="Equation.DSMT4">
                  <p:embed/>
                </p:oleObj>
              </mc:Choice>
              <mc:Fallback>
                <p:oleObj r:id="rId8" imgW="154343" imgH="231514"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54668" y="1473100"/>
                        <a:ext cx="381000" cy="5715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8" name="Object 8"/>
          <p:cNvGraphicFramePr>
            <a:graphicFrameLocks noChangeAspect="1"/>
          </p:cNvGraphicFramePr>
          <p:nvPr/>
        </p:nvGraphicFramePr>
        <p:xfrm>
          <a:off x="4746625" y="1530250"/>
          <a:ext cx="960834" cy="514350"/>
        </p:xfrm>
        <a:graphic>
          <a:graphicData uri="http://schemas.openxmlformats.org/presentationml/2006/ole">
            <mc:AlternateContent xmlns:mc="http://schemas.openxmlformats.org/markup-compatibility/2006">
              <mc:Choice xmlns:v="urn:schemas-microsoft-com:vml" Requires="v">
                <p:oleObj spid="_x0000_s350662" r:id="rId10" imgW="599763" imgH="229697" progId="Equation.DSMT4">
                  <p:embed/>
                </p:oleObj>
              </mc:Choice>
              <mc:Fallback>
                <p:oleObj r:id="rId10" imgW="599763" imgH="229697"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46625" y="1530250"/>
                        <a:ext cx="960834"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9" name="Object 9"/>
          <p:cNvGraphicFramePr>
            <a:graphicFrameLocks noChangeAspect="1"/>
          </p:cNvGraphicFramePr>
          <p:nvPr/>
        </p:nvGraphicFramePr>
        <p:xfrm>
          <a:off x="5828018" y="2495769"/>
          <a:ext cx="1066800" cy="838200"/>
        </p:xfrm>
        <a:graphic>
          <a:graphicData uri="http://schemas.openxmlformats.org/presentationml/2006/ole">
            <mc:AlternateContent xmlns:mc="http://schemas.openxmlformats.org/markup-compatibility/2006">
              <mc:Choice xmlns:v="urn:schemas-microsoft-com:vml" Requires="v">
                <p:oleObj spid="_x0000_s350663" r:id="rId12" imgW="522970" imgH="395416" progId="Equation.DSMT4">
                  <p:embed/>
                </p:oleObj>
              </mc:Choice>
              <mc:Fallback>
                <p:oleObj r:id="rId12" imgW="522970" imgH="395416"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28018" y="2495769"/>
                        <a:ext cx="1066800" cy="8382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91" name="Object 11"/>
          <p:cNvGraphicFramePr>
            <a:graphicFrameLocks noChangeAspect="1"/>
          </p:cNvGraphicFramePr>
          <p:nvPr>
            <p:extLst>
              <p:ext uri="{D42A27DB-BD31-4B8C-83A1-F6EECF244321}">
                <p14:modId xmlns:p14="http://schemas.microsoft.com/office/powerpoint/2010/main" val="2158823521"/>
              </p:ext>
            </p:extLst>
          </p:nvPr>
        </p:nvGraphicFramePr>
        <p:xfrm>
          <a:off x="4403725" y="4975353"/>
          <a:ext cx="2057400" cy="1066800"/>
        </p:xfrm>
        <a:graphic>
          <a:graphicData uri="http://schemas.openxmlformats.org/presentationml/2006/ole">
            <mc:AlternateContent xmlns:mc="http://schemas.openxmlformats.org/markup-compatibility/2006">
              <mc:Choice xmlns:v="urn:schemas-microsoft-com:vml" Requires="v">
                <p:oleObj spid="_x0000_s350664" r:id="rId14" imgW="943897" imgH="510214" progId="Equation.DSMT4">
                  <p:embed/>
                </p:oleObj>
              </mc:Choice>
              <mc:Fallback>
                <p:oleObj r:id="rId14" imgW="943897" imgH="510214"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03725" y="4975353"/>
                        <a:ext cx="2057400" cy="10668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标题 1"/>
          <p:cNvSpPr txBox="1">
            <a:spLocks/>
          </p:cNvSpPr>
          <p:nvPr/>
        </p:nvSpPr>
        <p:spPr bwMode="black">
          <a:xfrm>
            <a:off x="1828800" y="152401"/>
            <a:ext cx="7075512"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12.3 </a:t>
            </a:r>
            <a:r>
              <a:rPr lang="zh-CN" altLang="en-US" kern="0" dirty="0"/>
              <a:t>实例分析</a:t>
            </a:r>
            <a:r>
              <a:rPr lang="en-US" altLang="zh-CN" kern="0" dirty="0"/>
              <a:t>--</a:t>
            </a:r>
            <a:r>
              <a:rPr lang="zh-CN" altLang="en-US" kern="0" dirty="0"/>
              <a:t>训练强分类器</a:t>
            </a: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pPr>
                <a:defRPr/>
              </a:pPr>
              <a:t>41</a:t>
            </a:fld>
            <a:endParaRPr lang="en-US" altLang="zh-CN" dirty="0"/>
          </a:p>
        </p:txBody>
      </p:sp>
      <mc:AlternateContent xmlns:mc="http://schemas.openxmlformats.org/markup-compatibility/2006" xmlns:a14="http://schemas.microsoft.com/office/drawing/2010/main">
        <mc:Choice Requires="a14">
          <p:sp>
            <p:nvSpPr>
              <p:cNvPr id="2" name="矩形 1"/>
              <p:cNvSpPr/>
              <p:nvPr/>
            </p:nvSpPr>
            <p:spPr>
              <a:xfrm>
                <a:off x="1991544" y="4414301"/>
                <a:ext cx="8357882" cy="507831"/>
              </a:xfrm>
              <a:prstGeom prst="rect">
                <a:avLst/>
              </a:prstGeom>
            </p:spPr>
            <p:txBody>
              <a:bodyPr wrap="square">
                <a:spAutoFit/>
              </a:bodyPr>
              <a:lstStyle/>
              <a:p>
                <a:pPr>
                  <a:lnSpc>
                    <a:spcPct val="150000"/>
                  </a:lnSpc>
                </a:pPr>
                <a:r>
                  <a:rPr lang="zh-CN" altLang="en-US" dirty="0">
                    <a:latin typeface="宋体" panose="02010600030101010101" pitchFamily="2" charset="-122"/>
                    <a:ea typeface="宋体" panose="02010600030101010101" pitchFamily="2" charset="-122"/>
                  </a:rPr>
                  <a:t>对</a:t>
                </a:r>
                <a14:m>
                  <m:oMath xmlns:m="http://schemas.openxmlformats.org/officeDocument/2006/math">
                    <m:r>
                      <a:rPr lang="zh-CN" altLang="en-US" i="1">
                        <a:latin typeface="Cambria Math" panose="02040503050406030204" pitchFamily="18" charset="0"/>
                      </a:rPr>
                      <m:t>𝑡</m:t>
                    </m:r>
                    <m:r>
                      <a:rPr lang="zh-CN" altLang="en-US">
                        <a:latin typeface="Cambria Math" panose="02040503050406030204" pitchFamily="18" charset="0"/>
                      </a:rPr>
                      <m:t>=1,2,...,</m:t>
                    </m:r>
                    <m:r>
                      <a:rPr lang="zh-CN" altLang="en-US" i="1">
                        <a:latin typeface="Cambria Math" panose="02040503050406030204" pitchFamily="18" charset="0"/>
                      </a:rPr>
                      <m:t>𝑇</m:t>
                    </m:r>
                  </m:oMath>
                </a14:m>
                <a:r>
                  <a:rPr lang="zh-CN" altLang="en-US" dirty="0">
                    <a:latin typeface="宋体" panose="02010600030101010101" pitchFamily="2" charset="-122"/>
                    <a:ea typeface="宋体" panose="02010600030101010101" pitchFamily="2" charset="-122"/>
                  </a:rPr>
                  <a:t>，(</a:t>
                </a:r>
                <a:r>
                  <a:rPr lang="zh-CN" altLang="en-US" dirty="0">
                    <a:solidFill>
                      <a:srgbClr val="FF0000"/>
                    </a:solidFill>
                    <a:latin typeface="宋体" panose="02010600030101010101" pitchFamily="2" charset="-122"/>
                    <a:ea typeface="宋体" panose="02010600030101010101" pitchFamily="2" charset="-122"/>
                  </a:rPr>
                  <a:t>T为循环数，即找到T个弱分类器</a:t>
                </a:r>
                <a:r>
                  <a:rPr lang="zh-CN" altLang="en-US" dirty="0">
                    <a:latin typeface="宋体" panose="02010600030101010101" pitchFamily="2" charset="-122"/>
                    <a:ea typeface="宋体" panose="02010600030101010101" pitchFamily="2" charset="-122"/>
                  </a:rPr>
                  <a:t>)循环执行下面的步骤：</a:t>
                </a:r>
              </a:p>
            </p:txBody>
          </p:sp>
        </mc:Choice>
        <mc:Fallback xmlns="">
          <p:sp>
            <p:nvSpPr>
              <p:cNvPr id="2" name="矩形 1"/>
              <p:cNvSpPr>
                <a:spLocks noRot="1" noChangeAspect="1" noMove="1" noResize="1" noEditPoints="1" noAdjustHandles="1" noChangeArrowheads="1" noChangeShapeType="1" noTextEdit="1"/>
              </p:cNvSpPr>
              <p:nvPr/>
            </p:nvSpPr>
            <p:spPr>
              <a:xfrm>
                <a:off x="1991544" y="4414301"/>
                <a:ext cx="8357882" cy="507831"/>
              </a:xfrm>
              <a:prstGeom prst="rect">
                <a:avLst/>
              </a:prstGeom>
              <a:blipFill>
                <a:blip r:embed="rId16"/>
                <a:stretch>
                  <a:fillRect l="-656" b="-6024"/>
                </a:stretch>
              </a:blipFill>
            </p:spPr>
            <p:txBody>
              <a:bodyPr/>
              <a:lstStyle/>
              <a:p>
                <a:r>
                  <a:rPr lang="zh-CN" altLang="en-US">
                    <a:noFill/>
                  </a:rPr>
                  <a:t> </a:t>
                </a:r>
              </a:p>
            </p:txBody>
          </p:sp>
        </mc:Fallback>
      </mc:AlternateContent>
      <p:sp>
        <p:nvSpPr>
          <p:cNvPr id="4" name="矩形 3"/>
          <p:cNvSpPr/>
          <p:nvPr/>
        </p:nvSpPr>
        <p:spPr>
          <a:xfrm>
            <a:off x="5332265" y="3244334"/>
            <a:ext cx="184731" cy="369332"/>
          </a:xfrm>
          <a:prstGeom prst="rect">
            <a:avLst/>
          </a:prstGeom>
        </p:spPr>
        <p:txBody>
          <a:bodyPr wrap="none">
            <a:spAutoFit/>
          </a:bodyPr>
          <a:lstStyle/>
          <a:p>
            <a:endParaRPr lang="zh-CN" altLang="en-US" dirty="0"/>
          </a:p>
        </p:txBody>
      </p:sp>
      <p:sp>
        <p:nvSpPr>
          <p:cNvPr id="5" name="矩形 4"/>
          <p:cNvSpPr/>
          <p:nvPr/>
        </p:nvSpPr>
        <p:spPr>
          <a:xfrm>
            <a:off x="2252625" y="4990812"/>
            <a:ext cx="1800493" cy="507831"/>
          </a:xfrm>
          <a:prstGeom prst="rect">
            <a:avLst/>
          </a:prstGeom>
        </p:spPr>
        <p:txBody>
          <a:bodyPr wrap="none">
            <a:spAutoFit/>
          </a:bodyPr>
          <a:lstStyle/>
          <a:p>
            <a:pPr>
              <a:lnSpc>
                <a:spcPct val="150000"/>
              </a:lnSpc>
              <a:buFontTx/>
              <a:buNone/>
            </a:pPr>
            <a:r>
              <a:rPr lang="zh-CN" altLang="en-US" dirty="0">
                <a:latin typeface="宋体" panose="02010600030101010101" pitchFamily="2" charset="-122"/>
                <a:ea typeface="宋体" panose="02010600030101010101" pitchFamily="2" charset="-122"/>
              </a:rPr>
              <a:t>1.归一化权重：</a:t>
            </a:r>
          </a:p>
        </p:txBody>
      </p:sp>
    </p:spTree>
    <p:extLst>
      <p:ext uri="{BB962C8B-B14F-4D97-AF65-F5344CB8AC3E}">
        <p14:creationId xmlns:p14="http://schemas.microsoft.com/office/powerpoint/2010/main" val="16013211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sz="half" idx="4294967295"/>
          </p:nvPr>
        </p:nvSpPr>
        <p:spPr>
          <a:xfrm>
            <a:off x="1828800" y="950913"/>
            <a:ext cx="8587680" cy="5373687"/>
          </a:xfrm>
        </p:spPr>
        <p:txBody>
          <a:bodyPr/>
          <a:lstStyle/>
          <a:p>
            <a:pPr>
              <a:lnSpc>
                <a:spcPct val="150000"/>
              </a:lnSpc>
              <a:spcBef>
                <a:spcPts val="0"/>
              </a:spcBef>
              <a:buNone/>
            </a:pPr>
            <a:r>
              <a:rPr lang="zh-CN" altLang="en-US" sz="2400" dirty="0">
                <a:latin typeface="宋体" panose="02010600030101010101" pitchFamily="2" charset="-122"/>
                <a:ea typeface="宋体" panose="02010600030101010101" pitchFamily="2" charset="-122"/>
              </a:rPr>
              <a:t>2.对</a:t>
            </a:r>
            <a:r>
              <a:rPr lang="zh-CN" altLang="en-US" sz="2400" b="1" dirty="0">
                <a:solidFill>
                  <a:srgbClr val="FF0000"/>
                </a:solidFill>
                <a:latin typeface="宋体" panose="02010600030101010101" pitchFamily="2" charset="-122"/>
                <a:ea typeface="宋体" panose="02010600030101010101" pitchFamily="2" charset="-122"/>
              </a:rPr>
              <a:t>每个特征</a:t>
            </a:r>
            <a:r>
              <a:rPr lang="zh-CN" altLang="en-US" sz="2400" dirty="0">
                <a:latin typeface="宋体" panose="02010600030101010101" pitchFamily="2" charset="-122"/>
                <a:ea typeface="宋体" panose="02010600030101010101" pitchFamily="2" charset="-122"/>
              </a:rPr>
              <a:t>f，训练一个弱分类器         ；计算每个特征的弱分类器的（全部样本的）加权错误率</a:t>
            </a:r>
          </a:p>
          <a:p>
            <a:pPr>
              <a:lnSpc>
                <a:spcPct val="150000"/>
              </a:lnSpc>
              <a:spcBef>
                <a:spcPts val="0"/>
              </a:spcBef>
              <a:buNone/>
            </a:pPr>
            <a:endParaRPr lang="zh-CN" altLang="en-US" sz="2400" dirty="0">
              <a:latin typeface="宋体" panose="02010600030101010101" pitchFamily="2" charset="-122"/>
              <a:ea typeface="宋体" panose="02010600030101010101" pitchFamily="2" charset="-122"/>
            </a:endParaRPr>
          </a:p>
          <a:p>
            <a:pPr>
              <a:lnSpc>
                <a:spcPct val="150000"/>
              </a:lnSpc>
              <a:spcBef>
                <a:spcPts val="0"/>
              </a:spcBef>
              <a:buNone/>
            </a:pPr>
            <a:r>
              <a:rPr lang="zh-CN" altLang="en-US" sz="2400" dirty="0">
                <a:latin typeface="宋体" panose="02010600030101010101" pitchFamily="2" charset="-122"/>
                <a:ea typeface="宋体" panose="02010600030101010101" pitchFamily="2" charset="-122"/>
              </a:rPr>
              <a:t>3.（</a:t>
            </a:r>
            <a:r>
              <a:rPr lang="zh-CN" altLang="en-US" sz="2400" b="1" dirty="0">
                <a:latin typeface="宋体" panose="02010600030101010101" pitchFamily="2" charset="-122"/>
                <a:ea typeface="宋体" panose="02010600030101010101" pitchFamily="2" charset="-122"/>
              </a:rPr>
              <a:t>在所有特征中</a:t>
            </a:r>
            <a:r>
              <a:rPr lang="zh-CN" altLang="en-US" sz="2400" dirty="0">
                <a:latin typeface="宋体" panose="02010600030101010101" pitchFamily="2" charset="-122"/>
                <a:ea typeface="宋体" panose="02010600030101010101" pitchFamily="2" charset="-122"/>
              </a:rPr>
              <a:t>）选取具有</a:t>
            </a:r>
            <a:r>
              <a:rPr lang="zh-CN" altLang="en-US" sz="2400" dirty="0">
                <a:solidFill>
                  <a:srgbClr val="FF0000"/>
                </a:solidFill>
                <a:latin typeface="宋体" panose="02010600030101010101" pitchFamily="2" charset="-122"/>
                <a:ea typeface="宋体" panose="02010600030101010101" pitchFamily="2" charset="-122"/>
              </a:rPr>
              <a:t>最小错误率</a:t>
            </a:r>
            <a:r>
              <a:rPr lang="zh-CN" altLang="en-US" sz="2400" dirty="0">
                <a:latin typeface="宋体" panose="02010600030101010101" pitchFamily="2" charset="-122"/>
                <a:ea typeface="宋体" panose="02010600030101010101" pitchFamily="2" charset="-122"/>
              </a:rPr>
              <a:t>的</a:t>
            </a:r>
            <a:r>
              <a:rPr lang="zh-CN" altLang="en-US" sz="2400" dirty="0">
                <a:solidFill>
                  <a:srgbClr val="FF0000"/>
                </a:solidFill>
                <a:latin typeface="宋体" panose="02010600030101010101" pitchFamily="2" charset="-122"/>
                <a:ea typeface="宋体" panose="02010600030101010101" pitchFamily="2" charset="-122"/>
              </a:rPr>
              <a:t>最佳弱分类器</a:t>
            </a:r>
            <a:r>
              <a:rPr lang="zh-CN" altLang="en-US" sz="2400" dirty="0">
                <a:latin typeface="宋体" panose="02010600030101010101" pitchFamily="2" charset="-122"/>
                <a:ea typeface="宋体" panose="02010600030101010101" pitchFamily="2" charset="-122"/>
              </a:rPr>
              <a:t>           </a:t>
            </a:r>
          </a:p>
          <a:p>
            <a:pPr>
              <a:lnSpc>
                <a:spcPct val="150000"/>
              </a:lnSpc>
              <a:spcBef>
                <a:spcPts val="0"/>
              </a:spcBef>
              <a:buNone/>
            </a:pPr>
            <a:endParaRPr lang="zh-CN" altLang="en-US" sz="2400" dirty="0">
              <a:latin typeface="宋体" panose="02010600030101010101" pitchFamily="2" charset="-122"/>
              <a:ea typeface="宋体" panose="02010600030101010101" pitchFamily="2" charset="-122"/>
            </a:endParaRPr>
          </a:p>
          <a:p>
            <a:pPr>
              <a:lnSpc>
                <a:spcPct val="150000"/>
              </a:lnSpc>
              <a:spcBef>
                <a:spcPts val="0"/>
              </a:spcBef>
              <a:buNone/>
            </a:pPr>
            <a:endParaRPr lang="zh-CN" altLang="en-US" sz="2400" dirty="0">
              <a:latin typeface="宋体" panose="02010600030101010101" pitchFamily="2" charset="-122"/>
              <a:ea typeface="宋体" panose="02010600030101010101" pitchFamily="2" charset="-122"/>
            </a:endParaRPr>
          </a:p>
          <a:p>
            <a:pPr>
              <a:lnSpc>
                <a:spcPct val="150000"/>
              </a:lnSpc>
              <a:spcBef>
                <a:spcPts val="0"/>
              </a:spcBef>
              <a:buNone/>
            </a:pPr>
            <a:r>
              <a:rPr lang="zh-CN" altLang="en-US" sz="2400" dirty="0">
                <a:latin typeface="宋体" panose="02010600030101010101" pitchFamily="2" charset="-122"/>
                <a:ea typeface="宋体" panose="02010600030101010101" pitchFamily="2" charset="-122"/>
              </a:rPr>
              <a:t>4.按照这个最佳弱分类器，调整每个样本的权重：</a:t>
            </a:r>
          </a:p>
          <a:p>
            <a:pPr>
              <a:lnSpc>
                <a:spcPct val="200000"/>
              </a:lnSpc>
              <a:spcBef>
                <a:spcPts val="0"/>
              </a:spcBef>
              <a:buNone/>
            </a:pPr>
            <a:endParaRPr lang="zh-CN" altLang="en-US" sz="2400" dirty="0">
              <a:latin typeface="宋体" panose="02010600030101010101" pitchFamily="2" charset="-122"/>
              <a:ea typeface="宋体" panose="02010600030101010101" pitchFamily="2" charset="-122"/>
            </a:endParaRPr>
          </a:p>
          <a:p>
            <a:pPr>
              <a:lnSpc>
                <a:spcPct val="150000"/>
              </a:lnSpc>
              <a:spcBef>
                <a:spcPts val="0"/>
              </a:spcBef>
              <a:buNone/>
            </a:pPr>
            <a:r>
              <a:rPr lang="zh-CN" altLang="en-US" sz="2400" dirty="0">
                <a:latin typeface="宋体" panose="02010600030101010101" pitchFamily="2" charset="-122"/>
                <a:ea typeface="宋体" panose="02010600030101010101" pitchFamily="2" charset="-122"/>
              </a:rPr>
              <a:t>  其中      表示   被正确分类，     表示   被错误分类。</a:t>
            </a:r>
          </a:p>
          <a:p>
            <a:pPr>
              <a:lnSpc>
                <a:spcPct val="150000"/>
              </a:lnSpc>
              <a:spcBef>
                <a:spcPts val="0"/>
              </a:spcBef>
              <a:buNone/>
            </a:pPr>
            <a:endParaRPr lang="zh-CN" altLang="en-US" sz="2400" dirty="0">
              <a:latin typeface="宋体" panose="02010600030101010101" pitchFamily="2" charset="-122"/>
              <a:ea typeface="宋体" panose="02010600030101010101" pitchFamily="2" charset="-122"/>
            </a:endParaRPr>
          </a:p>
          <a:p>
            <a:pPr>
              <a:lnSpc>
                <a:spcPct val="150000"/>
              </a:lnSpc>
              <a:spcBef>
                <a:spcPts val="0"/>
              </a:spcBef>
              <a:buNone/>
            </a:pPr>
            <a:endParaRPr lang="zh-CN" altLang="en-US" sz="2400" dirty="0">
              <a:latin typeface="宋体" panose="02010600030101010101" pitchFamily="2" charset="-122"/>
              <a:ea typeface="宋体" panose="02010600030101010101" pitchFamily="2" charset="-122"/>
            </a:endParaRPr>
          </a:p>
          <a:p>
            <a:pPr>
              <a:lnSpc>
                <a:spcPct val="150000"/>
              </a:lnSpc>
              <a:spcBef>
                <a:spcPts val="0"/>
              </a:spcBef>
              <a:buNone/>
            </a:pPr>
            <a:endParaRPr lang="zh-CN" altLang="en-US" sz="2400" dirty="0">
              <a:latin typeface="宋体" panose="02010600030101010101" pitchFamily="2" charset="-122"/>
              <a:ea typeface="宋体" panose="02010600030101010101" pitchFamily="2" charset="-122"/>
            </a:endParaRPr>
          </a:p>
        </p:txBody>
      </p:sp>
      <p:graphicFrame>
        <p:nvGraphicFramePr>
          <p:cNvPr id="22532" name="Object 4"/>
          <p:cNvGraphicFramePr>
            <a:graphicFrameLocks noGrp="1" noChangeAspect="1"/>
          </p:cNvGraphicFramePr>
          <p:nvPr>
            <p:ph idx="1"/>
          </p:nvPr>
        </p:nvGraphicFramePr>
        <p:xfrm>
          <a:off x="4727576" y="2043113"/>
          <a:ext cx="3408363" cy="582612"/>
        </p:xfrm>
        <a:graphic>
          <a:graphicData uri="http://schemas.openxmlformats.org/presentationml/2006/ole">
            <mc:AlternateContent xmlns:mc="http://schemas.openxmlformats.org/markup-compatibility/2006">
              <mc:Choice xmlns:v="urn:schemas-microsoft-com:vml" Requires="v">
                <p:oleObj spid="_x0000_s351960" name="Equation" r:id="rId4" imgW="1562040" imgH="266400" progId="Equation.DSMT4">
                  <p:embed/>
                </p:oleObj>
              </mc:Choice>
              <mc:Fallback>
                <p:oleObj name="Equation" r:id="rId4" imgW="1562040" imgH="266400" progId="Equation.DSMT4">
                  <p:embed/>
                  <p:pic>
                    <p:nvPicPr>
                      <p:cNvPr id="0" name=""/>
                      <p:cNvPicPr>
                        <a:picLocks noGrp="1" noChangeAspect="1" noChangeArrowheads="1"/>
                      </p:cNvPicPr>
                      <p:nvPr/>
                    </p:nvPicPr>
                    <p:blipFill>
                      <a:blip r:embed="rId5"/>
                      <a:srcRect/>
                      <a:stretch>
                        <a:fillRect/>
                      </a:stretch>
                    </p:blipFill>
                    <p:spPr bwMode="auto">
                      <a:xfrm>
                        <a:off x="4727576" y="2043113"/>
                        <a:ext cx="3408363" cy="582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31" name="Object 3"/>
          <p:cNvGraphicFramePr>
            <a:graphicFrameLocks noGrp="1" noChangeAspect="1"/>
          </p:cNvGraphicFramePr>
          <p:nvPr>
            <p:ph sz="quarter" idx="4294967295"/>
          </p:nvPr>
        </p:nvGraphicFramePr>
        <p:xfrm>
          <a:off x="6856414" y="1066801"/>
          <a:ext cx="1069975" cy="493713"/>
        </p:xfrm>
        <a:graphic>
          <a:graphicData uri="http://schemas.openxmlformats.org/presentationml/2006/ole">
            <mc:AlternateContent xmlns:mc="http://schemas.openxmlformats.org/markup-compatibility/2006">
              <mc:Choice xmlns:v="urn:schemas-microsoft-com:vml" Requires="v">
                <p:oleObj spid="_x0000_s351961" name="Equation" r:id="rId6" imgW="495000" imgH="228600" progId="Equation.DSMT4">
                  <p:embed/>
                </p:oleObj>
              </mc:Choice>
              <mc:Fallback>
                <p:oleObj name="Equation" r:id="rId6" imgW="495000" imgH="228600" progId="Equation.DSMT4">
                  <p:embed/>
                  <p:pic>
                    <p:nvPicPr>
                      <p:cNvPr id="0" name=""/>
                      <p:cNvPicPr>
                        <a:picLocks noGrp="1" noChangeAspect="1" noChangeArrowheads="1"/>
                      </p:cNvPicPr>
                      <p:nvPr/>
                    </p:nvPicPr>
                    <p:blipFill>
                      <a:blip r:embed="rId7"/>
                      <a:srcRect/>
                      <a:stretch>
                        <a:fillRect/>
                      </a:stretch>
                    </p:blipFill>
                    <p:spPr bwMode="auto">
                      <a:xfrm>
                        <a:off x="6856414" y="1066801"/>
                        <a:ext cx="1069975" cy="493713"/>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3" name="Object 5"/>
          <p:cNvGraphicFramePr>
            <a:graphicFrameLocks noChangeAspect="1"/>
          </p:cNvGraphicFramePr>
          <p:nvPr/>
        </p:nvGraphicFramePr>
        <p:xfrm>
          <a:off x="9577050" y="2636912"/>
          <a:ext cx="990600" cy="558800"/>
        </p:xfrm>
        <a:graphic>
          <a:graphicData uri="http://schemas.openxmlformats.org/presentationml/2006/ole">
            <mc:AlternateContent xmlns:mc="http://schemas.openxmlformats.org/markup-compatibility/2006">
              <mc:Choice xmlns:v="urn:schemas-microsoft-com:vml" Requires="v">
                <p:oleObj spid="_x0000_s351962" r:id="rId8" imgW="345903" imgH="230602" progId="Equation.DSMT4">
                  <p:embed/>
                </p:oleObj>
              </mc:Choice>
              <mc:Fallback>
                <p:oleObj r:id="rId8" imgW="345903" imgH="230602"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577050" y="2636912"/>
                        <a:ext cx="990600" cy="5588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4" name="Object 6"/>
          <p:cNvGraphicFramePr>
            <a:graphicFrameLocks noChangeAspect="1"/>
          </p:cNvGraphicFramePr>
          <p:nvPr/>
        </p:nvGraphicFramePr>
        <p:xfrm>
          <a:off x="2566988" y="3251200"/>
          <a:ext cx="7288212" cy="609600"/>
        </p:xfrm>
        <a:graphic>
          <a:graphicData uri="http://schemas.openxmlformats.org/presentationml/2006/ole">
            <mc:AlternateContent xmlns:mc="http://schemas.openxmlformats.org/markup-compatibility/2006">
              <mc:Choice xmlns:v="urn:schemas-microsoft-com:vml" Requires="v">
                <p:oleObj spid="_x0000_s351963" name="Equation" r:id="rId10" imgW="3225600" imgH="266400" progId="Equation.DSMT4">
                  <p:embed/>
                </p:oleObj>
              </mc:Choice>
              <mc:Fallback>
                <p:oleObj name="Equation" r:id="rId10" imgW="3225600" imgH="266400" progId="Equation.DSMT4">
                  <p:embed/>
                  <p:pic>
                    <p:nvPicPr>
                      <p:cNvPr id="0" name=""/>
                      <p:cNvPicPr>
                        <a:picLocks noChangeAspect="1" noChangeArrowheads="1"/>
                      </p:cNvPicPr>
                      <p:nvPr/>
                    </p:nvPicPr>
                    <p:blipFill>
                      <a:blip r:embed="rId11"/>
                      <a:srcRect/>
                      <a:stretch>
                        <a:fillRect/>
                      </a:stretch>
                    </p:blipFill>
                    <p:spPr bwMode="auto">
                      <a:xfrm>
                        <a:off x="2566988" y="3251200"/>
                        <a:ext cx="7288212" cy="6096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5" name="Object 7"/>
          <p:cNvGraphicFramePr>
            <a:graphicFrameLocks noChangeAspect="1"/>
          </p:cNvGraphicFramePr>
          <p:nvPr/>
        </p:nvGraphicFramePr>
        <p:xfrm>
          <a:off x="4889414" y="3874540"/>
          <a:ext cx="2514600" cy="609600"/>
        </p:xfrm>
        <a:graphic>
          <a:graphicData uri="http://schemas.openxmlformats.org/presentationml/2006/ole">
            <mc:AlternateContent xmlns:mc="http://schemas.openxmlformats.org/markup-compatibility/2006">
              <mc:Choice xmlns:v="urn:schemas-microsoft-com:vml" Requires="v">
                <p:oleObj spid="_x0000_s351964" r:id="rId12" imgW="943897" imgH="229597" progId="Equation.DSMT4">
                  <p:embed/>
                </p:oleObj>
              </mc:Choice>
              <mc:Fallback>
                <p:oleObj r:id="rId12" imgW="943897" imgH="229597"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89414" y="3874540"/>
                        <a:ext cx="2514600" cy="6096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6" name="Object 8"/>
          <p:cNvGraphicFramePr>
            <a:graphicFrameLocks noChangeAspect="1"/>
          </p:cNvGraphicFramePr>
          <p:nvPr/>
        </p:nvGraphicFramePr>
        <p:xfrm>
          <a:off x="3021755" y="4831432"/>
          <a:ext cx="2667000" cy="685800"/>
        </p:xfrm>
        <a:graphic>
          <a:graphicData uri="http://schemas.openxmlformats.org/presentationml/2006/ole">
            <mc:AlternateContent xmlns:mc="http://schemas.openxmlformats.org/markup-compatibility/2006">
              <mc:Choice xmlns:v="urn:schemas-microsoft-com:vml" Requires="v">
                <p:oleObj spid="_x0000_s351965" r:id="rId14" imgW="930330" imgH="254885" progId="Equation.DSMT4">
                  <p:embed/>
                </p:oleObj>
              </mc:Choice>
              <mc:Fallback>
                <p:oleObj r:id="rId14" imgW="930330" imgH="254885"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21755" y="4831432"/>
                        <a:ext cx="2667000" cy="6858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7" name="Object 9"/>
          <p:cNvGraphicFramePr>
            <a:graphicFrameLocks noChangeAspect="1"/>
          </p:cNvGraphicFramePr>
          <p:nvPr/>
        </p:nvGraphicFramePr>
        <p:xfrm>
          <a:off x="2855640" y="5636096"/>
          <a:ext cx="914400" cy="457200"/>
        </p:xfrm>
        <a:graphic>
          <a:graphicData uri="http://schemas.openxmlformats.org/presentationml/2006/ole">
            <mc:AlternateContent xmlns:mc="http://schemas.openxmlformats.org/markup-compatibility/2006">
              <mc:Choice xmlns:v="urn:schemas-microsoft-com:vml" Requires="v">
                <p:oleObj spid="_x0000_s351966" r:id="rId16" imgW="384168" imgH="230501" progId="Equation.DSMT4">
                  <p:embed/>
                </p:oleObj>
              </mc:Choice>
              <mc:Fallback>
                <p:oleObj r:id="rId16" imgW="384168" imgH="230501"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55640" y="5636096"/>
                        <a:ext cx="914400" cy="4572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8" name="Object 10"/>
          <p:cNvGraphicFramePr>
            <a:graphicFrameLocks noChangeAspect="1"/>
          </p:cNvGraphicFramePr>
          <p:nvPr/>
        </p:nvGraphicFramePr>
        <p:xfrm>
          <a:off x="4331006" y="5507430"/>
          <a:ext cx="457200" cy="685800"/>
        </p:xfrm>
        <a:graphic>
          <a:graphicData uri="http://schemas.openxmlformats.org/presentationml/2006/ole">
            <mc:AlternateContent xmlns:mc="http://schemas.openxmlformats.org/markup-compatibility/2006">
              <mc:Choice xmlns:v="urn:schemas-microsoft-com:vml" Requires="v">
                <p:oleObj spid="_x0000_s351967" r:id="rId18" imgW="154343" imgH="231514" progId="Equation.DSMT4">
                  <p:embed/>
                </p:oleObj>
              </mc:Choice>
              <mc:Fallback>
                <p:oleObj r:id="rId18" imgW="154343" imgH="231514"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331006" y="5507430"/>
                        <a:ext cx="457200" cy="6858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9" name="Object 11"/>
          <p:cNvGraphicFramePr>
            <a:graphicFrameLocks noChangeAspect="1"/>
          </p:cNvGraphicFramePr>
          <p:nvPr/>
        </p:nvGraphicFramePr>
        <p:xfrm>
          <a:off x="6554316" y="5624984"/>
          <a:ext cx="838200" cy="468313"/>
        </p:xfrm>
        <a:graphic>
          <a:graphicData uri="http://schemas.openxmlformats.org/presentationml/2006/ole">
            <mc:AlternateContent xmlns:mc="http://schemas.openxmlformats.org/markup-compatibility/2006">
              <mc:Choice xmlns:v="urn:schemas-microsoft-com:vml" Requires="v">
                <p:oleObj spid="_x0000_s351968" r:id="rId20" imgW="358400" imgH="230400" progId="Equation.DSMT4">
                  <p:embed/>
                </p:oleObj>
              </mc:Choice>
              <mc:Fallback>
                <p:oleObj r:id="rId20" imgW="358400" imgH="230400"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554316" y="5624984"/>
                        <a:ext cx="838200" cy="468313"/>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40" name="Object 12"/>
          <p:cNvGraphicFramePr>
            <a:graphicFrameLocks noChangeAspect="1"/>
          </p:cNvGraphicFramePr>
          <p:nvPr/>
        </p:nvGraphicFramePr>
        <p:xfrm>
          <a:off x="8011259" y="5545529"/>
          <a:ext cx="508000" cy="609600"/>
        </p:xfrm>
        <a:graphic>
          <a:graphicData uri="http://schemas.openxmlformats.org/presentationml/2006/ole">
            <mc:AlternateContent xmlns:mc="http://schemas.openxmlformats.org/markup-compatibility/2006">
              <mc:Choice xmlns:v="urn:schemas-microsoft-com:vml" Requires="v">
                <p:oleObj spid="_x0000_s351969" r:id="rId22" imgW="154343" imgH="231514" progId="Equation.DSMT4">
                  <p:embed/>
                </p:oleObj>
              </mc:Choice>
              <mc:Fallback>
                <p:oleObj r:id="rId22" imgW="154343" imgH="231514"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011259" y="5545529"/>
                        <a:ext cx="508000" cy="6096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41" name="Object 13"/>
          <p:cNvGraphicFramePr>
            <a:graphicFrameLocks noChangeAspect="1"/>
          </p:cNvGraphicFramePr>
          <p:nvPr/>
        </p:nvGraphicFramePr>
        <p:xfrm>
          <a:off x="6081610" y="4684936"/>
          <a:ext cx="1600200" cy="976313"/>
        </p:xfrm>
        <a:graphic>
          <a:graphicData uri="http://schemas.openxmlformats.org/presentationml/2006/ole">
            <mc:AlternateContent xmlns:mc="http://schemas.openxmlformats.org/markup-compatibility/2006">
              <mc:Choice xmlns:v="urn:schemas-microsoft-com:vml" Requires="v">
                <p:oleObj spid="_x0000_s351970" r:id="rId24" imgW="662990" imgH="433493" progId="Equation.DSMT4">
                  <p:embed/>
                </p:oleObj>
              </mc:Choice>
              <mc:Fallback>
                <p:oleObj r:id="rId24" imgW="662990" imgH="433493" progId="Equation.DSMT4">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081610" y="4684936"/>
                        <a:ext cx="1600200" cy="976313"/>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标题 1"/>
          <p:cNvSpPr txBox="1">
            <a:spLocks/>
          </p:cNvSpPr>
          <p:nvPr/>
        </p:nvSpPr>
        <p:spPr bwMode="black">
          <a:xfrm>
            <a:off x="1828800" y="152401"/>
            <a:ext cx="7075512"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12.3 </a:t>
            </a:r>
            <a:r>
              <a:rPr lang="zh-CN" altLang="en-US" kern="0" dirty="0"/>
              <a:t>实例分析</a:t>
            </a:r>
            <a:r>
              <a:rPr lang="en-US" altLang="zh-CN" kern="0" dirty="0"/>
              <a:t>--</a:t>
            </a:r>
            <a:r>
              <a:rPr lang="zh-CN" altLang="en-US" kern="0" dirty="0"/>
              <a:t>训练强分类器</a:t>
            </a:r>
          </a:p>
        </p:txBody>
      </p:sp>
      <p:sp>
        <p:nvSpPr>
          <p:cNvPr id="3" name="灯片编号占位符 2"/>
          <p:cNvSpPr>
            <a:spLocks noGrp="1"/>
          </p:cNvSpPr>
          <p:nvPr>
            <p:ph type="sldNum" sz="quarter" idx="11"/>
          </p:nvPr>
        </p:nvSpPr>
        <p:spPr/>
        <p:txBody>
          <a:bodyPr/>
          <a:lstStyle/>
          <a:p>
            <a:pPr>
              <a:defRPr/>
            </a:pPr>
            <a:fld id="{31E287EE-1289-4991-82CE-EFE584F53F4F}" type="slidenum">
              <a:rPr lang="en-US" altLang="zh-CN" smtClean="0"/>
              <a:pPr>
                <a:defRPr/>
              </a:pPr>
              <a:t>42</a:t>
            </a:fld>
            <a:endParaRPr lang="en-US" altLang="zh-CN" dirty="0"/>
          </a:p>
        </p:txBody>
      </p:sp>
      <p:sp>
        <p:nvSpPr>
          <p:cNvPr id="16" name="矩形 15"/>
          <p:cNvSpPr/>
          <p:nvPr/>
        </p:nvSpPr>
        <p:spPr>
          <a:xfrm>
            <a:off x="6888088" y="692696"/>
            <a:ext cx="1236236" cy="369332"/>
          </a:xfrm>
          <a:prstGeom prst="rect">
            <a:avLst/>
          </a:prstGeom>
        </p:spPr>
        <p:txBody>
          <a:bodyPr wrap="none">
            <a:spAutoFit/>
          </a:bodyPr>
          <a:lstStyle/>
          <a:p>
            <a:r>
              <a:rPr lang="zh-CN" altLang="en-US" b="1" dirty="0">
                <a:solidFill>
                  <a:srgbClr val="FF0000"/>
                </a:solidFill>
              </a:rPr>
              <a:t>寻找最优</a:t>
            </a:r>
            <a:r>
              <a:rPr lang="el-GR" altLang="zh-CN" b="1" dirty="0">
                <a:solidFill>
                  <a:srgbClr val="FF0000"/>
                </a:solidFill>
              </a:rPr>
              <a:t>θ</a:t>
            </a:r>
            <a:endParaRPr lang="zh-CN" altLang="en-US" b="1" dirty="0">
              <a:solidFill>
                <a:srgbClr val="FF0000"/>
              </a:solidFill>
            </a:endParaRPr>
          </a:p>
        </p:txBody>
      </p:sp>
      <p:cxnSp>
        <p:nvCxnSpPr>
          <p:cNvPr id="18" name="直接箭头连接符 17"/>
          <p:cNvCxnSpPr/>
          <p:nvPr/>
        </p:nvCxnSpPr>
        <p:spPr>
          <a:xfrm flipH="1">
            <a:off x="5303912" y="980728"/>
            <a:ext cx="1656184" cy="43204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4223792" y="1484784"/>
            <a:ext cx="3744416" cy="0"/>
          </a:xfrm>
          <a:prstGeom prst="line">
            <a:avLst/>
          </a:prstGeom>
          <a:ln>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7857382" y="4962127"/>
            <a:ext cx="2723823" cy="369332"/>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r>
              <a:rPr lang="zh-CN" altLang="en-US" dirty="0"/>
              <a:t>减少正确分类样本的权重</a:t>
            </a:r>
          </a:p>
        </p:txBody>
      </p:sp>
    </p:spTree>
    <p:extLst>
      <p:ext uri="{BB962C8B-B14F-4D97-AF65-F5344CB8AC3E}">
        <p14:creationId xmlns:p14="http://schemas.microsoft.com/office/powerpoint/2010/main" val="33086230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sz="half" idx="4294967295"/>
          </p:nvPr>
        </p:nvSpPr>
        <p:spPr>
          <a:xfrm>
            <a:off x="1828800" y="836712"/>
            <a:ext cx="8839200" cy="5562600"/>
          </a:xfrm>
        </p:spPr>
        <p:txBody>
          <a:bodyPr/>
          <a:lstStyle/>
          <a:p>
            <a:pPr marL="0" indent="0">
              <a:lnSpc>
                <a:spcPct val="150000"/>
              </a:lnSpc>
              <a:buNone/>
            </a:pPr>
            <a:r>
              <a:rPr lang="en-US" altLang="zh-CN" sz="2400" dirty="0">
                <a:latin typeface="宋体" panose="02010600030101010101" pitchFamily="2" charset="-122"/>
                <a:ea typeface="宋体" panose="02010600030101010101" pitchFamily="2" charset="-122"/>
              </a:rPr>
              <a:t>5.</a:t>
            </a:r>
            <a:r>
              <a:rPr lang="zh-CN" altLang="en-US" sz="2400" dirty="0">
                <a:latin typeface="宋体" panose="02010600030101010101" pitchFamily="2" charset="-122"/>
                <a:ea typeface="宋体" panose="02010600030101010101" pitchFamily="2" charset="-122"/>
              </a:rPr>
              <a:t>经过 </a:t>
            </a:r>
            <a:r>
              <a:rPr lang="en-US" sz="2400" i="1" dirty="0">
                <a:latin typeface="宋体" panose="02010600030101010101" pitchFamily="2" charset="-122"/>
                <a:ea typeface="宋体" panose="02010600030101010101" pitchFamily="2" charset="-122"/>
              </a:rPr>
              <a:t>T </a:t>
            </a:r>
            <a:r>
              <a:rPr lang="zh-CN" altLang="en-US" sz="2400" dirty="0">
                <a:latin typeface="宋体" panose="02010600030101010101" pitchFamily="2" charset="-122"/>
                <a:ea typeface="宋体" panose="02010600030101010101" pitchFamily="2" charset="-122"/>
              </a:rPr>
              <a:t>次迭代后，获得了</a:t>
            </a:r>
            <a:r>
              <a:rPr lang="en-US" sz="2400" i="1" dirty="0">
                <a:latin typeface="宋体" panose="02010600030101010101" pitchFamily="2" charset="-122"/>
                <a:ea typeface="宋体" panose="02010600030101010101" pitchFamily="2" charset="-122"/>
              </a:rPr>
              <a:t>T </a:t>
            </a:r>
            <a:r>
              <a:rPr lang="zh-CN" altLang="en-US" sz="2400" dirty="0">
                <a:latin typeface="宋体" panose="02010600030101010101" pitchFamily="2" charset="-122"/>
                <a:ea typeface="宋体" panose="02010600030101010101" pitchFamily="2" charset="-122"/>
              </a:rPr>
              <a:t>个最佳弱分类器                 ，可以按照下面的方式组合成一个强分类器：</a:t>
            </a:r>
          </a:p>
          <a:p>
            <a:endParaRPr lang="zh-CN" altLang="en-US" sz="2400" dirty="0">
              <a:latin typeface="宋体" panose="02010600030101010101" pitchFamily="2" charset="-122"/>
              <a:ea typeface="宋体" panose="02010600030101010101" pitchFamily="2" charset="-122"/>
            </a:endParaRPr>
          </a:p>
          <a:p>
            <a:pPr marL="0" indent="0">
              <a:lnSpc>
                <a:spcPct val="200000"/>
              </a:lnSpc>
              <a:buNone/>
            </a:pPr>
            <a:r>
              <a:rPr lang="zh-CN" altLang="en-US" sz="2400" dirty="0">
                <a:latin typeface="宋体" panose="02010600030101010101" pitchFamily="2" charset="-122"/>
                <a:ea typeface="宋体" panose="02010600030101010101" pitchFamily="2" charset="-122"/>
              </a:rPr>
              <a:t>                                  其中                。 </a:t>
            </a:r>
          </a:p>
          <a:p>
            <a:pPr marL="0" indent="0">
              <a:lnSpc>
                <a:spcPct val="125000"/>
              </a:lnSpc>
              <a:spcBef>
                <a:spcPts val="0"/>
              </a:spcBef>
              <a:buNone/>
            </a:pPr>
            <a:r>
              <a:rPr lang="zh-CN" altLang="en-US" sz="2400" dirty="0">
                <a:latin typeface="宋体" panose="02010600030101010101" pitchFamily="2" charset="-122"/>
                <a:ea typeface="宋体" panose="02010600030101010101" pitchFamily="2" charset="-122"/>
              </a:rPr>
              <a:t>   那么，这个强分类器对一幅待检测图像时，相当于让所有弱分类器投票，再对投票结果按照弱分类器的错误率加权求和，将投票加权求和的结果与平均投票结果比较得出最终的结果。               </a:t>
            </a:r>
          </a:p>
          <a:p>
            <a:endParaRPr lang="zh-CN" altLang="en-US" sz="2400" dirty="0">
              <a:latin typeface="宋体" panose="02010600030101010101" pitchFamily="2" charset="-122"/>
              <a:ea typeface="宋体" panose="02010600030101010101" pitchFamily="2" charset="-122"/>
            </a:endParaRPr>
          </a:p>
        </p:txBody>
      </p:sp>
      <p:graphicFrame>
        <p:nvGraphicFramePr>
          <p:cNvPr id="24580" name="Object 4"/>
          <p:cNvGraphicFramePr>
            <a:graphicFrameLocks noGrp="1" noChangeAspect="1"/>
          </p:cNvGraphicFramePr>
          <p:nvPr>
            <p:ph idx="1"/>
          </p:nvPr>
        </p:nvGraphicFramePr>
        <p:xfrm>
          <a:off x="8242300" y="901701"/>
          <a:ext cx="2070100" cy="531813"/>
        </p:xfrm>
        <a:graphic>
          <a:graphicData uri="http://schemas.openxmlformats.org/presentationml/2006/ole">
            <mc:AlternateContent xmlns:mc="http://schemas.openxmlformats.org/markup-compatibility/2006">
              <mc:Choice xmlns:v="urn:schemas-microsoft-com:vml" Requires="v">
                <p:oleObj spid="_x0000_s352459" name="Equation" r:id="rId3" imgW="889000" imgH="228600" progId="Equation.DSMT4">
                  <p:embed/>
                </p:oleObj>
              </mc:Choice>
              <mc:Fallback>
                <p:oleObj name="Equation" r:id="rId3" imgW="889000" imgH="228600" progId="Equation.DSMT4">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2300" y="901701"/>
                        <a:ext cx="2070100" cy="531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p:cNvSpPr>
            <a:spLocks noGrp="1"/>
          </p:cNvSpPr>
          <p:nvPr>
            <p:ph type="sldNum" sz="quarter" idx="11"/>
          </p:nvPr>
        </p:nvSpPr>
        <p:spPr/>
        <p:txBody>
          <a:bodyPr/>
          <a:lstStyle/>
          <a:p>
            <a:fld id="{6DC78509-6893-4A13-B64D-66FBEF57937E}" type="slidenum">
              <a:rPr lang="zh-CN" altLang="zh-CN" smtClean="0"/>
              <a:pPr/>
              <a:t>43</a:t>
            </a:fld>
            <a:endParaRPr lang="zh-CN" altLang="zh-CN"/>
          </a:p>
        </p:txBody>
      </p:sp>
      <p:graphicFrame>
        <p:nvGraphicFramePr>
          <p:cNvPr id="24581" name="Object 5"/>
          <p:cNvGraphicFramePr>
            <a:graphicFrameLocks noGrp="1" noChangeAspect="1"/>
          </p:cNvGraphicFramePr>
          <p:nvPr>
            <p:ph sz="quarter" idx="4294967295"/>
          </p:nvPr>
        </p:nvGraphicFramePr>
        <p:xfrm>
          <a:off x="2711624" y="1916833"/>
          <a:ext cx="3877198" cy="1275731"/>
        </p:xfrm>
        <a:graphic>
          <a:graphicData uri="http://schemas.openxmlformats.org/presentationml/2006/ole">
            <mc:AlternateContent xmlns:mc="http://schemas.openxmlformats.org/markup-compatibility/2006">
              <mc:Choice xmlns:v="urn:schemas-microsoft-com:vml" Requires="v">
                <p:oleObj spid="_x0000_s352460" r:id="rId5" imgW="2209800" imgH="660400" progId="Equation.DSMT4">
                  <p:embed/>
                </p:oleObj>
              </mc:Choice>
              <mc:Fallback>
                <p:oleObj r:id="rId5" imgW="2209800" imgH="660400" progId="Equation.DSMT4">
                  <p:embed/>
                  <p:pic>
                    <p:nvPicPr>
                      <p:cNvPr id="0" name=""/>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11624" y="1916833"/>
                        <a:ext cx="3877198" cy="12757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2" name="Object 6"/>
          <p:cNvGraphicFramePr>
            <a:graphicFrameLocks noChangeAspect="1"/>
          </p:cNvGraphicFramePr>
          <p:nvPr/>
        </p:nvGraphicFramePr>
        <p:xfrm>
          <a:off x="8040216" y="2091941"/>
          <a:ext cx="1524000" cy="925513"/>
        </p:xfrm>
        <a:graphic>
          <a:graphicData uri="http://schemas.openxmlformats.org/presentationml/2006/ole">
            <mc:AlternateContent xmlns:mc="http://schemas.openxmlformats.org/markup-compatibility/2006">
              <mc:Choice xmlns:v="urn:schemas-microsoft-com:vml" Requires="v">
                <p:oleObj spid="_x0000_s352461" r:id="rId7" imgW="713989" imgH="433493" progId="Equation.DSMT4">
                  <p:embed/>
                </p:oleObj>
              </mc:Choice>
              <mc:Fallback>
                <p:oleObj r:id="rId7" imgW="713989" imgH="433493"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40216" y="2091941"/>
                        <a:ext cx="1524000" cy="925513"/>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标题 1"/>
          <p:cNvSpPr txBox="1">
            <a:spLocks/>
          </p:cNvSpPr>
          <p:nvPr/>
        </p:nvSpPr>
        <p:spPr bwMode="black">
          <a:xfrm>
            <a:off x="1828800" y="152401"/>
            <a:ext cx="7075512"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12.3 </a:t>
            </a:r>
            <a:r>
              <a:rPr lang="zh-CN" altLang="en-US" kern="0" dirty="0"/>
              <a:t>实例分析</a:t>
            </a:r>
            <a:r>
              <a:rPr lang="en-US" altLang="zh-CN" kern="0" dirty="0"/>
              <a:t>--</a:t>
            </a:r>
            <a:r>
              <a:rPr lang="zh-CN" altLang="en-US" kern="0" dirty="0"/>
              <a:t>训练强分类器</a:t>
            </a:r>
          </a:p>
        </p:txBody>
      </p:sp>
      <p:sp>
        <p:nvSpPr>
          <p:cNvPr id="3" name="矩形 2"/>
          <p:cNvSpPr/>
          <p:nvPr/>
        </p:nvSpPr>
        <p:spPr>
          <a:xfrm>
            <a:off x="695400" y="4520822"/>
            <a:ext cx="11017224" cy="1938992"/>
          </a:xfrm>
          <a:prstGeom prst="rect">
            <a:avLst/>
          </a:prstGeom>
        </p:spPr>
        <p:txBody>
          <a:bodyPr wrap="square">
            <a:spAutoFit/>
          </a:bodyPr>
          <a:lstStyle/>
          <a:p>
            <a:pPr marL="0" indent="0">
              <a:lnSpc>
                <a:spcPct val="125000"/>
              </a:lnSpc>
              <a:buNone/>
            </a:pPr>
            <a:r>
              <a:rPr lang="zh-CN" altLang="en-US" sz="2400" dirty="0">
                <a:solidFill>
                  <a:srgbClr val="0000FF"/>
                </a:solidFill>
                <a:latin typeface="宋体" panose="02010600030101010101" pitchFamily="2" charset="-122"/>
                <a:ea typeface="宋体" panose="02010600030101010101" pitchFamily="2" charset="-122"/>
              </a:rPr>
              <a:t>注：另一种终止方法：</a:t>
            </a:r>
            <a:endParaRPr lang="en-US" altLang="zh-CN" sz="2400" dirty="0">
              <a:solidFill>
                <a:srgbClr val="0000FF"/>
              </a:solidFill>
              <a:latin typeface="宋体" panose="02010600030101010101" pitchFamily="2" charset="-122"/>
              <a:ea typeface="宋体" panose="02010600030101010101" pitchFamily="2" charset="-122"/>
            </a:endParaRPr>
          </a:p>
          <a:p>
            <a:pPr marL="0" indent="0">
              <a:lnSpc>
                <a:spcPct val="125000"/>
              </a:lnSpc>
              <a:buNone/>
            </a:pPr>
            <a:r>
              <a:rPr lang="zh-CN" altLang="en-US" sz="2400" dirty="0">
                <a:latin typeface="宋体" panose="02010600030101010101" pitchFamily="2" charset="-122"/>
                <a:ea typeface="宋体" panose="02010600030101010101" pitchFamily="2" charset="-122"/>
              </a:rPr>
              <a:t>不用循环</a:t>
            </a:r>
            <a:r>
              <a:rPr lang="en-US" altLang="zh-CN" sz="2400" dirty="0">
                <a:latin typeface="宋体" panose="02010600030101010101" pitchFamily="2" charset="-122"/>
                <a:ea typeface="宋体" panose="02010600030101010101" pitchFamily="2" charset="-122"/>
              </a:rPr>
              <a:t>T</a:t>
            </a:r>
            <a:r>
              <a:rPr lang="zh-CN" altLang="en-US" sz="2400" dirty="0">
                <a:latin typeface="宋体" panose="02010600030101010101" pitchFamily="2" charset="-122"/>
                <a:ea typeface="宋体" panose="02010600030101010101" pitchFamily="2" charset="-122"/>
              </a:rPr>
              <a:t>次，而是</a:t>
            </a:r>
            <a:r>
              <a:rPr lang="zh-CN" altLang="en-US" sz="2400" dirty="0">
                <a:solidFill>
                  <a:srgbClr val="FF0000"/>
                </a:solidFill>
                <a:latin typeface="宋体" panose="02010600030101010101" pitchFamily="2" charset="-122"/>
                <a:ea typeface="宋体" panose="02010600030101010101" pitchFamily="2" charset="-122"/>
              </a:rPr>
              <a:t>用识别率与误识别率是否达到来进行循环控制</a:t>
            </a:r>
            <a:r>
              <a:rPr lang="zh-CN" altLang="en-US" sz="2400" dirty="0">
                <a:latin typeface="宋体" panose="02010600030101010101" pitchFamily="2" charset="-122"/>
                <a:ea typeface="宋体" panose="02010600030101010101" pitchFamily="2" charset="-122"/>
              </a:rPr>
              <a:t>。在每一次循环完之后，运用已经得到的弱分类器加权组合后的组合分类器，判断组合分类器的识别率与误识别率是否在预定范围内，若在：停止循环，直接；不在：继续。</a:t>
            </a:r>
          </a:p>
        </p:txBody>
      </p:sp>
    </p:spTree>
    <p:extLst>
      <p:ext uri="{BB962C8B-B14F-4D97-AF65-F5344CB8AC3E}">
        <p14:creationId xmlns:p14="http://schemas.microsoft.com/office/powerpoint/2010/main" val="2224850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981200" y="188640"/>
            <a:ext cx="8229600" cy="703262"/>
          </a:xfrm>
        </p:spPr>
        <p:txBody>
          <a:bodyPr/>
          <a:lstStyle/>
          <a:p>
            <a:r>
              <a:rPr lang="en-US" altLang="zh-CN" dirty="0"/>
              <a:t>12.3 </a:t>
            </a:r>
            <a:r>
              <a:rPr lang="zh-CN" altLang="en-US" dirty="0"/>
              <a:t>实例分析</a:t>
            </a:r>
            <a:r>
              <a:rPr lang="en-US" altLang="zh-CN" dirty="0"/>
              <a:t>--</a:t>
            </a:r>
            <a:r>
              <a:rPr lang="zh-CN" altLang="en-US" dirty="0"/>
              <a:t>级联分类器</a:t>
            </a:r>
          </a:p>
        </p:txBody>
      </p:sp>
      <p:sp>
        <p:nvSpPr>
          <p:cNvPr id="28675" name="Rectangle 3"/>
          <p:cNvSpPr>
            <a:spLocks noGrp="1" noChangeArrowheads="1"/>
          </p:cNvSpPr>
          <p:nvPr>
            <p:ph type="body" idx="1"/>
          </p:nvPr>
        </p:nvSpPr>
        <p:spPr>
          <a:xfrm>
            <a:off x="335360" y="989108"/>
            <a:ext cx="10081120" cy="5410200"/>
          </a:xfrm>
        </p:spPr>
        <p:txBody>
          <a:bodyPr/>
          <a:lstStyle/>
          <a:p>
            <a:r>
              <a:rPr lang="zh-CN" altLang="en-US" sz="2400" b="1" dirty="0">
                <a:latin typeface="宋体" panose="02010600030101010101" pitchFamily="2" charset="-122"/>
                <a:ea typeface="宋体" panose="02010600030101010101" pitchFamily="2" charset="-122"/>
              </a:rPr>
              <a:t>利用训练过程得到的弱分类器，使用上式将部分弱分类器组合得到若干强分类器，各强分类器对目标都有较强的检测能力。</a:t>
            </a:r>
            <a:r>
              <a:rPr lang="zh-CN" altLang="en-US" sz="2400" b="1" dirty="0">
                <a:solidFill>
                  <a:srgbClr val="FF0000"/>
                </a:solidFill>
                <a:latin typeface="宋体" panose="02010600030101010101" pitchFamily="2" charset="-122"/>
                <a:ea typeface="宋体" panose="02010600030101010101" pitchFamily="2" charset="-122"/>
              </a:rPr>
              <a:t>如果将多个强分类器级联在一起，那么能够通过各级强分类器检测的对象是人脸的可能性也最大</a:t>
            </a:r>
            <a:r>
              <a:rPr lang="zh-CN" altLang="en-US" sz="2400" b="1" dirty="0">
                <a:solidFill>
                  <a:schemeClr val="hlink"/>
                </a:solidFill>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根据这一原理，Adaboost算法引入了一种瀑布型的分类器---级联分类器。（分类器误识别率不断降低。确定不是正样本的被排除，不确定的到下一个分类器中）</a:t>
            </a:r>
          </a:p>
          <a:p>
            <a:endParaRPr lang="zh-CN" altLang="en-US" sz="3800" b="1" dirty="0">
              <a:latin typeface="宋体" panose="02010600030101010101" pitchFamily="2" charset="-122"/>
              <a:ea typeface="宋体" panose="02010600030101010101" pitchFamily="2" charset="-122"/>
            </a:endParaRPr>
          </a:p>
          <a:p>
            <a:pPr>
              <a:buFontTx/>
              <a:buNone/>
            </a:pPr>
            <a:endParaRPr lang="zh-CN" altLang="en-US" sz="3800" b="1" dirty="0">
              <a:latin typeface="宋体" panose="02010600030101010101" pitchFamily="2" charset="-122"/>
              <a:ea typeface="宋体" panose="02010600030101010101" pitchFamily="2" charset="-122"/>
            </a:endParaRPr>
          </a:p>
        </p:txBody>
      </p:sp>
      <p:pic>
        <p:nvPicPr>
          <p:cNvPr id="28676"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0" y="2986029"/>
            <a:ext cx="6112453" cy="3358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44</a:t>
            </a:fld>
            <a:endParaRPr lang="en-US" altLang="zh-CN" dirty="0"/>
          </a:p>
        </p:txBody>
      </p:sp>
      <p:sp>
        <p:nvSpPr>
          <p:cNvPr id="6" name="Rectangle 2"/>
          <p:cNvSpPr txBox="1">
            <a:spLocks noChangeArrowheads="1"/>
          </p:cNvSpPr>
          <p:nvPr/>
        </p:nvSpPr>
        <p:spPr bwMode="gray">
          <a:xfrm>
            <a:off x="246424" y="3559979"/>
            <a:ext cx="6544658" cy="6096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32" indent="-285744"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2971" indent="-228594" algn="l" rtl="0" eaLnBrk="0" fontAlgn="base" hangingPunct="0">
              <a:spcBef>
                <a:spcPct val="20000"/>
              </a:spcBef>
              <a:spcAft>
                <a:spcPct val="0"/>
              </a:spcAft>
              <a:buClr>
                <a:schemeClr val="accent2"/>
              </a:buClr>
              <a:buChar char="•"/>
              <a:defRPr sz="2400">
                <a:solidFill>
                  <a:schemeClr val="tx1"/>
                </a:solidFill>
                <a:latin typeface="+mn-lt"/>
              </a:defRPr>
            </a:lvl3pPr>
            <a:lvl4pPr marL="1600160" indent="-228594" algn="l" rtl="0" eaLnBrk="0" fontAlgn="base" hangingPunct="0">
              <a:spcBef>
                <a:spcPct val="20000"/>
              </a:spcBef>
              <a:spcAft>
                <a:spcPct val="0"/>
              </a:spcAft>
              <a:buChar char="–"/>
              <a:defRPr sz="2000">
                <a:solidFill>
                  <a:schemeClr val="tx1"/>
                </a:solidFill>
                <a:latin typeface="+mn-lt"/>
              </a:defRPr>
            </a:lvl4pPr>
            <a:lvl5pPr marL="2057349" indent="-228594" algn="l" rtl="0" eaLnBrk="0" fontAlgn="base" hangingPunct="0">
              <a:spcBef>
                <a:spcPct val="20000"/>
              </a:spcBef>
              <a:spcAft>
                <a:spcPct val="0"/>
              </a:spcAft>
              <a:buChar char="»"/>
              <a:defRPr sz="2000">
                <a:solidFill>
                  <a:schemeClr val="tx1"/>
                </a:solidFill>
                <a:latin typeface="+mn-lt"/>
              </a:defRPr>
            </a:lvl5pPr>
            <a:lvl6pPr marL="2514537" indent="-228594" algn="l" rtl="0" eaLnBrk="1" fontAlgn="base" hangingPunct="1">
              <a:spcBef>
                <a:spcPct val="20000"/>
              </a:spcBef>
              <a:spcAft>
                <a:spcPct val="0"/>
              </a:spcAft>
              <a:buChar char="»"/>
              <a:defRPr sz="2000">
                <a:solidFill>
                  <a:schemeClr val="tx1"/>
                </a:solidFill>
                <a:latin typeface="+mn-lt"/>
              </a:defRPr>
            </a:lvl6pPr>
            <a:lvl7pPr marL="2971726" indent="-228594" algn="l" rtl="0" eaLnBrk="1" fontAlgn="base" hangingPunct="1">
              <a:spcBef>
                <a:spcPct val="20000"/>
              </a:spcBef>
              <a:spcAft>
                <a:spcPct val="0"/>
              </a:spcAft>
              <a:buChar char="»"/>
              <a:defRPr sz="2000">
                <a:solidFill>
                  <a:schemeClr val="tx1"/>
                </a:solidFill>
                <a:latin typeface="+mn-lt"/>
              </a:defRPr>
            </a:lvl7pPr>
            <a:lvl8pPr marL="3428914" indent="-228594" algn="l" rtl="0" eaLnBrk="1" fontAlgn="base" hangingPunct="1">
              <a:spcBef>
                <a:spcPct val="20000"/>
              </a:spcBef>
              <a:spcAft>
                <a:spcPct val="0"/>
              </a:spcAft>
              <a:buChar char="»"/>
              <a:defRPr sz="2000">
                <a:solidFill>
                  <a:schemeClr val="tx1"/>
                </a:solidFill>
                <a:latin typeface="+mn-lt"/>
              </a:defRPr>
            </a:lvl8pPr>
            <a:lvl9pPr marL="3886103" indent="-228594" algn="l" rtl="0" eaLnBrk="1" fontAlgn="base" hangingPunct="1">
              <a:spcBef>
                <a:spcPct val="20000"/>
              </a:spcBef>
              <a:spcAft>
                <a:spcPct val="0"/>
              </a:spcAft>
              <a:buChar char="»"/>
              <a:defRPr sz="2000">
                <a:solidFill>
                  <a:schemeClr val="tx1"/>
                </a:solidFill>
                <a:latin typeface="+mn-lt"/>
              </a:defRPr>
            </a:lvl9pPr>
          </a:lstStyle>
          <a:p>
            <a:r>
              <a:rPr lang="zh-CN" altLang="en-US" sz="2400" b="1" kern="0" dirty="0">
                <a:latin typeface="宋体" panose="02010600030101010101" pitchFamily="2" charset="-122"/>
                <a:ea typeface="宋体" panose="02010600030101010101" pitchFamily="2" charset="-122"/>
              </a:rPr>
              <a:t>级联分类器将若干个强分类器分级串联在一起，强分类器一级比一级复杂，一级比一级严格。检测中非目标图像会在前端被排除掉，只有目标图像才能通过各级强分类器的检测。此外，由于非目标图像会被级联分类器的前几级迅速排除掉，从而加快了Adaboost算法的检测速度。</a:t>
            </a:r>
          </a:p>
        </p:txBody>
      </p:sp>
    </p:spTree>
    <p:extLst>
      <p:ext uri="{BB962C8B-B14F-4D97-AF65-F5344CB8AC3E}">
        <p14:creationId xmlns:p14="http://schemas.microsoft.com/office/powerpoint/2010/main" val="26198198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4"/>
          <p:cNvSpPr>
            <a:spLocks noGrp="1" noChangeArrowheads="1"/>
          </p:cNvSpPr>
          <p:nvPr>
            <p:ph type="title"/>
          </p:nvPr>
        </p:nvSpPr>
        <p:spPr>
          <a:xfrm>
            <a:off x="1992313" y="0"/>
            <a:ext cx="8229600" cy="827088"/>
          </a:xfrm>
        </p:spPr>
        <p:txBody>
          <a:bodyPr/>
          <a:lstStyle/>
          <a:p>
            <a:r>
              <a:rPr lang="zh-CN" altLang="en-US" dirty="0">
                <a:solidFill>
                  <a:schemeClr val="tx1"/>
                </a:solidFill>
              </a:rPr>
              <a:t>弱分类器训练图示说明</a:t>
            </a:r>
            <a:endParaRPr lang="zh-TW" altLang="en-US" dirty="0">
              <a:solidFill>
                <a:schemeClr val="tx1"/>
              </a:solidFill>
            </a:endParaRPr>
          </a:p>
        </p:txBody>
      </p:sp>
      <p:sp>
        <p:nvSpPr>
          <p:cNvPr id="14338" name="Text Box 2"/>
          <p:cNvSpPr txBox="1">
            <a:spLocks noChangeArrowheads="1"/>
          </p:cNvSpPr>
          <p:nvPr/>
        </p:nvSpPr>
        <p:spPr bwMode="auto">
          <a:xfrm>
            <a:off x="4343401" y="476251"/>
            <a:ext cx="723275" cy="307777"/>
          </a:xfrm>
          <a:prstGeom prst="rect">
            <a:avLst/>
          </a:prstGeom>
          <a:solidFill>
            <a:schemeClr val="bg1"/>
          </a:solidFill>
          <a:ln w="38100">
            <a:solidFill>
              <a:schemeClr val="bg2"/>
            </a:solidFill>
            <a:miter lim="800000"/>
            <a:headEnd/>
            <a:tailEnd/>
          </a:ln>
          <a:effectLst/>
        </p:spPr>
        <p:txBody>
          <a:bodyPr wrap="none">
            <a:spAutoFit/>
          </a:bodyPr>
          <a:lstStyle/>
          <a:p>
            <a:pPr algn="ctr"/>
            <a:r>
              <a:rPr kumimoji="1" lang="zh-CN" altLang="en-US" sz="1400" b="1" dirty="0">
                <a:ea typeface="新細明體" pitchFamily="18" charset="-120"/>
              </a:rPr>
              <a:t>训练集</a:t>
            </a:r>
          </a:p>
        </p:txBody>
      </p:sp>
      <p:sp>
        <p:nvSpPr>
          <p:cNvPr id="14339" name="Rectangle 3"/>
          <p:cNvSpPr>
            <a:spLocks noChangeArrowheads="1"/>
          </p:cNvSpPr>
          <p:nvPr/>
        </p:nvSpPr>
        <p:spPr bwMode="auto">
          <a:xfrm>
            <a:off x="2351089" y="981076"/>
            <a:ext cx="5113337" cy="1008063"/>
          </a:xfrm>
          <a:prstGeom prst="rect">
            <a:avLst/>
          </a:prstGeom>
          <a:solidFill>
            <a:srgbClr val="99CCFF"/>
          </a:solidFill>
          <a:ln w="38100">
            <a:solidFill>
              <a:schemeClr val="tx1"/>
            </a:solidFill>
            <a:miter lim="800000"/>
            <a:headEnd/>
            <a:tailEnd/>
          </a:ln>
          <a:effectLst/>
        </p:spPr>
        <p:txBody>
          <a:bodyPr wrap="none" lIns="90000" tIns="46800" rIns="90000" bIns="46800" anchor="ctr"/>
          <a:lstStyle/>
          <a:p>
            <a:endParaRPr lang="zh-CN" altLang="en-US"/>
          </a:p>
        </p:txBody>
      </p:sp>
      <p:pic>
        <p:nvPicPr>
          <p:cNvPr id="14341" name="Picture 5" descr="snap"/>
          <p:cNvPicPr>
            <a:picLocks noChangeAspect="1" noChangeArrowheads="1"/>
          </p:cNvPicPr>
          <p:nvPr/>
        </p:nvPicPr>
        <p:blipFill>
          <a:blip r:embed="rId4" cstate="print"/>
          <a:srcRect/>
          <a:stretch>
            <a:fillRect/>
          </a:stretch>
        </p:blipFill>
        <p:spPr bwMode="auto">
          <a:xfrm>
            <a:off x="2566989" y="1123950"/>
            <a:ext cx="720725" cy="706438"/>
          </a:xfrm>
          <a:prstGeom prst="rect">
            <a:avLst/>
          </a:prstGeom>
          <a:noFill/>
          <a:effectLst>
            <a:outerShdw dist="107763" dir="2700000" algn="ctr" rotWithShape="0">
              <a:srgbClr val="808080">
                <a:alpha val="50000"/>
              </a:srgbClr>
            </a:outerShdw>
          </a:effectLst>
        </p:spPr>
      </p:pic>
      <p:pic>
        <p:nvPicPr>
          <p:cNvPr id="14342" name="Picture 6" descr="snap"/>
          <p:cNvPicPr>
            <a:picLocks noChangeAspect="1" noChangeArrowheads="1"/>
          </p:cNvPicPr>
          <p:nvPr/>
        </p:nvPicPr>
        <p:blipFill>
          <a:blip r:embed="rId5" cstate="print"/>
          <a:srcRect/>
          <a:stretch>
            <a:fillRect/>
          </a:stretch>
        </p:blipFill>
        <p:spPr bwMode="auto">
          <a:xfrm>
            <a:off x="3575050" y="1123950"/>
            <a:ext cx="647700" cy="693738"/>
          </a:xfrm>
          <a:prstGeom prst="rect">
            <a:avLst/>
          </a:prstGeom>
          <a:noFill/>
          <a:effectLst>
            <a:outerShdw dist="107763" dir="2700000" algn="ctr" rotWithShape="0">
              <a:srgbClr val="808080">
                <a:alpha val="50000"/>
              </a:srgbClr>
            </a:outerShdw>
          </a:effectLst>
        </p:spPr>
      </p:pic>
      <p:pic>
        <p:nvPicPr>
          <p:cNvPr id="14343" name="Picture 7" descr="snap"/>
          <p:cNvPicPr>
            <a:picLocks noChangeAspect="1" noChangeArrowheads="1"/>
          </p:cNvPicPr>
          <p:nvPr/>
        </p:nvPicPr>
        <p:blipFill>
          <a:blip r:embed="rId6" cstate="print"/>
          <a:srcRect/>
          <a:stretch>
            <a:fillRect/>
          </a:stretch>
        </p:blipFill>
        <p:spPr bwMode="auto">
          <a:xfrm>
            <a:off x="6311900" y="1123951"/>
            <a:ext cx="719138" cy="709613"/>
          </a:xfrm>
          <a:prstGeom prst="rect">
            <a:avLst/>
          </a:prstGeom>
          <a:noFill/>
          <a:effectLst>
            <a:outerShdw dist="107763" dir="2700000" algn="ctr" rotWithShape="0">
              <a:srgbClr val="808080">
                <a:alpha val="50000"/>
              </a:srgbClr>
            </a:outerShdw>
          </a:effectLst>
        </p:spPr>
      </p:pic>
      <p:sp>
        <p:nvSpPr>
          <p:cNvPr id="14344" name="AutoShape 8"/>
          <p:cNvSpPr>
            <a:spLocks/>
          </p:cNvSpPr>
          <p:nvPr/>
        </p:nvSpPr>
        <p:spPr bwMode="auto">
          <a:xfrm rot="16200000">
            <a:off x="4544220" y="-1067594"/>
            <a:ext cx="295275" cy="3960813"/>
          </a:xfrm>
          <a:prstGeom prst="rightBrace">
            <a:avLst>
              <a:gd name="adj1" fmla="val 111783"/>
              <a:gd name="adj2" fmla="val 50000"/>
            </a:avLst>
          </a:prstGeom>
          <a:noFill/>
          <a:ln w="38100">
            <a:solidFill>
              <a:srgbClr val="FF0000"/>
            </a:solidFill>
            <a:round/>
            <a:headEnd/>
            <a:tailEnd/>
          </a:ln>
          <a:effectLst/>
        </p:spPr>
        <p:txBody>
          <a:bodyPr wrap="none" lIns="90000" tIns="46800" rIns="90000" bIns="46800" anchor="ctr"/>
          <a:lstStyle/>
          <a:p>
            <a:endParaRPr lang="zh-CN" altLang="en-US"/>
          </a:p>
        </p:txBody>
      </p:sp>
      <p:graphicFrame>
        <p:nvGraphicFramePr>
          <p:cNvPr id="14345" name="Object 9"/>
          <p:cNvGraphicFramePr>
            <a:graphicFrameLocks noChangeAspect="1"/>
          </p:cNvGraphicFramePr>
          <p:nvPr/>
        </p:nvGraphicFramePr>
        <p:xfrm>
          <a:off x="2709863" y="2360614"/>
          <a:ext cx="298450" cy="363537"/>
        </p:xfrm>
        <a:graphic>
          <a:graphicData uri="http://schemas.openxmlformats.org/presentationml/2006/ole">
            <mc:AlternateContent xmlns:mc="http://schemas.openxmlformats.org/markup-compatibility/2006">
              <mc:Choice xmlns:v="urn:schemas-microsoft-com:vml" Requires="v">
                <p:oleObj spid="_x0000_s373274" name="方程式" r:id="rId7" imgW="177569" imgH="215619" progId="">
                  <p:embed/>
                </p:oleObj>
              </mc:Choice>
              <mc:Fallback>
                <p:oleObj name="方程式" r:id="rId7" imgW="177569" imgH="215619"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09863" y="2360614"/>
                        <a:ext cx="298450" cy="363537"/>
                      </a:xfrm>
                      <a:prstGeom prst="rect">
                        <a:avLst/>
                      </a:prstGeom>
                      <a:solidFill>
                        <a:schemeClr val="bg1"/>
                      </a:solidFill>
                      <a:effectLst>
                        <a:outerShdw dist="107763" dir="2700000" algn="ctr" rotWithShape="0">
                          <a:srgbClr val="808080">
                            <a:alpha val="50000"/>
                          </a:srgbClr>
                        </a:outerShdw>
                      </a:effectLst>
                    </p:spPr>
                  </p:pic>
                </p:oleObj>
              </mc:Fallback>
            </mc:AlternateContent>
          </a:graphicData>
        </a:graphic>
      </p:graphicFrame>
      <p:graphicFrame>
        <p:nvGraphicFramePr>
          <p:cNvPr id="14346" name="Object 10"/>
          <p:cNvGraphicFramePr>
            <a:graphicFrameLocks noChangeAspect="1"/>
          </p:cNvGraphicFramePr>
          <p:nvPr/>
        </p:nvGraphicFramePr>
        <p:xfrm>
          <a:off x="3636964" y="2360614"/>
          <a:ext cx="319087" cy="363537"/>
        </p:xfrm>
        <a:graphic>
          <a:graphicData uri="http://schemas.openxmlformats.org/presentationml/2006/ole">
            <mc:AlternateContent xmlns:mc="http://schemas.openxmlformats.org/markup-compatibility/2006">
              <mc:Choice xmlns:v="urn:schemas-microsoft-com:vml" Requires="v">
                <p:oleObj spid="_x0000_s373275" name="方程式" r:id="rId9" imgW="190335" imgH="215713" progId="">
                  <p:embed/>
                </p:oleObj>
              </mc:Choice>
              <mc:Fallback>
                <p:oleObj name="方程式" r:id="rId9" imgW="190335" imgH="215713"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36964" y="2360614"/>
                        <a:ext cx="319087" cy="363537"/>
                      </a:xfrm>
                      <a:prstGeom prst="rect">
                        <a:avLst/>
                      </a:prstGeom>
                      <a:solidFill>
                        <a:schemeClr val="bg1"/>
                      </a:solidFill>
                      <a:effectLst>
                        <a:outerShdw dist="107763" dir="2700000" algn="ctr" rotWithShape="0">
                          <a:srgbClr val="808080">
                            <a:alpha val="50000"/>
                          </a:srgbClr>
                        </a:outerShdw>
                      </a:effectLst>
                    </p:spPr>
                  </p:pic>
                </p:oleObj>
              </mc:Fallback>
            </mc:AlternateContent>
          </a:graphicData>
        </a:graphic>
      </p:graphicFrame>
      <p:graphicFrame>
        <p:nvGraphicFramePr>
          <p:cNvPr id="14347" name="Object 11"/>
          <p:cNvGraphicFramePr>
            <a:graphicFrameLocks noChangeAspect="1"/>
          </p:cNvGraphicFramePr>
          <p:nvPr/>
        </p:nvGraphicFramePr>
        <p:xfrm>
          <a:off x="6527800" y="2349501"/>
          <a:ext cx="319088" cy="385763"/>
        </p:xfrm>
        <a:graphic>
          <a:graphicData uri="http://schemas.openxmlformats.org/presentationml/2006/ole">
            <mc:AlternateContent xmlns:mc="http://schemas.openxmlformats.org/markup-compatibility/2006">
              <mc:Choice xmlns:v="urn:schemas-microsoft-com:vml" Requires="v">
                <p:oleObj spid="_x0000_s373276" name="方程式" r:id="rId11" imgW="190500" imgH="228600" progId="">
                  <p:embed/>
                </p:oleObj>
              </mc:Choice>
              <mc:Fallback>
                <p:oleObj name="方程式" r:id="rId11" imgW="190500" imgH="228600" progId="">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27800" y="2349501"/>
                        <a:ext cx="319088" cy="385763"/>
                      </a:xfrm>
                      <a:prstGeom prst="rect">
                        <a:avLst/>
                      </a:prstGeom>
                      <a:solidFill>
                        <a:schemeClr val="bg1"/>
                      </a:solidFill>
                      <a:effectLst>
                        <a:outerShdw dist="107763" dir="2700000" algn="ctr" rotWithShape="0">
                          <a:srgbClr val="808080">
                            <a:alpha val="50000"/>
                          </a:srgbClr>
                        </a:outerShdw>
                      </a:effectLst>
                    </p:spPr>
                  </p:pic>
                </p:oleObj>
              </mc:Fallback>
            </mc:AlternateContent>
          </a:graphicData>
        </a:graphic>
      </p:graphicFrame>
      <p:sp>
        <p:nvSpPr>
          <p:cNvPr id="14348" name="Rectangle 12"/>
          <p:cNvSpPr>
            <a:spLocks noChangeArrowheads="1"/>
          </p:cNvSpPr>
          <p:nvPr/>
        </p:nvSpPr>
        <p:spPr bwMode="auto">
          <a:xfrm>
            <a:off x="2351089" y="2852739"/>
            <a:ext cx="5113337" cy="1152525"/>
          </a:xfrm>
          <a:prstGeom prst="rect">
            <a:avLst/>
          </a:prstGeom>
          <a:solidFill>
            <a:srgbClr val="99CCFF"/>
          </a:solidFill>
          <a:ln w="38100">
            <a:solidFill>
              <a:schemeClr val="tx1"/>
            </a:solidFill>
            <a:miter lim="800000"/>
            <a:headEnd/>
            <a:tailEnd/>
          </a:ln>
          <a:effectLst/>
        </p:spPr>
        <p:txBody>
          <a:bodyPr wrap="none" lIns="90000" tIns="46800" rIns="90000" bIns="46800" anchor="ctr"/>
          <a:lstStyle/>
          <a:p>
            <a:endParaRPr lang="zh-CN" altLang="en-US"/>
          </a:p>
        </p:txBody>
      </p:sp>
      <p:sp>
        <p:nvSpPr>
          <p:cNvPr id="14349" name="Rectangle 13"/>
          <p:cNvSpPr>
            <a:spLocks noChangeArrowheads="1"/>
          </p:cNvSpPr>
          <p:nvPr/>
        </p:nvSpPr>
        <p:spPr bwMode="auto">
          <a:xfrm>
            <a:off x="2711451" y="2925764"/>
            <a:ext cx="288925" cy="935037"/>
          </a:xfrm>
          <a:prstGeom prst="rect">
            <a:avLst/>
          </a:prstGeom>
          <a:solidFill>
            <a:srgbClr val="993300"/>
          </a:solidFill>
          <a:ln w="38100">
            <a:solidFill>
              <a:schemeClr val="tx1"/>
            </a:solidFill>
            <a:miter lim="800000"/>
            <a:headEnd/>
            <a:tailEnd/>
          </a:ln>
          <a:effectLst>
            <a:outerShdw dist="107763" dir="2700000" algn="ctr" rotWithShape="0">
              <a:schemeClr val="bg2">
                <a:alpha val="50000"/>
              </a:schemeClr>
            </a:outerShdw>
          </a:effectLst>
        </p:spPr>
        <p:txBody>
          <a:bodyPr wrap="none" lIns="90000" tIns="46800" rIns="90000" bIns="46800" anchor="ctr"/>
          <a:lstStyle/>
          <a:p>
            <a:pPr algn="ctr"/>
            <a:endParaRPr kumimoji="1" lang="zh-CN" altLang="zh-CN">
              <a:latin typeface="Garamond" pitchFamily="18" charset="0"/>
              <a:ea typeface="新細明體" pitchFamily="18" charset="-120"/>
            </a:endParaRPr>
          </a:p>
        </p:txBody>
      </p:sp>
      <p:sp>
        <p:nvSpPr>
          <p:cNvPr id="14350" name="Oval 14"/>
          <p:cNvSpPr>
            <a:spLocks noChangeArrowheads="1"/>
          </p:cNvSpPr>
          <p:nvPr/>
        </p:nvSpPr>
        <p:spPr bwMode="auto">
          <a:xfrm>
            <a:off x="2782889" y="3068639"/>
            <a:ext cx="73025" cy="73025"/>
          </a:xfrm>
          <a:prstGeom prst="ellipse">
            <a:avLst/>
          </a:prstGeom>
          <a:solidFill>
            <a:srgbClr val="FF0000"/>
          </a:solidFill>
          <a:ln w="19050">
            <a:solidFill>
              <a:schemeClr val="tx1"/>
            </a:solidFill>
            <a:round/>
            <a:headEnd/>
            <a:tailEnd/>
          </a:ln>
          <a:effectLst/>
        </p:spPr>
        <p:txBody>
          <a:bodyPr wrap="none" lIns="90000" tIns="46800" rIns="90000" bIns="46800" anchor="ctr"/>
          <a:lstStyle/>
          <a:p>
            <a:endParaRPr lang="zh-CN" altLang="en-US"/>
          </a:p>
        </p:txBody>
      </p:sp>
      <p:sp>
        <p:nvSpPr>
          <p:cNvPr id="14351" name="Oval 15"/>
          <p:cNvSpPr>
            <a:spLocks noChangeArrowheads="1"/>
          </p:cNvSpPr>
          <p:nvPr/>
        </p:nvSpPr>
        <p:spPr bwMode="auto">
          <a:xfrm>
            <a:off x="2782889" y="3357564"/>
            <a:ext cx="73025" cy="73025"/>
          </a:xfrm>
          <a:prstGeom prst="ellipse">
            <a:avLst/>
          </a:prstGeom>
          <a:solidFill>
            <a:schemeClr val="tx1"/>
          </a:solidFill>
          <a:ln w="19050">
            <a:solidFill>
              <a:schemeClr val="tx1"/>
            </a:solidFill>
            <a:round/>
            <a:headEnd/>
            <a:tailEnd/>
          </a:ln>
          <a:effectLst/>
        </p:spPr>
        <p:txBody>
          <a:bodyPr wrap="none" lIns="90000" tIns="46800" rIns="90000" bIns="46800" anchor="ctr"/>
          <a:lstStyle/>
          <a:p>
            <a:endParaRPr lang="zh-CN" altLang="en-US"/>
          </a:p>
        </p:txBody>
      </p:sp>
      <p:sp>
        <p:nvSpPr>
          <p:cNvPr id="14352" name="Oval 16"/>
          <p:cNvSpPr>
            <a:spLocks noChangeArrowheads="1"/>
          </p:cNvSpPr>
          <p:nvPr/>
        </p:nvSpPr>
        <p:spPr bwMode="auto">
          <a:xfrm>
            <a:off x="2782889" y="3213101"/>
            <a:ext cx="73025" cy="73025"/>
          </a:xfrm>
          <a:prstGeom prst="ellipse">
            <a:avLst/>
          </a:prstGeom>
          <a:solidFill>
            <a:schemeClr val="tx1"/>
          </a:solidFill>
          <a:ln w="19050">
            <a:solidFill>
              <a:schemeClr val="tx1"/>
            </a:solidFill>
            <a:round/>
            <a:headEnd/>
            <a:tailEnd/>
          </a:ln>
          <a:effectLst/>
        </p:spPr>
        <p:txBody>
          <a:bodyPr wrap="none" lIns="90000" tIns="46800" rIns="90000" bIns="46800" anchor="ctr"/>
          <a:lstStyle/>
          <a:p>
            <a:endParaRPr lang="zh-CN" altLang="en-US"/>
          </a:p>
        </p:txBody>
      </p:sp>
      <p:sp>
        <p:nvSpPr>
          <p:cNvPr id="14353" name="Oval 17"/>
          <p:cNvSpPr>
            <a:spLocks noChangeArrowheads="1"/>
          </p:cNvSpPr>
          <p:nvPr/>
        </p:nvSpPr>
        <p:spPr bwMode="auto">
          <a:xfrm>
            <a:off x="2782889" y="3500439"/>
            <a:ext cx="73025" cy="73025"/>
          </a:xfrm>
          <a:prstGeom prst="ellipse">
            <a:avLst/>
          </a:prstGeom>
          <a:solidFill>
            <a:schemeClr val="tx1"/>
          </a:solidFill>
          <a:ln w="19050">
            <a:solidFill>
              <a:schemeClr val="tx1"/>
            </a:solidFill>
            <a:round/>
            <a:headEnd/>
            <a:tailEnd/>
          </a:ln>
          <a:effectLst/>
        </p:spPr>
        <p:txBody>
          <a:bodyPr wrap="none" lIns="90000" tIns="46800" rIns="90000" bIns="46800" anchor="ctr"/>
          <a:lstStyle/>
          <a:p>
            <a:endParaRPr lang="zh-CN" altLang="en-US"/>
          </a:p>
        </p:txBody>
      </p:sp>
      <p:sp>
        <p:nvSpPr>
          <p:cNvPr id="14354" name="Oval 18"/>
          <p:cNvSpPr>
            <a:spLocks noChangeArrowheads="1"/>
          </p:cNvSpPr>
          <p:nvPr/>
        </p:nvSpPr>
        <p:spPr bwMode="auto">
          <a:xfrm>
            <a:off x="2782889" y="3644901"/>
            <a:ext cx="73025" cy="73025"/>
          </a:xfrm>
          <a:prstGeom prst="ellipse">
            <a:avLst/>
          </a:prstGeom>
          <a:solidFill>
            <a:schemeClr val="tx1"/>
          </a:solidFill>
          <a:ln w="19050">
            <a:solidFill>
              <a:schemeClr val="tx1"/>
            </a:solidFill>
            <a:round/>
            <a:headEnd/>
            <a:tailEnd/>
          </a:ln>
          <a:effectLst/>
        </p:spPr>
        <p:txBody>
          <a:bodyPr wrap="none" lIns="90000" tIns="46800" rIns="90000" bIns="46800" anchor="ctr"/>
          <a:lstStyle/>
          <a:p>
            <a:endParaRPr lang="zh-CN" altLang="en-US"/>
          </a:p>
        </p:txBody>
      </p:sp>
      <p:graphicFrame>
        <p:nvGraphicFramePr>
          <p:cNvPr id="14355" name="Object 19"/>
          <p:cNvGraphicFramePr>
            <a:graphicFrameLocks noChangeAspect="1"/>
          </p:cNvGraphicFramePr>
          <p:nvPr/>
        </p:nvGraphicFramePr>
        <p:xfrm>
          <a:off x="3000375" y="2925764"/>
          <a:ext cx="230188" cy="314325"/>
        </p:xfrm>
        <a:graphic>
          <a:graphicData uri="http://schemas.openxmlformats.org/presentationml/2006/ole">
            <mc:AlternateContent xmlns:mc="http://schemas.openxmlformats.org/markup-compatibility/2006">
              <mc:Choice xmlns:v="urn:schemas-microsoft-com:vml" Requires="v">
                <p:oleObj spid="_x0000_s373277" name="方程式" r:id="rId13" imgW="177646" imgH="241091" progId="">
                  <p:embed/>
                </p:oleObj>
              </mc:Choice>
              <mc:Fallback>
                <p:oleObj name="方程式" r:id="rId13" imgW="177646" imgH="241091" progId="">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00375" y="2925764"/>
                        <a:ext cx="230188" cy="314325"/>
                      </a:xfrm>
                      <a:prstGeom prst="rect">
                        <a:avLst/>
                      </a:prstGeom>
                      <a:solidFill>
                        <a:schemeClr val="bg1"/>
                      </a:solidFill>
                      <a:effectLst>
                        <a:outerShdw dist="107763" dir="2700000" algn="ctr" rotWithShape="0">
                          <a:srgbClr val="808080">
                            <a:alpha val="50000"/>
                          </a:srgbClr>
                        </a:outerShdw>
                      </a:effectLst>
                    </p:spPr>
                  </p:pic>
                </p:oleObj>
              </mc:Fallback>
            </mc:AlternateContent>
          </a:graphicData>
        </a:graphic>
      </p:graphicFrame>
      <p:sp>
        <p:nvSpPr>
          <p:cNvPr id="14356" name="Rectangle 20"/>
          <p:cNvSpPr>
            <a:spLocks noChangeArrowheads="1"/>
          </p:cNvSpPr>
          <p:nvPr/>
        </p:nvSpPr>
        <p:spPr bwMode="auto">
          <a:xfrm>
            <a:off x="3648076" y="2925764"/>
            <a:ext cx="288925" cy="935037"/>
          </a:xfrm>
          <a:prstGeom prst="rect">
            <a:avLst/>
          </a:prstGeom>
          <a:solidFill>
            <a:srgbClr val="993300"/>
          </a:solidFill>
          <a:ln w="38100">
            <a:solidFill>
              <a:schemeClr val="tx1"/>
            </a:solidFill>
            <a:miter lim="800000"/>
            <a:headEnd/>
            <a:tailEnd/>
          </a:ln>
          <a:effectLst>
            <a:outerShdw dist="107763" dir="2700000" algn="ctr" rotWithShape="0">
              <a:schemeClr val="bg2">
                <a:alpha val="50000"/>
              </a:schemeClr>
            </a:outerShdw>
          </a:effectLst>
        </p:spPr>
        <p:txBody>
          <a:bodyPr wrap="none" lIns="90000" tIns="46800" rIns="90000" bIns="46800" anchor="ctr"/>
          <a:lstStyle/>
          <a:p>
            <a:pPr algn="ctr"/>
            <a:endParaRPr kumimoji="1" lang="zh-CN" altLang="zh-CN">
              <a:latin typeface="Garamond" pitchFamily="18" charset="0"/>
              <a:ea typeface="新細明體" pitchFamily="18" charset="-120"/>
            </a:endParaRPr>
          </a:p>
        </p:txBody>
      </p:sp>
      <p:sp>
        <p:nvSpPr>
          <p:cNvPr id="14357" name="Oval 21"/>
          <p:cNvSpPr>
            <a:spLocks noChangeArrowheads="1"/>
          </p:cNvSpPr>
          <p:nvPr/>
        </p:nvSpPr>
        <p:spPr bwMode="auto">
          <a:xfrm>
            <a:off x="3719514" y="3068639"/>
            <a:ext cx="73025" cy="73025"/>
          </a:xfrm>
          <a:prstGeom prst="ellipse">
            <a:avLst/>
          </a:prstGeom>
          <a:solidFill>
            <a:schemeClr val="tx1"/>
          </a:solidFill>
          <a:ln w="19050">
            <a:solidFill>
              <a:schemeClr val="tx1"/>
            </a:solidFill>
            <a:round/>
            <a:headEnd/>
            <a:tailEnd/>
          </a:ln>
          <a:effectLst/>
        </p:spPr>
        <p:txBody>
          <a:bodyPr wrap="none" lIns="90000" tIns="46800" rIns="90000" bIns="46800" anchor="ctr"/>
          <a:lstStyle/>
          <a:p>
            <a:endParaRPr lang="zh-CN" altLang="en-US"/>
          </a:p>
        </p:txBody>
      </p:sp>
      <p:sp>
        <p:nvSpPr>
          <p:cNvPr id="14358" name="Oval 22"/>
          <p:cNvSpPr>
            <a:spLocks noChangeArrowheads="1"/>
          </p:cNvSpPr>
          <p:nvPr/>
        </p:nvSpPr>
        <p:spPr bwMode="auto">
          <a:xfrm>
            <a:off x="3719514" y="3357564"/>
            <a:ext cx="73025" cy="73025"/>
          </a:xfrm>
          <a:prstGeom prst="ellipse">
            <a:avLst/>
          </a:prstGeom>
          <a:solidFill>
            <a:schemeClr val="tx1"/>
          </a:solidFill>
          <a:ln w="19050">
            <a:solidFill>
              <a:schemeClr val="tx1"/>
            </a:solidFill>
            <a:round/>
            <a:headEnd/>
            <a:tailEnd/>
          </a:ln>
          <a:effectLst/>
        </p:spPr>
        <p:txBody>
          <a:bodyPr wrap="none" lIns="90000" tIns="46800" rIns="90000" bIns="46800" anchor="ctr"/>
          <a:lstStyle/>
          <a:p>
            <a:endParaRPr lang="zh-CN" altLang="en-US"/>
          </a:p>
        </p:txBody>
      </p:sp>
      <p:sp>
        <p:nvSpPr>
          <p:cNvPr id="14359" name="Oval 23"/>
          <p:cNvSpPr>
            <a:spLocks noChangeArrowheads="1"/>
          </p:cNvSpPr>
          <p:nvPr/>
        </p:nvSpPr>
        <p:spPr bwMode="auto">
          <a:xfrm>
            <a:off x="3719514" y="3213101"/>
            <a:ext cx="73025" cy="73025"/>
          </a:xfrm>
          <a:prstGeom prst="ellipse">
            <a:avLst/>
          </a:prstGeom>
          <a:solidFill>
            <a:schemeClr val="tx1"/>
          </a:solidFill>
          <a:ln w="19050">
            <a:solidFill>
              <a:schemeClr val="tx1"/>
            </a:solidFill>
            <a:round/>
            <a:headEnd/>
            <a:tailEnd/>
          </a:ln>
          <a:effectLst/>
        </p:spPr>
        <p:txBody>
          <a:bodyPr wrap="none" lIns="90000" tIns="46800" rIns="90000" bIns="46800" anchor="ctr"/>
          <a:lstStyle/>
          <a:p>
            <a:endParaRPr lang="zh-CN" altLang="en-US"/>
          </a:p>
        </p:txBody>
      </p:sp>
      <p:sp>
        <p:nvSpPr>
          <p:cNvPr id="14360" name="Oval 24"/>
          <p:cNvSpPr>
            <a:spLocks noChangeArrowheads="1"/>
          </p:cNvSpPr>
          <p:nvPr/>
        </p:nvSpPr>
        <p:spPr bwMode="auto">
          <a:xfrm>
            <a:off x="3719514" y="3500439"/>
            <a:ext cx="73025" cy="73025"/>
          </a:xfrm>
          <a:prstGeom prst="ellipse">
            <a:avLst/>
          </a:prstGeom>
          <a:solidFill>
            <a:srgbClr val="FF0000"/>
          </a:solidFill>
          <a:ln w="19050">
            <a:solidFill>
              <a:schemeClr val="tx1"/>
            </a:solidFill>
            <a:round/>
            <a:headEnd/>
            <a:tailEnd/>
          </a:ln>
          <a:effectLst/>
        </p:spPr>
        <p:txBody>
          <a:bodyPr wrap="none" lIns="90000" tIns="46800" rIns="90000" bIns="46800" anchor="ctr"/>
          <a:lstStyle/>
          <a:p>
            <a:endParaRPr lang="zh-CN" altLang="en-US"/>
          </a:p>
        </p:txBody>
      </p:sp>
      <p:sp>
        <p:nvSpPr>
          <p:cNvPr id="14361" name="Oval 25"/>
          <p:cNvSpPr>
            <a:spLocks noChangeArrowheads="1"/>
          </p:cNvSpPr>
          <p:nvPr/>
        </p:nvSpPr>
        <p:spPr bwMode="auto">
          <a:xfrm>
            <a:off x="3719514" y="3644901"/>
            <a:ext cx="73025" cy="73025"/>
          </a:xfrm>
          <a:prstGeom prst="ellipse">
            <a:avLst/>
          </a:prstGeom>
          <a:solidFill>
            <a:schemeClr val="tx1"/>
          </a:solidFill>
          <a:ln w="19050">
            <a:solidFill>
              <a:schemeClr val="tx1"/>
            </a:solidFill>
            <a:round/>
            <a:headEnd/>
            <a:tailEnd/>
          </a:ln>
          <a:effectLst/>
        </p:spPr>
        <p:txBody>
          <a:bodyPr wrap="none" lIns="90000" tIns="46800" rIns="90000" bIns="46800" anchor="ctr"/>
          <a:lstStyle/>
          <a:p>
            <a:endParaRPr lang="zh-CN" altLang="en-US"/>
          </a:p>
        </p:txBody>
      </p:sp>
      <p:graphicFrame>
        <p:nvGraphicFramePr>
          <p:cNvPr id="14362" name="Object 26"/>
          <p:cNvGraphicFramePr>
            <a:graphicFrameLocks noChangeAspect="1"/>
          </p:cNvGraphicFramePr>
          <p:nvPr/>
        </p:nvGraphicFramePr>
        <p:xfrm>
          <a:off x="4008439" y="3357564"/>
          <a:ext cx="230187" cy="314325"/>
        </p:xfrm>
        <a:graphic>
          <a:graphicData uri="http://schemas.openxmlformats.org/presentationml/2006/ole">
            <mc:AlternateContent xmlns:mc="http://schemas.openxmlformats.org/markup-compatibility/2006">
              <mc:Choice xmlns:v="urn:schemas-microsoft-com:vml" Requires="v">
                <p:oleObj spid="_x0000_s373278" name="方程式" r:id="rId15" imgW="177646" imgH="241091" progId="">
                  <p:embed/>
                </p:oleObj>
              </mc:Choice>
              <mc:Fallback>
                <p:oleObj name="方程式" r:id="rId15" imgW="177646" imgH="241091" progId="">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08439" y="3357564"/>
                        <a:ext cx="230187" cy="314325"/>
                      </a:xfrm>
                      <a:prstGeom prst="rect">
                        <a:avLst/>
                      </a:prstGeom>
                      <a:solidFill>
                        <a:schemeClr val="bg1"/>
                      </a:solidFill>
                      <a:effectLst>
                        <a:outerShdw dist="107763" dir="2700000" algn="ctr" rotWithShape="0">
                          <a:srgbClr val="808080">
                            <a:alpha val="50000"/>
                          </a:srgbClr>
                        </a:outerShdw>
                      </a:effectLst>
                    </p:spPr>
                  </p:pic>
                </p:oleObj>
              </mc:Fallback>
            </mc:AlternateContent>
          </a:graphicData>
        </a:graphic>
      </p:graphicFrame>
      <p:sp>
        <p:nvSpPr>
          <p:cNvPr id="14363" name="Rectangle 27"/>
          <p:cNvSpPr>
            <a:spLocks noChangeArrowheads="1"/>
          </p:cNvSpPr>
          <p:nvPr/>
        </p:nvSpPr>
        <p:spPr bwMode="auto">
          <a:xfrm>
            <a:off x="6527801" y="2925764"/>
            <a:ext cx="288925" cy="935037"/>
          </a:xfrm>
          <a:prstGeom prst="rect">
            <a:avLst/>
          </a:prstGeom>
          <a:solidFill>
            <a:srgbClr val="993300"/>
          </a:solidFill>
          <a:ln w="38100">
            <a:solidFill>
              <a:schemeClr val="tx1"/>
            </a:solidFill>
            <a:miter lim="800000"/>
            <a:headEnd/>
            <a:tailEnd/>
          </a:ln>
          <a:effectLst>
            <a:outerShdw dist="107763" dir="2700000" algn="ctr" rotWithShape="0">
              <a:schemeClr val="bg2">
                <a:alpha val="50000"/>
              </a:schemeClr>
            </a:outerShdw>
          </a:effectLst>
        </p:spPr>
        <p:txBody>
          <a:bodyPr wrap="none" lIns="90000" tIns="46800" rIns="90000" bIns="46800" anchor="ctr"/>
          <a:lstStyle/>
          <a:p>
            <a:pPr algn="ctr"/>
            <a:endParaRPr kumimoji="1" lang="zh-CN" altLang="zh-CN">
              <a:latin typeface="Garamond" pitchFamily="18" charset="0"/>
              <a:ea typeface="新細明體" pitchFamily="18" charset="-120"/>
            </a:endParaRPr>
          </a:p>
        </p:txBody>
      </p:sp>
      <p:sp>
        <p:nvSpPr>
          <p:cNvPr id="14364" name="Oval 28"/>
          <p:cNvSpPr>
            <a:spLocks noChangeArrowheads="1"/>
          </p:cNvSpPr>
          <p:nvPr/>
        </p:nvSpPr>
        <p:spPr bwMode="auto">
          <a:xfrm>
            <a:off x="6599239" y="3068639"/>
            <a:ext cx="73025" cy="73025"/>
          </a:xfrm>
          <a:prstGeom prst="ellipse">
            <a:avLst/>
          </a:prstGeom>
          <a:solidFill>
            <a:schemeClr val="tx1"/>
          </a:solidFill>
          <a:ln w="19050">
            <a:solidFill>
              <a:schemeClr val="tx1"/>
            </a:solidFill>
            <a:round/>
            <a:headEnd/>
            <a:tailEnd/>
          </a:ln>
          <a:effectLst/>
        </p:spPr>
        <p:txBody>
          <a:bodyPr wrap="none" lIns="90000" tIns="46800" rIns="90000" bIns="46800" anchor="ctr"/>
          <a:lstStyle/>
          <a:p>
            <a:endParaRPr lang="zh-CN" altLang="en-US"/>
          </a:p>
        </p:txBody>
      </p:sp>
      <p:sp>
        <p:nvSpPr>
          <p:cNvPr id="14365" name="Oval 29"/>
          <p:cNvSpPr>
            <a:spLocks noChangeArrowheads="1"/>
          </p:cNvSpPr>
          <p:nvPr/>
        </p:nvSpPr>
        <p:spPr bwMode="auto">
          <a:xfrm>
            <a:off x="6599239" y="3357564"/>
            <a:ext cx="73025" cy="73025"/>
          </a:xfrm>
          <a:prstGeom prst="ellipse">
            <a:avLst/>
          </a:prstGeom>
          <a:solidFill>
            <a:schemeClr val="tx1"/>
          </a:solidFill>
          <a:ln w="19050">
            <a:solidFill>
              <a:schemeClr val="tx1"/>
            </a:solidFill>
            <a:round/>
            <a:headEnd/>
            <a:tailEnd/>
          </a:ln>
          <a:effectLst/>
        </p:spPr>
        <p:txBody>
          <a:bodyPr wrap="none" lIns="90000" tIns="46800" rIns="90000" bIns="46800" anchor="ctr"/>
          <a:lstStyle/>
          <a:p>
            <a:endParaRPr lang="zh-CN" altLang="en-US"/>
          </a:p>
        </p:txBody>
      </p:sp>
      <p:sp>
        <p:nvSpPr>
          <p:cNvPr id="14366" name="Oval 30"/>
          <p:cNvSpPr>
            <a:spLocks noChangeArrowheads="1"/>
          </p:cNvSpPr>
          <p:nvPr/>
        </p:nvSpPr>
        <p:spPr bwMode="auto">
          <a:xfrm>
            <a:off x="6599239" y="3213101"/>
            <a:ext cx="73025" cy="73025"/>
          </a:xfrm>
          <a:prstGeom prst="ellipse">
            <a:avLst/>
          </a:prstGeom>
          <a:solidFill>
            <a:schemeClr val="tx1"/>
          </a:solidFill>
          <a:ln w="19050">
            <a:solidFill>
              <a:schemeClr val="tx1"/>
            </a:solidFill>
            <a:round/>
            <a:headEnd/>
            <a:tailEnd/>
          </a:ln>
          <a:effectLst/>
        </p:spPr>
        <p:txBody>
          <a:bodyPr wrap="none" lIns="90000" tIns="46800" rIns="90000" bIns="46800" anchor="ctr"/>
          <a:lstStyle/>
          <a:p>
            <a:endParaRPr lang="zh-CN" altLang="en-US"/>
          </a:p>
        </p:txBody>
      </p:sp>
      <p:sp>
        <p:nvSpPr>
          <p:cNvPr id="14367" name="Oval 31"/>
          <p:cNvSpPr>
            <a:spLocks noChangeArrowheads="1"/>
          </p:cNvSpPr>
          <p:nvPr/>
        </p:nvSpPr>
        <p:spPr bwMode="auto">
          <a:xfrm>
            <a:off x="6599239" y="3500439"/>
            <a:ext cx="73025" cy="73025"/>
          </a:xfrm>
          <a:prstGeom prst="ellipse">
            <a:avLst/>
          </a:prstGeom>
          <a:solidFill>
            <a:schemeClr val="tx1"/>
          </a:solidFill>
          <a:ln w="19050">
            <a:solidFill>
              <a:schemeClr val="tx1"/>
            </a:solidFill>
            <a:round/>
            <a:headEnd/>
            <a:tailEnd/>
          </a:ln>
          <a:effectLst/>
        </p:spPr>
        <p:txBody>
          <a:bodyPr wrap="none" lIns="90000" tIns="46800" rIns="90000" bIns="46800" anchor="ctr"/>
          <a:lstStyle/>
          <a:p>
            <a:endParaRPr lang="zh-CN" altLang="en-US"/>
          </a:p>
        </p:txBody>
      </p:sp>
      <p:sp>
        <p:nvSpPr>
          <p:cNvPr id="14368" name="Oval 32"/>
          <p:cNvSpPr>
            <a:spLocks noChangeArrowheads="1"/>
          </p:cNvSpPr>
          <p:nvPr/>
        </p:nvSpPr>
        <p:spPr bwMode="auto">
          <a:xfrm>
            <a:off x="6599239" y="3644901"/>
            <a:ext cx="73025" cy="73025"/>
          </a:xfrm>
          <a:prstGeom prst="ellipse">
            <a:avLst/>
          </a:prstGeom>
          <a:solidFill>
            <a:srgbClr val="FF0000"/>
          </a:solidFill>
          <a:ln w="19050">
            <a:solidFill>
              <a:schemeClr val="tx1"/>
            </a:solidFill>
            <a:round/>
            <a:headEnd/>
            <a:tailEnd/>
          </a:ln>
          <a:effectLst/>
        </p:spPr>
        <p:txBody>
          <a:bodyPr wrap="none" lIns="90000" tIns="46800" rIns="90000" bIns="46800" anchor="ctr"/>
          <a:lstStyle/>
          <a:p>
            <a:endParaRPr lang="zh-CN" altLang="en-US"/>
          </a:p>
        </p:txBody>
      </p:sp>
      <p:graphicFrame>
        <p:nvGraphicFramePr>
          <p:cNvPr id="14369" name="Object 33"/>
          <p:cNvGraphicFramePr>
            <a:graphicFrameLocks noChangeAspect="1"/>
          </p:cNvGraphicFramePr>
          <p:nvPr/>
        </p:nvGraphicFramePr>
        <p:xfrm>
          <a:off x="6888164" y="3573464"/>
          <a:ext cx="230187" cy="314325"/>
        </p:xfrm>
        <a:graphic>
          <a:graphicData uri="http://schemas.openxmlformats.org/presentationml/2006/ole">
            <mc:AlternateContent xmlns:mc="http://schemas.openxmlformats.org/markup-compatibility/2006">
              <mc:Choice xmlns:v="urn:schemas-microsoft-com:vml" Requires="v">
                <p:oleObj spid="_x0000_s373279" name="方程式" r:id="rId16" imgW="177646" imgH="241091" progId="">
                  <p:embed/>
                </p:oleObj>
              </mc:Choice>
              <mc:Fallback>
                <p:oleObj name="方程式" r:id="rId16" imgW="177646" imgH="241091" progId="">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88164" y="3573464"/>
                        <a:ext cx="230187" cy="314325"/>
                      </a:xfrm>
                      <a:prstGeom prst="rect">
                        <a:avLst/>
                      </a:prstGeom>
                      <a:solidFill>
                        <a:schemeClr val="bg1"/>
                      </a:solidFill>
                      <a:effectLst>
                        <a:outerShdw dist="107763" dir="2700000" algn="ctr" rotWithShape="0">
                          <a:srgbClr val="808080">
                            <a:alpha val="50000"/>
                          </a:srgbClr>
                        </a:outerShdw>
                      </a:effectLst>
                    </p:spPr>
                  </p:pic>
                </p:oleObj>
              </mc:Fallback>
            </mc:AlternateContent>
          </a:graphicData>
        </a:graphic>
      </p:graphicFrame>
      <p:sp>
        <p:nvSpPr>
          <p:cNvPr id="14370" name="Rectangle 34"/>
          <p:cNvSpPr>
            <a:spLocks noChangeArrowheads="1"/>
          </p:cNvSpPr>
          <p:nvPr/>
        </p:nvSpPr>
        <p:spPr bwMode="auto">
          <a:xfrm>
            <a:off x="5016501" y="2925764"/>
            <a:ext cx="288925" cy="935037"/>
          </a:xfrm>
          <a:prstGeom prst="rect">
            <a:avLst/>
          </a:prstGeom>
          <a:solidFill>
            <a:srgbClr val="993300"/>
          </a:solidFill>
          <a:ln w="38100">
            <a:solidFill>
              <a:schemeClr val="tx1"/>
            </a:solidFill>
            <a:miter lim="800000"/>
            <a:headEnd/>
            <a:tailEnd/>
          </a:ln>
          <a:effectLst>
            <a:outerShdw dist="107763" dir="2700000" algn="ctr" rotWithShape="0">
              <a:schemeClr val="bg2">
                <a:alpha val="50000"/>
              </a:schemeClr>
            </a:outerShdw>
          </a:effectLst>
        </p:spPr>
        <p:txBody>
          <a:bodyPr wrap="none" lIns="90000" tIns="46800" rIns="90000" bIns="46800" anchor="ctr"/>
          <a:lstStyle/>
          <a:p>
            <a:pPr algn="ctr"/>
            <a:endParaRPr kumimoji="1" lang="zh-CN" altLang="zh-CN">
              <a:latin typeface="Garamond" pitchFamily="18" charset="0"/>
              <a:ea typeface="新細明體" pitchFamily="18" charset="-120"/>
            </a:endParaRPr>
          </a:p>
        </p:txBody>
      </p:sp>
      <p:sp>
        <p:nvSpPr>
          <p:cNvPr id="14371" name="Oval 35"/>
          <p:cNvSpPr>
            <a:spLocks noChangeArrowheads="1"/>
          </p:cNvSpPr>
          <p:nvPr/>
        </p:nvSpPr>
        <p:spPr bwMode="auto">
          <a:xfrm>
            <a:off x="5087939" y="3068639"/>
            <a:ext cx="73025" cy="73025"/>
          </a:xfrm>
          <a:prstGeom prst="ellipse">
            <a:avLst/>
          </a:prstGeom>
          <a:solidFill>
            <a:srgbClr val="FF0000"/>
          </a:solidFill>
          <a:ln w="19050">
            <a:solidFill>
              <a:schemeClr val="tx1"/>
            </a:solidFill>
            <a:round/>
            <a:headEnd/>
            <a:tailEnd/>
          </a:ln>
          <a:effectLst/>
        </p:spPr>
        <p:txBody>
          <a:bodyPr wrap="none" lIns="90000" tIns="46800" rIns="90000" bIns="46800" anchor="ctr"/>
          <a:lstStyle/>
          <a:p>
            <a:endParaRPr lang="zh-CN" altLang="en-US"/>
          </a:p>
        </p:txBody>
      </p:sp>
      <p:sp>
        <p:nvSpPr>
          <p:cNvPr id="14372" name="Oval 36"/>
          <p:cNvSpPr>
            <a:spLocks noChangeArrowheads="1"/>
          </p:cNvSpPr>
          <p:nvPr/>
        </p:nvSpPr>
        <p:spPr bwMode="auto">
          <a:xfrm>
            <a:off x="5087939" y="3357564"/>
            <a:ext cx="73025" cy="73025"/>
          </a:xfrm>
          <a:prstGeom prst="ellipse">
            <a:avLst/>
          </a:prstGeom>
          <a:solidFill>
            <a:schemeClr val="tx1"/>
          </a:solidFill>
          <a:ln w="19050">
            <a:solidFill>
              <a:schemeClr val="tx1"/>
            </a:solidFill>
            <a:round/>
            <a:headEnd/>
            <a:tailEnd/>
          </a:ln>
          <a:effectLst/>
        </p:spPr>
        <p:txBody>
          <a:bodyPr wrap="none" lIns="90000" tIns="46800" rIns="90000" bIns="46800" anchor="ctr"/>
          <a:lstStyle/>
          <a:p>
            <a:endParaRPr lang="zh-CN" altLang="en-US"/>
          </a:p>
        </p:txBody>
      </p:sp>
      <p:sp>
        <p:nvSpPr>
          <p:cNvPr id="14373" name="Oval 37"/>
          <p:cNvSpPr>
            <a:spLocks noChangeArrowheads="1"/>
          </p:cNvSpPr>
          <p:nvPr/>
        </p:nvSpPr>
        <p:spPr bwMode="auto">
          <a:xfrm>
            <a:off x="5087939" y="3213101"/>
            <a:ext cx="73025" cy="73025"/>
          </a:xfrm>
          <a:prstGeom prst="ellipse">
            <a:avLst/>
          </a:prstGeom>
          <a:solidFill>
            <a:schemeClr val="tx1"/>
          </a:solidFill>
          <a:ln w="19050">
            <a:solidFill>
              <a:schemeClr val="tx1"/>
            </a:solidFill>
            <a:round/>
            <a:headEnd/>
            <a:tailEnd/>
          </a:ln>
          <a:effectLst/>
        </p:spPr>
        <p:txBody>
          <a:bodyPr wrap="none" lIns="90000" tIns="46800" rIns="90000" bIns="46800" anchor="ctr"/>
          <a:lstStyle/>
          <a:p>
            <a:endParaRPr lang="zh-CN" altLang="en-US"/>
          </a:p>
        </p:txBody>
      </p:sp>
      <p:sp>
        <p:nvSpPr>
          <p:cNvPr id="14374" name="Oval 38"/>
          <p:cNvSpPr>
            <a:spLocks noChangeArrowheads="1"/>
          </p:cNvSpPr>
          <p:nvPr/>
        </p:nvSpPr>
        <p:spPr bwMode="auto">
          <a:xfrm>
            <a:off x="5087939" y="3500439"/>
            <a:ext cx="73025" cy="73025"/>
          </a:xfrm>
          <a:prstGeom prst="ellipse">
            <a:avLst/>
          </a:prstGeom>
          <a:solidFill>
            <a:schemeClr val="tx1"/>
          </a:solidFill>
          <a:ln w="19050">
            <a:solidFill>
              <a:schemeClr val="tx1"/>
            </a:solidFill>
            <a:round/>
            <a:headEnd/>
            <a:tailEnd/>
          </a:ln>
          <a:effectLst/>
        </p:spPr>
        <p:txBody>
          <a:bodyPr wrap="none" lIns="90000" tIns="46800" rIns="90000" bIns="46800" anchor="ctr"/>
          <a:lstStyle/>
          <a:p>
            <a:endParaRPr lang="zh-CN" altLang="en-US"/>
          </a:p>
        </p:txBody>
      </p:sp>
      <p:sp>
        <p:nvSpPr>
          <p:cNvPr id="14375" name="Oval 39"/>
          <p:cNvSpPr>
            <a:spLocks noChangeArrowheads="1"/>
          </p:cNvSpPr>
          <p:nvPr/>
        </p:nvSpPr>
        <p:spPr bwMode="auto">
          <a:xfrm>
            <a:off x="5087939" y="3644901"/>
            <a:ext cx="73025" cy="73025"/>
          </a:xfrm>
          <a:prstGeom prst="ellipse">
            <a:avLst/>
          </a:prstGeom>
          <a:solidFill>
            <a:schemeClr val="tx1"/>
          </a:solidFill>
          <a:ln w="19050">
            <a:solidFill>
              <a:schemeClr val="tx1"/>
            </a:solidFill>
            <a:round/>
            <a:headEnd/>
            <a:tailEnd/>
          </a:ln>
          <a:effectLst/>
        </p:spPr>
        <p:txBody>
          <a:bodyPr wrap="none" lIns="90000" tIns="46800" rIns="90000" bIns="46800" anchor="ctr"/>
          <a:lstStyle/>
          <a:p>
            <a:endParaRPr lang="zh-CN" altLang="en-US"/>
          </a:p>
        </p:txBody>
      </p:sp>
      <p:graphicFrame>
        <p:nvGraphicFramePr>
          <p:cNvPr id="14376" name="Object 40"/>
          <p:cNvGraphicFramePr>
            <a:graphicFrameLocks noChangeAspect="1"/>
          </p:cNvGraphicFramePr>
          <p:nvPr/>
        </p:nvGraphicFramePr>
        <p:xfrm>
          <a:off x="5375275" y="2925764"/>
          <a:ext cx="230188" cy="314325"/>
        </p:xfrm>
        <a:graphic>
          <a:graphicData uri="http://schemas.openxmlformats.org/presentationml/2006/ole">
            <mc:AlternateContent xmlns:mc="http://schemas.openxmlformats.org/markup-compatibility/2006">
              <mc:Choice xmlns:v="urn:schemas-microsoft-com:vml" Requires="v">
                <p:oleObj spid="_x0000_s373280" name="方程式" r:id="rId17" imgW="177646" imgH="241091" progId="">
                  <p:embed/>
                </p:oleObj>
              </mc:Choice>
              <mc:Fallback>
                <p:oleObj name="方程式" r:id="rId17" imgW="177646" imgH="241091" progId="">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75275" y="2925764"/>
                        <a:ext cx="230188" cy="314325"/>
                      </a:xfrm>
                      <a:prstGeom prst="rect">
                        <a:avLst/>
                      </a:prstGeom>
                      <a:solidFill>
                        <a:schemeClr val="bg1"/>
                      </a:solidFill>
                      <a:effectLst>
                        <a:outerShdw dist="107763" dir="2700000" algn="ctr" rotWithShape="0">
                          <a:srgbClr val="808080">
                            <a:alpha val="50000"/>
                          </a:srgbClr>
                        </a:outerShdw>
                      </a:effectLst>
                    </p:spPr>
                  </p:pic>
                </p:oleObj>
              </mc:Fallback>
            </mc:AlternateContent>
          </a:graphicData>
        </a:graphic>
      </p:graphicFrame>
      <p:sp>
        <p:nvSpPr>
          <p:cNvPr id="14377" name="Text Box 41"/>
          <p:cNvSpPr txBox="1">
            <a:spLocks noChangeArrowheads="1"/>
          </p:cNvSpPr>
          <p:nvPr/>
        </p:nvSpPr>
        <p:spPr bwMode="auto">
          <a:xfrm>
            <a:off x="1873251" y="3213101"/>
            <a:ext cx="543739" cy="307777"/>
          </a:xfrm>
          <a:prstGeom prst="rect">
            <a:avLst/>
          </a:prstGeom>
          <a:solidFill>
            <a:schemeClr val="bg1"/>
          </a:solidFill>
          <a:ln w="38100">
            <a:solidFill>
              <a:schemeClr val="bg2"/>
            </a:solidFill>
            <a:miter lim="800000"/>
            <a:headEnd/>
            <a:tailEnd/>
          </a:ln>
          <a:effectLst>
            <a:outerShdw dist="107763" dir="2700000" algn="ctr" rotWithShape="0">
              <a:schemeClr val="bg2">
                <a:alpha val="50000"/>
              </a:schemeClr>
            </a:outerShdw>
          </a:effectLst>
        </p:spPr>
        <p:txBody>
          <a:bodyPr wrap="none">
            <a:spAutoFit/>
          </a:bodyPr>
          <a:lstStyle/>
          <a:p>
            <a:pPr algn="ctr"/>
            <a:r>
              <a:rPr kumimoji="1" lang="zh-CN" altLang="en-US" sz="1400" b="1" dirty="0">
                <a:ea typeface="新細明體" pitchFamily="18" charset="-120"/>
              </a:rPr>
              <a:t>特征</a:t>
            </a:r>
          </a:p>
        </p:txBody>
      </p:sp>
      <p:sp>
        <p:nvSpPr>
          <p:cNvPr id="14378" name="Text Box 42"/>
          <p:cNvSpPr txBox="1">
            <a:spLocks noChangeArrowheads="1"/>
          </p:cNvSpPr>
          <p:nvPr/>
        </p:nvSpPr>
        <p:spPr bwMode="auto">
          <a:xfrm>
            <a:off x="7467601" y="3124201"/>
            <a:ext cx="2689225" cy="307777"/>
          </a:xfrm>
          <a:prstGeom prst="rect">
            <a:avLst/>
          </a:prstGeom>
          <a:solidFill>
            <a:schemeClr val="bg1"/>
          </a:solidFill>
          <a:ln w="38100">
            <a:solidFill>
              <a:schemeClr val="bg2"/>
            </a:solidFill>
            <a:prstDash val="sysDot"/>
            <a:miter lim="800000"/>
            <a:headEnd/>
            <a:tailEnd/>
          </a:ln>
          <a:effectLst>
            <a:outerShdw dist="107763" dir="2700000" algn="ctr" rotWithShape="0">
              <a:schemeClr val="bg2">
                <a:alpha val="50000"/>
              </a:schemeClr>
            </a:outerShdw>
          </a:effectLst>
        </p:spPr>
        <p:txBody>
          <a:bodyPr>
            <a:spAutoFit/>
          </a:bodyPr>
          <a:lstStyle/>
          <a:p>
            <a:pPr algn="ctr"/>
            <a:r>
              <a:rPr kumimoji="1" lang="zh-CN" altLang="en-US" sz="1400" b="1" dirty="0">
                <a:ea typeface="新細明體" pitchFamily="18" charset="-120"/>
              </a:rPr>
              <a:t>每幅图像大约有</a:t>
            </a:r>
            <a:r>
              <a:rPr kumimoji="1" lang="en-US" altLang="zh-TW" sz="1400" b="1" dirty="0">
                <a:ea typeface="新細明體" pitchFamily="18" charset="-120"/>
              </a:rPr>
              <a:t>180,000 </a:t>
            </a:r>
            <a:r>
              <a:rPr kumimoji="1" lang="zh-CN" altLang="en-US" sz="1400" b="1" dirty="0">
                <a:ea typeface="新細明體" pitchFamily="18" charset="-120"/>
              </a:rPr>
              <a:t>个特征</a:t>
            </a:r>
            <a:endParaRPr kumimoji="1" lang="zh-TW" altLang="en-US" sz="1400" b="1" dirty="0">
              <a:ea typeface="新細明體" pitchFamily="18" charset="-120"/>
            </a:endParaRPr>
          </a:p>
        </p:txBody>
      </p:sp>
      <p:sp>
        <p:nvSpPr>
          <p:cNvPr id="14379" name="AutoShape 43"/>
          <p:cNvSpPr>
            <a:spLocks/>
          </p:cNvSpPr>
          <p:nvPr/>
        </p:nvSpPr>
        <p:spPr bwMode="auto">
          <a:xfrm>
            <a:off x="7086600" y="2895600"/>
            <a:ext cx="152400" cy="914400"/>
          </a:xfrm>
          <a:prstGeom prst="rightBrace">
            <a:avLst>
              <a:gd name="adj1" fmla="val 50000"/>
              <a:gd name="adj2" fmla="val 50000"/>
            </a:avLst>
          </a:prstGeom>
          <a:noFill/>
          <a:ln w="38100">
            <a:solidFill>
              <a:srgbClr val="000080"/>
            </a:solidFill>
            <a:round/>
            <a:headEnd/>
            <a:tailEnd/>
          </a:ln>
          <a:effectLst/>
        </p:spPr>
        <p:txBody>
          <a:bodyPr wrap="none" lIns="90000" tIns="46800" rIns="90000" bIns="46800" anchor="ctr"/>
          <a:lstStyle/>
          <a:p>
            <a:endParaRPr lang="zh-CN" altLang="en-US"/>
          </a:p>
        </p:txBody>
      </p:sp>
      <p:sp>
        <p:nvSpPr>
          <p:cNvPr id="14380" name="Oval 44"/>
          <p:cNvSpPr>
            <a:spLocks noChangeArrowheads="1"/>
          </p:cNvSpPr>
          <p:nvPr/>
        </p:nvSpPr>
        <p:spPr bwMode="auto">
          <a:xfrm>
            <a:off x="4799014" y="1484314"/>
            <a:ext cx="73025" cy="73025"/>
          </a:xfrm>
          <a:prstGeom prst="ellipse">
            <a:avLst/>
          </a:prstGeom>
          <a:solidFill>
            <a:srgbClr val="800000"/>
          </a:solidFill>
          <a:ln w="19050">
            <a:solidFill>
              <a:srgbClr val="800000"/>
            </a:solidFill>
            <a:round/>
            <a:headEnd/>
            <a:tailEnd/>
          </a:ln>
          <a:effectLst/>
        </p:spPr>
        <p:txBody>
          <a:bodyPr wrap="none" lIns="90000" tIns="46800" rIns="90000" bIns="46800" anchor="ctr"/>
          <a:lstStyle/>
          <a:p>
            <a:endParaRPr lang="zh-CN" altLang="en-US"/>
          </a:p>
        </p:txBody>
      </p:sp>
      <p:sp>
        <p:nvSpPr>
          <p:cNvPr id="14381" name="Oval 45"/>
          <p:cNvSpPr>
            <a:spLocks noChangeArrowheads="1"/>
          </p:cNvSpPr>
          <p:nvPr/>
        </p:nvSpPr>
        <p:spPr bwMode="auto">
          <a:xfrm>
            <a:off x="5087939" y="1484314"/>
            <a:ext cx="73025" cy="73025"/>
          </a:xfrm>
          <a:prstGeom prst="ellipse">
            <a:avLst/>
          </a:prstGeom>
          <a:solidFill>
            <a:srgbClr val="800000"/>
          </a:solidFill>
          <a:ln w="19050">
            <a:solidFill>
              <a:srgbClr val="800000"/>
            </a:solidFill>
            <a:round/>
            <a:headEnd/>
            <a:tailEnd/>
          </a:ln>
          <a:effectLst/>
        </p:spPr>
        <p:txBody>
          <a:bodyPr wrap="none" lIns="90000" tIns="46800" rIns="90000" bIns="46800" anchor="ctr"/>
          <a:lstStyle/>
          <a:p>
            <a:endParaRPr lang="zh-CN" altLang="en-US"/>
          </a:p>
        </p:txBody>
      </p:sp>
      <p:sp>
        <p:nvSpPr>
          <p:cNvPr id="14382" name="Oval 46"/>
          <p:cNvSpPr>
            <a:spLocks noChangeArrowheads="1"/>
          </p:cNvSpPr>
          <p:nvPr/>
        </p:nvSpPr>
        <p:spPr bwMode="auto">
          <a:xfrm>
            <a:off x="5375276" y="1484314"/>
            <a:ext cx="73025" cy="73025"/>
          </a:xfrm>
          <a:prstGeom prst="ellipse">
            <a:avLst/>
          </a:prstGeom>
          <a:solidFill>
            <a:srgbClr val="800000"/>
          </a:solidFill>
          <a:ln w="19050">
            <a:solidFill>
              <a:srgbClr val="800000"/>
            </a:solidFill>
            <a:round/>
            <a:headEnd/>
            <a:tailEnd/>
          </a:ln>
          <a:effectLst/>
        </p:spPr>
        <p:txBody>
          <a:bodyPr wrap="none" lIns="90000" tIns="46800" rIns="90000" bIns="46800" anchor="ctr"/>
          <a:lstStyle/>
          <a:p>
            <a:endParaRPr lang="zh-CN" altLang="en-US"/>
          </a:p>
        </p:txBody>
      </p:sp>
      <p:sp>
        <p:nvSpPr>
          <p:cNvPr id="14383" name="Oval 47"/>
          <p:cNvSpPr>
            <a:spLocks noChangeArrowheads="1"/>
          </p:cNvSpPr>
          <p:nvPr/>
        </p:nvSpPr>
        <p:spPr bwMode="auto">
          <a:xfrm>
            <a:off x="4367214" y="3429001"/>
            <a:ext cx="73025" cy="73025"/>
          </a:xfrm>
          <a:prstGeom prst="ellipse">
            <a:avLst/>
          </a:prstGeom>
          <a:solidFill>
            <a:srgbClr val="FF6600"/>
          </a:solidFill>
          <a:ln w="19050">
            <a:solidFill>
              <a:srgbClr val="FF6600"/>
            </a:solidFill>
            <a:round/>
            <a:headEnd/>
            <a:tailEnd/>
          </a:ln>
          <a:effectLst/>
        </p:spPr>
        <p:txBody>
          <a:bodyPr wrap="none" lIns="90000" tIns="46800" rIns="90000" bIns="46800" anchor="ctr"/>
          <a:lstStyle/>
          <a:p>
            <a:endParaRPr lang="zh-CN" altLang="en-US"/>
          </a:p>
        </p:txBody>
      </p:sp>
      <p:sp>
        <p:nvSpPr>
          <p:cNvPr id="14384" name="Oval 48"/>
          <p:cNvSpPr>
            <a:spLocks noChangeArrowheads="1"/>
          </p:cNvSpPr>
          <p:nvPr/>
        </p:nvSpPr>
        <p:spPr bwMode="auto">
          <a:xfrm>
            <a:off x="4656139" y="3429001"/>
            <a:ext cx="73025" cy="73025"/>
          </a:xfrm>
          <a:prstGeom prst="ellipse">
            <a:avLst/>
          </a:prstGeom>
          <a:solidFill>
            <a:srgbClr val="FF6600"/>
          </a:solidFill>
          <a:ln w="19050">
            <a:solidFill>
              <a:srgbClr val="FF6600"/>
            </a:solidFill>
            <a:round/>
            <a:headEnd/>
            <a:tailEnd/>
          </a:ln>
          <a:effectLst/>
        </p:spPr>
        <p:txBody>
          <a:bodyPr wrap="none" lIns="90000" tIns="46800" rIns="90000" bIns="46800" anchor="ctr"/>
          <a:lstStyle/>
          <a:p>
            <a:endParaRPr lang="zh-CN" altLang="en-US"/>
          </a:p>
        </p:txBody>
      </p:sp>
      <p:sp>
        <p:nvSpPr>
          <p:cNvPr id="14385" name="Oval 49"/>
          <p:cNvSpPr>
            <a:spLocks noChangeArrowheads="1"/>
          </p:cNvSpPr>
          <p:nvPr/>
        </p:nvSpPr>
        <p:spPr bwMode="auto">
          <a:xfrm>
            <a:off x="5735639" y="3429001"/>
            <a:ext cx="73025" cy="73025"/>
          </a:xfrm>
          <a:prstGeom prst="ellipse">
            <a:avLst/>
          </a:prstGeom>
          <a:solidFill>
            <a:srgbClr val="FF6600"/>
          </a:solidFill>
          <a:ln w="19050">
            <a:solidFill>
              <a:srgbClr val="FF6600"/>
            </a:solidFill>
            <a:round/>
            <a:headEnd/>
            <a:tailEnd/>
          </a:ln>
          <a:effectLst/>
        </p:spPr>
        <p:txBody>
          <a:bodyPr wrap="none" lIns="90000" tIns="46800" rIns="90000" bIns="46800" anchor="ctr"/>
          <a:lstStyle/>
          <a:p>
            <a:endParaRPr lang="zh-CN" altLang="en-US"/>
          </a:p>
        </p:txBody>
      </p:sp>
      <p:sp>
        <p:nvSpPr>
          <p:cNvPr id="14386" name="Oval 50"/>
          <p:cNvSpPr>
            <a:spLocks noChangeArrowheads="1"/>
          </p:cNvSpPr>
          <p:nvPr/>
        </p:nvSpPr>
        <p:spPr bwMode="auto">
          <a:xfrm>
            <a:off x="6024564" y="3429001"/>
            <a:ext cx="73025" cy="73025"/>
          </a:xfrm>
          <a:prstGeom prst="ellipse">
            <a:avLst/>
          </a:prstGeom>
          <a:solidFill>
            <a:srgbClr val="FF6600"/>
          </a:solidFill>
          <a:ln w="19050">
            <a:solidFill>
              <a:srgbClr val="FF6600"/>
            </a:solidFill>
            <a:round/>
            <a:headEnd/>
            <a:tailEnd/>
          </a:ln>
          <a:effectLst/>
        </p:spPr>
        <p:txBody>
          <a:bodyPr wrap="none" lIns="90000" tIns="46800" rIns="90000" bIns="46800" anchor="ctr"/>
          <a:lstStyle/>
          <a:p>
            <a:endParaRPr lang="zh-CN" altLang="en-US"/>
          </a:p>
        </p:txBody>
      </p:sp>
      <p:grpSp>
        <p:nvGrpSpPr>
          <p:cNvPr id="2" name="Group 51"/>
          <p:cNvGrpSpPr>
            <a:grpSpLocks/>
          </p:cNvGrpSpPr>
          <p:nvPr/>
        </p:nvGrpSpPr>
        <p:grpSpPr bwMode="auto">
          <a:xfrm>
            <a:off x="1763713" y="4076701"/>
            <a:ext cx="7861300" cy="1516063"/>
            <a:chOff x="151" y="2568"/>
            <a:chExt cx="4952" cy="955"/>
          </a:xfrm>
        </p:grpSpPr>
        <p:sp>
          <p:nvSpPr>
            <p:cNvPr id="14388" name="Rectangle 52"/>
            <p:cNvSpPr>
              <a:spLocks noChangeArrowheads="1"/>
            </p:cNvSpPr>
            <p:nvPr/>
          </p:nvSpPr>
          <p:spPr bwMode="auto">
            <a:xfrm>
              <a:off x="476" y="2704"/>
              <a:ext cx="3221" cy="408"/>
            </a:xfrm>
            <a:prstGeom prst="rect">
              <a:avLst/>
            </a:prstGeom>
            <a:solidFill>
              <a:srgbClr val="FFCC99"/>
            </a:solidFill>
            <a:ln w="38100">
              <a:solidFill>
                <a:schemeClr val="tx1"/>
              </a:solidFill>
              <a:miter lim="800000"/>
              <a:headEnd/>
              <a:tailEnd/>
            </a:ln>
            <a:effectLst/>
          </p:spPr>
          <p:txBody>
            <a:bodyPr wrap="none" lIns="90000" tIns="46800" rIns="90000" bIns="46800" anchor="ctr"/>
            <a:lstStyle/>
            <a:p>
              <a:endParaRPr lang="zh-CN" altLang="en-US"/>
            </a:p>
          </p:txBody>
        </p:sp>
        <p:graphicFrame>
          <p:nvGraphicFramePr>
            <p:cNvPr id="14389" name="Object 53"/>
            <p:cNvGraphicFramePr>
              <a:graphicFrameLocks noChangeAspect="1"/>
            </p:cNvGraphicFramePr>
            <p:nvPr/>
          </p:nvGraphicFramePr>
          <p:xfrm>
            <a:off x="522" y="2794"/>
            <a:ext cx="143" cy="203"/>
          </p:xfrm>
          <a:graphic>
            <a:graphicData uri="http://schemas.openxmlformats.org/presentationml/2006/ole">
              <mc:AlternateContent xmlns:mc="http://schemas.openxmlformats.org/markup-compatibility/2006">
                <mc:Choice xmlns:v="urn:schemas-microsoft-com:vml" Requires="v">
                  <p:oleObj spid="_x0000_s373281" name="方程式" r:id="rId18" imgW="152268" imgH="215713" progId="">
                    <p:embed/>
                  </p:oleObj>
                </mc:Choice>
                <mc:Fallback>
                  <p:oleObj name="方程式" r:id="rId18" imgW="152268" imgH="215713" progId="">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22" y="2794"/>
                          <a:ext cx="143" cy="203"/>
                        </a:xfrm>
                        <a:prstGeom prst="rect">
                          <a:avLst/>
                        </a:prstGeom>
                        <a:noFill/>
                        <a:ln>
                          <a:noFill/>
                        </a:ln>
                        <a:effectLst>
                          <a:outerShdw dist="107763" dir="2700000" algn="ctr" rotWithShape="0">
                            <a:schemeClr val="bg2">
                              <a:alpha val="50000"/>
                            </a:schemeClr>
                          </a:outerShdw>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chemeClr val="tx1"/>
                              </a:solidFill>
                              <a:miter lim="800000"/>
                              <a:headEnd/>
                              <a:tailEnd/>
                            </a14:hiddenLine>
                          </a:ext>
                        </a:extLst>
                      </p:spPr>
                    </p:pic>
                  </p:oleObj>
                </mc:Fallback>
              </mc:AlternateContent>
            </a:graphicData>
          </a:graphic>
        </p:graphicFrame>
        <p:graphicFrame>
          <p:nvGraphicFramePr>
            <p:cNvPr id="14390" name="Object 54"/>
            <p:cNvGraphicFramePr>
              <a:graphicFrameLocks noChangeAspect="1"/>
            </p:cNvGraphicFramePr>
            <p:nvPr/>
          </p:nvGraphicFramePr>
          <p:xfrm>
            <a:off x="748" y="2794"/>
            <a:ext cx="155" cy="203"/>
          </p:xfrm>
          <a:graphic>
            <a:graphicData uri="http://schemas.openxmlformats.org/presentationml/2006/ole">
              <mc:AlternateContent xmlns:mc="http://schemas.openxmlformats.org/markup-compatibility/2006">
                <mc:Choice xmlns:v="urn:schemas-microsoft-com:vml" Requires="v">
                  <p:oleObj spid="_x0000_s373282" name="方程式" r:id="rId20" imgW="164885" imgH="215619" progId="">
                    <p:embed/>
                  </p:oleObj>
                </mc:Choice>
                <mc:Fallback>
                  <p:oleObj name="方程式" r:id="rId20" imgW="164885" imgH="215619" progId="">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48" y="2794"/>
                          <a:ext cx="155" cy="203"/>
                        </a:xfrm>
                        <a:prstGeom prst="rect">
                          <a:avLst/>
                        </a:prstGeom>
                        <a:noFill/>
                        <a:ln>
                          <a:noFill/>
                        </a:ln>
                        <a:effectLst>
                          <a:outerShdw dist="107763" dir="2700000" algn="ctr" rotWithShape="0">
                            <a:schemeClr val="bg2">
                              <a:alpha val="50000"/>
                            </a:schemeClr>
                          </a:outerShdw>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chemeClr val="tx1"/>
                              </a:solidFill>
                              <a:miter lim="800000"/>
                              <a:headEnd/>
                              <a:tailEnd/>
                            </a14:hiddenLine>
                          </a:ext>
                        </a:extLst>
                      </p:spPr>
                    </p:pic>
                  </p:oleObj>
                </mc:Fallback>
              </mc:AlternateContent>
            </a:graphicData>
          </a:graphic>
        </p:graphicFrame>
        <p:graphicFrame>
          <p:nvGraphicFramePr>
            <p:cNvPr id="14391" name="Object 55"/>
            <p:cNvGraphicFramePr>
              <a:graphicFrameLocks noChangeAspect="1"/>
            </p:cNvGraphicFramePr>
            <p:nvPr/>
          </p:nvGraphicFramePr>
          <p:xfrm>
            <a:off x="975" y="2794"/>
            <a:ext cx="155" cy="215"/>
          </p:xfrm>
          <a:graphic>
            <a:graphicData uri="http://schemas.openxmlformats.org/presentationml/2006/ole">
              <mc:AlternateContent xmlns:mc="http://schemas.openxmlformats.org/markup-compatibility/2006">
                <mc:Choice xmlns:v="urn:schemas-microsoft-com:vml" Requires="v">
                  <p:oleObj spid="_x0000_s373283" name="方程式" r:id="rId22" imgW="165028" imgH="228501" progId="">
                    <p:embed/>
                  </p:oleObj>
                </mc:Choice>
                <mc:Fallback>
                  <p:oleObj name="方程式" r:id="rId22" imgW="165028" imgH="228501" progId="">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75" y="2794"/>
                          <a:ext cx="155" cy="215"/>
                        </a:xfrm>
                        <a:prstGeom prst="rect">
                          <a:avLst/>
                        </a:prstGeom>
                        <a:noFill/>
                        <a:ln>
                          <a:noFill/>
                        </a:ln>
                        <a:effectLst>
                          <a:outerShdw dist="107763" dir="2700000" algn="ctr" rotWithShape="0">
                            <a:schemeClr val="bg2">
                              <a:alpha val="50000"/>
                            </a:schemeClr>
                          </a:outerShdw>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chemeClr val="tx1"/>
                              </a:solidFill>
                              <a:miter lim="800000"/>
                              <a:headEnd/>
                              <a:tailEnd/>
                            </a14:hiddenLine>
                          </a:ext>
                        </a:extLst>
                      </p:spPr>
                    </p:pic>
                  </p:oleObj>
                </mc:Fallback>
              </mc:AlternateContent>
            </a:graphicData>
          </a:graphic>
        </p:graphicFrame>
        <p:graphicFrame>
          <p:nvGraphicFramePr>
            <p:cNvPr id="14392" name="Object 56"/>
            <p:cNvGraphicFramePr>
              <a:graphicFrameLocks noChangeAspect="1"/>
            </p:cNvGraphicFramePr>
            <p:nvPr/>
          </p:nvGraphicFramePr>
          <p:xfrm>
            <a:off x="2994" y="2788"/>
            <a:ext cx="381" cy="227"/>
          </p:xfrm>
          <a:graphic>
            <a:graphicData uri="http://schemas.openxmlformats.org/presentationml/2006/ole">
              <mc:AlternateContent xmlns:mc="http://schemas.openxmlformats.org/markup-compatibility/2006">
                <mc:Choice xmlns:v="urn:schemas-microsoft-com:vml" Requires="v">
                  <p:oleObj spid="_x0000_s373284" name="方程式" r:id="rId24" imgW="406224" imgH="241195" progId="">
                    <p:embed/>
                  </p:oleObj>
                </mc:Choice>
                <mc:Fallback>
                  <p:oleObj name="方程式" r:id="rId24" imgW="406224" imgH="241195" progId="">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994" y="2788"/>
                          <a:ext cx="381" cy="227"/>
                        </a:xfrm>
                        <a:prstGeom prst="rect">
                          <a:avLst/>
                        </a:prstGeom>
                        <a:noFill/>
                        <a:ln>
                          <a:noFill/>
                        </a:ln>
                        <a:effectLst>
                          <a:outerShdw dist="107763" dir="2700000" algn="ctr" rotWithShape="0">
                            <a:schemeClr val="bg2">
                              <a:alpha val="50000"/>
                            </a:schemeClr>
                          </a:outerShdw>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chemeClr val="tx1"/>
                              </a:solidFill>
                              <a:miter lim="800000"/>
                              <a:headEnd/>
                              <a:tailEnd/>
                            </a14:hiddenLine>
                          </a:ext>
                        </a:extLst>
                      </p:spPr>
                    </p:pic>
                  </p:oleObj>
                </mc:Fallback>
              </mc:AlternateContent>
            </a:graphicData>
          </a:graphic>
        </p:graphicFrame>
        <p:graphicFrame>
          <p:nvGraphicFramePr>
            <p:cNvPr id="14393" name="Object 57"/>
            <p:cNvGraphicFramePr>
              <a:graphicFrameLocks noChangeAspect="1"/>
            </p:cNvGraphicFramePr>
            <p:nvPr/>
          </p:nvGraphicFramePr>
          <p:xfrm>
            <a:off x="3742" y="2749"/>
            <a:ext cx="1361" cy="331"/>
          </p:xfrm>
          <a:graphic>
            <a:graphicData uri="http://schemas.openxmlformats.org/presentationml/2006/ole">
              <mc:AlternateContent xmlns:mc="http://schemas.openxmlformats.org/markup-compatibility/2006">
                <mc:Choice xmlns:v="urn:schemas-microsoft-com:vml" Requires="v">
                  <p:oleObj spid="_x0000_s373285" name="方程式" r:id="rId26" imgW="1409088" imgH="342751" progId="">
                    <p:embed/>
                  </p:oleObj>
                </mc:Choice>
                <mc:Fallback>
                  <p:oleObj name="方程式" r:id="rId26" imgW="1409088" imgH="342751" progId="">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742" y="2749"/>
                          <a:ext cx="1361" cy="331"/>
                        </a:xfrm>
                        <a:prstGeom prst="rect">
                          <a:avLst/>
                        </a:prstGeom>
                        <a:solidFill>
                          <a:schemeClr val="bg1"/>
                        </a:solidFill>
                        <a:ln w="38100">
                          <a:solidFill>
                            <a:schemeClr val="bg2"/>
                          </a:solidFill>
                          <a:prstDash val="sysDot"/>
                          <a:miter lim="800000"/>
                          <a:headEnd/>
                          <a:tailEnd/>
                        </a:ln>
                        <a:effectLst>
                          <a:outerShdw dist="107763" dir="2700000" algn="ctr" rotWithShape="0">
                            <a:schemeClr val="bg2">
                              <a:alpha val="50000"/>
                            </a:schemeClr>
                          </a:outerShdw>
                        </a:effectLst>
                      </p:spPr>
                    </p:pic>
                  </p:oleObj>
                </mc:Fallback>
              </mc:AlternateContent>
            </a:graphicData>
          </a:graphic>
        </p:graphicFrame>
        <p:sp>
          <p:nvSpPr>
            <p:cNvPr id="14394" name="Text Box 58"/>
            <p:cNvSpPr txBox="1">
              <a:spLocks noChangeArrowheads="1"/>
            </p:cNvSpPr>
            <p:nvPr/>
          </p:nvSpPr>
          <p:spPr bwMode="auto">
            <a:xfrm>
              <a:off x="151" y="2568"/>
              <a:ext cx="343" cy="194"/>
            </a:xfrm>
            <a:prstGeom prst="rect">
              <a:avLst/>
            </a:prstGeom>
            <a:solidFill>
              <a:schemeClr val="bg1"/>
            </a:solidFill>
            <a:ln w="38100">
              <a:solidFill>
                <a:schemeClr val="bg2"/>
              </a:solidFill>
              <a:miter lim="800000"/>
              <a:headEnd/>
              <a:tailEnd/>
            </a:ln>
            <a:effectLst>
              <a:outerShdw dist="107763" dir="2700000" algn="ctr" rotWithShape="0">
                <a:schemeClr val="bg2">
                  <a:alpha val="50000"/>
                </a:schemeClr>
              </a:outerShdw>
            </a:effectLst>
          </p:spPr>
          <p:txBody>
            <a:bodyPr wrap="none">
              <a:spAutoFit/>
            </a:bodyPr>
            <a:lstStyle/>
            <a:p>
              <a:pPr algn="ctr"/>
              <a:r>
                <a:rPr kumimoji="1" lang="zh-CN" altLang="en-US" sz="1400" b="1" dirty="0">
                  <a:ea typeface="新細明體" pitchFamily="18" charset="-120"/>
                </a:rPr>
                <a:t>误差</a:t>
              </a:r>
            </a:p>
          </p:txBody>
        </p:sp>
        <p:graphicFrame>
          <p:nvGraphicFramePr>
            <p:cNvPr id="14395" name="Object 59"/>
            <p:cNvGraphicFramePr>
              <a:graphicFrameLocks noChangeAspect="1"/>
            </p:cNvGraphicFramePr>
            <p:nvPr/>
          </p:nvGraphicFramePr>
          <p:xfrm>
            <a:off x="2109" y="2794"/>
            <a:ext cx="250" cy="203"/>
          </p:xfrm>
          <a:graphic>
            <a:graphicData uri="http://schemas.openxmlformats.org/presentationml/2006/ole">
              <mc:AlternateContent xmlns:mc="http://schemas.openxmlformats.org/markup-compatibility/2006">
                <mc:Choice xmlns:v="urn:schemas-microsoft-com:vml" Requires="v">
                  <p:oleObj spid="_x0000_s373286" name="方程式" r:id="rId28" imgW="266353" imgH="215619" progId="">
                    <p:embed/>
                  </p:oleObj>
                </mc:Choice>
                <mc:Fallback>
                  <p:oleObj name="方程式" r:id="rId28" imgW="266353" imgH="215619" progId="">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109" y="2794"/>
                          <a:ext cx="250" cy="203"/>
                        </a:xfrm>
                        <a:prstGeom prst="rect">
                          <a:avLst/>
                        </a:prstGeom>
                        <a:noFill/>
                        <a:ln>
                          <a:noFill/>
                        </a:ln>
                        <a:effectLst>
                          <a:outerShdw dist="107763" dir="2700000" algn="ctr" rotWithShape="0">
                            <a:schemeClr val="bg2">
                              <a:alpha val="50000"/>
                            </a:schemeClr>
                          </a:outerShdw>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38100">
                              <a:solidFill>
                                <a:schemeClr val="tx1"/>
                              </a:solidFill>
                              <a:miter lim="800000"/>
                              <a:headEnd/>
                              <a:tailEnd/>
                            </a14:hiddenLine>
                          </a:ext>
                        </a:extLst>
                      </p:spPr>
                    </p:pic>
                  </p:oleObj>
                </mc:Fallback>
              </mc:AlternateContent>
            </a:graphicData>
          </a:graphic>
        </p:graphicFrame>
        <p:graphicFrame>
          <p:nvGraphicFramePr>
            <p:cNvPr id="14396" name="Object 60"/>
            <p:cNvGraphicFramePr>
              <a:graphicFrameLocks noChangeAspect="1"/>
            </p:cNvGraphicFramePr>
            <p:nvPr/>
          </p:nvGraphicFramePr>
          <p:xfrm>
            <a:off x="522" y="3066"/>
            <a:ext cx="143" cy="203"/>
          </p:xfrm>
          <a:graphic>
            <a:graphicData uri="http://schemas.openxmlformats.org/presentationml/2006/ole">
              <mc:AlternateContent xmlns:mc="http://schemas.openxmlformats.org/markup-compatibility/2006">
                <mc:Choice xmlns:v="urn:schemas-microsoft-com:vml" Requires="v">
                  <p:oleObj spid="_x0000_s373287" name="方程式" r:id="rId30" imgW="152268" imgH="215713" progId="">
                    <p:embed/>
                  </p:oleObj>
                </mc:Choice>
                <mc:Fallback>
                  <p:oleObj name="方程式" r:id="rId30" imgW="152268" imgH="215713" progId="">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22" y="3066"/>
                          <a:ext cx="143" cy="203"/>
                        </a:xfrm>
                        <a:prstGeom prst="rect">
                          <a:avLst/>
                        </a:prstGeom>
                        <a:solidFill>
                          <a:srgbClr val="FFFF99"/>
                        </a:solidFill>
                        <a:ln w="38100">
                          <a:solidFill>
                            <a:schemeClr val="bg2"/>
                          </a:solidFill>
                          <a:prstDash val="sysDot"/>
                          <a:miter lim="800000"/>
                          <a:headEnd/>
                          <a:tailEnd/>
                        </a:ln>
                        <a:effectLst>
                          <a:outerShdw dist="107763" dir="2700000" algn="ctr" rotWithShape="0">
                            <a:schemeClr val="bg2">
                              <a:alpha val="50000"/>
                            </a:schemeClr>
                          </a:outerShdw>
                        </a:effectLst>
                      </p:spPr>
                    </p:pic>
                  </p:oleObj>
                </mc:Fallback>
              </mc:AlternateContent>
            </a:graphicData>
          </a:graphic>
        </p:graphicFrame>
        <p:graphicFrame>
          <p:nvGraphicFramePr>
            <p:cNvPr id="14397" name="Object 61"/>
            <p:cNvGraphicFramePr>
              <a:graphicFrameLocks noChangeAspect="1"/>
            </p:cNvGraphicFramePr>
            <p:nvPr/>
          </p:nvGraphicFramePr>
          <p:xfrm>
            <a:off x="748" y="3066"/>
            <a:ext cx="155" cy="203"/>
          </p:xfrm>
          <a:graphic>
            <a:graphicData uri="http://schemas.openxmlformats.org/presentationml/2006/ole">
              <mc:AlternateContent xmlns:mc="http://schemas.openxmlformats.org/markup-compatibility/2006">
                <mc:Choice xmlns:v="urn:schemas-microsoft-com:vml" Requires="v">
                  <p:oleObj spid="_x0000_s373288" name="方程式" r:id="rId32" imgW="164885" imgH="215619" progId="">
                    <p:embed/>
                  </p:oleObj>
                </mc:Choice>
                <mc:Fallback>
                  <p:oleObj name="方程式" r:id="rId32" imgW="164885" imgH="215619" progId="">
                    <p:embed/>
                    <p:pic>
                      <p:nvPicPr>
                        <p:cNvPr id="0" name=""/>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748" y="3066"/>
                          <a:ext cx="155" cy="203"/>
                        </a:xfrm>
                        <a:prstGeom prst="rect">
                          <a:avLst/>
                        </a:prstGeom>
                        <a:solidFill>
                          <a:srgbClr val="FFFF99"/>
                        </a:solidFill>
                        <a:ln w="38100">
                          <a:solidFill>
                            <a:schemeClr val="bg2"/>
                          </a:solidFill>
                          <a:prstDash val="sysDot"/>
                          <a:miter lim="800000"/>
                          <a:headEnd/>
                          <a:tailEnd/>
                        </a:ln>
                        <a:effectLst>
                          <a:outerShdw dist="107763" dir="2700000" algn="ctr" rotWithShape="0">
                            <a:schemeClr val="bg2">
                              <a:alpha val="50000"/>
                            </a:schemeClr>
                          </a:outerShdw>
                        </a:effectLst>
                      </p:spPr>
                    </p:pic>
                  </p:oleObj>
                </mc:Fallback>
              </mc:AlternateContent>
            </a:graphicData>
          </a:graphic>
        </p:graphicFrame>
        <p:graphicFrame>
          <p:nvGraphicFramePr>
            <p:cNvPr id="14398" name="Object 62"/>
            <p:cNvGraphicFramePr>
              <a:graphicFrameLocks noChangeAspect="1"/>
            </p:cNvGraphicFramePr>
            <p:nvPr/>
          </p:nvGraphicFramePr>
          <p:xfrm>
            <a:off x="975" y="3066"/>
            <a:ext cx="155" cy="215"/>
          </p:xfrm>
          <a:graphic>
            <a:graphicData uri="http://schemas.openxmlformats.org/presentationml/2006/ole">
              <mc:AlternateContent xmlns:mc="http://schemas.openxmlformats.org/markup-compatibility/2006">
                <mc:Choice xmlns:v="urn:schemas-microsoft-com:vml" Requires="v">
                  <p:oleObj spid="_x0000_s373289" name="方程式" r:id="rId34" imgW="165028" imgH="228501" progId="">
                    <p:embed/>
                  </p:oleObj>
                </mc:Choice>
                <mc:Fallback>
                  <p:oleObj name="方程式" r:id="rId34" imgW="165028" imgH="228501" progId="">
                    <p:embed/>
                    <p:pic>
                      <p:nvPicPr>
                        <p:cNvPr id="0" name=""/>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975" y="3066"/>
                          <a:ext cx="155" cy="215"/>
                        </a:xfrm>
                        <a:prstGeom prst="rect">
                          <a:avLst/>
                        </a:prstGeom>
                        <a:solidFill>
                          <a:srgbClr val="FFFF99"/>
                        </a:solidFill>
                        <a:ln w="38100">
                          <a:solidFill>
                            <a:schemeClr val="bg2"/>
                          </a:solidFill>
                          <a:prstDash val="sysDot"/>
                          <a:miter lim="800000"/>
                          <a:headEnd/>
                          <a:tailEnd/>
                        </a:ln>
                        <a:effectLst>
                          <a:outerShdw dist="107763" dir="2700000" algn="ctr" rotWithShape="0">
                            <a:schemeClr val="bg2">
                              <a:alpha val="50000"/>
                            </a:schemeClr>
                          </a:outerShdw>
                        </a:effectLst>
                      </p:spPr>
                    </p:pic>
                  </p:oleObj>
                </mc:Fallback>
              </mc:AlternateContent>
            </a:graphicData>
          </a:graphic>
        </p:graphicFrame>
        <p:graphicFrame>
          <p:nvGraphicFramePr>
            <p:cNvPr id="14399" name="Object 63"/>
            <p:cNvGraphicFramePr>
              <a:graphicFrameLocks noChangeAspect="1"/>
            </p:cNvGraphicFramePr>
            <p:nvPr/>
          </p:nvGraphicFramePr>
          <p:xfrm>
            <a:off x="2994" y="3060"/>
            <a:ext cx="381" cy="227"/>
          </p:xfrm>
          <a:graphic>
            <a:graphicData uri="http://schemas.openxmlformats.org/presentationml/2006/ole">
              <mc:AlternateContent xmlns:mc="http://schemas.openxmlformats.org/markup-compatibility/2006">
                <mc:Choice xmlns:v="urn:schemas-microsoft-com:vml" Requires="v">
                  <p:oleObj spid="_x0000_s373290" name="方程式" r:id="rId36" imgW="406224" imgH="241195" progId="">
                    <p:embed/>
                  </p:oleObj>
                </mc:Choice>
                <mc:Fallback>
                  <p:oleObj name="方程式" r:id="rId36" imgW="406224" imgH="241195" progId="">
                    <p:embed/>
                    <p:pic>
                      <p:nvPicPr>
                        <p:cNvPr id="0" name=""/>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2994" y="3060"/>
                          <a:ext cx="381" cy="227"/>
                        </a:xfrm>
                        <a:prstGeom prst="rect">
                          <a:avLst/>
                        </a:prstGeom>
                        <a:solidFill>
                          <a:srgbClr val="FFFF99"/>
                        </a:solidFill>
                        <a:ln w="38100">
                          <a:solidFill>
                            <a:schemeClr val="bg2"/>
                          </a:solidFill>
                          <a:prstDash val="sysDot"/>
                          <a:miter lim="800000"/>
                          <a:headEnd/>
                          <a:tailEnd/>
                        </a:ln>
                        <a:effectLst>
                          <a:outerShdw dist="107763" dir="2700000" algn="ctr" rotWithShape="0">
                            <a:schemeClr val="bg2">
                              <a:alpha val="50000"/>
                            </a:schemeClr>
                          </a:outerShdw>
                        </a:effectLst>
                      </p:spPr>
                    </p:pic>
                  </p:oleObj>
                </mc:Fallback>
              </mc:AlternateContent>
            </a:graphicData>
          </a:graphic>
        </p:graphicFrame>
        <p:graphicFrame>
          <p:nvGraphicFramePr>
            <p:cNvPr id="14400" name="Object 64"/>
            <p:cNvGraphicFramePr>
              <a:graphicFrameLocks noChangeAspect="1"/>
            </p:cNvGraphicFramePr>
            <p:nvPr/>
          </p:nvGraphicFramePr>
          <p:xfrm>
            <a:off x="2162" y="3060"/>
            <a:ext cx="143" cy="215"/>
          </p:xfrm>
          <a:graphic>
            <a:graphicData uri="http://schemas.openxmlformats.org/presentationml/2006/ole">
              <mc:AlternateContent xmlns:mc="http://schemas.openxmlformats.org/markup-compatibility/2006">
                <mc:Choice xmlns:v="urn:schemas-microsoft-com:vml" Requires="v">
                  <p:oleObj spid="_x0000_s373291" name="方程式" r:id="rId38" imgW="152334" imgH="228501" progId="">
                    <p:embed/>
                  </p:oleObj>
                </mc:Choice>
                <mc:Fallback>
                  <p:oleObj name="方程式" r:id="rId38" imgW="152334" imgH="228501" progId="">
                    <p:embed/>
                    <p:pic>
                      <p:nvPicPr>
                        <p:cNvPr id="0" name=""/>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162" y="3060"/>
                          <a:ext cx="143" cy="215"/>
                        </a:xfrm>
                        <a:prstGeom prst="rect">
                          <a:avLst/>
                        </a:prstGeom>
                        <a:solidFill>
                          <a:srgbClr val="FFFF99"/>
                        </a:solidFill>
                        <a:ln w="38100">
                          <a:solidFill>
                            <a:srgbClr val="FF0000"/>
                          </a:solidFill>
                          <a:prstDash val="sysDot"/>
                          <a:miter lim="800000"/>
                          <a:headEnd/>
                          <a:tailEnd/>
                        </a:ln>
                        <a:effectLst>
                          <a:outerShdw dist="107763" dir="2700000" algn="ctr" rotWithShape="0">
                            <a:schemeClr val="bg2">
                              <a:alpha val="50000"/>
                            </a:schemeClr>
                          </a:outerShdw>
                        </a:effectLst>
                      </p:spPr>
                    </p:pic>
                  </p:oleObj>
                </mc:Fallback>
              </mc:AlternateContent>
            </a:graphicData>
          </a:graphic>
        </p:graphicFrame>
        <p:graphicFrame>
          <p:nvGraphicFramePr>
            <p:cNvPr id="14401" name="Object 65"/>
            <p:cNvGraphicFramePr>
              <a:graphicFrameLocks noChangeAspect="1"/>
            </p:cNvGraphicFramePr>
            <p:nvPr/>
          </p:nvGraphicFramePr>
          <p:xfrm>
            <a:off x="3114" y="3294"/>
            <a:ext cx="1754" cy="229"/>
          </p:xfrm>
          <a:graphic>
            <a:graphicData uri="http://schemas.openxmlformats.org/presentationml/2006/ole">
              <mc:AlternateContent xmlns:mc="http://schemas.openxmlformats.org/markup-compatibility/2006">
                <mc:Choice xmlns:v="urn:schemas-microsoft-com:vml" Requires="v">
                  <p:oleObj spid="_x0000_s373292" name="Equation" r:id="rId40" imgW="1752600" imgH="228600" progId="Equation.DSMT4">
                    <p:embed/>
                  </p:oleObj>
                </mc:Choice>
                <mc:Fallback>
                  <p:oleObj name="Equation" r:id="rId40" imgW="1752600" imgH="228600" progId="Equation.DSMT4">
                    <p:embed/>
                    <p:pic>
                      <p:nvPicPr>
                        <p:cNvPr id="0" name=""/>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3114" y="3294"/>
                          <a:ext cx="1754" cy="229"/>
                        </a:xfrm>
                        <a:prstGeom prst="rect">
                          <a:avLst/>
                        </a:prstGeom>
                        <a:solidFill>
                          <a:schemeClr val="bg1"/>
                        </a:solidFill>
                        <a:ln w="38100">
                          <a:solidFill>
                            <a:schemeClr val="bg2"/>
                          </a:solidFill>
                          <a:miter lim="800000"/>
                          <a:headEnd/>
                          <a:tailEnd/>
                        </a:ln>
                        <a:effectLst>
                          <a:outerShdw dist="107763" dir="2700000" algn="ctr" rotWithShape="0">
                            <a:schemeClr val="bg2">
                              <a:alpha val="50000"/>
                            </a:schemeClr>
                          </a:outerShdw>
                        </a:effectLst>
                      </p:spPr>
                    </p:pic>
                  </p:oleObj>
                </mc:Fallback>
              </mc:AlternateContent>
            </a:graphicData>
          </a:graphic>
        </p:graphicFrame>
        <p:sp>
          <p:nvSpPr>
            <p:cNvPr id="14402" name="Freeform 66"/>
            <p:cNvSpPr>
              <a:spLocks/>
            </p:cNvSpPr>
            <p:nvPr/>
          </p:nvSpPr>
          <p:spPr bwMode="auto">
            <a:xfrm>
              <a:off x="2245" y="3285"/>
              <a:ext cx="860" cy="180"/>
            </a:xfrm>
            <a:custGeom>
              <a:avLst/>
              <a:gdLst/>
              <a:ahLst/>
              <a:cxnLst>
                <a:cxn ang="0">
                  <a:pos x="317" y="182"/>
                </a:cxn>
                <a:cxn ang="0">
                  <a:pos x="272" y="182"/>
                </a:cxn>
                <a:cxn ang="0">
                  <a:pos x="90" y="182"/>
                </a:cxn>
                <a:cxn ang="0">
                  <a:pos x="0" y="0"/>
                </a:cxn>
              </a:cxnLst>
              <a:rect l="0" t="0" r="r" b="b"/>
              <a:pathLst>
                <a:path w="317" h="212">
                  <a:moveTo>
                    <a:pt x="317" y="182"/>
                  </a:moveTo>
                  <a:cubicBezTo>
                    <a:pt x="313" y="182"/>
                    <a:pt x="310" y="182"/>
                    <a:pt x="272" y="182"/>
                  </a:cubicBezTo>
                  <a:cubicBezTo>
                    <a:pt x="234" y="182"/>
                    <a:pt x="135" y="212"/>
                    <a:pt x="90" y="182"/>
                  </a:cubicBezTo>
                  <a:cubicBezTo>
                    <a:pt x="45" y="152"/>
                    <a:pt x="22" y="76"/>
                    <a:pt x="0" y="0"/>
                  </a:cubicBezTo>
                </a:path>
              </a:pathLst>
            </a:custGeom>
            <a:noFill/>
            <a:ln w="38100" cap="flat" cmpd="sng">
              <a:solidFill>
                <a:srgbClr val="FF0000"/>
              </a:solidFill>
              <a:prstDash val="solid"/>
              <a:round/>
              <a:headEnd type="none" w="med" len="med"/>
              <a:tailEnd type="triangle" w="med" len="med"/>
            </a:ln>
            <a:effectLst/>
          </p:spPr>
          <p:txBody>
            <a:bodyPr lIns="90000" tIns="46800" rIns="90000" bIns="46800" anchor="ctr"/>
            <a:lstStyle/>
            <a:p>
              <a:endParaRPr lang="zh-CN" altLang="en-US"/>
            </a:p>
          </p:txBody>
        </p:sp>
      </p:grpSp>
      <p:sp>
        <p:nvSpPr>
          <p:cNvPr id="14403" name="Text Box 67"/>
          <p:cNvSpPr txBox="1">
            <a:spLocks noChangeArrowheads="1"/>
          </p:cNvSpPr>
          <p:nvPr/>
        </p:nvSpPr>
        <p:spPr bwMode="auto">
          <a:xfrm>
            <a:off x="3952861" y="2000241"/>
            <a:ext cx="2447925" cy="307777"/>
          </a:xfrm>
          <a:prstGeom prst="rect">
            <a:avLst/>
          </a:prstGeom>
          <a:solidFill>
            <a:srgbClr val="00FFFF"/>
          </a:solidFill>
          <a:ln w="38100">
            <a:solidFill>
              <a:schemeClr val="bg2"/>
            </a:solidFill>
            <a:miter lim="800000"/>
            <a:headEnd/>
            <a:tailEnd/>
          </a:ln>
          <a:effectLst/>
        </p:spPr>
        <p:txBody>
          <a:bodyPr>
            <a:spAutoFit/>
          </a:bodyPr>
          <a:lstStyle/>
          <a:p>
            <a:pPr algn="ctr"/>
            <a:r>
              <a:rPr kumimoji="1" lang="zh-CN" altLang="en-US" sz="1400" b="1" dirty="0">
                <a:ea typeface="新細明體" pitchFamily="18" charset="-120"/>
              </a:rPr>
              <a:t>归一化权重</a:t>
            </a:r>
            <a:r>
              <a:rPr kumimoji="1" lang="zh-TW" altLang="en-US" sz="1400" dirty="0">
                <a:ea typeface="新細明體" pitchFamily="18" charset="-120"/>
              </a:rPr>
              <a:t> </a:t>
            </a:r>
          </a:p>
        </p:txBody>
      </p:sp>
      <p:grpSp>
        <p:nvGrpSpPr>
          <p:cNvPr id="3" name="Group 68"/>
          <p:cNvGrpSpPr>
            <a:grpSpLocks/>
          </p:cNvGrpSpPr>
          <p:nvPr/>
        </p:nvGrpSpPr>
        <p:grpSpPr bwMode="auto">
          <a:xfrm>
            <a:off x="6240463" y="2205038"/>
            <a:ext cx="4032250" cy="4392612"/>
            <a:chOff x="3152" y="1389"/>
            <a:chExt cx="2359" cy="2767"/>
          </a:xfrm>
        </p:grpSpPr>
        <p:sp>
          <p:nvSpPr>
            <p:cNvPr id="14405" name="Freeform 69"/>
            <p:cNvSpPr>
              <a:spLocks/>
            </p:cNvSpPr>
            <p:nvPr/>
          </p:nvSpPr>
          <p:spPr bwMode="auto">
            <a:xfrm>
              <a:off x="3742" y="1389"/>
              <a:ext cx="1769" cy="2767"/>
            </a:xfrm>
            <a:custGeom>
              <a:avLst/>
              <a:gdLst/>
              <a:ahLst/>
              <a:cxnLst>
                <a:cxn ang="0">
                  <a:pos x="0" y="2903"/>
                </a:cxn>
                <a:cxn ang="0">
                  <a:pos x="1769" y="2903"/>
                </a:cxn>
                <a:cxn ang="0">
                  <a:pos x="1769" y="0"/>
                </a:cxn>
              </a:cxnLst>
              <a:rect l="0" t="0" r="r" b="b"/>
              <a:pathLst>
                <a:path w="1769" h="2903">
                  <a:moveTo>
                    <a:pt x="0" y="2903"/>
                  </a:moveTo>
                  <a:lnTo>
                    <a:pt x="1769" y="2903"/>
                  </a:lnTo>
                  <a:lnTo>
                    <a:pt x="1769" y="0"/>
                  </a:lnTo>
                </a:path>
              </a:pathLst>
            </a:custGeom>
            <a:noFill/>
            <a:ln w="76200" cap="flat" cmpd="sng">
              <a:solidFill>
                <a:srgbClr val="66FF33"/>
              </a:solidFill>
              <a:prstDash val="solid"/>
              <a:round/>
              <a:headEnd/>
              <a:tailEnd/>
            </a:ln>
            <a:effectLst>
              <a:outerShdw dist="107763" dir="2700000" algn="ctr" rotWithShape="0">
                <a:schemeClr val="bg2">
                  <a:alpha val="50000"/>
                </a:schemeClr>
              </a:outerShdw>
            </a:effectLst>
          </p:spPr>
          <p:txBody>
            <a:bodyPr lIns="90000" tIns="46800" rIns="90000" bIns="46800" anchor="ctr"/>
            <a:lstStyle/>
            <a:p>
              <a:endParaRPr lang="zh-CN" altLang="en-US"/>
            </a:p>
          </p:txBody>
        </p:sp>
        <p:sp>
          <p:nvSpPr>
            <p:cNvPr id="14406" name="Line 70"/>
            <p:cNvSpPr>
              <a:spLocks noChangeShapeType="1"/>
            </p:cNvSpPr>
            <p:nvPr/>
          </p:nvSpPr>
          <p:spPr bwMode="auto">
            <a:xfrm flipH="1">
              <a:off x="3152" y="1389"/>
              <a:ext cx="2359" cy="0"/>
            </a:xfrm>
            <a:prstGeom prst="line">
              <a:avLst/>
            </a:prstGeom>
            <a:noFill/>
            <a:ln w="76200">
              <a:solidFill>
                <a:srgbClr val="66FF33"/>
              </a:solidFill>
              <a:round/>
              <a:headEnd/>
              <a:tailEnd type="triangle" w="med" len="med"/>
            </a:ln>
            <a:effectLst>
              <a:outerShdw dist="107763" dir="2700000" algn="ctr" rotWithShape="0">
                <a:schemeClr val="bg2">
                  <a:alpha val="50000"/>
                </a:schemeClr>
              </a:outerShdw>
            </a:effectLst>
          </p:spPr>
          <p:txBody>
            <a:bodyPr lIns="90000" tIns="46800" rIns="90000" bIns="46800" anchor="ctr"/>
            <a:lstStyle/>
            <a:p>
              <a:endParaRPr lang="zh-CN" altLang="en-US"/>
            </a:p>
          </p:txBody>
        </p:sp>
      </p:grpSp>
      <p:sp>
        <p:nvSpPr>
          <p:cNvPr id="14407" name="Oval 71"/>
          <p:cNvSpPr>
            <a:spLocks noChangeArrowheads="1"/>
          </p:cNvSpPr>
          <p:nvPr/>
        </p:nvSpPr>
        <p:spPr bwMode="auto">
          <a:xfrm>
            <a:off x="8401050" y="4076701"/>
            <a:ext cx="719138" cy="792163"/>
          </a:xfrm>
          <a:prstGeom prst="ellipse">
            <a:avLst/>
          </a:prstGeom>
          <a:noFill/>
          <a:ln w="38100">
            <a:solidFill>
              <a:srgbClr val="FF0000"/>
            </a:solidFill>
            <a:round/>
            <a:headEnd/>
            <a:tailEnd/>
          </a:ln>
          <a:effectLst/>
        </p:spPr>
        <p:txBody>
          <a:bodyPr wrap="none" lIns="90000" tIns="46800" rIns="90000" bIns="46800" anchor="ctr"/>
          <a:lstStyle/>
          <a:p>
            <a:endParaRPr lang="zh-CN" altLang="en-US"/>
          </a:p>
        </p:txBody>
      </p:sp>
      <p:grpSp>
        <p:nvGrpSpPr>
          <p:cNvPr id="5" name="Group 73"/>
          <p:cNvGrpSpPr>
            <a:grpSpLocks/>
          </p:cNvGrpSpPr>
          <p:nvPr/>
        </p:nvGrpSpPr>
        <p:grpSpPr bwMode="auto">
          <a:xfrm>
            <a:off x="2028825" y="2540001"/>
            <a:ext cx="7581900" cy="4202113"/>
            <a:chOff x="318" y="1600"/>
            <a:chExt cx="4776" cy="2647"/>
          </a:xfrm>
        </p:grpSpPr>
        <p:grpSp>
          <p:nvGrpSpPr>
            <p:cNvPr id="6" name="Group 74"/>
            <p:cNvGrpSpPr>
              <a:grpSpLocks/>
            </p:cNvGrpSpPr>
            <p:nvPr/>
          </p:nvGrpSpPr>
          <p:grpSpPr bwMode="auto">
            <a:xfrm>
              <a:off x="318" y="3430"/>
              <a:ext cx="4776" cy="817"/>
              <a:chOff x="318" y="3430"/>
              <a:chExt cx="4776" cy="817"/>
            </a:xfrm>
          </p:grpSpPr>
          <p:sp>
            <p:nvSpPr>
              <p:cNvPr id="14411" name="Rectangle 75"/>
              <p:cNvSpPr>
                <a:spLocks noChangeArrowheads="1"/>
              </p:cNvSpPr>
              <p:nvPr/>
            </p:nvSpPr>
            <p:spPr bwMode="auto">
              <a:xfrm>
                <a:off x="521" y="3521"/>
                <a:ext cx="3221" cy="726"/>
              </a:xfrm>
              <a:prstGeom prst="rect">
                <a:avLst/>
              </a:prstGeom>
              <a:solidFill>
                <a:srgbClr val="99CCFF"/>
              </a:solidFill>
              <a:ln w="38100">
                <a:solidFill>
                  <a:schemeClr val="tx1"/>
                </a:solidFill>
                <a:miter lim="800000"/>
                <a:headEnd/>
                <a:tailEnd/>
              </a:ln>
              <a:effectLst/>
            </p:spPr>
            <p:txBody>
              <a:bodyPr wrap="none" lIns="90000" tIns="46800" rIns="90000" bIns="46800" anchor="ctr"/>
              <a:lstStyle/>
              <a:p>
                <a:endParaRPr lang="zh-CN" altLang="en-US"/>
              </a:p>
            </p:txBody>
          </p:sp>
          <p:graphicFrame>
            <p:nvGraphicFramePr>
              <p:cNvPr id="14412" name="Object 76"/>
              <p:cNvGraphicFramePr>
                <a:graphicFrameLocks noChangeAspect="1"/>
              </p:cNvGraphicFramePr>
              <p:nvPr/>
            </p:nvGraphicFramePr>
            <p:xfrm>
              <a:off x="702" y="3664"/>
              <a:ext cx="188" cy="229"/>
            </p:xfrm>
            <a:graphic>
              <a:graphicData uri="http://schemas.openxmlformats.org/presentationml/2006/ole">
                <mc:AlternateContent xmlns:mc="http://schemas.openxmlformats.org/markup-compatibility/2006">
                  <mc:Choice xmlns:v="urn:schemas-microsoft-com:vml" Requires="v">
                    <p:oleObj spid="_x0000_s373293" name="方程式" r:id="rId42" imgW="177569" imgH="215619" progId="">
                      <p:embed/>
                    </p:oleObj>
                  </mc:Choice>
                  <mc:Fallback>
                    <p:oleObj name="方程式" r:id="rId42" imgW="177569" imgH="215619"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2" y="3664"/>
                            <a:ext cx="188" cy="229"/>
                          </a:xfrm>
                          <a:prstGeom prst="rect">
                            <a:avLst/>
                          </a:prstGeom>
                          <a:solidFill>
                            <a:srgbClr val="FFFF00"/>
                          </a:solidFill>
                          <a:effectLst>
                            <a:outerShdw dist="107763" dir="2700000" algn="ctr" rotWithShape="0">
                              <a:srgbClr val="808080">
                                <a:alpha val="50000"/>
                              </a:srgbClr>
                            </a:outerShdw>
                          </a:effectLst>
                        </p:spPr>
                      </p:pic>
                    </p:oleObj>
                  </mc:Fallback>
                </mc:AlternateContent>
              </a:graphicData>
            </a:graphic>
          </p:graphicFrame>
          <p:graphicFrame>
            <p:nvGraphicFramePr>
              <p:cNvPr id="14413" name="Object 77"/>
              <p:cNvGraphicFramePr>
                <a:graphicFrameLocks noChangeAspect="1"/>
              </p:cNvGraphicFramePr>
              <p:nvPr/>
            </p:nvGraphicFramePr>
            <p:xfrm>
              <a:off x="1286" y="3664"/>
              <a:ext cx="201" cy="229"/>
            </p:xfrm>
            <a:graphic>
              <a:graphicData uri="http://schemas.openxmlformats.org/presentationml/2006/ole">
                <mc:AlternateContent xmlns:mc="http://schemas.openxmlformats.org/markup-compatibility/2006">
                  <mc:Choice xmlns:v="urn:schemas-microsoft-com:vml" Requires="v">
                    <p:oleObj spid="_x0000_s373294" name="方程式" r:id="rId43" imgW="190335" imgH="215713" progId="">
                      <p:embed/>
                    </p:oleObj>
                  </mc:Choice>
                  <mc:Fallback>
                    <p:oleObj name="方程式" r:id="rId43" imgW="190335" imgH="215713" progId="">
                      <p:embed/>
                      <p:pic>
                        <p:nvPicPr>
                          <p:cNvPr id="0" name=""/>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1286" y="3664"/>
                            <a:ext cx="201" cy="229"/>
                          </a:xfrm>
                          <a:prstGeom prst="rect">
                            <a:avLst/>
                          </a:prstGeom>
                          <a:solidFill>
                            <a:srgbClr val="FFFF00"/>
                          </a:solidFill>
                          <a:effectLst>
                            <a:outerShdw dist="107763" dir="2700000" algn="ctr" rotWithShape="0">
                              <a:srgbClr val="808080">
                                <a:alpha val="50000"/>
                              </a:srgbClr>
                            </a:outerShdw>
                          </a:effectLst>
                        </p:spPr>
                      </p:pic>
                    </p:oleObj>
                  </mc:Fallback>
                </mc:AlternateContent>
              </a:graphicData>
            </a:graphic>
          </p:graphicFrame>
          <p:graphicFrame>
            <p:nvGraphicFramePr>
              <p:cNvPr id="14414" name="Object 78"/>
              <p:cNvGraphicFramePr>
                <a:graphicFrameLocks noChangeAspect="1"/>
              </p:cNvGraphicFramePr>
              <p:nvPr/>
            </p:nvGraphicFramePr>
            <p:xfrm>
              <a:off x="3107" y="3657"/>
              <a:ext cx="201" cy="243"/>
            </p:xfrm>
            <a:graphic>
              <a:graphicData uri="http://schemas.openxmlformats.org/presentationml/2006/ole">
                <mc:AlternateContent xmlns:mc="http://schemas.openxmlformats.org/markup-compatibility/2006">
                  <mc:Choice xmlns:v="urn:schemas-microsoft-com:vml" Requires="v">
                    <p:oleObj spid="_x0000_s373295" name="方程式" r:id="rId45" imgW="190500" imgH="228600" progId="">
                      <p:embed/>
                    </p:oleObj>
                  </mc:Choice>
                  <mc:Fallback>
                    <p:oleObj name="方程式" r:id="rId45" imgW="190500" imgH="228600" progId="">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07" y="3657"/>
                            <a:ext cx="201" cy="243"/>
                          </a:xfrm>
                          <a:prstGeom prst="rect">
                            <a:avLst/>
                          </a:prstGeom>
                          <a:solidFill>
                            <a:srgbClr val="FFFF00"/>
                          </a:solidFill>
                          <a:effectLst>
                            <a:outerShdw dist="107763" dir="2700000" algn="ctr" rotWithShape="0">
                              <a:srgbClr val="808080">
                                <a:alpha val="50000"/>
                              </a:srgbClr>
                            </a:outerShdw>
                          </a:effectLst>
                        </p:spPr>
                      </p:pic>
                    </p:oleObj>
                  </mc:Fallback>
                </mc:AlternateContent>
              </a:graphicData>
            </a:graphic>
          </p:graphicFrame>
          <p:graphicFrame>
            <p:nvGraphicFramePr>
              <p:cNvPr id="14415" name="Object 79"/>
              <p:cNvGraphicFramePr>
                <a:graphicFrameLocks noChangeAspect="1"/>
              </p:cNvGraphicFramePr>
              <p:nvPr/>
            </p:nvGraphicFramePr>
            <p:xfrm>
              <a:off x="2154" y="3657"/>
              <a:ext cx="188" cy="243"/>
            </p:xfrm>
            <a:graphic>
              <a:graphicData uri="http://schemas.openxmlformats.org/presentationml/2006/ole">
                <mc:AlternateContent xmlns:mc="http://schemas.openxmlformats.org/markup-compatibility/2006">
                  <mc:Choice xmlns:v="urn:schemas-microsoft-com:vml" Requires="v">
                    <p:oleObj spid="_x0000_s373296" name="方程式" r:id="rId46" imgW="177646" imgH="228402" progId="">
                      <p:embed/>
                    </p:oleObj>
                  </mc:Choice>
                  <mc:Fallback>
                    <p:oleObj name="方程式" r:id="rId46" imgW="177646" imgH="228402" progId="">
                      <p:embed/>
                      <p:pic>
                        <p:nvPicPr>
                          <p:cNvPr id="0" name=""/>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2154" y="3657"/>
                            <a:ext cx="188" cy="243"/>
                          </a:xfrm>
                          <a:prstGeom prst="rect">
                            <a:avLst/>
                          </a:prstGeom>
                          <a:solidFill>
                            <a:srgbClr val="FFFF00"/>
                          </a:solidFill>
                          <a:effectLst>
                            <a:outerShdw dist="107763" dir="2700000" algn="ctr" rotWithShape="0">
                              <a:srgbClr val="808080">
                                <a:alpha val="50000"/>
                              </a:srgbClr>
                            </a:outerShdw>
                          </a:effectLst>
                        </p:spPr>
                      </p:pic>
                    </p:oleObj>
                  </mc:Fallback>
                </mc:AlternateContent>
              </a:graphicData>
            </a:graphic>
          </p:graphicFrame>
          <p:sp>
            <p:nvSpPr>
              <p:cNvPr id="14416" name="Text Box 80"/>
              <p:cNvSpPr txBox="1">
                <a:spLocks noChangeArrowheads="1"/>
              </p:cNvSpPr>
              <p:nvPr/>
            </p:nvSpPr>
            <p:spPr bwMode="auto">
              <a:xfrm>
                <a:off x="612" y="3878"/>
                <a:ext cx="405" cy="234"/>
              </a:xfrm>
              <a:prstGeom prst="rect">
                <a:avLst/>
              </a:prstGeom>
              <a:noFill/>
              <a:ln w="38100">
                <a:noFill/>
                <a:miter lim="800000"/>
                <a:headEnd/>
                <a:tailEnd/>
              </a:ln>
              <a:effectLst/>
            </p:spPr>
            <p:txBody>
              <a:bodyPr wrap="none" lIns="90000" tIns="46800" rIns="90000" bIns="46800">
                <a:spAutoFit/>
              </a:bodyPr>
              <a:lstStyle/>
              <a:p>
                <a:r>
                  <a:rPr kumimoji="1" lang="zh-CN" altLang="en-US" dirty="0">
                    <a:latin typeface="Garamond" pitchFamily="18" charset="0"/>
                    <a:ea typeface="新細明體" pitchFamily="18" charset="-120"/>
                  </a:rPr>
                  <a:t>错误</a:t>
                </a:r>
              </a:p>
            </p:txBody>
          </p:sp>
          <p:sp>
            <p:nvSpPr>
              <p:cNvPr id="14417" name="Text Box 81"/>
              <p:cNvSpPr txBox="1">
                <a:spLocks noChangeArrowheads="1"/>
              </p:cNvSpPr>
              <p:nvPr/>
            </p:nvSpPr>
            <p:spPr bwMode="auto">
              <a:xfrm>
                <a:off x="1111" y="3878"/>
                <a:ext cx="405" cy="234"/>
              </a:xfrm>
              <a:prstGeom prst="rect">
                <a:avLst/>
              </a:prstGeom>
              <a:noFill/>
              <a:ln w="38100">
                <a:noFill/>
                <a:miter lim="800000"/>
                <a:headEnd/>
                <a:tailEnd/>
              </a:ln>
              <a:effectLst/>
            </p:spPr>
            <p:txBody>
              <a:bodyPr wrap="none" lIns="90000" tIns="46800" rIns="90000" bIns="46800">
                <a:spAutoFit/>
              </a:bodyPr>
              <a:lstStyle/>
              <a:p>
                <a:r>
                  <a:rPr kumimoji="1" lang="zh-CN" altLang="en-US" dirty="0">
                    <a:latin typeface="Garamond" pitchFamily="18" charset="0"/>
                    <a:ea typeface="新細明體" pitchFamily="18" charset="-120"/>
                  </a:rPr>
                  <a:t>正确</a:t>
                </a:r>
              </a:p>
            </p:txBody>
          </p:sp>
          <p:sp>
            <p:nvSpPr>
              <p:cNvPr id="14418" name="Text Box 82"/>
              <p:cNvSpPr txBox="1">
                <a:spLocks noChangeArrowheads="1"/>
              </p:cNvSpPr>
              <p:nvPr/>
            </p:nvSpPr>
            <p:spPr bwMode="auto">
              <a:xfrm>
                <a:off x="1973" y="3878"/>
                <a:ext cx="405" cy="234"/>
              </a:xfrm>
              <a:prstGeom prst="rect">
                <a:avLst/>
              </a:prstGeom>
              <a:noFill/>
              <a:ln w="38100">
                <a:noFill/>
                <a:miter lim="800000"/>
                <a:headEnd/>
                <a:tailEnd/>
              </a:ln>
              <a:effectLst/>
            </p:spPr>
            <p:txBody>
              <a:bodyPr wrap="none" lIns="90000" tIns="46800" rIns="90000" bIns="46800">
                <a:spAutoFit/>
              </a:bodyPr>
              <a:lstStyle/>
              <a:p>
                <a:r>
                  <a:rPr kumimoji="1" lang="zh-CN" altLang="en-US" dirty="0">
                    <a:latin typeface="Garamond" pitchFamily="18" charset="0"/>
                    <a:ea typeface="新細明體" pitchFamily="18" charset="-120"/>
                  </a:rPr>
                  <a:t>正确</a:t>
                </a:r>
              </a:p>
            </p:txBody>
          </p:sp>
          <p:sp>
            <p:nvSpPr>
              <p:cNvPr id="14419" name="Text Box 83"/>
              <p:cNvSpPr txBox="1">
                <a:spLocks noChangeArrowheads="1"/>
              </p:cNvSpPr>
              <p:nvPr/>
            </p:nvSpPr>
            <p:spPr bwMode="auto">
              <a:xfrm>
                <a:off x="3016" y="3878"/>
                <a:ext cx="405" cy="234"/>
              </a:xfrm>
              <a:prstGeom prst="rect">
                <a:avLst/>
              </a:prstGeom>
              <a:noFill/>
              <a:ln w="38100">
                <a:noFill/>
                <a:miter lim="800000"/>
                <a:headEnd/>
                <a:tailEnd/>
              </a:ln>
              <a:effectLst/>
            </p:spPr>
            <p:txBody>
              <a:bodyPr wrap="none" lIns="90000" tIns="46800" rIns="90000" bIns="46800">
                <a:spAutoFit/>
              </a:bodyPr>
              <a:lstStyle/>
              <a:p>
                <a:r>
                  <a:rPr kumimoji="1" lang="zh-CN" altLang="en-US" dirty="0">
                    <a:latin typeface="Garamond" pitchFamily="18" charset="0"/>
                    <a:ea typeface="新細明體" pitchFamily="18" charset="-120"/>
                  </a:rPr>
                  <a:t>错误</a:t>
                </a:r>
              </a:p>
            </p:txBody>
          </p:sp>
          <p:graphicFrame>
            <p:nvGraphicFramePr>
              <p:cNvPr id="14420" name="Object 84"/>
              <p:cNvGraphicFramePr>
                <a:graphicFrameLocks noChangeAspect="1"/>
              </p:cNvGraphicFramePr>
              <p:nvPr/>
            </p:nvGraphicFramePr>
            <p:xfrm>
              <a:off x="4005" y="3600"/>
              <a:ext cx="1089" cy="458"/>
            </p:xfrm>
            <a:graphic>
              <a:graphicData uri="http://schemas.openxmlformats.org/presentationml/2006/ole">
                <mc:AlternateContent xmlns:mc="http://schemas.openxmlformats.org/markup-compatibility/2006">
                  <mc:Choice xmlns:v="urn:schemas-microsoft-com:vml" Requires="v">
                    <p:oleObj spid="_x0000_s373297" name="公式" r:id="rId48" imgW="1028254" imgH="431613" progId="">
                      <p:embed/>
                    </p:oleObj>
                  </mc:Choice>
                  <mc:Fallback>
                    <p:oleObj name="公式" r:id="rId48" imgW="1028254" imgH="431613" progId="">
                      <p:embed/>
                      <p:pic>
                        <p:nvPicPr>
                          <p:cNvPr id="0" name=""/>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4005" y="3600"/>
                            <a:ext cx="1089" cy="458"/>
                          </a:xfrm>
                          <a:prstGeom prst="rect">
                            <a:avLst/>
                          </a:prstGeom>
                          <a:solidFill>
                            <a:schemeClr val="bg1"/>
                          </a:solidFill>
                          <a:ln w="38100">
                            <a:solidFill>
                              <a:schemeClr val="bg2"/>
                            </a:solidFill>
                            <a:prstDash val="sysDot"/>
                            <a:miter lim="800000"/>
                            <a:headEnd/>
                            <a:tailEnd/>
                          </a:ln>
                          <a:effectLst>
                            <a:outerShdw dist="107763" dir="2700000" algn="ctr" rotWithShape="0">
                              <a:srgbClr val="808080">
                                <a:alpha val="50000"/>
                              </a:srgbClr>
                            </a:outerShdw>
                          </a:effectLst>
                        </p:spPr>
                      </p:pic>
                    </p:oleObj>
                  </mc:Fallback>
                </mc:AlternateContent>
              </a:graphicData>
            </a:graphic>
          </p:graphicFrame>
          <p:sp>
            <p:nvSpPr>
              <p:cNvPr id="14421" name="Text Box 85"/>
              <p:cNvSpPr txBox="1">
                <a:spLocks noChangeArrowheads="1"/>
              </p:cNvSpPr>
              <p:nvPr/>
            </p:nvSpPr>
            <p:spPr bwMode="auto">
              <a:xfrm>
                <a:off x="318" y="3430"/>
                <a:ext cx="569" cy="194"/>
              </a:xfrm>
              <a:prstGeom prst="rect">
                <a:avLst/>
              </a:prstGeom>
              <a:solidFill>
                <a:schemeClr val="bg1"/>
              </a:solidFill>
              <a:ln w="38100">
                <a:solidFill>
                  <a:schemeClr val="bg2"/>
                </a:solidFill>
                <a:miter lim="800000"/>
                <a:headEnd/>
                <a:tailEnd/>
              </a:ln>
              <a:effectLst/>
            </p:spPr>
            <p:txBody>
              <a:bodyPr wrap="none">
                <a:spAutoFit/>
              </a:bodyPr>
              <a:lstStyle/>
              <a:p>
                <a:pPr algn="ctr"/>
                <a:r>
                  <a:rPr kumimoji="1" lang="zh-CN" altLang="en-US" sz="1400" b="1" dirty="0">
                    <a:ea typeface="新細明體" pitchFamily="18" charset="-120"/>
                  </a:rPr>
                  <a:t>更新权值</a:t>
                </a:r>
              </a:p>
            </p:txBody>
          </p:sp>
        </p:grpSp>
        <p:sp>
          <p:nvSpPr>
            <p:cNvPr id="14422" name="Freeform 86"/>
            <p:cNvSpPr>
              <a:spLocks/>
            </p:cNvSpPr>
            <p:nvPr/>
          </p:nvSpPr>
          <p:spPr bwMode="auto">
            <a:xfrm>
              <a:off x="325" y="1600"/>
              <a:ext cx="423" cy="2057"/>
            </a:xfrm>
            <a:custGeom>
              <a:avLst/>
              <a:gdLst/>
              <a:ahLst/>
              <a:cxnLst>
                <a:cxn ang="0">
                  <a:pos x="423" y="61"/>
                </a:cxn>
                <a:cxn ang="0">
                  <a:pos x="15" y="333"/>
                </a:cxn>
                <a:cxn ang="0">
                  <a:pos x="332" y="2057"/>
                </a:cxn>
              </a:cxnLst>
              <a:rect l="0" t="0" r="r" b="b"/>
              <a:pathLst>
                <a:path w="423" h="2057">
                  <a:moveTo>
                    <a:pt x="423" y="61"/>
                  </a:moveTo>
                  <a:cubicBezTo>
                    <a:pt x="226" y="30"/>
                    <a:pt x="30" y="0"/>
                    <a:pt x="15" y="333"/>
                  </a:cubicBezTo>
                  <a:cubicBezTo>
                    <a:pt x="0" y="666"/>
                    <a:pt x="166" y="1361"/>
                    <a:pt x="332" y="2057"/>
                  </a:cubicBezTo>
                </a:path>
              </a:pathLst>
            </a:custGeom>
            <a:noFill/>
            <a:ln w="38100" cap="flat" cmpd="sng">
              <a:solidFill>
                <a:srgbClr val="FF9900"/>
              </a:solidFill>
              <a:prstDash val="solid"/>
              <a:round/>
              <a:headEnd type="none" w="med" len="med"/>
              <a:tailEnd type="triangle" w="med" len="med"/>
            </a:ln>
            <a:effectLst/>
          </p:spPr>
          <p:txBody>
            <a:bodyPr lIns="90000" tIns="46800" rIns="90000" bIns="46800" anchor="ctr"/>
            <a:lstStyle/>
            <a:p>
              <a:endParaRPr lang="zh-CN" altLang="en-US"/>
            </a:p>
          </p:txBody>
        </p:sp>
        <p:sp>
          <p:nvSpPr>
            <p:cNvPr id="14423" name="Freeform 87"/>
            <p:cNvSpPr>
              <a:spLocks/>
            </p:cNvSpPr>
            <p:nvPr/>
          </p:nvSpPr>
          <p:spPr bwMode="auto">
            <a:xfrm>
              <a:off x="2872" y="1616"/>
              <a:ext cx="280" cy="2086"/>
            </a:xfrm>
            <a:custGeom>
              <a:avLst/>
              <a:gdLst/>
              <a:ahLst/>
              <a:cxnLst>
                <a:cxn ang="0">
                  <a:pos x="280" y="0"/>
                </a:cxn>
                <a:cxn ang="0">
                  <a:pos x="8" y="544"/>
                </a:cxn>
                <a:cxn ang="0">
                  <a:pos x="235" y="2086"/>
                </a:cxn>
              </a:cxnLst>
              <a:rect l="0" t="0" r="r" b="b"/>
              <a:pathLst>
                <a:path w="280" h="2086">
                  <a:moveTo>
                    <a:pt x="280" y="0"/>
                  </a:moveTo>
                  <a:cubicBezTo>
                    <a:pt x="148" y="98"/>
                    <a:pt x="16" y="196"/>
                    <a:pt x="8" y="544"/>
                  </a:cubicBezTo>
                  <a:cubicBezTo>
                    <a:pt x="0" y="892"/>
                    <a:pt x="117" y="1489"/>
                    <a:pt x="235" y="2086"/>
                  </a:cubicBezTo>
                </a:path>
              </a:pathLst>
            </a:custGeom>
            <a:noFill/>
            <a:ln w="38100" cap="flat" cmpd="sng">
              <a:solidFill>
                <a:srgbClr val="FF9900"/>
              </a:solidFill>
              <a:prstDash val="solid"/>
              <a:round/>
              <a:headEnd type="none" w="med" len="med"/>
              <a:tailEnd type="triangle" w="med" len="med"/>
            </a:ln>
            <a:effectLst/>
          </p:spPr>
          <p:txBody>
            <a:bodyPr lIns="90000" tIns="46800" rIns="90000" bIns="46800" anchor="ctr"/>
            <a:lstStyle/>
            <a:p>
              <a:endParaRPr lang="zh-CN" altLang="en-US"/>
            </a:p>
          </p:txBody>
        </p:sp>
      </p:grpSp>
      <p:sp>
        <p:nvSpPr>
          <p:cNvPr id="14424" name="Freeform 88"/>
          <p:cNvSpPr>
            <a:spLocks/>
          </p:cNvSpPr>
          <p:nvPr/>
        </p:nvSpPr>
        <p:spPr bwMode="auto">
          <a:xfrm>
            <a:off x="5087938" y="6453189"/>
            <a:ext cx="2520950" cy="360363"/>
          </a:xfrm>
          <a:custGeom>
            <a:avLst/>
            <a:gdLst/>
            <a:ahLst/>
            <a:cxnLst>
              <a:cxn ang="0">
                <a:pos x="1588" y="0"/>
              </a:cxn>
              <a:cxn ang="0">
                <a:pos x="998" y="227"/>
              </a:cxn>
              <a:cxn ang="0">
                <a:pos x="0" y="0"/>
              </a:cxn>
            </a:cxnLst>
            <a:rect l="0" t="0" r="r" b="b"/>
            <a:pathLst>
              <a:path w="1588" h="227">
                <a:moveTo>
                  <a:pt x="1588" y="0"/>
                </a:moveTo>
                <a:cubicBezTo>
                  <a:pt x="1425" y="113"/>
                  <a:pt x="1263" y="227"/>
                  <a:pt x="998" y="227"/>
                </a:cubicBezTo>
                <a:cubicBezTo>
                  <a:pt x="733" y="227"/>
                  <a:pt x="366" y="113"/>
                  <a:pt x="0" y="0"/>
                </a:cubicBezTo>
              </a:path>
            </a:pathLst>
          </a:custGeom>
          <a:noFill/>
          <a:ln w="38100" cap="flat" cmpd="sng">
            <a:solidFill>
              <a:srgbClr val="0070C0"/>
            </a:solidFill>
            <a:prstDash val="solid"/>
            <a:round/>
            <a:headEnd type="none" w="med" len="med"/>
            <a:tailEnd type="triangle" w="med" len="med"/>
          </a:ln>
          <a:effectLst/>
        </p:spPr>
        <p:txBody>
          <a:bodyPr lIns="90000" tIns="46800" rIns="90000" bIns="46800" anchor="ctr"/>
          <a:lstStyle/>
          <a:p>
            <a:endParaRPr lang="zh-CN" altLang="en-US"/>
          </a:p>
        </p:txBody>
      </p:sp>
      <p:sp>
        <p:nvSpPr>
          <p:cNvPr id="14425" name="Freeform 89"/>
          <p:cNvSpPr>
            <a:spLocks/>
          </p:cNvSpPr>
          <p:nvPr/>
        </p:nvSpPr>
        <p:spPr bwMode="auto">
          <a:xfrm>
            <a:off x="4079875" y="6308726"/>
            <a:ext cx="3816350" cy="396875"/>
          </a:xfrm>
          <a:custGeom>
            <a:avLst/>
            <a:gdLst/>
            <a:ahLst/>
            <a:cxnLst>
              <a:cxn ang="0">
                <a:pos x="2404" y="0"/>
              </a:cxn>
              <a:cxn ang="0">
                <a:pos x="1497" y="227"/>
              </a:cxn>
              <a:cxn ang="0">
                <a:pos x="0" y="136"/>
              </a:cxn>
            </a:cxnLst>
            <a:rect l="0" t="0" r="r" b="b"/>
            <a:pathLst>
              <a:path w="2404" h="250">
                <a:moveTo>
                  <a:pt x="2404" y="0"/>
                </a:moveTo>
                <a:cubicBezTo>
                  <a:pt x="2151" y="102"/>
                  <a:pt x="1898" y="204"/>
                  <a:pt x="1497" y="227"/>
                </a:cubicBezTo>
                <a:cubicBezTo>
                  <a:pt x="1096" y="250"/>
                  <a:pt x="548" y="193"/>
                  <a:pt x="0" y="136"/>
                </a:cubicBezTo>
              </a:path>
            </a:pathLst>
          </a:custGeom>
          <a:noFill/>
          <a:ln w="38100" cap="flat" cmpd="sng">
            <a:solidFill>
              <a:srgbClr val="0070C0"/>
            </a:solidFill>
            <a:prstDash val="solid"/>
            <a:round/>
            <a:headEnd type="none" w="med" len="med"/>
            <a:tailEnd type="triangle" w="med" len="med"/>
          </a:ln>
          <a:effectLst/>
        </p:spPr>
        <p:txBody>
          <a:bodyPr lIns="90000" tIns="46800" rIns="90000" bIns="46800" anchor="ctr"/>
          <a:lstStyle/>
          <a:p>
            <a:endParaRPr lang="zh-CN" altLang="en-US" dirty="0"/>
          </a:p>
        </p:txBody>
      </p:sp>
      <p:sp>
        <p:nvSpPr>
          <p:cNvPr id="89" name="灯片编号占位符 88"/>
          <p:cNvSpPr>
            <a:spLocks noGrp="1"/>
          </p:cNvSpPr>
          <p:nvPr>
            <p:ph type="sldNum" sz="quarter" idx="11"/>
          </p:nvPr>
        </p:nvSpPr>
        <p:spPr/>
        <p:txBody>
          <a:bodyPr/>
          <a:lstStyle/>
          <a:p>
            <a:pPr>
              <a:defRPr/>
            </a:pPr>
            <a:fld id="{31E287EE-1289-4991-82CE-EFE584F53F4F}" type="slidenum">
              <a:rPr lang="en-US" altLang="zh-CN" smtClean="0"/>
              <a:pPr>
                <a:defRPr/>
              </a:pPr>
              <a:t>45</a:t>
            </a:fld>
            <a:endParaRPr lang="en-US" altLang="zh-CN" dirty="0"/>
          </a:p>
        </p:txBody>
      </p:sp>
      <p:sp>
        <p:nvSpPr>
          <p:cNvPr id="90" name="矩形 89"/>
          <p:cNvSpPr/>
          <p:nvPr/>
        </p:nvSpPr>
        <p:spPr>
          <a:xfrm>
            <a:off x="7519989" y="6384856"/>
            <a:ext cx="2723823" cy="369332"/>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r>
              <a:rPr lang="zh-CN" altLang="en-US" dirty="0"/>
              <a:t>减少正确分类样本的权重</a:t>
            </a:r>
          </a:p>
        </p:txBody>
      </p:sp>
    </p:spTree>
    <p:extLst>
      <p:ext uri="{BB962C8B-B14F-4D97-AF65-F5344CB8AC3E}">
        <p14:creationId xmlns:p14="http://schemas.microsoft.com/office/powerpoint/2010/main" val="11665015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en-US" altLang="zh-CN" sz="4000" dirty="0"/>
              <a:t>AdaBoost.M1</a:t>
            </a:r>
          </a:p>
        </p:txBody>
      </p:sp>
      <p:sp>
        <p:nvSpPr>
          <p:cNvPr id="101379" name="Rectangle 3"/>
          <p:cNvSpPr>
            <a:spLocks noGrp="1" noChangeArrowheads="1"/>
          </p:cNvSpPr>
          <p:nvPr>
            <p:ph type="body" idx="1"/>
          </p:nvPr>
        </p:nvSpPr>
        <p:spPr>
          <a:xfrm>
            <a:off x="2738414" y="1142984"/>
            <a:ext cx="6934200" cy="4648200"/>
          </a:xfrm>
        </p:spPr>
        <p:txBody>
          <a:bodyPr/>
          <a:lstStyle/>
          <a:p>
            <a:pPr>
              <a:lnSpc>
                <a:spcPct val="90000"/>
              </a:lnSpc>
            </a:pPr>
            <a:r>
              <a:rPr lang="zh-CN" altLang="en-US" sz="2400" b="1" dirty="0"/>
              <a:t>初始赋予每个样本相等的权重</a:t>
            </a:r>
            <a:r>
              <a:rPr lang="en-US" altLang="zh-CN" sz="2400" b="1" i="1" dirty="0"/>
              <a:t>1/N</a:t>
            </a:r>
            <a:r>
              <a:rPr lang="en-US" altLang="zh-CN" sz="2400" b="1" dirty="0"/>
              <a:t> </a:t>
            </a:r>
            <a:r>
              <a:rPr lang="zh-CN" altLang="en-US" sz="2400" b="1" dirty="0"/>
              <a:t>；</a:t>
            </a:r>
          </a:p>
          <a:p>
            <a:pPr>
              <a:lnSpc>
                <a:spcPct val="90000"/>
              </a:lnSpc>
            </a:pPr>
            <a:r>
              <a:rPr lang="en-US" altLang="zh-CN" sz="2400" b="1" i="1" dirty="0"/>
              <a:t>For t = 1, 2, …, T Do </a:t>
            </a:r>
          </a:p>
          <a:p>
            <a:pPr lvl="1">
              <a:lnSpc>
                <a:spcPct val="90000"/>
              </a:lnSpc>
            </a:pPr>
            <a:r>
              <a:rPr lang="zh-CN" altLang="en-US" sz="2400" b="1" dirty="0"/>
              <a:t>学习得到分类法</a:t>
            </a:r>
            <a:r>
              <a:rPr lang="en-US" altLang="zh-CN" sz="2400" b="1" dirty="0"/>
              <a:t>C</a:t>
            </a:r>
            <a:r>
              <a:rPr lang="en-US" altLang="zh-CN" sz="2400" b="1" baseline="-25000" dirty="0"/>
              <a:t>t</a:t>
            </a:r>
            <a:r>
              <a:rPr lang="zh-CN" altLang="en-US" sz="2400" b="1" dirty="0"/>
              <a:t>；</a:t>
            </a:r>
          </a:p>
          <a:p>
            <a:pPr lvl="1">
              <a:lnSpc>
                <a:spcPct val="90000"/>
              </a:lnSpc>
            </a:pPr>
            <a:r>
              <a:rPr lang="zh-CN" altLang="en-US" sz="2400" b="1" dirty="0"/>
              <a:t>计算该分类法的错误率</a:t>
            </a:r>
            <a:r>
              <a:rPr lang="en-US" altLang="zh-CN" sz="2400" b="1" dirty="0"/>
              <a:t>E</a:t>
            </a:r>
            <a:r>
              <a:rPr lang="en-US" altLang="zh-CN" sz="2400" b="1" baseline="-25000" dirty="0"/>
              <a:t>t</a:t>
            </a:r>
          </a:p>
          <a:p>
            <a:pPr lvl="1">
              <a:lnSpc>
                <a:spcPct val="90000"/>
              </a:lnSpc>
              <a:buFont typeface="Wingdings" pitchFamily="2" charset="2"/>
              <a:buNone/>
            </a:pPr>
            <a:r>
              <a:rPr lang="en-US" altLang="zh-CN" sz="2400" b="1" dirty="0"/>
              <a:t>         E</a:t>
            </a:r>
            <a:r>
              <a:rPr lang="en-US" altLang="zh-CN" sz="2400" b="1" baseline="-25000" dirty="0"/>
              <a:t>t</a:t>
            </a:r>
            <a:r>
              <a:rPr lang="en-US" altLang="zh-CN" sz="2400" b="1" dirty="0"/>
              <a:t>=</a:t>
            </a:r>
            <a:r>
              <a:rPr lang="zh-CN" altLang="en-US" sz="2400" b="1" dirty="0"/>
              <a:t>所有被错误分类的样本的权重和；</a:t>
            </a:r>
          </a:p>
          <a:p>
            <a:pPr lvl="1">
              <a:lnSpc>
                <a:spcPct val="90000"/>
              </a:lnSpc>
            </a:pPr>
            <a:r>
              <a:rPr lang="en-US" altLang="zh-CN" sz="2400" b="1" dirty="0" err="1"/>
              <a:t>β</a:t>
            </a:r>
            <a:r>
              <a:rPr lang="en-US" altLang="zh-CN" sz="2400" b="1" baseline="-25000" dirty="0" err="1"/>
              <a:t>t</a:t>
            </a:r>
            <a:r>
              <a:rPr lang="en-US" altLang="zh-CN" sz="2400" b="1" dirty="0"/>
              <a:t>= E</a:t>
            </a:r>
            <a:r>
              <a:rPr lang="en-US" altLang="zh-CN" sz="2400" b="1" baseline="-25000" dirty="0"/>
              <a:t>t</a:t>
            </a:r>
            <a:r>
              <a:rPr lang="en-US" altLang="zh-CN" sz="2400" b="1" dirty="0"/>
              <a:t>/</a:t>
            </a:r>
            <a:r>
              <a:rPr lang="zh-CN" altLang="en-US" sz="2400" b="1" dirty="0"/>
              <a:t>（</a:t>
            </a:r>
            <a:r>
              <a:rPr lang="en-US" altLang="zh-CN" sz="2400" b="1" dirty="0"/>
              <a:t>1 - E</a:t>
            </a:r>
            <a:r>
              <a:rPr lang="en-US" altLang="zh-CN" sz="2400" b="1" baseline="-25000" dirty="0"/>
              <a:t>t</a:t>
            </a:r>
            <a:r>
              <a:rPr lang="zh-CN" altLang="en-US" sz="2400" b="1" dirty="0"/>
              <a:t>）</a:t>
            </a:r>
          </a:p>
          <a:p>
            <a:pPr lvl="1">
              <a:lnSpc>
                <a:spcPct val="90000"/>
              </a:lnSpc>
            </a:pPr>
            <a:r>
              <a:rPr lang="zh-CN" altLang="en-US" sz="2400" b="1" dirty="0"/>
              <a:t>根据错误率更新样本的权重；</a:t>
            </a:r>
          </a:p>
          <a:p>
            <a:pPr lvl="1">
              <a:lnSpc>
                <a:spcPct val="90000"/>
              </a:lnSpc>
              <a:buFont typeface="Wingdings" pitchFamily="2" charset="2"/>
              <a:buNone/>
            </a:pPr>
            <a:r>
              <a:rPr lang="zh-CN" altLang="en-US" sz="2400" b="1" dirty="0"/>
              <a:t>        正确分类的样本： </a:t>
            </a:r>
            <a:r>
              <a:rPr lang="en-US" altLang="zh-CN" sz="2400" b="1" dirty="0" err="1"/>
              <a:t>W</a:t>
            </a:r>
            <a:r>
              <a:rPr lang="en-US" altLang="zh-CN" sz="2400" b="1" baseline="-25000" dirty="0" err="1"/>
              <a:t>new</a:t>
            </a:r>
            <a:r>
              <a:rPr lang="en-US" altLang="zh-CN" sz="2400" b="1" dirty="0"/>
              <a:t>= </a:t>
            </a:r>
            <a:r>
              <a:rPr lang="en-US" altLang="zh-CN" sz="2400" b="1" dirty="0" err="1"/>
              <a:t>W</a:t>
            </a:r>
            <a:r>
              <a:rPr lang="en-US" altLang="zh-CN" sz="2400" b="1" baseline="-25000" dirty="0" err="1"/>
              <a:t>old</a:t>
            </a:r>
            <a:r>
              <a:rPr lang="en-US" altLang="zh-CN" sz="2400" b="1" dirty="0"/>
              <a:t>* </a:t>
            </a:r>
            <a:r>
              <a:rPr lang="en-US" altLang="zh-CN" sz="2400" b="1" dirty="0" err="1"/>
              <a:t>β</a:t>
            </a:r>
            <a:r>
              <a:rPr lang="en-US" altLang="zh-CN" sz="2400" b="1" baseline="-25000" dirty="0" err="1"/>
              <a:t>t</a:t>
            </a:r>
            <a:endParaRPr lang="en-US" altLang="zh-CN" sz="2400" b="1" baseline="-25000" dirty="0"/>
          </a:p>
          <a:p>
            <a:pPr lvl="1">
              <a:lnSpc>
                <a:spcPct val="90000"/>
              </a:lnSpc>
              <a:buFont typeface="Wingdings" pitchFamily="2" charset="2"/>
              <a:buNone/>
            </a:pPr>
            <a:r>
              <a:rPr lang="en-US" altLang="zh-CN" sz="2400" b="1" dirty="0"/>
              <a:t>        </a:t>
            </a:r>
            <a:r>
              <a:rPr lang="zh-CN" altLang="en-US" sz="2400" b="1" dirty="0"/>
              <a:t>错误分类的样本： </a:t>
            </a:r>
            <a:r>
              <a:rPr lang="en-US" altLang="zh-CN" sz="2400" b="1" dirty="0" err="1"/>
              <a:t>W</a:t>
            </a:r>
            <a:r>
              <a:rPr lang="en-US" altLang="zh-CN" sz="2400" b="1" baseline="-25000" dirty="0" err="1"/>
              <a:t>new</a:t>
            </a:r>
            <a:r>
              <a:rPr lang="en-US" altLang="zh-CN" sz="2400" b="1" dirty="0"/>
              <a:t>= </a:t>
            </a:r>
            <a:r>
              <a:rPr lang="en-US" altLang="zh-CN" sz="2400" b="1" dirty="0" err="1"/>
              <a:t>W</a:t>
            </a:r>
            <a:r>
              <a:rPr lang="en-US" altLang="zh-CN" sz="2400" b="1" baseline="-25000" dirty="0" err="1"/>
              <a:t>old</a:t>
            </a:r>
            <a:endParaRPr lang="en-US" altLang="zh-CN" sz="2400" b="1" dirty="0"/>
          </a:p>
          <a:p>
            <a:pPr lvl="1">
              <a:lnSpc>
                <a:spcPct val="90000"/>
              </a:lnSpc>
            </a:pPr>
            <a:r>
              <a:rPr lang="zh-CN" altLang="en-US" sz="2400" b="1" dirty="0"/>
              <a:t>调整使得权重和为</a:t>
            </a:r>
            <a:r>
              <a:rPr lang="en-US" altLang="zh-CN" sz="2400" b="1" dirty="0"/>
              <a:t>1</a:t>
            </a:r>
            <a:r>
              <a:rPr lang="zh-CN" altLang="en-US" sz="2400" b="1" dirty="0"/>
              <a:t>；</a:t>
            </a:r>
          </a:p>
          <a:p>
            <a:pPr>
              <a:lnSpc>
                <a:spcPct val="90000"/>
              </a:lnSpc>
            </a:pPr>
            <a:r>
              <a:rPr lang="zh-CN" altLang="en-US" sz="2400" b="1" dirty="0"/>
              <a:t>每个分类法</a:t>
            </a:r>
            <a:r>
              <a:rPr lang="en-US" altLang="zh-CN" sz="2400" b="1" dirty="0"/>
              <a:t>C</a:t>
            </a:r>
            <a:r>
              <a:rPr lang="en-US" altLang="zh-CN" sz="2400" b="1" baseline="-25000" dirty="0"/>
              <a:t>t</a:t>
            </a:r>
            <a:r>
              <a:rPr lang="zh-CN" altLang="en-US" sz="2400" b="1" dirty="0"/>
              <a:t>的投票价值为</a:t>
            </a:r>
            <a:r>
              <a:rPr lang="en-US" altLang="zh-CN" sz="2400" b="1" dirty="0"/>
              <a:t>log [ 1 / </a:t>
            </a:r>
            <a:r>
              <a:rPr lang="en-US" altLang="zh-CN" sz="2400" b="1" dirty="0" err="1"/>
              <a:t>β</a:t>
            </a:r>
            <a:r>
              <a:rPr lang="en-US" altLang="zh-CN" sz="2400" b="1" baseline="-25000" dirty="0" err="1"/>
              <a:t>t</a:t>
            </a:r>
            <a:r>
              <a:rPr lang="en-US" altLang="zh-CN" sz="2400" b="1" dirty="0"/>
              <a:t> ]</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46</a:t>
            </a:fld>
            <a:endParaRPr lang="en-US" altLang="zh-CN" dirty="0"/>
          </a:p>
        </p:txBody>
      </p:sp>
      <p:sp>
        <p:nvSpPr>
          <p:cNvPr id="5" name="矩形 4"/>
          <p:cNvSpPr/>
          <p:nvPr/>
        </p:nvSpPr>
        <p:spPr>
          <a:xfrm>
            <a:off x="8688510" y="3789041"/>
            <a:ext cx="1560390" cy="646331"/>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dirty="0"/>
              <a:t>减少正确分类样本的权重值</a:t>
            </a:r>
          </a:p>
        </p:txBody>
      </p:sp>
    </p:spTree>
    <p:extLst>
      <p:ext uri="{BB962C8B-B14F-4D97-AF65-F5344CB8AC3E}">
        <p14:creationId xmlns:p14="http://schemas.microsoft.com/office/powerpoint/2010/main" val="42320534"/>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47</a:t>
            </a:fld>
            <a:endParaRPr lang="en-US" altLang="zh-CN" dirty="0"/>
          </a:p>
        </p:txBody>
      </p:sp>
      <p:pic>
        <p:nvPicPr>
          <p:cNvPr id="314370" name="Picture 2" descr="I:\新建文件夹\集成学习\20170804110544243.png"/>
          <p:cNvPicPr>
            <a:picLocks noChangeAspect="1" noChangeArrowheads="1"/>
          </p:cNvPicPr>
          <p:nvPr/>
        </p:nvPicPr>
        <p:blipFill>
          <a:blip r:embed="rId2" cstate="print"/>
          <a:srcRect/>
          <a:stretch>
            <a:fillRect/>
          </a:stretch>
        </p:blipFill>
        <p:spPr bwMode="auto">
          <a:xfrm>
            <a:off x="1549648" y="-160822"/>
            <a:ext cx="7560840" cy="6590218"/>
          </a:xfrm>
          <a:prstGeom prst="rect">
            <a:avLst/>
          </a:prstGeom>
          <a:noFill/>
        </p:spPr>
      </p:pic>
    </p:spTree>
    <p:extLst>
      <p:ext uri="{BB962C8B-B14F-4D97-AF65-F5344CB8AC3E}">
        <p14:creationId xmlns:p14="http://schemas.microsoft.com/office/powerpoint/2010/main" val="40939361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2166910" y="928671"/>
            <a:ext cx="6786610" cy="492443"/>
          </a:xfrm>
          <a:prstGeom prst="rect">
            <a:avLst/>
          </a:prstGeom>
          <a:noFill/>
          <a:ln w="9525">
            <a:noFill/>
            <a:miter lim="800000"/>
            <a:headEnd/>
            <a:tailEnd/>
          </a:ln>
        </p:spPr>
        <p:txBody>
          <a:bodyPr wrap="square">
            <a:spAutoFit/>
          </a:bodyPr>
          <a:lstStyle/>
          <a:p>
            <a:r>
              <a:rPr lang="en-US" altLang="zh-CN" sz="2400" b="1" dirty="0">
                <a:solidFill>
                  <a:srgbClr val="FF0000"/>
                </a:solidFill>
                <a:latin typeface="宋体" pitchFamily="2" charset="-122"/>
                <a:sym typeface="宋体" pitchFamily="2" charset="-122"/>
              </a:rPr>
              <a:t>T1</a:t>
            </a:r>
            <a:r>
              <a:rPr lang="zh-CN" altLang="en-US" sz="2600" b="1" dirty="0">
                <a:solidFill>
                  <a:srgbClr val="FF0000"/>
                </a:solidFill>
                <a:latin typeface="宋体" pitchFamily="2" charset="-122"/>
                <a:sym typeface="宋体" pitchFamily="2" charset="-122"/>
              </a:rPr>
              <a:t>、强分类器的公式，权重的选取怎么来的？</a:t>
            </a:r>
            <a:endParaRPr lang="zh-CN" altLang="en-US" sz="2600" dirty="0"/>
          </a:p>
        </p:txBody>
      </p:sp>
      <p:sp>
        <p:nvSpPr>
          <p:cNvPr id="34819" name="Text Box 3"/>
          <p:cNvSpPr txBox="1">
            <a:spLocks noChangeArrowheads="1"/>
          </p:cNvSpPr>
          <p:nvPr/>
        </p:nvSpPr>
        <p:spPr bwMode="auto">
          <a:xfrm>
            <a:off x="2381224" y="1428737"/>
            <a:ext cx="7542212" cy="461665"/>
          </a:xfrm>
          <a:prstGeom prst="rect">
            <a:avLst/>
          </a:prstGeom>
          <a:noFill/>
          <a:ln w="9525">
            <a:noFill/>
            <a:miter lim="800000"/>
            <a:headEnd/>
            <a:tailEnd/>
          </a:ln>
        </p:spPr>
        <p:txBody>
          <a:bodyPr>
            <a:spAutoFit/>
          </a:bodyPr>
          <a:lstStyle/>
          <a:p>
            <a:r>
              <a:rPr lang="zh-CN" altLang="en-US" sz="2400" b="1" dirty="0">
                <a:latin typeface="宋体" pitchFamily="2" charset="-122"/>
                <a:sym typeface="宋体" pitchFamily="2" charset="-122"/>
              </a:rPr>
              <a:t>一共</a:t>
            </a:r>
            <a:r>
              <a:rPr lang="en-US" altLang="zh-CN" sz="2400" b="1" dirty="0">
                <a:latin typeface="宋体" pitchFamily="2" charset="-122"/>
                <a:sym typeface="宋体" pitchFamily="2" charset="-122"/>
              </a:rPr>
              <a:t>n</a:t>
            </a:r>
            <a:r>
              <a:rPr lang="zh-CN" altLang="en-US" sz="2400" b="1" dirty="0">
                <a:latin typeface="宋体" pitchFamily="2" charset="-122"/>
                <a:sym typeface="宋体" pitchFamily="2" charset="-122"/>
              </a:rPr>
              <a:t>个样本，</a:t>
            </a:r>
            <a:r>
              <a:rPr lang="en-US" sz="2400" b="1" dirty="0">
                <a:latin typeface="Times New Roman" pitchFamily="18" charset="0"/>
                <a:cs typeface="Times New Roman" pitchFamily="18" charset="0"/>
                <a:sym typeface="Times New Roman" pitchFamily="18" charset="0"/>
              </a:rPr>
              <a:t>Y={</a:t>
            </a:r>
            <a:r>
              <a:rPr lang="en-US" sz="2400" b="1" dirty="0">
                <a:solidFill>
                  <a:srgbClr val="FF0000"/>
                </a:solidFill>
                <a:latin typeface="Times New Roman" pitchFamily="18" charset="0"/>
                <a:cs typeface="Times New Roman" pitchFamily="18" charset="0"/>
                <a:sym typeface="Times New Roman" pitchFamily="18" charset="0"/>
              </a:rPr>
              <a:t>-1</a:t>
            </a:r>
            <a:r>
              <a:rPr lang="zh-CN" altLang="en-US" sz="2400" b="1" dirty="0">
                <a:solidFill>
                  <a:srgbClr val="FF0000"/>
                </a:solidFill>
                <a:latin typeface="宋体" pitchFamily="2" charset="-122"/>
                <a:sym typeface="宋体" pitchFamily="2" charset="-122"/>
              </a:rPr>
              <a:t>，</a:t>
            </a:r>
            <a:r>
              <a:rPr lang="en-US" sz="2400" b="1" dirty="0">
                <a:solidFill>
                  <a:srgbClr val="FF0000"/>
                </a:solidFill>
                <a:latin typeface="Times New Roman" pitchFamily="18" charset="0"/>
                <a:cs typeface="Times New Roman" pitchFamily="18" charset="0"/>
                <a:sym typeface="Times New Roman" pitchFamily="18" charset="0"/>
              </a:rPr>
              <a:t>+1</a:t>
            </a:r>
            <a:r>
              <a:rPr lang="en-US" sz="2400" b="1" dirty="0">
                <a:latin typeface="Times New Roman" pitchFamily="18" charset="0"/>
                <a:cs typeface="Times New Roman" pitchFamily="18" charset="0"/>
                <a:sym typeface="Times New Roman" pitchFamily="18" charset="0"/>
              </a:rPr>
              <a:t>}</a:t>
            </a:r>
            <a:r>
              <a:rPr lang="zh-CN" altLang="en-US" sz="2400" b="1" dirty="0">
                <a:latin typeface="宋体" pitchFamily="2" charset="-122"/>
                <a:sym typeface="宋体" pitchFamily="2" charset="-122"/>
              </a:rPr>
              <a:t>，</a:t>
            </a:r>
            <a:r>
              <a:rPr lang="en-US" sz="2400" b="1" dirty="0">
                <a:latin typeface="Times New Roman" pitchFamily="18" charset="0"/>
                <a:cs typeface="Times New Roman" pitchFamily="18" charset="0"/>
                <a:sym typeface="Times New Roman" pitchFamily="18" charset="0"/>
              </a:rPr>
              <a:t>-1</a:t>
            </a:r>
            <a:r>
              <a:rPr lang="zh-CN" altLang="en-US" sz="2400" b="1" dirty="0">
                <a:latin typeface="宋体" pitchFamily="2" charset="-122"/>
                <a:sym typeface="宋体" pitchFamily="2" charset="-122"/>
              </a:rPr>
              <a:t>代表负样本</a:t>
            </a:r>
            <a:endParaRPr lang="zh-CN" altLang="en-US" sz="2400" dirty="0"/>
          </a:p>
        </p:txBody>
      </p:sp>
      <p:sp>
        <p:nvSpPr>
          <p:cNvPr id="34820" name="Text Box 4"/>
          <p:cNvSpPr txBox="1">
            <a:spLocks noChangeArrowheads="1"/>
          </p:cNvSpPr>
          <p:nvPr/>
        </p:nvSpPr>
        <p:spPr bwMode="auto">
          <a:xfrm>
            <a:off x="2363788" y="2133601"/>
            <a:ext cx="1522412" cy="461665"/>
          </a:xfrm>
          <a:prstGeom prst="rect">
            <a:avLst/>
          </a:prstGeom>
          <a:noFill/>
          <a:ln w="9525">
            <a:noFill/>
            <a:miter lim="800000"/>
            <a:headEnd/>
            <a:tailEnd/>
          </a:ln>
        </p:spPr>
        <p:txBody>
          <a:bodyPr>
            <a:spAutoFit/>
          </a:bodyPr>
          <a:lstStyle/>
          <a:p>
            <a:r>
              <a:rPr lang="zh-CN" altLang="en-US" sz="2400" b="1" dirty="0">
                <a:latin typeface="宋体" pitchFamily="2" charset="-122"/>
                <a:sym typeface="宋体" pitchFamily="2" charset="-122"/>
              </a:rPr>
              <a:t>错误率：</a:t>
            </a:r>
          </a:p>
        </p:txBody>
      </p:sp>
      <p:graphicFrame>
        <p:nvGraphicFramePr>
          <p:cNvPr id="34821" name="Object 5"/>
          <p:cNvGraphicFramePr>
            <a:graphicFrameLocks noChangeAspect="1"/>
          </p:cNvGraphicFramePr>
          <p:nvPr>
            <p:extLst>
              <p:ext uri="{D42A27DB-BD31-4B8C-83A1-F6EECF244321}">
                <p14:modId xmlns:p14="http://schemas.microsoft.com/office/powerpoint/2010/main" val="2078367385"/>
              </p:ext>
            </p:extLst>
          </p:nvPr>
        </p:nvGraphicFramePr>
        <p:xfrm>
          <a:off x="3694113" y="2133600"/>
          <a:ext cx="3668712" cy="571500"/>
        </p:xfrm>
        <a:graphic>
          <a:graphicData uri="http://schemas.openxmlformats.org/presentationml/2006/ole">
            <mc:AlternateContent xmlns:mc="http://schemas.openxmlformats.org/markup-compatibility/2006">
              <mc:Choice xmlns:v="urn:schemas-microsoft-com:vml" Requires="v">
                <p:oleObj spid="_x0000_s336158" name="Equation" r:id="rId3" imgW="1841500" imgH="266700" progId="Equation.DSMT4">
                  <p:embed/>
                </p:oleObj>
              </mc:Choice>
              <mc:Fallback>
                <p:oleObj name="Equation" r:id="rId3" imgW="1841500" imgH="2667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4113" y="2133600"/>
                        <a:ext cx="3668712" cy="5715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22" name="Text Box 6"/>
          <p:cNvSpPr txBox="1">
            <a:spLocks noChangeArrowheads="1"/>
          </p:cNvSpPr>
          <p:nvPr/>
        </p:nvSpPr>
        <p:spPr bwMode="auto">
          <a:xfrm>
            <a:off x="2363788" y="3124201"/>
            <a:ext cx="2284412" cy="461665"/>
          </a:xfrm>
          <a:prstGeom prst="rect">
            <a:avLst/>
          </a:prstGeom>
          <a:noFill/>
          <a:ln w="9525">
            <a:noFill/>
            <a:miter lim="800000"/>
            <a:headEnd/>
            <a:tailEnd/>
          </a:ln>
        </p:spPr>
        <p:txBody>
          <a:bodyPr>
            <a:spAutoFit/>
          </a:bodyPr>
          <a:lstStyle/>
          <a:p>
            <a:r>
              <a:rPr lang="zh-CN" altLang="en-US" sz="2400" b="1" dirty="0">
                <a:latin typeface="宋体" pitchFamily="2" charset="-122"/>
                <a:sym typeface="宋体" pitchFamily="2" charset="-122"/>
              </a:rPr>
              <a:t>假设的权重：</a:t>
            </a:r>
          </a:p>
        </p:txBody>
      </p:sp>
      <p:graphicFrame>
        <p:nvGraphicFramePr>
          <p:cNvPr id="34823" name="Object 7"/>
          <p:cNvGraphicFramePr>
            <a:graphicFrameLocks noChangeAspect="1"/>
          </p:cNvGraphicFramePr>
          <p:nvPr/>
        </p:nvGraphicFramePr>
        <p:xfrm>
          <a:off x="4648200" y="2971800"/>
          <a:ext cx="1752600" cy="812800"/>
        </p:xfrm>
        <a:graphic>
          <a:graphicData uri="http://schemas.openxmlformats.org/presentationml/2006/ole">
            <mc:AlternateContent xmlns:mc="http://schemas.openxmlformats.org/markup-compatibility/2006">
              <mc:Choice xmlns:v="urn:schemas-microsoft-com:vml" Requires="v">
                <p:oleObj spid="_x0000_s336159" r:id="rId5" imgW="1054100" imgH="482600" progId="">
                  <p:embed/>
                </p:oleObj>
              </mc:Choice>
              <mc:Fallback>
                <p:oleObj r:id="rId5" imgW="1054100" imgH="48260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200" y="2971800"/>
                        <a:ext cx="1752600" cy="812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24" name="Text Box 8"/>
          <p:cNvSpPr txBox="1">
            <a:spLocks noChangeArrowheads="1"/>
          </p:cNvSpPr>
          <p:nvPr/>
        </p:nvSpPr>
        <p:spPr bwMode="auto">
          <a:xfrm>
            <a:off x="2287588" y="4038601"/>
            <a:ext cx="3732212" cy="461665"/>
          </a:xfrm>
          <a:prstGeom prst="rect">
            <a:avLst/>
          </a:prstGeom>
          <a:noFill/>
          <a:ln w="9525">
            <a:noFill/>
            <a:miter lim="800000"/>
            <a:headEnd/>
            <a:tailEnd/>
          </a:ln>
        </p:spPr>
        <p:txBody>
          <a:bodyPr>
            <a:spAutoFit/>
          </a:bodyPr>
          <a:lstStyle/>
          <a:p>
            <a:r>
              <a:rPr lang="zh-CN" altLang="en-US" sz="2400" b="1" dirty="0">
                <a:latin typeface="宋体" pitchFamily="2" charset="-122"/>
                <a:sym typeface="宋体" pitchFamily="2" charset="-122"/>
              </a:rPr>
              <a:t>从</a:t>
            </a:r>
            <a:r>
              <a:rPr lang="en-US" sz="2400" b="1" dirty="0">
                <a:latin typeface="宋体" pitchFamily="2" charset="-122"/>
                <a:sym typeface="宋体" pitchFamily="2" charset="-122"/>
              </a:rPr>
              <a:t>1</a:t>
            </a:r>
            <a:r>
              <a:rPr lang="zh-CN" altLang="en-US" sz="2400" b="1" dirty="0">
                <a:latin typeface="宋体" pitchFamily="2" charset="-122"/>
                <a:sym typeface="宋体" pitchFamily="2" charset="-122"/>
              </a:rPr>
              <a:t>到</a:t>
            </a:r>
            <a:r>
              <a:rPr lang="en-US" sz="2400" b="1" dirty="0">
                <a:latin typeface="Times New Roman" pitchFamily="18" charset="0"/>
                <a:cs typeface="Times New Roman" pitchFamily="18" charset="0"/>
                <a:sym typeface="Times New Roman" pitchFamily="18" charset="0"/>
              </a:rPr>
              <a:t>M</a:t>
            </a:r>
            <a:r>
              <a:rPr lang="zh-CN" altLang="en-US" sz="2400" b="1" dirty="0">
                <a:latin typeface="宋体" pitchFamily="2" charset="-122"/>
                <a:sym typeface="宋体" pitchFamily="2" charset="-122"/>
              </a:rPr>
              <a:t>循环</a:t>
            </a:r>
            <a:r>
              <a:rPr lang="en-US" sz="2400" b="1" dirty="0">
                <a:latin typeface="Times New Roman" pitchFamily="18" charset="0"/>
                <a:cs typeface="Times New Roman" pitchFamily="18" charset="0"/>
                <a:sym typeface="Times New Roman" pitchFamily="18" charset="0"/>
              </a:rPr>
              <a:t>,</a:t>
            </a:r>
            <a:r>
              <a:rPr lang="zh-CN" altLang="en-US" sz="2400" b="1" dirty="0">
                <a:latin typeface="宋体" pitchFamily="2" charset="-122"/>
                <a:sym typeface="宋体" pitchFamily="2" charset="-122"/>
              </a:rPr>
              <a:t>样本权重：</a:t>
            </a:r>
            <a:endParaRPr lang="zh-CN" altLang="en-US" sz="2400" dirty="0"/>
          </a:p>
        </p:txBody>
      </p:sp>
      <p:graphicFrame>
        <p:nvGraphicFramePr>
          <p:cNvPr id="34825" name="Object 9"/>
          <p:cNvGraphicFramePr>
            <a:graphicFrameLocks noChangeAspect="1"/>
          </p:cNvGraphicFramePr>
          <p:nvPr/>
        </p:nvGraphicFramePr>
        <p:xfrm>
          <a:off x="5667372" y="3929066"/>
          <a:ext cx="3786214" cy="863775"/>
        </p:xfrm>
        <a:graphic>
          <a:graphicData uri="http://schemas.openxmlformats.org/presentationml/2006/ole">
            <mc:AlternateContent xmlns:mc="http://schemas.openxmlformats.org/markup-compatibility/2006">
              <mc:Choice xmlns:v="urn:schemas-microsoft-com:vml" Requires="v">
                <p:oleObj spid="_x0000_s336160" name="Equation" r:id="rId7" imgW="2236171" imgH="508221" progId="Equation.DSMT4">
                  <p:embed/>
                </p:oleObj>
              </mc:Choice>
              <mc:Fallback>
                <p:oleObj name="Equation" r:id="rId7" imgW="2236171" imgH="508221"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67372" y="3929066"/>
                        <a:ext cx="3786214" cy="863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26" name="Text Box 10"/>
          <p:cNvSpPr txBox="1">
            <a:spLocks noChangeArrowheads="1"/>
          </p:cNvSpPr>
          <p:nvPr/>
        </p:nvSpPr>
        <p:spPr bwMode="auto">
          <a:xfrm>
            <a:off x="2381224" y="5072075"/>
            <a:ext cx="2971800" cy="461665"/>
          </a:xfrm>
          <a:prstGeom prst="rect">
            <a:avLst/>
          </a:prstGeom>
          <a:noFill/>
          <a:ln w="9525">
            <a:noFill/>
            <a:miter lim="800000"/>
            <a:headEnd/>
            <a:tailEnd/>
          </a:ln>
        </p:spPr>
        <p:txBody>
          <a:bodyPr>
            <a:spAutoFit/>
          </a:bodyPr>
          <a:lstStyle/>
          <a:p>
            <a:r>
              <a:rPr lang="zh-CN" altLang="en-US" sz="2400" b="1" dirty="0">
                <a:latin typeface="宋体" pitchFamily="2" charset="-122"/>
                <a:sym typeface="宋体" pitchFamily="2" charset="-122"/>
              </a:rPr>
              <a:t>最后强分类器：</a:t>
            </a:r>
          </a:p>
        </p:txBody>
      </p:sp>
      <p:graphicFrame>
        <p:nvGraphicFramePr>
          <p:cNvPr id="34827" name="Object 11"/>
          <p:cNvGraphicFramePr>
            <a:graphicFrameLocks noChangeAspect="1"/>
          </p:cNvGraphicFramePr>
          <p:nvPr/>
        </p:nvGraphicFramePr>
        <p:xfrm>
          <a:off x="4595802" y="4929198"/>
          <a:ext cx="2786082" cy="829774"/>
        </p:xfrm>
        <a:graphic>
          <a:graphicData uri="http://schemas.openxmlformats.org/presentationml/2006/ole">
            <mc:AlternateContent xmlns:mc="http://schemas.openxmlformats.org/markup-compatibility/2006">
              <mc:Choice xmlns:v="urn:schemas-microsoft-com:vml" Requires="v">
                <p:oleObj spid="_x0000_s336161" r:id="rId9" imgW="1537367" imgH="457399" progId="">
                  <p:embed/>
                </p:oleObj>
              </mc:Choice>
              <mc:Fallback>
                <p:oleObj r:id="rId9" imgW="1537367" imgH="457399"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95802" y="4929198"/>
                        <a:ext cx="2786082" cy="8297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灯片编号占位符 11"/>
          <p:cNvSpPr>
            <a:spLocks noGrp="1"/>
          </p:cNvSpPr>
          <p:nvPr>
            <p:ph type="sldNum" sz="quarter" idx="11"/>
          </p:nvPr>
        </p:nvSpPr>
        <p:spPr/>
        <p:txBody>
          <a:bodyPr/>
          <a:lstStyle/>
          <a:p>
            <a:pPr>
              <a:defRPr/>
            </a:pPr>
            <a:fld id="{31E287EE-1289-4991-82CE-EFE584F53F4F}" type="slidenum">
              <a:rPr lang="en-US" altLang="zh-CN" smtClean="0"/>
              <a:pPr>
                <a:defRPr/>
              </a:pPr>
              <a:t>48</a:t>
            </a:fld>
            <a:endParaRPr lang="en-US" altLang="zh-CN" dirty="0"/>
          </a:p>
        </p:txBody>
      </p:sp>
      <p:sp>
        <p:nvSpPr>
          <p:cNvPr id="13" name="矩形 12"/>
          <p:cNvSpPr/>
          <p:nvPr/>
        </p:nvSpPr>
        <p:spPr>
          <a:xfrm>
            <a:off x="8688289" y="370861"/>
            <a:ext cx="649537" cy="369332"/>
          </a:xfrm>
          <a:prstGeom prst="rect">
            <a:avLst/>
          </a:prstGeom>
          <a:ln>
            <a:solidFill>
              <a:srgbClr val="FF0000"/>
            </a:solidFill>
          </a:ln>
        </p:spPr>
        <p:txBody>
          <a:bodyPr wrap="none">
            <a:spAutoFit/>
          </a:bodyPr>
          <a:lstStyle/>
          <a:p>
            <a:r>
              <a:rPr lang="zh-CN" altLang="en-US" b="1" dirty="0">
                <a:solidFill>
                  <a:srgbClr val="FF0000"/>
                </a:solidFill>
                <a:latin typeface="宋体" pitchFamily="2" charset="-122"/>
                <a:sym typeface="宋体" pitchFamily="2" charset="-122"/>
              </a:rPr>
              <a:t>自习</a:t>
            </a:r>
            <a:endParaRPr lang="zh-CN" altLang="en-US" dirty="0"/>
          </a:p>
        </p:txBody>
      </p:sp>
    </p:spTree>
    <p:extLst>
      <p:ext uri="{BB962C8B-B14F-4D97-AF65-F5344CB8AC3E}">
        <p14:creationId xmlns:p14="http://schemas.microsoft.com/office/powerpoint/2010/main" val="24164006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Text Box 4"/>
          <p:cNvSpPr txBox="1">
            <a:spLocks noChangeArrowheads="1"/>
          </p:cNvSpPr>
          <p:nvPr/>
        </p:nvSpPr>
        <p:spPr bwMode="auto">
          <a:xfrm>
            <a:off x="2033569" y="1011447"/>
            <a:ext cx="3124200" cy="461665"/>
          </a:xfrm>
          <a:prstGeom prst="rect">
            <a:avLst/>
          </a:prstGeom>
          <a:noFill/>
          <a:ln w="9525">
            <a:noFill/>
            <a:miter lim="800000"/>
            <a:headEnd/>
            <a:tailEnd/>
          </a:ln>
        </p:spPr>
        <p:txBody>
          <a:bodyPr>
            <a:spAutoFit/>
          </a:bodyPr>
          <a:lstStyle/>
          <a:p>
            <a:r>
              <a:rPr lang="zh-CN" altLang="en-US" sz="2400" b="1" dirty="0">
                <a:solidFill>
                  <a:srgbClr val="FF00FF"/>
                </a:solidFill>
                <a:latin typeface="宋体" pitchFamily="2" charset="-122"/>
                <a:sym typeface="宋体" pitchFamily="2" charset="-122"/>
              </a:rPr>
              <a:t>为什么要设置</a:t>
            </a:r>
          </a:p>
        </p:txBody>
      </p:sp>
      <p:sp>
        <p:nvSpPr>
          <p:cNvPr id="35845" name="Text Box 5"/>
          <p:cNvSpPr txBox="1">
            <a:spLocks noChangeArrowheads="1"/>
          </p:cNvSpPr>
          <p:nvPr/>
        </p:nvSpPr>
        <p:spPr bwMode="auto">
          <a:xfrm>
            <a:off x="1982788" y="1599184"/>
            <a:ext cx="7923212" cy="461665"/>
          </a:xfrm>
          <a:prstGeom prst="rect">
            <a:avLst/>
          </a:prstGeom>
          <a:noFill/>
          <a:ln w="9525">
            <a:noFill/>
            <a:miter lim="800000"/>
            <a:headEnd/>
            <a:tailEnd/>
          </a:ln>
        </p:spPr>
        <p:txBody>
          <a:bodyPr>
            <a:spAutoFit/>
          </a:bodyPr>
          <a:lstStyle/>
          <a:p>
            <a:r>
              <a:rPr lang="zh-CN" altLang="en-US" sz="2400" b="1" dirty="0">
                <a:latin typeface="宋体" pitchFamily="2" charset="-122"/>
                <a:sym typeface="宋体" pitchFamily="2" charset="-122"/>
              </a:rPr>
              <a:t>首先证明</a:t>
            </a:r>
            <a:r>
              <a:rPr lang="zh-CN" altLang="zh-CN" sz="2400" b="1" dirty="0">
                <a:latin typeface="Times New Roman" pitchFamily="18" charset="0"/>
                <a:cs typeface="Times New Roman" pitchFamily="18" charset="0"/>
                <a:sym typeface="Times New Roman" pitchFamily="18" charset="0"/>
              </a:rPr>
              <a:t>adaboost</a:t>
            </a:r>
            <a:r>
              <a:rPr lang="zh-CN" altLang="en-US" sz="2400" b="1" dirty="0">
                <a:latin typeface="宋体" pitchFamily="2" charset="-122"/>
                <a:sym typeface="宋体" pitchFamily="2" charset="-122"/>
              </a:rPr>
              <a:t>最终强分类器的错误率上限是：</a:t>
            </a:r>
            <a:endParaRPr lang="zh-CN" altLang="en-US" sz="2400" dirty="0"/>
          </a:p>
        </p:txBody>
      </p:sp>
      <p:graphicFrame>
        <p:nvGraphicFramePr>
          <p:cNvPr id="35846" name="Object 6"/>
          <p:cNvGraphicFramePr>
            <a:graphicFrameLocks noChangeAspect="1"/>
          </p:cNvGraphicFramePr>
          <p:nvPr>
            <p:extLst>
              <p:ext uri="{D42A27DB-BD31-4B8C-83A1-F6EECF244321}">
                <p14:modId xmlns:p14="http://schemas.microsoft.com/office/powerpoint/2010/main" val="2584063969"/>
              </p:ext>
            </p:extLst>
          </p:nvPr>
        </p:nvGraphicFramePr>
        <p:xfrm>
          <a:off x="3909219" y="3302156"/>
          <a:ext cx="4070350" cy="882650"/>
        </p:xfrm>
        <a:graphic>
          <a:graphicData uri="http://schemas.openxmlformats.org/presentationml/2006/ole">
            <mc:AlternateContent xmlns:mc="http://schemas.openxmlformats.org/markup-compatibility/2006">
              <mc:Choice xmlns:v="urn:schemas-microsoft-com:vml" Requires="v">
                <p:oleObj spid="_x0000_s337182" name="公式" r:id="rId3" imgW="2235200" imgH="482600" progId="">
                  <p:embed/>
                </p:oleObj>
              </mc:Choice>
              <mc:Fallback>
                <p:oleObj name="公式" r:id="rId3" imgW="2235200" imgH="4826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9219" y="3302156"/>
                        <a:ext cx="4070350" cy="882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47" name="Text Box 7"/>
          <p:cNvSpPr txBox="1">
            <a:spLocks noChangeArrowheads="1"/>
          </p:cNvSpPr>
          <p:nvPr/>
        </p:nvSpPr>
        <p:spPr bwMode="auto">
          <a:xfrm>
            <a:off x="2166911" y="3000372"/>
            <a:ext cx="2695565" cy="892552"/>
          </a:xfrm>
          <a:prstGeom prst="rect">
            <a:avLst/>
          </a:prstGeom>
          <a:noFill/>
          <a:ln w="9525">
            <a:noFill/>
            <a:miter lim="800000"/>
            <a:headEnd/>
            <a:tailEnd/>
          </a:ln>
          <a:effectLst/>
        </p:spPr>
        <p:txBody>
          <a:bodyPr wrap="square">
            <a:spAutoFit/>
          </a:bodyPr>
          <a:lstStyle/>
          <a:p>
            <a:r>
              <a:rPr lang="zh-CN" altLang="en-US" sz="2600" b="1" dirty="0"/>
              <a:t>证明：</a:t>
            </a:r>
            <a:endParaRPr lang="en-US" altLang="zh-CN" sz="2600" b="1" dirty="0"/>
          </a:p>
          <a:p>
            <a:r>
              <a:rPr lang="zh-CN" altLang="en-US" sz="2600" b="1" dirty="0"/>
              <a:t>     </a:t>
            </a:r>
          </a:p>
        </p:txBody>
      </p:sp>
      <p:sp>
        <p:nvSpPr>
          <p:cNvPr id="35848" name="Text Box 8"/>
          <p:cNvSpPr txBox="1">
            <a:spLocks noChangeArrowheads="1"/>
          </p:cNvSpPr>
          <p:nvPr/>
        </p:nvSpPr>
        <p:spPr bwMode="auto">
          <a:xfrm>
            <a:off x="2095472" y="4214819"/>
            <a:ext cx="7770812" cy="461665"/>
          </a:xfrm>
          <a:prstGeom prst="rect">
            <a:avLst/>
          </a:prstGeom>
          <a:noFill/>
          <a:ln w="9525">
            <a:noFill/>
            <a:miter lim="800000"/>
            <a:headEnd/>
            <a:tailEnd/>
          </a:ln>
        </p:spPr>
        <p:txBody>
          <a:bodyPr>
            <a:spAutoFit/>
          </a:bodyPr>
          <a:lstStyle/>
          <a:p>
            <a:r>
              <a:rPr lang="zh-CN" altLang="en-US" sz="2400" b="1" dirty="0">
                <a:latin typeface="宋体" pitchFamily="2" charset="-122"/>
                <a:sym typeface="宋体" pitchFamily="2" charset="-122"/>
              </a:rPr>
              <a:t>通过迭代公式倒推回去，一直迭代到</a:t>
            </a:r>
            <a:r>
              <a:rPr lang="zh-CN" altLang="zh-CN" sz="2400" b="1" dirty="0">
                <a:latin typeface="Times New Roman" pitchFamily="18" charset="0"/>
                <a:cs typeface="Times New Roman" pitchFamily="18" charset="0"/>
                <a:sym typeface="Times New Roman" pitchFamily="18" charset="0"/>
              </a:rPr>
              <a:t>D</a:t>
            </a:r>
            <a:r>
              <a:rPr lang="zh-CN" altLang="zh-CN" sz="2400" b="1" baseline="-25000" dirty="0">
                <a:latin typeface="Times New Roman" pitchFamily="18" charset="0"/>
                <a:cs typeface="Times New Roman" pitchFamily="18" charset="0"/>
                <a:sym typeface="Times New Roman" pitchFamily="18" charset="0"/>
              </a:rPr>
              <a:t>1</a:t>
            </a:r>
            <a:r>
              <a:rPr lang="zh-CN" altLang="zh-CN" sz="2400" b="1" dirty="0">
                <a:latin typeface="Times New Roman" pitchFamily="18" charset="0"/>
                <a:cs typeface="Times New Roman" pitchFamily="18" charset="0"/>
                <a:sym typeface="Times New Roman" pitchFamily="18" charset="0"/>
              </a:rPr>
              <a:t>=1/</a:t>
            </a:r>
            <a:r>
              <a:rPr lang="en-US" altLang="zh-CN" sz="2400" b="1" dirty="0">
                <a:latin typeface="Times New Roman" pitchFamily="18" charset="0"/>
                <a:cs typeface="Times New Roman" pitchFamily="18" charset="0"/>
                <a:sym typeface="Times New Roman" pitchFamily="18" charset="0"/>
              </a:rPr>
              <a:t>n</a:t>
            </a:r>
            <a:r>
              <a:rPr lang="zh-CN" altLang="en-US" sz="2400" b="1" dirty="0">
                <a:latin typeface="宋体" pitchFamily="2" charset="-122"/>
                <a:sym typeface="宋体" pitchFamily="2" charset="-122"/>
              </a:rPr>
              <a:t>。公式变为：</a:t>
            </a:r>
            <a:endParaRPr lang="zh-CN" altLang="en-US" sz="2400" dirty="0"/>
          </a:p>
        </p:txBody>
      </p:sp>
      <p:graphicFrame>
        <p:nvGraphicFramePr>
          <p:cNvPr id="310275" name="Object 3"/>
          <p:cNvGraphicFramePr>
            <a:graphicFrameLocks noChangeAspect="1"/>
          </p:cNvGraphicFramePr>
          <p:nvPr/>
        </p:nvGraphicFramePr>
        <p:xfrm>
          <a:off x="4095736" y="857232"/>
          <a:ext cx="1752600" cy="812800"/>
        </p:xfrm>
        <a:graphic>
          <a:graphicData uri="http://schemas.openxmlformats.org/presentationml/2006/ole">
            <mc:AlternateContent xmlns:mc="http://schemas.openxmlformats.org/markup-compatibility/2006">
              <mc:Choice xmlns:v="urn:schemas-microsoft-com:vml" Requires="v">
                <p:oleObj spid="_x0000_s337183" r:id="rId5" imgW="1054100" imgH="482600" progId="">
                  <p:embed/>
                </p:oleObj>
              </mc:Choice>
              <mc:Fallback>
                <p:oleObj r:id="rId5" imgW="1054100" imgH="48260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95736" y="857232"/>
                        <a:ext cx="1752600" cy="812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0276" name="Object 4"/>
          <p:cNvGraphicFramePr>
            <a:graphicFrameLocks noChangeAspect="1"/>
          </p:cNvGraphicFramePr>
          <p:nvPr/>
        </p:nvGraphicFramePr>
        <p:xfrm>
          <a:off x="3619501" y="2143125"/>
          <a:ext cx="2716213" cy="723900"/>
        </p:xfrm>
        <a:graphic>
          <a:graphicData uri="http://schemas.openxmlformats.org/presentationml/2006/ole">
            <mc:AlternateContent xmlns:mc="http://schemas.openxmlformats.org/markup-compatibility/2006">
              <mc:Choice xmlns:v="urn:schemas-microsoft-com:vml" Requires="v">
                <p:oleObj spid="_x0000_s337184" name="公式" r:id="rId7" imgW="1637589" imgH="431613" progId="">
                  <p:embed/>
                </p:oleObj>
              </mc:Choice>
              <mc:Fallback>
                <p:oleObj name="公式" r:id="rId7" imgW="1637589" imgH="431613"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19501" y="2143125"/>
                        <a:ext cx="2716213" cy="72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矩形 14"/>
          <p:cNvSpPr/>
          <p:nvPr/>
        </p:nvSpPr>
        <p:spPr>
          <a:xfrm>
            <a:off x="7676476" y="2143117"/>
            <a:ext cx="2991525" cy="461665"/>
          </a:xfrm>
          <a:prstGeom prst="rect">
            <a:avLst/>
          </a:prstGeom>
        </p:spPr>
        <p:txBody>
          <a:bodyPr wrap="none">
            <a:spAutoFit/>
          </a:bodyPr>
          <a:lstStyle/>
          <a:p>
            <a:r>
              <a:rPr lang="en-US" altLang="zh-CN" sz="2400" dirty="0" err="1"/>
              <a:t>adaboost</a:t>
            </a:r>
            <a:r>
              <a:rPr lang="zh-CN" altLang="en-US" sz="2400" dirty="0"/>
              <a:t>训练误差界</a:t>
            </a:r>
          </a:p>
        </p:txBody>
      </p:sp>
      <p:cxnSp>
        <p:nvCxnSpPr>
          <p:cNvPr id="17" name="直接箭头连接符 16"/>
          <p:cNvCxnSpPr>
            <a:stCxn id="15" idx="1"/>
          </p:cNvCxnSpPr>
          <p:nvPr/>
        </p:nvCxnSpPr>
        <p:spPr>
          <a:xfrm rot="10800000" flipV="1">
            <a:off x="6310316" y="2373949"/>
            <a:ext cx="1366161" cy="10983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310278" name="Object 6"/>
          <p:cNvGraphicFramePr>
            <a:graphicFrameLocks noChangeAspect="1"/>
          </p:cNvGraphicFramePr>
          <p:nvPr/>
        </p:nvGraphicFramePr>
        <p:xfrm>
          <a:off x="3595670" y="4857760"/>
          <a:ext cx="4764088" cy="1022350"/>
        </p:xfrm>
        <a:graphic>
          <a:graphicData uri="http://schemas.openxmlformats.org/presentationml/2006/ole">
            <mc:AlternateContent xmlns:mc="http://schemas.openxmlformats.org/markup-compatibility/2006">
              <mc:Choice xmlns:v="urn:schemas-microsoft-com:vml" Requires="v">
                <p:oleObj spid="_x0000_s337185" name="公式" r:id="rId9" imgW="2616200" imgH="558800" progId="">
                  <p:embed/>
                </p:oleObj>
              </mc:Choice>
              <mc:Fallback>
                <p:oleObj name="公式" r:id="rId9" imgW="2616200" imgH="558800"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95670" y="4857760"/>
                        <a:ext cx="4764088" cy="1022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灯片编号占位符 11"/>
          <p:cNvSpPr>
            <a:spLocks noGrp="1"/>
          </p:cNvSpPr>
          <p:nvPr>
            <p:ph type="sldNum" sz="quarter" idx="11"/>
          </p:nvPr>
        </p:nvSpPr>
        <p:spPr/>
        <p:txBody>
          <a:bodyPr/>
          <a:lstStyle/>
          <a:p>
            <a:pPr>
              <a:defRPr/>
            </a:pPr>
            <a:fld id="{31E287EE-1289-4991-82CE-EFE584F53F4F}" type="slidenum">
              <a:rPr lang="en-US" altLang="zh-CN" smtClean="0"/>
              <a:pPr>
                <a:defRPr/>
              </a:pPr>
              <a:t>49</a:t>
            </a:fld>
            <a:endParaRPr lang="en-US" altLang="zh-CN" dirty="0"/>
          </a:p>
        </p:txBody>
      </p:sp>
      <p:sp>
        <p:nvSpPr>
          <p:cNvPr id="16" name="矩形 15"/>
          <p:cNvSpPr/>
          <p:nvPr/>
        </p:nvSpPr>
        <p:spPr>
          <a:xfrm>
            <a:off x="4871865" y="2780928"/>
            <a:ext cx="646331" cy="369332"/>
          </a:xfrm>
          <a:prstGeom prst="rect">
            <a:avLst/>
          </a:prstGeom>
        </p:spPr>
        <p:txBody>
          <a:bodyPr wrap="none">
            <a:spAutoFit/>
          </a:bodyPr>
          <a:lstStyle/>
          <a:p>
            <a:r>
              <a:rPr lang="zh-CN" altLang="en-US" dirty="0">
                <a:solidFill>
                  <a:srgbClr val="FF0000"/>
                </a:solidFill>
              </a:rPr>
              <a:t>个数</a:t>
            </a:r>
          </a:p>
        </p:txBody>
      </p:sp>
      <p:cxnSp>
        <p:nvCxnSpPr>
          <p:cNvPr id="19" name="直接箭头连接符 18"/>
          <p:cNvCxnSpPr/>
          <p:nvPr/>
        </p:nvCxnSpPr>
        <p:spPr>
          <a:xfrm flipH="1" flipV="1">
            <a:off x="4223792" y="2564904"/>
            <a:ext cx="792088" cy="43204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8688289" y="370861"/>
            <a:ext cx="649537" cy="369332"/>
          </a:xfrm>
          <a:prstGeom prst="rect">
            <a:avLst/>
          </a:prstGeom>
          <a:ln>
            <a:solidFill>
              <a:srgbClr val="FF0000"/>
            </a:solidFill>
          </a:ln>
        </p:spPr>
        <p:txBody>
          <a:bodyPr wrap="none">
            <a:spAutoFit/>
          </a:bodyPr>
          <a:lstStyle/>
          <a:p>
            <a:r>
              <a:rPr lang="zh-CN" altLang="en-US" b="1" dirty="0">
                <a:solidFill>
                  <a:srgbClr val="FF0000"/>
                </a:solidFill>
                <a:latin typeface="宋体" pitchFamily="2" charset="-122"/>
                <a:sym typeface="宋体" pitchFamily="2" charset="-122"/>
              </a:rPr>
              <a:t>自习</a:t>
            </a:r>
            <a:endParaRPr lang="zh-CN" altLang="en-US" dirty="0"/>
          </a:p>
        </p:txBody>
      </p:sp>
      <p:sp>
        <p:nvSpPr>
          <p:cNvPr id="2" name="矩形 1"/>
          <p:cNvSpPr/>
          <p:nvPr/>
        </p:nvSpPr>
        <p:spPr>
          <a:xfrm>
            <a:off x="3272505" y="3547858"/>
            <a:ext cx="646331" cy="369332"/>
          </a:xfrm>
          <a:prstGeom prst="rect">
            <a:avLst/>
          </a:prstGeom>
        </p:spPr>
        <p:txBody>
          <a:bodyPr wrap="none">
            <a:spAutoFit/>
          </a:bodyPr>
          <a:lstStyle/>
          <a:p>
            <a:r>
              <a:rPr lang="zh-CN" altLang="en-US" b="1" dirty="0"/>
              <a:t>由于</a:t>
            </a:r>
          </a:p>
        </p:txBody>
      </p:sp>
      <p:sp>
        <p:nvSpPr>
          <p:cNvPr id="3" name="矩形 2"/>
          <p:cNvSpPr/>
          <p:nvPr/>
        </p:nvSpPr>
        <p:spPr>
          <a:xfrm>
            <a:off x="1938021" y="206850"/>
            <a:ext cx="5078634" cy="461665"/>
          </a:xfrm>
          <a:prstGeom prst="rect">
            <a:avLst/>
          </a:prstGeom>
        </p:spPr>
        <p:txBody>
          <a:bodyPr wrap="none">
            <a:spAutoFit/>
          </a:bodyPr>
          <a:lstStyle/>
          <a:p>
            <a:r>
              <a:rPr lang="zh-CN" altLang="zh-CN" sz="2400" b="1" dirty="0">
                <a:solidFill>
                  <a:srgbClr val="FF0000"/>
                </a:solidFill>
                <a:latin typeface="Times New Roman" pitchFamily="18" charset="0"/>
                <a:cs typeface="Times New Roman" pitchFamily="18" charset="0"/>
                <a:sym typeface="Times New Roman" pitchFamily="18" charset="0"/>
              </a:rPr>
              <a:t>adaboost</a:t>
            </a:r>
            <a:r>
              <a:rPr lang="zh-CN" altLang="zh-CN" sz="2400" b="1" dirty="0">
                <a:solidFill>
                  <a:srgbClr val="FF0000"/>
                </a:solidFill>
                <a:latin typeface="宋体" pitchFamily="2" charset="-122"/>
                <a:sym typeface="宋体" pitchFamily="2" charset="-122"/>
              </a:rPr>
              <a:t>最终强分类器的错误率上限</a:t>
            </a:r>
            <a:endParaRPr lang="zh-CN" altLang="en-US" sz="2400" dirty="0">
              <a:solidFill>
                <a:srgbClr val="FF0000"/>
              </a:solidFill>
            </a:endParaRPr>
          </a:p>
        </p:txBody>
      </p:sp>
    </p:spTree>
    <p:extLst>
      <p:ext uri="{BB962C8B-B14F-4D97-AF65-F5344CB8AC3E}">
        <p14:creationId xmlns:p14="http://schemas.microsoft.com/office/powerpoint/2010/main" val="642534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ext Box 3"/>
          <p:cNvSpPr txBox="1">
            <a:spLocks noChangeArrowheads="1"/>
          </p:cNvSpPr>
          <p:nvPr/>
        </p:nvSpPr>
        <p:spPr bwMode="auto">
          <a:xfrm>
            <a:off x="1881158" y="1000109"/>
            <a:ext cx="8572560" cy="830997"/>
          </a:xfrm>
          <a:prstGeom prst="rect">
            <a:avLst/>
          </a:prstGeom>
          <a:noFill/>
          <a:ln w="9525">
            <a:noFill/>
            <a:miter lim="800000"/>
            <a:headEnd/>
            <a:tailEnd/>
          </a:ln>
          <a:effectLst/>
        </p:spPr>
        <p:txBody>
          <a:bodyPr wrap="square">
            <a:spAutoFit/>
          </a:bodyPr>
          <a:lstStyle/>
          <a:p>
            <a:r>
              <a:rPr lang="zh-CN" altLang="en-US" sz="2400" b="1" dirty="0">
                <a:latin typeface="宋体" pitchFamily="2" charset="-122"/>
                <a:ea typeface="宋体" pitchFamily="2" charset="-122"/>
              </a:rPr>
              <a:t>将上述公式整合成一个公式，如下：（h与y相等，乘积为1，不等，乘积为-1）</a:t>
            </a:r>
          </a:p>
        </p:txBody>
      </p:sp>
      <p:graphicFrame>
        <p:nvGraphicFramePr>
          <p:cNvPr id="312322" name="Object 2"/>
          <p:cNvGraphicFramePr>
            <a:graphicFrameLocks noChangeAspect="1"/>
          </p:cNvGraphicFramePr>
          <p:nvPr/>
        </p:nvGraphicFramePr>
        <p:xfrm>
          <a:off x="1881158" y="1928803"/>
          <a:ext cx="5899150" cy="930275"/>
        </p:xfrm>
        <a:graphic>
          <a:graphicData uri="http://schemas.openxmlformats.org/presentationml/2006/ole">
            <mc:AlternateContent xmlns:mc="http://schemas.openxmlformats.org/markup-compatibility/2006">
              <mc:Choice xmlns:v="urn:schemas-microsoft-com:vml" Requires="v">
                <p:oleObj spid="_x0000_s338412" name="公式" r:id="rId3" imgW="3238500" imgH="508000" progId="">
                  <p:embed/>
                </p:oleObj>
              </mc:Choice>
              <mc:Fallback>
                <p:oleObj name="公式" r:id="rId3" imgW="3238500" imgH="5080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1158" y="1928803"/>
                        <a:ext cx="5899150" cy="930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2323" name="Object 3"/>
          <p:cNvGraphicFramePr>
            <a:graphicFrameLocks noChangeAspect="1"/>
          </p:cNvGraphicFramePr>
          <p:nvPr/>
        </p:nvGraphicFramePr>
        <p:xfrm>
          <a:off x="7953389" y="1928802"/>
          <a:ext cx="2590499" cy="771524"/>
        </p:xfrm>
        <a:graphic>
          <a:graphicData uri="http://schemas.openxmlformats.org/presentationml/2006/ole">
            <mc:AlternateContent xmlns:mc="http://schemas.openxmlformats.org/markup-compatibility/2006">
              <mc:Choice xmlns:v="urn:schemas-microsoft-com:vml" Requires="v">
                <p:oleObj spid="_x0000_s338413" r:id="rId5" imgW="1537367" imgH="457399" progId="">
                  <p:embed/>
                </p:oleObj>
              </mc:Choice>
              <mc:Fallback>
                <p:oleObj r:id="rId5" imgW="1537367" imgH="457399"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53389" y="1928802"/>
                        <a:ext cx="2590499" cy="771524"/>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3"/>
          <p:cNvSpPr txBox="1">
            <a:spLocks noChangeArrowheads="1"/>
          </p:cNvSpPr>
          <p:nvPr/>
        </p:nvSpPr>
        <p:spPr bwMode="auto">
          <a:xfrm>
            <a:off x="1881158" y="3000373"/>
            <a:ext cx="8572560" cy="1200329"/>
          </a:xfrm>
          <a:prstGeom prst="rect">
            <a:avLst/>
          </a:prstGeom>
          <a:noFill/>
          <a:ln w="9525">
            <a:noFill/>
            <a:miter lim="800000"/>
            <a:headEnd/>
            <a:tailEnd/>
          </a:ln>
          <a:effectLst/>
        </p:spPr>
        <p:txBody>
          <a:bodyPr wrap="square">
            <a:spAutoFit/>
          </a:bodyPr>
          <a:lstStyle/>
          <a:p>
            <a:r>
              <a:rPr lang="zh-CN" altLang="en-US" sz="2400" b="1" dirty="0">
                <a:latin typeface="宋体" pitchFamily="2" charset="-122"/>
                <a:ea typeface="宋体" pitchFamily="2" charset="-122"/>
              </a:rPr>
              <a:t>如果         ，有              ，因此</a:t>
            </a:r>
            <a:endParaRPr lang="en-US" altLang="zh-CN" sz="2400" b="1" dirty="0">
              <a:latin typeface="宋体" pitchFamily="2" charset="-122"/>
              <a:ea typeface="宋体" pitchFamily="2" charset="-122"/>
            </a:endParaRPr>
          </a:p>
          <a:p>
            <a:endParaRPr lang="en-US" altLang="zh-CN" sz="2400" b="1" dirty="0">
              <a:latin typeface="宋体" pitchFamily="2" charset="-122"/>
              <a:ea typeface="宋体" pitchFamily="2" charset="-122"/>
            </a:endParaRPr>
          </a:p>
          <a:p>
            <a:r>
              <a:rPr lang="zh-CN" altLang="en-US" sz="2400" b="1" dirty="0">
                <a:latin typeface="宋体" pitchFamily="2" charset="-122"/>
                <a:ea typeface="宋体" pitchFamily="2" charset="-122"/>
              </a:rPr>
              <a:t>因此有：</a:t>
            </a:r>
          </a:p>
        </p:txBody>
      </p:sp>
      <p:graphicFrame>
        <p:nvGraphicFramePr>
          <p:cNvPr id="312324" name="Object 4"/>
          <p:cNvGraphicFramePr>
            <a:graphicFrameLocks noChangeAspect="1"/>
          </p:cNvGraphicFramePr>
          <p:nvPr/>
        </p:nvGraphicFramePr>
        <p:xfrm>
          <a:off x="2666977" y="3071810"/>
          <a:ext cx="1261187" cy="428628"/>
        </p:xfrm>
        <a:graphic>
          <a:graphicData uri="http://schemas.openxmlformats.org/presentationml/2006/ole">
            <mc:AlternateContent xmlns:mc="http://schemas.openxmlformats.org/markup-compatibility/2006">
              <mc:Choice xmlns:v="urn:schemas-microsoft-com:vml" Requires="v">
                <p:oleObj spid="_x0000_s338414" name="公式" r:id="rId7" imgW="672808" imgH="228501" progId="">
                  <p:embed/>
                </p:oleObj>
              </mc:Choice>
              <mc:Fallback>
                <p:oleObj name="公式" r:id="rId7" imgW="672808" imgH="228501"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66977" y="3071810"/>
                        <a:ext cx="1261187" cy="428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312325" name="Object 5"/>
          <p:cNvGraphicFramePr>
            <a:graphicFrameLocks noChangeAspect="1"/>
          </p:cNvGraphicFramePr>
          <p:nvPr/>
        </p:nvGraphicFramePr>
        <p:xfrm>
          <a:off x="4595803" y="2857496"/>
          <a:ext cx="2193925" cy="868362"/>
        </p:xfrm>
        <a:graphic>
          <a:graphicData uri="http://schemas.openxmlformats.org/presentationml/2006/ole">
            <mc:AlternateContent xmlns:mc="http://schemas.openxmlformats.org/markup-compatibility/2006">
              <mc:Choice xmlns:v="urn:schemas-microsoft-com:vml" Requires="v">
                <p:oleObj spid="_x0000_s338415" name="公式" r:id="rId9" imgW="1155700" imgH="457200" progId="">
                  <p:embed/>
                </p:oleObj>
              </mc:Choice>
              <mc:Fallback>
                <p:oleObj name="公式" r:id="rId9" imgW="1155700" imgH="457200"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95803" y="2857496"/>
                        <a:ext cx="2193925" cy="868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2326" name="Object 6"/>
          <p:cNvGraphicFramePr>
            <a:graphicFrameLocks noChangeAspect="1"/>
          </p:cNvGraphicFramePr>
          <p:nvPr/>
        </p:nvGraphicFramePr>
        <p:xfrm>
          <a:off x="7667636" y="3000373"/>
          <a:ext cx="2833688" cy="500063"/>
        </p:xfrm>
        <a:graphic>
          <a:graphicData uri="http://schemas.openxmlformats.org/presentationml/2006/ole">
            <mc:AlternateContent xmlns:mc="http://schemas.openxmlformats.org/markup-compatibility/2006">
              <mc:Choice xmlns:v="urn:schemas-microsoft-com:vml" Requires="v">
                <p:oleObj spid="_x0000_s338416" name="公式" r:id="rId11" imgW="1511300" imgH="266700" progId="">
                  <p:embed/>
                </p:oleObj>
              </mc:Choice>
              <mc:Fallback>
                <p:oleObj name="公式" r:id="rId11" imgW="1511300" imgH="266700" progId="">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667636" y="3000373"/>
                        <a:ext cx="2833688"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2327" name="Object 7"/>
          <p:cNvGraphicFramePr>
            <a:graphicFrameLocks noChangeAspect="1"/>
          </p:cNvGraphicFramePr>
          <p:nvPr/>
        </p:nvGraphicFramePr>
        <p:xfrm>
          <a:off x="3095605" y="3714753"/>
          <a:ext cx="4813173" cy="576269"/>
        </p:xfrm>
        <a:graphic>
          <a:graphicData uri="http://schemas.openxmlformats.org/presentationml/2006/ole">
            <mc:AlternateContent xmlns:mc="http://schemas.openxmlformats.org/markup-compatibility/2006">
              <mc:Choice xmlns:v="urn:schemas-microsoft-com:vml" Requires="v">
                <p:oleObj spid="_x0000_s338417" name="公式" r:id="rId13" imgW="2247900" imgH="266700" progId="">
                  <p:embed/>
                </p:oleObj>
              </mc:Choice>
              <mc:Fallback>
                <p:oleObj name="公式" r:id="rId13" imgW="2247900" imgH="266700" progId="">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95605" y="3714753"/>
                        <a:ext cx="4813173" cy="5762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2328" name="Object 8"/>
          <p:cNvGraphicFramePr>
            <a:graphicFrameLocks noChangeAspect="1"/>
          </p:cNvGraphicFramePr>
          <p:nvPr/>
        </p:nvGraphicFramePr>
        <p:xfrm>
          <a:off x="2095472" y="4357694"/>
          <a:ext cx="8027950" cy="857256"/>
        </p:xfrm>
        <a:graphic>
          <a:graphicData uri="http://schemas.openxmlformats.org/presentationml/2006/ole">
            <mc:AlternateContent xmlns:mc="http://schemas.openxmlformats.org/markup-compatibility/2006">
              <mc:Choice xmlns:v="urn:schemas-microsoft-com:vml" Requires="v">
                <p:oleObj spid="_x0000_s338418" name="公式" r:id="rId15" imgW="4572000" imgH="482600" progId="">
                  <p:embed/>
                </p:oleObj>
              </mc:Choice>
              <mc:Fallback>
                <p:oleObj name="公式" r:id="rId15" imgW="4572000" imgH="482600" progId="">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95472" y="4357694"/>
                        <a:ext cx="8027950" cy="857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灯片编号占位符 11"/>
          <p:cNvSpPr>
            <a:spLocks noGrp="1"/>
          </p:cNvSpPr>
          <p:nvPr>
            <p:ph type="sldNum" sz="quarter" idx="11"/>
          </p:nvPr>
        </p:nvSpPr>
        <p:spPr/>
        <p:txBody>
          <a:bodyPr/>
          <a:lstStyle/>
          <a:p>
            <a:pPr>
              <a:defRPr/>
            </a:pPr>
            <a:fld id="{31E287EE-1289-4991-82CE-EFE584F53F4F}" type="slidenum">
              <a:rPr lang="en-US" altLang="zh-CN" smtClean="0"/>
              <a:pPr>
                <a:defRPr/>
              </a:pPr>
              <a:t>50</a:t>
            </a:fld>
            <a:endParaRPr lang="en-US" altLang="zh-CN" dirty="0"/>
          </a:p>
        </p:txBody>
      </p:sp>
      <p:cxnSp>
        <p:nvCxnSpPr>
          <p:cNvPr id="15" name="直接箭头连接符 14"/>
          <p:cNvCxnSpPr/>
          <p:nvPr/>
        </p:nvCxnSpPr>
        <p:spPr>
          <a:xfrm flipV="1">
            <a:off x="5879976" y="2492896"/>
            <a:ext cx="3816424" cy="64807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938021" y="206850"/>
            <a:ext cx="5078634" cy="461665"/>
          </a:xfrm>
          <a:prstGeom prst="rect">
            <a:avLst/>
          </a:prstGeom>
        </p:spPr>
        <p:txBody>
          <a:bodyPr wrap="none">
            <a:spAutoFit/>
          </a:bodyPr>
          <a:lstStyle/>
          <a:p>
            <a:r>
              <a:rPr lang="zh-CN" altLang="zh-CN" sz="2400" b="1" dirty="0">
                <a:solidFill>
                  <a:srgbClr val="FF0000"/>
                </a:solidFill>
                <a:latin typeface="Times New Roman" pitchFamily="18" charset="0"/>
                <a:cs typeface="Times New Roman" pitchFamily="18" charset="0"/>
                <a:sym typeface="Times New Roman" pitchFamily="18" charset="0"/>
              </a:rPr>
              <a:t>adaboost</a:t>
            </a:r>
            <a:r>
              <a:rPr lang="zh-CN" altLang="zh-CN" sz="2400" b="1" dirty="0">
                <a:solidFill>
                  <a:srgbClr val="FF0000"/>
                </a:solidFill>
                <a:latin typeface="宋体" pitchFamily="2" charset="-122"/>
                <a:sym typeface="宋体" pitchFamily="2" charset="-122"/>
              </a:rPr>
              <a:t>最终强分类器的错误率上限</a:t>
            </a:r>
            <a:endParaRPr lang="zh-CN" altLang="en-US" sz="2400" dirty="0">
              <a:solidFill>
                <a:srgbClr val="FF0000"/>
              </a:solidFill>
            </a:endParaRPr>
          </a:p>
        </p:txBody>
      </p:sp>
    </p:spTree>
    <p:extLst>
      <p:ext uri="{BB962C8B-B14F-4D97-AF65-F5344CB8AC3E}">
        <p14:creationId xmlns:p14="http://schemas.microsoft.com/office/powerpoint/2010/main" val="40167625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4" name="Text Box 6"/>
          <p:cNvSpPr txBox="1">
            <a:spLocks noChangeArrowheads="1"/>
          </p:cNvSpPr>
          <p:nvPr/>
        </p:nvSpPr>
        <p:spPr bwMode="auto">
          <a:xfrm>
            <a:off x="3556000" y="3587750"/>
            <a:ext cx="5080000" cy="884238"/>
          </a:xfrm>
          <a:prstGeom prst="rect">
            <a:avLst/>
          </a:prstGeom>
          <a:noFill/>
          <a:ln w="9525">
            <a:noFill/>
            <a:miter lim="800000"/>
            <a:headEnd/>
            <a:tailEnd/>
          </a:ln>
        </p:spPr>
        <p:txBody>
          <a:bodyPr>
            <a:spAutoFit/>
          </a:bodyPr>
          <a:lstStyle/>
          <a:p>
            <a:endParaRPr lang="zh-CN" altLang="zh-CN" sz="2600" b="1">
              <a:latin typeface="宋体" pitchFamily="2" charset="-122"/>
              <a:sym typeface="宋体" pitchFamily="2" charset="-122"/>
            </a:endParaRPr>
          </a:p>
          <a:p>
            <a:endParaRPr lang="zh-CN" altLang="zh-CN" sz="2600"/>
          </a:p>
        </p:txBody>
      </p:sp>
      <p:grpSp>
        <p:nvGrpSpPr>
          <p:cNvPr id="2" name="组合 12"/>
          <p:cNvGrpSpPr/>
          <p:nvPr/>
        </p:nvGrpSpPr>
        <p:grpSpPr>
          <a:xfrm>
            <a:off x="2057400" y="907931"/>
            <a:ext cx="8396318" cy="2333835"/>
            <a:chOff x="533400" y="907930"/>
            <a:chExt cx="8396318" cy="2333835"/>
          </a:xfrm>
        </p:grpSpPr>
        <p:sp>
          <p:nvSpPr>
            <p:cNvPr id="37891" name="Text Box 3"/>
            <p:cNvSpPr txBox="1">
              <a:spLocks noChangeArrowheads="1"/>
            </p:cNvSpPr>
            <p:nvPr/>
          </p:nvSpPr>
          <p:spPr bwMode="auto">
            <a:xfrm>
              <a:off x="533400" y="933441"/>
              <a:ext cx="8001000" cy="2308324"/>
            </a:xfrm>
            <a:prstGeom prst="rect">
              <a:avLst/>
            </a:prstGeom>
            <a:noFill/>
            <a:ln w="9525">
              <a:noFill/>
              <a:miter lim="800000"/>
              <a:headEnd/>
              <a:tailEnd/>
            </a:ln>
          </p:spPr>
          <p:txBody>
            <a:bodyPr>
              <a:spAutoFit/>
            </a:bodyPr>
            <a:lstStyle/>
            <a:p>
              <a:pPr>
                <a:lnSpc>
                  <a:spcPct val="150000"/>
                </a:lnSpc>
              </a:pPr>
              <a:r>
                <a:rPr lang="zh-CN" altLang="en-US" sz="2400" b="1" dirty="0">
                  <a:latin typeface="宋体" pitchFamily="2" charset="-122"/>
                  <a:ea typeface="宋体" pitchFamily="2" charset="-122"/>
                  <a:sym typeface="宋体" pitchFamily="2" charset="-122"/>
                </a:rPr>
                <a:t>为了使得</a:t>
              </a:r>
              <a:r>
                <a:rPr lang="zh-CN" altLang="zh-CN" sz="2400" b="1" dirty="0">
                  <a:latin typeface="宋体" pitchFamily="2" charset="-122"/>
                  <a:ea typeface="宋体" pitchFamily="2" charset="-122"/>
                  <a:cs typeface="Times New Roman" pitchFamily="18" charset="0"/>
                  <a:sym typeface="Times New Roman" pitchFamily="18" charset="0"/>
                </a:rPr>
                <a:t>adaboost</a:t>
              </a:r>
              <a:r>
                <a:rPr lang="zh-CN" altLang="en-US" sz="2400" b="1" dirty="0">
                  <a:latin typeface="宋体" pitchFamily="2" charset="-122"/>
                  <a:ea typeface="宋体" pitchFamily="2" charset="-122"/>
                  <a:sym typeface="宋体" pitchFamily="2" charset="-122"/>
                </a:rPr>
                <a:t>算法精确，就要使错误率最小，就是使     最小，而</a:t>
              </a:r>
              <a:endParaRPr lang="zh-CN" altLang="en-US" sz="2400" dirty="0">
                <a:latin typeface="宋体" pitchFamily="2" charset="-122"/>
                <a:ea typeface="宋体" pitchFamily="2" charset="-122"/>
              </a:endParaRPr>
            </a:p>
            <a:p>
              <a:pPr>
                <a:lnSpc>
                  <a:spcPct val="150000"/>
                </a:lnSpc>
              </a:pPr>
              <a:endParaRPr lang="zh-CN" altLang="en-US" sz="2400" b="1" dirty="0">
                <a:latin typeface="宋体" pitchFamily="2" charset="-122"/>
                <a:ea typeface="宋体" pitchFamily="2" charset="-122"/>
                <a:sym typeface="宋体" pitchFamily="2" charset="-122"/>
              </a:endParaRPr>
            </a:p>
            <a:p>
              <a:pPr>
                <a:lnSpc>
                  <a:spcPct val="150000"/>
                </a:lnSpc>
              </a:pPr>
              <a:endParaRPr lang="zh-CN" altLang="en-US" sz="2400" b="1" dirty="0">
                <a:latin typeface="宋体" pitchFamily="2" charset="-122"/>
                <a:ea typeface="宋体" pitchFamily="2" charset="-122"/>
                <a:sym typeface="宋体" pitchFamily="2" charset="-122"/>
              </a:endParaRPr>
            </a:p>
          </p:txBody>
        </p:sp>
        <p:graphicFrame>
          <p:nvGraphicFramePr>
            <p:cNvPr id="37892" name="Object 4"/>
            <p:cNvGraphicFramePr>
              <a:graphicFrameLocks noChangeAspect="1"/>
            </p:cNvGraphicFramePr>
            <p:nvPr/>
          </p:nvGraphicFramePr>
          <p:xfrm>
            <a:off x="2439988" y="1785938"/>
            <a:ext cx="3405187" cy="806450"/>
          </p:xfrm>
          <a:graphic>
            <a:graphicData uri="http://schemas.openxmlformats.org/presentationml/2006/ole">
              <mc:AlternateContent xmlns:mc="http://schemas.openxmlformats.org/markup-compatibility/2006">
                <mc:Choice xmlns:v="urn:schemas-microsoft-com:vml" Requires="v">
                  <p:oleObj spid="_x0000_s339443" name="Equation" r:id="rId3" imgW="1816100" imgH="431800" progId="Equation.DSMT4">
                    <p:embed/>
                  </p:oleObj>
                </mc:Choice>
                <mc:Fallback>
                  <p:oleObj name="Equation" r:id="rId3" imgW="1816100" imgH="431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9988" y="1785938"/>
                          <a:ext cx="3405187" cy="806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3348" name="Object 4"/>
            <p:cNvGraphicFramePr>
              <a:graphicFrameLocks noChangeAspect="1"/>
            </p:cNvGraphicFramePr>
            <p:nvPr/>
          </p:nvGraphicFramePr>
          <p:xfrm>
            <a:off x="8278612" y="907930"/>
            <a:ext cx="651106" cy="735120"/>
          </p:xfrm>
          <a:graphic>
            <a:graphicData uri="http://schemas.openxmlformats.org/presentationml/2006/ole">
              <mc:AlternateContent xmlns:mc="http://schemas.openxmlformats.org/markup-compatibility/2006">
                <mc:Choice xmlns:v="urn:schemas-microsoft-com:vml" Requires="v">
                  <p:oleObj spid="_x0000_s339444" name="公式" r:id="rId5" imgW="393529" imgH="444307" progId="">
                    <p:embed/>
                  </p:oleObj>
                </mc:Choice>
                <mc:Fallback>
                  <p:oleObj name="公式" r:id="rId5" imgW="393529" imgH="444307"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8612" y="907930"/>
                          <a:ext cx="651106" cy="735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 name="组合 16"/>
          <p:cNvGrpSpPr/>
          <p:nvPr/>
        </p:nvGrpSpPr>
        <p:grpSpPr>
          <a:xfrm>
            <a:off x="2095472" y="2571744"/>
            <a:ext cx="8572528" cy="1754326"/>
            <a:chOff x="571472" y="2571744"/>
            <a:chExt cx="8151812" cy="1754326"/>
          </a:xfrm>
        </p:grpSpPr>
        <p:sp>
          <p:nvSpPr>
            <p:cNvPr id="37893" name="Text Box 5"/>
            <p:cNvSpPr txBox="1">
              <a:spLocks noChangeArrowheads="1"/>
            </p:cNvSpPr>
            <p:nvPr/>
          </p:nvSpPr>
          <p:spPr bwMode="auto">
            <a:xfrm>
              <a:off x="571472" y="2571744"/>
              <a:ext cx="8151812" cy="1754326"/>
            </a:xfrm>
            <a:prstGeom prst="rect">
              <a:avLst/>
            </a:prstGeom>
            <a:noFill/>
            <a:ln w="9525">
              <a:noFill/>
              <a:miter lim="800000"/>
              <a:headEnd/>
              <a:tailEnd/>
            </a:ln>
          </p:spPr>
          <p:txBody>
            <a:bodyPr>
              <a:spAutoFit/>
            </a:bodyPr>
            <a:lstStyle/>
            <a:p>
              <a:pPr>
                <a:lnSpc>
                  <a:spcPct val="150000"/>
                </a:lnSpc>
              </a:pPr>
              <a:r>
                <a:rPr lang="zh-CN" altLang="zh-CN" sz="2400" b="1" dirty="0">
                  <a:latin typeface="宋体" pitchFamily="2" charset="-122"/>
                  <a:sym typeface="宋体" pitchFamily="2" charset="-122"/>
                </a:rPr>
                <a:t> </a:t>
              </a:r>
              <a:r>
                <a:rPr lang="zh-CN" altLang="en-US" sz="2400" b="1" dirty="0">
                  <a:latin typeface="宋体" pitchFamily="2" charset="-122"/>
                  <a:sym typeface="宋体" pitchFamily="2" charset="-122"/>
                </a:rPr>
                <a:t>是      的函数，又因为</a:t>
              </a:r>
              <a:r>
                <a:rPr lang="zh-CN" altLang="zh-CN" sz="2400" b="1" dirty="0">
                  <a:latin typeface="Arial" pitchFamily="34" charset="0"/>
                  <a:sym typeface="宋体" pitchFamily="2" charset="-122"/>
                </a:rPr>
                <a:t>h</a:t>
              </a:r>
              <a:r>
                <a:rPr lang="zh-CN" altLang="en-US" sz="2400" b="1" dirty="0">
                  <a:latin typeface="Arial" pitchFamily="34" charset="0"/>
                  <a:sym typeface="宋体" pitchFamily="2" charset="-122"/>
                </a:rPr>
                <a:t>的值域是</a:t>
              </a:r>
              <a:r>
                <a:rPr lang="zh-CN" altLang="zh-CN" sz="2400" b="1" dirty="0">
                  <a:latin typeface="Arial" pitchFamily="34" charset="0"/>
                  <a:sym typeface="Times New Roman" pitchFamily="18" charset="0"/>
                </a:rPr>
                <a:t>{-1,1}</a:t>
              </a:r>
              <a:r>
                <a:rPr lang="zh-CN" altLang="en-US" sz="2400" b="1" dirty="0">
                  <a:latin typeface="Arial" pitchFamily="34" charset="0"/>
                  <a:sym typeface="宋体" pitchFamily="2" charset="-122"/>
                </a:rPr>
                <a:t>，所以只要求另一个参数使得</a:t>
              </a:r>
              <a:r>
                <a:rPr lang="en-US" altLang="zh-CN" sz="2400" b="1" dirty="0">
                  <a:latin typeface="Arial" pitchFamily="34" charset="0"/>
                  <a:sym typeface="宋体" pitchFamily="2" charset="-122"/>
                </a:rPr>
                <a:t>Z</a:t>
              </a:r>
              <a:r>
                <a:rPr lang="zh-CN" altLang="en-US" sz="2400" b="1" dirty="0">
                  <a:latin typeface="Arial" pitchFamily="34" charset="0"/>
                  <a:sym typeface="宋体" pitchFamily="2" charset="-122"/>
                </a:rPr>
                <a:t>最小。（在原始的</a:t>
              </a:r>
              <a:r>
                <a:rPr lang="zh-CN" altLang="zh-CN" sz="2400" b="1" dirty="0">
                  <a:latin typeface="Arial" pitchFamily="34" charset="0"/>
                  <a:sym typeface="Times New Roman" pitchFamily="18" charset="0"/>
                </a:rPr>
                <a:t>AdaBoost</a:t>
              </a:r>
              <a:r>
                <a:rPr lang="zh-CN" altLang="en-US" sz="2400" b="1" dirty="0">
                  <a:latin typeface="Arial" pitchFamily="34" charset="0"/>
                  <a:sym typeface="宋体" pitchFamily="2" charset="-122"/>
                </a:rPr>
                <a:t>算法中采用贪婪算法，每次的    都是最小的保证</a:t>
              </a:r>
              <a:r>
                <a:rPr lang="en-US" altLang="zh-CN" sz="2400" b="1" dirty="0">
                  <a:latin typeface="Arial" pitchFamily="34" charset="0"/>
                  <a:sym typeface="宋体" pitchFamily="2" charset="-122"/>
                </a:rPr>
                <a:t> </a:t>
              </a:r>
              <a:r>
                <a:rPr lang="zh-CN" altLang="en-US" sz="2400" b="1" dirty="0">
                  <a:latin typeface="Arial" pitchFamily="34" charset="0"/>
                  <a:sym typeface="宋体" pitchFamily="2" charset="-122"/>
                </a:rPr>
                <a:t>        收敛到满意的结果。）</a:t>
              </a:r>
            </a:p>
          </p:txBody>
        </p:sp>
        <p:graphicFrame>
          <p:nvGraphicFramePr>
            <p:cNvPr id="37895" name="Object 7"/>
            <p:cNvGraphicFramePr>
              <a:graphicFrameLocks noChangeAspect="1"/>
            </p:cNvGraphicFramePr>
            <p:nvPr/>
          </p:nvGraphicFramePr>
          <p:xfrm>
            <a:off x="1142976" y="2643182"/>
            <a:ext cx="915486" cy="500066"/>
          </p:xfrm>
          <a:graphic>
            <a:graphicData uri="http://schemas.openxmlformats.org/presentationml/2006/ole">
              <mc:AlternateContent xmlns:mc="http://schemas.openxmlformats.org/markup-compatibility/2006">
                <mc:Choice xmlns:v="urn:schemas-microsoft-com:vml" Requires="v">
                  <p:oleObj spid="_x0000_s339445" r:id="rId7" imgW="421111" imgH="229697" progId="">
                    <p:embed/>
                  </p:oleObj>
                </mc:Choice>
                <mc:Fallback>
                  <p:oleObj r:id="rId7" imgW="421111" imgH="229697"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2976" y="2643182"/>
                          <a:ext cx="915486" cy="5000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4"/>
            <p:cNvGraphicFramePr>
              <a:graphicFrameLocks noChangeAspect="1"/>
            </p:cNvGraphicFramePr>
            <p:nvPr/>
          </p:nvGraphicFramePr>
          <p:xfrm>
            <a:off x="3979018" y="3587750"/>
            <a:ext cx="651106" cy="735120"/>
          </p:xfrm>
          <a:graphic>
            <a:graphicData uri="http://schemas.openxmlformats.org/presentationml/2006/ole">
              <mc:AlternateContent xmlns:mc="http://schemas.openxmlformats.org/markup-compatibility/2006">
                <mc:Choice xmlns:v="urn:schemas-microsoft-com:vml" Requires="v">
                  <p:oleObj spid="_x0000_s339446" name="公式" r:id="rId9" imgW="393529" imgH="444307" progId="">
                    <p:embed/>
                  </p:oleObj>
                </mc:Choice>
                <mc:Fallback>
                  <p:oleObj name="公式" r:id="rId9" imgW="393529" imgH="444307"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79018" y="3587750"/>
                          <a:ext cx="651106" cy="735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4"/>
            <p:cNvGraphicFramePr>
              <a:graphicFrameLocks noChangeAspect="1"/>
            </p:cNvGraphicFramePr>
            <p:nvPr/>
          </p:nvGraphicFramePr>
          <p:xfrm>
            <a:off x="1568229" y="3840163"/>
            <a:ext cx="293688" cy="379412"/>
          </p:xfrm>
          <a:graphic>
            <a:graphicData uri="http://schemas.openxmlformats.org/presentationml/2006/ole">
              <mc:AlternateContent xmlns:mc="http://schemas.openxmlformats.org/markup-compatibility/2006">
                <mc:Choice xmlns:v="urn:schemas-microsoft-com:vml" Requires="v">
                  <p:oleObj spid="_x0000_s339447" name="公式" r:id="rId10" imgW="177646" imgH="228402" progId="">
                    <p:embed/>
                  </p:oleObj>
                </mc:Choice>
                <mc:Fallback>
                  <p:oleObj name="公式" r:id="rId10" imgW="177646" imgH="228402" progId="">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68229" y="3840163"/>
                          <a:ext cx="293688" cy="379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 name="组合 20"/>
          <p:cNvGrpSpPr/>
          <p:nvPr/>
        </p:nvGrpSpPr>
        <p:grpSpPr>
          <a:xfrm>
            <a:off x="2095473" y="4357694"/>
            <a:ext cx="7680325" cy="1938992"/>
            <a:chOff x="571472" y="4357694"/>
            <a:chExt cx="7680325" cy="1938992"/>
          </a:xfrm>
        </p:grpSpPr>
        <p:grpSp>
          <p:nvGrpSpPr>
            <p:cNvPr id="5" name="组合 18"/>
            <p:cNvGrpSpPr/>
            <p:nvPr/>
          </p:nvGrpSpPr>
          <p:grpSpPr>
            <a:xfrm>
              <a:off x="571472" y="4357694"/>
              <a:ext cx="7680325" cy="1938992"/>
              <a:chOff x="571472" y="4357694"/>
              <a:chExt cx="7680325" cy="1938992"/>
            </a:xfrm>
          </p:grpSpPr>
          <p:sp>
            <p:nvSpPr>
              <p:cNvPr id="37897" name="Text Box 9"/>
              <p:cNvSpPr txBox="1">
                <a:spLocks noChangeArrowheads="1"/>
              </p:cNvSpPr>
              <p:nvPr/>
            </p:nvSpPr>
            <p:spPr bwMode="auto">
              <a:xfrm>
                <a:off x="571472" y="4357694"/>
                <a:ext cx="7680325" cy="1938992"/>
              </a:xfrm>
              <a:prstGeom prst="rect">
                <a:avLst/>
              </a:prstGeom>
              <a:noFill/>
              <a:ln w="9525">
                <a:noFill/>
                <a:miter lim="800000"/>
                <a:headEnd/>
                <a:tailEnd/>
              </a:ln>
              <a:effectLst/>
            </p:spPr>
            <p:txBody>
              <a:bodyPr>
                <a:spAutoFit/>
              </a:bodyPr>
              <a:lstStyle/>
              <a:p>
                <a:r>
                  <a:rPr lang="zh-CN" altLang="en-US" sz="2400" dirty="0"/>
                  <a:t>求</a:t>
                </a:r>
                <a:r>
                  <a:rPr lang="en-US" altLang="zh-CN" sz="2400" dirty="0"/>
                  <a:t>      </a:t>
                </a:r>
                <a:r>
                  <a:rPr lang="zh-CN" altLang="en-US" sz="2400" dirty="0"/>
                  <a:t>偏导数，令其为</a:t>
                </a:r>
                <a:r>
                  <a:rPr lang="zh-CN" altLang="zh-CN" sz="2400" dirty="0"/>
                  <a:t>0</a:t>
                </a:r>
                <a:r>
                  <a:rPr lang="zh-CN" altLang="en-US" sz="2400" dirty="0"/>
                  <a:t>。</a:t>
                </a:r>
                <a:endParaRPr lang="en-US" altLang="zh-CN" sz="2400" dirty="0"/>
              </a:p>
              <a:p>
                <a:endParaRPr lang="zh-CN" altLang="en-US" sz="2400" dirty="0"/>
              </a:p>
              <a:p>
                <a:endParaRPr lang="zh-CN" altLang="en-US" sz="2400" dirty="0"/>
              </a:p>
              <a:p>
                <a:endParaRPr lang="en-US" altLang="zh-CN" sz="2400" dirty="0"/>
              </a:p>
              <a:p>
                <a:r>
                  <a:rPr lang="zh-CN" altLang="en-US" sz="2400" dirty="0"/>
                  <a:t>其中设</a:t>
                </a:r>
                <a:r>
                  <a:rPr lang="zh-CN" altLang="zh-CN" sz="2400" dirty="0"/>
                  <a:t>A</a:t>
                </a:r>
                <a:r>
                  <a:rPr lang="zh-CN" altLang="en-US" sz="2400" dirty="0"/>
                  <a:t>是</a:t>
                </a:r>
                <a:r>
                  <a:rPr lang="zh-CN" altLang="zh-CN" sz="2400" dirty="0"/>
                  <a:t>h=y </a:t>
                </a:r>
                <a:r>
                  <a:rPr lang="zh-CN" altLang="en-US" sz="2400" dirty="0"/>
                  <a:t>的集合，就有以下式子：</a:t>
                </a:r>
                <a:endParaRPr lang="zh-CN" altLang="en-US" sz="2400" dirty="0">
                  <a:latin typeface="Arial" pitchFamily="34" charset="0"/>
                </a:endParaRPr>
              </a:p>
            </p:txBody>
          </p:sp>
          <p:graphicFrame>
            <p:nvGraphicFramePr>
              <p:cNvPr id="18" name="Object 4"/>
              <p:cNvGraphicFramePr>
                <a:graphicFrameLocks noChangeAspect="1"/>
              </p:cNvGraphicFramePr>
              <p:nvPr/>
            </p:nvGraphicFramePr>
            <p:xfrm>
              <a:off x="1071538" y="4357694"/>
              <a:ext cx="357190" cy="461449"/>
            </p:xfrm>
            <a:graphic>
              <a:graphicData uri="http://schemas.openxmlformats.org/presentationml/2006/ole">
                <mc:AlternateContent xmlns:mc="http://schemas.openxmlformats.org/markup-compatibility/2006">
                  <mc:Choice xmlns:v="urn:schemas-microsoft-com:vml" Requires="v">
                    <p:oleObj spid="_x0000_s339448" name="公式" r:id="rId12" imgW="177646" imgH="228402" progId="">
                      <p:embed/>
                    </p:oleObj>
                  </mc:Choice>
                  <mc:Fallback>
                    <p:oleObj name="公式" r:id="rId12" imgW="177646" imgH="228402" progId="">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71538" y="4357694"/>
                            <a:ext cx="357190" cy="461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0" name="Object 4"/>
            <p:cNvGraphicFramePr>
              <a:graphicFrameLocks noChangeAspect="1"/>
            </p:cNvGraphicFramePr>
            <p:nvPr/>
          </p:nvGraphicFramePr>
          <p:xfrm>
            <a:off x="2357422" y="4857760"/>
            <a:ext cx="4595809" cy="798640"/>
          </p:xfrm>
          <a:graphic>
            <a:graphicData uri="http://schemas.openxmlformats.org/presentationml/2006/ole">
              <mc:AlternateContent xmlns:mc="http://schemas.openxmlformats.org/markup-compatibility/2006">
                <mc:Choice xmlns:v="urn:schemas-microsoft-com:vml" Requires="v">
                  <p:oleObj spid="_x0000_s339449" name="公式" r:id="rId13" imgW="2501900" imgH="431800" progId="">
                    <p:embed/>
                  </p:oleObj>
                </mc:Choice>
                <mc:Fallback>
                  <p:oleObj name="公式" r:id="rId13" imgW="2501900" imgH="431800" progId="">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57422" y="4857760"/>
                          <a:ext cx="4595809" cy="798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9" name="灯片编号占位符 18"/>
          <p:cNvSpPr>
            <a:spLocks noGrp="1"/>
          </p:cNvSpPr>
          <p:nvPr>
            <p:ph type="sldNum" sz="quarter" idx="11"/>
          </p:nvPr>
        </p:nvSpPr>
        <p:spPr/>
        <p:txBody>
          <a:bodyPr/>
          <a:lstStyle/>
          <a:p>
            <a:pPr>
              <a:defRPr/>
            </a:pPr>
            <a:fld id="{31E287EE-1289-4991-82CE-EFE584F53F4F}" type="slidenum">
              <a:rPr lang="en-US" altLang="zh-CN" smtClean="0"/>
              <a:pPr>
                <a:defRPr/>
              </a:pPr>
              <a:t>51</a:t>
            </a:fld>
            <a:endParaRPr lang="en-US" altLang="zh-CN" dirty="0"/>
          </a:p>
        </p:txBody>
      </p:sp>
      <p:sp>
        <p:nvSpPr>
          <p:cNvPr id="21" name="矩形 20"/>
          <p:cNvSpPr/>
          <p:nvPr/>
        </p:nvSpPr>
        <p:spPr>
          <a:xfrm>
            <a:off x="8688289" y="370861"/>
            <a:ext cx="649537" cy="369332"/>
          </a:xfrm>
          <a:prstGeom prst="rect">
            <a:avLst/>
          </a:prstGeom>
          <a:ln>
            <a:solidFill>
              <a:srgbClr val="FF0000"/>
            </a:solidFill>
          </a:ln>
        </p:spPr>
        <p:txBody>
          <a:bodyPr wrap="none">
            <a:spAutoFit/>
          </a:bodyPr>
          <a:lstStyle/>
          <a:p>
            <a:r>
              <a:rPr lang="zh-CN" altLang="en-US" b="1" dirty="0">
                <a:solidFill>
                  <a:srgbClr val="FF0000"/>
                </a:solidFill>
                <a:latin typeface="宋体" pitchFamily="2" charset="-122"/>
                <a:sym typeface="宋体" pitchFamily="2" charset="-122"/>
              </a:rPr>
              <a:t>自习</a:t>
            </a:r>
            <a:endParaRPr lang="zh-CN" altLang="en-US" dirty="0"/>
          </a:p>
        </p:txBody>
      </p:sp>
      <p:sp>
        <p:nvSpPr>
          <p:cNvPr id="22" name="矩形 21"/>
          <p:cNvSpPr/>
          <p:nvPr/>
        </p:nvSpPr>
        <p:spPr>
          <a:xfrm>
            <a:off x="1938021" y="206850"/>
            <a:ext cx="5078634" cy="461665"/>
          </a:xfrm>
          <a:prstGeom prst="rect">
            <a:avLst/>
          </a:prstGeom>
        </p:spPr>
        <p:txBody>
          <a:bodyPr wrap="none">
            <a:spAutoFit/>
          </a:bodyPr>
          <a:lstStyle/>
          <a:p>
            <a:r>
              <a:rPr lang="zh-CN" altLang="zh-CN" sz="2400" b="1" dirty="0">
                <a:solidFill>
                  <a:srgbClr val="FF0000"/>
                </a:solidFill>
                <a:latin typeface="Times New Roman" pitchFamily="18" charset="0"/>
                <a:cs typeface="Times New Roman" pitchFamily="18" charset="0"/>
                <a:sym typeface="Times New Roman" pitchFamily="18" charset="0"/>
              </a:rPr>
              <a:t>adaboost</a:t>
            </a:r>
            <a:r>
              <a:rPr lang="zh-CN" altLang="zh-CN" sz="2400" b="1" dirty="0">
                <a:solidFill>
                  <a:srgbClr val="FF0000"/>
                </a:solidFill>
                <a:latin typeface="宋体" pitchFamily="2" charset="-122"/>
                <a:sym typeface="宋体" pitchFamily="2" charset="-122"/>
              </a:rPr>
              <a:t>最终强分类器的错误率上限</a:t>
            </a:r>
            <a:endParaRPr lang="zh-CN" altLang="en-US" sz="2400" dirty="0">
              <a:solidFill>
                <a:srgbClr val="FF0000"/>
              </a:solidFill>
            </a:endParaRPr>
          </a:p>
        </p:txBody>
      </p:sp>
    </p:spTree>
    <p:extLst>
      <p:ext uri="{BB962C8B-B14F-4D97-AF65-F5344CB8AC3E}">
        <p14:creationId xmlns:p14="http://schemas.microsoft.com/office/powerpoint/2010/main" val="35217475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Grp="1" noChangeAspect="1" noChangeArrowheads="1"/>
          </p:cNvPicPr>
          <p:nvPr>
            <p:ph idx="1"/>
          </p:nvPr>
        </p:nvPicPr>
        <p:blipFill>
          <a:blip r:embed="rId3" cstate="print"/>
          <a:srcRect/>
          <a:stretch>
            <a:fillRect/>
          </a:stretch>
        </p:blipFill>
        <p:spPr>
          <a:xfrm>
            <a:off x="1952596" y="1571612"/>
            <a:ext cx="8174038" cy="4951412"/>
          </a:xfrm>
          <a:noFill/>
          <a:ln/>
        </p:spPr>
      </p:pic>
      <p:graphicFrame>
        <p:nvGraphicFramePr>
          <p:cNvPr id="3" name="Object 4"/>
          <p:cNvGraphicFramePr>
            <a:graphicFrameLocks noChangeAspect="1"/>
          </p:cNvGraphicFramePr>
          <p:nvPr/>
        </p:nvGraphicFramePr>
        <p:xfrm>
          <a:off x="3667109" y="214290"/>
          <a:ext cx="4595809" cy="798640"/>
        </p:xfrm>
        <a:graphic>
          <a:graphicData uri="http://schemas.openxmlformats.org/presentationml/2006/ole">
            <mc:AlternateContent xmlns:mc="http://schemas.openxmlformats.org/markup-compatibility/2006">
              <mc:Choice xmlns:v="urn:schemas-microsoft-com:vml" Requires="v">
                <p:oleObj spid="_x0000_s340040" name="公式" r:id="rId4" imgW="2501900" imgH="431800" progId="">
                  <p:embed/>
                </p:oleObj>
              </mc:Choice>
              <mc:Fallback>
                <p:oleObj name="公式" r:id="rId4" imgW="2501900" imgH="43180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67109" y="214290"/>
                        <a:ext cx="4595809" cy="798640"/>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矩形 3"/>
          <p:cNvSpPr/>
          <p:nvPr/>
        </p:nvSpPr>
        <p:spPr>
          <a:xfrm>
            <a:off x="2309786" y="1000109"/>
            <a:ext cx="6286544" cy="461665"/>
          </a:xfrm>
          <a:prstGeom prst="rect">
            <a:avLst/>
          </a:prstGeom>
        </p:spPr>
        <p:txBody>
          <a:bodyPr wrap="square">
            <a:spAutoFit/>
          </a:bodyPr>
          <a:lstStyle/>
          <a:p>
            <a:r>
              <a:rPr lang="zh-CN" altLang="en-US" sz="2400" dirty="0"/>
              <a:t>因为，如果</a:t>
            </a:r>
            <a:r>
              <a:rPr lang="en-US" altLang="zh-CN" sz="2400" dirty="0"/>
              <a:t>y=h</a:t>
            </a:r>
            <a:r>
              <a:rPr lang="zh-CN" altLang="en-US" sz="2400" dirty="0"/>
              <a:t>，</a:t>
            </a:r>
            <a:r>
              <a:rPr lang="en-US" altLang="zh-CN" sz="2400" dirty="0" err="1"/>
              <a:t>yh</a:t>
            </a:r>
            <a:r>
              <a:rPr lang="en-US" altLang="zh-CN" sz="2400" dirty="0"/>
              <a:t>=1</a:t>
            </a:r>
            <a:r>
              <a:rPr lang="zh-CN" altLang="en-US" sz="2400" dirty="0"/>
              <a:t>，否则</a:t>
            </a:r>
            <a:r>
              <a:rPr lang="en-US" altLang="zh-CN" sz="2400" dirty="0" err="1"/>
              <a:t>yh</a:t>
            </a:r>
            <a:r>
              <a:rPr lang="en-US" altLang="zh-CN" sz="2400" dirty="0"/>
              <a:t>=-1</a:t>
            </a:r>
            <a:endParaRPr lang="zh-CN" altLang="en-US" sz="2400" dirty="0"/>
          </a:p>
        </p:txBody>
      </p:sp>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52</a:t>
            </a:fld>
            <a:endParaRPr lang="en-US" altLang="zh-CN" dirty="0"/>
          </a:p>
        </p:txBody>
      </p:sp>
      <p:cxnSp>
        <p:nvCxnSpPr>
          <p:cNvPr id="7" name="直接箭头连接符 6"/>
          <p:cNvCxnSpPr/>
          <p:nvPr/>
        </p:nvCxnSpPr>
        <p:spPr>
          <a:xfrm flipH="1">
            <a:off x="3575720" y="1268760"/>
            <a:ext cx="504056" cy="93610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5951984" y="1412776"/>
            <a:ext cx="0" cy="72008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8688289" y="370861"/>
            <a:ext cx="649537" cy="369332"/>
          </a:xfrm>
          <a:prstGeom prst="rect">
            <a:avLst/>
          </a:prstGeom>
          <a:ln>
            <a:solidFill>
              <a:srgbClr val="FF0000"/>
            </a:solidFill>
          </a:ln>
        </p:spPr>
        <p:txBody>
          <a:bodyPr wrap="none">
            <a:spAutoFit/>
          </a:bodyPr>
          <a:lstStyle/>
          <a:p>
            <a:r>
              <a:rPr lang="zh-CN" altLang="en-US" b="1" dirty="0">
                <a:solidFill>
                  <a:srgbClr val="FF0000"/>
                </a:solidFill>
                <a:latin typeface="宋体" pitchFamily="2" charset="-122"/>
                <a:sym typeface="宋体" pitchFamily="2" charset="-122"/>
              </a:rPr>
              <a:t>自习</a:t>
            </a:r>
            <a:endParaRPr lang="zh-CN" altLang="en-US" dirty="0"/>
          </a:p>
        </p:txBody>
      </p:sp>
    </p:spTree>
    <p:extLst>
      <p:ext uri="{BB962C8B-B14F-4D97-AF65-F5344CB8AC3E}">
        <p14:creationId xmlns:p14="http://schemas.microsoft.com/office/powerpoint/2010/main" val="30736005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53</a:t>
            </a:fld>
            <a:endParaRPr lang="en-US" altLang="zh-CN" dirty="0"/>
          </a:p>
        </p:txBody>
      </p:sp>
      <p:grpSp>
        <p:nvGrpSpPr>
          <p:cNvPr id="24" name="组合 23"/>
          <p:cNvGrpSpPr/>
          <p:nvPr/>
        </p:nvGrpSpPr>
        <p:grpSpPr>
          <a:xfrm>
            <a:off x="2641848" y="180804"/>
            <a:ext cx="7772400" cy="4307997"/>
            <a:chOff x="690184" y="784672"/>
            <a:chExt cx="7772400" cy="4307997"/>
          </a:xfrm>
          <a:solidFill>
            <a:schemeClr val="bg1"/>
          </a:solidFill>
        </p:grpSpPr>
        <p:graphicFrame>
          <p:nvGraphicFramePr>
            <p:cNvPr id="320515" name="Object 3"/>
            <p:cNvGraphicFramePr>
              <a:graphicFrameLocks noChangeAspect="1"/>
            </p:cNvGraphicFramePr>
            <p:nvPr/>
          </p:nvGraphicFramePr>
          <p:xfrm>
            <a:off x="5780088" y="1772816"/>
            <a:ext cx="2363812" cy="892746"/>
          </p:xfrm>
          <a:graphic>
            <a:graphicData uri="http://schemas.openxmlformats.org/presentationml/2006/ole">
              <mc:AlternateContent xmlns:mc="http://schemas.openxmlformats.org/markup-compatibility/2006">
                <mc:Choice xmlns:v="urn:schemas-microsoft-com:vml" Requires="v">
                  <p:oleObj spid="_x0000_s365260" name="公式" r:id="rId3" imgW="1079500" imgH="457200" progId="">
                    <p:embed/>
                  </p:oleObj>
                </mc:Choice>
                <mc:Fallback>
                  <p:oleObj name="公式" r:id="rId3" imgW="1079500" imgH="4572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0088" y="1772816"/>
                          <a:ext cx="2363812" cy="8927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 name="组合 8"/>
            <p:cNvGrpSpPr/>
            <p:nvPr/>
          </p:nvGrpSpPr>
          <p:grpSpPr>
            <a:xfrm>
              <a:off x="690184" y="784672"/>
              <a:ext cx="7772400" cy="4307997"/>
              <a:chOff x="690184" y="784672"/>
              <a:chExt cx="7772400" cy="4307997"/>
            </a:xfrm>
            <a:grpFill/>
          </p:grpSpPr>
          <p:sp>
            <p:nvSpPr>
              <p:cNvPr id="5" name="Rectangle 8"/>
              <p:cNvSpPr txBox="1">
                <a:spLocks noChangeArrowheads="1"/>
              </p:cNvSpPr>
              <p:nvPr/>
            </p:nvSpPr>
            <p:spPr bwMode="gray">
              <a:xfrm>
                <a:off x="690184" y="977869"/>
                <a:ext cx="7772400" cy="411480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0" hangingPunct="0">
                  <a:lnSpc>
                    <a:spcPct val="90000"/>
                  </a:lnSpc>
                  <a:spcBef>
                    <a:spcPct val="20000"/>
                  </a:spcBef>
                  <a:buClr>
                    <a:schemeClr val="tx2"/>
                  </a:buClr>
                  <a:defRPr/>
                </a:pPr>
                <a:r>
                  <a:rPr lang="zh-CN" altLang="en-US" sz="2400" kern="0" dirty="0">
                    <a:latin typeface="+mn-lt"/>
                  </a:rPr>
                  <a:t>将                    </a:t>
                </a:r>
                <a:r>
                  <a:rPr lang="en-US" altLang="zh-CN" sz="2400" kern="0" dirty="0">
                    <a:latin typeface="+mn-lt"/>
                  </a:rPr>
                  <a:t>;</a:t>
                </a:r>
                <a:endParaRPr lang="en-US" altLang="zh-CN" sz="2400" kern="0" baseline="-25000" dirty="0">
                  <a:latin typeface="+mn-lt"/>
                </a:endParaRPr>
              </a:p>
              <a:p>
                <a:pPr marL="342900" indent="-342900" eaLnBrk="0" hangingPunct="0">
                  <a:lnSpc>
                    <a:spcPct val="90000"/>
                  </a:lnSpc>
                  <a:spcBef>
                    <a:spcPct val="20000"/>
                  </a:spcBef>
                  <a:buClr>
                    <a:schemeClr val="tx2"/>
                  </a:buClr>
                  <a:defRPr/>
                </a:pPr>
                <a:r>
                  <a:rPr lang="en-US" altLang="zh-CN" sz="2400" kern="0" dirty="0">
                    <a:latin typeface="+mn-lt"/>
                  </a:rPr>
                  <a:t>Freund and </a:t>
                </a:r>
                <a:r>
                  <a:rPr lang="en-US" altLang="zh-CN" sz="2400" kern="0" dirty="0" err="1">
                    <a:latin typeface="+mn-lt"/>
                  </a:rPr>
                  <a:t>Schapire</a:t>
                </a:r>
                <a:r>
                  <a:rPr lang="en-US" altLang="zh-CN" sz="2400" kern="0" dirty="0">
                    <a:latin typeface="+mn-lt"/>
                  </a:rPr>
                  <a:t> </a:t>
                </a:r>
                <a:r>
                  <a:rPr lang="zh-CN" altLang="en-US" sz="2400" kern="0" dirty="0">
                    <a:latin typeface="+mn-lt"/>
                  </a:rPr>
                  <a:t>证明了最大错误率为</a:t>
                </a:r>
                <a:r>
                  <a:rPr lang="en-US" altLang="zh-CN" sz="2400" kern="0" dirty="0">
                    <a:latin typeface="+mn-lt"/>
                  </a:rPr>
                  <a:t>:</a:t>
                </a:r>
              </a:p>
              <a:p>
                <a:pPr marL="342900" indent="-342900" eaLnBrk="0" hangingPunct="0">
                  <a:lnSpc>
                    <a:spcPct val="90000"/>
                  </a:lnSpc>
                  <a:spcBef>
                    <a:spcPct val="20000"/>
                  </a:spcBef>
                  <a:buClr>
                    <a:schemeClr val="tx2"/>
                  </a:buClr>
                  <a:buFont typeface="Wingdings" pitchFamily="2" charset="2"/>
                  <a:buChar char="v"/>
                  <a:defRPr/>
                </a:pPr>
                <a:endParaRPr lang="en-US" altLang="zh-CN" sz="2400" kern="0" dirty="0">
                  <a:latin typeface="+mn-lt"/>
                </a:endParaRPr>
              </a:p>
              <a:p>
                <a:pPr marL="342900" indent="-342900" eaLnBrk="0" hangingPunct="0">
                  <a:lnSpc>
                    <a:spcPct val="90000"/>
                  </a:lnSpc>
                  <a:spcBef>
                    <a:spcPct val="20000"/>
                  </a:spcBef>
                  <a:buClr>
                    <a:schemeClr val="tx2"/>
                  </a:buClr>
                  <a:buFont typeface="Wingdings" pitchFamily="2" charset="2"/>
                  <a:buChar char="v"/>
                  <a:defRPr/>
                </a:pPr>
                <a:endParaRPr lang="en-US" altLang="zh-CN" sz="2400" kern="0" dirty="0">
                  <a:latin typeface="+mn-lt"/>
                </a:endParaRPr>
              </a:p>
              <a:p>
                <a:pPr marL="342900" indent="-342900" eaLnBrk="0" hangingPunct="0">
                  <a:lnSpc>
                    <a:spcPct val="90000"/>
                  </a:lnSpc>
                  <a:spcBef>
                    <a:spcPct val="20000"/>
                  </a:spcBef>
                  <a:buClr>
                    <a:schemeClr val="tx2"/>
                  </a:buClr>
                  <a:defRPr/>
                </a:pPr>
                <a:r>
                  <a:rPr lang="zh-CN" altLang="en-US" sz="2400" kern="0" dirty="0">
                    <a:latin typeface="+mn-lt"/>
                  </a:rPr>
                  <a:t>即</a:t>
                </a:r>
                <a:r>
                  <a:rPr lang="zh-CN" altLang="en-US" sz="2400" kern="0" dirty="0">
                    <a:solidFill>
                      <a:srgbClr val="FF0000"/>
                    </a:solidFill>
                    <a:latin typeface="+mn-lt"/>
                  </a:rPr>
                  <a:t>训练错误率随     的增大呈指数级的减小</a:t>
                </a:r>
                <a:r>
                  <a:rPr lang="zh-CN" altLang="en-US" sz="2400" kern="0" dirty="0">
                    <a:latin typeface="+mn-lt"/>
                  </a:rPr>
                  <a:t>。</a:t>
                </a:r>
                <a:endParaRPr lang="en-US" altLang="zh-CN" sz="2400" kern="0" dirty="0">
                  <a:latin typeface="+mn-lt"/>
                </a:endParaRPr>
              </a:p>
            </p:txBody>
          </p:sp>
          <p:graphicFrame>
            <p:nvGraphicFramePr>
              <p:cNvPr id="320516" name="Object 4"/>
              <p:cNvGraphicFramePr>
                <a:graphicFrameLocks noChangeAspect="1"/>
              </p:cNvGraphicFramePr>
              <p:nvPr/>
            </p:nvGraphicFramePr>
            <p:xfrm>
              <a:off x="1187624" y="784672"/>
              <a:ext cx="1376362" cy="731837"/>
            </p:xfrm>
            <a:graphic>
              <a:graphicData uri="http://schemas.openxmlformats.org/presentationml/2006/ole">
                <mc:AlternateContent xmlns:mc="http://schemas.openxmlformats.org/markup-compatibility/2006">
                  <mc:Choice xmlns:v="urn:schemas-microsoft-com:vml" Requires="v">
                    <p:oleObj spid="_x0000_s365261" name="公式" r:id="rId5" imgW="660113" imgH="393529" progId="">
                      <p:embed/>
                    </p:oleObj>
                  </mc:Choice>
                  <mc:Fallback>
                    <p:oleObj name="公式" r:id="rId5" imgW="660113" imgH="393529"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624" y="784672"/>
                            <a:ext cx="1376362" cy="731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0517" name="Object 5"/>
              <p:cNvGraphicFramePr>
                <a:graphicFrameLocks noChangeAspect="1"/>
              </p:cNvGraphicFramePr>
              <p:nvPr/>
            </p:nvGraphicFramePr>
            <p:xfrm>
              <a:off x="2987824" y="2636912"/>
              <a:ext cx="317500" cy="425450"/>
            </p:xfrm>
            <a:graphic>
              <a:graphicData uri="http://schemas.openxmlformats.org/presentationml/2006/ole">
                <mc:AlternateContent xmlns:mc="http://schemas.openxmlformats.org/markup-compatibility/2006">
                  <mc:Choice xmlns:v="urn:schemas-microsoft-com:vml" Requires="v">
                    <p:oleObj spid="_x0000_s365262" name="公式" r:id="rId7" imgW="152334" imgH="228501" progId="">
                      <p:embed/>
                    </p:oleObj>
                  </mc:Choice>
                  <mc:Fallback>
                    <p:oleObj name="公式" r:id="rId7" imgW="152334" imgH="228501"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87824" y="2636912"/>
                            <a:ext cx="317500" cy="425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20514" name="Object 2"/>
            <p:cNvGraphicFramePr>
              <a:graphicFrameLocks noChangeAspect="1"/>
            </p:cNvGraphicFramePr>
            <p:nvPr/>
          </p:nvGraphicFramePr>
          <p:xfrm>
            <a:off x="857224" y="1883935"/>
            <a:ext cx="4959350" cy="674688"/>
          </p:xfrm>
          <a:graphic>
            <a:graphicData uri="http://schemas.openxmlformats.org/presentationml/2006/ole">
              <mc:AlternateContent xmlns:mc="http://schemas.openxmlformats.org/markup-compatibility/2006">
                <mc:Choice xmlns:v="urn:schemas-microsoft-com:vml" Requires="v">
                  <p:oleObj spid="_x0000_s365263" name="公式" r:id="rId9" imgW="2234230" imgH="304668" progId="">
                    <p:embed/>
                  </p:oleObj>
                </mc:Choice>
                <mc:Fallback>
                  <p:oleObj name="公式" r:id="rId9" imgW="2234230" imgH="304668"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57224" y="1883935"/>
                          <a:ext cx="4959350" cy="674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 name="组合 1"/>
          <p:cNvGrpSpPr/>
          <p:nvPr/>
        </p:nvGrpSpPr>
        <p:grpSpPr>
          <a:xfrm>
            <a:off x="1932020" y="2248317"/>
            <a:ext cx="8161312" cy="1932285"/>
            <a:chOff x="755576" y="2216795"/>
            <a:chExt cx="8161312" cy="1932285"/>
          </a:xfrm>
        </p:grpSpPr>
        <p:sp>
          <p:nvSpPr>
            <p:cNvPr id="10" name="矩形 9"/>
            <p:cNvSpPr/>
            <p:nvPr/>
          </p:nvSpPr>
          <p:spPr>
            <a:xfrm>
              <a:off x="755576" y="2360811"/>
              <a:ext cx="1140056" cy="461665"/>
            </a:xfrm>
            <a:prstGeom prst="rect">
              <a:avLst/>
            </a:prstGeom>
          </p:spPr>
          <p:txBody>
            <a:bodyPr wrap="none">
              <a:spAutoFit/>
            </a:bodyPr>
            <a:lstStyle/>
            <a:p>
              <a:r>
                <a:rPr lang="zh-CN" altLang="en-US" sz="2400" kern="0" dirty="0"/>
                <a:t>证明</a:t>
              </a:r>
              <a:r>
                <a:rPr lang="en-US" altLang="zh-CN" sz="2400" kern="0" dirty="0"/>
                <a:t>:   </a:t>
              </a:r>
              <a:endParaRPr lang="zh-CN" altLang="en-US" sz="2400" dirty="0"/>
            </a:p>
          </p:txBody>
        </p:sp>
        <p:graphicFrame>
          <p:nvGraphicFramePr>
            <p:cNvPr id="320518" name="Object 6"/>
            <p:cNvGraphicFramePr>
              <a:graphicFrameLocks noChangeAspect="1"/>
            </p:cNvGraphicFramePr>
            <p:nvPr>
              <p:extLst>
                <p:ext uri="{D42A27DB-BD31-4B8C-83A1-F6EECF244321}">
                  <p14:modId xmlns:p14="http://schemas.microsoft.com/office/powerpoint/2010/main" val="2835619528"/>
                </p:ext>
              </p:extLst>
            </p:nvPr>
          </p:nvGraphicFramePr>
          <p:xfrm>
            <a:off x="1691680" y="2216795"/>
            <a:ext cx="3480190" cy="792088"/>
          </p:xfrm>
          <a:graphic>
            <a:graphicData uri="http://schemas.openxmlformats.org/presentationml/2006/ole">
              <mc:AlternateContent xmlns:mc="http://schemas.openxmlformats.org/markup-compatibility/2006">
                <mc:Choice xmlns:v="urn:schemas-microsoft-com:vml" Requires="v">
                  <p:oleObj spid="_x0000_s365264" name="Equation" r:id="rId11" imgW="1892300" imgH="431800" progId="Equation.DSMT4">
                    <p:embed/>
                  </p:oleObj>
                </mc:Choice>
                <mc:Fallback>
                  <p:oleObj name="Equation" r:id="rId11" imgW="1892300" imgH="43180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91680" y="2216795"/>
                          <a:ext cx="3480190" cy="792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0519" name="Object 7"/>
            <p:cNvGraphicFramePr>
              <a:graphicFrameLocks noChangeAspect="1"/>
            </p:cNvGraphicFramePr>
            <p:nvPr>
              <p:extLst>
                <p:ext uri="{D42A27DB-BD31-4B8C-83A1-F6EECF244321}">
                  <p14:modId xmlns:p14="http://schemas.microsoft.com/office/powerpoint/2010/main" val="622031023"/>
                </p:ext>
              </p:extLst>
            </p:nvPr>
          </p:nvGraphicFramePr>
          <p:xfrm>
            <a:off x="1997075" y="2936875"/>
            <a:ext cx="4286855" cy="720080"/>
          </p:xfrm>
          <a:graphic>
            <a:graphicData uri="http://schemas.openxmlformats.org/presentationml/2006/ole">
              <mc:AlternateContent xmlns:mc="http://schemas.openxmlformats.org/markup-compatibility/2006">
                <mc:Choice xmlns:v="urn:schemas-microsoft-com:vml" Requires="v">
                  <p:oleObj spid="_x0000_s365265" name="Equation" r:id="rId13" imgW="2641600" imgH="444500" progId="Equation.DSMT4">
                    <p:embed/>
                  </p:oleObj>
                </mc:Choice>
                <mc:Fallback>
                  <p:oleObj name="Equation" r:id="rId13" imgW="2641600" imgH="44450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97075" y="2936875"/>
                          <a:ext cx="4286855" cy="7200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0520" name="Object 8"/>
            <p:cNvGraphicFramePr>
              <a:graphicFrameLocks noChangeAspect="1"/>
            </p:cNvGraphicFramePr>
            <p:nvPr>
              <p:extLst>
                <p:ext uri="{D42A27DB-BD31-4B8C-83A1-F6EECF244321}">
                  <p14:modId xmlns:p14="http://schemas.microsoft.com/office/powerpoint/2010/main" val="362815892"/>
                </p:ext>
              </p:extLst>
            </p:nvPr>
          </p:nvGraphicFramePr>
          <p:xfrm>
            <a:off x="1997075" y="3728963"/>
            <a:ext cx="3070225" cy="409575"/>
          </p:xfrm>
          <a:graphic>
            <a:graphicData uri="http://schemas.openxmlformats.org/presentationml/2006/ole">
              <mc:AlternateContent xmlns:mc="http://schemas.openxmlformats.org/markup-compatibility/2006">
                <mc:Choice xmlns:v="urn:schemas-microsoft-com:vml" Requires="v">
                  <p:oleObj spid="_x0000_s365266" name="Equation" r:id="rId15" imgW="1892300" imgH="254000" progId="Equation.DSMT4">
                    <p:embed/>
                  </p:oleObj>
                </mc:Choice>
                <mc:Fallback>
                  <p:oleObj name="Equation" r:id="rId15" imgW="1892300" imgH="25400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97075" y="3728963"/>
                          <a:ext cx="3070225"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0521" name="Object 9"/>
            <p:cNvGraphicFramePr>
              <a:graphicFrameLocks noChangeAspect="1"/>
            </p:cNvGraphicFramePr>
            <p:nvPr>
              <p:extLst>
                <p:ext uri="{D42A27DB-BD31-4B8C-83A1-F6EECF244321}">
                  <p14:modId xmlns:p14="http://schemas.microsoft.com/office/powerpoint/2010/main" val="3081493441"/>
                </p:ext>
              </p:extLst>
            </p:nvPr>
          </p:nvGraphicFramePr>
          <p:xfrm>
            <a:off x="5093419" y="3656955"/>
            <a:ext cx="2574925" cy="492125"/>
          </p:xfrm>
          <a:graphic>
            <a:graphicData uri="http://schemas.openxmlformats.org/presentationml/2006/ole">
              <mc:AlternateContent xmlns:mc="http://schemas.openxmlformats.org/markup-compatibility/2006">
                <mc:Choice xmlns:v="urn:schemas-microsoft-com:vml" Requires="v">
                  <p:oleObj spid="_x0000_s365267" name="Equation" r:id="rId17" imgW="1586811" imgH="304668" progId="Equation.DSMT4">
                    <p:embed/>
                  </p:oleObj>
                </mc:Choice>
                <mc:Fallback>
                  <p:oleObj name="Equation" r:id="rId17" imgW="1586811" imgH="304668"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93419" y="3656955"/>
                          <a:ext cx="2574925" cy="492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0544" name="Object 32"/>
            <p:cNvGraphicFramePr>
              <a:graphicFrameLocks noChangeAspect="1"/>
            </p:cNvGraphicFramePr>
            <p:nvPr>
              <p:extLst>
                <p:ext uri="{D42A27DB-BD31-4B8C-83A1-F6EECF244321}">
                  <p14:modId xmlns:p14="http://schemas.microsoft.com/office/powerpoint/2010/main" val="1655963253"/>
                </p:ext>
              </p:extLst>
            </p:nvPr>
          </p:nvGraphicFramePr>
          <p:xfrm>
            <a:off x="7164288" y="2420888"/>
            <a:ext cx="1752600" cy="812800"/>
          </p:xfrm>
          <a:graphic>
            <a:graphicData uri="http://schemas.openxmlformats.org/presentationml/2006/ole">
              <mc:AlternateContent xmlns:mc="http://schemas.openxmlformats.org/markup-compatibility/2006">
                <mc:Choice xmlns:v="urn:schemas-microsoft-com:vml" Requires="v">
                  <p:oleObj spid="_x0000_s365268" r:id="rId19" imgW="1054100" imgH="482600" progId="">
                    <p:embed/>
                  </p:oleObj>
                </mc:Choice>
                <mc:Fallback>
                  <p:oleObj r:id="rId19" imgW="1054100" imgH="482600" progId="">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164288" y="2420888"/>
                          <a:ext cx="1752600" cy="8128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51" name="直接箭头连接符 50"/>
            <p:cNvCxnSpPr/>
            <p:nvPr/>
          </p:nvCxnSpPr>
          <p:spPr>
            <a:xfrm flipH="1">
              <a:off x="4860032" y="2924944"/>
              <a:ext cx="2448272" cy="93610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17" name="矩形 16"/>
          <p:cNvSpPr/>
          <p:nvPr/>
        </p:nvSpPr>
        <p:spPr>
          <a:xfrm>
            <a:off x="8688289" y="370861"/>
            <a:ext cx="649537" cy="369332"/>
          </a:xfrm>
          <a:prstGeom prst="rect">
            <a:avLst/>
          </a:prstGeom>
          <a:ln>
            <a:solidFill>
              <a:srgbClr val="FF0000"/>
            </a:solidFill>
          </a:ln>
        </p:spPr>
        <p:txBody>
          <a:bodyPr wrap="none">
            <a:spAutoFit/>
          </a:bodyPr>
          <a:lstStyle/>
          <a:p>
            <a:r>
              <a:rPr lang="zh-CN" altLang="en-US" b="1" dirty="0">
                <a:solidFill>
                  <a:srgbClr val="FF0000"/>
                </a:solidFill>
                <a:latin typeface="宋体" pitchFamily="2" charset="-122"/>
                <a:sym typeface="宋体" pitchFamily="2" charset="-122"/>
              </a:rPr>
              <a:t>自习</a:t>
            </a:r>
            <a:endParaRPr lang="zh-CN" altLang="en-US" dirty="0"/>
          </a:p>
        </p:txBody>
      </p:sp>
      <p:sp>
        <p:nvSpPr>
          <p:cNvPr id="19" name="矩形 18"/>
          <p:cNvSpPr/>
          <p:nvPr/>
        </p:nvSpPr>
        <p:spPr>
          <a:xfrm>
            <a:off x="1828491" y="-76558"/>
            <a:ext cx="6625532" cy="461665"/>
          </a:xfrm>
          <a:prstGeom prst="rect">
            <a:avLst/>
          </a:prstGeom>
        </p:spPr>
        <p:txBody>
          <a:bodyPr wrap="none">
            <a:spAutoFit/>
          </a:bodyPr>
          <a:lstStyle/>
          <a:p>
            <a:r>
              <a:rPr lang="zh-CN" altLang="en-US" sz="2400" b="1" dirty="0">
                <a:solidFill>
                  <a:srgbClr val="FF0000"/>
                </a:solidFill>
                <a:latin typeface="Times New Roman" pitchFamily="18" charset="0"/>
                <a:cs typeface="Times New Roman" pitchFamily="18" charset="0"/>
                <a:sym typeface="Times New Roman" pitchFamily="18" charset="0"/>
              </a:rPr>
              <a:t>二分类问题</a:t>
            </a:r>
            <a:r>
              <a:rPr lang="zh-CN" altLang="zh-CN" sz="2400" b="1" dirty="0">
                <a:solidFill>
                  <a:srgbClr val="FF0000"/>
                </a:solidFill>
                <a:latin typeface="Times New Roman" pitchFamily="18" charset="0"/>
                <a:cs typeface="Times New Roman" pitchFamily="18" charset="0"/>
                <a:sym typeface="Times New Roman" pitchFamily="18" charset="0"/>
              </a:rPr>
              <a:t>adaboost</a:t>
            </a:r>
            <a:r>
              <a:rPr lang="zh-CN" altLang="en-US" sz="2400" b="1" dirty="0">
                <a:solidFill>
                  <a:srgbClr val="FF0000"/>
                </a:solidFill>
                <a:latin typeface="宋体" pitchFamily="2" charset="-122"/>
                <a:sym typeface="宋体" pitchFamily="2" charset="-122"/>
              </a:rPr>
              <a:t>的训练误差（错误率）</a:t>
            </a:r>
            <a:r>
              <a:rPr lang="zh-CN" altLang="zh-CN" sz="2400" b="1" dirty="0">
                <a:solidFill>
                  <a:srgbClr val="FF0000"/>
                </a:solidFill>
                <a:latin typeface="宋体" pitchFamily="2" charset="-122"/>
                <a:sym typeface="宋体" pitchFamily="2" charset="-122"/>
              </a:rPr>
              <a:t>上限</a:t>
            </a:r>
            <a:endParaRPr lang="zh-CN" altLang="en-US" sz="2400" dirty="0">
              <a:solidFill>
                <a:srgbClr val="FF0000"/>
              </a:solidFill>
            </a:endParaRPr>
          </a:p>
        </p:txBody>
      </p:sp>
      <p:grpSp>
        <p:nvGrpSpPr>
          <p:cNvPr id="20" name="组合 19"/>
          <p:cNvGrpSpPr/>
          <p:nvPr/>
        </p:nvGrpSpPr>
        <p:grpSpPr>
          <a:xfrm>
            <a:off x="1667694" y="4112518"/>
            <a:ext cx="6444530" cy="1333822"/>
            <a:chOff x="143694" y="4112518"/>
            <a:chExt cx="6444530" cy="1333822"/>
          </a:xfrm>
        </p:grpSpPr>
        <p:graphicFrame>
          <p:nvGraphicFramePr>
            <p:cNvPr id="21" name="Object 14"/>
            <p:cNvGraphicFramePr>
              <a:graphicFrameLocks noChangeAspect="1"/>
            </p:cNvGraphicFramePr>
            <p:nvPr>
              <p:extLst>
                <p:ext uri="{D42A27DB-BD31-4B8C-83A1-F6EECF244321}">
                  <p14:modId xmlns:p14="http://schemas.microsoft.com/office/powerpoint/2010/main" val="3201464866"/>
                </p:ext>
              </p:extLst>
            </p:nvPr>
          </p:nvGraphicFramePr>
          <p:xfrm>
            <a:off x="1633637" y="4221088"/>
            <a:ext cx="4954587" cy="584200"/>
          </p:xfrm>
          <a:graphic>
            <a:graphicData uri="http://schemas.openxmlformats.org/presentationml/2006/ole">
              <mc:AlternateContent xmlns:mc="http://schemas.openxmlformats.org/markup-compatibility/2006">
                <mc:Choice xmlns:v="urn:schemas-microsoft-com:vml" Requires="v">
                  <p:oleObj spid="_x0000_s365269" name="Equation" r:id="rId21" imgW="3327400" imgH="393700" progId="Equation.DSMT4">
                    <p:embed/>
                  </p:oleObj>
                </mc:Choice>
                <mc:Fallback>
                  <p:oleObj name="Equation" r:id="rId21" imgW="3327400" imgH="393700" progId="Equation.DSMT4">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633637" y="4221088"/>
                          <a:ext cx="49545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22" name="Object 15"/>
            <p:cNvGraphicFramePr>
              <a:graphicFrameLocks noChangeAspect="1"/>
            </p:cNvGraphicFramePr>
            <p:nvPr>
              <p:extLst>
                <p:ext uri="{D42A27DB-BD31-4B8C-83A1-F6EECF244321}">
                  <p14:modId xmlns:p14="http://schemas.microsoft.com/office/powerpoint/2010/main" val="3668546898"/>
                </p:ext>
              </p:extLst>
            </p:nvPr>
          </p:nvGraphicFramePr>
          <p:xfrm>
            <a:off x="467544" y="4941168"/>
            <a:ext cx="5084763" cy="501650"/>
          </p:xfrm>
          <a:graphic>
            <a:graphicData uri="http://schemas.openxmlformats.org/presentationml/2006/ole">
              <mc:AlternateContent xmlns:mc="http://schemas.openxmlformats.org/markup-compatibility/2006">
                <mc:Choice xmlns:v="urn:schemas-microsoft-com:vml" Requires="v">
                  <p:oleObj spid="_x0000_s365270" name="Equation" r:id="rId23" imgW="4229100" imgH="419100" progId="Equation.DSMT4">
                    <p:embed/>
                  </p:oleObj>
                </mc:Choice>
                <mc:Fallback>
                  <p:oleObj name="Equation" r:id="rId23" imgW="4229100" imgH="419100" progId="Equation.DSMT4">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67544" y="4941168"/>
                          <a:ext cx="5084763"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sp>
          <p:nvSpPr>
            <p:cNvPr id="23" name="矩形 22"/>
            <p:cNvSpPr/>
            <p:nvPr/>
          </p:nvSpPr>
          <p:spPr>
            <a:xfrm>
              <a:off x="143694" y="4220418"/>
              <a:ext cx="1691680" cy="646331"/>
            </a:xfrm>
            <a:prstGeom prst="rect">
              <a:avLst/>
            </a:prstGeom>
          </p:spPr>
          <p:txBody>
            <a:bodyPr wrap="square">
              <a:spAutoFit/>
            </a:bodyPr>
            <a:lstStyle/>
            <a:p>
              <a:r>
                <a:rPr lang="zh-CN" altLang="en-US" dirty="0"/>
                <a:t>由泰勒展开式在点</a:t>
              </a:r>
              <a:r>
                <a:rPr lang="en-US" altLang="zh-CN" dirty="0"/>
                <a:t>x=0</a:t>
              </a:r>
              <a:r>
                <a:rPr lang="zh-CN" altLang="en-US" dirty="0"/>
                <a:t>处</a:t>
              </a:r>
            </a:p>
          </p:txBody>
        </p:sp>
        <p:cxnSp>
          <p:nvCxnSpPr>
            <p:cNvPr id="25" name="直接连接符 24"/>
            <p:cNvCxnSpPr/>
            <p:nvPr/>
          </p:nvCxnSpPr>
          <p:spPr>
            <a:xfrm flipH="1">
              <a:off x="2195736" y="4293096"/>
              <a:ext cx="216024" cy="360040"/>
            </a:xfrm>
            <a:prstGeom prst="line">
              <a:avLst/>
            </a:prstGeom>
            <a:ln>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1187624" y="5013176"/>
              <a:ext cx="216024" cy="360040"/>
            </a:xfrm>
            <a:prstGeom prst="line">
              <a:avLst/>
            </a:prstGeom>
            <a:ln>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2627784" y="4293096"/>
              <a:ext cx="216024" cy="360040"/>
            </a:xfrm>
            <a:prstGeom prst="line">
              <a:avLst/>
            </a:prstGeom>
            <a:ln>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547664" y="5013176"/>
              <a:ext cx="216024" cy="360040"/>
            </a:xfrm>
            <a:prstGeom prst="line">
              <a:avLst/>
            </a:prstGeom>
            <a:ln>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9" name="椭圆 28"/>
            <p:cNvSpPr/>
            <p:nvPr/>
          </p:nvSpPr>
          <p:spPr>
            <a:xfrm>
              <a:off x="3131840" y="4149080"/>
              <a:ext cx="1080120" cy="648072"/>
            </a:xfrm>
            <a:prstGeom prst="ellipse">
              <a:avLst/>
            </a:prstGeom>
            <a:ln>
              <a:solidFill>
                <a:srgbClr val="00B0F0"/>
              </a:solidFill>
            </a:ln>
          </p:spPr>
          <p:txBody>
            <a:bodyPr wrap="square" rtlCol="0" anchor="ctr">
              <a:spAutoFit/>
            </a:bodyPr>
            <a:lstStyle/>
            <a:p>
              <a:pPr algn="ctr"/>
              <a:endParaRPr lang="zh-CN" altLang="en-US" sz="2400" kern="100" dirty="0">
                <a:ea typeface="宋体"/>
                <a:cs typeface="Times New Roman"/>
              </a:endParaRPr>
            </a:p>
          </p:txBody>
        </p:sp>
        <p:sp>
          <p:nvSpPr>
            <p:cNvPr id="30" name="椭圆 29"/>
            <p:cNvSpPr/>
            <p:nvPr/>
          </p:nvSpPr>
          <p:spPr>
            <a:xfrm>
              <a:off x="1979712" y="4797152"/>
              <a:ext cx="1080120" cy="648072"/>
            </a:xfrm>
            <a:prstGeom prst="ellipse">
              <a:avLst/>
            </a:prstGeom>
            <a:ln>
              <a:solidFill>
                <a:srgbClr val="00B0F0"/>
              </a:solidFill>
            </a:ln>
          </p:spPr>
          <p:txBody>
            <a:bodyPr wrap="square" rtlCol="0" anchor="ctr">
              <a:spAutoFit/>
            </a:bodyPr>
            <a:lstStyle/>
            <a:p>
              <a:pPr algn="ctr"/>
              <a:endParaRPr lang="zh-CN" altLang="en-US" sz="2400" kern="100" dirty="0">
                <a:ea typeface="宋体"/>
                <a:cs typeface="Times New Roman"/>
              </a:endParaRPr>
            </a:p>
          </p:txBody>
        </p:sp>
        <p:grpSp>
          <p:nvGrpSpPr>
            <p:cNvPr id="31" name="组合 30"/>
            <p:cNvGrpSpPr/>
            <p:nvPr/>
          </p:nvGrpSpPr>
          <p:grpSpPr>
            <a:xfrm rot="2847750">
              <a:off x="3059832" y="4653136"/>
              <a:ext cx="216024" cy="288032"/>
              <a:chOff x="8100392" y="4293096"/>
              <a:chExt cx="216024" cy="288032"/>
            </a:xfrm>
          </p:grpSpPr>
          <p:cxnSp>
            <p:nvCxnSpPr>
              <p:cNvPr id="37" name="直接连接符 36"/>
              <p:cNvCxnSpPr/>
              <p:nvPr/>
            </p:nvCxnSpPr>
            <p:spPr>
              <a:xfrm>
                <a:off x="8100392" y="4293096"/>
                <a:ext cx="72008" cy="288032"/>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V="1">
                <a:off x="8172400" y="4293096"/>
                <a:ext cx="144016" cy="288032"/>
              </a:xfrm>
              <a:prstGeom prst="line">
                <a:avLst/>
              </a:prstGeom>
              <a:ln>
                <a:solidFill>
                  <a:srgbClr val="92D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2" name="椭圆 31"/>
            <p:cNvSpPr/>
            <p:nvPr/>
          </p:nvSpPr>
          <p:spPr>
            <a:xfrm>
              <a:off x="4355976" y="4112518"/>
              <a:ext cx="1440160" cy="649188"/>
            </a:xfrm>
            <a:prstGeom prst="ellipse">
              <a:avLst/>
            </a:prstGeom>
            <a:ln>
              <a:solidFill>
                <a:srgbClr val="00B0F0"/>
              </a:solidFill>
            </a:ln>
          </p:spPr>
          <p:txBody>
            <a:bodyPr wrap="square" rtlCol="0" anchor="ctr">
              <a:spAutoFit/>
            </a:bodyPr>
            <a:lstStyle/>
            <a:p>
              <a:pPr algn="ctr"/>
              <a:endParaRPr lang="zh-CN" altLang="en-US" sz="2400" kern="100" dirty="0">
                <a:ea typeface="宋体"/>
                <a:cs typeface="Times New Roman"/>
              </a:endParaRPr>
            </a:p>
          </p:txBody>
        </p:sp>
        <p:sp>
          <p:nvSpPr>
            <p:cNvPr id="33" name="椭圆 32"/>
            <p:cNvSpPr/>
            <p:nvPr/>
          </p:nvSpPr>
          <p:spPr>
            <a:xfrm>
              <a:off x="3275856" y="4797152"/>
              <a:ext cx="1656184" cy="649188"/>
            </a:xfrm>
            <a:prstGeom prst="ellipse">
              <a:avLst/>
            </a:prstGeom>
            <a:ln>
              <a:solidFill>
                <a:srgbClr val="00B0F0"/>
              </a:solidFill>
            </a:ln>
          </p:spPr>
          <p:txBody>
            <a:bodyPr wrap="square" rtlCol="0" anchor="ctr">
              <a:spAutoFit/>
            </a:bodyPr>
            <a:lstStyle/>
            <a:p>
              <a:pPr algn="ctr"/>
              <a:endParaRPr lang="zh-CN" altLang="en-US" sz="2400" kern="100" dirty="0">
                <a:ea typeface="宋体"/>
                <a:cs typeface="Times New Roman"/>
              </a:endParaRPr>
            </a:p>
          </p:txBody>
        </p:sp>
        <p:grpSp>
          <p:nvGrpSpPr>
            <p:cNvPr id="34" name="组合 33"/>
            <p:cNvGrpSpPr/>
            <p:nvPr/>
          </p:nvGrpSpPr>
          <p:grpSpPr>
            <a:xfrm rot="2847750">
              <a:off x="4499111" y="4686073"/>
              <a:ext cx="216024" cy="288032"/>
              <a:chOff x="8100392" y="4293096"/>
              <a:chExt cx="216024" cy="288032"/>
            </a:xfrm>
          </p:grpSpPr>
          <p:cxnSp>
            <p:nvCxnSpPr>
              <p:cNvPr id="35" name="直接连接符 34"/>
              <p:cNvCxnSpPr/>
              <p:nvPr/>
            </p:nvCxnSpPr>
            <p:spPr>
              <a:xfrm>
                <a:off x="8100392" y="4293096"/>
                <a:ext cx="72008" cy="288032"/>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V="1">
                <a:off x="8172400" y="4293096"/>
                <a:ext cx="144016" cy="288032"/>
              </a:xfrm>
              <a:prstGeom prst="line">
                <a:avLst/>
              </a:prstGeom>
              <a:ln>
                <a:solidFill>
                  <a:srgbClr val="92D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39" name="组合 38"/>
          <p:cNvGrpSpPr/>
          <p:nvPr/>
        </p:nvGrpSpPr>
        <p:grpSpPr>
          <a:xfrm>
            <a:off x="2063553" y="5517232"/>
            <a:ext cx="8130005" cy="1005250"/>
            <a:chOff x="539552" y="5517232"/>
            <a:chExt cx="8130005" cy="1005250"/>
          </a:xfrm>
        </p:grpSpPr>
        <p:graphicFrame>
          <p:nvGraphicFramePr>
            <p:cNvPr id="40" name="Object 10"/>
            <p:cNvGraphicFramePr>
              <a:graphicFrameLocks noChangeAspect="1"/>
            </p:cNvGraphicFramePr>
            <p:nvPr>
              <p:extLst>
                <p:ext uri="{D42A27DB-BD31-4B8C-83A1-F6EECF244321}">
                  <p14:modId xmlns:p14="http://schemas.microsoft.com/office/powerpoint/2010/main" val="3614881006"/>
                </p:ext>
              </p:extLst>
            </p:nvPr>
          </p:nvGraphicFramePr>
          <p:xfrm>
            <a:off x="5552306" y="5730394"/>
            <a:ext cx="3117251" cy="792088"/>
          </p:xfrm>
          <a:graphic>
            <a:graphicData uri="http://schemas.openxmlformats.org/presentationml/2006/ole">
              <mc:AlternateContent xmlns:mc="http://schemas.openxmlformats.org/markup-compatibility/2006">
                <mc:Choice xmlns:v="urn:schemas-microsoft-com:vml" Requires="v">
                  <p:oleObj spid="_x0000_s365271" name="Equation" r:id="rId25" imgW="1790700" imgH="457200" progId="Equation.DSMT4">
                    <p:embed/>
                  </p:oleObj>
                </mc:Choice>
                <mc:Fallback>
                  <p:oleObj name="Equation" r:id="rId25" imgW="1790700" imgH="457200" progId="Equation.DSMT4">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552306" y="5730394"/>
                          <a:ext cx="3117251" cy="792088"/>
                        </a:xfrm>
                        <a:prstGeom prst="rect">
                          <a:avLst/>
                        </a:prstGeom>
                        <a:solidFill>
                          <a:schemeClr val="bg1"/>
                        </a:solidFill>
                      </p:spPr>
                    </p:pic>
                  </p:oleObj>
                </mc:Fallback>
              </mc:AlternateContent>
            </a:graphicData>
          </a:graphic>
        </p:graphicFrame>
        <p:sp>
          <p:nvSpPr>
            <p:cNvPr id="41" name="右箭头 40"/>
            <p:cNvSpPr/>
            <p:nvPr/>
          </p:nvSpPr>
          <p:spPr>
            <a:xfrm>
              <a:off x="4824313" y="5950578"/>
              <a:ext cx="488068" cy="366471"/>
            </a:xfrm>
            <a:prstGeom prst="rightArrow">
              <a:avLst>
                <a:gd name="adj1" fmla="val 50000"/>
                <a:gd name="adj2" fmla="val 52646"/>
              </a:avLst>
            </a:prstGeom>
            <a:solidFill>
              <a:srgbClr val="FFC000"/>
            </a:solidFill>
          </p:spPr>
          <p:txBody>
            <a:bodyPr wrap="square" rtlCol="0" anchor="ctr">
              <a:spAutoFit/>
            </a:bodyPr>
            <a:lstStyle/>
            <a:p>
              <a:pPr algn="ctr"/>
              <a:endParaRPr lang="zh-CN" altLang="en-US" sz="2400" kern="100" dirty="0">
                <a:ea typeface="宋体"/>
                <a:cs typeface="Times New Roman"/>
              </a:endParaRPr>
            </a:p>
          </p:txBody>
        </p:sp>
        <p:graphicFrame>
          <p:nvGraphicFramePr>
            <p:cNvPr id="42" name="Object 16"/>
            <p:cNvGraphicFramePr>
              <a:graphicFrameLocks noChangeAspect="1"/>
            </p:cNvGraphicFramePr>
            <p:nvPr>
              <p:extLst>
                <p:ext uri="{D42A27DB-BD31-4B8C-83A1-F6EECF244321}">
                  <p14:modId xmlns:p14="http://schemas.microsoft.com/office/powerpoint/2010/main" val="338084904"/>
                </p:ext>
              </p:extLst>
            </p:nvPr>
          </p:nvGraphicFramePr>
          <p:xfrm>
            <a:off x="2987824" y="5949280"/>
            <a:ext cx="1457904" cy="432048"/>
          </p:xfrm>
          <a:graphic>
            <a:graphicData uri="http://schemas.openxmlformats.org/presentationml/2006/ole">
              <mc:AlternateContent xmlns:mc="http://schemas.openxmlformats.org/markup-compatibility/2006">
                <mc:Choice xmlns:v="urn:schemas-microsoft-com:vml" Requires="v">
                  <p:oleObj spid="_x0000_s365272" name="Equation" r:id="rId27" imgW="939800" imgH="279400" progId="Equation.DSMT4">
                    <p:embed/>
                  </p:oleObj>
                </mc:Choice>
                <mc:Fallback>
                  <p:oleObj name="Equation" r:id="rId27" imgW="939800" imgH="279400" progId="Equation.DSMT4">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987824" y="5949280"/>
                          <a:ext cx="1457904" cy="43204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3" name="组合 42"/>
            <p:cNvGrpSpPr/>
            <p:nvPr/>
          </p:nvGrpSpPr>
          <p:grpSpPr>
            <a:xfrm>
              <a:off x="539552" y="5517232"/>
              <a:ext cx="3230372" cy="388937"/>
              <a:chOff x="539552" y="5517232"/>
              <a:chExt cx="3230372" cy="388937"/>
            </a:xfrm>
          </p:grpSpPr>
          <p:sp>
            <p:nvSpPr>
              <p:cNvPr id="45" name="矩形 44"/>
              <p:cNvSpPr/>
              <p:nvPr/>
            </p:nvSpPr>
            <p:spPr>
              <a:xfrm>
                <a:off x="539552" y="5517232"/>
                <a:ext cx="3230372" cy="369332"/>
              </a:xfrm>
              <a:prstGeom prst="rect">
                <a:avLst/>
              </a:prstGeom>
            </p:spPr>
            <p:txBody>
              <a:bodyPr wrap="none">
                <a:spAutoFit/>
              </a:bodyPr>
              <a:lstStyle/>
              <a:p>
                <a:r>
                  <a:rPr lang="zh-CN" altLang="en-US" dirty="0"/>
                  <a:t>假设                 有</a:t>
                </a:r>
                <a:r>
                  <a:rPr lang="en-US" altLang="zh-CN" dirty="0"/>
                  <a:t>x&lt;=0,</a:t>
                </a:r>
                <a:r>
                  <a:rPr lang="zh-CN" altLang="en-US" dirty="0"/>
                  <a:t>且</a:t>
                </a:r>
                <a:r>
                  <a:rPr lang="en-US" altLang="zh-CN" dirty="0"/>
                  <a:t>x&gt;-1</a:t>
                </a:r>
                <a:endParaRPr lang="zh-CN" altLang="en-US" dirty="0"/>
              </a:p>
            </p:txBody>
          </p:sp>
          <p:graphicFrame>
            <p:nvGraphicFramePr>
              <p:cNvPr id="46" name="Object 18"/>
              <p:cNvGraphicFramePr>
                <a:graphicFrameLocks noChangeAspect="1"/>
              </p:cNvGraphicFramePr>
              <p:nvPr/>
            </p:nvGraphicFramePr>
            <p:xfrm>
              <a:off x="1187624" y="5517232"/>
              <a:ext cx="927100" cy="388937"/>
            </p:xfrm>
            <a:graphic>
              <a:graphicData uri="http://schemas.openxmlformats.org/presentationml/2006/ole">
                <mc:AlternateContent xmlns:mc="http://schemas.openxmlformats.org/markup-compatibility/2006">
                  <mc:Choice xmlns:v="urn:schemas-microsoft-com:vml" Requires="v">
                    <p:oleObj spid="_x0000_s365273" name="Equation" r:id="rId29" imgW="571252" imgH="241195" progId="Equation.DSMT4">
                      <p:embed/>
                    </p:oleObj>
                  </mc:Choice>
                  <mc:Fallback>
                    <p:oleObj name="Equation" r:id="rId29" imgW="571252" imgH="241195" progId="Equation.DSMT4">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187624" y="5517232"/>
                            <a:ext cx="927100" cy="388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4" name="矩形 43"/>
            <p:cNvSpPr/>
            <p:nvPr/>
          </p:nvSpPr>
          <p:spPr>
            <a:xfrm>
              <a:off x="2051720" y="5949280"/>
              <a:ext cx="877163" cy="369332"/>
            </a:xfrm>
            <a:prstGeom prst="rect">
              <a:avLst/>
            </a:prstGeom>
          </p:spPr>
          <p:txBody>
            <a:bodyPr wrap="none">
              <a:spAutoFit/>
            </a:bodyPr>
            <a:lstStyle/>
            <a:p>
              <a:r>
                <a:rPr lang="zh-CN" altLang="en-US" dirty="0"/>
                <a:t>所以有</a:t>
              </a:r>
            </a:p>
          </p:txBody>
        </p:sp>
      </p:grpSp>
    </p:spTree>
    <p:extLst>
      <p:ext uri="{BB962C8B-B14F-4D97-AF65-F5344CB8AC3E}">
        <p14:creationId xmlns:p14="http://schemas.microsoft.com/office/powerpoint/2010/main" val="1371831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To learn more …</a:t>
            </a:r>
            <a:endParaRPr lang="zh-TW" altLang="en-US" dirty="0"/>
          </a:p>
        </p:txBody>
      </p:sp>
      <p:sp>
        <p:nvSpPr>
          <p:cNvPr id="3" name="內容版面配置區 2"/>
          <p:cNvSpPr>
            <a:spLocks noGrp="1"/>
          </p:cNvSpPr>
          <p:nvPr>
            <p:ph idx="1"/>
          </p:nvPr>
        </p:nvSpPr>
        <p:spPr/>
        <p:txBody>
          <a:bodyPr>
            <a:noAutofit/>
          </a:bodyPr>
          <a:lstStyle/>
          <a:p>
            <a:r>
              <a:rPr lang="en-US" altLang="zh-TW" sz="2400" dirty="0"/>
              <a:t>Introduction of </a:t>
            </a:r>
            <a:r>
              <a:rPr lang="en-US" altLang="zh-TW" sz="2400" dirty="0" err="1"/>
              <a:t>Adaboost</a:t>
            </a:r>
            <a:r>
              <a:rPr lang="en-US" altLang="zh-TW" sz="2400" dirty="0"/>
              <a:t>:</a:t>
            </a:r>
          </a:p>
          <a:p>
            <a:pPr lvl="1"/>
            <a:r>
              <a:rPr lang="en-US" altLang="zh-TW" sz="1800" dirty="0"/>
              <a:t>Freund; </a:t>
            </a:r>
            <a:r>
              <a:rPr lang="en-US" altLang="zh-TW" sz="1800" dirty="0" err="1"/>
              <a:t>Schapire</a:t>
            </a:r>
            <a:r>
              <a:rPr lang="en-US" altLang="zh-TW" sz="1800" dirty="0"/>
              <a:t> (1999). "A Short Introduction to Boosting“</a:t>
            </a:r>
          </a:p>
          <a:p>
            <a:r>
              <a:rPr lang="en-US" altLang="zh-TW" sz="2400" dirty="0"/>
              <a:t>Multiclass/Regression</a:t>
            </a:r>
          </a:p>
          <a:p>
            <a:pPr lvl="1"/>
            <a:r>
              <a:rPr lang="en-US" altLang="zh-TW" sz="1800" dirty="0"/>
              <a:t>Y. Freund, R. </a:t>
            </a:r>
            <a:r>
              <a:rPr lang="en-US" altLang="zh-TW" sz="1800" dirty="0" err="1"/>
              <a:t>Schapire</a:t>
            </a:r>
            <a:r>
              <a:rPr lang="en-US" altLang="zh-TW" sz="1800" dirty="0"/>
              <a:t>, “A Decision-Theoretic Generalization of on-Line Learning and an Application to Boosting”, 1995.</a:t>
            </a:r>
          </a:p>
          <a:p>
            <a:pPr lvl="1"/>
            <a:r>
              <a:rPr lang="en-US" altLang="zh-TW" sz="1800" dirty="0"/>
              <a:t>Robert E. </a:t>
            </a:r>
            <a:r>
              <a:rPr lang="en-US" altLang="zh-TW" sz="1800" dirty="0" err="1"/>
              <a:t>Schapire</a:t>
            </a:r>
            <a:r>
              <a:rPr lang="en-US" altLang="zh-TW" sz="1800" dirty="0"/>
              <a:t> and </a:t>
            </a:r>
            <a:r>
              <a:rPr lang="en-US" altLang="zh-TW" sz="1800" dirty="0" err="1"/>
              <a:t>Yoram</a:t>
            </a:r>
            <a:r>
              <a:rPr lang="en-US" altLang="zh-TW" sz="1800" dirty="0"/>
              <a:t> Singer. Improved boosting algorithms using confidence-rated predictions. In Proceedings of the Eleventh Annual Conference on Computational Learning Theory, pages 80–91, 1998. </a:t>
            </a:r>
          </a:p>
          <a:p>
            <a:r>
              <a:rPr lang="en-US" altLang="zh-TW" sz="2400" dirty="0"/>
              <a:t>Gentle Boost</a:t>
            </a:r>
          </a:p>
          <a:p>
            <a:pPr lvl="1"/>
            <a:r>
              <a:rPr lang="en-US" altLang="zh-TW" sz="1800" dirty="0" err="1"/>
              <a:t>Schapire</a:t>
            </a:r>
            <a:r>
              <a:rPr lang="en-US" altLang="zh-TW" sz="1800" dirty="0"/>
              <a:t>, Robert; Singer, </a:t>
            </a:r>
            <a:r>
              <a:rPr lang="en-US" altLang="zh-TW" sz="1800" dirty="0" err="1"/>
              <a:t>Yoram</a:t>
            </a:r>
            <a:r>
              <a:rPr lang="en-US" altLang="zh-TW" sz="1800" dirty="0"/>
              <a:t> (1999). "Improved Boosting Algorithms Using Confidence-rated Predictions". </a:t>
            </a:r>
            <a:endParaRPr lang="zh-TW" altLang="en-US" sz="1800" dirty="0"/>
          </a:p>
        </p:txBody>
      </p:sp>
    </p:spTree>
    <p:extLst>
      <p:ext uri="{BB962C8B-B14F-4D97-AF65-F5344CB8AC3E}">
        <p14:creationId xmlns:p14="http://schemas.microsoft.com/office/powerpoint/2010/main" val="24867915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dirty="0"/>
          </a:p>
        </p:txBody>
      </p:sp>
      <p:sp>
        <p:nvSpPr>
          <p:cNvPr id="6" name="文本占位符 5"/>
          <p:cNvSpPr>
            <a:spLocks noGrp="1"/>
          </p:cNvSpPr>
          <p:nvPr>
            <p:ph type="body" idx="1"/>
          </p:nvPr>
        </p:nvSpPr>
        <p:spPr/>
        <p:txBody>
          <a:bodyPr/>
          <a:lstStyle/>
          <a:p>
            <a:r>
              <a:rPr lang="en-US" altLang="zh-CN" sz="2800" dirty="0"/>
              <a:t>Next</a:t>
            </a:r>
            <a:r>
              <a:rPr lang="zh-CN" altLang="en-US" sz="2800" dirty="0"/>
              <a:t>：</a:t>
            </a:r>
            <a:endParaRPr lang="en-US" altLang="zh-CN" sz="2800" dirty="0"/>
          </a:p>
          <a:p>
            <a:r>
              <a:rPr lang="zh-CN" altLang="en-US" sz="2800" dirty="0"/>
              <a:t>集成学习（续）</a:t>
            </a:r>
            <a:r>
              <a:rPr lang="en-US" altLang="zh-CN" sz="2800" dirty="0"/>
              <a:t>——</a:t>
            </a:r>
            <a:r>
              <a:rPr lang="zh-CN" altLang="en-US" sz="2800" dirty="0"/>
              <a:t>决策树</a:t>
            </a:r>
            <a:r>
              <a:rPr lang="en-US" altLang="zh-CN" sz="2800" dirty="0"/>
              <a:t>&amp;</a:t>
            </a:r>
            <a:r>
              <a:rPr lang="zh-CN" altLang="en-US" sz="2800" dirty="0"/>
              <a:t>随机森林</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55</a:t>
            </a:fld>
            <a:endParaRPr lang="en-US" altLang="zh-CN" dirty="0"/>
          </a:p>
        </p:txBody>
      </p:sp>
    </p:spTree>
    <p:extLst>
      <p:ext uri="{BB962C8B-B14F-4D97-AF65-F5344CB8AC3E}">
        <p14:creationId xmlns:p14="http://schemas.microsoft.com/office/powerpoint/2010/main" val="3195894665"/>
      </p:ext>
    </p:extLst>
  </p:cSld>
  <p:clrMapOvr>
    <a:masterClrMapping/>
  </p:clrMapOvr>
</p:sld>
</file>

<file path=ppt/theme/theme1.xml><?xml version="1.0" encoding="utf-8"?>
<a:theme xmlns:a="http://schemas.openxmlformats.org/drawingml/2006/main" name="589tgp_health_light">
  <a:themeElements>
    <a:clrScheme name="s2 1">
      <a:dk1>
        <a:srgbClr val="000000"/>
      </a:dk1>
      <a:lt1>
        <a:srgbClr val="FFFFFF"/>
      </a:lt1>
      <a:dk2>
        <a:srgbClr val="5EB2B6"/>
      </a:dk2>
      <a:lt2>
        <a:srgbClr val="DED9CC"/>
      </a:lt2>
      <a:accent1>
        <a:srgbClr val="9FD56D"/>
      </a:accent1>
      <a:accent2>
        <a:srgbClr val="F4BC72"/>
      </a:accent2>
      <a:accent3>
        <a:srgbClr val="FFFFFF"/>
      </a:accent3>
      <a:accent4>
        <a:srgbClr val="000000"/>
      </a:accent4>
      <a:accent5>
        <a:srgbClr val="CDE7BA"/>
      </a:accent5>
      <a:accent6>
        <a:srgbClr val="DDAA67"/>
      </a:accent6>
      <a:hlink>
        <a:srgbClr val="F18FAB"/>
      </a:hlink>
      <a:folHlink>
        <a:srgbClr val="84A3E8"/>
      </a:folHlink>
    </a:clrScheme>
    <a:fontScheme name="s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a:defRPr sz="2400" kern="100" dirty="0" smtClean="0">
            <a:ea typeface="宋体"/>
            <a:cs typeface="Times New Roman"/>
          </a:defRPr>
        </a:defPPr>
      </a:lstStyle>
    </a:spDef>
    <a:lnDef>
      <a:spPr>
        <a:ln>
          <a:tailEnd type="arrow"/>
        </a:ln>
      </a:spPr>
      <a:bodyPr/>
      <a:lstStyle/>
      <a:style>
        <a:lnRef idx="1">
          <a:schemeClr val="accent1"/>
        </a:lnRef>
        <a:fillRef idx="0">
          <a:schemeClr val="accent1"/>
        </a:fillRef>
        <a:effectRef idx="0">
          <a:schemeClr val="accent1"/>
        </a:effectRef>
        <a:fontRef idx="minor">
          <a:schemeClr val="tx1"/>
        </a:fontRef>
      </a:style>
    </a:lnDef>
    <a:txDef>
      <a:spPr bwMode="auto">
        <a:solidFill>
          <a:schemeClr val="tx1"/>
        </a:solidFill>
        <a:ln w="38100">
          <a:solidFill>
            <a:schemeClr val="bg2"/>
          </a:solidFill>
          <a:miter lim="800000"/>
          <a:headEnd/>
          <a:tailEnd/>
        </a:ln>
        <a:effectLst>
          <a:outerShdw dist="107763" dir="2700000" algn="ctr" rotWithShape="0">
            <a:schemeClr val="bg2">
              <a:alpha val="50000"/>
            </a:schemeClr>
          </a:outerShdw>
        </a:effectLst>
      </a:spPr>
      <a:bodyPr>
        <a:spAutoFit/>
      </a:bodyPr>
      <a:lstStyle>
        <a:defPPr algn="ctr">
          <a:defRPr kumimoji="1" sz="1400">
            <a:solidFill>
              <a:schemeClr val="bg2"/>
            </a:solidFill>
            <a:ea typeface="新細明體" pitchFamily="18" charset="-120"/>
          </a:defRPr>
        </a:defPPr>
      </a:lstStyle>
    </a:txDef>
  </a:objectDefaults>
  <a:extraClrSchemeLst>
    <a:extraClrScheme>
      <a:clrScheme name="s2 1">
        <a:dk1>
          <a:srgbClr val="000000"/>
        </a:dk1>
        <a:lt1>
          <a:srgbClr val="FFFFFF"/>
        </a:lt1>
        <a:dk2>
          <a:srgbClr val="5EB2B6"/>
        </a:dk2>
        <a:lt2>
          <a:srgbClr val="DED9CC"/>
        </a:lt2>
        <a:accent1>
          <a:srgbClr val="9FD56D"/>
        </a:accent1>
        <a:accent2>
          <a:srgbClr val="F4BC72"/>
        </a:accent2>
        <a:accent3>
          <a:srgbClr val="FFFFFF"/>
        </a:accent3>
        <a:accent4>
          <a:srgbClr val="000000"/>
        </a:accent4>
        <a:accent5>
          <a:srgbClr val="CDE7BA"/>
        </a:accent5>
        <a:accent6>
          <a:srgbClr val="DDAA67"/>
        </a:accent6>
        <a:hlink>
          <a:srgbClr val="F18FAB"/>
        </a:hlink>
        <a:folHlink>
          <a:srgbClr val="84A3E8"/>
        </a:folHlink>
      </a:clrScheme>
      <a:clrMap bg1="lt1" tx1="dk1" bg2="lt2" tx2="dk2" accent1="accent1" accent2="accent2" accent3="accent3" accent4="accent4" accent5="accent5" accent6="accent6" hlink="hlink" folHlink="folHlink"/>
    </a:extraClrScheme>
    <a:extraClrScheme>
      <a:clrScheme name="s2 2">
        <a:dk1>
          <a:srgbClr val="000000"/>
        </a:dk1>
        <a:lt1>
          <a:srgbClr val="FFFFFF"/>
        </a:lt1>
        <a:dk2>
          <a:srgbClr val="EA9148"/>
        </a:dk2>
        <a:lt2>
          <a:srgbClr val="DED9CC"/>
        </a:lt2>
        <a:accent1>
          <a:srgbClr val="E878C8"/>
        </a:accent1>
        <a:accent2>
          <a:srgbClr val="7DD7E9"/>
        </a:accent2>
        <a:accent3>
          <a:srgbClr val="FFFFFF"/>
        </a:accent3>
        <a:accent4>
          <a:srgbClr val="000000"/>
        </a:accent4>
        <a:accent5>
          <a:srgbClr val="F2BEE0"/>
        </a:accent5>
        <a:accent6>
          <a:srgbClr val="71C3D3"/>
        </a:accent6>
        <a:hlink>
          <a:srgbClr val="98E8B3"/>
        </a:hlink>
        <a:folHlink>
          <a:srgbClr val="E6C686"/>
        </a:folHlink>
      </a:clrScheme>
      <a:clrMap bg1="lt1" tx1="dk1" bg2="lt2" tx2="dk2" accent1="accent1" accent2="accent2" accent3="accent3" accent4="accent4" accent5="accent5" accent6="accent6" hlink="hlink" folHlink="folHlink"/>
    </a:extraClrScheme>
    <a:extraClrScheme>
      <a:clrScheme name="s2 3">
        <a:dk1>
          <a:srgbClr val="000000"/>
        </a:dk1>
        <a:lt1>
          <a:srgbClr val="FFFFFF"/>
        </a:lt1>
        <a:dk2>
          <a:srgbClr val="C889CD"/>
        </a:dk2>
        <a:lt2>
          <a:srgbClr val="DED9CC"/>
        </a:lt2>
        <a:accent1>
          <a:srgbClr val="72AFD8"/>
        </a:accent1>
        <a:accent2>
          <a:srgbClr val="80CAB1"/>
        </a:accent2>
        <a:accent3>
          <a:srgbClr val="FFFFFF"/>
        </a:accent3>
        <a:accent4>
          <a:srgbClr val="000000"/>
        </a:accent4>
        <a:accent5>
          <a:srgbClr val="BCD4E9"/>
        </a:accent5>
        <a:accent6>
          <a:srgbClr val="73B7A0"/>
        </a:accent6>
        <a:hlink>
          <a:srgbClr val="E1995D"/>
        </a:hlink>
        <a:folHlink>
          <a:srgbClr val="E5879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589tgp_health_light">
  <a:themeElements>
    <a:clrScheme name="s2 1">
      <a:dk1>
        <a:srgbClr val="000000"/>
      </a:dk1>
      <a:lt1>
        <a:srgbClr val="FFFFFF"/>
      </a:lt1>
      <a:dk2>
        <a:srgbClr val="5EB2B6"/>
      </a:dk2>
      <a:lt2>
        <a:srgbClr val="DED9CC"/>
      </a:lt2>
      <a:accent1>
        <a:srgbClr val="9FD56D"/>
      </a:accent1>
      <a:accent2>
        <a:srgbClr val="F4BC72"/>
      </a:accent2>
      <a:accent3>
        <a:srgbClr val="FFFFFF"/>
      </a:accent3>
      <a:accent4>
        <a:srgbClr val="000000"/>
      </a:accent4>
      <a:accent5>
        <a:srgbClr val="CDE7BA"/>
      </a:accent5>
      <a:accent6>
        <a:srgbClr val="DDAA67"/>
      </a:accent6>
      <a:hlink>
        <a:srgbClr val="F18FAB"/>
      </a:hlink>
      <a:folHlink>
        <a:srgbClr val="84A3E8"/>
      </a:folHlink>
    </a:clrScheme>
    <a:fontScheme name="s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a:defRPr sz="2400" kern="100" dirty="0" smtClean="0">
            <a:ea typeface="宋体"/>
            <a:cs typeface="Times New Roman"/>
          </a:defRPr>
        </a:defPPr>
      </a:lstStyle>
    </a:spDef>
    <a:lnDef>
      <a:spPr>
        <a:ln>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400" dirty="0" smtClean="0"/>
        </a:defPPr>
      </a:lstStyle>
    </a:txDef>
  </a:objectDefaults>
  <a:extraClrSchemeLst>
    <a:extraClrScheme>
      <a:clrScheme name="s2 1">
        <a:dk1>
          <a:srgbClr val="000000"/>
        </a:dk1>
        <a:lt1>
          <a:srgbClr val="FFFFFF"/>
        </a:lt1>
        <a:dk2>
          <a:srgbClr val="5EB2B6"/>
        </a:dk2>
        <a:lt2>
          <a:srgbClr val="DED9CC"/>
        </a:lt2>
        <a:accent1>
          <a:srgbClr val="9FD56D"/>
        </a:accent1>
        <a:accent2>
          <a:srgbClr val="F4BC72"/>
        </a:accent2>
        <a:accent3>
          <a:srgbClr val="FFFFFF"/>
        </a:accent3>
        <a:accent4>
          <a:srgbClr val="000000"/>
        </a:accent4>
        <a:accent5>
          <a:srgbClr val="CDE7BA"/>
        </a:accent5>
        <a:accent6>
          <a:srgbClr val="DDAA67"/>
        </a:accent6>
        <a:hlink>
          <a:srgbClr val="F18FAB"/>
        </a:hlink>
        <a:folHlink>
          <a:srgbClr val="84A3E8"/>
        </a:folHlink>
      </a:clrScheme>
      <a:clrMap bg1="lt1" tx1="dk1" bg2="lt2" tx2="dk2" accent1="accent1" accent2="accent2" accent3="accent3" accent4="accent4" accent5="accent5" accent6="accent6" hlink="hlink" folHlink="folHlink"/>
    </a:extraClrScheme>
    <a:extraClrScheme>
      <a:clrScheme name="s2 2">
        <a:dk1>
          <a:srgbClr val="000000"/>
        </a:dk1>
        <a:lt1>
          <a:srgbClr val="FFFFFF"/>
        </a:lt1>
        <a:dk2>
          <a:srgbClr val="EA9148"/>
        </a:dk2>
        <a:lt2>
          <a:srgbClr val="DED9CC"/>
        </a:lt2>
        <a:accent1>
          <a:srgbClr val="E878C8"/>
        </a:accent1>
        <a:accent2>
          <a:srgbClr val="7DD7E9"/>
        </a:accent2>
        <a:accent3>
          <a:srgbClr val="FFFFFF"/>
        </a:accent3>
        <a:accent4>
          <a:srgbClr val="000000"/>
        </a:accent4>
        <a:accent5>
          <a:srgbClr val="F2BEE0"/>
        </a:accent5>
        <a:accent6>
          <a:srgbClr val="71C3D3"/>
        </a:accent6>
        <a:hlink>
          <a:srgbClr val="98E8B3"/>
        </a:hlink>
        <a:folHlink>
          <a:srgbClr val="E6C686"/>
        </a:folHlink>
      </a:clrScheme>
      <a:clrMap bg1="lt1" tx1="dk1" bg2="lt2" tx2="dk2" accent1="accent1" accent2="accent2" accent3="accent3" accent4="accent4" accent5="accent5" accent6="accent6" hlink="hlink" folHlink="folHlink"/>
    </a:extraClrScheme>
    <a:extraClrScheme>
      <a:clrScheme name="s2 3">
        <a:dk1>
          <a:srgbClr val="000000"/>
        </a:dk1>
        <a:lt1>
          <a:srgbClr val="FFFFFF"/>
        </a:lt1>
        <a:dk2>
          <a:srgbClr val="C889CD"/>
        </a:dk2>
        <a:lt2>
          <a:srgbClr val="DED9CC"/>
        </a:lt2>
        <a:accent1>
          <a:srgbClr val="72AFD8"/>
        </a:accent1>
        <a:accent2>
          <a:srgbClr val="80CAB1"/>
        </a:accent2>
        <a:accent3>
          <a:srgbClr val="FFFFFF"/>
        </a:accent3>
        <a:accent4>
          <a:srgbClr val="000000"/>
        </a:accent4>
        <a:accent5>
          <a:srgbClr val="BCD4E9"/>
        </a:accent5>
        <a:accent6>
          <a:srgbClr val="73B7A0"/>
        </a:accent6>
        <a:hlink>
          <a:srgbClr val="E1995D"/>
        </a:hlink>
        <a:folHlink>
          <a:srgbClr val="E5879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模式识别与机器学习 课程模板</Template>
  <TotalTime>8359</TotalTime>
  <Words>5264</Words>
  <Application>Microsoft Office PowerPoint</Application>
  <PresentationFormat>宽屏</PresentationFormat>
  <Paragraphs>694</Paragraphs>
  <Slides>55</Slides>
  <Notes>17</Notes>
  <HiddenSlides>4</HiddenSlides>
  <MMClips>0</MMClips>
  <ScaleCrop>false</ScaleCrop>
  <HeadingPairs>
    <vt:vector size="8" baseType="variant">
      <vt:variant>
        <vt:lpstr>已用的字体</vt:lpstr>
      </vt:variant>
      <vt:variant>
        <vt:i4>13</vt:i4>
      </vt:variant>
      <vt:variant>
        <vt:lpstr>主题</vt:lpstr>
      </vt:variant>
      <vt:variant>
        <vt:i4>3</vt:i4>
      </vt:variant>
      <vt:variant>
        <vt:lpstr>嵌入 OLE 服务器</vt:lpstr>
      </vt:variant>
      <vt:variant>
        <vt:i4>5</vt:i4>
      </vt:variant>
      <vt:variant>
        <vt:lpstr>幻灯片标题</vt:lpstr>
      </vt:variant>
      <vt:variant>
        <vt:i4>55</vt:i4>
      </vt:variant>
    </vt:vector>
  </HeadingPairs>
  <TitlesOfParts>
    <vt:vector size="76" baseType="lpstr">
      <vt:lpstr>方正姚体</vt:lpstr>
      <vt:lpstr>黑体</vt:lpstr>
      <vt:lpstr>华文宋体</vt:lpstr>
      <vt:lpstr>宋体</vt:lpstr>
      <vt:lpstr>Arial</vt:lpstr>
      <vt:lpstr>Calibri</vt:lpstr>
      <vt:lpstr>Calibri Light</vt:lpstr>
      <vt:lpstr>Cambria Math</vt:lpstr>
      <vt:lpstr>Garamond</vt:lpstr>
      <vt:lpstr>Symbol</vt:lpstr>
      <vt:lpstr>Tahoma</vt:lpstr>
      <vt:lpstr>Times New Roman</vt:lpstr>
      <vt:lpstr>Wingdings</vt:lpstr>
      <vt:lpstr>589tgp_health_light</vt:lpstr>
      <vt:lpstr>1_589tgp_health_light</vt:lpstr>
      <vt:lpstr>Office 佈景主題</vt:lpstr>
      <vt:lpstr>位图图像</vt:lpstr>
      <vt:lpstr>Equation</vt:lpstr>
      <vt:lpstr>公式</vt:lpstr>
      <vt:lpstr>MathType 6.0 Equation</vt:lpstr>
      <vt:lpstr>方程式</vt:lpstr>
      <vt:lpstr>模式识别与机器学习</vt:lpstr>
      <vt:lpstr>第十二章 集成学习</vt:lpstr>
      <vt:lpstr>分类</vt:lpstr>
      <vt:lpstr>PowerPoint 演示文稿</vt:lpstr>
      <vt:lpstr>提高分类法的准确率</vt:lpstr>
      <vt:lpstr>12.1 Bagging</vt:lpstr>
      <vt:lpstr>PowerPoint 演示文稿</vt:lpstr>
      <vt:lpstr>12.1 Bagging</vt:lpstr>
      <vt:lpstr>12.2 Boosting</vt:lpstr>
      <vt:lpstr>12.2 Boosting</vt:lpstr>
      <vt:lpstr>PowerPoint 演示文稿</vt:lpstr>
      <vt:lpstr>PowerPoint 演示文稿</vt:lpstr>
      <vt:lpstr>12.2 Boosting：AdaBoost</vt:lpstr>
      <vt:lpstr>PowerPoint 演示文稿</vt:lpstr>
      <vt:lpstr> Adaboost 实例详解</vt:lpstr>
      <vt:lpstr>Adaboost 实例详解</vt:lpstr>
      <vt:lpstr>Adaboost 实例详解（续）</vt:lpstr>
      <vt:lpstr>Adaboost 实例详解(续)</vt:lpstr>
      <vt:lpstr>Adaboost 实例详解</vt:lpstr>
      <vt:lpstr>PowerPoint 演示文稿</vt:lpstr>
      <vt:lpstr>Toy Example</vt:lpstr>
      <vt:lpstr>Toy Example</vt:lpstr>
      <vt:lpstr>Toy Example</vt:lpstr>
      <vt:lpstr>Toy Example</vt:lpstr>
      <vt:lpstr>Adaboost 权值调整的原因</vt:lpstr>
      <vt:lpstr> AdaBoost总结</vt:lpstr>
      <vt:lpstr>12.3 Bagging 和Boosting的比较与实例分析</vt:lpstr>
      <vt:lpstr>12.3 实例分析</vt:lpstr>
      <vt:lpstr>12.3 实例分析</vt:lpstr>
      <vt:lpstr>12.3 实例分析--矩形特征</vt:lpstr>
      <vt:lpstr>12.3 实例分析--矩形特征</vt:lpstr>
      <vt:lpstr>假设训练或检测窗口大小为W*H个像素，w , h 分别为特征原型的长、 宽，所示四种特征原型对应的w / h 分别为: 2/1, 1/2, 3/1, 2/2。</vt:lpstr>
      <vt:lpstr>12.3 实例分析--积分图</vt:lpstr>
      <vt:lpstr>PowerPoint 演示文稿</vt:lpstr>
      <vt:lpstr>PowerPoint 演示文稿</vt:lpstr>
      <vt:lpstr>PowerPoint 演示文稿</vt:lpstr>
      <vt:lpstr>PowerPoint 演示文稿</vt:lpstr>
      <vt:lpstr>PowerPoint 演示文稿</vt:lpstr>
      <vt:lpstr>PowerPoint 演示文稿</vt:lpstr>
      <vt:lpstr>12.3 实例分析--训练强分类器</vt:lpstr>
      <vt:lpstr>PowerPoint 演示文稿</vt:lpstr>
      <vt:lpstr>PowerPoint 演示文稿</vt:lpstr>
      <vt:lpstr>PowerPoint 演示文稿</vt:lpstr>
      <vt:lpstr>12.3 实例分析--级联分类器</vt:lpstr>
      <vt:lpstr>弱分类器训练图示说明</vt:lpstr>
      <vt:lpstr>AdaBoost.M1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To learn more …</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Yan-Wu Wang</dc:creator>
  <cp:lastModifiedBy>by6040130@163.com</cp:lastModifiedBy>
  <cp:revision>660</cp:revision>
  <dcterms:created xsi:type="dcterms:W3CDTF">2013-04-13T01:42:00Z</dcterms:created>
  <dcterms:modified xsi:type="dcterms:W3CDTF">2023-09-25T02:04:45Z</dcterms:modified>
</cp:coreProperties>
</file>
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1"/>
  </p:notesMasterIdLst>
  <p:handoutMasterIdLst>
    <p:handoutMasterId r:id="rId52"/>
  </p:handoutMasterIdLst>
  <p:sldIdLst>
    <p:sldId id="279" r:id="rId2"/>
    <p:sldId id="335" r:id="rId3"/>
    <p:sldId id="367" r:id="rId4"/>
    <p:sldId id="419" r:id="rId5"/>
    <p:sldId id="420" r:id="rId6"/>
    <p:sldId id="497" r:id="rId7"/>
    <p:sldId id="498" r:id="rId8"/>
    <p:sldId id="430" r:id="rId9"/>
    <p:sldId id="483" r:id="rId10"/>
    <p:sldId id="424" r:id="rId11"/>
    <p:sldId id="425" r:id="rId12"/>
    <p:sldId id="427" r:id="rId13"/>
    <p:sldId id="429" r:id="rId14"/>
    <p:sldId id="521" r:id="rId15"/>
    <p:sldId id="431" r:id="rId16"/>
    <p:sldId id="432" r:id="rId17"/>
    <p:sldId id="382" r:id="rId18"/>
    <p:sldId id="471" r:id="rId19"/>
    <p:sldId id="451" r:id="rId20"/>
    <p:sldId id="524" r:id="rId21"/>
    <p:sldId id="455" r:id="rId22"/>
    <p:sldId id="457" r:id="rId23"/>
    <p:sldId id="525" r:id="rId24"/>
    <p:sldId id="527" r:id="rId25"/>
    <p:sldId id="529" r:id="rId26"/>
    <p:sldId id="507" r:id="rId27"/>
    <p:sldId id="510" r:id="rId28"/>
    <p:sldId id="514" r:id="rId29"/>
    <p:sldId id="515" r:id="rId30"/>
    <p:sldId id="534" r:id="rId31"/>
    <p:sldId id="519" r:id="rId32"/>
    <p:sldId id="520" r:id="rId33"/>
    <p:sldId id="535" r:id="rId34"/>
    <p:sldId id="536" r:id="rId35"/>
    <p:sldId id="458" r:id="rId36"/>
    <p:sldId id="459" r:id="rId37"/>
    <p:sldId id="493" r:id="rId38"/>
    <p:sldId id="462" r:id="rId39"/>
    <p:sldId id="463" r:id="rId40"/>
    <p:sldId id="464" r:id="rId41"/>
    <p:sldId id="401" r:id="rId42"/>
    <p:sldId id="402" r:id="rId43"/>
    <p:sldId id="403" r:id="rId44"/>
    <p:sldId id="404" r:id="rId45"/>
    <p:sldId id="494" r:id="rId46"/>
    <p:sldId id="496" r:id="rId47"/>
    <p:sldId id="407" r:id="rId48"/>
    <p:sldId id="408" r:id="rId49"/>
    <p:sldId id="308" r:id="rId50"/>
  </p:sldIdLst>
  <p:sldSz cx="12192000" cy="6858000"/>
  <p:notesSz cx="6858000" cy="9947275"/>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33"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7A00"/>
    <a:srgbClr val="F0F7EB"/>
    <a:srgbClr val="DFEFD4"/>
    <a:srgbClr val="006F6F"/>
    <a:srgbClr val="367376"/>
    <a:srgbClr val="418D91"/>
    <a:srgbClr val="80808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33" autoAdjust="0"/>
    <p:restoredTop sz="92283" autoAdjust="0"/>
  </p:normalViewPr>
  <p:slideViewPr>
    <p:cSldViewPr>
      <p:cViewPr varScale="1">
        <p:scale>
          <a:sx n="86" d="100"/>
          <a:sy n="86" d="100"/>
        </p:scale>
        <p:origin x="60" y="31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2" d="100"/>
          <a:sy n="62" d="100"/>
        </p:scale>
        <p:origin x="-3187" y="-106"/>
      </p:cViewPr>
      <p:guideLst>
        <p:guide orient="horz" pos="3133"/>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13.wmf"/><Relationship Id="rId7" Type="http://schemas.openxmlformats.org/officeDocument/2006/relationships/image" Target="../media/image17.wmf"/><Relationship Id="rId2" Type="http://schemas.openxmlformats.org/officeDocument/2006/relationships/image" Target="../media/image12.emf"/><Relationship Id="rId1" Type="http://schemas.openxmlformats.org/officeDocument/2006/relationships/image" Target="../media/image11.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image" Target="../media/image21.wmf"/><Relationship Id="rId7" Type="http://schemas.openxmlformats.org/officeDocument/2006/relationships/image" Target="../media/image25.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image" Target="../media/image32.wmf"/><Relationship Id="rId3" Type="http://schemas.openxmlformats.org/officeDocument/2006/relationships/image" Target="../media/image21.wmf"/><Relationship Id="rId7" Type="http://schemas.openxmlformats.org/officeDocument/2006/relationships/image" Target="../media/image25.wmf"/><Relationship Id="rId12" Type="http://schemas.openxmlformats.org/officeDocument/2006/relationships/image" Target="../media/image31.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4.wmf"/><Relationship Id="rId11" Type="http://schemas.openxmlformats.org/officeDocument/2006/relationships/image" Target="../media/image30.wmf"/><Relationship Id="rId5" Type="http://schemas.openxmlformats.org/officeDocument/2006/relationships/image" Target="../media/image23.wmf"/><Relationship Id="rId10" Type="http://schemas.openxmlformats.org/officeDocument/2006/relationships/image" Target="../media/image29.wmf"/><Relationship Id="rId4" Type="http://schemas.openxmlformats.org/officeDocument/2006/relationships/image" Target="../media/image22.wmf"/><Relationship Id="rId9"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1.wmf"/><Relationship Id="rId7" Type="http://schemas.openxmlformats.org/officeDocument/2006/relationships/image" Target="../media/image25.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5.wmf"/><Relationship Id="rId7" Type="http://schemas.openxmlformats.org/officeDocument/2006/relationships/image" Target="../media/image39.wmf"/><Relationship Id="rId2" Type="http://schemas.openxmlformats.org/officeDocument/2006/relationships/image" Target="../media/image34.wmf"/><Relationship Id="rId1" Type="http://schemas.openxmlformats.org/officeDocument/2006/relationships/image" Target="../media/image33.wmf"/><Relationship Id="rId6" Type="http://schemas.openxmlformats.org/officeDocument/2006/relationships/image" Target="../media/image38.wmf"/><Relationship Id="rId5" Type="http://schemas.openxmlformats.org/officeDocument/2006/relationships/image" Target="../media/image37.wmf"/><Relationship Id="rId4" Type="http://schemas.openxmlformats.org/officeDocument/2006/relationships/image" Target="../media/image3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 Id="rId6" Type="http://schemas.openxmlformats.org/officeDocument/2006/relationships/image" Target="../media/image45.wmf"/><Relationship Id="rId5" Type="http://schemas.openxmlformats.org/officeDocument/2006/relationships/image" Target="../media/image44.wmf"/><Relationship Id="rId4" Type="http://schemas.openxmlformats.org/officeDocument/2006/relationships/image" Target="../media/image4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4" Type="http://schemas.openxmlformats.org/officeDocument/2006/relationships/image" Target="../media/image49.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image" Target="../media/image52.wmf"/><Relationship Id="rId7" Type="http://schemas.openxmlformats.org/officeDocument/2006/relationships/image" Target="../media/image56.wmf"/><Relationship Id="rId2" Type="http://schemas.openxmlformats.org/officeDocument/2006/relationships/image" Target="../media/image51.wmf"/><Relationship Id="rId1" Type="http://schemas.openxmlformats.org/officeDocument/2006/relationships/image" Target="../media/image50.wmf"/><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65.wmf"/><Relationship Id="rId13" Type="http://schemas.openxmlformats.org/officeDocument/2006/relationships/image" Target="../media/image50.wmf"/><Relationship Id="rId3" Type="http://schemas.openxmlformats.org/officeDocument/2006/relationships/image" Target="../media/image60.wmf"/><Relationship Id="rId7" Type="http://schemas.openxmlformats.org/officeDocument/2006/relationships/image" Target="../media/image64.wmf"/><Relationship Id="rId12" Type="http://schemas.openxmlformats.org/officeDocument/2006/relationships/image" Target="../media/image69.wmf"/><Relationship Id="rId2" Type="http://schemas.openxmlformats.org/officeDocument/2006/relationships/image" Target="../media/image59.wmf"/><Relationship Id="rId1" Type="http://schemas.openxmlformats.org/officeDocument/2006/relationships/image" Target="../media/image58.wmf"/><Relationship Id="rId6" Type="http://schemas.openxmlformats.org/officeDocument/2006/relationships/image" Target="../media/image63.wmf"/><Relationship Id="rId11" Type="http://schemas.openxmlformats.org/officeDocument/2006/relationships/image" Target="../media/image68.wmf"/><Relationship Id="rId5" Type="http://schemas.openxmlformats.org/officeDocument/2006/relationships/image" Target="../media/image62.wmf"/><Relationship Id="rId10" Type="http://schemas.openxmlformats.org/officeDocument/2006/relationships/image" Target="../media/image67.wmf"/><Relationship Id="rId4" Type="http://schemas.openxmlformats.org/officeDocument/2006/relationships/image" Target="../media/image61.wmf"/><Relationship Id="rId9" Type="http://schemas.openxmlformats.org/officeDocument/2006/relationships/image" Target="../media/image66.wmf"/><Relationship Id="rId14" Type="http://schemas.openxmlformats.org/officeDocument/2006/relationships/image" Target="../media/image70.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image" Target="../media/image73.wmf"/><Relationship Id="rId7" Type="http://schemas.openxmlformats.org/officeDocument/2006/relationships/image" Target="../media/image77.wmf"/><Relationship Id="rId2" Type="http://schemas.openxmlformats.org/officeDocument/2006/relationships/image" Target="../media/image72.wmf"/><Relationship Id="rId1" Type="http://schemas.openxmlformats.org/officeDocument/2006/relationships/image" Target="../media/image71.wmf"/><Relationship Id="rId6" Type="http://schemas.openxmlformats.org/officeDocument/2006/relationships/image" Target="../media/image76.wmf"/><Relationship Id="rId5" Type="http://schemas.openxmlformats.org/officeDocument/2006/relationships/image" Target="../media/image75.wmf"/><Relationship Id="rId4" Type="http://schemas.openxmlformats.org/officeDocument/2006/relationships/image" Target="../media/image74.wmf"/><Relationship Id="rId9" Type="http://schemas.openxmlformats.org/officeDocument/2006/relationships/image" Target="../media/image79.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83.wmf"/><Relationship Id="rId13" Type="http://schemas.openxmlformats.org/officeDocument/2006/relationships/image" Target="../media/image88.wmf"/><Relationship Id="rId3" Type="http://schemas.openxmlformats.org/officeDocument/2006/relationships/image" Target="../media/image77.wmf"/><Relationship Id="rId7" Type="http://schemas.openxmlformats.org/officeDocument/2006/relationships/image" Target="../media/image82.wmf"/><Relationship Id="rId12" Type="http://schemas.openxmlformats.org/officeDocument/2006/relationships/image" Target="../media/image87.wmf"/><Relationship Id="rId2" Type="http://schemas.openxmlformats.org/officeDocument/2006/relationships/image" Target="../media/image80.wmf"/><Relationship Id="rId1" Type="http://schemas.openxmlformats.org/officeDocument/2006/relationships/image" Target="../media/image75.wmf"/><Relationship Id="rId6" Type="http://schemas.openxmlformats.org/officeDocument/2006/relationships/image" Target="../media/image81.wmf"/><Relationship Id="rId11" Type="http://schemas.openxmlformats.org/officeDocument/2006/relationships/image" Target="../media/image86.wmf"/><Relationship Id="rId5" Type="http://schemas.openxmlformats.org/officeDocument/2006/relationships/image" Target="../media/image79.wmf"/><Relationship Id="rId10" Type="http://schemas.openxmlformats.org/officeDocument/2006/relationships/image" Target="../media/image85.wmf"/><Relationship Id="rId4" Type="http://schemas.openxmlformats.org/officeDocument/2006/relationships/image" Target="../media/image78.wmf"/><Relationship Id="rId9" Type="http://schemas.openxmlformats.org/officeDocument/2006/relationships/image" Target="../media/image84.wmf"/><Relationship Id="rId14" Type="http://schemas.openxmlformats.org/officeDocument/2006/relationships/image" Target="../media/image89.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90.wmf"/><Relationship Id="rId1" Type="http://schemas.openxmlformats.org/officeDocument/2006/relationships/image" Target="../media/image8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92.wmf"/><Relationship Id="rId5" Type="http://schemas.openxmlformats.org/officeDocument/2006/relationships/image" Target="../media/image96.wmf"/><Relationship Id="rId4" Type="http://schemas.openxmlformats.org/officeDocument/2006/relationships/image" Target="../media/image95.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 Id="rId6" Type="http://schemas.openxmlformats.org/officeDocument/2006/relationships/image" Target="../media/image103.wmf"/><Relationship Id="rId5" Type="http://schemas.openxmlformats.org/officeDocument/2006/relationships/image" Target="../media/image102.wmf"/><Relationship Id="rId4" Type="http://schemas.openxmlformats.org/officeDocument/2006/relationships/image" Target="../media/image101.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04.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 Id="rId5" Type="http://schemas.openxmlformats.org/officeDocument/2006/relationships/image" Target="../media/image109.wmf"/><Relationship Id="rId4" Type="http://schemas.openxmlformats.org/officeDocument/2006/relationships/image" Target="../media/image108.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17.wmf"/><Relationship Id="rId13" Type="http://schemas.openxmlformats.org/officeDocument/2006/relationships/image" Target="../media/image122.wmf"/><Relationship Id="rId18" Type="http://schemas.openxmlformats.org/officeDocument/2006/relationships/image" Target="../media/image127.wmf"/><Relationship Id="rId3" Type="http://schemas.openxmlformats.org/officeDocument/2006/relationships/image" Target="../media/image112.wmf"/><Relationship Id="rId7" Type="http://schemas.openxmlformats.org/officeDocument/2006/relationships/image" Target="../media/image116.wmf"/><Relationship Id="rId12" Type="http://schemas.openxmlformats.org/officeDocument/2006/relationships/image" Target="../media/image121.wmf"/><Relationship Id="rId17" Type="http://schemas.openxmlformats.org/officeDocument/2006/relationships/image" Target="../media/image126.wmf"/><Relationship Id="rId2" Type="http://schemas.openxmlformats.org/officeDocument/2006/relationships/image" Target="../media/image111.wmf"/><Relationship Id="rId16" Type="http://schemas.openxmlformats.org/officeDocument/2006/relationships/image" Target="../media/image125.wmf"/><Relationship Id="rId20" Type="http://schemas.openxmlformats.org/officeDocument/2006/relationships/image" Target="../media/image129.wmf"/><Relationship Id="rId1" Type="http://schemas.openxmlformats.org/officeDocument/2006/relationships/image" Target="../media/image110.wmf"/><Relationship Id="rId6" Type="http://schemas.openxmlformats.org/officeDocument/2006/relationships/image" Target="../media/image115.wmf"/><Relationship Id="rId11" Type="http://schemas.openxmlformats.org/officeDocument/2006/relationships/image" Target="../media/image120.wmf"/><Relationship Id="rId5" Type="http://schemas.openxmlformats.org/officeDocument/2006/relationships/image" Target="../media/image114.wmf"/><Relationship Id="rId15" Type="http://schemas.openxmlformats.org/officeDocument/2006/relationships/image" Target="../media/image124.wmf"/><Relationship Id="rId10" Type="http://schemas.openxmlformats.org/officeDocument/2006/relationships/image" Target="../media/image119.wmf"/><Relationship Id="rId19" Type="http://schemas.openxmlformats.org/officeDocument/2006/relationships/image" Target="../media/image128.wmf"/><Relationship Id="rId4" Type="http://schemas.openxmlformats.org/officeDocument/2006/relationships/image" Target="../media/image113.wmf"/><Relationship Id="rId9" Type="http://schemas.openxmlformats.org/officeDocument/2006/relationships/image" Target="../media/image118.wmf"/><Relationship Id="rId14" Type="http://schemas.openxmlformats.org/officeDocument/2006/relationships/image" Target="../media/image123.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image" Target="../media/image131.wmf"/><Relationship Id="rId1" Type="http://schemas.openxmlformats.org/officeDocument/2006/relationships/image" Target="../media/image130.wmf"/><Relationship Id="rId4" Type="http://schemas.openxmlformats.org/officeDocument/2006/relationships/image" Target="../media/image133.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wmf"/><Relationship Id="rId6" Type="http://schemas.openxmlformats.org/officeDocument/2006/relationships/image" Target="../media/image142.wmf"/><Relationship Id="rId5" Type="http://schemas.openxmlformats.org/officeDocument/2006/relationships/image" Target="../media/image141.wmf"/><Relationship Id="rId4" Type="http://schemas.openxmlformats.org/officeDocument/2006/relationships/image" Target="../media/image140.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image" Target="../media/image101.wmf"/><Relationship Id="rId1" Type="http://schemas.openxmlformats.org/officeDocument/2006/relationships/image" Target="../media/image143.wmf"/><Relationship Id="rId4" Type="http://schemas.openxmlformats.org/officeDocument/2006/relationships/image" Target="../media/image103.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52.wmf"/><Relationship Id="rId3" Type="http://schemas.openxmlformats.org/officeDocument/2006/relationships/image" Target="../media/image147.wmf"/><Relationship Id="rId7" Type="http://schemas.openxmlformats.org/officeDocument/2006/relationships/image" Target="../media/image151.wmf"/><Relationship Id="rId2" Type="http://schemas.openxmlformats.org/officeDocument/2006/relationships/image" Target="../media/image146.wmf"/><Relationship Id="rId1" Type="http://schemas.openxmlformats.org/officeDocument/2006/relationships/image" Target="../media/image145.wmf"/><Relationship Id="rId6" Type="http://schemas.openxmlformats.org/officeDocument/2006/relationships/image" Target="../media/image150.wmf"/><Relationship Id="rId5" Type="http://schemas.openxmlformats.org/officeDocument/2006/relationships/image" Target="../media/image149.wmf"/><Relationship Id="rId4" Type="http://schemas.openxmlformats.org/officeDocument/2006/relationships/image" Target="../media/image148.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55.wmf"/><Relationship Id="rId2" Type="http://schemas.openxmlformats.org/officeDocument/2006/relationships/image" Target="../media/image154.wmf"/><Relationship Id="rId1" Type="http://schemas.openxmlformats.org/officeDocument/2006/relationships/image" Target="../media/image153.wmf"/><Relationship Id="rId4" Type="http://schemas.openxmlformats.org/officeDocument/2006/relationships/image" Target="../media/image156.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60.wmf"/><Relationship Id="rId2" Type="http://schemas.openxmlformats.org/officeDocument/2006/relationships/image" Target="../media/image159.wmf"/><Relationship Id="rId1" Type="http://schemas.openxmlformats.org/officeDocument/2006/relationships/image" Target="../media/image158.wmf"/><Relationship Id="rId5" Type="http://schemas.openxmlformats.org/officeDocument/2006/relationships/image" Target="../media/image162.wmf"/><Relationship Id="rId4" Type="http://schemas.openxmlformats.org/officeDocument/2006/relationships/image" Target="../media/image161.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58.wmf"/><Relationship Id="rId2" Type="http://schemas.openxmlformats.org/officeDocument/2006/relationships/image" Target="../media/image164.wmf"/><Relationship Id="rId1" Type="http://schemas.openxmlformats.org/officeDocument/2006/relationships/image" Target="../media/image163.wmf"/><Relationship Id="rId5" Type="http://schemas.openxmlformats.org/officeDocument/2006/relationships/image" Target="../media/image166.wmf"/><Relationship Id="rId4" Type="http://schemas.openxmlformats.org/officeDocument/2006/relationships/image" Target="../media/image165.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178.wmf"/><Relationship Id="rId3" Type="http://schemas.openxmlformats.org/officeDocument/2006/relationships/image" Target="../media/image173.wmf"/><Relationship Id="rId7" Type="http://schemas.openxmlformats.org/officeDocument/2006/relationships/image" Target="../media/image177.wmf"/><Relationship Id="rId2" Type="http://schemas.openxmlformats.org/officeDocument/2006/relationships/image" Target="../media/image172.wmf"/><Relationship Id="rId1" Type="http://schemas.openxmlformats.org/officeDocument/2006/relationships/image" Target="../media/image171.wmf"/><Relationship Id="rId6" Type="http://schemas.openxmlformats.org/officeDocument/2006/relationships/image" Target="../media/image176.wmf"/><Relationship Id="rId5" Type="http://schemas.openxmlformats.org/officeDocument/2006/relationships/image" Target="../media/image175.wmf"/><Relationship Id="rId10" Type="http://schemas.openxmlformats.org/officeDocument/2006/relationships/image" Target="../media/image180.wmf"/><Relationship Id="rId4" Type="http://schemas.openxmlformats.org/officeDocument/2006/relationships/image" Target="../media/image174.wmf"/><Relationship Id="rId9" Type="http://schemas.openxmlformats.org/officeDocument/2006/relationships/image" Target="../media/image179.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83.wmf"/><Relationship Id="rId2" Type="http://schemas.openxmlformats.org/officeDocument/2006/relationships/image" Target="../media/image182.wmf"/><Relationship Id="rId1" Type="http://schemas.openxmlformats.org/officeDocument/2006/relationships/image" Target="../media/image181.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83.wmf"/><Relationship Id="rId2" Type="http://schemas.openxmlformats.org/officeDocument/2006/relationships/image" Target="../media/image185.wmf"/><Relationship Id="rId1" Type="http://schemas.openxmlformats.org/officeDocument/2006/relationships/image" Target="../media/image184.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193.wmf"/><Relationship Id="rId3" Type="http://schemas.openxmlformats.org/officeDocument/2006/relationships/image" Target="../media/image188.wmf"/><Relationship Id="rId7" Type="http://schemas.openxmlformats.org/officeDocument/2006/relationships/image" Target="../media/image192.wmf"/><Relationship Id="rId2" Type="http://schemas.openxmlformats.org/officeDocument/2006/relationships/image" Target="../media/image187.wmf"/><Relationship Id="rId1" Type="http://schemas.openxmlformats.org/officeDocument/2006/relationships/image" Target="../media/image186.wmf"/><Relationship Id="rId6" Type="http://schemas.openxmlformats.org/officeDocument/2006/relationships/image" Target="../media/image191.wmf"/><Relationship Id="rId5" Type="http://schemas.openxmlformats.org/officeDocument/2006/relationships/image" Target="../media/image190.wmf"/><Relationship Id="rId4" Type="http://schemas.openxmlformats.org/officeDocument/2006/relationships/image" Target="../media/image189.wmf"/><Relationship Id="rId9" Type="http://schemas.openxmlformats.org/officeDocument/2006/relationships/image" Target="../media/image194.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98.wmf"/><Relationship Id="rId2" Type="http://schemas.openxmlformats.org/officeDocument/2006/relationships/image" Target="../media/image197.wmf"/><Relationship Id="rId1" Type="http://schemas.openxmlformats.org/officeDocument/2006/relationships/image" Target="../media/image196.wmf"/><Relationship Id="rId5" Type="http://schemas.openxmlformats.org/officeDocument/2006/relationships/image" Target="../media/image200.wmf"/><Relationship Id="rId4" Type="http://schemas.openxmlformats.org/officeDocument/2006/relationships/image" Target="../media/image199.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204.wmf"/><Relationship Id="rId2" Type="http://schemas.openxmlformats.org/officeDocument/2006/relationships/image" Target="../media/image203.wmf"/><Relationship Id="rId1" Type="http://schemas.openxmlformats.org/officeDocument/2006/relationships/image" Target="../media/image202.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207.wmf"/><Relationship Id="rId2" Type="http://schemas.openxmlformats.org/officeDocument/2006/relationships/image" Target="../media/image206.wmf"/><Relationship Id="rId1" Type="http://schemas.openxmlformats.org/officeDocument/2006/relationships/image" Target="../media/image205.wmf"/><Relationship Id="rId5" Type="http://schemas.openxmlformats.org/officeDocument/2006/relationships/image" Target="../media/image209.wmf"/><Relationship Id="rId4" Type="http://schemas.openxmlformats.org/officeDocument/2006/relationships/image" Target="../media/image208.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214.wmf"/><Relationship Id="rId2" Type="http://schemas.openxmlformats.org/officeDocument/2006/relationships/image" Target="../media/image213.wmf"/><Relationship Id="rId1" Type="http://schemas.openxmlformats.org/officeDocument/2006/relationships/image" Target="../media/image212.wmf"/><Relationship Id="rId4" Type="http://schemas.openxmlformats.org/officeDocument/2006/relationships/image" Target="../media/image215.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17.wmf"/><Relationship Id="rId2" Type="http://schemas.openxmlformats.org/officeDocument/2006/relationships/image" Target="../media/image216.wmf"/><Relationship Id="rId1" Type="http://schemas.openxmlformats.org/officeDocument/2006/relationships/image" Target="../media/image213.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230.wmf"/><Relationship Id="rId1" Type="http://schemas.openxmlformats.org/officeDocument/2006/relationships/image" Target="../media/image229.w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240.wmf"/><Relationship Id="rId3" Type="http://schemas.openxmlformats.org/officeDocument/2006/relationships/image" Target="../media/image235.wmf"/><Relationship Id="rId7" Type="http://schemas.openxmlformats.org/officeDocument/2006/relationships/image" Target="../media/image239.wmf"/><Relationship Id="rId2" Type="http://schemas.openxmlformats.org/officeDocument/2006/relationships/image" Target="../media/image234.wmf"/><Relationship Id="rId1" Type="http://schemas.openxmlformats.org/officeDocument/2006/relationships/image" Target="../media/image233.wmf"/><Relationship Id="rId6" Type="http://schemas.openxmlformats.org/officeDocument/2006/relationships/image" Target="../media/image238.wmf"/><Relationship Id="rId5" Type="http://schemas.openxmlformats.org/officeDocument/2006/relationships/image" Target="../media/image237.wmf"/><Relationship Id="rId4" Type="http://schemas.openxmlformats.org/officeDocument/2006/relationships/image" Target="../media/image236.wmf"/><Relationship Id="rId9" Type="http://schemas.openxmlformats.org/officeDocument/2006/relationships/image" Target="../media/image241.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244.wmf"/><Relationship Id="rId2" Type="http://schemas.openxmlformats.org/officeDocument/2006/relationships/image" Target="../media/image243.wmf"/><Relationship Id="rId1" Type="http://schemas.openxmlformats.org/officeDocument/2006/relationships/image" Target="../media/image242.wmf"/><Relationship Id="rId4" Type="http://schemas.openxmlformats.org/officeDocument/2006/relationships/image" Target="../media/image245.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246.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51.wmf"/><Relationship Id="rId2" Type="http://schemas.openxmlformats.org/officeDocument/2006/relationships/image" Target="../media/image250.wmf"/><Relationship Id="rId1" Type="http://schemas.openxmlformats.org/officeDocument/2006/relationships/image" Target="../media/image24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2098" cy="496706"/>
          </a:xfrm>
          <a:prstGeom prst="rect">
            <a:avLst/>
          </a:prstGeom>
        </p:spPr>
        <p:txBody>
          <a:bodyPr vert="horz" lIns="88651" tIns="44326" rIns="88651" bIns="44326" rtlCol="0"/>
          <a:lstStyle>
            <a:lvl1pPr algn="l">
              <a:defRPr sz="1200">
                <a:latin typeface="Arial" charset="0"/>
              </a:defRPr>
            </a:lvl1pPr>
          </a:lstStyle>
          <a:p>
            <a:pPr>
              <a:defRPr/>
            </a:pPr>
            <a:endParaRPr lang="zh-CN" altLang="en-US"/>
          </a:p>
        </p:txBody>
      </p:sp>
      <p:sp>
        <p:nvSpPr>
          <p:cNvPr id="3" name="日期占位符 2"/>
          <p:cNvSpPr>
            <a:spLocks noGrp="1"/>
          </p:cNvSpPr>
          <p:nvPr>
            <p:ph type="dt" sz="quarter" idx="1"/>
          </p:nvPr>
        </p:nvSpPr>
        <p:spPr>
          <a:xfrm>
            <a:off x="3884414" y="0"/>
            <a:ext cx="2972098" cy="496706"/>
          </a:xfrm>
          <a:prstGeom prst="rect">
            <a:avLst/>
          </a:prstGeom>
        </p:spPr>
        <p:txBody>
          <a:bodyPr vert="horz" lIns="88651" tIns="44326" rIns="88651" bIns="44326" rtlCol="0"/>
          <a:lstStyle>
            <a:lvl1pPr algn="r">
              <a:defRPr sz="1200">
                <a:latin typeface="Arial" charset="0"/>
              </a:defRPr>
            </a:lvl1pPr>
          </a:lstStyle>
          <a:p>
            <a:pPr>
              <a:defRPr/>
            </a:pPr>
            <a:fld id="{CB6546D7-55A0-4F6B-B749-794C1FA7637D}" type="datetimeFigureOut">
              <a:rPr lang="zh-CN" altLang="en-US"/>
              <a:pPr>
                <a:defRPr/>
              </a:pPr>
              <a:t>2023/11/26</a:t>
            </a:fld>
            <a:endParaRPr lang="zh-CN" altLang="en-US"/>
          </a:p>
        </p:txBody>
      </p:sp>
      <p:sp>
        <p:nvSpPr>
          <p:cNvPr id="4" name="页脚占位符 3"/>
          <p:cNvSpPr>
            <a:spLocks noGrp="1"/>
          </p:cNvSpPr>
          <p:nvPr>
            <p:ph type="ftr" sz="quarter" idx="2"/>
          </p:nvPr>
        </p:nvSpPr>
        <p:spPr>
          <a:xfrm>
            <a:off x="0" y="9448925"/>
            <a:ext cx="2972098" cy="496706"/>
          </a:xfrm>
          <a:prstGeom prst="rect">
            <a:avLst/>
          </a:prstGeom>
        </p:spPr>
        <p:txBody>
          <a:bodyPr vert="horz" lIns="88651" tIns="44326" rIns="88651" bIns="44326" rtlCol="0" anchor="b"/>
          <a:lstStyle>
            <a:lvl1pPr algn="l">
              <a:defRPr sz="1200">
                <a:latin typeface="Arial" charset="0"/>
              </a:defRPr>
            </a:lvl1pPr>
          </a:lstStyle>
          <a:p>
            <a:pPr>
              <a:defRPr/>
            </a:pPr>
            <a:endParaRPr lang="zh-CN" altLang="en-US"/>
          </a:p>
        </p:txBody>
      </p:sp>
      <p:sp>
        <p:nvSpPr>
          <p:cNvPr id="5" name="灯片编号占位符 4"/>
          <p:cNvSpPr>
            <a:spLocks noGrp="1"/>
          </p:cNvSpPr>
          <p:nvPr>
            <p:ph type="sldNum" sz="quarter" idx="3"/>
          </p:nvPr>
        </p:nvSpPr>
        <p:spPr>
          <a:xfrm>
            <a:off x="3884414" y="9448925"/>
            <a:ext cx="2972098" cy="496706"/>
          </a:xfrm>
          <a:prstGeom prst="rect">
            <a:avLst/>
          </a:prstGeom>
        </p:spPr>
        <p:txBody>
          <a:bodyPr vert="horz" lIns="88651" tIns="44326" rIns="88651" bIns="44326" rtlCol="0" anchor="b"/>
          <a:lstStyle>
            <a:lvl1pPr algn="r">
              <a:defRPr sz="1200">
                <a:latin typeface="Arial" charset="0"/>
              </a:defRPr>
            </a:lvl1pPr>
          </a:lstStyle>
          <a:p>
            <a:pPr>
              <a:defRPr/>
            </a:pPr>
            <a:fld id="{6B24D7E3-83D9-45BB-8074-07FABBCF58D9}" type="slidenum">
              <a:rPr lang="zh-CN" altLang="en-US"/>
              <a:pPr>
                <a:defRPr/>
              </a:pPr>
              <a:t>‹#›</a:t>
            </a:fld>
            <a:endParaRPr lang="zh-CN" altLang="en-US"/>
          </a:p>
        </p:txBody>
      </p:sp>
    </p:spTree>
    <p:extLst>
      <p:ext uri="{BB962C8B-B14F-4D97-AF65-F5344CB8AC3E}">
        <p14:creationId xmlns:p14="http://schemas.microsoft.com/office/powerpoint/2010/main" val="22669853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2098" cy="496706"/>
          </a:xfrm>
          <a:prstGeom prst="rect">
            <a:avLst/>
          </a:prstGeom>
        </p:spPr>
        <p:txBody>
          <a:bodyPr vert="horz" lIns="88651" tIns="44326" rIns="88651" bIns="44326" rtlCol="0"/>
          <a:lstStyle>
            <a:lvl1pPr algn="l">
              <a:defRPr sz="1200">
                <a:latin typeface="Arial" charset="0"/>
              </a:defRPr>
            </a:lvl1pPr>
          </a:lstStyle>
          <a:p>
            <a:pPr>
              <a:defRPr/>
            </a:pPr>
            <a:endParaRPr lang="zh-CN" altLang="en-US"/>
          </a:p>
        </p:txBody>
      </p:sp>
      <p:sp>
        <p:nvSpPr>
          <p:cNvPr id="3" name="日期占位符 2"/>
          <p:cNvSpPr>
            <a:spLocks noGrp="1"/>
          </p:cNvSpPr>
          <p:nvPr>
            <p:ph type="dt" idx="1"/>
          </p:nvPr>
        </p:nvSpPr>
        <p:spPr>
          <a:xfrm>
            <a:off x="3884414" y="0"/>
            <a:ext cx="2972098" cy="496706"/>
          </a:xfrm>
          <a:prstGeom prst="rect">
            <a:avLst/>
          </a:prstGeom>
        </p:spPr>
        <p:txBody>
          <a:bodyPr vert="horz" lIns="88651" tIns="44326" rIns="88651" bIns="44326" rtlCol="0"/>
          <a:lstStyle>
            <a:lvl1pPr algn="r">
              <a:defRPr sz="1200">
                <a:latin typeface="Arial" charset="0"/>
              </a:defRPr>
            </a:lvl1pPr>
          </a:lstStyle>
          <a:p>
            <a:pPr>
              <a:defRPr/>
            </a:pPr>
            <a:fld id="{E21E670D-491D-4C99-822F-11ABADEE1618}" type="datetimeFigureOut">
              <a:rPr lang="zh-CN" altLang="en-US"/>
              <a:pPr>
                <a:defRPr/>
              </a:pPr>
              <a:t>2023/11/26</a:t>
            </a:fld>
            <a:endParaRPr lang="zh-CN" altLang="en-US"/>
          </a:p>
        </p:txBody>
      </p:sp>
      <p:sp>
        <p:nvSpPr>
          <p:cNvPr id="4" name="幻灯片图像占位符 3"/>
          <p:cNvSpPr>
            <a:spLocks noGrp="1" noRot="1" noChangeAspect="1"/>
          </p:cNvSpPr>
          <p:nvPr>
            <p:ph type="sldImg" idx="2"/>
          </p:nvPr>
        </p:nvSpPr>
        <p:spPr>
          <a:xfrm>
            <a:off x="112713" y="746125"/>
            <a:ext cx="6632575" cy="3732213"/>
          </a:xfrm>
          <a:prstGeom prst="rect">
            <a:avLst/>
          </a:prstGeom>
          <a:noFill/>
          <a:ln w="12700">
            <a:solidFill>
              <a:prstClr val="black"/>
            </a:solidFill>
          </a:ln>
        </p:spPr>
        <p:txBody>
          <a:bodyPr vert="horz" lIns="88651" tIns="44326" rIns="88651" bIns="44326" rtlCol="0" anchor="ctr"/>
          <a:lstStyle/>
          <a:p>
            <a:pPr lvl="0"/>
            <a:endParaRPr lang="zh-CN" altLang="en-US" noProof="0"/>
          </a:p>
        </p:txBody>
      </p:sp>
      <p:sp>
        <p:nvSpPr>
          <p:cNvPr id="5" name="备注占位符 4"/>
          <p:cNvSpPr>
            <a:spLocks noGrp="1"/>
          </p:cNvSpPr>
          <p:nvPr>
            <p:ph type="body" sz="quarter" idx="3"/>
          </p:nvPr>
        </p:nvSpPr>
        <p:spPr>
          <a:xfrm>
            <a:off x="686098" y="4725286"/>
            <a:ext cx="5485805" cy="4475286"/>
          </a:xfrm>
          <a:prstGeom prst="rect">
            <a:avLst/>
          </a:prstGeom>
        </p:spPr>
        <p:txBody>
          <a:bodyPr vert="horz" lIns="88651" tIns="44326" rIns="88651" bIns="44326"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48925"/>
            <a:ext cx="2972098" cy="496706"/>
          </a:xfrm>
          <a:prstGeom prst="rect">
            <a:avLst/>
          </a:prstGeom>
        </p:spPr>
        <p:txBody>
          <a:bodyPr vert="horz" lIns="88651" tIns="44326" rIns="88651" bIns="44326" rtlCol="0" anchor="b"/>
          <a:lstStyle>
            <a:lvl1pPr algn="l">
              <a:defRPr sz="1200">
                <a:latin typeface="Arial" charset="0"/>
              </a:defRPr>
            </a:lvl1pPr>
          </a:lstStyle>
          <a:p>
            <a:pPr>
              <a:defRPr/>
            </a:pPr>
            <a:endParaRPr lang="zh-CN" altLang="en-US"/>
          </a:p>
        </p:txBody>
      </p:sp>
      <p:sp>
        <p:nvSpPr>
          <p:cNvPr id="7" name="灯片编号占位符 6"/>
          <p:cNvSpPr>
            <a:spLocks noGrp="1"/>
          </p:cNvSpPr>
          <p:nvPr>
            <p:ph type="sldNum" sz="quarter" idx="5"/>
          </p:nvPr>
        </p:nvSpPr>
        <p:spPr>
          <a:xfrm>
            <a:off x="3884414" y="9448925"/>
            <a:ext cx="2972098" cy="496706"/>
          </a:xfrm>
          <a:prstGeom prst="rect">
            <a:avLst/>
          </a:prstGeom>
        </p:spPr>
        <p:txBody>
          <a:bodyPr vert="horz" lIns="88651" tIns="44326" rIns="88651" bIns="44326" rtlCol="0" anchor="b"/>
          <a:lstStyle>
            <a:lvl1pPr algn="r">
              <a:defRPr sz="1200">
                <a:latin typeface="Arial" charset="0"/>
              </a:defRPr>
            </a:lvl1pPr>
          </a:lstStyle>
          <a:p>
            <a:pPr>
              <a:defRPr/>
            </a:pPr>
            <a:fld id="{064F8E74-9C04-43EC-B268-D3C0C73A25C8}" type="slidenum">
              <a:rPr lang="zh-CN" altLang="en-US"/>
              <a:pPr>
                <a:defRPr/>
              </a:pPr>
              <a:t>‹#›</a:t>
            </a:fld>
            <a:endParaRPr lang="zh-CN" altLang="en-US"/>
          </a:p>
        </p:txBody>
      </p:sp>
    </p:spTree>
    <p:extLst>
      <p:ext uri="{BB962C8B-B14F-4D97-AF65-F5344CB8AC3E}">
        <p14:creationId xmlns:p14="http://schemas.microsoft.com/office/powerpoint/2010/main" val="40811230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a:t>
            </a:fld>
            <a:endParaRPr lang="zh-CN" altLang="en-US"/>
          </a:p>
        </p:txBody>
      </p:sp>
    </p:spTree>
    <p:extLst>
      <p:ext uri="{BB962C8B-B14F-4D97-AF65-F5344CB8AC3E}">
        <p14:creationId xmlns:p14="http://schemas.microsoft.com/office/powerpoint/2010/main" val="3593370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3</a:t>
            </a:fld>
            <a:endParaRPr lang="zh-CN" altLang="en-US"/>
          </a:p>
        </p:txBody>
      </p:sp>
    </p:spTree>
    <p:extLst>
      <p:ext uri="{BB962C8B-B14F-4D97-AF65-F5344CB8AC3E}">
        <p14:creationId xmlns:p14="http://schemas.microsoft.com/office/powerpoint/2010/main" val="3399579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TextEdit="1"/>
          </p:cNvSpPr>
          <p:nvPr>
            <p:ph type="sldImg"/>
          </p:nvPr>
        </p:nvSpPr>
        <p:spPr>
          <a:xfrm>
            <a:off x="112713" y="746125"/>
            <a:ext cx="6632575" cy="3732213"/>
          </a:xfrm>
          <a:ln/>
        </p:spPr>
      </p:sp>
      <p:sp>
        <p:nvSpPr>
          <p:cNvPr id="140291" name="备注占位符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b="1" dirty="0">
                <a:latin typeface="宋体" panose="02010600030101010101" pitchFamily="2" charset="-122"/>
                <a:ea typeface="+mn-ea"/>
              </a:rPr>
              <a:t>对某类模式：压缩模式向量的维数</a:t>
            </a:r>
            <a:r>
              <a:rPr lang="en-US" altLang="zh-CN" sz="1200" b="1" dirty="0">
                <a:latin typeface="宋体" panose="02010600030101010101" pitchFamily="2" charset="-122"/>
                <a:ea typeface="+mn-ea"/>
              </a:rPr>
              <a:t>(</a:t>
            </a:r>
            <a:r>
              <a:rPr lang="en-US" altLang="zh-CN" sz="1200" dirty="0"/>
              <a:t>Dimension reduction</a:t>
            </a:r>
            <a:r>
              <a:rPr lang="en-US" altLang="zh-CN" sz="1200" b="1" dirty="0">
                <a:latin typeface="宋体" panose="02010600030101010101" pitchFamily="2" charset="-122"/>
                <a:ea typeface="+mn-ea"/>
              </a:rPr>
              <a:t>)</a:t>
            </a:r>
            <a:r>
              <a:rPr lang="zh-CN" altLang="en-US" sz="1200" b="1" dirty="0">
                <a:latin typeface="宋体" panose="02010600030101010101" pitchFamily="2" charset="-122"/>
                <a:ea typeface="+mn-ea"/>
              </a:rPr>
              <a:t>。 </a:t>
            </a:r>
          </a:p>
          <a:p>
            <a:r>
              <a:rPr lang="zh-CN" altLang="en-US" sz="1200" b="1" dirty="0">
                <a:latin typeface="宋体" panose="02010600030101010101" pitchFamily="2" charset="-122"/>
                <a:ea typeface="+mn-ea"/>
              </a:rPr>
              <a:t>对多类分类：压缩维数；保留类别间的鉴别信息，突出可分性。 </a:t>
            </a:r>
            <a:endParaRPr lang="zh-CN" altLang="en-US" dirty="0">
              <a:ea typeface="宋体" charset="-122"/>
            </a:endParaRPr>
          </a:p>
        </p:txBody>
      </p:sp>
      <p:sp>
        <p:nvSpPr>
          <p:cNvPr id="140292" name="灯片编号占位符 3"/>
          <p:cNvSpPr>
            <a:spLocks noGrp="1"/>
          </p:cNvSpPr>
          <p:nvPr>
            <p:ph type="sldNum" sz="quarter" idx="5"/>
          </p:nvPr>
        </p:nvSpPr>
        <p:spPr>
          <a:noFill/>
        </p:spPr>
        <p:txBody>
          <a:bodyPr/>
          <a:lstStyle/>
          <a:p>
            <a:fld id="{94E07BE6-298C-4372-91D2-355885C5E8C0}" type="slidenum">
              <a:rPr lang="en-US" altLang="zh-CN" smtClean="0">
                <a:ea typeface="宋体" charset="-122"/>
              </a:rPr>
              <a:pPr/>
              <a:t>4</a:t>
            </a:fld>
            <a:endParaRPr lang="en-US" altLang="zh-CN">
              <a:ea typeface="宋体" charset="-122"/>
            </a:endParaRPr>
          </a:p>
        </p:txBody>
      </p:sp>
    </p:spTree>
    <p:extLst>
      <p:ext uri="{BB962C8B-B14F-4D97-AF65-F5344CB8AC3E}">
        <p14:creationId xmlns:p14="http://schemas.microsoft.com/office/powerpoint/2010/main" val="3924147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a:xfrm>
            <a:off x="112713" y="746125"/>
            <a:ext cx="6632575" cy="3732213"/>
          </a:xfrm>
          <a:ln/>
        </p:spPr>
      </p:sp>
      <p:sp>
        <p:nvSpPr>
          <p:cNvPr id="141315" name="备注占位符 2"/>
          <p:cNvSpPr>
            <a:spLocks noGrp="1"/>
          </p:cNvSpPr>
          <p:nvPr>
            <p:ph type="body" idx="1"/>
          </p:nvPr>
        </p:nvSpPr>
        <p:spPr>
          <a:noFill/>
          <a:ln/>
        </p:spPr>
        <p:txBody>
          <a:bodyPr/>
          <a:lstStyle/>
          <a:p>
            <a:endParaRPr lang="zh-CN" altLang="en-US">
              <a:ea typeface="宋体" charset="-122"/>
            </a:endParaRPr>
          </a:p>
        </p:txBody>
      </p:sp>
      <p:sp>
        <p:nvSpPr>
          <p:cNvPr id="141316" name="灯片编号占位符 3"/>
          <p:cNvSpPr>
            <a:spLocks noGrp="1"/>
          </p:cNvSpPr>
          <p:nvPr>
            <p:ph type="sldNum" sz="quarter" idx="5"/>
          </p:nvPr>
        </p:nvSpPr>
        <p:spPr>
          <a:noFill/>
        </p:spPr>
        <p:txBody>
          <a:bodyPr/>
          <a:lstStyle/>
          <a:p>
            <a:fld id="{20AB16DA-00F0-4C50-A203-75EB922BBE03}" type="slidenum">
              <a:rPr lang="en-US" altLang="zh-CN" smtClean="0">
                <a:ea typeface="宋体" charset="-122"/>
              </a:rPr>
              <a:pPr/>
              <a:t>5</a:t>
            </a:fld>
            <a:endParaRPr lang="en-US" altLang="zh-CN">
              <a:ea typeface="宋体" charset="-122"/>
            </a:endParaRPr>
          </a:p>
        </p:txBody>
      </p:sp>
    </p:spTree>
    <p:extLst>
      <p:ext uri="{BB962C8B-B14F-4D97-AF65-F5344CB8AC3E}">
        <p14:creationId xmlns:p14="http://schemas.microsoft.com/office/powerpoint/2010/main" val="4273697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a:xfrm>
            <a:off x="112713" y="746125"/>
            <a:ext cx="6632575" cy="3732213"/>
          </a:xfrm>
          <a:ln/>
        </p:spPr>
      </p:sp>
      <p:sp>
        <p:nvSpPr>
          <p:cNvPr id="141315" name="备注占位符 2"/>
          <p:cNvSpPr>
            <a:spLocks noGrp="1"/>
          </p:cNvSpPr>
          <p:nvPr>
            <p:ph type="body" idx="1"/>
          </p:nvPr>
        </p:nvSpPr>
        <p:spPr>
          <a:noFill/>
          <a:ln/>
        </p:spPr>
        <p:txBody>
          <a:bodyPr/>
          <a:lstStyle/>
          <a:p>
            <a:endParaRPr lang="zh-CN" altLang="en-US">
              <a:ea typeface="宋体" charset="-122"/>
            </a:endParaRPr>
          </a:p>
        </p:txBody>
      </p:sp>
      <p:sp>
        <p:nvSpPr>
          <p:cNvPr id="141316" name="灯片编号占位符 3"/>
          <p:cNvSpPr>
            <a:spLocks noGrp="1"/>
          </p:cNvSpPr>
          <p:nvPr>
            <p:ph type="sldNum" sz="quarter" idx="5"/>
          </p:nvPr>
        </p:nvSpPr>
        <p:spPr>
          <a:noFill/>
        </p:spPr>
        <p:txBody>
          <a:bodyPr/>
          <a:lstStyle/>
          <a:p>
            <a:fld id="{20AB16DA-00F0-4C50-A203-75EB922BBE03}" type="slidenum">
              <a:rPr lang="en-US" altLang="zh-CN" smtClean="0">
                <a:ea typeface="宋体" charset="-122"/>
              </a:rPr>
              <a:pPr/>
              <a:t>6</a:t>
            </a:fld>
            <a:endParaRPr lang="en-US" altLang="zh-CN">
              <a:ea typeface="宋体" charset="-122"/>
            </a:endParaRPr>
          </a:p>
        </p:txBody>
      </p:sp>
    </p:spTree>
    <p:extLst>
      <p:ext uri="{BB962C8B-B14F-4D97-AF65-F5344CB8AC3E}">
        <p14:creationId xmlns:p14="http://schemas.microsoft.com/office/powerpoint/2010/main" val="35930127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a:xfrm>
            <a:off x="112713" y="746125"/>
            <a:ext cx="6632575" cy="3732213"/>
          </a:xfrm>
          <a:ln/>
        </p:spPr>
      </p:sp>
      <p:sp>
        <p:nvSpPr>
          <p:cNvPr id="141315" name="备注占位符 2"/>
          <p:cNvSpPr>
            <a:spLocks noGrp="1"/>
          </p:cNvSpPr>
          <p:nvPr>
            <p:ph type="body" idx="1"/>
          </p:nvPr>
        </p:nvSpPr>
        <p:spPr>
          <a:noFill/>
          <a:ln/>
        </p:spPr>
        <p:txBody>
          <a:bodyPr/>
          <a:lstStyle/>
          <a:p>
            <a:r>
              <a:rPr lang="en-US" altLang="zh-CN" dirty="0">
                <a:ea typeface="宋体" charset="-122"/>
              </a:rPr>
              <a:t>2021zlm </a:t>
            </a:r>
            <a:r>
              <a:rPr lang="en-US" altLang="zh-CN" dirty="0" err="1">
                <a:ea typeface="宋体" charset="-122"/>
              </a:rPr>
              <a:t>Sw</a:t>
            </a:r>
            <a:r>
              <a:rPr lang="zh-CN" altLang="en-US" dirty="0">
                <a:ea typeface="宋体" charset="-122"/>
              </a:rPr>
              <a:t>和</a:t>
            </a:r>
            <a:r>
              <a:rPr lang="en-US" altLang="zh-CN" dirty="0">
                <a:ea typeface="宋体" charset="-122"/>
              </a:rPr>
              <a:t>SB</a:t>
            </a:r>
            <a:r>
              <a:rPr lang="zh-CN" altLang="en-US" dirty="0">
                <a:ea typeface="宋体" charset="-122"/>
              </a:rPr>
              <a:t>要看特征选择中的计算公式</a:t>
            </a:r>
          </a:p>
        </p:txBody>
      </p:sp>
      <p:sp>
        <p:nvSpPr>
          <p:cNvPr id="141316" name="灯片编号占位符 3"/>
          <p:cNvSpPr>
            <a:spLocks noGrp="1"/>
          </p:cNvSpPr>
          <p:nvPr>
            <p:ph type="sldNum" sz="quarter" idx="5"/>
          </p:nvPr>
        </p:nvSpPr>
        <p:spPr>
          <a:noFill/>
        </p:spPr>
        <p:txBody>
          <a:bodyPr/>
          <a:lstStyle/>
          <a:p>
            <a:fld id="{20AB16DA-00F0-4C50-A203-75EB922BBE03}" type="slidenum">
              <a:rPr lang="en-US" altLang="zh-CN" smtClean="0">
                <a:ea typeface="宋体" charset="-122"/>
              </a:rPr>
              <a:pPr/>
              <a:t>7</a:t>
            </a:fld>
            <a:endParaRPr lang="en-US" altLang="zh-CN">
              <a:ea typeface="宋体" charset="-122"/>
            </a:endParaRPr>
          </a:p>
        </p:txBody>
      </p:sp>
    </p:spTree>
    <p:extLst>
      <p:ext uri="{BB962C8B-B14F-4D97-AF65-F5344CB8AC3E}">
        <p14:creationId xmlns:p14="http://schemas.microsoft.com/office/powerpoint/2010/main" val="15767095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en-US" altLang="zh-CN" dirty="0"/>
              <a:t>Zlm</a:t>
            </a:r>
            <a:r>
              <a:rPr lang="zh-CN" altLang="en-US" dirty="0"/>
              <a:t>改：经过</a:t>
            </a:r>
            <a:r>
              <a:rPr lang="en-US" altLang="zh-CN" dirty="0"/>
              <a:t>W</a:t>
            </a:r>
            <a:r>
              <a:rPr lang="zh-CN" altLang="en-US" dirty="0"/>
              <a:t>变换后，类内离散度矩阵和类间离散度矩阵分别为。</a:t>
            </a:r>
            <a:endParaRPr lang="en-US" altLang="zh-CN" dirty="0"/>
          </a:p>
          <a:p>
            <a:r>
              <a:rPr lang="zh-CN" altLang="en-US" dirty="0"/>
              <a:t>目标</a:t>
            </a:r>
            <a:endParaRPr lang="en-US" altLang="zh-CN" dirty="0"/>
          </a:p>
          <a:p>
            <a:endParaRPr lang="en-US" altLang="zh-CN" dirty="0"/>
          </a:p>
          <a:p>
            <a:r>
              <a:rPr lang="zh-CN" altLang="en-US" dirty="0"/>
              <a:t>准则形式虽不同，但得到的最优变换矩阵</a:t>
            </a:r>
            <a:r>
              <a:rPr lang="en-US" altLang="zh-CN" dirty="0"/>
              <a:t>W</a:t>
            </a:r>
            <a:r>
              <a:rPr lang="zh-CN" altLang="en-US" dirty="0"/>
              <a:t>是相同的</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8</a:t>
            </a:fld>
            <a:endParaRPr lang="zh-CN" altLang="en-US"/>
          </a:p>
        </p:txBody>
      </p:sp>
    </p:spTree>
    <p:extLst>
      <p:ext uri="{BB962C8B-B14F-4D97-AF65-F5344CB8AC3E}">
        <p14:creationId xmlns:p14="http://schemas.microsoft.com/office/powerpoint/2010/main" val="2004083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p>
            <a:fld id="{A9EB582F-196B-4504-93AA-6B6A9FDA98FE}" type="slidenum">
              <a:rPr lang="zh-CN" altLang="en-US" smtClean="0">
                <a:ea typeface="宋体" charset="-122"/>
              </a:rPr>
              <a:pPr/>
              <a:t>9</a:t>
            </a:fld>
            <a:endParaRPr lang="en-US" altLang="zh-CN">
              <a:ea typeface="宋体" charset="-122"/>
            </a:endParaRPr>
          </a:p>
        </p:txBody>
      </p:sp>
      <p:sp>
        <p:nvSpPr>
          <p:cNvPr id="144387" name="Rectangle 2"/>
          <p:cNvSpPr>
            <a:spLocks noGrp="1" noRot="1" noChangeAspect="1" noChangeArrowheads="1" noTextEdit="1"/>
          </p:cNvSpPr>
          <p:nvPr>
            <p:ph type="sldImg"/>
          </p:nvPr>
        </p:nvSpPr>
        <p:spPr>
          <a:xfrm>
            <a:off x="112713" y="746125"/>
            <a:ext cx="6632575" cy="3732213"/>
          </a:xfrm>
          <a:ln/>
        </p:spPr>
      </p:sp>
      <p:sp>
        <p:nvSpPr>
          <p:cNvPr id="144388" name="Rectangle 3"/>
          <p:cNvSpPr>
            <a:spLocks noGrp="1" noChangeArrowheads="1"/>
          </p:cNvSpPr>
          <p:nvPr>
            <p:ph type="body" idx="1"/>
          </p:nvPr>
        </p:nvSpPr>
        <p:spPr>
          <a:noFill/>
          <a:ln/>
        </p:spPr>
        <p:txBody>
          <a:bodyPr/>
          <a:lstStyle/>
          <a:p>
            <a:r>
              <a:rPr lang="en-US" altLang="zh-CN" dirty="0">
                <a:latin typeface="楷体_GB2312" pitchFamily="49" charset="-122"/>
                <a:ea typeface="楷体_GB2312" pitchFamily="49" charset="-122"/>
              </a:rPr>
              <a:t>J2</a:t>
            </a:r>
            <a:r>
              <a:rPr lang="zh-CN" altLang="en-US" dirty="0">
                <a:latin typeface="楷体_GB2312" pitchFamily="49" charset="-122"/>
                <a:ea typeface="楷体_GB2312" pitchFamily="49" charset="-122"/>
              </a:rPr>
              <a:t>的定义和本章开始时的定义不一致，原因</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此处直接用的是变换后的</a:t>
            </a:r>
            <a:r>
              <a:rPr lang="en-US" altLang="zh-CN" dirty="0" err="1">
                <a:latin typeface="楷体_GB2312" pitchFamily="49" charset="-122"/>
                <a:ea typeface="楷体_GB2312" pitchFamily="49" charset="-122"/>
              </a:rPr>
              <a:t>Sw</a:t>
            </a:r>
            <a:r>
              <a:rPr lang="zh-CN" altLang="en-US" dirty="0">
                <a:latin typeface="楷体_GB2312" pitchFamily="49" charset="-122"/>
                <a:ea typeface="楷体_GB2312" pitchFamily="49" charset="-122"/>
              </a:rPr>
              <a:t>和</a:t>
            </a:r>
            <a:r>
              <a:rPr lang="en-US" altLang="zh-CN" dirty="0">
                <a:latin typeface="楷体_GB2312" pitchFamily="49" charset="-122"/>
                <a:ea typeface="楷体_GB2312" pitchFamily="49" charset="-122"/>
              </a:rPr>
              <a:t>Sb</a:t>
            </a:r>
          </a:p>
          <a:p>
            <a:endParaRPr lang="en-US" altLang="zh-CN" dirty="0">
              <a:latin typeface="楷体_GB2312" pitchFamily="49" charset="-122"/>
              <a:ea typeface="楷体_GB2312" pitchFamily="49" charset="-122"/>
            </a:endParaRPr>
          </a:p>
        </p:txBody>
      </p:sp>
    </p:spTree>
    <p:extLst>
      <p:ext uri="{BB962C8B-B14F-4D97-AF65-F5344CB8AC3E}">
        <p14:creationId xmlns:p14="http://schemas.microsoft.com/office/powerpoint/2010/main" val="26825267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a:xfrm>
            <a:off x="112713" y="746125"/>
            <a:ext cx="6632575" cy="3732213"/>
          </a:xfrm>
          <a:ln/>
        </p:spPr>
      </p:sp>
      <p:sp>
        <p:nvSpPr>
          <p:cNvPr id="145411" name="备注占位符 2"/>
          <p:cNvSpPr>
            <a:spLocks noGrp="1"/>
          </p:cNvSpPr>
          <p:nvPr>
            <p:ph type="body" idx="1"/>
          </p:nvPr>
        </p:nvSpPr>
        <p:spPr>
          <a:noFill/>
          <a:ln/>
        </p:spPr>
        <p:txBody>
          <a:bodyPr/>
          <a:lstStyle/>
          <a:p>
            <a:r>
              <a:rPr kumimoji="1" lang="en-US" altLang="zh-CN" dirty="0">
                <a:latin typeface="楷体_GB2312" pitchFamily="49" charset="-122"/>
                <a:ea typeface="楷体_GB2312" pitchFamily="49" charset="-122"/>
              </a:rPr>
              <a:t>|LAMDA I- A| =0 </a:t>
            </a:r>
            <a:endParaRPr kumimoji="1" lang="zh-CN" altLang="en-US" dirty="0">
              <a:latin typeface="楷体_GB2312" pitchFamily="49" charset="-122"/>
              <a:ea typeface="楷体_GB2312" pitchFamily="49" charset="-122"/>
            </a:endParaRPr>
          </a:p>
        </p:txBody>
      </p:sp>
      <p:sp>
        <p:nvSpPr>
          <p:cNvPr id="145412" name="灯片编号占位符 3"/>
          <p:cNvSpPr>
            <a:spLocks noGrp="1"/>
          </p:cNvSpPr>
          <p:nvPr>
            <p:ph type="sldNum" sz="quarter" idx="5"/>
          </p:nvPr>
        </p:nvSpPr>
        <p:spPr>
          <a:noFill/>
        </p:spPr>
        <p:txBody>
          <a:bodyPr/>
          <a:lstStyle/>
          <a:p>
            <a:fld id="{5CA500E3-CB49-4EC8-95F1-8240B19D5892}" type="slidenum">
              <a:rPr lang="en-US" altLang="zh-CN" smtClean="0">
                <a:ea typeface="宋体" charset="-122"/>
              </a:rPr>
              <a:pPr/>
              <a:t>10</a:t>
            </a:fld>
            <a:endParaRPr lang="en-US" altLang="zh-CN">
              <a:ea typeface="宋体" charset="-122"/>
            </a:endParaRPr>
          </a:p>
        </p:txBody>
      </p:sp>
    </p:spTree>
    <p:extLst>
      <p:ext uri="{BB962C8B-B14F-4D97-AF65-F5344CB8AC3E}">
        <p14:creationId xmlns:p14="http://schemas.microsoft.com/office/powerpoint/2010/main" val="29351863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p>
            <a:fld id="{50B237D0-B1AB-4816-9160-7BA4C11BA0BA}" type="slidenum">
              <a:rPr lang="zh-CN" altLang="en-US" smtClean="0">
                <a:ea typeface="宋体" charset="-122"/>
              </a:rPr>
              <a:pPr/>
              <a:t>11</a:t>
            </a:fld>
            <a:endParaRPr lang="en-US" altLang="zh-CN">
              <a:ea typeface="宋体" charset="-122"/>
            </a:endParaRPr>
          </a:p>
        </p:txBody>
      </p:sp>
      <p:sp>
        <p:nvSpPr>
          <p:cNvPr id="146435" name="Rectangle 2"/>
          <p:cNvSpPr>
            <a:spLocks noGrp="1" noRot="1" noChangeAspect="1" noChangeArrowheads="1" noTextEdit="1"/>
          </p:cNvSpPr>
          <p:nvPr>
            <p:ph type="sldImg"/>
          </p:nvPr>
        </p:nvSpPr>
        <p:spPr>
          <a:xfrm>
            <a:off x="112713" y="746125"/>
            <a:ext cx="6632575" cy="3732213"/>
          </a:xfrm>
          <a:ln/>
        </p:spPr>
      </p:sp>
      <p:sp>
        <p:nvSpPr>
          <p:cNvPr id="146436"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ea typeface="宋体" charset="-122"/>
              </a:rPr>
              <a:t>我们认为此处判据定义应该是减，前面一章的判据</a:t>
            </a:r>
            <a:r>
              <a:rPr lang="en-US" altLang="zh-CN" dirty="0">
                <a:ea typeface="宋体" charset="-122"/>
              </a:rPr>
              <a:t>5</a:t>
            </a:r>
            <a:r>
              <a:rPr lang="zh-CN" altLang="en-US" dirty="0">
                <a:ea typeface="宋体" charset="-122"/>
              </a:rPr>
              <a:t>定义（书上）</a:t>
            </a:r>
            <a:r>
              <a:rPr lang="zh-CN" altLang="en-US">
                <a:ea typeface="宋体" charset="-122"/>
              </a:rPr>
              <a:t>有误</a:t>
            </a:r>
            <a:endParaRPr lang="zh-CN" altLang="en-US" dirty="0">
              <a:ea typeface="宋体" charset="-122"/>
            </a:endParaRPr>
          </a:p>
        </p:txBody>
      </p:sp>
    </p:spTree>
    <p:extLst>
      <p:ext uri="{BB962C8B-B14F-4D97-AF65-F5344CB8AC3E}">
        <p14:creationId xmlns:p14="http://schemas.microsoft.com/office/powerpoint/2010/main" val="29062453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TextEdit="1"/>
          </p:cNvSpPr>
          <p:nvPr>
            <p:ph type="sldImg"/>
          </p:nvPr>
        </p:nvSpPr>
        <p:spPr>
          <a:xfrm>
            <a:off x="112713" y="746125"/>
            <a:ext cx="6632575" cy="3732213"/>
          </a:xfrm>
          <a:ln/>
        </p:spPr>
      </p:sp>
      <p:sp>
        <p:nvSpPr>
          <p:cNvPr id="148483" name="备注占位符 2"/>
          <p:cNvSpPr>
            <a:spLocks noGrp="1"/>
          </p:cNvSpPr>
          <p:nvPr>
            <p:ph type="body" idx="1"/>
          </p:nvPr>
        </p:nvSpPr>
        <p:spPr>
          <a:noFill/>
          <a:ln/>
        </p:spPr>
        <p:txBody>
          <a:bodyPr/>
          <a:lstStyle/>
          <a:p>
            <a:r>
              <a:rPr lang="en-US" altLang="zh-CN" dirty="0">
                <a:ea typeface="宋体" charset="-122"/>
              </a:rPr>
              <a:t>Zlm</a:t>
            </a:r>
            <a:r>
              <a:rPr lang="zh-CN" altLang="en-US" dirty="0">
                <a:ea typeface="宋体" charset="-122"/>
              </a:rPr>
              <a:t>改</a:t>
            </a:r>
          </a:p>
        </p:txBody>
      </p:sp>
      <p:sp>
        <p:nvSpPr>
          <p:cNvPr id="148484" name="灯片编号占位符 3"/>
          <p:cNvSpPr>
            <a:spLocks noGrp="1"/>
          </p:cNvSpPr>
          <p:nvPr>
            <p:ph type="sldNum" sz="quarter" idx="5"/>
          </p:nvPr>
        </p:nvSpPr>
        <p:spPr>
          <a:noFill/>
        </p:spPr>
        <p:txBody>
          <a:bodyPr/>
          <a:lstStyle/>
          <a:p>
            <a:fld id="{22F00B8A-A789-4BE0-9025-A21BC0FD1669}" type="slidenum">
              <a:rPr lang="en-US" altLang="zh-CN" smtClean="0">
                <a:ea typeface="宋体" charset="-122"/>
              </a:rPr>
              <a:pPr/>
              <a:t>12</a:t>
            </a:fld>
            <a:endParaRPr lang="en-US" altLang="zh-CN">
              <a:ea typeface="宋体" charset="-122"/>
            </a:endParaRPr>
          </a:p>
        </p:txBody>
      </p:sp>
    </p:spTree>
    <p:extLst>
      <p:ext uri="{BB962C8B-B14F-4D97-AF65-F5344CB8AC3E}">
        <p14:creationId xmlns:p14="http://schemas.microsoft.com/office/powerpoint/2010/main" val="2865157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幻灯片图像占位符 1"/>
          <p:cNvSpPr>
            <a:spLocks noGrp="1" noRot="1" noChangeAspect="1" noTextEdit="1"/>
          </p:cNvSpPr>
          <p:nvPr>
            <p:ph type="sldImg"/>
          </p:nvPr>
        </p:nvSpPr>
        <p:spPr>
          <a:xfrm>
            <a:off x="112713" y="746125"/>
            <a:ext cx="6632575" cy="3732213"/>
          </a:xfrm>
          <a:ln/>
        </p:spPr>
      </p:sp>
      <p:sp>
        <p:nvSpPr>
          <p:cNvPr id="150531" name="备注占位符 2"/>
          <p:cNvSpPr>
            <a:spLocks noGrp="1"/>
          </p:cNvSpPr>
          <p:nvPr>
            <p:ph type="body" idx="1"/>
          </p:nvPr>
        </p:nvSpPr>
        <p:spPr>
          <a:noFill/>
          <a:ln/>
        </p:spPr>
        <p:txBody>
          <a:bodyPr/>
          <a:lstStyle/>
          <a:p>
            <a:r>
              <a:rPr lang="en-US" altLang="zh-CN" dirty="0">
                <a:ea typeface="宋体" charset="-122"/>
              </a:rPr>
              <a:t>zlm</a:t>
            </a:r>
            <a:r>
              <a:rPr lang="zh-CN" altLang="en-US" dirty="0">
                <a:ea typeface="宋体" charset="-122"/>
              </a:rPr>
              <a:t>下一步：</a:t>
            </a:r>
          </a:p>
          <a:p>
            <a:r>
              <a:rPr lang="zh-CN" altLang="en-US" dirty="0">
                <a:ea typeface="宋体" charset="-122"/>
              </a:rPr>
              <a:t>结论部分与上一页合并；</a:t>
            </a:r>
          </a:p>
          <a:p>
            <a:r>
              <a:rPr lang="zh-CN" altLang="en-US" dirty="0">
                <a:ea typeface="宋体" charset="-122"/>
              </a:rPr>
              <a:t>推导部分与下一页合并。</a:t>
            </a:r>
            <a:endParaRPr lang="en-US" altLang="zh-CN" dirty="0">
              <a:ea typeface="宋体" charset="-122"/>
            </a:endParaRPr>
          </a:p>
          <a:p>
            <a:r>
              <a:rPr lang="zh-CN" altLang="en-US" dirty="0">
                <a:ea typeface="宋体" charset="-122"/>
              </a:rPr>
              <a:t>？</a:t>
            </a:r>
            <a:r>
              <a:rPr lang="en-US" altLang="zh-CN" dirty="0">
                <a:ea typeface="宋体" charset="-122"/>
              </a:rPr>
              <a:t>J5</a:t>
            </a:r>
            <a:r>
              <a:rPr lang="zh-CN" altLang="en-US" dirty="0">
                <a:ea typeface="宋体" charset="-122"/>
              </a:rPr>
              <a:t>的定义和本章开始时的定义不一致，原因：用的变换后的</a:t>
            </a:r>
          </a:p>
          <a:p>
            <a:endParaRPr lang="zh-CN" altLang="en-US" dirty="0">
              <a:ea typeface="宋体" charset="-122"/>
            </a:endParaRPr>
          </a:p>
        </p:txBody>
      </p:sp>
      <p:sp>
        <p:nvSpPr>
          <p:cNvPr id="150532" name="灯片编号占位符 3"/>
          <p:cNvSpPr>
            <a:spLocks noGrp="1"/>
          </p:cNvSpPr>
          <p:nvPr>
            <p:ph type="sldNum" sz="quarter" idx="5"/>
          </p:nvPr>
        </p:nvSpPr>
        <p:spPr>
          <a:noFill/>
        </p:spPr>
        <p:txBody>
          <a:bodyPr/>
          <a:lstStyle/>
          <a:p>
            <a:fld id="{09941F0A-8DA9-420A-9C6B-DE5E887A8FA8}" type="slidenum">
              <a:rPr lang="en-US" altLang="zh-CN" smtClean="0">
                <a:ea typeface="宋体" charset="-122"/>
              </a:rPr>
              <a:pPr/>
              <a:t>13</a:t>
            </a:fld>
            <a:endParaRPr lang="en-US" altLang="zh-CN">
              <a:ea typeface="宋体" charset="-122"/>
            </a:endParaRPr>
          </a:p>
        </p:txBody>
      </p:sp>
    </p:spTree>
    <p:extLst>
      <p:ext uri="{BB962C8B-B14F-4D97-AF65-F5344CB8AC3E}">
        <p14:creationId xmlns:p14="http://schemas.microsoft.com/office/powerpoint/2010/main" val="8755598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无论取什么变换阵，只要把它再乘以一个系数，则准备函数值总会再变大，但变换的方向并没有改变。这是尺度问题</a:t>
            </a:r>
            <a:endParaRPr lang="en-US" altLang="zh-CN" dirty="0"/>
          </a:p>
          <a:p>
            <a:r>
              <a:rPr lang="en-US" altLang="zh-CN" dirty="0"/>
              <a:t>Lagrange</a:t>
            </a:r>
            <a:r>
              <a:rPr lang="zh-CN" altLang="en-US" dirty="0"/>
              <a:t>方法：将有约束的优化问题变成无约束的问题求解。感觉最后一步计算</a:t>
            </a:r>
            <a:r>
              <a:rPr lang="en-US" altLang="zh-CN" dirty="0"/>
              <a:t>J</a:t>
            </a:r>
            <a:r>
              <a:rPr lang="zh-CN" altLang="en-US" dirty="0"/>
              <a:t>的值查了一行看张学工的书，补上</a:t>
            </a:r>
            <a:r>
              <a:rPr lang="en-US" altLang="zh-CN" dirty="0"/>
              <a:t>8-8</a:t>
            </a:r>
            <a:r>
              <a:rPr lang="zh-CN" altLang="en-US" dirty="0"/>
              <a:t>式，加上</a:t>
            </a:r>
            <a:r>
              <a:rPr lang="en-US" altLang="zh-CN" dirty="0"/>
              <a:t>g</a:t>
            </a:r>
            <a:r>
              <a:rPr lang="zh-CN" altLang="en-US" dirty="0"/>
              <a:t>（</a:t>
            </a:r>
            <a:r>
              <a:rPr lang="en-US" altLang="zh-CN" dirty="0"/>
              <a:t>W</a:t>
            </a:r>
            <a:r>
              <a:rPr lang="zh-CN" altLang="en-US" dirty="0"/>
              <a:t>）函数中的约束条件</a:t>
            </a:r>
            <a:r>
              <a:rPr lang="en-US" altLang="zh-CN" dirty="0"/>
              <a:t>=0</a:t>
            </a:r>
          </a:p>
          <a:p>
            <a:r>
              <a:rPr lang="en-US" altLang="zh-CN" dirty="0"/>
              <a:t>zlm</a:t>
            </a:r>
            <a:r>
              <a:rPr lang="zh-CN" altLang="en-US" dirty="0"/>
              <a:t>下一步：</a:t>
            </a:r>
            <a:endParaRPr lang="en-US" altLang="zh-CN" dirty="0"/>
          </a:p>
          <a:p>
            <a:r>
              <a:rPr lang="zh-CN" altLang="en-US" dirty="0"/>
              <a:t>结论部分与上一页合并；</a:t>
            </a:r>
            <a:endParaRPr lang="en-US" altLang="zh-CN" dirty="0"/>
          </a:p>
          <a:p>
            <a:r>
              <a:rPr lang="zh-CN" altLang="en-US" dirty="0"/>
              <a:t>推导部分与下一页合并。</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64F8E74-9C04-43EC-B268-D3C0C73A25C8}" type="slidenum">
              <a:rPr kumimoji="0" lang="zh-CN" altLang="en-US" sz="1200" b="0" i="0" u="none" strike="noStrike" kern="1200" cap="none" spc="0" normalizeH="0" baseline="0" noProof="0" smtClean="0">
                <a:ln>
                  <a:noFill/>
                </a:ln>
                <a:solidFill>
                  <a:prstClr val="black"/>
                </a:solidFill>
                <a:effectLst/>
                <a:uLnTx/>
                <a:uFillTx/>
                <a:latin typeface="Arial"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442652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solidFill>
                  <a:srgbClr val="7030A0"/>
                </a:solidFill>
              </a:rPr>
              <a:t>增加自相关阵和协方差阵的定义和计算方式：</a:t>
            </a:r>
            <a:r>
              <a:rPr lang="en-US" altLang="zh-CN" dirty="0">
                <a:solidFill>
                  <a:srgbClr val="7030A0"/>
                </a:solidFill>
              </a:rPr>
              <a:t>zlm</a:t>
            </a:r>
            <a:endParaRPr lang="zh-CN" altLang="en-US" dirty="0">
              <a:solidFill>
                <a:srgbClr val="7030A0"/>
              </a:solidFill>
            </a:endParaRPr>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18</a:t>
            </a:fld>
            <a:endParaRPr lang="zh-CN" altLang="en-US"/>
          </a:p>
        </p:txBody>
      </p:sp>
    </p:spTree>
    <p:extLst>
      <p:ext uri="{BB962C8B-B14F-4D97-AF65-F5344CB8AC3E}">
        <p14:creationId xmlns:p14="http://schemas.microsoft.com/office/powerpoint/2010/main" val="33647092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幻灯片图像占位符 1"/>
          <p:cNvSpPr>
            <a:spLocks noGrp="1" noRot="1" noChangeAspect="1" noTextEdit="1"/>
          </p:cNvSpPr>
          <p:nvPr>
            <p:ph type="sldImg"/>
          </p:nvPr>
        </p:nvSpPr>
        <p:spPr>
          <a:xfrm>
            <a:off x="112713" y="746125"/>
            <a:ext cx="6632575" cy="3732213"/>
          </a:xfrm>
          <a:ln/>
        </p:spPr>
      </p:sp>
      <p:sp>
        <p:nvSpPr>
          <p:cNvPr id="174083" name="备注占位符 2"/>
          <p:cNvSpPr>
            <a:spLocks noGrp="1"/>
          </p:cNvSpPr>
          <p:nvPr>
            <p:ph type="body" idx="1"/>
          </p:nvPr>
        </p:nvSpPr>
        <p:spPr>
          <a:noFill/>
          <a:ln/>
        </p:spPr>
        <p:txBody>
          <a:bodyPr/>
          <a:lstStyle/>
          <a:p>
            <a:endParaRPr lang="zh-CN" altLang="en-US"/>
          </a:p>
        </p:txBody>
      </p:sp>
      <p:sp>
        <p:nvSpPr>
          <p:cNvPr id="174084" name="灯片编号占位符 3"/>
          <p:cNvSpPr>
            <a:spLocks noGrp="1"/>
          </p:cNvSpPr>
          <p:nvPr>
            <p:ph type="sldNum" sz="quarter" idx="5"/>
          </p:nvPr>
        </p:nvSpPr>
        <p:spPr>
          <a:noFill/>
        </p:spPr>
        <p:txBody>
          <a:bodyPr/>
          <a:lstStyle/>
          <a:p>
            <a:fld id="{46E70A3B-2E12-4B2D-8AB3-0F464D0C33F5}" type="slidenum">
              <a:rPr lang="en-US" altLang="zh-CN" smtClean="0"/>
              <a:pPr/>
              <a:t>19</a:t>
            </a:fld>
            <a:endParaRPr lang="en-US" altLang="zh-CN"/>
          </a:p>
        </p:txBody>
      </p:sp>
    </p:spTree>
    <p:extLst>
      <p:ext uri="{BB962C8B-B14F-4D97-AF65-F5344CB8AC3E}">
        <p14:creationId xmlns:p14="http://schemas.microsoft.com/office/powerpoint/2010/main" val="23708250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b="1" kern="0" dirty="0">
                    <a:latin typeface="Times New Roman" panose="02020603050405020304" pitchFamily="18" charset="0"/>
                    <a:ea typeface="+mn-ea"/>
                    <a:cs typeface="Times New Roman" panose="02020603050405020304" pitchFamily="18" charset="0"/>
                  </a:rPr>
                  <a:t>前后两页合并，将第一页的</a:t>
                </a:r>
                <a:r>
                  <a:rPr lang="en-US" altLang="zh-CN" sz="1200" b="1" kern="0" dirty="0">
                    <a:latin typeface="Times New Roman" panose="02020603050405020304" pitchFamily="18" charset="0"/>
                    <a:ea typeface="+mn-ea"/>
                    <a:cs typeface="Times New Roman" panose="02020603050405020304" pitchFamily="18" charset="0"/>
                  </a:rPr>
                  <a:t>R</a:t>
                </a:r>
                <a:r>
                  <a:rPr lang="zh-CN" altLang="en-US" sz="1200" b="1" kern="0" dirty="0">
                    <a:latin typeface="Times New Roman" panose="02020603050405020304" pitchFamily="18" charset="0"/>
                    <a:ea typeface="+mn-ea"/>
                    <a:cs typeface="Times New Roman" panose="02020603050405020304" pitchFamily="18" charset="0"/>
                  </a:rPr>
                  <a:t>用</a:t>
                </a:r>
                <a:r>
                  <a:rPr lang="en-US" altLang="zh-CN" sz="1200" b="1" kern="0" dirty="0">
                    <a:latin typeface="Times New Roman" panose="02020603050405020304" pitchFamily="18" charset="0"/>
                    <a:ea typeface="+mn-ea"/>
                    <a:cs typeface="Times New Roman" panose="02020603050405020304" pitchFamily="18" charset="0"/>
                  </a:rPr>
                  <a:t>Rx</a:t>
                </a:r>
                <a:r>
                  <a:rPr lang="zh-CN" altLang="en-US" sz="1200" b="1" kern="0" dirty="0">
                    <a:latin typeface="Times New Roman" panose="02020603050405020304" pitchFamily="18" charset="0"/>
                    <a:ea typeface="+mn-ea"/>
                    <a:cs typeface="Times New Roman" panose="02020603050405020304" pitchFamily="18" charset="0"/>
                  </a:rPr>
                  <a:t>代替和第二页的一致</a:t>
                </a:r>
                <a:endParaRPr lang="en-US" altLang="zh-CN" sz="1200" b="1" kern="0" dirty="0">
                  <a:latin typeface="Times New Roman" panose="02020603050405020304" pitchFamily="18" charset="0"/>
                  <a:ea typeface="+mn-ea"/>
                  <a:cs typeface="Times New Roman" panose="02020603050405020304"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b="1" kern="0" dirty="0">
                    <a:latin typeface="Times New Roman" panose="02020603050405020304" pitchFamily="18" charset="0"/>
                    <a:ea typeface="+mn-ea"/>
                    <a:cs typeface="Times New Roman" panose="02020603050405020304" pitchFamily="18" charset="0"/>
                  </a:rPr>
                  <a:t>解</a:t>
                </a:r>
                <a14:m>
                  <m:oMath xmlns:m="http://schemas.openxmlformats.org/officeDocument/2006/math">
                    <m:r>
                      <a:rPr lang="zh-CN" altLang="en-US" sz="1200" i="1">
                        <a:latin typeface="Cambria Math" panose="02040503050406030204" pitchFamily="18" charset="0"/>
                      </a:rPr>
                      <m:t>𝜆</m:t>
                    </m:r>
                  </m:oMath>
                </a14:m>
                <a:r>
                  <a:rPr lang="zh-CN" altLang="en-US" sz="1200" b="1" kern="0" dirty="0">
                    <a:latin typeface="Times New Roman" panose="02020603050405020304" pitchFamily="18" charset="0"/>
                    <a:ea typeface="+mn-ea"/>
                    <a:cs typeface="Times New Roman" panose="02020603050405020304" pitchFamily="18" charset="0"/>
                  </a:rPr>
                  <a:t>和</a:t>
                </a:r>
                <a14:m>
                  <m:oMath xmlns:m="http://schemas.openxmlformats.org/officeDocument/2006/math">
                    <m:r>
                      <a:rPr lang="zh-CN" altLang="en-US" sz="1200" i="1">
                        <a:latin typeface="Cambria Math" panose="02040503050406030204" pitchFamily="18" charset="0"/>
                      </a:rPr>
                      <m:t>𝑈</m:t>
                    </m:r>
                  </m:oMath>
                </a14:m>
                <a:r>
                  <a:rPr lang="zh-CN" altLang="en-US" sz="1200" b="1" kern="0" dirty="0">
                    <a:latin typeface="Times New Roman" panose="02020603050405020304" pitchFamily="18" charset="0"/>
                    <a:ea typeface="+mn-ea"/>
                    <a:cs typeface="Times New Roman" panose="02020603050405020304" pitchFamily="18" charset="0"/>
                  </a:rPr>
                  <a:t> </a:t>
                </a:r>
                <a:r>
                  <a:rPr lang="en-US" altLang="zh-CN" sz="1200" b="1" kern="0" dirty="0">
                    <a:latin typeface="Times New Roman" panose="02020603050405020304" pitchFamily="18" charset="0"/>
                    <a:ea typeface="+mn-ea"/>
                    <a:cs typeface="Times New Roman" panose="02020603050405020304" pitchFamily="18" charset="0"/>
                  </a:rPr>
                  <a:t>, </a:t>
                </a:r>
                <a:r>
                  <a:rPr lang="zh-CN" altLang="en-US" sz="1200" b="1" kern="0" dirty="0">
                    <a:latin typeface="Times New Roman" panose="02020603050405020304" pitchFamily="18" charset="0"/>
                    <a:ea typeface="+mn-ea"/>
                    <a:cs typeface="Times New Roman" panose="02020603050405020304" pitchFamily="18" charset="0"/>
                  </a:rPr>
                  <a:t>即是求</a:t>
                </a:r>
                <a:r>
                  <a:rPr lang="en-US" altLang="zh-CN" sz="1200" b="1" kern="0" dirty="0">
                    <a:latin typeface="Times New Roman" panose="02020603050405020304" pitchFamily="18" charset="0"/>
                    <a:ea typeface="+mn-ea"/>
                    <a:cs typeface="Times New Roman" panose="02020603050405020304" pitchFamily="18" charset="0"/>
                  </a:rPr>
                  <a:t>R</a:t>
                </a:r>
                <a:r>
                  <a:rPr lang="zh-CN" altLang="en-US" sz="1200" b="1" kern="0" dirty="0">
                    <a:latin typeface="Times New Roman" panose="02020603050405020304" pitchFamily="18" charset="0"/>
                    <a:ea typeface="+mn-ea"/>
                    <a:cs typeface="Times New Roman" panose="02020603050405020304" pitchFamily="18" charset="0"/>
                  </a:rPr>
                  <a:t>的特征值</a:t>
                </a:r>
                <a:r>
                  <a:rPr kumimoji="1" lang="zh-CN" altLang="en-US" sz="1200" b="1" dirty="0">
                    <a:latin typeface="Times New Roman" panose="02020603050405020304" pitchFamily="18" charset="0"/>
                    <a:ea typeface="+mn-ea"/>
                    <a:cs typeface="Times New Roman" panose="02020603050405020304" pitchFamily="18" charset="0"/>
                  </a:rPr>
                  <a:t>和</a:t>
                </a:r>
                <a:r>
                  <a:rPr lang="zh-CN" altLang="en-US" sz="1200" b="1" kern="0" dirty="0">
                    <a:latin typeface="Times New Roman" panose="02020603050405020304" pitchFamily="18" charset="0"/>
                    <a:ea typeface="+mn-ea"/>
                    <a:cs typeface="Times New Roman" panose="02020603050405020304" pitchFamily="18" charset="0"/>
                  </a:rPr>
                  <a:t>特征向量（对照矩阵特征方程的定义）</a:t>
                </a:r>
                <a:endParaRPr lang="en-US" altLang="zh-TW" sz="1200" b="1" kern="0" dirty="0">
                  <a:latin typeface="Times New Roman" panose="02020603050405020304" pitchFamily="18" charset="0"/>
                  <a:ea typeface="宋体" panose="02010600030101010101" pitchFamily="2" charset="-122"/>
                  <a:cs typeface="Times New Roman" panose="02020603050405020304"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R</a:t>
                </a:r>
                <a:r>
                  <a:rPr lang="zh-CN" altLang="en-US" dirty="0"/>
                  <a:t>此处为自相关阵，与课本上的协方差矩阵有差别？</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a:solidFill>
                      <a:schemeClr val="tx1"/>
                    </a:solidFill>
                    <a:effectLst/>
                    <a:latin typeface="+mn-lt"/>
                    <a:ea typeface="+mn-ea"/>
                    <a:cs typeface="+mn-cs"/>
                  </a:rPr>
                  <a:t>主成分分析中，有的用自相关矩阵，有的用协方差矩阵，这两个概念是什么关系。</a:t>
                </a:r>
                <a:endParaRPr lang="en-US" altLang="zh-CN" sz="1200" b="0" i="0" kern="1200" dirty="0">
                  <a:solidFill>
                    <a:schemeClr val="tx1"/>
                  </a:solidFill>
                  <a:effectLst/>
                  <a:latin typeface="+mn-lt"/>
                  <a:ea typeface="+mn-ea"/>
                  <a:cs typeface="+mn-cs"/>
                </a:endParaRPr>
              </a:p>
              <a:p>
                <a:pPr fontAlgn="t" latinLnBrk="1"/>
                <a:r>
                  <a:rPr lang="zh-CN" altLang="en-US" sz="1200" b="0" kern="1200" dirty="0">
                    <a:solidFill>
                      <a:schemeClr val="tx1"/>
                    </a:solidFill>
                    <a:effectLst/>
                    <a:latin typeface="+mn-lt"/>
                    <a:ea typeface="+mn-ea"/>
                    <a:cs typeface="+mn-cs"/>
                  </a:rPr>
                  <a:t>应该取协方差矩阵的特征向量，一般书上在采用自相关矩阵</a:t>
                </a:r>
                <a:r>
                  <a:rPr lang="en-US" altLang="zh-CN" sz="1200" b="0" kern="1200" dirty="0">
                    <a:solidFill>
                      <a:schemeClr val="tx1"/>
                    </a:solidFill>
                    <a:effectLst/>
                    <a:latin typeface="+mn-lt"/>
                    <a:ea typeface="+mn-ea"/>
                    <a:cs typeface="+mn-cs"/>
                  </a:rPr>
                  <a:t>E(xx')</a:t>
                </a:r>
                <a:r>
                  <a:rPr lang="zh-CN" altLang="en-US" sz="1200" b="0" kern="1200" dirty="0">
                    <a:solidFill>
                      <a:schemeClr val="tx1"/>
                    </a:solidFill>
                    <a:effectLst/>
                    <a:latin typeface="+mn-lt"/>
                    <a:ea typeface="+mn-ea"/>
                    <a:cs typeface="+mn-cs"/>
                  </a:rPr>
                  <a:t>时都会加个前提：零均值随机过程</a:t>
                </a:r>
                <a:r>
                  <a:rPr lang="en-US" altLang="zh-CN" sz="1200" b="0" kern="1200" dirty="0">
                    <a:solidFill>
                      <a:schemeClr val="tx1"/>
                    </a:solidFill>
                    <a:effectLst/>
                    <a:latin typeface="+mn-lt"/>
                    <a:ea typeface="+mn-ea"/>
                    <a:cs typeface="+mn-cs"/>
                  </a:rPr>
                  <a:t>x(n)</a:t>
                </a:r>
                <a:r>
                  <a:rPr lang="zh-CN" altLang="en-US" sz="1200" b="0" kern="1200" dirty="0">
                    <a:solidFill>
                      <a:schemeClr val="tx1"/>
                    </a:solidFill>
                    <a:effectLst/>
                    <a:latin typeface="+mn-lt"/>
                    <a:ea typeface="+mn-ea"/>
                    <a:cs typeface="+mn-cs"/>
                  </a:rPr>
                  <a:t>，此时自相关与协方差相等。</a:t>
                </a:r>
                <a:endParaRPr lang="en-US" altLang="zh-CN" sz="1200" b="0" kern="1200" dirty="0">
                  <a:solidFill>
                    <a:schemeClr val="tx1"/>
                  </a:solidFill>
                  <a:effectLst/>
                  <a:latin typeface="+mn-lt"/>
                  <a:ea typeface="+mn-ea"/>
                  <a:cs typeface="+mn-cs"/>
                </a:endParaRPr>
              </a:p>
              <a:p>
                <a:pPr fontAlgn="t"/>
                <a:endParaRPr lang="en-US" altLang="zh-CN" sz="1200" b="0" kern="1200" dirty="0">
                  <a:solidFill>
                    <a:schemeClr val="tx1"/>
                  </a:solidFill>
                  <a:effectLst/>
                  <a:latin typeface="+mn-lt"/>
                  <a:ea typeface="+mn-ea"/>
                  <a:cs typeface="+mn-cs"/>
                </a:endParaRPr>
              </a:p>
              <a:p>
                <a:pPr fontAlgn="t"/>
                <a:r>
                  <a:rPr lang="zh-CN" altLang="en-US" sz="1200" b="0" kern="1200" dirty="0">
                    <a:solidFill>
                      <a:schemeClr val="tx1"/>
                    </a:solidFill>
                    <a:effectLst/>
                    <a:latin typeface="+mn-lt"/>
                    <a:ea typeface="+mn-ea"/>
                    <a:cs typeface="+mn-cs"/>
                  </a:rPr>
                  <a:t>更正错误：原</a:t>
                </a:r>
                <a:r>
                  <a:rPr lang="en-US" altLang="zh-CN" sz="1200" b="0" kern="1200" dirty="0" err="1">
                    <a:solidFill>
                      <a:schemeClr val="tx1"/>
                    </a:solidFill>
                    <a:effectLst/>
                    <a:latin typeface="+mn-lt"/>
                    <a:ea typeface="+mn-ea"/>
                    <a:cs typeface="+mn-cs"/>
                  </a:rPr>
                  <a:t>ppt</a:t>
                </a:r>
                <a:r>
                  <a:rPr lang="zh-CN" altLang="en-US" sz="1200" b="0" kern="1200" dirty="0">
                    <a:solidFill>
                      <a:schemeClr val="tx1"/>
                    </a:solidFill>
                    <a:effectLst/>
                    <a:latin typeface="+mn-lt"/>
                    <a:ea typeface="+mn-ea"/>
                    <a:cs typeface="+mn-cs"/>
                  </a:rPr>
                  <a:t>中</a:t>
                </a:r>
                <a:r>
                  <a:rPr lang="en-US" altLang="zh-CN" sz="1200" b="0" kern="1200" dirty="0">
                    <a:solidFill>
                      <a:schemeClr val="tx1"/>
                    </a:solidFill>
                    <a:effectLst/>
                    <a:latin typeface="+mn-lt"/>
                    <a:ea typeface="+mn-ea"/>
                    <a:cs typeface="+mn-cs"/>
                  </a:rPr>
                  <a:t>R=X’X.</a:t>
                </a:r>
                <a:r>
                  <a:rPr lang="zh-CN" altLang="en-US" sz="1200" b="0" kern="1200" dirty="0">
                    <a:solidFill>
                      <a:schemeClr val="tx1"/>
                    </a:solidFill>
                    <a:effectLst/>
                    <a:latin typeface="+mn-lt"/>
                    <a:ea typeface="+mn-ea"/>
                    <a:cs typeface="+mn-cs"/>
                  </a:rPr>
                  <a:t>应该是</a:t>
                </a:r>
                <a:r>
                  <a:rPr lang="en-US" altLang="zh-CN" sz="1200" b="0" kern="1200" dirty="0">
                    <a:solidFill>
                      <a:schemeClr val="tx1"/>
                    </a:solidFill>
                    <a:effectLst/>
                    <a:latin typeface="+mn-lt"/>
                    <a:ea typeface="+mn-ea"/>
                    <a:cs typeface="+mn-cs"/>
                  </a:rPr>
                  <a:t>Rx=E</a:t>
                </a:r>
                <a:r>
                  <a:rPr lang="zh-CN" altLang="en-US" sz="1200" b="0"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XX’</a:t>
                </a:r>
                <a:r>
                  <a:rPr lang="zh-CN" altLang="en-US" sz="1200" b="0" kern="1200" dirty="0">
                    <a:solidFill>
                      <a:schemeClr val="tx1"/>
                    </a:solidFill>
                    <a:effectLst/>
                    <a:latin typeface="+mn-lt"/>
                    <a:ea typeface="+mn-ea"/>
                    <a:cs typeface="+mn-cs"/>
                  </a:rPr>
                  <a:t>），以及</a:t>
                </a:r>
                <a:r>
                  <a:rPr lang="en-US" altLang="zh-CN" sz="1200" b="0" kern="1200" dirty="0" err="1">
                    <a:solidFill>
                      <a:schemeClr val="tx1"/>
                    </a:solidFill>
                    <a:effectLst/>
                    <a:latin typeface="+mn-lt"/>
                    <a:ea typeface="+mn-ea"/>
                    <a:cs typeface="+mn-cs"/>
                  </a:rPr>
                  <a:t>var</a:t>
                </a:r>
                <a:r>
                  <a:rPr lang="zh-CN" altLang="en-US" sz="1200" b="0"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Y</a:t>
                </a:r>
                <a:r>
                  <a:rPr lang="zh-CN" altLang="en-US" sz="1200" b="0" kern="1200" dirty="0">
                    <a:solidFill>
                      <a:schemeClr val="tx1"/>
                    </a:solidFill>
                    <a:effectLst/>
                    <a:latin typeface="+mn-lt"/>
                    <a:ea typeface="+mn-ea"/>
                    <a:cs typeface="+mn-cs"/>
                  </a:rPr>
                  <a:t>）的定义式的错误，补充一般的</a:t>
                </a:r>
                <a:r>
                  <a:rPr lang="en-US" altLang="zh-CN" sz="1200" b="0" kern="1200" dirty="0" err="1">
                    <a:solidFill>
                      <a:schemeClr val="tx1"/>
                    </a:solidFill>
                    <a:effectLst/>
                    <a:latin typeface="+mn-lt"/>
                    <a:ea typeface="+mn-ea"/>
                    <a:cs typeface="+mn-cs"/>
                  </a:rPr>
                  <a:t>var</a:t>
                </a:r>
                <a:r>
                  <a:rPr lang="zh-CN" altLang="en-US" sz="1200" b="0"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Y</a:t>
                </a:r>
                <a:r>
                  <a:rPr lang="zh-CN" altLang="en-US" sz="1200" b="0" kern="1200" dirty="0">
                    <a:solidFill>
                      <a:schemeClr val="tx1"/>
                    </a:solidFill>
                    <a:effectLst/>
                    <a:latin typeface="+mn-lt"/>
                    <a:ea typeface="+mn-ea"/>
                    <a:cs typeface="+mn-cs"/>
                  </a:rPr>
                  <a:t>）的定义，补充第一页（左边栏目）</a:t>
                </a:r>
                <a:endParaRPr lang="zh-CN" altLang="en-US" dirty="0"/>
              </a:p>
              <a:p>
                <a:endParaRPr lang="zh-CN" altLang="en-US" dirty="0"/>
              </a:p>
            </p:txBody>
          </p:sp>
        </mc:Choice>
        <mc:Fallback xmlns="">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b="1" kern="0" dirty="0" smtClean="0">
                    <a:latin typeface="Times New Roman" panose="02020603050405020304" pitchFamily="18" charset="0"/>
                    <a:ea typeface="+mn-ea"/>
                    <a:cs typeface="Times New Roman" panose="02020603050405020304" pitchFamily="18" charset="0"/>
                  </a:rPr>
                  <a:t>前后两页合并，将第一页的</a:t>
                </a:r>
                <a:r>
                  <a:rPr lang="en-US" altLang="zh-CN" sz="1200" b="1" kern="0" dirty="0" smtClean="0">
                    <a:latin typeface="Times New Roman" panose="02020603050405020304" pitchFamily="18" charset="0"/>
                    <a:ea typeface="+mn-ea"/>
                    <a:cs typeface="Times New Roman" panose="02020603050405020304" pitchFamily="18" charset="0"/>
                  </a:rPr>
                  <a:t>R</a:t>
                </a:r>
                <a:r>
                  <a:rPr lang="zh-CN" altLang="en-US" sz="1200" b="1" kern="0" dirty="0" smtClean="0">
                    <a:latin typeface="Times New Roman" panose="02020603050405020304" pitchFamily="18" charset="0"/>
                    <a:ea typeface="+mn-ea"/>
                    <a:cs typeface="Times New Roman" panose="02020603050405020304" pitchFamily="18" charset="0"/>
                  </a:rPr>
                  <a:t>用</a:t>
                </a:r>
                <a:r>
                  <a:rPr lang="en-US" altLang="zh-CN" sz="1200" b="1" kern="0" dirty="0" smtClean="0">
                    <a:latin typeface="Times New Roman" panose="02020603050405020304" pitchFamily="18" charset="0"/>
                    <a:ea typeface="+mn-ea"/>
                    <a:cs typeface="Times New Roman" panose="02020603050405020304" pitchFamily="18" charset="0"/>
                  </a:rPr>
                  <a:t>Rx</a:t>
                </a:r>
                <a:r>
                  <a:rPr lang="zh-CN" altLang="en-US" sz="1200" b="1" kern="0" dirty="0" smtClean="0">
                    <a:latin typeface="Times New Roman" panose="02020603050405020304" pitchFamily="18" charset="0"/>
                    <a:ea typeface="+mn-ea"/>
                    <a:cs typeface="Times New Roman" panose="02020603050405020304" pitchFamily="18" charset="0"/>
                  </a:rPr>
                  <a:t>代替和第二页的一致</a:t>
                </a:r>
                <a:endParaRPr lang="en-US" altLang="zh-CN" sz="1200" b="1" kern="0" dirty="0" smtClean="0">
                  <a:latin typeface="Times New Roman" panose="02020603050405020304" pitchFamily="18" charset="0"/>
                  <a:ea typeface="+mn-ea"/>
                  <a:cs typeface="Times New Roman" panose="02020603050405020304"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b="1" kern="0" dirty="0" smtClean="0">
                    <a:latin typeface="Times New Roman" panose="02020603050405020304" pitchFamily="18" charset="0"/>
                    <a:ea typeface="+mn-ea"/>
                    <a:cs typeface="Times New Roman" panose="02020603050405020304" pitchFamily="18" charset="0"/>
                  </a:rPr>
                  <a:t>解</a:t>
                </a:r>
                <a:r>
                  <a:rPr lang="zh-CN" altLang="en-US" sz="1200" i="0">
                    <a:latin typeface="Cambria Math" panose="02040503050406030204" pitchFamily="18" charset="0"/>
                  </a:rPr>
                  <a:t>𝜆</a:t>
                </a:r>
                <a:r>
                  <a:rPr lang="zh-CN" altLang="en-US" sz="1200" b="1" kern="0" dirty="0">
                    <a:latin typeface="Times New Roman" panose="02020603050405020304" pitchFamily="18" charset="0"/>
                    <a:ea typeface="+mn-ea"/>
                    <a:cs typeface="Times New Roman" panose="02020603050405020304" pitchFamily="18" charset="0"/>
                  </a:rPr>
                  <a:t>和</a:t>
                </a:r>
                <a:r>
                  <a:rPr lang="zh-CN" altLang="en-US" sz="1200" i="0">
                    <a:latin typeface="Cambria Math" panose="02040503050406030204" pitchFamily="18" charset="0"/>
                  </a:rPr>
                  <a:t>𝑈</a:t>
                </a:r>
                <a:r>
                  <a:rPr lang="zh-CN" altLang="en-US" sz="1200" b="1" kern="0" dirty="0">
                    <a:latin typeface="Times New Roman" panose="02020603050405020304" pitchFamily="18" charset="0"/>
                    <a:ea typeface="+mn-ea"/>
                    <a:cs typeface="Times New Roman" panose="02020603050405020304" pitchFamily="18" charset="0"/>
                  </a:rPr>
                  <a:t> </a:t>
                </a:r>
                <a:r>
                  <a:rPr lang="en-US" altLang="zh-CN" sz="1200" b="1" kern="0" dirty="0">
                    <a:latin typeface="Times New Roman" panose="02020603050405020304" pitchFamily="18" charset="0"/>
                    <a:ea typeface="+mn-ea"/>
                    <a:cs typeface="Times New Roman" panose="02020603050405020304" pitchFamily="18" charset="0"/>
                  </a:rPr>
                  <a:t>, </a:t>
                </a:r>
                <a:r>
                  <a:rPr lang="zh-CN" altLang="en-US" sz="1200" b="1" kern="0" dirty="0" smtClean="0">
                    <a:latin typeface="Times New Roman" panose="02020603050405020304" pitchFamily="18" charset="0"/>
                    <a:ea typeface="+mn-ea"/>
                    <a:cs typeface="Times New Roman" panose="02020603050405020304" pitchFamily="18" charset="0"/>
                  </a:rPr>
                  <a:t>即是求</a:t>
                </a:r>
                <a:r>
                  <a:rPr lang="en-US" altLang="zh-CN" sz="1200" b="1" kern="0" dirty="0">
                    <a:latin typeface="Times New Roman" panose="02020603050405020304" pitchFamily="18" charset="0"/>
                    <a:ea typeface="+mn-ea"/>
                    <a:cs typeface="Times New Roman" panose="02020603050405020304" pitchFamily="18" charset="0"/>
                  </a:rPr>
                  <a:t>R</a:t>
                </a:r>
                <a:r>
                  <a:rPr lang="zh-CN" altLang="en-US" sz="1200" b="1" kern="0" dirty="0">
                    <a:latin typeface="Times New Roman" panose="02020603050405020304" pitchFamily="18" charset="0"/>
                    <a:ea typeface="+mn-ea"/>
                    <a:cs typeface="Times New Roman" panose="02020603050405020304" pitchFamily="18" charset="0"/>
                  </a:rPr>
                  <a:t>的</a:t>
                </a:r>
                <a:r>
                  <a:rPr lang="zh-CN" altLang="en-US" sz="1200" b="1" kern="0" dirty="0" smtClean="0">
                    <a:latin typeface="Times New Roman" panose="02020603050405020304" pitchFamily="18" charset="0"/>
                    <a:ea typeface="+mn-ea"/>
                    <a:cs typeface="Times New Roman" panose="02020603050405020304" pitchFamily="18" charset="0"/>
                  </a:rPr>
                  <a:t>特征值</a:t>
                </a:r>
                <a:r>
                  <a:rPr kumimoji="1" lang="zh-CN" altLang="en-US" sz="1200" b="1" dirty="0" smtClean="0">
                    <a:latin typeface="Times New Roman" panose="02020603050405020304" pitchFamily="18" charset="0"/>
                    <a:ea typeface="+mn-ea"/>
                    <a:cs typeface="Times New Roman" panose="02020603050405020304" pitchFamily="18" charset="0"/>
                  </a:rPr>
                  <a:t>和</a:t>
                </a:r>
                <a:r>
                  <a:rPr lang="zh-CN" altLang="en-US" sz="1200" b="1" kern="0" dirty="0" smtClean="0">
                    <a:latin typeface="Times New Roman" panose="02020603050405020304" pitchFamily="18" charset="0"/>
                    <a:ea typeface="+mn-ea"/>
                    <a:cs typeface="Times New Roman" panose="02020603050405020304" pitchFamily="18" charset="0"/>
                  </a:rPr>
                  <a:t>特征向量（对照矩阵特征方程的定义）</a:t>
                </a:r>
                <a:endParaRPr lang="en-US" altLang="zh-TW" sz="1200" b="1" kern="0" dirty="0">
                  <a:latin typeface="Times New Roman" panose="02020603050405020304" pitchFamily="18" charset="0"/>
                  <a:ea typeface="宋体" panose="02010600030101010101" pitchFamily="2" charset="-122"/>
                  <a:cs typeface="Times New Roman" panose="02020603050405020304"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R</a:t>
                </a:r>
                <a:r>
                  <a:rPr lang="zh-CN" altLang="en-US" dirty="0" smtClean="0"/>
                  <a:t>此处为自相关阵，与课本上的协方差矩阵有差别？</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smtClean="0">
                    <a:solidFill>
                      <a:schemeClr val="tx1"/>
                    </a:solidFill>
                    <a:effectLst/>
                    <a:latin typeface="+mn-lt"/>
                    <a:ea typeface="+mn-ea"/>
                    <a:cs typeface="+mn-cs"/>
                  </a:rPr>
                  <a:t>主成分分析中，有的用自相关矩阵，有的用协方差矩阵，这两个概念是什么关系。</a:t>
                </a:r>
                <a:endParaRPr lang="en-US" altLang="zh-CN" sz="1200" b="0" i="0" kern="1200" dirty="0" smtClean="0">
                  <a:solidFill>
                    <a:schemeClr val="tx1"/>
                  </a:solidFill>
                  <a:effectLst/>
                  <a:latin typeface="+mn-lt"/>
                  <a:ea typeface="+mn-ea"/>
                  <a:cs typeface="+mn-cs"/>
                </a:endParaRPr>
              </a:p>
              <a:p>
                <a:pPr fontAlgn="t" latinLnBrk="1"/>
                <a:r>
                  <a:rPr lang="zh-CN" altLang="en-US" sz="1200" b="0" kern="1200" dirty="0" smtClean="0">
                    <a:solidFill>
                      <a:schemeClr val="tx1"/>
                    </a:solidFill>
                    <a:effectLst/>
                    <a:latin typeface="+mn-lt"/>
                    <a:ea typeface="+mn-ea"/>
                    <a:cs typeface="+mn-cs"/>
                  </a:rPr>
                  <a:t>应该取协方差矩阵的特征向量，一般书上在采用自相关矩阵</a:t>
                </a:r>
                <a:r>
                  <a:rPr lang="en-US" altLang="zh-CN" sz="1200" b="0" kern="1200" dirty="0" smtClean="0">
                    <a:solidFill>
                      <a:schemeClr val="tx1"/>
                    </a:solidFill>
                    <a:effectLst/>
                    <a:latin typeface="+mn-lt"/>
                    <a:ea typeface="+mn-ea"/>
                    <a:cs typeface="+mn-cs"/>
                  </a:rPr>
                  <a:t>E(xx')</a:t>
                </a:r>
                <a:r>
                  <a:rPr lang="zh-CN" altLang="en-US" sz="1200" b="0" kern="1200" dirty="0" smtClean="0">
                    <a:solidFill>
                      <a:schemeClr val="tx1"/>
                    </a:solidFill>
                    <a:effectLst/>
                    <a:latin typeface="+mn-lt"/>
                    <a:ea typeface="+mn-ea"/>
                    <a:cs typeface="+mn-cs"/>
                  </a:rPr>
                  <a:t>时都会加个前提：零均值随机过程</a:t>
                </a:r>
                <a:r>
                  <a:rPr lang="en-US" altLang="zh-CN" sz="1200" b="0" kern="1200" dirty="0" smtClean="0">
                    <a:solidFill>
                      <a:schemeClr val="tx1"/>
                    </a:solidFill>
                    <a:effectLst/>
                    <a:latin typeface="+mn-lt"/>
                    <a:ea typeface="+mn-ea"/>
                    <a:cs typeface="+mn-cs"/>
                  </a:rPr>
                  <a:t>x(n)</a:t>
                </a:r>
                <a:r>
                  <a:rPr lang="zh-CN" altLang="en-US" sz="1200" b="0" kern="1200" dirty="0" smtClean="0">
                    <a:solidFill>
                      <a:schemeClr val="tx1"/>
                    </a:solidFill>
                    <a:effectLst/>
                    <a:latin typeface="+mn-lt"/>
                    <a:ea typeface="+mn-ea"/>
                    <a:cs typeface="+mn-cs"/>
                  </a:rPr>
                  <a:t>，此时自相关与协方差相等。</a:t>
                </a:r>
                <a:endParaRPr lang="en-US" altLang="zh-CN" sz="1200" b="0" kern="1200" dirty="0" smtClean="0">
                  <a:solidFill>
                    <a:schemeClr val="tx1"/>
                  </a:solidFill>
                  <a:effectLst/>
                  <a:latin typeface="+mn-lt"/>
                  <a:ea typeface="+mn-ea"/>
                  <a:cs typeface="+mn-cs"/>
                </a:endParaRPr>
              </a:p>
              <a:p>
                <a:pPr fontAlgn="t"/>
                <a:endParaRPr lang="en-US" altLang="zh-CN" sz="1200" b="0" kern="1200" dirty="0" smtClean="0">
                  <a:solidFill>
                    <a:schemeClr val="tx1"/>
                  </a:solidFill>
                  <a:effectLst/>
                  <a:latin typeface="+mn-lt"/>
                  <a:ea typeface="+mn-ea"/>
                  <a:cs typeface="+mn-cs"/>
                </a:endParaRPr>
              </a:p>
              <a:p>
                <a:pPr fontAlgn="t"/>
                <a:r>
                  <a:rPr lang="zh-CN" altLang="en-US" sz="1200" b="0" kern="1200" dirty="0" smtClean="0">
                    <a:solidFill>
                      <a:schemeClr val="tx1"/>
                    </a:solidFill>
                    <a:effectLst/>
                    <a:latin typeface="+mn-lt"/>
                    <a:ea typeface="+mn-ea"/>
                    <a:cs typeface="+mn-cs"/>
                  </a:rPr>
                  <a:t>更正错误：原</a:t>
                </a:r>
                <a:r>
                  <a:rPr lang="en-US" altLang="zh-CN" sz="1200" b="0" kern="1200" dirty="0" err="1" smtClean="0">
                    <a:solidFill>
                      <a:schemeClr val="tx1"/>
                    </a:solidFill>
                    <a:effectLst/>
                    <a:latin typeface="+mn-lt"/>
                    <a:ea typeface="+mn-ea"/>
                    <a:cs typeface="+mn-cs"/>
                  </a:rPr>
                  <a:t>ppt</a:t>
                </a:r>
                <a:r>
                  <a:rPr lang="zh-CN" altLang="en-US" sz="1200" b="0" kern="1200" dirty="0" smtClean="0">
                    <a:solidFill>
                      <a:schemeClr val="tx1"/>
                    </a:solidFill>
                    <a:effectLst/>
                    <a:latin typeface="+mn-lt"/>
                    <a:ea typeface="+mn-ea"/>
                    <a:cs typeface="+mn-cs"/>
                  </a:rPr>
                  <a:t>中</a:t>
                </a:r>
                <a:r>
                  <a:rPr lang="en-US" altLang="zh-CN" sz="1200" b="0" kern="1200" dirty="0" smtClean="0">
                    <a:solidFill>
                      <a:schemeClr val="tx1"/>
                    </a:solidFill>
                    <a:effectLst/>
                    <a:latin typeface="+mn-lt"/>
                    <a:ea typeface="+mn-ea"/>
                    <a:cs typeface="+mn-cs"/>
                  </a:rPr>
                  <a:t>R=X’X.</a:t>
                </a:r>
                <a:r>
                  <a:rPr lang="zh-CN" altLang="en-US" sz="1200" b="0" kern="1200" dirty="0" smtClean="0">
                    <a:solidFill>
                      <a:schemeClr val="tx1"/>
                    </a:solidFill>
                    <a:effectLst/>
                    <a:latin typeface="+mn-lt"/>
                    <a:ea typeface="+mn-ea"/>
                    <a:cs typeface="+mn-cs"/>
                  </a:rPr>
                  <a:t>应该是</a:t>
                </a:r>
                <a:r>
                  <a:rPr lang="en-US" altLang="zh-CN" sz="1200" b="0" kern="1200" dirty="0" smtClean="0">
                    <a:solidFill>
                      <a:schemeClr val="tx1"/>
                    </a:solidFill>
                    <a:effectLst/>
                    <a:latin typeface="+mn-lt"/>
                    <a:ea typeface="+mn-ea"/>
                    <a:cs typeface="+mn-cs"/>
                  </a:rPr>
                  <a:t>Rx=E</a:t>
                </a:r>
                <a:r>
                  <a:rPr lang="zh-CN" altLang="en-US" sz="1200" b="0" kern="1200" dirty="0" smtClean="0">
                    <a:solidFill>
                      <a:schemeClr val="tx1"/>
                    </a:solidFill>
                    <a:effectLst/>
                    <a:latin typeface="+mn-lt"/>
                    <a:ea typeface="+mn-ea"/>
                    <a:cs typeface="+mn-cs"/>
                  </a:rPr>
                  <a:t>（</a:t>
                </a:r>
                <a:r>
                  <a:rPr lang="en-US" altLang="zh-CN" sz="1200" b="0" kern="1200" dirty="0" smtClean="0">
                    <a:solidFill>
                      <a:schemeClr val="tx1"/>
                    </a:solidFill>
                    <a:effectLst/>
                    <a:latin typeface="+mn-lt"/>
                    <a:ea typeface="+mn-ea"/>
                    <a:cs typeface="+mn-cs"/>
                  </a:rPr>
                  <a:t>XX’</a:t>
                </a:r>
                <a:r>
                  <a:rPr lang="zh-CN" altLang="en-US" sz="1200" b="0" kern="1200" dirty="0" smtClean="0">
                    <a:solidFill>
                      <a:schemeClr val="tx1"/>
                    </a:solidFill>
                    <a:effectLst/>
                    <a:latin typeface="+mn-lt"/>
                    <a:ea typeface="+mn-ea"/>
                    <a:cs typeface="+mn-cs"/>
                  </a:rPr>
                  <a:t>），以及</a:t>
                </a:r>
                <a:r>
                  <a:rPr lang="en-US" altLang="zh-CN" sz="1200" b="0" kern="1200" dirty="0" err="1" smtClean="0">
                    <a:solidFill>
                      <a:schemeClr val="tx1"/>
                    </a:solidFill>
                    <a:effectLst/>
                    <a:latin typeface="+mn-lt"/>
                    <a:ea typeface="+mn-ea"/>
                    <a:cs typeface="+mn-cs"/>
                  </a:rPr>
                  <a:t>var</a:t>
                </a:r>
                <a:r>
                  <a:rPr lang="zh-CN" altLang="en-US" sz="1200" b="0" kern="1200" dirty="0" smtClean="0">
                    <a:solidFill>
                      <a:schemeClr val="tx1"/>
                    </a:solidFill>
                    <a:effectLst/>
                    <a:latin typeface="+mn-lt"/>
                    <a:ea typeface="+mn-ea"/>
                    <a:cs typeface="+mn-cs"/>
                  </a:rPr>
                  <a:t>（</a:t>
                </a:r>
                <a:r>
                  <a:rPr lang="en-US" altLang="zh-CN" sz="1200" b="0" kern="1200" dirty="0" smtClean="0">
                    <a:solidFill>
                      <a:schemeClr val="tx1"/>
                    </a:solidFill>
                    <a:effectLst/>
                    <a:latin typeface="+mn-lt"/>
                    <a:ea typeface="+mn-ea"/>
                    <a:cs typeface="+mn-cs"/>
                  </a:rPr>
                  <a:t>Y</a:t>
                </a:r>
                <a:r>
                  <a:rPr lang="zh-CN" altLang="en-US" sz="1200" b="0" kern="1200" dirty="0" smtClean="0">
                    <a:solidFill>
                      <a:schemeClr val="tx1"/>
                    </a:solidFill>
                    <a:effectLst/>
                    <a:latin typeface="+mn-lt"/>
                    <a:ea typeface="+mn-ea"/>
                    <a:cs typeface="+mn-cs"/>
                  </a:rPr>
                  <a:t>）的定义式的错误，补充一般的</a:t>
                </a:r>
                <a:r>
                  <a:rPr lang="en-US" altLang="zh-CN" sz="1200" b="0" kern="1200" dirty="0" err="1" smtClean="0">
                    <a:solidFill>
                      <a:schemeClr val="tx1"/>
                    </a:solidFill>
                    <a:effectLst/>
                    <a:latin typeface="+mn-lt"/>
                    <a:ea typeface="+mn-ea"/>
                    <a:cs typeface="+mn-cs"/>
                  </a:rPr>
                  <a:t>var</a:t>
                </a:r>
                <a:r>
                  <a:rPr lang="zh-CN" altLang="en-US" sz="1200" b="0" kern="1200" dirty="0" smtClean="0">
                    <a:solidFill>
                      <a:schemeClr val="tx1"/>
                    </a:solidFill>
                    <a:effectLst/>
                    <a:latin typeface="+mn-lt"/>
                    <a:ea typeface="+mn-ea"/>
                    <a:cs typeface="+mn-cs"/>
                  </a:rPr>
                  <a:t>（</a:t>
                </a:r>
                <a:r>
                  <a:rPr lang="en-US" altLang="zh-CN" sz="1200" b="0" kern="1200" dirty="0" smtClean="0">
                    <a:solidFill>
                      <a:schemeClr val="tx1"/>
                    </a:solidFill>
                    <a:effectLst/>
                    <a:latin typeface="+mn-lt"/>
                    <a:ea typeface="+mn-ea"/>
                    <a:cs typeface="+mn-cs"/>
                  </a:rPr>
                  <a:t>Y</a:t>
                </a:r>
                <a:r>
                  <a:rPr lang="zh-CN" altLang="en-US" sz="1200" b="0" kern="1200" dirty="0" smtClean="0">
                    <a:solidFill>
                      <a:schemeClr val="tx1"/>
                    </a:solidFill>
                    <a:effectLst/>
                    <a:latin typeface="+mn-lt"/>
                    <a:ea typeface="+mn-ea"/>
                    <a:cs typeface="+mn-cs"/>
                  </a:rPr>
                  <a:t>）的定义，补充第一页（左边栏目）</a:t>
                </a:r>
                <a:endParaRPr lang="zh-CN" altLang="en-US" dirty="0" smtClean="0"/>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20</a:t>
            </a:fld>
            <a:endParaRPr lang="zh-CN" altLang="en-US"/>
          </a:p>
        </p:txBody>
      </p:sp>
    </p:spTree>
    <p:extLst>
      <p:ext uri="{BB962C8B-B14F-4D97-AF65-F5344CB8AC3E}">
        <p14:creationId xmlns:p14="http://schemas.microsoft.com/office/powerpoint/2010/main" val="2852384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幻灯片图像占位符 1"/>
          <p:cNvSpPr>
            <a:spLocks noGrp="1" noRot="1" noChangeAspect="1" noTextEdit="1"/>
          </p:cNvSpPr>
          <p:nvPr>
            <p:ph type="sldImg"/>
          </p:nvPr>
        </p:nvSpPr>
        <p:spPr>
          <a:xfrm>
            <a:off x="112713" y="746125"/>
            <a:ext cx="6632575" cy="3732213"/>
          </a:xfrm>
          <a:ln/>
        </p:spPr>
      </p:sp>
      <p:sp>
        <p:nvSpPr>
          <p:cNvPr id="175107" name="备注占位符 2"/>
          <p:cNvSpPr>
            <a:spLocks noGrp="1"/>
          </p:cNvSpPr>
          <p:nvPr>
            <p:ph type="body" idx="1"/>
          </p:nvPr>
        </p:nvSpPr>
        <p:spPr>
          <a:noFill/>
          <a:ln/>
        </p:spPr>
        <p:txBody>
          <a:bodyPr/>
          <a:lstStyle/>
          <a:p>
            <a:r>
              <a:rPr lang="en-US" altLang="zh-CN" dirty="0"/>
              <a:t>R</a:t>
            </a:r>
            <a:r>
              <a:rPr lang="zh-CN" altLang="en-US" dirty="0"/>
              <a:t>和前面两页的定义不一致？？？？</a:t>
            </a:r>
            <a:r>
              <a:rPr lang="en-US" altLang="zh-CN" dirty="0"/>
              <a:t>Zlm  </a:t>
            </a:r>
          </a:p>
        </p:txBody>
      </p:sp>
      <p:sp>
        <p:nvSpPr>
          <p:cNvPr id="175108" name="灯片编号占位符 3"/>
          <p:cNvSpPr>
            <a:spLocks noGrp="1"/>
          </p:cNvSpPr>
          <p:nvPr>
            <p:ph type="sldNum" sz="quarter" idx="5"/>
          </p:nvPr>
        </p:nvSpPr>
        <p:spPr>
          <a:noFill/>
        </p:spPr>
        <p:txBody>
          <a:bodyPr/>
          <a:lstStyle/>
          <a:p>
            <a:fld id="{9652F4B0-816D-46A6-8D80-5427496CF545}" type="slidenum">
              <a:rPr lang="en-US" altLang="zh-CN" smtClean="0"/>
              <a:pPr/>
              <a:t>21</a:t>
            </a:fld>
            <a:endParaRPr lang="en-US" altLang="zh-CN"/>
          </a:p>
        </p:txBody>
      </p:sp>
    </p:spTree>
    <p:extLst>
      <p:ext uri="{BB962C8B-B14F-4D97-AF65-F5344CB8AC3E}">
        <p14:creationId xmlns:p14="http://schemas.microsoft.com/office/powerpoint/2010/main" val="34198048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zlm</a:t>
            </a:r>
            <a:r>
              <a:rPr lang="zh-CN" altLang="en-US" dirty="0"/>
              <a:t>。替换原来的</a:t>
            </a:r>
            <a:r>
              <a:rPr lang="en-US" altLang="zh-CN" dirty="0"/>
              <a:t>k-l</a:t>
            </a:r>
            <a:r>
              <a:rPr lang="zh-CN" altLang="en-US" dirty="0"/>
              <a:t>变换的讲解的两页，一方面符号上和后面一致，另一方面从</a:t>
            </a:r>
            <a:r>
              <a:rPr lang="en-US" altLang="zh-CN" dirty="0"/>
              <a:t>K-L</a:t>
            </a:r>
            <a:r>
              <a:rPr lang="zh-CN" altLang="en-US" dirty="0"/>
              <a:t>正交分解的思路引进，同时加上误差最小的推导便于理解。</a:t>
            </a:r>
            <a:endParaRPr lang="en-US" altLang="zh-CN" dirty="0"/>
          </a:p>
          <a:p>
            <a:r>
              <a:rPr lang="zh-CN" altLang="en-US" dirty="0"/>
              <a:t>将谢佳整理的前后两页合</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23</a:t>
            </a:fld>
            <a:endParaRPr lang="zh-CN" altLang="en-US"/>
          </a:p>
        </p:txBody>
      </p:sp>
    </p:spTree>
    <p:extLst>
      <p:ext uri="{BB962C8B-B14F-4D97-AF65-F5344CB8AC3E}">
        <p14:creationId xmlns:p14="http://schemas.microsoft.com/office/powerpoint/2010/main" val="30616059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zlm</a:t>
            </a:r>
            <a:r>
              <a:rPr lang="zh-CN" altLang="en-US" dirty="0"/>
              <a:t>将谢佳整理的前后两页合</a:t>
            </a:r>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24</a:t>
            </a:fld>
            <a:endParaRPr lang="zh-CN" altLang="en-US"/>
          </a:p>
        </p:txBody>
      </p:sp>
    </p:spTree>
    <p:extLst>
      <p:ext uri="{BB962C8B-B14F-4D97-AF65-F5344CB8AC3E}">
        <p14:creationId xmlns:p14="http://schemas.microsoft.com/office/powerpoint/2010/main" val="3182879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K-L</a:t>
            </a:r>
            <a:r>
              <a:rPr lang="zh-CN" altLang="en-US" dirty="0"/>
              <a:t>变换：是均方误差（</a:t>
            </a:r>
            <a:r>
              <a:rPr lang="en-US" altLang="zh-CN" dirty="0"/>
              <a:t>MSE</a:t>
            </a:r>
            <a:r>
              <a:rPr lang="zh-CN" altLang="en-US" dirty="0"/>
              <a:t>）意义下的最佳变换。</a:t>
            </a:r>
            <a:r>
              <a:rPr lang="en-US" altLang="zh-CN" dirty="0"/>
              <a:t>K-L</a:t>
            </a:r>
            <a:r>
              <a:rPr lang="zh-CN" altLang="en-US" dirty="0"/>
              <a:t>变换要把所有的类别放在一起变换，希望通过一次性变换，让类间距离大，便于类别区分。因此对应于</a:t>
            </a:r>
            <a:r>
              <a:rPr lang="en-US" altLang="zh-CN" dirty="0"/>
              <a:t>2</a:t>
            </a:r>
            <a:r>
              <a:rPr lang="zh-CN" altLang="en-US" dirty="0"/>
              <a:t>种</a:t>
            </a:r>
            <a:r>
              <a:rPr lang="en-US" altLang="zh-CN" dirty="0"/>
              <a:t>K-L</a:t>
            </a:r>
            <a:r>
              <a:rPr lang="zh-CN" altLang="en-US" dirty="0"/>
              <a:t>变换。</a:t>
            </a:r>
          </a:p>
          <a:p>
            <a:pPr marL="0" indent="0">
              <a:buNone/>
            </a:pPr>
            <a:r>
              <a:rPr lang="en-US" altLang="zh-CN" sz="1200" dirty="0">
                <a:latin typeface="Times New Roman" panose="02020603050405020304" pitchFamily="18" charset="0"/>
                <a:ea typeface="+mn-ea"/>
                <a:cs typeface="Times New Roman" panose="02020603050405020304" pitchFamily="18" charset="0"/>
              </a:rPr>
              <a:t>1</a:t>
            </a:r>
            <a:r>
              <a:rPr lang="zh-CN" altLang="en-US" sz="1200" dirty="0">
                <a:latin typeface="Times New Roman" panose="02020603050405020304" pitchFamily="18" charset="0"/>
                <a:ea typeface="+mn-ea"/>
                <a:cs typeface="Times New Roman" panose="02020603050405020304" pitchFamily="18" charset="0"/>
              </a:rPr>
              <a:t>、</a:t>
            </a:r>
            <a:r>
              <a:rPr lang="zh-CN" altLang="en-US" sz="1200" dirty="0"/>
              <a:t>最优描述的</a:t>
            </a:r>
            <a:r>
              <a:rPr lang="en-US" altLang="zh-CN" sz="1200" dirty="0"/>
              <a:t>K-L</a:t>
            </a:r>
            <a:r>
              <a:rPr lang="zh-CN" altLang="en-US" sz="1200" dirty="0"/>
              <a:t>变换（沿类间距离大的方向降维）</a:t>
            </a:r>
            <a:endParaRPr lang="en-US" altLang="zh-CN" sz="1200" dirty="0"/>
          </a:p>
          <a:p>
            <a:pPr marL="0" indent="0">
              <a:buNone/>
            </a:pPr>
            <a:r>
              <a:rPr lang="zh-CN" altLang="en-US" sz="1200" dirty="0">
                <a:latin typeface="Times New Roman" panose="02020603050405020304" pitchFamily="18" charset="0"/>
                <a:cs typeface="Times New Roman" panose="02020603050405020304" pitchFamily="18" charset="0"/>
              </a:rPr>
              <a:t>从</a:t>
            </a:r>
            <a:r>
              <a:rPr lang="en-US" altLang="zh-CN" sz="1200" dirty="0">
                <a:latin typeface="Times New Roman" panose="02020603050405020304" pitchFamily="18" charset="0"/>
                <a:cs typeface="Times New Roman" panose="02020603050405020304" pitchFamily="18" charset="0"/>
              </a:rPr>
              <a:t>d+1</a:t>
            </a:r>
            <a:r>
              <a:rPr lang="zh-CN" altLang="en-US" sz="1200" dirty="0">
                <a:latin typeface="Times New Roman" panose="02020603050405020304" pitchFamily="18" charset="0"/>
                <a:cs typeface="Times New Roman" panose="02020603050405020304" pitchFamily="18" charset="0"/>
              </a:rPr>
              <a:t>开始的特征值都是最小的几个，所以均方误差得到最小。</a:t>
            </a:r>
            <a:endParaRPr lang="en-US" altLang="zh-CN" sz="1200" dirty="0">
              <a:latin typeface="Times New Roman" panose="02020603050405020304" pitchFamily="18" charset="0"/>
              <a:cs typeface="Times New Roman" panose="02020603050405020304" pitchFamily="18" charset="0"/>
            </a:endParaRPr>
          </a:p>
          <a:p>
            <a:pPr marL="0" indent="0">
              <a:buNone/>
            </a:pPr>
            <a:r>
              <a:rPr lang="zh-CN" altLang="en-US" sz="1200" dirty="0">
                <a:latin typeface="Times New Roman" panose="02020603050405020304" pitchFamily="18" charset="0"/>
                <a:cs typeface="Times New Roman" panose="02020603050405020304" pitchFamily="18" charset="0"/>
              </a:rPr>
              <a:t>以上方法称为最优描述的</a:t>
            </a:r>
            <a:r>
              <a:rPr lang="en-US" altLang="zh-CN" sz="1200" dirty="0">
                <a:latin typeface="Times New Roman" panose="02020603050405020304" pitchFamily="18" charset="0"/>
                <a:cs typeface="Times New Roman" panose="02020603050405020304" pitchFamily="18" charset="0"/>
              </a:rPr>
              <a:t>K-L</a:t>
            </a:r>
            <a:r>
              <a:rPr lang="zh-CN" altLang="en-US" sz="1200" dirty="0">
                <a:latin typeface="Times New Roman" panose="02020603050405020304" pitchFamily="18" charset="0"/>
                <a:cs typeface="Times New Roman" panose="02020603050405020304" pitchFamily="18" charset="0"/>
              </a:rPr>
              <a:t>变换。沿类间距离大的方向降维，从而均方误差最佳。</a:t>
            </a:r>
            <a:endParaRPr lang="en-US" altLang="zh-CN" sz="1200" dirty="0">
              <a:latin typeface="Times New Roman" panose="02020603050405020304" pitchFamily="18" charset="0"/>
              <a:cs typeface="Times New Roman" panose="02020603050405020304" pitchFamily="18" charset="0"/>
            </a:endParaRPr>
          </a:p>
          <a:p>
            <a:pPr marL="0" indent="0">
              <a:buNone/>
            </a:pPr>
            <a:r>
              <a:rPr lang="zh-CN" altLang="en-US" sz="1200" dirty="0">
                <a:latin typeface="Times New Roman" panose="02020603050405020304" pitchFamily="18" charset="0"/>
                <a:cs typeface="Times New Roman" panose="02020603050405020304" pitchFamily="18" charset="0"/>
              </a:rPr>
              <a:t>最优描述的</a:t>
            </a:r>
            <a:r>
              <a:rPr lang="en-US" altLang="zh-CN" sz="1200" dirty="0">
                <a:latin typeface="Times New Roman" panose="02020603050405020304" pitchFamily="18" charset="0"/>
                <a:cs typeface="Times New Roman" panose="02020603050405020304" pitchFamily="18" charset="0"/>
              </a:rPr>
              <a:t>K-L</a:t>
            </a:r>
            <a:r>
              <a:rPr lang="zh-CN" altLang="en-US" sz="1200" dirty="0">
                <a:latin typeface="Times New Roman" panose="02020603050405020304" pitchFamily="18" charset="0"/>
                <a:cs typeface="Times New Roman" panose="02020603050405020304" pitchFamily="18" charset="0"/>
              </a:rPr>
              <a:t>变换扔掉了最不显著的特征，然而，显著的特征其实并不一定对分类有帮助。</a:t>
            </a:r>
            <a:r>
              <a:rPr lang="zh-CN" altLang="en-US" sz="1200" dirty="0">
                <a:solidFill>
                  <a:srgbClr val="FF0000"/>
                </a:solidFill>
                <a:latin typeface="Times New Roman" panose="02020603050405020304" pitchFamily="18" charset="0"/>
                <a:cs typeface="Times New Roman" panose="02020603050405020304" pitchFamily="18" charset="0"/>
              </a:rPr>
              <a:t>还是要找出对分类作用大的特征</a:t>
            </a:r>
            <a:r>
              <a:rPr lang="zh-CN" altLang="en-US" sz="1200" dirty="0">
                <a:latin typeface="Times New Roman" panose="02020603050405020304" pitchFamily="18" charset="0"/>
                <a:cs typeface="Times New Roman" panose="02020603050405020304" pitchFamily="18" charset="0"/>
              </a:rPr>
              <a:t>。</a:t>
            </a:r>
            <a:endParaRPr lang="en-US" altLang="zh-CN" sz="1200"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25</a:t>
            </a:fld>
            <a:endParaRPr lang="zh-CN" altLang="en-US"/>
          </a:p>
        </p:txBody>
      </p:sp>
    </p:spTree>
    <p:extLst>
      <p:ext uri="{BB962C8B-B14F-4D97-AF65-F5344CB8AC3E}">
        <p14:creationId xmlns:p14="http://schemas.microsoft.com/office/powerpoint/2010/main" val="37806153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从类均值中提取判别信息？？</a:t>
            </a:r>
            <a:r>
              <a:rPr lang="en-US" altLang="zh-CN" dirty="0"/>
              <a:t>p167</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30</a:t>
            </a:fld>
            <a:endParaRPr lang="zh-CN" altLang="en-US"/>
          </a:p>
        </p:txBody>
      </p:sp>
    </p:spTree>
    <p:extLst>
      <p:ext uri="{BB962C8B-B14F-4D97-AF65-F5344CB8AC3E}">
        <p14:creationId xmlns:p14="http://schemas.microsoft.com/office/powerpoint/2010/main" val="10244023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0A31927-CE14-4133-9AC6-07084206B06D}" type="slidenum">
              <a:rPr lang="en-US" altLang="zh-CN" smtClean="0"/>
              <a:pPr>
                <a:defRPr/>
              </a:pPr>
              <a:t>36</a:t>
            </a:fld>
            <a:endParaRPr lang="en-US" altLang="zh-CN"/>
          </a:p>
        </p:txBody>
      </p:sp>
    </p:spTree>
    <p:extLst>
      <p:ext uri="{BB962C8B-B14F-4D97-AF65-F5344CB8AC3E}">
        <p14:creationId xmlns:p14="http://schemas.microsoft.com/office/powerpoint/2010/main" val="23978013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0A31927-CE14-4133-9AC6-07084206B06D}" type="slidenum">
              <a:rPr lang="en-US" altLang="zh-CN" smtClean="0"/>
              <a:pPr>
                <a:defRPr/>
              </a:pPr>
              <a:t>37</a:t>
            </a:fld>
            <a:endParaRPr lang="en-US" altLang="zh-CN"/>
          </a:p>
        </p:txBody>
      </p:sp>
    </p:spTree>
    <p:extLst>
      <p:ext uri="{BB962C8B-B14F-4D97-AF65-F5344CB8AC3E}">
        <p14:creationId xmlns:p14="http://schemas.microsoft.com/office/powerpoint/2010/main" val="20255107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0A31927-CE14-4133-9AC6-07084206B06D}" type="slidenum">
              <a:rPr lang="en-US" altLang="zh-CN" smtClean="0"/>
              <a:pPr>
                <a:defRPr/>
              </a:pPr>
              <a:t>38</a:t>
            </a:fld>
            <a:endParaRPr lang="en-US" altLang="zh-CN"/>
          </a:p>
        </p:txBody>
      </p:sp>
    </p:spTree>
    <p:extLst>
      <p:ext uri="{BB962C8B-B14F-4D97-AF65-F5344CB8AC3E}">
        <p14:creationId xmlns:p14="http://schemas.microsoft.com/office/powerpoint/2010/main" val="40952935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0A31927-CE14-4133-9AC6-07084206B06D}" type="slidenum">
              <a:rPr lang="en-US" altLang="zh-CN" smtClean="0"/>
              <a:pPr>
                <a:defRPr/>
              </a:pPr>
              <a:t>39</a:t>
            </a:fld>
            <a:endParaRPr lang="en-US" altLang="zh-CN"/>
          </a:p>
        </p:txBody>
      </p:sp>
    </p:spTree>
    <p:extLst>
      <p:ext uri="{BB962C8B-B14F-4D97-AF65-F5344CB8AC3E}">
        <p14:creationId xmlns:p14="http://schemas.microsoft.com/office/powerpoint/2010/main" val="35493831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0A31927-CE14-4133-9AC6-07084206B06D}" type="slidenum">
              <a:rPr lang="en-US" altLang="zh-CN" smtClean="0"/>
              <a:pPr>
                <a:defRPr/>
              </a:pPr>
              <a:t>40</a:t>
            </a:fld>
            <a:endParaRPr lang="en-US" altLang="zh-CN"/>
          </a:p>
        </p:txBody>
      </p:sp>
    </p:spTree>
    <p:extLst>
      <p:ext uri="{BB962C8B-B14F-4D97-AF65-F5344CB8AC3E}">
        <p14:creationId xmlns:p14="http://schemas.microsoft.com/office/powerpoint/2010/main" val="5125503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zlm</a:t>
            </a:r>
            <a:r>
              <a:rPr lang="zh-CN" altLang="en-US" dirty="0"/>
              <a:t>？？？？？所以，矩阵           和         具有相同的本征值，</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45</a:t>
            </a:fld>
            <a:endParaRPr lang="zh-CN" altLang="en-US"/>
          </a:p>
        </p:txBody>
      </p:sp>
    </p:spTree>
    <p:extLst>
      <p:ext uri="{BB962C8B-B14F-4D97-AF65-F5344CB8AC3E}">
        <p14:creationId xmlns:p14="http://schemas.microsoft.com/office/powerpoint/2010/main" val="105134358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hyperlink" Target="http://pic.hust.edu.cn/single/index/_class/3/1376?c=&#21326;&#20013;&#22823;&#19968;&#26223;" TargetMode="External"/><Relationship Id="rId13"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4.jpeg"/><Relationship Id="rId12" Type="http://schemas.openxmlformats.org/officeDocument/2006/relationships/hyperlink" Target="http://pic.hust.edu.cn/single/index/_class/4/1421?c=&#21326;&#20013;&#22823;&#19968;&#26223;" TargetMode="External"/><Relationship Id="rId17" Type="http://schemas.openxmlformats.org/officeDocument/2006/relationships/image" Target="../media/image1.png"/><Relationship Id="rId2" Type="http://schemas.openxmlformats.org/officeDocument/2006/relationships/slideMaster" Target="../slideMasters/slideMaster1.xml"/><Relationship Id="rId16" Type="http://schemas.openxmlformats.org/officeDocument/2006/relationships/oleObject" Target="../embeddings/oleObject2.bin"/><Relationship Id="rId1" Type="http://schemas.openxmlformats.org/officeDocument/2006/relationships/vmlDrawing" Target="../drawings/vmlDrawing2.vml"/><Relationship Id="rId6" Type="http://schemas.openxmlformats.org/officeDocument/2006/relationships/hyperlink" Target="http://pic.hust.edu.cn/single/index/_class/2/1296?c=&#21326;&#20013;&#22823;&#19968;&#26223;" TargetMode="External"/><Relationship Id="rId11" Type="http://schemas.openxmlformats.org/officeDocument/2006/relationships/image" Target="../media/image6.jpeg"/><Relationship Id="rId5" Type="http://schemas.openxmlformats.org/officeDocument/2006/relationships/image" Target="../media/image3.jpeg"/><Relationship Id="rId15" Type="http://schemas.openxmlformats.org/officeDocument/2006/relationships/image" Target="../media/image8.jpeg"/><Relationship Id="rId10" Type="http://schemas.openxmlformats.org/officeDocument/2006/relationships/hyperlink" Target="http://pic.hust.edu.cn/single/index/_class/3/1394?c=&#21326;&#20013;&#22823;&#19968;&#26223;" TargetMode="External"/><Relationship Id="rId4" Type="http://schemas.openxmlformats.org/officeDocument/2006/relationships/hyperlink" Target="http://pic.hust.edu.cn/single/index/_class/0/803?c=&#21326;&#20013;&#22823;&#19968;&#26223;" TargetMode="External"/><Relationship Id="rId9" Type="http://schemas.openxmlformats.org/officeDocument/2006/relationships/image" Target="../media/image5.jpeg"/><Relationship Id="rId14" Type="http://schemas.openxmlformats.org/officeDocument/2006/relationships/hyperlink" Target="http://pic.hust.edu.cn/single/index/_class/4/1428?c=&#21326;&#20013;&#22823;&#19968;&#26223;"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bwMode="gray">
      <p:bgPr>
        <a:solidFill>
          <a:schemeClr val="bg1"/>
        </a:solidFill>
        <a:effectLst/>
      </p:bgPr>
    </p:bg>
    <p:spTree>
      <p:nvGrpSpPr>
        <p:cNvPr id="1" name=""/>
        <p:cNvGrpSpPr/>
        <p:nvPr/>
      </p:nvGrpSpPr>
      <p:grpSpPr>
        <a:xfrm>
          <a:off x="0" y="0"/>
          <a:ext cx="0" cy="0"/>
          <a:chOff x="0" y="0"/>
          <a:chExt cx="0" cy="0"/>
        </a:xfrm>
      </p:grpSpPr>
      <p:grpSp>
        <p:nvGrpSpPr>
          <p:cNvPr id="3" name="Group 372"/>
          <p:cNvGrpSpPr>
            <a:grpSpLocks/>
          </p:cNvGrpSpPr>
          <p:nvPr/>
        </p:nvGrpSpPr>
        <p:grpSpPr bwMode="auto">
          <a:xfrm>
            <a:off x="762001" y="2786063"/>
            <a:ext cx="11010900" cy="119062"/>
            <a:chOff x="288" y="1248"/>
            <a:chExt cx="5229" cy="96"/>
          </a:xfrm>
        </p:grpSpPr>
        <p:grpSp>
          <p:nvGrpSpPr>
            <p:cNvPr id="4" name="Group 368"/>
            <p:cNvGrpSpPr>
              <a:grpSpLocks/>
            </p:cNvGrpSpPr>
            <p:nvPr userDrawn="1"/>
          </p:nvGrpSpPr>
          <p:grpSpPr bwMode="auto">
            <a:xfrm>
              <a:off x="288" y="1248"/>
              <a:ext cx="5228" cy="96"/>
              <a:chOff x="192" y="498"/>
              <a:chExt cx="5376" cy="78"/>
            </a:xfrm>
          </p:grpSpPr>
          <p:sp>
            <p:nvSpPr>
              <p:cNvPr id="6" name="Rectangle 369"/>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ea typeface="宋体" pitchFamily="2" charset="-122"/>
                </a:endParaRPr>
              </a:p>
            </p:txBody>
          </p:sp>
          <p:sp>
            <p:nvSpPr>
              <p:cNvPr id="7" name="Line 370"/>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p>
            </p:txBody>
          </p:sp>
        </p:grpSp>
        <p:pic>
          <p:nvPicPr>
            <p:cNvPr id="5" name="Picture 371" descr="Untitled-4 copy"/>
            <p:cNvPicPr>
              <a:picLocks noChangeAspect="1" noChangeArrowheads="1"/>
            </p:cNvPicPr>
            <p:nvPr userDrawn="1"/>
          </p:nvPicPr>
          <p:blipFill>
            <a:blip r:embed="rId3" cstate="print"/>
            <a:srcRect/>
            <a:stretch>
              <a:fillRect/>
            </a:stretch>
          </p:blipFill>
          <p:spPr bwMode="gray">
            <a:xfrm>
              <a:off x="346" y="1254"/>
              <a:ext cx="71" cy="77"/>
            </a:xfrm>
            <a:prstGeom prst="rect">
              <a:avLst/>
            </a:prstGeom>
            <a:noFill/>
            <a:ln w="9525">
              <a:noFill/>
              <a:miter lim="800000"/>
              <a:headEnd/>
              <a:tailEnd/>
            </a:ln>
          </p:spPr>
        </p:pic>
      </p:grpSp>
      <p:pic>
        <p:nvPicPr>
          <p:cNvPr id="8" name="Picture 429" descr="http://pic.hust.edu.cn/pic/nav/803.jpg">
            <a:hlinkClick r:id="rId4"/>
          </p:cNvPr>
          <p:cNvPicPr>
            <a:picLocks noChangeAspect="1" noChangeArrowheads="1"/>
          </p:cNvPicPr>
          <p:nvPr userDrawn="1"/>
        </p:nvPicPr>
        <p:blipFill>
          <a:blip r:embed="rId5" cstate="print"/>
          <a:srcRect/>
          <a:stretch>
            <a:fillRect/>
          </a:stretch>
        </p:blipFill>
        <p:spPr bwMode="auto">
          <a:xfrm>
            <a:off x="7177618" y="6143625"/>
            <a:ext cx="1680633" cy="757238"/>
          </a:xfrm>
          <a:prstGeom prst="rect">
            <a:avLst/>
          </a:prstGeom>
          <a:noFill/>
          <a:ln w="9525">
            <a:noFill/>
            <a:miter lim="800000"/>
            <a:headEnd/>
            <a:tailEnd/>
          </a:ln>
        </p:spPr>
      </p:pic>
      <p:pic>
        <p:nvPicPr>
          <p:cNvPr id="9" name="Picture 433" descr="http://pic.hust.edu.cn/pic/nav/1296.jpg">
            <a:hlinkClick r:id="rId6"/>
          </p:cNvPr>
          <p:cNvPicPr>
            <a:picLocks noChangeAspect="1" noChangeArrowheads="1"/>
          </p:cNvPicPr>
          <p:nvPr userDrawn="1"/>
        </p:nvPicPr>
        <p:blipFill>
          <a:blip r:embed="rId7" cstate="print"/>
          <a:srcRect/>
          <a:stretch>
            <a:fillRect/>
          </a:stretch>
        </p:blipFill>
        <p:spPr bwMode="auto">
          <a:xfrm>
            <a:off x="10511368" y="4598989"/>
            <a:ext cx="1680633" cy="758825"/>
          </a:xfrm>
          <a:prstGeom prst="rect">
            <a:avLst/>
          </a:prstGeom>
          <a:noFill/>
          <a:ln w="9525">
            <a:noFill/>
            <a:miter lim="800000"/>
            <a:headEnd/>
            <a:tailEnd/>
          </a:ln>
        </p:spPr>
      </p:pic>
      <p:pic>
        <p:nvPicPr>
          <p:cNvPr id="10" name="Picture 435" descr="http://pic.hust.edu.cn/pic/nav/1376.jpg">
            <a:hlinkClick r:id="rId8"/>
          </p:cNvPr>
          <p:cNvPicPr>
            <a:picLocks noChangeAspect="1" noChangeArrowheads="1"/>
          </p:cNvPicPr>
          <p:nvPr userDrawn="1"/>
        </p:nvPicPr>
        <p:blipFill>
          <a:blip r:embed="rId9" cstate="print"/>
          <a:srcRect/>
          <a:stretch>
            <a:fillRect/>
          </a:stretch>
        </p:blipFill>
        <p:spPr bwMode="auto">
          <a:xfrm>
            <a:off x="10511368" y="6100764"/>
            <a:ext cx="1680633" cy="757237"/>
          </a:xfrm>
          <a:prstGeom prst="rect">
            <a:avLst/>
          </a:prstGeom>
          <a:noFill/>
          <a:ln w="9525">
            <a:noFill/>
            <a:miter lim="800000"/>
            <a:headEnd/>
            <a:tailEnd/>
          </a:ln>
        </p:spPr>
      </p:pic>
      <p:pic>
        <p:nvPicPr>
          <p:cNvPr id="11" name="Picture 437" descr="http://pic.hust.edu.cn/pic/nav/1394.jpg">
            <a:hlinkClick r:id="rId10"/>
          </p:cNvPr>
          <p:cNvPicPr>
            <a:picLocks noChangeAspect="1" noChangeArrowheads="1"/>
          </p:cNvPicPr>
          <p:nvPr userDrawn="1"/>
        </p:nvPicPr>
        <p:blipFill>
          <a:blip r:embed="rId11" cstate="print"/>
          <a:srcRect/>
          <a:stretch>
            <a:fillRect/>
          </a:stretch>
        </p:blipFill>
        <p:spPr bwMode="auto">
          <a:xfrm>
            <a:off x="8858252" y="5386389"/>
            <a:ext cx="1680633" cy="757237"/>
          </a:xfrm>
          <a:prstGeom prst="rect">
            <a:avLst/>
          </a:prstGeom>
          <a:noFill/>
          <a:ln w="9525">
            <a:noFill/>
            <a:miter lim="800000"/>
            <a:headEnd/>
            <a:tailEnd/>
          </a:ln>
        </p:spPr>
      </p:pic>
      <p:pic>
        <p:nvPicPr>
          <p:cNvPr id="12" name="Picture 439" descr="http://pic.hust.edu.cn/pic/nav/1421.jpg">
            <a:hlinkClick r:id="rId12"/>
          </p:cNvPr>
          <p:cNvPicPr>
            <a:picLocks noChangeAspect="1" noChangeArrowheads="1"/>
          </p:cNvPicPr>
          <p:nvPr userDrawn="1"/>
        </p:nvPicPr>
        <p:blipFill>
          <a:blip r:embed="rId13" cstate="print"/>
          <a:srcRect/>
          <a:stretch>
            <a:fillRect/>
          </a:stretch>
        </p:blipFill>
        <p:spPr bwMode="auto">
          <a:xfrm>
            <a:off x="8858252" y="6127751"/>
            <a:ext cx="1680633" cy="758825"/>
          </a:xfrm>
          <a:prstGeom prst="rect">
            <a:avLst/>
          </a:prstGeom>
          <a:noFill/>
          <a:ln w="9525">
            <a:noFill/>
            <a:miter lim="800000"/>
            <a:headEnd/>
            <a:tailEnd/>
          </a:ln>
        </p:spPr>
      </p:pic>
      <p:pic>
        <p:nvPicPr>
          <p:cNvPr id="13" name="Picture 441" descr="http://pic.hust.edu.cn/pic/nav/1428.jpg">
            <a:hlinkClick r:id="rId14"/>
          </p:cNvPr>
          <p:cNvPicPr>
            <a:picLocks noChangeAspect="1" noChangeArrowheads="1"/>
          </p:cNvPicPr>
          <p:nvPr userDrawn="1"/>
        </p:nvPicPr>
        <p:blipFill>
          <a:blip r:embed="rId15" cstate="print"/>
          <a:srcRect/>
          <a:stretch>
            <a:fillRect/>
          </a:stretch>
        </p:blipFill>
        <p:spPr bwMode="auto">
          <a:xfrm>
            <a:off x="10511368" y="5357814"/>
            <a:ext cx="1680633" cy="757237"/>
          </a:xfrm>
          <a:prstGeom prst="rect">
            <a:avLst/>
          </a:prstGeom>
          <a:noFill/>
          <a:ln w="9525">
            <a:noFill/>
            <a:miter lim="800000"/>
            <a:headEnd/>
            <a:tailEnd/>
          </a:ln>
        </p:spPr>
      </p:pic>
      <p:graphicFrame>
        <p:nvGraphicFramePr>
          <p:cNvPr id="14" name="Object 442"/>
          <p:cNvGraphicFramePr>
            <a:graphicFrameLocks noChangeAspect="1"/>
          </p:cNvGraphicFramePr>
          <p:nvPr/>
        </p:nvGraphicFramePr>
        <p:xfrm>
          <a:off x="95251" y="34925"/>
          <a:ext cx="2063749" cy="1162050"/>
        </p:xfrm>
        <a:graphic>
          <a:graphicData uri="http://schemas.openxmlformats.org/presentationml/2006/ole">
            <mc:AlternateContent xmlns:mc="http://schemas.openxmlformats.org/markup-compatibility/2006">
              <mc:Choice xmlns:v="urn:schemas-microsoft-com:vml" Requires="v">
                <p:oleObj spid="_x0000_s34000" name="位图图像" r:id="rId16" imgW="2247619" imgH="1685714" progId="PBrush">
                  <p:embed/>
                </p:oleObj>
              </mc:Choice>
              <mc:Fallback>
                <p:oleObj name="位图图像" r:id="rId16" imgW="2247619" imgH="1685714" progId="PBrush">
                  <p:embed/>
                  <p:pic>
                    <p:nvPicPr>
                      <p:cNvPr id="0" name="Picture 2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5251" y="34925"/>
                        <a:ext cx="2063749"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4" name="Rectangle 2"/>
          <p:cNvSpPr>
            <a:spLocks noGrp="1" noChangeArrowheads="1"/>
          </p:cNvSpPr>
          <p:nvPr>
            <p:ph type="ctrTitle"/>
          </p:nvPr>
        </p:nvSpPr>
        <p:spPr bwMode="gray">
          <a:xfrm>
            <a:off x="857213" y="2285992"/>
            <a:ext cx="10668000" cy="533400"/>
          </a:xfrm>
        </p:spPr>
        <p:txBody>
          <a:bodyPr/>
          <a:lstStyle>
            <a:lvl1pPr algn="r">
              <a:defRPr sz="4800" b="1">
                <a:solidFill>
                  <a:schemeClr val="tx1"/>
                </a:solidFill>
              </a:defRPr>
            </a:lvl1pPr>
          </a:lstStyle>
          <a:p>
            <a:r>
              <a:rPr lang="zh-CN" altLang="en-US" dirty="0"/>
              <a:t>单击此处编辑母版标题样式</a:t>
            </a:r>
            <a:endParaRPr lang="en-US" altLang="zh-CN" dirty="0"/>
          </a:p>
        </p:txBody>
      </p:sp>
      <p:sp>
        <p:nvSpPr>
          <p:cNvPr id="15" name="Rectangle 5"/>
          <p:cNvSpPr>
            <a:spLocks noGrp="1" noChangeArrowheads="1"/>
          </p:cNvSpPr>
          <p:nvPr>
            <p:ph type="ftr" sz="quarter" idx="10"/>
          </p:nvPr>
        </p:nvSpPr>
        <p:spPr>
          <a:xfrm>
            <a:off x="2743201" y="6596064"/>
            <a:ext cx="1191684" cy="244475"/>
          </a:xfrm>
        </p:spPr>
        <p:txBody>
          <a:bodyPr/>
          <a:lstStyle>
            <a:lvl1pPr algn="ctr">
              <a:defRPr sz="1200">
                <a:solidFill>
                  <a:srgbClr val="000000"/>
                </a:solidFill>
              </a:defRPr>
            </a:lvl1pPr>
          </a:lstStyle>
          <a:p>
            <a:pPr>
              <a:defRPr/>
            </a:pPr>
            <a:endParaRPr lang="zh-CN" altLang="zh-CN"/>
          </a:p>
        </p:txBody>
      </p:sp>
      <p:sp>
        <p:nvSpPr>
          <p:cNvPr id="16" name="Rectangle 373"/>
          <p:cNvSpPr>
            <a:spLocks noGrp="1" noChangeArrowheads="1"/>
          </p:cNvSpPr>
          <p:nvPr>
            <p:ph type="sldNum" sz="quarter" idx="11"/>
          </p:nvPr>
        </p:nvSpPr>
        <p:spPr>
          <a:xfrm>
            <a:off x="4064000" y="6596064"/>
            <a:ext cx="1117600" cy="261937"/>
          </a:xfrm>
        </p:spPr>
        <p:txBody>
          <a:bodyPr/>
          <a:lstStyle>
            <a:lvl1pPr>
              <a:defRPr/>
            </a:lvl1pPr>
          </a:lstStyle>
          <a:p>
            <a:pPr>
              <a:defRPr/>
            </a:pPr>
            <a:fld id="{A6901B15-51C5-4543-8646-27AED7159C2B}" type="slidenum">
              <a:rPr lang="en-US" altLang="zh-CN"/>
              <a:pPr>
                <a:defRPr/>
              </a:pPr>
              <a:t>‹#›</a:t>
            </a:fld>
            <a:endParaRPr lang="en-US" altLang="zh-CN"/>
          </a:p>
        </p:txBody>
      </p:sp>
      <p:sp>
        <p:nvSpPr>
          <p:cNvPr id="17" name="Rectangle 374"/>
          <p:cNvSpPr>
            <a:spLocks noGrp="1" noChangeArrowheads="1"/>
          </p:cNvSpPr>
          <p:nvPr>
            <p:ph type="dt" sz="half" idx="12"/>
          </p:nvPr>
        </p:nvSpPr>
        <p:spPr>
          <a:xfrm>
            <a:off x="0" y="6596064"/>
            <a:ext cx="2540000" cy="261937"/>
          </a:xfrm>
        </p:spPr>
        <p:txBody>
          <a:bodyPr/>
          <a:lstStyle>
            <a:lvl1pPr>
              <a:defRPr/>
            </a:lvl1pPr>
          </a:lstStyle>
          <a:p>
            <a:pPr>
              <a:defRPr/>
            </a:pPr>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TextBox 6"/>
          <p:cNvSpPr txBox="1"/>
          <p:nvPr userDrawn="1"/>
        </p:nvSpPr>
        <p:spPr>
          <a:xfrm>
            <a:off x="0" y="6457914"/>
            <a:ext cx="12192000" cy="400110"/>
          </a:xfrm>
          <a:prstGeom prst="rect">
            <a:avLst/>
          </a:prstGeom>
          <a:solidFill>
            <a:schemeClr val="tx2">
              <a:alpha val="32000"/>
            </a:schemeClr>
          </a:solidFill>
        </p:spPr>
        <p:txBody>
          <a:bodyPr wrap="square" rtlCol="0">
            <a:spAutoFit/>
          </a:bodyPr>
          <a:lstStyle/>
          <a:p>
            <a:r>
              <a:rPr lang="zh-CN" altLang="en-US" sz="2000" b="1" dirty="0">
                <a:solidFill>
                  <a:srgbClr val="7030A0"/>
                </a:solidFill>
              </a:rPr>
              <a:t>人工智能与自动化学院</a:t>
            </a:r>
          </a:p>
        </p:txBody>
      </p:sp>
      <p:sp>
        <p:nvSpPr>
          <p:cNvPr id="2" name="标题 1"/>
          <p:cNvSpPr>
            <a:spLocks noGrp="1"/>
          </p:cNvSpPr>
          <p:nvPr>
            <p:ph type="title"/>
          </p:nvPr>
        </p:nvSpPr>
        <p:spPr/>
        <p:txBody>
          <a:bodyPr/>
          <a:lstStyle>
            <a:lvl1pPr>
              <a:defRPr b="1">
                <a:solidFill>
                  <a:schemeClr val="tx1"/>
                </a:solidFill>
                <a:latin typeface="黑体" pitchFamily="49" charset="-122"/>
                <a:ea typeface="黑体"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xfrm>
            <a:off x="11074400" y="6429396"/>
            <a:ext cx="1117600" cy="357166"/>
          </a:xfrm>
          <a:ln/>
        </p:spPr>
        <p:txBody>
          <a:bodyPr/>
          <a:lstStyle>
            <a:lvl1pPr>
              <a:defRPr sz="2000" b="1">
                <a:solidFill>
                  <a:srgbClr val="7030A0"/>
                </a:solidFill>
                <a:latin typeface="Times New Roman" pitchFamily="18" charset="0"/>
                <a:cs typeface="Times New Roman" pitchFamily="18" charset="0"/>
              </a:defRPr>
            </a:lvl1pPr>
          </a:lstStyle>
          <a:p>
            <a:pPr>
              <a:defRPr/>
            </a:pPr>
            <a:fld id="{31E287EE-1289-4991-82CE-EFE584F53F4F}" type="slidenum">
              <a:rPr lang="en-US" altLang="zh-CN" smtClean="0"/>
              <a:pPr>
                <a:defRPr/>
              </a:pPr>
              <a:t>‹#›</a:t>
            </a:fld>
            <a:endParaRPr lang="en-US" altLang="zh-CN" dirty="0"/>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89531B8F-3516-42C3-83A0-0BE91B683E0A}"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064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468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CA6EEC58-89F5-441E-A838-5B7BA2476FEC}"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8" name="Rectangle 6"/>
          <p:cNvSpPr>
            <a:spLocks noGrp="1" noChangeArrowheads="1"/>
          </p:cNvSpPr>
          <p:nvPr>
            <p:ph type="sldNum" sz="quarter" idx="11"/>
          </p:nvPr>
        </p:nvSpPr>
        <p:spPr>
          <a:ln/>
        </p:spPr>
        <p:txBody>
          <a:bodyPr/>
          <a:lstStyle>
            <a:lvl1pPr>
              <a:defRPr/>
            </a:lvl1pPr>
          </a:lstStyle>
          <a:p>
            <a:pPr>
              <a:defRPr/>
            </a:pPr>
            <a:fld id="{6AD9BBF3-2E5D-4C72-85D8-0F814F1E616B}" type="slidenum">
              <a:rPr lang="en-US" altLang="zh-CN"/>
              <a:pPr>
                <a:defRPr/>
              </a:pPr>
              <a:t>‹#›</a:t>
            </a:fld>
            <a:endParaRPr lang="en-US" altLang="zh-CN"/>
          </a:p>
        </p:txBody>
      </p:sp>
      <p:sp>
        <p:nvSpPr>
          <p:cNvPr id="9"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4" name="Rectangle 6"/>
          <p:cNvSpPr>
            <a:spLocks noGrp="1" noChangeArrowheads="1"/>
          </p:cNvSpPr>
          <p:nvPr>
            <p:ph type="sldNum" sz="quarter" idx="11"/>
          </p:nvPr>
        </p:nvSpPr>
        <p:spPr>
          <a:ln/>
        </p:spPr>
        <p:txBody>
          <a:bodyPr/>
          <a:lstStyle>
            <a:lvl1pPr>
              <a:defRPr/>
            </a:lvl1pPr>
          </a:lstStyle>
          <a:p>
            <a:pPr>
              <a:defRPr/>
            </a:pPr>
            <a:fld id="{8916E4C9-78BD-4F77-9C38-0D0B943F93F0}" type="slidenum">
              <a:rPr lang="en-US" altLang="zh-CN"/>
              <a:pPr>
                <a:defRPr/>
              </a:pPr>
              <a:t>‹#›</a:t>
            </a:fld>
            <a:endParaRPr lang="en-US" altLang="zh-CN"/>
          </a:p>
        </p:txBody>
      </p:sp>
      <p:sp>
        <p:nvSpPr>
          <p:cNvPr id="5"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3" name="Rectangle 6"/>
          <p:cNvSpPr>
            <a:spLocks noGrp="1" noChangeArrowheads="1"/>
          </p:cNvSpPr>
          <p:nvPr>
            <p:ph type="sldNum" sz="quarter" idx="11"/>
          </p:nvPr>
        </p:nvSpPr>
        <p:spPr>
          <a:ln/>
        </p:spPr>
        <p:txBody>
          <a:bodyPr/>
          <a:lstStyle>
            <a:lvl1pPr>
              <a:defRPr/>
            </a:lvl1pPr>
          </a:lstStyle>
          <a:p>
            <a:pPr>
              <a:defRPr/>
            </a:pPr>
            <a:fld id="{8EDB171D-A1F9-42E8-BD2B-16AA89E5910B}" type="slidenum">
              <a:rPr lang="en-US" altLang="zh-CN"/>
              <a:pPr>
                <a:defRPr/>
              </a:pPr>
              <a:t>‹#›</a:t>
            </a:fld>
            <a:endParaRPr lang="en-US" altLang="zh-CN"/>
          </a:p>
        </p:txBody>
      </p:sp>
      <p:sp>
        <p:nvSpPr>
          <p:cNvPr id="4"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C13011E7-3EAE-47CA-A409-CC810C5F1C95}"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85E88B96-F116-4CAD-A388-A6B52ED373EE}"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6B664153-0567-4266-A1CF-C85856699692}"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64600" y="152400"/>
            <a:ext cx="281940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06400" y="152400"/>
            <a:ext cx="825500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6D014B58-9775-4ADF-8599-FCF19B567336}"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内容占位符 2"/>
          <p:cNvSpPr>
            <a:spLocks noGrp="1"/>
          </p:cNvSpPr>
          <p:nvPr>
            <p:ph sz="half" idx="1"/>
          </p:nvPr>
        </p:nvSpPr>
        <p:spPr>
          <a:xfrm>
            <a:off x="609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9812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40005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0"/>
          </p:nvPr>
        </p:nvSpPr>
        <p:spPr/>
        <p:txBody>
          <a:bodyPr/>
          <a:lstStyle>
            <a:lvl1pPr>
              <a:defRPr/>
            </a:lvl1pPr>
          </a:lstStyle>
          <a:p>
            <a:pPr>
              <a:defRPr/>
            </a:pPr>
            <a:endParaRPr lang="en-US" altLang="zh-TW" dirty="0"/>
          </a:p>
        </p:txBody>
      </p:sp>
      <p:sp>
        <p:nvSpPr>
          <p:cNvPr id="7" name="灯片编号占位符 6"/>
          <p:cNvSpPr>
            <a:spLocks noGrp="1"/>
          </p:cNvSpPr>
          <p:nvPr>
            <p:ph type="sldNum" sz="quarter" idx="11"/>
          </p:nvPr>
        </p:nvSpPr>
        <p:spPr/>
        <p:txBody>
          <a:bodyPr/>
          <a:lstStyle>
            <a:lvl1pPr>
              <a:defRPr/>
            </a:lvl1pPr>
          </a:lstStyle>
          <a:p>
            <a:pPr>
              <a:defRPr/>
            </a:pPr>
            <a:fld id="{C965244E-2406-4614-A472-EE9EC66BD425}" type="slidenum">
              <a:rPr lang="en-US" altLang="zh-TW"/>
              <a:pPr>
                <a:defRPr/>
              </a:pPr>
              <a:t>‹#›</a:t>
            </a:fld>
            <a:endParaRPr lang="en-US" altLang="zh-TW" dirty="0"/>
          </a:p>
        </p:txBody>
      </p:sp>
      <p:sp>
        <p:nvSpPr>
          <p:cNvPr id="8" name="日期占位符 7"/>
          <p:cNvSpPr>
            <a:spLocks noGrp="1"/>
          </p:cNvSpPr>
          <p:nvPr>
            <p:ph type="dt" sz="half" idx="12"/>
          </p:nvPr>
        </p:nvSpPr>
        <p:spPr/>
        <p:txBody>
          <a:bodyPr/>
          <a:lstStyle>
            <a:lvl1pPr>
              <a:defRPr/>
            </a:lvl1pPr>
          </a:lstStyle>
          <a:p>
            <a:pPr>
              <a:defRPr/>
            </a:pPr>
            <a:endParaRPr lang="en-US" altLang="zh-TW"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50" name="Freeform 126"/>
          <p:cNvSpPr>
            <a:spLocks/>
          </p:cNvSpPr>
          <p:nvPr/>
        </p:nvSpPr>
        <p:spPr bwMode="gray">
          <a:xfrm>
            <a:off x="-16933" y="342900"/>
            <a:ext cx="8043333" cy="679450"/>
          </a:xfrm>
          <a:custGeom>
            <a:avLst/>
            <a:gdLst/>
            <a:ahLst/>
            <a:cxnLst>
              <a:cxn ang="0">
                <a:pos x="0" y="0"/>
              </a:cxn>
              <a:cxn ang="0">
                <a:pos x="3800" y="0"/>
              </a:cxn>
              <a:cxn ang="0">
                <a:pos x="3456" y="428"/>
              </a:cxn>
            </a:cxnLst>
            <a:rect l="0" t="0" r="r" b="b"/>
            <a:pathLst>
              <a:path w="3800" h="428">
                <a:moveTo>
                  <a:pt x="0" y="0"/>
                </a:moveTo>
                <a:lnTo>
                  <a:pt x="3800" y="0"/>
                </a:lnTo>
                <a:lnTo>
                  <a:pt x="3456" y="428"/>
                </a:lnTo>
              </a:path>
            </a:pathLst>
          </a:custGeom>
          <a:noFill/>
          <a:ln w="9525">
            <a:noFill/>
            <a:round/>
            <a:headEnd/>
            <a:tailEnd/>
          </a:ln>
          <a:effectLst/>
        </p:spPr>
        <p:txBody>
          <a:bodyPr wrap="none" anchor="ctr"/>
          <a:lstStyle/>
          <a:p>
            <a:pPr>
              <a:defRPr/>
            </a:pPr>
            <a:endParaRPr lang="zh-CN" altLang="en-US">
              <a:ea typeface="宋体" pitchFamily="2" charset="-122"/>
            </a:endParaRPr>
          </a:p>
        </p:txBody>
      </p:sp>
      <p:sp>
        <p:nvSpPr>
          <p:cNvPr id="1029" name="Rectangle 5"/>
          <p:cNvSpPr>
            <a:spLocks noGrp="1" noChangeArrowheads="1"/>
          </p:cNvSpPr>
          <p:nvPr>
            <p:ph type="ftr" sz="quarter" idx="3"/>
          </p:nvPr>
        </p:nvSpPr>
        <p:spPr bwMode="gray">
          <a:xfrm>
            <a:off x="7620000" y="6483351"/>
            <a:ext cx="28448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1">
                <a:latin typeface="Arial" charset="0"/>
                <a:ea typeface="宋体" pitchFamily="2" charset="-122"/>
              </a:defRPr>
            </a:lvl1pPr>
          </a:lstStyle>
          <a:p>
            <a:pPr>
              <a:defRPr/>
            </a:pPr>
            <a:endParaRPr lang="zh-CN" altLang="zh-CN"/>
          </a:p>
        </p:txBody>
      </p:sp>
      <p:sp>
        <p:nvSpPr>
          <p:cNvPr id="1030" name="Rectangle 6"/>
          <p:cNvSpPr>
            <a:spLocks noGrp="1" noChangeArrowheads="1"/>
          </p:cNvSpPr>
          <p:nvPr>
            <p:ph type="sldNum" sz="quarter" idx="4"/>
          </p:nvPr>
        </p:nvSpPr>
        <p:spPr bwMode="gray">
          <a:xfrm>
            <a:off x="10566400" y="6477000"/>
            <a:ext cx="11176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Arial" charset="0"/>
                <a:ea typeface="宋体" charset="-122"/>
              </a:defRPr>
            </a:lvl1pPr>
          </a:lstStyle>
          <a:p>
            <a:pPr>
              <a:defRPr/>
            </a:pPr>
            <a:fld id="{063D80F8-DC27-48CA-A22D-C490E6572308}" type="slidenum">
              <a:rPr lang="en-US" altLang="zh-CN"/>
              <a:pPr>
                <a:defRPr/>
              </a:pPr>
              <a:t>‹#›</a:t>
            </a:fld>
            <a:endParaRPr lang="en-US" altLang="zh-CN"/>
          </a:p>
        </p:txBody>
      </p:sp>
      <p:sp>
        <p:nvSpPr>
          <p:cNvPr id="1028" name="Rectangle 4"/>
          <p:cNvSpPr>
            <a:spLocks noGrp="1" noChangeArrowheads="1"/>
          </p:cNvSpPr>
          <p:nvPr>
            <p:ph type="dt" sz="half" idx="2"/>
          </p:nvPr>
        </p:nvSpPr>
        <p:spPr bwMode="gray">
          <a:xfrm>
            <a:off x="4978400" y="6477000"/>
            <a:ext cx="25400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ea typeface="宋体" charset="-122"/>
              </a:defRPr>
            </a:lvl1pPr>
          </a:lstStyle>
          <a:p>
            <a:pPr>
              <a:defRPr/>
            </a:pPr>
            <a:endParaRPr lang="en-US" altLang="zh-CN"/>
          </a:p>
        </p:txBody>
      </p:sp>
      <p:sp>
        <p:nvSpPr>
          <p:cNvPr id="1032" name="Rectangle 3"/>
          <p:cNvSpPr>
            <a:spLocks noGrp="1" noChangeArrowheads="1"/>
          </p:cNvSpPr>
          <p:nvPr>
            <p:ph type="body" idx="1"/>
          </p:nvPr>
        </p:nvSpPr>
        <p:spPr bwMode="gray">
          <a:xfrm>
            <a:off x="406400" y="1066800"/>
            <a:ext cx="112776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grpSp>
        <p:nvGrpSpPr>
          <p:cNvPr id="1033" name="Group 191"/>
          <p:cNvGrpSpPr>
            <a:grpSpLocks/>
          </p:cNvGrpSpPr>
          <p:nvPr/>
        </p:nvGrpSpPr>
        <p:grpSpPr bwMode="auto">
          <a:xfrm>
            <a:off x="406400" y="800101"/>
            <a:ext cx="11169651" cy="131763"/>
            <a:chOff x="192" y="498"/>
            <a:chExt cx="5376" cy="78"/>
          </a:xfrm>
        </p:grpSpPr>
        <p:grpSp>
          <p:nvGrpSpPr>
            <p:cNvPr id="1035" name="Group 192"/>
            <p:cNvGrpSpPr>
              <a:grpSpLocks/>
            </p:cNvGrpSpPr>
            <p:nvPr userDrawn="1"/>
          </p:nvGrpSpPr>
          <p:grpSpPr bwMode="auto">
            <a:xfrm>
              <a:off x="192" y="498"/>
              <a:ext cx="5376" cy="78"/>
              <a:chOff x="192" y="498"/>
              <a:chExt cx="5376" cy="78"/>
            </a:xfrm>
          </p:grpSpPr>
          <p:sp>
            <p:nvSpPr>
              <p:cNvPr id="1217" name="Rectangle 193"/>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ea typeface="宋体" pitchFamily="2" charset="-122"/>
                </a:endParaRPr>
              </a:p>
            </p:txBody>
          </p:sp>
          <p:sp>
            <p:nvSpPr>
              <p:cNvPr id="1218" name="Line 194"/>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p>
            </p:txBody>
          </p:sp>
        </p:grpSp>
        <p:pic>
          <p:nvPicPr>
            <p:cNvPr id="1036" name="Picture 195" descr="Untitled-4 copy"/>
            <p:cNvPicPr>
              <a:picLocks noChangeAspect="1" noChangeArrowheads="1"/>
            </p:cNvPicPr>
            <p:nvPr userDrawn="1"/>
          </p:nvPicPr>
          <p:blipFill>
            <a:blip r:embed="rId15" cstate="print"/>
            <a:srcRect/>
            <a:stretch>
              <a:fillRect/>
            </a:stretch>
          </p:blipFill>
          <p:spPr bwMode="gray">
            <a:xfrm>
              <a:off x="300" y="504"/>
              <a:ext cx="72" cy="72"/>
            </a:xfrm>
            <a:prstGeom prst="rect">
              <a:avLst/>
            </a:prstGeom>
            <a:noFill/>
            <a:ln w="9525">
              <a:noFill/>
              <a:miter lim="800000"/>
              <a:headEnd/>
              <a:tailEnd/>
            </a:ln>
          </p:spPr>
        </p:pic>
      </p:grpSp>
      <p:sp>
        <p:nvSpPr>
          <p:cNvPr id="1034" name="Rectangle 2"/>
          <p:cNvSpPr>
            <a:spLocks noGrp="1" noChangeArrowheads="1"/>
          </p:cNvSpPr>
          <p:nvPr>
            <p:ph type="title"/>
          </p:nvPr>
        </p:nvSpPr>
        <p:spPr bwMode="black">
          <a:xfrm>
            <a:off x="406400" y="152401"/>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graphicFrame>
        <p:nvGraphicFramePr>
          <p:cNvPr id="1026" name="Object 267"/>
          <p:cNvGraphicFramePr>
            <a:graphicFrameLocks noChangeAspect="1"/>
          </p:cNvGraphicFramePr>
          <p:nvPr/>
        </p:nvGraphicFramePr>
        <p:xfrm>
          <a:off x="10621433" y="42864"/>
          <a:ext cx="1524000" cy="858837"/>
        </p:xfrm>
        <a:graphic>
          <a:graphicData uri="http://schemas.openxmlformats.org/presentationml/2006/ole">
            <mc:AlternateContent xmlns:mc="http://schemas.openxmlformats.org/markup-compatibility/2006">
              <mc:Choice xmlns:v="urn:schemas-microsoft-com:vml" Requires="v">
                <p:oleObj spid="_x0000_s1232" name="位图图像" r:id="rId16" imgW="2247619" imgH="1685714" progId="PBrush">
                  <p:embed/>
                </p:oleObj>
              </mc:Choice>
              <mc:Fallback>
                <p:oleObj name="位图图像" r:id="rId16" imgW="2247619" imgH="1685714" progId="PBrush">
                  <p:embed/>
                  <p:pic>
                    <p:nvPicPr>
                      <p:cNvPr id="0" name="Picture 2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621433" y="42864"/>
                        <a:ext cx="1524000" cy="858837"/>
                      </a:xfrm>
                      <a:prstGeom prst="rect">
                        <a:avLst/>
                      </a:prstGeom>
                      <a:noFill/>
                      <a:ln>
                        <a:noFill/>
                      </a:ln>
                      <a:effectLst/>
                      <a:extLst>
                        <a:ext uri="{909E8E84-426E-40DD-AFC4-6F175D3DCCD1}">
                          <a14:hiddenFill xmlns:a14="http://schemas.microsoft.com/office/drawing/2010/main">
                            <a:solidFill>
                              <a:srgbClr val="9FD56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DED9CC"/>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11" r:id="rId1"/>
    <p:sldLayoutId id="2147483901" r:id="rId2"/>
    <p:sldLayoutId id="2147483902" r:id="rId3"/>
    <p:sldLayoutId id="2147483903" r:id="rId4"/>
    <p:sldLayoutId id="2147483904" r:id="rId5"/>
    <p:sldLayoutId id="2147483905" r:id="rId6"/>
    <p:sldLayoutId id="2147483906" r:id="rId7"/>
    <p:sldLayoutId id="2147483907" r:id="rId8"/>
    <p:sldLayoutId id="2147483908" r:id="rId9"/>
    <p:sldLayoutId id="2147483909" r:id="rId10"/>
    <p:sldLayoutId id="2147483910" r:id="rId11"/>
    <p:sldLayoutId id="2147483914" r:id="rId12"/>
  </p:sldLayoutIdLst>
  <p:hf hdr="0" ft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9.wmf"/><Relationship Id="rId4"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5.wmf"/><Relationship Id="rId18" Type="http://schemas.openxmlformats.org/officeDocument/2006/relationships/oleObject" Target="../embeddings/oleObject12.bin"/><Relationship Id="rId3" Type="http://schemas.openxmlformats.org/officeDocument/2006/relationships/notesSlide" Target="../notesSlides/notesSlide3.xml"/><Relationship Id="rId7" Type="http://schemas.openxmlformats.org/officeDocument/2006/relationships/image" Target="../media/image12.emf"/><Relationship Id="rId12" Type="http://schemas.openxmlformats.org/officeDocument/2006/relationships/oleObject" Target="../embeddings/oleObject9.bin"/><Relationship Id="rId17" Type="http://schemas.openxmlformats.org/officeDocument/2006/relationships/image" Target="../media/image17.wmf"/><Relationship Id="rId2" Type="http://schemas.openxmlformats.org/officeDocument/2006/relationships/slideLayout" Target="../slideLayouts/slideLayout2.xml"/><Relationship Id="rId16" Type="http://schemas.openxmlformats.org/officeDocument/2006/relationships/oleObject" Target="../embeddings/oleObject11.bin"/><Relationship Id="rId1" Type="http://schemas.openxmlformats.org/officeDocument/2006/relationships/vmlDrawing" Target="../drawings/vmlDrawing4.vml"/><Relationship Id="rId6" Type="http://schemas.openxmlformats.org/officeDocument/2006/relationships/oleObject" Target="../embeddings/oleObject6.bin"/><Relationship Id="rId11" Type="http://schemas.openxmlformats.org/officeDocument/2006/relationships/image" Target="../media/image14.wmf"/><Relationship Id="rId5" Type="http://schemas.openxmlformats.org/officeDocument/2006/relationships/image" Target="../media/image11.wmf"/><Relationship Id="rId15" Type="http://schemas.openxmlformats.org/officeDocument/2006/relationships/image" Target="../media/image16.wmf"/><Relationship Id="rId10" Type="http://schemas.openxmlformats.org/officeDocument/2006/relationships/oleObject" Target="../embeddings/oleObject8.bin"/><Relationship Id="rId19" Type="http://schemas.openxmlformats.org/officeDocument/2006/relationships/image" Target="../media/image18.wmf"/><Relationship Id="rId4" Type="http://schemas.openxmlformats.org/officeDocument/2006/relationships/oleObject" Target="../embeddings/oleObject5.bin"/><Relationship Id="rId9" Type="http://schemas.openxmlformats.org/officeDocument/2006/relationships/image" Target="../media/image13.wmf"/><Relationship Id="rId14" Type="http://schemas.openxmlformats.org/officeDocument/2006/relationships/oleObject" Target="../embeddings/oleObject10.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23.wmf"/><Relationship Id="rId18" Type="http://schemas.openxmlformats.org/officeDocument/2006/relationships/oleObject" Target="../embeddings/oleObject20.bin"/><Relationship Id="rId3" Type="http://schemas.openxmlformats.org/officeDocument/2006/relationships/notesSlide" Target="../notesSlides/notesSlide4.xml"/><Relationship Id="rId7" Type="http://schemas.openxmlformats.org/officeDocument/2006/relationships/image" Target="../media/image20.wmf"/><Relationship Id="rId12" Type="http://schemas.openxmlformats.org/officeDocument/2006/relationships/oleObject" Target="../embeddings/oleObject17.bin"/><Relationship Id="rId17" Type="http://schemas.openxmlformats.org/officeDocument/2006/relationships/image" Target="../media/image25.wmf"/><Relationship Id="rId2" Type="http://schemas.openxmlformats.org/officeDocument/2006/relationships/slideLayout" Target="../slideLayouts/slideLayout2.xml"/><Relationship Id="rId16" Type="http://schemas.openxmlformats.org/officeDocument/2006/relationships/oleObject" Target="../embeddings/oleObject19.bin"/><Relationship Id="rId1" Type="http://schemas.openxmlformats.org/officeDocument/2006/relationships/vmlDrawing" Target="../drawings/vmlDrawing5.vml"/><Relationship Id="rId6" Type="http://schemas.openxmlformats.org/officeDocument/2006/relationships/oleObject" Target="../embeddings/oleObject14.bin"/><Relationship Id="rId11" Type="http://schemas.openxmlformats.org/officeDocument/2006/relationships/image" Target="../media/image22.wmf"/><Relationship Id="rId5" Type="http://schemas.openxmlformats.org/officeDocument/2006/relationships/image" Target="../media/image19.wmf"/><Relationship Id="rId15" Type="http://schemas.openxmlformats.org/officeDocument/2006/relationships/image" Target="../media/image24.wmf"/><Relationship Id="rId10" Type="http://schemas.openxmlformats.org/officeDocument/2006/relationships/oleObject" Target="../embeddings/oleObject16.bin"/><Relationship Id="rId19" Type="http://schemas.openxmlformats.org/officeDocument/2006/relationships/image" Target="../media/image26.wmf"/><Relationship Id="rId4" Type="http://schemas.openxmlformats.org/officeDocument/2006/relationships/oleObject" Target="../embeddings/oleObject13.bin"/><Relationship Id="rId9" Type="http://schemas.openxmlformats.org/officeDocument/2006/relationships/image" Target="../media/image21.wmf"/><Relationship Id="rId14" Type="http://schemas.openxmlformats.org/officeDocument/2006/relationships/oleObject" Target="../embeddings/oleObject18.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23.wmf"/><Relationship Id="rId18" Type="http://schemas.openxmlformats.org/officeDocument/2006/relationships/oleObject" Target="../embeddings/oleObject28.bin"/><Relationship Id="rId26" Type="http://schemas.openxmlformats.org/officeDocument/2006/relationships/oleObject" Target="../embeddings/oleObject32.bin"/><Relationship Id="rId3" Type="http://schemas.openxmlformats.org/officeDocument/2006/relationships/notesSlide" Target="../notesSlides/notesSlide5.xml"/><Relationship Id="rId21" Type="http://schemas.openxmlformats.org/officeDocument/2006/relationships/image" Target="../media/image28.wmf"/><Relationship Id="rId7" Type="http://schemas.openxmlformats.org/officeDocument/2006/relationships/image" Target="../media/image20.wmf"/><Relationship Id="rId12" Type="http://schemas.openxmlformats.org/officeDocument/2006/relationships/oleObject" Target="../embeddings/oleObject25.bin"/><Relationship Id="rId17" Type="http://schemas.openxmlformats.org/officeDocument/2006/relationships/image" Target="../media/image25.wmf"/><Relationship Id="rId25" Type="http://schemas.openxmlformats.org/officeDocument/2006/relationships/image" Target="../media/image30.wmf"/><Relationship Id="rId2" Type="http://schemas.openxmlformats.org/officeDocument/2006/relationships/slideLayout" Target="../slideLayouts/slideLayout2.xml"/><Relationship Id="rId16" Type="http://schemas.openxmlformats.org/officeDocument/2006/relationships/oleObject" Target="../embeddings/oleObject27.bin"/><Relationship Id="rId20" Type="http://schemas.openxmlformats.org/officeDocument/2006/relationships/oleObject" Target="../embeddings/oleObject29.bin"/><Relationship Id="rId29" Type="http://schemas.openxmlformats.org/officeDocument/2006/relationships/image" Target="../media/image32.wmf"/><Relationship Id="rId1" Type="http://schemas.openxmlformats.org/officeDocument/2006/relationships/vmlDrawing" Target="../drawings/vmlDrawing6.vml"/><Relationship Id="rId6" Type="http://schemas.openxmlformats.org/officeDocument/2006/relationships/oleObject" Target="../embeddings/oleObject22.bin"/><Relationship Id="rId11" Type="http://schemas.openxmlformats.org/officeDocument/2006/relationships/image" Target="../media/image22.wmf"/><Relationship Id="rId24" Type="http://schemas.openxmlformats.org/officeDocument/2006/relationships/oleObject" Target="../embeddings/oleObject31.bin"/><Relationship Id="rId5" Type="http://schemas.openxmlformats.org/officeDocument/2006/relationships/image" Target="../media/image19.wmf"/><Relationship Id="rId15" Type="http://schemas.openxmlformats.org/officeDocument/2006/relationships/image" Target="../media/image24.wmf"/><Relationship Id="rId23" Type="http://schemas.openxmlformats.org/officeDocument/2006/relationships/image" Target="../media/image29.wmf"/><Relationship Id="rId28" Type="http://schemas.openxmlformats.org/officeDocument/2006/relationships/oleObject" Target="../embeddings/oleObject33.bin"/><Relationship Id="rId10" Type="http://schemas.openxmlformats.org/officeDocument/2006/relationships/oleObject" Target="../embeddings/oleObject24.bin"/><Relationship Id="rId19" Type="http://schemas.openxmlformats.org/officeDocument/2006/relationships/image" Target="../media/image27.wmf"/><Relationship Id="rId4" Type="http://schemas.openxmlformats.org/officeDocument/2006/relationships/oleObject" Target="../embeddings/oleObject21.bin"/><Relationship Id="rId9" Type="http://schemas.openxmlformats.org/officeDocument/2006/relationships/image" Target="../media/image21.wmf"/><Relationship Id="rId14" Type="http://schemas.openxmlformats.org/officeDocument/2006/relationships/oleObject" Target="../embeddings/oleObject26.bin"/><Relationship Id="rId22" Type="http://schemas.openxmlformats.org/officeDocument/2006/relationships/oleObject" Target="../embeddings/oleObject30.bin"/><Relationship Id="rId27" Type="http://schemas.openxmlformats.org/officeDocument/2006/relationships/image" Target="../media/image31.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23.wmf"/><Relationship Id="rId18" Type="http://schemas.openxmlformats.org/officeDocument/2006/relationships/image" Target="../media/image33.png"/><Relationship Id="rId3" Type="http://schemas.openxmlformats.org/officeDocument/2006/relationships/notesSlide" Target="../notesSlides/notesSlide6.xml"/><Relationship Id="rId7" Type="http://schemas.openxmlformats.org/officeDocument/2006/relationships/image" Target="../media/image20.wmf"/><Relationship Id="rId12" Type="http://schemas.openxmlformats.org/officeDocument/2006/relationships/oleObject" Target="../embeddings/oleObject38.bin"/><Relationship Id="rId17" Type="http://schemas.openxmlformats.org/officeDocument/2006/relationships/image" Target="../media/image25.wmf"/><Relationship Id="rId2" Type="http://schemas.openxmlformats.org/officeDocument/2006/relationships/slideLayout" Target="../slideLayouts/slideLayout2.xml"/><Relationship Id="rId16" Type="http://schemas.openxmlformats.org/officeDocument/2006/relationships/oleObject" Target="../embeddings/oleObject40.bin"/><Relationship Id="rId1" Type="http://schemas.openxmlformats.org/officeDocument/2006/relationships/vmlDrawing" Target="../drawings/vmlDrawing7.vml"/><Relationship Id="rId6" Type="http://schemas.openxmlformats.org/officeDocument/2006/relationships/oleObject" Target="../embeddings/oleObject35.bin"/><Relationship Id="rId11" Type="http://schemas.openxmlformats.org/officeDocument/2006/relationships/image" Target="../media/image22.wmf"/><Relationship Id="rId5" Type="http://schemas.openxmlformats.org/officeDocument/2006/relationships/image" Target="../media/image19.wmf"/><Relationship Id="rId15" Type="http://schemas.openxmlformats.org/officeDocument/2006/relationships/image" Target="../media/image24.wmf"/><Relationship Id="rId10" Type="http://schemas.openxmlformats.org/officeDocument/2006/relationships/oleObject" Target="../embeddings/oleObject37.bin"/><Relationship Id="rId4" Type="http://schemas.openxmlformats.org/officeDocument/2006/relationships/oleObject" Target="../embeddings/oleObject34.bin"/><Relationship Id="rId9" Type="http://schemas.openxmlformats.org/officeDocument/2006/relationships/image" Target="../media/image21.wmf"/><Relationship Id="rId14" Type="http://schemas.openxmlformats.org/officeDocument/2006/relationships/oleObject" Target="../embeddings/oleObject39.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37.wmf"/><Relationship Id="rId18" Type="http://schemas.openxmlformats.org/officeDocument/2006/relationships/image" Target="../media/image40.png"/><Relationship Id="rId3" Type="http://schemas.openxmlformats.org/officeDocument/2006/relationships/notesSlide" Target="../notesSlides/notesSlide7.xml"/><Relationship Id="rId7" Type="http://schemas.openxmlformats.org/officeDocument/2006/relationships/image" Target="../media/image34.wmf"/><Relationship Id="rId12" Type="http://schemas.openxmlformats.org/officeDocument/2006/relationships/oleObject" Target="../embeddings/oleObject45.bin"/><Relationship Id="rId17" Type="http://schemas.openxmlformats.org/officeDocument/2006/relationships/image" Target="../media/image39.wmf"/><Relationship Id="rId2" Type="http://schemas.openxmlformats.org/officeDocument/2006/relationships/slideLayout" Target="../slideLayouts/slideLayout2.xml"/><Relationship Id="rId16" Type="http://schemas.openxmlformats.org/officeDocument/2006/relationships/oleObject" Target="../embeddings/oleObject47.bin"/><Relationship Id="rId1" Type="http://schemas.openxmlformats.org/officeDocument/2006/relationships/vmlDrawing" Target="../drawings/vmlDrawing8.vml"/><Relationship Id="rId6" Type="http://schemas.openxmlformats.org/officeDocument/2006/relationships/oleObject" Target="../embeddings/oleObject42.bin"/><Relationship Id="rId11" Type="http://schemas.openxmlformats.org/officeDocument/2006/relationships/image" Target="../media/image36.wmf"/><Relationship Id="rId5" Type="http://schemas.openxmlformats.org/officeDocument/2006/relationships/image" Target="../media/image33.wmf"/><Relationship Id="rId15" Type="http://schemas.openxmlformats.org/officeDocument/2006/relationships/image" Target="../media/image38.wmf"/><Relationship Id="rId23" Type="http://schemas.openxmlformats.org/officeDocument/2006/relationships/image" Target="../media/image42.png"/><Relationship Id="rId10" Type="http://schemas.openxmlformats.org/officeDocument/2006/relationships/oleObject" Target="../embeddings/oleObject44.bin"/><Relationship Id="rId4" Type="http://schemas.openxmlformats.org/officeDocument/2006/relationships/oleObject" Target="../embeddings/oleObject41.bin"/><Relationship Id="rId9" Type="http://schemas.openxmlformats.org/officeDocument/2006/relationships/image" Target="../media/image35.wmf"/><Relationship Id="rId14" Type="http://schemas.openxmlformats.org/officeDocument/2006/relationships/oleObject" Target="../embeddings/oleObject46.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49.bin"/><Relationship Id="rId13" Type="http://schemas.openxmlformats.org/officeDocument/2006/relationships/oleObject" Target="../embeddings/oleObject51.bin"/><Relationship Id="rId18" Type="http://schemas.openxmlformats.org/officeDocument/2006/relationships/image" Target="../media/image45.wmf"/><Relationship Id="rId3" Type="http://schemas.openxmlformats.org/officeDocument/2006/relationships/notesSlide" Target="../notesSlides/notesSlide8.xml"/><Relationship Id="rId7" Type="http://schemas.openxmlformats.org/officeDocument/2006/relationships/image" Target="../media/image40.wmf"/><Relationship Id="rId12" Type="http://schemas.openxmlformats.org/officeDocument/2006/relationships/image" Target="../media/image51.png"/><Relationship Id="rId17" Type="http://schemas.openxmlformats.org/officeDocument/2006/relationships/oleObject" Target="../embeddings/oleObject53.bin"/><Relationship Id="rId2" Type="http://schemas.openxmlformats.org/officeDocument/2006/relationships/slideLayout" Target="../slideLayouts/slideLayout2.xml"/><Relationship Id="rId16" Type="http://schemas.openxmlformats.org/officeDocument/2006/relationships/image" Target="../media/image44.wmf"/><Relationship Id="rId1" Type="http://schemas.openxmlformats.org/officeDocument/2006/relationships/vmlDrawing" Target="../drawings/vmlDrawing9.vml"/><Relationship Id="rId6" Type="http://schemas.openxmlformats.org/officeDocument/2006/relationships/oleObject" Target="../embeddings/oleObject48.bin"/><Relationship Id="rId11" Type="http://schemas.openxmlformats.org/officeDocument/2006/relationships/image" Target="../media/image42.wmf"/><Relationship Id="rId5" Type="http://schemas.openxmlformats.org/officeDocument/2006/relationships/image" Target="../media/image49.png"/><Relationship Id="rId15" Type="http://schemas.openxmlformats.org/officeDocument/2006/relationships/oleObject" Target="../embeddings/oleObject52.bin"/><Relationship Id="rId10" Type="http://schemas.openxmlformats.org/officeDocument/2006/relationships/oleObject" Target="../embeddings/oleObject50.bin"/><Relationship Id="rId4" Type="http://schemas.openxmlformats.org/officeDocument/2006/relationships/image" Target="../media/image48.png"/><Relationship Id="rId9" Type="http://schemas.openxmlformats.org/officeDocument/2006/relationships/image" Target="../media/image41.wmf"/><Relationship Id="rId14" Type="http://schemas.openxmlformats.org/officeDocument/2006/relationships/image" Target="../media/image43.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56.bin"/><Relationship Id="rId3" Type="http://schemas.openxmlformats.org/officeDocument/2006/relationships/notesSlide" Target="../notesSlides/notesSlide9.xml"/><Relationship Id="rId7" Type="http://schemas.openxmlformats.org/officeDocument/2006/relationships/image" Target="../media/image47.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55.bin"/><Relationship Id="rId11" Type="http://schemas.openxmlformats.org/officeDocument/2006/relationships/image" Target="../media/image49.wmf"/><Relationship Id="rId5" Type="http://schemas.openxmlformats.org/officeDocument/2006/relationships/image" Target="../media/image46.wmf"/><Relationship Id="rId10" Type="http://schemas.openxmlformats.org/officeDocument/2006/relationships/oleObject" Target="../embeddings/oleObject57.bin"/><Relationship Id="rId4" Type="http://schemas.openxmlformats.org/officeDocument/2006/relationships/oleObject" Target="../embeddings/oleObject54.bin"/><Relationship Id="rId9" Type="http://schemas.openxmlformats.org/officeDocument/2006/relationships/image" Target="../media/image48.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image" Target="../media/image54.wmf"/><Relationship Id="rId18" Type="http://schemas.openxmlformats.org/officeDocument/2006/relationships/image" Target="../media/image62.png"/><Relationship Id="rId3" Type="http://schemas.openxmlformats.org/officeDocument/2006/relationships/notesSlide" Target="../notesSlides/notesSlide10.xml"/><Relationship Id="rId21" Type="http://schemas.openxmlformats.org/officeDocument/2006/relationships/image" Target="../media/image63.png"/><Relationship Id="rId7" Type="http://schemas.openxmlformats.org/officeDocument/2006/relationships/image" Target="../media/image51.wmf"/><Relationship Id="rId12" Type="http://schemas.openxmlformats.org/officeDocument/2006/relationships/oleObject" Target="../embeddings/oleObject62.bin"/><Relationship Id="rId17" Type="http://schemas.openxmlformats.org/officeDocument/2006/relationships/image" Target="../media/image56.wmf"/><Relationship Id="rId2" Type="http://schemas.openxmlformats.org/officeDocument/2006/relationships/slideLayout" Target="../slideLayouts/slideLayout2.xml"/><Relationship Id="rId16" Type="http://schemas.openxmlformats.org/officeDocument/2006/relationships/oleObject" Target="../embeddings/oleObject64.bin"/><Relationship Id="rId20" Type="http://schemas.openxmlformats.org/officeDocument/2006/relationships/image" Target="../media/image57.wmf"/><Relationship Id="rId1" Type="http://schemas.openxmlformats.org/officeDocument/2006/relationships/vmlDrawing" Target="../drawings/vmlDrawing11.vml"/><Relationship Id="rId6" Type="http://schemas.openxmlformats.org/officeDocument/2006/relationships/oleObject" Target="../embeddings/oleObject59.bin"/><Relationship Id="rId11" Type="http://schemas.openxmlformats.org/officeDocument/2006/relationships/image" Target="../media/image53.wmf"/><Relationship Id="rId5" Type="http://schemas.openxmlformats.org/officeDocument/2006/relationships/image" Target="../media/image50.wmf"/><Relationship Id="rId15" Type="http://schemas.openxmlformats.org/officeDocument/2006/relationships/image" Target="../media/image55.wmf"/><Relationship Id="rId10" Type="http://schemas.openxmlformats.org/officeDocument/2006/relationships/oleObject" Target="../embeddings/oleObject61.bin"/><Relationship Id="rId19" Type="http://schemas.openxmlformats.org/officeDocument/2006/relationships/oleObject" Target="../embeddings/oleObject65.bin"/><Relationship Id="rId4" Type="http://schemas.openxmlformats.org/officeDocument/2006/relationships/oleObject" Target="../embeddings/oleObject58.bin"/><Relationship Id="rId9" Type="http://schemas.openxmlformats.org/officeDocument/2006/relationships/image" Target="../media/image52.wmf"/><Relationship Id="rId14" Type="http://schemas.openxmlformats.org/officeDocument/2006/relationships/oleObject" Target="../embeddings/oleObject63.bin"/></Relationships>
</file>

<file path=ppt/slides/_rels/slide12.xml.rels><?xml version="1.0" encoding="UTF-8" standalone="yes"?>
<Relationships xmlns="http://schemas.openxmlformats.org/package/2006/relationships"><Relationship Id="rId13" Type="http://schemas.openxmlformats.org/officeDocument/2006/relationships/image" Target="../media/image62.wmf"/><Relationship Id="rId18" Type="http://schemas.openxmlformats.org/officeDocument/2006/relationships/oleObject" Target="../embeddings/oleObject73.bin"/><Relationship Id="rId26" Type="http://schemas.openxmlformats.org/officeDocument/2006/relationships/oleObject" Target="../embeddings/oleObject77.bin"/><Relationship Id="rId3" Type="http://schemas.openxmlformats.org/officeDocument/2006/relationships/notesSlide" Target="../notesSlides/notesSlide11.xml"/><Relationship Id="rId21" Type="http://schemas.openxmlformats.org/officeDocument/2006/relationships/image" Target="../media/image66.wmf"/><Relationship Id="rId7" Type="http://schemas.openxmlformats.org/officeDocument/2006/relationships/image" Target="../media/image59.wmf"/><Relationship Id="rId12" Type="http://schemas.openxmlformats.org/officeDocument/2006/relationships/oleObject" Target="../embeddings/oleObject70.bin"/><Relationship Id="rId17" Type="http://schemas.openxmlformats.org/officeDocument/2006/relationships/image" Target="../media/image64.wmf"/><Relationship Id="rId25" Type="http://schemas.openxmlformats.org/officeDocument/2006/relationships/image" Target="../media/image68.wmf"/><Relationship Id="rId33" Type="http://schemas.openxmlformats.org/officeDocument/2006/relationships/image" Target="../media/image77.png"/><Relationship Id="rId2" Type="http://schemas.openxmlformats.org/officeDocument/2006/relationships/slideLayout" Target="../slideLayouts/slideLayout2.xml"/><Relationship Id="rId16" Type="http://schemas.openxmlformats.org/officeDocument/2006/relationships/oleObject" Target="../embeddings/oleObject72.bin"/><Relationship Id="rId20" Type="http://schemas.openxmlformats.org/officeDocument/2006/relationships/oleObject" Target="../embeddings/oleObject74.bin"/><Relationship Id="rId29" Type="http://schemas.openxmlformats.org/officeDocument/2006/relationships/image" Target="../media/image50.wmf"/><Relationship Id="rId1" Type="http://schemas.openxmlformats.org/officeDocument/2006/relationships/vmlDrawing" Target="../drawings/vmlDrawing12.vml"/><Relationship Id="rId6" Type="http://schemas.openxmlformats.org/officeDocument/2006/relationships/oleObject" Target="../embeddings/oleObject67.bin"/><Relationship Id="rId11" Type="http://schemas.openxmlformats.org/officeDocument/2006/relationships/image" Target="../media/image61.wmf"/><Relationship Id="rId24" Type="http://schemas.openxmlformats.org/officeDocument/2006/relationships/oleObject" Target="../embeddings/oleObject76.bin"/><Relationship Id="rId32" Type="http://schemas.openxmlformats.org/officeDocument/2006/relationships/oleObject" Target="../embeddings/oleObject80.bin"/><Relationship Id="rId5" Type="http://schemas.openxmlformats.org/officeDocument/2006/relationships/image" Target="../media/image58.wmf"/><Relationship Id="rId15" Type="http://schemas.openxmlformats.org/officeDocument/2006/relationships/image" Target="../media/image63.wmf"/><Relationship Id="rId23" Type="http://schemas.openxmlformats.org/officeDocument/2006/relationships/image" Target="../media/image67.wmf"/><Relationship Id="rId28" Type="http://schemas.openxmlformats.org/officeDocument/2006/relationships/oleObject" Target="../embeddings/oleObject78.bin"/><Relationship Id="rId10" Type="http://schemas.openxmlformats.org/officeDocument/2006/relationships/oleObject" Target="../embeddings/oleObject69.bin"/><Relationship Id="rId19" Type="http://schemas.openxmlformats.org/officeDocument/2006/relationships/image" Target="../media/image65.wmf"/><Relationship Id="rId31" Type="http://schemas.openxmlformats.org/officeDocument/2006/relationships/image" Target="../media/image70.wmf"/><Relationship Id="rId4" Type="http://schemas.openxmlformats.org/officeDocument/2006/relationships/oleObject" Target="../embeddings/oleObject66.bin"/><Relationship Id="rId9" Type="http://schemas.openxmlformats.org/officeDocument/2006/relationships/image" Target="../media/image60.wmf"/><Relationship Id="rId14" Type="http://schemas.openxmlformats.org/officeDocument/2006/relationships/oleObject" Target="../embeddings/oleObject71.bin"/><Relationship Id="rId22" Type="http://schemas.openxmlformats.org/officeDocument/2006/relationships/oleObject" Target="../embeddings/oleObject75.bin"/><Relationship Id="rId27" Type="http://schemas.openxmlformats.org/officeDocument/2006/relationships/image" Target="../media/image69.wmf"/><Relationship Id="rId30" Type="http://schemas.openxmlformats.org/officeDocument/2006/relationships/oleObject" Target="../embeddings/oleObject79.bin"/><Relationship Id="rId8" Type="http://schemas.openxmlformats.org/officeDocument/2006/relationships/oleObject" Target="../embeddings/oleObject68.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83.bin"/><Relationship Id="rId13" Type="http://schemas.openxmlformats.org/officeDocument/2006/relationships/image" Target="../media/image75.wmf"/><Relationship Id="rId18" Type="http://schemas.openxmlformats.org/officeDocument/2006/relationships/oleObject" Target="../embeddings/oleObject88.bin"/><Relationship Id="rId3" Type="http://schemas.openxmlformats.org/officeDocument/2006/relationships/notesSlide" Target="../notesSlides/notesSlide12.xml"/><Relationship Id="rId21" Type="http://schemas.openxmlformats.org/officeDocument/2006/relationships/image" Target="../media/image79.wmf"/><Relationship Id="rId7" Type="http://schemas.openxmlformats.org/officeDocument/2006/relationships/image" Target="../media/image72.wmf"/><Relationship Id="rId12" Type="http://schemas.openxmlformats.org/officeDocument/2006/relationships/oleObject" Target="../embeddings/oleObject85.bin"/><Relationship Id="rId17" Type="http://schemas.openxmlformats.org/officeDocument/2006/relationships/image" Target="../media/image77.wmf"/><Relationship Id="rId2" Type="http://schemas.openxmlformats.org/officeDocument/2006/relationships/slideLayout" Target="../slideLayouts/slideLayout2.xml"/><Relationship Id="rId16" Type="http://schemas.openxmlformats.org/officeDocument/2006/relationships/oleObject" Target="../embeddings/oleObject87.bin"/><Relationship Id="rId20" Type="http://schemas.openxmlformats.org/officeDocument/2006/relationships/oleObject" Target="../embeddings/oleObject89.bin"/><Relationship Id="rId1" Type="http://schemas.openxmlformats.org/officeDocument/2006/relationships/vmlDrawing" Target="../drawings/vmlDrawing13.vml"/><Relationship Id="rId6" Type="http://schemas.openxmlformats.org/officeDocument/2006/relationships/oleObject" Target="../embeddings/oleObject82.bin"/><Relationship Id="rId11" Type="http://schemas.openxmlformats.org/officeDocument/2006/relationships/image" Target="../media/image74.wmf"/><Relationship Id="rId5" Type="http://schemas.openxmlformats.org/officeDocument/2006/relationships/image" Target="../media/image71.wmf"/><Relationship Id="rId15" Type="http://schemas.openxmlformats.org/officeDocument/2006/relationships/image" Target="../media/image76.wmf"/><Relationship Id="rId10" Type="http://schemas.openxmlformats.org/officeDocument/2006/relationships/oleObject" Target="../embeddings/oleObject84.bin"/><Relationship Id="rId19" Type="http://schemas.openxmlformats.org/officeDocument/2006/relationships/image" Target="../media/image78.wmf"/><Relationship Id="rId4" Type="http://schemas.openxmlformats.org/officeDocument/2006/relationships/oleObject" Target="../embeddings/oleObject81.bin"/><Relationship Id="rId9" Type="http://schemas.openxmlformats.org/officeDocument/2006/relationships/image" Target="../media/image73.wmf"/><Relationship Id="rId14" Type="http://schemas.openxmlformats.org/officeDocument/2006/relationships/oleObject" Target="../embeddings/oleObject86.bin"/></Relationships>
</file>

<file path=ppt/slides/_rels/slide14.xml.rels><?xml version="1.0" encoding="UTF-8" standalone="yes"?>
<Relationships xmlns="http://schemas.openxmlformats.org/package/2006/relationships"><Relationship Id="rId13" Type="http://schemas.openxmlformats.org/officeDocument/2006/relationships/oleObject" Target="../embeddings/oleObject94.bin"/><Relationship Id="rId18" Type="http://schemas.openxmlformats.org/officeDocument/2006/relationships/image" Target="../media/image82.wmf"/><Relationship Id="rId26" Type="http://schemas.openxmlformats.org/officeDocument/2006/relationships/image" Target="../media/image86.wmf"/><Relationship Id="rId3" Type="http://schemas.openxmlformats.org/officeDocument/2006/relationships/notesSlide" Target="../notesSlides/notesSlide13.xml"/><Relationship Id="rId21" Type="http://schemas.openxmlformats.org/officeDocument/2006/relationships/oleObject" Target="../embeddings/oleObject98.bin"/><Relationship Id="rId34" Type="http://schemas.openxmlformats.org/officeDocument/2006/relationships/image" Target="../media/image99.png"/><Relationship Id="rId7" Type="http://schemas.openxmlformats.org/officeDocument/2006/relationships/oleObject" Target="../embeddings/oleObject91.bin"/><Relationship Id="rId12" Type="http://schemas.openxmlformats.org/officeDocument/2006/relationships/image" Target="../media/image78.wmf"/><Relationship Id="rId17" Type="http://schemas.openxmlformats.org/officeDocument/2006/relationships/oleObject" Target="../embeddings/oleObject96.bin"/><Relationship Id="rId25" Type="http://schemas.openxmlformats.org/officeDocument/2006/relationships/oleObject" Target="../embeddings/oleObject100.bin"/><Relationship Id="rId33" Type="http://schemas.openxmlformats.org/officeDocument/2006/relationships/image" Target="../media/image98.png"/><Relationship Id="rId2" Type="http://schemas.openxmlformats.org/officeDocument/2006/relationships/slideLayout" Target="../slideLayouts/slideLayout2.xml"/><Relationship Id="rId16" Type="http://schemas.openxmlformats.org/officeDocument/2006/relationships/image" Target="../media/image81.wmf"/><Relationship Id="rId20" Type="http://schemas.openxmlformats.org/officeDocument/2006/relationships/image" Target="../media/image83.wmf"/><Relationship Id="rId29" Type="http://schemas.openxmlformats.org/officeDocument/2006/relationships/oleObject" Target="../embeddings/oleObject102.bin"/><Relationship Id="rId1" Type="http://schemas.openxmlformats.org/officeDocument/2006/relationships/vmlDrawing" Target="../drawings/vmlDrawing14.vml"/><Relationship Id="rId6" Type="http://schemas.openxmlformats.org/officeDocument/2006/relationships/image" Target="../media/image75.wmf"/><Relationship Id="rId11" Type="http://schemas.openxmlformats.org/officeDocument/2006/relationships/oleObject" Target="../embeddings/oleObject93.bin"/><Relationship Id="rId24" Type="http://schemas.openxmlformats.org/officeDocument/2006/relationships/image" Target="../media/image85.wmf"/><Relationship Id="rId32" Type="http://schemas.openxmlformats.org/officeDocument/2006/relationships/image" Target="../media/image89.wmf"/><Relationship Id="rId5" Type="http://schemas.openxmlformats.org/officeDocument/2006/relationships/oleObject" Target="../embeddings/oleObject90.bin"/><Relationship Id="rId15" Type="http://schemas.openxmlformats.org/officeDocument/2006/relationships/oleObject" Target="../embeddings/oleObject95.bin"/><Relationship Id="rId23" Type="http://schemas.openxmlformats.org/officeDocument/2006/relationships/oleObject" Target="../embeddings/oleObject99.bin"/><Relationship Id="rId28" Type="http://schemas.openxmlformats.org/officeDocument/2006/relationships/image" Target="../media/image87.wmf"/><Relationship Id="rId10" Type="http://schemas.openxmlformats.org/officeDocument/2006/relationships/image" Target="../media/image77.wmf"/><Relationship Id="rId19" Type="http://schemas.openxmlformats.org/officeDocument/2006/relationships/oleObject" Target="../embeddings/oleObject97.bin"/><Relationship Id="rId31" Type="http://schemas.openxmlformats.org/officeDocument/2006/relationships/oleObject" Target="../embeddings/oleObject103.bin"/><Relationship Id="rId4" Type="http://schemas.openxmlformats.org/officeDocument/2006/relationships/image" Target="../media/image97.png"/><Relationship Id="rId9" Type="http://schemas.openxmlformats.org/officeDocument/2006/relationships/oleObject" Target="../embeddings/oleObject92.bin"/><Relationship Id="rId14" Type="http://schemas.openxmlformats.org/officeDocument/2006/relationships/image" Target="../media/image79.wmf"/><Relationship Id="rId22" Type="http://schemas.openxmlformats.org/officeDocument/2006/relationships/image" Target="../media/image84.wmf"/><Relationship Id="rId27" Type="http://schemas.openxmlformats.org/officeDocument/2006/relationships/oleObject" Target="../embeddings/oleObject101.bin"/><Relationship Id="rId30" Type="http://schemas.openxmlformats.org/officeDocument/2006/relationships/image" Target="../media/image88.wmf"/><Relationship Id="rId35" Type="http://schemas.openxmlformats.org/officeDocument/2006/relationships/image" Target="../media/image100.png"/><Relationship Id="rId8" Type="http://schemas.openxmlformats.org/officeDocument/2006/relationships/image" Target="../media/image80.wmf"/></Relationships>
</file>

<file path=ppt/slides/_rels/slide15.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90.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105.bin"/><Relationship Id="rId5" Type="http://schemas.openxmlformats.org/officeDocument/2006/relationships/image" Target="../media/image88.wmf"/><Relationship Id="rId4" Type="http://schemas.openxmlformats.org/officeDocument/2006/relationships/oleObject" Target="../embeddings/oleObject104.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08.bin"/><Relationship Id="rId13" Type="http://schemas.openxmlformats.org/officeDocument/2006/relationships/image" Target="../media/image96.wmf"/><Relationship Id="rId3" Type="http://schemas.openxmlformats.org/officeDocument/2006/relationships/image" Target="../media/image91.png"/><Relationship Id="rId7" Type="http://schemas.openxmlformats.org/officeDocument/2006/relationships/image" Target="../media/image93.wmf"/><Relationship Id="rId12" Type="http://schemas.openxmlformats.org/officeDocument/2006/relationships/oleObject" Target="../embeddings/oleObject110.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oleObject" Target="../embeddings/oleObject107.bin"/><Relationship Id="rId11" Type="http://schemas.openxmlformats.org/officeDocument/2006/relationships/image" Target="../media/image95.wmf"/><Relationship Id="rId5" Type="http://schemas.openxmlformats.org/officeDocument/2006/relationships/image" Target="../media/image92.wmf"/><Relationship Id="rId10" Type="http://schemas.openxmlformats.org/officeDocument/2006/relationships/oleObject" Target="../embeddings/oleObject109.bin"/><Relationship Id="rId4" Type="http://schemas.openxmlformats.org/officeDocument/2006/relationships/oleObject" Target="../embeddings/oleObject106.bin"/><Relationship Id="rId9" Type="http://schemas.openxmlformats.org/officeDocument/2006/relationships/image" Target="../media/image94.wmf"/></Relationships>
</file>

<file path=ppt/slides/_rels/slide17.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13.bin"/><Relationship Id="rId13" Type="http://schemas.openxmlformats.org/officeDocument/2006/relationships/image" Target="../media/image102.wmf"/><Relationship Id="rId3" Type="http://schemas.openxmlformats.org/officeDocument/2006/relationships/notesSlide" Target="../notesSlides/notesSlide14.xml"/><Relationship Id="rId7" Type="http://schemas.openxmlformats.org/officeDocument/2006/relationships/image" Target="../media/image99.wmf"/><Relationship Id="rId12" Type="http://schemas.openxmlformats.org/officeDocument/2006/relationships/oleObject" Target="../embeddings/oleObject115.bin"/><Relationship Id="rId2" Type="http://schemas.openxmlformats.org/officeDocument/2006/relationships/slideLayout" Target="../slideLayouts/slideLayout2.xml"/><Relationship Id="rId16" Type="http://schemas.openxmlformats.org/officeDocument/2006/relationships/image" Target="../media/image105.png"/><Relationship Id="rId1" Type="http://schemas.openxmlformats.org/officeDocument/2006/relationships/vmlDrawing" Target="../drawings/vmlDrawing17.vml"/><Relationship Id="rId6" Type="http://schemas.openxmlformats.org/officeDocument/2006/relationships/oleObject" Target="../embeddings/oleObject112.bin"/><Relationship Id="rId11" Type="http://schemas.openxmlformats.org/officeDocument/2006/relationships/image" Target="../media/image101.wmf"/><Relationship Id="rId5" Type="http://schemas.openxmlformats.org/officeDocument/2006/relationships/image" Target="../media/image98.wmf"/><Relationship Id="rId15" Type="http://schemas.openxmlformats.org/officeDocument/2006/relationships/image" Target="../media/image103.wmf"/><Relationship Id="rId10" Type="http://schemas.openxmlformats.org/officeDocument/2006/relationships/oleObject" Target="../embeddings/oleObject114.bin"/><Relationship Id="rId4" Type="http://schemas.openxmlformats.org/officeDocument/2006/relationships/oleObject" Target="../embeddings/oleObject111.bin"/><Relationship Id="rId9" Type="http://schemas.openxmlformats.org/officeDocument/2006/relationships/image" Target="../media/image100.wmf"/><Relationship Id="rId14" Type="http://schemas.openxmlformats.org/officeDocument/2006/relationships/oleObject" Target="../embeddings/oleObject116.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104.emf"/><Relationship Id="rId5" Type="http://schemas.openxmlformats.org/officeDocument/2006/relationships/oleObject" Target="../embeddings/oleObject117.bin"/><Relationship Id="rId4" Type="http://schemas.openxmlformats.org/officeDocument/2006/relationships/image" Target="../media/image107.png"/></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19.bin"/><Relationship Id="rId13" Type="http://schemas.openxmlformats.org/officeDocument/2006/relationships/image" Target="../media/image108.wmf"/><Relationship Id="rId18" Type="http://schemas.openxmlformats.org/officeDocument/2006/relationships/image" Target="../media/image117.png"/><Relationship Id="rId3" Type="http://schemas.openxmlformats.org/officeDocument/2006/relationships/notesSlide" Target="../notesSlides/notesSlide16.xml"/><Relationship Id="rId7" Type="http://schemas.openxmlformats.org/officeDocument/2006/relationships/image" Target="../media/image121.png"/><Relationship Id="rId12" Type="http://schemas.openxmlformats.org/officeDocument/2006/relationships/oleObject" Target="../embeddings/oleObject121.bin"/><Relationship Id="rId17" Type="http://schemas.openxmlformats.org/officeDocument/2006/relationships/image" Target="../media/image116.png"/><Relationship Id="rId2" Type="http://schemas.openxmlformats.org/officeDocument/2006/relationships/slideLayout" Target="../slideLayouts/slideLayout4.xml"/><Relationship Id="rId16" Type="http://schemas.openxmlformats.org/officeDocument/2006/relationships/image" Target="../media/image112.png"/><Relationship Id="rId1" Type="http://schemas.openxmlformats.org/officeDocument/2006/relationships/vmlDrawing" Target="../drawings/vmlDrawing19.vml"/><Relationship Id="rId6" Type="http://schemas.openxmlformats.org/officeDocument/2006/relationships/image" Target="../media/image113.png"/><Relationship Id="rId11" Type="http://schemas.openxmlformats.org/officeDocument/2006/relationships/image" Target="../media/image107.wmf"/><Relationship Id="rId5" Type="http://schemas.openxmlformats.org/officeDocument/2006/relationships/image" Target="../media/image105.wmf"/><Relationship Id="rId15" Type="http://schemas.openxmlformats.org/officeDocument/2006/relationships/image" Target="../media/image109.wmf"/><Relationship Id="rId10" Type="http://schemas.openxmlformats.org/officeDocument/2006/relationships/oleObject" Target="../embeddings/oleObject120.bin"/><Relationship Id="rId4" Type="http://schemas.openxmlformats.org/officeDocument/2006/relationships/oleObject" Target="../embeddings/oleObject118.bin"/><Relationship Id="rId9" Type="http://schemas.openxmlformats.org/officeDocument/2006/relationships/image" Target="../media/image106.wmf"/><Relationship Id="rId14" Type="http://schemas.openxmlformats.org/officeDocument/2006/relationships/oleObject" Target="../embeddings/oleObject122.bin"/></Relationships>
</file>

<file path=ppt/slides/_rels/slide21.xml.rels><?xml version="1.0" encoding="UTF-8" standalone="yes"?>
<Relationships xmlns="http://schemas.openxmlformats.org/package/2006/relationships"><Relationship Id="rId13" Type="http://schemas.openxmlformats.org/officeDocument/2006/relationships/image" Target="../media/image114.wmf"/><Relationship Id="rId18" Type="http://schemas.openxmlformats.org/officeDocument/2006/relationships/image" Target="../media/image142.png"/><Relationship Id="rId26" Type="http://schemas.openxmlformats.org/officeDocument/2006/relationships/oleObject" Target="../embeddings/oleObject133.bin"/><Relationship Id="rId39" Type="http://schemas.openxmlformats.org/officeDocument/2006/relationships/image" Target="../media/image126.wmf"/><Relationship Id="rId21" Type="http://schemas.openxmlformats.org/officeDocument/2006/relationships/image" Target="../media/image117.wmf"/><Relationship Id="rId34" Type="http://schemas.openxmlformats.org/officeDocument/2006/relationships/oleObject" Target="../embeddings/oleObject137.bin"/><Relationship Id="rId42" Type="http://schemas.openxmlformats.org/officeDocument/2006/relationships/oleObject" Target="../embeddings/oleObject141.bin"/><Relationship Id="rId47" Type="http://schemas.openxmlformats.org/officeDocument/2006/relationships/image" Target="../media/image129.wmf"/><Relationship Id="rId7" Type="http://schemas.openxmlformats.org/officeDocument/2006/relationships/image" Target="../media/image111.wmf"/><Relationship Id="rId2" Type="http://schemas.openxmlformats.org/officeDocument/2006/relationships/slideLayout" Target="../slideLayouts/slideLayout2.xml"/><Relationship Id="rId16" Type="http://schemas.openxmlformats.org/officeDocument/2006/relationships/oleObject" Target="../embeddings/oleObject129.bin"/><Relationship Id="rId29" Type="http://schemas.openxmlformats.org/officeDocument/2006/relationships/image" Target="../media/image121.wmf"/><Relationship Id="rId1" Type="http://schemas.openxmlformats.org/officeDocument/2006/relationships/vmlDrawing" Target="../drawings/vmlDrawing20.vml"/><Relationship Id="rId6" Type="http://schemas.openxmlformats.org/officeDocument/2006/relationships/oleObject" Target="../embeddings/oleObject124.bin"/><Relationship Id="rId11" Type="http://schemas.openxmlformats.org/officeDocument/2006/relationships/image" Target="../media/image113.wmf"/><Relationship Id="rId24" Type="http://schemas.openxmlformats.org/officeDocument/2006/relationships/oleObject" Target="../embeddings/oleObject132.bin"/><Relationship Id="rId32" Type="http://schemas.openxmlformats.org/officeDocument/2006/relationships/oleObject" Target="../embeddings/oleObject136.bin"/><Relationship Id="rId37" Type="http://schemas.openxmlformats.org/officeDocument/2006/relationships/image" Target="../media/image125.wmf"/><Relationship Id="rId40" Type="http://schemas.openxmlformats.org/officeDocument/2006/relationships/oleObject" Target="../embeddings/oleObject140.bin"/><Relationship Id="rId45" Type="http://schemas.openxmlformats.org/officeDocument/2006/relationships/image" Target="../media/image128.wmf"/><Relationship Id="rId5" Type="http://schemas.openxmlformats.org/officeDocument/2006/relationships/image" Target="../media/image110.wmf"/><Relationship Id="rId15" Type="http://schemas.openxmlformats.org/officeDocument/2006/relationships/image" Target="../media/image115.wmf"/><Relationship Id="rId23" Type="http://schemas.openxmlformats.org/officeDocument/2006/relationships/image" Target="../media/image118.wmf"/><Relationship Id="rId28" Type="http://schemas.openxmlformats.org/officeDocument/2006/relationships/oleObject" Target="../embeddings/oleObject134.bin"/><Relationship Id="rId36" Type="http://schemas.openxmlformats.org/officeDocument/2006/relationships/oleObject" Target="../embeddings/oleObject138.bin"/><Relationship Id="rId10" Type="http://schemas.openxmlformats.org/officeDocument/2006/relationships/oleObject" Target="../embeddings/oleObject126.bin"/><Relationship Id="rId19" Type="http://schemas.openxmlformats.org/officeDocument/2006/relationships/image" Target="../media/image143.png"/><Relationship Id="rId31" Type="http://schemas.openxmlformats.org/officeDocument/2006/relationships/image" Target="../media/image122.wmf"/><Relationship Id="rId44" Type="http://schemas.openxmlformats.org/officeDocument/2006/relationships/oleObject" Target="../embeddings/oleObject143.bin"/><Relationship Id="rId4" Type="http://schemas.openxmlformats.org/officeDocument/2006/relationships/oleObject" Target="../embeddings/oleObject123.bin"/><Relationship Id="rId9" Type="http://schemas.openxmlformats.org/officeDocument/2006/relationships/image" Target="../media/image112.wmf"/><Relationship Id="rId14" Type="http://schemas.openxmlformats.org/officeDocument/2006/relationships/oleObject" Target="../embeddings/oleObject128.bin"/><Relationship Id="rId22" Type="http://schemas.openxmlformats.org/officeDocument/2006/relationships/oleObject" Target="../embeddings/oleObject131.bin"/><Relationship Id="rId27" Type="http://schemas.openxmlformats.org/officeDocument/2006/relationships/image" Target="../media/image120.wmf"/><Relationship Id="rId30" Type="http://schemas.openxmlformats.org/officeDocument/2006/relationships/oleObject" Target="../embeddings/oleObject135.bin"/><Relationship Id="rId35" Type="http://schemas.openxmlformats.org/officeDocument/2006/relationships/image" Target="../media/image124.wmf"/><Relationship Id="rId43" Type="http://schemas.openxmlformats.org/officeDocument/2006/relationships/oleObject" Target="../embeddings/oleObject142.bin"/><Relationship Id="rId8" Type="http://schemas.openxmlformats.org/officeDocument/2006/relationships/oleObject" Target="../embeddings/oleObject125.bin"/><Relationship Id="rId3" Type="http://schemas.openxmlformats.org/officeDocument/2006/relationships/notesSlide" Target="../notesSlides/notesSlide17.xml"/><Relationship Id="rId12" Type="http://schemas.openxmlformats.org/officeDocument/2006/relationships/oleObject" Target="../embeddings/oleObject127.bin"/><Relationship Id="rId17" Type="http://schemas.openxmlformats.org/officeDocument/2006/relationships/image" Target="../media/image116.wmf"/><Relationship Id="rId25" Type="http://schemas.openxmlformats.org/officeDocument/2006/relationships/image" Target="../media/image119.wmf"/><Relationship Id="rId33" Type="http://schemas.openxmlformats.org/officeDocument/2006/relationships/image" Target="../media/image123.wmf"/><Relationship Id="rId38" Type="http://schemas.openxmlformats.org/officeDocument/2006/relationships/oleObject" Target="../embeddings/oleObject139.bin"/><Relationship Id="rId46" Type="http://schemas.openxmlformats.org/officeDocument/2006/relationships/oleObject" Target="../embeddings/oleObject144.bin"/><Relationship Id="rId20" Type="http://schemas.openxmlformats.org/officeDocument/2006/relationships/oleObject" Target="../embeddings/oleObject130.bin"/><Relationship Id="rId41" Type="http://schemas.openxmlformats.org/officeDocument/2006/relationships/image" Target="../media/image127.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45.bin"/><Relationship Id="rId13" Type="http://schemas.openxmlformats.org/officeDocument/2006/relationships/image" Target="../media/image140.png"/><Relationship Id="rId18" Type="http://schemas.openxmlformats.org/officeDocument/2006/relationships/image" Target="../media/image133.wmf"/><Relationship Id="rId3" Type="http://schemas.openxmlformats.org/officeDocument/2006/relationships/notesSlide" Target="../notesSlides/notesSlide18.xml"/><Relationship Id="rId7" Type="http://schemas.openxmlformats.org/officeDocument/2006/relationships/image" Target="../media/image138.png"/><Relationship Id="rId12" Type="http://schemas.openxmlformats.org/officeDocument/2006/relationships/image" Target="../media/image131.wmf"/><Relationship Id="rId17" Type="http://schemas.openxmlformats.org/officeDocument/2006/relationships/oleObject" Target="../embeddings/oleObject148.bin"/><Relationship Id="rId2" Type="http://schemas.openxmlformats.org/officeDocument/2006/relationships/slideLayout" Target="../slideLayouts/slideLayout2.xml"/><Relationship Id="rId16" Type="http://schemas.openxmlformats.org/officeDocument/2006/relationships/image" Target="../media/image141.png"/><Relationship Id="rId1" Type="http://schemas.openxmlformats.org/officeDocument/2006/relationships/vmlDrawing" Target="../drawings/vmlDrawing21.vml"/><Relationship Id="rId6" Type="http://schemas.openxmlformats.org/officeDocument/2006/relationships/image" Target="../media/image135.gif"/><Relationship Id="rId11" Type="http://schemas.openxmlformats.org/officeDocument/2006/relationships/oleObject" Target="../embeddings/oleObject146.bin"/><Relationship Id="rId5" Type="http://schemas.openxmlformats.org/officeDocument/2006/relationships/image" Target="../media/image134.gif"/><Relationship Id="rId15" Type="http://schemas.openxmlformats.org/officeDocument/2006/relationships/image" Target="../media/image132.wmf"/><Relationship Id="rId10" Type="http://schemas.openxmlformats.org/officeDocument/2006/relationships/image" Target="../media/image136.gif"/><Relationship Id="rId4" Type="http://schemas.openxmlformats.org/officeDocument/2006/relationships/image" Target="../media/image135.png"/><Relationship Id="rId9" Type="http://schemas.openxmlformats.org/officeDocument/2006/relationships/image" Target="../media/image130.wmf"/><Relationship Id="rId14" Type="http://schemas.openxmlformats.org/officeDocument/2006/relationships/oleObject" Target="../embeddings/oleObject147.bin"/></Relationships>
</file>

<file path=ppt/slides/_rels/slide24.xml.rels><?xml version="1.0" encoding="UTF-8" standalone="yes"?>
<Relationships xmlns="http://schemas.openxmlformats.org/package/2006/relationships"><Relationship Id="rId8" Type="http://schemas.openxmlformats.org/officeDocument/2006/relationships/image" Target="../media/image137.wmf"/><Relationship Id="rId13" Type="http://schemas.openxmlformats.org/officeDocument/2006/relationships/oleObject" Target="../embeddings/oleObject152.bin"/><Relationship Id="rId18" Type="http://schemas.openxmlformats.org/officeDocument/2006/relationships/oleObject" Target="../embeddings/oleObject154.bin"/><Relationship Id="rId3" Type="http://schemas.openxmlformats.org/officeDocument/2006/relationships/notesSlide" Target="../notesSlides/notesSlide19.xml"/><Relationship Id="rId7" Type="http://schemas.openxmlformats.org/officeDocument/2006/relationships/oleObject" Target="../embeddings/oleObject149.bin"/><Relationship Id="rId12" Type="http://schemas.openxmlformats.org/officeDocument/2006/relationships/image" Target="../media/image139.wmf"/><Relationship Id="rId17" Type="http://schemas.openxmlformats.org/officeDocument/2006/relationships/image" Target="../media/image141.wmf"/><Relationship Id="rId2" Type="http://schemas.openxmlformats.org/officeDocument/2006/relationships/slideLayout" Target="../slideLayouts/slideLayout2.xml"/><Relationship Id="rId16" Type="http://schemas.openxmlformats.org/officeDocument/2006/relationships/oleObject" Target="../embeddings/oleObject153.bin"/><Relationship Id="rId20" Type="http://schemas.openxmlformats.org/officeDocument/2006/relationships/image" Target="../media/image149.png"/><Relationship Id="rId1" Type="http://schemas.openxmlformats.org/officeDocument/2006/relationships/vmlDrawing" Target="../drawings/vmlDrawing22.vml"/><Relationship Id="rId6" Type="http://schemas.openxmlformats.org/officeDocument/2006/relationships/image" Target="../media/image136.gif"/><Relationship Id="rId11" Type="http://schemas.openxmlformats.org/officeDocument/2006/relationships/oleObject" Target="../embeddings/oleObject151.bin"/><Relationship Id="rId5" Type="http://schemas.openxmlformats.org/officeDocument/2006/relationships/image" Target="../media/image135.gif"/><Relationship Id="rId15" Type="http://schemas.openxmlformats.org/officeDocument/2006/relationships/image" Target="../media/image148.png"/><Relationship Id="rId10" Type="http://schemas.openxmlformats.org/officeDocument/2006/relationships/image" Target="../media/image138.wmf"/><Relationship Id="rId19" Type="http://schemas.openxmlformats.org/officeDocument/2006/relationships/image" Target="../media/image142.wmf"/><Relationship Id="rId4" Type="http://schemas.openxmlformats.org/officeDocument/2006/relationships/image" Target="../media/image134.gif"/><Relationship Id="rId9" Type="http://schemas.openxmlformats.org/officeDocument/2006/relationships/oleObject" Target="../embeddings/oleObject150.bin"/><Relationship Id="rId14" Type="http://schemas.openxmlformats.org/officeDocument/2006/relationships/image" Target="../media/image140.wmf"/></Relationships>
</file>

<file path=ppt/slides/_rels/slide25.xml.rels><?xml version="1.0" encoding="UTF-8" standalone="yes"?>
<Relationships xmlns="http://schemas.openxmlformats.org/package/2006/relationships"><Relationship Id="rId8" Type="http://schemas.openxmlformats.org/officeDocument/2006/relationships/image" Target="../media/image135.gif"/><Relationship Id="rId13" Type="http://schemas.openxmlformats.org/officeDocument/2006/relationships/oleObject" Target="../embeddings/oleObject158.bin"/><Relationship Id="rId3" Type="http://schemas.openxmlformats.org/officeDocument/2006/relationships/notesSlide" Target="../notesSlides/notesSlide20.xml"/><Relationship Id="rId7" Type="http://schemas.openxmlformats.org/officeDocument/2006/relationships/image" Target="../media/image143.wmf"/><Relationship Id="rId12" Type="http://schemas.openxmlformats.org/officeDocument/2006/relationships/image" Target="../media/image102.wmf"/><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155.bin"/><Relationship Id="rId11" Type="http://schemas.openxmlformats.org/officeDocument/2006/relationships/oleObject" Target="../embeddings/oleObject157.bin"/><Relationship Id="rId5" Type="http://schemas.openxmlformats.org/officeDocument/2006/relationships/image" Target="../media/image134.gif"/><Relationship Id="rId10" Type="http://schemas.openxmlformats.org/officeDocument/2006/relationships/image" Target="../media/image101.wmf"/><Relationship Id="rId4" Type="http://schemas.openxmlformats.org/officeDocument/2006/relationships/image" Target="../media/image144.png"/><Relationship Id="rId9" Type="http://schemas.openxmlformats.org/officeDocument/2006/relationships/oleObject" Target="../embeddings/oleObject156.bin"/><Relationship Id="rId14" Type="http://schemas.openxmlformats.org/officeDocument/2006/relationships/image" Target="../media/image103.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60.bin"/><Relationship Id="rId13" Type="http://schemas.openxmlformats.org/officeDocument/2006/relationships/image" Target="../media/image148.wmf"/><Relationship Id="rId18" Type="http://schemas.openxmlformats.org/officeDocument/2006/relationships/oleObject" Target="../embeddings/oleObject165.bin"/><Relationship Id="rId3" Type="http://schemas.openxmlformats.org/officeDocument/2006/relationships/image" Target="../media/image134.gif"/><Relationship Id="rId21" Type="http://schemas.openxmlformats.org/officeDocument/2006/relationships/image" Target="../media/image152.wmf"/><Relationship Id="rId7" Type="http://schemas.openxmlformats.org/officeDocument/2006/relationships/image" Target="../media/image145.wmf"/><Relationship Id="rId12" Type="http://schemas.openxmlformats.org/officeDocument/2006/relationships/oleObject" Target="../embeddings/oleObject162.bin"/><Relationship Id="rId17" Type="http://schemas.openxmlformats.org/officeDocument/2006/relationships/image" Target="../media/image150.wmf"/><Relationship Id="rId2" Type="http://schemas.openxmlformats.org/officeDocument/2006/relationships/slideLayout" Target="../slideLayouts/slideLayout2.xml"/><Relationship Id="rId16" Type="http://schemas.openxmlformats.org/officeDocument/2006/relationships/oleObject" Target="../embeddings/oleObject164.bin"/><Relationship Id="rId20" Type="http://schemas.openxmlformats.org/officeDocument/2006/relationships/oleObject" Target="../embeddings/oleObject166.bin"/><Relationship Id="rId1" Type="http://schemas.openxmlformats.org/officeDocument/2006/relationships/vmlDrawing" Target="../drawings/vmlDrawing24.vml"/><Relationship Id="rId6" Type="http://schemas.openxmlformats.org/officeDocument/2006/relationships/oleObject" Target="../embeddings/oleObject159.bin"/><Relationship Id="rId11" Type="http://schemas.openxmlformats.org/officeDocument/2006/relationships/image" Target="../media/image147.wmf"/><Relationship Id="rId5" Type="http://schemas.openxmlformats.org/officeDocument/2006/relationships/image" Target="../media/image136.gif"/><Relationship Id="rId15" Type="http://schemas.openxmlformats.org/officeDocument/2006/relationships/image" Target="../media/image149.wmf"/><Relationship Id="rId10" Type="http://schemas.openxmlformats.org/officeDocument/2006/relationships/oleObject" Target="../embeddings/oleObject161.bin"/><Relationship Id="rId19" Type="http://schemas.openxmlformats.org/officeDocument/2006/relationships/image" Target="../media/image151.wmf"/><Relationship Id="rId4" Type="http://schemas.openxmlformats.org/officeDocument/2006/relationships/image" Target="../media/image135.gif"/><Relationship Id="rId9" Type="http://schemas.openxmlformats.org/officeDocument/2006/relationships/image" Target="../media/image146.wmf"/><Relationship Id="rId14" Type="http://schemas.openxmlformats.org/officeDocument/2006/relationships/oleObject" Target="../embeddings/oleObject163.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68.bin"/><Relationship Id="rId13" Type="http://schemas.openxmlformats.org/officeDocument/2006/relationships/image" Target="../media/image155.wmf"/><Relationship Id="rId3" Type="http://schemas.openxmlformats.org/officeDocument/2006/relationships/image" Target="../media/image134.gif"/><Relationship Id="rId7" Type="http://schemas.openxmlformats.org/officeDocument/2006/relationships/image" Target="../media/image153.wmf"/><Relationship Id="rId12" Type="http://schemas.openxmlformats.org/officeDocument/2006/relationships/oleObject" Target="../embeddings/oleObject169.bin"/><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oleObject" Target="../embeddings/oleObject167.bin"/><Relationship Id="rId11" Type="http://schemas.openxmlformats.org/officeDocument/2006/relationships/image" Target="../media/image157.png"/><Relationship Id="rId5" Type="http://schemas.openxmlformats.org/officeDocument/2006/relationships/image" Target="../media/image136.gif"/><Relationship Id="rId15" Type="http://schemas.openxmlformats.org/officeDocument/2006/relationships/image" Target="../media/image156.wmf"/><Relationship Id="rId10" Type="http://schemas.openxmlformats.org/officeDocument/2006/relationships/image" Target="../media/image169.png"/><Relationship Id="rId4" Type="http://schemas.openxmlformats.org/officeDocument/2006/relationships/image" Target="../media/image135.gif"/><Relationship Id="rId9" Type="http://schemas.openxmlformats.org/officeDocument/2006/relationships/image" Target="../media/image154.wmf"/><Relationship Id="rId14" Type="http://schemas.openxmlformats.org/officeDocument/2006/relationships/oleObject" Target="../embeddings/oleObject170.bin"/></Relationships>
</file>

<file path=ppt/slides/_rels/slide28.xml.rels><?xml version="1.0" encoding="UTF-8" standalone="yes"?>
<Relationships xmlns="http://schemas.openxmlformats.org/package/2006/relationships"><Relationship Id="rId8" Type="http://schemas.openxmlformats.org/officeDocument/2006/relationships/image" Target="../media/image179.png"/><Relationship Id="rId13" Type="http://schemas.openxmlformats.org/officeDocument/2006/relationships/image" Target="../media/image180.png"/><Relationship Id="rId3" Type="http://schemas.openxmlformats.org/officeDocument/2006/relationships/image" Target="../media/image134.gif"/><Relationship Id="rId7" Type="http://schemas.openxmlformats.org/officeDocument/2006/relationships/image" Target="../media/image158.wmf"/><Relationship Id="rId12" Type="http://schemas.openxmlformats.org/officeDocument/2006/relationships/image" Target="../media/image160.wmf"/><Relationship Id="rId17" Type="http://schemas.openxmlformats.org/officeDocument/2006/relationships/image" Target="../media/image162.wmf"/><Relationship Id="rId2" Type="http://schemas.openxmlformats.org/officeDocument/2006/relationships/slideLayout" Target="../slideLayouts/slideLayout2.xml"/><Relationship Id="rId16" Type="http://schemas.openxmlformats.org/officeDocument/2006/relationships/oleObject" Target="../embeddings/oleObject175.bin"/><Relationship Id="rId1" Type="http://schemas.openxmlformats.org/officeDocument/2006/relationships/vmlDrawing" Target="../drawings/vmlDrawing26.vml"/><Relationship Id="rId6" Type="http://schemas.openxmlformats.org/officeDocument/2006/relationships/oleObject" Target="../embeddings/oleObject171.bin"/><Relationship Id="rId11" Type="http://schemas.openxmlformats.org/officeDocument/2006/relationships/oleObject" Target="../embeddings/oleObject173.bin"/><Relationship Id="rId5" Type="http://schemas.openxmlformats.org/officeDocument/2006/relationships/image" Target="../media/image136.gif"/><Relationship Id="rId15" Type="http://schemas.openxmlformats.org/officeDocument/2006/relationships/image" Target="../media/image161.wmf"/><Relationship Id="rId10" Type="http://schemas.openxmlformats.org/officeDocument/2006/relationships/image" Target="../media/image159.wmf"/><Relationship Id="rId4" Type="http://schemas.openxmlformats.org/officeDocument/2006/relationships/image" Target="../media/image135.gif"/><Relationship Id="rId9" Type="http://schemas.openxmlformats.org/officeDocument/2006/relationships/oleObject" Target="../embeddings/oleObject172.bin"/><Relationship Id="rId14" Type="http://schemas.openxmlformats.org/officeDocument/2006/relationships/oleObject" Target="../embeddings/oleObject174.bin"/></Relationships>
</file>

<file path=ppt/slides/_rels/slide29.xml.rels><?xml version="1.0" encoding="UTF-8" standalone="yes"?>
<Relationships xmlns="http://schemas.openxmlformats.org/package/2006/relationships"><Relationship Id="rId8" Type="http://schemas.openxmlformats.org/officeDocument/2006/relationships/image" Target="../media/image163.wmf"/><Relationship Id="rId13" Type="http://schemas.openxmlformats.org/officeDocument/2006/relationships/oleObject" Target="../embeddings/oleObject179.bin"/><Relationship Id="rId18" Type="http://schemas.openxmlformats.org/officeDocument/2006/relationships/image" Target="../media/image168.emf"/><Relationship Id="rId3" Type="http://schemas.openxmlformats.org/officeDocument/2006/relationships/image" Target="../media/image181.png"/><Relationship Id="rId21" Type="http://schemas.openxmlformats.org/officeDocument/2006/relationships/image" Target="../media/image186.png"/><Relationship Id="rId7" Type="http://schemas.openxmlformats.org/officeDocument/2006/relationships/oleObject" Target="../embeddings/oleObject176.bin"/><Relationship Id="rId12" Type="http://schemas.openxmlformats.org/officeDocument/2006/relationships/image" Target="../media/image158.wmf"/><Relationship Id="rId17" Type="http://schemas.openxmlformats.org/officeDocument/2006/relationships/image" Target="../media/image167.emf"/><Relationship Id="rId2" Type="http://schemas.openxmlformats.org/officeDocument/2006/relationships/slideLayout" Target="../slideLayouts/slideLayout2.xml"/><Relationship Id="rId16" Type="http://schemas.openxmlformats.org/officeDocument/2006/relationships/image" Target="../media/image166.wmf"/><Relationship Id="rId20" Type="http://schemas.openxmlformats.org/officeDocument/2006/relationships/image" Target="../media/image170.emf"/><Relationship Id="rId1" Type="http://schemas.openxmlformats.org/officeDocument/2006/relationships/vmlDrawing" Target="../drawings/vmlDrawing27.vml"/><Relationship Id="rId6" Type="http://schemas.openxmlformats.org/officeDocument/2006/relationships/image" Target="../media/image136.gif"/><Relationship Id="rId11" Type="http://schemas.openxmlformats.org/officeDocument/2006/relationships/oleObject" Target="../embeddings/oleObject178.bin"/><Relationship Id="rId5" Type="http://schemas.openxmlformats.org/officeDocument/2006/relationships/image" Target="../media/image135.gif"/><Relationship Id="rId15" Type="http://schemas.openxmlformats.org/officeDocument/2006/relationships/oleObject" Target="../embeddings/oleObject180.bin"/><Relationship Id="rId10" Type="http://schemas.openxmlformats.org/officeDocument/2006/relationships/image" Target="../media/image164.wmf"/><Relationship Id="rId19" Type="http://schemas.openxmlformats.org/officeDocument/2006/relationships/image" Target="../media/image169.emf"/><Relationship Id="rId4" Type="http://schemas.openxmlformats.org/officeDocument/2006/relationships/image" Target="../media/image134.gif"/><Relationship Id="rId9" Type="http://schemas.openxmlformats.org/officeDocument/2006/relationships/oleObject" Target="../embeddings/oleObject177.bin"/><Relationship Id="rId14" Type="http://schemas.openxmlformats.org/officeDocument/2006/relationships/image" Target="../media/image165.wmf"/></Relationships>
</file>

<file path=ppt/slides/_rels/slide30.xml.rels><?xml version="1.0" encoding="UTF-8" standalone="yes"?>
<Relationships xmlns="http://schemas.openxmlformats.org/package/2006/relationships"><Relationship Id="rId8" Type="http://schemas.openxmlformats.org/officeDocument/2006/relationships/image" Target="../media/image171.wmf"/><Relationship Id="rId13" Type="http://schemas.openxmlformats.org/officeDocument/2006/relationships/image" Target="../media/image173.wmf"/><Relationship Id="rId18" Type="http://schemas.openxmlformats.org/officeDocument/2006/relationships/oleObject" Target="../embeddings/oleObject186.bin"/><Relationship Id="rId26" Type="http://schemas.openxmlformats.org/officeDocument/2006/relationships/oleObject" Target="../embeddings/oleObject190.bin"/><Relationship Id="rId3" Type="http://schemas.openxmlformats.org/officeDocument/2006/relationships/notesSlide" Target="../notesSlides/notesSlide21.xml"/><Relationship Id="rId21" Type="http://schemas.openxmlformats.org/officeDocument/2006/relationships/image" Target="../media/image177.wmf"/><Relationship Id="rId7" Type="http://schemas.openxmlformats.org/officeDocument/2006/relationships/oleObject" Target="../embeddings/oleObject181.bin"/><Relationship Id="rId12" Type="http://schemas.openxmlformats.org/officeDocument/2006/relationships/oleObject" Target="../embeddings/oleObject183.bin"/><Relationship Id="rId17" Type="http://schemas.openxmlformats.org/officeDocument/2006/relationships/image" Target="../media/image175.wmf"/><Relationship Id="rId25" Type="http://schemas.openxmlformats.org/officeDocument/2006/relationships/image" Target="../media/image179.wmf"/><Relationship Id="rId2" Type="http://schemas.openxmlformats.org/officeDocument/2006/relationships/slideLayout" Target="../slideLayouts/slideLayout2.xml"/><Relationship Id="rId16" Type="http://schemas.openxmlformats.org/officeDocument/2006/relationships/oleObject" Target="../embeddings/oleObject185.bin"/><Relationship Id="rId20" Type="http://schemas.openxmlformats.org/officeDocument/2006/relationships/oleObject" Target="../embeddings/oleObject187.bin"/><Relationship Id="rId1" Type="http://schemas.openxmlformats.org/officeDocument/2006/relationships/vmlDrawing" Target="../drawings/vmlDrawing28.vml"/><Relationship Id="rId6" Type="http://schemas.openxmlformats.org/officeDocument/2006/relationships/image" Target="../media/image136.gif"/><Relationship Id="rId11" Type="http://schemas.openxmlformats.org/officeDocument/2006/relationships/image" Target="../media/image197.png"/><Relationship Id="rId24" Type="http://schemas.openxmlformats.org/officeDocument/2006/relationships/oleObject" Target="../embeddings/oleObject189.bin"/><Relationship Id="rId5" Type="http://schemas.openxmlformats.org/officeDocument/2006/relationships/image" Target="../media/image135.gif"/><Relationship Id="rId15" Type="http://schemas.openxmlformats.org/officeDocument/2006/relationships/image" Target="../media/image174.wmf"/><Relationship Id="rId23" Type="http://schemas.openxmlformats.org/officeDocument/2006/relationships/image" Target="../media/image178.wmf"/><Relationship Id="rId10" Type="http://schemas.openxmlformats.org/officeDocument/2006/relationships/image" Target="../media/image172.wmf"/><Relationship Id="rId19" Type="http://schemas.openxmlformats.org/officeDocument/2006/relationships/image" Target="../media/image176.wmf"/><Relationship Id="rId4" Type="http://schemas.openxmlformats.org/officeDocument/2006/relationships/image" Target="../media/image134.gif"/><Relationship Id="rId9" Type="http://schemas.openxmlformats.org/officeDocument/2006/relationships/oleObject" Target="../embeddings/oleObject182.bin"/><Relationship Id="rId14" Type="http://schemas.openxmlformats.org/officeDocument/2006/relationships/oleObject" Target="../embeddings/oleObject184.bin"/><Relationship Id="rId22" Type="http://schemas.openxmlformats.org/officeDocument/2006/relationships/oleObject" Target="../embeddings/oleObject188.bin"/><Relationship Id="rId27" Type="http://schemas.openxmlformats.org/officeDocument/2006/relationships/image" Target="../media/image180.wmf"/></Relationships>
</file>

<file path=ppt/slides/_rels/slide31.xml.rels><?xml version="1.0" encoding="UTF-8" standalone="yes"?>
<Relationships xmlns="http://schemas.openxmlformats.org/package/2006/relationships"><Relationship Id="rId8" Type="http://schemas.openxmlformats.org/officeDocument/2006/relationships/image" Target="../media/image181.wmf"/><Relationship Id="rId13" Type="http://schemas.openxmlformats.org/officeDocument/2006/relationships/image" Target="../media/image202.png"/><Relationship Id="rId18" Type="http://schemas.openxmlformats.org/officeDocument/2006/relationships/image" Target="../media/image182.wmf"/><Relationship Id="rId3" Type="http://schemas.openxmlformats.org/officeDocument/2006/relationships/image" Target="../media/image134.gif"/><Relationship Id="rId7" Type="http://schemas.openxmlformats.org/officeDocument/2006/relationships/oleObject" Target="../embeddings/oleObject191.bin"/><Relationship Id="rId17" Type="http://schemas.openxmlformats.org/officeDocument/2006/relationships/oleObject" Target="../embeddings/oleObject195.bin"/><Relationship Id="rId2" Type="http://schemas.openxmlformats.org/officeDocument/2006/relationships/slideLayout" Target="../slideLayouts/slideLayout2.xml"/><Relationship Id="rId16" Type="http://schemas.openxmlformats.org/officeDocument/2006/relationships/oleObject" Target="../embeddings/oleObject194.bin"/><Relationship Id="rId20" Type="http://schemas.openxmlformats.org/officeDocument/2006/relationships/image" Target="../media/image183.wmf"/><Relationship Id="rId1" Type="http://schemas.openxmlformats.org/officeDocument/2006/relationships/vmlDrawing" Target="../drawings/vmlDrawing29.vml"/><Relationship Id="rId6" Type="http://schemas.openxmlformats.org/officeDocument/2006/relationships/image" Target="../media/image205.png"/><Relationship Id="rId11" Type="http://schemas.openxmlformats.org/officeDocument/2006/relationships/oleObject" Target="../embeddings/oleObject192.bin"/><Relationship Id="rId5" Type="http://schemas.openxmlformats.org/officeDocument/2006/relationships/image" Target="../media/image136.gif"/><Relationship Id="rId15" Type="http://schemas.openxmlformats.org/officeDocument/2006/relationships/oleObject" Target="../embeddings/oleObject193.bin"/><Relationship Id="rId10" Type="http://schemas.openxmlformats.org/officeDocument/2006/relationships/image" Target="../media/image181.wmf"/><Relationship Id="rId19" Type="http://schemas.openxmlformats.org/officeDocument/2006/relationships/oleObject" Target="../embeddings/oleObject196.bin"/><Relationship Id="rId4" Type="http://schemas.openxmlformats.org/officeDocument/2006/relationships/image" Target="../media/image135.gif"/><Relationship Id="rId9" Type="http://schemas.openxmlformats.org/officeDocument/2006/relationships/oleObject" Target="../embeddings/oleObject1850.bin"/><Relationship Id="rId14" Type="http://schemas.openxmlformats.org/officeDocument/2006/relationships/image" Target="../media/image203.png"/></Relationships>
</file>

<file path=ppt/slides/_rels/slide32.xml.rels><?xml version="1.0" encoding="UTF-8" standalone="yes"?>
<Relationships xmlns="http://schemas.openxmlformats.org/package/2006/relationships"><Relationship Id="rId8" Type="http://schemas.openxmlformats.org/officeDocument/2006/relationships/image" Target="../media/image184.wmf"/><Relationship Id="rId13" Type="http://schemas.openxmlformats.org/officeDocument/2006/relationships/image" Target="../media/image206.png"/><Relationship Id="rId3" Type="http://schemas.openxmlformats.org/officeDocument/2006/relationships/image" Target="../media/image134.gif"/><Relationship Id="rId7" Type="http://schemas.openxmlformats.org/officeDocument/2006/relationships/oleObject" Target="../embeddings/oleObject197.bin"/><Relationship Id="rId12" Type="http://schemas.openxmlformats.org/officeDocument/2006/relationships/image" Target="../media/image183.wmf"/><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210.png"/><Relationship Id="rId11" Type="http://schemas.openxmlformats.org/officeDocument/2006/relationships/oleObject" Target="../embeddings/oleObject199.bin"/><Relationship Id="rId5" Type="http://schemas.openxmlformats.org/officeDocument/2006/relationships/image" Target="../media/image136.gif"/><Relationship Id="rId10" Type="http://schemas.openxmlformats.org/officeDocument/2006/relationships/image" Target="../media/image185.wmf"/><Relationship Id="rId4" Type="http://schemas.openxmlformats.org/officeDocument/2006/relationships/image" Target="../media/image135.gif"/><Relationship Id="rId9" Type="http://schemas.openxmlformats.org/officeDocument/2006/relationships/oleObject" Target="../embeddings/oleObject198.bin"/></Relationships>
</file>

<file path=ppt/slides/_rels/slide33.xml.rels><?xml version="1.0" encoding="UTF-8" standalone="yes"?>
<Relationships xmlns="http://schemas.openxmlformats.org/package/2006/relationships"><Relationship Id="rId8" Type="http://schemas.openxmlformats.org/officeDocument/2006/relationships/image" Target="../media/image188.wmf"/><Relationship Id="rId13" Type="http://schemas.openxmlformats.org/officeDocument/2006/relationships/oleObject" Target="../embeddings/oleObject205.bin"/><Relationship Id="rId18" Type="http://schemas.openxmlformats.org/officeDocument/2006/relationships/oleObject" Target="../embeddings/oleObject207.bin"/><Relationship Id="rId3" Type="http://schemas.openxmlformats.org/officeDocument/2006/relationships/oleObject" Target="../embeddings/oleObject200.bin"/><Relationship Id="rId21" Type="http://schemas.openxmlformats.org/officeDocument/2006/relationships/image" Target="../media/image194.wmf"/><Relationship Id="rId7" Type="http://schemas.openxmlformats.org/officeDocument/2006/relationships/oleObject" Target="../embeddings/oleObject202.bin"/><Relationship Id="rId12" Type="http://schemas.openxmlformats.org/officeDocument/2006/relationships/image" Target="../media/image190.wmf"/><Relationship Id="rId17" Type="http://schemas.openxmlformats.org/officeDocument/2006/relationships/image" Target="../media/image195.png"/><Relationship Id="rId2" Type="http://schemas.openxmlformats.org/officeDocument/2006/relationships/slideLayout" Target="../slideLayouts/slideLayout2.xml"/><Relationship Id="rId16" Type="http://schemas.openxmlformats.org/officeDocument/2006/relationships/image" Target="../media/image192.wmf"/><Relationship Id="rId20" Type="http://schemas.openxmlformats.org/officeDocument/2006/relationships/oleObject" Target="../embeddings/oleObject208.bin"/><Relationship Id="rId1" Type="http://schemas.openxmlformats.org/officeDocument/2006/relationships/vmlDrawing" Target="../drawings/vmlDrawing31.vml"/><Relationship Id="rId6" Type="http://schemas.openxmlformats.org/officeDocument/2006/relationships/image" Target="../media/image187.wmf"/><Relationship Id="rId11" Type="http://schemas.openxmlformats.org/officeDocument/2006/relationships/oleObject" Target="../embeddings/oleObject204.bin"/><Relationship Id="rId5" Type="http://schemas.openxmlformats.org/officeDocument/2006/relationships/oleObject" Target="../embeddings/oleObject201.bin"/><Relationship Id="rId15" Type="http://schemas.openxmlformats.org/officeDocument/2006/relationships/oleObject" Target="../embeddings/oleObject206.bin"/><Relationship Id="rId10" Type="http://schemas.openxmlformats.org/officeDocument/2006/relationships/image" Target="../media/image189.wmf"/><Relationship Id="rId19" Type="http://schemas.openxmlformats.org/officeDocument/2006/relationships/image" Target="../media/image193.wmf"/><Relationship Id="rId4" Type="http://schemas.openxmlformats.org/officeDocument/2006/relationships/image" Target="../media/image186.wmf"/><Relationship Id="rId9" Type="http://schemas.openxmlformats.org/officeDocument/2006/relationships/oleObject" Target="../embeddings/oleObject203.bin"/><Relationship Id="rId14" Type="http://schemas.openxmlformats.org/officeDocument/2006/relationships/image" Target="../media/image191.wmf"/><Relationship Id="rId22" Type="http://schemas.openxmlformats.org/officeDocument/2006/relationships/image" Target="../media/image217.png"/></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11.bin"/><Relationship Id="rId13" Type="http://schemas.openxmlformats.org/officeDocument/2006/relationships/image" Target="../media/image200.wmf"/><Relationship Id="rId3" Type="http://schemas.openxmlformats.org/officeDocument/2006/relationships/oleObject" Target="../embeddings/oleObject209.bin"/><Relationship Id="rId7" Type="http://schemas.openxmlformats.org/officeDocument/2006/relationships/image" Target="../media/image275.png"/><Relationship Id="rId12" Type="http://schemas.openxmlformats.org/officeDocument/2006/relationships/oleObject" Target="../embeddings/oleObject213.bin"/><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image" Target="../media/image197.wmf"/><Relationship Id="rId11" Type="http://schemas.openxmlformats.org/officeDocument/2006/relationships/image" Target="../media/image199.wmf"/><Relationship Id="rId5" Type="http://schemas.openxmlformats.org/officeDocument/2006/relationships/oleObject" Target="../embeddings/oleObject210.bin"/><Relationship Id="rId10" Type="http://schemas.openxmlformats.org/officeDocument/2006/relationships/oleObject" Target="../embeddings/oleObject212.bin"/><Relationship Id="rId4" Type="http://schemas.openxmlformats.org/officeDocument/2006/relationships/image" Target="../media/image196.wmf"/><Relationship Id="rId9" Type="http://schemas.openxmlformats.org/officeDocument/2006/relationships/image" Target="../media/image198.wmf"/><Relationship Id="rId14" Type="http://schemas.openxmlformats.org/officeDocument/2006/relationships/image" Target="../media/image20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216.bin"/><Relationship Id="rId3" Type="http://schemas.openxmlformats.org/officeDocument/2006/relationships/notesSlide" Target="../notesSlides/notesSlide22.xml"/><Relationship Id="rId7" Type="http://schemas.openxmlformats.org/officeDocument/2006/relationships/image" Target="../media/image203.wmf"/><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oleObject" Target="../embeddings/oleObject215.bin"/><Relationship Id="rId5" Type="http://schemas.openxmlformats.org/officeDocument/2006/relationships/image" Target="../media/image202.wmf"/><Relationship Id="rId4" Type="http://schemas.openxmlformats.org/officeDocument/2006/relationships/oleObject" Target="../embeddings/oleObject214.bin"/><Relationship Id="rId9" Type="http://schemas.openxmlformats.org/officeDocument/2006/relationships/image" Target="../media/image204.wmf"/></Relationships>
</file>

<file path=ppt/slides/_rels/slide37.xml.rels><?xml version="1.0" encoding="UTF-8" standalone="yes"?>
<Relationships xmlns="http://schemas.openxmlformats.org/package/2006/relationships"><Relationship Id="rId8" Type="http://schemas.openxmlformats.org/officeDocument/2006/relationships/image" Target="../media/image206.wmf"/><Relationship Id="rId13" Type="http://schemas.openxmlformats.org/officeDocument/2006/relationships/oleObject" Target="../embeddings/oleObject221.bin"/><Relationship Id="rId3" Type="http://schemas.openxmlformats.org/officeDocument/2006/relationships/notesSlide" Target="../notesSlides/notesSlide23.xml"/><Relationship Id="rId7" Type="http://schemas.openxmlformats.org/officeDocument/2006/relationships/oleObject" Target="../embeddings/oleObject218.bin"/><Relationship Id="rId12" Type="http://schemas.openxmlformats.org/officeDocument/2006/relationships/image" Target="../media/image208.wmf"/><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205.wmf"/><Relationship Id="rId11" Type="http://schemas.openxmlformats.org/officeDocument/2006/relationships/oleObject" Target="../embeddings/oleObject220.bin"/><Relationship Id="rId5" Type="http://schemas.openxmlformats.org/officeDocument/2006/relationships/oleObject" Target="../embeddings/oleObject217.bin"/><Relationship Id="rId15" Type="http://schemas.openxmlformats.org/officeDocument/2006/relationships/oleObject" Target="../embeddings/oleObject222.bin"/><Relationship Id="rId10" Type="http://schemas.openxmlformats.org/officeDocument/2006/relationships/image" Target="../media/image207.wmf"/><Relationship Id="rId4" Type="http://schemas.openxmlformats.org/officeDocument/2006/relationships/image" Target="../media/image211.png"/><Relationship Id="rId9" Type="http://schemas.openxmlformats.org/officeDocument/2006/relationships/oleObject" Target="../embeddings/oleObject219.bin"/><Relationship Id="rId14" Type="http://schemas.openxmlformats.org/officeDocument/2006/relationships/image" Target="../media/image209.w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225.bin"/><Relationship Id="rId3" Type="http://schemas.openxmlformats.org/officeDocument/2006/relationships/notesSlide" Target="../notesSlides/notesSlide24.xml"/><Relationship Id="rId7" Type="http://schemas.openxmlformats.org/officeDocument/2006/relationships/image" Target="../media/image213.wmf"/><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oleObject" Target="../embeddings/oleObject224.bin"/><Relationship Id="rId11" Type="http://schemas.openxmlformats.org/officeDocument/2006/relationships/image" Target="../media/image215.wmf"/><Relationship Id="rId5" Type="http://schemas.openxmlformats.org/officeDocument/2006/relationships/image" Target="../media/image212.wmf"/><Relationship Id="rId10" Type="http://schemas.openxmlformats.org/officeDocument/2006/relationships/oleObject" Target="../embeddings/oleObject226.bin"/><Relationship Id="rId4" Type="http://schemas.openxmlformats.org/officeDocument/2006/relationships/oleObject" Target="../embeddings/oleObject223.bin"/><Relationship Id="rId9" Type="http://schemas.openxmlformats.org/officeDocument/2006/relationships/image" Target="../media/image214.wmf"/></Relationships>
</file>

<file path=ppt/slides/_rels/slide39.xml.rels><?xml version="1.0" encoding="UTF-8" standalone="yes"?>
<Relationships xmlns="http://schemas.openxmlformats.org/package/2006/relationships"><Relationship Id="rId8" Type="http://schemas.openxmlformats.org/officeDocument/2006/relationships/image" Target="../media/image216.wmf"/><Relationship Id="rId3" Type="http://schemas.openxmlformats.org/officeDocument/2006/relationships/notesSlide" Target="../notesSlides/notesSlide25.xml"/><Relationship Id="rId7" Type="http://schemas.openxmlformats.org/officeDocument/2006/relationships/oleObject" Target="../embeddings/oleObject229.bin"/><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oleObject" Target="../embeddings/oleObject228.bin"/><Relationship Id="rId11" Type="http://schemas.openxmlformats.org/officeDocument/2006/relationships/image" Target="../media/image217.wmf"/><Relationship Id="rId5" Type="http://schemas.openxmlformats.org/officeDocument/2006/relationships/image" Target="../media/image213.wmf"/><Relationship Id="rId10" Type="http://schemas.openxmlformats.org/officeDocument/2006/relationships/oleObject" Target="../embeddings/oleObject231.bin"/><Relationship Id="rId4" Type="http://schemas.openxmlformats.org/officeDocument/2006/relationships/oleObject" Target="../embeddings/oleObject227.bin"/><Relationship Id="rId9" Type="http://schemas.openxmlformats.org/officeDocument/2006/relationships/oleObject" Target="../embeddings/oleObject230.bin"/></Relationships>
</file>

<file path=ppt/slides/_rels/slide40.xml.rels><?xml version="1.0" encoding="UTF-8" standalone="yes"?>
<Relationships xmlns="http://schemas.openxmlformats.org/package/2006/relationships"><Relationship Id="rId3" Type="http://schemas.openxmlformats.org/officeDocument/2006/relationships/image" Target="../media/image21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http://www-white.media.mit.edu/vismod/demos/facerec/Images/system.gif" TargetMode="External"/><Relationship Id="rId2" Type="http://schemas.openxmlformats.org/officeDocument/2006/relationships/image" Target="../media/image21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http://www-white.media.mit.edu/vismod/demos/facerec/Images/p1.gif" TargetMode="External"/><Relationship Id="rId13" Type="http://schemas.openxmlformats.org/officeDocument/2006/relationships/image" Target="../media/image226.png"/><Relationship Id="rId3" Type="http://schemas.openxmlformats.org/officeDocument/2006/relationships/image" Target="http://www-white.media.mit.edu/vismod/demos/facerec/Images/system1.gif" TargetMode="External"/><Relationship Id="rId7" Type="http://schemas.openxmlformats.org/officeDocument/2006/relationships/image" Target="../media/image223.png"/><Relationship Id="rId12" Type="http://schemas.openxmlformats.org/officeDocument/2006/relationships/image" Target="http://www-white.media.mit.edu/vismod/demos/facerec/Images/p3.gif" TargetMode="External"/><Relationship Id="rId2"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image" Target="http://www-white.media.mit.edu/vismod/demos/facerec/Images/p0.gif" TargetMode="External"/><Relationship Id="rId11" Type="http://schemas.openxmlformats.org/officeDocument/2006/relationships/image" Target="../media/image225.png"/><Relationship Id="rId5" Type="http://schemas.openxmlformats.org/officeDocument/2006/relationships/image" Target="../media/image222.png"/><Relationship Id="rId10" Type="http://schemas.openxmlformats.org/officeDocument/2006/relationships/image" Target="http://www-white.media.mit.edu/vismod/demos/facerec/Images/p2.gif" TargetMode="External"/><Relationship Id="rId4" Type="http://schemas.openxmlformats.org/officeDocument/2006/relationships/image" Target="../media/image221.jpeg"/><Relationship Id="rId9" Type="http://schemas.openxmlformats.org/officeDocument/2006/relationships/image" Target="../media/image224.png"/><Relationship Id="rId14" Type="http://schemas.openxmlformats.org/officeDocument/2006/relationships/image" Target="http://www-white.media.mit.edu/vismod/demos/facerec/Images/p4.gif"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http://www-white.media.mit.edu/vismod/demos/facerec/Images/feret_8eigfaces.gif" TargetMode="External"/><Relationship Id="rId2" Type="http://schemas.openxmlformats.org/officeDocument/2006/relationships/image" Target="../media/image227.png"/><Relationship Id="rId1" Type="http://schemas.openxmlformats.org/officeDocument/2006/relationships/slideLayout" Target="../slideLayouts/slideLayout2.xml"/><Relationship Id="rId5" Type="http://schemas.openxmlformats.org/officeDocument/2006/relationships/image" Target="http://www-white.media.mit.edu/vismod/demos/facerec/Images/system2.gif" TargetMode="External"/><Relationship Id="rId4" Type="http://schemas.openxmlformats.org/officeDocument/2006/relationships/image" Target="../media/image228.png"/></Relationships>
</file>

<file path=ppt/slides/_rels/slide44.xml.rels><?xml version="1.0" encoding="UTF-8" standalone="yes"?>
<Relationships xmlns="http://schemas.openxmlformats.org/package/2006/relationships"><Relationship Id="rId8" Type="http://schemas.openxmlformats.org/officeDocument/2006/relationships/image" Target="../media/image230.wmf"/><Relationship Id="rId3" Type="http://schemas.openxmlformats.org/officeDocument/2006/relationships/image" Target="../media/image231.png"/><Relationship Id="rId7" Type="http://schemas.openxmlformats.org/officeDocument/2006/relationships/oleObject" Target="../embeddings/oleObject233.bin"/><Relationship Id="rId2" Type="http://schemas.openxmlformats.org/officeDocument/2006/relationships/slideLayout" Target="../slideLayouts/slideLayout2.xml"/><Relationship Id="rId1" Type="http://schemas.openxmlformats.org/officeDocument/2006/relationships/vmlDrawing" Target="../drawings/vmlDrawing37.vml"/><Relationship Id="rId6" Type="http://schemas.openxmlformats.org/officeDocument/2006/relationships/image" Target="../media/image229.wmf"/><Relationship Id="rId5" Type="http://schemas.openxmlformats.org/officeDocument/2006/relationships/oleObject" Target="../embeddings/oleObject232.bin"/><Relationship Id="rId4" Type="http://schemas.openxmlformats.org/officeDocument/2006/relationships/image" Target="../media/image232.jpeg"/></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36.bin"/><Relationship Id="rId13" Type="http://schemas.openxmlformats.org/officeDocument/2006/relationships/image" Target="../media/image237.wmf"/><Relationship Id="rId18" Type="http://schemas.openxmlformats.org/officeDocument/2006/relationships/oleObject" Target="../embeddings/oleObject241.bin"/><Relationship Id="rId3" Type="http://schemas.openxmlformats.org/officeDocument/2006/relationships/notesSlide" Target="../notesSlides/notesSlide27.xml"/><Relationship Id="rId21" Type="http://schemas.openxmlformats.org/officeDocument/2006/relationships/image" Target="../media/image241.wmf"/><Relationship Id="rId7" Type="http://schemas.openxmlformats.org/officeDocument/2006/relationships/image" Target="../media/image234.wmf"/><Relationship Id="rId12" Type="http://schemas.openxmlformats.org/officeDocument/2006/relationships/oleObject" Target="../embeddings/oleObject238.bin"/><Relationship Id="rId17" Type="http://schemas.openxmlformats.org/officeDocument/2006/relationships/image" Target="../media/image239.wmf"/><Relationship Id="rId2" Type="http://schemas.openxmlformats.org/officeDocument/2006/relationships/slideLayout" Target="../slideLayouts/slideLayout2.xml"/><Relationship Id="rId16" Type="http://schemas.openxmlformats.org/officeDocument/2006/relationships/oleObject" Target="../embeddings/oleObject240.bin"/><Relationship Id="rId20" Type="http://schemas.openxmlformats.org/officeDocument/2006/relationships/oleObject" Target="../embeddings/oleObject242.bin"/><Relationship Id="rId1" Type="http://schemas.openxmlformats.org/officeDocument/2006/relationships/vmlDrawing" Target="../drawings/vmlDrawing38.vml"/><Relationship Id="rId6" Type="http://schemas.openxmlformats.org/officeDocument/2006/relationships/oleObject" Target="../embeddings/oleObject235.bin"/><Relationship Id="rId11" Type="http://schemas.openxmlformats.org/officeDocument/2006/relationships/image" Target="../media/image236.wmf"/><Relationship Id="rId5" Type="http://schemas.openxmlformats.org/officeDocument/2006/relationships/image" Target="../media/image233.wmf"/><Relationship Id="rId15" Type="http://schemas.openxmlformats.org/officeDocument/2006/relationships/image" Target="../media/image238.wmf"/><Relationship Id="rId10" Type="http://schemas.openxmlformats.org/officeDocument/2006/relationships/oleObject" Target="../embeddings/oleObject237.bin"/><Relationship Id="rId19" Type="http://schemas.openxmlformats.org/officeDocument/2006/relationships/image" Target="../media/image240.wmf"/><Relationship Id="rId4" Type="http://schemas.openxmlformats.org/officeDocument/2006/relationships/oleObject" Target="../embeddings/oleObject234.bin"/><Relationship Id="rId9" Type="http://schemas.openxmlformats.org/officeDocument/2006/relationships/image" Target="../media/image235.wmf"/><Relationship Id="rId14" Type="http://schemas.openxmlformats.org/officeDocument/2006/relationships/oleObject" Target="../embeddings/oleObject239.bin"/><Relationship Id="rId22" Type="http://schemas.openxmlformats.org/officeDocument/2006/relationships/oleObject" Target="../embeddings/oleObject243.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247.bin"/><Relationship Id="rId3" Type="http://schemas.openxmlformats.org/officeDocument/2006/relationships/oleObject" Target="../embeddings/oleObject244.bin"/><Relationship Id="rId7" Type="http://schemas.openxmlformats.org/officeDocument/2006/relationships/oleObject" Target="../embeddings/oleObject246.bin"/><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image" Target="../media/image243.wmf"/><Relationship Id="rId11" Type="http://schemas.openxmlformats.org/officeDocument/2006/relationships/image" Target="../media/image245.wmf"/><Relationship Id="rId5" Type="http://schemas.openxmlformats.org/officeDocument/2006/relationships/oleObject" Target="../embeddings/oleObject245.bin"/><Relationship Id="rId10" Type="http://schemas.openxmlformats.org/officeDocument/2006/relationships/oleObject" Target="../embeddings/oleObject248.bin"/><Relationship Id="rId4" Type="http://schemas.openxmlformats.org/officeDocument/2006/relationships/image" Target="../media/image242.wmf"/><Relationship Id="rId9" Type="http://schemas.openxmlformats.org/officeDocument/2006/relationships/image" Target="../media/image244.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49.bin"/><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image" Target="../media/image248.png"/><Relationship Id="rId5" Type="http://schemas.openxmlformats.org/officeDocument/2006/relationships/image" Target="../media/image247.jpeg"/><Relationship Id="rId4" Type="http://schemas.openxmlformats.org/officeDocument/2006/relationships/image" Target="../media/image246.wmf"/></Relationships>
</file>

<file path=ppt/slides/_rels/slide48.xml.rels><?xml version="1.0" encoding="UTF-8" standalone="yes"?>
<Relationships xmlns="http://schemas.openxmlformats.org/package/2006/relationships"><Relationship Id="rId8" Type="http://schemas.openxmlformats.org/officeDocument/2006/relationships/image" Target="../media/image251.wmf"/><Relationship Id="rId3" Type="http://schemas.openxmlformats.org/officeDocument/2006/relationships/oleObject" Target="../embeddings/oleObject250.bin"/><Relationship Id="rId7" Type="http://schemas.openxmlformats.org/officeDocument/2006/relationships/oleObject" Target="../embeddings/oleObject252.bin"/><Relationship Id="rId2" Type="http://schemas.openxmlformats.org/officeDocument/2006/relationships/slideLayout" Target="../slideLayouts/slideLayout2.xml"/><Relationship Id="rId1" Type="http://schemas.openxmlformats.org/officeDocument/2006/relationships/vmlDrawing" Target="../drawings/vmlDrawing41.vml"/><Relationship Id="rId6" Type="http://schemas.openxmlformats.org/officeDocument/2006/relationships/image" Target="../media/image250.wmf"/><Relationship Id="rId5" Type="http://schemas.openxmlformats.org/officeDocument/2006/relationships/oleObject" Target="../embeddings/oleObject251.bin"/><Relationship Id="rId4" Type="http://schemas.openxmlformats.org/officeDocument/2006/relationships/image" Target="../media/image249.wmf"/><Relationship Id="rId9" Type="http://schemas.openxmlformats.org/officeDocument/2006/relationships/image" Target="../media/image25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6" name="Rectangle 4"/>
          <p:cNvSpPr>
            <a:spLocks noGrp="1" noChangeArrowheads="1"/>
          </p:cNvSpPr>
          <p:nvPr>
            <p:ph type="ctrTitle"/>
          </p:nvPr>
        </p:nvSpPr>
        <p:spPr>
          <a:xfrm>
            <a:off x="3215680" y="2060848"/>
            <a:ext cx="8001000" cy="747712"/>
          </a:xfrm>
        </p:spPr>
        <p:txBody>
          <a:bodyPr/>
          <a:lstStyle/>
          <a:p>
            <a:pPr>
              <a:lnSpc>
                <a:spcPct val="65000"/>
              </a:lnSpc>
              <a:spcBef>
                <a:spcPct val="50000"/>
              </a:spcBef>
              <a:defRPr/>
            </a:pPr>
            <a:r>
              <a:rPr lang="zh-CN" altLang="en-US" sz="4400" dirty="0">
                <a:latin typeface="方正姚体" pitchFamily="2" charset="-122"/>
                <a:ea typeface="方正姚体" pitchFamily="2" charset="-122"/>
                <a:cs typeface="+mn-cs"/>
              </a:rPr>
              <a:t>模式识别与机器学习</a:t>
            </a:r>
            <a:endParaRPr lang="zh-CN" altLang="en-GB" sz="4400" dirty="0">
              <a:latin typeface="方正姚体" pitchFamily="2" charset="-122"/>
              <a:ea typeface="方正姚体" pitchFamily="2" charset="-122"/>
              <a:cs typeface="+mn-cs"/>
            </a:endParaRPr>
          </a:p>
        </p:txBody>
      </p:sp>
      <p:sp>
        <p:nvSpPr>
          <p:cNvPr id="4100" name="TextBox 6"/>
          <p:cNvSpPr txBox="1">
            <a:spLocks noChangeArrowheads="1"/>
          </p:cNvSpPr>
          <p:nvPr/>
        </p:nvSpPr>
        <p:spPr bwMode="auto">
          <a:xfrm>
            <a:off x="7176120" y="116632"/>
            <a:ext cx="4937175" cy="646331"/>
          </a:xfrm>
          <a:prstGeom prst="rect">
            <a:avLst/>
          </a:prstGeom>
          <a:noFill/>
          <a:ln w="9525">
            <a:noFill/>
            <a:miter lim="800000"/>
            <a:headEnd/>
            <a:tailEnd/>
          </a:ln>
        </p:spPr>
        <p:txBody>
          <a:bodyPr wrap="square">
            <a:spAutoFit/>
          </a:bodyPr>
          <a:lstStyle/>
          <a:p>
            <a:pPr algn="r"/>
            <a:r>
              <a:rPr lang="zh-CN" altLang="en-US" sz="3600" b="1" dirty="0">
                <a:solidFill>
                  <a:srgbClr val="418D91"/>
                </a:solidFill>
                <a:latin typeface="黑体" pitchFamily="49" charset="-122"/>
                <a:ea typeface="黑体" pitchFamily="49" charset="-122"/>
              </a:rPr>
              <a:t>人工智能与自动化学院</a:t>
            </a:r>
          </a:p>
        </p:txBody>
      </p:sp>
      <p:sp>
        <p:nvSpPr>
          <p:cNvPr id="4" name="矩形 3"/>
          <p:cNvSpPr/>
          <p:nvPr/>
        </p:nvSpPr>
        <p:spPr>
          <a:xfrm>
            <a:off x="2929900" y="3284984"/>
            <a:ext cx="4286280" cy="584775"/>
          </a:xfrm>
          <a:prstGeom prst="rect">
            <a:avLst/>
          </a:prstGeom>
        </p:spPr>
        <p:txBody>
          <a:bodyPr wrap="square">
            <a:spAutoFit/>
          </a:bodyPr>
          <a:lstStyle/>
          <a:p>
            <a:r>
              <a:rPr lang="zh-CN" altLang="en-US" sz="3200" b="1" kern="0" dirty="0">
                <a:latin typeface="黑体" pitchFamily="49" charset="-122"/>
                <a:ea typeface="黑体" pitchFamily="49" charset="-122"/>
              </a:rPr>
              <a:t>特征提取</a:t>
            </a:r>
            <a:endParaRPr lang="en-US" altLang="zh-CN" sz="3200" b="1" kern="0" dirty="0">
              <a:latin typeface="黑体" pitchFamily="49" charset="-122"/>
              <a:ea typeface="黑体"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7795592" cy="563563"/>
          </a:xfrm>
        </p:spPr>
        <p:txBody>
          <a:bodyPr/>
          <a:lstStyle/>
          <a:p>
            <a:r>
              <a:rPr lang="zh-CN" altLang="en-US" dirty="0"/>
              <a:t>第十六章</a:t>
            </a:r>
            <a:r>
              <a:rPr lang="zh-CN" altLang="zh-CN" dirty="0"/>
              <a:t>　特征提取</a:t>
            </a:r>
            <a:r>
              <a:rPr lang="en-US" altLang="zh-CN" dirty="0">
                <a:latin typeface="Bahnschrift Condensed" panose="020B0502040204020203" pitchFamily="34" charset="0"/>
              </a:rPr>
              <a:t>/</a:t>
            </a:r>
            <a:r>
              <a:rPr lang="zh-CN" altLang="en-US" dirty="0">
                <a:latin typeface="Bahnschrift Condensed" panose="020B0502040204020203" pitchFamily="34" charset="0"/>
              </a:rPr>
              <a:t>特征变换</a:t>
            </a:r>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2</a:t>
            </a:fld>
            <a:endParaRPr lang="en-US" altLang="zh-CN" dirty="0"/>
          </a:p>
        </p:txBody>
      </p:sp>
      <p:sp>
        <p:nvSpPr>
          <p:cNvPr id="8" name="Freeform 6"/>
          <p:cNvSpPr>
            <a:spLocks/>
          </p:cNvSpPr>
          <p:nvPr/>
        </p:nvSpPr>
        <p:spPr bwMode="auto">
          <a:xfrm>
            <a:off x="1524000" y="5589240"/>
            <a:ext cx="9144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p>
        </p:txBody>
      </p:sp>
      <p:sp>
        <p:nvSpPr>
          <p:cNvPr id="9" name="Freeform 7"/>
          <p:cNvSpPr>
            <a:spLocks/>
          </p:cNvSpPr>
          <p:nvPr/>
        </p:nvSpPr>
        <p:spPr bwMode="auto">
          <a:xfrm>
            <a:off x="1524354" y="5425002"/>
            <a:ext cx="9143646" cy="296509"/>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solidFill>
                <a:schemeClr val="tx2">
                  <a:lumMod val="20000"/>
                  <a:lumOff val="80000"/>
                </a:schemeClr>
              </a:solidFill>
            </a:endParaRPr>
          </a:p>
        </p:txBody>
      </p:sp>
      <p:sp>
        <p:nvSpPr>
          <p:cNvPr id="3" name="TextBox 2"/>
          <p:cNvSpPr txBox="1"/>
          <p:nvPr/>
        </p:nvSpPr>
        <p:spPr>
          <a:xfrm>
            <a:off x="2119184" y="1029537"/>
            <a:ext cx="8225288" cy="2308324"/>
          </a:xfrm>
          <a:prstGeom prst="rect">
            <a:avLst/>
          </a:prstGeom>
          <a:noFill/>
        </p:spPr>
        <p:txBody>
          <a:bodyPr wrap="square" rtlCol="0">
            <a:spAutoFit/>
          </a:bodyPr>
          <a:lstStyle/>
          <a:p>
            <a:pPr>
              <a:lnSpc>
                <a:spcPct val="150000"/>
              </a:lnSpc>
            </a:pPr>
            <a:r>
              <a:rPr lang="en-US" altLang="zh-CN" sz="2400" b="1" dirty="0">
                <a:latin typeface="宋体" pitchFamily="2" charset="-122"/>
                <a:ea typeface="宋体" pitchFamily="2" charset="-122"/>
              </a:rPr>
              <a:t>      </a:t>
            </a:r>
            <a:r>
              <a:rPr lang="zh-CN" altLang="zh-CN" sz="2400" b="1" dirty="0">
                <a:latin typeface="宋体" pitchFamily="2" charset="-122"/>
                <a:ea typeface="宋体" pitchFamily="2" charset="-122"/>
              </a:rPr>
              <a:t>引言</a:t>
            </a:r>
            <a:endParaRPr lang="en-US" altLang="zh-CN" sz="2400" b="1" dirty="0">
              <a:latin typeface="宋体" pitchFamily="2" charset="-122"/>
              <a:ea typeface="宋体" pitchFamily="2" charset="-122"/>
            </a:endParaRPr>
          </a:p>
          <a:p>
            <a:pPr>
              <a:lnSpc>
                <a:spcPct val="150000"/>
              </a:lnSpc>
            </a:pPr>
            <a:r>
              <a:rPr lang="en-US" altLang="zh-CN" sz="2400" b="1" dirty="0">
                <a:latin typeface="宋体" pitchFamily="2" charset="-122"/>
                <a:ea typeface="宋体" pitchFamily="2" charset="-122"/>
              </a:rPr>
              <a:t>17.1</a:t>
            </a:r>
            <a:r>
              <a:rPr lang="zh-CN" altLang="zh-CN" sz="2400" b="1" dirty="0">
                <a:latin typeface="宋体" pitchFamily="2" charset="-122"/>
                <a:ea typeface="宋体" pitchFamily="2" charset="-122"/>
              </a:rPr>
              <a:t>　基于类别可分离性判据的特征提取</a:t>
            </a:r>
            <a:endParaRPr lang="en-US" altLang="zh-CN" sz="2400" b="1" dirty="0">
              <a:latin typeface="宋体" pitchFamily="2" charset="-122"/>
              <a:ea typeface="宋体" pitchFamily="2" charset="-122"/>
            </a:endParaRPr>
          </a:p>
          <a:p>
            <a:pPr>
              <a:lnSpc>
                <a:spcPct val="150000"/>
              </a:lnSpc>
            </a:pPr>
            <a:r>
              <a:rPr lang="en-US" altLang="zh-CN" sz="2400" b="1" dirty="0">
                <a:latin typeface="宋体" pitchFamily="2" charset="-122"/>
                <a:ea typeface="宋体" pitchFamily="2" charset="-122"/>
              </a:rPr>
              <a:t>17.2  </a:t>
            </a:r>
            <a:r>
              <a:rPr lang="zh-CN" altLang="zh-CN" sz="2400" b="1" dirty="0">
                <a:latin typeface="宋体" pitchFamily="2" charset="-122"/>
                <a:ea typeface="宋体" pitchFamily="2" charset="-122"/>
              </a:rPr>
              <a:t>主成分分析 </a:t>
            </a:r>
            <a:endParaRPr lang="en-US" altLang="zh-CN" sz="2400" b="1" dirty="0">
              <a:latin typeface="宋体" pitchFamily="2" charset="-122"/>
              <a:ea typeface="宋体" pitchFamily="2" charset="-122"/>
            </a:endParaRPr>
          </a:p>
          <a:p>
            <a:pPr>
              <a:lnSpc>
                <a:spcPct val="150000"/>
              </a:lnSpc>
            </a:pPr>
            <a:r>
              <a:rPr lang="en-US" altLang="zh-CN" sz="2400" b="1" dirty="0">
                <a:latin typeface="宋体" pitchFamily="2" charset="-122"/>
                <a:ea typeface="宋体" pitchFamily="2" charset="-122"/>
              </a:rPr>
              <a:t>17.3  K-L</a:t>
            </a:r>
            <a:r>
              <a:rPr lang="zh-CN" altLang="zh-CN" sz="2400" b="1" dirty="0">
                <a:latin typeface="宋体" pitchFamily="2" charset="-122"/>
                <a:ea typeface="宋体" pitchFamily="2" charset="-122"/>
              </a:rPr>
              <a:t>变换方法</a:t>
            </a:r>
            <a:endParaRPr lang="en-US" altLang="zh-CN" sz="2400" b="1" dirty="0">
              <a:latin typeface="宋体" pitchFamily="2" charset="-122"/>
              <a:ea typeface="宋体"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nSpc>
                <a:spcPct val="150000"/>
              </a:lnSpc>
              <a:buNone/>
            </a:pPr>
            <a:r>
              <a:rPr lang="zh-CN" altLang="en-US" sz="2400" b="1" dirty="0">
                <a:latin typeface="宋体" pitchFamily="2" charset="-122"/>
                <a:ea typeface="宋体" pitchFamily="2" charset="-122"/>
              </a:rPr>
              <a:t>特征选择：从</a:t>
            </a:r>
            <a:r>
              <a:rPr lang="en-US" altLang="zh-CN" sz="2400" b="1" dirty="0">
                <a:latin typeface="Times New Roman" pitchFamily="18" charset="0"/>
                <a:ea typeface="宋体" pitchFamily="2" charset="-122"/>
                <a:cs typeface="Times New Roman" pitchFamily="18" charset="0"/>
              </a:rPr>
              <a:t>D</a:t>
            </a:r>
            <a:r>
              <a:rPr lang="zh-CN" altLang="en-US" sz="2400" b="1" dirty="0">
                <a:latin typeface="宋体" pitchFamily="2" charset="-122"/>
                <a:ea typeface="宋体" pitchFamily="2" charset="-122"/>
              </a:rPr>
              <a:t>个特征中选出</a:t>
            </a:r>
            <a:r>
              <a:rPr lang="en-US" altLang="zh-CN" sz="2400" b="1" dirty="0">
                <a:latin typeface="Times New Roman" pitchFamily="18" charset="0"/>
                <a:ea typeface="宋体" pitchFamily="2" charset="-122"/>
                <a:cs typeface="Times New Roman" pitchFamily="18" charset="0"/>
              </a:rPr>
              <a:t>d</a:t>
            </a:r>
            <a:r>
              <a:rPr lang="zh-CN" altLang="en-US" sz="2400" b="1" dirty="0">
                <a:latin typeface="Times New Roman" pitchFamily="18" charset="0"/>
                <a:ea typeface="宋体" pitchFamily="2" charset="-122"/>
                <a:cs typeface="Times New Roman" pitchFamily="18" charset="0"/>
              </a:rPr>
              <a:t>个</a:t>
            </a:r>
          </a:p>
          <a:p>
            <a:pPr marL="0" indent="0">
              <a:lnSpc>
                <a:spcPct val="150000"/>
              </a:lnSpc>
              <a:buNone/>
            </a:pPr>
            <a:r>
              <a:rPr lang="zh-CN" altLang="en-US" sz="2400" b="1" dirty="0">
                <a:latin typeface="宋体" pitchFamily="2" charset="-122"/>
                <a:ea typeface="宋体" pitchFamily="2" charset="-122"/>
              </a:rPr>
              <a:t>特征提取：把</a:t>
            </a:r>
            <a:r>
              <a:rPr lang="en-US" altLang="zh-CN" sz="2400" b="1" dirty="0">
                <a:latin typeface="Times New Roman" pitchFamily="18" charset="0"/>
                <a:ea typeface="宋体" pitchFamily="2" charset="-122"/>
                <a:cs typeface="Times New Roman" pitchFamily="18" charset="0"/>
              </a:rPr>
              <a:t>D</a:t>
            </a:r>
            <a:r>
              <a:rPr lang="zh-CN" altLang="en-US" sz="2400" b="1" dirty="0">
                <a:latin typeface="Times New Roman" pitchFamily="18" charset="0"/>
                <a:ea typeface="宋体" pitchFamily="2" charset="-122"/>
                <a:cs typeface="Times New Roman" pitchFamily="18" charset="0"/>
              </a:rPr>
              <a:t>个</a:t>
            </a:r>
            <a:r>
              <a:rPr lang="zh-CN" altLang="en-US" sz="2400" b="1" dirty="0">
                <a:latin typeface="宋体" pitchFamily="2" charset="-122"/>
                <a:ea typeface="宋体" pitchFamily="2" charset="-122"/>
              </a:rPr>
              <a:t>特征变为</a:t>
            </a:r>
            <a:r>
              <a:rPr lang="en-US" altLang="zh-CN" sz="2400" b="1" dirty="0">
                <a:latin typeface="Times New Roman" pitchFamily="18" charset="0"/>
                <a:ea typeface="宋体" pitchFamily="2" charset="-122"/>
                <a:cs typeface="Times New Roman" pitchFamily="18" charset="0"/>
              </a:rPr>
              <a:t>d</a:t>
            </a:r>
            <a:r>
              <a:rPr lang="zh-CN" altLang="en-US" sz="2400" b="1" dirty="0">
                <a:latin typeface="Times New Roman" pitchFamily="18" charset="0"/>
                <a:ea typeface="宋体" pitchFamily="2" charset="-122"/>
                <a:cs typeface="Times New Roman" pitchFamily="18" charset="0"/>
              </a:rPr>
              <a:t>个新</a:t>
            </a:r>
            <a:r>
              <a:rPr lang="zh-CN" altLang="en-US" sz="2400" b="1" dirty="0">
                <a:latin typeface="宋体" pitchFamily="2" charset="-122"/>
                <a:ea typeface="宋体" pitchFamily="2" charset="-122"/>
              </a:rPr>
              <a:t>特征</a:t>
            </a:r>
          </a:p>
          <a:p>
            <a:pPr marL="0" indent="0">
              <a:lnSpc>
                <a:spcPct val="150000"/>
              </a:lnSpc>
              <a:buNone/>
            </a:pPr>
            <a:endParaRPr lang="en-US" altLang="zh-CN" sz="2400" b="1" dirty="0">
              <a:latin typeface="宋体" pitchFamily="2" charset="-122"/>
              <a:ea typeface="宋体" pitchFamily="2" charset="-122"/>
            </a:endParaRPr>
          </a:p>
          <a:p>
            <a:pPr marL="0" indent="0">
              <a:lnSpc>
                <a:spcPct val="150000"/>
              </a:lnSpc>
              <a:buNone/>
            </a:pP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变换	    </a:t>
            </a:r>
          </a:p>
          <a:p>
            <a:pPr marL="0" indent="0">
              <a:lnSpc>
                <a:spcPct val="150000"/>
              </a:lnSpc>
              <a:buNone/>
            </a:pPr>
            <a:r>
              <a:rPr lang="zh-CN" altLang="en-US" sz="2400" b="1" dirty="0">
                <a:latin typeface="宋体" pitchFamily="2" charset="-122"/>
                <a:ea typeface="宋体" pitchFamily="2" charset="-122"/>
              </a:rPr>
              <a:t>	线性变换	         </a:t>
            </a:r>
            <a:r>
              <a:rPr lang="en-US" altLang="zh-CN" sz="2400" b="1" i="1" dirty="0">
                <a:latin typeface="Times New Roman" pitchFamily="18" charset="0"/>
                <a:ea typeface="宋体" pitchFamily="2" charset="-122"/>
                <a:cs typeface="Times New Roman" pitchFamily="18" charset="0"/>
              </a:rPr>
              <a:t>W</a:t>
            </a:r>
            <a:r>
              <a:rPr lang="en-US" altLang="zh-CN" sz="2400" b="1" dirty="0">
                <a:latin typeface="Times New Roman" pitchFamily="18" charset="0"/>
                <a:ea typeface="宋体" pitchFamily="2" charset="-122"/>
                <a:cs typeface="Times New Roman" pitchFamily="18" charset="0"/>
              </a:rPr>
              <a:t>: D × d </a:t>
            </a:r>
            <a:r>
              <a:rPr lang="zh-CN" altLang="en-US" sz="2400" b="1" dirty="0">
                <a:latin typeface="宋体" pitchFamily="2" charset="-122"/>
                <a:ea typeface="宋体" pitchFamily="2" charset="-122"/>
              </a:rPr>
              <a:t>维</a:t>
            </a:r>
          </a:p>
          <a:p>
            <a:pPr marL="0" indent="0">
              <a:lnSpc>
                <a:spcPct val="150000"/>
              </a:lnSpc>
              <a:buNone/>
            </a:pPr>
            <a:r>
              <a:rPr lang="en-US" altLang="zh-CN" sz="2400" b="1" dirty="0">
                <a:latin typeface="宋体" pitchFamily="2" charset="-122"/>
                <a:ea typeface="宋体" pitchFamily="2" charset="-122"/>
              </a:rPr>
              <a:t>         ---- </a:t>
            </a:r>
            <a:r>
              <a:rPr lang="zh-CN" altLang="en-US" sz="2400" b="1" dirty="0">
                <a:latin typeface="宋体" pitchFamily="2" charset="-122"/>
                <a:ea typeface="宋体" pitchFamily="2" charset="-122"/>
              </a:rPr>
              <a:t>通常</a:t>
            </a:r>
            <a:r>
              <a:rPr lang="zh-CN" altLang="en-US" sz="2400" b="1" dirty="0">
                <a:latin typeface="Times New Roman" pitchFamily="18" charset="0"/>
                <a:ea typeface="宋体" pitchFamily="2" charset="-122"/>
                <a:cs typeface="Times New Roman" pitchFamily="18" charset="0"/>
              </a:rPr>
              <a:t>，</a:t>
            </a:r>
            <a:r>
              <a:rPr lang="en-US" altLang="zh-CN" sz="2400" b="1" dirty="0">
                <a:latin typeface="Times New Roman" pitchFamily="18" charset="0"/>
                <a:ea typeface="宋体" pitchFamily="2" charset="-122"/>
                <a:cs typeface="Times New Roman" pitchFamily="18" charset="0"/>
              </a:rPr>
              <a:t>D&gt;d</a:t>
            </a:r>
            <a:r>
              <a:rPr lang="zh-CN" altLang="en-US" sz="2400" b="1" dirty="0">
                <a:latin typeface="宋体" pitchFamily="2" charset="-122"/>
                <a:ea typeface="宋体" pitchFamily="2" charset="-122"/>
              </a:rPr>
              <a:t>， “特征压缩”，“特征变换”</a:t>
            </a:r>
          </a:p>
          <a:p>
            <a:pPr>
              <a:lnSpc>
                <a:spcPct val="150000"/>
              </a:lnSpc>
              <a:buFont typeface="Wingdings" pitchFamily="2" charset="2"/>
              <a:buChar char="l"/>
            </a:pPr>
            <a:r>
              <a:rPr lang="zh-CN" altLang="en-US" sz="2400" b="1" dirty="0">
                <a:latin typeface="宋体" pitchFamily="2" charset="-122"/>
                <a:ea typeface="宋体" pitchFamily="2" charset="-122"/>
              </a:rPr>
              <a:t> 这里只讨论线性变换</a:t>
            </a:r>
          </a:p>
          <a:p>
            <a:pPr marL="0" indent="0">
              <a:lnSpc>
                <a:spcPct val="150000"/>
              </a:lnSpc>
              <a:buNone/>
            </a:pPr>
            <a:endParaRPr lang="zh-CN" altLang="en-US" sz="2400" b="1" dirty="0">
              <a:latin typeface="宋体" pitchFamily="2" charset="-122"/>
              <a:ea typeface="宋体" pitchFamily="2" charset="-122"/>
            </a:endParaRP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a:t>
            </a:fld>
            <a:endParaRPr lang="en-US" altLang="zh-CN" dirty="0"/>
          </a:p>
        </p:txBody>
      </p:sp>
      <p:sp>
        <p:nvSpPr>
          <p:cNvPr id="5" name="标题 1"/>
          <p:cNvSpPr>
            <a:spLocks noGrp="1"/>
          </p:cNvSpPr>
          <p:nvPr>
            <p:ph type="title"/>
          </p:nvPr>
        </p:nvSpPr>
        <p:spPr/>
        <p:txBody>
          <a:bodyPr/>
          <a:lstStyle/>
          <a:p>
            <a:r>
              <a:rPr lang="zh-CN" altLang="zh-CN" dirty="0"/>
              <a:t>引言</a:t>
            </a:r>
            <a:endParaRPr lang="zh-CN" altLang="en-US" dirty="0"/>
          </a:p>
        </p:txBody>
      </p:sp>
      <p:sp>
        <p:nvSpPr>
          <p:cNvPr id="2"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4031429420"/>
              </p:ext>
            </p:extLst>
          </p:nvPr>
        </p:nvGraphicFramePr>
        <p:xfrm>
          <a:off x="2617242" y="3052888"/>
          <a:ext cx="1606550" cy="482600"/>
        </p:xfrm>
        <a:graphic>
          <a:graphicData uri="http://schemas.openxmlformats.org/presentationml/2006/ole">
            <mc:AlternateContent xmlns:mc="http://schemas.openxmlformats.org/markup-compatibility/2006">
              <mc:Choice xmlns:v="urn:schemas-microsoft-com:vml" Requires="v">
                <p:oleObj spid="_x0000_s35233" name="Equation" r:id="rId4" imgW="647640" imgH="203040" progId="Equation.DSMT4">
                  <p:embed/>
                </p:oleObj>
              </mc:Choice>
              <mc:Fallback>
                <p:oleObj name="Equation" r:id="rId4" imgW="647640" imgH="203040" progId="Equation.DSMT4">
                  <p:embed/>
                  <p:pic>
                    <p:nvPicPr>
                      <p:cNvPr id="0" name="Picture 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7242" y="3052888"/>
                        <a:ext cx="160655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Text Box 5"/>
          <p:cNvSpPr txBox="1">
            <a:spLocks noChangeArrowheads="1"/>
          </p:cNvSpPr>
          <p:nvPr/>
        </p:nvSpPr>
        <p:spPr bwMode="auto">
          <a:xfrm>
            <a:off x="7608168" y="1685936"/>
            <a:ext cx="2664296" cy="1287462"/>
          </a:xfrm>
          <a:prstGeom prst="rect">
            <a:avLst/>
          </a:prstGeom>
          <a:solidFill>
            <a:srgbClr val="FFFFFF"/>
          </a:solidFill>
          <a:ln w="9525">
            <a:solidFill>
              <a:schemeClr val="tx2">
                <a:lumMod val="75000"/>
              </a:schemeClr>
            </a:solidFill>
            <a:miter lim="800000"/>
            <a:headEnd/>
            <a:tailEnd/>
          </a:ln>
        </p:spPr>
        <p:txBody>
          <a:bodyPr vert="horz" wrap="square" lIns="91440" tIns="45720" rIns="91440" bIns="45720" numCol="1" anchor="t" anchorCtr="0" compatLnSpc="1">
            <a:prstTxWarp prst="textNoShape">
              <a:avLst/>
            </a:prstTxWarp>
          </a:bodyPr>
          <a:lstStyle/>
          <a:p>
            <a:pPr algn="just"/>
            <a:r>
              <a:rPr lang="zh-CN" altLang="en-US" sz="2000" b="1" dirty="0">
                <a:latin typeface="宋体" pitchFamily="2" charset="-122"/>
                <a:ea typeface="宋体" pitchFamily="2" charset="-122"/>
                <a:cs typeface="宋体" pitchFamily="2" charset="-122"/>
              </a:rPr>
              <a:t>目的：更好分类</a:t>
            </a:r>
          </a:p>
          <a:p>
            <a:pPr lvl="1" algn="just"/>
            <a:r>
              <a:rPr lang="zh-CN" altLang="en-US" sz="2000" b="1" dirty="0">
                <a:latin typeface="宋体" pitchFamily="2" charset="-122"/>
                <a:ea typeface="宋体" pitchFamily="2" charset="-122"/>
                <a:cs typeface="宋体" pitchFamily="2" charset="-122"/>
              </a:rPr>
              <a:t>   和</a:t>
            </a:r>
            <a:r>
              <a:rPr lang="en-US" altLang="zh-CN" sz="2000" b="1" dirty="0">
                <a:latin typeface="宋体" pitchFamily="2" charset="-122"/>
                <a:ea typeface="宋体" pitchFamily="2" charset="-122"/>
                <a:cs typeface="宋体" pitchFamily="2" charset="-122"/>
              </a:rPr>
              <a:t>/</a:t>
            </a:r>
            <a:r>
              <a:rPr lang="zh-CN" altLang="en-US" sz="2000" b="1" dirty="0">
                <a:latin typeface="宋体" pitchFamily="2" charset="-122"/>
                <a:ea typeface="宋体" pitchFamily="2" charset="-122"/>
                <a:cs typeface="宋体" pitchFamily="2" charset="-122"/>
              </a:rPr>
              <a:t>或</a:t>
            </a:r>
          </a:p>
          <a:p>
            <a:pPr lvl="1" algn="just"/>
            <a:r>
              <a:rPr lang="zh-CN" altLang="en-US" sz="2000" b="1" dirty="0">
                <a:latin typeface="宋体" pitchFamily="2" charset="-122"/>
                <a:ea typeface="宋体" pitchFamily="2" charset="-122"/>
                <a:cs typeface="宋体" pitchFamily="2" charset="-122"/>
              </a:rPr>
              <a:t>   减少计算量</a:t>
            </a:r>
            <a:endParaRPr lang="zh-CN" altLang="en-US" sz="2400" b="1" dirty="0">
              <a:latin typeface="宋体" pitchFamily="2" charset="-122"/>
              <a:ea typeface="宋体" pitchFamily="2" charset="-122"/>
              <a:cs typeface="宋体" pitchFamily="2" charset="-122"/>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662456218"/>
              </p:ext>
            </p:extLst>
          </p:nvPr>
        </p:nvGraphicFramePr>
        <p:xfrm>
          <a:off x="2927648" y="3645024"/>
          <a:ext cx="1296144" cy="518458"/>
        </p:xfrm>
        <a:graphic>
          <a:graphicData uri="http://schemas.openxmlformats.org/presentationml/2006/ole">
            <mc:AlternateContent xmlns:mc="http://schemas.openxmlformats.org/markup-compatibility/2006">
              <mc:Choice xmlns:v="urn:schemas-microsoft-com:vml" Requires="v">
                <p:oleObj spid="_x0000_s35234" name="Equation" r:id="rId6" imgW="571320" imgH="228600" progId="Equation.DSMT4">
                  <p:embed/>
                </p:oleObj>
              </mc:Choice>
              <mc:Fallback>
                <p:oleObj name="Equation" r:id="rId6" imgW="571320" imgH="228600" progId="Equation.DSMT4">
                  <p:embed/>
                  <p:pic>
                    <p:nvPicPr>
                      <p:cNvPr id="0" name="Picture 5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7648" y="3645024"/>
                        <a:ext cx="1296144" cy="5184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38150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对象 25"/>
          <p:cNvGraphicFramePr>
            <a:graphicFrameLocks noChangeAspect="1"/>
          </p:cNvGraphicFramePr>
          <p:nvPr>
            <p:extLst>
              <p:ext uri="{D42A27DB-BD31-4B8C-83A1-F6EECF244321}">
                <p14:modId xmlns:p14="http://schemas.microsoft.com/office/powerpoint/2010/main" val="4126152873"/>
              </p:ext>
            </p:extLst>
          </p:nvPr>
        </p:nvGraphicFramePr>
        <p:xfrm>
          <a:off x="6953050" y="2858416"/>
          <a:ext cx="3323919" cy="2069230"/>
        </p:xfrm>
        <a:graphic>
          <a:graphicData uri="http://schemas.openxmlformats.org/presentationml/2006/ole">
            <mc:AlternateContent xmlns:mc="http://schemas.openxmlformats.org/markup-compatibility/2006">
              <mc:Choice xmlns:v="urn:schemas-microsoft-com:vml" Requires="v">
                <p:oleObj spid="_x0000_s350610" name="Equation" r:id="rId4" imgW="2489040" imgH="1549080" progId="Equation.DSMT4">
                  <p:embed/>
                </p:oleObj>
              </mc:Choice>
              <mc:Fallback>
                <p:oleObj name="Equation" r:id="rId4" imgW="2489040" imgH="1549080" progId="Equation.DSMT4">
                  <p:embed/>
                  <p:pic>
                    <p:nvPicPr>
                      <p:cNvPr id="0" name=""/>
                      <p:cNvPicPr>
                        <a:picLocks noChangeAspect="1" noChangeArrowheads="1"/>
                      </p:cNvPicPr>
                      <p:nvPr/>
                    </p:nvPicPr>
                    <p:blipFill>
                      <a:blip r:embed="rId5"/>
                      <a:srcRect/>
                      <a:stretch>
                        <a:fillRect/>
                      </a:stretch>
                    </p:blipFill>
                    <p:spPr bwMode="auto">
                      <a:xfrm>
                        <a:off x="6953050" y="2858416"/>
                        <a:ext cx="3323919" cy="2069230"/>
                      </a:xfrm>
                      <a:prstGeom prst="rect">
                        <a:avLst/>
                      </a:prstGeom>
                      <a:solidFill>
                        <a:schemeClr val="bg1"/>
                      </a:solidFill>
                    </p:spPr>
                  </p:pic>
                </p:oleObj>
              </mc:Fallback>
            </mc:AlternateContent>
          </a:graphicData>
        </a:graphic>
      </p:graphicFrame>
      <p:sp>
        <p:nvSpPr>
          <p:cNvPr id="52230" name="Rectangle 9"/>
          <p:cNvSpPr>
            <a:spLocks noChangeArrowheads="1"/>
          </p:cNvSpPr>
          <p:nvPr/>
        </p:nvSpPr>
        <p:spPr bwMode="auto">
          <a:xfrm>
            <a:off x="2238375" y="1340768"/>
            <a:ext cx="4701928" cy="400110"/>
          </a:xfrm>
          <a:prstGeom prst="rect">
            <a:avLst/>
          </a:prstGeom>
          <a:noFill/>
          <a:ln w="9525">
            <a:noFill/>
            <a:miter lim="800000"/>
            <a:headEnd/>
            <a:tailEnd/>
          </a:ln>
        </p:spPr>
        <p:txBody>
          <a:bodyPr wrap="none" anchor="ctr">
            <a:spAutoFit/>
          </a:bodyPr>
          <a:lstStyle/>
          <a:p>
            <a:r>
              <a:rPr lang="zh-CN" altLang="en-US" sz="2000" b="1" dirty="0">
                <a:latin typeface="宋体" panose="02010600030101010101" pitchFamily="2" charset="-122"/>
                <a:ea typeface="宋体" panose="02010600030101010101" pitchFamily="2" charset="-122"/>
              </a:rPr>
              <a:t> 降低特征空间维数，便于分类器设计；</a:t>
            </a:r>
          </a:p>
        </p:txBody>
      </p:sp>
      <p:sp>
        <p:nvSpPr>
          <p:cNvPr id="52231" name="Rectangle 10"/>
          <p:cNvSpPr>
            <a:spLocks noChangeArrowheads="1"/>
          </p:cNvSpPr>
          <p:nvPr/>
        </p:nvSpPr>
        <p:spPr bwMode="auto">
          <a:xfrm>
            <a:off x="2078118" y="1721271"/>
            <a:ext cx="7114226" cy="861774"/>
          </a:xfrm>
          <a:prstGeom prst="rect">
            <a:avLst/>
          </a:prstGeom>
          <a:noFill/>
          <a:ln w="9525">
            <a:noFill/>
            <a:miter lim="800000"/>
            <a:headEnd/>
            <a:tailEnd/>
          </a:ln>
        </p:spPr>
        <p:txBody>
          <a:bodyPr wrap="square" anchor="ctr">
            <a:spAutoFit/>
          </a:bodyPr>
          <a:lstStyle/>
          <a:p>
            <a:pPr>
              <a:lnSpc>
                <a:spcPct val="125000"/>
              </a:lnSpc>
            </a:pPr>
            <a:r>
              <a:rPr lang="zh-CN" altLang="en-US" sz="2000" b="1" dirty="0">
                <a:latin typeface="宋体" panose="02010600030101010101" pitchFamily="2" charset="-122"/>
                <a:ea typeface="宋体" panose="02010600030101010101" pitchFamily="2" charset="-122"/>
              </a:rPr>
              <a:t>  消除特征之间的相关性，减少特征中与分类无关的信息，保留类别间的鉴别信息，使新特征更有利于分类。 </a:t>
            </a:r>
          </a:p>
        </p:txBody>
      </p:sp>
      <p:sp>
        <p:nvSpPr>
          <p:cNvPr id="52232" name="Rectangle 11"/>
          <p:cNvSpPr>
            <a:spLocks noChangeArrowheads="1"/>
          </p:cNvSpPr>
          <p:nvPr/>
        </p:nvSpPr>
        <p:spPr bwMode="auto">
          <a:xfrm>
            <a:off x="1558876" y="933865"/>
            <a:ext cx="6215732" cy="400110"/>
          </a:xfrm>
          <a:prstGeom prst="rect">
            <a:avLst/>
          </a:prstGeom>
          <a:noFill/>
          <a:ln w="9525">
            <a:noFill/>
            <a:miter lim="800000"/>
            <a:headEnd/>
            <a:tailEnd/>
          </a:ln>
        </p:spPr>
        <p:txBody>
          <a:bodyPr wrap="square">
            <a:spAutoFit/>
          </a:bodyPr>
          <a:lstStyle/>
          <a:p>
            <a:pPr marL="342900" indent="-342900">
              <a:buFont typeface="Wingdings" panose="05000000000000000000" pitchFamily="2" charset="2"/>
              <a:buChar char="Ø"/>
            </a:pPr>
            <a:r>
              <a:rPr lang="zh-CN" altLang="en-US" sz="2000" b="1" dirty="0">
                <a:solidFill>
                  <a:srgbClr val="0000FF"/>
                </a:solidFill>
                <a:latin typeface="宋体" panose="02010600030101010101" pitchFamily="2" charset="-122"/>
                <a:ea typeface="宋体" panose="02010600030101010101" pitchFamily="2" charset="-122"/>
              </a:rPr>
              <a:t>特征提取的目的：</a:t>
            </a:r>
          </a:p>
        </p:txBody>
      </p:sp>
      <p:graphicFrame>
        <p:nvGraphicFramePr>
          <p:cNvPr id="15372" name="Object 2"/>
          <p:cNvGraphicFramePr>
            <a:graphicFrameLocks noChangeAspect="1"/>
          </p:cNvGraphicFramePr>
          <p:nvPr>
            <p:extLst>
              <p:ext uri="{D42A27DB-BD31-4B8C-83A1-F6EECF244321}">
                <p14:modId xmlns:p14="http://schemas.microsoft.com/office/powerpoint/2010/main" val="1470408246"/>
              </p:ext>
            </p:extLst>
          </p:nvPr>
        </p:nvGraphicFramePr>
        <p:xfrm>
          <a:off x="1542236" y="2894846"/>
          <a:ext cx="7002040" cy="958160"/>
        </p:xfrm>
        <a:graphic>
          <a:graphicData uri="http://schemas.openxmlformats.org/presentationml/2006/ole">
            <mc:AlternateContent xmlns:mc="http://schemas.openxmlformats.org/markup-compatibility/2006">
              <mc:Choice xmlns:v="urn:schemas-microsoft-com:vml" Requires="v">
                <p:oleObj spid="_x0000_s350611" name="Document" r:id="rId6" imgW="4242917" imgH="574581" progId="Word.Document.8">
                  <p:embed/>
                </p:oleObj>
              </mc:Choice>
              <mc:Fallback>
                <p:oleObj name="Document" r:id="rId6" imgW="4242917" imgH="574581" progId="Word.Document.8">
                  <p:embed/>
                  <p:pic>
                    <p:nvPicPr>
                      <p:cNvPr id="0" name="Object 2"/>
                      <p:cNvPicPr>
                        <a:picLocks noChangeAspect="1" noChangeArrowheads="1"/>
                      </p:cNvPicPr>
                      <p:nvPr/>
                    </p:nvPicPr>
                    <p:blipFill>
                      <a:blip r:embed="rId7"/>
                      <a:srcRect/>
                      <a:stretch>
                        <a:fillRect/>
                      </a:stretch>
                    </p:blipFill>
                    <p:spPr bwMode="auto">
                      <a:xfrm>
                        <a:off x="1542236" y="2894846"/>
                        <a:ext cx="7002040" cy="958160"/>
                      </a:xfrm>
                      <a:prstGeom prst="rect">
                        <a:avLst/>
                      </a:prstGeom>
                      <a:noFill/>
                      <a:ln>
                        <a:noFill/>
                      </a:ln>
                      <a:effectLst/>
                    </p:spPr>
                  </p:pic>
                </p:oleObj>
              </mc:Fallback>
            </mc:AlternateContent>
          </a:graphicData>
        </a:graphic>
      </p:graphicFrame>
      <p:sp>
        <p:nvSpPr>
          <p:cNvPr id="15375" name="Text Box 15"/>
          <p:cNvSpPr txBox="1">
            <a:spLocks noChangeArrowheads="1"/>
          </p:cNvSpPr>
          <p:nvPr/>
        </p:nvSpPr>
        <p:spPr bwMode="auto">
          <a:xfrm>
            <a:off x="1542237" y="2500104"/>
            <a:ext cx="3375025" cy="400110"/>
          </a:xfrm>
          <a:prstGeom prst="rect">
            <a:avLst/>
          </a:prstGeom>
          <a:noFill/>
          <a:ln w="9525">
            <a:noFill/>
            <a:miter lim="800000"/>
            <a:headEnd/>
            <a:tailEnd/>
          </a:ln>
        </p:spPr>
        <p:txBody>
          <a:bodyPr>
            <a:spAutoFit/>
          </a:bodyPr>
          <a:lstStyle/>
          <a:p>
            <a:pPr marL="342900" indent="-342900">
              <a:spcBef>
                <a:spcPct val="50000"/>
              </a:spcBef>
              <a:buFont typeface="Wingdings" panose="05000000000000000000" pitchFamily="2" charset="2"/>
              <a:buChar char="Ø"/>
            </a:pPr>
            <a:r>
              <a:rPr lang="zh-CN" altLang="en-US" sz="2000" b="1" dirty="0">
                <a:solidFill>
                  <a:srgbClr val="0000FF"/>
                </a:solidFill>
                <a:latin typeface="宋体" panose="02010600030101010101" pitchFamily="2" charset="-122"/>
                <a:ea typeface="宋体" panose="02010600030101010101" pitchFamily="2" charset="-122"/>
              </a:rPr>
              <a:t>特征提取操作方法：</a:t>
            </a:r>
          </a:p>
        </p:txBody>
      </p:sp>
      <p:sp>
        <p:nvSpPr>
          <p:cNvPr id="15390" name="Rectangle 30"/>
          <p:cNvSpPr>
            <a:spLocks noChangeArrowheads="1"/>
          </p:cNvSpPr>
          <p:nvPr/>
        </p:nvSpPr>
        <p:spPr bwMode="auto">
          <a:xfrm>
            <a:off x="891767" y="5996373"/>
            <a:ext cx="10356949" cy="477054"/>
          </a:xfrm>
          <a:prstGeom prst="rect">
            <a:avLst/>
          </a:prstGeom>
          <a:solidFill>
            <a:schemeClr val="bg1"/>
          </a:solidFill>
          <a:ln w="9525">
            <a:noFill/>
            <a:miter lim="800000"/>
            <a:headEnd/>
            <a:tailEnd/>
          </a:ln>
        </p:spPr>
        <p:txBody>
          <a:bodyPr wrap="square" anchor="ctr">
            <a:spAutoFit/>
          </a:bodyPr>
          <a:lstStyle/>
          <a:p>
            <a:pPr>
              <a:lnSpc>
                <a:spcPct val="125000"/>
              </a:lnSpc>
            </a:pPr>
            <a:r>
              <a:rPr lang="zh-CN" altLang="en-US" sz="2000" b="1" dirty="0">
                <a:solidFill>
                  <a:srgbClr val="993300"/>
                </a:solidFill>
                <a:latin typeface="宋体" panose="02010600030101010101" pitchFamily="2" charset="-122"/>
                <a:ea typeface="宋体" panose="02010600030101010101" pitchFamily="2" charset="-122"/>
              </a:rPr>
              <a:t>注意：维数降低后，在新的</a:t>
            </a:r>
            <a:r>
              <a:rPr lang="en-US" altLang="zh-CN" sz="2000" b="1" i="1" dirty="0">
                <a:solidFill>
                  <a:srgbClr val="993300"/>
                </a:solidFill>
                <a:latin typeface="宋体" panose="02010600030101010101" pitchFamily="2" charset="-122"/>
                <a:ea typeface="宋体" panose="02010600030101010101" pitchFamily="2" charset="-122"/>
              </a:rPr>
              <a:t>d</a:t>
            </a:r>
            <a:r>
              <a:rPr lang="zh-CN" altLang="en-US" sz="2000" b="1" dirty="0">
                <a:solidFill>
                  <a:srgbClr val="993300"/>
                </a:solidFill>
                <a:latin typeface="宋体" panose="02010600030101010101" pitchFamily="2" charset="-122"/>
                <a:ea typeface="宋体" panose="02010600030101010101" pitchFamily="2" charset="-122"/>
              </a:rPr>
              <a:t>维空间里各模式类之间的分布规律应至少保持不变或更优化。</a:t>
            </a:r>
          </a:p>
        </p:txBody>
      </p:sp>
      <p:grpSp>
        <p:nvGrpSpPr>
          <p:cNvPr id="3" name="组合 2"/>
          <p:cNvGrpSpPr/>
          <p:nvPr/>
        </p:nvGrpSpPr>
        <p:grpSpPr>
          <a:xfrm>
            <a:off x="1643708" y="4154736"/>
            <a:ext cx="7123261" cy="1780784"/>
            <a:chOff x="473075" y="3868516"/>
            <a:chExt cx="7537450" cy="2022704"/>
          </a:xfrm>
        </p:grpSpPr>
        <p:grpSp>
          <p:nvGrpSpPr>
            <p:cNvPr id="2" name="Group 33"/>
            <p:cNvGrpSpPr>
              <a:grpSpLocks/>
            </p:cNvGrpSpPr>
            <p:nvPr/>
          </p:nvGrpSpPr>
          <p:grpSpPr bwMode="auto">
            <a:xfrm>
              <a:off x="2600325" y="5043494"/>
              <a:ext cx="5291138" cy="847726"/>
              <a:chOff x="1638" y="2925"/>
              <a:chExt cx="3333" cy="534"/>
            </a:xfrm>
          </p:grpSpPr>
          <p:sp>
            <p:nvSpPr>
              <p:cNvPr id="52243" name="Text Box 21"/>
              <p:cNvSpPr txBox="1">
                <a:spLocks noChangeArrowheads="1"/>
              </p:cNvSpPr>
              <p:nvPr/>
            </p:nvSpPr>
            <p:spPr bwMode="auto">
              <a:xfrm>
                <a:off x="1638" y="3176"/>
                <a:ext cx="2468" cy="264"/>
              </a:xfrm>
              <a:prstGeom prst="rect">
                <a:avLst/>
              </a:prstGeom>
              <a:noFill/>
              <a:ln w="9525">
                <a:noFill/>
                <a:miter lim="800000"/>
                <a:headEnd/>
                <a:tailEnd/>
              </a:ln>
            </p:spPr>
            <p:txBody>
              <a:bodyPr>
                <a:spAutoFit/>
              </a:bodyPr>
              <a:lstStyle/>
              <a:p>
                <a:pPr>
                  <a:spcBef>
                    <a:spcPct val="50000"/>
                  </a:spcBef>
                </a:pPr>
                <a:r>
                  <a:rPr lang="en-US" altLang="zh-CN" b="1" i="1" dirty="0"/>
                  <a:t>   d</a:t>
                </a:r>
                <a:r>
                  <a:rPr lang="en-US" altLang="zh-CN" b="1" dirty="0"/>
                  <a:t>×1                </a:t>
                </a:r>
                <a:r>
                  <a:rPr lang="en-US" altLang="zh-CN" b="1" i="1" dirty="0" err="1"/>
                  <a:t>d</a:t>
                </a:r>
                <a:r>
                  <a:rPr lang="en-US" altLang="zh-CN" b="1" dirty="0" err="1"/>
                  <a:t>×</a:t>
                </a:r>
                <a:r>
                  <a:rPr lang="en-US" altLang="zh-CN" b="1" i="1" dirty="0" err="1"/>
                  <a:t>D</a:t>
                </a:r>
                <a:r>
                  <a:rPr lang="en-US" altLang="zh-CN" b="1" i="1" dirty="0"/>
                  <a:t>         D</a:t>
                </a:r>
                <a:r>
                  <a:rPr lang="en-US" altLang="zh-CN" b="1" dirty="0"/>
                  <a:t>×1 </a:t>
                </a:r>
              </a:p>
            </p:txBody>
          </p:sp>
          <p:sp>
            <p:nvSpPr>
              <p:cNvPr id="52244" name="Line 26"/>
              <p:cNvSpPr>
                <a:spLocks noChangeShapeType="1"/>
              </p:cNvSpPr>
              <p:nvPr/>
            </p:nvSpPr>
            <p:spPr bwMode="auto">
              <a:xfrm flipH="1" flipV="1">
                <a:off x="2795" y="2954"/>
                <a:ext cx="50" cy="250"/>
              </a:xfrm>
              <a:prstGeom prst="line">
                <a:avLst/>
              </a:prstGeom>
              <a:noFill/>
              <a:ln w="12700">
                <a:solidFill>
                  <a:srgbClr val="000000"/>
                </a:solidFill>
                <a:round/>
                <a:headEnd/>
                <a:tailEnd/>
              </a:ln>
            </p:spPr>
            <p:txBody>
              <a:bodyPr/>
              <a:lstStyle/>
              <a:p>
                <a:endParaRPr lang="zh-CN" altLang="en-US" b="1"/>
              </a:p>
            </p:txBody>
          </p:sp>
          <p:sp>
            <p:nvSpPr>
              <p:cNvPr id="52245" name="Line 27"/>
              <p:cNvSpPr>
                <a:spLocks noChangeShapeType="1"/>
              </p:cNvSpPr>
              <p:nvPr/>
            </p:nvSpPr>
            <p:spPr bwMode="auto">
              <a:xfrm flipH="1" flipV="1">
                <a:off x="3022" y="2925"/>
                <a:ext cx="453" cy="251"/>
              </a:xfrm>
              <a:prstGeom prst="line">
                <a:avLst/>
              </a:prstGeom>
              <a:noFill/>
              <a:ln w="12700">
                <a:solidFill>
                  <a:srgbClr val="000000"/>
                </a:solidFill>
                <a:round/>
                <a:headEnd/>
                <a:tailEnd/>
              </a:ln>
            </p:spPr>
            <p:txBody>
              <a:bodyPr/>
              <a:lstStyle/>
              <a:p>
                <a:endParaRPr lang="zh-CN" altLang="en-US" b="1"/>
              </a:p>
            </p:txBody>
          </p:sp>
          <p:sp>
            <p:nvSpPr>
              <p:cNvPr id="52246" name="Line 28"/>
              <p:cNvSpPr>
                <a:spLocks noChangeShapeType="1"/>
              </p:cNvSpPr>
              <p:nvPr/>
            </p:nvSpPr>
            <p:spPr bwMode="auto">
              <a:xfrm flipV="1">
                <a:off x="1940" y="2954"/>
                <a:ext cx="373" cy="279"/>
              </a:xfrm>
              <a:prstGeom prst="line">
                <a:avLst/>
              </a:prstGeom>
              <a:noFill/>
              <a:ln w="12700">
                <a:solidFill>
                  <a:srgbClr val="000000"/>
                </a:solidFill>
                <a:round/>
                <a:headEnd/>
                <a:tailEnd/>
              </a:ln>
            </p:spPr>
            <p:txBody>
              <a:bodyPr/>
              <a:lstStyle/>
              <a:p>
                <a:endParaRPr lang="zh-CN" altLang="en-US" b="1"/>
              </a:p>
            </p:txBody>
          </p:sp>
          <p:sp>
            <p:nvSpPr>
              <p:cNvPr id="52247" name="Rectangle 29"/>
              <p:cNvSpPr>
                <a:spLocks noChangeArrowheads="1"/>
              </p:cNvSpPr>
              <p:nvPr/>
            </p:nvSpPr>
            <p:spPr bwMode="auto">
              <a:xfrm>
                <a:off x="4365" y="3195"/>
                <a:ext cx="606" cy="264"/>
              </a:xfrm>
              <a:prstGeom prst="rect">
                <a:avLst/>
              </a:prstGeom>
              <a:noFill/>
              <a:ln w="9525">
                <a:noFill/>
                <a:miter lim="800000"/>
                <a:headEnd/>
                <a:tailEnd/>
              </a:ln>
            </p:spPr>
            <p:txBody>
              <a:bodyPr wrap="none">
                <a:spAutoFit/>
              </a:bodyPr>
              <a:lstStyle/>
              <a:p>
                <a:r>
                  <a:rPr lang="en-US" altLang="zh-CN" b="1" dirty="0"/>
                  <a:t>(</a:t>
                </a:r>
                <a:r>
                  <a:rPr lang="en-US" altLang="zh-CN" b="1" i="1" dirty="0"/>
                  <a:t>d </a:t>
                </a:r>
                <a:r>
                  <a:rPr lang="en-US" altLang="zh-CN" b="1" dirty="0"/>
                  <a:t>&lt; D)</a:t>
                </a:r>
              </a:p>
            </p:txBody>
          </p:sp>
        </p:grpSp>
        <p:graphicFrame>
          <p:nvGraphicFramePr>
            <p:cNvPr id="41987" name="Object 5"/>
            <p:cNvGraphicFramePr>
              <a:graphicFrameLocks noChangeAspect="1"/>
            </p:cNvGraphicFramePr>
            <p:nvPr>
              <p:extLst>
                <p:ext uri="{D42A27DB-BD31-4B8C-83A1-F6EECF244321}">
                  <p14:modId xmlns:p14="http://schemas.microsoft.com/office/powerpoint/2010/main" val="2788260514"/>
                </p:ext>
              </p:extLst>
            </p:nvPr>
          </p:nvGraphicFramePr>
          <p:xfrm>
            <a:off x="3432175" y="4527550"/>
            <a:ext cx="1558925" cy="533400"/>
          </p:xfrm>
          <a:graphic>
            <a:graphicData uri="http://schemas.openxmlformats.org/presentationml/2006/ole">
              <mc:AlternateContent xmlns:mc="http://schemas.openxmlformats.org/markup-compatibility/2006">
                <mc:Choice xmlns:v="urn:schemas-microsoft-com:vml" Requires="v">
                  <p:oleObj spid="_x0000_s350612" name="Equation" r:id="rId8" imgW="634680" imgH="215640" progId="Equation.DSMT4">
                    <p:embed/>
                  </p:oleObj>
                </mc:Choice>
                <mc:Fallback>
                  <p:oleObj name="Equation" r:id="rId8" imgW="634680" imgH="21564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32175" y="4527550"/>
                          <a:ext cx="1558925"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988" name="Object 3"/>
            <p:cNvGraphicFramePr>
              <a:graphicFrameLocks noChangeAspect="1"/>
            </p:cNvGraphicFramePr>
            <p:nvPr>
              <p:extLst>
                <p:ext uri="{D42A27DB-BD31-4B8C-83A1-F6EECF244321}">
                  <p14:modId xmlns:p14="http://schemas.microsoft.com/office/powerpoint/2010/main" val="3690890782"/>
                </p:ext>
              </p:extLst>
            </p:nvPr>
          </p:nvGraphicFramePr>
          <p:xfrm>
            <a:off x="473075" y="4543425"/>
            <a:ext cx="2332038" cy="512763"/>
          </p:xfrm>
          <a:graphic>
            <a:graphicData uri="http://schemas.openxmlformats.org/presentationml/2006/ole">
              <mc:AlternateContent xmlns:mc="http://schemas.openxmlformats.org/markup-compatibility/2006">
                <mc:Choice xmlns:v="urn:schemas-microsoft-com:vml" Requires="v">
                  <p:oleObj spid="_x0000_s350613" name="Equation" r:id="rId10" imgW="1155600" imgH="253800" progId="Equation.DSMT4">
                    <p:embed/>
                  </p:oleObj>
                </mc:Choice>
                <mc:Fallback>
                  <p:oleObj name="Equation" r:id="rId10" imgW="1155600" imgH="253800" progId="Equation.DSMT4">
                    <p:embed/>
                    <p:pic>
                      <p:nvPicPr>
                        <p:cNvPr id="0" name="Object 3"/>
                        <p:cNvPicPr>
                          <a:picLocks noChangeAspect="1" noChangeArrowheads="1"/>
                        </p:cNvPicPr>
                        <p:nvPr/>
                      </p:nvPicPr>
                      <p:blipFill>
                        <a:blip r:embed="rId11"/>
                        <a:srcRect/>
                        <a:stretch>
                          <a:fillRect/>
                        </a:stretch>
                      </p:blipFill>
                      <p:spPr bwMode="auto">
                        <a:xfrm>
                          <a:off x="473075" y="4543425"/>
                          <a:ext cx="2332038" cy="512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989" name="Object 5"/>
            <p:cNvGraphicFramePr>
              <a:graphicFrameLocks noChangeAspect="1"/>
            </p:cNvGraphicFramePr>
            <p:nvPr>
              <p:extLst>
                <p:ext uri="{D42A27DB-BD31-4B8C-83A1-F6EECF244321}">
                  <p14:modId xmlns:p14="http://schemas.microsoft.com/office/powerpoint/2010/main" val="2232577975"/>
                </p:ext>
              </p:extLst>
            </p:nvPr>
          </p:nvGraphicFramePr>
          <p:xfrm>
            <a:off x="5618163" y="4608513"/>
            <a:ext cx="2392362" cy="506412"/>
          </p:xfrm>
          <a:graphic>
            <a:graphicData uri="http://schemas.openxmlformats.org/presentationml/2006/ole">
              <mc:AlternateContent xmlns:mc="http://schemas.openxmlformats.org/markup-compatibility/2006">
                <mc:Choice xmlns:v="urn:schemas-microsoft-com:vml" Requires="v">
                  <p:oleObj spid="_x0000_s350614" name="Equation" r:id="rId12" imgW="1193760" imgH="253800" progId="Equation.DSMT4">
                    <p:embed/>
                  </p:oleObj>
                </mc:Choice>
                <mc:Fallback>
                  <p:oleObj name="Equation" r:id="rId12" imgW="1193760" imgH="253800" progId="Equation.DSMT4">
                    <p:embed/>
                    <p:pic>
                      <p:nvPicPr>
                        <p:cNvPr id="0" name="Picture 5"/>
                        <p:cNvPicPr>
                          <a:picLocks noChangeAspect="1" noChangeArrowheads="1"/>
                        </p:cNvPicPr>
                        <p:nvPr/>
                      </p:nvPicPr>
                      <p:blipFill>
                        <a:blip r:embed="rId13"/>
                        <a:srcRect/>
                        <a:stretch>
                          <a:fillRect/>
                        </a:stretch>
                      </p:blipFill>
                      <p:spPr bwMode="auto">
                        <a:xfrm>
                          <a:off x="5618163" y="4608513"/>
                          <a:ext cx="2392362" cy="506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97" name="下箭头 19"/>
            <p:cNvSpPr>
              <a:spLocks noChangeArrowheads="1"/>
            </p:cNvSpPr>
            <p:nvPr/>
          </p:nvSpPr>
          <p:spPr bwMode="auto">
            <a:xfrm rot="16200000">
              <a:off x="2909888" y="4633912"/>
              <a:ext cx="484188" cy="303213"/>
            </a:xfrm>
            <a:prstGeom prst="downArrow">
              <a:avLst>
                <a:gd name="adj1" fmla="val 50000"/>
                <a:gd name="adj2" fmla="val 50000"/>
              </a:avLst>
            </a:prstGeom>
            <a:solidFill>
              <a:schemeClr val="accent1"/>
            </a:solidFill>
            <a:ln w="12700" cap="sq" algn="ctr">
              <a:solidFill>
                <a:schemeClr val="tx1"/>
              </a:solidFill>
              <a:round/>
              <a:headEnd type="none" w="sm" len="sm"/>
              <a:tailEnd type="none" w="sm" len="sm"/>
            </a:ln>
          </p:spPr>
          <p:txBody>
            <a:bodyPr wrap="none"/>
            <a:lstStyle/>
            <a:p>
              <a:endParaRPr lang="zh-CN" altLang="en-US" b="1"/>
            </a:p>
          </p:txBody>
        </p:sp>
        <p:sp>
          <p:nvSpPr>
            <p:cNvPr id="41998" name="右箭头 20"/>
            <p:cNvSpPr>
              <a:spLocks noChangeArrowheads="1"/>
            </p:cNvSpPr>
            <p:nvPr/>
          </p:nvSpPr>
          <p:spPr bwMode="auto">
            <a:xfrm rot="10800000">
              <a:off x="5143500" y="4543425"/>
              <a:ext cx="357188" cy="484188"/>
            </a:xfrm>
            <a:prstGeom prst="rightArrow">
              <a:avLst>
                <a:gd name="adj1" fmla="val 50000"/>
                <a:gd name="adj2" fmla="val 50000"/>
              </a:avLst>
            </a:prstGeom>
            <a:solidFill>
              <a:schemeClr val="accent1"/>
            </a:solidFill>
            <a:ln w="12700" cap="sq" algn="ctr">
              <a:solidFill>
                <a:schemeClr val="tx1"/>
              </a:solidFill>
              <a:round/>
              <a:headEnd type="none" w="sm" len="sm"/>
              <a:tailEnd type="none" w="sm" len="sm"/>
            </a:ln>
          </p:spPr>
          <p:txBody>
            <a:bodyPr wrap="none"/>
            <a:lstStyle/>
            <a:p>
              <a:endParaRPr lang="zh-CN" altLang="en-US" b="1"/>
            </a:p>
          </p:txBody>
        </p:sp>
        <p:sp>
          <p:nvSpPr>
            <p:cNvPr id="41999" name="矩形 21"/>
            <p:cNvSpPr>
              <a:spLocks noChangeArrowheads="1"/>
            </p:cNvSpPr>
            <p:nvPr/>
          </p:nvSpPr>
          <p:spPr bwMode="auto">
            <a:xfrm>
              <a:off x="6000750" y="5114925"/>
              <a:ext cx="1179206" cy="419506"/>
            </a:xfrm>
            <a:prstGeom prst="rect">
              <a:avLst/>
            </a:prstGeom>
            <a:noFill/>
            <a:ln w="9525">
              <a:noFill/>
              <a:miter lim="800000"/>
              <a:headEnd/>
              <a:tailEnd/>
            </a:ln>
          </p:spPr>
          <p:txBody>
            <a:bodyPr wrap="none">
              <a:spAutoFit/>
            </a:bodyPr>
            <a:lstStyle/>
            <a:p>
              <a:r>
                <a:rPr kumimoji="1" lang="zh-CN" altLang="en-US" b="1">
                  <a:ea typeface="楷体_GB2312" pitchFamily="49" charset="-122"/>
                </a:rPr>
                <a:t>原始特征</a:t>
              </a:r>
              <a:endParaRPr lang="zh-CN" altLang="en-US" b="1"/>
            </a:p>
          </p:txBody>
        </p:sp>
        <p:sp>
          <p:nvSpPr>
            <p:cNvPr id="42000" name="矩形 22"/>
            <p:cNvSpPr>
              <a:spLocks noChangeArrowheads="1"/>
            </p:cNvSpPr>
            <p:nvPr/>
          </p:nvSpPr>
          <p:spPr bwMode="auto">
            <a:xfrm>
              <a:off x="857250" y="5043488"/>
              <a:ext cx="1179206" cy="419506"/>
            </a:xfrm>
            <a:prstGeom prst="rect">
              <a:avLst/>
            </a:prstGeom>
            <a:noFill/>
            <a:ln w="9525">
              <a:noFill/>
              <a:miter lim="800000"/>
              <a:headEnd/>
              <a:tailEnd/>
            </a:ln>
          </p:spPr>
          <p:txBody>
            <a:bodyPr wrap="none">
              <a:spAutoFit/>
            </a:bodyPr>
            <a:lstStyle/>
            <a:p>
              <a:r>
                <a:rPr kumimoji="1" lang="zh-CN" altLang="en-US" b="1">
                  <a:ea typeface="楷体_GB2312" pitchFamily="49" charset="-122"/>
                </a:rPr>
                <a:t>二次特征</a:t>
              </a:r>
              <a:endParaRPr lang="zh-CN" altLang="en-US" b="1">
                <a:ea typeface="楷体_GB2312" pitchFamily="49" charset="-122"/>
              </a:endParaRPr>
            </a:p>
          </p:txBody>
        </p:sp>
        <p:sp>
          <p:nvSpPr>
            <p:cNvPr id="42001" name="Text Box 7"/>
            <p:cNvSpPr txBox="1">
              <a:spLocks noChangeArrowheads="1"/>
            </p:cNvSpPr>
            <p:nvPr/>
          </p:nvSpPr>
          <p:spPr bwMode="auto">
            <a:xfrm>
              <a:off x="1678727" y="3868516"/>
              <a:ext cx="4715041" cy="454465"/>
            </a:xfrm>
            <a:prstGeom prst="rect">
              <a:avLst/>
            </a:prstGeom>
            <a:noFill/>
            <a:ln w="9525">
              <a:noFill/>
              <a:miter lim="800000"/>
              <a:headEnd/>
              <a:tailEnd/>
            </a:ln>
          </p:spPr>
          <p:txBody>
            <a:bodyPr wrap="square">
              <a:spAutoFit/>
            </a:bodyPr>
            <a:lstStyle/>
            <a:p>
              <a:pPr algn="ctr"/>
              <a:r>
                <a:rPr kumimoji="1" lang="zh-CN" altLang="en-US" sz="2000" b="1" dirty="0">
                  <a:ea typeface="楷体_GB2312" pitchFamily="49" charset="-122"/>
                </a:rPr>
                <a:t>特征提取变换矩阵</a:t>
              </a:r>
              <a:endParaRPr lang="zh-CN" altLang="en-US" sz="2000" b="1" dirty="0">
                <a:ea typeface="楷体_GB2312" pitchFamily="49" charset="-122"/>
              </a:endParaRPr>
            </a:p>
          </p:txBody>
        </p:sp>
        <p:sp>
          <p:nvSpPr>
            <p:cNvPr id="42002" name="下箭头 23"/>
            <p:cNvSpPr>
              <a:spLocks noChangeArrowheads="1"/>
            </p:cNvSpPr>
            <p:nvPr/>
          </p:nvSpPr>
          <p:spPr bwMode="auto">
            <a:xfrm>
              <a:off x="4000500" y="4286250"/>
              <a:ext cx="484188" cy="285750"/>
            </a:xfrm>
            <a:prstGeom prst="downArrow">
              <a:avLst>
                <a:gd name="adj1" fmla="val 50000"/>
                <a:gd name="adj2" fmla="val 50000"/>
              </a:avLst>
            </a:prstGeom>
            <a:solidFill>
              <a:schemeClr val="accent1"/>
            </a:solidFill>
            <a:ln w="12700" cap="sq" algn="ctr">
              <a:solidFill>
                <a:schemeClr val="tx1"/>
              </a:solidFill>
              <a:round/>
              <a:headEnd type="none" w="sm" len="sm"/>
              <a:tailEnd type="none" w="sm" len="sm"/>
            </a:ln>
          </p:spPr>
          <p:txBody>
            <a:bodyPr wrap="none"/>
            <a:lstStyle/>
            <a:p>
              <a:endParaRPr lang="zh-CN" altLang="en-US" b="1"/>
            </a:p>
          </p:txBody>
        </p:sp>
      </p:grpSp>
      <p:sp>
        <p:nvSpPr>
          <p:cNvPr id="27" name="标题 1"/>
          <p:cNvSpPr>
            <a:spLocks noGrp="1"/>
          </p:cNvSpPr>
          <p:nvPr>
            <p:ph type="title"/>
          </p:nvPr>
        </p:nvSpPr>
        <p:spPr>
          <a:xfrm>
            <a:off x="1828800" y="152401"/>
            <a:ext cx="7507560" cy="563563"/>
          </a:xfrm>
        </p:spPr>
        <p:txBody>
          <a:bodyPr/>
          <a:lstStyle/>
          <a:p>
            <a:r>
              <a:rPr lang="en-US" altLang="zh-CN" sz="2800" dirty="0"/>
              <a:t>17.1 </a:t>
            </a:r>
            <a:r>
              <a:rPr lang="zh-CN" altLang="en-US" sz="2800" dirty="0"/>
              <a:t>基于类别可分离性判据的特征提取</a:t>
            </a:r>
          </a:p>
        </p:txBody>
      </p:sp>
      <p:sp>
        <p:nvSpPr>
          <p:cNvPr id="24" name="灯片编号占位符 23"/>
          <p:cNvSpPr>
            <a:spLocks noGrp="1"/>
          </p:cNvSpPr>
          <p:nvPr>
            <p:ph type="sldNum" sz="quarter" idx="11"/>
          </p:nvPr>
        </p:nvSpPr>
        <p:spPr/>
        <p:txBody>
          <a:bodyPr/>
          <a:lstStyle/>
          <a:p>
            <a:pPr>
              <a:defRPr/>
            </a:pPr>
            <a:fld id="{31E287EE-1289-4991-82CE-EFE584F53F4F}" type="slidenum">
              <a:rPr lang="en-US" altLang="zh-CN" smtClean="0"/>
              <a:pPr>
                <a:defRPr/>
              </a:pPr>
              <a:t>4</a:t>
            </a:fld>
            <a:endParaRPr lang="en-US" altLang="zh-CN" dirty="0"/>
          </a:p>
        </p:txBody>
      </p:sp>
      <p:graphicFrame>
        <p:nvGraphicFramePr>
          <p:cNvPr id="28" name="Object 5"/>
          <p:cNvGraphicFramePr>
            <a:graphicFrameLocks noChangeAspect="1"/>
          </p:cNvGraphicFramePr>
          <p:nvPr>
            <p:extLst>
              <p:ext uri="{D42A27DB-BD31-4B8C-83A1-F6EECF244321}">
                <p14:modId xmlns:p14="http://schemas.microsoft.com/office/powerpoint/2010/main" val="133382578"/>
              </p:ext>
            </p:extLst>
          </p:nvPr>
        </p:nvGraphicFramePr>
        <p:xfrm>
          <a:off x="8632130" y="3562093"/>
          <a:ext cx="500533" cy="425387"/>
        </p:xfrm>
        <a:graphic>
          <a:graphicData uri="http://schemas.openxmlformats.org/presentationml/2006/ole">
            <mc:AlternateContent xmlns:mc="http://schemas.openxmlformats.org/markup-compatibility/2006">
              <mc:Choice xmlns:v="urn:schemas-microsoft-com:vml" Requires="v">
                <p:oleObj spid="_x0000_s350615" name="Equation" r:id="rId14" imgW="241195" imgH="203112" progId="Equation.DSMT4">
                  <p:embed/>
                </p:oleObj>
              </mc:Choice>
              <mc:Fallback>
                <p:oleObj name="Equation" r:id="rId14" imgW="241195" imgH="203112"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632130" y="3562093"/>
                        <a:ext cx="500533" cy="425387"/>
                      </a:xfrm>
                      <a:prstGeom prst="rect">
                        <a:avLst/>
                      </a:prstGeom>
                      <a:noFill/>
                    </p:spPr>
                  </p:pic>
                </p:oleObj>
              </mc:Fallback>
            </mc:AlternateContent>
          </a:graphicData>
        </a:graphic>
      </p:graphicFrame>
      <p:graphicFrame>
        <p:nvGraphicFramePr>
          <p:cNvPr id="29" name="Object 5"/>
          <p:cNvGraphicFramePr>
            <a:graphicFrameLocks noChangeAspect="1"/>
          </p:cNvGraphicFramePr>
          <p:nvPr>
            <p:extLst>
              <p:ext uri="{D42A27DB-BD31-4B8C-83A1-F6EECF244321}">
                <p14:modId xmlns:p14="http://schemas.microsoft.com/office/powerpoint/2010/main" val="3862048760"/>
              </p:ext>
            </p:extLst>
          </p:nvPr>
        </p:nvGraphicFramePr>
        <p:xfrm>
          <a:off x="9645287" y="3524492"/>
          <a:ext cx="369026" cy="424045"/>
        </p:xfrm>
        <a:graphic>
          <a:graphicData uri="http://schemas.openxmlformats.org/presentationml/2006/ole">
            <mc:AlternateContent xmlns:mc="http://schemas.openxmlformats.org/markup-compatibility/2006">
              <mc:Choice xmlns:v="urn:schemas-microsoft-com:vml" Requires="v">
                <p:oleObj spid="_x0000_s350616" name="Equation" r:id="rId16" imgW="177569" imgH="202936" progId="Equation.DSMT4">
                  <p:embed/>
                </p:oleObj>
              </mc:Choice>
              <mc:Fallback>
                <p:oleObj name="Equation" r:id="rId16" imgW="177569" imgH="202936"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645287" y="3524492"/>
                        <a:ext cx="369026" cy="424045"/>
                      </a:xfrm>
                      <a:prstGeom prst="rect">
                        <a:avLst/>
                      </a:prstGeom>
                      <a:noFill/>
                    </p:spPr>
                  </p:pic>
                </p:oleObj>
              </mc:Fallback>
            </mc:AlternateContent>
          </a:graphicData>
        </a:graphic>
      </p:graphicFrame>
      <p:graphicFrame>
        <p:nvGraphicFramePr>
          <p:cNvPr id="30" name="Object 8"/>
          <p:cNvGraphicFramePr>
            <a:graphicFrameLocks noChangeAspect="1"/>
          </p:cNvGraphicFramePr>
          <p:nvPr>
            <p:extLst>
              <p:ext uri="{D42A27DB-BD31-4B8C-83A1-F6EECF244321}">
                <p14:modId xmlns:p14="http://schemas.microsoft.com/office/powerpoint/2010/main" val="383010808"/>
              </p:ext>
            </p:extLst>
          </p:nvPr>
        </p:nvGraphicFramePr>
        <p:xfrm>
          <a:off x="7239053" y="3542991"/>
          <a:ext cx="304342" cy="442680"/>
        </p:xfrm>
        <a:graphic>
          <a:graphicData uri="http://schemas.openxmlformats.org/presentationml/2006/ole">
            <mc:AlternateContent xmlns:mc="http://schemas.openxmlformats.org/markup-compatibility/2006">
              <mc:Choice xmlns:v="urn:schemas-microsoft-com:vml" Requires="v">
                <p:oleObj spid="_x0000_s350617" name="Equation" r:id="rId18" imgW="139639" imgH="203112" progId="Equation.DSMT4">
                  <p:embed/>
                </p:oleObj>
              </mc:Choice>
              <mc:Fallback>
                <p:oleObj name="Equation" r:id="rId18" imgW="139639" imgH="203112"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239053" y="3542991"/>
                        <a:ext cx="304342" cy="442680"/>
                      </a:xfrm>
                      <a:prstGeom prst="rect">
                        <a:avLst/>
                      </a:prstGeom>
                      <a:noFill/>
                      <a:ln>
                        <a:noFill/>
                      </a:ln>
                      <a:effec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980176" y="1150070"/>
            <a:ext cx="8508312" cy="1938992"/>
          </a:xfrm>
          <a:prstGeom prst="rect">
            <a:avLst/>
          </a:prstGeom>
        </p:spPr>
        <p:txBody>
          <a:bodyPr wrap="square">
            <a:spAutoFit/>
          </a:bodyPr>
          <a:lstStyle/>
          <a:p>
            <a:pPr>
              <a:lnSpc>
                <a:spcPct val="125000"/>
              </a:lnSpc>
            </a:pPr>
            <a:r>
              <a:rPr lang="zh-CN" altLang="en-US" sz="2400" b="1" dirty="0">
                <a:latin typeface="宋体" panose="02010600030101010101" pitchFamily="2" charset="-122"/>
                <a:ea typeface="宋体" panose="02010600030101010101" pitchFamily="2" charset="-122"/>
              </a:rPr>
              <a:t>设   和    分别为原始特征空间中的类内</a:t>
            </a:r>
            <a:r>
              <a:rPr lang="en-US" altLang="zh-CN" sz="2400" b="1" dirty="0">
                <a:latin typeface="宋体" panose="02010600030101010101" pitchFamily="2" charset="-122"/>
                <a:ea typeface="宋体" panose="02010600030101010101" pitchFamily="2" charset="-122"/>
              </a:rPr>
              <a:t>(within</a:t>
            </a:r>
            <a:r>
              <a:rPr lang="zh-CN" altLang="zh-CN" sz="2400" b="1" dirty="0">
                <a:latin typeface="宋体" panose="02010600030101010101" pitchFamily="2" charset="-122"/>
                <a:ea typeface="宋体" panose="02010600030101010101" pitchFamily="2" charset="-122"/>
              </a:rPr>
              <a:t>−class</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和类间</a:t>
            </a:r>
            <a:r>
              <a:rPr lang="en-US" altLang="zh-CN" sz="2400" b="1" dirty="0">
                <a:latin typeface="宋体" panose="02010600030101010101" pitchFamily="2" charset="-122"/>
                <a:ea typeface="宋体" panose="02010600030101010101" pitchFamily="2" charset="-122"/>
              </a:rPr>
              <a:t>(between</a:t>
            </a:r>
            <a:r>
              <a:rPr lang="zh-CN" altLang="zh-CN" sz="2400" b="1" dirty="0">
                <a:latin typeface="宋体" panose="02010600030101010101" pitchFamily="2" charset="-122"/>
                <a:ea typeface="宋体" panose="02010600030101010101" pitchFamily="2" charset="-122"/>
              </a:rPr>
              <a:t>−class</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离差矩阵</a:t>
            </a:r>
            <a:r>
              <a:rPr lang="en-US" altLang="zh-CN" sz="2400" b="1" dirty="0">
                <a:latin typeface="宋体" panose="02010600030101010101" pitchFamily="2" charset="-122"/>
                <a:ea typeface="宋体" panose="02010600030101010101" pitchFamily="2" charset="-122"/>
              </a:rPr>
              <a:t>(scatter matrix)</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和    分别为变换特征空间中的类内和类间离差矩阵，可知</a:t>
            </a:r>
          </a:p>
          <a:p>
            <a:pPr>
              <a:lnSpc>
                <a:spcPct val="125000"/>
              </a:lnSpc>
            </a:pPr>
            <a:endParaRPr lang="zh-CN" altLang="en-US" sz="2400" b="1" dirty="0">
              <a:latin typeface="宋体" panose="02010600030101010101" pitchFamily="2" charset="-122"/>
              <a:ea typeface="宋体" panose="02010600030101010101" pitchFamily="2" charset="-122"/>
            </a:endParaRPr>
          </a:p>
        </p:txBody>
      </p:sp>
      <p:graphicFrame>
        <p:nvGraphicFramePr>
          <p:cNvPr id="53250" name="Object 2"/>
          <p:cNvGraphicFramePr>
            <a:graphicFrameLocks noChangeAspect="1"/>
          </p:cNvGraphicFramePr>
          <p:nvPr>
            <p:extLst>
              <p:ext uri="{D42A27DB-BD31-4B8C-83A1-F6EECF244321}">
                <p14:modId xmlns:p14="http://schemas.microsoft.com/office/powerpoint/2010/main" val="2444972446"/>
              </p:ext>
            </p:extLst>
          </p:nvPr>
        </p:nvGraphicFramePr>
        <p:xfrm>
          <a:off x="2423593" y="1181895"/>
          <a:ext cx="433387" cy="455612"/>
        </p:xfrm>
        <a:graphic>
          <a:graphicData uri="http://schemas.openxmlformats.org/presentationml/2006/ole">
            <mc:AlternateContent xmlns:mc="http://schemas.openxmlformats.org/markup-compatibility/2006">
              <mc:Choice xmlns:v="urn:schemas-microsoft-com:vml" Requires="v">
                <p:oleObj spid="_x0000_s349610" name="Equation" r:id="rId4" imgW="215640" imgH="228600" progId="Equation.DSMT4">
                  <p:embed/>
                </p:oleObj>
              </mc:Choice>
              <mc:Fallback>
                <p:oleObj name="Equation" r:id="rId4" imgW="215640" imgH="2286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3593" y="1181895"/>
                        <a:ext cx="433387"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1" name="Object 51"/>
          <p:cNvGraphicFramePr>
            <a:graphicFrameLocks noChangeAspect="1"/>
          </p:cNvGraphicFramePr>
          <p:nvPr>
            <p:extLst>
              <p:ext uri="{D42A27DB-BD31-4B8C-83A1-F6EECF244321}">
                <p14:modId xmlns:p14="http://schemas.microsoft.com/office/powerpoint/2010/main" val="2018104291"/>
              </p:ext>
            </p:extLst>
          </p:nvPr>
        </p:nvGraphicFramePr>
        <p:xfrm>
          <a:off x="3240882" y="1173188"/>
          <a:ext cx="382587" cy="455612"/>
        </p:xfrm>
        <a:graphic>
          <a:graphicData uri="http://schemas.openxmlformats.org/presentationml/2006/ole">
            <mc:AlternateContent xmlns:mc="http://schemas.openxmlformats.org/markup-compatibility/2006">
              <mc:Choice xmlns:v="urn:schemas-microsoft-com:vml" Requires="v">
                <p:oleObj spid="_x0000_s349611" name="Equation" r:id="rId6" imgW="190440" imgH="228600" progId="Equation.DSMT4">
                  <p:embed/>
                </p:oleObj>
              </mc:Choice>
              <mc:Fallback>
                <p:oleObj name="Equation" r:id="rId6" imgW="190440" imgH="228600" progId="Equation.DSMT4">
                  <p:embed/>
                  <p:pic>
                    <p:nvPicPr>
                      <p:cNvPr id="0" name="Object 5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40882" y="1173188"/>
                        <a:ext cx="382587"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2" name="Object 52"/>
          <p:cNvGraphicFramePr>
            <a:graphicFrameLocks noChangeAspect="1"/>
          </p:cNvGraphicFramePr>
          <p:nvPr>
            <p:extLst>
              <p:ext uri="{D42A27DB-BD31-4B8C-83A1-F6EECF244321}">
                <p14:modId xmlns:p14="http://schemas.microsoft.com/office/powerpoint/2010/main" val="1506928076"/>
              </p:ext>
            </p:extLst>
          </p:nvPr>
        </p:nvGraphicFramePr>
        <p:xfrm>
          <a:off x="8908009" y="1656124"/>
          <a:ext cx="433387" cy="481013"/>
        </p:xfrm>
        <a:graphic>
          <a:graphicData uri="http://schemas.openxmlformats.org/presentationml/2006/ole">
            <mc:AlternateContent xmlns:mc="http://schemas.openxmlformats.org/markup-compatibility/2006">
              <mc:Choice xmlns:v="urn:schemas-microsoft-com:vml" Requires="v">
                <p:oleObj spid="_x0000_s349612" name="Equation" r:id="rId8" imgW="215640" imgH="241200" progId="Equation.DSMT4">
                  <p:embed/>
                </p:oleObj>
              </mc:Choice>
              <mc:Fallback>
                <p:oleObj name="Equation" r:id="rId8" imgW="215640" imgH="241200" progId="Equation.DSMT4">
                  <p:embed/>
                  <p:pic>
                    <p:nvPicPr>
                      <p:cNvPr id="0" name="Object 5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08009" y="1656124"/>
                        <a:ext cx="433387"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3" name="Object 53"/>
          <p:cNvGraphicFramePr>
            <a:graphicFrameLocks noChangeAspect="1"/>
          </p:cNvGraphicFramePr>
          <p:nvPr>
            <p:extLst>
              <p:ext uri="{D42A27DB-BD31-4B8C-83A1-F6EECF244321}">
                <p14:modId xmlns:p14="http://schemas.microsoft.com/office/powerpoint/2010/main" val="531706423"/>
              </p:ext>
            </p:extLst>
          </p:nvPr>
        </p:nvGraphicFramePr>
        <p:xfrm>
          <a:off x="9733965" y="1642295"/>
          <a:ext cx="381000" cy="481013"/>
        </p:xfrm>
        <a:graphic>
          <a:graphicData uri="http://schemas.openxmlformats.org/presentationml/2006/ole">
            <mc:AlternateContent xmlns:mc="http://schemas.openxmlformats.org/markup-compatibility/2006">
              <mc:Choice xmlns:v="urn:schemas-microsoft-com:vml" Requires="v">
                <p:oleObj spid="_x0000_s349613" name="Equation" r:id="rId10" imgW="190440" imgH="241200" progId="Equation.DSMT4">
                  <p:embed/>
                </p:oleObj>
              </mc:Choice>
              <mc:Fallback>
                <p:oleObj name="Equation" r:id="rId10" imgW="190440" imgH="241200" progId="Equation.DSMT4">
                  <p:embed/>
                  <p:pic>
                    <p:nvPicPr>
                      <p:cNvPr id="0" name="Object 5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33965" y="1642295"/>
                        <a:ext cx="381000"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4" name="Object 54"/>
          <p:cNvGraphicFramePr>
            <a:graphicFrameLocks noChangeAspect="1"/>
          </p:cNvGraphicFramePr>
          <p:nvPr>
            <p:extLst>
              <p:ext uri="{D42A27DB-BD31-4B8C-83A1-F6EECF244321}">
                <p14:modId xmlns:p14="http://schemas.microsoft.com/office/powerpoint/2010/main" val="1174185960"/>
              </p:ext>
            </p:extLst>
          </p:nvPr>
        </p:nvGraphicFramePr>
        <p:xfrm>
          <a:off x="3538820" y="2857168"/>
          <a:ext cx="1784350" cy="962025"/>
        </p:xfrm>
        <a:graphic>
          <a:graphicData uri="http://schemas.openxmlformats.org/presentationml/2006/ole">
            <mc:AlternateContent xmlns:mc="http://schemas.openxmlformats.org/markup-compatibility/2006">
              <mc:Choice xmlns:v="urn:schemas-microsoft-com:vml" Requires="v">
                <p:oleObj spid="_x0000_s349614" name="Equation" r:id="rId12" imgW="888840" imgH="482400" progId="Equation.DSMT4">
                  <p:embed/>
                </p:oleObj>
              </mc:Choice>
              <mc:Fallback>
                <p:oleObj name="Equation" r:id="rId12" imgW="888840" imgH="482400" progId="Equation.DSMT4">
                  <p:embed/>
                  <p:pic>
                    <p:nvPicPr>
                      <p:cNvPr id="0" name="Object 5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38820" y="2857168"/>
                        <a:ext cx="1784350" cy="962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1" name="Object 5"/>
          <p:cNvGraphicFramePr>
            <a:graphicFrameLocks noChangeAspect="1"/>
          </p:cNvGraphicFramePr>
          <p:nvPr/>
        </p:nvGraphicFramePr>
        <p:xfrm>
          <a:off x="6881814" y="2643188"/>
          <a:ext cx="3559175" cy="635000"/>
        </p:xfrm>
        <a:graphic>
          <a:graphicData uri="http://schemas.openxmlformats.org/presentationml/2006/ole">
            <mc:AlternateContent xmlns:mc="http://schemas.openxmlformats.org/markup-compatibility/2006">
              <mc:Choice xmlns:v="urn:schemas-microsoft-com:vml" Requires="v">
                <p:oleObj spid="_x0000_s349615" name="Equation" r:id="rId14" imgW="2565360" imgH="457200" progId="Equation.DSMT4">
                  <p:embed/>
                </p:oleObj>
              </mc:Choice>
              <mc:Fallback>
                <p:oleObj name="Equation" r:id="rId14" imgW="2565360" imgH="457200" progId="Equation.DSMT4">
                  <p:embed/>
                  <p:pic>
                    <p:nvPicPr>
                      <p:cNvPr id="0" name="Object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81814" y="2643188"/>
                        <a:ext cx="3559175" cy="6350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2" name="Object 4"/>
          <p:cNvGraphicFramePr>
            <a:graphicFrameLocks noChangeAspect="1"/>
          </p:cNvGraphicFramePr>
          <p:nvPr/>
        </p:nvGraphicFramePr>
        <p:xfrm>
          <a:off x="6881814" y="3432176"/>
          <a:ext cx="2928937" cy="639763"/>
        </p:xfrm>
        <a:graphic>
          <a:graphicData uri="http://schemas.openxmlformats.org/presentationml/2006/ole">
            <mc:AlternateContent xmlns:mc="http://schemas.openxmlformats.org/markup-compatibility/2006">
              <mc:Choice xmlns:v="urn:schemas-microsoft-com:vml" Requires="v">
                <p:oleObj spid="_x0000_s349616" name="Equation" r:id="rId16" imgW="1981200" imgH="431800" progId="Equation.DSMT4">
                  <p:embed/>
                </p:oleObj>
              </mc:Choice>
              <mc:Fallback>
                <p:oleObj name="Equation" r:id="rId16" imgW="1981200" imgH="431800" progId="Equation.DSMT4">
                  <p:embed/>
                  <p:pic>
                    <p:nvPicPr>
                      <p:cNvPr id="0" name="Object 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881814" y="3432176"/>
                        <a:ext cx="2928937" cy="6397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56"/>
          <p:cNvGraphicFramePr>
            <a:graphicFrameLocks noChangeAspect="1"/>
          </p:cNvGraphicFramePr>
          <p:nvPr/>
        </p:nvGraphicFramePr>
        <p:xfrm>
          <a:off x="2738439" y="4214813"/>
          <a:ext cx="6015037" cy="2290762"/>
        </p:xfrm>
        <a:graphic>
          <a:graphicData uri="http://schemas.openxmlformats.org/presentationml/2006/ole">
            <mc:AlternateContent xmlns:mc="http://schemas.openxmlformats.org/markup-compatibility/2006">
              <mc:Choice xmlns:v="urn:schemas-microsoft-com:vml" Requires="v">
                <p:oleObj spid="_x0000_s349617" name="Equation" r:id="rId18" imgW="3708360" imgH="1422360" progId="Equation.DSMT4">
                  <p:embed/>
                </p:oleObj>
              </mc:Choice>
              <mc:Fallback>
                <p:oleObj name="Equation" r:id="rId18" imgW="3708360" imgH="1422360" progId="Equation.DSMT4">
                  <p:embed/>
                  <p:pic>
                    <p:nvPicPr>
                      <p:cNvPr id="0" name="Object 5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38439" y="4214813"/>
                        <a:ext cx="6015037" cy="2290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 name="灯片编号占位符 51"/>
          <p:cNvSpPr>
            <a:spLocks noGrp="1"/>
          </p:cNvSpPr>
          <p:nvPr>
            <p:ph type="sldNum" sz="quarter" idx="11"/>
          </p:nvPr>
        </p:nvSpPr>
        <p:spPr/>
        <p:txBody>
          <a:bodyPr/>
          <a:lstStyle/>
          <a:p>
            <a:pPr>
              <a:defRPr/>
            </a:pPr>
            <a:fld id="{31E287EE-1289-4991-82CE-EFE584F53F4F}" type="slidenum">
              <a:rPr lang="en-US" altLang="zh-CN" smtClean="0"/>
              <a:pPr>
                <a:defRPr/>
              </a:pPr>
              <a:t>5</a:t>
            </a:fld>
            <a:endParaRPr lang="en-US" altLang="zh-CN" dirty="0"/>
          </a:p>
        </p:txBody>
      </p:sp>
      <p:sp>
        <p:nvSpPr>
          <p:cNvPr id="55" name="标题 1"/>
          <p:cNvSpPr>
            <a:spLocks noGrp="1"/>
          </p:cNvSpPr>
          <p:nvPr>
            <p:ph type="title"/>
          </p:nvPr>
        </p:nvSpPr>
        <p:spPr>
          <a:xfrm>
            <a:off x="1828800" y="152401"/>
            <a:ext cx="7507560" cy="563563"/>
          </a:xfrm>
        </p:spPr>
        <p:txBody>
          <a:bodyPr/>
          <a:lstStyle/>
          <a:p>
            <a:r>
              <a:rPr lang="en-US" altLang="zh-CN" sz="2800" dirty="0"/>
              <a:t>17.1 </a:t>
            </a:r>
            <a:r>
              <a:rPr lang="zh-CN" altLang="en-US" sz="2800" dirty="0"/>
              <a:t>基于类别可分离性判据的特征提取</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980176" y="1150070"/>
            <a:ext cx="8508312" cy="1938992"/>
          </a:xfrm>
          <a:prstGeom prst="rect">
            <a:avLst/>
          </a:prstGeom>
        </p:spPr>
        <p:txBody>
          <a:bodyPr wrap="square">
            <a:spAutoFit/>
          </a:bodyPr>
          <a:lstStyle/>
          <a:p>
            <a:pPr>
              <a:lnSpc>
                <a:spcPct val="125000"/>
              </a:lnSpc>
            </a:pPr>
            <a:r>
              <a:rPr lang="zh-CN" altLang="en-US" sz="2400" b="1" dirty="0">
                <a:latin typeface="宋体" panose="02010600030101010101" pitchFamily="2" charset="-122"/>
                <a:ea typeface="宋体" panose="02010600030101010101" pitchFamily="2" charset="-122"/>
              </a:rPr>
              <a:t>设   和    分别为原始特征空间中的类内</a:t>
            </a:r>
            <a:r>
              <a:rPr lang="en-US" altLang="zh-CN" sz="2400" b="1" dirty="0">
                <a:latin typeface="宋体" panose="02010600030101010101" pitchFamily="2" charset="-122"/>
                <a:ea typeface="宋体" panose="02010600030101010101" pitchFamily="2" charset="-122"/>
              </a:rPr>
              <a:t>(within</a:t>
            </a:r>
            <a:r>
              <a:rPr lang="zh-CN" altLang="zh-CN" sz="2400" b="1" dirty="0">
                <a:latin typeface="宋体" panose="02010600030101010101" pitchFamily="2" charset="-122"/>
                <a:ea typeface="宋体" panose="02010600030101010101" pitchFamily="2" charset="-122"/>
              </a:rPr>
              <a:t>−class</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和类间</a:t>
            </a:r>
            <a:r>
              <a:rPr lang="en-US" altLang="zh-CN" sz="2400" b="1" dirty="0">
                <a:latin typeface="宋体" panose="02010600030101010101" pitchFamily="2" charset="-122"/>
                <a:ea typeface="宋体" panose="02010600030101010101" pitchFamily="2" charset="-122"/>
              </a:rPr>
              <a:t>(between</a:t>
            </a:r>
            <a:r>
              <a:rPr lang="zh-CN" altLang="zh-CN" sz="2400" b="1" dirty="0">
                <a:latin typeface="宋体" panose="02010600030101010101" pitchFamily="2" charset="-122"/>
                <a:ea typeface="宋体" panose="02010600030101010101" pitchFamily="2" charset="-122"/>
              </a:rPr>
              <a:t>−class</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离差矩阵</a:t>
            </a:r>
            <a:r>
              <a:rPr lang="en-US" altLang="zh-CN" sz="2400" b="1" dirty="0">
                <a:latin typeface="宋体" panose="02010600030101010101" pitchFamily="2" charset="-122"/>
                <a:ea typeface="宋体" panose="02010600030101010101" pitchFamily="2" charset="-122"/>
              </a:rPr>
              <a:t>(scatter matrix)</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和    分别为变换特征空间中的类内和类间离差矩阵，可知</a:t>
            </a:r>
          </a:p>
          <a:p>
            <a:pPr>
              <a:lnSpc>
                <a:spcPct val="125000"/>
              </a:lnSpc>
            </a:pPr>
            <a:endParaRPr lang="zh-CN" altLang="en-US" sz="2400" b="1" dirty="0">
              <a:latin typeface="宋体" panose="02010600030101010101" pitchFamily="2" charset="-122"/>
              <a:ea typeface="宋体" panose="02010600030101010101" pitchFamily="2" charset="-122"/>
            </a:endParaRPr>
          </a:p>
        </p:txBody>
      </p:sp>
      <p:graphicFrame>
        <p:nvGraphicFramePr>
          <p:cNvPr id="53250" name="Object 2"/>
          <p:cNvGraphicFramePr>
            <a:graphicFrameLocks noChangeAspect="1"/>
          </p:cNvGraphicFramePr>
          <p:nvPr/>
        </p:nvGraphicFramePr>
        <p:xfrm>
          <a:off x="2423593" y="1181895"/>
          <a:ext cx="433387" cy="455612"/>
        </p:xfrm>
        <a:graphic>
          <a:graphicData uri="http://schemas.openxmlformats.org/presentationml/2006/ole">
            <mc:AlternateContent xmlns:mc="http://schemas.openxmlformats.org/markup-compatibility/2006">
              <mc:Choice xmlns:v="urn:schemas-microsoft-com:vml" Requires="v">
                <p:oleObj spid="_x0000_s341972" name="Equation" r:id="rId4" imgW="215640" imgH="228600" progId="Equation.DSMT4">
                  <p:embed/>
                </p:oleObj>
              </mc:Choice>
              <mc:Fallback>
                <p:oleObj name="Equation" r:id="rId4" imgW="21564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3593" y="1181895"/>
                        <a:ext cx="433387"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1" name="Object 51"/>
          <p:cNvGraphicFramePr>
            <a:graphicFrameLocks noChangeAspect="1"/>
          </p:cNvGraphicFramePr>
          <p:nvPr/>
        </p:nvGraphicFramePr>
        <p:xfrm>
          <a:off x="3240882" y="1173188"/>
          <a:ext cx="382587" cy="455612"/>
        </p:xfrm>
        <a:graphic>
          <a:graphicData uri="http://schemas.openxmlformats.org/presentationml/2006/ole">
            <mc:AlternateContent xmlns:mc="http://schemas.openxmlformats.org/markup-compatibility/2006">
              <mc:Choice xmlns:v="urn:schemas-microsoft-com:vml" Requires="v">
                <p:oleObj spid="_x0000_s341973" name="Equation" r:id="rId6" imgW="190440" imgH="228600" progId="Equation.DSMT4">
                  <p:embed/>
                </p:oleObj>
              </mc:Choice>
              <mc:Fallback>
                <p:oleObj name="Equation" r:id="rId6" imgW="19044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40882" y="1173188"/>
                        <a:ext cx="382587"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2" name="Object 52"/>
          <p:cNvGraphicFramePr>
            <a:graphicFrameLocks noChangeAspect="1"/>
          </p:cNvGraphicFramePr>
          <p:nvPr/>
        </p:nvGraphicFramePr>
        <p:xfrm>
          <a:off x="8908009" y="1656124"/>
          <a:ext cx="433387" cy="481013"/>
        </p:xfrm>
        <a:graphic>
          <a:graphicData uri="http://schemas.openxmlformats.org/presentationml/2006/ole">
            <mc:AlternateContent xmlns:mc="http://schemas.openxmlformats.org/markup-compatibility/2006">
              <mc:Choice xmlns:v="urn:schemas-microsoft-com:vml" Requires="v">
                <p:oleObj spid="_x0000_s341974" name="Equation" r:id="rId8" imgW="215640" imgH="241200" progId="Equation.DSMT4">
                  <p:embed/>
                </p:oleObj>
              </mc:Choice>
              <mc:Fallback>
                <p:oleObj name="Equation" r:id="rId8" imgW="215640" imgH="2412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08009" y="1656124"/>
                        <a:ext cx="433387"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3" name="Object 53"/>
          <p:cNvGraphicFramePr>
            <a:graphicFrameLocks noChangeAspect="1"/>
          </p:cNvGraphicFramePr>
          <p:nvPr/>
        </p:nvGraphicFramePr>
        <p:xfrm>
          <a:off x="9733965" y="1642295"/>
          <a:ext cx="381000" cy="481013"/>
        </p:xfrm>
        <a:graphic>
          <a:graphicData uri="http://schemas.openxmlformats.org/presentationml/2006/ole">
            <mc:AlternateContent xmlns:mc="http://schemas.openxmlformats.org/markup-compatibility/2006">
              <mc:Choice xmlns:v="urn:schemas-microsoft-com:vml" Requires="v">
                <p:oleObj spid="_x0000_s341975" name="Equation" r:id="rId10" imgW="190440" imgH="241200" progId="Equation.DSMT4">
                  <p:embed/>
                </p:oleObj>
              </mc:Choice>
              <mc:Fallback>
                <p:oleObj name="Equation" r:id="rId10" imgW="190440" imgH="2412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33965" y="1642295"/>
                        <a:ext cx="381000"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4" name="Object 54"/>
          <p:cNvGraphicFramePr>
            <a:graphicFrameLocks noChangeAspect="1"/>
          </p:cNvGraphicFramePr>
          <p:nvPr/>
        </p:nvGraphicFramePr>
        <p:xfrm>
          <a:off x="3538820" y="2857168"/>
          <a:ext cx="1784350" cy="962025"/>
        </p:xfrm>
        <a:graphic>
          <a:graphicData uri="http://schemas.openxmlformats.org/presentationml/2006/ole">
            <mc:AlternateContent xmlns:mc="http://schemas.openxmlformats.org/markup-compatibility/2006">
              <mc:Choice xmlns:v="urn:schemas-microsoft-com:vml" Requires="v">
                <p:oleObj spid="_x0000_s341976" name="Equation" r:id="rId12" imgW="888840" imgH="482400" progId="Equation.DSMT4">
                  <p:embed/>
                </p:oleObj>
              </mc:Choice>
              <mc:Fallback>
                <p:oleObj name="Equation" r:id="rId12" imgW="888840" imgH="4824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38820" y="2857168"/>
                        <a:ext cx="1784350" cy="962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1" name="Object 5"/>
          <p:cNvGraphicFramePr>
            <a:graphicFrameLocks noChangeAspect="1"/>
          </p:cNvGraphicFramePr>
          <p:nvPr/>
        </p:nvGraphicFramePr>
        <p:xfrm>
          <a:off x="6881814" y="2643188"/>
          <a:ext cx="3559175" cy="635000"/>
        </p:xfrm>
        <a:graphic>
          <a:graphicData uri="http://schemas.openxmlformats.org/presentationml/2006/ole">
            <mc:AlternateContent xmlns:mc="http://schemas.openxmlformats.org/markup-compatibility/2006">
              <mc:Choice xmlns:v="urn:schemas-microsoft-com:vml" Requires="v">
                <p:oleObj spid="_x0000_s341977" name="Equation" r:id="rId14" imgW="2565360" imgH="457200" progId="Equation.DSMT4">
                  <p:embed/>
                </p:oleObj>
              </mc:Choice>
              <mc:Fallback>
                <p:oleObj name="Equation" r:id="rId14" imgW="2565360" imgH="4572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81814" y="2643188"/>
                        <a:ext cx="3559175" cy="6350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2" name="Object 4"/>
          <p:cNvGraphicFramePr>
            <a:graphicFrameLocks noChangeAspect="1"/>
          </p:cNvGraphicFramePr>
          <p:nvPr/>
        </p:nvGraphicFramePr>
        <p:xfrm>
          <a:off x="6881814" y="3432176"/>
          <a:ext cx="2928937" cy="639763"/>
        </p:xfrm>
        <a:graphic>
          <a:graphicData uri="http://schemas.openxmlformats.org/presentationml/2006/ole">
            <mc:AlternateContent xmlns:mc="http://schemas.openxmlformats.org/markup-compatibility/2006">
              <mc:Choice xmlns:v="urn:schemas-microsoft-com:vml" Requires="v">
                <p:oleObj spid="_x0000_s341978" name="Equation" r:id="rId16" imgW="1981200" imgH="431800" progId="Equation.DSMT4">
                  <p:embed/>
                </p:oleObj>
              </mc:Choice>
              <mc:Fallback>
                <p:oleObj name="Equation" r:id="rId16" imgW="1981200" imgH="43180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881814" y="3432176"/>
                        <a:ext cx="2928937" cy="6397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 name="灯片编号占位符 51"/>
          <p:cNvSpPr>
            <a:spLocks noGrp="1"/>
          </p:cNvSpPr>
          <p:nvPr>
            <p:ph type="sldNum" sz="quarter" idx="11"/>
          </p:nvPr>
        </p:nvSpPr>
        <p:spPr/>
        <p:txBody>
          <a:bodyPr/>
          <a:lstStyle/>
          <a:p>
            <a:pPr>
              <a:defRPr/>
            </a:pPr>
            <a:fld id="{31E287EE-1289-4991-82CE-EFE584F53F4F}" type="slidenum">
              <a:rPr lang="en-US" altLang="zh-CN" smtClean="0"/>
              <a:pPr>
                <a:defRPr/>
              </a:pPr>
              <a:t>6</a:t>
            </a:fld>
            <a:endParaRPr lang="en-US" altLang="zh-CN" dirty="0"/>
          </a:p>
        </p:txBody>
      </p:sp>
      <p:sp>
        <p:nvSpPr>
          <p:cNvPr id="55" name="标题 1"/>
          <p:cNvSpPr>
            <a:spLocks noGrp="1"/>
          </p:cNvSpPr>
          <p:nvPr>
            <p:ph type="title"/>
          </p:nvPr>
        </p:nvSpPr>
        <p:spPr>
          <a:xfrm>
            <a:off x="1828800" y="152401"/>
            <a:ext cx="7507560" cy="563563"/>
          </a:xfrm>
        </p:spPr>
        <p:txBody>
          <a:bodyPr/>
          <a:lstStyle/>
          <a:p>
            <a:r>
              <a:rPr lang="en-US" altLang="zh-CN" sz="2800" dirty="0"/>
              <a:t>17.1 </a:t>
            </a:r>
            <a:r>
              <a:rPr lang="zh-CN" altLang="en-US" sz="2800" dirty="0"/>
              <a:t>基于类别可分离性判据的特征提取</a:t>
            </a:r>
          </a:p>
        </p:txBody>
      </p:sp>
      <p:graphicFrame>
        <p:nvGraphicFramePr>
          <p:cNvPr id="13" name="Object 9"/>
          <p:cNvGraphicFramePr>
            <a:graphicFrameLocks noChangeAspect="1"/>
          </p:cNvGraphicFramePr>
          <p:nvPr/>
        </p:nvGraphicFramePr>
        <p:xfrm>
          <a:off x="2667000" y="4286250"/>
          <a:ext cx="6643688" cy="808038"/>
        </p:xfrm>
        <a:graphic>
          <a:graphicData uri="http://schemas.openxmlformats.org/presentationml/2006/ole">
            <mc:AlternateContent xmlns:mc="http://schemas.openxmlformats.org/markup-compatibility/2006">
              <mc:Choice xmlns:v="urn:schemas-microsoft-com:vml" Requires="v">
                <p:oleObj spid="_x0000_s341979" name="Equation" r:id="rId18" imgW="3733560" imgH="457200" progId="Equation.DSMT4">
                  <p:embed/>
                </p:oleObj>
              </mc:Choice>
              <mc:Fallback>
                <p:oleObj name="Equation" r:id="rId18" imgW="3733560" imgH="457200"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67000" y="4286250"/>
                        <a:ext cx="6643688" cy="808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0"/>
          <p:cNvGraphicFramePr>
            <a:graphicFrameLocks noChangeAspect="1"/>
          </p:cNvGraphicFramePr>
          <p:nvPr/>
        </p:nvGraphicFramePr>
        <p:xfrm>
          <a:off x="1881189" y="5143501"/>
          <a:ext cx="1285875" cy="441325"/>
        </p:xfrm>
        <a:graphic>
          <a:graphicData uri="http://schemas.openxmlformats.org/presentationml/2006/ole">
            <mc:AlternateContent xmlns:mc="http://schemas.openxmlformats.org/markup-compatibility/2006">
              <mc:Choice xmlns:v="urn:schemas-microsoft-com:vml" Requires="v">
                <p:oleObj spid="_x0000_s341980" name="Equation" r:id="rId20" imgW="634680" imgH="215640" progId="Equation.DSMT4">
                  <p:embed/>
                </p:oleObj>
              </mc:Choice>
              <mc:Fallback>
                <p:oleObj name="Equation" r:id="rId20" imgW="634680" imgH="215640"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81189" y="5143501"/>
                        <a:ext cx="1285875" cy="4413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11"/>
          <p:cNvGraphicFramePr>
            <a:graphicFrameLocks noChangeAspect="1"/>
          </p:cNvGraphicFramePr>
          <p:nvPr/>
        </p:nvGraphicFramePr>
        <p:xfrm>
          <a:off x="3952876" y="5143501"/>
          <a:ext cx="1516063" cy="492125"/>
        </p:xfrm>
        <a:graphic>
          <a:graphicData uri="http://schemas.openxmlformats.org/presentationml/2006/ole">
            <mc:AlternateContent xmlns:mc="http://schemas.openxmlformats.org/markup-compatibility/2006">
              <mc:Choice xmlns:v="urn:schemas-microsoft-com:vml" Requires="v">
                <p:oleObj spid="_x0000_s341981" name="Equation" r:id="rId22" imgW="749160" imgH="241200" progId="Equation.DSMT4">
                  <p:embed/>
                </p:oleObj>
              </mc:Choice>
              <mc:Fallback>
                <p:oleObj name="Equation" r:id="rId22" imgW="749160" imgH="241200"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952876" y="5143501"/>
                        <a:ext cx="1516063" cy="4921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右箭头 15"/>
          <p:cNvSpPr>
            <a:spLocks noChangeArrowheads="1"/>
          </p:cNvSpPr>
          <p:nvPr/>
        </p:nvSpPr>
        <p:spPr bwMode="auto">
          <a:xfrm>
            <a:off x="3381376" y="5143501"/>
            <a:ext cx="428625" cy="428625"/>
          </a:xfrm>
          <a:prstGeom prst="rightArrow">
            <a:avLst>
              <a:gd name="adj1" fmla="val 50000"/>
              <a:gd name="adj2" fmla="val 50000"/>
            </a:avLst>
          </a:prstGeom>
          <a:solidFill>
            <a:schemeClr val="accent1"/>
          </a:solidFill>
          <a:ln w="12700" cap="sq" algn="ctr">
            <a:solidFill>
              <a:schemeClr val="tx1"/>
            </a:solidFill>
            <a:round/>
            <a:headEnd type="none" w="sm" len="sm"/>
            <a:tailEnd type="none" w="sm" len="sm"/>
          </a:ln>
        </p:spPr>
        <p:txBody>
          <a:bodyPr wrap="none"/>
          <a:lstStyle/>
          <a:p>
            <a:endParaRPr lang="zh-CN" altLang="en-US"/>
          </a:p>
        </p:txBody>
      </p:sp>
      <p:graphicFrame>
        <p:nvGraphicFramePr>
          <p:cNvPr id="17" name="Object 12"/>
          <p:cNvGraphicFramePr>
            <a:graphicFrameLocks noChangeAspect="1"/>
          </p:cNvGraphicFramePr>
          <p:nvPr/>
        </p:nvGraphicFramePr>
        <p:xfrm>
          <a:off x="5667375" y="5143501"/>
          <a:ext cx="1670050" cy="517525"/>
        </p:xfrm>
        <a:graphic>
          <a:graphicData uri="http://schemas.openxmlformats.org/presentationml/2006/ole">
            <mc:AlternateContent xmlns:mc="http://schemas.openxmlformats.org/markup-compatibility/2006">
              <mc:Choice xmlns:v="urn:schemas-microsoft-com:vml" Requires="v">
                <p:oleObj spid="_x0000_s341982" name="Equation" r:id="rId24" imgW="825480" imgH="253800" progId="Equation.DSMT4">
                  <p:embed/>
                </p:oleObj>
              </mc:Choice>
              <mc:Fallback>
                <p:oleObj name="Equation" r:id="rId24" imgW="825480" imgH="253800"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667375" y="5143501"/>
                        <a:ext cx="1670050" cy="5175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3"/>
          <p:cNvGraphicFramePr>
            <a:graphicFrameLocks noChangeAspect="1"/>
          </p:cNvGraphicFramePr>
          <p:nvPr/>
        </p:nvGraphicFramePr>
        <p:xfrm>
          <a:off x="7473950" y="5143501"/>
          <a:ext cx="1771650" cy="517525"/>
        </p:xfrm>
        <a:graphic>
          <a:graphicData uri="http://schemas.openxmlformats.org/presentationml/2006/ole">
            <mc:AlternateContent xmlns:mc="http://schemas.openxmlformats.org/markup-compatibility/2006">
              <mc:Choice xmlns:v="urn:schemas-microsoft-com:vml" Requires="v">
                <p:oleObj spid="_x0000_s341983" name="Equation" r:id="rId26" imgW="876240" imgH="253800" progId="Equation.DSMT4">
                  <p:embed/>
                </p:oleObj>
              </mc:Choice>
              <mc:Fallback>
                <p:oleObj name="Equation" r:id="rId26" imgW="876240" imgH="253800" progId="Equation.DSMT4">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473950" y="5143501"/>
                        <a:ext cx="1771650" cy="5175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4"/>
          <p:cNvGraphicFramePr>
            <a:graphicFrameLocks noChangeAspect="1"/>
          </p:cNvGraphicFramePr>
          <p:nvPr/>
        </p:nvGraphicFramePr>
        <p:xfrm>
          <a:off x="3097213" y="5715000"/>
          <a:ext cx="6400800" cy="857250"/>
        </p:xfrm>
        <a:graphic>
          <a:graphicData uri="http://schemas.openxmlformats.org/presentationml/2006/ole">
            <mc:AlternateContent xmlns:mc="http://schemas.openxmlformats.org/markup-compatibility/2006">
              <mc:Choice xmlns:v="urn:schemas-microsoft-com:vml" Requires="v">
                <p:oleObj spid="_x0000_s341984" name="Equation" r:id="rId28" imgW="3390840" imgH="457200" progId="Equation.DSMT4">
                  <p:embed/>
                </p:oleObj>
              </mc:Choice>
              <mc:Fallback>
                <p:oleObj name="Equation" r:id="rId28" imgW="3390840" imgH="457200" progId="Equation.DSMT4">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097213" y="5715000"/>
                        <a:ext cx="6400800" cy="85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2135509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980176" y="1150070"/>
            <a:ext cx="8508312" cy="1938992"/>
          </a:xfrm>
          <a:prstGeom prst="rect">
            <a:avLst/>
          </a:prstGeom>
        </p:spPr>
        <p:txBody>
          <a:bodyPr wrap="square">
            <a:spAutoFit/>
          </a:bodyPr>
          <a:lstStyle/>
          <a:p>
            <a:pPr>
              <a:lnSpc>
                <a:spcPct val="125000"/>
              </a:lnSpc>
            </a:pPr>
            <a:r>
              <a:rPr lang="zh-CN" altLang="en-US" sz="2400" b="1" dirty="0">
                <a:latin typeface="宋体" panose="02010600030101010101" pitchFamily="2" charset="-122"/>
                <a:ea typeface="宋体" panose="02010600030101010101" pitchFamily="2" charset="-122"/>
              </a:rPr>
              <a:t>设   和    分别为原始特征空间中的类内</a:t>
            </a:r>
            <a:r>
              <a:rPr lang="en-US" altLang="zh-CN" sz="2400" b="1" dirty="0">
                <a:latin typeface="宋体" panose="02010600030101010101" pitchFamily="2" charset="-122"/>
                <a:ea typeface="宋体" panose="02010600030101010101" pitchFamily="2" charset="-122"/>
              </a:rPr>
              <a:t>(within</a:t>
            </a:r>
            <a:r>
              <a:rPr lang="zh-CN" altLang="zh-CN" sz="2400" b="1" dirty="0">
                <a:latin typeface="宋体" panose="02010600030101010101" pitchFamily="2" charset="-122"/>
                <a:ea typeface="宋体" panose="02010600030101010101" pitchFamily="2" charset="-122"/>
              </a:rPr>
              <a:t>−class</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和类间</a:t>
            </a:r>
            <a:r>
              <a:rPr lang="en-US" altLang="zh-CN" sz="2400" b="1" dirty="0">
                <a:latin typeface="宋体" panose="02010600030101010101" pitchFamily="2" charset="-122"/>
                <a:ea typeface="宋体" panose="02010600030101010101" pitchFamily="2" charset="-122"/>
              </a:rPr>
              <a:t>(between</a:t>
            </a:r>
            <a:r>
              <a:rPr lang="zh-CN" altLang="zh-CN" sz="2400" b="1" dirty="0">
                <a:latin typeface="宋体" panose="02010600030101010101" pitchFamily="2" charset="-122"/>
                <a:ea typeface="宋体" panose="02010600030101010101" pitchFamily="2" charset="-122"/>
              </a:rPr>
              <a:t>−class</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离差矩阵</a:t>
            </a:r>
            <a:r>
              <a:rPr lang="en-US" altLang="zh-CN" sz="2400" b="1" dirty="0">
                <a:latin typeface="宋体" panose="02010600030101010101" pitchFamily="2" charset="-122"/>
                <a:ea typeface="宋体" panose="02010600030101010101" pitchFamily="2" charset="-122"/>
              </a:rPr>
              <a:t>(scatter matrix)</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和    分别为变换特征空间中的类内和类间离差矩阵，可知</a:t>
            </a:r>
          </a:p>
          <a:p>
            <a:pPr>
              <a:lnSpc>
                <a:spcPct val="125000"/>
              </a:lnSpc>
            </a:pPr>
            <a:endParaRPr lang="zh-CN" altLang="en-US" sz="2400" b="1" dirty="0">
              <a:latin typeface="宋体" panose="02010600030101010101" pitchFamily="2" charset="-122"/>
              <a:ea typeface="宋体" panose="02010600030101010101" pitchFamily="2" charset="-122"/>
            </a:endParaRPr>
          </a:p>
        </p:txBody>
      </p:sp>
      <p:graphicFrame>
        <p:nvGraphicFramePr>
          <p:cNvPr id="53250" name="Object 2"/>
          <p:cNvGraphicFramePr>
            <a:graphicFrameLocks noChangeAspect="1"/>
          </p:cNvGraphicFramePr>
          <p:nvPr/>
        </p:nvGraphicFramePr>
        <p:xfrm>
          <a:off x="2423593" y="1181895"/>
          <a:ext cx="433387" cy="455612"/>
        </p:xfrm>
        <a:graphic>
          <a:graphicData uri="http://schemas.openxmlformats.org/presentationml/2006/ole">
            <mc:AlternateContent xmlns:mc="http://schemas.openxmlformats.org/markup-compatibility/2006">
              <mc:Choice xmlns:v="urn:schemas-microsoft-com:vml" Requires="v">
                <p:oleObj spid="_x0000_s367686" name="Equation" r:id="rId4" imgW="215640" imgH="228600" progId="Equation.DSMT4">
                  <p:embed/>
                </p:oleObj>
              </mc:Choice>
              <mc:Fallback>
                <p:oleObj name="Equation" r:id="rId4" imgW="21564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3593" y="1181895"/>
                        <a:ext cx="433387"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1" name="Object 51"/>
          <p:cNvGraphicFramePr>
            <a:graphicFrameLocks noChangeAspect="1"/>
          </p:cNvGraphicFramePr>
          <p:nvPr/>
        </p:nvGraphicFramePr>
        <p:xfrm>
          <a:off x="3240882" y="1173188"/>
          <a:ext cx="382587" cy="455612"/>
        </p:xfrm>
        <a:graphic>
          <a:graphicData uri="http://schemas.openxmlformats.org/presentationml/2006/ole">
            <mc:AlternateContent xmlns:mc="http://schemas.openxmlformats.org/markup-compatibility/2006">
              <mc:Choice xmlns:v="urn:schemas-microsoft-com:vml" Requires="v">
                <p:oleObj spid="_x0000_s367687" name="Equation" r:id="rId6" imgW="190440" imgH="228600" progId="Equation.DSMT4">
                  <p:embed/>
                </p:oleObj>
              </mc:Choice>
              <mc:Fallback>
                <p:oleObj name="Equation" r:id="rId6" imgW="19044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40882" y="1173188"/>
                        <a:ext cx="382587"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2" name="Object 52"/>
          <p:cNvGraphicFramePr>
            <a:graphicFrameLocks noChangeAspect="1"/>
          </p:cNvGraphicFramePr>
          <p:nvPr/>
        </p:nvGraphicFramePr>
        <p:xfrm>
          <a:off x="8908009" y="1656124"/>
          <a:ext cx="433387" cy="481013"/>
        </p:xfrm>
        <a:graphic>
          <a:graphicData uri="http://schemas.openxmlformats.org/presentationml/2006/ole">
            <mc:AlternateContent xmlns:mc="http://schemas.openxmlformats.org/markup-compatibility/2006">
              <mc:Choice xmlns:v="urn:schemas-microsoft-com:vml" Requires="v">
                <p:oleObj spid="_x0000_s367688" name="Equation" r:id="rId8" imgW="215640" imgH="241200" progId="Equation.DSMT4">
                  <p:embed/>
                </p:oleObj>
              </mc:Choice>
              <mc:Fallback>
                <p:oleObj name="Equation" r:id="rId8" imgW="215640" imgH="2412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08009" y="1656124"/>
                        <a:ext cx="433387"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3" name="Object 53"/>
          <p:cNvGraphicFramePr>
            <a:graphicFrameLocks noChangeAspect="1"/>
          </p:cNvGraphicFramePr>
          <p:nvPr/>
        </p:nvGraphicFramePr>
        <p:xfrm>
          <a:off x="9733965" y="1642295"/>
          <a:ext cx="381000" cy="481013"/>
        </p:xfrm>
        <a:graphic>
          <a:graphicData uri="http://schemas.openxmlformats.org/presentationml/2006/ole">
            <mc:AlternateContent xmlns:mc="http://schemas.openxmlformats.org/markup-compatibility/2006">
              <mc:Choice xmlns:v="urn:schemas-microsoft-com:vml" Requires="v">
                <p:oleObj spid="_x0000_s367689" name="Equation" r:id="rId10" imgW="190440" imgH="241200" progId="Equation.DSMT4">
                  <p:embed/>
                </p:oleObj>
              </mc:Choice>
              <mc:Fallback>
                <p:oleObj name="Equation" r:id="rId10" imgW="190440" imgH="2412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33965" y="1642295"/>
                        <a:ext cx="381000"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4" name="Object 54"/>
          <p:cNvGraphicFramePr>
            <a:graphicFrameLocks noChangeAspect="1"/>
          </p:cNvGraphicFramePr>
          <p:nvPr/>
        </p:nvGraphicFramePr>
        <p:xfrm>
          <a:off x="3538820" y="2857168"/>
          <a:ext cx="1784350" cy="962025"/>
        </p:xfrm>
        <a:graphic>
          <a:graphicData uri="http://schemas.openxmlformats.org/presentationml/2006/ole">
            <mc:AlternateContent xmlns:mc="http://schemas.openxmlformats.org/markup-compatibility/2006">
              <mc:Choice xmlns:v="urn:schemas-microsoft-com:vml" Requires="v">
                <p:oleObj spid="_x0000_s367690" name="Equation" r:id="rId12" imgW="888840" imgH="482400" progId="Equation.DSMT4">
                  <p:embed/>
                </p:oleObj>
              </mc:Choice>
              <mc:Fallback>
                <p:oleObj name="Equation" r:id="rId12" imgW="888840" imgH="4824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38820" y="2857168"/>
                        <a:ext cx="1784350" cy="962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1" name="Object 5"/>
          <p:cNvGraphicFramePr>
            <a:graphicFrameLocks noChangeAspect="1"/>
          </p:cNvGraphicFramePr>
          <p:nvPr/>
        </p:nvGraphicFramePr>
        <p:xfrm>
          <a:off x="6881814" y="2643188"/>
          <a:ext cx="3559175" cy="635000"/>
        </p:xfrm>
        <a:graphic>
          <a:graphicData uri="http://schemas.openxmlformats.org/presentationml/2006/ole">
            <mc:AlternateContent xmlns:mc="http://schemas.openxmlformats.org/markup-compatibility/2006">
              <mc:Choice xmlns:v="urn:schemas-microsoft-com:vml" Requires="v">
                <p:oleObj spid="_x0000_s367691" name="Equation" r:id="rId14" imgW="2565360" imgH="457200" progId="Equation.DSMT4">
                  <p:embed/>
                </p:oleObj>
              </mc:Choice>
              <mc:Fallback>
                <p:oleObj name="Equation" r:id="rId14" imgW="2565360" imgH="4572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81814" y="2643188"/>
                        <a:ext cx="3559175" cy="6350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2" name="Object 4"/>
          <p:cNvGraphicFramePr>
            <a:graphicFrameLocks noChangeAspect="1"/>
          </p:cNvGraphicFramePr>
          <p:nvPr/>
        </p:nvGraphicFramePr>
        <p:xfrm>
          <a:off x="6881814" y="3432176"/>
          <a:ext cx="2928937" cy="639763"/>
        </p:xfrm>
        <a:graphic>
          <a:graphicData uri="http://schemas.openxmlformats.org/presentationml/2006/ole">
            <mc:AlternateContent xmlns:mc="http://schemas.openxmlformats.org/markup-compatibility/2006">
              <mc:Choice xmlns:v="urn:schemas-microsoft-com:vml" Requires="v">
                <p:oleObj spid="_x0000_s367692" name="Equation" r:id="rId16" imgW="1981200" imgH="431800" progId="Equation.DSMT4">
                  <p:embed/>
                </p:oleObj>
              </mc:Choice>
              <mc:Fallback>
                <p:oleObj name="Equation" r:id="rId16" imgW="1981200" imgH="43180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881814" y="3432176"/>
                        <a:ext cx="2928937" cy="6397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 name="灯片编号占位符 51"/>
          <p:cNvSpPr>
            <a:spLocks noGrp="1"/>
          </p:cNvSpPr>
          <p:nvPr>
            <p:ph type="sldNum" sz="quarter" idx="11"/>
          </p:nvPr>
        </p:nvSpPr>
        <p:spPr/>
        <p:txBody>
          <a:bodyPr/>
          <a:lstStyle/>
          <a:p>
            <a:pPr>
              <a:defRPr/>
            </a:pPr>
            <a:fld id="{31E287EE-1289-4991-82CE-EFE584F53F4F}" type="slidenum">
              <a:rPr lang="en-US" altLang="zh-CN" smtClean="0"/>
              <a:pPr>
                <a:defRPr/>
              </a:pPr>
              <a:t>7</a:t>
            </a:fld>
            <a:endParaRPr lang="en-US" altLang="zh-CN" dirty="0"/>
          </a:p>
        </p:txBody>
      </p:sp>
      <p:sp>
        <p:nvSpPr>
          <p:cNvPr id="55" name="标题 1"/>
          <p:cNvSpPr>
            <a:spLocks noGrp="1"/>
          </p:cNvSpPr>
          <p:nvPr>
            <p:ph type="title"/>
          </p:nvPr>
        </p:nvSpPr>
        <p:spPr>
          <a:xfrm>
            <a:off x="1828800" y="152401"/>
            <a:ext cx="7507560" cy="563563"/>
          </a:xfrm>
        </p:spPr>
        <p:txBody>
          <a:bodyPr/>
          <a:lstStyle/>
          <a:p>
            <a:r>
              <a:rPr lang="en-US" altLang="zh-CN" sz="2800" dirty="0"/>
              <a:t>17.1 </a:t>
            </a:r>
            <a:r>
              <a:rPr lang="zh-CN" altLang="en-US" sz="2800" dirty="0"/>
              <a:t>基于类别可分离性判据的特征提取</a:t>
            </a:r>
          </a:p>
        </p:txBody>
      </p:sp>
      <p:sp>
        <p:nvSpPr>
          <p:cNvPr id="20" name="矩形 19"/>
          <p:cNvSpPr>
            <a:spLocks noChangeArrowheads="1"/>
          </p:cNvSpPr>
          <p:nvPr/>
        </p:nvSpPr>
        <p:spPr bwMode="auto">
          <a:xfrm>
            <a:off x="5635755" y="2488194"/>
            <a:ext cx="877887" cy="1201737"/>
          </a:xfrm>
          <a:prstGeom prst="rect">
            <a:avLst/>
          </a:prstGeom>
          <a:noFill/>
          <a:ln w="9525">
            <a:noFill/>
            <a:miter lim="800000"/>
            <a:headEnd/>
            <a:tailEnd/>
          </a:ln>
        </p:spPr>
        <p:txBody>
          <a:bodyPr wrap="none">
            <a:spAutoFit/>
          </a:bodyPr>
          <a:lstStyle/>
          <a:p>
            <a:r>
              <a:rPr lang="zh-CN" altLang="en-US" dirty="0">
                <a:solidFill>
                  <a:srgbClr val="FF0000"/>
                </a:solidFill>
              </a:rPr>
              <a:t>协方差</a:t>
            </a:r>
            <a:endParaRPr lang="en-US" altLang="zh-CN" dirty="0">
              <a:solidFill>
                <a:srgbClr val="FF0000"/>
              </a:solidFill>
            </a:endParaRPr>
          </a:p>
          <a:p>
            <a:r>
              <a:rPr lang="zh-CN" altLang="en-US" dirty="0">
                <a:solidFill>
                  <a:srgbClr val="FF0000"/>
                </a:solidFill>
              </a:rPr>
              <a:t>加权和</a:t>
            </a:r>
            <a:endParaRPr lang="en-US" altLang="zh-CN" dirty="0">
              <a:solidFill>
                <a:srgbClr val="FF0000"/>
              </a:solidFill>
            </a:endParaRPr>
          </a:p>
          <a:p>
            <a:r>
              <a:rPr lang="en-US" altLang="zh-CN" dirty="0">
                <a:solidFill>
                  <a:srgbClr val="FF0000"/>
                </a:solidFill>
              </a:rPr>
              <a:t>D</a:t>
            </a:r>
            <a:r>
              <a:rPr lang="en-US" altLang="zh-CN" dirty="0">
                <a:solidFill>
                  <a:srgbClr val="FF0000"/>
                </a:solidFill>
                <a:latin typeface="宋体" charset="-122"/>
              </a:rPr>
              <a:t>×</a:t>
            </a:r>
            <a:r>
              <a:rPr lang="en-US" altLang="zh-CN" dirty="0">
                <a:solidFill>
                  <a:srgbClr val="FF0000"/>
                </a:solidFill>
              </a:rPr>
              <a:t>D</a:t>
            </a:r>
          </a:p>
          <a:p>
            <a:r>
              <a:rPr lang="zh-CN" altLang="en-US" dirty="0">
                <a:solidFill>
                  <a:srgbClr val="FF0000"/>
                </a:solidFill>
              </a:rPr>
              <a:t>对称阵</a:t>
            </a:r>
          </a:p>
        </p:txBody>
      </p:sp>
      <p:cxnSp>
        <p:nvCxnSpPr>
          <p:cNvPr id="21" name="直接箭头连接符 20"/>
          <p:cNvCxnSpPr>
            <a:cxnSpLocks noChangeShapeType="1"/>
          </p:cNvCxnSpPr>
          <p:nvPr/>
        </p:nvCxnSpPr>
        <p:spPr bwMode="auto">
          <a:xfrm rot="10800000" flipV="1">
            <a:off x="4845844" y="2668340"/>
            <a:ext cx="833437" cy="323850"/>
          </a:xfrm>
          <a:prstGeom prst="straightConnector1">
            <a:avLst/>
          </a:prstGeom>
          <a:noFill/>
          <a:ln w="12700" cap="sq" algn="ctr">
            <a:solidFill>
              <a:srgbClr val="FF0000"/>
            </a:solidFill>
            <a:round/>
            <a:headEnd type="none" w="sm" len="sm"/>
            <a:tailEnd type="arrow" w="med" len="med"/>
          </a:ln>
        </p:spPr>
      </p:cxnSp>
      <p:sp>
        <p:nvSpPr>
          <p:cNvPr id="22" name="矩形 21"/>
          <p:cNvSpPr>
            <a:spLocks noChangeArrowheads="1"/>
          </p:cNvSpPr>
          <p:nvPr/>
        </p:nvSpPr>
        <p:spPr bwMode="auto">
          <a:xfrm>
            <a:off x="2466728" y="3138750"/>
            <a:ext cx="671979" cy="369332"/>
          </a:xfrm>
          <a:prstGeom prst="rect">
            <a:avLst/>
          </a:prstGeom>
          <a:noFill/>
          <a:ln w="9525">
            <a:noFill/>
            <a:miter lim="800000"/>
            <a:headEnd/>
            <a:tailEnd/>
          </a:ln>
        </p:spPr>
        <p:txBody>
          <a:bodyPr wrap="none">
            <a:spAutoFit/>
          </a:bodyPr>
          <a:lstStyle/>
          <a:p>
            <a:r>
              <a:rPr lang="en-US" altLang="zh-CN" dirty="0" err="1">
                <a:solidFill>
                  <a:srgbClr val="FF0000"/>
                </a:solidFill>
              </a:rPr>
              <a:t>d</a:t>
            </a:r>
            <a:r>
              <a:rPr lang="en-US" altLang="zh-CN" dirty="0" err="1">
                <a:solidFill>
                  <a:srgbClr val="FF0000"/>
                </a:solidFill>
                <a:latin typeface="宋体" charset="-122"/>
              </a:rPr>
              <a:t>×</a:t>
            </a:r>
            <a:r>
              <a:rPr lang="en-US" altLang="zh-CN" dirty="0" err="1">
                <a:solidFill>
                  <a:srgbClr val="FF0000"/>
                </a:solidFill>
              </a:rPr>
              <a:t>d</a:t>
            </a:r>
            <a:endParaRPr lang="zh-CN" altLang="en-US" dirty="0">
              <a:solidFill>
                <a:srgbClr val="FF0000"/>
              </a:solidFill>
            </a:endParaRPr>
          </a:p>
        </p:txBody>
      </p:sp>
      <p:sp>
        <p:nvSpPr>
          <p:cNvPr id="23" name="矩形 22"/>
          <p:cNvSpPr>
            <a:spLocks noChangeArrowheads="1"/>
          </p:cNvSpPr>
          <p:nvPr/>
        </p:nvSpPr>
        <p:spPr bwMode="auto">
          <a:xfrm>
            <a:off x="5238751" y="4000501"/>
            <a:ext cx="1000125" cy="646113"/>
          </a:xfrm>
          <a:prstGeom prst="rect">
            <a:avLst/>
          </a:prstGeom>
          <a:noFill/>
          <a:ln w="9525">
            <a:noFill/>
            <a:miter lim="800000"/>
            <a:headEnd/>
            <a:tailEnd/>
          </a:ln>
        </p:spPr>
        <p:txBody>
          <a:bodyPr>
            <a:spAutoFit/>
          </a:bodyPr>
          <a:lstStyle/>
          <a:p>
            <a:r>
              <a:rPr lang="en-US" altLang="zh-CN" dirty="0">
                <a:solidFill>
                  <a:srgbClr val="FF0000"/>
                </a:solidFill>
              </a:rPr>
              <a:t>D</a:t>
            </a:r>
            <a:r>
              <a:rPr lang="en-US" altLang="zh-CN" dirty="0">
                <a:solidFill>
                  <a:srgbClr val="FF0000"/>
                </a:solidFill>
                <a:latin typeface="宋体" charset="-122"/>
              </a:rPr>
              <a:t>×</a:t>
            </a:r>
            <a:r>
              <a:rPr lang="en-US" altLang="zh-CN" dirty="0">
                <a:solidFill>
                  <a:srgbClr val="FF0000"/>
                </a:solidFill>
              </a:rPr>
              <a:t>D</a:t>
            </a:r>
          </a:p>
          <a:p>
            <a:r>
              <a:rPr lang="zh-CN" altLang="en-US" dirty="0">
                <a:solidFill>
                  <a:srgbClr val="FF0000"/>
                </a:solidFill>
              </a:rPr>
              <a:t>对称阵</a:t>
            </a:r>
          </a:p>
        </p:txBody>
      </p:sp>
      <p:cxnSp>
        <p:nvCxnSpPr>
          <p:cNvPr id="24" name="直接箭头连接符 23"/>
          <p:cNvCxnSpPr>
            <a:cxnSpLocks noChangeShapeType="1"/>
          </p:cNvCxnSpPr>
          <p:nvPr/>
        </p:nvCxnSpPr>
        <p:spPr bwMode="auto">
          <a:xfrm rot="10800000">
            <a:off x="4820206" y="3819192"/>
            <a:ext cx="500062" cy="285750"/>
          </a:xfrm>
          <a:prstGeom prst="straightConnector1">
            <a:avLst/>
          </a:prstGeom>
          <a:noFill/>
          <a:ln w="12700" cap="sq" algn="ctr">
            <a:solidFill>
              <a:srgbClr val="FF0000"/>
            </a:solidFill>
            <a:round/>
            <a:headEnd type="none" w="sm" len="sm"/>
            <a:tailEnd type="arrow" w="med" len="med"/>
          </a:ln>
        </p:spPr>
      </p:cxnSp>
      <mc:AlternateContent xmlns:mc="http://schemas.openxmlformats.org/markup-compatibility/2006" xmlns:a14="http://schemas.microsoft.com/office/drawing/2010/main">
        <mc:Choice Requires="a14">
          <p:sp>
            <p:nvSpPr>
              <p:cNvPr id="17" name="矩形 16"/>
              <p:cNvSpPr/>
              <p:nvPr/>
            </p:nvSpPr>
            <p:spPr>
              <a:xfrm>
                <a:off x="1532656" y="5156959"/>
                <a:ext cx="9084084" cy="369332"/>
              </a:xfrm>
              <a:prstGeom prst="rect">
                <a:avLst/>
              </a:prstGeom>
            </p:spPr>
            <p:txBody>
              <a:bodyPr wrap="square">
                <a:spAutoFit/>
              </a:bodyPr>
              <a:lstStyle/>
              <a:p>
                <a:r>
                  <a:rPr lang="zh-CN" altLang="en-US" dirty="0">
                    <a:solidFill>
                      <a:srgbClr val="FF0000"/>
                    </a:solidFill>
                  </a:rPr>
                  <a:t>经过</a:t>
                </a:r>
                <a:r>
                  <a:rPr lang="en-US" altLang="zh-CN" dirty="0">
                    <a:solidFill>
                      <a:srgbClr val="FF0000"/>
                    </a:solidFill>
                  </a:rPr>
                  <a:t>W</a:t>
                </a:r>
                <a:r>
                  <a:rPr lang="zh-CN" altLang="en-US" dirty="0">
                    <a:solidFill>
                      <a:srgbClr val="FF0000"/>
                    </a:solidFill>
                  </a:rPr>
                  <a:t>变换后，类内离散度矩阵和类间离散度矩阵分别为</a:t>
                </a:r>
                <a14:m>
                  <m:oMath xmlns:m="http://schemas.openxmlformats.org/officeDocument/2006/math">
                    <m:sSup>
                      <m:sSupPr>
                        <m:ctrlPr>
                          <a:rPr lang="zh-CN" altLang="en-US" i="1">
                            <a:solidFill>
                              <a:srgbClr val="FF0000"/>
                            </a:solidFill>
                            <a:latin typeface="Cambria Math" panose="02040503050406030204" pitchFamily="18" charset="0"/>
                          </a:rPr>
                        </m:ctrlPr>
                      </m:sSupPr>
                      <m:e>
                        <m:sSup>
                          <m:sSupPr>
                            <m:ctrlPr>
                              <a:rPr lang="zh-CN" altLang="en-US" i="1">
                                <a:solidFill>
                                  <a:srgbClr val="FF0000"/>
                                </a:solidFill>
                                <a:latin typeface="Cambria Math" panose="02040503050406030204" pitchFamily="18" charset="0"/>
                              </a:rPr>
                            </m:ctrlPr>
                          </m:sSupPr>
                          <m:e>
                            <m:r>
                              <a:rPr lang="zh-CN" altLang="en-US" i="1">
                                <a:solidFill>
                                  <a:srgbClr val="FF0000"/>
                                </a:solidFill>
                                <a:latin typeface="Cambria Math" panose="02040503050406030204" pitchFamily="18" charset="0"/>
                              </a:rPr>
                              <m:t>𝑊</m:t>
                            </m:r>
                          </m:e>
                          <m:sup>
                            <m:r>
                              <a:rPr lang="zh-CN" altLang="en-US" i="1">
                                <a:solidFill>
                                  <a:srgbClr val="FF0000"/>
                                </a:solidFill>
                                <a:latin typeface="Cambria Math" panose="02040503050406030204" pitchFamily="18" charset="0"/>
                              </a:rPr>
                              <m:t>𝑇</m:t>
                            </m:r>
                          </m:sup>
                        </m:sSup>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𝑆</m:t>
                            </m:r>
                          </m:e>
                          <m:sub>
                            <m:r>
                              <a:rPr lang="zh-CN" altLang="en-US" i="1">
                                <a:solidFill>
                                  <a:srgbClr val="FF0000"/>
                                </a:solidFill>
                                <a:latin typeface="Cambria Math" panose="02040503050406030204" pitchFamily="18" charset="0"/>
                              </a:rPr>
                              <m:t>𝑤</m:t>
                            </m:r>
                          </m:sub>
                        </m:sSub>
                        <m:r>
                          <a:rPr lang="zh-CN" altLang="en-US" i="1">
                            <a:solidFill>
                              <a:srgbClr val="FF0000"/>
                            </a:solidFill>
                            <a:latin typeface="Cambria Math" panose="02040503050406030204" pitchFamily="18" charset="0"/>
                          </a:rPr>
                          <m:t>𝑊</m:t>
                        </m:r>
                        <m:r>
                          <a:rPr lang="zh-CN" altLang="en-US" i="1" smtClean="0">
                            <a:solidFill>
                              <a:srgbClr val="FF0000"/>
                            </a:solidFill>
                            <a:latin typeface="Cambria Math" panose="02040503050406030204" pitchFamily="18" charset="0"/>
                          </a:rPr>
                          <m:t>和</m:t>
                        </m:r>
                        <m:r>
                          <a:rPr lang="zh-CN" altLang="en-US" i="1">
                            <a:solidFill>
                              <a:srgbClr val="FF0000"/>
                            </a:solidFill>
                            <a:latin typeface="Cambria Math" panose="02040503050406030204" pitchFamily="18" charset="0"/>
                          </a:rPr>
                          <m:t>𝑊</m:t>
                        </m:r>
                      </m:e>
                      <m:sup>
                        <m:r>
                          <a:rPr lang="zh-CN" altLang="en-US" i="1">
                            <a:solidFill>
                              <a:srgbClr val="FF0000"/>
                            </a:solidFill>
                            <a:latin typeface="Cambria Math" panose="02040503050406030204" pitchFamily="18" charset="0"/>
                          </a:rPr>
                          <m:t>𝑇</m:t>
                        </m:r>
                      </m:sup>
                    </m:sSup>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𝑆</m:t>
                        </m:r>
                      </m:e>
                      <m:sub>
                        <m:r>
                          <a:rPr lang="zh-CN" altLang="en-US" i="1">
                            <a:solidFill>
                              <a:srgbClr val="FF0000"/>
                            </a:solidFill>
                            <a:latin typeface="Cambria Math" panose="02040503050406030204" pitchFamily="18" charset="0"/>
                          </a:rPr>
                          <m:t>𝑏</m:t>
                        </m:r>
                      </m:sub>
                    </m:sSub>
                    <m:r>
                      <a:rPr lang="zh-CN" altLang="en-US" i="1">
                        <a:solidFill>
                          <a:srgbClr val="FF0000"/>
                        </a:solidFill>
                        <a:latin typeface="Cambria Math" panose="02040503050406030204" pitchFamily="18" charset="0"/>
                      </a:rPr>
                      <m:t>𝑊</m:t>
                    </m:r>
                    <m:r>
                      <a:rPr lang="zh-CN" altLang="en-US" i="1">
                        <a:solidFill>
                          <a:srgbClr val="FF0000"/>
                        </a:solidFill>
                        <a:latin typeface="Cambria Math" panose="02040503050406030204" pitchFamily="18" charset="0"/>
                      </a:rPr>
                      <m:t>（证略）</m:t>
                    </m:r>
                  </m:oMath>
                </a14:m>
                <a:endParaRPr lang="zh-CN" altLang="en-US" dirty="0">
                  <a:solidFill>
                    <a:srgbClr val="FF0000"/>
                  </a:solidFill>
                </a:endParaRPr>
              </a:p>
            </p:txBody>
          </p:sp>
        </mc:Choice>
        <mc:Fallback xmlns="">
          <p:sp>
            <p:nvSpPr>
              <p:cNvPr id="17" name="矩形 16"/>
              <p:cNvSpPr>
                <a:spLocks noRot="1" noChangeAspect="1" noMove="1" noResize="1" noEditPoints="1" noAdjustHandles="1" noChangeArrowheads="1" noChangeShapeType="1" noTextEdit="1"/>
              </p:cNvSpPr>
              <p:nvPr/>
            </p:nvSpPr>
            <p:spPr>
              <a:xfrm>
                <a:off x="1532656" y="5156959"/>
                <a:ext cx="9084084" cy="369332"/>
              </a:xfrm>
              <a:prstGeom prst="rect">
                <a:avLst/>
              </a:prstGeom>
              <a:blipFill>
                <a:blip r:embed="rId18"/>
                <a:stretch>
                  <a:fillRect l="-537" t="-9836"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2786598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72536" y="862336"/>
            <a:ext cx="8458200" cy="5534025"/>
          </a:xfrm>
        </p:spPr>
        <p:txBody>
          <a:bodyPr/>
          <a:lstStyle/>
          <a:p>
            <a:pPr marL="0" indent="0">
              <a:buNone/>
            </a:pPr>
            <a:r>
              <a:rPr lang="zh-CN" altLang="en-US" sz="2400" b="1" dirty="0">
                <a:solidFill>
                  <a:srgbClr val="0000FF"/>
                </a:solidFill>
                <a:latin typeface="宋体" pitchFamily="2" charset="-122"/>
                <a:ea typeface="宋体" pitchFamily="2" charset="-122"/>
              </a:rPr>
              <a:t>基于类内类间欧式距离的可分性判据（定义见特征提取章）</a:t>
            </a:r>
            <a:endParaRPr lang="en-US" altLang="zh-CN" sz="2400" b="1" dirty="0">
              <a:solidFill>
                <a:srgbClr val="0000FF"/>
              </a:solidFill>
              <a:latin typeface="宋体" pitchFamily="2" charset="-122"/>
              <a:ea typeface="宋体" pitchFamily="2" charset="-122"/>
            </a:endParaRPr>
          </a:p>
          <a:p>
            <a:pPr marL="0" indent="0">
              <a:buNone/>
            </a:pPr>
            <a:endParaRPr lang="en-US" altLang="zh-CN" sz="2400" b="1" dirty="0">
              <a:solidFill>
                <a:srgbClr val="0000FF"/>
              </a:solidFill>
              <a:latin typeface="宋体" pitchFamily="2" charset="-122"/>
              <a:ea typeface="宋体" pitchFamily="2" charset="-122"/>
            </a:endParaRPr>
          </a:p>
          <a:p>
            <a:pPr marL="0" indent="0">
              <a:buNone/>
            </a:pPr>
            <a:r>
              <a:rPr lang="zh-CN" altLang="en-US" sz="2400" b="1" dirty="0">
                <a:solidFill>
                  <a:srgbClr val="0000FF"/>
                </a:solidFill>
                <a:latin typeface="宋体" pitchFamily="2" charset="-122"/>
                <a:ea typeface="宋体" pitchFamily="2" charset="-122"/>
              </a:rPr>
              <a:t>准则函数 ：                </a:t>
            </a:r>
            <a:r>
              <a:rPr lang="zh-CN" altLang="en-US" sz="2400" b="1" dirty="0">
                <a:latin typeface="宋体" pitchFamily="2" charset="-122"/>
                <a:ea typeface="宋体" pitchFamily="2" charset="-122"/>
              </a:rPr>
              <a:t>（变换后的可分离性判据）</a:t>
            </a:r>
          </a:p>
          <a:p>
            <a:pPr marL="0" indent="0">
              <a:buNone/>
            </a:pPr>
            <a:r>
              <a:rPr lang="zh-CN" altLang="en-US" sz="2400" b="1" dirty="0">
                <a:latin typeface="宋体" pitchFamily="2" charset="-122"/>
                <a:ea typeface="宋体" pitchFamily="2" charset="-122"/>
              </a:rPr>
              <a:t>		 </a:t>
            </a:r>
          </a:p>
          <a:p>
            <a:pPr marL="0" indent="0">
              <a:buNone/>
            </a:pPr>
            <a:r>
              <a:rPr lang="zh-CN" altLang="en-US" sz="2400" b="1" dirty="0">
                <a:latin typeface="宋体" pitchFamily="2" charset="-122"/>
                <a:ea typeface="宋体" pitchFamily="2" charset="-122"/>
              </a:rPr>
              <a:t>		 </a:t>
            </a:r>
          </a:p>
          <a:p>
            <a:pPr marL="0" indent="0">
              <a:buNone/>
            </a:pPr>
            <a:r>
              <a:rPr lang="zh-CN" altLang="en-US" sz="2400" b="1" dirty="0">
                <a:latin typeface="宋体" pitchFamily="2" charset="-122"/>
                <a:ea typeface="宋体" pitchFamily="2" charset="-122"/>
              </a:rPr>
              <a:t>		 </a:t>
            </a:r>
          </a:p>
          <a:p>
            <a:pPr marL="0" indent="0">
              <a:buNone/>
            </a:pPr>
            <a:endParaRPr lang="zh-CN" altLang="en-US" sz="2400" b="1" dirty="0">
              <a:latin typeface="宋体" pitchFamily="2" charset="-122"/>
              <a:ea typeface="宋体"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8</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1674877810"/>
              </p:ext>
            </p:extLst>
          </p:nvPr>
        </p:nvGraphicFramePr>
        <p:xfrm>
          <a:off x="3568976" y="1825377"/>
          <a:ext cx="835293" cy="432048"/>
        </p:xfrm>
        <a:graphic>
          <a:graphicData uri="http://schemas.openxmlformats.org/presentationml/2006/ole">
            <mc:AlternateContent xmlns:mc="http://schemas.openxmlformats.org/markup-compatibility/2006">
              <mc:Choice xmlns:v="urn:schemas-microsoft-com:vml" Requires="v">
                <p:oleObj spid="_x0000_s342581" name="Equation" r:id="rId4" imgW="380835" imgH="203112" progId="Equation.DSMT4">
                  <p:embed/>
                </p:oleObj>
              </mc:Choice>
              <mc:Fallback>
                <p:oleObj name="Equation" r:id="rId4" imgW="380835" imgH="203112"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8976" y="1825377"/>
                        <a:ext cx="835293"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748333675"/>
              </p:ext>
            </p:extLst>
          </p:nvPr>
        </p:nvGraphicFramePr>
        <p:xfrm>
          <a:off x="1701924" y="2239267"/>
          <a:ext cx="3775844" cy="579240"/>
        </p:xfrm>
        <a:graphic>
          <a:graphicData uri="http://schemas.openxmlformats.org/presentationml/2006/ole">
            <mc:AlternateContent xmlns:mc="http://schemas.openxmlformats.org/markup-compatibility/2006">
              <mc:Choice xmlns:v="urn:schemas-microsoft-com:vml" Requires="v">
                <p:oleObj spid="_x0000_s342582" name="Equation" r:id="rId6" imgW="1790640" imgH="279360" progId="Equation.DSMT4">
                  <p:embed/>
                </p:oleObj>
              </mc:Choice>
              <mc:Fallback>
                <p:oleObj name="Equation" r:id="rId6" imgW="1790640" imgH="279360" progId="Equation.DSMT4">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01924" y="2239267"/>
                        <a:ext cx="3775844" cy="579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102552802"/>
              </p:ext>
            </p:extLst>
          </p:nvPr>
        </p:nvGraphicFramePr>
        <p:xfrm>
          <a:off x="1725614" y="2830513"/>
          <a:ext cx="4243387" cy="690562"/>
        </p:xfrm>
        <a:graphic>
          <a:graphicData uri="http://schemas.openxmlformats.org/presentationml/2006/ole">
            <mc:AlternateContent xmlns:mc="http://schemas.openxmlformats.org/markup-compatibility/2006">
              <mc:Choice xmlns:v="urn:schemas-microsoft-com:vml" Requires="v">
                <p:oleObj spid="_x0000_s342583" name="Equation" r:id="rId8" imgW="2158920" imgH="355320" progId="Equation.DSMT4">
                  <p:embed/>
                </p:oleObj>
              </mc:Choice>
              <mc:Fallback>
                <p:oleObj name="Equation" r:id="rId8" imgW="2158920" imgH="355320" progId="Equation.DSMT4">
                  <p:embed/>
                  <p:pic>
                    <p:nvPicPr>
                      <p:cNvPr id="0" name="Picture 4"/>
                      <p:cNvPicPr>
                        <a:picLocks noChangeAspect="1" noChangeArrowheads="1"/>
                      </p:cNvPicPr>
                      <p:nvPr/>
                    </p:nvPicPr>
                    <p:blipFill>
                      <a:blip r:embed="rId9"/>
                      <a:srcRect/>
                      <a:stretch>
                        <a:fillRect/>
                      </a:stretch>
                    </p:blipFill>
                    <p:spPr bwMode="auto">
                      <a:xfrm>
                        <a:off x="1725614" y="2830513"/>
                        <a:ext cx="4243387" cy="690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999705748"/>
              </p:ext>
            </p:extLst>
          </p:nvPr>
        </p:nvGraphicFramePr>
        <p:xfrm>
          <a:off x="1701925" y="3604734"/>
          <a:ext cx="2692341" cy="1116910"/>
        </p:xfrm>
        <a:graphic>
          <a:graphicData uri="http://schemas.openxmlformats.org/presentationml/2006/ole">
            <mc:AlternateContent xmlns:mc="http://schemas.openxmlformats.org/markup-compatibility/2006">
              <mc:Choice xmlns:v="urn:schemas-microsoft-com:vml" Requires="v">
                <p:oleObj spid="_x0000_s342584" name="Equation" r:id="rId10" imgW="1282700" imgH="533400" progId="Equation.DSMT4">
                  <p:embed/>
                </p:oleObj>
              </mc:Choice>
              <mc:Fallback>
                <p:oleObj name="Equation" r:id="rId10" imgW="1282700" imgH="533400" progId="Equation.DSMT4">
                  <p:embed/>
                  <p:pic>
                    <p:nvPicPr>
                      <p:cNvPr id="0"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01925" y="3604734"/>
                        <a:ext cx="2692341" cy="11169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6"/>
          <p:cNvSpPr>
            <a:spLocks noChangeArrowheads="1"/>
          </p:cNvSpPr>
          <p:nvPr/>
        </p:nvSpPr>
        <p:spPr bwMode="auto">
          <a:xfrm>
            <a:off x="152400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7"/>
          <p:cNvSpPr>
            <a:spLocks noChangeArrowheads="1"/>
          </p:cNvSpPr>
          <p:nvPr/>
        </p:nvSpPr>
        <p:spPr bwMode="auto">
          <a:xfrm>
            <a:off x="839382" y="911449"/>
            <a:ext cx="203132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altLang="zh-CN" sz="1600" dirty="0">
                <a:latin typeface="Times New Roman" pitchFamily="18" charset="0"/>
                <a:ea typeface="黑体" pitchFamily="49" charset="-122"/>
                <a:cs typeface="Arial" pitchFamily="34" charset="0"/>
              </a:rPr>
              <a:t>		</a:t>
            </a:r>
            <a:endParaRPr lang="en-US" altLang="zh-CN" dirty="0">
              <a:latin typeface="Arial" pitchFamily="34" charset="0"/>
              <a:ea typeface="宋体" pitchFamily="2" charset="-122"/>
              <a:cs typeface="宋体" pitchFamily="2" charset="-122"/>
            </a:endParaRPr>
          </a:p>
        </p:txBody>
      </p:sp>
      <p:sp>
        <p:nvSpPr>
          <p:cNvPr id="12" name="Rectangle 8"/>
          <p:cNvSpPr>
            <a:spLocks noChangeArrowheads="1"/>
          </p:cNvSpPr>
          <p:nvPr/>
        </p:nvSpPr>
        <p:spPr bwMode="auto">
          <a:xfrm>
            <a:off x="1524001" y="1859548"/>
            <a:ext cx="203132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altLang="zh-CN" sz="1600">
                <a:latin typeface="Times New Roman" pitchFamily="18" charset="0"/>
                <a:ea typeface="黑体" pitchFamily="49" charset="-122"/>
                <a:cs typeface="Times New Roman" pitchFamily="18" charset="0"/>
              </a:rPr>
              <a:t>		</a:t>
            </a:r>
            <a:endParaRPr lang="en-US" altLang="zh-CN">
              <a:latin typeface="Arial" pitchFamily="34" charset="0"/>
              <a:ea typeface="宋体" pitchFamily="2" charset="-122"/>
              <a:cs typeface="宋体" pitchFamily="2" charset="-122"/>
            </a:endParaRPr>
          </a:p>
        </p:txBody>
      </p:sp>
      <p:graphicFrame>
        <p:nvGraphicFramePr>
          <p:cNvPr id="140294" name="Object 6"/>
          <p:cNvGraphicFramePr>
            <a:graphicFrameLocks noChangeAspect="1"/>
          </p:cNvGraphicFramePr>
          <p:nvPr>
            <p:extLst>
              <p:ext uri="{D42A27DB-BD31-4B8C-83A1-F6EECF244321}">
                <p14:modId xmlns:p14="http://schemas.microsoft.com/office/powerpoint/2010/main" val="3568012009"/>
              </p:ext>
            </p:extLst>
          </p:nvPr>
        </p:nvGraphicFramePr>
        <p:xfrm>
          <a:off x="6910660" y="3731389"/>
          <a:ext cx="2425700" cy="863600"/>
        </p:xfrm>
        <a:graphic>
          <a:graphicData uri="http://schemas.openxmlformats.org/presentationml/2006/ole">
            <mc:AlternateContent xmlns:mc="http://schemas.openxmlformats.org/markup-compatibility/2006">
              <mc:Choice xmlns:v="urn:schemas-microsoft-com:vml" Requires="v">
                <p:oleObj spid="_x0000_s342585" name="Equation" r:id="rId12" imgW="1308100" imgH="457200" progId="Equation.DSMT4">
                  <p:embed/>
                </p:oleObj>
              </mc:Choice>
              <mc:Fallback>
                <p:oleObj name="Equation" r:id="rId12" imgW="1308100" imgH="457200" progId="Equation.DSMT4">
                  <p:embed/>
                  <p:pic>
                    <p:nvPicPr>
                      <p:cNvPr id="0" name="Picture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10660" y="3731389"/>
                        <a:ext cx="2425700"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0295" name="Object 7"/>
          <p:cNvGraphicFramePr>
            <a:graphicFrameLocks noChangeAspect="1"/>
          </p:cNvGraphicFramePr>
          <p:nvPr>
            <p:extLst>
              <p:ext uri="{D42A27DB-BD31-4B8C-83A1-F6EECF244321}">
                <p14:modId xmlns:p14="http://schemas.microsoft.com/office/powerpoint/2010/main" val="2599154514"/>
              </p:ext>
            </p:extLst>
          </p:nvPr>
        </p:nvGraphicFramePr>
        <p:xfrm>
          <a:off x="1701924" y="4753157"/>
          <a:ext cx="2120900" cy="1028700"/>
        </p:xfrm>
        <a:graphic>
          <a:graphicData uri="http://schemas.openxmlformats.org/presentationml/2006/ole">
            <mc:AlternateContent xmlns:mc="http://schemas.openxmlformats.org/markup-compatibility/2006">
              <mc:Choice xmlns:v="urn:schemas-microsoft-com:vml" Requires="v">
                <p:oleObj spid="_x0000_s342586" name="Equation" r:id="rId14" imgW="1129810" imgH="533169" progId="Equation.DSMT4">
                  <p:embed/>
                </p:oleObj>
              </mc:Choice>
              <mc:Fallback>
                <p:oleObj name="Equation" r:id="rId14" imgW="1129810" imgH="533169" progId="Equation.DSMT4">
                  <p:embed/>
                  <p:pic>
                    <p:nvPicPr>
                      <p:cNvPr id="0" name="Picture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01924" y="4753157"/>
                        <a:ext cx="2120900" cy="1028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0296" name="Object 8"/>
          <p:cNvGraphicFramePr>
            <a:graphicFrameLocks noChangeAspect="1"/>
          </p:cNvGraphicFramePr>
          <p:nvPr>
            <p:extLst>
              <p:ext uri="{D42A27DB-BD31-4B8C-83A1-F6EECF244321}">
                <p14:modId xmlns:p14="http://schemas.microsoft.com/office/powerpoint/2010/main" val="4180189389"/>
              </p:ext>
            </p:extLst>
          </p:nvPr>
        </p:nvGraphicFramePr>
        <p:xfrm>
          <a:off x="4566638" y="5081406"/>
          <a:ext cx="1651000" cy="482600"/>
        </p:xfrm>
        <a:graphic>
          <a:graphicData uri="http://schemas.openxmlformats.org/presentationml/2006/ole">
            <mc:AlternateContent xmlns:mc="http://schemas.openxmlformats.org/markup-compatibility/2006">
              <mc:Choice xmlns:v="urn:schemas-microsoft-com:vml" Requires="v">
                <p:oleObj spid="_x0000_s342587" name="Equation" r:id="rId16" imgW="774364" imgH="228501" progId="Equation.DSMT4">
                  <p:embed/>
                </p:oleObj>
              </mc:Choice>
              <mc:Fallback>
                <p:oleObj name="Equation" r:id="rId16" imgW="774364" imgH="228501" progId="Equation.DSMT4">
                  <p:embed/>
                  <p:pic>
                    <p:nvPicPr>
                      <p:cNvPr id="0" name="Picture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66638" y="5081406"/>
                        <a:ext cx="16510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16" name="内容占位符 2"/>
              <p:cNvSpPr txBox="1">
                <a:spLocks/>
              </p:cNvSpPr>
              <p:nvPr/>
            </p:nvSpPr>
            <p:spPr bwMode="gray">
              <a:xfrm>
                <a:off x="1271464" y="4983413"/>
                <a:ext cx="8458200" cy="12374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eaLnBrk="0" hangingPunct="0">
                  <a:spcBef>
                    <a:spcPct val="20000"/>
                  </a:spcBef>
                  <a:buClr>
                    <a:schemeClr val="tx2"/>
                  </a:buClr>
                  <a:defRPr/>
                </a:pPr>
                <a:r>
                  <a:rPr lang="zh-CN" altLang="en-US" sz="2800" kern="0" dirty="0">
                    <a:latin typeface="+mn-lt"/>
                  </a:rPr>
                  <a:t>          </a:t>
                </a:r>
                <a:endParaRPr lang="zh-CN" altLang="en-US" sz="2400" b="1" kern="0" dirty="0">
                  <a:latin typeface="宋体" pitchFamily="2" charset="-122"/>
                  <a:ea typeface="宋体" pitchFamily="2" charset="-122"/>
                </a:endParaRPr>
              </a:p>
              <a:p>
                <a:pPr eaLnBrk="0" hangingPunct="0">
                  <a:lnSpc>
                    <a:spcPct val="150000"/>
                  </a:lnSpc>
                  <a:spcBef>
                    <a:spcPts val="0"/>
                  </a:spcBef>
                  <a:buClr>
                    <a:schemeClr val="tx2"/>
                  </a:buClr>
                  <a:defRPr/>
                </a:pPr>
                <a:r>
                  <a:rPr lang="zh-CN" altLang="en-US" sz="2400" b="1" kern="0" dirty="0">
                    <a:latin typeface="宋体" pitchFamily="2" charset="-122"/>
                    <a:ea typeface="宋体" pitchFamily="2" charset="-122"/>
                  </a:rPr>
                  <a:t>	目标：求</a:t>
                </a:r>
                <a14:m>
                  <m:oMath xmlns:m="http://schemas.openxmlformats.org/officeDocument/2006/math">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𝑊</m:t>
                        </m:r>
                      </m:e>
                      <m:sup>
                        <m:r>
                          <a:rPr lang="zh-CN" altLang="en-US" sz="2400">
                            <a:latin typeface="Cambria Math" panose="02040503050406030204" pitchFamily="18" charset="0"/>
                          </a:rPr>
                          <m:t>∗</m:t>
                        </m:r>
                      </m:sup>
                    </m:sSup>
                  </m:oMath>
                </a14:m>
                <a:r>
                  <a:rPr lang="en-US" altLang="zh-CN" sz="2400" dirty="0"/>
                  <a:t>=</a:t>
                </a:r>
                <a:r>
                  <a:rPr lang="zh-CN" altLang="en-US" sz="2400" dirty="0"/>
                  <a:t> </a:t>
                </a:r>
                <a14:m>
                  <m:oMath xmlns:m="http://schemas.openxmlformats.org/officeDocument/2006/math">
                    <m:limLow>
                      <m:limLowPr>
                        <m:ctrlPr>
                          <a:rPr lang="zh-CN" altLang="en-US" sz="2400" i="1">
                            <a:latin typeface="Cambria Math" panose="02040503050406030204" pitchFamily="18" charset="0"/>
                          </a:rPr>
                        </m:ctrlPr>
                      </m:limLowPr>
                      <m:e>
                        <m:r>
                          <m:rPr>
                            <m:sty m:val="p"/>
                          </m:rPr>
                          <a:rPr lang="en-US" altLang="zh-CN" sz="2400" i="1">
                            <a:latin typeface="Cambria Math" panose="02040503050406030204" pitchFamily="18" charset="0"/>
                          </a:rPr>
                          <m:t>arg</m:t>
                        </m:r>
                        <m:r>
                          <m:rPr>
                            <m:sty m:val="p"/>
                          </m:rPr>
                          <a:rPr lang="zh-CN" altLang="en-US" sz="2400">
                            <a:latin typeface="Cambria Math" panose="02040503050406030204" pitchFamily="18" charset="0"/>
                          </a:rPr>
                          <m:t>max</m:t>
                        </m:r>
                      </m:e>
                      <m:lim>
                        <m:d>
                          <m:dPr>
                            <m:begChr m:val="{"/>
                            <m:endChr m:val="}"/>
                            <m:ctrlPr>
                              <a:rPr lang="zh-CN" altLang="en-US" sz="2400" i="1">
                                <a:latin typeface="Cambria Math" panose="02040503050406030204" pitchFamily="18" charset="0"/>
                              </a:rPr>
                            </m:ctrlPr>
                          </m:dPr>
                          <m:e>
                            <m:r>
                              <a:rPr lang="zh-CN" altLang="en-US" sz="2400" i="1">
                                <a:latin typeface="Cambria Math" panose="02040503050406030204" pitchFamily="18" charset="0"/>
                              </a:rPr>
                              <m:t>𝑤</m:t>
                            </m:r>
                          </m:e>
                        </m:d>
                      </m:lim>
                    </m:limLow>
                    <m:r>
                      <a:rPr lang="en-US" altLang="zh-CN" sz="2400" i="1">
                        <a:latin typeface="Cambria Math" panose="02040503050406030204" pitchFamily="18" charset="0"/>
                      </a:rPr>
                      <m:t> </m:t>
                    </m:r>
                    <m:r>
                      <a:rPr lang="zh-CN" altLang="en-US" sz="2400" i="1">
                        <a:latin typeface="Cambria Math" panose="02040503050406030204" pitchFamily="18" charset="0"/>
                      </a:rPr>
                      <m:t>𝐽</m:t>
                    </m:r>
                    <m:r>
                      <a:rPr lang="zh-CN" altLang="en-US" sz="240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𝑊</m:t>
                        </m:r>
                      </m:e>
                      <m:sup>
                        <m:r>
                          <a:rPr lang="zh-CN" altLang="en-US" sz="2400" i="1">
                            <a:latin typeface="Cambria Math" panose="02040503050406030204" pitchFamily="18" charset="0"/>
                          </a:rPr>
                          <m:t>𝑇</m:t>
                        </m:r>
                      </m:sup>
                    </m:sSup>
                    <m:r>
                      <a:rPr lang="zh-CN" altLang="en-US" sz="2400" i="1">
                        <a:latin typeface="Cambria Math" panose="02040503050406030204" pitchFamily="18" charset="0"/>
                      </a:rPr>
                      <m:t>𝑥</m:t>
                    </m:r>
                    <m:r>
                      <a:rPr lang="en-US" altLang="zh-CN" sz="2400" i="1">
                        <a:latin typeface="Cambria Math" panose="02040503050406030204" pitchFamily="18" charset="0"/>
                      </a:rPr>
                      <m:t>)</m:t>
                    </m:r>
                  </m:oMath>
                </a14:m>
                <a:endParaRPr lang="zh-CN" altLang="en-US" sz="2400" dirty="0"/>
              </a:p>
              <a:p>
                <a:pPr eaLnBrk="0" hangingPunct="0">
                  <a:lnSpc>
                    <a:spcPct val="150000"/>
                  </a:lnSpc>
                  <a:spcBef>
                    <a:spcPts val="0"/>
                  </a:spcBef>
                  <a:buClr>
                    <a:schemeClr val="tx2"/>
                  </a:buClr>
                  <a:defRPr/>
                </a:pPr>
                <a:r>
                  <a:rPr lang="zh-CN" altLang="en-US" sz="2400" b="1" kern="0" dirty="0">
                    <a:latin typeface="宋体" pitchFamily="2" charset="-122"/>
                    <a:ea typeface="宋体" pitchFamily="2" charset="-122"/>
                  </a:rPr>
                  <a:t>   </a:t>
                </a:r>
              </a:p>
            </p:txBody>
          </p:sp>
        </mc:Choice>
        <mc:Fallback xmlns="">
          <p:sp>
            <p:nvSpPr>
              <p:cNvPr id="16" name="内容占位符 2"/>
              <p:cNvSpPr txBox="1">
                <a:spLocks noRot="1" noChangeAspect="1" noMove="1" noResize="1" noEditPoints="1" noAdjustHandles="1" noChangeArrowheads="1" noChangeShapeType="1" noTextEdit="1"/>
              </p:cNvSpPr>
              <p:nvPr/>
            </p:nvSpPr>
            <p:spPr bwMode="gray">
              <a:xfrm>
                <a:off x="1271464" y="4983413"/>
                <a:ext cx="8458200" cy="1237456"/>
              </a:xfrm>
              <a:prstGeom prst="rect">
                <a:avLst/>
              </a:prstGeom>
              <a:blipFill rotWithShape="0">
                <a:blip r:embed="rId18"/>
                <a:stretch>
                  <a:fillRect b="-11823"/>
                </a:stretch>
              </a:blipFill>
              <a:ln w="9525">
                <a:noFill/>
                <a:miter lim="800000"/>
                <a:headEnd/>
                <a:tailEnd/>
              </a:ln>
            </p:spPr>
            <p:txBody>
              <a:bodyPr/>
              <a:lstStyle/>
              <a:p>
                <a:r>
                  <a:rPr lang="zh-CN" altLang="en-US">
                    <a:noFill/>
                  </a:rPr>
                  <a:t> </a:t>
                </a:r>
              </a:p>
            </p:txBody>
          </p:sp>
        </mc:Fallback>
      </mc:AlternateContent>
      <p:sp>
        <p:nvSpPr>
          <p:cNvPr id="23" name="标题 1"/>
          <p:cNvSpPr>
            <a:spLocks noGrp="1"/>
          </p:cNvSpPr>
          <p:nvPr>
            <p:ph type="title"/>
          </p:nvPr>
        </p:nvSpPr>
        <p:spPr>
          <a:xfrm>
            <a:off x="1828800" y="152401"/>
            <a:ext cx="7507560" cy="563563"/>
          </a:xfrm>
        </p:spPr>
        <p:txBody>
          <a:bodyPr/>
          <a:lstStyle/>
          <a:p>
            <a:r>
              <a:rPr lang="en-US" altLang="zh-CN" sz="2800" dirty="0"/>
              <a:t>17.1 </a:t>
            </a:r>
            <a:r>
              <a:rPr lang="zh-CN" altLang="en-US" sz="2800" dirty="0"/>
              <a:t>基于类别可分离性判据的特征提取</a:t>
            </a:r>
          </a:p>
        </p:txBody>
      </p:sp>
      <mc:AlternateContent xmlns:mc="http://schemas.openxmlformats.org/markup-compatibility/2006" xmlns:a14="http://schemas.microsoft.com/office/drawing/2010/main">
        <mc:Choice Requires="a14">
          <p:sp>
            <p:nvSpPr>
              <p:cNvPr id="13" name="矩形 12"/>
              <p:cNvSpPr/>
              <p:nvPr/>
            </p:nvSpPr>
            <p:spPr>
              <a:xfrm>
                <a:off x="1764444" y="1347229"/>
                <a:ext cx="9084084" cy="369332"/>
              </a:xfrm>
              <a:prstGeom prst="rect">
                <a:avLst/>
              </a:prstGeom>
            </p:spPr>
            <p:txBody>
              <a:bodyPr wrap="square">
                <a:spAutoFit/>
              </a:bodyPr>
              <a:lstStyle/>
              <a:p>
                <a:r>
                  <a:rPr lang="zh-CN" altLang="en-US" dirty="0">
                    <a:solidFill>
                      <a:srgbClr val="FF0000"/>
                    </a:solidFill>
                  </a:rPr>
                  <a:t>经过</a:t>
                </a:r>
                <a:r>
                  <a:rPr lang="en-US" altLang="zh-CN" dirty="0">
                    <a:solidFill>
                      <a:srgbClr val="FF0000"/>
                    </a:solidFill>
                  </a:rPr>
                  <a:t>W</a:t>
                </a:r>
                <a:r>
                  <a:rPr lang="zh-CN" altLang="en-US" dirty="0">
                    <a:solidFill>
                      <a:srgbClr val="FF0000"/>
                    </a:solidFill>
                  </a:rPr>
                  <a:t>变换后，类内离散度矩阵和类间离散度矩阵分别为</a:t>
                </a:r>
                <a14:m>
                  <m:oMath xmlns:m="http://schemas.openxmlformats.org/officeDocument/2006/math">
                    <m:sSup>
                      <m:sSupPr>
                        <m:ctrlPr>
                          <a:rPr lang="zh-CN" altLang="en-US" i="1">
                            <a:solidFill>
                              <a:srgbClr val="FF0000"/>
                            </a:solidFill>
                            <a:latin typeface="Cambria Math" panose="02040503050406030204" pitchFamily="18" charset="0"/>
                          </a:rPr>
                        </m:ctrlPr>
                      </m:sSupPr>
                      <m:e>
                        <m:sSup>
                          <m:sSupPr>
                            <m:ctrlPr>
                              <a:rPr lang="zh-CN" altLang="en-US" i="1">
                                <a:solidFill>
                                  <a:srgbClr val="FF0000"/>
                                </a:solidFill>
                                <a:latin typeface="Cambria Math" panose="02040503050406030204" pitchFamily="18" charset="0"/>
                              </a:rPr>
                            </m:ctrlPr>
                          </m:sSupPr>
                          <m:e>
                            <m:r>
                              <a:rPr lang="zh-CN" altLang="en-US" i="1">
                                <a:solidFill>
                                  <a:srgbClr val="FF0000"/>
                                </a:solidFill>
                                <a:latin typeface="Cambria Math" panose="02040503050406030204" pitchFamily="18" charset="0"/>
                              </a:rPr>
                              <m:t>𝑊</m:t>
                            </m:r>
                          </m:e>
                          <m:sup>
                            <m:r>
                              <a:rPr lang="zh-CN" altLang="en-US" i="1">
                                <a:solidFill>
                                  <a:srgbClr val="FF0000"/>
                                </a:solidFill>
                                <a:latin typeface="Cambria Math" panose="02040503050406030204" pitchFamily="18" charset="0"/>
                              </a:rPr>
                              <m:t>𝑇</m:t>
                            </m:r>
                          </m:sup>
                        </m:sSup>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𝑆</m:t>
                            </m:r>
                          </m:e>
                          <m:sub>
                            <m:r>
                              <a:rPr lang="zh-CN" altLang="en-US" i="1">
                                <a:solidFill>
                                  <a:srgbClr val="FF0000"/>
                                </a:solidFill>
                                <a:latin typeface="Cambria Math" panose="02040503050406030204" pitchFamily="18" charset="0"/>
                              </a:rPr>
                              <m:t>𝑤</m:t>
                            </m:r>
                          </m:sub>
                        </m:sSub>
                        <m:r>
                          <a:rPr lang="zh-CN" altLang="en-US" i="1">
                            <a:solidFill>
                              <a:srgbClr val="FF0000"/>
                            </a:solidFill>
                            <a:latin typeface="Cambria Math" panose="02040503050406030204" pitchFamily="18" charset="0"/>
                          </a:rPr>
                          <m:t>𝑊</m:t>
                        </m:r>
                        <m:r>
                          <a:rPr lang="zh-CN" altLang="en-US" i="1" smtClean="0">
                            <a:solidFill>
                              <a:srgbClr val="FF0000"/>
                            </a:solidFill>
                            <a:latin typeface="Cambria Math" panose="02040503050406030204" pitchFamily="18" charset="0"/>
                          </a:rPr>
                          <m:t>和</m:t>
                        </m:r>
                        <m:r>
                          <a:rPr lang="zh-CN" altLang="en-US" i="1">
                            <a:solidFill>
                              <a:srgbClr val="FF0000"/>
                            </a:solidFill>
                            <a:latin typeface="Cambria Math" panose="02040503050406030204" pitchFamily="18" charset="0"/>
                          </a:rPr>
                          <m:t>𝑊</m:t>
                        </m:r>
                      </m:e>
                      <m:sup>
                        <m:r>
                          <a:rPr lang="zh-CN" altLang="en-US" i="1">
                            <a:solidFill>
                              <a:srgbClr val="FF0000"/>
                            </a:solidFill>
                            <a:latin typeface="Cambria Math" panose="02040503050406030204" pitchFamily="18" charset="0"/>
                          </a:rPr>
                          <m:t>𝑇</m:t>
                        </m:r>
                      </m:sup>
                    </m:sSup>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𝑆</m:t>
                        </m:r>
                      </m:e>
                      <m:sub>
                        <m:r>
                          <a:rPr lang="zh-CN" altLang="en-US" i="1">
                            <a:solidFill>
                              <a:srgbClr val="FF0000"/>
                            </a:solidFill>
                            <a:latin typeface="Cambria Math" panose="02040503050406030204" pitchFamily="18" charset="0"/>
                          </a:rPr>
                          <m:t>𝑏</m:t>
                        </m:r>
                      </m:sub>
                    </m:sSub>
                    <m:r>
                      <a:rPr lang="zh-CN" altLang="en-US" i="1">
                        <a:solidFill>
                          <a:srgbClr val="FF0000"/>
                        </a:solidFill>
                        <a:latin typeface="Cambria Math" panose="02040503050406030204" pitchFamily="18" charset="0"/>
                      </a:rPr>
                      <m:t>𝑊</m:t>
                    </m:r>
                    <m:r>
                      <a:rPr lang="zh-CN" altLang="en-US" i="1">
                        <a:solidFill>
                          <a:srgbClr val="FF0000"/>
                        </a:solidFill>
                        <a:latin typeface="Cambria Math" panose="02040503050406030204" pitchFamily="18" charset="0"/>
                      </a:rPr>
                      <m:t>（证略）</m:t>
                    </m:r>
                  </m:oMath>
                </a14:m>
                <a:endParaRPr lang="zh-CN" altLang="en-US" dirty="0">
                  <a:solidFill>
                    <a:srgbClr val="FF0000"/>
                  </a:solidFill>
                </a:endParaRPr>
              </a:p>
            </p:txBody>
          </p:sp>
        </mc:Choice>
        <mc:Fallback xmlns="">
          <p:sp>
            <p:nvSpPr>
              <p:cNvPr id="13" name="矩形 12"/>
              <p:cNvSpPr>
                <a:spLocks noRot="1" noChangeAspect="1" noMove="1" noResize="1" noEditPoints="1" noAdjustHandles="1" noChangeArrowheads="1" noChangeShapeType="1" noTextEdit="1"/>
              </p:cNvSpPr>
              <p:nvPr/>
            </p:nvSpPr>
            <p:spPr>
              <a:xfrm>
                <a:off x="1764444" y="1347229"/>
                <a:ext cx="9084084" cy="369332"/>
              </a:xfrm>
              <a:prstGeom prst="rect">
                <a:avLst/>
              </a:prstGeom>
              <a:blipFill>
                <a:blip r:embed="rId23"/>
                <a:stretch>
                  <a:fillRect l="-537" t="-8197" b="-24590"/>
                </a:stretch>
              </a:blipFill>
            </p:spPr>
            <p:txBody>
              <a:bodyPr/>
              <a:lstStyle/>
              <a:p>
                <a:r>
                  <a:rPr lang="zh-CN" altLang="en-US">
                    <a:noFill/>
                  </a:rPr>
                  <a:t> </a:t>
                </a:r>
              </a:p>
            </p:txBody>
          </p:sp>
        </mc:Fallback>
      </mc:AlternateContent>
      <p:sp>
        <p:nvSpPr>
          <p:cNvPr id="18" name="矩形 17"/>
          <p:cNvSpPr/>
          <p:nvPr/>
        </p:nvSpPr>
        <p:spPr>
          <a:xfrm>
            <a:off x="6816080" y="5634086"/>
            <a:ext cx="2917484" cy="646331"/>
          </a:xfrm>
          <a:prstGeom prst="rect">
            <a:avLst/>
          </a:prstGeom>
        </p:spPr>
        <p:txBody>
          <a:bodyPr wrap="square">
            <a:spAutoFit/>
          </a:bodyPr>
          <a:lstStyle/>
          <a:p>
            <a:r>
              <a:rPr lang="zh-CN" altLang="en-US" dirty="0">
                <a:solidFill>
                  <a:srgbClr val="FF0000"/>
                </a:solidFill>
              </a:rPr>
              <a:t>准则形式虽不同，但得到的最优变换矩阵</a:t>
            </a:r>
            <a:r>
              <a:rPr lang="en-US" altLang="zh-CN" dirty="0">
                <a:solidFill>
                  <a:srgbClr val="FF0000"/>
                </a:solidFill>
              </a:rPr>
              <a:t>W</a:t>
            </a:r>
            <a:r>
              <a:rPr lang="zh-CN" altLang="en-US" dirty="0">
                <a:solidFill>
                  <a:srgbClr val="FF0000"/>
                </a:solidFill>
              </a:rPr>
              <a:t>是相同的</a:t>
            </a:r>
          </a:p>
        </p:txBody>
      </p:sp>
    </p:spTree>
    <p:extLst>
      <p:ext uri="{BB962C8B-B14F-4D97-AF65-F5344CB8AC3E}">
        <p14:creationId xmlns:p14="http://schemas.microsoft.com/office/powerpoint/2010/main" val="844103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3838062" y="995449"/>
            <a:ext cx="184731" cy="461665"/>
          </a:xfrm>
          <a:prstGeom prst="rect">
            <a:avLst/>
          </a:prstGeom>
          <a:solidFill>
            <a:schemeClr val="bg1"/>
          </a:solidFill>
        </p:spPr>
        <p:txBody>
          <a:bodyPr wrap="none" rtlCol="0" anchor="ctr">
            <a:spAutoFit/>
          </a:bodyPr>
          <a:lstStyle/>
          <a:p>
            <a:pPr algn="ctr"/>
            <a:endParaRPr lang="zh-CN" altLang="en-US" sz="2400" kern="100" dirty="0">
              <a:ea typeface="宋体"/>
              <a:cs typeface="Times New Roman"/>
            </a:endParaRPr>
          </a:p>
        </p:txBody>
      </p:sp>
      <p:sp>
        <p:nvSpPr>
          <p:cNvPr id="56334" name="Rectangle 2"/>
          <p:cNvSpPr>
            <a:spLocks noChangeArrowheads="1"/>
          </p:cNvSpPr>
          <p:nvPr/>
        </p:nvSpPr>
        <p:spPr bwMode="auto">
          <a:xfrm>
            <a:off x="2347914" y="1205117"/>
            <a:ext cx="496931" cy="430887"/>
          </a:xfrm>
          <a:prstGeom prst="rect">
            <a:avLst/>
          </a:prstGeom>
          <a:noFill/>
          <a:ln w="9525">
            <a:noFill/>
            <a:miter lim="800000"/>
            <a:headEnd/>
            <a:tailEnd/>
          </a:ln>
        </p:spPr>
        <p:txBody>
          <a:bodyPr wrap="none" lIns="0" tIns="0" rIns="0" bIns="0">
            <a:spAutoFit/>
          </a:bodyPr>
          <a:lstStyle/>
          <a:p>
            <a:r>
              <a:rPr lang="zh-CN" altLang="en-US" sz="2800" b="1">
                <a:solidFill>
                  <a:srgbClr val="800000"/>
                </a:solidFill>
              </a:rPr>
              <a:t>     </a:t>
            </a:r>
            <a:endParaRPr lang="zh-CN" altLang="en-US"/>
          </a:p>
        </p:txBody>
      </p:sp>
      <p:grpSp>
        <p:nvGrpSpPr>
          <p:cNvPr id="2" name="Group 3"/>
          <p:cNvGrpSpPr>
            <a:grpSpLocks/>
          </p:cNvGrpSpPr>
          <p:nvPr/>
        </p:nvGrpSpPr>
        <p:grpSpPr bwMode="auto">
          <a:xfrm>
            <a:off x="51876" y="1342747"/>
            <a:ext cx="7200898" cy="647742"/>
            <a:chOff x="-64" y="188"/>
            <a:chExt cx="4536" cy="944"/>
          </a:xfrm>
          <a:solidFill>
            <a:schemeClr val="bg1"/>
          </a:solidFill>
        </p:grpSpPr>
        <mc:AlternateContent xmlns:mc="http://schemas.openxmlformats.org/markup-compatibility/2006" xmlns:a14="http://schemas.microsoft.com/office/drawing/2010/main">
          <mc:Choice Requires="a14">
            <p:sp>
              <p:nvSpPr>
                <p:cNvPr id="56400" name="Rectangle 4"/>
                <p:cNvSpPr>
                  <a:spLocks noChangeArrowheads="1"/>
                </p:cNvSpPr>
                <p:nvPr/>
              </p:nvSpPr>
              <p:spPr bwMode="auto">
                <a:xfrm>
                  <a:off x="-64" y="594"/>
                  <a:ext cx="1322" cy="538"/>
                </a:xfrm>
                <a:prstGeom prst="rect">
                  <a:avLst/>
                </a:prstGeom>
                <a:grpFill/>
                <a:ln w="9525">
                  <a:noFill/>
                  <a:miter lim="800000"/>
                  <a:headEnd/>
                  <a:tailEnd/>
                </a:ln>
              </p:spPr>
              <p:txBody>
                <a:bodyPr wrap="none" lIns="0" tIns="0" rIns="0" bIns="0">
                  <a:spAutoFit/>
                </a:bodyPr>
                <a:lstStyle/>
                <a:p>
                  <a:r>
                    <a:rPr lang="zh-CN" altLang="en-US" sz="2400" b="1" dirty="0">
                      <a:latin typeface="楷体_GB2312" pitchFamily="49" charset="-122"/>
                      <a:ea typeface="楷体_GB2312" pitchFamily="49" charset="-122"/>
                    </a:rPr>
                    <a:t>在变换域中</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𝐽</m:t>
                          </m:r>
                        </m:e>
                        <m:sub>
                          <m:r>
                            <a:rPr lang="zh-CN" altLang="en-US" sz="2400">
                              <a:latin typeface="Cambria Math" panose="02040503050406030204" pitchFamily="18" charset="0"/>
                            </a:rPr>
                            <m:t>2</m:t>
                          </m:r>
                        </m:sub>
                      </m:sSub>
                      <m:r>
                        <m:rPr>
                          <m:nor/>
                        </m:rPr>
                        <a:rPr lang="zh-CN" altLang="en-US" sz="2400" b="1" dirty="0">
                          <a:latin typeface="楷体_GB2312" pitchFamily="49" charset="-122"/>
                          <a:ea typeface="楷体_GB2312" pitchFamily="49" charset="-122"/>
                        </a:rPr>
                        <m:t>为</m:t>
                      </m:r>
                    </m:oMath>
                  </a14:m>
                  <a:endParaRPr lang="zh-CN" altLang="en-US" sz="2400" b="1" dirty="0"/>
                </a:p>
              </p:txBody>
            </p:sp>
          </mc:Choice>
          <mc:Fallback xmlns="">
            <p:sp>
              <p:nvSpPr>
                <p:cNvPr id="56400" name="Rectangle 4"/>
                <p:cNvSpPr>
                  <a:spLocks noRot="1" noChangeAspect="1" noMove="1" noResize="1" noEditPoints="1" noAdjustHandles="1" noChangeArrowheads="1" noChangeShapeType="1" noTextEdit="1"/>
                </p:cNvSpPr>
                <p:nvPr/>
              </p:nvSpPr>
              <p:spPr bwMode="auto">
                <a:xfrm>
                  <a:off x="-64" y="594"/>
                  <a:ext cx="1322" cy="538"/>
                </a:xfrm>
                <a:prstGeom prst="rect">
                  <a:avLst/>
                </a:prstGeom>
                <a:blipFill>
                  <a:blip r:embed="rId4"/>
                  <a:stretch>
                    <a:fillRect l="-9012" t="-31148" r="-6105" b="-42623"/>
                  </a:stretch>
                </a:blipFill>
                <a:ln w="9525">
                  <a:noFill/>
                  <a:miter lim="800000"/>
                  <a:headEnd/>
                  <a:tailEnd/>
                </a:ln>
              </p:spPr>
              <p:txBody>
                <a:bodyPr/>
                <a:lstStyle/>
                <a:p>
                  <a:r>
                    <a:rPr lang="zh-CN" altLang="en-US">
                      <a:noFill/>
                    </a:rPr>
                    <a:t> </a:t>
                  </a:r>
                </a:p>
              </p:txBody>
            </p:sp>
          </mc:Fallback>
        </mc:AlternateContent>
        <p:sp>
          <p:nvSpPr>
            <p:cNvPr id="56402" name="Rectangle 8"/>
            <p:cNvSpPr>
              <a:spLocks noChangeArrowheads="1"/>
            </p:cNvSpPr>
            <p:nvPr/>
          </p:nvSpPr>
          <p:spPr bwMode="auto">
            <a:xfrm>
              <a:off x="1534" y="188"/>
              <a:ext cx="0" cy="538"/>
            </a:xfrm>
            <a:prstGeom prst="rect">
              <a:avLst/>
            </a:prstGeom>
            <a:grpFill/>
            <a:ln w="9525">
              <a:noFill/>
              <a:miter lim="800000"/>
              <a:headEnd/>
              <a:tailEnd/>
            </a:ln>
          </p:spPr>
          <p:txBody>
            <a:bodyPr wrap="none" lIns="0" tIns="0" rIns="0" bIns="0">
              <a:spAutoFit/>
            </a:bodyPr>
            <a:lstStyle/>
            <a:p>
              <a:endParaRPr lang="zh-CN" altLang="en-US" sz="2400" b="1" dirty="0"/>
            </a:p>
          </p:txBody>
        </p:sp>
        <p:grpSp>
          <p:nvGrpSpPr>
            <p:cNvPr id="4" name="Group 9"/>
            <p:cNvGrpSpPr>
              <a:grpSpLocks/>
            </p:cNvGrpSpPr>
            <p:nvPr/>
          </p:nvGrpSpPr>
          <p:grpSpPr bwMode="auto">
            <a:xfrm>
              <a:off x="1134" y="436"/>
              <a:ext cx="3338" cy="637"/>
              <a:chOff x="1134" y="436"/>
              <a:chExt cx="3338" cy="637"/>
            </a:xfrm>
            <a:grpFill/>
          </p:grpSpPr>
          <p:sp>
            <p:nvSpPr>
              <p:cNvPr id="56404" name="Rectangle 10"/>
              <p:cNvSpPr>
                <a:spLocks noChangeArrowheads="1"/>
              </p:cNvSpPr>
              <p:nvPr/>
            </p:nvSpPr>
            <p:spPr bwMode="auto">
              <a:xfrm>
                <a:off x="1928" y="43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05" name="Rectangle 11"/>
              <p:cNvSpPr>
                <a:spLocks noChangeArrowheads="1"/>
              </p:cNvSpPr>
              <p:nvPr/>
            </p:nvSpPr>
            <p:spPr bwMode="auto">
              <a:xfrm>
                <a:off x="2593" y="43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06" name="Rectangle 12"/>
              <p:cNvSpPr>
                <a:spLocks noChangeArrowheads="1"/>
              </p:cNvSpPr>
              <p:nvPr/>
            </p:nvSpPr>
            <p:spPr bwMode="auto">
              <a:xfrm>
                <a:off x="2964" y="43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07" name="Rectangle 13"/>
              <p:cNvSpPr>
                <a:spLocks noChangeArrowheads="1"/>
              </p:cNvSpPr>
              <p:nvPr/>
            </p:nvSpPr>
            <p:spPr bwMode="auto">
              <a:xfrm>
                <a:off x="4472" y="43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08" name="Rectangle 14"/>
              <p:cNvSpPr>
                <a:spLocks noChangeArrowheads="1"/>
              </p:cNvSpPr>
              <p:nvPr/>
            </p:nvSpPr>
            <p:spPr bwMode="auto">
              <a:xfrm>
                <a:off x="4413" y="56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09" name="Rectangle 15"/>
              <p:cNvSpPr>
                <a:spLocks noChangeArrowheads="1"/>
              </p:cNvSpPr>
              <p:nvPr/>
            </p:nvSpPr>
            <p:spPr bwMode="auto">
              <a:xfrm>
                <a:off x="3808" y="56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10" name="Rectangle 16"/>
              <p:cNvSpPr>
                <a:spLocks noChangeArrowheads="1"/>
              </p:cNvSpPr>
              <p:nvPr/>
            </p:nvSpPr>
            <p:spPr bwMode="auto">
              <a:xfrm>
                <a:off x="3629" y="56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11" name="Rectangle 17"/>
              <p:cNvSpPr>
                <a:spLocks noChangeArrowheads="1"/>
              </p:cNvSpPr>
              <p:nvPr/>
            </p:nvSpPr>
            <p:spPr bwMode="auto">
              <a:xfrm>
                <a:off x="3002" y="56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12" name="Rectangle 18"/>
              <p:cNvSpPr>
                <a:spLocks noChangeArrowheads="1"/>
              </p:cNvSpPr>
              <p:nvPr/>
            </p:nvSpPr>
            <p:spPr bwMode="auto">
              <a:xfrm>
                <a:off x="2800" y="56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13" name="Rectangle 22"/>
              <p:cNvSpPr>
                <a:spLocks noChangeArrowheads="1"/>
              </p:cNvSpPr>
              <p:nvPr/>
            </p:nvSpPr>
            <p:spPr bwMode="auto">
              <a:xfrm>
                <a:off x="1533" y="56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14" name="Rectangle 25"/>
              <p:cNvSpPr>
                <a:spLocks noChangeArrowheads="1"/>
              </p:cNvSpPr>
              <p:nvPr/>
            </p:nvSpPr>
            <p:spPr bwMode="auto">
              <a:xfrm>
                <a:off x="3747" y="554"/>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15" name="Rectangle 26"/>
              <p:cNvSpPr>
                <a:spLocks noChangeArrowheads="1"/>
              </p:cNvSpPr>
              <p:nvPr/>
            </p:nvSpPr>
            <p:spPr bwMode="auto">
              <a:xfrm>
                <a:off x="3216" y="554"/>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16" name="Rectangle 27"/>
              <p:cNvSpPr>
                <a:spLocks noChangeArrowheads="1"/>
              </p:cNvSpPr>
              <p:nvPr/>
            </p:nvSpPr>
            <p:spPr bwMode="auto">
              <a:xfrm>
                <a:off x="2514" y="554"/>
                <a:ext cx="0" cy="404"/>
              </a:xfrm>
              <a:prstGeom prst="rect">
                <a:avLst/>
              </a:prstGeom>
              <a:grpFill/>
              <a:ln w="9525">
                <a:noFill/>
                <a:miter lim="800000"/>
                <a:headEnd/>
                <a:tailEnd/>
              </a:ln>
            </p:spPr>
            <p:txBody>
              <a:bodyPr wrap="none" lIns="0" tIns="0" rIns="0" bIns="0">
                <a:spAutoFit/>
              </a:bodyPr>
              <a:lstStyle/>
              <a:p>
                <a:endParaRPr lang="zh-CN" altLang="en-US"/>
              </a:p>
            </p:txBody>
          </p:sp>
          <p:sp>
            <p:nvSpPr>
              <p:cNvPr id="56417" name="Rectangle 28"/>
              <p:cNvSpPr>
                <a:spLocks noChangeArrowheads="1"/>
              </p:cNvSpPr>
              <p:nvPr/>
            </p:nvSpPr>
            <p:spPr bwMode="auto">
              <a:xfrm>
                <a:off x="2346" y="554"/>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18" name="Rectangle 29"/>
              <p:cNvSpPr>
                <a:spLocks noChangeArrowheads="1"/>
              </p:cNvSpPr>
              <p:nvPr/>
            </p:nvSpPr>
            <p:spPr bwMode="auto">
              <a:xfrm>
                <a:off x="2129" y="554"/>
                <a:ext cx="0" cy="404"/>
              </a:xfrm>
              <a:prstGeom prst="rect">
                <a:avLst/>
              </a:prstGeom>
              <a:grpFill/>
              <a:ln w="9525">
                <a:noFill/>
                <a:miter lim="800000"/>
                <a:headEnd/>
                <a:tailEnd/>
              </a:ln>
            </p:spPr>
            <p:txBody>
              <a:bodyPr wrap="none" lIns="0" tIns="0" rIns="0" bIns="0">
                <a:spAutoFit/>
              </a:bodyPr>
              <a:lstStyle/>
              <a:p>
                <a:endParaRPr lang="zh-CN" altLang="en-US"/>
              </a:p>
            </p:txBody>
          </p:sp>
          <p:sp>
            <p:nvSpPr>
              <p:cNvPr id="56419" name="Rectangle 30"/>
              <p:cNvSpPr>
                <a:spLocks noChangeArrowheads="1"/>
              </p:cNvSpPr>
              <p:nvPr/>
            </p:nvSpPr>
            <p:spPr bwMode="auto">
              <a:xfrm>
                <a:off x="1261" y="542"/>
                <a:ext cx="0" cy="404"/>
              </a:xfrm>
              <a:prstGeom prst="rect">
                <a:avLst/>
              </a:prstGeom>
              <a:grpFill/>
              <a:ln w="9525">
                <a:noFill/>
                <a:miter lim="800000"/>
                <a:headEnd/>
                <a:tailEnd/>
              </a:ln>
            </p:spPr>
            <p:txBody>
              <a:bodyPr wrap="none" lIns="0" tIns="0" rIns="0" bIns="0">
                <a:spAutoFit/>
              </a:bodyPr>
              <a:lstStyle/>
              <a:p>
                <a:endParaRPr lang="zh-CN" altLang="en-US"/>
              </a:p>
            </p:txBody>
          </p:sp>
          <p:sp>
            <p:nvSpPr>
              <p:cNvPr id="56420" name="Rectangle 31"/>
              <p:cNvSpPr>
                <a:spLocks noChangeArrowheads="1"/>
              </p:cNvSpPr>
              <p:nvPr/>
            </p:nvSpPr>
            <p:spPr bwMode="auto">
              <a:xfrm>
                <a:off x="1214" y="669"/>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21" name="Rectangle 32"/>
              <p:cNvSpPr>
                <a:spLocks noChangeArrowheads="1"/>
              </p:cNvSpPr>
              <p:nvPr/>
            </p:nvSpPr>
            <p:spPr bwMode="auto">
              <a:xfrm>
                <a:off x="4249" y="56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22" name="Rectangle 33"/>
              <p:cNvSpPr>
                <a:spLocks noChangeArrowheads="1"/>
              </p:cNvSpPr>
              <p:nvPr/>
            </p:nvSpPr>
            <p:spPr bwMode="auto">
              <a:xfrm>
                <a:off x="4097" y="56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23" name="Rectangle 35"/>
              <p:cNvSpPr>
                <a:spLocks noChangeArrowheads="1"/>
              </p:cNvSpPr>
              <p:nvPr/>
            </p:nvSpPr>
            <p:spPr bwMode="auto">
              <a:xfrm>
                <a:off x="3465" y="56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24" name="Rectangle 36"/>
              <p:cNvSpPr>
                <a:spLocks noChangeArrowheads="1"/>
              </p:cNvSpPr>
              <p:nvPr/>
            </p:nvSpPr>
            <p:spPr bwMode="auto">
              <a:xfrm>
                <a:off x="3291" y="56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25" name="Rectangle 37"/>
              <p:cNvSpPr>
                <a:spLocks noChangeArrowheads="1"/>
              </p:cNvSpPr>
              <p:nvPr/>
            </p:nvSpPr>
            <p:spPr bwMode="auto">
              <a:xfrm>
                <a:off x="3045" y="56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26" name="Rectangle 38"/>
              <p:cNvSpPr>
                <a:spLocks noChangeArrowheads="1"/>
              </p:cNvSpPr>
              <p:nvPr/>
            </p:nvSpPr>
            <p:spPr bwMode="auto">
              <a:xfrm>
                <a:off x="2413" y="56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27" name="Rectangle 39"/>
              <p:cNvSpPr>
                <a:spLocks noChangeArrowheads="1"/>
              </p:cNvSpPr>
              <p:nvPr/>
            </p:nvSpPr>
            <p:spPr bwMode="auto">
              <a:xfrm>
                <a:off x="2028" y="56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28" name="Rectangle 40"/>
              <p:cNvSpPr>
                <a:spLocks noChangeArrowheads="1"/>
              </p:cNvSpPr>
              <p:nvPr/>
            </p:nvSpPr>
            <p:spPr bwMode="auto">
              <a:xfrm>
                <a:off x="1369" y="56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29" name="Rectangle 41"/>
              <p:cNvSpPr>
                <a:spLocks noChangeArrowheads="1"/>
              </p:cNvSpPr>
              <p:nvPr/>
            </p:nvSpPr>
            <p:spPr bwMode="auto">
              <a:xfrm>
                <a:off x="1134" y="566"/>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30" name="Rectangle 42"/>
              <p:cNvSpPr>
                <a:spLocks noChangeArrowheads="1"/>
              </p:cNvSpPr>
              <p:nvPr/>
            </p:nvSpPr>
            <p:spPr bwMode="auto">
              <a:xfrm>
                <a:off x="4193" y="669"/>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31" name="Rectangle 44"/>
              <p:cNvSpPr>
                <a:spLocks noChangeArrowheads="1"/>
              </p:cNvSpPr>
              <p:nvPr/>
            </p:nvSpPr>
            <p:spPr bwMode="auto">
              <a:xfrm>
                <a:off x="2508" y="669"/>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32" name="Rectangle 45"/>
              <p:cNvSpPr>
                <a:spLocks noChangeArrowheads="1"/>
              </p:cNvSpPr>
              <p:nvPr/>
            </p:nvSpPr>
            <p:spPr bwMode="auto">
              <a:xfrm>
                <a:off x="2112" y="669"/>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33" name="Rectangle 46"/>
              <p:cNvSpPr>
                <a:spLocks noChangeArrowheads="1"/>
              </p:cNvSpPr>
              <p:nvPr/>
            </p:nvSpPr>
            <p:spPr bwMode="auto">
              <a:xfrm>
                <a:off x="3694" y="543"/>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34" name="Rectangle 47"/>
              <p:cNvSpPr>
                <a:spLocks noChangeArrowheads="1"/>
              </p:cNvSpPr>
              <p:nvPr/>
            </p:nvSpPr>
            <p:spPr bwMode="auto">
              <a:xfrm>
                <a:off x="2293" y="543"/>
                <a:ext cx="0" cy="404"/>
              </a:xfrm>
              <a:prstGeom prst="rect">
                <a:avLst/>
              </a:prstGeom>
              <a:grpFill/>
              <a:ln w="9525">
                <a:noFill/>
                <a:miter lim="800000"/>
                <a:headEnd/>
                <a:tailEnd/>
              </a:ln>
            </p:spPr>
            <p:txBody>
              <a:bodyPr wrap="none" lIns="0" tIns="0" rIns="0" bIns="0">
                <a:spAutoFit/>
              </a:bodyPr>
              <a:lstStyle/>
              <a:p>
                <a:endParaRPr lang="en-US" altLang="zh-CN"/>
              </a:p>
            </p:txBody>
          </p:sp>
          <p:sp>
            <p:nvSpPr>
              <p:cNvPr id="56435" name="Rectangle 48"/>
              <p:cNvSpPr>
                <a:spLocks noChangeArrowheads="1"/>
              </p:cNvSpPr>
              <p:nvPr/>
            </p:nvSpPr>
            <p:spPr bwMode="auto">
              <a:xfrm>
                <a:off x="2667" y="547"/>
                <a:ext cx="0" cy="404"/>
              </a:xfrm>
              <a:prstGeom prst="rect">
                <a:avLst/>
              </a:prstGeom>
              <a:grpFill/>
              <a:ln w="9525">
                <a:noFill/>
                <a:miter lim="800000"/>
                <a:headEnd/>
                <a:tailEnd/>
              </a:ln>
            </p:spPr>
            <p:txBody>
              <a:bodyPr wrap="none" lIns="0" tIns="0" rIns="0" bIns="0">
                <a:spAutoFit/>
              </a:bodyPr>
              <a:lstStyle/>
              <a:p>
                <a:endParaRPr lang="en-US" altLang="zh-CN"/>
              </a:p>
            </p:txBody>
          </p:sp>
        </p:grpSp>
      </p:grpSp>
      <p:grpSp>
        <p:nvGrpSpPr>
          <p:cNvPr id="5" name="Group 50"/>
          <p:cNvGrpSpPr>
            <a:grpSpLocks/>
          </p:cNvGrpSpPr>
          <p:nvPr/>
        </p:nvGrpSpPr>
        <p:grpSpPr bwMode="auto">
          <a:xfrm>
            <a:off x="1820863" y="2260842"/>
            <a:ext cx="8758238" cy="1587463"/>
            <a:chOff x="89" y="885"/>
            <a:chExt cx="5517" cy="1024"/>
          </a:xfrm>
        </p:grpSpPr>
        <mc:AlternateContent xmlns:mc="http://schemas.openxmlformats.org/markup-compatibility/2006" xmlns:a14="http://schemas.microsoft.com/office/drawing/2010/main">
          <mc:Choice Requires="a14">
            <p:sp>
              <p:nvSpPr>
                <p:cNvPr id="56382" name="Rectangle 51"/>
                <p:cNvSpPr>
                  <a:spLocks noChangeArrowheads="1"/>
                </p:cNvSpPr>
                <p:nvPr/>
              </p:nvSpPr>
              <p:spPr bwMode="auto">
                <a:xfrm>
                  <a:off x="89" y="885"/>
                  <a:ext cx="5194" cy="744"/>
                </a:xfrm>
                <a:prstGeom prst="rect">
                  <a:avLst/>
                </a:prstGeom>
                <a:noFill/>
                <a:ln w="9525">
                  <a:noFill/>
                  <a:miter lim="800000"/>
                  <a:headEnd/>
                  <a:tailEnd/>
                </a:ln>
              </p:spPr>
              <p:txBody>
                <a:bodyPr lIns="0" tIns="0" rIns="0" bIns="0">
                  <a:spAutoFit/>
                </a:bodyPr>
                <a:lstStyle/>
                <a:p>
                  <a:pPr>
                    <a:lnSpc>
                      <a:spcPct val="125000"/>
                    </a:lnSpc>
                  </a:pPr>
                  <a:r>
                    <a:rPr lang="zh-CN" altLang="en-US" sz="2000" b="1" dirty="0">
                      <a:latin typeface="楷体_GB2312" pitchFamily="49" charset="-122"/>
                      <a:ea typeface="楷体_GB2312" pitchFamily="49" charset="-122"/>
                    </a:rPr>
                    <a:t>    </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由线性代数可知，对矩阵作</a:t>
                  </a:r>
                  <a:r>
                    <a:rPr lang="zh-CN" altLang="en-US" sz="20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相似变换其迹不变</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，一个</a:t>
                  </a:r>
                  <a:r>
                    <a:rPr lang="zh-CN" altLang="en-US" sz="20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方阵的迹等于它的所有特征值之和</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设 </a:t>
                  </a:r>
                  <a14:m>
                    <m:oMath xmlns:m="http://schemas.openxmlformats.org/officeDocument/2006/math">
                      <m:sSub>
                        <m:sSubPr>
                          <m:ctrlPr>
                            <a:rPr lang="zh-CN" altLang="en-US" sz="2000" i="1">
                              <a:solidFill>
                                <a:srgbClr val="FF0000"/>
                              </a:solidFill>
                              <a:latin typeface="Cambria Math" panose="02040503050406030204" pitchFamily="18" charset="0"/>
                            </a:rPr>
                          </m:ctrlPr>
                        </m:sSubPr>
                        <m:e>
                          <m:r>
                            <a:rPr lang="zh-CN" altLang="en-US" sz="2000" i="1">
                              <a:solidFill>
                                <a:srgbClr val="FF0000"/>
                              </a:solidFill>
                              <a:latin typeface="Cambria Math" panose="02040503050406030204" pitchFamily="18" charset="0"/>
                            </a:rPr>
                            <m:t>𝑊</m:t>
                          </m:r>
                        </m:e>
                        <m:sub>
                          <m:r>
                            <a:rPr lang="zh-CN" altLang="en-US" sz="2000" i="1">
                              <a:solidFill>
                                <a:srgbClr val="FF0000"/>
                              </a:solidFill>
                              <a:latin typeface="Cambria Math" panose="02040503050406030204" pitchFamily="18" charset="0"/>
                            </a:rPr>
                            <m:t>𝑒</m:t>
                          </m:r>
                        </m:sub>
                      </m:sSub>
                    </m:oMath>
                  </a14:m>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为正交阵</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，用</a:t>
                  </a:r>
                  <a14:m>
                    <m:oMath xmlns:m="http://schemas.openxmlformats.org/officeDocument/2006/math">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𝑊</m:t>
                          </m:r>
                        </m:e>
                        <m:sub>
                          <m:r>
                            <a:rPr lang="zh-CN" altLang="en-US" sz="2000" i="1">
                              <a:latin typeface="Cambria Math" panose="02040503050406030204" pitchFamily="18" charset="0"/>
                            </a:rPr>
                            <m:t>𝑒</m:t>
                          </m:r>
                        </m:sub>
                      </m:sSub>
                    </m:oMath>
                  </a14:m>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对</a:t>
                  </a:r>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对称阵</a:t>
                  </a:r>
                  <a14:m>
                    <m:oMath xmlns:m="http://schemas.openxmlformats.org/officeDocument/2006/math">
                      <m:sSubSup>
                        <m:sSubSupPr>
                          <m:ctrlPr>
                            <a:rPr lang="zh-CN" altLang="en-US" sz="2000" i="1">
                              <a:solidFill>
                                <a:srgbClr val="FF0000"/>
                              </a:solidFill>
                              <a:latin typeface="Cambria Math" panose="02040503050406030204" pitchFamily="18" charset="0"/>
                            </a:rPr>
                          </m:ctrlPr>
                        </m:sSubSupPr>
                        <m:e>
                          <m:r>
                            <a:rPr lang="zh-CN" altLang="en-US" sz="2000" i="1">
                              <a:solidFill>
                                <a:srgbClr val="FF0000"/>
                              </a:solidFill>
                              <a:latin typeface="Cambria Math" panose="02040503050406030204" pitchFamily="18" charset="0"/>
                            </a:rPr>
                            <m:t>𝑆</m:t>
                          </m:r>
                        </m:e>
                        <m:sub>
                          <m:r>
                            <a:rPr lang="zh-CN" altLang="en-US" sz="2000" i="1">
                              <a:solidFill>
                                <a:srgbClr val="FF0000"/>
                              </a:solidFill>
                              <a:latin typeface="Cambria Math" panose="02040503050406030204" pitchFamily="18" charset="0"/>
                            </a:rPr>
                            <m:t>𝑊</m:t>
                          </m:r>
                        </m:sub>
                        <m:sup>
                          <m:r>
                            <a:rPr lang="zh-CN" altLang="en-US" sz="2000">
                              <a:solidFill>
                                <a:srgbClr val="FF0000"/>
                              </a:solidFill>
                              <a:latin typeface="Cambria Math" panose="02040503050406030204" pitchFamily="18" charset="0"/>
                            </a:rPr>
                            <m:t>−1</m:t>
                          </m:r>
                        </m:sup>
                      </m:sSubSup>
                      <m:sSub>
                        <m:sSubPr>
                          <m:ctrlPr>
                            <a:rPr lang="zh-CN" altLang="en-US" sz="2000" i="1">
                              <a:solidFill>
                                <a:srgbClr val="FF0000"/>
                              </a:solidFill>
                              <a:latin typeface="Cambria Math" panose="02040503050406030204" pitchFamily="18" charset="0"/>
                            </a:rPr>
                          </m:ctrlPr>
                        </m:sSubPr>
                        <m:e>
                          <m:r>
                            <a:rPr lang="zh-CN" altLang="en-US" sz="2000" i="1">
                              <a:solidFill>
                                <a:srgbClr val="FF0000"/>
                              </a:solidFill>
                              <a:latin typeface="Cambria Math" panose="02040503050406030204" pitchFamily="18" charset="0"/>
                            </a:rPr>
                            <m:t>𝑆</m:t>
                          </m:r>
                        </m:e>
                        <m:sub>
                          <m:r>
                            <a:rPr lang="zh-CN" altLang="en-US" sz="2000" i="1">
                              <a:solidFill>
                                <a:srgbClr val="FF0000"/>
                              </a:solidFill>
                              <a:latin typeface="Cambria Math" panose="02040503050406030204" pitchFamily="18" charset="0"/>
                            </a:rPr>
                            <m:t>𝐵</m:t>
                          </m:r>
                        </m:sub>
                      </m:sSub>
                    </m:oMath>
                  </a14:m>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作相似变换使其成为对角阵</a:t>
                  </a:r>
                </a:p>
              </p:txBody>
            </p:sp>
          </mc:Choice>
          <mc:Fallback xmlns="">
            <p:sp>
              <p:nvSpPr>
                <p:cNvPr id="56382" name="Rectangle 51"/>
                <p:cNvSpPr>
                  <a:spLocks noRot="1" noChangeAspect="1" noMove="1" noResize="1" noEditPoints="1" noAdjustHandles="1" noChangeArrowheads="1" noChangeShapeType="1" noTextEdit="1"/>
                </p:cNvSpPr>
                <p:nvPr/>
              </p:nvSpPr>
              <p:spPr bwMode="auto">
                <a:xfrm>
                  <a:off x="89" y="885"/>
                  <a:ext cx="5194" cy="744"/>
                </a:xfrm>
                <a:prstGeom prst="rect">
                  <a:avLst/>
                </a:prstGeom>
                <a:blipFill>
                  <a:blip r:embed="rId5"/>
                  <a:stretch>
                    <a:fillRect l="-1923" t="-4762" r="-1923" b="-8466"/>
                  </a:stretch>
                </a:blipFill>
                <a:ln w="9525">
                  <a:noFill/>
                  <a:miter lim="800000"/>
                  <a:headEnd/>
                  <a:tailEnd/>
                </a:ln>
              </p:spPr>
              <p:txBody>
                <a:bodyPr/>
                <a:lstStyle/>
                <a:p>
                  <a:r>
                    <a:rPr lang="zh-CN" altLang="en-US">
                      <a:noFill/>
                    </a:rPr>
                    <a:t> </a:t>
                  </a:r>
                </a:p>
              </p:txBody>
            </p:sp>
          </mc:Fallback>
        </mc:AlternateContent>
        <p:sp>
          <p:nvSpPr>
            <p:cNvPr id="56383" name="Rectangle 52"/>
            <p:cNvSpPr>
              <a:spLocks noChangeArrowheads="1"/>
            </p:cNvSpPr>
            <p:nvPr/>
          </p:nvSpPr>
          <p:spPr bwMode="auto">
            <a:xfrm>
              <a:off x="144" y="1236"/>
              <a:ext cx="0" cy="238"/>
            </a:xfrm>
            <a:prstGeom prst="rect">
              <a:avLst/>
            </a:prstGeom>
            <a:noFill/>
            <a:ln w="9525">
              <a:noFill/>
              <a:miter lim="800000"/>
              <a:headEnd/>
              <a:tailEnd/>
            </a:ln>
          </p:spPr>
          <p:txBody>
            <a:bodyPr wrap="none" lIns="0" tIns="0" rIns="0" bIns="0">
              <a:spAutoFit/>
            </a:bodyPr>
            <a:lstStyle/>
            <a:p>
              <a:endParaRPr lang="zh-CN" altLang="en-US" sz="2400" b="1"/>
            </a:p>
          </p:txBody>
        </p:sp>
        <p:grpSp>
          <p:nvGrpSpPr>
            <p:cNvPr id="6" name="Group 53"/>
            <p:cNvGrpSpPr>
              <a:grpSpLocks/>
            </p:cNvGrpSpPr>
            <p:nvPr/>
          </p:nvGrpSpPr>
          <p:grpSpPr bwMode="auto">
            <a:xfrm>
              <a:off x="2827" y="1265"/>
              <a:ext cx="122" cy="283"/>
              <a:chOff x="2827" y="1265"/>
              <a:chExt cx="122" cy="283"/>
            </a:xfrm>
          </p:grpSpPr>
          <p:sp>
            <p:nvSpPr>
              <p:cNvPr id="56398" name="Rectangle 54"/>
              <p:cNvSpPr>
                <a:spLocks noChangeArrowheads="1"/>
              </p:cNvSpPr>
              <p:nvPr/>
            </p:nvSpPr>
            <p:spPr bwMode="auto">
              <a:xfrm>
                <a:off x="2827" y="1265"/>
                <a:ext cx="0" cy="179"/>
              </a:xfrm>
              <a:prstGeom prst="rect">
                <a:avLst/>
              </a:prstGeom>
              <a:noFill/>
              <a:ln w="9525">
                <a:noFill/>
                <a:miter lim="800000"/>
                <a:headEnd/>
                <a:tailEnd/>
              </a:ln>
            </p:spPr>
            <p:txBody>
              <a:bodyPr wrap="none" lIns="0" tIns="0" rIns="0" bIns="0">
                <a:spAutoFit/>
              </a:bodyPr>
              <a:lstStyle/>
              <a:p>
                <a:endParaRPr lang="en-US" altLang="zh-CN" b="1"/>
              </a:p>
            </p:txBody>
          </p:sp>
          <p:sp>
            <p:nvSpPr>
              <p:cNvPr id="56399" name="Rectangle 55"/>
              <p:cNvSpPr>
                <a:spLocks noChangeArrowheads="1"/>
              </p:cNvSpPr>
              <p:nvPr/>
            </p:nvSpPr>
            <p:spPr bwMode="auto">
              <a:xfrm>
                <a:off x="2949" y="1369"/>
                <a:ext cx="0" cy="179"/>
              </a:xfrm>
              <a:prstGeom prst="rect">
                <a:avLst/>
              </a:prstGeom>
              <a:noFill/>
              <a:ln w="9525">
                <a:noFill/>
                <a:miter lim="800000"/>
                <a:headEnd/>
                <a:tailEnd/>
              </a:ln>
            </p:spPr>
            <p:txBody>
              <a:bodyPr wrap="none" lIns="0" tIns="0" rIns="0" bIns="0">
                <a:spAutoFit/>
              </a:bodyPr>
              <a:lstStyle/>
              <a:p>
                <a:endParaRPr lang="en-US" altLang="zh-CN" b="1"/>
              </a:p>
            </p:txBody>
          </p:sp>
        </p:grpSp>
        <p:sp>
          <p:nvSpPr>
            <p:cNvPr id="56385" name="Rectangle 56"/>
            <p:cNvSpPr>
              <a:spLocks noChangeArrowheads="1"/>
            </p:cNvSpPr>
            <p:nvPr/>
          </p:nvSpPr>
          <p:spPr bwMode="auto">
            <a:xfrm>
              <a:off x="3097" y="1209"/>
              <a:ext cx="1755" cy="238"/>
            </a:xfrm>
            <a:prstGeom prst="rect">
              <a:avLst/>
            </a:prstGeom>
            <a:noFill/>
            <a:ln w="9525">
              <a:noFill/>
              <a:miter lim="800000"/>
              <a:headEnd/>
              <a:tailEnd/>
            </a:ln>
          </p:spPr>
          <p:txBody>
            <a:bodyPr lIns="0" tIns="0" rIns="0" bIns="0">
              <a:spAutoFit/>
            </a:bodyPr>
            <a:lstStyle/>
            <a:p>
              <a:endParaRPr lang="zh-CN" altLang="en-US" sz="2400" b="1"/>
            </a:p>
          </p:txBody>
        </p:sp>
        <p:grpSp>
          <p:nvGrpSpPr>
            <p:cNvPr id="7" name="Group 58"/>
            <p:cNvGrpSpPr>
              <a:grpSpLocks/>
            </p:cNvGrpSpPr>
            <p:nvPr/>
          </p:nvGrpSpPr>
          <p:grpSpPr bwMode="auto">
            <a:xfrm>
              <a:off x="1046" y="1626"/>
              <a:ext cx="122" cy="283"/>
              <a:chOff x="1046" y="1626"/>
              <a:chExt cx="122" cy="283"/>
            </a:xfrm>
          </p:grpSpPr>
          <p:sp>
            <p:nvSpPr>
              <p:cNvPr id="56396" name="Rectangle 59"/>
              <p:cNvSpPr>
                <a:spLocks noChangeArrowheads="1"/>
              </p:cNvSpPr>
              <p:nvPr/>
            </p:nvSpPr>
            <p:spPr bwMode="auto">
              <a:xfrm>
                <a:off x="1046" y="1626"/>
                <a:ext cx="0" cy="179"/>
              </a:xfrm>
              <a:prstGeom prst="rect">
                <a:avLst/>
              </a:prstGeom>
              <a:noFill/>
              <a:ln w="9525">
                <a:noFill/>
                <a:miter lim="800000"/>
                <a:headEnd/>
                <a:tailEnd/>
              </a:ln>
            </p:spPr>
            <p:txBody>
              <a:bodyPr wrap="none" lIns="0" tIns="0" rIns="0" bIns="0">
                <a:spAutoFit/>
              </a:bodyPr>
              <a:lstStyle/>
              <a:p>
                <a:endParaRPr lang="en-US" altLang="zh-CN" b="1"/>
              </a:p>
            </p:txBody>
          </p:sp>
          <p:sp>
            <p:nvSpPr>
              <p:cNvPr id="56397" name="Rectangle 60"/>
              <p:cNvSpPr>
                <a:spLocks noChangeArrowheads="1"/>
              </p:cNvSpPr>
              <p:nvPr/>
            </p:nvSpPr>
            <p:spPr bwMode="auto">
              <a:xfrm>
                <a:off x="1168" y="1730"/>
                <a:ext cx="0" cy="179"/>
              </a:xfrm>
              <a:prstGeom prst="rect">
                <a:avLst/>
              </a:prstGeom>
              <a:noFill/>
              <a:ln w="9525">
                <a:noFill/>
                <a:miter lim="800000"/>
                <a:headEnd/>
                <a:tailEnd/>
              </a:ln>
            </p:spPr>
            <p:txBody>
              <a:bodyPr wrap="none" lIns="0" tIns="0" rIns="0" bIns="0">
                <a:spAutoFit/>
              </a:bodyPr>
              <a:lstStyle/>
              <a:p>
                <a:endParaRPr lang="en-US" altLang="zh-CN" b="1"/>
              </a:p>
            </p:txBody>
          </p:sp>
        </p:grpSp>
        <p:sp>
          <p:nvSpPr>
            <p:cNvPr id="56387" name="Rectangle 61"/>
            <p:cNvSpPr>
              <a:spLocks noChangeArrowheads="1"/>
            </p:cNvSpPr>
            <p:nvPr/>
          </p:nvSpPr>
          <p:spPr bwMode="auto">
            <a:xfrm>
              <a:off x="4492" y="1209"/>
              <a:ext cx="0" cy="238"/>
            </a:xfrm>
            <a:prstGeom prst="rect">
              <a:avLst/>
            </a:prstGeom>
            <a:noFill/>
            <a:ln w="9525">
              <a:noFill/>
              <a:miter lim="800000"/>
              <a:headEnd/>
              <a:tailEnd/>
            </a:ln>
          </p:spPr>
          <p:txBody>
            <a:bodyPr wrap="none" lIns="0" tIns="0" rIns="0" bIns="0">
              <a:spAutoFit/>
            </a:bodyPr>
            <a:lstStyle/>
            <a:p>
              <a:endParaRPr lang="zh-CN" altLang="en-US" sz="2400" b="1"/>
            </a:p>
          </p:txBody>
        </p:sp>
        <p:grpSp>
          <p:nvGrpSpPr>
            <p:cNvPr id="8" name="Group 62"/>
            <p:cNvGrpSpPr>
              <a:grpSpLocks/>
            </p:cNvGrpSpPr>
            <p:nvPr/>
          </p:nvGrpSpPr>
          <p:grpSpPr bwMode="auto">
            <a:xfrm>
              <a:off x="2239" y="1599"/>
              <a:ext cx="376" cy="306"/>
              <a:chOff x="2239" y="1599"/>
              <a:chExt cx="376" cy="306"/>
            </a:xfrm>
          </p:grpSpPr>
          <p:sp>
            <p:nvSpPr>
              <p:cNvPr id="56391" name="Rectangle 63"/>
              <p:cNvSpPr>
                <a:spLocks noChangeArrowheads="1"/>
              </p:cNvSpPr>
              <p:nvPr/>
            </p:nvSpPr>
            <p:spPr bwMode="auto">
              <a:xfrm>
                <a:off x="2239" y="1622"/>
                <a:ext cx="0" cy="179"/>
              </a:xfrm>
              <a:prstGeom prst="rect">
                <a:avLst/>
              </a:prstGeom>
              <a:noFill/>
              <a:ln w="9525">
                <a:noFill/>
                <a:miter lim="800000"/>
                <a:headEnd/>
                <a:tailEnd/>
              </a:ln>
            </p:spPr>
            <p:txBody>
              <a:bodyPr wrap="none" lIns="0" tIns="0" rIns="0" bIns="0">
                <a:spAutoFit/>
              </a:bodyPr>
              <a:lstStyle/>
              <a:p>
                <a:endParaRPr lang="en-US" altLang="zh-CN" b="1"/>
              </a:p>
            </p:txBody>
          </p:sp>
          <p:sp>
            <p:nvSpPr>
              <p:cNvPr id="56392" name="Rectangle 64"/>
              <p:cNvSpPr>
                <a:spLocks noChangeArrowheads="1"/>
              </p:cNvSpPr>
              <p:nvPr/>
            </p:nvSpPr>
            <p:spPr bwMode="auto">
              <a:xfrm>
                <a:off x="2523" y="1622"/>
                <a:ext cx="0" cy="179"/>
              </a:xfrm>
              <a:prstGeom prst="rect">
                <a:avLst/>
              </a:prstGeom>
              <a:noFill/>
              <a:ln w="9525">
                <a:noFill/>
                <a:miter lim="800000"/>
                <a:headEnd/>
                <a:tailEnd/>
              </a:ln>
            </p:spPr>
            <p:txBody>
              <a:bodyPr wrap="none" lIns="0" tIns="0" rIns="0" bIns="0">
                <a:spAutoFit/>
              </a:bodyPr>
              <a:lstStyle/>
              <a:p>
                <a:endParaRPr lang="en-US" altLang="zh-CN" b="1"/>
              </a:p>
            </p:txBody>
          </p:sp>
          <p:sp>
            <p:nvSpPr>
              <p:cNvPr id="56393" name="Rectangle 65"/>
              <p:cNvSpPr>
                <a:spLocks noChangeArrowheads="1"/>
              </p:cNvSpPr>
              <p:nvPr/>
            </p:nvSpPr>
            <p:spPr bwMode="auto">
              <a:xfrm>
                <a:off x="2318" y="1726"/>
                <a:ext cx="0" cy="179"/>
              </a:xfrm>
              <a:prstGeom prst="rect">
                <a:avLst/>
              </a:prstGeom>
              <a:noFill/>
              <a:ln w="9525">
                <a:noFill/>
                <a:miter lim="800000"/>
                <a:headEnd/>
                <a:tailEnd/>
              </a:ln>
            </p:spPr>
            <p:txBody>
              <a:bodyPr wrap="none" lIns="0" tIns="0" rIns="0" bIns="0">
                <a:spAutoFit/>
              </a:bodyPr>
              <a:lstStyle/>
              <a:p>
                <a:endParaRPr lang="en-US" altLang="zh-CN" b="1"/>
              </a:p>
            </p:txBody>
          </p:sp>
          <p:sp>
            <p:nvSpPr>
              <p:cNvPr id="56394" name="Rectangle 66"/>
              <p:cNvSpPr>
                <a:spLocks noChangeArrowheads="1"/>
              </p:cNvSpPr>
              <p:nvPr/>
            </p:nvSpPr>
            <p:spPr bwMode="auto">
              <a:xfrm>
                <a:off x="2615" y="1726"/>
                <a:ext cx="0" cy="179"/>
              </a:xfrm>
              <a:prstGeom prst="rect">
                <a:avLst/>
              </a:prstGeom>
              <a:noFill/>
              <a:ln w="9525">
                <a:noFill/>
                <a:miter lim="800000"/>
                <a:headEnd/>
                <a:tailEnd/>
              </a:ln>
            </p:spPr>
            <p:txBody>
              <a:bodyPr wrap="none" lIns="0" tIns="0" rIns="0" bIns="0">
                <a:spAutoFit/>
              </a:bodyPr>
              <a:lstStyle/>
              <a:p>
                <a:endParaRPr lang="en-US" altLang="zh-CN" b="1"/>
              </a:p>
            </p:txBody>
          </p:sp>
          <p:sp>
            <p:nvSpPr>
              <p:cNvPr id="56395" name="Rectangle 68"/>
              <p:cNvSpPr>
                <a:spLocks noChangeArrowheads="1"/>
              </p:cNvSpPr>
              <p:nvPr/>
            </p:nvSpPr>
            <p:spPr bwMode="auto">
              <a:xfrm>
                <a:off x="2471" y="1599"/>
                <a:ext cx="0" cy="179"/>
              </a:xfrm>
              <a:prstGeom prst="rect">
                <a:avLst/>
              </a:prstGeom>
              <a:noFill/>
              <a:ln w="9525">
                <a:noFill/>
                <a:miter lim="800000"/>
                <a:headEnd/>
                <a:tailEnd/>
              </a:ln>
            </p:spPr>
            <p:txBody>
              <a:bodyPr wrap="none" lIns="0" tIns="0" rIns="0" bIns="0">
                <a:spAutoFit/>
              </a:bodyPr>
              <a:lstStyle/>
              <a:p>
                <a:endParaRPr lang="en-US" altLang="zh-CN" b="1"/>
              </a:p>
            </p:txBody>
          </p:sp>
        </p:grpSp>
        <p:sp>
          <p:nvSpPr>
            <p:cNvPr id="56389" name="Rectangle 69"/>
            <p:cNvSpPr>
              <a:spLocks noChangeArrowheads="1"/>
            </p:cNvSpPr>
            <p:nvPr/>
          </p:nvSpPr>
          <p:spPr bwMode="auto">
            <a:xfrm>
              <a:off x="712" y="1577"/>
              <a:ext cx="0" cy="238"/>
            </a:xfrm>
            <a:prstGeom prst="rect">
              <a:avLst/>
            </a:prstGeom>
            <a:noFill/>
            <a:ln w="9525">
              <a:noFill/>
              <a:miter lim="800000"/>
              <a:headEnd/>
              <a:tailEnd/>
            </a:ln>
          </p:spPr>
          <p:txBody>
            <a:bodyPr wrap="none" lIns="0" tIns="0" rIns="0" bIns="0">
              <a:spAutoFit/>
            </a:bodyPr>
            <a:lstStyle/>
            <a:p>
              <a:endParaRPr lang="zh-CN" altLang="en-US" sz="2400" b="1"/>
            </a:p>
          </p:txBody>
        </p:sp>
        <p:sp>
          <p:nvSpPr>
            <p:cNvPr id="56390" name="Rectangle 70"/>
            <p:cNvSpPr>
              <a:spLocks noChangeArrowheads="1"/>
            </p:cNvSpPr>
            <p:nvPr/>
          </p:nvSpPr>
          <p:spPr bwMode="auto">
            <a:xfrm>
              <a:off x="5606" y="1569"/>
              <a:ext cx="0" cy="179"/>
            </a:xfrm>
            <a:prstGeom prst="rect">
              <a:avLst/>
            </a:prstGeom>
            <a:noFill/>
            <a:ln w="9525">
              <a:noFill/>
              <a:miter lim="800000"/>
              <a:headEnd/>
              <a:tailEnd/>
            </a:ln>
          </p:spPr>
          <p:txBody>
            <a:bodyPr wrap="none" lIns="0" tIns="0" rIns="0" bIns="0">
              <a:spAutoFit/>
            </a:bodyPr>
            <a:lstStyle/>
            <a:p>
              <a:endParaRPr lang="en-US" altLang="zh-CN" b="1"/>
            </a:p>
          </p:txBody>
        </p:sp>
      </p:grpSp>
      <p:sp>
        <p:nvSpPr>
          <p:cNvPr id="56337" name="Rectangle 119"/>
          <p:cNvSpPr>
            <a:spLocks noChangeArrowheads="1"/>
          </p:cNvSpPr>
          <p:nvPr/>
        </p:nvSpPr>
        <p:spPr bwMode="auto">
          <a:xfrm>
            <a:off x="2347914" y="6185105"/>
            <a:ext cx="397545" cy="430887"/>
          </a:xfrm>
          <a:prstGeom prst="rect">
            <a:avLst/>
          </a:prstGeom>
          <a:noFill/>
          <a:ln w="9525">
            <a:noFill/>
            <a:miter lim="800000"/>
            <a:headEnd/>
            <a:tailEnd/>
          </a:ln>
        </p:spPr>
        <p:txBody>
          <a:bodyPr wrap="none" lIns="0" tIns="0" rIns="0" bIns="0">
            <a:spAutoFit/>
          </a:bodyPr>
          <a:lstStyle/>
          <a:p>
            <a:r>
              <a:rPr lang="zh-CN" altLang="en-US" sz="2800" b="1">
                <a:solidFill>
                  <a:srgbClr val="800000"/>
                </a:solidFill>
              </a:rPr>
              <a:t>    </a:t>
            </a:r>
            <a:endParaRPr lang="zh-CN" altLang="en-US"/>
          </a:p>
        </p:txBody>
      </p:sp>
      <p:graphicFrame>
        <p:nvGraphicFramePr>
          <p:cNvPr id="555128" name="Object 2"/>
          <p:cNvGraphicFramePr>
            <a:graphicFrameLocks noChangeAspect="1"/>
          </p:cNvGraphicFramePr>
          <p:nvPr>
            <p:extLst>
              <p:ext uri="{D42A27DB-BD31-4B8C-83A1-F6EECF244321}">
                <p14:modId xmlns:p14="http://schemas.microsoft.com/office/powerpoint/2010/main" val="2178774763"/>
              </p:ext>
            </p:extLst>
          </p:nvPr>
        </p:nvGraphicFramePr>
        <p:xfrm>
          <a:off x="2001838" y="3605175"/>
          <a:ext cx="8391525" cy="1774825"/>
        </p:xfrm>
        <a:graphic>
          <a:graphicData uri="http://schemas.openxmlformats.org/presentationml/2006/ole">
            <mc:AlternateContent xmlns:mc="http://schemas.openxmlformats.org/markup-compatibility/2006">
              <mc:Choice xmlns:v="urn:schemas-microsoft-com:vml" Requires="v">
                <p:oleObj spid="_x0000_s339693" name="Equation" r:id="rId6" imgW="4457520" imgH="939600" progId="Equation.DSMT4">
                  <p:embed/>
                </p:oleObj>
              </mc:Choice>
              <mc:Fallback>
                <p:oleObj name="Equation" r:id="rId6" imgW="4457520" imgH="939600" progId="Equation.DSMT4">
                  <p:embed/>
                  <p:pic>
                    <p:nvPicPr>
                      <p:cNvPr id="0" name=""/>
                      <p:cNvPicPr>
                        <a:picLocks noChangeAspect="1" noChangeArrowheads="1"/>
                      </p:cNvPicPr>
                      <p:nvPr/>
                    </p:nvPicPr>
                    <p:blipFill>
                      <a:blip r:embed="rId7"/>
                      <a:srcRect/>
                      <a:stretch>
                        <a:fillRect/>
                      </a:stretch>
                    </p:blipFill>
                    <p:spPr bwMode="auto">
                      <a:xfrm>
                        <a:off x="2001838" y="3605175"/>
                        <a:ext cx="8391525" cy="1774825"/>
                      </a:xfrm>
                      <a:prstGeom prst="rect">
                        <a:avLst/>
                      </a:prstGeom>
                      <a:noFill/>
                    </p:spPr>
                  </p:pic>
                </p:oleObj>
              </mc:Fallback>
            </mc:AlternateContent>
          </a:graphicData>
        </a:graphic>
      </p:graphicFrame>
      <p:graphicFrame>
        <p:nvGraphicFramePr>
          <p:cNvPr id="555129" name="Object 3"/>
          <p:cNvGraphicFramePr>
            <a:graphicFrameLocks noChangeAspect="1"/>
          </p:cNvGraphicFramePr>
          <p:nvPr>
            <p:extLst>
              <p:ext uri="{D42A27DB-BD31-4B8C-83A1-F6EECF244321}">
                <p14:modId xmlns:p14="http://schemas.microsoft.com/office/powerpoint/2010/main" val="3491601473"/>
              </p:ext>
            </p:extLst>
          </p:nvPr>
        </p:nvGraphicFramePr>
        <p:xfrm>
          <a:off x="5050270" y="5821591"/>
          <a:ext cx="4916635" cy="807405"/>
        </p:xfrm>
        <a:graphic>
          <a:graphicData uri="http://schemas.openxmlformats.org/presentationml/2006/ole">
            <mc:AlternateContent xmlns:mc="http://schemas.openxmlformats.org/markup-compatibility/2006">
              <mc:Choice xmlns:v="urn:schemas-microsoft-com:vml" Requires="v">
                <p:oleObj spid="_x0000_s339694" name="Equation" r:id="rId8" imgW="2793960" imgH="431640" progId="Equation.DSMT4">
                  <p:embed/>
                </p:oleObj>
              </mc:Choice>
              <mc:Fallback>
                <p:oleObj name="Equation" r:id="rId8" imgW="2793960" imgH="431640" progId="Equation.DSMT4">
                  <p:embed/>
                  <p:pic>
                    <p:nvPicPr>
                      <p:cNvPr id="0" name=""/>
                      <p:cNvPicPr>
                        <a:picLocks noChangeAspect="1" noChangeArrowheads="1"/>
                      </p:cNvPicPr>
                      <p:nvPr/>
                    </p:nvPicPr>
                    <p:blipFill>
                      <a:blip r:embed="rId9"/>
                      <a:srcRect/>
                      <a:stretch>
                        <a:fillRect/>
                      </a:stretch>
                    </p:blipFill>
                    <p:spPr bwMode="auto">
                      <a:xfrm>
                        <a:off x="5050270" y="5821591"/>
                        <a:ext cx="4916635" cy="807405"/>
                      </a:xfrm>
                      <a:prstGeom prst="rect">
                        <a:avLst/>
                      </a:prstGeom>
                      <a:solidFill>
                        <a:schemeClr val="bg1"/>
                      </a:solidFill>
                    </p:spPr>
                  </p:pic>
                </p:oleObj>
              </mc:Fallback>
            </mc:AlternateContent>
          </a:graphicData>
        </a:graphic>
      </p:graphicFrame>
      <p:sp>
        <p:nvSpPr>
          <p:cNvPr id="56338" name="Rectangle 122"/>
          <p:cNvSpPr>
            <a:spLocks noChangeArrowheads="1"/>
          </p:cNvSpPr>
          <p:nvPr/>
        </p:nvSpPr>
        <p:spPr bwMode="auto">
          <a:xfrm>
            <a:off x="247783" y="963114"/>
            <a:ext cx="4649671" cy="461665"/>
          </a:xfrm>
          <a:prstGeom prst="rect">
            <a:avLst/>
          </a:prstGeom>
          <a:noFill/>
          <a:ln w="9525">
            <a:noFill/>
            <a:miter lim="800000"/>
            <a:headEnd/>
            <a:tailEnd/>
          </a:ln>
        </p:spPr>
        <p:txBody>
          <a:bodyPr wrap="none">
            <a:spAutoFit/>
          </a:bodyPr>
          <a:lstStyle/>
          <a:p>
            <a:r>
              <a:rPr kumimoji="1" lang="zh-CN" altLang="en-US" sz="2400" b="1" dirty="0">
                <a:solidFill>
                  <a:srgbClr val="FF0000"/>
                </a:solidFill>
              </a:rPr>
              <a:t>矩阵迹</a:t>
            </a:r>
            <a:r>
              <a:rPr kumimoji="1" lang="en-US" altLang="zh-CN" sz="2400" b="1" dirty="0">
                <a:solidFill>
                  <a:srgbClr val="FF0000"/>
                </a:solidFill>
              </a:rPr>
              <a:t>(Matrix Trace)</a:t>
            </a:r>
            <a:r>
              <a:rPr kumimoji="1" lang="zh-CN" altLang="en-US" sz="2400" b="1" dirty="0">
                <a:solidFill>
                  <a:srgbClr val="FF0000"/>
                </a:solidFill>
              </a:rPr>
              <a:t>形式的判据</a:t>
            </a:r>
          </a:p>
        </p:txBody>
      </p:sp>
      <p:graphicFrame>
        <p:nvGraphicFramePr>
          <p:cNvPr id="56324" name="Object 123"/>
          <p:cNvGraphicFramePr>
            <a:graphicFrameLocks noChangeAspect="1"/>
          </p:cNvGraphicFramePr>
          <p:nvPr>
            <p:extLst>
              <p:ext uri="{D42A27DB-BD31-4B8C-83A1-F6EECF244321}">
                <p14:modId xmlns:p14="http://schemas.microsoft.com/office/powerpoint/2010/main" val="1549653699"/>
              </p:ext>
            </p:extLst>
          </p:nvPr>
        </p:nvGraphicFramePr>
        <p:xfrm>
          <a:off x="2207700" y="1608890"/>
          <a:ext cx="5452765" cy="608432"/>
        </p:xfrm>
        <a:graphic>
          <a:graphicData uri="http://schemas.openxmlformats.org/presentationml/2006/ole">
            <mc:AlternateContent xmlns:mc="http://schemas.openxmlformats.org/markup-compatibility/2006">
              <mc:Choice xmlns:v="urn:schemas-microsoft-com:vml" Requires="v">
                <p:oleObj spid="_x0000_s339695" name="Equation" r:id="rId10" imgW="3187440" imgH="355320" progId="Equation.DSMT4">
                  <p:embed/>
                </p:oleObj>
              </mc:Choice>
              <mc:Fallback>
                <p:oleObj name="Equation" r:id="rId10" imgW="3187440" imgH="35532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07700" y="1608890"/>
                        <a:ext cx="5452765" cy="608432"/>
                      </a:xfrm>
                      <a:prstGeom prst="rect">
                        <a:avLst/>
                      </a:prstGeom>
                      <a:noFill/>
                      <a:ln>
                        <a:noFill/>
                      </a:ln>
                      <a:effectLst/>
                    </p:spPr>
                  </p:pic>
                </p:oleObj>
              </mc:Fallback>
            </mc:AlternateContent>
          </a:graphicData>
        </a:graphic>
      </p:graphicFrame>
      <p:grpSp>
        <p:nvGrpSpPr>
          <p:cNvPr id="10" name="Group 71"/>
          <p:cNvGrpSpPr>
            <a:grpSpLocks/>
          </p:cNvGrpSpPr>
          <p:nvPr/>
        </p:nvGrpSpPr>
        <p:grpSpPr bwMode="auto">
          <a:xfrm>
            <a:off x="1363663" y="5371697"/>
            <a:ext cx="8702675" cy="1009698"/>
            <a:chOff x="176" y="2168"/>
            <a:chExt cx="5482" cy="1773"/>
          </a:xfrm>
        </p:grpSpPr>
        <mc:AlternateContent xmlns:mc="http://schemas.openxmlformats.org/markup-compatibility/2006" xmlns:a14="http://schemas.microsoft.com/office/drawing/2010/main">
          <mc:Choice Requires="a14">
            <p:sp>
              <p:nvSpPr>
                <p:cNvPr id="56343" name="Rectangle 72"/>
                <p:cNvSpPr>
                  <a:spLocks noChangeArrowheads="1"/>
                </p:cNvSpPr>
                <p:nvPr/>
              </p:nvSpPr>
              <p:spPr bwMode="auto">
                <a:xfrm>
                  <a:off x="258" y="2168"/>
                  <a:ext cx="5400" cy="1433"/>
                </a:xfrm>
                <a:prstGeom prst="rect">
                  <a:avLst/>
                </a:prstGeom>
                <a:noFill/>
                <a:ln w="9525">
                  <a:noFill/>
                  <a:miter lim="800000"/>
                  <a:headEnd/>
                  <a:tailEnd/>
                </a:ln>
              </p:spPr>
              <p:txBody>
                <a:bodyPr lIns="0" tIns="0" rIns="0" bIns="0">
                  <a:spAutoFit/>
                </a:bodyPr>
                <a:lstStyle/>
                <a:p>
                  <a:pPr>
                    <a:lnSpc>
                      <a:spcPct val="125000"/>
                    </a:lnSpc>
                  </a:pPr>
                  <a:r>
                    <a:rPr lang="zh-CN" altLang="en-US" sz="2000" b="1" dirty="0">
                      <a:latin typeface="楷体_GB2312" pitchFamily="49" charset="-122"/>
                      <a:ea typeface="楷体_GB2312" pitchFamily="49" charset="-122"/>
                    </a:rPr>
                    <a:t>其中，</a:t>
                  </a:r>
                  <a:r>
                    <a:rPr lang="en-US" altLang="zh-CN" sz="2000" b="1" dirty="0">
                      <a:latin typeface="Symbol" pitchFamily="18" charset="2"/>
                    </a:rPr>
                    <a:t>l</a:t>
                  </a:r>
                  <a:r>
                    <a:rPr lang="en-US" altLang="zh-CN" sz="2000" b="1" baseline="-25000" dirty="0">
                      <a:latin typeface="Times New Roman" pitchFamily="18" charset="0"/>
                      <a:cs typeface="Times New Roman" pitchFamily="18" charset="0"/>
                    </a:rPr>
                    <a:t>i</a:t>
                  </a:r>
                  <a:r>
                    <a:rPr lang="en-US" altLang="zh-CN" sz="2000" b="1" dirty="0">
                      <a:latin typeface="Times New Roman" pitchFamily="18" charset="0"/>
                      <a:cs typeface="Times New Roman" pitchFamily="18" charset="0"/>
                    </a:rPr>
                    <a:t> (</a:t>
                  </a:r>
                  <a:r>
                    <a:rPr lang="en-US" altLang="zh-CN" sz="2000" b="1" dirty="0" err="1">
                      <a:latin typeface="Times New Roman" pitchFamily="18" charset="0"/>
                      <a:cs typeface="Times New Roman" pitchFamily="18" charset="0"/>
                    </a:rPr>
                    <a:t>i</a:t>
                  </a:r>
                  <a:r>
                    <a:rPr lang="en-US" altLang="zh-CN" sz="2000" b="1" dirty="0">
                      <a:latin typeface="Times New Roman" pitchFamily="18" charset="0"/>
                      <a:cs typeface="Times New Roman" pitchFamily="18" charset="0"/>
                    </a:rPr>
                    <a:t>=1,2,…D)</a:t>
                  </a:r>
                  <a:r>
                    <a:rPr lang="zh-CN" altLang="en-US" sz="2000" b="1" dirty="0">
                      <a:latin typeface="楷体_GB2312" pitchFamily="49" charset="-122"/>
                      <a:ea typeface="楷体_GB2312" pitchFamily="49" charset="-122"/>
                    </a:rPr>
                    <a:t>为</a:t>
                  </a:r>
                  <a14:m>
                    <m:oMath xmlns:m="http://schemas.openxmlformats.org/officeDocument/2006/math">
                      <m:sSubSup>
                        <m:sSubSupPr>
                          <m:ctrlPr>
                            <a:rPr lang="zh-CN" altLang="en-US" sz="2000" i="1">
                              <a:latin typeface="Cambria Math" panose="02040503050406030204" pitchFamily="18" charset="0"/>
                            </a:rPr>
                          </m:ctrlPr>
                        </m:sSubSupPr>
                        <m:e>
                          <m:r>
                            <a:rPr lang="zh-CN" altLang="en-US" sz="2000" i="1">
                              <a:latin typeface="Cambria Math" panose="02040503050406030204" pitchFamily="18" charset="0"/>
                            </a:rPr>
                            <m:t>𝑆</m:t>
                          </m:r>
                        </m:e>
                        <m:sub>
                          <m:r>
                            <a:rPr lang="zh-CN" altLang="en-US" sz="2000" i="1">
                              <a:latin typeface="Cambria Math" panose="02040503050406030204" pitchFamily="18" charset="0"/>
                            </a:rPr>
                            <m:t>𝑊</m:t>
                          </m:r>
                        </m:sub>
                        <m:sup>
                          <m:r>
                            <a:rPr lang="zh-CN" altLang="en-US" sz="2000">
                              <a:latin typeface="Cambria Math" panose="02040503050406030204" pitchFamily="18" charset="0"/>
                            </a:rPr>
                            <m:t>−1</m:t>
                          </m:r>
                        </m:sup>
                      </m:sSubSup>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𝑆</m:t>
                          </m:r>
                        </m:e>
                        <m:sub>
                          <m:r>
                            <a:rPr lang="zh-CN" altLang="en-US" sz="2000" i="1">
                              <a:latin typeface="Cambria Math" panose="02040503050406030204" pitchFamily="18" charset="0"/>
                            </a:rPr>
                            <m:t>𝐵</m:t>
                          </m:r>
                        </m:sub>
                      </m:sSub>
                    </m:oMath>
                  </a14:m>
                  <a:r>
                    <a:rPr lang="zh-CN" altLang="en-US" sz="2000" b="1" dirty="0">
                      <a:latin typeface="楷体_GB2312" pitchFamily="49" charset="-122"/>
                      <a:ea typeface="楷体_GB2312" pitchFamily="49" charset="-122"/>
                    </a:rPr>
                    <a:t>的特征值，</a:t>
                  </a:r>
                  <a:r>
                    <a:rPr lang="zh-CN" altLang="en-US" sz="2000" dirty="0"/>
                    <a:t> </a:t>
                  </a:r>
                  <a14:m>
                    <m:oMath xmlns:m="http://schemas.openxmlformats.org/officeDocument/2006/math">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𝑊</m:t>
                          </m:r>
                        </m:e>
                        <m:sub>
                          <m:r>
                            <a:rPr lang="zh-CN" altLang="en-US" sz="2000" i="1">
                              <a:latin typeface="Cambria Math" panose="02040503050406030204" pitchFamily="18" charset="0"/>
                            </a:rPr>
                            <m:t>𝑒</m:t>
                          </m:r>
                        </m:sub>
                      </m:sSub>
                    </m:oMath>
                  </a14:m>
                  <a:r>
                    <a:rPr lang="zh-CN" altLang="en-US" sz="2000" b="1" dirty="0">
                      <a:latin typeface="楷体_GB2312" pitchFamily="49" charset="-122"/>
                      <a:ea typeface="楷体_GB2312" pitchFamily="49" charset="-122"/>
                    </a:rPr>
                    <a:t>的列矢量</a:t>
                  </a:r>
                  <a14:m>
                    <m:oMath xmlns:m="http://schemas.openxmlformats.org/officeDocument/2006/math">
                      <m:sSub>
                        <m:sSubPr>
                          <m:ctrlPr>
                            <a:rPr lang="zh-CN" altLang="en-US" sz="2000" i="1">
                              <a:latin typeface="Cambria Math" panose="02040503050406030204" pitchFamily="18" charset="0"/>
                            </a:rPr>
                          </m:ctrlPr>
                        </m:sSubPr>
                        <m:e>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𝑊</m:t>
                              </m:r>
                            </m:e>
                          </m:acc>
                        </m:e>
                        <m:sub>
                          <m:r>
                            <a:rPr lang="zh-CN" altLang="en-US" sz="2000" i="1">
                              <a:latin typeface="Cambria Math" panose="02040503050406030204" pitchFamily="18" charset="0"/>
                            </a:rPr>
                            <m:t>𝑖</m:t>
                          </m:r>
                        </m:sub>
                      </m:sSub>
                    </m:oMath>
                  </a14:m>
                  <a:r>
                    <a:rPr lang="zh-CN" altLang="en-US" sz="2000" b="1" dirty="0">
                      <a:latin typeface="楷体_GB2312" pitchFamily="49" charset="-122"/>
                      <a:ea typeface="楷体_GB2312" pitchFamily="49" charset="-122"/>
                    </a:rPr>
                    <a:t>为</a:t>
                  </a:r>
                  <a14:m>
                    <m:oMath xmlns:m="http://schemas.openxmlformats.org/officeDocument/2006/math">
                      <m:sSubSup>
                        <m:sSubSupPr>
                          <m:ctrlPr>
                            <a:rPr lang="zh-CN" altLang="en-US" sz="2000" i="1">
                              <a:latin typeface="Cambria Math" panose="02040503050406030204" pitchFamily="18" charset="0"/>
                            </a:rPr>
                          </m:ctrlPr>
                        </m:sSubSupPr>
                        <m:e>
                          <m:r>
                            <a:rPr lang="zh-CN" altLang="en-US" sz="2000" i="1">
                              <a:latin typeface="Cambria Math" panose="02040503050406030204" pitchFamily="18" charset="0"/>
                            </a:rPr>
                            <m:t>𝑆</m:t>
                          </m:r>
                        </m:e>
                        <m:sub>
                          <m:r>
                            <a:rPr lang="zh-CN" altLang="en-US" sz="2000" i="1">
                              <a:latin typeface="Cambria Math" panose="02040503050406030204" pitchFamily="18" charset="0"/>
                            </a:rPr>
                            <m:t>𝑊</m:t>
                          </m:r>
                        </m:sub>
                        <m:sup>
                          <m:r>
                            <a:rPr lang="zh-CN" altLang="en-US" sz="2000">
                              <a:latin typeface="Cambria Math" panose="02040503050406030204" pitchFamily="18" charset="0"/>
                            </a:rPr>
                            <m:t>−1</m:t>
                          </m:r>
                        </m:sup>
                      </m:sSubSup>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𝑆</m:t>
                          </m:r>
                        </m:e>
                        <m:sub>
                          <m:r>
                            <a:rPr lang="zh-CN" altLang="en-US" sz="2000" i="1">
                              <a:latin typeface="Cambria Math" panose="02040503050406030204" pitchFamily="18" charset="0"/>
                            </a:rPr>
                            <m:t>𝐵</m:t>
                          </m:r>
                        </m:sub>
                      </m:sSub>
                      <m:r>
                        <a:rPr lang="zh-CN" altLang="en-US" sz="2000" i="1">
                          <a:latin typeface="Cambria Math" panose="02040503050406030204" pitchFamily="18" charset="0"/>
                        </a:rPr>
                        <m:t>的</m:t>
                      </m:r>
                    </m:oMath>
                  </a14:m>
                  <a:r>
                    <a:rPr lang="zh-CN" altLang="en-US" sz="2000" b="1" dirty="0">
                      <a:latin typeface="楷体_GB2312" pitchFamily="49" charset="-122"/>
                      <a:ea typeface="楷体_GB2312" pitchFamily="49" charset="-122"/>
                    </a:rPr>
                    <a:t>特征值</a:t>
                  </a:r>
                  <a:r>
                    <a:rPr lang="en-US" altLang="zh-CN" sz="2000" b="1" dirty="0">
                      <a:latin typeface="Symbol" pitchFamily="18" charset="2"/>
                    </a:rPr>
                    <a:t>l</a:t>
                  </a:r>
                  <a:r>
                    <a:rPr lang="en-US" altLang="zh-CN" sz="2000" b="1" baseline="-25000" dirty="0">
                      <a:latin typeface="Times New Roman" pitchFamily="18" charset="0"/>
                      <a:cs typeface="Times New Roman" pitchFamily="18" charset="0"/>
                    </a:rPr>
                    <a:t>i</a:t>
                  </a:r>
                  <a:r>
                    <a:rPr lang="zh-CN" altLang="en-US" sz="2000" b="1" dirty="0">
                      <a:latin typeface="楷体_GB2312" pitchFamily="49" charset="-122"/>
                      <a:ea typeface="楷体_GB2312" pitchFamily="49" charset="-122"/>
                    </a:rPr>
                    <a:t>对应的特征矢量。由上式可得</a:t>
                  </a:r>
                  <a:endParaRPr lang="zh-CN" altLang="en-US" sz="1600" b="1" dirty="0"/>
                </a:p>
              </p:txBody>
            </p:sp>
          </mc:Choice>
          <mc:Fallback xmlns="">
            <p:sp>
              <p:nvSpPr>
                <p:cNvPr id="56343" name="Rectangle 72"/>
                <p:cNvSpPr>
                  <a:spLocks noRot="1" noChangeAspect="1" noMove="1" noResize="1" noEditPoints="1" noAdjustHandles="1" noChangeArrowheads="1" noChangeShapeType="1" noTextEdit="1"/>
                </p:cNvSpPr>
                <p:nvPr/>
              </p:nvSpPr>
              <p:spPr bwMode="auto">
                <a:xfrm>
                  <a:off x="258" y="2168"/>
                  <a:ext cx="5400" cy="1433"/>
                </a:xfrm>
                <a:prstGeom prst="rect">
                  <a:avLst/>
                </a:prstGeom>
                <a:blipFill>
                  <a:blip r:embed="rId12"/>
                  <a:stretch>
                    <a:fillRect l="-1849" t="-2239" r="-1067" b="-11940"/>
                  </a:stretch>
                </a:blipFill>
                <a:ln w="9525">
                  <a:noFill/>
                  <a:miter lim="800000"/>
                  <a:headEnd/>
                  <a:tailEnd/>
                </a:ln>
              </p:spPr>
              <p:txBody>
                <a:bodyPr/>
                <a:lstStyle/>
                <a:p>
                  <a:r>
                    <a:rPr lang="zh-CN" altLang="en-US">
                      <a:noFill/>
                    </a:rPr>
                    <a:t> </a:t>
                  </a:r>
                </a:p>
              </p:txBody>
            </p:sp>
          </mc:Fallback>
        </mc:AlternateContent>
        <p:sp>
          <p:nvSpPr>
            <p:cNvPr id="56344" name="Rectangle 73"/>
            <p:cNvSpPr>
              <a:spLocks noChangeArrowheads="1"/>
            </p:cNvSpPr>
            <p:nvPr/>
          </p:nvSpPr>
          <p:spPr bwMode="auto">
            <a:xfrm>
              <a:off x="627" y="2942"/>
              <a:ext cx="0" cy="486"/>
            </a:xfrm>
            <a:prstGeom prst="rect">
              <a:avLst/>
            </a:prstGeom>
            <a:noFill/>
            <a:ln w="9525">
              <a:noFill/>
              <a:miter lim="800000"/>
              <a:headEnd/>
              <a:tailEnd/>
            </a:ln>
          </p:spPr>
          <p:txBody>
            <a:bodyPr wrap="none" lIns="0" tIns="0" rIns="0" bIns="0">
              <a:spAutoFit/>
            </a:bodyPr>
            <a:lstStyle/>
            <a:p>
              <a:endParaRPr lang="en-US" altLang="zh-CN" b="1"/>
            </a:p>
          </p:txBody>
        </p:sp>
        <p:grpSp>
          <p:nvGrpSpPr>
            <p:cNvPr id="11" name="Group 74"/>
            <p:cNvGrpSpPr>
              <a:grpSpLocks/>
            </p:cNvGrpSpPr>
            <p:nvPr/>
          </p:nvGrpSpPr>
          <p:grpSpPr bwMode="auto">
            <a:xfrm>
              <a:off x="707" y="2981"/>
              <a:ext cx="106" cy="610"/>
              <a:chOff x="707" y="2981"/>
              <a:chExt cx="106" cy="610"/>
            </a:xfrm>
          </p:grpSpPr>
          <p:sp>
            <p:nvSpPr>
              <p:cNvPr id="56380" name="Rectangle 75"/>
              <p:cNvSpPr>
                <a:spLocks noChangeArrowheads="1"/>
              </p:cNvSpPr>
              <p:nvPr/>
            </p:nvSpPr>
            <p:spPr bwMode="auto">
              <a:xfrm>
                <a:off x="707" y="2981"/>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81" name="Rectangle 76"/>
              <p:cNvSpPr>
                <a:spLocks noChangeArrowheads="1"/>
              </p:cNvSpPr>
              <p:nvPr/>
            </p:nvSpPr>
            <p:spPr bwMode="auto">
              <a:xfrm>
                <a:off x="813" y="3105"/>
                <a:ext cx="0" cy="486"/>
              </a:xfrm>
              <a:prstGeom prst="rect">
                <a:avLst/>
              </a:prstGeom>
              <a:noFill/>
              <a:ln w="9525">
                <a:noFill/>
                <a:miter lim="800000"/>
                <a:headEnd/>
                <a:tailEnd/>
              </a:ln>
            </p:spPr>
            <p:txBody>
              <a:bodyPr wrap="none" lIns="0" tIns="0" rIns="0" bIns="0">
                <a:spAutoFit/>
              </a:bodyPr>
              <a:lstStyle/>
              <a:p>
                <a:endParaRPr lang="en-US" altLang="zh-CN" b="1"/>
              </a:p>
            </p:txBody>
          </p:sp>
        </p:grpSp>
        <p:grpSp>
          <p:nvGrpSpPr>
            <p:cNvPr id="12" name="Group 77"/>
            <p:cNvGrpSpPr>
              <a:grpSpLocks/>
            </p:cNvGrpSpPr>
            <p:nvPr/>
          </p:nvGrpSpPr>
          <p:grpSpPr bwMode="auto">
            <a:xfrm>
              <a:off x="900" y="2929"/>
              <a:ext cx="819" cy="559"/>
              <a:chOff x="900" y="2929"/>
              <a:chExt cx="819" cy="559"/>
            </a:xfrm>
          </p:grpSpPr>
          <p:sp>
            <p:nvSpPr>
              <p:cNvPr id="56370" name="Rectangle 78"/>
              <p:cNvSpPr>
                <a:spLocks noChangeArrowheads="1"/>
              </p:cNvSpPr>
              <p:nvPr/>
            </p:nvSpPr>
            <p:spPr bwMode="auto">
              <a:xfrm>
                <a:off x="900" y="2929"/>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71" name="Rectangle 79"/>
              <p:cNvSpPr>
                <a:spLocks noChangeArrowheads="1"/>
              </p:cNvSpPr>
              <p:nvPr/>
            </p:nvSpPr>
            <p:spPr bwMode="auto">
              <a:xfrm>
                <a:off x="1719" y="2929"/>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72" name="Rectangle 80"/>
              <p:cNvSpPr>
                <a:spLocks noChangeArrowheads="1"/>
              </p:cNvSpPr>
              <p:nvPr/>
            </p:nvSpPr>
            <p:spPr bwMode="auto">
              <a:xfrm>
                <a:off x="1625" y="3002"/>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73" name="Rectangle 81"/>
              <p:cNvSpPr>
                <a:spLocks noChangeArrowheads="1"/>
              </p:cNvSpPr>
              <p:nvPr/>
            </p:nvSpPr>
            <p:spPr bwMode="auto">
              <a:xfrm>
                <a:off x="946" y="3002"/>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74" name="Rectangle 82"/>
              <p:cNvSpPr>
                <a:spLocks noChangeArrowheads="1"/>
              </p:cNvSpPr>
              <p:nvPr/>
            </p:nvSpPr>
            <p:spPr bwMode="auto">
              <a:xfrm>
                <a:off x="1567" y="3002"/>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75" name="Rectangle 83"/>
              <p:cNvSpPr>
                <a:spLocks noChangeArrowheads="1"/>
              </p:cNvSpPr>
              <p:nvPr/>
            </p:nvSpPr>
            <p:spPr bwMode="auto">
              <a:xfrm>
                <a:off x="1354" y="3002"/>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76" name="Rectangle 84"/>
              <p:cNvSpPr>
                <a:spLocks noChangeArrowheads="1"/>
              </p:cNvSpPr>
              <p:nvPr/>
            </p:nvSpPr>
            <p:spPr bwMode="auto">
              <a:xfrm>
                <a:off x="1273" y="3002"/>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77" name="Rectangle 85"/>
              <p:cNvSpPr>
                <a:spLocks noChangeArrowheads="1"/>
              </p:cNvSpPr>
              <p:nvPr/>
            </p:nvSpPr>
            <p:spPr bwMode="auto">
              <a:xfrm>
                <a:off x="1230" y="3002"/>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78" name="Rectangle 86"/>
              <p:cNvSpPr>
                <a:spLocks noChangeArrowheads="1"/>
              </p:cNvSpPr>
              <p:nvPr/>
            </p:nvSpPr>
            <p:spPr bwMode="auto">
              <a:xfrm>
                <a:off x="1161" y="3002"/>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79" name="Rectangle 88"/>
              <p:cNvSpPr>
                <a:spLocks noChangeArrowheads="1"/>
              </p:cNvSpPr>
              <p:nvPr/>
            </p:nvSpPr>
            <p:spPr bwMode="auto">
              <a:xfrm>
                <a:off x="1041" y="2983"/>
                <a:ext cx="0" cy="486"/>
              </a:xfrm>
              <a:prstGeom prst="rect">
                <a:avLst/>
              </a:prstGeom>
              <a:noFill/>
              <a:ln w="9525">
                <a:noFill/>
                <a:miter lim="800000"/>
                <a:headEnd/>
                <a:tailEnd/>
              </a:ln>
            </p:spPr>
            <p:txBody>
              <a:bodyPr wrap="none" lIns="0" tIns="0" rIns="0" bIns="0">
                <a:spAutoFit/>
              </a:bodyPr>
              <a:lstStyle/>
              <a:p>
                <a:endParaRPr lang="en-US" altLang="zh-CN" b="1"/>
              </a:p>
            </p:txBody>
          </p:sp>
        </p:grpSp>
        <p:sp>
          <p:nvSpPr>
            <p:cNvPr id="56347" name="Rectangle 89"/>
            <p:cNvSpPr>
              <a:spLocks noChangeArrowheads="1"/>
            </p:cNvSpPr>
            <p:nvPr/>
          </p:nvSpPr>
          <p:spPr bwMode="auto">
            <a:xfrm>
              <a:off x="1793" y="2958"/>
              <a:ext cx="0" cy="486"/>
            </a:xfrm>
            <a:prstGeom prst="rect">
              <a:avLst/>
            </a:prstGeom>
            <a:noFill/>
            <a:ln w="9525">
              <a:noFill/>
              <a:miter lim="800000"/>
              <a:headEnd/>
              <a:tailEnd/>
            </a:ln>
          </p:spPr>
          <p:txBody>
            <a:bodyPr wrap="none" lIns="0" tIns="0" rIns="0" bIns="0">
              <a:spAutoFit/>
            </a:bodyPr>
            <a:lstStyle/>
            <a:p>
              <a:endParaRPr lang="zh-CN" altLang="en-US" b="1"/>
            </a:p>
          </p:txBody>
        </p:sp>
        <p:grpSp>
          <p:nvGrpSpPr>
            <p:cNvPr id="13" name="Group 90"/>
            <p:cNvGrpSpPr>
              <a:grpSpLocks/>
            </p:cNvGrpSpPr>
            <p:nvPr/>
          </p:nvGrpSpPr>
          <p:grpSpPr bwMode="auto">
            <a:xfrm>
              <a:off x="2066" y="2961"/>
              <a:ext cx="281" cy="622"/>
              <a:chOff x="2066" y="2961"/>
              <a:chExt cx="281" cy="622"/>
            </a:xfrm>
          </p:grpSpPr>
          <p:sp>
            <p:nvSpPr>
              <p:cNvPr id="56366" name="Rectangle 91"/>
              <p:cNvSpPr>
                <a:spLocks noChangeArrowheads="1"/>
              </p:cNvSpPr>
              <p:nvPr/>
            </p:nvSpPr>
            <p:spPr bwMode="auto">
              <a:xfrm>
                <a:off x="2066" y="2993"/>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67" name="Rectangle 92"/>
              <p:cNvSpPr>
                <a:spLocks noChangeArrowheads="1"/>
              </p:cNvSpPr>
              <p:nvPr/>
            </p:nvSpPr>
            <p:spPr bwMode="auto">
              <a:xfrm>
                <a:off x="2347" y="2993"/>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68" name="Rectangle 93"/>
              <p:cNvSpPr>
                <a:spLocks noChangeArrowheads="1"/>
              </p:cNvSpPr>
              <p:nvPr/>
            </p:nvSpPr>
            <p:spPr bwMode="auto">
              <a:xfrm>
                <a:off x="2138" y="3097"/>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69" name="Rectangle 95"/>
              <p:cNvSpPr>
                <a:spLocks noChangeArrowheads="1"/>
              </p:cNvSpPr>
              <p:nvPr/>
            </p:nvSpPr>
            <p:spPr bwMode="auto">
              <a:xfrm>
                <a:off x="2239" y="2961"/>
                <a:ext cx="0" cy="486"/>
              </a:xfrm>
              <a:prstGeom prst="rect">
                <a:avLst/>
              </a:prstGeom>
              <a:noFill/>
              <a:ln w="9525">
                <a:noFill/>
                <a:miter lim="800000"/>
                <a:headEnd/>
                <a:tailEnd/>
              </a:ln>
            </p:spPr>
            <p:txBody>
              <a:bodyPr wrap="none" lIns="0" tIns="0" rIns="0" bIns="0">
                <a:spAutoFit/>
              </a:bodyPr>
              <a:lstStyle/>
              <a:p>
                <a:endParaRPr lang="en-US" altLang="zh-CN" b="1"/>
              </a:p>
            </p:txBody>
          </p:sp>
        </p:grpSp>
        <p:grpSp>
          <p:nvGrpSpPr>
            <p:cNvPr id="14" name="Group 98"/>
            <p:cNvGrpSpPr>
              <a:grpSpLocks/>
            </p:cNvGrpSpPr>
            <p:nvPr/>
          </p:nvGrpSpPr>
          <p:grpSpPr bwMode="auto">
            <a:xfrm>
              <a:off x="3734" y="3001"/>
              <a:ext cx="122" cy="590"/>
              <a:chOff x="3734" y="3001"/>
              <a:chExt cx="122" cy="590"/>
            </a:xfrm>
          </p:grpSpPr>
          <p:sp>
            <p:nvSpPr>
              <p:cNvPr id="56364" name="Rectangle 99"/>
              <p:cNvSpPr>
                <a:spLocks noChangeArrowheads="1"/>
              </p:cNvSpPr>
              <p:nvPr/>
            </p:nvSpPr>
            <p:spPr bwMode="auto">
              <a:xfrm>
                <a:off x="3734" y="3001"/>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65" name="Rectangle 100"/>
              <p:cNvSpPr>
                <a:spLocks noChangeArrowheads="1"/>
              </p:cNvSpPr>
              <p:nvPr/>
            </p:nvSpPr>
            <p:spPr bwMode="auto">
              <a:xfrm>
                <a:off x="3856" y="3105"/>
                <a:ext cx="0" cy="486"/>
              </a:xfrm>
              <a:prstGeom prst="rect">
                <a:avLst/>
              </a:prstGeom>
              <a:noFill/>
              <a:ln w="9525">
                <a:noFill/>
                <a:miter lim="800000"/>
                <a:headEnd/>
                <a:tailEnd/>
              </a:ln>
            </p:spPr>
            <p:txBody>
              <a:bodyPr wrap="none" lIns="0" tIns="0" rIns="0" bIns="0">
                <a:spAutoFit/>
              </a:bodyPr>
              <a:lstStyle/>
              <a:p>
                <a:endParaRPr lang="en-US" altLang="zh-CN" b="1"/>
              </a:p>
            </p:txBody>
          </p:sp>
        </p:grpSp>
        <p:grpSp>
          <p:nvGrpSpPr>
            <p:cNvPr id="15" name="Group 102"/>
            <p:cNvGrpSpPr>
              <a:grpSpLocks/>
            </p:cNvGrpSpPr>
            <p:nvPr/>
          </p:nvGrpSpPr>
          <p:grpSpPr bwMode="auto">
            <a:xfrm>
              <a:off x="4895" y="2877"/>
              <a:ext cx="128" cy="715"/>
              <a:chOff x="4895" y="2877"/>
              <a:chExt cx="128" cy="715"/>
            </a:xfrm>
          </p:grpSpPr>
          <p:sp>
            <p:nvSpPr>
              <p:cNvPr id="56361" name="Rectangle 103"/>
              <p:cNvSpPr>
                <a:spLocks noChangeArrowheads="1"/>
              </p:cNvSpPr>
              <p:nvPr/>
            </p:nvSpPr>
            <p:spPr bwMode="auto">
              <a:xfrm>
                <a:off x="4959" y="2877"/>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62" name="Rectangle 104"/>
              <p:cNvSpPr>
                <a:spLocks noChangeArrowheads="1"/>
              </p:cNvSpPr>
              <p:nvPr/>
            </p:nvSpPr>
            <p:spPr bwMode="auto">
              <a:xfrm>
                <a:off x="4895" y="3004"/>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63" name="Rectangle 105"/>
              <p:cNvSpPr>
                <a:spLocks noChangeArrowheads="1"/>
              </p:cNvSpPr>
              <p:nvPr/>
            </p:nvSpPr>
            <p:spPr bwMode="auto">
              <a:xfrm>
                <a:off x="5023" y="3106"/>
                <a:ext cx="0" cy="486"/>
              </a:xfrm>
              <a:prstGeom prst="rect">
                <a:avLst/>
              </a:prstGeom>
              <a:noFill/>
              <a:ln w="9525">
                <a:noFill/>
                <a:miter lim="800000"/>
                <a:headEnd/>
                <a:tailEnd/>
              </a:ln>
            </p:spPr>
            <p:txBody>
              <a:bodyPr wrap="none" lIns="0" tIns="0" rIns="0" bIns="0">
                <a:spAutoFit/>
              </a:bodyPr>
              <a:lstStyle/>
              <a:p>
                <a:endParaRPr lang="en-US" altLang="zh-CN" b="1"/>
              </a:p>
            </p:txBody>
          </p:sp>
        </p:grpSp>
        <p:sp>
          <p:nvSpPr>
            <p:cNvPr id="56351" name="Rectangle 106"/>
            <p:cNvSpPr>
              <a:spLocks noChangeArrowheads="1"/>
            </p:cNvSpPr>
            <p:nvPr/>
          </p:nvSpPr>
          <p:spPr bwMode="auto">
            <a:xfrm>
              <a:off x="5090" y="2958"/>
              <a:ext cx="0" cy="486"/>
            </a:xfrm>
            <a:prstGeom prst="rect">
              <a:avLst/>
            </a:prstGeom>
            <a:noFill/>
            <a:ln w="9525">
              <a:noFill/>
              <a:miter lim="800000"/>
              <a:headEnd/>
              <a:tailEnd/>
            </a:ln>
          </p:spPr>
          <p:txBody>
            <a:bodyPr wrap="none" lIns="0" tIns="0" rIns="0" bIns="0">
              <a:spAutoFit/>
            </a:bodyPr>
            <a:lstStyle/>
            <a:p>
              <a:endParaRPr lang="zh-CN" altLang="en-US" b="1"/>
            </a:p>
          </p:txBody>
        </p:sp>
        <p:grpSp>
          <p:nvGrpSpPr>
            <p:cNvPr id="16" name="Group 107"/>
            <p:cNvGrpSpPr>
              <a:grpSpLocks/>
            </p:cNvGrpSpPr>
            <p:nvPr/>
          </p:nvGrpSpPr>
          <p:grpSpPr bwMode="auto">
            <a:xfrm>
              <a:off x="176" y="3310"/>
              <a:ext cx="281" cy="622"/>
              <a:chOff x="176" y="3310"/>
              <a:chExt cx="281" cy="622"/>
            </a:xfrm>
          </p:grpSpPr>
          <p:sp>
            <p:nvSpPr>
              <p:cNvPr id="56356" name="Rectangle 108"/>
              <p:cNvSpPr>
                <a:spLocks noChangeArrowheads="1"/>
              </p:cNvSpPr>
              <p:nvPr/>
            </p:nvSpPr>
            <p:spPr bwMode="auto">
              <a:xfrm>
                <a:off x="176" y="3342"/>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57" name="Rectangle 109"/>
              <p:cNvSpPr>
                <a:spLocks noChangeArrowheads="1"/>
              </p:cNvSpPr>
              <p:nvPr/>
            </p:nvSpPr>
            <p:spPr bwMode="auto">
              <a:xfrm>
                <a:off x="457" y="3342"/>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58" name="Rectangle 110"/>
              <p:cNvSpPr>
                <a:spLocks noChangeArrowheads="1"/>
              </p:cNvSpPr>
              <p:nvPr/>
            </p:nvSpPr>
            <p:spPr bwMode="auto">
              <a:xfrm>
                <a:off x="248" y="3446"/>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59" name="Rectangle 112"/>
              <p:cNvSpPr>
                <a:spLocks noChangeArrowheads="1"/>
              </p:cNvSpPr>
              <p:nvPr/>
            </p:nvSpPr>
            <p:spPr bwMode="auto">
              <a:xfrm>
                <a:off x="349" y="3310"/>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60" name="Rectangle 113"/>
              <p:cNvSpPr>
                <a:spLocks noChangeArrowheads="1"/>
              </p:cNvSpPr>
              <p:nvPr/>
            </p:nvSpPr>
            <p:spPr bwMode="auto">
              <a:xfrm>
                <a:off x="402" y="3320"/>
                <a:ext cx="0" cy="486"/>
              </a:xfrm>
              <a:prstGeom prst="rect">
                <a:avLst/>
              </a:prstGeom>
              <a:noFill/>
              <a:ln w="9525">
                <a:noFill/>
                <a:miter lim="800000"/>
                <a:headEnd/>
                <a:tailEnd/>
              </a:ln>
            </p:spPr>
            <p:txBody>
              <a:bodyPr wrap="none" lIns="0" tIns="0" rIns="0" bIns="0">
                <a:spAutoFit/>
              </a:bodyPr>
              <a:lstStyle/>
              <a:p>
                <a:endParaRPr lang="en-US" altLang="zh-CN" b="1"/>
              </a:p>
            </p:txBody>
          </p:sp>
        </p:grpSp>
        <p:grpSp>
          <p:nvGrpSpPr>
            <p:cNvPr id="17" name="Group 115"/>
            <p:cNvGrpSpPr>
              <a:grpSpLocks/>
            </p:cNvGrpSpPr>
            <p:nvPr/>
          </p:nvGrpSpPr>
          <p:grpSpPr bwMode="auto">
            <a:xfrm>
              <a:off x="1371" y="3331"/>
              <a:ext cx="107" cy="610"/>
              <a:chOff x="1371" y="3331"/>
              <a:chExt cx="107" cy="610"/>
            </a:xfrm>
          </p:grpSpPr>
          <p:sp>
            <p:nvSpPr>
              <p:cNvPr id="56354" name="Rectangle 116"/>
              <p:cNvSpPr>
                <a:spLocks noChangeArrowheads="1"/>
              </p:cNvSpPr>
              <p:nvPr/>
            </p:nvSpPr>
            <p:spPr bwMode="auto">
              <a:xfrm>
                <a:off x="1371" y="3331"/>
                <a:ext cx="0" cy="486"/>
              </a:xfrm>
              <a:prstGeom prst="rect">
                <a:avLst/>
              </a:prstGeom>
              <a:noFill/>
              <a:ln w="9525">
                <a:noFill/>
                <a:miter lim="800000"/>
                <a:headEnd/>
                <a:tailEnd/>
              </a:ln>
            </p:spPr>
            <p:txBody>
              <a:bodyPr wrap="none" lIns="0" tIns="0" rIns="0" bIns="0">
                <a:spAutoFit/>
              </a:bodyPr>
              <a:lstStyle/>
              <a:p>
                <a:endParaRPr lang="en-US" altLang="zh-CN" b="1"/>
              </a:p>
            </p:txBody>
          </p:sp>
          <p:sp>
            <p:nvSpPr>
              <p:cNvPr id="56355" name="Rectangle 117"/>
              <p:cNvSpPr>
                <a:spLocks noChangeArrowheads="1"/>
              </p:cNvSpPr>
              <p:nvPr/>
            </p:nvSpPr>
            <p:spPr bwMode="auto">
              <a:xfrm>
                <a:off x="1478" y="3455"/>
                <a:ext cx="0" cy="486"/>
              </a:xfrm>
              <a:prstGeom prst="rect">
                <a:avLst/>
              </a:prstGeom>
              <a:noFill/>
              <a:ln w="9525">
                <a:noFill/>
                <a:miter lim="800000"/>
                <a:headEnd/>
                <a:tailEnd/>
              </a:ln>
            </p:spPr>
            <p:txBody>
              <a:bodyPr wrap="none" lIns="0" tIns="0" rIns="0" bIns="0">
                <a:spAutoFit/>
              </a:bodyPr>
              <a:lstStyle/>
              <a:p>
                <a:endParaRPr lang="en-US" altLang="zh-CN" b="1"/>
              </a:p>
            </p:txBody>
          </p:sp>
        </p:grpSp>
      </p:grpSp>
      <p:graphicFrame>
        <p:nvGraphicFramePr>
          <p:cNvPr id="451599" name="Object 12"/>
          <p:cNvGraphicFramePr>
            <a:graphicFrameLocks noChangeAspect="1"/>
          </p:cNvGraphicFramePr>
          <p:nvPr>
            <p:extLst>
              <p:ext uri="{D42A27DB-BD31-4B8C-83A1-F6EECF244321}">
                <p14:modId xmlns:p14="http://schemas.microsoft.com/office/powerpoint/2010/main" val="2933966731"/>
              </p:ext>
            </p:extLst>
          </p:nvPr>
        </p:nvGraphicFramePr>
        <p:xfrm>
          <a:off x="6117829" y="1016093"/>
          <a:ext cx="1612900" cy="450850"/>
        </p:xfrm>
        <a:graphic>
          <a:graphicData uri="http://schemas.openxmlformats.org/presentationml/2006/ole">
            <mc:AlternateContent xmlns:mc="http://schemas.openxmlformats.org/markup-compatibility/2006">
              <mc:Choice xmlns:v="urn:schemas-microsoft-com:vml" Requires="v">
                <p:oleObj spid="_x0000_s339696" name="Equation" r:id="rId13" imgW="990360" imgH="279360" progId="Equation.DSMT4">
                  <p:embed/>
                </p:oleObj>
              </mc:Choice>
              <mc:Fallback>
                <p:oleObj name="Equation" r:id="rId13" imgW="990360" imgH="27936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17829" y="1016093"/>
                        <a:ext cx="1612900" cy="450850"/>
                      </a:xfrm>
                      <a:prstGeom prst="rect">
                        <a:avLst/>
                      </a:prstGeom>
                      <a:solidFill>
                        <a:schemeClr val="bg1"/>
                      </a:solidFill>
                      <a:ln w="9525">
                        <a:solidFill>
                          <a:srgbClr val="CC9900"/>
                        </a:solidFill>
                        <a:miter lim="800000"/>
                        <a:headEnd/>
                        <a:tailEnd/>
                      </a:ln>
                    </p:spPr>
                  </p:pic>
                </p:oleObj>
              </mc:Fallback>
            </mc:AlternateContent>
          </a:graphicData>
        </a:graphic>
      </p:graphicFrame>
      <p:graphicFrame>
        <p:nvGraphicFramePr>
          <p:cNvPr id="49268" name="Object 116"/>
          <p:cNvGraphicFramePr>
            <a:graphicFrameLocks noChangeAspect="1"/>
          </p:cNvGraphicFramePr>
          <p:nvPr>
            <p:extLst>
              <p:ext uri="{D42A27DB-BD31-4B8C-83A1-F6EECF244321}">
                <p14:modId xmlns:p14="http://schemas.microsoft.com/office/powerpoint/2010/main" val="67483905"/>
              </p:ext>
            </p:extLst>
          </p:nvPr>
        </p:nvGraphicFramePr>
        <p:xfrm>
          <a:off x="5370513" y="3156614"/>
          <a:ext cx="1593850" cy="349250"/>
        </p:xfrm>
        <a:graphic>
          <a:graphicData uri="http://schemas.openxmlformats.org/presentationml/2006/ole">
            <mc:AlternateContent xmlns:mc="http://schemas.openxmlformats.org/markup-compatibility/2006">
              <mc:Choice xmlns:v="urn:schemas-microsoft-com:vml" Requires="v">
                <p:oleObj spid="_x0000_s339697" name="Equation" r:id="rId15" imgW="1282680" imgH="241200" progId="Equation.DSMT4">
                  <p:embed/>
                </p:oleObj>
              </mc:Choice>
              <mc:Fallback>
                <p:oleObj name="Equation" r:id="rId15" imgW="1282680" imgH="241200" progId="Equation.DSMT4">
                  <p:embed/>
                  <p:pic>
                    <p:nvPicPr>
                      <p:cNvPr id="0" name=""/>
                      <p:cNvPicPr>
                        <a:picLocks noChangeAspect="1" noChangeArrowheads="1"/>
                      </p:cNvPicPr>
                      <p:nvPr/>
                    </p:nvPicPr>
                    <p:blipFill>
                      <a:blip r:embed="rId16"/>
                      <a:srcRect/>
                      <a:stretch>
                        <a:fillRect/>
                      </a:stretch>
                    </p:blipFill>
                    <p:spPr bwMode="auto">
                      <a:xfrm>
                        <a:off x="5370513" y="3156614"/>
                        <a:ext cx="1593850" cy="349250"/>
                      </a:xfrm>
                      <a:prstGeom prst="rect">
                        <a:avLst/>
                      </a:prstGeom>
                      <a:solidFill>
                        <a:schemeClr val="accent2">
                          <a:lumMod val="40000"/>
                          <a:lumOff val="60000"/>
                        </a:schemeClr>
                      </a:solidFill>
                      <a:ln>
                        <a:solidFill>
                          <a:srgbClr val="FF7A00"/>
                        </a:solidFill>
                      </a:ln>
                      <a:effectLst/>
                    </p:spPr>
                  </p:pic>
                </p:oleObj>
              </mc:Fallback>
            </mc:AlternateContent>
          </a:graphicData>
        </a:graphic>
      </p:graphicFrame>
      <p:sp>
        <p:nvSpPr>
          <p:cNvPr id="118" name="灯片编号占位符 117"/>
          <p:cNvSpPr>
            <a:spLocks noGrp="1"/>
          </p:cNvSpPr>
          <p:nvPr>
            <p:ph type="sldNum" sz="quarter" idx="11"/>
          </p:nvPr>
        </p:nvSpPr>
        <p:spPr/>
        <p:txBody>
          <a:bodyPr/>
          <a:lstStyle/>
          <a:p>
            <a:pPr>
              <a:defRPr/>
            </a:pPr>
            <a:fld id="{31E287EE-1289-4991-82CE-EFE584F53F4F}" type="slidenum">
              <a:rPr lang="en-US" altLang="zh-CN" smtClean="0"/>
              <a:pPr>
                <a:defRPr/>
              </a:pPr>
              <a:t>9</a:t>
            </a:fld>
            <a:endParaRPr lang="en-US" altLang="zh-CN" dirty="0"/>
          </a:p>
        </p:txBody>
      </p:sp>
      <p:graphicFrame>
        <p:nvGraphicFramePr>
          <p:cNvPr id="18" name="Object 12"/>
          <p:cNvGraphicFramePr>
            <a:graphicFrameLocks noChangeAspect="1"/>
          </p:cNvGraphicFramePr>
          <p:nvPr>
            <p:extLst>
              <p:ext uri="{D42A27DB-BD31-4B8C-83A1-F6EECF244321}">
                <p14:modId xmlns:p14="http://schemas.microsoft.com/office/powerpoint/2010/main" val="1324677892"/>
              </p:ext>
            </p:extLst>
          </p:nvPr>
        </p:nvGraphicFramePr>
        <p:xfrm>
          <a:off x="7953375" y="1828800"/>
          <a:ext cx="3081338" cy="368300"/>
        </p:xfrm>
        <a:graphic>
          <a:graphicData uri="http://schemas.openxmlformats.org/presentationml/2006/ole">
            <mc:AlternateContent xmlns:mc="http://schemas.openxmlformats.org/markup-compatibility/2006">
              <mc:Choice xmlns:v="urn:schemas-microsoft-com:vml" Requires="v">
                <p:oleObj spid="_x0000_s339698" name="Equation" r:id="rId17" imgW="1892160" imgH="228600" progId="Equation.DSMT4">
                  <p:embed/>
                </p:oleObj>
              </mc:Choice>
              <mc:Fallback>
                <p:oleObj name="Equation" r:id="rId17" imgW="1892160" imgH="228600" progId="Equation.DSMT4">
                  <p:embed/>
                  <p:pic>
                    <p:nvPicPr>
                      <p:cNvPr id="0" name=""/>
                      <p:cNvPicPr>
                        <a:picLocks noChangeAspect="1" noChangeArrowheads="1"/>
                      </p:cNvPicPr>
                      <p:nvPr/>
                    </p:nvPicPr>
                    <p:blipFill>
                      <a:blip r:embed="rId18"/>
                      <a:srcRect/>
                      <a:stretch>
                        <a:fillRect/>
                      </a:stretch>
                    </p:blipFill>
                    <p:spPr bwMode="auto">
                      <a:xfrm>
                        <a:off x="7953375" y="1828800"/>
                        <a:ext cx="3081338" cy="368300"/>
                      </a:xfrm>
                      <a:prstGeom prst="rect">
                        <a:avLst/>
                      </a:prstGeom>
                      <a:solidFill>
                        <a:schemeClr val="bg1"/>
                      </a:solidFill>
                      <a:ln w="9525">
                        <a:solidFill>
                          <a:srgbClr val="CC9900"/>
                        </a:solidFill>
                        <a:miter lim="800000"/>
                        <a:headEnd/>
                        <a:tailEnd/>
                      </a:ln>
                    </p:spPr>
                  </p:pic>
                </p:oleObj>
              </mc:Fallback>
            </mc:AlternateContent>
          </a:graphicData>
        </a:graphic>
      </p:graphicFrame>
      <p:cxnSp>
        <p:nvCxnSpPr>
          <p:cNvPr id="122" name="直接箭头连接符 121"/>
          <p:cNvCxnSpPr/>
          <p:nvPr/>
        </p:nvCxnSpPr>
        <p:spPr>
          <a:xfrm flipH="1">
            <a:off x="7472364" y="2163050"/>
            <a:ext cx="516730" cy="15879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1" name="矩形 120"/>
          <p:cNvSpPr/>
          <p:nvPr/>
        </p:nvSpPr>
        <p:spPr>
          <a:xfrm>
            <a:off x="1717172" y="3644871"/>
            <a:ext cx="2973891" cy="369332"/>
          </a:xfrm>
          <a:prstGeom prst="rect">
            <a:avLst/>
          </a:prstGeom>
          <a:ln>
            <a:solidFill>
              <a:srgbClr val="FF0000"/>
            </a:solidFill>
          </a:ln>
        </p:spPr>
        <p:txBody>
          <a:bodyPr wrap="none">
            <a:spAutoFit/>
          </a:bodyPr>
          <a:lstStyle/>
          <a:p>
            <a:r>
              <a:rPr lang="zh-CN" altLang="en-US" b="1" dirty="0">
                <a:solidFill>
                  <a:srgbClr val="FF0000"/>
                </a:solidFill>
                <a:latin typeface="楷体_GB2312" pitchFamily="49" charset="-122"/>
                <a:ea typeface="楷体_GB2312" pitchFamily="49" charset="-122"/>
              </a:rPr>
              <a:t>相似变换实对称阵可对角化</a:t>
            </a:r>
            <a:endParaRPr lang="zh-CN" altLang="en-US" dirty="0">
              <a:solidFill>
                <a:srgbClr val="FF0000"/>
              </a:solidFill>
            </a:endParaRPr>
          </a:p>
        </p:txBody>
      </p:sp>
      <p:sp>
        <p:nvSpPr>
          <p:cNvPr id="113" name="标题 1"/>
          <p:cNvSpPr>
            <a:spLocks noGrp="1"/>
          </p:cNvSpPr>
          <p:nvPr>
            <p:ph type="title"/>
          </p:nvPr>
        </p:nvSpPr>
        <p:spPr>
          <a:xfrm>
            <a:off x="390670" y="159942"/>
            <a:ext cx="7507560" cy="563563"/>
          </a:xfrm>
        </p:spPr>
        <p:txBody>
          <a:bodyPr/>
          <a:lstStyle/>
          <a:p>
            <a:r>
              <a:rPr lang="en-US" altLang="zh-CN" sz="2800" dirty="0"/>
              <a:t>17.1 </a:t>
            </a:r>
            <a:r>
              <a:rPr lang="zh-CN" altLang="en-US" sz="2800" dirty="0"/>
              <a:t>基于类别可分离性判据的特征提取</a:t>
            </a:r>
          </a:p>
        </p:txBody>
      </p:sp>
    </p:spTree>
    <p:extLst>
      <p:ext uri="{BB962C8B-B14F-4D97-AF65-F5344CB8AC3E}">
        <p14:creationId xmlns:p14="http://schemas.microsoft.com/office/powerpoint/2010/main" val="9279858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3" name="Rectangle 7"/>
          <p:cNvSpPr>
            <a:spLocks noChangeArrowheads="1"/>
          </p:cNvSpPr>
          <p:nvPr/>
        </p:nvSpPr>
        <p:spPr bwMode="auto">
          <a:xfrm>
            <a:off x="1408335" y="5295900"/>
            <a:ext cx="8064500" cy="1532727"/>
          </a:xfrm>
          <a:prstGeom prst="rect">
            <a:avLst/>
          </a:prstGeom>
          <a:noFill/>
          <a:ln w="9525">
            <a:noFill/>
            <a:miter lim="800000"/>
            <a:headEnd/>
            <a:tailEnd/>
          </a:ln>
        </p:spPr>
        <p:txBody>
          <a:bodyPr>
            <a:spAutoFit/>
          </a:bodyPr>
          <a:lstStyle/>
          <a:p>
            <a:pPr>
              <a:lnSpc>
                <a:spcPct val="130000"/>
              </a:lnSpc>
            </a:pPr>
            <a:r>
              <a:rPr kumimoji="1" lang="zh-CN" altLang="en-US" sz="2400" b="1" dirty="0">
                <a:latin typeface="楷体_GB2312" pitchFamily="49" charset="-122"/>
                <a:ea typeface="楷体_GB2312" pitchFamily="49" charset="-122"/>
              </a:rPr>
              <a:t>作变换         ，这时对于给定的</a:t>
            </a:r>
            <a:r>
              <a:rPr kumimoji="1" lang="en-US" altLang="zh-CN" sz="2400" b="1" i="1" dirty="0">
                <a:latin typeface="楷体_GB2312" pitchFamily="49" charset="-122"/>
                <a:ea typeface="楷体_GB2312" pitchFamily="49" charset="-122"/>
              </a:rPr>
              <a:t>d </a:t>
            </a:r>
            <a:r>
              <a:rPr kumimoji="1" lang="zh-CN" altLang="en-US" sz="2400" b="1" dirty="0">
                <a:latin typeface="楷体_GB2312" pitchFamily="49" charset="-122"/>
                <a:ea typeface="楷体_GB2312" pitchFamily="49" charset="-122"/>
              </a:rPr>
              <a:t>所得到的 </a:t>
            </a:r>
          </a:p>
          <a:p>
            <a:pPr>
              <a:lnSpc>
                <a:spcPct val="130000"/>
              </a:lnSpc>
            </a:pPr>
            <a:endParaRPr kumimoji="1" lang="zh-CN" altLang="en-US" sz="2400" b="1" dirty="0">
              <a:latin typeface="楷体_GB2312" pitchFamily="49" charset="-122"/>
              <a:ea typeface="楷体_GB2312" pitchFamily="49" charset="-122"/>
            </a:endParaRPr>
          </a:p>
          <a:p>
            <a:pPr>
              <a:lnSpc>
                <a:spcPct val="130000"/>
              </a:lnSpc>
            </a:pPr>
            <a:endParaRPr kumimoji="1" lang="zh-CN" altLang="en-US" sz="2400" b="1" dirty="0">
              <a:latin typeface="楷体_GB2312" pitchFamily="49" charset="-122"/>
              <a:ea typeface="楷体_GB2312" pitchFamily="49" charset="-122"/>
            </a:endParaRPr>
          </a:p>
        </p:txBody>
      </p:sp>
      <p:sp>
        <p:nvSpPr>
          <p:cNvPr id="57351" name="Rectangle 2"/>
          <p:cNvSpPr>
            <a:spLocks noChangeArrowheads="1"/>
          </p:cNvSpPr>
          <p:nvPr/>
        </p:nvSpPr>
        <p:spPr bwMode="auto">
          <a:xfrm>
            <a:off x="1082898" y="1878012"/>
            <a:ext cx="8064500" cy="2012859"/>
          </a:xfrm>
          <a:prstGeom prst="rect">
            <a:avLst/>
          </a:prstGeom>
          <a:noFill/>
          <a:ln w="9525">
            <a:noFill/>
            <a:miter lim="800000"/>
            <a:headEnd/>
            <a:tailEnd/>
          </a:ln>
        </p:spPr>
        <p:txBody>
          <a:bodyPr>
            <a:spAutoFit/>
          </a:bodyPr>
          <a:lstStyle/>
          <a:p>
            <a:pPr>
              <a:lnSpc>
                <a:spcPct val="130000"/>
              </a:lnSpc>
            </a:pPr>
            <a:r>
              <a:rPr kumimoji="1" lang="zh-CN" altLang="en-US" sz="2400" b="1" dirty="0">
                <a:solidFill>
                  <a:srgbClr val="FF0000"/>
                </a:solidFill>
                <a:latin typeface="宋体" panose="02010600030101010101" pitchFamily="2" charset="-122"/>
                <a:ea typeface="宋体" panose="02010600030101010101" pitchFamily="2" charset="-122"/>
              </a:rPr>
              <a:t>转换步骤</a:t>
            </a:r>
            <a:r>
              <a:rPr kumimoji="1" lang="zh-CN" altLang="en-US" sz="2400" b="1" dirty="0">
                <a:latin typeface="宋体" panose="02010600030101010101" pitchFamily="2" charset="-122"/>
                <a:ea typeface="宋体" panose="02010600030101010101" pitchFamily="2" charset="-122"/>
              </a:rPr>
              <a:t>：使</a:t>
            </a:r>
            <a:r>
              <a:rPr kumimoji="1" lang="en-US" altLang="zh-CN" sz="2400" b="1" dirty="0">
                <a:solidFill>
                  <a:srgbClr val="7030A0"/>
                </a:solidFill>
                <a:latin typeface="宋体" panose="02010600030101010101" pitchFamily="2" charset="-122"/>
                <a:ea typeface="宋体" panose="02010600030101010101" pitchFamily="2" charset="-122"/>
              </a:rPr>
              <a:t>W</a:t>
            </a:r>
            <a:r>
              <a:rPr kumimoji="1" lang="en-US" altLang="zh-CN" sz="2400" b="1" baseline="-25000" dirty="0">
                <a:solidFill>
                  <a:srgbClr val="7030A0"/>
                </a:solidFill>
                <a:latin typeface="宋体" panose="02010600030101010101" pitchFamily="2" charset="-122"/>
                <a:ea typeface="宋体" panose="02010600030101010101" pitchFamily="2" charset="-122"/>
              </a:rPr>
              <a:t>e</a:t>
            </a:r>
            <a:r>
              <a:rPr kumimoji="1" lang="zh-CN" altLang="en-US" sz="2400" b="1" dirty="0">
                <a:solidFill>
                  <a:srgbClr val="7030A0"/>
                </a:solidFill>
                <a:latin typeface="宋体" panose="02010600030101010101" pitchFamily="2" charset="-122"/>
                <a:ea typeface="宋体" panose="02010600030101010101" pitchFamily="2" charset="-122"/>
              </a:rPr>
              <a:t>的列矢量</a:t>
            </a:r>
            <a:r>
              <a:rPr kumimoji="1" lang="zh-CN" altLang="en-US" sz="2400" b="1" dirty="0">
                <a:latin typeface="宋体" panose="02010600030101010101" pitchFamily="2" charset="-122"/>
                <a:ea typeface="宋体" panose="02010600030101010101" pitchFamily="2" charset="-122"/>
              </a:rPr>
              <a:t>的排列作适当调整，使</a:t>
            </a:r>
            <a:r>
              <a:rPr kumimoji="1" lang="en-US" altLang="zh-CN" sz="2400" b="1" dirty="0">
                <a:latin typeface="宋体" panose="02010600030101010101" pitchFamily="2" charset="-122"/>
                <a:ea typeface="宋体" panose="02010600030101010101" pitchFamily="2" charset="-122"/>
              </a:rPr>
              <a:t>S</a:t>
            </a:r>
            <a:r>
              <a:rPr kumimoji="1" lang="en-US" altLang="zh-CN" sz="2400" b="1" baseline="-25000" dirty="0">
                <a:latin typeface="宋体" panose="02010600030101010101" pitchFamily="2" charset="-122"/>
                <a:ea typeface="宋体" panose="02010600030101010101" pitchFamily="2" charset="-122"/>
              </a:rPr>
              <a:t>W</a:t>
            </a:r>
            <a:r>
              <a:rPr kumimoji="1" lang="en-US" altLang="zh-CN" sz="2400" b="1" baseline="30000" dirty="0">
                <a:latin typeface="宋体" panose="02010600030101010101" pitchFamily="2" charset="-122"/>
                <a:ea typeface="宋体" panose="02010600030101010101" pitchFamily="2" charset="-122"/>
              </a:rPr>
              <a:t>-1</a:t>
            </a:r>
            <a:r>
              <a:rPr kumimoji="1" lang="en-US" altLang="zh-CN" sz="2400" b="1" dirty="0">
                <a:latin typeface="宋体" panose="02010600030101010101" pitchFamily="2" charset="-122"/>
                <a:ea typeface="宋体" panose="02010600030101010101" pitchFamily="2" charset="-122"/>
              </a:rPr>
              <a:t>S</a:t>
            </a:r>
            <a:r>
              <a:rPr kumimoji="1" lang="en-US" altLang="zh-CN" sz="2400" b="1" baseline="-25000" dirty="0">
                <a:latin typeface="宋体" panose="02010600030101010101" pitchFamily="2" charset="-122"/>
                <a:ea typeface="宋体" panose="02010600030101010101" pitchFamily="2" charset="-122"/>
              </a:rPr>
              <a:t>B</a:t>
            </a:r>
            <a:r>
              <a:rPr kumimoji="1" lang="zh-CN" altLang="en-US" sz="2400" b="1" dirty="0">
                <a:latin typeface="宋体" panose="02010600030101010101" pitchFamily="2" charset="-122"/>
                <a:ea typeface="宋体" panose="02010600030101010101" pitchFamily="2" charset="-122"/>
              </a:rPr>
              <a:t>的特征值</a:t>
            </a:r>
            <a:r>
              <a:rPr kumimoji="1" lang="zh-CN" altLang="en-US" sz="2400" b="1" dirty="0">
                <a:latin typeface="宋体" panose="02010600030101010101" pitchFamily="2" charset="-122"/>
                <a:ea typeface="宋体" panose="02010600030101010101" pitchFamily="2" charset="-122"/>
                <a:sym typeface="Symbol" pitchFamily="18" charset="2"/>
              </a:rPr>
              <a:t></a:t>
            </a:r>
            <a:r>
              <a:rPr kumimoji="1" lang="en-US" altLang="zh-CN" sz="2400" b="1" baseline="-25000" dirty="0">
                <a:latin typeface="宋体" panose="02010600030101010101" pitchFamily="2" charset="-122"/>
                <a:ea typeface="宋体" panose="02010600030101010101" pitchFamily="2" charset="-122"/>
                <a:sym typeface="Symbol" pitchFamily="18" charset="2"/>
              </a:rPr>
              <a:t>1</a:t>
            </a:r>
            <a:r>
              <a:rPr kumimoji="1" lang="en-US" altLang="zh-CN" sz="2400" b="1" dirty="0">
                <a:latin typeface="宋体" panose="02010600030101010101" pitchFamily="2" charset="-122"/>
                <a:ea typeface="宋体" panose="02010600030101010101" pitchFamily="2" charset="-122"/>
              </a:rPr>
              <a:t> ≥ </a:t>
            </a:r>
            <a:r>
              <a:rPr kumimoji="1" lang="en-US" altLang="zh-CN" sz="2400" b="1" dirty="0">
                <a:latin typeface="宋体" panose="02010600030101010101" pitchFamily="2" charset="-122"/>
                <a:ea typeface="宋体" panose="02010600030101010101" pitchFamily="2" charset="-122"/>
                <a:sym typeface="Symbol" pitchFamily="18" charset="2"/>
              </a:rPr>
              <a:t></a:t>
            </a:r>
            <a:r>
              <a:rPr kumimoji="1" lang="en-US" altLang="zh-CN" sz="2400" b="1" baseline="-25000" dirty="0">
                <a:latin typeface="宋体" panose="02010600030101010101" pitchFamily="2" charset="-122"/>
                <a:ea typeface="宋体" panose="02010600030101010101" pitchFamily="2" charset="-122"/>
                <a:sym typeface="Symbol" pitchFamily="18" charset="2"/>
              </a:rPr>
              <a:t>2</a:t>
            </a:r>
            <a:r>
              <a:rPr kumimoji="1" lang="en-US" altLang="zh-CN" sz="2400" b="1" dirty="0">
                <a:latin typeface="宋体" panose="02010600030101010101" pitchFamily="2" charset="-122"/>
                <a:ea typeface="宋体" panose="02010600030101010101" pitchFamily="2" charset="-122"/>
              </a:rPr>
              <a:t> ≥ …≥</a:t>
            </a:r>
            <a:r>
              <a:rPr kumimoji="1" lang="en-US" altLang="zh-CN" sz="2400" b="1" dirty="0">
                <a:latin typeface="宋体" panose="02010600030101010101" pitchFamily="2" charset="-122"/>
                <a:ea typeface="宋体" panose="02010600030101010101" pitchFamily="2" charset="-122"/>
                <a:sym typeface="Symbol" pitchFamily="18" charset="2"/>
              </a:rPr>
              <a:t></a:t>
            </a:r>
            <a:r>
              <a:rPr kumimoji="1" lang="en-US" altLang="zh-CN" sz="2400" b="1" baseline="-25000" dirty="0">
                <a:latin typeface="宋体" panose="02010600030101010101" pitchFamily="2" charset="-122"/>
                <a:ea typeface="宋体" panose="02010600030101010101" pitchFamily="2" charset="-122"/>
                <a:sym typeface="Symbol" pitchFamily="18" charset="2"/>
              </a:rPr>
              <a:t>D</a:t>
            </a:r>
            <a:r>
              <a:rPr kumimoji="1" lang="en-US" altLang="zh-CN" sz="2400" b="1" dirty="0">
                <a:latin typeface="宋体" panose="02010600030101010101" pitchFamily="2" charset="-122"/>
                <a:ea typeface="宋体" panose="02010600030101010101" pitchFamily="2" charset="-122"/>
              </a:rPr>
              <a:t> </a:t>
            </a:r>
            <a:r>
              <a:rPr kumimoji="1" lang="zh-CN" altLang="en-US" sz="2400" b="1" dirty="0">
                <a:latin typeface="宋体" panose="02010600030101010101" pitchFamily="2" charset="-122"/>
                <a:ea typeface="宋体" panose="02010600030101010101" pitchFamily="2" charset="-122"/>
              </a:rPr>
              <a:t>。由此可得，在</a:t>
            </a:r>
            <a:r>
              <a:rPr kumimoji="1" lang="en-US" altLang="zh-CN" sz="2400" b="1" dirty="0">
                <a:latin typeface="宋体" panose="02010600030101010101" pitchFamily="2" charset="-122"/>
                <a:ea typeface="宋体" panose="02010600030101010101" pitchFamily="2" charset="-122"/>
              </a:rPr>
              <a:t>d</a:t>
            </a:r>
            <a:r>
              <a:rPr kumimoji="1" lang="zh-CN" altLang="en-US" sz="2400" b="1" dirty="0">
                <a:latin typeface="宋体" panose="02010600030101010101" pitchFamily="2" charset="-122"/>
                <a:ea typeface="宋体" panose="02010600030101010101" pitchFamily="2" charset="-122"/>
              </a:rPr>
              <a:t>给定后，取前</a:t>
            </a:r>
            <a:r>
              <a:rPr kumimoji="1" lang="en-US" altLang="zh-CN" sz="2400" b="1" dirty="0">
                <a:latin typeface="宋体" panose="02010600030101010101" pitchFamily="2" charset="-122"/>
                <a:ea typeface="宋体" panose="02010600030101010101" pitchFamily="2" charset="-122"/>
              </a:rPr>
              <a:t>d </a:t>
            </a:r>
            <a:r>
              <a:rPr kumimoji="1" lang="zh-CN" altLang="en-US" sz="2400" b="1" dirty="0">
                <a:latin typeface="宋体" panose="02010600030101010101" pitchFamily="2" charset="-122"/>
                <a:ea typeface="宋体" panose="02010600030101010101" pitchFamily="2" charset="-122"/>
              </a:rPr>
              <a:t>个较大的特征值所对应的特征矢量</a:t>
            </a:r>
            <a:r>
              <a:rPr kumimoji="1" lang="en-US" altLang="zh-CN" sz="2400" b="1" dirty="0" err="1">
                <a:latin typeface="宋体" panose="02010600030101010101" pitchFamily="2" charset="-122"/>
                <a:ea typeface="宋体" panose="02010600030101010101" pitchFamily="2" charset="-122"/>
              </a:rPr>
              <a:t>w</a:t>
            </a:r>
            <a:r>
              <a:rPr kumimoji="1" lang="en-US" altLang="zh-CN" sz="2400" b="1" baseline="-25000" dirty="0" err="1">
                <a:latin typeface="宋体" panose="02010600030101010101" pitchFamily="2" charset="-122"/>
                <a:ea typeface="宋体" panose="02010600030101010101" pitchFamily="2" charset="-122"/>
              </a:rPr>
              <a:t>i</a:t>
            </a:r>
            <a:r>
              <a:rPr kumimoji="1" lang="en-US" altLang="zh-CN" sz="2400" b="1" dirty="0">
                <a:latin typeface="宋体" panose="02010600030101010101" pitchFamily="2" charset="-122"/>
                <a:ea typeface="宋体" panose="02010600030101010101" pitchFamily="2" charset="-122"/>
              </a:rPr>
              <a:t>(</a:t>
            </a:r>
            <a:r>
              <a:rPr kumimoji="1" lang="en-US" altLang="zh-CN" sz="2400" b="1" dirty="0" err="1">
                <a:latin typeface="宋体" panose="02010600030101010101" pitchFamily="2" charset="-122"/>
                <a:ea typeface="宋体" panose="02010600030101010101" pitchFamily="2" charset="-122"/>
                <a:sym typeface="Symbol" pitchFamily="18" charset="2"/>
              </a:rPr>
              <a:t>i</a:t>
            </a:r>
            <a:r>
              <a:rPr kumimoji="1" lang="en-US" altLang="zh-CN" sz="2400" b="1" dirty="0">
                <a:latin typeface="宋体" panose="02010600030101010101" pitchFamily="2" charset="-122"/>
                <a:ea typeface="宋体" panose="02010600030101010101" pitchFamily="2" charset="-122"/>
                <a:sym typeface="Symbol" pitchFamily="18" charset="2"/>
              </a:rPr>
              <a:t>=1,2,…,d</a:t>
            </a:r>
            <a:r>
              <a:rPr kumimoji="1" lang="en-US" altLang="zh-CN" sz="2400" b="1" dirty="0">
                <a:latin typeface="宋体" panose="02010600030101010101" pitchFamily="2" charset="-122"/>
                <a:ea typeface="宋体" panose="02010600030101010101" pitchFamily="2" charset="-122"/>
              </a:rPr>
              <a:t>)</a:t>
            </a:r>
            <a:r>
              <a:rPr kumimoji="1" lang="zh-CN" altLang="en-US" sz="2400" b="1" dirty="0">
                <a:latin typeface="宋体" panose="02010600030101010101" pitchFamily="2" charset="-122"/>
                <a:ea typeface="宋体" panose="02010600030101010101" pitchFamily="2" charset="-122"/>
              </a:rPr>
              <a:t>构造特征提取（转换）矩阵</a:t>
            </a:r>
            <a:r>
              <a:rPr kumimoji="1" lang="en-US" altLang="zh-CN" sz="2400" b="1" dirty="0">
                <a:latin typeface="宋体" panose="02010600030101010101" pitchFamily="2" charset="-122"/>
                <a:ea typeface="宋体" panose="02010600030101010101" pitchFamily="2" charset="-122"/>
              </a:rPr>
              <a:t>W</a:t>
            </a:r>
            <a:r>
              <a:rPr kumimoji="1" lang="zh-CN" altLang="en-US" sz="2400" dirty="0">
                <a:latin typeface="宋体" panose="02010600030101010101" pitchFamily="2" charset="-122"/>
                <a:ea typeface="宋体" panose="02010600030101010101" pitchFamily="2" charset="-122"/>
              </a:rPr>
              <a:t>，</a:t>
            </a:r>
            <a:r>
              <a:rPr kumimoji="1" lang="zh-CN" altLang="en-US" sz="2400" b="1" dirty="0">
                <a:latin typeface="宋体" panose="02010600030101010101" pitchFamily="2" charset="-122"/>
                <a:ea typeface="宋体" panose="02010600030101010101" pitchFamily="2" charset="-122"/>
              </a:rPr>
              <a:t>即</a:t>
            </a:r>
            <a:r>
              <a:rPr kumimoji="1" lang="en-US" altLang="zh-CN" sz="2400" b="1" dirty="0">
                <a:latin typeface="宋体" panose="02010600030101010101" pitchFamily="2" charset="-122"/>
                <a:ea typeface="宋体" panose="02010600030101010101" pitchFamily="2" charset="-122"/>
              </a:rPr>
              <a:t>:</a:t>
            </a:r>
          </a:p>
        </p:txBody>
      </p:sp>
      <p:graphicFrame>
        <p:nvGraphicFramePr>
          <p:cNvPr id="557059" name="Object 2"/>
          <p:cNvGraphicFramePr>
            <a:graphicFrameLocks noChangeAspect="1"/>
          </p:cNvGraphicFramePr>
          <p:nvPr>
            <p:extLst>
              <p:ext uri="{D42A27DB-BD31-4B8C-83A1-F6EECF244321}">
                <p14:modId xmlns:p14="http://schemas.microsoft.com/office/powerpoint/2010/main" val="1152948185"/>
              </p:ext>
            </p:extLst>
          </p:nvPr>
        </p:nvGraphicFramePr>
        <p:xfrm>
          <a:off x="2400524" y="3914526"/>
          <a:ext cx="3698875" cy="554038"/>
        </p:xfrm>
        <a:graphic>
          <a:graphicData uri="http://schemas.openxmlformats.org/presentationml/2006/ole">
            <mc:AlternateContent xmlns:mc="http://schemas.openxmlformats.org/markup-compatibility/2006">
              <mc:Choice xmlns:v="urn:schemas-microsoft-com:vml" Requires="v">
                <p:oleObj spid="_x0000_s101094" r:id="rId4" imgW="1524000" imgH="228600" progId="">
                  <p:embed/>
                </p:oleObj>
              </mc:Choice>
              <mc:Fallback>
                <p:oleObj r:id="rId4" imgW="1524000" imgH="228600"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0524" y="3914526"/>
                        <a:ext cx="3698875" cy="554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7060" name="Object 3"/>
          <p:cNvGraphicFramePr>
            <a:graphicFrameLocks noChangeAspect="1"/>
          </p:cNvGraphicFramePr>
          <p:nvPr>
            <p:extLst>
              <p:ext uri="{D42A27DB-BD31-4B8C-83A1-F6EECF244321}">
                <p14:modId xmlns:p14="http://schemas.microsoft.com/office/powerpoint/2010/main" val="3816583980"/>
              </p:ext>
            </p:extLst>
          </p:nvPr>
        </p:nvGraphicFramePr>
        <p:xfrm>
          <a:off x="2475409" y="5370511"/>
          <a:ext cx="1244327" cy="460372"/>
        </p:xfrm>
        <a:graphic>
          <a:graphicData uri="http://schemas.openxmlformats.org/presentationml/2006/ole">
            <mc:AlternateContent xmlns:mc="http://schemas.openxmlformats.org/markup-compatibility/2006">
              <mc:Choice xmlns:v="urn:schemas-microsoft-com:vml" Requires="v">
                <p:oleObj spid="_x0000_s101095" name="Equation" r:id="rId6" imgW="622080" imgH="228600" progId="Equation.DSMT4">
                  <p:embed/>
                </p:oleObj>
              </mc:Choice>
              <mc:Fallback>
                <p:oleObj name="Equation" r:id="rId6" imgW="622080" imgH="22860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75409" y="5370511"/>
                        <a:ext cx="1244327" cy="460372"/>
                      </a:xfrm>
                      <a:prstGeom prst="rect">
                        <a:avLst/>
                      </a:prstGeom>
                      <a:noFill/>
                    </p:spPr>
                  </p:pic>
                </p:oleObj>
              </mc:Fallback>
            </mc:AlternateContent>
          </a:graphicData>
        </a:graphic>
      </p:graphicFrame>
      <p:graphicFrame>
        <p:nvGraphicFramePr>
          <p:cNvPr id="557061" name="Object 4"/>
          <p:cNvGraphicFramePr>
            <a:graphicFrameLocks noChangeAspect="1"/>
          </p:cNvGraphicFramePr>
          <p:nvPr>
            <p:extLst>
              <p:ext uri="{D42A27DB-BD31-4B8C-83A1-F6EECF244321}">
                <p14:modId xmlns:p14="http://schemas.microsoft.com/office/powerpoint/2010/main" val="2810446000"/>
              </p:ext>
            </p:extLst>
          </p:nvPr>
        </p:nvGraphicFramePr>
        <p:xfrm>
          <a:off x="3719736" y="5838825"/>
          <a:ext cx="2143125" cy="947737"/>
        </p:xfrm>
        <a:graphic>
          <a:graphicData uri="http://schemas.openxmlformats.org/presentationml/2006/ole">
            <mc:AlternateContent xmlns:mc="http://schemas.openxmlformats.org/markup-compatibility/2006">
              <mc:Choice xmlns:v="urn:schemas-microsoft-com:vml" Requires="v">
                <p:oleObj spid="_x0000_s101096" name="Equation" r:id="rId8" imgW="965160" imgH="431640" progId="Equation.DSMT4">
                  <p:embed/>
                </p:oleObj>
              </mc:Choice>
              <mc:Fallback>
                <p:oleObj name="Equation" r:id="rId8" imgW="965160" imgH="43164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19736" y="5838825"/>
                        <a:ext cx="2143125" cy="947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65" name="矩形 8"/>
          <p:cNvSpPr>
            <a:spLocks noChangeArrowheads="1"/>
          </p:cNvSpPr>
          <p:nvPr/>
        </p:nvSpPr>
        <p:spPr bwMode="auto">
          <a:xfrm>
            <a:off x="3112516" y="4825996"/>
            <a:ext cx="5500688" cy="461963"/>
          </a:xfrm>
          <a:prstGeom prst="rect">
            <a:avLst/>
          </a:prstGeom>
          <a:noFill/>
          <a:ln w="9525">
            <a:noFill/>
            <a:miter lim="800000"/>
            <a:headEnd/>
            <a:tailEnd/>
          </a:ln>
        </p:spPr>
        <p:txBody>
          <a:bodyPr>
            <a:spAutoFit/>
          </a:bodyPr>
          <a:lstStyle/>
          <a:p>
            <a:r>
              <a:rPr kumimoji="1" lang="zh-CN" altLang="en-US" sz="2400" i="1" dirty="0">
                <a:solidFill>
                  <a:srgbClr val="FF0000"/>
                </a:solidFill>
                <a:latin typeface="楷体_GB2312" pitchFamily="49" charset="-122"/>
                <a:ea typeface="楷体_GB2312" pitchFamily="49" charset="-122"/>
                <a:sym typeface="Symbol" pitchFamily="18" charset="2"/>
              </a:rPr>
              <a:t></a:t>
            </a:r>
            <a:r>
              <a:rPr kumimoji="1" lang="en-US" altLang="zh-CN" sz="2400" baseline="-25000" dirty="0">
                <a:solidFill>
                  <a:srgbClr val="FF0000"/>
                </a:solidFill>
                <a:latin typeface="楷体_GB2312" pitchFamily="49" charset="-122"/>
                <a:ea typeface="楷体_GB2312" pitchFamily="49" charset="-122"/>
                <a:sym typeface="Symbol" pitchFamily="18" charset="2"/>
              </a:rPr>
              <a:t>1</a:t>
            </a:r>
            <a:r>
              <a:rPr kumimoji="1" lang="en-US" altLang="zh-CN" sz="2400" dirty="0">
                <a:solidFill>
                  <a:srgbClr val="FF0000"/>
                </a:solidFill>
                <a:latin typeface="楷体_GB2312" pitchFamily="49" charset="-122"/>
                <a:ea typeface="楷体_GB2312" pitchFamily="49" charset="-122"/>
              </a:rPr>
              <a:t> ≥ </a:t>
            </a:r>
            <a:r>
              <a:rPr kumimoji="1" lang="en-US" altLang="zh-CN" sz="2400" i="1" dirty="0">
                <a:solidFill>
                  <a:srgbClr val="FF0000"/>
                </a:solidFill>
                <a:latin typeface="楷体_GB2312" pitchFamily="49" charset="-122"/>
                <a:ea typeface="楷体_GB2312" pitchFamily="49" charset="-122"/>
                <a:sym typeface="Symbol" pitchFamily="18" charset="2"/>
              </a:rPr>
              <a:t></a:t>
            </a:r>
            <a:r>
              <a:rPr kumimoji="1" lang="en-US" altLang="zh-CN" sz="2400" baseline="-25000" dirty="0">
                <a:solidFill>
                  <a:srgbClr val="FF0000"/>
                </a:solidFill>
                <a:latin typeface="楷体_GB2312" pitchFamily="49" charset="-122"/>
                <a:ea typeface="楷体_GB2312" pitchFamily="49" charset="-122"/>
                <a:sym typeface="Symbol" pitchFamily="18" charset="2"/>
              </a:rPr>
              <a:t>2</a:t>
            </a:r>
            <a:r>
              <a:rPr kumimoji="1" lang="en-US" altLang="zh-CN" sz="2400" dirty="0">
                <a:solidFill>
                  <a:srgbClr val="FF0000"/>
                </a:solidFill>
                <a:latin typeface="楷体_GB2312" pitchFamily="49" charset="-122"/>
                <a:ea typeface="楷体_GB2312" pitchFamily="49" charset="-122"/>
              </a:rPr>
              <a:t> ≥ </a:t>
            </a:r>
            <a:r>
              <a:rPr kumimoji="1" lang="en-US" altLang="zh-CN" sz="2400" dirty="0">
                <a:solidFill>
                  <a:srgbClr val="FF0000"/>
                </a:solidFill>
                <a:ea typeface="楷体_GB2312" pitchFamily="49" charset="-122"/>
              </a:rPr>
              <a:t>…</a:t>
            </a:r>
            <a:r>
              <a:rPr kumimoji="1" lang="en-US" altLang="zh-CN" sz="2400" dirty="0">
                <a:solidFill>
                  <a:srgbClr val="FF0000"/>
                </a:solidFill>
                <a:latin typeface="楷体_GB2312" pitchFamily="49" charset="-122"/>
                <a:ea typeface="楷体_GB2312" pitchFamily="49" charset="-122"/>
              </a:rPr>
              <a:t>≥</a:t>
            </a:r>
            <a:r>
              <a:rPr kumimoji="1" lang="en-US" altLang="zh-CN" sz="2400" i="1" dirty="0">
                <a:solidFill>
                  <a:srgbClr val="FF0000"/>
                </a:solidFill>
                <a:latin typeface="楷体_GB2312" pitchFamily="49" charset="-122"/>
                <a:ea typeface="楷体_GB2312" pitchFamily="49" charset="-122"/>
                <a:sym typeface="Symbol" pitchFamily="18" charset="2"/>
              </a:rPr>
              <a:t></a:t>
            </a:r>
            <a:r>
              <a:rPr kumimoji="1" lang="en-US" altLang="zh-CN" sz="2400" baseline="-25000" dirty="0">
                <a:solidFill>
                  <a:srgbClr val="FF0000"/>
                </a:solidFill>
                <a:latin typeface="楷体_GB2312" pitchFamily="49" charset="-122"/>
                <a:ea typeface="楷体_GB2312" pitchFamily="49" charset="-122"/>
                <a:sym typeface="Symbol" pitchFamily="18" charset="2"/>
              </a:rPr>
              <a:t>d</a:t>
            </a:r>
            <a:r>
              <a:rPr kumimoji="1" lang="en-US" altLang="zh-CN" sz="2400" dirty="0">
                <a:solidFill>
                  <a:srgbClr val="FF0000"/>
                </a:solidFill>
                <a:latin typeface="楷体_GB2312" pitchFamily="49" charset="-122"/>
                <a:ea typeface="楷体_GB2312" pitchFamily="49" charset="-122"/>
              </a:rPr>
              <a:t>≥…≥</a:t>
            </a:r>
            <a:r>
              <a:rPr kumimoji="1" lang="en-US" altLang="zh-CN" sz="2400" i="1" dirty="0">
                <a:solidFill>
                  <a:srgbClr val="FF0000"/>
                </a:solidFill>
                <a:latin typeface="楷体_GB2312" pitchFamily="49" charset="-122"/>
                <a:ea typeface="楷体_GB2312" pitchFamily="49" charset="-122"/>
                <a:sym typeface="Symbol" pitchFamily="18" charset="2"/>
              </a:rPr>
              <a:t></a:t>
            </a:r>
            <a:r>
              <a:rPr kumimoji="1" lang="en-US" altLang="zh-CN" sz="2400" baseline="-25000" dirty="0">
                <a:solidFill>
                  <a:srgbClr val="FF0000"/>
                </a:solidFill>
                <a:latin typeface="楷体_GB2312" pitchFamily="49" charset="-122"/>
                <a:ea typeface="楷体_GB2312" pitchFamily="49" charset="-122"/>
                <a:sym typeface="Symbol" pitchFamily="18" charset="2"/>
              </a:rPr>
              <a:t>D</a:t>
            </a:r>
            <a:r>
              <a:rPr kumimoji="1" lang="en-US" altLang="zh-CN" sz="2400" dirty="0">
                <a:solidFill>
                  <a:srgbClr val="FF0000"/>
                </a:solidFill>
                <a:latin typeface="楷体_GB2312" pitchFamily="49" charset="-122"/>
                <a:ea typeface="楷体_GB2312" pitchFamily="49" charset="-122"/>
              </a:rPr>
              <a:t>  </a:t>
            </a:r>
            <a:endParaRPr lang="zh-CN" altLang="en-US" sz="2400" dirty="0">
              <a:solidFill>
                <a:srgbClr val="FF0000"/>
              </a:solidFill>
            </a:endParaRPr>
          </a:p>
        </p:txBody>
      </p:sp>
      <p:sp>
        <p:nvSpPr>
          <p:cNvPr id="45066" name="下箭头 9"/>
          <p:cNvSpPr>
            <a:spLocks noChangeArrowheads="1"/>
          </p:cNvSpPr>
          <p:nvPr/>
        </p:nvSpPr>
        <p:spPr bwMode="auto">
          <a:xfrm rot="10800000">
            <a:off x="3329210" y="4343152"/>
            <a:ext cx="198438" cy="500063"/>
          </a:xfrm>
          <a:prstGeom prst="downArrow">
            <a:avLst>
              <a:gd name="adj1" fmla="val 50000"/>
              <a:gd name="adj2" fmla="val 50108"/>
            </a:avLst>
          </a:prstGeom>
          <a:solidFill>
            <a:schemeClr val="accent1"/>
          </a:solidFill>
          <a:ln w="12700" cap="sq" algn="ctr">
            <a:solidFill>
              <a:schemeClr val="tx1"/>
            </a:solidFill>
            <a:round/>
            <a:headEnd type="none" w="sm" len="sm"/>
            <a:tailEnd type="none" w="sm" len="sm"/>
          </a:ln>
        </p:spPr>
        <p:txBody>
          <a:bodyPr wrap="none"/>
          <a:lstStyle/>
          <a:p>
            <a:endParaRPr lang="zh-CN" altLang="en-US"/>
          </a:p>
        </p:txBody>
      </p:sp>
      <p:sp>
        <p:nvSpPr>
          <p:cNvPr id="45067" name="下箭头 10"/>
          <p:cNvSpPr>
            <a:spLocks noChangeArrowheads="1"/>
          </p:cNvSpPr>
          <p:nvPr/>
        </p:nvSpPr>
        <p:spPr bwMode="auto">
          <a:xfrm rot="10800000">
            <a:off x="4130899" y="4343152"/>
            <a:ext cx="198437" cy="500063"/>
          </a:xfrm>
          <a:prstGeom prst="downArrow">
            <a:avLst>
              <a:gd name="adj1" fmla="val 50000"/>
              <a:gd name="adj2" fmla="val 50109"/>
            </a:avLst>
          </a:prstGeom>
          <a:solidFill>
            <a:schemeClr val="accent1"/>
          </a:solidFill>
          <a:ln w="12700" cap="sq" algn="ctr">
            <a:solidFill>
              <a:schemeClr val="tx1"/>
            </a:solidFill>
            <a:round/>
            <a:headEnd type="none" w="sm" len="sm"/>
            <a:tailEnd type="none" w="sm" len="sm"/>
          </a:ln>
        </p:spPr>
        <p:txBody>
          <a:bodyPr wrap="none"/>
          <a:lstStyle/>
          <a:p>
            <a:endParaRPr lang="zh-CN" altLang="en-US"/>
          </a:p>
        </p:txBody>
      </p:sp>
      <p:sp>
        <p:nvSpPr>
          <p:cNvPr id="45068" name="下箭头 11"/>
          <p:cNvSpPr>
            <a:spLocks noChangeArrowheads="1"/>
          </p:cNvSpPr>
          <p:nvPr/>
        </p:nvSpPr>
        <p:spPr bwMode="auto">
          <a:xfrm rot="10800000">
            <a:off x="5559649" y="4343152"/>
            <a:ext cx="198437" cy="500063"/>
          </a:xfrm>
          <a:prstGeom prst="downArrow">
            <a:avLst>
              <a:gd name="adj1" fmla="val 50000"/>
              <a:gd name="adj2" fmla="val 50109"/>
            </a:avLst>
          </a:prstGeom>
          <a:solidFill>
            <a:schemeClr val="accent1"/>
          </a:solidFill>
          <a:ln w="12700" cap="sq" algn="ctr">
            <a:solidFill>
              <a:schemeClr val="tx1"/>
            </a:solidFill>
            <a:round/>
            <a:headEnd type="none" w="sm" len="sm"/>
            <a:tailEnd type="none" w="sm" len="sm"/>
          </a:ln>
        </p:spPr>
        <p:txBody>
          <a:bodyPr wrap="none"/>
          <a:lstStyle/>
          <a:p>
            <a:endParaRPr lang="zh-CN" altLang="en-US"/>
          </a:p>
        </p:txBody>
      </p:sp>
      <p:graphicFrame>
        <p:nvGraphicFramePr>
          <p:cNvPr id="2" name="Object 8"/>
          <p:cNvGraphicFramePr>
            <a:graphicFrameLocks noChangeAspect="1"/>
          </p:cNvGraphicFramePr>
          <p:nvPr>
            <p:extLst>
              <p:ext uri="{D42A27DB-BD31-4B8C-83A1-F6EECF244321}">
                <p14:modId xmlns:p14="http://schemas.microsoft.com/office/powerpoint/2010/main" val="559212096"/>
              </p:ext>
            </p:extLst>
          </p:nvPr>
        </p:nvGraphicFramePr>
        <p:xfrm>
          <a:off x="7126510" y="3914526"/>
          <a:ext cx="1265238" cy="438150"/>
        </p:xfrm>
        <a:graphic>
          <a:graphicData uri="http://schemas.openxmlformats.org/presentationml/2006/ole">
            <mc:AlternateContent xmlns:mc="http://schemas.openxmlformats.org/markup-compatibility/2006">
              <mc:Choice xmlns:v="urn:schemas-microsoft-com:vml" Requires="v">
                <p:oleObj spid="_x0000_s101097" name="Equation" r:id="rId10" imgW="520560" imgH="203040" progId="Equation.DSMT4">
                  <p:embed/>
                </p:oleObj>
              </mc:Choice>
              <mc:Fallback>
                <p:oleObj name="Equation" r:id="rId10" imgW="520560" imgH="203040" progId="Equation.DSMT4">
                  <p:embed/>
                  <p:pic>
                    <p:nvPicPr>
                      <p:cNvPr id="0" name="Object 8"/>
                      <p:cNvPicPr>
                        <a:picLocks noChangeAspect="1" noChangeArrowheads="1"/>
                      </p:cNvPicPr>
                      <p:nvPr/>
                    </p:nvPicPr>
                    <p:blipFill>
                      <a:blip r:embed="rId11"/>
                      <a:srcRect/>
                      <a:stretch>
                        <a:fillRect/>
                      </a:stretch>
                    </p:blipFill>
                    <p:spPr bwMode="auto">
                      <a:xfrm>
                        <a:off x="7126510" y="3914526"/>
                        <a:ext cx="1265238"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69" name="右箭头 13"/>
          <p:cNvSpPr>
            <a:spLocks noChangeArrowheads="1"/>
          </p:cNvSpPr>
          <p:nvPr/>
        </p:nvSpPr>
        <p:spPr bwMode="auto">
          <a:xfrm rot="10800000">
            <a:off x="6139085" y="3893890"/>
            <a:ext cx="977900" cy="485775"/>
          </a:xfrm>
          <a:prstGeom prst="rightArrow">
            <a:avLst>
              <a:gd name="adj1" fmla="val 50000"/>
              <a:gd name="adj2" fmla="val 49861"/>
            </a:avLst>
          </a:prstGeom>
          <a:solidFill>
            <a:srgbClr val="92D050"/>
          </a:solidFill>
          <a:ln w="12700" cap="sq" algn="ctr">
            <a:solidFill>
              <a:schemeClr val="tx1"/>
            </a:solidFill>
            <a:round/>
            <a:headEnd type="none" w="sm" len="sm"/>
            <a:tailEnd type="none" w="sm" len="sm"/>
          </a:ln>
        </p:spPr>
        <p:txBody>
          <a:bodyPr wrap="none"/>
          <a:lstStyle/>
          <a:p>
            <a:endParaRPr lang="zh-CN" altLang="en-US"/>
          </a:p>
        </p:txBody>
      </p:sp>
      <p:sp>
        <p:nvSpPr>
          <p:cNvPr id="14" name="灯片编号占位符 13"/>
          <p:cNvSpPr>
            <a:spLocks noGrp="1"/>
          </p:cNvSpPr>
          <p:nvPr>
            <p:ph type="sldNum" sz="quarter" idx="11"/>
          </p:nvPr>
        </p:nvSpPr>
        <p:spPr/>
        <p:txBody>
          <a:bodyPr/>
          <a:lstStyle/>
          <a:p>
            <a:pPr>
              <a:defRPr/>
            </a:pPr>
            <a:fld id="{31E287EE-1289-4991-82CE-EFE584F53F4F}" type="slidenum">
              <a:rPr lang="en-US" altLang="zh-CN" smtClean="0"/>
              <a:pPr>
                <a:defRPr/>
              </a:pPr>
              <a:t>10</a:t>
            </a:fld>
            <a:endParaRPr lang="en-US" altLang="zh-CN" dirty="0"/>
          </a:p>
        </p:txBody>
      </p:sp>
      <p:sp>
        <p:nvSpPr>
          <p:cNvPr id="15" name="Rectangle 122"/>
          <p:cNvSpPr>
            <a:spLocks noChangeArrowheads="1"/>
          </p:cNvSpPr>
          <p:nvPr/>
        </p:nvSpPr>
        <p:spPr bwMode="auto">
          <a:xfrm>
            <a:off x="930830" y="1057037"/>
            <a:ext cx="4649671" cy="461665"/>
          </a:xfrm>
          <a:prstGeom prst="rect">
            <a:avLst/>
          </a:prstGeom>
          <a:noFill/>
          <a:ln w="9525">
            <a:noFill/>
            <a:miter lim="800000"/>
            <a:headEnd/>
            <a:tailEnd/>
          </a:ln>
        </p:spPr>
        <p:txBody>
          <a:bodyPr wrap="none">
            <a:spAutoFit/>
          </a:bodyPr>
          <a:lstStyle/>
          <a:p>
            <a:r>
              <a:rPr kumimoji="1" lang="zh-CN" altLang="en-US" sz="2400" b="1" dirty="0">
                <a:solidFill>
                  <a:srgbClr val="FF0000"/>
                </a:solidFill>
              </a:rPr>
              <a:t>矩阵迹</a:t>
            </a:r>
            <a:r>
              <a:rPr kumimoji="1" lang="en-US" altLang="zh-CN" sz="2400" b="1" dirty="0">
                <a:solidFill>
                  <a:srgbClr val="FF0000"/>
                </a:solidFill>
              </a:rPr>
              <a:t>(Matrix Trace)</a:t>
            </a:r>
            <a:r>
              <a:rPr kumimoji="1" lang="zh-CN" altLang="en-US" sz="2400" b="1" dirty="0">
                <a:solidFill>
                  <a:srgbClr val="FF0000"/>
                </a:solidFill>
              </a:rPr>
              <a:t>形式的判据</a:t>
            </a:r>
          </a:p>
        </p:txBody>
      </p:sp>
      <p:sp>
        <p:nvSpPr>
          <p:cNvPr id="3" name="矩形 2"/>
          <p:cNvSpPr/>
          <p:nvPr/>
        </p:nvSpPr>
        <p:spPr>
          <a:xfrm>
            <a:off x="6528048" y="6062263"/>
            <a:ext cx="1463862" cy="452432"/>
          </a:xfrm>
          <a:prstGeom prst="rect">
            <a:avLst/>
          </a:prstGeom>
        </p:spPr>
        <p:txBody>
          <a:bodyPr wrap="none">
            <a:spAutoFit/>
          </a:bodyPr>
          <a:lstStyle/>
          <a:p>
            <a:pPr>
              <a:lnSpc>
                <a:spcPct val="130000"/>
              </a:lnSpc>
            </a:pPr>
            <a:r>
              <a:rPr kumimoji="1" lang="zh-CN" altLang="en-US" b="1" dirty="0">
                <a:latin typeface="楷体_GB2312" pitchFamily="49" charset="-122"/>
                <a:ea typeface="楷体_GB2312" pitchFamily="49" charset="-122"/>
              </a:rPr>
              <a:t>达最大值。 </a:t>
            </a:r>
          </a:p>
        </p:txBody>
      </p:sp>
      <p:sp>
        <p:nvSpPr>
          <p:cNvPr id="16" name="标题 1"/>
          <p:cNvSpPr>
            <a:spLocks noGrp="1"/>
          </p:cNvSpPr>
          <p:nvPr>
            <p:ph type="title"/>
          </p:nvPr>
        </p:nvSpPr>
        <p:spPr>
          <a:xfrm>
            <a:off x="390670" y="159942"/>
            <a:ext cx="7507560" cy="563563"/>
          </a:xfrm>
        </p:spPr>
        <p:txBody>
          <a:bodyPr/>
          <a:lstStyle/>
          <a:p>
            <a:r>
              <a:rPr lang="en-US" altLang="zh-CN" sz="2800" dirty="0"/>
              <a:t>17.1 </a:t>
            </a:r>
            <a:r>
              <a:rPr lang="zh-CN" altLang="en-US" sz="2800" dirty="0"/>
              <a:t>基于类别可分离性判据的特征提取</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 name="Object 4"/>
          <p:cNvGraphicFramePr>
            <a:graphicFrameLocks noChangeAspect="1"/>
          </p:cNvGraphicFramePr>
          <p:nvPr>
            <p:extLst>
              <p:ext uri="{D42A27DB-BD31-4B8C-83A1-F6EECF244321}">
                <p14:modId xmlns:p14="http://schemas.microsoft.com/office/powerpoint/2010/main" val="132688339"/>
              </p:ext>
            </p:extLst>
          </p:nvPr>
        </p:nvGraphicFramePr>
        <p:xfrm>
          <a:off x="5128829" y="5799613"/>
          <a:ext cx="2180294" cy="536849"/>
        </p:xfrm>
        <a:graphic>
          <a:graphicData uri="http://schemas.openxmlformats.org/presentationml/2006/ole">
            <mc:AlternateContent xmlns:mc="http://schemas.openxmlformats.org/markup-compatibility/2006">
              <mc:Choice xmlns:v="urn:schemas-microsoft-com:vml" Requires="v">
                <p:oleObj spid="_x0000_s351635" name="Equation" r:id="rId4" imgW="965160" imgH="241200" progId="Equation.DSMT4">
                  <p:embed/>
                </p:oleObj>
              </mc:Choice>
              <mc:Fallback>
                <p:oleObj name="Equation" r:id="rId4" imgW="965160" imgH="241200" progId="Equation.DSMT4">
                  <p:embed/>
                  <p:pic>
                    <p:nvPicPr>
                      <p:cNvPr id="59396" name="Object 4"/>
                      <p:cNvPicPr>
                        <a:picLocks noChangeAspect="1" noChangeArrowheads="1"/>
                      </p:cNvPicPr>
                      <p:nvPr/>
                    </p:nvPicPr>
                    <p:blipFill>
                      <a:blip r:embed="rId5"/>
                      <a:srcRect/>
                      <a:stretch>
                        <a:fillRect/>
                      </a:stretch>
                    </p:blipFill>
                    <p:spPr bwMode="auto">
                      <a:xfrm>
                        <a:off x="5128829" y="5799613"/>
                        <a:ext cx="2180294" cy="536849"/>
                      </a:xfrm>
                      <a:prstGeom prst="rect">
                        <a:avLst/>
                      </a:prstGeom>
                      <a:noFill/>
                    </p:spPr>
                  </p:pic>
                </p:oleObj>
              </mc:Fallback>
            </mc:AlternateContent>
          </a:graphicData>
        </a:graphic>
      </p:graphicFrame>
      <p:sp>
        <p:nvSpPr>
          <p:cNvPr id="58384" name="Rectangle 4"/>
          <p:cNvSpPr>
            <a:spLocks noChangeArrowheads="1"/>
          </p:cNvSpPr>
          <p:nvPr/>
        </p:nvSpPr>
        <p:spPr bwMode="auto">
          <a:xfrm>
            <a:off x="1213578" y="1405802"/>
            <a:ext cx="6647713" cy="1096963"/>
          </a:xfrm>
          <a:prstGeom prst="rect">
            <a:avLst/>
          </a:prstGeom>
          <a:solidFill>
            <a:srgbClr val="FFFFFF"/>
          </a:solidFill>
          <a:ln w="9525">
            <a:noFill/>
            <a:miter lim="800000"/>
            <a:headEnd/>
            <a:tailEnd/>
          </a:ln>
        </p:spPr>
        <p:txBody>
          <a:bodyPr/>
          <a:lstStyle/>
          <a:p>
            <a:pPr marL="342900" indent="-342900">
              <a:lnSpc>
                <a:spcPct val="125000"/>
              </a:lnSpc>
              <a:spcBef>
                <a:spcPct val="20000"/>
              </a:spcBef>
              <a:buClr>
                <a:schemeClr val="folHlink"/>
              </a:buClr>
              <a:buSzPct val="60000"/>
            </a:pPr>
            <a:r>
              <a:rPr lang="zh-CN" altLang="en-US" sz="20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以</a:t>
            </a:r>
            <a:r>
              <a:rPr lang="en-US" altLang="zh-CN" sz="20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2000" b="1" i="1"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5</a:t>
            </a:r>
            <a:r>
              <a:rPr lang="zh-CN" altLang="en-US" sz="20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为例，由于</a:t>
            </a:r>
            <a:r>
              <a:rPr lang="en-US" altLang="zh-CN" sz="20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b="1"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W</a:t>
            </a:r>
            <a:r>
              <a:rPr lang="zh-CN" altLang="en-US" sz="20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是</a:t>
            </a:r>
            <a:r>
              <a:rPr lang="zh-CN" altLang="en-US" sz="20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对称</a:t>
            </a:r>
            <a:r>
              <a:rPr lang="zh-CN" altLang="en-US" sz="20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正定矩阵</a:t>
            </a:r>
            <a:r>
              <a:rPr lang="zh-CN" altLang="en-US" sz="20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，设有</a:t>
            </a:r>
            <a:r>
              <a:rPr lang="zh-CN" altLang="en-US" sz="20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非奇异阵</a:t>
            </a:r>
            <a:r>
              <a:rPr lang="en-US" altLang="zh-CN" sz="20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，使</a:t>
            </a:r>
          </a:p>
          <a:p>
            <a:pPr marL="342900" indent="-342900">
              <a:lnSpc>
                <a:spcPct val="125000"/>
              </a:lnSpc>
              <a:spcBef>
                <a:spcPct val="20000"/>
              </a:spcBef>
              <a:buClr>
                <a:schemeClr val="folHlink"/>
              </a:buClr>
              <a:buSzPct val="60000"/>
            </a:pPr>
            <a:endParaRPr lang="zh-CN" altLang="en-US" sz="20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58376" name="Object 8"/>
          <p:cNvGraphicFramePr>
            <a:graphicFrameLocks noChangeAspect="1"/>
          </p:cNvGraphicFramePr>
          <p:nvPr>
            <p:extLst>
              <p:ext uri="{D42A27DB-BD31-4B8C-83A1-F6EECF244321}">
                <p14:modId xmlns:p14="http://schemas.microsoft.com/office/powerpoint/2010/main" val="234518790"/>
              </p:ext>
            </p:extLst>
          </p:nvPr>
        </p:nvGraphicFramePr>
        <p:xfrm>
          <a:off x="7962101" y="1530955"/>
          <a:ext cx="1245127" cy="488950"/>
        </p:xfrm>
        <a:graphic>
          <a:graphicData uri="http://schemas.openxmlformats.org/presentationml/2006/ole">
            <mc:AlternateContent xmlns:mc="http://schemas.openxmlformats.org/markup-compatibility/2006">
              <mc:Choice xmlns:v="urn:schemas-microsoft-com:vml" Requires="v">
                <p:oleObj spid="_x0000_s351636" name="Equation" r:id="rId6" imgW="736560" imgH="241200" progId="Equation.DSMT4">
                  <p:embed/>
                </p:oleObj>
              </mc:Choice>
              <mc:Fallback>
                <p:oleObj name="Equation" r:id="rId6" imgW="736560" imgH="24120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62101" y="1530955"/>
                        <a:ext cx="1245127"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83" name="Rectangle 10"/>
          <p:cNvSpPr>
            <a:spLocks noChangeArrowheads="1"/>
          </p:cNvSpPr>
          <p:nvPr/>
        </p:nvSpPr>
        <p:spPr bwMode="auto">
          <a:xfrm>
            <a:off x="900262" y="1996578"/>
            <a:ext cx="8280400" cy="971550"/>
          </a:xfrm>
          <a:prstGeom prst="rect">
            <a:avLst/>
          </a:prstGeom>
          <a:noFill/>
          <a:ln w="9525">
            <a:noFill/>
            <a:miter lim="800000"/>
            <a:headEnd/>
            <a:tailEnd/>
          </a:ln>
        </p:spPr>
        <p:txBody>
          <a:bodyPr/>
          <a:lstStyle/>
          <a:p>
            <a:pPr marL="342900" indent="-342900">
              <a:spcBef>
                <a:spcPct val="20000"/>
              </a:spcBef>
              <a:buClr>
                <a:schemeClr val="folHlink"/>
              </a:buClr>
              <a:buSzPct val="60000"/>
            </a:pPr>
            <a:r>
              <a:rPr lang="zh-CN" altLang="en-US" sz="2000" b="1" dirty="0">
                <a:solidFill>
                  <a:srgbClr val="000000"/>
                </a:solidFill>
                <a:ea typeface="楷体_GB2312" pitchFamily="49" charset="-122"/>
              </a:rPr>
              <a:t>设有</a:t>
            </a:r>
            <a:r>
              <a:rPr lang="zh-CN" altLang="en-US" sz="2000" b="1" dirty="0">
                <a:solidFill>
                  <a:srgbClr val="7030A0"/>
                </a:solidFill>
                <a:ea typeface="楷体_GB2312" pitchFamily="49" charset="-122"/>
              </a:rPr>
              <a:t>标准正交矩阵</a:t>
            </a:r>
            <a:r>
              <a:rPr lang="en-US" altLang="zh-CN" sz="2000" b="1" dirty="0">
                <a:solidFill>
                  <a:srgbClr val="7030A0"/>
                </a:solidFill>
                <a:latin typeface="Times New Roman" panose="02020603050405020304" pitchFamily="18" charset="0"/>
                <a:ea typeface="楷体_GB2312" pitchFamily="49" charset="-122"/>
                <a:cs typeface="Times New Roman" panose="02020603050405020304" pitchFamily="18" charset="0"/>
              </a:rPr>
              <a:t>V</a:t>
            </a:r>
            <a:r>
              <a:rPr lang="zh-CN" altLang="en-US" sz="2000" b="1" dirty="0">
                <a:solidFill>
                  <a:srgbClr val="000000"/>
                </a:solidFill>
                <a:ea typeface="楷体_GB2312" pitchFamily="49" charset="-122"/>
              </a:rPr>
              <a:t>，使</a:t>
            </a:r>
          </a:p>
          <a:p>
            <a:pPr marL="342900" indent="-342900">
              <a:spcBef>
                <a:spcPct val="20000"/>
              </a:spcBef>
              <a:buClr>
                <a:schemeClr val="folHlink"/>
              </a:buClr>
              <a:buSzPct val="60000"/>
            </a:pPr>
            <a:endParaRPr lang="en-US" altLang="zh-CN" sz="2000" b="1" dirty="0">
              <a:solidFill>
                <a:srgbClr val="000000"/>
              </a:solidFill>
              <a:ea typeface="楷体_GB2312" pitchFamily="49" charset="-122"/>
            </a:endParaRPr>
          </a:p>
        </p:txBody>
      </p:sp>
      <p:graphicFrame>
        <p:nvGraphicFramePr>
          <p:cNvPr id="58375" name="Object 7"/>
          <p:cNvGraphicFramePr>
            <a:graphicFrameLocks noChangeAspect="1"/>
          </p:cNvGraphicFramePr>
          <p:nvPr>
            <p:extLst>
              <p:ext uri="{D42A27DB-BD31-4B8C-83A1-F6EECF244321}">
                <p14:modId xmlns:p14="http://schemas.microsoft.com/office/powerpoint/2010/main" val="1497490943"/>
              </p:ext>
            </p:extLst>
          </p:nvPr>
        </p:nvGraphicFramePr>
        <p:xfrm>
          <a:off x="8033140" y="2810906"/>
          <a:ext cx="3232150" cy="503238"/>
        </p:xfrm>
        <a:graphic>
          <a:graphicData uri="http://schemas.openxmlformats.org/presentationml/2006/ole">
            <mc:AlternateContent xmlns:mc="http://schemas.openxmlformats.org/markup-compatibility/2006">
              <mc:Choice xmlns:v="urn:schemas-microsoft-com:vml" Requires="v">
                <p:oleObj spid="_x0000_s351637" name="Equation" r:id="rId8" imgW="1549080" imgH="241200" progId="Equation.DSMT4">
                  <p:embed/>
                </p:oleObj>
              </mc:Choice>
              <mc:Fallback>
                <p:oleObj name="Equation" r:id="rId8" imgW="1549080" imgH="24120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33140" y="2810906"/>
                        <a:ext cx="3232150"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67" name="Text Box 11"/>
          <p:cNvSpPr txBox="1">
            <a:spLocks noChangeArrowheads="1"/>
          </p:cNvSpPr>
          <p:nvPr/>
        </p:nvSpPr>
        <p:spPr bwMode="auto">
          <a:xfrm>
            <a:off x="7198659" y="468480"/>
            <a:ext cx="5256213" cy="461963"/>
          </a:xfrm>
          <a:prstGeom prst="rect">
            <a:avLst/>
          </a:prstGeom>
          <a:noFill/>
          <a:ln w="9525">
            <a:noFill/>
            <a:miter lim="800000"/>
            <a:headEnd/>
            <a:tailEnd/>
          </a:ln>
        </p:spPr>
        <p:txBody>
          <a:bodyPr>
            <a:spAutoFit/>
          </a:bodyPr>
          <a:lstStyle/>
          <a:p>
            <a:pPr>
              <a:spcBef>
                <a:spcPct val="50000"/>
              </a:spcBef>
              <a:defRPr/>
            </a:pPr>
            <a:r>
              <a:rPr lang="zh-CN" altLang="en-US" sz="2400" b="1" dirty="0">
                <a:solidFill>
                  <a:srgbClr val="FF0000"/>
                </a:solidFill>
                <a:latin typeface="+mn-ea"/>
              </a:rPr>
              <a:t>行列式形式的判据</a:t>
            </a:r>
          </a:p>
        </p:txBody>
      </p:sp>
      <p:graphicFrame>
        <p:nvGraphicFramePr>
          <p:cNvPr id="58371" name="Object 2"/>
          <p:cNvGraphicFramePr>
            <a:graphicFrameLocks noChangeAspect="1"/>
          </p:cNvGraphicFramePr>
          <p:nvPr>
            <p:extLst>
              <p:ext uri="{D42A27DB-BD31-4B8C-83A1-F6EECF244321}">
                <p14:modId xmlns:p14="http://schemas.microsoft.com/office/powerpoint/2010/main" val="2529620122"/>
              </p:ext>
            </p:extLst>
          </p:nvPr>
        </p:nvGraphicFramePr>
        <p:xfrm>
          <a:off x="2447955" y="3458349"/>
          <a:ext cx="3830316" cy="1530582"/>
        </p:xfrm>
        <a:graphic>
          <a:graphicData uri="http://schemas.openxmlformats.org/presentationml/2006/ole">
            <mc:AlternateContent xmlns:mc="http://schemas.openxmlformats.org/markup-compatibility/2006">
              <mc:Choice xmlns:v="urn:schemas-microsoft-com:vml" Requires="v">
                <p:oleObj spid="_x0000_s351638" name="Equation" r:id="rId10" imgW="2145960" imgH="965160" progId="Equation.DSMT4">
                  <p:embed/>
                </p:oleObj>
              </mc:Choice>
              <mc:Fallback>
                <p:oleObj name="Equation" r:id="rId10" imgW="2145960" imgH="965160" progId="Equation.DSMT4">
                  <p:embed/>
                  <p:pic>
                    <p:nvPicPr>
                      <p:cNvPr id="0" name="Object 2"/>
                      <p:cNvPicPr>
                        <a:picLocks noChangeAspect="1" noChangeArrowheads="1"/>
                      </p:cNvPicPr>
                      <p:nvPr/>
                    </p:nvPicPr>
                    <p:blipFill>
                      <a:blip r:embed="rId11"/>
                      <a:srcRect/>
                      <a:stretch>
                        <a:fillRect/>
                      </a:stretch>
                    </p:blipFill>
                    <p:spPr bwMode="auto">
                      <a:xfrm>
                        <a:off x="2447955" y="3458349"/>
                        <a:ext cx="3830316" cy="1530582"/>
                      </a:xfrm>
                      <a:prstGeom prst="rect">
                        <a:avLst/>
                      </a:prstGeom>
                      <a:noFill/>
                    </p:spPr>
                  </p:pic>
                </p:oleObj>
              </mc:Fallback>
            </mc:AlternateContent>
          </a:graphicData>
        </a:graphic>
      </p:graphicFrame>
      <p:sp>
        <p:nvSpPr>
          <p:cNvPr id="58382" name="Rectangle 14"/>
          <p:cNvSpPr>
            <a:spLocks noChangeArrowheads="1"/>
          </p:cNvSpPr>
          <p:nvPr/>
        </p:nvSpPr>
        <p:spPr bwMode="auto">
          <a:xfrm>
            <a:off x="1403464" y="2916436"/>
            <a:ext cx="3185487" cy="369332"/>
          </a:xfrm>
          <a:prstGeom prst="rect">
            <a:avLst/>
          </a:prstGeom>
        </p:spPr>
        <p:txBody>
          <a:bodyPr wrap="none">
            <a:spAutoFit/>
          </a:bodyPr>
          <a:lstStyle/>
          <a:p>
            <a:r>
              <a:rPr lang="zh-CN" altLang="en-US" dirty="0">
                <a:latin typeface="黑体" panose="02010609060101010101" pitchFamily="49" charset="-122"/>
                <a:ea typeface="黑体" panose="02010609060101010101" pitchFamily="49" charset="-122"/>
              </a:rPr>
              <a:t>令</a:t>
            </a:r>
            <a:r>
              <a:rPr lang="en-US" altLang="zh-CN" dirty="0">
                <a:latin typeface="黑体" panose="02010609060101010101" pitchFamily="49" charset="-122"/>
                <a:ea typeface="黑体" panose="02010609060101010101" pitchFamily="49" charset="-122"/>
              </a:rPr>
              <a:t>U=AV</a:t>
            </a:r>
            <a:r>
              <a:rPr lang="zh-CN" altLang="en-US" dirty="0">
                <a:latin typeface="黑体" panose="02010609060101010101" pitchFamily="49" charset="-122"/>
                <a:ea typeface="黑体" panose="02010609060101010101" pitchFamily="49" charset="-122"/>
              </a:rPr>
              <a:t>，因此</a:t>
            </a:r>
            <a:r>
              <a:rPr lang="en-US" altLang="zh-CN" dirty="0">
                <a:solidFill>
                  <a:srgbClr val="7030A0"/>
                </a:solidFill>
                <a:latin typeface="黑体" panose="02010609060101010101" pitchFamily="49" charset="-122"/>
                <a:ea typeface="黑体" panose="02010609060101010101" pitchFamily="49" charset="-122"/>
              </a:rPr>
              <a:t>U</a:t>
            </a:r>
            <a:r>
              <a:rPr lang="zh-CN" altLang="en-US" dirty="0">
                <a:solidFill>
                  <a:srgbClr val="7030A0"/>
                </a:solidFill>
                <a:latin typeface="黑体" panose="02010609060101010101" pitchFamily="49" charset="-122"/>
                <a:ea typeface="黑体" panose="02010609060101010101" pitchFamily="49" charset="-122"/>
              </a:rPr>
              <a:t>为非奇异矩阵</a:t>
            </a:r>
          </a:p>
        </p:txBody>
      </p:sp>
      <p:graphicFrame>
        <p:nvGraphicFramePr>
          <p:cNvPr id="58372" name="Object 3"/>
          <p:cNvGraphicFramePr>
            <a:graphicFrameLocks noChangeAspect="1"/>
          </p:cNvGraphicFramePr>
          <p:nvPr>
            <p:extLst>
              <p:ext uri="{D42A27DB-BD31-4B8C-83A1-F6EECF244321}">
                <p14:modId xmlns:p14="http://schemas.microsoft.com/office/powerpoint/2010/main" val="66917348"/>
              </p:ext>
            </p:extLst>
          </p:nvPr>
        </p:nvGraphicFramePr>
        <p:xfrm>
          <a:off x="8358944" y="3879290"/>
          <a:ext cx="1643664" cy="476900"/>
        </p:xfrm>
        <a:graphic>
          <a:graphicData uri="http://schemas.openxmlformats.org/presentationml/2006/ole">
            <mc:AlternateContent xmlns:mc="http://schemas.openxmlformats.org/markup-compatibility/2006">
              <mc:Choice xmlns:v="urn:schemas-microsoft-com:vml" Requires="v">
                <p:oleObj spid="_x0000_s351639" name="Equation" r:id="rId12" imgW="736560" imgH="241200" progId="Equation.DSMT4">
                  <p:embed/>
                </p:oleObj>
              </mc:Choice>
              <mc:Fallback>
                <p:oleObj name="Equation" r:id="rId12" imgW="736560" imgH="241200" progId="Equation.DSMT4">
                  <p:embed/>
                  <p:pic>
                    <p:nvPicPr>
                      <p:cNvPr id="0" name="Object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358944" y="3879290"/>
                        <a:ext cx="1643664" cy="47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1596" name="Object 5"/>
          <p:cNvGraphicFramePr>
            <a:graphicFrameLocks noChangeAspect="1"/>
          </p:cNvGraphicFramePr>
          <p:nvPr>
            <p:extLst>
              <p:ext uri="{D42A27DB-BD31-4B8C-83A1-F6EECF244321}">
                <p14:modId xmlns:p14="http://schemas.microsoft.com/office/powerpoint/2010/main" val="904085205"/>
              </p:ext>
            </p:extLst>
          </p:nvPr>
        </p:nvGraphicFramePr>
        <p:xfrm>
          <a:off x="230118" y="1059727"/>
          <a:ext cx="882650" cy="692150"/>
        </p:xfrm>
        <a:graphic>
          <a:graphicData uri="http://schemas.openxmlformats.org/presentationml/2006/ole">
            <mc:AlternateContent xmlns:mc="http://schemas.openxmlformats.org/markup-compatibility/2006">
              <mc:Choice xmlns:v="urn:schemas-microsoft-com:vml" Requires="v">
                <p:oleObj spid="_x0000_s351640" name="Equation" r:id="rId14" imgW="596880" imgH="469800" progId="Equation.DSMT4">
                  <p:embed/>
                </p:oleObj>
              </mc:Choice>
              <mc:Fallback>
                <p:oleObj name="Equation" r:id="rId14" imgW="596880" imgH="469800" progId="Equation.DSMT4">
                  <p:embed/>
                  <p:pic>
                    <p:nvPicPr>
                      <p:cNvPr id="0" name="Object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0118" y="1059727"/>
                        <a:ext cx="882650" cy="692150"/>
                      </a:xfrm>
                      <a:prstGeom prst="rect">
                        <a:avLst/>
                      </a:prstGeom>
                      <a:solidFill>
                        <a:schemeClr val="bg1"/>
                      </a:solidFill>
                      <a:ln w="9525">
                        <a:solidFill>
                          <a:srgbClr val="CC3300"/>
                        </a:solidFill>
                        <a:miter lim="800000"/>
                        <a:headEnd/>
                        <a:tailEnd/>
                      </a:ln>
                    </p:spPr>
                  </p:pic>
                </p:oleObj>
              </mc:Fallback>
            </mc:AlternateContent>
          </a:graphicData>
        </a:graphic>
      </p:graphicFrame>
      <p:sp>
        <p:nvSpPr>
          <p:cNvPr id="17" name="灯片编号占位符 16"/>
          <p:cNvSpPr>
            <a:spLocks noGrp="1"/>
          </p:cNvSpPr>
          <p:nvPr>
            <p:ph type="sldNum" sz="quarter" idx="11"/>
          </p:nvPr>
        </p:nvSpPr>
        <p:spPr/>
        <p:txBody>
          <a:bodyPr/>
          <a:lstStyle/>
          <a:p>
            <a:pPr>
              <a:defRPr/>
            </a:pPr>
            <a:fld id="{31E287EE-1289-4991-82CE-EFE584F53F4F}" type="slidenum">
              <a:rPr lang="en-US" altLang="zh-CN" smtClean="0"/>
              <a:pPr>
                <a:defRPr/>
              </a:pPr>
              <a:t>11</a:t>
            </a:fld>
            <a:endParaRPr lang="en-US" altLang="zh-CN" dirty="0"/>
          </a:p>
        </p:txBody>
      </p:sp>
      <p:sp>
        <p:nvSpPr>
          <p:cNvPr id="18" name="矩形 17"/>
          <p:cNvSpPr/>
          <p:nvPr/>
        </p:nvSpPr>
        <p:spPr>
          <a:xfrm>
            <a:off x="345495" y="2513114"/>
            <a:ext cx="2664406" cy="338554"/>
          </a:xfrm>
          <a:prstGeom prst="rect">
            <a:avLst/>
          </a:prstGeom>
          <a:ln>
            <a:solidFill>
              <a:srgbClr val="FFC000"/>
            </a:solidFill>
          </a:ln>
        </p:spPr>
        <p:txBody>
          <a:bodyPr wrap="square">
            <a:spAutoFit/>
          </a:bodyPr>
          <a:lstStyle/>
          <a:p>
            <a:r>
              <a:rPr lang="zh-CN" altLang="en-US" sz="1600" b="1" dirty="0">
                <a:solidFill>
                  <a:srgbClr val="7030A0"/>
                </a:solidFill>
                <a:latin typeface="楷体_GB2312" pitchFamily="49" charset="-122"/>
                <a:ea typeface="楷体_GB2312" pitchFamily="49" charset="-122"/>
              </a:rPr>
              <a:t>相似变换实对称阵可对角化</a:t>
            </a:r>
            <a:endParaRPr lang="zh-CN" altLang="en-US" sz="1600" dirty="0">
              <a:solidFill>
                <a:srgbClr val="7030A0"/>
              </a:solidFill>
            </a:endParaRPr>
          </a:p>
        </p:txBody>
      </p:sp>
      <p:sp>
        <p:nvSpPr>
          <p:cNvPr id="19" name="矩形 18"/>
          <p:cNvSpPr/>
          <p:nvPr/>
        </p:nvSpPr>
        <p:spPr>
          <a:xfrm>
            <a:off x="4136063" y="892988"/>
            <a:ext cx="1928733" cy="369332"/>
          </a:xfrm>
          <a:prstGeom prst="rect">
            <a:avLst/>
          </a:prstGeom>
          <a:ln>
            <a:solidFill>
              <a:srgbClr val="FFC000"/>
            </a:solidFill>
          </a:ln>
        </p:spPr>
        <p:txBody>
          <a:bodyPr wrap="none">
            <a:spAutoFit/>
          </a:bodyPr>
          <a:lstStyle/>
          <a:p>
            <a:r>
              <a:rPr lang="zh-CN" altLang="en-US" dirty="0"/>
              <a:t>所有特征值大于</a:t>
            </a:r>
            <a:r>
              <a:rPr lang="en-US" altLang="zh-CN" dirty="0"/>
              <a:t>0</a:t>
            </a:r>
            <a:endParaRPr lang="zh-CN" altLang="en-US" dirty="0"/>
          </a:p>
        </p:txBody>
      </p:sp>
      <p:cxnSp>
        <p:nvCxnSpPr>
          <p:cNvPr id="21" name="直接箭头连接符 20"/>
          <p:cNvCxnSpPr/>
          <p:nvPr/>
        </p:nvCxnSpPr>
        <p:spPr>
          <a:xfrm flipH="1">
            <a:off x="4777424" y="1171606"/>
            <a:ext cx="428656" cy="29492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9291918" y="1505510"/>
            <a:ext cx="2863932" cy="338554"/>
          </a:xfrm>
          <a:prstGeom prst="rect">
            <a:avLst/>
          </a:prstGeom>
          <a:ln>
            <a:solidFill>
              <a:srgbClr val="FFC000"/>
            </a:solidFill>
          </a:ln>
        </p:spPr>
        <p:txBody>
          <a:bodyPr wrap="square">
            <a:spAutoFit/>
          </a:bodyPr>
          <a:lstStyle/>
          <a:p>
            <a:pPr latinLnBrk="1"/>
            <a:r>
              <a:rPr lang="zh-CN" altLang="en-US" sz="1600" dirty="0">
                <a:latin typeface="Times New Roman" panose="02020603050405020304" pitchFamily="18" charset="0"/>
                <a:cs typeface="Times New Roman" panose="02020603050405020304" pitchFamily="18" charset="0"/>
              </a:rPr>
              <a:t>合同</a:t>
            </a:r>
            <a:r>
              <a:rPr lang="en-US" altLang="zh-CN" sz="1600" dirty="0">
                <a:latin typeface="Times New Roman" panose="02020603050405020304" pitchFamily="18" charset="0"/>
                <a:cs typeface="Times New Roman" panose="02020603050405020304" pitchFamily="18" charset="0"/>
              </a:rPr>
              <a:t>(Congruent transformation)</a:t>
            </a:r>
            <a:endParaRPr lang="zh-CN" altLang="en-US" sz="1600" dirty="0">
              <a:latin typeface="Times New Roman" panose="02020603050405020304" pitchFamily="18" charset="0"/>
              <a:cs typeface="Times New Roman" panose="02020603050405020304" pitchFamily="18" charset="0"/>
            </a:endParaRPr>
          </a:p>
        </p:txBody>
      </p:sp>
      <p:sp>
        <p:nvSpPr>
          <p:cNvPr id="23" name="矩形 22"/>
          <p:cNvSpPr/>
          <p:nvPr/>
        </p:nvSpPr>
        <p:spPr>
          <a:xfrm>
            <a:off x="6259871" y="968378"/>
            <a:ext cx="1736125" cy="307777"/>
          </a:xfrm>
          <a:prstGeom prst="rect">
            <a:avLst/>
          </a:prstGeom>
          <a:ln>
            <a:solidFill>
              <a:srgbClr val="FFC000"/>
            </a:solidFill>
          </a:ln>
        </p:spPr>
        <p:txBody>
          <a:bodyPr wrap="square">
            <a:spAutoFit/>
          </a:bodyPr>
          <a:lstStyle/>
          <a:p>
            <a:r>
              <a:rPr lang="zh-CN" altLang="en-US" sz="1400" dirty="0"/>
              <a:t>行列式不为</a:t>
            </a:r>
            <a:r>
              <a:rPr lang="en-US" altLang="zh-CN" sz="1400" dirty="0"/>
              <a:t>0</a:t>
            </a:r>
            <a:r>
              <a:rPr lang="zh-CN" altLang="en-US" sz="1400" dirty="0"/>
              <a:t>，可逆</a:t>
            </a:r>
          </a:p>
        </p:txBody>
      </p:sp>
      <p:cxnSp>
        <p:nvCxnSpPr>
          <p:cNvPr id="25" name="直接箭头连接符 24"/>
          <p:cNvCxnSpPr/>
          <p:nvPr/>
        </p:nvCxnSpPr>
        <p:spPr>
          <a:xfrm flipH="1">
            <a:off x="6461491" y="1211574"/>
            <a:ext cx="426227" cy="257963"/>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9310174" y="3283691"/>
            <a:ext cx="295866" cy="3873"/>
          </a:xfrm>
          <a:prstGeom prst="line">
            <a:avLst/>
          </a:prstGeom>
          <a:ln>
            <a:tailEnd type="none"/>
          </a:ln>
        </p:spPr>
        <p:style>
          <a:lnRef idx="2">
            <a:schemeClr val="accent1"/>
          </a:lnRef>
          <a:fillRef idx="0">
            <a:schemeClr val="accent1"/>
          </a:fillRef>
          <a:effectRef idx="1">
            <a:schemeClr val="accent1"/>
          </a:effectRef>
          <a:fontRef idx="minor">
            <a:schemeClr val="tx1"/>
          </a:fontRef>
        </p:style>
      </p:cxnSp>
      <p:sp>
        <p:nvSpPr>
          <p:cNvPr id="45" name="下箭头 44"/>
          <p:cNvSpPr/>
          <p:nvPr/>
        </p:nvSpPr>
        <p:spPr>
          <a:xfrm>
            <a:off x="9310174" y="3448748"/>
            <a:ext cx="295866" cy="338181"/>
          </a:xfrm>
          <a:prstGeom prst="downArrow">
            <a:avLst/>
          </a:prstGeom>
          <a:ln/>
        </p:spPr>
        <p:style>
          <a:lnRef idx="1">
            <a:schemeClr val="accent2"/>
          </a:lnRef>
          <a:fillRef idx="2">
            <a:schemeClr val="accent2"/>
          </a:fillRef>
          <a:effectRef idx="1">
            <a:schemeClr val="accent2"/>
          </a:effectRef>
          <a:fontRef idx="minor">
            <a:schemeClr val="dk1"/>
          </a:fontRef>
        </p:style>
        <p:txBody>
          <a:bodyPr wrap="square" rtlCol="0" anchor="ctr">
            <a:spAutoFit/>
          </a:bodyPr>
          <a:lstStyle/>
          <a:p>
            <a:pPr algn="ctr"/>
            <a:endParaRPr lang="zh-CN" altLang="en-US" sz="2400" kern="100" dirty="0">
              <a:ea typeface="宋体"/>
              <a:cs typeface="Times New Roman"/>
            </a:endParaRPr>
          </a:p>
        </p:txBody>
      </p:sp>
      <p:cxnSp>
        <p:nvCxnSpPr>
          <p:cNvPr id="62" name="直接连接符 61"/>
          <p:cNvCxnSpPr/>
          <p:nvPr/>
        </p:nvCxnSpPr>
        <p:spPr>
          <a:xfrm flipV="1">
            <a:off x="8028267" y="3296162"/>
            <a:ext cx="670441" cy="9963"/>
          </a:xfrm>
          <a:prstGeom prst="line">
            <a:avLst/>
          </a:prstGeom>
          <a:ln>
            <a:tailEnd type="none"/>
          </a:ln>
        </p:spPr>
        <p:style>
          <a:lnRef idx="2">
            <a:schemeClr val="accent1"/>
          </a:lnRef>
          <a:fillRef idx="0">
            <a:schemeClr val="accent1"/>
          </a:fillRef>
          <a:effectRef idx="1">
            <a:schemeClr val="accent1"/>
          </a:effectRef>
          <a:fontRef idx="minor">
            <a:schemeClr val="tx1"/>
          </a:fontRef>
        </p:style>
      </p:cxnSp>
      <p:grpSp>
        <p:nvGrpSpPr>
          <p:cNvPr id="16" name="组合 15"/>
          <p:cNvGrpSpPr/>
          <p:nvPr/>
        </p:nvGrpSpPr>
        <p:grpSpPr>
          <a:xfrm>
            <a:off x="3921777" y="1996084"/>
            <a:ext cx="2139950" cy="503668"/>
            <a:chOff x="3476626" y="2355851"/>
            <a:chExt cx="2139950" cy="503668"/>
          </a:xfrm>
        </p:grpSpPr>
        <p:graphicFrame>
          <p:nvGraphicFramePr>
            <p:cNvPr id="58373" name="Object 4"/>
            <p:cNvGraphicFramePr>
              <a:graphicFrameLocks noChangeAspect="1"/>
            </p:cNvGraphicFramePr>
            <p:nvPr>
              <p:extLst>
                <p:ext uri="{D42A27DB-BD31-4B8C-83A1-F6EECF244321}">
                  <p14:modId xmlns:p14="http://schemas.microsoft.com/office/powerpoint/2010/main" val="614646299"/>
                </p:ext>
              </p:extLst>
            </p:nvPr>
          </p:nvGraphicFramePr>
          <p:xfrm>
            <a:off x="3476626" y="2355851"/>
            <a:ext cx="2139950" cy="433388"/>
          </p:xfrm>
          <a:graphic>
            <a:graphicData uri="http://schemas.openxmlformats.org/presentationml/2006/ole">
              <mc:AlternateContent xmlns:mc="http://schemas.openxmlformats.org/markup-compatibility/2006">
                <mc:Choice xmlns:v="urn:schemas-microsoft-com:vml" Requires="v">
                  <p:oleObj spid="_x0000_s351641" name="Equation" r:id="rId16" imgW="1054080" imgH="215640" progId="Equation.DSMT4">
                    <p:embed/>
                  </p:oleObj>
                </mc:Choice>
                <mc:Fallback>
                  <p:oleObj name="Equation" r:id="rId16" imgW="1054080" imgH="215640" progId="Equation.DSMT4">
                    <p:embed/>
                    <p:pic>
                      <p:nvPicPr>
                        <p:cNvPr id="0" name="Object 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76626" y="2355851"/>
                          <a:ext cx="2139950"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6" name="直接连接符 25"/>
            <p:cNvCxnSpPr/>
            <p:nvPr/>
          </p:nvCxnSpPr>
          <p:spPr>
            <a:xfrm>
              <a:off x="4683678" y="2849556"/>
              <a:ext cx="227212" cy="0"/>
            </a:xfrm>
            <a:prstGeom prst="line">
              <a:avLst/>
            </a:prstGeom>
            <a:ln>
              <a:tailEnd type="none"/>
            </a:ln>
          </p:spPr>
          <p:style>
            <a:lnRef idx="2">
              <a:schemeClr val="accent1"/>
            </a:lnRef>
            <a:fillRef idx="0">
              <a:schemeClr val="accent1"/>
            </a:fillRef>
            <a:effectRef idx="1">
              <a:schemeClr val="accent1"/>
            </a:effectRef>
            <a:fontRef idx="minor">
              <a:schemeClr val="tx1"/>
            </a:fontRef>
          </p:style>
        </p:cxnSp>
        <p:cxnSp>
          <p:nvCxnSpPr>
            <p:cNvPr id="64" name="直接连接符 63"/>
            <p:cNvCxnSpPr/>
            <p:nvPr/>
          </p:nvCxnSpPr>
          <p:spPr>
            <a:xfrm flipV="1">
              <a:off x="3476626" y="2849556"/>
              <a:ext cx="670441" cy="9963"/>
            </a:xfrm>
            <a:prstGeom prst="line">
              <a:avLst/>
            </a:prstGeom>
            <a:ln>
              <a:tailEnd type="non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8" name="矩形 7"/>
              <p:cNvSpPr/>
              <p:nvPr/>
            </p:nvSpPr>
            <p:spPr>
              <a:xfrm>
                <a:off x="5279634" y="2541759"/>
                <a:ext cx="1960473" cy="375103"/>
              </a:xfrm>
              <a:prstGeom prst="rect">
                <a:avLst/>
              </a:prstGeom>
            </p:spPr>
            <p:txBody>
              <a:bodyPr wrap="none">
                <a:spAutoFit/>
              </a:bodyPr>
              <a:lstStyle/>
              <a:p>
                <a:pPr marL="342900" indent="-342900">
                  <a:spcBef>
                    <a:spcPct val="20000"/>
                  </a:spcBef>
                  <a:buClr>
                    <a:schemeClr val="folHlink"/>
                  </a:buClr>
                  <a:buSzPct val="60000"/>
                </a:pPr>
                <a:r>
                  <a:rPr lang="zh-CN" altLang="en-US" b="1" dirty="0">
                    <a:solidFill>
                      <a:srgbClr val="000000"/>
                    </a:solidFill>
                    <a:ea typeface="楷体_GB2312" pitchFamily="49" charset="-122"/>
                  </a:rPr>
                  <a:t>这里</a:t>
                </a:r>
                <a14:m>
                  <m:oMath xmlns:m="http://schemas.openxmlformats.org/officeDocument/2006/math">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𝛬</m:t>
                        </m:r>
                      </m:e>
                    </m:acc>
                  </m:oMath>
                </a14:m>
                <a:r>
                  <a:rPr lang="zh-CN" altLang="en-US" b="1" dirty="0">
                    <a:solidFill>
                      <a:srgbClr val="000000"/>
                    </a:solidFill>
                    <a:ea typeface="楷体_GB2312" pitchFamily="49" charset="-122"/>
                  </a:rPr>
                  <a:t>为对角阵。</a:t>
                </a:r>
              </a:p>
            </p:txBody>
          </p:sp>
        </mc:Choice>
        <mc:Fallback xmlns="">
          <p:sp>
            <p:nvSpPr>
              <p:cNvPr id="8" name="矩形 7"/>
              <p:cNvSpPr>
                <a:spLocks noRot="1" noChangeAspect="1" noMove="1" noResize="1" noEditPoints="1" noAdjustHandles="1" noChangeArrowheads="1" noChangeShapeType="1" noTextEdit="1"/>
              </p:cNvSpPr>
              <p:nvPr/>
            </p:nvSpPr>
            <p:spPr>
              <a:xfrm>
                <a:off x="5279634" y="2541759"/>
                <a:ext cx="1960473" cy="375103"/>
              </a:xfrm>
              <a:prstGeom prst="rect">
                <a:avLst/>
              </a:prstGeom>
              <a:blipFill>
                <a:blip r:embed="rId18"/>
                <a:stretch>
                  <a:fillRect l="-2484" t="-11475" r="-1553" b="-22951"/>
                </a:stretch>
              </a:blipFill>
            </p:spPr>
            <p:txBody>
              <a:bodyPr/>
              <a:lstStyle/>
              <a:p>
                <a:r>
                  <a:rPr lang="zh-CN" altLang="en-US">
                    <a:noFill/>
                  </a:rPr>
                  <a:t> </a:t>
                </a:r>
              </a:p>
            </p:txBody>
          </p:sp>
        </mc:Fallback>
      </mc:AlternateContent>
      <p:sp>
        <p:nvSpPr>
          <p:cNvPr id="20" name="矩形 19"/>
          <p:cNvSpPr/>
          <p:nvPr/>
        </p:nvSpPr>
        <p:spPr>
          <a:xfrm>
            <a:off x="9649215" y="3412051"/>
            <a:ext cx="789512" cy="369332"/>
          </a:xfrm>
          <a:prstGeom prst="rect">
            <a:avLst/>
          </a:prstGeom>
        </p:spPr>
        <p:txBody>
          <a:bodyPr wrap="none">
            <a:spAutoFit/>
          </a:bodyPr>
          <a:lstStyle/>
          <a:p>
            <a:r>
              <a:rPr lang="en-US" altLang="zh-CN" b="1" i="1" dirty="0">
                <a:ea typeface="楷体_GB2312" pitchFamily="49" charset="-122"/>
              </a:rPr>
              <a:t>U</a:t>
            </a:r>
            <a:r>
              <a:rPr lang="en-US" altLang="zh-CN" b="1" dirty="0">
                <a:ea typeface="楷体_GB2312" pitchFamily="49" charset="-122"/>
              </a:rPr>
              <a:t>=</a:t>
            </a:r>
            <a:r>
              <a:rPr lang="en-US" altLang="zh-CN" b="1" i="1" dirty="0">
                <a:ea typeface="楷体_GB2312" pitchFamily="49" charset="-122"/>
              </a:rPr>
              <a:t>AV</a:t>
            </a:r>
            <a:endParaRPr lang="zh-CN" altLang="en-US" dirty="0"/>
          </a:p>
        </p:txBody>
      </p:sp>
      <p:sp>
        <p:nvSpPr>
          <p:cNvPr id="44" name="下箭头 43"/>
          <p:cNvSpPr/>
          <p:nvPr/>
        </p:nvSpPr>
        <p:spPr>
          <a:xfrm>
            <a:off x="4592437" y="2783631"/>
            <a:ext cx="273209" cy="501996"/>
          </a:xfrm>
          <a:prstGeom prst="downArrow">
            <a:avLst/>
          </a:prstGeom>
          <a:solidFill>
            <a:schemeClr val="accent1">
              <a:lumMod val="40000"/>
              <a:lumOff val="60000"/>
            </a:schemeClr>
          </a:solidFill>
          <a:ln>
            <a:solidFill>
              <a:schemeClr val="accent1">
                <a:lumMod val="75000"/>
              </a:schemeClr>
            </a:solidFill>
          </a:ln>
        </p:spPr>
        <p:txBody>
          <a:bodyPr wrap="square" rtlCol="0" anchor="ctr">
            <a:spAutoFit/>
          </a:bodyPr>
          <a:lstStyle/>
          <a:p>
            <a:pPr algn="ctr"/>
            <a:endParaRPr lang="zh-CN" altLang="en-US" sz="2400" kern="100" dirty="0">
              <a:ea typeface="宋体"/>
              <a:cs typeface="Times New Roman"/>
            </a:endParaRPr>
          </a:p>
        </p:txBody>
      </p:sp>
      <p:sp>
        <p:nvSpPr>
          <p:cNvPr id="46" name="矩形 45"/>
          <p:cNvSpPr/>
          <p:nvPr/>
        </p:nvSpPr>
        <p:spPr>
          <a:xfrm>
            <a:off x="4905759" y="2978027"/>
            <a:ext cx="789512" cy="369332"/>
          </a:xfrm>
          <a:prstGeom prst="rect">
            <a:avLst/>
          </a:prstGeom>
        </p:spPr>
        <p:txBody>
          <a:bodyPr wrap="none">
            <a:spAutoFit/>
          </a:bodyPr>
          <a:lstStyle/>
          <a:p>
            <a:r>
              <a:rPr lang="en-US" altLang="zh-CN" b="1" i="1" dirty="0">
                <a:ea typeface="楷体_GB2312" pitchFamily="49" charset="-122"/>
              </a:rPr>
              <a:t>U</a:t>
            </a:r>
            <a:r>
              <a:rPr lang="en-US" altLang="zh-CN" b="1" dirty="0">
                <a:ea typeface="楷体_GB2312" pitchFamily="49" charset="-122"/>
              </a:rPr>
              <a:t>=</a:t>
            </a:r>
            <a:r>
              <a:rPr lang="en-US" altLang="zh-CN" b="1" i="1" dirty="0">
                <a:ea typeface="楷体_GB2312" pitchFamily="49" charset="-122"/>
              </a:rPr>
              <a:t>AV</a:t>
            </a:r>
            <a:endParaRPr lang="zh-CN" altLang="en-US" dirty="0"/>
          </a:p>
        </p:txBody>
      </p:sp>
      <p:sp>
        <p:nvSpPr>
          <p:cNvPr id="47" name="下箭头 46"/>
          <p:cNvSpPr/>
          <p:nvPr/>
        </p:nvSpPr>
        <p:spPr>
          <a:xfrm>
            <a:off x="8342940" y="2162648"/>
            <a:ext cx="309071" cy="395537"/>
          </a:xfrm>
          <a:prstGeom prst="downArrow">
            <a:avLst/>
          </a:prstGeom>
          <a:ln/>
        </p:spPr>
        <p:style>
          <a:lnRef idx="1">
            <a:schemeClr val="accent2"/>
          </a:lnRef>
          <a:fillRef idx="2">
            <a:schemeClr val="accent2"/>
          </a:fillRef>
          <a:effectRef idx="1">
            <a:schemeClr val="accent2"/>
          </a:effectRef>
          <a:fontRef idx="minor">
            <a:schemeClr val="dk1"/>
          </a:fontRef>
        </p:style>
        <p:txBody>
          <a:bodyPr wrap="square" rtlCol="0" anchor="ctr">
            <a:spAutoFit/>
          </a:bodyPr>
          <a:lstStyle/>
          <a:p>
            <a:pPr algn="ctr"/>
            <a:endParaRPr lang="zh-CN" altLang="en-US" sz="2400" kern="100" dirty="0">
              <a:ea typeface="宋体"/>
              <a:cs typeface="Times New Roman"/>
            </a:endParaRPr>
          </a:p>
        </p:txBody>
      </p:sp>
      <p:sp>
        <p:nvSpPr>
          <p:cNvPr id="48" name="矩形 47"/>
          <p:cNvSpPr/>
          <p:nvPr/>
        </p:nvSpPr>
        <p:spPr>
          <a:xfrm>
            <a:off x="8596092" y="2043231"/>
            <a:ext cx="1054420" cy="646331"/>
          </a:xfrm>
          <a:prstGeom prst="rect">
            <a:avLst/>
          </a:prstGeom>
        </p:spPr>
        <p:txBody>
          <a:bodyPr wrap="square">
            <a:spAutoFit/>
          </a:bodyPr>
          <a:lstStyle/>
          <a:p>
            <a:r>
              <a:rPr lang="zh-CN" altLang="en-US" dirty="0">
                <a:latin typeface="黑体" panose="02010609060101010101" pitchFamily="49" charset="-122"/>
                <a:ea typeface="黑体" panose="02010609060101010101" pitchFamily="49" charset="-122"/>
              </a:rPr>
              <a:t>左乘</a:t>
            </a:r>
            <a:r>
              <a:rPr lang="en-US" altLang="zh-CN" dirty="0">
                <a:latin typeface="黑体" panose="02010609060101010101" pitchFamily="49" charset="-122"/>
                <a:ea typeface="黑体" panose="02010609060101010101" pitchFamily="49" charset="-122"/>
              </a:rPr>
              <a:t>V</a:t>
            </a:r>
            <a:r>
              <a:rPr lang="zh-CN" altLang="en-US" dirty="0">
                <a:latin typeface="黑体" panose="02010609060101010101" pitchFamily="49" charset="-122"/>
                <a:ea typeface="黑体" panose="02010609060101010101" pitchFamily="49" charset="-122"/>
              </a:rPr>
              <a:t>逆，</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右乘</a:t>
            </a:r>
            <a:r>
              <a:rPr lang="en-US" altLang="zh-CN" dirty="0">
                <a:latin typeface="黑体" panose="02010609060101010101" pitchFamily="49" charset="-122"/>
                <a:ea typeface="黑体" panose="02010609060101010101" pitchFamily="49" charset="-122"/>
              </a:rPr>
              <a:t>V</a:t>
            </a:r>
            <a:endParaRPr lang="zh-CN" altLang="en-US" dirty="0">
              <a:latin typeface="黑体" panose="02010609060101010101" pitchFamily="49" charset="-122"/>
              <a:ea typeface="黑体" panose="02010609060101010101" pitchFamily="49" charset="-122"/>
            </a:endParaRPr>
          </a:p>
        </p:txBody>
      </p:sp>
      <p:graphicFrame>
        <p:nvGraphicFramePr>
          <p:cNvPr id="49" name="Object 6"/>
          <p:cNvGraphicFramePr>
            <a:graphicFrameLocks noChangeAspect="1"/>
          </p:cNvGraphicFramePr>
          <p:nvPr>
            <p:extLst>
              <p:ext uri="{D42A27DB-BD31-4B8C-83A1-F6EECF244321}">
                <p14:modId xmlns:p14="http://schemas.microsoft.com/office/powerpoint/2010/main" val="283889358"/>
              </p:ext>
            </p:extLst>
          </p:nvPr>
        </p:nvGraphicFramePr>
        <p:xfrm>
          <a:off x="8028497" y="4733035"/>
          <a:ext cx="2465388" cy="503237"/>
        </p:xfrm>
        <a:graphic>
          <a:graphicData uri="http://schemas.openxmlformats.org/presentationml/2006/ole">
            <mc:AlternateContent xmlns:mc="http://schemas.openxmlformats.org/markup-compatibility/2006">
              <mc:Choice xmlns:v="urn:schemas-microsoft-com:vml" Requires="v">
                <p:oleObj spid="_x0000_s351642" name="Equation" r:id="rId19" imgW="1168200" imgH="241200" progId="Equation.DSMT4">
                  <p:embed/>
                </p:oleObj>
              </mc:Choice>
              <mc:Fallback>
                <p:oleObj name="Equation" r:id="rId19" imgW="1168200" imgH="241200" progId="Equation.DSMT4">
                  <p:embed/>
                  <p:pic>
                    <p:nvPicPr>
                      <p:cNvPr id="59398" name="Object 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028497" y="4733035"/>
                        <a:ext cx="2465388" cy="503237"/>
                      </a:xfrm>
                      <a:prstGeom prst="rect">
                        <a:avLst/>
                      </a:prstGeom>
                      <a:noFill/>
                    </p:spPr>
                  </p:pic>
                </p:oleObj>
              </mc:Fallback>
            </mc:AlternateContent>
          </a:graphicData>
        </a:graphic>
      </p:graphicFrame>
      <p:sp>
        <p:nvSpPr>
          <p:cNvPr id="50" name="下箭头 49"/>
          <p:cNvSpPr/>
          <p:nvPr/>
        </p:nvSpPr>
        <p:spPr>
          <a:xfrm>
            <a:off x="9716672" y="4353228"/>
            <a:ext cx="260583" cy="406858"/>
          </a:xfrm>
          <a:prstGeom prst="downArrow">
            <a:avLst/>
          </a:prstGeom>
          <a:ln/>
        </p:spPr>
        <p:style>
          <a:lnRef idx="1">
            <a:schemeClr val="accent2"/>
          </a:lnRef>
          <a:fillRef idx="2">
            <a:schemeClr val="accent2"/>
          </a:fillRef>
          <a:effectRef idx="1">
            <a:schemeClr val="accent2"/>
          </a:effectRef>
          <a:fontRef idx="minor">
            <a:schemeClr val="dk1"/>
          </a:fontRef>
        </p:style>
        <p:txBody>
          <a:bodyPr wrap="square" rtlCol="0" anchor="ctr">
            <a:spAutoFit/>
          </a:bodyPr>
          <a:lstStyle/>
          <a:p>
            <a:pPr algn="ctr"/>
            <a:endParaRPr lang="zh-CN" altLang="en-US" sz="2400" kern="100" dirty="0">
              <a:ea typeface="宋体"/>
              <a:cs typeface="Times New Roman"/>
            </a:endParaRPr>
          </a:p>
        </p:txBody>
      </p:sp>
      <p:sp>
        <p:nvSpPr>
          <p:cNvPr id="51" name="矩形 50"/>
          <p:cNvSpPr/>
          <p:nvPr/>
        </p:nvSpPr>
        <p:spPr>
          <a:xfrm>
            <a:off x="9959992" y="4429384"/>
            <a:ext cx="1114408" cy="369332"/>
          </a:xfrm>
          <a:prstGeom prst="rect">
            <a:avLst/>
          </a:prstGeom>
        </p:spPr>
        <p:txBody>
          <a:bodyPr wrap="none">
            <a:spAutoFit/>
          </a:bodyPr>
          <a:lstStyle/>
          <a:p>
            <a:r>
              <a:rPr lang="zh-CN" altLang="en-US" b="1" dirty="0">
                <a:ea typeface="楷体_GB2312" pitchFamily="49" charset="-122"/>
              </a:rPr>
              <a:t>两边取逆</a:t>
            </a:r>
            <a:endParaRPr lang="zh-CN" altLang="en-US" dirty="0"/>
          </a:p>
        </p:txBody>
      </p:sp>
      <p:sp>
        <p:nvSpPr>
          <p:cNvPr id="24" name="矩形 23"/>
          <p:cNvSpPr/>
          <p:nvPr/>
        </p:nvSpPr>
        <p:spPr>
          <a:xfrm>
            <a:off x="3921777" y="5483459"/>
            <a:ext cx="6152646" cy="369332"/>
          </a:xfrm>
          <a:prstGeom prst="rect">
            <a:avLst/>
          </a:prstGeom>
        </p:spPr>
        <p:txBody>
          <a:bodyPr wrap="none">
            <a:spAutoFit/>
          </a:bodyPr>
          <a:lstStyle/>
          <a:p>
            <a:r>
              <a:rPr kumimoji="1" lang="zh-CN" altLang="en-US" b="1" dirty="0">
                <a:ea typeface="楷体_GB2312" pitchFamily="49" charset="-122"/>
              </a:rPr>
              <a:t>上面两式相乘（（</a:t>
            </a:r>
            <a:r>
              <a:rPr kumimoji="1" lang="en-US" altLang="zh-CN" b="1" dirty="0">
                <a:ea typeface="楷体_GB2312" pitchFamily="49" charset="-122"/>
              </a:rPr>
              <a:t>2</a:t>
            </a:r>
            <a:r>
              <a:rPr kumimoji="1" lang="zh-CN" altLang="en-US" b="1" dirty="0">
                <a:ea typeface="楷体_GB2312" pitchFamily="49" charset="-122"/>
              </a:rPr>
              <a:t>）式左乘（</a:t>
            </a:r>
            <a:r>
              <a:rPr kumimoji="1" lang="en-US" altLang="zh-CN" b="1" dirty="0">
                <a:ea typeface="楷体_GB2312" pitchFamily="49" charset="-122"/>
              </a:rPr>
              <a:t>1</a:t>
            </a:r>
            <a:r>
              <a:rPr kumimoji="1" lang="zh-CN" altLang="en-US" b="1" dirty="0">
                <a:ea typeface="楷体_GB2312" pitchFamily="49" charset="-122"/>
              </a:rPr>
              <a:t>）式），再左乘</a:t>
            </a:r>
            <a:r>
              <a:rPr kumimoji="1" lang="en-US" altLang="zh-CN" b="1" i="1" dirty="0">
                <a:latin typeface="Times New Roman" panose="02020603050405020304" pitchFamily="18" charset="0"/>
                <a:ea typeface="楷体_GB2312" pitchFamily="49" charset="-122"/>
                <a:cs typeface="Times New Roman" panose="02020603050405020304" pitchFamily="18" charset="0"/>
              </a:rPr>
              <a:t>U</a:t>
            </a:r>
            <a:r>
              <a:rPr kumimoji="1" lang="en-US" altLang="zh-CN" b="1" dirty="0">
                <a:latin typeface="Times New Roman" panose="02020603050405020304" pitchFamily="18" charset="0"/>
                <a:ea typeface="楷体_GB2312" pitchFamily="49" charset="-122"/>
                <a:cs typeface="Times New Roman" panose="02020603050405020304" pitchFamily="18" charset="0"/>
              </a:rPr>
              <a:t> </a:t>
            </a:r>
            <a:r>
              <a:rPr kumimoji="1" lang="zh-CN" altLang="en-US" b="1" dirty="0">
                <a:ea typeface="楷体_GB2312" pitchFamily="49" charset="-122"/>
              </a:rPr>
              <a:t>，得</a:t>
            </a:r>
            <a:r>
              <a:rPr kumimoji="1" lang="en-US" altLang="zh-CN" b="1" dirty="0">
                <a:ea typeface="楷体_GB2312" pitchFamily="49" charset="-122"/>
              </a:rPr>
              <a:t>: </a:t>
            </a:r>
            <a:endParaRPr lang="zh-CN" altLang="en-US" dirty="0"/>
          </a:p>
        </p:txBody>
      </p:sp>
      <p:sp>
        <p:nvSpPr>
          <p:cNvPr id="52" name="下箭头 51"/>
          <p:cNvSpPr/>
          <p:nvPr/>
        </p:nvSpPr>
        <p:spPr>
          <a:xfrm>
            <a:off x="7984308" y="5147914"/>
            <a:ext cx="374636" cy="325646"/>
          </a:xfrm>
          <a:prstGeom prst="downArrow">
            <a:avLst/>
          </a:prstGeom>
          <a:ln/>
        </p:spPr>
        <p:style>
          <a:lnRef idx="1">
            <a:schemeClr val="accent2"/>
          </a:lnRef>
          <a:fillRef idx="2">
            <a:schemeClr val="accent2"/>
          </a:fillRef>
          <a:effectRef idx="1">
            <a:schemeClr val="accent2"/>
          </a:effectRef>
          <a:fontRef idx="minor">
            <a:schemeClr val="dk1"/>
          </a:fontRef>
        </p:style>
        <p:txBody>
          <a:bodyPr wrap="square" rtlCol="0" anchor="ctr">
            <a:spAutoFit/>
          </a:bodyPr>
          <a:lstStyle/>
          <a:p>
            <a:pPr algn="ctr"/>
            <a:endParaRPr lang="zh-CN" altLang="en-US" sz="2400" kern="100" dirty="0">
              <a:ea typeface="宋体"/>
              <a:cs typeface="Times New Roman"/>
            </a:endParaRPr>
          </a:p>
        </p:txBody>
      </p:sp>
      <p:sp>
        <p:nvSpPr>
          <p:cNvPr id="53" name="下箭头 52"/>
          <p:cNvSpPr/>
          <p:nvPr/>
        </p:nvSpPr>
        <p:spPr>
          <a:xfrm>
            <a:off x="5195462" y="5168992"/>
            <a:ext cx="457601" cy="337741"/>
          </a:xfrm>
          <a:prstGeom prst="downArrow">
            <a:avLst/>
          </a:prstGeom>
          <a:solidFill>
            <a:schemeClr val="accent1">
              <a:lumMod val="40000"/>
              <a:lumOff val="60000"/>
            </a:schemeClr>
          </a:solidFill>
          <a:ln>
            <a:solidFill>
              <a:schemeClr val="accent1">
                <a:lumMod val="75000"/>
              </a:schemeClr>
            </a:solidFill>
          </a:ln>
        </p:spPr>
        <p:txBody>
          <a:bodyPr wrap="square" rtlCol="0" anchor="ctr">
            <a:spAutoFit/>
          </a:bodyPr>
          <a:lstStyle/>
          <a:p>
            <a:pPr algn="ctr"/>
            <a:endParaRPr lang="zh-CN" altLang="en-US" sz="2400" kern="100" dirty="0">
              <a:ea typeface="宋体"/>
              <a:cs typeface="Times New Roman"/>
            </a:endParaRPr>
          </a:p>
        </p:txBody>
      </p:sp>
      <mc:AlternateContent xmlns:mc="http://schemas.openxmlformats.org/markup-compatibility/2006" xmlns:a14="http://schemas.microsoft.com/office/drawing/2010/main">
        <mc:Choice Requires="a14">
          <p:sp>
            <p:nvSpPr>
              <p:cNvPr id="27" name="矩形 26"/>
              <p:cNvSpPr/>
              <p:nvPr/>
            </p:nvSpPr>
            <p:spPr>
              <a:xfrm>
                <a:off x="2855903" y="6291077"/>
                <a:ext cx="8409387" cy="475708"/>
              </a:xfrm>
              <a:prstGeom prst="rect">
                <a:avLst/>
              </a:prstGeom>
              <a:solidFill>
                <a:schemeClr val="bg1"/>
              </a:solidFill>
            </p:spPr>
            <p:txBody>
              <a:bodyPr wrap="square">
                <a:spAutoFit/>
              </a:bodyPr>
              <a:lstStyle/>
              <a:p>
                <a:pPr>
                  <a:lnSpc>
                    <a:spcPct val="130000"/>
                  </a:lnSpc>
                  <a:spcBef>
                    <a:spcPct val="50000"/>
                  </a:spcBef>
                </a:pPr>
                <a:r>
                  <a:rPr kumimoji="1" lang="zh-CN" altLang="en-US" b="1" i="1" dirty="0">
                    <a:ea typeface="楷体_GB2312" pitchFamily="49" charset="-122"/>
                  </a:rPr>
                  <a:t>可见，</a:t>
                </a:r>
                <a:r>
                  <a:rPr kumimoji="1" lang="en-US" altLang="zh-CN" b="1" i="1" dirty="0">
                    <a:ea typeface="楷体_GB2312" pitchFamily="49" charset="-122"/>
                  </a:rPr>
                  <a:t>U</a:t>
                </a:r>
                <a:r>
                  <a:rPr kumimoji="1" lang="zh-CN" altLang="en-US" b="1" dirty="0">
                    <a:ea typeface="楷体_GB2312" pitchFamily="49" charset="-122"/>
                  </a:rPr>
                  <a:t>及</a:t>
                </a:r>
                <a14:m>
                  <m:oMath xmlns:m="http://schemas.openxmlformats.org/officeDocument/2006/math">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𝛬</m:t>
                        </m:r>
                      </m:e>
                    </m:acc>
                  </m:oMath>
                </a14:m>
                <a:r>
                  <a:rPr kumimoji="1" lang="zh-CN" altLang="en-US" b="1" dirty="0">
                    <a:ea typeface="楷体_GB2312" pitchFamily="49" charset="-122"/>
                  </a:rPr>
                  <a:t>分别是矩阵</a:t>
                </a:r>
                <a14:m>
                  <m:oMath xmlns:m="http://schemas.openxmlformats.org/officeDocument/2006/math">
                    <m:sSup>
                      <m:sSupPr>
                        <m:ctrlPr>
                          <a:rPr lang="zh-CN" altLang="en-US" i="1">
                            <a:latin typeface="Cambria Math" panose="02040503050406030204" pitchFamily="18" charset="0"/>
                          </a:rPr>
                        </m:ctrlPr>
                      </m:sSupPr>
                      <m:e>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𝑊</m:t>
                            </m:r>
                          </m:sub>
                        </m:sSub>
                      </m:e>
                      <m:sup>
                        <m:r>
                          <a:rPr lang="zh-CN" altLang="en-US">
                            <a:latin typeface="Cambria Math" panose="02040503050406030204" pitchFamily="18" charset="0"/>
                          </a:rPr>
                          <m:t>−1</m:t>
                        </m:r>
                      </m:sup>
                    </m:sSup>
                    <m:nary>
                      <m:naryPr>
                        <m:chr m:val="∑"/>
                        <m:grow m:val="on"/>
                        <m:subHide m:val="on"/>
                        <m:supHide m:val="on"/>
                        <m:ctrlPr>
                          <a:rPr lang="zh-CN" altLang="en-US" i="1">
                            <a:latin typeface="Cambria Math" panose="02040503050406030204" pitchFamily="18" charset="0"/>
                          </a:rPr>
                        </m:ctrlPr>
                      </m:naryPr>
                      <m:sub/>
                      <m:sup/>
                      <m:e/>
                    </m:nary>
                  </m:oMath>
                </a14:m>
                <a:r>
                  <a:rPr kumimoji="1" lang="zh-CN" altLang="en-US" b="1" dirty="0">
                    <a:ea typeface="楷体_GB2312" pitchFamily="49" charset="-122"/>
                  </a:rPr>
                  <a:t>的特征矢量组成的矩阵及特征值组成的对角阵。</a:t>
                </a:r>
                <a:r>
                  <a:rPr kumimoji="1" lang="en-US" altLang="zh-CN" b="1" dirty="0"/>
                  <a:t> </a:t>
                </a:r>
              </a:p>
            </p:txBody>
          </p:sp>
        </mc:Choice>
        <mc:Fallback xmlns="">
          <p:sp>
            <p:nvSpPr>
              <p:cNvPr id="27" name="矩形 26"/>
              <p:cNvSpPr>
                <a:spLocks noRot="1" noChangeAspect="1" noMove="1" noResize="1" noEditPoints="1" noAdjustHandles="1" noChangeArrowheads="1" noChangeShapeType="1" noTextEdit="1"/>
              </p:cNvSpPr>
              <p:nvPr/>
            </p:nvSpPr>
            <p:spPr>
              <a:xfrm>
                <a:off x="2855903" y="6291077"/>
                <a:ext cx="8409387" cy="475708"/>
              </a:xfrm>
              <a:prstGeom prst="rect">
                <a:avLst/>
              </a:prstGeom>
              <a:blipFill>
                <a:blip r:embed="rId21"/>
                <a:stretch>
                  <a:fillRect l="-580" t="-78205" r="-290" b="-137179"/>
                </a:stretch>
              </a:blipFill>
            </p:spPr>
            <p:txBody>
              <a:bodyPr/>
              <a:lstStyle/>
              <a:p>
                <a:r>
                  <a:rPr lang="zh-CN" altLang="en-US">
                    <a:noFill/>
                  </a:rPr>
                  <a:t> </a:t>
                </a:r>
              </a:p>
            </p:txBody>
          </p:sp>
        </mc:Fallback>
      </mc:AlternateContent>
      <p:cxnSp>
        <p:nvCxnSpPr>
          <p:cNvPr id="32" name="直接连接符 31"/>
          <p:cNvCxnSpPr/>
          <p:nvPr/>
        </p:nvCxnSpPr>
        <p:spPr>
          <a:xfrm>
            <a:off x="7483490" y="2915021"/>
            <a:ext cx="0" cy="2395716"/>
          </a:xfrm>
          <a:prstGeom prst="line">
            <a:avLst/>
          </a:prstGeom>
          <a:ln w="31750">
            <a:prstDash val="dash"/>
            <a:tailEnd type="none"/>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9848806" y="1126279"/>
            <a:ext cx="2262158" cy="369332"/>
          </a:xfrm>
          <a:prstGeom prst="rect">
            <a:avLst/>
          </a:prstGeom>
        </p:spPr>
        <p:txBody>
          <a:bodyPr wrap="none">
            <a:spAutoFit/>
          </a:bodyPr>
          <a:lstStyle/>
          <a:p>
            <a:r>
              <a:rPr lang="zh-CN" altLang="en-US" dirty="0"/>
              <a:t>正定矩阵和单位矩阵</a:t>
            </a:r>
          </a:p>
        </p:txBody>
      </p:sp>
      <p:sp>
        <p:nvSpPr>
          <p:cNvPr id="3" name="文本框 2"/>
          <p:cNvSpPr txBox="1"/>
          <p:nvPr/>
        </p:nvSpPr>
        <p:spPr>
          <a:xfrm>
            <a:off x="11086091" y="4540728"/>
            <a:ext cx="971741" cy="461665"/>
          </a:xfrm>
          <a:prstGeom prst="rect">
            <a:avLst/>
          </a:prstGeom>
          <a:noFill/>
        </p:spPr>
        <p:txBody>
          <a:bodyPr wrap="none" rtlCol="0">
            <a:spAutoFit/>
          </a:bodyPr>
          <a:lstStyle/>
          <a:p>
            <a:r>
              <a:rPr lang="zh-CN" altLang="en-US" sz="2400" dirty="0"/>
              <a:t>（</a:t>
            </a:r>
            <a:r>
              <a:rPr lang="en-US" altLang="zh-CN" sz="2400" dirty="0"/>
              <a:t>2</a:t>
            </a:r>
            <a:r>
              <a:rPr lang="zh-CN" altLang="en-US" sz="2400" dirty="0"/>
              <a:t>）</a:t>
            </a:r>
          </a:p>
        </p:txBody>
      </p:sp>
      <p:sp>
        <p:nvSpPr>
          <p:cNvPr id="55" name="文本框 54"/>
          <p:cNvSpPr txBox="1"/>
          <p:nvPr/>
        </p:nvSpPr>
        <p:spPr>
          <a:xfrm>
            <a:off x="6445562" y="4460489"/>
            <a:ext cx="971741" cy="461665"/>
          </a:xfrm>
          <a:prstGeom prst="rect">
            <a:avLst/>
          </a:prstGeom>
          <a:noFill/>
        </p:spPr>
        <p:txBody>
          <a:bodyPr wrap="none" rtlCol="0">
            <a:spAutoFit/>
          </a:bodyPr>
          <a:lstStyle/>
          <a:p>
            <a:r>
              <a:rPr lang="zh-CN" altLang="en-US" sz="2400" dirty="0"/>
              <a:t>（</a:t>
            </a:r>
            <a:r>
              <a:rPr lang="en-US" altLang="zh-CN" sz="2400" dirty="0"/>
              <a:t>1</a:t>
            </a:r>
            <a:r>
              <a:rPr lang="zh-CN" altLang="en-US" sz="2400" dirty="0"/>
              <a:t>）</a:t>
            </a:r>
          </a:p>
        </p:txBody>
      </p:sp>
      <p:sp>
        <p:nvSpPr>
          <p:cNvPr id="56" name="标题 1"/>
          <p:cNvSpPr>
            <a:spLocks noGrp="1"/>
          </p:cNvSpPr>
          <p:nvPr>
            <p:ph type="title"/>
          </p:nvPr>
        </p:nvSpPr>
        <p:spPr>
          <a:xfrm>
            <a:off x="390670" y="159942"/>
            <a:ext cx="7507560" cy="563563"/>
          </a:xfrm>
        </p:spPr>
        <p:txBody>
          <a:bodyPr/>
          <a:lstStyle/>
          <a:p>
            <a:r>
              <a:rPr lang="en-US" altLang="zh-CN" sz="2800" dirty="0"/>
              <a:t>17.1 </a:t>
            </a:r>
            <a:r>
              <a:rPr lang="zh-CN" altLang="en-US" sz="2800" dirty="0"/>
              <a:t>基于类别可分离性判据的特征提取</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271152" y="1312013"/>
            <a:ext cx="5410200" cy="536575"/>
            <a:chOff x="249" y="98"/>
            <a:chExt cx="3408" cy="338"/>
          </a:xfrm>
        </p:grpSpPr>
        <p:sp>
          <p:nvSpPr>
            <p:cNvPr id="60436" name="Rectangle 3"/>
            <p:cNvSpPr>
              <a:spLocks noChangeArrowheads="1"/>
            </p:cNvSpPr>
            <p:nvPr/>
          </p:nvSpPr>
          <p:spPr bwMode="auto">
            <a:xfrm>
              <a:off x="249" y="98"/>
              <a:ext cx="783" cy="338"/>
            </a:xfrm>
            <a:prstGeom prst="rect">
              <a:avLst/>
            </a:prstGeom>
            <a:solidFill>
              <a:srgbClr val="FFFFFF"/>
            </a:solidFill>
            <a:ln w="9525">
              <a:noFill/>
              <a:miter lim="800000"/>
              <a:headEnd/>
              <a:tailEnd/>
            </a:ln>
          </p:spPr>
          <p:txBody>
            <a:bodyPr/>
            <a:lstStyle/>
            <a:p>
              <a:pPr marL="342900" indent="-342900">
                <a:lnSpc>
                  <a:spcPct val="110000"/>
                </a:lnSpc>
                <a:spcBef>
                  <a:spcPct val="20000"/>
                </a:spcBef>
                <a:buClr>
                  <a:schemeClr val="folHlink"/>
                </a:buClr>
                <a:buSzPct val="60000"/>
              </a:pPr>
              <a:r>
                <a:rPr lang="zh-CN" altLang="en-US" sz="2400" b="1" dirty="0">
                  <a:latin typeface="宋体" panose="02010600030101010101" pitchFamily="2" charset="-122"/>
                  <a:ea typeface="宋体" panose="02010600030101010101" pitchFamily="2" charset="-122"/>
                </a:rPr>
                <a:t>因为</a:t>
              </a:r>
            </a:p>
          </p:txBody>
        </p:sp>
        <p:graphicFrame>
          <p:nvGraphicFramePr>
            <p:cNvPr id="60424" name="Object 11"/>
            <p:cNvGraphicFramePr>
              <a:graphicFrameLocks noChangeAspect="1"/>
            </p:cNvGraphicFramePr>
            <p:nvPr>
              <p:extLst>
                <p:ext uri="{D42A27DB-BD31-4B8C-83A1-F6EECF244321}">
                  <p14:modId xmlns:p14="http://schemas.microsoft.com/office/powerpoint/2010/main" val="2982962799"/>
                </p:ext>
              </p:extLst>
            </p:nvPr>
          </p:nvGraphicFramePr>
          <p:xfrm>
            <a:off x="744" y="104"/>
            <a:ext cx="2913" cy="308"/>
          </p:xfrm>
          <a:graphic>
            <a:graphicData uri="http://schemas.openxmlformats.org/presentationml/2006/ole">
              <mc:AlternateContent xmlns:mc="http://schemas.openxmlformats.org/markup-compatibility/2006">
                <mc:Choice xmlns:v="urn:schemas-microsoft-com:vml" Requires="v">
                  <p:oleObj spid="_x0000_s353919" name="Equation" r:id="rId4" imgW="2247840" imgH="241200" progId="Equation.DSMT4">
                    <p:embed/>
                  </p:oleObj>
                </mc:Choice>
                <mc:Fallback>
                  <p:oleObj name="Equation" r:id="rId4" imgW="2247840" imgH="241200" progId="Equation.DSMT4">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4" y="104"/>
                          <a:ext cx="2913" cy="3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5"/>
          <p:cNvGrpSpPr>
            <a:grpSpLocks/>
          </p:cNvGrpSpPr>
          <p:nvPr/>
        </p:nvGrpSpPr>
        <p:grpSpPr bwMode="auto">
          <a:xfrm>
            <a:off x="932903" y="2551693"/>
            <a:ext cx="4406901" cy="820736"/>
            <a:chOff x="-227" y="991"/>
            <a:chExt cx="2776" cy="517"/>
          </a:xfrm>
        </p:grpSpPr>
        <p:graphicFrame>
          <p:nvGraphicFramePr>
            <p:cNvPr id="60423" name="Object 10"/>
            <p:cNvGraphicFramePr>
              <a:graphicFrameLocks noChangeAspect="1"/>
            </p:cNvGraphicFramePr>
            <p:nvPr>
              <p:extLst>
                <p:ext uri="{D42A27DB-BD31-4B8C-83A1-F6EECF244321}">
                  <p14:modId xmlns:p14="http://schemas.microsoft.com/office/powerpoint/2010/main" val="1503564631"/>
                </p:ext>
              </p:extLst>
            </p:nvPr>
          </p:nvGraphicFramePr>
          <p:xfrm>
            <a:off x="709" y="1219"/>
            <a:ext cx="1840" cy="289"/>
          </p:xfrm>
          <a:graphic>
            <a:graphicData uri="http://schemas.openxmlformats.org/presentationml/2006/ole">
              <mc:AlternateContent xmlns:mc="http://schemas.openxmlformats.org/markup-compatibility/2006">
                <mc:Choice xmlns:v="urn:schemas-microsoft-com:vml" Requires="v">
                  <p:oleObj spid="_x0000_s353920" name="Equation" r:id="rId6" imgW="1434960" imgH="228600" progId="Equation.DSMT4">
                    <p:embed/>
                  </p:oleObj>
                </mc:Choice>
                <mc:Fallback>
                  <p:oleObj name="Equation" r:id="rId6" imgW="1434960" imgH="228600" progId="Equation.DSMT4">
                    <p:embed/>
                    <p:pic>
                      <p:nvPicPr>
                        <p:cNvPr id="0" name="Object 10"/>
                        <p:cNvPicPr>
                          <a:picLocks noChangeAspect="1" noChangeArrowheads="1"/>
                        </p:cNvPicPr>
                        <p:nvPr/>
                      </p:nvPicPr>
                      <p:blipFill>
                        <a:blip r:embed="rId7"/>
                        <a:srcRect/>
                        <a:stretch>
                          <a:fillRect/>
                        </a:stretch>
                      </p:blipFill>
                      <p:spPr bwMode="auto">
                        <a:xfrm>
                          <a:off x="709" y="1219"/>
                          <a:ext cx="1840" cy="2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435" name="Rectangle 7"/>
            <p:cNvSpPr>
              <a:spLocks noChangeArrowheads="1"/>
            </p:cNvSpPr>
            <p:nvPr/>
          </p:nvSpPr>
          <p:spPr bwMode="auto">
            <a:xfrm>
              <a:off x="-227" y="991"/>
              <a:ext cx="2629" cy="409"/>
            </a:xfrm>
            <a:prstGeom prst="rect">
              <a:avLst/>
            </a:prstGeom>
            <a:noFill/>
            <a:ln w="9525">
              <a:noFill/>
              <a:miter lim="800000"/>
              <a:headEnd/>
              <a:tailEnd/>
            </a:ln>
          </p:spPr>
          <p:txBody>
            <a:bodyPr/>
            <a:lstStyle/>
            <a:p>
              <a:pPr marL="342900" indent="-342900">
                <a:lnSpc>
                  <a:spcPct val="110000"/>
                </a:lnSpc>
                <a:spcBef>
                  <a:spcPct val="20000"/>
                </a:spcBef>
                <a:buClr>
                  <a:schemeClr val="folHlink"/>
                </a:buClr>
                <a:buSzPct val="6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设</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b="1" baseline="-30000" dirty="0">
                  <a:latin typeface="Times New Roman" panose="02020603050405020304" pitchFamily="18" charset="0"/>
                  <a:ea typeface="宋体" panose="02010600030101010101" pitchFamily="2" charset="-122"/>
                  <a:cs typeface="Times New Roman" panose="02020603050405020304" pitchFamily="18" charset="0"/>
                </a:rPr>
                <a:t>W</a:t>
              </a:r>
              <a:r>
                <a:rPr lang="en-US" altLang="zh-CN" sz="2000" b="1" baseline="30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b="1" baseline="-30000"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的特征值对角矩阵</a:t>
              </a:r>
            </a:p>
          </p:txBody>
        </p:sp>
      </p:grpSp>
      <p:graphicFrame>
        <p:nvGraphicFramePr>
          <p:cNvPr id="60422" name="Object 9"/>
          <p:cNvGraphicFramePr>
            <a:graphicFrameLocks noChangeAspect="1"/>
          </p:cNvGraphicFramePr>
          <p:nvPr>
            <p:extLst>
              <p:ext uri="{D42A27DB-BD31-4B8C-83A1-F6EECF244321}">
                <p14:modId xmlns:p14="http://schemas.microsoft.com/office/powerpoint/2010/main" val="4163644314"/>
              </p:ext>
            </p:extLst>
          </p:nvPr>
        </p:nvGraphicFramePr>
        <p:xfrm>
          <a:off x="3472590" y="1871786"/>
          <a:ext cx="2619375" cy="488950"/>
        </p:xfrm>
        <a:graphic>
          <a:graphicData uri="http://schemas.openxmlformats.org/presentationml/2006/ole">
            <mc:AlternateContent xmlns:mc="http://schemas.openxmlformats.org/markup-compatibility/2006">
              <mc:Choice xmlns:v="urn:schemas-microsoft-com:vml" Requires="v">
                <p:oleObj spid="_x0000_s353921" name="Equation" r:id="rId8" imgW="1282680" imgH="241200" progId="Equation.DSMT4">
                  <p:embed/>
                </p:oleObj>
              </mc:Choice>
              <mc:Fallback>
                <p:oleObj name="Equation" r:id="rId8" imgW="1282680" imgH="241200" progId="Equation.DSMT4">
                  <p:embed/>
                  <p:pic>
                    <p:nvPicPr>
                      <p:cNvPr id="0" name="Object 9"/>
                      <p:cNvPicPr>
                        <a:picLocks noChangeAspect="1" noChangeArrowheads="1"/>
                      </p:cNvPicPr>
                      <p:nvPr/>
                    </p:nvPicPr>
                    <p:blipFill>
                      <a:blip r:embed="rId9"/>
                      <a:srcRect/>
                      <a:stretch>
                        <a:fillRect/>
                      </a:stretch>
                    </p:blipFill>
                    <p:spPr bwMode="auto">
                      <a:xfrm>
                        <a:off x="3472590" y="1871786"/>
                        <a:ext cx="2619375"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434" name="Rectangle 10"/>
          <p:cNvSpPr>
            <a:spLocks noChangeArrowheads="1"/>
          </p:cNvSpPr>
          <p:nvPr/>
        </p:nvSpPr>
        <p:spPr bwMode="auto">
          <a:xfrm>
            <a:off x="2532063" y="1881482"/>
            <a:ext cx="727526" cy="534988"/>
          </a:xfrm>
          <a:prstGeom prst="rect">
            <a:avLst/>
          </a:prstGeom>
          <a:solidFill>
            <a:srgbClr val="FFFFFF"/>
          </a:solidFill>
          <a:ln w="9525">
            <a:noFill/>
            <a:miter lim="800000"/>
            <a:headEnd/>
            <a:tailEnd/>
          </a:ln>
        </p:spPr>
        <p:txBody>
          <a:bodyPr/>
          <a:lstStyle/>
          <a:p>
            <a:pPr marL="342900" indent="-342900">
              <a:lnSpc>
                <a:spcPct val="110000"/>
              </a:lnSpc>
              <a:spcBef>
                <a:spcPct val="20000"/>
              </a:spcBef>
              <a:buClr>
                <a:schemeClr val="folHlink"/>
              </a:buClr>
              <a:buSzPct val="60000"/>
            </a:pPr>
            <a:r>
              <a:rPr lang="zh-CN" altLang="en-US" sz="2400" b="1" dirty="0">
                <a:latin typeface="Tahoma" pitchFamily="34" charset="0"/>
                <a:ea typeface="楷体_GB2312" pitchFamily="49" charset="-122"/>
              </a:rPr>
              <a:t>得：</a:t>
            </a:r>
          </a:p>
        </p:txBody>
      </p:sp>
      <p:grpSp>
        <p:nvGrpSpPr>
          <p:cNvPr id="5" name="Group 11"/>
          <p:cNvGrpSpPr>
            <a:grpSpLocks/>
          </p:cNvGrpSpPr>
          <p:nvPr/>
        </p:nvGrpSpPr>
        <p:grpSpPr bwMode="auto">
          <a:xfrm>
            <a:off x="3775863" y="4501712"/>
            <a:ext cx="1963738" cy="647700"/>
            <a:chOff x="548" y="1938"/>
            <a:chExt cx="1237" cy="408"/>
          </a:xfrm>
        </p:grpSpPr>
        <p:graphicFrame>
          <p:nvGraphicFramePr>
            <p:cNvPr id="60421" name="Object 8"/>
            <p:cNvGraphicFramePr>
              <a:graphicFrameLocks noChangeAspect="1"/>
            </p:cNvGraphicFramePr>
            <p:nvPr>
              <p:extLst>
                <p:ext uri="{D42A27DB-BD31-4B8C-83A1-F6EECF244321}">
                  <p14:modId xmlns:p14="http://schemas.microsoft.com/office/powerpoint/2010/main" val="1184103411"/>
                </p:ext>
              </p:extLst>
            </p:nvPr>
          </p:nvGraphicFramePr>
          <p:xfrm>
            <a:off x="923" y="1938"/>
            <a:ext cx="862" cy="266"/>
          </p:xfrm>
          <a:graphic>
            <a:graphicData uri="http://schemas.openxmlformats.org/presentationml/2006/ole">
              <mc:AlternateContent xmlns:mc="http://schemas.openxmlformats.org/markup-compatibility/2006">
                <mc:Choice xmlns:v="urn:schemas-microsoft-com:vml" Requires="v">
                  <p:oleObj spid="_x0000_s353922" r:id="rId10" imgW="647419" imgH="203112" progId="">
                    <p:embed/>
                  </p:oleObj>
                </mc:Choice>
                <mc:Fallback>
                  <p:oleObj r:id="rId10" imgW="647419" imgH="203112" progId="">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3" y="1938"/>
                          <a:ext cx="862" cy="2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433" name="Rectangle 13"/>
            <p:cNvSpPr>
              <a:spLocks noChangeArrowheads="1"/>
            </p:cNvSpPr>
            <p:nvPr/>
          </p:nvSpPr>
          <p:spPr bwMode="auto">
            <a:xfrm>
              <a:off x="548" y="1938"/>
              <a:ext cx="408" cy="408"/>
            </a:xfrm>
            <a:prstGeom prst="rect">
              <a:avLst/>
            </a:prstGeom>
            <a:solidFill>
              <a:srgbClr val="FFFFFF"/>
            </a:solidFill>
            <a:ln w="9525">
              <a:noFill/>
              <a:miter lim="800000"/>
              <a:headEnd/>
              <a:tailEnd/>
            </a:ln>
          </p:spPr>
          <p:txBody>
            <a:bodyPr/>
            <a:lstStyle/>
            <a:p>
              <a:pPr marL="342900" indent="-342900">
                <a:lnSpc>
                  <a:spcPct val="110000"/>
                </a:lnSpc>
                <a:spcBef>
                  <a:spcPct val="20000"/>
                </a:spcBef>
                <a:buClr>
                  <a:schemeClr val="folHlink"/>
                </a:buClr>
                <a:buSzPct val="60000"/>
              </a:pPr>
              <a:r>
                <a:rPr lang="zh-CN" altLang="en-US" sz="2400" b="1" dirty="0">
                  <a:latin typeface="宋体" panose="02010600030101010101" pitchFamily="2" charset="-122"/>
                  <a:ea typeface="宋体" panose="02010600030101010101" pitchFamily="2" charset="-122"/>
                </a:rPr>
                <a:t>则</a:t>
              </a:r>
            </a:p>
          </p:txBody>
        </p:sp>
      </p:grpSp>
      <p:sp>
        <p:nvSpPr>
          <p:cNvPr id="26" name="下箭头 25"/>
          <p:cNvSpPr>
            <a:spLocks noChangeArrowheads="1"/>
          </p:cNvSpPr>
          <p:nvPr/>
        </p:nvSpPr>
        <p:spPr bwMode="auto">
          <a:xfrm rot="16200000">
            <a:off x="6652498" y="1909862"/>
            <a:ext cx="484188" cy="417560"/>
          </a:xfrm>
          <a:prstGeom prst="downArrow">
            <a:avLst>
              <a:gd name="adj1" fmla="val 50000"/>
              <a:gd name="adj2" fmla="val 50000"/>
            </a:avLst>
          </a:prstGeom>
          <a:solidFill>
            <a:srgbClr val="92D050"/>
          </a:solidFill>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lstStyle/>
          <a:p>
            <a:endParaRPr lang="zh-CN" altLang="en-US"/>
          </a:p>
        </p:txBody>
      </p:sp>
      <p:graphicFrame>
        <p:nvGraphicFramePr>
          <p:cNvPr id="53273" name="Object 2"/>
          <p:cNvGraphicFramePr>
            <a:graphicFrameLocks noChangeAspect="1"/>
          </p:cNvGraphicFramePr>
          <p:nvPr>
            <p:extLst>
              <p:ext uri="{D42A27DB-BD31-4B8C-83A1-F6EECF244321}">
                <p14:modId xmlns:p14="http://schemas.microsoft.com/office/powerpoint/2010/main" val="4168846741"/>
              </p:ext>
            </p:extLst>
          </p:nvPr>
        </p:nvGraphicFramePr>
        <p:xfrm>
          <a:off x="6825704" y="2583455"/>
          <a:ext cx="4337050" cy="2724150"/>
        </p:xfrm>
        <a:graphic>
          <a:graphicData uri="http://schemas.openxmlformats.org/presentationml/2006/ole">
            <mc:AlternateContent xmlns:mc="http://schemas.openxmlformats.org/markup-compatibility/2006">
              <mc:Choice xmlns:v="urn:schemas-microsoft-com:vml" Requires="v">
                <p:oleObj spid="_x0000_s353923" name="Equation" r:id="rId12" imgW="2666880" imgH="1676160" progId="Equation.DSMT4">
                  <p:embed/>
                </p:oleObj>
              </mc:Choice>
              <mc:Fallback>
                <p:oleObj name="Equation" r:id="rId12" imgW="2666880" imgH="1676160" progId="Equation.DSMT4">
                  <p:embed/>
                  <p:pic>
                    <p:nvPicPr>
                      <p:cNvPr id="0" name="Object 2"/>
                      <p:cNvPicPr>
                        <a:picLocks noChangeAspect="1" noChangeArrowheads="1"/>
                      </p:cNvPicPr>
                      <p:nvPr/>
                    </p:nvPicPr>
                    <p:blipFill>
                      <a:blip r:embed="rId13"/>
                      <a:srcRect/>
                      <a:stretch>
                        <a:fillRect/>
                      </a:stretch>
                    </p:blipFill>
                    <p:spPr bwMode="auto">
                      <a:xfrm>
                        <a:off x="6825704" y="2583455"/>
                        <a:ext cx="4337050" cy="2724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74" name="Object 26"/>
          <p:cNvGraphicFramePr>
            <a:graphicFrameLocks noChangeAspect="1"/>
          </p:cNvGraphicFramePr>
          <p:nvPr>
            <p:extLst>
              <p:ext uri="{D42A27DB-BD31-4B8C-83A1-F6EECF244321}">
                <p14:modId xmlns:p14="http://schemas.microsoft.com/office/powerpoint/2010/main" val="94275881"/>
              </p:ext>
            </p:extLst>
          </p:nvPr>
        </p:nvGraphicFramePr>
        <p:xfrm>
          <a:off x="6944652" y="5393308"/>
          <a:ext cx="1093787" cy="427037"/>
        </p:xfrm>
        <a:graphic>
          <a:graphicData uri="http://schemas.openxmlformats.org/presentationml/2006/ole">
            <mc:AlternateContent xmlns:mc="http://schemas.openxmlformats.org/markup-compatibility/2006">
              <mc:Choice xmlns:v="urn:schemas-microsoft-com:vml" Requires="v">
                <p:oleObj spid="_x0000_s353924" name="Equation" r:id="rId14" imgW="469800" imgH="228600" progId="Equation.DSMT4">
                  <p:embed/>
                </p:oleObj>
              </mc:Choice>
              <mc:Fallback>
                <p:oleObj name="Equation" r:id="rId14" imgW="469800" imgH="228600" progId="Equation.DSMT4">
                  <p:embed/>
                  <p:pic>
                    <p:nvPicPr>
                      <p:cNvPr id="0" name="Object 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944652" y="5393308"/>
                        <a:ext cx="1093787"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 name="右箭头 26"/>
          <p:cNvSpPr>
            <a:spLocks noChangeArrowheads="1"/>
          </p:cNvSpPr>
          <p:nvPr/>
        </p:nvSpPr>
        <p:spPr bwMode="auto">
          <a:xfrm>
            <a:off x="6374061" y="5290720"/>
            <a:ext cx="285750" cy="484187"/>
          </a:xfrm>
          <a:prstGeom prst="rightArrow">
            <a:avLst>
              <a:gd name="adj1" fmla="val 50000"/>
              <a:gd name="adj2" fmla="val 50000"/>
            </a:avLst>
          </a:prstGeom>
          <a:solidFill>
            <a:srgbClr val="92D050"/>
          </a:solidFill>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wrap="none"/>
          <a:lstStyle/>
          <a:p>
            <a:endParaRPr lang="zh-CN" altLang="en-US"/>
          </a:p>
        </p:txBody>
      </p:sp>
      <p:sp>
        <p:nvSpPr>
          <p:cNvPr id="28" name="Rectangle 14"/>
          <p:cNvSpPr>
            <a:spLocks noChangeArrowheads="1"/>
          </p:cNvSpPr>
          <p:nvPr/>
        </p:nvSpPr>
        <p:spPr bwMode="auto">
          <a:xfrm>
            <a:off x="1992313" y="5522847"/>
            <a:ext cx="1079500" cy="603250"/>
          </a:xfrm>
          <a:prstGeom prst="rect">
            <a:avLst/>
          </a:prstGeom>
          <a:noFill/>
          <a:ln w="9525">
            <a:noFill/>
            <a:miter lim="800000"/>
            <a:headEnd/>
            <a:tailEnd/>
          </a:ln>
        </p:spPr>
        <p:txBody>
          <a:bodyPr/>
          <a:lstStyle/>
          <a:p>
            <a:pPr marL="342900" indent="-342900">
              <a:lnSpc>
                <a:spcPct val="110000"/>
              </a:lnSpc>
              <a:spcBef>
                <a:spcPct val="20000"/>
              </a:spcBef>
              <a:buClr>
                <a:schemeClr val="folHlink"/>
              </a:buClr>
              <a:buSzPct val="60000"/>
            </a:pPr>
            <a:r>
              <a:rPr lang="zh-CN" altLang="en-US" sz="2400" b="1" dirty="0">
                <a:latin typeface="宋体" panose="02010600030101010101" pitchFamily="2" charset="-122"/>
                <a:ea typeface="宋体" panose="02010600030101010101" pitchFamily="2" charset="-122"/>
              </a:rPr>
              <a:t>于是</a:t>
            </a:r>
          </a:p>
        </p:txBody>
      </p:sp>
      <p:graphicFrame>
        <p:nvGraphicFramePr>
          <p:cNvPr id="29" name="Object 2"/>
          <p:cNvGraphicFramePr>
            <a:graphicFrameLocks noChangeAspect="1"/>
          </p:cNvGraphicFramePr>
          <p:nvPr>
            <p:extLst>
              <p:ext uri="{D42A27DB-BD31-4B8C-83A1-F6EECF244321}">
                <p14:modId xmlns:p14="http://schemas.microsoft.com/office/powerpoint/2010/main" val="2355726764"/>
              </p:ext>
            </p:extLst>
          </p:nvPr>
        </p:nvGraphicFramePr>
        <p:xfrm>
          <a:off x="2568575" y="5681697"/>
          <a:ext cx="1263650" cy="995363"/>
        </p:xfrm>
        <a:graphic>
          <a:graphicData uri="http://schemas.openxmlformats.org/presentationml/2006/ole">
            <mc:AlternateContent xmlns:mc="http://schemas.openxmlformats.org/markup-compatibility/2006">
              <mc:Choice xmlns:v="urn:schemas-microsoft-com:vml" Requires="v">
                <p:oleObj spid="_x0000_s353925" name="Equation" r:id="rId16" imgW="596880" imgH="469800" progId="Equation.DSMT4">
                  <p:embed/>
                </p:oleObj>
              </mc:Choice>
              <mc:Fallback>
                <p:oleObj name="Equation" r:id="rId16" imgW="596880" imgH="469800" progId="Equation.DSMT4">
                  <p:embed/>
                  <p:pic>
                    <p:nvPicPr>
                      <p:cNvPr id="0" name="Picture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68575" y="5681697"/>
                        <a:ext cx="1263650" cy="995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 name="Object 3"/>
          <p:cNvGraphicFramePr>
            <a:graphicFrameLocks noChangeAspect="1"/>
          </p:cNvGraphicFramePr>
          <p:nvPr>
            <p:extLst>
              <p:ext uri="{D42A27DB-BD31-4B8C-83A1-F6EECF244321}">
                <p14:modId xmlns:p14="http://schemas.microsoft.com/office/powerpoint/2010/main" val="2684012854"/>
              </p:ext>
            </p:extLst>
          </p:nvPr>
        </p:nvGraphicFramePr>
        <p:xfrm>
          <a:off x="6169025" y="5897596"/>
          <a:ext cx="1758950" cy="552450"/>
        </p:xfrm>
        <a:graphic>
          <a:graphicData uri="http://schemas.openxmlformats.org/presentationml/2006/ole">
            <mc:AlternateContent xmlns:mc="http://schemas.openxmlformats.org/markup-compatibility/2006">
              <mc:Choice xmlns:v="urn:schemas-microsoft-com:vml" Requires="v">
                <p:oleObj spid="_x0000_s353926" name="Equation" r:id="rId18" imgW="888840" imgH="279360" progId="Equation.DSMT4">
                  <p:embed/>
                </p:oleObj>
              </mc:Choice>
              <mc:Fallback>
                <p:oleObj name="Equation" r:id="rId18" imgW="888840" imgH="279360" progId="Equation.DSMT4">
                  <p:embed/>
                  <p:pic>
                    <p:nvPicPr>
                      <p:cNvPr id="0" name="Object 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169025" y="5897596"/>
                        <a:ext cx="1758950"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 name="Object 4"/>
          <p:cNvGraphicFramePr>
            <a:graphicFrameLocks noChangeAspect="1"/>
          </p:cNvGraphicFramePr>
          <p:nvPr>
            <p:extLst>
              <p:ext uri="{D42A27DB-BD31-4B8C-83A1-F6EECF244321}">
                <p14:modId xmlns:p14="http://schemas.microsoft.com/office/powerpoint/2010/main" val="3988733888"/>
              </p:ext>
            </p:extLst>
          </p:nvPr>
        </p:nvGraphicFramePr>
        <p:xfrm>
          <a:off x="3805238" y="5897596"/>
          <a:ext cx="1198562" cy="560388"/>
        </p:xfrm>
        <a:graphic>
          <a:graphicData uri="http://schemas.openxmlformats.org/presentationml/2006/ole">
            <mc:AlternateContent xmlns:mc="http://schemas.openxmlformats.org/markup-compatibility/2006">
              <mc:Choice xmlns:v="urn:schemas-microsoft-com:vml" Requires="v">
                <p:oleObj spid="_x0000_s353927" name="Equation" r:id="rId20" imgW="596880" imgH="279360" progId="Equation.DSMT4">
                  <p:embed/>
                </p:oleObj>
              </mc:Choice>
              <mc:Fallback>
                <p:oleObj name="Equation" r:id="rId20" imgW="596880" imgH="279360" progId="Equation.DSMT4">
                  <p:embed/>
                  <p:pic>
                    <p:nvPicPr>
                      <p:cNvPr id="0" name="Object 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805238" y="5897596"/>
                        <a:ext cx="1198562" cy="56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 name="Object 5"/>
          <p:cNvGraphicFramePr>
            <a:graphicFrameLocks noChangeAspect="1"/>
          </p:cNvGraphicFramePr>
          <p:nvPr>
            <p:extLst>
              <p:ext uri="{D42A27DB-BD31-4B8C-83A1-F6EECF244321}">
                <p14:modId xmlns:p14="http://schemas.microsoft.com/office/powerpoint/2010/main" val="2992377610"/>
              </p:ext>
            </p:extLst>
          </p:nvPr>
        </p:nvGraphicFramePr>
        <p:xfrm>
          <a:off x="5029200" y="5897597"/>
          <a:ext cx="1125538" cy="576263"/>
        </p:xfrm>
        <a:graphic>
          <a:graphicData uri="http://schemas.openxmlformats.org/presentationml/2006/ole">
            <mc:AlternateContent xmlns:mc="http://schemas.openxmlformats.org/markup-compatibility/2006">
              <mc:Choice xmlns:v="urn:schemas-microsoft-com:vml" Requires="v">
                <p:oleObj spid="_x0000_s353928" name="Equation" r:id="rId22" imgW="545760" imgH="279360" progId="Equation.DSMT4">
                  <p:embed/>
                </p:oleObj>
              </mc:Choice>
              <mc:Fallback>
                <p:oleObj name="Equation" r:id="rId22" imgW="545760" imgH="279360" progId="Equation.DSMT4">
                  <p:embed/>
                  <p:pic>
                    <p:nvPicPr>
                      <p:cNvPr id="0" name="Object 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029200" y="5897597"/>
                        <a:ext cx="1125538"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 name="Object 6"/>
          <p:cNvGraphicFramePr>
            <a:graphicFrameLocks noChangeAspect="1"/>
          </p:cNvGraphicFramePr>
          <p:nvPr>
            <p:extLst>
              <p:ext uri="{D42A27DB-BD31-4B8C-83A1-F6EECF244321}">
                <p14:modId xmlns:p14="http://schemas.microsoft.com/office/powerpoint/2010/main" val="3054836535"/>
              </p:ext>
            </p:extLst>
          </p:nvPr>
        </p:nvGraphicFramePr>
        <p:xfrm>
          <a:off x="8832850" y="5754721"/>
          <a:ext cx="1479550" cy="781050"/>
        </p:xfrm>
        <a:graphic>
          <a:graphicData uri="http://schemas.openxmlformats.org/presentationml/2006/ole">
            <mc:AlternateContent xmlns:mc="http://schemas.openxmlformats.org/markup-compatibility/2006">
              <mc:Choice xmlns:v="urn:schemas-microsoft-com:vml" Requires="v">
                <p:oleObj spid="_x0000_s353929" name="Equation" r:id="rId24" imgW="698400" imgH="368280" progId="Equation.DSMT4">
                  <p:embed/>
                </p:oleObj>
              </mc:Choice>
              <mc:Fallback>
                <p:oleObj name="Equation" r:id="rId24" imgW="698400" imgH="368280" progId="Equation.DSMT4">
                  <p:embed/>
                  <p:pic>
                    <p:nvPicPr>
                      <p:cNvPr id="0" name="Object 6"/>
                      <p:cNvPicPr>
                        <a:picLocks noChangeAspect="1" noChangeArrowheads="1"/>
                      </p:cNvPicPr>
                      <p:nvPr/>
                    </p:nvPicPr>
                    <p:blipFill>
                      <a:blip r:embed="rId25"/>
                      <a:srcRect/>
                      <a:stretch>
                        <a:fillRect/>
                      </a:stretch>
                    </p:blipFill>
                    <p:spPr bwMode="auto">
                      <a:xfrm>
                        <a:off x="8832850" y="5754721"/>
                        <a:ext cx="147955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 name="Object 7"/>
          <p:cNvGraphicFramePr>
            <a:graphicFrameLocks noChangeAspect="1"/>
          </p:cNvGraphicFramePr>
          <p:nvPr>
            <p:extLst>
              <p:ext uri="{D42A27DB-BD31-4B8C-83A1-F6EECF244321}">
                <p14:modId xmlns:p14="http://schemas.microsoft.com/office/powerpoint/2010/main" val="4278751982"/>
              </p:ext>
            </p:extLst>
          </p:nvPr>
        </p:nvGraphicFramePr>
        <p:xfrm>
          <a:off x="7897813" y="5767422"/>
          <a:ext cx="889000" cy="779463"/>
        </p:xfrm>
        <a:graphic>
          <a:graphicData uri="http://schemas.openxmlformats.org/presentationml/2006/ole">
            <mc:AlternateContent xmlns:mc="http://schemas.openxmlformats.org/markup-compatibility/2006">
              <mc:Choice xmlns:v="urn:schemas-microsoft-com:vml" Requires="v">
                <p:oleObj spid="_x0000_s353930" name="Equation" r:id="rId26" imgW="419040" imgH="368280" progId="Equation.DSMT4">
                  <p:embed/>
                </p:oleObj>
              </mc:Choice>
              <mc:Fallback>
                <p:oleObj name="Equation" r:id="rId26" imgW="419040" imgH="368280" progId="Equation.DSMT4">
                  <p:embed/>
                  <p:pic>
                    <p:nvPicPr>
                      <p:cNvPr id="0" name="Object 7"/>
                      <p:cNvPicPr>
                        <a:picLocks noChangeAspect="1" noChangeArrowheads="1"/>
                      </p:cNvPicPr>
                      <p:nvPr/>
                    </p:nvPicPr>
                    <p:blipFill>
                      <a:blip r:embed="rId27"/>
                      <a:srcRect/>
                      <a:stretch>
                        <a:fillRect/>
                      </a:stretch>
                    </p:blipFill>
                    <p:spPr bwMode="auto">
                      <a:xfrm>
                        <a:off x="7897813" y="5767422"/>
                        <a:ext cx="889000"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 name="灯片编号占位符 34"/>
          <p:cNvSpPr>
            <a:spLocks noGrp="1"/>
          </p:cNvSpPr>
          <p:nvPr>
            <p:ph type="sldNum" sz="quarter" idx="11"/>
          </p:nvPr>
        </p:nvSpPr>
        <p:spPr/>
        <p:txBody>
          <a:bodyPr/>
          <a:lstStyle/>
          <a:p>
            <a:pPr>
              <a:defRPr/>
            </a:pPr>
            <a:fld id="{31E287EE-1289-4991-82CE-EFE584F53F4F}" type="slidenum">
              <a:rPr lang="en-US" altLang="zh-CN" smtClean="0"/>
              <a:pPr>
                <a:defRPr/>
              </a:pPr>
              <a:t>12</a:t>
            </a:fld>
            <a:endParaRPr lang="en-US" altLang="zh-CN" dirty="0"/>
          </a:p>
        </p:txBody>
      </p:sp>
      <p:sp>
        <p:nvSpPr>
          <p:cNvPr id="36" name="矩形 35"/>
          <p:cNvSpPr/>
          <p:nvPr/>
        </p:nvSpPr>
        <p:spPr>
          <a:xfrm>
            <a:off x="5339804" y="6480350"/>
            <a:ext cx="2278188" cy="369332"/>
          </a:xfrm>
          <a:prstGeom prst="rect">
            <a:avLst/>
          </a:prstGeom>
          <a:ln>
            <a:solidFill>
              <a:srgbClr val="FF0000"/>
            </a:solidFill>
          </a:ln>
        </p:spPr>
        <p:txBody>
          <a:bodyPr wrap="none">
            <a:spAutoFit/>
          </a:bodyPr>
          <a:lstStyle/>
          <a:p>
            <a:pPr latinLnBrk="1"/>
            <a:r>
              <a:rPr lang="zh-CN" altLang="en-US" b="1" dirty="0">
                <a:solidFill>
                  <a:srgbClr val="FF0000"/>
                </a:solidFill>
              </a:rPr>
              <a:t>相似变换行列式不变</a:t>
            </a:r>
          </a:p>
        </p:txBody>
      </p:sp>
      <p:sp>
        <p:nvSpPr>
          <p:cNvPr id="37" name="Text Box 11"/>
          <p:cNvSpPr txBox="1">
            <a:spLocks noChangeArrowheads="1"/>
          </p:cNvSpPr>
          <p:nvPr/>
        </p:nvSpPr>
        <p:spPr bwMode="auto">
          <a:xfrm>
            <a:off x="7927975" y="464958"/>
            <a:ext cx="5256213" cy="461963"/>
          </a:xfrm>
          <a:prstGeom prst="rect">
            <a:avLst/>
          </a:prstGeom>
          <a:noFill/>
          <a:ln w="9525">
            <a:noFill/>
            <a:miter lim="800000"/>
            <a:headEnd/>
            <a:tailEnd/>
          </a:ln>
        </p:spPr>
        <p:txBody>
          <a:bodyPr>
            <a:spAutoFit/>
          </a:bodyPr>
          <a:lstStyle/>
          <a:p>
            <a:pPr>
              <a:spcBef>
                <a:spcPct val="50000"/>
              </a:spcBef>
              <a:defRPr/>
            </a:pPr>
            <a:r>
              <a:rPr lang="zh-CN" altLang="en-US" sz="2400" b="1" dirty="0">
                <a:solidFill>
                  <a:srgbClr val="FF0000"/>
                </a:solidFill>
                <a:latin typeface="+mn-ea"/>
              </a:rPr>
              <a:t>行列式形式的判据</a:t>
            </a:r>
          </a:p>
        </p:txBody>
      </p:sp>
      <p:graphicFrame>
        <p:nvGraphicFramePr>
          <p:cNvPr id="39" name="Object 4"/>
          <p:cNvGraphicFramePr>
            <a:graphicFrameLocks noChangeAspect="1"/>
          </p:cNvGraphicFramePr>
          <p:nvPr>
            <p:extLst>
              <p:ext uri="{D42A27DB-BD31-4B8C-83A1-F6EECF244321}">
                <p14:modId xmlns:p14="http://schemas.microsoft.com/office/powerpoint/2010/main" val="4271254075"/>
              </p:ext>
            </p:extLst>
          </p:nvPr>
        </p:nvGraphicFramePr>
        <p:xfrm>
          <a:off x="8176201" y="1215380"/>
          <a:ext cx="2180294" cy="536849"/>
        </p:xfrm>
        <a:graphic>
          <a:graphicData uri="http://schemas.openxmlformats.org/presentationml/2006/ole">
            <mc:AlternateContent xmlns:mc="http://schemas.openxmlformats.org/markup-compatibility/2006">
              <mc:Choice xmlns:v="urn:schemas-microsoft-com:vml" Requires="v">
                <p:oleObj spid="_x0000_s353931" name="Equation" r:id="rId28" imgW="965160" imgH="241200" progId="Equation.DSMT4">
                  <p:embed/>
                </p:oleObj>
              </mc:Choice>
              <mc:Fallback>
                <p:oleObj name="Equation" r:id="rId28" imgW="965160" imgH="241200" progId="Equation.DSMT4">
                  <p:embed/>
                  <p:pic>
                    <p:nvPicPr>
                      <p:cNvPr id="54" name="Object 4"/>
                      <p:cNvPicPr>
                        <a:picLocks noChangeAspect="1" noChangeArrowheads="1"/>
                      </p:cNvPicPr>
                      <p:nvPr/>
                    </p:nvPicPr>
                    <p:blipFill>
                      <a:blip r:embed="rId29"/>
                      <a:srcRect/>
                      <a:stretch>
                        <a:fillRect/>
                      </a:stretch>
                    </p:blipFill>
                    <p:spPr bwMode="auto">
                      <a:xfrm>
                        <a:off x="8176201" y="1215380"/>
                        <a:ext cx="2180294" cy="536849"/>
                      </a:xfrm>
                      <a:prstGeom prst="rect">
                        <a:avLst/>
                      </a:prstGeom>
                      <a:solidFill>
                        <a:srgbClr val="FFFF00"/>
                      </a:solidFill>
                    </p:spPr>
                  </p:pic>
                </p:oleObj>
              </mc:Fallback>
            </mc:AlternateContent>
          </a:graphicData>
        </a:graphic>
      </p:graphicFrame>
      <p:sp>
        <p:nvSpPr>
          <p:cNvPr id="6" name="矩形 5"/>
          <p:cNvSpPr/>
          <p:nvPr/>
        </p:nvSpPr>
        <p:spPr>
          <a:xfrm>
            <a:off x="7364522" y="1294465"/>
            <a:ext cx="649537" cy="397032"/>
          </a:xfrm>
          <a:prstGeom prst="rect">
            <a:avLst/>
          </a:prstGeom>
        </p:spPr>
        <p:txBody>
          <a:bodyPr wrap="none">
            <a:spAutoFit/>
          </a:bodyPr>
          <a:lstStyle/>
          <a:p>
            <a:pPr marL="342900" indent="-342900">
              <a:lnSpc>
                <a:spcPct val="110000"/>
              </a:lnSpc>
              <a:spcBef>
                <a:spcPct val="20000"/>
              </a:spcBef>
              <a:buClr>
                <a:schemeClr val="folHlink"/>
              </a:buClr>
              <a:buSzPct val="60000"/>
            </a:pPr>
            <a:r>
              <a:rPr lang="zh-CN" altLang="en-US" b="1" dirty="0">
                <a:latin typeface="Tahoma" pitchFamily="34" charset="0"/>
                <a:ea typeface="楷体_GB2312" pitchFamily="49" charset="-122"/>
              </a:rPr>
              <a:t>代入</a:t>
            </a:r>
          </a:p>
        </p:txBody>
      </p:sp>
      <p:graphicFrame>
        <p:nvGraphicFramePr>
          <p:cNvPr id="40" name="Object 9"/>
          <p:cNvGraphicFramePr>
            <a:graphicFrameLocks noChangeAspect="1"/>
          </p:cNvGraphicFramePr>
          <p:nvPr>
            <p:extLst>
              <p:ext uri="{D42A27DB-BD31-4B8C-83A1-F6EECF244321}">
                <p14:modId xmlns:p14="http://schemas.microsoft.com/office/powerpoint/2010/main" val="1220918831"/>
              </p:ext>
            </p:extLst>
          </p:nvPr>
        </p:nvGraphicFramePr>
        <p:xfrm>
          <a:off x="7535863" y="1880610"/>
          <a:ext cx="2593975" cy="488950"/>
        </p:xfrm>
        <a:graphic>
          <a:graphicData uri="http://schemas.openxmlformats.org/presentationml/2006/ole">
            <mc:AlternateContent xmlns:mc="http://schemas.openxmlformats.org/markup-compatibility/2006">
              <mc:Choice xmlns:v="urn:schemas-microsoft-com:vml" Requires="v">
                <p:oleObj spid="_x0000_s353932" name="Equation" r:id="rId30" imgW="1269720" imgH="241200" progId="Equation.DSMT4">
                  <p:embed/>
                </p:oleObj>
              </mc:Choice>
              <mc:Fallback>
                <p:oleObj name="Equation" r:id="rId30" imgW="1269720" imgH="241200" progId="Equation.DSMT4">
                  <p:embed/>
                  <p:pic>
                    <p:nvPicPr>
                      <p:cNvPr id="60422" name="Object 9"/>
                      <p:cNvPicPr>
                        <a:picLocks noChangeAspect="1" noChangeArrowheads="1"/>
                      </p:cNvPicPr>
                      <p:nvPr/>
                    </p:nvPicPr>
                    <p:blipFill>
                      <a:blip r:embed="rId31"/>
                      <a:srcRect/>
                      <a:stretch>
                        <a:fillRect/>
                      </a:stretch>
                    </p:blipFill>
                    <p:spPr bwMode="auto">
                      <a:xfrm>
                        <a:off x="7535863" y="1880610"/>
                        <a:ext cx="2593975"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Object 4"/>
          <p:cNvGraphicFramePr>
            <a:graphicFrameLocks noChangeAspect="1"/>
          </p:cNvGraphicFramePr>
          <p:nvPr>
            <p:extLst>
              <p:ext uri="{D42A27DB-BD31-4B8C-83A1-F6EECF244321}">
                <p14:modId xmlns:p14="http://schemas.microsoft.com/office/powerpoint/2010/main" val="1452753929"/>
              </p:ext>
            </p:extLst>
          </p:nvPr>
        </p:nvGraphicFramePr>
        <p:xfrm>
          <a:off x="137187" y="832325"/>
          <a:ext cx="2180294" cy="536849"/>
        </p:xfrm>
        <a:graphic>
          <a:graphicData uri="http://schemas.openxmlformats.org/presentationml/2006/ole">
            <mc:AlternateContent xmlns:mc="http://schemas.openxmlformats.org/markup-compatibility/2006">
              <mc:Choice xmlns:v="urn:schemas-microsoft-com:vml" Requires="v">
                <p:oleObj spid="_x0000_s353933" name="Equation" r:id="rId32" imgW="965160" imgH="241200" progId="Equation.DSMT4">
                  <p:embed/>
                </p:oleObj>
              </mc:Choice>
              <mc:Fallback>
                <p:oleObj name="Equation" r:id="rId32" imgW="965160" imgH="241200" progId="Equation.DSMT4">
                  <p:embed/>
                  <p:pic>
                    <p:nvPicPr>
                      <p:cNvPr id="39" name="Object 4"/>
                      <p:cNvPicPr>
                        <a:picLocks noChangeAspect="1" noChangeArrowheads="1"/>
                      </p:cNvPicPr>
                      <p:nvPr/>
                    </p:nvPicPr>
                    <p:blipFill>
                      <a:blip r:embed="rId29"/>
                      <a:srcRect/>
                      <a:stretch>
                        <a:fillRect/>
                      </a:stretch>
                    </p:blipFill>
                    <p:spPr bwMode="auto">
                      <a:xfrm>
                        <a:off x="137187" y="832325"/>
                        <a:ext cx="2180294" cy="536849"/>
                      </a:xfrm>
                      <a:prstGeom prst="rect">
                        <a:avLst/>
                      </a:prstGeom>
                      <a:solidFill>
                        <a:srgbClr val="FFFF00"/>
                      </a:solidFill>
                    </p:spPr>
                  </p:pic>
                </p:oleObj>
              </mc:Fallback>
            </mc:AlternateContent>
          </a:graphicData>
        </a:graphic>
      </p:graphicFrame>
      <p:sp>
        <p:nvSpPr>
          <p:cNvPr id="10" name="下箭头 9"/>
          <p:cNvSpPr/>
          <p:nvPr/>
        </p:nvSpPr>
        <p:spPr>
          <a:xfrm>
            <a:off x="5410574" y="3223519"/>
            <a:ext cx="295094" cy="533102"/>
          </a:xfrm>
          <a:prstGeom prst="downArrow">
            <a:avLst/>
          </a:prstGeom>
          <a:solidFill>
            <a:schemeClr val="accent1">
              <a:lumMod val="60000"/>
              <a:lumOff val="40000"/>
            </a:schemeClr>
          </a:solidFill>
          <a:ln>
            <a:noFill/>
          </a:ln>
        </p:spPr>
        <p:txBody>
          <a:bodyPr wrap="square" rtlCol="0" anchor="ctr">
            <a:spAutoFit/>
          </a:bodyPr>
          <a:lstStyle/>
          <a:p>
            <a:pPr algn="ctr"/>
            <a:endParaRPr lang="zh-CN" altLang="en-US" sz="2400" kern="100" dirty="0">
              <a:ea typeface="宋体"/>
              <a:cs typeface="Times New Roman"/>
            </a:endParaRPr>
          </a:p>
        </p:txBody>
      </p:sp>
      <p:cxnSp>
        <p:nvCxnSpPr>
          <p:cNvPr id="42" name="直接连接符 41"/>
          <p:cNvCxnSpPr/>
          <p:nvPr/>
        </p:nvCxnSpPr>
        <p:spPr>
          <a:xfrm>
            <a:off x="6459840" y="2416470"/>
            <a:ext cx="24199" cy="2027904"/>
          </a:xfrm>
          <a:prstGeom prst="line">
            <a:avLst/>
          </a:prstGeom>
          <a:ln w="31750">
            <a:prstDash val="dash"/>
            <a:tailEnd type="none"/>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6176167" y="4597357"/>
            <a:ext cx="649537" cy="397032"/>
          </a:xfrm>
          <a:prstGeom prst="rect">
            <a:avLst/>
          </a:prstGeom>
        </p:spPr>
        <p:txBody>
          <a:bodyPr wrap="none">
            <a:spAutoFit/>
          </a:bodyPr>
          <a:lstStyle/>
          <a:p>
            <a:pPr marL="342900" indent="-342900">
              <a:lnSpc>
                <a:spcPct val="110000"/>
              </a:lnSpc>
              <a:spcBef>
                <a:spcPct val="20000"/>
              </a:spcBef>
              <a:buClr>
                <a:schemeClr val="folHlink"/>
              </a:buClr>
              <a:buSzPct val="60000"/>
            </a:pPr>
            <a:r>
              <a:rPr lang="zh-CN" altLang="en-US" b="1" dirty="0">
                <a:latin typeface="Tahoma" pitchFamily="34" charset="0"/>
                <a:ea typeface="楷体_GB2312" pitchFamily="49" charset="-122"/>
              </a:rPr>
              <a:t>代入</a:t>
            </a:r>
          </a:p>
        </p:txBody>
      </p:sp>
      <p:sp>
        <p:nvSpPr>
          <p:cNvPr id="45" name="下箭头 44"/>
          <p:cNvSpPr/>
          <p:nvPr/>
        </p:nvSpPr>
        <p:spPr>
          <a:xfrm>
            <a:off x="9581981" y="2226750"/>
            <a:ext cx="244704" cy="519708"/>
          </a:xfrm>
          <a:prstGeom prst="downArrow">
            <a:avLst/>
          </a:prstGeom>
          <a:ln/>
        </p:spPr>
        <p:style>
          <a:lnRef idx="1">
            <a:schemeClr val="accent2"/>
          </a:lnRef>
          <a:fillRef idx="2">
            <a:schemeClr val="accent2"/>
          </a:fillRef>
          <a:effectRef idx="1">
            <a:schemeClr val="accent2"/>
          </a:effectRef>
          <a:fontRef idx="minor">
            <a:schemeClr val="dk1"/>
          </a:fontRef>
        </p:style>
        <p:txBody>
          <a:bodyPr wrap="square" rtlCol="0" anchor="ctr">
            <a:spAutoFit/>
          </a:bodyPr>
          <a:lstStyle/>
          <a:p>
            <a:pPr algn="ctr"/>
            <a:endParaRPr lang="zh-CN" altLang="en-US" sz="2400" kern="100" dirty="0">
              <a:ea typeface="宋体"/>
              <a:cs typeface="Times New Roman"/>
            </a:endParaRPr>
          </a:p>
        </p:txBody>
      </p:sp>
      <mc:AlternateContent xmlns:mc="http://schemas.openxmlformats.org/markup-compatibility/2006" xmlns:a14="http://schemas.microsoft.com/office/drawing/2010/main">
        <mc:Choice Requires="a14">
          <p:sp>
            <p:nvSpPr>
              <p:cNvPr id="15" name="矩形 14"/>
              <p:cNvSpPr/>
              <p:nvPr/>
            </p:nvSpPr>
            <p:spPr>
              <a:xfrm>
                <a:off x="8264473" y="5398090"/>
                <a:ext cx="2951001" cy="369332"/>
              </a:xfrm>
              <a:prstGeom prst="rect">
                <a:avLst/>
              </a:prstGeom>
            </p:spPr>
            <p:txBody>
              <a:bodyPr wrap="none">
                <a:spAutoFit/>
              </a:bodyPr>
              <a:lstStyle/>
              <a:p>
                <a14:m>
                  <m:oMath xmlns:m="http://schemas.openxmlformats.org/officeDocument/2006/math">
                    <m:sSub>
                      <m:sSubPr>
                        <m:ctrlPr>
                          <a:rPr lang="zh-CN" altLang="en-US" i="1" smtClean="0">
                            <a:solidFill>
                              <a:srgbClr val="7030A0"/>
                            </a:solidFill>
                            <a:latin typeface="Cambria Math" panose="02040503050406030204" pitchFamily="18" charset="0"/>
                          </a:rPr>
                        </m:ctrlPr>
                      </m:sSubPr>
                      <m:e>
                        <m:sSub>
                          <m:sSubPr>
                            <m:ctrlPr>
                              <a:rPr lang="zh-CN" altLang="en-US" i="1">
                                <a:solidFill>
                                  <a:srgbClr val="7030A0"/>
                                </a:solidFill>
                                <a:latin typeface="Cambria Math" panose="02040503050406030204" pitchFamily="18" charset="0"/>
                              </a:rPr>
                            </m:ctrlPr>
                          </m:sSubPr>
                          <m:e>
                            <m:r>
                              <a:rPr lang="zh-CN" altLang="en-US" i="1">
                                <a:solidFill>
                                  <a:srgbClr val="7030A0"/>
                                </a:solidFill>
                                <a:latin typeface="Cambria Math" panose="02040503050406030204" pitchFamily="18" charset="0"/>
                              </a:rPr>
                              <m:t>𝑊</m:t>
                            </m:r>
                          </m:e>
                          <m:sub>
                            <m:r>
                              <a:rPr lang="zh-CN" altLang="en-US" i="1">
                                <a:solidFill>
                                  <a:srgbClr val="7030A0"/>
                                </a:solidFill>
                                <a:latin typeface="Cambria Math" panose="02040503050406030204" pitchFamily="18" charset="0"/>
                              </a:rPr>
                              <m:t>𝑒</m:t>
                            </m:r>
                          </m:sub>
                        </m:sSub>
                        <m:r>
                          <a:rPr lang="zh-CN" altLang="en-US" i="1">
                            <a:solidFill>
                              <a:srgbClr val="7030A0"/>
                            </a:solidFill>
                            <a:latin typeface="Cambria Math" panose="02040503050406030204" pitchFamily="18" charset="0"/>
                          </a:rPr>
                          <m:t>为</m:t>
                        </m:r>
                        <m:r>
                          <a:rPr lang="zh-CN" altLang="en-US" i="1">
                            <a:solidFill>
                              <a:srgbClr val="7030A0"/>
                            </a:solidFill>
                            <a:latin typeface="Cambria Math" panose="02040503050406030204" pitchFamily="18" charset="0"/>
                          </a:rPr>
                          <m:t>𝐽</m:t>
                        </m:r>
                      </m:e>
                      <m:sub>
                        <m:r>
                          <a:rPr lang="zh-CN" altLang="en-US">
                            <a:solidFill>
                              <a:srgbClr val="7030A0"/>
                            </a:solidFill>
                            <a:latin typeface="Cambria Math" panose="02040503050406030204" pitchFamily="18" charset="0"/>
                          </a:rPr>
                          <m:t>2</m:t>
                        </m:r>
                      </m:sub>
                    </m:sSub>
                    <m:r>
                      <a:rPr lang="zh-CN" altLang="en-US" i="1">
                        <a:solidFill>
                          <a:srgbClr val="7030A0"/>
                        </a:solidFill>
                        <a:latin typeface="Cambria Math" panose="02040503050406030204" pitchFamily="18" charset="0"/>
                      </a:rPr>
                      <m:t>推导过程中的</m:t>
                    </m:r>
                  </m:oMath>
                </a14:m>
                <a:r>
                  <a:rPr lang="zh-CN" altLang="en-US" dirty="0">
                    <a:solidFill>
                      <a:srgbClr val="7030A0"/>
                    </a:solidFill>
                  </a:rPr>
                  <a:t>正交阵</a:t>
                </a:r>
              </a:p>
            </p:txBody>
          </p:sp>
        </mc:Choice>
        <mc:Fallback xmlns="">
          <p:sp>
            <p:nvSpPr>
              <p:cNvPr id="15" name="矩形 14"/>
              <p:cNvSpPr>
                <a:spLocks noRot="1" noChangeAspect="1" noMove="1" noResize="1" noEditPoints="1" noAdjustHandles="1" noChangeArrowheads="1" noChangeShapeType="1" noTextEdit="1"/>
              </p:cNvSpPr>
              <p:nvPr/>
            </p:nvSpPr>
            <p:spPr>
              <a:xfrm>
                <a:off x="8264473" y="5398090"/>
                <a:ext cx="2951001" cy="369332"/>
              </a:xfrm>
              <a:prstGeom prst="rect">
                <a:avLst/>
              </a:prstGeom>
              <a:blipFill>
                <a:blip r:embed="rId33"/>
                <a:stretch>
                  <a:fillRect t="-10000" r="-1033" b="-26667"/>
                </a:stretch>
              </a:blipFill>
            </p:spPr>
            <p:txBody>
              <a:bodyPr/>
              <a:lstStyle/>
              <a:p>
                <a:r>
                  <a:rPr lang="zh-CN" altLang="en-US">
                    <a:noFill/>
                  </a:rPr>
                  <a:t> </a:t>
                </a:r>
              </a:p>
            </p:txBody>
          </p:sp>
        </mc:Fallback>
      </mc:AlternateContent>
      <p:sp>
        <p:nvSpPr>
          <p:cNvPr id="38" name="下箭头 37"/>
          <p:cNvSpPr/>
          <p:nvPr/>
        </p:nvSpPr>
        <p:spPr>
          <a:xfrm rot="16200000">
            <a:off x="6501730" y="4508650"/>
            <a:ext cx="158467" cy="963163"/>
          </a:xfrm>
          <a:prstGeom prst="downArrow">
            <a:avLst/>
          </a:prstGeom>
          <a:solidFill>
            <a:schemeClr val="accent1">
              <a:lumMod val="60000"/>
              <a:lumOff val="40000"/>
            </a:schemeClr>
          </a:solidFill>
          <a:ln>
            <a:noFill/>
          </a:ln>
        </p:spPr>
        <p:txBody>
          <a:bodyPr wrap="square" rtlCol="0" anchor="ctr">
            <a:spAutoFit/>
          </a:bodyPr>
          <a:lstStyle/>
          <a:p>
            <a:pPr algn="ctr"/>
            <a:endParaRPr lang="zh-CN" altLang="en-US" sz="2400" kern="100" dirty="0">
              <a:ea typeface="宋体"/>
              <a:cs typeface="Times New Roman"/>
            </a:endParaRPr>
          </a:p>
        </p:txBody>
      </p:sp>
      <p:sp>
        <p:nvSpPr>
          <p:cNvPr id="44" name="标题 1"/>
          <p:cNvSpPr>
            <a:spLocks noGrp="1"/>
          </p:cNvSpPr>
          <p:nvPr>
            <p:ph type="title"/>
          </p:nvPr>
        </p:nvSpPr>
        <p:spPr>
          <a:xfrm>
            <a:off x="390670" y="159942"/>
            <a:ext cx="7507560" cy="563563"/>
          </a:xfrm>
        </p:spPr>
        <p:txBody>
          <a:bodyPr/>
          <a:lstStyle/>
          <a:p>
            <a:r>
              <a:rPr lang="en-US" altLang="zh-CN" sz="2800" dirty="0"/>
              <a:t>17.1 </a:t>
            </a:r>
            <a:r>
              <a:rPr lang="zh-CN" altLang="en-US" sz="2800" dirty="0"/>
              <a:t>基于类别可分离性判据的特征提取</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50233" y="2613742"/>
            <a:ext cx="11593514" cy="2087563"/>
            <a:chOff x="-749" y="2948"/>
            <a:chExt cx="7303" cy="1315"/>
          </a:xfrm>
        </p:grpSpPr>
        <p:sp>
          <p:nvSpPr>
            <p:cNvPr id="48135" name="Rectangle 3"/>
            <p:cNvSpPr>
              <a:spLocks noChangeArrowheads="1"/>
            </p:cNvSpPr>
            <p:nvPr/>
          </p:nvSpPr>
          <p:spPr bwMode="auto">
            <a:xfrm>
              <a:off x="-749" y="2948"/>
              <a:ext cx="7303" cy="1315"/>
            </a:xfrm>
            <a:prstGeom prst="rect">
              <a:avLst/>
            </a:prstGeom>
            <a:solidFill>
              <a:srgbClr val="FFFFFF"/>
            </a:solidFill>
            <a:ln w="9525">
              <a:noFill/>
              <a:miter lim="800000"/>
              <a:headEnd/>
              <a:tailEnd/>
            </a:ln>
          </p:spPr>
          <p:txBody>
            <a:bodyPr/>
            <a:lstStyle/>
            <a:p>
              <a:pPr>
                <a:lnSpc>
                  <a:spcPct val="110000"/>
                </a:lnSpc>
                <a:spcBef>
                  <a:spcPct val="20000"/>
                </a:spcBef>
                <a:buClr>
                  <a:schemeClr val="folHlink"/>
                </a:buClr>
                <a:buSzPct val="60000"/>
                <a:buFont typeface="Wingdings" pitchFamily="2" charset="2"/>
                <a:buNone/>
                <a:defRPr/>
              </a:pPr>
              <a:r>
                <a:rPr kumimoji="1" lang="zh-CN" altLang="en-US" sz="2400" b="1" dirty="0">
                  <a:solidFill>
                    <a:srgbClr val="FF0000"/>
                  </a:solidFill>
                  <a:latin typeface="楷体_GB2312" pitchFamily="49" charset="-122"/>
                  <a:ea typeface="楷体_GB2312" pitchFamily="49" charset="-122"/>
                </a:rPr>
                <a:t>转换步骤</a:t>
              </a:r>
              <a:r>
                <a:rPr kumimoji="1" lang="zh-CN" altLang="en-US" sz="2400" b="1" dirty="0">
                  <a:latin typeface="楷体_GB2312" pitchFamily="49" charset="-122"/>
                  <a:ea typeface="楷体_GB2312" pitchFamily="49" charset="-122"/>
                </a:rPr>
                <a:t>：</a:t>
              </a:r>
              <a:r>
                <a:rPr lang="zh-CN" altLang="en-US" sz="2400" b="1" dirty="0">
                  <a:ea typeface="楷体_GB2312" pitchFamily="49" charset="-122"/>
                </a:rPr>
                <a:t>设</a:t>
              </a:r>
              <a:r>
                <a:rPr lang="en-US" altLang="zh-CN" sz="2400" b="1" i="1" dirty="0">
                  <a:ea typeface="楷体_GB2312" pitchFamily="49" charset="-122"/>
                </a:rPr>
                <a:t>U </a:t>
              </a:r>
              <a:r>
                <a:rPr lang="zh-CN" altLang="en-US" sz="2400" b="1" dirty="0">
                  <a:ea typeface="楷体_GB2312" pitchFamily="49" charset="-122"/>
                </a:rPr>
                <a:t>的各列已作适当调整，</a:t>
              </a:r>
              <a:r>
                <a:rPr lang="zh-CN" altLang="en-US" sz="2400" b="1" dirty="0">
                  <a:latin typeface="楷体_GB2312" pitchFamily="49" charset="-122"/>
                  <a:ea typeface="楷体_GB2312" pitchFamily="49" charset="-122"/>
                </a:rPr>
                <a:t>使</a:t>
              </a:r>
              <a:r>
                <a:rPr lang="en-US" altLang="zh-CN" sz="2400" b="1" dirty="0">
                  <a:latin typeface="楷体_GB2312" pitchFamily="49" charset="-122"/>
                  <a:ea typeface="楷体_GB2312" pitchFamily="49" charset="-122"/>
                </a:rPr>
                <a:t>S</a:t>
              </a:r>
              <a:r>
                <a:rPr lang="en-US" altLang="zh-CN" sz="2400" b="1" baseline="-30000" dirty="0">
                  <a:latin typeface="楷体_GB2312" pitchFamily="49" charset="-122"/>
                  <a:ea typeface="楷体_GB2312" pitchFamily="49" charset="-122"/>
                </a:rPr>
                <a:t>W</a:t>
              </a:r>
              <a:r>
                <a:rPr lang="en-US" altLang="zh-CN" sz="2400" b="1" baseline="30000" dirty="0">
                  <a:latin typeface="楷体_GB2312" pitchFamily="49" charset="-122"/>
                  <a:ea typeface="楷体_GB2312" pitchFamily="49" charset="-122"/>
                </a:rPr>
                <a:t>-1</a:t>
              </a:r>
              <a:r>
                <a:rPr lang="en-US" altLang="zh-CN" sz="2400" b="1" dirty="0">
                  <a:latin typeface="楷体_GB2312" pitchFamily="49" charset="-122"/>
                  <a:ea typeface="楷体_GB2312" pitchFamily="49" charset="-122"/>
                </a:rPr>
                <a:t>S</a:t>
              </a:r>
              <a:r>
                <a:rPr lang="en-US" altLang="zh-CN" sz="2400" b="1" baseline="-30000" dirty="0">
                  <a:latin typeface="楷体_GB2312" pitchFamily="49" charset="-122"/>
                  <a:ea typeface="楷体_GB2312" pitchFamily="49" charset="-122"/>
                </a:rPr>
                <a:t>B</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的特征值</a:t>
              </a:r>
              <a:r>
                <a:rPr lang="zh-CN" altLang="en-US" sz="2400" b="1" i="1" dirty="0">
                  <a:ea typeface="楷体_GB2312" pitchFamily="49" charset="-122"/>
                  <a:sym typeface="Symbol" pitchFamily="18" charset="2"/>
                </a:rPr>
                <a:t></a:t>
              </a:r>
              <a:r>
                <a:rPr lang="en-US" altLang="zh-CN" sz="2400" b="1" i="1" baseline="-25000" dirty="0">
                  <a:ea typeface="楷体_GB2312" pitchFamily="49" charset="-122"/>
                  <a:sym typeface="Symbol" pitchFamily="18" charset="2"/>
                </a:rPr>
                <a:t>1</a:t>
              </a:r>
              <a:r>
                <a:rPr lang="en-US" altLang="zh-CN" sz="2400" b="1" dirty="0">
                  <a:ea typeface="楷体_GB2312" pitchFamily="49" charset="-122"/>
                </a:rPr>
                <a:t> ≥ </a:t>
              </a:r>
              <a:r>
                <a:rPr lang="en-US" altLang="zh-CN" sz="2400" b="1" i="1" dirty="0">
                  <a:ea typeface="楷体_GB2312" pitchFamily="49" charset="-122"/>
                  <a:sym typeface="Symbol" pitchFamily="18" charset="2"/>
                </a:rPr>
                <a:t></a:t>
              </a:r>
              <a:r>
                <a:rPr lang="en-US" altLang="zh-CN" sz="2400" b="1" i="1" baseline="-25000" dirty="0">
                  <a:ea typeface="楷体_GB2312" pitchFamily="49" charset="-122"/>
                  <a:sym typeface="Symbol" pitchFamily="18" charset="2"/>
                </a:rPr>
                <a:t>2 </a:t>
              </a:r>
              <a:r>
                <a:rPr lang="en-US" altLang="zh-CN" sz="2400" b="1" dirty="0">
                  <a:ea typeface="楷体_GB2312" pitchFamily="49" charset="-122"/>
                </a:rPr>
                <a:t>≥… ≥ </a:t>
              </a:r>
              <a:r>
                <a:rPr lang="en-US" altLang="zh-CN" sz="2400" b="1" i="1" dirty="0">
                  <a:ea typeface="楷体_GB2312" pitchFamily="49" charset="-122"/>
                  <a:sym typeface="Symbol" pitchFamily="18" charset="2"/>
                </a:rPr>
                <a:t></a:t>
              </a:r>
              <a:r>
                <a:rPr lang="en-US" altLang="zh-CN" sz="2400" b="1" i="1" baseline="-25000" dirty="0">
                  <a:ea typeface="楷体_GB2312" pitchFamily="49" charset="-122"/>
                  <a:sym typeface="Symbol" pitchFamily="18" charset="2"/>
                </a:rPr>
                <a:t>D</a:t>
              </a:r>
              <a:r>
                <a:rPr lang="en-US" altLang="zh-CN" sz="2400" b="1" dirty="0">
                  <a:ea typeface="楷体_GB2312" pitchFamily="49" charset="-122"/>
                </a:rPr>
                <a:t> </a:t>
              </a:r>
              <a:r>
                <a:rPr lang="zh-CN" altLang="en-US" sz="2400" b="1" dirty="0">
                  <a:ea typeface="楷体_GB2312" pitchFamily="49" charset="-122"/>
                </a:rPr>
                <a:t>，对于给定的</a:t>
              </a:r>
              <a:r>
                <a:rPr lang="en-US" altLang="zh-CN" sz="2400" b="1" i="1" dirty="0">
                  <a:ea typeface="楷体_GB2312" pitchFamily="49" charset="-122"/>
                </a:rPr>
                <a:t>d</a:t>
              </a:r>
              <a:r>
                <a:rPr lang="zh-CN" altLang="en-US" sz="2400" b="1" dirty="0">
                  <a:ea typeface="楷体_GB2312" pitchFamily="49" charset="-122"/>
                </a:rPr>
                <a:t>，取前</a:t>
              </a:r>
              <a:r>
                <a:rPr lang="en-US" altLang="zh-CN" sz="2400" b="1" i="1" dirty="0">
                  <a:ea typeface="楷体_GB2312" pitchFamily="49" charset="-122"/>
                </a:rPr>
                <a:t>d</a:t>
              </a:r>
              <a:r>
                <a:rPr lang="zh-CN" altLang="en-US" sz="2400" b="1" dirty="0">
                  <a:ea typeface="楷体_GB2312" pitchFamily="49" charset="-122"/>
                </a:rPr>
                <a:t>个较大的特征值对应的特征矢量构造变换矩阵可使</a:t>
              </a:r>
              <a:r>
                <a:rPr lang="en-US" altLang="zh-CN" sz="2400" b="1" i="1" dirty="0">
                  <a:ea typeface="楷体_GB2312" pitchFamily="49" charset="-122"/>
                </a:rPr>
                <a:t>J</a:t>
              </a:r>
              <a:r>
                <a:rPr lang="en-US" altLang="zh-CN" sz="2400" b="1" i="1" baseline="-25000" dirty="0">
                  <a:ea typeface="楷体_GB2312" pitchFamily="49" charset="-122"/>
                </a:rPr>
                <a:t>5 </a:t>
              </a:r>
              <a:r>
                <a:rPr lang="zh-CN" altLang="en-US" sz="2400" b="1" dirty="0">
                  <a:ea typeface="楷体_GB2312" pitchFamily="49" charset="-122"/>
                </a:rPr>
                <a:t>取最大值，此时：</a:t>
              </a:r>
            </a:p>
          </p:txBody>
        </p:sp>
        <p:graphicFrame>
          <p:nvGraphicFramePr>
            <p:cNvPr id="62467" name="Object 3"/>
            <p:cNvGraphicFramePr>
              <a:graphicFrameLocks noChangeAspect="1"/>
            </p:cNvGraphicFramePr>
            <p:nvPr>
              <p:extLst>
                <p:ext uri="{D42A27DB-BD31-4B8C-83A1-F6EECF244321}">
                  <p14:modId xmlns:p14="http://schemas.microsoft.com/office/powerpoint/2010/main" val="3728177204"/>
                </p:ext>
              </p:extLst>
            </p:nvPr>
          </p:nvGraphicFramePr>
          <p:xfrm>
            <a:off x="1928" y="3457"/>
            <a:ext cx="1567" cy="499"/>
          </p:xfrm>
          <a:graphic>
            <a:graphicData uri="http://schemas.openxmlformats.org/presentationml/2006/ole">
              <mc:AlternateContent xmlns:mc="http://schemas.openxmlformats.org/markup-compatibility/2006">
                <mc:Choice xmlns:v="urn:schemas-microsoft-com:vml" Requires="v">
                  <p:oleObj spid="_x0000_s368716" name="Equation" r:id="rId4" imgW="799920" imgH="253800" progId="Equation.DSMT4">
                    <p:embed/>
                  </p:oleObj>
                </mc:Choice>
                <mc:Fallback>
                  <p:oleObj name="Equation" r:id="rId4" imgW="799920" imgH="2538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8" y="3457"/>
                          <a:ext cx="1567" cy="4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 name="灯片编号占位符 6"/>
          <p:cNvSpPr>
            <a:spLocks noGrp="1"/>
          </p:cNvSpPr>
          <p:nvPr>
            <p:ph type="sldNum" sz="quarter" idx="11"/>
          </p:nvPr>
        </p:nvSpPr>
        <p:spPr/>
        <p:txBody>
          <a:bodyPr/>
          <a:lstStyle/>
          <a:p>
            <a:pPr>
              <a:defRPr/>
            </a:pPr>
            <a:fld id="{31E287EE-1289-4991-82CE-EFE584F53F4F}" type="slidenum">
              <a:rPr lang="en-US" altLang="zh-CN" smtClean="0"/>
              <a:pPr>
                <a:defRPr/>
              </a:pPr>
              <a:t>13</a:t>
            </a:fld>
            <a:endParaRPr lang="en-US" altLang="zh-CN" dirty="0"/>
          </a:p>
        </p:txBody>
      </p:sp>
      <p:sp>
        <p:nvSpPr>
          <p:cNvPr id="9" name="Text Box 11"/>
          <p:cNvSpPr txBox="1">
            <a:spLocks noChangeArrowheads="1"/>
          </p:cNvSpPr>
          <p:nvPr/>
        </p:nvSpPr>
        <p:spPr bwMode="auto">
          <a:xfrm>
            <a:off x="7414054" y="423688"/>
            <a:ext cx="5256213" cy="461963"/>
          </a:xfrm>
          <a:prstGeom prst="rect">
            <a:avLst/>
          </a:prstGeom>
          <a:noFill/>
          <a:ln w="9525">
            <a:noFill/>
            <a:miter lim="800000"/>
            <a:headEnd/>
            <a:tailEnd/>
          </a:ln>
        </p:spPr>
        <p:txBody>
          <a:bodyPr>
            <a:spAutoFit/>
          </a:bodyPr>
          <a:lstStyle/>
          <a:p>
            <a:pPr>
              <a:spcBef>
                <a:spcPct val="50000"/>
              </a:spcBef>
              <a:defRPr/>
            </a:pPr>
            <a:r>
              <a:rPr lang="zh-CN" altLang="en-US" sz="2400" b="1" dirty="0">
                <a:solidFill>
                  <a:srgbClr val="FF0000"/>
                </a:solidFill>
                <a:latin typeface="+mn-ea"/>
              </a:rPr>
              <a:t>行列式形式的判据</a:t>
            </a:r>
          </a:p>
        </p:txBody>
      </p:sp>
      <p:graphicFrame>
        <p:nvGraphicFramePr>
          <p:cNvPr id="62466" name="Object 2"/>
          <p:cNvGraphicFramePr>
            <a:graphicFrameLocks noChangeAspect="1"/>
          </p:cNvGraphicFramePr>
          <p:nvPr>
            <p:extLst>
              <p:ext uri="{D42A27DB-BD31-4B8C-83A1-F6EECF244321}">
                <p14:modId xmlns:p14="http://schemas.microsoft.com/office/powerpoint/2010/main" val="2105551556"/>
              </p:ext>
            </p:extLst>
          </p:nvPr>
        </p:nvGraphicFramePr>
        <p:xfrm>
          <a:off x="1811203" y="1294577"/>
          <a:ext cx="7534275" cy="946150"/>
        </p:xfrm>
        <a:graphic>
          <a:graphicData uri="http://schemas.openxmlformats.org/presentationml/2006/ole">
            <mc:AlternateContent xmlns:mc="http://schemas.openxmlformats.org/markup-compatibility/2006">
              <mc:Choice xmlns:v="urn:schemas-microsoft-com:vml" Requires="v">
                <p:oleObj spid="_x0000_s368717" name="Equation" r:id="rId6" imgW="3720960" imgH="469800" progId="Equation.DSMT4">
                  <p:embed/>
                </p:oleObj>
              </mc:Choice>
              <mc:Fallback>
                <p:oleObj name="Equation" r:id="rId6" imgW="3720960" imgH="469800" progId="Equation.DSMT4">
                  <p:embed/>
                  <p:pic>
                    <p:nvPicPr>
                      <p:cNvPr id="0" name="Object 2"/>
                      <p:cNvPicPr>
                        <a:picLocks noChangeAspect="1" noChangeArrowheads="1"/>
                      </p:cNvPicPr>
                      <p:nvPr/>
                    </p:nvPicPr>
                    <p:blipFill>
                      <a:blip r:embed="rId7"/>
                      <a:srcRect/>
                      <a:stretch>
                        <a:fillRect/>
                      </a:stretch>
                    </p:blipFill>
                    <p:spPr bwMode="auto">
                      <a:xfrm>
                        <a:off x="1811203" y="1294577"/>
                        <a:ext cx="7534275" cy="946150"/>
                      </a:xfrm>
                      <a:prstGeom prst="rect">
                        <a:avLst/>
                      </a:prstGeom>
                      <a:solidFill>
                        <a:schemeClr val="bg1"/>
                      </a:solidFill>
                    </p:spPr>
                  </p:pic>
                </p:oleObj>
              </mc:Fallback>
            </mc:AlternateContent>
          </a:graphicData>
        </a:graphic>
      </p:graphicFrame>
      <p:sp>
        <p:nvSpPr>
          <p:cNvPr id="16" name="内容占位符 2"/>
          <p:cNvSpPr txBox="1">
            <a:spLocks/>
          </p:cNvSpPr>
          <p:nvPr/>
        </p:nvSpPr>
        <p:spPr bwMode="gray">
          <a:xfrm>
            <a:off x="1817890" y="4614253"/>
            <a:ext cx="8458200" cy="193936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50000"/>
              </a:lnSpc>
              <a:spcBef>
                <a:spcPts val="0"/>
              </a:spcBef>
              <a:buNone/>
            </a:pPr>
            <a:r>
              <a:rPr lang="zh-CN" altLang="en-US" sz="2000" b="1" kern="0" dirty="0">
                <a:solidFill>
                  <a:srgbClr val="0000FF"/>
                </a:solidFill>
                <a:latin typeface="宋体" pitchFamily="2" charset="-122"/>
                <a:ea typeface="宋体" pitchFamily="2" charset="-122"/>
              </a:rPr>
              <a:t>结论：</a:t>
            </a:r>
            <a:r>
              <a:rPr lang="zh-CN" altLang="en-US" sz="2000" b="1" kern="0" dirty="0">
                <a:latin typeface="宋体" pitchFamily="2" charset="-122"/>
                <a:ea typeface="宋体" pitchFamily="2" charset="-122"/>
              </a:rPr>
              <a:t>设矩阵      的特征值为              ，且	 </a:t>
            </a:r>
          </a:p>
          <a:p>
            <a:pPr marL="0" indent="0">
              <a:lnSpc>
                <a:spcPct val="150000"/>
              </a:lnSpc>
              <a:spcBef>
                <a:spcPts val="0"/>
              </a:spcBef>
              <a:buNone/>
            </a:pPr>
            <a:r>
              <a:rPr lang="zh-CN" altLang="en-US" sz="2000" b="1" kern="0" dirty="0">
                <a:latin typeface="宋体" pitchFamily="2" charset="-122"/>
                <a:ea typeface="宋体" pitchFamily="2" charset="-122"/>
              </a:rPr>
              <a:t>	选前</a:t>
            </a:r>
            <a:r>
              <a:rPr lang="en-US" altLang="zh-CN" sz="2000" b="1" kern="0" dirty="0">
                <a:latin typeface="宋体" pitchFamily="2" charset="-122"/>
                <a:ea typeface="宋体" pitchFamily="2" charset="-122"/>
              </a:rPr>
              <a:t>d </a:t>
            </a:r>
            <a:r>
              <a:rPr lang="zh-CN" altLang="en-US" sz="2000" b="1" kern="0" dirty="0">
                <a:latin typeface="宋体" pitchFamily="2" charset="-122"/>
                <a:ea typeface="宋体" pitchFamily="2" charset="-122"/>
              </a:rPr>
              <a:t>个特征值对应的特征向量   ，   ，</a:t>
            </a:r>
            <a:r>
              <a:rPr lang="en-US" altLang="zh-CN" sz="2000" b="1" kern="0" dirty="0">
                <a:latin typeface="宋体" pitchFamily="2" charset="-122"/>
                <a:ea typeface="宋体" pitchFamily="2" charset="-122"/>
              </a:rPr>
              <a:t>…</a:t>
            </a:r>
            <a:r>
              <a:rPr lang="zh-CN" altLang="en-US" sz="2000" b="1" kern="0" dirty="0">
                <a:latin typeface="宋体" pitchFamily="2" charset="-122"/>
                <a:ea typeface="宋体" pitchFamily="2" charset="-122"/>
              </a:rPr>
              <a:t>，   组成矩阵</a:t>
            </a:r>
          </a:p>
          <a:p>
            <a:pPr marL="0" indent="0">
              <a:lnSpc>
                <a:spcPct val="150000"/>
              </a:lnSpc>
              <a:spcBef>
                <a:spcPts val="0"/>
              </a:spcBef>
              <a:buNone/>
            </a:pPr>
            <a:r>
              <a:rPr lang="zh-CN" altLang="en-US" sz="2000" b="1" kern="0" dirty="0">
                <a:latin typeface="宋体" pitchFamily="2" charset="-122"/>
                <a:ea typeface="宋体" pitchFamily="2" charset="-122"/>
              </a:rPr>
              <a:t>	                          </a:t>
            </a:r>
          </a:p>
          <a:p>
            <a:pPr marL="0" indent="0">
              <a:lnSpc>
                <a:spcPct val="150000"/>
              </a:lnSpc>
              <a:spcBef>
                <a:spcPts val="0"/>
              </a:spcBef>
              <a:buNone/>
            </a:pPr>
            <a:r>
              <a:rPr lang="zh-CN" altLang="en-US" sz="2000" b="1" kern="0" dirty="0">
                <a:latin typeface="宋体" pitchFamily="2" charset="-122"/>
                <a:ea typeface="宋体" pitchFamily="2" charset="-122"/>
              </a:rPr>
              <a:t>     就是上述准则下的最佳变换阵。</a:t>
            </a:r>
          </a:p>
        </p:txBody>
      </p:sp>
      <p:graphicFrame>
        <p:nvGraphicFramePr>
          <p:cNvPr id="17" name="对象 16"/>
          <p:cNvGraphicFramePr>
            <a:graphicFrameLocks noChangeAspect="1"/>
          </p:cNvGraphicFramePr>
          <p:nvPr>
            <p:extLst>
              <p:ext uri="{D42A27DB-BD31-4B8C-83A1-F6EECF244321}">
                <p14:modId xmlns:p14="http://schemas.microsoft.com/office/powerpoint/2010/main" val="286899513"/>
              </p:ext>
            </p:extLst>
          </p:nvPr>
        </p:nvGraphicFramePr>
        <p:xfrm>
          <a:off x="3467630" y="4669222"/>
          <a:ext cx="757786" cy="476672"/>
        </p:xfrm>
        <a:graphic>
          <a:graphicData uri="http://schemas.openxmlformats.org/presentationml/2006/ole">
            <mc:AlternateContent xmlns:mc="http://schemas.openxmlformats.org/markup-compatibility/2006">
              <mc:Choice xmlns:v="urn:schemas-microsoft-com:vml" Requires="v">
                <p:oleObj spid="_x0000_s368718" name="Equation" r:id="rId8" imgW="380835" imgH="241195" progId="Equation.DSMT4">
                  <p:embed/>
                </p:oleObj>
              </mc:Choice>
              <mc:Fallback>
                <p:oleObj name="Equation" r:id="rId8" imgW="380835" imgH="241195" progId="Equation.DSMT4">
                  <p:embed/>
                  <p:pic>
                    <p:nvPicPr>
                      <p:cNvPr id="6" name="对象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67630" y="4669222"/>
                        <a:ext cx="757786" cy="476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3971291369"/>
              </p:ext>
            </p:extLst>
          </p:nvPr>
        </p:nvGraphicFramePr>
        <p:xfrm>
          <a:off x="5531279" y="4641838"/>
          <a:ext cx="1793847" cy="504056"/>
        </p:xfrm>
        <a:graphic>
          <a:graphicData uri="http://schemas.openxmlformats.org/presentationml/2006/ole">
            <mc:AlternateContent xmlns:mc="http://schemas.openxmlformats.org/markup-compatibility/2006">
              <mc:Choice xmlns:v="urn:schemas-microsoft-com:vml" Requires="v">
                <p:oleObj spid="_x0000_s368719" name="Equation" r:id="rId10" imgW="812447" imgH="228501" progId="Equation.DSMT4">
                  <p:embed/>
                </p:oleObj>
              </mc:Choice>
              <mc:Fallback>
                <p:oleObj name="Equation" r:id="rId10" imgW="812447" imgH="228501" progId="Equation.DSMT4">
                  <p:embed/>
                  <p:pic>
                    <p:nvPicPr>
                      <p:cNvPr id="8" name="对象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31279" y="4641838"/>
                        <a:ext cx="1793847"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670401020"/>
              </p:ext>
            </p:extLst>
          </p:nvPr>
        </p:nvGraphicFramePr>
        <p:xfrm>
          <a:off x="7970546" y="4669222"/>
          <a:ext cx="2071615" cy="432048"/>
        </p:xfrm>
        <a:graphic>
          <a:graphicData uri="http://schemas.openxmlformats.org/presentationml/2006/ole">
            <mc:AlternateContent xmlns:mc="http://schemas.openxmlformats.org/markup-compatibility/2006">
              <mc:Choice xmlns:v="urn:schemas-microsoft-com:vml" Requires="v">
                <p:oleObj spid="_x0000_s368720" name="Equation" r:id="rId12" imgW="1066337" imgH="215806" progId="Equation.DSMT4">
                  <p:embed/>
                </p:oleObj>
              </mc:Choice>
              <mc:Fallback>
                <p:oleObj name="Equation" r:id="rId12" imgW="1066337" imgH="215806" progId="Equation.DSMT4">
                  <p:embed/>
                  <p:pic>
                    <p:nvPicPr>
                      <p:cNvPr id="10" name="对象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970546" y="4669222"/>
                        <a:ext cx="2071615"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3574952661"/>
              </p:ext>
            </p:extLst>
          </p:nvPr>
        </p:nvGraphicFramePr>
        <p:xfrm>
          <a:off x="4799856" y="5606590"/>
          <a:ext cx="2160240" cy="456051"/>
        </p:xfrm>
        <a:graphic>
          <a:graphicData uri="http://schemas.openxmlformats.org/presentationml/2006/ole">
            <mc:AlternateContent xmlns:mc="http://schemas.openxmlformats.org/markup-compatibility/2006">
              <mc:Choice xmlns:v="urn:schemas-microsoft-com:vml" Requires="v">
                <p:oleObj spid="_x0000_s368721" name="Equation" r:id="rId14" imgW="1104900" imgH="228600" progId="Equation.DSMT4">
                  <p:embed/>
                </p:oleObj>
              </mc:Choice>
              <mc:Fallback>
                <p:oleObj name="Equation" r:id="rId14" imgW="1104900" imgH="228600" progId="Equation.DSMT4">
                  <p:embed/>
                  <p:pic>
                    <p:nvPicPr>
                      <p:cNvPr id="20" name="对象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99856" y="5606590"/>
                        <a:ext cx="2160240" cy="456051"/>
                      </a:xfrm>
                      <a:prstGeom prst="rect">
                        <a:avLst/>
                      </a:prstGeom>
                      <a:noFill/>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434531999"/>
              </p:ext>
            </p:extLst>
          </p:nvPr>
        </p:nvGraphicFramePr>
        <p:xfrm>
          <a:off x="6484101" y="5094501"/>
          <a:ext cx="323528" cy="476672"/>
        </p:xfrm>
        <a:graphic>
          <a:graphicData uri="http://schemas.openxmlformats.org/presentationml/2006/ole">
            <mc:AlternateContent xmlns:mc="http://schemas.openxmlformats.org/markup-compatibility/2006">
              <mc:Choice xmlns:v="urn:schemas-microsoft-com:vml" Requires="v">
                <p:oleObj spid="_x0000_s368722" name="Equation" r:id="rId16" imgW="152268" imgH="215713" progId="Equation.DSMT4">
                  <p:embed/>
                </p:oleObj>
              </mc:Choice>
              <mc:Fallback>
                <p:oleObj name="Equation" r:id="rId16" imgW="152268" imgH="215713" progId="Equation.DSMT4">
                  <p:embed/>
                  <p:pic>
                    <p:nvPicPr>
                      <p:cNvPr id="14" name="对象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484101" y="5094501"/>
                        <a:ext cx="323528" cy="476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146906217"/>
              </p:ext>
            </p:extLst>
          </p:nvPr>
        </p:nvGraphicFramePr>
        <p:xfrm>
          <a:off x="6988157" y="5094501"/>
          <a:ext cx="395536" cy="476672"/>
        </p:xfrm>
        <a:graphic>
          <a:graphicData uri="http://schemas.openxmlformats.org/presentationml/2006/ole">
            <mc:AlternateContent xmlns:mc="http://schemas.openxmlformats.org/markup-compatibility/2006">
              <mc:Choice xmlns:v="urn:schemas-microsoft-com:vml" Requires="v">
                <p:oleObj spid="_x0000_s368723" name="Equation" r:id="rId18" imgW="177569" imgH="215619" progId="Equation.DSMT4">
                  <p:embed/>
                </p:oleObj>
              </mc:Choice>
              <mc:Fallback>
                <p:oleObj name="Equation" r:id="rId18" imgW="177569" imgH="215619" progId="Equation.DSMT4">
                  <p:embed/>
                  <p:pic>
                    <p:nvPicPr>
                      <p:cNvPr id="16" name="对象 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988157" y="5094501"/>
                        <a:ext cx="395536" cy="476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2043324382"/>
              </p:ext>
            </p:extLst>
          </p:nvPr>
        </p:nvGraphicFramePr>
        <p:xfrm>
          <a:off x="8140285" y="5109475"/>
          <a:ext cx="432048" cy="533706"/>
        </p:xfrm>
        <a:graphic>
          <a:graphicData uri="http://schemas.openxmlformats.org/presentationml/2006/ole">
            <mc:AlternateContent xmlns:mc="http://schemas.openxmlformats.org/markup-compatibility/2006">
              <mc:Choice xmlns:v="urn:schemas-microsoft-com:vml" Requires="v">
                <p:oleObj spid="_x0000_s368724" name="Equation" r:id="rId20" imgW="190500" imgH="228600" progId="Equation.DSMT4">
                  <p:embed/>
                </p:oleObj>
              </mc:Choice>
              <mc:Fallback>
                <p:oleObj name="Equation" r:id="rId20" imgW="190500" imgH="228600" progId="Equation.DSMT4">
                  <p:embed/>
                  <p:pic>
                    <p:nvPicPr>
                      <p:cNvPr id="18" name="对象 1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140285" y="5109475"/>
                        <a:ext cx="432048" cy="5337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文本框 2"/>
          <p:cNvSpPr txBox="1"/>
          <p:nvPr/>
        </p:nvSpPr>
        <p:spPr>
          <a:xfrm>
            <a:off x="8467321" y="6351711"/>
            <a:ext cx="2031325" cy="461665"/>
          </a:xfrm>
          <a:prstGeom prst="rect">
            <a:avLst/>
          </a:prstGeom>
          <a:noFill/>
        </p:spPr>
        <p:txBody>
          <a:bodyPr wrap="none" rtlCol="0">
            <a:spAutoFit/>
          </a:bodyPr>
          <a:lstStyle/>
          <a:p>
            <a:r>
              <a:rPr lang="zh-CN" altLang="en-US" sz="2400" dirty="0">
                <a:solidFill>
                  <a:srgbClr val="7030A0"/>
                </a:solidFill>
              </a:rPr>
              <a:t>证明见下一页</a:t>
            </a:r>
          </a:p>
        </p:txBody>
      </p:sp>
      <p:sp>
        <p:nvSpPr>
          <p:cNvPr id="21" name="标题 1"/>
          <p:cNvSpPr>
            <a:spLocks noGrp="1"/>
          </p:cNvSpPr>
          <p:nvPr>
            <p:ph type="title"/>
          </p:nvPr>
        </p:nvSpPr>
        <p:spPr>
          <a:xfrm>
            <a:off x="390670" y="159942"/>
            <a:ext cx="7507560" cy="563563"/>
          </a:xfrm>
        </p:spPr>
        <p:txBody>
          <a:bodyPr/>
          <a:lstStyle/>
          <a:p>
            <a:r>
              <a:rPr lang="en-US" altLang="zh-CN" sz="2800" dirty="0"/>
              <a:t>17.1 </a:t>
            </a:r>
            <a:r>
              <a:rPr lang="zh-CN" altLang="en-US" sz="2800" dirty="0"/>
              <a:t>基于类别可分离性判据的特征提取</a:t>
            </a:r>
          </a:p>
        </p:txBody>
      </p:sp>
      <p:sp>
        <p:nvSpPr>
          <p:cNvPr id="4" name="矩形 3"/>
          <p:cNvSpPr/>
          <p:nvPr/>
        </p:nvSpPr>
        <p:spPr>
          <a:xfrm>
            <a:off x="8762862" y="2136092"/>
            <a:ext cx="2870338" cy="369332"/>
          </a:xfrm>
          <a:prstGeom prst="rect">
            <a:avLst/>
          </a:prstGeom>
        </p:spPr>
        <p:txBody>
          <a:bodyPr wrap="none">
            <a:spAutoFit/>
          </a:bodyPr>
          <a:lstStyle/>
          <a:p>
            <a:r>
              <a:rPr lang="zh-CN" altLang="en-US" b="1" dirty="0">
                <a:ea typeface="楷体_GB2312" pitchFamily="49" charset="-122"/>
              </a:rPr>
              <a:t> 此处的</a:t>
            </a:r>
            <a:r>
              <a:rPr lang="en-US" altLang="zh-CN" b="1" i="1" dirty="0">
                <a:ea typeface="楷体_GB2312" pitchFamily="49" charset="-122"/>
              </a:rPr>
              <a:t>U </a:t>
            </a:r>
            <a:r>
              <a:rPr lang="zh-CN" altLang="en-US" b="1" dirty="0">
                <a:ea typeface="楷体_GB2312" pitchFamily="49" charset="-122"/>
              </a:rPr>
              <a:t>就是前述的</a:t>
            </a:r>
            <a:r>
              <a:rPr lang="en-US" altLang="zh-CN" b="1" i="1" dirty="0">
                <a:ea typeface="楷体_GB2312" pitchFamily="49" charset="-122"/>
              </a:rPr>
              <a:t>W</a:t>
            </a:r>
            <a:r>
              <a:rPr lang="en-US" altLang="zh-CN" b="1" i="1" baseline="-25000" dirty="0">
                <a:ea typeface="楷体_GB2312" pitchFamily="49" charset="-122"/>
              </a:rPr>
              <a:t>e</a:t>
            </a:r>
            <a:r>
              <a:rPr lang="zh-CN" altLang="en-US" b="1" dirty="0">
                <a:ea typeface="楷体_GB2312" pitchFamily="49" charset="-122"/>
              </a:rPr>
              <a:t>。</a:t>
            </a:r>
            <a:endParaRPr lang="zh-CN" alt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1605705" y="841093"/>
            <a:ext cx="8882784" cy="1513286"/>
          </a:xfrm>
          <a:prstGeom prst="rect">
            <a:avLst/>
          </a:prstGeom>
        </p:spPr>
        <p:style>
          <a:lnRef idx="2">
            <a:schemeClr val="accent2"/>
          </a:lnRef>
          <a:fillRef idx="1">
            <a:schemeClr val="lt1"/>
          </a:fillRef>
          <a:effectRef idx="0">
            <a:schemeClr val="accent2"/>
          </a:effectRef>
          <a:fontRef idx="minor">
            <a:schemeClr val="dk1"/>
          </a:fontRef>
        </p:style>
        <p:txBody>
          <a:bodyPr wrap="square" rtlCol="0" anchor="ctr">
            <a:spAutoFit/>
          </a:bodyPr>
          <a:lstStyle/>
          <a:p>
            <a:pPr algn="ctr"/>
            <a:endParaRPr lang="zh-CN" altLang="en-US" sz="2400" kern="100" dirty="0">
              <a:ea typeface="宋体"/>
              <a:cs typeface="Times New Roman"/>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790701" y="858232"/>
                <a:ext cx="8697788" cy="1493294"/>
              </a:xfrm>
              <a:solidFill>
                <a:schemeClr val="bg1"/>
              </a:solidFill>
            </p:spPr>
            <p:txBody>
              <a:bodyPr/>
              <a:lstStyle/>
              <a:p>
                <a:pPr marL="0" indent="0">
                  <a:lnSpc>
                    <a:spcPct val="150000"/>
                  </a:lnSpc>
                  <a:spcBef>
                    <a:spcPts val="0"/>
                  </a:spcBef>
                  <a:buNone/>
                </a:pPr>
                <a:r>
                  <a:rPr lang="zh-CN" altLang="en-US" sz="2000" b="1" dirty="0">
                    <a:solidFill>
                      <a:srgbClr val="0000FF"/>
                    </a:solidFill>
                    <a:latin typeface="宋体" pitchFamily="2" charset="-122"/>
                    <a:ea typeface="宋体" pitchFamily="2" charset="-122"/>
                  </a:rPr>
                  <a:t>结论：</a:t>
                </a:r>
                <a:r>
                  <a:rPr lang="zh-CN" altLang="en-US" sz="2000" b="1" dirty="0">
                    <a:solidFill>
                      <a:srgbClr val="7030A0"/>
                    </a:solidFill>
                    <a:latin typeface="宋体" pitchFamily="2" charset="-122"/>
                    <a:ea typeface="宋体" pitchFamily="2" charset="-122"/>
                  </a:rPr>
                  <a:t>设矩阵</a:t>
                </a:r>
                <a14:m>
                  <m:oMath xmlns:m="http://schemas.openxmlformats.org/officeDocument/2006/math">
                    <m:sSubSup>
                      <m:sSubSupPr>
                        <m:ctrlPr>
                          <a:rPr lang="zh-CN" altLang="en-US" sz="2000" i="1">
                            <a:solidFill>
                              <a:srgbClr val="7030A0"/>
                            </a:solidFill>
                            <a:latin typeface="Cambria Math" panose="02040503050406030204" pitchFamily="18" charset="0"/>
                          </a:rPr>
                        </m:ctrlPr>
                      </m:sSubSupPr>
                      <m:e>
                        <m:r>
                          <a:rPr lang="zh-CN" altLang="en-US" sz="2000" i="1">
                            <a:solidFill>
                              <a:srgbClr val="7030A0"/>
                            </a:solidFill>
                            <a:latin typeface="Cambria Math" panose="02040503050406030204" pitchFamily="18" charset="0"/>
                          </a:rPr>
                          <m:t>𝑆</m:t>
                        </m:r>
                      </m:e>
                      <m:sub>
                        <m:r>
                          <a:rPr lang="zh-CN" altLang="en-US" sz="2000" i="1">
                            <a:solidFill>
                              <a:srgbClr val="7030A0"/>
                            </a:solidFill>
                            <a:latin typeface="Cambria Math" panose="02040503050406030204" pitchFamily="18" charset="0"/>
                          </a:rPr>
                          <m:t>𝑤</m:t>
                        </m:r>
                      </m:sub>
                      <m:sup>
                        <m:r>
                          <a:rPr lang="zh-CN" altLang="en-US" sz="2000">
                            <a:solidFill>
                              <a:srgbClr val="7030A0"/>
                            </a:solidFill>
                            <a:latin typeface="Cambria Math" panose="02040503050406030204" pitchFamily="18" charset="0"/>
                          </a:rPr>
                          <m:t>−1</m:t>
                        </m:r>
                      </m:sup>
                    </m:sSubSup>
                    <m:sSub>
                      <m:sSubPr>
                        <m:ctrlPr>
                          <a:rPr lang="zh-CN" altLang="en-US" sz="2000" i="1">
                            <a:solidFill>
                              <a:srgbClr val="7030A0"/>
                            </a:solidFill>
                            <a:latin typeface="Cambria Math" panose="02040503050406030204" pitchFamily="18" charset="0"/>
                          </a:rPr>
                        </m:ctrlPr>
                      </m:sSubPr>
                      <m:e>
                        <m:r>
                          <a:rPr lang="zh-CN" altLang="en-US" sz="2000" i="1">
                            <a:solidFill>
                              <a:srgbClr val="7030A0"/>
                            </a:solidFill>
                            <a:latin typeface="Cambria Math" panose="02040503050406030204" pitchFamily="18" charset="0"/>
                          </a:rPr>
                          <m:t>𝑆</m:t>
                        </m:r>
                      </m:e>
                      <m:sub>
                        <m:r>
                          <a:rPr lang="zh-CN" altLang="en-US" sz="2000" i="1">
                            <a:solidFill>
                              <a:srgbClr val="7030A0"/>
                            </a:solidFill>
                            <a:latin typeface="Cambria Math" panose="02040503050406030204" pitchFamily="18" charset="0"/>
                          </a:rPr>
                          <m:t>𝑏</m:t>
                        </m:r>
                      </m:sub>
                    </m:sSub>
                  </m:oMath>
                </a14:m>
                <a:r>
                  <a:rPr lang="zh-CN" altLang="en-US" sz="2000" b="1" dirty="0">
                    <a:solidFill>
                      <a:srgbClr val="7030A0"/>
                    </a:solidFill>
                    <a:latin typeface="宋体" pitchFamily="2" charset="-122"/>
                    <a:ea typeface="宋体" pitchFamily="2" charset="-122"/>
                  </a:rPr>
                  <a:t>的特征值为</a:t>
                </a:r>
                <a14:m>
                  <m:oMath xmlns:m="http://schemas.openxmlformats.org/officeDocument/2006/math">
                    <m:sSub>
                      <m:sSubPr>
                        <m:ctrlPr>
                          <a:rPr lang="zh-CN" altLang="en-US" sz="2000" i="1">
                            <a:solidFill>
                              <a:srgbClr val="7030A0"/>
                            </a:solidFill>
                            <a:latin typeface="Cambria Math" panose="02040503050406030204" pitchFamily="18" charset="0"/>
                          </a:rPr>
                        </m:ctrlPr>
                      </m:sSubPr>
                      <m:e>
                        <m:r>
                          <a:rPr lang="zh-CN" altLang="en-US" sz="2000" i="1">
                            <a:solidFill>
                              <a:srgbClr val="7030A0"/>
                            </a:solidFill>
                            <a:latin typeface="Cambria Math" panose="02040503050406030204" pitchFamily="18" charset="0"/>
                          </a:rPr>
                          <m:t>𝜆</m:t>
                        </m:r>
                      </m:e>
                      <m:sub>
                        <m:r>
                          <a:rPr lang="zh-CN" altLang="en-US" sz="2000">
                            <a:solidFill>
                              <a:srgbClr val="7030A0"/>
                            </a:solidFill>
                            <a:latin typeface="Cambria Math" panose="02040503050406030204" pitchFamily="18" charset="0"/>
                          </a:rPr>
                          <m:t>1</m:t>
                        </m:r>
                      </m:sub>
                    </m:sSub>
                    <m:r>
                      <a:rPr lang="zh-CN" altLang="en-US" sz="2000">
                        <a:solidFill>
                          <a:srgbClr val="7030A0"/>
                        </a:solidFill>
                        <a:latin typeface="Cambria Math" panose="02040503050406030204" pitchFamily="18" charset="0"/>
                      </a:rPr>
                      <m:t>,</m:t>
                    </m:r>
                    <m:sSubSup>
                      <m:sSubSupPr>
                        <m:ctrlPr>
                          <a:rPr lang="zh-CN" altLang="en-US" sz="2000" i="1">
                            <a:solidFill>
                              <a:srgbClr val="7030A0"/>
                            </a:solidFill>
                            <a:latin typeface="Cambria Math" panose="02040503050406030204" pitchFamily="18" charset="0"/>
                          </a:rPr>
                        </m:ctrlPr>
                      </m:sSubSupPr>
                      <m:e>
                        <m:r>
                          <a:rPr lang="zh-CN" altLang="en-US" sz="2000" i="1">
                            <a:solidFill>
                              <a:srgbClr val="7030A0"/>
                            </a:solidFill>
                            <a:latin typeface="Cambria Math" panose="02040503050406030204" pitchFamily="18" charset="0"/>
                          </a:rPr>
                          <m:t>𝜆</m:t>
                        </m:r>
                      </m:e>
                      <m:sub>
                        <m:r>
                          <a:rPr lang="zh-CN" altLang="en-US" sz="2000">
                            <a:solidFill>
                              <a:srgbClr val="7030A0"/>
                            </a:solidFill>
                            <a:latin typeface="Cambria Math" panose="02040503050406030204" pitchFamily="18" charset="0"/>
                          </a:rPr>
                          <m:t>2</m:t>
                        </m:r>
                      </m:sub>
                      <m:sup/>
                    </m:sSubSup>
                    <m:r>
                      <a:rPr lang="zh-CN" altLang="en-US" sz="2000">
                        <a:solidFill>
                          <a:srgbClr val="7030A0"/>
                        </a:solidFill>
                        <a:latin typeface="Cambria Math" panose="02040503050406030204" pitchFamily="18" charset="0"/>
                      </a:rPr>
                      <m:t>,⋯,</m:t>
                    </m:r>
                    <m:sSub>
                      <m:sSubPr>
                        <m:ctrlPr>
                          <a:rPr lang="zh-CN" altLang="en-US" sz="2000" i="1">
                            <a:solidFill>
                              <a:srgbClr val="7030A0"/>
                            </a:solidFill>
                            <a:latin typeface="Cambria Math" panose="02040503050406030204" pitchFamily="18" charset="0"/>
                          </a:rPr>
                        </m:ctrlPr>
                      </m:sSubPr>
                      <m:e>
                        <m:r>
                          <a:rPr lang="zh-CN" altLang="en-US" sz="2000" i="1">
                            <a:solidFill>
                              <a:srgbClr val="7030A0"/>
                            </a:solidFill>
                            <a:latin typeface="Cambria Math" panose="02040503050406030204" pitchFamily="18" charset="0"/>
                          </a:rPr>
                          <m:t>𝜆</m:t>
                        </m:r>
                      </m:e>
                      <m:sub>
                        <m:r>
                          <a:rPr lang="zh-CN" altLang="en-US" sz="2000" i="1">
                            <a:solidFill>
                              <a:srgbClr val="7030A0"/>
                            </a:solidFill>
                            <a:latin typeface="Cambria Math" panose="02040503050406030204" pitchFamily="18" charset="0"/>
                          </a:rPr>
                          <m:t>𝐷</m:t>
                        </m:r>
                      </m:sub>
                    </m:sSub>
                  </m:oMath>
                </a14:m>
                <a:r>
                  <a:rPr lang="zh-CN" altLang="en-US" sz="2000" b="1" dirty="0">
                    <a:latin typeface="宋体" pitchFamily="2" charset="-122"/>
                    <a:ea typeface="宋体" pitchFamily="2" charset="-122"/>
                  </a:rPr>
                  <a:t>，且	 </a:t>
                </a:r>
              </a:p>
              <a:p>
                <a:pPr marL="0" indent="0">
                  <a:lnSpc>
                    <a:spcPct val="150000"/>
                  </a:lnSpc>
                  <a:spcBef>
                    <a:spcPts val="0"/>
                  </a:spcBef>
                  <a:buNone/>
                </a:pPr>
                <a:r>
                  <a:rPr lang="zh-CN" altLang="en-US" sz="2000" b="1" dirty="0">
                    <a:latin typeface="宋体" pitchFamily="2" charset="-122"/>
                    <a:ea typeface="宋体" pitchFamily="2" charset="-122"/>
                  </a:rPr>
                  <a:t>	 选前  个特征值对应的特征向量   ，   ，</a:t>
                </a:r>
                <a:r>
                  <a:rPr lang="en-US" altLang="zh-CN" sz="2000" b="1" dirty="0">
                    <a:latin typeface="宋体" pitchFamily="2" charset="-122"/>
                    <a:ea typeface="宋体" pitchFamily="2" charset="-122"/>
                  </a:rPr>
                  <a:t>…</a:t>
                </a:r>
                <a:r>
                  <a:rPr lang="zh-CN" altLang="en-US" sz="2000" b="1" dirty="0">
                    <a:latin typeface="宋体" pitchFamily="2" charset="-122"/>
                    <a:ea typeface="宋体" pitchFamily="2" charset="-122"/>
                  </a:rPr>
                  <a:t>，   组成矩阵</a:t>
                </a:r>
              </a:p>
              <a:p>
                <a:pPr marL="0" indent="0">
                  <a:lnSpc>
                    <a:spcPct val="150000"/>
                  </a:lnSpc>
                  <a:spcBef>
                    <a:spcPts val="0"/>
                  </a:spcBef>
                  <a:buNone/>
                </a:pPr>
                <a:r>
                  <a:rPr lang="zh-CN" altLang="en-US" sz="2000" b="1" dirty="0">
                    <a:latin typeface="宋体" pitchFamily="2" charset="-122"/>
                    <a:ea typeface="宋体" pitchFamily="2" charset="-122"/>
                  </a:rPr>
                  <a:t>	                          </a:t>
                </a:r>
              </a:p>
              <a:p>
                <a:pPr marL="0" indent="0">
                  <a:lnSpc>
                    <a:spcPct val="150000"/>
                  </a:lnSpc>
                  <a:spcBef>
                    <a:spcPts val="0"/>
                  </a:spcBef>
                  <a:buNone/>
                </a:pPr>
                <a:r>
                  <a:rPr lang="zh-CN" altLang="en-US" sz="2000" b="1" dirty="0">
                    <a:latin typeface="宋体" pitchFamily="2" charset="-122"/>
                    <a:ea typeface="宋体" pitchFamily="2" charset="-122"/>
                  </a:rPr>
                  <a:t>	 	</a:t>
                </a:r>
              </a:p>
              <a:p>
                <a:pPr marL="0" indent="0">
                  <a:lnSpc>
                    <a:spcPct val="150000"/>
                  </a:lnSpc>
                  <a:spcBef>
                    <a:spcPts val="0"/>
                  </a:spcBef>
                  <a:buNone/>
                </a:pPr>
                <a:r>
                  <a:rPr lang="en-US" altLang="zh-CN" sz="2000" b="1" dirty="0">
                    <a:latin typeface="宋体" pitchFamily="2" charset="-122"/>
                    <a:ea typeface="宋体" pitchFamily="2" charset="-122"/>
                  </a:rPr>
                  <a:t>	 	</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790701" y="858232"/>
                <a:ext cx="8697788" cy="1493294"/>
              </a:xfrm>
              <a:blipFill>
                <a:blip r:embed="rId4"/>
                <a:stretch>
                  <a:fillRect l="-771"/>
                </a:stretch>
              </a:blipFill>
            </p:spPr>
            <p:txBody>
              <a:bodyPr/>
              <a:lstStyle/>
              <a:p>
                <a:r>
                  <a:rPr lang="zh-CN" altLang="en-US">
                    <a:noFill/>
                  </a:rPr>
                  <a:t> </a:t>
                </a:r>
              </a:p>
            </p:txBody>
          </p:sp>
        </mc:Fallback>
      </mc:AlternateContent>
      <p:sp>
        <p:nvSpPr>
          <p:cNvPr id="4" name="灯片编号占位符 3"/>
          <p:cNvSpPr>
            <a:spLocks noGrp="1"/>
          </p:cNvSpPr>
          <p:nvPr>
            <p:ph type="sldNum" sz="quarter" idx="11"/>
          </p:nvPr>
        </p:nvSpPr>
        <p:spPr/>
        <p:txBody>
          <a:bodyPr/>
          <a:lstStyle/>
          <a:p>
            <a:pPr>
              <a:defRPr/>
            </a:pPr>
            <a:fld id="{31E287EE-1289-4991-82CE-EFE584F53F4F}" type="slidenum">
              <a:rPr lang="en-US" altLang="zh-CN"/>
              <a:pPr>
                <a:defRPr/>
              </a:pPr>
              <a:t>14</a:t>
            </a:fld>
            <a:endParaRPr lang="en-US" altLang="zh-CN" dirty="0"/>
          </a:p>
        </p:txBody>
      </p:sp>
      <p:sp>
        <p:nvSpPr>
          <p:cNvPr id="5"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defRPr/>
            </a:pPr>
            <a:endParaRPr lang="zh-CN" altLang="en-US">
              <a:solidFill>
                <a:srgbClr val="000000"/>
              </a:solidFill>
            </a:endParaRPr>
          </a:p>
        </p:txBody>
      </p:sp>
      <p:sp>
        <p:nvSpPr>
          <p:cNvPr id="7" name="Rectangle 4"/>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defRPr/>
            </a:pPr>
            <a:endParaRPr lang="zh-CN" altLang="en-US">
              <a:solidFill>
                <a:srgbClr val="000000"/>
              </a:solidFill>
            </a:endParaRPr>
          </a:p>
        </p:txBody>
      </p:sp>
      <p:sp>
        <p:nvSpPr>
          <p:cNvPr id="9" name="Rectangle 6"/>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defRPr/>
            </a:pPr>
            <a:endParaRPr lang="zh-CN" altLang="en-US">
              <a:solidFill>
                <a:srgbClr val="000000"/>
              </a:solidFill>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3643600629"/>
              </p:ext>
            </p:extLst>
          </p:nvPr>
        </p:nvGraphicFramePr>
        <p:xfrm>
          <a:off x="7274848" y="994912"/>
          <a:ext cx="2071615" cy="432048"/>
        </p:xfrm>
        <a:graphic>
          <a:graphicData uri="http://schemas.openxmlformats.org/presentationml/2006/ole">
            <mc:AlternateContent xmlns:mc="http://schemas.openxmlformats.org/markup-compatibility/2006">
              <mc:Choice xmlns:v="urn:schemas-microsoft-com:vml" Requires="v">
                <p:oleObj spid="_x0000_s365917" name="Equation" r:id="rId5" imgW="1066337" imgH="215806" progId="Equation.DSMT4">
                  <p:embed/>
                </p:oleObj>
              </mc:Choice>
              <mc:Fallback>
                <p:oleObj name="Equation" r:id="rId5" imgW="1066337" imgH="215806" progId="Equation.DSMT4">
                  <p:embed/>
                  <p:pic>
                    <p:nvPicPr>
                      <p:cNvPr id="10" name="对象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74848" y="994912"/>
                        <a:ext cx="2071615"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8"/>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defRPr/>
            </a:pPr>
            <a:endParaRPr lang="zh-CN" altLang="en-US">
              <a:solidFill>
                <a:srgbClr val="000000"/>
              </a:solidFill>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864425835"/>
              </p:ext>
            </p:extLst>
          </p:nvPr>
        </p:nvGraphicFramePr>
        <p:xfrm>
          <a:off x="3441471" y="1491869"/>
          <a:ext cx="360040" cy="370198"/>
        </p:xfrm>
        <a:graphic>
          <a:graphicData uri="http://schemas.openxmlformats.org/presentationml/2006/ole">
            <mc:AlternateContent xmlns:mc="http://schemas.openxmlformats.org/markup-compatibility/2006">
              <mc:Choice xmlns:v="urn:schemas-microsoft-com:vml" Requires="v">
                <p:oleObj spid="_x0000_s365918" name="Equation" r:id="rId7" imgW="139579" imgH="177646" progId="Equation.DSMT4">
                  <p:embed/>
                </p:oleObj>
              </mc:Choice>
              <mc:Fallback>
                <p:oleObj name="Equation" r:id="rId7" imgW="139579" imgH="177646" progId="Equation.DSMT4">
                  <p:embed/>
                  <p:pic>
                    <p:nvPicPr>
                      <p:cNvPr id="12" name="对象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41471" y="1491869"/>
                        <a:ext cx="360040" cy="3701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0"/>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defRPr/>
            </a:pPr>
            <a:endParaRPr lang="zh-CN" altLang="en-US">
              <a:solidFill>
                <a:srgbClr val="000000"/>
              </a:solidFill>
            </a:endParaRPr>
          </a:p>
        </p:txBody>
      </p:sp>
      <p:graphicFrame>
        <p:nvGraphicFramePr>
          <p:cNvPr id="14" name="对象 13"/>
          <p:cNvGraphicFramePr>
            <a:graphicFrameLocks noChangeAspect="1"/>
          </p:cNvGraphicFramePr>
          <p:nvPr>
            <p:extLst>
              <p:ext uri="{D42A27DB-BD31-4B8C-83A1-F6EECF244321}">
                <p14:modId xmlns:p14="http://schemas.microsoft.com/office/powerpoint/2010/main" val="3699139416"/>
              </p:ext>
            </p:extLst>
          </p:nvPr>
        </p:nvGraphicFramePr>
        <p:xfrm>
          <a:off x="6495552" y="1382091"/>
          <a:ext cx="323528" cy="476672"/>
        </p:xfrm>
        <a:graphic>
          <a:graphicData uri="http://schemas.openxmlformats.org/presentationml/2006/ole">
            <mc:AlternateContent xmlns:mc="http://schemas.openxmlformats.org/markup-compatibility/2006">
              <mc:Choice xmlns:v="urn:schemas-microsoft-com:vml" Requires="v">
                <p:oleObj spid="_x0000_s365919" name="Equation" r:id="rId9" imgW="152268" imgH="215713" progId="Equation.DSMT4">
                  <p:embed/>
                </p:oleObj>
              </mc:Choice>
              <mc:Fallback>
                <p:oleObj name="Equation" r:id="rId9" imgW="152268" imgH="215713" progId="Equation.DSMT4">
                  <p:embed/>
                  <p:pic>
                    <p:nvPicPr>
                      <p:cNvPr id="14" name="对象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95552" y="1382091"/>
                        <a:ext cx="323528" cy="476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1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defRPr/>
            </a:pPr>
            <a:endParaRPr lang="zh-CN" altLang="en-US">
              <a:solidFill>
                <a:srgbClr val="000000"/>
              </a:solidFill>
            </a:endParaRPr>
          </a:p>
        </p:txBody>
      </p:sp>
      <p:graphicFrame>
        <p:nvGraphicFramePr>
          <p:cNvPr id="16" name="对象 15"/>
          <p:cNvGraphicFramePr>
            <a:graphicFrameLocks noChangeAspect="1"/>
          </p:cNvGraphicFramePr>
          <p:nvPr>
            <p:extLst>
              <p:ext uri="{D42A27DB-BD31-4B8C-83A1-F6EECF244321}">
                <p14:modId xmlns:p14="http://schemas.microsoft.com/office/powerpoint/2010/main" val="2308612624"/>
              </p:ext>
            </p:extLst>
          </p:nvPr>
        </p:nvGraphicFramePr>
        <p:xfrm>
          <a:off x="7040692" y="1372705"/>
          <a:ext cx="395536" cy="476672"/>
        </p:xfrm>
        <a:graphic>
          <a:graphicData uri="http://schemas.openxmlformats.org/presentationml/2006/ole">
            <mc:AlternateContent xmlns:mc="http://schemas.openxmlformats.org/markup-compatibility/2006">
              <mc:Choice xmlns:v="urn:schemas-microsoft-com:vml" Requires="v">
                <p:oleObj spid="_x0000_s365920" name="Equation" r:id="rId11" imgW="177569" imgH="215619" progId="Equation.DSMT4">
                  <p:embed/>
                </p:oleObj>
              </mc:Choice>
              <mc:Fallback>
                <p:oleObj name="Equation" r:id="rId11" imgW="177569" imgH="215619" progId="Equation.DSMT4">
                  <p:embed/>
                  <p:pic>
                    <p:nvPicPr>
                      <p:cNvPr id="16" name="对象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40692" y="1372705"/>
                        <a:ext cx="395536" cy="476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4"/>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defRPr/>
            </a:pPr>
            <a:endParaRPr lang="zh-CN" altLang="en-US">
              <a:solidFill>
                <a:srgbClr val="000000"/>
              </a:solidFill>
            </a:endParaRPr>
          </a:p>
        </p:txBody>
      </p:sp>
      <p:graphicFrame>
        <p:nvGraphicFramePr>
          <p:cNvPr id="18" name="对象 17"/>
          <p:cNvGraphicFramePr>
            <a:graphicFrameLocks noChangeAspect="1"/>
          </p:cNvGraphicFramePr>
          <p:nvPr>
            <p:extLst>
              <p:ext uri="{D42A27DB-BD31-4B8C-83A1-F6EECF244321}">
                <p14:modId xmlns:p14="http://schemas.microsoft.com/office/powerpoint/2010/main" val="2389796430"/>
              </p:ext>
            </p:extLst>
          </p:nvPr>
        </p:nvGraphicFramePr>
        <p:xfrm>
          <a:off x="8189599" y="1323281"/>
          <a:ext cx="432048" cy="533706"/>
        </p:xfrm>
        <a:graphic>
          <a:graphicData uri="http://schemas.openxmlformats.org/presentationml/2006/ole">
            <mc:AlternateContent xmlns:mc="http://schemas.openxmlformats.org/markup-compatibility/2006">
              <mc:Choice xmlns:v="urn:schemas-microsoft-com:vml" Requires="v">
                <p:oleObj spid="_x0000_s365921" name="Equation" r:id="rId13" imgW="190500" imgH="228600" progId="Equation.DSMT4">
                  <p:embed/>
                </p:oleObj>
              </mc:Choice>
              <mc:Fallback>
                <p:oleObj name="Equation" r:id="rId13" imgW="190500" imgH="228600" progId="Equation.DSMT4">
                  <p:embed/>
                  <p:pic>
                    <p:nvPicPr>
                      <p:cNvPr id="18" name="对象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189599" y="1323281"/>
                        <a:ext cx="432048" cy="5337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16"/>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defRPr/>
            </a:pPr>
            <a:endParaRPr lang="zh-CN" altLang="en-US">
              <a:solidFill>
                <a:srgbClr val="000000"/>
              </a:solidFill>
            </a:endParaRPr>
          </a:p>
        </p:txBody>
      </p:sp>
      <p:graphicFrame>
        <p:nvGraphicFramePr>
          <p:cNvPr id="20" name="对象 19"/>
          <p:cNvGraphicFramePr>
            <a:graphicFrameLocks noChangeAspect="1"/>
          </p:cNvGraphicFramePr>
          <p:nvPr>
            <p:extLst>
              <p:ext uri="{D42A27DB-BD31-4B8C-83A1-F6EECF244321}">
                <p14:modId xmlns:p14="http://schemas.microsoft.com/office/powerpoint/2010/main" val="2629299254"/>
              </p:ext>
            </p:extLst>
          </p:nvPr>
        </p:nvGraphicFramePr>
        <p:xfrm>
          <a:off x="2640706" y="1802187"/>
          <a:ext cx="2308225" cy="506413"/>
        </p:xfrm>
        <a:graphic>
          <a:graphicData uri="http://schemas.openxmlformats.org/presentationml/2006/ole">
            <mc:AlternateContent xmlns:mc="http://schemas.openxmlformats.org/markup-compatibility/2006">
              <mc:Choice xmlns:v="urn:schemas-microsoft-com:vml" Requires="v">
                <p:oleObj spid="_x0000_s365922" name="Equation" r:id="rId15" imgW="1180800" imgH="253800" progId="Equation.DSMT4">
                  <p:embed/>
                </p:oleObj>
              </mc:Choice>
              <mc:Fallback>
                <p:oleObj name="Equation" r:id="rId15" imgW="1180800" imgH="253800" progId="Equation.DSMT4">
                  <p:embed/>
                  <p:pic>
                    <p:nvPicPr>
                      <p:cNvPr id="20" name="对象 19"/>
                      <p:cNvPicPr>
                        <a:picLocks noChangeAspect="1" noChangeArrowheads="1"/>
                      </p:cNvPicPr>
                      <p:nvPr/>
                    </p:nvPicPr>
                    <p:blipFill>
                      <a:blip r:embed="rId16"/>
                      <a:srcRect/>
                      <a:stretch>
                        <a:fillRect/>
                      </a:stretch>
                    </p:blipFill>
                    <p:spPr bwMode="auto">
                      <a:xfrm>
                        <a:off x="2640706" y="1802187"/>
                        <a:ext cx="2308225" cy="506413"/>
                      </a:xfrm>
                      <a:prstGeom prst="rect">
                        <a:avLst/>
                      </a:prstGeom>
                      <a:noFill/>
                    </p:spPr>
                  </p:pic>
                </p:oleObj>
              </mc:Fallback>
            </mc:AlternateContent>
          </a:graphicData>
        </a:graphic>
      </p:graphicFrame>
      <p:sp>
        <p:nvSpPr>
          <p:cNvPr id="21" name="Rectangle 18"/>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defRPr/>
            </a:pPr>
            <a:endParaRPr lang="zh-CN" altLang="en-US">
              <a:solidFill>
                <a:srgbClr val="000000"/>
              </a:solidFill>
            </a:endParaRPr>
          </a:p>
        </p:txBody>
      </p:sp>
      <p:sp>
        <p:nvSpPr>
          <p:cNvPr id="23" name="Rectangle 20"/>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defRPr/>
            </a:pPr>
            <a:endParaRPr lang="zh-CN" altLang="en-US">
              <a:solidFill>
                <a:srgbClr val="000000"/>
              </a:solidFill>
            </a:endParaRPr>
          </a:p>
        </p:txBody>
      </p:sp>
      <p:sp>
        <p:nvSpPr>
          <p:cNvPr id="25" name="Rectangle 2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defRPr/>
            </a:pPr>
            <a:endParaRPr lang="zh-CN" altLang="en-US">
              <a:solidFill>
                <a:srgbClr val="000000"/>
              </a:solidFill>
            </a:endParaRPr>
          </a:p>
        </p:txBody>
      </p:sp>
      <p:graphicFrame>
        <p:nvGraphicFramePr>
          <p:cNvPr id="26" name="对象 25"/>
          <p:cNvGraphicFramePr>
            <a:graphicFrameLocks noChangeAspect="1"/>
          </p:cNvGraphicFramePr>
          <p:nvPr>
            <p:extLst>
              <p:ext uri="{D42A27DB-BD31-4B8C-83A1-F6EECF244321}">
                <p14:modId xmlns:p14="http://schemas.microsoft.com/office/powerpoint/2010/main" val="2413260466"/>
              </p:ext>
            </p:extLst>
          </p:nvPr>
        </p:nvGraphicFramePr>
        <p:xfrm>
          <a:off x="4055842" y="2991574"/>
          <a:ext cx="1540971" cy="481553"/>
        </p:xfrm>
        <a:graphic>
          <a:graphicData uri="http://schemas.openxmlformats.org/presentationml/2006/ole">
            <mc:AlternateContent xmlns:mc="http://schemas.openxmlformats.org/markup-compatibility/2006">
              <mc:Choice xmlns:v="urn:schemas-microsoft-com:vml" Requires="v">
                <p:oleObj spid="_x0000_s365923" name="Equation" r:id="rId17" imgW="710891" imgH="215806" progId="Equation.DSMT4">
                  <p:embed/>
                </p:oleObj>
              </mc:Choice>
              <mc:Fallback>
                <p:oleObj name="Equation" r:id="rId17" imgW="710891" imgH="215806" progId="Equation.DSMT4">
                  <p:embed/>
                  <p:pic>
                    <p:nvPicPr>
                      <p:cNvPr id="26" name="对象 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55842" y="2991574"/>
                        <a:ext cx="1540971" cy="481553"/>
                      </a:xfrm>
                      <a:prstGeom prst="rect">
                        <a:avLst/>
                      </a:prstGeom>
                      <a:noFill/>
                    </p:spPr>
                  </p:pic>
                </p:oleObj>
              </mc:Fallback>
            </mc:AlternateContent>
          </a:graphicData>
        </a:graphic>
      </p:graphicFrame>
      <p:sp>
        <p:nvSpPr>
          <p:cNvPr id="27" name="Rectangle 24"/>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defRPr/>
            </a:pPr>
            <a:endParaRPr lang="zh-CN" altLang="en-US">
              <a:solidFill>
                <a:srgbClr val="000000"/>
              </a:solidFill>
            </a:endParaRPr>
          </a:p>
        </p:txBody>
      </p:sp>
      <p:graphicFrame>
        <p:nvGraphicFramePr>
          <p:cNvPr id="28" name="对象 27"/>
          <p:cNvGraphicFramePr>
            <a:graphicFrameLocks noChangeAspect="1"/>
          </p:cNvGraphicFramePr>
          <p:nvPr>
            <p:extLst>
              <p:ext uri="{D42A27DB-BD31-4B8C-83A1-F6EECF244321}">
                <p14:modId xmlns:p14="http://schemas.microsoft.com/office/powerpoint/2010/main" val="4292141061"/>
              </p:ext>
            </p:extLst>
          </p:nvPr>
        </p:nvGraphicFramePr>
        <p:xfrm>
          <a:off x="3577256" y="3453744"/>
          <a:ext cx="2714625" cy="454025"/>
        </p:xfrm>
        <a:graphic>
          <a:graphicData uri="http://schemas.openxmlformats.org/presentationml/2006/ole">
            <mc:AlternateContent xmlns:mc="http://schemas.openxmlformats.org/markup-compatibility/2006">
              <mc:Choice xmlns:v="urn:schemas-microsoft-com:vml" Requires="v">
                <p:oleObj spid="_x0000_s365924" name="Equation" r:id="rId19" imgW="1447560" imgH="241200" progId="Equation.DSMT4">
                  <p:embed/>
                </p:oleObj>
              </mc:Choice>
              <mc:Fallback>
                <p:oleObj name="Equation" r:id="rId19" imgW="1447560" imgH="241200" progId="Equation.DSMT4">
                  <p:embed/>
                  <p:pic>
                    <p:nvPicPr>
                      <p:cNvPr id="28" name="对象 27"/>
                      <p:cNvPicPr>
                        <a:picLocks noChangeAspect="1" noChangeArrowheads="1"/>
                      </p:cNvPicPr>
                      <p:nvPr/>
                    </p:nvPicPr>
                    <p:blipFill>
                      <a:blip r:embed="rId20"/>
                      <a:srcRect/>
                      <a:stretch>
                        <a:fillRect/>
                      </a:stretch>
                    </p:blipFill>
                    <p:spPr bwMode="auto">
                      <a:xfrm>
                        <a:off x="3577256" y="3453744"/>
                        <a:ext cx="2714625" cy="454025"/>
                      </a:xfrm>
                      <a:prstGeom prst="rect">
                        <a:avLst/>
                      </a:prstGeom>
                      <a:noFill/>
                    </p:spPr>
                  </p:pic>
                </p:oleObj>
              </mc:Fallback>
            </mc:AlternateContent>
          </a:graphicData>
        </a:graphic>
      </p:graphicFrame>
      <p:sp>
        <p:nvSpPr>
          <p:cNvPr id="29" name="Rectangle 26"/>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defRPr/>
            </a:pPr>
            <a:endParaRPr lang="zh-CN" altLang="en-US">
              <a:solidFill>
                <a:srgbClr val="000000"/>
              </a:solidFill>
            </a:endParaRPr>
          </a:p>
        </p:txBody>
      </p:sp>
      <p:sp>
        <p:nvSpPr>
          <p:cNvPr id="32" name="矩形 31"/>
          <p:cNvSpPr/>
          <p:nvPr/>
        </p:nvSpPr>
        <p:spPr>
          <a:xfrm>
            <a:off x="6882312" y="3415231"/>
            <a:ext cx="3661857" cy="507831"/>
          </a:xfrm>
          <a:prstGeom prst="rect">
            <a:avLst/>
          </a:prstGeom>
        </p:spPr>
        <p:txBody>
          <a:bodyPr wrap="square">
            <a:spAutoFit/>
          </a:bodyPr>
          <a:lstStyle/>
          <a:p>
            <a:pPr>
              <a:lnSpc>
                <a:spcPct val="150000"/>
              </a:lnSpc>
              <a:spcBef>
                <a:spcPts val="0"/>
              </a:spcBef>
            </a:pPr>
            <a:r>
              <a:rPr lang="en-US" altLang="zh-CN" b="1" dirty="0">
                <a:latin typeface="宋体" pitchFamily="2" charset="-122"/>
                <a:ea typeface="宋体" pitchFamily="2" charset="-122"/>
              </a:rPr>
              <a:t>(C</a:t>
            </a:r>
            <a:r>
              <a:rPr lang="zh-CN" altLang="en-US" b="1" dirty="0">
                <a:latin typeface="宋体" pitchFamily="2" charset="-122"/>
                <a:ea typeface="宋体" pitchFamily="2" charset="-122"/>
              </a:rPr>
              <a:t>－常数，调整尺度，不妨设为</a:t>
            </a:r>
            <a:r>
              <a:rPr lang="en-US" altLang="zh-CN" b="1" dirty="0">
                <a:latin typeface="宋体" pitchFamily="2" charset="-122"/>
                <a:ea typeface="宋体" pitchFamily="2" charset="-122"/>
              </a:rPr>
              <a:t>1</a:t>
            </a:r>
            <a:r>
              <a:rPr lang="zh-CN" altLang="en-US" b="1" dirty="0">
                <a:latin typeface="宋体" pitchFamily="2" charset="-122"/>
                <a:ea typeface="宋体" pitchFamily="2" charset="-122"/>
              </a:rPr>
              <a:t>）</a:t>
            </a:r>
          </a:p>
        </p:txBody>
      </p:sp>
      <p:sp>
        <p:nvSpPr>
          <p:cNvPr id="38" name="矩形 37"/>
          <p:cNvSpPr/>
          <p:nvPr/>
        </p:nvSpPr>
        <p:spPr>
          <a:xfrm>
            <a:off x="131692" y="3794759"/>
            <a:ext cx="1830950" cy="369332"/>
          </a:xfrm>
          <a:prstGeom prst="rect">
            <a:avLst/>
          </a:prstGeom>
        </p:spPr>
        <p:txBody>
          <a:bodyPr wrap="none">
            <a:spAutoFit/>
          </a:bodyPr>
          <a:lstStyle/>
          <a:p>
            <a:r>
              <a:rPr lang="en-US" altLang="zh-CN" b="1" dirty="0">
                <a:latin typeface="Times New Roman" pitchFamily="18" charset="0"/>
                <a:ea typeface="宋体" pitchFamily="2" charset="-122"/>
                <a:cs typeface="Times New Roman" pitchFamily="18" charset="0"/>
              </a:rPr>
              <a:t>Lagrange</a:t>
            </a:r>
            <a:r>
              <a:rPr lang="zh-CN" altLang="en-US" b="1" dirty="0">
                <a:latin typeface="Times New Roman" pitchFamily="18" charset="0"/>
                <a:ea typeface="宋体" pitchFamily="2" charset="-122"/>
                <a:cs typeface="Times New Roman" pitchFamily="18" charset="0"/>
              </a:rPr>
              <a:t>函数</a:t>
            </a:r>
            <a:r>
              <a:rPr lang="zh-CN" altLang="en-US" b="1" dirty="0">
                <a:latin typeface="宋体" pitchFamily="2" charset="-122"/>
                <a:ea typeface="宋体" pitchFamily="2" charset="-122"/>
              </a:rPr>
              <a:t>：</a:t>
            </a:r>
          </a:p>
        </p:txBody>
      </p:sp>
      <p:graphicFrame>
        <p:nvGraphicFramePr>
          <p:cNvPr id="39" name="对象 38"/>
          <p:cNvGraphicFramePr>
            <a:graphicFrameLocks noChangeAspect="1"/>
          </p:cNvGraphicFramePr>
          <p:nvPr>
            <p:extLst>
              <p:ext uri="{D42A27DB-BD31-4B8C-83A1-F6EECF244321}">
                <p14:modId xmlns:p14="http://schemas.microsoft.com/office/powerpoint/2010/main" val="3944675929"/>
              </p:ext>
            </p:extLst>
          </p:nvPr>
        </p:nvGraphicFramePr>
        <p:xfrm>
          <a:off x="1409599" y="4020767"/>
          <a:ext cx="4770438" cy="598488"/>
        </p:xfrm>
        <a:graphic>
          <a:graphicData uri="http://schemas.openxmlformats.org/presentationml/2006/ole">
            <mc:AlternateContent xmlns:mc="http://schemas.openxmlformats.org/markup-compatibility/2006">
              <mc:Choice xmlns:v="urn:schemas-microsoft-com:vml" Requires="v">
                <p:oleObj spid="_x0000_s365925" name="Equation" r:id="rId21" imgW="2222280" imgH="279360" progId="Equation.DSMT4">
                  <p:embed/>
                </p:oleObj>
              </mc:Choice>
              <mc:Fallback>
                <p:oleObj name="Equation" r:id="rId21" imgW="2222280" imgH="279360" progId="Equation.DSMT4">
                  <p:embed/>
                  <p:pic>
                    <p:nvPicPr>
                      <p:cNvPr id="5" name="对象 4"/>
                      <p:cNvPicPr>
                        <a:picLocks noChangeAspect="1" noChangeArrowheads="1"/>
                      </p:cNvPicPr>
                      <p:nvPr/>
                    </p:nvPicPr>
                    <p:blipFill>
                      <a:blip r:embed="rId22"/>
                      <a:srcRect/>
                      <a:stretch>
                        <a:fillRect/>
                      </a:stretch>
                    </p:blipFill>
                    <p:spPr bwMode="auto">
                      <a:xfrm>
                        <a:off x="1409599" y="4020767"/>
                        <a:ext cx="4770438" cy="598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对象 39"/>
          <p:cNvGraphicFramePr>
            <a:graphicFrameLocks noChangeAspect="1"/>
          </p:cNvGraphicFramePr>
          <p:nvPr>
            <p:extLst>
              <p:ext uri="{D42A27DB-BD31-4B8C-83A1-F6EECF244321}">
                <p14:modId xmlns:p14="http://schemas.microsoft.com/office/powerpoint/2010/main" val="493010694"/>
              </p:ext>
            </p:extLst>
          </p:nvPr>
        </p:nvGraphicFramePr>
        <p:xfrm>
          <a:off x="1973687" y="4523827"/>
          <a:ext cx="4706938" cy="839787"/>
        </p:xfrm>
        <a:graphic>
          <a:graphicData uri="http://schemas.openxmlformats.org/presentationml/2006/ole">
            <mc:AlternateContent xmlns:mc="http://schemas.openxmlformats.org/markup-compatibility/2006">
              <mc:Choice xmlns:v="urn:schemas-microsoft-com:vml" Requires="v">
                <p:oleObj spid="_x0000_s365926" name="Equation" r:id="rId23" imgW="2209680" imgH="393480" progId="Equation.DSMT4">
                  <p:embed/>
                </p:oleObj>
              </mc:Choice>
              <mc:Fallback>
                <p:oleObj name="Equation" r:id="rId23" imgW="2209680" imgH="393480" progId="Equation.DSMT4">
                  <p:embed/>
                  <p:pic>
                    <p:nvPicPr>
                      <p:cNvPr id="6" name="对象 5"/>
                      <p:cNvPicPr>
                        <a:picLocks noChangeAspect="1" noChangeArrowheads="1"/>
                      </p:cNvPicPr>
                      <p:nvPr/>
                    </p:nvPicPr>
                    <p:blipFill>
                      <a:blip r:embed="rId24"/>
                      <a:srcRect/>
                      <a:stretch>
                        <a:fillRect/>
                      </a:stretch>
                    </p:blipFill>
                    <p:spPr bwMode="auto">
                      <a:xfrm>
                        <a:off x="1973687" y="4523827"/>
                        <a:ext cx="4706938" cy="839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对象 40"/>
          <p:cNvGraphicFramePr>
            <a:graphicFrameLocks noChangeAspect="1"/>
          </p:cNvGraphicFramePr>
          <p:nvPr>
            <p:extLst>
              <p:ext uri="{D42A27DB-BD31-4B8C-83A1-F6EECF244321}">
                <p14:modId xmlns:p14="http://schemas.microsoft.com/office/powerpoint/2010/main" val="4057812943"/>
              </p:ext>
            </p:extLst>
          </p:nvPr>
        </p:nvGraphicFramePr>
        <p:xfrm>
          <a:off x="2618729" y="5336420"/>
          <a:ext cx="2880320" cy="540060"/>
        </p:xfrm>
        <a:graphic>
          <a:graphicData uri="http://schemas.openxmlformats.org/presentationml/2006/ole">
            <mc:AlternateContent xmlns:mc="http://schemas.openxmlformats.org/markup-compatibility/2006">
              <mc:Choice xmlns:v="urn:schemas-microsoft-com:vml" Requires="v">
                <p:oleObj spid="_x0000_s365927" name="Equation" r:id="rId25" imgW="1295400" imgH="241300" progId="Equation.DSMT4">
                  <p:embed/>
                </p:oleObj>
              </mc:Choice>
              <mc:Fallback>
                <p:oleObj name="Equation" r:id="rId25" imgW="1295400" imgH="241300" progId="Equation.DSMT4">
                  <p:embed/>
                  <p:pic>
                    <p:nvPicPr>
                      <p:cNvPr id="7" name="对象 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618729" y="5336420"/>
                        <a:ext cx="2880320" cy="540060"/>
                      </a:xfrm>
                      <a:prstGeom prst="rect">
                        <a:avLst/>
                      </a:prstGeom>
                      <a:solidFill>
                        <a:schemeClr val="accent1">
                          <a:lumMod val="20000"/>
                          <a:lumOff val="80000"/>
                        </a:schemeClr>
                      </a:solidFill>
                    </p:spPr>
                  </p:pic>
                </p:oleObj>
              </mc:Fallback>
            </mc:AlternateContent>
          </a:graphicData>
        </a:graphic>
      </p:graphicFrame>
      <p:graphicFrame>
        <p:nvGraphicFramePr>
          <p:cNvPr id="42" name="对象 41"/>
          <p:cNvGraphicFramePr>
            <a:graphicFrameLocks noChangeAspect="1"/>
          </p:cNvGraphicFramePr>
          <p:nvPr>
            <p:extLst>
              <p:ext uri="{D42A27DB-BD31-4B8C-83A1-F6EECF244321}">
                <p14:modId xmlns:p14="http://schemas.microsoft.com/office/powerpoint/2010/main" val="561281463"/>
              </p:ext>
            </p:extLst>
          </p:nvPr>
        </p:nvGraphicFramePr>
        <p:xfrm>
          <a:off x="2614129" y="5930854"/>
          <a:ext cx="2842617" cy="558805"/>
        </p:xfrm>
        <a:graphic>
          <a:graphicData uri="http://schemas.openxmlformats.org/presentationml/2006/ole">
            <mc:AlternateContent xmlns:mc="http://schemas.openxmlformats.org/markup-compatibility/2006">
              <mc:Choice xmlns:v="urn:schemas-microsoft-com:vml" Requires="v">
                <p:oleObj spid="_x0000_s365928" name="Equation" r:id="rId27" imgW="1231366" imgH="241195" progId="Equation.DSMT4">
                  <p:embed/>
                </p:oleObj>
              </mc:Choice>
              <mc:Fallback>
                <p:oleObj name="Equation" r:id="rId27" imgW="1231366" imgH="241195" progId="Equation.DSMT4">
                  <p:embed/>
                  <p:pic>
                    <p:nvPicPr>
                      <p:cNvPr id="8" name="对象 7"/>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614129" y="5930854"/>
                        <a:ext cx="2842617" cy="5588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145"/>
          <p:cNvGraphicFramePr>
            <a:graphicFrameLocks noChangeAspect="1"/>
          </p:cNvGraphicFramePr>
          <p:nvPr>
            <p:extLst>
              <p:ext uri="{D42A27DB-BD31-4B8C-83A1-F6EECF244321}">
                <p14:modId xmlns:p14="http://schemas.microsoft.com/office/powerpoint/2010/main" val="2091972882"/>
              </p:ext>
            </p:extLst>
          </p:nvPr>
        </p:nvGraphicFramePr>
        <p:xfrm>
          <a:off x="4327156" y="2423035"/>
          <a:ext cx="3726140" cy="502835"/>
        </p:xfrm>
        <a:graphic>
          <a:graphicData uri="http://schemas.openxmlformats.org/presentationml/2006/ole">
            <mc:AlternateContent xmlns:mc="http://schemas.openxmlformats.org/markup-compatibility/2006">
              <mc:Choice xmlns:v="urn:schemas-microsoft-com:vml" Requires="v">
                <p:oleObj spid="_x0000_s365929" name="Equation" r:id="rId29" imgW="1688367" imgH="241195" progId="Equation.DSMT4">
                  <p:embed/>
                </p:oleObj>
              </mc:Choice>
              <mc:Fallback>
                <p:oleObj name="Equation" r:id="rId29" imgW="1688367" imgH="241195" progId="Equation.DSMT4">
                  <p:embed/>
                  <p:pic>
                    <p:nvPicPr>
                      <p:cNvPr id="39057" name="Object 14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327156" y="2423035"/>
                        <a:ext cx="3726140" cy="502835"/>
                      </a:xfrm>
                      <a:prstGeom prst="rect">
                        <a:avLst/>
                      </a:prstGeom>
                      <a:solidFill>
                        <a:schemeClr val="bg1"/>
                      </a:solidFill>
                      <a:ln w="9525">
                        <a:solidFill>
                          <a:srgbClr val="FF0000"/>
                        </a:solidFill>
                        <a:miter lim="800000"/>
                        <a:headEnd/>
                        <a:tailEnd/>
                      </a:ln>
                    </p:spPr>
                  </p:pic>
                </p:oleObj>
              </mc:Fallback>
            </mc:AlternateContent>
          </a:graphicData>
        </a:graphic>
      </p:graphicFrame>
      <p:sp>
        <p:nvSpPr>
          <p:cNvPr id="45" name="矩形 44"/>
          <p:cNvSpPr/>
          <p:nvPr/>
        </p:nvSpPr>
        <p:spPr>
          <a:xfrm>
            <a:off x="3155206" y="2976498"/>
            <a:ext cx="7388963" cy="1002927"/>
          </a:xfrm>
          <a:prstGeom prst="rect">
            <a:avLst/>
          </a:prstGeom>
          <a:ln>
            <a:solidFill>
              <a:srgbClr val="FF7A00"/>
            </a:solidFill>
            <a:prstDash val="dash"/>
          </a:ln>
        </p:spPr>
        <p:txBody>
          <a:bodyPr wrap="square" rtlCol="0" anchor="ctr">
            <a:spAutoFit/>
          </a:bodyPr>
          <a:lstStyle/>
          <a:p>
            <a:pPr algn="ctr"/>
            <a:endParaRPr lang="zh-CN" altLang="en-US" sz="2400" kern="100" dirty="0">
              <a:ea typeface="宋体"/>
              <a:cs typeface="Times New Roman"/>
            </a:endParaRPr>
          </a:p>
        </p:txBody>
      </p:sp>
      <p:graphicFrame>
        <p:nvGraphicFramePr>
          <p:cNvPr id="46" name="对象 45"/>
          <p:cNvGraphicFramePr>
            <a:graphicFrameLocks noChangeAspect="1"/>
          </p:cNvGraphicFramePr>
          <p:nvPr>
            <p:extLst>
              <p:ext uri="{D42A27DB-BD31-4B8C-83A1-F6EECF244321}">
                <p14:modId xmlns:p14="http://schemas.microsoft.com/office/powerpoint/2010/main" val="3666828677"/>
              </p:ext>
            </p:extLst>
          </p:nvPr>
        </p:nvGraphicFramePr>
        <p:xfrm>
          <a:off x="7236004" y="5976164"/>
          <a:ext cx="2652713" cy="906463"/>
        </p:xfrm>
        <a:graphic>
          <a:graphicData uri="http://schemas.openxmlformats.org/presentationml/2006/ole">
            <mc:AlternateContent xmlns:mc="http://schemas.openxmlformats.org/markup-compatibility/2006">
              <mc:Choice xmlns:v="urn:schemas-microsoft-com:vml" Requires="v">
                <p:oleObj spid="_x0000_s365930" name="Equation" r:id="rId31" imgW="1257120" imgH="431640" progId="Equation.DSMT4">
                  <p:embed/>
                </p:oleObj>
              </mc:Choice>
              <mc:Fallback>
                <p:oleObj name="Equation" r:id="rId31" imgW="1257120" imgH="431640" progId="Equation.DSMT4">
                  <p:embed/>
                  <p:pic>
                    <p:nvPicPr>
                      <p:cNvPr id="43" name="对象 42"/>
                      <p:cNvPicPr>
                        <a:picLocks noChangeAspect="1" noChangeArrowheads="1"/>
                      </p:cNvPicPr>
                      <p:nvPr/>
                    </p:nvPicPr>
                    <p:blipFill>
                      <a:blip r:embed="rId32"/>
                      <a:srcRect/>
                      <a:stretch>
                        <a:fillRect/>
                      </a:stretch>
                    </p:blipFill>
                    <p:spPr bwMode="auto">
                      <a:xfrm>
                        <a:off x="7236004" y="5976164"/>
                        <a:ext cx="2652713" cy="906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矩形 21"/>
          <p:cNvSpPr/>
          <p:nvPr/>
        </p:nvSpPr>
        <p:spPr>
          <a:xfrm>
            <a:off x="903181" y="3266464"/>
            <a:ext cx="2031325" cy="369332"/>
          </a:xfrm>
          <a:prstGeom prst="rect">
            <a:avLst/>
          </a:prstGeom>
        </p:spPr>
        <p:txBody>
          <a:bodyPr wrap="none">
            <a:spAutoFit/>
          </a:bodyPr>
          <a:lstStyle/>
          <a:p>
            <a:r>
              <a:rPr lang="zh-CN" altLang="en-US" dirty="0">
                <a:solidFill>
                  <a:srgbClr val="7030A0"/>
                </a:solidFill>
              </a:rPr>
              <a:t>有约束的优化问题</a:t>
            </a:r>
          </a:p>
        </p:txBody>
      </p:sp>
      <p:sp>
        <p:nvSpPr>
          <p:cNvPr id="30" name="矩形 29"/>
          <p:cNvSpPr/>
          <p:nvPr/>
        </p:nvSpPr>
        <p:spPr>
          <a:xfrm>
            <a:off x="5095682" y="1793144"/>
            <a:ext cx="4823756" cy="507831"/>
          </a:xfrm>
          <a:prstGeom prst="rect">
            <a:avLst/>
          </a:prstGeom>
          <a:solidFill>
            <a:schemeClr val="bg1"/>
          </a:solidFill>
        </p:spPr>
        <p:txBody>
          <a:bodyPr wrap="none">
            <a:spAutoFit/>
          </a:bodyPr>
          <a:lstStyle/>
          <a:p>
            <a:pPr>
              <a:lnSpc>
                <a:spcPct val="150000"/>
              </a:lnSpc>
              <a:spcBef>
                <a:spcPts val="0"/>
              </a:spcBef>
            </a:pPr>
            <a:r>
              <a:rPr lang="zh-CN" altLang="en-US" b="1" dirty="0">
                <a:latin typeface="宋体" pitchFamily="2" charset="-122"/>
                <a:ea typeface="宋体" pitchFamily="2" charset="-122"/>
              </a:rPr>
              <a:t>就是上述</a:t>
            </a:r>
            <a:r>
              <a:rPr lang="zh-CN" altLang="en-US" dirty="0"/>
              <a:t>类别可分离性</a:t>
            </a:r>
            <a:r>
              <a:rPr lang="zh-CN" altLang="en-US" b="1" dirty="0">
                <a:latin typeface="宋体" pitchFamily="2" charset="-122"/>
                <a:ea typeface="宋体" pitchFamily="2" charset="-122"/>
              </a:rPr>
              <a:t>准则下的</a:t>
            </a:r>
            <a:r>
              <a:rPr lang="zh-CN" altLang="en-US" b="1" dirty="0">
                <a:solidFill>
                  <a:srgbClr val="FF0000"/>
                </a:solidFill>
                <a:latin typeface="宋体" pitchFamily="2" charset="-122"/>
                <a:ea typeface="宋体" pitchFamily="2" charset="-122"/>
              </a:rPr>
              <a:t>最佳变换阵</a:t>
            </a:r>
            <a:r>
              <a:rPr lang="zh-CN" altLang="en-US" b="1" dirty="0">
                <a:latin typeface="宋体" pitchFamily="2" charset="-122"/>
                <a:ea typeface="宋体" pitchFamily="2" charset="-122"/>
              </a:rPr>
              <a:t>。</a:t>
            </a:r>
          </a:p>
        </p:txBody>
      </p:sp>
      <mc:AlternateContent xmlns:mc="http://schemas.openxmlformats.org/markup-compatibility/2006" xmlns:a14="http://schemas.microsoft.com/office/drawing/2010/main">
        <mc:Choice Requires="a14">
          <p:sp>
            <p:nvSpPr>
              <p:cNvPr id="31" name="矩形 30"/>
              <p:cNvSpPr/>
              <p:nvPr/>
            </p:nvSpPr>
            <p:spPr>
              <a:xfrm>
                <a:off x="7142705" y="4095470"/>
                <a:ext cx="3971842" cy="163121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𝐽</m:t>
                          </m:r>
                        </m:e>
                        <m:sub>
                          <m:r>
                            <a:rPr lang="zh-CN" altLang="en-US" sz="2000">
                              <a:latin typeface="Cambria Math" panose="02040503050406030204" pitchFamily="18" charset="0"/>
                            </a:rPr>
                            <m:t>1</m:t>
                          </m:r>
                        </m:sub>
                      </m:sSub>
                      <m:r>
                        <a:rPr lang="zh-CN" altLang="en-US" sz="2000">
                          <a:latin typeface="Cambria Math" panose="02040503050406030204" pitchFamily="18" charset="0"/>
                        </a:rPr>
                        <m:t>(</m:t>
                      </m:r>
                      <m:r>
                        <a:rPr lang="zh-CN" altLang="en-US" sz="2000" i="1">
                          <a:latin typeface="Cambria Math" panose="02040503050406030204" pitchFamily="18" charset="0"/>
                        </a:rPr>
                        <m:t>𝑊</m:t>
                      </m:r>
                      <m:r>
                        <a:rPr lang="zh-CN" altLang="en-US" sz="2000">
                          <a:latin typeface="Cambria Math" panose="02040503050406030204" pitchFamily="18" charset="0"/>
                        </a:rPr>
                        <m:t>)=</m:t>
                      </m:r>
                      <m:r>
                        <m:rPr>
                          <m:nor/>
                        </m:rPr>
                        <a:rPr lang="zh-CN" altLang="en-US" sz="2000" i="1">
                          <a:latin typeface="Cambria Math" panose="02040503050406030204" pitchFamily="18" charset="0"/>
                        </a:rPr>
                        <m:t>tr</m:t>
                      </m:r>
                      <m:d>
                        <m:dPr>
                          <m:ctrlPr>
                            <a:rPr lang="zh-CN" altLang="en-US" sz="2000" i="1">
                              <a:latin typeface="Cambria Math" panose="02040503050406030204" pitchFamily="18" charset="0"/>
                            </a:rPr>
                          </m:ctrlPr>
                        </m:dPr>
                        <m:e>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𝑊</m:t>
                              </m:r>
                            </m:e>
                            <m:sup>
                              <m:r>
                                <a:rPr lang="zh-CN" altLang="en-US" sz="2000" i="1">
                                  <a:latin typeface="Cambria Math" panose="02040503050406030204" pitchFamily="18" charset="0"/>
                                </a:rPr>
                                <m:t>𝑇</m:t>
                              </m:r>
                            </m:sup>
                          </m:sSup>
                          <m:r>
                            <a:rPr lang="zh-CN" altLang="en-US" sz="200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𝑆</m:t>
                              </m:r>
                            </m:e>
                            <m:sub>
                              <m:r>
                                <a:rPr lang="zh-CN" altLang="en-US" sz="2000" i="1">
                                  <a:latin typeface="Cambria Math" panose="02040503050406030204" pitchFamily="18" charset="0"/>
                                </a:rPr>
                                <m:t>𝑤</m:t>
                              </m:r>
                            </m:sub>
                          </m:sSub>
                          <m:r>
                            <a:rPr lang="zh-CN" altLang="en-US" sz="200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𝑆</m:t>
                              </m:r>
                            </m:e>
                            <m:sub>
                              <m:r>
                                <a:rPr lang="zh-CN" altLang="en-US" sz="2000" i="1">
                                  <a:latin typeface="Cambria Math" panose="02040503050406030204" pitchFamily="18" charset="0"/>
                                </a:rPr>
                                <m:t>𝑏</m:t>
                              </m:r>
                            </m:sub>
                          </m:sSub>
                          <m:r>
                            <a:rPr lang="zh-CN" altLang="en-US" sz="2000">
                              <a:latin typeface="Cambria Math" panose="02040503050406030204" pitchFamily="18" charset="0"/>
                            </a:rPr>
                            <m:t>)</m:t>
                          </m:r>
                          <m:r>
                            <a:rPr lang="zh-CN" altLang="en-US" sz="2000" i="1">
                              <a:latin typeface="Cambria Math" panose="02040503050406030204" pitchFamily="18" charset="0"/>
                            </a:rPr>
                            <m:t>𝑊</m:t>
                          </m:r>
                        </m:e>
                      </m:d>
                    </m:oMath>
                  </m:oMathPara>
                </a14:m>
                <a:endParaRPr lang="en-US" altLang="zh-CN" sz="2000" dirty="0"/>
              </a:p>
              <a:p>
                <a:r>
                  <a:rPr lang="zh-CN" altLang="en-US" dirty="0">
                    <a:solidFill>
                      <a:srgbClr val="7030A0"/>
                    </a:solidFill>
                  </a:rPr>
                  <a:t>（</a:t>
                </a:r>
                <a:r>
                  <a:rPr lang="en-US" altLang="zh-CN" dirty="0">
                    <a:solidFill>
                      <a:srgbClr val="7030A0"/>
                    </a:solidFill>
                  </a:rPr>
                  <a:t>1</a:t>
                </a:r>
                <a:r>
                  <a:rPr lang="zh-CN" altLang="en-US" dirty="0">
                    <a:solidFill>
                      <a:srgbClr val="7030A0"/>
                    </a:solidFill>
                  </a:rPr>
                  <a:t>）式代入</a:t>
                </a:r>
                <a:endParaRPr lang="en-US" altLang="zh-CN" dirty="0">
                  <a:solidFill>
                    <a:srgbClr val="7030A0"/>
                  </a:solidFill>
                </a:endParaRPr>
              </a:p>
              <a:p>
                <a:r>
                  <a:rPr lang="en-US" altLang="zh-CN" sz="2000" dirty="0"/>
                  <a:t>            =</a:t>
                </a:r>
                <a:r>
                  <a:rPr lang="zh-CN" altLang="en-US" sz="2000" dirty="0"/>
                  <a:t> </a:t>
                </a:r>
                <a14:m>
                  <m:oMath xmlns:m="http://schemas.openxmlformats.org/officeDocument/2006/math">
                    <m:r>
                      <m:rPr>
                        <m:nor/>
                      </m:rPr>
                      <a:rPr lang="zh-CN" altLang="en-US" sz="2000" i="1">
                        <a:latin typeface="Cambria Math" panose="02040503050406030204" pitchFamily="18" charset="0"/>
                      </a:rPr>
                      <m:t>tr</m:t>
                    </m:r>
                    <m:d>
                      <m:dPr>
                        <m:ctrlPr>
                          <a:rPr lang="zh-CN" altLang="en-US" sz="2000" i="1">
                            <a:latin typeface="Cambria Math" panose="02040503050406030204" pitchFamily="18" charset="0"/>
                          </a:rPr>
                        </m:ctrlPr>
                      </m:dPr>
                      <m:e>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𝑊</m:t>
                            </m:r>
                          </m:e>
                          <m:sup>
                            <m:r>
                              <a:rPr lang="zh-CN" altLang="en-US" sz="2000" i="1">
                                <a:latin typeface="Cambria Math" panose="02040503050406030204" pitchFamily="18" charset="0"/>
                              </a:rPr>
                              <m:t>𝑇</m:t>
                            </m:r>
                          </m:sup>
                        </m:sSup>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𝑆</m:t>
                            </m:r>
                          </m:e>
                          <m:sub>
                            <m:r>
                              <a:rPr lang="zh-CN" altLang="en-US" sz="2000" i="1">
                                <a:latin typeface="Cambria Math" panose="02040503050406030204" pitchFamily="18" charset="0"/>
                              </a:rPr>
                              <m:t>𝑤</m:t>
                            </m:r>
                          </m:sub>
                        </m:sSub>
                        <m:r>
                          <a:rPr lang="zh-CN" altLang="en-US" sz="2000" i="1">
                            <a:latin typeface="Cambria Math" panose="02040503050406030204" pitchFamily="18" charset="0"/>
                          </a:rPr>
                          <m:t>𝑊</m:t>
                        </m:r>
                        <m:r>
                          <a:rPr lang="zh-CN" altLang="en-US" sz="2000" i="1">
                            <a:latin typeface="Cambria Math" panose="02040503050406030204" pitchFamily="18" charset="0"/>
                          </a:rPr>
                          <m:t>𝛬</m:t>
                        </m:r>
                        <m:r>
                          <m:rPr>
                            <m:nor/>
                          </m:rPr>
                          <a:rPr lang="zh-CN" altLang="en-US" sz="2000" dirty="0"/>
                          <m:t> </m:t>
                        </m:r>
                      </m:e>
                    </m:d>
                  </m:oMath>
                </a14:m>
                <a:endParaRPr lang="en-US" altLang="zh-CN" sz="2000" dirty="0"/>
              </a:p>
              <a:p>
                <a:r>
                  <a:rPr lang="zh-CN" altLang="en-US" sz="2000" dirty="0">
                    <a:solidFill>
                      <a:srgbClr val="7030A0"/>
                    </a:solidFill>
                  </a:rPr>
                  <a:t>  </a:t>
                </a:r>
                <a:r>
                  <a:rPr lang="zh-CN" altLang="en-US" dirty="0">
                    <a:solidFill>
                      <a:srgbClr val="7030A0"/>
                    </a:solidFill>
                  </a:rPr>
                  <a:t>代入</a:t>
                </a:r>
                <a:r>
                  <a:rPr lang="en-US" altLang="zh-CN" dirty="0">
                    <a:solidFill>
                      <a:srgbClr val="7030A0"/>
                    </a:solidFill>
                  </a:rPr>
                  <a:t>g(W)</a:t>
                </a:r>
                <a:r>
                  <a:rPr lang="zh-CN" altLang="en-US" dirty="0">
                    <a:solidFill>
                      <a:srgbClr val="7030A0"/>
                    </a:solidFill>
                  </a:rPr>
                  <a:t>约束</a:t>
                </a:r>
                <a14:m>
                  <m:oMath xmlns:m="http://schemas.openxmlformats.org/officeDocument/2006/math">
                    <m:r>
                      <a:rPr lang="zh-CN" altLang="en-US" i="1">
                        <a:solidFill>
                          <a:srgbClr val="7030A0"/>
                        </a:solidFill>
                        <a:latin typeface="Cambria Math" panose="02040503050406030204" pitchFamily="18" charset="0"/>
                      </a:rPr>
                      <m:t>𝑡𝑟</m:t>
                    </m:r>
                    <m:d>
                      <m:dPr>
                        <m:begChr m:val="["/>
                        <m:endChr m:val="]"/>
                        <m:ctrlPr>
                          <a:rPr lang="zh-CN" altLang="en-US" i="1">
                            <a:solidFill>
                              <a:srgbClr val="7030A0"/>
                            </a:solidFill>
                            <a:latin typeface="Cambria Math" panose="02040503050406030204" pitchFamily="18" charset="0"/>
                          </a:rPr>
                        </m:ctrlPr>
                      </m:dPr>
                      <m:e>
                        <m:d>
                          <m:dPr>
                            <m:begChr m:val=""/>
                            <m:ctrlPr>
                              <a:rPr lang="zh-CN" altLang="en-US" i="1">
                                <a:solidFill>
                                  <a:srgbClr val="7030A0"/>
                                </a:solidFill>
                                <a:latin typeface="Cambria Math" panose="02040503050406030204" pitchFamily="18" charset="0"/>
                              </a:rPr>
                            </m:ctrlPr>
                          </m:dPr>
                          <m:e>
                            <m:r>
                              <a:rPr lang="zh-CN" altLang="en-US" i="1">
                                <a:solidFill>
                                  <a:srgbClr val="7030A0"/>
                                </a:solidFill>
                                <a:latin typeface="Cambria Math" panose="02040503050406030204" pitchFamily="18" charset="0"/>
                              </a:rPr>
                              <m:t>𝛬</m:t>
                            </m:r>
                            <m:r>
                              <a:rPr lang="zh-CN" altLang="en-US">
                                <a:solidFill>
                                  <a:srgbClr val="7030A0"/>
                                </a:solidFill>
                                <a:latin typeface="Cambria Math" panose="02040503050406030204" pitchFamily="18" charset="0"/>
                              </a:rPr>
                              <m:t>(</m:t>
                            </m:r>
                            <m:sSup>
                              <m:sSupPr>
                                <m:ctrlPr>
                                  <a:rPr lang="zh-CN" altLang="en-US" i="1">
                                    <a:solidFill>
                                      <a:srgbClr val="7030A0"/>
                                    </a:solidFill>
                                    <a:latin typeface="Cambria Math" panose="02040503050406030204" pitchFamily="18" charset="0"/>
                                  </a:rPr>
                                </m:ctrlPr>
                              </m:sSupPr>
                              <m:e>
                                <m:r>
                                  <a:rPr lang="zh-CN" altLang="en-US" i="1">
                                    <a:solidFill>
                                      <a:srgbClr val="7030A0"/>
                                    </a:solidFill>
                                    <a:latin typeface="Cambria Math" panose="02040503050406030204" pitchFamily="18" charset="0"/>
                                  </a:rPr>
                                  <m:t>𝑊</m:t>
                                </m:r>
                              </m:e>
                              <m:sup>
                                <m:r>
                                  <a:rPr lang="zh-CN" altLang="en-US" i="1">
                                    <a:solidFill>
                                      <a:srgbClr val="7030A0"/>
                                    </a:solidFill>
                                    <a:latin typeface="Cambria Math" panose="02040503050406030204" pitchFamily="18" charset="0"/>
                                  </a:rPr>
                                  <m:t>𝑇</m:t>
                                </m:r>
                              </m:sup>
                            </m:sSup>
                            <m:sSub>
                              <m:sSubPr>
                                <m:ctrlPr>
                                  <a:rPr lang="zh-CN" altLang="en-US" i="1">
                                    <a:solidFill>
                                      <a:srgbClr val="7030A0"/>
                                    </a:solidFill>
                                    <a:latin typeface="Cambria Math" panose="02040503050406030204" pitchFamily="18" charset="0"/>
                                  </a:rPr>
                                </m:ctrlPr>
                              </m:sSubPr>
                              <m:e>
                                <m:r>
                                  <a:rPr lang="zh-CN" altLang="en-US" i="1">
                                    <a:solidFill>
                                      <a:srgbClr val="7030A0"/>
                                    </a:solidFill>
                                    <a:latin typeface="Cambria Math" panose="02040503050406030204" pitchFamily="18" charset="0"/>
                                  </a:rPr>
                                  <m:t>𝑆</m:t>
                                </m:r>
                              </m:e>
                              <m:sub>
                                <m:r>
                                  <a:rPr lang="zh-CN" altLang="en-US" i="1">
                                    <a:solidFill>
                                      <a:srgbClr val="7030A0"/>
                                    </a:solidFill>
                                    <a:latin typeface="Cambria Math" panose="02040503050406030204" pitchFamily="18" charset="0"/>
                                  </a:rPr>
                                  <m:t>𝑤</m:t>
                                </m:r>
                              </m:sub>
                            </m:sSub>
                            <m:r>
                              <a:rPr lang="zh-CN" altLang="en-US" i="1">
                                <a:solidFill>
                                  <a:srgbClr val="7030A0"/>
                                </a:solidFill>
                                <a:latin typeface="Cambria Math" panose="02040503050406030204" pitchFamily="18" charset="0"/>
                              </a:rPr>
                              <m:t>𝑊</m:t>
                            </m:r>
                            <m:r>
                              <a:rPr lang="zh-CN" altLang="en-US">
                                <a:solidFill>
                                  <a:srgbClr val="7030A0"/>
                                </a:solidFill>
                                <a:latin typeface="Cambria Math" panose="02040503050406030204" pitchFamily="18" charset="0"/>
                              </a:rPr>
                              <m:t>−</m:t>
                            </m:r>
                            <m:r>
                              <a:rPr lang="zh-CN" altLang="en-US" i="1">
                                <a:solidFill>
                                  <a:srgbClr val="7030A0"/>
                                </a:solidFill>
                                <a:latin typeface="Cambria Math" panose="02040503050406030204" pitchFamily="18" charset="0"/>
                              </a:rPr>
                              <m:t>𝐼</m:t>
                            </m:r>
                          </m:e>
                        </m:d>
                      </m:e>
                    </m:d>
                  </m:oMath>
                </a14:m>
                <a:r>
                  <a:rPr lang="en-US" altLang="zh-CN" dirty="0">
                    <a:solidFill>
                      <a:srgbClr val="7030A0"/>
                    </a:solidFill>
                  </a:rPr>
                  <a:t>=0</a:t>
                </a:r>
              </a:p>
              <a:p>
                <a:r>
                  <a:rPr lang="en-US" altLang="zh-CN" sz="2000" dirty="0"/>
                  <a:t>            =</a:t>
                </a:r>
                <a:r>
                  <a:rPr lang="zh-CN" altLang="en-US" sz="2000" dirty="0"/>
                  <a:t> </a:t>
                </a:r>
                <a14:m>
                  <m:oMath xmlns:m="http://schemas.openxmlformats.org/officeDocument/2006/math">
                    <m:r>
                      <m:rPr>
                        <m:nor/>
                      </m:rPr>
                      <a:rPr lang="zh-CN" altLang="en-US" sz="2000" i="1">
                        <a:latin typeface="Cambria Math" panose="02040503050406030204" pitchFamily="18" charset="0"/>
                      </a:rPr>
                      <m:t>tr</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𝛬</m:t>
                        </m:r>
                        <m:r>
                          <m:rPr>
                            <m:nor/>
                          </m:rPr>
                          <a:rPr lang="zh-CN" altLang="en-US" sz="2000" dirty="0"/>
                          <m:t> </m:t>
                        </m:r>
                      </m:e>
                    </m:d>
                  </m:oMath>
                </a14:m>
                <a:endParaRPr lang="zh-CN" altLang="en-US" sz="2000" dirty="0"/>
              </a:p>
            </p:txBody>
          </p:sp>
        </mc:Choice>
        <mc:Fallback xmlns="">
          <p:sp>
            <p:nvSpPr>
              <p:cNvPr id="31" name="矩形 30"/>
              <p:cNvSpPr>
                <a:spLocks noRot="1" noChangeAspect="1" noMove="1" noResize="1" noEditPoints="1" noAdjustHandles="1" noChangeArrowheads="1" noChangeShapeType="1" noTextEdit="1"/>
              </p:cNvSpPr>
              <p:nvPr/>
            </p:nvSpPr>
            <p:spPr>
              <a:xfrm>
                <a:off x="7142705" y="4095470"/>
                <a:ext cx="3971842" cy="1631216"/>
              </a:xfrm>
              <a:prstGeom prst="rect">
                <a:avLst/>
              </a:prstGeom>
              <a:blipFill>
                <a:blip r:embed="rId33"/>
                <a:stretch>
                  <a:fillRect l="-1382" r="-3533" b="-21348"/>
                </a:stretch>
              </a:blipFill>
            </p:spPr>
            <p:txBody>
              <a:bodyPr/>
              <a:lstStyle/>
              <a:p>
                <a:r>
                  <a:rPr lang="zh-CN" altLang="en-US">
                    <a:noFill/>
                  </a:rPr>
                  <a:t> </a:t>
                </a:r>
              </a:p>
            </p:txBody>
          </p:sp>
        </mc:Fallback>
      </mc:AlternateContent>
      <p:sp>
        <p:nvSpPr>
          <p:cNvPr id="34" name="矩形 33"/>
          <p:cNvSpPr/>
          <p:nvPr/>
        </p:nvSpPr>
        <p:spPr>
          <a:xfrm>
            <a:off x="3621491" y="2985204"/>
            <a:ext cx="415498" cy="507831"/>
          </a:xfrm>
          <a:prstGeom prst="rect">
            <a:avLst/>
          </a:prstGeom>
        </p:spPr>
        <p:txBody>
          <a:bodyPr wrap="none">
            <a:spAutoFit/>
          </a:bodyPr>
          <a:lstStyle/>
          <a:p>
            <a:pPr>
              <a:lnSpc>
                <a:spcPct val="150000"/>
              </a:lnSpc>
              <a:spcBef>
                <a:spcPts val="0"/>
              </a:spcBef>
            </a:pPr>
            <a:r>
              <a:rPr lang="zh-CN" altLang="en-US" dirty="0">
                <a:solidFill>
                  <a:srgbClr val="0000FF"/>
                </a:solidFill>
              </a:rPr>
              <a:t>求</a:t>
            </a:r>
            <a:endParaRPr lang="zh-CN" altLang="en-US" b="1" dirty="0">
              <a:solidFill>
                <a:srgbClr val="0000FF"/>
              </a:solidFill>
              <a:latin typeface="宋体" pitchFamily="2" charset="-122"/>
              <a:ea typeface="宋体" pitchFamily="2" charset="-122"/>
            </a:endParaRPr>
          </a:p>
        </p:txBody>
      </p:sp>
      <mc:AlternateContent xmlns:mc="http://schemas.openxmlformats.org/markup-compatibility/2006" xmlns:a14="http://schemas.microsoft.com/office/drawing/2010/main">
        <mc:Choice Requires="a14">
          <p:sp>
            <p:nvSpPr>
              <p:cNvPr id="36" name="矩形 35"/>
              <p:cNvSpPr/>
              <p:nvPr/>
            </p:nvSpPr>
            <p:spPr>
              <a:xfrm>
                <a:off x="6111254" y="3907769"/>
                <a:ext cx="13163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smtClean="0">
                          <a:solidFill>
                            <a:srgbClr val="7030A0"/>
                          </a:solidFill>
                          <a:latin typeface="Cambria Math" panose="02040503050406030204" pitchFamily="18" charset="0"/>
                        </a:rPr>
                        <m:t>𝛬</m:t>
                      </m:r>
                      <m:r>
                        <a:rPr lang="zh-CN" altLang="en-US" i="1" smtClean="0">
                          <a:solidFill>
                            <a:srgbClr val="7030A0"/>
                          </a:solidFill>
                          <a:latin typeface="Cambria Math" panose="02040503050406030204" pitchFamily="18" charset="0"/>
                        </a:rPr>
                        <m:t>为对角阵</m:t>
                      </m:r>
                    </m:oMath>
                  </m:oMathPara>
                </a14:m>
                <a:endParaRPr lang="zh-CN" altLang="en-US" dirty="0">
                  <a:solidFill>
                    <a:srgbClr val="7030A0"/>
                  </a:solidFill>
                </a:endParaRPr>
              </a:p>
            </p:txBody>
          </p:sp>
        </mc:Choice>
        <mc:Fallback xmlns="">
          <p:sp>
            <p:nvSpPr>
              <p:cNvPr id="36" name="矩形 35"/>
              <p:cNvSpPr>
                <a:spLocks noRot="1" noChangeAspect="1" noMove="1" noResize="1" noEditPoints="1" noAdjustHandles="1" noChangeArrowheads="1" noChangeShapeType="1" noTextEdit="1"/>
              </p:cNvSpPr>
              <p:nvPr/>
            </p:nvSpPr>
            <p:spPr>
              <a:xfrm>
                <a:off x="6111254" y="3907769"/>
                <a:ext cx="1316386" cy="369332"/>
              </a:xfrm>
              <a:prstGeom prst="rect">
                <a:avLst/>
              </a:prstGeom>
              <a:blipFill>
                <a:blip r:embed="rId34"/>
                <a:stretch>
                  <a:fillRect b="-8197"/>
                </a:stretch>
              </a:blipFill>
            </p:spPr>
            <p:txBody>
              <a:bodyPr/>
              <a:lstStyle/>
              <a:p>
                <a:r>
                  <a:rPr lang="zh-CN" altLang="en-US">
                    <a:noFill/>
                  </a:rPr>
                  <a:t> </a:t>
                </a:r>
              </a:p>
            </p:txBody>
          </p:sp>
        </mc:Fallback>
      </mc:AlternateContent>
      <p:sp>
        <p:nvSpPr>
          <p:cNvPr id="37" name="文本框 36"/>
          <p:cNvSpPr txBox="1"/>
          <p:nvPr/>
        </p:nvSpPr>
        <p:spPr>
          <a:xfrm>
            <a:off x="5513870" y="5336420"/>
            <a:ext cx="971741" cy="461665"/>
          </a:xfrm>
          <a:prstGeom prst="rect">
            <a:avLst/>
          </a:prstGeom>
          <a:noFill/>
        </p:spPr>
        <p:txBody>
          <a:bodyPr wrap="none" rtlCol="0">
            <a:spAutoFit/>
          </a:bodyPr>
          <a:lstStyle/>
          <a:p>
            <a:r>
              <a:rPr lang="zh-CN" altLang="en-US" sz="2400" dirty="0">
                <a:solidFill>
                  <a:srgbClr val="7030A0"/>
                </a:solidFill>
              </a:rPr>
              <a:t>（</a:t>
            </a:r>
            <a:r>
              <a:rPr lang="en-US" altLang="zh-CN" sz="2400" dirty="0">
                <a:solidFill>
                  <a:srgbClr val="7030A0"/>
                </a:solidFill>
              </a:rPr>
              <a:t>1</a:t>
            </a:r>
            <a:r>
              <a:rPr lang="zh-CN" altLang="en-US" sz="2400" dirty="0">
                <a:solidFill>
                  <a:srgbClr val="7030A0"/>
                </a:solidFill>
              </a:rPr>
              <a:t>）</a:t>
            </a:r>
          </a:p>
        </p:txBody>
      </p:sp>
      <p:sp>
        <p:nvSpPr>
          <p:cNvPr id="49" name="文本框 48"/>
          <p:cNvSpPr txBox="1"/>
          <p:nvPr/>
        </p:nvSpPr>
        <p:spPr>
          <a:xfrm>
            <a:off x="5513870" y="5936111"/>
            <a:ext cx="971741" cy="461665"/>
          </a:xfrm>
          <a:prstGeom prst="rect">
            <a:avLst/>
          </a:prstGeom>
          <a:noFill/>
        </p:spPr>
        <p:txBody>
          <a:bodyPr wrap="none" rtlCol="0">
            <a:spAutoFit/>
          </a:bodyPr>
          <a:lstStyle/>
          <a:p>
            <a:r>
              <a:rPr lang="zh-CN" altLang="en-US" sz="2400" dirty="0">
                <a:solidFill>
                  <a:srgbClr val="7030A0"/>
                </a:solidFill>
              </a:rPr>
              <a:t>（</a:t>
            </a:r>
            <a:r>
              <a:rPr lang="en-US" altLang="zh-CN" sz="2400" dirty="0">
                <a:solidFill>
                  <a:srgbClr val="7030A0"/>
                </a:solidFill>
              </a:rPr>
              <a:t>2</a:t>
            </a:r>
            <a:r>
              <a:rPr lang="zh-CN" altLang="en-US" sz="2400" dirty="0">
                <a:solidFill>
                  <a:srgbClr val="7030A0"/>
                </a:solidFill>
              </a:rPr>
              <a:t>）</a:t>
            </a:r>
          </a:p>
        </p:txBody>
      </p:sp>
      <mc:AlternateContent xmlns:mc="http://schemas.openxmlformats.org/markup-compatibility/2006" xmlns:a14="http://schemas.microsoft.com/office/drawing/2010/main">
        <mc:Choice Requires="a14">
          <p:sp>
            <p:nvSpPr>
              <p:cNvPr id="50" name="矩形 49"/>
              <p:cNvSpPr/>
              <p:nvPr/>
            </p:nvSpPr>
            <p:spPr>
              <a:xfrm>
                <a:off x="7274848" y="5666759"/>
                <a:ext cx="2856808" cy="369332"/>
              </a:xfrm>
              <a:prstGeom prst="rect">
                <a:avLst/>
              </a:prstGeom>
            </p:spPr>
            <p:txBody>
              <a:bodyPr wrap="none">
                <a:spAutoFit/>
              </a:bodyPr>
              <a:lstStyle/>
              <a:p>
                <a:r>
                  <a:rPr lang="zh-CN" altLang="en-US" dirty="0">
                    <a:solidFill>
                      <a:srgbClr val="7030A0"/>
                    </a:solidFill>
                  </a:rPr>
                  <a:t>对照（</a:t>
                </a:r>
                <a:r>
                  <a:rPr lang="en-US" altLang="zh-CN" dirty="0">
                    <a:solidFill>
                      <a:srgbClr val="7030A0"/>
                    </a:solidFill>
                  </a:rPr>
                  <a:t>2</a:t>
                </a:r>
                <a:r>
                  <a:rPr lang="zh-CN" altLang="en-US" dirty="0">
                    <a:solidFill>
                      <a:srgbClr val="7030A0"/>
                    </a:solidFill>
                  </a:rPr>
                  <a:t>）及</a:t>
                </a:r>
                <a14:m>
                  <m:oMath xmlns:m="http://schemas.openxmlformats.org/officeDocument/2006/math">
                    <m:sSub>
                      <m:sSubPr>
                        <m:ctrlPr>
                          <a:rPr lang="zh-CN" altLang="en-US" i="1">
                            <a:solidFill>
                              <a:srgbClr val="7030A0"/>
                            </a:solidFill>
                            <a:latin typeface="Cambria Math" panose="02040503050406030204" pitchFamily="18" charset="0"/>
                          </a:rPr>
                        </m:ctrlPr>
                      </m:sSubPr>
                      <m:e>
                        <m:r>
                          <a:rPr lang="zh-CN" altLang="en-US" i="1">
                            <a:solidFill>
                              <a:srgbClr val="7030A0"/>
                            </a:solidFill>
                            <a:latin typeface="Cambria Math" panose="02040503050406030204" pitchFamily="18" charset="0"/>
                          </a:rPr>
                          <m:t>𝜆</m:t>
                        </m:r>
                      </m:e>
                      <m:sub>
                        <m:r>
                          <m:rPr>
                            <m:sty m:val="p"/>
                          </m:rPr>
                          <a:rPr lang="en-US" altLang="zh-CN" i="1">
                            <a:solidFill>
                              <a:srgbClr val="7030A0"/>
                            </a:solidFill>
                            <a:latin typeface="Cambria Math" panose="02040503050406030204" pitchFamily="18" charset="0"/>
                          </a:rPr>
                          <m:t>i</m:t>
                        </m:r>
                      </m:sub>
                    </m:sSub>
                    <m:r>
                      <a:rPr lang="zh-CN" altLang="en-US" i="1">
                        <a:solidFill>
                          <a:srgbClr val="7030A0"/>
                        </a:solidFill>
                        <a:latin typeface="Cambria Math" panose="02040503050406030204" pitchFamily="18" charset="0"/>
                      </a:rPr>
                      <m:t>的含义</m:t>
                    </m:r>
                    <m:r>
                      <a:rPr lang="zh-CN" altLang="en-US" i="1">
                        <a:solidFill>
                          <a:srgbClr val="7030A0"/>
                        </a:solidFill>
                        <a:latin typeface="Cambria Math" panose="02040503050406030204" pitchFamily="18" charset="0"/>
                      </a:rPr>
                      <m:t> </m:t>
                    </m:r>
                  </m:oMath>
                </a14:m>
                <a:r>
                  <a:rPr lang="zh-CN" altLang="en-US" dirty="0">
                    <a:solidFill>
                      <a:srgbClr val="7030A0"/>
                    </a:solidFill>
                  </a:rPr>
                  <a:t>，得</a:t>
                </a:r>
                <a:endParaRPr lang="en-US" altLang="zh-CN" dirty="0">
                  <a:solidFill>
                    <a:srgbClr val="7030A0"/>
                  </a:solidFill>
                </a:endParaRPr>
              </a:p>
            </p:txBody>
          </p:sp>
        </mc:Choice>
        <mc:Fallback xmlns="">
          <p:sp>
            <p:nvSpPr>
              <p:cNvPr id="50" name="矩形 49"/>
              <p:cNvSpPr>
                <a:spLocks noRot="1" noChangeAspect="1" noMove="1" noResize="1" noEditPoints="1" noAdjustHandles="1" noChangeArrowheads="1" noChangeShapeType="1" noTextEdit="1"/>
              </p:cNvSpPr>
              <p:nvPr/>
            </p:nvSpPr>
            <p:spPr>
              <a:xfrm>
                <a:off x="7274848" y="5666759"/>
                <a:ext cx="2856808" cy="369332"/>
              </a:xfrm>
              <a:prstGeom prst="rect">
                <a:avLst/>
              </a:prstGeom>
              <a:blipFill>
                <a:blip r:embed="rId35"/>
                <a:stretch>
                  <a:fillRect l="-1706" t="-10000" r="-1493" b="-26667"/>
                </a:stretch>
              </a:blipFill>
            </p:spPr>
            <p:txBody>
              <a:bodyPr/>
              <a:lstStyle/>
              <a:p>
                <a:r>
                  <a:rPr lang="zh-CN" altLang="en-US">
                    <a:noFill/>
                  </a:rPr>
                  <a:t> </a:t>
                </a:r>
              </a:p>
            </p:txBody>
          </p:sp>
        </mc:Fallback>
      </mc:AlternateContent>
      <p:sp>
        <p:nvSpPr>
          <p:cNvPr id="54" name="矩形 53"/>
          <p:cNvSpPr/>
          <p:nvPr/>
        </p:nvSpPr>
        <p:spPr>
          <a:xfrm>
            <a:off x="1757956" y="2467563"/>
            <a:ext cx="2238113" cy="369332"/>
          </a:xfrm>
          <a:prstGeom prst="rect">
            <a:avLst/>
          </a:prstGeom>
        </p:spPr>
        <p:txBody>
          <a:bodyPr wrap="none">
            <a:spAutoFit/>
          </a:bodyPr>
          <a:lstStyle/>
          <a:p>
            <a:r>
              <a:rPr lang="zh-CN" altLang="en-US" b="1" dirty="0">
                <a:solidFill>
                  <a:srgbClr val="0000FF"/>
                </a:solidFill>
                <a:latin typeface="宋体" pitchFamily="2" charset="-122"/>
                <a:ea typeface="宋体" pitchFamily="2" charset="-122"/>
              </a:rPr>
              <a:t>证明推导：以</a:t>
            </a:r>
            <a:r>
              <a:rPr lang="en-US" altLang="zh-CN" b="1" dirty="0">
                <a:solidFill>
                  <a:srgbClr val="0000FF"/>
                </a:solidFill>
                <a:latin typeface="宋体" pitchFamily="2" charset="-122"/>
                <a:ea typeface="宋体" pitchFamily="2" charset="-122"/>
              </a:rPr>
              <a:t>J</a:t>
            </a:r>
            <a:r>
              <a:rPr lang="en-US" altLang="zh-CN" b="1" baseline="-25000" dirty="0">
                <a:solidFill>
                  <a:srgbClr val="0000FF"/>
                </a:solidFill>
                <a:latin typeface="宋体" pitchFamily="2" charset="-122"/>
                <a:ea typeface="宋体" pitchFamily="2" charset="-122"/>
              </a:rPr>
              <a:t>1</a:t>
            </a:r>
            <a:r>
              <a:rPr lang="zh-CN" altLang="en-US" b="1" dirty="0">
                <a:solidFill>
                  <a:srgbClr val="0000FF"/>
                </a:solidFill>
                <a:latin typeface="宋体" pitchFamily="2" charset="-122"/>
                <a:ea typeface="宋体" pitchFamily="2" charset="-122"/>
              </a:rPr>
              <a:t>为例</a:t>
            </a:r>
            <a:endParaRPr lang="zh-CN" altLang="en-US" dirty="0"/>
          </a:p>
        </p:txBody>
      </p:sp>
      <p:cxnSp>
        <p:nvCxnSpPr>
          <p:cNvPr id="56" name="直接连接符 55"/>
          <p:cNvCxnSpPr>
            <a:stCxn id="36" idx="2"/>
          </p:cNvCxnSpPr>
          <p:nvPr/>
        </p:nvCxnSpPr>
        <p:spPr>
          <a:xfrm>
            <a:off x="6769448" y="4277101"/>
            <a:ext cx="15983" cy="2120674"/>
          </a:xfrm>
          <a:prstGeom prst="line">
            <a:avLst/>
          </a:prstGeom>
          <a:ln w="28575">
            <a:solidFill>
              <a:schemeClr val="accent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58" name="标题 1"/>
          <p:cNvSpPr>
            <a:spLocks noGrp="1"/>
          </p:cNvSpPr>
          <p:nvPr>
            <p:ph type="title"/>
          </p:nvPr>
        </p:nvSpPr>
        <p:spPr>
          <a:xfrm>
            <a:off x="0" y="-21296"/>
            <a:ext cx="7507560" cy="563563"/>
          </a:xfrm>
        </p:spPr>
        <p:txBody>
          <a:bodyPr/>
          <a:lstStyle/>
          <a:p>
            <a:r>
              <a:rPr lang="en-US" altLang="zh-CN" sz="2800" dirty="0"/>
              <a:t>17.1 </a:t>
            </a:r>
            <a:r>
              <a:rPr lang="zh-CN" altLang="en-US" sz="2800" dirty="0"/>
              <a:t>基于类别可分离性判据的特征提取</a:t>
            </a:r>
          </a:p>
        </p:txBody>
      </p:sp>
    </p:spTree>
    <p:extLst>
      <p:ext uri="{BB962C8B-B14F-4D97-AF65-F5344CB8AC3E}">
        <p14:creationId xmlns:p14="http://schemas.microsoft.com/office/powerpoint/2010/main" val="4254070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31504" y="171441"/>
            <a:ext cx="9523784" cy="563563"/>
          </a:xfrm>
        </p:spPr>
        <p:txBody>
          <a:bodyPr/>
          <a:lstStyle/>
          <a:p>
            <a:r>
              <a:rPr lang="zh-CN" altLang="en-US" b="0" dirty="0"/>
              <a:t>矩阵求导</a:t>
            </a:r>
            <a:r>
              <a:rPr lang="en-US" altLang="zh-CN" b="0" dirty="0"/>
              <a:t>(</a:t>
            </a:r>
            <a:r>
              <a:rPr lang="en-US" altLang="zh-CN" b="0" dirty="0">
                <a:latin typeface="Times New Roman" panose="02020603050405020304" pitchFamily="18" charset="0"/>
                <a:cs typeface="Times New Roman" panose="02020603050405020304" pitchFamily="18" charset="0"/>
              </a:rPr>
              <a:t>Taking the derivative of the matrix</a:t>
            </a:r>
            <a:r>
              <a:rPr lang="en-US" altLang="zh-CN" b="0" dirty="0"/>
              <a:t>)</a:t>
            </a: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15</a:t>
            </a:fld>
            <a:endParaRPr lang="en-US" altLang="zh-CN" dirty="0"/>
          </a:p>
        </p:txBody>
      </p:sp>
      <p:pic>
        <p:nvPicPr>
          <p:cNvPr id="172037" name="Picture 5" descr="http://s3.sinaimg.cn/large/8eac0b29tx6CyXyfuIaf2&amp;690"/>
          <p:cNvPicPr>
            <a:picLocks noChangeAspect="1" noChangeArrowheads="1"/>
          </p:cNvPicPr>
          <p:nvPr/>
        </p:nvPicPr>
        <p:blipFill>
          <a:blip r:embed="rId3" cstate="print"/>
          <a:srcRect/>
          <a:stretch>
            <a:fillRect/>
          </a:stretch>
        </p:blipFill>
        <p:spPr bwMode="auto">
          <a:xfrm>
            <a:off x="1524001" y="928670"/>
            <a:ext cx="5153025" cy="5486400"/>
          </a:xfrm>
          <a:prstGeom prst="rect">
            <a:avLst/>
          </a:prstGeom>
          <a:noFill/>
        </p:spPr>
      </p:pic>
      <p:graphicFrame>
        <p:nvGraphicFramePr>
          <p:cNvPr id="153601" name="Object 1"/>
          <p:cNvGraphicFramePr>
            <a:graphicFrameLocks noChangeAspect="1"/>
          </p:cNvGraphicFramePr>
          <p:nvPr/>
        </p:nvGraphicFramePr>
        <p:xfrm>
          <a:off x="6738942" y="1000108"/>
          <a:ext cx="3670300" cy="495300"/>
        </p:xfrm>
        <a:graphic>
          <a:graphicData uri="http://schemas.openxmlformats.org/presentationml/2006/ole">
            <mc:AlternateContent xmlns:mc="http://schemas.openxmlformats.org/markup-compatibility/2006">
              <mc:Choice xmlns:v="urn:schemas-microsoft-com:vml" Requires="v">
                <p:oleObj spid="_x0000_s154004" name="Equation" r:id="rId4" imgW="1688367" imgH="241195" progId="Equation.DSMT4">
                  <p:embed/>
                </p:oleObj>
              </mc:Choice>
              <mc:Fallback>
                <p:oleObj name="Equation" r:id="rId4" imgW="1688367" imgH="241195" progId="Equation.DSMT4">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8942" y="1000108"/>
                        <a:ext cx="3670300" cy="495300"/>
                      </a:xfrm>
                      <a:prstGeom prst="rect">
                        <a:avLst/>
                      </a:prstGeom>
                      <a:solidFill>
                        <a:schemeClr val="bg1"/>
                      </a:solidFill>
                      <a:ln w="9525">
                        <a:solidFill>
                          <a:srgbClr val="FF0000"/>
                        </a:solidFill>
                        <a:miter lim="800000"/>
                        <a:headEnd/>
                        <a:tailEnd/>
                      </a:ln>
                    </p:spPr>
                  </p:pic>
                </p:oleObj>
              </mc:Fallback>
            </mc:AlternateContent>
          </a:graphicData>
        </a:graphic>
      </p:graphicFrame>
      <p:graphicFrame>
        <p:nvGraphicFramePr>
          <p:cNvPr id="153602" name="Object 2"/>
          <p:cNvGraphicFramePr>
            <a:graphicFrameLocks noChangeAspect="1"/>
          </p:cNvGraphicFramePr>
          <p:nvPr>
            <p:extLst>
              <p:ext uri="{D42A27DB-BD31-4B8C-83A1-F6EECF244321}">
                <p14:modId xmlns:p14="http://schemas.microsoft.com/office/powerpoint/2010/main" val="3225016823"/>
              </p:ext>
            </p:extLst>
          </p:nvPr>
        </p:nvGraphicFramePr>
        <p:xfrm>
          <a:off x="6754813" y="1649413"/>
          <a:ext cx="3859212" cy="2387600"/>
        </p:xfrm>
        <a:graphic>
          <a:graphicData uri="http://schemas.openxmlformats.org/presentationml/2006/ole">
            <mc:AlternateContent xmlns:mc="http://schemas.openxmlformats.org/markup-compatibility/2006">
              <mc:Choice xmlns:v="urn:schemas-microsoft-com:vml" Requires="v">
                <p:oleObj spid="_x0000_s154005" name="Equation" r:id="rId6" imgW="2171520" imgH="1422360" progId="Equation.DSMT4">
                  <p:embed/>
                </p:oleObj>
              </mc:Choice>
              <mc:Fallback>
                <p:oleObj name="Equation" r:id="rId6" imgW="2171520" imgH="1422360" progId="Equation.DSMT4">
                  <p:embed/>
                  <p:pic>
                    <p:nvPicPr>
                      <p:cNvPr id="0" name="Picture 2"/>
                      <p:cNvPicPr>
                        <a:picLocks noChangeAspect="1" noChangeArrowheads="1"/>
                      </p:cNvPicPr>
                      <p:nvPr/>
                    </p:nvPicPr>
                    <p:blipFill>
                      <a:blip r:embed="rId7"/>
                      <a:srcRect/>
                      <a:stretch>
                        <a:fillRect/>
                      </a:stretch>
                    </p:blipFill>
                    <p:spPr bwMode="auto">
                      <a:xfrm>
                        <a:off x="6754813" y="1649413"/>
                        <a:ext cx="3859212" cy="2387600"/>
                      </a:xfrm>
                      <a:prstGeom prst="rect">
                        <a:avLst/>
                      </a:prstGeom>
                      <a:solidFill>
                        <a:schemeClr val="bg1"/>
                      </a:solidFill>
                      <a:ln>
                        <a:noFill/>
                      </a:ln>
                    </p:spPr>
                  </p:pic>
                </p:oleObj>
              </mc:Fallback>
            </mc:AlternateContent>
          </a:graphicData>
        </a:graphic>
      </p:graphicFrame>
      <p:cxnSp>
        <p:nvCxnSpPr>
          <p:cNvPr id="8" name="直接箭头连接符 7"/>
          <p:cNvCxnSpPr/>
          <p:nvPr/>
        </p:nvCxnSpPr>
        <p:spPr>
          <a:xfrm flipV="1">
            <a:off x="3431704" y="3068960"/>
            <a:ext cx="4104456" cy="28803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4655756" y="2276872"/>
            <a:ext cx="3096428" cy="22322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16</a:t>
            </a:fld>
            <a:endParaRPr lang="en-US" altLang="zh-CN" dirty="0"/>
          </a:p>
        </p:txBody>
      </p:sp>
      <p:pic>
        <p:nvPicPr>
          <p:cNvPr id="172037" name="Picture 5" descr="http://s3.sinaimg.cn/large/8eac0b29tx6CyXyfuIaf2&amp;690"/>
          <p:cNvPicPr>
            <a:picLocks noChangeAspect="1" noChangeArrowheads="1"/>
          </p:cNvPicPr>
          <p:nvPr/>
        </p:nvPicPr>
        <p:blipFill>
          <a:blip r:embed="rId3" cstate="print"/>
          <a:srcRect/>
          <a:stretch>
            <a:fillRect/>
          </a:stretch>
        </p:blipFill>
        <p:spPr bwMode="auto">
          <a:xfrm>
            <a:off x="1524001" y="928670"/>
            <a:ext cx="5153025" cy="5486400"/>
          </a:xfrm>
          <a:prstGeom prst="rect">
            <a:avLst/>
          </a:prstGeom>
          <a:noFill/>
        </p:spPr>
      </p:pic>
      <p:graphicFrame>
        <p:nvGraphicFramePr>
          <p:cNvPr id="173064" name="Object 8"/>
          <p:cNvGraphicFramePr>
            <a:graphicFrameLocks noChangeAspect="1"/>
          </p:cNvGraphicFramePr>
          <p:nvPr/>
        </p:nvGraphicFramePr>
        <p:xfrm>
          <a:off x="6738938" y="1120775"/>
          <a:ext cx="3929062" cy="909638"/>
        </p:xfrm>
        <a:graphic>
          <a:graphicData uri="http://schemas.openxmlformats.org/presentationml/2006/ole">
            <mc:AlternateContent xmlns:mc="http://schemas.openxmlformats.org/markup-compatibility/2006">
              <mc:Choice xmlns:v="urn:schemas-microsoft-com:vml" Requires="v">
                <p:oleObj spid="_x0000_s173979" name="Equation" r:id="rId4" imgW="2476440" imgH="583920" progId="Equation.DSMT4">
                  <p:embed/>
                </p:oleObj>
              </mc:Choice>
              <mc:Fallback>
                <p:oleObj name="Equation" r:id="rId4" imgW="2476440" imgH="583920" progId="Equation.DSMT4">
                  <p:embed/>
                  <p:pic>
                    <p:nvPicPr>
                      <p:cNvPr id="0"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8938" y="1120775"/>
                        <a:ext cx="3929062" cy="909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3065" name="Object 9"/>
          <p:cNvGraphicFramePr>
            <a:graphicFrameLocks noChangeAspect="1"/>
          </p:cNvGraphicFramePr>
          <p:nvPr/>
        </p:nvGraphicFramePr>
        <p:xfrm>
          <a:off x="6789738" y="2312988"/>
          <a:ext cx="3827462" cy="711200"/>
        </p:xfrm>
        <a:graphic>
          <a:graphicData uri="http://schemas.openxmlformats.org/presentationml/2006/ole">
            <mc:AlternateContent xmlns:mc="http://schemas.openxmlformats.org/markup-compatibility/2006">
              <mc:Choice xmlns:v="urn:schemas-microsoft-com:vml" Requires="v">
                <p:oleObj spid="_x0000_s173980" name="Equation" r:id="rId6" imgW="2412720" imgH="457200" progId="Equation.DSMT4">
                  <p:embed/>
                </p:oleObj>
              </mc:Choice>
              <mc:Fallback>
                <p:oleObj name="Equation" r:id="rId6" imgW="2412720" imgH="457200" progId="Equation.DSMT4">
                  <p:embed/>
                  <p:pic>
                    <p:nvPicPr>
                      <p:cNvPr id="0"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89738" y="2312988"/>
                        <a:ext cx="3827462"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3066" name="Object 10"/>
          <p:cNvGraphicFramePr>
            <a:graphicFrameLocks noChangeAspect="1"/>
          </p:cNvGraphicFramePr>
          <p:nvPr/>
        </p:nvGraphicFramePr>
        <p:xfrm>
          <a:off x="7024695" y="3214687"/>
          <a:ext cx="3184525" cy="434975"/>
        </p:xfrm>
        <a:graphic>
          <a:graphicData uri="http://schemas.openxmlformats.org/presentationml/2006/ole">
            <mc:AlternateContent xmlns:mc="http://schemas.openxmlformats.org/markup-compatibility/2006">
              <mc:Choice xmlns:v="urn:schemas-microsoft-com:vml" Requires="v">
                <p:oleObj spid="_x0000_s173981" name="Equation" r:id="rId8" imgW="2006280" imgH="279360" progId="Equation.DSMT4">
                  <p:embed/>
                </p:oleObj>
              </mc:Choice>
              <mc:Fallback>
                <p:oleObj name="Equation" r:id="rId8" imgW="2006280" imgH="279360" progId="Equation.DSMT4">
                  <p:embed/>
                  <p:pic>
                    <p:nvPicPr>
                      <p:cNvPr id="0"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24695" y="3214687"/>
                        <a:ext cx="3184525"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9" name="直接箭头连接符 18"/>
          <p:cNvCxnSpPr/>
          <p:nvPr/>
        </p:nvCxnSpPr>
        <p:spPr>
          <a:xfrm flipV="1">
            <a:off x="3167042" y="3500438"/>
            <a:ext cx="3714776" cy="207170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73067" name="Object 11"/>
          <p:cNvGraphicFramePr>
            <a:graphicFrameLocks noChangeAspect="1"/>
          </p:cNvGraphicFramePr>
          <p:nvPr>
            <p:extLst>
              <p:ext uri="{D42A27DB-BD31-4B8C-83A1-F6EECF244321}">
                <p14:modId xmlns:p14="http://schemas.microsoft.com/office/powerpoint/2010/main" val="2276250705"/>
              </p:ext>
            </p:extLst>
          </p:nvPr>
        </p:nvGraphicFramePr>
        <p:xfrm>
          <a:off x="6933412" y="3991575"/>
          <a:ext cx="3367088" cy="434975"/>
        </p:xfrm>
        <a:graphic>
          <a:graphicData uri="http://schemas.openxmlformats.org/presentationml/2006/ole">
            <mc:AlternateContent xmlns:mc="http://schemas.openxmlformats.org/markup-compatibility/2006">
              <mc:Choice xmlns:v="urn:schemas-microsoft-com:vml" Requires="v">
                <p:oleObj spid="_x0000_s173982" name="Equation" r:id="rId10" imgW="2120760" imgH="279360" progId="Equation.DSMT4">
                  <p:embed/>
                </p:oleObj>
              </mc:Choice>
              <mc:Fallback>
                <p:oleObj name="Equation" r:id="rId10" imgW="2120760" imgH="279360" progId="Equation.DSMT4">
                  <p:embed/>
                  <p:pic>
                    <p:nvPicPr>
                      <p:cNvPr id="0" name="Picture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33412" y="3991575"/>
                        <a:ext cx="3367088"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1" name="直接箭头连接符 20"/>
          <p:cNvCxnSpPr/>
          <p:nvPr/>
        </p:nvCxnSpPr>
        <p:spPr>
          <a:xfrm flipV="1">
            <a:off x="4667241" y="4209062"/>
            <a:ext cx="2061379" cy="29150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73068" name="Object 12"/>
          <p:cNvGraphicFramePr>
            <a:graphicFrameLocks noChangeAspect="1"/>
          </p:cNvGraphicFramePr>
          <p:nvPr>
            <p:extLst>
              <p:ext uri="{D42A27DB-BD31-4B8C-83A1-F6EECF244321}">
                <p14:modId xmlns:p14="http://schemas.microsoft.com/office/powerpoint/2010/main" val="3524533863"/>
              </p:ext>
            </p:extLst>
          </p:nvPr>
        </p:nvGraphicFramePr>
        <p:xfrm>
          <a:off x="6761963" y="5026028"/>
          <a:ext cx="3749675" cy="1109662"/>
        </p:xfrm>
        <a:graphic>
          <a:graphicData uri="http://schemas.openxmlformats.org/presentationml/2006/ole">
            <mc:AlternateContent xmlns:mc="http://schemas.openxmlformats.org/markup-compatibility/2006">
              <mc:Choice xmlns:v="urn:schemas-microsoft-com:vml" Requires="v">
                <p:oleObj spid="_x0000_s173983" name="Equation" r:id="rId12" imgW="2361960" imgH="711000" progId="Equation.DSMT4">
                  <p:embed/>
                </p:oleObj>
              </mc:Choice>
              <mc:Fallback>
                <p:oleObj name="Equation" r:id="rId12" imgW="2361960" imgH="711000" progId="Equation.DSMT4">
                  <p:embed/>
                  <p:pic>
                    <p:nvPicPr>
                      <p:cNvPr id="0" name="Picture 12"/>
                      <p:cNvPicPr>
                        <a:picLocks noChangeAspect="1" noChangeArrowheads="1"/>
                      </p:cNvPicPr>
                      <p:nvPr/>
                    </p:nvPicPr>
                    <p:blipFill>
                      <a:blip r:embed="rId13"/>
                      <a:srcRect/>
                      <a:stretch>
                        <a:fillRect/>
                      </a:stretch>
                    </p:blipFill>
                    <p:spPr bwMode="auto">
                      <a:xfrm>
                        <a:off x="6761963" y="5026028"/>
                        <a:ext cx="3749675" cy="1109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4" name="直接箭头连接符 23"/>
          <p:cNvCxnSpPr/>
          <p:nvPr/>
        </p:nvCxnSpPr>
        <p:spPr>
          <a:xfrm flipV="1">
            <a:off x="4634046" y="5580859"/>
            <a:ext cx="2104893" cy="5270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标题 1"/>
          <p:cNvSpPr>
            <a:spLocks noGrp="1"/>
          </p:cNvSpPr>
          <p:nvPr>
            <p:ph type="title"/>
          </p:nvPr>
        </p:nvSpPr>
        <p:spPr>
          <a:xfrm>
            <a:off x="1631504" y="171441"/>
            <a:ext cx="9523784" cy="563563"/>
          </a:xfrm>
        </p:spPr>
        <p:txBody>
          <a:bodyPr/>
          <a:lstStyle/>
          <a:p>
            <a:r>
              <a:rPr lang="zh-CN" altLang="en-US" b="0" dirty="0"/>
              <a:t>矩阵求导</a:t>
            </a:r>
            <a:r>
              <a:rPr lang="en-US" altLang="zh-CN" b="0" dirty="0"/>
              <a:t>(</a:t>
            </a:r>
            <a:r>
              <a:rPr lang="en-US" altLang="zh-CN" b="0" dirty="0">
                <a:latin typeface="Times New Roman" panose="02020603050405020304" pitchFamily="18" charset="0"/>
                <a:cs typeface="Times New Roman" panose="02020603050405020304" pitchFamily="18" charset="0"/>
              </a:rPr>
              <a:t>Taking the derivative of the matrix</a:t>
            </a:r>
            <a:r>
              <a:rPr lang="en-US" altLang="zh-CN" b="0" dirty="0"/>
              <a:t>)</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descr="f12-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73844" y="836713"/>
            <a:ext cx="3816424" cy="3753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263352" y="-1"/>
            <a:ext cx="10811048" cy="836713"/>
          </a:xfrm>
          <a:solidFill>
            <a:schemeClr val="bg1"/>
          </a:solidFill>
        </p:spPr>
        <p:txBody>
          <a:bodyPr/>
          <a:lstStyle/>
          <a:p>
            <a:r>
              <a:rPr lang="en-US" altLang="zh-CN" dirty="0"/>
              <a:t>17.2 </a:t>
            </a:r>
            <a:r>
              <a:rPr lang="zh-CN" altLang="en-US" dirty="0"/>
              <a:t>主成分分析</a:t>
            </a:r>
            <a:r>
              <a:rPr lang="en-US" altLang="zh-CN" dirty="0"/>
              <a:t>(Principal Component Analysis)</a:t>
            </a:r>
            <a:endParaRPr lang="zh-CN" altLang="en-US" dirty="0"/>
          </a:p>
        </p:txBody>
      </p:sp>
      <p:sp>
        <p:nvSpPr>
          <p:cNvPr id="3" name="内容占位符 2"/>
          <p:cNvSpPr>
            <a:spLocks noGrp="1"/>
          </p:cNvSpPr>
          <p:nvPr>
            <p:ph idx="1"/>
          </p:nvPr>
        </p:nvSpPr>
        <p:spPr/>
        <p:txBody>
          <a:bodyPr/>
          <a:lstStyle/>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sz="2400" dirty="0">
              <a:latin typeface="Times New Roman" pitchFamily="18" charset="0"/>
              <a:cs typeface="Times New Roman" pitchFamily="18" charset="0"/>
            </a:endParaRPr>
          </a:p>
          <a:p>
            <a:pPr marL="0" indent="0">
              <a:buNone/>
            </a:pPr>
            <a:endParaRPr lang="en-US" altLang="zh-CN" sz="2400" dirty="0">
              <a:latin typeface="Times New Roman" pitchFamily="18" charset="0"/>
              <a:cs typeface="Times New Roman" pitchFamily="18" charset="0"/>
            </a:endParaRPr>
          </a:p>
          <a:p>
            <a:pPr marL="0" indent="0">
              <a:buNone/>
            </a:pPr>
            <a:r>
              <a:rPr lang="en-US" altLang="zh-CN" sz="2400" dirty="0">
                <a:latin typeface="Times New Roman" pitchFamily="18" charset="0"/>
                <a:cs typeface="Times New Roman" pitchFamily="18" charset="0"/>
              </a:rPr>
              <a:t>Ref. </a:t>
            </a:r>
          </a:p>
          <a:p>
            <a:pPr marL="0" indent="0">
              <a:buNone/>
            </a:pPr>
            <a:r>
              <a:rPr lang="en-US" altLang="zh-CN" sz="2400" dirty="0">
                <a:latin typeface="Times New Roman" pitchFamily="18" charset="0"/>
                <a:cs typeface="Times New Roman" pitchFamily="18" charset="0"/>
              </a:rPr>
              <a:t>Andrew Webb, Statistical Pattern Recognition, Wiley, 2002</a:t>
            </a:r>
          </a:p>
          <a:p>
            <a:pPr marL="0" indent="0">
              <a:buNone/>
            </a:pPr>
            <a:r>
              <a:rPr lang="en-US" altLang="zh-CN" sz="2400" dirty="0">
                <a:latin typeface="Times New Roman" pitchFamily="18" charset="0"/>
                <a:cs typeface="Times New Roman" pitchFamily="18" charset="0"/>
              </a:rPr>
              <a:t>Pearson, K., On lines and planes of closest fit to systems of points in space, Philosophical Magazine, 2:559-572, 1901</a:t>
            </a:r>
            <a:endParaRPr lang="en-US" altLang="zh-CN" sz="2400" dirty="0"/>
          </a:p>
          <a:p>
            <a:pPr marL="0" indent="0">
              <a:buNone/>
            </a:pPr>
            <a:r>
              <a:rPr lang="zh-CN" altLang="en-US" sz="2400" b="1" dirty="0">
                <a:latin typeface="宋体" pitchFamily="2" charset="-122"/>
                <a:ea typeface="宋体" pitchFamily="2" charset="-122"/>
              </a:rPr>
              <a:t>目的：出发点是从一组特征中计算出一组</a:t>
            </a:r>
            <a:r>
              <a:rPr lang="zh-CN" altLang="en-US" sz="2400" b="1" dirty="0">
                <a:solidFill>
                  <a:srgbClr val="FF0000"/>
                </a:solidFill>
                <a:latin typeface="宋体" pitchFamily="2" charset="-122"/>
                <a:ea typeface="宋体" pitchFamily="2" charset="-122"/>
              </a:rPr>
              <a:t>按重要性从大到小排列</a:t>
            </a:r>
            <a:r>
              <a:rPr lang="zh-CN" altLang="en-US" sz="2400" b="1" dirty="0">
                <a:latin typeface="宋体" pitchFamily="2" charset="-122"/>
                <a:ea typeface="宋体" pitchFamily="2" charset="-122"/>
              </a:rPr>
              <a:t>的新特征，它们是</a:t>
            </a:r>
            <a:r>
              <a:rPr lang="zh-CN" altLang="en-US" sz="2400" b="1" dirty="0">
                <a:solidFill>
                  <a:srgbClr val="FF0000"/>
                </a:solidFill>
                <a:latin typeface="宋体" pitchFamily="2" charset="-122"/>
                <a:ea typeface="宋体" pitchFamily="2" charset="-122"/>
              </a:rPr>
              <a:t>原有特征的线性组合</a:t>
            </a:r>
            <a:r>
              <a:rPr lang="zh-CN" altLang="en-US" sz="2400" b="1" dirty="0">
                <a:latin typeface="宋体" pitchFamily="2" charset="-122"/>
                <a:ea typeface="宋体" pitchFamily="2" charset="-122"/>
              </a:rPr>
              <a:t>，并且</a:t>
            </a:r>
            <a:r>
              <a:rPr lang="zh-CN" altLang="en-US" sz="2400" b="1" dirty="0">
                <a:solidFill>
                  <a:srgbClr val="FF0000"/>
                </a:solidFill>
                <a:latin typeface="宋体" pitchFamily="2" charset="-122"/>
                <a:ea typeface="宋体" pitchFamily="2" charset="-122"/>
              </a:rPr>
              <a:t>相互之间是不相关的。</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17</a:t>
            </a:fld>
            <a:endParaRPr lang="en-US" altLang="zh-CN" dirty="0"/>
          </a:p>
        </p:txBody>
      </p:sp>
    </p:spTree>
    <p:extLst>
      <p:ext uri="{BB962C8B-B14F-4D97-AF65-F5344CB8AC3E}">
        <p14:creationId xmlns:p14="http://schemas.microsoft.com/office/powerpoint/2010/main" val="270629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
          <p:cNvGraphicFramePr>
            <a:graphicFrameLocks noGrp="1" noChangeAspect="1"/>
          </p:cNvGraphicFramePr>
          <p:nvPr>
            <p:ph idx="1"/>
            <p:extLst>
              <p:ext uri="{D42A27DB-BD31-4B8C-83A1-F6EECF244321}">
                <p14:modId xmlns:p14="http://schemas.microsoft.com/office/powerpoint/2010/main" val="2727666070"/>
              </p:ext>
            </p:extLst>
          </p:nvPr>
        </p:nvGraphicFramePr>
        <p:xfrm>
          <a:off x="3032694" y="1304385"/>
          <a:ext cx="3562350" cy="1693863"/>
        </p:xfrm>
        <a:graphic>
          <a:graphicData uri="http://schemas.openxmlformats.org/presentationml/2006/ole">
            <mc:AlternateContent xmlns:mc="http://schemas.openxmlformats.org/markup-compatibility/2006">
              <mc:Choice xmlns:v="urn:schemas-microsoft-com:vml" Requires="v">
                <p:oleObj spid="_x0000_s287403" name="Equation" r:id="rId4" imgW="2057400" imgH="977760" progId="Equation.DSMT4">
                  <p:embed/>
                </p:oleObj>
              </mc:Choice>
              <mc:Fallback>
                <p:oleObj name="Equation" r:id="rId4" imgW="2057400" imgH="977760" progId="Equation.DSMT4">
                  <p:embed/>
                  <p:pic>
                    <p:nvPicPr>
                      <p:cNvPr id="0" name="Object 2"/>
                      <p:cNvPicPr>
                        <a:picLocks noChangeAspect="1" noChangeArrowheads="1"/>
                      </p:cNvPicPr>
                      <p:nvPr/>
                    </p:nvPicPr>
                    <p:blipFill>
                      <a:blip r:embed="rId5"/>
                      <a:srcRect/>
                      <a:stretch>
                        <a:fillRect/>
                      </a:stretch>
                    </p:blipFill>
                    <p:spPr bwMode="auto">
                      <a:xfrm>
                        <a:off x="3032694" y="1304385"/>
                        <a:ext cx="3562350" cy="169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3"/>
          <p:cNvGraphicFramePr>
            <a:graphicFrameLocks noGrp="1" noChangeAspect="1"/>
          </p:cNvGraphicFramePr>
          <p:nvPr>
            <p:ph sz="quarter" idx="4294967295"/>
            <p:extLst>
              <p:ext uri="{D42A27DB-BD31-4B8C-83A1-F6EECF244321}">
                <p14:modId xmlns:p14="http://schemas.microsoft.com/office/powerpoint/2010/main" val="3813648731"/>
              </p:ext>
            </p:extLst>
          </p:nvPr>
        </p:nvGraphicFramePr>
        <p:xfrm>
          <a:off x="6777607" y="1012284"/>
          <a:ext cx="3975100" cy="406400"/>
        </p:xfrm>
        <a:graphic>
          <a:graphicData uri="http://schemas.openxmlformats.org/presentationml/2006/ole">
            <mc:AlternateContent xmlns:mc="http://schemas.openxmlformats.org/markup-compatibility/2006">
              <mc:Choice xmlns:v="urn:schemas-microsoft-com:vml" Requires="v">
                <p:oleObj spid="_x0000_s287404" name="Equation" r:id="rId6" imgW="2361960" imgH="241200" progId="Equation.DSMT4">
                  <p:embed/>
                </p:oleObj>
              </mc:Choice>
              <mc:Fallback>
                <p:oleObj name="Equation" r:id="rId6" imgW="2361960" imgH="241200" progId="Equation.DSMT4">
                  <p:embed/>
                  <p:pic>
                    <p:nvPicPr>
                      <p:cNvPr id="0" name="Object 3"/>
                      <p:cNvPicPr>
                        <a:picLocks noChangeAspect="1" noChangeArrowheads="1"/>
                      </p:cNvPicPr>
                      <p:nvPr/>
                    </p:nvPicPr>
                    <p:blipFill>
                      <a:blip r:embed="rId7"/>
                      <a:srcRect/>
                      <a:stretch>
                        <a:fillRect/>
                      </a:stretch>
                    </p:blipFill>
                    <p:spPr bwMode="auto">
                      <a:xfrm>
                        <a:off x="6777607" y="1012284"/>
                        <a:ext cx="39751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8" name="Object 4"/>
          <p:cNvGraphicFramePr>
            <a:graphicFrameLocks noGrp="1" noChangeAspect="1"/>
          </p:cNvGraphicFramePr>
          <p:nvPr>
            <p:ph sz="quarter" idx="4294967295"/>
            <p:extLst>
              <p:ext uri="{D42A27DB-BD31-4B8C-83A1-F6EECF244321}">
                <p14:modId xmlns:p14="http://schemas.microsoft.com/office/powerpoint/2010/main" val="4104734704"/>
              </p:ext>
            </p:extLst>
          </p:nvPr>
        </p:nvGraphicFramePr>
        <p:xfrm>
          <a:off x="5409183" y="3304634"/>
          <a:ext cx="5367337" cy="427038"/>
        </p:xfrm>
        <a:graphic>
          <a:graphicData uri="http://schemas.openxmlformats.org/presentationml/2006/ole">
            <mc:AlternateContent xmlns:mc="http://schemas.openxmlformats.org/markup-compatibility/2006">
              <mc:Choice xmlns:v="urn:schemas-microsoft-com:vml" Requires="v">
                <p:oleObj spid="_x0000_s287405" name="Equation" r:id="rId8" imgW="3035160" imgH="241200" progId="Equation.DSMT4">
                  <p:embed/>
                </p:oleObj>
              </mc:Choice>
              <mc:Fallback>
                <p:oleObj name="Equation" r:id="rId8" imgW="3035160" imgH="241200" progId="Equation.DSMT4">
                  <p:embed/>
                  <p:pic>
                    <p:nvPicPr>
                      <p:cNvPr id="0" name="Object 4"/>
                      <p:cNvPicPr>
                        <a:picLocks noChangeAspect="1" noChangeArrowheads="1"/>
                      </p:cNvPicPr>
                      <p:nvPr/>
                    </p:nvPicPr>
                    <p:blipFill>
                      <a:blip r:embed="rId9"/>
                      <a:srcRect/>
                      <a:stretch>
                        <a:fillRect/>
                      </a:stretch>
                    </p:blipFill>
                    <p:spPr bwMode="auto">
                      <a:xfrm>
                        <a:off x="5409183" y="3304634"/>
                        <a:ext cx="5367337" cy="427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9" name="Text Box 8"/>
          <p:cNvSpPr txBox="1">
            <a:spLocks noChangeArrowheads="1"/>
          </p:cNvSpPr>
          <p:nvPr/>
        </p:nvSpPr>
        <p:spPr bwMode="auto">
          <a:xfrm>
            <a:off x="2853307" y="3752086"/>
            <a:ext cx="7848600" cy="1569660"/>
          </a:xfrm>
          <a:prstGeom prst="rect">
            <a:avLst/>
          </a:prstGeom>
          <a:noFill/>
          <a:ln w="9525">
            <a:noFill/>
            <a:miter lim="800000"/>
            <a:headEnd/>
            <a:tailEnd/>
          </a:ln>
        </p:spPr>
        <p:txBody>
          <a:bodyPr>
            <a:spAutoFit/>
          </a:bodyPr>
          <a:lstStyle/>
          <a:p>
            <a:pPr marL="174625" indent="-174625">
              <a:spcBef>
                <a:spcPct val="50000"/>
              </a:spcBef>
              <a:buFontTx/>
              <a:buChar cha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第一主成分</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y1</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诠释了数据中的最大的方差</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(variance)</a:t>
            </a:r>
          </a:p>
          <a:p>
            <a:pPr marL="174625" indent="-174625">
              <a:spcBef>
                <a:spcPct val="50000"/>
              </a:spcBef>
              <a:buFontTx/>
              <a:buChar cha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第二主成分</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y2</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诠释了数据中除</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y1</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以外的最大的方差</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marL="174625" indent="-174625">
              <a:spcBef>
                <a:spcPct val="50000"/>
              </a:spcBef>
              <a:buFontTx/>
              <a:buChar char="•"/>
            </a:pPr>
            <a:endParaRPr lang="en-US" altLang="zh-TW" sz="2400" b="1"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7" name="直接连接符 6"/>
          <p:cNvCxnSpPr>
            <a:cxnSpLocks noChangeShapeType="1"/>
          </p:cNvCxnSpPr>
          <p:nvPr/>
        </p:nvCxnSpPr>
        <p:spPr bwMode="auto">
          <a:xfrm>
            <a:off x="3608932" y="1661573"/>
            <a:ext cx="285750" cy="1587"/>
          </a:xfrm>
          <a:prstGeom prst="line">
            <a:avLst/>
          </a:prstGeom>
          <a:noFill/>
          <a:ln w="12700" cap="sq" algn="ctr">
            <a:solidFill>
              <a:srgbClr val="C00000"/>
            </a:solidFill>
            <a:round/>
            <a:headEnd type="none" w="sm" len="sm"/>
            <a:tailEnd type="none" w="sm" len="sm"/>
          </a:ln>
        </p:spPr>
      </p:cxnSp>
      <p:cxnSp>
        <p:nvCxnSpPr>
          <p:cNvPr id="9" name="直接连接符 8"/>
          <p:cNvCxnSpPr>
            <a:cxnSpLocks noChangeShapeType="1"/>
          </p:cNvCxnSpPr>
          <p:nvPr/>
        </p:nvCxnSpPr>
        <p:spPr bwMode="auto">
          <a:xfrm>
            <a:off x="4416995" y="1661573"/>
            <a:ext cx="214313" cy="1587"/>
          </a:xfrm>
          <a:prstGeom prst="line">
            <a:avLst/>
          </a:prstGeom>
          <a:noFill/>
          <a:ln w="12700" cap="sq" algn="ctr">
            <a:solidFill>
              <a:srgbClr val="C00000"/>
            </a:solidFill>
            <a:round/>
            <a:headEnd type="none" w="sm" len="sm"/>
            <a:tailEnd type="none" w="sm" len="sm"/>
          </a:ln>
        </p:spPr>
      </p:cxnSp>
      <p:cxnSp>
        <p:nvCxnSpPr>
          <p:cNvPr id="11" name="直接连接符 10"/>
          <p:cNvCxnSpPr>
            <a:cxnSpLocks noChangeShapeType="1"/>
          </p:cNvCxnSpPr>
          <p:nvPr/>
        </p:nvCxnSpPr>
        <p:spPr bwMode="auto">
          <a:xfrm>
            <a:off x="5770884" y="1661573"/>
            <a:ext cx="214312" cy="1587"/>
          </a:xfrm>
          <a:prstGeom prst="line">
            <a:avLst/>
          </a:prstGeom>
          <a:noFill/>
          <a:ln w="12700" cap="sq" algn="ctr">
            <a:solidFill>
              <a:srgbClr val="FF0000"/>
            </a:solidFill>
            <a:round/>
            <a:headEnd type="none" w="sm" len="sm"/>
            <a:tailEnd type="none" w="sm" len="sm"/>
          </a:ln>
        </p:spPr>
      </p:cxnSp>
      <p:cxnSp>
        <p:nvCxnSpPr>
          <p:cNvPr id="13" name="直接箭头连接符 12"/>
          <p:cNvCxnSpPr>
            <a:cxnSpLocks noChangeShapeType="1"/>
          </p:cNvCxnSpPr>
          <p:nvPr/>
        </p:nvCxnSpPr>
        <p:spPr bwMode="auto">
          <a:xfrm flipH="1">
            <a:off x="5917182" y="1215262"/>
            <a:ext cx="644078" cy="89123"/>
          </a:xfrm>
          <a:prstGeom prst="straightConnector1">
            <a:avLst/>
          </a:prstGeom>
          <a:noFill/>
          <a:ln w="12700" cap="sq" algn="ctr">
            <a:solidFill>
              <a:srgbClr val="C00000"/>
            </a:solidFill>
            <a:round/>
            <a:headEnd type="none" w="sm" len="sm"/>
            <a:tailEnd type="arrow" w="med" len="med"/>
          </a:ln>
        </p:spPr>
      </p:cxnSp>
      <p:cxnSp>
        <p:nvCxnSpPr>
          <p:cNvPr id="20" name="直接箭头连接符 19"/>
          <p:cNvCxnSpPr>
            <a:cxnSpLocks noChangeShapeType="1"/>
          </p:cNvCxnSpPr>
          <p:nvPr/>
        </p:nvCxnSpPr>
        <p:spPr bwMode="auto">
          <a:xfrm rot="5400000">
            <a:off x="3558951" y="2375154"/>
            <a:ext cx="571500" cy="1587"/>
          </a:xfrm>
          <a:prstGeom prst="straightConnector1">
            <a:avLst/>
          </a:prstGeom>
          <a:noFill/>
          <a:ln w="12700" cap="sq" algn="ctr">
            <a:solidFill>
              <a:srgbClr val="00B050"/>
            </a:solidFill>
            <a:round/>
            <a:headEnd type="arrow" w="med" len="med"/>
            <a:tailEnd type="arrow" w="med" len="med"/>
          </a:ln>
        </p:spPr>
      </p:cxnSp>
      <p:cxnSp>
        <p:nvCxnSpPr>
          <p:cNvPr id="22" name="直接箭头连接符 21"/>
          <p:cNvCxnSpPr>
            <a:cxnSpLocks noChangeShapeType="1"/>
          </p:cNvCxnSpPr>
          <p:nvPr/>
        </p:nvCxnSpPr>
        <p:spPr bwMode="auto">
          <a:xfrm rot="5400000">
            <a:off x="4309838" y="2340228"/>
            <a:ext cx="500062" cy="0"/>
          </a:xfrm>
          <a:prstGeom prst="straightConnector1">
            <a:avLst/>
          </a:prstGeom>
          <a:noFill/>
          <a:ln w="12700" cap="sq" algn="ctr">
            <a:solidFill>
              <a:srgbClr val="00B050"/>
            </a:solidFill>
            <a:round/>
            <a:headEnd type="arrow" w="med" len="med"/>
            <a:tailEnd type="arrow" w="med" len="med"/>
          </a:ln>
        </p:spPr>
      </p:cxnSp>
      <p:cxnSp>
        <p:nvCxnSpPr>
          <p:cNvPr id="24" name="直接箭头连接符 23"/>
          <p:cNvCxnSpPr>
            <a:cxnSpLocks noChangeShapeType="1"/>
          </p:cNvCxnSpPr>
          <p:nvPr/>
        </p:nvCxnSpPr>
        <p:spPr bwMode="auto">
          <a:xfrm rot="5400000">
            <a:off x="5663951" y="2339435"/>
            <a:ext cx="500062" cy="1587"/>
          </a:xfrm>
          <a:prstGeom prst="straightConnector1">
            <a:avLst/>
          </a:prstGeom>
          <a:noFill/>
          <a:ln w="12700" cap="sq" algn="ctr">
            <a:solidFill>
              <a:srgbClr val="00B050"/>
            </a:solidFill>
            <a:round/>
            <a:headEnd type="arrow" w="med" len="med"/>
            <a:tailEnd type="arrow" w="med" len="med"/>
          </a:ln>
        </p:spPr>
      </p:cxnSp>
      <p:cxnSp>
        <p:nvCxnSpPr>
          <p:cNvPr id="30" name="直接箭头连接符 29"/>
          <p:cNvCxnSpPr>
            <a:cxnSpLocks noChangeShapeType="1"/>
          </p:cNvCxnSpPr>
          <p:nvPr/>
        </p:nvCxnSpPr>
        <p:spPr bwMode="auto">
          <a:xfrm rot="10800000">
            <a:off x="6131495" y="2447385"/>
            <a:ext cx="1357313" cy="785813"/>
          </a:xfrm>
          <a:prstGeom prst="straightConnector1">
            <a:avLst/>
          </a:prstGeom>
          <a:noFill/>
          <a:ln w="12700" cap="sq" algn="ctr">
            <a:solidFill>
              <a:srgbClr val="00B050"/>
            </a:solidFill>
            <a:round/>
            <a:headEnd type="none" w="sm" len="sm"/>
            <a:tailEnd type="arrow" w="med" len="med"/>
          </a:ln>
        </p:spPr>
      </p:cxnSp>
      <p:sp>
        <p:nvSpPr>
          <p:cNvPr id="18" name="标题 1"/>
          <p:cNvSpPr>
            <a:spLocks noGrp="1"/>
          </p:cNvSpPr>
          <p:nvPr>
            <p:ph type="title"/>
          </p:nvPr>
        </p:nvSpPr>
        <p:spPr>
          <a:xfrm>
            <a:off x="323714" y="116929"/>
            <a:ext cx="6499448" cy="540296"/>
          </a:xfrm>
          <a:solidFill>
            <a:schemeClr val="bg1"/>
          </a:solidFill>
        </p:spPr>
        <p:txBody>
          <a:bodyPr/>
          <a:lstStyle/>
          <a:p>
            <a:r>
              <a:rPr lang="en-US" altLang="zh-CN" dirty="0"/>
              <a:t>17.2 </a:t>
            </a:r>
            <a:r>
              <a:rPr lang="zh-CN" altLang="en-US" dirty="0"/>
              <a:t>主成分分析</a:t>
            </a:r>
            <a:r>
              <a:rPr lang="en-US" altLang="zh-CN" dirty="0"/>
              <a:t>PCA</a:t>
            </a:r>
            <a:endParaRPr lang="zh-CN" altLang="en-US" dirty="0"/>
          </a:p>
        </p:txBody>
      </p:sp>
      <p:sp>
        <p:nvSpPr>
          <p:cNvPr id="15" name="灯片编号占位符 14"/>
          <p:cNvSpPr>
            <a:spLocks noGrp="1"/>
          </p:cNvSpPr>
          <p:nvPr>
            <p:ph type="sldNum" sz="quarter" idx="11"/>
          </p:nvPr>
        </p:nvSpPr>
        <p:spPr/>
        <p:txBody>
          <a:bodyPr/>
          <a:lstStyle/>
          <a:p>
            <a:pPr>
              <a:defRPr/>
            </a:pPr>
            <a:fld id="{31E287EE-1289-4991-82CE-EFE584F53F4F}" type="slidenum">
              <a:rPr lang="en-US" altLang="zh-CN" smtClean="0"/>
              <a:pPr>
                <a:defRPr/>
              </a:pPr>
              <a:t>18</a:t>
            </a:fld>
            <a:endParaRPr lang="en-US" altLang="zh-CN" dirty="0"/>
          </a:p>
        </p:txBody>
      </p:sp>
      <p:sp>
        <p:nvSpPr>
          <p:cNvPr id="16" name="矩形 15"/>
          <p:cNvSpPr/>
          <p:nvPr/>
        </p:nvSpPr>
        <p:spPr>
          <a:xfrm>
            <a:off x="603106" y="5146265"/>
            <a:ext cx="4716356" cy="400110"/>
          </a:xfrm>
          <a:prstGeom prst="rect">
            <a:avLst/>
          </a:prstGeom>
        </p:spPr>
        <p:txBody>
          <a:bodyPr wrap="none">
            <a:spAutoFit/>
          </a:bodyPr>
          <a:lstStyle/>
          <a:p>
            <a:r>
              <a:rPr lang="zh-CN" altLang="en-US" sz="2000" dirty="0">
                <a:solidFill>
                  <a:srgbClr val="4D4D4D"/>
                </a:solidFill>
                <a:latin typeface="Times New Roman" panose="02020603050405020304" pitchFamily="18" charset="0"/>
              </a:rPr>
              <a:t>设共有</a:t>
            </a:r>
            <a:r>
              <a:rPr lang="en-US" altLang="zh-CN" sz="2000" i="1" dirty="0">
                <a:solidFill>
                  <a:srgbClr val="4D4D4D"/>
                </a:solidFill>
                <a:latin typeface="Times New Roman" panose="02020603050405020304" pitchFamily="18" charset="0"/>
              </a:rPr>
              <a:t>C</a:t>
            </a:r>
            <a:r>
              <a:rPr lang="zh-CN" altLang="en-US" sz="2000" dirty="0">
                <a:solidFill>
                  <a:srgbClr val="4D4D4D"/>
                </a:solidFill>
                <a:latin typeface="Times New Roman" panose="02020603050405020304" pitchFamily="18" charset="0"/>
              </a:rPr>
              <a:t>个类别，各类出现的先验概率为</a:t>
            </a:r>
            <a:endParaRPr lang="zh-CN" altLang="en-US" sz="2000" dirty="0"/>
          </a:p>
        </p:txBody>
      </p:sp>
      <p:graphicFrame>
        <p:nvGraphicFramePr>
          <p:cNvPr id="17" name="Object 19"/>
          <p:cNvGraphicFramePr>
            <a:graphicFrameLocks noChangeAspect="1"/>
          </p:cNvGraphicFramePr>
          <p:nvPr>
            <p:extLst>
              <p:ext uri="{D42A27DB-BD31-4B8C-83A1-F6EECF244321}">
                <p14:modId xmlns:p14="http://schemas.microsoft.com/office/powerpoint/2010/main" val="3924626258"/>
              </p:ext>
            </p:extLst>
          </p:nvPr>
        </p:nvGraphicFramePr>
        <p:xfrm>
          <a:off x="7032104" y="5516812"/>
          <a:ext cx="1471612" cy="474662"/>
        </p:xfrm>
        <a:graphic>
          <a:graphicData uri="http://schemas.openxmlformats.org/presentationml/2006/ole">
            <mc:AlternateContent xmlns:mc="http://schemas.openxmlformats.org/markup-compatibility/2006">
              <mc:Choice xmlns:v="urn:schemas-microsoft-com:vml" Requires="v">
                <p:oleObj spid="_x0000_s287406" name="Equation" r:id="rId10" imgW="863280" imgH="279360" progId="Equation.DSMT4">
                  <p:embed/>
                </p:oleObj>
              </mc:Choice>
              <mc:Fallback>
                <p:oleObj name="Equation" r:id="rId10" imgW="863280" imgH="279360" progId="Equation.DSMT4">
                  <p:embed/>
                  <p:pic>
                    <p:nvPicPr>
                      <p:cNvPr id="19" name="Object 19"/>
                      <p:cNvPicPr>
                        <a:picLocks noChangeAspect="1" noChangeArrowheads="1"/>
                      </p:cNvPicPr>
                      <p:nvPr/>
                    </p:nvPicPr>
                    <p:blipFill>
                      <a:blip r:embed="rId11"/>
                      <a:srcRect/>
                      <a:stretch>
                        <a:fillRect/>
                      </a:stretch>
                    </p:blipFill>
                    <p:spPr bwMode="auto">
                      <a:xfrm>
                        <a:off x="7032104" y="5516812"/>
                        <a:ext cx="1471612" cy="474662"/>
                      </a:xfrm>
                      <a:prstGeom prst="rect">
                        <a:avLst/>
                      </a:prstGeom>
                      <a:solidFill>
                        <a:schemeClr val="bg1"/>
                      </a:solidFill>
                    </p:spPr>
                  </p:pic>
                </p:oleObj>
              </mc:Fallback>
            </mc:AlternateContent>
          </a:graphicData>
        </a:graphic>
      </p:graphicFrame>
      <p:sp>
        <p:nvSpPr>
          <p:cNvPr id="19" name="矩形 18"/>
          <p:cNvSpPr/>
          <p:nvPr/>
        </p:nvSpPr>
        <p:spPr>
          <a:xfrm>
            <a:off x="564720" y="5547177"/>
            <a:ext cx="6662378" cy="400110"/>
          </a:xfrm>
          <a:prstGeom prst="rect">
            <a:avLst/>
          </a:prstGeom>
        </p:spPr>
        <p:txBody>
          <a:bodyPr wrap="square">
            <a:spAutoFit/>
          </a:bodyPr>
          <a:lstStyle/>
          <a:p>
            <a:pPr lvl="0" algn="ctr" eaLnBrk="0" hangingPunct="0"/>
            <a:r>
              <a:rPr lang="zh-CN" altLang="zh-CN" sz="2000" dirty="0">
                <a:solidFill>
                  <a:srgbClr val="4D4D4D"/>
                </a:solidFill>
                <a:latin typeface="Times New Roman" panose="02020603050405020304" pitchFamily="18" charset="0"/>
                <a:ea typeface="-apple-system"/>
                <a:cs typeface="Times New Roman" panose="02020603050405020304" pitchFamily="18" charset="0"/>
              </a:rPr>
              <a:t>以</a:t>
            </a:r>
            <a:r>
              <a:rPr lang="en-US" altLang="zh-CN" sz="2000" i="1" dirty="0">
                <a:solidFill>
                  <a:srgbClr val="4D4D4D"/>
                </a:solidFill>
                <a:latin typeface="Times New Roman" panose="02020603050405020304" pitchFamily="18" charset="0"/>
                <a:ea typeface="-apple-system"/>
                <a:cs typeface="Times New Roman" panose="02020603050405020304" pitchFamily="18" charset="0"/>
              </a:rPr>
              <a:t>x</a:t>
            </a:r>
            <a:r>
              <a:rPr lang="en-US" altLang="zh-CN" sz="2000" i="1" baseline="-25000" dirty="0">
                <a:solidFill>
                  <a:srgbClr val="4D4D4D"/>
                </a:solidFill>
                <a:latin typeface="Times New Roman" panose="02020603050405020304" pitchFamily="18" charset="0"/>
                <a:ea typeface="-apple-system"/>
                <a:cs typeface="Times New Roman" panose="02020603050405020304" pitchFamily="18" charset="0"/>
              </a:rPr>
              <a:t>i</a:t>
            </a:r>
            <a:r>
              <a:rPr lang="zh-CN" altLang="zh-CN" sz="2000" dirty="0">
                <a:solidFill>
                  <a:srgbClr val="4D4D4D"/>
                </a:solidFill>
                <a:latin typeface="Times New Roman" panose="02020603050405020304" pitchFamily="18" charset="0"/>
                <a:ea typeface="-apple-system"/>
                <a:cs typeface="Times New Roman" panose="02020603050405020304" pitchFamily="18" charset="0"/>
              </a:rPr>
              <a:t>表示来自第</a:t>
            </a:r>
            <a:r>
              <a:rPr lang="zh-CN" altLang="zh-CN" sz="2000" i="1" dirty="0">
                <a:solidFill>
                  <a:srgbClr val="4D4D4D"/>
                </a:solidFill>
                <a:latin typeface="Times New Roman" panose="02020603050405020304" pitchFamily="18" charset="0"/>
                <a:ea typeface="-apple-system"/>
                <a:cs typeface="Times New Roman" panose="02020603050405020304" pitchFamily="18" charset="0"/>
              </a:rPr>
              <a:t>i</a:t>
            </a:r>
            <a:r>
              <a:rPr lang="zh-CN" altLang="zh-CN" sz="2000" dirty="0">
                <a:solidFill>
                  <a:srgbClr val="4D4D4D"/>
                </a:solidFill>
                <a:latin typeface="Times New Roman" panose="02020603050405020304" pitchFamily="18" charset="0"/>
                <a:ea typeface="-apple-system"/>
                <a:cs typeface="Times New Roman" panose="02020603050405020304" pitchFamily="18" charset="0"/>
              </a:rPr>
              <a:t>类的向量。则第</a:t>
            </a:r>
            <a:r>
              <a:rPr lang="zh-CN" altLang="zh-CN" sz="2000" i="1" dirty="0">
                <a:solidFill>
                  <a:srgbClr val="4D4D4D"/>
                </a:solidFill>
                <a:latin typeface="Times New Roman" panose="02020603050405020304" pitchFamily="18" charset="0"/>
                <a:ea typeface="-apple-system"/>
                <a:cs typeface="Times New Roman" panose="02020603050405020304" pitchFamily="18" charset="0"/>
              </a:rPr>
              <a:t>i</a:t>
            </a:r>
            <a:r>
              <a:rPr lang="zh-CN" altLang="zh-CN" sz="2000" dirty="0">
                <a:solidFill>
                  <a:srgbClr val="4D4D4D"/>
                </a:solidFill>
                <a:latin typeface="Times New Roman" panose="02020603050405020304" pitchFamily="18" charset="0"/>
                <a:ea typeface="-apple-system"/>
                <a:cs typeface="Times New Roman" panose="02020603050405020304" pitchFamily="18" charset="0"/>
              </a:rPr>
              <a:t>类集群的</a:t>
            </a:r>
            <a:r>
              <a:rPr lang="zh-CN" altLang="zh-CN" sz="2000" b="1" dirty="0">
                <a:solidFill>
                  <a:srgbClr val="FF0000"/>
                </a:solidFill>
                <a:latin typeface="Times New Roman" panose="02020603050405020304" pitchFamily="18" charset="0"/>
                <a:ea typeface="-apple-system"/>
                <a:cs typeface="Times New Roman" panose="02020603050405020304" pitchFamily="18" charset="0"/>
              </a:rPr>
              <a:t>自相关矩阵</a:t>
            </a:r>
            <a:r>
              <a:rPr lang="zh-CN" altLang="zh-CN" sz="2000" dirty="0">
                <a:solidFill>
                  <a:srgbClr val="4D4D4D"/>
                </a:solidFill>
                <a:latin typeface="Times New Roman" panose="02020603050405020304" pitchFamily="18" charset="0"/>
                <a:ea typeface="-apple-system"/>
                <a:cs typeface="Times New Roman" panose="02020603050405020304" pitchFamily="18" charset="0"/>
              </a:rPr>
              <a:t>为：  </a:t>
            </a:r>
          </a:p>
        </p:txBody>
      </p:sp>
      <p:sp>
        <p:nvSpPr>
          <p:cNvPr id="21" name="矩形 20"/>
          <p:cNvSpPr/>
          <p:nvPr/>
        </p:nvSpPr>
        <p:spPr>
          <a:xfrm>
            <a:off x="564720" y="6052189"/>
            <a:ext cx="3419526" cy="400110"/>
          </a:xfrm>
          <a:prstGeom prst="rect">
            <a:avLst/>
          </a:prstGeom>
        </p:spPr>
        <p:txBody>
          <a:bodyPr wrap="none">
            <a:spAutoFit/>
          </a:bodyPr>
          <a:lstStyle/>
          <a:p>
            <a:r>
              <a:rPr lang="zh-CN" altLang="en-US" sz="2000" dirty="0">
                <a:solidFill>
                  <a:srgbClr val="4D4D4D"/>
                </a:solidFill>
                <a:latin typeface="Times New Roman" panose="02020603050405020304" pitchFamily="18" charset="0"/>
              </a:rPr>
              <a:t>混合分布的</a:t>
            </a:r>
            <a:r>
              <a:rPr lang="zh-CN" altLang="en-US" sz="2000" b="1" dirty="0">
                <a:solidFill>
                  <a:srgbClr val="FF0000"/>
                </a:solidFill>
                <a:latin typeface="Times New Roman" panose="02020603050405020304" pitchFamily="18" charset="0"/>
              </a:rPr>
              <a:t>自相关矩阵</a:t>
            </a:r>
            <a:r>
              <a:rPr lang="en-US" altLang="zh-CN" sz="2000" i="1" dirty="0">
                <a:solidFill>
                  <a:srgbClr val="4D4D4D"/>
                </a:solidFill>
                <a:latin typeface="Times New Roman" panose="02020603050405020304" pitchFamily="18" charset="0"/>
              </a:rPr>
              <a:t>R</a:t>
            </a:r>
            <a:r>
              <a:rPr lang="zh-CN" altLang="en-US" sz="2000" dirty="0">
                <a:solidFill>
                  <a:srgbClr val="4D4D4D"/>
                </a:solidFill>
                <a:latin typeface="Times New Roman" panose="02020603050405020304" pitchFamily="18" charset="0"/>
              </a:rPr>
              <a:t>是：</a:t>
            </a:r>
            <a:endParaRPr lang="zh-CN" altLang="en-US" sz="2000" dirty="0"/>
          </a:p>
        </p:txBody>
      </p:sp>
      <p:graphicFrame>
        <p:nvGraphicFramePr>
          <p:cNvPr id="23" name="Object 19"/>
          <p:cNvGraphicFramePr>
            <a:graphicFrameLocks noChangeAspect="1"/>
          </p:cNvGraphicFramePr>
          <p:nvPr>
            <p:extLst>
              <p:ext uri="{D42A27DB-BD31-4B8C-83A1-F6EECF244321}">
                <p14:modId xmlns:p14="http://schemas.microsoft.com/office/powerpoint/2010/main" val="184025272"/>
              </p:ext>
            </p:extLst>
          </p:nvPr>
        </p:nvGraphicFramePr>
        <p:xfrm>
          <a:off x="5188296" y="5176789"/>
          <a:ext cx="2101850" cy="431800"/>
        </p:xfrm>
        <a:graphic>
          <a:graphicData uri="http://schemas.openxmlformats.org/presentationml/2006/ole">
            <mc:AlternateContent xmlns:mc="http://schemas.openxmlformats.org/markup-compatibility/2006">
              <mc:Choice xmlns:v="urn:schemas-microsoft-com:vml" Requires="v">
                <p:oleObj spid="_x0000_s287407" name="Equation" r:id="rId12" imgW="1231560" imgH="253800" progId="Equation.DSMT4">
                  <p:embed/>
                </p:oleObj>
              </mc:Choice>
              <mc:Fallback>
                <p:oleObj name="Equation" r:id="rId12" imgW="1231560" imgH="253800" progId="Equation.DSMT4">
                  <p:embed/>
                  <p:pic>
                    <p:nvPicPr>
                      <p:cNvPr id="25" name="Object 19"/>
                      <p:cNvPicPr>
                        <a:picLocks noChangeAspect="1" noChangeArrowheads="1"/>
                      </p:cNvPicPr>
                      <p:nvPr/>
                    </p:nvPicPr>
                    <p:blipFill>
                      <a:blip r:embed="rId13"/>
                      <a:srcRect/>
                      <a:stretch>
                        <a:fillRect/>
                      </a:stretch>
                    </p:blipFill>
                    <p:spPr bwMode="auto">
                      <a:xfrm>
                        <a:off x="5188296" y="5176789"/>
                        <a:ext cx="2101850" cy="431800"/>
                      </a:xfrm>
                      <a:prstGeom prst="rect">
                        <a:avLst/>
                      </a:prstGeom>
                      <a:solidFill>
                        <a:schemeClr val="bg1"/>
                      </a:solidFill>
                    </p:spPr>
                  </p:pic>
                </p:oleObj>
              </mc:Fallback>
            </mc:AlternateContent>
          </a:graphicData>
        </a:graphic>
      </p:graphicFrame>
      <p:graphicFrame>
        <p:nvGraphicFramePr>
          <p:cNvPr id="25" name="Object 19"/>
          <p:cNvGraphicFramePr>
            <a:graphicFrameLocks noChangeAspect="1"/>
          </p:cNvGraphicFramePr>
          <p:nvPr>
            <p:extLst>
              <p:ext uri="{D42A27DB-BD31-4B8C-83A1-F6EECF244321}">
                <p14:modId xmlns:p14="http://schemas.microsoft.com/office/powerpoint/2010/main" val="2365067859"/>
              </p:ext>
            </p:extLst>
          </p:nvPr>
        </p:nvGraphicFramePr>
        <p:xfrm>
          <a:off x="3843907" y="5905107"/>
          <a:ext cx="3878262" cy="733425"/>
        </p:xfrm>
        <a:graphic>
          <a:graphicData uri="http://schemas.openxmlformats.org/presentationml/2006/ole">
            <mc:AlternateContent xmlns:mc="http://schemas.openxmlformats.org/markup-compatibility/2006">
              <mc:Choice xmlns:v="urn:schemas-microsoft-com:vml" Requires="v">
                <p:oleObj spid="_x0000_s287408" name="Equation" r:id="rId14" imgW="2273040" imgH="431640" progId="Equation.DSMT4">
                  <p:embed/>
                </p:oleObj>
              </mc:Choice>
              <mc:Fallback>
                <p:oleObj name="Equation" r:id="rId14" imgW="2273040" imgH="431640" progId="Equation.DSMT4">
                  <p:embed/>
                  <p:pic>
                    <p:nvPicPr>
                      <p:cNvPr id="26" name="Object 19"/>
                      <p:cNvPicPr>
                        <a:picLocks noChangeAspect="1" noChangeArrowheads="1"/>
                      </p:cNvPicPr>
                      <p:nvPr/>
                    </p:nvPicPr>
                    <p:blipFill>
                      <a:blip r:embed="rId15"/>
                      <a:srcRect/>
                      <a:stretch>
                        <a:fillRect/>
                      </a:stretch>
                    </p:blipFill>
                    <p:spPr bwMode="auto">
                      <a:xfrm>
                        <a:off x="3843907" y="5905107"/>
                        <a:ext cx="3878262" cy="733425"/>
                      </a:xfrm>
                      <a:prstGeom prst="rect">
                        <a:avLst/>
                      </a:prstGeom>
                      <a:solidFill>
                        <a:schemeClr val="bg1"/>
                      </a:solidFill>
                    </p:spPr>
                  </p:pic>
                </p:oleObj>
              </mc:Fallback>
            </mc:AlternateContent>
          </a:graphicData>
        </a:graphic>
      </p:graphicFrame>
      <mc:AlternateContent xmlns:mc="http://schemas.openxmlformats.org/markup-compatibility/2006" xmlns:a14="http://schemas.microsoft.com/office/drawing/2010/main">
        <mc:Choice Requires="a14">
          <p:sp>
            <p:nvSpPr>
              <p:cNvPr id="4" name="矩形 3"/>
              <p:cNvSpPr/>
              <p:nvPr/>
            </p:nvSpPr>
            <p:spPr>
              <a:xfrm>
                <a:off x="8503716" y="5554001"/>
                <a:ext cx="3801618" cy="4049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7030A0"/>
                              </a:solidFill>
                              <a:latin typeface="Cambria Math" panose="02040503050406030204" pitchFamily="18" charset="0"/>
                            </a:rPr>
                          </m:ctrlPr>
                        </m:sSubPr>
                        <m:e>
                          <m:r>
                            <a:rPr lang="zh-CN" altLang="en-US">
                              <a:solidFill>
                                <a:srgbClr val="7030A0"/>
                              </a:solidFill>
                              <a:latin typeface="Cambria Math" panose="02040503050406030204" pitchFamily="18" charset="0"/>
                            </a:rPr>
                            <m:t>协方差</m:t>
                          </m:r>
                          <m:r>
                            <a:rPr lang="zh-CN" altLang="en-US" i="1">
                              <a:solidFill>
                                <a:srgbClr val="7030A0"/>
                              </a:solidFill>
                              <a:latin typeface="Cambria Math" panose="02040503050406030204" pitchFamily="18" charset="0"/>
                            </a:rPr>
                            <m:t>阵</m:t>
                          </m:r>
                          <m:r>
                            <a:rPr lang="zh-CN" altLang="en-US" i="1">
                              <a:solidFill>
                                <a:srgbClr val="7030A0"/>
                              </a:solidFill>
                              <a:latin typeface="Cambria Math" panose="02040503050406030204" pitchFamily="18" charset="0"/>
                            </a:rPr>
                            <m:t>𝐶</m:t>
                          </m:r>
                        </m:e>
                        <m:sub>
                          <m:r>
                            <a:rPr lang="en-US" altLang="zh-CN" i="1">
                              <a:solidFill>
                                <a:srgbClr val="7030A0"/>
                              </a:solidFill>
                              <a:latin typeface="Cambria Math" panose="02040503050406030204" pitchFamily="18" charset="0"/>
                            </a:rPr>
                            <m:t>𝑋</m:t>
                          </m:r>
                        </m:sub>
                      </m:sSub>
                      <m:r>
                        <a:rPr lang="zh-CN" altLang="en-US">
                          <a:solidFill>
                            <a:srgbClr val="7030A0"/>
                          </a:solidFill>
                          <a:latin typeface="Cambria Math" panose="02040503050406030204" pitchFamily="18" charset="0"/>
                        </a:rPr>
                        <m:t>=</m:t>
                      </m:r>
                      <m:r>
                        <a:rPr lang="zh-CN" altLang="en-US" i="1">
                          <a:solidFill>
                            <a:srgbClr val="7030A0"/>
                          </a:solidFill>
                          <a:latin typeface="Cambria Math" panose="02040503050406030204" pitchFamily="18" charset="0"/>
                        </a:rPr>
                        <m:t>𝐸</m:t>
                      </m:r>
                      <m:d>
                        <m:dPr>
                          <m:begChr m:val="["/>
                          <m:endChr m:val="]"/>
                          <m:ctrlPr>
                            <a:rPr lang="zh-CN" altLang="en-US" i="1">
                              <a:solidFill>
                                <a:srgbClr val="7030A0"/>
                              </a:solidFill>
                              <a:latin typeface="Cambria Math" panose="02040503050406030204" pitchFamily="18" charset="0"/>
                            </a:rPr>
                          </m:ctrlPr>
                        </m:dPr>
                        <m:e>
                          <m:d>
                            <m:dPr>
                              <m:endChr m:val=""/>
                              <m:ctrlPr>
                                <a:rPr lang="zh-CN" altLang="en-US" i="1">
                                  <a:solidFill>
                                    <a:srgbClr val="7030A0"/>
                                  </a:solidFill>
                                  <a:latin typeface="Cambria Math" panose="02040503050406030204" pitchFamily="18" charset="0"/>
                                </a:rPr>
                              </m:ctrlPr>
                            </m:dPr>
                            <m:e>
                              <m:r>
                                <a:rPr lang="en-US" altLang="zh-CN" i="1">
                                  <a:solidFill>
                                    <a:srgbClr val="7030A0"/>
                                  </a:solidFill>
                                  <a:latin typeface="Cambria Math" panose="02040503050406030204" pitchFamily="18" charset="0"/>
                                </a:rPr>
                                <m:t>𝑋</m:t>
                              </m:r>
                              <m:r>
                                <a:rPr lang="zh-CN" altLang="en-US">
                                  <a:solidFill>
                                    <a:srgbClr val="7030A0"/>
                                  </a:solidFill>
                                  <a:latin typeface="Cambria Math" panose="02040503050406030204" pitchFamily="18" charset="0"/>
                                </a:rPr>
                                <m:t>−</m:t>
                              </m:r>
                              <m:r>
                                <m:rPr>
                                  <m:nor/>
                                </m:rPr>
                                <a:rPr lang="zh-CN" altLang="en-US" i="1">
                                  <a:solidFill>
                                    <a:srgbClr val="7030A0"/>
                                  </a:solidFill>
                                  <a:latin typeface="Cambria Math" panose="02040503050406030204" pitchFamily="18" charset="0"/>
                                </a:rPr>
                                <m:t> </m:t>
                              </m:r>
                              <m:acc>
                                <m:accPr>
                                  <m:chr m:val="̅"/>
                                  <m:ctrlPr>
                                    <a:rPr lang="zh-CN" altLang="en-US" i="1">
                                      <a:solidFill>
                                        <a:srgbClr val="7030A0"/>
                                      </a:solidFill>
                                      <a:latin typeface="Cambria Math" panose="02040503050406030204" pitchFamily="18" charset="0"/>
                                    </a:rPr>
                                  </m:ctrlPr>
                                </m:accPr>
                                <m:e>
                                  <m:r>
                                    <a:rPr lang="en-US" altLang="zh-CN" i="1">
                                      <a:solidFill>
                                        <a:srgbClr val="7030A0"/>
                                      </a:solidFill>
                                      <a:latin typeface="Cambria Math" panose="02040503050406030204" pitchFamily="18" charset="0"/>
                                    </a:rPr>
                                    <m:t>𝑋</m:t>
                                  </m:r>
                                </m:e>
                              </m:acc>
                              <m:r>
                                <a:rPr lang="zh-CN" altLang="en-US">
                                  <a:solidFill>
                                    <a:srgbClr val="7030A0"/>
                                  </a:solidFill>
                                  <a:latin typeface="Cambria Math" panose="02040503050406030204" pitchFamily="18" charset="0"/>
                                </a:rPr>
                                <m:t>)</m:t>
                              </m:r>
                              <m:sSup>
                                <m:sSupPr>
                                  <m:ctrlPr>
                                    <a:rPr lang="zh-CN" altLang="en-US" i="1">
                                      <a:solidFill>
                                        <a:srgbClr val="7030A0"/>
                                      </a:solidFill>
                                      <a:latin typeface="Cambria Math" panose="02040503050406030204" pitchFamily="18" charset="0"/>
                                    </a:rPr>
                                  </m:ctrlPr>
                                </m:sSupPr>
                                <m:e>
                                  <m:d>
                                    <m:dPr>
                                      <m:ctrlPr>
                                        <a:rPr lang="zh-CN" altLang="en-US" i="1">
                                          <a:solidFill>
                                            <a:srgbClr val="7030A0"/>
                                          </a:solidFill>
                                          <a:latin typeface="Cambria Math" panose="02040503050406030204" pitchFamily="18" charset="0"/>
                                        </a:rPr>
                                      </m:ctrlPr>
                                    </m:dPr>
                                    <m:e>
                                      <m:r>
                                        <a:rPr lang="en-US" altLang="zh-CN" i="1">
                                          <a:solidFill>
                                            <a:srgbClr val="7030A0"/>
                                          </a:solidFill>
                                          <a:latin typeface="Cambria Math" panose="02040503050406030204" pitchFamily="18" charset="0"/>
                                        </a:rPr>
                                        <m:t>𝑋</m:t>
                                      </m:r>
                                      <m:r>
                                        <a:rPr lang="zh-CN" altLang="en-US">
                                          <a:solidFill>
                                            <a:srgbClr val="7030A0"/>
                                          </a:solidFill>
                                          <a:latin typeface="Cambria Math" panose="02040503050406030204" pitchFamily="18" charset="0"/>
                                        </a:rPr>
                                        <m:t>−</m:t>
                                      </m:r>
                                      <m:r>
                                        <m:rPr>
                                          <m:nor/>
                                        </m:rPr>
                                        <a:rPr lang="zh-CN" altLang="en-US" i="1">
                                          <a:solidFill>
                                            <a:srgbClr val="7030A0"/>
                                          </a:solidFill>
                                          <a:latin typeface="Cambria Math" panose="02040503050406030204" pitchFamily="18" charset="0"/>
                                        </a:rPr>
                                        <m:t> </m:t>
                                      </m:r>
                                      <m:acc>
                                        <m:accPr>
                                          <m:chr m:val="̅"/>
                                          <m:ctrlPr>
                                            <a:rPr lang="zh-CN" altLang="en-US" i="1">
                                              <a:solidFill>
                                                <a:srgbClr val="7030A0"/>
                                              </a:solidFill>
                                              <a:latin typeface="Cambria Math" panose="02040503050406030204" pitchFamily="18" charset="0"/>
                                            </a:rPr>
                                          </m:ctrlPr>
                                        </m:accPr>
                                        <m:e>
                                          <m:r>
                                            <a:rPr lang="en-US" altLang="zh-CN" i="1">
                                              <a:solidFill>
                                                <a:srgbClr val="7030A0"/>
                                              </a:solidFill>
                                              <a:latin typeface="Cambria Math" panose="02040503050406030204" pitchFamily="18" charset="0"/>
                                            </a:rPr>
                                            <m:t>𝑋</m:t>
                                          </m:r>
                                        </m:e>
                                      </m:acc>
                                    </m:e>
                                  </m:d>
                                </m:e>
                                <m:sup>
                                  <m:r>
                                    <a:rPr lang="zh-CN" altLang="en-US" i="1">
                                      <a:solidFill>
                                        <a:srgbClr val="7030A0"/>
                                      </a:solidFill>
                                      <a:latin typeface="Cambria Math" panose="02040503050406030204" pitchFamily="18" charset="0"/>
                                    </a:rPr>
                                    <m:t>𝑇</m:t>
                                  </m:r>
                                </m:sup>
                              </m:sSup>
                            </m:e>
                          </m:d>
                        </m:e>
                      </m:d>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8503716" y="5554001"/>
                <a:ext cx="3801618" cy="404983"/>
              </a:xfrm>
              <a:prstGeom prst="rect">
                <a:avLst/>
              </a:prstGeom>
              <a:blipFill>
                <a:blip r:embed="rId16"/>
                <a:stretch>
                  <a:fillRect t="-153731" b="-228358"/>
                </a:stretch>
              </a:blipFill>
            </p:spPr>
            <p:txBody>
              <a:bodyPr/>
              <a:lstStyle/>
              <a:p>
                <a:r>
                  <a:rPr lang="zh-CN" altLang="en-US">
                    <a:noFill/>
                  </a:rPr>
                  <a:t> </a:t>
                </a:r>
              </a:p>
            </p:txBody>
          </p:sp>
        </mc:Fallback>
      </mc:AlternateContent>
      <p:sp>
        <p:nvSpPr>
          <p:cNvPr id="5" name="文本框 4"/>
          <p:cNvSpPr txBox="1"/>
          <p:nvPr/>
        </p:nvSpPr>
        <p:spPr>
          <a:xfrm>
            <a:off x="119336" y="4761751"/>
            <a:ext cx="2492990" cy="369332"/>
          </a:xfrm>
          <a:prstGeom prst="rect">
            <a:avLst/>
          </a:prstGeom>
          <a:noFill/>
        </p:spPr>
        <p:txBody>
          <a:bodyPr wrap="none" rtlCol="0">
            <a:spAutoFit/>
          </a:bodyPr>
          <a:lstStyle/>
          <a:p>
            <a:r>
              <a:rPr lang="zh-CN" altLang="en-US" dirty="0">
                <a:solidFill>
                  <a:srgbClr val="7030A0"/>
                </a:solidFill>
              </a:rPr>
              <a:t>自相关阵和协方差阵：</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7349" name="Rectangle 2"/>
              <p:cNvSpPr>
                <a:spLocks noGrp="1" noChangeArrowheads="1"/>
              </p:cNvSpPr>
              <p:nvPr>
                <p:ph type="title"/>
              </p:nvPr>
            </p:nvSpPr>
            <p:spPr>
              <a:xfrm>
                <a:off x="1631504" y="940060"/>
                <a:ext cx="9073007" cy="928688"/>
              </a:xfrm>
              <a:solidFill>
                <a:srgbClr val="FFFFFF"/>
              </a:solidFill>
            </p:spPr>
            <p:txBody>
              <a:bodyPr anchor="t"/>
              <a:lstStyle/>
              <a:p>
                <a:pPr>
                  <a:lnSpc>
                    <a:spcPct val="120000"/>
                  </a:lnSpc>
                  <a:defRPr/>
                </a:pPr>
                <a:r>
                  <a:rPr lang="zh-CN" altLang="en-US" sz="2000" dirty="0">
                    <a:latin typeface="+mn-ea"/>
                    <a:ea typeface="+mn-ea"/>
                  </a:rPr>
                  <a:t>使新的分量</a:t>
                </a:r>
                <a:r>
                  <a:rPr lang="en-US" altLang="zh-CN" sz="2000" i="1" dirty="0">
                    <a:latin typeface="+mn-ea"/>
                    <a:ea typeface="+mn-ea"/>
                  </a:rPr>
                  <a:t>y</a:t>
                </a:r>
                <a:r>
                  <a:rPr lang="en-US" altLang="zh-CN" sz="2000" i="1" baseline="-25000" dirty="0">
                    <a:latin typeface="+mn-ea"/>
                    <a:ea typeface="+mn-ea"/>
                  </a:rPr>
                  <a:t>1</a:t>
                </a:r>
                <a:r>
                  <a:rPr lang="zh-CN" altLang="en-US" sz="2000" dirty="0">
                    <a:latin typeface="+mn-ea"/>
                    <a:ea typeface="+mn-ea"/>
                  </a:rPr>
                  <a:t>和</a:t>
                </a:r>
                <a:r>
                  <a:rPr lang="en-US" altLang="zh-CN" sz="2000" i="1" dirty="0">
                    <a:latin typeface="+mn-ea"/>
                    <a:ea typeface="+mn-ea"/>
                  </a:rPr>
                  <a:t>y</a:t>
                </a:r>
                <a:r>
                  <a:rPr lang="en-US" altLang="zh-CN" sz="2000" i="1" baseline="-25000" dirty="0">
                    <a:latin typeface="+mn-ea"/>
                    <a:ea typeface="+mn-ea"/>
                  </a:rPr>
                  <a:t>2</a:t>
                </a:r>
                <a:r>
                  <a:rPr lang="zh-CN" altLang="en-US" sz="2000" dirty="0">
                    <a:latin typeface="Times New Roman" panose="02020603050405020304" pitchFamily="18" charset="0"/>
                    <a:ea typeface="+mn-ea"/>
                    <a:cs typeface="Times New Roman" panose="02020603050405020304" pitchFamily="18" charset="0"/>
                  </a:rPr>
                  <a:t>不相关</a:t>
                </a:r>
                <a:r>
                  <a:rPr lang="en-US" altLang="zh-CN" sz="2000" b="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ea typeface="+mn-ea"/>
                    <a:cs typeface="Times New Roman" panose="02020603050405020304" pitchFamily="18" charset="0"/>
                  </a:rPr>
                  <a:t>(</a:t>
                </a:r>
                <a:r>
                  <a:rPr lang="zh-CN" altLang="en-US" sz="2000" dirty="0">
                    <a:latin typeface="Times New Roman" panose="02020603050405020304" pitchFamily="18" charset="0"/>
                    <a:ea typeface="+mn-ea"/>
                    <a:cs typeface="Times New Roman" panose="02020603050405020304" pitchFamily="18" charset="0"/>
                  </a:rPr>
                  <a:t>或正交</a:t>
                </a:r>
                <a:r>
                  <a:rPr lang="en-US" altLang="zh-CN" sz="2000" dirty="0">
                    <a:latin typeface="Times New Roman" panose="02020603050405020304" pitchFamily="18" charset="0"/>
                    <a:ea typeface="+mn-ea"/>
                    <a:cs typeface="Times New Roman" panose="02020603050405020304" pitchFamily="18" charset="0"/>
                  </a:rPr>
                  <a:t>)</a:t>
                </a:r>
                <a:r>
                  <a:rPr lang="zh-CN" altLang="en-US" sz="2000" dirty="0">
                    <a:latin typeface="Times New Roman" panose="02020603050405020304" pitchFamily="18" charset="0"/>
                    <a:ea typeface="+mn-ea"/>
                    <a:cs typeface="Times New Roman" panose="02020603050405020304" pitchFamily="18" charset="0"/>
                  </a:rPr>
                  <a:t>，</a:t>
                </a:r>
                <a:r>
                  <a:rPr lang="zh-CN" altLang="en-US" sz="2000" dirty="0">
                    <a:latin typeface="+mn-ea"/>
                    <a:ea typeface="+mn-ea"/>
                  </a:rPr>
                  <a:t>两个新的坐标轴方向分别由</a:t>
                </a:r>
                <a14:m>
                  <m:oMath xmlns:m="http://schemas.openxmlformats.org/officeDocument/2006/math">
                    <m:sSub>
                      <m:sSubPr>
                        <m:ctrlPr>
                          <a:rPr lang="zh-CN" altLang="en-US" sz="2000" i="1">
                            <a:latin typeface="Cambria Math" panose="02040503050406030204" pitchFamily="18" charset="0"/>
                          </a:rPr>
                        </m:ctrlPr>
                      </m:sSubPr>
                      <m:e>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𝑡</m:t>
                            </m:r>
                          </m:e>
                        </m:acc>
                      </m:e>
                      <m:sub>
                        <m:r>
                          <a:rPr lang="zh-CN" altLang="en-US" sz="2000">
                            <a:latin typeface="Cambria Math" panose="02040503050406030204" pitchFamily="18" charset="0"/>
                          </a:rPr>
                          <m:t>1</m:t>
                        </m:r>
                      </m:sub>
                    </m:sSub>
                    <m:r>
                      <a:rPr lang="zh-CN" altLang="en-US" sz="2000" i="1">
                        <a:latin typeface="Cambria Math" panose="02040503050406030204" pitchFamily="18" charset="0"/>
                      </a:rPr>
                      <m:t>和</m:t>
                    </m:r>
                  </m:oMath>
                </a14:m>
                <a:r>
                  <a:rPr lang="zh-CN" altLang="en-US" sz="2000" dirty="0"/>
                  <a:t> </a:t>
                </a:r>
                <a14:m>
                  <m:oMath xmlns:m="http://schemas.openxmlformats.org/officeDocument/2006/math">
                    <m:sSub>
                      <m:sSubPr>
                        <m:ctrlPr>
                          <a:rPr lang="zh-CN" altLang="en-US" sz="2000" i="1">
                            <a:latin typeface="Cambria Math" panose="02040503050406030204" pitchFamily="18" charset="0"/>
                          </a:rPr>
                        </m:ctrlPr>
                      </m:sSubPr>
                      <m:e>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𝑡</m:t>
                            </m:r>
                          </m:e>
                        </m:acc>
                      </m:e>
                      <m:sub>
                        <m:r>
                          <a:rPr lang="zh-CN" altLang="en-US" sz="2000">
                            <a:latin typeface="Cambria Math" panose="02040503050406030204" pitchFamily="18" charset="0"/>
                          </a:rPr>
                          <m:t>2</m:t>
                        </m:r>
                      </m:sub>
                    </m:sSub>
                  </m:oMath>
                </a14:m>
                <a:r>
                  <a:rPr lang="zh-CN" altLang="en-US" sz="2000" dirty="0">
                    <a:latin typeface="+mn-ea"/>
                    <a:ea typeface="+mn-ea"/>
                  </a:rPr>
                  <a:t>确定</a:t>
                </a:r>
              </a:p>
            </p:txBody>
          </p:sp>
        </mc:Choice>
        <mc:Fallback xmlns="">
          <p:sp>
            <p:nvSpPr>
              <p:cNvPr id="57349" name="Rectangle 2"/>
              <p:cNvSpPr>
                <a:spLocks noGrp="1" noRot="1" noChangeAspect="1" noMove="1" noResize="1" noEditPoints="1" noAdjustHandles="1" noChangeArrowheads="1" noChangeShapeType="1" noTextEdit="1"/>
              </p:cNvSpPr>
              <p:nvPr>
                <p:ph type="title"/>
              </p:nvPr>
            </p:nvSpPr>
            <p:spPr>
              <a:xfrm>
                <a:off x="1631504" y="940060"/>
                <a:ext cx="9073007" cy="928688"/>
              </a:xfrm>
              <a:blipFill>
                <a:blip r:embed="rId4"/>
                <a:stretch>
                  <a:fillRect l="-739" t="-5229"/>
                </a:stretch>
              </a:blipFill>
            </p:spPr>
            <p:txBody>
              <a:bodyPr/>
              <a:lstStyle/>
              <a:p>
                <a:r>
                  <a:rPr lang="zh-CN" altLang="en-US">
                    <a:noFill/>
                  </a:rPr>
                  <a:t> </a:t>
                </a:r>
              </a:p>
            </p:txBody>
          </p:sp>
        </mc:Fallback>
      </mc:AlternateContent>
      <p:sp>
        <p:nvSpPr>
          <p:cNvPr id="62470" name="Rectangle 16"/>
          <p:cNvSpPr>
            <a:spLocks noChangeArrowheads="1"/>
          </p:cNvSpPr>
          <p:nvPr/>
        </p:nvSpPr>
        <p:spPr bwMode="auto">
          <a:xfrm>
            <a:off x="5159896" y="1718901"/>
            <a:ext cx="6336704" cy="1754326"/>
          </a:xfrm>
          <a:prstGeom prst="rect">
            <a:avLst/>
          </a:prstGeom>
          <a:noFill/>
          <a:ln w="9525">
            <a:noFill/>
            <a:miter lim="800000"/>
            <a:headEnd/>
            <a:tailEnd/>
          </a:ln>
        </p:spPr>
        <p:txBody>
          <a:bodyPr wrap="square">
            <a:spAutoFit/>
          </a:bodyPr>
          <a:lstStyle/>
          <a:p>
            <a:r>
              <a:rPr kumimoji="1" lang="zh-TW" altLang="en-US" dirty="0">
                <a:latin typeface="Times New Roman" panose="02020603050405020304" pitchFamily="18" charset="0"/>
                <a:ea typeface="宋体" panose="02010600030101010101" pitchFamily="2" charset="-122"/>
                <a:cs typeface="Times New Roman" panose="02020603050405020304" pitchFamily="18" charset="0"/>
              </a:rPr>
              <a:t>主成分是</a:t>
            </a:r>
            <a:r>
              <a:rPr kumimoji="1" lang="zh-CN" altLang="en-US" dirty="0">
                <a:latin typeface="Times New Roman" panose="02020603050405020304" pitchFamily="18" charset="0"/>
                <a:ea typeface="宋体" panose="02010600030101010101" pitchFamily="2" charset="-122"/>
                <a:cs typeface="Times New Roman" panose="02020603050405020304" pitchFamily="18" charset="0"/>
              </a:rPr>
              <a:t>这个椭圆</a:t>
            </a:r>
            <a:r>
              <a:rPr kumimoji="1" lang="zh-TW" altLang="en-US" dirty="0">
                <a:latin typeface="Times New Roman" panose="02020603050405020304" pitchFamily="18" charset="0"/>
                <a:ea typeface="宋体" panose="02010600030101010101" pitchFamily="2" charset="-122"/>
                <a:cs typeface="Times New Roman" panose="02020603050405020304" pitchFamily="18" charset="0"/>
              </a:rPr>
              <a:t>的「</a:t>
            </a:r>
            <a:r>
              <a:rPr kumimoji="1" lang="zh-CN" altLang="en-US" dirty="0">
                <a:latin typeface="Times New Roman" panose="02020603050405020304" pitchFamily="18" charset="0"/>
                <a:ea typeface="宋体" panose="02010600030101010101" pitchFamily="2" charset="-122"/>
                <a:cs typeface="Times New Roman" panose="02020603050405020304" pitchFamily="18" charset="0"/>
              </a:rPr>
              <a:t>长轴</a:t>
            </a:r>
            <a:r>
              <a:rPr kumimoji="1" lang="zh-TW" altLang="en-US" dirty="0">
                <a:latin typeface="Times New Roman" panose="02020603050405020304" pitchFamily="18" charset="0"/>
                <a:ea typeface="宋体" panose="02010600030101010101" pitchFamily="2" charset="-122"/>
                <a:cs typeface="Times New Roman" panose="02020603050405020304" pitchFamily="18" charset="0"/>
              </a:rPr>
              <a:t>」方向。</a:t>
            </a:r>
            <a:r>
              <a:rPr kumimoji="1" lang="zh-CN" altLang="en-US" dirty="0">
                <a:latin typeface="Times New Roman" panose="02020603050405020304" pitchFamily="18" charset="0"/>
                <a:ea typeface="宋体" panose="02010600030101010101" pitchFamily="2" charset="-122"/>
                <a:cs typeface="Times New Roman" panose="02020603050405020304" pitchFamily="18" charset="0"/>
              </a:rPr>
              <a:t>短轴</a:t>
            </a:r>
            <a:r>
              <a:rPr kumimoji="1" lang="zh-TW" altLang="en-US" dirty="0">
                <a:latin typeface="Times New Roman" panose="02020603050405020304" pitchFamily="18" charset="0"/>
                <a:ea typeface="宋体" panose="02010600030101010101" pitchFamily="2" charset="-122"/>
                <a:cs typeface="Times New Roman" panose="02020603050405020304" pitchFamily="18" charset="0"/>
              </a:rPr>
              <a:t>的方向和</a:t>
            </a:r>
            <a:r>
              <a:rPr kumimoji="1" lang="zh-CN" altLang="en-US" dirty="0">
                <a:latin typeface="Times New Roman" panose="02020603050405020304" pitchFamily="18" charset="0"/>
                <a:ea typeface="宋体" panose="02010600030101010101" pitchFamily="2" charset="-122"/>
                <a:cs typeface="Times New Roman" panose="02020603050405020304" pitchFamily="18" charset="0"/>
              </a:rPr>
              <a:t>长轴</a:t>
            </a:r>
            <a:r>
              <a:rPr kumimoji="1" lang="zh-TW" altLang="en-US" dirty="0">
                <a:latin typeface="Times New Roman" panose="02020603050405020304" pitchFamily="18" charset="0"/>
                <a:ea typeface="宋体" panose="02010600030101010101" pitchFamily="2" charset="-122"/>
                <a:cs typeface="Times New Roman" panose="02020603050405020304" pitchFamily="18" charset="0"/>
              </a:rPr>
              <a:t>垂直</a:t>
            </a:r>
            <a:r>
              <a:rPr kumimoji="1" lang="zh-CN" altLang="en-US" dirty="0">
                <a:latin typeface="Times New Roman" panose="02020603050405020304" pitchFamily="18" charset="0"/>
                <a:ea typeface="宋体" panose="02010600030101010101" pitchFamily="2" charset="-122"/>
                <a:cs typeface="Times New Roman" panose="02020603050405020304" pitchFamily="18" charset="0"/>
              </a:rPr>
              <a:t>，</a:t>
            </a:r>
            <a:r>
              <a:rPr kumimoji="1" lang="zh-TW" altLang="en-US" dirty="0">
                <a:latin typeface="Times New Roman" panose="02020603050405020304" pitchFamily="18" charset="0"/>
                <a:ea typeface="宋体" panose="02010600030101010101" pitchFamily="2" charset="-122"/>
                <a:cs typeface="Times New Roman" panose="02020603050405020304" pitchFamily="18" charset="0"/>
              </a:rPr>
              <a:t>是「</a:t>
            </a:r>
            <a:r>
              <a:rPr kumimoji="1" lang="zh-CN" altLang="en-US" dirty="0">
                <a:latin typeface="Times New Roman" panose="02020603050405020304" pitchFamily="18" charset="0"/>
                <a:ea typeface="宋体" panose="02010600030101010101" pitchFamily="2" charset="-122"/>
                <a:cs typeface="Times New Roman" panose="02020603050405020304" pitchFamily="18" charset="0"/>
              </a:rPr>
              <a:t>第二个</a:t>
            </a:r>
            <a:r>
              <a:rPr kumimoji="1" lang="zh-TW" altLang="en-US" dirty="0">
                <a:latin typeface="Times New Roman" panose="02020603050405020304" pitchFamily="18" charset="0"/>
                <a:ea typeface="宋体" panose="02010600030101010101" pitchFamily="2" charset="-122"/>
                <a:cs typeface="Times New Roman" panose="02020603050405020304" pitchFamily="18" charset="0"/>
              </a:rPr>
              <a:t>」主成分的方向。</a:t>
            </a:r>
            <a:r>
              <a:rPr kumimoji="1" lang="zh-CN" altLang="en-US" dirty="0">
                <a:latin typeface="Times New Roman" panose="02020603050405020304" pitchFamily="18" charset="0"/>
                <a:ea typeface="宋体" panose="02010600030101010101" pitchFamily="2" charset="-122"/>
                <a:cs typeface="Times New Roman" panose="02020603050405020304" pitchFamily="18" charset="0"/>
              </a:rPr>
              <a:t>变换后的各分量，它们所包括的信息量不同，呈逐渐减少趋势。</a:t>
            </a:r>
            <a:endParaRPr kumimoji="1" lang="en-US" altLang="zh-CN" dirty="0">
              <a:latin typeface="Times New Roman" panose="02020603050405020304" pitchFamily="18" charset="0"/>
              <a:ea typeface="宋体" panose="02010600030101010101" pitchFamily="2" charset="-122"/>
              <a:cs typeface="Times New Roman" panose="02020603050405020304" pitchFamily="18" charset="0"/>
            </a:endParaRPr>
          </a:p>
          <a:p>
            <a:r>
              <a:rPr kumimoji="1" lang="zh-CN" altLang="en-US" dirty="0">
                <a:latin typeface="Times New Roman" panose="02020603050405020304" pitchFamily="18" charset="0"/>
                <a:ea typeface="宋体" panose="02010600030101010101" pitchFamily="2" charset="-122"/>
                <a:cs typeface="Times New Roman" panose="02020603050405020304" pitchFamily="18" charset="0"/>
              </a:rPr>
              <a:t>事实上，第一主分量集中了最大的信息量，常常占</a:t>
            </a:r>
            <a:r>
              <a:rPr kumimoji="1" lang="en-US" altLang="zh-CN" dirty="0">
                <a:latin typeface="Times New Roman" panose="02020603050405020304" pitchFamily="18" charset="0"/>
                <a:ea typeface="宋体" panose="02010600030101010101" pitchFamily="2" charset="-122"/>
                <a:cs typeface="Times New Roman" panose="02020603050405020304" pitchFamily="18" charset="0"/>
              </a:rPr>
              <a:t>80</a:t>
            </a:r>
            <a:r>
              <a:rPr kumimoji="1" lang="zh-CN" altLang="en-US" dirty="0">
                <a:latin typeface="Times New Roman" panose="02020603050405020304" pitchFamily="18" charset="0"/>
                <a:ea typeface="宋体" panose="02010600030101010101" pitchFamily="2" charset="-122"/>
                <a:cs typeface="Times New Roman" panose="02020603050405020304" pitchFamily="18" charset="0"/>
              </a:rPr>
              <a:t>％以上。第二、三主分量的信息量依次很快递减，到了第</a:t>
            </a:r>
            <a:r>
              <a:rPr kumimoji="1" lang="en-US" altLang="zh-CN" dirty="0">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dirty="0">
                <a:latin typeface="Times New Roman" panose="02020603050405020304" pitchFamily="18" charset="0"/>
                <a:ea typeface="宋体" panose="02010600030101010101" pitchFamily="2" charset="-122"/>
                <a:cs typeface="Times New Roman" panose="02020603050405020304" pitchFamily="18" charset="0"/>
              </a:rPr>
              <a:t>分量，信息几乎为零。</a:t>
            </a:r>
            <a:endParaRPr kumimoji="1" lang="zh-TW"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Rectangle 3"/>
          <p:cNvSpPr txBox="1">
            <a:spLocks/>
          </p:cNvSpPr>
          <p:nvPr/>
        </p:nvSpPr>
        <p:spPr bwMode="auto">
          <a:xfrm>
            <a:off x="3719736" y="4071937"/>
            <a:ext cx="7776864" cy="1753121"/>
          </a:xfrm>
          <a:prstGeom prst="rect">
            <a:avLst/>
          </a:prstGeom>
          <a:solidFill>
            <a:schemeClr val="bg1"/>
          </a:solidFill>
          <a:ln w="9525">
            <a:noFill/>
            <a:miter lim="800000"/>
            <a:headEnd/>
            <a:tailEnd/>
          </a:ln>
        </p:spPr>
        <p:txBody>
          <a:bodyPr/>
          <a:lstStyle/>
          <a:p>
            <a:pPr algn="just" eaLnBrk="0" hangingPunct="0">
              <a:spcBef>
                <a:spcPct val="20000"/>
              </a:spcBef>
              <a:buClr>
                <a:schemeClr val="bg2"/>
              </a:buClr>
              <a:buSzPct val="75000"/>
              <a:defRPr/>
            </a:pPr>
            <a:r>
              <a:rPr lang="zh-CN" altLang="en-US" sz="2000" kern="0" dirty="0">
                <a:latin typeface="Times New Roman" panose="02020603050405020304" pitchFamily="18" charset="0"/>
                <a:ea typeface="宋体" panose="02010600030101010101" pitchFamily="2" charset="-122"/>
                <a:cs typeface="Times New Roman" panose="02020603050405020304" pitchFamily="18" charset="0"/>
              </a:rPr>
              <a:t>         从几何意义来看，变换后的主分量空间坐标系与变换前的空间坐标系相比旋转了一个角度。而且新坐标系的坐标轴一定指向数据信息量较大的方向。以二维空间为例，假定某样本的分布呈椭圆状，那么经过旋转后，新坐标系的坐标轴一定分别指向椭圆的长半轴和短半轴方向</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kern="0" dirty="0">
                <a:latin typeface="Times New Roman" panose="02020603050405020304" pitchFamily="18" charset="0"/>
                <a:ea typeface="宋体" panose="02010600030101010101" pitchFamily="2" charset="-122"/>
                <a:cs typeface="Times New Roman" panose="02020603050405020304" pitchFamily="18" charset="0"/>
              </a:rPr>
              <a:t>主分量方向，因为长轴这一方向的信息量最大。</a:t>
            </a:r>
            <a:endParaRPr lang="zh-CN" altLang="en-US" sz="2400" kern="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灯片编号占位符 7"/>
          <p:cNvSpPr>
            <a:spLocks noGrp="1"/>
          </p:cNvSpPr>
          <p:nvPr>
            <p:ph type="sldNum" sz="quarter" idx="11"/>
          </p:nvPr>
        </p:nvSpPr>
        <p:spPr/>
        <p:txBody>
          <a:bodyPr/>
          <a:lstStyle/>
          <a:p>
            <a:pPr>
              <a:defRPr/>
            </a:pPr>
            <a:fld id="{31E287EE-1289-4991-82CE-EFE584F53F4F}" type="slidenum">
              <a:rPr lang="en-US" altLang="zh-CN" smtClean="0"/>
              <a:pPr>
                <a:defRPr/>
              </a:pPr>
              <a:t>19</a:t>
            </a:fld>
            <a:endParaRPr lang="en-US" altLang="zh-CN" dirty="0"/>
          </a:p>
        </p:txBody>
      </p:sp>
      <p:graphicFrame>
        <p:nvGraphicFramePr>
          <p:cNvPr id="7170" name="Object 2"/>
          <p:cNvGraphicFramePr>
            <a:graphicFrameLocks noChangeAspect="1"/>
          </p:cNvGraphicFramePr>
          <p:nvPr>
            <p:extLst>
              <p:ext uri="{D42A27DB-BD31-4B8C-83A1-F6EECF244321}">
                <p14:modId xmlns:p14="http://schemas.microsoft.com/office/powerpoint/2010/main" val="2586112141"/>
              </p:ext>
            </p:extLst>
          </p:nvPr>
        </p:nvGraphicFramePr>
        <p:xfrm>
          <a:off x="191344" y="1404404"/>
          <a:ext cx="4214812" cy="3673475"/>
        </p:xfrm>
        <a:graphic>
          <a:graphicData uri="http://schemas.openxmlformats.org/presentationml/2006/ole">
            <mc:AlternateContent xmlns:mc="http://schemas.openxmlformats.org/markup-compatibility/2006">
              <mc:Choice xmlns:v="urn:schemas-microsoft-com:vml" Requires="v">
                <p:oleObj spid="_x0000_s193964" name="Visio" r:id="rId5" imgW="2384025" imgH="2081317" progId="Visio.Drawing.11">
                  <p:embed/>
                </p:oleObj>
              </mc:Choice>
              <mc:Fallback>
                <p:oleObj name="Visio" r:id="rId5" imgW="2384025" imgH="2081317" progId="Visio.Drawing.11">
                  <p:embed/>
                  <p:pic>
                    <p:nvPicPr>
                      <p:cNvPr id="0" name="Object 2"/>
                      <p:cNvPicPr>
                        <a:picLocks noChangeAspect="1" noChangeArrowheads="1"/>
                      </p:cNvPicPr>
                      <p:nvPr/>
                    </p:nvPicPr>
                    <p:blipFill>
                      <a:blip r:embed="rId6"/>
                      <a:srcRect/>
                      <a:stretch>
                        <a:fillRect/>
                      </a:stretch>
                    </p:blipFill>
                    <p:spPr bwMode="auto">
                      <a:xfrm>
                        <a:off x="191344" y="1404404"/>
                        <a:ext cx="4214812" cy="367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1" name="标题 1"/>
          <p:cNvSpPr txBox="1">
            <a:spLocks/>
          </p:cNvSpPr>
          <p:nvPr/>
        </p:nvSpPr>
        <p:spPr bwMode="black">
          <a:xfrm>
            <a:off x="323714" y="116929"/>
            <a:ext cx="6499448" cy="540296"/>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17.2 </a:t>
            </a:r>
            <a:r>
              <a:rPr lang="zh-CN" altLang="en-US" kern="0" dirty="0"/>
              <a:t>主成分分析</a:t>
            </a:r>
            <a:r>
              <a:rPr lang="en-US" altLang="zh-CN" kern="0" dirty="0"/>
              <a:t>PCA</a:t>
            </a:r>
            <a:endParaRPr lang="zh-CN" altLang="en-US" kern="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3550" y="5121920"/>
            <a:ext cx="1102077" cy="353446"/>
          </a:xfrm>
          <a:prstGeom prst="rect">
            <a:avLst/>
          </a:prstGeom>
        </p:spPr>
        <p:style>
          <a:lnRef idx="2">
            <a:schemeClr val="accent2"/>
          </a:lnRef>
          <a:fillRef idx="1">
            <a:schemeClr val="lt1"/>
          </a:fillRef>
          <a:effectRef idx="0">
            <a:schemeClr val="accent2"/>
          </a:effectRef>
          <a:fontRef idx="minor">
            <a:schemeClr val="dk1"/>
          </a:fontRef>
        </p:style>
        <p:txBody>
          <a:bodyPr wrap="none" rtlCol="0" anchor="ctr">
            <a:spAutoFit/>
          </a:bodyPr>
          <a:lstStyle/>
          <a:p>
            <a:pPr algn="ctr"/>
            <a:endParaRPr lang="zh-CN" altLang="en-US" sz="2400" kern="100" dirty="0">
              <a:ea typeface="宋体"/>
              <a:cs typeface="Times New Roman"/>
            </a:endParaRPr>
          </a:p>
        </p:txBody>
      </p:sp>
      <p:graphicFrame>
        <p:nvGraphicFramePr>
          <p:cNvPr id="4099" name="Object 3"/>
          <p:cNvGraphicFramePr>
            <a:graphicFrameLocks noGrp="1" noChangeAspect="1"/>
          </p:cNvGraphicFramePr>
          <p:nvPr>
            <p:ph sz="half" idx="2"/>
            <p:extLst>
              <p:ext uri="{D42A27DB-BD31-4B8C-83A1-F6EECF244321}">
                <p14:modId xmlns:p14="http://schemas.microsoft.com/office/powerpoint/2010/main" val="3944004169"/>
              </p:ext>
            </p:extLst>
          </p:nvPr>
        </p:nvGraphicFramePr>
        <p:xfrm>
          <a:off x="122770" y="1214820"/>
          <a:ext cx="4980192" cy="4238564"/>
        </p:xfrm>
        <a:graphic>
          <a:graphicData uri="http://schemas.openxmlformats.org/presentationml/2006/ole">
            <mc:AlternateContent xmlns:mc="http://schemas.openxmlformats.org/markup-compatibility/2006">
              <mc:Choice xmlns:v="urn:schemas-microsoft-com:vml" Requires="v">
                <p:oleObj spid="_x0000_s347448" name="Equation" r:id="rId4" imgW="3695400" imgH="3187440" progId="Equation.DSMT4">
                  <p:embed/>
                </p:oleObj>
              </mc:Choice>
              <mc:Fallback>
                <p:oleObj name="Equation" r:id="rId4" imgW="3695400" imgH="3187440" progId="Equation.DSMT4">
                  <p:embed/>
                  <p:pic>
                    <p:nvPicPr>
                      <p:cNvPr id="4099" name="Object 3"/>
                      <p:cNvPicPr>
                        <a:picLocks noChangeAspect="1" noChangeArrowheads="1"/>
                      </p:cNvPicPr>
                      <p:nvPr/>
                    </p:nvPicPr>
                    <p:blipFill>
                      <a:blip r:embed="rId5"/>
                      <a:srcRect/>
                      <a:stretch>
                        <a:fillRect/>
                      </a:stretch>
                    </p:blipFill>
                    <p:spPr bwMode="auto">
                      <a:xfrm>
                        <a:off x="122770" y="1214820"/>
                        <a:ext cx="4980192" cy="4238564"/>
                      </a:xfrm>
                      <a:prstGeom prst="rect">
                        <a:avLst/>
                      </a:prstGeom>
                      <a:noFill/>
                    </p:spPr>
                  </p:pic>
                </p:oleObj>
              </mc:Fallback>
            </mc:AlternateContent>
          </a:graphicData>
        </a:graphic>
      </p:graphicFrame>
      <p:sp>
        <p:nvSpPr>
          <p:cNvPr id="4102" name="Rectangle 9"/>
          <p:cNvSpPr>
            <a:spLocks noGrp="1" noChangeArrowheads="1"/>
          </p:cNvSpPr>
          <p:nvPr>
            <p:ph type="title"/>
          </p:nvPr>
        </p:nvSpPr>
        <p:spPr>
          <a:xfrm>
            <a:off x="7104112" y="0"/>
            <a:ext cx="8229600" cy="811213"/>
          </a:xfrm>
          <a:noFill/>
        </p:spPr>
        <p:txBody>
          <a:bodyPr/>
          <a:lstStyle/>
          <a:p>
            <a:r>
              <a:rPr lang="en-US" altLang="zh-TW" b="1" i="1" dirty="0">
                <a:solidFill>
                  <a:schemeClr val="tx1"/>
                </a:solidFill>
              </a:rPr>
              <a:t>Mechanics(</a:t>
            </a:r>
            <a:r>
              <a:rPr lang="zh-CN" altLang="en-US" b="1" i="1" dirty="0">
                <a:solidFill>
                  <a:schemeClr val="tx1"/>
                </a:solidFill>
              </a:rPr>
              <a:t>过程</a:t>
            </a:r>
            <a:r>
              <a:rPr lang="en-US" altLang="zh-TW" b="1" i="1" dirty="0">
                <a:solidFill>
                  <a:schemeClr val="tx1"/>
                </a:solidFill>
              </a:rPr>
              <a:t>)</a:t>
            </a:r>
          </a:p>
        </p:txBody>
      </p:sp>
      <mc:AlternateContent xmlns:mc="http://schemas.openxmlformats.org/markup-compatibility/2006" xmlns:a14="http://schemas.microsoft.com/office/drawing/2010/main">
        <mc:Choice Requires="a14">
          <p:sp>
            <p:nvSpPr>
              <p:cNvPr id="6" name="Rectangle 9"/>
              <p:cNvSpPr txBox="1">
                <a:spLocks noChangeArrowheads="1"/>
              </p:cNvSpPr>
              <p:nvPr/>
            </p:nvSpPr>
            <p:spPr bwMode="auto">
              <a:xfrm>
                <a:off x="130806" y="5436449"/>
                <a:ext cx="4703472" cy="714375"/>
              </a:xfrm>
              <a:prstGeom prst="rect">
                <a:avLst/>
              </a:prstGeom>
              <a:noFill/>
              <a:ln w="9525">
                <a:noFill/>
                <a:miter lim="800000"/>
                <a:headEnd/>
                <a:tailEnd/>
              </a:ln>
            </p:spPr>
            <p:txBody>
              <a:bodyPr anchor="ctr"/>
              <a:lstStyle/>
              <a:p>
                <a:pPr eaLnBrk="0" hangingPunct="0">
                  <a:defRPr/>
                </a:pPr>
                <a:r>
                  <a:rPr lang="zh-CN" altLang="en-US" sz="2000" b="1" kern="0" dirty="0">
                    <a:latin typeface="Times New Roman" panose="02020603050405020304" pitchFamily="18" charset="0"/>
                    <a:ea typeface="宋体" panose="02010600030101010101" pitchFamily="2" charset="-122"/>
                    <a:cs typeface="Times New Roman" panose="02020603050405020304" pitchFamily="18" charset="0"/>
                  </a:rPr>
                  <a:t>解</a:t>
                </a:r>
                <a14:m>
                  <m:oMath xmlns:m="http://schemas.openxmlformats.org/officeDocument/2006/math">
                    <m:r>
                      <a:rPr lang="zh-CN" altLang="en-US" sz="2000" i="1">
                        <a:latin typeface="Cambria Math" panose="02040503050406030204" pitchFamily="18" charset="0"/>
                      </a:rPr>
                      <m:t>𝜆</m:t>
                    </m:r>
                  </m:oMath>
                </a14:m>
                <a:r>
                  <a:rPr lang="zh-CN" altLang="en-US" sz="2000" b="1" kern="0" dirty="0">
                    <a:latin typeface="Times New Roman" panose="02020603050405020304" pitchFamily="18" charset="0"/>
                    <a:ea typeface="宋体" panose="02010600030101010101" pitchFamily="2" charset="-122"/>
                    <a:cs typeface="Times New Roman" panose="02020603050405020304" pitchFamily="18" charset="0"/>
                  </a:rPr>
                  <a:t>和</a:t>
                </a:r>
                <a14:m>
                  <m:oMath xmlns:m="http://schemas.openxmlformats.org/officeDocument/2006/math">
                    <m:r>
                      <a:rPr lang="zh-CN" altLang="en-US" sz="2000" i="1">
                        <a:latin typeface="Cambria Math" panose="02040503050406030204" pitchFamily="18" charset="0"/>
                      </a:rPr>
                      <m:t>𝑈</m:t>
                    </m:r>
                  </m:oMath>
                </a14:m>
                <a:r>
                  <a:rPr lang="zh-CN" altLang="en-US" sz="2000" b="1" kern="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1" kern="0" dirty="0">
                    <a:latin typeface="Times New Roman" panose="02020603050405020304" pitchFamily="18" charset="0"/>
                    <a:ea typeface="宋体" panose="02010600030101010101" pitchFamily="2" charset="-122"/>
                    <a:cs typeface="Times New Roman" panose="02020603050405020304" pitchFamily="18" charset="0"/>
                  </a:rPr>
                  <a:t>即是求</a:t>
                </a:r>
                <a14:m>
                  <m:oMath xmlns:m="http://schemas.openxmlformats.org/officeDocument/2006/math">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𝑅</m:t>
                        </m:r>
                      </m:e>
                      <m:sub>
                        <m:r>
                          <m:rPr>
                            <m:nor/>
                          </m:rPr>
                          <a:rPr lang="zh-CN" altLang="en-US" sz="2000" i="1">
                            <a:latin typeface="Cambria Math" panose="02040503050406030204" pitchFamily="18" charset="0"/>
                          </a:rPr>
                          <m:t>x</m:t>
                        </m:r>
                      </m:sub>
                    </m:sSub>
                  </m:oMath>
                </a14:m>
                <a:r>
                  <a:rPr lang="zh-CN" altLang="en-US" sz="2000" b="1" kern="0" dirty="0">
                    <a:latin typeface="Times New Roman" panose="02020603050405020304" pitchFamily="18" charset="0"/>
                    <a:ea typeface="宋体" panose="02010600030101010101" pitchFamily="2" charset="-122"/>
                    <a:cs typeface="Times New Roman" panose="02020603050405020304" pitchFamily="18" charset="0"/>
                  </a:rPr>
                  <a:t>的特征值</a:t>
                </a:r>
                <a:r>
                  <a:rPr kumimoji="1" lang="zh-CN" altLang="en-US" sz="2000" b="1" dirty="0">
                    <a:latin typeface="Times New Roman" panose="02020603050405020304" pitchFamily="18" charset="0"/>
                    <a:ea typeface="宋体" panose="02010600030101010101" pitchFamily="2" charset="-122"/>
                    <a:cs typeface="Times New Roman" panose="02020603050405020304" pitchFamily="18" charset="0"/>
                  </a:rPr>
                  <a:t>和</a:t>
                </a:r>
                <a:r>
                  <a:rPr lang="zh-CN" altLang="en-US" sz="2000" b="1" kern="0" dirty="0">
                    <a:latin typeface="Times New Roman" panose="02020603050405020304" pitchFamily="18" charset="0"/>
                    <a:ea typeface="宋体" panose="02010600030101010101" pitchFamily="2" charset="-122"/>
                    <a:cs typeface="Times New Roman" panose="02020603050405020304" pitchFamily="18" charset="0"/>
                  </a:rPr>
                  <a:t>特征向量</a:t>
                </a:r>
                <a:endParaRPr lang="en-US" altLang="zh-TW" sz="2000" b="1" kern="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6" name="Rectangle 9"/>
              <p:cNvSpPr txBox="1">
                <a:spLocks noRot="1" noChangeAspect="1" noMove="1" noResize="1" noEditPoints="1" noAdjustHandles="1" noChangeArrowheads="1" noChangeShapeType="1" noTextEdit="1"/>
              </p:cNvSpPr>
              <p:nvPr/>
            </p:nvSpPr>
            <p:spPr bwMode="auto">
              <a:xfrm>
                <a:off x="130806" y="5436449"/>
                <a:ext cx="4703472" cy="714375"/>
              </a:xfrm>
              <a:prstGeom prst="rect">
                <a:avLst/>
              </a:prstGeom>
              <a:blipFill>
                <a:blip r:embed="rId6"/>
                <a:stretch>
                  <a:fillRect l="-1295"/>
                </a:stretch>
              </a:blipFill>
              <a:ln w="9525">
                <a:noFill/>
                <a:miter lim="800000"/>
                <a:headEnd/>
                <a:tailEnd/>
              </a:ln>
            </p:spPr>
            <p:txBody>
              <a:bodyPr/>
              <a:lstStyle/>
              <a:p>
                <a:r>
                  <a:rPr lang="zh-CN" altLang="en-US">
                    <a:noFill/>
                  </a:rPr>
                  <a:t> </a:t>
                </a:r>
              </a:p>
            </p:txBody>
          </p:sp>
        </mc:Fallback>
      </mc:AlternateContent>
      <p:sp>
        <p:nvSpPr>
          <p:cNvPr id="11" name="灯片编号占位符 10"/>
          <p:cNvSpPr>
            <a:spLocks noGrp="1"/>
          </p:cNvSpPr>
          <p:nvPr>
            <p:ph type="sldNum" sz="quarter" idx="11"/>
          </p:nvPr>
        </p:nvSpPr>
        <p:spPr/>
        <p:txBody>
          <a:bodyPr/>
          <a:lstStyle/>
          <a:p>
            <a:pPr>
              <a:defRPr/>
            </a:pPr>
            <a:fld id="{CA6EEC58-89F5-441E-A838-5B7BA2476FEC}" type="slidenum">
              <a:rPr lang="en-US" altLang="zh-CN" smtClean="0"/>
              <a:pPr>
                <a:defRPr/>
              </a:pPr>
              <a:t>20</a:t>
            </a:fld>
            <a:endParaRPr lang="en-US" altLang="zh-CN"/>
          </a:p>
        </p:txBody>
      </p:sp>
      <p:sp>
        <p:nvSpPr>
          <p:cNvPr id="12" name="标题 1"/>
          <p:cNvSpPr txBox="1">
            <a:spLocks/>
          </p:cNvSpPr>
          <p:nvPr/>
        </p:nvSpPr>
        <p:spPr bwMode="black">
          <a:xfrm>
            <a:off x="323714" y="116929"/>
            <a:ext cx="6499448" cy="540296"/>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17.2 </a:t>
            </a:r>
            <a:r>
              <a:rPr lang="zh-CN" altLang="en-US" kern="0" dirty="0"/>
              <a:t>主成分分析</a:t>
            </a:r>
            <a:r>
              <a:rPr lang="en-US" altLang="zh-CN" kern="0" dirty="0"/>
              <a:t>PCA</a:t>
            </a:r>
            <a:endParaRPr lang="zh-CN" altLang="en-US" kern="0" dirty="0"/>
          </a:p>
        </p:txBody>
      </p:sp>
      <mc:AlternateContent xmlns:mc="http://schemas.openxmlformats.org/markup-compatibility/2006" xmlns:a14="http://schemas.microsoft.com/office/drawing/2010/main">
        <mc:Choice Requires="a14">
          <p:sp>
            <p:nvSpPr>
              <p:cNvPr id="7" name="矩形 6"/>
              <p:cNvSpPr/>
              <p:nvPr/>
            </p:nvSpPr>
            <p:spPr>
              <a:xfrm>
                <a:off x="5102962" y="924004"/>
                <a:ext cx="4777205" cy="424732"/>
              </a:xfrm>
              <a:prstGeom prst="rect">
                <a:avLst/>
              </a:prstGeom>
            </p:spPr>
            <p:txBody>
              <a:bodyPr wrap="none">
                <a:spAutoFit/>
              </a:bodyPr>
              <a:lstStyle/>
              <a:p>
                <a:pPr>
                  <a:lnSpc>
                    <a:spcPct val="90000"/>
                  </a:lnSpc>
                  <a:buFont typeface="Wingdings" pitchFamily="2" charset="2"/>
                  <a:buNone/>
                  <a:defRPr/>
                </a:pPr>
                <a:r>
                  <a:rPr lang="zh-CN" altLang="en-US" sz="2400" b="1" dirty="0">
                    <a:latin typeface="楷体_GB2312" pitchFamily="49" charset="-122"/>
                    <a:ea typeface="楷体_GB2312" pitchFamily="49" charset="-122"/>
                  </a:rPr>
                  <a:t>变换后各特征分量</a:t>
                </a:r>
                <a14:m>
                  <m:oMath xmlns:m="http://schemas.openxmlformats.org/officeDocument/2006/math">
                    <m:sSub>
                      <m:sSubPr>
                        <m:ctrlPr>
                          <a:rPr lang="zh-CN" altLang="en-US"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i="1">
                            <a:latin typeface="Cambria Math" panose="02040503050406030204" pitchFamily="18" charset="0"/>
                          </a:rPr>
                          <m:t>𝑖</m:t>
                        </m:r>
                      </m:sub>
                    </m:sSub>
                  </m:oMath>
                </a14:m>
                <a:r>
                  <a:rPr lang="zh-CN" altLang="en-US" sz="2400" b="1" dirty="0">
                    <a:latin typeface="楷体_GB2312" pitchFamily="49" charset="-122"/>
                    <a:ea typeface="楷体_GB2312" pitchFamily="49" charset="-122"/>
                  </a:rPr>
                  <a:t>正交或不相关</a:t>
                </a:r>
              </a:p>
            </p:txBody>
          </p:sp>
        </mc:Choice>
        <mc:Fallback xmlns="">
          <p:sp>
            <p:nvSpPr>
              <p:cNvPr id="7" name="矩形 6"/>
              <p:cNvSpPr>
                <a:spLocks noRot="1" noChangeAspect="1" noMove="1" noResize="1" noEditPoints="1" noAdjustHandles="1" noChangeArrowheads="1" noChangeShapeType="1" noTextEdit="1"/>
              </p:cNvSpPr>
              <p:nvPr/>
            </p:nvSpPr>
            <p:spPr>
              <a:xfrm>
                <a:off x="5102962" y="924004"/>
                <a:ext cx="4777205" cy="424732"/>
              </a:xfrm>
              <a:prstGeom prst="rect">
                <a:avLst/>
              </a:prstGeom>
              <a:blipFill>
                <a:blip r:embed="rId7"/>
                <a:stretch>
                  <a:fillRect l="-1913" t="-24638" r="-1020" b="-28986"/>
                </a:stretch>
              </a:blipFill>
            </p:spPr>
            <p:txBody>
              <a:bodyPr/>
              <a:lstStyle/>
              <a:p>
                <a:r>
                  <a:rPr lang="zh-CN" altLang="en-US">
                    <a:noFill/>
                  </a:rPr>
                  <a:t> </a:t>
                </a:r>
              </a:p>
            </p:txBody>
          </p:sp>
        </mc:Fallback>
      </mc:AlternateContent>
      <p:graphicFrame>
        <p:nvGraphicFramePr>
          <p:cNvPr id="8" name="Object 5"/>
          <p:cNvGraphicFramePr>
            <a:graphicFrameLocks noChangeAspect="1"/>
          </p:cNvGraphicFramePr>
          <p:nvPr>
            <p:extLst>
              <p:ext uri="{D42A27DB-BD31-4B8C-83A1-F6EECF244321}">
                <p14:modId xmlns:p14="http://schemas.microsoft.com/office/powerpoint/2010/main" val="3815354670"/>
              </p:ext>
            </p:extLst>
          </p:nvPr>
        </p:nvGraphicFramePr>
        <p:xfrm>
          <a:off x="5139758" y="3218914"/>
          <a:ext cx="6170613" cy="461963"/>
        </p:xfrm>
        <a:graphic>
          <a:graphicData uri="http://schemas.openxmlformats.org/presentationml/2006/ole">
            <mc:AlternateContent xmlns:mc="http://schemas.openxmlformats.org/markup-compatibility/2006">
              <mc:Choice xmlns:v="urn:schemas-microsoft-com:vml" Requires="v">
                <p:oleObj spid="_x0000_s347449" name="Equation" r:id="rId8" imgW="3390840" imgH="253800" progId="Equation.DSMT4">
                  <p:embed/>
                </p:oleObj>
              </mc:Choice>
              <mc:Fallback>
                <p:oleObj name="Equation" r:id="rId8" imgW="3390840" imgH="253800" progId="Equation.DSMT4">
                  <p:embed/>
                  <p:pic>
                    <p:nvPicPr>
                      <p:cNvPr id="6147" name="Object 5"/>
                      <p:cNvPicPr>
                        <a:picLocks noChangeAspect="1" noChangeArrowheads="1"/>
                      </p:cNvPicPr>
                      <p:nvPr/>
                    </p:nvPicPr>
                    <p:blipFill>
                      <a:blip r:embed="rId9"/>
                      <a:srcRect/>
                      <a:stretch>
                        <a:fillRect/>
                      </a:stretch>
                    </p:blipFill>
                    <p:spPr bwMode="auto">
                      <a:xfrm>
                        <a:off x="5139758" y="3218914"/>
                        <a:ext cx="617061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6"/>
          <p:cNvGraphicFramePr>
            <a:graphicFrameLocks noChangeAspect="1"/>
          </p:cNvGraphicFramePr>
          <p:nvPr>
            <p:extLst>
              <p:ext uri="{D42A27DB-BD31-4B8C-83A1-F6EECF244321}">
                <p14:modId xmlns:p14="http://schemas.microsoft.com/office/powerpoint/2010/main" val="3311554726"/>
              </p:ext>
            </p:extLst>
          </p:nvPr>
        </p:nvGraphicFramePr>
        <p:xfrm>
          <a:off x="5632500" y="2486034"/>
          <a:ext cx="1471612" cy="500062"/>
        </p:xfrm>
        <a:graphic>
          <a:graphicData uri="http://schemas.openxmlformats.org/presentationml/2006/ole">
            <mc:AlternateContent xmlns:mc="http://schemas.openxmlformats.org/markup-compatibility/2006">
              <mc:Choice xmlns:v="urn:schemas-microsoft-com:vml" Requires="v">
                <p:oleObj spid="_x0000_s347450" name="Equation" r:id="rId10" imgW="672840" imgH="228600" progId="Equation.DSMT4">
                  <p:embed/>
                </p:oleObj>
              </mc:Choice>
              <mc:Fallback>
                <p:oleObj name="Equation" r:id="rId10" imgW="672840" imgH="228600" progId="Equation.DSMT4">
                  <p:embed/>
                  <p:pic>
                    <p:nvPicPr>
                      <p:cNvPr id="6148" name="Object 6"/>
                      <p:cNvPicPr>
                        <a:picLocks noChangeAspect="1" noChangeArrowheads="1"/>
                      </p:cNvPicPr>
                      <p:nvPr/>
                    </p:nvPicPr>
                    <p:blipFill>
                      <a:blip r:embed="rId11"/>
                      <a:srcRect/>
                      <a:stretch>
                        <a:fillRect/>
                      </a:stretch>
                    </p:blipFill>
                    <p:spPr bwMode="auto">
                      <a:xfrm>
                        <a:off x="5632500" y="2486034"/>
                        <a:ext cx="1471612" cy="50006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3"/>
          <p:cNvGraphicFramePr>
            <a:graphicFrameLocks noChangeAspect="1"/>
          </p:cNvGraphicFramePr>
          <p:nvPr>
            <p:extLst>
              <p:ext uri="{D42A27DB-BD31-4B8C-83A1-F6EECF244321}">
                <p14:modId xmlns:p14="http://schemas.microsoft.com/office/powerpoint/2010/main" val="3254126761"/>
              </p:ext>
            </p:extLst>
          </p:nvPr>
        </p:nvGraphicFramePr>
        <p:xfrm>
          <a:off x="5143110" y="1309918"/>
          <a:ext cx="6906482" cy="1562968"/>
        </p:xfrm>
        <a:graphic>
          <a:graphicData uri="http://schemas.openxmlformats.org/presentationml/2006/ole">
            <mc:AlternateContent xmlns:mc="http://schemas.openxmlformats.org/markup-compatibility/2006">
              <mc:Choice xmlns:v="urn:schemas-microsoft-com:vml" Requires="v">
                <p:oleObj spid="_x0000_s347451" name="Equation" r:id="rId12" imgW="4152600" imgH="939600" progId="Equation.DSMT4">
                  <p:embed/>
                </p:oleObj>
              </mc:Choice>
              <mc:Fallback>
                <p:oleObj name="Equation" r:id="rId12" imgW="4152600" imgH="939600" progId="Equation.DSMT4">
                  <p:embed/>
                  <p:pic>
                    <p:nvPicPr>
                      <p:cNvPr id="6150" name="Object 3"/>
                      <p:cNvPicPr>
                        <a:picLocks noChangeAspect="1" noChangeArrowheads="1"/>
                      </p:cNvPicPr>
                      <p:nvPr/>
                    </p:nvPicPr>
                    <p:blipFill>
                      <a:blip r:embed="rId13"/>
                      <a:srcRect/>
                      <a:stretch>
                        <a:fillRect/>
                      </a:stretch>
                    </p:blipFill>
                    <p:spPr bwMode="auto">
                      <a:xfrm>
                        <a:off x="5143110" y="1309918"/>
                        <a:ext cx="6906482" cy="1562968"/>
                      </a:xfrm>
                      <a:prstGeom prst="rect">
                        <a:avLst/>
                      </a:prstGeom>
                      <a:noFill/>
                      <a:ln>
                        <a:noFill/>
                      </a:ln>
                    </p:spPr>
                  </p:pic>
                </p:oleObj>
              </mc:Fallback>
            </mc:AlternateContent>
          </a:graphicData>
        </a:graphic>
      </p:graphicFrame>
      <p:graphicFrame>
        <p:nvGraphicFramePr>
          <p:cNvPr id="13" name="Object 7"/>
          <p:cNvGraphicFramePr>
            <a:graphicFrameLocks noChangeAspect="1"/>
          </p:cNvGraphicFramePr>
          <p:nvPr>
            <p:extLst>
              <p:ext uri="{D42A27DB-BD31-4B8C-83A1-F6EECF244321}">
                <p14:modId xmlns:p14="http://schemas.microsoft.com/office/powerpoint/2010/main" val="2663028605"/>
              </p:ext>
            </p:extLst>
          </p:nvPr>
        </p:nvGraphicFramePr>
        <p:xfrm>
          <a:off x="5143110" y="3782745"/>
          <a:ext cx="5886450" cy="2854325"/>
        </p:xfrm>
        <a:graphic>
          <a:graphicData uri="http://schemas.openxmlformats.org/presentationml/2006/ole">
            <mc:AlternateContent xmlns:mc="http://schemas.openxmlformats.org/markup-compatibility/2006">
              <mc:Choice xmlns:v="urn:schemas-microsoft-com:vml" Requires="v">
                <p:oleObj spid="_x0000_s347452" name="Equation" r:id="rId14" imgW="3936960" imgH="1904760" progId="Equation.DSMT4">
                  <p:embed/>
                </p:oleObj>
              </mc:Choice>
              <mc:Fallback>
                <p:oleObj name="Equation" r:id="rId14" imgW="3936960" imgH="1904760" progId="Equation.DSMT4">
                  <p:embed/>
                  <p:pic>
                    <p:nvPicPr>
                      <p:cNvPr id="10" name="Object 7"/>
                      <p:cNvPicPr>
                        <a:picLocks noChangeAspect="1" noChangeArrowheads="1"/>
                      </p:cNvPicPr>
                      <p:nvPr/>
                    </p:nvPicPr>
                    <p:blipFill>
                      <a:blip r:embed="rId15"/>
                      <a:srcRect/>
                      <a:stretch>
                        <a:fillRect/>
                      </a:stretch>
                    </p:blipFill>
                    <p:spPr bwMode="auto">
                      <a:xfrm>
                        <a:off x="5143110" y="3782745"/>
                        <a:ext cx="5886450" cy="285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矩形 13"/>
          <p:cNvSpPr/>
          <p:nvPr/>
        </p:nvSpPr>
        <p:spPr>
          <a:xfrm>
            <a:off x="5088233" y="1417960"/>
            <a:ext cx="2196435" cy="424732"/>
          </a:xfrm>
          <a:prstGeom prst="rect">
            <a:avLst/>
          </a:prstGeom>
        </p:spPr>
        <p:txBody>
          <a:bodyPr wrap="none">
            <a:spAutoFit/>
          </a:bodyPr>
          <a:lstStyle/>
          <a:p>
            <a:pPr>
              <a:lnSpc>
                <a:spcPct val="90000"/>
              </a:lnSpc>
              <a:buNone/>
              <a:defRPr/>
            </a:pPr>
            <a:r>
              <a:rPr lang="en-US" altLang="zh-CN" sz="2400" b="1" dirty="0">
                <a:latin typeface="楷体_GB2312" pitchFamily="49" charset="-122"/>
                <a:ea typeface="楷体_GB2312" pitchFamily="49" charset="-122"/>
              </a:rPr>
              <a:t>Y</a:t>
            </a:r>
            <a:r>
              <a:rPr lang="zh-CN" altLang="en-US" sz="2400" b="1" dirty="0">
                <a:latin typeface="楷体_GB2312" pitchFamily="49" charset="-122"/>
                <a:ea typeface="楷体_GB2312" pitchFamily="49" charset="-122"/>
              </a:rPr>
              <a:t>的自相关阵为</a:t>
            </a:r>
          </a:p>
        </p:txBody>
      </p:sp>
      <p:cxnSp>
        <p:nvCxnSpPr>
          <p:cNvPr id="16" name="直接连接符 15"/>
          <p:cNvCxnSpPr/>
          <p:nvPr/>
        </p:nvCxnSpPr>
        <p:spPr>
          <a:xfrm>
            <a:off x="5021630" y="1977431"/>
            <a:ext cx="9669" cy="3672713"/>
          </a:xfrm>
          <a:prstGeom prst="line">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7" name="矩形 16"/>
          <p:cNvSpPr/>
          <p:nvPr/>
        </p:nvSpPr>
        <p:spPr>
          <a:xfrm>
            <a:off x="12327232" y="4368102"/>
            <a:ext cx="184731" cy="646331"/>
          </a:xfrm>
          <a:prstGeom prst="rect">
            <a:avLst/>
          </a:prstGeom>
        </p:spPr>
        <p:txBody>
          <a:bodyPr wrap="none">
            <a:spAutoFit/>
          </a:bodyPr>
          <a:lstStyle/>
          <a:p>
            <a:endParaRPr lang="en-US" altLang="zh-CN" dirty="0"/>
          </a:p>
          <a:p>
            <a:endParaRPr lang="zh-CN" altLang="en-US" dirty="0"/>
          </a:p>
        </p:txBody>
      </p:sp>
      <mc:AlternateContent xmlns:mc="http://schemas.openxmlformats.org/markup-compatibility/2006" xmlns:a14="http://schemas.microsoft.com/office/drawing/2010/main">
        <mc:Choice Requires="a14">
          <p:sp>
            <p:nvSpPr>
              <p:cNvPr id="18" name="矩形 17"/>
              <p:cNvSpPr/>
              <p:nvPr/>
            </p:nvSpPr>
            <p:spPr>
              <a:xfrm>
                <a:off x="25427" y="6172806"/>
                <a:ext cx="5668402" cy="681982"/>
              </a:xfrm>
              <a:prstGeom prst="rect">
                <a:avLst/>
              </a:prstGeom>
            </p:spPr>
            <p:txBody>
              <a:bodyPr wrap="square">
                <a:spAutoFit/>
              </a:bodyPr>
              <a:lstStyle/>
              <a:p>
                <a14:m>
                  <m:oMath xmlns:m="http://schemas.openxmlformats.org/officeDocument/2006/math">
                    <m:sSub>
                      <m:sSubPr>
                        <m:ctrlPr>
                          <a:rPr lang="zh-CN" altLang="en-US" i="1" smtClean="0">
                            <a:solidFill>
                              <a:srgbClr val="7030A0"/>
                            </a:solidFill>
                            <a:latin typeface="Cambria Math" panose="02040503050406030204" pitchFamily="18" charset="0"/>
                          </a:rPr>
                        </m:ctrlPr>
                      </m:sSubPr>
                      <m:e>
                        <m:r>
                          <a:rPr lang="zh-CN" altLang="en-US">
                            <a:solidFill>
                              <a:srgbClr val="7030A0"/>
                            </a:solidFill>
                            <a:latin typeface="Cambria Math" panose="02040503050406030204" pitchFamily="18" charset="0"/>
                          </a:rPr>
                          <m:t>注：一般用协方差</m:t>
                        </m:r>
                        <m:r>
                          <a:rPr lang="zh-CN" altLang="en-US" i="1">
                            <a:solidFill>
                              <a:srgbClr val="7030A0"/>
                            </a:solidFill>
                            <a:latin typeface="Cambria Math" panose="02040503050406030204" pitchFamily="18" charset="0"/>
                          </a:rPr>
                          <m:t>阵</m:t>
                        </m:r>
                        <m:r>
                          <a:rPr lang="zh-CN" altLang="en-US" i="1">
                            <a:solidFill>
                              <a:srgbClr val="7030A0"/>
                            </a:solidFill>
                            <a:latin typeface="Cambria Math" panose="02040503050406030204" pitchFamily="18" charset="0"/>
                          </a:rPr>
                          <m:t>𝐶</m:t>
                        </m:r>
                      </m:e>
                      <m:sub>
                        <m:r>
                          <a:rPr lang="en-US" altLang="zh-CN" b="0" i="1" smtClean="0">
                            <a:solidFill>
                              <a:srgbClr val="7030A0"/>
                            </a:solidFill>
                            <a:latin typeface="Cambria Math" panose="02040503050406030204" pitchFamily="18" charset="0"/>
                          </a:rPr>
                          <m:t>𝑋</m:t>
                        </m:r>
                      </m:sub>
                    </m:sSub>
                    <m:r>
                      <a:rPr lang="zh-CN" altLang="en-US" i="0">
                        <a:solidFill>
                          <a:srgbClr val="7030A0"/>
                        </a:solidFill>
                        <a:latin typeface="Cambria Math" panose="02040503050406030204" pitchFamily="18" charset="0"/>
                      </a:rPr>
                      <m:t>=</m:t>
                    </m:r>
                    <m:r>
                      <a:rPr lang="zh-CN" altLang="en-US" i="1">
                        <a:solidFill>
                          <a:srgbClr val="7030A0"/>
                        </a:solidFill>
                        <a:latin typeface="Cambria Math" panose="02040503050406030204" pitchFamily="18" charset="0"/>
                      </a:rPr>
                      <m:t>𝐸</m:t>
                    </m:r>
                    <m:d>
                      <m:dPr>
                        <m:begChr m:val="["/>
                        <m:endChr m:val="]"/>
                        <m:ctrlPr>
                          <a:rPr lang="zh-CN" altLang="en-US" i="1">
                            <a:solidFill>
                              <a:srgbClr val="7030A0"/>
                            </a:solidFill>
                            <a:latin typeface="Cambria Math" panose="02040503050406030204" pitchFamily="18" charset="0"/>
                          </a:rPr>
                        </m:ctrlPr>
                      </m:dPr>
                      <m:e>
                        <m:d>
                          <m:dPr>
                            <m:endChr m:val=""/>
                            <m:ctrlPr>
                              <a:rPr lang="zh-CN" altLang="en-US" i="1">
                                <a:solidFill>
                                  <a:srgbClr val="7030A0"/>
                                </a:solidFill>
                                <a:latin typeface="Cambria Math" panose="02040503050406030204" pitchFamily="18" charset="0"/>
                              </a:rPr>
                            </m:ctrlPr>
                          </m:dPr>
                          <m:e>
                            <m:r>
                              <a:rPr lang="en-US" altLang="zh-CN" b="0" i="1" smtClean="0">
                                <a:solidFill>
                                  <a:srgbClr val="7030A0"/>
                                </a:solidFill>
                                <a:latin typeface="Cambria Math" panose="02040503050406030204" pitchFamily="18" charset="0"/>
                              </a:rPr>
                              <m:t>𝑋</m:t>
                            </m:r>
                            <m:r>
                              <a:rPr lang="zh-CN" altLang="en-US" i="0">
                                <a:solidFill>
                                  <a:srgbClr val="7030A0"/>
                                </a:solidFill>
                                <a:latin typeface="Cambria Math" panose="02040503050406030204" pitchFamily="18" charset="0"/>
                              </a:rPr>
                              <m:t>−</m:t>
                            </m:r>
                            <m:r>
                              <m:rPr>
                                <m:nor/>
                              </m:rPr>
                              <a:rPr lang="zh-CN" altLang="en-US" i="1">
                                <a:solidFill>
                                  <a:srgbClr val="7030A0"/>
                                </a:solidFill>
                                <a:latin typeface="Cambria Math" panose="02040503050406030204" pitchFamily="18" charset="0"/>
                              </a:rPr>
                              <m:t> </m:t>
                            </m:r>
                            <m:acc>
                              <m:accPr>
                                <m:chr m:val="̅"/>
                                <m:ctrlPr>
                                  <a:rPr lang="zh-CN" altLang="en-US" i="1">
                                    <a:solidFill>
                                      <a:srgbClr val="7030A0"/>
                                    </a:solidFill>
                                    <a:latin typeface="Cambria Math" panose="02040503050406030204" pitchFamily="18" charset="0"/>
                                  </a:rPr>
                                </m:ctrlPr>
                              </m:accPr>
                              <m:e>
                                <m:r>
                                  <a:rPr lang="en-US" altLang="zh-CN" b="0" i="1" smtClean="0">
                                    <a:solidFill>
                                      <a:srgbClr val="7030A0"/>
                                    </a:solidFill>
                                    <a:latin typeface="Cambria Math" panose="02040503050406030204" pitchFamily="18" charset="0"/>
                                  </a:rPr>
                                  <m:t>𝑋</m:t>
                                </m:r>
                              </m:e>
                            </m:acc>
                            <m:r>
                              <a:rPr lang="zh-CN" altLang="en-US" i="0">
                                <a:solidFill>
                                  <a:srgbClr val="7030A0"/>
                                </a:solidFill>
                                <a:latin typeface="Cambria Math" panose="02040503050406030204" pitchFamily="18" charset="0"/>
                              </a:rPr>
                              <m:t>)</m:t>
                            </m:r>
                            <m:sSup>
                              <m:sSupPr>
                                <m:ctrlPr>
                                  <a:rPr lang="zh-CN" altLang="en-US" i="1">
                                    <a:solidFill>
                                      <a:srgbClr val="7030A0"/>
                                    </a:solidFill>
                                    <a:latin typeface="Cambria Math" panose="02040503050406030204" pitchFamily="18" charset="0"/>
                                  </a:rPr>
                                </m:ctrlPr>
                              </m:sSupPr>
                              <m:e>
                                <m:d>
                                  <m:dPr>
                                    <m:ctrlPr>
                                      <a:rPr lang="zh-CN" altLang="en-US" i="1">
                                        <a:solidFill>
                                          <a:srgbClr val="7030A0"/>
                                        </a:solidFill>
                                        <a:latin typeface="Cambria Math" panose="02040503050406030204" pitchFamily="18" charset="0"/>
                                      </a:rPr>
                                    </m:ctrlPr>
                                  </m:dPr>
                                  <m:e>
                                    <m:r>
                                      <a:rPr lang="en-US" altLang="zh-CN" b="0" i="1" smtClean="0">
                                        <a:solidFill>
                                          <a:srgbClr val="7030A0"/>
                                        </a:solidFill>
                                        <a:latin typeface="Cambria Math" panose="02040503050406030204" pitchFamily="18" charset="0"/>
                                      </a:rPr>
                                      <m:t>𝑋</m:t>
                                    </m:r>
                                    <m:r>
                                      <a:rPr lang="zh-CN" altLang="en-US" i="0">
                                        <a:solidFill>
                                          <a:srgbClr val="7030A0"/>
                                        </a:solidFill>
                                        <a:latin typeface="Cambria Math" panose="02040503050406030204" pitchFamily="18" charset="0"/>
                                      </a:rPr>
                                      <m:t>−</m:t>
                                    </m:r>
                                    <m:r>
                                      <m:rPr>
                                        <m:nor/>
                                      </m:rPr>
                                      <a:rPr lang="zh-CN" altLang="en-US" i="1">
                                        <a:solidFill>
                                          <a:srgbClr val="7030A0"/>
                                        </a:solidFill>
                                        <a:latin typeface="Cambria Math" panose="02040503050406030204" pitchFamily="18" charset="0"/>
                                      </a:rPr>
                                      <m:t> </m:t>
                                    </m:r>
                                    <m:acc>
                                      <m:accPr>
                                        <m:chr m:val="̅"/>
                                        <m:ctrlPr>
                                          <a:rPr lang="zh-CN" altLang="en-US" i="1">
                                            <a:solidFill>
                                              <a:srgbClr val="7030A0"/>
                                            </a:solidFill>
                                            <a:latin typeface="Cambria Math" panose="02040503050406030204" pitchFamily="18" charset="0"/>
                                          </a:rPr>
                                        </m:ctrlPr>
                                      </m:accPr>
                                      <m:e>
                                        <m:r>
                                          <a:rPr lang="en-US" altLang="zh-CN" b="0" i="1" smtClean="0">
                                            <a:solidFill>
                                              <a:srgbClr val="7030A0"/>
                                            </a:solidFill>
                                            <a:latin typeface="Cambria Math" panose="02040503050406030204" pitchFamily="18" charset="0"/>
                                          </a:rPr>
                                          <m:t>𝑋</m:t>
                                        </m:r>
                                      </m:e>
                                    </m:acc>
                                  </m:e>
                                </m:d>
                              </m:e>
                              <m:sup>
                                <m:r>
                                  <a:rPr lang="zh-CN" altLang="en-US" i="1">
                                    <a:solidFill>
                                      <a:srgbClr val="7030A0"/>
                                    </a:solidFill>
                                    <a:latin typeface="Cambria Math" panose="02040503050406030204" pitchFamily="18" charset="0"/>
                                  </a:rPr>
                                  <m:t>𝑇</m:t>
                                </m:r>
                              </m:sup>
                            </m:sSup>
                          </m:e>
                        </m:d>
                      </m:e>
                    </m:d>
                  </m:oMath>
                </a14:m>
                <a:r>
                  <a:rPr lang="zh-CN" altLang="en-US" dirty="0">
                    <a:solidFill>
                      <a:srgbClr val="7030A0"/>
                    </a:solidFill>
                  </a:rPr>
                  <a:t>来计算，当</a:t>
                </a:r>
                <a:r>
                  <a:rPr lang="en-US" altLang="zh-CN" dirty="0">
                    <a:solidFill>
                      <a:srgbClr val="7030A0"/>
                    </a:solidFill>
                  </a:rPr>
                  <a:t>X</a:t>
                </a:r>
                <a:r>
                  <a:rPr lang="zh-CN" altLang="en-US" dirty="0">
                    <a:solidFill>
                      <a:srgbClr val="7030A0"/>
                    </a:solidFill>
                  </a:rPr>
                  <a:t>是零均值随机变量时自相关与协方差相等</a:t>
                </a:r>
              </a:p>
            </p:txBody>
          </p:sp>
        </mc:Choice>
        <mc:Fallback xmlns="">
          <p:sp>
            <p:nvSpPr>
              <p:cNvPr id="18" name="矩形 17"/>
              <p:cNvSpPr>
                <a:spLocks noRot="1" noChangeAspect="1" noMove="1" noResize="1" noEditPoints="1" noAdjustHandles="1" noChangeArrowheads="1" noChangeShapeType="1" noTextEdit="1"/>
              </p:cNvSpPr>
              <p:nvPr/>
            </p:nvSpPr>
            <p:spPr>
              <a:xfrm>
                <a:off x="25427" y="6172806"/>
                <a:ext cx="5668402" cy="681982"/>
              </a:xfrm>
              <a:prstGeom prst="rect">
                <a:avLst/>
              </a:prstGeom>
              <a:blipFill>
                <a:blip r:embed="rId16"/>
                <a:stretch>
                  <a:fillRect l="-860" t="-92793" r="-4946" b="-9819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3407286" y="2565109"/>
                <a:ext cx="1388201" cy="307777"/>
              </a:xfrm>
              <a:prstGeom prst="rect">
                <a:avLst/>
              </a:prstGeom>
            </p:spPr>
            <p:txBody>
              <a:bodyPr wrap="none">
                <a:spAutoFit/>
              </a:bodyPr>
              <a:lstStyle/>
              <a:p>
                <a:r>
                  <a:rPr lang="en-US" altLang="zh-CN" sz="1400" b="1" dirty="0">
                    <a:solidFill>
                      <a:srgbClr val="7030A0"/>
                    </a:solidFill>
                    <a:latin typeface="楷体_GB2312" pitchFamily="49" charset="-122"/>
                    <a:ea typeface="楷体_GB2312" pitchFamily="49" charset="-122"/>
                  </a:rPr>
                  <a:t>X</a:t>
                </a:r>
                <a:r>
                  <a:rPr lang="zh-CN" altLang="en-US" sz="1400" b="1" dirty="0">
                    <a:solidFill>
                      <a:srgbClr val="7030A0"/>
                    </a:solidFill>
                    <a:latin typeface="楷体_GB2312" pitchFamily="49" charset="-122"/>
                    <a:ea typeface="楷体_GB2312" pitchFamily="49" charset="-122"/>
                  </a:rPr>
                  <a:t>的自相关阵</a:t>
                </a:r>
                <a14:m>
                  <m:oMath xmlns:m="http://schemas.openxmlformats.org/officeDocument/2006/math">
                    <m:sSub>
                      <m:sSubPr>
                        <m:ctrlPr>
                          <a:rPr lang="zh-CN" altLang="en-US" sz="1400" i="1">
                            <a:solidFill>
                              <a:srgbClr val="7030A0"/>
                            </a:solidFill>
                            <a:latin typeface="Cambria Math" panose="02040503050406030204" pitchFamily="18" charset="0"/>
                          </a:rPr>
                        </m:ctrlPr>
                      </m:sSubPr>
                      <m:e>
                        <m:r>
                          <m:rPr>
                            <m:sty m:val="p"/>
                          </m:rPr>
                          <a:rPr lang="en-US" altLang="zh-CN" sz="1400" i="1">
                            <a:solidFill>
                              <a:srgbClr val="7030A0"/>
                            </a:solidFill>
                            <a:latin typeface="Cambria Math" panose="02040503050406030204" pitchFamily="18" charset="0"/>
                          </a:rPr>
                          <m:t>R</m:t>
                        </m:r>
                      </m:e>
                      <m:sub>
                        <m:r>
                          <a:rPr lang="en-US" altLang="zh-CN" sz="1400" i="1">
                            <a:solidFill>
                              <a:srgbClr val="7030A0"/>
                            </a:solidFill>
                            <a:latin typeface="Cambria Math" panose="02040503050406030204" pitchFamily="18" charset="0"/>
                          </a:rPr>
                          <m:t>𝑋</m:t>
                        </m:r>
                      </m:sub>
                    </m:sSub>
                  </m:oMath>
                </a14:m>
                <a:endParaRPr lang="zh-CN" altLang="en-US" sz="1400" dirty="0">
                  <a:solidFill>
                    <a:srgbClr val="7030A0"/>
                  </a:solidFill>
                </a:endParaRPr>
              </a:p>
            </p:txBody>
          </p:sp>
        </mc:Choice>
        <mc:Fallback xmlns="">
          <p:sp>
            <p:nvSpPr>
              <p:cNvPr id="19" name="矩形 18"/>
              <p:cNvSpPr>
                <a:spLocks noRot="1" noChangeAspect="1" noMove="1" noResize="1" noEditPoints="1" noAdjustHandles="1" noChangeArrowheads="1" noChangeShapeType="1" noTextEdit="1"/>
              </p:cNvSpPr>
              <p:nvPr/>
            </p:nvSpPr>
            <p:spPr>
              <a:xfrm>
                <a:off x="3407286" y="2565109"/>
                <a:ext cx="1388201" cy="307777"/>
              </a:xfrm>
              <a:prstGeom prst="rect">
                <a:avLst/>
              </a:prstGeom>
              <a:blipFill>
                <a:blip r:embed="rId17"/>
                <a:stretch>
                  <a:fillRect l="-1316" t="-6000" b="-18000"/>
                </a:stretch>
              </a:blipFill>
            </p:spPr>
            <p:txBody>
              <a:bodyPr/>
              <a:lstStyle/>
              <a:p>
                <a:r>
                  <a:rPr lang="zh-CN" altLang="en-US">
                    <a:noFill/>
                  </a:rPr>
                  <a:t> </a:t>
                </a:r>
              </a:p>
            </p:txBody>
          </p:sp>
        </mc:Fallback>
      </mc:AlternateContent>
      <p:sp>
        <p:nvSpPr>
          <p:cNvPr id="20" name="矩形 19"/>
          <p:cNvSpPr/>
          <p:nvPr/>
        </p:nvSpPr>
        <p:spPr>
          <a:xfrm>
            <a:off x="2568891" y="1977431"/>
            <a:ext cx="2303836" cy="307777"/>
          </a:xfrm>
          <a:prstGeom prst="rect">
            <a:avLst/>
          </a:prstGeom>
        </p:spPr>
        <p:txBody>
          <a:bodyPr wrap="none">
            <a:spAutoFit/>
          </a:bodyPr>
          <a:lstStyle/>
          <a:p>
            <a:r>
              <a:rPr lang="en-US" altLang="zh-CN" sz="1400" dirty="0">
                <a:solidFill>
                  <a:srgbClr val="7030A0"/>
                </a:solidFill>
              </a:rPr>
              <a:t>X</a:t>
            </a:r>
            <a:r>
              <a:rPr lang="zh-CN" altLang="en-US" sz="1400" dirty="0">
                <a:solidFill>
                  <a:srgbClr val="7030A0"/>
                </a:solidFill>
              </a:rPr>
              <a:t>为零均值随机变量</a:t>
            </a:r>
            <a:r>
              <a:rPr lang="en-US" altLang="zh-CN" sz="1400" dirty="0">
                <a:solidFill>
                  <a:srgbClr val="7030A0"/>
                </a:solidFill>
              </a:rPr>
              <a:t>E(X)=0</a:t>
            </a:r>
            <a:endParaRPr lang="zh-CN" altLang="en-US" sz="1400" dirty="0"/>
          </a:p>
        </p:txBody>
      </p:sp>
      <mc:AlternateContent xmlns:mc="http://schemas.openxmlformats.org/markup-compatibility/2006" xmlns:a14="http://schemas.microsoft.com/office/drawing/2010/main">
        <mc:Choice Requires="a14">
          <p:sp>
            <p:nvSpPr>
              <p:cNvPr id="21" name="矩形 20"/>
              <p:cNvSpPr/>
              <p:nvPr/>
            </p:nvSpPr>
            <p:spPr>
              <a:xfrm>
                <a:off x="3287688" y="1260994"/>
                <a:ext cx="142513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7030A0"/>
                              </a:solidFill>
                              <a:latin typeface="Cambria Math" panose="02040503050406030204" pitchFamily="18" charset="0"/>
                            </a:rPr>
                          </m:ctrlPr>
                        </m:sSubPr>
                        <m:e>
                          <m:r>
                            <a:rPr lang="zh-CN" altLang="en-US">
                              <a:solidFill>
                                <a:srgbClr val="7030A0"/>
                              </a:solidFill>
                              <a:latin typeface="Cambria Math" panose="02040503050406030204" pitchFamily="18" charset="0"/>
                            </a:rPr>
                            <m:t>协方差</m:t>
                          </m:r>
                          <m:r>
                            <a:rPr lang="zh-CN" altLang="en-US" i="1">
                              <a:solidFill>
                                <a:srgbClr val="7030A0"/>
                              </a:solidFill>
                              <a:latin typeface="Cambria Math" panose="02040503050406030204" pitchFamily="18" charset="0"/>
                            </a:rPr>
                            <m:t>阵</m:t>
                          </m:r>
                          <m:r>
                            <a:rPr lang="zh-CN" altLang="en-US" i="1">
                              <a:solidFill>
                                <a:srgbClr val="7030A0"/>
                              </a:solidFill>
                              <a:latin typeface="Cambria Math" panose="02040503050406030204" pitchFamily="18" charset="0"/>
                            </a:rPr>
                            <m:t>𝐶</m:t>
                          </m:r>
                        </m:e>
                        <m:sub>
                          <m:r>
                            <a:rPr lang="en-US" altLang="zh-CN" i="1">
                              <a:solidFill>
                                <a:srgbClr val="7030A0"/>
                              </a:solidFill>
                              <a:latin typeface="Cambria Math" panose="02040503050406030204" pitchFamily="18" charset="0"/>
                            </a:rPr>
                            <m:t>𝑋</m:t>
                          </m:r>
                        </m:sub>
                      </m:sSub>
                    </m:oMath>
                  </m:oMathPara>
                </a14:m>
                <a:endParaRPr lang="zh-CN" altLang="en-US" dirty="0"/>
              </a:p>
            </p:txBody>
          </p:sp>
        </mc:Choice>
        <mc:Fallback xmlns="">
          <p:sp>
            <p:nvSpPr>
              <p:cNvPr id="21" name="矩形 20"/>
              <p:cNvSpPr>
                <a:spLocks noRot="1" noChangeAspect="1" noMove="1" noResize="1" noEditPoints="1" noAdjustHandles="1" noChangeArrowheads="1" noChangeShapeType="1" noTextEdit="1"/>
              </p:cNvSpPr>
              <p:nvPr/>
            </p:nvSpPr>
            <p:spPr>
              <a:xfrm>
                <a:off x="3287688" y="1260994"/>
                <a:ext cx="1425134" cy="369332"/>
              </a:xfrm>
              <a:prstGeom prst="rect">
                <a:avLst/>
              </a:prstGeom>
              <a:blipFill>
                <a:blip r:embed="rId18"/>
                <a:stretch>
                  <a:fillRect b="-8333"/>
                </a:stretch>
              </a:blipFill>
            </p:spPr>
            <p:txBody>
              <a:bodyPr/>
              <a:lstStyle/>
              <a:p>
                <a:r>
                  <a:rPr lang="zh-CN" altLang="en-US">
                    <a:noFill/>
                  </a:rPr>
                  <a:t> </a:t>
                </a:r>
              </a:p>
            </p:txBody>
          </p:sp>
        </mc:Fallback>
      </mc:AlternateContent>
      <p:sp>
        <p:nvSpPr>
          <p:cNvPr id="24" name="下箭头 23"/>
          <p:cNvSpPr/>
          <p:nvPr/>
        </p:nvSpPr>
        <p:spPr>
          <a:xfrm>
            <a:off x="2360896" y="1966203"/>
            <a:ext cx="207995" cy="275110"/>
          </a:xfrm>
          <a:prstGeom prst="downArrow">
            <a:avLst/>
          </a:prstGeom>
          <a:solidFill>
            <a:schemeClr val="accent1">
              <a:lumMod val="40000"/>
              <a:lumOff val="60000"/>
            </a:schemeClr>
          </a:solidFill>
          <a:ln>
            <a:solidFill>
              <a:schemeClr val="accent1">
                <a:lumMod val="75000"/>
              </a:schemeClr>
            </a:solidFill>
          </a:ln>
        </p:spPr>
        <p:txBody>
          <a:bodyPr wrap="square" rtlCol="0" anchor="ctr">
            <a:spAutoFit/>
          </a:bodyPr>
          <a:lstStyle/>
          <a:p>
            <a:pPr algn="ctr"/>
            <a:endParaRPr lang="zh-CN" altLang="en-US" sz="2400" kern="100" dirty="0">
              <a:ea typeface="宋体"/>
              <a:cs typeface="Times New Roman"/>
            </a:endParaRPr>
          </a:p>
        </p:txBody>
      </p:sp>
      <p:sp>
        <p:nvSpPr>
          <p:cNvPr id="22" name="矩形 21"/>
          <p:cNvSpPr/>
          <p:nvPr/>
        </p:nvSpPr>
        <p:spPr>
          <a:xfrm>
            <a:off x="33550" y="2794287"/>
            <a:ext cx="3182130" cy="332895"/>
          </a:xfrm>
          <a:prstGeom prst="rect">
            <a:avLst/>
          </a:prstGeom>
          <a:ln>
            <a:solidFill>
              <a:srgbClr val="0000FF"/>
            </a:solidFill>
          </a:ln>
        </p:spPr>
        <p:txBody>
          <a:bodyPr wrap="none" rtlCol="0" anchor="ctr">
            <a:spAutoFit/>
          </a:bodyPr>
          <a:lstStyle/>
          <a:p>
            <a:pPr algn="ctr"/>
            <a:endParaRPr lang="zh-CN" altLang="en-US" sz="2400" kern="100" dirty="0">
              <a:ea typeface="宋体"/>
              <a:cs typeface="Times New Roman"/>
            </a:endParaRPr>
          </a:p>
        </p:txBody>
      </p:sp>
    </p:spTree>
    <p:extLst>
      <p:ext uri="{BB962C8B-B14F-4D97-AF65-F5344CB8AC3E}">
        <p14:creationId xmlns:p14="http://schemas.microsoft.com/office/powerpoint/2010/main" val="66065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19"/>
          <p:cNvGraphicFramePr>
            <a:graphicFrameLocks noChangeAspect="1"/>
          </p:cNvGraphicFramePr>
          <p:nvPr>
            <p:extLst>
              <p:ext uri="{D42A27DB-BD31-4B8C-83A1-F6EECF244321}">
                <p14:modId xmlns:p14="http://schemas.microsoft.com/office/powerpoint/2010/main" val="1934633691"/>
              </p:ext>
            </p:extLst>
          </p:nvPr>
        </p:nvGraphicFramePr>
        <p:xfrm>
          <a:off x="9393718" y="1638901"/>
          <a:ext cx="2211387" cy="874713"/>
        </p:xfrm>
        <a:graphic>
          <a:graphicData uri="http://schemas.openxmlformats.org/presentationml/2006/ole">
            <mc:AlternateContent xmlns:mc="http://schemas.openxmlformats.org/markup-compatibility/2006">
              <mc:Choice xmlns:v="urn:schemas-microsoft-com:vml" Requires="v">
                <p:oleObj spid="_x0000_s369735" name="Equation" r:id="rId4" imgW="1155600" imgH="457200" progId="Equation.DSMT4">
                  <p:embed/>
                </p:oleObj>
              </mc:Choice>
              <mc:Fallback>
                <p:oleObj name="Equation" r:id="rId4" imgW="1155600" imgH="457200" progId="Equation.DSMT4">
                  <p:embed/>
                  <p:pic>
                    <p:nvPicPr>
                      <p:cNvPr id="9235"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93718" y="1638901"/>
                        <a:ext cx="2211387" cy="874713"/>
                      </a:xfrm>
                      <a:prstGeom prst="rect">
                        <a:avLst/>
                      </a:prstGeom>
                      <a:solidFill>
                        <a:schemeClr val="bg1"/>
                      </a:solidFill>
                    </p:spPr>
                  </p:pic>
                </p:oleObj>
              </mc:Fallback>
            </mc:AlternateContent>
          </a:graphicData>
        </a:graphic>
      </p:graphicFrame>
      <p:grpSp>
        <p:nvGrpSpPr>
          <p:cNvPr id="2" name="Group 2"/>
          <p:cNvGrpSpPr>
            <a:grpSpLocks/>
          </p:cNvGrpSpPr>
          <p:nvPr/>
        </p:nvGrpSpPr>
        <p:grpSpPr bwMode="auto">
          <a:xfrm>
            <a:off x="0" y="704325"/>
            <a:ext cx="11358563" cy="965200"/>
            <a:chOff x="-752" y="172"/>
            <a:chExt cx="7155" cy="608"/>
          </a:xfrm>
          <a:solidFill>
            <a:schemeClr val="bg1"/>
          </a:solidFill>
        </p:grpSpPr>
        <p:sp>
          <p:nvSpPr>
            <p:cNvPr id="8208" name="Rectangle 3"/>
            <p:cNvSpPr>
              <a:spLocks noChangeArrowheads="1"/>
            </p:cNvSpPr>
            <p:nvPr/>
          </p:nvSpPr>
          <p:spPr bwMode="auto">
            <a:xfrm>
              <a:off x="-752" y="172"/>
              <a:ext cx="4896" cy="288"/>
            </a:xfrm>
            <a:prstGeom prst="rect">
              <a:avLst/>
            </a:prstGeom>
            <a:grpFill/>
            <a:ln w="9525">
              <a:noFill/>
              <a:miter lim="800000"/>
              <a:headEnd/>
              <a:tailEnd/>
            </a:ln>
          </p:spPr>
          <p:txBody>
            <a:bodyPr/>
            <a:lstStyle/>
            <a:p>
              <a:r>
                <a:rPr lang="zh-CN" altLang="en-US" sz="2400" b="1" dirty="0">
                  <a:solidFill>
                    <a:srgbClr val="FF0000"/>
                  </a:solidFill>
                  <a:latin typeface="Tahoma" pitchFamily="34" charset="0"/>
                  <a:ea typeface="黑体" pitchFamily="49" charset="-122"/>
                </a:rPr>
                <a:t>例</a:t>
              </a:r>
              <a:r>
                <a:rPr lang="en-US" altLang="zh-CN" sz="2400" b="1" dirty="0">
                  <a:solidFill>
                    <a:srgbClr val="FF0000"/>
                  </a:solidFill>
                  <a:latin typeface="Tahoma" pitchFamily="34" charset="0"/>
                  <a:ea typeface="黑体" pitchFamily="49" charset="-122"/>
                </a:rPr>
                <a:t>: </a:t>
              </a:r>
              <a:r>
                <a:rPr lang="zh-CN" altLang="en-US" sz="2400" b="1" dirty="0">
                  <a:latin typeface="Tahoma" pitchFamily="34" charset="0"/>
                  <a:ea typeface="楷体_GB2312" pitchFamily="49" charset="-122"/>
                </a:rPr>
                <a:t>已知两类样本 </a:t>
              </a:r>
            </a:p>
          </p:txBody>
        </p:sp>
        <p:sp>
          <p:nvSpPr>
            <p:cNvPr id="8209" name="Rectangle 4"/>
            <p:cNvSpPr>
              <a:spLocks noChangeArrowheads="1"/>
            </p:cNvSpPr>
            <p:nvPr/>
          </p:nvSpPr>
          <p:spPr bwMode="auto">
            <a:xfrm>
              <a:off x="3818" y="460"/>
              <a:ext cx="2585" cy="293"/>
            </a:xfrm>
            <a:prstGeom prst="rect">
              <a:avLst/>
            </a:prstGeom>
            <a:grpFill/>
            <a:ln w="9525">
              <a:noFill/>
              <a:miter lim="800000"/>
              <a:headEnd/>
              <a:tailEnd/>
            </a:ln>
          </p:spPr>
          <p:txBody>
            <a:bodyPr/>
            <a:lstStyle/>
            <a:p>
              <a:pPr marL="342900" indent="-342900">
                <a:spcBef>
                  <a:spcPct val="20000"/>
                </a:spcBef>
                <a:buClr>
                  <a:schemeClr val="folHlink"/>
                </a:buClr>
                <a:buSzPct val="60000"/>
              </a:pPr>
              <a:r>
                <a:rPr lang="zh-CN" altLang="en-US" sz="2400" dirty="0">
                  <a:latin typeface="楷体_GB2312" pitchFamily="49" charset="-122"/>
                  <a:ea typeface="楷体_GB2312" pitchFamily="49" charset="-122"/>
                </a:rPr>
                <a:t>试用</a:t>
              </a:r>
              <a:r>
                <a:rPr lang="en-US" altLang="zh-CN" sz="2400" dirty="0">
                  <a:latin typeface="楷体_GB2312" pitchFamily="49" charset="-122"/>
                  <a:ea typeface="楷体_GB2312" pitchFamily="49" charset="-122"/>
                </a:rPr>
                <a:t>PCA</a:t>
              </a:r>
              <a:r>
                <a:rPr lang="zh-CN" altLang="en-US" sz="2400" dirty="0">
                  <a:latin typeface="楷体_GB2312" pitchFamily="49" charset="-122"/>
                  <a:ea typeface="楷体_GB2312" pitchFamily="49" charset="-122"/>
                </a:rPr>
                <a:t>变换做一维特征提取。</a:t>
              </a:r>
            </a:p>
          </p:txBody>
        </p:sp>
        <p:graphicFrame>
          <p:nvGraphicFramePr>
            <p:cNvPr id="8199" name="Object 7"/>
            <p:cNvGraphicFramePr>
              <a:graphicFrameLocks noChangeAspect="1"/>
            </p:cNvGraphicFramePr>
            <p:nvPr>
              <p:extLst>
                <p:ext uri="{D42A27DB-BD31-4B8C-83A1-F6EECF244321}">
                  <p14:modId xmlns:p14="http://schemas.microsoft.com/office/powerpoint/2010/main" val="3797192769"/>
                </p:ext>
              </p:extLst>
            </p:nvPr>
          </p:nvGraphicFramePr>
          <p:xfrm>
            <a:off x="836" y="187"/>
            <a:ext cx="3979" cy="277"/>
          </p:xfrm>
          <a:graphic>
            <a:graphicData uri="http://schemas.openxmlformats.org/presentationml/2006/ole">
              <mc:AlternateContent xmlns:mc="http://schemas.openxmlformats.org/markup-compatibility/2006">
                <mc:Choice xmlns:v="urn:schemas-microsoft-com:vml" Requires="v">
                  <p:oleObj spid="_x0000_s369736" name="Equation" r:id="rId6" imgW="3098520" imgH="215640" progId="">
                    <p:embed/>
                  </p:oleObj>
                </mc:Choice>
                <mc:Fallback>
                  <p:oleObj name="Equation" r:id="rId6" imgW="3098520" imgH="215640" progId="">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6" y="187"/>
                          <a:ext cx="3979" cy="277"/>
                        </a:xfrm>
                        <a:prstGeom prst="rect">
                          <a:avLst/>
                        </a:prstGeom>
                        <a:solidFill>
                          <a:schemeClr val="bg1"/>
                        </a:solidFill>
                      </p:spPr>
                    </p:pic>
                  </p:oleObj>
                </mc:Fallback>
              </mc:AlternateContent>
            </a:graphicData>
          </a:graphic>
        </p:graphicFrame>
        <p:graphicFrame>
          <p:nvGraphicFramePr>
            <p:cNvPr id="8200" name="Object 8"/>
            <p:cNvGraphicFramePr>
              <a:graphicFrameLocks noChangeAspect="1"/>
            </p:cNvGraphicFramePr>
            <p:nvPr>
              <p:extLst>
                <p:ext uri="{D42A27DB-BD31-4B8C-83A1-F6EECF244321}">
                  <p14:modId xmlns:p14="http://schemas.microsoft.com/office/powerpoint/2010/main" val="171532637"/>
                </p:ext>
              </p:extLst>
            </p:nvPr>
          </p:nvGraphicFramePr>
          <p:xfrm>
            <a:off x="790" y="503"/>
            <a:ext cx="2886" cy="277"/>
          </p:xfrm>
          <a:graphic>
            <a:graphicData uri="http://schemas.openxmlformats.org/presentationml/2006/ole">
              <mc:AlternateContent xmlns:mc="http://schemas.openxmlformats.org/markup-compatibility/2006">
                <mc:Choice xmlns:v="urn:schemas-microsoft-com:vml" Requires="v">
                  <p:oleObj spid="_x0000_s369737" name="Equation" r:id="rId8" imgW="2247840" imgH="215640" progId="">
                    <p:embed/>
                  </p:oleObj>
                </mc:Choice>
                <mc:Fallback>
                  <p:oleObj name="Equation" r:id="rId8" imgW="2247840" imgH="215640" progId="">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0" y="503"/>
                          <a:ext cx="2886" cy="2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8207" name="Rectangle 9"/>
          <p:cNvSpPr>
            <a:spLocks noChangeArrowheads="1"/>
          </p:cNvSpPr>
          <p:nvPr/>
        </p:nvSpPr>
        <p:spPr bwMode="auto">
          <a:xfrm>
            <a:off x="22364" y="1578792"/>
            <a:ext cx="1728788" cy="539750"/>
          </a:xfrm>
          <a:prstGeom prst="rect">
            <a:avLst/>
          </a:prstGeom>
          <a:noFill/>
          <a:ln w="9525">
            <a:noFill/>
            <a:miter lim="800000"/>
            <a:headEnd/>
            <a:tailEnd/>
          </a:ln>
        </p:spPr>
        <p:txBody>
          <a:bodyPr/>
          <a:lstStyle/>
          <a:p>
            <a:pPr marL="342900" indent="-342900">
              <a:spcBef>
                <a:spcPct val="20000"/>
              </a:spcBef>
              <a:buClr>
                <a:schemeClr val="folHlink"/>
              </a:buClr>
              <a:buSzPct val="60000"/>
            </a:pPr>
            <a:r>
              <a:rPr lang="zh-CN" altLang="en-US" sz="2400" dirty="0">
                <a:solidFill>
                  <a:srgbClr val="0000FF"/>
                </a:solidFill>
                <a:latin typeface="楷体_GB2312" pitchFamily="49" charset="-122"/>
                <a:ea typeface="楷体_GB2312" pitchFamily="49" charset="-122"/>
              </a:rPr>
              <a:t>解</a:t>
            </a:r>
            <a:r>
              <a:rPr lang="zh-CN" altLang="en-US" sz="2400" dirty="0">
                <a:solidFill>
                  <a:srgbClr val="000000"/>
                </a:solidFill>
                <a:latin typeface="楷体_GB2312" pitchFamily="49" charset="-122"/>
                <a:ea typeface="楷体_GB2312" pitchFamily="49" charset="-122"/>
              </a:rPr>
              <a:t>：</a:t>
            </a:r>
            <a:endParaRPr lang="zh-CN" altLang="en-US" sz="2400" dirty="0">
              <a:solidFill>
                <a:srgbClr val="000000"/>
              </a:solidFill>
              <a:latin typeface="楷体_GB2312" pitchFamily="49" charset="-122"/>
              <a:ea typeface="楷体_GB2312" pitchFamily="49" charset="-122"/>
              <a:sym typeface="Wingdings" pitchFamily="2" charset="2"/>
            </a:endParaRPr>
          </a:p>
          <a:p>
            <a:pPr marL="342900" indent="-342900">
              <a:spcBef>
                <a:spcPct val="20000"/>
              </a:spcBef>
              <a:buClr>
                <a:schemeClr val="folHlink"/>
              </a:buClr>
              <a:buSzPct val="60000"/>
            </a:pPr>
            <a:endParaRPr lang="zh-CN" altLang="en-US" sz="2400" dirty="0">
              <a:solidFill>
                <a:srgbClr val="000000"/>
              </a:solidFill>
              <a:latin typeface="楷体_GB2312" pitchFamily="49" charset="-122"/>
              <a:ea typeface="楷体_GB2312" pitchFamily="49" charset="-122"/>
              <a:sym typeface="Wingdings" pitchFamily="2" charset="2"/>
            </a:endParaRPr>
          </a:p>
        </p:txBody>
      </p:sp>
      <p:grpSp>
        <p:nvGrpSpPr>
          <p:cNvPr id="4" name="Group 10"/>
          <p:cNvGrpSpPr>
            <a:grpSpLocks/>
          </p:cNvGrpSpPr>
          <p:nvPr/>
        </p:nvGrpSpPr>
        <p:grpSpPr bwMode="auto">
          <a:xfrm>
            <a:off x="-190413" y="4371371"/>
            <a:ext cx="5370513" cy="1909763"/>
            <a:chOff x="367" y="2981"/>
            <a:chExt cx="3383" cy="1203"/>
          </a:xfrm>
        </p:grpSpPr>
        <p:graphicFrame>
          <p:nvGraphicFramePr>
            <p:cNvPr id="8196" name="Object 4"/>
            <p:cNvGraphicFramePr>
              <a:graphicFrameLocks noChangeAspect="1"/>
            </p:cNvGraphicFramePr>
            <p:nvPr>
              <p:extLst>
                <p:ext uri="{D42A27DB-BD31-4B8C-83A1-F6EECF244321}">
                  <p14:modId xmlns:p14="http://schemas.microsoft.com/office/powerpoint/2010/main" val="2033511081"/>
                </p:ext>
              </p:extLst>
            </p:nvPr>
          </p:nvGraphicFramePr>
          <p:xfrm>
            <a:off x="787" y="3252"/>
            <a:ext cx="2142" cy="480"/>
          </p:xfrm>
          <a:graphic>
            <a:graphicData uri="http://schemas.openxmlformats.org/presentationml/2006/ole">
              <mc:AlternateContent xmlns:mc="http://schemas.openxmlformats.org/markup-compatibility/2006">
                <mc:Choice xmlns:v="urn:schemas-microsoft-com:vml" Requires="v">
                  <p:oleObj spid="_x0000_s369738" name="Equation" r:id="rId10" imgW="2031840" imgH="457200" progId="Equation.DSMT4">
                    <p:embed/>
                  </p:oleObj>
                </mc:Choice>
                <mc:Fallback>
                  <p:oleObj name="Equation" r:id="rId10" imgW="2031840" imgH="457200" progId="Equation.DSMT4">
                    <p:embed/>
                    <p:pic>
                      <p:nvPicPr>
                        <p:cNvPr id="0" name="Object 4"/>
                        <p:cNvPicPr>
                          <a:picLocks noChangeAspect="1" noChangeArrowheads="1"/>
                        </p:cNvPicPr>
                        <p:nvPr/>
                      </p:nvPicPr>
                      <p:blipFill>
                        <a:blip r:embed="rId11"/>
                        <a:srcRect/>
                        <a:stretch>
                          <a:fillRect/>
                        </a:stretch>
                      </p:blipFill>
                      <p:spPr bwMode="auto">
                        <a:xfrm>
                          <a:off x="787" y="3252"/>
                          <a:ext cx="2142" cy="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7" name="Object 5"/>
            <p:cNvGraphicFramePr>
              <a:graphicFrameLocks noChangeAspect="1"/>
            </p:cNvGraphicFramePr>
            <p:nvPr>
              <p:extLst>
                <p:ext uri="{D42A27DB-BD31-4B8C-83A1-F6EECF244321}">
                  <p14:modId xmlns:p14="http://schemas.microsoft.com/office/powerpoint/2010/main" val="1223773503"/>
                </p:ext>
              </p:extLst>
            </p:nvPr>
          </p:nvGraphicFramePr>
          <p:xfrm>
            <a:off x="510" y="3704"/>
            <a:ext cx="3240" cy="480"/>
          </p:xfrm>
          <a:graphic>
            <a:graphicData uri="http://schemas.openxmlformats.org/presentationml/2006/ole">
              <mc:AlternateContent xmlns:mc="http://schemas.openxmlformats.org/markup-compatibility/2006">
                <mc:Choice xmlns:v="urn:schemas-microsoft-com:vml" Requires="v">
                  <p:oleObj spid="_x0000_s369739" name="Equation" r:id="rId12" imgW="3073320" imgH="457200" progId="Equation.DSMT4">
                    <p:embed/>
                  </p:oleObj>
                </mc:Choice>
                <mc:Fallback>
                  <p:oleObj name="Equation" r:id="rId12" imgW="3073320" imgH="457200" progId="Equation.DSMT4">
                    <p:embed/>
                    <p:pic>
                      <p:nvPicPr>
                        <p:cNvPr id="0" name="Object 5"/>
                        <p:cNvPicPr>
                          <a:picLocks noChangeAspect="1" noChangeArrowheads="1"/>
                        </p:cNvPicPr>
                        <p:nvPr/>
                      </p:nvPicPr>
                      <p:blipFill>
                        <a:blip r:embed="rId13"/>
                        <a:srcRect/>
                        <a:stretch>
                          <a:fillRect/>
                        </a:stretch>
                      </p:blipFill>
                      <p:spPr bwMode="auto">
                        <a:xfrm>
                          <a:off x="510" y="3704"/>
                          <a:ext cx="3240" cy="480"/>
                        </a:xfrm>
                        <a:prstGeom prst="rect">
                          <a:avLst/>
                        </a:prstGeom>
                        <a:solidFill>
                          <a:schemeClr val="bg1"/>
                        </a:solidFill>
                      </p:spPr>
                    </p:pic>
                  </p:oleObj>
                </mc:Fallback>
              </mc:AlternateContent>
            </a:graphicData>
          </a:graphic>
        </p:graphicFrame>
        <p:sp>
          <p:nvSpPr>
            <p:cNvPr id="8206" name="Rectangle 13"/>
            <p:cNvSpPr>
              <a:spLocks noChangeArrowheads="1"/>
            </p:cNvSpPr>
            <p:nvPr/>
          </p:nvSpPr>
          <p:spPr bwMode="auto">
            <a:xfrm>
              <a:off x="367" y="2981"/>
              <a:ext cx="2812" cy="317"/>
            </a:xfrm>
            <a:prstGeom prst="rect">
              <a:avLst/>
            </a:prstGeom>
            <a:noFill/>
            <a:ln w="9525">
              <a:noFill/>
              <a:miter lim="800000"/>
              <a:headEnd/>
              <a:tailEnd/>
            </a:ln>
          </p:spPr>
          <p:txBody>
            <a:bodyPr/>
            <a:lstStyle/>
            <a:p>
              <a:pPr marL="342900" indent="-342900">
                <a:spcBef>
                  <a:spcPct val="20000"/>
                </a:spcBef>
                <a:buClr>
                  <a:schemeClr val="folHlink"/>
                </a:buClr>
                <a:buSzPct val="60000"/>
              </a:pPr>
              <a:r>
                <a:rPr lang="zh-CN" altLang="en-US" sz="2400" dirty="0">
                  <a:solidFill>
                    <a:srgbClr val="000000"/>
                  </a:solidFill>
                  <a:latin typeface="楷体_GB2312" pitchFamily="49" charset="-122"/>
                  <a:ea typeface="楷体_GB2312" pitchFamily="49" charset="-122"/>
                  <a:sym typeface="Wingdings" pitchFamily="2" charset="2"/>
                </a:rPr>
                <a:t>（</a:t>
              </a:r>
              <a:r>
                <a:rPr lang="en-US" altLang="zh-CN" sz="2400" dirty="0">
                  <a:solidFill>
                    <a:srgbClr val="000000"/>
                  </a:solidFill>
                  <a:latin typeface="楷体_GB2312" pitchFamily="49" charset="-122"/>
                  <a:ea typeface="楷体_GB2312" pitchFamily="49" charset="-122"/>
                  <a:sym typeface="Wingdings" pitchFamily="2" charset="2"/>
                </a:rPr>
                <a:t>2</a:t>
              </a:r>
              <a:r>
                <a:rPr lang="zh-CN" altLang="en-US" sz="2400" dirty="0">
                  <a:solidFill>
                    <a:srgbClr val="000000"/>
                  </a:solidFill>
                  <a:latin typeface="楷体_GB2312" pitchFamily="49" charset="-122"/>
                  <a:ea typeface="楷体_GB2312" pitchFamily="49" charset="-122"/>
                  <a:sym typeface="Wingdings" pitchFamily="2" charset="2"/>
                </a:rPr>
                <a:t>）求</a:t>
              </a:r>
              <a:r>
                <a:rPr lang="en-US" altLang="zh-CN" sz="2400" dirty="0">
                  <a:solidFill>
                    <a:srgbClr val="000000"/>
                  </a:solidFill>
                  <a:latin typeface="楷体_GB2312" pitchFamily="49" charset="-122"/>
                  <a:ea typeface="楷体_GB2312" pitchFamily="49" charset="-122"/>
                  <a:sym typeface="Wingdings" pitchFamily="2" charset="2"/>
                </a:rPr>
                <a:t>R</a:t>
              </a:r>
              <a:r>
                <a:rPr lang="zh-CN" altLang="en-US" sz="2400" dirty="0">
                  <a:solidFill>
                    <a:srgbClr val="000000"/>
                  </a:solidFill>
                  <a:latin typeface="楷体_GB2312" pitchFamily="49" charset="-122"/>
                  <a:ea typeface="楷体_GB2312" pitchFamily="49" charset="-122"/>
                  <a:sym typeface="Wingdings" pitchFamily="2" charset="2"/>
                </a:rPr>
                <a:t>的特征值、特征矢量</a:t>
              </a:r>
              <a:endParaRPr lang="zh-CN" altLang="en-US" sz="2400" dirty="0">
                <a:solidFill>
                  <a:srgbClr val="000000"/>
                </a:solidFill>
                <a:latin typeface="楷体_GB2312" pitchFamily="49" charset="-122"/>
                <a:ea typeface="楷体_GB2312" pitchFamily="49" charset="-122"/>
              </a:endParaRPr>
            </a:p>
          </p:txBody>
        </p:sp>
      </p:grpSp>
      <p:grpSp>
        <p:nvGrpSpPr>
          <p:cNvPr id="5" name="Group 14"/>
          <p:cNvGrpSpPr>
            <a:grpSpLocks/>
          </p:cNvGrpSpPr>
          <p:nvPr/>
        </p:nvGrpSpPr>
        <p:grpSpPr bwMode="auto">
          <a:xfrm>
            <a:off x="-173667" y="1667717"/>
            <a:ext cx="5207001" cy="2782888"/>
            <a:chOff x="407" y="1697"/>
            <a:chExt cx="3280" cy="1753"/>
          </a:xfrm>
        </p:grpSpPr>
        <p:graphicFrame>
          <p:nvGraphicFramePr>
            <p:cNvPr id="8194" name="Object 2"/>
            <p:cNvGraphicFramePr>
              <a:graphicFrameLocks noChangeAspect="1"/>
            </p:cNvGraphicFramePr>
            <p:nvPr>
              <p:extLst>
                <p:ext uri="{D42A27DB-BD31-4B8C-83A1-F6EECF244321}">
                  <p14:modId xmlns:p14="http://schemas.microsoft.com/office/powerpoint/2010/main" val="3575550458"/>
                </p:ext>
              </p:extLst>
            </p:nvPr>
          </p:nvGraphicFramePr>
          <p:xfrm>
            <a:off x="945" y="1697"/>
            <a:ext cx="1968" cy="254"/>
          </p:xfrm>
          <a:graphic>
            <a:graphicData uri="http://schemas.openxmlformats.org/presentationml/2006/ole">
              <mc:AlternateContent xmlns:mc="http://schemas.openxmlformats.org/markup-compatibility/2006">
                <mc:Choice xmlns:v="urn:schemas-microsoft-com:vml" Requires="v">
                  <p:oleObj spid="_x0000_s369740" name="Equation" r:id="rId14" imgW="1866600" imgH="241200" progId="">
                    <p:embed/>
                  </p:oleObj>
                </mc:Choice>
                <mc:Fallback>
                  <p:oleObj name="Equation" r:id="rId14" imgW="1866600" imgH="241200" progId="">
                    <p:embed/>
                    <p:pic>
                      <p:nvPicPr>
                        <p:cNvPr id="0" name="Object 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45" y="1697"/>
                          <a:ext cx="1968"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5" name="Object 3"/>
            <p:cNvGraphicFramePr>
              <a:graphicFrameLocks noChangeAspect="1"/>
            </p:cNvGraphicFramePr>
            <p:nvPr>
              <p:extLst>
                <p:ext uri="{D42A27DB-BD31-4B8C-83A1-F6EECF244321}">
                  <p14:modId xmlns:p14="http://schemas.microsoft.com/office/powerpoint/2010/main" val="680196448"/>
                </p:ext>
              </p:extLst>
            </p:nvPr>
          </p:nvGraphicFramePr>
          <p:xfrm>
            <a:off x="608" y="2021"/>
            <a:ext cx="3079" cy="1429"/>
          </p:xfrm>
          <a:graphic>
            <a:graphicData uri="http://schemas.openxmlformats.org/presentationml/2006/ole">
              <mc:AlternateContent xmlns:mc="http://schemas.openxmlformats.org/markup-compatibility/2006">
                <mc:Choice xmlns:v="urn:schemas-microsoft-com:vml" Requires="v">
                  <p:oleObj spid="_x0000_s369741" name="Equation" r:id="rId16" imgW="2920680" imgH="1358640" progId="Equation.DSMT4">
                    <p:embed/>
                  </p:oleObj>
                </mc:Choice>
                <mc:Fallback>
                  <p:oleObj name="Equation" r:id="rId16" imgW="2920680" imgH="1358640" progId="Equation.DSMT4">
                    <p:embed/>
                    <p:pic>
                      <p:nvPicPr>
                        <p:cNvPr id="0" name="Object 3"/>
                        <p:cNvPicPr>
                          <a:picLocks noChangeAspect="1" noChangeArrowheads="1"/>
                        </p:cNvPicPr>
                        <p:nvPr/>
                      </p:nvPicPr>
                      <p:blipFill>
                        <a:blip r:embed="rId17"/>
                        <a:srcRect/>
                        <a:stretch>
                          <a:fillRect/>
                        </a:stretch>
                      </p:blipFill>
                      <p:spPr bwMode="auto">
                        <a:xfrm>
                          <a:off x="608" y="2021"/>
                          <a:ext cx="3079" cy="14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5" name="Rectangle 17"/>
            <p:cNvSpPr>
              <a:spLocks noChangeArrowheads="1"/>
            </p:cNvSpPr>
            <p:nvPr/>
          </p:nvSpPr>
          <p:spPr bwMode="auto">
            <a:xfrm>
              <a:off x="407" y="1851"/>
              <a:ext cx="771" cy="363"/>
            </a:xfrm>
            <a:prstGeom prst="rect">
              <a:avLst/>
            </a:prstGeom>
            <a:noFill/>
            <a:ln w="9525">
              <a:noFill/>
              <a:miter lim="800000"/>
              <a:headEnd/>
              <a:tailEnd/>
            </a:ln>
          </p:spPr>
          <p:txBody>
            <a:bodyPr/>
            <a:lstStyle/>
            <a:p>
              <a:pPr marL="342900" indent="-342900">
                <a:spcBef>
                  <a:spcPct val="20000"/>
                </a:spcBef>
                <a:buClr>
                  <a:schemeClr val="folHlink"/>
                </a:buClr>
                <a:buSzPct val="60000"/>
              </a:pPr>
              <a:r>
                <a:rPr lang="zh-CN" altLang="en-US" sz="2400" dirty="0">
                  <a:solidFill>
                    <a:srgbClr val="000000"/>
                  </a:solidFill>
                  <a:latin typeface="楷体_GB2312" pitchFamily="49" charset="-122"/>
                  <a:ea typeface="楷体_GB2312" pitchFamily="49" charset="-122"/>
                  <a:sym typeface="Wingdings" pitchFamily="2" charset="2"/>
                </a:rPr>
                <a:t>（</a:t>
              </a:r>
              <a:r>
                <a:rPr lang="en-US" altLang="zh-CN" sz="2400" dirty="0">
                  <a:solidFill>
                    <a:srgbClr val="000000"/>
                  </a:solidFill>
                  <a:latin typeface="楷体_GB2312" pitchFamily="49" charset="-122"/>
                  <a:ea typeface="楷体_GB2312" pitchFamily="49" charset="-122"/>
                  <a:sym typeface="Wingdings" pitchFamily="2" charset="2"/>
                </a:rPr>
                <a:t>1</a:t>
              </a:r>
              <a:r>
                <a:rPr lang="zh-CN" altLang="en-US" sz="2400" dirty="0">
                  <a:solidFill>
                    <a:srgbClr val="000000"/>
                  </a:solidFill>
                  <a:latin typeface="楷体_GB2312" pitchFamily="49" charset="-122"/>
                  <a:ea typeface="楷体_GB2312" pitchFamily="49" charset="-122"/>
                  <a:sym typeface="Wingdings" pitchFamily="2" charset="2"/>
                </a:rPr>
                <a:t>）</a:t>
              </a:r>
            </a:p>
          </p:txBody>
        </p:sp>
      </p:grpSp>
      <p:sp>
        <p:nvSpPr>
          <p:cNvPr id="18" name="灯片编号占位符 17"/>
          <p:cNvSpPr>
            <a:spLocks noGrp="1"/>
          </p:cNvSpPr>
          <p:nvPr>
            <p:ph type="sldNum" sz="quarter" idx="11"/>
          </p:nvPr>
        </p:nvSpPr>
        <p:spPr/>
        <p:txBody>
          <a:bodyPr/>
          <a:lstStyle/>
          <a:p>
            <a:pPr>
              <a:defRPr/>
            </a:pPr>
            <a:fld id="{31E287EE-1289-4991-82CE-EFE584F53F4F}" type="slidenum">
              <a:rPr lang="en-US" altLang="zh-CN" smtClean="0"/>
              <a:pPr>
                <a:defRPr/>
              </a:pPr>
              <a:t>21</a:t>
            </a:fld>
            <a:endParaRPr lang="en-US" altLang="zh-CN" dirty="0"/>
          </a:p>
        </p:txBody>
      </p:sp>
      <p:sp>
        <p:nvSpPr>
          <p:cNvPr id="3" name="标题 2"/>
          <p:cNvSpPr>
            <a:spLocks noGrp="1"/>
          </p:cNvSpPr>
          <p:nvPr>
            <p:ph type="title"/>
          </p:nvPr>
        </p:nvSpPr>
        <p:spPr/>
        <p:txBody>
          <a:bodyPr/>
          <a:lstStyle/>
          <a:p>
            <a:endParaRPr lang="zh-CN" altLang="en-US"/>
          </a:p>
        </p:txBody>
      </p:sp>
      <p:sp>
        <p:nvSpPr>
          <p:cNvPr id="19" name="标题 1"/>
          <p:cNvSpPr txBox="1">
            <a:spLocks/>
          </p:cNvSpPr>
          <p:nvPr/>
        </p:nvSpPr>
        <p:spPr bwMode="black">
          <a:xfrm>
            <a:off x="323714" y="116929"/>
            <a:ext cx="6499448" cy="540296"/>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17.2 </a:t>
            </a:r>
            <a:r>
              <a:rPr lang="zh-CN" altLang="en-US" kern="0" dirty="0"/>
              <a:t>主成分分析</a:t>
            </a:r>
            <a:r>
              <a:rPr lang="en-US" altLang="zh-CN" kern="0" dirty="0"/>
              <a:t>PCA</a:t>
            </a:r>
            <a:endParaRPr lang="zh-CN" altLang="en-US" kern="0" dirty="0"/>
          </a:p>
        </p:txBody>
      </p:sp>
      <mc:AlternateContent xmlns:mc="http://schemas.openxmlformats.org/markup-compatibility/2006" xmlns:a14="http://schemas.microsoft.com/office/drawing/2010/main">
        <mc:Choice Requires="a14">
          <p:sp>
            <p:nvSpPr>
              <p:cNvPr id="20" name="Rectangle 3"/>
              <p:cNvSpPr>
                <a:spLocks noChangeArrowheads="1"/>
              </p:cNvSpPr>
              <p:nvPr/>
            </p:nvSpPr>
            <p:spPr bwMode="auto">
              <a:xfrm>
                <a:off x="4894343" y="1766623"/>
                <a:ext cx="4545918" cy="527050"/>
              </a:xfrm>
              <a:prstGeom prst="rect">
                <a:avLst/>
              </a:prstGeom>
              <a:solidFill>
                <a:schemeClr val="bg1"/>
              </a:solidFill>
              <a:ln w="9525">
                <a:noFill/>
                <a:miter lim="800000"/>
                <a:headEnd/>
                <a:tailEnd/>
              </a:ln>
            </p:spPr>
            <p:txBody>
              <a:bodyPr/>
              <a:lstStyle/>
              <a:p>
                <a:pPr marL="342900" lvl="0" indent="-342900">
                  <a:spcBef>
                    <a:spcPct val="20000"/>
                  </a:spcBef>
                  <a:buClr>
                    <a:srgbClr val="84A3E8"/>
                  </a:buClr>
                  <a:buSzPct val="60000"/>
                </a:pPr>
                <a:r>
                  <a:rPr kumimoji="0" lang="zh-CN" altLang="en-US" sz="2400" b="0" i="0" u="none" strike="noStrike" kern="1200" cap="none" spc="0" normalizeH="0" baseline="0" noProof="0" dirty="0">
                    <a:ln>
                      <a:noFill/>
                    </a:ln>
                    <a:solidFill>
                      <a:srgbClr val="000000"/>
                    </a:solidFill>
                    <a:effectLst/>
                    <a:uLnTx/>
                    <a:uFillTx/>
                    <a:latin typeface="Tahoma" pitchFamily="34" charset="0"/>
                    <a:ea typeface="+mn-ea"/>
                    <a:cs typeface="+mn-cs"/>
                  </a:rPr>
                  <a:t>（</a:t>
                </a:r>
                <a:r>
                  <a:rPr kumimoji="0" lang="en-US" altLang="zh-CN" sz="2400" b="0" i="0" u="none" strike="noStrike" kern="1200" cap="none" spc="0" normalizeH="0" baseline="0" noProof="0" dirty="0">
                    <a:ln>
                      <a:noFill/>
                    </a:ln>
                    <a:solidFill>
                      <a:srgbClr val="000000"/>
                    </a:solidFill>
                    <a:effectLst/>
                    <a:uLnTx/>
                    <a:uFillTx/>
                    <a:latin typeface="Tahoma" pitchFamily="34" charset="0"/>
                    <a:ea typeface="+mn-ea"/>
                    <a:cs typeface="+mn-cs"/>
                  </a:rPr>
                  <a:t>3</a:t>
                </a:r>
                <a:r>
                  <a:rPr kumimoji="0" lang="zh-CN" altLang="en-US" sz="2400" b="0" i="0" u="none" strike="noStrike" kern="1200" cap="none" spc="0" normalizeH="0" baseline="0" noProof="0" dirty="0">
                    <a:ln>
                      <a:noFill/>
                    </a:ln>
                    <a:solidFill>
                      <a:srgbClr val="000000"/>
                    </a:solidFill>
                    <a:effectLst/>
                    <a:uLnTx/>
                    <a:uFillTx/>
                    <a:latin typeface="Tahoma" pitchFamily="34" charset="0"/>
                    <a:ea typeface="+mn-ea"/>
                    <a:cs typeface="+mn-cs"/>
                  </a:rPr>
                  <a:t>）</a:t>
                </a:r>
                <a:r>
                  <a:rPr kumimoji="0" lang="zh-CN" altLang="en-US" sz="2400" b="0"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mn-cs"/>
                  </a:rPr>
                  <a:t>选</a:t>
                </a:r>
                <a:r>
                  <a:rPr kumimoji="0" lang="zh-CN" altLang="en-US" sz="2400" b="0" i="1"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mn-cs"/>
                    <a:sym typeface="Symbol" pitchFamily="18" charset="2"/>
                  </a:rPr>
                  <a:t></a:t>
                </a:r>
                <a:r>
                  <a:rPr kumimoji="0" lang="en-US" altLang="zh-CN" sz="2400" b="0" i="1" u="none" strike="noStrike" kern="1200" cap="none" spc="0" normalizeH="0" baseline="-25000" noProof="0" dirty="0">
                    <a:ln>
                      <a:noFill/>
                    </a:ln>
                    <a:solidFill>
                      <a:srgbClr val="000000"/>
                    </a:solidFill>
                    <a:effectLst/>
                    <a:uLnTx/>
                    <a:uFillTx/>
                    <a:latin typeface="楷体_GB2312" pitchFamily="49" charset="-122"/>
                    <a:ea typeface="楷体_GB2312" pitchFamily="49" charset="-122"/>
                    <a:cs typeface="+mn-cs"/>
                    <a:sym typeface="Symbol" pitchFamily="18" charset="2"/>
                  </a:rPr>
                  <a:t>1</a:t>
                </a:r>
                <a:r>
                  <a:rPr kumimoji="0" lang="zh-CN" altLang="en-US" sz="2400" b="0"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mn-cs"/>
                    <a:sym typeface="Symbol" pitchFamily="18" charset="2"/>
                  </a:rPr>
                  <a:t>对应的</a:t>
                </a:r>
                <a14:m>
                  <m:oMath xmlns:m="http://schemas.openxmlformats.org/officeDocument/2006/math">
                    <m:sSub>
                      <m:sSubPr>
                        <m:ctrlPr>
                          <a:rPr lang="zh-CN" altLang="en-US" sz="2400" i="1">
                            <a:latin typeface="Cambria Math" panose="02040503050406030204" pitchFamily="18" charset="0"/>
                          </a:rPr>
                        </m:ctrlPr>
                      </m:sSubPr>
                      <m:e>
                        <m:acc>
                          <m:accPr>
                            <m:chr m:val="⃗"/>
                            <m:ctrlPr>
                              <a:rPr lang="zh-CN" altLang="en-US" sz="2400" i="1">
                                <a:latin typeface="Cambria Math" panose="02040503050406030204" pitchFamily="18" charset="0"/>
                              </a:rPr>
                            </m:ctrlPr>
                          </m:accPr>
                          <m:e>
                            <m:r>
                              <a:rPr lang="zh-CN" altLang="en-US" sz="2400" i="1">
                                <a:latin typeface="Cambria Math" panose="02040503050406030204" pitchFamily="18" charset="0"/>
                              </a:rPr>
                              <m:t>𝑡</m:t>
                            </m:r>
                          </m:e>
                        </m:acc>
                      </m:e>
                      <m:sub>
                        <m:r>
                          <a:rPr lang="zh-CN" altLang="en-US" sz="2400">
                            <a:latin typeface="Cambria Math" panose="02040503050406030204" pitchFamily="18" charset="0"/>
                          </a:rPr>
                          <m:t>1</m:t>
                        </m:r>
                      </m:sub>
                    </m:sSub>
                  </m:oMath>
                </a14:m>
                <a:r>
                  <a:rPr kumimoji="0" lang="zh-CN" altLang="en-US" sz="2400" b="0"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mn-cs"/>
                    <a:sym typeface="Symbol" pitchFamily="18" charset="2"/>
                  </a:rPr>
                  <a:t>作为变换矩阵</a:t>
                </a:r>
                <a:endParaRPr kumimoji="0" lang="zh-CN" altLang="en-US" sz="2400" b="0"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mn-cs"/>
                </a:endParaRPr>
              </a:p>
            </p:txBody>
          </p:sp>
        </mc:Choice>
        <mc:Fallback xmlns="">
          <p:sp>
            <p:nvSpPr>
              <p:cNvPr id="20" name="Rectangle 3"/>
              <p:cNvSpPr>
                <a:spLocks noRot="1" noChangeAspect="1" noMove="1" noResize="1" noEditPoints="1" noAdjustHandles="1" noChangeArrowheads="1" noChangeShapeType="1" noTextEdit="1"/>
              </p:cNvSpPr>
              <p:nvPr/>
            </p:nvSpPr>
            <p:spPr bwMode="auto">
              <a:xfrm>
                <a:off x="4894343" y="1766623"/>
                <a:ext cx="4545918" cy="527050"/>
              </a:xfrm>
              <a:prstGeom prst="rect">
                <a:avLst/>
              </a:prstGeom>
              <a:blipFill>
                <a:blip r:embed="rId18"/>
                <a:stretch>
                  <a:fillRect l="-2145" t="-10465" r="-1609" b="-17442"/>
                </a:stretch>
              </a:blipFill>
              <a:ln w="9525">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5344210" y="2375631"/>
                <a:ext cx="4428648" cy="422039"/>
              </a:xfrm>
              <a:prstGeom prst="rect">
                <a:avLst/>
              </a:prstGeom>
            </p:spPr>
            <p:txBody>
              <a:bodyPr wrap="none">
                <a:spAutoFit/>
              </a:bodyPr>
              <a:lstStyle/>
              <a:p>
                <a:pPr marL="342900" lvl="0" indent="-342900">
                  <a:spcBef>
                    <a:spcPct val="20000"/>
                  </a:spcBef>
                  <a:buClr>
                    <a:srgbClr val="84A3E8"/>
                  </a:buClr>
                  <a:buSzPct val="60000"/>
                  <a:defRPr/>
                </a:pPr>
                <a:r>
                  <a:rPr lang="zh-CN" altLang="en-US" dirty="0">
                    <a:solidFill>
                      <a:srgbClr val="000000"/>
                    </a:solidFill>
                    <a:latin typeface="楷体_GB2312" pitchFamily="49" charset="-122"/>
                    <a:ea typeface="楷体_GB2312" pitchFamily="49" charset="-122"/>
                    <a:sym typeface="Symbol" pitchFamily="18" charset="2"/>
                  </a:rPr>
                  <a:t>由</a:t>
                </a:r>
                <a14:m>
                  <m:oMath xmlns:m="http://schemas.openxmlformats.org/officeDocument/2006/math">
                    <m:sSubSup>
                      <m:sSubSupPr>
                        <m:ctrlPr>
                          <a:rPr lang="zh-CN" altLang="en-US" i="1">
                            <a:latin typeface="Cambria Math" panose="02040503050406030204" pitchFamily="18" charset="0"/>
                          </a:rPr>
                        </m:ctrlPr>
                      </m:sSubSup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𝑦</m:t>
                            </m:r>
                          </m:e>
                        </m:acc>
                      </m:e>
                      <m:sub/>
                      <m:sup/>
                    </m:sSubSup>
                    <m:r>
                      <a:rPr lang="zh-CN" altLang="en-US">
                        <a:latin typeface="Cambria Math" panose="02040503050406030204" pitchFamily="18" charset="0"/>
                      </a:rPr>
                      <m:t>=</m:t>
                    </m:r>
                    <m:sSup>
                      <m:sSupPr>
                        <m:ctrlPr>
                          <a:rPr lang="zh-CN" altLang="en-US" i="1">
                            <a:latin typeface="Cambria Math" panose="02040503050406030204" pitchFamily="18" charset="0"/>
                          </a:rPr>
                        </m:ctrlPr>
                      </m:sSupPr>
                      <m:e>
                        <m:r>
                          <a:rPr lang="en-US" altLang="zh-CN" i="1">
                            <a:latin typeface="Cambria Math" panose="02040503050406030204" pitchFamily="18" charset="0"/>
                          </a:rPr>
                          <m:t>𝑇</m:t>
                        </m:r>
                      </m:e>
                      <m:sup>
                        <m:r>
                          <a:rPr lang="en-US" altLang="zh-CN" i="1">
                            <a:latin typeface="Cambria Math" panose="02040503050406030204" pitchFamily="18" charset="0"/>
                          </a:rPr>
                          <m:t>′</m:t>
                        </m:r>
                      </m:sup>
                    </m:sSup>
                    <m:sSubSup>
                      <m:sSubSupPr>
                        <m:ctrlPr>
                          <a:rPr lang="zh-CN" altLang="en-US" i="1">
                            <a:latin typeface="Cambria Math" panose="02040503050406030204" pitchFamily="18" charset="0"/>
                          </a:rPr>
                        </m:ctrlPr>
                      </m:sSubSup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𝑥</m:t>
                            </m:r>
                          </m:e>
                        </m:acc>
                      </m:e>
                      <m:sub/>
                      <m:sup/>
                    </m:sSubSup>
                  </m:oMath>
                </a14:m>
                <a:r>
                  <a:rPr lang="zh-CN" altLang="en-US" dirty="0">
                    <a:solidFill>
                      <a:srgbClr val="000000"/>
                    </a:solidFill>
                    <a:latin typeface="楷体_GB2312" pitchFamily="49" charset="-122"/>
                    <a:ea typeface="楷体_GB2312" pitchFamily="49" charset="-122"/>
                    <a:sym typeface="Symbol" pitchFamily="18" charset="2"/>
                  </a:rPr>
                  <a:t>得变换后的一维模式特征为</a:t>
                </a:r>
                <a:endParaRPr lang="zh-CN" altLang="en-US" dirty="0">
                  <a:solidFill>
                    <a:srgbClr val="000000"/>
                  </a:solidFill>
                  <a:latin typeface="楷体_GB2312" pitchFamily="49" charset="-122"/>
                  <a:ea typeface="楷体_GB2312" pitchFamily="49"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5344210" y="2375631"/>
                <a:ext cx="4428648" cy="422039"/>
              </a:xfrm>
              <a:prstGeom prst="rect">
                <a:avLst/>
              </a:prstGeom>
              <a:blipFill>
                <a:blip r:embed="rId19"/>
                <a:stretch>
                  <a:fillRect l="-1240" t="-8696" b="-15942"/>
                </a:stretch>
              </a:blipFill>
            </p:spPr>
            <p:txBody>
              <a:bodyPr/>
              <a:lstStyle/>
              <a:p>
                <a:r>
                  <a:rPr lang="zh-CN" altLang="en-US">
                    <a:noFill/>
                  </a:rPr>
                  <a:t> </a:t>
                </a:r>
              </a:p>
            </p:txBody>
          </p:sp>
        </mc:Fallback>
      </mc:AlternateContent>
      <p:graphicFrame>
        <p:nvGraphicFramePr>
          <p:cNvPr id="24" name="Object 3"/>
          <p:cNvGraphicFramePr>
            <a:graphicFrameLocks noChangeAspect="1"/>
          </p:cNvGraphicFramePr>
          <p:nvPr>
            <p:extLst>
              <p:ext uri="{D42A27DB-BD31-4B8C-83A1-F6EECF244321}">
                <p14:modId xmlns:p14="http://schemas.microsoft.com/office/powerpoint/2010/main" val="1943969724"/>
              </p:ext>
            </p:extLst>
          </p:nvPr>
        </p:nvGraphicFramePr>
        <p:xfrm>
          <a:off x="5300135" y="2650187"/>
          <a:ext cx="4397375" cy="874713"/>
        </p:xfrm>
        <a:graphic>
          <a:graphicData uri="http://schemas.openxmlformats.org/presentationml/2006/ole">
            <mc:AlternateContent xmlns:mc="http://schemas.openxmlformats.org/markup-compatibility/2006">
              <mc:Choice xmlns:v="urn:schemas-microsoft-com:vml" Requires="v">
                <p:oleObj spid="_x0000_s369742" name="Equation" r:id="rId20" imgW="2298600" imgH="457200" progId="Equation.DSMT4">
                  <p:embed/>
                </p:oleObj>
              </mc:Choice>
              <mc:Fallback>
                <p:oleObj name="Equation" r:id="rId20" imgW="2298600" imgH="457200" progId="Equation.DSMT4">
                  <p:embed/>
                  <p:pic>
                    <p:nvPicPr>
                      <p:cNvPr id="9219" name="Object 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00135" y="2650187"/>
                        <a:ext cx="4397375" cy="874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4"/>
          <p:cNvGraphicFramePr>
            <a:graphicFrameLocks noChangeAspect="1"/>
          </p:cNvGraphicFramePr>
          <p:nvPr>
            <p:extLst>
              <p:ext uri="{D42A27DB-BD31-4B8C-83A1-F6EECF244321}">
                <p14:modId xmlns:p14="http://schemas.microsoft.com/office/powerpoint/2010/main" val="477831148"/>
              </p:ext>
            </p:extLst>
          </p:nvPr>
        </p:nvGraphicFramePr>
        <p:xfrm>
          <a:off x="5316938" y="3538014"/>
          <a:ext cx="2476500" cy="801688"/>
        </p:xfrm>
        <a:graphic>
          <a:graphicData uri="http://schemas.openxmlformats.org/presentationml/2006/ole">
            <mc:AlternateContent xmlns:mc="http://schemas.openxmlformats.org/markup-compatibility/2006">
              <mc:Choice xmlns:v="urn:schemas-microsoft-com:vml" Requires="v">
                <p:oleObj spid="_x0000_s369743" name="Equation" r:id="rId22" imgW="1295280" imgH="419040" progId="Equation.DSMT4">
                  <p:embed/>
                </p:oleObj>
              </mc:Choice>
              <mc:Fallback>
                <p:oleObj name="Equation" r:id="rId22" imgW="1295280" imgH="419040" progId="Equation.DSMT4">
                  <p:embed/>
                  <p:pic>
                    <p:nvPicPr>
                      <p:cNvPr id="9220" name="Object 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316938" y="3538014"/>
                        <a:ext cx="2476500" cy="801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Object 5"/>
          <p:cNvGraphicFramePr>
            <a:graphicFrameLocks noChangeAspect="1"/>
          </p:cNvGraphicFramePr>
          <p:nvPr>
            <p:extLst>
              <p:ext uri="{D42A27DB-BD31-4B8C-83A1-F6EECF244321}">
                <p14:modId xmlns:p14="http://schemas.microsoft.com/office/powerpoint/2010/main" val="3392894306"/>
              </p:ext>
            </p:extLst>
          </p:nvPr>
        </p:nvGraphicFramePr>
        <p:xfrm>
          <a:off x="5798617" y="3311958"/>
          <a:ext cx="160338" cy="400050"/>
        </p:xfrm>
        <a:graphic>
          <a:graphicData uri="http://schemas.openxmlformats.org/presentationml/2006/ole">
            <mc:AlternateContent xmlns:mc="http://schemas.openxmlformats.org/markup-compatibility/2006">
              <mc:Choice xmlns:v="urn:schemas-microsoft-com:vml" Requires="v">
                <p:oleObj spid="_x0000_s369744" name="Equation" r:id="rId24" imgW="75960" imgH="190440" progId="">
                  <p:embed/>
                </p:oleObj>
              </mc:Choice>
              <mc:Fallback>
                <p:oleObj name="Equation" r:id="rId24" imgW="75960" imgH="190440" progId="">
                  <p:embed/>
                  <p:pic>
                    <p:nvPicPr>
                      <p:cNvPr id="9221" name="Object 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798617" y="3311958"/>
                        <a:ext cx="160338" cy="400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7" name="Group 6"/>
          <p:cNvGrpSpPr>
            <a:grpSpLocks/>
          </p:cNvGrpSpPr>
          <p:nvPr/>
        </p:nvGrpSpPr>
        <p:grpSpPr bwMode="auto">
          <a:xfrm>
            <a:off x="5494326" y="4592402"/>
            <a:ext cx="3549651" cy="1592261"/>
            <a:chOff x="2000" y="1135"/>
            <a:chExt cx="2236" cy="1003"/>
          </a:xfrm>
        </p:grpSpPr>
        <p:graphicFrame>
          <p:nvGraphicFramePr>
            <p:cNvPr id="29" name="Object 16"/>
            <p:cNvGraphicFramePr>
              <a:graphicFrameLocks noChangeAspect="1"/>
            </p:cNvGraphicFramePr>
            <p:nvPr>
              <p:extLst>
                <p:ext uri="{D42A27DB-BD31-4B8C-83A1-F6EECF244321}">
                  <p14:modId xmlns:p14="http://schemas.microsoft.com/office/powerpoint/2010/main" val="2480170301"/>
                </p:ext>
              </p:extLst>
            </p:nvPr>
          </p:nvGraphicFramePr>
          <p:xfrm>
            <a:off x="2000" y="1135"/>
            <a:ext cx="2236" cy="505"/>
          </p:xfrm>
          <a:graphic>
            <a:graphicData uri="http://schemas.openxmlformats.org/presentationml/2006/ole">
              <mc:AlternateContent xmlns:mc="http://schemas.openxmlformats.org/markup-compatibility/2006">
                <mc:Choice xmlns:v="urn:schemas-microsoft-com:vml" Requires="v">
                  <p:oleObj spid="_x0000_s369745" name="Equation" r:id="rId26" imgW="2222280" imgH="419040" progId="Equation.DSMT4">
                    <p:embed/>
                  </p:oleObj>
                </mc:Choice>
                <mc:Fallback>
                  <p:oleObj name="Equation" r:id="rId26" imgW="2222280" imgH="419040" progId="Equation.DSMT4">
                    <p:embed/>
                    <p:pic>
                      <p:nvPicPr>
                        <p:cNvPr id="9232" name="Object 1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000" y="1135"/>
                          <a:ext cx="2236" cy="505"/>
                        </a:xfrm>
                        <a:prstGeom prst="rect">
                          <a:avLst/>
                        </a:prstGeom>
                        <a:noFill/>
                      </p:spPr>
                    </p:pic>
                  </p:oleObj>
                </mc:Fallback>
              </mc:AlternateContent>
            </a:graphicData>
          </a:graphic>
        </p:graphicFrame>
        <p:graphicFrame>
          <p:nvGraphicFramePr>
            <p:cNvPr id="30" name="Object 17"/>
            <p:cNvGraphicFramePr>
              <a:graphicFrameLocks noChangeAspect="1"/>
            </p:cNvGraphicFramePr>
            <p:nvPr>
              <p:extLst>
                <p:ext uri="{D42A27DB-BD31-4B8C-83A1-F6EECF244321}">
                  <p14:modId xmlns:p14="http://schemas.microsoft.com/office/powerpoint/2010/main" val="1214558051"/>
                </p:ext>
              </p:extLst>
            </p:nvPr>
          </p:nvGraphicFramePr>
          <p:xfrm>
            <a:off x="2000" y="1633"/>
            <a:ext cx="2141" cy="505"/>
          </p:xfrm>
          <a:graphic>
            <a:graphicData uri="http://schemas.openxmlformats.org/presentationml/2006/ole">
              <mc:AlternateContent xmlns:mc="http://schemas.openxmlformats.org/markup-compatibility/2006">
                <mc:Choice xmlns:v="urn:schemas-microsoft-com:vml" Requires="v">
                  <p:oleObj spid="_x0000_s369746" name="Equation" r:id="rId28" imgW="1777680" imgH="419040" progId="">
                    <p:embed/>
                  </p:oleObj>
                </mc:Choice>
                <mc:Fallback>
                  <p:oleObj name="Equation" r:id="rId28" imgW="1777680" imgH="419040" progId="">
                    <p:embed/>
                    <p:pic>
                      <p:nvPicPr>
                        <p:cNvPr id="9233" name="Object 1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000" y="1633"/>
                          <a:ext cx="2141" cy="5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3" name="Text Box 7"/>
          <p:cNvSpPr txBox="1">
            <a:spLocks noChangeArrowheads="1"/>
          </p:cNvSpPr>
          <p:nvPr/>
        </p:nvSpPr>
        <p:spPr bwMode="auto">
          <a:xfrm>
            <a:off x="5334087" y="4318892"/>
            <a:ext cx="838200" cy="457200"/>
          </a:xfrm>
          <a:prstGeom prst="rect">
            <a:avLst/>
          </a:prstGeom>
          <a:noFill/>
          <a:ln w="9525">
            <a:noFill/>
            <a:miter lim="800000"/>
            <a:headEnd/>
            <a:tailEnd/>
          </a:ln>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Arial" charset="0"/>
                <a:ea typeface="楷体_GB2312" pitchFamily="49" charset="-122"/>
                <a:cs typeface="+mn-cs"/>
              </a:rPr>
              <a:t>得</a:t>
            </a:r>
          </a:p>
        </p:txBody>
      </p:sp>
      <p:grpSp>
        <p:nvGrpSpPr>
          <p:cNvPr id="34" name="Group 10"/>
          <p:cNvGrpSpPr>
            <a:grpSpLocks/>
          </p:cNvGrpSpPr>
          <p:nvPr/>
        </p:nvGrpSpPr>
        <p:grpSpPr bwMode="auto">
          <a:xfrm>
            <a:off x="8743938" y="3328807"/>
            <a:ext cx="3263900" cy="2286000"/>
            <a:chOff x="336" y="2880"/>
            <a:chExt cx="2056" cy="1440"/>
          </a:xfrm>
        </p:grpSpPr>
        <p:sp>
          <p:nvSpPr>
            <p:cNvPr id="35" name="Line 11"/>
            <p:cNvSpPr>
              <a:spLocks noChangeShapeType="1"/>
            </p:cNvSpPr>
            <p:nvPr/>
          </p:nvSpPr>
          <p:spPr bwMode="auto">
            <a:xfrm>
              <a:off x="336" y="3648"/>
              <a:ext cx="1872" cy="0"/>
            </a:xfrm>
            <a:prstGeom prst="line">
              <a:avLst/>
            </a:prstGeom>
            <a:noFill/>
            <a:ln w="9525">
              <a:solidFill>
                <a:schemeClr val="tx1"/>
              </a:solidFill>
              <a:round/>
              <a:headE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36" name="Line 12"/>
            <p:cNvSpPr>
              <a:spLocks noChangeShapeType="1"/>
            </p:cNvSpPr>
            <p:nvPr/>
          </p:nvSpPr>
          <p:spPr bwMode="auto">
            <a:xfrm flipV="1">
              <a:off x="1152" y="2928"/>
              <a:ext cx="0" cy="1392"/>
            </a:xfrm>
            <a:prstGeom prst="line">
              <a:avLst/>
            </a:prstGeom>
            <a:noFill/>
            <a:ln w="9525">
              <a:solidFill>
                <a:schemeClr val="tx1"/>
              </a:solidFill>
              <a:round/>
              <a:headE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37" name="Line 13"/>
            <p:cNvSpPr>
              <a:spLocks noChangeShapeType="1"/>
            </p:cNvSpPr>
            <p:nvPr/>
          </p:nvSpPr>
          <p:spPr bwMode="auto">
            <a:xfrm flipV="1">
              <a:off x="672" y="3024"/>
              <a:ext cx="1104" cy="1104"/>
            </a:xfrm>
            <a:prstGeom prst="line">
              <a:avLst/>
            </a:prstGeom>
            <a:noFill/>
            <a:ln w="9525">
              <a:solidFill>
                <a:schemeClr val="tx1"/>
              </a:solidFill>
              <a:round/>
              <a:headE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38" name="Line 14"/>
            <p:cNvSpPr>
              <a:spLocks noChangeShapeType="1"/>
            </p:cNvSpPr>
            <p:nvPr/>
          </p:nvSpPr>
          <p:spPr bwMode="auto">
            <a:xfrm>
              <a:off x="672" y="3168"/>
              <a:ext cx="960" cy="960"/>
            </a:xfrm>
            <a:prstGeom prst="line">
              <a:avLst/>
            </a:prstGeom>
            <a:noFill/>
            <a:ln w="9525">
              <a:solidFill>
                <a:schemeClr val="tx1"/>
              </a:solidFill>
              <a:round/>
              <a:headE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39" name="Oval 15"/>
            <p:cNvSpPr>
              <a:spLocks noChangeArrowheads="1"/>
            </p:cNvSpPr>
            <p:nvPr/>
          </p:nvSpPr>
          <p:spPr bwMode="auto">
            <a:xfrm rot="-2600248">
              <a:off x="576" y="3504"/>
              <a:ext cx="1200" cy="240"/>
            </a:xfrm>
            <a:prstGeom prst="ellipse">
              <a:avLst/>
            </a:prstGeom>
            <a:no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graphicFrame>
          <p:nvGraphicFramePr>
            <p:cNvPr id="40" name="Object 8"/>
            <p:cNvGraphicFramePr>
              <a:graphicFrameLocks noChangeAspect="1"/>
            </p:cNvGraphicFramePr>
            <p:nvPr/>
          </p:nvGraphicFramePr>
          <p:xfrm>
            <a:off x="2208" y="3552"/>
            <a:ext cx="184" cy="260"/>
          </p:xfrm>
          <a:graphic>
            <a:graphicData uri="http://schemas.openxmlformats.org/presentationml/2006/ole">
              <mc:AlternateContent xmlns:mc="http://schemas.openxmlformats.org/markup-compatibility/2006">
                <mc:Choice xmlns:v="urn:schemas-microsoft-com:vml" Requires="v">
                  <p:oleObj spid="_x0000_s369747" name="Equation" r:id="rId30" imgW="152280" imgH="215640" progId="">
                    <p:embed/>
                  </p:oleObj>
                </mc:Choice>
                <mc:Fallback>
                  <p:oleObj name="Equation" r:id="rId30" imgW="152280" imgH="215640" progId="">
                    <p:embed/>
                    <p:pic>
                      <p:nvPicPr>
                        <p:cNvPr id="9224" name="Object 8"/>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208" y="3552"/>
                          <a:ext cx="184" cy="2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Object 9"/>
            <p:cNvGraphicFramePr>
              <a:graphicFrameLocks noChangeAspect="1"/>
            </p:cNvGraphicFramePr>
            <p:nvPr/>
          </p:nvGraphicFramePr>
          <p:xfrm>
            <a:off x="1145" y="2880"/>
            <a:ext cx="199" cy="260"/>
          </p:xfrm>
          <a:graphic>
            <a:graphicData uri="http://schemas.openxmlformats.org/presentationml/2006/ole">
              <mc:AlternateContent xmlns:mc="http://schemas.openxmlformats.org/markup-compatibility/2006">
                <mc:Choice xmlns:v="urn:schemas-microsoft-com:vml" Requires="v">
                  <p:oleObj spid="_x0000_s369748" name="Equation" r:id="rId32" imgW="164880" imgH="215640" progId="">
                    <p:embed/>
                  </p:oleObj>
                </mc:Choice>
                <mc:Fallback>
                  <p:oleObj name="Equation" r:id="rId32" imgW="164880" imgH="215640" progId="">
                    <p:embed/>
                    <p:pic>
                      <p:nvPicPr>
                        <p:cNvPr id="9225" name="Object 9"/>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145" y="2880"/>
                          <a:ext cx="199" cy="2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Object 10"/>
            <p:cNvGraphicFramePr>
              <a:graphicFrameLocks noChangeAspect="1"/>
            </p:cNvGraphicFramePr>
            <p:nvPr/>
          </p:nvGraphicFramePr>
          <p:xfrm>
            <a:off x="1791" y="2976"/>
            <a:ext cx="153" cy="260"/>
          </p:xfrm>
          <a:graphic>
            <a:graphicData uri="http://schemas.openxmlformats.org/presentationml/2006/ole">
              <mc:AlternateContent xmlns:mc="http://schemas.openxmlformats.org/markup-compatibility/2006">
                <mc:Choice xmlns:v="urn:schemas-microsoft-com:vml" Requires="v">
                  <p:oleObj spid="_x0000_s369749" name="Equation" r:id="rId34" imgW="126720" imgH="215640" progId="">
                    <p:embed/>
                  </p:oleObj>
                </mc:Choice>
                <mc:Fallback>
                  <p:oleObj name="Equation" r:id="rId34" imgW="126720" imgH="215640" progId="">
                    <p:embed/>
                    <p:pic>
                      <p:nvPicPr>
                        <p:cNvPr id="9226" name="Object 10"/>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791" y="2976"/>
                          <a:ext cx="153" cy="2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Object 11"/>
            <p:cNvGraphicFramePr>
              <a:graphicFrameLocks noChangeAspect="1"/>
            </p:cNvGraphicFramePr>
            <p:nvPr/>
          </p:nvGraphicFramePr>
          <p:xfrm>
            <a:off x="1655" y="4012"/>
            <a:ext cx="169" cy="260"/>
          </p:xfrm>
          <a:graphic>
            <a:graphicData uri="http://schemas.openxmlformats.org/presentationml/2006/ole">
              <mc:AlternateContent xmlns:mc="http://schemas.openxmlformats.org/markup-compatibility/2006">
                <mc:Choice xmlns:v="urn:schemas-microsoft-com:vml" Requires="v">
                  <p:oleObj spid="_x0000_s369750" name="Equation" r:id="rId36" imgW="139680" imgH="215640" progId="">
                    <p:embed/>
                  </p:oleObj>
                </mc:Choice>
                <mc:Fallback>
                  <p:oleObj name="Equation" r:id="rId36" imgW="139680" imgH="215640" progId="">
                    <p:embed/>
                    <p:pic>
                      <p:nvPicPr>
                        <p:cNvPr id="9227" name="Object 1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655" y="4012"/>
                          <a:ext cx="169" cy="2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Oval 20"/>
            <p:cNvSpPr>
              <a:spLocks noChangeArrowheads="1"/>
            </p:cNvSpPr>
            <p:nvPr/>
          </p:nvSpPr>
          <p:spPr bwMode="auto">
            <a:xfrm>
              <a:off x="1488" y="3120"/>
              <a:ext cx="48" cy="48"/>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45" name="Oval 21"/>
            <p:cNvSpPr>
              <a:spLocks noChangeArrowheads="1"/>
            </p:cNvSpPr>
            <p:nvPr/>
          </p:nvSpPr>
          <p:spPr bwMode="auto">
            <a:xfrm>
              <a:off x="1635" y="3258"/>
              <a:ext cx="48" cy="48"/>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46" name="Oval 22"/>
            <p:cNvSpPr>
              <a:spLocks noChangeArrowheads="1"/>
            </p:cNvSpPr>
            <p:nvPr/>
          </p:nvSpPr>
          <p:spPr bwMode="auto">
            <a:xfrm>
              <a:off x="1383" y="3264"/>
              <a:ext cx="48" cy="48"/>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47" name="Oval 23"/>
            <p:cNvSpPr>
              <a:spLocks noChangeArrowheads="1"/>
            </p:cNvSpPr>
            <p:nvPr/>
          </p:nvSpPr>
          <p:spPr bwMode="auto">
            <a:xfrm>
              <a:off x="1500" y="3390"/>
              <a:ext cx="48" cy="48"/>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48" name="Oval 24"/>
            <p:cNvSpPr>
              <a:spLocks noChangeArrowheads="1"/>
            </p:cNvSpPr>
            <p:nvPr/>
          </p:nvSpPr>
          <p:spPr bwMode="auto">
            <a:xfrm>
              <a:off x="1488" y="3264"/>
              <a:ext cx="48" cy="48"/>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49" name="Oval 25"/>
            <p:cNvSpPr>
              <a:spLocks noChangeArrowheads="1"/>
            </p:cNvSpPr>
            <p:nvPr/>
          </p:nvSpPr>
          <p:spPr bwMode="auto">
            <a:xfrm>
              <a:off x="747" y="3858"/>
              <a:ext cx="48" cy="48"/>
            </a:xfrm>
            <a:prstGeom prst="ellipse">
              <a:avLst/>
            </a:prstGeom>
            <a:solidFill>
              <a:srgbClr val="FFFF00"/>
            </a:solid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50" name="Oval 26"/>
            <p:cNvSpPr>
              <a:spLocks noChangeArrowheads="1"/>
            </p:cNvSpPr>
            <p:nvPr/>
          </p:nvSpPr>
          <p:spPr bwMode="auto">
            <a:xfrm>
              <a:off x="876" y="3996"/>
              <a:ext cx="48" cy="48"/>
            </a:xfrm>
            <a:prstGeom prst="ellipse">
              <a:avLst/>
            </a:prstGeom>
            <a:solidFill>
              <a:srgbClr val="FFFF00"/>
            </a:solid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51" name="Oval 27"/>
            <p:cNvSpPr>
              <a:spLocks noChangeArrowheads="1"/>
            </p:cNvSpPr>
            <p:nvPr/>
          </p:nvSpPr>
          <p:spPr bwMode="auto">
            <a:xfrm>
              <a:off x="624" y="4002"/>
              <a:ext cx="48" cy="48"/>
            </a:xfrm>
            <a:prstGeom prst="ellipse">
              <a:avLst/>
            </a:prstGeom>
            <a:solidFill>
              <a:srgbClr val="FFFF00"/>
            </a:solid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52" name="Oval 28"/>
            <p:cNvSpPr>
              <a:spLocks noChangeArrowheads="1"/>
            </p:cNvSpPr>
            <p:nvPr/>
          </p:nvSpPr>
          <p:spPr bwMode="auto">
            <a:xfrm>
              <a:off x="750" y="4128"/>
              <a:ext cx="48" cy="48"/>
            </a:xfrm>
            <a:prstGeom prst="ellipse">
              <a:avLst/>
            </a:prstGeom>
            <a:solidFill>
              <a:srgbClr val="FFFF00"/>
            </a:solid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53" name="Oval 29"/>
            <p:cNvSpPr>
              <a:spLocks noChangeArrowheads="1"/>
            </p:cNvSpPr>
            <p:nvPr/>
          </p:nvSpPr>
          <p:spPr bwMode="auto">
            <a:xfrm>
              <a:off x="747" y="4002"/>
              <a:ext cx="48" cy="48"/>
            </a:xfrm>
            <a:prstGeom prst="ellipse">
              <a:avLst/>
            </a:prstGeom>
            <a:solidFill>
              <a:srgbClr val="FFFF00"/>
            </a:solid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graphicFrame>
          <p:nvGraphicFramePr>
            <p:cNvPr id="54" name="Object 12"/>
            <p:cNvGraphicFramePr>
              <a:graphicFrameLocks noChangeAspect="1"/>
            </p:cNvGraphicFramePr>
            <p:nvPr/>
          </p:nvGraphicFramePr>
          <p:xfrm>
            <a:off x="1470" y="3618"/>
            <a:ext cx="138" cy="214"/>
          </p:xfrm>
          <a:graphic>
            <a:graphicData uri="http://schemas.openxmlformats.org/presentationml/2006/ole">
              <mc:AlternateContent xmlns:mc="http://schemas.openxmlformats.org/markup-compatibility/2006">
                <mc:Choice xmlns:v="urn:schemas-microsoft-com:vml" Requires="v">
                  <p:oleObj spid="_x0000_s369751" name="Equation" r:id="rId38" imgW="114120" imgH="177480" progId="">
                    <p:embed/>
                  </p:oleObj>
                </mc:Choice>
                <mc:Fallback>
                  <p:oleObj name="Equation" r:id="rId38" imgW="114120" imgH="177480" progId="">
                    <p:embed/>
                    <p:pic>
                      <p:nvPicPr>
                        <p:cNvPr id="9228" name="Object 12"/>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1470" y="3618"/>
                          <a:ext cx="138" cy="2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 name="Object 13"/>
            <p:cNvGraphicFramePr>
              <a:graphicFrameLocks noChangeAspect="1"/>
            </p:cNvGraphicFramePr>
            <p:nvPr/>
          </p:nvGraphicFramePr>
          <p:xfrm>
            <a:off x="651" y="3648"/>
            <a:ext cx="276" cy="214"/>
          </p:xfrm>
          <a:graphic>
            <a:graphicData uri="http://schemas.openxmlformats.org/presentationml/2006/ole">
              <mc:AlternateContent xmlns:mc="http://schemas.openxmlformats.org/markup-compatibility/2006">
                <mc:Choice xmlns:v="urn:schemas-microsoft-com:vml" Requires="v">
                  <p:oleObj spid="_x0000_s369752" name="Equation" r:id="rId40" imgW="228600" imgH="177480" progId="">
                    <p:embed/>
                  </p:oleObj>
                </mc:Choice>
                <mc:Fallback>
                  <p:oleObj name="Equation" r:id="rId40" imgW="228600" imgH="177480" progId="">
                    <p:embed/>
                    <p:pic>
                      <p:nvPicPr>
                        <p:cNvPr id="9229" name="Object 13"/>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651" y="3648"/>
                          <a:ext cx="276" cy="2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 name="Object 14"/>
            <p:cNvGraphicFramePr>
              <a:graphicFrameLocks noChangeAspect="1"/>
            </p:cNvGraphicFramePr>
            <p:nvPr/>
          </p:nvGraphicFramePr>
          <p:xfrm>
            <a:off x="1152" y="3936"/>
            <a:ext cx="276" cy="214"/>
          </p:xfrm>
          <a:graphic>
            <a:graphicData uri="http://schemas.openxmlformats.org/presentationml/2006/ole">
              <mc:AlternateContent xmlns:mc="http://schemas.openxmlformats.org/markup-compatibility/2006">
                <mc:Choice xmlns:v="urn:schemas-microsoft-com:vml" Requires="v">
                  <p:oleObj spid="_x0000_s369753" name="Equation" r:id="rId42" imgW="228600" imgH="177480" progId="">
                    <p:embed/>
                  </p:oleObj>
                </mc:Choice>
                <mc:Fallback>
                  <p:oleObj name="Equation" r:id="rId42" imgW="228600" imgH="177480" progId="">
                    <p:embed/>
                    <p:pic>
                      <p:nvPicPr>
                        <p:cNvPr id="9230" name="Object 14"/>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152" y="3936"/>
                          <a:ext cx="276" cy="2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 name="Object 15"/>
            <p:cNvGraphicFramePr>
              <a:graphicFrameLocks noChangeAspect="1"/>
            </p:cNvGraphicFramePr>
            <p:nvPr/>
          </p:nvGraphicFramePr>
          <p:xfrm>
            <a:off x="1008" y="3168"/>
            <a:ext cx="138" cy="214"/>
          </p:xfrm>
          <a:graphic>
            <a:graphicData uri="http://schemas.openxmlformats.org/presentationml/2006/ole">
              <mc:AlternateContent xmlns:mc="http://schemas.openxmlformats.org/markup-compatibility/2006">
                <mc:Choice xmlns:v="urn:schemas-microsoft-com:vml" Requires="v">
                  <p:oleObj spid="_x0000_s369754" name="Equation" r:id="rId43" imgW="114120" imgH="177480" progId="">
                    <p:embed/>
                  </p:oleObj>
                </mc:Choice>
                <mc:Fallback>
                  <p:oleObj name="Equation" r:id="rId43" imgW="114120" imgH="177480" progId="">
                    <p:embed/>
                    <p:pic>
                      <p:nvPicPr>
                        <p:cNvPr id="9231" name="Object 15"/>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1008" y="3168"/>
                          <a:ext cx="138" cy="2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8" name="Group 34"/>
          <p:cNvGrpSpPr>
            <a:grpSpLocks/>
          </p:cNvGrpSpPr>
          <p:nvPr/>
        </p:nvGrpSpPr>
        <p:grpSpPr bwMode="auto">
          <a:xfrm>
            <a:off x="8737588" y="6098180"/>
            <a:ext cx="3479800" cy="428625"/>
            <a:chOff x="3312" y="3570"/>
            <a:chExt cx="2192" cy="270"/>
          </a:xfrm>
        </p:grpSpPr>
        <p:sp>
          <p:nvSpPr>
            <p:cNvPr id="59" name="Line 35"/>
            <p:cNvSpPr>
              <a:spLocks noChangeShapeType="1"/>
            </p:cNvSpPr>
            <p:nvPr/>
          </p:nvSpPr>
          <p:spPr bwMode="auto">
            <a:xfrm>
              <a:off x="3312" y="3648"/>
              <a:ext cx="2064" cy="0"/>
            </a:xfrm>
            <a:prstGeom prst="line">
              <a:avLst/>
            </a:prstGeom>
            <a:noFill/>
            <a:ln w="9525">
              <a:solidFill>
                <a:schemeClr val="tx1"/>
              </a:solidFill>
              <a:round/>
              <a:headE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0" name="Oval 36"/>
            <p:cNvSpPr>
              <a:spLocks noChangeArrowheads="1"/>
            </p:cNvSpPr>
            <p:nvPr/>
          </p:nvSpPr>
          <p:spPr bwMode="auto">
            <a:xfrm>
              <a:off x="4464" y="3600"/>
              <a:ext cx="48" cy="48"/>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1" name="Oval 37"/>
            <p:cNvSpPr>
              <a:spLocks noChangeArrowheads="1"/>
            </p:cNvSpPr>
            <p:nvPr/>
          </p:nvSpPr>
          <p:spPr bwMode="auto">
            <a:xfrm>
              <a:off x="4656" y="3600"/>
              <a:ext cx="48" cy="48"/>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2" name="Oval 38"/>
            <p:cNvSpPr>
              <a:spLocks noChangeArrowheads="1"/>
            </p:cNvSpPr>
            <p:nvPr/>
          </p:nvSpPr>
          <p:spPr bwMode="auto">
            <a:xfrm>
              <a:off x="4848" y="3600"/>
              <a:ext cx="48" cy="48"/>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3" name="Oval 39"/>
            <p:cNvSpPr>
              <a:spLocks noChangeArrowheads="1"/>
            </p:cNvSpPr>
            <p:nvPr/>
          </p:nvSpPr>
          <p:spPr bwMode="auto">
            <a:xfrm>
              <a:off x="3840" y="3600"/>
              <a:ext cx="48" cy="48"/>
            </a:xfrm>
            <a:prstGeom prst="ellipse">
              <a:avLst/>
            </a:prstGeom>
            <a:solidFill>
              <a:srgbClr val="FFFF00"/>
            </a:solid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4" name="Oval 40"/>
            <p:cNvSpPr>
              <a:spLocks noChangeArrowheads="1"/>
            </p:cNvSpPr>
            <p:nvPr/>
          </p:nvSpPr>
          <p:spPr bwMode="auto">
            <a:xfrm>
              <a:off x="3696" y="3600"/>
              <a:ext cx="48" cy="48"/>
            </a:xfrm>
            <a:prstGeom prst="ellipse">
              <a:avLst/>
            </a:prstGeom>
            <a:solidFill>
              <a:srgbClr val="FFFF00"/>
            </a:solid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5" name="Oval 41"/>
            <p:cNvSpPr>
              <a:spLocks noChangeArrowheads="1"/>
            </p:cNvSpPr>
            <p:nvPr/>
          </p:nvSpPr>
          <p:spPr bwMode="auto">
            <a:xfrm>
              <a:off x="3552" y="3600"/>
              <a:ext cx="48" cy="48"/>
            </a:xfrm>
            <a:prstGeom prst="ellipse">
              <a:avLst/>
            </a:prstGeom>
            <a:solidFill>
              <a:srgbClr val="FFFF00"/>
            </a:solid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graphicFrame>
          <p:nvGraphicFramePr>
            <p:cNvPr id="66" name="Object 6"/>
            <p:cNvGraphicFramePr>
              <a:graphicFrameLocks noChangeAspect="1"/>
            </p:cNvGraphicFramePr>
            <p:nvPr/>
          </p:nvGraphicFramePr>
          <p:xfrm>
            <a:off x="4071" y="3626"/>
            <a:ext cx="153" cy="214"/>
          </p:xfrm>
          <a:graphic>
            <a:graphicData uri="http://schemas.openxmlformats.org/presentationml/2006/ole">
              <mc:AlternateContent xmlns:mc="http://schemas.openxmlformats.org/markup-compatibility/2006">
                <mc:Choice xmlns:v="urn:schemas-microsoft-com:vml" Requires="v">
                  <p:oleObj spid="_x0000_s369755" name="Equation" r:id="rId44" imgW="126720" imgH="177480" progId="">
                    <p:embed/>
                  </p:oleObj>
                </mc:Choice>
                <mc:Fallback>
                  <p:oleObj name="Equation" r:id="rId44" imgW="126720" imgH="177480" progId="">
                    <p:embed/>
                    <p:pic>
                      <p:nvPicPr>
                        <p:cNvPr id="9222" name="Object 6"/>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4071" y="3626"/>
                          <a:ext cx="153" cy="2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 name="Object 7"/>
            <p:cNvGraphicFramePr>
              <a:graphicFrameLocks noChangeAspect="1"/>
            </p:cNvGraphicFramePr>
            <p:nvPr/>
          </p:nvGraphicFramePr>
          <p:xfrm>
            <a:off x="5335" y="3582"/>
            <a:ext cx="169" cy="199"/>
          </p:xfrm>
          <a:graphic>
            <a:graphicData uri="http://schemas.openxmlformats.org/presentationml/2006/ole">
              <mc:AlternateContent xmlns:mc="http://schemas.openxmlformats.org/markup-compatibility/2006">
                <mc:Choice xmlns:v="urn:schemas-microsoft-com:vml" Requires="v">
                  <p:oleObj spid="_x0000_s369756" name="Equation" r:id="rId46" imgW="139680" imgH="164880" progId="">
                    <p:embed/>
                  </p:oleObj>
                </mc:Choice>
                <mc:Fallback>
                  <p:oleObj name="Equation" r:id="rId46" imgW="139680" imgH="164880" progId="">
                    <p:embed/>
                    <p:pic>
                      <p:nvPicPr>
                        <p:cNvPr id="9223" name="Object 7"/>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5335" y="3582"/>
                          <a:ext cx="169" cy="1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 name="Oval 44"/>
            <p:cNvSpPr>
              <a:spLocks noChangeArrowheads="1"/>
            </p:cNvSpPr>
            <p:nvPr/>
          </p:nvSpPr>
          <p:spPr bwMode="auto">
            <a:xfrm>
              <a:off x="3531" y="3570"/>
              <a:ext cx="96" cy="96"/>
            </a:xfrm>
            <a:prstGeom prst="ellipse">
              <a:avLst/>
            </a:prstGeom>
            <a:no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9" name="Oval 45"/>
            <p:cNvSpPr>
              <a:spLocks noChangeArrowheads="1"/>
            </p:cNvSpPr>
            <p:nvPr/>
          </p:nvSpPr>
          <p:spPr bwMode="auto">
            <a:xfrm>
              <a:off x="3819" y="3570"/>
              <a:ext cx="96" cy="96"/>
            </a:xfrm>
            <a:prstGeom prst="ellipse">
              <a:avLst/>
            </a:prstGeom>
            <a:no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70" name="Oval 46"/>
            <p:cNvSpPr>
              <a:spLocks noChangeArrowheads="1"/>
            </p:cNvSpPr>
            <p:nvPr/>
          </p:nvSpPr>
          <p:spPr bwMode="auto">
            <a:xfrm>
              <a:off x="4434" y="3570"/>
              <a:ext cx="96" cy="96"/>
            </a:xfrm>
            <a:prstGeom prst="ellipse">
              <a:avLst/>
            </a:prstGeom>
            <a:no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71" name="Oval 47"/>
            <p:cNvSpPr>
              <a:spLocks noChangeArrowheads="1"/>
            </p:cNvSpPr>
            <p:nvPr/>
          </p:nvSpPr>
          <p:spPr bwMode="auto">
            <a:xfrm>
              <a:off x="4821" y="3570"/>
              <a:ext cx="96" cy="96"/>
            </a:xfrm>
            <a:prstGeom prst="ellipse">
              <a:avLst/>
            </a:prstGeom>
            <a:noFill/>
            <a:ln w="952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72" name="Line 48"/>
            <p:cNvSpPr>
              <a:spLocks noChangeShapeType="1"/>
            </p:cNvSpPr>
            <p:nvPr/>
          </p:nvSpPr>
          <p:spPr bwMode="auto">
            <a:xfrm>
              <a:off x="4137" y="3600"/>
              <a:ext cx="0" cy="48"/>
            </a:xfrm>
            <a:prstGeom prst="line">
              <a:avLst/>
            </a:prstGeom>
            <a:noFill/>
            <a:ln w="9525">
              <a:solidFill>
                <a:schemeClr val="tx1"/>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mn-ea"/>
                <a:cs typeface="+mn-cs"/>
              </a:endParaRPr>
            </a:p>
          </p:txBody>
        </p:sp>
      </p:grpSp>
      <p:cxnSp>
        <p:nvCxnSpPr>
          <p:cNvPr id="11" name="直接连接符 10"/>
          <p:cNvCxnSpPr/>
          <p:nvPr/>
        </p:nvCxnSpPr>
        <p:spPr>
          <a:xfrm>
            <a:off x="5137936" y="2206507"/>
            <a:ext cx="9799" cy="3221372"/>
          </a:xfrm>
          <a:prstGeom prst="line">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内容占位符 2"/>
          <p:cNvSpPr>
            <a:spLocks noGrp="1"/>
          </p:cNvSpPr>
          <p:nvPr>
            <p:ph idx="1"/>
          </p:nvPr>
        </p:nvSpPr>
        <p:spPr>
          <a:xfrm>
            <a:off x="335360" y="1357298"/>
            <a:ext cx="9875440" cy="4510102"/>
          </a:xfrm>
        </p:spPr>
        <p:txBody>
          <a:bodyPr/>
          <a:lstStyle/>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主成分分析（</a:t>
            </a:r>
            <a:r>
              <a:rPr lang="en-US" sz="2400" b="1" dirty="0">
                <a:latin typeface="Times New Roman" panose="02020603050405020304" pitchFamily="18" charset="0"/>
                <a:ea typeface="宋体" panose="02010600030101010101" pitchFamily="2" charset="-122"/>
                <a:cs typeface="Times New Roman" panose="02020603050405020304" pitchFamily="18" charset="0"/>
              </a:rPr>
              <a:t>PCA</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）的原理就是将一个高维向量</a:t>
            </a:r>
            <a:r>
              <a:rPr lang="en-US" sz="2400" b="1" i="1" dirty="0">
                <a:latin typeface="Times New Roman" panose="02020603050405020304" pitchFamily="18" charset="0"/>
                <a:ea typeface="宋体" panose="02010600030101010101" pitchFamily="2" charset="-122"/>
                <a:cs typeface="Times New Roman" panose="02020603050405020304" pitchFamily="18" charset="0"/>
              </a:rPr>
              <a:t>x</a:t>
            </a:r>
            <a:r>
              <a:rPr 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通过一个特殊的特征向量矩阵</a:t>
            </a:r>
            <a:r>
              <a:rPr lang="en-US" sz="2400" b="1" i="1" dirty="0">
                <a:latin typeface="Times New Roman" panose="02020603050405020304" pitchFamily="18" charset="0"/>
                <a:ea typeface="宋体" panose="02010600030101010101" pitchFamily="2" charset="-122"/>
                <a:cs typeface="Times New Roman" panose="02020603050405020304" pitchFamily="18" charset="0"/>
              </a:rPr>
              <a:t>U</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，投影到一个低维的向量空间中，表征为一个低维向量</a:t>
            </a:r>
            <a:r>
              <a:rPr lang="en-US" sz="2400" b="1" i="1" dirty="0">
                <a:latin typeface="Times New Roman" panose="02020603050405020304" pitchFamily="18" charset="0"/>
                <a:ea typeface="宋体" panose="02010600030101010101" pitchFamily="2" charset="-122"/>
                <a:cs typeface="Times New Roman" panose="02020603050405020304" pitchFamily="18" charset="0"/>
              </a:rPr>
              <a:t>y</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，并且仅仅损失了一些次要信息。也就是说，通过低维表征的向量和特征向量矩阵，可以基本重构出所对应的原始高维向量。 </a:t>
            </a:r>
          </a:p>
        </p:txBody>
      </p:sp>
      <p:sp>
        <p:nvSpPr>
          <p:cNvPr id="115715" name="灯片编号占位符 3"/>
          <p:cNvSpPr>
            <a:spLocks noGrp="1"/>
          </p:cNvSpPr>
          <p:nvPr>
            <p:ph type="sldNum" sz="quarter" idx="11"/>
          </p:nvPr>
        </p:nvSpPr>
        <p:spPr>
          <a:noFill/>
        </p:spPr>
        <p:txBody>
          <a:bodyPr/>
          <a:lstStyle/>
          <a:p>
            <a:fld id="{7827BF76-CE43-436C-BBA1-12C167A3DFAC}" type="slidenum">
              <a:rPr lang="en-US" altLang="zh-CN" smtClean="0"/>
              <a:pPr/>
              <a:t>22</a:t>
            </a:fld>
            <a:endParaRPr lang="en-US" altLang="zh-CN"/>
          </a:p>
        </p:txBody>
      </p:sp>
      <p:sp>
        <p:nvSpPr>
          <p:cNvPr id="2" name="标题 1"/>
          <p:cNvSpPr>
            <a:spLocks noGrp="1"/>
          </p:cNvSpPr>
          <p:nvPr>
            <p:ph type="title"/>
          </p:nvPr>
        </p:nvSpPr>
        <p:spPr/>
        <p:txBody>
          <a:bodyPr/>
          <a:lstStyle/>
          <a:p>
            <a:endParaRPr lang="zh-CN" altLang="en-US"/>
          </a:p>
        </p:txBody>
      </p:sp>
      <p:sp>
        <p:nvSpPr>
          <p:cNvPr id="6" name="标题 1"/>
          <p:cNvSpPr txBox="1">
            <a:spLocks/>
          </p:cNvSpPr>
          <p:nvPr/>
        </p:nvSpPr>
        <p:spPr bwMode="black">
          <a:xfrm>
            <a:off x="323714" y="116929"/>
            <a:ext cx="6499448" cy="540296"/>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17.2 </a:t>
            </a:r>
            <a:r>
              <a:rPr lang="zh-CN" altLang="en-US" kern="0" dirty="0"/>
              <a:t>主成分分析</a:t>
            </a:r>
            <a:r>
              <a:rPr lang="en-US" altLang="zh-CN" kern="0" dirty="0"/>
              <a:t>PCA</a:t>
            </a:r>
            <a:endParaRPr lang="zh-CN" altLang="en-US" kern="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55183" y="1414649"/>
                <a:ext cx="5781967" cy="5334000"/>
              </a:xfrm>
            </p:spPr>
            <p:txBody>
              <a:bodyPr/>
              <a:lstStyle/>
              <a:p>
                <a:pPr marL="0" indent="0">
                  <a:buNone/>
                </a:pPr>
                <a:r>
                  <a:rPr lang="zh-CN" altLang="en-US" sz="2000" dirty="0">
                    <a:latin typeface="Times New Roman" panose="02020603050405020304" pitchFamily="18" charset="0"/>
                    <a:cs typeface="Times New Roman" panose="02020603050405020304" pitchFamily="18" charset="0"/>
                  </a:rPr>
                  <a:t>对</a:t>
                </a:r>
                <a:r>
                  <a:rPr lang="en-US" altLang="zh-CN" sz="2000" dirty="0">
                    <a:latin typeface="Times New Roman" panose="02020603050405020304" pitchFamily="18" charset="0"/>
                    <a:cs typeface="Times New Roman" panose="02020603050405020304" pitchFamily="18" charset="0"/>
                  </a:rPr>
                  <a:t>D</a:t>
                </a:r>
                <a:r>
                  <a:rPr lang="zh-CN" altLang="en-US" sz="2000" dirty="0">
                    <a:latin typeface="Times New Roman" panose="02020603050405020304" pitchFamily="18" charset="0"/>
                    <a:cs typeface="Times New Roman" panose="02020603050405020304" pitchFamily="18" charset="0"/>
                  </a:rPr>
                  <a:t>维随机向量</a:t>
                </a:r>
                <a14:m>
                  <m:oMath xmlns:m="http://schemas.openxmlformats.org/officeDocument/2006/math">
                    <m:r>
                      <a:rPr lang="en-US" altLang="zh-CN" sz="2000" b="0" i="1" smtClean="0">
                        <a:latin typeface="Cambria Math" panose="02040503050406030204" pitchFamily="18" charset="0"/>
                        <a:cs typeface="Times New Roman" panose="02020603050405020304" pitchFamily="18" charset="0"/>
                      </a:rPr>
                      <m:t>𝑥</m:t>
                    </m:r>
                    <m: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t>𝐷</m:t>
                        </m:r>
                      </m:sup>
                    </m:sSup>
                  </m:oMath>
                </a14:m>
                <a:r>
                  <a:rPr lang="zh-CN" altLang="en-US" sz="2000" dirty="0">
                    <a:latin typeface="Times New Roman" panose="02020603050405020304" pitchFamily="18" charset="0"/>
                    <a:cs typeface="Times New Roman" panose="02020603050405020304" pitchFamily="18" charset="0"/>
                  </a:rPr>
                  <a:t>，可以用一个</a:t>
                </a:r>
                <a:r>
                  <a:rPr lang="zh-CN" altLang="en-US" sz="2000" dirty="0">
                    <a:solidFill>
                      <a:srgbClr val="0000FF"/>
                    </a:solidFill>
                    <a:latin typeface="Times New Roman" panose="02020603050405020304" pitchFamily="18" charset="0"/>
                    <a:cs typeface="Times New Roman" panose="02020603050405020304" pitchFamily="18" charset="0"/>
                  </a:rPr>
                  <a:t>完备的正交归一向量系</a:t>
                </a:r>
                <a14:m>
                  <m:oMath xmlns:m="http://schemas.openxmlformats.org/officeDocument/2006/math">
                    <m:sSub>
                      <m:sSubPr>
                        <m:ctrlPr>
                          <a:rPr lang="en-US" altLang="zh-CN" sz="2000" i="1" smtClean="0">
                            <a:solidFill>
                              <a:srgbClr val="0000FF"/>
                            </a:solidFill>
                            <a:latin typeface="Cambria Math" panose="02040503050406030204" pitchFamily="18" charset="0"/>
                            <a:cs typeface="Times New Roman" panose="02020603050405020304" pitchFamily="18" charset="0"/>
                          </a:rPr>
                        </m:ctrlPr>
                      </m:sSubPr>
                      <m:e>
                        <m:r>
                          <a:rPr lang="en-US" altLang="zh-CN" sz="2000" b="0" i="1" smtClean="0">
                            <a:solidFill>
                              <a:srgbClr val="0000FF"/>
                            </a:solidFill>
                            <a:latin typeface="Cambria Math" panose="02040503050406030204" pitchFamily="18" charset="0"/>
                            <a:cs typeface="Times New Roman" panose="02020603050405020304" pitchFamily="18" charset="0"/>
                          </a:rPr>
                          <m:t>𝑢</m:t>
                        </m:r>
                      </m:e>
                      <m:sub>
                        <m:r>
                          <a:rPr lang="en-US" altLang="zh-CN" sz="2000" b="0" i="1" smtClean="0">
                            <a:solidFill>
                              <a:srgbClr val="0000FF"/>
                            </a:solidFill>
                            <a:latin typeface="Cambria Math" panose="02040503050406030204" pitchFamily="18" charset="0"/>
                            <a:cs typeface="Times New Roman" panose="02020603050405020304" pitchFamily="18" charset="0"/>
                          </a:rPr>
                          <m:t>𝑗</m:t>
                        </m:r>
                      </m:sub>
                    </m:sSub>
                    <m:r>
                      <a:rPr lang="zh-CN" altLang="en-US" sz="2000" i="1">
                        <a:latin typeface="Cambria Math" panose="02040503050406030204" pitchFamily="18" charset="0"/>
                        <a:cs typeface="Times New Roman" panose="02020603050405020304" pitchFamily="18" charset="0"/>
                      </a:rPr>
                      <m:t>，</m:t>
                    </m:r>
                  </m:oMath>
                </a14:m>
                <a:r>
                  <a:rPr lang="en-US" altLang="zh-CN" sz="2000" dirty="0">
                    <a:latin typeface="Times New Roman" panose="02020603050405020304" pitchFamily="18" charset="0"/>
                    <a:cs typeface="Times New Roman" panose="02020603050405020304" pitchFamily="18" charset="0"/>
                  </a:rPr>
                  <a:t>j=1,…,</a:t>
                </a:r>
                <a14:m>
                  <m:oMath xmlns:m="http://schemas.openxmlformats.org/officeDocument/2006/math">
                    <m:r>
                      <a:rPr lang="en-US" altLang="zh-CN" sz="20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sz="2000" dirty="0">
                    <a:latin typeface="Times New Roman" panose="02020603050405020304" pitchFamily="18" charset="0"/>
                    <a:cs typeface="Times New Roman" panose="02020603050405020304" pitchFamily="18" charset="0"/>
                  </a:rPr>
                  <a:t>来展开</a:t>
                </a:r>
                <a:endParaRPr lang="en-US" altLang="zh-CN" sz="2000" dirty="0">
                  <a:latin typeface="Times New Roman" panose="02020603050405020304" pitchFamily="18" charset="0"/>
                  <a:cs typeface="Times New Roman" panose="02020603050405020304" pitchFamily="18" charset="0"/>
                </a:endParaRPr>
              </a:p>
              <a:p>
                <a:pPr marL="0" indent="0">
                  <a:buNone/>
                </a:pPr>
                <a:endParaRPr lang="en-US" altLang="zh-CN" sz="2000" dirty="0">
                  <a:latin typeface="Times New Roman" panose="02020603050405020304" pitchFamily="18" charset="0"/>
                  <a:cs typeface="Times New Roman" panose="02020603050405020304" pitchFamily="18" charset="0"/>
                </a:endParaRPr>
              </a:p>
              <a:p>
                <a:pPr marL="0" indent="0">
                  <a:buNone/>
                </a:pPr>
                <a:endParaRPr lang="en-US" altLang="zh-CN" sz="2000" dirty="0">
                  <a:latin typeface="Times New Roman" panose="02020603050405020304" pitchFamily="18" charset="0"/>
                  <a:cs typeface="Times New Roman" panose="02020603050405020304" pitchFamily="18" charset="0"/>
                </a:endParaRPr>
              </a:p>
              <a:p>
                <a:pPr marL="0" indent="0">
                  <a:buNone/>
                </a:pPr>
                <a:r>
                  <a:rPr lang="zh-CN" altLang="en-US" sz="2000" dirty="0">
                    <a:latin typeface="Times New Roman" panose="02020603050405020304" pitchFamily="18" charset="0"/>
                    <a:cs typeface="Times New Roman" panose="02020603050405020304" pitchFamily="18" charset="0"/>
                  </a:rPr>
                  <a:t>其中</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sSubSup>
                      <m:sSubSupPr>
                        <m:ctrlPr>
                          <a:rPr lang="en-US" altLang="zh-CN" sz="2000" i="1" smtClean="0">
                            <a:latin typeface="Cambria Math" panose="02040503050406030204" pitchFamily="18" charset="0"/>
                            <a:cs typeface="Times New Roman" panose="02020603050405020304" pitchFamily="18" charset="0"/>
                          </a:rPr>
                        </m:ctrlPr>
                      </m:sSubSupPr>
                      <m:e>
                        <m:r>
                          <m:rPr>
                            <m:sty m:val="p"/>
                          </m:rPr>
                          <a:rPr lang="en-US" altLang="zh-CN" sz="2000" i="1">
                            <a:latin typeface="Cambria Math" panose="02040503050406030204" pitchFamily="18" charset="0"/>
                            <a:cs typeface="Times New Roman" panose="02020603050405020304" pitchFamily="18" charset="0"/>
                          </a:rPr>
                          <m:t>u</m:t>
                        </m:r>
                      </m:e>
                      <m:sub>
                        <m:r>
                          <a:rPr lang="en-US" altLang="zh-CN" sz="2000" b="0" i="1" smtClean="0">
                            <a:latin typeface="Cambria Math" panose="02040503050406030204" pitchFamily="18" charset="0"/>
                            <a:cs typeface="Times New Roman" panose="02020603050405020304" pitchFamily="18" charset="0"/>
                          </a:rPr>
                          <m:t>𝑖</m:t>
                        </m:r>
                      </m:sub>
                      <m:sup>
                        <m:r>
                          <a:rPr lang="en-US" altLang="zh-CN" sz="2000" b="0" i="1" smtClean="0">
                            <a:latin typeface="Cambria Math" panose="02040503050406030204" pitchFamily="18" charset="0"/>
                            <a:cs typeface="Times New Roman" panose="02020603050405020304" pitchFamily="18" charset="0"/>
                          </a:rPr>
                          <m:t>𝑇</m:t>
                        </m:r>
                      </m:sup>
                    </m:sSubSup>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𝑢</m:t>
                        </m:r>
                      </m:e>
                      <m:sub>
                        <m:r>
                          <a:rPr lang="en-US" altLang="zh-CN" sz="2000" b="0" i="1" smtClean="0">
                            <a:latin typeface="Cambria Math" panose="02040503050406030204" pitchFamily="18" charset="0"/>
                            <a:cs typeface="Times New Roman" panose="02020603050405020304" pitchFamily="18" charset="0"/>
                          </a:rPr>
                          <m:t>𝑗</m:t>
                        </m:r>
                      </m:sub>
                    </m:sSub>
                    <m:r>
                      <a:rPr lang="en-US" altLang="zh-CN" sz="2000" b="0" i="1" smtClean="0">
                        <a:latin typeface="Cambria Math" panose="02040503050406030204" pitchFamily="18" charset="0"/>
                        <a:cs typeface="Times New Roman" panose="02020603050405020304" pitchFamily="18" charset="0"/>
                      </a:rPr>
                      <m:t>=</m:t>
                    </m:r>
                    <m:d>
                      <m:dPr>
                        <m:begChr m:val="{"/>
                        <m:endChr m:val=""/>
                        <m:ctrlPr>
                          <a:rPr lang="en-US" altLang="zh-CN" sz="2000" b="0" i="1" smtClean="0">
                            <a:latin typeface="Cambria Math" panose="02040503050406030204" pitchFamily="18" charset="0"/>
                            <a:cs typeface="Times New Roman" panose="02020603050405020304" pitchFamily="18" charset="0"/>
                          </a:rPr>
                        </m:ctrlPr>
                      </m:dPr>
                      <m:e>
                        <m:eqArr>
                          <m:eqArrPr>
                            <m:ctrlPr>
                              <a:rPr lang="en-US" altLang="zh-CN" sz="2000" b="0" i="1" smtClean="0">
                                <a:latin typeface="Cambria Math" panose="02040503050406030204" pitchFamily="18" charset="0"/>
                                <a:cs typeface="Times New Roman" panose="02020603050405020304" pitchFamily="18" charset="0"/>
                              </a:rPr>
                            </m:ctrlPr>
                          </m:eqArrPr>
                          <m:e>
                            <m:r>
                              <a:rPr lang="en-US" altLang="zh-CN" sz="2000" b="0" i="1" smtClean="0">
                                <a:latin typeface="Cambria Math" panose="02040503050406030204" pitchFamily="18" charset="0"/>
                                <a:cs typeface="Times New Roman" panose="02020603050405020304" pitchFamily="18" charset="0"/>
                              </a:rPr>
                              <m:t>1</m:t>
                            </m:r>
                            <m:r>
                              <a:rPr lang="zh-CN" altLang="en-US" sz="2000" i="1">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𝑖</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𝑗</m:t>
                            </m:r>
                          </m:e>
                          <m:e>
                            <m:r>
                              <a:rPr lang="en-US" altLang="zh-CN" sz="2000" b="0" i="1" smtClean="0">
                                <a:latin typeface="Cambria Math" panose="02040503050406030204" pitchFamily="18" charset="0"/>
                                <a:cs typeface="Times New Roman" panose="02020603050405020304" pitchFamily="18" charset="0"/>
                              </a:rPr>
                              <m:t>0</m:t>
                            </m:r>
                            <m:r>
                              <a:rPr lang="zh-CN" altLang="en-US" sz="2000" i="1">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𝑖</m:t>
                            </m:r>
                            <m: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t>𝑗</m:t>
                            </m:r>
                          </m:e>
                        </m:eqArr>
                      </m:e>
                    </m:d>
                  </m:oMath>
                </a14:m>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55183" y="1414649"/>
                <a:ext cx="5781967" cy="5334000"/>
              </a:xfrm>
              <a:blipFill>
                <a:blip r:embed="rId4"/>
                <a:stretch>
                  <a:fillRect l="-1054" t="-800"/>
                </a:stretch>
              </a:blipFill>
            </p:spPr>
            <p:txBody>
              <a:bodyPr/>
              <a:lstStyle/>
              <a:p>
                <a:r>
                  <a:rPr lang="zh-CN" altLang="en-US">
                    <a:noFill/>
                  </a:rPr>
                  <a:t> </a:t>
                </a:r>
              </a:p>
            </p:txBody>
          </p:sp>
        </mc:Fallback>
      </mc:AlternateContent>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23</a:t>
            </a:fld>
            <a:endParaRPr lang="en-US" altLang="zh-CN" dirty="0"/>
          </a:p>
        </p:txBody>
      </p:sp>
      <p:pic>
        <p:nvPicPr>
          <p:cNvPr id="314370" name="Picture 2" descr="http://latex.codecogs.com/gif.latex?%5Csigma_%7Bi%7D%20%2Ci%20%3D%201%2C%5Ccdots%20%2C%5Cinft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16438" y="-90488"/>
            <a:ext cx="1181100" cy="152401"/>
          </a:xfrm>
          <a:prstGeom prst="rect">
            <a:avLst/>
          </a:prstGeom>
          <a:noFill/>
          <a:extLst>
            <a:ext uri="{909E8E84-426E-40DD-AFC4-6F175D3DCCD1}">
              <a14:hiddenFill xmlns:a14="http://schemas.microsoft.com/office/drawing/2010/main">
                <a:solidFill>
                  <a:srgbClr val="FFFFFF"/>
                </a:solidFill>
              </a14:hiddenFill>
            </a:ext>
          </a:extLst>
        </p:spPr>
      </p:pic>
      <p:pic>
        <p:nvPicPr>
          <p:cNvPr id="315406" name="Picture 14" descr="http://latex.codecogs.com/gif.latex?%7b\Phi%20_%7bK%20-%20L%7d%7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87988" y="-76200"/>
            <a:ext cx="419100" cy="1524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6"/>
          <p:cNvSpPr>
            <a:spLocks noChangeArrowheads="1"/>
          </p:cNvSpPr>
          <p:nvPr/>
        </p:nvSpPr>
        <p:spPr bwMode="auto">
          <a:xfrm>
            <a:off x="6003635" y="82406"/>
            <a:ext cx="184731" cy="2923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sz="1300" dirty="0">
              <a:solidFill>
                <a:srgbClr val="4D4D4D"/>
              </a:solidFill>
              <a:latin typeface="Times New Roman" panose="02020603050405020304" pitchFamily="18" charset="0"/>
              <a:ea typeface="-apple-system"/>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矩形 4"/>
              <p:cNvSpPr/>
              <p:nvPr/>
            </p:nvSpPr>
            <p:spPr>
              <a:xfrm>
                <a:off x="406400" y="3731192"/>
                <a:ext cx="4321448" cy="811248"/>
              </a:xfrm>
              <a:prstGeom prst="rect">
                <a:avLst/>
              </a:prstGeom>
            </p:spPr>
            <p:txBody>
              <a:bodyPr wrap="square">
                <a:spAutoFit/>
              </a:bodyPr>
              <a:lstStyle/>
              <a:p>
                <a:r>
                  <a:rPr lang="zh-CN" altLang="en-US" sz="2000" dirty="0">
                    <a:latin typeface="Times New Roman" panose="02020603050405020304" pitchFamily="18" charset="0"/>
                    <a:cs typeface="Times New Roman" panose="02020603050405020304" pitchFamily="18" charset="0"/>
                  </a:rPr>
                  <a:t>将</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两边同时左乘</a:t>
                </a:r>
                <a14:m>
                  <m:oMath xmlns:m="http://schemas.openxmlformats.org/officeDocument/2006/math">
                    <m:sSubSup>
                      <m:sSubSupPr>
                        <m:ctrlPr>
                          <a:rPr lang="en-US" altLang="zh-CN" sz="2000" i="1">
                            <a:latin typeface="Cambria Math" panose="02040503050406030204" pitchFamily="18" charset="0"/>
                            <a:cs typeface="Times New Roman" panose="02020603050405020304" pitchFamily="18" charset="0"/>
                          </a:rPr>
                        </m:ctrlPr>
                      </m:sSubSupPr>
                      <m:e>
                        <m:r>
                          <a:rPr lang="en-US" altLang="zh-CN" sz="2000">
                            <a:latin typeface="Cambria Math" panose="02040503050406030204" pitchFamily="18" charset="0"/>
                            <a:cs typeface="Times New Roman" panose="02020603050405020304" pitchFamily="18" charset="0"/>
                          </a:rPr>
                          <m:t>𝑢</m:t>
                        </m:r>
                      </m:e>
                      <m:sub>
                        <m:r>
                          <a:rPr lang="en-US" altLang="zh-CN" sz="2000">
                            <a:latin typeface="Cambria Math" panose="02040503050406030204" pitchFamily="18" charset="0"/>
                            <a:cs typeface="Times New Roman" panose="02020603050405020304" pitchFamily="18" charset="0"/>
                          </a:rPr>
                          <m:t>𝑗</m:t>
                        </m:r>
                      </m:sub>
                      <m:sup>
                        <m:r>
                          <a:rPr lang="en-US" altLang="zh-CN" sz="2000">
                            <a:latin typeface="Cambria Math" panose="02040503050406030204" pitchFamily="18" charset="0"/>
                            <a:cs typeface="Times New Roman" panose="02020603050405020304" pitchFamily="18" charset="0"/>
                          </a:rPr>
                          <m:t>𝑇</m:t>
                        </m:r>
                      </m:sup>
                    </m:sSubSup>
                  </m:oMath>
                </a14:m>
                <a:r>
                  <a:rPr lang="zh-CN" altLang="en-US" sz="2000" dirty="0">
                    <a:latin typeface="Times New Roman" panose="02020603050405020304" pitchFamily="18" charset="0"/>
                    <a:cs typeface="Times New Roman" panose="02020603050405020304" pitchFamily="18" charset="0"/>
                  </a:rPr>
                  <a:t>，得到</a:t>
                </a:r>
                <a:endParaRPr lang="en-US" altLang="zh-CN" sz="2000" dirty="0">
                  <a:latin typeface="Times New Roman" panose="02020603050405020304" pitchFamily="18" charset="0"/>
                  <a:cs typeface="Times New Roman" panose="02020603050405020304" pitchFamily="18" charset="0"/>
                </a:endParaRPr>
              </a:p>
              <a:p>
                <a:r>
                  <a:rPr lang="en-US" altLang="zh-CN" sz="2000" dirty="0"/>
                  <a:t>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𝑐</m:t>
                        </m:r>
                      </m:e>
                      <m:sub>
                        <m:r>
                          <a:rPr lang="en-US" altLang="zh-CN" sz="2000" i="1">
                            <a:latin typeface="Cambria Math" panose="02040503050406030204" pitchFamily="18" charset="0"/>
                          </a:rPr>
                          <m:t>𝑗</m:t>
                        </m:r>
                      </m:sub>
                    </m:sSub>
                    <m:r>
                      <a:rPr lang="en-US" altLang="zh-CN" sz="2000" i="1">
                        <a:latin typeface="Cambria Math" panose="02040503050406030204" pitchFamily="18" charset="0"/>
                      </a:rPr>
                      <m:t>=</m:t>
                    </m:r>
                    <m:sSubSup>
                      <m:sSubSupPr>
                        <m:ctrlPr>
                          <a:rPr lang="en-US" altLang="zh-CN" sz="2000" i="1">
                            <a:latin typeface="Cambria Math" panose="02040503050406030204" pitchFamily="18" charset="0"/>
                            <a:cs typeface="Times New Roman" panose="02020603050405020304" pitchFamily="18" charset="0"/>
                          </a:rPr>
                        </m:ctrlPr>
                      </m:sSubSupPr>
                      <m:e>
                        <m:r>
                          <m:rPr>
                            <m:sty m:val="p"/>
                          </m:rPr>
                          <a:rPr lang="en-US" altLang="zh-CN" sz="2000" i="1">
                            <a:latin typeface="Cambria Math" panose="02040503050406030204" pitchFamily="18" charset="0"/>
                            <a:cs typeface="Times New Roman" panose="02020603050405020304" pitchFamily="18" charset="0"/>
                          </a:rPr>
                          <m:t>u</m:t>
                        </m:r>
                      </m:e>
                      <m:sub>
                        <m:r>
                          <a:rPr lang="en-US" altLang="zh-CN" sz="2000" i="1">
                            <a:latin typeface="Cambria Math" panose="02040503050406030204" pitchFamily="18" charset="0"/>
                            <a:cs typeface="Times New Roman" panose="02020603050405020304" pitchFamily="18" charset="0"/>
                          </a:rPr>
                          <m:t>𝑗</m:t>
                        </m:r>
                      </m:sub>
                      <m:sup>
                        <m:r>
                          <a:rPr lang="en-US" altLang="zh-CN" sz="2000" i="1">
                            <a:latin typeface="Cambria Math" panose="02040503050406030204" pitchFamily="18" charset="0"/>
                            <a:cs typeface="Times New Roman" panose="02020603050405020304" pitchFamily="18" charset="0"/>
                          </a:rPr>
                          <m:t>𝑇</m:t>
                        </m:r>
                      </m:sup>
                    </m:sSubSup>
                    <m:r>
                      <a:rPr lang="en-US" altLang="zh-CN" sz="2000" i="1">
                        <a:latin typeface="Cambria Math" panose="02040503050406030204" pitchFamily="18" charset="0"/>
                        <a:cs typeface="Times New Roman" panose="02020603050405020304" pitchFamily="18" charset="0"/>
                      </a:rPr>
                      <m:t>𝑥</m:t>
                    </m:r>
                  </m:oMath>
                </a14:m>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406400" y="3731192"/>
                <a:ext cx="4321448" cy="811248"/>
              </a:xfrm>
              <a:prstGeom prst="rect">
                <a:avLst/>
              </a:prstGeom>
              <a:blipFill>
                <a:blip r:embed="rId7"/>
                <a:stretch>
                  <a:fillRect l="-1551" t="-4511" b="-5263"/>
                </a:stretch>
              </a:blipFill>
            </p:spPr>
            <p:txBody>
              <a:bodyPr/>
              <a:lstStyle/>
              <a:p>
                <a:r>
                  <a:rPr lang="zh-CN" altLang="en-US">
                    <a:noFill/>
                  </a:rPr>
                  <a:t> </a:t>
                </a:r>
              </a:p>
            </p:txBody>
          </p:sp>
        </mc:Fallback>
      </mc:AlternateContent>
      <p:graphicFrame>
        <p:nvGraphicFramePr>
          <p:cNvPr id="22" name="Object 19"/>
          <p:cNvGraphicFramePr>
            <a:graphicFrameLocks noChangeAspect="1"/>
          </p:cNvGraphicFramePr>
          <p:nvPr>
            <p:extLst>
              <p:ext uri="{D42A27DB-BD31-4B8C-83A1-F6EECF244321}">
                <p14:modId xmlns:p14="http://schemas.microsoft.com/office/powerpoint/2010/main" val="3589225191"/>
              </p:ext>
            </p:extLst>
          </p:nvPr>
        </p:nvGraphicFramePr>
        <p:xfrm>
          <a:off x="3881549" y="1755168"/>
          <a:ext cx="1797050" cy="431800"/>
        </p:xfrm>
        <a:graphic>
          <a:graphicData uri="http://schemas.openxmlformats.org/presentationml/2006/ole">
            <mc:AlternateContent xmlns:mc="http://schemas.openxmlformats.org/markup-compatibility/2006">
              <mc:Choice xmlns:v="urn:schemas-microsoft-com:vml" Requires="v">
                <p:oleObj spid="_x0000_s354454" name="Equation" r:id="rId8" imgW="1054080" imgH="253800" progId="Equation.DSMT4">
                  <p:embed/>
                </p:oleObj>
              </mc:Choice>
              <mc:Fallback>
                <p:oleObj name="Equation" r:id="rId8" imgW="1054080" imgH="253800" progId="Equation.DSMT4">
                  <p:embed/>
                  <p:pic>
                    <p:nvPicPr>
                      <p:cNvPr id="22" name="Object 19"/>
                      <p:cNvPicPr>
                        <a:picLocks noChangeAspect="1" noChangeArrowheads="1"/>
                      </p:cNvPicPr>
                      <p:nvPr/>
                    </p:nvPicPr>
                    <p:blipFill>
                      <a:blip r:embed="rId9"/>
                      <a:srcRect/>
                      <a:stretch>
                        <a:fillRect/>
                      </a:stretch>
                    </p:blipFill>
                    <p:spPr bwMode="auto">
                      <a:xfrm>
                        <a:off x="3881549" y="1755168"/>
                        <a:ext cx="1797050" cy="431800"/>
                      </a:xfrm>
                      <a:prstGeom prst="rect">
                        <a:avLst/>
                      </a:prstGeom>
                      <a:solidFill>
                        <a:schemeClr val="bg1"/>
                      </a:solidFill>
                    </p:spPr>
                  </p:pic>
                </p:oleObj>
              </mc:Fallback>
            </mc:AlternateContent>
          </a:graphicData>
        </a:graphic>
      </p:graphicFrame>
      <p:sp>
        <p:nvSpPr>
          <p:cNvPr id="17" name="Rectangle 9"/>
          <p:cNvSpPr>
            <a:spLocks noChangeArrowheads="1"/>
          </p:cNvSpPr>
          <p:nvPr/>
        </p:nvSpPr>
        <p:spPr bwMode="auto">
          <a:xfrm>
            <a:off x="1524001"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dirty="0"/>
          </a:p>
        </p:txBody>
      </p:sp>
      <p:pic>
        <p:nvPicPr>
          <p:cNvPr id="318475" name="Picture 11" descr="http://latex.codecogs.com/gif.latex?%7b\Phi%20_j%7d"/>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648728" y="2671961"/>
            <a:ext cx="180975" cy="180975"/>
          </a:xfrm>
          <a:prstGeom prst="rect">
            <a:avLst/>
          </a:prstGeom>
          <a:noFill/>
          <a:extLst>
            <a:ext uri="{909E8E84-426E-40DD-AFC4-6F175D3DCCD1}">
              <a14:hiddenFill xmlns:a14="http://schemas.microsoft.com/office/drawing/2010/main">
                <a:solidFill>
                  <a:srgbClr val="FFFFFF"/>
                </a:solidFill>
              </a14:hiddenFill>
            </a:ext>
          </a:extLst>
        </p:spPr>
      </p:pic>
      <p:sp>
        <p:nvSpPr>
          <p:cNvPr id="18" name="矩形 17"/>
          <p:cNvSpPr/>
          <p:nvPr/>
        </p:nvSpPr>
        <p:spPr>
          <a:xfrm>
            <a:off x="244265" y="4654147"/>
            <a:ext cx="4824536" cy="707886"/>
          </a:xfrm>
          <a:prstGeom prst="rect">
            <a:avLst/>
          </a:prstGeom>
        </p:spPr>
        <p:txBody>
          <a:bodyPr wrap="square">
            <a:spAutoFit/>
          </a:bodyPr>
          <a:lstStyle/>
          <a:p>
            <a:pPr lvl="0" eaLnBrk="0" hangingPunct="0"/>
            <a:r>
              <a:rPr lang="zh-CN" altLang="en-US" sz="2000" dirty="0">
                <a:latin typeface="Times New Roman" panose="02020603050405020304" pitchFamily="18" charset="0"/>
                <a:cs typeface="Times New Roman" panose="02020603050405020304" pitchFamily="18" charset="0"/>
              </a:rPr>
              <a:t>如果只用有限的</a:t>
            </a:r>
            <a:r>
              <a:rPr lang="en-US" altLang="zh-CN" sz="2000" dirty="0">
                <a:latin typeface="Times New Roman" panose="02020603050405020304" pitchFamily="18" charset="0"/>
                <a:cs typeface="Times New Roman" panose="02020603050405020304" pitchFamily="18" charset="0"/>
              </a:rPr>
              <a:t>d</a:t>
            </a:r>
            <a:r>
              <a:rPr lang="zh-CN" altLang="en-US" sz="2000" dirty="0">
                <a:latin typeface="Times New Roman" panose="02020603050405020304" pitchFamily="18" charset="0"/>
                <a:cs typeface="Times New Roman" panose="02020603050405020304" pitchFamily="18" charset="0"/>
              </a:rPr>
              <a:t>项（</a:t>
            </a:r>
            <a:r>
              <a:rPr lang="en-US" altLang="zh-CN" sz="2000" dirty="0">
                <a:latin typeface="Times New Roman" panose="02020603050405020304" pitchFamily="18" charset="0"/>
                <a:cs typeface="Times New Roman" panose="02020603050405020304" pitchFamily="18" charset="0"/>
              </a:rPr>
              <a:t>d&lt;D</a:t>
            </a:r>
            <a:r>
              <a:rPr lang="zh-CN" altLang="en-US" sz="2000" dirty="0">
                <a:latin typeface="Times New Roman" panose="02020603050405020304" pitchFamily="18" charset="0"/>
                <a:cs typeface="Times New Roman" panose="02020603050405020304" pitchFamily="18" charset="0"/>
              </a:rPr>
              <a:t>）来逼近</a:t>
            </a:r>
            <a:r>
              <a:rPr lang="en-US" altLang="zh-CN" sz="2000" dirty="0">
                <a:latin typeface="Times New Roman" panose="02020603050405020304" pitchFamily="18" charset="0"/>
                <a:cs typeface="Times New Roman" panose="02020603050405020304" pitchFamily="18" charset="0"/>
              </a:rPr>
              <a:t>x</a:t>
            </a:r>
            <a:r>
              <a:rPr lang="zh-CN" altLang="en-US" sz="2000" dirty="0">
                <a:latin typeface="Times New Roman" panose="02020603050405020304" pitchFamily="18" charset="0"/>
                <a:cs typeface="Times New Roman" panose="02020603050405020304" pitchFamily="18" charset="0"/>
              </a:rPr>
              <a:t>，即</a:t>
            </a:r>
            <a:endParaRPr lang="en-US" altLang="zh-CN" sz="2000" dirty="0">
              <a:latin typeface="Times New Roman" panose="02020603050405020304" pitchFamily="18" charset="0"/>
              <a:cs typeface="Times New Roman" panose="02020603050405020304" pitchFamily="18" charset="0"/>
            </a:endParaRPr>
          </a:p>
          <a:p>
            <a:pPr lvl="0" eaLnBrk="0" hangingPunct="0"/>
            <a:endParaRPr lang="zh-CN" altLang="zh-CN" sz="2000" dirty="0">
              <a:solidFill>
                <a:srgbClr val="4D4D4D"/>
              </a:solidFill>
              <a:latin typeface="Times New Roman" panose="02020603050405020304" pitchFamily="18" charset="0"/>
              <a:cs typeface="Times New Roman" panose="02020603050405020304" pitchFamily="18" charset="0"/>
            </a:endParaRPr>
          </a:p>
        </p:txBody>
      </p:sp>
      <p:sp>
        <p:nvSpPr>
          <p:cNvPr id="24"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17.3 K-L</a:t>
            </a:r>
            <a:r>
              <a:rPr lang="zh-CN" altLang="zh-CN" dirty="0">
                <a:latin typeface="Times New Roman" panose="02020603050405020304" pitchFamily="18" charset="0"/>
                <a:cs typeface="Times New Roman" panose="02020603050405020304" pitchFamily="18" charset="0"/>
              </a:rPr>
              <a:t>变换方法</a:t>
            </a:r>
            <a:r>
              <a:rPr lang="en-US" altLang="zh-CN" dirty="0" err="1">
                <a:latin typeface="Bahnschrift Condensed" panose="020B0502040204020203" pitchFamily="34" charset="0"/>
                <a:cs typeface="Times New Roman" panose="02020603050405020304" pitchFamily="18" charset="0"/>
              </a:rPr>
              <a:t>Karhunen-Loeve</a:t>
            </a:r>
            <a:r>
              <a:rPr lang="en-US" altLang="zh-CN" dirty="0">
                <a:latin typeface="Bahnschrift Condensed" panose="020B0502040204020203" pitchFamily="34" charset="0"/>
                <a:cs typeface="Times New Roman" panose="02020603050405020304" pitchFamily="18" charset="0"/>
              </a:rPr>
              <a:t> transform</a:t>
            </a:r>
            <a:endParaRPr lang="zh-CN" altLang="en-US" dirty="0">
              <a:latin typeface="Bahnschrift Condensed" panose="020B0502040204020203" pitchFamily="34" charset="0"/>
              <a:cs typeface="Times New Roman" panose="02020603050405020304"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68630542"/>
              </p:ext>
            </p:extLst>
          </p:nvPr>
        </p:nvGraphicFramePr>
        <p:xfrm>
          <a:off x="1943050" y="5136202"/>
          <a:ext cx="1080120" cy="675075"/>
        </p:xfrm>
        <a:graphic>
          <a:graphicData uri="http://schemas.openxmlformats.org/presentationml/2006/ole">
            <mc:AlternateContent xmlns:mc="http://schemas.openxmlformats.org/markup-compatibility/2006">
              <mc:Choice xmlns:v="urn:schemas-microsoft-com:vml" Requires="v">
                <p:oleObj spid="_x0000_s354455" name="Equation" r:id="rId11" imgW="711000" imgH="444240" progId="Equation.DSMT4">
                  <p:embed/>
                </p:oleObj>
              </mc:Choice>
              <mc:Fallback>
                <p:oleObj name="Equation" r:id="rId11" imgW="711000" imgH="444240" progId="Equation.DSMT4">
                  <p:embed/>
                  <p:pic>
                    <p:nvPicPr>
                      <p:cNvPr id="2" name="对象 1"/>
                      <p:cNvPicPr/>
                      <p:nvPr/>
                    </p:nvPicPr>
                    <p:blipFill>
                      <a:blip r:embed="rId12"/>
                      <a:stretch>
                        <a:fillRect/>
                      </a:stretch>
                    </p:blipFill>
                    <p:spPr>
                      <a:xfrm>
                        <a:off x="1943050" y="5136202"/>
                        <a:ext cx="1080120" cy="675075"/>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6" name="矩形 5"/>
              <p:cNvSpPr/>
              <p:nvPr/>
            </p:nvSpPr>
            <p:spPr>
              <a:xfrm>
                <a:off x="1900051" y="2262752"/>
                <a:ext cx="2605200" cy="400879"/>
              </a:xfrm>
              <a:prstGeom prst="rect">
                <a:avLst/>
              </a:prstGeom>
            </p:spPr>
            <p:txBody>
              <a:bodyPr wrap="none">
                <a:spAutoFit/>
              </a:bodyPr>
              <a:lstStyle/>
              <a:p>
                <a14:m>
                  <m:oMath xmlns:m="http://schemas.openxmlformats.org/officeDocument/2006/math">
                    <m:r>
                      <a:rPr lang="en-US" altLang="zh-CN" i="1">
                        <a:latin typeface="Cambria Math" panose="02040503050406030204" pitchFamily="18" charset="0"/>
                        <a:cs typeface="Times New Roman" panose="02020603050405020304" pitchFamily="18" charset="0"/>
                      </a:rPr>
                      <m:t>𝑥</m:t>
                    </m:r>
                    <m:r>
                      <a:rPr lang="en-US" altLang="zh-CN" i="1">
                        <a:latin typeface="Cambria Math" panose="02040503050406030204" pitchFamily="18" charset="0"/>
                        <a:cs typeface="Times New Roman" panose="02020603050405020304" pitchFamily="18" charset="0"/>
                      </a:rPr>
                      <m:t>=</m:t>
                    </m:r>
                    <m:nary>
                      <m:naryPr>
                        <m:chr m:val="∑"/>
                        <m:ctrlPr>
                          <a:rPr lang="en-US" altLang="zh-CN" i="1">
                            <a:latin typeface="Cambria Math" panose="02040503050406030204" pitchFamily="18" charset="0"/>
                            <a:cs typeface="Times New Roman" panose="02020603050405020304" pitchFamily="18" charset="0"/>
                          </a:rPr>
                        </m:ctrlPr>
                      </m:naryPr>
                      <m:sub>
                        <m:r>
                          <m:rPr>
                            <m:brk m:alnAt="23"/>
                          </m:rPr>
                          <a:rPr lang="en-US" altLang="zh-CN" i="1">
                            <a:latin typeface="Cambria Math" panose="02040503050406030204" pitchFamily="18" charset="0"/>
                            <a:cs typeface="Times New Roman" panose="02020603050405020304" pitchFamily="18" charset="0"/>
                          </a:rPr>
                          <m:t>𝑗</m:t>
                        </m:r>
                        <m:r>
                          <a:rPr lang="en-US" altLang="zh-CN" i="1">
                            <a:latin typeface="Cambria Math" panose="02040503050406030204" pitchFamily="18" charset="0"/>
                            <a:cs typeface="Times New Roman" panose="02020603050405020304" pitchFamily="18" charset="0"/>
                          </a:rPr>
                          <m:t>=1</m:t>
                        </m:r>
                      </m:sub>
                      <m:sup>
                        <m:r>
                          <a:rPr lang="en-US" altLang="zh-CN" i="1">
                            <a:latin typeface="Cambria Math" panose="02040503050406030204" pitchFamily="18" charset="0"/>
                            <a:ea typeface="Cambria Math" panose="02040503050406030204" pitchFamily="18" charset="0"/>
                            <a:cs typeface="Times New Roman" panose="02020603050405020304" pitchFamily="18" charset="0"/>
                          </a:rPr>
                          <m:t>∞</m:t>
                        </m:r>
                      </m:sup>
                      <m:e>
                        <m:sSub>
                          <m:sSubPr>
                            <m:ctrlPr>
                              <a:rPr lang="en-US" altLang="zh-CN" i="1">
                                <a:latin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cs typeface="Times New Roman" panose="02020603050405020304" pitchFamily="18" charset="0"/>
                              </a:rPr>
                              <m:t>𝑐</m:t>
                            </m:r>
                          </m:e>
                          <m:sub>
                            <m:r>
                              <a:rPr lang="en-US" altLang="zh-CN" i="1">
                                <a:latin typeface="Cambria Math" panose="02040503050406030204" pitchFamily="18" charset="0"/>
                                <a:cs typeface="Times New Roman" panose="02020603050405020304" pitchFamily="18" charset="0"/>
                              </a:rPr>
                              <m:t>𝑗</m:t>
                            </m:r>
                          </m:sub>
                        </m:sSub>
                      </m:e>
                    </m:nary>
                    <m:sSub>
                      <m:sSubPr>
                        <m:ctrlPr>
                          <a:rPr lang="en-US" altLang="zh-CN" i="1">
                            <a:latin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cs typeface="Times New Roman" panose="02020603050405020304" pitchFamily="18" charset="0"/>
                          </a:rPr>
                          <m:t>𝑢</m:t>
                        </m:r>
                      </m:e>
                      <m:sub>
                        <m:r>
                          <a:rPr lang="en-US" altLang="zh-CN" i="1">
                            <a:latin typeface="Cambria Math" panose="02040503050406030204" pitchFamily="18" charset="0"/>
                            <a:cs typeface="Times New Roman" panose="02020603050405020304" pitchFamily="18" charset="0"/>
                          </a:rPr>
                          <m:t>𝑗</m:t>
                        </m:r>
                      </m:sub>
                    </m:sSub>
                  </m:oMath>
                </a14:m>
                <a:r>
                  <a:rPr lang="zh-CN" altLang="en-US" dirty="0"/>
                  <a:t>        （*）</a:t>
                </a:r>
              </a:p>
            </p:txBody>
          </p:sp>
        </mc:Choice>
        <mc:Fallback xmlns="">
          <p:sp>
            <p:nvSpPr>
              <p:cNvPr id="6" name="矩形 5"/>
              <p:cNvSpPr>
                <a:spLocks noRot="1" noChangeAspect="1" noMove="1" noResize="1" noEditPoints="1" noAdjustHandles="1" noChangeArrowheads="1" noChangeShapeType="1" noTextEdit="1"/>
              </p:cNvSpPr>
              <p:nvPr/>
            </p:nvSpPr>
            <p:spPr>
              <a:xfrm>
                <a:off x="1900051" y="2262752"/>
                <a:ext cx="2605200" cy="400879"/>
              </a:xfrm>
              <a:prstGeom prst="rect">
                <a:avLst/>
              </a:prstGeom>
              <a:blipFill>
                <a:blip r:embed="rId13"/>
                <a:stretch>
                  <a:fillRect t="-109091" r="-1405" b="-163636"/>
                </a:stretch>
              </a:blipFill>
            </p:spPr>
            <p:txBody>
              <a:bodyPr/>
              <a:lstStyle/>
              <a:p>
                <a:r>
                  <a:rPr lang="zh-CN" altLang="en-US">
                    <a:noFill/>
                  </a:rPr>
                  <a:t> </a:t>
                </a:r>
              </a:p>
            </p:txBody>
          </p:sp>
        </mc:Fallback>
      </mc:AlternateContent>
      <p:sp>
        <p:nvSpPr>
          <p:cNvPr id="7" name="矩形 6"/>
          <p:cNvSpPr/>
          <p:nvPr/>
        </p:nvSpPr>
        <p:spPr>
          <a:xfrm>
            <a:off x="6960096" y="1062336"/>
            <a:ext cx="6096000" cy="646331"/>
          </a:xfrm>
          <a:prstGeom prst="rect">
            <a:avLst/>
          </a:prstGeom>
        </p:spPr>
        <p:txBody>
          <a:bodyPr>
            <a:spAutoFit/>
          </a:bodyPr>
          <a:lstStyle/>
          <a:p>
            <a:pPr marL="0" indent="0">
              <a:buNone/>
            </a:pPr>
            <a:r>
              <a:rPr lang="zh-CN" altLang="en-US" dirty="0">
                <a:latin typeface="Times New Roman" panose="02020603050405020304" pitchFamily="18" charset="0"/>
                <a:cs typeface="Times New Roman" panose="02020603050405020304" pitchFamily="18" charset="0"/>
              </a:rPr>
              <a:t>则与原向量的均方误差是</a:t>
            </a:r>
            <a:endParaRPr lang="en-US" altLang="zh-CN" i="1" dirty="0">
              <a:latin typeface="Cambria Math" panose="02040503050406030204" pitchFamily="18" charset="0"/>
              <a:cs typeface="Times New Roman" panose="02020603050405020304" pitchFamily="18" charset="0"/>
            </a:endParaRPr>
          </a:p>
          <a:p>
            <a:pPr marL="0" indent="0">
              <a:buNone/>
            </a:pPr>
            <a:endParaRPr lang="en-US" altLang="zh-CN" dirty="0">
              <a:latin typeface="Times New Roman" panose="02020603050405020304" pitchFamily="18" charset="0"/>
              <a:cs typeface="Times New Roman" panose="02020603050405020304" pitchFamily="18" charset="0"/>
            </a:endParaRPr>
          </a:p>
        </p:txBody>
      </p:sp>
      <p:graphicFrame>
        <p:nvGraphicFramePr>
          <p:cNvPr id="16" name="对象 15"/>
          <p:cNvGraphicFramePr>
            <a:graphicFrameLocks noChangeAspect="1"/>
          </p:cNvGraphicFramePr>
          <p:nvPr>
            <p:extLst>
              <p:ext uri="{D42A27DB-BD31-4B8C-83A1-F6EECF244321}">
                <p14:modId xmlns:p14="http://schemas.microsoft.com/office/powerpoint/2010/main" val="1527438582"/>
              </p:ext>
            </p:extLst>
          </p:nvPr>
        </p:nvGraphicFramePr>
        <p:xfrm>
          <a:off x="7347359" y="1358796"/>
          <a:ext cx="4221163" cy="3425825"/>
        </p:xfrm>
        <a:graphic>
          <a:graphicData uri="http://schemas.openxmlformats.org/presentationml/2006/ole">
            <mc:AlternateContent xmlns:mc="http://schemas.openxmlformats.org/markup-compatibility/2006">
              <mc:Choice xmlns:v="urn:schemas-microsoft-com:vml" Requires="v">
                <p:oleObj spid="_x0000_s354456" name="Equation" r:id="rId14" imgW="2082600" imgH="1688760" progId="Equation.DSMT4">
                  <p:embed/>
                </p:oleObj>
              </mc:Choice>
              <mc:Fallback>
                <p:oleObj name="Equation" r:id="rId14" imgW="2082600" imgH="1688760" progId="Equation.DSMT4">
                  <p:embed/>
                  <p:pic>
                    <p:nvPicPr>
                      <p:cNvPr id="6" name="对象 5"/>
                      <p:cNvPicPr/>
                      <p:nvPr/>
                    </p:nvPicPr>
                    <p:blipFill>
                      <a:blip r:embed="rId15"/>
                      <a:stretch>
                        <a:fillRect/>
                      </a:stretch>
                    </p:blipFill>
                    <p:spPr>
                      <a:xfrm>
                        <a:off x="7347359" y="1358796"/>
                        <a:ext cx="4221163" cy="3425825"/>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9" name="矩形 18"/>
              <p:cNvSpPr/>
              <p:nvPr/>
            </p:nvSpPr>
            <p:spPr>
              <a:xfrm>
                <a:off x="6267465" y="4674385"/>
                <a:ext cx="5372581" cy="1348126"/>
              </a:xfrm>
              <a:prstGeom prst="rect">
                <a:avLst/>
              </a:prstGeom>
            </p:spPr>
            <p:txBody>
              <a:bodyPr wrap="square">
                <a:spAutoFit/>
              </a:bodyPr>
              <a:lstStyle/>
              <a:p>
                <a:r>
                  <a:rPr lang="zh-CN" altLang="en-US" sz="2000" dirty="0">
                    <a:latin typeface="Times New Roman" panose="02020603050405020304" pitchFamily="18" charset="0"/>
                    <a:cs typeface="Times New Roman" panose="02020603050405020304" pitchFamily="18" charset="0"/>
                  </a:rPr>
                  <a:t>上面的推导使用了</a:t>
                </a:r>
                <a14:m>
                  <m:oMath xmlns:m="http://schemas.openxmlformats.org/officeDocument/2006/math">
                    <m:sSub>
                      <m:sSubPr>
                        <m:ctrlPr>
                          <a:rPr lang="en-US" altLang="zh-CN" sz="2000" i="1">
                            <a:latin typeface="Cambria Math" panose="02040503050406030204" pitchFamily="18" charset="0"/>
                            <a:cs typeface="Times New Roman" panose="02020603050405020304" pitchFamily="18" charset="0"/>
                          </a:rPr>
                        </m:ctrlPr>
                      </m:sSubPr>
                      <m:e>
                        <m:r>
                          <a:rPr lang="en-US" altLang="zh-CN" sz="2000">
                            <a:latin typeface="Cambria Math" panose="02040503050406030204" pitchFamily="18" charset="0"/>
                            <a:cs typeface="Times New Roman" panose="02020603050405020304" pitchFamily="18" charset="0"/>
                          </a:rPr>
                          <m:t>𝑢</m:t>
                        </m:r>
                      </m:e>
                      <m:sub>
                        <m:r>
                          <a:rPr lang="en-US" altLang="zh-CN" sz="2000">
                            <a:latin typeface="Cambria Math" panose="02040503050406030204" pitchFamily="18" charset="0"/>
                            <a:cs typeface="Times New Roman" panose="02020603050405020304" pitchFamily="18" charset="0"/>
                          </a:rPr>
                          <m:t>𝑗</m:t>
                        </m:r>
                      </m:sub>
                    </m:sSub>
                    <m:r>
                      <a:rPr lang="zh-CN" altLang="en-US" sz="2000">
                        <a:latin typeface="Cambria Math" panose="02040503050406030204" pitchFamily="18" charset="0"/>
                        <a:cs typeface="Times New Roman" panose="02020603050405020304" pitchFamily="18" charset="0"/>
                      </a:rPr>
                      <m:t>，</m:t>
                    </m:r>
                  </m:oMath>
                </a14:m>
                <a:r>
                  <a:rPr lang="en-US" altLang="zh-CN" sz="2000" dirty="0">
                    <a:latin typeface="Times New Roman" panose="02020603050405020304" pitchFamily="18" charset="0"/>
                    <a:cs typeface="Times New Roman" panose="02020603050405020304" pitchFamily="18" charset="0"/>
                  </a:rPr>
                  <a:t>j=1,…,</a:t>
                </a:r>
                <a14:m>
                  <m:oMath xmlns:m="http://schemas.openxmlformats.org/officeDocument/2006/math">
                    <m:r>
                      <a:rPr lang="en-US" altLang="zh-CN" sz="2000">
                        <a:latin typeface="Cambria Math" panose="02040503050406030204" pitchFamily="18" charset="0"/>
                        <a:cs typeface="Times New Roman" panose="02020603050405020304" pitchFamily="18" charset="0"/>
                      </a:rPr>
                      <m:t>∞</m:t>
                    </m:r>
                  </m:oMath>
                </a14:m>
                <a:r>
                  <a:rPr lang="zh-CN" altLang="en-US" sz="2000" dirty="0">
                    <a:latin typeface="Times New Roman" panose="02020603050405020304" pitchFamily="18" charset="0"/>
                    <a:cs typeface="Times New Roman" panose="02020603050405020304" pitchFamily="18" charset="0"/>
                  </a:rPr>
                  <a:t>是正交向量系的条件。记</a:t>
                </a:r>
                <a14:m>
                  <m:oMath xmlns:m="http://schemas.openxmlformats.org/officeDocument/2006/math">
                    <m:d>
                      <m:dPr>
                        <m:begChr m:val=""/>
                        <m:endChr m:val="]"/>
                        <m:ctrlPr>
                          <a:rPr lang="zh-CN" altLang="en-US" sz="2000" i="1">
                            <a:latin typeface="Cambria Math" panose="02040503050406030204" pitchFamily="18" charset="0"/>
                          </a:rPr>
                        </m:ctrlPr>
                      </m:dPr>
                      <m:e>
                        <m:r>
                          <a:rPr lang="zh-CN" altLang="en-US" sz="2000" i="1">
                            <a:latin typeface="Cambria Math" panose="02040503050406030204" pitchFamily="18" charset="0"/>
                          </a:rPr>
                          <m:t>𝑅</m:t>
                        </m:r>
                        <m:r>
                          <a:rPr lang="zh-CN" altLang="en-US" sz="2000">
                            <a:latin typeface="Cambria Math" panose="02040503050406030204" pitchFamily="18" charset="0"/>
                          </a:rPr>
                          <m:t>=</m:t>
                        </m:r>
                        <m:r>
                          <a:rPr lang="zh-CN" altLang="en-US" sz="2000" i="1">
                            <a:latin typeface="Cambria Math" panose="02040503050406030204" pitchFamily="18" charset="0"/>
                          </a:rPr>
                          <m:t>𝐸</m:t>
                        </m:r>
                        <m:r>
                          <a:rPr lang="zh-CN" altLang="en-US" sz="2000">
                            <a:latin typeface="Cambria Math" panose="02040503050406030204" pitchFamily="18" charset="0"/>
                          </a:rPr>
                          <m:t>[</m:t>
                        </m:r>
                        <m:r>
                          <a:rPr lang="zh-CN" altLang="en-US" sz="2000" i="1">
                            <a:latin typeface="Cambria Math" panose="02040503050406030204" pitchFamily="18" charset="0"/>
                          </a:rPr>
                          <m:t>𝑥</m:t>
                        </m:r>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i="1">
                                <a:latin typeface="Cambria Math" panose="02040503050406030204" pitchFamily="18" charset="0"/>
                              </a:rPr>
                              <m:t>𝑇</m:t>
                            </m:r>
                          </m:sup>
                        </m:sSup>
                      </m:e>
                    </m:d>
                  </m:oMath>
                </a14:m>
                <a:r>
                  <a:rPr lang="zh-CN" altLang="en-US" sz="2000" dirty="0">
                    <a:latin typeface="Times New Roman" panose="02020603050405020304" pitchFamily="18" charset="0"/>
                    <a:cs typeface="Times New Roman" panose="02020603050405020304" pitchFamily="18" charset="0"/>
                  </a:rPr>
                  <a:t>，即</a:t>
                </a:r>
                <a:r>
                  <a:rPr lang="en-US" altLang="zh-CN" sz="2000" dirty="0">
                    <a:latin typeface="Times New Roman" panose="02020603050405020304" pitchFamily="18" charset="0"/>
                    <a:cs typeface="Times New Roman" panose="02020603050405020304" pitchFamily="18" charset="0"/>
                  </a:rPr>
                  <a:t>x</a:t>
                </a:r>
                <a:r>
                  <a:rPr lang="zh-CN" altLang="en-US" sz="2000" dirty="0">
                    <a:latin typeface="Times New Roman" panose="02020603050405020304" pitchFamily="18" charset="0"/>
                    <a:cs typeface="Times New Roman" panose="02020603050405020304" pitchFamily="18" charset="0"/>
                  </a:rPr>
                  <a:t>的二阶矩阵</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自相关阵</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，则</a:t>
                </a:r>
                <a:r>
                  <a:rPr lang="zh-CN" altLang="en-US" sz="2000" dirty="0">
                    <a:solidFill>
                      <a:srgbClr val="0000FF"/>
                    </a:solidFill>
                    <a:latin typeface="Times New Roman" panose="02020603050405020304" pitchFamily="18" charset="0"/>
                    <a:cs typeface="Times New Roman" panose="02020603050405020304" pitchFamily="18" charset="0"/>
                  </a:rPr>
                  <a:t>均方误差</a:t>
                </a:r>
                <a:endParaRPr lang="en-US" altLang="zh-CN" sz="2000" dirty="0">
                  <a:solidFill>
                    <a:srgbClr val="0000FF"/>
                  </a:solidFill>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19" name="矩形 18"/>
              <p:cNvSpPr>
                <a:spLocks noRot="1" noChangeAspect="1" noMove="1" noResize="1" noEditPoints="1" noAdjustHandles="1" noChangeArrowheads="1" noChangeShapeType="1" noTextEdit="1"/>
              </p:cNvSpPr>
              <p:nvPr/>
            </p:nvSpPr>
            <p:spPr>
              <a:xfrm>
                <a:off x="6267465" y="4674385"/>
                <a:ext cx="5372581" cy="1348126"/>
              </a:xfrm>
              <a:prstGeom prst="rect">
                <a:avLst/>
              </a:prstGeom>
              <a:blipFill>
                <a:blip r:embed="rId16"/>
                <a:stretch>
                  <a:fillRect l="-1135" t="-12217" b="-11765"/>
                </a:stretch>
              </a:blipFill>
            </p:spPr>
            <p:txBody>
              <a:bodyPr/>
              <a:lstStyle/>
              <a:p>
                <a:r>
                  <a:rPr lang="zh-CN" altLang="en-US">
                    <a:noFill/>
                  </a:rPr>
                  <a:t> </a:t>
                </a:r>
              </a:p>
            </p:txBody>
          </p:sp>
        </mc:Fallback>
      </mc:AlternateContent>
      <p:graphicFrame>
        <p:nvGraphicFramePr>
          <p:cNvPr id="20" name="对象 19"/>
          <p:cNvGraphicFramePr>
            <a:graphicFrameLocks noChangeAspect="1"/>
          </p:cNvGraphicFramePr>
          <p:nvPr>
            <p:extLst>
              <p:ext uri="{D42A27DB-BD31-4B8C-83A1-F6EECF244321}">
                <p14:modId xmlns:p14="http://schemas.microsoft.com/office/powerpoint/2010/main" val="139112954"/>
              </p:ext>
            </p:extLst>
          </p:nvPr>
        </p:nvGraphicFramePr>
        <p:xfrm>
          <a:off x="7960420" y="5667088"/>
          <a:ext cx="1677904" cy="793603"/>
        </p:xfrm>
        <a:graphic>
          <a:graphicData uri="http://schemas.openxmlformats.org/presentationml/2006/ole">
            <mc:AlternateContent xmlns:mc="http://schemas.openxmlformats.org/markup-compatibility/2006">
              <mc:Choice xmlns:v="urn:schemas-microsoft-com:vml" Requires="v">
                <p:oleObj spid="_x0000_s354457" name="Equation" r:id="rId17" imgW="939600" imgH="444240" progId="Equation.DSMT4">
                  <p:embed/>
                </p:oleObj>
              </mc:Choice>
              <mc:Fallback>
                <p:oleObj name="Equation" r:id="rId17" imgW="939600" imgH="444240" progId="Equation.DSMT4">
                  <p:embed/>
                  <p:pic>
                    <p:nvPicPr>
                      <p:cNvPr id="8" name="对象 7"/>
                      <p:cNvPicPr/>
                      <p:nvPr/>
                    </p:nvPicPr>
                    <p:blipFill>
                      <a:blip r:embed="rId18"/>
                      <a:stretch>
                        <a:fillRect/>
                      </a:stretch>
                    </p:blipFill>
                    <p:spPr>
                      <a:xfrm>
                        <a:off x="7960420" y="5667088"/>
                        <a:ext cx="1677904" cy="793603"/>
                      </a:xfrm>
                      <a:prstGeom prst="rect">
                        <a:avLst/>
                      </a:prstGeom>
                      <a:ln>
                        <a:solidFill>
                          <a:srgbClr val="FF7A00"/>
                        </a:solidFill>
                      </a:ln>
                    </p:spPr>
                  </p:pic>
                </p:oleObj>
              </mc:Fallback>
            </mc:AlternateContent>
          </a:graphicData>
        </a:graphic>
      </p:graphicFrame>
      <p:sp>
        <p:nvSpPr>
          <p:cNvPr id="10" name="矩形 9"/>
          <p:cNvSpPr/>
          <p:nvPr/>
        </p:nvSpPr>
        <p:spPr>
          <a:xfrm>
            <a:off x="227497" y="1007245"/>
            <a:ext cx="2505814" cy="369332"/>
          </a:xfrm>
          <a:prstGeom prst="rect">
            <a:avLst/>
          </a:prstGeom>
        </p:spPr>
        <p:txBody>
          <a:bodyPr wrap="none">
            <a:spAutoFit/>
          </a:bodyPr>
          <a:lstStyle/>
          <a:p>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solidFill>
                  <a:srgbClr val="FF0000"/>
                </a:solidFill>
              </a:rPr>
              <a:t>最优描述的</a:t>
            </a:r>
            <a:r>
              <a:rPr lang="en-US" altLang="zh-CN" dirty="0">
                <a:solidFill>
                  <a:srgbClr val="FF0000"/>
                </a:solidFill>
              </a:rPr>
              <a:t>K-L</a:t>
            </a:r>
            <a:r>
              <a:rPr lang="zh-CN" altLang="en-US" dirty="0">
                <a:solidFill>
                  <a:srgbClr val="FF0000"/>
                </a:solidFill>
              </a:rPr>
              <a:t>变换</a:t>
            </a:r>
          </a:p>
        </p:txBody>
      </p:sp>
      <p:sp>
        <p:nvSpPr>
          <p:cNvPr id="23" name="矩形 22"/>
          <p:cNvSpPr/>
          <p:nvPr/>
        </p:nvSpPr>
        <p:spPr>
          <a:xfrm>
            <a:off x="3474145" y="989464"/>
            <a:ext cx="2980303" cy="369332"/>
          </a:xfrm>
          <a:prstGeom prst="rect">
            <a:avLst/>
          </a:prstGeom>
        </p:spPr>
        <p:txBody>
          <a:bodyPr wrap="none">
            <a:spAutoFit/>
          </a:bodyPr>
          <a:lstStyle/>
          <a:p>
            <a:r>
              <a:rPr lang="en-US" altLang="zh-CN" dirty="0">
                <a:solidFill>
                  <a:srgbClr val="7030A0"/>
                </a:solidFill>
              </a:rPr>
              <a:t>K-L</a:t>
            </a:r>
            <a:r>
              <a:rPr lang="zh-CN" altLang="en-US" dirty="0">
                <a:solidFill>
                  <a:srgbClr val="7030A0"/>
                </a:solidFill>
              </a:rPr>
              <a:t>变换是从</a:t>
            </a:r>
            <a:r>
              <a:rPr lang="en-US" altLang="zh-CN" dirty="0">
                <a:solidFill>
                  <a:srgbClr val="7030A0"/>
                </a:solidFill>
              </a:rPr>
              <a:t>K-L</a:t>
            </a:r>
            <a:r>
              <a:rPr lang="zh-CN" altLang="en-US" dirty="0">
                <a:solidFill>
                  <a:srgbClr val="7030A0"/>
                </a:solidFill>
              </a:rPr>
              <a:t>展开引出的</a:t>
            </a:r>
          </a:p>
        </p:txBody>
      </p:sp>
    </p:spTree>
    <p:extLst>
      <p:ext uri="{BB962C8B-B14F-4D97-AF65-F5344CB8AC3E}">
        <p14:creationId xmlns:p14="http://schemas.microsoft.com/office/powerpoint/2010/main" val="30514807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96907" y="1370897"/>
            <a:ext cx="5956613" cy="5334000"/>
          </a:xfrm>
        </p:spPr>
        <p:txBody>
          <a:bodyPr/>
          <a:lstStyle/>
          <a:p>
            <a:pPr marL="0" indent="0">
              <a:buNone/>
            </a:pPr>
            <a:r>
              <a:rPr lang="zh-CN" altLang="en-US" sz="2000" dirty="0">
                <a:latin typeface="Times New Roman" panose="02020603050405020304" pitchFamily="18" charset="0"/>
                <a:cs typeface="Times New Roman" panose="02020603050405020304" pitchFamily="18" charset="0"/>
              </a:rPr>
              <a:t>要在正交归一的向量系中最小化这一均方误差，就是求解下列优化问题</a:t>
            </a:r>
            <a:endParaRPr lang="en-US" altLang="zh-CN" sz="2000" dirty="0">
              <a:latin typeface="Times New Roman" panose="02020603050405020304" pitchFamily="18" charset="0"/>
              <a:cs typeface="Times New Roman" panose="02020603050405020304" pitchFamily="18" charset="0"/>
            </a:endParaRPr>
          </a:p>
          <a:p>
            <a:pPr marL="0" indent="0">
              <a:buNone/>
            </a:pPr>
            <a:endParaRPr lang="zh-CN" altLang="en-US" sz="20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24</a:t>
            </a:fld>
            <a:endParaRPr lang="en-US" altLang="zh-CN" dirty="0"/>
          </a:p>
        </p:txBody>
      </p:sp>
      <p:pic>
        <p:nvPicPr>
          <p:cNvPr id="314370" name="Picture 2" descr="http://latex.codecogs.com/gif.latex?%5Csigma_%7Bi%7D%20%2Ci%20%3D%201%2C%5Ccdots%20%2C%5Cinft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16438" y="-90488"/>
            <a:ext cx="1181100" cy="152401"/>
          </a:xfrm>
          <a:prstGeom prst="rect">
            <a:avLst/>
          </a:prstGeom>
          <a:noFill/>
          <a:extLst>
            <a:ext uri="{909E8E84-426E-40DD-AFC4-6F175D3DCCD1}">
              <a14:hiddenFill xmlns:a14="http://schemas.microsoft.com/office/drawing/2010/main">
                <a:solidFill>
                  <a:srgbClr val="FFFFFF"/>
                </a:solidFill>
              </a14:hiddenFill>
            </a:ext>
          </a:extLst>
        </p:spPr>
      </p:pic>
      <p:pic>
        <p:nvPicPr>
          <p:cNvPr id="315406" name="Picture 14" descr="http://latex.codecogs.com/gif.latex?%7b\Phi%20_%7bK%20-%20L%7d%7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187988" y="-76200"/>
            <a:ext cx="419100" cy="1524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6"/>
          <p:cNvSpPr>
            <a:spLocks noChangeArrowheads="1"/>
          </p:cNvSpPr>
          <p:nvPr/>
        </p:nvSpPr>
        <p:spPr bwMode="auto">
          <a:xfrm>
            <a:off x="6003635" y="82406"/>
            <a:ext cx="184731" cy="2923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sz="1300" dirty="0">
              <a:solidFill>
                <a:srgbClr val="4D4D4D"/>
              </a:solidFill>
              <a:latin typeface="Times New Roman" panose="02020603050405020304" pitchFamily="18" charset="0"/>
              <a:ea typeface="-apple-system"/>
              <a:cs typeface="Times New Roman" panose="02020603050405020304" pitchFamily="18" charset="0"/>
            </a:endParaRPr>
          </a:p>
        </p:txBody>
      </p:sp>
      <p:sp>
        <p:nvSpPr>
          <p:cNvPr id="5" name="矩形 4"/>
          <p:cNvSpPr/>
          <p:nvPr/>
        </p:nvSpPr>
        <p:spPr>
          <a:xfrm>
            <a:off x="375593" y="3027273"/>
            <a:ext cx="5185060" cy="400110"/>
          </a:xfrm>
          <a:prstGeom prst="rect">
            <a:avLst/>
          </a:prstGeom>
        </p:spPr>
        <p:txBody>
          <a:bodyPr wrap="square">
            <a:spAutoFit/>
          </a:bodyPr>
          <a:lstStyle/>
          <a:p>
            <a:r>
              <a:rPr lang="zh-CN" altLang="en-US" sz="2000" dirty="0">
                <a:latin typeface="Times New Roman" panose="02020603050405020304" pitchFamily="18" charset="0"/>
                <a:cs typeface="Times New Roman" panose="02020603050405020304" pitchFamily="18" charset="0"/>
              </a:rPr>
              <a:t>采用拉格朗日法，得到无约束的目标函数</a:t>
            </a:r>
            <a:endParaRPr lang="en-US" altLang="zh-CN" sz="2000" dirty="0">
              <a:latin typeface="Times New Roman" panose="02020603050405020304" pitchFamily="18" charset="0"/>
              <a:cs typeface="Times New Roman" panose="02020603050405020304" pitchFamily="18" charset="0"/>
            </a:endParaRPr>
          </a:p>
        </p:txBody>
      </p:sp>
      <p:sp>
        <p:nvSpPr>
          <p:cNvPr id="17" name="Rectangle 9"/>
          <p:cNvSpPr>
            <a:spLocks noChangeArrowheads="1"/>
          </p:cNvSpPr>
          <p:nvPr/>
        </p:nvSpPr>
        <p:spPr bwMode="auto">
          <a:xfrm>
            <a:off x="1524001"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dirty="0"/>
          </a:p>
        </p:txBody>
      </p:sp>
      <p:pic>
        <p:nvPicPr>
          <p:cNvPr id="318475" name="Picture 11" descr="http://latex.codecogs.com/gif.latex?%7b\Phi%20_j%7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48728" y="2671961"/>
            <a:ext cx="180975" cy="180975"/>
          </a:xfrm>
          <a:prstGeom prst="rect">
            <a:avLst/>
          </a:prstGeom>
          <a:noFill/>
          <a:extLst>
            <a:ext uri="{909E8E84-426E-40DD-AFC4-6F175D3DCCD1}">
              <a14:hiddenFill xmlns:a14="http://schemas.microsoft.com/office/drawing/2010/main">
                <a:solidFill>
                  <a:srgbClr val="FFFFFF"/>
                </a:solidFill>
              </a14:hiddenFill>
            </a:ext>
          </a:extLst>
        </p:spPr>
      </p:pic>
      <p:sp>
        <p:nvSpPr>
          <p:cNvPr id="18" name="矩形 17"/>
          <p:cNvSpPr/>
          <p:nvPr/>
        </p:nvSpPr>
        <p:spPr>
          <a:xfrm>
            <a:off x="251952" y="4233392"/>
            <a:ext cx="5905624" cy="707886"/>
          </a:xfrm>
          <a:prstGeom prst="rect">
            <a:avLst/>
          </a:prstGeom>
        </p:spPr>
        <p:txBody>
          <a:bodyPr wrap="square">
            <a:spAutoFit/>
          </a:bodyPr>
          <a:lstStyle/>
          <a:p>
            <a:pPr lvl="0" eaLnBrk="0" hangingPunct="0"/>
            <a:r>
              <a:rPr lang="zh-CN" altLang="en-US" sz="2000" dirty="0">
                <a:latin typeface="Times New Roman" panose="02020603050405020304" pitchFamily="18" charset="0"/>
                <a:cs typeface="Times New Roman" panose="02020603050405020304" pitchFamily="18" charset="0"/>
              </a:rPr>
              <a:t>对各个向量求偏导并令其为零，                                      </a:t>
            </a:r>
            <a:endParaRPr lang="en-US" altLang="zh-CN" sz="2000" dirty="0">
              <a:latin typeface="Times New Roman" panose="02020603050405020304" pitchFamily="18" charset="0"/>
              <a:cs typeface="Times New Roman" panose="02020603050405020304" pitchFamily="18" charset="0"/>
            </a:endParaRPr>
          </a:p>
          <a:p>
            <a:pPr lvl="0" eaLnBrk="0" hangingPunct="0"/>
            <a:r>
              <a:rPr lang="zh-CN" altLang="en-US" sz="2000" dirty="0">
                <a:latin typeface="Times New Roman" panose="02020603050405020304" pitchFamily="18" charset="0"/>
                <a:cs typeface="Times New Roman" panose="02020603050405020304" pitchFamily="18" charset="0"/>
              </a:rPr>
              <a:t>，得如下方程组</a:t>
            </a:r>
            <a:endParaRPr lang="zh-CN" altLang="zh-CN" sz="2000" dirty="0">
              <a:latin typeface="Times New Roman" panose="02020603050405020304" pitchFamily="18" charset="0"/>
              <a:cs typeface="Times New Roman" panose="02020603050405020304" pitchFamily="18" charset="0"/>
            </a:endParaRPr>
          </a:p>
        </p:txBody>
      </p:sp>
      <p:sp>
        <p:nvSpPr>
          <p:cNvPr id="24"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17.3 K-L</a:t>
            </a:r>
            <a:r>
              <a:rPr lang="zh-CN" altLang="zh-CN" dirty="0">
                <a:latin typeface="Times New Roman" panose="02020603050405020304" pitchFamily="18" charset="0"/>
                <a:cs typeface="Times New Roman" panose="02020603050405020304" pitchFamily="18" charset="0"/>
              </a:rPr>
              <a:t>变换方法</a:t>
            </a:r>
            <a:r>
              <a:rPr lang="en-US" altLang="zh-CN" dirty="0" err="1">
                <a:latin typeface="Bahnschrift Condensed" panose="020B0502040204020203" pitchFamily="34" charset="0"/>
                <a:cs typeface="Times New Roman" panose="02020603050405020304" pitchFamily="18" charset="0"/>
              </a:rPr>
              <a:t>Karhunen-Loeve</a:t>
            </a:r>
            <a:r>
              <a:rPr lang="en-US" altLang="zh-CN" dirty="0">
                <a:latin typeface="Bahnschrift Condensed" panose="020B0502040204020203" pitchFamily="34" charset="0"/>
                <a:cs typeface="Times New Roman" panose="02020603050405020304" pitchFamily="18" charset="0"/>
              </a:rPr>
              <a:t> transform</a:t>
            </a:r>
            <a:endParaRPr lang="zh-CN" altLang="en-US" dirty="0">
              <a:latin typeface="Bahnschrift Condensed" panose="020B0502040204020203" pitchFamily="34" charset="0"/>
              <a:cs typeface="Times New Roman" panose="02020603050405020304"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635366772"/>
              </p:ext>
            </p:extLst>
          </p:nvPr>
        </p:nvGraphicFramePr>
        <p:xfrm>
          <a:off x="3836814" y="4143357"/>
          <a:ext cx="2351088" cy="674688"/>
        </p:xfrm>
        <a:graphic>
          <a:graphicData uri="http://schemas.openxmlformats.org/presentationml/2006/ole">
            <mc:AlternateContent xmlns:mc="http://schemas.openxmlformats.org/markup-compatibility/2006">
              <mc:Choice xmlns:v="urn:schemas-microsoft-com:vml" Requires="v">
                <p:oleObj spid="_x0000_s356591" name="Equation" r:id="rId7" imgW="1549080" imgH="444240" progId="Equation.DSMT4">
                  <p:embed/>
                </p:oleObj>
              </mc:Choice>
              <mc:Fallback>
                <p:oleObj name="Equation" r:id="rId7" imgW="1549080" imgH="444240" progId="Equation.DSMT4">
                  <p:embed/>
                  <p:pic>
                    <p:nvPicPr>
                      <p:cNvPr id="2" name="对象 1"/>
                      <p:cNvPicPr/>
                      <p:nvPr/>
                    </p:nvPicPr>
                    <p:blipFill>
                      <a:blip r:embed="rId8"/>
                      <a:stretch>
                        <a:fillRect/>
                      </a:stretch>
                    </p:blipFill>
                    <p:spPr>
                      <a:xfrm>
                        <a:off x="3836814" y="4143357"/>
                        <a:ext cx="2351088" cy="674688"/>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014696112"/>
              </p:ext>
            </p:extLst>
          </p:nvPr>
        </p:nvGraphicFramePr>
        <p:xfrm>
          <a:off x="3005245" y="1534507"/>
          <a:ext cx="2444750" cy="1828800"/>
        </p:xfrm>
        <a:graphic>
          <a:graphicData uri="http://schemas.openxmlformats.org/presentationml/2006/ole">
            <mc:AlternateContent xmlns:mc="http://schemas.openxmlformats.org/markup-compatibility/2006">
              <mc:Choice xmlns:v="urn:schemas-microsoft-com:vml" Requires="v">
                <p:oleObj spid="_x0000_s356592" name="Equation" r:id="rId9" imgW="1206360" imgH="901440" progId="Equation.DSMT4">
                  <p:embed/>
                </p:oleObj>
              </mc:Choice>
              <mc:Fallback>
                <p:oleObj name="Equation" r:id="rId9" imgW="1206360" imgH="901440" progId="Equation.DSMT4">
                  <p:embed/>
                  <p:pic>
                    <p:nvPicPr>
                      <p:cNvPr id="6" name="对象 5"/>
                      <p:cNvPicPr/>
                      <p:nvPr/>
                    </p:nvPicPr>
                    <p:blipFill>
                      <a:blip r:embed="rId10"/>
                      <a:stretch>
                        <a:fillRect/>
                      </a:stretch>
                    </p:blipFill>
                    <p:spPr>
                      <a:xfrm>
                        <a:off x="3005245" y="1534507"/>
                        <a:ext cx="2444750" cy="182880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256439388"/>
              </p:ext>
            </p:extLst>
          </p:nvPr>
        </p:nvGraphicFramePr>
        <p:xfrm>
          <a:off x="888503" y="3387085"/>
          <a:ext cx="3757966" cy="688206"/>
        </p:xfrm>
        <a:graphic>
          <a:graphicData uri="http://schemas.openxmlformats.org/presentationml/2006/ole">
            <mc:AlternateContent xmlns:mc="http://schemas.openxmlformats.org/markup-compatibility/2006">
              <mc:Choice xmlns:v="urn:schemas-microsoft-com:vml" Requires="v">
                <p:oleObj spid="_x0000_s356593" name="Equation" r:id="rId11" imgW="2425680" imgH="444240" progId="Equation.DSMT4">
                  <p:embed/>
                </p:oleObj>
              </mc:Choice>
              <mc:Fallback>
                <p:oleObj name="Equation" r:id="rId11" imgW="2425680" imgH="444240" progId="Equation.DSMT4">
                  <p:embed/>
                  <p:pic>
                    <p:nvPicPr>
                      <p:cNvPr id="8" name="对象 7"/>
                      <p:cNvPicPr/>
                      <p:nvPr/>
                    </p:nvPicPr>
                    <p:blipFill>
                      <a:blip r:embed="rId12"/>
                      <a:stretch>
                        <a:fillRect/>
                      </a:stretch>
                    </p:blipFill>
                    <p:spPr>
                      <a:xfrm>
                        <a:off x="888503" y="3387085"/>
                        <a:ext cx="3757966" cy="688206"/>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648723986"/>
              </p:ext>
            </p:extLst>
          </p:nvPr>
        </p:nvGraphicFramePr>
        <p:xfrm>
          <a:off x="2193438" y="4876546"/>
          <a:ext cx="3031774" cy="397267"/>
        </p:xfrm>
        <a:graphic>
          <a:graphicData uri="http://schemas.openxmlformats.org/presentationml/2006/ole">
            <mc:AlternateContent xmlns:mc="http://schemas.openxmlformats.org/markup-compatibility/2006">
              <mc:Choice xmlns:v="urn:schemas-microsoft-com:vml" Requires="v">
                <p:oleObj spid="_x0000_s356594" name="Equation" r:id="rId13" imgW="1841400" imgH="241200" progId="Equation.DSMT4">
                  <p:embed/>
                </p:oleObj>
              </mc:Choice>
              <mc:Fallback>
                <p:oleObj name="Equation" r:id="rId13" imgW="1841400" imgH="241200" progId="Equation.DSMT4">
                  <p:embed/>
                  <p:pic>
                    <p:nvPicPr>
                      <p:cNvPr id="9" name="对象 8"/>
                      <p:cNvPicPr/>
                      <p:nvPr/>
                    </p:nvPicPr>
                    <p:blipFill>
                      <a:blip r:embed="rId14"/>
                      <a:stretch>
                        <a:fillRect/>
                      </a:stretch>
                    </p:blipFill>
                    <p:spPr>
                      <a:xfrm>
                        <a:off x="2193438" y="4876546"/>
                        <a:ext cx="3031774" cy="397267"/>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9" name="矩形 18"/>
              <p:cNvSpPr/>
              <p:nvPr/>
            </p:nvSpPr>
            <p:spPr>
              <a:xfrm>
                <a:off x="363184" y="5273813"/>
                <a:ext cx="5197469" cy="757259"/>
              </a:xfrm>
              <a:prstGeom prst="rect">
                <a:avLst/>
              </a:prstGeom>
            </p:spPr>
            <p:txBody>
              <a:bodyPr wrap="square">
                <a:spAutoFit/>
              </a:bodyPr>
              <a:lstStyle/>
              <a:p>
                <a:r>
                  <a:rPr lang="zh-CN" altLang="en-US" sz="2000" dirty="0">
                    <a:latin typeface="Times New Roman" panose="02020603050405020304" pitchFamily="18" charset="0"/>
                    <a:cs typeface="Times New Roman" panose="02020603050405020304" pitchFamily="18" charset="0"/>
                  </a:rPr>
                  <a:t>即</a:t>
                </a:r>
                <a14:m>
                  <m:oMath xmlns:m="http://schemas.openxmlformats.org/officeDocument/2006/math">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𝑢</m:t>
                        </m:r>
                      </m:e>
                      <m:sub>
                        <m:r>
                          <a:rPr lang="en-US" altLang="zh-CN" sz="2000" b="0" i="1" smtClean="0">
                            <a:latin typeface="Cambria Math" panose="02040503050406030204" pitchFamily="18" charset="0"/>
                            <a:cs typeface="Times New Roman" panose="02020603050405020304" pitchFamily="18" charset="0"/>
                          </a:rPr>
                          <m:t>𝑗</m:t>
                        </m:r>
                      </m:sub>
                    </m:sSub>
                  </m:oMath>
                </a14:m>
                <a:r>
                  <a:rPr lang="zh-CN" altLang="en-US" sz="2000" dirty="0">
                    <a:latin typeface="Times New Roman" panose="02020603050405020304" pitchFamily="18" charset="0"/>
                    <a:cs typeface="Times New Roman" panose="02020603050405020304" pitchFamily="18" charset="0"/>
                  </a:rPr>
                  <a:t>是矩阵</a:t>
                </a:r>
                <a:r>
                  <a:rPr lang="en-US" altLang="zh-CN" sz="2000" dirty="0">
                    <a:latin typeface="Times New Roman" panose="02020603050405020304" pitchFamily="18" charset="0"/>
                    <a:cs typeface="Times New Roman" panose="02020603050405020304" pitchFamily="18" charset="0"/>
                  </a:rPr>
                  <a:t>R</a:t>
                </a:r>
                <a:r>
                  <a:rPr lang="zh-CN" altLang="en-US" sz="2000" dirty="0">
                    <a:latin typeface="Times New Roman" panose="02020603050405020304" pitchFamily="18" charset="0"/>
                    <a:cs typeface="Times New Roman" panose="02020603050405020304" pitchFamily="18" charset="0"/>
                  </a:rPr>
                  <a:t>的特征向量，满足：                ，</a:t>
                </a:r>
                <a:endParaRPr lang="en-US" altLang="zh-CN" sz="2000" dirty="0">
                  <a:latin typeface="Times New Roman" panose="02020603050405020304" pitchFamily="18" charset="0"/>
                  <a:cs typeface="Times New Roman" panose="02020603050405020304" pitchFamily="18" charset="0"/>
                </a:endParaRPr>
              </a:p>
              <a:p>
                <a:r>
                  <a:rPr lang="zh-CN" altLang="en-US"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CN" altLang="en-US" sz="2000" i="1" smtClean="0">
                            <a:latin typeface="Cambria Math" panose="02040503050406030204" pitchFamily="18" charset="0"/>
                          </a:rPr>
                        </m:ctrlPr>
                      </m:sSubPr>
                      <m:e>
                        <m:r>
                          <a:rPr lang="zh-CN" altLang="en-US" sz="2000" i="1">
                            <a:latin typeface="Cambria Math" panose="02040503050406030204" pitchFamily="18" charset="0"/>
                          </a:rPr>
                          <m:t>𝜆</m:t>
                        </m:r>
                      </m:e>
                      <m:sub>
                        <m:r>
                          <a:rPr lang="zh-CN" altLang="en-US" sz="2000" i="1">
                            <a:latin typeface="Cambria Math" panose="02040503050406030204" pitchFamily="18" charset="0"/>
                          </a:rPr>
                          <m:t>𝑗</m:t>
                        </m:r>
                      </m:sub>
                    </m:sSub>
                  </m:oMath>
                </a14:m>
                <a:r>
                  <a:rPr lang="zh-CN" altLang="en-US" sz="2000" dirty="0">
                    <a:latin typeface="Times New Roman" panose="02020603050405020304" pitchFamily="18" charset="0"/>
                    <a:cs typeface="Times New Roman" panose="02020603050405020304" pitchFamily="18" charset="0"/>
                  </a:rPr>
                  <a:t> 是矩阵</a:t>
                </a:r>
                <a:r>
                  <a:rPr lang="en-US" altLang="zh-CN" sz="2000" dirty="0">
                    <a:latin typeface="Times New Roman" panose="02020603050405020304" pitchFamily="18" charset="0"/>
                    <a:cs typeface="Times New Roman" panose="02020603050405020304" pitchFamily="18" charset="0"/>
                  </a:rPr>
                  <a:t>R</a:t>
                </a:r>
                <a:r>
                  <a:rPr lang="zh-CN" altLang="en-US" sz="2000" dirty="0">
                    <a:latin typeface="Times New Roman" panose="02020603050405020304" pitchFamily="18" charset="0"/>
                    <a:cs typeface="Times New Roman" panose="02020603050405020304" pitchFamily="18" charset="0"/>
                  </a:rPr>
                  <a:t>的特征值。</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19" name="矩形 18"/>
              <p:cNvSpPr>
                <a:spLocks noRot="1" noChangeAspect="1" noMove="1" noResize="1" noEditPoints="1" noAdjustHandles="1" noChangeArrowheads="1" noChangeShapeType="1" noTextEdit="1"/>
              </p:cNvSpPr>
              <p:nvPr/>
            </p:nvSpPr>
            <p:spPr>
              <a:xfrm>
                <a:off x="363184" y="5273813"/>
                <a:ext cx="5197469" cy="757259"/>
              </a:xfrm>
              <a:prstGeom prst="rect">
                <a:avLst/>
              </a:prstGeom>
              <a:blipFill>
                <a:blip r:embed="rId15"/>
                <a:stretch>
                  <a:fillRect l="-1291" t="-6452" r="-469" b="-10484"/>
                </a:stretch>
              </a:blipFill>
            </p:spPr>
            <p:txBody>
              <a:bodyPr/>
              <a:lstStyle/>
              <a:p>
                <a:r>
                  <a:rPr lang="zh-CN" altLang="en-US">
                    <a:noFill/>
                  </a:rPr>
                  <a:t> </a:t>
                </a:r>
              </a:p>
            </p:txBody>
          </p:sp>
        </mc:Fallback>
      </mc:AlternateContent>
      <p:graphicFrame>
        <p:nvGraphicFramePr>
          <p:cNvPr id="10" name="对象 9"/>
          <p:cNvGraphicFramePr>
            <a:graphicFrameLocks noChangeAspect="1"/>
          </p:cNvGraphicFramePr>
          <p:nvPr>
            <p:extLst>
              <p:ext uri="{D42A27DB-BD31-4B8C-83A1-F6EECF244321}">
                <p14:modId xmlns:p14="http://schemas.microsoft.com/office/powerpoint/2010/main" val="776958525"/>
              </p:ext>
            </p:extLst>
          </p:nvPr>
        </p:nvGraphicFramePr>
        <p:xfrm>
          <a:off x="3993062" y="5295021"/>
          <a:ext cx="1164203" cy="409627"/>
        </p:xfrm>
        <a:graphic>
          <a:graphicData uri="http://schemas.openxmlformats.org/presentationml/2006/ole">
            <mc:AlternateContent xmlns:mc="http://schemas.openxmlformats.org/markup-compatibility/2006">
              <mc:Choice xmlns:v="urn:schemas-microsoft-com:vml" Requires="v">
                <p:oleObj spid="_x0000_s356595" name="Equation" r:id="rId16" imgW="685800" imgH="241200" progId="Equation.DSMT4">
                  <p:embed/>
                </p:oleObj>
              </mc:Choice>
              <mc:Fallback>
                <p:oleObj name="Equation" r:id="rId16" imgW="685800" imgH="241200" progId="Equation.DSMT4">
                  <p:embed/>
                  <p:pic>
                    <p:nvPicPr>
                      <p:cNvPr id="10" name="对象 9"/>
                      <p:cNvPicPr/>
                      <p:nvPr/>
                    </p:nvPicPr>
                    <p:blipFill>
                      <a:blip r:embed="rId17"/>
                      <a:stretch>
                        <a:fillRect/>
                      </a:stretch>
                    </p:blipFill>
                    <p:spPr>
                      <a:xfrm>
                        <a:off x="3993062" y="5295021"/>
                        <a:ext cx="1164203" cy="409627"/>
                      </a:xfrm>
                      <a:prstGeom prst="rect">
                        <a:avLst/>
                      </a:prstGeom>
                    </p:spPr>
                  </p:pic>
                </p:oleObj>
              </mc:Fallback>
            </mc:AlternateContent>
          </a:graphicData>
        </a:graphic>
      </p:graphicFrame>
      <p:sp>
        <p:nvSpPr>
          <p:cNvPr id="20" name="矩形 19"/>
          <p:cNvSpPr/>
          <p:nvPr/>
        </p:nvSpPr>
        <p:spPr>
          <a:xfrm>
            <a:off x="1075794" y="5980570"/>
            <a:ext cx="11018192" cy="400110"/>
          </a:xfrm>
          <a:prstGeom prst="rect">
            <a:avLst/>
          </a:prstGeom>
        </p:spPr>
        <p:txBody>
          <a:bodyPr wrap="square">
            <a:spAutoFit/>
          </a:bodyPr>
          <a:lstStyle/>
          <a:p>
            <a:r>
              <a:rPr lang="zh-CN" altLang="en-US" sz="2000" dirty="0">
                <a:latin typeface="Times New Roman" panose="02020603050405020304" pitchFamily="18" charset="0"/>
                <a:cs typeface="Times New Roman" panose="02020603050405020304" pitchFamily="18" charset="0"/>
              </a:rPr>
              <a:t>均方误差为：</a:t>
            </a:r>
            <a:endParaRPr lang="en-US" altLang="zh-CN" sz="2000" dirty="0">
              <a:latin typeface="Times New Roman" panose="02020603050405020304" pitchFamily="18" charset="0"/>
              <a:cs typeface="Times New Roman" panose="02020603050405020304" pitchFamily="18" charset="0"/>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4124394745"/>
              </p:ext>
            </p:extLst>
          </p:nvPr>
        </p:nvGraphicFramePr>
        <p:xfrm>
          <a:off x="2701213" y="5859610"/>
          <a:ext cx="1008112" cy="665734"/>
        </p:xfrm>
        <a:graphic>
          <a:graphicData uri="http://schemas.openxmlformats.org/presentationml/2006/ole">
            <mc:AlternateContent xmlns:mc="http://schemas.openxmlformats.org/markup-compatibility/2006">
              <mc:Choice xmlns:v="urn:schemas-microsoft-com:vml" Requires="v">
                <p:oleObj spid="_x0000_s356596" name="Equation" r:id="rId18" imgW="672840" imgH="444240" progId="Equation.DSMT4">
                  <p:embed/>
                </p:oleObj>
              </mc:Choice>
              <mc:Fallback>
                <p:oleObj name="Equation" r:id="rId18" imgW="672840" imgH="444240" progId="Equation.DSMT4">
                  <p:embed/>
                  <p:pic>
                    <p:nvPicPr>
                      <p:cNvPr id="12" name="对象 11"/>
                      <p:cNvPicPr/>
                      <p:nvPr/>
                    </p:nvPicPr>
                    <p:blipFill>
                      <a:blip r:embed="rId19"/>
                      <a:stretch>
                        <a:fillRect/>
                      </a:stretch>
                    </p:blipFill>
                    <p:spPr>
                      <a:xfrm>
                        <a:off x="2701213" y="5859610"/>
                        <a:ext cx="1008112" cy="665734"/>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2" name="内容占位符 2"/>
              <p:cNvSpPr txBox="1">
                <a:spLocks/>
              </p:cNvSpPr>
              <p:nvPr/>
            </p:nvSpPr>
            <p:spPr bwMode="gray">
              <a:xfrm>
                <a:off x="6963074" y="1206565"/>
                <a:ext cx="4670126" cy="23875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Font typeface="Wingdings" pitchFamily="2" charset="2"/>
                  <a:buNone/>
                </a:pPr>
                <a:r>
                  <a:rPr lang="zh-CN" altLang="en-US" sz="2000" kern="0" dirty="0">
                    <a:latin typeface="Times New Roman" panose="02020603050405020304" pitchFamily="18" charset="0"/>
                    <a:cs typeface="Times New Roman" panose="02020603050405020304" pitchFamily="18" charset="0"/>
                  </a:rPr>
                  <a:t>要</a:t>
                </a:r>
                <a:r>
                  <a:rPr lang="zh-CN" altLang="en-US" sz="2000" kern="0" dirty="0">
                    <a:solidFill>
                      <a:srgbClr val="0000FF"/>
                    </a:solidFill>
                    <a:latin typeface="Times New Roman" panose="02020603050405020304" pitchFamily="18" charset="0"/>
                    <a:cs typeface="Times New Roman" panose="02020603050405020304" pitchFamily="18" charset="0"/>
                  </a:rPr>
                  <a:t>用</a:t>
                </a:r>
                <a:r>
                  <a:rPr lang="en-US" altLang="zh-CN" sz="2000" kern="0" dirty="0">
                    <a:solidFill>
                      <a:srgbClr val="0000FF"/>
                    </a:solidFill>
                    <a:latin typeface="Times New Roman" panose="02020603050405020304" pitchFamily="18" charset="0"/>
                    <a:cs typeface="Times New Roman" panose="02020603050405020304" pitchFamily="18" charset="0"/>
                  </a:rPr>
                  <a:t>d</a:t>
                </a:r>
                <a:r>
                  <a:rPr lang="zh-CN" altLang="en-US" sz="2000" kern="0" dirty="0">
                    <a:solidFill>
                      <a:srgbClr val="0000FF"/>
                    </a:solidFill>
                    <a:latin typeface="Times New Roman" panose="02020603050405020304" pitchFamily="18" charset="0"/>
                    <a:cs typeface="Times New Roman" panose="02020603050405020304" pitchFamily="18" charset="0"/>
                  </a:rPr>
                  <a:t>个向量表示样本使均方误差最小</a:t>
                </a:r>
                <a:r>
                  <a:rPr lang="zh-CN" altLang="en-US" sz="2000" kern="0" dirty="0">
                    <a:latin typeface="Times New Roman" panose="02020603050405020304" pitchFamily="18" charset="0"/>
                    <a:cs typeface="Times New Roman" panose="02020603050405020304" pitchFamily="18" charset="0"/>
                  </a:rPr>
                  <a:t>，把矩阵</a:t>
                </a:r>
                <a:r>
                  <a:rPr lang="en-US" altLang="zh-CN" sz="2000" kern="0" dirty="0">
                    <a:latin typeface="Times New Roman" panose="02020603050405020304" pitchFamily="18" charset="0"/>
                    <a:cs typeface="Times New Roman" panose="02020603050405020304" pitchFamily="18" charset="0"/>
                  </a:rPr>
                  <a:t>R</a:t>
                </a:r>
                <a:r>
                  <a:rPr lang="zh-CN" altLang="en-US" sz="2000" kern="0" dirty="0">
                    <a:latin typeface="Times New Roman" panose="02020603050405020304" pitchFamily="18" charset="0"/>
                    <a:cs typeface="Times New Roman" panose="02020603050405020304" pitchFamily="18" charset="0"/>
                  </a:rPr>
                  <a:t>的特征值按从大到小的顺序排列，</a:t>
                </a:r>
                <a:r>
                  <a:rPr lang="zh-CN" altLang="en-US" sz="2000" kern="0" dirty="0">
                    <a:solidFill>
                      <a:srgbClr val="0000FF"/>
                    </a:solidFill>
                    <a:latin typeface="Times New Roman" panose="02020603050405020304" pitchFamily="18" charset="0"/>
                    <a:cs typeface="Times New Roman" panose="02020603050405020304" pitchFamily="18" charset="0"/>
                  </a:rPr>
                  <a:t>选择前</a:t>
                </a:r>
                <a:r>
                  <a:rPr lang="en-US" altLang="zh-CN" sz="2000" kern="0" dirty="0">
                    <a:solidFill>
                      <a:srgbClr val="0000FF"/>
                    </a:solidFill>
                    <a:latin typeface="Times New Roman" panose="02020603050405020304" pitchFamily="18" charset="0"/>
                    <a:cs typeface="Times New Roman" panose="02020603050405020304" pitchFamily="18" charset="0"/>
                  </a:rPr>
                  <a:t>d</a:t>
                </a:r>
                <a:r>
                  <a:rPr lang="zh-CN" altLang="en-US" sz="2000" kern="0" dirty="0">
                    <a:solidFill>
                      <a:srgbClr val="0000FF"/>
                    </a:solidFill>
                    <a:latin typeface="Times New Roman" panose="02020603050405020304" pitchFamily="18" charset="0"/>
                    <a:cs typeface="Times New Roman" panose="02020603050405020304" pitchFamily="18" charset="0"/>
                  </a:rPr>
                  <a:t>个特征值对应的特征向量</a:t>
                </a:r>
                <a:r>
                  <a:rPr lang="zh-CN" altLang="en-US" sz="2000" kern="0" dirty="0">
                    <a:latin typeface="Times New Roman" panose="02020603050405020304" pitchFamily="18" charset="0"/>
                    <a:cs typeface="Times New Roman" panose="02020603050405020304" pitchFamily="18" charset="0"/>
                  </a:rPr>
                  <a:t>。</a:t>
                </a:r>
                <a:endParaRPr lang="en-US" altLang="zh-CN" sz="2000" kern="0" dirty="0">
                  <a:latin typeface="Times New Roman" panose="02020603050405020304" pitchFamily="18" charset="0"/>
                  <a:cs typeface="Times New Roman" panose="02020603050405020304" pitchFamily="18" charset="0"/>
                </a:endParaRPr>
              </a:p>
              <a:p>
                <a:pPr marL="0" indent="0">
                  <a:buFont typeface="Wingdings" pitchFamily="2" charset="2"/>
                  <a:buNone/>
                </a:pPr>
                <a:endParaRPr lang="en-US" altLang="zh-CN" sz="2000" kern="0" dirty="0">
                  <a:cs typeface="Times New Roman" panose="02020603050405020304" pitchFamily="18" charset="0"/>
                </a:endParaRPr>
              </a:p>
              <a:p>
                <a:pPr marL="0" indent="0">
                  <a:buFont typeface="Wingdings" pitchFamily="2" charset="2"/>
                  <a:buNone/>
                </a:pPr>
                <a14:m>
                  <m:oMath xmlns:m="http://schemas.openxmlformats.org/officeDocument/2006/math">
                    <m:sSub>
                      <m:sSubPr>
                        <m:ctrlPr>
                          <a:rPr lang="en-US" altLang="zh-CN" sz="2000" i="1" kern="0">
                            <a:latin typeface="Cambria Math" panose="02040503050406030204" pitchFamily="18" charset="0"/>
                            <a:cs typeface="Times New Roman" panose="02020603050405020304" pitchFamily="18" charset="0"/>
                          </a:rPr>
                        </m:ctrlPr>
                      </m:sSubPr>
                      <m:e>
                        <m:r>
                          <a:rPr lang="en-US" altLang="zh-CN" sz="2000" i="1" kern="0">
                            <a:latin typeface="Cambria Math" panose="02040503050406030204" pitchFamily="18" charset="0"/>
                            <a:cs typeface="Times New Roman" panose="02020603050405020304" pitchFamily="18" charset="0"/>
                          </a:rPr>
                          <m:t>𝑢</m:t>
                        </m:r>
                      </m:e>
                      <m:sub>
                        <m:r>
                          <a:rPr lang="en-US" altLang="zh-CN" sz="2000" i="1" kern="0">
                            <a:latin typeface="Cambria Math" panose="02040503050406030204" pitchFamily="18" charset="0"/>
                            <a:cs typeface="Times New Roman" panose="02020603050405020304" pitchFamily="18" charset="0"/>
                          </a:rPr>
                          <m:t>𝑗</m:t>
                        </m:r>
                      </m:sub>
                    </m:sSub>
                    <m:r>
                      <a:rPr lang="zh-CN" altLang="en-US" sz="2000" i="1" kern="0">
                        <a:latin typeface="Cambria Math" panose="02040503050406030204" pitchFamily="18" charset="0"/>
                        <a:cs typeface="Times New Roman" panose="02020603050405020304" pitchFamily="18" charset="0"/>
                      </a:rPr>
                      <m:t>，</m:t>
                    </m:r>
                  </m:oMath>
                </a14:m>
                <a:r>
                  <a:rPr lang="en-US" altLang="zh-CN" sz="2000" kern="0" dirty="0">
                    <a:latin typeface="Times New Roman" panose="02020603050405020304" pitchFamily="18" charset="0"/>
                    <a:cs typeface="Times New Roman" panose="02020603050405020304" pitchFamily="18" charset="0"/>
                  </a:rPr>
                  <a:t>j=1,…,d</a:t>
                </a:r>
                <a:r>
                  <a:rPr lang="zh-CN" altLang="en-US" sz="2000" kern="0" dirty="0">
                    <a:latin typeface="Times New Roman" panose="02020603050405020304" pitchFamily="18" charset="0"/>
                    <a:cs typeface="Times New Roman" panose="02020603050405020304" pitchFamily="18" charset="0"/>
                  </a:rPr>
                  <a:t>组成了新的特征空间，</a:t>
                </a:r>
                <a14:m>
                  <m:oMath xmlns:m="http://schemas.openxmlformats.org/officeDocument/2006/math">
                    <m:sSub>
                      <m:sSubPr>
                        <m:ctrlPr>
                          <a:rPr lang="en-US" altLang="zh-CN" sz="2000" i="1" kern="0">
                            <a:latin typeface="Cambria Math" panose="02040503050406030204" pitchFamily="18" charset="0"/>
                          </a:rPr>
                        </m:ctrlPr>
                      </m:sSubPr>
                      <m:e>
                        <m:r>
                          <a:rPr lang="en-US" altLang="zh-CN" sz="2000" i="1" kern="0">
                            <a:latin typeface="Cambria Math" panose="02040503050406030204" pitchFamily="18" charset="0"/>
                          </a:rPr>
                          <m:t>𝑐</m:t>
                        </m:r>
                      </m:e>
                      <m:sub>
                        <m:r>
                          <a:rPr lang="en-US" altLang="zh-CN" sz="2000" i="1" kern="0">
                            <a:latin typeface="Cambria Math" panose="02040503050406030204" pitchFamily="18" charset="0"/>
                          </a:rPr>
                          <m:t>𝑗</m:t>
                        </m:r>
                      </m:sub>
                    </m:sSub>
                    <m:r>
                      <a:rPr lang="en-US" altLang="zh-CN" sz="2000" i="1" kern="0">
                        <a:latin typeface="Cambria Math" panose="02040503050406030204" pitchFamily="18" charset="0"/>
                      </a:rPr>
                      <m:t>=</m:t>
                    </m:r>
                    <m:sSubSup>
                      <m:sSubSupPr>
                        <m:ctrlPr>
                          <a:rPr lang="en-US" altLang="zh-CN" sz="2000" i="1" kern="0">
                            <a:latin typeface="Cambria Math" panose="02040503050406030204" pitchFamily="18" charset="0"/>
                            <a:cs typeface="Times New Roman" panose="02020603050405020304" pitchFamily="18" charset="0"/>
                          </a:rPr>
                        </m:ctrlPr>
                      </m:sSubSupPr>
                      <m:e>
                        <m:r>
                          <m:rPr>
                            <m:sty m:val="p"/>
                          </m:rPr>
                          <a:rPr lang="en-US" altLang="zh-CN" sz="2000" i="1" kern="0">
                            <a:latin typeface="Cambria Math" panose="02040503050406030204" pitchFamily="18" charset="0"/>
                            <a:cs typeface="Times New Roman" panose="02020603050405020304" pitchFamily="18" charset="0"/>
                          </a:rPr>
                          <m:t>u</m:t>
                        </m:r>
                      </m:e>
                      <m:sub>
                        <m:r>
                          <a:rPr lang="en-US" altLang="zh-CN" sz="2000" i="1" kern="0">
                            <a:latin typeface="Cambria Math" panose="02040503050406030204" pitchFamily="18" charset="0"/>
                            <a:cs typeface="Times New Roman" panose="02020603050405020304" pitchFamily="18" charset="0"/>
                          </a:rPr>
                          <m:t>𝑗</m:t>
                        </m:r>
                      </m:sub>
                      <m:sup>
                        <m:r>
                          <a:rPr lang="en-US" altLang="zh-CN" sz="2000" i="1" kern="0">
                            <a:latin typeface="Cambria Math" panose="02040503050406030204" pitchFamily="18" charset="0"/>
                            <a:cs typeface="Times New Roman" panose="02020603050405020304" pitchFamily="18" charset="0"/>
                          </a:rPr>
                          <m:t>𝑇</m:t>
                        </m:r>
                      </m:sup>
                    </m:sSubSup>
                    <m:r>
                      <a:rPr lang="en-US" altLang="zh-CN" sz="2000" i="1" kern="0">
                        <a:latin typeface="Cambria Math" panose="02040503050406030204" pitchFamily="18" charset="0"/>
                        <a:cs typeface="Times New Roman" panose="02020603050405020304" pitchFamily="18" charset="0"/>
                      </a:rPr>
                      <m:t>𝑥</m:t>
                    </m:r>
                  </m:oMath>
                </a14:m>
                <a:r>
                  <a:rPr lang="zh-CN" altLang="en-US" sz="2000" kern="0" dirty="0">
                    <a:latin typeface="Times New Roman" panose="02020603050405020304" pitchFamily="18" charset="0"/>
                    <a:cs typeface="Times New Roman" panose="02020603050405020304" pitchFamily="18" charset="0"/>
                  </a:rPr>
                  <a:t>，</a:t>
                </a:r>
                <a:r>
                  <a:rPr lang="en-US" altLang="zh-CN" sz="2000" kern="0" dirty="0">
                    <a:latin typeface="Times New Roman" panose="02020603050405020304" pitchFamily="18" charset="0"/>
                    <a:cs typeface="Times New Roman" panose="02020603050405020304" pitchFamily="18" charset="0"/>
                  </a:rPr>
                  <a:t> j=1,…,d</a:t>
                </a:r>
                <a:r>
                  <a:rPr lang="zh-CN" altLang="en-US" sz="2000" kern="0" dirty="0">
                    <a:latin typeface="Times New Roman" panose="02020603050405020304" pitchFamily="18" charset="0"/>
                    <a:cs typeface="Times New Roman" panose="02020603050405020304" pitchFamily="18" charset="0"/>
                  </a:rPr>
                  <a:t>组成了</a:t>
                </a:r>
                <a:r>
                  <a:rPr lang="zh-CN" altLang="en-US" sz="2000" kern="0" dirty="0">
                    <a:solidFill>
                      <a:srgbClr val="0000FF"/>
                    </a:solidFill>
                    <a:latin typeface="Times New Roman" panose="02020603050405020304" pitchFamily="18" charset="0"/>
                    <a:cs typeface="Times New Roman" panose="02020603050405020304" pitchFamily="18" charset="0"/>
                  </a:rPr>
                  <a:t>样本的新的特征向量</a:t>
                </a:r>
                <a:r>
                  <a:rPr lang="zh-CN" altLang="en-US" sz="2000" kern="0" dirty="0">
                    <a:latin typeface="Times New Roman" panose="02020603050405020304" pitchFamily="18" charset="0"/>
                    <a:cs typeface="Times New Roman" panose="02020603050405020304" pitchFamily="18" charset="0"/>
                  </a:rPr>
                  <a:t>，</a:t>
                </a:r>
                <a:r>
                  <a:rPr lang="zh-CN" altLang="en-US" sz="2000" kern="0" dirty="0">
                    <a:solidFill>
                      <a:srgbClr val="0000FF"/>
                    </a:solidFill>
                    <a:latin typeface="Times New Roman" panose="02020603050405020304" pitchFamily="18" charset="0"/>
                    <a:cs typeface="Times New Roman" panose="02020603050405020304" pitchFamily="18" charset="0"/>
                  </a:rPr>
                  <a:t>矩阵</a:t>
                </a:r>
                <a:r>
                  <a:rPr lang="en-US" altLang="zh-CN" sz="2000" kern="0" dirty="0">
                    <a:solidFill>
                      <a:srgbClr val="0000FF"/>
                    </a:solidFill>
                    <a:latin typeface="Times New Roman" panose="02020603050405020304" pitchFamily="18" charset="0"/>
                    <a:cs typeface="Times New Roman" panose="02020603050405020304" pitchFamily="18" charset="0"/>
                  </a:rPr>
                  <a:t>R</a:t>
                </a:r>
                <a:r>
                  <a:rPr lang="zh-CN" altLang="en-US" sz="2000" kern="0" dirty="0">
                    <a:solidFill>
                      <a:srgbClr val="0000FF"/>
                    </a:solidFill>
                    <a:latin typeface="Times New Roman" panose="02020603050405020304" pitchFamily="18" charset="0"/>
                    <a:cs typeface="Times New Roman" panose="02020603050405020304" pitchFamily="18" charset="0"/>
                  </a:rPr>
                  <a:t>称为</a:t>
                </a:r>
                <a:r>
                  <a:rPr lang="en-US" altLang="zh-CN" sz="2000" kern="0" dirty="0">
                    <a:solidFill>
                      <a:srgbClr val="0000FF"/>
                    </a:solidFill>
                    <a:latin typeface="Times New Roman" panose="02020603050405020304" pitchFamily="18" charset="0"/>
                    <a:cs typeface="Times New Roman" panose="02020603050405020304" pitchFamily="18" charset="0"/>
                  </a:rPr>
                  <a:t>K-L</a:t>
                </a:r>
                <a:r>
                  <a:rPr lang="zh-CN" altLang="en-US" sz="2000" kern="0" dirty="0">
                    <a:solidFill>
                      <a:srgbClr val="0000FF"/>
                    </a:solidFill>
                    <a:latin typeface="Times New Roman" panose="02020603050405020304" pitchFamily="18" charset="0"/>
                    <a:cs typeface="Times New Roman" panose="02020603050405020304" pitchFamily="18" charset="0"/>
                  </a:rPr>
                  <a:t>变换的产生矩阵</a:t>
                </a:r>
                <a:r>
                  <a:rPr lang="zh-CN" altLang="en-US" sz="2000" kern="0" dirty="0">
                    <a:latin typeface="Times New Roman" panose="02020603050405020304" pitchFamily="18" charset="0"/>
                    <a:cs typeface="Times New Roman" panose="02020603050405020304" pitchFamily="18" charset="0"/>
                  </a:rPr>
                  <a:t>。</a:t>
                </a:r>
                <a:endParaRPr lang="en-US" altLang="zh-CN" sz="2000" kern="0" dirty="0">
                  <a:latin typeface="Times New Roman" panose="02020603050405020304" pitchFamily="18" charset="0"/>
                  <a:cs typeface="Times New Roman" panose="02020603050405020304" pitchFamily="18" charset="0"/>
                </a:endParaRPr>
              </a:p>
              <a:p>
                <a:pPr marL="0" indent="0">
                  <a:buFont typeface="Wingdings" pitchFamily="2" charset="2"/>
                  <a:buNone/>
                </a:pPr>
                <a:endParaRPr lang="en-US" altLang="zh-CN" sz="2000" kern="0" dirty="0">
                  <a:latin typeface="Times New Roman" panose="02020603050405020304" pitchFamily="18" charset="0"/>
                  <a:cs typeface="Times New Roman" panose="02020603050405020304" pitchFamily="18" charset="0"/>
                </a:endParaRPr>
              </a:p>
              <a:p>
                <a:pPr marL="0" indent="0">
                  <a:buFont typeface="Wingdings" pitchFamily="2" charset="2"/>
                  <a:buNone/>
                </a:pPr>
                <a:endParaRPr lang="zh-CN" altLang="en-US" sz="2000" kern="0" dirty="0">
                  <a:latin typeface="Times New Roman" panose="02020603050405020304" pitchFamily="18" charset="0"/>
                  <a:cs typeface="Times New Roman" panose="02020603050405020304" pitchFamily="18" charset="0"/>
                </a:endParaRPr>
              </a:p>
            </p:txBody>
          </p:sp>
        </mc:Choice>
        <mc:Fallback xmlns="">
          <p:sp>
            <p:nvSpPr>
              <p:cNvPr id="22" name="内容占位符 2"/>
              <p:cNvSpPr txBox="1">
                <a:spLocks noRot="1" noChangeAspect="1" noMove="1" noResize="1" noEditPoints="1" noAdjustHandles="1" noChangeArrowheads="1" noChangeShapeType="1" noTextEdit="1"/>
              </p:cNvSpPr>
              <p:nvPr/>
            </p:nvSpPr>
            <p:spPr bwMode="gray">
              <a:xfrm>
                <a:off x="6963074" y="1206565"/>
                <a:ext cx="4670126" cy="2387538"/>
              </a:xfrm>
              <a:prstGeom prst="rect">
                <a:avLst/>
              </a:prstGeom>
              <a:blipFill>
                <a:blip r:embed="rId20"/>
                <a:stretch>
                  <a:fillRect l="-1305" t="-2041" r="-914" b="-6378"/>
                </a:stretch>
              </a:blipFill>
              <a:ln w="9525">
                <a:noFill/>
                <a:miter lim="800000"/>
                <a:headEnd/>
                <a:tailEnd/>
              </a:ln>
            </p:spPr>
            <p:txBody>
              <a:bodyPr/>
              <a:lstStyle/>
              <a:p>
                <a:r>
                  <a:rPr lang="zh-CN" altLang="en-US">
                    <a:noFill/>
                  </a:rPr>
                  <a:t> </a:t>
                </a:r>
              </a:p>
            </p:txBody>
          </p:sp>
        </mc:Fallback>
      </mc:AlternateContent>
      <p:sp>
        <p:nvSpPr>
          <p:cNvPr id="23" name="矩形 22"/>
          <p:cNvSpPr/>
          <p:nvPr/>
        </p:nvSpPr>
        <p:spPr>
          <a:xfrm>
            <a:off x="6746071" y="4084704"/>
            <a:ext cx="5445929" cy="1938992"/>
          </a:xfrm>
          <a:prstGeom prst="rect">
            <a:avLst/>
          </a:prstGeom>
        </p:spPr>
        <p:txBody>
          <a:bodyPr wrap="square">
            <a:spAutoFit/>
          </a:bodyPr>
          <a:lstStyle/>
          <a:p>
            <a:r>
              <a:rPr lang="en-US" altLang="zh-CN" sz="2000" dirty="0">
                <a:latin typeface="Times New Roman" panose="02020603050405020304" pitchFamily="18" charset="0"/>
                <a:cs typeface="Times New Roman" panose="02020603050405020304" pitchFamily="18" charset="0"/>
              </a:rPr>
              <a:t>K-L</a:t>
            </a:r>
            <a:r>
              <a:rPr lang="zh-CN" altLang="en-US" sz="2000" dirty="0">
                <a:latin typeface="Times New Roman" panose="02020603050405020304" pitchFamily="18" charset="0"/>
                <a:cs typeface="Times New Roman" panose="02020603050405020304" pitchFamily="18" charset="0"/>
              </a:rPr>
              <a:t>变换的性质：</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K-L</a:t>
            </a:r>
            <a:r>
              <a:rPr lang="zh-CN" altLang="en-US" sz="2000" dirty="0">
                <a:latin typeface="Times New Roman" panose="02020603050405020304" pitchFamily="18" charset="0"/>
                <a:cs typeface="Times New Roman" panose="02020603050405020304" pitchFamily="18" charset="0"/>
              </a:rPr>
              <a:t>变换是信号的最佳压缩表示；</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 K-L</a:t>
            </a:r>
            <a:r>
              <a:rPr lang="zh-CN" altLang="en-US" sz="2000" dirty="0">
                <a:latin typeface="Times New Roman" panose="02020603050405020304" pitchFamily="18" charset="0"/>
                <a:cs typeface="Times New Roman" panose="02020603050405020304" pitchFamily="18" charset="0"/>
              </a:rPr>
              <a:t>变换的新特征是互不相关的；</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用</a:t>
            </a:r>
            <a:r>
              <a:rPr lang="en-US" altLang="zh-CN" sz="2000" dirty="0">
                <a:latin typeface="Times New Roman" panose="02020603050405020304" pitchFamily="18" charset="0"/>
                <a:cs typeface="Times New Roman" panose="02020603050405020304" pitchFamily="18" charset="0"/>
              </a:rPr>
              <a:t>K-L</a:t>
            </a:r>
            <a:r>
              <a:rPr lang="zh-CN" altLang="en-US" sz="2000" dirty="0">
                <a:latin typeface="Times New Roman" panose="02020603050405020304" pitchFamily="18" charset="0"/>
                <a:cs typeface="Times New Roman" panose="02020603050405020304" pitchFamily="18" charset="0"/>
              </a:rPr>
              <a:t>坐标系来表示原数据，表示熵最小；</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 用特征值最小的</a:t>
            </a:r>
            <a:r>
              <a:rPr lang="en-US" altLang="zh-CN" sz="2000" dirty="0">
                <a:latin typeface="Times New Roman" panose="02020603050405020304" pitchFamily="18" charset="0"/>
                <a:cs typeface="Times New Roman" panose="02020603050405020304" pitchFamily="18" charset="0"/>
              </a:rPr>
              <a:t>K-L</a:t>
            </a:r>
            <a:r>
              <a:rPr lang="zh-CN" altLang="en-US" sz="2000" dirty="0">
                <a:latin typeface="Times New Roman" panose="02020603050405020304" pitchFamily="18" charset="0"/>
                <a:cs typeface="Times New Roman" panose="02020603050405020304" pitchFamily="18" charset="0"/>
              </a:rPr>
              <a:t>变换坐标来表示原数据，则总体熵最小。</a:t>
            </a:r>
            <a:endParaRPr lang="en-US" altLang="zh-CN" sz="2000" dirty="0">
              <a:latin typeface="Times New Roman" panose="02020603050405020304" pitchFamily="18" charset="0"/>
              <a:cs typeface="Times New Roman" panose="02020603050405020304" pitchFamily="18" charset="0"/>
            </a:endParaRPr>
          </a:p>
        </p:txBody>
      </p:sp>
      <p:sp>
        <p:nvSpPr>
          <p:cNvPr id="27" name="矩形 26"/>
          <p:cNvSpPr/>
          <p:nvPr/>
        </p:nvSpPr>
        <p:spPr>
          <a:xfrm>
            <a:off x="227497" y="1007245"/>
            <a:ext cx="3198311" cy="369332"/>
          </a:xfrm>
          <a:prstGeom prst="rect">
            <a:avLst/>
          </a:prstGeom>
        </p:spPr>
        <p:txBody>
          <a:bodyPr wrap="none">
            <a:spAutoFit/>
          </a:bodyPr>
          <a:lstStyle/>
          <a:p>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solidFill>
                  <a:srgbClr val="FF0000"/>
                </a:solidFill>
              </a:rPr>
              <a:t>最优描述的</a:t>
            </a:r>
            <a:r>
              <a:rPr lang="en-US" altLang="zh-CN" dirty="0">
                <a:solidFill>
                  <a:srgbClr val="FF0000"/>
                </a:solidFill>
              </a:rPr>
              <a:t>K-L</a:t>
            </a:r>
            <a:r>
              <a:rPr lang="zh-CN" altLang="en-US" dirty="0">
                <a:solidFill>
                  <a:srgbClr val="FF0000"/>
                </a:solidFill>
              </a:rPr>
              <a:t>变换（续）</a:t>
            </a:r>
          </a:p>
        </p:txBody>
      </p:sp>
    </p:spTree>
    <p:extLst>
      <p:ext uri="{BB962C8B-B14F-4D97-AF65-F5344CB8AC3E}">
        <p14:creationId xmlns:p14="http://schemas.microsoft.com/office/powerpoint/2010/main" val="19946624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64835" y="966253"/>
            <a:ext cx="11277600" cy="5334000"/>
          </a:xfrm>
        </p:spPr>
        <p:txBody>
          <a:bodyPr/>
          <a:lstStyle/>
          <a:p>
            <a:pPr marL="0" indent="0">
              <a:buNone/>
            </a:pPr>
            <a:r>
              <a:rPr lang="en-US" altLang="zh-CN" sz="2000" dirty="0">
                <a:latin typeface="Times New Roman" panose="02020603050405020304" pitchFamily="18" charset="0"/>
                <a:cs typeface="Times New Roman" panose="02020603050405020304" pitchFamily="18" charset="0"/>
              </a:rPr>
              <a:t>K-L</a:t>
            </a:r>
            <a:r>
              <a:rPr lang="zh-CN" altLang="en-US" sz="2000" dirty="0">
                <a:latin typeface="Times New Roman" panose="02020603050405020304" pitchFamily="18" charset="0"/>
                <a:cs typeface="Times New Roman" panose="02020603050405020304" pitchFamily="18" charset="0"/>
              </a:rPr>
              <a:t>变换：是</a:t>
            </a:r>
            <a:r>
              <a:rPr lang="zh-CN" altLang="en-US" sz="2000" dirty="0">
                <a:solidFill>
                  <a:srgbClr val="7030A0"/>
                </a:solidFill>
                <a:latin typeface="Times New Roman" panose="02020603050405020304" pitchFamily="18" charset="0"/>
                <a:cs typeface="Times New Roman" panose="02020603050405020304" pitchFamily="18" charset="0"/>
              </a:rPr>
              <a:t>均方误差（</a:t>
            </a:r>
            <a:r>
              <a:rPr lang="en-US" altLang="zh-CN" sz="2000" dirty="0">
                <a:solidFill>
                  <a:srgbClr val="7030A0"/>
                </a:solidFill>
                <a:latin typeface="Times New Roman" panose="02020603050405020304" pitchFamily="18" charset="0"/>
                <a:cs typeface="Times New Roman" panose="02020603050405020304" pitchFamily="18" charset="0"/>
              </a:rPr>
              <a:t>MSE</a:t>
            </a:r>
            <a:r>
              <a:rPr lang="zh-CN" altLang="en-US" sz="2000" dirty="0">
                <a:solidFill>
                  <a:srgbClr val="7030A0"/>
                </a:solidFill>
                <a:latin typeface="Times New Roman" panose="02020603050405020304" pitchFamily="18" charset="0"/>
                <a:cs typeface="Times New Roman" panose="02020603050405020304" pitchFamily="18" charset="0"/>
              </a:rPr>
              <a:t>）意义下的最佳变换</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K-L</a:t>
            </a:r>
            <a:r>
              <a:rPr lang="zh-CN" altLang="en-US" sz="2000" dirty="0">
                <a:latin typeface="Times New Roman" panose="02020603050405020304" pitchFamily="18" charset="0"/>
                <a:cs typeface="Times New Roman" panose="02020603050405020304" pitchFamily="18" charset="0"/>
              </a:rPr>
              <a:t>变换要把所有的类别放在一起变换，希望通过一次性变换，让类间距离大，便于类别区分。因此对应于</a:t>
            </a:r>
            <a:r>
              <a:rPr lang="en-US" altLang="zh-CN" sz="2000" dirty="0">
                <a:latin typeface="Times New Roman" panose="02020603050405020304" pitchFamily="18" charset="0"/>
                <a:cs typeface="Times New Roman" panose="02020603050405020304" pitchFamily="18" charset="0"/>
              </a:rPr>
              <a:t>2</a:t>
            </a:r>
            <a:r>
              <a:rPr lang="zh-CN" altLang="en-US" sz="2000">
                <a:latin typeface="Times New Roman" panose="02020603050405020304" pitchFamily="18" charset="0"/>
                <a:cs typeface="Times New Roman" panose="02020603050405020304" pitchFamily="18" charset="0"/>
              </a:rPr>
              <a:t>类问题的</a:t>
            </a:r>
            <a:r>
              <a:rPr lang="en-US" altLang="zh-CN" sz="2000" dirty="0">
                <a:latin typeface="Times New Roman" panose="02020603050405020304" pitchFamily="18" charset="0"/>
                <a:cs typeface="Times New Roman" panose="02020603050405020304" pitchFamily="18" charset="0"/>
              </a:rPr>
              <a:t>K-L</a:t>
            </a:r>
            <a:r>
              <a:rPr lang="zh-CN" altLang="en-US" sz="2000" dirty="0">
                <a:latin typeface="Times New Roman" panose="02020603050405020304" pitchFamily="18" charset="0"/>
                <a:cs typeface="Times New Roman" panose="02020603050405020304" pitchFamily="18" charset="0"/>
              </a:rPr>
              <a:t>变换。</a:t>
            </a:r>
            <a:endParaRPr lang="en-US" altLang="zh-CN" sz="2000" dirty="0">
              <a:latin typeface="Times New Roman" panose="02020603050405020304" pitchFamily="18" charset="0"/>
              <a:cs typeface="Times New Roman" panose="02020603050405020304" pitchFamily="18" charset="0"/>
            </a:endParaRPr>
          </a:p>
          <a:p>
            <a:pPr marL="0" indent="0">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2" name="图片 11"/>
          <p:cNvPicPr>
            <a:picLocks noChangeAspect="1"/>
          </p:cNvPicPr>
          <p:nvPr/>
        </p:nvPicPr>
        <p:blipFill>
          <a:blip r:embed="rId4"/>
          <a:stretch>
            <a:fillRect/>
          </a:stretch>
        </p:blipFill>
        <p:spPr>
          <a:xfrm>
            <a:off x="787078" y="1702919"/>
            <a:ext cx="3214327" cy="2085329"/>
          </a:xfrm>
          <a:prstGeom prst="rect">
            <a:avLst/>
          </a:prstGeom>
        </p:spPr>
      </p:pic>
      <p:sp>
        <p:nvSpPr>
          <p:cNvPr id="2" name="标题 1"/>
          <p:cNvSpPr>
            <a:spLocks noGrp="1"/>
          </p:cNvSpPr>
          <p:nvPr>
            <p:ph type="title"/>
          </p:nvPr>
        </p:nvSpPr>
        <p:spPr>
          <a:xfrm>
            <a:off x="47328" y="117240"/>
            <a:ext cx="9379768" cy="563563"/>
          </a:xfrm>
        </p:spPr>
        <p:txBody>
          <a:bodyPr/>
          <a:lstStyle/>
          <a:p>
            <a:r>
              <a:rPr lang="en-US" altLang="zh-CN" dirty="0">
                <a:latin typeface="Times New Roman" panose="02020603050405020304" pitchFamily="18" charset="0"/>
                <a:cs typeface="Times New Roman" panose="02020603050405020304" pitchFamily="18" charset="0"/>
              </a:rPr>
              <a:t>17.3 K-L</a:t>
            </a:r>
            <a:r>
              <a:rPr lang="zh-CN" altLang="zh-CN" dirty="0">
                <a:latin typeface="Times New Roman" panose="02020603050405020304" pitchFamily="18" charset="0"/>
                <a:cs typeface="Times New Roman" panose="02020603050405020304" pitchFamily="18" charset="0"/>
              </a:rPr>
              <a:t>变换方法</a:t>
            </a:r>
            <a:r>
              <a:rPr lang="en-US" altLang="zh-CN" dirty="0" err="1">
                <a:latin typeface="Bahnschrift Condensed" panose="020B0502040204020203" pitchFamily="34" charset="0"/>
                <a:cs typeface="Times New Roman" panose="02020603050405020304" pitchFamily="18" charset="0"/>
              </a:rPr>
              <a:t>Karhunen-Loeve</a:t>
            </a:r>
            <a:r>
              <a:rPr lang="en-US" altLang="zh-CN" dirty="0">
                <a:latin typeface="Bahnschrift Condensed" panose="020B0502040204020203" pitchFamily="34" charset="0"/>
                <a:cs typeface="Times New Roman" panose="02020603050405020304" pitchFamily="18" charset="0"/>
              </a:rPr>
              <a:t> transform</a:t>
            </a:r>
            <a:endParaRPr lang="zh-CN" altLang="en-US" dirty="0">
              <a:latin typeface="Bahnschrift Condensed" panose="020B0502040204020203" pitchFamily="34" charset="0"/>
              <a:cs typeface="Times New Roman" panose="02020603050405020304" pitchFamily="18" charset="0"/>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25</a:t>
            </a:fld>
            <a:endParaRPr lang="en-US" altLang="zh-CN" dirty="0"/>
          </a:p>
        </p:txBody>
      </p:sp>
      <p:pic>
        <p:nvPicPr>
          <p:cNvPr id="314370" name="Picture 2" descr="http://latex.codecogs.com/gif.latex?%5Csigma_%7Bi%7D%20%2Ci%20%3D%201%2C%5Ccdots%20%2C%5Cinft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16438" y="-90488"/>
            <a:ext cx="1181100" cy="1524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Object 19"/>
          <p:cNvGraphicFramePr>
            <a:graphicFrameLocks noChangeAspect="1"/>
          </p:cNvGraphicFramePr>
          <p:nvPr/>
        </p:nvGraphicFramePr>
        <p:xfrm>
          <a:off x="1283653" y="3417389"/>
          <a:ext cx="2232248" cy="431728"/>
        </p:xfrm>
        <a:graphic>
          <a:graphicData uri="http://schemas.openxmlformats.org/presentationml/2006/ole">
            <mc:AlternateContent xmlns:mc="http://schemas.openxmlformats.org/markup-compatibility/2006">
              <mc:Choice xmlns:v="urn:schemas-microsoft-com:vml" Requires="v">
                <p:oleObj spid="_x0000_s357512" name="Equation" r:id="rId6" imgW="1307880" imgH="253800" progId="Equation.DSMT4">
                  <p:embed/>
                </p:oleObj>
              </mc:Choice>
              <mc:Fallback>
                <p:oleObj name="Equation" r:id="rId6" imgW="1307880" imgH="253800" progId="Equation.DSMT4">
                  <p:embed/>
                  <p:pic>
                    <p:nvPicPr>
                      <p:cNvPr id="10" name="Object 19"/>
                      <p:cNvPicPr>
                        <a:picLocks noChangeAspect="1" noChangeArrowheads="1"/>
                      </p:cNvPicPr>
                      <p:nvPr/>
                    </p:nvPicPr>
                    <p:blipFill>
                      <a:blip r:embed="rId7"/>
                      <a:srcRect/>
                      <a:stretch>
                        <a:fillRect/>
                      </a:stretch>
                    </p:blipFill>
                    <p:spPr bwMode="auto">
                      <a:xfrm>
                        <a:off x="1283653" y="3417389"/>
                        <a:ext cx="2232248" cy="431728"/>
                      </a:xfrm>
                      <a:prstGeom prst="rect">
                        <a:avLst/>
                      </a:prstGeom>
                      <a:solidFill>
                        <a:schemeClr val="bg1"/>
                      </a:solidFill>
                    </p:spPr>
                  </p:pic>
                </p:oleObj>
              </mc:Fallback>
            </mc:AlternateContent>
          </a:graphicData>
        </a:graphic>
      </p:graphicFrame>
      <p:pic>
        <p:nvPicPr>
          <p:cNvPr id="315406" name="Picture 14" descr="http://latex.codecogs.com/gif.latex?%7b\Phi%20_%7bK%20-%20L%7d%7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187988" y="-76200"/>
            <a:ext cx="419100" cy="152400"/>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p:cNvSpPr/>
          <p:nvPr/>
        </p:nvSpPr>
        <p:spPr>
          <a:xfrm>
            <a:off x="5875638" y="1762695"/>
            <a:ext cx="5368760" cy="1938992"/>
          </a:xfrm>
          <a:prstGeom prst="rect">
            <a:avLst/>
          </a:prstGeom>
        </p:spPr>
        <p:txBody>
          <a:bodyPr wrap="square">
            <a:spAutoFit/>
          </a:bodyPr>
          <a:lstStyle/>
          <a:p>
            <a:pPr lvl="0" eaLnBrk="0" hangingPunct="0"/>
            <a:r>
              <a:rPr lang="zh-CN" altLang="zh-CN" sz="2000" dirty="0">
                <a:solidFill>
                  <a:srgbClr val="4D4D4D"/>
                </a:solidFill>
                <a:latin typeface="黑体" panose="02010609060101010101" pitchFamily="49" charset="-122"/>
                <a:ea typeface="黑体" panose="02010609060101010101" pitchFamily="49" charset="-122"/>
                <a:cs typeface="Times New Roman" panose="02020603050405020304" pitchFamily="18" charset="0"/>
              </a:rPr>
              <a:t>如果降维向</a:t>
            </a:r>
            <a:r>
              <a:rPr lang="zh-CN" altLang="en-US" sz="2000" dirty="0">
                <a:solidFill>
                  <a:srgbClr val="4D4D4D"/>
                </a:solidFill>
                <a:latin typeface="黑体" panose="02010609060101010101" pitchFamily="49" charset="-122"/>
                <a:ea typeface="黑体" panose="02010609060101010101" pitchFamily="49" charset="-122"/>
                <a:cs typeface="Times New Roman" panose="02020603050405020304" pitchFamily="18" charset="0"/>
              </a:rPr>
              <a:t>对</a:t>
            </a:r>
            <a:r>
              <a:rPr lang="el-GR" altLang="zh-CN" sz="2000" dirty="0">
                <a:solidFill>
                  <a:srgbClr val="4D4D4D"/>
                </a:solidFill>
                <a:latin typeface="黑体" panose="02010609060101010101" pitchFamily="49" charset="-122"/>
                <a:ea typeface="黑体" panose="02010609060101010101" pitchFamily="49" charset="-122"/>
                <a:cs typeface="Times New Roman" panose="02020603050405020304" pitchFamily="18" charset="0"/>
              </a:rPr>
              <a:t>Φ</a:t>
            </a:r>
            <a:r>
              <a:rPr lang="en-US" altLang="zh-CN" sz="2000" baseline="-25000" dirty="0">
                <a:solidFill>
                  <a:srgbClr val="4D4D4D"/>
                </a:solidFill>
                <a:latin typeface="黑体" panose="02010609060101010101" pitchFamily="49" charset="-122"/>
                <a:ea typeface="黑体" panose="02010609060101010101" pitchFamily="49" charset="-122"/>
                <a:cs typeface="Times New Roman" panose="02020603050405020304" pitchFamily="18" charset="0"/>
              </a:rPr>
              <a:t>2</a:t>
            </a:r>
            <a:r>
              <a:rPr lang="zh-CN" altLang="en-US" sz="2000" dirty="0">
                <a:solidFill>
                  <a:srgbClr val="4D4D4D"/>
                </a:solidFill>
                <a:latin typeface="黑体" panose="02010609060101010101" pitchFamily="49" charset="-122"/>
                <a:ea typeface="黑体" panose="02010609060101010101" pitchFamily="49" charset="-122"/>
                <a:cs typeface="Times New Roman" panose="02020603050405020304" pitchFamily="18" charset="0"/>
              </a:rPr>
              <a:t>轴投影，两类无法区分。如果对</a:t>
            </a:r>
            <a:r>
              <a:rPr lang="el-GR" altLang="zh-CN" sz="2000" dirty="0">
                <a:solidFill>
                  <a:srgbClr val="4D4D4D"/>
                </a:solidFill>
                <a:latin typeface="黑体" panose="02010609060101010101" pitchFamily="49" charset="-122"/>
                <a:ea typeface="黑体" panose="02010609060101010101" pitchFamily="49" charset="-122"/>
                <a:cs typeface="Times New Roman" panose="02020603050405020304" pitchFamily="18" charset="0"/>
              </a:rPr>
              <a:t>Φ</a:t>
            </a:r>
            <a:r>
              <a:rPr lang="en-US" altLang="zh-CN" sz="2000" baseline="-25000" dirty="0">
                <a:solidFill>
                  <a:srgbClr val="4D4D4D"/>
                </a:solidFill>
                <a:latin typeface="黑体" panose="02010609060101010101" pitchFamily="49" charset="-122"/>
                <a:ea typeface="黑体" panose="02010609060101010101" pitchFamily="49" charset="-122"/>
                <a:cs typeface="Times New Roman" panose="02020603050405020304" pitchFamily="18" charset="0"/>
              </a:rPr>
              <a:t>1</a:t>
            </a:r>
            <a:r>
              <a:rPr lang="zh-CN" altLang="zh-CN" sz="2000" dirty="0">
                <a:solidFill>
                  <a:srgbClr val="4D4D4D"/>
                </a:solidFill>
                <a:latin typeface="黑体" panose="02010609060101010101" pitchFamily="49" charset="-122"/>
                <a:ea typeface="黑体" panose="02010609060101010101" pitchFamily="49" charset="-122"/>
                <a:cs typeface="Times New Roman" panose="02020603050405020304" pitchFamily="18" charset="0"/>
              </a:rPr>
              <a:t>方向投影，得到2类之间的距离即为2条红线之间的距离，</a:t>
            </a:r>
            <a:r>
              <a:rPr lang="zh-CN" altLang="zh-CN" sz="20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但是这并不是相隔最远的投影方向</a:t>
            </a:r>
            <a:r>
              <a:rPr lang="zh-CN" altLang="zh-CN" sz="2000" dirty="0">
                <a:solidFill>
                  <a:srgbClr val="4D4D4D"/>
                </a:solidFill>
                <a:latin typeface="黑体" panose="02010609060101010101" pitchFamily="49" charset="-122"/>
                <a:ea typeface="黑体" panose="02010609060101010101" pitchFamily="49" charset="-122"/>
                <a:cs typeface="Times New Roman" panose="02020603050405020304" pitchFamily="18" charset="0"/>
              </a:rPr>
              <a:t>。将椭圆投影到</a:t>
            </a:r>
            <a:r>
              <a:rPr lang="en-US" altLang="zh-CN" sz="2000" i="1" dirty="0">
                <a:solidFill>
                  <a:srgbClr val="4D4D4D"/>
                </a:solidFill>
                <a:latin typeface="黑体" panose="02010609060101010101" pitchFamily="49" charset="-122"/>
                <a:ea typeface="黑体" panose="02010609060101010101" pitchFamily="49" charset="-122"/>
                <a:cs typeface="Times New Roman" panose="02020603050405020304" pitchFamily="18" charset="0"/>
              </a:rPr>
              <a:t>P</a:t>
            </a:r>
            <a:r>
              <a:rPr lang="en-US" altLang="zh-CN" sz="2000" i="1" baseline="-25000" dirty="0">
                <a:solidFill>
                  <a:srgbClr val="4D4D4D"/>
                </a:solidFill>
                <a:latin typeface="黑体" panose="02010609060101010101" pitchFamily="49" charset="-122"/>
                <a:ea typeface="黑体" panose="02010609060101010101" pitchFamily="49" charset="-122"/>
                <a:cs typeface="Times New Roman" panose="02020603050405020304" pitchFamily="18" charset="0"/>
              </a:rPr>
              <a:t>K-L</a:t>
            </a:r>
            <a:r>
              <a:rPr lang="zh-CN" altLang="zh-CN" sz="2000" dirty="0">
                <a:solidFill>
                  <a:srgbClr val="4D4D4D"/>
                </a:solidFill>
                <a:latin typeface="黑体" panose="02010609060101010101" pitchFamily="49" charset="-122"/>
                <a:ea typeface="黑体" panose="02010609060101010101" pitchFamily="49" charset="-122"/>
                <a:cs typeface="Times New Roman" panose="02020603050405020304" pitchFamily="18" charset="0"/>
              </a:rPr>
              <a:t>方向，得到2类之间的距离为2条绿线之间的距离。这个方向就是用自相关矩阵的统计平均得到的特征向量</a:t>
            </a:r>
            <a:r>
              <a:rPr lang="zh-CN" altLang="zh-CN" sz="2000" dirty="0">
                <a:latin typeface="黑体" panose="02010609060101010101" pitchFamily="49" charset="-122"/>
                <a:ea typeface="黑体" panose="02010609060101010101" pitchFamily="49" charset="-122"/>
              </a:rPr>
              <a:t>   </a:t>
            </a:r>
          </a:p>
        </p:txBody>
      </p:sp>
      <p:sp>
        <p:nvSpPr>
          <p:cNvPr id="14" name="Rectangle 16"/>
          <p:cNvSpPr>
            <a:spLocks noChangeArrowheads="1"/>
          </p:cNvSpPr>
          <p:nvPr/>
        </p:nvSpPr>
        <p:spPr bwMode="auto">
          <a:xfrm>
            <a:off x="6003635" y="82406"/>
            <a:ext cx="184731" cy="2923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sz="1300" dirty="0">
              <a:solidFill>
                <a:srgbClr val="4D4D4D"/>
              </a:solidFill>
              <a:latin typeface="Times New Roman" panose="02020603050405020304" pitchFamily="18" charset="0"/>
              <a:ea typeface="-apple-system"/>
              <a:cs typeface="Times New Roman" panose="02020603050405020304" pitchFamily="18" charset="0"/>
            </a:endParaRPr>
          </a:p>
        </p:txBody>
      </p:sp>
      <p:sp>
        <p:nvSpPr>
          <p:cNvPr id="17" name="矩形 16"/>
          <p:cNvSpPr/>
          <p:nvPr/>
        </p:nvSpPr>
        <p:spPr>
          <a:xfrm rot="584948">
            <a:off x="8888468" y="305938"/>
            <a:ext cx="1338828" cy="369332"/>
          </a:xfrm>
          <a:prstGeom prst="rect">
            <a:avLst/>
          </a:prstGeom>
          <a:solidFill>
            <a:schemeClr val="bg1"/>
          </a:solidFill>
          <a:ln>
            <a:solidFill>
              <a:srgbClr val="FF0000"/>
            </a:solidFill>
          </a:ln>
        </p:spPr>
        <p:txBody>
          <a:bodyPr wrap="none">
            <a:spAutoFit/>
          </a:bodyPr>
          <a:lstStyle/>
          <a:p>
            <a:r>
              <a:rPr lang="zh-CN" altLang="en-US" dirty="0">
                <a:solidFill>
                  <a:srgbClr val="FF0000"/>
                </a:solidFill>
                <a:latin typeface="Verdana" panose="020B0604030504040204" pitchFamily="34" charset="0"/>
              </a:rPr>
              <a:t>去相关性好</a:t>
            </a:r>
            <a:endParaRPr lang="zh-CN" altLang="en-US" dirty="0">
              <a:solidFill>
                <a:srgbClr val="FF0000"/>
              </a:solidFill>
            </a:endParaRPr>
          </a:p>
        </p:txBody>
      </p:sp>
      <p:sp>
        <p:nvSpPr>
          <p:cNvPr id="21" name="矩形 20"/>
          <p:cNvSpPr/>
          <p:nvPr/>
        </p:nvSpPr>
        <p:spPr>
          <a:xfrm>
            <a:off x="364835" y="3881981"/>
            <a:ext cx="11277600" cy="646331"/>
          </a:xfrm>
          <a:prstGeom prst="rect">
            <a:avLst/>
          </a:prstGeom>
        </p:spPr>
        <p:txBody>
          <a:bodyPr wrap="square">
            <a:spAutoFit/>
          </a:bodyPr>
          <a:lstStyle/>
          <a:p>
            <a:r>
              <a:rPr lang="en-US" altLang="zh-CN" dirty="0"/>
              <a:t>K-L</a:t>
            </a:r>
            <a:r>
              <a:rPr lang="zh-CN" altLang="en-US" dirty="0"/>
              <a:t>变换基本形式和原理上与主成分分析很相似，当原特征为</a:t>
            </a:r>
            <a:r>
              <a:rPr lang="en-US" altLang="zh-CN" dirty="0"/>
              <a:t>0</a:t>
            </a:r>
            <a:r>
              <a:rPr lang="zh-CN" altLang="en-US" dirty="0"/>
              <a:t>均值（或对原特征去均值处理）两者等价；</a:t>
            </a:r>
            <a:endParaRPr lang="en-US" altLang="zh-CN" dirty="0"/>
          </a:p>
          <a:p>
            <a:r>
              <a:rPr lang="zh-CN" altLang="en-US" dirty="0"/>
              <a:t>不同点：</a:t>
            </a:r>
            <a:r>
              <a:rPr lang="en-US" altLang="zh-CN" dirty="0"/>
              <a:t>K-L</a:t>
            </a:r>
            <a:r>
              <a:rPr lang="zh-CN" altLang="en-US" dirty="0"/>
              <a:t>变换能考虑不同的分类信息，实现监督的特征提取</a:t>
            </a:r>
          </a:p>
        </p:txBody>
      </p:sp>
      <p:sp>
        <p:nvSpPr>
          <p:cNvPr id="22" name="矩形 21"/>
          <p:cNvSpPr/>
          <p:nvPr/>
        </p:nvSpPr>
        <p:spPr>
          <a:xfrm>
            <a:off x="2525327" y="4568336"/>
            <a:ext cx="9493832" cy="400110"/>
          </a:xfrm>
          <a:prstGeom prst="rect">
            <a:avLst/>
          </a:prstGeom>
        </p:spPr>
        <p:txBody>
          <a:bodyPr wrap="square">
            <a:spAutoFit/>
          </a:bodyPr>
          <a:lstStyle/>
          <a:p>
            <a:pPr marL="0" indent="0">
              <a:buNone/>
            </a:pPr>
            <a:r>
              <a:rPr lang="en-US" altLang="zh-CN" sz="2000" kern="0" dirty="0">
                <a:solidFill>
                  <a:srgbClr val="7030A0"/>
                </a:solidFill>
                <a:latin typeface="Times New Roman" panose="02020603050405020304" pitchFamily="18" charset="0"/>
                <a:cs typeface="Times New Roman" panose="02020603050405020304" pitchFamily="18" charset="0"/>
              </a:rPr>
              <a:t>K-L</a:t>
            </a:r>
            <a:r>
              <a:rPr lang="zh-CN" altLang="en-US" sz="2000" kern="0" dirty="0">
                <a:solidFill>
                  <a:srgbClr val="7030A0"/>
                </a:solidFill>
                <a:latin typeface="Times New Roman" panose="02020603050405020304" pitchFamily="18" charset="0"/>
                <a:cs typeface="Times New Roman" panose="02020603050405020304" pitchFamily="18" charset="0"/>
              </a:rPr>
              <a:t>变换有一些其他的做法，基本原理相同，但产生矩阵</a:t>
            </a:r>
            <a:r>
              <a:rPr lang="en-US" altLang="zh-CN" sz="2000" kern="0" dirty="0">
                <a:solidFill>
                  <a:srgbClr val="7030A0"/>
                </a:solidFill>
                <a:latin typeface="Times New Roman" panose="02020603050405020304" pitchFamily="18" charset="0"/>
                <a:cs typeface="Times New Roman" panose="02020603050405020304" pitchFamily="18" charset="0"/>
              </a:rPr>
              <a:t>R</a:t>
            </a:r>
            <a:r>
              <a:rPr lang="zh-CN" altLang="en-US" sz="2000" kern="0" dirty="0">
                <a:solidFill>
                  <a:srgbClr val="7030A0"/>
                </a:solidFill>
                <a:latin typeface="Times New Roman" panose="02020603050405020304" pitchFamily="18" charset="0"/>
                <a:cs typeface="Times New Roman" panose="02020603050405020304" pitchFamily="18" charset="0"/>
              </a:rPr>
              <a:t>可以不同。</a:t>
            </a:r>
            <a:endParaRPr lang="en-US" altLang="zh-CN" sz="2000" kern="0" dirty="0">
              <a:solidFill>
                <a:srgbClr val="7030A0"/>
              </a:solidFill>
              <a:latin typeface="Times New Roman" panose="02020603050405020304" pitchFamily="18" charset="0"/>
              <a:cs typeface="Times New Roman" panose="02020603050405020304" pitchFamily="18" charset="0"/>
            </a:endParaRPr>
          </a:p>
        </p:txBody>
      </p:sp>
      <p:sp>
        <p:nvSpPr>
          <p:cNvPr id="23" name="矩形 22"/>
          <p:cNvSpPr/>
          <p:nvPr/>
        </p:nvSpPr>
        <p:spPr>
          <a:xfrm>
            <a:off x="596529" y="5057747"/>
            <a:ext cx="4716356" cy="400110"/>
          </a:xfrm>
          <a:prstGeom prst="rect">
            <a:avLst/>
          </a:prstGeom>
        </p:spPr>
        <p:txBody>
          <a:bodyPr wrap="none">
            <a:spAutoFit/>
          </a:bodyPr>
          <a:lstStyle/>
          <a:p>
            <a:r>
              <a:rPr lang="zh-CN" altLang="en-US" sz="2000" dirty="0">
                <a:solidFill>
                  <a:srgbClr val="4D4D4D"/>
                </a:solidFill>
                <a:latin typeface="Times New Roman" panose="02020603050405020304" pitchFamily="18" charset="0"/>
              </a:rPr>
              <a:t>设共有</a:t>
            </a:r>
            <a:r>
              <a:rPr lang="en-US" altLang="zh-CN" sz="2000" i="1" dirty="0">
                <a:solidFill>
                  <a:srgbClr val="4D4D4D"/>
                </a:solidFill>
                <a:latin typeface="Times New Roman" panose="02020603050405020304" pitchFamily="18" charset="0"/>
              </a:rPr>
              <a:t>C</a:t>
            </a:r>
            <a:r>
              <a:rPr lang="zh-CN" altLang="en-US" sz="2000" dirty="0">
                <a:solidFill>
                  <a:srgbClr val="4D4D4D"/>
                </a:solidFill>
                <a:latin typeface="Times New Roman" panose="02020603050405020304" pitchFamily="18" charset="0"/>
              </a:rPr>
              <a:t>个类别，各类出现的先验概率为</a:t>
            </a:r>
            <a:endParaRPr lang="zh-CN" altLang="en-US" sz="2000" dirty="0"/>
          </a:p>
        </p:txBody>
      </p:sp>
      <p:graphicFrame>
        <p:nvGraphicFramePr>
          <p:cNvPr id="24" name="Object 19"/>
          <p:cNvGraphicFramePr>
            <a:graphicFrameLocks noChangeAspect="1"/>
          </p:cNvGraphicFramePr>
          <p:nvPr>
            <p:extLst>
              <p:ext uri="{D42A27DB-BD31-4B8C-83A1-F6EECF244321}">
                <p14:modId xmlns:p14="http://schemas.microsoft.com/office/powerpoint/2010/main" val="2162097787"/>
              </p:ext>
            </p:extLst>
          </p:nvPr>
        </p:nvGraphicFramePr>
        <p:xfrm>
          <a:off x="7169928" y="5454352"/>
          <a:ext cx="1471612" cy="474662"/>
        </p:xfrm>
        <a:graphic>
          <a:graphicData uri="http://schemas.openxmlformats.org/presentationml/2006/ole">
            <mc:AlternateContent xmlns:mc="http://schemas.openxmlformats.org/markup-compatibility/2006">
              <mc:Choice xmlns:v="urn:schemas-microsoft-com:vml" Requires="v">
                <p:oleObj spid="_x0000_s357513" name="Equation" r:id="rId9" imgW="863280" imgH="279360" progId="Equation.DSMT4">
                  <p:embed/>
                </p:oleObj>
              </mc:Choice>
              <mc:Fallback>
                <p:oleObj name="Equation" r:id="rId9" imgW="863280" imgH="279360" progId="Equation.DSMT4">
                  <p:embed/>
                  <p:pic>
                    <p:nvPicPr>
                      <p:cNvPr id="19" name="Object 19"/>
                      <p:cNvPicPr>
                        <a:picLocks noChangeAspect="1" noChangeArrowheads="1"/>
                      </p:cNvPicPr>
                      <p:nvPr/>
                    </p:nvPicPr>
                    <p:blipFill>
                      <a:blip r:embed="rId10"/>
                      <a:srcRect/>
                      <a:stretch>
                        <a:fillRect/>
                      </a:stretch>
                    </p:blipFill>
                    <p:spPr bwMode="auto">
                      <a:xfrm>
                        <a:off x="7169928" y="5454352"/>
                        <a:ext cx="1471612" cy="474662"/>
                      </a:xfrm>
                      <a:prstGeom prst="rect">
                        <a:avLst/>
                      </a:prstGeom>
                      <a:solidFill>
                        <a:schemeClr val="bg1"/>
                      </a:solidFill>
                    </p:spPr>
                  </p:pic>
                </p:oleObj>
              </mc:Fallback>
            </mc:AlternateContent>
          </a:graphicData>
        </a:graphic>
      </p:graphicFrame>
      <p:sp>
        <p:nvSpPr>
          <p:cNvPr id="27" name="矩形 26"/>
          <p:cNvSpPr/>
          <p:nvPr/>
        </p:nvSpPr>
        <p:spPr>
          <a:xfrm>
            <a:off x="609865" y="5506311"/>
            <a:ext cx="6662378" cy="400110"/>
          </a:xfrm>
          <a:prstGeom prst="rect">
            <a:avLst/>
          </a:prstGeom>
        </p:spPr>
        <p:txBody>
          <a:bodyPr wrap="square">
            <a:spAutoFit/>
          </a:bodyPr>
          <a:lstStyle/>
          <a:p>
            <a:pPr lvl="0" algn="ctr" eaLnBrk="0" hangingPunct="0"/>
            <a:r>
              <a:rPr lang="zh-CN" altLang="zh-CN" sz="2000" dirty="0">
                <a:solidFill>
                  <a:srgbClr val="4D4D4D"/>
                </a:solidFill>
                <a:latin typeface="Times New Roman" panose="02020603050405020304" pitchFamily="18" charset="0"/>
                <a:ea typeface="-apple-system"/>
                <a:cs typeface="Times New Roman" panose="02020603050405020304" pitchFamily="18" charset="0"/>
              </a:rPr>
              <a:t>以</a:t>
            </a:r>
            <a:r>
              <a:rPr lang="en-US" altLang="zh-CN" sz="2000" i="1" dirty="0">
                <a:solidFill>
                  <a:srgbClr val="4D4D4D"/>
                </a:solidFill>
                <a:latin typeface="Times New Roman" panose="02020603050405020304" pitchFamily="18" charset="0"/>
                <a:ea typeface="-apple-system"/>
                <a:cs typeface="Times New Roman" panose="02020603050405020304" pitchFamily="18" charset="0"/>
              </a:rPr>
              <a:t>x</a:t>
            </a:r>
            <a:r>
              <a:rPr lang="en-US" altLang="zh-CN" sz="2000" i="1" baseline="-25000" dirty="0">
                <a:solidFill>
                  <a:srgbClr val="4D4D4D"/>
                </a:solidFill>
                <a:latin typeface="Times New Roman" panose="02020603050405020304" pitchFamily="18" charset="0"/>
                <a:ea typeface="-apple-system"/>
                <a:cs typeface="Times New Roman" panose="02020603050405020304" pitchFamily="18" charset="0"/>
              </a:rPr>
              <a:t>i</a:t>
            </a:r>
            <a:r>
              <a:rPr lang="zh-CN" altLang="zh-CN" sz="2000" dirty="0">
                <a:solidFill>
                  <a:srgbClr val="4D4D4D"/>
                </a:solidFill>
                <a:latin typeface="Times New Roman" panose="02020603050405020304" pitchFamily="18" charset="0"/>
                <a:ea typeface="-apple-system"/>
                <a:cs typeface="Times New Roman" panose="02020603050405020304" pitchFamily="18" charset="0"/>
              </a:rPr>
              <a:t>表示来自第</a:t>
            </a:r>
            <a:r>
              <a:rPr lang="zh-CN" altLang="zh-CN" sz="2000" i="1" dirty="0">
                <a:solidFill>
                  <a:srgbClr val="4D4D4D"/>
                </a:solidFill>
                <a:latin typeface="Times New Roman" panose="02020603050405020304" pitchFamily="18" charset="0"/>
                <a:ea typeface="-apple-system"/>
                <a:cs typeface="Times New Roman" panose="02020603050405020304" pitchFamily="18" charset="0"/>
              </a:rPr>
              <a:t>i</a:t>
            </a:r>
            <a:r>
              <a:rPr lang="zh-CN" altLang="zh-CN" sz="2000" dirty="0">
                <a:solidFill>
                  <a:srgbClr val="4D4D4D"/>
                </a:solidFill>
                <a:latin typeface="Times New Roman" panose="02020603050405020304" pitchFamily="18" charset="0"/>
                <a:ea typeface="-apple-system"/>
                <a:cs typeface="Times New Roman" panose="02020603050405020304" pitchFamily="18" charset="0"/>
              </a:rPr>
              <a:t>类的向量。则第</a:t>
            </a:r>
            <a:r>
              <a:rPr lang="zh-CN" altLang="zh-CN" sz="2000" i="1" dirty="0">
                <a:solidFill>
                  <a:srgbClr val="4D4D4D"/>
                </a:solidFill>
                <a:latin typeface="Times New Roman" panose="02020603050405020304" pitchFamily="18" charset="0"/>
                <a:ea typeface="-apple-system"/>
                <a:cs typeface="Times New Roman" panose="02020603050405020304" pitchFamily="18" charset="0"/>
              </a:rPr>
              <a:t>i</a:t>
            </a:r>
            <a:r>
              <a:rPr lang="zh-CN" altLang="zh-CN" sz="2000" dirty="0">
                <a:solidFill>
                  <a:srgbClr val="4D4D4D"/>
                </a:solidFill>
                <a:latin typeface="Times New Roman" panose="02020603050405020304" pitchFamily="18" charset="0"/>
                <a:ea typeface="-apple-system"/>
                <a:cs typeface="Times New Roman" panose="02020603050405020304" pitchFamily="18" charset="0"/>
              </a:rPr>
              <a:t>类集群的</a:t>
            </a:r>
            <a:r>
              <a:rPr lang="zh-CN" altLang="zh-CN" sz="2000" b="1" dirty="0">
                <a:solidFill>
                  <a:srgbClr val="FF0000"/>
                </a:solidFill>
                <a:latin typeface="Times New Roman" panose="02020603050405020304" pitchFamily="18" charset="0"/>
                <a:ea typeface="-apple-system"/>
                <a:cs typeface="Times New Roman" panose="02020603050405020304" pitchFamily="18" charset="0"/>
              </a:rPr>
              <a:t>自相关矩阵</a:t>
            </a:r>
            <a:r>
              <a:rPr lang="zh-CN" altLang="zh-CN" sz="2000" dirty="0">
                <a:solidFill>
                  <a:srgbClr val="4D4D4D"/>
                </a:solidFill>
                <a:latin typeface="Times New Roman" panose="02020603050405020304" pitchFamily="18" charset="0"/>
                <a:ea typeface="-apple-system"/>
                <a:cs typeface="Times New Roman" panose="02020603050405020304" pitchFamily="18" charset="0"/>
              </a:rPr>
              <a:t>为：  </a:t>
            </a:r>
          </a:p>
        </p:txBody>
      </p:sp>
      <p:sp>
        <p:nvSpPr>
          <p:cNvPr id="28" name="矩形 27"/>
          <p:cNvSpPr/>
          <p:nvPr/>
        </p:nvSpPr>
        <p:spPr>
          <a:xfrm>
            <a:off x="609865" y="6011323"/>
            <a:ext cx="3419526" cy="400110"/>
          </a:xfrm>
          <a:prstGeom prst="rect">
            <a:avLst/>
          </a:prstGeom>
        </p:spPr>
        <p:txBody>
          <a:bodyPr wrap="none">
            <a:spAutoFit/>
          </a:bodyPr>
          <a:lstStyle/>
          <a:p>
            <a:r>
              <a:rPr lang="zh-CN" altLang="en-US" sz="2000" dirty="0">
                <a:solidFill>
                  <a:srgbClr val="4D4D4D"/>
                </a:solidFill>
                <a:latin typeface="Times New Roman" panose="02020603050405020304" pitchFamily="18" charset="0"/>
              </a:rPr>
              <a:t>混合分布的</a:t>
            </a:r>
            <a:r>
              <a:rPr lang="zh-CN" altLang="en-US" sz="2000" b="1" dirty="0">
                <a:solidFill>
                  <a:srgbClr val="FF0000"/>
                </a:solidFill>
                <a:latin typeface="Times New Roman" panose="02020603050405020304" pitchFamily="18" charset="0"/>
              </a:rPr>
              <a:t>自相关矩阵</a:t>
            </a:r>
            <a:r>
              <a:rPr lang="en-US" altLang="zh-CN" sz="2000" i="1" dirty="0">
                <a:solidFill>
                  <a:srgbClr val="4D4D4D"/>
                </a:solidFill>
                <a:latin typeface="Times New Roman" panose="02020603050405020304" pitchFamily="18" charset="0"/>
              </a:rPr>
              <a:t>R</a:t>
            </a:r>
            <a:r>
              <a:rPr lang="zh-CN" altLang="en-US" sz="2000" dirty="0">
                <a:solidFill>
                  <a:srgbClr val="4D4D4D"/>
                </a:solidFill>
                <a:latin typeface="Times New Roman" panose="02020603050405020304" pitchFamily="18" charset="0"/>
              </a:rPr>
              <a:t>是：</a:t>
            </a:r>
            <a:endParaRPr lang="zh-CN" altLang="en-US" sz="2000" dirty="0"/>
          </a:p>
        </p:txBody>
      </p:sp>
      <p:graphicFrame>
        <p:nvGraphicFramePr>
          <p:cNvPr id="29" name="Object 19"/>
          <p:cNvGraphicFramePr>
            <a:graphicFrameLocks noChangeAspect="1"/>
          </p:cNvGraphicFramePr>
          <p:nvPr>
            <p:extLst>
              <p:ext uri="{D42A27DB-BD31-4B8C-83A1-F6EECF244321}">
                <p14:modId xmlns:p14="http://schemas.microsoft.com/office/powerpoint/2010/main" val="3031068547"/>
              </p:ext>
            </p:extLst>
          </p:nvPr>
        </p:nvGraphicFramePr>
        <p:xfrm>
          <a:off x="5513796" y="5073747"/>
          <a:ext cx="2101850" cy="431800"/>
        </p:xfrm>
        <a:graphic>
          <a:graphicData uri="http://schemas.openxmlformats.org/presentationml/2006/ole">
            <mc:AlternateContent xmlns:mc="http://schemas.openxmlformats.org/markup-compatibility/2006">
              <mc:Choice xmlns:v="urn:schemas-microsoft-com:vml" Requires="v">
                <p:oleObj spid="_x0000_s357514" name="Equation" r:id="rId11" imgW="1231560" imgH="253800" progId="Equation.DSMT4">
                  <p:embed/>
                </p:oleObj>
              </mc:Choice>
              <mc:Fallback>
                <p:oleObj name="Equation" r:id="rId11" imgW="1231560" imgH="253800" progId="Equation.DSMT4">
                  <p:embed/>
                  <p:pic>
                    <p:nvPicPr>
                      <p:cNvPr id="22" name="Object 19"/>
                      <p:cNvPicPr>
                        <a:picLocks noChangeAspect="1" noChangeArrowheads="1"/>
                      </p:cNvPicPr>
                      <p:nvPr/>
                    </p:nvPicPr>
                    <p:blipFill>
                      <a:blip r:embed="rId12"/>
                      <a:srcRect/>
                      <a:stretch>
                        <a:fillRect/>
                      </a:stretch>
                    </p:blipFill>
                    <p:spPr bwMode="auto">
                      <a:xfrm>
                        <a:off x="5513796" y="5073747"/>
                        <a:ext cx="2101850" cy="431800"/>
                      </a:xfrm>
                      <a:prstGeom prst="rect">
                        <a:avLst/>
                      </a:prstGeom>
                      <a:solidFill>
                        <a:schemeClr val="bg1"/>
                      </a:solidFill>
                    </p:spPr>
                  </p:pic>
                </p:oleObj>
              </mc:Fallback>
            </mc:AlternateContent>
          </a:graphicData>
        </a:graphic>
      </p:graphicFrame>
      <p:graphicFrame>
        <p:nvGraphicFramePr>
          <p:cNvPr id="30" name="Object 19"/>
          <p:cNvGraphicFramePr>
            <a:graphicFrameLocks noChangeAspect="1"/>
          </p:cNvGraphicFramePr>
          <p:nvPr>
            <p:extLst>
              <p:ext uri="{D42A27DB-BD31-4B8C-83A1-F6EECF244321}">
                <p14:modId xmlns:p14="http://schemas.microsoft.com/office/powerpoint/2010/main" val="4235228878"/>
              </p:ext>
            </p:extLst>
          </p:nvPr>
        </p:nvGraphicFramePr>
        <p:xfrm>
          <a:off x="4003786" y="5854770"/>
          <a:ext cx="3878262" cy="733425"/>
        </p:xfrm>
        <a:graphic>
          <a:graphicData uri="http://schemas.openxmlformats.org/presentationml/2006/ole">
            <mc:AlternateContent xmlns:mc="http://schemas.openxmlformats.org/markup-compatibility/2006">
              <mc:Choice xmlns:v="urn:schemas-microsoft-com:vml" Requires="v">
                <p:oleObj spid="_x0000_s357515" name="Equation" r:id="rId13" imgW="2273040" imgH="431640" progId="Equation.DSMT4">
                  <p:embed/>
                </p:oleObj>
              </mc:Choice>
              <mc:Fallback>
                <p:oleObj name="Equation" r:id="rId13" imgW="2273040" imgH="431640" progId="Equation.DSMT4">
                  <p:embed/>
                  <p:pic>
                    <p:nvPicPr>
                      <p:cNvPr id="23" name="Object 19"/>
                      <p:cNvPicPr>
                        <a:picLocks noChangeAspect="1" noChangeArrowheads="1"/>
                      </p:cNvPicPr>
                      <p:nvPr/>
                    </p:nvPicPr>
                    <p:blipFill>
                      <a:blip r:embed="rId14"/>
                      <a:srcRect/>
                      <a:stretch>
                        <a:fillRect/>
                      </a:stretch>
                    </p:blipFill>
                    <p:spPr bwMode="auto">
                      <a:xfrm>
                        <a:off x="4003786" y="5854770"/>
                        <a:ext cx="3878262" cy="733425"/>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3284971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1462" y="917924"/>
            <a:ext cx="8458200" cy="5334000"/>
          </a:xfrm>
        </p:spPr>
        <p:txBody>
          <a:bodyPr/>
          <a:lstStyle/>
          <a:p>
            <a:pPr>
              <a:lnSpc>
                <a:spcPct val="90000"/>
              </a:lnSpc>
              <a:spcBef>
                <a:spcPts val="600"/>
              </a:spcBef>
              <a:buNone/>
            </a:pPr>
            <a:r>
              <a:rPr lang="en-US" altLang="zh-CN" sz="2000" dirty="0">
                <a:solidFill>
                  <a:srgbClr val="FF0000"/>
                </a:solidFill>
                <a:latin typeface="Times New Roman" panose="02020603050405020304" pitchFamily="18" charset="0"/>
                <a:cs typeface="Times New Roman" panose="02020603050405020304" pitchFamily="18" charset="0"/>
              </a:rPr>
              <a:t>2</a:t>
            </a:r>
            <a:r>
              <a:rPr lang="zh-CN" altLang="en-US" sz="2000" dirty="0">
                <a:solidFill>
                  <a:srgbClr val="FF0000"/>
                </a:solidFill>
                <a:latin typeface="Times New Roman" panose="02020603050405020304" pitchFamily="18" charset="0"/>
                <a:cs typeface="Times New Roman" panose="02020603050405020304" pitchFamily="18" charset="0"/>
              </a:rPr>
              <a:t>、</a:t>
            </a:r>
            <a:r>
              <a:rPr lang="zh-CN" altLang="en-US" sz="2000" dirty="0">
                <a:solidFill>
                  <a:srgbClr val="FF0000"/>
                </a:solidFill>
                <a:latin typeface="黑体" panose="02010609060101010101" pitchFamily="49" charset="-122"/>
                <a:ea typeface="黑体" panose="02010609060101010101" pitchFamily="49" charset="-122"/>
              </a:rPr>
              <a:t>运用</a:t>
            </a:r>
            <a:r>
              <a:rPr lang="en-US" altLang="zh-CN" sz="2000" dirty="0">
                <a:solidFill>
                  <a:srgbClr val="FF0000"/>
                </a:solidFill>
                <a:latin typeface="黑体" panose="02010609060101010101" pitchFamily="49" charset="-122"/>
                <a:ea typeface="黑体" panose="02010609060101010101" pitchFamily="49" charset="-122"/>
              </a:rPr>
              <a:t>DKLT</a:t>
            </a:r>
            <a:r>
              <a:rPr lang="zh-CN" altLang="en-US" sz="2000" dirty="0">
                <a:solidFill>
                  <a:srgbClr val="FF0000"/>
                </a:solidFill>
                <a:latin typeface="黑体" panose="02010609060101010101" pitchFamily="49" charset="-122"/>
                <a:ea typeface="黑体" panose="02010609060101010101" pitchFamily="49" charset="-122"/>
              </a:rPr>
              <a:t>消除两类问题的特征相关性方法 </a:t>
            </a:r>
            <a:endParaRPr lang="en-US" altLang="zh-CN" sz="2000" dirty="0">
              <a:solidFill>
                <a:srgbClr val="FF0000"/>
              </a:solidFill>
              <a:latin typeface="黑体" panose="02010609060101010101" pitchFamily="49" charset="-122"/>
              <a:ea typeface="黑体" panose="02010609060101010101" pitchFamily="49" charset="-122"/>
            </a:endParaRPr>
          </a:p>
          <a:p>
            <a:pPr>
              <a:lnSpc>
                <a:spcPct val="90000"/>
              </a:lnSpc>
              <a:spcBef>
                <a:spcPts val="600"/>
              </a:spcBef>
              <a:buNone/>
            </a:pPr>
            <a:r>
              <a:rPr lang="zh-CN" altLang="en-US" sz="2000" dirty="0">
                <a:latin typeface="Times New Roman" panose="02020603050405020304" pitchFamily="18" charset="0"/>
                <a:cs typeface="Times New Roman" panose="02020603050405020304" pitchFamily="18" charset="0"/>
              </a:rPr>
              <a:t>    </a:t>
            </a:r>
            <a:r>
              <a:rPr lang="zh-CN" altLang="en-US" sz="2000" dirty="0">
                <a:solidFill>
                  <a:srgbClr val="0000FF"/>
                </a:solidFill>
                <a:latin typeface="Times New Roman" panose="02020603050405020304" pitchFamily="18" charset="0"/>
                <a:cs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rPr>
              <a:t>step</a:t>
            </a:r>
            <a:r>
              <a:rPr lang="zh-CN" altLang="en-US" sz="2000" dirty="0">
                <a:solidFill>
                  <a:srgbClr val="0000FF"/>
                </a:solidFill>
                <a:latin typeface="Times New Roman" panose="02020603050405020304" pitchFamily="18" charset="0"/>
                <a:cs typeface="Times New Roman" panose="02020603050405020304" pitchFamily="18" charset="0"/>
              </a:rPr>
              <a:t> </a:t>
            </a:r>
            <a:r>
              <a:rPr lang="en-US" altLang="zh-CN" sz="2000" dirty="0">
                <a:solidFill>
                  <a:srgbClr val="0000FF"/>
                </a:solidFill>
                <a:latin typeface="黑体" panose="02010609060101010101" pitchFamily="49" charset="-122"/>
                <a:ea typeface="黑体" panose="02010609060101010101" pitchFamily="49" charset="-122"/>
              </a:rPr>
              <a:t>(1)</a:t>
            </a:r>
            <a:r>
              <a:rPr lang="zh-CN" altLang="en-US" sz="2000" dirty="0">
                <a:solidFill>
                  <a:srgbClr val="0000FF"/>
                </a:solidFill>
                <a:latin typeface="黑体" panose="02010609060101010101" pitchFamily="49" charset="-122"/>
                <a:ea typeface="黑体" panose="02010609060101010101" pitchFamily="49" charset="-122"/>
              </a:rPr>
              <a:t>计算</a:t>
            </a:r>
            <a:endParaRPr lang="zh-CN" altLang="en-US" sz="2000" dirty="0">
              <a:solidFill>
                <a:srgbClr val="0000FF"/>
              </a:solidFill>
            </a:endParaRPr>
          </a:p>
          <a:p>
            <a:pPr>
              <a:lnSpc>
                <a:spcPct val="90000"/>
              </a:lnSpc>
              <a:spcBef>
                <a:spcPts val="600"/>
              </a:spcBef>
              <a:buNone/>
            </a:pPr>
            <a:r>
              <a:rPr lang="zh-CN" altLang="en-US" sz="2000" dirty="0">
                <a:latin typeface="Times New Roman" panose="02020603050405020304" pitchFamily="18" charset="0"/>
                <a:cs typeface="Times New Roman" panose="02020603050405020304" pitchFamily="18" charset="0"/>
              </a:rPr>
              <a:t>     </a:t>
            </a:r>
          </a:p>
        </p:txBody>
      </p:sp>
      <p:sp>
        <p:nvSpPr>
          <p:cNvPr id="2" name="标题 1"/>
          <p:cNvSpPr>
            <a:spLocks noGrp="1"/>
          </p:cNvSpPr>
          <p:nvPr>
            <p:ph type="title"/>
          </p:nvPr>
        </p:nvSpPr>
        <p:spPr>
          <a:xfrm>
            <a:off x="407368" y="152401"/>
            <a:ext cx="9422432" cy="563563"/>
          </a:xfrm>
        </p:spPr>
        <p:txBody>
          <a:bodyPr/>
          <a:lstStyle/>
          <a:p>
            <a:r>
              <a:rPr lang="en-US" altLang="zh-CN" dirty="0">
                <a:latin typeface="Times New Roman" panose="02020603050405020304" pitchFamily="18" charset="0"/>
                <a:cs typeface="Times New Roman" panose="02020603050405020304" pitchFamily="18" charset="0"/>
              </a:rPr>
              <a:t>17.3 K-L</a:t>
            </a:r>
            <a:r>
              <a:rPr lang="zh-CN" altLang="zh-CN" dirty="0">
                <a:latin typeface="Times New Roman" panose="02020603050405020304" pitchFamily="18" charset="0"/>
                <a:cs typeface="Times New Roman" panose="02020603050405020304" pitchFamily="18" charset="0"/>
              </a:rPr>
              <a:t>变换方法</a:t>
            </a:r>
            <a:r>
              <a:rPr lang="en-US" altLang="zh-CN" dirty="0" err="1">
                <a:latin typeface="Bahnschrift Condensed" panose="020B0502040204020203" pitchFamily="34" charset="0"/>
                <a:cs typeface="Times New Roman" panose="02020603050405020304" pitchFamily="18" charset="0"/>
              </a:rPr>
              <a:t>Karhunen-Loeve</a:t>
            </a:r>
            <a:r>
              <a:rPr lang="en-US" altLang="zh-CN" dirty="0">
                <a:latin typeface="Bahnschrift Condensed" panose="020B0502040204020203" pitchFamily="34" charset="0"/>
                <a:cs typeface="Times New Roman" panose="02020603050405020304" pitchFamily="18" charset="0"/>
              </a:rPr>
              <a:t> transform</a:t>
            </a:r>
            <a:endParaRPr lang="zh-CN" altLang="en-US" dirty="0">
              <a:latin typeface="Bahnschrift Condensed" panose="020B0502040204020203" pitchFamily="34" charset="0"/>
              <a:cs typeface="Times New Roman" panose="02020603050405020304" pitchFamily="18" charset="0"/>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26</a:t>
            </a:fld>
            <a:endParaRPr lang="en-US" altLang="zh-CN" dirty="0"/>
          </a:p>
        </p:txBody>
      </p:sp>
      <p:pic>
        <p:nvPicPr>
          <p:cNvPr id="314370" name="Picture 2" descr="http://latex.codecogs.com/gif.latex?%5Csigma_%7Bi%7D%20%2Ci%20%3D%201%2C%5Ccdots%20%2C%5Cinf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16438" y="-90488"/>
            <a:ext cx="1181100" cy="152401"/>
          </a:xfrm>
          <a:prstGeom prst="rect">
            <a:avLst/>
          </a:prstGeom>
          <a:noFill/>
          <a:extLst>
            <a:ext uri="{909E8E84-426E-40DD-AFC4-6F175D3DCCD1}">
              <a14:hiddenFill xmlns:a14="http://schemas.microsoft.com/office/drawing/2010/main">
                <a:solidFill>
                  <a:srgbClr val="FFFFFF"/>
                </a:solidFill>
              </a14:hiddenFill>
            </a:ext>
          </a:extLst>
        </p:spPr>
      </p:pic>
      <p:pic>
        <p:nvPicPr>
          <p:cNvPr id="315406" name="Picture 14" descr="http://latex.codecogs.com/gif.latex?%7b\Phi%20_%7bK%20-%20L%7d%7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87988" y="-76200"/>
            <a:ext cx="419100" cy="1524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6"/>
          <p:cNvSpPr>
            <a:spLocks noChangeArrowheads="1"/>
          </p:cNvSpPr>
          <p:nvPr/>
        </p:nvSpPr>
        <p:spPr bwMode="auto">
          <a:xfrm>
            <a:off x="6003635" y="82406"/>
            <a:ext cx="184731" cy="2923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sz="1300" dirty="0">
              <a:solidFill>
                <a:srgbClr val="4D4D4D"/>
              </a:solidFill>
              <a:latin typeface="Times New Roman" panose="02020603050405020304" pitchFamily="18" charset="0"/>
              <a:ea typeface="-apple-system"/>
              <a:cs typeface="Times New Roman" panose="02020603050405020304" pitchFamily="18" charset="0"/>
            </a:endParaRPr>
          </a:p>
        </p:txBody>
      </p:sp>
      <p:sp>
        <p:nvSpPr>
          <p:cNvPr id="17" name="Rectangle 9"/>
          <p:cNvSpPr>
            <a:spLocks noChangeArrowheads="1"/>
          </p:cNvSpPr>
          <p:nvPr/>
        </p:nvSpPr>
        <p:spPr bwMode="auto">
          <a:xfrm>
            <a:off x="1524001"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dirty="0"/>
          </a:p>
        </p:txBody>
      </p:sp>
      <p:pic>
        <p:nvPicPr>
          <p:cNvPr id="318475" name="Picture 11" descr="http://latex.codecogs.com/gif.latex?%7b\Phi%20_j%7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3614" y="-98425"/>
            <a:ext cx="180975" cy="1809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8" name="Object 5"/>
          <p:cNvGraphicFramePr>
            <a:graphicFrameLocks noChangeAspect="1"/>
          </p:cNvGraphicFramePr>
          <p:nvPr>
            <p:extLst>
              <p:ext uri="{D42A27DB-BD31-4B8C-83A1-F6EECF244321}">
                <p14:modId xmlns:p14="http://schemas.microsoft.com/office/powerpoint/2010/main" val="3267694406"/>
              </p:ext>
            </p:extLst>
          </p:nvPr>
        </p:nvGraphicFramePr>
        <p:xfrm>
          <a:off x="2033277" y="3179415"/>
          <a:ext cx="6170613" cy="461963"/>
        </p:xfrm>
        <a:graphic>
          <a:graphicData uri="http://schemas.openxmlformats.org/presentationml/2006/ole">
            <mc:AlternateContent xmlns:mc="http://schemas.openxmlformats.org/markup-compatibility/2006">
              <mc:Choice xmlns:v="urn:schemas-microsoft-com:vml" Requires="v">
                <p:oleObj spid="_x0000_s325354" name="Equation" r:id="rId6" imgW="3390840" imgH="253800" progId="Equation.DSMT4">
                  <p:embed/>
                </p:oleObj>
              </mc:Choice>
              <mc:Fallback>
                <p:oleObj name="Equation" r:id="rId6" imgW="3390840" imgH="253800" progId="Equation.DSMT4">
                  <p:embed/>
                  <p:pic>
                    <p:nvPicPr>
                      <p:cNvPr id="0" name=""/>
                      <p:cNvPicPr>
                        <a:picLocks noChangeAspect="1" noChangeArrowheads="1"/>
                      </p:cNvPicPr>
                      <p:nvPr/>
                    </p:nvPicPr>
                    <p:blipFill>
                      <a:blip r:embed="rId7"/>
                      <a:srcRect/>
                      <a:stretch>
                        <a:fillRect/>
                      </a:stretch>
                    </p:blipFill>
                    <p:spPr bwMode="auto">
                      <a:xfrm>
                        <a:off x="2033277" y="3179415"/>
                        <a:ext cx="617061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6"/>
          <p:cNvGraphicFramePr>
            <a:graphicFrameLocks noChangeAspect="1"/>
          </p:cNvGraphicFramePr>
          <p:nvPr>
            <p:extLst>
              <p:ext uri="{D42A27DB-BD31-4B8C-83A1-F6EECF244321}">
                <p14:modId xmlns:p14="http://schemas.microsoft.com/office/powerpoint/2010/main" val="1908381423"/>
              </p:ext>
            </p:extLst>
          </p:nvPr>
        </p:nvGraphicFramePr>
        <p:xfrm>
          <a:off x="407368" y="3179415"/>
          <a:ext cx="1527175" cy="500062"/>
        </p:xfrm>
        <a:graphic>
          <a:graphicData uri="http://schemas.openxmlformats.org/presentationml/2006/ole">
            <mc:AlternateContent xmlns:mc="http://schemas.openxmlformats.org/markup-compatibility/2006">
              <mc:Choice xmlns:v="urn:schemas-microsoft-com:vml" Requires="v">
                <p:oleObj spid="_x0000_s325355" name="Equation" r:id="rId8" imgW="698400" imgH="228600" progId="Equation.DSMT4">
                  <p:embed/>
                </p:oleObj>
              </mc:Choice>
              <mc:Fallback>
                <p:oleObj name="Equation" r:id="rId8" imgW="698400" imgH="228600" progId="Equation.DSMT4">
                  <p:embed/>
                  <p:pic>
                    <p:nvPicPr>
                      <p:cNvPr id="0" name=""/>
                      <p:cNvPicPr>
                        <a:picLocks noChangeAspect="1" noChangeArrowheads="1"/>
                      </p:cNvPicPr>
                      <p:nvPr/>
                    </p:nvPicPr>
                    <p:blipFill>
                      <a:blip r:embed="rId9"/>
                      <a:srcRect/>
                      <a:stretch>
                        <a:fillRect/>
                      </a:stretch>
                    </p:blipFill>
                    <p:spPr bwMode="auto">
                      <a:xfrm>
                        <a:off x="407368" y="3179415"/>
                        <a:ext cx="1527175" cy="50006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7"/>
          <p:cNvGraphicFramePr>
            <a:graphicFrameLocks noChangeAspect="1"/>
          </p:cNvGraphicFramePr>
          <p:nvPr>
            <p:extLst>
              <p:ext uri="{D42A27DB-BD31-4B8C-83A1-F6EECF244321}">
                <p14:modId xmlns:p14="http://schemas.microsoft.com/office/powerpoint/2010/main" val="1193637149"/>
              </p:ext>
            </p:extLst>
          </p:nvPr>
        </p:nvGraphicFramePr>
        <p:xfrm>
          <a:off x="407368" y="3768419"/>
          <a:ext cx="8848725" cy="1408112"/>
        </p:xfrm>
        <a:graphic>
          <a:graphicData uri="http://schemas.openxmlformats.org/presentationml/2006/ole">
            <mc:AlternateContent xmlns:mc="http://schemas.openxmlformats.org/markup-compatibility/2006">
              <mc:Choice xmlns:v="urn:schemas-microsoft-com:vml" Requires="v">
                <p:oleObj spid="_x0000_s325356" name="Equation" r:id="rId10" imgW="5918040" imgH="939600" progId="Equation.DSMT4">
                  <p:embed/>
                </p:oleObj>
              </mc:Choice>
              <mc:Fallback>
                <p:oleObj name="Equation" r:id="rId10" imgW="5918040" imgH="939600" progId="Equation.DSMT4">
                  <p:embed/>
                  <p:pic>
                    <p:nvPicPr>
                      <p:cNvPr id="0" name=""/>
                      <p:cNvPicPr>
                        <a:picLocks noChangeAspect="1" noChangeArrowheads="1"/>
                      </p:cNvPicPr>
                      <p:nvPr/>
                    </p:nvPicPr>
                    <p:blipFill>
                      <a:blip r:embed="rId11"/>
                      <a:srcRect/>
                      <a:stretch>
                        <a:fillRect/>
                      </a:stretch>
                    </p:blipFill>
                    <p:spPr bwMode="auto">
                      <a:xfrm>
                        <a:off x="407368" y="3768419"/>
                        <a:ext cx="8848725" cy="140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矩形 5"/>
          <p:cNvSpPr/>
          <p:nvPr/>
        </p:nvSpPr>
        <p:spPr>
          <a:xfrm>
            <a:off x="254950" y="2375159"/>
            <a:ext cx="1112805" cy="461665"/>
          </a:xfrm>
          <a:prstGeom prst="rect">
            <a:avLst/>
          </a:prstGeom>
        </p:spPr>
        <p:txBody>
          <a:bodyPr wrap="none">
            <a:spAutoFit/>
          </a:bodyPr>
          <a:lstStyle/>
          <a:p>
            <a:r>
              <a:rPr lang="zh-CN" altLang="en-US" sz="2400" b="1" dirty="0">
                <a:solidFill>
                  <a:srgbClr val="FF0000"/>
                </a:solidFill>
                <a:latin typeface="Times New Roman" panose="02020603050405020304" pitchFamily="18" charset="0"/>
                <a:cs typeface="Times New Roman" panose="02020603050405020304" pitchFamily="18" charset="0"/>
              </a:rPr>
              <a:t>证明：</a:t>
            </a:r>
            <a:endParaRPr lang="zh-CN" altLang="en-US" sz="2400" b="1" dirty="0">
              <a:solidFill>
                <a:srgbClr val="FF0000"/>
              </a:solidFill>
            </a:endParaRPr>
          </a:p>
        </p:txBody>
      </p:sp>
      <p:graphicFrame>
        <p:nvGraphicFramePr>
          <p:cNvPr id="21" name="Object 3"/>
          <p:cNvGraphicFramePr>
            <a:graphicFrameLocks noChangeAspect="1"/>
          </p:cNvGraphicFramePr>
          <p:nvPr>
            <p:extLst>
              <p:ext uri="{D42A27DB-BD31-4B8C-83A1-F6EECF244321}">
                <p14:modId xmlns:p14="http://schemas.microsoft.com/office/powerpoint/2010/main" val="4077320571"/>
              </p:ext>
            </p:extLst>
          </p:nvPr>
        </p:nvGraphicFramePr>
        <p:xfrm>
          <a:off x="839416" y="1762110"/>
          <a:ext cx="4495800" cy="517525"/>
        </p:xfrm>
        <a:graphic>
          <a:graphicData uri="http://schemas.openxmlformats.org/presentationml/2006/ole">
            <mc:AlternateContent xmlns:mc="http://schemas.openxmlformats.org/markup-compatibility/2006">
              <mc:Choice xmlns:v="urn:schemas-microsoft-com:vml" Requires="v">
                <p:oleObj spid="_x0000_s325357" name="Equation" r:id="rId12" imgW="2425680" imgH="279360" progId="Equation.DSMT4">
                  <p:embed/>
                </p:oleObj>
              </mc:Choice>
              <mc:Fallback>
                <p:oleObj name="Equation" r:id="rId12" imgW="2425680" imgH="279360" progId="Equation.DSMT4">
                  <p:embed/>
                  <p:pic>
                    <p:nvPicPr>
                      <p:cNvPr id="0" name=""/>
                      <p:cNvPicPr>
                        <a:picLocks noChangeAspect="1" noChangeArrowheads="1"/>
                      </p:cNvPicPr>
                      <p:nvPr/>
                    </p:nvPicPr>
                    <p:blipFill>
                      <a:blip r:embed="rId13"/>
                      <a:srcRect/>
                      <a:stretch>
                        <a:fillRect/>
                      </a:stretch>
                    </p:blipFill>
                    <p:spPr bwMode="auto">
                      <a:xfrm>
                        <a:off x="839416" y="1762110"/>
                        <a:ext cx="4495800" cy="517525"/>
                      </a:xfrm>
                      <a:prstGeom prst="rect">
                        <a:avLst/>
                      </a:prstGeom>
                      <a:noFill/>
                      <a:ln>
                        <a:solidFill>
                          <a:srgbClr val="FF0000"/>
                        </a:solidFill>
                      </a:ln>
                    </p:spPr>
                  </p:pic>
                </p:oleObj>
              </mc:Fallback>
            </mc:AlternateContent>
          </a:graphicData>
        </a:graphic>
      </p:graphicFrame>
      <p:sp>
        <p:nvSpPr>
          <p:cNvPr id="22" name="矩形 21"/>
          <p:cNvSpPr/>
          <p:nvPr/>
        </p:nvSpPr>
        <p:spPr>
          <a:xfrm>
            <a:off x="5591944" y="1794774"/>
            <a:ext cx="2565126" cy="400110"/>
          </a:xfrm>
          <a:prstGeom prst="rect">
            <a:avLst/>
          </a:prstGeom>
          <a:ln>
            <a:solidFill>
              <a:srgbClr val="FF0000"/>
            </a:solidFill>
          </a:ln>
        </p:spPr>
        <p:txBody>
          <a:bodyPr wrap="none">
            <a:spAutoFit/>
          </a:bodyPr>
          <a:lstStyle/>
          <a:p>
            <a:r>
              <a:rPr lang="en-US" altLang="zh-CN" sz="2000" dirty="0">
                <a:latin typeface="Times New Roman" panose="02020603050405020304" pitchFamily="18" charset="0"/>
                <a:cs typeface="Times New Roman" panose="02020603050405020304" pitchFamily="18" charset="0"/>
              </a:rPr>
              <a:t>←y</a:t>
            </a:r>
            <a:r>
              <a:rPr lang="en-US" altLang="zh-CN" sz="2000" baseline="30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的各分量不相关</a:t>
            </a:r>
            <a:endParaRPr lang="zh-CN" altLang="en-US" sz="2000" dirty="0"/>
          </a:p>
        </p:txBody>
      </p:sp>
      <p:graphicFrame>
        <p:nvGraphicFramePr>
          <p:cNvPr id="23" name="Object 2"/>
          <p:cNvGraphicFramePr>
            <a:graphicFrameLocks noChangeAspect="1"/>
          </p:cNvGraphicFramePr>
          <p:nvPr>
            <p:extLst>
              <p:ext uri="{D42A27DB-BD31-4B8C-83A1-F6EECF244321}">
                <p14:modId xmlns:p14="http://schemas.microsoft.com/office/powerpoint/2010/main" val="3749762332"/>
              </p:ext>
            </p:extLst>
          </p:nvPr>
        </p:nvGraphicFramePr>
        <p:xfrm>
          <a:off x="1995002" y="1249333"/>
          <a:ext cx="1616075" cy="458787"/>
        </p:xfrm>
        <a:graphic>
          <a:graphicData uri="http://schemas.openxmlformats.org/presentationml/2006/ole">
            <mc:AlternateContent xmlns:mc="http://schemas.openxmlformats.org/markup-compatibility/2006">
              <mc:Choice xmlns:v="urn:schemas-microsoft-com:vml" Requires="v">
                <p:oleObj spid="_x0000_s325358" name="Equation" r:id="rId14" imgW="799920" imgH="228600" progId="Equation.DSMT4">
                  <p:embed/>
                </p:oleObj>
              </mc:Choice>
              <mc:Fallback>
                <p:oleObj name="Equation" r:id="rId14" imgW="799920" imgH="228600" progId="Equation.DSMT4">
                  <p:embed/>
                  <p:pic>
                    <p:nvPicPr>
                      <p:cNvPr id="11" name="Object 2"/>
                      <p:cNvPicPr>
                        <a:picLocks noChangeAspect="1" noChangeArrowheads="1"/>
                      </p:cNvPicPr>
                      <p:nvPr/>
                    </p:nvPicPr>
                    <p:blipFill>
                      <a:blip r:embed="rId15"/>
                      <a:srcRect/>
                      <a:stretch>
                        <a:fillRect/>
                      </a:stretch>
                    </p:blipFill>
                    <p:spPr bwMode="auto">
                      <a:xfrm>
                        <a:off x="1995002" y="1249333"/>
                        <a:ext cx="1616075" cy="458787"/>
                      </a:xfrm>
                      <a:prstGeom prst="rect">
                        <a:avLst/>
                      </a:prstGeom>
                      <a:noFill/>
                      <a:ln>
                        <a:noFill/>
                      </a:ln>
                    </p:spPr>
                  </p:pic>
                </p:oleObj>
              </mc:Fallback>
            </mc:AlternateContent>
          </a:graphicData>
        </a:graphic>
      </p:graphicFrame>
      <p:sp>
        <p:nvSpPr>
          <p:cNvPr id="24" name="Rectangle 8"/>
          <p:cNvSpPr>
            <a:spLocks noChangeArrowheads="1"/>
          </p:cNvSpPr>
          <p:nvPr/>
        </p:nvSpPr>
        <p:spPr bwMode="auto">
          <a:xfrm>
            <a:off x="5231904" y="1287468"/>
            <a:ext cx="61237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987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defRPr/>
            </a:pPr>
            <a:r>
              <a:rPr kumimoji="0" lang="zh-CN" alt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其中：</a:t>
            </a:r>
            <a:r>
              <a:rPr kumimoji="0" lang="en-US" altLang="zh-CN" sz="2000" b="0"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U</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是</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000" b="0"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w1</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（第一类的协方差）的特征矢量矩阵</a:t>
            </a:r>
          </a:p>
        </p:txBody>
      </p:sp>
      <p:graphicFrame>
        <p:nvGraphicFramePr>
          <p:cNvPr id="25" name="Object 2"/>
          <p:cNvGraphicFramePr>
            <a:graphicFrameLocks noChangeAspect="1"/>
          </p:cNvGraphicFramePr>
          <p:nvPr>
            <p:extLst>
              <p:ext uri="{D42A27DB-BD31-4B8C-83A1-F6EECF244321}">
                <p14:modId xmlns:p14="http://schemas.microsoft.com/office/powerpoint/2010/main" val="1632177486"/>
              </p:ext>
            </p:extLst>
          </p:nvPr>
        </p:nvGraphicFramePr>
        <p:xfrm>
          <a:off x="4040559" y="1260075"/>
          <a:ext cx="1050925" cy="484188"/>
        </p:xfrm>
        <a:graphic>
          <a:graphicData uri="http://schemas.openxmlformats.org/presentationml/2006/ole">
            <mc:AlternateContent xmlns:mc="http://schemas.openxmlformats.org/markup-compatibility/2006">
              <mc:Choice xmlns:v="urn:schemas-microsoft-com:vml" Requires="v">
                <p:oleObj spid="_x0000_s325359" name="Equation" r:id="rId16" imgW="520560" imgH="241200" progId="Equation.DSMT4">
                  <p:embed/>
                </p:oleObj>
              </mc:Choice>
              <mc:Fallback>
                <p:oleObj name="Equation" r:id="rId16" imgW="520560" imgH="241200" progId="Equation.DSMT4">
                  <p:embed/>
                  <p:pic>
                    <p:nvPicPr>
                      <p:cNvPr id="15" name="Object 2"/>
                      <p:cNvPicPr>
                        <a:picLocks noChangeAspect="1" noChangeArrowheads="1"/>
                      </p:cNvPicPr>
                      <p:nvPr/>
                    </p:nvPicPr>
                    <p:blipFill>
                      <a:blip r:embed="rId17"/>
                      <a:srcRect/>
                      <a:stretch>
                        <a:fillRect/>
                      </a:stretch>
                    </p:blipFill>
                    <p:spPr bwMode="auto">
                      <a:xfrm>
                        <a:off x="4040559" y="1260075"/>
                        <a:ext cx="1050925" cy="484188"/>
                      </a:xfrm>
                      <a:prstGeom prst="rect">
                        <a:avLst/>
                      </a:prstGeom>
                      <a:noFill/>
                      <a:ln>
                        <a:noFill/>
                      </a:ln>
                    </p:spPr>
                  </p:pic>
                </p:oleObj>
              </mc:Fallback>
            </mc:AlternateContent>
          </a:graphicData>
        </a:graphic>
      </p:graphicFrame>
      <p:graphicFrame>
        <p:nvGraphicFramePr>
          <p:cNvPr id="26" name="Object 3"/>
          <p:cNvGraphicFramePr>
            <a:graphicFrameLocks noChangeAspect="1"/>
          </p:cNvGraphicFramePr>
          <p:nvPr>
            <p:extLst>
              <p:ext uri="{D42A27DB-BD31-4B8C-83A1-F6EECF244321}">
                <p14:modId xmlns:p14="http://schemas.microsoft.com/office/powerpoint/2010/main" val="4217796115"/>
              </p:ext>
            </p:extLst>
          </p:nvPr>
        </p:nvGraphicFramePr>
        <p:xfrm>
          <a:off x="3223826" y="1870090"/>
          <a:ext cx="8380412" cy="1741488"/>
        </p:xfrm>
        <a:graphic>
          <a:graphicData uri="http://schemas.openxmlformats.org/presentationml/2006/ole">
            <mc:AlternateContent xmlns:mc="http://schemas.openxmlformats.org/markup-compatibility/2006">
              <mc:Choice xmlns:v="urn:schemas-microsoft-com:vml" Requires="v">
                <p:oleObj spid="_x0000_s325360" name="Equation" r:id="rId18" imgW="4520880" imgH="939600" progId="Equation.DSMT4">
                  <p:embed/>
                </p:oleObj>
              </mc:Choice>
              <mc:Fallback>
                <p:oleObj name="Equation" r:id="rId18" imgW="4520880" imgH="939600" progId="Equation.DSMT4">
                  <p:embed/>
                  <p:pic>
                    <p:nvPicPr>
                      <p:cNvPr id="15" name="Object 3"/>
                      <p:cNvPicPr>
                        <a:picLocks noChangeAspect="1" noChangeArrowheads="1"/>
                      </p:cNvPicPr>
                      <p:nvPr/>
                    </p:nvPicPr>
                    <p:blipFill>
                      <a:blip r:embed="rId19"/>
                      <a:srcRect/>
                      <a:stretch>
                        <a:fillRect/>
                      </a:stretch>
                    </p:blipFill>
                    <p:spPr bwMode="auto">
                      <a:xfrm>
                        <a:off x="3223826" y="1870090"/>
                        <a:ext cx="8380412" cy="1741488"/>
                      </a:xfrm>
                      <a:prstGeom prst="rect">
                        <a:avLst/>
                      </a:prstGeom>
                      <a:noFill/>
                      <a:ln>
                        <a:noFill/>
                      </a:ln>
                    </p:spPr>
                  </p:pic>
                </p:oleObj>
              </mc:Fallback>
            </mc:AlternateContent>
          </a:graphicData>
        </a:graphic>
      </p:graphicFrame>
      <p:graphicFrame>
        <p:nvGraphicFramePr>
          <p:cNvPr id="27" name="Object 4"/>
          <p:cNvGraphicFramePr>
            <a:graphicFrameLocks noChangeAspect="1"/>
          </p:cNvGraphicFramePr>
          <p:nvPr>
            <p:extLst>
              <p:ext uri="{D42A27DB-BD31-4B8C-83A1-F6EECF244321}">
                <p14:modId xmlns:p14="http://schemas.microsoft.com/office/powerpoint/2010/main" val="231293845"/>
              </p:ext>
            </p:extLst>
          </p:nvPr>
        </p:nvGraphicFramePr>
        <p:xfrm>
          <a:off x="3684589" y="5098371"/>
          <a:ext cx="7097713" cy="1733550"/>
        </p:xfrm>
        <a:graphic>
          <a:graphicData uri="http://schemas.openxmlformats.org/presentationml/2006/ole">
            <mc:AlternateContent xmlns:mc="http://schemas.openxmlformats.org/markup-compatibility/2006">
              <mc:Choice xmlns:v="urn:schemas-microsoft-com:vml" Requires="v">
                <p:oleObj spid="_x0000_s325361" name="Equation" r:id="rId20" imgW="3848040" imgH="939600" progId="Equation.DSMT4">
                  <p:embed/>
                </p:oleObj>
              </mc:Choice>
              <mc:Fallback>
                <p:oleObj name="Equation" r:id="rId20" imgW="3848040" imgH="939600" progId="Equation.DSMT4">
                  <p:embed/>
                  <p:pic>
                    <p:nvPicPr>
                      <p:cNvPr id="16" name="Object 4"/>
                      <p:cNvPicPr>
                        <a:picLocks noChangeAspect="1" noChangeArrowheads="1"/>
                      </p:cNvPicPr>
                      <p:nvPr/>
                    </p:nvPicPr>
                    <p:blipFill>
                      <a:blip r:embed="rId21"/>
                      <a:srcRect/>
                      <a:stretch>
                        <a:fillRect/>
                      </a:stretch>
                    </p:blipFill>
                    <p:spPr bwMode="auto">
                      <a:xfrm>
                        <a:off x="3684589" y="5098371"/>
                        <a:ext cx="7097713" cy="1733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8" name="矩形 27"/>
          <p:cNvSpPr/>
          <p:nvPr/>
        </p:nvSpPr>
        <p:spPr>
          <a:xfrm>
            <a:off x="8623867" y="542856"/>
            <a:ext cx="2146742" cy="369332"/>
          </a:xfrm>
          <a:prstGeom prst="rect">
            <a:avLst/>
          </a:prstGeom>
        </p:spPr>
        <p:txBody>
          <a:bodyPr wrap="none">
            <a:spAutoFit/>
          </a:bodyPr>
          <a:lstStyle/>
          <a:p>
            <a:r>
              <a:rPr lang="en-US" altLang="zh-CN" dirty="0">
                <a:solidFill>
                  <a:srgbClr val="FF0000"/>
                </a:solidFill>
                <a:latin typeface="黑体" panose="02010609060101010101" pitchFamily="49" charset="-122"/>
                <a:ea typeface="黑体" panose="02010609060101010101" pitchFamily="49" charset="-122"/>
              </a:rPr>
              <a:t>DKLT</a:t>
            </a:r>
            <a:r>
              <a:rPr lang="zh-CN" altLang="en-US" dirty="0">
                <a:solidFill>
                  <a:srgbClr val="FF0000"/>
                </a:solidFill>
                <a:latin typeface="黑体" panose="02010609060101010101" pitchFamily="49" charset="-122"/>
                <a:ea typeface="黑体" panose="02010609060101010101" pitchFamily="49" charset="-122"/>
              </a:rPr>
              <a:t>：离散</a:t>
            </a:r>
            <a:r>
              <a:rPr lang="en-US" altLang="zh-CN" dirty="0">
                <a:solidFill>
                  <a:srgbClr val="FF0000"/>
                </a:solidFill>
                <a:latin typeface="黑体" panose="02010609060101010101" pitchFamily="49" charset="-122"/>
                <a:ea typeface="黑体" panose="02010609060101010101" pitchFamily="49" charset="-122"/>
              </a:rPr>
              <a:t>K-L</a:t>
            </a:r>
            <a:r>
              <a:rPr lang="zh-CN" altLang="en-US" dirty="0">
                <a:solidFill>
                  <a:srgbClr val="FF0000"/>
                </a:solidFill>
                <a:latin typeface="黑体" panose="02010609060101010101" pitchFamily="49" charset="-122"/>
                <a:ea typeface="黑体" panose="02010609060101010101" pitchFamily="49" charset="-122"/>
              </a:rPr>
              <a:t>变换</a:t>
            </a:r>
            <a:endParaRPr lang="zh-CN" altLang="en-US" dirty="0"/>
          </a:p>
        </p:txBody>
      </p:sp>
      <p:sp>
        <p:nvSpPr>
          <p:cNvPr id="8" name="矩形 7"/>
          <p:cNvSpPr/>
          <p:nvPr/>
        </p:nvSpPr>
        <p:spPr>
          <a:xfrm>
            <a:off x="7949321" y="139384"/>
            <a:ext cx="646331" cy="369332"/>
          </a:xfrm>
          <a:prstGeom prst="rect">
            <a:avLst/>
          </a:prstGeom>
        </p:spPr>
        <p:txBody>
          <a:bodyPr wrap="none">
            <a:spAutoFit/>
          </a:bodyPr>
          <a:lstStyle/>
          <a:p>
            <a:r>
              <a:rPr lang="zh-CN" altLang="en-US" dirty="0">
                <a:solidFill>
                  <a:srgbClr val="FF0000"/>
                </a:solidFill>
                <a:latin typeface="黑体" panose="02010609060101010101" pitchFamily="49" charset="-122"/>
                <a:ea typeface="黑体" panose="02010609060101010101" pitchFamily="49" charset="-122"/>
              </a:rPr>
              <a:t>自习</a:t>
            </a:r>
            <a:endParaRPr lang="zh-CN" altLang="en-US" dirty="0"/>
          </a:p>
        </p:txBody>
      </p:sp>
    </p:spTree>
    <p:extLst>
      <p:ext uri="{BB962C8B-B14F-4D97-AF65-F5344CB8AC3E}">
        <p14:creationId xmlns:p14="http://schemas.microsoft.com/office/powerpoint/2010/main" val="714485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28800" y="975320"/>
            <a:ext cx="8458200" cy="5334000"/>
          </a:xfrm>
        </p:spPr>
        <p:txBody>
          <a:bodyPr/>
          <a:lstStyle/>
          <a:p>
            <a:pPr>
              <a:lnSpc>
                <a:spcPct val="90000"/>
              </a:lnSpc>
              <a:spcBef>
                <a:spcPts val="600"/>
              </a:spcBef>
              <a:buNone/>
            </a:pPr>
            <a:r>
              <a:rPr lang="zh-CN" altLang="en-US"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476573" y="213890"/>
            <a:ext cx="8992672" cy="563563"/>
          </a:xfrm>
        </p:spPr>
        <p:txBody>
          <a:bodyPr/>
          <a:lstStyle/>
          <a:p>
            <a:r>
              <a:rPr lang="en-US" altLang="zh-CN" dirty="0">
                <a:latin typeface="Times New Roman" panose="02020603050405020304" pitchFamily="18" charset="0"/>
                <a:cs typeface="Times New Roman" panose="02020603050405020304" pitchFamily="18" charset="0"/>
              </a:rPr>
              <a:t>17.3 K-L</a:t>
            </a:r>
            <a:r>
              <a:rPr lang="zh-CN" altLang="zh-CN" dirty="0">
                <a:latin typeface="Times New Roman" panose="02020603050405020304" pitchFamily="18" charset="0"/>
                <a:cs typeface="Times New Roman" panose="02020603050405020304" pitchFamily="18" charset="0"/>
              </a:rPr>
              <a:t>变换方法</a:t>
            </a:r>
            <a:r>
              <a:rPr lang="en-US" altLang="zh-CN" dirty="0" err="1">
                <a:latin typeface="Bahnschrift Condensed" panose="020B0502040204020203" pitchFamily="34" charset="0"/>
                <a:cs typeface="Times New Roman" panose="02020603050405020304" pitchFamily="18" charset="0"/>
              </a:rPr>
              <a:t>Karhunen-Loeve</a:t>
            </a:r>
            <a:r>
              <a:rPr lang="en-US" altLang="zh-CN" dirty="0">
                <a:latin typeface="Bahnschrift Condensed" panose="020B0502040204020203" pitchFamily="34" charset="0"/>
                <a:cs typeface="Times New Roman" panose="02020603050405020304" pitchFamily="18" charset="0"/>
              </a:rPr>
              <a:t> transform</a:t>
            </a:r>
            <a:endParaRPr lang="zh-CN" altLang="en-US" dirty="0">
              <a:latin typeface="Bahnschrift Condensed" panose="020B0502040204020203" pitchFamily="34" charset="0"/>
              <a:cs typeface="Times New Roman" panose="02020603050405020304" pitchFamily="18" charset="0"/>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27</a:t>
            </a:fld>
            <a:endParaRPr lang="en-US" altLang="zh-CN" dirty="0"/>
          </a:p>
        </p:txBody>
      </p:sp>
      <p:pic>
        <p:nvPicPr>
          <p:cNvPr id="314370" name="Picture 2" descr="http://latex.codecogs.com/gif.latex?%5Csigma_%7Bi%7D%20%2Ci%20%3D%201%2C%5Ccdots%20%2C%5Cinf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16438" y="-90488"/>
            <a:ext cx="1181100" cy="152401"/>
          </a:xfrm>
          <a:prstGeom prst="rect">
            <a:avLst/>
          </a:prstGeom>
          <a:noFill/>
          <a:extLst>
            <a:ext uri="{909E8E84-426E-40DD-AFC4-6F175D3DCCD1}">
              <a14:hiddenFill xmlns:a14="http://schemas.microsoft.com/office/drawing/2010/main">
                <a:solidFill>
                  <a:srgbClr val="FFFFFF"/>
                </a:solidFill>
              </a14:hiddenFill>
            </a:ext>
          </a:extLst>
        </p:spPr>
      </p:pic>
      <p:pic>
        <p:nvPicPr>
          <p:cNvPr id="315406" name="Picture 14" descr="http://latex.codecogs.com/gif.latex?%7b\Phi%20_%7bK%20-%20L%7d%7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87988" y="-76200"/>
            <a:ext cx="419100" cy="1524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6"/>
          <p:cNvSpPr>
            <a:spLocks noChangeArrowheads="1"/>
          </p:cNvSpPr>
          <p:nvPr/>
        </p:nvSpPr>
        <p:spPr bwMode="auto">
          <a:xfrm>
            <a:off x="6003635" y="82406"/>
            <a:ext cx="184731" cy="2923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sz="1300" dirty="0">
              <a:solidFill>
                <a:srgbClr val="4D4D4D"/>
              </a:solidFill>
              <a:latin typeface="Times New Roman" panose="02020603050405020304" pitchFamily="18" charset="0"/>
              <a:ea typeface="-apple-system"/>
              <a:cs typeface="Times New Roman" panose="02020603050405020304" pitchFamily="18" charset="0"/>
            </a:endParaRPr>
          </a:p>
        </p:txBody>
      </p:sp>
      <p:sp>
        <p:nvSpPr>
          <p:cNvPr id="17" name="Rectangle 9"/>
          <p:cNvSpPr>
            <a:spLocks noChangeArrowheads="1"/>
          </p:cNvSpPr>
          <p:nvPr/>
        </p:nvSpPr>
        <p:spPr bwMode="auto">
          <a:xfrm>
            <a:off x="1524001"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dirty="0"/>
          </a:p>
        </p:txBody>
      </p:sp>
      <p:pic>
        <p:nvPicPr>
          <p:cNvPr id="318475" name="Picture 11" descr="http://latex.codecogs.com/gif.latex?%7b\Phi%20_j%7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3614" y="-98425"/>
            <a:ext cx="180975" cy="180975"/>
          </a:xfrm>
          <a:prstGeom prst="rect">
            <a:avLst/>
          </a:prstGeom>
          <a:noFill/>
          <a:extLst>
            <a:ext uri="{909E8E84-426E-40DD-AFC4-6F175D3DCCD1}">
              <a14:hiddenFill xmlns:a14="http://schemas.microsoft.com/office/drawing/2010/main">
                <a:solidFill>
                  <a:srgbClr val="FFFFFF"/>
                </a:solidFill>
              </a14:hiddenFill>
            </a:ext>
          </a:extLst>
        </p:spPr>
      </p:pic>
      <p:sp>
        <p:nvSpPr>
          <p:cNvPr id="13" name="Text Box 14"/>
          <p:cNvSpPr txBox="1">
            <a:spLocks noChangeArrowheads="1"/>
          </p:cNvSpPr>
          <p:nvPr/>
        </p:nvSpPr>
        <p:spPr bwMode="auto">
          <a:xfrm>
            <a:off x="2187575" y="1285699"/>
            <a:ext cx="28525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000" dirty="0">
                <a:latin typeface="Times New Roman" panose="02020603050405020304" pitchFamily="18" charset="0"/>
                <a:ea typeface="+mn-ea"/>
                <a:cs typeface="Times New Roman" panose="02020603050405020304" pitchFamily="18" charset="0"/>
              </a:rPr>
              <a:t>再对</a:t>
            </a:r>
            <a:r>
              <a:rPr lang="en-US" altLang="zh-CN" sz="2000" dirty="0">
                <a:latin typeface="Times New Roman" panose="02020603050405020304" pitchFamily="18" charset="0"/>
                <a:cs typeface="Times New Roman" panose="02020603050405020304" pitchFamily="18" charset="0"/>
              </a:rPr>
              <a:t>y</a:t>
            </a:r>
            <a:r>
              <a:rPr lang="en-US" altLang="zh-CN" sz="2000" baseline="30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ea typeface="+mn-ea"/>
                <a:cs typeface="Times New Roman" panose="02020603050405020304" pitchFamily="18" charset="0"/>
              </a:rPr>
              <a:t>作变换：</a:t>
            </a:r>
          </a:p>
        </p:txBody>
      </p:sp>
      <p:graphicFrame>
        <p:nvGraphicFramePr>
          <p:cNvPr id="18" name="Object 5"/>
          <p:cNvGraphicFramePr>
            <a:graphicFrameLocks noChangeAspect="1"/>
          </p:cNvGraphicFramePr>
          <p:nvPr>
            <p:extLst>
              <p:ext uri="{D42A27DB-BD31-4B8C-83A1-F6EECF244321}">
                <p14:modId xmlns:p14="http://schemas.microsoft.com/office/powerpoint/2010/main" val="265896489"/>
              </p:ext>
            </p:extLst>
          </p:nvPr>
        </p:nvGraphicFramePr>
        <p:xfrm>
          <a:off x="4727848" y="1133145"/>
          <a:ext cx="4711700" cy="644525"/>
        </p:xfrm>
        <a:graphic>
          <a:graphicData uri="http://schemas.openxmlformats.org/presentationml/2006/ole">
            <mc:AlternateContent xmlns:mc="http://schemas.openxmlformats.org/markup-compatibility/2006">
              <mc:Choice xmlns:v="urn:schemas-microsoft-com:vml" Requires="v">
                <p:oleObj spid="_x0000_s328186" name="Equation" r:id="rId6" imgW="2349360" imgH="317160" progId="Equation.DSMT4">
                  <p:embed/>
                </p:oleObj>
              </mc:Choice>
              <mc:Fallback>
                <p:oleObj name="Equation" r:id="rId6" imgW="2349360" imgH="317160" progId="Equation.DSMT4">
                  <p:embed/>
                  <p:pic>
                    <p:nvPicPr>
                      <p:cNvPr id="0" name=""/>
                      <p:cNvPicPr>
                        <a:picLocks noChangeAspect="1" noChangeArrowheads="1"/>
                      </p:cNvPicPr>
                      <p:nvPr/>
                    </p:nvPicPr>
                    <p:blipFill>
                      <a:blip r:embed="rId7"/>
                      <a:srcRect/>
                      <a:stretch>
                        <a:fillRect/>
                      </a:stretch>
                    </p:blipFill>
                    <p:spPr bwMode="auto">
                      <a:xfrm>
                        <a:off x="4727848" y="1133145"/>
                        <a:ext cx="4711700" cy="644525"/>
                      </a:xfrm>
                      <a:prstGeom prst="rect">
                        <a:avLst/>
                      </a:prstGeom>
                      <a:noFill/>
                      <a:ln>
                        <a:noFill/>
                      </a:ln>
                    </p:spPr>
                  </p:pic>
                </p:oleObj>
              </mc:Fallback>
            </mc:AlternateContent>
          </a:graphicData>
        </a:graphic>
      </p:graphicFrame>
      <p:graphicFrame>
        <p:nvGraphicFramePr>
          <p:cNvPr id="19" name="Object 10"/>
          <p:cNvGraphicFramePr>
            <a:graphicFrameLocks noChangeAspect="1"/>
          </p:cNvGraphicFramePr>
          <p:nvPr>
            <p:extLst>
              <p:ext uri="{D42A27DB-BD31-4B8C-83A1-F6EECF244321}">
                <p14:modId xmlns:p14="http://schemas.microsoft.com/office/powerpoint/2010/main" val="3080041512"/>
              </p:ext>
            </p:extLst>
          </p:nvPr>
        </p:nvGraphicFramePr>
        <p:xfrm>
          <a:off x="2761815" y="2419162"/>
          <a:ext cx="7816850" cy="1455737"/>
        </p:xfrm>
        <a:graphic>
          <a:graphicData uri="http://schemas.openxmlformats.org/presentationml/2006/ole">
            <mc:AlternateContent xmlns:mc="http://schemas.openxmlformats.org/markup-compatibility/2006">
              <mc:Choice xmlns:v="urn:schemas-microsoft-com:vml" Requires="v">
                <p:oleObj spid="_x0000_s328187" name="Equation" r:id="rId8" imgW="4698720" imgH="863280" progId="Equation.DSMT4">
                  <p:embed/>
                </p:oleObj>
              </mc:Choice>
              <mc:Fallback>
                <p:oleObj name="Equation" r:id="rId8" imgW="4698720" imgH="863280" progId="Equation.DSMT4">
                  <p:embed/>
                  <p:pic>
                    <p:nvPicPr>
                      <p:cNvPr id="0" name=""/>
                      <p:cNvPicPr>
                        <a:picLocks noChangeAspect="1" noChangeArrowheads="1"/>
                      </p:cNvPicPr>
                      <p:nvPr/>
                    </p:nvPicPr>
                    <p:blipFill>
                      <a:blip r:embed="rId9"/>
                      <a:srcRect/>
                      <a:stretch>
                        <a:fillRect/>
                      </a:stretch>
                    </p:blipFill>
                    <p:spPr bwMode="auto">
                      <a:xfrm>
                        <a:off x="2761815" y="2419162"/>
                        <a:ext cx="7816850" cy="1455737"/>
                      </a:xfrm>
                      <a:prstGeom prst="rect">
                        <a:avLst/>
                      </a:prstGeom>
                      <a:noFill/>
                      <a:ln>
                        <a:noFill/>
                      </a:ln>
                    </p:spPr>
                  </p:pic>
                </p:oleObj>
              </mc:Fallback>
            </mc:AlternateContent>
          </a:graphicData>
        </a:graphic>
      </p:graphicFrame>
      <p:sp>
        <p:nvSpPr>
          <p:cNvPr id="20" name="Text Box 14"/>
          <p:cNvSpPr txBox="1">
            <a:spLocks noChangeArrowheads="1"/>
          </p:cNvSpPr>
          <p:nvPr/>
        </p:nvSpPr>
        <p:spPr bwMode="auto">
          <a:xfrm>
            <a:off x="259804" y="2306635"/>
            <a:ext cx="29385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000" dirty="0">
                <a:latin typeface="Times New Roman" panose="02020603050405020304" pitchFamily="18" charset="0"/>
                <a:ea typeface="+mn-ea"/>
                <a:cs typeface="Times New Roman" panose="02020603050405020304" pitchFamily="18" charset="0"/>
              </a:rPr>
              <a:t>求新变换后的协方差：</a:t>
            </a:r>
          </a:p>
        </p:txBody>
      </p:sp>
      <mc:AlternateContent xmlns:mc="http://schemas.openxmlformats.org/markup-compatibility/2006" xmlns:a14="http://schemas.microsoft.com/office/drawing/2010/main">
        <mc:Choice Requires="a14">
          <p:sp>
            <p:nvSpPr>
              <p:cNvPr id="6" name="矩形 5"/>
              <p:cNvSpPr/>
              <p:nvPr/>
            </p:nvSpPr>
            <p:spPr>
              <a:xfrm>
                <a:off x="1896000" y="4546336"/>
                <a:ext cx="8682415" cy="421013"/>
              </a:xfrm>
              <a:prstGeom prst="rect">
                <a:avLst/>
              </a:prstGeom>
            </p:spPr>
            <p:txBody>
              <a:bodyPr wrap="square">
                <a:spAutoFit/>
              </a:bodyPr>
              <a:lstStyle/>
              <a:p>
                <a:pPr>
                  <a:spcBef>
                    <a:spcPct val="50000"/>
                  </a:spcBef>
                  <a:buClrTx/>
                  <a:buSzTx/>
                  <a:buFontTx/>
                  <a:buNone/>
                </a:pPr>
                <a:r>
                  <a:rPr lang="zh-CN" altLang="en-US" sz="2000" dirty="0">
                    <a:latin typeface="Times New Roman" panose="02020603050405020304" pitchFamily="18" charset="0"/>
                    <a:cs typeface="Times New Roman" panose="02020603050405020304" pitchFamily="18" charset="0"/>
                  </a:rPr>
                  <a:t>这样</a:t>
                </a:r>
                <a14:m>
                  <m:oMath xmlns:m="http://schemas.openxmlformats.org/officeDocument/2006/math">
                    <m:sSup>
                      <m:sSupPr>
                        <m:ctrlPr>
                          <a:rPr lang="zh-CN" altLang="en-US" sz="2000" i="1">
                            <a:latin typeface="Cambria Math" panose="02040503050406030204" pitchFamily="18" charset="0"/>
                          </a:rPr>
                        </m:ctrlPr>
                      </m:sSupPr>
                      <m:e>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𝑦</m:t>
                            </m:r>
                          </m:e>
                        </m:acc>
                      </m:e>
                      <m:sup>
                        <m:d>
                          <m:dPr>
                            <m:ctrlPr>
                              <a:rPr lang="zh-CN" altLang="en-US" sz="2000" i="1">
                                <a:latin typeface="Cambria Math" panose="02040503050406030204" pitchFamily="18" charset="0"/>
                              </a:rPr>
                            </m:ctrlPr>
                          </m:dPr>
                          <m:e>
                            <m:r>
                              <a:rPr lang="zh-CN" altLang="en-US" sz="2000">
                                <a:latin typeface="Cambria Math" panose="02040503050406030204" pitchFamily="18" charset="0"/>
                              </a:rPr>
                              <m:t>1</m:t>
                            </m:r>
                          </m:e>
                        </m:d>
                      </m:sup>
                    </m:sSup>
                  </m:oMath>
                </a14:m>
                <a:r>
                  <a:rPr lang="zh-CN" altLang="en-US" sz="2000" dirty="0">
                    <a:latin typeface="Times New Roman" panose="02020603050405020304" pitchFamily="18" charset="0"/>
                    <a:cs typeface="Times New Roman" panose="02020603050405020304" pitchFamily="18" charset="0"/>
                  </a:rPr>
                  <a:t>的协方差阵为单位阵，即各分量也不相关。</a:t>
                </a:r>
              </a:p>
            </p:txBody>
          </p:sp>
        </mc:Choice>
        <mc:Fallback xmlns="">
          <p:sp>
            <p:nvSpPr>
              <p:cNvPr id="6" name="矩形 5"/>
              <p:cNvSpPr>
                <a:spLocks noRot="1" noChangeAspect="1" noMove="1" noResize="1" noEditPoints="1" noAdjustHandles="1" noChangeArrowheads="1" noChangeShapeType="1" noTextEdit="1"/>
              </p:cNvSpPr>
              <p:nvPr/>
            </p:nvSpPr>
            <p:spPr>
              <a:xfrm>
                <a:off x="1896000" y="4546336"/>
                <a:ext cx="8682415" cy="421013"/>
              </a:xfrm>
              <a:prstGeom prst="rect">
                <a:avLst/>
              </a:prstGeom>
              <a:blipFill>
                <a:blip r:embed="rId10"/>
                <a:stretch>
                  <a:fillRect l="-702" t="-7246" b="-21739"/>
                </a:stretch>
              </a:blipFill>
            </p:spPr>
            <p:txBody>
              <a:bodyPr/>
              <a:lstStyle/>
              <a:p>
                <a:r>
                  <a:rPr lang="zh-CN" altLang="en-US">
                    <a:noFill/>
                  </a:rPr>
                  <a:t> </a:t>
                </a:r>
              </a:p>
            </p:txBody>
          </p:sp>
        </mc:Fallback>
      </mc:AlternateContent>
      <p:sp>
        <p:nvSpPr>
          <p:cNvPr id="8" name="矩形 7"/>
          <p:cNvSpPr/>
          <p:nvPr/>
        </p:nvSpPr>
        <p:spPr>
          <a:xfrm rot="773382">
            <a:off x="8639026" y="874840"/>
            <a:ext cx="1569660" cy="369332"/>
          </a:xfrm>
          <a:prstGeom prst="rect">
            <a:avLst/>
          </a:prstGeom>
          <a:solidFill>
            <a:schemeClr val="bg1"/>
          </a:solidFill>
          <a:ln>
            <a:solidFill>
              <a:srgbClr val="FF0000"/>
            </a:solidFill>
          </a:ln>
        </p:spPr>
        <p:txBody>
          <a:bodyPr wrap="none">
            <a:spAutoFit/>
          </a:bodyPr>
          <a:lstStyle/>
          <a:p>
            <a:r>
              <a:rPr lang="zh-CN" altLang="en-US" dirty="0">
                <a:solidFill>
                  <a:srgbClr val="FF0000"/>
                </a:solidFill>
                <a:ea typeface="黑体" panose="02010609060101010101" pitchFamily="49" charset="-122"/>
              </a:rPr>
              <a:t>称为白化变换</a:t>
            </a:r>
            <a:endParaRPr lang="zh-CN" altLang="en-US" dirty="0">
              <a:solidFill>
                <a:srgbClr val="FF0000"/>
              </a:solidFill>
            </a:endParaRPr>
          </a:p>
        </p:txBody>
      </p:sp>
      <p:sp>
        <p:nvSpPr>
          <p:cNvPr id="9" name="矩形 8"/>
          <p:cNvSpPr/>
          <p:nvPr/>
        </p:nvSpPr>
        <p:spPr>
          <a:xfrm>
            <a:off x="2828959" y="5029664"/>
            <a:ext cx="3437905" cy="707886"/>
          </a:xfrm>
          <a:prstGeom prst="rect">
            <a:avLst/>
          </a:prstGeom>
        </p:spPr>
        <p:txBody>
          <a:bodyPr wrap="square">
            <a:spAutoFit/>
          </a:bodyPr>
          <a:lstStyle/>
          <a:p>
            <a:r>
              <a:rPr lang="zh-CN" altLang="en-US" sz="2000" dirty="0">
                <a:latin typeface="Times New Roman" panose="02020603050405020304" pitchFamily="18" charset="0"/>
                <a:cs typeface="Times New Roman" panose="02020603050405020304" pitchFamily="18" charset="0"/>
              </a:rPr>
              <a:t>用</a:t>
            </a:r>
            <a:r>
              <a:rPr lang="en-US" altLang="zh-CN" sz="2000" dirty="0">
                <a:latin typeface="Times New Roman" panose="02020603050405020304" pitchFamily="18" charset="0"/>
                <a:cs typeface="Times New Roman" panose="02020603050405020304" pitchFamily="18" charset="0"/>
              </a:rPr>
              <a:t>U</a:t>
            </a:r>
            <a:r>
              <a:rPr lang="zh-CN" altLang="en-US" sz="2000" dirty="0">
                <a:latin typeface="Times New Roman" panose="02020603050405020304" pitchFamily="18" charset="0"/>
                <a:cs typeface="Times New Roman" panose="02020603050405020304" pitchFamily="18" charset="0"/>
              </a:rPr>
              <a:t>消除原来分量的相关性。用</a:t>
            </a:r>
            <a:r>
              <a:rPr lang="el-GR" altLang="zh-CN" sz="2000" dirty="0">
                <a:latin typeface="Times New Roman" panose="02020603050405020304" pitchFamily="18" charset="0"/>
                <a:cs typeface="Times New Roman" panose="02020603050405020304" pitchFamily="18" charset="0"/>
              </a:rPr>
              <a:t>Λ</a:t>
            </a:r>
            <a:r>
              <a:rPr lang="en-US" altLang="zh-CN" sz="2000" baseline="30000" dirty="0">
                <a:latin typeface="Times New Roman" panose="02020603050405020304" pitchFamily="18" charset="0"/>
                <a:cs typeface="Times New Roman" panose="02020603050405020304" pitchFamily="18" charset="0"/>
              </a:rPr>
              <a:t>-1/2</a:t>
            </a:r>
            <a:r>
              <a:rPr lang="zh-CN" altLang="en-US" sz="2000" dirty="0">
                <a:latin typeface="Times New Roman" panose="02020603050405020304" pitchFamily="18" charset="0"/>
                <a:cs typeface="Times New Roman" panose="02020603050405020304" pitchFamily="18" charset="0"/>
              </a:rPr>
              <a:t>进行归一化。</a:t>
            </a:r>
            <a:endParaRPr lang="en-US" altLang="zh-CN" sz="2000" dirty="0">
              <a:latin typeface="Times New Roman" panose="02020603050405020304" pitchFamily="18" charset="0"/>
              <a:cs typeface="Times New Roman" panose="02020603050405020304" pitchFamily="18" charset="0"/>
            </a:endParaRPr>
          </a:p>
        </p:txBody>
      </p:sp>
      <p:pic>
        <p:nvPicPr>
          <p:cNvPr id="21" name="图片 20"/>
          <p:cNvPicPr>
            <a:picLocks noChangeAspect="1"/>
          </p:cNvPicPr>
          <p:nvPr/>
        </p:nvPicPr>
        <p:blipFill>
          <a:blip r:embed="rId11"/>
          <a:stretch>
            <a:fillRect/>
          </a:stretch>
        </p:blipFill>
        <p:spPr>
          <a:xfrm>
            <a:off x="8611924" y="4150300"/>
            <a:ext cx="2592761" cy="2176941"/>
          </a:xfrm>
          <a:prstGeom prst="rect">
            <a:avLst/>
          </a:prstGeom>
        </p:spPr>
      </p:pic>
      <p:sp>
        <p:nvSpPr>
          <p:cNvPr id="22" name="矩形 21"/>
          <p:cNvSpPr/>
          <p:nvPr/>
        </p:nvSpPr>
        <p:spPr>
          <a:xfrm>
            <a:off x="1828800" y="5780176"/>
            <a:ext cx="5913907" cy="400110"/>
          </a:xfrm>
          <a:prstGeom prst="rect">
            <a:avLst/>
          </a:prstGeom>
        </p:spPr>
        <p:txBody>
          <a:bodyPr wrap="square">
            <a:spAutoFit/>
          </a:bodyPr>
          <a:lstStyle/>
          <a:p>
            <a:r>
              <a:rPr lang="zh-CN" altLang="zh-CN" sz="2000" b="1" dirty="0">
                <a:solidFill>
                  <a:srgbClr val="00B050"/>
                </a:solidFill>
                <a:latin typeface="宋体" panose="02010600030101010101" pitchFamily="2" charset="-122"/>
                <a:ea typeface="宋体" panose="02010600030101010101" pitchFamily="2" charset="-122"/>
                <a:cs typeface="Times New Roman" panose="02020603050405020304" pitchFamily="18" charset="0"/>
              </a:rPr>
              <a:t>这一步是坐标尺度变换，相当于把椭圆整形成圆</a:t>
            </a:r>
          </a:p>
        </p:txBody>
      </p:sp>
      <p:graphicFrame>
        <p:nvGraphicFramePr>
          <p:cNvPr id="23" name="Object 5"/>
          <p:cNvGraphicFramePr>
            <a:graphicFrameLocks noChangeAspect="1"/>
          </p:cNvGraphicFramePr>
          <p:nvPr>
            <p:extLst>
              <p:ext uri="{D42A27DB-BD31-4B8C-83A1-F6EECF244321}">
                <p14:modId xmlns:p14="http://schemas.microsoft.com/office/powerpoint/2010/main" val="728431787"/>
              </p:ext>
            </p:extLst>
          </p:nvPr>
        </p:nvGraphicFramePr>
        <p:xfrm>
          <a:off x="2657475" y="1677989"/>
          <a:ext cx="2827338" cy="669925"/>
        </p:xfrm>
        <a:graphic>
          <a:graphicData uri="http://schemas.openxmlformats.org/presentationml/2006/ole">
            <mc:AlternateContent xmlns:mc="http://schemas.openxmlformats.org/markup-compatibility/2006">
              <mc:Choice xmlns:v="urn:schemas-microsoft-com:vml" Requires="v">
                <p:oleObj spid="_x0000_s328188" name="Equation" r:id="rId12" imgW="1409400" imgH="330120" progId="Equation.DSMT4">
                  <p:embed/>
                </p:oleObj>
              </mc:Choice>
              <mc:Fallback>
                <p:oleObj name="Equation" r:id="rId12" imgW="1409400" imgH="330120" progId="Equation.DSMT4">
                  <p:embed/>
                  <p:pic>
                    <p:nvPicPr>
                      <p:cNvPr id="0" name=""/>
                      <p:cNvPicPr>
                        <a:picLocks noChangeAspect="1" noChangeArrowheads="1"/>
                      </p:cNvPicPr>
                      <p:nvPr/>
                    </p:nvPicPr>
                    <p:blipFill>
                      <a:blip r:embed="rId13"/>
                      <a:srcRect/>
                      <a:stretch>
                        <a:fillRect/>
                      </a:stretch>
                    </p:blipFill>
                    <p:spPr bwMode="auto">
                      <a:xfrm>
                        <a:off x="2657475" y="1677989"/>
                        <a:ext cx="2827338" cy="669925"/>
                      </a:xfrm>
                      <a:prstGeom prst="rect">
                        <a:avLst/>
                      </a:prstGeom>
                      <a:noFill/>
                      <a:ln>
                        <a:noFill/>
                      </a:ln>
                    </p:spPr>
                  </p:pic>
                </p:oleObj>
              </mc:Fallback>
            </mc:AlternateContent>
          </a:graphicData>
        </a:graphic>
      </p:graphicFrame>
      <p:sp>
        <p:nvSpPr>
          <p:cNvPr id="24" name="矩形 23"/>
          <p:cNvSpPr/>
          <p:nvPr/>
        </p:nvSpPr>
        <p:spPr>
          <a:xfrm>
            <a:off x="5883005" y="1907540"/>
            <a:ext cx="1574470" cy="369332"/>
          </a:xfrm>
          <a:prstGeom prst="rect">
            <a:avLst/>
          </a:prstGeom>
          <a:solidFill>
            <a:schemeClr val="bg1"/>
          </a:solidFill>
          <a:ln>
            <a:solidFill>
              <a:srgbClr val="FF0000"/>
            </a:solidFill>
          </a:ln>
        </p:spPr>
        <p:txBody>
          <a:bodyPr wrap="none">
            <a:spAutoFit/>
          </a:bodyPr>
          <a:lstStyle/>
          <a:p>
            <a:r>
              <a:rPr lang="zh-CN" altLang="en-US" dirty="0">
                <a:solidFill>
                  <a:srgbClr val="FF0000"/>
                </a:solidFill>
                <a:ea typeface="黑体" panose="02010609060101010101" pitchFamily="49" charset="-122"/>
              </a:rPr>
              <a:t>白化变换矩阵</a:t>
            </a:r>
            <a:endParaRPr lang="zh-CN" altLang="en-US" dirty="0">
              <a:solidFill>
                <a:srgbClr val="FF0000"/>
              </a:solidFill>
            </a:endParaRPr>
          </a:p>
        </p:txBody>
      </p:sp>
      <p:graphicFrame>
        <p:nvGraphicFramePr>
          <p:cNvPr id="25" name="Object 10"/>
          <p:cNvGraphicFramePr>
            <a:graphicFrameLocks noChangeAspect="1"/>
          </p:cNvGraphicFramePr>
          <p:nvPr>
            <p:extLst>
              <p:ext uri="{D42A27DB-BD31-4B8C-83A1-F6EECF244321}">
                <p14:modId xmlns:p14="http://schemas.microsoft.com/office/powerpoint/2010/main" val="537454875"/>
              </p:ext>
            </p:extLst>
          </p:nvPr>
        </p:nvGraphicFramePr>
        <p:xfrm>
          <a:off x="2202135" y="3985121"/>
          <a:ext cx="5051425" cy="428625"/>
        </p:xfrm>
        <a:graphic>
          <a:graphicData uri="http://schemas.openxmlformats.org/presentationml/2006/ole">
            <mc:AlternateContent xmlns:mc="http://schemas.openxmlformats.org/markup-compatibility/2006">
              <mc:Choice xmlns:v="urn:schemas-microsoft-com:vml" Requires="v">
                <p:oleObj spid="_x0000_s328189" name="Equation" r:id="rId14" imgW="3035160" imgH="253800" progId="Equation.DSMT4">
                  <p:embed/>
                </p:oleObj>
              </mc:Choice>
              <mc:Fallback>
                <p:oleObj name="Equation" r:id="rId14" imgW="3035160" imgH="253800" progId="Equation.DSMT4">
                  <p:embed/>
                  <p:pic>
                    <p:nvPicPr>
                      <p:cNvPr id="0" name=""/>
                      <p:cNvPicPr>
                        <a:picLocks noChangeAspect="1" noChangeArrowheads="1"/>
                      </p:cNvPicPr>
                      <p:nvPr/>
                    </p:nvPicPr>
                    <p:blipFill>
                      <a:blip r:embed="rId15"/>
                      <a:srcRect/>
                      <a:stretch>
                        <a:fillRect/>
                      </a:stretch>
                    </p:blipFill>
                    <p:spPr bwMode="auto">
                      <a:xfrm>
                        <a:off x="2202135" y="3985121"/>
                        <a:ext cx="5051425" cy="428625"/>
                      </a:xfrm>
                      <a:prstGeom prst="rect">
                        <a:avLst/>
                      </a:prstGeom>
                      <a:noFill/>
                      <a:ln>
                        <a:noFill/>
                      </a:ln>
                    </p:spPr>
                  </p:pic>
                </p:oleObj>
              </mc:Fallback>
            </mc:AlternateContent>
          </a:graphicData>
        </a:graphic>
      </p:graphicFrame>
      <p:sp>
        <p:nvSpPr>
          <p:cNvPr id="5" name="矩形 4"/>
          <p:cNvSpPr/>
          <p:nvPr/>
        </p:nvSpPr>
        <p:spPr>
          <a:xfrm>
            <a:off x="133653" y="927846"/>
            <a:ext cx="5314275" cy="369332"/>
          </a:xfrm>
          <a:prstGeom prst="rect">
            <a:avLst/>
          </a:prstGeom>
        </p:spPr>
        <p:txBody>
          <a:bodyPr wrap="none">
            <a:spAutoFit/>
          </a:bodyPr>
          <a:lstStyle/>
          <a:p>
            <a:pPr>
              <a:lnSpc>
                <a:spcPct val="90000"/>
              </a:lnSpc>
              <a:spcBef>
                <a:spcPts val="600"/>
              </a:spcBef>
              <a:buNone/>
            </a:pPr>
            <a:r>
              <a:rPr lang="en-US" altLang="zh-CN" sz="2000" dirty="0">
                <a:solidFill>
                  <a:srgbClr val="FF0000"/>
                </a:solidFill>
                <a:latin typeface="Times New Roman" panose="02020603050405020304" pitchFamily="18" charset="0"/>
                <a:cs typeface="Times New Roman" panose="02020603050405020304" pitchFamily="18" charset="0"/>
              </a:rPr>
              <a:t>2</a:t>
            </a:r>
            <a:r>
              <a:rPr lang="zh-CN" altLang="en-US" sz="2000" dirty="0">
                <a:solidFill>
                  <a:srgbClr val="FF0000"/>
                </a:solidFill>
                <a:latin typeface="Times New Roman" panose="02020603050405020304" pitchFamily="18" charset="0"/>
                <a:cs typeface="Times New Roman" panose="02020603050405020304" pitchFamily="18" charset="0"/>
              </a:rPr>
              <a:t>、</a:t>
            </a:r>
            <a:r>
              <a:rPr lang="zh-CN" altLang="en-US" sz="2000" dirty="0">
                <a:solidFill>
                  <a:srgbClr val="FF0000"/>
                </a:solidFill>
                <a:latin typeface="黑体" panose="02010609060101010101" pitchFamily="49" charset="-122"/>
                <a:ea typeface="黑体" panose="02010609060101010101" pitchFamily="49" charset="-122"/>
              </a:rPr>
              <a:t>运用</a:t>
            </a:r>
            <a:r>
              <a:rPr lang="en-US" altLang="zh-CN" sz="2000" dirty="0">
                <a:solidFill>
                  <a:srgbClr val="FF0000"/>
                </a:solidFill>
                <a:latin typeface="黑体" panose="02010609060101010101" pitchFamily="49" charset="-122"/>
                <a:ea typeface="黑体" panose="02010609060101010101" pitchFamily="49" charset="-122"/>
              </a:rPr>
              <a:t>DKLT</a:t>
            </a:r>
            <a:r>
              <a:rPr lang="zh-CN" altLang="en-US" sz="2000" dirty="0">
                <a:solidFill>
                  <a:srgbClr val="FF0000"/>
                </a:solidFill>
                <a:latin typeface="黑体" panose="02010609060101010101" pitchFamily="49" charset="-122"/>
                <a:ea typeface="黑体" panose="02010609060101010101" pitchFamily="49" charset="-122"/>
              </a:rPr>
              <a:t>消除两类问题的特征相关性方法 </a:t>
            </a:r>
            <a:endParaRPr lang="en-US" altLang="zh-CN" sz="2000" dirty="0">
              <a:solidFill>
                <a:srgbClr val="FF0000"/>
              </a:solidFill>
              <a:latin typeface="黑体" panose="02010609060101010101" pitchFamily="49" charset="-122"/>
              <a:ea typeface="黑体" panose="02010609060101010101" pitchFamily="49" charset="-122"/>
            </a:endParaRPr>
          </a:p>
        </p:txBody>
      </p:sp>
      <p:sp>
        <p:nvSpPr>
          <p:cNvPr id="7" name="矩形 6"/>
          <p:cNvSpPr/>
          <p:nvPr/>
        </p:nvSpPr>
        <p:spPr>
          <a:xfrm>
            <a:off x="991346" y="1293813"/>
            <a:ext cx="1133644" cy="369332"/>
          </a:xfrm>
          <a:prstGeom prst="rect">
            <a:avLst/>
          </a:prstGeom>
        </p:spPr>
        <p:txBody>
          <a:bodyPr wrap="none">
            <a:spAutoFit/>
          </a:bodyPr>
          <a:lstStyle/>
          <a:p>
            <a:r>
              <a:rPr lang="en-US" altLang="zh-CN" dirty="0">
                <a:solidFill>
                  <a:srgbClr val="0000FF"/>
                </a:solidFill>
                <a:latin typeface="Times New Roman" panose="02020603050405020304" pitchFamily="18" charset="0"/>
                <a:cs typeface="Times New Roman" panose="02020603050405020304" pitchFamily="18" charset="0"/>
              </a:rPr>
              <a:t>step</a:t>
            </a:r>
            <a:r>
              <a:rPr lang="zh-CN" altLang="en-US" dirty="0">
                <a:solidFill>
                  <a:srgbClr val="0000FF"/>
                </a:solidFill>
                <a:latin typeface="Times New Roman" panose="02020603050405020304" pitchFamily="18" charset="0"/>
                <a:cs typeface="Times New Roman" panose="02020603050405020304" pitchFamily="18" charset="0"/>
              </a:rPr>
              <a:t>（</a:t>
            </a:r>
            <a:r>
              <a:rPr lang="en-US" altLang="zh-CN" dirty="0">
                <a:solidFill>
                  <a:srgbClr val="0000FF"/>
                </a:solidFill>
                <a:latin typeface="Times New Roman" panose="02020603050405020304" pitchFamily="18" charset="0"/>
                <a:cs typeface="Times New Roman" panose="02020603050405020304" pitchFamily="18" charset="0"/>
              </a:rPr>
              <a:t>2</a:t>
            </a:r>
            <a:r>
              <a:rPr lang="zh-CN" altLang="en-US" dirty="0">
                <a:solidFill>
                  <a:srgbClr val="0000FF"/>
                </a:solidFill>
                <a:latin typeface="Times New Roman" panose="02020603050405020304" pitchFamily="18" charset="0"/>
                <a:cs typeface="Times New Roman" panose="02020603050405020304" pitchFamily="18" charset="0"/>
              </a:rPr>
              <a:t>）</a:t>
            </a:r>
            <a:endParaRPr lang="zh-CN" altLang="en-US" dirty="0">
              <a:solidFill>
                <a:srgbClr val="0000FF"/>
              </a:solidFill>
            </a:endParaRPr>
          </a:p>
        </p:txBody>
      </p:sp>
      <p:sp>
        <p:nvSpPr>
          <p:cNvPr id="26" name="矩形 25"/>
          <p:cNvSpPr/>
          <p:nvPr/>
        </p:nvSpPr>
        <p:spPr>
          <a:xfrm>
            <a:off x="7949321" y="139384"/>
            <a:ext cx="646331" cy="369332"/>
          </a:xfrm>
          <a:prstGeom prst="rect">
            <a:avLst/>
          </a:prstGeom>
        </p:spPr>
        <p:txBody>
          <a:bodyPr wrap="none">
            <a:spAutoFit/>
          </a:bodyPr>
          <a:lstStyle/>
          <a:p>
            <a:r>
              <a:rPr lang="zh-CN" altLang="en-US" dirty="0">
                <a:solidFill>
                  <a:srgbClr val="FF0000"/>
                </a:solidFill>
                <a:latin typeface="黑体" panose="02010609060101010101" pitchFamily="49" charset="-122"/>
                <a:ea typeface="黑体" panose="02010609060101010101" pitchFamily="49" charset="-122"/>
              </a:rPr>
              <a:t>自习</a:t>
            </a:r>
            <a:endParaRPr lang="zh-CN" altLang="en-US" dirty="0"/>
          </a:p>
        </p:txBody>
      </p:sp>
    </p:spTree>
    <p:extLst>
      <p:ext uri="{BB962C8B-B14F-4D97-AF65-F5344CB8AC3E}">
        <p14:creationId xmlns:p14="http://schemas.microsoft.com/office/powerpoint/2010/main" val="251779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81315" y="1087964"/>
            <a:ext cx="8458200" cy="5334000"/>
          </a:xfrm>
        </p:spPr>
        <p:txBody>
          <a:bodyPr/>
          <a:lstStyle/>
          <a:p>
            <a:pPr>
              <a:lnSpc>
                <a:spcPct val="90000"/>
              </a:lnSpc>
              <a:spcBef>
                <a:spcPts val="600"/>
              </a:spcBef>
              <a:buNone/>
            </a:pPr>
            <a:endParaRPr lang="en-US" altLang="zh-CN" sz="2000" dirty="0">
              <a:latin typeface="Times New Roman" panose="02020603050405020304" pitchFamily="18" charset="0"/>
              <a:cs typeface="Times New Roman" panose="02020603050405020304" pitchFamily="18" charset="0"/>
            </a:endParaRPr>
          </a:p>
          <a:p>
            <a:pPr>
              <a:lnSpc>
                <a:spcPct val="90000"/>
              </a:lnSpc>
              <a:spcBef>
                <a:spcPts val="600"/>
              </a:spcBef>
              <a:buNone/>
            </a:pPr>
            <a:r>
              <a:rPr lang="zh-CN" altLang="en-US" sz="2000" dirty="0">
                <a:latin typeface="Times New Roman" panose="02020603050405020304" pitchFamily="18" charset="0"/>
                <a:cs typeface="Times New Roman" panose="02020603050405020304" pitchFamily="18" charset="0"/>
              </a:rPr>
              <a:t>又再转换：</a:t>
            </a:r>
          </a:p>
        </p:txBody>
      </p:sp>
      <p:sp>
        <p:nvSpPr>
          <p:cNvPr id="2" name="标题 1"/>
          <p:cNvSpPr>
            <a:spLocks noGrp="1"/>
          </p:cNvSpPr>
          <p:nvPr>
            <p:ph type="title"/>
          </p:nvPr>
        </p:nvSpPr>
        <p:spPr>
          <a:xfrm>
            <a:off x="479376" y="152401"/>
            <a:ext cx="9350424" cy="563563"/>
          </a:xfrm>
        </p:spPr>
        <p:txBody>
          <a:bodyPr/>
          <a:lstStyle/>
          <a:p>
            <a:r>
              <a:rPr lang="en-US" altLang="zh-CN" dirty="0">
                <a:latin typeface="Times New Roman" panose="02020603050405020304" pitchFamily="18" charset="0"/>
                <a:cs typeface="Times New Roman" panose="02020603050405020304" pitchFamily="18" charset="0"/>
              </a:rPr>
              <a:t>17.3 K-L</a:t>
            </a:r>
            <a:r>
              <a:rPr lang="zh-CN" altLang="zh-CN" dirty="0">
                <a:latin typeface="Times New Roman" panose="02020603050405020304" pitchFamily="18" charset="0"/>
                <a:cs typeface="Times New Roman" panose="02020603050405020304" pitchFamily="18" charset="0"/>
              </a:rPr>
              <a:t>变换方法</a:t>
            </a:r>
            <a:r>
              <a:rPr lang="en-US" altLang="zh-CN" dirty="0" err="1">
                <a:latin typeface="Bahnschrift Condensed" panose="020B0502040204020203" pitchFamily="34" charset="0"/>
                <a:cs typeface="Times New Roman" panose="02020603050405020304" pitchFamily="18" charset="0"/>
              </a:rPr>
              <a:t>Karhunen-Loeve</a:t>
            </a:r>
            <a:r>
              <a:rPr lang="en-US" altLang="zh-CN" dirty="0">
                <a:latin typeface="Bahnschrift Condensed" panose="020B0502040204020203" pitchFamily="34" charset="0"/>
                <a:cs typeface="Times New Roman" panose="02020603050405020304" pitchFamily="18" charset="0"/>
              </a:rPr>
              <a:t> transform</a:t>
            </a:r>
            <a:endParaRPr lang="zh-CN" altLang="en-US" dirty="0">
              <a:latin typeface="Bahnschrift Condensed" panose="020B0502040204020203" pitchFamily="34" charset="0"/>
              <a:cs typeface="Times New Roman" panose="02020603050405020304" pitchFamily="18" charset="0"/>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28</a:t>
            </a:fld>
            <a:endParaRPr lang="en-US" altLang="zh-CN" dirty="0"/>
          </a:p>
        </p:txBody>
      </p:sp>
      <p:pic>
        <p:nvPicPr>
          <p:cNvPr id="314370" name="Picture 2" descr="http://latex.codecogs.com/gif.latex?%5Csigma_%7Bi%7D%20%2Ci%20%3D%201%2C%5Ccdots%20%2C%5Cinf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16438" y="-90488"/>
            <a:ext cx="1181100" cy="152401"/>
          </a:xfrm>
          <a:prstGeom prst="rect">
            <a:avLst/>
          </a:prstGeom>
          <a:noFill/>
          <a:extLst>
            <a:ext uri="{909E8E84-426E-40DD-AFC4-6F175D3DCCD1}">
              <a14:hiddenFill xmlns:a14="http://schemas.microsoft.com/office/drawing/2010/main">
                <a:solidFill>
                  <a:srgbClr val="FFFFFF"/>
                </a:solidFill>
              </a14:hiddenFill>
            </a:ext>
          </a:extLst>
        </p:spPr>
      </p:pic>
      <p:pic>
        <p:nvPicPr>
          <p:cNvPr id="315406" name="Picture 14" descr="http://latex.codecogs.com/gif.latex?%7b\Phi%20_%7bK%20-%20L%7d%7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87988" y="-76200"/>
            <a:ext cx="419100" cy="1524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6"/>
          <p:cNvSpPr>
            <a:spLocks noChangeArrowheads="1"/>
          </p:cNvSpPr>
          <p:nvPr/>
        </p:nvSpPr>
        <p:spPr bwMode="auto">
          <a:xfrm>
            <a:off x="6003635" y="82406"/>
            <a:ext cx="184731" cy="2923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sz="1300" dirty="0">
              <a:solidFill>
                <a:srgbClr val="4D4D4D"/>
              </a:solidFill>
              <a:latin typeface="Times New Roman" panose="02020603050405020304" pitchFamily="18" charset="0"/>
              <a:ea typeface="-apple-system"/>
              <a:cs typeface="Times New Roman" panose="02020603050405020304" pitchFamily="18" charset="0"/>
            </a:endParaRPr>
          </a:p>
        </p:txBody>
      </p:sp>
      <p:sp>
        <p:nvSpPr>
          <p:cNvPr id="17" name="Rectangle 9"/>
          <p:cNvSpPr>
            <a:spLocks noChangeArrowheads="1"/>
          </p:cNvSpPr>
          <p:nvPr/>
        </p:nvSpPr>
        <p:spPr bwMode="auto">
          <a:xfrm>
            <a:off x="1524001"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dirty="0"/>
          </a:p>
        </p:txBody>
      </p:sp>
      <p:pic>
        <p:nvPicPr>
          <p:cNvPr id="318475" name="Picture 11" descr="http://latex.codecogs.com/gif.latex?%7b\Phi%20_j%7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3614" y="-98425"/>
            <a:ext cx="180975" cy="1809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3" name="Object 2"/>
          <p:cNvGraphicFramePr>
            <a:graphicFrameLocks noChangeAspect="1"/>
          </p:cNvGraphicFramePr>
          <p:nvPr/>
        </p:nvGraphicFramePr>
        <p:xfrm>
          <a:off x="4522924" y="1340769"/>
          <a:ext cx="1635826" cy="506327"/>
        </p:xfrm>
        <a:graphic>
          <a:graphicData uri="http://schemas.openxmlformats.org/presentationml/2006/ole">
            <mc:AlternateContent xmlns:mc="http://schemas.openxmlformats.org/markup-compatibility/2006">
              <mc:Choice xmlns:v="urn:schemas-microsoft-com:vml" Requires="v">
                <p:oleObj spid="_x0000_s331359" name="Equation" r:id="rId6" imgW="875920" imgH="266584" progId="Equation.DSMT4">
                  <p:embed/>
                </p:oleObj>
              </mc:Choice>
              <mc:Fallback>
                <p:oleObj name="Equation" r:id="rId6" imgW="875920" imgH="266584"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22924" y="1340769"/>
                        <a:ext cx="1635826" cy="506327"/>
                      </a:xfrm>
                      <a:prstGeom prst="rect">
                        <a:avLst/>
                      </a:prstGeom>
                      <a:noFill/>
                      <a:ln>
                        <a:noFill/>
                      </a:ln>
                    </p:spPr>
                  </p:pic>
                </p:oleObj>
              </mc:Fallback>
            </mc:AlternateContent>
          </a:graphicData>
        </a:graphic>
      </p:graphicFrame>
      <mc:AlternateContent xmlns:mc="http://schemas.openxmlformats.org/markup-compatibility/2006" xmlns:a14="http://schemas.microsoft.com/office/drawing/2010/main">
        <mc:Choice Requires="a14">
          <p:sp>
            <p:nvSpPr>
              <p:cNvPr id="7" name="矩形 6"/>
              <p:cNvSpPr/>
              <p:nvPr/>
            </p:nvSpPr>
            <p:spPr>
              <a:xfrm>
                <a:off x="2207568" y="1921786"/>
                <a:ext cx="3581750" cy="439992"/>
              </a:xfrm>
              <a:prstGeom prst="rect">
                <a:avLst/>
              </a:prstGeom>
            </p:spPr>
            <p:txBody>
              <a:bodyPr wrap="none">
                <a:spAutoFit/>
              </a:bodyPr>
              <a:lstStyle/>
              <a:p>
                <a:r>
                  <a:rPr lang="zh-CN" altLang="en-US" sz="2000" dirty="0">
                    <a:latin typeface="Times New Roman" panose="02020603050405020304" pitchFamily="18" charset="0"/>
                    <a:cs typeface="Times New Roman" panose="02020603050405020304" pitchFamily="18" charset="0"/>
                  </a:rPr>
                  <a:t>设</a:t>
                </a:r>
                <a:r>
                  <a:rPr lang="en-US" altLang="zh-CN" sz="2000" i="1" dirty="0">
                    <a:latin typeface="Times New Roman" panose="02020603050405020304" pitchFamily="18" charset="0"/>
                    <a:cs typeface="Times New Roman" panose="02020603050405020304" pitchFamily="18" charset="0"/>
                  </a:rPr>
                  <a:t>V</a:t>
                </a:r>
                <a:r>
                  <a:rPr lang="zh-CN" altLang="en-US" sz="2000" dirty="0">
                    <a:latin typeface="Times New Roman" panose="02020603050405020304" pitchFamily="18" charset="0"/>
                    <a:cs typeface="Times New Roman" panose="02020603050405020304" pitchFamily="18" charset="0"/>
                  </a:rPr>
                  <a:t>是</a:t>
                </a:r>
                <a14:m>
                  <m:oMath xmlns:m="http://schemas.openxmlformats.org/officeDocument/2006/math">
                    <m:sSub>
                      <m:sSubPr>
                        <m:ctrlPr>
                          <a:rPr lang="zh-CN" altLang="en-US" sz="2000" i="1">
                            <a:latin typeface="Cambria Math" panose="02040503050406030204" pitchFamily="18" charset="0"/>
                          </a:rPr>
                        </m:ctrlPr>
                      </m:sSubPr>
                      <m:e>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𝑆</m:t>
                            </m:r>
                          </m:e>
                        </m:acc>
                      </m:e>
                      <m:sub>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𝑊</m:t>
                            </m:r>
                          </m:e>
                          <m:sub>
                            <m:r>
                              <a:rPr lang="zh-CN" altLang="en-US" sz="2000">
                                <a:latin typeface="Cambria Math" panose="02040503050406030204" pitchFamily="18" charset="0"/>
                              </a:rPr>
                              <m:t>2</m:t>
                            </m:r>
                          </m:sub>
                        </m:sSub>
                      </m:sub>
                    </m:sSub>
                  </m:oMath>
                </a14:m>
                <a:r>
                  <a:rPr lang="zh-CN" altLang="en-US" sz="2000" dirty="0">
                    <a:latin typeface="Times New Roman" panose="02020603050405020304" pitchFamily="18" charset="0"/>
                    <a:cs typeface="Times New Roman" panose="02020603050405020304" pitchFamily="18" charset="0"/>
                  </a:rPr>
                  <a:t>的特征矢量矩阵，令</a:t>
                </a:r>
              </a:p>
            </p:txBody>
          </p:sp>
        </mc:Choice>
        <mc:Fallback xmlns="">
          <p:sp>
            <p:nvSpPr>
              <p:cNvPr id="7" name="矩形 6"/>
              <p:cNvSpPr>
                <a:spLocks noRot="1" noChangeAspect="1" noMove="1" noResize="1" noEditPoints="1" noAdjustHandles="1" noChangeArrowheads="1" noChangeShapeType="1" noTextEdit="1"/>
              </p:cNvSpPr>
              <p:nvPr/>
            </p:nvSpPr>
            <p:spPr>
              <a:xfrm>
                <a:off x="2207568" y="1921786"/>
                <a:ext cx="3581750" cy="439992"/>
              </a:xfrm>
              <a:prstGeom prst="rect">
                <a:avLst/>
              </a:prstGeom>
              <a:blipFill>
                <a:blip r:embed="rId8"/>
                <a:stretch>
                  <a:fillRect l="-1701" t="-8333" r="-510" b="-18056"/>
                </a:stretch>
              </a:blipFill>
            </p:spPr>
            <p:txBody>
              <a:bodyPr/>
              <a:lstStyle/>
              <a:p>
                <a:r>
                  <a:rPr lang="zh-CN" altLang="en-US">
                    <a:noFill/>
                  </a:rPr>
                  <a:t> </a:t>
                </a:r>
              </a:p>
            </p:txBody>
          </p:sp>
        </mc:Fallback>
      </mc:AlternateContent>
      <p:graphicFrame>
        <p:nvGraphicFramePr>
          <p:cNvPr id="24" name="Object 5"/>
          <p:cNvGraphicFramePr>
            <a:graphicFrameLocks noChangeAspect="1"/>
          </p:cNvGraphicFramePr>
          <p:nvPr/>
        </p:nvGraphicFramePr>
        <p:xfrm>
          <a:off x="5969219" y="1935629"/>
          <a:ext cx="3034704" cy="471923"/>
        </p:xfrm>
        <a:graphic>
          <a:graphicData uri="http://schemas.openxmlformats.org/presentationml/2006/ole">
            <mc:AlternateContent xmlns:mc="http://schemas.openxmlformats.org/markup-compatibility/2006">
              <mc:Choice xmlns:v="urn:schemas-microsoft-com:vml" Requires="v">
                <p:oleObj spid="_x0000_s331360" name="Equation" r:id="rId9" imgW="1536700" imgH="241300" progId="Equation.DSMT4">
                  <p:embed/>
                </p:oleObj>
              </mc:Choice>
              <mc:Fallback>
                <p:oleObj name="Equation" r:id="rId9" imgW="1536700" imgH="2413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69219" y="1935629"/>
                        <a:ext cx="3034704" cy="471923"/>
                      </a:xfrm>
                      <a:prstGeom prst="rect">
                        <a:avLst/>
                      </a:prstGeom>
                      <a:noFill/>
                      <a:ln>
                        <a:noFill/>
                      </a:ln>
                    </p:spPr>
                  </p:pic>
                </p:oleObj>
              </mc:Fallback>
            </mc:AlternateContent>
          </a:graphicData>
        </a:graphic>
      </p:graphicFrame>
      <p:graphicFrame>
        <p:nvGraphicFramePr>
          <p:cNvPr id="25" name="Object 6"/>
          <p:cNvGraphicFramePr>
            <a:graphicFrameLocks noChangeAspect="1"/>
          </p:cNvGraphicFramePr>
          <p:nvPr/>
        </p:nvGraphicFramePr>
        <p:xfrm>
          <a:off x="2854495" y="2924944"/>
          <a:ext cx="6149429" cy="506876"/>
        </p:xfrm>
        <a:graphic>
          <a:graphicData uri="http://schemas.openxmlformats.org/presentationml/2006/ole">
            <mc:AlternateContent xmlns:mc="http://schemas.openxmlformats.org/markup-compatibility/2006">
              <mc:Choice xmlns:v="urn:schemas-microsoft-com:vml" Requires="v">
                <p:oleObj spid="_x0000_s331361" name="Equation" r:id="rId11" imgW="3047760" imgH="253800" progId="Equation.DSMT4">
                  <p:embed/>
                </p:oleObj>
              </mc:Choice>
              <mc:Fallback>
                <p:oleObj name="Equation" r:id="rId11" imgW="3047760" imgH="253800" progId="Equation.DSMT4">
                  <p:embed/>
                  <p:pic>
                    <p:nvPicPr>
                      <p:cNvPr id="0" name=""/>
                      <p:cNvPicPr>
                        <a:picLocks noChangeAspect="1" noChangeArrowheads="1"/>
                      </p:cNvPicPr>
                      <p:nvPr/>
                    </p:nvPicPr>
                    <p:blipFill>
                      <a:blip r:embed="rId12"/>
                      <a:srcRect/>
                      <a:stretch>
                        <a:fillRect/>
                      </a:stretch>
                    </p:blipFill>
                    <p:spPr bwMode="auto">
                      <a:xfrm>
                        <a:off x="2854495" y="2924944"/>
                        <a:ext cx="6149429" cy="506876"/>
                      </a:xfrm>
                      <a:prstGeom prst="rect">
                        <a:avLst/>
                      </a:prstGeom>
                      <a:noFill/>
                      <a:ln>
                        <a:noFill/>
                      </a:ln>
                    </p:spPr>
                  </p:pic>
                </p:oleObj>
              </mc:Fallback>
            </mc:AlternateContent>
          </a:graphicData>
        </a:graphic>
      </p:graphicFrame>
      <p:sp>
        <p:nvSpPr>
          <p:cNvPr id="26" name="矩形 12"/>
          <p:cNvSpPr>
            <a:spLocks noChangeArrowheads="1"/>
          </p:cNvSpPr>
          <p:nvPr/>
        </p:nvSpPr>
        <p:spPr bwMode="auto">
          <a:xfrm>
            <a:off x="5881690" y="3511899"/>
            <a:ext cx="1870495" cy="64633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dirty="0">
                <a:ea typeface="黑体" panose="02010609060101010101" pitchFamily="49" charset="-122"/>
              </a:rPr>
              <a:t>第</a:t>
            </a:r>
            <a:r>
              <a:rPr lang="en-US" altLang="zh-CN" sz="1800" dirty="0">
                <a:ea typeface="黑体" panose="02010609060101010101" pitchFamily="49" charset="-122"/>
              </a:rPr>
              <a:t>1</a:t>
            </a:r>
            <a:r>
              <a:rPr lang="zh-CN" altLang="en-US" sz="1800" dirty="0">
                <a:ea typeface="黑体" panose="02010609060101010101" pitchFamily="49" charset="-122"/>
              </a:rPr>
              <a:t>类协方差</a:t>
            </a:r>
            <a:r>
              <a:rPr lang="en-US" altLang="zh-CN" sz="1800" dirty="0">
                <a:latin typeface="Times New Roman" panose="02020603050405020304" pitchFamily="18" charset="0"/>
                <a:cs typeface="Times New Roman" panose="02020603050405020304" pitchFamily="18" charset="0"/>
              </a:rPr>
              <a:t>S</a:t>
            </a:r>
            <a:r>
              <a:rPr lang="el-GR" altLang="zh-CN" sz="1800" baseline="-25000" dirty="0">
                <a:latin typeface="Times New Roman" panose="02020603050405020304" pitchFamily="18" charset="0"/>
                <a:cs typeface="Times New Roman" panose="02020603050405020304" pitchFamily="18" charset="0"/>
              </a:rPr>
              <a:t>ω</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ea typeface="黑体" panose="02010609060101010101" pitchFamily="49" charset="-122"/>
              </a:rPr>
              <a:t>的特征矢量阵</a:t>
            </a:r>
            <a:endParaRPr lang="zh-CN" altLang="en-US" sz="1800" dirty="0"/>
          </a:p>
        </p:txBody>
      </p:sp>
      <p:cxnSp>
        <p:nvCxnSpPr>
          <p:cNvPr id="27" name="直接箭头连接符 16"/>
          <p:cNvCxnSpPr>
            <a:cxnSpLocks noChangeShapeType="1"/>
          </p:cNvCxnSpPr>
          <p:nvPr/>
        </p:nvCxnSpPr>
        <p:spPr bwMode="auto">
          <a:xfrm flipH="1" flipV="1">
            <a:off x="5408448" y="3300762"/>
            <a:ext cx="627947" cy="211137"/>
          </a:xfrm>
          <a:prstGeom prst="straightConnector1">
            <a:avLst/>
          </a:prstGeom>
          <a:noFill/>
          <a:ln w="12700" cap="sq" algn="ctr">
            <a:solidFill>
              <a:srgbClr val="FF0000"/>
            </a:solidFill>
            <a:round/>
            <a:headEnd type="none" w="sm" len="sm"/>
            <a:tailEnd type="arrow" w="med" len="med"/>
          </a:ln>
          <a:extLst>
            <a:ext uri="{909E8E84-426E-40DD-AFC4-6F175D3DCCD1}">
              <a14:hiddenFill xmlns:a14="http://schemas.microsoft.com/office/drawing/2010/main">
                <a:noFill/>
              </a14:hiddenFill>
            </a:ext>
          </a:extLst>
        </p:spPr>
      </p:cxnSp>
      <p:sp>
        <p:nvSpPr>
          <p:cNvPr id="28" name="矩形 17"/>
          <p:cNvSpPr>
            <a:spLocks noChangeArrowheads="1"/>
          </p:cNvSpPr>
          <p:nvPr/>
        </p:nvSpPr>
        <p:spPr bwMode="auto">
          <a:xfrm>
            <a:off x="4583832" y="3513487"/>
            <a:ext cx="1172116" cy="64633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dirty="0">
                <a:latin typeface="Times New Roman" panose="02020603050405020304" pitchFamily="18" charset="0"/>
                <a:cs typeface="Times New Roman" panose="02020603050405020304" pitchFamily="18" charset="0"/>
              </a:rPr>
              <a:t>y</a:t>
            </a:r>
            <a:r>
              <a:rPr lang="en-US" altLang="zh-CN" sz="1800" baseline="30000" dirty="0">
                <a:latin typeface="Times New Roman" panose="02020603050405020304" pitchFamily="18" charset="0"/>
                <a:cs typeface="Times New Roman" panose="02020603050405020304" pitchFamily="18" charset="0"/>
              </a:rPr>
              <a:t>(1)</a:t>
            </a:r>
            <a:r>
              <a:rPr lang="zh-CN" altLang="en-US" sz="1800" dirty="0">
                <a:latin typeface="黑体" panose="02010609060101010101" pitchFamily="49" charset="-122"/>
                <a:ea typeface="黑体" panose="02010609060101010101" pitchFamily="49" charset="-122"/>
              </a:rPr>
              <a:t>的协方</a:t>
            </a:r>
            <a:endParaRPr lang="en-US" altLang="zh-CN" sz="1800" dirty="0">
              <a:latin typeface="黑体" panose="02010609060101010101" pitchFamily="49" charset="-122"/>
              <a:ea typeface="黑体" panose="02010609060101010101" pitchFamily="49" charset="-122"/>
            </a:endParaRPr>
          </a:p>
          <a:p>
            <a:pPr>
              <a:spcBef>
                <a:spcPct val="0"/>
              </a:spcBef>
              <a:buClrTx/>
              <a:buSzTx/>
              <a:buFontTx/>
              <a:buNone/>
            </a:pPr>
            <a:r>
              <a:rPr lang="zh-CN" altLang="en-US" sz="1800" dirty="0">
                <a:latin typeface="黑体" panose="02010609060101010101" pitchFamily="49" charset="-122"/>
                <a:ea typeface="黑体" panose="02010609060101010101" pitchFamily="49" charset="-122"/>
              </a:rPr>
              <a:t>差矩阵</a:t>
            </a:r>
            <a:endParaRPr lang="zh-CN" altLang="en-US" sz="1800" dirty="0"/>
          </a:p>
        </p:txBody>
      </p:sp>
      <mc:AlternateContent xmlns:mc="http://schemas.openxmlformats.org/markup-compatibility/2006" xmlns:a14="http://schemas.microsoft.com/office/drawing/2010/main">
        <mc:Choice Requires="a14">
          <p:sp>
            <p:nvSpPr>
              <p:cNvPr id="29" name="矩形 18"/>
              <p:cNvSpPr>
                <a:spLocks noChangeArrowheads="1"/>
              </p:cNvSpPr>
              <p:nvPr/>
            </p:nvSpPr>
            <p:spPr bwMode="auto">
              <a:xfrm>
                <a:off x="2135561" y="3515073"/>
                <a:ext cx="2388816" cy="682174"/>
              </a:xfrm>
              <a:prstGeom prst="rect">
                <a:avLst/>
              </a:prstGeom>
              <a:noFill/>
              <a:ln w="9525">
                <a:solidFill>
                  <a:srgbClr val="FF0000"/>
                </a:solidFill>
                <a:miter lim="800000"/>
                <a:headEnd/>
                <a:tailEnd/>
              </a:ln>
              <a:extLst>
                <a:ext uri="{909E8E84-426E-40DD-AFC4-6F175D3DCCD1}">
                  <a14:hiddenFill>
                    <a:solidFill>
                      <a:srgbClr val="FFFFFF"/>
                    </a:solidFill>
                  </a14:hiddenFill>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dirty="0">
                    <a:ea typeface="黑体" panose="02010609060101010101" pitchFamily="49" charset="-122"/>
                  </a:rPr>
                  <a:t>第</a:t>
                </a:r>
                <a:r>
                  <a:rPr lang="en-US" altLang="zh-CN" sz="1800" dirty="0">
                    <a:ea typeface="黑体" panose="02010609060101010101" pitchFamily="49" charset="-122"/>
                  </a:rPr>
                  <a:t>2</a:t>
                </a:r>
                <a:r>
                  <a:rPr lang="zh-CN" altLang="en-US" sz="1800" dirty="0">
                    <a:ea typeface="黑体" panose="02010609060101010101" pitchFamily="49" charset="-122"/>
                  </a:rPr>
                  <a:t>类样本协方差变换后</a:t>
                </a:r>
                <a14:m>
                  <m:oMath xmlns:m="http://schemas.openxmlformats.org/officeDocument/2006/math">
                    <m:sSub>
                      <m:sSubPr>
                        <m:ctrlPr>
                          <a:rPr lang="zh-CN" altLang="en-US" sz="1800" i="1">
                            <a:latin typeface="Cambria Math" panose="02040503050406030204" pitchFamily="18" charset="0"/>
                          </a:rPr>
                        </m:ctrlPr>
                      </m:sSubPr>
                      <m:e>
                        <m:acc>
                          <m:accPr>
                            <m:chr m:val="̃"/>
                            <m:ctrlPr>
                              <a:rPr lang="zh-CN" altLang="en-US" sz="1800" i="1">
                                <a:latin typeface="Cambria Math" panose="02040503050406030204" pitchFamily="18" charset="0"/>
                              </a:rPr>
                            </m:ctrlPr>
                          </m:accPr>
                          <m:e>
                            <m:r>
                              <a:rPr lang="zh-CN" altLang="en-US" sz="1800" i="1">
                                <a:latin typeface="Cambria Math" panose="02040503050406030204" pitchFamily="18" charset="0"/>
                              </a:rPr>
                              <m:t>𝑆</m:t>
                            </m:r>
                          </m:e>
                        </m:acc>
                      </m:e>
                      <m:sub>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𝑊</m:t>
                            </m:r>
                          </m:e>
                          <m:sub>
                            <m:r>
                              <a:rPr lang="zh-CN" altLang="en-US" sz="1800">
                                <a:latin typeface="Cambria Math" panose="02040503050406030204" pitchFamily="18" charset="0"/>
                              </a:rPr>
                              <m:t>2</m:t>
                            </m:r>
                          </m:sub>
                        </m:sSub>
                      </m:sub>
                    </m:sSub>
                  </m:oMath>
                </a14:m>
                <a:r>
                  <a:rPr lang="zh-CN" altLang="en-US" sz="1800" dirty="0">
                    <a:ea typeface="黑体" panose="02010609060101010101" pitchFamily="49" charset="-122"/>
                  </a:rPr>
                  <a:t>的特征矢量阵</a:t>
                </a:r>
                <a:endParaRPr lang="zh-CN" altLang="en-US" sz="1800" dirty="0"/>
              </a:p>
            </p:txBody>
          </p:sp>
        </mc:Choice>
        <mc:Fallback xmlns="">
          <p:sp>
            <p:nvSpPr>
              <p:cNvPr id="29" name="矩形 18"/>
              <p:cNvSpPr>
                <a:spLocks noRot="1" noChangeAspect="1" noMove="1" noResize="1" noEditPoints="1" noAdjustHandles="1" noChangeArrowheads="1" noChangeShapeType="1" noTextEdit="1"/>
              </p:cNvSpPr>
              <p:nvPr/>
            </p:nvSpPr>
            <p:spPr bwMode="auto">
              <a:xfrm>
                <a:off x="2135561" y="3515073"/>
                <a:ext cx="2388816" cy="682174"/>
              </a:xfrm>
              <a:prstGeom prst="rect">
                <a:avLst/>
              </a:prstGeom>
              <a:blipFill>
                <a:blip r:embed="rId13"/>
                <a:stretch>
                  <a:fillRect l="-1777" t="-6140" r="-1777" b="-6140"/>
                </a:stretch>
              </a:blip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cxnSp>
        <p:nvCxnSpPr>
          <p:cNvPr id="30" name="直接箭头连接符 21"/>
          <p:cNvCxnSpPr>
            <a:cxnSpLocks noChangeShapeType="1"/>
          </p:cNvCxnSpPr>
          <p:nvPr/>
        </p:nvCxnSpPr>
        <p:spPr bwMode="auto">
          <a:xfrm rot="5400000" flipH="1" flipV="1">
            <a:off x="4690195" y="3407124"/>
            <a:ext cx="214313" cy="1588"/>
          </a:xfrm>
          <a:prstGeom prst="straightConnector1">
            <a:avLst/>
          </a:prstGeom>
          <a:noFill/>
          <a:ln w="12700" cap="sq" algn="ctr">
            <a:solidFill>
              <a:srgbClr val="FF0000"/>
            </a:solidFill>
            <a:round/>
            <a:headEnd type="none" w="sm" len="sm"/>
            <a:tailEnd type="arrow" w="med" len="med"/>
          </a:ln>
          <a:extLst>
            <a:ext uri="{909E8E84-426E-40DD-AFC4-6F175D3DCCD1}">
              <a14:hiddenFill xmlns:a14="http://schemas.microsoft.com/office/drawing/2010/main">
                <a:noFill/>
              </a14:hiddenFill>
            </a:ext>
          </a:extLst>
        </p:spPr>
      </p:cxnSp>
      <p:cxnSp>
        <p:nvCxnSpPr>
          <p:cNvPr id="31" name="直接箭头连接符 23"/>
          <p:cNvCxnSpPr>
            <a:cxnSpLocks noChangeShapeType="1"/>
          </p:cNvCxnSpPr>
          <p:nvPr/>
        </p:nvCxnSpPr>
        <p:spPr bwMode="auto">
          <a:xfrm rot="5400000" flipH="1" flipV="1">
            <a:off x="4024314" y="3300761"/>
            <a:ext cx="214312" cy="214312"/>
          </a:xfrm>
          <a:prstGeom prst="straightConnector1">
            <a:avLst/>
          </a:prstGeom>
          <a:noFill/>
          <a:ln w="12700" cap="sq" algn="ctr">
            <a:solidFill>
              <a:srgbClr val="FF0000"/>
            </a:solidFill>
            <a:round/>
            <a:headEnd type="none" w="sm" len="sm"/>
            <a:tailEnd type="arrow" w="med" len="med"/>
          </a:ln>
          <a:extLst>
            <a:ext uri="{909E8E84-426E-40DD-AFC4-6F175D3DCCD1}">
              <a14:hiddenFill xmlns:a14="http://schemas.microsoft.com/office/drawing/2010/main">
                <a:noFill/>
              </a14:hiddenFill>
            </a:ext>
          </a:extLst>
        </p:spPr>
      </p:cxnSp>
      <p:sp>
        <p:nvSpPr>
          <p:cNvPr id="12" name="矩形 11"/>
          <p:cNvSpPr/>
          <p:nvPr/>
        </p:nvSpPr>
        <p:spPr>
          <a:xfrm>
            <a:off x="579473" y="4554994"/>
            <a:ext cx="3359474" cy="1754326"/>
          </a:xfrm>
          <a:prstGeom prst="rect">
            <a:avLst/>
          </a:prstGeom>
          <a:solidFill>
            <a:schemeClr val="bg1"/>
          </a:solidFill>
        </p:spPr>
        <p:txBody>
          <a:bodyPr wrap="square">
            <a:spAutoFit/>
          </a:bodyPr>
          <a:lstStyle/>
          <a:p>
            <a:pPr>
              <a:lnSpc>
                <a:spcPct val="135000"/>
              </a:lnSpc>
              <a:spcBef>
                <a:spcPct val="50000"/>
              </a:spcBef>
              <a:buClrTx/>
              <a:buSzTx/>
              <a:buFontTx/>
              <a:buNone/>
            </a:pPr>
            <a:r>
              <a:rPr lang="zh-CN" altLang="en-US" sz="2000" dirty="0">
                <a:latin typeface="Times New Roman" panose="02020603050405020304" pitchFamily="18" charset="0"/>
                <a:cs typeface="Times New Roman" panose="02020603050405020304" pitchFamily="18" charset="0"/>
              </a:rPr>
              <a:t>上式</a:t>
            </a:r>
            <a:r>
              <a:rPr lang="en-US" altLang="zh-CN" sz="2000" i="1" dirty="0">
                <a:latin typeface="Times New Roman" panose="02020603050405020304" pitchFamily="18" charset="0"/>
                <a:cs typeface="Times New Roman" panose="02020603050405020304" pitchFamily="18" charset="0"/>
              </a:rPr>
              <a:t>z</a:t>
            </a:r>
            <a:r>
              <a:rPr lang="zh-CN" altLang="en-US" sz="2000" dirty="0">
                <a:latin typeface="Times New Roman" panose="02020603050405020304" pitchFamily="18" charset="0"/>
                <a:cs typeface="Times New Roman" panose="02020603050405020304" pitchFamily="18" charset="0"/>
              </a:rPr>
              <a:t>的</a:t>
            </a:r>
            <a:r>
              <a:rPr lang="zh-CN" altLang="en-US" sz="2000" b="1" dirty="0">
                <a:solidFill>
                  <a:srgbClr val="0000FF"/>
                </a:solidFill>
                <a:latin typeface="Times New Roman" panose="02020603050405020304" pitchFamily="18" charset="0"/>
                <a:cs typeface="Times New Roman" panose="02020603050405020304" pitchFamily="18" charset="0"/>
              </a:rPr>
              <a:t>各分量是不相关</a:t>
            </a:r>
            <a:r>
              <a:rPr lang="zh-CN" altLang="en-US" sz="2000" dirty="0">
                <a:latin typeface="Times New Roman" panose="02020603050405020304" pitchFamily="18" charset="0"/>
                <a:cs typeface="Times New Roman" panose="02020603050405020304" pitchFamily="18" charset="0"/>
              </a:rPr>
              <a:t>的。这样经变换后的各分量互不相关，于是可根据某种准则选择</a:t>
            </a:r>
            <a:r>
              <a:rPr lang="en-US" altLang="zh-CN" sz="2000" i="1" dirty="0">
                <a:latin typeface="Times New Roman" panose="02020603050405020304" pitchFamily="18" charset="0"/>
                <a:cs typeface="Times New Roman" panose="02020603050405020304" pitchFamily="18" charset="0"/>
              </a:rPr>
              <a:t>z</a:t>
            </a:r>
            <a:r>
              <a:rPr lang="zh-CN" altLang="en-US" sz="2000" dirty="0">
                <a:latin typeface="Times New Roman" panose="02020603050405020304" pitchFamily="18" charset="0"/>
                <a:cs typeface="Times New Roman" panose="02020603050405020304" pitchFamily="18" charset="0"/>
              </a:rPr>
              <a:t>分量以降低维数。</a:t>
            </a:r>
            <a:endParaRPr lang="en-US" altLang="zh-CN" sz="2000" dirty="0">
              <a:latin typeface="Times New Roman" panose="02020603050405020304" pitchFamily="18" charset="0"/>
              <a:cs typeface="Times New Roman" panose="02020603050405020304" pitchFamily="18" charset="0"/>
            </a:endParaRPr>
          </a:p>
        </p:txBody>
      </p:sp>
      <p:sp>
        <p:nvSpPr>
          <p:cNvPr id="15" name="矩形 14"/>
          <p:cNvSpPr/>
          <p:nvPr/>
        </p:nvSpPr>
        <p:spPr>
          <a:xfrm>
            <a:off x="2219935" y="2420807"/>
            <a:ext cx="5740674" cy="400110"/>
          </a:xfrm>
          <a:prstGeom prst="rect">
            <a:avLst/>
          </a:prstGeom>
        </p:spPr>
        <p:txBody>
          <a:bodyPr wrap="none">
            <a:spAutoFit/>
          </a:bodyPr>
          <a:lstStyle/>
          <a:p>
            <a:r>
              <a:rPr lang="en-US" altLang="zh-CN" sz="2000" i="1" dirty="0">
                <a:latin typeface="Times New Roman" panose="02020603050405020304" pitchFamily="18" charset="0"/>
                <a:cs typeface="Times New Roman" panose="02020603050405020304" pitchFamily="18" charset="0"/>
              </a:rPr>
              <a:t>W</a:t>
            </a:r>
            <a:r>
              <a:rPr lang="zh-CN" altLang="en-US" sz="2000" dirty="0">
                <a:latin typeface="Times New Roman" panose="02020603050405020304" pitchFamily="18" charset="0"/>
                <a:cs typeface="Times New Roman" panose="02020603050405020304" pitchFamily="18" charset="0"/>
              </a:rPr>
              <a:t>作为最终的变换矩阵，变量</a:t>
            </a:r>
            <a:r>
              <a:rPr lang="en-US" altLang="zh-CN" sz="2000" i="1" dirty="0">
                <a:latin typeface="Times New Roman" panose="02020603050405020304" pitchFamily="18" charset="0"/>
                <a:cs typeface="Times New Roman" panose="02020603050405020304" pitchFamily="18" charset="0"/>
              </a:rPr>
              <a:t>x</a:t>
            </a:r>
            <a:r>
              <a:rPr lang="zh-CN" altLang="en-US" sz="2000" dirty="0">
                <a:latin typeface="Times New Roman" panose="02020603050405020304" pitchFamily="18" charset="0"/>
                <a:cs typeface="Times New Roman" panose="02020603050405020304" pitchFamily="18" charset="0"/>
              </a:rPr>
              <a:t>最终变换为向量</a:t>
            </a:r>
            <a:r>
              <a:rPr lang="en-US" altLang="zh-CN" sz="2000" i="1" dirty="0">
                <a:latin typeface="Times New Roman" panose="02020603050405020304" pitchFamily="18" charset="0"/>
                <a:cs typeface="Times New Roman" panose="02020603050405020304" pitchFamily="18" charset="0"/>
              </a:rPr>
              <a:t>z</a:t>
            </a:r>
            <a:r>
              <a:rPr lang="zh-CN" altLang="en-US" sz="2000" dirty="0">
                <a:latin typeface="Times New Roman" panose="02020603050405020304" pitchFamily="18" charset="0"/>
                <a:cs typeface="Times New Roman" panose="02020603050405020304" pitchFamily="18" charset="0"/>
              </a:rPr>
              <a:t>：</a:t>
            </a:r>
            <a:endParaRPr lang="zh-CN" altLang="en-US" sz="2000" dirty="0"/>
          </a:p>
        </p:txBody>
      </p:sp>
      <p:graphicFrame>
        <p:nvGraphicFramePr>
          <p:cNvPr id="34" name="Object 12"/>
          <p:cNvGraphicFramePr>
            <a:graphicFrameLocks noChangeAspect="1"/>
          </p:cNvGraphicFramePr>
          <p:nvPr>
            <p:extLst>
              <p:ext uri="{D42A27DB-BD31-4B8C-83A1-F6EECF244321}">
                <p14:modId xmlns:p14="http://schemas.microsoft.com/office/powerpoint/2010/main" val="776939311"/>
              </p:ext>
            </p:extLst>
          </p:nvPr>
        </p:nvGraphicFramePr>
        <p:xfrm>
          <a:off x="4196761" y="4210371"/>
          <a:ext cx="5929559" cy="698294"/>
        </p:xfrm>
        <a:graphic>
          <a:graphicData uri="http://schemas.openxmlformats.org/presentationml/2006/ole">
            <mc:AlternateContent xmlns:mc="http://schemas.openxmlformats.org/markup-compatibility/2006">
              <mc:Choice xmlns:v="urn:schemas-microsoft-com:vml" Requires="v">
                <p:oleObj spid="_x0000_s331362" name="Equation" r:id="rId14" imgW="3301920" imgH="393480" progId="Equation.DSMT4">
                  <p:embed/>
                </p:oleObj>
              </mc:Choice>
              <mc:Fallback>
                <p:oleObj name="Equation" r:id="rId14" imgW="3301920" imgH="393480" progId="Equation.DSMT4">
                  <p:embed/>
                  <p:pic>
                    <p:nvPicPr>
                      <p:cNvPr id="0" name=""/>
                      <p:cNvPicPr>
                        <a:picLocks noChangeAspect="1" noChangeArrowheads="1"/>
                      </p:cNvPicPr>
                      <p:nvPr/>
                    </p:nvPicPr>
                    <p:blipFill>
                      <a:blip r:embed="rId15"/>
                      <a:srcRect/>
                      <a:stretch>
                        <a:fillRect/>
                      </a:stretch>
                    </p:blipFill>
                    <p:spPr bwMode="auto">
                      <a:xfrm>
                        <a:off x="4196761" y="4210371"/>
                        <a:ext cx="5929559" cy="698294"/>
                      </a:xfrm>
                      <a:prstGeom prst="rect">
                        <a:avLst/>
                      </a:prstGeom>
                      <a:noFill/>
                      <a:ln>
                        <a:noFill/>
                      </a:ln>
                    </p:spPr>
                  </p:pic>
                </p:oleObj>
              </mc:Fallback>
            </mc:AlternateContent>
          </a:graphicData>
        </a:graphic>
      </p:graphicFrame>
      <p:graphicFrame>
        <p:nvGraphicFramePr>
          <p:cNvPr id="35" name="Object 13"/>
          <p:cNvGraphicFramePr>
            <a:graphicFrameLocks noChangeAspect="1"/>
          </p:cNvGraphicFramePr>
          <p:nvPr>
            <p:extLst>
              <p:ext uri="{D42A27DB-BD31-4B8C-83A1-F6EECF244321}">
                <p14:modId xmlns:p14="http://schemas.microsoft.com/office/powerpoint/2010/main" val="1633040876"/>
              </p:ext>
            </p:extLst>
          </p:nvPr>
        </p:nvGraphicFramePr>
        <p:xfrm>
          <a:off x="4711881" y="4833140"/>
          <a:ext cx="5549379" cy="1833731"/>
        </p:xfrm>
        <a:graphic>
          <a:graphicData uri="http://schemas.openxmlformats.org/presentationml/2006/ole">
            <mc:AlternateContent xmlns:mc="http://schemas.openxmlformats.org/markup-compatibility/2006">
              <mc:Choice xmlns:v="urn:schemas-microsoft-com:vml" Requires="v">
                <p:oleObj spid="_x0000_s331363" name="Equation" r:id="rId16" imgW="3530520" imgH="1168200" progId="Equation.DSMT4">
                  <p:embed/>
                </p:oleObj>
              </mc:Choice>
              <mc:Fallback>
                <p:oleObj name="Equation" r:id="rId16" imgW="3530520" imgH="1168200" progId="Equation.DSMT4">
                  <p:embed/>
                  <p:pic>
                    <p:nvPicPr>
                      <p:cNvPr id="0" name=""/>
                      <p:cNvPicPr>
                        <a:picLocks noChangeAspect="1" noChangeArrowheads="1"/>
                      </p:cNvPicPr>
                      <p:nvPr/>
                    </p:nvPicPr>
                    <p:blipFill>
                      <a:blip r:embed="rId17"/>
                      <a:srcRect/>
                      <a:stretch>
                        <a:fillRect/>
                      </a:stretch>
                    </p:blipFill>
                    <p:spPr bwMode="auto">
                      <a:xfrm>
                        <a:off x="4711881" y="4833140"/>
                        <a:ext cx="5549379" cy="1833731"/>
                      </a:xfrm>
                      <a:prstGeom prst="rect">
                        <a:avLst/>
                      </a:prstGeom>
                      <a:noFill/>
                      <a:ln>
                        <a:noFill/>
                      </a:ln>
                      <a:effectLst/>
                    </p:spPr>
                  </p:pic>
                </p:oleObj>
              </mc:Fallback>
            </mc:AlternateContent>
          </a:graphicData>
        </a:graphic>
      </p:graphicFrame>
      <p:sp>
        <p:nvSpPr>
          <p:cNvPr id="5" name="矩形 4"/>
          <p:cNvSpPr/>
          <p:nvPr/>
        </p:nvSpPr>
        <p:spPr>
          <a:xfrm>
            <a:off x="119336" y="991007"/>
            <a:ext cx="4801314" cy="341632"/>
          </a:xfrm>
          <a:prstGeom prst="rect">
            <a:avLst/>
          </a:prstGeom>
        </p:spPr>
        <p:txBody>
          <a:bodyPr wrap="none">
            <a:spAutoFit/>
          </a:bodyPr>
          <a:lstStyle/>
          <a:p>
            <a:pPr>
              <a:lnSpc>
                <a:spcPct val="90000"/>
              </a:lnSpc>
              <a:spcBef>
                <a:spcPts val="600"/>
              </a:spcBef>
              <a:buNone/>
            </a:pPr>
            <a:r>
              <a:rPr lang="en-US" altLang="zh-CN" dirty="0">
                <a:solidFill>
                  <a:srgbClr val="FF0000"/>
                </a:solidFill>
                <a:latin typeface="Times New Roman" panose="02020603050405020304" pitchFamily="18" charset="0"/>
                <a:cs typeface="Times New Roman" panose="02020603050405020304" pitchFamily="18" charset="0"/>
              </a:rPr>
              <a:t>2</a:t>
            </a:r>
            <a:r>
              <a:rPr lang="zh-CN" altLang="en-US" dirty="0">
                <a:solidFill>
                  <a:srgbClr val="FF0000"/>
                </a:solidFill>
                <a:latin typeface="Times New Roman" panose="02020603050405020304" pitchFamily="18" charset="0"/>
                <a:cs typeface="Times New Roman" panose="02020603050405020304" pitchFamily="18" charset="0"/>
              </a:rPr>
              <a:t>、</a:t>
            </a:r>
            <a:r>
              <a:rPr lang="zh-CN" altLang="en-US" dirty="0">
                <a:solidFill>
                  <a:srgbClr val="FF0000"/>
                </a:solidFill>
                <a:latin typeface="黑体" panose="02010609060101010101" pitchFamily="49" charset="-122"/>
                <a:ea typeface="黑体" panose="02010609060101010101" pitchFamily="49" charset="-122"/>
              </a:rPr>
              <a:t>运用</a:t>
            </a:r>
            <a:r>
              <a:rPr lang="en-US" altLang="zh-CN" dirty="0">
                <a:solidFill>
                  <a:srgbClr val="FF0000"/>
                </a:solidFill>
                <a:latin typeface="黑体" panose="02010609060101010101" pitchFamily="49" charset="-122"/>
                <a:ea typeface="黑体" panose="02010609060101010101" pitchFamily="49" charset="-122"/>
              </a:rPr>
              <a:t>DKLT</a:t>
            </a:r>
            <a:r>
              <a:rPr lang="zh-CN" altLang="en-US" dirty="0">
                <a:solidFill>
                  <a:srgbClr val="FF0000"/>
                </a:solidFill>
                <a:latin typeface="黑体" panose="02010609060101010101" pitchFamily="49" charset="-122"/>
                <a:ea typeface="黑体" panose="02010609060101010101" pitchFamily="49" charset="-122"/>
              </a:rPr>
              <a:t>消除两类问题的特征相关性方法 </a:t>
            </a:r>
            <a:endParaRPr lang="en-US" altLang="zh-CN" dirty="0">
              <a:solidFill>
                <a:srgbClr val="FF0000"/>
              </a:solidFill>
              <a:latin typeface="黑体" panose="02010609060101010101" pitchFamily="49" charset="-122"/>
              <a:ea typeface="黑体" panose="02010609060101010101" pitchFamily="49" charset="-122"/>
            </a:endParaRPr>
          </a:p>
        </p:txBody>
      </p:sp>
      <p:sp>
        <p:nvSpPr>
          <p:cNvPr id="6" name="矩形 5"/>
          <p:cNvSpPr/>
          <p:nvPr/>
        </p:nvSpPr>
        <p:spPr>
          <a:xfrm>
            <a:off x="1487488" y="1407329"/>
            <a:ext cx="883575" cy="369332"/>
          </a:xfrm>
          <a:prstGeom prst="rect">
            <a:avLst/>
          </a:prstGeom>
        </p:spPr>
        <p:txBody>
          <a:bodyPr wrap="none">
            <a:spAutoFit/>
          </a:bodyPr>
          <a:lstStyle/>
          <a:p>
            <a:r>
              <a:rPr lang="zh-CN" altLang="en-US" dirty="0">
                <a:solidFill>
                  <a:srgbClr val="0000FF"/>
                </a:solidFill>
                <a:latin typeface="Times New Roman" panose="02020603050405020304" pitchFamily="18" charset="0"/>
                <a:cs typeface="Times New Roman" panose="02020603050405020304" pitchFamily="18" charset="0"/>
              </a:rPr>
              <a:t> </a:t>
            </a:r>
            <a:r>
              <a:rPr lang="en-US" altLang="zh-CN" dirty="0">
                <a:solidFill>
                  <a:srgbClr val="0000FF"/>
                </a:solidFill>
                <a:latin typeface="Times New Roman" panose="02020603050405020304" pitchFamily="18" charset="0"/>
                <a:cs typeface="Times New Roman" panose="02020603050405020304" pitchFamily="18" charset="0"/>
              </a:rPr>
              <a:t>step(3)</a:t>
            </a:r>
            <a:endParaRPr lang="zh-CN" altLang="en-US" dirty="0">
              <a:solidFill>
                <a:srgbClr val="0000FF"/>
              </a:solidFill>
            </a:endParaRPr>
          </a:p>
        </p:txBody>
      </p:sp>
      <p:sp>
        <p:nvSpPr>
          <p:cNvPr id="32" name="矩形 31"/>
          <p:cNvSpPr/>
          <p:nvPr/>
        </p:nvSpPr>
        <p:spPr>
          <a:xfrm>
            <a:off x="7949321" y="139384"/>
            <a:ext cx="646331" cy="369332"/>
          </a:xfrm>
          <a:prstGeom prst="rect">
            <a:avLst/>
          </a:prstGeom>
        </p:spPr>
        <p:txBody>
          <a:bodyPr wrap="none">
            <a:spAutoFit/>
          </a:bodyPr>
          <a:lstStyle/>
          <a:p>
            <a:r>
              <a:rPr lang="zh-CN" altLang="en-US" dirty="0">
                <a:solidFill>
                  <a:srgbClr val="FF0000"/>
                </a:solidFill>
                <a:latin typeface="黑体" panose="02010609060101010101" pitchFamily="49" charset="-122"/>
                <a:ea typeface="黑体" panose="02010609060101010101" pitchFamily="49" charset="-122"/>
              </a:rPr>
              <a:t>自习</a:t>
            </a:r>
            <a:endParaRPr lang="zh-CN" altLang="en-US" dirty="0"/>
          </a:p>
        </p:txBody>
      </p:sp>
    </p:spTree>
    <p:extLst>
      <p:ext uri="{BB962C8B-B14F-4D97-AF65-F5344CB8AC3E}">
        <p14:creationId xmlns:p14="http://schemas.microsoft.com/office/powerpoint/2010/main" val="807866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down)">
                                      <p:cBhvr>
                                        <p:cTn id="15" dur="500"/>
                                        <p:tgtEl>
                                          <p:spTgt spid="29"/>
                                        </p:tgtEl>
                                      </p:cBhvr>
                                    </p:animEffect>
                                  </p:childTnLst>
                                </p:cTn>
                              </p:par>
                              <p:par>
                                <p:cTn id="16" presetID="22" presetClass="entr" presetSubtype="4"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wipe(down)">
                                      <p:cBhvr>
                                        <p:cTn id="18" dur="500"/>
                                        <p:tgtEl>
                                          <p:spTgt spid="31"/>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wipe(down)">
                                      <p:cBhvr>
                                        <p:cTn id="21" dur="500"/>
                                        <p:tgtEl>
                                          <p:spTgt spid="28"/>
                                        </p:tgtEl>
                                      </p:cBhvr>
                                    </p:animEffect>
                                  </p:childTnLst>
                                </p:cTn>
                              </p:par>
                              <p:par>
                                <p:cTn id="22" presetID="22" presetClass="entr" presetSubtype="4" fill="hold"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wipe(down)">
                                      <p:cBhvr>
                                        <p:cTn id="24" dur="500"/>
                                        <p:tgtEl>
                                          <p:spTgt spid="30"/>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down)">
                                      <p:cBhvr>
                                        <p:cTn id="27" dur="500"/>
                                        <p:tgtEl>
                                          <p:spTgt spid="26"/>
                                        </p:tgtEl>
                                      </p:cBhvr>
                                    </p:animEffect>
                                  </p:childTnLst>
                                </p:cTn>
                              </p:par>
                              <p:par>
                                <p:cTn id="28" presetID="22" presetClass="entr" presetSubtype="4" fill="hold" nodeType="with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wipe(down)">
                                      <p:cBhvr>
                                        <p:cTn id="3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P spid="2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860925" y="901206"/>
                <a:ext cx="8458200" cy="5334000"/>
              </a:xfrm>
            </p:spPr>
            <p:txBody>
              <a:bodyPr/>
              <a:lstStyle/>
              <a:p>
                <a:pPr>
                  <a:lnSpc>
                    <a:spcPct val="90000"/>
                  </a:lnSpc>
                  <a:spcBef>
                    <a:spcPts val="600"/>
                  </a:spcBef>
                  <a:buNone/>
                </a:pPr>
                <a:endParaRPr lang="en-US" altLang="zh-CN" sz="2000" dirty="0">
                  <a:latin typeface="Times New Roman" panose="02020603050405020304" pitchFamily="18" charset="0"/>
                  <a:cs typeface="Times New Roman" panose="02020603050405020304" pitchFamily="18" charset="0"/>
                </a:endParaRPr>
              </a:p>
              <a:p>
                <a:pPr>
                  <a:lnSpc>
                    <a:spcPct val="90000"/>
                  </a:lnSpc>
                  <a:spcBef>
                    <a:spcPts val="600"/>
                  </a:spcBef>
                  <a:buNone/>
                </a:pPr>
                <a:r>
                  <a:rPr lang="en-US" altLang="zh-CN" sz="2000" dirty="0">
                    <a:latin typeface="Times New Roman" panose="02020603050405020304" pitchFamily="18" charset="0"/>
                    <a:cs typeface="Times New Roman" panose="02020603050405020304" pitchFamily="18" charset="0"/>
                  </a:rPr>
                  <a:t>Step1</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a:lnSpc>
                    <a:spcPct val="90000"/>
                  </a:lnSpc>
                  <a:spcBef>
                    <a:spcPts val="600"/>
                  </a:spcBef>
                  <a:buNone/>
                </a:pPr>
                <a:endParaRPr lang="en-US" altLang="zh-CN" sz="2000" dirty="0">
                  <a:latin typeface="Times New Roman" panose="02020603050405020304" pitchFamily="18" charset="0"/>
                  <a:cs typeface="Times New Roman" panose="02020603050405020304" pitchFamily="18" charset="0"/>
                </a:endParaRPr>
              </a:p>
              <a:p>
                <a:pPr>
                  <a:lnSpc>
                    <a:spcPct val="90000"/>
                  </a:lnSpc>
                  <a:spcBef>
                    <a:spcPts val="600"/>
                  </a:spcBef>
                  <a:buNone/>
                </a:pPr>
                <a:endParaRPr lang="en-US" altLang="zh-CN" sz="2000" dirty="0">
                  <a:latin typeface="Times New Roman" panose="02020603050405020304" pitchFamily="18" charset="0"/>
                  <a:cs typeface="Times New Roman" panose="02020603050405020304" pitchFamily="18" charset="0"/>
                </a:endParaRPr>
              </a:p>
              <a:p>
                <a:pPr>
                  <a:lnSpc>
                    <a:spcPct val="90000"/>
                  </a:lnSpc>
                  <a:spcBef>
                    <a:spcPts val="600"/>
                  </a:spcBef>
                  <a:buNone/>
                </a:pPr>
                <a:r>
                  <a:rPr lang="en-US" altLang="zh-CN" sz="2000" dirty="0">
                    <a:latin typeface="Times New Roman" panose="02020603050405020304" pitchFamily="18" charset="0"/>
                    <a:cs typeface="Times New Roman" panose="02020603050405020304" pitchFamily="18" charset="0"/>
                  </a:rPr>
                  <a:t>Step 2: </a:t>
                </a:r>
                <a:r>
                  <a:rPr lang="zh-CN" altLang="en-US" sz="2000" dirty="0">
                    <a:latin typeface="Times New Roman" panose="02020603050405020304" pitchFamily="18" charset="0"/>
                    <a:cs typeface="Times New Roman" panose="02020603050405020304" pitchFamily="18" charset="0"/>
                  </a:rPr>
                  <a:t>做白化变换</a:t>
                </a:r>
                <a:endParaRPr lang="en-US" altLang="zh-CN" sz="2000" dirty="0">
                  <a:latin typeface="Times New Roman" panose="02020603050405020304" pitchFamily="18" charset="0"/>
                  <a:cs typeface="Times New Roman" panose="02020603050405020304" pitchFamily="18" charset="0"/>
                </a:endParaRPr>
              </a:p>
              <a:p>
                <a:pPr>
                  <a:lnSpc>
                    <a:spcPct val="90000"/>
                  </a:lnSpc>
                  <a:spcBef>
                    <a:spcPts val="600"/>
                  </a:spcBef>
                  <a:buNone/>
                </a:pPr>
                <a:endParaRPr lang="en-US" altLang="zh-CN" sz="2000" dirty="0">
                  <a:latin typeface="Times New Roman" panose="02020603050405020304" pitchFamily="18" charset="0"/>
                  <a:cs typeface="Times New Roman" panose="02020603050405020304" pitchFamily="18" charset="0"/>
                </a:endParaRPr>
              </a:p>
              <a:p>
                <a:pPr>
                  <a:lnSpc>
                    <a:spcPct val="90000"/>
                  </a:lnSpc>
                  <a:spcBef>
                    <a:spcPts val="600"/>
                  </a:spcBef>
                  <a:buNone/>
                </a:pPr>
                <a:endParaRPr lang="en-US" altLang="zh-CN" sz="2000" dirty="0">
                  <a:latin typeface="Times New Roman" panose="02020603050405020304" pitchFamily="18" charset="0"/>
                  <a:cs typeface="Times New Roman" panose="02020603050405020304" pitchFamily="18" charset="0"/>
                </a:endParaRPr>
              </a:p>
              <a:p>
                <a:pPr>
                  <a:lnSpc>
                    <a:spcPct val="90000"/>
                  </a:lnSpc>
                  <a:spcBef>
                    <a:spcPts val="600"/>
                  </a:spcBef>
                  <a:buNone/>
                </a:pPr>
                <a:endParaRPr lang="en-US" altLang="zh-CN" sz="2000" dirty="0">
                  <a:latin typeface="Times New Roman" panose="02020603050405020304" pitchFamily="18" charset="0"/>
                  <a:cs typeface="Times New Roman" panose="02020603050405020304" pitchFamily="18" charset="0"/>
                </a:endParaRPr>
              </a:p>
              <a:p>
                <a:pPr>
                  <a:lnSpc>
                    <a:spcPct val="90000"/>
                  </a:lnSpc>
                  <a:spcBef>
                    <a:spcPts val="600"/>
                  </a:spcBef>
                  <a:buNone/>
                </a:pPr>
                <a:r>
                  <a:rPr lang="en-US" altLang="zh-CN" sz="2000" dirty="0">
                    <a:latin typeface="Times New Roman" panose="02020603050405020304" pitchFamily="18" charset="0"/>
                    <a:cs typeface="Times New Roman" panose="02020603050405020304" pitchFamily="18" charset="0"/>
                  </a:rPr>
                  <a:t>Step 3</a:t>
                </a:r>
                <a:r>
                  <a:rPr lang="zh-CN" altLang="en-US" sz="2000" dirty="0">
                    <a:latin typeface="Times New Roman" panose="02020603050405020304" pitchFamily="18" charset="0"/>
                    <a:cs typeface="Times New Roman" panose="02020603050405020304" pitchFamily="18" charset="0"/>
                  </a:rPr>
                  <a:t>：求</a:t>
                </a:r>
                <a14:m>
                  <m:oMath xmlns:m="http://schemas.openxmlformats.org/officeDocument/2006/math">
                    <m:sSub>
                      <m:sSubPr>
                        <m:ctrlPr>
                          <a:rPr lang="zh-CN" altLang="en-US" sz="2000" i="1">
                            <a:latin typeface="Cambria Math" panose="02040503050406030204" pitchFamily="18" charset="0"/>
                          </a:rPr>
                        </m:ctrlPr>
                      </m:sSubPr>
                      <m:e>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𝑆</m:t>
                            </m:r>
                          </m:e>
                        </m:acc>
                      </m:e>
                      <m:sub>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𝑊</m:t>
                            </m:r>
                          </m:e>
                          <m:sub>
                            <m:r>
                              <a:rPr lang="zh-CN" altLang="en-US" sz="2000">
                                <a:latin typeface="Cambria Math" panose="02040503050406030204" pitchFamily="18" charset="0"/>
                              </a:rPr>
                              <m:t>2</m:t>
                            </m:r>
                          </m:sub>
                        </m:sSub>
                      </m:sub>
                    </m:sSub>
                  </m:oMath>
                </a14:m>
                <a:r>
                  <a:rPr lang="zh-CN" altLang="en-US" sz="2000" dirty="0">
                    <a:latin typeface="Times New Roman" panose="02020603050405020304" pitchFamily="18" charset="0"/>
                    <a:cs typeface="Times New Roman" panose="02020603050405020304" pitchFamily="18" charset="0"/>
                  </a:rPr>
                  <a:t>特征值矢量矩阵</a:t>
                </a:r>
                <a:r>
                  <a:rPr lang="en-US" altLang="zh-CN" sz="2000" i="1" dirty="0">
                    <a:latin typeface="Times New Roman" panose="02020603050405020304" pitchFamily="18" charset="0"/>
                    <a:cs typeface="Times New Roman" panose="02020603050405020304" pitchFamily="18" charset="0"/>
                  </a:rPr>
                  <a:t>V</a:t>
                </a:r>
                <a:r>
                  <a:rPr lang="en-US" altLang="zh-CN" sz="2000" dirty="0">
                    <a:latin typeface="Times New Roman" panose="02020603050405020304" pitchFamily="18" charset="0"/>
                    <a:cs typeface="Times New Roman" panose="02020603050405020304" pitchFamily="18" charset="0"/>
                  </a:rPr>
                  <a:t>:</a:t>
                </a:r>
              </a:p>
              <a:p>
                <a:pPr>
                  <a:lnSpc>
                    <a:spcPct val="90000"/>
                  </a:lnSpc>
                  <a:spcBef>
                    <a:spcPts val="600"/>
                  </a:spcBef>
                  <a:buNone/>
                </a:pPr>
                <a:endParaRPr lang="en-US" altLang="zh-CN" sz="2000" dirty="0">
                  <a:latin typeface="Times New Roman" panose="02020603050405020304" pitchFamily="18" charset="0"/>
                  <a:cs typeface="Times New Roman" panose="02020603050405020304" pitchFamily="18" charset="0"/>
                </a:endParaRPr>
              </a:p>
              <a:p>
                <a:pPr>
                  <a:lnSpc>
                    <a:spcPct val="90000"/>
                  </a:lnSpc>
                  <a:spcBef>
                    <a:spcPts val="600"/>
                  </a:spcBef>
                  <a:buNone/>
                </a:pPr>
                <a:r>
                  <a:rPr lang="en-US" altLang="zh-CN" sz="2000" dirty="0">
                    <a:latin typeface="Times New Roman" panose="02020603050405020304" pitchFamily="18" charset="0"/>
                    <a:cs typeface="Times New Roman" panose="02020603050405020304" pitchFamily="18" charset="0"/>
                  </a:rPr>
                  <a:t>Step 4</a:t>
                </a:r>
                <a:r>
                  <a:rPr lang="zh-CN" altLang="en-US" sz="2000" dirty="0">
                    <a:latin typeface="Times New Roman" panose="02020603050405020304" pitchFamily="18" charset="0"/>
                    <a:cs typeface="Times New Roman" panose="02020603050405020304" pitchFamily="18" charset="0"/>
                  </a:rPr>
                  <a:t>：得变换矩阵</a:t>
                </a:r>
                <a:r>
                  <a:rPr lang="en-US" altLang="zh-CN" sz="2000" dirty="0">
                    <a:latin typeface="Times New Roman" panose="02020603050405020304" pitchFamily="18" charset="0"/>
                    <a:cs typeface="Times New Roman" panose="02020603050405020304" pitchFamily="18" charset="0"/>
                  </a:rPr>
                  <a:t>W</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860925" y="901206"/>
                <a:ext cx="8458200" cy="5334000"/>
              </a:xfrm>
              <a:blipFill>
                <a:blip r:embed="rId3"/>
                <a:stretch>
                  <a:fillRect l="-720"/>
                </a:stretch>
              </a:blipFill>
            </p:spPr>
            <p:txBody>
              <a:bodyPr/>
              <a:lstStyle/>
              <a:p>
                <a:r>
                  <a:rPr lang="zh-CN" altLang="en-US">
                    <a:noFill/>
                  </a:rPr>
                  <a:t> </a:t>
                </a:r>
              </a:p>
            </p:txBody>
          </p:sp>
        </mc:Fallback>
      </mc:AlternateContent>
      <p:sp>
        <p:nvSpPr>
          <p:cNvPr id="2" name="标题 1"/>
          <p:cNvSpPr>
            <a:spLocks noGrp="1"/>
          </p:cNvSpPr>
          <p:nvPr>
            <p:ph type="title"/>
          </p:nvPr>
        </p:nvSpPr>
        <p:spPr>
          <a:xfrm>
            <a:off x="551384" y="152401"/>
            <a:ext cx="9278416" cy="563563"/>
          </a:xfrm>
        </p:spPr>
        <p:txBody>
          <a:bodyPr/>
          <a:lstStyle/>
          <a:p>
            <a:r>
              <a:rPr lang="en-US" altLang="zh-CN" dirty="0">
                <a:latin typeface="Times New Roman" panose="02020603050405020304" pitchFamily="18" charset="0"/>
                <a:cs typeface="Times New Roman" panose="02020603050405020304" pitchFamily="18" charset="0"/>
              </a:rPr>
              <a:t>17.3 K-L</a:t>
            </a:r>
            <a:r>
              <a:rPr lang="zh-CN" altLang="zh-CN" dirty="0">
                <a:latin typeface="Times New Roman" panose="02020603050405020304" pitchFamily="18" charset="0"/>
                <a:cs typeface="Times New Roman" panose="02020603050405020304" pitchFamily="18" charset="0"/>
              </a:rPr>
              <a:t>变换方法</a:t>
            </a:r>
            <a:r>
              <a:rPr lang="en-US" altLang="zh-CN" dirty="0" err="1">
                <a:latin typeface="Bahnschrift Condensed" panose="020B0502040204020203" pitchFamily="34" charset="0"/>
                <a:cs typeface="Times New Roman" panose="02020603050405020304" pitchFamily="18" charset="0"/>
              </a:rPr>
              <a:t>Karhunen-Loeve</a:t>
            </a:r>
            <a:r>
              <a:rPr lang="en-US" altLang="zh-CN" dirty="0">
                <a:latin typeface="Bahnschrift Condensed" panose="020B0502040204020203" pitchFamily="34" charset="0"/>
                <a:cs typeface="Times New Roman" panose="02020603050405020304" pitchFamily="18" charset="0"/>
              </a:rPr>
              <a:t> transform</a:t>
            </a:r>
            <a:endParaRPr lang="zh-CN" altLang="en-US" dirty="0">
              <a:latin typeface="Bahnschrift Condensed" panose="020B0502040204020203" pitchFamily="34" charset="0"/>
              <a:cs typeface="Times New Roman" panose="02020603050405020304" pitchFamily="18" charset="0"/>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29</a:t>
            </a:fld>
            <a:endParaRPr lang="en-US" altLang="zh-CN" dirty="0"/>
          </a:p>
        </p:txBody>
      </p:sp>
      <p:pic>
        <p:nvPicPr>
          <p:cNvPr id="314370" name="Picture 2" descr="http://latex.codecogs.com/gif.latex?%5Csigma_%7Bi%7D%20%2Ci%20%3D%201%2C%5Ccdots%20%2C%5Cinft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16438" y="-90488"/>
            <a:ext cx="1181100" cy="152401"/>
          </a:xfrm>
          <a:prstGeom prst="rect">
            <a:avLst/>
          </a:prstGeom>
          <a:noFill/>
          <a:extLst>
            <a:ext uri="{909E8E84-426E-40DD-AFC4-6F175D3DCCD1}">
              <a14:hiddenFill xmlns:a14="http://schemas.microsoft.com/office/drawing/2010/main">
                <a:solidFill>
                  <a:srgbClr val="FFFFFF"/>
                </a:solidFill>
              </a14:hiddenFill>
            </a:ext>
          </a:extLst>
        </p:spPr>
      </p:pic>
      <p:pic>
        <p:nvPicPr>
          <p:cNvPr id="315406" name="Picture 14" descr="http://latex.codecogs.com/gif.latex?%7b\Phi%20_%7bK%20-%20L%7d%7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187988" y="-76200"/>
            <a:ext cx="419100" cy="1524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6"/>
          <p:cNvSpPr>
            <a:spLocks noChangeArrowheads="1"/>
          </p:cNvSpPr>
          <p:nvPr/>
        </p:nvSpPr>
        <p:spPr bwMode="auto">
          <a:xfrm>
            <a:off x="6003635" y="82406"/>
            <a:ext cx="184731" cy="2923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sz="1300" dirty="0">
              <a:solidFill>
                <a:srgbClr val="4D4D4D"/>
              </a:solidFill>
              <a:latin typeface="Times New Roman" panose="02020603050405020304" pitchFamily="18" charset="0"/>
              <a:ea typeface="-apple-system"/>
              <a:cs typeface="Times New Roman" panose="02020603050405020304" pitchFamily="18" charset="0"/>
            </a:endParaRPr>
          </a:p>
        </p:txBody>
      </p:sp>
      <p:sp>
        <p:nvSpPr>
          <p:cNvPr id="17" name="Rectangle 9"/>
          <p:cNvSpPr>
            <a:spLocks noChangeArrowheads="1"/>
          </p:cNvSpPr>
          <p:nvPr/>
        </p:nvSpPr>
        <p:spPr bwMode="auto">
          <a:xfrm>
            <a:off x="1524001"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dirty="0"/>
          </a:p>
        </p:txBody>
      </p:sp>
      <p:pic>
        <p:nvPicPr>
          <p:cNvPr id="318475" name="Picture 11" descr="http://latex.codecogs.com/gif.latex?%7b\Phi%20_j%7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3614" y="-98425"/>
            <a:ext cx="180975" cy="1809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2" name="Object 3"/>
          <p:cNvGraphicFramePr>
            <a:graphicFrameLocks noChangeAspect="1"/>
          </p:cNvGraphicFramePr>
          <p:nvPr>
            <p:extLst>
              <p:ext uri="{D42A27DB-BD31-4B8C-83A1-F6EECF244321}">
                <p14:modId xmlns:p14="http://schemas.microsoft.com/office/powerpoint/2010/main" val="2730094616"/>
              </p:ext>
            </p:extLst>
          </p:nvPr>
        </p:nvGraphicFramePr>
        <p:xfrm>
          <a:off x="2760563" y="1486112"/>
          <a:ext cx="1577975" cy="447675"/>
        </p:xfrm>
        <a:graphic>
          <a:graphicData uri="http://schemas.openxmlformats.org/presentationml/2006/ole">
            <mc:AlternateContent xmlns:mc="http://schemas.openxmlformats.org/markup-compatibility/2006">
              <mc:Choice xmlns:v="urn:schemas-microsoft-com:vml" Requires="v">
                <p:oleObj spid="_x0000_s332388" name="Equation" r:id="rId7" imgW="850680" imgH="241200" progId="Equation.DSMT4">
                  <p:embed/>
                </p:oleObj>
              </mc:Choice>
              <mc:Fallback>
                <p:oleObj name="Equation" r:id="rId7" imgW="850680" imgH="241200" progId="Equation.DSMT4">
                  <p:embed/>
                  <p:pic>
                    <p:nvPicPr>
                      <p:cNvPr id="0" name=""/>
                      <p:cNvPicPr>
                        <a:picLocks noChangeAspect="1" noChangeArrowheads="1"/>
                      </p:cNvPicPr>
                      <p:nvPr/>
                    </p:nvPicPr>
                    <p:blipFill>
                      <a:blip r:embed="rId8"/>
                      <a:srcRect/>
                      <a:stretch>
                        <a:fillRect/>
                      </a:stretch>
                    </p:blipFill>
                    <p:spPr bwMode="auto">
                      <a:xfrm>
                        <a:off x="2760563" y="1486112"/>
                        <a:ext cx="1577975" cy="447675"/>
                      </a:xfrm>
                      <a:prstGeom prst="rect">
                        <a:avLst/>
                      </a:prstGeom>
                      <a:noFill/>
                      <a:ln>
                        <a:noFill/>
                      </a:ln>
                    </p:spPr>
                  </p:pic>
                </p:oleObj>
              </mc:Fallback>
            </mc:AlternateContent>
          </a:graphicData>
        </a:graphic>
      </p:graphicFrame>
      <p:graphicFrame>
        <p:nvGraphicFramePr>
          <p:cNvPr id="33" name="Object 5"/>
          <p:cNvGraphicFramePr>
            <a:graphicFrameLocks noChangeAspect="1"/>
          </p:cNvGraphicFramePr>
          <p:nvPr>
            <p:extLst>
              <p:ext uri="{D42A27DB-BD31-4B8C-83A1-F6EECF244321}">
                <p14:modId xmlns:p14="http://schemas.microsoft.com/office/powerpoint/2010/main" val="465838697"/>
              </p:ext>
            </p:extLst>
          </p:nvPr>
        </p:nvGraphicFramePr>
        <p:xfrm>
          <a:off x="3499203" y="2606270"/>
          <a:ext cx="1323975" cy="515938"/>
        </p:xfrm>
        <a:graphic>
          <a:graphicData uri="http://schemas.openxmlformats.org/presentationml/2006/ole">
            <mc:AlternateContent xmlns:mc="http://schemas.openxmlformats.org/markup-compatibility/2006">
              <mc:Choice xmlns:v="urn:schemas-microsoft-com:vml" Requires="v">
                <p:oleObj spid="_x0000_s332389" name="Equation" r:id="rId9" imgW="660240" imgH="253800" progId="Equation.DSMT4">
                  <p:embed/>
                </p:oleObj>
              </mc:Choice>
              <mc:Fallback>
                <p:oleObj name="Equation" r:id="rId9" imgW="660240" imgH="253800" progId="Equation.DSMT4">
                  <p:embed/>
                  <p:pic>
                    <p:nvPicPr>
                      <p:cNvPr id="0" name=""/>
                      <p:cNvPicPr>
                        <a:picLocks noChangeAspect="1" noChangeArrowheads="1"/>
                      </p:cNvPicPr>
                      <p:nvPr/>
                    </p:nvPicPr>
                    <p:blipFill>
                      <a:blip r:embed="rId10"/>
                      <a:srcRect/>
                      <a:stretch>
                        <a:fillRect/>
                      </a:stretch>
                    </p:blipFill>
                    <p:spPr bwMode="auto">
                      <a:xfrm>
                        <a:off x="3499203" y="2606270"/>
                        <a:ext cx="1323975" cy="515938"/>
                      </a:xfrm>
                      <a:prstGeom prst="rect">
                        <a:avLst/>
                      </a:prstGeom>
                      <a:noFill/>
                      <a:ln>
                        <a:noFill/>
                      </a:ln>
                    </p:spPr>
                  </p:pic>
                </p:oleObj>
              </mc:Fallback>
            </mc:AlternateContent>
          </a:graphicData>
        </a:graphic>
      </p:graphicFrame>
      <p:graphicFrame>
        <p:nvGraphicFramePr>
          <p:cNvPr id="36" name="Object 2"/>
          <p:cNvGraphicFramePr>
            <a:graphicFrameLocks noChangeAspect="1"/>
          </p:cNvGraphicFramePr>
          <p:nvPr>
            <p:extLst>
              <p:ext uri="{D42A27DB-BD31-4B8C-83A1-F6EECF244321}">
                <p14:modId xmlns:p14="http://schemas.microsoft.com/office/powerpoint/2010/main" val="3711628591"/>
              </p:ext>
            </p:extLst>
          </p:nvPr>
        </p:nvGraphicFramePr>
        <p:xfrm>
          <a:off x="3452734" y="3119638"/>
          <a:ext cx="1635826" cy="506327"/>
        </p:xfrm>
        <a:graphic>
          <a:graphicData uri="http://schemas.openxmlformats.org/presentationml/2006/ole">
            <mc:AlternateContent xmlns:mc="http://schemas.openxmlformats.org/markup-compatibility/2006">
              <mc:Choice xmlns:v="urn:schemas-microsoft-com:vml" Requires="v">
                <p:oleObj spid="_x0000_s332390" name="Equation" r:id="rId11" imgW="875920" imgH="266584" progId="Equation.DSMT4">
                  <p:embed/>
                </p:oleObj>
              </mc:Choice>
              <mc:Fallback>
                <p:oleObj name="Equation" r:id="rId11" imgW="875920" imgH="266584"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52734" y="3119638"/>
                        <a:ext cx="1635826" cy="506327"/>
                      </a:xfrm>
                      <a:prstGeom prst="rect">
                        <a:avLst/>
                      </a:prstGeom>
                      <a:noFill/>
                      <a:ln>
                        <a:noFill/>
                      </a:ln>
                    </p:spPr>
                  </p:pic>
                </p:oleObj>
              </mc:Fallback>
            </mc:AlternateContent>
          </a:graphicData>
        </a:graphic>
      </p:graphicFrame>
      <p:graphicFrame>
        <p:nvGraphicFramePr>
          <p:cNvPr id="37" name="Object 5"/>
          <p:cNvGraphicFramePr>
            <a:graphicFrameLocks noChangeAspect="1"/>
          </p:cNvGraphicFramePr>
          <p:nvPr>
            <p:extLst>
              <p:ext uri="{D42A27DB-BD31-4B8C-83A1-F6EECF244321}">
                <p14:modId xmlns:p14="http://schemas.microsoft.com/office/powerpoint/2010/main" val="988836341"/>
              </p:ext>
            </p:extLst>
          </p:nvPr>
        </p:nvGraphicFramePr>
        <p:xfrm>
          <a:off x="2529816" y="4811816"/>
          <a:ext cx="1079500" cy="347662"/>
        </p:xfrm>
        <a:graphic>
          <a:graphicData uri="http://schemas.openxmlformats.org/presentationml/2006/ole">
            <mc:AlternateContent xmlns:mc="http://schemas.openxmlformats.org/markup-compatibility/2006">
              <mc:Choice xmlns:v="urn:schemas-microsoft-com:vml" Requires="v">
                <p:oleObj spid="_x0000_s332391" name="Equation" r:id="rId13" imgW="545760" imgH="177480" progId="Equation.DSMT4">
                  <p:embed/>
                </p:oleObj>
              </mc:Choice>
              <mc:Fallback>
                <p:oleObj name="Equation" r:id="rId13" imgW="545760" imgH="177480" progId="Equation.DSMT4">
                  <p:embed/>
                  <p:pic>
                    <p:nvPicPr>
                      <p:cNvPr id="0" name=""/>
                      <p:cNvPicPr>
                        <a:picLocks noChangeAspect="1" noChangeArrowheads="1"/>
                      </p:cNvPicPr>
                      <p:nvPr/>
                    </p:nvPicPr>
                    <p:blipFill>
                      <a:blip r:embed="rId14"/>
                      <a:srcRect/>
                      <a:stretch>
                        <a:fillRect/>
                      </a:stretch>
                    </p:blipFill>
                    <p:spPr bwMode="auto">
                      <a:xfrm>
                        <a:off x="2529816" y="4811816"/>
                        <a:ext cx="1079500" cy="347662"/>
                      </a:xfrm>
                      <a:prstGeom prst="rect">
                        <a:avLst/>
                      </a:prstGeom>
                      <a:noFill/>
                      <a:ln>
                        <a:noFill/>
                      </a:ln>
                    </p:spPr>
                  </p:pic>
                </p:oleObj>
              </mc:Fallback>
            </mc:AlternateContent>
          </a:graphicData>
        </a:graphic>
      </p:graphicFrame>
      <p:graphicFrame>
        <p:nvGraphicFramePr>
          <p:cNvPr id="39" name="Object 6"/>
          <p:cNvGraphicFramePr>
            <a:graphicFrameLocks noChangeAspect="1"/>
          </p:cNvGraphicFramePr>
          <p:nvPr>
            <p:extLst>
              <p:ext uri="{D42A27DB-BD31-4B8C-83A1-F6EECF244321}">
                <p14:modId xmlns:p14="http://schemas.microsoft.com/office/powerpoint/2010/main" val="1826942197"/>
              </p:ext>
            </p:extLst>
          </p:nvPr>
        </p:nvGraphicFramePr>
        <p:xfrm>
          <a:off x="1971962" y="5177763"/>
          <a:ext cx="5226050" cy="506413"/>
        </p:xfrm>
        <a:graphic>
          <a:graphicData uri="http://schemas.openxmlformats.org/presentationml/2006/ole">
            <mc:AlternateContent xmlns:mc="http://schemas.openxmlformats.org/markup-compatibility/2006">
              <mc:Choice xmlns:v="urn:schemas-microsoft-com:vml" Requires="v">
                <p:oleObj spid="_x0000_s332392" name="Equation" r:id="rId15" imgW="2590560" imgH="253800" progId="Equation.DSMT4">
                  <p:embed/>
                </p:oleObj>
              </mc:Choice>
              <mc:Fallback>
                <p:oleObj name="Equation" r:id="rId15" imgW="2590560" imgH="253800" progId="Equation.DSMT4">
                  <p:embed/>
                  <p:pic>
                    <p:nvPicPr>
                      <p:cNvPr id="0" name=""/>
                      <p:cNvPicPr>
                        <a:picLocks noChangeAspect="1" noChangeArrowheads="1"/>
                      </p:cNvPicPr>
                      <p:nvPr/>
                    </p:nvPicPr>
                    <p:blipFill>
                      <a:blip r:embed="rId16"/>
                      <a:srcRect/>
                      <a:stretch>
                        <a:fillRect/>
                      </a:stretch>
                    </p:blipFill>
                    <p:spPr bwMode="auto">
                      <a:xfrm>
                        <a:off x="1971962" y="5177763"/>
                        <a:ext cx="5226050" cy="506413"/>
                      </a:xfrm>
                      <a:prstGeom prst="rect">
                        <a:avLst/>
                      </a:prstGeom>
                      <a:noFill/>
                      <a:ln>
                        <a:noFill/>
                      </a:ln>
                    </p:spPr>
                  </p:pic>
                </p:oleObj>
              </mc:Fallback>
            </mc:AlternateContent>
          </a:graphicData>
        </a:graphic>
      </p:graphicFrame>
      <p:pic>
        <p:nvPicPr>
          <p:cNvPr id="6" name="图片 5"/>
          <p:cNvPicPr>
            <a:picLocks noChangeAspect="1"/>
          </p:cNvPicPr>
          <p:nvPr/>
        </p:nvPicPr>
        <p:blipFill>
          <a:blip r:embed="rId17"/>
          <a:stretch>
            <a:fillRect/>
          </a:stretch>
        </p:blipFill>
        <p:spPr>
          <a:xfrm>
            <a:off x="5159896" y="1247004"/>
            <a:ext cx="2545824" cy="1440569"/>
          </a:xfrm>
          <a:prstGeom prst="rect">
            <a:avLst/>
          </a:prstGeom>
        </p:spPr>
      </p:pic>
      <p:pic>
        <p:nvPicPr>
          <p:cNvPr id="8" name="图片 7"/>
          <p:cNvPicPr>
            <a:picLocks noChangeAspect="1"/>
          </p:cNvPicPr>
          <p:nvPr/>
        </p:nvPicPr>
        <p:blipFill>
          <a:blip r:embed="rId18"/>
          <a:stretch>
            <a:fillRect/>
          </a:stretch>
        </p:blipFill>
        <p:spPr>
          <a:xfrm>
            <a:off x="8040217" y="1264854"/>
            <a:ext cx="2441609" cy="1516075"/>
          </a:xfrm>
          <a:prstGeom prst="rect">
            <a:avLst/>
          </a:prstGeom>
        </p:spPr>
      </p:pic>
      <p:sp>
        <p:nvSpPr>
          <p:cNvPr id="9" name="矩形 8"/>
          <p:cNvSpPr/>
          <p:nvPr/>
        </p:nvSpPr>
        <p:spPr>
          <a:xfrm>
            <a:off x="7155796" y="926496"/>
            <a:ext cx="2696572" cy="369332"/>
          </a:xfrm>
          <a:prstGeom prst="rect">
            <a:avLst/>
          </a:prstGeom>
        </p:spPr>
        <p:txBody>
          <a:bodyPr wrap="none">
            <a:spAutoFit/>
          </a:bodyPr>
          <a:lstStyle/>
          <a:p>
            <a:r>
              <a:rPr lang="zh-CN" altLang="en-US" dirty="0">
                <a:latin typeface="Times New Roman" panose="02020603050405020304" pitchFamily="18" charset="0"/>
                <a:cs typeface="Times New Roman" panose="02020603050405020304" pitchFamily="18" charset="0"/>
              </a:rPr>
              <a:t>用</a:t>
            </a:r>
            <a:r>
              <a:rPr lang="en-US" altLang="zh-CN" dirty="0">
                <a:latin typeface="Times New Roman" panose="02020603050405020304" pitchFamily="18" charset="0"/>
                <a:cs typeface="Times New Roman" panose="02020603050405020304" pitchFamily="18" charset="0"/>
              </a:rPr>
              <a:t>U</a:t>
            </a:r>
            <a:r>
              <a:rPr lang="zh-CN" altLang="en-US" dirty="0">
                <a:latin typeface="Times New Roman" panose="02020603050405020304" pitchFamily="18" charset="0"/>
                <a:cs typeface="Times New Roman" panose="02020603050405020304" pitchFamily="18" charset="0"/>
              </a:rPr>
              <a:t>消除</a:t>
            </a:r>
            <a:r>
              <a:rPr lang="el-GR" altLang="zh-CN" dirty="0">
                <a:latin typeface="Times New Roman" panose="02020603050405020304" pitchFamily="18" charset="0"/>
                <a:cs typeface="Times New Roman" panose="02020603050405020304" pitchFamily="18" charset="0"/>
              </a:rPr>
              <a:t>ω</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分量的相关性</a:t>
            </a:r>
            <a:endParaRPr lang="zh-CN" altLang="en-US" dirty="0"/>
          </a:p>
        </p:txBody>
      </p:sp>
      <p:pic>
        <p:nvPicPr>
          <p:cNvPr id="11" name="图片 10"/>
          <p:cNvPicPr>
            <a:picLocks noChangeAspect="1"/>
          </p:cNvPicPr>
          <p:nvPr/>
        </p:nvPicPr>
        <p:blipFill>
          <a:blip r:embed="rId19"/>
          <a:stretch>
            <a:fillRect/>
          </a:stretch>
        </p:blipFill>
        <p:spPr>
          <a:xfrm>
            <a:off x="8010917" y="2853422"/>
            <a:ext cx="2505113" cy="1498089"/>
          </a:xfrm>
          <a:prstGeom prst="rect">
            <a:avLst/>
          </a:prstGeom>
        </p:spPr>
      </p:pic>
      <p:pic>
        <p:nvPicPr>
          <p:cNvPr id="13" name="图片 12"/>
          <p:cNvPicPr>
            <a:picLocks noChangeAspect="1"/>
          </p:cNvPicPr>
          <p:nvPr/>
        </p:nvPicPr>
        <p:blipFill>
          <a:blip r:embed="rId20"/>
          <a:stretch>
            <a:fillRect/>
          </a:stretch>
        </p:blipFill>
        <p:spPr>
          <a:xfrm>
            <a:off x="8096970" y="4405419"/>
            <a:ext cx="2615618" cy="1419985"/>
          </a:xfrm>
          <a:prstGeom prst="rect">
            <a:avLst/>
          </a:prstGeom>
        </p:spPr>
      </p:pic>
      <p:cxnSp>
        <p:nvCxnSpPr>
          <p:cNvPr id="18" name="直接箭头连接符 17"/>
          <p:cNvCxnSpPr>
            <a:stCxn id="39" idx="0"/>
          </p:cNvCxnSpPr>
          <p:nvPr/>
        </p:nvCxnSpPr>
        <p:spPr>
          <a:xfrm flipV="1">
            <a:off x="4584987" y="2276872"/>
            <a:ext cx="3671254" cy="29008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3957500" y="3444113"/>
            <a:ext cx="4082716" cy="1812276"/>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V="1">
            <a:off x="3488309" y="4685708"/>
            <a:ext cx="4551907" cy="57068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30884" y="968836"/>
            <a:ext cx="5724644" cy="341632"/>
          </a:xfrm>
          <a:prstGeom prst="rect">
            <a:avLst/>
          </a:prstGeom>
        </p:spPr>
        <p:txBody>
          <a:bodyPr wrap="none">
            <a:spAutoFit/>
          </a:bodyPr>
          <a:lstStyle/>
          <a:p>
            <a:pPr>
              <a:lnSpc>
                <a:spcPct val="90000"/>
              </a:lnSpc>
              <a:spcBef>
                <a:spcPts val="600"/>
              </a:spcBef>
              <a:buNone/>
            </a:pPr>
            <a:r>
              <a:rPr lang="en-US" altLang="zh-CN" dirty="0">
                <a:solidFill>
                  <a:srgbClr val="FF0000"/>
                </a:solidFill>
                <a:latin typeface="Times New Roman" panose="02020603050405020304" pitchFamily="18" charset="0"/>
                <a:cs typeface="Times New Roman" panose="02020603050405020304" pitchFamily="18" charset="0"/>
              </a:rPr>
              <a:t>2</a:t>
            </a:r>
            <a:r>
              <a:rPr lang="zh-CN" altLang="en-US" dirty="0">
                <a:solidFill>
                  <a:srgbClr val="FF0000"/>
                </a:solidFill>
                <a:latin typeface="Times New Roman" panose="02020603050405020304" pitchFamily="18" charset="0"/>
                <a:cs typeface="Times New Roman" panose="02020603050405020304" pitchFamily="18" charset="0"/>
              </a:rPr>
              <a:t>、</a:t>
            </a:r>
            <a:r>
              <a:rPr lang="zh-CN" altLang="en-US" dirty="0">
                <a:solidFill>
                  <a:srgbClr val="FF0000"/>
                </a:solidFill>
                <a:latin typeface="黑体" panose="02010609060101010101" pitchFamily="49" charset="-122"/>
                <a:ea typeface="黑体" panose="02010609060101010101" pitchFamily="49" charset="-122"/>
              </a:rPr>
              <a:t>运用</a:t>
            </a:r>
            <a:r>
              <a:rPr lang="en-US" altLang="zh-CN" dirty="0">
                <a:solidFill>
                  <a:srgbClr val="FF0000"/>
                </a:solidFill>
                <a:latin typeface="黑体" panose="02010609060101010101" pitchFamily="49" charset="-122"/>
                <a:ea typeface="黑体" panose="02010609060101010101" pitchFamily="49" charset="-122"/>
              </a:rPr>
              <a:t>DKLT</a:t>
            </a:r>
            <a:r>
              <a:rPr lang="zh-CN" altLang="en-US" dirty="0">
                <a:solidFill>
                  <a:srgbClr val="FF0000"/>
                </a:solidFill>
                <a:latin typeface="黑体" panose="02010609060101010101" pitchFamily="49" charset="-122"/>
                <a:ea typeface="黑体" panose="02010609060101010101" pitchFamily="49" charset="-122"/>
              </a:rPr>
              <a:t>消除两类问题的特征相关性方法（小结） </a:t>
            </a:r>
            <a:endParaRPr lang="en-US" altLang="zh-CN" dirty="0">
              <a:solidFill>
                <a:srgbClr val="FF0000"/>
              </a:solidFill>
              <a:latin typeface="黑体" panose="02010609060101010101" pitchFamily="49" charset="-122"/>
              <a:ea typeface="黑体" panose="02010609060101010101" pitchFamily="49" charset="-122"/>
            </a:endParaRPr>
          </a:p>
        </p:txBody>
      </p:sp>
      <p:sp>
        <p:nvSpPr>
          <p:cNvPr id="24" name="矩形 12"/>
          <p:cNvSpPr>
            <a:spLocks noChangeArrowheads="1"/>
          </p:cNvSpPr>
          <p:nvPr/>
        </p:nvSpPr>
        <p:spPr bwMode="auto">
          <a:xfrm>
            <a:off x="4982447" y="5800378"/>
            <a:ext cx="1870495" cy="64633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dirty="0">
                <a:ea typeface="黑体" panose="02010609060101010101" pitchFamily="49" charset="-122"/>
              </a:rPr>
              <a:t>第</a:t>
            </a:r>
            <a:r>
              <a:rPr lang="en-US" altLang="zh-CN" sz="1800" dirty="0">
                <a:ea typeface="黑体" panose="02010609060101010101" pitchFamily="49" charset="-122"/>
              </a:rPr>
              <a:t>1</a:t>
            </a:r>
            <a:r>
              <a:rPr lang="zh-CN" altLang="en-US" sz="1800" dirty="0">
                <a:ea typeface="黑体" panose="02010609060101010101" pitchFamily="49" charset="-122"/>
              </a:rPr>
              <a:t>类协方差</a:t>
            </a:r>
            <a:r>
              <a:rPr lang="en-US" altLang="zh-CN" sz="1800" dirty="0">
                <a:latin typeface="Times New Roman" panose="02020603050405020304" pitchFamily="18" charset="0"/>
                <a:cs typeface="Times New Roman" panose="02020603050405020304" pitchFamily="18" charset="0"/>
              </a:rPr>
              <a:t>S</a:t>
            </a:r>
            <a:r>
              <a:rPr lang="el-GR" altLang="zh-CN" sz="1800" baseline="-25000" dirty="0">
                <a:latin typeface="Times New Roman" panose="02020603050405020304" pitchFamily="18" charset="0"/>
                <a:cs typeface="Times New Roman" panose="02020603050405020304" pitchFamily="18" charset="0"/>
              </a:rPr>
              <a:t>ω</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ea typeface="黑体" panose="02010609060101010101" pitchFamily="49" charset="-122"/>
              </a:rPr>
              <a:t>的特征矢量阵</a:t>
            </a:r>
            <a:endParaRPr lang="zh-CN" altLang="en-US" sz="1800" dirty="0"/>
          </a:p>
        </p:txBody>
      </p:sp>
      <p:cxnSp>
        <p:nvCxnSpPr>
          <p:cNvPr id="25" name="直接箭头连接符 16"/>
          <p:cNvCxnSpPr>
            <a:cxnSpLocks noChangeShapeType="1"/>
          </p:cNvCxnSpPr>
          <p:nvPr/>
        </p:nvCxnSpPr>
        <p:spPr bwMode="auto">
          <a:xfrm flipH="1" flipV="1">
            <a:off x="4509205" y="5589241"/>
            <a:ext cx="627947" cy="211137"/>
          </a:xfrm>
          <a:prstGeom prst="straightConnector1">
            <a:avLst/>
          </a:prstGeom>
          <a:noFill/>
          <a:ln w="12700" cap="sq" algn="ctr">
            <a:solidFill>
              <a:srgbClr val="FF0000"/>
            </a:solidFill>
            <a:round/>
            <a:headEnd type="none" w="sm" len="sm"/>
            <a:tailEnd type="arrow" w="med" len="med"/>
          </a:ln>
          <a:extLst>
            <a:ext uri="{909E8E84-426E-40DD-AFC4-6F175D3DCCD1}">
              <a14:hiddenFill xmlns:a14="http://schemas.microsoft.com/office/drawing/2010/main">
                <a:noFill/>
              </a14:hiddenFill>
            </a:ext>
          </a:extLst>
        </p:spPr>
      </p:cxnSp>
      <p:sp>
        <p:nvSpPr>
          <p:cNvPr id="26" name="矩形 17"/>
          <p:cNvSpPr>
            <a:spLocks noChangeArrowheads="1"/>
          </p:cNvSpPr>
          <p:nvPr/>
        </p:nvSpPr>
        <p:spPr bwMode="auto">
          <a:xfrm>
            <a:off x="3684589" y="5801966"/>
            <a:ext cx="1172116" cy="64633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dirty="0">
                <a:latin typeface="Times New Roman" panose="02020603050405020304" pitchFamily="18" charset="0"/>
                <a:cs typeface="Times New Roman" panose="02020603050405020304" pitchFamily="18" charset="0"/>
              </a:rPr>
              <a:t>y</a:t>
            </a:r>
            <a:r>
              <a:rPr lang="en-US" altLang="zh-CN" sz="1800" baseline="30000" dirty="0">
                <a:latin typeface="Times New Roman" panose="02020603050405020304" pitchFamily="18" charset="0"/>
                <a:cs typeface="Times New Roman" panose="02020603050405020304" pitchFamily="18" charset="0"/>
              </a:rPr>
              <a:t>(1)</a:t>
            </a:r>
            <a:r>
              <a:rPr lang="zh-CN" altLang="en-US" sz="1800" dirty="0">
                <a:latin typeface="黑体" panose="02010609060101010101" pitchFamily="49" charset="-122"/>
                <a:ea typeface="黑体" panose="02010609060101010101" pitchFamily="49" charset="-122"/>
              </a:rPr>
              <a:t>的协方</a:t>
            </a:r>
            <a:endParaRPr lang="en-US" altLang="zh-CN" sz="1800" dirty="0">
              <a:latin typeface="黑体" panose="02010609060101010101" pitchFamily="49" charset="-122"/>
              <a:ea typeface="黑体" panose="02010609060101010101" pitchFamily="49" charset="-122"/>
            </a:endParaRPr>
          </a:p>
          <a:p>
            <a:pPr>
              <a:spcBef>
                <a:spcPct val="0"/>
              </a:spcBef>
              <a:buClrTx/>
              <a:buSzTx/>
              <a:buFontTx/>
              <a:buNone/>
            </a:pPr>
            <a:r>
              <a:rPr lang="zh-CN" altLang="en-US" sz="1800" dirty="0">
                <a:latin typeface="黑体" panose="02010609060101010101" pitchFamily="49" charset="-122"/>
                <a:ea typeface="黑体" panose="02010609060101010101" pitchFamily="49" charset="-122"/>
              </a:rPr>
              <a:t>差矩阵</a:t>
            </a:r>
            <a:endParaRPr lang="zh-CN" altLang="en-US" sz="1800" dirty="0"/>
          </a:p>
        </p:txBody>
      </p:sp>
      <mc:AlternateContent xmlns:mc="http://schemas.openxmlformats.org/markup-compatibility/2006" xmlns:a14="http://schemas.microsoft.com/office/drawing/2010/main">
        <mc:Choice Requires="a14">
          <p:sp>
            <p:nvSpPr>
              <p:cNvPr id="27" name="矩形 18"/>
              <p:cNvSpPr>
                <a:spLocks noChangeArrowheads="1"/>
              </p:cNvSpPr>
              <p:nvPr/>
            </p:nvSpPr>
            <p:spPr bwMode="auto">
              <a:xfrm>
                <a:off x="1236318" y="5803552"/>
                <a:ext cx="2388816" cy="682174"/>
              </a:xfrm>
              <a:prstGeom prst="rect">
                <a:avLst/>
              </a:prstGeom>
              <a:noFill/>
              <a:ln w="9525">
                <a:solidFill>
                  <a:srgbClr val="FF0000"/>
                </a:solidFill>
                <a:miter lim="800000"/>
                <a:headEnd/>
                <a:tailEnd/>
              </a:ln>
              <a:extLst>
                <a:ext uri="{909E8E84-426E-40DD-AFC4-6F175D3DCCD1}">
                  <a14:hiddenFill>
                    <a:solidFill>
                      <a:srgbClr val="FFFFFF"/>
                    </a:solidFill>
                  </a14:hiddenFill>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dirty="0">
                    <a:ea typeface="黑体" panose="02010609060101010101" pitchFamily="49" charset="-122"/>
                  </a:rPr>
                  <a:t>第</a:t>
                </a:r>
                <a:r>
                  <a:rPr lang="en-US" altLang="zh-CN" sz="1800" dirty="0">
                    <a:ea typeface="黑体" panose="02010609060101010101" pitchFamily="49" charset="-122"/>
                  </a:rPr>
                  <a:t>2</a:t>
                </a:r>
                <a:r>
                  <a:rPr lang="zh-CN" altLang="en-US" sz="1800" dirty="0">
                    <a:ea typeface="黑体" panose="02010609060101010101" pitchFamily="49" charset="-122"/>
                  </a:rPr>
                  <a:t>类样本协方差变换后</a:t>
                </a:r>
                <a14:m>
                  <m:oMath xmlns:m="http://schemas.openxmlformats.org/officeDocument/2006/math">
                    <m:sSub>
                      <m:sSubPr>
                        <m:ctrlPr>
                          <a:rPr lang="zh-CN" altLang="en-US" sz="1800" i="1">
                            <a:latin typeface="Cambria Math" panose="02040503050406030204" pitchFamily="18" charset="0"/>
                          </a:rPr>
                        </m:ctrlPr>
                      </m:sSubPr>
                      <m:e>
                        <m:acc>
                          <m:accPr>
                            <m:chr m:val="̃"/>
                            <m:ctrlPr>
                              <a:rPr lang="zh-CN" altLang="en-US" sz="1800" i="1">
                                <a:latin typeface="Cambria Math" panose="02040503050406030204" pitchFamily="18" charset="0"/>
                              </a:rPr>
                            </m:ctrlPr>
                          </m:accPr>
                          <m:e>
                            <m:r>
                              <a:rPr lang="zh-CN" altLang="en-US" sz="1800" i="1">
                                <a:latin typeface="Cambria Math" panose="02040503050406030204" pitchFamily="18" charset="0"/>
                              </a:rPr>
                              <m:t>𝑆</m:t>
                            </m:r>
                          </m:e>
                        </m:acc>
                      </m:e>
                      <m:sub>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𝑊</m:t>
                            </m:r>
                          </m:e>
                          <m:sub>
                            <m:r>
                              <a:rPr lang="zh-CN" altLang="en-US" sz="1800">
                                <a:latin typeface="Cambria Math" panose="02040503050406030204" pitchFamily="18" charset="0"/>
                              </a:rPr>
                              <m:t>2</m:t>
                            </m:r>
                          </m:sub>
                        </m:sSub>
                      </m:sub>
                    </m:sSub>
                  </m:oMath>
                </a14:m>
                <a:r>
                  <a:rPr lang="zh-CN" altLang="en-US" sz="1800" dirty="0">
                    <a:ea typeface="黑体" panose="02010609060101010101" pitchFamily="49" charset="-122"/>
                  </a:rPr>
                  <a:t>的特征矢量阵</a:t>
                </a:r>
                <a:endParaRPr lang="zh-CN" altLang="en-US" sz="1800" dirty="0"/>
              </a:p>
            </p:txBody>
          </p:sp>
        </mc:Choice>
        <mc:Fallback xmlns="">
          <p:sp>
            <p:nvSpPr>
              <p:cNvPr id="27" name="矩形 18"/>
              <p:cNvSpPr>
                <a:spLocks noRot="1" noChangeAspect="1" noMove="1" noResize="1" noEditPoints="1" noAdjustHandles="1" noChangeArrowheads="1" noChangeShapeType="1" noTextEdit="1"/>
              </p:cNvSpPr>
              <p:nvPr/>
            </p:nvSpPr>
            <p:spPr bwMode="auto">
              <a:xfrm>
                <a:off x="1236318" y="5803552"/>
                <a:ext cx="2388816" cy="682174"/>
              </a:xfrm>
              <a:prstGeom prst="rect">
                <a:avLst/>
              </a:prstGeom>
              <a:blipFill>
                <a:blip r:embed="rId21"/>
                <a:stretch>
                  <a:fillRect l="-2030" t="-5263" r="-1523" b="-6140"/>
                </a:stretch>
              </a:blip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cxnSp>
        <p:nvCxnSpPr>
          <p:cNvPr id="28" name="直接箭头连接符 21"/>
          <p:cNvCxnSpPr>
            <a:cxnSpLocks noChangeShapeType="1"/>
          </p:cNvCxnSpPr>
          <p:nvPr/>
        </p:nvCxnSpPr>
        <p:spPr bwMode="auto">
          <a:xfrm rot="5400000" flipH="1" flipV="1">
            <a:off x="3790952" y="5695603"/>
            <a:ext cx="214313" cy="1588"/>
          </a:xfrm>
          <a:prstGeom prst="straightConnector1">
            <a:avLst/>
          </a:prstGeom>
          <a:noFill/>
          <a:ln w="12700" cap="sq" algn="ctr">
            <a:solidFill>
              <a:srgbClr val="FF0000"/>
            </a:solidFill>
            <a:round/>
            <a:headEnd type="none" w="sm" len="sm"/>
            <a:tailEnd type="arrow" w="med" len="med"/>
          </a:ln>
          <a:extLst>
            <a:ext uri="{909E8E84-426E-40DD-AFC4-6F175D3DCCD1}">
              <a14:hiddenFill xmlns:a14="http://schemas.microsoft.com/office/drawing/2010/main">
                <a:noFill/>
              </a14:hiddenFill>
            </a:ext>
          </a:extLst>
        </p:spPr>
      </p:cxnSp>
      <p:cxnSp>
        <p:nvCxnSpPr>
          <p:cNvPr id="29" name="直接箭头连接符 23"/>
          <p:cNvCxnSpPr>
            <a:cxnSpLocks noChangeShapeType="1"/>
          </p:cNvCxnSpPr>
          <p:nvPr/>
        </p:nvCxnSpPr>
        <p:spPr bwMode="auto">
          <a:xfrm rot="5400000" flipH="1" flipV="1">
            <a:off x="3125071" y="5589240"/>
            <a:ext cx="214312" cy="214312"/>
          </a:xfrm>
          <a:prstGeom prst="straightConnector1">
            <a:avLst/>
          </a:prstGeom>
          <a:noFill/>
          <a:ln w="12700" cap="sq" algn="ctr">
            <a:solidFill>
              <a:srgbClr val="FF0000"/>
            </a:solidFill>
            <a:round/>
            <a:headEnd type="none" w="sm" len="sm"/>
            <a:tailEnd type="arrow" w="med" len="med"/>
          </a:ln>
          <a:extLst>
            <a:ext uri="{909E8E84-426E-40DD-AFC4-6F175D3DCCD1}">
              <a14:hiddenFill xmlns:a14="http://schemas.microsoft.com/office/drawing/2010/main">
                <a:noFill/>
              </a14:hiddenFill>
            </a:ext>
          </a:extLst>
        </p:spPr>
      </p:cxnSp>
      <p:sp>
        <p:nvSpPr>
          <p:cNvPr id="30" name="矩形 29"/>
          <p:cNvSpPr/>
          <p:nvPr/>
        </p:nvSpPr>
        <p:spPr>
          <a:xfrm>
            <a:off x="7949321" y="139384"/>
            <a:ext cx="646331" cy="369332"/>
          </a:xfrm>
          <a:prstGeom prst="rect">
            <a:avLst/>
          </a:prstGeom>
        </p:spPr>
        <p:txBody>
          <a:bodyPr wrap="none">
            <a:spAutoFit/>
          </a:bodyPr>
          <a:lstStyle/>
          <a:p>
            <a:r>
              <a:rPr lang="zh-CN" altLang="en-US" dirty="0">
                <a:solidFill>
                  <a:srgbClr val="FF0000"/>
                </a:solidFill>
                <a:latin typeface="黑体" panose="02010609060101010101" pitchFamily="49" charset="-122"/>
                <a:ea typeface="黑体" panose="02010609060101010101" pitchFamily="49" charset="-122"/>
              </a:rPr>
              <a:t>自习</a:t>
            </a:r>
            <a:endParaRPr lang="zh-CN" altLang="en-US" dirty="0"/>
          </a:p>
        </p:txBody>
      </p:sp>
    </p:spTree>
    <p:extLst>
      <p:ext uri="{BB962C8B-B14F-4D97-AF65-F5344CB8AC3E}">
        <p14:creationId xmlns:p14="http://schemas.microsoft.com/office/powerpoint/2010/main" val="715005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down)">
                                      <p:cBhvr>
                                        <p:cTn id="15" dur="500"/>
                                        <p:tgtEl>
                                          <p:spTgt spid="27"/>
                                        </p:tgtEl>
                                      </p:cBhvr>
                                    </p:animEffect>
                                  </p:childTnLst>
                                </p:cTn>
                              </p:par>
                              <p:par>
                                <p:cTn id="16" presetID="22" presetClass="entr" presetSubtype="4"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wipe(down)">
                                      <p:cBhvr>
                                        <p:cTn id="18" dur="500"/>
                                        <p:tgtEl>
                                          <p:spTgt spid="29"/>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down)">
                                      <p:cBhvr>
                                        <p:cTn id="21" dur="500"/>
                                        <p:tgtEl>
                                          <p:spTgt spid="26"/>
                                        </p:tgtEl>
                                      </p:cBhvr>
                                    </p:animEffect>
                                  </p:childTnLst>
                                </p:cTn>
                              </p:par>
                              <p:par>
                                <p:cTn id="22" presetID="22" presetClass="entr" presetSubtype="4" fill="hold"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down)">
                                      <p:cBhvr>
                                        <p:cTn id="24" dur="500"/>
                                        <p:tgtEl>
                                          <p:spTgt spid="28"/>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down)">
                                      <p:cBhvr>
                                        <p:cTn id="27" dur="500"/>
                                        <p:tgtEl>
                                          <p:spTgt spid="24"/>
                                        </p:tgtEl>
                                      </p:cBhvr>
                                    </p:animEffect>
                                  </p:childTnLst>
                                </p:cTn>
                              </p:par>
                              <p:par>
                                <p:cTn id="28" presetID="22" presetClass="entr" presetSubtype="4" fill="hold"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wipe(down)">
                                      <p:cBhvr>
                                        <p:cTn id="3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P spid="2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35360" y="975320"/>
            <a:ext cx="10297144" cy="5334000"/>
          </a:xfrm>
        </p:spPr>
        <p:txBody>
          <a:bodyPr/>
          <a:lstStyle/>
          <a:p>
            <a:pPr marL="0" indent="0">
              <a:buNone/>
            </a:pPr>
            <a:endParaRPr lang="en-US" altLang="zh-CN" sz="2000" dirty="0">
              <a:latin typeface="Times New Roman" panose="02020603050405020304" pitchFamily="18" charset="0"/>
              <a:cs typeface="Times New Roman" panose="02020603050405020304" pitchFamily="18" charset="0"/>
            </a:endParaRPr>
          </a:p>
          <a:p>
            <a:pPr marL="0" indent="0">
              <a:buNone/>
            </a:pPr>
            <a:endParaRPr lang="en-US" altLang="zh-CN" sz="2000" dirty="0">
              <a:latin typeface="Times New Roman" panose="02020603050405020304" pitchFamily="18" charset="0"/>
              <a:cs typeface="Times New Roman" panose="02020603050405020304" pitchFamily="18" charset="0"/>
            </a:endParaRPr>
          </a:p>
          <a:p>
            <a:pPr marL="0" indent="0">
              <a:buNone/>
            </a:pPr>
            <a:endParaRPr lang="en-US" altLang="zh-CN" sz="2000" dirty="0">
              <a:latin typeface="Times New Roman" panose="02020603050405020304" pitchFamily="18" charset="0"/>
              <a:cs typeface="Times New Roman" panose="02020603050405020304" pitchFamily="18" charset="0"/>
            </a:endParaRPr>
          </a:p>
          <a:p>
            <a:pPr marL="0" indent="0">
              <a:buNone/>
            </a:pPr>
            <a:endParaRPr lang="en-US" altLang="zh-CN" sz="200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479376" y="152401"/>
            <a:ext cx="9350424" cy="563563"/>
          </a:xfrm>
        </p:spPr>
        <p:txBody>
          <a:bodyPr/>
          <a:lstStyle/>
          <a:p>
            <a:r>
              <a:rPr lang="en-US" altLang="zh-CN" dirty="0">
                <a:latin typeface="Times New Roman" panose="02020603050405020304" pitchFamily="18" charset="0"/>
                <a:cs typeface="Times New Roman" panose="02020603050405020304" pitchFamily="18" charset="0"/>
              </a:rPr>
              <a:t>17.3 K-L</a:t>
            </a:r>
            <a:r>
              <a:rPr lang="zh-CN" altLang="zh-CN" dirty="0">
                <a:latin typeface="Times New Roman" panose="02020603050405020304" pitchFamily="18" charset="0"/>
                <a:cs typeface="Times New Roman" panose="02020603050405020304" pitchFamily="18" charset="0"/>
              </a:rPr>
              <a:t>变换方法</a:t>
            </a:r>
            <a:r>
              <a:rPr lang="en-US" altLang="zh-CN" dirty="0" err="1">
                <a:latin typeface="Bahnschrift Condensed" panose="020B0502040204020203" pitchFamily="34" charset="0"/>
                <a:cs typeface="Times New Roman" panose="02020603050405020304" pitchFamily="18" charset="0"/>
              </a:rPr>
              <a:t>Karhunen-Loeve</a:t>
            </a:r>
            <a:r>
              <a:rPr lang="en-US" altLang="zh-CN" dirty="0">
                <a:latin typeface="Bahnschrift Condensed" panose="020B0502040204020203" pitchFamily="34" charset="0"/>
                <a:cs typeface="Times New Roman" panose="02020603050405020304" pitchFamily="18" charset="0"/>
              </a:rPr>
              <a:t> transform</a:t>
            </a:r>
            <a:endParaRPr lang="zh-CN" altLang="en-US" dirty="0">
              <a:latin typeface="Bahnschrift Condensed" panose="020B0502040204020203" pitchFamily="34" charset="0"/>
              <a:cs typeface="Times New Roman" panose="02020603050405020304" pitchFamily="18" charset="0"/>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30</a:t>
            </a:fld>
            <a:endParaRPr lang="en-US" altLang="zh-CN" dirty="0"/>
          </a:p>
        </p:txBody>
      </p:sp>
      <p:pic>
        <p:nvPicPr>
          <p:cNvPr id="314370" name="Picture 2" descr="http://latex.codecogs.com/gif.latex?%5Csigma_%7Bi%7D%20%2Ci%20%3D%201%2C%5Ccdots%20%2C%5Cinft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16438" y="-90488"/>
            <a:ext cx="1181100" cy="152401"/>
          </a:xfrm>
          <a:prstGeom prst="rect">
            <a:avLst/>
          </a:prstGeom>
          <a:noFill/>
          <a:extLst>
            <a:ext uri="{909E8E84-426E-40DD-AFC4-6F175D3DCCD1}">
              <a14:hiddenFill xmlns:a14="http://schemas.microsoft.com/office/drawing/2010/main">
                <a:solidFill>
                  <a:srgbClr val="FFFFFF"/>
                </a:solidFill>
              </a14:hiddenFill>
            </a:ext>
          </a:extLst>
        </p:spPr>
      </p:pic>
      <p:pic>
        <p:nvPicPr>
          <p:cNvPr id="315406" name="Picture 14" descr="http://latex.codecogs.com/gif.latex?%7b\Phi%20_%7bK%20-%20L%7d%7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187988" y="-76200"/>
            <a:ext cx="419100" cy="1524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6"/>
          <p:cNvSpPr>
            <a:spLocks noChangeArrowheads="1"/>
          </p:cNvSpPr>
          <p:nvPr/>
        </p:nvSpPr>
        <p:spPr bwMode="auto">
          <a:xfrm>
            <a:off x="6003635" y="82406"/>
            <a:ext cx="184731" cy="2923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sz="1300" dirty="0">
              <a:solidFill>
                <a:srgbClr val="4D4D4D"/>
              </a:solidFill>
              <a:latin typeface="Times New Roman" panose="02020603050405020304" pitchFamily="18" charset="0"/>
              <a:ea typeface="-apple-system"/>
              <a:cs typeface="Times New Roman" panose="02020603050405020304" pitchFamily="18" charset="0"/>
            </a:endParaRPr>
          </a:p>
        </p:txBody>
      </p:sp>
      <p:sp>
        <p:nvSpPr>
          <p:cNvPr id="17" name="Rectangle 9"/>
          <p:cNvSpPr>
            <a:spLocks noChangeArrowheads="1"/>
          </p:cNvSpPr>
          <p:nvPr/>
        </p:nvSpPr>
        <p:spPr bwMode="auto">
          <a:xfrm>
            <a:off x="1524001"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dirty="0"/>
          </a:p>
        </p:txBody>
      </p:sp>
      <p:pic>
        <p:nvPicPr>
          <p:cNvPr id="318475" name="Picture 11" descr="http://latex.codecogs.com/gif.latex?%7b\Phi%20_j%7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3614" y="-98425"/>
            <a:ext cx="180975" cy="180975"/>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4"/>
          <p:cNvSpPr>
            <a:spLocks noChangeArrowheads="1"/>
          </p:cNvSpPr>
          <p:nvPr/>
        </p:nvSpPr>
        <p:spPr bwMode="auto">
          <a:xfrm>
            <a:off x="8184233" y="967120"/>
            <a:ext cx="2357437" cy="1143000"/>
          </a:xfrm>
          <a:prstGeom prst="rect">
            <a:avLst/>
          </a:prstGeom>
          <a:noFill/>
          <a:ln w="9525">
            <a:solidFill>
              <a:srgbClr val="FF0000"/>
            </a:solidFill>
            <a:prstDash val="dash"/>
            <a:miter lim="800000"/>
            <a:headEnd/>
            <a:tailEnd/>
          </a:ln>
          <a:effectLst/>
        </p:spPr>
        <p:txBody>
          <a:bodyPr/>
          <a:lstStyle/>
          <a:p>
            <a:pPr marL="342900" indent="-342900">
              <a:lnSpc>
                <a:spcPct val="150000"/>
              </a:lnSpc>
              <a:spcBef>
                <a:spcPct val="20000"/>
              </a:spcBef>
              <a:defRPr/>
            </a:pPr>
            <a:r>
              <a:rPr lang="zh-CN" altLang="en-US" sz="2000" b="1" u="sng" dirty="0">
                <a:solidFill>
                  <a:srgbClr val="000000"/>
                </a:solidFill>
                <a:latin typeface="宋体" pitchFamily="2" charset="-122"/>
                <a:ea typeface="宋体" pitchFamily="2" charset="-122"/>
              </a:rPr>
              <a:t>类间离散度尽量大</a:t>
            </a:r>
            <a:endParaRPr lang="en-US" altLang="zh-CN" sz="2000" b="1" u="sng" dirty="0">
              <a:solidFill>
                <a:srgbClr val="000000"/>
              </a:solidFill>
              <a:latin typeface="宋体" pitchFamily="2" charset="-122"/>
              <a:ea typeface="宋体" pitchFamily="2" charset="-122"/>
            </a:endParaRPr>
          </a:p>
          <a:p>
            <a:pPr marL="342900" indent="-342900">
              <a:lnSpc>
                <a:spcPct val="150000"/>
              </a:lnSpc>
              <a:spcBef>
                <a:spcPct val="20000"/>
              </a:spcBef>
              <a:defRPr/>
            </a:pPr>
            <a:r>
              <a:rPr lang="zh-CN" altLang="en-US" sz="2000" b="1" u="sng" dirty="0">
                <a:solidFill>
                  <a:srgbClr val="000000"/>
                </a:solidFill>
                <a:latin typeface="宋体" pitchFamily="2" charset="-122"/>
                <a:ea typeface="宋体" pitchFamily="2" charset="-122"/>
              </a:rPr>
              <a:t>类内离散度尽量小</a:t>
            </a:r>
            <a:endParaRPr lang="zh-CN" altLang="en-US" sz="2000" b="1" dirty="0">
              <a:solidFill>
                <a:srgbClr val="000000"/>
              </a:solidFill>
              <a:latin typeface="宋体" pitchFamily="2" charset="-122"/>
              <a:ea typeface="宋体" pitchFamily="2" charset="-122"/>
            </a:endParaRPr>
          </a:p>
        </p:txBody>
      </p:sp>
      <p:sp>
        <p:nvSpPr>
          <p:cNvPr id="5" name="左箭头 4"/>
          <p:cNvSpPr/>
          <p:nvPr/>
        </p:nvSpPr>
        <p:spPr>
          <a:xfrm>
            <a:off x="7791511" y="1196554"/>
            <a:ext cx="360040" cy="917079"/>
          </a:xfrm>
          <a:prstGeom prst="leftArrow">
            <a:avLst/>
          </a:prstGeom>
          <a:solidFill>
            <a:srgbClr val="7030A0"/>
          </a:solidFill>
          <a:ln>
            <a:solidFill>
              <a:srgbClr val="7030A0"/>
            </a:solidFill>
          </a:ln>
        </p:spPr>
        <p:txBody>
          <a:bodyPr wrap="square" rtlCol="0" anchor="ctr">
            <a:spAutoFit/>
          </a:bodyPr>
          <a:lstStyle/>
          <a:p>
            <a:pPr algn="ctr"/>
            <a:endParaRPr lang="zh-CN" altLang="en-US" sz="2400" kern="100" dirty="0">
              <a:ea typeface="宋体"/>
              <a:cs typeface="Times New Roman"/>
            </a:endParaRPr>
          </a:p>
        </p:txBody>
      </p:sp>
      <p:grpSp>
        <p:nvGrpSpPr>
          <p:cNvPr id="19" name="组合 33"/>
          <p:cNvGrpSpPr>
            <a:grpSpLocks/>
          </p:cNvGrpSpPr>
          <p:nvPr/>
        </p:nvGrpSpPr>
        <p:grpSpPr bwMode="auto">
          <a:xfrm>
            <a:off x="479376" y="2416635"/>
            <a:ext cx="5607932" cy="857250"/>
            <a:chOff x="467436" y="2518131"/>
            <a:chExt cx="6060223" cy="1210761"/>
          </a:xfrm>
        </p:grpSpPr>
        <p:sp>
          <p:nvSpPr>
            <p:cNvPr id="20" name="Rectangle 15"/>
            <p:cNvSpPr>
              <a:spLocks noChangeArrowheads="1"/>
            </p:cNvSpPr>
            <p:nvPr/>
          </p:nvSpPr>
          <p:spPr bwMode="auto">
            <a:xfrm>
              <a:off x="467436" y="2683766"/>
              <a:ext cx="1862557" cy="565107"/>
            </a:xfrm>
            <a:prstGeom prst="rect">
              <a:avLst/>
            </a:prstGeom>
            <a:noFill/>
            <a:ln w="9525">
              <a:noFill/>
              <a:miter lim="800000"/>
              <a:headEnd/>
              <a:tailEnd/>
            </a:ln>
          </p:spPr>
          <p:txBody>
            <a:bodyPr wrap="none" anchor="ctr">
              <a:spAutoFit/>
            </a:bodyPr>
            <a:lstStyle/>
            <a:p>
              <a:pPr>
                <a:defRPr/>
              </a:pPr>
              <a:r>
                <a:rPr lang="zh-CN" altLang="en-US" sz="2000" dirty="0">
                  <a:latin typeface="Times New Roman" panose="02020603050405020304" pitchFamily="18" charset="0"/>
                  <a:cs typeface="Times New Roman" panose="02020603050405020304" pitchFamily="18" charset="0"/>
                </a:rPr>
                <a:t>构造准则函数</a:t>
              </a:r>
            </a:p>
          </p:txBody>
        </p:sp>
        <p:graphicFrame>
          <p:nvGraphicFramePr>
            <p:cNvPr id="21" name="Object 9"/>
            <p:cNvGraphicFramePr>
              <a:graphicFrameLocks noChangeAspect="1"/>
            </p:cNvGraphicFramePr>
            <p:nvPr/>
          </p:nvGraphicFramePr>
          <p:xfrm>
            <a:off x="2400082" y="2518131"/>
            <a:ext cx="4127577" cy="1210761"/>
          </p:xfrm>
          <a:graphic>
            <a:graphicData uri="http://schemas.openxmlformats.org/presentationml/2006/ole">
              <mc:AlternateContent xmlns:mc="http://schemas.openxmlformats.org/markup-compatibility/2006">
                <mc:Choice xmlns:v="urn:schemas-microsoft-com:vml" Requires="v">
                  <p:oleObj spid="_x0000_s362780" name="Equation" r:id="rId7" imgW="1562040" imgH="457200" progId="Equation.DSMT4">
                    <p:embed/>
                  </p:oleObj>
                </mc:Choice>
                <mc:Fallback>
                  <p:oleObj name="Equation" r:id="rId7" imgW="1562040" imgH="457200" progId="Equation.DSMT4">
                    <p:embed/>
                    <p:pic>
                      <p:nvPicPr>
                        <p:cNvPr id="21" name="Object 9"/>
                        <p:cNvPicPr>
                          <a:picLocks noChangeAspect="1" noChangeArrowheads="1"/>
                        </p:cNvPicPr>
                        <p:nvPr/>
                      </p:nvPicPr>
                      <p:blipFill>
                        <a:blip r:embed="rId8"/>
                        <a:srcRect/>
                        <a:stretch>
                          <a:fillRect/>
                        </a:stretch>
                      </p:blipFill>
                      <p:spPr bwMode="auto">
                        <a:xfrm>
                          <a:off x="2400082" y="2518131"/>
                          <a:ext cx="4127577" cy="1210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2" name="Object 3"/>
          <p:cNvGraphicFramePr>
            <a:graphicFrameLocks noChangeAspect="1"/>
          </p:cNvGraphicFramePr>
          <p:nvPr/>
        </p:nvGraphicFramePr>
        <p:xfrm>
          <a:off x="1371315" y="3312359"/>
          <a:ext cx="5644480" cy="450672"/>
        </p:xfrm>
        <a:graphic>
          <a:graphicData uri="http://schemas.openxmlformats.org/presentationml/2006/ole">
            <mc:AlternateContent xmlns:mc="http://schemas.openxmlformats.org/markup-compatibility/2006">
              <mc:Choice xmlns:v="urn:schemas-microsoft-com:vml" Requires="v">
                <p:oleObj spid="_x0000_s362781" name="Equation" r:id="rId9" imgW="2971800" imgH="241200" progId="Equation.DSMT4">
                  <p:embed/>
                </p:oleObj>
              </mc:Choice>
              <mc:Fallback>
                <p:oleObj name="Equation" r:id="rId9" imgW="2971800" imgH="241200" progId="Equation.DSMT4">
                  <p:embed/>
                  <p:pic>
                    <p:nvPicPr>
                      <p:cNvPr id="22" name="Object 3"/>
                      <p:cNvPicPr>
                        <a:picLocks noChangeAspect="1" noChangeArrowheads="1"/>
                      </p:cNvPicPr>
                      <p:nvPr/>
                    </p:nvPicPr>
                    <p:blipFill>
                      <a:blip r:embed="rId10"/>
                      <a:srcRect/>
                      <a:stretch>
                        <a:fillRect/>
                      </a:stretch>
                    </p:blipFill>
                    <p:spPr bwMode="auto">
                      <a:xfrm>
                        <a:off x="1371315" y="3312359"/>
                        <a:ext cx="5644480" cy="450672"/>
                      </a:xfrm>
                      <a:prstGeom prst="rect">
                        <a:avLst/>
                      </a:prstGeom>
                      <a:noFill/>
                      <a:ln>
                        <a:noFill/>
                      </a:ln>
                    </p:spPr>
                  </p:pic>
                </p:oleObj>
              </mc:Fallback>
            </mc:AlternateContent>
          </a:graphicData>
        </a:graphic>
      </p:graphicFrame>
      <p:sp>
        <p:nvSpPr>
          <p:cNvPr id="7" name="矩形 6"/>
          <p:cNvSpPr/>
          <p:nvPr/>
        </p:nvSpPr>
        <p:spPr>
          <a:xfrm>
            <a:off x="442856" y="3105175"/>
            <a:ext cx="928459" cy="400110"/>
          </a:xfrm>
          <a:prstGeom prst="rect">
            <a:avLst/>
          </a:prstGeom>
        </p:spPr>
        <p:txBody>
          <a:bodyPr wrap="none">
            <a:spAutoFit/>
          </a:bodyPr>
          <a:lstStyle/>
          <a:p>
            <a:r>
              <a:rPr lang="zh-CN" altLang="en-US" sz="2000" dirty="0">
                <a:latin typeface="Times New Roman" panose="02020603050405020304" pitchFamily="18" charset="0"/>
                <a:cs typeface="Times New Roman" panose="02020603050405020304" pitchFamily="18" charset="0"/>
              </a:rPr>
              <a:t>其中</a:t>
            </a:r>
            <a:r>
              <a:rPr lang="zh-CN" altLang="en-US" dirty="0">
                <a:latin typeface="Times New Roman" panose="02020603050405020304" pitchFamily="18" charset="0"/>
                <a:cs typeface="Times New Roman" panose="02020603050405020304" pitchFamily="18" charset="0"/>
              </a:rPr>
              <a:t>：</a:t>
            </a:r>
            <a:endParaRPr lang="zh-CN" altLang="en-US" dirty="0"/>
          </a:p>
        </p:txBody>
      </p:sp>
      <mc:AlternateContent xmlns:mc="http://schemas.openxmlformats.org/markup-compatibility/2006" xmlns:a14="http://schemas.microsoft.com/office/drawing/2010/main">
        <mc:Choice Requires="a14">
          <p:sp>
            <p:nvSpPr>
              <p:cNvPr id="23" name="矩形 22"/>
              <p:cNvSpPr/>
              <p:nvPr/>
            </p:nvSpPr>
            <p:spPr>
              <a:xfrm>
                <a:off x="330246" y="3864320"/>
                <a:ext cx="8784975" cy="416974"/>
              </a:xfrm>
              <a:prstGeom prst="rect">
                <a:avLst/>
              </a:prstGeom>
            </p:spPr>
            <p:txBody>
              <a:bodyPr wrap="square">
                <a:spAutoFit/>
              </a:bodyPr>
              <a:lstStyle/>
              <a:p>
                <a:r>
                  <a:rPr lang="zh-CN" altLang="en-US" sz="2000" b="1" dirty="0">
                    <a:solidFill>
                      <a:srgbClr val="7030A0"/>
                    </a:solidFill>
                    <a:latin typeface="Times New Roman" panose="02020603050405020304" pitchFamily="18" charset="0"/>
                    <a:cs typeface="Times New Roman" panose="02020603050405020304" pitchFamily="18" charset="0"/>
                  </a:rPr>
                  <a:t>该判据表征变换后的特征</a:t>
                </a:r>
                <a14:m>
                  <m:oMath xmlns:m="http://schemas.openxmlformats.org/officeDocument/2006/math">
                    <m:sSub>
                      <m:sSubPr>
                        <m:ctrlPr>
                          <a:rPr lang="zh-CN" altLang="en-US" sz="2000" b="1" i="1">
                            <a:solidFill>
                              <a:srgbClr val="7030A0"/>
                            </a:solidFill>
                            <a:latin typeface="Cambria Math" panose="02040503050406030204" pitchFamily="18" charset="0"/>
                          </a:rPr>
                        </m:ctrlPr>
                      </m:sSubPr>
                      <m:e>
                        <m:r>
                          <a:rPr lang="zh-CN" altLang="en-US" sz="2000" b="1" i="1">
                            <a:solidFill>
                              <a:srgbClr val="7030A0"/>
                            </a:solidFill>
                            <a:latin typeface="Cambria Math" panose="02040503050406030204" pitchFamily="18" charset="0"/>
                          </a:rPr>
                          <m:t>𝒚</m:t>
                        </m:r>
                      </m:e>
                      <m:sub>
                        <m:r>
                          <a:rPr lang="zh-CN" altLang="en-US" sz="2000" b="1" i="1">
                            <a:solidFill>
                              <a:srgbClr val="7030A0"/>
                            </a:solidFill>
                            <a:latin typeface="Cambria Math" panose="02040503050406030204" pitchFamily="18" charset="0"/>
                          </a:rPr>
                          <m:t>𝒊</m:t>
                        </m:r>
                      </m:sub>
                    </m:sSub>
                    <m:r>
                      <a:rPr lang="zh-CN" altLang="en-US" sz="2000" b="1">
                        <a:solidFill>
                          <a:srgbClr val="7030A0"/>
                        </a:solidFill>
                        <a:latin typeface="Cambria Math" panose="02040503050406030204" pitchFamily="18" charset="0"/>
                      </a:rPr>
                      <m:t>=</m:t>
                    </m:r>
                    <m:sSubSup>
                      <m:sSubSupPr>
                        <m:ctrlPr>
                          <a:rPr lang="zh-CN" altLang="en-US" sz="2000" b="1" i="1">
                            <a:solidFill>
                              <a:srgbClr val="7030A0"/>
                            </a:solidFill>
                            <a:latin typeface="Cambria Math" panose="02040503050406030204" pitchFamily="18" charset="0"/>
                          </a:rPr>
                        </m:ctrlPr>
                      </m:sSubSupPr>
                      <m:e>
                        <m:r>
                          <a:rPr lang="zh-CN" altLang="en-US" sz="2000" b="1" i="1">
                            <a:solidFill>
                              <a:srgbClr val="7030A0"/>
                            </a:solidFill>
                            <a:latin typeface="Cambria Math" panose="02040503050406030204" pitchFamily="18" charset="0"/>
                          </a:rPr>
                          <m:t>𝒖</m:t>
                        </m:r>
                      </m:e>
                      <m:sub>
                        <m:r>
                          <a:rPr lang="zh-CN" altLang="en-US" sz="2000" b="1" i="1">
                            <a:solidFill>
                              <a:srgbClr val="7030A0"/>
                            </a:solidFill>
                            <a:latin typeface="Cambria Math" panose="02040503050406030204" pitchFamily="18" charset="0"/>
                          </a:rPr>
                          <m:t>𝒊</m:t>
                        </m:r>
                      </m:sub>
                      <m:sup>
                        <m:r>
                          <a:rPr lang="zh-CN" altLang="en-US" sz="2000" b="1" i="1">
                            <a:solidFill>
                              <a:srgbClr val="7030A0"/>
                            </a:solidFill>
                            <a:latin typeface="Cambria Math" panose="02040503050406030204" pitchFamily="18" charset="0"/>
                          </a:rPr>
                          <m:t>𝑻</m:t>
                        </m:r>
                      </m:sup>
                    </m:sSubSup>
                    <m:r>
                      <a:rPr lang="zh-CN" altLang="en-US" sz="2000" b="1" i="1">
                        <a:solidFill>
                          <a:srgbClr val="7030A0"/>
                        </a:solidFill>
                        <a:latin typeface="Cambria Math" panose="02040503050406030204" pitchFamily="18" charset="0"/>
                      </a:rPr>
                      <m:t>𝑿</m:t>
                    </m:r>
                  </m:oMath>
                </a14:m>
                <a:r>
                  <a:rPr lang="zh-CN" altLang="en-US" sz="2000" b="1" dirty="0">
                    <a:solidFill>
                      <a:srgbClr val="7030A0"/>
                    </a:solidFill>
                    <a:latin typeface="Times New Roman" panose="02020603050405020304" pitchFamily="18" charset="0"/>
                    <a:cs typeface="Times New Roman" panose="02020603050405020304" pitchFamily="18" charset="0"/>
                  </a:rPr>
                  <a:t>的分类性能，</a:t>
                </a:r>
                <a:r>
                  <a:rPr lang="en-US" altLang="zh-CN" sz="2000" b="1" i="1" dirty="0" err="1">
                    <a:solidFill>
                      <a:srgbClr val="7030A0"/>
                    </a:solidFill>
                    <a:latin typeface="Times New Roman" panose="02020603050405020304" pitchFamily="18" charset="0"/>
                    <a:cs typeface="Times New Roman" panose="02020603050405020304" pitchFamily="18" charset="0"/>
                  </a:rPr>
                  <a:t>y</a:t>
                </a:r>
                <a:r>
                  <a:rPr lang="en-US" altLang="zh-CN" sz="2000" b="1" i="1" baseline="-25000" dirty="0" err="1">
                    <a:solidFill>
                      <a:srgbClr val="7030A0"/>
                    </a:solidFill>
                    <a:latin typeface="Times New Roman" panose="02020603050405020304" pitchFamily="18" charset="0"/>
                    <a:cs typeface="Times New Roman" panose="02020603050405020304" pitchFamily="18" charset="0"/>
                  </a:rPr>
                  <a:t>i</a:t>
                </a:r>
                <a:r>
                  <a:rPr lang="zh-CN" altLang="en-US" sz="2000" b="1" dirty="0">
                    <a:solidFill>
                      <a:srgbClr val="7030A0"/>
                    </a:solidFill>
                    <a:latin typeface="Times New Roman" panose="02020603050405020304" pitchFamily="18" charset="0"/>
                    <a:cs typeface="Times New Roman" panose="02020603050405020304" pitchFamily="18" charset="0"/>
                  </a:rPr>
                  <a:t>表示在新坐标轴</a:t>
                </a:r>
                <a:r>
                  <a:rPr lang="en-US" altLang="zh-CN" sz="2000" b="1" i="1" dirty="0" err="1">
                    <a:solidFill>
                      <a:srgbClr val="7030A0"/>
                    </a:solidFill>
                    <a:latin typeface="Times New Roman" panose="02020603050405020304" pitchFamily="18" charset="0"/>
                    <a:cs typeface="Times New Roman" panose="02020603050405020304" pitchFamily="18" charset="0"/>
                  </a:rPr>
                  <a:t>u</a:t>
                </a:r>
                <a:r>
                  <a:rPr lang="en-US" altLang="zh-CN" sz="2000" b="1" i="1" baseline="-25000" dirty="0" err="1">
                    <a:solidFill>
                      <a:srgbClr val="7030A0"/>
                    </a:solidFill>
                    <a:latin typeface="Times New Roman" panose="02020603050405020304" pitchFamily="18" charset="0"/>
                    <a:cs typeface="Times New Roman" panose="02020603050405020304" pitchFamily="18" charset="0"/>
                  </a:rPr>
                  <a:t>i</a:t>
                </a:r>
                <a:r>
                  <a:rPr lang="zh-CN" altLang="en-US" sz="2000" b="1" dirty="0">
                    <a:solidFill>
                      <a:srgbClr val="7030A0"/>
                    </a:solidFill>
                    <a:latin typeface="Times New Roman" panose="02020603050405020304" pitchFamily="18" charset="0"/>
                    <a:cs typeface="Times New Roman" panose="02020603050405020304" pitchFamily="18" charset="0"/>
                  </a:rPr>
                  <a:t>上的分量</a:t>
                </a:r>
                <a:endParaRPr lang="zh-CN" altLang="en-US" b="1" dirty="0">
                  <a:solidFill>
                    <a:srgbClr val="7030A0"/>
                  </a:solidFill>
                </a:endParaRPr>
              </a:p>
            </p:txBody>
          </p:sp>
        </mc:Choice>
        <mc:Fallback xmlns="">
          <p:sp>
            <p:nvSpPr>
              <p:cNvPr id="23" name="矩形 22"/>
              <p:cNvSpPr>
                <a:spLocks noRot="1" noChangeAspect="1" noMove="1" noResize="1" noEditPoints="1" noAdjustHandles="1" noChangeArrowheads="1" noChangeShapeType="1" noTextEdit="1"/>
              </p:cNvSpPr>
              <p:nvPr/>
            </p:nvSpPr>
            <p:spPr>
              <a:xfrm>
                <a:off x="330246" y="3864320"/>
                <a:ext cx="8784975" cy="416974"/>
              </a:xfrm>
              <a:prstGeom prst="rect">
                <a:avLst/>
              </a:prstGeom>
              <a:blipFill>
                <a:blip r:embed="rId11"/>
                <a:stretch>
                  <a:fillRect l="-694" t="-8824" r="-208" b="-26471"/>
                </a:stretch>
              </a:blipFill>
            </p:spPr>
            <p:txBody>
              <a:bodyPr/>
              <a:lstStyle/>
              <a:p>
                <a:r>
                  <a:rPr lang="zh-CN" altLang="en-US">
                    <a:noFill/>
                  </a:rPr>
                  <a:t> </a:t>
                </a:r>
              </a:p>
            </p:txBody>
          </p:sp>
        </mc:Fallback>
      </mc:AlternateContent>
      <p:sp>
        <p:nvSpPr>
          <p:cNvPr id="9" name="矩形 8"/>
          <p:cNvSpPr/>
          <p:nvPr/>
        </p:nvSpPr>
        <p:spPr>
          <a:xfrm>
            <a:off x="3090918" y="4270133"/>
            <a:ext cx="8736687" cy="794064"/>
          </a:xfrm>
          <a:prstGeom prst="rect">
            <a:avLst/>
          </a:prstGeom>
        </p:spPr>
        <p:txBody>
          <a:bodyPr wrap="none">
            <a:spAutoFit/>
          </a:bodyPr>
          <a:lstStyle/>
          <a:p>
            <a:pPr>
              <a:lnSpc>
                <a:spcPct val="114000"/>
              </a:lnSpc>
            </a:pPr>
            <a:r>
              <a:rPr lang="en-US" altLang="zh-CN" sz="2000" i="1" dirty="0">
                <a:latin typeface="Times New Roman" panose="02020603050405020304" pitchFamily="18" charset="0"/>
                <a:cs typeface="Times New Roman" panose="02020603050405020304" pitchFamily="18" charset="0"/>
              </a:rPr>
              <a:t>S</a:t>
            </a:r>
            <a:r>
              <a:rPr lang="en-US" altLang="zh-CN" sz="2000" i="1" baseline="-25000" dirty="0">
                <a:latin typeface="Times New Roman" panose="02020603050405020304" pitchFamily="18" charset="0"/>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是类间离散度矩阵。可见</a:t>
            </a:r>
            <a:r>
              <a:rPr lang="en-US" altLang="zh-CN" sz="2000" i="1" dirty="0">
                <a:latin typeface="Times New Roman" panose="02020603050405020304" pitchFamily="18" charset="0"/>
                <a:cs typeface="Times New Roman" panose="02020603050405020304" pitchFamily="18" charset="0"/>
              </a:rPr>
              <a:t>J</a:t>
            </a:r>
            <a:r>
              <a:rPr lang="en-US" altLang="zh-CN" sz="2000"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y</a:t>
            </a:r>
            <a:r>
              <a:rPr lang="en-US" altLang="zh-CN" sz="2000" i="1" baseline="-25000" dirty="0" err="1">
                <a:latin typeface="Times New Roman" panose="02020603050405020304" pitchFamily="18" charset="0"/>
                <a:cs typeface="Times New Roman" panose="02020603050405020304" pitchFamily="18" charset="0"/>
              </a:rPr>
              <a:t>i</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是类间离散度与类内离散度在</a:t>
            </a:r>
            <a:r>
              <a:rPr lang="en-US" altLang="zh-CN" sz="2000" i="1" dirty="0" err="1">
                <a:latin typeface="Times New Roman" panose="02020603050405020304" pitchFamily="18" charset="0"/>
                <a:cs typeface="Times New Roman" panose="02020603050405020304" pitchFamily="18" charset="0"/>
              </a:rPr>
              <a:t>u</a:t>
            </a:r>
            <a:r>
              <a:rPr lang="en-US" altLang="zh-CN" sz="2000" i="1" baseline="-25000" dirty="0" err="1">
                <a:latin typeface="Times New Roman" panose="02020603050405020304" pitchFamily="18" charset="0"/>
                <a:cs typeface="Times New Roman" panose="02020603050405020304" pitchFamily="18" charset="0"/>
              </a:rPr>
              <a:t>i</a:t>
            </a:r>
            <a:r>
              <a:rPr lang="zh-CN" altLang="en-US" sz="2000" dirty="0">
                <a:latin typeface="Times New Roman" panose="02020603050405020304" pitchFamily="18" charset="0"/>
                <a:cs typeface="Times New Roman" panose="02020603050405020304" pitchFamily="18" charset="0"/>
              </a:rPr>
              <a:t>坐标轴上的分</a:t>
            </a:r>
            <a:endParaRPr lang="en-US" altLang="zh-CN" sz="2000" dirty="0">
              <a:latin typeface="Times New Roman" panose="02020603050405020304" pitchFamily="18" charset="0"/>
              <a:cs typeface="Times New Roman" panose="02020603050405020304" pitchFamily="18" charset="0"/>
            </a:endParaRPr>
          </a:p>
          <a:p>
            <a:pPr>
              <a:lnSpc>
                <a:spcPct val="114000"/>
              </a:lnSpc>
            </a:pPr>
            <a:r>
              <a:rPr lang="zh-CN" altLang="en-US" sz="2000" dirty="0">
                <a:latin typeface="Times New Roman" panose="02020603050405020304" pitchFamily="18" charset="0"/>
                <a:cs typeface="Times New Roman" panose="02020603050405020304" pitchFamily="18" charset="0"/>
              </a:rPr>
              <a:t>量之比，</a:t>
            </a:r>
            <a:r>
              <a:rPr lang="en-US" altLang="zh-CN" sz="2000" i="1" dirty="0">
                <a:latin typeface="Times New Roman" panose="02020603050405020304" pitchFamily="18" charset="0"/>
                <a:cs typeface="Times New Roman" panose="02020603050405020304" pitchFamily="18" charset="0"/>
              </a:rPr>
              <a:t> J</a:t>
            </a:r>
            <a:r>
              <a:rPr lang="en-US" altLang="zh-CN" sz="2000"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y</a:t>
            </a:r>
            <a:r>
              <a:rPr lang="en-US" altLang="zh-CN" sz="2000" i="1" baseline="-25000" dirty="0" err="1">
                <a:latin typeface="Times New Roman" panose="02020603050405020304" pitchFamily="18" charset="0"/>
                <a:cs typeface="Times New Roman" panose="02020603050405020304" pitchFamily="18" charset="0"/>
              </a:rPr>
              <a:t>i</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越大，表明在新坐标系中该坐标轴包含越多的</a:t>
            </a:r>
            <a:r>
              <a:rPr lang="zh-CN" altLang="en-US" sz="2000" b="1" dirty="0">
                <a:solidFill>
                  <a:srgbClr val="0000FF"/>
                </a:solidFill>
                <a:latin typeface="Times New Roman" panose="02020603050405020304" pitchFamily="18" charset="0"/>
                <a:cs typeface="Times New Roman" panose="02020603050405020304" pitchFamily="18" charset="0"/>
              </a:rPr>
              <a:t>可分性信息</a:t>
            </a:r>
            <a:r>
              <a:rPr lang="zh-CN" altLang="en-US" sz="2000" dirty="0">
                <a:latin typeface="Times New Roman" panose="02020603050405020304" pitchFamily="18" charset="0"/>
                <a:cs typeface="Times New Roman" panose="02020603050405020304" pitchFamily="18" charset="0"/>
              </a:rPr>
              <a:t>。</a:t>
            </a:r>
          </a:p>
        </p:txBody>
      </p:sp>
      <p:grpSp>
        <p:nvGrpSpPr>
          <p:cNvPr id="13" name="组合 12"/>
          <p:cNvGrpSpPr/>
          <p:nvPr/>
        </p:nvGrpSpPr>
        <p:grpSpPr>
          <a:xfrm>
            <a:off x="479376" y="4995851"/>
            <a:ext cx="7561318" cy="1351943"/>
            <a:chOff x="261230" y="5101393"/>
            <a:chExt cx="7561318" cy="1351943"/>
          </a:xfrm>
        </p:grpSpPr>
        <p:grpSp>
          <p:nvGrpSpPr>
            <p:cNvPr id="27" name="组合 35"/>
            <p:cNvGrpSpPr>
              <a:grpSpLocks/>
            </p:cNvGrpSpPr>
            <p:nvPr/>
          </p:nvGrpSpPr>
          <p:grpSpPr bwMode="auto">
            <a:xfrm>
              <a:off x="278819" y="5101393"/>
              <a:ext cx="7543729" cy="1351943"/>
              <a:chOff x="884549" y="3985463"/>
              <a:chExt cx="7543729" cy="1351943"/>
            </a:xfrm>
          </p:grpSpPr>
          <p:grpSp>
            <p:nvGrpSpPr>
              <p:cNvPr id="29" name="Group 18"/>
              <p:cNvGrpSpPr>
                <a:grpSpLocks/>
              </p:cNvGrpSpPr>
              <p:nvPr/>
            </p:nvGrpSpPr>
            <p:grpSpPr bwMode="auto">
              <a:xfrm>
                <a:off x="884549" y="3985463"/>
                <a:ext cx="7543729" cy="909567"/>
                <a:chOff x="521" y="2939"/>
                <a:chExt cx="4974" cy="645"/>
              </a:xfrm>
            </p:grpSpPr>
            <p:sp>
              <p:nvSpPr>
                <p:cNvPr id="33" name="Rectangle 19"/>
                <p:cNvSpPr>
                  <a:spLocks noChangeArrowheads="1"/>
                </p:cNvSpPr>
                <p:nvPr/>
              </p:nvSpPr>
              <p:spPr bwMode="auto">
                <a:xfrm>
                  <a:off x="521" y="2955"/>
                  <a:ext cx="629" cy="284"/>
                </a:xfrm>
                <a:prstGeom prst="rect">
                  <a:avLst/>
                </a:prstGeom>
                <a:noFill/>
                <a:ln w="9525">
                  <a:noFill/>
                  <a:miter lim="800000"/>
                  <a:headEnd/>
                  <a:tailEnd/>
                </a:ln>
              </p:spPr>
              <p:txBody>
                <a:bodyPr wrap="none" anchor="ctr">
                  <a:spAutoFit/>
                </a:bodyPr>
                <a:lstStyle/>
                <a:p>
                  <a:pPr>
                    <a:defRPr/>
                  </a:pPr>
                  <a:r>
                    <a:rPr lang="zh-CN" altLang="en-US" sz="2000" dirty="0">
                      <a:latin typeface="宋体" panose="02010600030101010101" pitchFamily="2" charset="-122"/>
                      <a:ea typeface="宋体" panose="02010600030101010101" pitchFamily="2" charset="-122"/>
                    </a:rPr>
                    <a:t>排序：</a:t>
                  </a:r>
                </a:p>
              </p:txBody>
            </p:sp>
            <p:graphicFrame>
              <p:nvGraphicFramePr>
                <p:cNvPr id="34" name="Object 10"/>
                <p:cNvGraphicFramePr>
                  <a:graphicFrameLocks noChangeAspect="1"/>
                </p:cNvGraphicFramePr>
                <p:nvPr/>
              </p:nvGraphicFramePr>
              <p:xfrm>
                <a:off x="1032" y="2958"/>
                <a:ext cx="2035" cy="273"/>
              </p:xfrm>
              <a:graphic>
                <a:graphicData uri="http://schemas.openxmlformats.org/presentationml/2006/ole">
                  <mc:AlternateContent xmlns:mc="http://schemas.openxmlformats.org/markup-compatibility/2006">
                    <mc:Choice xmlns:v="urn:schemas-microsoft-com:vml" Requires="v">
                      <p:oleObj spid="_x0000_s362782" name="Equation" r:id="rId12" imgW="1676160" imgH="228600" progId="Equation.DSMT4">
                        <p:embed/>
                      </p:oleObj>
                    </mc:Choice>
                    <mc:Fallback>
                      <p:oleObj name="Equation" r:id="rId12" imgW="1676160" imgH="228600" progId="Equation.DSMT4">
                        <p:embed/>
                        <p:pic>
                          <p:nvPicPr>
                            <p:cNvPr id="34" name="Object 10"/>
                            <p:cNvPicPr>
                              <a:picLocks noChangeAspect="1" noChangeArrowheads="1"/>
                            </p:cNvPicPr>
                            <p:nvPr/>
                          </p:nvPicPr>
                          <p:blipFill>
                            <a:blip r:embed="rId13"/>
                            <a:srcRect/>
                            <a:stretch>
                              <a:fillRect/>
                            </a:stretch>
                          </p:blipFill>
                          <p:spPr bwMode="auto">
                            <a:xfrm>
                              <a:off x="1032" y="2958"/>
                              <a:ext cx="2035" cy="273"/>
                            </a:xfrm>
                            <a:prstGeom prst="rect">
                              <a:avLst/>
                            </a:prstGeom>
                            <a:noFill/>
                            <a:ln>
                              <a:noFill/>
                            </a:ln>
                          </p:spPr>
                        </p:pic>
                      </p:oleObj>
                    </mc:Fallback>
                  </mc:AlternateContent>
                </a:graphicData>
              </a:graphic>
            </p:graphicFrame>
            <p:sp>
              <p:nvSpPr>
                <p:cNvPr id="35" name="Rectangle 21"/>
                <p:cNvSpPr>
                  <a:spLocks noChangeArrowheads="1"/>
                </p:cNvSpPr>
                <p:nvPr/>
              </p:nvSpPr>
              <p:spPr bwMode="auto">
                <a:xfrm>
                  <a:off x="3111" y="2942"/>
                  <a:ext cx="291" cy="284"/>
                </a:xfrm>
                <a:prstGeom prst="rect">
                  <a:avLst/>
                </a:prstGeom>
                <a:noFill/>
                <a:ln w="9525">
                  <a:noFill/>
                  <a:miter lim="800000"/>
                  <a:headEnd/>
                  <a:tailEnd/>
                </a:ln>
              </p:spPr>
              <p:txBody>
                <a:bodyPr wrap="none" anchor="ctr">
                  <a:spAutoFit/>
                </a:bodyPr>
                <a:lstStyle/>
                <a:p>
                  <a:pPr>
                    <a:defRPr/>
                  </a:pPr>
                  <a:r>
                    <a:rPr lang="zh-CN" altLang="en-US" sz="2000" dirty="0">
                      <a:latin typeface="宋体" panose="02010600030101010101" pitchFamily="2" charset="-122"/>
                      <a:ea typeface="宋体" panose="02010600030101010101" pitchFamily="2" charset="-122"/>
                    </a:rPr>
                    <a:t>，</a:t>
                  </a:r>
                </a:p>
              </p:txBody>
            </p:sp>
            <p:sp>
              <p:nvSpPr>
                <p:cNvPr id="37" name="Rectangle 23"/>
                <p:cNvSpPr>
                  <a:spLocks noChangeArrowheads="1"/>
                </p:cNvSpPr>
                <p:nvPr/>
              </p:nvSpPr>
              <p:spPr bwMode="auto">
                <a:xfrm>
                  <a:off x="3295" y="2939"/>
                  <a:ext cx="1733" cy="284"/>
                </a:xfrm>
                <a:prstGeom prst="rect">
                  <a:avLst/>
                </a:prstGeom>
                <a:noFill/>
                <a:ln w="9525">
                  <a:noFill/>
                  <a:miter lim="800000"/>
                  <a:headEnd/>
                  <a:tailEnd/>
                </a:ln>
              </p:spPr>
              <p:txBody>
                <a:bodyPr wrap="square" anchor="ctr">
                  <a:spAutoFit/>
                </a:bodyPr>
                <a:lstStyle/>
                <a:p>
                  <a:pPr>
                    <a:defRPr/>
                  </a:pPr>
                  <a:r>
                    <a:rPr lang="zh-CN" altLang="en-US" sz="2000" dirty="0">
                      <a:latin typeface="宋体" panose="02010600030101010101" pitchFamily="2" charset="-122"/>
                      <a:ea typeface="宋体" panose="02010600030101010101" pitchFamily="2" charset="-122"/>
                    </a:rPr>
                    <a:t>取前</a:t>
                  </a:r>
                  <a:r>
                    <a:rPr lang="en-US" altLang="zh-CN" sz="2000" dirty="0">
                      <a:latin typeface="宋体" panose="02010600030101010101" pitchFamily="2" charset="-122"/>
                      <a:ea typeface="宋体" panose="02010600030101010101" pitchFamily="2" charset="-122"/>
                    </a:rPr>
                    <a:t>d</a:t>
                  </a:r>
                  <a:r>
                    <a:rPr lang="zh-CN" altLang="en-US" sz="2000" dirty="0">
                      <a:latin typeface="宋体" panose="02010600030101010101" pitchFamily="2" charset="-122"/>
                      <a:ea typeface="宋体" panose="02010600030101010101" pitchFamily="2" charset="-122"/>
                    </a:rPr>
                    <a:t>个较大的</a:t>
                  </a:r>
                </a:p>
              </p:txBody>
            </p:sp>
            <p:graphicFrame>
              <p:nvGraphicFramePr>
                <p:cNvPr id="38" name="Object 12"/>
                <p:cNvGraphicFramePr>
                  <a:graphicFrameLocks noChangeAspect="1"/>
                </p:cNvGraphicFramePr>
                <p:nvPr>
                  <p:extLst>
                    <p:ext uri="{D42A27DB-BD31-4B8C-83A1-F6EECF244321}">
                      <p14:modId xmlns:p14="http://schemas.microsoft.com/office/powerpoint/2010/main" val="126694036"/>
                    </p:ext>
                  </p:extLst>
                </p:nvPr>
              </p:nvGraphicFramePr>
              <p:xfrm>
                <a:off x="4428" y="2988"/>
                <a:ext cx="335" cy="244"/>
              </p:xfrm>
              <a:graphic>
                <a:graphicData uri="http://schemas.openxmlformats.org/presentationml/2006/ole">
                  <mc:AlternateContent xmlns:mc="http://schemas.openxmlformats.org/markup-compatibility/2006">
                    <mc:Choice xmlns:v="urn:schemas-microsoft-com:vml" Requires="v">
                      <p:oleObj spid="_x0000_s362783" name="Equation" r:id="rId14" imgW="279360" imgH="203040" progId="Equation.DSMT4">
                        <p:embed/>
                      </p:oleObj>
                    </mc:Choice>
                    <mc:Fallback>
                      <p:oleObj name="Equation" r:id="rId14" imgW="279360" imgH="203040" progId="Equation.DSMT4">
                        <p:embed/>
                        <p:pic>
                          <p:nvPicPr>
                            <p:cNvPr id="38" name="Object 12"/>
                            <p:cNvPicPr>
                              <a:picLocks noChangeAspect="1" noChangeArrowheads="1"/>
                            </p:cNvPicPr>
                            <p:nvPr/>
                          </p:nvPicPr>
                          <p:blipFill>
                            <a:blip r:embed="rId15"/>
                            <a:srcRect/>
                            <a:stretch>
                              <a:fillRect/>
                            </a:stretch>
                          </p:blipFill>
                          <p:spPr bwMode="auto">
                            <a:xfrm>
                              <a:off x="4428" y="2988"/>
                              <a:ext cx="335" cy="244"/>
                            </a:xfrm>
                            <a:prstGeom prst="rect">
                              <a:avLst/>
                            </a:prstGeom>
                            <a:noFill/>
                            <a:ln>
                              <a:noFill/>
                            </a:ln>
                          </p:spPr>
                        </p:pic>
                      </p:oleObj>
                    </mc:Fallback>
                  </mc:AlternateContent>
                </a:graphicData>
              </a:graphic>
            </p:graphicFrame>
            <p:sp>
              <p:nvSpPr>
                <p:cNvPr id="39" name="Rectangle 25"/>
                <p:cNvSpPr>
                  <a:spLocks noChangeArrowheads="1"/>
                </p:cNvSpPr>
                <p:nvPr/>
              </p:nvSpPr>
              <p:spPr bwMode="auto">
                <a:xfrm>
                  <a:off x="4697" y="2945"/>
                  <a:ext cx="798" cy="284"/>
                </a:xfrm>
                <a:prstGeom prst="rect">
                  <a:avLst/>
                </a:prstGeom>
                <a:noFill/>
                <a:ln w="9525">
                  <a:noFill/>
                  <a:miter lim="800000"/>
                  <a:headEnd/>
                  <a:tailEnd/>
                </a:ln>
              </p:spPr>
              <p:txBody>
                <a:bodyPr wrap="none" anchor="ctr">
                  <a:spAutoFit/>
                </a:bodyPr>
                <a:lstStyle/>
                <a:p>
                  <a:pPr>
                    <a:defRPr/>
                  </a:pPr>
                  <a:r>
                    <a:rPr lang="zh-CN" altLang="en-US" sz="2000" dirty="0">
                      <a:latin typeface="宋体" panose="02010600030101010101" pitchFamily="2" charset="-122"/>
                      <a:ea typeface="宋体" panose="02010600030101010101" pitchFamily="2" charset="-122"/>
                    </a:rPr>
                    <a:t>值对应的</a:t>
                  </a:r>
                </a:p>
              </p:txBody>
            </p:sp>
            <p:graphicFrame>
              <p:nvGraphicFramePr>
                <p:cNvPr id="40" name="Object 13"/>
                <p:cNvGraphicFramePr>
                  <a:graphicFrameLocks noChangeAspect="1"/>
                </p:cNvGraphicFramePr>
                <p:nvPr/>
              </p:nvGraphicFramePr>
              <p:xfrm>
                <a:off x="1080" y="3172"/>
                <a:ext cx="278" cy="412"/>
              </p:xfrm>
              <a:graphic>
                <a:graphicData uri="http://schemas.openxmlformats.org/presentationml/2006/ole">
                  <mc:AlternateContent xmlns:mc="http://schemas.openxmlformats.org/markup-compatibility/2006">
                    <mc:Choice xmlns:v="urn:schemas-microsoft-com:vml" Requires="v">
                      <p:oleObj spid="_x0000_s362784" name="Equation" r:id="rId16" imgW="152280" imgH="228600" progId="Equation.DSMT4">
                        <p:embed/>
                      </p:oleObj>
                    </mc:Choice>
                    <mc:Fallback>
                      <p:oleObj name="Equation" r:id="rId16" imgW="152280" imgH="228600" progId="Equation.DSMT4">
                        <p:embed/>
                        <p:pic>
                          <p:nvPicPr>
                            <p:cNvPr id="40" name="Object 13"/>
                            <p:cNvPicPr>
                              <a:picLocks noChangeAspect="1" noChangeArrowheads="1"/>
                            </p:cNvPicPr>
                            <p:nvPr/>
                          </p:nvPicPr>
                          <p:blipFill>
                            <a:blip r:embed="rId17"/>
                            <a:srcRect/>
                            <a:stretch>
                              <a:fillRect/>
                            </a:stretch>
                          </p:blipFill>
                          <p:spPr bwMode="auto">
                            <a:xfrm>
                              <a:off x="1080" y="3172"/>
                              <a:ext cx="278"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 name="Object 14"/>
                <p:cNvGraphicFramePr>
                  <a:graphicFrameLocks noChangeAspect="1"/>
                </p:cNvGraphicFramePr>
                <p:nvPr/>
              </p:nvGraphicFramePr>
              <p:xfrm>
                <a:off x="1308" y="3271"/>
                <a:ext cx="1094" cy="258"/>
              </p:xfrm>
              <a:graphic>
                <a:graphicData uri="http://schemas.openxmlformats.org/presentationml/2006/ole">
                  <mc:AlternateContent xmlns:mc="http://schemas.openxmlformats.org/markup-compatibility/2006">
                    <mc:Choice xmlns:v="urn:schemas-microsoft-com:vml" Requires="v">
                      <p:oleObj spid="_x0000_s362785" name="公式" r:id="rId18" imgW="850531" imgH="203112" progId="Equation.3">
                        <p:embed/>
                      </p:oleObj>
                    </mc:Choice>
                    <mc:Fallback>
                      <p:oleObj name="公式" r:id="rId18" imgW="850531" imgH="203112" progId="Equation.3">
                        <p:embed/>
                        <p:pic>
                          <p:nvPicPr>
                            <p:cNvPr id="41" name="Object 1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308" y="3271"/>
                              <a:ext cx="1094" cy="258"/>
                            </a:xfrm>
                            <a:prstGeom prst="rect">
                              <a:avLst/>
                            </a:prstGeom>
                            <a:noFill/>
                            <a:ln>
                              <a:noFill/>
                            </a:ln>
                          </p:spPr>
                        </p:pic>
                      </p:oleObj>
                    </mc:Fallback>
                  </mc:AlternateContent>
                </a:graphicData>
              </a:graphic>
            </p:graphicFrame>
          </p:grpSp>
          <p:sp>
            <p:nvSpPr>
              <p:cNvPr id="30" name="矩形 29"/>
              <p:cNvSpPr/>
              <p:nvPr/>
            </p:nvSpPr>
            <p:spPr>
              <a:xfrm>
                <a:off x="3763316" y="4412747"/>
                <a:ext cx="2621230" cy="400110"/>
              </a:xfrm>
              <a:prstGeom prst="rect">
                <a:avLst/>
              </a:prstGeom>
            </p:spPr>
            <p:txBody>
              <a:bodyPr wrap="none">
                <a:spAutoFit/>
              </a:bodyPr>
              <a:lstStyle/>
              <a:p>
                <a:pPr>
                  <a:defRPr/>
                </a:pPr>
                <a:r>
                  <a:rPr lang="zh-CN" altLang="en-US" sz="2000" dirty="0">
                    <a:latin typeface="宋体" panose="02010600030101010101" pitchFamily="2" charset="-122"/>
                    <a:ea typeface="宋体" panose="02010600030101010101" pitchFamily="2" charset="-122"/>
                  </a:rPr>
                  <a:t>组成变换矩阵   ，有</a:t>
                </a:r>
                <a:endParaRPr lang="en-US" altLang="zh-CN" sz="2000" dirty="0">
                  <a:latin typeface="宋体" panose="02010600030101010101" pitchFamily="2" charset="-122"/>
                  <a:ea typeface="宋体" panose="02010600030101010101" pitchFamily="2" charset="-122"/>
                </a:endParaRPr>
              </a:p>
            </p:txBody>
          </p:sp>
          <p:graphicFrame>
            <p:nvGraphicFramePr>
              <p:cNvPr id="31" name="Object 15"/>
              <p:cNvGraphicFramePr>
                <a:graphicFrameLocks noChangeAspect="1"/>
              </p:cNvGraphicFramePr>
              <p:nvPr/>
            </p:nvGraphicFramePr>
            <p:xfrm>
              <a:off x="5464565" y="4474467"/>
              <a:ext cx="314734" cy="310238"/>
            </p:xfrm>
            <a:graphic>
              <a:graphicData uri="http://schemas.openxmlformats.org/presentationml/2006/ole">
                <mc:AlternateContent xmlns:mc="http://schemas.openxmlformats.org/markup-compatibility/2006">
                  <mc:Choice xmlns:v="urn:schemas-microsoft-com:vml" Requires="v">
                    <p:oleObj spid="_x0000_s362786" name="Equation" r:id="rId20" imgW="177492" imgH="177492" progId="Equation.DSMT4">
                      <p:embed/>
                    </p:oleObj>
                  </mc:Choice>
                  <mc:Fallback>
                    <p:oleObj name="Equation" r:id="rId20" imgW="177492" imgH="177492" progId="Equation.DSMT4">
                      <p:embed/>
                      <p:pic>
                        <p:nvPicPr>
                          <p:cNvPr id="31" name="Object 1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464565" y="4474467"/>
                            <a:ext cx="314734" cy="310238"/>
                          </a:xfrm>
                          <a:prstGeom prst="rect">
                            <a:avLst/>
                          </a:prstGeom>
                          <a:noFill/>
                          <a:ln>
                            <a:noFill/>
                          </a:ln>
                        </p:spPr>
                      </p:pic>
                    </p:oleObj>
                  </mc:Fallback>
                </mc:AlternateContent>
              </a:graphicData>
            </a:graphic>
          </p:graphicFrame>
          <p:graphicFrame>
            <p:nvGraphicFramePr>
              <p:cNvPr id="32" name="Object 16"/>
              <p:cNvGraphicFramePr>
                <a:graphicFrameLocks noChangeAspect="1"/>
              </p:cNvGraphicFramePr>
              <p:nvPr/>
            </p:nvGraphicFramePr>
            <p:xfrm>
              <a:off x="4291607" y="4908781"/>
              <a:ext cx="1330325" cy="428625"/>
            </p:xfrm>
            <a:graphic>
              <a:graphicData uri="http://schemas.openxmlformats.org/presentationml/2006/ole">
                <mc:AlternateContent xmlns:mc="http://schemas.openxmlformats.org/markup-compatibility/2006">
                  <mc:Choice xmlns:v="urn:schemas-microsoft-com:vml" Requires="v">
                    <p:oleObj spid="_x0000_s362787" name="Equation" r:id="rId22" imgW="622080" imgH="203040" progId="Equation.DSMT4">
                      <p:embed/>
                    </p:oleObj>
                  </mc:Choice>
                  <mc:Fallback>
                    <p:oleObj name="Equation" r:id="rId22" imgW="622080" imgH="203040" progId="Equation.DSMT4">
                      <p:embed/>
                      <p:pic>
                        <p:nvPicPr>
                          <p:cNvPr id="32" name="Object 16"/>
                          <p:cNvPicPr>
                            <a:picLocks noChangeAspect="1" noChangeArrowheads="1"/>
                          </p:cNvPicPr>
                          <p:nvPr/>
                        </p:nvPicPr>
                        <p:blipFill>
                          <a:blip r:embed="rId23"/>
                          <a:srcRect/>
                          <a:stretch>
                            <a:fillRect/>
                          </a:stretch>
                        </p:blipFill>
                        <p:spPr bwMode="auto">
                          <a:xfrm>
                            <a:off x="4291607" y="4908781"/>
                            <a:ext cx="1330325" cy="428625"/>
                          </a:xfrm>
                          <a:prstGeom prst="rect">
                            <a:avLst/>
                          </a:prstGeom>
                          <a:noFill/>
                          <a:ln>
                            <a:noFill/>
                          </a:ln>
                        </p:spPr>
                      </p:pic>
                    </p:oleObj>
                  </mc:Fallback>
                </mc:AlternateContent>
              </a:graphicData>
            </a:graphic>
          </p:graphicFrame>
        </p:grpSp>
        <p:sp>
          <p:nvSpPr>
            <p:cNvPr id="10" name="矩形 9"/>
            <p:cNvSpPr/>
            <p:nvPr/>
          </p:nvSpPr>
          <p:spPr>
            <a:xfrm>
              <a:off x="261230" y="5495381"/>
              <a:ext cx="954107" cy="400110"/>
            </a:xfrm>
            <a:prstGeom prst="rect">
              <a:avLst/>
            </a:prstGeom>
          </p:spPr>
          <p:txBody>
            <a:bodyPr wrap="none">
              <a:spAutoFit/>
            </a:bodyPr>
            <a:lstStyle/>
            <a:p>
              <a:pPr>
                <a:defRPr/>
              </a:pPr>
              <a:r>
                <a:rPr lang="zh-CN" altLang="en-US" sz="2000" dirty="0">
                  <a:latin typeface="宋体" panose="02010600030101010101" pitchFamily="2" charset="-122"/>
                  <a:ea typeface="宋体" panose="02010600030101010101" pitchFamily="2" charset="-122"/>
                </a:rPr>
                <a:t>特征值</a:t>
              </a:r>
            </a:p>
          </p:txBody>
        </p:sp>
      </p:grpSp>
      <p:cxnSp>
        <p:nvCxnSpPr>
          <p:cNvPr id="26" name="直接箭头连接符 25"/>
          <p:cNvCxnSpPr/>
          <p:nvPr/>
        </p:nvCxnSpPr>
        <p:spPr>
          <a:xfrm>
            <a:off x="10060383" y="2268508"/>
            <a:ext cx="1" cy="2410064"/>
          </a:xfrm>
          <a:prstGeom prst="straightConnector1">
            <a:avLst/>
          </a:prstGeom>
          <a:ln>
            <a:solidFill>
              <a:srgbClr val="0000FF"/>
            </a:solidFill>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410654" y="1366688"/>
            <a:ext cx="6096000" cy="923330"/>
          </a:xfrm>
          <a:prstGeom prst="rect">
            <a:avLst/>
          </a:prstGeom>
        </p:spPr>
        <p:txBody>
          <a:bodyPr>
            <a:spAutoFit/>
          </a:bodyPr>
          <a:lstStyle/>
          <a:p>
            <a:pPr marL="0" indent="0">
              <a:buNone/>
            </a:pPr>
            <a:r>
              <a:rPr lang="zh-CN" altLang="en-US" dirty="0">
                <a:latin typeface="Times New Roman" panose="02020603050405020304" pitchFamily="18" charset="0"/>
                <a:cs typeface="Times New Roman" panose="02020603050405020304" pitchFamily="18" charset="0"/>
              </a:rPr>
              <a:t>先按</a:t>
            </a:r>
            <a:r>
              <a:rPr lang="en-US" altLang="zh-CN"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i="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W</a:t>
            </a:r>
            <a:r>
              <a:rPr lang="zh-CN" altLang="en-US" dirty="0">
                <a:latin typeface="Times New Roman" panose="02020603050405020304" pitchFamily="18" charset="0"/>
                <a:cs typeface="Times New Roman" panose="02020603050405020304" pitchFamily="18" charset="0"/>
              </a:rPr>
              <a:t>提供的信息产生相应的</a:t>
            </a:r>
            <a:r>
              <a:rPr lang="en-US" altLang="zh-CN" dirty="0">
                <a:latin typeface="Times New Roman" panose="02020603050405020304" pitchFamily="18" charset="0"/>
                <a:cs typeface="Times New Roman" panose="02020603050405020304" pitchFamily="18" charset="0"/>
              </a:rPr>
              <a:t>K-L</a:t>
            </a:r>
            <a:r>
              <a:rPr lang="zh-CN" altLang="en-US" dirty="0">
                <a:latin typeface="Times New Roman" panose="02020603050405020304" pitchFamily="18" charset="0"/>
                <a:cs typeface="Times New Roman" panose="02020603050405020304" pitchFamily="18" charset="0"/>
              </a:rPr>
              <a:t>坐标系，把原向量</a:t>
            </a:r>
            <a:endParaRPr lang="en-US" altLang="zh-CN" dirty="0">
              <a:latin typeface="Times New Roman" panose="02020603050405020304" pitchFamily="18" charset="0"/>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各分量</a:t>
            </a:r>
            <a:r>
              <a:rPr lang="zh-CN" altLang="en-US" b="1" dirty="0">
                <a:solidFill>
                  <a:srgbClr val="0000FF"/>
                </a:solidFill>
                <a:latin typeface="Times New Roman" panose="02020603050405020304" pitchFamily="18" charset="0"/>
                <a:cs typeface="Times New Roman" panose="02020603050405020304" pitchFamily="18" charset="0"/>
              </a:rPr>
              <a:t>相关性消除</a:t>
            </a:r>
            <a:r>
              <a:rPr lang="zh-CN" altLang="en-US" dirty="0">
                <a:latin typeface="Times New Roman" panose="02020603050405020304" pitchFamily="18" charset="0"/>
                <a:cs typeface="Times New Roman" panose="02020603050405020304" pitchFamily="18" charset="0"/>
              </a:rPr>
              <a:t>，得到在新坐标系中各分量离散程</a:t>
            </a:r>
            <a:endParaRPr lang="en-US" altLang="zh-CN" dirty="0">
              <a:latin typeface="Times New Roman" panose="02020603050405020304" pitchFamily="18" charset="0"/>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度。</a:t>
            </a:r>
            <a:r>
              <a:rPr lang="zh-CN" altLang="en-US" b="1" dirty="0">
                <a:solidFill>
                  <a:srgbClr val="0000FF"/>
                </a:solidFill>
                <a:latin typeface="Times New Roman" panose="02020603050405020304" pitchFamily="18" charset="0"/>
                <a:cs typeface="Times New Roman" panose="02020603050405020304" pitchFamily="18" charset="0"/>
              </a:rPr>
              <a:t>再</a:t>
            </a:r>
            <a:r>
              <a:rPr lang="zh-CN" altLang="en-US" dirty="0">
                <a:solidFill>
                  <a:srgbClr val="0000FF"/>
                </a:solidFill>
                <a:latin typeface="Times New Roman" panose="02020603050405020304" pitchFamily="18" charset="0"/>
                <a:cs typeface="Times New Roman" panose="02020603050405020304" pitchFamily="18" charset="0"/>
              </a:rPr>
              <a:t>对均值向量</a:t>
            </a:r>
            <a:r>
              <a:rPr lang="zh-CN" altLang="en-US" dirty="0">
                <a:latin typeface="Times New Roman" panose="02020603050405020304" pitchFamily="18" charset="0"/>
                <a:cs typeface="Times New Roman" panose="02020603050405020304" pitchFamily="18" charset="0"/>
              </a:rPr>
              <a:t>在新坐标系中的</a:t>
            </a:r>
            <a:r>
              <a:rPr lang="zh-CN" altLang="en-US" b="1" dirty="0">
                <a:solidFill>
                  <a:srgbClr val="0000FF"/>
                </a:solidFill>
                <a:latin typeface="Times New Roman" panose="02020603050405020304" pitchFamily="18" charset="0"/>
                <a:cs typeface="Times New Roman" panose="02020603050405020304" pitchFamily="18" charset="0"/>
              </a:rPr>
              <a:t>分离程度</a:t>
            </a:r>
            <a:r>
              <a:rPr lang="en-US" altLang="zh-CN"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i="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做出判断</a:t>
            </a:r>
            <a:endParaRPr lang="en-US" altLang="zh-CN" dirty="0">
              <a:latin typeface="Times New Roman" panose="02020603050405020304" pitchFamily="18" charset="0"/>
              <a:cs typeface="Times New Roman" panose="02020603050405020304" pitchFamily="18" charset="0"/>
            </a:endParaRPr>
          </a:p>
        </p:txBody>
      </p:sp>
      <p:graphicFrame>
        <p:nvGraphicFramePr>
          <p:cNvPr id="43" name="Object 5"/>
          <p:cNvGraphicFramePr>
            <a:graphicFrameLocks noChangeAspect="1"/>
          </p:cNvGraphicFramePr>
          <p:nvPr/>
        </p:nvGraphicFramePr>
        <p:xfrm>
          <a:off x="7621588" y="5457825"/>
          <a:ext cx="4244975" cy="635000"/>
        </p:xfrm>
        <a:graphic>
          <a:graphicData uri="http://schemas.openxmlformats.org/presentationml/2006/ole">
            <mc:AlternateContent xmlns:mc="http://schemas.openxmlformats.org/markup-compatibility/2006">
              <mc:Choice xmlns:v="urn:schemas-microsoft-com:vml" Requires="v">
                <p:oleObj spid="_x0000_s362788" name="Equation" r:id="rId24" imgW="3060360" imgH="457200" progId="Equation.DSMT4">
                  <p:embed/>
                </p:oleObj>
              </mc:Choice>
              <mc:Fallback>
                <p:oleObj name="Equation" r:id="rId24" imgW="3060360" imgH="457200" progId="Equation.DSMT4">
                  <p:embed/>
                  <p:pic>
                    <p:nvPicPr>
                      <p:cNvPr id="43" name="Object 5"/>
                      <p:cNvPicPr>
                        <a:picLocks noChangeAspect="1" noChangeArrowheads="1"/>
                      </p:cNvPicPr>
                      <p:nvPr/>
                    </p:nvPicPr>
                    <p:blipFill>
                      <a:blip r:embed="rId25"/>
                      <a:srcRect/>
                      <a:stretch>
                        <a:fillRect/>
                      </a:stretch>
                    </p:blipFill>
                    <p:spPr bwMode="auto">
                      <a:xfrm>
                        <a:off x="7621588" y="5457825"/>
                        <a:ext cx="4244975" cy="6350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4"/>
          <p:cNvGraphicFramePr>
            <a:graphicFrameLocks noChangeAspect="1"/>
          </p:cNvGraphicFramePr>
          <p:nvPr/>
        </p:nvGraphicFramePr>
        <p:xfrm>
          <a:off x="7604551" y="6159736"/>
          <a:ext cx="2967038" cy="639763"/>
        </p:xfrm>
        <a:graphic>
          <a:graphicData uri="http://schemas.openxmlformats.org/presentationml/2006/ole">
            <mc:AlternateContent xmlns:mc="http://schemas.openxmlformats.org/markup-compatibility/2006">
              <mc:Choice xmlns:v="urn:schemas-microsoft-com:vml" Requires="v">
                <p:oleObj spid="_x0000_s362789" name="Equation" r:id="rId26" imgW="2006280" imgH="431640" progId="Equation.DSMT4">
                  <p:embed/>
                </p:oleObj>
              </mc:Choice>
              <mc:Fallback>
                <p:oleObj name="Equation" r:id="rId26" imgW="2006280" imgH="431640" progId="Equation.DSMT4">
                  <p:embed/>
                  <p:pic>
                    <p:nvPicPr>
                      <p:cNvPr id="44" name="Object 4"/>
                      <p:cNvPicPr>
                        <a:picLocks noChangeAspect="1" noChangeArrowheads="1"/>
                      </p:cNvPicPr>
                      <p:nvPr/>
                    </p:nvPicPr>
                    <p:blipFill>
                      <a:blip r:embed="rId27"/>
                      <a:srcRect/>
                      <a:stretch>
                        <a:fillRect/>
                      </a:stretch>
                    </p:blipFill>
                    <p:spPr bwMode="auto">
                      <a:xfrm>
                        <a:off x="7604551" y="6159736"/>
                        <a:ext cx="2967038" cy="6397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p:cNvSpPr/>
          <p:nvPr/>
        </p:nvSpPr>
        <p:spPr>
          <a:xfrm>
            <a:off x="162772" y="980340"/>
            <a:ext cx="7877444" cy="400110"/>
          </a:xfrm>
          <a:prstGeom prst="rect">
            <a:avLst/>
          </a:prstGeom>
        </p:spPr>
        <p:txBody>
          <a:bodyPr wrap="square">
            <a:spAutoFit/>
          </a:bodyPr>
          <a:lstStyle/>
          <a:p>
            <a:pPr marL="0" indent="0">
              <a:buNone/>
            </a:pP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solidFill>
                  <a:srgbClr val="FF0000"/>
                </a:solidFill>
                <a:latin typeface="黑体" panose="02010609060101010101" pitchFamily="49" charset="-122"/>
                <a:ea typeface="黑体" panose="02010609060101010101" pitchFamily="49" charset="-122"/>
              </a:rPr>
              <a:t>基于总类内离差矩阵</a:t>
            </a:r>
            <a:r>
              <a:rPr lang="en-US" altLang="zh-CN" sz="2000"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sz="2000" i="1"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W</a:t>
            </a:r>
            <a:r>
              <a:rPr lang="zh-CN" altLang="en-US" sz="2000" dirty="0">
                <a:solidFill>
                  <a:srgbClr val="FF0000"/>
                </a:solidFill>
                <a:latin typeface="黑体" panose="02010609060101010101" pitchFamily="49" charset="-122"/>
                <a:ea typeface="黑体" panose="02010609060101010101" pitchFamily="49" charset="-122"/>
              </a:rPr>
              <a:t>的特征提取（</a:t>
            </a:r>
            <a:r>
              <a:rPr lang="zh-CN" altLang="en-US" sz="2000" dirty="0">
                <a:solidFill>
                  <a:srgbClr val="FF0000"/>
                </a:solidFill>
              </a:rPr>
              <a:t>从类均值中提取判别信息</a:t>
            </a:r>
            <a:r>
              <a:rPr lang="zh-CN" altLang="en-US" sz="2000" dirty="0">
                <a:solidFill>
                  <a:srgbClr val="FF0000"/>
                </a:solidFill>
                <a:latin typeface="黑体" panose="02010609060101010101" pitchFamily="49" charset="-122"/>
                <a:ea typeface="黑体" panose="02010609060101010101" pitchFamily="49" charset="-122"/>
              </a:rPr>
              <a:t>）</a:t>
            </a:r>
            <a:endParaRPr lang="en-US" altLang="zh-CN" sz="2000" dirty="0">
              <a:solidFill>
                <a:srgbClr val="FF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2990344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28800" y="975320"/>
            <a:ext cx="8458200" cy="5334000"/>
          </a:xfrm>
        </p:spPr>
        <p:txBody>
          <a:bodyPr/>
          <a:lstStyle/>
          <a:p>
            <a:pPr marL="0" indent="0">
              <a:buNone/>
            </a:pPr>
            <a:endParaRPr lang="en-US" altLang="zh-CN" sz="2000" dirty="0">
              <a:latin typeface="Times New Roman" panose="02020603050405020304" pitchFamily="18" charset="0"/>
              <a:cs typeface="Times New Roman" panose="02020603050405020304" pitchFamily="18" charset="0"/>
            </a:endParaRPr>
          </a:p>
          <a:p>
            <a:pPr marL="0" indent="0">
              <a:buNone/>
            </a:pPr>
            <a:r>
              <a:rPr lang="zh-CN" altLang="en-US" sz="2000" dirty="0">
                <a:latin typeface="Times New Roman" panose="02020603050405020304" pitchFamily="18" charset="0"/>
                <a:cs typeface="Times New Roman" panose="02020603050405020304" pitchFamily="18" charset="0"/>
              </a:rPr>
              <a:t>设</a:t>
            </a:r>
            <a:r>
              <a:rPr lang="el-GR" altLang="zh-CN" sz="2000" dirty="0">
                <a:latin typeface="Times New Roman" panose="02020603050405020304" pitchFamily="18" charset="0"/>
                <a:cs typeface="Times New Roman" panose="02020603050405020304" pitchFamily="18" charset="0"/>
              </a:rPr>
              <a:t>Λ</a:t>
            </a:r>
            <a:r>
              <a:rPr lang="zh-CN" altLang="en-US" sz="2000" dirty="0">
                <a:latin typeface="Times New Roman" panose="02020603050405020304" pitchFamily="18" charset="0"/>
                <a:cs typeface="Times New Roman" panose="02020603050405020304" pitchFamily="18" charset="0"/>
              </a:rPr>
              <a:t>和</a:t>
            </a:r>
            <a:r>
              <a:rPr lang="en-US" altLang="zh-CN" sz="2000" dirty="0">
                <a:latin typeface="Times New Roman" panose="02020603050405020304" pitchFamily="18" charset="0"/>
                <a:cs typeface="Times New Roman" panose="02020603050405020304" pitchFamily="18" charset="0"/>
              </a:rPr>
              <a:t>U</a:t>
            </a:r>
            <a:r>
              <a:rPr lang="zh-CN" altLang="en-US" sz="2000" dirty="0">
                <a:latin typeface="Times New Roman" panose="02020603050405020304" pitchFamily="18" charset="0"/>
                <a:cs typeface="Times New Roman" panose="02020603050405020304" pitchFamily="18" charset="0"/>
              </a:rPr>
              <a:t>是对称正定阵</a:t>
            </a:r>
            <a:r>
              <a:rPr lang="en-US" altLang="zh-CN" sz="2000" i="1" dirty="0">
                <a:latin typeface="Times New Roman" panose="02020603050405020304" pitchFamily="18" charset="0"/>
                <a:cs typeface="Times New Roman" panose="02020603050405020304" pitchFamily="18" charset="0"/>
              </a:rPr>
              <a:t>S</a:t>
            </a:r>
            <a:r>
              <a:rPr lang="en-US" altLang="zh-CN" sz="2000" i="1" baseline="-25000" dirty="0">
                <a:latin typeface="Times New Roman" panose="02020603050405020304" pitchFamily="18" charset="0"/>
                <a:cs typeface="Times New Roman" panose="02020603050405020304" pitchFamily="18" charset="0"/>
              </a:rPr>
              <a:t>W</a:t>
            </a:r>
            <a:r>
              <a:rPr lang="zh-CN" altLang="en-US" sz="2000" dirty="0">
                <a:latin typeface="Times New Roman" panose="02020603050405020304" pitchFamily="18" charset="0"/>
                <a:cs typeface="Times New Roman" panose="02020603050405020304" pitchFamily="18" charset="0"/>
              </a:rPr>
              <a:t>的特征值对角阵和特征矢量矩阵，做白化变换</a:t>
            </a:r>
            <a:endParaRPr lang="en-US" altLang="zh-CN" sz="2000" dirty="0">
              <a:latin typeface="Times New Roman" panose="02020603050405020304" pitchFamily="18" charset="0"/>
              <a:cs typeface="Times New Roman" panose="02020603050405020304" pitchFamily="18" charset="0"/>
            </a:endParaRPr>
          </a:p>
          <a:p>
            <a:pPr marL="0" indent="0">
              <a:buNone/>
            </a:pPr>
            <a:endParaRPr lang="en-US" altLang="zh-CN" sz="2000" dirty="0">
              <a:latin typeface="Times New Roman" panose="02020603050405020304" pitchFamily="18" charset="0"/>
              <a:cs typeface="Times New Roman" panose="02020603050405020304" pitchFamily="18" charset="0"/>
            </a:endParaRPr>
          </a:p>
          <a:p>
            <a:pPr marL="0" indent="0">
              <a:buNone/>
            </a:pPr>
            <a:endParaRPr lang="en-US" altLang="zh-CN" sz="2000" dirty="0">
              <a:latin typeface="Times New Roman" panose="02020603050405020304" pitchFamily="18" charset="0"/>
              <a:cs typeface="Times New Roman" panose="02020603050405020304" pitchFamily="18" charset="0"/>
            </a:endParaRPr>
          </a:p>
          <a:p>
            <a:pPr marL="0" indent="0">
              <a:buNone/>
            </a:pPr>
            <a:endParaRPr lang="en-US" altLang="zh-CN" sz="200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479376" y="152401"/>
            <a:ext cx="9350424" cy="563563"/>
          </a:xfrm>
        </p:spPr>
        <p:txBody>
          <a:bodyPr/>
          <a:lstStyle/>
          <a:p>
            <a:r>
              <a:rPr lang="en-US" altLang="zh-CN" dirty="0">
                <a:latin typeface="Times New Roman" panose="02020603050405020304" pitchFamily="18" charset="0"/>
                <a:cs typeface="Times New Roman" panose="02020603050405020304" pitchFamily="18" charset="0"/>
              </a:rPr>
              <a:t>17.3 K-L</a:t>
            </a:r>
            <a:r>
              <a:rPr lang="zh-CN" altLang="zh-CN" dirty="0">
                <a:latin typeface="Times New Roman" panose="02020603050405020304" pitchFamily="18" charset="0"/>
                <a:cs typeface="Times New Roman" panose="02020603050405020304" pitchFamily="18" charset="0"/>
              </a:rPr>
              <a:t>变换方法</a:t>
            </a:r>
            <a:r>
              <a:rPr lang="en-US" altLang="zh-CN" dirty="0" err="1">
                <a:latin typeface="Bahnschrift Condensed" panose="020B0502040204020203" pitchFamily="34" charset="0"/>
                <a:cs typeface="Times New Roman" panose="02020603050405020304" pitchFamily="18" charset="0"/>
              </a:rPr>
              <a:t>Karhunen-Loeve</a:t>
            </a:r>
            <a:r>
              <a:rPr lang="en-US" altLang="zh-CN" dirty="0">
                <a:latin typeface="Bahnschrift Condensed" panose="020B0502040204020203" pitchFamily="34" charset="0"/>
                <a:cs typeface="Times New Roman" panose="02020603050405020304" pitchFamily="18" charset="0"/>
              </a:rPr>
              <a:t> transform</a:t>
            </a:r>
            <a:endParaRPr lang="zh-CN" altLang="en-US" dirty="0">
              <a:latin typeface="Bahnschrift Condensed" panose="020B0502040204020203" pitchFamily="34" charset="0"/>
              <a:cs typeface="Times New Roman" panose="02020603050405020304" pitchFamily="18" charset="0"/>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31</a:t>
            </a:fld>
            <a:endParaRPr lang="en-US" altLang="zh-CN" dirty="0"/>
          </a:p>
        </p:txBody>
      </p:sp>
      <p:pic>
        <p:nvPicPr>
          <p:cNvPr id="314370" name="Picture 2" descr="http://latex.codecogs.com/gif.latex?%5Csigma_%7Bi%7D%20%2Ci%20%3D%201%2C%5Ccdots%20%2C%5Cinf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16438" y="-90488"/>
            <a:ext cx="1181100" cy="152401"/>
          </a:xfrm>
          <a:prstGeom prst="rect">
            <a:avLst/>
          </a:prstGeom>
          <a:noFill/>
          <a:extLst>
            <a:ext uri="{909E8E84-426E-40DD-AFC4-6F175D3DCCD1}">
              <a14:hiddenFill xmlns:a14="http://schemas.microsoft.com/office/drawing/2010/main">
                <a:solidFill>
                  <a:srgbClr val="FFFFFF"/>
                </a:solidFill>
              </a14:hiddenFill>
            </a:ext>
          </a:extLst>
        </p:spPr>
      </p:pic>
      <p:pic>
        <p:nvPicPr>
          <p:cNvPr id="315406" name="Picture 14" descr="http://latex.codecogs.com/gif.latex?%7b\Phi%20_%7bK%20-%20L%7d%7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87988" y="-76200"/>
            <a:ext cx="419100" cy="1524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6"/>
          <p:cNvSpPr>
            <a:spLocks noChangeArrowheads="1"/>
          </p:cNvSpPr>
          <p:nvPr/>
        </p:nvSpPr>
        <p:spPr bwMode="auto">
          <a:xfrm>
            <a:off x="6003635" y="82406"/>
            <a:ext cx="184731" cy="2923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sz="1300" dirty="0">
              <a:solidFill>
                <a:srgbClr val="4D4D4D"/>
              </a:solidFill>
              <a:latin typeface="Times New Roman" panose="02020603050405020304" pitchFamily="18" charset="0"/>
              <a:ea typeface="-apple-system"/>
              <a:cs typeface="Times New Roman" panose="02020603050405020304" pitchFamily="18" charset="0"/>
            </a:endParaRPr>
          </a:p>
        </p:txBody>
      </p:sp>
      <p:sp>
        <p:nvSpPr>
          <p:cNvPr id="17" name="Rectangle 9"/>
          <p:cNvSpPr>
            <a:spLocks noChangeArrowheads="1"/>
          </p:cNvSpPr>
          <p:nvPr/>
        </p:nvSpPr>
        <p:spPr bwMode="auto">
          <a:xfrm>
            <a:off x="1524001"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dirty="0"/>
          </a:p>
        </p:txBody>
      </p:sp>
      <p:pic>
        <p:nvPicPr>
          <p:cNvPr id="318475" name="Picture 11" descr="http://latex.codecogs.com/gif.latex?%7b\Phi%20_j%7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3614" y="-98425"/>
            <a:ext cx="180975" cy="180975"/>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组合 33"/>
          <p:cNvGrpSpPr>
            <a:grpSpLocks/>
          </p:cNvGrpSpPr>
          <p:nvPr/>
        </p:nvGrpSpPr>
        <p:grpSpPr bwMode="auto">
          <a:xfrm>
            <a:off x="2117177" y="2320901"/>
            <a:ext cx="5912288" cy="846066"/>
            <a:chOff x="500034" y="2179103"/>
            <a:chExt cx="6389126" cy="1194965"/>
          </a:xfrm>
        </p:grpSpPr>
        <mc:AlternateContent xmlns:mc="http://schemas.openxmlformats.org/markup-compatibility/2006" xmlns:a14="http://schemas.microsoft.com/office/drawing/2010/main">
          <mc:Choice Requires="a14">
            <p:sp>
              <p:nvSpPr>
                <p:cNvPr id="20" name="Rectangle 15"/>
                <p:cNvSpPr>
                  <a:spLocks noChangeArrowheads="1"/>
                </p:cNvSpPr>
                <p:nvPr/>
              </p:nvSpPr>
              <p:spPr bwMode="auto">
                <a:xfrm>
                  <a:off x="500034" y="2374265"/>
                  <a:ext cx="2340669" cy="999803"/>
                </a:xfrm>
                <a:prstGeom prst="rect">
                  <a:avLst/>
                </a:prstGeom>
                <a:noFill/>
                <a:ln w="9525">
                  <a:noFill/>
                  <a:miter lim="800000"/>
                  <a:headEnd/>
                  <a:tailEnd/>
                </a:ln>
              </p:spPr>
              <p:txBody>
                <a:bodyPr wrap="none" anchor="ctr">
                  <a:spAutoFit/>
                </a:bodyPr>
                <a:lstStyle/>
                <a:p>
                  <a:pPr>
                    <a:defRPr/>
                  </a:pPr>
                  <a:r>
                    <a:rPr lang="zh-CN" altLang="en-US" sz="2000" dirty="0">
                      <a:latin typeface="Times New Roman" panose="02020603050405020304" pitchFamily="18" charset="0"/>
                      <a:cs typeface="Times New Roman" panose="02020603050405020304" pitchFamily="18" charset="0"/>
                    </a:rPr>
                    <a:t>存在正交阵</a:t>
                  </a:r>
                  <a:r>
                    <a:rPr lang="en-US" altLang="zh-CN" sz="2000" dirty="0">
                      <a:latin typeface="Times New Roman" panose="02020603050405020304" pitchFamily="18" charset="0"/>
                      <a:cs typeface="Times New Roman" panose="02020603050405020304" pitchFamily="18" charset="0"/>
                    </a:rPr>
                    <a:t>V</a:t>
                  </a:r>
                  <a14:m>
                    <m:oMath xmlns:m="http://schemas.openxmlformats.org/officeDocument/2006/math">
                      <m:r>
                        <a:rPr lang="zh-CN" altLang="en-US" sz="2000">
                          <a:latin typeface="Cambria Math" panose="02040503050406030204" pitchFamily="18" charset="0"/>
                          <a:cs typeface="Times New Roman" panose="02020603050405020304" pitchFamily="18" charset="0"/>
                        </a:rPr>
                        <m:t>可</m:t>
                      </m:r>
                    </m:oMath>
                  </a14:m>
                  <a:r>
                    <a:rPr lang="zh-CN" altLang="en-US" sz="2000" dirty="0">
                      <a:latin typeface="Times New Roman" panose="02020603050405020304" pitchFamily="18" charset="0"/>
                      <a:cs typeface="Times New Roman" panose="02020603050405020304" pitchFamily="18" charset="0"/>
                    </a:rPr>
                    <a:t>使</a:t>
                  </a:r>
                </a:p>
                <a:p>
                  <a:pPr>
                    <a:defRPr/>
                  </a:pPr>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20" name="Rectangle 15"/>
                <p:cNvSpPr>
                  <a:spLocks noRot="1" noChangeAspect="1" noMove="1" noResize="1" noEditPoints="1" noAdjustHandles="1" noChangeArrowheads="1" noChangeShapeType="1" noTextEdit="1"/>
                </p:cNvSpPr>
                <p:nvPr/>
              </p:nvSpPr>
              <p:spPr bwMode="auto">
                <a:xfrm>
                  <a:off x="500034" y="2374265"/>
                  <a:ext cx="2340669" cy="999803"/>
                </a:xfrm>
                <a:prstGeom prst="rect">
                  <a:avLst/>
                </a:prstGeom>
                <a:blipFill rotWithShape="0">
                  <a:blip r:embed="rId6"/>
                  <a:stretch>
                    <a:fillRect l="-2809" t="-5983" r="-2528"/>
                  </a:stretch>
                </a:blipFill>
                <a:ln w="9525">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21" name="Object 9"/>
                <p:cNvGraphicFramePr>
                  <a:graphicFrameLocks noChangeAspect="1"/>
                </p:cNvGraphicFramePr>
                <p:nvPr>
                  <p:extLst>
                    <p:ext uri="{D42A27DB-BD31-4B8C-83A1-F6EECF244321}">
                      <p14:modId xmlns:p14="http://schemas.microsoft.com/office/powerpoint/2010/main" val="1173727951"/>
                    </p:ext>
                  </p:extLst>
                </p:nvPr>
              </p:nvGraphicFramePr>
              <p:xfrm>
                <a:off x="2964016" y="2179103"/>
                <a:ext cx="3925144" cy="908071"/>
              </p:xfrm>
              <a:graphic>
                <a:graphicData uri="http://schemas.openxmlformats.org/presentationml/2006/ole">
                  <mc:AlternateContent>
                    <mc:Choice xmlns:v="urn:schemas-microsoft-com:vml" Requires="v">
                      <p:oleObj spid="_x0000_s337643" name="Equation" r:id="rId7" imgW="1485720" imgH="342720" progId="Equation.DSMT4">
                        <p:embed/>
                      </p:oleObj>
                    </mc:Choice>
                    <mc:Fallback>
                      <p:oleObj name="Equation" r:id="rId7" imgW="1485720" imgH="342720" progId="Equation.DSMT4">
                        <p:embed/>
                        <p:pic>
                          <p:nvPicPr>
                            <p:cNvPr id="0" name=""/>
                            <p:cNvPicPr>
                              <a:picLocks noChangeAspect="1" noChangeArrowheads="1"/>
                            </p:cNvPicPr>
                            <p:nvPr/>
                          </p:nvPicPr>
                          <p:blipFill>
                            <a:blip r:embed="rId8"/>
                            <a:srcRect/>
                            <a:stretch>
                              <a:fillRect/>
                            </a:stretch>
                          </p:blipFill>
                          <p:spPr bwMode="auto">
                            <a:xfrm>
                              <a:off x="2964016" y="2179103"/>
                              <a:ext cx="3925144" cy="90807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pic>
                      </p:oleObj>
                    </mc:Fallback>
                  </mc:AlternateContent>
                </a:graphicData>
              </a:graphic>
            </p:graphicFrame>
          </mc:Choice>
          <mc:Fallback xmlns="">
            <p:graphicFrame>
              <p:nvGraphicFramePr>
                <p:cNvPr id="21" name="Object 9"/>
                <p:cNvGraphicFramePr>
                  <a:graphicFrameLocks noChangeAspect="1"/>
                </p:cNvGraphicFramePr>
                <p:nvPr>
                  <p:extLst>
                    <p:ext uri="{D42A27DB-BD31-4B8C-83A1-F6EECF244321}">
                      <p14:modId xmlns:p14="http://schemas.microsoft.com/office/powerpoint/2010/main" val="1173727951"/>
                    </p:ext>
                  </p:extLst>
                </p:nvPr>
              </p:nvGraphicFramePr>
              <p:xfrm>
                <a:off x="2964016" y="2179103"/>
                <a:ext cx="3925144" cy="908071"/>
              </p:xfrm>
              <a:graphic>
                <a:graphicData uri="http://schemas.openxmlformats.org/presentationml/2006/ole">
                  <mc:AlternateContent>
                    <mc:Choice xmlns:v="urn:schemas-microsoft-com:vml" Requires="v">
                      <p:oleObj spid="_x0000_s337019" name="Equation" r:id="rId9" imgW="1485720" imgH="342720" progId="Equation.DSMT4">
                        <p:embed/>
                      </p:oleObj>
                    </mc:Choice>
                    <mc:Fallback>
                      <p:oleObj name="Equation" r:id="rId9" imgW="1485720" imgH="342720" progId="Equation.DSMT4">
                        <p:embed/>
                        <p:pic>
                          <p:nvPicPr>
                            <p:cNvPr id="0" name=""/>
                            <p:cNvPicPr>
                              <a:picLocks noChangeAspect="1" noChangeArrowheads="1"/>
                            </p:cNvPicPr>
                            <p:nvPr/>
                          </p:nvPicPr>
                          <p:blipFill>
                            <a:blip r:embed="rId10"/>
                            <a:srcRect/>
                            <a:stretch>
                              <a:fillRect/>
                            </a:stretch>
                          </p:blipFill>
                          <p:spPr bwMode="auto">
                            <a:xfrm>
                              <a:off x="2964016" y="2179103"/>
                              <a:ext cx="3925144" cy="908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Fallback>
        </mc:AlternateContent>
      </p:grpSp>
      <p:graphicFrame>
        <p:nvGraphicFramePr>
          <p:cNvPr id="22" name="Object 3"/>
          <p:cNvGraphicFramePr>
            <a:graphicFrameLocks noChangeAspect="1"/>
          </p:cNvGraphicFramePr>
          <p:nvPr>
            <p:extLst>
              <p:ext uri="{D42A27DB-BD31-4B8C-83A1-F6EECF244321}">
                <p14:modId xmlns:p14="http://schemas.microsoft.com/office/powerpoint/2010/main" val="3037532586"/>
              </p:ext>
            </p:extLst>
          </p:nvPr>
        </p:nvGraphicFramePr>
        <p:xfrm>
          <a:off x="6168008" y="2871122"/>
          <a:ext cx="2413000" cy="639763"/>
        </p:xfrm>
        <a:graphic>
          <a:graphicData uri="http://schemas.openxmlformats.org/presentationml/2006/ole">
            <mc:AlternateContent xmlns:mc="http://schemas.openxmlformats.org/markup-compatibility/2006">
              <mc:Choice xmlns:v="urn:schemas-microsoft-com:vml" Requires="v">
                <p:oleObj spid="_x0000_s337644" name="Equation" r:id="rId11" imgW="1269720" imgH="342720" progId="Equation.DSMT4">
                  <p:embed/>
                </p:oleObj>
              </mc:Choice>
              <mc:Fallback>
                <p:oleObj name="Equation" r:id="rId11" imgW="1269720" imgH="342720" progId="Equation.DSMT4">
                  <p:embed/>
                  <p:pic>
                    <p:nvPicPr>
                      <p:cNvPr id="0" name=""/>
                      <p:cNvPicPr>
                        <a:picLocks noChangeAspect="1" noChangeArrowheads="1"/>
                      </p:cNvPicPr>
                      <p:nvPr/>
                    </p:nvPicPr>
                    <p:blipFill>
                      <a:blip r:embed="rId8"/>
                      <a:srcRect/>
                      <a:stretch>
                        <a:fillRect/>
                      </a:stretch>
                    </p:blipFill>
                    <p:spPr bwMode="auto">
                      <a:xfrm>
                        <a:off x="6168008" y="2871122"/>
                        <a:ext cx="2413000" cy="639763"/>
                      </a:xfrm>
                      <a:prstGeom prst="rect">
                        <a:avLst/>
                      </a:prstGeom>
                      <a:noFill/>
                      <a:ln>
                        <a:noFill/>
                      </a:ln>
                    </p:spPr>
                  </p:pic>
                </p:oleObj>
              </mc:Fallback>
            </mc:AlternateContent>
          </a:graphicData>
        </a:graphic>
      </p:graphicFrame>
      <mc:AlternateContent xmlns:mc="http://schemas.openxmlformats.org/markup-compatibility/2006" xmlns:a14="http://schemas.microsoft.com/office/drawing/2010/main">
        <mc:Choice Requires="a14">
          <p:sp>
            <p:nvSpPr>
              <p:cNvPr id="7" name="矩形 6"/>
              <p:cNvSpPr/>
              <p:nvPr/>
            </p:nvSpPr>
            <p:spPr>
              <a:xfrm>
                <a:off x="1848250" y="3063559"/>
                <a:ext cx="8866250" cy="400110"/>
              </a:xfrm>
              <a:prstGeom prst="rect">
                <a:avLst/>
              </a:prstGeom>
            </p:spPr>
            <p:txBody>
              <a:bodyPr wrap="square">
                <a:spAutoFit/>
              </a:bodyPr>
              <a:lstStyle/>
              <a:p>
                <a:r>
                  <a:rPr lang="zh-CN" altLang="en-US" sz="2000" dirty="0">
                    <a:latin typeface="Times New Roman" panose="02020603050405020304" pitchFamily="18" charset="0"/>
                    <a:cs typeface="Times New Roman" panose="02020603050405020304" pitchFamily="18" charset="0"/>
                  </a:rPr>
                  <a:t>其中</a:t>
                </a:r>
                <a14:m>
                  <m:oMath xmlns:m="http://schemas.openxmlformats.org/officeDocument/2006/math">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𝛬</m:t>
                        </m:r>
                      </m:e>
                    </m:acc>
                  </m:oMath>
                </a14:m>
                <a:r>
                  <a:rPr lang="zh-CN" altLang="en-US" sz="2000" dirty="0">
                    <a:latin typeface="Times New Roman" panose="02020603050405020304" pitchFamily="18" charset="0"/>
                    <a:cs typeface="Times New Roman" panose="02020603050405020304" pitchFamily="18" charset="0"/>
                  </a:rPr>
                  <a:t>是白化变换后的总的类间离差阵                                      的特征值对角阵；</a:t>
                </a:r>
              </a:p>
            </p:txBody>
          </p:sp>
        </mc:Choice>
        <mc:Fallback xmlns="">
          <p:sp>
            <p:nvSpPr>
              <p:cNvPr id="7" name="矩形 6"/>
              <p:cNvSpPr>
                <a:spLocks noRot="1" noChangeAspect="1" noMove="1" noResize="1" noEditPoints="1" noAdjustHandles="1" noChangeArrowheads="1" noChangeShapeType="1" noTextEdit="1"/>
              </p:cNvSpPr>
              <p:nvPr/>
            </p:nvSpPr>
            <p:spPr>
              <a:xfrm>
                <a:off x="1848250" y="3063559"/>
                <a:ext cx="8866250" cy="400110"/>
              </a:xfrm>
              <a:prstGeom prst="rect">
                <a:avLst/>
              </a:prstGeom>
              <a:blipFill>
                <a:blip r:embed="rId13"/>
                <a:stretch>
                  <a:fillRect l="-687" t="-12308" r="-619" b="-2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1854760" y="3472145"/>
                <a:ext cx="8874545" cy="1639167"/>
              </a:xfrm>
              <a:prstGeom prst="rect">
                <a:avLst/>
              </a:prstGeom>
            </p:spPr>
            <p:txBody>
              <a:bodyPr wrap="none">
                <a:spAutoFit/>
              </a:bodyPr>
              <a:lstStyle/>
              <a:p>
                <a:pPr>
                  <a:lnSpc>
                    <a:spcPct val="125000"/>
                  </a:lnSpc>
                </a:pPr>
                <a:r>
                  <a:rPr lang="zh-CN" altLang="en-US" sz="2000" dirty="0">
                    <a:latin typeface="Times New Roman" panose="02020603050405020304" pitchFamily="18" charset="0"/>
                    <a:cs typeface="Times New Roman" panose="02020603050405020304" pitchFamily="18" charset="0"/>
                  </a:rPr>
                  <a:t>由于</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2000" i="1" baseline="-25000" dirty="0">
                    <a:latin typeface="Times New Roman" panose="02020603050405020304" pitchFamily="18" charset="0"/>
                    <a:ea typeface="黑体" panose="02010609060101010101" pitchFamily="49" charset="-122"/>
                    <a:cs typeface="Times New Roman" panose="02020603050405020304" pitchFamily="18" charset="0"/>
                  </a:rPr>
                  <a:t>B</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的秩不大于</a:t>
                </a:r>
                <a:r>
                  <a:rPr lang="en-US" altLang="zh-CN" sz="2000" dirty="0">
                    <a:latin typeface="Times New Roman" panose="02020603050405020304" pitchFamily="18" charset="0"/>
                    <a:cs typeface="Times New Roman" panose="02020603050405020304" pitchFamily="18" charset="0"/>
                  </a:rPr>
                  <a:t>c-1</a:t>
                </a:r>
                <a:r>
                  <a:rPr lang="zh-CN" altLang="en-US" sz="2000" dirty="0">
                    <a:latin typeface="Times New Roman" panose="02020603050405020304" pitchFamily="18" charset="0"/>
                    <a:cs typeface="Times New Roman" panose="02020603050405020304" pitchFamily="18" charset="0"/>
                  </a:rPr>
                  <a:t>（对于</a:t>
                </a:r>
                <a:r>
                  <a:rPr lang="en-US" altLang="zh-CN" sz="2000" dirty="0">
                    <a:latin typeface="Times New Roman" panose="02020603050405020304" pitchFamily="18" charset="0"/>
                    <a:cs typeface="Times New Roman" panose="02020603050405020304" pitchFamily="18" charset="0"/>
                  </a:rPr>
                  <a:t>C</a:t>
                </a:r>
                <a:r>
                  <a:rPr lang="zh-CN" altLang="en-US" sz="2000" dirty="0">
                    <a:latin typeface="Times New Roman" panose="02020603050405020304" pitchFamily="18" charset="0"/>
                    <a:cs typeface="Times New Roman" panose="02020603050405020304" pitchFamily="18" charset="0"/>
                  </a:rPr>
                  <a:t>类问题，由于总的类间离差矩阵</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2000" i="1" baseline="-25000"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的秩不大于</a:t>
                </a:r>
                <a:endParaRPr lang="en-US" altLang="zh-CN" sz="2000" dirty="0">
                  <a:latin typeface="Times New Roman" panose="02020603050405020304" pitchFamily="18" charset="0"/>
                  <a:cs typeface="Times New Roman" panose="02020603050405020304" pitchFamily="18" charset="0"/>
                </a:endParaRPr>
              </a:p>
              <a:p>
                <a:pPr>
                  <a:lnSpc>
                    <a:spcPct val="125000"/>
                  </a:lnSpc>
                </a:pPr>
                <a:r>
                  <a:rPr lang="en-US" altLang="zh-CN" sz="2000" dirty="0">
                    <a:latin typeface="Times New Roman" panose="02020603050405020304" pitchFamily="18" charset="0"/>
                    <a:cs typeface="Times New Roman" panose="02020603050405020304" pitchFamily="18" charset="0"/>
                  </a:rPr>
                  <a:t>c-1,</a:t>
                </a:r>
                <a:r>
                  <a:rPr lang="zh-CN" altLang="en-US" sz="2000" dirty="0">
                    <a:latin typeface="Times New Roman" panose="02020603050405020304" pitchFamily="18" charset="0"/>
                    <a:cs typeface="Times New Roman" panose="02020603050405020304" pitchFamily="18" charset="0"/>
                  </a:rPr>
                  <a:t>故最多有</a:t>
                </a:r>
                <a:r>
                  <a:rPr lang="en-US" altLang="zh-CN" sz="2000" dirty="0">
                    <a:latin typeface="Times New Roman" panose="02020603050405020304" pitchFamily="18" charset="0"/>
                    <a:cs typeface="Times New Roman" panose="02020603050405020304" pitchFamily="18" charset="0"/>
                  </a:rPr>
                  <a:t>c-1</a:t>
                </a:r>
                <a:r>
                  <a:rPr lang="zh-CN" altLang="en-US" sz="2000" dirty="0">
                    <a:latin typeface="Times New Roman" panose="02020603050405020304" pitchFamily="18" charset="0"/>
                    <a:cs typeface="Times New Roman" panose="02020603050405020304" pitchFamily="18" charset="0"/>
                  </a:rPr>
                  <a:t>个非零特征值），所以</a:t>
                </a:r>
                <a14:m>
                  <m:oMath xmlns:m="http://schemas.openxmlformats.org/officeDocument/2006/math">
                    <m:sSub>
                      <m:sSubPr>
                        <m:ctrlPr>
                          <a:rPr lang="zh-CN" altLang="en-US" sz="2000" i="1">
                            <a:latin typeface="Cambria Math" panose="02040503050406030204" pitchFamily="18" charset="0"/>
                          </a:rPr>
                        </m:ctrlPr>
                      </m:sSubPr>
                      <m:e>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𝑆</m:t>
                            </m:r>
                          </m:e>
                        </m:acc>
                      </m:e>
                      <m:sub>
                        <m:r>
                          <a:rPr lang="zh-CN" altLang="en-US" sz="2000" i="1">
                            <a:latin typeface="Cambria Math" panose="02040503050406030204" pitchFamily="18" charset="0"/>
                          </a:rPr>
                          <m:t>𝐵</m:t>
                        </m:r>
                      </m:sub>
                    </m:sSub>
                  </m:oMath>
                </a14:m>
                <a:r>
                  <a:rPr lang="zh-CN" altLang="en-US" sz="2000" dirty="0">
                    <a:latin typeface="Times New Roman" panose="02020603050405020304" pitchFamily="18" charset="0"/>
                    <a:cs typeface="Times New Roman" panose="02020603050405020304" pitchFamily="18" charset="0"/>
                  </a:rPr>
                  <a:t> 最多只有</a:t>
                </a:r>
                <a:r>
                  <a:rPr lang="en-US" altLang="zh-CN" sz="2000" dirty="0">
                    <a:latin typeface="Times New Roman" panose="02020603050405020304" pitchFamily="18" charset="0"/>
                    <a:cs typeface="Times New Roman" panose="02020603050405020304" pitchFamily="18" charset="0"/>
                  </a:rPr>
                  <a:t>c-1</a:t>
                </a:r>
                <a:r>
                  <a:rPr lang="zh-CN" altLang="en-US" sz="2000" dirty="0">
                    <a:latin typeface="Times New Roman" panose="02020603050405020304" pitchFamily="18" charset="0"/>
                    <a:cs typeface="Times New Roman" panose="02020603050405020304" pitchFamily="18" charset="0"/>
                  </a:rPr>
                  <a:t>个非</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特征值，设非</a:t>
                </a:r>
                <a:r>
                  <a:rPr lang="en-US" altLang="zh-CN" sz="2000" dirty="0">
                    <a:latin typeface="Times New Roman" panose="02020603050405020304" pitchFamily="18" charset="0"/>
                    <a:cs typeface="Times New Roman" panose="02020603050405020304" pitchFamily="18" charset="0"/>
                  </a:rPr>
                  <a:t>0</a:t>
                </a:r>
              </a:p>
              <a:p>
                <a:pPr>
                  <a:lnSpc>
                    <a:spcPct val="125000"/>
                  </a:lnSpc>
                </a:pPr>
                <a:r>
                  <a:rPr lang="zh-CN" altLang="en-US" sz="2000" dirty="0">
                    <a:latin typeface="Times New Roman" panose="02020603050405020304" pitchFamily="18" charset="0"/>
                    <a:cs typeface="Times New Roman" panose="02020603050405020304" pitchFamily="18" charset="0"/>
                  </a:rPr>
                  <a:t>特征值共有</a:t>
                </a:r>
                <a:r>
                  <a:rPr lang="en-US" altLang="zh-CN" sz="2000" dirty="0">
                    <a:latin typeface="Times New Roman" panose="02020603050405020304" pitchFamily="18" charset="0"/>
                    <a:cs typeface="Times New Roman" panose="02020603050405020304" pitchFamily="18" charset="0"/>
                  </a:rPr>
                  <a:t>d</a:t>
                </a:r>
                <a:r>
                  <a:rPr lang="zh-CN" altLang="en-US" sz="2000" dirty="0">
                    <a:latin typeface="Times New Roman" panose="02020603050405020304" pitchFamily="18" charset="0"/>
                    <a:cs typeface="Times New Roman" panose="02020603050405020304" pitchFamily="18" charset="0"/>
                  </a:rPr>
                  <a:t>个，用这</a:t>
                </a:r>
                <a:r>
                  <a:rPr lang="en-US" altLang="zh-CN" sz="2000" dirty="0">
                    <a:latin typeface="Times New Roman" panose="02020603050405020304" pitchFamily="18" charset="0"/>
                    <a:cs typeface="Times New Roman" panose="02020603050405020304" pitchFamily="18" charset="0"/>
                  </a:rPr>
                  <a:t>d</a:t>
                </a:r>
                <a:r>
                  <a:rPr lang="zh-CN" altLang="en-US" sz="2000" dirty="0">
                    <a:latin typeface="Times New Roman" panose="02020603050405020304" pitchFamily="18" charset="0"/>
                    <a:cs typeface="Times New Roman" panose="02020603050405020304" pitchFamily="18" charset="0"/>
                  </a:rPr>
                  <a:t>个非</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特征值对应的特征矢量</a:t>
                </a:r>
                <a:r>
                  <a:rPr lang="en-US" altLang="zh-CN" sz="2000" i="1" dirty="0" err="1">
                    <a:latin typeface="Times New Roman" panose="02020603050405020304" pitchFamily="18" charset="0"/>
                    <a:cs typeface="Times New Roman" panose="02020603050405020304" pitchFamily="18" charset="0"/>
                  </a:rPr>
                  <a:t>V</a:t>
                </a:r>
                <a:r>
                  <a:rPr lang="en-US" altLang="zh-CN" sz="2000" i="1" baseline="-25000" dirty="0" err="1">
                    <a:latin typeface="Times New Roman" panose="02020603050405020304" pitchFamily="18" charset="0"/>
                    <a:cs typeface="Times New Roman" panose="02020603050405020304" pitchFamily="18" charset="0"/>
                  </a:rPr>
                  <a:t>j</a:t>
                </a:r>
                <a:r>
                  <a:rPr lang="en-US" altLang="zh-CN" sz="2000" dirty="0">
                    <a:latin typeface="Times New Roman" panose="02020603050405020304" pitchFamily="18" charset="0"/>
                    <a:cs typeface="Times New Roman" panose="02020603050405020304" pitchFamily="18" charset="0"/>
                  </a:rPr>
                  <a:t>(j=1,2,…,d)</a:t>
                </a:r>
                <a:r>
                  <a:rPr lang="zh-CN" altLang="en-US" sz="2000" dirty="0">
                    <a:latin typeface="Times New Roman" panose="02020603050405020304" pitchFamily="18" charset="0"/>
                    <a:cs typeface="Times New Roman" panose="02020603050405020304" pitchFamily="18" charset="0"/>
                  </a:rPr>
                  <a:t>作变换矩阵，</a:t>
                </a:r>
                <a:endParaRPr lang="en-US" altLang="zh-CN" sz="2000" dirty="0">
                  <a:latin typeface="Times New Roman" panose="02020603050405020304" pitchFamily="18" charset="0"/>
                  <a:cs typeface="Times New Roman" panose="02020603050405020304" pitchFamily="18" charset="0"/>
                </a:endParaRPr>
              </a:p>
              <a:p>
                <a:pPr>
                  <a:lnSpc>
                    <a:spcPct val="125000"/>
                  </a:lnSpc>
                </a:pPr>
                <a:r>
                  <a:rPr lang="zh-CN" altLang="en-US" sz="2000" dirty="0">
                    <a:latin typeface="Times New Roman" panose="02020603050405020304" pitchFamily="18" charset="0"/>
                    <a:cs typeface="Times New Roman" panose="02020603050405020304" pitchFamily="18" charset="0"/>
                  </a:rPr>
                  <a:t>                                     。所得的</a:t>
                </a:r>
                <a:r>
                  <a:rPr lang="en-US" altLang="zh-CN" sz="2000" dirty="0">
                    <a:latin typeface="Times New Roman" panose="02020603050405020304" pitchFamily="18" charset="0"/>
                    <a:cs typeface="Times New Roman" panose="02020603050405020304" pitchFamily="18" charset="0"/>
                  </a:rPr>
                  <a:t>d</a:t>
                </a:r>
                <a:r>
                  <a:rPr lang="zh-CN" altLang="en-US" sz="2000" dirty="0">
                    <a:latin typeface="Times New Roman" panose="02020603050405020304" pitchFamily="18" charset="0"/>
                    <a:cs typeface="Times New Roman" panose="02020603050405020304" pitchFamily="18" charset="0"/>
                  </a:rPr>
                  <a:t>个分量含有原来</a:t>
                </a:r>
                <a:r>
                  <a:rPr lang="en-US" altLang="zh-CN" sz="2000" dirty="0">
                    <a:latin typeface="Times New Roman" panose="02020603050405020304" pitchFamily="18" charset="0"/>
                    <a:cs typeface="Times New Roman" panose="02020603050405020304" pitchFamily="18" charset="0"/>
                  </a:rPr>
                  <a:t>D</a:t>
                </a:r>
                <a:r>
                  <a:rPr lang="zh-CN" altLang="en-US" sz="2000" dirty="0">
                    <a:latin typeface="Times New Roman" panose="02020603050405020304" pitchFamily="18" charset="0"/>
                    <a:cs typeface="Times New Roman" panose="02020603050405020304" pitchFamily="18" charset="0"/>
                  </a:rPr>
                  <a:t>维模式的全部信息。</a:t>
                </a:r>
              </a:p>
            </p:txBody>
          </p:sp>
        </mc:Choice>
        <mc:Fallback xmlns="">
          <p:sp>
            <p:nvSpPr>
              <p:cNvPr id="23" name="矩形 22"/>
              <p:cNvSpPr>
                <a:spLocks noRot="1" noChangeAspect="1" noMove="1" noResize="1" noEditPoints="1" noAdjustHandles="1" noChangeArrowheads="1" noChangeShapeType="1" noTextEdit="1"/>
              </p:cNvSpPr>
              <p:nvPr/>
            </p:nvSpPr>
            <p:spPr>
              <a:xfrm>
                <a:off x="1854760" y="3472145"/>
                <a:ext cx="8874545" cy="1639167"/>
              </a:xfrm>
              <a:prstGeom prst="rect">
                <a:avLst/>
              </a:prstGeom>
              <a:blipFill>
                <a:blip r:embed="rId14"/>
                <a:stretch>
                  <a:fillRect l="-687" t="-746" r="-481" b="-4104"/>
                </a:stretch>
              </a:blipFill>
            </p:spPr>
            <p:txBody>
              <a:bodyPr/>
              <a:lstStyle/>
              <a:p>
                <a:r>
                  <a:rPr lang="zh-CN" altLang="en-US">
                    <a:noFill/>
                  </a:rPr>
                  <a:t> </a:t>
                </a:r>
              </a:p>
            </p:txBody>
          </p:sp>
        </mc:Fallback>
      </mc:AlternateContent>
      <p:sp>
        <p:nvSpPr>
          <p:cNvPr id="43" name="矩形 42"/>
          <p:cNvSpPr>
            <a:spLocks noChangeArrowheads="1"/>
          </p:cNvSpPr>
          <p:nvPr/>
        </p:nvSpPr>
        <p:spPr bwMode="auto">
          <a:xfrm>
            <a:off x="6384813" y="1952602"/>
            <a:ext cx="2724150" cy="3683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atinLnBrk="1">
              <a:spcBef>
                <a:spcPct val="0"/>
              </a:spcBef>
              <a:buClrTx/>
              <a:buSzTx/>
              <a:buFontTx/>
              <a:buNone/>
            </a:pPr>
            <a:r>
              <a:rPr lang="zh-CN" altLang="en-US" sz="1800" b="1">
                <a:solidFill>
                  <a:srgbClr val="FF0000"/>
                </a:solidFill>
              </a:rPr>
              <a:t>正定矩阵和单位矩阵合同</a:t>
            </a:r>
          </a:p>
        </p:txBody>
      </p:sp>
      <p:graphicFrame>
        <p:nvGraphicFramePr>
          <p:cNvPr id="44" name="Object 3"/>
          <p:cNvGraphicFramePr>
            <a:graphicFrameLocks noChangeAspect="1"/>
          </p:cNvGraphicFramePr>
          <p:nvPr>
            <p:extLst>
              <p:ext uri="{D42A27DB-BD31-4B8C-83A1-F6EECF244321}">
                <p14:modId xmlns:p14="http://schemas.microsoft.com/office/powerpoint/2010/main" val="59302782"/>
              </p:ext>
            </p:extLst>
          </p:nvPr>
        </p:nvGraphicFramePr>
        <p:xfrm>
          <a:off x="2013596" y="4598106"/>
          <a:ext cx="2189312" cy="476250"/>
        </p:xfrm>
        <a:graphic>
          <a:graphicData uri="http://schemas.openxmlformats.org/presentationml/2006/ole">
            <mc:AlternateContent xmlns:mc="http://schemas.openxmlformats.org/markup-compatibility/2006">
              <mc:Choice xmlns:v="urn:schemas-microsoft-com:vml" Requires="v">
                <p:oleObj spid="_x0000_s337645" name="Equation" r:id="rId15" imgW="1346040" imgH="253800" progId="Equation.DSMT4">
                  <p:embed/>
                </p:oleObj>
              </mc:Choice>
              <mc:Fallback>
                <p:oleObj name="Equation" r:id="rId15" imgW="1346040" imgH="253800" progId="Equation.DSMT4">
                  <p:embed/>
                  <p:pic>
                    <p:nvPicPr>
                      <p:cNvPr id="0" name=""/>
                      <p:cNvPicPr>
                        <a:picLocks noChangeAspect="1" noChangeArrowheads="1"/>
                      </p:cNvPicPr>
                      <p:nvPr/>
                    </p:nvPicPr>
                    <p:blipFill>
                      <a:blip r:embed="rId10"/>
                      <a:srcRect/>
                      <a:stretch>
                        <a:fillRect/>
                      </a:stretch>
                    </p:blipFill>
                    <p:spPr bwMode="auto">
                      <a:xfrm>
                        <a:off x="2013596" y="4598106"/>
                        <a:ext cx="2189312" cy="476250"/>
                      </a:xfrm>
                      <a:prstGeom prst="rect">
                        <a:avLst/>
                      </a:prstGeom>
                      <a:noFill/>
                      <a:ln>
                        <a:noFill/>
                      </a:ln>
                    </p:spPr>
                  </p:pic>
                </p:oleObj>
              </mc:Fallback>
            </mc:AlternateContent>
          </a:graphicData>
        </a:graphic>
      </p:graphicFrame>
      <p:sp>
        <p:nvSpPr>
          <p:cNvPr id="15" name="矩形 14"/>
          <p:cNvSpPr/>
          <p:nvPr/>
        </p:nvSpPr>
        <p:spPr>
          <a:xfrm>
            <a:off x="543028" y="5037701"/>
            <a:ext cx="5314275" cy="400110"/>
          </a:xfrm>
          <a:prstGeom prst="rect">
            <a:avLst/>
          </a:prstGeom>
        </p:spPr>
        <p:txBody>
          <a:bodyPr wrap="none">
            <a:spAutoFit/>
          </a:bodyPr>
          <a:lstStyle/>
          <a:p>
            <a:r>
              <a:rPr lang="zh-CN" altLang="en-US" sz="2000" dirty="0">
                <a:solidFill>
                  <a:srgbClr val="7030A0"/>
                </a:solidFill>
                <a:latin typeface="Times New Roman" panose="02020603050405020304" pitchFamily="18" charset="0"/>
                <a:cs typeface="Times New Roman" panose="02020603050405020304" pitchFamily="18" charset="0"/>
              </a:rPr>
              <a:t>不损失信息而又达到最小维数的变换矩阵为：</a:t>
            </a:r>
          </a:p>
        </p:txBody>
      </p:sp>
      <p:graphicFrame>
        <p:nvGraphicFramePr>
          <p:cNvPr id="45" name="Object 11"/>
          <p:cNvGraphicFramePr>
            <a:graphicFrameLocks noChangeAspect="1"/>
          </p:cNvGraphicFramePr>
          <p:nvPr>
            <p:extLst>
              <p:ext uri="{D42A27DB-BD31-4B8C-83A1-F6EECF244321}">
                <p14:modId xmlns:p14="http://schemas.microsoft.com/office/powerpoint/2010/main" val="902920794"/>
              </p:ext>
            </p:extLst>
          </p:nvPr>
        </p:nvGraphicFramePr>
        <p:xfrm>
          <a:off x="6849395" y="5305711"/>
          <a:ext cx="3161169" cy="682046"/>
        </p:xfrm>
        <a:graphic>
          <a:graphicData uri="http://schemas.openxmlformats.org/presentationml/2006/ole">
            <mc:AlternateContent xmlns:mc="http://schemas.openxmlformats.org/markup-compatibility/2006">
              <mc:Choice xmlns:v="urn:schemas-microsoft-com:vml" Requires="v">
                <p:oleObj spid="_x0000_s337646" name="Equation" r:id="rId16" imgW="1485720" imgH="228600" progId="Equation.DSMT4">
                  <p:embed/>
                </p:oleObj>
              </mc:Choice>
              <mc:Fallback>
                <p:oleObj name="Equation" r:id="rId16" imgW="1485720" imgH="228600" progId="Equation.DSMT4">
                  <p:embed/>
                  <p:pic>
                    <p:nvPicPr>
                      <p:cNvPr id="0" name=""/>
                      <p:cNvPicPr>
                        <a:picLocks noChangeAspect="1" noChangeArrowheads="1"/>
                      </p:cNvPicPr>
                      <p:nvPr/>
                    </p:nvPicPr>
                    <p:blipFill>
                      <a:blip r:embed="rId10"/>
                      <a:srcRect/>
                      <a:stretch>
                        <a:fillRect/>
                      </a:stretch>
                    </p:blipFill>
                    <p:spPr bwMode="auto">
                      <a:xfrm>
                        <a:off x="6849395" y="5305711"/>
                        <a:ext cx="3161169" cy="682046"/>
                      </a:xfrm>
                      <a:prstGeom prst="rect">
                        <a:avLst/>
                      </a:prstGeom>
                      <a:noFill/>
                      <a:ln>
                        <a:noFill/>
                      </a:ln>
                    </p:spPr>
                  </p:pic>
                </p:oleObj>
              </mc:Fallback>
            </mc:AlternateContent>
          </a:graphicData>
        </a:graphic>
      </p:graphicFrame>
      <p:graphicFrame>
        <p:nvGraphicFramePr>
          <p:cNvPr id="46" name="Object 3"/>
          <p:cNvGraphicFramePr>
            <a:graphicFrameLocks noChangeAspect="1"/>
          </p:cNvGraphicFramePr>
          <p:nvPr>
            <p:extLst>
              <p:ext uri="{D42A27DB-BD31-4B8C-83A1-F6EECF244321}">
                <p14:modId xmlns:p14="http://schemas.microsoft.com/office/powerpoint/2010/main" val="1752415652"/>
              </p:ext>
            </p:extLst>
          </p:nvPr>
        </p:nvGraphicFramePr>
        <p:xfrm>
          <a:off x="3093632" y="5352617"/>
          <a:ext cx="1851174" cy="433847"/>
        </p:xfrm>
        <a:graphic>
          <a:graphicData uri="http://schemas.openxmlformats.org/presentationml/2006/ole">
            <mc:AlternateContent xmlns:mc="http://schemas.openxmlformats.org/markup-compatibility/2006">
              <mc:Choice xmlns:v="urn:schemas-microsoft-com:vml" Requires="v">
                <p:oleObj spid="_x0000_s337647" name="Equation" r:id="rId17" imgW="977760" imgH="228600" progId="Equation.DSMT4">
                  <p:embed/>
                </p:oleObj>
              </mc:Choice>
              <mc:Fallback>
                <p:oleObj name="Equation" r:id="rId17" imgW="977760" imgH="228600" progId="Equation.DSMT4">
                  <p:embed/>
                  <p:pic>
                    <p:nvPicPr>
                      <p:cNvPr id="0" name=""/>
                      <p:cNvPicPr>
                        <a:picLocks noChangeAspect="1" noChangeArrowheads="1"/>
                      </p:cNvPicPr>
                      <p:nvPr/>
                    </p:nvPicPr>
                    <p:blipFill>
                      <a:blip r:embed="rId18"/>
                      <a:srcRect/>
                      <a:stretch>
                        <a:fillRect/>
                      </a:stretch>
                    </p:blipFill>
                    <p:spPr bwMode="auto">
                      <a:xfrm>
                        <a:off x="3093632" y="5352617"/>
                        <a:ext cx="1851174" cy="433847"/>
                      </a:xfrm>
                      <a:prstGeom prst="rect">
                        <a:avLst/>
                      </a:prstGeom>
                      <a:noFill/>
                      <a:ln>
                        <a:noFill/>
                      </a:ln>
                    </p:spPr>
                  </p:pic>
                </p:oleObj>
              </mc:Fallback>
            </mc:AlternateContent>
          </a:graphicData>
        </a:graphic>
      </p:graphicFrame>
      <p:sp>
        <p:nvSpPr>
          <p:cNvPr id="47" name="矩形 56"/>
          <p:cNvSpPr>
            <a:spLocks noChangeArrowheads="1"/>
          </p:cNvSpPr>
          <p:nvPr/>
        </p:nvSpPr>
        <p:spPr bwMode="auto">
          <a:xfrm>
            <a:off x="3595689" y="6072189"/>
            <a:ext cx="1214437" cy="708025"/>
          </a:xfrm>
          <a:prstGeom prst="rect">
            <a:avLst/>
          </a:prstGeom>
          <a:solidFill>
            <a:schemeClr val="bg1"/>
          </a:solidFill>
          <a:ln w="9525">
            <a:solidFill>
              <a:srgbClr val="FF0000"/>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None/>
            </a:pPr>
            <a:r>
              <a:rPr lang="en-US" altLang="zh-CN" sz="2000" i="1" dirty="0">
                <a:latin typeface="Times New Roman" panose="02020603050405020304" pitchFamily="18" charset="0"/>
                <a:ea typeface="楷体_GB2312" pitchFamily="49" charset="-122"/>
                <a:cs typeface="Times New Roman" panose="02020603050405020304" pitchFamily="18" charset="0"/>
              </a:rPr>
              <a:t>S</a:t>
            </a:r>
            <a:r>
              <a:rPr lang="en-US" altLang="zh-CN" sz="2000" i="1" baseline="-25000" dirty="0">
                <a:latin typeface="Times New Roman" panose="02020603050405020304" pitchFamily="18" charset="0"/>
                <a:ea typeface="楷体_GB2312" pitchFamily="49" charset="-122"/>
                <a:cs typeface="Times New Roman" panose="02020603050405020304" pitchFamily="18" charset="0"/>
              </a:rPr>
              <a:t>W</a:t>
            </a:r>
            <a:r>
              <a:rPr lang="zh-CN" altLang="en-US" sz="2000" dirty="0">
                <a:latin typeface="Times New Roman" panose="02020603050405020304" pitchFamily="18" charset="0"/>
                <a:ea typeface="+mn-ea"/>
                <a:cs typeface="Times New Roman" panose="02020603050405020304" pitchFamily="18" charset="0"/>
              </a:rPr>
              <a:t>特征值对角阵</a:t>
            </a:r>
          </a:p>
        </p:txBody>
      </p:sp>
      <p:sp>
        <p:nvSpPr>
          <p:cNvPr id="48" name="矩形 57"/>
          <p:cNvSpPr>
            <a:spLocks noChangeArrowheads="1"/>
          </p:cNvSpPr>
          <p:nvPr/>
        </p:nvSpPr>
        <p:spPr bwMode="auto">
          <a:xfrm>
            <a:off x="4953001" y="6078539"/>
            <a:ext cx="1000125" cy="708025"/>
          </a:xfrm>
          <a:prstGeom prst="rect">
            <a:avLst/>
          </a:prstGeom>
          <a:solidFill>
            <a:schemeClr val="bg1"/>
          </a:solidFill>
          <a:ln w="9525">
            <a:solidFill>
              <a:srgbClr val="FF0000"/>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000" i="1" dirty="0">
                <a:latin typeface="Times New Roman" panose="02020603050405020304" pitchFamily="18" charset="0"/>
                <a:ea typeface="楷体_GB2312" pitchFamily="49" charset="-122"/>
                <a:cs typeface="Times New Roman" panose="02020603050405020304" pitchFamily="18" charset="0"/>
              </a:rPr>
              <a:t>S</a:t>
            </a:r>
            <a:r>
              <a:rPr lang="en-US" altLang="zh-CN" sz="2000" i="1" baseline="-25000" dirty="0">
                <a:latin typeface="Times New Roman" panose="02020603050405020304" pitchFamily="18" charset="0"/>
                <a:ea typeface="楷体_GB2312" pitchFamily="49" charset="-122"/>
                <a:cs typeface="Times New Roman" panose="02020603050405020304" pitchFamily="18" charset="0"/>
              </a:rPr>
              <a:t>W</a:t>
            </a:r>
            <a:r>
              <a:rPr lang="zh-CN" altLang="en-US" sz="2000" dirty="0">
                <a:latin typeface="Times New Roman" panose="02020603050405020304" pitchFamily="18" charset="0"/>
                <a:ea typeface="+mn-ea"/>
                <a:cs typeface="Times New Roman" panose="02020603050405020304" pitchFamily="18" charset="0"/>
              </a:rPr>
              <a:t>特征矢量阵</a:t>
            </a:r>
          </a:p>
        </p:txBody>
      </p:sp>
      <p:sp>
        <p:nvSpPr>
          <p:cNvPr id="49" name="矩形 58"/>
          <p:cNvSpPr>
            <a:spLocks noChangeArrowheads="1"/>
          </p:cNvSpPr>
          <p:nvPr/>
        </p:nvSpPr>
        <p:spPr bwMode="auto">
          <a:xfrm>
            <a:off x="2452688" y="6072189"/>
            <a:ext cx="1071562" cy="708025"/>
          </a:xfrm>
          <a:prstGeom prst="rect">
            <a:avLst/>
          </a:prstGeom>
          <a:solidFill>
            <a:schemeClr val="bg1"/>
          </a:solidFill>
          <a:ln w="9525">
            <a:solidFill>
              <a:srgbClr val="FF0000"/>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i="1" dirty="0"/>
              <a:t>S</a:t>
            </a:r>
            <a:r>
              <a:rPr lang="en-US" altLang="zh-CN" sz="1800" i="1" baseline="-25000" dirty="0"/>
              <a:t>B</a:t>
            </a:r>
            <a:r>
              <a:rPr lang="zh-CN" altLang="en-US" sz="2000" dirty="0">
                <a:latin typeface="Times New Roman" panose="02020603050405020304" pitchFamily="18" charset="0"/>
                <a:ea typeface="+mn-ea"/>
                <a:cs typeface="Times New Roman" panose="02020603050405020304" pitchFamily="18" charset="0"/>
              </a:rPr>
              <a:t>特征矢量阵</a:t>
            </a:r>
            <a:endParaRPr lang="en-US" altLang="zh-CN" sz="2000" dirty="0">
              <a:latin typeface="Times New Roman" panose="02020603050405020304" pitchFamily="18" charset="0"/>
              <a:ea typeface="+mn-ea"/>
              <a:cs typeface="Times New Roman" panose="02020603050405020304" pitchFamily="18" charset="0"/>
            </a:endParaRPr>
          </a:p>
        </p:txBody>
      </p:sp>
      <p:cxnSp>
        <p:nvCxnSpPr>
          <p:cNvPr id="50" name="直接箭头连接符 60"/>
          <p:cNvCxnSpPr>
            <a:cxnSpLocks noChangeShapeType="1"/>
          </p:cNvCxnSpPr>
          <p:nvPr/>
        </p:nvCxnSpPr>
        <p:spPr bwMode="auto">
          <a:xfrm rot="10800000">
            <a:off x="4667250" y="5715000"/>
            <a:ext cx="571500" cy="357188"/>
          </a:xfrm>
          <a:prstGeom prst="straightConnector1">
            <a:avLst/>
          </a:prstGeom>
          <a:noFill/>
          <a:ln w="12700" cap="sq" algn="ctr">
            <a:solidFill>
              <a:srgbClr val="FF0000"/>
            </a:solidFill>
            <a:round/>
            <a:headEnd type="none" w="sm" len="sm"/>
            <a:tailEnd type="arrow" w="med" len="med"/>
          </a:ln>
          <a:extLst>
            <a:ext uri="{909E8E84-426E-40DD-AFC4-6F175D3DCCD1}">
              <a14:hiddenFill xmlns:a14="http://schemas.microsoft.com/office/drawing/2010/main">
                <a:noFill/>
              </a14:hiddenFill>
            </a:ext>
          </a:extLst>
        </p:spPr>
      </p:cxnSp>
      <p:cxnSp>
        <p:nvCxnSpPr>
          <p:cNvPr id="51" name="直接箭头连接符 62"/>
          <p:cNvCxnSpPr>
            <a:cxnSpLocks noChangeShapeType="1"/>
            <a:stCxn id="47" idx="0"/>
          </p:cNvCxnSpPr>
          <p:nvPr/>
        </p:nvCxnSpPr>
        <p:spPr bwMode="auto">
          <a:xfrm flipV="1">
            <a:off x="4202908" y="5786464"/>
            <a:ext cx="62743" cy="285725"/>
          </a:xfrm>
          <a:prstGeom prst="straightConnector1">
            <a:avLst/>
          </a:prstGeom>
          <a:noFill/>
          <a:ln w="12700" cap="sq" algn="ctr">
            <a:solidFill>
              <a:srgbClr val="FF0000"/>
            </a:solidFill>
            <a:round/>
            <a:headEnd type="none" w="sm" len="sm"/>
            <a:tailEnd type="arrow" w="med" len="med"/>
          </a:ln>
          <a:extLst>
            <a:ext uri="{909E8E84-426E-40DD-AFC4-6F175D3DCCD1}">
              <a14:hiddenFill xmlns:a14="http://schemas.microsoft.com/office/drawing/2010/main">
                <a:noFill/>
              </a14:hiddenFill>
            </a:ext>
          </a:extLst>
        </p:spPr>
      </p:cxnSp>
      <p:cxnSp>
        <p:nvCxnSpPr>
          <p:cNvPr id="52" name="直接箭头连接符 64"/>
          <p:cNvCxnSpPr>
            <a:cxnSpLocks noChangeShapeType="1"/>
            <a:stCxn id="49" idx="0"/>
          </p:cNvCxnSpPr>
          <p:nvPr/>
        </p:nvCxnSpPr>
        <p:spPr bwMode="auto">
          <a:xfrm flipV="1">
            <a:off x="2988470" y="5786464"/>
            <a:ext cx="875283" cy="285725"/>
          </a:xfrm>
          <a:prstGeom prst="straightConnector1">
            <a:avLst/>
          </a:prstGeom>
          <a:noFill/>
          <a:ln w="12700" cap="sq" algn="ctr">
            <a:solidFill>
              <a:srgbClr val="FF0000"/>
            </a:solidFill>
            <a:round/>
            <a:headEnd type="none" w="sm" len="sm"/>
            <a:tailEnd type="arrow" w="med" len="med"/>
          </a:ln>
          <a:extLst>
            <a:ext uri="{909E8E84-426E-40DD-AFC4-6F175D3DCCD1}">
              <a14:hiddenFill xmlns:a14="http://schemas.microsoft.com/office/drawing/2010/main">
                <a:noFill/>
              </a14:hiddenFill>
            </a:ext>
          </a:extLst>
        </p:spPr>
      </p:cxnSp>
      <p:sp>
        <p:nvSpPr>
          <p:cNvPr id="53" name="矩形 65"/>
          <p:cNvSpPr>
            <a:spLocks noChangeArrowheads="1"/>
          </p:cNvSpPr>
          <p:nvPr/>
        </p:nvSpPr>
        <p:spPr bwMode="auto">
          <a:xfrm>
            <a:off x="2524125" y="5929313"/>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dirty="0"/>
              <a:t>~</a:t>
            </a:r>
            <a:endParaRPr lang="en-US" altLang="zh-CN" sz="2000" dirty="0"/>
          </a:p>
        </p:txBody>
      </p:sp>
      <p:sp>
        <p:nvSpPr>
          <p:cNvPr id="5" name="矩形 4"/>
          <p:cNvSpPr/>
          <p:nvPr/>
        </p:nvSpPr>
        <p:spPr>
          <a:xfrm>
            <a:off x="293025" y="979122"/>
            <a:ext cx="6202339" cy="400110"/>
          </a:xfrm>
          <a:prstGeom prst="rect">
            <a:avLst/>
          </a:prstGeom>
        </p:spPr>
        <p:txBody>
          <a:bodyPr wrap="none">
            <a:spAutoFit/>
          </a:bodyPr>
          <a:lstStyle/>
          <a:p>
            <a:pPr marL="0" indent="0">
              <a:buNone/>
            </a:pP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solidFill>
                  <a:srgbClr val="FF0000"/>
                </a:solidFill>
                <a:latin typeface="黑体" panose="02010609060101010101" pitchFamily="49" charset="-122"/>
                <a:ea typeface="黑体" panose="02010609060101010101" pitchFamily="49" charset="-122"/>
              </a:rPr>
              <a:t>依据</a:t>
            </a:r>
            <a:r>
              <a:rPr lang="en-US" altLang="zh-CN" sz="2000"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sz="2000" i="1"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W</a:t>
            </a:r>
            <a:r>
              <a:rPr lang="zh-CN" altLang="en-US" sz="2000"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sz="2000" i="1"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000" dirty="0">
                <a:solidFill>
                  <a:srgbClr val="FF0000"/>
                </a:solidFill>
                <a:latin typeface="黑体" panose="02010609060101010101" pitchFamily="49" charset="-122"/>
                <a:ea typeface="黑体" panose="02010609060101010101" pitchFamily="49" charset="-122"/>
              </a:rPr>
              <a:t>作</a:t>
            </a:r>
            <a:r>
              <a:rPr lang="en-US" altLang="zh-CN" sz="2000" dirty="0">
                <a:solidFill>
                  <a:srgbClr val="FF0000"/>
                </a:solidFill>
                <a:latin typeface="黑体" panose="02010609060101010101" pitchFamily="49" charset="-122"/>
                <a:ea typeface="黑体" panose="02010609060101010101" pitchFamily="49" charset="-122"/>
              </a:rPr>
              <a:t>DKLT</a:t>
            </a:r>
            <a:r>
              <a:rPr lang="zh-CN" altLang="en-US" sz="2000" dirty="0">
                <a:solidFill>
                  <a:srgbClr val="FF0000"/>
                </a:solidFill>
                <a:latin typeface="黑体" panose="02010609060101010101" pitchFamily="49" charset="-122"/>
                <a:ea typeface="黑体" panose="02010609060101010101" pitchFamily="49" charset="-122"/>
              </a:rPr>
              <a:t>以降低特征维数的最优压缩方法</a:t>
            </a:r>
            <a:endParaRPr lang="en-US" altLang="zh-CN" sz="2000" dirty="0">
              <a:solidFill>
                <a:srgbClr val="FF0000"/>
              </a:solidFill>
              <a:latin typeface="黑体" panose="02010609060101010101" pitchFamily="49" charset="-122"/>
              <a:ea typeface="黑体" panose="02010609060101010101" pitchFamily="49" charset="-122"/>
            </a:endParaRPr>
          </a:p>
        </p:txBody>
      </p:sp>
      <p:sp>
        <p:nvSpPr>
          <p:cNvPr id="30" name="矩形 29"/>
          <p:cNvSpPr/>
          <p:nvPr/>
        </p:nvSpPr>
        <p:spPr>
          <a:xfrm>
            <a:off x="7949321" y="139384"/>
            <a:ext cx="646331" cy="369332"/>
          </a:xfrm>
          <a:prstGeom prst="rect">
            <a:avLst/>
          </a:prstGeom>
        </p:spPr>
        <p:txBody>
          <a:bodyPr wrap="none">
            <a:spAutoFit/>
          </a:bodyPr>
          <a:lstStyle/>
          <a:p>
            <a:r>
              <a:rPr lang="zh-CN" altLang="en-US" dirty="0">
                <a:solidFill>
                  <a:srgbClr val="FF0000"/>
                </a:solidFill>
                <a:latin typeface="黑体" panose="02010609060101010101" pitchFamily="49" charset="-122"/>
                <a:ea typeface="黑体" panose="02010609060101010101" pitchFamily="49" charset="-122"/>
              </a:rPr>
              <a:t>自习</a:t>
            </a:r>
            <a:endParaRPr lang="zh-CN" altLang="en-US" dirty="0"/>
          </a:p>
        </p:txBody>
      </p:sp>
      <p:graphicFrame>
        <p:nvGraphicFramePr>
          <p:cNvPr id="31" name="Object 3">
            <a:extLst>
              <a:ext uri="{FF2B5EF4-FFF2-40B4-BE49-F238E27FC236}">
                <a16:creationId xmlns:a16="http://schemas.microsoft.com/office/drawing/2014/main" id="{8D2D2BDF-DB06-4AA9-87BA-7100EEF6F099}"/>
              </a:ext>
            </a:extLst>
          </p:cNvPr>
          <p:cNvGraphicFramePr>
            <a:graphicFrameLocks noChangeAspect="1"/>
          </p:cNvGraphicFramePr>
          <p:nvPr>
            <p:extLst>
              <p:ext uri="{D42A27DB-BD31-4B8C-83A1-F6EECF244321}">
                <p14:modId xmlns:p14="http://schemas.microsoft.com/office/powerpoint/2010/main" val="2258702608"/>
              </p:ext>
            </p:extLst>
          </p:nvPr>
        </p:nvGraphicFramePr>
        <p:xfrm>
          <a:off x="3706976" y="1782977"/>
          <a:ext cx="2034951" cy="563482"/>
        </p:xfrm>
        <a:graphic>
          <a:graphicData uri="http://schemas.openxmlformats.org/presentationml/2006/ole">
            <mc:AlternateContent xmlns:mc="http://schemas.openxmlformats.org/markup-compatibility/2006">
              <mc:Choice xmlns:v="urn:schemas-microsoft-com:vml" Requires="v">
                <p:oleObj spid="_x0000_s337648" name="Equation" r:id="rId19" imgW="1218960" imgH="342720" progId="Equation.DSMT4">
                  <p:embed/>
                </p:oleObj>
              </mc:Choice>
              <mc:Fallback>
                <p:oleObj name="Equation" r:id="rId19" imgW="1218960" imgH="342720" progId="Equation.DSMT4">
                  <p:embed/>
                  <p:pic>
                    <p:nvPicPr>
                      <p:cNvPr id="42" name="Object 3"/>
                      <p:cNvPicPr>
                        <a:picLocks noChangeAspect="1" noChangeArrowheads="1"/>
                      </p:cNvPicPr>
                      <p:nvPr/>
                    </p:nvPicPr>
                    <p:blipFill>
                      <a:blip r:embed="rId20"/>
                      <a:srcRect/>
                      <a:stretch>
                        <a:fillRect/>
                      </a:stretch>
                    </p:blipFill>
                    <p:spPr bwMode="auto">
                      <a:xfrm>
                        <a:off x="3706976" y="1782977"/>
                        <a:ext cx="2034951" cy="56348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73098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28800" y="975320"/>
            <a:ext cx="8458200" cy="5334000"/>
          </a:xfrm>
        </p:spPr>
        <p:txBody>
          <a:bodyPr/>
          <a:lstStyle/>
          <a:p>
            <a:pPr marL="0" indent="0">
              <a:buNone/>
            </a:pPr>
            <a:endParaRPr lang="en-US" altLang="zh-CN" sz="2000" b="1" kern="1200" dirty="0">
              <a:solidFill>
                <a:srgbClr val="0000FF"/>
              </a:solidFill>
              <a:latin typeface="Times New Roman" panose="02020603050405020304" pitchFamily="18" charset="0"/>
              <a:cs typeface="Times New Roman" panose="02020603050405020304" pitchFamily="18" charset="0"/>
            </a:endParaRPr>
          </a:p>
          <a:p>
            <a:pPr marL="0" indent="0">
              <a:buNone/>
            </a:pPr>
            <a:r>
              <a:rPr lang="zh-CN" altLang="en-US" sz="2000" b="1" kern="1200" dirty="0">
                <a:solidFill>
                  <a:srgbClr val="0000FF"/>
                </a:solidFill>
                <a:latin typeface="Times New Roman" panose="02020603050405020304" pitchFamily="18" charset="0"/>
                <a:cs typeface="Times New Roman" panose="02020603050405020304" pitchFamily="18" charset="0"/>
              </a:rPr>
              <a:t>步骤</a:t>
            </a:r>
            <a:r>
              <a:rPr lang="en-US" altLang="zh-CN" sz="2000" b="1" kern="1200" dirty="0">
                <a:solidFill>
                  <a:srgbClr val="0000FF"/>
                </a:solidFill>
                <a:latin typeface="Times New Roman" panose="02020603050405020304" pitchFamily="18" charset="0"/>
                <a:cs typeface="Times New Roman" panose="02020603050405020304" pitchFamily="18" charset="0"/>
              </a:rPr>
              <a:t>1</a:t>
            </a:r>
            <a:r>
              <a:rPr lang="zh-CN" altLang="en-US" sz="2000" b="1" kern="1200" dirty="0">
                <a:solidFill>
                  <a:srgbClr val="0000FF"/>
                </a:solidFill>
                <a:latin typeface="Times New Roman" panose="02020603050405020304" pitchFamily="18" charset="0"/>
                <a:cs typeface="Times New Roman" panose="02020603050405020304" pitchFamily="18" charset="0"/>
              </a:rPr>
              <a:t>：</a:t>
            </a:r>
            <a:r>
              <a:rPr lang="zh-CN" altLang="en-US" sz="2000" kern="1200" dirty="0">
                <a:latin typeface="Times New Roman" panose="02020603050405020304" pitchFamily="18" charset="0"/>
                <a:cs typeface="Times New Roman" panose="02020603050405020304" pitchFamily="18" charset="0"/>
              </a:rPr>
              <a:t>先用原坐标系中的</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2000" i="1" baseline="-25000" dirty="0">
                <a:latin typeface="Times New Roman" panose="02020603050405020304" pitchFamily="18" charset="0"/>
                <a:ea typeface="黑体" panose="02010609060101010101" pitchFamily="49" charset="-122"/>
                <a:cs typeface="Times New Roman" panose="02020603050405020304" pitchFamily="18" charset="0"/>
              </a:rPr>
              <a:t>W</a:t>
            </a:r>
            <a:r>
              <a:rPr lang="zh-CN" altLang="en-US" sz="2000" kern="1200" dirty="0">
                <a:latin typeface="Times New Roman" panose="02020603050405020304" pitchFamily="18" charset="0"/>
                <a:cs typeface="Times New Roman" panose="02020603050405020304" pitchFamily="18" charset="0"/>
              </a:rPr>
              <a:t>作为产生矩阵，进行</a:t>
            </a:r>
            <a:r>
              <a:rPr lang="en-US" altLang="zh-CN" sz="2000" kern="1200" dirty="0">
                <a:latin typeface="Times New Roman" panose="02020603050405020304" pitchFamily="18" charset="0"/>
                <a:cs typeface="Times New Roman" panose="02020603050405020304" pitchFamily="18" charset="0"/>
              </a:rPr>
              <a:t>K-L</a:t>
            </a:r>
            <a:r>
              <a:rPr lang="zh-CN" altLang="en-US" sz="2000" kern="1200" dirty="0">
                <a:latin typeface="Times New Roman" panose="02020603050405020304" pitchFamily="18" charset="0"/>
                <a:cs typeface="Times New Roman" panose="02020603050405020304" pitchFamily="18" charset="0"/>
              </a:rPr>
              <a:t>变换，消除原数据的相关性。所得到</a:t>
            </a:r>
            <a:r>
              <a:rPr lang="en-US" altLang="zh-CN" sz="2000" kern="1200" dirty="0">
                <a:latin typeface="Times New Roman" panose="02020603050405020304" pitchFamily="18" charset="0"/>
                <a:cs typeface="Times New Roman" panose="02020603050405020304" pitchFamily="18" charset="0"/>
              </a:rPr>
              <a:t>K-L</a:t>
            </a:r>
            <a:r>
              <a:rPr lang="zh-CN" altLang="en-US" sz="2000" kern="1200" dirty="0">
                <a:latin typeface="Times New Roman" panose="02020603050405020304" pitchFamily="18" charset="0"/>
                <a:cs typeface="Times New Roman" panose="02020603050405020304" pitchFamily="18" charset="0"/>
              </a:rPr>
              <a:t>坐标系中的新</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2000" i="1" baseline="-25000"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000" kern="1200" dirty="0">
                <a:latin typeface="Times New Roman" panose="02020603050405020304" pitchFamily="18" charset="0"/>
                <a:cs typeface="Times New Roman" panose="02020603050405020304" pitchFamily="18" charset="0"/>
              </a:rPr>
              <a:t>’</a:t>
            </a:r>
            <a:r>
              <a:rPr lang="zh-CN" altLang="en-US" sz="2000" kern="1200" dirty="0">
                <a:latin typeface="Times New Roman" panose="02020603050405020304" pitchFamily="18" charset="0"/>
                <a:cs typeface="Times New Roman" panose="02020603050405020304" pitchFamily="18" charset="0"/>
              </a:rPr>
              <a:t>，是一个对角矩阵，其相应的</a:t>
            </a:r>
            <a:r>
              <a:rPr lang="en-US" altLang="zh-CN" sz="2000" kern="1200" dirty="0">
                <a:latin typeface="Times New Roman" panose="02020603050405020304" pitchFamily="18" charset="0"/>
                <a:cs typeface="Times New Roman" panose="02020603050405020304" pitchFamily="18" charset="0"/>
              </a:rPr>
              <a:t>K-L</a:t>
            </a:r>
            <a:r>
              <a:rPr lang="zh-CN" altLang="en-US" sz="2000" kern="1200" dirty="0">
                <a:solidFill>
                  <a:srgbClr val="FF0000"/>
                </a:solidFill>
                <a:latin typeface="Times New Roman" panose="02020603050405020304" pitchFamily="18" charset="0"/>
                <a:cs typeface="Times New Roman" panose="02020603050405020304" pitchFamily="18" charset="0"/>
              </a:rPr>
              <a:t>坐标系为</a:t>
            </a:r>
            <a:r>
              <a:rPr lang="en-US" altLang="zh-CN" sz="2000" kern="1200" dirty="0">
                <a:solidFill>
                  <a:srgbClr val="FF0000"/>
                </a:solidFill>
                <a:latin typeface="Times New Roman" panose="02020603050405020304" pitchFamily="18" charset="0"/>
                <a:cs typeface="Times New Roman" panose="02020603050405020304" pitchFamily="18" charset="0"/>
              </a:rPr>
              <a:t>U</a:t>
            </a:r>
            <a:r>
              <a:rPr lang="zh-CN" altLang="en-US" sz="2000" kern="1200" dirty="0">
                <a:latin typeface="Times New Roman" panose="02020603050405020304" pitchFamily="18" charset="0"/>
                <a:cs typeface="Times New Roman" panose="02020603050405020304" pitchFamily="18" charset="0"/>
              </a:rPr>
              <a:t>，由原</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2000" i="1" baseline="-25000" dirty="0">
                <a:latin typeface="Times New Roman" panose="02020603050405020304" pitchFamily="18" charset="0"/>
                <a:ea typeface="黑体" panose="02010609060101010101" pitchFamily="49" charset="-122"/>
                <a:cs typeface="Times New Roman" panose="02020603050405020304" pitchFamily="18" charset="0"/>
              </a:rPr>
              <a:t>W</a:t>
            </a:r>
            <a:r>
              <a:rPr lang="zh-CN" altLang="en-US" sz="2000" kern="1200" dirty="0">
                <a:latin typeface="Times New Roman" panose="02020603050405020304" pitchFamily="18" charset="0"/>
                <a:cs typeface="Times New Roman" panose="02020603050405020304" pitchFamily="18" charset="0"/>
              </a:rPr>
              <a:t>特征值对应的特征向量组成，</a:t>
            </a:r>
            <a:r>
              <a:rPr lang="el-GR" altLang="zh-CN" sz="2000" dirty="0">
                <a:latin typeface="Times New Roman" panose="02020603050405020304" pitchFamily="18" charset="0"/>
                <a:cs typeface="Times New Roman" panose="02020603050405020304" pitchFamily="18" charset="0"/>
              </a:rPr>
              <a:t> Λ </a:t>
            </a:r>
            <a:r>
              <a:rPr lang="zh-CN" altLang="en-US" sz="2000" dirty="0">
                <a:latin typeface="Times New Roman" panose="02020603050405020304" pitchFamily="18" charset="0"/>
                <a:cs typeface="Times New Roman" panose="02020603050405020304" pitchFamily="18" charset="0"/>
              </a:rPr>
              <a:t>为对应特征向量矩阵</a:t>
            </a:r>
            <a:r>
              <a:rPr lang="zh-CN" altLang="en-US" sz="2000" kern="1200" dirty="0">
                <a:latin typeface="Times New Roman" panose="02020603050405020304" pitchFamily="18" charset="0"/>
                <a:cs typeface="Times New Roman" panose="02020603050405020304" pitchFamily="18" charset="0"/>
              </a:rPr>
              <a:t>。</a:t>
            </a:r>
            <a:endParaRPr lang="en-US" altLang="zh-CN" sz="2000" kern="1200" dirty="0">
              <a:latin typeface="Times New Roman" panose="02020603050405020304" pitchFamily="18" charset="0"/>
              <a:cs typeface="Times New Roman" panose="02020603050405020304" pitchFamily="18" charset="0"/>
            </a:endParaRPr>
          </a:p>
          <a:p>
            <a:pPr marL="0" indent="0">
              <a:buNone/>
            </a:pPr>
            <a:r>
              <a:rPr lang="zh-CN" altLang="en-US" sz="2000" kern="1200" dirty="0">
                <a:latin typeface="Times New Roman" panose="02020603050405020304" pitchFamily="18" charset="0"/>
                <a:cs typeface="Times New Roman" panose="02020603050405020304" pitchFamily="18" charset="0"/>
              </a:rPr>
              <a:t>然后进一步变换，使</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2000" i="1" baseline="-25000"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000" kern="1200" dirty="0">
                <a:latin typeface="Times New Roman" panose="02020603050405020304" pitchFamily="18" charset="0"/>
                <a:cs typeface="Times New Roman" panose="02020603050405020304" pitchFamily="18" charset="0"/>
              </a:rPr>
              <a:t>’</a:t>
            </a:r>
            <a:r>
              <a:rPr lang="zh-CN" altLang="en-US" sz="2000" kern="1200" dirty="0">
                <a:latin typeface="Times New Roman" panose="02020603050405020304" pitchFamily="18" charset="0"/>
                <a:cs typeface="Times New Roman" panose="02020603050405020304" pitchFamily="18" charset="0"/>
              </a:rPr>
              <a:t>变为单位阵。从原</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2000" i="1" baseline="-25000" dirty="0">
                <a:latin typeface="Times New Roman" panose="02020603050405020304" pitchFamily="18" charset="0"/>
                <a:ea typeface="黑体" panose="02010609060101010101" pitchFamily="49" charset="-122"/>
                <a:cs typeface="Times New Roman" panose="02020603050405020304" pitchFamily="18" charset="0"/>
              </a:rPr>
              <a:t>W</a:t>
            </a:r>
            <a:r>
              <a:rPr lang="zh-CN" altLang="en-US" sz="2000" kern="1200" dirty="0">
                <a:latin typeface="Times New Roman" panose="02020603050405020304" pitchFamily="18" charset="0"/>
                <a:cs typeface="Times New Roman" panose="02020603050405020304" pitchFamily="18" charset="0"/>
              </a:rPr>
              <a:t>到单位矩阵</a:t>
            </a:r>
            <a:r>
              <a:rPr lang="en-US" altLang="zh-CN" sz="2000" kern="1200" dirty="0">
                <a:latin typeface="Times New Roman" panose="02020603050405020304" pitchFamily="18" charset="0"/>
                <a:cs typeface="Times New Roman" panose="02020603050405020304" pitchFamily="18" charset="0"/>
              </a:rPr>
              <a:t>I</a:t>
            </a:r>
            <a:r>
              <a:rPr lang="zh-CN" altLang="en-US" sz="2000" kern="1200" dirty="0">
                <a:latin typeface="Times New Roman" panose="02020603050405020304" pitchFamily="18" charset="0"/>
                <a:cs typeface="Times New Roman" panose="02020603050405020304" pitchFamily="18" charset="0"/>
              </a:rPr>
              <a:t>有白化变换</a:t>
            </a:r>
            <a:endParaRPr lang="en-US" altLang="zh-CN" sz="2000" kern="120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479376" y="152401"/>
            <a:ext cx="9350424" cy="563563"/>
          </a:xfrm>
        </p:spPr>
        <p:txBody>
          <a:bodyPr/>
          <a:lstStyle/>
          <a:p>
            <a:r>
              <a:rPr lang="en-US" altLang="zh-CN" dirty="0">
                <a:latin typeface="Times New Roman" panose="02020603050405020304" pitchFamily="18" charset="0"/>
                <a:cs typeface="Times New Roman" panose="02020603050405020304" pitchFamily="18" charset="0"/>
              </a:rPr>
              <a:t>17.3 K-L</a:t>
            </a:r>
            <a:r>
              <a:rPr lang="zh-CN" altLang="zh-CN" dirty="0">
                <a:latin typeface="Times New Roman" panose="02020603050405020304" pitchFamily="18" charset="0"/>
                <a:cs typeface="Times New Roman" panose="02020603050405020304" pitchFamily="18" charset="0"/>
              </a:rPr>
              <a:t>变换方法</a:t>
            </a:r>
            <a:r>
              <a:rPr lang="en-US" altLang="zh-CN" dirty="0" err="1">
                <a:latin typeface="Bahnschrift Condensed" panose="020B0502040204020203" pitchFamily="34" charset="0"/>
                <a:cs typeface="Times New Roman" panose="02020603050405020304" pitchFamily="18" charset="0"/>
              </a:rPr>
              <a:t>Karhunen-Loeve</a:t>
            </a:r>
            <a:r>
              <a:rPr lang="en-US" altLang="zh-CN" dirty="0">
                <a:latin typeface="Bahnschrift Condensed" panose="020B0502040204020203" pitchFamily="34" charset="0"/>
                <a:cs typeface="Times New Roman" panose="02020603050405020304" pitchFamily="18" charset="0"/>
              </a:rPr>
              <a:t> transform</a:t>
            </a:r>
            <a:endParaRPr lang="zh-CN" altLang="en-US" dirty="0">
              <a:latin typeface="Bahnschrift Condensed" panose="020B0502040204020203" pitchFamily="34" charset="0"/>
              <a:cs typeface="Times New Roman" panose="02020603050405020304" pitchFamily="18" charset="0"/>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32</a:t>
            </a:fld>
            <a:endParaRPr lang="en-US" altLang="zh-CN" dirty="0"/>
          </a:p>
        </p:txBody>
      </p:sp>
      <p:pic>
        <p:nvPicPr>
          <p:cNvPr id="314370" name="Picture 2" descr="http://latex.codecogs.com/gif.latex?%5Csigma_%7Bi%7D%20%2Ci%20%3D%201%2C%5Ccdots%20%2C%5Cinf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16438" y="-90488"/>
            <a:ext cx="1181100" cy="152401"/>
          </a:xfrm>
          <a:prstGeom prst="rect">
            <a:avLst/>
          </a:prstGeom>
          <a:noFill/>
          <a:extLst>
            <a:ext uri="{909E8E84-426E-40DD-AFC4-6F175D3DCCD1}">
              <a14:hiddenFill xmlns:a14="http://schemas.microsoft.com/office/drawing/2010/main">
                <a:solidFill>
                  <a:srgbClr val="FFFFFF"/>
                </a:solidFill>
              </a14:hiddenFill>
            </a:ext>
          </a:extLst>
        </p:spPr>
      </p:pic>
      <p:pic>
        <p:nvPicPr>
          <p:cNvPr id="315406" name="Picture 14" descr="http://latex.codecogs.com/gif.latex?%7b\Phi%20_%7bK%20-%20L%7d%7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87988" y="-76200"/>
            <a:ext cx="419100" cy="1524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6"/>
          <p:cNvSpPr>
            <a:spLocks noChangeArrowheads="1"/>
          </p:cNvSpPr>
          <p:nvPr/>
        </p:nvSpPr>
        <p:spPr bwMode="auto">
          <a:xfrm>
            <a:off x="6003635" y="82406"/>
            <a:ext cx="184731" cy="2923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sz="1300" dirty="0">
              <a:solidFill>
                <a:srgbClr val="4D4D4D"/>
              </a:solidFill>
              <a:latin typeface="Times New Roman" panose="02020603050405020304" pitchFamily="18" charset="0"/>
              <a:ea typeface="-apple-system"/>
              <a:cs typeface="Times New Roman" panose="02020603050405020304" pitchFamily="18" charset="0"/>
            </a:endParaRPr>
          </a:p>
        </p:txBody>
      </p:sp>
      <p:sp>
        <p:nvSpPr>
          <p:cNvPr id="17" name="Rectangle 9"/>
          <p:cNvSpPr>
            <a:spLocks noChangeArrowheads="1"/>
          </p:cNvSpPr>
          <p:nvPr/>
        </p:nvSpPr>
        <p:spPr bwMode="auto">
          <a:xfrm>
            <a:off x="1524001"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dirty="0"/>
          </a:p>
        </p:txBody>
      </p:sp>
      <p:pic>
        <p:nvPicPr>
          <p:cNvPr id="318475" name="Picture 11" descr="http://latex.codecogs.com/gif.latex?%7b\Phi%20_j%7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3614" y="-98425"/>
            <a:ext cx="180975" cy="18097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3" name="矩形 22"/>
              <p:cNvSpPr/>
              <p:nvPr/>
            </p:nvSpPr>
            <p:spPr>
              <a:xfrm>
                <a:off x="1895555" y="3212977"/>
                <a:ext cx="7992381" cy="618311"/>
              </a:xfrm>
              <a:prstGeom prst="rect">
                <a:avLst/>
              </a:prstGeom>
            </p:spPr>
            <p:txBody>
              <a:bodyPr wrap="none">
                <a:spAutoFit/>
              </a:bodyPr>
              <a:lstStyle/>
              <a:p>
                <a:pPr>
                  <a:lnSpc>
                    <a:spcPct val="125000"/>
                  </a:lnSpc>
                </a:pPr>
                <a:r>
                  <a:rPr lang="zh-CN" altLang="en-US" sz="2000" dirty="0">
                    <a:latin typeface="Times New Roman" panose="02020603050405020304" pitchFamily="18" charset="0"/>
                    <a:cs typeface="Times New Roman" panose="02020603050405020304" pitchFamily="18" charset="0"/>
                  </a:rPr>
                  <a:t>经过白化变换</a:t>
                </a:r>
                <a:r>
                  <a:rPr lang="en-US" altLang="zh-CN" sz="2000" dirty="0">
                    <a:latin typeface="Times New Roman" panose="02020603050405020304" pitchFamily="18" charset="0"/>
                    <a:cs typeface="Times New Roman" panose="02020603050405020304" pitchFamily="18" charset="0"/>
                  </a:rPr>
                  <a:t>B=</a:t>
                </a:r>
                <a14:m>
                  <m:oMath xmlns:m="http://schemas.openxmlformats.org/officeDocument/2006/math">
                    <m:r>
                      <a:rPr lang="zh-CN" altLang="en-US" sz="2000" i="1">
                        <a:latin typeface="Cambria Math" panose="02040503050406030204" pitchFamily="18" charset="0"/>
                      </a:rPr>
                      <m:t>𝑈</m:t>
                    </m:r>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𝛬</m:t>
                        </m:r>
                      </m:e>
                      <m:sup>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a:latin typeface="Cambria Math" panose="02040503050406030204" pitchFamily="18" charset="0"/>
                              </a:rPr>
                              <m:t>1</m:t>
                            </m:r>
                          </m:num>
                          <m:den>
                            <m:r>
                              <a:rPr lang="zh-CN" altLang="en-US" sz="2000">
                                <a:latin typeface="Cambria Math" panose="02040503050406030204" pitchFamily="18" charset="0"/>
                              </a:rPr>
                              <m:t>2</m:t>
                            </m:r>
                          </m:den>
                        </m:f>
                      </m:sup>
                    </m:sSup>
                  </m:oMath>
                </a14:m>
                <a:r>
                  <a:rPr lang="zh-CN" altLang="en-US" sz="2000" dirty="0">
                    <a:latin typeface="Times New Roman" panose="02020603050405020304" pitchFamily="18" charset="0"/>
                    <a:cs typeface="Times New Roman" panose="02020603050405020304" pitchFamily="18" charset="0"/>
                  </a:rPr>
                  <a:t>后得到类间离散矩阵</a:t>
                </a:r>
                <a14:m>
                  <m:oMath xmlns:m="http://schemas.openxmlformats.org/officeDocument/2006/math">
                    <m:sSub>
                      <m:sSubPr>
                        <m:ctrlPr>
                          <a:rPr lang="zh-CN" altLang="en-US" sz="2000" i="1">
                            <a:latin typeface="Cambria Math" panose="02040503050406030204" pitchFamily="18" charset="0"/>
                          </a:rPr>
                        </m:ctrlPr>
                      </m:sSubPr>
                      <m:e>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𝑆</m:t>
                            </m:r>
                          </m:e>
                        </m:acc>
                      </m:e>
                      <m:sub>
                        <m:r>
                          <a:rPr lang="zh-CN" altLang="en-US" sz="2000" i="1">
                            <a:latin typeface="Cambria Math" panose="02040503050406030204" pitchFamily="18" charset="0"/>
                          </a:rPr>
                          <m:t>𝐵</m:t>
                        </m:r>
                      </m:sub>
                    </m:sSub>
                  </m:oMath>
                </a14:m>
                <a:r>
                  <a:rPr lang="en-US" altLang="zh-CN" sz="2000" dirty="0">
                    <a:latin typeface="Times New Roman" panose="02020603050405020304" pitchFamily="18" charset="0"/>
                    <a:cs typeface="Times New Roman" panose="02020603050405020304" pitchFamily="18" charset="0"/>
                  </a:rPr>
                  <a:t>=</a:t>
                </a:r>
                <a:r>
                  <a:rPr lang="zh-CN" altLang="en-US" sz="2000" dirty="0"/>
                  <a:t> </a:t>
                </a:r>
                <a14:m>
                  <m:oMath xmlns:m="http://schemas.openxmlformats.org/officeDocument/2006/math">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𝛬</m:t>
                        </m:r>
                      </m:e>
                      <m:sup>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a:latin typeface="Cambria Math" panose="02040503050406030204" pitchFamily="18" charset="0"/>
                              </a:rPr>
                              <m:t>1</m:t>
                            </m:r>
                          </m:num>
                          <m:den>
                            <m:r>
                              <a:rPr lang="zh-CN" altLang="en-US" sz="2000">
                                <a:latin typeface="Cambria Math" panose="02040503050406030204" pitchFamily="18" charset="0"/>
                              </a:rPr>
                              <m:t>2</m:t>
                            </m:r>
                          </m:den>
                        </m:f>
                      </m:sup>
                    </m:sSup>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𝑈</m:t>
                        </m:r>
                      </m:e>
                      <m:sup>
                        <m:r>
                          <a:rPr lang="zh-CN" altLang="en-US" sz="2000" i="1">
                            <a:latin typeface="Cambria Math" panose="02040503050406030204" pitchFamily="18" charset="0"/>
                          </a:rPr>
                          <m:t>𝑇</m:t>
                        </m:r>
                      </m:sup>
                    </m:sSup>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𝑆</m:t>
                        </m:r>
                      </m:e>
                      <m:sub>
                        <m:r>
                          <a:rPr lang="zh-CN" altLang="en-US" sz="2000" i="1">
                            <a:latin typeface="Cambria Math" panose="02040503050406030204" pitchFamily="18" charset="0"/>
                          </a:rPr>
                          <m:t>𝐵</m:t>
                        </m:r>
                      </m:sub>
                    </m:sSub>
                    <m:r>
                      <a:rPr lang="zh-CN" altLang="en-US" sz="2000" i="1">
                        <a:latin typeface="Cambria Math" panose="02040503050406030204" pitchFamily="18" charset="0"/>
                      </a:rPr>
                      <m:t>𝑈</m:t>
                    </m:r>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𝛬</m:t>
                        </m:r>
                      </m:e>
                      <m:sup>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a:latin typeface="Cambria Math" panose="02040503050406030204" pitchFamily="18" charset="0"/>
                              </a:rPr>
                              <m:t>1</m:t>
                            </m:r>
                          </m:num>
                          <m:den>
                            <m:r>
                              <a:rPr lang="zh-CN" altLang="en-US" sz="2000">
                                <a:latin typeface="Cambria Math" panose="02040503050406030204" pitchFamily="18" charset="0"/>
                              </a:rPr>
                              <m:t>2</m:t>
                            </m:r>
                          </m:den>
                        </m:f>
                      </m:sup>
                    </m:sSup>
                  </m:oMath>
                </a14:m>
                <a:r>
                  <a:rPr lang="en-US" altLang="zh-CN" sz="2000" dirty="0">
                    <a:latin typeface="Times New Roman" panose="02020603050405020304" pitchFamily="18" charset="0"/>
                    <a:cs typeface="Times New Roman" panose="02020603050405020304" pitchFamily="18" charset="0"/>
                  </a:rPr>
                  <a:t>=B</a:t>
                </a:r>
                <a:r>
                  <a:rPr lang="en-US" altLang="zh-CN" sz="2000" baseline="30000" dirty="0">
                    <a:latin typeface="Times New Roman" panose="02020603050405020304" pitchFamily="18" charset="0"/>
                    <a:cs typeface="Times New Roman" panose="02020603050405020304" pitchFamily="18" charset="0"/>
                  </a:rPr>
                  <a:t>T</a:t>
                </a:r>
                <a14:m>
                  <m:oMath xmlns:m="http://schemas.openxmlformats.org/officeDocument/2006/math">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𝑆</m:t>
                        </m:r>
                      </m:e>
                      <m:sub>
                        <m:r>
                          <a:rPr lang="zh-CN" altLang="en-US" sz="2000" i="1">
                            <a:latin typeface="Cambria Math" panose="02040503050406030204" pitchFamily="18" charset="0"/>
                          </a:rPr>
                          <m:t>𝐵</m:t>
                        </m:r>
                      </m:sub>
                    </m:sSub>
                  </m:oMath>
                </a14:m>
                <a:r>
                  <a:rPr lang="en-US" altLang="zh-CN" sz="2000" dirty="0">
                    <a:latin typeface="Times New Roman" panose="02020603050405020304" pitchFamily="18" charset="0"/>
                    <a:cs typeface="Times New Roman" panose="02020603050405020304" pitchFamily="18" charset="0"/>
                  </a:rPr>
                  <a:t>B</a:t>
                </a:r>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23" name="矩形 22"/>
              <p:cNvSpPr>
                <a:spLocks noRot="1" noChangeAspect="1" noMove="1" noResize="1" noEditPoints="1" noAdjustHandles="1" noChangeArrowheads="1" noChangeShapeType="1" noTextEdit="1"/>
              </p:cNvSpPr>
              <p:nvPr/>
            </p:nvSpPr>
            <p:spPr>
              <a:xfrm>
                <a:off x="1895555" y="3212977"/>
                <a:ext cx="7992381" cy="618311"/>
              </a:xfrm>
              <a:prstGeom prst="rect">
                <a:avLst/>
              </a:prstGeom>
              <a:blipFill>
                <a:blip r:embed="rId6"/>
                <a:stretch>
                  <a:fillRect l="-839" b="-5941"/>
                </a:stretch>
              </a:blipFill>
            </p:spPr>
            <p:txBody>
              <a:bodyPr/>
              <a:lstStyle/>
              <a:p>
                <a:r>
                  <a:rPr lang="zh-CN" altLang="en-US">
                    <a:noFill/>
                  </a:rPr>
                  <a:t> </a:t>
                </a:r>
              </a:p>
            </p:txBody>
          </p:sp>
        </mc:Fallback>
      </mc:AlternateContent>
      <p:graphicFrame>
        <p:nvGraphicFramePr>
          <p:cNvPr id="44" name="Object 3"/>
          <p:cNvGraphicFramePr>
            <a:graphicFrameLocks noChangeAspect="1"/>
          </p:cNvGraphicFramePr>
          <p:nvPr/>
        </p:nvGraphicFramePr>
        <p:xfrm>
          <a:off x="4251530" y="4581411"/>
          <a:ext cx="2557463" cy="476250"/>
        </p:xfrm>
        <a:graphic>
          <a:graphicData uri="http://schemas.openxmlformats.org/presentationml/2006/ole">
            <mc:AlternateContent xmlns:mc="http://schemas.openxmlformats.org/markup-compatibility/2006">
              <mc:Choice xmlns:v="urn:schemas-microsoft-com:vml" Requires="v">
                <p:oleObj spid="_x0000_s338278" name="Equation" r:id="rId7" imgW="1346040" imgH="253800" progId="Equation.DSMT4">
                  <p:embed/>
                </p:oleObj>
              </mc:Choice>
              <mc:Fallback>
                <p:oleObj name="Equation" r:id="rId7" imgW="1346040" imgH="253800" progId="Equation.DSMT4">
                  <p:embed/>
                  <p:pic>
                    <p:nvPicPr>
                      <p:cNvPr id="0" name=""/>
                      <p:cNvPicPr>
                        <a:picLocks noChangeAspect="1" noChangeArrowheads="1"/>
                      </p:cNvPicPr>
                      <p:nvPr/>
                    </p:nvPicPr>
                    <p:blipFill>
                      <a:blip r:embed="rId8"/>
                      <a:srcRect/>
                      <a:stretch>
                        <a:fillRect/>
                      </a:stretch>
                    </p:blipFill>
                    <p:spPr bwMode="auto">
                      <a:xfrm>
                        <a:off x="4251530" y="4581411"/>
                        <a:ext cx="2557463" cy="476250"/>
                      </a:xfrm>
                      <a:prstGeom prst="rect">
                        <a:avLst/>
                      </a:prstGeom>
                      <a:noFill/>
                      <a:ln>
                        <a:noFill/>
                      </a:ln>
                    </p:spPr>
                  </p:pic>
                </p:oleObj>
              </mc:Fallback>
            </mc:AlternateContent>
          </a:graphicData>
        </a:graphic>
      </p:graphicFrame>
      <p:sp>
        <p:nvSpPr>
          <p:cNvPr id="15" name="矩形 14"/>
          <p:cNvSpPr/>
          <p:nvPr/>
        </p:nvSpPr>
        <p:spPr>
          <a:xfrm>
            <a:off x="1850873" y="4987268"/>
            <a:ext cx="1723549" cy="400110"/>
          </a:xfrm>
          <a:prstGeom prst="rect">
            <a:avLst/>
          </a:prstGeom>
        </p:spPr>
        <p:txBody>
          <a:bodyPr wrap="none">
            <a:spAutoFit/>
          </a:bodyPr>
          <a:lstStyle/>
          <a:p>
            <a:r>
              <a:rPr lang="zh-CN" altLang="en-US" sz="2000" dirty="0">
                <a:latin typeface="Times New Roman" panose="02020603050405020304" pitchFamily="18" charset="0"/>
                <a:cs typeface="Times New Roman" panose="02020603050405020304" pitchFamily="18" charset="0"/>
              </a:rPr>
              <a:t>变换矩阵为：</a:t>
            </a:r>
          </a:p>
        </p:txBody>
      </p:sp>
      <p:graphicFrame>
        <p:nvGraphicFramePr>
          <p:cNvPr id="46" name="Object 3"/>
          <p:cNvGraphicFramePr>
            <a:graphicFrameLocks noChangeAspect="1"/>
          </p:cNvGraphicFramePr>
          <p:nvPr>
            <p:extLst>
              <p:ext uri="{D42A27DB-BD31-4B8C-83A1-F6EECF244321}">
                <p14:modId xmlns:p14="http://schemas.microsoft.com/office/powerpoint/2010/main" val="1994256650"/>
              </p:ext>
            </p:extLst>
          </p:nvPr>
        </p:nvGraphicFramePr>
        <p:xfrm>
          <a:off x="3574421" y="5013570"/>
          <a:ext cx="1851174" cy="433847"/>
        </p:xfrm>
        <a:graphic>
          <a:graphicData uri="http://schemas.openxmlformats.org/presentationml/2006/ole">
            <mc:AlternateContent xmlns:mc="http://schemas.openxmlformats.org/markup-compatibility/2006">
              <mc:Choice xmlns:v="urn:schemas-microsoft-com:vml" Requires="v">
                <p:oleObj spid="_x0000_s338279" name="Equation" r:id="rId9" imgW="977760" imgH="228600" progId="Equation.DSMT4">
                  <p:embed/>
                </p:oleObj>
              </mc:Choice>
              <mc:Fallback>
                <p:oleObj name="Equation" r:id="rId9" imgW="977760" imgH="228600" progId="Equation.DSMT4">
                  <p:embed/>
                  <p:pic>
                    <p:nvPicPr>
                      <p:cNvPr id="0" name=""/>
                      <p:cNvPicPr>
                        <a:picLocks noChangeAspect="1" noChangeArrowheads="1"/>
                      </p:cNvPicPr>
                      <p:nvPr/>
                    </p:nvPicPr>
                    <p:blipFill>
                      <a:blip r:embed="rId10"/>
                      <a:srcRect/>
                      <a:stretch>
                        <a:fillRect/>
                      </a:stretch>
                    </p:blipFill>
                    <p:spPr bwMode="auto">
                      <a:xfrm>
                        <a:off x="3574421" y="5013570"/>
                        <a:ext cx="1851174" cy="433847"/>
                      </a:xfrm>
                      <a:prstGeom prst="rect">
                        <a:avLst/>
                      </a:prstGeom>
                      <a:noFill/>
                      <a:ln>
                        <a:noFill/>
                      </a:ln>
                    </p:spPr>
                  </p:pic>
                </p:oleObj>
              </mc:Fallback>
            </mc:AlternateContent>
          </a:graphicData>
        </a:graphic>
      </p:graphicFrame>
      <p:graphicFrame>
        <p:nvGraphicFramePr>
          <p:cNvPr id="29" name="Object 3"/>
          <p:cNvGraphicFramePr>
            <a:graphicFrameLocks noChangeAspect="1"/>
          </p:cNvGraphicFramePr>
          <p:nvPr>
            <p:extLst>
              <p:ext uri="{D42A27DB-BD31-4B8C-83A1-F6EECF244321}">
                <p14:modId xmlns:p14="http://schemas.microsoft.com/office/powerpoint/2010/main" val="3900973706"/>
              </p:ext>
            </p:extLst>
          </p:nvPr>
        </p:nvGraphicFramePr>
        <p:xfrm>
          <a:off x="4733663" y="2688402"/>
          <a:ext cx="2316163" cy="641350"/>
        </p:xfrm>
        <a:graphic>
          <a:graphicData uri="http://schemas.openxmlformats.org/presentationml/2006/ole">
            <mc:AlternateContent xmlns:mc="http://schemas.openxmlformats.org/markup-compatibility/2006">
              <mc:Choice xmlns:v="urn:schemas-microsoft-com:vml" Requires="v">
                <p:oleObj spid="_x0000_s338280" name="Equation" r:id="rId11" imgW="1218960" imgH="342720" progId="Equation.DSMT4">
                  <p:embed/>
                </p:oleObj>
              </mc:Choice>
              <mc:Fallback>
                <p:oleObj name="Equation" r:id="rId11" imgW="1218960" imgH="342720" progId="Equation.DSMT4">
                  <p:embed/>
                  <p:pic>
                    <p:nvPicPr>
                      <p:cNvPr id="0" name=""/>
                      <p:cNvPicPr>
                        <a:picLocks noChangeAspect="1" noChangeArrowheads="1"/>
                      </p:cNvPicPr>
                      <p:nvPr/>
                    </p:nvPicPr>
                    <p:blipFill>
                      <a:blip r:embed="rId12"/>
                      <a:srcRect/>
                      <a:stretch>
                        <a:fillRect/>
                      </a:stretch>
                    </p:blipFill>
                    <p:spPr bwMode="auto">
                      <a:xfrm>
                        <a:off x="4733663" y="2688402"/>
                        <a:ext cx="2316163" cy="641350"/>
                      </a:xfrm>
                      <a:prstGeom prst="rect">
                        <a:avLst/>
                      </a:prstGeom>
                      <a:noFill/>
                      <a:ln>
                        <a:noFill/>
                      </a:ln>
                    </p:spPr>
                  </p:pic>
                </p:oleObj>
              </mc:Fallback>
            </mc:AlternateContent>
          </a:graphicData>
        </a:graphic>
      </p:graphicFrame>
      <mc:AlternateContent xmlns:mc="http://schemas.openxmlformats.org/markup-compatibility/2006" xmlns:a14="http://schemas.microsoft.com/office/drawing/2010/main">
        <mc:Choice Requires="a14">
          <p:sp>
            <p:nvSpPr>
              <p:cNvPr id="32" name="矩形 31"/>
              <p:cNvSpPr/>
              <p:nvPr/>
            </p:nvSpPr>
            <p:spPr>
              <a:xfrm>
                <a:off x="1895555" y="3789041"/>
                <a:ext cx="8501751" cy="869725"/>
              </a:xfrm>
              <a:prstGeom prst="rect">
                <a:avLst/>
              </a:prstGeom>
            </p:spPr>
            <p:txBody>
              <a:bodyPr wrap="none">
                <a:spAutoFit/>
              </a:bodyPr>
              <a:lstStyle/>
              <a:p>
                <a:pPr>
                  <a:lnSpc>
                    <a:spcPct val="125000"/>
                  </a:lnSpc>
                </a:pPr>
                <a:r>
                  <a:rPr lang="zh-CN" altLang="en-US" sz="2000" b="1" dirty="0">
                    <a:solidFill>
                      <a:srgbClr val="0000FF"/>
                    </a:solidFill>
                    <a:latin typeface="Times New Roman" panose="02020603050405020304" pitchFamily="18" charset="0"/>
                    <a:cs typeface="Times New Roman" panose="02020603050405020304" pitchFamily="18" charset="0"/>
                  </a:rPr>
                  <a:t>步骤</a:t>
                </a:r>
                <a:r>
                  <a:rPr lang="en-US" altLang="zh-CN" sz="2000" b="1" dirty="0">
                    <a:solidFill>
                      <a:srgbClr val="0000FF"/>
                    </a:solidFill>
                    <a:latin typeface="Times New Roman" panose="02020603050405020304" pitchFamily="18" charset="0"/>
                    <a:cs typeface="Times New Roman" panose="02020603050405020304" pitchFamily="18" charset="0"/>
                  </a:rPr>
                  <a:t>2</a:t>
                </a:r>
                <a:r>
                  <a:rPr lang="zh-CN" altLang="en-US" sz="2000" b="1" dirty="0">
                    <a:solidFill>
                      <a:srgbClr val="0000FF"/>
                    </a:solidFill>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以</a:t>
                </a:r>
                <a14:m>
                  <m:oMath xmlns:m="http://schemas.openxmlformats.org/officeDocument/2006/math">
                    <m:sSub>
                      <m:sSubPr>
                        <m:ctrlPr>
                          <a:rPr lang="zh-CN" altLang="en-US" sz="2000" i="1">
                            <a:latin typeface="Cambria Math" panose="02040503050406030204" pitchFamily="18" charset="0"/>
                          </a:rPr>
                        </m:ctrlPr>
                      </m:sSubPr>
                      <m:e>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𝑆</m:t>
                            </m:r>
                          </m:e>
                        </m:acc>
                      </m:e>
                      <m:sub>
                        <m:r>
                          <a:rPr lang="zh-CN" altLang="en-US" sz="2000" i="1">
                            <a:latin typeface="Cambria Math" panose="02040503050406030204" pitchFamily="18" charset="0"/>
                          </a:rPr>
                          <m:t>𝐵</m:t>
                        </m:r>
                      </m:sub>
                    </m:sSub>
                    <m:r>
                      <a:rPr lang="zh-CN" altLang="en-US" sz="2000" i="1">
                        <a:latin typeface="Cambria Math" panose="02040503050406030204" pitchFamily="18" charset="0"/>
                      </a:rPr>
                      <m:t>作为</m:t>
                    </m:r>
                  </m:oMath>
                </a14:m>
                <a:r>
                  <a:rPr lang="zh-CN" altLang="en-US" sz="2000" dirty="0">
                    <a:latin typeface="Times New Roman" panose="02020603050405020304" pitchFamily="18" charset="0"/>
                    <a:cs typeface="Times New Roman" panose="02020603050405020304" pitchFamily="18" charset="0"/>
                  </a:rPr>
                  <a:t>产生矩阵，做</a:t>
                </a:r>
                <a:r>
                  <a:rPr lang="zh-CN" altLang="en-US" sz="2000" dirty="0">
                    <a:solidFill>
                      <a:srgbClr val="FF0000"/>
                    </a:solidFill>
                    <a:latin typeface="Times New Roman" panose="02020603050405020304" pitchFamily="18" charset="0"/>
                    <a:cs typeface="Times New Roman" panose="02020603050405020304" pitchFamily="18" charset="0"/>
                  </a:rPr>
                  <a:t>第二次</a:t>
                </a:r>
                <a:r>
                  <a:rPr lang="en-US" altLang="zh-CN" sz="2000" dirty="0">
                    <a:solidFill>
                      <a:srgbClr val="FF0000"/>
                    </a:solidFill>
                    <a:latin typeface="Times New Roman" panose="02020603050405020304" pitchFamily="18" charset="0"/>
                    <a:cs typeface="Times New Roman" panose="02020603050405020304" pitchFamily="18" charset="0"/>
                  </a:rPr>
                  <a:t>K-L</a:t>
                </a:r>
                <a:r>
                  <a:rPr lang="zh-CN" altLang="en-US" sz="2000" dirty="0">
                    <a:solidFill>
                      <a:srgbClr val="FF0000"/>
                    </a:solidFill>
                    <a:latin typeface="Times New Roman" panose="02020603050405020304" pitchFamily="18" charset="0"/>
                    <a:cs typeface="Times New Roman" panose="02020603050405020304" pitchFamily="18" charset="0"/>
                  </a:rPr>
                  <a:t>变换</a:t>
                </a:r>
                <a:r>
                  <a:rPr lang="zh-CN" altLang="en-US" sz="2000" dirty="0">
                    <a:latin typeface="Times New Roman" panose="02020603050405020304" pitchFamily="18" charset="0"/>
                    <a:cs typeface="Times New Roman" panose="02020603050405020304" pitchFamily="18" charset="0"/>
                  </a:rPr>
                  <a:t>，设</a:t>
                </a:r>
                <a14:m>
                  <m:oMath xmlns:m="http://schemas.openxmlformats.org/officeDocument/2006/math">
                    <m:sSub>
                      <m:sSubPr>
                        <m:ctrlPr>
                          <a:rPr lang="zh-CN" altLang="en-US" sz="2000" i="1">
                            <a:latin typeface="Cambria Math" panose="02040503050406030204" pitchFamily="18" charset="0"/>
                          </a:rPr>
                        </m:ctrlPr>
                      </m:sSubPr>
                      <m:e>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𝑆</m:t>
                            </m:r>
                          </m:e>
                        </m:acc>
                      </m:e>
                      <m:sub>
                        <m:r>
                          <a:rPr lang="zh-CN" altLang="en-US" sz="2000" i="1">
                            <a:latin typeface="Cambria Math" panose="02040503050406030204" pitchFamily="18" charset="0"/>
                          </a:rPr>
                          <m:t>𝐵</m:t>
                        </m:r>
                      </m:sub>
                    </m:sSub>
                  </m:oMath>
                </a14:m>
                <a:r>
                  <a:rPr lang="zh-CN" altLang="en-US" sz="2000" dirty="0">
                    <a:latin typeface="Times New Roman" panose="02020603050405020304" pitchFamily="18" charset="0"/>
                    <a:cs typeface="Times New Roman" panose="02020603050405020304" pitchFamily="18" charset="0"/>
                  </a:rPr>
                  <a:t>的秩为</a:t>
                </a:r>
                <a:r>
                  <a:rPr lang="en-US" altLang="zh-CN" sz="2000" dirty="0">
                    <a:latin typeface="Times New Roman" panose="02020603050405020304" pitchFamily="18" charset="0"/>
                    <a:cs typeface="Times New Roman" panose="02020603050405020304" pitchFamily="18" charset="0"/>
                  </a:rPr>
                  <a:t>d</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d≤c-1)</a:t>
                </a:r>
                <a:r>
                  <a:rPr lang="zh-CN" altLang="en-US" sz="2000" dirty="0">
                    <a:latin typeface="Times New Roman" panose="02020603050405020304" pitchFamily="18" charset="0"/>
                    <a:cs typeface="Times New Roman" panose="02020603050405020304" pitchFamily="18" charset="0"/>
                  </a:rPr>
                  <a:t>，这</a:t>
                </a:r>
                <a:endParaRPr lang="en-US" altLang="zh-CN" sz="2000" dirty="0">
                  <a:latin typeface="Times New Roman" panose="02020603050405020304" pitchFamily="18" charset="0"/>
                  <a:cs typeface="Times New Roman" panose="02020603050405020304" pitchFamily="18" charset="0"/>
                </a:endParaRPr>
              </a:p>
              <a:p>
                <a:pPr>
                  <a:lnSpc>
                    <a:spcPct val="125000"/>
                  </a:lnSpc>
                </a:pPr>
                <a:r>
                  <a:rPr lang="en-US" altLang="zh-CN" sz="2000" dirty="0">
                    <a:latin typeface="Times New Roman" panose="02020603050405020304" pitchFamily="18" charset="0"/>
                    <a:cs typeface="Times New Roman" panose="02020603050405020304" pitchFamily="18" charset="0"/>
                  </a:rPr>
                  <a:t>d</a:t>
                </a:r>
                <a:r>
                  <a:rPr lang="zh-CN" altLang="en-US" sz="2000" dirty="0">
                    <a:latin typeface="Times New Roman" panose="02020603050405020304" pitchFamily="18" charset="0"/>
                    <a:cs typeface="Times New Roman" panose="02020603050405020304" pitchFamily="18" charset="0"/>
                  </a:rPr>
                  <a:t>个特征值对应的特征向量矩阵为：</a:t>
                </a:r>
              </a:p>
            </p:txBody>
          </p:sp>
        </mc:Choice>
        <mc:Fallback xmlns="">
          <p:sp>
            <p:nvSpPr>
              <p:cNvPr id="32" name="矩形 31"/>
              <p:cNvSpPr>
                <a:spLocks noRot="1" noChangeAspect="1" noMove="1" noResize="1" noEditPoints="1" noAdjustHandles="1" noChangeArrowheads="1" noChangeShapeType="1" noTextEdit="1"/>
              </p:cNvSpPr>
              <p:nvPr/>
            </p:nvSpPr>
            <p:spPr>
              <a:xfrm>
                <a:off x="1895555" y="3789041"/>
                <a:ext cx="8501751" cy="869725"/>
              </a:xfrm>
              <a:prstGeom prst="rect">
                <a:avLst/>
              </a:prstGeom>
              <a:blipFill>
                <a:blip r:embed="rId13"/>
                <a:stretch>
                  <a:fillRect l="-789" t="-704" b="-8451"/>
                </a:stretch>
              </a:blipFill>
            </p:spPr>
            <p:txBody>
              <a:bodyPr/>
              <a:lstStyle/>
              <a:p>
                <a:r>
                  <a:rPr lang="zh-CN" altLang="en-US">
                    <a:noFill/>
                  </a:rPr>
                  <a:t> </a:t>
                </a:r>
              </a:p>
            </p:txBody>
          </p:sp>
        </mc:Fallback>
      </mc:AlternateContent>
      <p:sp>
        <p:nvSpPr>
          <p:cNvPr id="5" name="矩形 4"/>
          <p:cNvSpPr/>
          <p:nvPr/>
        </p:nvSpPr>
        <p:spPr>
          <a:xfrm>
            <a:off x="191344" y="961318"/>
            <a:ext cx="7228261" cy="400110"/>
          </a:xfrm>
          <a:prstGeom prst="rect">
            <a:avLst/>
          </a:prstGeom>
        </p:spPr>
        <p:txBody>
          <a:bodyPr wrap="none">
            <a:spAutoFit/>
          </a:bodyPr>
          <a:lstStyle/>
          <a:p>
            <a:pPr marL="0" indent="0">
              <a:buNone/>
            </a:pP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solidFill>
                  <a:srgbClr val="FF0000"/>
                </a:solidFill>
                <a:latin typeface="黑体" panose="02010609060101010101" pitchFamily="49" charset="-122"/>
                <a:ea typeface="黑体" panose="02010609060101010101" pitchFamily="49" charset="-122"/>
              </a:rPr>
              <a:t>依据</a:t>
            </a:r>
            <a:r>
              <a:rPr lang="en-US" altLang="zh-CN" sz="2000"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sz="2000" i="1"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W</a:t>
            </a:r>
            <a:r>
              <a:rPr lang="zh-CN" altLang="en-US" sz="2000"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sz="2000" i="1"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000" dirty="0">
                <a:solidFill>
                  <a:srgbClr val="FF0000"/>
                </a:solidFill>
                <a:latin typeface="黑体" panose="02010609060101010101" pitchFamily="49" charset="-122"/>
                <a:ea typeface="黑体" panose="02010609060101010101" pitchFamily="49" charset="-122"/>
              </a:rPr>
              <a:t>作</a:t>
            </a:r>
            <a:r>
              <a:rPr lang="en-US" altLang="zh-CN" sz="2000" dirty="0">
                <a:solidFill>
                  <a:srgbClr val="FF0000"/>
                </a:solidFill>
                <a:latin typeface="黑体" panose="02010609060101010101" pitchFamily="49" charset="-122"/>
                <a:ea typeface="黑体" panose="02010609060101010101" pitchFamily="49" charset="-122"/>
              </a:rPr>
              <a:t>DKLT</a:t>
            </a:r>
            <a:r>
              <a:rPr lang="zh-CN" altLang="en-US" sz="2000" dirty="0">
                <a:solidFill>
                  <a:srgbClr val="FF0000"/>
                </a:solidFill>
                <a:latin typeface="黑体" panose="02010609060101010101" pitchFamily="49" charset="-122"/>
                <a:ea typeface="黑体" panose="02010609060101010101" pitchFamily="49" charset="-122"/>
              </a:rPr>
              <a:t>以降低特征维数的最优压缩方法（小结）</a:t>
            </a:r>
            <a:endParaRPr lang="en-US" altLang="zh-CN" sz="2000" dirty="0">
              <a:solidFill>
                <a:srgbClr val="FF0000"/>
              </a:solidFill>
              <a:latin typeface="黑体" panose="02010609060101010101" pitchFamily="49" charset="-122"/>
              <a:ea typeface="黑体" panose="02010609060101010101" pitchFamily="49" charset="-122"/>
            </a:endParaRPr>
          </a:p>
        </p:txBody>
      </p:sp>
      <p:sp>
        <p:nvSpPr>
          <p:cNvPr id="6" name="文本框 5"/>
          <p:cNvSpPr txBox="1"/>
          <p:nvPr/>
        </p:nvSpPr>
        <p:spPr>
          <a:xfrm>
            <a:off x="1658921" y="6077062"/>
            <a:ext cx="9058890" cy="369332"/>
          </a:xfrm>
          <a:prstGeom prst="rect">
            <a:avLst/>
          </a:prstGeom>
          <a:noFill/>
        </p:spPr>
        <p:txBody>
          <a:bodyPr wrap="none" rtlCol="0">
            <a:spAutoFit/>
          </a:bodyPr>
          <a:lstStyle/>
          <a:p>
            <a:r>
              <a:rPr lang="zh-CN" altLang="en-US" dirty="0"/>
              <a:t>两类情况下，这种特征提取得到的新特征方向就是</a:t>
            </a:r>
            <a:r>
              <a:rPr lang="en-US" altLang="zh-CN" dirty="0"/>
              <a:t>fisher</a:t>
            </a:r>
            <a:r>
              <a:rPr lang="zh-CN" altLang="en-US" dirty="0"/>
              <a:t>线性判别中得到的最佳投影方向</a:t>
            </a:r>
          </a:p>
        </p:txBody>
      </p:sp>
      <p:sp>
        <p:nvSpPr>
          <p:cNvPr id="18" name="矩形 17"/>
          <p:cNvSpPr/>
          <p:nvPr/>
        </p:nvSpPr>
        <p:spPr>
          <a:xfrm>
            <a:off x="7949321" y="139384"/>
            <a:ext cx="646331" cy="369332"/>
          </a:xfrm>
          <a:prstGeom prst="rect">
            <a:avLst/>
          </a:prstGeom>
        </p:spPr>
        <p:txBody>
          <a:bodyPr wrap="none">
            <a:spAutoFit/>
          </a:bodyPr>
          <a:lstStyle/>
          <a:p>
            <a:r>
              <a:rPr lang="zh-CN" altLang="en-US" dirty="0">
                <a:solidFill>
                  <a:srgbClr val="FF0000"/>
                </a:solidFill>
                <a:latin typeface="黑体" panose="02010609060101010101" pitchFamily="49" charset="-122"/>
                <a:ea typeface="黑体" panose="02010609060101010101" pitchFamily="49" charset="-122"/>
              </a:rPr>
              <a:t>自习</a:t>
            </a:r>
            <a:endParaRPr lang="zh-CN" altLang="en-US" dirty="0"/>
          </a:p>
        </p:txBody>
      </p:sp>
    </p:spTree>
    <p:extLst>
      <p:ext uri="{BB962C8B-B14F-4D97-AF65-F5344CB8AC3E}">
        <p14:creationId xmlns:p14="http://schemas.microsoft.com/office/powerpoint/2010/main" val="1622859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8640" y="128986"/>
            <a:ext cx="8155632" cy="563563"/>
          </a:xfrm>
        </p:spPr>
        <p:txBody>
          <a:bodyPr/>
          <a:lstStyle/>
          <a:p>
            <a:pPr>
              <a:buNone/>
            </a:pPr>
            <a:r>
              <a:rPr lang="en-US" altLang="zh-CN" dirty="0">
                <a:latin typeface="Times New Roman" panose="02020603050405020304" pitchFamily="18" charset="0"/>
                <a:cs typeface="Times New Roman" panose="02020603050405020304" pitchFamily="18" charset="0"/>
              </a:rPr>
              <a:t>17.4 </a:t>
            </a:r>
            <a:r>
              <a:rPr lang="zh-CN" altLang="en-US" dirty="0">
                <a:latin typeface="Times New Roman" panose="02020603050405020304" pitchFamily="18" charset="0"/>
                <a:cs typeface="Times New Roman" panose="02020603050405020304" pitchFamily="18" charset="0"/>
              </a:rPr>
              <a:t>实例分析</a:t>
            </a:r>
            <a:endParaRPr lang="en-US" altLang="zh-CN"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357859" y="974747"/>
            <a:ext cx="11277600" cy="5334000"/>
          </a:xfrm>
        </p:spPr>
        <p:txBody>
          <a:bodyPr/>
          <a:lstStyle/>
          <a:p>
            <a:pPr marL="0" indent="0">
              <a:buNone/>
            </a:pPr>
            <a:r>
              <a:rPr lang="zh-CN" altLang="en-US" sz="2000" dirty="0">
                <a:solidFill>
                  <a:srgbClr val="0000FF"/>
                </a:solidFill>
                <a:latin typeface="宋体" pitchFamily="2" charset="-122"/>
                <a:ea typeface="宋体" pitchFamily="2" charset="-122"/>
              </a:rPr>
              <a:t>例题</a:t>
            </a:r>
            <a:r>
              <a:rPr lang="en-US" altLang="zh-CN" sz="2000" dirty="0">
                <a:solidFill>
                  <a:srgbClr val="0000FF"/>
                </a:solidFill>
                <a:latin typeface="宋体" pitchFamily="2" charset="-122"/>
                <a:ea typeface="宋体" pitchFamily="2" charset="-122"/>
              </a:rPr>
              <a:t>1</a:t>
            </a:r>
            <a:r>
              <a:rPr lang="zh-CN" altLang="en-US" sz="2000" dirty="0">
                <a:latin typeface="宋体" pitchFamily="2" charset="-122"/>
                <a:ea typeface="宋体" pitchFamily="2" charset="-122"/>
              </a:rPr>
              <a:t>：设有两类问题，先验概率相等，样本均值向量分别为</a:t>
            </a:r>
            <a:endParaRPr lang="en-US" altLang="zh-CN" sz="2000" dirty="0">
              <a:latin typeface="宋体" pitchFamily="2" charset="-122"/>
              <a:ea typeface="宋体" pitchFamily="2" charset="-122"/>
            </a:endParaRPr>
          </a:p>
          <a:p>
            <a:pPr marL="0" indent="0">
              <a:buNone/>
            </a:pPr>
            <a:endParaRPr lang="en-US" altLang="zh-CN" sz="2000" dirty="0">
              <a:latin typeface="宋体" pitchFamily="2" charset="-122"/>
              <a:ea typeface="宋体" pitchFamily="2" charset="-122"/>
            </a:endParaRPr>
          </a:p>
          <a:p>
            <a:pPr marL="0" indent="0">
              <a:buNone/>
            </a:pPr>
            <a:r>
              <a:rPr lang="zh-CN" altLang="en-US" sz="2000" dirty="0">
                <a:latin typeface="宋体" pitchFamily="2" charset="-122"/>
                <a:ea typeface="宋体" pitchFamily="2" charset="-122"/>
              </a:rPr>
              <a:t>协方差阵分别为</a:t>
            </a:r>
            <a:endParaRPr lang="en-US" altLang="zh-CN" sz="2000" dirty="0">
              <a:latin typeface="宋体" pitchFamily="2" charset="-122"/>
              <a:ea typeface="宋体" pitchFamily="2" charset="-122"/>
            </a:endParaRPr>
          </a:p>
          <a:p>
            <a:pPr marL="0" indent="0">
              <a:buNone/>
            </a:pPr>
            <a:endParaRPr lang="en-US" altLang="zh-CN" sz="2000" dirty="0">
              <a:latin typeface="宋体" pitchFamily="2" charset="-122"/>
              <a:ea typeface="宋体" pitchFamily="2" charset="-122"/>
            </a:endParaRPr>
          </a:p>
          <a:p>
            <a:pPr marL="0" indent="0">
              <a:buNone/>
            </a:pPr>
            <a:r>
              <a:rPr lang="zh-CN" altLang="en-US" sz="2000" dirty="0">
                <a:latin typeface="宋体" pitchFamily="2" charset="-122"/>
                <a:ea typeface="宋体" pitchFamily="2" charset="-122"/>
              </a:rPr>
              <a:t>要求把特征从</a:t>
            </a:r>
            <a:r>
              <a:rPr lang="en-US" altLang="zh-CN" sz="2000" dirty="0">
                <a:latin typeface="宋体" pitchFamily="2" charset="-122"/>
                <a:ea typeface="宋体" pitchFamily="2" charset="-122"/>
              </a:rPr>
              <a:t>2</a:t>
            </a:r>
            <a:r>
              <a:rPr lang="zh-CN" altLang="en-US" sz="2000" dirty="0">
                <a:latin typeface="宋体" pitchFamily="2" charset="-122"/>
                <a:ea typeface="宋体" pitchFamily="2" charset="-122"/>
              </a:rPr>
              <a:t>维压缩到</a:t>
            </a:r>
            <a:r>
              <a:rPr lang="en-US" altLang="zh-CN" sz="2000" dirty="0">
                <a:latin typeface="宋体" pitchFamily="2" charset="-122"/>
                <a:ea typeface="宋体" pitchFamily="2" charset="-122"/>
              </a:rPr>
              <a:t>1</a:t>
            </a:r>
            <a:r>
              <a:rPr lang="zh-CN" altLang="en-US" sz="2000" dirty="0">
                <a:latin typeface="宋体" pitchFamily="2" charset="-122"/>
                <a:ea typeface="宋体" pitchFamily="2" charset="-122"/>
              </a:rPr>
              <a:t>维。</a:t>
            </a:r>
            <a:endParaRPr lang="en-US" altLang="zh-CN" sz="2000" dirty="0">
              <a:latin typeface="宋体" pitchFamily="2" charset="-122"/>
              <a:ea typeface="宋体" pitchFamily="2" charset="-122"/>
            </a:endParaRPr>
          </a:p>
          <a:p>
            <a:pPr marL="0" indent="0">
              <a:buNone/>
            </a:pPr>
            <a:r>
              <a:rPr lang="zh-CN" altLang="en-US" sz="2000" dirty="0">
                <a:solidFill>
                  <a:srgbClr val="0000FF"/>
                </a:solidFill>
                <a:latin typeface="宋体" pitchFamily="2" charset="-122"/>
                <a:ea typeface="宋体" pitchFamily="2" charset="-122"/>
              </a:rPr>
              <a:t>解答：</a:t>
            </a:r>
            <a:r>
              <a:rPr lang="zh-CN" altLang="en-US" sz="2000" dirty="0">
                <a:latin typeface="宋体" pitchFamily="2" charset="-122"/>
                <a:ea typeface="宋体" pitchFamily="2" charset="-122"/>
              </a:rPr>
              <a:t>首先求</a:t>
            </a:r>
            <a:r>
              <a:rPr lang="en-US" altLang="zh-CN" sz="2000" i="1" dirty="0">
                <a:latin typeface="Times New Roman" panose="02020603050405020304" pitchFamily="18" charset="0"/>
                <a:ea typeface="宋体" pitchFamily="2" charset="-122"/>
                <a:cs typeface="Times New Roman" panose="02020603050405020304" pitchFamily="18" charset="0"/>
              </a:rPr>
              <a:t>S</a:t>
            </a:r>
            <a:r>
              <a:rPr lang="en-US" altLang="zh-CN" sz="2000" i="1" baseline="-25000" dirty="0">
                <a:latin typeface="Times New Roman" panose="02020603050405020304" pitchFamily="18" charset="0"/>
                <a:ea typeface="宋体" pitchFamily="2" charset="-122"/>
                <a:cs typeface="Times New Roman" panose="02020603050405020304" pitchFamily="18" charset="0"/>
              </a:rPr>
              <a:t>W</a:t>
            </a:r>
            <a:r>
              <a:rPr lang="zh-CN" altLang="en-US" sz="2000" i="1" baseline="-25000" dirty="0">
                <a:latin typeface="Times New Roman" panose="02020603050405020304" pitchFamily="18" charset="0"/>
                <a:ea typeface="宋体" pitchFamily="2" charset="-122"/>
                <a:cs typeface="Times New Roman" panose="02020603050405020304" pitchFamily="18" charset="0"/>
              </a:rPr>
              <a:t>，</a:t>
            </a:r>
            <a:endParaRPr lang="en-US" altLang="zh-CN" sz="2000" dirty="0">
              <a:latin typeface="宋体" pitchFamily="2" charset="-122"/>
              <a:ea typeface="宋体" pitchFamily="2" charset="-122"/>
            </a:endParaRPr>
          </a:p>
          <a:p>
            <a:pPr marL="0" indent="0">
              <a:buNone/>
            </a:pPr>
            <a:endParaRPr lang="zh-CN" altLang="en-US" sz="2400" dirty="0">
              <a:latin typeface="宋体" pitchFamily="2" charset="-122"/>
              <a:ea typeface="宋体" pitchFamily="2" charset="-122"/>
            </a:endParaRPr>
          </a:p>
          <a:p>
            <a:pPr marL="0" indent="0">
              <a:buNone/>
            </a:pPr>
            <a:r>
              <a:rPr lang="zh-CN" altLang="en-US" sz="2000" dirty="0">
                <a:latin typeface="宋体" pitchFamily="2" charset="-122"/>
                <a:ea typeface="宋体" pitchFamily="2" charset="-122"/>
              </a:rPr>
              <a:t>求其特征值对角阵和特征向量矩阵为</a:t>
            </a:r>
            <a:r>
              <a:rPr lang="zh-CN" altLang="en-US" sz="2400" dirty="0">
                <a:latin typeface="宋体" pitchFamily="2" charset="-122"/>
                <a:ea typeface="宋体" pitchFamily="2" charset="-122"/>
              </a:rPr>
              <a:t>：</a:t>
            </a:r>
            <a:endParaRPr lang="en-US" altLang="zh-CN" sz="2400" dirty="0">
              <a:latin typeface="宋体" pitchFamily="2" charset="-122"/>
              <a:ea typeface="宋体" pitchFamily="2" charset="-122"/>
            </a:endParaRPr>
          </a:p>
          <a:p>
            <a:pPr marL="0" indent="0">
              <a:buNone/>
            </a:pPr>
            <a:endParaRPr lang="en-US" altLang="zh-CN" sz="2400" dirty="0">
              <a:latin typeface="宋体" pitchFamily="2" charset="-122"/>
              <a:ea typeface="宋体" pitchFamily="2" charset="-122"/>
            </a:endParaRPr>
          </a:p>
          <a:p>
            <a:pPr marL="0" indent="0">
              <a:buNone/>
            </a:pPr>
            <a:r>
              <a:rPr lang="zh-CN" altLang="en-US" sz="2000" dirty="0">
                <a:latin typeface="宋体" pitchFamily="2" charset="-122"/>
                <a:ea typeface="宋体" pitchFamily="2" charset="-122"/>
              </a:rPr>
              <a:t>再求</a:t>
            </a:r>
            <a:r>
              <a:rPr lang="en-US" altLang="zh-CN" sz="2000" i="1" dirty="0">
                <a:latin typeface="Times New Roman" panose="02020603050405020304" pitchFamily="18" charset="0"/>
                <a:ea typeface="宋体" pitchFamily="2" charset="-122"/>
                <a:cs typeface="Times New Roman" panose="02020603050405020304" pitchFamily="18" charset="0"/>
              </a:rPr>
              <a:t>S</a:t>
            </a:r>
            <a:r>
              <a:rPr lang="en-US" altLang="zh-CN" sz="2000" i="1" baseline="-25000" dirty="0">
                <a:latin typeface="Times New Roman" panose="02020603050405020304" pitchFamily="18" charset="0"/>
                <a:ea typeface="宋体" pitchFamily="2" charset="-122"/>
                <a:cs typeface="Times New Roman" panose="02020603050405020304" pitchFamily="18" charset="0"/>
              </a:rPr>
              <a:t>B</a:t>
            </a:r>
            <a:r>
              <a:rPr lang="zh-CN" altLang="en-US" sz="2000" i="1" baseline="-25000" dirty="0">
                <a:latin typeface="Times New Roman" panose="02020603050405020304" pitchFamily="18" charset="0"/>
                <a:ea typeface="宋体" pitchFamily="2" charset="-122"/>
                <a:cs typeface="Times New Roman" panose="02020603050405020304" pitchFamily="18" charset="0"/>
              </a:rPr>
              <a:t>，</a:t>
            </a:r>
            <a:endParaRPr lang="en-US" altLang="zh-CN" sz="2000" i="1" baseline="-25000" dirty="0">
              <a:latin typeface="Times New Roman" panose="02020603050405020304" pitchFamily="18" charset="0"/>
              <a:ea typeface="宋体" pitchFamily="2" charset="-122"/>
              <a:cs typeface="Times New Roman" panose="02020603050405020304" pitchFamily="18" charset="0"/>
            </a:endParaRPr>
          </a:p>
          <a:p>
            <a:pPr marL="0" indent="0">
              <a:buNone/>
            </a:pPr>
            <a:endParaRPr lang="en-US" altLang="zh-CN" sz="2000" i="1" baseline="-25000" dirty="0">
              <a:latin typeface="Times New Roman" panose="02020603050405020304" pitchFamily="18" charset="0"/>
              <a:ea typeface="宋体" pitchFamily="2" charset="-122"/>
              <a:cs typeface="Times New Roman" panose="02020603050405020304" pitchFamily="18" charset="0"/>
            </a:endParaRPr>
          </a:p>
          <a:p>
            <a:pPr marL="0" indent="0">
              <a:buNone/>
            </a:pPr>
            <a:r>
              <a:rPr lang="zh-CN" altLang="en-US" sz="2000" dirty="0">
                <a:latin typeface="宋体" pitchFamily="2" charset="-122"/>
                <a:ea typeface="宋体" pitchFamily="2" charset="-122"/>
              </a:rPr>
              <a:t>计算得</a:t>
            </a:r>
            <a:r>
              <a:rPr lang="en-US" altLang="zh-CN" sz="2000" i="1" dirty="0">
                <a:latin typeface="Times New Roman" panose="02020603050405020304" pitchFamily="18" charset="0"/>
                <a:ea typeface="宋体" pitchFamily="2" charset="-122"/>
                <a:cs typeface="Times New Roman" panose="02020603050405020304" pitchFamily="18" charset="0"/>
              </a:rPr>
              <a:t>J</a:t>
            </a:r>
            <a:r>
              <a:rPr lang="en-US" altLang="zh-CN" sz="2000" dirty="0">
                <a:latin typeface="宋体" pitchFamily="2" charset="-122"/>
                <a:ea typeface="宋体" pitchFamily="2" charset="-122"/>
              </a:rPr>
              <a:t>(</a:t>
            </a:r>
            <a:r>
              <a:rPr lang="en-US" altLang="zh-CN" sz="2000" i="1" dirty="0">
                <a:latin typeface="Times New Roman" panose="02020603050405020304" pitchFamily="18" charset="0"/>
                <a:ea typeface="宋体" pitchFamily="2" charset="-122"/>
                <a:cs typeface="Times New Roman" panose="02020603050405020304" pitchFamily="18" charset="0"/>
              </a:rPr>
              <a:t>y</a:t>
            </a:r>
            <a:r>
              <a:rPr lang="en-US" altLang="zh-CN" sz="2000" i="1" baseline="-25000" dirty="0">
                <a:latin typeface="Times New Roman" panose="02020603050405020304" pitchFamily="18" charset="0"/>
                <a:ea typeface="宋体" pitchFamily="2" charset="-122"/>
                <a:cs typeface="Times New Roman" panose="02020603050405020304" pitchFamily="18" charset="0"/>
              </a:rPr>
              <a:t>1</a:t>
            </a:r>
            <a:r>
              <a:rPr lang="en-US" altLang="zh-CN" sz="2000" dirty="0">
                <a:latin typeface="宋体" pitchFamily="2" charset="-122"/>
                <a:ea typeface="宋体" pitchFamily="2" charset="-122"/>
              </a:rPr>
              <a:t>)=3.6, </a:t>
            </a:r>
            <a:r>
              <a:rPr lang="en-US" altLang="zh-CN" sz="2000" i="1" dirty="0">
                <a:latin typeface="Times New Roman" panose="02020603050405020304" pitchFamily="18" charset="0"/>
                <a:ea typeface="宋体" pitchFamily="2" charset="-122"/>
                <a:cs typeface="Times New Roman" panose="02020603050405020304" pitchFamily="18" charset="0"/>
              </a:rPr>
              <a:t>J</a:t>
            </a:r>
            <a:r>
              <a:rPr lang="en-US" altLang="zh-CN" sz="2000" dirty="0">
                <a:latin typeface="宋体" pitchFamily="2" charset="-122"/>
                <a:ea typeface="宋体" pitchFamily="2" charset="-122"/>
              </a:rPr>
              <a:t>(</a:t>
            </a:r>
            <a:r>
              <a:rPr lang="en-US" altLang="zh-CN" sz="2000" i="1" dirty="0">
                <a:latin typeface="Times New Roman" panose="02020603050405020304" pitchFamily="18" charset="0"/>
                <a:ea typeface="宋体" pitchFamily="2" charset="-122"/>
                <a:cs typeface="Times New Roman" panose="02020603050405020304" pitchFamily="18" charset="0"/>
              </a:rPr>
              <a:t>y</a:t>
            </a:r>
            <a:r>
              <a:rPr lang="en-US" altLang="zh-CN" sz="2000" i="1" baseline="-25000" dirty="0">
                <a:latin typeface="Times New Roman" panose="02020603050405020304" pitchFamily="18" charset="0"/>
                <a:ea typeface="宋体" pitchFamily="2" charset="-122"/>
                <a:cs typeface="Times New Roman" panose="02020603050405020304" pitchFamily="18" charset="0"/>
              </a:rPr>
              <a:t>2</a:t>
            </a:r>
            <a:r>
              <a:rPr lang="en-US" altLang="zh-CN" sz="2000" dirty="0">
                <a:latin typeface="宋体" pitchFamily="2" charset="-122"/>
                <a:ea typeface="宋体" pitchFamily="2" charset="-122"/>
              </a:rPr>
              <a:t>)=1</a:t>
            </a:r>
            <a:r>
              <a:rPr lang="zh-CN" altLang="en-US" sz="2000" dirty="0">
                <a:latin typeface="宋体" pitchFamily="2" charset="-122"/>
                <a:ea typeface="宋体" pitchFamily="2" charset="-122"/>
              </a:rPr>
              <a:t>。</a:t>
            </a:r>
            <a:r>
              <a:rPr lang="en-US" altLang="zh-CN" sz="2000" i="1" dirty="0">
                <a:latin typeface="Times New Roman" panose="02020603050405020304" pitchFamily="18" charset="0"/>
                <a:ea typeface="宋体" pitchFamily="2" charset="-122"/>
                <a:cs typeface="Times New Roman" panose="02020603050405020304" pitchFamily="18" charset="0"/>
              </a:rPr>
              <a:t> J</a:t>
            </a:r>
            <a:r>
              <a:rPr lang="en-US" altLang="zh-CN" sz="2000" dirty="0">
                <a:latin typeface="宋体" pitchFamily="2" charset="-122"/>
                <a:ea typeface="宋体" pitchFamily="2" charset="-122"/>
              </a:rPr>
              <a:t>(</a:t>
            </a:r>
            <a:r>
              <a:rPr lang="en-US" altLang="zh-CN" sz="2000" i="1" dirty="0">
                <a:latin typeface="Times New Roman" panose="02020603050405020304" pitchFamily="18" charset="0"/>
                <a:ea typeface="宋体" pitchFamily="2" charset="-122"/>
                <a:cs typeface="Times New Roman" panose="02020603050405020304" pitchFamily="18" charset="0"/>
              </a:rPr>
              <a:t>y</a:t>
            </a:r>
            <a:r>
              <a:rPr lang="en-US" altLang="zh-CN" sz="2000" i="1" baseline="-25000" dirty="0">
                <a:latin typeface="Times New Roman" panose="02020603050405020304" pitchFamily="18" charset="0"/>
                <a:ea typeface="宋体" pitchFamily="2" charset="-122"/>
                <a:cs typeface="Times New Roman" panose="02020603050405020304" pitchFamily="18" charset="0"/>
              </a:rPr>
              <a:t>1</a:t>
            </a:r>
            <a:r>
              <a:rPr lang="en-US" altLang="zh-CN" sz="2000" dirty="0">
                <a:latin typeface="宋体" pitchFamily="2" charset="-122"/>
                <a:ea typeface="宋体" pitchFamily="2" charset="-122"/>
              </a:rPr>
              <a:t>)&gt;</a:t>
            </a:r>
            <a:r>
              <a:rPr lang="en-US" altLang="zh-CN" sz="2000" i="1" dirty="0">
                <a:latin typeface="Times New Roman" panose="02020603050405020304" pitchFamily="18" charset="0"/>
                <a:ea typeface="宋体" pitchFamily="2" charset="-122"/>
                <a:cs typeface="Times New Roman" panose="02020603050405020304" pitchFamily="18" charset="0"/>
              </a:rPr>
              <a:t> J</a:t>
            </a:r>
            <a:r>
              <a:rPr lang="en-US" altLang="zh-CN" sz="2000" dirty="0">
                <a:latin typeface="宋体" pitchFamily="2" charset="-122"/>
                <a:ea typeface="宋体" pitchFamily="2" charset="-122"/>
              </a:rPr>
              <a:t>(</a:t>
            </a:r>
            <a:r>
              <a:rPr lang="en-US" altLang="zh-CN" sz="2000" i="1" dirty="0">
                <a:latin typeface="Times New Roman" panose="02020603050405020304" pitchFamily="18" charset="0"/>
                <a:ea typeface="宋体" pitchFamily="2" charset="-122"/>
                <a:cs typeface="Times New Roman" panose="02020603050405020304" pitchFamily="18" charset="0"/>
              </a:rPr>
              <a:t>y</a:t>
            </a:r>
            <a:r>
              <a:rPr lang="en-US" altLang="zh-CN" sz="2000" i="1" baseline="-25000" dirty="0">
                <a:latin typeface="Times New Roman" panose="02020603050405020304" pitchFamily="18" charset="0"/>
                <a:ea typeface="宋体" pitchFamily="2" charset="-122"/>
                <a:cs typeface="Times New Roman" panose="02020603050405020304" pitchFamily="18" charset="0"/>
              </a:rPr>
              <a:t>2</a:t>
            </a:r>
            <a:r>
              <a:rPr lang="en-US" altLang="zh-CN" sz="2000" dirty="0">
                <a:latin typeface="宋体" pitchFamily="2" charset="-122"/>
                <a:ea typeface="宋体" pitchFamily="2" charset="-122"/>
              </a:rPr>
              <a:t>)</a:t>
            </a:r>
          </a:p>
          <a:p>
            <a:pPr marL="0" indent="0">
              <a:buNone/>
            </a:pPr>
            <a:endParaRPr lang="en-US" altLang="zh-CN" sz="2000" dirty="0">
              <a:latin typeface="宋体" pitchFamily="2" charset="-122"/>
              <a:ea typeface="宋体" pitchFamily="2" charset="-122"/>
            </a:endParaRPr>
          </a:p>
          <a:p>
            <a:pPr marL="0" indent="0">
              <a:buNone/>
            </a:pPr>
            <a:r>
              <a:rPr lang="zh-CN" altLang="en-US" sz="2000" dirty="0">
                <a:latin typeface="宋体" pitchFamily="2" charset="-122"/>
                <a:ea typeface="宋体" pitchFamily="2" charset="-122"/>
              </a:rPr>
              <a:t>因此选                 作为一维特征空间的坐标轴。</a:t>
            </a:r>
            <a:endParaRPr lang="en-US" altLang="zh-CN" sz="2000" dirty="0">
              <a:latin typeface="宋体" pitchFamily="2" charset="-122"/>
              <a:ea typeface="宋体" pitchFamily="2" charset="-122"/>
            </a:endParaRPr>
          </a:p>
          <a:p>
            <a:pPr marL="0" indent="0">
              <a:buNone/>
            </a:pPr>
            <a:endParaRPr lang="en-US" altLang="zh-CN" sz="2000" dirty="0">
              <a:latin typeface="宋体" pitchFamily="2" charset="-122"/>
              <a:ea typeface="宋体" pitchFamily="2" charset="-122"/>
            </a:endParaRPr>
          </a:p>
          <a:p>
            <a:pPr marL="0" indent="0">
              <a:buNone/>
            </a:pPr>
            <a:endParaRPr lang="zh-CN" altLang="en-US" sz="2400" dirty="0">
              <a:latin typeface="宋体" pitchFamily="2" charset="-122"/>
              <a:ea typeface="宋体"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33</a:t>
            </a:fld>
            <a:endParaRPr lang="en-US" altLang="zh-CN" dirty="0"/>
          </a:p>
        </p:txBody>
      </p:sp>
      <p:graphicFrame>
        <p:nvGraphicFramePr>
          <p:cNvPr id="5" name="对象 4"/>
          <p:cNvGraphicFramePr>
            <a:graphicFrameLocks noChangeAspect="1"/>
          </p:cNvGraphicFramePr>
          <p:nvPr/>
        </p:nvGraphicFramePr>
        <p:xfrm>
          <a:off x="2279576" y="1363983"/>
          <a:ext cx="2708895" cy="390471"/>
        </p:xfrm>
        <a:graphic>
          <a:graphicData uri="http://schemas.openxmlformats.org/presentationml/2006/ole">
            <mc:AlternateContent xmlns:mc="http://schemas.openxmlformats.org/markup-compatibility/2006">
              <mc:Choice xmlns:v="urn:schemas-microsoft-com:vml" Requires="v">
                <p:oleObj spid="_x0000_s363756" name="Equation" r:id="rId3" imgW="1676160" imgH="241200" progId="Equation.DSMT4">
                  <p:embed/>
                </p:oleObj>
              </mc:Choice>
              <mc:Fallback>
                <p:oleObj name="Equation" r:id="rId3" imgW="1676160" imgH="241200" progId="Equation.DSMT4">
                  <p:embed/>
                  <p:pic>
                    <p:nvPicPr>
                      <p:cNvPr id="5" name="对象 4"/>
                      <p:cNvPicPr>
                        <a:picLocks noChangeAspect="1" noChangeArrowheads="1"/>
                      </p:cNvPicPr>
                      <p:nvPr/>
                    </p:nvPicPr>
                    <p:blipFill>
                      <a:blip r:embed="rId4"/>
                      <a:srcRect/>
                      <a:stretch>
                        <a:fillRect/>
                      </a:stretch>
                    </p:blipFill>
                    <p:spPr bwMode="auto">
                      <a:xfrm>
                        <a:off x="2279576" y="1363983"/>
                        <a:ext cx="2708895" cy="390471"/>
                      </a:xfrm>
                      <a:prstGeom prst="rect">
                        <a:avLst/>
                      </a:prstGeom>
                      <a:noFill/>
                    </p:spPr>
                  </p:pic>
                </p:oleObj>
              </mc:Fallback>
            </mc:AlternateContent>
          </a:graphicData>
        </a:graphic>
      </p:graphicFrame>
      <p:sp>
        <p:nvSpPr>
          <p:cNvPr id="6"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2736388871"/>
              </p:ext>
            </p:extLst>
          </p:nvPr>
        </p:nvGraphicFramePr>
        <p:xfrm>
          <a:off x="2714526" y="1754251"/>
          <a:ext cx="3453482" cy="823338"/>
        </p:xfrm>
        <a:graphic>
          <a:graphicData uri="http://schemas.openxmlformats.org/presentationml/2006/ole">
            <mc:AlternateContent xmlns:mc="http://schemas.openxmlformats.org/markup-compatibility/2006">
              <mc:Choice xmlns:v="urn:schemas-microsoft-com:vml" Requires="v">
                <p:oleObj spid="_x0000_s363757" name="Equation" r:id="rId5" imgW="1828800" imgH="457200" progId="Equation.DSMT4">
                  <p:embed/>
                </p:oleObj>
              </mc:Choice>
              <mc:Fallback>
                <p:oleObj name="Equation" r:id="rId5" imgW="1828800" imgH="457200" progId="Equation.DSMT4">
                  <p:embed/>
                  <p:pic>
                    <p:nvPicPr>
                      <p:cNvPr id="8" name="对象 7"/>
                      <p:cNvPicPr>
                        <a:picLocks noChangeAspect="1" noChangeArrowheads="1"/>
                      </p:cNvPicPr>
                      <p:nvPr/>
                    </p:nvPicPr>
                    <p:blipFill>
                      <a:blip r:embed="rId6"/>
                      <a:srcRect/>
                      <a:stretch>
                        <a:fillRect/>
                      </a:stretch>
                    </p:blipFill>
                    <p:spPr bwMode="auto">
                      <a:xfrm>
                        <a:off x="2714526" y="1754251"/>
                        <a:ext cx="3453482" cy="823338"/>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86277092"/>
              </p:ext>
            </p:extLst>
          </p:nvPr>
        </p:nvGraphicFramePr>
        <p:xfrm>
          <a:off x="2527385" y="2793181"/>
          <a:ext cx="3478212" cy="823913"/>
        </p:xfrm>
        <a:graphic>
          <a:graphicData uri="http://schemas.openxmlformats.org/presentationml/2006/ole">
            <mc:AlternateContent xmlns:mc="http://schemas.openxmlformats.org/markup-compatibility/2006">
              <mc:Choice xmlns:v="urn:schemas-microsoft-com:vml" Requires="v">
                <p:oleObj spid="_x0000_s363758" name="Equation" r:id="rId7" imgW="1841400" imgH="457200" progId="Equation.DSMT4">
                  <p:embed/>
                </p:oleObj>
              </mc:Choice>
              <mc:Fallback>
                <p:oleObj name="Equation" r:id="rId7" imgW="1841400" imgH="457200" progId="Equation.DSMT4">
                  <p:embed/>
                  <p:pic>
                    <p:nvPicPr>
                      <p:cNvPr id="12" name="对象 11"/>
                      <p:cNvPicPr>
                        <a:picLocks noChangeAspect="1" noChangeArrowheads="1"/>
                      </p:cNvPicPr>
                      <p:nvPr/>
                    </p:nvPicPr>
                    <p:blipFill>
                      <a:blip r:embed="rId8"/>
                      <a:srcRect/>
                      <a:stretch>
                        <a:fillRect/>
                      </a:stretch>
                    </p:blipFill>
                    <p:spPr bwMode="auto">
                      <a:xfrm>
                        <a:off x="2527385" y="2793181"/>
                        <a:ext cx="3478212" cy="823913"/>
                      </a:xfrm>
                      <a:prstGeom prst="rect">
                        <a:avLst/>
                      </a:prstGeom>
                      <a:noFill/>
                    </p:spPr>
                  </p:pic>
                </p:oleObj>
              </mc:Fallback>
            </mc:AlternateContent>
          </a:graphicData>
        </a:graphic>
      </p:graphicFrame>
      <p:graphicFrame>
        <p:nvGraphicFramePr>
          <p:cNvPr id="13" name="对象 12"/>
          <p:cNvGraphicFramePr>
            <a:graphicFrameLocks noChangeAspect="1"/>
          </p:cNvGraphicFramePr>
          <p:nvPr/>
        </p:nvGraphicFramePr>
        <p:xfrm>
          <a:off x="4685854" y="3589059"/>
          <a:ext cx="1224136" cy="724432"/>
        </p:xfrm>
        <a:graphic>
          <a:graphicData uri="http://schemas.openxmlformats.org/presentationml/2006/ole">
            <mc:AlternateContent xmlns:mc="http://schemas.openxmlformats.org/markup-compatibility/2006">
              <mc:Choice xmlns:v="urn:schemas-microsoft-com:vml" Requires="v">
                <p:oleObj spid="_x0000_s363759" name="Equation" r:id="rId9" imgW="736560" imgH="457200" progId="Equation.DSMT4">
                  <p:embed/>
                </p:oleObj>
              </mc:Choice>
              <mc:Fallback>
                <p:oleObj name="Equation" r:id="rId9" imgW="736560" imgH="457200" progId="Equation.DSMT4">
                  <p:embed/>
                  <p:pic>
                    <p:nvPicPr>
                      <p:cNvPr id="13" name="对象 12"/>
                      <p:cNvPicPr>
                        <a:picLocks noChangeAspect="1" noChangeArrowheads="1"/>
                      </p:cNvPicPr>
                      <p:nvPr/>
                    </p:nvPicPr>
                    <p:blipFill>
                      <a:blip r:embed="rId10"/>
                      <a:srcRect/>
                      <a:stretch>
                        <a:fillRect/>
                      </a:stretch>
                    </p:blipFill>
                    <p:spPr bwMode="auto">
                      <a:xfrm>
                        <a:off x="4685854" y="3589059"/>
                        <a:ext cx="1224136" cy="724432"/>
                      </a:xfrm>
                      <a:prstGeom prst="rect">
                        <a:avLst/>
                      </a:prstGeom>
                      <a:noFill/>
                    </p:spPr>
                  </p:pic>
                </p:oleObj>
              </mc:Fallback>
            </mc:AlternateContent>
          </a:graphicData>
        </a:graphic>
      </p:graphicFrame>
      <p:graphicFrame>
        <p:nvGraphicFramePr>
          <p:cNvPr id="14" name="对象 13"/>
          <p:cNvGraphicFramePr>
            <a:graphicFrameLocks noChangeAspect="1"/>
          </p:cNvGraphicFramePr>
          <p:nvPr/>
        </p:nvGraphicFramePr>
        <p:xfrm>
          <a:off x="6168008" y="3558267"/>
          <a:ext cx="2376264" cy="755224"/>
        </p:xfrm>
        <a:graphic>
          <a:graphicData uri="http://schemas.openxmlformats.org/presentationml/2006/ole">
            <mc:AlternateContent xmlns:mc="http://schemas.openxmlformats.org/markup-compatibility/2006">
              <mc:Choice xmlns:v="urn:schemas-microsoft-com:vml" Requires="v">
                <p:oleObj spid="_x0000_s363760" name="Equation" r:id="rId11" imgW="1371600" imgH="457200" progId="Equation.DSMT4">
                  <p:embed/>
                </p:oleObj>
              </mc:Choice>
              <mc:Fallback>
                <p:oleObj name="Equation" r:id="rId11" imgW="1371600" imgH="457200" progId="Equation.DSMT4">
                  <p:embed/>
                  <p:pic>
                    <p:nvPicPr>
                      <p:cNvPr id="14" name="对象 13"/>
                      <p:cNvPicPr>
                        <a:picLocks noChangeAspect="1" noChangeArrowheads="1"/>
                      </p:cNvPicPr>
                      <p:nvPr/>
                    </p:nvPicPr>
                    <p:blipFill>
                      <a:blip r:embed="rId12"/>
                      <a:srcRect/>
                      <a:stretch>
                        <a:fillRect/>
                      </a:stretch>
                    </p:blipFill>
                    <p:spPr bwMode="auto">
                      <a:xfrm>
                        <a:off x="6168008" y="3558267"/>
                        <a:ext cx="2376264" cy="755224"/>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798838245"/>
              </p:ext>
            </p:extLst>
          </p:nvPr>
        </p:nvGraphicFramePr>
        <p:xfrm>
          <a:off x="1389406" y="4324726"/>
          <a:ext cx="4649593" cy="763893"/>
        </p:xfrm>
        <a:graphic>
          <a:graphicData uri="http://schemas.openxmlformats.org/presentationml/2006/ole">
            <mc:AlternateContent xmlns:mc="http://schemas.openxmlformats.org/markup-compatibility/2006">
              <mc:Choice xmlns:v="urn:schemas-microsoft-com:vml" Requires="v">
                <p:oleObj spid="_x0000_s363761" name="Equation" r:id="rId13" imgW="2654280" imgH="457200" progId="Equation.DSMT4">
                  <p:embed/>
                </p:oleObj>
              </mc:Choice>
              <mc:Fallback>
                <p:oleObj name="Equation" r:id="rId13" imgW="2654280" imgH="457200" progId="Equation.DSMT4">
                  <p:embed/>
                  <p:pic>
                    <p:nvPicPr>
                      <p:cNvPr id="15" name="对象 14"/>
                      <p:cNvPicPr>
                        <a:picLocks noChangeAspect="1" noChangeArrowheads="1"/>
                      </p:cNvPicPr>
                      <p:nvPr/>
                    </p:nvPicPr>
                    <p:blipFill>
                      <a:blip r:embed="rId14"/>
                      <a:srcRect/>
                      <a:stretch>
                        <a:fillRect/>
                      </a:stretch>
                    </p:blipFill>
                    <p:spPr bwMode="auto">
                      <a:xfrm>
                        <a:off x="1389406" y="4324726"/>
                        <a:ext cx="4649593" cy="763893"/>
                      </a:xfrm>
                      <a:prstGeom prst="rect">
                        <a:avLst/>
                      </a:prstGeom>
                      <a:noFill/>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3173965221"/>
              </p:ext>
            </p:extLst>
          </p:nvPr>
        </p:nvGraphicFramePr>
        <p:xfrm>
          <a:off x="1271464" y="5859834"/>
          <a:ext cx="1949450" cy="390525"/>
        </p:xfrm>
        <a:graphic>
          <a:graphicData uri="http://schemas.openxmlformats.org/presentationml/2006/ole">
            <mc:AlternateContent xmlns:mc="http://schemas.openxmlformats.org/markup-compatibility/2006">
              <mc:Choice xmlns:v="urn:schemas-microsoft-com:vml" Requires="v">
                <p:oleObj spid="_x0000_s363762" name="Equation" r:id="rId15" imgW="1206360" imgH="241200" progId="Equation.DSMT4">
                  <p:embed/>
                </p:oleObj>
              </mc:Choice>
              <mc:Fallback>
                <p:oleObj name="Equation" r:id="rId15" imgW="1206360" imgH="241200" progId="Equation.DSMT4">
                  <p:embed/>
                  <p:pic>
                    <p:nvPicPr>
                      <p:cNvPr id="16" name="对象 15"/>
                      <p:cNvPicPr>
                        <a:picLocks noChangeAspect="1" noChangeArrowheads="1"/>
                      </p:cNvPicPr>
                      <p:nvPr/>
                    </p:nvPicPr>
                    <p:blipFill>
                      <a:blip r:embed="rId16"/>
                      <a:srcRect/>
                      <a:stretch>
                        <a:fillRect/>
                      </a:stretch>
                    </p:blipFill>
                    <p:spPr bwMode="auto">
                      <a:xfrm>
                        <a:off x="1271464" y="5859834"/>
                        <a:ext cx="1949450" cy="390525"/>
                      </a:xfrm>
                      <a:prstGeom prst="rect">
                        <a:avLst/>
                      </a:prstGeom>
                      <a:noFill/>
                    </p:spPr>
                  </p:pic>
                </p:oleObj>
              </mc:Fallback>
            </mc:AlternateContent>
          </a:graphicData>
        </a:graphic>
      </p:graphicFrame>
      <p:pic>
        <p:nvPicPr>
          <p:cNvPr id="11" name="图片 10"/>
          <p:cNvPicPr>
            <a:picLocks noChangeAspect="1"/>
          </p:cNvPicPr>
          <p:nvPr/>
        </p:nvPicPr>
        <p:blipFill>
          <a:blip r:embed="rId17"/>
          <a:stretch>
            <a:fillRect/>
          </a:stretch>
        </p:blipFill>
        <p:spPr>
          <a:xfrm>
            <a:off x="8472264" y="1736848"/>
            <a:ext cx="3086428" cy="2287264"/>
          </a:xfrm>
          <a:prstGeom prst="rect">
            <a:avLst/>
          </a:prstGeom>
        </p:spPr>
      </p:pic>
      <p:graphicFrame>
        <p:nvGraphicFramePr>
          <p:cNvPr id="17" name="Object 5"/>
          <p:cNvGraphicFramePr>
            <a:graphicFrameLocks noChangeAspect="1"/>
          </p:cNvGraphicFramePr>
          <p:nvPr>
            <p:extLst>
              <p:ext uri="{D42A27DB-BD31-4B8C-83A1-F6EECF244321}">
                <p14:modId xmlns:p14="http://schemas.microsoft.com/office/powerpoint/2010/main" val="748717475"/>
              </p:ext>
            </p:extLst>
          </p:nvPr>
        </p:nvGraphicFramePr>
        <p:xfrm>
          <a:off x="9324104" y="4406634"/>
          <a:ext cx="1092200" cy="600075"/>
        </p:xfrm>
        <a:graphic>
          <a:graphicData uri="http://schemas.openxmlformats.org/presentationml/2006/ole">
            <mc:AlternateContent xmlns:mc="http://schemas.openxmlformats.org/markup-compatibility/2006">
              <mc:Choice xmlns:v="urn:schemas-microsoft-com:vml" Requires="v">
                <p:oleObj spid="_x0000_s363763" name="Equation" r:id="rId18" imgW="787320" imgH="431640" progId="Equation.DSMT4">
                  <p:embed/>
                </p:oleObj>
              </mc:Choice>
              <mc:Fallback>
                <p:oleObj name="Equation" r:id="rId18" imgW="787320" imgH="431640" progId="Equation.DSMT4">
                  <p:embed/>
                  <p:pic>
                    <p:nvPicPr>
                      <p:cNvPr id="17" name="Object 5"/>
                      <p:cNvPicPr>
                        <a:picLocks noChangeAspect="1" noChangeArrowheads="1"/>
                      </p:cNvPicPr>
                      <p:nvPr/>
                    </p:nvPicPr>
                    <p:blipFill>
                      <a:blip r:embed="rId19"/>
                      <a:srcRect/>
                      <a:stretch>
                        <a:fillRect/>
                      </a:stretch>
                    </p:blipFill>
                    <p:spPr bwMode="auto">
                      <a:xfrm>
                        <a:off x="9324104" y="4406634"/>
                        <a:ext cx="1092200" cy="6000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4"/>
          <p:cNvGraphicFramePr>
            <a:graphicFrameLocks noChangeAspect="1"/>
          </p:cNvGraphicFramePr>
          <p:nvPr>
            <p:extLst>
              <p:ext uri="{D42A27DB-BD31-4B8C-83A1-F6EECF244321}">
                <p14:modId xmlns:p14="http://schemas.microsoft.com/office/powerpoint/2010/main" val="592271127"/>
              </p:ext>
            </p:extLst>
          </p:nvPr>
        </p:nvGraphicFramePr>
        <p:xfrm>
          <a:off x="8531959" y="5081953"/>
          <a:ext cx="2967038" cy="639763"/>
        </p:xfrm>
        <a:graphic>
          <a:graphicData uri="http://schemas.openxmlformats.org/presentationml/2006/ole">
            <mc:AlternateContent xmlns:mc="http://schemas.openxmlformats.org/markup-compatibility/2006">
              <mc:Choice xmlns:v="urn:schemas-microsoft-com:vml" Requires="v">
                <p:oleObj spid="_x0000_s363764" name="Equation" r:id="rId20" imgW="2006280" imgH="431640" progId="Equation.DSMT4">
                  <p:embed/>
                </p:oleObj>
              </mc:Choice>
              <mc:Fallback>
                <p:oleObj name="Equation" r:id="rId20" imgW="2006280" imgH="431640" progId="Equation.DSMT4">
                  <p:embed/>
                  <p:pic>
                    <p:nvPicPr>
                      <p:cNvPr id="18" name="Object 4"/>
                      <p:cNvPicPr>
                        <a:picLocks noChangeAspect="1" noChangeArrowheads="1"/>
                      </p:cNvPicPr>
                      <p:nvPr/>
                    </p:nvPicPr>
                    <p:blipFill>
                      <a:blip r:embed="rId21"/>
                      <a:srcRect/>
                      <a:stretch>
                        <a:fillRect/>
                      </a:stretch>
                    </p:blipFill>
                    <p:spPr bwMode="auto">
                      <a:xfrm>
                        <a:off x="8531959" y="5081953"/>
                        <a:ext cx="2967038" cy="6397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p:cNvSpPr/>
          <p:nvPr/>
        </p:nvSpPr>
        <p:spPr>
          <a:xfrm>
            <a:off x="8040216" y="1078137"/>
            <a:ext cx="3659976" cy="369332"/>
          </a:xfrm>
          <a:prstGeom prst="rect">
            <a:avLst/>
          </a:prstGeom>
        </p:spPr>
        <p:txBody>
          <a:bodyPr wrap="none">
            <a:spAutoFit/>
          </a:bodyPr>
          <a:lstStyle/>
          <a:p>
            <a:r>
              <a:rPr lang="zh-CN" altLang="en-US" dirty="0">
                <a:solidFill>
                  <a:srgbClr val="FF0000"/>
                </a:solidFill>
                <a:latin typeface="黑体" panose="02010609060101010101" pitchFamily="49" charset="-122"/>
                <a:ea typeface="黑体" panose="02010609060101010101" pitchFamily="49" charset="-122"/>
              </a:rPr>
              <a:t>基于总类内离差矩阵</a:t>
            </a:r>
            <a:r>
              <a:rPr lang="en-US" altLang="zh-CN"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i="1"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W</a:t>
            </a:r>
            <a:r>
              <a:rPr lang="zh-CN" altLang="en-US" dirty="0">
                <a:solidFill>
                  <a:srgbClr val="FF0000"/>
                </a:solidFill>
                <a:latin typeface="黑体" panose="02010609060101010101" pitchFamily="49" charset="-122"/>
                <a:ea typeface="黑体" panose="02010609060101010101" pitchFamily="49" charset="-122"/>
              </a:rPr>
              <a:t>的特征提取</a:t>
            </a:r>
            <a:endParaRPr lang="zh-CN" altLang="en-US" dirty="0"/>
          </a:p>
        </p:txBody>
      </p:sp>
      <mc:AlternateContent xmlns:mc="http://schemas.openxmlformats.org/markup-compatibility/2006" xmlns:a14="http://schemas.microsoft.com/office/drawing/2010/main">
        <mc:Choice Requires="a14">
          <p:sp>
            <p:nvSpPr>
              <p:cNvPr id="19" name="矩形 18"/>
              <p:cNvSpPr/>
              <p:nvPr/>
            </p:nvSpPr>
            <p:spPr>
              <a:xfrm>
                <a:off x="9020947" y="5824265"/>
                <a:ext cx="1764586" cy="751488"/>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𝐽</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1">
                              <a:latin typeface="Cambria Math" panose="02040503050406030204" pitchFamily="18" charset="0"/>
                            </a:rPr>
                            <m:t>𝑖</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𝑢</m:t>
                              </m:r>
                            </m:e>
                            <m:sub>
                              <m:r>
                                <a:rPr lang="zh-CN" altLang="en-US" i="1">
                                  <a:latin typeface="Cambria Math" panose="02040503050406030204" pitchFamily="18" charset="0"/>
                                </a:rPr>
                                <m:t>𝑖</m:t>
                              </m:r>
                            </m:sub>
                            <m:sup>
                              <m:r>
                                <m:rPr>
                                  <m:nor/>
                                </m:rPr>
                                <a:rPr lang="zh-CN" altLang="en-US" i="1">
                                  <a:latin typeface="Cambria Math" panose="02040503050406030204" pitchFamily="18" charset="0"/>
                                </a:rPr>
                                <m:t>T</m:t>
                              </m:r>
                            </m:sup>
                          </m:sSubSup>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𝐵</m:t>
                              </m:r>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𝑢</m:t>
                              </m:r>
                            </m:e>
                            <m:sub>
                              <m:r>
                                <a:rPr lang="zh-CN" altLang="en-US" i="1">
                                  <a:latin typeface="Cambria Math" panose="02040503050406030204" pitchFamily="18" charset="0"/>
                                </a:rPr>
                                <m:t>𝑖</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𝜆</m:t>
                              </m:r>
                            </m:e>
                            <m:sub>
                              <m:r>
                                <a:rPr lang="zh-CN" altLang="en-US" i="1">
                                  <a:latin typeface="Cambria Math" panose="02040503050406030204" pitchFamily="18" charset="0"/>
                                </a:rPr>
                                <m:t>𝑖</m:t>
                              </m:r>
                            </m:sub>
                          </m:sSub>
                        </m:den>
                      </m:f>
                    </m:oMath>
                  </m:oMathPara>
                </a14:m>
                <a:endParaRPr lang="zh-CN" altLang="en-US" dirty="0"/>
              </a:p>
            </p:txBody>
          </p:sp>
        </mc:Choice>
        <mc:Fallback xmlns="">
          <p:sp>
            <p:nvSpPr>
              <p:cNvPr id="19" name="矩形 18"/>
              <p:cNvSpPr>
                <a:spLocks noRot="1" noChangeAspect="1" noMove="1" noResize="1" noEditPoints="1" noAdjustHandles="1" noChangeArrowheads="1" noChangeShapeType="1" noTextEdit="1"/>
              </p:cNvSpPr>
              <p:nvPr/>
            </p:nvSpPr>
            <p:spPr>
              <a:xfrm>
                <a:off x="9020947" y="5824265"/>
                <a:ext cx="1764586" cy="751488"/>
              </a:xfrm>
              <a:prstGeom prst="rect">
                <a:avLst/>
              </a:prstGeom>
              <a:blipFill>
                <a:blip r:embed="rId2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168009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sz="2000" dirty="0">
                <a:solidFill>
                  <a:srgbClr val="0000FF"/>
                </a:solidFill>
                <a:latin typeface="宋体" pitchFamily="2" charset="-122"/>
                <a:ea typeface="宋体" pitchFamily="2" charset="-122"/>
              </a:rPr>
              <a:t>例题</a:t>
            </a:r>
            <a:r>
              <a:rPr lang="en-US" altLang="zh-CN" sz="2000" dirty="0">
                <a:solidFill>
                  <a:srgbClr val="0000FF"/>
                </a:solidFill>
                <a:latin typeface="宋体" pitchFamily="2" charset="-122"/>
                <a:ea typeface="宋体" pitchFamily="2" charset="-122"/>
              </a:rPr>
              <a:t>2</a:t>
            </a:r>
            <a:r>
              <a:rPr lang="zh-CN" altLang="en-US" sz="2000" dirty="0">
                <a:solidFill>
                  <a:srgbClr val="0000FF"/>
                </a:solidFill>
                <a:latin typeface="宋体" pitchFamily="2" charset="-122"/>
                <a:ea typeface="宋体" pitchFamily="2" charset="-122"/>
              </a:rPr>
              <a:t>：数据同上例</a:t>
            </a:r>
            <a:r>
              <a:rPr lang="zh-CN" altLang="en-US" sz="2000" dirty="0">
                <a:latin typeface="宋体" panose="02010600030101010101" pitchFamily="2" charset="-122"/>
                <a:ea typeface="宋体" panose="02010600030101010101" pitchFamily="2" charset="-122"/>
              </a:rPr>
              <a:t>，求依据</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2000" i="1" baseline="-25000" dirty="0">
                <a:latin typeface="Times New Roman" panose="02020603050405020304" pitchFamily="18" charset="0"/>
                <a:ea typeface="黑体" panose="02010609060101010101" pitchFamily="49" charset="-122"/>
                <a:cs typeface="Times New Roman" panose="02020603050405020304" pitchFamily="18" charset="0"/>
              </a:rPr>
              <a:t>W</a:t>
            </a:r>
            <a:r>
              <a:rPr lang="zh-CN" altLang="en-US" sz="2000" i="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2000" i="1" baseline="-25000"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000" dirty="0">
                <a:latin typeface="宋体" panose="02010600030101010101" pitchFamily="2" charset="-122"/>
                <a:ea typeface="宋体" panose="02010600030101010101" pitchFamily="2" charset="-122"/>
              </a:rPr>
              <a:t>作</a:t>
            </a:r>
            <a:r>
              <a:rPr lang="en-US" altLang="zh-CN" sz="2000" dirty="0">
                <a:latin typeface="宋体" panose="02010600030101010101" pitchFamily="2" charset="-122"/>
                <a:ea typeface="宋体" panose="02010600030101010101" pitchFamily="2" charset="-122"/>
              </a:rPr>
              <a:t>DKLT</a:t>
            </a:r>
            <a:r>
              <a:rPr lang="zh-CN" altLang="en-US" sz="2000" dirty="0">
                <a:latin typeface="宋体" panose="02010600030101010101" pitchFamily="2" charset="-122"/>
                <a:ea typeface="宋体" panose="02010600030101010101" pitchFamily="2" charset="-122"/>
              </a:rPr>
              <a:t>以降低特征维数的最优压缩方法的压缩结果 </a:t>
            </a:r>
            <a:endParaRPr lang="en-US" altLang="zh-CN" sz="2000" dirty="0">
              <a:latin typeface="宋体" panose="02010600030101010101" pitchFamily="2" charset="-122"/>
              <a:ea typeface="宋体" panose="02010600030101010101" pitchFamily="2" charset="-122"/>
            </a:endParaRPr>
          </a:p>
          <a:p>
            <a:pPr marL="0" indent="0">
              <a:buNone/>
            </a:pPr>
            <a:r>
              <a:rPr lang="zh-CN" altLang="en-US" sz="2000" dirty="0">
                <a:solidFill>
                  <a:srgbClr val="0000FF"/>
                </a:solidFill>
                <a:latin typeface="宋体" panose="02010600030101010101" pitchFamily="2" charset="-122"/>
                <a:ea typeface="宋体" panose="02010600030101010101" pitchFamily="2" charset="-122"/>
              </a:rPr>
              <a:t>解答：接上例</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34</a:t>
            </a:fld>
            <a:endParaRPr lang="en-US" altLang="zh-CN" dirty="0"/>
          </a:p>
        </p:txBody>
      </p:sp>
      <p:sp>
        <p:nvSpPr>
          <p:cNvPr id="5" name="标题 1"/>
          <p:cNvSpPr>
            <a:spLocks noGrp="1"/>
          </p:cNvSpPr>
          <p:nvPr>
            <p:ph type="title"/>
          </p:nvPr>
        </p:nvSpPr>
        <p:spPr>
          <a:xfrm>
            <a:off x="400630" y="137825"/>
            <a:ext cx="8155632" cy="563563"/>
          </a:xfrm>
        </p:spPr>
        <p:txBody>
          <a:bodyPr/>
          <a:lstStyle/>
          <a:p>
            <a:pPr>
              <a:buNone/>
            </a:pPr>
            <a:r>
              <a:rPr lang="en-US" altLang="zh-CN" dirty="0">
                <a:latin typeface="Times New Roman" panose="02020603050405020304" pitchFamily="18" charset="0"/>
                <a:cs typeface="Times New Roman" panose="02020603050405020304" pitchFamily="18" charset="0"/>
              </a:rPr>
              <a:t>17.4 </a:t>
            </a:r>
            <a:r>
              <a:rPr lang="zh-CN" altLang="en-US" dirty="0">
                <a:latin typeface="Times New Roman" panose="02020603050405020304" pitchFamily="18" charset="0"/>
                <a:cs typeface="Times New Roman" panose="02020603050405020304" pitchFamily="18" charset="0"/>
              </a:rPr>
              <a:t>实例分析</a:t>
            </a:r>
            <a:endParaRPr lang="en-US" altLang="zh-CN" dirty="0">
              <a:latin typeface="Times New Roman" panose="02020603050405020304" pitchFamily="18" charset="0"/>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630560205"/>
              </p:ext>
            </p:extLst>
          </p:nvPr>
        </p:nvGraphicFramePr>
        <p:xfrm>
          <a:off x="1687577" y="1551611"/>
          <a:ext cx="7432675" cy="823912"/>
        </p:xfrm>
        <a:graphic>
          <a:graphicData uri="http://schemas.openxmlformats.org/presentationml/2006/ole">
            <mc:AlternateContent xmlns:mc="http://schemas.openxmlformats.org/markup-compatibility/2006">
              <mc:Choice xmlns:v="urn:schemas-microsoft-com:vml" Requires="v">
                <p:oleObj spid="_x0000_s364671" name="Equation" r:id="rId3" imgW="3936960" imgH="457200" progId="Equation.DSMT4">
                  <p:embed/>
                </p:oleObj>
              </mc:Choice>
              <mc:Fallback>
                <p:oleObj name="Equation" r:id="rId3" imgW="3936960" imgH="457200" progId="Equation.DSMT4">
                  <p:embed/>
                  <p:pic>
                    <p:nvPicPr>
                      <p:cNvPr id="6" name="对象 5"/>
                      <p:cNvPicPr>
                        <a:picLocks noChangeAspect="1" noChangeArrowheads="1"/>
                      </p:cNvPicPr>
                      <p:nvPr/>
                    </p:nvPicPr>
                    <p:blipFill>
                      <a:blip r:embed="rId4"/>
                      <a:srcRect/>
                      <a:stretch>
                        <a:fillRect/>
                      </a:stretch>
                    </p:blipFill>
                    <p:spPr bwMode="auto">
                      <a:xfrm>
                        <a:off x="1687577" y="1551611"/>
                        <a:ext cx="7432675" cy="823912"/>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679760716"/>
              </p:ext>
            </p:extLst>
          </p:nvPr>
        </p:nvGraphicFramePr>
        <p:xfrm>
          <a:off x="2428883" y="2448378"/>
          <a:ext cx="3524250" cy="823912"/>
        </p:xfrm>
        <a:graphic>
          <a:graphicData uri="http://schemas.openxmlformats.org/presentationml/2006/ole">
            <mc:AlternateContent xmlns:mc="http://schemas.openxmlformats.org/markup-compatibility/2006">
              <mc:Choice xmlns:v="urn:schemas-microsoft-com:vml" Requires="v">
                <p:oleObj spid="_x0000_s364672" name="Equation" r:id="rId5" imgW="1866600" imgH="457200" progId="Equation.DSMT4">
                  <p:embed/>
                </p:oleObj>
              </mc:Choice>
              <mc:Fallback>
                <p:oleObj name="Equation" r:id="rId5" imgW="1866600" imgH="457200" progId="Equation.DSMT4">
                  <p:embed/>
                  <p:pic>
                    <p:nvPicPr>
                      <p:cNvPr id="7" name="对象 6"/>
                      <p:cNvPicPr>
                        <a:picLocks noChangeAspect="1" noChangeArrowheads="1"/>
                      </p:cNvPicPr>
                      <p:nvPr/>
                    </p:nvPicPr>
                    <p:blipFill>
                      <a:blip r:embed="rId6"/>
                      <a:srcRect/>
                      <a:stretch>
                        <a:fillRect/>
                      </a:stretch>
                    </p:blipFill>
                    <p:spPr bwMode="auto">
                      <a:xfrm>
                        <a:off x="2428883" y="2448378"/>
                        <a:ext cx="3524250" cy="823912"/>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8" name="矩形 7"/>
              <p:cNvSpPr/>
              <p:nvPr/>
            </p:nvSpPr>
            <p:spPr>
              <a:xfrm>
                <a:off x="2063552" y="3401554"/>
                <a:ext cx="2476062" cy="400110"/>
              </a:xfrm>
              <a:prstGeom prst="rect">
                <a:avLst/>
              </a:prstGeom>
            </p:spPr>
            <p:txBody>
              <a:bodyPr wrap="none">
                <a:spAutoFit/>
              </a:bodyPr>
              <a:lstStyle/>
              <a:p>
                <a14:m>
                  <m:oMath xmlns:m="http://schemas.openxmlformats.org/officeDocument/2006/math">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𝑆</m:t>
                            </m:r>
                          </m:e>
                        </m:acc>
                      </m:e>
                      <m:sub>
                        <m:r>
                          <a:rPr lang="zh-CN" altLang="en-US" i="1">
                            <a:latin typeface="Cambria Math" panose="02040503050406030204" pitchFamily="18" charset="0"/>
                          </a:rPr>
                          <m:t>𝐵</m:t>
                        </m:r>
                      </m:sub>
                    </m:sSub>
                  </m:oMath>
                </a14:m>
                <a:r>
                  <a:rPr lang="zh-CN" altLang="en-US" sz="2000" dirty="0">
                    <a:latin typeface="宋体" panose="02010600030101010101" pitchFamily="2" charset="-122"/>
                    <a:ea typeface="宋体" panose="02010600030101010101" pitchFamily="2" charset="-122"/>
                  </a:rPr>
                  <a:t>的特征值矩阵为：</a:t>
                </a:r>
              </a:p>
            </p:txBody>
          </p:sp>
        </mc:Choice>
        <mc:Fallback xmlns="">
          <p:sp>
            <p:nvSpPr>
              <p:cNvPr id="8" name="矩形 7"/>
              <p:cNvSpPr>
                <a:spLocks noRot="1" noChangeAspect="1" noMove="1" noResize="1" noEditPoints="1" noAdjustHandles="1" noChangeArrowheads="1" noChangeShapeType="1" noTextEdit="1"/>
              </p:cNvSpPr>
              <p:nvPr/>
            </p:nvSpPr>
            <p:spPr>
              <a:xfrm>
                <a:off x="2063552" y="3401554"/>
                <a:ext cx="2476062" cy="400110"/>
              </a:xfrm>
              <a:prstGeom prst="rect">
                <a:avLst/>
              </a:prstGeom>
              <a:blipFill>
                <a:blip r:embed="rId7"/>
                <a:stretch>
                  <a:fillRect t="-10606" r="-2217" b="-24242"/>
                </a:stretch>
              </a:blipFill>
            </p:spPr>
            <p:txBody>
              <a:bodyPr/>
              <a:lstStyle/>
              <a:p>
                <a:r>
                  <a:rPr lang="zh-CN" altLang="en-US">
                    <a:noFill/>
                  </a:rPr>
                  <a:t> </a:t>
                </a:r>
              </a:p>
            </p:txBody>
          </p:sp>
        </mc:Fallback>
      </mc:AlternateContent>
      <p:graphicFrame>
        <p:nvGraphicFramePr>
          <p:cNvPr id="9" name="对象 8"/>
          <p:cNvGraphicFramePr>
            <a:graphicFrameLocks noChangeAspect="1"/>
          </p:cNvGraphicFramePr>
          <p:nvPr>
            <p:extLst>
              <p:ext uri="{D42A27DB-BD31-4B8C-83A1-F6EECF244321}">
                <p14:modId xmlns:p14="http://schemas.microsoft.com/office/powerpoint/2010/main" val="1937510097"/>
              </p:ext>
            </p:extLst>
          </p:nvPr>
        </p:nvGraphicFramePr>
        <p:xfrm>
          <a:off x="4325299" y="4278188"/>
          <a:ext cx="1414463" cy="823912"/>
        </p:xfrm>
        <a:graphic>
          <a:graphicData uri="http://schemas.openxmlformats.org/presentationml/2006/ole">
            <mc:AlternateContent xmlns:mc="http://schemas.openxmlformats.org/markup-compatibility/2006">
              <mc:Choice xmlns:v="urn:schemas-microsoft-com:vml" Requires="v">
                <p:oleObj spid="_x0000_s364673" name="Equation" r:id="rId8" imgW="749160" imgH="457200" progId="Equation.DSMT4">
                  <p:embed/>
                </p:oleObj>
              </mc:Choice>
              <mc:Fallback>
                <p:oleObj name="Equation" r:id="rId8" imgW="749160" imgH="457200" progId="Equation.DSMT4">
                  <p:embed/>
                  <p:pic>
                    <p:nvPicPr>
                      <p:cNvPr id="9" name="对象 8"/>
                      <p:cNvPicPr>
                        <a:picLocks noChangeAspect="1" noChangeArrowheads="1"/>
                      </p:cNvPicPr>
                      <p:nvPr/>
                    </p:nvPicPr>
                    <p:blipFill>
                      <a:blip r:embed="rId9"/>
                      <a:srcRect/>
                      <a:stretch>
                        <a:fillRect/>
                      </a:stretch>
                    </p:blipFill>
                    <p:spPr bwMode="auto">
                      <a:xfrm>
                        <a:off x="4325299" y="4278188"/>
                        <a:ext cx="1414463" cy="823912"/>
                      </a:xfrm>
                      <a:prstGeom prst="rect">
                        <a:avLst/>
                      </a:prstGeom>
                      <a:noFill/>
                    </p:spPr>
                  </p:pic>
                </p:oleObj>
              </mc:Fallback>
            </mc:AlternateContent>
          </a:graphicData>
        </a:graphic>
      </p:graphicFrame>
      <p:sp>
        <p:nvSpPr>
          <p:cNvPr id="11" name="矩形 10"/>
          <p:cNvSpPr/>
          <p:nvPr/>
        </p:nvSpPr>
        <p:spPr>
          <a:xfrm>
            <a:off x="568767" y="4078133"/>
            <a:ext cx="4031873" cy="400110"/>
          </a:xfrm>
          <a:prstGeom prst="rect">
            <a:avLst/>
          </a:prstGeom>
        </p:spPr>
        <p:txBody>
          <a:bodyPr wrap="none">
            <a:spAutoFit/>
          </a:bodyPr>
          <a:lstStyle/>
          <a:p>
            <a:r>
              <a:rPr lang="zh-CN" altLang="en-US" sz="2000" dirty="0">
                <a:latin typeface="宋体" panose="02010600030101010101" pitchFamily="2" charset="-122"/>
                <a:ea typeface="宋体" panose="02010600030101010101" pitchFamily="2" charset="-122"/>
              </a:rPr>
              <a:t>非零特征值对应特征向量矩阵为：</a:t>
            </a:r>
          </a:p>
        </p:txBody>
      </p:sp>
      <p:graphicFrame>
        <p:nvGraphicFramePr>
          <p:cNvPr id="13" name="对象 12"/>
          <p:cNvGraphicFramePr>
            <a:graphicFrameLocks noChangeAspect="1"/>
          </p:cNvGraphicFramePr>
          <p:nvPr>
            <p:extLst>
              <p:ext uri="{D42A27DB-BD31-4B8C-83A1-F6EECF244321}">
                <p14:modId xmlns:p14="http://schemas.microsoft.com/office/powerpoint/2010/main" val="2478779758"/>
              </p:ext>
            </p:extLst>
          </p:nvPr>
        </p:nvGraphicFramePr>
        <p:xfrm>
          <a:off x="4590216" y="3303673"/>
          <a:ext cx="1606550" cy="823912"/>
        </p:xfrm>
        <a:graphic>
          <a:graphicData uri="http://schemas.openxmlformats.org/presentationml/2006/ole">
            <mc:AlternateContent xmlns:mc="http://schemas.openxmlformats.org/markup-compatibility/2006">
              <mc:Choice xmlns:v="urn:schemas-microsoft-com:vml" Requires="v">
                <p:oleObj spid="_x0000_s364674" name="Equation" r:id="rId10" imgW="850680" imgH="457200" progId="Equation.DSMT4">
                  <p:embed/>
                </p:oleObj>
              </mc:Choice>
              <mc:Fallback>
                <p:oleObj name="Equation" r:id="rId10" imgW="850680" imgH="457200" progId="Equation.DSMT4">
                  <p:embed/>
                  <p:pic>
                    <p:nvPicPr>
                      <p:cNvPr id="13" name="对象 12"/>
                      <p:cNvPicPr>
                        <a:picLocks noChangeAspect="1" noChangeArrowheads="1"/>
                      </p:cNvPicPr>
                      <p:nvPr/>
                    </p:nvPicPr>
                    <p:blipFill>
                      <a:blip r:embed="rId11"/>
                      <a:srcRect/>
                      <a:stretch>
                        <a:fillRect/>
                      </a:stretch>
                    </p:blipFill>
                    <p:spPr bwMode="auto">
                      <a:xfrm>
                        <a:off x="4590216" y="3303673"/>
                        <a:ext cx="1606550" cy="823912"/>
                      </a:xfrm>
                      <a:prstGeom prst="rect">
                        <a:avLst/>
                      </a:prstGeom>
                      <a:noFill/>
                    </p:spPr>
                  </p:pic>
                </p:oleObj>
              </mc:Fallback>
            </mc:AlternateContent>
          </a:graphicData>
        </a:graphic>
      </p:graphicFrame>
      <p:sp>
        <p:nvSpPr>
          <p:cNvPr id="15" name="矩形 14"/>
          <p:cNvSpPr/>
          <p:nvPr/>
        </p:nvSpPr>
        <p:spPr>
          <a:xfrm>
            <a:off x="744990" y="5328345"/>
            <a:ext cx="954107" cy="400110"/>
          </a:xfrm>
          <a:prstGeom prst="rect">
            <a:avLst/>
          </a:prstGeom>
        </p:spPr>
        <p:txBody>
          <a:bodyPr wrap="none">
            <a:spAutoFit/>
          </a:bodyPr>
          <a:lstStyle/>
          <a:p>
            <a:r>
              <a:rPr lang="zh-CN" altLang="en-US" sz="2000" dirty="0">
                <a:latin typeface="宋体" panose="02010600030101010101" pitchFamily="2" charset="-122"/>
                <a:ea typeface="宋体" panose="02010600030101010101" pitchFamily="2" charset="-122"/>
              </a:rPr>
              <a:t>所以：</a:t>
            </a:r>
          </a:p>
        </p:txBody>
      </p:sp>
      <p:graphicFrame>
        <p:nvGraphicFramePr>
          <p:cNvPr id="16" name="对象 15"/>
          <p:cNvGraphicFramePr>
            <a:graphicFrameLocks noChangeAspect="1"/>
          </p:cNvGraphicFramePr>
          <p:nvPr>
            <p:extLst>
              <p:ext uri="{D42A27DB-BD31-4B8C-83A1-F6EECF244321}">
                <p14:modId xmlns:p14="http://schemas.microsoft.com/office/powerpoint/2010/main" val="3906151318"/>
              </p:ext>
            </p:extLst>
          </p:nvPr>
        </p:nvGraphicFramePr>
        <p:xfrm>
          <a:off x="1781175" y="5373216"/>
          <a:ext cx="3284538" cy="846137"/>
        </p:xfrm>
        <a:graphic>
          <a:graphicData uri="http://schemas.openxmlformats.org/presentationml/2006/ole">
            <mc:AlternateContent xmlns:mc="http://schemas.openxmlformats.org/markup-compatibility/2006">
              <mc:Choice xmlns:v="urn:schemas-microsoft-com:vml" Requires="v">
                <p:oleObj spid="_x0000_s364675" name="Equation" r:id="rId12" imgW="1739880" imgH="469800" progId="Equation.DSMT4">
                  <p:embed/>
                </p:oleObj>
              </mc:Choice>
              <mc:Fallback>
                <p:oleObj name="Equation" r:id="rId12" imgW="1739880" imgH="469800" progId="Equation.DSMT4">
                  <p:embed/>
                  <p:pic>
                    <p:nvPicPr>
                      <p:cNvPr id="16" name="对象 15"/>
                      <p:cNvPicPr>
                        <a:picLocks noChangeAspect="1" noChangeArrowheads="1"/>
                      </p:cNvPicPr>
                      <p:nvPr/>
                    </p:nvPicPr>
                    <p:blipFill>
                      <a:blip r:embed="rId13"/>
                      <a:srcRect/>
                      <a:stretch>
                        <a:fillRect/>
                      </a:stretch>
                    </p:blipFill>
                    <p:spPr bwMode="auto">
                      <a:xfrm>
                        <a:off x="1781175" y="5373216"/>
                        <a:ext cx="3284538" cy="846137"/>
                      </a:xfrm>
                      <a:prstGeom prst="rect">
                        <a:avLst/>
                      </a:prstGeom>
                      <a:noFill/>
                    </p:spPr>
                  </p:pic>
                </p:oleObj>
              </mc:Fallback>
            </mc:AlternateContent>
          </a:graphicData>
        </a:graphic>
      </p:graphicFrame>
      <p:pic>
        <p:nvPicPr>
          <p:cNvPr id="17" name="图片 16"/>
          <p:cNvPicPr>
            <a:picLocks noChangeAspect="1"/>
          </p:cNvPicPr>
          <p:nvPr/>
        </p:nvPicPr>
        <p:blipFill>
          <a:blip r:embed="rId14"/>
          <a:stretch>
            <a:fillRect/>
          </a:stretch>
        </p:blipFill>
        <p:spPr>
          <a:xfrm>
            <a:off x="6888178" y="3272607"/>
            <a:ext cx="3459848" cy="3177899"/>
          </a:xfrm>
          <a:prstGeom prst="rect">
            <a:avLst/>
          </a:prstGeom>
        </p:spPr>
      </p:pic>
      <p:sp>
        <p:nvSpPr>
          <p:cNvPr id="14" name="矩形 13"/>
          <p:cNvSpPr/>
          <p:nvPr/>
        </p:nvSpPr>
        <p:spPr>
          <a:xfrm>
            <a:off x="7949321" y="139384"/>
            <a:ext cx="646331" cy="369332"/>
          </a:xfrm>
          <a:prstGeom prst="rect">
            <a:avLst/>
          </a:prstGeom>
        </p:spPr>
        <p:txBody>
          <a:bodyPr wrap="none">
            <a:spAutoFit/>
          </a:bodyPr>
          <a:lstStyle/>
          <a:p>
            <a:r>
              <a:rPr lang="zh-CN" altLang="en-US" dirty="0">
                <a:solidFill>
                  <a:srgbClr val="FF0000"/>
                </a:solidFill>
                <a:latin typeface="黑体" panose="02010609060101010101" pitchFamily="49" charset="-122"/>
                <a:ea typeface="黑体" panose="02010609060101010101" pitchFamily="49" charset="-122"/>
              </a:rPr>
              <a:t>自习</a:t>
            </a:r>
            <a:endParaRPr lang="zh-CN" altLang="en-US" dirty="0"/>
          </a:p>
        </p:txBody>
      </p:sp>
    </p:spTree>
    <p:extLst>
      <p:ext uri="{BB962C8B-B14F-4D97-AF65-F5344CB8AC3E}">
        <p14:creationId xmlns:p14="http://schemas.microsoft.com/office/powerpoint/2010/main" val="40468205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内容占位符 2"/>
          <p:cNvSpPr>
            <a:spLocks noGrp="1"/>
          </p:cNvSpPr>
          <p:nvPr>
            <p:ph idx="1"/>
          </p:nvPr>
        </p:nvSpPr>
        <p:spPr>
          <a:xfrm>
            <a:off x="1703512" y="1124744"/>
            <a:ext cx="8229600" cy="5224462"/>
          </a:xfrm>
        </p:spPr>
        <p:txBody>
          <a:bodyPr/>
          <a:lstStyle/>
          <a:p>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PCA</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方法最著名的应用是在人脸识别中特征提取及数据维降低，输入</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200*200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大小的人脸图像，提取灰度值作为原始特征，原始特征将达到</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40000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维，这给后面分类器的处理将带来极大的难度。著名的人脸识别</a:t>
            </a:r>
            <a:r>
              <a:rPr lang="en-US" altLang="zh-CN" sz="2400" b="1" dirty="0" err="1">
                <a:latin typeface="Times New Roman" panose="02020603050405020304" pitchFamily="18" charset="0"/>
                <a:ea typeface="宋体" panose="02010600030101010101" pitchFamily="2" charset="-122"/>
                <a:cs typeface="Times New Roman" panose="02020603050405020304" pitchFamily="18" charset="0"/>
              </a:rPr>
              <a:t>Eigenface</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算法就是采用</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PCA</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算法，用一个低维子空间描述人脸图像，同时又保存了识别所需要的信息。</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在人脸识别中，特征向量矩阵</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U</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称为特征脸（</a:t>
            </a:r>
            <a:r>
              <a:rPr lang="en-US" altLang="zh-CN" sz="2400" b="1" dirty="0" err="1">
                <a:latin typeface="Times New Roman" panose="02020603050405020304" pitchFamily="18" charset="0"/>
                <a:ea typeface="宋体" panose="02010600030101010101" pitchFamily="2" charset="-122"/>
                <a:cs typeface="Times New Roman" panose="02020603050405020304" pitchFamily="18" charset="0"/>
              </a:rPr>
              <a:t>eigenface</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）空间，因此其中的特征向量</a:t>
            </a:r>
            <a:r>
              <a:rPr lang="en-US" altLang="zh-CN" sz="2400" b="1" i="1" dirty="0" err="1">
                <a:latin typeface="Times New Roman" panose="02020603050405020304" pitchFamily="18" charset="0"/>
                <a:ea typeface="宋体" panose="02010600030101010101" pitchFamily="2" charset="-122"/>
                <a:cs typeface="Times New Roman" panose="02020603050405020304" pitchFamily="18" charset="0"/>
              </a:rPr>
              <a:t>u</a:t>
            </a:r>
            <a:r>
              <a:rPr lang="en-US" altLang="zh-CN" sz="2400" b="1" i="1" baseline="-25000" dirty="0" err="1">
                <a:latin typeface="Times New Roman" panose="02020603050405020304" pitchFamily="18" charset="0"/>
                <a:ea typeface="宋体" panose="02010600030101010101" pitchFamily="2" charset="-122"/>
                <a:cs typeface="Times New Roman" panose="02020603050405020304" pitchFamily="18" charset="0"/>
              </a:rPr>
              <a:t>i</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进行量化后可以看出人脸轮廓，在下面的实验中可以看出。</a:t>
            </a:r>
          </a:p>
        </p:txBody>
      </p:sp>
      <p:sp>
        <p:nvSpPr>
          <p:cNvPr id="115715" name="灯片编号占位符 3"/>
          <p:cNvSpPr>
            <a:spLocks noGrp="1"/>
          </p:cNvSpPr>
          <p:nvPr>
            <p:ph type="sldNum" sz="quarter" idx="11"/>
          </p:nvPr>
        </p:nvSpPr>
        <p:spPr>
          <a:noFill/>
        </p:spPr>
        <p:txBody>
          <a:bodyPr/>
          <a:lstStyle/>
          <a:p>
            <a:fld id="{7827BF76-CE43-436C-BBA1-12C167A3DFAC}" type="slidenum">
              <a:rPr lang="en-US" altLang="zh-CN" smtClean="0"/>
              <a:pPr/>
              <a:t>35</a:t>
            </a:fld>
            <a:endParaRPr lang="en-US" altLang="zh-CN"/>
          </a:p>
        </p:txBody>
      </p:sp>
      <p:sp>
        <p:nvSpPr>
          <p:cNvPr id="4" name="矩形 3"/>
          <p:cNvSpPr/>
          <p:nvPr/>
        </p:nvSpPr>
        <p:spPr>
          <a:xfrm>
            <a:off x="551384" y="188640"/>
            <a:ext cx="2448272" cy="523220"/>
          </a:xfrm>
          <a:prstGeom prst="rect">
            <a:avLst/>
          </a:prstGeom>
        </p:spPr>
        <p:txBody>
          <a:bodyPr wrap="square">
            <a:spAutoFit/>
          </a:bodyPr>
          <a:lstStyle/>
          <a:p>
            <a:pPr>
              <a:buNone/>
            </a:pPr>
            <a:r>
              <a:rPr lang="en-US" altLang="zh-CN" sz="2800" b="1" dirty="0">
                <a:latin typeface="Times New Roman" panose="02020603050405020304" pitchFamily="18" charset="0"/>
                <a:ea typeface="黑体" pitchFamily="49" charset="-122"/>
                <a:cs typeface="Times New Roman" panose="02020603050405020304" pitchFamily="18" charset="0"/>
              </a:rPr>
              <a:t>17.4 </a:t>
            </a:r>
            <a:r>
              <a:rPr lang="zh-CN" altLang="en-US" sz="2800" b="1" dirty="0">
                <a:latin typeface="Times New Roman" panose="02020603050405020304" pitchFamily="18" charset="0"/>
                <a:ea typeface="黑体" pitchFamily="49" charset="-122"/>
                <a:cs typeface="Times New Roman" panose="02020603050405020304" pitchFamily="18" charset="0"/>
              </a:rPr>
              <a:t>实例分析</a:t>
            </a:r>
            <a:endParaRPr lang="en-US" altLang="zh-CN" sz="2800" b="1" dirty="0">
              <a:latin typeface="Times New Roman" panose="02020603050405020304" pitchFamily="18" charset="0"/>
              <a:ea typeface="黑体" pitchFamily="49" charset="-122"/>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内容占位符 2"/>
          <p:cNvSpPr>
            <a:spLocks noGrp="1"/>
          </p:cNvSpPr>
          <p:nvPr>
            <p:ph idx="1"/>
          </p:nvPr>
        </p:nvSpPr>
        <p:spPr>
          <a:xfrm>
            <a:off x="1703512" y="764704"/>
            <a:ext cx="8229600" cy="5053062"/>
          </a:xfrm>
        </p:spPr>
        <p:txBody>
          <a:bodyPr/>
          <a:lstStyle/>
          <a:p>
            <a:pPr>
              <a:buNone/>
            </a:pPr>
            <a:endParaRPr lang="en-US" altLang="zh-CN" sz="2400" b="1" dirty="0"/>
          </a:p>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以人脸识别为例，说明</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PCA</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的应用。</a:t>
            </a:r>
          </a:p>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设有</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个人脸训练样本，每个样本由其像素灰度值组成一个向量</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400" b="1" i="1" baseline="-25000" dirty="0">
                <a:latin typeface="Times New Roman" panose="02020603050405020304" pitchFamily="18" charset="0"/>
                <a:ea typeface="宋体" panose="02010600030101010101" pitchFamily="2" charset="-122"/>
                <a:cs typeface="Times New Roman" panose="02020603050405020304" pitchFamily="18" charset="0"/>
              </a:rPr>
              <a:t>i</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，则样本图像的像素点数即为</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400" b="1" i="1" baseline="-25000" dirty="0">
                <a:latin typeface="Times New Roman" panose="02020603050405020304" pitchFamily="18" charset="0"/>
                <a:ea typeface="宋体" panose="02010600030101010101" pitchFamily="2" charset="-122"/>
                <a:cs typeface="Times New Roman" panose="02020603050405020304" pitchFamily="18" charset="0"/>
              </a:rPr>
              <a:t>i</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的维数，</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M=width*height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，由向量构成的训练样本集为。</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该样本集的平均向量为：</a:t>
            </a:r>
          </a:p>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平均向量又叫平均脸。</a:t>
            </a:r>
            <a:r>
              <a:rPr lang="en-US" sz="2400" b="1"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样本集的协方差矩阵为：</a:t>
            </a:r>
          </a:p>
          <a:p>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5715" name="灯片编号占位符 3"/>
          <p:cNvSpPr>
            <a:spLocks noGrp="1"/>
          </p:cNvSpPr>
          <p:nvPr>
            <p:ph type="sldNum" sz="quarter" idx="11"/>
          </p:nvPr>
        </p:nvSpPr>
        <p:spPr>
          <a:noFill/>
        </p:spPr>
        <p:txBody>
          <a:bodyPr/>
          <a:lstStyle/>
          <a:p>
            <a:fld id="{7827BF76-CE43-436C-BBA1-12C167A3DFAC}" type="slidenum">
              <a:rPr lang="en-US" altLang="zh-CN" smtClean="0"/>
              <a:pPr/>
              <a:t>36</a:t>
            </a:fld>
            <a:endParaRPr lang="en-US" altLang="zh-CN"/>
          </a:p>
        </p:txBody>
      </p:sp>
      <p:graphicFrame>
        <p:nvGraphicFramePr>
          <p:cNvPr id="5" name="Object 6"/>
          <p:cNvGraphicFramePr>
            <a:graphicFrameLocks noChangeAspect="1"/>
          </p:cNvGraphicFramePr>
          <p:nvPr>
            <p:extLst>
              <p:ext uri="{D42A27DB-BD31-4B8C-83A1-F6EECF244321}">
                <p14:modId xmlns:p14="http://schemas.microsoft.com/office/powerpoint/2010/main" val="1423345059"/>
              </p:ext>
            </p:extLst>
          </p:nvPr>
        </p:nvGraphicFramePr>
        <p:xfrm>
          <a:off x="5375920" y="2780928"/>
          <a:ext cx="1850900" cy="455962"/>
        </p:xfrm>
        <a:graphic>
          <a:graphicData uri="http://schemas.openxmlformats.org/presentationml/2006/ole">
            <mc:AlternateContent xmlns:mc="http://schemas.openxmlformats.org/markup-compatibility/2006">
              <mc:Choice xmlns:v="urn:schemas-microsoft-com:vml" Requires="v">
                <p:oleObj spid="_x0000_s282142" name="Equation" r:id="rId4" imgW="1104840" imgH="266400" progId="Equation.DSMT4">
                  <p:embed/>
                </p:oleObj>
              </mc:Choice>
              <mc:Fallback>
                <p:oleObj name="Equation" r:id="rId4" imgW="1104840" imgH="2664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75920" y="2780928"/>
                        <a:ext cx="1850900" cy="45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43" name="Object 6"/>
          <p:cNvGraphicFramePr>
            <a:graphicFrameLocks noChangeAspect="1"/>
          </p:cNvGraphicFramePr>
          <p:nvPr>
            <p:extLst>
              <p:ext uri="{D42A27DB-BD31-4B8C-83A1-F6EECF244321}">
                <p14:modId xmlns:p14="http://schemas.microsoft.com/office/powerpoint/2010/main" val="1151109752"/>
              </p:ext>
            </p:extLst>
          </p:nvPr>
        </p:nvGraphicFramePr>
        <p:xfrm>
          <a:off x="4408488" y="4652964"/>
          <a:ext cx="3517900" cy="828675"/>
        </p:xfrm>
        <a:graphic>
          <a:graphicData uri="http://schemas.openxmlformats.org/presentationml/2006/ole">
            <mc:AlternateContent xmlns:mc="http://schemas.openxmlformats.org/markup-compatibility/2006">
              <mc:Choice xmlns:v="urn:schemas-microsoft-com:vml" Requires="v">
                <p:oleObj spid="_x0000_s282143" name="Equation" r:id="rId6" imgW="1981080" imgH="457200" progId="Equation.DSMT4">
                  <p:embed/>
                </p:oleObj>
              </mc:Choice>
              <mc:Fallback>
                <p:oleObj name="Equation" r:id="rId6" imgW="1981080" imgH="457200" progId="Equation.DSMT4">
                  <p:embed/>
                  <p:pic>
                    <p:nvPicPr>
                      <p:cNvPr id="0" name="Picture 3"/>
                      <p:cNvPicPr>
                        <a:picLocks noChangeAspect="1" noChangeArrowheads="1"/>
                      </p:cNvPicPr>
                      <p:nvPr/>
                    </p:nvPicPr>
                    <p:blipFill>
                      <a:blip r:embed="rId7"/>
                      <a:srcRect/>
                      <a:stretch>
                        <a:fillRect/>
                      </a:stretch>
                    </p:blipFill>
                    <p:spPr bwMode="auto">
                      <a:xfrm>
                        <a:off x="4408488" y="4652964"/>
                        <a:ext cx="351790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44" name="Object 4"/>
          <p:cNvGraphicFramePr>
            <a:graphicFrameLocks noChangeAspect="1"/>
          </p:cNvGraphicFramePr>
          <p:nvPr>
            <p:extLst>
              <p:ext uri="{D42A27DB-BD31-4B8C-83A1-F6EECF244321}">
                <p14:modId xmlns:p14="http://schemas.microsoft.com/office/powerpoint/2010/main" val="1186542318"/>
              </p:ext>
            </p:extLst>
          </p:nvPr>
        </p:nvGraphicFramePr>
        <p:xfrm>
          <a:off x="5663952" y="3212977"/>
          <a:ext cx="1281894" cy="640947"/>
        </p:xfrm>
        <a:graphic>
          <a:graphicData uri="http://schemas.openxmlformats.org/presentationml/2006/ole">
            <mc:AlternateContent xmlns:mc="http://schemas.openxmlformats.org/markup-compatibility/2006">
              <mc:Choice xmlns:v="urn:schemas-microsoft-com:vml" Requires="v">
                <p:oleObj spid="_x0000_s282144" name="Equation" r:id="rId8" imgW="914400" imgH="457200" progId="Equation.DSMT4">
                  <p:embed/>
                </p:oleObj>
              </mc:Choice>
              <mc:Fallback>
                <p:oleObj name="Equation" r:id="rId8" imgW="914400" imgH="457200" progId="Equation.DSMT4">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63952" y="3212977"/>
                        <a:ext cx="1281894" cy="640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矩形 1"/>
          <p:cNvSpPr/>
          <p:nvPr/>
        </p:nvSpPr>
        <p:spPr>
          <a:xfrm>
            <a:off x="551384" y="188640"/>
            <a:ext cx="2448272" cy="523220"/>
          </a:xfrm>
          <a:prstGeom prst="rect">
            <a:avLst/>
          </a:prstGeom>
        </p:spPr>
        <p:txBody>
          <a:bodyPr wrap="square">
            <a:spAutoFit/>
          </a:bodyPr>
          <a:lstStyle/>
          <a:p>
            <a:pPr>
              <a:buNone/>
            </a:pPr>
            <a:r>
              <a:rPr lang="en-US" altLang="zh-CN" sz="2800" b="1" dirty="0">
                <a:latin typeface="Times New Roman" panose="02020603050405020304" pitchFamily="18" charset="0"/>
                <a:ea typeface="黑体" pitchFamily="49" charset="-122"/>
                <a:cs typeface="Times New Roman" panose="02020603050405020304" pitchFamily="18" charset="0"/>
              </a:rPr>
              <a:t>17.4 </a:t>
            </a:r>
            <a:r>
              <a:rPr lang="zh-CN" altLang="en-US" sz="2800" b="1" dirty="0">
                <a:latin typeface="Times New Roman" panose="02020603050405020304" pitchFamily="18" charset="0"/>
                <a:ea typeface="黑体" pitchFamily="49" charset="-122"/>
                <a:cs typeface="Times New Roman" panose="02020603050405020304" pitchFamily="18" charset="0"/>
              </a:rPr>
              <a:t>实例分析</a:t>
            </a:r>
            <a:endParaRPr lang="en-US" altLang="zh-CN" sz="2800" b="1" dirty="0">
              <a:latin typeface="Times New Roman" panose="02020603050405020304" pitchFamily="18" charset="0"/>
              <a:ea typeface="黑体" pitchFamily="49" charset="-122"/>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5714" name="内容占位符 2"/>
              <p:cNvSpPr>
                <a:spLocks noGrp="1"/>
              </p:cNvSpPr>
              <p:nvPr>
                <p:ph idx="1"/>
              </p:nvPr>
            </p:nvSpPr>
            <p:spPr>
              <a:xfrm>
                <a:off x="1847528" y="702506"/>
                <a:ext cx="8435280" cy="5822838"/>
              </a:xfrm>
              <a:solidFill>
                <a:schemeClr val="bg1"/>
              </a:solidFill>
            </p:spPr>
            <p:txBody>
              <a:bodyPr/>
              <a:lstStyle/>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求出协方差矩阵的特征向量</a:t>
                </a:r>
                <a:r>
                  <a:rPr lang="en-US" sz="2400" b="1" i="1" dirty="0" err="1">
                    <a:latin typeface="Times New Roman" panose="02020603050405020304" pitchFamily="18" charset="0"/>
                    <a:ea typeface="宋体" panose="02010600030101010101" pitchFamily="2" charset="-122"/>
                    <a:cs typeface="Times New Roman" panose="02020603050405020304" pitchFamily="18" charset="0"/>
                  </a:rPr>
                  <a:t>u</a:t>
                </a:r>
                <a:r>
                  <a:rPr lang="en-US" sz="2400" b="1" i="1" baseline="-25000" dirty="0" err="1">
                    <a:latin typeface="Times New Roman" panose="02020603050405020304" pitchFamily="18" charset="0"/>
                    <a:ea typeface="宋体" panose="02010600030101010101" pitchFamily="2" charset="-122"/>
                    <a:cs typeface="Times New Roman" panose="02020603050405020304" pitchFamily="18" charset="0"/>
                  </a:rPr>
                  <a:t>i</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和对应的特征值</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，这些特征向量组成的矩阵</a:t>
                </a:r>
                <a:r>
                  <a:rPr lang="en-US" sz="2400" b="1" i="1" dirty="0">
                    <a:latin typeface="Times New Roman" panose="02020603050405020304" pitchFamily="18" charset="0"/>
                    <a:ea typeface="宋体" panose="02010600030101010101" pitchFamily="2" charset="-122"/>
                    <a:cs typeface="Times New Roman" panose="02020603050405020304" pitchFamily="18" charset="0"/>
                  </a:rPr>
                  <a:t>U</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就是人脸空间的正交基底，用它们的线性组合可以重构出样本中任意的人脸图像，并且图像信息集中在特征值大的特征向量中，即使丢弃特征值小的向量也不会影响图像质量。</a:t>
                </a:r>
              </a:p>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将协方差矩阵的特征值按大到小排序：</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r>
                  <a:rPr 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由大于    </a:t>
                </a:r>
                <a:r>
                  <a:rPr 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   </a:t>
                </a:r>
                <a:r>
                  <a:rPr 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对应的特征向量构成主成分，主成分构成的变换矩阵为：</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r>
                  <a:rPr lang="zh-CN" altLang="zh-CN" sz="2400" b="1" dirty="0">
                    <a:latin typeface="Times New Roman" panose="02020603050405020304" pitchFamily="18" charset="0"/>
                    <a:ea typeface="宋体" panose="02010600030101010101" pitchFamily="2" charset="-122"/>
                    <a:cs typeface="Times New Roman" panose="02020603050405020304" pitchFamily="18" charset="0"/>
                  </a:rPr>
                  <a:t>这样每一幅人脸图像都可以投影到</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dirty="0">
                    <a:latin typeface="Times New Roman" panose="02020603050405020304" pitchFamily="18" charset="0"/>
                    <a:ea typeface="宋体" panose="02010600030101010101" pitchFamily="2" charset="-122"/>
                    <a:cs typeface="Times New Roman" panose="02020603050405020304" pitchFamily="18" charset="0"/>
                  </a:rPr>
                  <a:t>构成的特征脸子空间中，</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U</a:t>
                </a:r>
                <a:r>
                  <a:rPr lang="zh-CN" altLang="zh-CN" sz="2400" b="1" dirty="0">
                    <a:latin typeface="Times New Roman" panose="02020603050405020304" pitchFamily="18" charset="0"/>
                    <a:ea typeface="宋体" panose="02010600030101010101" pitchFamily="2" charset="-122"/>
                    <a:cs typeface="Times New Roman" panose="02020603050405020304" pitchFamily="18" charset="0"/>
                  </a:rPr>
                  <a:t>的维数为</a:t>
                </a:r>
                <a:r>
                  <a:rPr lang="en-US" altLang="zh-CN" sz="2400" b="1" i="1" dirty="0" err="1">
                    <a:latin typeface="Times New Roman" panose="02020603050405020304" pitchFamily="18" charset="0"/>
                    <a:ea typeface="宋体" panose="02010600030101010101" pitchFamily="2" charset="-122"/>
                    <a:cs typeface="Times New Roman" panose="02020603050405020304" pitchFamily="18" charset="0"/>
                  </a:rPr>
                  <a:t>M×d</a:t>
                </a:r>
                <a:r>
                  <a:rPr lang="zh-CN" altLang="zh-CN" sz="2400" b="1" dirty="0">
                    <a:latin typeface="Times New Roman" panose="02020603050405020304" pitchFamily="18" charset="0"/>
                    <a:ea typeface="宋体" panose="02010600030101010101" pitchFamily="2" charset="-122"/>
                    <a:cs typeface="Times New Roman" panose="02020603050405020304" pitchFamily="18" charset="0"/>
                  </a:rPr>
                  <a:t>。有了这样一个降维的子空间，任何一幅人脸图像都可以向其作投影</a:t>
                </a:r>
                <a14:m>
                  <m:oMath xmlns:m="http://schemas.openxmlformats.org/officeDocument/2006/math">
                    <m:r>
                      <a:rPr lang="zh-CN" altLang="en-US" sz="2400" i="1">
                        <a:latin typeface="Cambria Math" panose="02040503050406030204" pitchFamily="18" charset="0"/>
                      </a:rPr>
                      <m:t>𝑦</m:t>
                    </m:r>
                    <m:r>
                      <a:rPr lang="zh-CN" altLang="en-US" sz="240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𝑈</m:t>
                        </m:r>
                      </m:e>
                      <m:sup>
                        <m:r>
                          <a:rPr lang="zh-CN" altLang="en-US" sz="2400" i="1">
                            <a:latin typeface="Cambria Math" panose="02040503050406030204" pitchFamily="18" charset="0"/>
                          </a:rPr>
                          <m:t>𝑇</m:t>
                        </m:r>
                      </m:sup>
                    </m:sSup>
                    <m:r>
                      <a:rPr lang="zh-CN" altLang="en-US" sz="2400" i="1">
                        <a:latin typeface="Cambria Math" panose="02040503050406030204" pitchFamily="18" charset="0"/>
                      </a:rPr>
                      <m:t>𝑋</m:t>
                    </m:r>
                  </m:oMath>
                </a14:m>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dirty="0">
                    <a:latin typeface="Times New Roman" panose="02020603050405020304" pitchFamily="18" charset="0"/>
                    <a:ea typeface="宋体" panose="02010600030101010101" pitchFamily="2" charset="-122"/>
                    <a:cs typeface="Times New Roman" panose="02020603050405020304" pitchFamily="18" charset="0"/>
                  </a:rPr>
                  <a:t>即并获得一组坐标系数，即低维向量</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y</a:t>
                </a:r>
                <a:r>
                  <a:rPr lang="zh-CN" altLang="zh-CN" sz="2400" b="1" dirty="0">
                    <a:latin typeface="Times New Roman" panose="02020603050405020304" pitchFamily="18" charset="0"/>
                    <a:ea typeface="宋体" panose="02010600030101010101" pitchFamily="2" charset="-122"/>
                    <a:cs typeface="Times New Roman" panose="02020603050405020304" pitchFamily="18" charset="0"/>
                  </a:rPr>
                  <a:t>，维数</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d×1</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dirty="0">
                    <a:latin typeface="Times New Roman" panose="02020603050405020304" pitchFamily="18" charset="0"/>
                    <a:ea typeface="宋体" panose="02010600030101010101" pitchFamily="2" charset="-122"/>
                    <a:cs typeface="Times New Roman" panose="02020603050405020304" pitchFamily="18" charset="0"/>
                  </a:rPr>
                  <a:t>称为</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KL</a:t>
                </a:r>
                <a:r>
                  <a:rPr lang="zh-CN" altLang="zh-CN" sz="2400" b="1" dirty="0">
                    <a:latin typeface="Times New Roman" panose="02020603050405020304" pitchFamily="18" charset="0"/>
                    <a:ea typeface="宋体" panose="02010600030101010101" pitchFamily="2" charset="-122"/>
                    <a:cs typeface="Times New Roman" panose="02020603050405020304" pitchFamily="18" charset="0"/>
                  </a:rPr>
                  <a:t>分解系数。这组系数表明了图像在子空间的位置，从而可以作为人脸识别的依据。</a:t>
                </a:r>
                <a:endParaRPr lang="zh-CN" altLang="en-US" b="1" dirty="0"/>
              </a:p>
            </p:txBody>
          </p:sp>
        </mc:Choice>
        <mc:Fallback>
          <p:sp>
            <p:nvSpPr>
              <p:cNvPr id="115714" name="内容占位符 2"/>
              <p:cNvSpPr>
                <a:spLocks noGrp="1" noRot="1" noChangeAspect="1" noMove="1" noResize="1" noEditPoints="1" noAdjustHandles="1" noChangeArrowheads="1" noChangeShapeType="1" noTextEdit="1"/>
              </p:cNvSpPr>
              <p:nvPr>
                <p:ph idx="1"/>
              </p:nvPr>
            </p:nvSpPr>
            <p:spPr>
              <a:xfrm>
                <a:off x="1847528" y="702506"/>
                <a:ext cx="8435280" cy="5822838"/>
              </a:xfrm>
              <a:blipFill>
                <a:blip r:embed="rId4"/>
                <a:stretch>
                  <a:fillRect l="-939" t="-1152" r="-1012" b="-2932"/>
                </a:stretch>
              </a:blipFill>
            </p:spPr>
            <p:txBody>
              <a:bodyPr/>
              <a:lstStyle/>
              <a:p>
                <a:r>
                  <a:rPr lang="zh-CN" altLang="en-US">
                    <a:noFill/>
                  </a:rPr>
                  <a:t> </a:t>
                </a:r>
              </a:p>
            </p:txBody>
          </p:sp>
        </mc:Fallback>
      </mc:AlternateContent>
      <p:sp>
        <p:nvSpPr>
          <p:cNvPr id="115715" name="灯片编号占位符 3"/>
          <p:cNvSpPr>
            <a:spLocks noGrp="1"/>
          </p:cNvSpPr>
          <p:nvPr>
            <p:ph type="sldNum" sz="quarter" idx="11"/>
          </p:nvPr>
        </p:nvSpPr>
        <p:spPr>
          <a:noFill/>
        </p:spPr>
        <p:txBody>
          <a:bodyPr/>
          <a:lstStyle/>
          <a:p>
            <a:fld id="{7827BF76-CE43-436C-BBA1-12C167A3DFAC}" type="slidenum">
              <a:rPr lang="en-US" altLang="zh-CN" smtClean="0"/>
              <a:pPr/>
              <a:t>37</a:t>
            </a:fld>
            <a:endParaRPr lang="en-US" altLang="zh-CN" dirty="0"/>
          </a:p>
        </p:txBody>
      </p:sp>
      <p:grpSp>
        <p:nvGrpSpPr>
          <p:cNvPr id="2" name="组合 15"/>
          <p:cNvGrpSpPr/>
          <p:nvPr/>
        </p:nvGrpSpPr>
        <p:grpSpPr>
          <a:xfrm>
            <a:off x="3182299" y="734226"/>
            <a:ext cx="7411578" cy="3395357"/>
            <a:chOff x="1351590" y="2022266"/>
            <a:chExt cx="7411578" cy="3395357"/>
          </a:xfrm>
        </p:grpSpPr>
        <p:graphicFrame>
          <p:nvGraphicFramePr>
            <p:cNvPr id="9" name="Object 6"/>
            <p:cNvGraphicFramePr>
              <a:graphicFrameLocks noChangeAspect="1"/>
            </p:cNvGraphicFramePr>
            <p:nvPr>
              <p:extLst>
                <p:ext uri="{D42A27DB-BD31-4B8C-83A1-F6EECF244321}">
                  <p14:modId xmlns:p14="http://schemas.microsoft.com/office/powerpoint/2010/main" val="3329988191"/>
                </p:ext>
              </p:extLst>
            </p:nvPr>
          </p:nvGraphicFramePr>
          <p:xfrm>
            <a:off x="6464158" y="2022266"/>
            <a:ext cx="341312" cy="482600"/>
          </p:xfrm>
          <a:graphic>
            <a:graphicData uri="http://schemas.openxmlformats.org/presentationml/2006/ole">
              <mc:AlternateContent xmlns:mc="http://schemas.openxmlformats.org/markup-compatibility/2006">
                <mc:Choice xmlns:v="urn:schemas-microsoft-com:vml" Requires="v">
                  <p:oleObj spid="_x0000_s366715" name="Equation" r:id="rId5" imgW="164880" imgH="228600" progId="Equation.DSMT4">
                    <p:embed/>
                  </p:oleObj>
                </mc:Choice>
                <mc:Fallback>
                  <p:oleObj name="Equation" r:id="rId5" imgW="16488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64158" y="2022266"/>
                          <a:ext cx="341312"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6070" name="Object 6"/>
            <p:cNvGraphicFramePr>
              <a:graphicFrameLocks noChangeAspect="1"/>
            </p:cNvGraphicFramePr>
            <p:nvPr>
              <p:extLst>
                <p:ext uri="{D42A27DB-BD31-4B8C-83A1-F6EECF244321}">
                  <p14:modId xmlns:p14="http://schemas.microsoft.com/office/powerpoint/2010/main" val="768895940"/>
                </p:ext>
              </p:extLst>
            </p:nvPr>
          </p:nvGraphicFramePr>
          <p:xfrm>
            <a:off x="5461292" y="3867190"/>
            <a:ext cx="3301876" cy="452965"/>
          </p:xfrm>
          <a:graphic>
            <a:graphicData uri="http://schemas.openxmlformats.org/presentationml/2006/ole">
              <mc:AlternateContent xmlns:mc="http://schemas.openxmlformats.org/markup-compatibility/2006">
                <mc:Choice xmlns:v="urn:schemas-microsoft-com:vml" Requires="v">
                  <p:oleObj spid="_x0000_s366716" name="Equation" r:id="rId7" imgW="1701720" imgH="228600" progId="Equation.DSMT4">
                    <p:embed/>
                  </p:oleObj>
                </mc:Choice>
                <mc:Fallback>
                  <p:oleObj name="Equation" r:id="rId7" imgW="1701720" imgH="2286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61292" y="3867190"/>
                          <a:ext cx="3301876" cy="452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6071" name="Object 7"/>
            <p:cNvGraphicFramePr>
              <a:graphicFrameLocks noChangeAspect="1"/>
            </p:cNvGraphicFramePr>
            <p:nvPr>
              <p:extLst>
                <p:ext uri="{D42A27DB-BD31-4B8C-83A1-F6EECF244321}">
                  <p14:modId xmlns:p14="http://schemas.microsoft.com/office/powerpoint/2010/main" val="1001120109"/>
                </p:ext>
              </p:extLst>
            </p:nvPr>
          </p:nvGraphicFramePr>
          <p:xfrm>
            <a:off x="1351590" y="4326522"/>
            <a:ext cx="428628" cy="500066"/>
          </p:xfrm>
          <a:graphic>
            <a:graphicData uri="http://schemas.openxmlformats.org/presentationml/2006/ole">
              <mc:AlternateContent xmlns:mc="http://schemas.openxmlformats.org/markup-compatibility/2006">
                <mc:Choice xmlns:v="urn:schemas-microsoft-com:vml" Requires="v">
                  <p:oleObj spid="_x0000_s366717" name="Equation" r:id="rId9" imgW="190440" imgH="228600" progId="Equation.DSMT4">
                    <p:embed/>
                  </p:oleObj>
                </mc:Choice>
                <mc:Fallback>
                  <p:oleObj name="Equation" r:id="rId9" imgW="190440" imgH="2286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51590" y="4326522"/>
                          <a:ext cx="428628" cy="500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6072" name="Object 8"/>
            <p:cNvGraphicFramePr>
              <a:graphicFrameLocks noChangeAspect="1"/>
            </p:cNvGraphicFramePr>
            <p:nvPr>
              <p:extLst>
                <p:ext uri="{D42A27DB-BD31-4B8C-83A1-F6EECF244321}">
                  <p14:modId xmlns:p14="http://schemas.microsoft.com/office/powerpoint/2010/main" val="1134107731"/>
                </p:ext>
              </p:extLst>
            </p:nvPr>
          </p:nvGraphicFramePr>
          <p:xfrm>
            <a:off x="2143678" y="4326522"/>
            <a:ext cx="381001" cy="527539"/>
          </p:xfrm>
          <a:graphic>
            <a:graphicData uri="http://schemas.openxmlformats.org/presentationml/2006/ole">
              <mc:AlternateContent xmlns:mc="http://schemas.openxmlformats.org/markup-compatibility/2006">
                <mc:Choice xmlns:v="urn:schemas-microsoft-com:vml" Requires="v">
                  <p:oleObj spid="_x0000_s366718" name="Equation" r:id="rId11" imgW="164880" imgH="228600" progId="Equation.DSMT4">
                    <p:embed/>
                  </p:oleObj>
                </mc:Choice>
                <mc:Fallback>
                  <p:oleObj name="Equation" r:id="rId11" imgW="164880" imgH="2286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43678" y="4326522"/>
                          <a:ext cx="381001" cy="527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6074" name="Object 6"/>
            <p:cNvGraphicFramePr>
              <a:graphicFrameLocks noChangeAspect="1"/>
            </p:cNvGraphicFramePr>
            <p:nvPr>
              <p:extLst>
                <p:ext uri="{D42A27DB-BD31-4B8C-83A1-F6EECF244321}">
                  <p14:modId xmlns:p14="http://schemas.microsoft.com/office/powerpoint/2010/main" val="2034741553"/>
                </p:ext>
              </p:extLst>
            </p:nvPr>
          </p:nvGraphicFramePr>
          <p:xfrm>
            <a:off x="2719742" y="4854061"/>
            <a:ext cx="2519362" cy="563562"/>
          </p:xfrm>
          <a:graphic>
            <a:graphicData uri="http://schemas.openxmlformats.org/presentationml/2006/ole">
              <mc:AlternateContent xmlns:mc="http://schemas.openxmlformats.org/markup-compatibility/2006">
                <mc:Choice xmlns:v="urn:schemas-microsoft-com:vml" Requires="v">
                  <p:oleObj spid="_x0000_s366719" name="Equation" r:id="rId13" imgW="1218960" imgH="266400" progId="Equation.DSMT4">
                    <p:embed/>
                  </p:oleObj>
                </mc:Choice>
                <mc:Fallback>
                  <p:oleObj name="Equation" r:id="rId13" imgW="1218960" imgH="26640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19742" y="4854061"/>
                          <a:ext cx="2519362"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82631" name="Object 7"/>
          <p:cNvGraphicFramePr>
            <a:graphicFrameLocks noChangeAspect="1"/>
          </p:cNvGraphicFramePr>
          <p:nvPr>
            <p:extLst>
              <p:ext uri="{D42A27DB-BD31-4B8C-83A1-F6EECF244321}">
                <p14:modId xmlns:p14="http://schemas.microsoft.com/office/powerpoint/2010/main" val="3577015228"/>
              </p:ext>
            </p:extLst>
          </p:nvPr>
        </p:nvGraphicFramePr>
        <p:xfrm>
          <a:off x="6888088" y="4293096"/>
          <a:ext cx="2016224" cy="451014"/>
        </p:xfrm>
        <a:graphic>
          <a:graphicData uri="http://schemas.openxmlformats.org/presentationml/2006/ole">
            <mc:AlternateContent xmlns:mc="http://schemas.openxmlformats.org/markup-compatibility/2006">
              <mc:Choice xmlns:v="urn:schemas-microsoft-com:vml" Requires="v">
                <p:oleObj spid="_x0000_s366720" name="Equation" r:id="rId15" imgW="1218960" imgH="266400" progId="Equation.DSMT4">
                  <p:embed/>
                </p:oleObj>
              </mc:Choice>
              <mc:Fallback>
                <p:oleObj name="Equation" r:id="rId15" imgW="1218960" imgH="26640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88088" y="4293096"/>
                        <a:ext cx="2016224" cy="451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矩形 11"/>
          <p:cNvSpPr/>
          <p:nvPr/>
        </p:nvSpPr>
        <p:spPr>
          <a:xfrm>
            <a:off x="551384" y="188640"/>
            <a:ext cx="2448272" cy="523220"/>
          </a:xfrm>
          <a:prstGeom prst="rect">
            <a:avLst/>
          </a:prstGeom>
        </p:spPr>
        <p:txBody>
          <a:bodyPr wrap="square">
            <a:spAutoFit/>
          </a:bodyPr>
          <a:lstStyle/>
          <a:p>
            <a:pPr>
              <a:buNone/>
            </a:pPr>
            <a:r>
              <a:rPr lang="en-US" altLang="zh-CN" sz="2800" b="1" dirty="0">
                <a:latin typeface="Times New Roman" panose="02020603050405020304" pitchFamily="18" charset="0"/>
                <a:ea typeface="黑体" pitchFamily="49" charset="-122"/>
                <a:cs typeface="Times New Roman" panose="02020603050405020304" pitchFamily="18" charset="0"/>
              </a:rPr>
              <a:t>17.4 </a:t>
            </a:r>
            <a:r>
              <a:rPr lang="zh-CN" altLang="en-US" sz="2800" b="1" dirty="0">
                <a:latin typeface="Times New Roman" panose="02020603050405020304" pitchFamily="18" charset="0"/>
                <a:ea typeface="黑体" pitchFamily="49" charset="-122"/>
                <a:cs typeface="Times New Roman" panose="02020603050405020304" pitchFamily="18" charset="0"/>
              </a:rPr>
              <a:t>实例分析</a:t>
            </a:r>
            <a:endParaRPr lang="en-US" altLang="zh-CN" sz="2800" b="1" dirty="0">
              <a:latin typeface="Times New Roman" panose="02020603050405020304" pitchFamily="18" charset="0"/>
              <a:ea typeface="黑体" pitchFamily="49" charset="-122"/>
              <a:cs typeface="Times New Roman" panose="02020603050405020304" pitchFamily="18" charset="0"/>
            </a:endParaRPr>
          </a:p>
        </p:txBody>
      </p:sp>
    </p:spTree>
    <p:extLst>
      <p:ext uri="{BB962C8B-B14F-4D97-AF65-F5344CB8AC3E}">
        <p14:creationId xmlns:p14="http://schemas.microsoft.com/office/powerpoint/2010/main" val="3238990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内容占位符 2"/>
          <p:cNvSpPr>
            <a:spLocks noGrp="1"/>
          </p:cNvSpPr>
          <p:nvPr>
            <p:ph idx="1"/>
          </p:nvPr>
        </p:nvSpPr>
        <p:spPr>
          <a:xfrm>
            <a:off x="1933486" y="116632"/>
            <a:ext cx="8472518" cy="5224462"/>
          </a:xfrm>
        </p:spPr>
        <p:txBody>
          <a:bodyPr/>
          <a:lstStyle/>
          <a:p>
            <a:pPr>
              <a:buNone/>
            </a:pP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buNone/>
            </a:pP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注意</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buNone/>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求的是相关矩阵</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的特征向量和特征值，这里怎么求的是协方差矩阵</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sz="2400" b="1"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其实协方差矩阵也是：</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可以看出其实用          </a:t>
            </a:r>
            <a:r>
              <a:rPr 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代替</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就成了相关矩阵</a:t>
            </a:r>
            <a:r>
              <a:rPr lang="en-US" sz="2400" b="1" i="1"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b="1" i="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相当于原始样本向量都减去个平均向量，实质上还是一样的，协方差矩阵也是实对称矩阵。</a:t>
            </a:r>
          </a:p>
          <a:p>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5715" name="灯片编号占位符 3"/>
          <p:cNvSpPr>
            <a:spLocks noGrp="1"/>
          </p:cNvSpPr>
          <p:nvPr>
            <p:ph type="sldNum" sz="quarter" idx="11"/>
          </p:nvPr>
        </p:nvSpPr>
        <p:spPr>
          <a:noFill/>
        </p:spPr>
        <p:txBody>
          <a:bodyPr/>
          <a:lstStyle/>
          <a:p>
            <a:fld id="{7827BF76-CE43-436C-BBA1-12C167A3DFAC}" type="slidenum">
              <a:rPr lang="en-US" altLang="zh-CN" smtClean="0"/>
              <a:pPr/>
              <a:t>38</a:t>
            </a:fld>
            <a:endParaRPr lang="en-US" altLang="zh-CN" dirty="0"/>
          </a:p>
        </p:txBody>
      </p:sp>
      <p:grpSp>
        <p:nvGrpSpPr>
          <p:cNvPr id="2" name="组合 10"/>
          <p:cNvGrpSpPr/>
          <p:nvPr/>
        </p:nvGrpSpPr>
        <p:grpSpPr>
          <a:xfrm>
            <a:off x="4007768" y="1556792"/>
            <a:ext cx="3760232" cy="2742976"/>
            <a:chOff x="2618236" y="1412776"/>
            <a:chExt cx="3760232" cy="2742976"/>
          </a:xfrm>
        </p:grpSpPr>
        <p:graphicFrame>
          <p:nvGraphicFramePr>
            <p:cNvPr id="218116" name="Object 4"/>
            <p:cNvGraphicFramePr>
              <a:graphicFrameLocks noChangeAspect="1"/>
            </p:cNvGraphicFramePr>
            <p:nvPr/>
          </p:nvGraphicFramePr>
          <p:xfrm>
            <a:off x="2618236" y="2996952"/>
            <a:ext cx="3065463" cy="692150"/>
          </p:xfrm>
          <a:graphic>
            <a:graphicData uri="http://schemas.openxmlformats.org/presentationml/2006/ole">
              <mc:AlternateContent xmlns:mc="http://schemas.openxmlformats.org/markup-compatibility/2006">
                <mc:Choice xmlns:v="urn:schemas-microsoft-com:vml" Requires="v">
                  <p:oleObj spid="_x0000_s285394" name="Equation" r:id="rId4" imgW="1841400" imgH="406080" progId="Equation.DSMT4">
                    <p:embed/>
                  </p:oleObj>
                </mc:Choice>
                <mc:Fallback>
                  <p:oleObj name="Equation" r:id="rId4" imgW="1841400" imgH="40608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8236" y="2996952"/>
                          <a:ext cx="3065463"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8117" name="Object 5"/>
            <p:cNvGraphicFramePr>
              <a:graphicFrameLocks noChangeAspect="1"/>
            </p:cNvGraphicFramePr>
            <p:nvPr/>
          </p:nvGraphicFramePr>
          <p:xfrm>
            <a:off x="3050284" y="3789040"/>
            <a:ext cx="803275" cy="366712"/>
          </p:xfrm>
          <a:graphic>
            <a:graphicData uri="http://schemas.openxmlformats.org/presentationml/2006/ole">
              <mc:AlternateContent xmlns:mc="http://schemas.openxmlformats.org/markup-compatibility/2006">
                <mc:Choice xmlns:v="urn:schemas-microsoft-com:vml" Requires="v">
                  <p:oleObj spid="_x0000_s285395" name="Equation" r:id="rId6" imgW="482400" imgH="215640" progId="Equation.DSMT4">
                    <p:embed/>
                  </p:oleObj>
                </mc:Choice>
                <mc:Fallback>
                  <p:oleObj name="Equation" r:id="rId6" imgW="482400" imgH="215640" progId="Equation.DSMT4">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50284" y="3789040"/>
                          <a:ext cx="8032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8118" name="Object 6"/>
            <p:cNvGraphicFramePr>
              <a:graphicFrameLocks noChangeAspect="1"/>
            </p:cNvGraphicFramePr>
            <p:nvPr>
              <p:extLst>
                <p:ext uri="{D42A27DB-BD31-4B8C-83A1-F6EECF244321}">
                  <p14:modId xmlns:p14="http://schemas.microsoft.com/office/powerpoint/2010/main" val="1737407298"/>
                </p:ext>
              </p:extLst>
            </p:nvPr>
          </p:nvGraphicFramePr>
          <p:xfrm>
            <a:off x="3443180" y="1838759"/>
            <a:ext cx="2935288" cy="685800"/>
          </p:xfrm>
          <a:graphic>
            <a:graphicData uri="http://schemas.openxmlformats.org/presentationml/2006/ole">
              <mc:AlternateContent xmlns:mc="http://schemas.openxmlformats.org/markup-compatibility/2006">
                <mc:Choice xmlns:v="urn:schemas-microsoft-com:vml" Requires="v">
                  <p:oleObj spid="_x0000_s285396" name="Equation" r:id="rId8" imgW="2006280" imgH="457200" progId="Equation.DSMT4">
                    <p:embed/>
                  </p:oleObj>
                </mc:Choice>
                <mc:Fallback>
                  <p:oleObj name="Equation" r:id="rId8" imgW="2006280" imgH="457200" progId="Equation.DSMT4">
                    <p:embed/>
                    <p:pic>
                      <p:nvPicPr>
                        <p:cNvPr id="0" name="Picture 4"/>
                        <p:cNvPicPr>
                          <a:picLocks noChangeAspect="1" noChangeArrowheads="1"/>
                        </p:cNvPicPr>
                        <p:nvPr/>
                      </p:nvPicPr>
                      <p:blipFill>
                        <a:blip r:embed="rId9"/>
                        <a:srcRect/>
                        <a:stretch>
                          <a:fillRect/>
                        </a:stretch>
                      </p:blipFill>
                      <p:spPr bwMode="auto">
                        <a:xfrm>
                          <a:off x="3443180" y="1838759"/>
                          <a:ext cx="2935288"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8119" name="Object 7"/>
            <p:cNvGraphicFramePr>
              <a:graphicFrameLocks noChangeAspect="1"/>
            </p:cNvGraphicFramePr>
            <p:nvPr/>
          </p:nvGraphicFramePr>
          <p:xfrm>
            <a:off x="3050284" y="1412776"/>
            <a:ext cx="1585913" cy="519112"/>
          </p:xfrm>
          <a:graphic>
            <a:graphicData uri="http://schemas.openxmlformats.org/presentationml/2006/ole">
              <mc:AlternateContent xmlns:mc="http://schemas.openxmlformats.org/markup-compatibility/2006">
                <mc:Choice xmlns:v="urn:schemas-microsoft-com:vml" Requires="v">
                  <p:oleObj spid="_x0000_s285397" name="Equation" r:id="rId10" imgW="952200" imgH="304560" progId="Equation.DSMT4">
                    <p:embed/>
                  </p:oleObj>
                </mc:Choice>
                <mc:Fallback>
                  <p:oleObj name="Equation" r:id="rId10" imgW="952200" imgH="304560" progId="Equation.DSMT4">
                    <p:embed/>
                    <p:pic>
                      <p:nvPicPr>
                        <p:cNvPr id="0"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50284" y="1412776"/>
                          <a:ext cx="15859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9" name="矩形 8"/>
          <p:cNvSpPr/>
          <p:nvPr/>
        </p:nvSpPr>
        <p:spPr>
          <a:xfrm>
            <a:off x="551384" y="188640"/>
            <a:ext cx="2448272" cy="523220"/>
          </a:xfrm>
          <a:prstGeom prst="rect">
            <a:avLst/>
          </a:prstGeom>
        </p:spPr>
        <p:txBody>
          <a:bodyPr wrap="square">
            <a:spAutoFit/>
          </a:bodyPr>
          <a:lstStyle/>
          <a:p>
            <a:pPr>
              <a:buNone/>
            </a:pPr>
            <a:r>
              <a:rPr lang="en-US" altLang="zh-CN" sz="2800" b="1" dirty="0">
                <a:latin typeface="Times New Roman" panose="02020603050405020304" pitchFamily="18" charset="0"/>
                <a:ea typeface="黑体" pitchFamily="49" charset="-122"/>
                <a:cs typeface="Times New Roman" panose="02020603050405020304" pitchFamily="18" charset="0"/>
              </a:rPr>
              <a:t>17.4 </a:t>
            </a:r>
            <a:r>
              <a:rPr lang="zh-CN" altLang="en-US" sz="2800" b="1" dirty="0">
                <a:latin typeface="Times New Roman" panose="02020603050405020304" pitchFamily="18" charset="0"/>
                <a:ea typeface="黑体" pitchFamily="49" charset="-122"/>
                <a:cs typeface="Times New Roman" panose="02020603050405020304" pitchFamily="18" charset="0"/>
              </a:rPr>
              <a:t>实例分析</a:t>
            </a:r>
            <a:endParaRPr lang="en-US" altLang="zh-CN" sz="2800" b="1" dirty="0">
              <a:latin typeface="Times New Roman" panose="02020603050405020304" pitchFamily="18" charset="0"/>
              <a:ea typeface="黑体" pitchFamily="49" charset="-122"/>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内容占位符 2"/>
          <p:cNvSpPr>
            <a:spLocks noGrp="1"/>
          </p:cNvSpPr>
          <p:nvPr>
            <p:ph idx="1"/>
          </p:nvPr>
        </p:nvSpPr>
        <p:spPr>
          <a:xfrm>
            <a:off x="1981200" y="940842"/>
            <a:ext cx="8472518" cy="5224462"/>
          </a:xfrm>
        </p:spPr>
        <p:txBody>
          <a:bodyPr/>
          <a:lstStyle/>
          <a:p>
            <a:pPr>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注意</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在人脸识别过程中，对输入的一个测试样本</a:t>
            </a:r>
            <a:r>
              <a:rPr lang="en-US" sz="2400" b="1" i="1"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，求出它与平均脸的偏差</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，则</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在特征脸空间</a:t>
            </a:r>
            <a:r>
              <a:rPr lang="en-US" sz="2400" b="1" i="1" dirty="0">
                <a:latin typeface="Times New Roman" panose="02020603050405020304" pitchFamily="18" charset="0"/>
                <a:ea typeface="宋体" panose="02010600030101010101" pitchFamily="2" charset="-122"/>
                <a:cs typeface="Times New Roman" panose="02020603050405020304" pitchFamily="18" charset="0"/>
              </a:rPr>
              <a:t>U</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的投影，可以表示为系数向量</a:t>
            </a:r>
            <a:r>
              <a:rPr lang="en-US" sz="2400" b="1" i="1" dirty="0">
                <a:latin typeface="Times New Roman" panose="02020603050405020304" pitchFamily="18" charset="0"/>
                <a:ea typeface="宋体" panose="02010600030101010101" pitchFamily="2" charset="-122"/>
                <a:cs typeface="Times New Roman" panose="02020603050405020304" pitchFamily="18" charset="0"/>
              </a:rPr>
              <a:t>y</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p>
          <a:p>
            <a:pPr>
              <a:buNone/>
            </a:pPr>
            <a:r>
              <a:rPr lang="en-US" sz="2400" b="1" i="1"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a:p>
            <a:pPr>
              <a:buNone/>
            </a:pPr>
            <a:r>
              <a:rPr lang="zh-CN" altLang="en-US" sz="2400" b="1" i="1" dirty="0">
                <a:latin typeface="Times New Roman" panose="02020603050405020304" pitchFamily="18" charset="0"/>
                <a:ea typeface="宋体" panose="02010600030101010101" pitchFamily="2" charset="-122"/>
                <a:cs typeface="Times New Roman" panose="02020603050405020304" pitchFamily="18" charset="0"/>
              </a:rPr>
              <a:t>    </a:t>
            </a:r>
            <a:r>
              <a:rPr lang="en-US" sz="2400" b="1" i="1" dirty="0">
                <a:latin typeface="Times New Roman" panose="02020603050405020304" pitchFamily="18" charset="0"/>
                <a:ea typeface="宋体" panose="02010600030101010101" pitchFamily="2" charset="-122"/>
                <a:cs typeface="Times New Roman" panose="02020603050405020304" pitchFamily="18" charset="0"/>
              </a:rPr>
              <a:t>U</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的维数为</a:t>
            </a:r>
            <a:r>
              <a:rPr lang="en-US" sz="2400" b="1" i="1" dirty="0" err="1">
                <a:latin typeface="Times New Roman" panose="02020603050405020304" pitchFamily="18" charset="0"/>
                <a:ea typeface="宋体" panose="02010600030101010101" pitchFamily="2" charset="-122"/>
                <a:cs typeface="Times New Roman" panose="02020603050405020304" pitchFamily="18" charset="0"/>
              </a:rPr>
              <a:t>M×d</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的维数为</a:t>
            </a:r>
            <a:r>
              <a:rPr lang="en-US" sz="2400" b="1" i="1" dirty="0">
                <a:latin typeface="Times New Roman" panose="02020603050405020304" pitchFamily="18" charset="0"/>
                <a:ea typeface="宋体" panose="02010600030101010101" pitchFamily="2" charset="-122"/>
                <a:cs typeface="Times New Roman" panose="02020603050405020304" pitchFamily="18" charset="0"/>
              </a:rPr>
              <a:t>M×1</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sz="2400" b="1" i="1" dirty="0">
                <a:latin typeface="Times New Roman" panose="02020603050405020304" pitchFamily="18" charset="0"/>
                <a:ea typeface="宋体" panose="02010600030101010101" pitchFamily="2" charset="-122"/>
                <a:cs typeface="Times New Roman" panose="02020603050405020304" pitchFamily="18" charset="0"/>
              </a:rPr>
              <a:t>y</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的维数</a:t>
            </a:r>
            <a:r>
              <a:rPr lang="en-US" sz="2400" b="1" i="1" dirty="0">
                <a:latin typeface="Times New Roman" panose="02020603050405020304" pitchFamily="18" charset="0"/>
                <a:ea typeface="宋体" panose="02010600030101010101" pitchFamily="2" charset="-122"/>
                <a:cs typeface="Times New Roman" panose="02020603050405020304" pitchFamily="18" charset="0"/>
              </a:rPr>
              <a:t>d×1</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。若</a:t>
            </a:r>
            <a:r>
              <a:rPr lang="en-US" sz="2400" b="1" i="1" dirty="0">
                <a:latin typeface="Times New Roman" panose="02020603050405020304" pitchFamily="18" charset="0"/>
                <a:ea typeface="宋体" panose="02010600030101010101" pitchFamily="2" charset="-122"/>
                <a:cs typeface="Times New Roman" panose="02020603050405020304" pitchFamily="18" charset="0"/>
              </a:rPr>
              <a:t>M</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为</a:t>
            </a:r>
            <a:r>
              <a:rPr lang="en-US" sz="2400" b="1" dirty="0">
                <a:latin typeface="Times New Roman" panose="02020603050405020304" pitchFamily="18" charset="0"/>
                <a:ea typeface="宋体" panose="02010600030101010101" pitchFamily="2" charset="-122"/>
                <a:cs typeface="Times New Roman" panose="02020603050405020304" pitchFamily="18" charset="0"/>
              </a:rPr>
              <a:t>200*200=40000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维，取</a:t>
            </a:r>
            <a:r>
              <a:rPr lang="en-US" sz="2400" b="1" dirty="0">
                <a:latin typeface="Times New Roman" panose="02020603050405020304" pitchFamily="18" charset="0"/>
                <a:ea typeface="宋体" panose="02010600030101010101" pitchFamily="2" charset="-122"/>
                <a:cs typeface="Times New Roman" panose="02020603050405020304" pitchFamily="18" charset="0"/>
              </a:rPr>
              <a:t>200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个主成分，即</a:t>
            </a:r>
            <a:r>
              <a:rPr lang="en-US" sz="2400" b="1" dirty="0">
                <a:latin typeface="Times New Roman" panose="02020603050405020304" pitchFamily="18" charset="0"/>
                <a:ea typeface="宋体" panose="02010600030101010101" pitchFamily="2" charset="-122"/>
                <a:cs typeface="Times New Roman" panose="02020603050405020304" pitchFamily="18" charset="0"/>
              </a:rPr>
              <a:t>200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个特征向量，则最后投影的系数向量</a:t>
            </a:r>
            <a:r>
              <a:rPr lang="en-US" sz="2400" b="1" i="1" dirty="0">
                <a:latin typeface="Times New Roman" panose="02020603050405020304" pitchFamily="18" charset="0"/>
                <a:ea typeface="宋体" panose="02010600030101010101" pitchFamily="2" charset="-122"/>
                <a:cs typeface="Times New Roman" panose="02020603050405020304" pitchFamily="18" charset="0"/>
              </a:rPr>
              <a:t>y</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维数降维到</a:t>
            </a:r>
            <a:r>
              <a:rPr lang="en-US" sz="2400" b="1" dirty="0">
                <a:latin typeface="Times New Roman" panose="02020603050405020304" pitchFamily="18" charset="0"/>
                <a:ea typeface="宋体" panose="02010600030101010101" pitchFamily="2" charset="-122"/>
                <a:cs typeface="Times New Roman" panose="02020603050405020304" pitchFamily="18" charset="0"/>
              </a:rPr>
              <a:t>200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维。</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buNone/>
            </a:pPr>
            <a:r>
              <a:rPr 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还有：</a:t>
            </a:r>
            <a:r>
              <a:rPr lang="en-US" sz="2400" b="1"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a:p>
            <a:pPr>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这里的</a:t>
            </a:r>
            <a:r>
              <a:rPr lang="en-US" sz="2400" b="1" i="1"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就是根据投影系数向量</a:t>
            </a:r>
            <a:r>
              <a:rPr lang="en-US" sz="2400" b="1" i="1" dirty="0">
                <a:latin typeface="Times New Roman" panose="02020603050405020304" pitchFamily="18" charset="0"/>
                <a:ea typeface="宋体" panose="02010600030101010101" pitchFamily="2" charset="-122"/>
                <a:cs typeface="Times New Roman" panose="02020603050405020304" pitchFamily="18" charset="0"/>
              </a:rPr>
              <a:t>y</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重构出的人脸图像，丢失了部分图像信息，但不会影响图像质量。</a:t>
            </a:r>
          </a:p>
          <a:p>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a:p>
            <a:pPr>
              <a:buNone/>
            </a:pP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buNone/>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5715" name="灯片编号占位符 3"/>
          <p:cNvSpPr>
            <a:spLocks noGrp="1"/>
          </p:cNvSpPr>
          <p:nvPr>
            <p:ph type="sldNum" sz="quarter" idx="11"/>
          </p:nvPr>
        </p:nvSpPr>
        <p:spPr>
          <a:noFill/>
        </p:spPr>
        <p:txBody>
          <a:bodyPr/>
          <a:lstStyle/>
          <a:p>
            <a:fld id="{7827BF76-CE43-436C-BBA1-12C167A3DFAC}" type="slidenum">
              <a:rPr lang="en-US" altLang="zh-CN" smtClean="0"/>
              <a:pPr/>
              <a:t>39</a:t>
            </a:fld>
            <a:endParaRPr lang="en-US" altLang="zh-CN" dirty="0"/>
          </a:p>
        </p:txBody>
      </p:sp>
      <p:grpSp>
        <p:nvGrpSpPr>
          <p:cNvPr id="2" name="组合 22"/>
          <p:cNvGrpSpPr/>
          <p:nvPr/>
        </p:nvGrpSpPr>
        <p:grpSpPr>
          <a:xfrm>
            <a:off x="3935760" y="1772817"/>
            <a:ext cx="2966690" cy="2798539"/>
            <a:chOff x="2411760" y="1772816"/>
            <a:chExt cx="2966690" cy="2798539"/>
          </a:xfrm>
        </p:grpSpPr>
        <p:graphicFrame>
          <p:nvGraphicFramePr>
            <p:cNvPr id="220175" name="Object 15"/>
            <p:cNvGraphicFramePr>
              <a:graphicFrameLocks noChangeAspect="1"/>
            </p:cNvGraphicFramePr>
            <p:nvPr/>
          </p:nvGraphicFramePr>
          <p:xfrm>
            <a:off x="2411760" y="1772816"/>
            <a:ext cx="803275" cy="366713"/>
          </p:xfrm>
          <a:graphic>
            <a:graphicData uri="http://schemas.openxmlformats.org/presentationml/2006/ole">
              <mc:AlternateContent xmlns:mc="http://schemas.openxmlformats.org/markup-compatibility/2006">
                <mc:Choice xmlns:v="urn:schemas-microsoft-com:vml" Requires="v">
                  <p:oleObj spid="_x0000_s286598" name="Equation" r:id="rId4" imgW="482400" imgH="215640" progId="Equation.DSMT4">
                    <p:embed/>
                  </p:oleObj>
                </mc:Choice>
                <mc:Fallback>
                  <p:oleObj name="Equation" r:id="rId4" imgW="482400" imgH="21564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760" y="1772816"/>
                          <a:ext cx="8032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76" name="Object 16"/>
            <p:cNvGraphicFramePr>
              <a:graphicFrameLocks noChangeAspect="1"/>
            </p:cNvGraphicFramePr>
            <p:nvPr/>
          </p:nvGraphicFramePr>
          <p:xfrm>
            <a:off x="3923928" y="1772816"/>
            <a:ext cx="803275" cy="366713"/>
          </p:xfrm>
          <a:graphic>
            <a:graphicData uri="http://schemas.openxmlformats.org/presentationml/2006/ole">
              <mc:AlternateContent xmlns:mc="http://schemas.openxmlformats.org/markup-compatibility/2006">
                <mc:Choice xmlns:v="urn:schemas-microsoft-com:vml" Requires="v">
                  <p:oleObj spid="_x0000_s286599" name="Equation" r:id="rId6" imgW="482400" imgH="215640" progId="Equation.DSMT4">
                    <p:embed/>
                  </p:oleObj>
                </mc:Choice>
                <mc:Fallback>
                  <p:oleObj name="Equation" r:id="rId6" imgW="482400" imgH="215640" progId="Equation.DSMT4">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3928" y="1772816"/>
                          <a:ext cx="8032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77" name="Object 17"/>
            <p:cNvGraphicFramePr>
              <a:graphicFrameLocks noChangeAspect="1"/>
            </p:cNvGraphicFramePr>
            <p:nvPr/>
          </p:nvGraphicFramePr>
          <p:xfrm>
            <a:off x="3382963" y="2428875"/>
            <a:ext cx="1995487" cy="585788"/>
          </p:xfrm>
          <a:graphic>
            <a:graphicData uri="http://schemas.openxmlformats.org/presentationml/2006/ole">
              <mc:AlternateContent xmlns:mc="http://schemas.openxmlformats.org/markup-compatibility/2006">
                <mc:Choice xmlns:v="urn:schemas-microsoft-com:vml" Requires="v">
                  <p:oleObj spid="_x0000_s286600" name="Equation" r:id="rId7" imgW="1104840" imgH="317160" progId="Equation.DSMT4">
                    <p:embed/>
                  </p:oleObj>
                </mc:Choice>
                <mc:Fallback>
                  <p:oleObj name="Equation" r:id="rId7" imgW="1104840" imgH="31716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82963" y="2428875"/>
                          <a:ext cx="1995487"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78" name="Object 18"/>
            <p:cNvGraphicFramePr>
              <a:graphicFrameLocks noChangeAspect="1"/>
            </p:cNvGraphicFramePr>
            <p:nvPr/>
          </p:nvGraphicFramePr>
          <p:xfrm>
            <a:off x="3203848" y="2996952"/>
            <a:ext cx="803275" cy="366713"/>
          </p:xfrm>
          <a:graphic>
            <a:graphicData uri="http://schemas.openxmlformats.org/presentationml/2006/ole">
              <mc:AlternateContent xmlns:mc="http://schemas.openxmlformats.org/markup-compatibility/2006">
                <mc:Choice xmlns:v="urn:schemas-microsoft-com:vml" Requires="v">
                  <p:oleObj spid="_x0000_s286601" name="Equation" r:id="rId9" imgW="482400" imgH="215640" progId="Equation.DSMT4">
                    <p:embed/>
                  </p:oleObj>
                </mc:Choice>
                <mc:Fallback>
                  <p:oleObj name="Equation" r:id="rId9" imgW="482400" imgH="215640" progId="Equation.DSMT4">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848" y="2996952"/>
                          <a:ext cx="8032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79" name="Object 19"/>
            <p:cNvGraphicFramePr>
              <a:graphicFrameLocks noChangeAspect="1"/>
            </p:cNvGraphicFramePr>
            <p:nvPr/>
          </p:nvGraphicFramePr>
          <p:xfrm>
            <a:off x="3347864" y="4149080"/>
            <a:ext cx="1558925" cy="422275"/>
          </p:xfrm>
          <a:graphic>
            <a:graphicData uri="http://schemas.openxmlformats.org/presentationml/2006/ole">
              <mc:AlternateContent xmlns:mc="http://schemas.openxmlformats.org/markup-compatibility/2006">
                <mc:Choice xmlns:v="urn:schemas-microsoft-com:vml" Requires="v">
                  <p:oleObj spid="_x0000_s286602" name="Equation" r:id="rId10" imgW="863280" imgH="228600" progId="Equation.DSMT4">
                    <p:embed/>
                  </p:oleObj>
                </mc:Choice>
                <mc:Fallback>
                  <p:oleObj name="Equation" r:id="rId10" imgW="863280" imgH="228600" progId="Equation.DSMT4">
                    <p:embed/>
                    <p:pic>
                      <p:nvPicPr>
                        <p:cNvPr id="0"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47864" y="4149080"/>
                          <a:ext cx="1558925"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0" name="矩形 9"/>
          <p:cNvSpPr/>
          <p:nvPr/>
        </p:nvSpPr>
        <p:spPr>
          <a:xfrm>
            <a:off x="551384" y="188640"/>
            <a:ext cx="2448272" cy="523220"/>
          </a:xfrm>
          <a:prstGeom prst="rect">
            <a:avLst/>
          </a:prstGeom>
        </p:spPr>
        <p:txBody>
          <a:bodyPr wrap="square">
            <a:spAutoFit/>
          </a:bodyPr>
          <a:lstStyle/>
          <a:p>
            <a:pPr>
              <a:buNone/>
            </a:pPr>
            <a:r>
              <a:rPr lang="en-US" altLang="zh-CN" sz="2800" b="1" dirty="0">
                <a:latin typeface="Times New Roman" panose="02020603050405020304" pitchFamily="18" charset="0"/>
                <a:ea typeface="黑体" pitchFamily="49" charset="-122"/>
                <a:cs typeface="Times New Roman" panose="02020603050405020304" pitchFamily="18" charset="0"/>
              </a:rPr>
              <a:t>17.4 </a:t>
            </a:r>
            <a:r>
              <a:rPr lang="zh-CN" altLang="en-US" sz="2800" b="1" dirty="0">
                <a:latin typeface="Times New Roman" panose="02020603050405020304" pitchFamily="18" charset="0"/>
                <a:ea typeface="黑体" pitchFamily="49" charset="-122"/>
                <a:cs typeface="Times New Roman" panose="02020603050405020304" pitchFamily="18" charset="0"/>
              </a:rPr>
              <a:t>实例分析</a:t>
            </a:r>
            <a:endParaRPr lang="en-US" altLang="zh-CN" sz="2800" b="1" dirty="0">
              <a:latin typeface="Times New Roman" panose="02020603050405020304" pitchFamily="18" charset="0"/>
              <a:ea typeface="黑体" pitchFamily="49" charset="-122"/>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内容占位符 2"/>
          <p:cNvSpPr>
            <a:spLocks noGrp="1"/>
          </p:cNvSpPr>
          <p:nvPr>
            <p:ph idx="1"/>
          </p:nvPr>
        </p:nvSpPr>
        <p:spPr>
          <a:xfrm>
            <a:off x="767408" y="116632"/>
            <a:ext cx="5124052" cy="5760640"/>
          </a:xfrm>
          <a:solidFill>
            <a:schemeClr val="bg1"/>
          </a:solidFill>
        </p:spPr>
        <p:txBody>
          <a:bodyPr/>
          <a:lstStyle/>
          <a:p>
            <a:pPr>
              <a:buNone/>
            </a:pPr>
            <a:r>
              <a:rPr lang="en-US" altLang="zh-CN" sz="3200" b="1" dirty="0">
                <a:latin typeface="Times New Roman" panose="02020603050405020304" pitchFamily="18" charset="0"/>
                <a:ea typeface="黑体" pitchFamily="49" charset="-122"/>
                <a:cs typeface="Times New Roman" panose="02020603050405020304" pitchFamily="18" charset="0"/>
              </a:rPr>
              <a:t>17.4 </a:t>
            </a:r>
            <a:r>
              <a:rPr lang="zh-CN" altLang="en-US" sz="3200" b="1" dirty="0">
                <a:latin typeface="Times New Roman" panose="02020603050405020304" pitchFamily="18" charset="0"/>
                <a:ea typeface="黑体" pitchFamily="49" charset="-122"/>
                <a:cs typeface="Times New Roman" panose="02020603050405020304" pitchFamily="18" charset="0"/>
              </a:rPr>
              <a:t>实例分析</a:t>
            </a:r>
            <a:endParaRPr lang="en-US" altLang="zh-CN" sz="3200" b="1" dirty="0">
              <a:latin typeface="Times New Roman" panose="02020603050405020304" pitchFamily="18" charset="0"/>
              <a:ea typeface="黑体" pitchFamily="49" charset="-122"/>
              <a:cs typeface="Times New Roman" panose="02020603050405020304" pitchFamily="18" charset="0"/>
            </a:endParaRPr>
          </a:p>
          <a:p>
            <a:pPr marL="0" indent="0">
              <a:spcBef>
                <a:spcPct val="0"/>
              </a:spcBef>
              <a:buClrTx/>
              <a:buNone/>
            </a:pPr>
            <a:r>
              <a:rPr lang="en-US" altLang="zh-CN" sz="4400" b="1" dirty="0">
                <a:solidFill>
                  <a:srgbClr val="4B4B4B"/>
                </a:solidFill>
                <a:latin typeface="Calibri" pitchFamily="34" charset="0"/>
                <a:ea typeface="宋体" pitchFamily="2" charset="-122"/>
                <a:cs typeface="宋体" pitchFamily="2" charset="-122"/>
              </a:rPr>
              <a:t>  </a:t>
            </a:r>
            <a:r>
              <a:rPr lang="zh-CN" altLang="en-US"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其中第一行的</a:t>
            </a:r>
            <a:r>
              <a:rPr lang="en-US" altLang="zh-CN"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张人脸分别为</a:t>
            </a:r>
            <a:r>
              <a:rPr lang="en-US" altLang="zh-CN"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20</a:t>
            </a:r>
            <a:r>
              <a:rPr lang="zh-CN" altLang="en-US"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张原图中的</a:t>
            </a:r>
            <a:r>
              <a:rPr lang="en-US" altLang="zh-CN"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张，这里取的是</a:t>
            </a:r>
            <a:r>
              <a:rPr lang="en-US" altLang="zh-CN"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个不同人的。</a:t>
            </a: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a:p>
            <a:pPr marL="0" indent="0">
              <a:spcBef>
                <a:spcPct val="0"/>
              </a:spcBef>
              <a:buClrTx/>
              <a:buNone/>
            </a:pPr>
            <a:r>
              <a:rPr lang="zh-CN" altLang="en-US"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　　第二行中显示的</a:t>
            </a:r>
            <a:r>
              <a:rPr lang="en-US" altLang="zh-CN"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张人脸重构的人脸图像，可以看出由于只取了</a:t>
            </a:r>
            <a:r>
              <a:rPr lang="en-US" altLang="zh-CN"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个特征向量作为正交基底，因此重构后的人脸图像一些细节会丢失。如果增加保留的特征向量个数，则能较好的重构出人脸图像。</a:t>
            </a: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a:p>
            <a:pPr marL="0" indent="0">
              <a:spcBef>
                <a:spcPct val="0"/>
              </a:spcBef>
              <a:buClrTx/>
              <a:buNone/>
            </a:pPr>
            <a:r>
              <a:rPr lang="zh-CN" altLang="en-US"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　　第三行的人脸图为取的原始数据协方差矩阵特征向量的最前面</a:t>
            </a:r>
            <a:r>
              <a:rPr lang="en-US" altLang="zh-CN"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个，因此这</a:t>
            </a:r>
            <a:r>
              <a:rPr lang="en-US" altLang="zh-CN"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个人脸为最具代表人脸特征的</a:t>
            </a:r>
            <a:r>
              <a:rPr lang="en-US" altLang="zh-CN"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个</a:t>
            </a:r>
            <a:r>
              <a:rPr lang="en-US" altLang="zh-CN"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PCA</a:t>
            </a:r>
            <a:r>
              <a:rPr lang="zh-CN" altLang="en-US" sz="2400" b="1" dirty="0">
                <a:solidFill>
                  <a:srgbClr val="4B4B4B"/>
                </a:solidFill>
                <a:latin typeface="Times New Roman" panose="02020603050405020304" pitchFamily="18" charset="0"/>
                <a:ea typeface="宋体" panose="02010600030101010101" pitchFamily="2" charset="-122"/>
                <a:cs typeface="Times New Roman" panose="02020603050405020304" pitchFamily="18" charset="0"/>
              </a:rPr>
              <a:t>人脸特征。</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5715" name="灯片编号占位符 3"/>
          <p:cNvSpPr>
            <a:spLocks noGrp="1"/>
          </p:cNvSpPr>
          <p:nvPr>
            <p:ph type="sldNum" sz="quarter" idx="11"/>
          </p:nvPr>
        </p:nvSpPr>
        <p:spPr>
          <a:noFill/>
        </p:spPr>
        <p:txBody>
          <a:bodyPr/>
          <a:lstStyle/>
          <a:p>
            <a:fld id="{7827BF76-CE43-436C-BBA1-12C167A3DFAC}" type="slidenum">
              <a:rPr lang="en-US" altLang="zh-CN" smtClean="0"/>
              <a:pPr/>
              <a:t>40</a:t>
            </a:fld>
            <a:endParaRPr lang="en-US" altLang="zh-CN" dirty="0"/>
          </a:p>
        </p:txBody>
      </p:sp>
      <p:sp>
        <p:nvSpPr>
          <p:cNvPr id="219143" name="Rectangle 7"/>
          <p:cNvSpPr>
            <a:spLocks noChangeArrowheads="1"/>
          </p:cNvSpPr>
          <p:nvPr/>
        </p:nvSpPr>
        <p:spPr bwMode="auto">
          <a:xfrm>
            <a:off x="1524000" y="43934"/>
            <a:ext cx="184731" cy="369332"/>
          </a:xfrm>
          <a:prstGeom prst="rect">
            <a:avLst/>
          </a:prstGeom>
          <a:noFill/>
          <a:ln w="9525" cap="flat" cmpd="sng">
            <a:noFill/>
            <a:prstDash val="solid"/>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219142" name="图片 43" descr="http://images.cnitblog.com/blog/396755/201303/20120416-5ccfd4e2fc5944d08a10951065ac9cc2.jpg"/>
          <p:cNvPicPr>
            <a:picLocks noChangeAspect="1" noChangeArrowheads="1"/>
          </p:cNvPicPr>
          <p:nvPr/>
        </p:nvPicPr>
        <p:blipFill>
          <a:blip r:embed="rId3" cstate="print"/>
          <a:srcRect/>
          <a:stretch>
            <a:fillRect/>
          </a:stretch>
        </p:blipFill>
        <p:spPr bwMode="auto">
          <a:xfrm>
            <a:off x="5953125" y="642918"/>
            <a:ext cx="4562475" cy="5048250"/>
          </a:xfrm>
          <a:prstGeom prst="rect">
            <a:avLst/>
          </a:prstGeom>
          <a:noFill/>
        </p:spPr>
      </p:pic>
      <p:sp>
        <p:nvSpPr>
          <p:cNvPr id="219144" name="Rectangle 8"/>
          <p:cNvSpPr>
            <a:spLocks noChangeArrowheads="1"/>
          </p:cNvSpPr>
          <p:nvPr/>
        </p:nvSpPr>
        <p:spPr bwMode="auto">
          <a:xfrm>
            <a:off x="1524000" y="5505451"/>
            <a:ext cx="219932" cy="276999"/>
          </a:xfrm>
          <a:prstGeom prst="rect">
            <a:avLst/>
          </a:prstGeom>
          <a:solidFill>
            <a:srgbClr val="FFFFFF"/>
          </a:solidFill>
          <a:ln w="9525" cap="flat" cmpd="sng">
            <a:noFill/>
            <a:prstDash val="solid"/>
            <a:miter lim="800000"/>
            <a:headEnd/>
            <a:tailEnd/>
          </a:ln>
          <a:effectLst/>
        </p:spPr>
        <p:txBody>
          <a:bodyPr vert="horz" wrap="none" lIns="91440" tIns="45720" rIns="91440" bIns="45720" numCol="1" anchor="ctr" anchorCtr="0" compatLnSpc="1">
            <a:prstTxWarp prst="textNoShape">
              <a:avLst/>
            </a:prstTxWarp>
            <a:spAutoFit/>
          </a:bodyPr>
          <a:lstStyle/>
          <a:p>
            <a:pPr eaLnBrk="0" hangingPunct="0"/>
            <a:r>
              <a:rPr lang="en-US" altLang="zh-CN" sz="1200" dirty="0">
                <a:solidFill>
                  <a:srgbClr val="4B4B4B"/>
                </a:solidFill>
                <a:latin typeface="Calibri" pitchFamily="34" charset="0"/>
                <a:ea typeface="宋体" pitchFamily="2" charset="-122"/>
                <a:cs typeface="宋体" pitchFamily="2" charset="-122"/>
              </a:rPr>
              <a:t> </a:t>
            </a:r>
            <a:endParaRPr lang="zh-CN" altLang="en-US" dirty="0">
              <a:latin typeface="Arial" pitchFamily="34" charset="0"/>
              <a:ea typeface="宋体"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7651576" cy="563563"/>
          </a:xfrm>
        </p:spPr>
        <p:txBody>
          <a:bodyPr/>
          <a:lstStyle/>
          <a:p>
            <a:pPr>
              <a:buNone/>
            </a:pPr>
            <a:r>
              <a:rPr lang="en-US" altLang="zh-CN" dirty="0">
                <a:latin typeface="Times New Roman" panose="02020603050405020304" pitchFamily="18" charset="0"/>
                <a:cs typeface="Times New Roman" panose="02020603050405020304" pitchFamily="18" charset="0"/>
              </a:rPr>
              <a:t>17.4 </a:t>
            </a:r>
            <a:r>
              <a:rPr lang="zh-CN" altLang="en-US" dirty="0">
                <a:latin typeface="Times New Roman" panose="02020603050405020304" pitchFamily="18" charset="0"/>
                <a:cs typeface="Times New Roman" panose="02020603050405020304" pitchFamily="18" charset="0"/>
              </a:rPr>
              <a:t>实例分析</a:t>
            </a:r>
            <a:endParaRPr lang="en-US" altLang="zh-CN"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pPr marL="0" indent="0">
              <a:buNone/>
            </a:pPr>
            <a:r>
              <a:rPr lang="en-US" altLang="zh-CN" sz="2400" b="1" dirty="0">
                <a:latin typeface="Times New Roman" pitchFamily="18" charset="0"/>
                <a:ea typeface="Adobe Myungjo Std M" pitchFamily="18" charset="-128"/>
                <a:cs typeface="Times New Roman" pitchFamily="18" charset="0"/>
              </a:rPr>
              <a:t>M. Turk &amp; A. </a:t>
            </a:r>
            <a:r>
              <a:rPr lang="en-US" altLang="zh-CN" sz="2400" b="1" dirty="0" err="1">
                <a:latin typeface="Times New Roman" pitchFamily="18" charset="0"/>
                <a:ea typeface="Adobe Myungjo Std M" pitchFamily="18" charset="-128"/>
                <a:cs typeface="Times New Roman" pitchFamily="18" charset="0"/>
              </a:rPr>
              <a:t>Pentland</a:t>
            </a:r>
            <a:r>
              <a:rPr lang="en-US" altLang="zh-CN" sz="2400" b="1" dirty="0">
                <a:latin typeface="Times New Roman" pitchFamily="18" charset="0"/>
                <a:ea typeface="Adobe Myungjo Std M" pitchFamily="18" charset="-128"/>
                <a:cs typeface="Times New Roman" pitchFamily="18" charset="0"/>
              </a:rPr>
              <a:t>, </a:t>
            </a:r>
            <a:r>
              <a:rPr lang="en-US" altLang="zh-CN" sz="2400" b="1" dirty="0" err="1">
                <a:latin typeface="Times New Roman" pitchFamily="18" charset="0"/>
                <a:ea typeface="Adobe Myungjo Std M" pitchFamily="18" charset="-128"/>
                <a:cs typeface="Times New Roman" pitchFamily="18" charset="0"/>
              </a:rPr>
              <a:t>Eigenfaces</a:t>
            </a:r>
            <a:r>
              <a:rPr lang="en-US" altLang="zh-CN" sz="2400" b="1" dirty="0">
                <a:latin typeface="Times New Roman" pitchFamily="18" charset="0"/>
                <a:ea typeface="Adobe Myungjo Std M" pitchFamily="18" charset="-128"/>
                <a:cs typeface="Times New Roman" pitchFamily="18" charset="0"/>
              </a:rPr>
              <a:t> for </a:t>
            </a:r>
            <a:r>
              <a:rPr lang="en-US" altLang="zh-CN" sz="2400" b="1" dirty="0" err="1">
                <a:latin typeface="Times New Roman" pitchFamily="18" charset="0"/>
                <a:ea typeface="Adobe Myungjo Std M" pitchFamily="18" charset="-128"/>
                <a:cs typeface="Times New Roman" pitchFamily="18" charset="0"/>
              </a:rPr>
              <a:t>recognitionI</a:t>
            </a:r>
            <a:r>
              <a:rPr lang="en-US" altLang="zh-CN" sz="2400" b="1" dirty="0">
                <a:latin typeface="Times New Roman" pitchFamily="18" charset="0"/>
                <a:ea typeface="Adobe Myungjo Std M" pitchFamily="18" charset="-128"/>
                <a:cs typeface="Times New Roman" pitchFamily="18" charset="0"/>
              </a:rPr>
              <a:t>, Journal of Cognitive Neuroscience, vol.3, no.1, pp.71-86, 1991</a:t>
            </a:r>
          </a:p>
          <a:p>
            <a:pPr marL="0" indent="0">
              <a:buNone/>
            </a:pPr>
            <a:endParaRPr lang="en-US" altLang="zh-CN" sz="2400" b="1" dirty="0">
              <a:latin typeface="Times New Roman" pitchFamily="18" charset="0"/>
              <a:ea typeface="Adobe Myungjo Std M" pitchFamily="18" charset="-128"/>
              <a:cs typeface="Times New Roman" pitchFamily="18" charset="0"/>
            </a:endParaRPr>
          </a:p>
          <a:p>
            <a:pPr marL="0" indent="0">
              <a:buNone/>
            </a:pPr>
            <a:r>
              <a:rPr lang="en-US" altLang="zh-CN" sz="2400" b="1" dirty="0">
                <a:latin typeface="Times New Roman" pitchFamily="18" charset="0"/>
                <a:ea typeface="Adobe Myungjo Std M" pitchFamily="18" charset="-128"/>
                <a:cs typeface="Times New Roman" pitchFamily="18" charset="0"/>
              </a:rPr>
              <a:t>The MIT system diagram</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41</a:t>
            </a:fld>
            <a:endParaRPr lang="en-US" altLang="zh-CN" dirty="0"/>
          </a:p>
        </p:txBody>
      </p:sp>
      <p:pic>
        <p:nvPicPr>
          <p:cNvPr id="68610" name="Picture 2" descr="http://www-white.media.mit.edu/vismod/demos/facerec/Images/system.gif"/>
          <p:cNvPicPr>
            <a:picLocks noChangeAspect="1" noChangeArrowheads="1"/>
          </p:cNvPicPr>
          <p:nvPr/>
        </p:nvPicPr>
        <p:blipFill>
          <a:blip r:embed="rId2" r:link="rId3" cstate="print">
            <a:extLst>
              <a:ext uri="{28A0092B-C50C-407E-A947-70E740481C1C}">
                <a14:useLocalDpi xmlns:a14="http://schemas.microsoft.com/office/drawing/2010/main" val="0"/>
              </a:ext>
            </a:extLst>
          </a:blip>
          <a:srcRect/>
          <a:stretch>
            <a:fillRect/>
          </a:stretch>
        </p:blipFill>
        <p:spPr bwMode="auto">
          <a:xfrm>
            <a:off x="1559496" y="2699116"/>
            <a:ext cx="9899560" cy="3744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17739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7507560" cy="563563"/>
          </a:xfrm>
        </p:spPr>
        <p:txBody>
          <a:bodyPr/>
          <a:lstStyle/>
          <a:p>
            <a:pPr>
              <a:buNone/>
            </a:pPr>
            <a:r>
              <a:rPr lang="en-US" altLang="zh-CN" dirty="0">
                <a:latin typeface="Times New Roman" panose="02020603050405020304" pitchFamily="18" charset="0"/>
                <a:cs typeface="Times New Roman" panose="02020603050405020304" pitchFamily="18" charset="0"/>
              </a:rPr>
              <a:t>17.4 </a:t>
            </a:r>
            <a:r>
              <a:rPr lang="zh-CN" altLang="en-US" dirty="0">
                <a:latin typeface="Times New Roman" panose="02020603050405020304" pitchFamily="18" charset="0"/>
                <a:cs typeface="Times New Roman" panose="02020603050405020304" pitchFamily="18" charset="0"/>
              </a:rPr>
              <a:t>实例分析</a:t>
            </a:r>
            <a:endParaRPr lang="en-US" altLang="zh-CN"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pPr marL="0" indent="0">
              <a:buNone/>
            </a:pPr>
            <a:r>
              <a:rPr lang="zh-CN" altLang="en-US" sz="2400" b="1" dirty="0">
                <a:latin typeface="宋体" pitchFamily="2" charset="-122"/>
                <a:ea typeface="宋体" pitchFamily="2" charset="-122"/>
              </a:rPr>
              <a:t>预处理</a:t>
            </a:r>
            <a:endParaRPr lang="en-US" altLang="zh-CN" sz="2400" b="1" dirty="0">
              <a:latin typeface="宋体" pitchFamily="2" charset="-122"/>
              <a:ea typeface="宋体" pitchFamily="2" charset="-122"/>
            </a:endParaRPr>
          </a:p>
          <a:p>
            <a:pPr marL="0" indent="0">
              <a:buNone/>
            </a:pPr>
            <a:endParaRPr lang="en-US" altLang="zh-CN" sz="2400" b="1" dirty="0">
              <a:latin typeface="宋体" pitchFamily="2" charset="-122"/>
              <a:ea typeface="宋体" pitchFamily="2" charset="-122"/>
            </a:endParaRPr>
          </a:p>
          <a:p>
            <a:pPr marL="0" indent="0">
              <a:buNone/>
            </a:pPr>
            <a:endParaRPr lang="en-US" altLang="zh-CN" sz="2400" b="1" dirty="0">
              <a:latin typeface="宋体" pitchFamily="2" charset="-122"/>
              <a:ea typeface="宋体" pitchFamily="2" charset="-122"/>
            </a:endParaRPr>
          </a:p>
          <a:p>
            <a:pPr marL="0" indent="0">
              <a:buNone/>
            </a:pPr>
            <a:endParaRPr lang="en-US" altLang="zh-CN" sz="2400" b="1" dirty="0">
              <a:latin typeface="宋体" pitchFamily="2" charset="-122"/>
              <a:ea typeface="宋体" pitchFamily="2" charset="-122"/>
            </a:endParaRPr>
          </a:p>
          <a:p>
            <a:pPr marL="0" indent="0">
              <a:buNone/>
            </a:pPr>
            <a:endParaRPr lang="en-US" altLang="zh-CN" sz="2400" b="1" dirty="0">
              <a:latin typeface="宋体" pitchFamily="2" charset="-122"/>
              <a:ea typeface="宋体" pitchFamily="2" charset="-122"/>
            </a:endParaRPr>
          </a:p>
          <a:p>
            <a:pPr marL="0" indent="0">
              <a:buNone/>
            </a:pPr>
            <a:r>
              <a:rPr lang="zh-CN" altLang="zh-CN" sz="2400" b="1" dirty="0">
                <a:latin typeface="宋体" pitchFamily="2" charset="-122"/>
                <a:ea typeface="宋体" pitchFamily="2" charset="-122"/>
              </a:rPr>
              <a:t>图像归一化和裁剪</a:t>
            </a:r>
            <a:endParaRPr lang="zh-CN" altLang="en-US" sz="2400" b="1" dirty="0">
              <a:latin typeface="宋体" pitchFamily="2" charset="-122"/>
              <a:ea typeface="宋体"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42</a:t>
            </a:fld>
            <a:endParaRPr lang="en-US" altLang="zh-CN" dirty="0"/>
          </a:p>
        </p:txBody>
      </p:sp>
      <p:pic>
        <p:nvPicPr>
          <p:cNvPr id="69634" name="Picture 2" descr="http://www-white.media.mit.edu/vismod/demos/facerec/Images/system1.gif"/>
          <p:cNvPicPr>
            <a:picLocks noChangeAspect="1" noChangeArrowheads="1"/>
          </p:cNvPicPr>
          <p:nvPr/>
        </p:nvPicPr>
        <p:blipFill>
          <a:blip r:embed="rId2" r:link="rId3" cstate="print">
            <a:extLst>
              <a:ext uri="{28A0092B-C50C-407E-A947-70E740481C1C}">
                <a14:useLocalDpi xmlns:a14="http://schemas.microsoft.com/office/drawing/2010/main" val="0"/>
              </a:ext>
            </a:extLst>
          </a:blip>
          <a:srcRect/>
          <a:stretch>
            <a:fillRect/>
          </a:stretch>
        </p:blipFill>
        <p:spPr bwMode="auto">
          <a:xfrm>
            <a:off x="3108182" y="787832"/>
            <a:ext cx="7409973" cy="3361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5" name="Picture 3" descr="ms8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11986" y="3815068"/>
            <a:ext cx="2550326" cy="2864700"/>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p:cNvGrpSpPr>
            <a:grpSpLocks/>
          </p:cNvGrpSpPr>
          <p:nvPr/>
        </p:nvGrpSpPr>
        <p:grpSpPr bwMode="auto">
          <a:xfrm>
            <a:off x="4511825" y="4607483"/>
            <a:ext cx="6025975" cy="1629829"/>
            <a:chOff x="897" y="13302"/>
            <a:chExt cx="7920" cy="1440"/>
          </a:xfrm>
        </p:grpSpPr>
        <p:pic>
          <p:nvPicPr>
            <p:cNvPr id="69637" name="Picture 5" descr="http://www-white.media.mit.edu/vismod/demos/facerec/Images/p0.gif"/>
            <p:cNvPicPr>
              <a:picLocks noChangeAspect="1" noChangeArrowheads="1"/>
            </p:cNvPicPr>
            <p:nvPr/>
          </p:nvPicPr>
          <p:blipFill>
            <a:blip r:embed="rId5" r:link="rId6" cstate="print">
              <a:extLst>
                <a:ext uri="{28A0092B-C50C-407E-A947-70E740481C1C}">
                  <a14:useLocalDpi xmlns:a14="http://schemas.microsoft.com/office/drawing/2010/main" val="0"/>
                </a:ext>
              </a:extLst>
            </a:blip>
            <a:srcRect/>
            <a:stretch>
              <a:fillRect/>
            </a:stretch>
          </p:blipFill>
          <p:spPr bwMode="auto">
            <a:xfrm>
              <a:off x="897" y="13302"/>
              <a:ext cx="1440"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8" name="Picture 6" descr="http://www-white.media.mit.edu/vismod/demos/facerec/Images/p1.gif"/>
            <p:cNvPicPr>
              <a:picLocks noChangeAspect="1" noChangeArrowheads="1"/>
            </p:cNvPicPr>
            <p:nvPr/>
          </p:nvPicPr>
          <p:blipFill>
            <a:blip r:embed="rId7" r:link="rId8" cstate="print">
              <a:extLst>
                <a:ext uri="{28A0092B-C50C-407E-A947-70E740481C1C}">
                  <a14:useLocalDpi xmlns:a14="http://schemas.microsoft.com/office/drawing/2010/main" val="0"/>
                </a:ext>
              </a:extLst>
            </a:blip>
            <a:srcRect/>
            <a:stretch>
              <a:fillRect/>
            </a:stretch>
          </p:blipFill>
          <p:spPr bwMode="auto">
            <a:xfrm>
              <a:off x="2517" y="13316"/>
              <a:ext cx="1440" cy="1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9" name="Picture 7" descr="http://www-white.media.mit.edu/vismod/demos/facerec/Images/p2.gif"/>
            <p:cNvPicPr>
              <a:picLocks noChangeAspect="1" noChangeArrowheads="1"/>
            </p:cNvPicPr>
            <p:nvPr/>
          </p:nvPicPr>
          <p:blipFill>
            <a:blip r:embed="rId9" r:link="rId10" cstate="print">
              <a:extLst>
                <a:ext uri="{28A0092B-C50C-407E-A947-70E740481C1C}">
                  <a14:useLocalDpi xmlns:a14="http://schemas.microsoft.com/office/drawing/2010/main" val="0"/>
                </a:ext>
              </a:extLst>
            </a:blip>
            <a:srcRect/>
            <a:stretch>
              <a:fillRect/>
            </a:stretch>
          </p:blipFill>
          <p:spPr bwMode="auto">
            <a:xfrm>
              <a:off x="4137" y="13302"/>
              <a:ext cx="1440"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40" name="Picture 8" descr="http://www-white.media.mit.edu/vismod/demos/facerec/Images/p3.gif"/>
            <p:cNvPicPr>
              <a:picLocks noChangeAspect="1" noChangeArrowheads="1"/>
            </p:cNvPicPr>
            <p:nvPr/>
          </p:nvPicPr>
          <p:blipFill>
            <a:blip r:embed="rId11" r:link="rId12" cstate="print">
              <a:extLst>
                <a:ext uri="{28A0092B-C50C-407E-A947-70E740481C1C}">
                  <a14:useLocalDpi xmlns:a14="http://schemas.microsoft.com/office/drawing/2010/main" val="0"/>
                </a:ext>
              </a:extLst>
            </a:blip>
            <a:srcRect/>
            <a:stretch>
              <a:fillRect/>
            </a:stretch>
          </p:blipFill>
          <p:spPr bwMode="auto">
            <a:xfrm>
              <a:off x="5757" y="13334"/>
              <a:ext cx="1407" cy="1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41" name="Picture 9" descr="http://www-white.media.mit.edu/vismod/demos/facerec/Images/p4.gif"/>
            <p:cNvPicPr>
              <a:picLocks noChangeAspect="1" noChangeArrowheads="1"/>
            </p:cNvPicPr>
            <p:nvPr/>
          </p:nvPicPr>
          <p:blipFill>
            <a:blip r:embed="rId13" r:link="rId14" cstate="print">
              <a:extLst>
                <a:ext uri="{28A0092B-C50C-407E-A947-70E740481C1C}">
                  <a14:useLocalDpi xmlns:a14="http://schemas.microsoft.com/office/drawing/2010/main" val="0"/>
                </a:ext>
              </a:extLst>
            </a:blip>
            <a:srcRect/>
            <a:stretch>
              <a:fillRect/>
            </a:stretch>
          </p:blipFill>
          <p:spPr bwMode="auto">
            <a:xfrm>
              <a:off x="7377" y="13302"/>
              <a:ext cx="1440"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8326766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7939608" cy="563563"/>
          </a:xfrm>
        </p:spPr>
        <p:txBody>
          <a:bodyPr/>
          <a:lstStyle/>
          <a:p>
            <a:pPr>
              <a:buNone/>
            </a:pPr>
            <a:r>
              <a:rPr lang="en-US" altLang="zh-CN" dirty="0">
                <a:latin typeface="Times New Roman" panose="02020603050405020304" pitchFamily="18" charset="0"/>
                <a:cs typeface="Times New Roman" panose="02020603050405020304" pitchFamily="18" charset="0"/>
              </a:rPr>
              <a:t>17.4 </a:t>
            </a:r>
            <a:r>
              <a:rPr lang="zh-CN" altLang="en-US" dirty="0">
                <a:latin typeface="Times New Roman" panose="02020603050405020304" pitchFamily="18" charset="0"/>
                <a:cs typeface="Times New Roman" panose="02020603050405020304" pitchFamily="18" charset="0"/>
              </a:rPr>
              <a:t>实例分析</a:t>
            </a:r>
            <a:endParaRPr lang="en-US" altLang="zh-CN"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pPr marL="0" indent="0">
              <a:buNone/>
            </a:pPr>
            <a:r>
              <a:rPr lang="zh-CN" altLang="en-US" sz="2400" b="1" dirty="0">
                <a:latin typeface="宋体" pitchFamily="2" charset="-122"/>
                <a:ea typeface="宋体" pitchFamily="2" charset="-122"/>
              </a:rPr>
              <a:t>本征脸提取、表示和基于本征脸的分类</a:t>
            </a:r>
            <a:endParaRPr lang="en-US" altLang="zh-CN" sz="2400" b="1" dirty="0">
              <a:latin typeface="宋体" pitchFamily="2" charset="-122"/>
              <a:ea typeface="宋体" pitchFamily="2" charset="-122"/>
            </a:endParaRPr>
          </a:p>
          <a:p>
            <a:pPr marL="0" indent="0">
              <a:buNone/>
            </a:pPr>
            <a:endParaRPr lang="en-US" altLang="zh-CN" sz="2400" b="1" dirty="0">
              <a:latin typeface="Times New Roman" pitchFamily="18" charset="0"/>
              <a:cs typeface="Times New Roman" pitchFamily="18" charset="0"/>
            </a:endParaRPr>
          </a:p>
          <a:p>
            <a:pPr marL="0" indent="0">
              <a:buNone/>
            </a:pPr>
            <a:r>
              <a:rPr lang="en-US" altLang="zh-CN" sz="2400" b="1" dirty="0">
                <a:latin typeface="Times New Roman" pitchFamily="18" charset="0"/>
                <a:cs typeface="Times New Roman" pitchFamily="18" charset="0"/>
              </a:rPr>
              <a:t>The first 8 normalized </a:t>
            </a:r>
            <a:r>
              <a:rPr lang="en-US" altLang="zh-CN" sz="2400" b="1" dirty="0" err="1">
                <a:latin typeface="Times New Roman" pitchFamily="18" charset="0"/>
                <a:cs typeface="Times New Roman" pitchFamily="18" charset="0"/>
              </a:rPr>
              <a:t>eigenfaces</a:t>
            </a:r>
            <a:r>
              <a:rPr lang="en-US" altLang="zh-CN" sz="2400" dirty="0"/>
              <a:t>:</a:t>
            </a:r>
            <a:endParaRPr lang="zh-CN" altLang="en-US" sz="2400" b="1" dirty="0">
              <a:latin typeface="宋体" pitchFamily="2" charset="-122"/>
              <a:ea typeface="宋体"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43</a:t>
            </a:fld>
            <a:endParaRPr lang="en-US" altLang="zh-CN" dirty="0"/>
          </a:p>
        </p:txBody>
      </p:sp>
      <p:pic>
        <p:nvPicPr>
          <p:cNvPr id="70658" name="Picture 2" descr="http://www-white.media.mit.edu/vismod/demos/facerec/Images/feret_8eigfaces.gif"/>
          <p:cNvPicPr>
            <a:picLocks noChangeAspect="1" noChangeArrowheads="1"/>
          </p:cNvPicPr>
          <p:nvPr/>
        </p:nvPicPr>
        <p:blipFill>
          <a:blip r:embed="rId2" r:link="rId3" cstate="print">
            <a:extLst>
              <a:ext uri="{28A0092B-C50C-407E-A947-70E740481C1C}">
                <a14:useLocalDpi xmlns:a14="http://schemas.microsoft.com/office/drawing/2010/main" val="0"/>
              </a:ext>
            </a:extLst>
          </a:blip>
          <a:srcRect/>
          <a:stretch>
            <a:fillRect/>
          </a:stretch>
        </p:blipFill>
        <p:spPr bwMode="auto">
          <a:xfrm>
            <a:off x="6420000" y="1628800"/>
            <a:ext cx="4179502"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59" name="Picture 3" descr="http://www-white.media.mit.edu/vismod/demos/facerec/Images/system2.gif"/>
          <p:cNvPicPr>
            <a:picLocks noChangeAspect="1" noChangeArrowheads="1"/>
          </p:cNvPicPr>
          <p:nvPr/>
        </p:nvPicPr>
        <p:blipFill>
          <a:blip r:embed="rId4" r:link="rId5" cstate="print">
            <a:extLst>
              <a:ext uri="{28A0092B-C50C-407E-A947-70E740481C1C}">
                <a14:useLocalDpi xmlns:a14="http://schemas.microsoft.com/office/drawing/2010/main" val="0"/>
              </a:ext>
            </a:extLst>
          </a:blip>
          <a:srcRect/>
          <a:stretch>
            <a:fillRect/>
          </a:stretch>
        </p:blipFill>
        <p:spPr bwMode="auto">
          <a:xfrm>
            <a:off x="2495600" y="2348881"/>
            <a:ext cx="6480720" cy="4371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70443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299648" cy="563563"/>
          </a:xfrm>
        </p:spPr>
        <p:txBody>
          <a:bodyPr/>
          <a:lstStyle/>
          <a:p>
            <a:pPr>
              <a:buNone/>
            </a:pPr>
            <a:r>
              <a:rPr lang="en-US" altLang="zh-CN" dirty="0">
                <a:latin typeface="Times New Roman" panose="02020603050405020304" pitchFamily="18" charset="0"/>
                <a:cs typeface="Times New Roman" panose="02020603050405020304" pitchFamily="18" charset="0"/>
              </a:rPr>
              <a:t>17.4 </a:t>
            </a:r>
            <a:r>
              <a:rPr lang="zh-CN" altLang="en-US" dirty="0">
                <a:latin typeface="Times New Roman" panose="02020603050405020304" pitchFamily="18" charset="0"/>
                <a:cs typeface="Times New Roman" panose="02020603050405020304" pitchFamily="18" charset="0"/>
              </a:rPr>
              <a:t>实例分析</a:t>
            </a:r>
            <a:endParaRPr lang="en-US" altLang="zh-CN"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pPr marL="0" indent="0">
              <a:buNone/>
            </a:pPr>
            <a:r>
              <a:rPr lang="zh-CN" altLang="en-US" sz="2400" b="1" dirty="0">
                <a:latin typeface="宋体" pitchFamily="2" charset="-122"/>
                <a:ea typeface="宋体" pitchFamily="2" charset="-122"/>
              </a:rPr>
              <a:t>方法</a:t>
            </a:r>
          </a:p>
          <a:p>
            <a:pPr marL="0" indent="0">
              <a:buNone/>
            </a:pPr>
            <a:endParaRPr lang="zh-CN" altLang="en-US" sz="2400" b="1" dirty="0">
              <a:latin typeface="宋体" pitchFamily="2" charset="-122"/>
              <a:ea typeface="宋体" pitchFamily="2" charset="-122"/>
            </a:endParaRPr>
          </a:p>
          <a:p>
            <a:pPr marL="0" indent="0">
              <a:buNone/>
            </a:pPr>
            <a:endParaRPr lang="zh-CN" altLang="en-US" sz="2400" b="1" dirty="0">
              <a:latin typeface="宋体" pitchFamily="2" charset="-122"/>
              <a:ea typeface="宋体" pitchFamily="2" charset="-122"/>
            </a:endParaRPr>
          </a:p>
          <a:p>
            <a:pPr marL="0" indent="0">
              <a:buNone/>
            </a:pPr>
            <a:endParaRPr lang="zh-CN" altLang="en-US" sz="2400" b="1" dirty="0">
              <a:latin typeface="宋体" pitchFamily="2" charset="-122"/>
              <a:ea typeface="宋体" pitchFamily="2" charset="-122"/>
            </a:endParaRPr>
          </a:p>
          <a:p>
            <a:pPr marL="0" indent="0">
              <a:buNone/>
            </a:pPr>
            <a:endParaRPr lang="zh-CN" altLang="en-US" sz="2400" b="1" dirty="0">
              <a:latin typeface="宋体" pitchFamily="2" charset="-122"/>
              <a:ea typeface="宋体" pitchFamily="2" charset="-122"/>
            </a:endParaRPr>
          </a:p>
          <a:p>
            <a:pPr marL="0" indent="0">
              <a:buNone/>
            </a:pPr>
            <a:endParaRPr lang="zh-CN" altLang="en-US" sz="2400" b="1" dirty="0">
              <a:latin typeface="宋体" pitchFamily="2" charset="-122"/>
              <a:ea typeface="宋体" pitchFamily="2" charset="-122"/>
            </a:endParaRPr>
          </a:p>
          <a:p>
            <a:pPr marL="0" indent="0">
              <a:buNone/>
            </a:pPr>
            <a:endParaRPr lang="zh-CN" altLang="en-US" sz="2400" b="1" dirty="0">
              <a:latin typeface="宋体" pitchFamily="2" charset="-122"/>
              <a:ea typeface="宋体" pitchFamily="2" charset="-122"/>
            </a:endParaRPr>
          </a:p>
          <a:p>
            <a:pPr marL="0" indent="0">
              <a:buNone/>
            </a:pPr>
            <a:r>
              <a:rPr lang="zh-CN" altLang="en-US" sz="2400" b="1" dirty="0">
                <a:latin typeface="宋体" pitchFamily="2" charset="-122"/>
                <a:ea typeface="宋体" pitchFamily="2" charset="-122"/>
              </a:rPr>
              <a:t>样本集    </a:t>
            </a:r>
          </a:p>
          <a:p>
            <a:pPr marL="0" indent="0">
              <a:buNone/>
            </a:pPr>
            <a:endParaRPr lang="zh-CN" altLang="en-US" sz="2400" b="1" dirty="0">
              <a:latin typeface="宋体" pitchFamily="2" charset="-122"/>
              <a:ea typeface="宋体" pitchFamily="2" charset="-122"/>
            </a:endParaRPr>
          </a:p>
          <a:p>
            <a:pPr marL="0" indent="0">
              <a:buNone/>
            </a:pPr>
            <a:r>
              <a:rPr lang="zh-CN" altLang="en-US" sz="2400" b="1" dirty="0">
                <a:latin typeface="Times New Roman" pitchFamily="18" charset="0"/>
                <a:ea typeface="宋体" pitchFamily="2" charset="-122"/>
                <a:cs typeface="Times New Roman" pitchFamily="18" charset="0"/>
              </a:rPr>
              <a:t>用</a:t>
            </a:r>
            <a:r>
              <a:rPr lang="en-US" altLang="zh-CN" sz="2400" b="1" dirty="0">
                <a:latin typeface="Times New Roman" pitchFamily="18" charset="0"/>
                <a:ea typeface="宋体" pitchFamily="2" charset="-122"/>
                <a:cs typeface="Times New Roman" pitchFamily="18" charset="0"/>
              </a:rPr>
              <a:t>KL</a:t>
            </a:r>
            <a:r>
              <a:rPr lang="zh-CN" altLang="en-US" sz="2400" b="1" dirty="0">
                <a:latin typeface="Times New Roman" pitchFamily="18" charset="0"/>
                <a:ea typeface="宋体" pitchFamily="2" charset="-122"/>
                <a:cs typeface="Times New Roman" pitchFamily="18" charset="0"/>
              </a:rPr>
              <a:t>变换（</a:t>
            </a:r>
            <a:r>
              <a:rPr lang="en-US" altLang="zh-CN" sz="2400" b="1" dirty="0">
                <a:latin typeface="Times New Roman" pitchFamily="18" charset="0"/>
                <a:ea typeface="宋体" pitchFamily="2" charset="-122"/>
                <a:cs typeface="Times New Roman" pitchFamily="18" charset="0"/>
              </a:rPr>
              <a:t>PCA</a:t>
            </a:r>
            <a:r>
              <a:rPr lang="zh-CN" altLang="en-US" sz="2400" b="1" dirty="0">
                <a:latin typeface="Times New Roman" pitchFamily="18" charset="0"/>
                <a:ea typeface="宋体" pitchFamily="2" charset="-122"/>
                <a:cs typeface="Times New Roman" pitchFamily="18" charset="0"/>
              </a:rPr>
              <a:t>）</a:t>
            </a:r>
            <a:r>
              <a:rPr lang="zh-CN" altLang="en-US" sz="2400" b="1" dirty="0">
                <a:latin typeface="宋体" pitchFamily="2" charset="-122"/>
                <a:ea typeface="宋体" pitchFamily="2" charset="-122"/>
              </a:rPr>
              <a:t>进行降维</a:t>
            </a:r>
          </a:p>
          <a:p>
            <a:pPr marL="0" indent="0">
              <a:buNone/>
            </a:pPr>
            <a:endParaRPr lang="zh-CN" altLang="en-US" sz="2400" b="1" dirty="0">
              <a:latin typeface="宋体" pitchFamily="2" charset="-122"/>
              <a:ea typeface="宋体" pitchFamily="2" charset="-122"/>
            </a:endParaRPr>
          </a:p>
          <a:p>
            <a:pPr marL="0" indent="0">
              <a:buNone/>
            </a:pPr>
            <a:r>
              <a:rPr lang="zh-CN" altLang="en-US" sz="2400" b="1" dirty="0">
                <a:latin typeface="宋体" pitchFamily="2" charset="-122"/>
                <a:ea typeface="宋体" pitchFamily="2" charset="-122"/>
              </a:rPr>
              <a:t>总体散布矩阵</a:t>
            </a:r>
          </a:p>
          <a:p>
            <a:pPr marL="0" indent="0">
              <a:buNone/>
            </a:pPr>
            <a:endParaRPr lang="zh-CN" altLang="en-US" sz="2400" b="1" dirty="0">
              <a:latin typeface="宋体" pitchFamily="2" charset="-122"/>
              <a:ea typeface="宋体"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44</a:t>
            </a:fld>
            <a:endParaRPr lang="en-US" altLang="zh-CN" dirty="0"/>
          </a:p>
        </p:txBody>
      </p:sp>
      <p:pic>
        <p:nvPicPr>
          <p:cNvPr id="716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18656" y="1084085"/>
            <a:ext cx="3497560" cy="2863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3" name="Picture 3" descr="ms8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05884" y="1340768"/>
            <a:ext cx="4182604" cy="414724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5"/>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4289610237"/>
              </p:ext>
            </p:extLst>
          </p:nvPr>
        </p:nvGraphicFramePr>
        <p:xfrm>
          <a:off x="3404312" y="4077073"/>
          <a:ext cx="2671220" cy="568871"/>
        </p:xfrm>
        <a:graphic>
          <a:graphicData uri="http://schemas.openxmlformats.org/presentationml/2006/ole">
            <mc:AlternateContent xmlns:mc="http://schemas.openxmlformats.org/markup-compatibility/2006">
              <mc:Choice xmlns:v="urn:schemas-microsoft-com:vml" Requires="v">
                <p:oleObj spid="_x0000_s72089" name="Equation" r:id="rId5" imgW="1282700" imgH="266700" progId="Equation.DSMT4">
                  <p:embed/>
                </p:oleObj>
              </mc:Choice>
              <mc:Fallback>
                <p:oleObj name="Equation" r:id="rId5" imgW="1282700" imgH="266700" progId="Equation.DSMT4">
                  <p:embed/>
                  <p:pic>
                    <p:nvPicPr>
                      <p:cNvPr id="0" name="Picture 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4312" y="4077073"/>
                        <a:ext cx="2671220" cy="5688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063612371"/>
              </p:ext>
            </p:extLst>
          </p:nvPr>
        </p:nvGraphicFramePr>
        <p:xfrm>
          <a:off x="4381500" y="5733256"/>
          <a:ext cx="4277275" cy="792088"/>
        </p:xfrm>
        <a:graphic>
          <a:graphicData uri="http://schemas.openxmlformats.org/presentationml/2006/ole">
            <mc:AlternateContent xmlns:mc="http://schemas.openxmlformats.org/markup-compatibility/2006">
              <mc:Choice xmlns:v="urn:schemas-microsoft-com:vml" Requires="v">
                <p:oleObj spid="_x0000_s72090" name="Equation" r:id="rId7" imgW="2336800" imgH="431800" progId="Equation.DSMT4">
                  <p:embed/>
                </p:oleObj>
              </mc:Choice>
              <mc:Fallback>
                <p:oleObj name="Equation" r:id="rId7" imgW="2336800" imgH="431800" progId="Equation.DSMT4">
                  <p:embed/>
                  <p:pic>
                    <p:nvPicPr>
                      <p:cNvPr id="0" name="Picture 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81500" y="5733256"/>
                        <a:ext cx="4277275" cy="792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232820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7723584" cy="563563"/>
          </a:xfrm>
        </p:spPr>
        <p:txBody>
          <a:bodyPr/>
          <a:lstStyle/>
          <a:p>
            <a:pPr>
              <a:buNone/>
            </a:pPr>
            <a:r>
              <a:rPr lang="en-US" altLang="zh-CN" dirty="0">
                <a:latin typeface="Times New Roman" panose="02020603050405020304" pitchFamily="18" charset="0"/>
                <a:cs typeface="Times New Roman" panose="02020603050405020304" pitchFamily="18" charset="0"/>
              </a:rPr>
              <a:t>17.4 </a:t>
            </a:r>
            <a:r>
              <a:rPr lang="zh-CN" altLang="en-US" dirty="0">
                <a:latin typeface="Times New Roman" panose="02020603050405020304" pitchFamily="18" charset="0"/>
                <a:cs typeface="Times New Roman" panose="02020603050405020304" pitchFamily="18" charset="0"/>
              </a:rPr>
              <a:t>实例分析</a:t>
            </a:r>
            <a:endParaRPr lang="en-US" altLang="zh-CN"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448694" y="1084263"/>
            <a:ext cx="11277600" cy="5334000"/>
          </a:xfrm>
        </p:spPr>
        <p:txBody>
          <a:bodyPr/>
          <a:lstStyle/>
          <a:p>
            <a:pPr marL="0" indent="0">
              <a:lnSpc>
                <a:spcPct val="150000"/>
              </a:lnSpc>
              <a:spcBef>
                <a:spcPts val="0"/>
              </a:spcBef>
              <a:buNone/>
            </a:pPr>
            <a:r>
              <a:rPr lang="zh-CN" altLang="en-US" sz="2400" b="1" dirty="0">
                <a:latin typeface="Times New Roman" panose="02020603050405020304" pitchFamily="18" charset="0"/>
                <a:ea typeface="宋体" pitchFamily="2" charset="-122"/>
                <a:cs typeface="Times New Roman" panose="02020603050405020304" pitchFamily="18" charset="0"/>
              </a:rPr>
              <a:t>               维矩阵，求其正交归一的本征向量，但计算困难。</a:t>
            </a:r>
          </a:p>
          <a:p>
            <a:pPr marL="0" indent="0">
              <a:lnSpc>
                <a:spcPct val="150000"/>
              </a:lnSpc>
              <a:spcBef>
                <a:spcPts val="0"/>
              </a:spcBef>
              <a:buNone/>
            </a:pPr>
            <a:r>
              <a:rPr lang="zh-CN" altLang="en-US" sz="2400" b="1" dirty="0">
                <a:latin typeface="Times New Roman" panose="02020603050405020304" pitchFamily="18" charset="0"/>
                <a:ea typeface="宋体" pitchFamily="2" charset="-122"/>
                <a:cs typeface="Times New Roman" panose="02020603050405020304" pitchFamily="18" charset="0"/>
              </a:rPr>
              <a:t>解决办法：</a:t>
            </a:r>
          </a:p>
          <a:p>
            <a:pPr marL="0" indent="0">
              <a:lnSpc>
                <a:spcPct val="150000"/>
              </a:lnSpc>
              <a:spcBef>
                <a:spcPts val="0"/>
              </a:spcBef>
              <a:buNone/>
            </a:pPr>
            <a:r>
              <a:rPr lang="zh-CN" altLang="en-US" sz="2400" b="1" dirty="0">
                <a:latin typeface="Times New Roman" panose="02020603050405020304" pitchFamily="18" charset="0"/>
                <a:ea typeface="宋体" pitchFamily="2" charset="-122"/>
                <a:cs typeface="Times New Roman" panose="02020603050405020304" pitchFamily="18" charset="0"/>
              </a:rPr>
              <a:t>考查</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M×M</a:t>
            </a:r>
            <a:r>
              <a:rPr lang="zh-CN" altLang="en-US" sz="2400" b="1" dirty="0">
                <a:latin typeface="Times New Roman" panose="02020603050405020304" pitchFamily="18" charset="0"/>
                <a:ea typeface="宋体" pitchFamily="2" charset="-122"/>
                <a:cs typeface="Times New Roman" panose="02020603050405020304" pitchFamily="18" charset="0"/>
              </a:rPr>
              <a:t>维矩阵                 ，其特征方程是：</a:t>
            </a:r>
          </a:p>
          <a:p>
            <a:pPr marL="0" indent="0">
              <a:lnSpc>
                <a:spcPct val="150000"/>
              </a:lnSpc>
              <a:spcBef>
                <a:spcPts val="0"/>
              </a:spcBef>
              <a:buNone/>
            </a:pPr>
            <a:r>
              <a:rPr lang="zh-CN" altLang="en-US" sz="2400" b="1" dirty="0">
                <a:latin typeface="Times New Roman" panose="02020603050405020304" pitchFamily="18" charset="0"/>
                <a:ea typeface="宋体" pitchFamily="2" charset="-122"/>
                <a:cs typeface="Times New Roman" panose="02020603050405020304" pitchFamily="18" charset="0"/>
              </a:rPr>
              <a:t> </a:t>
            </a:r>
          </a:p>
          <a:p>
            <a:pPr marL="0" indent="0">
              <a:lnSpc>
                <a:spcPct val="150000"/>
              </a:lnSpc>
              <a:spcBef>
                <a:spcPts val="0"/>
              </a:spcBef>
              <a:buNone/>
            </a:pPr>
            <a:r>
              <a:rPr lang="zh-CN" altLang="en-US" sz="2400" b="1" dirty="0">
                <a:latin typeface="Times New Roman" panose="02020603050405020304" pitchFamily="18" charset="0"/>
                <a:ea typeface="宋体" pitchFamily="2" charset="-122"/>
                <a:cs typeface="Times New Roman" panose="02020603050405020304" pitchFamily="18" charset="0"/>
              </a:rPr>
              <a:t>推导：</a:t>
            </a:r>
          </a:p>
          <a:p>
            <a:pPr marL="0" indent="0">
              <a:lnSpc>
                <a:spcPct val="150000"/>
              </a:lnSpc>
              <a:spcBef>
                <a:spcPts val="0"/>
              </a:spcBef>
              <a:buNone/>
            </a:pPr>
            <a:r>
              <a:rPr lang="zh-CN" altLang="en-US" sz="2400" b="1" dirty="0">
                <a:latin typeface="Times New Roman" panose="02020603050405020304" pitchFamily="18" charset="0"/>
                <a:ea typeface="宋体" pitchFamily="2" charset="-122"/>
                <a:cs typeface="Times New Roman" panose="02020603050405020304" pitchFamily="18" charset="0"/>
              </a:rPr>
              <a:t> </a:t>
            </a:r>
          </a:p>
          <a:p>
            <a:pPr marL="0" indent="0">
              <a:lnSpc>
                <a:spcPct val="150000"/>
              </a:lnSpc>
              <a:spcBef>
                <a:spcPts val="0"/>
              </a:spcBef>
              <a:buNone/>
            </a:pPr>
            <a:r>
              <a:rPr lang="zh-CN" altLang="en-US" sz="2400" b="1" dirty="0">
                <a:latin typeface="Times New Roman" panose="02020603050405020304" pitchFamily="18" charset="0"/>
                <a:ea typeface="宋体" pitchFamily="2" charset="-122"/>
                <a:cs typeface="Times New Roman" panose="02020603050405020304" pitchFamily="18" charset="0"/>
              </a:rPr>
              <a:t> </a:t>
            </a:r>
          </a:p>
          <a:p>
            <a:pPr marL="0" indent="0">
              <a:lnSpc>
                <a:spcPct val="150000"/>
              </a:lnSpc>
              <a:spcBef>
                <a:spcPts val="0"/>
              </a:spcBef>
              <a:buNone/>
            </a:pPr>
            <a:r>
              <a:rPr lang="zh-CN" altLang="en-US" sz="2400" b="1" dirty="0">
                <a:latin typeface="Times New Roman" panose="02020603050405020304" pitchFamily="18" charset="0"/>
                <a:ea typeface="宋体" pitchFamily="2" charset="-122"/>
                <a:cs typeface="Times New Roman" panose="02020603050405020304" pitchFamily="18" charset="0"/>
              </a:rPr>
              <a:t>记                   ，有</a:t>
            </a:r>
          </a:p>
          <a:p>
            <a:pPr marL="0" indent="0">
              <a:lnSpc>
                <a:spcPct val="150000"/>
              </a:lnSpc>
              <a:spcBef>
                <a:spcPts val="0"/>
              </a:spcBef>
              <a:buNone/>
            </a:pPr>
            <a:r>
              <a:rPr lang="zh-CN" altLang="en-US" sz="2400" b="1" dirty="0">
                <a:latin typeface="Times New Roman" panose="02020603050405020304" pitchFamily="18" charset="0"/>
                <a:ea typeface="宋体" pitchFamily="2" charset="-122"/>
                <a:cs typeface="Times New Roman" panose="02020603050405020304" pitchFamily="18" charset="0"/>
              </a:rPr>
              <a:t> 所以，矩阵           和         具有相同的本征值，而本征向量具有关系</a:t>
            </a:r>
          </a:p>
          <a:p>
            <a:pPr marL="0" indent="0">
              <a:buNone/>
            </a:pPr>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p>
          <a:p>
            <a:pPr marL="0" indent="0">
              <a:buNone/>
            </a:pP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45</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602516193"/>
              </p:ext>
            </p:extLst>
          </p:nvPr>
        </p:nvGraphicFramePr>
        <p:xfrm>
          <a:off x="464237" y="1163808"/>
          <a:ext cx="1152128" cy="432048"/>
        </p:xfrm>
        <a:graphic>
          <a:graphicData uri="http://schemas.openxmlformats.org/presentationml/2006/ole">
            <mc:AlternateContent xmlns:mc="http://schemas.openxmlformats.org/markup-compatibility/2006">
              <mc:Choice xmlns:v="urn:schemas-microsoft-com:vml" Requires="v">
                <p:oleObj spid="_x0000_s344752" name="Equation" r:id="rId4" imgW="558558" imgH="203112" progId="Equation.DSMT4">
                  <p:embed/>
                </p:oleObj>
              </mc:Choice>
              <mc:Fallback>
                <p:oleObj name="Equation" r:id="rId4" imgW="558558" imgH="203112"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237" y="1163808"/>
                        <a:ext cx="1152128"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1867457122"/>
              </p:ext>
            </p:extLst>
          </p:nvPr>
        </p:nvGraphicFramePr>
        <p:xfrm>
          <a:off x="2975654" y="2299963"/>
          <a:ext cx="1152128" cy="363830"/>
        </p:xfrm>
        <a:graphic>
          <a:graphicData uri="http://schemas.openxmlformats.org/presentationml/2006/ole">
            <mc:AlternateContent xmlns:mc="http://schemas.openxmlformats.org/markup-compatibility/2006">
              <mc:Choice xmlns:v="urn:schemas-microsoft-com:vml" Requires="v">
                <p:oleObj spid="_x0000_s344753" name="Equation" r:id="rId6" imgW="609336" imgH="190417" progId="Equation.DSMT4">
                  <p:embed/>
                </p:oleObj>
              </mc:Choice>
              <mc:Fallback>
                <p:oleObj name="Equation" r:id="rId6" imgW="609336" imgH="190417"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75654" y="2299963"/>
                        <a:ext cx="1152128" cy="3638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nvGraphicFramePr>
        <p:xfrm>
          <a:off x="4079777" y="2800567"/>
          <a:ext cx="1728193" cy="471325"/>
        </p:xfrm>
        <a:graphic>
          <a:graphicData uri="http://schemas.openxmlformats.org/presentationml/2006/ole">
            <mc:AlternateContent xmlns:mc="http://schemas.openxmlformats.org/markup-compatibility/2006">
              <mc:Choice xmlns:v="urn:schemas-microsoft-com:vml" Requires="v">
                <p:oleObj spid="_x0000_s344754" name="Equation" r:id="rId8" imgW="876300" imgH="241300" progId="Equation.DSMT4">
                  <p:embed/>
                </p:oleObj>
              </mc:Choice>
              <mc:Fallback>
                <p:oleObj name="Equation" r:id="rId8" imgW="876300" imgH="2413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79777" y="2800567"/>
                        <a:ext cx="1728193" cy="47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nvGraphicFramePr>
        <p:xfrm>
          <a:off x="4151784" y="3501008"/>
          <a:ext cx="2302309" cy="504056"/>
        </p:xfrm>
        <a:graphic>
          <a:graphicData uri="http://schemas.openxmlformats.org/presentationml/2006/ole">
            <mc:AlternateContent xmlns:mc="http://schemas.openxmlformats.org/markup-compatibility/2006">
              <mc:Choice xmlns:v="urn:schemas-microsoft-com:vml" Requires="v">
                <p:oleObj spid="_x0000_s344755" name="Equation" r:id="rId10" imgW="1091726" imgH="241195" progId="Equation.DSMT4">
                  <p:embed/>
                </p:oleObj>
              </mc:Choice>
              <mc:Fallback>
                <p:oleObj name="Equation" r:id="rId10" imgW="1091726" imgH="241195"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51784" y="3501008"/>
                        <a:ext cx="2302309"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nvGraphicFramePr>
        <p:xfrm>
          <a:off x="4151784" y="4077073"/>
          <a:ext cx="2088232" cy="532859"/>
        </p:xfrm>
        <a:graphic>
          <a:graphicData uri="http://schemas.openxmlformats.org/presentationml/2006/ole">
            <mc:AlternateContent xmlns:mc="http://schemas.openxmlformats.org/markup-compatibility/2006">
              <mc:Choice xmlns:v="urn:schemas-microsoft-com:vml" Requires="v">
                <p:oleObj spid="_x0000_s344756" name="Equation" r:id="rId12" imgW="889000" imgH="228600" progId="Equation.DSMT4">
                  <p:embed/>
                </p:oleObj>
              </mc:Choice>
              <mc:Fallback>
                <p:oleObj name="Equation" r:id="rId12" imgW="889000" imgH="2286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51784" y="4077073"/>
                        <a:ext cx="2088232" cy="5328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9"/>
          <p:cNvSpPr>
            <a:spLocks noChangeArrowheads="1"/>
          </p:cNvSpPr>
          <p:nvPr/>
        </p:nvSpPr>
        <p:spPr bwMode="auto">
          <a:xfrm>
            <a:off x="983432" y="8965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10"/>
          <p:cNvSpPr>
            <a:spLocks noChangeArrowheads="1"/>
          </p:cNvSpPr>
          <p:nvPr/>
        </p:nvSpPr>
        <p:spPr bwMode="auto">
          <a:xfrm>
            <a:off x="1524000" y="8535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1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extLst>
              <p:ext uri="{D42A27DB-BD31-4B8C-83A1-F6EECF244321}">
                <p14:modId xmlns:p14="http://schemas.microsoft.com/office/powerpoint/2010/main" val="2465162859"/>
              </p:ext>
            </p:extLst>
          </p:nvPr>
        </p:nvGraphicFramePr>
        <p:xfrm>
          <a:off x="944290" y="5013176"/>
          <a:ext cx="1344149" cy="504056"/>
        </p:xfrm>
        <a:graphic>
          <a:graphicData uri="http://schemas.openxmlformats.org/presentationml/2006/ole">
            <mc:AlternateContent xmlns:mc="http://schemas.openxmlformats.org/markup-compatibility/2006">
              <mc:Choice xmlns:v="urn:schemas-microsoft-com:vml" Requires="v">
                <p:oleObj spid="_x0000_s344757" name="Equation" r:id="rId14" imgW="583947" imgH="228501" progId="Equation.DSMT4">
                  <p:embed/>
                </p:oleObj>
              </mc:Choice>
              <mc:Fallback>
                <p:oleObj name="Equation" r:id="rId14" imgW="583947" imgH="228501"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44290" y="5013176"/>
                        <a:ext cx="1344149"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nvGraphicFramePr>
        <p:xfrm>
          <a:off x="4417777" y="5013176"/>
          <a:ext cx="1761110" cy="576064"/>
        </p:xfrm>
        <a:graphic>
          <a:graphicData uri="http://schemas.openxmlformats.org/presentationml/2006/ole">
            <mc:AlternateContent xmlns:mc="http://schemas.openxmlformats.org/markup-compatibility/2006">
              <mc:Choice xmlns:v="urn:schemas-microsoft-com:vml" Requires="v">
                <p:oleObj spid="_x0000_s344758" name="Equation" r:id="rId16" imgW="685800" imgH="228600" progId="Equation.DSMT4">
                  <p:embed/>
                </p:oleObj>
              </mc:Choice>
              <mc:Fallback>
                <p:oleObj name="Equation" r:id="rId16" imgW="685800" imgH="22860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17777" y="5013176"/>
                        <a:ext cx="1761110" cy="5760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1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0" name="对象 19"/>
          <p:cNvGraphicFramePr>
            <a:graphicFrameLocks noChangeAspect="1"/>
          </p:cNvGraphicFramePr>
          <p:nvPr>
            <p:extLst>
              <p:ext uri="{D42A27DB-BD31-4B8C-83A1-F6EECF244321}">
                <p14:modId xmlns:p14="http://schemas.microsoft.com/office/powerpoint/2010/main" val="2525942100"/>
              </p:ext>
            </p:extLst>
          </p:nvPr>
        </p:nvGraphicFramePr>
        <p:xfrm>
          <a:off x="2171081" y="5562236"/>
          <a:ext cx="720080" cy="396779"/>
        </p:xfrm>
        <a:graphic>
          <a:graphicData uri="http://schemas.openxmlformats.org/presentationml/2006/ole">
            <mc:AlternateContent xmlns:mc="http://schemas.openxmlformats.org/markup-compatibility/2006">
              <mc:Choice xmlns:v="urn:schemas-microsoft-com:vml" Requires="v">
                <p:oleObj spid="_x0000_s344759" name="Equation" r:id="rId18" imgW="355446" imgH="190417" progId="Equation.DSMT4">
                  <p:embed/>
                </p:oleObj>
              </mc:Choice>
              <mc:Fallback>
                <p:oleObj name="Equation" r:id="rId18" imgW="355446" imgH="190417"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71081" y="5562236"/>
                        <a:ext cx="720080" cy="3967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ectangle 1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2" name="对象 21"/>
          <p:cNvGraphicFramePr>
            <a:graphicFrameLocks noChangeAspect="1"/>
          </p:cNvGraphicFramePr>
          <p:nvPr>
            <p:extLst>
              <p:ext uri="{D42A27DB-BD31-4B8C-83A1-F6EECF244321}">
                <p14:modId xmlns:p14="http://schemas.microsoft.com/office/powerpoint/2010/main" val="1111438419"/>
              </p:ext>
            </p:extLst>
          </p:nvPr>
        </p:nvGraphicFramePr>
        <p:xfrm>
          <a:off x="3294429" y="5582111"/>
          <a:ext cx="720080" cy="395338"/>
        </p:xfrm>
        <a:graphic>
          <a:graphicData uri="http://schemas.openxmlformats.org/presentationml/2006/ole">
            <mc:AlternateContent xmlns:mc="http://schemas.openxmlformats.org/markup-compatibility/2006">
              <mc:Choice xmlns:v="urn:schemas-microsoft-com:vml" Requires="v">
                <p:oleObj spid="_x0000_s344760" name="Equation" r:id="rId20" imgW="342751" imgH="190417" progId="Equation.DSMT4">
                  <p:embed/>
                </p:oleObj>
              </mc:Choice>
              <mc:Fallback>
                <p:oleObj name="Equation" r:id="rId20" imgW="342751" imgH="190417"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294429" y="5582111"/>
                        <a:ext cx="720080" cy="395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20"/>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4" name="对象 23"/>
          <p:cNvGraphicFramePr>
            <a:graphicFrameLocks noChangeAspect="1"/>
          </p:cNvGraphicFramePr>
          <p:nvPr/>
        </p:nvGraphicFramePr>
        <p:xfrm>
          <a:off x="3143673" y="6093296"/>
          <a:ext cx="1494653" cy="576064"/>
        </p:xfrm>
        <a:graphic>
          <a:graphicData uri="http://schemas.openxmlformats.org/presentationml/2006/ole">
            <mc:AlternateContent xmlns:mc="http://schemas.openxmlformats.org/markup-compatibility/2006">
              <mc:Choice xmlns:v="urn:schemas-microsoft-com:vml" Requires="v">
                <p:oleObj spid="_x0000_s344761" name="Equation" r:id="rId22" imgW="583947" imgH="228501" progId="Equation.DSMT4">
                  <p:embed/>
                </p:oleObj>
              </mc:Choice>
              <mc:Fallback>
                <p:oleObj name="Equation" r:id="rId22" imgW="583947" imgH="228501"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43673" y="6093296"/>
                        <a:ext cx="1494653" cy="5760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15119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371656" cy="563563"/>
          </a:xfrm>
        </p:spPr>
        <p:txBody>
          <a:bodyPr/>
          <a:lstStyle/>
          <a:p>
            <a:pPr>
              <a:buNone/>
            </a:pPr>
            <a:r>
              <a:rPr lang="en-US" altLang="zh-CN" dirty="0">
                <a:latin typeface="Times New Roman" panose="02020603050405020304" pitchFamily="18" charset="0"/>
                <a:cs typeface="Times New Roman" panose="02020603050405020304" pitchFamily="18" charset="0"/>
              </a:rPr>
              <a:t>17.4 </a:t>
            </a:r>
            <a:r>
              <a:rPr lang="zh-CN" altLang="en-US" dirty="0">
                <a:latin typeface="Times New Roman" panose="02020603050405020304" pitchFamily="18" charset="0"/>
                <a:cs typeface="Times New Roman" panose="02020603050405020304" pitchFamily="18" charset="0"/>
              </a:rPr>
              <a:t>实例分析</a:t>
            </a:r>
            <a:endParaRPr lang="en-US" altLang="zh-CN"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1828800" y="1066800"/>
            <a:ext cx="9163744" cy="5334000"/>
          </a:xfrm>
        </p:spPr>
        <p:txBody>
          <a:bodyPr/>
          <a:lstStyle/>
          <a:p>
            <a:pPr marL="0" indent="0">
              <a:buNone/>
            </a:pPr>
            <a:r>
              <a:rPr lang="zh-CN" altLang="en-US" sz="2400" b="1" dirty="0">
                <a:latin typeface="宋体" pitchFamily="2" charset="-122"/>
                <a:ea typeface="宋体" pitchFamily="2" charset="-122"/>
              </a:rPr>
              <a:t>易求得，   的归一化的本征向量是</a:t>
            </a:r>
          </a:p>
          <a:p>
            <a:pPr marL="0" indent="0">
              <a:buNone/>
            </a:pPr>
            <a:r>
              <a:rPr lang="zh-CN" altLang="en-US" sz="2400" b="1" dirty="0">
                <a:latin typeface="宋体" pitchFamily="2" charset="-122"/>
                <a:ea typeface="宋体" pitchFamily="2" charset="-122"/>
              </a:rPr>
              <a:t> </a:t>
            </a:r>
          </a:p>
          <a:p>
            <a:pPr marL="0" indent="0">
              <a:buNone/>
            </a:pP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注意，因为矩阵   的秩最多为</a:t>
            </a:r>
            <a:r>
              <a:rPr lang="en-US" altLang="zh-CN" sz="2400" b="1" dirty="0">
                <a:latin typeface="Times New Roman" pitchFamily="18" charset="0"/>
                <a:ea typeface="宋体" pitchFamily="2" charset="-122"/>
                <a:cs typeface="Times New Roman" pitchFamily="18" charset="0"/>
              </a:rPr>
              <a:t>M</a:t>
            </a:r>
            <a:r>
              <a:rPr lang="zh-CN" altLang="en-US" sz="2400" b="1" dirty="0">
                <a:latin typeface="宋体" pitchFamily="2" charset="-122"/>
                <a:ea typeface="宋体" pitchFamily="2" charset="-122"/>
              </a:rPr>
              <a:t>，所以最多只</a:t>
            </a:r>
            <a:r>
              <a:rPr lang="zh-CN" altLang="en-US" sz="2400" b="1" dirty="0">
                <a:latin typeface="Times New Roman" pitchFamily="18" charset="0"/>
                <a:ea typeface="宋体" pitchFamily="2" charset="-122"/>
                <a:cs typeface="Times New Roman" pitchFamily="18" charset="0"/>
              </a:rPr>
              <a:t>有</a:t>
            </a:r>
            <a:r>
              <a:rPr lang="en-US" altLang="zh-CN" sz="2400" b="1" dirty="0">
                <a:latin typeface="Times New Roman" pitchFamily="18" charset="0"/>
                <a:ea typeface="宋体" pitchFamily="2" charset="-122"/>
                <a:cs typeface="Times New Roman" pitchFamily="18" charset="0"/>
              </a:rPr>
              <a:t>M</a:t>
            </a:r>
            <a:r>
              <a:rPr lang="zh-CN" altLang="en-US" sz="2400" b="1" dirty="0">
                <a:latin typeface="Times New Roman" pitchFamily="18" charset="0"/>
                <a:ea typeface="宋体" pitchFamily="2" charset="-122"/>
                <a:cs typeface="Times New Roman" pitchFamily="18" charset="0"/>
              </a:rPr>
              <a:t>个本征值</a:t>
            </a:r>
            <a:r>
              <a:rPr lang="zh-CN" altLang="en-US" sz="2400" b="1" dirty="0">
                <a:latin typeface="宋体" pitchFamily="2" charset="-122"/>
                <a:ea typeface="宋体" pitchFamily="2" charset="-122"/>
              </a:rPr>
              <a:t>和本征向量。</a:t>
            </a:r>
          </a:p>
          <a:p>
            <a:pPr marL="0" indent="0">
              <a:lnSpc>
                <a:spcPct val="150000"/>
              </a:lnSpc>
              <a:spcBef>
                <a:spcPts val="0"/>
              </a:spcBef>
              <a:buNone/>
            </a:pPr>
            <a:r>
              <a:rPr lang="zh-CN" altLang="en-US" sz="2400" b="1" dirty="0">
                <a:latin typeface="宋体" pitchFamily="2" charset="-122"/>
                <a:ea typeface="宋体" pitchFamily="2" charset="-122"/>
              </a:rPr>
              <a:t>每一个本征向量仍然是一个  </a:t>
            </a: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维向量，即</a:t>
            </a:r>
            <a:r>
              <a:rPr lang="en-US" altLang="zh-CN" sz="2400" b="1" dirty="0">
                <a:latin typeface="Times New Roman" pitchFamily="18" charset="0"/>
                <a:ea typeface="宋体" pitchFamily="2" charset="-122"/>
                <a:cs typeface="Times New Roman" pitchFamily="18" charset="0"/>
              </a:rPr>
              <a:t>N×N</a:t>
            </a:r>
            <a:r>
              <a:rPr lang="zh-CN" altLang="en-US" sz="2400" b="1" dirty="0">
                <a:latin typeface="宋体" pitchFamily="2" charset="-122"/>
                <a:ea typeface="宋体" pitchFamily="2" charset="-122"/>
              </a:rPr>
              <a:t>维图像，仍然具有类似人脸的样子，因此被称作</a:t>
            </a:r>
            <a:r>
              <a:rPr lang="zh-CN" altLang="en-US" sz="2400" b="1" dirty="0">
                <a:latin typeface="Times New Roman" pitchFamily="18" charset="0"/>
                <a:ea typeface="宋体" pitchFamily="2" charset="-122"/>
                <a:cs typeface="Times New Roman" pitchFamily="18" charset="0"/>
              </a:rPr>
              <a:t>“本征脸” 。</a:t>
            </a:r>
          </a:p>
          <a:p>
            <a:pPr marL="0" indent="0">
              <a:lnSpc>
                <a:spcPct val="150000"/>
              </a:lnSpc>
              <a:spcBef>
                <a:spcPts val="0"/>
              </a:spcBef>
              <a:buNone/>
            </a:pPr>
            <a:r>
              <a:rPr lang="zh-CN" altLang="en-US" sz="2400" b="1" dirty="0">
                <a:latin typeface="宋体" pitchFamily="2" charset="-122"/>
                <a:ea typeface="宋体" pitchFamily="2" charset="-122"/>
              </a:rPr>
              <a:t>按照本征值从大到小排列，</a:t>
            </a:r>
          </a:p>
          <a:p>
            <a:pPr marL="0" indent="0">
              <a:lnSpc>
                <a:spcPct val="150000"/>
              </a:lnSpc>
              <a:spcBef>
                <a:spcPts val="0"/>
              </a:spcBef>
              <a:buNone/>
            </a:pPr>
            <a:r>
              <a:rPr lang="zh-CN" altLang="en-US" sz="2400" b="1" dirty="0">
                <a:latin typeface="宋体" pitchFamily="2" charset="-122"/>
                <a:ea typeface="宋体" pitchFamily="2" charset="-122"/>
              </a:rPr>
              <a:t>并从前向后取对应的本征脸，即构成对原图像的最佳的降维表示。</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46</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nvGraphicFramePr>
        <p:xfrm>
          <a:off x="3215680" y="1124744"/>
          <a:ext cx="395536" cy="404664"/>
        </p:xfrm>
        <a:graphic>
          <a:graphicData uri="http://schemas.openxmlformats.org/presentationml/2006/ole">
            <mc:AlternateContent xmlns:mc="http://schemas.openxmlformats.org/markup-compatibility/2006">
              <mc:Choice xmlns:v="urn:schemas-microsoft-com:vml" Requires="v">
                <p:oleObj spid="_x0000_s312148" name="Equation" r:id="rId3" imgW="152268" imgH="164957" progId="Equation.DSMT4">
                  <p:embed/>
                </p:oleObj>
              </mc:Choice>
              <mc:Fallback>
                <p:oleObj name="Equation" r:id="rId3" imgW="152268" imgH="164957"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5680" y="1124744"/>
                        <a:ext cx="395536"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5"/>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nvGraphicFramePr>
        <p:xfrm>
          <a:off x="3863752" y="1556792"/>
          <a:ext cx="4060452" cy="1008112"/>
        </p:xfrm>
        <a:graphic>
          <a:graphicData uri="http://schemas.openxmlformats.org/presentationml/2006/ole">
            <mc:AlternateContent xmlns:mc="http://schemas.openxmlformats.org/markup-compatibility/2006">
              <mc:Choice xmlns:v="urn:schemas-microsoft-com:vml" Requires="v">
                <p:oleObj spid="_x0000_s312149" name="Equation" r:id="rId5" imgW="1790700" imgH="457200" progId="Equation.DSMT4">
                  <p:embed/>
                </p:oleObj>
              </mc:Choice>
              <mc:Fallback>
                <p:oleObj name="Equation" r:id="rId5" imgW="1790700" imgH="4572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63752" y="1556792"/>
                        <a:ext cx="4060452" cy="1008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nvGraphicFramePr>
        <p:xfrm>
          <a:off x="4151784" y="2420889"/>
          <a:ext cx="395288" cy="404813"/>
        </p:xfrm>
        <a:graphic>
          <a:graphicData uri="http://schemas.openxmlformats.org/presentationml/2006/ole">
            <mc:AlternateContent xmlns:mc="http://schemas.openxmlformats.org/markup-compatibility/2006">
              <mc:Choice xmlns:v="urn:schemas-microsoft-com:vml" Requires="v">
                <p:oleObj spid="_x0000_s312150" name="Equation" r:id="rId7" imgW="152268" imgH="164957" progId="Equation.DSMT4">
                  <p:embed/>
                </p:oleObj>
              </mc:Choice>
              <mc:Fallback>
                <p:oleObj name="Equation" r:id="rId7" imgW="152268" imgH="164957"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1784" y="2420889"/>
                        <a:ext cx="395288"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nvGraphicFramePr>
        <p:xfrm>
          <a:off x="5685666" y="3501008"/>
          <a:ext cx="410335" cy="461640"/>
        </p:xfrm>
        <a:graphic>
          <a:graphicData uri="http://schemas.openxmlformats.org/presentationml/2006/ole">
            <mc:AlternateContent xmlns:mc="http://schemas.openxmlformats.org/markup-compatibility/2006">
              <mc:Choice xmlns:v="urn:schemas-microsoft-com:vml" Requires="v">
                <p:oleObj spid="_x0000_s312151" name="Equation" r:id="rId8" imgW="228600" imgH="203040" progId="Equation.DSMT4">
                  <p:embed/>
                </p:oleObj>
              </mc:Choice>
              <mc:Fallback>
                <p:oleObj name="Equation" r:id="rId8" imgW="228600" imgH="20304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85666" y="3501008"/>
                        <a:ext cx="410335" cy="4616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9"/>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nvGraphicFramePr>
        <p:xfrm>
          <a:off x="5663952" y="4581128"/>
          <a:ext cx="2592288" cy="518458"/>
        </p:xfrm>
        <a:graphic>
          <a:graphicData uri="http://schemas.openxmlformats.org/presentationml/2006/ole">
            <mc:AlternateContent xmlns:mc="http://schemas.openxmlformats.org/markup-compatibility/2006">
              <mc:Choice xmlns:v="urn:schemas-microsoft-com:vml" Requires="v">
                <p:oleObj spid="_x0000_s312152" name="Equation" r:id="rId10" imgW="1117115" imgH="215806" progId="Equation.DSMT4">
                  <p:embed/>
                </p:oleObj>
              </mc:Choice>
              <mc:Fallback>
                <p:oleObj name="Equation" r:id="rId10" imgW="1117115" imgH="215806"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63952" y="4581128"/>
                        <a:ext cx="2592288" cy="5184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39473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7795592" cy="563563"/>
          </a:xfrm>
        </p:spPr>
        <p:txBody>
          <a:bodyPr/>
          <a:lstStyle/>
          <a:p>
            <a:pPr>
              <a:buNone/>
            </a:pPr>
            <a:r>
              <a:rPr lang="en-US" altLang="zh-CN" dirty="0">
                <a:latin typeface="Times New Roman" panose="02020603050405020304" pitchFamily="18" charset="0"/>
                <a:cs typeface="Times New Roman" panose="02020603050405020304" pitchFamily="18" charset="0"/>
              </a:rPr>
              <a:t>17.4 </a:t>
            </a:r>
            <a:r>
              <a:rPr lang="zh-CN" altLang="en-US" dirty="0">
                <a:latin typeface="Times New Roman" panose="02020603050405020304" pitchFamily="18" charset="0"/>
                <a:cs typeface="Times New Roman" panose="02020603050405020304" pitchFamily="18" charset="0"/>
              </a:rPr>
              <a:t>实例分析</a:t>
            </a:r>
            <a:endParaRPr lang="en-US" altLang="zh-CN"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pPr marL="0" indent="0">
              <a:buNone/>
            </a:pPr>
            <a:endParaRPr lang="en-US" altLang="zh-CN" sz="2400" b="1" dirty="0">
              <a:latin typeface="宋体" pitchFamily="2" charset="-122"/>
              <a:ea typeface="宋体" pitchFamily="2" charset="-122"/>
            </a:endParaRPr>
          </a:p>
          <a:p>
            <a:pPr marL="0" indent="0">
              <a:buNone/>
            </a:pPr>
            <a:endParaRPr lang="en-US" altLang="zh-CN" sz="2400" b="1" dirty="0">
              <a:latin typeface="宋体" pitchFamily="2" charset="-122"/>
              <a:ea typeface="宋体" pitchFamily="2" charset="-122"/>
            </a:endParaRPr>
          </a:p>
          <a:p>
            <a:pPr marL="0" indent="0">
              <a:buNone/>
            </a:pPr>
            <a:endParaRPr lang="en-US" altLang="zh-CN" sz="2400" b="1" dirty="0">
              <a:latin typeface="宋体" pitchFamily="2" charset="-122"/>
              <a:ea typeface="宋体" pitchFamily="2" charset="-122"/>
            </a:endParaRPr>
          </a:p>
          <a:p>
            <a:pPr marL="0" indent="0">
              <a:buNone/>
            </a:pP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原图像可以表示成本征脸的线性组合（在本征脸空间中的点）。</a:t>
            </a:r>
          </a:p>
          <a:p>
            <a:pPr marL="0" indent="0">
              <a:buNone/>
            </a:pPr>
            <a:r>
              <a:rPr lang="zh-CN" altLang="en-US" dirty="0"/>
              <a:t> </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47</a:t>
            </a:fld>
            <a:endParaRPr lang="en-US" altLang="zh-CN" dirty="0"/>
          </a:p>
        </p:txBody>
      </p:sp>
      <p:sp>
        <p:nvSpPr>
          <p:cNvPr id="5" name="Rectangle 2"/>
          <p:cNvSpPr>
            <a:spLocks noChangeArrowheads="1"/>
          </p:cNvSpPr>
          <p:nvPr/>
        </p:nvSpPr>
        <p:spPr bwMode="auto">
          <a:xfrm>
            <a:off x="152400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630918469"/>
              </p:ext>
            </p:extLst>
          </p:nvPr>
        </p:nvGraphicFramePr>
        <p:xfrm>
          <a:off x="4007768" y="2837921"/>
          <a:ext cx="3096344" cy="1054075"/>
        </p:xfrm>
        <a:graphic>
          <a:graphicData uri="http://schemas.openxmlformats.org/presentationml/2006/ole">
            <mc:AlternateContent xmlns:mc="http://schemas.openxmlformats.org/markup-compatibility/2006">
              <mc:Choice xmlns:v="urn:schemas-microsoft-com:vml" Requires="v">
                <p:oleObj spid="_x0000_s74955" name="Equation" r:id="rId3" imgW="1511300" imgH="508000" progId="Equation.DSMT4">
                  <p:embed/>
                </p:oleObj>
              </mc:Choice>
              <mc:Fallback>
                <p:oleObj name="Equation" r:id="rId3" imgW="1511300" imgH="508000"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7768" y="2837921"/>
                        <a:ext cx="3096344" cy="1054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74755" name="Picture 3" descr="ms9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28922" y="1052737"/>
            <a:ext cx="8565830" cy="1152129"/>
          </a:xfrm>
          <a:prstGeom prst="rect">
            <a:avLst/>
          </a:prstGeom>
          <a:noFill/>
          <a:extLst>
            <a:ext uri="{909E8E84-426E-40DD-AFC4-6F175D3DCCD1}">
              <a14:hiddenFill xmlns:a14="http://schemas.microsoft.com/office/drawing/2010/main">
                <a:solidFill>
                  <a:srgbClr val="FFFFFF"/>
                </a:solidFill>
              </a14:hiddenFill>
            </a:ext>
          </a:extLst>
        </p:spPr>
      </p:pic>
      <p:pic>
        <p:nvPicPr>
          <p:cNvPr id="74757"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007481" y="3954910"/>
            <a:ext cx="6408712" cy="2674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53000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155632" cy="563563"/>
          </a:xfrm>
        </p:spPr>
        <p:txBody>
          <a:bodyPr/>
          <a:lstStyle/>
          <a:p>
            <a:pPr>
              <a:buNone/>
            </a:pPr>
            <a:r>
              <a:rPr lang="en-US" altLang="zh-CN" dirty="0">
                <a:latin typeface="Times New Roman" panose="02020603050405020304" pitchFamily="18" charset="0"/>
                <a:cs typeface="Times New Roman" panose="02020603050405020304" pitchFamily="18" charset="0"/>
              </a:rPr>
              <a:t>17.4 </a:t>
            </a:r>
            <a:r>
              <a:rPr lang="zh-CN" altLang="en-US" dirty="0">
                <a:latin typeface="Times New Roman" panose="02020603050405020304" pitchFamily="18" charset="0"/>
                <a:cs typeface="Times New Roman" panose="02020603050405020304" pitchFamily="18" charset="0"/>
              </a:rPr>
              <a:t>实例分析</a:t>
            </a:r>
            <a:endParaRPr lang="en-US" altLang="zh-CN"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pPr marL="0" indent="0">
              <a:buNone/>
            </a:pPr>
            <a:r>
              <a:rPr lang="zh-CN" altLang="en-US" sz="2400" b="1" dirty="0">
                <a:latin typeface="宋体" pitchFamily="2" charset="-122"/>
                <a:ea typeface="宋体" pitchFamily="2" charset="-122"/>
              </a:rPr>
              <a:t>比如选取前</a:t>
            </a:r>
            <a:r>
              <a:rPr lang="en-US" altLang="zh-CN" sz="2400" b="1" dirty="0">
                <a:latin typeface="Times New Roman" pitchFamily="18" charset="0"/>
                <a:ea typeface="宋体" pitchFamily="2" charset="-122"/>
                <a:cs typeface="Times New Roman" pitchFamily="18" charset="0"/>
              </a:rPr>
              <a:t>k</a:t>
            </a:r>
            <a:r>
              <a:rPr lang="zh-CN" altLang="en-US" sz="2400" b="1" dirty="0">
                <a:latin typeface="宋体" pitchFamily="2" charset="-122"/>
                <a:ea typeface="宋体" pitchFamily="2" charset="-122"/>
              </a:rPr>
              <a:t>个本征向量，使</a:t>
            </a:r>
          </a:p>
          <a:p>
            <a:pPr marL="0" indent="0">
              <a:buNone/>
            </a:pPr>
            <a:endParaRPr lang="zh-CN" altLang="en-US" sz="2400" b="1" dirty="0">
              <a:latin typeface="宋体" pitchFamily="2" charset="-122"/>
              <a:ea typeface="宋体" pitchFamily="2" charset="-122"/>
            </a:endParaRPr>
          </a:p>
          <a:p>
            <a:pPr marL="0" indent="0">
              <a:buNone/>
            </a:pPr>
            <a:endParaRPr lang="zh-CN" altLang="en-US" sz="2400" b="1" dirty="0">
              <a:latin typeface="宋体" pitchFamily="2" charset="-122"/>
              <a:ea typeface="宋体" pitchFamily="2" charset="-122"/>
            </a:endParaRPr>
          </a:p>
          <a:p>
            <a:pPr marL="0" indent="0">
              <a:buNone/>
            </a:pPr>
            <a:r>
              <a:rPr lang="zh-CN" altLang="en-US" sz="2400" b="1" dirty="0">
                <a:latin typeface="宋体" pitchFamily="2" charset="-122"/>
                <a:ea typeface="宋体" pitchFamily="2" charset="-122"/>
              </a:rPr>
              <a:t>比如        ，即可以保持原样本</a:t>
            </a:r>
            <a:r>
              <a:rPr lang="en-US" altLang="zh-CN" sz="2400" b="1" dirty="0">
                <a:latin typeface="Times New Roman" pitchFamily="18" charset="0"/>
                <a:ea typeface="宋体" pitchFamily="2" charset="-122"/>
                <a:cs typeface="Times New Roman" pitchFamily="18" charset="0"/>
              </a:rPr>
              <a:t>99%</a:t>
            </a:r>
            <a:r>
              <a:rPr lang="zh-CN" altLang="en-US" sz="2400" b="1" dirty="0">
                <a:latin typeface="宋体" pitchFamily="2" charset="-122"/>
                <a:ea typeface="宋体" pitchFamily="2" charset="-122"/>
              </a:rPr>
              <a:t>的信息。</a:t>
            </a:r>
          </a:p>
          <a:p>
            <a:pPr marL="0" indent="0">
              <a:buNone/>
            </a:pPr>
            <a:endParaRPr lang="zh-CN" altLang="en-US" sz="2400" b="1" dirty="0">
              <a:latin typeface="宋体" pitchFamily="2" charset="-122"/>
              <a:ea typeface="宋体" pitchFamily="2" charset="-122"/>
            </a:endParaRPr>
          </a:p>
          <a:p>
            <a:pPr marL="0" indent="0">
              <a:buNone/>
            </a:pPr>
            <a:r>
              <a:rPr lang="zh-CN" altLang="en-US" sz="2400" b="1" dirty="0">
                <a:latin typeface="宋体" pitchFamily="2" charset="-122"/>
                <a:ea typeface="宋体" pitchFamily="2" charset="-122"/>
              </a:rPr>
              <a:t>对原图像的表示</a:t>
            </a:r>
          </a:p>
          <a:p>
            <a:pPr marL="0" indent="0">
              <a:buNone/>
            </a:pPr>
            <a:endParaRPr lang="zh-CN" altLang="en-US" sz="2400" b="1" dirty="0">
              <a:latin typeface="宋体" pitchFamily="2" charset="-122"/>
              <a:ea typeface="宋体" pitchFamily="2" charset="-122"/>
            </a:endParaRPr>
          </a:p>
          <a:p>
            <a:pPr marL="0" indent="0">
              <a:buNone/>
            </a:pPr>
            <a:r>
              <a:rPr lang="zh-CN" altLang="en-US" sz="2400" b="1" dirty="0">
                <a:latin typeface="宋体" pitchFamily="2" charset="-122"/>
                <a:ea typeface="宋体" pitchFamily="2" charset="-122"/>
              </a:rPr>
              <a:t> </a:t>
            </a:r>
            <a:endParaRPr lang="en-US" altLang="zh-CN" sz="2400" b="1" dirty="0">
              <a:latin typeface="宋体" pitchFamily="2" charset="-122"/>
              <a:ea typeface="宋体" pitchFamily="2" charset="-122"/>
            </a:endParaRPr>
          </a:p>
          <a:p>
            <a:pPr marL="0" indent="0">
              <a:buNone/>
            </a:pPr>
            <a:endParaRPr lang="en-US" altLang="zh-CN" sz="2400" b="1" dirty="0">
              <a:latin typeface="宋体" pitchFamily="2" charset="-122"/>
              <a:ea typeface="宋体" pitchFamily="2" charset="-122"/>
            </a:endParaRPr>
          </a:p>
          <a:p>
            <a:pPr marL="0" indent="0">
              <a:buNone/>
            </a:pPr>
            <a:endParaRPr lang="zh-CN" altLang="en-US" sz="2400" b="1" dirty="0">
              <a:latin typeface="宋体" pitchFamily="2" charset="-122"/>
              <a:ea typeface="宋体" pitchFamily="2" charset="-122"/>
            </a:endParaRPr>
          </a:p>
          <a:p>
            <a:pPr marL="0" indent="0">
              <a:buNone/>
            </a:pPr>
            <a:endParaRPr lang="en-US" altLang="zh-CN" sz="2400" b="1" dirty="0">
              <a:latin typeface="宋体" pitchFamily="2" charset="-122"/>
              <a:ea typeface="宋体" pitchFamily="2" charset="-122"/>
            </a:endParaRPr>
          </a:p>
          <a:p>
            <a:pPr marL="0" indent="0" algn="ctr">
              <a:buNone/>
            </a:pPr>
            <a:r>
              <a:rPr lang="en-US" altLang="zh-CN" sz="2400" b="1" dirty="0">
                <a:latin typeface="Times New Roman" pitchFamily="18" charset="0"/>
                <a:ea typeface="宋体" pitchFamily="2" charset="-122"/>
                <a:cs typeface="Times New Roman" pitchFamily="18" charset="0"/>
              </a:rPr>
              <a:t>The original face and the recovered face</a:t>
            </a:r>
          </a:p>
          <a:p>
            <a:pPr marL="0" indent="0">
              <a:buNone/>
            </a:pPr>
            <a:endParaRPr lang="zh-CN" altLang="en-US" sz="2400" b="1" dirty="0">
              <a:latin typeface="宋体" pitchFamily="2" charset="-122"/>
              <a:ea typeface="宋体"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48</a:t>
            </a:fld>
            <a:endParaRPr lang="en-US" altLang="zh-CN" dirty="0"/>
          </a:p>
        </p:txBody>
      </p:sp>
      <p:graphicFrame>
        <p:nvGraphicFramePr>
          <p:cNvPr id="5" name="对象 4"/>
          <p:cNvGraphicFramePr>
            <a:graphicFrameLocks noChangeAspect="1"/>
          </p:cNvGraphicFramePr>
          <p:nvPr>
            <p:extLst>
              <p:ext uri="{D42A27DB-BD31-4B8C-83A1-F6EECF244321}">
                <p14:modId xmlns:p14="http://schemas.microsoft.com/office/powerpoint/2010/main" val="1580904549"/>
              </p:ext>
            </p:extLst>
          </p:nvPr>
        </p:nvGraphicFramePr>
        <p:xfrm>
          <a:off x="5087888" y="1484784"/>
          <a:ext cx="2106598" cy="864096"/>
        </p:xfrm>
        <a:graphic>
          <a:graphicData uri="http://schemas.openxmlformats.org/presentationml/2006/ole">
            <mc:AlternateContent xmlns:mc="http://schemas.openxmlformats.org/markup-compatibility/2006">
              <mc:Choice xmlns:v="urn:schemas-microsoft-com:vml" Requires="v">
                <p:oleObj spid="_x0000_s76377" name="Equation" r:id="rId3" imgW="1054100" imgH="431800" progId="Equation.DSMT4">
                  <p:embed/>
                </p:oleObj>
              </mc:Choice>
              <mc:Fallback>
                <p:oleObj name="Equation" r:id="rId3" imgW="1054100" imgH="431800" progId="Equation.DSMT4">
                  <p:embed/>
                  <p:pic>
                    <p:nvPicPr>
                      <p:cNvPr id="0" name="Picture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7888" y="1484784"/>
                        <a:ext cx="2106598" cy="8640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997440121"/>
              </p:ext>
            </p:extLst>
          </p:nvPr>
        </p:nvGraphicFramePr>
        <p:xfrm>
          <a:off x="1092508" y="2420888"/>
          <a:ext cx="1232445" cy="360040"/>
        </p:xfrm>
        <a:graphic>
          <a:graphicData uri="http://schemas.openxmlformats.org/presentationml/2006/ole">
            <mc:AlternateContent xmlns:mc="http://schemas.openxmlformats.org/markup-compatibility/2006">
              <mc:Choice xmlns:v="urn:schemas-microsoft-com:vml" Requires="v">
                <p:oleObj spid="_x0000_s76378" name="Equation" r:id="rId5" imgW="583693" imgH="177646" progId="Equation.DSMT4">
                  <p:embed/>
                </p:oleObj>
              </mc:Choice>
              <mc:Fallback>
                <p:oleObj name="Equation" r:id="rId5" imgW="583693" imgH="177646" progId="Equation.DSMT4">
                  <p:embed/>
                  <p:pic>
                    <p:nvPicPr>
                      <p:cNvPr id="0" name="Picture 5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2508" y="2420888"/>
                        <a:ext cx="1232445"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955337610"/>
              </p:ext>
            </p:extLst>
          </p:nvPr>
        </p:nvGraphicFramePr>
        <p:xfrm>
          <a:off x="4888365" y="2996952"/>
          <a:ext cx="2415270" cy="1008112"/>
        </p:xfrm>
        <a:graphic>
          <a:graphicData uri="http://schemas.openxmlformats.org/presentationml/2006/ole">
            <mc:AlternateContent xmlns:mc="http://schemas.openxmlformats.org/markup-compatibility/2006">
              <mc:Choice xmlns:v="urn:schemas-microsoft-com:vml" Requires="v">
                <p:oleObj spid="_x0000_s76379" name="Equation" r:id="rId7" imgW="1015559" imgH="444307" progId="Equation.DSMT4">
                  <p:embed/>
                </p:oleObj>
              </mc:Choice>
              <mc:Fallback>
                <p:oleObj name="Equation" r:id="rId7" imgW="1015559" imgH="444307" progId="Equation.DSMT4">
                  <p:embed/>
                  <p:pic>
                    <p:nvPicPr>
                      <p:cNvPr id="0" name="Picture 6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88365" y="2996952"/>
                        <a:ext cx="2415270" cy="1008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5782" name="Picture 6"/>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225280" y="3971224"/>
            <a:ext cx="4246984" cy="2038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37476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8"/>
          <p:cNvSpPr>
            <a:spLocks noGrp="1" noChangeArrowheads="1"/>
          </p:cNvSpPr>
          <p:nvPr>
            <p:ph type="ctrTitle"/>
          </p:nvPr>
        </p:nvSpPr>
        <p:spPr>
          <a:xfrm>
            <a:off x="3667126" y="2286000"/>
            <a:ext cx="6215063" cy="533400"/>
          </a:xfrm>
        </p:spPr>
        <p:txBody>
          <a:bodyPr/>
          <a:lstStyle/>
          <a:p>
            <a:pPr eaLnBrk="1" hangingPunct="1"/>
            <a:r>
              <a:rPr lang="en-US" altLang="zh-CN" sz="5000" dirty="0">
                <a:ea typeface="宋体" pitchFamily="2" charset="-122"/>
              </a:rPr>
              <a:t>ending</a:t>
            </a:r>
          </a:p>
        </p:txBody>
      </p:sp>
    </p:spTree>
  </p:cSld>
  <p:clrMapOvr>
    <a:masterClrMapping/>
  </p:clrMapOvr>
</p:sld>
</file>

<file path=ppt/theme/theme1.xml><?xml version="1.0" encoding="utf-8"?>
<a:theme xmlns:a="http://schemas.openxmlformats.org/drawingml/2006/main" name="589tgp_health_light">
  <a:themeElements>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fontScheme name="s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a:defRPr sz="2400" kern="100" dirty="0" smtClean="0">
            <a:ea typeface="宋体"/>
            <a:cs typeface="Times New Roman"/>
          </a:defRPr>
        </a:defPPr>
      </a:lstStyle>
    </a:spDef>
    <a:lnDef>
      <a:spPr>
        <a:ln>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400" dirty="0" smtClean="0"/>
        </a:defPPr>
      </a:lstStyle>
    </a:txDef>
  </a:objectDefaults>
  <a:extraClrSchemeLst>
    <a:extraClrScheme>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clrMap bg1="lt1" tx1="dk1" bg2="lt2" tx2="dk2" accent1="accent1" accent2="accent2" accent3="accent3" accent4="accent4" accent5="accent5" accent6="accent6" hlink="hlink" folHlink="folHlink"/>
    </a:extraClrScheme>
    <a:extraClrScheme>
      <a:clrScheme name="s2 2">
        <a:dk1>
          <a:srgbClr val="000000"/>
        </a:dk1>
        <a:lt1>
          <a:srgbClr val="FFFFFF"/>
        </a:lt1>
        <a:dk2>
          <a:srgbClr val="EA9148"/>
        </a:dk2>
        <a:lt2>
          <a:srgbClr val="DED9CC"/>
        </a:lt2>
        <a:accent1>
          <a:srgbClr val="E878C8"/>
        </a:accent1>
        <a:accent2>
          <a:srgbClr val="7DD7E9"/>
        </a:accent2>
        <a:accent3>
          <a:srgbClr val="FFFFFF"/>
        </a:accent3>
        <a:accent4>
          <a:srgbClr val="000000"/>
        </a:accent4>
        <a:accent5>
          <a:srgbClr val="F2BEE0"/>
        </a:accent5>
        <a:accent6>
          <a:srgbClr val="71C3D3"/>
        </a:accent6>
        <a:hlink>
          <a:srgbClr val="98E8B3"/>
        </a:hlink>
        <a:folHlink>
          <a:srgbClr val="E6C686"/>
        </a:folHlink>
      </a:clrScheme>
      <a:clrMap bg1="lt1" tx1="dk1" bg2="lt2" tx2="dk2" accent1="accent1" accent2="accent2" accent3="accent3" accent4="accent4" accent5="accent5" accent6="accent6" hlink="hlink" folHlink="folHlink"/>
    </a:extraClrScheme>
    <a:extraClrScheme>
      <a:clrScheme name="s2 3">
        <a:dk1>
          <a:srgbClr val="000000"/>
        </a:dk1>
        <a:lt1>
          <a:srgbClr val="FFFFFF"/>
        </a:lt1>
        <a:dk2>
          <a:srgbClr val="C889CD"/>
        </a:dk2>
        <a:lt2>
          <a:srgbClr val="DED9CC"/>
        </a:lt2>
        <a:accent1>
          <a:srgbClr val="72AFD8"/>
        </a:accent1>
        <a:accent2>
          <a:srgbClr val="80CAB1"/>
        </a:accent2>
        <a:accent3>
          <a:srgbClr val="FFFFFF"/>
        </a:accent3>
        <a:accent4>
          <a:srgbClr val="000000"/>
        </a:accent4>
        <a:accent5>
          <a:srgbClr val="BCD4E9"/>
        </a:accent5>
        <a:accent6>
          <a:srgbClr val="73B7A0"/>
        </a:accent6>
        <a:hlink>
          <a:srgbClr val="E1995D"/>
        </a:hlink>
        <a:folHlink>
          <a:srgbClr val="E5879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589tgp_health_light</Template>
  <TotalTime>33599</TotalTime>
  <Words>5240</Words>
  <Application>Microsoft Office PowerPoint</Application>
  <PresentationFormat>宽屏</PresentationFormat>
  <Paragraphs>571</Paragraphs>
  <Slides>49</Slides>
  <Notes>27</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6</vt:i4>
      </vt:variant>
      <vt:variant>
        <vt:lpstr>幻灯片标题</vt:lpstr>
      </vt:variant>
      <vt:variant>
        <vt:i4>49</vt:i4>
      </vt:variant>
    </vt:vector>
  </HeadingPairs>
  <TitlesOfParts>
    <vt:vector size="69" baseType="lpstr">
      <vt:lpstr>方正姚体</vt:lpstr>
      <vt:lpstr>黑体</vt:lpstr>
      <vt:lpstr>楷体_GB2312</vt:lpstr>
      <vt:lpstr>宋体</vt:lpstr>
      <vt:lpstr>Arial</vt:lpstr>
      <vt:lpstr>Bahnschrift Condensed</vt:lpstr>
      <vt:lpstr>Calibri</vt:lpstr>
      <vt:lpstr>Cambria Math</vt:lpstr>
      <vt:lpstr>Symbol</vt:lpstr>
      <vt:lpstr>Tahoma</vt:lpstr>
      <vt:lpstr>Times New Roman</vt:lpstr>
      <vt:lpstr>Verdana</vt:lpstr>
      <vt:lpstr>Wingdings</vt:lpstr>
      <vt:lpstr>589tgp_health_light</vt:lpstr>
      <vt:lpstr>位图图像</vt:lpstr>
      <vt:lpstr>Equation</vt:lpstr>
      <vt:lpstr>Document</vt:lpstr>
      <vt:lpstr>Visio</vt:lpstr>
      <vt:lpstr>公式</vt:lpstr>
      <vt:lpstr>MathType 6.0 Equation</vt:lpstr>
      <vt:lpstr>模式识别与机器学习</vt:lpstr>
      <vt:lpstr>第十六章　特征提取/特征变换</vt:lpstr>
      <vt:lpstr>引言</vt:lpstr>
      <vt:lpstr>17.1 基于类别可分离性判据的特征提取</vt:lpstr>
      <vt:lpstr>17.1 基于类别可分离性判据的特征提取</vt:lpstr>
      <vt:lpstr>17.1 基于类别可分离性判据的特征提取</vt:lpstr>
      <vt:lpstr>17.1 基于类别可分离性判据的特征提取</vt:lpstr>
      <vt:lpstr>17.1 基于类别可分离性判据的特征提取</vt:lpstr>
      <vt:lpstr>17.1 基于类别可分离性判据的特征提取</vt:lpstr>
      <vt:lpstr>17.1 基于类别可分离性判据的特征提取</vt:lpstr>
      <vt:lpstr>17.1 基于类别可分离性判据的特征提取</vt:lpstr>
      <vt:lpstr>17.1 基于类别可分离性判据的特征提取</vt:lpstr>
      <vt:lpstr>17.1 基于类别可分离性判据的特征提取</vt:lpstr>
      <vt:lpstr>17.1 基于类别可分离性判据的特征提取</vt:lpstr>
      <vt:lpstr>矩阵求导(Taking the derivative of the matrix)</vt:lpstr>
      <vt:lpstr>矩阵求导(Taking the derivative of the matrix)</vt:lpstr>
      <vt:lpstr>17.2 主成分分析(Principal Component Analysis)</vt:lpstr>
      <vt:lpstr>17.2 主成分分析PCA</vt:lpstr>
      <vt:lpstr>使新的分量y1和y2不相关 (或正交)，两个新的坐标轴方向分别由t ⃗_1 和 t ⃗_2确定</vt:lpstr>
      <vt:lpstr>Mechanics(过程)</vt:lpstr>
      <vt:lpstr>PowerPoint 演示文稿</vt:lpstr>
      <vt:lpstr>PowerPoint 演示文稿</vt:lpstr>
      <vt:lpstr>17.3 K-L变换方法Karhunen-Loeve transform</vt:lpstr>
      <vt:lpstr>17.3 K-L变换方法Karhunen-Loeve transform</vt:lpstr>
      <vt:lpstr>17.3 K-L变换方法Karhunen-Loeve transform</vt:lpstr>
      <vt:lpstr>17.3 K-L变换方法Karhunen-Loeve transform</vt:lpstr>
      <vt:lpstr>17.3 K-L变换方法Karhunen-Loeve transform</vt:lpstr>
      <vt:lpstr>17.3 K-L变换方法Karhunen-Loeve transform</vt:lpstr>
      <vt:lpstr>17.3 K-L变换方法Karhunen-Loeve transform</vt:lpstr>
      <vt:lpstr>17.3 K-L变换方法Karhunen-Loeve transform</vt:lpstr>
      <vt:lpstr>17.3 K-L变换方法Karhunen-Loeve transform</vt:lpstr>
      <vt:lpstr>17.3 K-L变换方法Karhunen-Loeve transform</vt:lpstr>
      <vt:lpstr>17.4 实例分析</vt:lpstr>
      <vt:lpstr>17.4 实例分析</vt:lpstr>
      <vt:lpstr>PowerPoint 演示文稿</vt:lpstr>
      <vt:lpstr>PowerPoint 演示文稿</vt:lpstr>
      <vt:lpstr>PowerPoint 演示文稿</vt:lpstr>
      <vt:lpstr>PowerPoint 演示文稿</vt:lpstr>
      <vt:lpstr>PowerPoint 演示文稿</vt:lpstr>
      <vt:lpstr>PowerPoint 演示文稿</vt:lpstr>
      <vt:lpstr>17.4 实例分析</vt:lpstr>
      <vt:lpstr>17.4 实例分析</vt:lpstr>
      <vt:lpstr>17.4 实例分析</vt:lpstr>
      <vt:lpstr>17.4 实例分析</vt:lpstr>
      <vt:lpstr>17.4 实例分析</vt:lpstr>
      <vt:lpstr>17.4 实例分析</vt:lpstr>
      <vt:lpstr>17.4 实例分析</vt:lpstr>
      <vt:lpstr>17.4 实例分析</vt:lpstr>
      <vt:lpstr>ending</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Yan-Wu Wang</dc:creator>
  <cp:lastModifiedBy>by6040130@163.com</cp:lastModifiedBy>
  <cp:revision>641</cp:revision>
  <cp:lastPrinted>2021-04-14T03:31:55Z</cp:lastPrinted>
  <dcterms:created xsi:type="dcterms:W3CDTF">2013-04-13T01:42:00Z</dcterms:created>
  <dcterms:modified xsi:type="dcterms:W3CDTF">2023-11-26T08:05:29Z</dcterms:modified>
</cp:coreProperties>
</file>